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B50C6D-863D-4F4A-903D-3D3DC5504761}" v="16" dt="2026-08-26T06:23:14.2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87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6T06:23:14.220" v="66"/>
      <pc:docMkLst>
        <pc:docMk/>
      </pc:docMkLst>
      <pc:sldChg chg="addSp delSp modSp mod modAnim modNotes modNotesTx">
        <pc:chgData name="Lai, Wilson" userId="2840974a-0d84-4886-90a9-9a3ed79f3a48" providerId="ADAL" clId="{9F23B798-9E84-4552-BA63-E776E805C424}" dt="2026-08-26T06:23:14.220" v="66"/>
        <pc:sldMkLst>
          <pc:docMk/>
          <pc:sldMk cId="0" sldId="257"/>
        </pc:sldMkLst>
        <pc:spChg chg="add mod">
          <ac:chgData name="Lai, Wilson" userId="2840974a-0d84-4886-90a9-9a3ed79f3a48" providerId="ADAL" clId="{9F23B798-9E84-4552-BA63-E776E805C424}" dt="2026-08-26T03:30:02.025" v="12" actId="164"/>
          <ac:spMkLst>
            <pc:docMk/>
            <pc:sldMk cId="0" sldId="257"/>
            <ac:spMk id="5" creationId="{20870526-40AF-AF07-566A-10D9A895C461}"/>
          </ac:spMkLst>
        </pc:spChg>
        <pc:grpChg chg="add mod">
          <ac:chgData name="Lai, Wilson" userId="2840974a-0d84-4886-90a9-9a3ed79f3a48" providerId="ADAL" clId="{9F23B798-9E84-4552-BA63-E776E805C424}" dt="2026-08-26T03:30:04.436" v="13" actId="1076"/>
          <ac:grpSpMkLst>
            <pc:docMk/>
            <pc:sldMk cId="0" sldId="257"/>
            <ac:grpSpMk id="6" creationId="{EA68E7D4-1CF1-B4FE-B644-16A6311B5BB5}"/>
          </ac:grpSpMkLst>
        </pc:grpChg>
        <pc:picChg chg="del">
          <ac:chgData name="Lai, Wilson" userId="2840974a-0d84-4886-90a9-9a3ed79f3a48" providerId="ADAL" clId="{9F23B798-9E84-4552-BA63-E776E805C424}" dt="2026-08-26T04:02:09.664" v="14" actId="21"/>
          <ac:picMkLst>
            <pc:docMk/>
            <pc:sldMk cId="0" sldId="257"/>
            <ac:picMk id="2" creationId="{00000000-0000-0000-0000-000000000000}"/>
          </ac:picMkLst>
        </pc:picChg>
        <pc:picChg chg="add mod">
          <ac:chgData name="Lai, Wilson" userId="2840974a-0d84-4886-90a9-9a3ed79f3a48" providerId="ADAL" clId="{9F23B798-9E84-4552-BA63-E776E805C424}" dt="2026-08-26T03:30:02.025" v="12" actId="164"/>
          <ac:picMkLst>
            <pc:docMk/>
            <pc:sldMk cId="0" sldId="257"/>
            <ac:picMk id="3" creationId="{98CB8636-A9D6-DD47-47B5-3621DBF61D86}"/>
          </ac:picMkLst>
        </pc:picChg>
        <pc:picChg chg="add">
          <ac:chgData name="Lai, Wilson" userId="2840974a-0d84-4886-90a9-9a3ed79f3a48" providerId="ADAL" clId="{9F23B798-9E84-4552-BA63-E776E805C424}" dt="2026-08-26T04:02:31.442" v="15" actId="22"/>
          <ac:picMkLst>
            <pc:docMk/>
            <pc:sldMk cId="0" sldId="257"/>
            <ac:picMk id="7" creationId="{58AED594-FF4B-E826-9948-D2CFA495A366}"/>
          </ac:picMkLst>
        </pc:picChg>
      </pc:sldChg>
      <pc:sldChg chg="addSp delSp mod modNotes modNotesTx">
        <pc:chgData name="Lai, Wilson" userId="2840974a-0d84-4886-90a9-9a3ed79f3a48" providerId="ADAL" clId="{9F23B798-9E84-4552-BA63-E776E805C424}" dt="2026-08-26T06:23:14.220" v="66"/>
        <pc:sldMkLst>
          <pc:docMk/>
          <pc:sldMk cId="0" sldId="258"/>
        </pc:sldMkLst>
        <pc:picChg chg="add del">
          <ac:chgData name="Lai, Wilson" userId="2840974a-0d84-4886-90a9-9a3ed79f3a48" providerId="ADAL" clId="{9F23B798-9E84-4552-BA63-E776E805C424}" dt="2026-08-26T04:03:41.683" v="20" actId="21"/>
          <ac:picMkLst>
            <pc:docMk/>
            <pc:sldMk cId="0" sldId="258"/>
            <ac:picMk id="2" creationId="{00000000-0000-0000-0000-000000000000}"/>
          </ac:picMkLst>
        </pc:picChg>
        <pc:picChg chg="add del">
          <ac:chgData name="Lai, Wilson" userId="2840974a-0d84-4886-90a9-9a3ed79f3a48" providerId="ADAL" clId="{9F23B798-9E84-4552-BA63-E776E805C424}" dt="2026-08-26T04:03:35.523" v="18" actId="22"/>
          <ac:picMkLst>
            <pc:docMk/>
            <pc:sldMk cId="0" sldId="258"/>
            <ac:picMk id="4" creationId="{148764FF-F29B-76DF-3D28-0FD08F9D5A88}"/>
          </ac:picMkLst>
        </pc:picChg>
        <pc:picChg chg="add">
          <ac:chgData name="Lai, Wilson" userId="2840974a-0d84-4886-90a9-9a3ed79f3a48" providerId="ADAL" clId="{9F23B798-9E84-4552-BA63-E776E805C424}" dt="2026-08-26T04:04:52.044" v="21" actId="22"/>
          <ac:picMkLst>
            <pc:docMk/>
            <pc:sldMk cId="0" sldId="258"/>
            <ac:picMk id="6" creationId="{71BADE9D-119F-21D0-8CB7-BEBE81D1F7DC}"/>
          </ac:picMkLst>
        </pc:picChg>
      </pc:sldChg>
      <pc:sldChg chg="addSp delSp mod modNotes">
        <pc:chgData name="Lai, Wilson" userId="2840974a-0d84-4886-90a9-9a3ed79f3a48" providerId="ADAL" clId="{9F23B798-9E84-4552-BA63-E776E805C424}" dt="2026-08-26T06:23:14.220" v="66"/>
        <pc:sldMkLst>
          <pc:docMk/>
          <pc:sldMk cId="0" sldId="259"/>
        </pc:sldMkLst>
        <pc:picChg chg="del">
          <ac:chgData name="Lai, Wilson" userId="2840974a-0d84-4886-90a9-9a3ed79f3a48" providerId="ADAL" clId="{9F23B798-9E84-4552-BA63-E776E805C424}" dt="2026-08-26T04:04:56.189" v="22" actId="21"/>
          <ac:picMkLst>
            <pc:docMk/>
            <pc:sldMk cId="0" sldId="259"/>
            <ac:picMk id="2" creationId="{00000000-0000-0000-0000-000000000000}"/>
          </ac:picMkLst>
        </pc:picChg>
        <pc:picChg chg="add">
          <ac:chgData name="Lai, Wilson" userId="2840974a-0d84-4886-90a9-9a3ed79f3a48" providerId="ADAL" clId="{9F23B798-9E84-4552-BA63-E776E805C424}" dt="2026-08-26T04:06:09.725" v="23" actId="22"/>
          <ac:picMkLst>
            <pc:docMk/>
            <pc:sldMk cId="0" sldId="259"/>
            <ac:picMk id="4" creationId="{6CAB575E-8579-0023-C92A-8FB5EDE86FFB}"/>
          </ac:picMkLst>
        </pc:picChg>
      </pc:sldChg>
      <pc:sldChg chg="addSp delSp mod modNotes">
        <pc:chgData name="Lai, Wilson" userId="2840974a-0d84-4886-90a9-9a3ed79f3a48" providerId="ADAL" clId="{9F23B798-9E84-4552-BA63-E776E805C424}" dt="2026-08-26T06:23:14.220" v="66"/>
        <pc:sldMkLst>
          <pc:docMk/>
          <pc:sldMk cId="0" sldId="260"/>
        </pc:sldMkLst>
        <pc:picChg chg="del">
          <ac:chgData name="Lai, Wilson" userId="2840974a-0d84-4886-90a9-9a3ed79f3a48" providerId="ADAL" clId="{9F23B798-9E84-4552-BA63-E776E805C424}" dt="2026-08-26T04:06:14.673" v="24" actId="21"/>
          <ac:picMkLst>
            <pc:docMk/>
            <pc:sldMk cId="0" sldId="260"/>
            <ac:picMk id="2" creationId="{00000000-0000-0000-0000-000000000000}"/>
          </ac:picMkLst>
        </pc:picChg>
        <pc:picChg chg="add">
          <ac:chgData name="Lai, Wilson" userId="2840974a-0d84-4886-90a9-9a3ed79f3a48" providerId="ADAL" clId="{9F23B798-9E84-4552-BA63-E776E805C424}" dt="2026-08-26T04:06:57.815" v="25" actId="22"/>
          <ac:picMkLst>
            <pc:docMk/>
            <pc:sldMk cId="0" sldId="260"/>
            <ac:picMk id="4" creationId="{E65770AD-F26B-E387-E983-286BF6C339EE}"/>
          </ac:picMkLst>
        </pc:picChg>
      </pc:sldChg>
      <pc:sldChg chg="modNotes modNotesTx">
        <pc:chgData name="Lai, Wilson" userId="2840974a-0d84-4886-90a9-9a3ed79f3a48" providerId="ADAL" clId="{9F23B798-9E84-4552-BA63-E776E805C424}" dt="2026-08-26T06:23:14.220" v="66"/>
        <pc:sldMkLst>
          <pc:docMk/>
          <pc:sldMk cId="0" sldId="261"/>
        </pc:sldMkLst>
      </pc:sldChg>
      <pc:sldChg chg="modNotes modNotesTx">
        <pc:chgData name="Lai, Wilson" userId="2840974a-0d84-4886-90a9-9a3ed79f3a48" providerId="ADAL" clId="{9F23B798-9E84-4552-BA63-E776E805C424}" dt="2026-08-26T06:23:14.220" v="66"/>
        <pc:sldMkLst>
          <pc:docMk/>
          <pc:sldMk cId="0" sldId="262"/>
        </pc:sldMkLst>
      </pc:sldChg>
      <pc:sldChg chg="modNotes modNotesTx">
        <pc:chgData name="Lai, Wilson" userId="2840974a-0d84-4886-90a9-9a3ed79f3a48" providerId="ADAL" clId="{9F23B798-9E84-4552-BA63-E776E805C424}" dt="2026-08-26T06:23:14.220" v="66"/>
        <pc:sldMkLst>
          <pc:docMk/>
          <pc:sldMk cId="0" sldId="263"/>
        </pc:sldMkLst>
      </pc:sldChg>
      <pc:sldChg chg="modNotes modNotesTx">
        <pc:chgData name="Lai, Wilson" userId="2840974a-0d84-4886-90a9-9a3ed79f3a48" providerId="ADAL" clId="{9F23B798-9E84-4552-BA63-E776E805C424}" dt="2026-08-26T06:23:14.220" v="66"/>
        <pc:sldMkLst>
          <pc:docMk/>
          <pc:sldMk cId="0" sldId="264"/>
        </pc:sldMkLst>
      </pc:sldChg>
      <pc:sldChg chg="modNotes modNotesTx">
        <pc:chgData name="Lai, Wilson" userId="2840974a-0d84-4886-90a9-9a3ed79f3a48" providerId="ADAL" clId="{9F23B798-9E84-4552-BA63-E776E805C424}" dt="2026-08-26T06:23:14.220" v="66"/>
        <pc:sldMkLst>
          <pc:docMk/>
          <pc:sldMk cId="0" sldId="265"/>
        </pc:sldMkLst>
      </pc:sldChg>
      <pc:sldChg chg="addSp delSp mod modNotes modNotesTx">
        <pc:chgData name="Lai, Wilson" userId="2840974a-0d84-4886-90a9-9a3ed79f3a48" providerId="ADAL" clId="{9F23B798-9E84-4552-BA63-E776E805C424}" dt="2026-08-26T06:23:14.220" v="66"/>
        <pc:sldMkLst>
          <pc:docMk/>
          <pc:sldMk cId="0" sldId="266"/>
        </pc:sldMkLst>
        <pc:picChg chg="add del">
          <ac:chgData name="Lai, Wilson" userId="2840974a-0d84-4886-90a9-9a3ed79f3a48" providerId="ADAL" clId="{9F23B798-9E84-4552-BA63-E776E805C424}" dt="2026-08-26T04:08:23.349" v="32" actId="21"/>
          <ac:picMkLst>
            <pc:docMk/>
            <pc:sldMk cId="0" sldId="266"/>
            <ac:picMk id="2" creationId="{00000000-0000-0000-0000-000000000000}"/>
          </ac:picMkLst>
        </pc:picChg>
        <pc:picChg chg="add">
          <ac:chgData name="Lai, Wilson" userId="2840974a-0d84-4886-90a9-9a3ed79f3a48" providerId="ADAL" clId="{9F23B798-9E84-4552-BA63-E776E805C424}" dt="2026-08-26T04:08:41.864" v="33" actId="22"/>
          <ac:picMkLst>
            <pc:docMk/>
            <pc:sldMk cId="0" sldId="266"/>
            <ac:picMk id="4" creationId="{99C2E9B1-07B2-6CF7-0644-CAF03EFC686F}"/>
          </ac:picMkLst>
        </pc:picChg>
      </pc:sldChg>
      <pc:sldChg chg="addSp delSp mod modNotes modNotesTx">
        <pc:chgData name="Lai, Wilson" userId="2840974a-0d84-4886-90a9-9a3ed79f3a48" providerId="ADAL" clId="{9F23B798-9E84-4552-BA63-E776E805C424}" dt="2026-08-26T06:23:14.220" v="66"/>
        <pc:sldMkLst>
          <pc:docMk/>
          <pc:sldMk cId="0" sldId="267"/>
        </pc:sldMkLst>
        <pc:picChg chg="del">
          <ac:chgData name="Lai, Wilson" userId="2840974a-0d84-4886-90a9-9a3ed79f3a48" providerId="ADAL" clId="{9F23B798-9E84-4552-BA63-E776E805C424}" dt="2026-08-26T04:07:25.602" v="28" actId="21"/>
          <ac:picMkLst>
            <pc:docMk/>
            <pc:sldMk cId="0" sldId="267"/>
            <ac:picMk id="2" creationId="{00000000-0000-0000-0000-000000000000}"/>
          </ac:picMkLst>
        </pc:picChg>
        <pc:picChg chg="add">
          <ac:chgData name="Lai, Wilson" userId="2840974a-0d84-4886-90a9-9a3ed79f3a48" providerId="ADAL" clId="{9F23B798-9E84-4552-BA63-E776E805C424}" dt="2026-08-26T04:07:36.799" v="29" actId="22"/>
          <ac:picMkLst>
            <pc:docMk/>
            <pc:sldMk cId="0" sldId="267"/>
            <ac:picMk id="4" creationId="{CF3BD472-66C4-2C85-64D2-68635BF341F7}"/>
          </ac:picMkLst>
        </pc:picChg>
      </pc:sldChg>
      <pc:sldChg chg="addSp delSp mod modNotes modNotesTx">
        <pc:chgData name="Lai, Wilson" userId="2840974a-0d84-4886-90a9-9a3ed79f3a48" providerId="ADAL" clId="{9F23B798-9E84-4552-BA63-E776E805C424}" dt="2026-08-26T06:23:14.220" v="66"/>
        <pc:sldMkLst>
          <pc:docMk/>
          <pc:sldMk cId="1139905034" sldId="268"/>
        </pc:sldMkLst>
        <pc:picChg chg="del">
          <ac:chgData name="Lai, Wilson" userId="2840974a-0d84-4886-90a9-9a3ed79f3a48" providerId="ADAL" clId="{9F23B798-9E84-4552-BA63-E776E805C424}" dt="2026-08-26T04:07:10.512" v="26" actId="21"/>
          <ac:picMkLst>
            <pc:docMk/>
            <pc:sldMk cId="1139905034" sldId="268"/>
            <ac:picMk id="3" creationId="{8EDCC5E4-9C81-688A-E5C1-C3F8A5058899}"/>
          </ac:picMkLst>
        </pc:picChg>
        <pc:picChg chg="add">
          <ac:chgData name="Lai, Wilson" userId="2840974a-0d84-4886-90a9-9a3ed79f3a48" providerId="ADAL" clId="{9F23B798-9E84-4552-BA63-E776E805C424}" dt="2026-08-26T04:07:18.577" v="27" actId="22"/>
          <ac:picMkLst>
            <pc:docMk/>
            <pc:sldMk cId="1139905034" sldId="268"/>
            <ac:picMk id="4" creationId="{3A99D51D-003C-3F26-36E9-FB0F60EFBC8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6079B-7EBF-4A76-8BFD-35CE9F54A8C0}"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879C86-7A1C-40B3-BC91-4E053157F94A}" type="slidenum">
              <a:rPr lang="en-US" smtClean="0"/>
              <a:t>‹#›</a:t>
            </a:fld>
            <a:endParaRPr lang="en-US"/>
          </a:p>
        </p:txBody>
      </p:sp>
    </p:spTree>
    <p:extLst>
      <p:ext uri="{BB962C8B-B14F-4D97-AF65-F5344CB8AC3E}">
        <p14:creationId xmlns:p14="http://schemas.microsoft.com/office/powerpoint/2010/main" val="226094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As we step into this discussion on global stability, I want to start by framing the atmosphere we are living in right now.</a:t>
            </a:r>
          </a:p>
          <a:p>
            <a:r>
              <a:rPr lang="en-US" sz="1200" kern="1200" dirty="0">
                <a:solidFill>
                  <a:schemeClr val="tx1"/>
                </a:solidFill>
                <a:effectLst/>
                <a:latin typeface="+mn-lt"/>
                <a:ea typeface="+mn-ea"/>
                <a:cs typeface="+mn-cs"/>
              </a:rPr>
              <a:t>Look at the headline quote on this slide: </a:t>
            </a:r>
            <a:r>
              <a:rPr lang="en-US" sz="1200" i="1" kern="1200" dirty="0">
                <a:solidFill>
                  <a:schemeClr val="tx1"/>
                </a:solidFill>
                <a:effectLst/>
                <a:latin typeface="+mn-lt"/>
                <a:ea typeface="+mn-ea"/>
                <a:cs typeface="+mn-cs"/>
              </a:rPr>
              <a:t>'Our political class has lost control. We are completely unprepared for a series of incoming, interconnected shocks that guarantee systemic civil unrest and structural breakdown.'</a:t>
            </a:r>
            <a:r>
              <a:rPr lang="en-US" sz="1200" kern="1200" dirty="0">
                <a:solidFill>
                  <a:schemeClr val="tx1"/>
                </a:solidFill>
                <a:effectLst/>
                <a:latin typeface="+mn-lt"/>
                <a:ea typeface="+mn-ea"/>
                <a:cs typeface="+mn-cs"/>
              </a:rPr>
              <a:t> In the video discussion, Konstantin Kisin points out that whenever you combine deep economic stagnation with cultural friction and social instability, civil unrest isn't just a distant possibility—it becomes virtually guaranteed. </a:t>
            </a:r>
          </a:p>
          <a:p>
            <a:r>
              <a:rPr lang="en-US" sz="1200" kern="1200" dirty="0">
                <a:solidFill>
                  <a:schemeClr val="tx1"/>
                </a:solidFill>
                <a:effectLst/>
                <a:latin typeface="+mn-lt"/>
                <a:ea typeface="+mn-ea"/>
                <a:cs typeface="+mn-cs"/>
              </a:rPr>
              <a:t>We are no longer dealing with isolated, manageable crises. We are seeing a complete convergence. The social contract that held Western democracies together for decades is fraying. Citizens are feeling increasingly alienated from a political establishment that seems incapable of securing borders, stabilizing cost of living, or maintaining basic infrastructure. Over the next several slides, we are going to unpack the five interconnected drivers of this '</a:t>
            </a:r>
            <a:r>
              <a:rPr lang="en-US" sz="1200" kern="1200" dirty="0" err="1">
                <a:solidFill>
                  <a:schemeClr val="tx1"/>
                </a:solidFill>
                <a:effectLst/>
                <a:latin typeface="+mn-lt"/>
                <a:ea typeface="+mn-ea"/>
                <a:cs typeface="+mn-cs"/>
              </a:rPr>
              <a:t>Polycrisis</a:t>
            </a:r>
            <a:r>
              <a:rPr lang="en-US" sz="1200" kern="1200" dirty="0">
                <a:solidFill>
                  <a:schemeClr val="tx1"/>
                </a:solidFill>
                <a:effectLst/>
                <a:latin typeface="+mn-lt"/>
                <a:ea typeface="+mn-ea"/>
                <a:cs typeface="+mn-cs"/>
              </a:rPr>
              <a:t>' and examine what they mean for our collective future. </a:t>
            </a:r>
          </a:p>
          <a:p>
            <a:endParaRPr lang="en-US" dirty="0"/>
          </a:p>
          <a:p>
            <a:endParaRPr lang="en-US" dirty="0"/>
          </a:p>
          <a:p>
            <a:r>
              <a:rPr lang="en-US" dirty="0"/>
              <a:t>https://www.youtube.com/watch?v=Y43T7VQGtOs</a:t>
            </a:r>
          </a:p>
        </p:txBody>
      </p:sp>
      <p:sp>
        <p:nvSpPr>
          <p:cNvPr id="4" name="Slide Number Placeholder 3"/>
          <p:cNvSpPr>
            <a:spLocks noGrp="1"/>
          </p:cNvSpPr>
          <p:nvPr>
            <p:ph type="sldNum" sz="quarter" idx="5"/>
          </p:nvPr>
        </p:nvSpPr>
        <p:spPr/>
        <p:txBody>
          <a:bodyPr/>
          <a:lstStyle/>
          <a:p>
            <a:fld id="{F2879C86-7A1C-40B3-BC91-4E053157F94A}" type="slidenum">
              <a:rPr lang="en-US" smtClean="0"/>
              <a:t>1</a:t>
            </a:fld>
            <a:endParaRPr lang="en-US"/>
          </a:p>
        </p:txBody>
      </p:sp>
    </p:spTree>
    <p:extLst>
      <p:ext uri="{BB962C8B-B14F-4D97-AF65-F5344CB8AC3E}">
        <p14:creationId xmlns:p14="http://schemas.microsoft.com/office/powerpoint/2010/main" val="1698284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we are going, we first need to map out the entire landscape of threats using a systems-level lens. On this radar assessment, you see five distinct points, but they are all connected by a web of feedback loops. </a:t>
            </a:r>
          </a:p>
          <a:p>
            <a:pPr marL="228600" lvl="0" indent="-228600">
              <a:buFont typeface="+mj-lt"/>
              <a:buAutoNum type="arabicPeriod"/>
            </a:pPr>
            <a:r>
              <a:rPr lang="en-US" sz="1200" b="1" kern="1200" dirty="0">
                <a:solidFill>
                  <a:schemeClr val="tx1"/>
                </a:solidFill>
                <a:effectLst/>
                <a:latin typeface="+mn-lt"/>
                <a:ea typeface="+mn-ea"/>
                <a:cs typeface="+mn-cs"/>
              </a:rPr>
              <a:t>Polarization &amp; Borders:</a:t>
            </a:r>
            <a:r>
              <a:rPr lang="en-US" sz="1200" kern="1200" dirty="0">
                <a:solidFill>
                  <a:schemeClr val="tx1"/>
                </a:solidFill>
                <a:effectLst/>
                <a:latin typeface="+mn-lt"/>
                <a:ea typeface="+mn-ea"/>
                <a:cs typeface="+mn-cs"/>
              </a:rPr>
              <a:t> Mass migration meets low-growth welfare economies, sparking social tension. </a:t>
            </a:r>
          </a:p>
          <a:p>
            <a:pPr marL="228600" lvl="0" indent="-228600">
              <a:buFont typeface="+mj-lt"/>
              <a:buAutoNum type="arabicPeriod"/>
            </a:pPr>
            <a:r>
              <a:rPr lang="en-US" sz="1200" b="1" kern="1200" dirty="0">
                <a:solidFill>
                  <a:schemeClr val="tx1"/>
                </a:solidFill>
                <a:effectLst/>
                <a:latin typeface="+mn-lt"/>
                <a:ea typeface="+mn-ea"/>
                <a:cs typeface="+mn-cs"/>
              </a:rPr>
              <a:t>Economic Stagnation:</a:t>
            </a:r>
            <a:r>
              <a:rPr lang="en-US" sz="1200" kern="1200" dirty="0">
                <a:solidFill>
                  <a:schemeClr val="tx1"/>
                </a:solidFill>
                <a:effectLst/>
                <a:latin typeface="+mn-lt"/>
                <a:ea typeface="+mn-ea"/>
                <a:cs typeface="+mn-cs"/>
              </a:rPr>
              <a:t> Decaying physical infrastructure combined with political and ideological gridlock. </a:t>
            </a:r>
          </a:p>
          <a:p>
            <a:pPr marL="228600" lvl="0" indent="-228600">
              <a:buFont typeface="+mj-lt"/>
              <a:buAutoNum type="arabicPeriod"/>
            </a:pPr>
            <a:r>
              <a:rPr lang="en-US" sz="1200" b="1" kern="1200" dirty="0">
                <a:solidFill>
                  <a:schemeClr val="tx1"/>
                </a:solidFill>
                <a:effectLst/>
                <a:latin typeface="+mn-lt"/>
                <a:ea typeface="+mn-ea"/>
                <a:cs typeface="+mn-cs"/>
              </a:rPr>
              <a:t>Geopolitical Chokepoints:</a:t>
            </a:r>
            <a:r>
              <a:rPr lang="en-US" sz="1200" kern="1200" dirty="0">
                <a:solidFill>
                  <a:schemeClr val="tx1"/>
                </a:solidFill>
                <a:effectLst/>
                <a:latin typeface="+mn-lt"/>
                <a:ea typeface="+mn-ea"/>
                <a:cs typeface="+mn-cs"/>
              </a:rPr>
              <a:t> Highly concentrated, vulnerable supply chains across energy and resource critical paths. </a:t>
            </a:r>
          </a:p>
          <a:p>
            <a:pPr marL="228600" lvl="0" indent="-228600">
              <a:buFont typeface="+mj-lt"/>
              <a:buAutoNum type="arabicPeriod"/>
            </a:pPr>
            <a:r>
              <a:rPr lang="en-US" sz="1200" b="1" kern="1200" dirty="0">
                <a:solidFill>
                  <a:schemeClr val="tx1"/>
                </a:solidFill>
                <a:effectLst/>
                <a:latin typeface="+mn-lt"/>
                <a:ea typeface="+mn-ea"/>
                <a:cs typeface="+mn-cs"/>
              </a:rPr>
              <a:t>Climate Breakdown:</a:t>
            </a:r>
            <a:r>
              <a:rPr lang="en-US" sz="1200" kern="1200" dirty="0">
                <a:solidFill>
                  <a:schemeClr val="tx1"/>
                </a:solidFill>
                <a:effectLst/>
                <a:latin typeface="+mn-lt"/>
                <a:ea typeface="+mn-ea"/>
                <a:cs typeface="+mn-cs"/>
              </a:rPr>
              <a:t> Imminent, non-linear collapse across foundational biospheric systems like ocean currents. </a:t>
            </a:r>
          </a:p>
          <a:p>
            <a:pPr marL="228600" lvl="0" indent="-228600">
              <a:buFont typeface="+mj-lt"/>
              <a:buAutoNum type="arabicPeriod"/>
            </a:pPr>
            <a:r>
              <a:rPr lang="en-US" sz="1200" b="1" kern="1200" dirty="0">
                <a:solidFill>
                  <a:schemeClr val="tx1"/>
                </a:solidFill>
                <a:effectLst/>
                <a:latin typeface="+mn-lt"/>
                <a:ea typeface="+mn-ea"/>
                <a:cs typeface="+mn-cs"/>
              </a:rPr>
              <a:t>AGI Emergence:</a:t>
            </a:r>
            <a:r>
              <a:rPr lang="en-US" sz="1200" kern="1200" dirty="0">
                <a:solidFill>
                  <a:schemeClr val="tx1"/>
                </a:solidFill>
                <a:effectLst/>
                <a:latin typeface="+mn-lt"/>
                <a:ea typeface="+mn-ea"/>
                <a:cs typeface="+mn-cs"/>
              </a:rPr>
              <a:t> The rapid, unhaltable development of intelligence that operates far beyond human agency and control. </a:t>
            </a:r>
          </a:p>
          <a:p>
            <a:r>
              <a:rPr lang="en-US" sz="1200" kern="1200" dirty="0">
                <a:solidFill>
                  <a:schemeClr val="tx1"/>
                </a:solidFill>
                <a:effectLst/>
                <a:latin typeface="+mn-lt"/>
                <a:ea typeface="+mn-ea"/>
                <a:cs typeface="+mn-cs"/>
              </a:rPr>
              <a:t>Notice how these nodes intersect. An economic shock amplifies political polarization; a geopolitical choke on oil or fertilizer triggers agricultural collapse, which in turn accelerates migration pressures. The core danger of the </a:t>
            </a:r>
            <a:r>
              <a:rPr lang="en-US" sz="1200" kern="1200" dirty="0" err="1">
                <a:solidFill>
                  <a:schemeClr val="tx1"/>
                </a:solidFill>
                <a:effectLst/>
                <a:latin typeface="+mn-lt"/>
                <a:ea typeface="+mn-ea"/>
                <a:cs typeface="+mn-cs"/>
              </a:rPr>
              <a:t>polycrisis</a:t>
            </a:r>
            <a:r>
              <a:rPr lang="en-US" sz="1200" kern="1200" dirty="0">
                <a:solidFill>
                  <a:schemeClr val="tx1"/>
                </a:solidFill>
                <a:effectLst/>
                <a:latin typeface="+mn-lt"/>
                <a:ea typeface="+mn-ea"/>
                <a:cs typeface="+mn-cs"/>
              </a:rPr>
              <a:t> isn't any single point on this chart—it’s the reality that all five are peaking at the exact same moment in history.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2</a:t>
            </a:fld>
            <a:endParaRPr lang="en-US"/>
          </a:p>
        </p:txBody>
      </p:sp>
    </p:spTree>
    <p:extLst>
      <p:ext uri="{BB962C8B-B14F-4D97-AF65-F5344CB8AC3E}">
        <p14:creationId xmlns:p14="http://schemas.microsoft.com/office/powerpoint/2010/main" val="2180221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zoom in on Threat #1: </a:t>
            </a:r>
            <a:r>
              <a:rPr lang="en-US" sz="1200" b="1" kern="1200" dirty="0">
                <a:solidFill>
                  <a:schemeClr val="tx1"/>
                </a:solidFill>
                <a:effectLst/>
                <a:latin typeface="+mn-lt"/>
                <a:ea typeface="+mn-ea"/>
                <a:cs typeface="+mn-cs"/>
              </a:rPr>
              <a:t>The Polarization Feedback Loop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podcast, the speakers dissect how Western governments inadvertently construct their own doom loops. It starts at the top: </a:t>
            </a:r>
            <a:r>
              <a:rPr lang="en-US" sz="1200" b="1" kern="1200" dirty="0">
                <a:solidFill>
                  <a:schemeClr val="tx1"/>
                </a:solidFill>
                <a:effectLst/>
                <a:latin typeface="+mn-lt"/>
                <a:ea typeface="+mn-ea"/>
                <a:cs typeface="+mn-cs"/>
              </a:rPr>
              <a:t>Stagnant Economies &amp; Welfare Incentives</a:t>
            </a:r>
            <a:r>
              <a:rPr lang="en-US" sz="1200" kern="1200" dirty="0">
                <a:solidFill>
                  <a:schemeClr val="tx1"/>
                </a:solidFill>
                <a:effectLst/>
                <a:latin typeface="+mn-lt"/>
                <a:ea typeface="+mn-ea"/>
                <a:cs typeface="+mn-cs"/>
              </a:rPr>
              <a:t>. When states prioritize payouts over real wealth creation and physical infrastructure, you disincentivize productivity. </a:t>
            </a:r>
          </a:p>
          <a:p>
            <a:r>
              <a:rPr lang="en-US" sz="1200" kern="1200" dirty="0">
                <a:solidFill>
                  <a:schemeClr val="tx1"/>
                </a:solidFill>
                <a:effectLst/>
                <a:latin typeface="+mn-lt"/>
                <a:ea typeface="+mn-ea"/>
                <a:cs typeface="+mn-cs"/>
              </a:rPr>
              <a:t>Combine this with </a:t>
            </a:r>
            <a:r>
              <a:rPr lang="en-US" sz="1200" b="1" kern="1200" dirty="0">
                <a:solidFill>
                  <a:schemeClr val="tx1"/>
                </a:solidFill>
                <a:effectLst/>
                <a:latin typeface="+mn-lt"/>
                <a:ea typeface="+mn-ea"/>
                <a:cs typeface="+mn-cs"/>
              </a:rPr>
              <a:t>Mass Unfettered Migration</a:t>
            </a:r>
            <a:r>
              <a:rPr lang="en-US" sz="1200" kern="1200" dirty="0">
                <a:solidFill>
                  <a:schemeClr val="tx1"/>
                </a:solidFill>
                <a:effectLst/>
                <a:latin typeface="+mn-lt"/>
                <a:ea typeface="+mn-ea"/>
                <a:cs typeface="+mn-cs"/>
              </a:rPr>
              <a:t>—such as over 3 million Mediterranean crossings in the last decade, or tens of thousands arriving via small boats—and you get immediate </a:t>
            </a:r>
            <a:r>
              <a:rPr lang="en-US" sz="1200" b="1" kern="1200" dirty="0">
                <a:solidFill>
                  <a:schemeClr val="tx1"/>
                </a:solidFill>
                <a:effectLst/>
                <a:latin typeface="+mn-lt"/>
                <a:ea typeface="+mn-ea"/>
                <a:cs typeface="+mn-cs"/>
              </a:rPr>
              <a:t>Systemic Overload</a:t>
            </a:r>
            <a:r>
              <a:rPr lang="en-US" sz="1200" kern="1200" dirty="0">
                <a:solidFill>
                  <a:schemeClr val="tx1"/>
                </a:solidFill>
                <a:effectLst/>
                <a:latin typeface="+mn-lt"/>
                <a:ea typeface="+mn-ea"/>
                <a:cs typeface="+mn-cs"/>
              </a:rPr>
              <a:t>. Local services fracture, and tax dollars end up being spent on emergency housing like £8 million a day on hotels instead of long-term investments. </a:t>
            </a:r>
          </a:p>
          <a:p>
            <a:r>
              <a:rPr lang="en-US" sz="1200" kern="1200" dirty="0">
                <a:solidFill>
                  <a:schemeClr val="tx1"/>
                </a:solidFill>
                <a:effectLst/>
                <a:latin typeface="+mn-lt"/>
                <a:ea typeface="+mn-ea"/>
                <a:cs typeface="+mn-cs"/>
              </a:rPr>
              <a:t>When the mainstream political class fails to enforce laws or safeguard borders, public trust evaporates. This creates a direct political reaction: the </a:t>
            </a:r>
            <a:r>
              <a:rPr lang="en-US" sz="1200" b="1" kern="1200" dirty="0">
                <a:solidFill>
                  <a:schemeClr val="tx1"/>
                </a:solidFill>
                <a:effectLst/>
                <a:latin typeface="+mn-lt"/>
                <a:ea typeface="+mn-ea"/>
                <a:cs typeface="+mn-cs"/>
              </a:rPr>
              <a:t>Rise of Right-Wing Populism</a:t>
            </a:r>
            <a:r>
              <a:rPr lang="en-US" sz="1200" kern="1200" dirty="0">
                <a:solidFill>
                  <a:schemeClr val="tx1"/>
                </a:solidFill>
                <a:effectLst/>
                <a:latin typeface="+mn-lt"/>
                <a:ea typeface="+mn-ea"/>
                <a:cs typeface="+mn-cs"/>
              </a:rPr>
              <a:t>. As highlighted in the core insight on your screen: </a:t>
            </a:r>
            <a:r>
              <a:rPr lang="en-US" sz="1200" i="1" kern="1200" dirty="0">
                <a:solidFill>
                  <a:schemeClr val="tx1"/>
                </a:solidFill>
                <a:effectLst/>
                <a:latin typeface="+mn-lt"/>
                <a:ea typeface="+mn-ea"/>
                <a:cs typeface="+mn-cs"/>
              </a:rPr>
              <a:t>When public policy ignores practical functionality in favor of what feels good, society inevitably fractures into radicalized camps.</a:t>
            </a:r>
            <a:r>
              <a:rPr lang="en-US" sz="1200" kern="1200" dirty="0">
                <a:solidFill>
                  <a:schemeClr val="tx1"/>
                </a:solidFill>
                <a:effectLst/>
                <a:latin typeface="+mn-lt"/>
                <a:ea typeface="+mn-ea"/>
                <a:cs typeface="+mn-cs"/>
              </a:rPr>
              <a:t> Populism isn't the cause of the breakdown; it is the symptom of a political class that has relinquished control.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3</a:t>
            </a:fld>
            <a:endParaRPr lang="en-US"/>
          </a:p>
        </p:txBody>
      </p:sp>
    </p:spTree>
    <p:extLst>
      <p:ext uri="{BB962C8B-B14F-4D97-AF65-F5344CB8AC3E}">
        <p14:creationId xmlns:p14="http://schemas.microsoft.com/office/powerpoint/2010/main" val="2124840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address the foundation of all economic activity: energy. We call this </a:t>
                </a:r>
                <a:r>
                  <a:rPr lang="en-US" sz="1200" b="1" kern="1200" dirty="0">
                    <a:solidFill>
                      <a:schemeClr val="tx1"/>
                    </a:solidFill>
                    <a:effectLst/>
                    <a:latin typeface="+mn-lt"/>
                    <a:ea typeface="+mn-ea"/>
                    <a:cs typeface="+mn-cs"/>
                  </a:rPr>
                  <a:t>The Iron Law of Prosperity</a:t>
                </a:r>
                <a:r>
                  <a:rPr lang="en-US" sz="1200" kern="1200" dirty="0">
                    <a:solidFill>
                      <a:schemeClr val="tx1"/>
                    </a:solidFill>
                    <a:effectLst/>
                    <a:latin typeface="+mn-lt"/>
                    <a:ea typeface="+mn-ea"/>
                    <a:cs typeface="+mn-cs"/>
                  </a:rPr>
                  <a:t>: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𝐺𝐷𝑃</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is</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nothing</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more</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than</m:t>
                    </m:r>
                    <m:r>
                      <m:rPr>
                        <m:nor/>
                      </m:rPr>
                      <a:rPr lang="en-US" sz="1200" i="0" kern="1200">
                        <a:solidFill>
                          <a:schemeClr val="tx1"/>
                        </a:solidFill>
                        <a:latin typeface="+mn-lt"/>
                        <a:ea typeface="+mn-ea"/>
                        <a:cs typeface="+mn-cs"/>
                      </a:rPr>
                      <m:t> </m:t>
                    </m:r>
                    <m:r>
                      <a:rPr lang="en-US" sz="1200" i="1" kern="1200">
                        <a:solidFill>
                          <a:schemeClr val="tx1"/>
                        </a:solidFill>
                        <a:latin typeface="Cambria Math" panose="02040503050406030204" pitchFamily="18" charset="0"/>
                        <a:ea typeface="+mn-ea"/>
                        <a:cs typeface="+mn-cs"/>
                      </a:rPr>
                      <m:t>𝐸𝑛𝑒𝑟𝑔𝑦</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Transformed</m:t>
                    </m:r>
                  </m:oMath>
                </a14:m>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Throughout human history, every major leap in civilizational development was powered by moving to a denser, more abundant source of energy—from burning wood and using draft animals, to coal, oil, natural gas, and ultimately nuclear energy. </a:t>
                </a:r>
              </a:p>
              <a:p>
                <a:r>
                  <a:rPr lang="en-US" sz="1200" kern="1200" dirty="0">
                    <a:solidFill>
                      <a:schemeClr val="tx1"/>
                    </a:solidFill>
                    <a:effectLst/>
                    <a:latin typeface="+mn-lt"/>
                    <a:ea typeface="+mn-ea"/>
                    <a:cs typeface="+mn-cs"/>
                  </a:rPr>
                  <a:t>Here is the stark truth: </a:t>
                </a:r>
                <a:r>
                  <a:rPr lang="en-US" sz="1200" b="1" kern="1200" dirty="0">
                    <a:solidFill>
                      <a:schemeClr val="tx1"/>
                    </a:solidFill>
                    <a:effectLst/>
                    <a:latin typeface="+mn-lt"/>
                    <a:ea typeface="+mn-ea"/>
                    <a:cs typeface="+mn-cs"/>
                  </a:rPr>
                  <a:t>Any society that deliberately creates expensive, scarce energy actively engineers its own poverty</a:t>
                </a:r>
                <a:r>
                  <a:rPr lang="en-US" sz="1200" kern="1200" dirty="0">
                    <a:solidFill>
                      <a:schemeClr val="tx1"/>
                    </a:solidFill>
                    <a:effectLst/>
                    <a:latin typeface="+mn-lt"/>
                    <a:ea typeface="+mn-ea"/>
                    <a:cs typeface="+mn-cs"/>
                  </a:rPr>
                  <a:t>. This is precisely why Western Europe, and the UK in particular, is stagnating. By imposing aggressive carbon taxes, subsidizing unreliable energy forms, and stalling nuclear deployment, Western nations have spiked industrial energy costs. When energy is expensive, manufacturing flees, real wages drop, and living standards collapse. Energy starvation leads directly to civilizational decline.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address the foundation of all economic activity: energy. We call this </a:t>
                </a:r>
                <a:r>
                  <a:rPr lang="en-US" sz="1200" b="1" kern="1200" dirty="0">
                    <a:solidFill>
                      <a:schemeClr val="tx1"/>
                    </a:solidFill>
                    <a:effectLst/>
                    <a:latin typeface="+mn-lt"/>
                    <a:ea typeface="+mn-ea"/>
                    <a:cs typeface="+mn-cs"/>
                  </a:rPr>
                  <a:t>The Iron Law of Prosperity</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𝐺𝐷𝑃</a:t>
                </a:r>
                <a:r>
                  <a:rPr lang="en-US" sz="1200" i="0" kern="1200">
                    <a:solidFill>
                      <a:schemeClr val="tx1"/>
                    </a:solidFill>
                    <a:latin typeface="Cambria Math" panose="02040503050406030204" pitchFamily="18" charset="0"/>
                    <a:ea typeface="+mn-ea"/>
                    <a:cs typeface="+mn-cs"/>
                  </a:rPr>
                  <a:t>" is nothing more than </a:t>
                </a:r>
                <a:r>
                  <a:rPr lang="en-US" sz="1200" i="0" kern="1200">
                    <a:solidFill>
                      <a:schemeClr val="tx1"/>
                    </a:solidFill>
                    <a:latin typeface="+mn-lt"/>
                    <a:ea typeface="+mn-ea"/>
                    <a:cs typeface="+mn-cs"/>
                  </a:rPr>
                  <a:t>" 𝐸𝑛𝑒𝑟𝑔𝑦</a:t>
                </a:r>
                <a:r>
                  <a:rPr lang="en-US" sz="1200" i="0" kern="1200">
                    <a:solidFill>
                      <a:schemeClr val="tx1"/>
                    </a:solidFill>
                    <a:latin typeface="Cambria Math" panose="02040503050406030204" pitchFamily="18" charset="0"/>
                    <a:ea typeface="+mn-ea"/>
                    <a:cs typeface="+mn-cs"/>
                  </a:rPr>
                  <a:t>" Transformed</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Throughout human history, every major leap in civilizational development was powered by moving to a denser, more abundant source of energy—from burning wood and using draft animals, to coal, oil, natural gas, and ultimately nuclear energy. </a:t>
                </a:r>
              </a:p>
              <a:p>
                <a:r>
                  <a:rPr lang="en-US" sz="1200" kern="1200" dirty="0">
                    <a:solidFill>
                      <a:schemeClr val="tx1"/>
                    </a:solidFill>
                    <a:effectLst/>
                    <a:latin typeface="+mn-lt"/>
                    <a:ea typeface="+mn-ea"/>
                    <a:cs typeface="+mn-cs"/>
                  </a:rPr>
                  <a:t>Here is the stark truth: </a:t>
                </a:r>
                <a:r>
                  <a:rPr lang="en-US" sz="1200" b="1" kern="1200" dirty="0">
                    <a:solidFill>
                      <a:schemeClr val="tx1"/>
                    </a:solidFill>
                    <a:effectLst/>
                    <a:latin typeface="+mn-lt"/>
                    <a:ea typeface="+mn-ea"/>
                    <a:cs typeface="+mn-cs"/>
                  </a:rPr>
                  <a:t>Any society that deliberately creates expensive, scarce energy actively engineers its own poverty</a:t>
                </a:r>
                <a:r>
                  <a:rPr lang="en-US" sz="1200" kern="1200" dirty="0">
                    <a:solidFill>
                      <a:schemeClr val="tx1"/>
                    </a:solidFill>
                    <a:effectLst/>
                    <a:latin typeface="+mn-lt"/>
                    <a:ea typeface="+mn-ea"/>
                    <a:cs typeface="+mn-cs"/>
                  </a:rPr>
                  <a:t>. This is precisely why Western Europe, and the UK in particular, is stagnating. By imposing aggressive carbon taxes, subsidizing unreliable energy forms, and stalling nuclear deployment, Western nations have spiked industrial energy costs. When energy is expensive, manufacturing flees, real wages drop, and living standards collapse. Energy starvation leads directly to civilizational decline. </a:t>
                </a:r>
              </a:p>
              <a:p>
                <a:endParaRPr lang="en-US" dirty="0"/>
              </a:p>
            </p:txBody>
          </p:sp>
        </mc:Fallback>
      </mc:AlternateContent>
      <p:sp>
        <p:nvSpPr>
          <p:cNvPr id="4" name="Slide Number Placeholder 3"/>
          <p:cNvSpPr>
            <a:spLocks noGrp="1"/>
          </p:cNvSpPr>
          <p:nvPr>
            <p:ph type="sldNum" sz="quarter" idx="5"/>
          </p:nvPr>
        </p:nvSpPr>
        <p:spPr/>
        <p:txBody>
          <a:bodyPr/>
          <a:lstStyle/>
          <a:p>
            <a:fld id="{F2879C86-7A1C-40B3-BC91-4E053157F94A}" type="slidenum">
              <a:rPr lang="en-US" smtClean="0"/>
              <a:t>4</a:t>
            </a:fld>
            <a:endParaRPr lang="en-US"/>
          </a:p>
        </p:txBody>
      </p:sp>
    </p:spTree>
    <p:extLst>
      <p:ext uri="{BB962C8B-B14F-4D97-AF65-F5344CB8AC3E}">
        <p14:creationId xmlns:p14="http://schemas.microsoft.com/office/powerpoint/2010/main" val="3542153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energy is the fuel, governance is the engine. Slide 5 compares three primary macro-models of governance competing on the world stage: </a:t>
            </a:r>
          </a:p>
          <a:p>
            <a:pPr marL="228600" lvl="0" indent="-228600">
              <a:buFont typeface="+mj-lt"/>
              <a:buAutoNum type="arabicPeriod"/>
            </a:pPr>
            <a:r>
              <a:rPr lang="en-US" sz="1200" b="1" kern="1200" dirty="0">
                <a:solidFill>
                  <a:schemeClr val="tx1"/>
                </a:solidFill>
                <a:effectLst/>
                <a:latin typeface="+mn-lt"/>
                <a:ea typeface="+mn-ea"/>
                <a:cs typeface="+mn-cs"/>
              </a:rPr>
              <a:t>Western Capitalism (UK/US):</a:t>
            </a:r>
            <a:r>
              <a:rPr lang="en-US" sz="1200" kern="1200" dirty="0">
                <a:solidFill>
                  <a:schemeClr val="tx1"/>
                </a:solidFill>
                <a:effectLst/>
                <a:latin typeface="+mn-lt"/>
                <a:ea typeface="+mn-ea"/>
                <a:cs typeface="+mn-cs"/>
              </a:rPr>
              <a:t> While it yields high individual freedom, it has become heavily financialized, polarized, and gridlocked. Physical infrastructure is decaying—evidenced by privatized water companies spilling sewage into rivers and failing to build new reservoirs or dams for decades. </a:t>
            </a:r>
          </a:p>
          <a:p>
            <a:pPr marL="228600" lvl="0" indent="-228600">
              <a:buFont typeface="+mj-lt"/>
              <a:buAutoNum type="arabicPeriod"/>
            </a:pPr>
            <a:r>
              <a:rPr lang="en-US" sz="1200" b="1" kern="1200" dirty="0">
                <a:solidFill>
                  <a:schemeClr val="tx1"/>
                </a:solidFill>
                <a:effectLst/>
                <a:latin typeface="+mn-lt"/>
                <a:ea typeface="+mn-ea"/>
                <a:cs typeface="+mn-cs"/>
              </a:rPr>
              <a:t>Communism / Democratic Socialism:</a:t>
            </a:r>
            <a:r>
              <a:rPr lang="en-US" sz="1200" kern="1200" dirty="0">
                <a:solidFill>
                  <a:schemeClr val="tx1"/>
                </a:solidFill>
                <a:effectLst/>
                <a:latin typeface="+mn-lt"/>
                <a:ea typeface="+mn-ea"/>
                <a:cs typeface="+mn-cs"/>
              </a:rPr>
              <a:t> As Konstantin Kisin notes from his personal experience growing up in the Soviet Union: socialist central planning crushes innovation and incentivizes supply constraints. You may achieve theoretical equality, but it is the equality of 'everyone being equally poor.' </a:t>
            </a:r>
          </a:p>
          <a:p>
            <a:pPr marL="228600" lvl="0" indent="-228600">
              <a:buFont typeface="+mj-lt"/>
              <a:buAutoNum type="arabicPeriod"/>
            </a:pPr>
            <a:r>
              <a:rPr lang="en-US" sz="1200" b="1" kern="1200" dirty="0">
                <a:solidFill>
                  <a:schemeClr val="tx1"/>
                </a:solidFill>
                <a:effectLst/>
                <a:latin typeface="+mn-lt"/>
                <a:ea typeface="+mn-ea"/>
                <a:cs typeface="+mn-cs"/>
              </a:rPr>
              <a:t>Chinese State-Managed Model:</a:t>
            </a:r>
            <a:r>
              <a:rPr lang="en-US" sz="1200" kern="1200" dirty="0">
                <a:solidFill>
                  <a:schemeClr val="tx1"/>
                </a:solidFill>
                <a:effectLst/>
                <a:latin typeface="+mn-lt"/>
                <a:ea typeface="+mn-ea"/>
                <a:cs typeface="+mn-cs"/>
              </a:rPr>
              <a:t> China trades away individual freedom, speech, and private enterprise independence in exchange for massive, long-term state execution. They are booming in nuclear builds, high-speed rail, and grid capacity. </a:t>
            </a:r>
          </a:p>
          <a:p>
            <a:r>
              <a:rPr lang="en-US" sz="1200" kern="1200" dirty="0">
                <a:solidFill>
                  <a:schemeClr val="tx1"/>
                </a:solidFill>
                <a:effectLst/>
                <a:latin typeface="+mn-lt"/>
                <a:ea typeface="+mn-ea"/>
                <a:cs typeface="+mn-cs"/>
              </a:rPr>
              <a:t>The uncomfortable realization for the West is that China is executing on physical energy and infrastructure while Western democracies are stuck in regulatory paralysis.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5</a:t>
            </a:fld>
            <a:endParaRPr lang="en-US"/>
          </a:p>
        </p:txBody>
      </p:sp>
    </p:spTree>
    <p:extLst>
      <p:ext uri="{BB962C8B-B14F-4D97-AF65-F5344CB8AC3E}">
        <p14:creationId xmlns:p14="http://schemas.microsoft.com/office/powerpoint/2010/main" val="340230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shift to Threat #3: </a:t>
            </a:r>
            <a:r>
              <a:rPr lang="en-US" sz="1200" b="1" kern="1200" dirty="0">
                <a:solidFill>
                  <a:schemeClr val="tx1"/>
                </a:solidFill>
                <a:effectLst/>
                <a:latin typeface="+mn-lt"/>
                <a:ea typeface="+mn-ea"/>
                <a:cs typeface="+mn-cs"/>
              </a:rPr>
              <a:t>Geopolitical Chokepoints</a:t>
            </a:r>
            <a:r>
              <a:rPr lang="en-US" sz="1200" kern="1200" dirty="0">
                <a:solidFill>
                  <a:schemeClr val="tx1"/>
                </a:solidFill>
                <a:effectLst/>
                <a:latin typeface="+mn-lt"/>
                <a:ea typeface="+mn-ea"/>
                <a:cs typeface="+mn-cs"/>
              </a:rPr>
              <a:t>. The globalized economy relies on a fragile, just-in-time logistics network that can be paralyzed by single geographic choke points. </a:t>
            </a:r>
          </a:p>
          <a:p>
            <a:r>
              <a:rPr lang="en-US" sz="1200" kern="1200" dirty="0">
                <a:solidFill>
                  <a:schemeClr val="tx1"/>
                </a:solidFill>
                <a:effectLst/>
                <a:latin typeface="+mn-lt"/>
                <a:ea typeface="+mn-ea"/>
                <a:cs typeface="+mn-cs"/>
              </a:rPr>
              <a:t>Take the Strait of Hormuz and the ongoing instability surrounding Iran: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Escalating conflict triggers a blockade of the Strait.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A sudden resource freeze occurs—not just of crude oil and natural gas, but essential industrial inputs like helium and sulfuric acid.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Sulfuric acid and natural gas shortages hit global fertilizer production, causing quota crashes overnight.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a:t>
            </a:r>
            <a:r>
              <a:rPr lang="en-US" sz="1200" kern="1200" dirty="0">
                <a:solidFill>
                  <a:schemeClr val="tx1"/>
                </a:solidFill>
                <a:effectLst/>
                <a:latin typeface="+mn-lt"/>
                <a:ea typeface="+mn-ea"/>
                <a:cs typeface="+mn-cs"/>
              </a:rPr>
              <a:t> Within a single growing season, global crop yields plummet—for example, wheat harvests in major export hubs like Australia drop precipitously, leading to food spikes and localized famines. </a:t>
            </a:r>
          </a:p>
          <a:p>
            <a:r>
              <a:rPr lang="en-US" sz="1200" kern="1200" dirty="0">
                <a:solidFill>
                  <a:schemeClr val="tx1"/>
                </a:solidFill>
                <a:effectLst/>
                <a:latin typeface="+mn-lt"/>
                <a:ea typeface="+mn-ea"/>
                <a:cs typeface="+mn-cs"/>
              </a:rPr>
              <a:t>Iran and adversary nations understand this geographic leverage. They know they don't need to defeat Western militaries directly; they just need to disrupt resource flows and wait out Western election cycles.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6</a:t>
            </a:fld>
            <a:endParaRPr lang="en-US"/>
          </a:p>
        </p:txBody>
      </p:sp>
    </p:spTree>
    <p:extLst>
      <p:ext uri="{BB962C8B-B14F-4D97-AF65-F5344CB8AC3E}">
        <p14:creationId xmlns:p14="http://schemas.microsoft.com/office/powerpoint/2010/main" val="4002590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Threat #4 moves us into ecological breakdown. Many people view climate change as a gradual, linear warming process, but climate scientists warn of tipping points that act like sudden light switches. </a:t>
                </a:r>
              </a:p>
              <a:p>
                <a:r>
                  <a:rPr lang="en-US" sz="1200" kern="1200" dirty="0">
                    <a:solidFill>
                      <a:schemeClr val="tx1"/>
                    </a:solidFill>
                    <a:effectLst/>
                    <a:latin typeface="+mn-lt"/>
                    <a:ea typeface="+mn-ea"/>
                    <a:cs typeface="+mn-cs"/>
                  </a:rPr>
                  <a:t>The most severe of these is the collapse of the </a:t>
                </a:r>
                <a:r>
                  <a:rPr lang="en-US" sz="1200" b="1" kern="1200" dirty="0">
                    <a:solidFill>
                      <a:schemeClr val="tx1"/>
                    </a:solidFill>
                    <a:effectLst/>
                    <a:latin typeface="+mn-lt"/>
                    <a:ea typeface="+mn-ea"/>
                    <a:cs typeface="+mn-cs"/>
                  </a:rPr>
                  <a:t>Atlantic Meridional Overturning Circulation (AMOC)</a:t>
                </a:r>
                <a:r>
                  <a:rPr lang="en-US" sz="1200" kern="1200" dirty="0">
                    <a:solidFill>
                      <a:schemeClr val="tx1"/>
                    </a:solidFill>
                    <a:effectLst/>
                    <a:latin typeface="+mn-lt"/>
                    <a:ea typeface="+mn-ea"/>
                    <a:cs typeface="+mn-cs"/>
                  </a:rPr>
                  <a:t>—the vast ocean current system that transports warm tropical water to Northern Europe.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Studies indicate a potential collapse between now and 2095.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AMOC shuts down, average temperatures across Europe will plummet by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m:t>
                        </m:r>
                      </m:sup>
                    </m:sSup>
                    <m:r>
                      <a:rPr lang="en-US" sz="1200" i="1" kern="1200">
                        <a:solidFill>
                          <a:schemeClr val="tx1"/>
                        </a:solidFill>
                        <a:latin typeface="Cambria Math" panose="02040503050406030204" pitchFamily="18" charset="0"/>
                        <a:ea typeface="+mn-ea"/>
                        <a:cs typeface="+mn-cs"/>
                      </a:rPr>
                      <m:t>𝐶</m:t>
                    </m:r>
                  </m:oMath>
                </a14:m>
                <a:r>
                  <a:rPr lang="en-US" sz="1200" kern="1200" dirty="0">
                    <a:solidFill>
                      <a:schemeClr val="tx1"/>
                    </a:solidFill>
                    <a:effectLst/>
                    <a:latin typeface="+mn-lt"/>
                    <a:ea typeface="+mn-ea"/>
                    <a:cs typeface="+mn-cs"/>
                  </a:rPr>
                  <a:t>at a rate of roughly </a:t>
                </a:r>
                <a14:m>
                  <m:oMath xmlns:m="http://schemas.openxmlformats.org/officeDocument/2006/math">
                    <m:sSup>
                      <m:sSupPr>
                        <m:ctrlPr>
                          <a:rPr lang="en-US" sz="1200" i="1" kern="1200" smtClean="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3</m:t>
                        </m:r>
                      </m:e>
                      <m:sup>
                        <m:r>
                          <a:rPr lang="en-US" sz="1200" i="0" kern="1200">
                            <a:solidFill>
                              <a:schemeClr val="tx1"/>
                            </a:solidFill>
                            <a:latin typeface="Cambria Math" panose="02040503050406030204" pitchFamily="18" charset="0"/>
                            <a:ea typeface="+mn-ea"/>
                            <a:cs typeface="+mn-cs"/>
                          </a:rPr>
                          <m:t>∘</m:t>
                        </m:r>
                      </m:sup>
                    </m:sSup>
                    <m:r>
                      <a:rPr lang="en-US" sz="1200" i="1" kern="1200">
                        <a:solidFill>
                          <a:schemeClr val="tx1"/>
                        </a:solidFill>
                        <a:latin typeface="Cambria Math" panose="02040503050406030204" pitchFamily="18" charset="0"/>
                        <a:ea typeface="+mn-ea"/>
                        <a:cs typeface="+mn-cs"/>
                      </a:rPr>
                      <m:t>𝐶</m:t>
                    </m:r>
                  </m:oMath>
                </a14:m>
                <a:r>
                  <a:rPr lang="en-US" sz="1200" kern="1200" dirty="0">
                    <a:solidFill>
                      <a:schemeClr val="tx1"/>
                    </a:solidFill>
                    <a:effectLst/>
                    <a:latin typeface="+mn-lt"/>
                    <a:ea typeface="+mn-ea"/>
                    <a:cs typeface="+mn-cs"/>
                  </a:rPr>
                  <a:t>per decade.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Major cities like London would face violent, unlivable weather swings, ranging from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sSup>
                      <m:sSupPr>
                        <m:ctrlPr>
                          <a:rPr lang="en-US" sz="1200" i="1" kern="1200">
                            <a:solidFill>
                              <a:schemeClr val="tx1"/>
                            </a:solidFill>
                            <a:latin typeface="Cambria Math" panose="02040503050406030204" pitchFamily="18" charset="0"/>
                            <a:ea typeface="+mn-ea"/>
                            <a:cs typeface="+mn-cs"/>
                          </a:rPr>
                        </m:ctrlPr>
                      </m:sSupPr>
                      <m:e>
                        <m:r>
                          <a:rPr lang="en-US" sz="1200" i="0" kern="1200">
                            <a:solidFill>
                              <a:schemeClr val="tx1"/>
                            </a:solidFill>
                            <a:latin typeface="Cambria Math" panose="02040503050406030204" pitchFamily="18" charset="0"/>
                            <a:ea typeface="+mn-ea"/>
                            <a:cs typeface="+mn-cs"/>
                          </a:rPr>
                          <m:t>20</m:t>
                        </m:r>
                      </m:e>
                      <m:sup>
                        <m:r>
                          <a:rPr lang="en-US" sz="1200" i="0" kern="1200">
                            <a:solidFill>
                              <a:schemeClr val="tx1"/>
                            </a:solidFill>
                            <a:latin typeface="Cambria Math" panose="02040503050406030204" pitchFamily="18" charset="0"/>
                            <a:ea typeface="+mn-ea"/>
                            <a:cs typeface="+mn-cs"/>
                          </a:rPr>
                          <m:t>∘</m:t>
                        </m:r>
                      </m:sup>
                    </m:sSup>
                    <m:r>
                      <a:rPr lang="en-US" sz="1200" i="1" kern="1200">
                        <a:solidFill>
                          <a:schemeClr val="tx1"/>
                        </a:solidFill>
                        <a:latin typeface="Cambria Math" panose="02040503050406030204" pitchFamily="18" charset="0"/>
                        <a:ea typeface="+mn-ea"/>
                        <a:cs typeface="+mn-cs"/>
                      </a:rPr>
                      <m:t>𝐶</m:t>
                    </m:r>
                  </m:oMath>
                </a14:m>
                <a:r>
                  <a:rPr lang="en-US" sz="1200" kern="1200" dirty="0">
                    <a:solidFill>
                      <a:schemeClr val="tx1"/>
                    </a:solidFill>
                    <a:effectLst/>
                    <a:latin typeface="+mn-lt"/>
                    <a:ea typeface="+mn-ea"/>
                    <a:cs typeface="+mn-cs"/>
                  </a:rPr>
                  <a:t>winters to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sSup>
                      <m:sSupPr>
                        <m:ctrlPr>
                          <a:rPr lang="en-US" sz="1200" i="1" kern="1200">
                            <a:solidFill>
                              <a:schemeClr val="tx1"/>
                            </a:solidFill>
                            <a:latin typeface="Cambria Math" panose="02040503050406030204" pitchFamily="18" charset="0"/>
                            <a:ea typeface="+mn-ea"/>
                            <a:cs typeface="+mn-cs"/>
                          </a:rPr>
                        </m:ctrlPr>
                      </m:sSupPr>
                      <m:e>
                        <m:r>
                          <a:rPr lang="en-US" sz="1200" i="0" kern="1200">
                            <a:solidFill>
                              <a:schemeClr val="tx1"/>
                            </a:solidFill>
                            <a:latin typeface="Cambria Math" panose="02040503050406030204" pitchFamily="18" charset="0"/>
                            <a:ea typeface="+mn-ea"/>
                            <a:cs typeface="+mn-cs"/>
                          </a:rPr>
                          <m:t>35</m:t>
                        </m:r>
                      </m:e>
                      <m:sup>
                        <m:r>
                          <a:rPr lang="en-US" sz="1200" i="0" kern="1200">
                            <a:solidFill>
                              <a:schemeClr val="tx1"/>
                            </a:solidFill>
                            <a:latin typeface="Cambria Math" panose="02040503050406030204" pitchFamily="18" charset="0"/>
                            <a:ea typeface="+mn-ea"/>
                            <a:cs typeface="+mn-cs"/>
                          </a:rPr>
                          <m:t>∘</m:t>
                        </m:r>
                      </m:sup>
                    </m:sSup>
                    <m:r>
                      <a:rPr lang="en-US" sz="1200" i="1" kern="1200">
                        <a:solidFill>
                          <a:schemeClr val="tx1"/>
                        </a:solidFill>
                        <a:latin typeface="Cambria Math" panose="02040503050406030204" pitchFamily="18" charset="0"/>
                        <a:ea typeface="+mn-ea"/>
                        <a:cs typeface="+mn-cs"/>
                      </a:rPr>
                      <m:t>𝐶</m:t>
                    </m:r>
                  </m:oMath>
                </a14:m>
                <a:r>
                  <a:rPr lang="en-US" sz="1200" kern="1200" dirty="0">
                    <a:solidFill>
                      <a:schemeClr val="tx1"/>
                    </a:solidFill>
                    <a:effectLst/>
                    <a:latin typeface="+mn-lt"/>
                    <a:ea typeface="+mn-ea"/>
                    <a:cs typeface="+mn-cs"/>
                  </a:rPr>
                  <a:t>summer spikes. </a:t>
                </a:r>
              </a:p>
              <a:p>
                <a:r>
                  <a:rPr lang="en-US" sz="1200" kern="1200" dirty="0">
                    <a:solidFill>
                      <a:schemeClr val="tx1"/>
                    </a:solidFill>
                    <a:effectLst/>
                    <a:latin typeface="+mn-lt"/>
                    <a:ea typeface="+mn-ea"/>
                    <a:cs typeface="+mn-cs"/>
                  </a:rPr>
                  <a:t>As Steve points out in the discussion, </a:t>
                </a:r>
                <a:r>
                  <a:rPr lang="en-US" sz="1200" i="1" kern="1200" dirty="0">
                    <a:solidFill>
                      <a:schemeClr val="tx1"/>
                    </a:solidFill>
                    <a:effectLst/>
                    <a:latin typeface="+mn-lt"/>
                    <a:ea typeface="+mn-ea"/>
                    <a:cs typeface="+mn-cs"/>
                  </a:rPr>
                  <a:t>'We are 5 inches from a brick wall, and we are not going to slow down in time to avoid hitting it.'</a:t>
                </a:r>
                <a:r>
                  <a:rPr lang="en-US" sz="1200" kern="1200" dirty="0">
                    <a:solidFill>
                      <a:schemeClr val="tx1"/>
                    </a:solidFill>
                    <a:effectLst/>
                    <a:latin typeface="+mn-lt"/>
                    <a:ea typeface="+mn-ea"/>
                    <a:cs typeface="+mn-cs"/>
                  </a:rPr>
                  <a:t>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Threat #4 moves us into ecological breakdown. Many people view climate change as a gradual, linear warming process, but climate scientists warn of tipping points that act like sudden light switches. </a:t>
                </a:r>
              </a:p>
              <a:p>
                <a:r>
                  <a:rPr lang="en-US" sz="1200" kern="1200" dirty="0">
                    <a:solidFill>
                      <a:schemeClr val="tx1"/>
                    </a:solidFill>
                    <a:effectLst/>
                    <a:latin typeface="+mn-lt"/>
                    <a:ea typeface="+mn-ea"/>
                    <a:cs typeface="+mn-cs"/>
                  </a:rPr>
                  <a:t>The most severe of these is the collapse of the </a:t>
                </a:r>
                <a:r>
                  <a:rPr lang="en-US" sz="1200" b="1" kern="1200" dirty="0">
                    <a:solidFill>
                      <a:schemeClr val="tx1"/>
                    </a:solidFill>
                    <a:effectLst/>
                    <a:latin typeface="+mn-lt"/>
                    <a:ea typeface="+mn-ea"/>
                    <a:cs typeface="+mn-cs"/>
                  </a:rPr>
                  <a:t>Atlantic Meridional Overturning Circulation (AMOC)</a:t>
                </a:r>
                <a:r>
                  <a:rPr lang="en-US" sz="1200" kern="1200" dirty="0">
                    <a:solidFill>
                      <a:schemeClr val="tx1"/>
                    </a:solidFill>
                    <a:effectLst/>
                    <a:latin typeface="+mn-lt"/>
                    <a:ea typeface="+mn-ea"/>
                    <a:cs typeface="+mn-cs"/>
                  </a:rPr>
                  <a:t>—the vast ocean current system that transports warm tropical water to Northern Europe.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Studies indicate a potential collapse between now and 2095.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AMOC shuts down, average temperatures across Europe will plummet by </a:t>
                </a:r>
                <a:r>
                  <a:rPr lang="en-US" sz="1200" i="0" kern="1200">
                    <a:solidFill>
                      <a:schemeClr val="tx1"/>
                    </a:solidFill>
                    <a:latin typeface="+mn-lt"/>
                    <a:ea typeface="+mn-ea"/>
                    <a:cs typeface="+mn-cs"/>
                  </a:rPr>
                  <a:t>10^∘ 𝐶</a:t>
                </a:r>
                <a:r>
                  <a:rPr lang="en-US" sz="1200" kern="1200" dirty="0">
                    <a:solidFill>
                      <a:schemeClr val="tx1"/>
                    </a:solidFill>
                    <a:effectLst/>
                    <a:latin typeface="+mn-lt"/>
                    <a:ea typeface="+mn-ea"/>
                    <a:cs typeface="+mn-cs"/>
                  </a:rPr>
                  <a:t>at a rate of roughly </a:t>
                </a:r>
                <a:r>
                  <a:rPr lang="en-US" sz="1200" i="0" kern="1200">
                    <a:solidFill>
                      <a:schemeClr val="tx1"/>
                    </a:solidFill>
                    <a:latin typeface="+mn-lt"/>
                    <a:ea typeface="+mn-ea"/>
                    <a:cs typeface="+mn-cs"/>
                  </a:rPr>
                  <a:t>3^∘ 𝐶</a:t>
                </a:r>
                <a:r>
                  <a:rPr lang="en-US" sz="1200" kern="1200" dirty="0">
                    <a:solidFill>
                      <a:schemeClr val="tx1"/>
                    </a:solidFill>
                    <a:effectLst/>
                    <a:latin typeface="+mn-lt"/>
                    <a:ea typeface="+mn-ea"/>
                    <a:cs typeface="+mn-cs"/>
                  </a:rPr>
                  <a:t>per decade.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Major cities like London would face violent, unlivable weather swings, ranging from </a:t>
                </a:r>
                <a:r>
                  <a:rPr lang="en-US" sz="1200" i="0" kern="1200">
                    <a:solidFill>
                      <a:schemeClr val="tx1"/>
                    </a:solidFill>
                    <a:latin typeface="+mn-lt"/>
                    <a:ea typeface="+mn-ea"/>
                    <a:cs typeface="+mn-cs"/>
                  </a:rPr>
                  <a:t>−20^∘ 𝐶</a:t>
                </a:r>
                <a:r>
                  <a:rPr lang="en-US" sz="1200" kern="1200" dirty="0">
                    <a:solidFill>
                      <a:schemeClr val="tx1"/>
                    </a:solidFill>
                    <a:effectLst/>
                    <a:latin typeface="+mn-lt"/>
                    <a:ea typeface="+mn-ea"/>
                    <a:cs typeface="+mn-cs"/>
                  </a:rPr>
                  <a:t>winters to </a:t>
                </a:r>
                <a:r>
                  <a:rPr lang="en-US" sz="1200" i="0" kern="1200">
                    <a:solidFill>
                      <a:schemeClr val="tx1"/>
                    </a:solidFill>
                    <a:latin typeface="+mn-lt"/>
                    <a:ea typeface="+mn-ea"/>
                    <a:cs typeface="+mn-cs"/>
                  </a:rPr>
                  <a:t>+35^∘ 𝐶</a:t>
                </a:r>
                <a:r>
                  <a:rPr lang="en-US" sz="1200" kern="1200" dirty="0">
                    <a:solidFill>
                      <a:schemeClr val="tx1"/>
                    </a:solidFill>
                    <a:effectLst/>
                    <a:latin typeface="+mn-lt"/>
                    <a:ea typeface="+mn-ea"/>
                    <a:cs typeface="+mn-cs"/>
                  </a:rPr>
                  <a:t>summer spikes. </a:t>
                </a:r>
              </a:p>
              <a:p>
                <a:r>
                  <a:rPr lang="en-US" sz="1200" kern="1200" dirty="0">
                    <a:solidFill>
                      <a:schemeClr val="tx1"/>
                    </a:solidFill>
                    <a:effectLst/>
                    <a:latin typeface="+mn-lt"/>
                    <a:ea typeface="+mn-ea"/>
                    <a:cs typeface="+mn-cs"/>
                  </a:rPr>
                  <a:t>As Steve points out in the discussion, </a:t>
                </a:r>
                <a:r>
                  <a:rPr lang="en-US" sz="1200" i="1" kern="1200" dirty="0">
                    <a:solidFill>
                      <a:schemeClr val="tx1"/>
                    </a:solidFill>
                    <a:effectLst/>
                    <a:latin typeface="+mn-lt"/>
                    <a:ea typeface="+mn-ea"/>
                    <a:cs typeface="+mn-cs"/>
                  </a:rPr>
                  <a:t>'We are 5 inches from a brick wall, and we are not going to slow down in time to avoid hitting it.'</a:t>
                </a:r>
                <a:r>
                  <a:rPr lang="en-US" sz="1200" kern="1200" dirty="0">
                    <a:solidFill>
                      <a:schemeClr val="tx1"/>
                    </a:solidFill>
                    <a:effectLst/>
                    <a:latin typeface="+mn-lt"/>
                    <a:ea typeface="+mn-ea"/>
                    <a:cs typeface="+mn-cs"/>
                  </a:rPr>
                  <a:t> </a:t>
                </a:r>
              </a:p>
              <a:p>
                <a:endParaRPr lang="en-US" dirty="0"/>
              </a:p>
            </p:txBody>
          </p:sp>
        </mc:Fallback>
      </mc:AlternateContent>
      <p:sp>
        <p:nvSpPr>
          <p:cNvPr id="4" name="Slide Number Placeholder 3"/>
          <p:cNvSpPr>
            <a:spLocks noGrp="1"/>
          </p:cNvSpPr>
          <p:nvPr>
            <p:ph type="sldNum" sz="quarter" idx="5"/>
          </p:nvPr>
        </p:nvSpPr>
        <p:spPr/>
        <p:txBody>
          <a:bodyPr/>
          <a:lstStyle/>
          <a:p>
            <a:fld id="{F2879C86-7A1C-40B3-BC91-4E053157F94A}" type="slidenum">
              <a:rPr lang="en-US" smtClean="0"/>
              <a:t>7</a:t>
            </a:fld>
            <a:endParaRPr lang="en-US"/>
          </a:p>
        </p:txBody>
      </p:sp>
    </p:spTree>
    <p:extLst>
      <p:ext uri="{BB962C8B-B14F-4D97-AF65-F5344CB8AC3E}">
        <p14:creationId xmlns:p14="http://schemas.microsoft.com/office/powerpoint/2010/main" val="1704191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Facing this crisis, humanity is caught in an operational impasse. There are two competing paths: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Path A: Global Contraction (The 'Limits to Growth' Model):</a:t>
            </a:r>
            <a:r>
              <a:rPr lang="en-US" sz="1200" kern="1200" dirty="0">
                <a:solidFill>
                  <a:schemeClr val="tx1"/>
                </a:solidFill>
                <a:effectLst/>
                <a:latin typeface="+mn-lt"/>
                <a:ea typeface="+mn-ea"/>
                <a:cs typeface="+mn-cs"/>
              </a:rPr>
              <a:t> This approach demands capping global energy consumption and population growth. However, implementing this would require a global, authoritarian world government. It is politically impossible—developing nations like India and China will not stop burning dense fossil fuels while millions of their citizens remain in energy poverty. Western 'moral leadership' gestures are practically irrelevant when the UK produces less than 1% of global emissions.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Path B: Adaptation &amp; Innovation (The Historical Model):</a:t>
            </a:r>
            <a:r>
              <a:rPr lang="en-US" sz="1200" kern="1200" dirty="0">
                <a:solidFill>
                  <a:schemeClr val="tx1"/>
                </a:solidFill>
                <a:effectLst/>
                <a:latin typeface="+mn-lt"/>
                <a:ea typeface="+mn-ea"/>
                <a:cs typeface="+mn-cs"/>
              </a:rPr>
              <a:t> Since global emissions cannot be halted through unilateral Western belt-tightening, Path B accepts reality. It focuses capital entirely on clean, high-density energy—specifically </a:t>
            </a:r>
            <a:r>
              <a:rPr lang="en-US" sz="1200" b="1" kern="1200" dirty="0">
                <a:solidFill>
                  <a:schemeClr val="tx1"/>
                </a:solidFill>
                <a:effectLst/>
                <a:latin typeface="+mn-lt"/>
                <a:ea typeface="+mn-ea"/>
                <a:cs typeface="+mn-cs"/>
              </a:rPr>
              <a:t>Nuclear Power</a:t>
            </a:r>
            <a:r>
              <a:rPr lang="en-US" sz="1200" kern="1200" dirty="0">
                <a:solidFill>
                  <a:schemeClr val="tx1"/>
                </a:solidFill>
                <a:effectLst/>
                <a:latin typeface="+mn-lt"/>
                <a:ea typeface="+mn-ea"/>
                <a:cs typeface="+mn-cs"/>
              </a:rPr>
              <a:t>—and builds hard physical defenses like seawalls, flood barriers, and resilient agriculture. </a:t>
            </a:r>
          </a:p>
          <a:p>
            <a:r>
              <a:rPr lang="en-US" sz="1200" kern="1200" dirty="0">
                <a:solidFill>
                  <a:schemeClr val="tx1"/>
                </a:solidFill>
                <a:effectLst/>
                <a:latin typeface="+mn-lt"/>
                <a:ea typeface="+mn-ea"/>
                <a:cs typeface="+mn-cs"/>
              </a:rPr>
              <a:t>We must stop arguing over performative reduction and pivot toward massive engineering and adaptation.</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8</a:t>
            </a:fld>
            <a:endParaRPr lang="en-US"/>
          </a:p>
        </p:txBody>
      </p:sp>
    </p:spTree>
    <p:extLst>
      <p:ext uri="{BB962C8B-B14F-4D97-AF65-F5344CB8AC3E}">
        <p14:creationId xmlns:p14="http://schemas.microsoft.com/office/powerpoint/2010/main" val="875303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 turn to Threat #5: </a:t>
            </a:r>
            <a:r>
              <a:rPr lang="en-US" sz="1200" b="1" kern="1200" dirty="0">
                <a:solidFill>
                  <a:schemeClr val="tx1"/>
                </a:solidFill>
                <a:effectLst/>
                <a:latin typeface="+mn-lt"/>
                <a:ea typeface="+mn-ea"/>
                <a:cs typeface="+mn-cs"/>
              </a:rPr>
              <a:t>Artificial General Intelligence (AGI)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we talk about AGI, we aren't just talking about software automation or software taking over routine jobs. Economically, yes, it threatens to cause mass labor displacement—a scenario that could mirror an economic 'Hunger Games' without massive corporate taxation and Universal Basic Income (UBI). </a:t>
            </a:r>
          </a:p>
          <a:p>
            <a:r>
              <a:rPr lang="en-US" sz="1200" kern="1200" dirty="0">
                <a:solidFill>
                  <a:schemeClr val="tx1"/>
                </a:solidFill>
                <a:effectLst/>
                <a:latin typeface="+mn-lt"/>
                <a:ea typeface="+mn-ea"/>
                <a:cs typeface="+mn-cs"/>
              </a:rPr>
              <a:t>The existential concern, however, is </a:t>
            </a:r>
            <a:r>
              <a:rPr lang="en-US" sz="1200" b="1" kern="1200" dirty="0">
                <a:solidFill>
                  <a:schemeClr val="tx1"/>
                </a:solidFill>
                <a:effectLst/>
                <a:latin typeface="+mn-lt"/>
                <a:ea typeface="+mn-ea"/>
                <a:cs typeface="+mn-cs"/>
              </a:rPr>
              <a:t>biological hierarchy</a:t>
            </a:r>
            <a:r>
              <a:rPr lang="en-US" sz="1200" kern="1200" dirty="0">
                <a:solidFill>
                  <a:schemeClr val="tx1"/>
                </a:solidFill>
                <a:effectLst/>
                <a:latin typeface="+mn-lt"/>
                <a:ea typeface="+mn-ea"/>
                <a:cs typeface="+mn-cs"/>
              </a:rPr>
              <a:t>. Konstantin Kisin highlights that for the first time in human history, we are actively creating an intelligence greater than our own.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you create a superior species, humanity naturally becomes an inferior species.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'Best case scenario, you become a pet; worst case scenario, you become a cow.'</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Once an entity possesses superior cognitive capacity, human free will and agency are subordinated. And unlike nuclear weapons, the race to build AGI cannot be paused by treaties because no state or corporation wants to yield the ultimate competitive edge.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9</a:t>
            </a:fld>
            <a:endParaRPr lang="en-US"/>
          </a:p>
        </p:txBody>
      </p:sp>
    </p:spTree>
    <p:extLst>
      <p:ext uri="{BB962C8B-B14F-4D97-AF65-F5344CB8AC3E}">
        <p14:creationId xmlns:p14="http://schemas.microsoft.com/office/powerpoint/2010/main" val="397098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synthesizes our existential horizon into what we call </a:t>
            </a:r>
            <a:r>
              <a:rPr lang="en-US" sz="1200" b="1" kern="1200" dirty="0">
                <a:solidFill>
                  <a:schemeClr val="tx1"/>
                </a:solidFill>
                <a:effectLst/>
                <a:latin typeface="+mn-lt"/>
                <a:ea typeface="+mn-ea"/>
                <a:cs typeface="+mn-cs"/>
              </a:rPr>
              <a:t>The Two Unstoppable Walls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Vector	Biosphere Collapse (Climate)	Superior Intelligence (AGI)</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Nature of Threat	</a:t>
            </a:r>
            <a:r>
              <a:rPr lang="en-US" sz="1200" kern="1200" dirty="0">
                <a:solidFill>
                  <a:schemeClr val="tx1"/>
                </a:solidFill>
                <a:effectLst/>
                <a:latin typeface="+mn-lt"/>
                <a:ea typeface="+mn-ea"/>
                <a:cs typeface="+mn-cs"/>
              </a:rPr>
              <a:t>Ecological &amp; agricultural system breakdown.		Loss of human agency to an engineered apex species. </a:t>
            </a:r>
          </a:p>
          <a:p>
            <a:r>
              <a:rPr lang="en-US" sz="1200" b="1" kern="1200" dirty="0">
                <a:solidFill>
                  <a:schemeClr val="tx1"/>
                </a:solidFill>
                <a:effectLst/>
                <a:latin typeface="+mn-lt"/>
                <a:ea typeface="+mn-ea"/>
                <a:cs typeface="+mn-cs"/>
              </a:rPr>
              <a:t>Timeline	</a:t>
            </a:r>
            <a:r>
              <a:rPr lang="en-US" sz="1200" kern="1200" dirty="0">
                <a:solidFill>
                  <a:schemeClr val="tx1"/>
                </a:solidFill>
                <a:effectLst/>
                <a:latin typeface="+mn-lt"/>
                <a:ea typeface="+mn-ea"/>
                <a:cs typeface="+mn-cs"/>
              </a:rPr>
              <a:t>Catastrophic impacts escalating over 10 to 50 years. 	Long-term, accelerated by multi-polar geopolitical arms races. </a:t>
            </a:r>
          </a:p>
          <a:p>
            <a:r>
              <a:rPr lang="en-US" sz="1200" b="1" kern="1200" dirty="0">
                <a:solidFill>
                  <a:schemeClr val="tx1"/>
                </a:solidFill>
                <a:effectLst/>
                <a:latin typeface="+mn-lt"/>
                <a:ea typeface="+mn-ea"/>
                <a:cs typeface="+mn-cs"/>
              </a:rPr>
              <a:t>Proposed Macro-Solution	</a:t>
            </a:r>
            <a:r>
              <a:rPr lang="en-US" sz="1200" kern="1200" dirty="0">
                <a:solidFill>
                  <a:schemeClr val="tx1"/>
                </a:solidFill>
                <a:effectLst/>
                <a:latin typeface="+mn-lt"/>
                <a:ea typeface="+mn-ea"/>
                <a:cs typeface="+mn-cs"/>
              </a:rPr>
              <a:t>Global energy reduction OR massive nuclear/infrastructure adaptation. 	Hardcoded alignment/empathy constraints OR heavy corporate tax UBI models. </a:t>
            </a:r>
          </a:p>
          <a:p>
            <a:r>
              <a:rPr lang="en-US" sz="1200" b="1" kern="1200" dirty="0">
                <a:solidFill>
                  <a:schemeClr val="tx1"/>
                </a:solidFill>
                <a:effectLst/>
                <a:latin typeface="+mn-lt"/>
                <a:ea typeface="+mn-ea"/>
                <a:cs typeface="+mn-cs"/>
              </a:rPr>
              <a:t>Failure Mode	</a:t>
            </a:r>
            <a:r>
              <a:rPr lang="en-US" sz="1200" kern="1200" dirty="0">
                <a:solidFill>
                  <a:schemeClr val="tx1"/>
                </a:solidFill>
                <a:effectLst/>
                <a:latin typeface="+mn-lt"/>
                <a:ea typeface="+mn-ea"/>
                <a:cs typeface="+mn-cs"/>
              </a:rPr>
              <a:t>Mass crop failure, famine, extreme temperature shifts. 	Feudal techno-oligarchy or complete subjugation. </a:t>
            </a:r>
          </a:p>
          <a:p>
            <a:r>
              <a:rPr lang="en-US" sz="1200" kern="1200" dirty="0">
                <a:solidFill>
                  <a:schemeClr val="tx1"/>
                </a:solidFill>
                <a:effectLst/>
                <a:latin typeface="+mn-lt"/>
                <a:ea typeface="+mn-ea"/>
                <a:cs typeface="+mn-cs"/>
              </a:rPr>
              <a:t>Notice the common thread: both threats represent hard physical or technological limits that our existing governance structures were simply not built to handle.</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10</a:t>
            </a:fld>
            <a:endParaRPr lang="en-US"/>
          </a:p>
        </p:txBody>
      </p:sp>
    </p:spTree>
    <p:extLst>
      <p:ext uri="{BB962C8B-B14F-4D97-AF65-F5344CB8AC3E}">
        <p14:creationId xmlns:p14="http://schemas.microsoft.com/office/powerpoint/2010/main" val="3638448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look at macro-forces this overwhelming—collapsing ocean currents, geopolitical resource warfare, and superintelligent machines—it is easy to feel paralyzed. But this brings us to the core resolution discussed at the end of the video. </a:t>
            </a:r>
          </a:p>
          <a:p>
            <a:r>
              <a:rPr lang="en-US" sz="1200" kern="1200" dirty="0">
                <a:solidFill>
                  <a:schemeClr val="tx1"/>
                </a:solidFill>
                <a:effectLst/>
                <a:latin typeface="+mn-lt"/>
                <a:ea typeface="+mn-ea"/>
                <a:cs typeface="+mn-cs"/>
              </a:rPr>
              <a:t>The illusion of individual macro-control must shatter. You and I cannot single-handedly stop an AMOC shut-down or prevent an AI lab from training its next model. </a:t>
            </a:r>
          </a:p>
          <a:p>
            <a:r>
              <a:rPr lang="en-US" sz="1200" kern="1200" dirty="0">
                <a:solidFill>
                  <a:schemeClr val="tx1"/>
                </a:solidFill>
                <a:effectLst/>
                <a:latin typeface="+mn-lt"/>
                <a:ea typeface="+mn-ea"/>
                <a:cs typeface="+mn-cs"/>
              </a:rPr>
              <a:t>The practical and spiritual response is to shift focus to the </a:t>
            </a:r>
            <a:r>
              <a:rPr lang="en-US" sz="1200" b="1" kern="1200" dirty="0">
                <a:solidFill>
                  <a:schemeClr val="tx1"/>
                </a:solidFill>
                <a:effectLst/>
                <a:latin typeface="+mn-lt"/>
                <a:ea typeface="+mn-ea"/>
                <a:cs typeface="+mn-cs"/>
              </a:rPr>
              <a:t>micro-level</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Accept the limits of macro-control:</a:t>
            </a:r>
            <a:r>
              <a:rPr lang="en-US" sz="1200" kern="1200" dirty="0">
                <a:solidFill>
                  <a:schemeClr val="tx1"/>
                </a:solidFill>
                <a:effectLst/>
                <a:latin typeface="+mn-lt"/>
                <a:ea typeface="+mn-ea"/>
                <a:cs typeface="+mn-cs"/>
              </a:rPr>
              <a:t> Stop consuming outrage culture and burning energy on global problems you cannot personally alter. </a:t>
            </a:r>
          </a:p>
          <a:p>
            <a:pPr marL="228600" lvl="0" indent="-228600">
              <a:buFont typeface="+mj-lt"/>
              <a:buAutoNum type="arabicPeriod"/>
            </a:pPr>
            <a:r>
              <a:rPr lang="en-US" sz="1200" b="1" kern="1200" dirty="0">
                <a:solidFill>
                  <a:schemeClr val="tx1"/>
                </a:solidFill>
                <a:effectLst/>
                <a:latin typeface="+mn-lt"/>
                <a:ea typeface="+mn-ea"/>
                <a:cs typeface="+mn-cs"/>
              </a:rPr>
              <a:t>Focus intensely on local meaning:</a:t>
            </a:r>
            <a:r>
              <a:rPr lang="en-US" sz="1200" kern="1200" dirty="0">
                <a:solidFill>
                  <a:schemeClr val="tx1"/>
                </a:solidFill>
                <a:effectLst/>
                <a:latin typeface="+mn-lt"/>
                <a:ea typeface="+mn-ea"/>
                <a:cs typeface="+mn-cs"/>
              </a:rPr>
              <a:t> Direct your time and capital into your immediate sphere—build resilient local communities, protect your family, master tangible skills, and live with immediate purpose. </a:t>
            </a:r>
          </a:p>
          <a:p>
            <a:r>
              <a:rPr lang="en-US" sz="1200" kern="1200" dirty="0">
                <a:solidFill>
                  <a:schemeClr val="tx1"/>
                </a:solidFill>
                <a:effectLst/>
                <a:latin typeface="+mn-lt"/>
                <a:ea typeface="+mn-ea"/>
                <a:cs typeface="+mn-cs"/>
              </a:rPr>
              <a:t>Regardless of whether the timeline to disruption is 3 years or 30 years, the fundamental question of how to live a meaningful life remains unchanged. </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11</a:t>
            </a:fld>
            <a:endParaRPr lang="en-US"/>
          </a:p>
        </p:txBody>
      </p:sp>
    </p:spTree>
    <p:extLst>
      <p:ext uri="{BB962C8B-B14F-4D97-AF65-F5344CB8AC3E}">
        <p14:creationId xmlns:p14="http://schemas.microsoft.com/office/powerpoint/2010/main" val="444519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first section of the deck, let's review our six core executive summary points: </a:t>
            </a:r>
          </a:p>
          <a:p>
            <a:pPr marL="228600" lvl="0" indent="-228600">
              <a:buFont typeface="+mj-lt"/>
              <a:buAutoNum type="arabicPeriod"/>
            </a:pPr>
            <a:r>
              <a:rPr lang="en-US" sz="1200" b="1" kern="1200" dirty="0">
                <a:solidFill>
                  <a:schemeClr val="tx1"/>
                </a:solidFill>
                <a:effectLst/>
                <a:latin typeface="+mn-lt"/>
                <a:ea typeface="+mn-ea"/>
                <a:cs typeface="+mn-cs"/>
              </a:rPr>
              <a:t>Broken Social Contract:</a:t>
            </a:r>
            <a:r>
              <a:rPr lang="en-US" sz="1200" kern="1200" dirty="0">
                <a:solidFill>
                  <a:schemeClr val="tx1"/>
                </a:solidFill>
                <a:effectLst/>
                <a:latin typeface="+mn-lt"/>
                <a:ea typeface="+mn-ea"/>
                <a:cs typeface="+mn-cs"/>
              </a:rPr>
              <a:t> Polarization is driven by political failure on economic stagnation and border management. </a:t>
            </a:r>
          </a:p>
          <a:p>
            <a:pPr marL="228600" lvl="0" indent="-228600">
              <a:buFont typeface="+mj-lt"/>
              <a:buAutoNum type="arabicPeriod"/>
            </a:pPr>
            <a:r>
              <a:rPr lang="en-US" sz="1200" b="1" kern="1200" dirty="0">
                <a:solidFill>
                  <a:schemeClr val="tx1"/>
                </a:solidFill>
                <a:effectLst/>
                <a:latin typeface="+mn-lt"/>
                <a:ea typeface="+mn-ea"/>
                <a:cs typeface="+mn-cs"/>
              </a:rPr>
              <a:t>Energy is Wealth:</a:t>
            </a:r>
            <a:r>
              <a:rPr lang="en-US" sz="1200" kern="1200" dirty="0">
                <a:solidFill>
                  <a:schemeClr val="tx1"/>
                </a:solidFill>
                <a:effectLst/>
                <a:latin typeface="+mn-lt"/>
                <a:ea typeface="+mn-ea"/>
                <a:cs typeface="+mn-cs"/>
              </a:rPr>
              <a:t> Real prosperity requires abundant, cheap, high-density power—not forced scarcity. </a:t>
            </a:r>
          </a:p>
          <a:p>
            <a:pPr marL="228600" lvl="0" indent="-228600">
              <a:buFont typeface="+mj-lt"/>
              <a:buAutoNum type="arabicPeriod"/>
            </a:pPr>
            <a:r>
              <a:rPr lang="en-US" sz="1200" b="1" kern="1200" dirty="0">
                <a:solidFill>
                  <a:schemeClr val="tx1"/>
                </a:solidFill>
                <a:effectLst/>
                <a:latin typeface="+mn-lt"/>
                <a:ea typeface="+mn-ea"/>
                <a:cs typeface="+mn-cs"/>
              </a:rPr>
              <a:t>Divergent Global Models:</a:t>
            </a:r>
            <a:r>
              <a:rPr lang="en-US" sz="1200" kern="1200" dirty="0">
                <a:solidFill>
                  <a:schemeClr val="tx1"/>
                </a:solidFill>
                <a:effectLst/>
                <a:latin typeface="+mn-lt"/>
                <a:ea typeface="+mn-ea"/>
                <a:cs typeface="+mn-cs"/>
              </a:rPr>
              <a:t> The US rewards high-risk growth; Europe incentivizes welfare gridlock; China executes state-led infrastructure. </a:t>
            </a:r>
          </a:p>
          <a:p>
            <a:pPr marL="228600" lvl="0" indent="-228600">
              <a:buFont typeface="+mj-lt"/>
              <a:buAutoNum type="arabicPeriod"/>
            </a:pPr>
            <a:r>
              <a:rPr lang="en-US" sz="1200" b="1" kern="1200" dirty="0">
                <a:solidFill>
                  <a:schemeClr val="tx1"/>
                </a:solidFill>
                <a:effectLst/>
                <a:latin typeface="+mn-lt"/>
                <a:ea typeface="+mn-ea"/>
                <a:cs typeface="+mn-cs"/>
              </a:rPr>
              <a:t>Adaptation Over Gestures:</a:t>
            </a:r>
            <a:r>
              <a:rPr lang="en-US" sz="1200" kern="1200" dirty="0">
                <a:solidFill>
                  <a:schemeClr val="tx1"/>
                </a:solidFill>
                <a:effectLst/>
                <a:latin typeface="+mn-lt"/>
                <a:ea typeface="+mn-ea"/>
                <a:cs typeface="+mn-cs"/>
              </a:rPr>
              <a:t> Climate policy must pivot from performative Western cuts to nuclear investment and physical defense. </a:t>
            </a:r>
          </a:p>
          <a:p>
            <a:pPr marL="228600" lvl="0" indent="-228600">
              <a:buFont typeface="+mj-lt"/>
              <a:buAutoNum type="arabicPeriod"/>
            </a:pPr>
            <a:r>
              <a:rPr lang="en-US" sz="1200" b="1" kern="1200" dirty="0">
                <a:solidFill>
                  <a:schemeClr val="tx1"/>
                </a:solidFill>
                <a:effectLst/>
                <a:latin typeface="+mn-lt"/>
                <a:ea typeface="+mn-ea"/>
                <a:cs typeface="+mn-cs"/>
              </a:rPr>
              <a:t>AI Hierarchy:</a:t>
            </a:r>
            <a:r>
              <a:rPr lang="en-US" sz="1200" kern="1200" dirty="0">
                <a:solidFill>
                  <a:schemeClr val="tx1"/>
                </a:solidFill>
                <a:effectLst/>
                <a:latin typeface="+mn-lt"/>
                <a:ea typeface="+mn-ea"/>
                <a:cs typeface="+mn-cs"/>
              </a:rPr>
              <a:t> AGI represents a shift in biological dominance that humanity cannot easily control. </a:t>
            </a:r>
          </a:p>
          <a:p>
            <a:pPr marL="228600" lvl="0" indent="-228600">
              <a:buFont typeface="+mj-lt"/>
              <a:buAutoNum type="arabicPeriod"/>
            </a:pPr>
            <a:r>
              <a:rPr lang="en-US" sz="1200" b="1" kern="1200" dirty="0">
                <a:solidFill>
                  <a:schemeClr val="tx1"/>
                </a:solidFill>
                <a:effectLst/>
                <a:latin typeface="+mn-lt"/>
                <a:ea typeface="+mn-ea"/>
                <a:cs typeface="+mn-cs"/>
              </a:rPr>
              <a:t>The 2035 Window:</a:t>
            </a:r>
            <a:r>
              <a:rPr lang="en-US" sz="1200" kern="1200" dirty="0">
                <a:solidFill>
                  <a:schemeClr val="tx1"/>
                </a:solidFill>
                <a:effectLst/>
                <a:latin typeface="+mn-lt"/>
                <a:ea typeface="+mn-ea"/>
                <a:cs typeface="+mn-cs"/>
              </a:rPr>
              <a:t> Overlapping environmental, economic, and technological pressures point toward a critical 10-year window of potential systemic breakdown. </a:t>
            </a:r>
          </a:p>
          <a:p>
            <a:r>
              <a:rPr lang="en-US" sz="1200" kern="1200" dirty="0">
                <a:solidFill>
                  <a:schemeClr val="tx1"/>
                </a:solidFill>
                <a:effectLst/>
                <a:latin typeface="+mn-lt"/>
                <a:ea typeface="+mn-ea"/>
                <a:cs typeface="+mn-cs"/>
              </a:rPr>
              <a:t>Thank you. Let's open the floor to questions before we move to the strategic mitigation strategies in part two.</a:t>
            </a:r>
          </a:p>
          <a:p>
            <a:endParaRPr lang="en-US" dirty="0"/>
          </a:p>
        </p:txBody>
      </p:sp>
      <p:sp>
        <p:nvSpPr>
          <p:cNvPr id="4" name="Slide Number Placeholder 3"/>
          <p:cNvSpPr>
            <a:spLocks noGrp="1"/>
          </p:cNvSpPr>
          <p:nvPr>
            <p:ph type="sldNum" sz="quarter" idx="5"/>
          </p:nvPr>
        </p:nvSpPr>
        <p:spPr/>
        <p:txBody>
          <a:bodyPr/>
          <a:lstStyle/>
          <a:p>
            <a:fld id="{F2879C86-7A1C-40B3-BC91-4E053157F94A}" type="slidenum">
              <a:rPr lang="en-US" smtClean="0"/>
              <a:t>12</a:t>
            </a:fld>
            <a:endParaRPr lang="en-US"/>
          </a:p>
        </p:txBody>
      </p:sp>
    </p:spTree>
    <p:extLst>
      <p:ext uri="{BB962C8B-B14F-4D97-AF65-F5344CB8AC3E}">
        <p14:creationId xmlns:p14="http://schemas.microsoft.com/office/powerpoint/2010/main" val="127525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664404-91CA-3F04-D906-2F90D7221B5F}"/>
              </a:ext>
            </a:extLst>
          </p:cNvPr>
          <p:cNvSpPr>
            <a:spLocks noGrp="1"/>
          </p:cNvSpPr>
          <p:nvPr>
            <p:ph type="dt" sz="half" idx="10"/>
          </p:nvPr>
        </p:nvSpPr>
        <p:spPr/>
        <p:txBody>
          <a:bodyPr/>
          <a:lstStyle/>
          <a:p>
            <a:fld id="{346ECCA2-B3C7-4E2B-AD27-D3053B561497}" type="datetimeFigureOut">
              <a:rPr lang="en-US" smtClean="0"/>
              <a:t>10/19/2026</a:t>
            </a:fld>
            <a:endParaRPr lang="en-US"/>
          </a:p>
        </p:txBody>
      </p:sp>
      <p:sp>
        <p:nvSpPr>
          <p:cNvPr id="3" name="Footer Placeholder 2">
            <a:extLst>
              <a:ext uri="{FF2B5EF4-FFF2-40B4-BE49-F238E27FC236}">
                <a16:creationId xmlns:a16="http://schemas.microsoft.com/office/drawing/2014/main" id="{8E6FA303-6295-37AC-78F0-298A0C42E5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DAECE8-54AD-A28D-A0F3-AF1EECE80752}"/>
              </a:ext>
            </a:extLst>
          </p:cNvPr>
          <p:cNvSpPr>
            <a:spLocks noGrp="1"/>
          </p:cNvSpPr>
          <p:nvPr>
            <p:ph type="sldNum" sz="quarter" idx="12"/>
          </p:nvPr>
        </p:nvSpPr>
        <p:spPr/>
        <p:txBody>
          <a:bodyPr/>
          <a:lstStyle/>
          <a:p>
            <a:fld id="{84950EB1-1B3A-49C5-913C-8506A3C78587}" type="slidenum">
              <a:rPr lang="en-US" smtClean="0"/>
              <a:t>‹#›</a:t>
            </a:fld>
            <a:endParaRPr lang="en-US"/>
          </a:p>
        </p:txBody>
      </p:sp>
    </p:spTree>
    <p:extLst>
      <p:ext uri="{BB962C8B-B14F-4D97-AF65-F5344CB8AC3E}">
        <p14:creationId xmlns:p14="http://schemas.microsoft.com/office/powerpoint/2010/main" val="10033935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DC3C92-8B05-2494-4C33-A089C7D10F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D6ECE2-E7BE-D89F-F7AD-52CB0D4834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00E23D-A52C-5593-528E-E94FE60A3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6ECCA2-B3C7-4E2B-AD27-D3053B561497}" type="datetimeFigureOut">
              <a:rPr lang="en-US" smtClean="0"/>
              <a:t>10/19/2026</a:t>
            </a:fld>
            <a:endParaRPr lang="en-US"/>
          </a:p>
        </p:txBody>
      </p:sp>
      <p:sp>
        <p:nvSpPr>
          <p:cNvPr id="5" name="Footer Placeholder 4">
            <a:extLst>
              <a:ext uri="{FF2B5EF4-FFF2-40B4-BE49-F238E27FC236}">
                <a16:creationId xmlns:a16="http://schemas.microsoft.com/office/drawing/2014/main" id="{E79A484D-6304-D2A5-E2F7-FC9BF2C5F9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A83FE6-25CE-D2B8-ABF6-858CD2CB3C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950EB1-1B3A-49C5-913C-8506A3C78587}" type="slidenum">
              <a:rPr lang="en-US" smtClean="0"/>
              <a:t>‹#›</a:t>
            </a:fld>
            <a:endParaRPr lang="en-US"/>
          </a:p>
        </p:txBody>
      </p:sp>
    </p:spTree>
    <p:extLst>
      <p:ext uri="{BB962C8B-B14F-4D97-AF65-F5344CB8AC3E}">
        <p14:creationId xmlns:p14="http://schemas.microsoft.com/office/powerpoint/2010/main" val="101896455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AED594-FF4B-E826-9948-D2CFA495A3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BADE9D-119F-21D0-8CB7-BEBE81D1F7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AB575E-8579-0023-C92A-8FB5EDE86F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5770AD-F26B-E387-E983-286BF6C339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C2E9B1-07B2-6CF7-0644-CAF03EFC68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3BD472-66C4-2C85-64D2-68635BF341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99D51D-003C-3F26-36E9-FB0F60EFBC8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139905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2086</Words>
  <Application>Microsoft Office PowerPoint</Application>
  <PresentationFormat>寬螢幕</PresentationFormat>
  <Paragraphs>81</Paragraphs>
  <Slides>12</Slides>
  <Notes>12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2026-08-26T03:26:21Z</dcterms:created>
  <dcterms:modified xsi:type="dcterms:W3CDTF">2026-10-19T15:37:36Z</dcterms:modified>
</cp:coreProperties>
</file>