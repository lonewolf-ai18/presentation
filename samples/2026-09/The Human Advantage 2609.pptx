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41F899-25A1-4049-8C58-A528E3360F2A}" v="23" dt="2026-09-05T04:49:01.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0" autoAdjust="0"/>
    <p:restoredTop sz="7321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05T06:59:04.955" v="56" actId="22"/>
      <pc:docMkLst>
        <pc:docMk/>
      </pc:docMkLst>
      <pc:sldChg chg="addSp delSp modSp mod modAnim modNotes modNotesTx">
        <pc:chgData name="Lai, Wilson" userId="2840974a-0d84-4886-90a9-9a3ed79f3a48" providerId="ADAL" clId="{9F23B798-9E84-4552-BA63-E776E805C424}" dt="2026-09-05T06:36:37.410" v="28" actId="22"/>
        <pc:sldMkLst>
          <pc:docMk/>
          <pc:sldMk cId="0" sldId="257"/>
        </pc:sldMkLst>
        <pc:spChg chg="add mod">
          <ac:chgData name="Lai, Wilson" userId="2840974a-0d84-4886-90a9-9a3ed79f3a48" providerId="ADAL" clId="{9F23B798-9E84-4552-BA63-E776E805C424}" dt="2026-09-05T04:28:42.584" v="8" actId="164"/>
          <ac:spMkLst>
            <pc:docMk/>
            <pc:sldMk cId="0" sldId="257"/>
            <ac:spMk id="5" creationId="{E6FE3AE3-E33F-5893-237E-D73A03409AC0}"/>
          </ac:spMkLst>
        </pc:spChg>
        <pc:grpChg chg="add mod">
          <ac:chgData name="Lai, Wilson" userId="2840974a-0d84-4886-90a9-9a3ed79f3a48" providerId="ADAL" clId="{9F23B798-9E84-4552-BA63-E776E805C424}" dt="2026-09-05T04:28:42.584" v="8" actId="164"/>
          <ac:grpSpMkLst>
            <pc:docMk/>
            <pc:sldMk cId="0" sldId="257"/>
            <ac:grpSpMk id="6" creationId="{DDA11950-2D8D-9E91-48B6-B9A1C7F76CE7}"/>
          </ac:grpSpMkLst>
        </pc:grpChg>
        <pc:picChg chg="del">
          <ac:chgData name="Lai, Wilson" userId="2840974a-0d84-4886-90a9-9a3ed79f3a48" providerId="ADAL" clId="{9F23B798-9E84-4552-BA63-E776E805C424}" dt="2026-09-05T06:36:25.291" v="27" actId="21"/>
          <ac:picMkLst>
            <pc:docMk/>
            <pc:sldMk cId="0" sldId="257"/>
            <ac:picMk id="2" creationId="{00000000-0000-0000-0000-000000000000}"/>
          </ac:picMkLst>
        </pc:picChg>
        <pc:picChg chg="add mod">
          <ac:chgData name="Lai, Wilson" userId="2840974a-0d84-4886-90a9-9a3ed79f3a48" providerId="ADAL" clId="{9F23B798-9E84-4552-BA63-E776E805C424}" dt="2026-09-05T04:28:42.584" v="8" actId="164"/>
          <ac:picMkLst>
            <pc:docMk/>
            <pc:sldMk cId="0" sldId="257"/>
            <ac:picMk id="3" creationId="{7E13BAC7-9031-3671-1C49-AC6749154482}"/>
          </ac:picMkLst>
        </pc:picChg>
        <pc:picChg chg="add">
          <ac:chgData name="Lai, Wilson" userId="2840974a-0d84-4886-90a9-9a3ed79f3a48" providerId="ADAL" clId="{9F23B798-9E84-4552-BA63-E776E805C424}" dt="2026-09-05T06:36:37.410" v="28" actId="22"/>
          <ac:picMkLst>
            <pc:docMk/>
            <pc:sldMk cId="0" sldId="257"/>
            <ac:picMk id="7" creationId="{6FAA7743-5BBD-8A16-EB6A-1D0AB0FAEF48}"/>
          </ac:picMkLst>
        </pc:picChg>
      </pc:sldChg>
      <pc:sldChg chg="addSp delSp mod modNotes modNotesTx">
        <pc:chgData name="Lai, Wilson" userId="2840974a-0d84-4886-90a9-9a3ed79f3a48" providerId="ADAL" clId="{9F23B798-9E84-4552-BA63-E776E805C424}" dt="2026-09-05T06:36:46.088" v="30" actId="22"/>
        <pc:sldMkLst>
          <pc:docMk/>
          <pc:sldMk cId="0" sldId="258"/>
        </pc:sldMkLst>
        <pc:picChg chg="del">
          <ac:chgData name="Lai, Wilson" userId="2840974a-0d84-4886-90a9-9a3ed79f3a48" providerId="ADAL" clId="{9F23B798-9E84-4552-BA63-E776E805C424}" dt="2026-09-05T06:36:38.950" v="29" actId="21"/>
          <ac:picMkLst>
            <pc:docMk/>
            <pc:sldMk cId="0" sldId="258"/>
            <ac:picMk id="2" creationId="{00000000-0000-0000-0000-000000000000}"/>
          </ac:picMkLst>
        </pc:picChg>
        <pc:picChg chg="add">
          <ac:chgData name="Lai, Wilson" userId="2840974a-0d84-4886-90a9-9a3ed79f3a48" providerId="ADAL" clId="{9F23B798-9E84-4552-BA63-E776E805C424}" dt="2026-09-05T06:36:46.088" v="30" actId="22"/>
          <ac:picMkLst>
            <pc:docMk/>
            <pc:sldMk cId="0" sldId="258"/>
            <ac:picMk id="4" creationId="{E5187859-AA6A-1616-4414-BBA94CE969FE}"/>
          </ac:picMkLst>
        </pc:picChg>
      </pc:sldChg>
      <pc:sldChg chg="addSp delSp mod modNotes">
        <pc:chgData name="Lai, Wilson" userId="2840974a-0d84-4886-90a9-9a3ed79f3a48" providerId="ADAL" clId="{9F23B798-9E84-4552-BA63-E776E805C424}" dt="2026-09-05T06:36:58.547" v="32" actId="22"/>
        <pc:sldMkLst>
          <pc:docMk/>
          <pc:sldMk cId="0" sldId="259"/>
        </pc:sldMkLst>
        <pc:picChg chg="del">
          <ac:chgData name="Lai, Wilson" userId="2840974a-0d84-4886-90a9-9a3ed79f3a48" providerId="ADAL" clId="{9F23B798-9E84-4552-BA63-E776E805C424}" dt="2026-09-05T06:36:48.376" v="31" actId="21"/>
          <ac:picMkLst>
            <pc:docMk/>
            <pc:sldMk cId="0" sldId="259"/>
            <ac:picMk id="2" creationId="{00000000-0000-0000-0000-000000000000}"/>
          </ac:picMkLst>
        </pc:picChg>
        <pc:picChg chg="add">
          <ac:chgData name="Lai, Wilson" userId="2840974a-0d84-4886-90a9-9a3ed79f3a48" providerId="ADAL" clId="{9F23B798-9E84-4552-BA63-E776E805C424}" dt="2026-09-05T06:36:58.547" v="32" actId="22"/>
          <ac:picMkLst>
            <pc:docMk/>
            <pc:sldMk cId="0" sldId="259"/>
            <ac:picMk id="4" creationId="{498DF845-D2B6-1274-9AC6-9B3EB9DB74F9}"/>
          </ac:picMkLst>
        </pc:picChg>
      </pc:sldChg>
      <pc:sldChg chg="addSp delSp mod modNotes modNotesTx">
        <pc:chgData name="Lai, Wilson" userId="2840974a-0d84-4886-90a9-9a3ed79f3a48" providerId="ADAL" clId="{9F23B798-9E84-4552-BA63-E776E805C424}" dt="2026-09-05T06:37:43.966" v="34" actId="22"/>
        <pc:sldMkLst>
          <pc:docMk/>
          <pc:sldMk cId="0" sldId="260"/>
        </pc:sldMkLst>
        <pc:picChg chg="del">
          <ac:chgData name="Lai, Wilson" userId="2840974a-0d84-4886-90a9-9a3ed79f3a48" providerId="ADAL" clId="{9F23B798-9E84-4552-BA63-E776E805C424}" dt="2026-09-05T06:37:00.319" v="33" actId="21"/>
          <ac:picMkLst>
            <pc:docMk/>
            <pc:sldMk cId="0" sldId="260"/>
            <ac:picMk id="2" creationId="{00000000-0000-0000-0000-000000000000}"/>
          </ac:picMkLst>
        </pc:picChg>
        <pc:picChg chg="add">
          <ac:chgData name="Lai, Wilson" userId="2840974a-0d84-4886-90a9-9a3ed79f3a48" providerId="ADAL" clId="{9F23B798-9E84-4552-BA63-E776E805C424}" dt="2026-09-05T06:37:43.966" v="34" actId="22"/>
          <ac:picMkLst>
            <pc:docMk/>
            <pc:sldMk cId="0" sldId="260"/>
            <ac:picMk id="4" creationId="{933202E5-E013-770D-B481-B78C00A2D59E}"/>
          </ac:picMkLst>
        </pc:picChg>
      </pc:sldChg>
      <pc:sldChg chg="addSp delSp mod modNotes modNotesTx">
        <pc:chgData name="Lai, Wilson" userId="2840974a-0d84-4886-90a9-9a3ed79f3a48" providerId="ADAL" clId="{9F23B798-9E84-4552-BA63-E776E805C424}" dt="2026-09-05T06:38:55.645" v="36" actId="22"/>
        <pc:sldMkLst>
          <pc:docMk/>
          <pc:sldMk cId="0" sldId="261"/>
        </pc:sldMkLst>
        <pc:picChg chg="del">
          <ac:chgData name="Lai, Wilson" userId="2840974a-0d84-4886-90a9-9a3ed79f3a48" providerId="ADAL" clId="{9F23B798-9E84-4552-BA63-E776E805C424}" dt="2026-09-05T06:37:45.827" v="35" actId="21"/>
          <ac:picMkLst>
            <pc:docMk/>
            <pc:sldMk cId="0" sldId="261"/>
            <ac:picMk id="2" creationId="{00000000-0000-0000-0000-000000000000}"/>
          </ac:picMkLst>
        </pc:picChg>
        <pc:picChg chg="add">
          <ac:chgData name="Lai, Wilson" userId="2840974a-0d84-4886-90a9-9a3ed79f3a48" providerId="ADAL" clId="{9F23B798-9E84-4552-BA63-E776E805C424}" dt="2026-09-05T06:38:55.645" v="36" actId="22"/>
          <ac:picMkLst>
            <pc:docMk/>
            <pc:sldMk cId="0" sldId="261"/>
            <ac:picMk id="4" creationId="{3711BF94-4464-7B51-50C1-F6EF9E5370D3}"/>
          </ac:picMkLst>
        </pc:picChg>
      </pc:sldChg>
      <pc:sldChg chg="addSp delSp mod modNotes modNotesTx">
        <pc:chgData name="Lai, Wilson" userId="2840974a-0d84-4886-90a9-9a3ed79f3a48" providerId="ADAL" clId="{9F23B798-9E84-4552-BA63-E776E805C424}" dt="2026-09-05T06:41:02.620" v="38" actId="22"/>
        <pc:sldMkLst>
          <pc:docMk/>
          <pc:sldMk cId="0" sldId="262"/>
        </pc:sldMkLst>
        <pc:picChg chg="del">
          <ac:chgData name="Lai, Wilson" userId="2840974a-0d84-4886-90a9-9a3ed79f3a48" providerId="ADAL" clId="{9F23B798-9E84-4552-BA63-E776E805C424}" dt="2026-09-05T06:38:57.895" v="37" actId="21"/>
          <ac:picMkLst>
            <pc:docMk/>
            <pc:sldMk cId="0" sldId="262"/>
            <ac:picMk id="2" creationId="{00000000-0000-0000-0000-000000000000}"/>
          </ac:picMkLst>
        </pc:picChg>
        <pc:picChg chg="add">
          <ac:chgData name="Lai, Wilson" userId="2840974a-0d84-4886-90a9-9a3ed79f3a48" providerId="ADAL" clId="{9F23B798-9E84-4552-BA63-E776E805C424}" dt="2026-09-05T06:41:02.620" v="38" actId="22"/>
          <ac:picMkLst>
            <pc:docMk/>
            <pc:sldMk cId="0" sldId="262"/>
            <ac:picMk id="4" creationId="{830C015F-99CD-AB53-B49A-A0371BF4145C}"/>
          </ac:picMkLst>
        </pc:picChg>
      </pc:sldChg>
      <pc:sldChg chg="addSp delSp mod modNotes">
        <pc:chgData name="Lai, Wilson" userId="2840974a-0d84-4886-90a9-9a3ed79f3a48" providerId="ADAL" clId="{9F23B798-9E84-4552-BA63-E776E805C424}" dt="2026-09-05T06:42:02.201" v="40" actId="22"/>
        <pc:sldMkLst>
          <pc:docMk/>
          <pc:sldMk cId="0" sldId="263"/>
        </pc:sldMkLst>
        <pc:picChg chg="del">
          <ac:chgData name="Lai, Wilson" userId="2840974a-0d84-4886-90a9-9a3ed79f3a48" providerId="ADAL" clId="{9F23B798-9E84-4552-BA63-E776E805C424}" dt="2026-09-05T06:41:27.679" v="39" actId="21"/>
          <ac:picMkLst>
            <pc:docMk/>
            <pc:sldMk cId="0" sldId="263"/>
            <ac:picMk id="2" creationId="{00000000-0000-0000-0000-000000000000}"/>
          </ac:picMkLst>
        </pc:picChg>
        <pc:picChg chg="add">
          <ac:chgData name="Lai, Wilson" userId="2840974a-0d84-4886-90a9-9a3ed79f3a48" providerId="ADAL" clId="{9F23B798-9E84-4552-BA63-E776E805C424}" dt="2026-09-05T06:42:02.201" v="40" actId="22"/>
          <ac:picMkLst>
            <pc:docMk/>
            <pc:sldMk cId="0" sldId="263"/>
            <ac:picMk id="4" creationId="{EFB32B47-0A10-21BB-770C-3BDE51A944B7}"/>
          </ac:picMkLst>
        </pc:picChg>
      </pc:sldChg>
      <pc:sldChg chg="addSp delSp mod modNotes modNotesTx">
        <pc:chgData name="Lai, Wilson" userId="2840974a-0d84-4886-90a9-9a3ed79f3a48" providerId="ADAL" clId="{9F23B798-9E84-4552-BA63-E776E805C424}" dt="2026-09-05T06:42:43.462" v="42" actId="22"/>
        <pc:sldMkLst>
          <pc:docMk/>
          <pc:sldMk cId="0" sldId="264"/>
        </pc:sldMkLst>
        <pc:picChg chg="del">
          <ac:chgData name="Lai, Wilson" userId="2840974a-0d84-4886-90a9-9a3ed79f3a48" providerId="ADAL" clId="{9F23B798-9E84-4552-BA63-E776E805C424}" dt="2026-09-05T06:42:05.059" v="41" actId="21"/>
          <ac:picMkLst>
            <pc:docMk/>
            <pc:sldMk cId="0" sldId="264"/>
            <ac:picMk id="2" creationId="{00000000-0000-0000-0000-000000000000}"/>
          </ac:picMkLst>
        </pc:picChg>
        <pc:picChg chg="add">
          <ac:chgData name="Lai, Wilson" userId="2840974a-0d84-4886-90a9-9a3ed79f3a48" providerId="ADAL" clId="{9F23B798-9E84-4552-BA63-E776E805C424}" dt="2026-09-05T06:42:43.462" v="42" actId="22"/>
          <ac:picMkLst>
            <pc:docMk/>
            <pc:sldMk cId="0" sldId="264"/>
            <ac:picMk id="4" creationId="{DCA8FCED-54A7-72E9-9B04-D7926727CB31}"/>
          </ac:picMkLst>
        </pc:picChg>
      </pc:sldChg>
      <pc:sldChg chg="addSp delSp mod modNotes modNotesTx">
        <pc:chgData name="Lai, Wilson" userId="2840974a-0d84-4886-90a9-9a3ed79f3a48" providerId="ADAL" clId="{9F23B798-9E84-4552-BA63-E776E805C424}" dt="2026-09-05T06:43:25.700" v="44" actId="22"/>
        <pc:sldMkLst>
          <pc:docMk/>
          <pc:sldMk cId="0" sldId="265"/>
        </pc:sldMkLst>
        <pc:picChg chg="del">
          <ac:chgData name="Lai, Wilson" userId="2840974a-0d84-4886-90a9-9a3ed79f3a48" providerId="ADAL" clId="{9F23B798-9E84-4552-BA63-E776E805C424}" dt="2026-09-05T06:42:51.688" v="43" actId="21"/>
          <ac:picMkLst>
            <pc:docMk/>
            <pc:sldMk cId="0" sldId="265"/>
            <ac:picMk id="2" creationId="{00000000-0000-0000-0000-000000000000}"/>
          </ac:picMkLst>
        </pc:picChg>
        <pc:picChg chg="add">
          <ac:chgData name="Lai, Wilson" userId="2840974a-0d84-4886-90a9-9a3ed79f3a48" providerId="ADAL" clId="{9F23B798-9E84-4552-BA63-E776E805C424}" dt="2026-09-05T06:43:25.700" v="44" actId="22"/>
          <ac:picMkLst>
            <pc:docMk/>
            <pc:sldMk cId="0" sldId="265"/>
            <ac:picMk id="4" creationId="{62E8FD8E-58B3-4B72-B44C-FD175D62353E}"/>
          </ac:picMkLst>
        </pc:picChg>
      </pc:sldChg>
      <pc:sldChg chg="addSp delSp mod modNotes modNotesTx">
        <pc:chgData name="Lai, Wilson" userId="2840974a-0d84-4886-90a9-9a3ed79f3a48" providerId="ADAL" clId="{9F23B798-9E84-4552-BA63-E776E805C424}" dt="2026-09-05T06:44:06.839" v="46" actId="22"/>
        <pc:sldMkLst>
          <pc:docMk/>
          <pc:sldMk cId="0" sldId="266"/>
        </pc:sldMkLst>
        <pc:picChg chg="del">
          <ac:chgData name="Lai, Wilson" userId="2840974a-0d84-4886-90a9-9a3ed79f3a48" providerId="ADAL" clId="{9F23B798-9E84-4552-BA63-E776E805C424}" dt="2026-09-05T06:43:29.047" v="45" actId="21"/>
          <ac:picMkLst>
            <pc:docMk/>
            <pc:sldMk cId="0" sldId="266"/>
            <ac:picMk id="2" creationId="{00000000-0000-0000-0000-000000000000}"/>
          </ac:picMkLst>
        </pc:picChg>
        <pc:picChg chg="add">
          <ac:chgData name="Lai, Wilson" userId="2840974a-0d84-4886-90a9-9a3ed79f3a48" providerId="ADAL" clId="{9F23B798-9E84-4552-BA63-E776E805C424}" dt="2026-09-05T06:44:06.839" v="46" actId="22"/>
          <ac:picMkLst>
            <pc:docMk/>
            <pc:sldMk cId="0" sldId="266"/>
            <ac:picMk id="4" creationId="{A97BD5B6-3694-7756-EE5E-C2A8DF2539F3}"/>
          </ac:picMkLst>
        </pc:picChg>
      </pc:sldChg>
      <pc:sldChg chg="addSp delSp mod modNotes modNotesTx">
        <pc:chgData name="Lai, Wilson" userId="2840974a-0d84-4886-90a9-9a3ed79f3a48" providerId="ADAL" clId="{9F23B798-9E84-4552-BA63-E776E805C424}" dt="2026-09-05T06:44:33.724" v="48" actId="22"/>
        <pc:sldMkLst>
          <pc:docMk/>
          <pc:sldMk cId="0" sldId="267"/>
        </pc:sldMkLst>
        <pc:picChg chg="del">
          <ac:chgData name="Lai, Wilson" userId="2840974a-0d84-4886-90a9-9a3ed79f3a48" providerId="ADAL" clId="{9F23B798-9E84-4552-BA63-E776E805C424}" dt="2026-09-05T06:44:08.963" v="47" actId="21"/>
          <ac:picMkLst>
            <pc:docMk/>
            <pc:sldMk cId="0" sldId="267"/>
            <ac:picMk id="2" creationId="{00000000-0000-0000-0000-000000000000}"/>
          </ac:picMkLst>
        </pc:picChg>
        <pc:picChg chg="add">
          <ac:chgData name="Lai, Wilson" userId="2840974a-0d84-4886-90a9-9a3ed79f3a48" providerId="ADAL" clId="{9F23B798-9E84-4552-BA63-E776E805C424}" dt="2026-09-05T06:44:33.724" v="48" actId="22"/>
          <ac:picMkLst>
            <pc:docMk/>
            <pc:sldMk cId="0" sldId="267"/>
            <ac:picMk id="4" creationId="{82E10534-31ED-4A3A-48F0-E10F18EAEE53}"/>
          </ac:picMkLst>
        </pc:picChg>
      </pc:sldChg>
      <pc:sldChg chg="addSp delSp mod modNotes modNotesTx">
        <pc:chgData name="Lai, Wilson" userId="2840974a-0d84-4886-90a9-9a3ed79f3a48" providerId="ADAL" clId="{9F23B798-9E84-4552-BA63-E776E805C424}" dt="2026-09-05T06:57:49.445" v="50" actId="22"/>
        <pc:sldMkLst>
          <pc:docMk/>
          <pc:sldMk cId="0" sldId="268"/>
        </pc:sldMkLst>
        <pc:picChg chg="del">
          <ac:chgData name="Lai, Wilson" userId="2840974a-0d84-4886-90a9-9a3ed79f3a48" providerId="ADAL" clId="{9F23B798-9E84-4552-BA63-E776E805C424}" dt="2026-09-05T06:57:23.731" v="49" actId="21"/>
          <ac:picMkLst>
            <pc:docMk/>
            <pc:sldMk cId="0" sldId="268"/>
            <ac:picMk id="2" creationId="{00000000-0000-0000-0000-000000000000}"/>
          </ac:picMkLst>
        </pc:picChg>
        <pc:picChg chg="add">
          <ac:chgData name="Lai, Wilson" userId="2840974a-0d84-4886-90a9-9a3ed79f3a48" providerId="ADAL" clId="{9F23B798-9E84-4552-BA63-E776E805C424}" dt="2026-09-05T06:57:49.445" v="50" actId="22"/>
          <ac:picMkLst>
            <pc:docMk/>
            <pc:sldMk cId="0" sldId="268"/>
            <ac:picMk id="4" creationId="{993AF32D-6647-7EFE-9651-F38BE2B86FF4}"/>
          </ac:picMkLst>
        </pc:picChg>
      </pc:sldChg>
      <pc:sldChg chg="addSp delSp mod modNotes modNotesTx">
        <pc:chgData name="Lai, Wilson" userId="2840974a-0d84-4886-90a9-9a3ed79f3a48" providerId="ADAL" clId="{9F23B798-9E84-4552-BA63-E776E805C424}" dt="2026-09-05T06:58:19.492" v="52" actId="22"/>
        <pc:sldMkLst>
          <pc:docMk/>
          <pc:sldMk cId="0" sldId="269"/>
        </pc:sldMkLst>
        <pc:picChg chg="del">
          <ac:chgData name="Lai, Wilson" userId="2840974a-0d84-4886-90a9-9a3ed79f3a48" providerId="ADAL" clId="{9F23B798-9E84-4552-BA63-E776E805C424}" dt="2026-09-05T06:57:54.368" v="51" actId="21"/>
          <ac:picMkLst>
            <pc:docMk/>
            <pc:sldMk cId="0" sldId="269"/>
            <ac:picMk id="2" creationId="{00000000-0000-0000-0000-000000000000}"/>
          </ac:picMkLst>
        </pc:picChg>
        <pc:picChg chg="add">
          <ac:chgData name="Lai, Wilson" userId="2840974a-0d84-4886-90a9-9a3ed79f3a48" providerId="ADAL" clId="{9F23B798-9E84-4552-BA63-E776E805C424}" dt="2026-09-05T06:58:19.492" v="52" actId="22"/>
          <ac:picMkLst>
            <pc:docMk/>
            <pc:sldMk cId="0" sldId="269"/>
            <ac:picMk id="4" creationId="{96DF059D-54AC-DB6F-A313-95EA89C22608}"/>
          </ac:picMkLst>
        </pc:picChg>
      </pc:sldChg>
      <pc:sldChg chg="addSp delSp mod modNotes modNotesTx">
        <pc:chgData name="Lai, Wilson" userId="2840974a-0d84-4886-90a9-9a3ed79f3a48" providerId="ADAL" clId="{9F23B798-9E84-4552-BA63-E776E805C424}" dt="2026-09-05T06:58:43.399" v="54" actId="22"/>
        <pc:sldMkLst>
          <pc:docMk/>
          <pc:sldMk cId="0" sldId="270"/>
        </pc:sldMkLst>
        <pc:picChg chg="del">
          <ac:chgData name="Lai, Wilson" userId="2840974a-0d84-4886-90a9-9a3ed79f3a48" providerId="ADAL" clId="{9F23B798-9E84-4552-BA63-E776E805C424}" dt="2026-09-05T06:58:22.141" v="53" actId="21"/>
          <ac:picMkLst>
            <pc:docMk/>
            <pc:sldMk cId="0" sldId="270"/>
            <ac:picMk id="2" creationId="{00000000-0000-0000-0000-000000000000}"/>
          </ac:picMkLst>
        </pc:picChg>
        <pc:picChg chg="add">
          <ac:chgData name="Lai, Wilson" userId="2840974a-0d84-4886-90a9-9a3ed79f3a48" providerId="ADAL" clId="{9F23B798-9E84-4552-BA63-E776E805C424}" dt="2026-09-05T06:58:43.399" v="54" actId="22"/>
          <ac:picMkLst>
            <pc:docMk/>
            <pc:sldMk cId="0" sldId="270"/>
            <ac:picMk id="4" creationId="{07F75585-8AAE-925F-926E-8356507932A1}"/>
          </ac:picMkLst>
        </pc:picChg>
      </pc:sldChg>
      <pc:sldChg chg="addSp delSp mod modNotes">
        <pc:chgData name="Lai, Wilson" userId="2840974a-0d84-4886-90a9-9a3ed79f3a48" providerId="ADAL" clId="{9F23B798-9E84-4552-BA63-E776E805C424}" dt="2026-09-05T06:59:04.955" v="56" actId="22"/>
        <pc:sldMkLst>
          <pc:docMk/>
          <pc:sldMk cId="0" sldId="271"/>
        </pc:sldMkLst>
        <pc:picChg chg="del">
          <ac:chgData name="Lai, Wilson" userId="2840974a-0d84-4886-90a9-9a3ed79f3a48" providerId="ADAL" clId="{9F23B798-9E84-4552-BA63-E776E805C424}" dt="2026-09-05T06:58:47.114" v="55" actId="21"/>
          <ac:picMkLst>
            <pc:docMk/>
            <pc:sldMk cId="0" sldId="271"/>
            <ac:picMk id="2" creationId="{00000000-0000-0000-0000-000000000000}"/>
          </ac:picMkLst>
        </pc:picChg>
        <pc:picChg chg="add">
          <ac:chgData name="Lai, Wilson" userId="2840974a-0d84-4886-90a9-9a3ed79f3a48" providerId="ADAL" clId="{9F23B798-9E84-4552-BA63-E776E805C424}" dt="2026-09-05T06:59:04.955" v="56" actId="22"/>
          <ac:picMkLst>
            <pc:docMk/>
            <pc:sldMk cId="0" sldId="271"/>
            <ac:picMk id="4" creationId="{7F256D92-C9BE-882A-F1EF-464EB173FEAE}"/>
          </ac:picMkLst>
        </pc:picChg>
      </pc:sldChg>
      <pc:sldChg chg="modNotes modNotesTx">
        <pc:chgData name="Lai, Wilson" userId="2840974a-0d84-4886-90a9-9a3ed79f3a48" providerId="ADAL" clId="{9F23B798-9E84-4552-BA63-E776E805C424}" dt="2026-09-05T04:49:01.451" v="26"/>
        <pc:sldMkLst>
          <pc:docMk/>
          <pc:sldMk cId="1184341111" sldId="272"/>
        </pc:sldMkLst>
      </pc:sldChg>
      <pc:sldMasterChg chg="setBg">
        <pc:chgData name="Lai, Wilson" userId="2840974a-0d84-4886-90a9-9a3ed79f3a48" providerId="ADAL" clId="{9F23B798-9E84-4552-BA63-E776E805C424}" dt="2026-09-05T04:32:10.102" v="9"/>
        <pc:sldMasterMkLst>
          <pc:docMk/>
          <pc:sldMasterMk cId="74278040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C219DB-2268-47BB-A78E-8A278BA3DDA9}"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882008-3161-479B-BBD2-B9F630BE3B95}" type="slidenum">
              <a:rPr lang="en-US" smtClean="0"/>
              <a:t>‹#›</a:t>
            </a:fld>
            <a:endParaRPr lang="en-US"/>
          </a:p>
        </p:txBody>
      </p:sp>
    </p:spTree>
    <p:extLst>
      <p:ext uri="{BB962C8B-B14F-4D97-AF65-F5344CB8AC3E}">
        <p14:creationId xmlns:p14="http://schemas.microsoft.com/office/powerpoint/2010/main" val="427812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Look around at the current technological landscape. Every single day, we are bombarded with news about Artificial Intelligence: how fast it’s advancing, how many tasks it can automate, and how it might change or replace our jobs. It’s easy to feel overwhelmed, or worse, obsolete.</a:t>
            </a:r>
          </a:p>
          <a:p>
            <a:r>
              <a:rPr lang="en-US" dirty="0"/>
              <a:t>But today, we are changing the narrative. Welcome to </a:t>
            </a:r>
            <a:r>
              <a:rPr lang="en-US" i="1" dirty="0"/>
              <a:t>The Age of Adaptation</a:t>
            </a:r>
            <a:r>
              <a:rPr lang="en-US" dirty="0"/>
              <a:t>.</a:t>
            </a:r>
          </a:p>
          <a:p>
            <a:r>
              <a:rPr lang="en-US" dirty="0"/>
              <a:t>Our core premise today is simple: AI is not here to replace human intelligence (HI); it is here to test it, scale it, and highlight what makes us irreplaceable. The real competitive advantage in an AI-driven world isn't having access to better software—everyone has access to the same tools. Your real advantage is your cognitive operating system: how you process, adapt, focus, and create.</a:t>
            </a:r>
          </a:p>
          <a:p>
            <a:r>
              <a:rPr lang="en-US" dirty="0"/>
              <a:t>Based on the proven methodologies of cognitive performance expert Jim Kwik, this playbook will guide you through optimizing your brain's architecture. We are going to strip away the false labels you've placed on your mental capacity and build a strategy that makes your mind sharper, more resilient, and ultimately </a:t>
            </a:r>
            <a:r>
              <a:rPr lang="en-US" i="1" dirty="0"/>
              <a:t>limitless</a:t>
            </a:r>
            <a:r>
              <a:rPr lang="en-US" dirty="0"/>
              <a:t>. Let’s step out of the fear of automation and into the power of human adaptation.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https://www.youtube.com/watch?v=rMjVAnHmUeE</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a:t>
            </a:fld>
            <a:endParaRPr lang="en-US"/>
          </a:p>
        </p:txBody>
      </p:sp>
    </p:spTree>
    <p:extLst>
      <p:ext uri="{BB962C8B-B14F-4D97-AF65-F5344CB8AC3E}">
        <p14:creationId xmlns:p14="http://schemas.microsoft.com/office/powerpoint/2010/main" val="260138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foundational truth: most people don't have a broken brain; they have a broken mindset or a broken system.</a:t>
            </a:r>
          </a:p>
          <a:p>
            <a:r>
              <a:rPr lang="en-US" dirty="0"/>
              <a:t>Many of us carry labels from our childhood or past failures. Maybe a teacher told you that you were 'bad at math,' or you convinced yourself that you have a 'terrible memory' or 'can't focus.' Jim Kwik emphasizes a vital truth: </a:t>
            </a:r>
            <a:r>
              <a:rPr lang="en-US" i="1" dirty="0"/>
              <a:t>If you fight for your limitations, you get to keep them.</a:t>
            </a:r>
            <a:endParaRPr lang="en-US" dirty="0"/>
          </a:p>
          <a:p>
            <a:r>
              <a:rPr lang="en-US" dirty="0"/>
              <a:t>Take a look at </a:t>
            </a:r>
            <a:r>
              <a:rPr lang="en-US" i="1" dirty="0"/>
              <a:t>The Identity Loop</a:t>
            </a:r>
            <a:r>
              <a:rPr lang="en-US" dirty="0"/>
              <a:t> on this slide. It shows how our reality is constructed:</a:t>
            </a:r>
          </a:p>
          <a:p>
            <a:pPr marL="228600" lvl="0" indent="-228600">
              <a:buFont typeface="+mj-lt"/>
              <a:buAutoNum type="arabicPeriod"/>
            </a:pPr>
            <a:r>
              <a:rPr lang="en-US" b="1" dirty="0"/>
              <a:t>External Labels:</a:t>
            </a:r>
            <a:r>
              <a:rPr lang="en-US" dirty="0"/>
              <a:t> Someone calls us slow, disorganized, or non-technical.</a:t>
            </a:r>
          </a:p>
          <a:p>
            <a:pPr marL="228600" lvl="0" indent="-228600">
              <a:buFont typeface="+mj-lt"/>
              <a:buAutoNum type="arabicPeriod"/>
            </a:pPr>
            <a:r>
              <a:rPr lang="en-US" b="1" dirty="0"/>
              <a:t>Internal Story:</a:t>
            </a:r>
            <a:r>
              <a:rPr lang="en-US" dirty="0"/>
              <a:t> We absorb that label and repeat it to ourselves. 'I'm just not a tech person.'</a:t>
            </a:r>
          </a:p>
          <a:p>
            <a:pPr marL="228600" lvl="0" indent="-228600">
              <a:buFont typeface="+mj-lt"/>
              <a:buAutoNum type="arabicPeriod"/>
            </a:pPr>
            <a:r>
              <a:rPr lang="en-US" b="1" dirty="0"/>
              <a:t>Daily Actions:</a:t>
            </a:r>
            <a:r>
              <a:rPr lang="en-US" dirty="0"/>
              <a:t> Because we believe that story, our actions align with it. We don't try hard, we hesitate, and we give up quickly.</a:t>
            </a:r>
          </a:p>
          <a:p>
            <a:pPr marL="228600" lvl="0" indent="-228600">
              <a:buFont typeface="+mj-lt"/>
              <a:buAutoNum type="arabicPeriod"/>
            </a:pPr>
            <a:r>
              <a:rPr lang="en-US" b="1" dirty="0"/>
              <a:t>Self-Image:</a:t>
            </a:r>
            <a:r>
              <a:rPr lang="en-US" dirty="0"/>
              <a:t> Those weak actions reinforce our self-image, confirming the original external label.</a:t>
            </a:r>
          </a:p>
          <a:p>
            <a:r>
              <a:rPr lang="en-US" dirty="0"/>
              <a:t>All human behavior is belief-driven. Your brain is the ultimate supercomputer, and your self-talk is the code it runs. If you program your mind with 'I can't remember names' or 'I am overwhelmed by AI,' your brain's search engine will look for evidence to prove you right.</a:t>
            </a:r>
          </a:p>
          <a:p>
            <a:r>
              <a:rPr lang="en-US" dirty="0"/>
              <a:t>To upgrade your intelligence, you must break the loop. Stop feeding the story you don't want. Shift your self-talk, upgrade your system, and realize that your labels are not your limits.</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2</a:t>
            </a:fld>
            <a:endParaRPr lang="en-US"/>
          </a:p>
        </p:txBody>
      </p:sp>
    </p:spTree>
    <p:extLst>
      <p:ext uri="{BB962C8B-B14F-4D97-AF65-F5344CB8AC3E}">
        <p14:creationId xmlns:p14="http://schemas.microsoft.com/office/powerpoint/2010/main" val="330676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at a critical fork in the road created by the AI era. Look at the two paths on this slide.</a:t>
            </a:r>
          </a:p>
          <a:p>
            <a:r>
              <a:rPr lang="en-US" dirty="0"/>
              <a:t>Path A is </a:t>
            </a:r>
            <a:r>
              <a:rPr lang="en-US" b="1" dirty="0"/>
              <a:t>Cognitive Friction</a:t>
            </a:r>
            <a:r>
              <a:rPr lang="en-US" dirty="0"/>
              <a:t>. When you wrestle with a complex problem, read a difficult paper, or do manual mental work, you experience friction. That effort triggers neuroplasticity—your brain’s ability to rewire itself and build stronger neural pathways. Effort is the precise mechanism of mental growth.</a:t>
            </a:r>
          </a:p>
          <a:p>
            <a:r>
              <a:rPr lang="en-US" dirty="0"/>
              <a:t>Path B is </a:t>
            </a:r>
            <a:r>
              <a:rPr lang="en-US" b="1" dirty="0"/>
              <a:t>Cognitive Offloading</a:t>
            </a:r>
            <a:r>
              <a:rPr lang="en-US" dirty="0"/>
              <a:t>, and it leads straight to what neuroscientists call </a:t>
            </a:r>
            <a:r>
              <a:rPr lang="en-US" b="1" dirty="0"/>
              <a:t>Digital Dementia</a:t>
            </a:r>
            <a:r>
              <a:rPr lang="en-US" dirty="0"/>
              <a:t>. Digital Dementia is the breakdown of cognitive abilities due to the over-reliance on digital technology. When we outsource every piece of thinking, memory, and writing to devices or AI models without doing the mental heavy lifting first, our brains atrophy.</a:t>
            </a:r>
          </a:p>
          <a:p>
            <a:r>
              <a:rPr lang="en-US" dirty="0"/>
              <a:t>Consider the MIT study cited here. Researchers evaluated students using AI to draft essays versus students doing manual cognitive work. The AI group showed drastically lower neural activation and significantly poorer memory retrieval. They weren't learning; they were merely translating outputs.</a:t>
            </a:r>
          </a:p>
          <a:p>
            <a:r>
              <a:rPr lang="en-US" dirty="0"/>
              <a:t>Think of your brain like a muscle. If you use an electric wheelchair every day instead of walking, your legs will eventually wither. If you use AI to do </a:t>
            </a:r>
            <a:r>
              <a:rPr lang="en-US" i="1" dirty="0"/>
              <a:t>all</a:t>
            </a:r>
            <a:r>
              <a:rPr lang="en-US" dirty="0"/>
              <a:t> your thinking, your cognitive capacity will shrink. AI should be an extension of your mind, not a replacement for it. Use it to enhance your output, but do not let it replace the deep work that keeps your brain alive.</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3</a:t>
            </a:fld>
            <a:endParaRPr lang="en-US"/>
          </a:p>
        </p:txBody>
      </p:sp>
    </p:spTree>
    <p:extLst>
      <p:ext uri="{BB962C8B-B14F-4D97-AF65-F5344CB8AC3E}">
        <p14:creationId xmlns:p14="http://schemas.microsoft.com/office/powerpoint/2010/main" val="2883045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navigate the modern economy, we must understand the fundamental difference between Artificial Intelligence and Human Intelligence. We can think of this as a barbell, with two very distinct weights on either end.</a:t>
            </a:r>
          </a:p>
          <a:p>
            <a:r>
              <a:rPr lang="en-US" dirty="0"/>
              <a:t>On one side, AI excels at </a:t>
            </a:r>
            <a:r>
              <a:rPr lang="en-US" b="1" dirty="0"/>
              <a:t>Data, Computation, Infinite Scaling, and Frictionless Processing</a:t>
            </a:r>
            <a:r>
              <a:rPr lang="en-US" dirty="0"/>
              <a:t>. It can analyze millions of data points in seconds. It can even generate polite responses—what we call </a:t>
            </a:r>
            <a:r>
              <a:rPr lang="en-US" i="1" dirty="0"/>
              <a:t>feigned empathy</a:t>
            </a:r>
            <a:r>
              <a:rPr lang="en-US" dirty="0"/>
              <a:t>.</a:t>
            </a:r>
          </a:p>
          <a:p>
            <a:r>
              <a:rPr lang="en-US" dirty="0"/>
              <a:t>On the other side, Human Intelligence is where </a:t>
            </a:r>
            <a:r>
              <a:rPr lang="en-US" b="1" dirty="0"/>
              <a:t>Meaning, Judgment, Deep Work, Craft, and Genuine Compassion</a:t>
            </a:r>
            <a:r>
              <a:rPr lang="en-US" dirty="0"/>
              <a:t> reside. AI can synthesize information, but it cannot care. It cannot feel loss, it cannot build true trust, and it lacks contextual wisdom.</a:t>
            </a:r>
          </a:p>
          <a:p>
            <a:r>
              <a:rPr lang="en-US" dirty="0"/>
              <a:t>This leads us to the </a:t>
            </a:r>
            <a:r>
              <a:rPr lang="en-US" b="1" dirty="0"/>
              <a:t>Amplifier Effect</a:t>
            </a:r>
            <a:r>
              <a:rPr lang="en-US" dirty="0"/>
              <a:t>: AI is an amplifier. It multiplies whatever you feed into it.</a:t>
            </a:r>
          </a:p>
          <a:p>
            <a:pPr marL="171450" lvl="0" indent="-171450">
              <a:buFont typeface="Arial" panose="020B0604020202020204" pitchFamily="34" charset="0"/>
              <a:buChar char="•"/>
            </a:pPr>
            <a:r>
              <a:rPr lang="en-US" dirty="0"/>
              <a:t>If you bring </a:t>
            </a:r>
            <a:r>
              <a:rPr lang="en-US" b="1" dirty="0"/>
              <a:t>clarity, domain expertise, and strategic acumen</a:t>
            </a:r>
            <a:r>
              <a:rPr lang="en-US" dirty="0"/>
              <a:t> to an AI tool, it scales your brilliance 10x.</a:t>
            </a:r>
          </a:p>
          <a:p>
            <a:pPr marL="171450" lvl="0" indent="-171450">
              <a:buFont typeface="Arial" panose="020B0604020202020204" pitchFamily="34" charset="0"/>
              <a:buChar char="•"/>
            </a:pPr>
            <a:r>
              <a:rPr lang="en-US" dirty="0"/>
              <a:t>If you bring </a:t>
            </a:r>
            <a:r>
              <a:rPr lang="en-US" b="1" dirty="0"/>
              <a:t>chaos, vagueness, and lazy thinking</a:t>
            </a:r>
            <a:r>
              <a:rPr lang="en-US" dirty="0"/>
              <a:t>, it simply scales confusion at hyper-speed.</a:t>
            </a:r>
          </a:p>
          <a:p>
            <a:r>
              <a:rPr lang="en-US" dirty="0"/>
              <a:t>AI is not a replacement for human essence; it is a force multiplier. Your goal is not to compete with machines on data processing—you will lose that battle. Your goal is to sharpen your uniquely human traits so that when you use AI, you amplify mastery rather than mediocrity.</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4</a:t>
            </a:fld>
            <a:endParaRPr lang="en-US"/>
          </a:p>
        </p:txBody>
      </p:sp>
    </p:spTree>
    <p:extLst>
      <p:ext uri="{BB962C8B-B14F-4D97-AF65-F5344CB8AC3E}">
        <p14:creationId xmlns:p14="http://schemas.microsoft.com/office/powerpoint/2010/main" val="3664305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respond when faced with massive technological disruption or high-stress environments? Most people talk about </a:t>
            </a:r>
            <a:r>
              <a:rPr lang="en-US" i="1" dirty="0"/>
              <a:t>resilience</a:t>
            </a:r>
            <a:r>
              <a:rPr lang="en-US" dirty="0"/>
              <a:t>. But resilience isn't enough anymore.</a:t>
            </a:r>
          </a:p>
          <a:p>
            <a:r>
              <a:rPr lang="en-US" dirty="0"/>
              <a:t>Look at the graph on this slide.</a:t>
            </a:r>
          </a:p>
          <a:p>
            <a:pPr marL="171450" lvl="0" indent="-171450">
              <a:buFont typeface="Arial" panose="020B0604020202020204" pitchFamily="34" charset="0"/>
              <a:buChar char="•"/>
            </a:pPr>
            <a:r>
              <a:rPr lang="en-US" b="1" dirty="0"/>
              <a:t>Line A represents Resilience:</a:t>
            </a:r>
            <a:r>
              <a:rPr lang="en-US" dirty="0"/>
              <a:t> Resilience is the ability to bounce back to your original baseline after a shock. You take a hit, you recover, and you are back where you started.</a:t>
            </a:r>
          </a:p>
          <a:p>
            <a:pPr marL="171450" lvl="0" indent="-171450">
              <a:buFont typeface="Arial" panose="020B0604020202020204" pitchFamily="34" charset="0"/>
              <a:buChar char="•"/>
            </a:pPr>
            <a:r>
              <a:rPr lang="en-US" b="1" dirty="0"/>
              <a:t>Line B represents Anti-Fragility:</a:t>
            </a:r>
            <a:r>
              <a:rPr lang="en-US" dirty="0"/>
              <a:t> Coined by Nassim Taleb, anti-fragility means bouncing </a:t>
            </a:r>
            <a:r>
              <a:rPr lang="en-US" i="1" dirty="0"/>
              <a:t>forward</a:t>
            </a:r>
            <a:r>
              <a:rPr lang="en-US" dirty="0"/>
              <a:t>. It is the property of systems that get </a:t>
            </a:r>
            <a:r>
              <a:rPr lang="en-US" i="1" dirty="0"/>
              <a:t>stronger</a:t>
            </a:r>
            <a:r>
              <a:rPr lang="en-US" dirty="0"/>
              <a:t> when subjected to stress, novelty, and tension.</a:t>
            </a:r>
          </a:p>
          <a:p>
            <a:r>
              <a:rPr lang="en-US" dirty="0"/>
              <a:t>In biology, this is known as </a:t>
            </a:r>
            <a:r>
              <a:rPr lang="en-US" b="1" dirty="0"/>
              <a:t>hormesis</a:t>
            </a:r>
            <a:r>
              <a:rPr lang="en-US" dirty="0"/>
              <a:t>. When you lift heavy weights at the gym, you create microscopic tears in your muscle fibers. That is a stressor. But with proper recovery, the muscle doesn't just heal back to its original size—it grows larger and stronger to prepare for future stress.</a:t>
            </a:r>
          </a:p>
          <a:p>
            <a:r>
              <a:rPr lang="en-US" dirty="0"/>
              <a:t>Your brain operates on the exact same principle. Comfort is the enemy of cognitive growth. If your daily life is entirely frictionless—if you avoid challenging tasks, hard conversations, and complex learning—your mental capacity shrinks.</a:t>
            </a:r>
          </a:p>
          <a:p>
            <a:r>
              <a:rPr lang="en-US" dirty="0"/>
              <a:t>When new tech or disruptions threaten your routine, don't wish for it to be easier. Adopt an anti-fragile mindset. View every cognitive stressor as a gym workout for your neurons. Welcome deliberate mental discomfort, because that is where enhanced capacity is forged.</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5</a:t>
            </a:fld>
            <a:endParaRPr lang="en-US"/>
          </a:p>
        </p:txBody>
      </p:sp>
    </p:spTree>
    <p:extLst>
      <p:ext uri="{BB962C8B-B14F-4D97-AF65-F5344CB8AC3E}">
        <p14:creationId xmlns:p14="http://schemas.microsoft.com/office/powerpoint/2010/main" val="3570044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stay indispensable in an automated world, we need a blueprint. I call this the </a:t>
            </a:r>
            <a:r>
              <a:rPr lang="en-US" b="1" dirty="0"/>
              <a:t>H.U.M.A.N. Architecture</a:t>
            </a:r>
            <a:r>
              <a:rPr lang="en-US" dirty="0"/>
              <a:t>—a 5-part framework representing the core human capacities that technology cannot replicate.</a:t>
            </a:r>
          </a:p>
          <a:p>
            <a:pPr marL="171450" lvl="0" indent="-171450">
              <a:buFont typeface="Arial" panose="020B0604020202020204" pitchFamily="34" charset="0"/>
              <a:buChar char="•"/>
            </a:pPr>
            <a:r>
              <a:rPr lang="en-US" b="1" dirty="0"/>
              <a:t>H – Heart (Emotional Quotient &amp; Empathy):</a:t>
            </a:r>
            <a:r>
              <a:rPr lang="en-US" dirty="0"/>
              <a:t> The ability to connect deeply, understand unexpressed human needs, and lead with compassion.</a:t>
            </a:r>
          </a:p>
          <a:p>
            <a:pPr marL="171450" lvl="0" indent="-171450">
              <a:buFont typeface="Arial" panose="020B0604020202020204" pitchFamily="34" charset="0"/>
              <a:buChar char="•"/>
            </a:pPr>
            <a:r>
              <a:rPr lang="en-US" b="1" dirty="0"/>
              <a:t>U – Understanding (Internal Prompts):</a:t>
            </a:r>
            <a:r>
              <a:rPr lang="en-US" dirty="0"/>
              <a:t> The depth of your curiosity and self-awareness. The outputs of your life depend on the quality of the questions you ask yourself.</a:t>
            </a:r>
          </a:p>
          <a:p>
            <a:pPr marL="171450" lvl="0" indent="-171450">
              <a:buFont typeface="Arial" panose="020B0604020202020204" pitchFamily="34" charset="0"/>
              <a:buChar char="•"/>
            </a:pPr>
            <a:r>
              <a:rPr lang="en-US" b="1" dirty="0"/>
              <a:t>M – Meaning (Purpose beyond Profession):</a:t>
            </a:r>
            <a:r>
              <a:rPr lang="en-US" dirty="0"/>
              <a:t> Machines run on directives; humans run on purpose. Meaning is what drives perseverance, ethical decision-making, and long-term vision.</a:t>
            </a:r>
          </a:p>
          <a:p>
            <a:pPr marL="171450" lvl="0" indent="-171450">
              <a:buFont typeface="Arial" panose="020B0604020202020204" pitchFamily="34" charset="0"/>
              <a:buChar char="•"/>
            </a:pPr>
            <a:r>
              <a:rPr lang="en-US" b="1" dirty="0"/>
              <a:t>A – Adaptability (Mental Parkour &amp; Unlearning):</a:t>
            </a:r>
            <a:r>
              <a:rPr lang="en-US" dirty="0"/>
              <a:t> The ability to bend without breaking. Learning is important, but in a fast-changing world, the ability to </a:t>
            </a:r>
            <a:r>
              <a:rPr lang="en-US" i="1" dirty="0"/>
              <a:t>unlearn</a:t>
            </a:r>
            <a:r>
              <a:rPr lang="en-US" dirty="0"/>
              <a:t> outdated models is even more critical.</a:t>
            </a:r>
          </a:p>
          <a:p>
            <a:pPr marL="171450" lvl="0" indent="-171450">
              <a:buFont typeface="Arial" panose="020B0604020202020204" pitchFamily="34" charset="0"/>
              <a:buChar char="•"/>
            </a:pPr>
            <a:r>
              <a:rPr lang="en-US" b="1" dirty="0"/>
              <a:t>N – Nexus (Social &amp; Interpersonal Intelligence):</a:t>
            </a:r>
            <a:r>
              <a:rPr lang="en-US" dirty="0"/>
              <a:t> Understanding network dynamics, team synergy, and how humans co-regulate and collaborate under pressure.</a:t>
            </a:r>
          </a:p>
          <a:p>
            <a:r>
              <a:rPr lang="en-US" dirty="0"/>
              <a:t>As you look at your own professional development, ask yourself: </a:t>
            </a:r>
            <a:r>
              <a:rPr lang="en-US" i="1" dirty="0"/>
              <a:t>Am I spending all my time learning technical skills that an AI update could make obsolete next month, or am I investing in my H.U.M.A.N. architecture?</a:t>
            </a:r>
            <a:r>
              <a:rPr lang="en-US" dirty="0"/>
              <a:t> Double down on these five pillars, and you will build a career that is completely future-proof.</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6</a:t>
            </a:fld>
            <a:endParaRPr lang="en-US"/>
          </a:p>
        </p:txBody>
      </p:sp>
    </p:spTree>
    <p:extLst>
      <p:ext uri="{BB962C8B-B14F-4D97-AF65-F5344CB8AC3E}">
        <p14:creationId xmlns:p14="http://schemas.microsoft.com/office/powerpoint/2010/main" val="645560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unpack the first two pillars of our framework: </a:t>
            </a:r>
            <a:r>
              <a:rPr lang="en-US" b="1" dirty="0"/>
              <a:t>Heart</a:t>
            </a:r>
            <a:r>
              <a:rPr lang="en-US" dirty="0"/>
              <a:t> and </a:t>
            </a:r>
            <a:r>
              <a:rPr lang="en-US" b="1" dirty="0"/>
              <a:t>Understanding</a:t>
            </a:r>
            <a:r>
              <a:rPr lang="en-US" dirty="0"/>
              <a:t>.</a:t>
            </a:r>
          </a:p>
          <a:p>
            <a:r>
              <a:rPr lang="en-US" dirty="0"/>
              <a:t>First, </a:t>
            </a:r>
            <a:r>
              <a:rPr lang="en-US" b="1" dirty="0"/>
              <a:t>Heart</a:t>
            </a:r>
            <a:r>
              <a:rPr lang="en-US" dirty="0"/>
              <a:t>. We live in a world obsessed with IQ, but EQ—Emotional Quotient—is what builds cultures, closes deals, and resolves crises. AI can generate text that sounds sympathetic, but it lacks an organic emotional center. It doesn't know fear, joy, grief, or triumph. In leadership and client relationships, people can sense authentic human empathy. Never underestimate the commercial and personal value of genuine human care.</a:t>
            </a:r>
          </a:p>
          <a:p>
            <a:r>
              <a:rPr lang="en-US" dirty="0"/>
              <a:t>Second, </a:t>
            </a:r>
            <a:r>
              <a:rPr lang="en-US" b="1" dirty="0"/>
              <a:t>Understanding</a:t>
            </a:r>
            <a:r>
              <a:rPr lang="en-US" dirty="0"/>
              <a:t>, which relies on curiosity and the power of internal prompts.</a:t>
            </a:r>
          </a:p>
          <a:p>
            <a:r>
              <a:rPr lang="en-US" dirty="0"/>
              <a:t>We talk a lot about 'Prompt Engineering' for AI—how asking LLMs better questions yields better answers. But what about your </a:t>
            </a:r>
            <a:r>
              <a:rPr lang="en-US" i="1" dirty="0"/>
              <a:t>internal</a:t>
            </a:r>
            <a:r>
              <a:rPr lang="en-US" dirty="0"/>
              <a:t> prompt engineering? Look at the input-process-output diagram on this slide. Your brain is continuously running background scripts based on the questions you ask it.</a:t>
            </a:r>
          </a:p>
          <a:p>
            <a:r>
              <a:rPr lang="en-US" dirty="0"/>
              <a:t>If you ask bad questions like, </a:t>
            </a:r>
            <a:r>
              <a:rPr lang="en-US" i="1" dirty="0"/>
              <a:t>'Why is this happening to me?'</a:t>
            </a:r>
            <a:r>
              <a:rPr lang="en-US" dirty="0"/>
              <a:t> or </a:t>
            </a:r>
            <a:r>
              <a:rPr lang="en-US" i="1" dirty="0"/>
              <a:t>'Why am I so bad at this?'</a:t>
            </a:r>
            <a:r>
              <a:rPr lang="en-US" dirty="0"/>
              <a:t>, your brain processes that input and delivers negative outputs. But if you ask high-leverage questions like, </a:t>
            </a:r>
            <a:r>
              <a:rPr lang="en-US" i="1" dirty="0"/>
              <a:t>'What is the lesson here?'</a:t>
            </a:r>
            <a:r>
              <a:rPr lang="en-US" dirty="0"/>
              <a:t> or </a:t>
            </a:r>
            <a:r>
              <a:rPr lang="en-US" i="1" dirty="0"/>
              <a:t>'How can I use this constraint to innovate?'</a:t>
            </a:r>
            <a:r>
              <a:rPr lang="en-US" dirty="0"/>
              <a:t>, your cognitive processing completely shifts.</a:t>
            </a:r>
          </a:p>
          <a:p>
            <a:r>
              <a:rPr lang="en-US" dirty="0"/>
              <a:t>Mastering your mind begins with mastering the internal questions you run every single day.</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7</a:t>
            </a:fld>
            <a:endParaRPr lang="en-US"/>
          </a:p>
        </p:txBody>
      </p:sp>
    </p:spTree>
    <p:extLst>
      <p:ext uri="{BB962C8B-B14F-4D97-AF65-F5344CB8AC3E}">
        <p14:creationId xmlns:p14="http://schemas.microsoft.com/office/powerpoint/2010/main" val="4102559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our next two pillars: </a:t>
            </a:r>
            <a:r>
              <a:rPr lang="en-US" b="1" dirty="0"/>
              <a:t>Meaning</a:t>
            </a:r>
            <a:r>
              <a:rPr lang="en-US" dirty="0"/>
              <a:t> and </a:t>
            </a:r>
            <a:r>
              <a:rPr lang="en-US" b="1" dirty="0"/>
              <a:t>Adaptability</a:t>
            </a:r>
            <a:r>
              <a:rPr lang="en-US" dirty="0"/>
              <a:t>.</a:t>
            </a:r>
          </a:p>
          <a:p>
            <a:r>
              <a:rPr lang="en-US" dirty="0"/>
              <a:t>First, let's distinguish between two concepts that people often mix up: </a:t>
            </a:r>
            <a:r>
              <a:rPr lang="en-US" b="1" dirty="0"/>
              <a:t>Passion</a:t>
            </a:r>
            <a:r>
              <a:rPr lang="en-US" dirty="0"/>
              <a:t> and </a:t>
            </a:r>
            <a:r>
              <a:rPr lang="en-US" b="1" dirty="0"/>
              <a:t>Purpose</a:t>
            </a:r>
            <a:r>
              <a:rPr lang="en-US" dirty="0"/>
              <a:t>.</a:t>
            </a:r>
          </a:p>
          <a:p>
            <a:pPr marL="171450" lvl="0" indent="-171450">
              <a:buFont typeface="Arial" panose="020B0604020202020204" pitchFamily="34" charset="0"/>
              <a:buChar char="•"/>
            </a:pPr>
            <a:r>
              <a:rPr lang="en-US" i="1" dirty="0"/>
              <a:t>Passion</a:t>
            </a:r>
            <a:r>
              <a:rPr lang="en-US" dirty="0"/>
              <a:t> is selfish—in a healthy way. Passion is what lights </a:t>
            </a:r>
            <a:r>
              <a:rPr lang="en-US" i="1" dirty="0"/>
              <a:t>you</a:t>
            </a:r>
            <a:r>
              <a:rPr lang="en-US" dirty="0"/>
              <a:t> up. It’s your interest in reading, coding, art, or psychology.</a:t>
            </a:r>
          </a:p>
          <a:p>
            <a:pPr marL="171450" lvl="0" indent="-171450">
              <a:buFont typeface="Arial" panose="020B0604020202020204" pitchFamily="34" charset="0"/>
              <a:buChar char="•"/>
            </a:pPr>
            <a:r>
              <a:rPr lang="en-US" i="1" dirty="0"/>
              <a:t>Purpose</a:t>
            </a:r>
            <a:r>
              <a:rPr lang="en-US" dirty="0"/>
              <a:t>, however, is selfless. Purpose is how you use your passion to light </a:t>
            </a:r>
            <a:r>
              <a:rPr lang="en-US" i="1" dirty="0"/>
              <a:t>others</a:t>
            </a:r>
            <a:r>
              <a:rPr lang="en-US" dirty="0"/>
              <a:t> up. When you anchor your daily work in purpose—asking how your efforts serve your team, your clients, or your community—you tap into an extraordinary reservoir of motivation that burnout cannot touch.</a:t>
            </a:r>
          </a:p>
          <a:p>
            <a:r>
              <a:rPr lang="en-US" dirty="0"/>
              <a:t>Next is </a:t>
            </a:r>
            <a:r>
              <a:rPr lang="en-US" b="1" dirty="0"/>
              <a:t>Adaptability</a:t>
            </a:r>
            <a:r>
              <a:rPr lang="en-US" dirty="0"/>
              <a:t>, or Cognitive Flexibility. Look at the visual on the slide: on the left, you have a rigid, static grid. When hit by a force, it shatters. On the right, you have flexible, fluid waves that adapt to incoming currents.</a:t>
            </a:r>
          </a:p>
          <a:p>
            <a:r>
              <a:rPr lang="en-US" dirty="0"/>
              <a:t>In an AI world, rigid frameworks lead to cognitive obsolescence. If you hold onto 'the way we’ve always done it,' you become fragile. Adaptability requires mental parkour—the willingness to hold your beliefs lightly, embrace new data, and pivot instantly. Don't fall in love with your tools or your past methods; fall in love with the problem you are solving.</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8</a:t>
            </a:fld>
            <a:endParaRPr lang="en-US"/>
          </a:p>
        </p:txBody>
      </p:sp>
    </p:spTree>
    <p:extLst>
      <p:ext uri="{BB962C8B-B14F-4D97-AF65-F5344CB8AC3E}">
        <p14:creationId xmlns:p14="http://schemas.microsoft.com/office/powerpoint/2010/main" val="159966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fifth pillar of the H.U.M.A.N. architecture is </a:t>
            </a:r>
            <a:r>
              <a:rPr lang="en-US" b="1" dirty="0"/>
              <a:t>Nexus</a:t>
            </a:r>
            <a:r>
              <a:rPr lang="en-US" dirty="0"/>
              <a:t>: our social and interpersonal intelligence.</a:t>
            </a:r>
          </a:p>
          <a:p>
            <a:r>
              <a:rPr lang="en-US" dirty="0"/>
              <a:t>Western culture often celebrates the myth of the 'lone genius'—the solitary worker who solves massive problems in isolation. But neuroscience tells a completely different story. Human beings do not exist in a vacuum; our nervous systems are designed to operate as a network.</a:t>
            </a:r>
          </a:p>
          <a:p>
            <a:r>
              <a:rPr lang="en-US" dirty="0"/>
              <a:t>Three key principles define the Nexus:</a:t>
            </a:r>
          </a:p>
          <a:p>
            <a:pPr marL="228600" lvl="0" indent="-228600">
              <a:buFont typeface="+mj-lt"/>
              <a:buAutoNum type="arabicPeriod"/>
            </a:pPr>
            <a:r>
              <a:rPr lang="en-US" b="1" dirty="0"/>
              <a:t>Interpersonal Intelligence:</a:t>
            </a:r>
            <a:r>
              <a:rPr lang="en-US" dirty="0"/>
              <a:t> Social connection isn't just a nice-to-have social activity; it is a fundamental evolutionary survival trait.</a:t>
            </a:r>
          </a:p>
          <a:p>
            <a:pPr marL="228600" lvl="0" indent="-228600">
              <a:buFont typeface="+mj-lt"/>
              <a:buAutoNum type="arabicPeriod"/>
            </a:pPr>
            <a:r>
              <a:rPr lang="en-US" b="1" dirty="0"/>
              <a:t>Co-Regulation:</a:t>
            </a:r>
            <a:r>
              <a:rPr lang="en-US" dirty="0"/>
              <a:t> Your autonomic nervous system physically reacts to the nervous systems around you. If you enter a room full of stressed, panicked people, your body absorbs that tension. Conversely, a calm, grounded leader can instantly de-escalate an entire team's panic.</a:t>
            </a:r>
          </a:p>
          <a:p>
            <a:pPr marL="228600" lvl="0" indent="-228600">
              <a:buFont typeface="+mj-lt"/>
              <a:buAutoNum type="arabicPeriod"/>
            </a:pPr>
            <a:r>
              <a:rPr lang="en-US" b="1" dirty="0"/>
              <a:t>Borrowed Strength:</a:t>
            </a:r>
            <a:r>
              <a:rPr lang="en-US" dirty="0"/>
              <a:t> When your internal drive is low, you can temporarily borrow clarity, courage, and conviction from your network.</a:t>
            </a:r>
          </a:p>
          <a:p>
            <a:r>
              <a:rPr lang="en-US" dirty="0"/>
              <a:t>Surround yourself with people who challenge your standards and elevate your thinking. The ultimate cognitive ecosystem isn't just your individual brain—it’s the collective intelligence and emotional stability of the group you build around you.</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9</a:t>
            </a:fld>
            <a:endParaRPr lang="en-US"/>
          </a:p>
        </p:txBody>
      </p:sp>
    </p:spTree>
    <p:extLst>
      <p:ext uri="{BB962C8B-B14F-4D97-AF65-F5344CB8AC3E}">
        <p14:creationId xmlns:p14="http://schemas.microsoft.com/office/powerpoint/2010/main" val="3055114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peak performance out of your mind, you need to understand your brain’s operating frequencies. Your brain operates in four main wave states, each serving a unique function:</a:t>
            </a:r>
          </a:p>
          <a:p>
            <a:pPr marL="171450" lvl="0" indent="-171450">
              <a:buFont typeface="Arial" panose="020B0604020202020204" pitchFamily="34" charset="0"/>
              <a:buChar char="•"/>
            </a:pPr>
            <a:r>
              <a:rPr lang="en-US" b="1" dirty="0"/>
              <a:t>Beta (12–35 Hz):</a:t>
            </a:r>
            <a:r>
              <a:rPr lang="en-US" dirty="0"/>
              <a:t> Awake, alert, and focused on active tasks. This is where you write code, analyze reports, and hold tactical meetings. While necessary, staying in high Beta for too long leads to stress, anxiety, and eventual burnout.</a:t>
            </a:r>
          </a:p>
          <a:p>
            <a:pPr marL="171450" lvl="0" indent="-171450">
              <a:buFont typeface="Arial" panose="020B0604020202020204" pitchFamily="34" charset="0"/>
              <a:buChar char="•"/>
            </a:pPr>
            <a:r>
              <a:rPr lang="en-US" b="1" dirty="0"/>
              <a:t>Alpha (8–12 Hz):</a:t>
            </a:r>
            <a:r>
              <a:rPr lang="en-US" dirty="0"/>
              <a:t> Relaxed awareness. This is the state of deep flow, rapid learning, and accelerated information absorption. Athletes call it 'the zone.'</a:t>
            </a:r>
          </a:p>
          <a:p>
            <a:pPr marL="171450" lvl="0" indent="-171450">
              <a:buFont typeface="Arial" panose="020B0604020202020204" pitchFamily="34" charset="0"/>
              <a:buChar char="•"/>
            </a:pPr>
            <a:r>
              <a:rPr lang="en-US" b="1" dirty="0"/>
              <a:t>Theta (4–8 Hz):</a:t>
            </a:r>
            <a:r>
              <a:rPr lang="en-US" dirty="0"/>
              <a:t> The state of deep creativity, visualization, and eureka moments. It occurs during light sleep, meditation, or those moments in the shower when solutions suddenly pop into your mind.</a:t>
            </a:r>
          </a:p>
          <a:p>
            <a:pPr marL="171450" lvl="0" indent="-171450">
              <a:buFont typeface="Arial" panose="020B0604020202020204" pitchFamily="34" charset="0"/>
              <a:buChar char="•"/>
            </a:pPr>
            <a:r>
              <a:rPr lang="en-US" b="1" dirty="0"/>
              <a:t>Delta (0.5–4 Hz):</a:t>
            </a:r>
            <a:r>
              <a:rPr lang="en-US" dirty="0"/>
              <a:t> Deep, dreamless sleep. This is where physical healing, memory consolidation, and brain detoxification take place.</a:t>
            </a:r>
          </a:p>
          <a:p>
            <a:r>
              <a:rPr lang="en-US" dirty="0"/>
              <a:t>Most modern professionals try to run in </a:t>
            </a:r>
            <a:r>
              <a:rPr lang="en-US" b="1" dirty="0"/>
              <a:t>Beta</a:t>
            </a:r>
            <a:r>
              <a:rPr lang="en-US" dirty="0"/>
              <a:t> 16 hours a day, driven by caffeine and notifications, and then crash into </a:t>
            </a:r>
            <a:r>
              <a:rPr lang="en-US" b="1" dirty="0"/>
              <a:t>Delta</a:t>
            </a:r>
            <a:r>
              <a:rPr lang="en-US" dirty="0"/>
              <a:t>. They completely skip </a:t>
            </a:r>
            <a:r>
              <a:rPr lang="en-US" b="1" dirty="0"/>
              <a:t>Alpha</a:t>
            </a:r>
            <a:r>
              <a:rPr lang="en-US" dirty="0"/>
              <a:t> and </a:t>
            </a:r>
            <a:r>
              <a:rPr lang="en-US" b="1" dirty="0"/>
              <a:t>Theta</a:t>
            </a:r>
            <a:r>
              <a:rPr lang="en-US" dirty="0"/>
              <a:t>.</a:t>
            </a:r>
          </a:p>
          <a:p>
            <a:r>
              <a:rPr lang="en-US" dirty="0"/>
              <a:t>Mental muscles require deliberate recovery—what Jim Kwik calls 'Brain Therapy.' If you want high-level insights and fast learning, you must design downtime into your day to allow your brain to cycle into Alpha and Theta states.</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10</a:t>
            </a:fld>
            <a:endParaRPr lang="en-US"/>
          </a:p>
        </p:txBody>
      </p:sp>
    </p:spTree>
    <p:extLst>
      <p:ext uri="{BB962C8B-B14F-4D97-AF65-F5344CB8AC3E}">
        <p14:creationId xmlns:p14="http://schemas.microsoft.com/office/powerpoint/2010/main" val="1399820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often hear people say, </a:t>
            </a:r>
            <a:r>
              <a:rPr lang="en-US" i="1" dirty="0"/>
              <a:t>'I just can't focus today.'</a:t>
            </a:r>
            <a:r>
              <a:rPr lang="en-US" dirty="0"/>
              <a:t> As if focus is a weather condition that happens to you.</a:t>
            </a:r>
          </a:p>
          <a:p>
            <a:r>
              <a:rPr lang="en-US" dirty="0"/>
              <a:t>Jim Kwik teaches us that </a:t>
            </a:r>
            <a:r>
              <a:rPr lang="en-US" b="1" dirty="0"/>
              <a:t>Focus is a Verb</a:t>
            </a:r>
            <a:r>
              <a:rPr lang="en-US" dirty="0"/>
              <a:t>. It is not a state you possess or inherit; it is an action you perform. And like any muscle, it can be trained or weakened depending on how you use it.</a:t>
            </a:r>
          </a:p>
          <a:p>
            <a:r>
              <a:rPr lang="en-US" dirty="0"/>
              <a:t>To master focus, you must understand your brain's filtering hardware: the </a:t>
            </a:r>
            <a:r>
              <a:rPr lang="en-US" b="1" dirty="0"/>
              <a:t>Reticular Activating System (RAS)</a:t>
            </a:r>
            <a:r>
              <a:rPr lang="en-US" dirty="0"/>
              <a:t>. Your brain receives millions of bits of information every second. If it processed everything, you would lose consciousness from sensory overload. So, the primary job of the RAS is </a:t>
            </a:r>
            <a:r>
              <a:rPr lang="en-US" b="1" dirty="0"/>
              <a:t>deletion</a:t>
            </a:r>
            <a:r>
              <a:rPr lang="en-US" dirty="0"/>
              <a:t>—filtering out useless data so you can focus on what matters.</a:t>
            </a:r>
          </a:p>
          <a:p>
            <a:r>
              <a:rPr lang="en-US" dirty="0"/>
              <a:t>This gives us </a:t>
            </a:r>
            <a:r>
              <a:rPr lang="en-US" b="1" dirty="0"/>
              <a:t>The Deletion Protocol</a:t>
            </a:r>
            <a:r>
              <a:rPr lang="en-US" dirty="0"/>
              <a:t>: High performance isn't about doing more; it’s about subtracting distractions.</a:t>
            </a:r>
          </a:p>
          <a:p>
            <a:pPr marL="171450" lvl="0" indent="-171450">
              <a:buFont typeface="Arial" panose="020B0604020202020204" pitchFamily="34" charset="0"/>
              <a:buChar char="•"/>
            </a:pPr>
            <a:r>
              <a:rPr lang="en-US" dirty="0"/>
              <a:t>Turn off non-essential notifications.</a:t>
            </a:r>
          </a:p>
          <a:p>
            <a:pPr marL="171450" lvl="0" indent="-171450">
              <a:buFont typeface="Arial" panose="020B0604020202020204" pitchFamily="34" charset="0"/>
              <a:buChar char="•"/>
            </a:pPr>
            <a:r>
              <a:rPr lang="en-US" dirty="0"/>
              <a:t>Clear your physical workspace.</a:t>
            </a:r>
          </a:p>
          <a:p>
            <a:pPr marL="171450" lvl="0" indent="-171450">
              <a:buFont typeface="Arial" panose="020B0604020202020204" pitchFamily="34" charset="0"/>
              <a:buChar char="•"/>
            </a:pPr>
            <a:r>
              <a:rPr lang="en-US" dirty="0"/>
              <a:t>Close the 40 open browser tabs competing for your attention.</a:t>
            </a:r>
          </a:p>
          <a:p>
            <a:r>
              <a:rPr lang="en-US" dirty="0"/>
              <a:t>Remember the Golden Rule of Cognitive Leverage: </a:t>
            </a:r>
            <a:r>
              <a:rPr lang="en-US" b="1" dirty="0"/>
              <a:t>Keep the most important thing the most important thing.</a:t>
            </a:r>
            <a:r>
              <a:rPr lang="en-US" dirty="0"/>
              <a:t> Stop managing your time, and start managing your focus.</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11</a:t>
            </a:fld>
            <a:endParaRPr lang="en-US"/>
          </a:p>
        </p:txBody>
      </p:sp>
    </p:spTree>
    <p:extLst>
      <p:ext uri="{BB962C8B-B14F-4D97-AF65-F5344CB8AC3E}">
        <p14:creationId xmlns:p14="http://schemas.microsoft.com/office/powerpoint/2010/main" val="1636198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single most destructive habit in modern society: checking your smartphone within the first five minutes of waking up.</a:t>
            </a:r>
          </a:p>
          <a:p>
            <a:r>
              <a:rPr lang="en-US" dirty="0"/>
              <a:t>When you wake up, your brain transitions out of Delta and Theta states through a window called </a:t>
            </a:r>
            <a:r>
              <a:rPr lang="en-US" b="1" dirty="0"/>
              <a:t>Sleep Inertia</a:t>
            </a:r>
            <a:r>
              <a:rPr lang="en-US" dirty="0"/>
              <a:t>. During this time, your brain is exceptionally neuroplastic and highly suggestible.</a:t>
            </a:r>
          </a:p>
          <a:p>
            <a:r>
              <a:rPr lang="en-US" dirty="0"/>
              <a:t>If you grab your phone immediately, you subject your mind to two main dangers:</a:t>
            </a:r>
          </a:p>
          <a:p>
            <a:pPr marL="228600" lvl="0" indent="-228600">
              <a:buFont typeface="+mj-lt"/>
              <a:buAutoNum type="arabicPeriod"/>
            </a:pPr>
            <a:r>
              <a:rPr lang="en-US" b="1" dirty="0"/>
              <a:t>Cortisol Spike:</a:t>
            </a:r>
            <a:r>
              <a:rPr lang="en-US" dirty="0"/>
              <a:t> Seeing work emails, bad news, or social media updates triggers an immediate fight-or-flight stress response.</a:t>
            </a:r>
          </a:p>
          <a:p>
            <a:pPr marL="228600" lvl="0" indent="-228600">
              <a:buFont typeface="+mj-lt"/>
              <a:buAutoNum type="arabicPeriod"/>
            </a:pPr>
            <a:r>
              <a:rPr lang="en-US" b="1" dirty="0"/>
              <a:t>Reactive Conditioning:</a:t>
            </a:r>
            <a:r>
              <a:rPr lang="en-US" dirty="0"/>
              <a:t> You prime your brain to spend the rest of the day reacting to other people's agendas rather than focusing on your own goals.</a:t>
            </a:r>
          </a:p>
          <a:p>
            <a:r>
              <a:rPr lang="en-US" dirty="0"/>
              <a:t>Instead, implement the </a:t>
            </a:r>
            <a:r>
              <a:rPr lang="en-US" b="1" dirty="0"/>
              <a:t>'Mind Before Media'</a:t>
            </a:r>
            <a:r>
              <a:rPr lang="en-US" dirty="0"/>
              <a:t> protocol. Protect the first 20 to 30 minutes of your morning to prime your attentional engine across three dimensions:</a:t>
            </a:r>
          </a:p>
          <a:p>
            <a:pPr marL="171450" lvl="0" indent="-171450">
              <a:buFont typeface="Arial" panose="020B0604020202020204" pitchFamily="34" charset="0"/>
              <a:buChar char="•"/>
            </a:pPr>
            <a:r>
              <a:rPr lang="en-US" b="1" dirty="0"/>
              <a:t>Focus:</a:t>
            </a:r>
            <a:r>
              <a:rPr lang="en-US" dirty="0"/>
              <a:t> Identify the 1 to 3 critical things that actually matter today.</a:t>
            </a:r>
          </a:p>
          <a:p>
            <a:pPr marL="171450" lvl="0" indent="-171450">
              <a:buFont typeface="Arial" panose="020B0604020202020204" pitchFamily="34" charset="0"/>
              <a:buChar char="•"/>
            </a:pPr>
            <a:r>
              <a:rPr lang="en-US" b="1" dirty="0"/>
              <a:t>Feelings:</a:t>
            </a:r>
            <a:r>
              <a:rPr lang="en-US" dirty="0"/>
              <a:t> Engage in mood regulation through breathing, gratitude, or light movement.</a:t>
            </a:r>
          </a:p>
          <a:p>
            <a:pPr marL="171450" lvl="0" indent="-171450">
              <a:buFont typeface="Arial" panose="020B0604020202020204" pitchFamily="34" charset="0"/>
              <a:buChar char="•"/>
            </a:pPr>
            <a:r>
              <a:rPr lang="en-US" b="1" dirty="0"/>
              <a:t>Framing:</a:t>
            </a:r>
            <a:r>
              <a:rPr lang="en-US" dirty="0"/>
              <a:t> Consciously choose your perspective—viewing today’s challenges as opportunities for growth rather than a crisis to survive.</a:t>
            </a:r>
          </a:p>
          <a:p>
            <a:r>
              <a:rPr lang="en-US" dirty="0"/>
              <a:t>How you start your morning sets the operating system for the rest of your day. Win the morning, win the day.</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12</a:t>
            </a:fld>
            <a:endParaRPr lang="en-US"/>
          </a:p>
        </p:txBody>
      </p:sp>
    </p:spTree>
    <p:extLst>
      <p:ext uri="{BB962C8B-B14F-4D97-AF65-F5344CB8AC3E}">
        <p14:creationId xmlns:p14="http://schemas.microsoft.com/office/powerpoint/2010/main" val="2996730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translate these principles into daily action, use </a:t>
            </a:r>
            <a:r>
              <a:rPr lang="en-US" b="1" dirty="0"/>
              <a:t>The 4 Choices Matrix</a:t>
            </a:r>
            <a:r>
              <a:rPr lang="en-US" dirty="0"/>
              <a:t>. This simple audit helps clean up your daily mental schedule:</a:t>
            </a:r>
          </a:p>
          <a:p>
            <a:pPr marL="228600" lvl="0" indent="-228600">
              <a:buFont typeface="+mj-lt"/>
              <a:buAutoNum type="arabicPeriod"/>
            </a:pPr>
            <a:r>
              <a:rPr lang="en-US" b="1" dirty="0"/>
              <a:t>STOP:</a:t>
            </a:r>
            <a:r>
              <a:rPr lang="en-US" dirty="0"/>
              <a:t> Identify what is draining your cognitive reservoir. Stop feeding self-limiting stories, stop engaging in toxic self-talk, and stop opening apps that add no value to your life.</a:t>
            </a:r>
          </a:p>
          <a:p>
            <a:pPr marL="228600" lvl="0" indent="-228600">
              <a:buFont typeface="+mj-lt"/>
              <a:buAutoNum type="arabicPeriod"/>
            </a:pPr>
            <a:r>
              <a:rPr lang="en-US" b="1" dirty="0"/>
              <a:t>START:</a:t>
            </a:r>
            <a:r>
              <a:rPr lang="en-US" dirty="0"/>
              <a:t> Introduce high-leverage growth practices. Start your morning with 'Mind Before Media,' adopt a daily 10-minute mindfulness practice, or keep a daily learning journal.</a:t>
            </a:r>
          </a:p>
          <a:p>
            <a:pPr marL="228600" lvl="0" indent="-228600">
              <a:buFont typeface="+mj-lt"/>
              <a:buAutoNum type="arabicPeriod"/>
            </a:pPr>
            <a:r>
              <a:rPr lang="en-US" b="1" dirty="0"/>
              <a:t>DO LESS:</a:t>
            </a:r>
            <a:r>
              <a:rPr lang="en-US" dirty="0"/>
              <a:t> Cut back on low-leverage activities that fragment your focus. Reduce doom-scrolling, minimize multi-tasking, and avoid jumping between context-heavy tasks every 5 minutes.</a:t>
            </a:r>
          </a:p>
          <a:p>
            <a:pPr marL="228600" lvl="0" indent="-228600">
              <a:buFont typeface="+mj-lt"/>
              <a:buAutoNum type="arabicPeriod"/>
            </a:pPr>
            <a:r>
              <a:rPr lang="en-US" b="1" dirty="0"/>
              <a:t>DO MORE:</a:t>
            </a:r>
            <a:r>
              <a:rPr lang="en-US" dirty="0"/>
              <a:t> Double down on high-leverage activities. Read deeply, practice active recall, apply new knowledge immediately, and prioritize restorative movement.</a:t>
            </a:r>
          </a:p>
          <a:p>
            <a:r>
              <a:rPr lang="en-US" dirty="0"/>
              <a:t>Take a look at the quote at the bottom of the slide: </a:t>
            </a:r>
            <a:r>
              <a:rPr lang="en-US" i="1" dirty="0"/>
              <a:t>'The treasure you seek is hidden in the work you are avoiding.'</a:t>
            </a:r>
            <a:endParaRPr lang="en-US" dirty="0"/>
          </a:p>
          <a:p>
            <a:r>
              <a:rPr lang="en-US" dirty="0"/>
              <a:t>We often know exactly what task will move the needle, but we avoid it because of the cognitive friction involved. Apply this matrix daily to stop wasting energy on noise and direct it toward high-impact work.</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13</a:t>
            </a:fld>
            <a:endParaRPr lang="en-US"/>
          </a:p>
        </p:txBody>
      </p:sp>
    </p:spTree>
    <p:extLst>
      <p:ext uri="{BB962C8B-B14F-4D97-AF65-F5344CB8AC3E}">
        <p14:creationId xmlns:p14="http://schemas.microsoft.com/office/powerpoint/2010/main" val="37533466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Neuroscientists estimate that the human mind processes roughly 60,000 thoughts per day. What’s alarming is that for most people, </a:t>
            </a:r>
            <a:r>
              <a:rPr lang="en-US" b="1" dirty="0"/>
              <a:t>95% of those thoughts are identical to the thoughts they had yesterday.</a:t>
            </a:r>
            <a:r>
              <a:rPr lang="en-US" dirty="0"/>
              <a:t> We run in loops.</a:t>
            </a:r>
          </a:p>
          <a:p>
            <a:r>
              <a:rPr lang="en-US" dirty="0"/>
              <a:t>At the core of these loops lies your </a:t>
            </a:r>
            <a:r>
              <a:rPr lang="en-US" b="1" dirty="0"/>
              <a:t>Dominant Question</a:t>
            </a:r>
            <a:r>
              <a:rPr lang="en-US" dirty="0"/>
              <a:t>. This is an overarching, often subconscious query that your Reticular Activating System works around the clock to answer.</a:t>
            </a:r>
          </a:p>
          <a:p>
            <a:r>
              <a:rPr lang="en-US" dirty="0"/>
              <a:t>Consider someone whose dominant question is: </a:t>
            </a:r>
            <a:r>
              <a:rPr lang="en-US" i="1" dirty="0"/>
              <a:t>'Why does bad luck always happen to me?'</a:t>
            </a:r>
            <a:r>
              <a:rPr lang="en-US" dirty="0"/>
              <a:t> Their brain will constantly highlight every delay, minor insult, and failure to answer that question.</a:t>
            </a:r>
          </a:p>
          <a:p>
            <a:r>
              <a:rPr lang="en-US" dirty="0"/>
              <a:t>Look at the shift on the slide:</a:t>
            </a:r>
          </a:p>
          <a:p>
            <a:pPr marL="171450" lvl="0" indent="-171450">
              <a:buFont typeface="Arial" panose="020B0604020202020204" pitchFamily="34" charset="0"/>
              <a:buChar char="•"/>
            </a:pPr>
            <a:r>
              <a:rPr lang="en-US" dirty="0"/>
              <a:t>Move away from diagnostic, victim-oriented questions like </a:t>
            </a:r>
            <a:r>
              <a:rPr lang="en-US" b="1" dirty="0"/>
              <a:t>'WHY ME?'</a:t>
            </a:r>
            <a:endParaRPr lang="en-US" dirty="0"/>
          </a:p>
          <a:p>
            <a:pPr marL="171450" lvl="0" indent="-171450">
              <a:buFont typeface="Arial" panose="020B0604020202020204" pitchFamily="34" charset="0"/>
              <a:buChar char="•"/>
            </a:pPr>
            <a:r>
              <a:rPr lang="en-US" dirty="0"/>
              <a:t>Shift to agency-driven, constructive questions like </a:t>
            </a:r>
            <a:r>
              <a:rPr lang="en-US" b="1" dirty="0"/>
              <a:t>'HOW CAN I USE THIS?'</a:t>
            </a:r>
            <a:endParaRPr lang="en-US" dirty="0"/>
          </a:p>
          <a:p>
            <a:r>
              <a:rPr lang="en-US" dirty="0"/>
              <a:t>When you shift to </a:t>
            </a:r>
            <a:r>
              <a:rPr lang="en-US" i="1" dirty="0"/>
              <a:t>'How can I use this constraint to build a better solution?'</a:t>
            </a:r>
            <a:r>
              <a:rPr lang="en-US" dirty="0"/>
              <a:t>, your brain instantly drops the pity party and starts scanning your environment for tools, possibilities, and strategies.</a:t>
            </a:r>
          </a:p>
          <a:p>
            <a:r>
              <a:rPr lang="en-US" dirty="0"/>
              <a:t>Furthermore, adopt Jim Kwik’s 1:1 rule: </a:t>
            </a:r>
            <a:r>
              <a:rPr lang="en-US" b="1" dirty="0"/>
              <a:t>For every hour you spend consuming information, spend an equal hour asking how to apply it.</a:t>
            </a:r>
            <a:r>
              <a:rPr lang="en-US" dirty="0"/>
              <a:t> Information without application leads to mental constipation. Always ask: </a:t>
            </a:r>
            <a:r>
              <a:rPr lang="en-US" i="1" dirty="0"/>
              <a:t>How do I use this right now?</a:t>
            </a:r>
            <a:endParaRPr lang="en-US" dirty="0"/>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14</a:t>
            </a:fld>
            <a:endParaRPr lang="en-US"/>
          </a:p>
        </p:txBody>
      </p:sp>
    </p:spTree>
    <p:extLst>
      <p:ext uri="{BB962C8B-B14F-4D97-AF65-F5344CB8AC3E}">
        <p14:creationId xmlns:p14="http://schemas.microsoft.com/office/powerpoint/2010/main" val="3957217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begin to bring these ideas together, look at this powerful quote: </a:t>
            </a:r>
            <a:r>
              <a:rPr lang="en-US" i="1" dirty="0"/>
              <a:t>'If you fight for your limitations, you get to keep them.'</a:t>
            </a:r>
            <a:endParaRPr lang="en-US" dirty="0"/>
          </a:p>
          <a:p>
            <a:r>
              <a:rPr lang="en-US" dirty="0"/>
              <a:t>It’s time to redraw your mental borders. Your intelligence, memory, and focus are not static traits set at birth—they are dynamic, trainable capabilities.</a:t>
            </a:r>
          </a:p>
          <a:p>
            <a:r>
              <a:rPr lang="en-US" dirty="0"/>
              <a:t>Neuroplasticity proves that as long as you are alive, your brain can form new connections, adapt to complex demands, and master new skills. The only thing standing in the way is an outdated operating system built on self-limiting stories.</a:t>
            </a:r>
          </a:p>
          <a:p>
            <a:r>
              <a:rPr lang="en-US" dirty="0"/>
              <a:t>Do not wish for a simple, static life with zero complexity; build the </a:t>
            </a:r>
            <a:r>
              <a:rPr lang="en-US" b="1" dirty="0"/>
              <a:t>cognitive anti-fragility</a:t>
            </a:r>
            <a:r>
              <a:rPr lang="en-US" dirty="0"/>
              <a:t> to thrive in an unpredictable world.</a:t>
            </a:r>
          </a:p>
          <a:p>
            <a:r>
              <a:rPr lang="en-US" dirty="0"/>
              <a:t>When tech shifts, adapt. When facing a complex problem, lean into the cognitive friction. Upgrade your internal prompts, protect your morning focus, and commit to continuous growth. You are not stuck—you are simply due for an operating system update. Become limitless.</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15</a:t>
            </a:fld>
            <a:endParaRPr lang="en-US"/>
          </a:p>
        </p:txBody>
      </p:sp>
    </p:spTree>
    <p:extLst>
      <p:ext uri="{BB962C8B-B14F-4D97-AF65-F5344CB8AC3E}">
        <p14:creationId xmlns:p14="http://schemas.microsoft.com/office/powerpoint/2010/main" val="383045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our session, let’s look at our complete summary blueprint for mastering </a:t>
            </a:r>
            <a:r>
              <a:rPr lang="en-US" b="1" dirty="0"/>
              <a:t>Human Intelligence in the Age of AI</a:t>
            </a:r>
            <a:r>
              <a:rPr lang="en-US" dirty="0"/>
              <a:t>.</a:t>
            </a:r>
          </a:p>
          <a:p>
            <a:r>
              <a:rPr lang="en-US" dirty="0"/>
              <a:t>Here is your quick-reference action guide:</a:t>
            </a:r>
          </a:p>
          <a:p>
            <a:pPr marL="171450" lvl="0" indent="-171450">
              <a:buFont typeface="Arial" panose="020B0604020202020204" pitchFamily="34" charset="0"/>
              <a:buChar char="•"/>
            </a:pPr>
            <a:r>
              <a:rPr lang="en-US" b="1" dirty="0"/>
              <a:t>The Goal:</a:t>
            </a:r>
            <a:r>
              <a:rPr lang="en-US" dirty="0"/>
              <a:t> Build </a:t>
            </a:r>
            <a:r>
              <a:rPr lang="en-US" i="1" dirty="0"/>
              <a:t>Augmented Intelligence</a:t>
            </a:r>
            <a:r>
              <a:rPr lang="en-US" dirty="0"/>
              <a:t>. Use AI to handle scale, speed, and raw data processing, while doubling down on your core human traits—the </a:t>
            </a:r>
            <a:r>
              <a:rPr lang="en-US" b="1" dirty="0"/>
              <a:t>H.U.M.A.N.</a:t>
            </a:r>
            <a:r>
              <a:rPr lang="en-US" dirty="0"/>
              <a:t> acronym (</a:t>
            </a:r>
            <a:r>
              <a:rPr lang="en-US" i="1" dirty="0"/>
              <a:t>Heart, Understanding, Meaning, Adaptability, and Nexus</a:t>
            </a:r>
            <a:r>
              <a:rPr lang="en-US" dirty="0"/>
              <a:t>).</a:t>
            </a:r>
          </a:p>
          <a:p>
            <a:pPr marL="171450" lvl="0" indent="-171450">
              <a:buFont typeface="Arial" panose="020B0604020202020204" pitchFamily="34" charset="0"/>
              <a:buChar char="•"/>
            </a:pPr>
            <a:r>
              <a:rPr lang="en-US" b="1" dirty="0"/>
              <a:t>The Warning:</a:t>
            </a:r>
            <a:r>
              <a:rPr lang="en-US" dirty="0"/>
              <a:t> Beware of cognitive offloading. Relying entirely on technology for basic thinking and memory leads to </a:t>
            </a:r>
            <a:r>
              <a:rPr lang="en-US" i="1" dirty="0"/>
              <a:t>Digital Dementia</a:t>
            </a:r>
            <a:r>
              <a:rPr lang="en-US" dirty="0"/>
              <a:t>. Treat your mind like a muscle: use it or lose it.</a:t>
            </a:r>
          </a:p>
          <a:p>
            <a:pPr marL="171450" lvl="0" indent="-171450">
              <a:buFont typeface="Arial" panose="020B0604020202020204" pitchFamily="34" charset="0"/>
              <a:buChar char="•"/>
            </a:pPr>
            <a:r>
              <a:rPr lang="en-US" b="1" dirty="0"/>
              <a:t>The Daily Protocol:</a:t>
            </a:r>
            <a:r>
              <a:rPr lang="en-US" dirty="0"/>
              <a:t> Implement </a:t>
            </a:r>
            <a:r>
              <a:rPr lang="en-US" i="1" dirty="0"/>
              <a:t>Mind Before Media</a:t>
            </a:r>
            <a:r>
              <a:rPr lang="en-US" dirty="0"/>
              <a:t> during sleep inertia. Protect your morning attention to avoid reactive stress and keep your focus clear.</a:t>
            </a:r>
          </a:p>
          <a:p>
            <a:pPr marL="171450" lvl="0" indent="-171450">
              <a:buFont typeface="Arial" panose="020B0604020202020204" pitchFamily="34" charset="0"/>
              <a:buChar char="•"/>
            </a:pPr>
            <a:r>
              <a:rPr lang="en-US" b="1" dirty="0"/>
              <a:t>The Mindset:</a:t>
            </a:r>
            <a:r>
              <a:rPr lang="en-US" dirty="0"/>
              <a:t> Cultivate </a:t>
            </a:r>
            <a:r>
              <a:rPr lang="en-US" i="1" dirty="0"/>
              <a:t>Cognitive Anti-Fragility</a:t>
            </a:r>
            <a:r>
              <a:rPr lang="en-US" dirty="0"/>
              <a:t>. Don't just recover from challenges—bounce forward, learn from the friction, and use every disruption as fuel for growth.</a:t>
            </a:r>
          </a:p>
          <a:p>
            <a:pPr marL="171450" lvl="0" indent="-171450">
              <a:buFont typeface="Arial" panose="020B0604020202020204" pitchFamily="34" charset="0"/>
              <a:buChar char="•"/>
            </a:pPr>
            <a:r>
              <a:rPr lang="en-US" b="1" dirty="0"/>
              <a:t>The Daily Matrix:</a:t>
            </a:r>
            <a:r>
              <a:rPr lang="en-US" dirty="0"/>
              <a:t> Regularly evaluate your habits—</a:t>
            </a:r>
            <a:r>
              <a:rPr lang="en-US" i="1" dirty="0"/>
              <a:t>Stop</a:t>
            </a:r>
            <a:r>
              <a:rPr lang="en-US" dirty="0"/>
              <a:t> feeding negative stories, </a:t>
            </a:r>
            <a:r>
              <a:rPr lang="en-US" i="1" dirty="0"/>
              <a:t>Start</a:t>
            </a:r>
            <a:r>
              <a:rPr lang="en-US" dirty="0"/>
              <a:t> daily priming, do </a:t>
            </a:r>
            <a:r>
              <a:rPr lang="en-US" i="1" dirty="0"/>
              <a:t>Less</a:t>
            </a:r>
            <a:r>
              <a:rPr lang="en-US" dirty="0"/>
              <a:t> mindless scrolling, and do </a:t>
            </a:r>
            <a:r>
              <a:rPr lang="en-US" i="1" dirty="0"/>
              <a:t>More</a:t>
            </a:r>
            <a:r>
              <a:rPr lang="en-US" dirty="0"/>
              <a:t> deep reading and intentional practice.</a:t>
            </a:r>
          </a:p>
          <a:p>
            <a:r>
              <a:rPr lang="en-US" dirty="0"/>
              <a:t>AI isn't the end of human leverage; it's the ultimate proving ground for it. Upgrade your mindset, optimize your habits, and step confidently into your human advantage. Thank you!</a:t>
            </a:r>
          </a:p>
          <a:p>
            <a:endParaRPr lang="en-US" dirty="0"/>
          </a:p>
        </p:txBody>
      </p:sp>
      <p:sp>
        <p:nvSpPr>
          <p:cNvPr id="4" name="Slide Number Placeholder 3"/>
          <p:cNvSpPr>
            <a:spLocks noGrp="1"/>
          </p:cNvSpPr>
          <p:nvPr>
            <p:ph type="sldNum" sz="quarter" idx="5"/>
          </p:nvPr>
        </p:nvSpPr>
        <p:spPr/>
        <p:txBody>
          <a:bodyPr/>
          <a:lstStyle/>
          <a:p>
            <a:fld id="{FB882008-3161-479B-BBD2-B9F630BE3B95}" type="slidenum">
              <a:rPr lang="en-US" smtClean="0"/>
              <a:t>16</a:t>
            </a:fld>
            <a:endParaRPr lang="en-US"/>
          </a:p>
        </p:txBody>
      </p:sp>
    </p:spTree>
    <p:extLst>
      <p:ext uri="{BB962C8B-B14F-4D97-AF65-F5344CB8AC3E}">
        <p14:creationId xmlns:p14="http://schemas.microsoft.com/office/powerpoint/2010/main" val="1396021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C1FAE8-045E-9B97-513E-E76F5400F85D}"/>
              </a:ext>
            </a:extLst>
          </p:cNvPr>
          <p:cNvSpPr>
            <a:spLocks noGrp="1"/>
          </p:cNvSpPr>
          <p:nvPr>
            <p:ph type="dt" sz="half" idx="10"/>
          </p:nvPr>
        </p:nvSpPr>
        <p:spPr/>
        <p:txBody>
          <a:bodyPr/>
          <a:lstStyle/>
          <a:p>
            <a:fld id="{3D9AF3E4-B3C7-410B-BF28-A7AD1B0BE753}" type="datetimeFigureOut">
              <a:rPr lang="en-US" smtClean="0"/>
              <a:t>10/21/2026</a:t>
            </a:fld>
            <a:endParaRPr lang="en-US"/>
          </a:p>
        </p:txBody>
      </p:sp>
      <p:sp>
        <p:nvSpPr>
          <p:cNvPr id="3" name="Footer Placeholder 2">
            <a:extLst>
              <a:ext uri="{FF2B5EF4-FFF2-40B4-BE49-F238E27FC236}">
                <a16:creationId xmlns:a16="http://schemas.microsoft.com/office/drawing/2014/main" id="{8DF2C144-58D5-20FC-4A49-D1FA327375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4AE267-9174-6DD1-3AF6-6480734C209D}"/>
              </a:ext>
            </a:extLst>
          </p:cNvPr>
          <p:cNvSpPr>
            <a:spLocks noGrp="1"/>
          </p:cNvSpPr>
          <p:nvPr>
            <p:ph type="sldNum" sz="quarter" idx="12"/>
          </p:nvPr>
        </p:nvSpPr>
        <p:spPr/>
        <p:txBody>
          <a:bodyPr/>
          <a:lstStyle/>
          <a:p>
            <a:fld id="{35F74D40-8968-4C4C-AA64-96DA67605CE3}" type="slidenum">
              <a:rPr lang="en-US" smtClean="0"/>
              <a:t>‹#›</a:t>
            </a:fld>
            <a:endParaRPr lang="en-US"/>
          </a:p>
        </p:txBody>
      </p:sp>
    </p:spTree>
    <p:extLst>
      <p:ext uri="{BB962C8B-B14F-4D97-AF65-F5344CB8AC3E}">
        <p14:creationId xmlns:p14="http://schemas.microsoft.com/office/powerpoint/2010/main" val="216708831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25BC1F-D4F9-89B6-7607-C8027DAE89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AEB7BE-69C6-740D-8690-6D67CBCE5B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5649D-06A1-7CF4-74CD-64A12CFD16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9AF3E4-B3C7-410B-BF28-A7AD1B0BE753}" type="datetimeFigureOut">
              <a:rPr lang="en-US" smtClean="0"/>
              <a:t>10/21/2026</a:t>
            </a:fld>
            <a:endParaRPr lang="en-US"/>
          </a:p>
        </p:txBody>
      </p:sp>
      <p:sp>
        <p:nvSpPr>
          <p:cNvPr id="5" name="Footer Placeholder 4">
            <a:extLst>
              <a:ext uri="{FF2B5EF4-FFF2-40B4-BE49-F238E27FC236}">
                <a16:creationId xmlns:a16="http://schemas.microsoft.com/office/drawing/2014/main" id="{7AD88EF5-755D-BB0F-9900-860D3A703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E6F47C-AB5D-EB06-5D9A-9DF0FD36FE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F74D40-8968-4C4C-AA64-96DA67605CE3}" type="slidenum">
              <a:rPr lang="en-US" smtClean="0"/>
              <a:t>‹#›</a:t>
            </a:fld>
            <a:endParaRPr lang="en-US"/>
          </a:p>
        </p:txBody>
      </p:sp>
    </p:spTree>
    <p:extLst>
      <p:ext uri="{BB962C8B-B14F-4D97-AF65-F5344CB8AC3E}">
        <p14:creationId xmlns:p14="http://schemas.microsoft.com/office/powerpoint/2010/main" val="74278040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FAA7743-5BBD-8A16-EB6A-1D0AB0FAEF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187859-AA6A-1616-4414-BBA94CE969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8DF845-D2B6-1274-9AC6-9B3EB9DB74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3202E5-E013-770D-B481-B78C00A2D5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11BF94-4464-7B51-50C1-F6EF9E5370D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0C015F-99CD-AB53-B49A-A0371BF414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B32B47-0A10-21BB-770C-3BDE51A944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A8FCED-54A7-72E9-9B04-D7926727CB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E8FD8E-58B3-4B72-B44C-FD175D6235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7BD5B6-3694-7756-EE5E-C2A8DF2539F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E10534-31ED-4A3A-48F0-E10F18EAEE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3AF32D-6647-7EFE-9651-F38BE2B86F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DF059D-54AC-DB6F-A313-95EA89C226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F75585-8AAE-925F-926E-8356507932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256D92-C9BE-882A-F1EF-464EB173FE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57FB63-8321-A002-0060-9F9DF8AC3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184341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3758</Words>
  <Application>Microsoft Office PowerPoint</Application>
  <PresentationFormat>寬螢幕</PresentationFormat>
  <Paragraphs>131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2026-09-05T04:27:01Z</dcterms:created>
  <dcterms:modified xsi:type="dcterms:W3CDTF">2026-10-21T02:47:15Z</dcterms:modified>
</cp:coreProperties>
</file>