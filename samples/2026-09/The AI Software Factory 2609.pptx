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1D33BAD-9698-4555-B52B-7E1689B374EA}" v="21" dt="2026-09-24T04:22:52.6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76923"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pc:chgData name="Lai, Wilson" userId="2840974a-0d84-4886-90a9-9a3ed79f3a48" providerId="ADAL" clId="{9F23B798-9E84-4552-BA63-E776E805C424}" dt="2026-09-24T04:23:01.800" v="63" actId="166"/>
      <pc:docMkLst>
        <pc:docMk/>
      </pc:docMkLst>
      <pc:sldChg chg="addSp delSp modSp mod modAnim modNotes modNotesTx">
        <pc:chgData name="Lai, Wilson" userId="2840974a-0d84-4886-90a9-9a3ed79f3a48" providerId="ADAL" clId="{9F23B798-9E84-4552-BA63-E776E805C424}" dt="2026-09-24T04:23:01.800" v="63" actId="166"/>
        <pc:sldMkLst>
          <pc:docMk/>
          <pc:sldMk cId="0" sldId="257"/>
        </pc:sldMkLst>
        <pc:spChg chg="add mod">
          <ac:chgData name="Lai, Wilson" userId="2840974a-0d84-4886-90a9-9a3ed79f3a48" providerId="ADAL" clId="{9F23B798-9E84-4552-BA63-E776E805C424}" dt="2026-09-23T15:03:10.498" v="32" actId="164"/>
          <ac:spMkLst>
            <pc:docMk/>
            <pc:sldMk cId="0" sldId="257"/>
            <ac:spMk id="5" creationId="{44726C5E-B0FD-B3CF-7EAE-81986794EAEC}"/>
          </ac:spMkLst>
        </pc:spChg>
        <pc:grpChg chg="add mod">
          <ac:chgData name="Lai, Wilson" userId="2840974a-0d84-4886-90a9-9a3ed79f3a48" providerId="ADAL" clId="{9F23B798-9E84-4552-BA63-E776E805C424}" dt="2026-09-23T15:03:10.498" v="32" actId="164"/>
          <ac:grpSpMkLst>
            <pc:docMk/>
            <pc:sldMk cId="0" sldId="257"/>
            <ac:grpSpMk id="6" creationId="{6E1ED400-2AFE-FB01-C10B-11F045AFB63E}"/>
          </ac:grpSpMkLst>
        </pc:grpChg>
        <pc:picChg chg="del">
          <ac:chgData name="Lai, Wilson" userId="2840974a-0d84-4886-90a9-9a3ed79f3a48" providerId="ADAL" clId="{9F23B798-9E84-4552-BA63-E776E805C424}" dt="2026-09-23T14:52:11.272" v="3" actId="21"/>
          <ac:picMkLst>
            <pc:docMk/>
            <pc:sldMk cId="0" sldId="257"/>
            <ac:picMk id="2" creationId="{00000000-0000-0000-0000-000000000000}"/>
          </ac:picMkLst>
        </pc:picChg>
        <pc:picChg chg="add mod">
          <ac:chgData name="Lai, Wilson" userId="2840974a-0d84-4886-90a9-9a3ed79f3a48" providerId="ADAL" clId="{9F23B798-9E84-4552-BA63-E776E805C424}" dt="2026-09-23T15:03:10.498" v="32" actId="164"/>
          <ac:picMkLst>
            <pc:docMk/>
            <pc:sldMk cId="0" sldId="257"/>
            <ac:picMk id="2" creationId="{DA0A15DC-84B3-A04F-A3AC-26CC4C5A02D5}"/>
          </ac:picMkLst>
        </pc:picChg>
        <pc:picChg chg="add ord">
          <ac:chgData name="Lai, Wilson" userId="2840974a-0d84-4886-90a9-9a3ed79f3a48" providerId="ADAL" clId="{9F23B798-9E84-4552-BA63-E776E805C424}" dt="2026-09-24T04:23:01.800" v="63" actId="166"/>
          <ac:picMkLst>
            <pc:docMk/>
            <pc:sldMk cId="0" sldId="257"/>
            <ac:picMk id="4" creationId="{9AC2B53F-9630-7FC5-BE90-2B1A54C95DC8}"/>
          </ac:picMkLst>
        </pc:picChg>
      </pc:sldChg>
      <pc:sldChg chg="addSp delSp mod modNotes">
        <pc:chgData name="Lai, Wilson" userId="2840974a-0d84-4886-90a9-9a3ed79f3a48" providerId="ADAL" clId="{9F23B798-9E84-4552-BA63-E776E805C424}" dt="2026-09-24T04:22:52.692" v="62"/>
        <pc:sldMkLst>
          <pc:docMk/>
          <pc:sldMk cId="0" sldId="258"/>
        </pc:sldMkLst>
        <pc:picChg chg="del">
          <ac:chgData name="Lai, Wilson" userId="2840974a-0d84-4886-90a9-9a3ed79f3a48" providerId="ADAL" clId="{9F23B798-9E84-4552-BA63-E776E805C424}" dt="2026-09-23T14:52:24.654" v="5" actId="21"/>
          <ac:picMkLst>
            <pc:docMk/>
            <pc:sldMk cId="0" sldId="258"/>
            <ac:picMk id="2" creationId="{00000000-0000-0000-0000-000000000000}"/>
          </ac:picMkLst>
        </pc:picChg>
        <pc:picChg chg="add">
          <ac:chgData name="Lai, Wilson" userId="2840974a-0d84-4886-90a9-9a3ed79f3a48" providerId="ADAL" clId="{9F23B798-9E84-4552-BA63-E776E805C424}" dt="2026-09-23T14:52:31.973" v="6" actId="22"/>
          <ac:picMkLst>
            <pc:docMk/>
            <pc:sldMk cId="0" sldId="258"/>
            <ac:picMk id="4" creationId="{3A0063A7-FBB8-1F50-6EE7-7075F17DD03B}"/>
          </ac:picMkLst>
        </pc:picChg>
      </pc:sldChg>
      <pc:sldChg chg="addSp delSp mod modNotes">
        <pc:chgData name="Lai, Wilson" userId="2840974a-0d84-4886-90a9-9a3ed79f3a48" providerId="ADAL" clId="{9F23B798-9E84-4552-BA63-E776E805C424}" dt="2026-09-24T04:22:52.692" v="62"/>
        <pc:sldMkLst>
          <pc:docMk/>
          <pc:sldMk cId="0" sldId="259"/>
        </pc:sldMkLst>
        <pc:picChg chg="del">
          <ac:chgData name="Lai, Wilson" userId="2840974a-0d84-4886-90a9-9a3ed79f3a48" providerId="ADAL" clId="{9F23B798-9E84-4552-BA63-E776E805C424}" dt="2026-09-23T14:52:33.215" v="7" actId="21"/>
          <ac:picMkLst>
            <pc:docMk/>
            <pc:sldMk cId="0" sldId="259"/>
            <ac:picMk id="2" creationId="{00000000-0000-0000-0000-000000000000}"/>
          </ac:picMkLst>
        </pc:picChg>
        <pc:picChg chg="add">
          <ac:chgData name="Lai, Wilson" userId="2840974a-0d84-4886-90a9-9a3ed79f3a48" providerId="ADAL" clId="{9F23B798-9E84-4552-BA63-E776E805C424}" dt="2026-09-23T14:52:41.455" v="8" actId="22"/>
          <ac:picMkLst>
            <pc:docMk/>
            <pc:sldMk cId="0" sldId="259"/>
            <ac:picMk id="4" creationId="{36304DF1-685E-5C0A-8DF9-23D3D44D3D0E}"/>
          </ac:picMkLst>
        </pc:picChg>
      </pc:sldChg>
      <pc:sldChg chg="addSp delSp mod modNotes modNotesTx">
        <pc:chgData name="Lai, Wilson" userId="2840974a-0d84-4886-90a9-9a3ed79f3a48" providerId="ADAL" clId="{9F23B798-9E84-4552-BA63-E776E805C424}" dt="2026-09-24T04:22:52.692" v="62"/>
        <pc:sldMkLst>
          <pc:docMk/>
          <pc:sldMk cId="0" sldId="260"/>
        </pc:sldMkLst>
        <pc:picChg chg="del">
          <ac:chgData name="Lai, Wilson" userId="2840974a-0d84-4886-90a9-9a3ed79f3a48" providerId="ADAL" clId="{9F23B798-9E84-4552-BA63-E776E805C424}" dt="2026-09-23T14:52:42.766" v="9" actId="21"/>
          <ac:picMkLst>
            <pc:docMk/>
            <pc:sldMk cId="0" sldId="260"/>
            <ac:picMk id="2" creationId="{00000000-0000-0000-0000-000000000000}"/>
          </ac:picMkLst>
        </pc:picChg>
        <pc:picChg chg="add">
          <ac:chgData name="Lai, Wilson" userId="2840974a-0d84-4886-90a9-9a3ed79f3a48" providerId="ADAL" clId="{9F23B798-9E84-4552-BA63-E776E805C424}" dt="2026-09-23T14:53:06.444" v="10" actId="22"/>
          <ac:picMkLst>
            <pc:docMk/>
            <pc:sldMk cId="0" sldId="260"/>
            <ac:picMk id="4" creationId="{713D52C7-E695-A8D5-ADF2-C95CA37DD9AA}"/>
          </ac:picMkLst>
        </pc:picChg>
      </pc:sldChg>
      <pc:sldChg chg="addSp delSp mod modNotes modNotesTx">
        <pc:chgData name="Lai, Wilson" userId="2840974a-0d84-4886-90a9-9a3ed79f3a48" providerId="ADAL" clId="{9F23B798-9E84-4552-BA63-E776E805C424}" dt="2026-09-24T04:22:52.692" v="62"/>
        <pc:sldMkLst>
          <pc:docMk/>
          <pc:sldMk cId="0" sldId="261"/>
        </pc:sldMkLst>
        <pc:picChg chg="del">
          <ac:chgData name="Lai, Wilson" userId="2840974a-0d84-4886-90a9-9a3ed79f3a48" providerId="ADAL" clId="{9F23B798-9E84-4552-BA63-E776E805C424}" dt="2026-09-23T14:53:10.791" v="11" actId="21"/>
          <ac:picMkLst>
            <pc:docMk/>
            <pc:sldMk cId="0" sldId="261"/>
            <ac:picMk id="2" creationId="{00000000-0000-0000-0000-000000000000}"/>
          </ac:picMkLst>
        </pc:picChg>
        <pc:picChg chg="add">
          <ac:chgData name="Lai, Wilson" userId="2840974a-0d84-4886-90a9-9a3ed79f3a48" providerId="ADAL" clId="{9F23B798-9E84-4552-BA63-E776E805C424}" dt="2026-09-23T14:53:22.050" v="12" actId="22"/>
          <ac:picMkLst>
            <pc:docMk/>
            <pc:sldMk cId="0" sldId="261"/>
            <ac:picMk id="4" creationId="{5DDB4878-CD0D-F0E8-0F47-436C96F54DA3}"/>
          </ac:picMkLst>
        </pc:picChg>
      </pc:sldChg>
      <pc:sldChg chg="addSp delSp mod modNotes modNotesTx">
        <pc:chgData name="Lai, Wilson" userId="2840974a-0d84-4886-90a9-9a3ed79f3a48" providerId="ADAL" clId="{9F23B798-9E84-4552-BA63-E776E805C424}" dt="2026-09-24T04:22:52.692" v="62"/>
        <pc:sldMkLst>
          <pc:docMk/>
          <pc:sldMk cId="0" sldId="262"/>
        </pc:sldMkLst>
        <pc:picChg chg="del">
          <ac:chgData name="Lai, Wilson" userId="2840974a-0d84-4886-90a9-9a3ed79f3a48" providerId="ADAL" clId="{9F23B798-9E84-4552-BA63-E776E805C424}" dt="2026-09-23T14:53:29.538" v="14" actId="21"/>
          <ac:picMkLst>
            <pc:docMk/>
            <pc:sldMk cId="0" sldId="262"/>
            <ac:picMk id="2" creationId="{00000000-0000-0000-0000-000000000000}"/>
          </ac:picMkLst>
        </pc:picChg>
        <pc:picChg chg="add">
          <ac:chgData name="Lai, Wilson" userId="2840974a-0d84-4886-90a9-9a3ed79f3a48" providerId="ADAL" clId="{9F23B798-9E84-4552-BA63-E776E805C424}" dt="2026-09-23T14:53:35.520" v="15" actId="22"/>
          <ac:picMkLst>
            <pc:docMk/>
            <pc:sldMk cId="0" sldId="262"/>
            <ac:picMk id="4" creationId="{8CEB50B5-065E-5D1C-ACD1-F848FE097404}"/>
          </ac:picMkLst>
        </pc:picChg>
      </pc:sldChg>
      <pc:sldChg chg="addSp delSp mod modNotes">
        <pc:chgData name="Lai, Wilson" userId="2840974a-0d84-4886-90a9-9a3ed79f3a48" providerId="ADAL" clId="{9F23B798-9E84-4552-BA63-E776E805C424}" dt="2026-09-24T04:22:52.692" v="62"/>
        <pc:sldMkLst>
          <pc:docMk/>
          <pc:sldMk cId="0" sldId="263"/>
        </pc:sldMkLst>
        <pc:picChg chg="del">
          <ac:chgData name="Lai, Wilson" userId="2840974a-0d84-4886-90a9-9a3ed79f3a48" providerId="ADAL" clId="{9F23B798-9E84-4552-BA63-E776E805C424}" dt="2026-09-23T14:53:36.861" v="16" actId="21"/>
          <ac:picMkLst>
            <pc:docMk/>
            <pc:sldMk cId="0" sldId="263"/>
            <ac:picMk id="2" creationId="{00000000-0000-0000-0000-000000000000}"/>
          </ac:picMkLst>
        </pc:picChg>
        <pc:picChg chg="add">
          <ac:chgData name="Lai, Wilson" userId="2840974a-0d84-4886-90a9-9a3ed79f3a48" providerId="ADAL" clId="{9F23B798-9E84-4552-BA63-E776E805C424}" dt="2026-09-23T14:53:43.282" v="17" actId="22"/>
          <ac:picMkLst>
            <pc:docMk/>
            <pc:sldMk cId="0" sldId="263"/>
            <ac:picMk id="4" creationId="{6FB392BF-AE9E-A3FD-6AF2-CE7A18808772}"/>
          </ac:picMkLst>
        </pc:picChg>
      </pc:sldChg>
      <pc:sldChg chg="addSp delSp mod modNotes modNotesTx">
        <pc:chgData name="Lai, Wilson" userId="2840974a-0d84-4886-90a9-9a3ed79f3a48" providerId="ADAL" clId="{9F23B798-9E84-4552-BA63-E776E805C424}" dt="2026-09-24T04:22:52.692" v="62"/>
        <pc:sldMkLst>
          <pc:docMk/>
          <pc:sldMk cId="0" sldId="264"/>
        </pc:sldMkLst>
        <pc:picChg chg="del">
          <ac:chgData name="Lai, Wilson" userId="2840974a-0d84-4886-90a9-9a3ed79f3a48" providerId="ADAL" clId="{9F23B798-9E84-4552-BA63-E776E805C424}" dt="2026-09-23T14:53:45.287" v="18" actId="21"/>
          <ac:picMkLst>
            <pc:docMk/>
            <pc:sldMk cId="0" sldId="264"/>
            <ac:picMk id="2" creationId="{00000000-0000-0000-0000-000000000000}"/>
          </ac:picMkLst>
        </pc:picChg>
        <pc:picChg chg="add">
          <ac:chgData name="Lai, Wilson" userId="2840974a-0d84-4886-90a9-9a3ed79f3a48" providerId="ADAL" clId="{9F23B798-9E84-4552-BA63-E776E805C424}" dt="2026-09-23T14:53:53.016" v="19" actId="22"/>
          <ac:picMkLst>
            <pc:docMk/>
            <pc:sldMk cId="0" sldId="264"/>
            <ac:picMk id="4" creationId="{E806A465-ED64-213E-057E-25CEFC3ED659}"/>
          </ac:picMkLst>
        </pc:picChg>
      </pc:sldChg>
      <pc:sldChg chg="addSp delSp mod modNotes">
        <pc:chgData name="Lai, Wilson" userId="2840974a-0d84-4886-90a9-9a3ed79f3a48" providerId="ADAL" clId="{9F23B798-9E84-4552-BA63-E776E805C424}" dt="2026-09-24T04:22:52.692" v="62"/>
        <pc:sldMkLst>
          <pc:docMk/>
          <pc:sldMk cId="0" sldId="265"/>
        </pc:sldMkLst>
        <pc:picChg chg="del">
          <ac:chgData name="Lai, Wilson" userId="2840974a-0d84-4886-90a9-9a3ed79f3a48" providerId="ADAL" clId="{9F23B798-9E84-4552-BA63-E776E805C424}" dt="2026-09-23T14:53:54.241" v="20" actId="21"/>
          <ac:picMkLst>
            <pc:docMk/>
            <pc:sldMk cId="0" sldId="265"/>
            <ac:picMk id="2" creationId="{00000000-0000-0000-0000-000000000000}"/>
          </ac:picMkLst>
        </pc:picChg>
        <pc:picChg chg="add">
          <ac:chgData name="Lai, Wilson" userId="2840974a-0d84-4886-90a9-9a3ed79f3a48" providerId="ADAL" clId="{9F23B798-9E84-4552-BA63-E776E805C424}" dt="2026-09-23T14:54:00.819" v="21" actId="22"/>
          <ac:picMkLst>
            <pc:docMk/>
            <pc:sldMk cId="0" sldId="265"/>
            <ac:picMk id="4" creationId="{4E84F568-E7EF-2FE8-3C8E-954194F45F85}"/>
          </ac:picMkLst>
        </pc:picChg>
      </pc:sldChg>
      <pc:sldChg chg="addSp delSp mod modNotes">
        <pc:chgData name="Lai, Wilson" userId="2840974a-0d84-4886-90a9-9a3ed79f3a48" providerId="ADAL" clId="{9F23B798-9E84-4552-BA63-E776E805C424}" dt="2026-09-24T04:22:38.255" v="61"/>
        <pc:sldMkLst>
          <pc:docMk/>
          <pc:sldMk cId="0" sldId="266"/>
        </pc:sldMkLst>
        <pc:picChg chg="del">
          <ac:chgData name="Lai, Wilson" userId="2840974a-0d84-4886-90a9-9a3ed79f3a48" providerId="ADAL" clId="{9F23B798-9E84-4552-BA63-E776E805C424}" dt="2026-09-23T15:38:48.842" v="33" actId="21"/>
          <ac:picMkLst>
            <pc:docMk/>
            <pc:sldMk cId="0" sldId="266"/>
            <ac:picMk id="2" creationId="{00000000-0000-0000-0000-000000000000}"/>
          </ac:picMkLst>
        </pc:picChg>
        <pc:picChg chg="add">
          <ac:chgData name="Lai, Wilson" userId="2840974a-0d84-4886-90a9-9a3ed79f3a48" providerId="ADAL" clId="{9F23B798-9E84-4552-BA63-E776E805C424}" dt="2026-09-23T15:38:58.330" v="34" actId="22"/>
          <ac:picMkLst>
            <pc:docMk/>
            <pc:sldMk cId="0" sldId="266"/>
            <ac:picMk id="4" creationId="{355EE6B9-329B-1EA2-5E74-476E8D401056}"/>
          </ac:picMkLst>
        </pc:picChg>
      </pc:sldChg>
      <pc:sldChg chg="addSp delSp mod modNotes modNotesTx">
        <pc:chgData name="Lai, Wilson" userId="2840974a-0d84-4886-90a9-9a3ed79f3a48" providerId="ADAL" clId="{9F23B798-9E84-4552-BA63-E776E805C424}" dt="2026-09-24T04:22:52.692" v="62"/>
        <pc:sldMkLst>
          <pc:docMk/>
          <pc:sldMk cId="0" sldId="267"/>
        </pc:sldMkLst>
        <pc:picChg chg="del">
          <ac:chgData name="Lai, Wilson" userId="2840974a-0d84-4886-90a9-9a3ed79f3a48" providerId="ADAL" clId="{9F23B798-9E84-4552-BA63-E776E805C424}" dt="2026-09-23T14:54:04.505" v="22" actId="21"/>
          <ac:picMkLst>
            <pc:docMk/>
            <pc:sldMk cId="0" sldId="267"/>
            <ac:picMk id="2" creationId="{00000000-0000-0000-0000-000000000000}"/>
          </ac:picMkLst>
        </pc:picChg>
        <pc:picChg chg="add">
          <ac:chgData name="Lai, Wilson" userId="2840974a-0d84-4886-90a9-9a3ed79f3a48" providerId="ADAL" clId="{9F23B798-9E84-4552-BA63-E776E805C424}" dt="2026-09-23T14:54:13.255" v="23" actId="22"/>
          <ac:picMkLst>
            <pc:docMk/>
            <pc:sldMk cId="0" sldId="267"/>
            <ac:picMk id="4" creationId="{4DF31BDE-4FB3-9E2F-080C-A7A3DA24D992}"/>
          </ac:picMkLst>
        </pc:picChg>
      </pc:sldChg>
      <pc:sldChg chg="modSp mod modNotes modNotesTx">
        <pc:chgData name="Lai, Wilson" userId="2840974a-0d84-4886-90a9-9a3ed79f3a48" providerId="ADAL" clId="{9F23B798-9E84-4552-BA63-E776E805C424}" dt="2026-09-24T04:22:38.255" v="61"/>
        <pc:sldMkLst>
          <pc:docMk/>
          <pc:sldMk cId="152524844" sldId="268"/>
        </pc:sldMkLst>
        <pc:picChg chg="mod">
          <ac:chgData name="Lai, Wilson" userId="2840974a-0d84-4886-90a9-9a3ed79f3a48" providerId="ADAL" clId="{9F23B798-9E84-4552-BA63-E776E805C424}" dt="2026-09-23T14:53:26.281" v="13" actId="1076"/>
          <ac:picMkLst>
            <pc:docMk/>
            <pc:sldMk cId="152524844" sldId="268"/>
            <ac:picMk id="3" creationId="{EE80EA17-4D83-E11A-733E-B399D23BB27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DF33DA-F38B-4C30-A540-F05B2F369740}"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4249EF-8D7C-4213-A999-41D3DBE0B039}" type="slidenum">
              <a:rPr lang="en-US" smtClean="0"/>
              <a:t>‹#›</a:t>
            </a:fld>
            <a:endParaRPr lang="en-US"/>
          </a:p>
        </p:txBody>
      </p:sp>
    </p:spTree>
    <p:extLst>
      <p:ext uri="{BB962C8B-B14F-4D97-AF65-F5344CB8AC3E}">
        <p14:creationId xmlns:p14="http://schemas.microsoft.com/office/powerpoint/2010/main" val="3530963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Welcome, everyone. Today we are addressing a critical turning point in AI-assisted development: </a:t>
            </a:r>
            <a:r>
              <a:rPr lang="en-US" sz="1200" b="1" kern="1200" dirty="0">
                <a:solidFill>
                  <a:schemeClr val="tx1"/>
                </a:solidFill>
                <a:effectLst/>
                <a:latin typeface="+mn-lt"/>
                <a:ea typeface="+mn-ea"/>
                <a:cs typeface="+mn-cs"/>
              </a:rPr>
              <a:t>Why we stopped trusting AI to write the plan, and how to build resilient agentic workflows.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Over the last year, many engineering teams—including our own—embraced lights-off autonomous coding, believing models could handle both high-level design and code generation.</a:t>
            </a:r>
          </a:p>
          <a:p>
            <a:pPr lvl="0"/>
            <a:r>
              <a:rPr lang="en-US" sz="1200" kern="1200" dirty="0">
                <a:solidFill>
                  <a:schemeClr val="tx1"/>
                </a:solidFill>
                <a:effectLst/>
                <a:latin typeface="+mn-lt"/>
                <a:ea typeface="+mn-ea"/>
                <a:cs typeface="+mn-cs"/>
              </a:rPr>
              <a:t>However, leaving models unattended produces fragile systems, unpredictable output errors (like HTTP 418 or unexpected regressions), and severe technical debt. In fact, production failure rates for unmonitored agentic workflows can exceed 58%. </a:t>
            </a:r>
          </a:p>
          <a:p>
            <a:pPr lvl="0"/>
            <a:r>
              <a:rPr lang="en-US" sz="1200" kern="1200" dirty="0">
                <a:solidFill>
                  <a:schemeClr val="tx1"/>
                </a:solidFill>
                <a:effectLst/>
                <a:latin typeface="+mn-lt"/>
                <a:ea typeface="+mn-ea"/>
                <a:cs typeface="+mn-cs"/>
              </a:rPr>
              <a:t>Today, we’ll break down why unconstrained autonomous planning fails and how to establish a resilient control plane—combining deterministic guardrails, structured validation, and self-healing mechanics—to maintain 99.99% system resilience. </a:t>
            </a:r>
          </a:p>
          <a:p>
            <a:endParaRPr lang="en-US" dirty="0"/>
          </a:p>
          <a:p>
            <a:endParaRPr lang="en-US" dirty="0"/>
          </a:p>
          <a:p>
            <a:endParaRPr lang="en-US" dirty="0"/>
          </a:p>
          <a:p>
            <a:endParaRPr lang="en-US" dirty="0"/>
          </a:p>
          <a:p>
            <a:r>
              <a:rPr lang="en-US" b="1" dirty="0"/>
              <a:t>Dexter Horthy (</a:t>
            </a:r>
            <a:r>
              <a:rPr lang="en-US" b="1" dirty="0" err="1"/>
              <a:t>HumanLayer</a:t>
            </a:r>
            <a:r>
              <a:rPr lang="en-US" b="1" dirty="0"/>
              <a:t>) on Why You Still Review AI Code</a:t>
            </a:r>
          </a:p>
          <a:p>
            <a:r>
              <a:rPr lang="en-US" dirty="0"/>
              <a:t>https://www.youtube.com/watch?v=H_1PygR7kwk</a:t>
            </a:r>
          </a:p>
          <a:p>
            <a:endParaRPr lang="en-US" dirty="0"/>
          </a:p>
          <a:p>
            <a:endParaRPr lang="en-US" dirty="0"/>
          </a:p>
        </p:txBody>
      </p:sp>
      <p:sp>
        <p:nvSpPr>
          <p:cNvPr id="4" name="Slide Number Placeholder 3"/>
          <p:cNvSpPr>
            <a:spLocks noGrp="1"/>
          </p:cNvSpPr>
          <p:nvPr>
            <p:ph type="sldNum" sz="quarter" idx="5"/>
          </p:nvPr>
        </p:nvSpPr>
        <p:spPr/>
        <p:txBody>
          <a:bodyPr/>
          <a:lstStyle/>
          <a:p>
            <a:fld id="{774249EF-8D7C-4213-A999-41D3DBE0B039}" type="slidenum">
              <a:rPr lang="en-US" smtClean="0"/>
              <a:t>1</a:t>
            </a:fld>
            <a:endParaRPr lang="en-US"/>
          </a:p>
        </p:txBody>
      </p:sp>
    </p:spTree>
    <p:extLst>
      <p:ext uri="{BB962C8B-B14F-4D97-AF65-F5344CB8AC3E}">
        <p14:creationId xmlns:p14="http://schemas.microsoft.com/office/powerpoint/2010/main" val="32906056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To understand why we changed course, let’s talk about </a:t>
            </a:r>
            <a:r>
              <a:rPr lang="en-US" sz="1200" b="1" kern="1200" dirty="0">
                <a:solidFill>
                  <a:schemeClr val="tx1"/>
                </a:solidFill>
                <a:effectLst/>
                <a:latin typeface="+mn-lt"/>
                <a:ea typeface="+mn-ea"/>
                <a:cs typeface="+mn-cs"/>
              </a:rPr>
              <a:t>The Lights-Off Experiment.</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When top-tier models launched alongside agent SDKs (like Claude CLI), the promise was rapid shipping with zero human review. We ran an experiment for 4 to 5 months where we trusted AI plans, reviewed high-level spec files, and stopped scrutinizing the raw code diffs. </a:t>
            </a:r>
          </a:p>
          <a:p>
            <a:pPr lvl="0"/>
            <a:r>
              <a:rPr lang="en-US" sz="1200" b="1" kern="1200" dirty="0">
                <a:solidFill>
                  <a:schemeClr val="tx1"/>
                </a:solidFill>
                <a:effectLst/>
                <a:latin typeface="+mn-lt"/>
                <a:ea typeface="+mn-ea"/>
                <a:cs typeface="+mn-cs"/>
              </a:rPr>
              <a:t>Step 1 — Code Drift:</a:t>
            </a:r>
            <a:r>
              <a:rPr lang="en-US" sz="1200" kern="1200" dirty="0">
                <a:solidFill>
                  <a:schemeClr val="tx1"/>
                </a:solidFill>
                <a:effectLst/>
                <a:latin typeface="+mn-lt"/>
                <a:ea typeface="+mn-ea"/>
                <a:cs typeface="+mn-cs"/>
              </a:rPr>
              <a:t> Inevitably, subtle discrepancies emerged between what the AI planned and what it actually implemented in code. </a:t>
            </a:r>
          </a:p>
          <a:p>
            <a:pPr lvl="0"/>
            <a:r>
              <a:rPr lang="en-US" sz="1200" b="1" kern="1200" dirty="0">
                <a:solidFill>
                  <a:schemeClr val="tx1"/>
                </a:solidFill>
                <a:effectLst/>
                <a:latin typeface="+mn-lt"/>
                <a:ea typeface="+mn-ea"/>
                <a:cs typeface="+mn-cs"/>
              </a:rPr>
              <a:t>Step 2 — Cascading Regressions:</a:t>
            </a:r>
            <a:r>
              <a:rPr lang="en-US" sz="1200" kern="1200" dirty="0">
                <a:solidFill>
                  <a:schemeClr val="tx1"/>
                </a:solidFill>
                <a:effectLst/>
                <a:latin typeface="+mn-lt"/>
                <a:ea typeface="+mn-ea"/>
                <a:cs typeface="+mn-cs"/>
              </a:rPr>
              <a:t> Because nobody checked the underlying implementation details, tiny isolated changes began breaking distant, unrelated features across the codebase. </a:t>
            </a:r>
          </a:p>
          <a:p>
            <a:pPr lvl="0"/>
            <a:r>
              <a:rPr lang="en-US" sz="1200" b="1" kern="1200" dirty="0">
                <a:solidFill>
                  <a:schemeClr val="tx1"/>
                </a:solidFill>
                <a:effectLst/>
                <a:latin typeface="+mn-lt"/>
                <a:ea typeface="+mn-ea"/>
                <a:cs typeface="+mn-cs"/>
              </a:rPr>
              <a:t>Step 3 — Total System Failure:</a:t>
            </a:r>
            <a:r>
              <a:rPr lang="en-US" sz="1200" kern="1200" dirty="0">
                <a:solidFill>
                  <a:schemeClr val="tx1"/>
                </a:solidFill>
                <a:effectLst/>
                <a:latin typeface="+mn-lt"/>
                <a:ea typeface="+mn-ea"/>
                <a:cs typeface="+mn-cs"/>
              </a:rPr>
              <a:t> By Month 4, the entire codebase had become so brittle, slow, and tangled that it was practically unusable. </a:t>
            </a:r>
          </a:p>
          <a:p>
            <a:pPr lvl="0"/>
            <a:r>
              <a:rPr lang="en-US" sz="1200" b="1" kern="1200" dirty="0">
                <a:solidFill>
                  <a:schemeClr val="tx1"/>
                </a:solidFill>
                <a:effectLst/>
                <a:latin typeface="+mn-lt"/>
                <a:ea typeface="+mn-ea"/>
                <a:cs typeface="+mn-cs"/>
              </a:rPr>
              <a:t>The Rollback:</a:t>
            </a:r>
            <a:r>
              <a:rPr lang="en-US" sz="1200" kern="1200" dirty="0">
                <a:solidFill>
                  <a:schemeClr val="tx1"/>
                </a:solidFill>
                <a:effectLst/>
                <a:latin typeface="+mn-lt"/>
                <a:ea typeface="+mn-ea"/>
                <a:cs typeface="+mn-cs"/>
              </a:rPr>
              <a:t> Our only option was to throw away the generated codebase and rebuild the product from scratch. In fact, my co-founder spent two solid weeks in VS Code typing out the foundational data architecture by hand—character by character—to ensure structural integrity. </a:t>
            </a:r>
          </a:p>
          <a:p>
            <a:pPr lvl="0"/>
            <a:r>
              <a:rPr lang="en-US" sz="1200" b="1" kern="1200" dirty="0">
                <a:solidFill>
                  <a:schemeClr val="tx1"/>
                </a:solidFill>
                <a:effectLst/>
                <a:latin typeface="+mn-lt"/>
                <a:ea typeface="+mn-ea"/>
                <a:cs typeface="+mn-cs"/>
              </a:rPr>
              <a:t>Takeaway:</a:t>
            </a:r>
            <a:r>
              <a:rPr lang="en-US" sz="1200" kern="1200" dirty="0">
                <a:solidFill>
                  <a:schemeClr val="tx1"/>
                </a:solidFill>
                <a:effectLst/>
                <a:latin typeface="+mn-lt"/>
                <a:ea typeface="+mn-ea"/>
                <a:cs typeface="+mn-cs"/>
              </a:rPr>
              <a:t> Leaving models completely unattended doesn't scale; it leads to compounding tech debt and catastrophic collapse. </a:t>
            </a:r>
          </a:p>
          <a:p>
            <a:endParaRPr lang="en-US" dirty="0"/>
          </a:p>
        </p:txBody>
      </p:sp>
      <p:sp>
        <p:nvSpPr>
          <p:cNvPr id="4" name="Slide Number Placeholder 3"/>
          <p:cNvSpPr>
            <a:spLocks noGrp="1"/>
          </p:cNvSpPr>
          <p:nvPr>
            <p:ph type="sldNum" sz="quarter" idx="5"/>
          </p:nvPr>
        </p:nvSpPr>
        <p:spPr/>
        <p:txBody>
          <a:bodyPr/>
          <a:lstStyle/>
          <a:p>
            <a:fld id="{774249EF-8D7C-4213-A999-41D3DBE0B039}" type="slidenum">
              <a:rPr lang="en-US" smtClean="0"/>
              <a:t>2</a:t>
            </a:fld>
            <a:endParaRPr lang="en-US"/>
          </a:p>
        </p:txBody>
      </p:sp>
    </p:spTree>
    <p:extLst>
      <p:ext uri="{BB962C8B-B14F-4D97-AF65-F5344CB8AC3E}">
        <p14:creationId xmlns:p14="http://schemas.microsoft.com/office/powerpoint/2010/main" val="25501919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Let's analyze the </a:t>
            </a:r>
            <a:r>
              <a:rPr lang="en-US" sz="1200" b="1" kern="1200" dirty="0">
                <a:solidFill>
                  <a:schemeClr val="tx1"/>
                </a:solidFill>
                <a:effectLst/>
                <a:latin typeface="+mn-lt"/>
                <a:ea typeface="+mn-ea"/>
                <a:cs typeface="+mn-cs"/>
              </a:rPr>
              <a:t>hype vs. reality</a:t>
            </a:r>
            <a:r>
              <a:rPr lang="en-US" sz="1200" kern="1200" dirty="0">
                <a:solidFill>
                  <a:schemeClr val="tx1"/>
                </a:solidFill>
                <a:effectLst/>
                <a:latin typeface="+mn-lt"/>
                <a:ea typeface="+mn-ea"/>
                <a:cs typeface="+mn-cs"/>
              </a:rPr>
              <a:t> of autonomous agent compilation. </a:t>
            </a:r>
          </a:p>
          <a:p>
            <a:pPr lvl="0"/>
            <a:r>
              <a:rPr lang="en-US" sz="1200" b="1" kern="1200" dirty="0">
                <a:solidFill>
                  <a:schemeClr val="tx1"/>
                </a:solidFill>
                <a:effectLst/>
                <a:latin typeface="+mn-lt"/>
                <a:ea typeface="+mn-ea"/>
                <a:cs typeface="+mn-cs"/>
              </a:rPr>
              <a:t>The Hype:</a:t>
            </a:r>
            <a:r>
              <a:rPr lang="en-US" sz="1200" kern="1200" dirty="0">
                <a:solidFill>
                  <a:schemeClr val="tx1"/>
                </a:solidFill>
                <a:effectLst/>
                <a:latin typeface="+mn-lt"/>
                <a:ea typeface="+mn-ea"/>
                <a:cs typeface="+mn-cs"/>
              </a:rPr>
              <a:t> Early industry narratives argued that the spec is the new code. The idea was that developers would write a Markdown spec, run it through an agent compiler, produce an executable, check in the spec, and throw away the generated code. </a:t>
            </a:r>
          </a:p>
          <a:p>
            <a:pPr lvl="0"/>
            <a:r>
              <a:rPr lang="en-US" sz="1200" b="1" kern="1200" dirty="0">
                <a:solidFill>
                  <a:schemeClr val="tx1"/>
                </a:solidFill>
                <a:effectLst/>
                <a:latin typeface="+mn-lt"/>
                <a:ea typeface="+mn-ea"/>
                <a:cs typeface="+mn-cs"/>
              </a:rPr>
              <a:t>The Reality:</a:t>
            </a:r>
            <a:r>
              <a:rPr lang="en-US" sz="1200" kern="1200" dirty="0">
                <a:solidFill>
                  <a:schemeClr val="tx1"/>
                </a:solidFill>
                <a:effectLst/>
                <a:latin typeface="+mn-lt"/>
                <a:ea typeface="+mn-ea"/>
                <a:cs typeface="+mn-cs"/>
              </a:rPr>
              <a:t> When you ask models to architect a complete multi-tier system without tight architectural constraints, they over-engineer it. </a:t>
            </a:r>
          </a:p>
          <a:p>
            <a:pPr lvl="0"/>
            <a:r>
              <a:rPr lang="en-US" sz="1200" b="1" kern="1200" dirty="0">
                <a:solidFill>
                  <a:schemeClr val="tx1"/>
                </a:solidFill>
                <a:effectLst/>
                <a:latin typeface="+mn-lt"/>
                <a:ea typeface="+mn-ea"/>
                <a:cs typeface="+mn-cs"/>
              </a:rPr>
              <a:t>Case Study in Over-Architecture:</a:t>
            </a:r>
            <a:r>
              <a:rPr lang="en-US" sz="1200" kern="1200" dirty="0">
                <a:solidFill>
                  <a:schemeClr val="tx1"/>
                </a:solidFill>
                <a:effectLst/>
                <a:latin typeface="+mn-lt"/>
                <a:ea typeface="+mn-ea"/>
                <a:cs typeface="+mn-cs"/>
              </a:rPr>
              <a:t> In our own lights-off experiment, the models built a chaotic system consisting of 6 inter-dependent services: a Desktop App talking via Rust Unix Sockets to a Golang Daemon, which managed Claude Sessions, which spun up MCP servers, connected via SQLite databases, and looped back through sockets to the UI. </a:t>
            </a:r>
          </a:p>
          <a:p>
            <a:pPr lvl="0"/>
            <a:r>
              <a:rPr lang="en-US" sz="1200" b="1" kern="1200" dirty="0">
                <a:solidFill>
                  <a:schemeClr val="tx1"/>
                </a:solidFill>
                <a:effectLst/>
                <a:latin typeface="+mn-lt"/>
                <a:ea typeface="+mn-ea"/>
                <a:cs typeface="+mn-cs"/>
              </a:rPr>
              <a:t>The Lesson:</a:t>
            </a:r>
            <a:r>
              <a:rPr lang="en-US" sz="1200" kern="1200" dirty="0">
                <a:solidFill>
                  <a:schemeClr val="tx1"/>
                </a:solidFill>
                <a:effectLst/>
                <a:latin typeface="+mn-lt"/>
                <a:ea typeface="+mn-ea"/>
                <a:cs typeface="+mn-cs"/>
              </a:rPr>
              <a:t> Models left unattended do </a:t>
            </a:r>
            <a:r>
              <a:rPr lang="en-US" sz="1200" i="1" kern="1200" dirty="0">
                <a:solidFill>
                  <a:schemeClr val="tx1"/>
                </a:solidFill>
                <a:effectLst/>
                <a:latin typeface="+mn-lt"/>
                <a:ea typeface="+mn-ea"/>
                <a:cs typeface="+mn-cs"/>
              </a:rPr>
              <a:t>not</a:t>
            </a:r>
            <a:r>
              <a:rPr lang="en-US" sz="1200" kern="1200" dirty="0">
                <a:solidFill>
                  <a:schemeClr val="tx1"/>
                </a:solidFill>
                <a:effectLst/>
                <a:latin typeface="+mn-lt"/>
                <a:ea typeface="+mn-ea"/>
                <a:cs typeface="+mn-cs"/>
              </a:rPr>
              <a:t> design for simplicity. They construct systems so clever and convoluted that neither the human team nor the model itself can effectively debug them when failures happen. </a:t>
            </a:r>
          </a:p>
          <a:p>
            <a:endParaRPr lang="en-US" dirty="0"/>
          </a:p>
        </p:txBody>
      </p:sp>
      <p:sp>
        <p:nvSpPr>
          <p:cNvPr id="4" name="Slide Number Placeholder 3"/>
          <p:cNvSpPr>
            <a:spLocks noGrp="1"/>
          </p:cNvSpPr>
          <p:nvPr>
            <p:ph type="sldNum" sz="quarter" idx="5"/>
          </p:nvPr>
        </p:nvSpPr>
        <p:spPr/>
        <p:txBody>
          <a:bodyPr/>
          <a:lstStyle/>
          <a:p>
            <a:fld id="{774249EF-8D7C-4213-A999-41D3DBE0B039}" type="slidenum">
              <a:rPr lang="en-US" smtClean="0"/>
              <a:t>3</a:t>
            </a:fld>
            <a:endParaRPr lang="en-US"/>
          </a:p>
        </p:txBody>
      </p:sp>
    </p:spTree>
    <p:extLst>
      <p:ext uri="{BB962C8B-B14F-4D97-AF65-F5344CB8AC3E}">
        <p14:creationId xmlns:p14="http://schemas.microsoft.com/office/powerpoint/2010/main" val="26642459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Why are today’s LLMs brilliant at isolated feature requests, yet consistently bad at system maintainability? </a:t>
            </a:r>
          </a:p>
          <a:p>
            <a:pPr lvl="0"/>
            <a:r>
              <a:rPr lang="en-US" sz="1200" b="1" kern="1200" dirty="0">
                <a:solidFill>
                  <a:schemeClr val="tx1"/>
                </a:solidFill>
                <a:effectLst/>
                <a:latin typeface="+mn-lt"/>
                <a:ea typeface="+mn-ea"/>
                <a:cs typeface="+mn-cs"/>
              </a:rPr>
              <a:t>The Oracle Problem:</a:t>
            </a:r>
            <a:r>
              <a:rPr lang="en-US" sz="1200" kern="1200" dirty="0">
                <a:solidFill>
                  <a:schemeClr val="tx1"/>
                </a:solidFill>
                <a:effectLst/>
                <a:latin typeface="+mn-lt"/>
                <a:ea typeface="+mn-ea"/>
                <a:cs typeface="+mn-cs"/>
              </a:rPr>
              <a:t> Reinforcement Learning (RL) requires a Fast Oracle—a real-time feedback mechanism to evaluate whether an output is correct.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UI bugs, linter errors, or failing unit tests provide </a:t>
            </a:r>
            <a:r>
              <a:rPr lang="en-US" sz="1200" b="1" kern="1200" dirty="0">
                <a:solidFill>
                  <a:schemeClr val="tx1"/>
                </a:solidFill>
                <a:effectLst/>
                <a:latin typeface="+mn-lt"/>
                <a:ea typeface="+mn-ea"/>
                <a:cs typeface="+mn-cs"/>
              </a:rPr>
              <a:t>instant feedback</a:t>
            </a:r>
            <a:r>
              <a:rPr lang="en-US" sz="1200" kern="1200" dirty="0">
                <a:solidFill>
                  <a:schemeClr val="tx1"/>
                </a:solidFill>
                <a:effectLst/>
                <a:latin typeface="+mn-lt"/>
                <a:ea typeface="+mn-ea"/>
                <a:cs typeface="+mn-cs"/>
              </a:rPr>
              <a:t>, allowing rapid RL iteration.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Maintainability has NO fast oracle.</a:t>
            </a:r>
            <a:r>
              <a:rPr lang="en-US" sz="1200" kern="1200" dirty="0">
                <a:solidFill>
                  <a:schemeClr val="tx1"/>
                </a:solidFill>
                <a:effectLst/>
                <a:latin typeface="+mn-lt"/>
                <a:ea typeface="+mn-ea"/>
                <a:cs typeface="+mn-cs"/>
              </a:rPr>
              <a:t> You don't realize a system architecture is unmaintainable until 2 or 3 months down the line when new features become impossible to add. </a:t>
            </a:r>
          </a:p>
          <a:p>
            <a:pPr lvl="0"/>
            <a:r>
              <a:rPr lang="en-US" sz="1200" b="1" kern="1200" dirty="0">
                <a:solidFill>
                  <a:schemeClr val="tx1"/>
                </a:solidFill>
                <a:effectLst/>
                <a:latin typeface="+mn-lt"/>
                <a:ea typeface="+mn-ea"/>
                <a:cs typeface="+mn-cs"/>
              </a:rPr>
              <a:t>Slop Code Bench Data:</a:t>
            </a:r>
            <a:r>
              <a:rPr lang="en-US" sz="1200" kern="1200" dirty="0">
                <a:solidFill>
                  <a:schemeClr val="tx1"/>
                </a:solidFill>
                <a:effectLst/>
                <a:latin typeface="+mn-lt"/>
                <a:ea typeface="+mn-ea"/>
                <a:cs typeface="+mn-cs"/>
              </a:rPr>
              <a:t> Research from labs (e.g., University of Wisconsin benchmarks) measures how well models maintain a codebase across successive tasks.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Even frontier models show severe caps in autonomous maintainability quality: GPT 5.5 scored 14.8%, while newer models like Astra reached only ~16.3%. </a:t>
            </a:r>
          </a:p>
          <a:p>
            <a:pPr lvl="0"/>
            <a:r>
              <a:rPr lang="en-US" sz="1200" b="1" kern="1200" dirty="0">
                <a:solidFill>
                  <a:schemeClr val="tx1"/>
                </a:solidFill>
                <a:effectLst/>
                <a:latin typeface="+mn-lt"/>
                <a:ea typeface="+mn-ea"/>
                <a:cs typeface="+mn-cs"/>
              </a:rPr>
              <a:t>Takeaway:</a:t>
            </a:r>
            <a:r>
              <a:rPr lang="en-US" sz="1200" kern="1200" dirty="0">
                <a:solidFill>
                  <a:schemeClr val="tx1"/>
                </a:solidFill>
                <a:effectLst/>
                <a:latin typeface="+mn-lt"/>
                <a:ea typeface="+mn-ea"/>
                <a:cs typeface="+mn-cs"/>
              </a:rPr>
              <a:t> Even as models advance toward GPT-6/7 tiers, raw model intelligence alone will not solve software maintainability without structural human-in-the-loop guidance. </a:t>
            </a:r>
          </a:p>
          <a:p>
            <a:endParaRPr lang="en-US" dirty="0"/>
          </a:p>
        </p:txBody>
      </p:sp>
      <p:sp>
        <p:nvSpPr>
          <p:cNvPr id="4" name="Slide Number Placeholder 3"/>
          <p:cNvSpPr>
            <a:spLocks noGrp="1"/>
          </p:cNvSpPr>
          <p:nvPr>
            <p:ph type="sldNum" sz="quarter" idx="5"/>
          </p:nvPr>
        </p:nvSpPr>
        <p:spPr/>
        <p:txBody>
          <a:bodyPr/>
          <a:lstStyle/>
          <a:p>
            <a:fld id="{774249EF-8D7C-4213-A999-41D3DBE0B039}" type="slidenum">
              <a:rPr lang="en-US" smtClean="0"/>
              <a:t>4</a:t>
            </a:fld>
            <a:endParaRPr lang="en-US"/>
          </a:p>
        </p:txBody>
      </p:sp>
    </p:spTree>
    <p:extLst>
      <p:ext uri="{BB962C8B-B14F-4D97-AF65-F5344CB8AC3E}">
        <p14:creationId xmlns:p14="http://schemas.microsoft.com/office/powerpoint/2010/main" val="7900279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Paradox (Toxic Context Loop):</a:t>
            </a:r>
            <a:r>
              <a:rPr lang="en-US" sz="1200" kern="1200" dirty="0">
                <a:solidFill>
                  <a:schemeClr val="tx1"/>
                </a:solidFill>
                <a:effectLst/>
                <a:latin typeface="+mn-lt"/>
                <a:ea typeface="+mn-ea"/>
                <a:cs typeface="+mn-cs"/>
              </a:rPr>
              <a:t> In a physical automobile factory, if a defective car rolls off the line, only that buyer suffers. But in a Software Factory, a bad feature pushed into the codebase poisons the </a:t>
            </a:r>
            <a:r>
              <a:rPr lang="en-US" sz="1200" b="1" kern="1200" dirty="0">
                <a:solidFill>
                  <a:schemeClr val="tx1"/>
                </a:solidFill>
                <a:effectLst/>
                <a:latin typeface="+mn-lt"/>
                <a:ea typeface="+mn-ea"/>
                <a:cs typeface="+mn-cs"/>
              </a:rPr>
              <a:t>Agent Context Window</a:t>
            </a:r>
            <a:r>
              <a:rPr lang="en-US" sz="1200" kern="1200" dirty="0">
                <a:solidFill>
                  <a:schemeClr val="tx1"/>
                </a:solidFill>
                <a:effectLst/>
                <a:latin typeface="+mn-lt"/>
                <a:ea typeface="+mn-ea"/>
                <a:cs typeface="+mn-cs"/>
              </a:rPr>
              <a:t>. Future model inference sees the slop code, mimics bad architectural patterns, and degrades every future feature built on top of it. Technical debt in the AI era is </a:t>
            </a:r>
            <a:r>
              <a:rPr lang="en-US" sz="1200" i="1" kern="1200" dirty="0">
                <a:solidFill>
                  <a:schemeClr val="tx1"/>
                </a:solidFill>
                <a:effectLst/>
                <a:latin typeface="+mn-lt"/>
                <a:ea typeface="+mn-ea"/>
                <a:cs typeface="+mn-cs"/>
              </a:rPr>
              <a:t>not</a:t>
            </a:r>
            <a:r>
              <a:rPr lang="en-US" sz="1200" kern="1200" dirty="0">
                <a:solidFill>
                  <a:schemeClr val="tx1"/>
                </a:solidFill>
                <a:effectLst/>
                <a:latin typeface="+mn-lt"/>
                <a:ea typeface="+mn-ea"/>
                <a:cs typeface="+mn-cs"/>
              </a:rPr>
              <a:t> deflationary. </a:t>
            </a:r>
          </a:p>
          <a:p>
            <a:pPr lvl="0"/>
            <a:r>
              <a:rPr lang="en-US" sz="1200" b="1" kern="1200" dirty="0">
                <a:solidFill>
                  <a:schemeClr val="tx1"/>
                </a:solidFill>
                <a:effectLst/>
                <a:latin typeface="+mn-lt"/>
                <a:ea typeface="+mn-ea"/>
                <a:cs typeface="+mn-cs"/>
              </a:rPr>
              <a:t>The Expected Pain Curve (Upfront Planning Effort vs. Rework):</a:t>
            </a:r>
            <a:r>
              <a:rPr lang="en-US" sz="1200" kern="1200" dirty="0">
                <a:solidFill>
                  <a:schemeClr val="tx1"/>
                </a:solidFill>
                <a:effectLst/>
                <a:latin typeface="+mn-lt"/>
                <a:ea typeface="+mn-ea"/>
                <a:cs typeface="+mn-cs"/>
              </a:rPr>
              <a:t> How do we navigate planning in the AI era? </a:t>
            </a:r>
          </a:p>
          <a:p>
            <a:pPr marL="228600" lvl="0" indent="-228600">
              <a:buFont typeface="+mj-lt"/>
              <a:buAutoNum type="arabicPeriod"/>
            </a:pPr>
            <a:r>
              <a:rPr lang="en-US" sz="1200" b="1" kern="1200" dirty="0">
                <a:solidFill>
                  <a:schemeClr val="tx1"/>
                </a:solidFill>
                <a:effectLst/>
                <a:latin typeface="+mn-lt"/>
                <a:ea typeface="+mn-ea"/>
                <a:cs typeface="+mn-cs"/>
              </a:rPr>
              <a:t>The YOLO Prompt (Low Effort, High Pain):</a:t>
            </a:r>
            <a:r>
              <a:rPr lang="en-US" sz="1200" kern="1200" dirty="0">
                <a:solidFill>
                  <a:schemeClr val="tx1"/>
                </a:solidFill>
                <a:effectLst/>
                <a:latin typeface="+mn-lt"/>
                <a:ea typeface="+mn-ea"/>
                <a:cs typeface="+mn-cs"/>
              </a:rPr>
              <a:t> Pushing a 2-sentence prompt directly to code without planning yields a ~50% chance of massive rework. </a:t>
            </a:r>
          </a:p>
          <a:p>
            <a:pPr marL="228600" lvl="0" indent="-228600">
              <a:buFont typeface="+mj-lt"/>
              <a:buAutoNum type="arabicPeriod"/>
            </a:pPr>
            <a:r>
              <a:rPr lang="en-US" sz="1200" b="1" kern="1200" dirty="0">
                <a:solidFill>
                  <a:schemeClr val="tx1"/>
                </a:solidFill>
                <a:effectLst/>
                <a:latin typeface="+mn-lt"/>
                <a:ea typeface="+mn-ea"/>
                <a:cs typeface="+mn-cs"/>
              </a:rPr>
              <a:t>AI-Assisted Spec (The Sweet Spot):</a:t>
            </a:r>
            <a:r>
              <a:rPr lang="en-US" sz="1200" kern="1200" dirty="0">
                <a:solidFill>
                  <a:schemeClr val="tx1"/>
                </a:solidFill>
                <a:effectLst/>
                <a:latin typeface="+mn-lt"/>
                <a:ea typeface="+mn-ea"/>
                <a:cs typeface="+mn-cs"/>
              </a:rPr>
              <a:t> Spending moderate upfront effort on detailed, AI-assisted specs slices off 50% of bad outcomes, offering the maximum leverage. </a:t>
            </a:r>
          </a:p>
          <a:p>
            <a:pPr marL="228600" lvl="0" indent="-228600">
              <a:buFont typeface="+mj-lt"/>
              <a:buAutoNum type="arabicPeriod"/>
            </a:pPr>
            <a:r>
              <a:rPr lang="en-US" sz="1200" b="1" kern="1200" dirty="0">
                <a:solidFill>
                  <a:schemeClr val="tx1"/>
                </a:solidFill>
                <a:effectLst/>
                <a:latin typeface="+mn-lt"/>
                <a:ea typeface="+mn-ea"/>
                <a:cs typeface="+mn-cs"/>
              </a:rPr>
              <a:t>Hand-written Code (High Effort, Zero Agent Error):</a:t>
            </a:r>
            <a:r>
              <a:rPr lang="en-US" sz="1200" kern="1200" dirty="0">
                <a:solidFill>
                  <a:schemeClr val="tx1"/>
                </a:solidFill>
                <a:effectLst/>
                <a:latin typeface="+mn-lt"/>
                <a:ea typeface="+mn-ea"/>
                <a:cs typeface="+mn-cs"/>
              </a:rPr>
              <a:t> Typing every line manually yields 0% agent error but carries maximum human time cost. </a:t>
            </a:r>
          </a:p>
          <a:p>
            <a:endParaRPr lang="en-US" dirty="0"/>
          </a:p>
        </p:txBody>
      </p:sp>
      <p:sp>
        <p:nvSpPr>
          <p:cNvPr id="4" name="Slide Number Placeholder 3"/>
          <p:cNvSpPr>
            <a:spLocks noGrp="1"/>
          </p:cNvSpPr>
          <p:nvPr>
            <p:ph type="sldNum" sz="quarter" idx="5"/>
          </p:nvPr>
        </p:nvSpPr>
        <p:spPr/>
        <p:txBody>
          <a:bodyPr/>
          <a:lstStyle/>
          <a:p>
            <a:fld id="{774249EF-8D7C-4213-A999-41D3DBE0B039}" type="slidenum">
              <a:rPr lang="en-US" smtClean="0"/>
              <a:t>5</a:t>
            </a:fld>
            <a:endParaRPr lang="en-US"/>
          </a:p>
        </p:txBody>
      </p:sp>
    </p:spTree>
    <p:extLst>
      <p:ext uri="{BB962C8B-B14F-4D97-AF65-F5344CB8AC3E}">
        <p14:creationId xmlns:p14="http://schemas.microsoft.com/office/powerpoint/2010/main" val="3381747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Effective planning isn't binary (100% human vs. 100% AI); it operates on a </a:t>
            </a:r>
            <a:r>
              <a:rPr lang="en-US" sz="1200" b="1" kern="1200" dirty="0">
                <a:solidFill>
                  <a:schemeClr val="tx1"/>
                </a:solidFill>
                <a:effectLst/>
                <a:latin typeface="+mn-lt"/>
                <a:ea typeface="+mn-ea"/>
                <a:cs typeface="+mn-cs"/>
              </a:rPr>
              <a:t>Context Slider</a:t>
            </a:r>
            <a:r>
              <a:rPr lang="en-US" sz="1200" kern="1200" dirty="0">
                <a:solidFill>
                  <a:schemeClr val="tx1"/>
                </a:solidFill>
                <a:effectLst/>
                <a:latin typeface="+mn-lt"/>
                <a:ea typeface="+mn-ea"/>
                <a:cs typeface="+mn-cs"/>
              </a:rPr>
              <a:t> between High Determinism and High Adaptability. </a:t>
            </a:r>
          </a:p>
          <a:p>
            <a:pPr lvl="0"/>
            <a:r>
              <a:rPr lang="en-US" sz="1200" b="1" kern="1200" dirty="0">
                <a:solidFill>
                  <a:schemeClr val="tx1"/>
                </a:solidFill>
                <a:effectLst/>
                <a:latin typeface="+mn-lt"/>
                <a:ea typeface="+mn-ea"/>
                <a:cs typeface="+mn-cs"/>
              </a:rPr>
              <a:t>High Determinism (Lock the Architecture):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Includes Database Schemas, Data Architecture, and Security Boundaries.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These must be strictly defined by humans or verified specs. Agent mistakes here require catastrophic, full-system rebuilds. </a:t>
            </a:r>
          </a:p>
          <a:p>
            <a:pPr lvl="0"/>
            <a:r>
              <a:rPr lang="en-US" sz="1200" b="1" kern="1200" dirty="0">
                <a:solidFill>
                  <a:schemeClr val="tx1"/>
                </a:solidFill>
                <a:effectLst/>
                <a:latin typeface="+mn-lt"/>
                <a:ea typeface="+mn-ea"/>
                <a:cs typeface="+mn-cs"/>
              </a:rPr>
              <a:t>High Adaptability (Delegate to the Agent):</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Includes UI Layouts, Button Colors, and Minor Utility Functions.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Delegate these entirely. Agent errors here cost almost nothing—they can be fixed with a single follow-up prompt. </a:t>
            </a:r>
          </a:p>
          <a:p>
            <a:pPr lvl="0"/>
            <a:r>
              <a:rPr lang="en-US" sz="1200" b="1" kern="1200" dirty="0">
                <a:solidFill>
                  <a:schemeClr val="tx1"/>
                </a:solidFill>
                <a:effectLst/>
                <a:latin typeface="+mn-lt"/>
                <a:ea typeface="+mn-ea"/>
                <a:cs typeface="+mn-cs"/>
              </a:rPr>
              <a:t>Golden Rule:</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Never argue with a model over a button color. Never let a model guess your database schema.</a:t>
            </a:r>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5"/>
          </p:nvPr>
        </p:nvSpPr>
        <p:spPr/>
        <p:txBody>
          <a:bodyPr/>
          <a:lstStyle/>
          <a:p>
            <a:fld id="{774249EF-8D7C-4213-A999-41D3DBE0B039}" type="slidenum">
              <a:rPr lang="en-US" smtClean="0"/>
              <a:t>6</a:t>
            </a:fld>
            <a:endParaRPr lang="en-US"/>
          </a:p>
        </p:txBody>
      </p:sp>
    </p:spTree>
    <p:extLst>
      <p:ext uri="{BB962C8B-B14F-4D97-AF65-F5344CB8AC3E}">
        <p14:creationId xmlns:p14="http://schemas.microsoft.com/office/powerpoint/2010/main" val="26426996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Architecture of Attention:</a:t>
            </a:r>
            <a:r>
              <a:rPr lang="en-US" sz="1200" kern="1200" dirty="0">
                <a:solidFill>
                  <a:schemeClr val="tx1"/>
                </a:solidFill>
                <a:effectLst/>
                <a:latin typeface="+mn-lt"/>
                <a:ea typeface="+mn-ea"/>
                <a:cs typeface="+mn-cs"/>
              </a:rPr>
              <a:t> Transformer-based LLMs operate on mathematical principles of attention. Counterintuitively, </a:t>
            </a:r>
            <a:r>
              <a:rPr lang="en-US" sz="1200" b="1" kern="1200" dirty="0">
                <a:solidFill>
                  <a:schemeClr val="tx1"/>
                </a:solidFill>
                <a:effectLst/>
                <a:latin typeface="+mn-lt"/>
                <a:ea typeface="+mn-ea"/>
                <a:cs typeface="+mn-cs"/>
              </a:rPr>
              <a:t>less context yields higher logic quality</a:t>
            </a:r>
            <a:r>
              <a:rPr lang="en-US" sz="1200" kern="1200" dirty="0">
                <a:solidFill>
                  <a:schemeClr val="tx1"/>
                </a:solidFill>
                <a:effectLst/>
                <a:latin typeface="+mn-lt"/>
                <a:ea typeface="+mn-ea"/>
                <a:cs typeface="+mn-cs"/>
              </a:rPr>
              <a:t>. Dumping an entire repository into the context window degrades model reasoning. </a:t>
            </a:r>
          </a:p>
          <a:p>
            <a:pPr lvl="0"/>
            <a:r>
              <a:rPr lang="en-US" sz="1200" b="1" kern="1200" dirty="0">
                <a:solidFill>
                  <a:schemeClr val="tx1"/>
                </a:solidFill>
                <a:effectLst/>
                <a:latin typeface="+mn-lt"/>
                <a:ea typeface="+mn-ea"/>
                <a:cs typeface="+mn-cs"/>
              </a:rPr>
              <a:t>The Dumb Zone (&gt;100k tokens):</a:t>
            </a:r>
            <a:r>
              <a:rPr lang="en-US" sz="1200" kern="1200" dirty="0">
                <a:solidFill>
                  <a:schemeClr val="tx1"/>
                </a:solidFill>
                <a:effectLst/>
                <a:latin typeface="+mn-lt"/>
                <a:ea typeface="+mn-ea"/>
                <a:cs typeface="+mn-cs"/>
              </a:rPr>
              <a:t> There is a mathematical threshold where feeding too much context into an agent causes its performance to drop sharply. When everything is in focus, nothing is in focus. </a:t>
            </a:r>
          </a:p>
          <a:p>
            <a:pPr lvl="0"/>
            <a:r>
              <a:rPr lang="en-US" sz="1200" b="1" kern="1200" dirty="0">
                <a:solidFill>
                  <a:schemeClr val="tx1"/>
                </a:solidFill>
                <a:effectLst/>
                <a:latin typeface="+mn-lt"/>
                <a:ea typeface="+mn-ea"/>
                <a:cs typeface="+mn-cs"/>
              </a:rPr>
              <a:t>Context Engineering Goal:</a:t>
            </a:r>
            <a:r>
              <a:rPr lang="en-US" sz="1200" kern="1200" dirty="0">
                <a:solidFill>
                  <a:schemeClr val="tx1"/>
                </a:solidFill>
                <a:effectLst/>
                <a:latin typeface="+mn-lt"/>
                <a:ea typeface="+mn-ea"/>
                <a:cs typeface="+mn-cs"/>
              </a:rPr>
              <a:t> Context engineering is the art of deciding exactly what </a:t>
            </a:r>
            <a:r>
              <a:rPr lang="en-US" sz="1200" b="1" kern="1200" dirty="0">
                <a:solidFill>
                  <a:schemeClr val="tx1"/>
                </a:solidFill>
                <a:effectLst/>
                <a:latin typeface="+mn-lt"/>
                <a:ea typeface="+mn-ea"/>
                <a:cs typeface="+mn-cs"/>
              </a:rPr>
              <a:t>NOT</a:t>
            </a:r>
            <a:r>
              <a:rPr lang="en-US" sz="1200" kern="1200" dirty="0">
                <a:solidFill>
                  <a:schemeClr val="tx1"/>
                </a:solidFill>
                <a:effectLst/>
                <a:latin typeface="+mn-lt"/>
                <a:ea typeface="+mn-ea"/>
                <a:cs typeface="+mn-cs"/>
              </a:rPr>
              <a:t> to show the agent. </a:t>
            </a:r>
          </a:p>
          <a:p>
            <a:pPr lvl="0"/>
            <a:r>
              <a:rPr lang="en-US" sz="1200" kern="1200" dirty="0">
                <a:solidFill>
                  <a:schemeClr val="tx1"/>
                </a:solidFill>
                <a:effectLst/>
                <a:latin typeface="+mn-lt"/>
                <a:ea typeface="+mn-ea"/>
                <a:cs typeface="+mn-cs"/>
              </a:rPr>
              <a:t>Keep the inner core focused on </a:t>
            </a:r>
            <a:r>
              <a:rPr lang="en-US" sz="1200" b="1" kern="1200" dirty="0">
                <a:solidFill>
                  <a:schemeClr val="tx1"/>
                </a:solidFill>
                <a:effectLst/>
                <a:latin typeface="+mn-lt"/>
                <a:ea typeface="+mn-ea"/>
                <a:cs typeface="+mn-cs"/>
              </a:rPr>
              <a:t>High Signal / High Focus</a:t>
            </a:r>
            <a:r>
              <a:rPr lang="en-US" sz="1200" kern="1200" dirty="0">
                <a:solidFill>
                  <a:schemeClr val="tx1"/>
                </a:solidFill>
                <a:effectLst/>
                <a:latin typeface="+mn-lt"/>
                <a:ea typeface="+mn-ea"/>
                <a:cs typeface="+mn-cs"/>
              </a:rPr>
              <a:t>: explicitly curated context, targeted skills, and precise workflows tailored only to the active task. </a:t>
            </a:r>
          </a:p>
          <a:p>
            <a:endParaRPr lang="en-US" dirty="0"/>
          </a:p>
        </p:txBody>
      </p:sp>
      <p:sp>
        <p:nvSpPr>
          <p:cNvPr id="4" name="Slide Number Placeholder 3"/>
          <p:cNvSpPr>
            <a:spLocks noGrp="1"/>
          </p:cNvSpPr>
          <p:nvPr>
            <p:ph type="sldNum" sz="quarter" idx="5"/>
          </p:nvPr>
        </p:nvSpPr>
        <p:spPr/>
        <p:txBody>
          <a:bodyPr/>
          <a:lstStyle/>
          <a:p>
            <a:fld id="{774249EF-8D7C-4213-A999-41D3DBE0B039}" type="slidenum">
              <a:rPr lang="en-US" smtClean="0"/>
              <a:t>7</a:t>
            </a:fld>
            <a:endParaRPr lang="en-US"/>
          </a:p>
        </p:txBody>
      </p:sp>
    </p:spTree>
    <p:extLst>
      <p:ext uri="{BB962C8B-B14F-4D97-AF65-F5344CB8AC3E}">
        <p14:creationId xmlns:p14="http://schemas.microsoft.com/office/powerpoint/2010/main" val="39118632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A common phrase in engineering leadership today is that </a:t>
            </a:r>
            <a:r>
              <a:rPr lang="en-US" sz="1200" i="1" kern="1200" dirty="0">
                <a:solidFill>
                  <a:schemeClr val="tx1"/>
                </a:solidFill>
                <a:effectLst/>
                <a:latin typeface="+mn-lt"/>
                <a:ea typeface="+mn-ea"/>
                <a:cs typeface="+mn-cs"/>
              </a:rPr>
              <a:t>Taste is the new moat.</a:t>
            </a:r>
            <a:r>
              <a:rPr lang="en-US" sz="1200" kern="1200" dirty="0">
                <a:solidFill>
                  <a:schemeClr val="tx1"/>
                </a:solidFill>
                <a:effectLst/>
                <a:latin typeface="+mn-lt"/>
                <a:ea typeface="+mn-ea"/>
                <a:cs typeface="+mn-cs"/>
              </a:rPr>
              <a:t> But what is taste? </a:t>
            </a:r>
            <a:r>
              <a:rPr lang="en-US" sz="1200" b="1" kern="1200" dirty="0">
                <a:solidFill>
                  <a:schemeClr val="tx1"/>
                </a:solidFill>
                <a:effectLst/>
                <a:latin typeface="+mn-lt"/>
                <a:ea typeface="+mn-ea"/>
                <a:cs typeface="+mn-cs"/>
              </a:rPr>
              <a:t>Taste is simply a set of team preferences you haven't written down yet</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To prevent AI from generating unmaintainable code, engineering organizations must codify their unwritten rules into 3 operational buckets: </a:t>
            </a:r>
          </a:p>
          <a:p>
            <a:pPr marL="228600" lvl="0" indent="-228600">
              <a:buFont typeface="+mj-lt"/>
              <a:buAutoNum type="arabicPeriod"/>
            </a:pPr>
            <a:r>
              <a:rPr lang="en-US" sz="1200" b="1" kern="1200" dirty="0">
                <a:solidFill>
                  <a:schemeClr val="tx1"/>
                </a:solidFill>
                <a:effectLst/>
                <a:latin typeface="+mn-lt"/>
                <a:ea typeface="+mn-ea"/>
                <a:cs typeface="+mn-cs"/>
              </a:rPr>
              <a:t>SPECS (Product Mechanics):</a:t>
            </a:r>
            <a:r>
              <a:rPr lang="en-US" sz="1200" kern="1200" dirty="0">
                <a:solidFill>
                  <a:schemeClr val="tx1"/>
                </a:solidFill>
                <a:effectLst/>
                <a:latin typeface="+mn-lt"/>
                <a:ea typeface="+mn-ea"/>
                <a:cs typeface="+mn-cs"/>
              </a:rPr>
              <a:t> How the product works, feature requirements, and API signatures. </a:t>
            </a:r>
          </a:p>
          <a:p>
            <a:pPr marL="228600" lvl="0" indent="-228600">
              <a:buFont typeface="+mj-lt"/>
              <a:buAutoNum type="arabicPeriod"/>
            </a:pPr>
            <a:r>
              <a:rPr lang="en-US" sz="1200" b="1" kern="1200" dirty="0">
                <a:solidFill>
                  <a:schemeClr val="tx1"/>
                </a:solidFill>
                <a:effectLst/>
                <a:latin typeface="+mn-lt"/>
                <a:ea typeface="+mn-ea"/>
                <a:cs typeface="+mn-cs"/>
              </a:rPr>
              <a:t>WORKFLOWS (Processes):</a:t>
            </a:r>
            <a:r>
              <a:rPr lang="en-US" sz="1200" kern="1200" dirty="0">
                <a:solidFill>
                  <a:schemeClr val="tx1"/>
                </a:solidFill>
                <a:effectLst/>
                <a:latin typeface="+mn-lt"/>
                <a:ea typeface="+mn-ea"/>
                <a:cs typeface="+mn-cs"/>
              </a:rPr>
              <a:t> Internal CI/CD steps, deployment procedures, and execution steps. </a:t>
            </a:r>
          </a:p>
          <a:p>
            <a:pPr marL="228600" lvl="0" indent="-228600">
              <a:buFont typeface="+mj-lt"/>
              <a:buAutoNum type="arabicPeriod"/>
            </a:pPr>
            <a:r>
              <a:rPr lang="en-US" sz="1200" b="1" kern="1200" dirty="0">
                <a:solidFill>
                  <a:schemeClr val="tx1"/>
                </a:solidFill>
                <a:effectLst/>
                <a:latin typeface="+mn-lt"/>
                <a:ea typeface="+mn-ea"/>
                <a:cs typeface="+mn-cs"/>
              </a:rPr>
              <a:t>TASTE &amp; OPINIONS (The Unwritten Rules):</a:t>
            </a:r>
            <a:r>
              <a:rPr lang="en-US" sz="1200" kern="1200" dirty="0">
                <a:solidFill>
                  <a:schemeClr val="tx1"/>
                </a:solidFill>
                <a:effectLst/>
                <a:latin typeface="+mn-lt"/>
                <a:ea typeface="+mn-ea"/>
                <a:cs typeface="+mn-cs"/>
              </a:rPr>
              <a:t> Security policies, architectural trade-offs, and design conventions. </a:t>
            </a:r>
          </a:p>
          <a:p>
            <a:pPr lvl="0"/>
            <a:r>
              <a:rPr lang="en-US" sz="1200" b="1" kern="1200" dirty="0">
                <a:solidFill>
                  <a:schemeClr val="tx1"/>
                </a:solidFill>
                <a:effectLst/>
                <a:latin typeface="+mn-lt"/>
                <a:ea typeface="+mn-ea"/>
                <a:cs typeface="+mn-cs"/>
              </a:rPr>
              <a:t>Deep Dive — Three Copies Press Hard:</a:t>
            </a:r>
            <a:r>
              <a:rPr lang="en-US" sz="1200" kern="1200" dirty="0">
                <a:solidFill>
                  <a:schemeClr val="tx1"/>
                </a:solidFill>
                <a:effectLst/>
                <a:latin typeface="+mn-lt"/>
                <a:ea typeface="+mn-ea"/>
                <a:cs typeface="+mn-cs"/>
              </a:rPr>
              <a:t> Junior developers like to prematurely abstract everything (e.g., wrapping 3 logging/metrics lines into an abstraction function). Senior taste says: </a:t>
            </a:r>
            <a:r>
              <a:rPr lang="en-US" sz="1200" i="1" kern="1200" dirty="0">
                <a:solidFill>
                  <a:schemeClr val="tx1"/>
                </a:solidFill>
                <a:effectLst/>
                <a:latin typeface="+mn-lt"/>
                <a:ea typeface="+mn-ea"/>
                <a:cs typeface="+mn-cs"/>
              </a:rPr>
              <a:t>No, duplicate those 3 inline lines across endpoints to prevent leaky abstractions.</a:t>
            </a:r>
            <a:r>
              <a:rPr lang="en-US" sz="1200" kern="1200" dirty="0">
                <a:solidFill>
                  <a:schemeClr val="tx1"/>
                </a:solidFill>
                <a:effectLst/>
                <a:latin typeface="+mn-lt"/>
                <a:ea typeface="+mn-ea"/>
                <a:cs typeface="+mn-cs"/>
              </a:rPr>
              <a:t> This tacit intuition must be codified explicitly into agent rules. </a:t>
            </a:r>
          </a:p>
          <a:p>
            <a:endParaRPr lang="en-US" dirty="0"/>
          </a:p>
        </p:txBody>
      </p:sp>
      <p:sp>
        <p:nvSpPr>
          <p:cNvPr id="4" name="Slide Number Placeholder 3"/>
          <p:cNvSpPr>
            <a:spLocks noGrp="1"/>
          </p:cNvSpPr>
          <p:nvPr>
            <p:ph type="sldNum" sz="quarter" idx="5"/>
          </p:nvPr>
        </p:nvSpPr>
        <p:spPr/>
        <p:txBody>
          <a:bodyPr/>
          <a:lstStyle/>
          <a:p>
            <a:fld id="{774249EF-8D7C-4213-A999-41D3DBE0B039}" type="slidenum">
              <a:rPr lang="en-US" smtClean="0"/>
              <a:t>8</a:t>
            </a:fld>
            <a:endParaRPr lang="en-US"/>
          </a:p>
        </p:txBody>
      </p:sp>
    </p:spTree>
    <p:extLst>
      <p:ext uri="{BB962C8B-B14F-4D97-AF65-F5344CB8AC3E}">
        <p14:creationId xmlns:p14="http://schemas.microsoft.com/office/powerpoint/2010/main" val="19903757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As engineering leaders, your mindset must shift: </a:t>
            </a:r>
            <a:r>
              <a:rPr lang="en-US" sz="1200" b="1" kern="1200" dirty="0">
                <a:solidFill>
                  <a:schemeClr val="tx1"/>
                </a:solidFill>
                <a:effectLst/>
                <a:latin typeface="+mn-lt"/>
                <a:ea typeface="+mn-ea"/>
                <a:cs typeface="+mn-cs"/>
              </a:rPr>
              <a:t>You are no longer building the car. You are building the factory.</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Action 01 — Defend the Factory:</a:t>
            </a:r>
            <a:r>
              <a:rPr lang="en-US" sz="1200" kern="1200" dirty="0">
                <a:solidFill>
                  <a:schemeClr val="tx1"/>
                </a:solidFill>
                <a:effectLst/>
                <a:latin typeface="+mn-lt"/>
                <a:ea typeface="+mn-ea"/>
                <a:cs typeface="+mn-cs"/>
              </a:rPr>
              <a:t> Scrutinize PRs today to prevent slop code from entering the repo. You must stop the bleeding (close the windows) before turning on the AI acceleration. </a:t>
            </a:r>
          </a:p>
          <a:p>
            <a:pPr lvl="0"/>
            <a:r>
              <a:rPr lang="en-US" sz="1200" b="1" kern="1200" dirty="0">
                <a:solidFill>
                  <a:schemeClr val="tx1"/>
                </a:solidFill>
                <a:effectLst/>
                <a:latin typeface="+mn-lt"/>
                <a:ea typeface="+mn-ea"/>
                <a:cs typeface="+mn-cs"/>
              </a:rPr>
              <a:t>Action 02 — Extract the Exhaust:</a:t>
            </a:r>
            <a:r>
              <a:rPr lang="en-US" sz="1200" kern="1200" dirty="0">
                <a:solidFill>
                  <a:schemeClr val="tx1"/>
                </a:solidFill>
                <a:effectLst/>
                <a:latin typeface="+mn-lt"/>
                <a:ea typeface="+mn-ea"/>
                <a:cs typeface="+mn-cs"/>
              </a:rPr>
              <a:t> Every time a human developer leaves a review comment or corrects an agent PR, capture that trace exhaust. Convert those corrections into updated linter rules, agent instructions, and organization-wide skills. </a:t>
            </a:r>
          </a:p>
          <a:p>
            <a:pPr lvl="0"/>
            <a:r>
              <a:rPr lang="en-US" sz="1200" b="1" kern="1200" dirty="0">
                <a:solidFill>
                  <a:schemeClr val="tx1"/>
                </a:solidFill>
                <a:effectLst/>
                <a:latin typeface="+mn-lt"/>
                <a:ea typeface="+mn-ea"/>
                <a:cs typeface="+mn-cs"/>
              </a:rPr>
              <a:t>Action 03 — Shift the Metric:</a:t>
            </a:r>
            <a:r>
              <a:rPr lang="en-US" sz="1200" kern="1200" dirty="0">
                <a:solidFill>
                  <a:schemeClr val="tx1"/>
                </a:solidFill>
                <a:effectLst/>
                <a:latin typeface="+mn-lt"/>
                <a:ea typeface="+mn-ea"/>
                <a:cs typeface="+mn-cs"/>
              </a:rPr>
              <a:t> Stop evaluating engineering throughput by position (lines of code written). Start measuring </a:t>
            </a:r>
            <a:r>
              <a:rPr lang="en-US" sz="1200" b="1" kern="1200" dirty="0">
                <a:solidFill>
                  <a:schemeClr val="tx1"/>
                </a:solidFill>
                <a:effectLst/>
                <a:latin typeface="+mn-lt"/>
                <a:ea typeface="+mn-ea"/>
                <a:cs typeface="+mn-cs"/>
              </a:rPr>
              <a:t>velocity</a:t>
            </a:r>
            <a:r>
              <a:rPr lang="en-US" sz="1200" kern="1200" dirty="0">
                <a:solidFill>
                  <a:schemeClr val="tx1"/>
                </a:solidFill>
                <a:effectLst/>
                <a:latin typeface="+mn-lt"/>
                <a:ea typeface="+mn-ea"/>
                <a:cs typeface="+mn-cs"/>
              </a:rPr>
              <a:t>—how rapidly your automated factory system improves its quality and delivery capabilities week-over-week. </a:t>
            </a:r>
          </a:p>
          <a:p>
            <a:endParaRPr lang="en-US" dirty="0"/>
          </a:p>
        </p:txBody>
      </p:sp>
      <p:sp>
        <p:nvSpPr>
          <p:cNvPr id="4" name="Slide Number Placeholder 3"/>
          <p:cNvSpPr>
            <a:spLocks noGrp="1"/>
          </p:cNvSpPr>
          <p:nvPr>
            <p:ph type="sldNum" sz="quarter" idx="5"/>
          </p:nvPr>
        </p:nvSpPr>
        <p:spPr/>
        <p:txBody>
          <a:bodyPr/>
          <a:lstStyle/>
          <a:p>
            <a:fld id="{774249EF-8D7C-4213-A999-41D3DBE0B039}" type="slidenum">
              <a:rPr lang="en-US" smtClean="0"/>
              <a:t>9</a:t>
            </a:fld>
            <a:endParaRPr lang="en-US"/>
          </a:p>
        </p:txBody>
      </p:sp>
    </p:spTree>
    <p:extLst>
      <p:ext uri="{BB962C8B-B14F-4D97-AF65-F5344CB8AC3E}">
        <p14:creationId xmlns:p14="http://schemas.microsoft.com/office/powerpoint/2010/main" val="5430511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As agentic coding infrastructure matures, organizations face a critical architectural decision: choosing between a </a:t>
            </a:r>
            <a:r>
              <a:rPr lang="en-US" sz="1200" b="1" kern="1200" dirty="0">
                <a:solidFill>
                  <a:schemeClr val="tx1"/>
                </a:solidFill>
                <a:effectLst/>
                <a:latin typeface="+mn-lt"/>
                <a:ea typeface="+mn-ea"/>
                <a:cs typeface="+mn-cs"/>
              </a:rPr>
              <a:t>Walled Garden</a:t>
            </a:r>
            <a:r>
              <a:rPr lang="en-US" sz="1200" kern="1200" dirty="0">
                <a:solidFill>
                  <a:schemeClr val="tx1"/>
                </a:solidFill>
                <a:effectLst/>
                <a:latin typeface="+mn-lt"/>
                <a:ea typeface="+mn-ea"/>
                <a:cs typeface="+mn-cs"/>
              </a:rPr>
              <a:t> vs. </a:t>
            </a:r>
            <a:r>
              <a:rPr lang="en-US" sz="1200" b="1" kern="1200" dirty="0">
                <a:solidFill>
                  <a:schemeClr val="tx1"/>
                </a:solidFill>
                <a:effectLst/>
                <a:latin typeface="+mn-lt"/>
                <a:ea typeface="+mn-ea"/>
                <a:cs typeface="+mn-cs"/>
              </a:rPr>
              <a:t>The Kubernetes Model (Open Stack)</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The Walled Garden (Closed, Proprietary):</a:t>
            </a:r>
            <a:r>
              <a:rPr lang="en-US" sz="1200" kern="1200" dirty="0">
                <a:solidFill>
                  <a:schemeClr val="tx1"/>
                </a:solidFill>
                <a:effectLst/>
                <a:latin typeface="+mn-lt"/>
                <a:ea typeface="+mn-ea"/>
                <a:cs typeface="+mn-cs"/>
              </a:rPr>
              <a:t> Fully managed sandboxes and locked runtimes offer quick initial setup, but risk vendor lock-in and loss of long-term control over context and architecture. </a:t>
            </a:r>
          </a:p>
          <a:p>
            <a:pPr lvl="0"/>
            <a:r>
              <a:rPr lang="en-US" sz="1200" b="1" kern="1200" dirty="0">
                <a:solidFill>
                  <a:schemeClr val="tx1"/>
                </a:solidFill>
                <a:effectLst/>
                <a:latin typeface="+mn-lt"/>
                <a:ea typeface="+mn-ea"/>
                <a:cs typeface="+mn-cs"/>
              </a:rPr>
              <a:t>The Kubernetes Model (Open Protocols):</a:t>
            </a:r>
            <a:r>
              <a:rPr lang="en-US" sz="1200" kern="1200" dirty="0">
                <a:solidFill>
                  <a:schemeClr val="tx1"/>
                </a:solidFill>
                <a:effectLst/>
                <a:latin typeface="+mn-lt"/>
                <a:ea typeface="+mn-ea"/>
                <a:cs typeface="+mn-cs"/>
              </a:rPr>
              <a:t> Modular dev-tool stacks, portable intent specifications, and open protocols. Just as Kubernetes won container orchestration, open dev-tool stacks will likely win software factory infrastructure. </a:t>
            </a:r>
          </a:p>
          <a:p>
            <a:pPr lvl="0"/>
            <a:r>
              <a:rPr lang="en-US" sz="1200" b="1" kern="1200" dirty="0">
                <a:solidFill>
                  <a:schemeClr val="tx1"/>
                </a:solidFill>
                <a:effectLst/>
                <a:latin typeface="+mn-lt"/>
                <a:ea typeface="+mn-ea"/>
                <a:cs typeface="+mn-cs"/>
              </a:rPr>
              <a:t>Key Message:</a:t>
            </a:r>
            <a:r>
              <a:rPr lang="en-US" sz="1200" kern="1200" dirty="0">
                <a:solidFill>
                  <a:schemeClr val="tx1"/>
                </a:solidFill>
                <a:effectLst/>
                <a:latin typeface="+mn-lt"/>
                <a:ea typeface="+mn-ea"/>
                <a:cs typeface="+mn-cs"/>
              </a:rPr>
              <a:t> Do not mortgage your critical codebase to opaque, locked-in agent workflows. Preserve your team's taste and retain control over your underlying architecture. </a:t>
            </a:r>
          </a:p>
          <a:p>
            <a:endParaRPr lang="en-US" dirty="0"/>
          </a:p>
        </p:txBody>
      </p:sp>
      <p:sp>
        <p:nvSpPr>
          <p:cNvPr id="4" name="Slide Number Placeholder 3"/>
          <p:cNvSpPr>
            <a:spLocks noGrp="1"/>
          </p:cNvSpPr>
          <p:nvPr>
            <p:ph type="sldNum" sz="quarter" idx="5"/>
          </p:nvPr>
        </p:nvSpPr>
        <p:spPr/>
        <p:txBody>
          <a:bodyPr/>
          <a:lstStyle/>
          <a:p>
            <a:fld id="{774249EF-8D7C-4213-A999-41D3DBE0B039}" type="slidenum">
              <a:rPr lang="en-US" smtClean="0"/>
              <a:t>10</a:t>
            </a:fld>
            <a:endParaRPr lang="en-US"/>
          </a:p>
        </p:txBody>
      </p:sp>
    </p:spTree>
    <p:extLst>
      <p:ext uri="{BB962C8B-B14F-4D97-AF65-F5344CB8AC3E}">
        <p14:creationId xmlns:p14="http://schemas.microsoft.com/office/powerpoint/2010/main" val="19670150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Let's summarize the key takeaways: </a:t>
            </a:r>
          </a:p>
          <a:p>
            <a:pPr lvl="0"/>
            <a:r>
              <a:rPr lang="en-US" sz="1200" b="1" kern="1200" dirty="0">
                <a:solidFill>
                  <a:schemeClr val="tx1"/>
                </a:solidFill>
                <a:effectLst/>
                <a:latin typeface="+mn-lt"/>
                <a:ea typeface="+mn-ea"/>
                <a:cs typeface="+mn-cs"/>
              </a:rPr>
              <a:t>The Hidden Cost of Autonomous AI:</a:t>
            </a:r>
            <a:r>
              <a:rPr lang="en-US" sz="1200" kern="1200" dirty="0">
                <a:solidFill>
                  <a:schemeClr val="tx1"/>
                </a:solidFill>
                <a:effectLst/>
                <a:latin typeface="+mn-lt"/>
                <a:ea typeface="+mn-ea"/>
                <a:cs typeface="+mn-cs"/>
              </a:rPr>
              <a:t> Unattended AI creates fragmented, overly complex architectures (Slop Code) that eventually become impossible to debug or maintain. </a:t>
            </a:r>
          </a:p>
          <a:p>
            <a:pPr lvl="0"/>
            <a:r>
              <a:rPr lang="en-US" sz="1200" b="1" kern="1200" dirty="0">
                <a:solidFill>
                  <a:schemeClr val="tx1"/>
                </a:solidFill>
                <a:effectLst/>
                <a:latin typeface="+mn-lt"/>
                <a:ea typeface="+mn-ea"/>
                <a:cs typeface="+mn-cs"/>
              </a:rPr>
              <a:t>Optimizing the Factory:</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Strategic Planning:</a:t>
            </a:r>
            <a:r>
              <a:rPr lang="en-US" sz="1200" kern="1200" dirty="0">
                <a:solidFill>
                  <a:schemeClr val="tx1"/>
                </a:solidFill>
                <a:effectLst/>
                <a:latin typeface="+mn-lt"/>
                <a:ea typeface="+mn-ea"/>
                <a:cs typeface="+mn-cs"/>
              </a:rPr>
              <a:t> Apply the context slider—strictly spec high-risk database schemas while allowing freedom on low-risk UI elements.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Codify Taste:</a:t>
            </a:r>
            <a:r>
              <a:rPr lang="en-US" sz="1200" kern="1200" dirty="0">
                <a:solidFill>
                  <a:schemeClr val="tx1"/>
                </a:solidFill>
                <a:effectLst/>
                <a:latin typeface="+mn-lt"/>
                <a:ea typeface="+mn-ea"/>
                <a:cs typeface="+mn-cs"/>
              </a:rPr>
              <a:t> Document your team's security standards and architectural preferences into explicit agent context.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Avoid the Dumb Zone:</a:t>
            </a:r>
            <a:r>
              <a:rPr lang="en-US" sz="1200" kern="1200" dirty="0">
                <a:solidFill>
                  <a:schemeClr val="tx1"/>
                </a:solidFill>
                <a:effectLst/>
                <a:latin typeface="+mn-lt"/>
                <a:ea typeface="+mn-ea"/>
                <a:cs typeface="+mn-cs"/>
              </a:rPr>
              <a:t> Prune context windows aggressively to maintain high reasoning accuracy.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Focus on Factory Velocity:</a:t>
            </a:r>
            <a:r>
              <a:rPr lang="en-US" sz="1200" kern="1200" dirty="0">
                <a:solidFill>
                  <a:schemeClr val="tx1"/>
                </a:solidFill>
                <a:effectLst/>
                <a:latin typeface="+mn-lt"/>
                <a:ea typeface="+mn-ea"/>
                <a:cs typeface="+mn-cs"/>
              </a:rPr>
              <a:t> Treat code review exhaust as feedback loops to continuously refine your software-building system. </a:t>
            </a:r>
          </a:p>
          <a:p>
            <a:endParaRPr lang="en-US" dirty="0"/>
          </a:p>
        </p:txBody>
      </p:sp>
      <p:sp>
        <p:nvSpPr>
          <p:cNvPr id="4" name="Slide Number Placeholder 3"/>
          <p:cNvSpPr>
            <a:spLocks noGrp="1"/>
          </p:cNvSpPr>
          <p:nvPr>
            <p:ph type="sldNum" sz="quarter" idx="5"/>
          </p:nvPr>
        </p:nvSpPr>
        <p:spPr/>
        <p:txBody>
          <a:bodyPr/>
          <a:lstStyle/>
          <a:p>
            <a:fld id="{774249EF-8D7C-4213-A999-41D3DBE0B039}" type="slidenum">
              <a:rPr lang="en-US" smtClean="0"/>
              <a:t>11</a:t>
            </a:fld>
            <a:endParaRPr lang="en-US"/>
          </a:p>
        </p:txBody>
      </p:sp>
    </p:spTree>
    <p:extLst>
      <p:ext uri="{BB962C8B-B14F-4D97-AF65-F5344CB8AC3E}">
        <p14:creationId xmlns:p14="http://schemas.microsoft.com/office/powerpoint/2010/main" val="32710005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We close with this reference matrix balancing </a:t>
            </a:r>
            <a:r>
              <a:rPr lang="en-US" sz="1200" b="1" kern="1200" dirty="0">
                <a:solidFill>
                  <a:schemeClr val="tx1"/>
                </a:solidFill>
                <a:effectLst/>
                <a:latin typeface="+mn-lt"/>
                <a:ea typeface="+mn-ea"/>
                <a:cs typeface="+mn-cs"/>
              </a:rPr>
              <a:t>Development Method vs. Chance of Rework vs. Required Context</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2-Sentence Prompt:</a:t>
            </a:r>
            <a:r>
              <a:rPr lang="en-US" sz="1200" kern="1200" dirty="0">
                <a:solidFill>
                  <a:schemeClr val="tx1"/>
                </a:solidFill>
                <a:effectLst/>
                <a:latin typeface="+mn-lt"/>
                <a:ea typeface="+mn-ea"/>
                <a:cs typeface="+mn-cs"/>
              </a:rPr>
              <a:t> ~50% Chance of Rework | Minimal Context Required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Detailed Manual Spec / AI-Assisted Plan:</a:t>
            </a:r>
            <a:r>
              <a:rPr lang="en-US" sz="1200" kern="1200" dirty="0">
                <a:solidFill>
                  <a:schemeClr val="tx1"/>
                </a:solidFill>
                <a:effectLst/>
                <a:latin typeface="+mn-lt"/>
                <a:ea typeface="+mn-ea"/>
                <a:cs typeface="+mn-cs"/>
              </a:rPr>
              <a:t> ~10% Chance of Rework | High Context Required (Optimal Leverage)</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Hand-written Code:</a:t>
            </a:r>
            <a:r>
              <a:rPr lang="en-US" sz="1200" kern="1200" dirty="0">
                <a:solidFill>
                  <a:schemeClr val="tx1"/>
                </a:solidFill>
                <a:effectLst/>
                <a:latin typeface="+mn-lt"/>
                <a:ea typeface="+mn-ea"/>
                <a:cs typeface="+mn-cs"/>
              </a:rPr>
              <a:t> 0% Agent Error | Absolute Manual Effort</a:t>
            </a:r>
          </a:p>
          <a:p>
            <a:pPr lvl="0"/>
            <a:r>
              <a:rPr lang="en-US" sz="1200" kern="1200" dirty="0">
                <a:solidFill>
                  <a:schemeClr val="tx1"/>
                </a:solidFill>
                <a:effectLst/>
                <a:latin typeface="+mn-lt"/>
                <a:ea typeface="+mn-ea"/>
                <a:cs typeface="+mn-cs"/>
              </a:rPr>
              <a:t>Thank you. Let's open the floor to Q&amp;A on building resilient AI software factories. </a:t>
            </a:r>
          </a:p>
          <a:p>
            <a:endParaRPr lang="en-US" dirty="0"/>
          </a:p>
          <a:p>
            <a:endParaRPr lang="en-US" dirty="0"/>
          </a:p>
          <a:p>
            <a:endParaRPr lang="en-US" dirty="0"/>
          </a:p>
          <a:p>
            <a:endParaRPr lang="en-US" dirty="0"/>
          </a:p>
          <a:p>
            <a:r>
              <a:rPr lang="en-US" dirty="0"/>
              <a:t>Dexter Horthy (</a:t>
            </a:r>
            <a:r>
              <a:rPr lang="en-US" dirty="0" err="1"/>
              <a:t>HumanLayer</a:t>
            </a:r>
            <a:r>
              <a:rPr lang="en-US" dirty="0"/>
              <a:t>) on Why You Still Review AI Code</a:t>
            </a:r>
          </a:p>
          <a:p>
            <a:r>
              <a:rPr lang="en-US" dirty="0"/>
              <a:t>https://www.youtube.com/watch?v=H_1PygR7kwk</a:t>
            </a:r>
          </a:p>
          <a:p>
            <a:endParaRPr lang="en-US" dirty="0"/>
          </a:p>
        </p:txBody>
      </p:sp>
      <p:sp>
        <p:nvSpPr>
          <p:cNvPr id="4" name="Slide Number Placeholder 3"/>
          <p:cNvSpPr>
            <a:spLocks noGrp="1"/>
          </p:cNvSpPr>
          <p:nvPr>
            <p:ph type="sldNum" sz="quarter" idx="5"/>
          </p:nvPr>
        </p:nvSpPr>
        <p:spPr/>
        <p:txBody>
          <a:bodyPr/>
          <a:lstStyle/>
          <a:p>
            <a:fld id="{774249EF-8D7C-4213-A999-41D3DBE0B039}" type="slidenum">
              <a:rPr lang="en-US" smtClean="0"/>
              <a:t>12</a:t>
            </a:fld>
            <a:endParaRPr lang="en-US"/>
          </a:p>
        </p:txBody>
      </p:sp>
    </p:spTree>
    <p:extLst>
      <p:ext uri="{BB962C8B-B14F-4D97-AF65-F5344CB8AC3E}">
        <p14:creationId xmlns:p14="http://schemas.microsoft.com/office/powerpoint/2010/main" val="9736018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F5B096-09AA-D009-72CD-02373E5BA631}"/>
              </a:ext>
            </a:extLst>
          </p:cNvPr>
          <p:cNvSpPr>
            <a:spLocks noGrp="1"/>
          </p:cNvSpPr>
          <p:nvPr>
            <p:ph type="dt" sz="half" idx="10"/>
          </p:nvPr>
        </p:nvSpPr>
        <p:spPr/>
        <p:txBody>
          <a:bodyPr/>
          <a:lstStyle/>
          <a:p>
            <a:fld id="{43621D2F-D654-4631-B327-7836C1B6A6AE}" type="datetimeFigureOut">
              <a:rPr lang="en-US" smtClean="0"/>
              <a:t>10/21/2026</a:t>
            </a:fld>
            <a:endParaRPr lang="en-US"/>
          </a:p>
        </p:txBody>
      </p:sp>
      <p:sp>
        <p:nvSpPr>
          <p:cNvPr id="3" name="Footer Placeholder 2">
            <a:extLst>
              <a:ext uri="{FF2B5EF4-FFF2-40B4-BE49-F238E27FC236}">
                <a16:creationId xmlns:a16="http://schemas.microsoft.com/office/drawing/2014/main" id="{30B0CAB4-674B-3B3E-2979-9D68A8D5906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5AF28BC-1F75-C125-31C5-F08BEB9986A5}"/>
              </a:ext>
            </a:extLst>
          </p:cNvPr>
          <p:cNvSpPr>
            <a:spLocks noGrp="1"/>
          </p:cNvSpPr>
          <p:nvPr>
            <p:ph type="sldNum" sz="quarter" idx="12"/>
          </p:nvPr>
        </p:nvSpPr>
        <p:spPr/>
        <p:txBody>
          <a:bodyPr/>
          <a:lstStyle/>
          <a:p>
            <a:fld id="{B3A0928E-3E68-43CE-BCF5-3D9E36EEA8CF}" type="slidenum">
              <a:rPr lang="en-US" smtClean="0"/>
              <a:t>‹#›</a:t>
            </a:fld>
            <a:endParaRPr lang="en-US"/>
          </a:p>
        </p:txBody>
      </p:sp>
    </p:spTree>
    <p:extLst>
      <p:ext uri="{BB962C8B-B14F-4D97-AF65-F5344CB8AC3E}">
        <p14:creationId xmlns:p14="http://schemas.microsoft.com/office/powerpoint/2010/main" val="382070665"/>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52037F5-01E0-7CCD-02D7-6AF67AA942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A18A32D-9933-130F-02E0-907F6902F0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727CC6-6347-9572-DE4E-F73D201A5A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3621D2F-D654-4631-B327-7836C1B6A6AE}" type="datetimeFigureOut">
              <a:rPr lang="en-US" smtClean="0"/>
              <a:t>10/21/2026</a:t>
            </a:fld>
            <a:endParaRPr lang="en-US"/>
          </a:p>
        </p:txBody>
      </p:sp>
      <p:sp>
        <p:nvSpPr>
          <p:cNvPr id="5" name="Footer Placeholder 4">
            <a:extLst>
              <a:ext uri="{FF2B5EF4-FFF2-40B4-BE49-F238E27FC236}">
                <a16:creationId xmlns:a16="http://schemas.microsoft.com/office/drawing/2014/main" id="{2C7DE458-6823-BA68-806F-1F93E2B7847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0ADC6B7-2252-7D5B-AEC7-795D310B4D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3A0928E-3E68-43CE-BCF5-3D9E36EEA8CF}" type="slidenum">
              <a:rPr lang="en-US" smtClean="0"/>
              <a:t>‹#›</a:t>
            </a:fld>
            <a:endParaRPr lang="en-US"/>
          </a:p>
        </p:txBody>
      </p:sp>
    </p:spTree>
    <p:extLst>
      <p:ext uri="{BB962C8B-B14F-4D97-AF65-F5344CB8AC3E}">
        <p14:creationId xmlns:p14="http://schemas.microsoft.com/office/powerpoint/2010/main" val="3413075111"/>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AC2B53F-9630-7FC5-BE90-2B1A54C95DC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A0063A7-FBB8-1F50-6EE7-7075F17DD03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6304DF1-685E-5C0A-8DF9-23D3D44D3D0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13D52C7-E695-A8D5-ADF2-C95CA37DD9A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DB4878-CD0D-F0E8-0F47-436C96F54DA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CEB50B5-065E-5D1C-ACD1-F848FE09740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FB392BF-AE9E-A3FD-6AF2-CE7A1880877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806A465-ED64-213E-057E-25CEFC3ED65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E84F568-E7EF-2FE8-3C8E-954194F45F8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55EE6B9-329B-1EA2-5E74-476E8D40105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DF31BDE-4FB3-9E2F-080C-A7A3DA24D99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E80EA17-4D83-E11A-733E-B399D23BB2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04837"/>
          </a:xfrm>
          <a:prstGeom prst="rect">
            <a:avLst/>
          </a:prstGeom>
        </p:spPr>
      </p:pic>
    </p:spTree>
    <p:extLst>
      <p:ext uri="{BB962C8B-B14F-4D97-AF65-F5344CB8AC3E}">
        <p14:creationId xmlns:p14="http://schemas.microsoft.com/office/powerpoint/2010/main" val="1525248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1823</Words>
  <Application>Microsoft Office PowerPoint</Application>
  <PresentationFormat>寬螢幕</PresentationFormat>
  <Paragraphs>90</Paragraphs>
  <Slides>12</Slides>
  <Notes>12</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12</vt:i4>
      </vt:variant>
    </vt:vector>
  </HeadingPairs>
  <TitlesOfParts>
    <vt:vector size="16"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2026-09-23T14:31:09Z</dcterms:created>
  <dcterms:modified xsi:type="dcterms:W3CDTF">2026-10-21T02:42:32Z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9f47bb8-b38e-408b-b78b-bb41e7d66ecb_Enabled">
    <vt:lpwstr>true</vt:lpwstr>
  </property>
  <property fmtid="{D5CDD505-2E9C-101B-9397-08002B2CF9AE}" pid="3" name="MSIP_Label_d9f47bb8-b38e-408b-b78b-bb41e7d66ecb_SetDate">
    <vt:lpwstr>2026-09-24T00:41:41Z</vt:lpwstr>
  </property>
  <property fmtid="{D5CDD505-2E9C-101B-9397-08002B2CF9AE}" pid="4" name="MSIP_Label_d9f47bb8-b38e-408b-b78b-bb41e7d66ecb_Method">
    <vt:lpwstr>Standard</vt:lpwstr>
  </property>
  <property fmtid="{D5CDD505-2E9C-101B-9397-08002B2CF9AE}" pid="5" name="MSIP_Label_d9f47bb8-b38e-408b-b78b-bb41e7d66ecb_Name">
    <vt:lpwstr>Public</vt:lpwstr>
  </property>
  <property fmtid="{D5CDD505-2E9C-101B-9397-08002B2CF9AE}" pid="6" name="MSIP_Label_d9f47bb8-b38e-408b-b78b-bb41e7d66ecb_SiteId">
    <vt:lpwstr>70ebe3a3-5b30-435d-9d67-7716d74ca190</vt:lpwstr>
  </property>
  <property fmtid="{D5CDD505-2E9C-101B-9397-08002B2CF9AE}" pid="7" name="MSIP_Label_d9f47bb8-b38e-408b-b78b-bb41e7d66ecb_ActionId">
    <vt:lpwstr>d4942753-b757-480d-a306-c104eee95689</vt:lpwstr>
  </property>
  <property fmtid="{D5CDD505-2E9C-101B-9397-08002B2CF9AE}" pid="8" name="MSIP_Label_d9f47bb8-b38e-408b-b78b-bb41e7d66ecb_Provider">
    <vt:lpwstr>Varonis.Labeling</vt:lpwstr>
  </property>
  <property fmtid="{D5CDD505-2E9C-101B-9397-08002B2CF9AE}" pid="9" name="MSIP_Label_d9f47bb8-b38e-408b-b78b-bb41e7d66ecb_ContentBits">
    <vt:lpwstr>0</vt:lpwstr>
  </property>
</Properties>
</file>