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BCC828-B272-4AA0-907F-750FC0763CD0}" v="21" dt="2026-09-26T13:04:21.5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8" autoAdjust="0"/>
    <p:restoredTop sz="86325"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6T13:04:34.049" v="66" actId="166"/>
      <pc:docMkLst>
        <pc:docMk/>
      </pc:docMkLst>
      <pc:sldChg chg="addSp delSp modSp mod modAnim modNotes modNotesTx">
        <pc:chgData name="Lai, Wilson" userId="2840974a-0d84-4886-90a9-9a3ed79f3a48" providerId="ADAL" clId="{9F23B798-9E84-4552-BA63-E776E805C424}" dt="2026-09-26T13:04:34.049" v="66" actId="166"/>
        <pc:sldMkLst>
          <pc:docMk/>
          <pc:sldMk cId="0" sldId="257"/>
        </pc:sldMkLst>
        <pc:spChg chg="add mod">
          <ac:chgData name="Lai, Wilson" userId="2840974a-0d84-4886-90a9-9a3ed79f3a48" providerId="ADAL" clId="{9F23B798-9E84-4552-BA63-E776E805C424}" dt="2026-09-26T10:13:57.127" v="8" actId="164"/>
          <ac:spMkLst>
            <pc:docMk/>
            <pc:sldMk cId="0" sldId="257"/>
            <ac:spMk id="5" creationId="{488B1D77-FA00-4C21-CD01-EA8E4721BF73}"/>
          </ac:spMkLst>
        </pc:spChg>
        <pc:grpChg chg="add mod">
          <ac:chgData name="Lai, Wilson" userId="2840974a-0d84-4886-90a9-9a3ed79f3a48" providerId="ADAL" clId="{9F23B798-9E84-4552-BA63-E776E805C424}" dt="2026-09-26T10:13:57.127" v="8" actId="164"/>
          <ac:grpSpMkLst>
            <pc:docMk/>
            <pc:sldMk cId="0" sldId="257"/>
            <ac:grpSpMk id="6" creationId="{8BE68796-6EE8-C7FC-CF8A-8D0AAD9467F7}"/>
          </ac:grpSpMkLst>
        </pc:grpChg>
        <pc:picChg chg="del ord">
          <ac:chgData name="Lai, Wilson" userId="2840974a-0d84-4886-90a9-9a3ed79f3a48" providerId="ADAL" clId="{9F23B798-9E84-4552-BA63-E776E805C424}" dt="2026-09-26T11:49:52.733" v="12" actId="21"/>
          <ac:picMkLst>
            <pc:docMk/>
            <pc:sldMk cId="0" sldId="257"/>
            <ac:picMk id="2" creationId="{00000000-0000-0000-0000-000000000000}"/>
          </ac:picMkLst>
        </pc:picChg>
        <pc:picChg chg="add mod">
          <ac:chgData name="Lai, Wilson" userId="2840974a-0d84-4886-90a9-9a3ed79f3a48" providerId="ADAL" clId="{9F23B798-9E84-4552-BA63-E776E805C424}" dt="2026-09-26T10:13:57.127" v="8" actId="164"/>
          <ac:picMkLst>
            <pc:docMk/>
            <pc:sldMk cId="0" sldId="257"/>
            <ac:picMk id="3" creationId="{6646C038-A884-66D6-5B87-575D956DE34E}"/>
          </ac:picMkLst>
        </pc:picChg>
        <pc:picChg chg="add ord">
          <ac:chgData name="Lai, Wilson" userId="2840974a-0d84-4886-90a9-9a3ed79f3a48" providerId="ADAL" clId="{9F23B798-9E84-4552-BA63-E776E805C424}" dt="2026-09-26T13:04:34.049" v="66" actId="166"/>
          <ac:picMkLst>
            <pc:docMk/>
            <pc:sldMk cId="0" sldId="257"/>
            <ac:picMk id="7" creationId="{9E13F67C-5F59-AB06-6A91-BD5FB51D0448}"/>
          </ac:picMkLst>
        </pc:picChg>
      </pc:sldChg>
      <pc:sldChg chg="addSp delSp mod modNotes modNotesTx">
        <pc:chgData name="Lai, Wilson" userId="2840974a-0d84-4886-90a9-9a3ed79f3a48" providerId="ADAL" clId="{9F23B798-9E84-4552-BA63-E776E805C424}" dt="2026-09-26T13:04:21.550" v="64"/>
        <pc:sldMkLst>
          <pc:docMk/>
          <pc:sldMk cId="0" sldId="258"/>
        </pc:sldMkLst>
        <pc:picChg chg="del">
          <ac:chgData name="Lai, Wilson" userId="2840974a-0d84-4886-90a9-9a3ed79f3a48" providerId="ADAL" clId="{9F23B798-9E84-4552-BA63-E776E805C424}" dt="2026-09-26T11:50:04.655" v="14" actId="21"/>
          <ac:picMkLst>
            <pc:docMk/>
            <pc:sldMk cId="0" sldId="258"/>
            <ac:picMk id="2" creationId="{00000000-0000-0000-0000-000000000000}"/>
          </ac:picMkLst>
        </pc:picChg>
        <pc:picChg chg="add">
          <ac:chgData name="Lai, Wilson" userId="2840974a-0d84-4886-90a9-9a3ed79f3a48" providerId="ADAL" clId="{9F23B798-9E84-4552-BA63-E776E805C424}" dt="2026-09-26T11:50:13.175" v="15" actId="22"/>
          <ac:picMkLst>
            <pc:docMk/>
            <pc:sldMk cId="0" sldId="258"/>
            <ac:picMk id="4" creationId="{3D7A74D9-443E-6941-964A-127277A49B34}"/>
          </ac:picMkLst>
        </pc:picChg>
      </pc:sldChg>
      <pc:sldChg chg="addSp delSp mod modNotes">
        <pc:chgData name="Lai, Wilson" userId="2840974a-0d84-4886-90a9-9a3ed79f3a48" providerId="ADAL" clId="{9F23B798-9E84-4552-BA63-E776E805C424}" dt="2026-09-26T13:04:21.550" v="64"/>
        <pc:sldMkLst>
          <pc:docMk/>
          <pc:sldMk cId="0" sldId="259"/>
        </pc:sldMkLst>
        <pc:picChg chg="del">
          <ac:chgData name="Lai, Wilson" userId="2840974a-0d84-4886-90a9-9a3ed79f3a48" providerId="ADAL" clId="{9F23B798-9E84-4552-BA63-E776E805C424}" dt="2026-09-26T11:50:14.726" v="16" actId="21"/>
          <ac:picMkLst>
            <pc:docMk/>
            <pc:sldMk cId="0" sldId="259"/>
            <ac:picMk id="2" creationId="{00000000-0000-0000-0000-000000000000}"/>
          </ac:picMkLst>
        </pc:picChg>
        <pc:picChg chg="add">
          <ac:chgData name="Lai, Wilson" userId="2840974a-0d84-4886-90a9-9a3ed79f3a48" providerId="ADAL" clId="{9F23B798-9E84-4552-BA63-E776E805C424}" dt="2026-09-26T11:50:23.567" v="17" actId="22"/>
          <ac:picMkLst>
            <pc:docMk/>
            <pc:sldMk cId="0" sldId="259"/>
            <ac:picMk id="4" creationId="{25B8CCE6-589E-4ACC-E941-19796D30037C}"/>
          </ac:picMkLst>
        </pc:picChg>
      </pc:sldChg>
      <pc:sldChg chg="addSp delSp mod modNotes">
        <pc:chgData name="Lai, Wilson" userId="2840974a-0d84-4886-90a9-9a3ed79f3a48" providerId="ADAL" clId="{9F23B798-9E84-4552-BA63-E776E805C424}" dt="2026-09-26T13:04:21.550" v="64"/>
        <pc:sldMkLst>
          <pc:docMk/>
          <pc:sldMk cId="0" sldId="260"/>
        </pc:sldMkLst>
        <pc:picChg chg="del">
          <ac:chgData name="Lai, Wilson" userId="2840974a-0d84-4886-90a9-9a3ed79f3a48" providerId="ADAL" clId="{9F23B798-9E84-4552-BA63-E776E805C424}" dt="2026-09-26T11:50:25.583" v="18" actId="21"/>
          <ac:picMkLst>
            <pc:docMk/>
            <pc:sldMk cId="0" sldId="260"/>
            <ac:picMk id="2" creationId="{00000000-0000-0000-0000-000000000000}"/>
          </ac:picMkLst>
        </pc:picChg>
        <pc:picChg chg="add">
          <ac:chgData name="Lai, Wilson" userId="2840974a-0d84-4886-90a9-9a3ed79f3a48" providerId="ADAL" clId="{9F23B798-9E84-4552-BA63-E776E805C424}" dt="2026-09-26T11:50:34.887" v="19" actId="22"/>
          <ac:picMkLst>
            <pc:docMk/>
            <pc:sldMk cId="0" sldId="260"/>
            <ac:picMk id="4" creationId="{1A716824-1FD9-6526-F6B7-57378E98EFE9}"/>
          </ac:picMkLst>
        </pc:picChg>
      </pc:sldChg>
      <pc:sldChg chg="addSp delSp mod modNotes modNotesTx">
        <pc:chgData name="Lai, Wilson" userId="2840974a-0d84-4886-90a9-9a3ed79f3a48" providerId="ADAL" clId="{9F23B798-9E84-4552-BA63-E776E805C424}" dt="2026-09-26T13:04:21.550" v="64"/>
        <pc:sldMkLst>
          <pc:docMk/>
          <pc:sldMk cId="0" sldId="261"/>
        </pc:sldMkLst>
        <pc:picChg chg="del">
          <ac:chgData name="Lai, Wilson" userId="2840974a-0d84-4886-90a9-9a3ed79f3a48" providerId="ADAL" clId="{9F23B798-9E84-4552-BA63-E776E805C424}" dt="2026-09-26T11:50:36.542" v="20" actId="21"/>
          <ac:picMkLst>
            <pc:docMk/>
            <pc:sldMk cId="0" sldId="261"/>
            <ac:picMk id="2" creationId="{00000000-0000-0000-0000-000000000000}"/>
          </ac:picMkLst>
        </pc:picChg>
        <pc:picChg chg="add">
          <ac:chgData name="Lai, Wilson" userId="2840974a-0d84-4886-90a9-9a3ed79f3a48" providerId="ADAL" clId="{9F23B798-9E84-4552-BA63-E776E805C424}" dt="2026-09-26T11:50:45.074" v="21" actId="22"/>
          <ac:picMkLst>
            <pc:docMk/>
            <pc:sldMk cId="0" sldId="261"/>
            <ac:picMk id="4" creationId="{AB2DEB92-84A8-8FA1-1448-B7808058350A}"/>
          </ac:picMkLst>
        </pc:picChg>
      </pc:sldChg>
      <pc:sldChg chg="addSp delSp mod modNotes">
        <pc:chgData name="Lai, Wilson" userId="2840974a-0d84-4886-90a9-9a3ed79f3a48" providerId="ADAL" clId="{9F23B798-9E84-4552-BA63-E776E805C424}" dt="2026-09-26T13:04:21.550" v="64"/>
        <pc:sldMkLst>
          <pc:docMk/>
          <pc:sldMk cId="0" sldId="262"/>
        </pc:sldMkLst>
        <pc:picChg chg="del">
          <ac:chgData name="Lai, Wilson" userId="2840974a-0d84-4886-90a9-9a3ed79f3a48" providerId="ADAL" clId="{9F23B798-9E84-4552-BA63-E776E805C424}" dt="2026-09-26T11:50:46.444" v="22" actId="21"/>
          <ac:picMkLst>
            <pc:docMk/>
            <pc:sldMk cId="0" sldId="262"/>
            <ac:picMk id="2" creationId="{00000000-0000-0000-0000-000000000000}"/>
          </ac:picMkLst>
        </pc:picChg>
        <pc:picChg chg="add">
          <ac:chgData name="Lai, Wilson" userId="2840974a-0d84-4886-90a9-9a3ed79f3a48" providerId="ADAL" clId="{9F23B798-9E84-4552-BA63-E776E805C424}" dt="2026-09-26T11:50:54.791" v="23" actId="22"/>
          <ac:picMkLst>
            <pc:docMk/>
            <pc:sldMk cId="0" sldId="262"/>
            <ac:picMk id="4" creationId="{9A7B5982-3A12-D4A1-FAB5-7E56A63E78DA}"/>
          </ac:picMkLst>
        </pc:picChg>
      </pc:sldChg>
      <pc:sldChg chg="addSp delSp mod modNotes">
        <pc:chgData name="Lai, Wilson" userId="2840974a-0d84-4886-90a9-9a3ed79f3a48" providerId="ADAL" clId="{9F23B798-9E84-4552-BA63-E776E805C424}" dt="2026-09-26T13:04:21.550" v="64"/>
        <pc:sldMkLst>
          <pc:docMk/>
          <pc:sldMk cId="0" sldId="263"/>
        </pc:sldMkLst>
        <pc:picChg chg="del">
          <ac:chgData name="Lai, Wilson" userId="2840974a-0d84-4886-90a9-9a3ed79f3a48" providerId="ADAL" clId="{9F23B798-9E84-4552-BA63-E776E805C424}" dt="2026-09-26T11:50:56.591" v="24" actId="21"/>
          <ac:picMkLst>
            <pc:docMk/>
            <pc:sldMk cId="0" sldId="263"/>
            <ac:picMk id="2" creationId="{00000000-0000-0000-0000-000000000000}"/>
          </ac:picMkLst>
        </pc:picChg>
        <pc:picChg chg="add">
          <ac:chgData name="Lai, Wilson" userId="2840974a-0d84-4886-90a9-9a3ed79f3a48" providerId="ADAL" clId="{9F23B798-9E84-4552-BA63-E776E805C424}" dt="2026-09-26T11:51:07.099" v="25" actId="22"/>
          <ac:picMkLst>
            <pc:docMk/>
            <pc:sldMk cId="0" sldId="263"/>
            <ac:picMk id="4" creationId="{0C731EF0-F6F6-46B3-B22B-ECA281A90749}"/>
          </ac:picMkLst>
        </pc:picChg>
      </pc:sldChg>
      <pc:sldChg chg="addSp delSp mod modNotes">
        <pc:chgData name="Lai, Wilson" userId="2840974a-0d84-4886-90a9-9a3ed79f3a48" providerId="ADAL" clId="{9F23B798-9E84-4552-BA63-E776E805C424}" dt="2026-09-26T13:04:21.550" v="64"/>
        <pc:sldMkLst>
          <pc:docMk/>
          <pc:sldMk cId="0" sldId="264"/>
        </pc:sldMkLst>
        <pc:picChg chg="del">
          <ac:chgData name="Lai, Wilson" userId="2840974a-0d84-4886-90a9-9a3ed79f3a48" providerId="ADAL" clId="{9F23B798-9E84-4552-BA63-E776E805C424}" dt="2026-09-26T11:51:08.573" v="26" actId="21"/>
          <ac:picMkLst>
            <pc:docMk/>
            <pc:sldMk cId="0" sldId="264"/>
            <ac:picMk id="2" creationId="{00000000-0000-0000-0000-000000000000}"/>
          </ac:picMkLst>
        </pc:picChg>
        <pc:picChg chg="add">
          <ac:chgData name="Lai, Wilson" userId="2840974a-0d84-4886-90a9-9a3ed79f3a48" providerId="ADAL" clId="{9F23B798-9E84-4552-BA63-E776E805C424}" dt="2026-09-26T11:51:18.299" v="27" actId="22"/>
          <ac:picMkLst>
            <pc:docMk/>
            <pc:sldMk cId="0" sldId="264"/>
            <ac:picMk id="4" creationId="{83C82664-AFBF-7BBE-228C-941F4BA80E3C}"/>
          </ac:picMkLst>
        </pc:picChg>
      </pc:sldChg>
      <pc:sldChg chg="addSp delSp mod modNotes">
        <pc:chgData name="Lai, Wilson" userId="2840974a-0d84-4886-90a9-9a3ed79f3a48" providerId="ADAL" clId="{9F23B798-9E84-4552-BA63-E776E805C424}" dt="2026-09-26T13:04:21.550" v="64"/>
        <pc:sldMkLst>
          <pc:docMk/>
          <pc:sldMk cId="0" sldId="265"/>
        </pc:sldMkLst>
        <pc:picChg chg="del">
          <ac:chgData name="Lai, Wilson" userId="2840974a-0d84-4886-90a9-9a3ed79f3a48" providerId="ADAL" clId="{9F23B798-9E84-4552-BA63-E776E805C424}" dt="2026-09-26T11:51:19.589" v="28" actId="21"/>
          <ac:picMkLst>
            <pc:docMk/>
            <pc:sldMk cId="0" sldId="265"/>
            <ac:picMk id="2" creationId="{00000000-0000-0000-0000-000000000000}"/>
          </ac:picMkLst>
        </pc:picChg>
        <pc:picChg chg="add">
          <ac:chgData name="Lai, Wilson" userId="2840974a-0d84-4886-90a9-9a3ed79f3a48" providerId="ADAL" clId="{9F23B798-9E84-4552-BA63-E776E805C424}" dt="2026-09-26T11:51:38.174" v="29" actId="22"/>
          <ac:picMkLst>
            <pc:docMk/>
            <pc:sldMk cId="0" sldId="265"/>
            <ac:picMk id="4" creationId="{78E22316-A992-D908-F66F-FA67EC31A33C}"/>
          </ac:picMkLst>
        </pc:picChg>
      </pc:sldChg>
      <pc:sldChg chg="addSp delSp mod modNotes">
        <pc:chgData name="Lai, Wilson" userId="2840974a-0d84-4886-90a9-9a3ed79f3a48" providerId="ADAL" clId="{9F23B798-9E84-4552-BA63-E776E805C424}" dt="2026-09-26T13:04:21.550" v="64"/>
        <pc:sldMkLst>
          <pc:docMk/>
          <pc:sldMk cId="0" sldId="266"/>
        </pc:sldMkLst>
        <pc:picChg chg="del">
          <ac:chgData name="Lai, Wilson" userId="2840974a-0d84-4886-90a9-9a3ed79f3a48" providerId="ADAL" clId="{9F23B798-9E84-4552-BA63-E776E805C424}" dt="2026-09-26T11:51:43.988" v="30" actId="21"/>
          <ac:picMkLst>
            <pc:docMk/>
            <pc:sldMk cId="0" sldId="266"/>
            <ac:picMk id="2" creationId="{00000000-0000-0000-0000-000000000000}"/>
          </ac:picMkLst>
        </pc:picChg>
        <pc:picChg chg="add">
          <ac:chgData name="Lai, Wilson" userId="2840974a-0d84-4886-90a9-9a3ed79f3a48" providerId="ADAL" clId="{9F23B798-9E84-4552-BA63-E776E805C424}" dt="2026-09-26T11:51:53.971" v="31" actId="22"/>
          <ac:picMkLst>
            <pc:docMk/>
            <pc:sldMk cId="0" sldId="266"/>
            <ac:picMk id="4" creationId="{FF3368FF-1D7C-F351-DF11-945695B233A0}"/>
          </ac:picMkLst>
        </pc:picChg>
      </pc:sldChg>
      <pc:sldChg chg="addSp delSp mod modNotes">
        <pc:chgData name="Lai, Wilson" userId="2840974a-0d84-4886-90a9-9a3ed79f3a48" providerId="ADAL" clId="{9F23B798-9E84-4552-BA63-E776E805C424}" dt="2026-09-26T13:04:21.550" v="64"/>
        <pc:sldMkLst>
          <pc:docMk/>
          <pc:sldMk cId="0" sldId="267"/>
        </pc:sldMkLst>
        <pc:picChg chg="add del">
          <ac:chgData name="Lai, Wilson" userId="2840974a-0d84-4886-90a9-9a3ed79f3a48" providerId="ADAL" clId="{9F23B798-9E84-4552-BA63-E776E805C424}" dt="2026-09-26T11:52:56.473" v="38" actId="21"/>
          <ac:picMkLst>
            <pc:docMk/>
            <pc:sldMk cId="0" sldId="267"/>
            <ac:picMk id="2" creationId="{00000000-0000-0000-0000-000000000000}"/>
          </ac:picMkLst>
        </pc:picChg>
        <pc:picChg chg="add">
          <ac:chgData name="Lai, Wilson" userId="2840974a-0d84-4886-90a9-9a3ed79f3a48" providerId="ADAL" clId="{9F23B798-9E84-4552-BA63-E776E805C424}" dt="2026-09-26T11:55:00.896" v="39" actId="22"/>
          <ac:picMkLst>
            <pc:docMk/>
            <pc:sldMk cId="0" sldId="267"/>
            <ac:picMk id="4" creationId="{D019172E-F438-E37A-F60E-C581410C3B24}"/>
          </ac:picMkLst>
        </pc:picChg>
      </pc:sldChg>
      <pc:sldChg chg="addSp delSp mod modNotes modNotesTx">
        <pc:chgData name="Lai, Wilson" userId="2840974a-0d84-4886-90a9-9a3ed79f3a48" providerId="ADAL" clId="{9F23B798-9E84-4552-BA63-E776E805C424}" dt="2026-09-26T13:04:21.550" v="64"/>
        <pc:sldMkLst>
          <pc:docMk/>
          <pc:sldMk cId="0" sldId="268"/>
        </pc:sldMkLst>
        <pc:picChg chg="del">
          <ac:chgData name="Lai, Wilson" userId="2840974a-0d84-4886-90a9-9a3ed79f3a48" providerId="ADAL" clId="{9F23B798-9E84-4552-BA63-E776E805C424}" dt="2026-09-26T11:52:04.850" v="34" actId="21"/>
          <ac:picMkLst>
            <pc:docMk/>
            <pc:sldMk cId="0" sldId="268"/>
            <ac:picMk id="2" creationId="{00000000-0000-0000-0000-000000000000}"/>
          </ac:picMkLst>
        </pc:picChg>
        <pc:picChg chg="add">
          <ac:chgData name="Lai, Wilson" userId="2840974a-0d84-4886-90a9-9a3ed79f3a48" providerId="ADAL" clId="{9F23B798-9E84-4552-BA63-E776E805C424}" dt="2026-09-26T11:52:13.047" v="35" actId="22"/>
          <ac:picMkLst>
            <pc:docMk/>
            <pc:sldMk cId="0" sldId="268"/>
            <ac:picMk id="4" creationId="{1700E693-4BB7-0C7A-0A41-5EE083F242A6}"/>
          </ac:picMkLst>
        </pc:picChg>
      </pc:sldChg>
      <pc:sldChg chg="addSp delSp mod modNotes">
        <pc:chgData name="Lai, Wilson" userId="2840974a-0d84-4886-90a9-9a3ed79f3a48" providerId="ADAL" clId="{9F23B798-9E84-4552-BA63-E776E805C424}" dt="2026-09-26T13:04:21.550" v="64"/>
        <pc:sldMkLst>
          <pc:docMk/>
          <pc:sldMk cId="0" sldId="269"/>
        </pc:sldMkLst>
        <pc:picChg chg="del">
          <ac:chgData name="Lai, Wilson" userId="2840974a-0d84-4886-90a9-9a3ed79f3a48" providerId="ADAL" clId="{9F23B798-9E84-4552-BA63-E776E805C424}" dt="2026-09-26T11:52:14.241" v="36" actId="21"/>
          <ac:picMkLst>
            <pc:docMk/>
            <pc:sldMk cId="0" sldId="269"/>
            <ac:picMk id="2" creationId="{00000000-0000-0000-0000-000000000000}"/>
          </ac:picMkLst>
        </pc:picChg>
        <pc:picChg chg="add">
          <ac:chgData name="Lai, Wilson" userId="2840974a-0d84-4886-90a9-9a3ed79f3a48" providerId="ADAL" clId="{9F23B798-9E84-4552-BA63-E776E805C424}" dt="2026-09-26T11:52:24.159" v="37" actId="22"/>
          <ac:picMkLst>
            <pc:docMk/>
            <pc:sldMk cId="0" sldId="269"/>
            <ac:picMk id="4" creationId="{38488095-9CD0-60BC-5699-8592496C0A8E}"/>
          </ac:picMkLst>
        </pc:picChg>
      </pc:sldChg>
      <pc:sldChg chg="modNotes modNotesTx">
        <pc:chgData name="Lai, Wilson" userId="2840974a-0d84-4886-90a9-9a3ed79f3a48" providerId="ADAL" clId="{9F23B798-9E84-4552-BA63-E776E805C424}" dt="2026-09-26T13:04:26.106" v="65" actId="113"/>
        <pc:sldMkLst>
          <pc:docMk/>
          <pc:sldMk cId="2418116032"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46A952-EE8F-4035-909E-BB6990661BB8}"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210635-EA27-4DFA-A102-71146E0BB05C}" type="slidenum">
              <a:rPr lang="en-US" smtClean="0"/>
              <a:t>‹#›</a:t>
            </a:fld>
            <a:endParaRPr lang="en-US"/>
          </a:p>
        </p:txBody>
      </p:sp>
    </p:spTree>
    <p:extLst>
      <p:ext uri="{BB962C8B-B14F-4D97-AF65-F5344CB8AC3E}">
        <p14:creationId xmlns:p14="http://schemas.microsoft.com/office/powerpoint/2010/main" val="401338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Opening Hook:</a:t>
            </a:r>
            <a:r>
              <a:rPr lang="en-US" dirty="0"/>
              <a:t> Good morning/afternoon, everyone. Thank you for joining today’s presentation. We are going to address an uncomfortable yet mathematically unavoidable economic reality that is rapidly approaching. The title of this presentation is </a:t>
            </a:r>
            <a:r>
              <a:rPr lang="en-US" i="1" dirty="0"/>
              <a:t>'The 2027 Reckoning.'</a:t>
            </a:r>
            <a:endParaRPr lang="en-US" dirty="0"/>
          </a:p>
          <a:p>
            <a:pPr lvl="0"/>
            <a:r>
              <a:rPr lang="en-US" b="1" dirty="0"/>
              <a:t>Setting the Table:</a:t>
            </a:r>
            <a:r>
              <a:rPr lang="en-US" dirty="0"/>
              <a:t> For decades, investors have been trained to believe that central banks can paper over every crisis, that debt can grow indefinitely, and that asset prices can detach permanently from underlying cash flows. However, as macro strategist Michael Pento points out after 35 years of navigating market cycles, we have entered a period where those safety nets are failing.</a:t>
            </a:r>
          </a:p>
          <a:p>
            <a:pPr lvl="0"/>
            <a:r>
              <a:rPr lang="en-US" b="1" dirty="0"/>
              <a:t>Key Focus:</a:t>
            </a:r>
            <a:r>
              <a:rPr lang="en-US" dirty="0"/>
              <a:t> Today, we are going to break down the three distinct economic forces coming together: an unprecedented convergence of sovereign debt at record levels, persistent compounding inflation, and the first concurrent 'triumvirate' of equity, real estate, and credit bubbles in modern history. Most importantly, we will discuss why 2027 represents the ultimate mathematical breaking point and provide actionable, tactical defensive steps to preserve and grow wealth through the coming storm.</a:t>
            </a:r>
          </a:p>
          <a:p>
            <a:pPr lvl="0"/>
            <a:r>
              <a:rPr lang="en-US" b="1" dirty="0"/>
              <a:t>Transition Cue:</a:t>
            </a:r>
            <a:r>
              <a:rPr lang="en-US" dirty="0"/>
              <a:t> Let’s begin by establishing the mathematical realities framing this cycle.</a:t>
            </a:r>
          </a:p>
          <a:p>
            <a:endParaRPr lang="en-US" dirty="0"/>
          </a:p>
          <a:p>
            <a:endParaRPr lang="en-US" dirty="0"/>
          </a:p>
          <a:p>
            <a:endParaRPr lang="en-US" dirty="0"/>
          </a:p>
          <a:p>
            <a:endParaRPr lang="en-US" dirty="0"/>
          </a:p>
          <a:p>
            <a:endParaRPr lang="en-US" dirty="0"/>
          </a:p>
          <a:p>
            <a:r>
              <a:rPr lang="en-US" b="1" dirty="0"/>
              <a:t>Michael Pento: 2027 Will Be a Very Difficult Year – Here's Why</a:t>
            </a:r>
          </a:p>
          <a:p>
            <a:r>
              <a:rPr lang="en-US" dirty="0"/>
              <a:t>https://www.youtube.com/watch?v=lqgYjFky-Po</a:t>
            </a:r>
          </a:p>
        </p:txBody>
      </p:sp>
      <p:sp>
        <p:nvSpPr>
          <p:cNvPr id="4" name="Slide Number Placeholder 3"/>
          <p:cNvSpPr>
            <a:spLocks noGrp="1"/>
          </p:cNvSpPr>
          <p:nvPr>
            <p:ph type="sldNum" sz="quarter" idx="5"/>
          </p:nvPr>
        </p:nvSpPr>
        <p:spPr/>
        <p:txBody>
          <a:bodyPr/>
          <a:lstStyle/>
          <a:p>
            <a:fld id="{14210635-EA27-4DFA-A102-71146E0BB05C}" type="slidenum">
              <a:rPr lang="en-US" smtClean="0"/>
              <a:t>1</a:t>
            </a:fld>
            <a:endParaRPr lang="en-US"/>
          </a:p>
        </p:txBody>
      </p:sp>
    </p:spTree>
    <p:extLst>
      <p:ext uri="{BB962C8B-B14F-4D97-AF65-F5344CB8AC3E}">
        <p14:creationId xmlns:p14="http://schemas.microsoft.com/office/powerpoint/2010/main" val="3624004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Macro </a:t>
            </a:r>
            <a:r>
              <a:rPr lang="en-US" b="1" dirty="0" err="1"/>
              <a:t>Context:</a:t>
            </a:r>
            <a:r>
              <a:rPr lang="en-US" dirty="0" err="1"/>
              <a:t>When</a:t>
            </a:r>
            <a:r>
              <a:rPr lang="en-US" dirty="0"/>
              <a:t> a veteran macro strategist with 35 years of experience says, </a:t>
            </a:r>
            <a:r>
              <a:rPr lang="en-US" i="1" dirty="0"/>
              <a:t>'I say with reluctance: Depression,'</a:t>
            </a:r>
            <a:r>
              <a:rPr lang="en-US" dirty="0"/>
              <a:t> it is not hyperbole or permabear doom-mongering. It is the result of rigorous, data-driven modeling.</a:t>
            </a:r>
          </a:p>
          <a:p>
            <a:pPr lvl="0"/>
            <a:r>
              <a:rPr lang="en-US" b="1" dirty="0"/>
              <a:t>Deconstructing the Three Pressures:</a:t>
            </a:r>
            <a:endParaRPr lang="en-US" dirty="0"/>
          </a:p>
          <a:p>
            <a:pPr marL="171450" lvl="0" indent="-171450">
              <a:buFont typeface="Arial" panose="020B0604020202020204" pitchFamily="34" charset="0"/>
              <a:buChar char="•"/>
            </a:pPr>
            <a:r>
              <a:rPr lang="en-US" b="1" dirty="0"/>
              <a:t>1. The Fuel (Compounding Inflation):</a:t>
            </a:r>
            <a:r>
              <a:rPr lang="en-US" dirty="0"/>
              <a:t> First, consider the fuel. For over five years, the bottom 80% of consumers have been battered by relentless, compounding inflation. Even if headline CPI moderates slightly, the cumulative price increase since 2020 remains locked into everyday living costs—from energy to groceries.</a:t>
            </a:r>
          </a:p>
          <a:p>
            <a:pPr marL="171450" lvl="0" indent="-171450">
              <a:buFont typeface="Arial" panose="020B0604020202020204" pitchFamily="34" charset="0"/>
              <a:buChar char="•"/>
            </a:pPr>
            <a:r>
              <a:rPr lang="en-US" b="1" dirty="0"/>
              <a:t>2. The Pressure (Sovereign Insolvency):</a:t>
            </a:r>
            <a:r>
              <a:rPr lang="en-US" dirty="0"/>
              <a:t> Second, the pressure. The sovereign balance sheet of the United States is mathematically insolvent. Debt service costs are exploding at a rate that outpaces tax receipts.</a:t>
            </a:r>
          </a:p>
          <a:p>
            <a:pPr marL="171450" lvl="0" indent="-171450">
              <a:buFont typeface="Arial" panose="020B0604020202020204" pitchFamily="34" charset="0"/>
              <a:buChar char="•"/>
            </a:pPr>
            <a:r>
              <a:rPr lang="en-US" b="1" dirty="0"/>
              <a:t>3. The Catalyst (Spiking Long-Duration Yields):</a:t>
            </a:r>
            <a:r>
              <a:rPr lang="en-US" dirty="0"/>
              <a:t> Third, the catalyst. In every historical market cycle, it is never earnings revisions or consumer sentiment that pops asset bubbles—it is the credit market. Rising long-duration yields force a sudden re-pricing of all debt and over-leveraged assets.</a:t>
            </a:r>
          </a:p>
          <a:p>
            <a:pPr lvl="0"/>
            <a:r>
              <a:rPr lang="en-US" b="1" dirty="0"/>
              <a:t>Core Takeaway:</a:t>
            </a:r>
            <a:r>
              <a:rPr lang="en-US" dirty="0"/>
              <a:t> When you combine high inflation, unpayable sovereign debt, and rising interest rates, the structural economic model breaks.</a:t>
            </a:r>
          </a:p>
          <a:p>
            <a:pPr lvl="0"/>
            <a:r>
              <a:rPr lang="en-US" b="1" dirty="0"/>
              <a:t>Transition Cue:</a:t>
            </a:r>
            <a:r>
              <a:rPr lang="en-US" dirty="0"/>
              <a:t> To understand why this is mathematically guaranteed, let's examine the numbers behind the sovereign debt burden.</a:t>
            </a:r>
          </a:p>
          <a:p>
            <a:endParaRPr lang="en-US" dirty="0"/>
          </a:p>
        </p:txBody>
      </p:sp>
      <p:sp>
        <p:nvSpPr>
          <p:cNvPr id="4" name="Slide Number Placeholder 3"/>
          <p:cNvSpPr>
            <a:spLocks noGrp="1"/>
          </p:cNvSpPr>
          <p:nvPr>
            <p:ph type="sldNum" sz="quarter" idx="5"/>
          </p:nvPr>
        </p:nvSpPr>
        <p:spPr/>
        <p:txBody>
          <a:bodyPr/>
          <a:lstStyle/>
          <a:p>
            <a:fld id="{14210635-EA27-4DFA-A102-71146E0BB05C}" type="slidenum">
              <a:rPr lang="en-US" smtClean="0"/>
              <a:t>2</a:t>
            </a:fld>
            <a:endParaRPr lang="en-US"/>
          </a:p>
        </p:txBody>
      </p:sp>
    </p:spTree>
    <p:extLst>
      <p:ext uri="{BB962C8B-B14F-4D97-AF65-F5344CB8AC3E}">
        <p14:creationId xmlns:p14="http://schemas.microsoft.com/office/powerpoint/2010/main" val="2552942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Sovereign Reality: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Let's dispel a common myth often repeated in financial media: that the US can easily grow or tax its way out of its current debt load. US National Debt now stands at 123% of GDP and an alarming 720% of federal revenue. </a:t>
            </a:r>
          </a:p>
          <a:p>
            <a:pPr lvl="0"/>
            <a:r>
              <a:rPr lang="en-US" sz="1200" b="1" kern="1200" dirty="0">
                <a:solidFill>
                  <a:schemeClr val="tx1"/>
                </a:solidFill>
                <a:effectLst/>
                <a:latin typeface="+mn-lt"/>
                <a:ea typeface="+mn-ea"/>
                <a:cs typeface="+mn-cs"/>
              </a:rPr>
              <a:t>The Taxing Thought Experiment: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illustrate how absurd the situation is: if the federal government were to tax 100% of the public's income for an entire year—meaning no one receives a single dollar after tax—it still would not clear total obligations. Obviously, no worker would show up to work for a 100% tax rate. Therefore, growth and taxation alone cannot solve this. </a:t>
            </a:r>
          </a:p>
          <a:p>
            <a:pPr lvl="0"/>
            <a:r>
              <a:rPr lang="en-US" sz="1200" b="1" kern="1200" dirty="0">
                <a:solidFill>
                  <a:schemeClr val="tx1"/>
                </a:solidFill>
                <a:effectLst/>
                <a:latin typeface="+mn-lt"/>
                <a:ea typeface="+mn-ea"/>
                <a:cs typeface="+mn-cs"/>
              </a:rPr>
              <a:t>Annual Deficits &amp; The Consumer: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We are now running $2 trillion annual deficits during nominal economic expansion. Meanwhile, the consumer—who accounts for roughly 70% of GDP—is completely exhausted. Personal savings rates have collapsed to 3%, placing them in the basement of historical benchmarks. </a:t>
            </a:r>
          </a:p>
          <a:p>
            <a:pPr lvl="0"/>
            <a:r>
              <a:rPr lang="en-US" sz="1200" b="1" kern="1200" dirty="0">
                <a:solidFill>
                  <a:schemeClr val="tx1"/>
                </a:solidFill>
                <a:effectLst/>
                <a:latin typeface="+mn-lt"/>
                <a:ea typeface="+mn-ea"/>
                <a:cs typeface="+mn-cs"/>
              </a:rPr>
              <a:t>Bottom Line:</a:t>
            </a:r>
            <a:r>
              <a:rPr lang="en-US" sz="1200" kern="1200" dirty="0">
                <a:solidFill>
                  <a:schemeClr val="tx1"/>
                </a:solidFill>
                <a:effectLst/>
                <a:latin typeface="+mn-lt"/>
                <a:ea typeface="+mn-ea"/>
                <a:cs typeface="+mn-cs"/>
              </a:rPr>
              <a:t> The underlying foundation of the economy is structurally compromised. When debt service costs exceed organic revenue growth, the system must either default or hyper-inflate. </a:t>
            </a:r>
          </a:p>
          <a:p>
            <a:pPr lvl="0"/>
            <a:r>
              <a:rPr lang="en-US" sz="1200" b="1" kern="1200" dirty="0">
                <a:solidFill>
                  <a:schemeClr val="tx1"/>
                </a:solidFill>
                <a:effectLst/>
                <a:latin typeface="+mn-lt"/>
                <a:ea typeface="+mn-ea"/>
                <a:cs typeface="+mn-cs"/>
              </a:rPr>
              <a:t>Transition Cue: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Now that we see the sovereign foundation is cracked, let's look at where that debt-fueled speculation went—into three concurrent asset bubbles.</a:t>
            </a:r>
          </a:p>
          <a:p>
            <a:endParaRPr lang="en-US" dirty="0"/>
          </a:p>
        </p:txBody>
      </p:sp>
      <p:sp>
        <p:nvSpPr>
          <p:cNvPr id="4" name="Slide Number Placeholder 3"/>
          <p:cNvSpPr>
            <a:spLocks noGrp="1"/>
          </p:cNvSpPr>
          <p:nvPr>
            <p:ph type="sldNum" sz="quarter" idx="5"/>
          </p:nvPr>
        </p:nvSpPr>
        <p:spPr/>
        <p:txBody>
          <a:bodyPr/>
          <a:lstStyle/>
          <a:p>
            <a:fld id="{14210635-EA27-4DFA-A102-71146E0BB05C}" type="slidenum">
              <a:rPr lang="en-US" smtClean="0"/>
              <a:t>3</a:t>
            </a:fld>
            <a:endParaRPr lang="en-US"/>
          </a:p>
        </p:txBody>
      </p:sp>
    </p:spTree>
    <p:extLst>
      <p:ext uri="{BB962C8B-B14F-4D97-AF65-F5344CB8AC3E}">
        <p14:creationId xmlns:p14="http://schemas.microsoft.com/office/powerpoint/2010/main" val="2765981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Defining the Triumvirate: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 past economic crises, asset bubbles occurred in isolation. In 2000, we had a tech/equity bubble, but housing and credit were relatively stable. In 2007, we had a real estate and subprime mortgage bubble, while equities were not nearly as stretched valuation-wise. Today, for the first time in history, we face a concurrent </a:t>
            </a:r>
            <a:r>
              <a:rPr lang="en-US" sz="1200" i="1" kern="1200" dirty="0">
                <a:solidFill>
                  <a:schemeClr val="tx1"/>
                </a:solidFill>
                <a:effectLst/>
                <a:latin typeface="+mn-lt"/>
                <a:ea typeface="+mn-ea"/>
                <a:cs typeface="+mn-cs"/>
              </a:rPr>
              <a:t>Triumvirate of Bubbles</a:t>
            </a:r>
            <a:r>
              <a:rPr lang="en-US" sz="1200" kern="1200" dirty="0">
                <a:solidFill>
                  <a:schemeClr val="tx1"/>
                </a:solidFill>
                <a:effectLst/>
                <a:latin typeface="+mn-lt"/>
                <a:ea typeface="+mn-ea"/>
                <a:cs typeface="+mn-cs"/>
              </a:rPr>
              <a:t> across Equities, Real Estate, and Credit. </a:t>
            </a:r>
          </a:p>
          <a:p>
            <a:pPr lvl="0"/>
            <a:r>
              <a:rPr lang="en-US" sz="1200" b="1" kern="1200" dirty="0">
                <a:solidFill>
                  <a:schemeClr val="tx1"/>
                </a:solidFill>
                <a:effectLst/>
                <a:latin typeface="+mn-lt"/>
                <a:ea typeface="+mn-ea"/>
                <a:cs typeface="+mn-cs"/>
              </a:rPr>
              <a:t>1. The Equity Bubble: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Total US equity market capitalization sits at 235% of GDP. For context, at the absolute peak of the 2000 Dot-com mania, market cap to GDP peaked at only 140%. </a:t>
            </a:r>
          </a:p>
          <a:p>
            <a:pPr lvl="0"/>
            <a:r>
              <a:rPr lang="en-US" sz="1200" b="1" kern="1200" dirty="0">
                <a:solidFill>
                  <a:schemeClr val="tx1"/>
                </a:solidFill>
                <a:effectLst/>
                <a:latin typeface="+mn-lt"/>
                <a:ea typeface="+mn-ea"/>
                <a:cs typeface="+mn-cs"/>
              </a:rPr>
              <a:t>2. The Real Estate Bubble: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Home price-to-income ratios have completely decoupled from median household purchasing power, reaching levels higher than the 2006 subprime peak. </a:t>
            </a:r>
          </a:p>
          <a:p>
            <a:pPr lvl="0"/>
            <a:r>
              <a:rPr lang="en-US" sz="1200" b="1" kern="1200" dirty="0">
                <a:solidFill>
                  <a:schemeClr val="tx1"/>
                </a:solidFill>
                <a:effectLst/>
                <a:latin typeface="+mn-lt"/>
                <a:ea typeface="+mn-ea"/>
                <a:cs typeface="+mn-cs"/>
              </a:rPr>
              <a:t>3. The Credit Bubble: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Underpinning both is a massive credit bubble. Non-financial debt is near record highs, featuring $1.6 trillion in opaque private credit, $1.5 trillion in high-yield junk bonds, $1.4 trillion in CLOs, and a $1 trillion annual debt-financing machine for AI infrastructure. </a:t>
            </a:r>
          </a:p>
          <a:p>
            <a:pPr lvl="0"/>
            <a:r>
              <a:rPr lang="en-US" sz="1200" b="1" kern="1200" dirty="0">
                <a:solidFill>
                  <a:schemeClr val="tx1"/>
                </a:solidFill>
                <a:effectLst/>
                <a:latin typeface="+mn-lt"/>
                <a:ea typeface="+mn-ea"/>
                <a:cs typeface="+mn-cs"/>
              </a:rPr>
              <a:t>Transition Cue: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What kept these three bubbles afloat for so long? Global artificial rate suppression—an anchor that has now officially snapped. </a:t>
            </a:r>
          </a:p>
          <a:p>
            <a:endParaRPr lang="en-US" dirty="0"/>
          </a:p>
        </p:txBody>
      </p:sp>
      <p:sp>
        <p:nvSpPr>
          <p:cNvPr id="4" name="Slide Number Placeholder 3"/>
          <p:cNvSpPr>
            <a:spLocks noGrp="1"/>
          </p:cNvSpPr>
          <p:nvPr>
            <p:ph type="sldNum" sz="quarter" idx="5"/>
          </p:nvPr>
        </p:nvSpPr>
        <p:spPr/>
        <p:txBody>
          <a:bodyPr/>
          <a:lstStyle/>
          <a:p>
            <a:fld id="{14210635-EA27-4DFA-A102-71146E0BB05C}" type="slidenum">
              <a:rPr lang="en-US" smtClean="0"/>
              <a:t>4</a:t>
            </a:fld>
            <a:endParaRPr lang="en-US"/>
          </a:p>
        </p:txBody>
      </p:sp>
    </p:spTree>
    <p:extLst>
      <p:ext uri="{BB962C8B-B14F-4D97-AF65-F5344CB8AC3E}">
        <p14:creationId xmlns:p14="http://schemas.microsoft.com/office/powerpoint/2010/main" val="52178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Mechanics of Global Rate Anchors: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From 2015 to 2022, global capital markets enjoyed an artificial floor. Central banks in Japan and Europe maintained zero or negative interest rates, suppressing yields worldwide. </a:t>
            </a:r>
          </a:p>
          <a:p>
            <a:pPr lvl="0"/>
            <a:r>
              <a:rPr lang="en-US" sz="1200" b="1" kern="1200" dirty="0">
                <a:solidFill>
                  <a:schemeClr val="tx1"/>
                </a:solidFill>
                <a:effectLst/>
                <a:latin typeface="+mn-lt"/>
                <a:ea typeface="+mn-ea"/>
                <a:cs typeface="+mn-cs"/>
              </a:rPr>
              <a:t>Step-by-Step Breakdown of the Unwind: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1: Yield Shift.</a:t>
            </a:r>
            <a:r>
              <a:rPr lang="en-US" sz="1200" kern="1200" dirty="0">
                <a:solidFill>
                  <a:schemeClr val="tx1"/>
                </a:solidFill>
                <a:effectLst/>
                <a:latin typeface="+mn-lt"/>
                <a:ea typeface="+mn-ea"/>
                <a:cs typeface="+mn-cs"/>
              </a:rPr>
              <a:t> Japanese Government Bonds (JGBs) and German Bunds have spiked from 0% toward 3%+. The era of zero-bound rates is over.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2: Foreign Capital Flight.</a:t>
            </a:r>
            <a:r>
              <a:rPr lang="en-US" sz="1200" kern="1200" dirty="0">
                <a:solidFill>
                  <a:schemeClr val="tx1"/>
                </a:solidFill>
                <a:effectLst/>
                <a:latin typeface="+mn-lt"/>
                <a:ea typeface="+mn-ea"/>
                <a:cs typeface="+mn-cs"/>
              </a:rPr>
              <a:t> To defend a collapsing Yen, the Bank of Japan has been forced to liquidate US Treasuries and dollars. Foreign central banks are no longer price-insensitive buyers of US debt; they are sellers.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3: The Carry Trade Reverses.</a:t>
            </a:r>
            <a:r>
              <a:rPr lang="en-US" sz="1200" kern="1200" dirty="0">
                <a:solidFill>
                  <a:schemeClr val="tx1"/>
                </a:solidFill>
                <a:effectLst/>
                <a:latin typeface="+mn-lt"/>
                <a:ea typeface="+mn-ea"/>
                <a:cs typeface="+mn-cs"/>
              </a:rPr>
              <a:t> For decades, hedge funds borrowed in Japanese Yen at 0% to buy higher-yielding US Treasuries. As Japanese rates rise and currency volatility surges, that spread narrows, destroying the trade and forcing massive unwinds.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The international mechanism that suppressed US long-term interest rates has vanished. </a:t>
            </a:r>
          </a:p>
          <a:p>
            <a:pPr lvl="0"/>
            <a:r>
              <a:rPr lang="en-US" sz="1200" b="1" kern="1200" dirty="0">
                <a:solidFill>
                  <a:schemeClr val="tx1"/>
                </a:solidFill>
                <a:effectLst/>
                <a:latin typeface="+mn-lt"/>
                <a:ea typeface="+mn-ea"/>
                <a:cs typeface="+mn-cs"/>
              </a:rPr>
              <a:t>Transition Cue: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Now, let's examine the exact mechanism that will pop these three bubbles.</a:t>
            </a:r>
          </a:p>
          <a:p>
            <a:endParaRPr lang="en-US" dirty="0"/>
          </a:p>
        </p:txBody>
      </p:sp>
      <p:sp>
        <p:nvSpPr>
          <p:cNvPr id="4" name="Slide Number Placeholder 3"/>
          <p:cNvSpPr>
            <a:spLocks noGrp="1"/>
          </p:cNvSpPr>
          <p:nvPr>
            <p:ph type="sldNum" sz="quarter" idx="5"/>
          </p:nvPr>
        </p:nvSpPr>
        <p:spPr/>
        <p:txBody>
          <a:bodyPr/>
          <a:lstStyle/>
          <a:p>
            <a:fld id="{14210635-EA27-4DFA-A102-71146E0BB05C}" type="slidenum">
              <a:rPr lang="en-US" smtClean="0"/>
              <a:t>5</a:t>
            </a:fld>
            <a:endParaRPr lang="en-US"/>
          </a:p>
        </p:txBody>
      </p:sp>
    </p:spTree>
    <p:extLst>
      <p:ext uri="{BB962C8B-B14F-4D97-AF65-F5344CB8AC3E}">
        <p14:creationId xmlns:p14="http://schemas.microsoft.com/office/powerpoint/2010/main" val="1424579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Historical Law:</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There is a fundamental law in financial history: </a:t>
            </a:r>
            <a:r>
              <a:rPr lang="en-US" sz="1200" i="1" kern="1200" dirty="0">
                <a:solidFill>
                  <a:schemeClr val="tx1"/>
                </a:solidFill>
                <a:effectLst/>
                <a:latin typeface="+mn-lt"/>
                <a:ea typeface="+mn-ea"/>
                <a:cs typeface="+mn-cs"/>
              </a:rPr>
              <a:t>Credit is the pin that pops every bubble</a:t>
            </a:r>
            <a:r>
              <a:rPr lang="en-US" sz="1200" kern="1200" dirty="0">
                <a:solidFill>
                  <a:schemeClr val="tx1"/>
                </a:solidFill>
                <a:effectLst/>
                <a:latin typeface="+mn-lt"/>
                <a:ea typeface="+mn-ea"/>
                <a:cs typeface="+mn-cs"/>
              </a:rPr>
              <a:t>. Whether it was NASDAQ in 2000 or housing in 2007, asset bubbles do not burst on their own; they pop when debt service costs rise beyond the borrower's capacity to pay. </a:t>
            </a:r>
          </a:p>
          <a:p>
            <a:pPr lvl="0"/>
            <a:r>
              <a:rPr lang="en-US" sz="1200" b="1" kern="1200" dirty="0">
                <a:solidFill>
                  <a:schemeClr val="tx1"/>
                </a:solidFill>
                <a:effectLst/>
                <a:latin typeface="+mn-lt"/>
                <a:ea typeface="+mn-ea"/>
                <a:cs typeface="+mn-cs"/>
              </a:rPr>
              <a:t>The Inner vs. Outer Ring:</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inner ring is debt service costs. The outer ring—the ultimate trigger—is the free-market pricing of long-duration bonds. </a:t>
            </a:r>
          </a:p>
          <a:p>
            <a:pPr lvl="0"/>
            <a:r>
              <a:rPr lang="en-US" sz="1200" b="1" kern="1200" dirty="0">
                <a:solidFill>
                  <a:schemeClr val="tx1"/>
                </a:solidFill>
                <a:effectLst/>
                <a:latin typeface="+mn-lt"/>
                <a:ea typeface="+mn-ea"/>
                <a:cs typeface="+mn-cs"/>
              </a:rPr>
              <a:t>The Immediate Impact: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long-term yields spike, the cost of capital surges across every layer of the economy. It immediately destabilizes $40 trillion in national debt, squeezes corporate credit lines, spikes mortgage rates, and crushes leveraged AI capital expenditure plans. </a:t>
            </a:r>
          </a:p>
          <a:p>
            <a:pPr lvl="0"/>
            <a:r>
              <a:rPr lang="en-US" sz="1200" b="1" kern="1200" dirty="0">
                <a:solidFill>
                  <a:schemeClr val="tx1"/>
                </a:solidFill>
                <a:effectLst/>
                <a:latin typeface="+mn-lt"/>
                <a:ea typeface="+mn-ea"/>
                <a:cs typeface="+mn-cs"/>
              </a:rPr>
              <a:t>Transition Cue: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brings us to a massive policy clash occurring right now in Washington between monetary and fiscal authorities.</a:t>
            </a:r>
          </a:p>
          <a:p>
            <a:endParaRPr lang="en-US" dirty="0"/>
          </a:p>
        </p:txBody>
      </p:sp>
      <p:sp>
        <p:nvSpPr>
          <p:cNvPr id="4" name="Slide Number Placeholder 3"/>
          <p:cNvSpPr>
            <a:spLocks noGrp="1"/>
          </p:cNvSpPr>
          <p:nvPr>
            <p:ph type="sldNum" sz="quarter" idx="5"/>
          </p:nvPr>
        </p:nvSpPr>
        <p:spPr/>
        <p:txBody>
          <a:bodyPr/>
          <a:lstStyle/>
          <a:p>
            <a:fld id="{14210635-EA27-4DFA-A102-71146E0BB05C}" type="slidenum">
              <a:rPr lang="en-US" smtClean="0"/>
              <a:t>6</a:t>
            </a:fld>
            <a:endParaRPr lang="en-US"/>
          </a:p>
        </p:txBody>
      </p:sp>
    </p:spTree>
    <p:extLst>
      <p:ext uri="{BB962C8B-B14F-4D97-AF65-F5344CB8AC3E}">
        <p14:creationId xmlns:p14="http://schemas.microsoft.com/office/powerpoint/2010/main" val="2515658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Conflict: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Behind closed doors, we are witnessing an intense tug-of-war between the Federal Reserve and the US Department of the Treasury. </a:t>
            </a:r>
          </a:p>
          <a:p>
            <a:pPr lvl="0"/>
            <a:r>
              <a:rPr lang="en-US" sz="1200" b="1" kern="1200" dirty="0">
                <a:solidFill>
                  <a:schemeClr val="tx1"/>
                </a:solidFill>
                <a:effectLst/>
                <a:latin typeface="+mn-lt"/>
                <a:ea typeface="+mn-ea"/>
                <a:cs typeface="+mn-cs"/>
              </a:rPr>
              <a:t>Force A (The Federal Reserve):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Fed is focused on fighting inflation, holding policy rates elevated, and shrinking its $6.7 trillion balance sheet, allowing free-market forces to price long-term debt.</a:t>
            </a:r>
          </a:p>
          <a:p>
            <a:pPr lvl="0"/>
            <a:r>
              <a:rPr lang="en-US" sz="1200" b="1" kern="1200" dirty="0">
                <a:solidFill>
                  <a:schemeClr val="tx1"/>
                </a:solidFill>
                <a:effectLst/>
                <a:latin typeface="+mn-lt"/>
                <a:ea typeface="+mn-ea"/>
                <a:cs typeface="+mn-cs"/>
              </a:rPr>
              <a:t>Force B (The Treasury):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Treasury, aware that high yields threaten sovereign liquidity, attempts financial repression. By manipulating issuance toward short-dated T-bills and draining the Treasury General Account (TGA)—which sits around $950 billion—the Treasury attempts to artificially cap long-term yields. </a:t>
            </a:r>
          </a:p>
          <a:p>
            <a:pPr lvl="0"/>
            <a:r>
              <a:rPr lang="en-US" sz="1200" b="1" kern="1200" dirty="0">
                <a:solidFill>
                  <a:schemeClr val="tx1"/>
                </a:solidFill>
                <a:effectLst/>
                <a:latin typeface="+mn-lt"/>
                <a:ea typeface="+mn-ea"/>
                <a:cs typeface="+mn-cs"/>
              </a:rPr>
              <a:t>Who Wins?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free market always wins in the end. Draining the TGA is a finite tactic—the Treasury cannot run its operational checking account to zero without defaulting on obligations. Once the TGA buffer is exhausted, the Treasury loses its ability to suppress yields. </a:t>
            </a:r>
          </a:p>
          <a:p>
            <a:pPr lvl="0"/>
            <a:r>
              <a:rPr lang="en-US" sz="1200" b="1" kern="1200" dirty="0">
                <a:solidFill>
                  <a:schemeClr val="tx1"/>
                </a:solidFill>
                <a:effectLst/>
                <a:latin typeface="+mn-lt"/>
                <a:ea typeface="+mn-ea"/>
                <a:cs typeface="+mn-cs"/>
              </a:rPr>
              <a:t>Transition Cue: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policy tools run out, all three economic gears lock up, pointing directly to 2027.</a:t>
            </a:r>
          </a:p>
          <a:p>
            <a:endParaRPr lang="en-US" dirty="0"/>
          </a:p>
        </p:txBody>
      </p:sp>
      <p:sp>
        <p:nvSpPr>
          <p:cNvPr id="4" name="Slide Number Placeholder 3"/>
          <p:cNvSpPr>
            <a:spLocks noGrp="1"/>
          </p:cNvSpPr>
          <p:nvPr>
            <p:ph type="sldNum" sz="quarter" idx="5"/>
          </p:nvPr>
        </p:nvSpPr>
        <p:spPr/>
        <p:txBody>
          <a:bodyPr/>
          <a:lstStyle/>
          <a:p>
            <a:fld id="{14210635-EA27-4DFA-A102-71146E0BB05C}" type="slidenum">
              <a:rPr lang="en-US" smtClean="0"/>
              <a:t>7</a:t>
            </a:fld>
            <a:endParaRPr lang="en-US"/>
          </a:p>
        </p:txBody>
      </p:sp>
    </p:spTree>
    <p:extLst>
      <p:ext uri="{BB962C8B-B14F-4D97-AF65-F5344CB8AC3E}">
        <p14:creationId xmlns:p14="http://schemas.microsoft.com/office/powerpoint/2010/main" val="3158847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Why 2027?</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Why pinpoint 2027 as the systemic breaking point? It comes down to the synchronization of three mechanical gears. </a:t>
            </a:r>
          </a:p>
          <a:p>
            <a:pPr lvl="0"/>
            <a:r>
              <a:rPr lang="en-US" sz="1200" b="1" kern="1200" dirty="0">
                <a:solidFill>
                  <a:schemeClr val="tx1"/>
                </a:solidFill>
                <a:effectLst/>
                <a:latin typeface="+mn-lt"/>
                <a:ea typeface="+mn-ea"/>
                <a:cs typeface="+mn-cs"/>
              </a:rPr>
              <a:t>Gear 1: Quantitative Tightening &amp; Balance Sheet Run-off:</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Fed’s balance sheet run-off removes the primary price-insensitive buyer from the market. Private capital must step in to absorb trillions in new debt. </a:t>
            </a:r>
          </a:p>
          <a:p>
            <a:pPr lvl="0"/>
            <a:r>
              <a:rPr lang="en-US" sz="1200" b="1" kern="1200" dirty="0">
                <a:solidFill>
                  <a:schemeClr val="tx1"/>
                </a:solidFill>
                <a:effectLst/>
                <a:latin typeface="+mn-lt"/>
                <a:ea typeface="+mn-ea"/>
                <a:cs typeface="+mn-cs"/>
              </a:rPr>
              <a:t>Gear 2: Lagged Impact of High Rates: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Interest rate changes operate with long and variable lags. While corporate and consumer debt was locked in at low rates during 2020–2021, those low-rate hedges expire rapidly over the next two years. </a:t>
            </a:r>
          </a:p>
          <a:p>
            <a:pPr lvl="0"/>
            <a:r>
              <a:rPr lang="en-US" sz="1200" b="1" kern="1200" dirty="0">
                <a:solidFill>
                  <a:schemeClr val="tx1"/>
                </a:solidFill>
                <a:effectLst/>
                <a:latin typeface="+mn-lt"/>
                <a:ea typeface="+mn-ea"/>
                <a:cs typeface="+mn-cs"/>
              </a:rPr>
              <a:t>Gear 3: Debt Rollover Wall:</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 2026 and 2027, hundreds of billions in corporate debt, commercial real estate loans, and Treasury notes must be rolled over at double or triple their original coupon rates. Combined with a consumer savings rate of just 3%, cash flows will freeze. </a:t>
            </a:r>
          </a:p>
          <a:p>
            <a:pPr lvl="0"/>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Once this wall is hit, the crisis unfolds in four distinct, cascading phases. </a:t>
            </a:r>
          </a:p>
          <a:p>
            <a:endParaRPr lang="en-US" dirty="0"/>
          </a:p>
        </p:txBody>
      </p:sp>
      <p:sp>
        <p:nvSpPr>
          <p:cNvPr id="4" name="Slide Number Placeholder 3"/>
          <p:cNvSpPr>
            <a:spLocks noGrp="1"/>
          </p:cNvSpPr>
          <p:nvPr>
            <p:ph type="sldNum" sz="quarter" idx="5"/>
          </p:nvPr>
        </p:nvSpPr>
        <p:spPr/>
        <p:txBody>
          <a:bodyPr/>
          <a:lstStyle/>
          <a:p>
            <a:fld id="{14210635-EA27-4DFA-A102-71146E0BB05C}" type="slidenum">
              <a:rPr lang="en-US" smtClean="0"/>
              <a:t>8</a:t>
            </a:fld>
            <a:endParaRPr lang="en-US"/>
          </a:p>
        </p:txBody>
      </p:sp>
    </p:spTree>
    <p:extLst>
      <p:ext uri="{BB962C8B-B14F-4D97-AF65-F5344CB8AC3E}">
        <p14:creationId xmlns:p14="http://schemas.microsoft.com/office/powerpoint/2010/main" val="712328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Phase 1: Market Freeze &amp; Credit Crunch:</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debt rollovers fail, credit markets freeze. Corporate defaults surge, businesses slash capital expenditures, and unemployment escalates toward double digits. </a:t>
            </a:r>
          </a:p>
          <a:p>
            <a:pPr lvl="0"/>
            <a:r>
              <a:rPr lang="en-US" sz="1200" b="1" kern="1200" dirty="0">
                <a:solidFill>
                  <a:schemeClr val="tx1"/>
                </a:solidFill>
                <a:effectLst/>
                <a:latin typeface="+mn-lt"/>
                <a:ea typeface="+mn-ea"/>
                <a:cs typeface="+mn-cs"/>
              </a:rPr>
              <a:t>Phase 2: The Asset Flush:</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match high yield realities, markets undergo a valuation reset. Equities face a 50%+ drawdown to reach historical average price-to-earnings ratios. Real estate prices drop by 25% to 30% to align with reduced borrowing capacity. </a:t>
            </a:r>
          </a:p>
          <a:p>
            <a:pPr lvl="0"/>
            <a:r>
              <a:rPr lang="en-US" sz="1200" b="1" kern="1200" dirty="0">
                <a:solidFill>
                  <a:schemeClr val="tx1"/>
                </a:solidFill>
                <a:effectLst/>
                <a:latin typeface="+mn-lt"/>
                <a:ea typeface="+mn-ea"/>
                <a:cs typeface="+mn-cs"/>
              </a:rPr>
              <a:t>Phase 3: The Panic Print: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Faced with banking insolvencies and failing pension funds, central bankers will capitulate. Expect a massive monetary injection—printing between $6 trillion and $10 trillion to bailout systemically important institutions. </a:t>
            </a:r>
          </a:p>
          <a:p>
            <a:pPr lvl="0"/>
            <a:r>
              <a:rPr lang="en-US" sz="1200" b="1" kern="1200" dirty="0">
                <a:solidFill>
                  <a:schemeClr val="tx1"/>
                </a:solidFill>
                <a:effectLst/>
                <a:latin typeface="+mn-lt"/>
                <a:ea typeface="+mn-ea"/>
                <a:cs typeface="+mn-cs"/>
              </a:rPr>
              <a:t>Phase 4: Hyper Stagflation: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Unlike 2008, printing trillions in a supply-constrained, high-debt world will not lead to economic recovery. It destroys purchasing power, leading to </a:t>
            </a:r>
            <a:r>
              <a:rPr lang="en-US" sz="1200" i="1" kern="1200" dirty="0">
                <a:solidFill>
                  <a:schemeClr val="tx1"/>
                </a:solidFill>
                <a:effectLst/>
                <a:latin typeface="+mn-lt"/>
                <a:ea typeface="+mn-ea"/>
                <a:cs typeface="+mn-cs"/>
              </a:rPr>
              <a:t>Hyper Stagflation</a:t>
            </a:r>
            <a:r>
              <a:rPr lang="en-US" sz="1200" kern="1200" dirty="0">
                <a:solidFill>
                  <a:schemeClr val="tx1"/>
                </a:solidFill>
                <a:effectLst/>
                <a:latin typeface="+mn-lt"/>
                <a:ea typeface="+mn-ea"/>
                <a:cs typeface="+mn-cs"/>
              </a:rPr>
              <a:t>—flat-to-negative real GDP growth combined with persistent inflation. </a:t>
            </a:r>
          </a:p>
          <a:p>
            <a:pPr lvl="0"/>
            <a:r>
              <a:rPr lang="en-US" sz="1200" b="1" kern="1200" dirty="0">
                <a:solidFill>
                  <a:schemeClr val="tx1"/>
                </a:solidFill>
                <a:effectLst/>
                <a:latin typeface="+mn-lt"/>
                <a:ea typeface="+mn-ea"/>
                <a:cs typeface="+mn-cs"/>
              </a:rPr>
              <a:t>Transition Cue: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phase completely destroys traditional portfolio management strategies.</a:t>
            </a:r>
          </a:p>
          <a:p>
            <a:endParaRPr lang="en-US" dirty="0"/>
          </a:p>
        </p:txBody>
      </p:sp>
      <p:sp>
        <p:nvSpPr>
          <p:cNvPr id="4" name="Slide Number Placeholder 3"/>
          <p:cNvSpPr>
            <a:spLocks noGrp="1"/>
          </p:cNvSpPr>
          <p:nvPr>
            <p:ph type="sldNum" sz="quarter" idx="5"/>
          </p:nvPr>
        </p:nvSpPr>
        <p:spPr/>
        <p:txBody>
          <a:bodyPr/>
          <a:lstStyle/>
          <a:p>
            <a:fld id="{14210635-EA27-4DFA-A102-71146E0BB05C}" type="slidenum">
              <a:rPr lang="en-US" smtClean="0"/>
              <a:t>9</a:t>
            </a:fld>
            <a:endParaRPr lang="en-US"/>
          </a:p>
        </p:txBody>
      </p:sp>
    </p:spTree>
    <p:extLst>
      <p:ext uri="{BB962C8B-B14F-4D97-AF65-F5344CB8AC3E}">
        <p14:creationId xmlns:p14="http://schemas.microsoft.com/office/powerpoint/2010/main" val="1824955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Historical Promise of 60/40:</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For 40 years, the 60/40 portfolio was the benchmark for balanced asset allocation. When equities fell during economic downturns, central banks cut interest rates, driving up bond prices and buffering stock losses. </a:t>
            </a:r>
          </a:p>
          <a:p>
            <a:pPr lvl="0"/>
            <a:r>
              <a:rPr lang="en-US" sz="1200" b="1" kern="1200" dirty="0">
                <a:solidFill>
                  <a:schemeClr val="tx1"/>
                </a:solidFill>
                <a:effectLst/>
                <a:latin typeface="+mn-lt"/>
                <a:ea typeface="+mn-ea"/>
                <a:cs typeface="+mn-cs"/>
              </a:rPr>
              <a:t>The 2022 Warning:</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 2022, investors received a prelude to what is coming: as inflation surged, both stocks and bonds dropped simultaneously.</a:t>
            </a:r>
          </a:p>
          <a:p>
            <a:pPr lvl="0"/>
            <a:r>
              <a:rPr lang="en-US" sz="1200" b="1" kern="1200" dirty="0">
                <a:solidFill>
                  <a:schemeClr val="tx1"/>
                </a:solidFill>
                <a:effectLst/>
                <a:latin typeface="+mn-lt"/>
                <a:ea typeface="+mn-ea"/>
                <a:cs typeface="+mn-cs"/>
              </a:rPr>
              <a:t>The Hyper-</a:t>
            </a:r>
            <a:r>
              <a:rPr lang="en-US" sz="1200" b="1" kern="1200" dirty="0" err="1">
                <a:solidFill>
                  <a:schemeClr val="tx1"/>
                </a:solidFill>
                <a:effectLst/>
                <a:latin typeface="+mn-lt"/>
                <a:ea typeface="+mn-ea"/>
                <a:cs typeface="+mn-cs"/>
              </a:rPr>
              <a:t>Stagflationary</a:t>
            </a:r>
            <a:r>
              <a:rPr lang="en-US" sz="1200" b="1" kern="1200" dirty="0">
                <a:solidFill>
                  <a:schemeClr val="tx1"/>
                </a:solidFill>
                <a:effectLst/>
                <a:latin typeface="+mn-lt"/>
                <a:ea typeface="+mn-ea"/>
                <a:cs typeface="+mn-cs"/>
              </a:rPr>
              <a:t> Reality: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 the upcoming hyper-</a:t>
            </a:r>
            <a:r>
              <a:rPr lang="en-US" sz="1200" kern="1200" dirty="0" err="1">
                <a:solidFill>
                  <a:schemeClr val="tx1"/>
                </a:solidFill>
                <a:effectLst/>
                <a:latin typeface="+mn-lt"/>
                <a:ea typeface="+mn-ea"/>
                <a:cs typeface="+mn-cs"/>
              </a:rPr>
              <a:t>stagflationary</a:t>
            </a:r>
            <a:r>
              <a:rPr lang="en-US" sz="1200" kern="1200" dirty="0">
                <a:solidFill>
                  <a:schemeClr val="tx1"/>
                </a:solidFill>
                <a:effectLst/>
                <a:latin typeface="+mn-lt"/>
                <a:ea typeface="+mn-ea"/>
                <a:cs typeface="+mn-cs"/>
              </a:rPr>
              <a:t> cycle, the Treasury will issue $4 to $6 trillion in new debt annually to finance deficits. Bond yields will remain elevated despite weak economic growth. Bonds will no longer act as a shock absorber; they become an unhedged anchor dragging down total portfolio returns. </a:t>
            </a:r>
          </a:p>
          <a:p>
            <a:pPr lvl="0"/>
            <a:r>
              <a:rPr lang="en-US" sz="1200" b="1" kern="1200" dirty="0">
                <a:solidFill>
                  <a:schemeClr val="tx1"/>
                </a:solidFill>
                <a:effectLst/>
                <a:latin typeface="+mn-lt"/>
                <a:ea typeface="+mn-ea"/>
                <a:cs typeface="+mn-cs"/>
              </a:rPr>
              <a:t>Transition Cue: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So where do you allocate capital when both traditional paper assets fail? You look to Sector 5. </a:t>
            </a:r>
          </a:p>
          <a:p>
            <a:endParaRPr lang="en-US" dirty="0"/>
          </a:p>
        </p:txBody>
      </p:sp>
      <p:sp>
        <p:nvSpPr>
          <p:cNvPr id="4" name="Slide Number Placeholder 3"/>
          <p:cNvSpPr>
            <a:spLocks noGrp="1"/>
          </p:cNvSpPr>
          <p:nvPr>
            <p:ph type="sldNum" sz="quarter" idx="5"/>
          </p:nvPr>
        </p:nvSpPr>
        <p:spPr/>
        <p:txBody>
          <a:bodyPr/>
          <a:lstStyle/>
          <a:p>
            <a:fld id="{14210635-EA27-4DFA-A102-71146E0BB05C}" type="slidenum">
              <a:rPr lang="en-US" smtClean="0"/>
              <a:t>10</a:t>
            </a:fld>
            <a:endParaRPr lang="en-US"/>
          </a:p>
        </p:txBody>
      </p:sp>
    </p:spTree>
    <p:extLst>
      <p:ext uri="{BB962C8B-B14F-4D97-AF65-F5344CB8AC3E}">
        <p14:creationId xmlns:p14="http://schemas.microsoft.com/office/powerpoint/2010/main" val="1780545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Introducing Sector 5:</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Through extensive back-testing across multi-decade macroeconomic cycles, 'Sector 5' represents the optimal allocation during hyper-</a:t>
            </a:r>
            <a:r>
              <a:rPr lang="en-US" sz="1200" kern="1200" dirty="0" err="1">
                <a:solidFill>
                  <a:schemeClr val="tx1"/>
                </a:solidFill>
                <a:effectLst/>
                <a:latin typeface="+mn-lt"/>
                <a:ea typeface="+mn-ea"/>
                <a:cs typeface="+mn-cs"/>
              </a:rPr>
              <a:t>stagflationary</a:t>
            </a:r>
            <a:r>
              <a:rPr lang="en-US" sz="1200" kern="1200" dirty="0">
                <a:solidFill>
                  <a:schemeClr val="tx1"/>
                </a:solidFill>
                <a:effectLst/>
                <a:latin typeface="+mn-lt"/>
                <a:ea typeface="+mn-ea"/>
                <a:cs typeface="+mn-cs"/>
              </a:rPr>
              <a:t> regimes. </a:t>
            </a:r>
          </a:p>
          <a:p>
            <a:pPr lvl="0"/>
            <a:r>
              <a:rPr lang="en-US" sz="1200" b="1" kern="1200" dirty="0">
                <a:solidFill>
                  <a:schemeClr val="tx1"/>
                </a:solidFill>
                <a:effectLst/>
                <a:latin typeface="+mn-lt"/>
                <a:ea typeface="+mn-ea"/>
                <a:cs typeface="+mn-cs"/>
              </a:rPr>
              <a:t>The Four Core Pillars: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 Precious Metals:</a:t>
            </a:r>
            <a:r>
              <a:rPr lang="en-US" sz="1200" kern="1200" dirty="0">
                <a:solidFill>
                  <a:schemeClr val="tx1"/>
                </a:solidFill>
                <a:effectLst/>
                <a:latin typeface="+mn-lt"/>
                <a:ea typeface="+mn-ea"/>
                <a:cs typeface="+mn-cs"/>
              </a:rPr>
              <a:t> Physical gold, silver, and select miners. These act as the primary store of value when fiat currencies dilute.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2. Energy:</a:t>
            </a:r>
            <a:r>
              <a:rPr lang="en-US" sz="1200" kern="1200" dirty="0">
                <a:solidFill>
                  <a:schemeClr val="tx1"/>
                </a:solidFill>
                <a:effectLst/>
                <a:latin typeface="+mn-lt"/>
                <a:ea typeface="+mn-ea"/>
                <a:cs typeface="+mn-cs"/>
              </a:rPr>
              <a:t> Oil and gas infrastructure. Energy exhibits inelastic demand and directly captures inflationary upside.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3. Base Metals:</a:t>
            </a:r>
            <a:r>
              <a:rPr lang="en-US" sz="1200" kern="1200" dirty="0">
                <a:solidFill>
                  <a:schemeClr val="tx1"/>
                </a:solidFill>
                <a:effectLst/>
                <a:latin typeface="+mn-lt"/>
                <a:ea typeface="+mn-ea"/>
                <a:cs typeface="+mn-cs"/>
              </a:rPr>
              <a:t> Copper, nickel, and industrial inputs. They maintain intrinsic physical value regardless of monetary policy shifts.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4. Agriculture:</a:t>
            </a:r>
            <a:r>
              <a:rPr lang="en-US" sz="1200" kern="1200" dirty="0">
                <a:solidFill>
                  <a:schemeClr val="tx1"/>
                </a:solidFill>
                <a:effectLst/>
                <a:latin typeface="+mn-lt"/>
                <a:ea typeface="+mn-ea"/>
                <a:cs typeface="+mn-cs"/>
              </a:rPr>
              <a:t> Essential soft commodities. Food demand remains constant regardless of economic conditions. </a:t>
            </a:r>
          </a:p>
          <a:p>
            <a:pPr lvl="0"/>
            <a:r>
              <a:rPr lang="en-US" sz="1200" b="1" kern="1200" dirty="0">
                <a:solidFill>
                  <a:schemeClr val="tx1"/>
                </a:solidFill>
                <a:effectLst/>
                <a:latin typeface="+mn-lt"/>
                <a:ea typeface="+mn-ea"/>
                <a:cs typeface="+mn-cs"/>
              </a:rPr>
              <a:t>The Underlying Logic:</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nominal bond yields are artificially capped while inflation remains high, real interest rates plunge into deep negative territory. Physical, hard assets become the primary means of capital preservation. </a:t>
            </a:r>
          </a:p>
          <a:p>
            <a:pPr lvl="0"/>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How do we position portfolios tactically during the remaining window before this break occurs? </a:t>
            </a:r>
          </a:p>
          <a:p>
            <a:endParaRPr lang="en-US" dirty="0"/>
          </a:p>
          <a:p>
            <a:endParaRPr lang="en-US" dirty="0"/>
          </a:p>
        </p:txBody>
      </p:sp>
      <p:sp>
        <p:nvSpPr>
          <p:cNvPr id="4" name="Slide Number Placeholder 3"/>
          <p:cNvSpPr>
            <a:spLocks noGrp="1"/>
          </p:cNvSpPr>
          <p:nvPr>
            <p:ph type="sldNum" sz="quarter" idx="5"/>
          </p:nvPr>
        </p:nvSpPr>
        <p:spPr/>
        <p:txBody>
          <a:bodyPr/>
          <a:lstStyle/>
          <a:p>
            <a:fld id="{14210635-EA27-4DFA-A102-71146E0BB05C}" type="slidenum">
              <a:rPr lang="en-US" smtClean="0"/>
              <a:t>11</a:t>
            </a:fld>
            <a:endParaRPr lang="en-US"/>
          </a:p>
        </p:txBody>
      </p:sp>
    </p:spTree>
    <p:extLst>
      <p:ext uri="{BB962C8B-B14F-4D97-AF65-F5344CB8AC3E}">
        <p14:creationId xmlns:p14="http://schemas.microsoft.com/office/powerpoint/2010/main" val="2612615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Navigating the Interim Window:</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We are not net short today because credit spreads have not yet blown out. We want to participate safely while building a defensive fortress. </a:t>
            </a:r>
          </a:p>
          <a:p>
            <a:pPr lvl="0"/>
            <a:r>
              <a:rPr lang="en-US" sz="1200" b="1" kern="1200" dirty="0">
                <a:solidFill>
                  <a:schemeClr val="tx1"/>
                </a:solidFill>
                <a:effectLst/>
                <a:latin typeface="+mn-lt"/>
                <a:ea typeface="+mn-ea"/>
                <a:cs typeface="+mn-cs"/>
              </a:rPr>
              <a:t>Tactical Allocation Strategy: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 The Fortress (Short-End Yield Curve):</a:t>
            </a:r>
            <a:r>
              <a:rPr lang="en-US" sz="1200" kern="1200" dirty="0">
                <a:solidFill>
                  <a:schemeClr val="tx1"/>
                </a:solidFill>
                <a:effectLst/>
                <a:latin typeface="+mn-lt"/>
                <a:ea typeface="+mn-ea"/>
                <a:cs typeface="+mn-cs"/>
              </a:rPr>
              <a:t> Position heavily in 1-to-3 year sovereign Treasuries. This captures 4%+ risk-free yields without exposing capital to duration risk if long-term yields surge.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2. Cash Flow (High-Quality Dividends):</a:t>
            </a:r>
            <a:r>
              <a:rPr lang="en-US" sz="1200" kern="1200" dirty="0">
                <a:solidFill>
                  <a:schemeClr val="tx1"/>
                </a:solidFill>
                <a:effectLst/>
                <a:latin typeface="+mn-lt"/>
                <a:ea typeface="+mn-ea"/>
                <a:cs typeface="+mn-cs"/>
              </a:rPr>
              <a:t> Maintain exposure to high-dividend international and domestic equities with strong pricing power.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3. Momentum Hedging:</a:t>
            </a:r>
            <a:r>
              <a:rPr lang="en-US" sz="1200" kern="1200" dirty="0">
                <a:solidFill>
                  <a:schemeClr val="tx1"/>
                </a:solidFill>
                <a:effectLst/>
                <a:latin typeface="+mn-lt"/>
                <a:ea typeface="+mn-ea"/>
                <a:cs typeface="+mn-cs"/>
              </a:rPr>
              <a:t> Utilize active long/short strategies to remain invested in </a:t>
            </a:r>
            <a:r>
              <a:rPr lang="en-US" sz="1200" kern="1200" dirty="0" err="1">
                <a:solidFill>
                  <a:schemeClr val="tx1"/>
                </a:solidFill>
                <a:effectLst/>
                <a:latin typeface="+mn-lt"/>
                <a:ea typeface="+mn-ea"/>
                <a:cs typeface="+mn-cs"/>
              </a:rPr>
              <a:t>uptrending</a:t>
            </a:r>
            <a:r>
              <a:rPr lang="en-US" sz="1200" kern="1200" dirty="0">
                <a:solidFill>
                  <a:schemeClr val="tx1"/>
                </a:solidFill>
                <a:effectLst/>
                <a:latin typeface="+mn-lt"/>
                <a:ea typeface="+mn-ea"/>
                <a:cs typeface="+mn-cs"/>
              </a:rPr>
              <a:t> sectors while shorting vulnerable equities.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4. True Yield (Monetary Metals):</a:t>
            </a:r>
            <a:r>
              <a:rPr lang="en-US" sz="1200" kern="1200" dirty="0">
                <a:solidFill>
                  <a:schemeClr val="tx1"/>
                </a:solidFill>
                <a:effectLst/>
                <a:latin typeface="+mn-lt"/>
                <a:ea typeface="+mn-ea"/>
                <a:cs typeface="+mn-cs"/>
              </a:rPr>
              <a:t> Hold ~10% in physical gold and high-grade miners, focusing on earning yield in physical gold ounces rather than fiat paper dollars. </a:t>
            </a:r>
          </a:p>
          <a:p>
            <a:pPr lvl="0"/>
            <a:r>
              <a:rPr lang="en-US" sz="1200" b="1" kern="1200" dirty="0">
                <a:solidFill>
                  <a:schemeClr val="tx1"/>
                </a:solidFill>
                <a:effectLst/>
                <a:latin typeface="+mn-lt"/>
                <a:ea typeface="+mn-ea"/>
                <a:cs typeface="+mn-cs"/>
              </a:rPr>
              <a:t>Transition Cue: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Time is short, and the window to prepare is closing.</a:t>
            </a:r>
          </a:p>
          <a:p>
            <a:endParaRPr lang="en-US" dirty="0"/>
          </a:p>
        </p:txBody>
      </p:sp>
      <p:sp>
        <p:nvSpPr>
          <p:cNvPr id="4" name="Slide Number Placeholder 3"/>
          <p:cNvSpPr>
            <a:spLocks noGrp="1"/>
          </p:cNvSpPr>
          <p:nvPr>
            <p:ph type="sldNum" sz="quarter" idx="5"/>
          </p:nvPr>
        </p:nvSpPr>
        <p:spPr/>
        <p:txBody>
          <a:bodyPr/>
          <a:lstStyle/>
          <a:p>
            <a:fld id="{14210635-EA27-4DFA-A102-71146E0BB05C}" type="slidenum">
              <a:rPr lang="en-US" smtClean="0"/>
              <a:t>12</a:t>
            </a:fld>
            <a:endParaRPr lang="en-US"/>
          </a:p>
        </p:txBody>
      </p:sp>
    </p:spTree>
    <p:extLst>
      <p:ext uri="{BB962C8B-B14F-4D97-AF65-F5344CB8AC3E}">
        <p14:creationId xmlns:p14="http://schemas.microsoft.com/office/powerpoint/2010/main" val="35318074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Call to Action: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We are currently in the quiet window before a structural market break. Stealth inflation is continually eroding purchasing power. </a:t>
            </a:r>
          </a:p>
          <a:p>
            <a:pPr lvl="0"/>
            <a:r>
              <a:rPr lang="en-US" sz="1200" b="1" kern="1200" dirty="0">
                <a:solidFill>
                  <a:schemeClr val="tx1"/>
                </a:solidFill>
                <a:effectLst/>
                <a:latin typeface="+mn-lt"/>
                <a:ea typeface="+mn-ea"/>
                <a:cs typeface="+mn-cs"/>
              </a:rPr>
              <a:t>Urgency: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Waiting for credit markets to freeze before adjusting your portfolio will be too late. Liquidity disappears instantly when credit events occur. </a:t>
            </a:r>
          </a:p>
          <a:p>
            <a:pPr lvl="0"/>
            <a:r>
              <a:rPr lang="en-US" sz="1200" b="1" kern="1200" dirty="0">
                <a:solidFill>
                  <a:schemeClr val="tx1"/>
                </a:solidFill>
                <a:effectLst/>
                <a:latin typeface="+mn-lt"/>
                <a:ea typeface="+mn-ea"/>
                <a:cs typeface="+mn-cs"/>
              </a:rPr>
              <a:t>Core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Participate in the market safely today, but structure your wealth defensively now before the transition takes place.</a:t>
            </a:r>
          </a:p>
          <a:p>
            <a:pPr lvl="0"/>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Let's summarize the entire macro framework on our final slide. </a:t>
            </a:r>
          </a:p>
          <a:p>
            <a:endParaRPr lang="en-US" dirty="0"/>
          </a:p>
        </p:txBody>
      </p:sp>
      <p:sp>
        <p:nvSpPr>
          <p:cNvPr id="4" name="Slide Number Placeholder 3"/>
          <p:cNvSpPr>
            <a:spLocks noGrp="1"/>
          </p:cNvSpPr>
          <p:nvPr>
            <p:ph type="sldNum" sz="quarter" idx="5"/>
          </p:nvPr>
        </p:nvSpPr>
        <p:spPr/>
        <p:txBody>
          <a:bodyPr/>
          <a:lstStyle/>
          <a:p>
            <a:fld id="{14210635-EA27-4DFA-A102-71146E0BB05C}" type="slidenum">
              <a:rPr lang="en-US" smtClean="0"/>
              <a:t>13</a:t>
            </a:fld>
            <a:endParaRPr lang="en-US"/>
          </a:p>
        </p:txBody>
      </p:sp>
    </p:spTree>
    <p:extLst>
      <p:ext uri="{BB962C8B-B14F-4D97-AF65-F5344CB8AC3E}">
        <p14:creationId xmlns:p14="http://schemas.microsoft.com/office/powerpoint/2010/main" val="4293912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Recap of the Systemic Equation: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summarize the entire architecture of the 2027 Economic Cliff: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Debt Wall:</a:t>
            </a:r>
            <a:r>
              <a:rPr lang="en-US" sz="1200" kern="1200" dirty="0">
                <a:solidFill>
                  <a:schemeClr val="tx1"/>
                </a:solidFill>
                <a:effectLst/>
                <a:latin typeface="+mn-lt"/>
                <a:ea typeface="+mn-ea"/>
                <a:cs typeface="+mn-cs"/>
              </a:rPr>
              <a:t> National Debt at 123% of GDP and 720% of federal revenue.</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Valuation Extremes:</a:t>
            </a:r>
            <a:r>
              <a:rPr lang="en-US" sz="1200" kern="1200" dirty="0">
                <a:solidFill>
                  <a:schemeClr val="tx1"/>
                </a:solidFill>
                <a:effectLst/>
                <a:latin typeface="+mn-lt"/>
                <a:ea typeface="+mn-ea"/>
                <a:cs typeface="+mn-cs"/>
              </a:rPr>
              <a:t> Equities at 235% of GDP and housing price-to-income at record highs.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Pin:</a:t>
            </a:r>
            <a:r>
              <a:rPr lang="en-US" sz="1200" kern="1200" dirty="0">
                <a:solidFill>
                  <a:schemeClr val="tx1"/>
                </a:solidFill>
                <a:effectLst/>
                <a:latin typeface="+mn-lt"/>
                <a:ea typeface="+mn-ea"/>
                <a:cs typeface="+mn-cs"/>
              </a:rPr>
              <a:t> Spiking long-duration rates breaking $40T in total credit debt.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Outcome:</a:t>
            </a:r>
            <a:r>
              <a:rPr lang="en-US" sz="1200" kern="1200" dirty="0">
                <a:solidFill>
                  <a:schemeClr val="tx1"/>
                </a:solidFill>
                <a:effectLst/>
                <a:latin typeface="+mn-lt"/>
                <a:ea typeface="+mn-ea"/>
                <a:cs typeface="+mn-cs"/>
              </a:rPr>
              <a:t> The death of the passive 60/40 portfolio and the arrival of a Hyper-</a:t>
            </a:r>
            <a:r>
              <a:rPr lang="en-US" sz="1200" kern="1200" dirty="0" err="1">
                <a:solidFill>
                  <a:schemeClr val="tx1"/>
                </a:solidFill>
                <a:effectLst/>
                <a:latin typeface="+mn-lt"/>
                <a:ea typeface="+mn-ea"/>
                <a:cs typeface="+mn-cs"/>
              </a:rPr>
              <a:t>Stagflationary</a:t>
            </a:r>
            <a:r>
              <a:rPr lang="en-US" sz="1200" kern="1200" dirty="0">
                <a:solidFill>
                  <a:schemeClr val="tx1"/>
                </a:solidFill>
                <a:effectLst/>
                <a:latin typeface="+mn-lt"/>
                <a:ea typeface="+mn-ea"/>
                <a:cs typeface="+mn-cs"/>
              </a:rPr>
              <a:t> Depression.</a:t>
            </a:r>
          </a:p>
          <a:p>
            <a:pPr lvl="0"/>
            <a:r>
              <a:rPr lang="en-US" sz="1200" b="1" kern="1200" dirty="0">
                <a:solidFill>
                  <a:schemeClr val="tx1"/>
                </a:solidFill>
                <a:effectLst/>
                <a:latin typeface="+mn-lt"/>
                <a:ea typeface="+mn-ea"/>
                <a:cs typeface="+mn-cs"/>
              </a:rPr>
              <a:t>Defensive Playbook: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Shift capital into precious metals, energy, agriculture, and 1-to-3 year sovereign short-term debt.</a:t>
            </a:r>
          </a:p>
          <a:p>
            <a:pPr lvl="0"/>
            <a:r>
              <a:rPr lang="en-US" sz="1200" b="1" kern="1200" dirty="0">
                <a:solidFill>
                  <a:schemeClr val="tx1"/>
                </a:solidFill>
                <a:effectLst/>
                <a:latin typeface="+mn-lt"/>
                <a:ea typeface="+mn-ea"/>
                <a:cs typeface="+mn-cs"/>
              </a:rPr>
              <a:t>Closing Statement: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Thank you for your time today. I am now happy to open the floor to any questions. </a:t>
            </a:r>
          </a:p>
          <a:p>
            <a:endParaRPr lang="en-US" dirty="0"/>
          </a:p>
          <a:p>
            <a:endParaRPr lang="en-US" dirty="0"/>
          </a:p>
          <a:p>
            <a:endParaRPr lang="en-US" dirty="0"/>
          </a:p>
          <a:p>
            <a:endParaRPr lang="en-US" dirty="0"/>
          </a:p>
          <a:p>
            <a:r>
              <a:rPr lang="en-US" b="1" dirty="0"/>
              <a:t>Michael Pento: 2027 Will Be a Very Difficult Year – Here's Why</a:t>
            </a:r>
          </a:p>
          <a:p>
            <a:r>
              <a:rPr lang="en-US" dirty="0"/>
              <a:t>https://www.youtube.com/watch?v=lqgYjFky-Po</a:t>
            </a:r>
          </a:p>
        </p:txBody>
      </p:sp>
      <p:sp>
        <p:nvSpPr>
          <p:cNvPr id="4" name="Slide Number Placeholder 3"/>
          <p:cNvSpPr>
            <a:spLocks noGrp="1"/>
          </p:cNvSpPr>
          <p:nvPr>
            <p:ph type="sldNum" sz="quarter" idx="5"/>
          </p:nvPr>
        </p:nvSpPr>
        <p:spPr/>
        <p:txBody>
          <a:bodyPr/>
          <a:lstStyle/>
          <a:p>
            <a:fld id="{14210635-EA27-4DFA-A102-71146E0BB05C}" type="slidenum">
              <a:rPr lang="en-US" smtClean="0"/>
              <a:t>14</a:t>
            </a:fld>
            <a:endParaRPr lang="en-US"/>
          </a:p>
        </p:txBody>
      </p:sp>
    </p:spTree>
    <p:extLst>
      <p:ext uri="{BB962C8B-B14F-4D97-AF65-F5344CB8AC3E}">
        <p14:creationId xmlns:p14="http://schemas.microsoft.com/office/powerpoint/2010/main" val="3565180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2B7B98-22E2-32F6-F40D-703AE459A543}"/>
              </a:ext>
            </a:extLst>
          </p:cNvPr>
          <p:cNvSpPr>
            <a:spLocks noGrp="1"/>
          </p:cNvSpPr>
          <p:nvPr>
            <p:ph type="dt" sz="half" idx="10"/>
          </p:nvPr>
        </p:nvSpPr>
        <p:spPr/>
        <p:txBody>
          <a:bodyPr/>
          <a:lstStyle/>
          <a:p>
            <a:fld id="{00CB7257-0388-4DBD-ABF6-7CBAC34E997A}" type="datetimeFigureOut">
              <a:rPr lang="en-US" smtClean="0"/>
              <a:t>10/21/2026</a:t>
            </a:fld>
            <a:endParaRPr lang="en-US"/>
          </a:p>
        </p:txBody>
      </p:sp>
      <p:sp>
        <p:nvSpPr>
          <p:cNvPr id="3" name="Footer Placeholder 2">
            <a:extLst>
              <a:ext uri="{FF2B5EF4-FFF2-40B4-BE49-F238E27FC236}">
                <a16:creationId xmlns:a16="http://schemas.microsoft.com/office/drawing/2014/main" id="{99E5BB06-84EF-E575-76CC-B65AE45263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E279FA-1596-48E6-CF9C-19E86F090B41}"/>
              </a:ext>
            </a:extLst>
          </p:cNvPr>
          <p:cNvSpPr>
            <a:spLocks noGrp="1"/>
          </p:cNvSpPr>
          <p:nvPr>
            <p:ph type="sldNum" sz="quarter" idx="12"/>
          </p:nvPr>
        </p:nvSpPr>
        <p:spPr/>
        <p:txBody>
          <a:bodyPr/>
          <a:lstStyle/>
          <a:p>
            <a:fld id="{A14E7382-0BC6-49F7-835C-7BEF48CC5750}" type="slidenum">
              <a:rPr lang="en-US" smtClean="0"/>
              <a:t>‹#›</a:t>
            </a:fld>
            <a:endParaRPr lang="en-US"/>
          </a:p>
        </p:txBody>
      </p:sp>
    </p:spTree>
    <p:extLst>
      <p:ext uri="{BB962C8B-B14F-4D97-AF65-F5344CB8AC3E}">
        <p14:creationId xmlns:p14="http://schemas.microsoft.com/office/powerpoint/2010/main" val="60655288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CDFF6F-658E-7E91-01D1-E0163F7E70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7E978E-1AA9-EF0A-930E-24AA677028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9DF04E-8740-4C2A-8C96-B2BDD0E2DE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CB7257-0388-4DBD-ABF6-7CBAC34E997A}" type="datetimeFigureOut">
              <a:rPr lang="en-US" smtClean="0"/>
              <a:t>10/21/2026</a:t>
            </a:fld>
            <a:endParaRPr lang="en-US"/>
          </a:p>
        </p:txBody>
      </p:sp>
      <p:sp>
        <p:nvSpPr>
          <p:cNvPr id="5" name="Footer Placeholder 4">
            <a:extLst>
              <a:ext uri="{FF2B5EF4-FFF2-40B4-BE49-F238E27FC236}">
                <a16:creationId xmlns:a16="http://schemas.microsoft.com/office/drawing/2014/main" id="{9AE49756-6E22-153E-07C5-3564010A41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12542B1-838A-4C36-23CB-6AEC95F7C2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4E7382-0BC6-49F7-835C-7BEF48CC5750}" type="slidenum">
              <a:rPr lang="en-US" smtClean="0"/>
              <a:t>‹#›</a:t>
            </a:fld>
            <a:endParaRPr lang="en-US"/>
          </a:p>
        </p:txBody>
      </p:sp>
    </p:spTree>
    <p:extLst>
      <p:ext uri="{BB962C8B-B14F-4D97-AF65-F5344CB8AC3E}">
        <p14:creationId xmlns:p14="http://schemas.microsoft.com/office/powerpoint/2010/main" val="204218996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E13F67C-5F59-AB06-6A91-BD5FB51D044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7A74D9-443E-6941-964A-127277A49B3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B8CCE6-589E-4ACC-E941-19796D3003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716824-1FD9-6526-F6B7-57378E98EFE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2DEB92-84A8-8FA1-1448-B7808058350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7B5982-3A12-D4A1-FAB5-7E56A63E78D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731EF0-F6F6-46B3-B22B-ECA281A9074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C82664-AFBF-7BBE-228C-941F4BA80E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E22316-A992-D908-F66F-FA67EC31A3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3368FF-1D7C-F351-DF11-945695B233A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19172E-F438-E37A-F60E-C581410C3B2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00E693-4BB7-0C7A-0A41-5EE083F242A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488095-9CD0-60BC-5699-8592496C0A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01F83E-0772-EA91-CC2D-C29F6007C0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418116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2576</Words>
  <Application>Microsoft Office PowerPoint</Application>
  <PresentationFormat>寬螢幕</PresentationFormat>
  <Paragraphs>147</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2026-09-26T10:11:05Z</dcterms:created>
  <dcterms:modified xsi:type="dcterms:W3CDTF">2026-10-21T02:41:10Z</dcterms:modified>
</cp:coreProperties>
</file>