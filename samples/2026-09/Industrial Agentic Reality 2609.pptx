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D070EF-20E4-467D-B136-7E307A5B2D6C}" v="23" dt="2026-09-20T10:22:58.0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58262"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modMainMaster">
      <pc:chgData name="Lai, Wilson" userId="2840974a-0d84-4886-90a9-9a3ed79f3a48" providerId="ADAL" clId="{9F23B798-9E84-4552-BA63-E776E805C424}" dt="2026-09-20T10:23:26.494" v="62" actId="166"/>
      <pc:docMkLst>
        <pc:docMk/>
      </pc:docMkLst>
      <pc:sldChg chg="addSp delSp modSp mod modNotes modNotesTx">
        <pc:chgData name="Lai, Wilson" userId="2840974a-0d84-4886-90a9-9a3ed79f3a48" providerId="ADAL" clId="{9F23B798-9E84-4552-BA63-E776E805C424}" dt="2026-09-20T10:23:26.494" v="62" actId="166"/>
        <pc:sldMkLst>
          <pc:docMk/>
          <pc:sldMk cId="0" sldId="257"/>
        </pc:sldMkLst>
        <pc:picChg chg="del mod">
          <ac:chgData name="Lai, Wilson" userId="2840974a-0d84-4886-90a9-9a3ed79f3a48" providerId="ADAL" clId="{9F23B798-9E84-4552-BA63-E776E805C424}" dt="2026-09-20T06:25:34.367" v="1" actId="21"/>
          <ac:picMkLst>
            <pc:docMk/>
            <pc:sldMk cId="0" sldId="257"/>
            <ac:picMk id="2" creationId="{00000000-0000-0000-0000-000000000000}"/>
          </ac:picMkLst>
        </pc:picChg>
        <pc:picChg chg="add ord">
          <ac:chgData name="Lai, Wilson" userId="2840974a-0d84-4886-90a9-9a3ed79f3a48" providerId="ADAL" clId="{9F23B798-9E84-4552-BA63-E776E805C424}" dt="2026-09-20T10:23:26.494" v="62" actId="166"/>
          <ac:picMkLst>
            <pc:docMk/>
            <pc:sldMk cId="0" sldId="257"/>
            <ac:picMk id="7" creationId="{04FCB837-08EB-D4B0-3CE3-D900E175609B}"/>
          </ac:picMkLst>
        </pc:picChg>
      </pc:sldChg>
      <pc:sldChg chg="addSp delSp mod modNotes">
        <pc:chgData name="Lai, Wilson" userId="2840974a-0d84-4886-90a9-9a3ed79f3a48" providerId="ADAL" clId="{9F23B798-9E84-4552-BA63-E776E805C424}" dt="2026-09-20T10:22:58.097" v="60"/>
        <pc:sldMkLst>
          <pc:docMk/>
          <pc:sldMk cId="0" sldId="258"/>
        </pc:sldMkLst>
        <pc:picChg chg="del">
          <ac:chgData name="Lai, Wilson" userId="2840974a-0d84-4886-90a9-9a3ed79f3a48" providerId="ADAL" clId="{9F23B798-9E84-4552-BA63-E776E805C424}" dt="2026-09-20T06:26:17.665" v="3" actId="21"/>
          <ac:picMkLst>
            <pc:docMk/>
            <pc:sldMk cId="0" sldId="258"/>
            <ac:picMk id="2" creationId="{00000000-0000-0000-0000-000000000000}"/>
          </ac:picMkLst>
        </pc:picChg>
        <pc:picChg chg="add">
          <ac:chgData name="Lai, Wilson" userId="2840974a-0d84-4886-90a9-9a3ed79f3a48" providerId="ADAL" clId="{9F23B798-9E84-4552-BA63-E776E805C424}" dt="2026-09-20T06:26:25.145" v="4" actId="22"/>
          <ac:picMkLst>
            <pc:docMk/>
            <pc:sldMk cId="0" sldId="258"/>
            <ac:picMk id="4" creationId="{4CD0C665-0DE5-EE3C-F857-5B7189B33CCE}"/>
          </ac:picMkLst>
        </pc:picChg>
      </pc:sldChg>
      <pc:sldChg chg="addSp delSp mod modNotes">
        <pc:chgData name="Lai, Wilson" userId="2840974a-0d84-4886-90a9-9a3ed79f3a48" providerId="ADAL" clId="{9F23B798-9E84-4552-BA63-E776E805C424}" dt="2026-09-20T10:22:58.097" v="60"/>
        <pc:sldMkLst>
          <pc:docMk/>
          <pc:sldMk cId="0" sldId="259"/>
        </pc:sldMkLst>
        <pc:picChg chg="del">
          <ac:chgData name="Lai, Wilson" userId="2840974a-0d84-4886-90a9-9a3ed79f3a48" providerId="ADAL" clId="{9F23B798-9E84-4552-BA63-E776E805C424}" dt="2026-09-20T06:26:30.222" v="5" actId="21"/>
          <ac:picMkLst>
            <pc:docMk/>
            <pc:sldMk cId="0" sldId="259"/>
            <ac:picMk id="2" creationId="{00000000-0000-0000-0000-000000000000}"/>
          </ac:picMkLst>
        </pc:picChg>
        <pc:picChg chg="add">
          <ac:chgData name="Lai, Wilson" userId="2840974a-0d84-4886-90a9-9a3ed79f3a48" providerId="ADAL" clId="{9F23B798-9E84-4552-BA63-E776E805C424}" dt="2026-09-20T06:26:37.903" v="6" actId="22"/>
          <ac:picMkLst>
            <pc:docMk/>
            <pc:sldMk cId="0" sldId="259"/>
            <ac:picMk id="4" creationId="{43075F71-5D44-B748-1881-5A639C833596}"/>
          </ac:picMkLst>
        </pc:picChg>
      </pc:sldChg>
      <pc:sldChg chg="addSp delSp mod modNotes modNotesTx">
        <pc:chgData name="Lai, Wilson" userId="2840974a-0d84-4886-90a9-9a3ed79f3a48" providerId="ADAL" clId="{9F23B798-9E84-4552-BA63-E776E805C424}" dt="2026-09-20T10:22:58.097" v="60"/>
        <pc:sldMkLst>
          <pc:docMk/>
          <pc:sldMk cId="0" sldId="260"/>
        </pc:sldMkLst>
        <pc:picChg chg="del">
          <ac:chgData name="Lai, Wilson" userId="2840974a-0d84-4886-90a9-9a3ed79f3a48" providerId="ADAL" clId="{9F23B798-9E84-4552-BA63-E776E805C424}" dt="2026-09-20T06:26:39.665" v="7" actId="21"/>
          <ac:picMkLst>
            <pc:docMk/>
            <pc:sldMk cId="0" sldId="260"/>
            <ac:picMk id="2" creationId="{00000000-0000-0000-0000-000000000000}"/>
          </ac:picMkLst>
        </pc:picChg>
        <pc:picChg chg="add">
          <ac:chgData name="Lai, Wilson" userId="2840974a-0d84-4886-90a9-9a3ed79f3a48" providerId="ADAL" clId="{9F23B798-9E84-4552-BA63-E776E805C424}" dt="2026-09-20T06:26:46.602" v="8" actId="22"/>
          <ac:picMkLst>
            <pc:docMk/>
            <pc:sldMk cId="0" sldId="260"/>
            <ac:picMk id="4" creationId="{1A592915-4E6B-8984-7477-E921274757E3}"/>
          </ac:picMkLst>
        </pc:picChg>
      </pc:sldChg>
      <pc:sldChg chg="addSp delSp mod modNotes modNotesTx">
        <pc:chgData name="Lai, Wilson" userId="2840974a-0d84-4886-90a9-9a3ed79f3a48" providerId="ADAL" clId="{9F23B798-9E84-4552-BA63-E776E805C424}" dt="2026-09-20T10:22:58.097" v="60"/>
        <pc:sldMkLst>
          <pc:docMk/>
          <pc:sldMk cId="0" sldId="261"/>
        </pc:sldMkLst>
        <pc:picChg chg="del">
          <ac:chgData name="Lai, Wilson" userId="2840974a-0d84-4886-90a9-9a3ed79f3a48" providerId="ADAL" clId="{9F23B798-9E84-4552-BA63-E776E805C424}" dt="2026-09-20T06:26:51.650" v="9" actId="21"/>
          <ac:picMkLst>
            <pc:docMk/>
            <pc:sldMk cId="0" sldId="261"/>
            <ac:picMk id="2" creationId="{00000000-0000-0000-0000-000000000000}"/>
          </ac:picMkLst>
        </pc:picChg>
        <pc:picChg chg="add">
          <ac:chgData name="Lai, Wilson" userId="2840974a-0d84-4886-90a9-9a3ed79f3a48" providerId="ADAL" clId="{9F23B798-9E84-4552-BA63-E776E805C424}" dt="2026-09-20T06:27:33.671" v="10" actId="22"/>
          <ac:picMkLst>
            <pc:docMk/>
            <pc:sldMk cId="0" sldId="261"/>
            <ac:picMk id="4" creationId="{A5E54265-0BEB-65F7-4E6A-32C577F289F7}"/>
          </ac:picMkLst>
        </pc:picChg>
      </pc:sldChg>
      <pc:sldChg chg="addSp delSp mod modNotes">
        <pc:chgData name="Lai, Wilson" userId="2840974a-0d84-4886-90a9-9a3ed79f3a48" providerId="ADAL" clId="{9F23B798-9E84-4552-BA63-E776E805C424}" dt="2026-09-20T10:22:58.097" v="60"/>
        <pc:sldMkLst>
          <pc:docMk/>
          <pc:sldMk cId="0" sldId="262"/>
        </pc:sldMkLst>
        <pc:picChg chg="del">
          <ac:chgData name="Lai, Wilson" userId="2840974a-0d84-4886-90a9-9a3ed79f3a48" providerId="ADAL" clId="{9F23B798-9E84-4552-BA63-E776E805C424}" dt="2026-09-20T06:27:40.341" v="11" actId="21"/>
          <ac:picMkLst>
            <pc:docMk/>
            <pc:sldMk cId="0" sldId="262"/>
            <ac:picMk id="2" creationId="{00000000-0000-0000-0000-000000000000}"/>
          </ac:picMkLst>
        </pc:picChg>
        <pc:picChg chg="add">
          <ac:chgData name="Lai, Wilson" userId="2840974a-0d84-4886-90a9-9a3ed79f3a48" providerId="ADAL" clId="{9F23B798-9E84-4552-BA63-E776E805C424}" dt="2026-09-20T06:28:10.990" v="12" actId="22"/>
          <ac:picMkLst>
            <pc:docMk/>
            <pc:sldMk cId="0" sldId="262"/>
            <ac:picMk id="4" creationId="{EF6FF3DC-5092-F23E-203F-CD763DFFCD89}"/>
          </ac:picMkLst>
        </pc:picChg>
      </pc:sldChg>
      <pc:sldChg chg="addSp delSp mod modNotes">
        <pc:chgData name="Lai, Wilson" userId="2840974a-0d84-4886-90a9-9a3ed79f3a48" providerId="ADAL" clId="{9F23B798-9E84-4552-BA63-E776E805C424}" dt="2026-09-20T10:22:58.097" v="60"/>
        <pc:sldMkLst>
          <pc:docMk/>
          <pc:sldMk cId="0" sldId="263"/>
        </pc:sldMkLst>
        <pc:picChg chg="del">
          <ac:chgData name="Lai, Wilson" userId="2840974a-0d84-4886-90a9-9a3ed79f3a48" providerId="ADAL" clId="{9F23B798-9E84-4552-BA63-E776E805C424}" dt="2026-09-20T06:28:16.240" v="13" actId="21"/>
          <ac:picMkLst>
            <pc:docMk/>
            <pc:sldMk cId="0" sldId="263"/>
            <ac:picMk id="2" creationId="{00000000-0000-0000-0000-000000000000}"/>
          </ac:picMkLst>
        </pc:picChg>
        <pc:picChg chg="add">
          <ac:chgData name="Lai, Wilson" userId="2840974a-0d84-4886-90a9-9a3ed79f3a48" providerId="ADAL" clId="{9F23B798-9E84-4552-BA63-E776E805C424}" dt="2026-09-20T06:28:42.470" v="14" actId="22"/>
          <ac:picMkLst>
            <pc:docMk/>
            <pc:sldMk cId="0" sldId="263"/>
            <ac:picMk id="4" creationId="{DB72E1D1-3240-B3E0-42C7-CBD9D28075D5}"/>
          </ac:picMkLst>
        </pc:picChg>
      </pc:sldChg>
      <pc:sldChg chg="addSp delSp mod modNotes modNotesTx">
        <pc:chgData name="Lai, Wilson" userId="2840974a-0d84-4886-90a9-9a3ed79f3a48" providerId="ADAL" clId="{9F23B798-9E84-4552-BA63-E776E805C424}" dt="2026-09-20T10:22:58.097" v="60"/>
        <pc:sldMkLst>
          <pc:docMk/>
          <pc:sldMk cId="0" sldId="264"/>
        </pc:sldMkLst>
        <pc:picChg chg="del">
          <ac:chgData name="Lai, Wilson" userId="2840974a-0d84-4886-90a9-9a3ed79f3a48" providerId="ADAL" clId="{9F23B798-9E84-4552-BA63-E776E805C424}" dt="2026-09-20T06:28:44.821" v="15" actId="21"/>
          <ac:picMkLst>
            <pc:docMk/>
            <pc:sldMk cId="0" sldId="264"/>
            <ac:picMk id="2" creationId="{00000000-0000-0000-0000-000000000000}"/>
          </ac:picMkLst>
        </pc:picChg>
        <pc:picChg chg="add">
          <ac:chgData name="Lai, Wilson" userId="2840974a-0d84-4886-90a9-9a3ed79f3a48" providerId="ADAL" clId="{9F23B798-9E84-4552-BA63-E776E805C424}" dt="2026-09-20T06:29:53.754" v="16" actId="22"/>
          <ac:picMkLst>
            <pc:docMk/>
            <pc:sldMk cId="0" sldId="264"/>
            <ac:picMk id="4" creationId="{5DB7B016-C443-4280-DC71-91C8FF5A44BB}"/>
          </ac:picMkLst>
        </pc:picChg>
      </pc:sldChg>
      <pc:sldChg chg="addSp delSp mod modNotes">
        <pc:chgData name="Lai, Wilson" userId="2840974a-0d84-4886-90a9-9a3ed79f3a48" providerId="ADAL" clId="{9F23B798-9E84-4552-BA63-E776E805C424}" dt="2026-09-20T10:22:58.097" v="60"/>
        <pc:sldMkLst>
          <pc:docMk/>
          <pc:sldMk cId="0" sldId="265"/>
        </pc:sldMkLst>
        <pc:picChg chg="del">
          <ac:chgData name="Lai, Wilson" userId="2840974a-0d84-4886-90a9-9a3ed79f3a48" providerId="ADAL" clId="{9F23B798-9E84-4552-BA63-E776E805C424}" dt="2026-09-20T06:29:55.290" v="17" actId="21"/>
          <ac:picMkLst>
            <pc:docMk/>
            <pc:sldMk cId="0" sldId="265"/>
            <ac:picMk id="2" creationId="{00000000-0000-0000-0000-000000000000}"/>
          </ac:picMkLst>
        </pc:picChg>
        <pc:picChg chg="add">
          <ac:chgData name="Lai, Wilson" userId="2840974a-0d84-4886-90a9-9a3ed79f3a48" providerId="ADAL" clId="{9F23B798-9E84-4552-BA63-E776E805C424}" dt="2026-09-20T06:30:14.962" v="18" actId="22"/>
          <ac:picMkLst>
            <pc:docMk/>
            <pc:sldMk cId="0" sldId="265"/>
            <ac:picMk id="4" creationId="{AE01CA4B-C8ED-2823-C9EA-83825E2408F0}"/>
          </ac:picMkLst>
        </pc:picChg>
      </pc:sldChg>
      <pc:sldChg chg="addSp delSp mod modNotes modNotesTx">
        <pc:chgData name="Lai, Wilson" userId="2840974a-0d84-4886-90a9-9a3ed79f3a48" providerId="ADAL" clId="{9F23B798-9E84-4552-BA63-E776E805C424}" dt="2026-09-20T10:22:58.097" v="60"/>
        <pc:sldMkLst>
          <pc:docMk/>
          <pc:sldMk cId="0" sldId="266"/>
        </pc:sldMkLst>
        <pc:picChg chg="del">
          <ac:chgData name="Lai, Wilson" userId="2840974a-0d84-4886-90a9-9a3ed79f3a48" providerId="ADAL" clId="{9F23B798-9E84-4552-BA63-E776E805C424}" dt="2026-09-20T06:30:16.714" v="19" actId="21"/>
          <ac:picMkLst>
            <pc:docMk/>
            <pc:sldMk cId="0" sldId="266"/>
            <ac:picMk id="2" creationId="{00000000-0000-0000-0000-000000000000}"/>
          </ac:picMkLst>
        </pc:picChg>
        <pc:picChg chg="add">
          <ac:chgData name="Lai, Wilson" userId="2840974a-0d84-4886-90a9-9a3ed79f3a48" providerId="ADAL" clId="{9F23B798-9E84-4552-BA63-E776E805C424}" dt="2026-09-20T06:30:27.784" v="20" actId="22"/>
          <ac:picMkLst>
            <pc:docMk/>
            <pc:sldMk cId="0" sldId="266"/>
            <ac:picMk id="4" creationId="{CA1B8AFB-3236-CE84-F328-C4703FA7DD39}"/>
          </ac:picMkLst>
        </pc:picChg>
      </pc:sldChg>
      <pc:sldChg chg="addSp delSp mod modNotes modNotesTx">
        <pc:chgData name="Lai, Wilson" userId="2840974a-0d84-4886-90a9-9a3ed79f3a48" providerId="ADAL" clId="{9F23B798-9E84-4552-BA63-E776E805C424}" dt="2026-09-20T10:22:58.097" v="60"/>
        <pc:sldMkLst>
          <pc:docMk/>
          <pc:sldMk cId="0" sldId="267"/>
        </pc:sldMkLst>
        <pc:picChg chg="del">
          <ac:chgData name="Lai, Wilson" userId="2840974a-0d84-4886-90a9-9a3ed79f3a48" providerId="ADAL" clId="{9F23B798-9E84-4552-BA63-E776E805C424}" dt="2026-09-20T06:30:30.451" v="21" actId="21"/>
          <ac:picMkLst>
            <pc:docMk/>
            <pc:sldMk cId="0" sldId="267"/>
            <ac:picMk id="2" creationId="{00000000-0000-0000-0000-000000000000}"/>
          </ac:picMkLst>
        </pc:picChg>
        <pc:picChg chg="add">
          <ac:chgData name="Lai, Wilson" userId="2840974a-0d84-4886-90a9-9a3ed79f3a48" providerId="ADAL" clId="{9F23B798-9E84-4552-BA63-E776E805C424}" dt="2026-09-20T06:30:37.868" v="22" actId="22"/>
          <ac:picMkLst>
            <pc:docMk/>
            <pc:sldMk cId="0" sldId="267"/>
            <ac:picMk id="4" creationId="{5EEB7210-8850-CD8D-5B5C-DDA7916B6C38}"/>
          </ac:picMkLst>
        </pc:picChg>
      </pc:sldChg>
      <pc:sldChg chg="addSp delSp mod modNotes modNotesTx">
        <pc:chgData name="Lai, Wilson" userId="2840974a-0d84-4886-90a9-9a3ed79f3a48" providerId="ADAL" clId="{9F23B798-9E84-4552-BA63-E776E805C424}" dt="2026-09-20T10:22:58.097" v="60"/>
        <pc:sldMkLst>
          <pc:docMk/>
          <pc:sldMk cId="0" sldId="268"/>
        </pc:sldMkLst>
        <pc:picChg chg="del">
          <ac:chgData name="Lai, Wilson" userId="2840974a-0d84-4886-90a9-9a3ed79f3a48" providerId="ADAL" clId="{9F23B798-9E84-4552-BA63-E776E805C424}" dt="2026-09-20T06:30:39.440" v="23" actId="21"/>
          <ac:picMkLst>
            <pc:docMk/>
            <pc:sldMk cId="0" sldId="268"/>
            <ac:picMk id="2" creationId="{00000000-0000-0000-0000-000000000000}"/>
          </ac:picMkLst>
        </pc:picChg>
        <pc:picChg chg="add">
          <ac:chgData name="Lai, Wilson" userId="2840974a-0d84-4886-90a9-9a3ed79f3a48" providerId="ADAL" clId="{9F23B798-9E84-4552-BA63-E776E805C424}" dt="2026-09-20T06:30:59.945" v="24" actId="22"/>
          <ac:picMkLst>
            <pc:docMk/>
            <pc:sldMk cId="0" sldId="268"/>
            <ac:picMk id="4" creationId="{87B7BBF2-8D8D-B146-8CB0-D1F24CCE5669}"/>
          </ac:picMkLst>
        </pc:picChg>
      </pc:sldChg>
      <pc:sldChg chg="addSp delSp mod modNotes modNotesTx">
        <pc:chgData name="Lai, Wilson" userId="2840974a-0d84-4886-90a9-9a3ed79f3a48" providerId="ADAL" clId="{9F23B798-9E84-4552-BA63-E776E805C424}" dt="2026-09-20T10:22:58.097" v="60"/>
        <pc:sldMkLst>
          <pc:docMk/>
          <pc:sldMk cId="0" sldId="269"/>
        </pc:sldMkLst>
        <pc:picChg chg="del">
          <ac:chgData name="Lai, Wilson" userId="2840974a-0d84-4886-90a9-9a3ed79f3a48" providerId="ADAL" clId="{9F23B798-9E84-4552-BA63-E776E805C424}" dt="2026-09-20T06:31:01.561" v="25" actId="21"/>
          <ac:picMkLst>
            <pc:docMk/>
            <pc:sldMk cId="0" sldId="269"/>
            <ac:picMk id="2" creationId="{00000000-0000-0000-0000-000000000000}"/>
          </ac:picMkLst>
        </pc:picChg>
        <pc:picChg chg="add">
          <ac:chgData name="Lai, Wilson" userId="2840974a-0d84-4886-90a9-9a3ed79f3a48" providerId="ADAL" clId="{9F23B798-9E84-4552-BA63-E776E805C424}" dt="2026-09-20T06:31:22.823" v="26" actId="22"/>
          <ac:picMkLst>
            <pc:docMk/>
            <pc:sldMk cId="0" sldId="269"/>
            <ac:picMk id="4" creationId="{3681FA52-843A-0209-E01C-89BB3AE13D53}"/>
          </ac:picMkLst>
        </pc:picChg>
      </pc:sldChg>
      <pc:sldChg chg="addSp delSp mod modNotes">
        <pc:chgData name="Lai, Wilson" userId="2840974a-0d84-4886-90a9-9a3ed79f3a48" providerId="ADAL" clId="{9F23B798-9E84-4552-BA63-E776E805C424}" dt="2026-09-20T10:22:58.097" v="60"/>
        <pc:sldMkLst>
          <pc:docMk/>
          <pc:sldMk cId="0" sldId="270"/>
        </pc:sldMkLst>
        <pc:picChg chg="del">
          <ac:chgData name="Lai, Wilson" userId="2840974a-0d84-4886-90a9-9a3ed79f3a48" providerId="ADAL" clId="{9F23B798-9E84-4552-BA63-E776E805C424}" dt="2026-09-20T06:31:24.113" v="27" actId="21"/>
          <ac:picMkLst>
            <pc:docMk/>
            <pc:sldMk cId="0" sldId="270"/>
            <ac:picMk id="2" creationId="{00000000-0000-0000-0000-000000000000}"/>
          </ac:picMkLst>
        </pc:picChg>
        <pc:picChg chg="add">
          <ac:chgData name="Lai, Wilson" userId="2840974a-0d84-4886-90a9-9a3ed79f3a48" providerId="ADAL" clId="{9F23B798-9E84-4552-BA63-E776E805C424}" dt="2026-09-20T06:32:00.430" v="28" actId="22"/>
          <ac:picMkLst>
            <pc:docMk/>
            <pc:sldMk cId="0" sldId="270"/>
            <ac:picMk id="4" creationId="{2853F29E-4E72-59C2-3951-7AA6C1AEF173}"/>
          </ac:picMkLst>
        </pc:picChg>
      </pc:sldChg>
      <pc:sldChg chg="addSp delSp mod modNotes">
        <pc:chgData name="Lai, Wilson" userId="2840974a-0d84-4886-90a9-9a3ed79f3a48" providerId="ADAL" clId="{9F23B798-9E84-4552-BA63-E776E805C424}" dt="2026-09-20T10:22:58.097" v="60"/>
        <pc:sldMkLst>
          <pc:docMk/>
          <pc:sldMk cId="0" sldId="271"/>
        </pc:sldMkLst>
        <pc:picChg chg="del">
          <ac:chgData name="Lai, Wilson" userId="2840974a-0d84-4886-90a9-9a3ed79f3a48" providerId="ADAL" clId="{9F23B798-9E84-4552-BA63-E776E805C424}" dt="2026-09-20T06:32:02.151" v="29" actId="21"/>
          <ac:picMkLst>
            <pc:docMk/>
            <pc:sldMk cId="0" sldId="271"/>
            <ac:picMk id="2" creationId="{00000000-0000-0000-0000-000000000000}"/>
          </ac:picMkLst>
        </pc:picChg>
        <pc:picChg chg="add">
          <ac:chgData name="Lai, Wilson" userId="2840974a-0d84-4886-90a9-9a3ed79f3a48" providerId="ADAL" clId="{9F23B798-9E84-4552-BA63-E776E805C424}" dt="2026-09-20T06:32:29.365" v="30" actId="22"/>
          <ac:picMkLst>
            <pc:docMk/>
            <pc:sldMk cId="0" sldId="271"/>
            <ac:picMk id="4" creationId="{258645B4-F239-A0B6-1047-0978B87F4DC6}"/>
          </ac:picMkLst>
        </pc:picChg>
      </pc:sldChg>
      <pc:sldChg chg="addSp delSp mod modNotes modNotesTx">
        <pc:chgData name="Lai, Wilson" userId="2840974a-0d84-4886-90a9-9a3ed79f3a48" providerId="ADAL" clId="{9F23B798-9E84-4552-BA63-E776E805C424}" dt="2026-09-20T10:22:58.097" v="60"/>
        <pc:sldMkLst>
          <pc:docMk/>
          <pc:sldMk cId="2487077253" sldId="272"/>
        </pc:sldMkLst>
        <pc:picChg chg="del">
          <ac:chgData name="Lai, Wilson" userId="2840974a-0d84-4886-90a9-9a3ed79f3a48" providerId="ADAL" clId="{9F23B798-9E84-4552-BA63-E776E805C424}" dt="2026-09-20T06:32:34.223" v="31" actId="21"/>
          <ac:picMkLst>
            <pc:docMk/>
            <pc:sldMk cId="2487077253" sldId="272"/>
            <ac:picMk id="3" creationId="{E11F85C4-4CC5-9E43-DA18-1562E28ABB25}"/>
          </ac:picMkLst>
        </pc:picChg>
        <pc:picChg chg="add">
          <ac:chgData name="Lai, Wilson" userId="2840974a-0d84-4886-90a9-9a3ed79f3a48" providerId="ADAL" clId="{9F23B798-9E84-4552-BA63-E776E805C424}" dt="2026-09-20T06:32:43.704" v="32" actId="22"/>
          <ac:picMkLst>
            <pc:docMk/>
            <pc:sldMk cId="2487077253" sldId="272"/>
            <ac:picMk id="4" creationId="{5876BDED-81AC-DA5F-E36B-448E14C55568}"/>
          </ac:picMkLst>
        </pc:picChg>
      </pc:sldChg>
      <pc:sldMasterChg chg="setBg">
        <pc:chgData name="Lai, Wilson" userId="2840974a-0d84-4886-90a9-9a3ed79f3a48" providerId="ADAL" clId="{9F23B798-9E84-4552-BA63-E776E805C424}" dt="2026-09-20T06:32:59.167" v="33"/>
        <pc:sldMasterMkLst>
          <pc:docMk/>
          <pc:sldMasterMk cId="141659596"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07DF63-35B5-4F1A-A509-5115EB75E2F1}"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F6AA22-1A35-44FB-8D63-AA2C5177128D}" type="slidenum">
              <a:rPr lang="en-US" smtClean="0"/>
              <a:t>‹#›</a:t>
            </a:fld>
            <a:endParaRPr lang="en-US"/>
          </a:p>
        </p:txBody>
      </p:sp>
    </p:spTree>
    <p:extLst>
      <p:ext uri="{BB962C8B-B14F-4D97-AF65-F5344CB8AC3E}">
        <p14:creationId xmlns:p14="http://schemas.microsoft.com/office/powerpoint/2010/main" val="1043444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sz="1200" kern="1200" dirty="0">
                <a:solidFill>
                  <a:schemeClr val="tx1"/>
                </a:solidFill>
                <a:effectLst/>
                <a:latin typeface="+mn-lt"/>
                <a:ea typeface="+mn-ea"/>
                <a:cs typeface="+mn-cs"/>
              </a:rPr>
              <a:t>Welcome, everyone. Today we are addressing the state of AI across Industry 4.0 and 5.0. Unless you’ve been living under a rock recently, you’ve seen the global conversation completely blow up around AI safety, existential risk, and regulation. We’ve received hundreds of questions asking where this technology is actually going, whether we're facing a crisis, and how this impacts industrial automation. </a:t>
            </a:r>
          </a:p>
          <a:p>
            <a:r>
              <a:rPr lang="en-US" sz="1200" kern="1200" dirty="0">
                <a:solidFill>
                  <a:schemeClr val="tx1"/>
                </a:solidFill>
                <a:effectLst/>
                <a:latin typeface="+mn-lt"/>
                <a:ea typeface="+mn-ea"/>
                <a:cs typeface="+mn-cs"/>
              </a:rPr>
              <a:t>In this briefing, we are going to cut through the noise and cover three core areas: </a:t>
            </a:r>
          </a:p>
          <a:p>
            <a:pPr marL="228600" lvl="0" indent="-228600">
              <a:buFont typeface="+mj-lt"/>
              <a:buAutoNum type="arabicPeriod"/>
            </a:pPr>
            <a:r>
              <a:rPr lang="en-US" sz="1200" b="1" kern="1200" dirty="0">
                <a:solidFill>
                  <a:schemeClr val="tx1"/>
                </a:solidFill>
                <a:effectLst/>
                <a:latin typeface="+mn-lt"/>
                <a:ea typeface="+mn-ea"/>
                <a:cs typeface="+mn-cs"/>
              </a:rPr>
              <a:t>Where we are right now:</a:t>
            </a:r>
            <a:r>
              <a:rPr lang="en-US" sz="1200" kern="1200" dirty="0">
                <a:solidFill>
                  <a:schemeClr val="tx1"/>
                </a:solidFill>
                <a:effectLst/>
                <a:latin typeface="+mn-lt"/>
                <a:ea typeface="+mn-ea"/>
                <a:cs typeface="+mn-cs"/>
              </a:rPr>
              <a:t> Distinguishing operational 'Agentic Reality' from the theoretical 'AGI Hype'. </a:t>
            </a:r>
          </a:p>
          <a:p>
            <a:pPr marL="228600" lvl="0" indent="-228600">
              <a:buFont typeface="+mj-lt"/>
              <a:buAutoNum type="arabicPeriod"/>
            </a:pPr>
            <a:r>
              <a:rPr lang="en-US" sz="1200" b="1" kern="1200" dirty="0">
                <a:solidFill>
                  <a:schemeClr val="tx1"/>
                </a:solidFill>
                <a:effectLst/>
                <a:latin typeface="+mn-lt"/>
                <a:ea typeface="+mn-ea"/>
                <a:cs typeface="+mn-cs"/>
              </a:rPr>
              <a:t>Where the market is going:</a:t>
            </a:r>
            <a:r>
              <a:rPr lang="en-US" sz="1200" kern="1200" dirty="0">
                <a:solidFill>
                  <a:schemeClr val="tx1"/>
                </a:solidFill>
                <a:effectLst/>
                <a:latin typeface="+mn-lt"/>
                <a:ea typeface="+mn-ea"/>
                <a:cs typeface="+mn-cs"/>
              </a:rPr>
              <a:t> What vendors, OEMs, and integrators must build and adapt to survive the coming structural shift. </a:t>
            </a:r>
          </a:p>
          <a:p>
            <a:pPr marL="228600" lvl="0" indent="-228600">
              <a:buFont typeface="+mj-lt"/>
              <a:buAutoNum type="arabicPeriod"/>
            </a:pPr>
            <a:r>
              <a:rPr lang="en-US" sz="1200" b="1" kern="1200" dirty="0">
                <a:solidFill>
                  <a:schemeClr val="tx1"/>
                </a:solidFill>
                <a:effectLst/>
                <a:latin typeface="+mn-lt"/>
                <a:ea typeface="+mn-ea"/>
                <a:cs typeface="+mn-cs"/>
              </a:rPr>
              <a:t>The truth behind AI safety and regulation:</a:t>
            </a:r>
            <a:r>
              <a:rPr lang="en-US" sz="1200" kern="1200" dirty="0">
                <a:solidFill>
                  <a:schemeClr val="tx1"/>
                </a:solidFill>
                <a:effectLst/>
                <a:latin typeface="+mn-lt"/>
                <a:ea typeface="+mn-ea"/>
                <a:cs typeface="+mn-cs"/>
              </a:rPr>
              <a:t> Examining who is lobbying for what, and why true safety in manufacturing requires clear liability, not regulatory moats. </a:t>
            </a:r>
          </a:p>
          <a:p>
            <a:r>
              <a:rPr lang="en-US" sz="1200" kern="1200" dirty="0">
                <a:solidFill>
                  <a:schemeClr val="tx1"/>
                </a:solidFill>
                <a:effectLst/>
                <a:latin typeface="+mn-lt"/>
                <a:ea typeface="+mn-ea"/>
                <a:cs typeface="+mn-cs"/>
              </a:rPr>
              <a:t>Today’s implementation is built on specialized automation, predictive ML, computer vision, and adaptive robotics. It delivers tangible ROI and relies heavily on augmented operator decision support. Let's examine why confusing this reality with AGI is a major mistake. </a:t>
            </a:r>
          </a:p>
          <a:p>
            <a:endParaRPr lang="en-US" dirty="0"/>
          </a:p>
          <a:p>
            <a:endParaRPr lang="en-US" dirty="0"/>
          </a:p>
          <a:p>
            <a:endParaRPr lang="en-US" dirty="0"/>
          </a:p>
          <a:p>
            <a:r>
              <a:rPr lang="en-US" dirty="0"/>
              <a:t>https://www.youtube.com/watch?v=Own2-RUFkRg</a:t>
            </a:r>
          </a:p>
        </p:txBody>
      </p:sp>
      <p:sp>
        <p:nvSpPr>
          <p:cNvPr id="4" name="Slide Number Placeholder 3"/>
          <p:cNvSpPr>
            <a:spLocks noGrp="1"/>
          </p:cNvSpPr>
          <p:nvPr>
            <p:ph type="sldNum" sz="quarter" idx="5"/>
          </p:nvPr>
        </p:nvSpPr>
        <p:spPr/>
        <p:txBody>
          <a:bodyPr/>
          <a:lstStyle/>
          <a:p>
            <a:fld id="{0A7D4132-B4CE-4716-B386-144AAAEEB5FB}" type="slidenum">
              <a:rPr lang="en-US" smtClean="0"/>
              <a:t>1</a:t>
            </a:fld>
            <a:endParaRPr lang="en-US"/>
          </a:p>
        </p:txBody>
      </p:sp>
    </p:spTree>
    <p:extLst>
      <p:ext uri="{BB962C8B-B14F-4D97-AF65-F5344CB8AC3E}">
        <p14:creationId xmlns:p14="http://schemas.microsoft.com/office/powerpoint/2010/main" val="40498725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Take a look at this blueprint of the human brain. When people hear the term 'Artificial Intelligence,' their mind naturally jumps to human cognition—sentience, reasoning, self-awareness, and emotional intelligence. </a:t>
            </a:r>
          </a:p>
          <a:p>
            <a:r>
              <a:rPr lang="en-US" sz="1200" kern="1200" dirty="0">
                <a:solidFill>
                  <a:schemeClr val="tx1"/>
                </a:solidFill>
                <a:effectLst/>
                <a:latin typeface="+mn-lt"/>
                <a:ea typeface="+mn-ea"/>
                <a:cs typeface="+mn-cs"/>
              </a:rPr>
              <a:t>Executive leaders and tech CEOs often fuel this perception by dropping headlines about how close we are to Artificial General Intelligence (AGI). But conflating modern large language models with a human brain is the root cause of today's market confusion. Human intelligence possesses nuanced reasoning, context awareness, and emotional intelligence. To accurately evaluate AI's place on the factory floor, we must strip away this biological metaphor and examine what these models are actually doing under the hood. </a:t>
            </a:r>
          </a:p>
          <a:p>
            <a:endParaRPr lang="en-US" dirty="0"/>
          </a:p>
        </p:txBody>
      </p:sp>
      <p:sp>
        <p:nvSpPr>
          <p:cNvPr id="4" name="Slide Number Placeholder 3"/>
          <p:cNvSpPr>
            <a:spLocks noGrp="1"/>
          </p:cNvSpPr>
          <p:nvPr>
            <p:ph type="sldNum" sz="quarter" idx="5"/>
          </p:nvPr>
        </p:nvSpPr>
        <p:spPr/>
        <p:txBody>
          <a:bodyPr/>
          <a:lstStyle/>
          <a:p>
            <a:fld id="{63F6AA22-1A35-44FB-8D63-AA2C5177128D}" type="slidenum">
              <a:rPr lang="en-US" smtClean="0"/>
              <a:t>2</a:t>
            </a:fld>
            <a:endParaRPr lang="en-US"/>
          </a:p>
        </p:txBody>
      </p:sp>
    </p:spTree>
    <p:extLst>
      <p:ext uri="{BB962C8B-B14F-4D97-AF65-F5344CB8AC3E}">
        <p14:creationId xmlns:p14="http://schemas.microsoft.com/office/powerpoint/2010/main" val="18923451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is the architectural reality of current LLMs: they are </a:t>
            </a:r>
            <a:r>
              <a:rPr lang="en-US" sz="1200" b="1" kern="1200" dirty="0">
                <a:solidFill>
                  <a:schemeClr val="tx1"/>
                </a:solidFill>
                <a:effectLst/>
                <a:latin typeface="+mn-lt"/>
                <a:ea typeface="+mn-ea"/>
                <a:cs typeface="+mn-cs"/>
              </a:rPr>
              <a:t>probabilistic engines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Look at the decision tree on the slide. When you feed an input prompt into a model like GPT or Claude, it isn't 'thinking' or 'understanding' your manufacturing line. It is calculating the statistical probability of the next token—predicting text in groups of 3 to 4 letter tokens. </a:t>
            </a:r>
          </a:p>
          <a:p>
            <a:r>
              <a:rPr lang="en-US" sz="1200" kern="1200" dirty="0">
                <a:solidFill>
                  <a:schemeClr val="tx1"/>
                </a:solidFill>
                <a:effectLst/>
                <a:latin typeface="+mn-lt"/>
                <a:ea typeface="+mn-ea"/>
                <a:cs typeface="+mn-cs"/>
              </a:rPr>
              <a:t>If the prompt starts, the engine evaluates token probabilities: 'The' at 45%, 'A' at 30%, followed by 'quick' or 'brown' or 'cat' based on pattern recognition across massive datasets. </a:t>
            </a:r>
          </a:p>
          <a:p>
            <a:r>
              <a:rPr lang="en-US" sz="1200" kern="1200" dirty="0">
                <a:solidFill>
                  <a:schemeClr val="tx1"/>
                </a:solidFill>
                <a:effectLst/>
                <a:latin typeface="+mn-lt"/>
                <a:ea typeface="+mn-ea"/>
                <a:cs typeface="+mn-cs"/>
              </a:rPr>
              <a:t>This probabilistic capability is extraordinarily useful—it's a massive productivity tool. But let’s be crystal clear: </a:t>
            </a:r>
            <a:r>
              <a:rPr lang="en-US" sz="1200" b="1" kern="1200" dirty="0">
                <a:solidFill>
                  <a:schemeClr val="tx1"/>
                </a:solidFill>
                <a:effectLst/>
                <a:latin typeface="+mn-lt"/>
                <a:ea typeface="+mn-ea"/>
                <a:cs typeface="+mn-cs"/>
              </a:rPr>
              <a:t>It is not a sentient mind, and it is not AGI</a:t>
            </a:r>
            <a:r>
              <a:rPr lang="en-US" sz="1200" kern="1200" dirty="0">
                <a:solidFill>
                  <a:schemeClr val="tx1"/>
                </a:solidFill>
                <a:effectLst/>
                <a:latin typeface="+mn-lt"/>
                <a:ea typeface="+mn-ea"/>
                <a:cs typeface="+mn-cs"/>
              </a:rPr>
              <a:t>. We have not achieved AGI because these models fail fundamental tests of emotional intelligence and true context-aware reasoning. Understanding that LLMs guess tokens rather than execute deterministic logic is critical to avoiding catastrophic implementation failures. </a:t>
            </a:r>
          </a:p>
          <a:p>
            <a:endParaRPr lang="en-US" dirty="0"/>
          </a:p>
        </p:txBody>
      </p:sp>
      <p:sp>
        <p:nvSpPr>
          <p:cNvPr id="4" name="Slide Number Placeholder 3"/>
          <p:cNvSpPr>
            <a:spLocks noGrp="1"/>
          </p:cNvSpPr>
          <p:nvPr>
            <p:ph type="sldNum" sz="quarter" idx="5"/>
          </p:nvPr>
        </p:nvSpPr>
        <p:spPr/>
        <p:txBody>
          <a:bodyPr/>
          <a:lstStyle/>
          <a:p>
            <a:fld id="{0A7D4132-B4CE-4716-B386-144AAAEEB5FB}" type="slidenum">
              <a:rPr lang="en-US" smtClean="0"/>
              <a:t>3</a:t>
            </a:fld>
            <a:endParaRPr lang="en-US"/>
          </a:p>
        </p:txBody>
      </p:sp>
    </p:spTree>
    <p:extLst>
      <p:ext uri="{BB962C8B-B14F-4D97-AF65-F5344CB8AC3E}">
        <p14:creationId xmlns:p14="http://schemas.microsoft.com/office/powerpoint/2010/main" val="32212298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brings us to the core technical message: </a:t>
            </a:r>
            <a:r>
              <a:rPr lang="en-US" sz="1200" b="1" kern="1200" dirty="0">
                <a:solidFill>
                  <a:schemeClr val="tx1"/>
                </a:solidFill>
                <a:effectLst/>
                <a:latin typeface="+mn-lt"/>
                <a:ea typeface="+mn-ea"/>
                <a:cs typeface="+mn-cs"/>
              </a:rPr>
              <a:t>The threat of AI is real, but it is not imminent from the model sitting in your browser</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There is a massive, multi-order-of-magnitude </a:t>
            </a:r>
            <a:r>
              <a:rPr lang="en-US" sz="1200" b="1" kern="1200" dirty="0">
                <a:solidFill>
                  <a:schemeClr val="tx1"/>
                </a:solidFill>
                <a:effectLst/>
                <a:latin typeface="+mn-lt"/>
                <a:ea typeface="+mn-ea"/>
                <a:cs typeface="+mn-cs"/>
              </a:rPr>
              <a:t>Reliability Chasm</a:t>
            </a:r>
            <a:r>
              <a:rPr lang="en-US" sz="1200" kern="1200" dirty="0">
                <a:solidFill>
                  <a:schemeClr val="tx1"/>
                </a:solidFill>
                <a:effectLst/>
                <a:latin typeface="+mn-lt"/>
                <a:ea typeface="+mn-ea"/>
                <a:cs typeface="+mn-cs"/>
              </a:rPr>
              <a:t> between Large Language Models and Industrial Compilers.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LLMs operate on probabilistic guessing. Even the frontier models peak at around '4-Nines' of accuracy (99.99%). That sounds high until you calculate what it means: </a:t>
            </a:r>
            <a:r>
              <a:rPr lang="en-US" sz="1200" b="1" kern="1200" dirty="0">
                <a:solidFill>
                  <a:schemeClr val="tx1"/>
                </a:solidFill>
                <a:effectLst/>
                <a:latin typeface="+mn-lt"/>
                <a:ea typeface="+mn-ea"/>
                <a:cs typeface="+mn-cs"/>
              </a:rPr>
              <a:t>one error for every 1,000 actions</a:t>
            </a:r>
            <a:r>
              <a:rPr lang="en-US" sz="1200" kern="1200" dirty="0">
                <a:solidFill>
                  <a:schemeClr val="tx1"/>
                </a:solidFill>
                <a:effectLst/>
                <a:latin typeface="+mn-lt"/>
                <a:ea typeface="+mn-ea"/>
                <a:cs typeface="+mn-cs"/>
              </a:rPr>
              <a:t>. In software development or data analysis, human-in-the-loop verification makes 4-nines workable.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Industrial Compilers operate on deterministic execution. Software compilers that turn source code into byte code achieve between </a:t>
            </a:r>
            <a:r>
              <a:rPr lang="en-US" sz="1200" b="1" kern="1200" dirty="0">
                <a:solidFill>
                  <a:schemeClr val="tx1"/>
                </a:solidFill>
                <a:effectLst/>
                <a:latin typeface="+mn-lt"/>
                <a:ea typeface="+mn-ea"/>
                <a:cs typeface="+mn-cs"/>
              </a:rPr>
              <a:t>6 to 9-Nines of reliability</a:t>
            </a:r>
            <a:r>
              <a:rPr lang="en-US" sz="1200" kern="1200" dirty="0">
                <a:solidFill>
                  <a:schemeClr val="tx1"/>
                </a:solidFill>
                <a:effectLst/>
                <a:latin typeface="+mn-lt"/>
                <a:ea typeface="+mn-ea"/>
                <a:cs typeface="+mn-cs"/>
              </a:rPr>
              <a:t> (99.9999%+ to near perfection). We don't inspect byte code after compilation because the compiler is mathematically proven and deterministic. </a:t>
            </a:r>
          </a:p>
          <a:p>
            <a:r>
              <a:rPr lang="en-US" sz="1200" kern="1200" dirty="0">
                <a:solidFill>
                  <a:schemeClr val="tx1"/>
                </a:solidFill>
                <a:effectLst/>
                <a:latin typeface="+mn-lt"/>
                <a:ea typeface="+mn-ea"/>
                <a:cs typeface="+mn-cs"/>
              </a:rPr>
              <a:t>Some tech advocates argue we won't need to check agent-written code because 'we don't check compiler outputs.' That comparison is fundamentally flawed. LLMs will </a:t>
            </a:r>
            <a:r>
              <a:rPr lang="en-US" sz="1200" b="1" kern="1200" dirty="0">
                <a:solidFill>
                  <a:schemeClr val="tx1"/>
                </a:solidFill>
                <a:effectLst/>
                <a:latin typeface="+mn-lt"/>
                <a:ea typeface="+mn-ea"/>
                <a:cs typeface="+mn-cs"/>
              </a:rPr>
              <a:t>never</a:t>
            </a:r>
            <a:r>
              <a:rPr lang="en-US" sz="1200" kern="1200" dirty="0">
                <a:solidFill>
                  <a:schemeClr val="tx1"/>
                </a:solidFill>
                <a:effectLst/>
                <a:latin typeface="+mn-lt"/>
                <a:ea typeface="+mn-ea"/>
                <a:cs typeface="+mn-cs"/>
              </a:rPr>
              <a:t> reach 6-to-9 nines of reliability on probabilistic token prediction alone without an entirely new architectural breakthrough. </a:t>
            </a:r>
          </a:p>
          <a:p>
            <a:endParaRPr lang="en-US" dirty="0"/>
          </a:p>
        </p:txBody>
      </p:sp>
      <p:sp>
        <p:nvSpPr>
          <p:cNvPr id="4" name="Slide Number Placeholder 3"/>
          <p:cNvSpPr>
            <a:spLocks noGrp="1"/>
          </p:cNvSpPr>
          <p:nvPr>
            <p:ph type="sldNum" sz="quarter" idx="5"/>
          </p:nvPr>
        </p:nvSpPr>
        <p:spPr/>
        <p:txBody>
          <a:bodyPr/>
          <a:lstStyle/>
          <a:p>
            <a:fld id="{63F6AA22-1A35-44FB-8D63-AA2C5177128D}" type="slidenum">
              <a:rPr lang="en-US" smtClean="0"/>
              <a:t>4</a:t>
            </a:fld>
            <a:endParaRPr lang="en-US"/>
          </a:p>
        </p:txBody>
      </p:sp>
    </p:spTree>
    <p:extLst>
      <p:ext uri="{BB962C8B-B14F-4D97-AF65-F5344CB8AC3E}">
        <p14:creationId xmlns:p14="http://schemas.microsoft.com/office/powerpoint/2010/main" val="21353586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Because of that reliability gap, we must draw a hard boundary: </a:t>
                </a:r>
                <a:r>
                  <a:rPr lang="en-US" sz="1200" b="1" kern="1200" dirty="0">
                    <a:solidFill>
                      <a:schemeClr val="tx1"/>
                    </a:solidFill>
                    <a:effectLst/>
                    <a:latin typeface="+mn-lt"/>
                    <a:ea typeface="+mn-ea"/>
                    <a:cs typeface="+mn-cs"/>
                  </a:rPr>
                  <a:t>Agentic AI has no place in unsupervised closed-loop control</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Look at the control loop diagram on the screen: Sensors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oMath>
                </a14:m>
                <a:r>
                  <a:rPr lang="en-US" sz="1200" kern="1200" dirty="0">
                    <a:solidFill>
                      <a:schemeClr val="tx1"/>
                    </a:solidFill>
                    <a:effectLst/>
                    <a:latin typeface="+mn-lt"/>
                    <a:ea typeface="+mn-ea"/>
                    <a:cs typeface="+mn-cs"/>
                  </a:rPr>
                  <a:t>Controller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oMath>
                </a14:m>
                <a:r>
                  <a:rPr lang="en-US" sz="1200" kern="1200" dirty="0">
                    <a:solidFill>
                      <a:schemeClr val="tx1"/>
                    </a:solidFill>
                    <a:effectLst/>
                    <a:latin typeface="+mn-lt"/>
                    <a:ea typeface="+mn-ea"/>
                    <a:cs typeface="+mn-cs"/>
                  </a:rPr>
                  <a:t>Actuator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oMath>
                </a14:m>
                <a:r>
                  <a:rPr lang="en-US" sz="1200" kern="1200" dirty="0">
                    <a:solidFill>
                      <a:schemeClr val="tx1"/>
                    </a:solidFill>
                    <a:effectLst/>
                    <a:latin typeface="+mn-lt"/>
                    <a:ea typeface="+mn-ea"/>
                    <a:cs typeface="+mn-cs"/>
                  </a:rPr>
                  <a:t>Process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oMath>
                </a14:m>
                <a:r>
                  <a:rPr lang="en-US" sz="1200" kern="1200" dirty="0">
                    <a:solidFill>
                      <a:schemeClr val="tx1"/>
                    </a:solidFill>
                    <a:effectLst/>
                    <a:latin typeface="+mn-lt"/>
                    <a:ea typeface="+mn-ea"/>
                    <a:cs typeface="+mn-cs"/>
                  </a:rPr>
                  <a:t>Feedback. Proposing that a probabilistic, 4-nines model should directly manage this closed loop unsupervised is operationally reckless. </a:t>
                </a:r>
              </a:p>
              <a:p>
                <a:r>
                  <a:rPr lang="en-US" sz="1200" kern="1200" dirty="0">
                    <a:solidFill>
                      <a:schemeClr val="tx1"/>
                    </a:solidFill>
                    <a:effectLst/>
                    <a:latin typeface="+mn-lt"/>
                    <a:ea typeface="+mn-ea"/>
                    <a:cs typeface="+mn-cs"/>
                  </a:rPr>
                  <a:t>Let's lay down three non-negotiable rules for industrial operations: </a:t>
                </a:r>
              </a:p>
              <a:p>
                <a:pPr marL="228600" lvl="0" indent="-228600">
                  <a:buFont typeface="+mj-lt"/>
                  <a:buAutoNum type="arabicPeriod"/>
                </a:pPr>
                <a:r>
                  <a:rPr lang="en-US" sz="1200" b="1" kern="1200" dirty="0">
                    <a:solidFill>
                      <a:schemeClr val="tx1"/>
                    </a:solidFill>
                    <a:effectLst/>
                    <a:latin typeface="+mn-lt"/>
                    <a:ea typeface="+mn-ea"/>
                    <a:cs typeface="+mn-cs"/>
                  </a:rPr>
                  <a:t>'AI Ready' label does not equal permission:</a:t>
                </a:r>
                <a:r>
                  <a:rPr lang="en-US" sz="1200" kern="1200" dirty="0">
                    <a:solidFill>
                      <a:schemeClr val="tx1"/>
                    </a:solidFill>
                    <a:effectLst/>
                    <a:latin typeface="+mn-lt"/>
                    <a:ea typeface="+mn-ea"/>
                    <a:cs typeface="+mn-cs"/>
                  </a:rPr>
                  <a:t> Just because a vendor markets an endpoint as 'AI Ready' does not give a probabilistic model authority to run a production line unsupervised. </a:t>
                </a:r>
              </a:p>
              <a:p>
                <a:pPr marL="228600" lvl="0" indent="-228600">
                  <a:buFont typeface="+mj-lt"/>
                  <a:buAutoNum type="arabicPeriod"/>
                </a:pPr>
                <a:r>
                  <a:rPr lang="en-US" sz="1200" b="1" kern="1200" dirty="0">
                    <a:solidFill>
                      <a:schemeClr val="tx1"/>
                    </a:solidFill>
                    <a:effectLst/>
                    <a:latin typeface="+mn-lt"/>
                    <a:ea typeface="+mn-ea"/>
                    <a:cs typeface="+mn-cs"/>
                  </a:rPr>
                  <a:t>Absolute determinism is mandatory:</a:t>
                </a:r>
                <a:r>
                  <a:rPr lang="en-US" sz="1200" kern="1200" dirty="0">
                    <a:solidFill>
                      <a:schemeClr val="tx1"/>
                    </a:solidFill>
                    <a:effectLst/>
                    <a:latin typeface="+mn-lt"/>
                    <a:ea typeface="+mn-ea"/>
                    <a:cs typeface="+mn-cs"/>
                  </a:rPr>
                  <a:t> If an action can move money, injure workers, damage equipment, or crash a plant, it requires 100% deterministic logic. </a:t>
                </a:r>
              </a:p>
              <a:p>
                <a:pPr marL="228600" lvl="0" indent="-228600">
                  <a:buFont typeface="+mj-lt"/>
                  <a:buAutoNum type="arabicPeriod"/>
                </a:pPr>
                <a:r>
                  <a:rPr lang="en-US" sz="1200" b="1" kern="1200" dirty="0">
                    <a:solidFill>
                      <a:schemeClr val="tx1"/>
                    </a:solidFill>
                    <a:effectLst/>
                    <a:latin typeface="+mn-lt"/>
                    <a:ea typeface="+mn-ea"/>
                    <a:cs typeface="+mn-cs"/>
                  </a:rPr>
                  <a:t>Legal &amp; operational accountability:</a:t>
                </a:r>
                <a:r>
                  <a:rPr lang="en-US" sz="1200" kern="1200" dirty="0">
                    <a:solidFill>
                      <a:schemeClr val="tx1"/>
                    </a:solidFill>
                    <a:effectLst/>
                    <a:latin typeface="+mn-lt"/>
                    <a:ea typeface="+mn-ea"/>
                    <a:cs typeface="+mn-cs"/>
                  </a:rPr>
                  <a:t> If a system takes an autonomous action, a human being must legally and operationally be on the hook for the outcome. </a:t>
                </a:r>
              </a:p>
              <a:p>
                <a:r>
                  <a:rPr lang="en-US" sz="1200" kern="1200" dirty="0">
                    <a:solidFill>
                      <a:schemeClr val="tx1"/>
                    </a:solidFill>
                    <a:effectLst/>
                    <a:latin typeface="+mn-lt"/>
                    <a:ea typeface="+mn-ea"/>
                    <a:cs typeface="+mn-cs"/>
                  </a:rPr>
                  <a:t>Traditional SCADA and deterministic controllers remain essential. AI must stay outside the closed loop as decision support, while deterministic systems handle control. </a:t>
                </a:r>
              </a:p>
              <a:p>
                <a:endParaRPr lang="en-US" dirty="0"/>
              </a:p>
            </p:txBody>
          </p:sp>
        </mc:Choice>
        <mc:Fallback xmlns="">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Because of that reliability gap, we must draw a hard boundary: </a:t>
                </a:r>
                <a:r>
                  <a:rPr lang="en-US" sz="1200" b="1" kern="1200" dirty="0">
                    <a:solidFill>
                      <a:schemeClr val="tx1"/>
                    </a:solidFill>
                    <a:effectLst/>
                    <a:latin typeface="+mn-lt"/>
                    <a:ea typeface="+mn-ea"/>
                    <a:cs typeface="+mn-cs"/>
                  </a:rPr>
                  <a:t>Agentic AI has no place in unsupervised closed-loop control</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Look at the control loop diagram on the screen: Sensors </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Controller </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Actuator </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Process </a:t>
                </a:r>
                <a:r>
                  <a:rPr lang="en-US" sz="1200" i="0" kern="1200">
                    <a:solidFill>
                      <a:schemeClr val="tx1"/>
                    </a:solidFill>
                    <a:latin typeface="+mn-lt"/>
                    <a:ea typeface="+mn-ea"/>
                    <a:cs typeface="+mn-cs"/>
                  </a:rPr>
                  <a:t>→</a:t>
                </a:r>
                <a:r>
                  <a:rPr lang="en-US" sz="1200" kern="1200" dirty="0">
                    <a:solidFill>
                      <a:schemeClr val="tx1"/>
                    </a:solidFill>
                    <a:effectLst/>
                    <a:latin typeface="+mn-lt"/>
                    <a:ea typeface="+mn-ea"/>
                    <a:cs typeface="+mn-cs"/>
                  </a:rPr>
                  <a:t>Feedback. Proposing that a probabilistic, 4-nines model should directly manage this closed loop unsupervised is operationally reckless. </a:t>
                </a:r>
              </a:p>
              <a:p>
                <a:r>
                  <a:rPr lang="en-US" sz="1200" kern="1200" dirty="0">
                    <a:solidFill>
                      <a:schemeClr val="tx1"/>
                    </a:solidFill>
                    <a:effectLst/>
                    <a:latin typeface="+mn-lt"/>
                    <a:ea typeface="+mn-ea"/>
                    <a:cs typeface="+mn-cs"/>
                  </a:rPr>
                  <a:t>Let's lay down three non-negotiable rules for industrial operations: </a:t>
                </a:r>
              </a:p>
              <a:p>
                <a:pPr marL="228600" lvl="0" indent="-228600">
                  <a:buFont typeface="+mj-lt"/>
                  <a:buAutoNum type="arabicPeriod"/>
                </a:pPr>
                <a:r>
                  <a:rPr lang="en-US" sz="1200" b="1" kern="1200" dirty="0">
                    <a:solidFill>
                      <a:schemeClr val="tx1"/>
                    </a:solidFill>
                    <a:effectLst/>
                    <a:latin typeface="+mn-lt"/>
                    <a:ea typeface="+mn-ea"/>
                    <a:cs typeface="+mn-cs"/>
                  </a:rPr>
                  <a:t>'AI Ready' label does not equal permission:</a:t>
                </a:r>
                <a:r>
                  <a:rPr lang="en-US" sz="1200" kern="1200" dirty="0">
                    <a:solidFill>
                      <a:schemeClr val="tx1"/>
                    </a:solidFill>
                    <a:effectLst/>
                    <a:latin typeface="+mn-lt"/>
                    <a:ea typeface="+mn-ea"/>
                    <a:cs typeface="+mn-cs"/>
                  </a:rPr>
                  <a:t> Just because a vendor markets an endpoint as 'AI Ready' does not give a probabilistic model authority to run a production line unsupervised. </a:t>
                </a:r>
              </a:p>
              <a:p>
                <a:pPr marL="228600" lvl="0" indent="-228600">
                  <a:buFont typeface="+mj-lt"/>
                  <a:buAutoNum type="arabicPeriod"/>
                </a:pPr>
                <a:r>
                  <a:rPr lang="en-US" sz="1200" b="1" kern="1200" dirty="0">
                    <a:solidFill>
                      <a:schemeClr val="tx1"/>
                    </a:solidFill>
                    <a:effectLst/>
                    <a:latin typeface="+mn-lt"/>
                    <a:ea typeface="+mn-ea"/>
                    <a:cs typeface="+mn-cs"/>
                  </a:rPr>
                  <a:t>Absolute determinism is mandatory:</a:t>
                </a:r>
                <a:r>
                  <a:rPr lang="en-US" sz="1200" kern="1200" dirty="0">
                    <a:solidFill>
                      <a:schemeClr val="tx1"/>
                    </a:solidFill>
                    <a:effectLst/>
                    <a:latin typeface="+mn-lt"/>
                    <a:ea typeface="+mn-ea"/>
                    <a:cs typeface="+mn-cs"/>
                  </a:rPr>
                  <a:t> If an action can move money, injure workers, damage equipment, or crash a plant, it requires 100% deterministic logic. </a:t>
                </a:r>
              </a:p>
              <a:p>
                <a:pPr marL="228600" lvl="0" indent="-228600">
                  <a:buFont typeface="+mj-lt"/>
                  <a:buAutoNum type="arabicPeriod"/>
                </a:pPr>
                <a:r>
                  <a:rPr lang="en-US" sz="1200" b="1" kern="1200" dirty="0">
                    <a:solidFill>
                      <a:schemeClr val="tx1"/>
                    </a:solidFill>
                    <a:effectLst/>
                    <a:latin typeface="+mn-lt"/>
                    <a:ea typeface="+mn-ea"/>
                    <a:cs typeface="+mn-cs"/>
                  </a:rPr>
                  <a:t>Legal &amp; operational accountability:</a:t>
                </a:r>
                <a:r>
                  <a:rPr lang="en-US" sz="1200" kern="1200" dirty="0">
                    <a:solidFill>
                      <a:schemeClr val="tx1"/>
                    </a:solidFill>
                    <a:effectLst/>
                    <a:latin typeface="+mn-lt"/>
                    <a:ea typeface="+mn-ea"/>
                    <a:cs typeface="+mn-cs"/>
                  </a:rPr>
                  <a:t> If a system takes an autonomous action, a human being must legally and operationally be on the hook for the outcome. </a:t>
                </a:r>
              </a:p>
              <a:p>
                <a:r>
                  <a:rPr lang="en-US" sz="1200" kern="1200" dirty="0">
                    <a:solidFill>
                      <a:schemeClr val="tx1"/>
                    </a:solidFill>
                    <a:effectLst/>
                    <a:latin typeface="+mn-lt"/>
                    <a:ea typeface="+mn-ea"/>
                    <a:cs typeface="+mn-cs"/>
                  </a:rPr>
                  <a:t>Traditional SCADA and deterministic controllers remain essential. AI must stay outside the closed loop as decision support, while deterministic systems handle control. </a:t>
                </a:r>
              </a:p>
              <a:p>
                <a:endParaRPr lang="en-US" dirty="0"/>
              </a:p>
            </p:txBody>
          </p:sp>
        </mc:Fallback>
      </mc:AlternateContent>
      <p:sp>
        <p:nvSpPr>
          <p:cNvPr id="4" name="Slide Number Placeholder 3"/>
          <p:cNvSpPr>
            <a:spLocks noGrp="1"/>
          </p:cNvSpPr>
          <p:nvPr>
            <p:ph type="sldNum" sz="quarter" idx="5"/>
          </p:nvPr>
        </p:nvSpPr>
        <p:spPr/>
        <p:txBody>
          <a:bodyPr/>
          <a:lstStyle/>
          <a:p>
            <a:fld id="{63F6AA22-1A35-44FB-8D63-AA2C5177128D}" type="slidenum">
              <a:rPr lang="en-US" smtClean="0"/>
              <a:t>5</a:t>
            </a:fld>
            <a:endParaRPr lang="en-US"/>
          </a:p>
        </p:txBody>
      </p:sp>
    </p:spTree>
    <p:extLst>
      <p:ext uri="{BB962C8B-B14F-4D97-AF65-F5344CB8AC3E}">
        <p14:creationId xmlns:p14="http://schemas.microsoft.com/office/powerpoint/2010/main" val="7005198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 where </a:t>
            </a:r>
            <a:r>
              <a:rPr lang="en-US" sz="1200" i="1" kern="1200" dirty="0">
                <a:solidFill>
                  <a:schemeClr val="tx1"/>
                </a:solidFill>
                <a:effectLst/>
                <a:latin typeface="+mn-lt"/>
                <a:ea typeface="+mn-ea"/>
                <a:cs typeface="+mn-cs"/>
              </a:rPr>
              <a:t>is</a:t>
            </a:r>
            <a:r>
              <a:rPr lang="en-US" sz="1200" kern="1200" dirty="0">
                <a:solidFill>
                  <a:schemeClr val="tx1"/>
                </a:solidFill>
                <a:effectLst/>
                <a:latin typeface="+mn-lt"/>
                <a:ea typeface="+mn-ea"/>
                <a:cs typeface="+mn-cs"/>
              </a:rPr>
              <a:t> AI delivering massive value right now? It is showing up at two specific bookends: </a:t>
            </a:r>
            <a:r>
              <a:rPr lang="en-US" sz="1200" b="1" kern="1200" dirty="0">
                <a:solidFill>
                  <a:schemeClr val="tx1"/>
                </a:solidFill>
                <a:effectLst/>
                <a:latin typeface="+mn-lt"/>
                <a:ea typeface="+mn-ea"/>
                <a:cs typeface="+mn-cs"/>
              </a:rPr>
              <a:t>as a Front-End Development Accelerant</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as a Back-End Embedded Feature</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Bookend 1: Development Accelerant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AI agents (using tools like Claude Code and Model Context Protocol) are dramatically altering development timelines. As a real-world data proof point: a complete Manufacturing Execution System (MES) was recently built in </a:t>
            </a:r>
            <a:r>
              <a:rPr lang="en-US" sz="1200" b="1" kern="1200" dirty="0">
                <a:solidFill>
                  <a:schemeClr val="tx1"/>
                </a:solidFill>
                <a:effectLst/>
                <a:latin typeface="+mn-lt"/>
                <a:ea typeface="+mn-ea"/>
                <a:cs typeface="+mn-cs"/>
              </a:rPr>
              <a:t>113 human minutes and 11 agent hours</a:t>
            </a:r>
            <a:r>
              <a:rPr lang="en-US" sz="1200" kern="1200" dirty="0">
                <a:solidFill>
                  <a:schemeClr val="tx1"/>
                </a:solidFill>
                <a:effectLst/>
                <a:latin typeface="+mn-lt"/>
                <a:ea typeface="+mn-ea"/>
                <a:cs typeface="+mn-cs"/>
              </a:rPr>
              <a:t>. Historically, that exact same build took </a:t>
            </a:r>
            <a:r>
              <a:rPr lang="en-US" sz="1200" b="1" kern="1200" dirty="0">
                <a:solidFill>
                  <a:schemeClr val="tx1"/>
                </a:solidFill>
                <a:effectLst/>
                <a:latin typeface="+mn-lt"/>
                <a:ea typeface="+mn-ea"/>
                <a:cs typeface="+mn-cs"/>
              </a:rPr>
              <a:t>500 to 800 engineering hours</a:t>
            </a:r>
            <a:r>
              <a:rPr lang="en-US" sz="1200" kern="1200" dirty="0">
                <a:solidFill>
                  <a:schemeClr val="tx1"/>
                </a:solidFill>
                <a:effectLst/>
                <a:latin typeface="+mn-lt"/>
                <a:ea typeface="+mn-ea"/>
                <a:cs typeface="+mn-cs"/>
              </a:rPr>
              <a:t>. That is a staggering 100x to 600x increase in developer leverage. </a:t>
            </a:r>
          </a:p>
          <a:p>
            <a:r>
              <a:rPr lang="en-US" sz="1200" b="1" kern="1200" dirty="0">
                <a:solidFill>
                  <a:schemeClr val="tx1"/>
                </a:solidFill>
                <a:effectLst/>
                <a:latin typeface="+mn-lt"/>
                <a:ea typeface="+mn-ea"/>
                <a:cs typeface="+mn-cs"/>
              </a:rPr>
              <a:t>Bookend 2: Embedded Feature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On the back end, AI logic nodes operate within applications to process complex data context, conduct root-cause analysis, and auto-generate mitigation reporting. </a:t>
            </a:r>
          </a:p>
          <a:p>
            <a:r>
              <a:rPr lang="en-US" sz="1200" b="1" kern="1200" dirty="0">
                <a:solidFill>
                  <a:schemeClr val="tx1"/>
                </a:solidFill>
                <a:effectLst/>
                <a:latin typeface="+mn-lt"/>
                <a:ea typeface="+mn-ea"/>
                <a:cs typeface="+mn-cs"/>
              </a:rPr>
              <a:t>The Key Takeaway:</a:t>
            </a:r>
            <a:r>
              <a:rPr lang="en-US" sz="1200" kern="1200" dirty="0">
                <a:solidFill>
                  <a:schemeClr val="tx1"/>
                </a:solidFill>
                <a:effectLst/>
                <a:latin typeface="+mn-lt"/>
                <a:ea typeface="+mn-ea"/>
                <a:cs typeface="+mn-cs"/>
              </a:rPr>
              <a:t> AI is a highly leveraged tool to build solutions and reason over data—it is not a turn-key, out-of-the-box solution by itself. </a:t>
            </a:r>
          </a:p>
          <a:p>
            <a:endParaRPr lang="en-US" dirty="0"/>
          </a:p>
        </p:txBody>
      </p:sp>
      <p:sp>
        <p:nvSpPr>
          <p:cNvPr id="4" name="Slide Number Placeholder 3"/>
          <p:cNvSpPr>
            <a:spLocks noGrp="1"/>
          </p:cNvSpPr>
          <p:nvPr>
            <p:ph type="sldNum" sz="quarter" idx="5"/>
          </p:nvPr>
        </p:nvSpPr>
        <p:spPr/>
        <p:txBody>
          <a:bodyPr/>
          <a:lstStyle/>
          <a:p>
            <a:fld id="{63F6AA22-1A35-44FB-8D63-AA2C5177128D}" type="slidenum">
              <a:rPr lang="en-US" smtClean="0"/>
              <a:t>6</a:t>
            </a:fld>
            <a:endParaRPr lang="en-US"/>
          </a:p>
        </p:txBody>
      </p:sp>
    </p:spTree>
    <p:extLst>
      <p:ext uri="{BB962C8B-B14F-4D97-AF65-F5344CB8AC3E}">
        <p14:creationId xmlns:p14="http://schemas.microsoft.com/office/powerpoint/2010/main" val="3701019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you want to successfully leverage Agentic AI in an enterprise, you cannot just plug an agent into legacy databases. You need a modern 3-layer infrastructure. </a:t>
            </a:r>
          </a:p>
          <a:p>
            <a:r>
              <a:rPr lang="en-US" sz="1200" b="1" kern="1200" dirty="0">
                <a:solidFill>
                  <a:schemeClr val="tx1"/>
                </a:solidFill>
                <a:effectLst/>
                <a:latin typeface="+mn-lt"/>
                <a:ea typeface="+mn-ea"/>
                <a:cs typeface="+mn-cs"/>
              </a:rPr>
              <a:t>1. Base Layer: Unified Namespace (UNS)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You must have a UNS architecture that normalizes and contextualizes data by default across the enterprise. The golden rule of AI is </a:t>
            </a:r>
            <a:r>
              <a:rPr lang="en-US" sz="1200" b="1" kern="1200" dirty="0">
                <a:solidFill>
                  <a:schemeClr val="tx1"/>
                </a:solidFill>
                <a:effectLst/>
                <a:latin typeface="+mn-lt"/>
                <a:ea typeface="+mn-ea"/>
                <a:cs typeface="+mn-cs"/>
              </a:rPr>
              <a:t>'Bad context in = bad output out'</a:t>
            </a:r>
            <a:r>
              <a:rPr lang="en-US" sz="1200" kern="1200" dirty="0">
                <a:solidFill>
                  <a:schemeClr val="tx1"/>
                </a:solidFill>
                <a:effectLst/>
                <a:latin typeface="+mn-lt"/>
                <a:ea typeface="+mn-ea"/>
                <a:cs typeface="+mn-cs"/>
              </a:rPr>
              <a:t>. AI does not fix bad context; it amplifies it. </a:t>
            </a:r>
          </a:p>
          <a:p>
            <a:r>
              <a:rPr lang="en-US" sz="1200" b="1" kern="1200" dirty="0">
                <a:solidFill>
                  <a:schemeClr val="tx1"/>
                </a:solidFill>
                <a:effectLst/>
                <a:latin typeface="+mn-lt"/>
                <a:ea typeface="+mn-ea"/>
                <a:cs typeface="+mn-cs"/>
              </a:rPr>
              <a:t>2. Middle Layer: Knowledge Graphs</a:t>
            </a:r>
            <a:r>
              <a:rPr lang="en-US" sz="1200" kern="1200" dirty="0">
                <a:solidFill>
                  <a:schemeClr val="tx1"/>
                </a:solidFill>
                <a:effectLst/>
                <a:latin typeface="+mn-lt"/>
                <a:ea typeface="+mn-ea"/>
                <a:cs typeface="+mn-cs"/>
              </a:rPr>
              <a:t> This is now a mandatory layer, not a nice-to-have. Knowledge graphs provide 3D relational context with explicit meaning. An agent doesn't just need to know that 'Asset A' and 'Asset B' are connected; it needs to know </a:t>
            </a:r>
            <a:r>
              <a:rPr lang="en-US" sz="1200" i="1" kern="1200" dirty="0">
                <a:solidFill>
                  <a:schemeClr val="tx1"/>
                </a:solidFill>
                <a:effectLst/>
                <a:latin typeface="+mn-lt"/>
                <a:ea typeface="+mn-ea"/>
                <a:cs typeface="+mn-cs"/>
              </a:rPr>
              <a:t>how</a:t>
            </a:r>
            <a:r>
              <a:rPr lang="en-US" sz="1200" kern="1200" dirty="0">
                <a:solidFill>
                  <a:schemeClr val="tx1"/>
                </a:solidFill>
                <a:effectLst/>
                <a:latin typeface="+mn-lt"/>
                <a:ea typeface="+mn-ea"/>
                <a:cs typeface="+mn-cs"/>
              </a:rPr>
              <a:t>—e.g., 'A limits B,' 'A feeds B,' or 'A and B are sibling tanks'. </a:t>
            </a:r>
          </a:p>
          <a:p>
            <a:r>
              <a:rPr lang="en-US" sz="1200" b="1" kern="1200" dirty="0">
                <a:solidFill>
                  <a:schemeClr val="tx1"/>
                </a:solidFill>
                <a:effectLst/>
                <a:latin typeface="+mn-lt"/>
                <a:ea typeface="+mn-ea"/>
                <a:cs typeface="+mn-cs"/>
              </a:rPr>
              <a:t>3. Top Layer: Agentic Success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With a solid UNS and Knowledge Graph, external AI agents can traverse the graph, understand operational relationships, and reason through business problems effectively. </a:t>
            </a:r>
          </a:p>
          <a:p>
            <a:endParaRPr lang="en-US" dirty="0"/>
          </a:p>
        </p:txBody>
      </p:sp>
      <p:sp>
        <p:nvSpPr>
          <p:cNvPr id="4" name="Slide Number Placeholder 3"/>
          <p:cNvSpPr>
            <a:spLocks noGrp="1"/>
          </p:cNvSpPr>
          <p:nvPr>
            <p:ph type="sldNum" sz="quarter" idx="5"/>
          </p:nvPr>
        </p:nvSpPr>
        <p:spPr/>
        <p:txBody>
          <a:bodyPr/>
          <a:lstStyle/>
          <a:p>
            <a:fld id="{63F6AA22-1A35-44FB-8D63-AA2C5177128D}" type="slidenum">
              <a:rPr lang="en-US" smtClean="0"/>
              <a:t>7</a:t>
            </a:fld>
            <a:endParaRPr lang="en-US"/>
          </a:p>
        </p:txBody>
      </p:sp>
    </p:spTree>
    <p:extLst>
      <p:ext uri="{BB962C8B-B14F-4D97-AF65-F5344CB8AC3E}">
        <p14:creationId xmlns:p14="http://schemas.microsoft.com/office/powerpoint/2010/main" val="34431922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are witnessing a structural market shift that is actively pricing out legacy vendors. </a:t>
            </a:r>
          </a:p>
          <a:p>
            <a:r>
              <a:rPr lang="en-US" sz="1200" b="1" kern="1200" dirty="0">
                <a:solidFill>
                  <a:schemeClr val="tx1"/>
                </a:solidFill>
                <a:effectLst/>
                <a:latin typeface="+mn-lt"/>
                <a:ea typeface="+mn-ea"/>
                <a:cs typeface="+mn-cs"/>
              </a:rPr>
              <a:t>Look at the Win-Rate Chart:</a:t>
            </a:r>
            <a:r>
              <a:rPr lang="en-US" sz="1200" kern="1200" dirty="0">
                <a:solidFill>
                  <a:schemeClr val="tx1"/>
                </a:solidFill>
                <a:effectLst/>
                <a:latin typeface="+mn-lt"/>
                <a:ea typeface="+mn-ea"/>
                <a:cs typeface="+mn-cs"/>
              </a:rPr>
              <a:t> A decade ago, legacy industrial software monoliths won </a:t>
            </a:r>
            <a:r>
              <a:rPr lang="en-US" sz="1200" b="1" kern="1200" dirty="0">
                <a:solidFill>
                  <a:schemeClr val="tx1"/>
                </a:solidFill>
                <a:effectLst/>
                <a:latin typeface="+mn-lt"/>
                <a:ea typeface="+mn-ea"/>
                <a:cs typeface="+mn-cs"/>
              </a:rPr>
              <a:t>90% of market bids</a:t>
            </a:r>
            <a:r>
              <a:rPr lang="en-US" sz="1200" kern="1200" dirty="0">
                <a:solidFill>
                  <a:schemeClr val="tx1"/>
                </a:solidFill>
                <a:effectLst/>
                <a:latin typeface="+mn-lt"/>
                <a:ea typeface="+mn-ea"/>
                <a:cs typeface="+mn-cs"/>
              </a:rPr>
              <a:t>. Today, their win rates have plummeted below </a:t>
            </a:r>
            <a:r>
              <a:rPr lang="en-US" sz="1200" b="1" kern="1200" dirty="0">
                <a:solidFill>
                  <a:schemeClr val="tx1"/>
                </a:solidFill>
                <a:effectLst/>
                <a:latin typeface="+mn-lt"/>
                <a:ea typeface="+mn-ea"/>
                <a:cs typeface="+mn-cs"/>
              </a:rPr>
              <a:t>50%</a:t>
            </a:r>
            <a:r>
              <a:rPr lang="en-US" sz="1200" kern="1200" dirty="0">
                <a:solidFill>
                  <a:schemeClr val="tx1"/>
                </a:solidFill>
                <a:effectLst/>
                <a:latin typeface="+mn-lt"/>
                <a:ea typeface="+mn-ea"/>
                <a:cs typeface="+mn-cs"/>
              </a:rPr>
              <a:t>. This isn't a minor dip; it’s an indicator of market disruption. </a:t>
            </a:r>
          </a:p>
          <a:p>
            <a:r>
              <a:rPr lang="en-US" sz="1200" kern="1200" dirty="0">
                <a:solidFill>
                  <a:schemeClr val="tx1"/>
                </a:solidFill>
                <a:effectLst/>
                <a:latin typeface="+mn-lt"/>
                <a:ea typeface="+mn-ea"/>
                <a:cs typeface="+mn-cs"/>
              </a:rPr>
              <a:t>Why is this happening?</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Legacy Monoliths</a:t>
            </a:r>
            <a:r>
              <a:rPr lang="en-US" sz="1200" kern="1200" dirty="0">
                <a:solidFill>
                  <a:schemeClr val="tx1"/>
                </a:solidFill>
                <a:effectLst/>
                <a:latin typeface="+mn-lt"/>
                <a:ea typeface="+mn-ea"/>
                <a:cs typeface="+mn-cs"/>
              </a:rPr>
              <a:t> carry massive headcount (500+ employees), heavy corporate overhead, and slow development cycles.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Lean Data-Ops Platforms</a:t>
            </a:r>
            <a:r>
              <a:rPr lang="en-US" sz="1200" kern="1200" dirty="0">
                <a:solidFill>
                  <a:schemeClr val="tx1"/>
                </a:solidFill>
                <a:effectLst/>
                <a:latin typeface="+mn-lt"/>
                <a:ea typeface="+mn-ea"/>
                <a:cs typeface="+mn-cs"/>
              </a:rPr>
              <a:t> operate with micro-teams (e.g., 6 employees). Up to </a:t>
            </a:r>
            <a:r>
              <a:rPr lang="en-US" sz="1200" b="1" kern="1200" dirty="0">
                <a:solidFill>
                  <a:schemeClr val="tx1"/>
                </a:solidFill>
                <a:effectLst/>
                <a:latin typeface="+mn-lt"/>
                <a:ea typeface="+mn-ea"/>
                <a:cs typeface="+mn-cs"/>
              </a:rPr>
              <a:t>60% of their total spend goes directly to AI tokens</a:t>
            </a:r>
            <a:r>
              <a:rPr lang="en-US" sz="1200" kern="1200" dirty="0">
                <a:solidFill>
                  <a:schemeClr val="tx1"/>
                </a:solidFill>
                <a:effectLst/>
                <a:latin typeface="+mn-lt"/>
                <a:ea typeface="+mn-ea"/>
                <a:cs typeface="+mn-cs"/>
              </a:rPr>
              <a:t> rather than organizational bloat. They build world-class, agile platforms at a fraction of the cost. </a:t>
            </a:r>
          </a:p>
          <a:p>
            <a:r>
              <a:rPr lang="en-US" sz="1200" kern="1200" dirty="0">
                <a:solidFill>
                  <a:schemeClr val="tx1"/>
                </a:solidFill>
                <a:effectLst/>
                <a:latin typeface="+mn-lt"/>
                <a:ea typeface="+mn-ea"/>
                <a:cs typeface="+mn-cs"/>
              </a:rPr>
              <a:t>End-users are realizing they no longer need to pay massive license fees for monolithic L3/L4 platforms when lean data-ops architectures allow them to build bespoke solutions in hours. Vendors who do not adapt their architecture and pricing models are getting priced out of the market. </a:t>
            </a:r>
          </a:p>
          <a:p>
            <a:endParaRPr lang="en-US" dirty="0"/>
          </a:p>
        </p:txBody>
      </p:sp>
      <p:sp>
        <p:nvSpPr>
          <p:cNvPr id="4" name="Slide Number Placeholder 3"/>
          <p:cNvSpPr>
            <a:spLocks noGrp="1"/>
          </p:cNvSpPr>
          <p:nvPr>
            <p:ph type="sldNum" sz="quarter" idx="5"/>
          </p:nvPr>
        </p:nvSpPr>
        <p:spPr/>
        <p:txBody>
          <a:bodyPr/>
          <a:lstStyle/>
          <a:p>
            <a:fld id="{63F6AA22-1A35-44FB-8D63-AA2C5177128D}" type="slidenum">
              <a:rPr lang="en-US" smtClean="0"/>
              <a:t>8</a:t>
            </a:fld>
            <a:endParaRPr lang="en-US"/>
          </a:p>
        </p:txBody>
      </p:sp>
    </p:spTree>
    <p:extLst>
      <p:ext uri="{BB962C8B-B14F-4D97-AF65-F5344CB8AC3E}">
        <p14:creationId xmlns:p14="http://schemas.microsoft.com/office/powerpoint/2010/main" val="3377630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Software architecture is undergoing a fundamental transformation. </a:t>
            </a:r>
          </a:p>
          <a:p>
            <a:r>
              <a:rPr lang="en-US" sz="1200" b="1" kern="1200" dirty="0">
                <a:solidFill>
                  <a:schemeClr val="tx1"/>
                </a:solidFill>
                <a:effectLst/>
                <a:latin typeface="+mn-lt"/>
                <a:ea typeface="+mn-ea"/>
                <a:cs typeface="+mn-cs"/>
              </a:rPr>
              <a:t>The Old Way:</a:t>
            </a:r>
            <a:r>
              <a:rPr lang="en-US" sz="1200" kern="1200" dirty="0">
                <a:solidFill>
                  <a:schemeClr val="tx1"/>
                </a:solidFill>
                <a:effectLst/>
                <a:latin typeface="+mn-lt"/>
                <a:ea typeface="+mn-ea"/>
                <a:cs typeface="+mn-cs"/>
              </a:rPr>
              <a:t> A human operator logs into a proprietary GUI designer (like an Ignition Designer or SCADA studio) to build screens and logic, which then talks to backend APIs. </a:t>
            </a:r>
          </a:p>
          <a:p>
            <a:r>
              <a:rPr lang="en-US" sz="1200" b="1" kern="1200" dirty="0">
                <a:solidFill>
                  <a:schemeClr val="tx1"/>
                </a:solidFill>
                <a:effectLst/>
                <a:latin typeface="+mn-lt"/>
                <a:ea typeface="+mn-ea"/>
                <a:cs typeface="+mn-cs"/>
              </a:rPr>
              <a:t>The AI-Native Way:</a:t>
            </a:r>
            <a:r>
              <a:rPr lang="en-US" sz="1200" kern="1200" dirty="0">
                <a:solidFill>
                  <a:schemeClr val="tx1"/>
                </a:solidFill>
                <a:effectLst/>
                <a:latin typeface="+mn-lt"/>
                <a:ea typeface="+mn-ea"/>
                <a:cs typeface="+mn-cs"/>
              </a:rPr>
              <a:t> The Agent Node bypasses the GUI entirely and connects </a:t>
            </a:r>
            <a:r>
              <a:rPr lang="en-US" sz="1200" b="1" kern="1200" dirty="0">
                <a:solidFill>
                  <a:schemeClr val="tx1"/>
                </a:solidFill>
                <a:effectLst/>
                <a:latin typeface="+mn-lt"/>
                <a:ea typeface="+mn-ea"/>
                <a:cs typeface="+mn-cs"/>
              </a:rPr>
              <a:t>directly to Backend APIs and hardware hooks</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Why GUIs are changing:</a:t>
            </a:r>
            <a:r>
              <a:rPr lang="en-US" sz="1200" kern="1200" dirty="0">
                <a:solidFill>
                  <a:schemeClr val="tx1"/>
                </a:solidFill>
                <a:effectLst/>
                <a:latin typeface="+mn-lt"/>
                <a:ea typeface="+mn-ea"/>
                <a:cs typeface="+mn-cs"/>
              </a:rPr>
              <a:t> A user interface is just a human access point to a function. AI agents don't need graphical user interfaces; they need API hooks and file-system access. </a:t>
            </a:r>
          </a:p>
          <a:p>
            <a:r>
              <a:rPr lang="en-US" sz="1200" b="1" kern="1200" dirty="0">
                <a:solidFill>
                  <a:schemeClr val="tx1"/>
                </a:solidFill>
                <a:effectLst/>
                <a:latin typeface="+mn-lt"/>
                <a:ea typeface="+mn-ea"/>
                <a:cs typeface="+mn-cs"/>
              </a:rPr>
              <a:t>The OS Metaphor:</a:t>
            </a:r>
            <a:r>
              <a:rPr lang="en-US" sz="1200" kern="1200" dirty="0">
                <a:solidFill>
                  <a:schemeClr val="tx1"/>
                </a:solidFill>
                <a:effectLst/>
                <a:latin typeface="+mn-lt"/>
                <a:ea typeface="+mn-ea"/>
                <a:cs typeface="+mn-cs"/>
              </a:rPr>
              <a:t> Look at AI-native operating systems (like Omari Linux vs. standard Ubuntu). In standard OS environments, you have to manually copy system logs into an AI application. In an AI-native environment, the AI sees all system logs natively at the hardware/kernel level. </a:t>
            </a:r>
          </a:p>
          <a:p>
            <a:r>
              <a:rPr lang="en-US" sz="1200" b="1" kern="1200" dirty="0">
                <a:solidFill>
                  <a:schemeClr val="tx1"/>
                </a:solidFill>
                <a:effectLst/>
                <a:latin typeface="+mn-lt"/>
                <a:ea typeface="+mn-ea"/>
                <a:cs typeface="+mn-cs"/>
              </a:rPr>
              <a:t>Warning to Software Vendors:</a:t>
            </a:r>
            <a:r>
              <a:rPr lang="en-US" sz="1200" kern="1200" dirty="0">
                <a:solidFill>
                  <a:schemeClr val="tx1"/>
                </a:solidFill>
                <a:effectLst/>
                <a:latin typeface="+mn-lt"/>
                <a:ea typeface="+mn-ea"/>
                <a:cs typeface="+mn-cs"/>
              </a:rPr>
              <a:t> If your software requires an AI agent to guide a human through clicks in your proprietary GUI, your product is falling behind. Interfaces should remain primarily for human validation. </a:t>
            </a:r>
          </a:p>
          <a:p>
            <a:endParaRPr lang="en-US" dirty="0"/>
          </a:p>
        </p:txBody>
      </p:sp>
      <p:sp>
        <p:nvSpPr>
          <p:cNvPr id="4" name="Slide Number Placeholder 3"/>
          <p:cNvSpPr>
            <a:spLocks noGrp="1"/>
          </p:cNvSpPr>
          <p:nvPr>
            <p:ph type="sldNum" sz="quarter" idx="5"/>
          </p:nvPr>
        </p:nvSpPr>
        <p:spPr/>
        <p:txBody>
          <a:bodyPr/>
          <a:lstStyle/>
          <a:p>
            <a:fld id="{63F6AA22-1A35-44FB-8D63-AA2C5177128D}" type="slidenum">
              <a:rPr lang="en-US" smtClean="0"/>
              <a:t>9</a:t>
            </a:fld>
            <a:endParaRPr lang="en-US"/>
          </a:p>
        </p:txBody>
      </p:sp>
    </p:spTree>
    <p:extLst>
      <p:ext uri="{BB962C8B-B14F-4D97-AF65-F5344CB8AC3E}">
        <p14:creationId xmlns:p14="http://schemas.microsoft.com/office/powerpoint/2010/main" val="33915254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systems integrators and engineering teams, the playbooks of the last decade are no longer effective. The winning architectural strategy is resting on </a:t>
            </a:r>
            <a:r>
              <a:rPr lang="en-US" sz="1200" b="1" kern="1200" dirty="0">
                <a:solidFill>
                  <a:schemeClr val="tx1"/>
                </a:solidFill>
                <a:effectLst/>
                <a:latin typeface="+mn-lt"/>
                <a:ea typeface="+mn-ea"/>
                <a:cs typeface="+mn-cs"/>
              </a:rPr>
              <a:t>Three Pillars</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Pillar 1: Data Ops Platform</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core foundation for modern Level 3 information management (e.g., platforms like </a:t>
            </a:r>
            <a:r>
              <a:rPr lang="en-US" sz="1200" kern="1200" dirty="0" err="1">
                <a:solidFill>
                  <a:schemeClr val="tx1"/>
                </a:solidFill>
                <a:effectLst/>
                <a:latin typeface="+mn-lt"/>
                <a:ea typeface="+mn-ea"/>
                <a:cs typeface="+mn-cs"/>
              </a:rPr>
              <a:t>MaestroHub</a:t>
            </a:r>
            <a:r>
              <a:rPr lang="en-US" sz="1200" kern="1200" dirty="0">
                <a:solidFill>
                  <a:schemeClr val="tx1"/>
                </a:solidFill>
                <a:effectLst/>
                <a:latin typeface="+mn-lt"/>
                <a:ea typeface="+mn-ea"/>
                <a:cs typeface="+mn-cs"/>
              </a:rPr>
              <a:t>).</a:t>
            </a:r>
          </a:p>
          <a:p>
            <a:r>
              <a:rPr lang="en-US" sz="1200" b="1" kern="1200" dirty="0">
                <a:solidFill>
                  <a:schemeClr val="tx1"/>
                </a:solidFill>
                <a:effectLst/>
                <a:latin typeface="+mn-lt"/>
                <a:ea typeface="+mn-ea"/>
                <a:cs typeface="+mn-cs"/>
              </a:rPr>
              <a:t>Pillar 2: Universal Connectivity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An edge-to-cloud data ingestion layer capable of normalizing data from any industrial asset (e.g., Litmus). </a:t>
            </a:r>
          </a:p>
          <a:p>
            <a:r>
              <a:rPr lang="en-US" sz="1200" b="1" kern="1200" dirty="0">
                <a:solidFill>
                  <a:schemeClr val="tx1"/>
                </a:solidFill>
                <a:effectLst/>
                <a:latin typeface="+mn-lt"/>
                <a:ea typeface="+mn-ea"/>
                <a:cs typeface="+mn-cs"/>
              </a:rPr>
              <a:t>Pillar 3: Agentic Custom Builds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Replacing monolithic L3 applications by using AI agents to rapidly build bespoke, lightweight applications directly on top of the Data Ops and UNS foundation. </a:t>
            </a:r>
          </a:p>
          <a:p>
            <a:r>
              <a:rPr lang="en-US" sz="1200" b="1" kern="1200" dirty="0">
                <a:solidFill>
                  <a:schemeClr val="tx1"/>
                </a:solidFill>
                <a:effectLst/>
                <a:latin typeface="+mn-lt"/>
                <a:ea typeface="+mn-ea"/>
                <a:cs typeface="+mn-cs"/>
              </a:rPr>
              <a:t>Crucial Distinction:</a:t>
            </a:r>
            <a:r>
              <a:rPr lang="en-US" sz="1200" kern="1200" dirty="0">
                <a:solidFill>
                  <a:schemeClr val="tx1"/>
                </a:solidFill>
                <a:effectLst/>
                <a:latin typeface="+mn-lt"/>
                <a:ea typeface="+mn-ea"/>
                <a:cs typeface="+mn-cs"/>
              </a:rPr>
              <a:t> Legacy SCADA systems remain necessary for strict process control. However, Level 3 Information Platforms, MES, and traditional IoT monoliths are experiencing complete disruption. Integrators who adopt this 3-pillar strategy can deliver higher value at a fraction of traditional development costs. </a:t>
            </a:r>
          </a:p>
          <a:p>
            <a:r>
              <a:rPr lang="en-US" dirty="0"/>
              <a:t> 	</a:t>
            </a:r>
          </a:p>
        </p:txBody>
      </p:sp>
      <p:sp>
        <p:nvSpPr>
          <p:cNvPr id="4" name="Slide Number Placeholder 3"/>
          <p:cNvSpPr>
            <a:spLocks noGrp="1"/>
          </p:cNvSpPr>
          <p:nvPr>
            <p:ph type="sldNum" sz="quarter" idx="5"/>
          </p:nvPr>
        </p:nvSpPr>
        <p:spPr/>
        <p:txBody>
          <a:bodyPr/>
          <a:lstStyle/>
          <a:p>
            <a:fld id="{63F6AA22-1A35-44FB-8D63-AA2C5177128D}" type="slidenum">
              <a:rPr lang="en-US" smtClean="0"/>
              <a:t>10</a:t>
            </a:fld>
            <a:endParaRPr lang="en-US"/>
          </a:p>
        </p:txBody>
      </p:sp>
    </p:spTree>
    <p:extLst>
      <p:ext uri="{BB962C8B-B14F-4D97-AF65-F5344CB8AC3E}">
        <p14:creationId xmlns:p14="http://schemas.microsoft.com/office/powerpoint/2010/main" val="7664094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let's address the intense public debate around AI safety and regulation. </a:t>
            </a:r>
          </a:p>
          <a:p>
            <a:r>
              <a:rPr lang="en-US" sz="1200" kern="1200" dirty="0">
                <a:solidFill>
                  <a:schemeClr val="tx1"/>
                </a:solidFill>
                <a:effectLst/>
                <a:latin typeface="+mn-lt"/>
                <a:ea typeface="+mn-ea"/>
                <a:cs typeface="+mn-cs"/>
              </a:rPr>
              <a:t>When major frontier labs (like OpenAI and Anthropic) publicly warn about catastrophic existential threats and demand strict government oversight, you need to look at their actions, not just their words. </a:t>
            </a:r>
          </a:p>
          <a:p>
            <a:r>
              <a:rPr lang="en-US" sz="1200" kern="1200" dirty="0">
                <a:solidFill>
                  <a:schemeClr val="tx1"/>
                </a:solidFill>
                <a:effectLst/>
                <a:latin typeface="+mn-lt"/>
                <a:ea typeface="+mn-ea"/>
                <a:cs typeface="+mn-cs"/>
              </a:rPr>
              <a:t>Much of the push for 'existential risk' regulation functions as a </a:t>
            </a:r>
            <a:r>
              <a:rPr lang="en-US" sz="1200" b="1" kern="1200" dirty="0">
                <a:solidFill>
                  <a:schemeClr val="tx1"/>
                </a:solidFill>
                <a:effectLst/>
                <a:latin typeface="+mn-lt"/>
                <a:ea typeface="+mn-ea"/>
                <a:cs typeface="+mn-cs"/>
              </a:rPr>
              <a:t>regulatory moat</a:t>
            </a:r>
            <a:r>
              <a:rPr lang="en-US" sz="1200" kern="1200" dirty="0">
                <a:solidFill>
                  <a:schemeClr val="tx1"/>
                </a:solidFill>
                <a:effectLst/>
                <a:latin typeface="+mn-lt"/>
                <a:ea typeface="+mn-ea"/>
                <a:cs typeface="+mn-cs"/>
              </a:rPr>
              <a:t>. Frontier labs spend record amounts on lobbying to shape regulations that only incumbent giants with massive compliance budgets can satisfy. Meanwhile, open-source challengers and smaller innovators get locked out. </a:t>
            </a:r>
          </a:p>
          <a:p>
            <a:r>
              <a:rPr lang="en-US" sz="1200" kern="1200" dirty="0">
                <a:solidFill>
                  <a:schemeClr val="tx1"/>
                </a:solidFill>
                <a:effectLst/>
                <a:latin typeface="+mn-lt"/>
                <a:ea typeface="+mn-ea"/>
                <a:cs typeface="+mn-cs"/>
              </a:rPr>
              <a:t>As the visual on the slide illustrates: </a:t>
            </a:r>
            <a:r>
              <a:rPr lang="en-US" sz="1200" i="1" kern="1200" dirty="0">
                <a:solidFill>
                  <a:schemeClr val="tx1"/>
                </a:solidFill>
                <a:effectLst/>
                <a:latin typeface="+mn-lt"/>
                <a:ea typeface="+mn-ea"/>
                <a:cs typeface="+mn-cs"/>
              </a:rPr>
              <a:t>They are the tallest kids in gym class asking the teacher to ban anyone under six feet tall from playing basketball because it’s 'dangerous.'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We do need regulation, but we must distinguish between genuine operational safety and corporate regulatory capture.</a:t>
            </a:r>
          </a:p>
          <a:p>
            <a:r>
              <a:rPr lang="en-US" dirty="0"/>
              <a:t>    </a:t>
            </a:r>
          </a:p>
        </p:txBody>
      </p:sp>
      <p:sp>
        <p:nvSpPr>
          <p:cNvPr id="4" name="Slide Number Placeholder 3"/>
          <p:cNvSpPr>
            <a:spLocks noGrp="1"/>
          </p:cNvSpPr>
          <p:nvPr>
            <p:ph type="sldNum" sz="quarter" idx="5"/>
          </p:nvPr>
        </p:nvSpPr>
        <p:spPr/>
        <p:txBody>
          <a:bodyPr/>
          <a:lstStyle/>
          <a:p>
            <a:fld id="{63F6AA22-1A35-44FB-8D63-AA2C5177128D}" type="slidenum">
              <a:rPr lang="en-US" smtClean="0"/>
              <a:t>11</a:t>
            </a:fld>
            <a:endParaRPr lang="en-US"/>
          </a:p>
        </p:txBody>
      </p:sp>
    </p:spTree>
    <p:extLst>
      <p:ext uri="{BB962C8B-B14F-4D97-AF65-F5344CB8AC3E}">
        <p14:creationId xmlns:p14="http://schemas.microsoft.com/office/powerpoint/2010/main" val="35081203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why frontier labs are lobbying so aggressively, follow the money. The urgency behind regulatory capture is driven by underlying financial realities: </a:t>
            </a:r>
          </a:p>
          <a:p>
            <a:r>
              <a:rPr lang="en-US" sz="1200" b="1" kern="1200" dirty="0">
                <a:solidFill>
                  <a:schemeClr val="tx1"/>
                </a:solidFill>
                <a:effectLst/>
                <a:latin typeface="+mn-lt"/>
                <a:ea typeface="+mn-ea"/>
                <a:cs typeface="+mn-cs"/>
              </a:rPr>
              <a:t>OpenAI Financial Burn: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Projecting a </a:t>
            </a:r>
            <a:r>
              <a:rPr lang="en-US" sz="1200" b="1" kern="1200" dirty="0">
                <a:solidFill>
                  <a:schemeClr val="tx1"/>
                </a:solidFill>
                <a:effectLst/>
                <a:latin typeface="+mn-lt"/>
                <a:ea typeface="+mn-ea"/>
                <a:cs typeface="+mn-cs"/>
              </a:rPr>
              <a:t>$9 Billion loss</a:t>
            </a:r>
            <a:r>
              <a:rPr lang="en-US" sz="1200" kern="1200" dirty="0">
                <a:solidFill>
                  <a:schemeClr val="tx1"/>
                </a:solidFill>
                <a:effectLst/>
                <a:latin typeface="+mn-lt"/>
                <a:ea typeface="+mn-ea"/>
                <a:cs typeface="+mn-cs"/>
              </a:rPr>
              <a:t> this year, spending roughly </a:t>
            </a:r>
            <a:r>
              <a:rPr lang="en-US" sz="1200" b="1" kern="1200" dirty="0">
                <a:solidFill>
                  <a:schemeClr val="tx1"/>
                </a:solidFill>
                <a:effectLst/>
                <a:latin typeface="+mn-lt"/>
                <a:ea typeface="+mn-ea"/>
                <a:cs typeface="+mn-cs"/>
              </a:rPr>
              <a:t>$169 for every $1 earned</a:t>
            </a:r>
            <a:r>
              <a:rPr lang="en-US" sz="1200" kern="1200" dirty="0">
                <a:solidFill>
                  <a:schemeClr val="tx1"/>
                </a:solidFill>
                <a:effectLst/>
                <a:latin typeface="+mn-lt"/>
                <a:ea typeface="+mn-ea"/>
                <a:cs typeface="+mn-cs"/>
              </a:rPr>
              <a:t>.</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Locked into an estimated </a:t>
            </a:r>
            <a:r>
              <a:rPr lang="en-US" sz="1200" b="1" kern="1200" dirty="0">
                <a:solidFill>
                  <a:schemeClr val="tx1"/>
                </a:solidFill>
                <a:effectLst/>
                <a:latin typeface="+mn-lt"/>
                <a:ea typeface="+mn-ea"/>
                <a:cs typeface="+mn-cs"/>
              </a:rPr>
              <a:t>$1.4 Trillion in compute commitments</a:t>
            </a:r>
            <a:r>
              <a:rPr lang="en-US" sz="1200" kern="1200" dirty="0">
                <a:solidFill>
                  <a:schemeClr val="tx1"/>
                </a:solidFill>
                <a:effectLst/>
                <a:latin typeface="+mn-lt"/>
                <a:ea typeface="+mn-ea"/>
                <a:cs typeface="+mn-cs"/>
              </a:rPr>
              <a:t> over the coming years.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Operating losses continue to consume a massive percentage of revenue, creating an urgent need to secure market dominance before capital runways shorten. </a:t>
            </a:r>
          </a:p>
          <a:p>
            <a:r>
              <a:rPr lang="en-US" sz="1200" b="1" kern="1200" dirty="0">
                <a:solidFill>
                  <a:schemeClr val="tx1"/>
                </a:solidFill>
                <a:effectLst/>
                <a:latin typeface="+mn-lt"/>
                <a:ea typeface="+mn-ea"/>
                <a:cs typeface="+mn-cs"/>
              </a:rPr>
              <a:t>Anthropic Runway:</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Projected cash burn dropping to ~9% of revenue by 2027, with free cash flow break-even targeted for 2027/2028.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While in a relatively better position than OpenAI, they still face significant capital expenditure demands. </a:t>
            </a:r>
          </a:p>
          <a:p>
            <a:r>
              <a:rPr lang="en-US" sz="1200" kern="1200" dirty="0">
                <a:solidFill>
                  <a:schemeClr val="tx1"/>
                </a:solidFill>
                <a:effectLst/>
                <a:latin typeface="+mn-lt"/>
                <a:ea typeface="+mn-ea"/>
                <a:cs typeface="+mn-cs"/>
              </a:rPr>
              <a:t>When multi-billion-dollar labs burn cash at this rate, establishing a regulatory moat around frontier models becomes a core business strategy for survival. </a:t>
            </a:r>
          </a:p>
          <a:p>
            <a:endParaRPr lang="en-US" dirty="0"/>
          </a:p>
        </p:txBody>
      </p:sp>
      <p:sp>
        <p:nvSpPr>
          <p:cNvPr id="4" name="Slide Number Placeholder 3"/>
          <p:cNvSpPr>
            <a:spLocks noGrp="1"/>
          </p:cNvSpPr>
          <p:nvPr>
            <p:ph type="sldNum" sz="quarter" idx="5"/>
          </p:nvPr>
        </p:nvSpPr>
        <p:spPr/>
        <p:txBody>
          <a:bodyPr/>
          <a:lstStyle/>
          <a:p>
            <a:fld id="{63F6AA22-1A35-44FB-8D63-AA2C5177128D}" type="slidenum">
              <a:rPr lang="en-US" smtClean="0"/>
              <a:t>12</a:t>
            </a:fld>
            <a:endParaRPr lang="en-US"/>
          </a:p>
        </p:txBody>
      </p:sp>
    </p:spTree>
    <p:extLst>
      <p:ext uri="{BB962C8B-B14F-4D97-AF65-F5344CB8AC3E}">
        <p14:creationId xmlns:p14="http://schemas.microsoft.com/office/powerpoint/2010/main" val="22767526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do not need a centralized 'Ministry of Algorithms' dictating who is allowed to write code or train models. Instead, we need </a:t>
            </a:r>
            <a:r>
              <a:rPr lang="en-US" sz="1200" b="1" kern="1200" dirty="0">
                <a:solidFill>
                  <a:schemeClr val="tx1"/>
                </a:solidFill>
                <a:effectLst/>
                <a:latin typeface="+mn-lt"/>
                <a:ea typeface="+mn-ea"/>
                <a:cs typeface="+mn-cs"/>
              </a:rPr>
              <a:t>Precision Regulation</a:t>
            </a:r>
            <a:r>
              <a:rPr lang="en-US" sz="1200" kern="1200" dirty="0">
                <a:solidFill>
                  <a:schemeClr val="tx1"/>
                </a:solidFill>
                <a:effectLst/>
                <a:latin typeface="+mn-lt"/>
                <a:ea typeface="+mn-ea"/>
                <a:cs typeface="+mn-cs"/>
              </a:rPr>
              <a:t> that separates the Innovation Layer from the Consequence Layer. </a:t>
            </a:r>
          </a:p>
          <a:p>
            <a:r>
              <a:rPr lang="en-US" sz="1200" b="1" kern="1200" dirty="0">
                <a:solidFill>
                  <a:schemeClr val="tx1"/>
                </a:solidFill>
                <a:effectLst/>
                <a:latin typeface="+mn-lt"/>
                <a:ea typeface="+mn-ea"/>
                <a:cs typeface="+mn-cs"/>
              </a:rPr>
              <a:t>DO NOT REGULATE (The Innovation Layer):</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Model architectures, math, and algorithms.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Open weights and open-source software development.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Licensing access to who is allowed to build AI tools. </a:t>
            </a:r>
          </a:p>
          <a:p>
            <a:r>
              <a:rPr lang="en-US" sz="1200" b="1" kern="1200" dirty="0">
                <a:solidFill>
                  <a:schemeClr val="tx1"/>
                </a:solidFill>
                <a:effectLst/>
                <a:latin typeface="+mn-lt"/>
                <a:ea typeface="+mn-ea"/>
                <a:cs typeface="+mn-cs"/>
              </a:rPr>
              <a:t>DO REGULATE (The Consequence Layer):</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Liability:</a:t>
            </a:r>
            <a:r>
              <a:rPr lang="en-US" sz="1200" kern="1200" dirty="0">
                <a:solidFill>
                  <a:schemeClr val="tx1"/>
                </a:solidFill>
                <a:effectLst/>
                <a:latin typeface="+mn-lt"/>
                <a:ea typeface="+mn-ea"/>
                <a:cs typeface="+mn-cs"/>
              </a:rPr>
              <a:t> Establishing clear legal accountability when an AI-driven system causes physical damage, financial loss, or facility downtime. Existing regulatory bodies (like OSHA, FAA, or EPA) can enforce rules within their domains without creating new algorithm bureaucracies.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IP &amp; Royalties:</a:t>
            </a:r>
            <a:r>
              <a:rPr lang="en-US" sz="1200" kern="1200" dirty="0">
                <a:solidFill>
                  <a:schemeClr val="tx1"/>
                </a:solidFill>
                <a:effectLst/>
                <a:latin typeface="+mn-lt"/>
                <a:ea typeface="+mn-ea"/>
                <a:cs typeface="+mn-cs"/>
              </a:rPr>
              <a:t> Structuring fair compensation models for the human creators whose collective work trained these foundation models. </a:t>
            </a:r>
          </a:p>
          <a:p>
            <a:r>
              <a:rPr lang="en-US" sz="1200" kern="1200" dirty="0">
                <a:solidFill>
                  <a:schemeClr val="tx1"/>
                </a:solidFill>
                <a:effectLst/>
                <a:latin typeface="+mn-lt"/>
                <a:ea typeface="+mn-ea"/>
                <a:cs typeface="+mn-cs"/>
              </a:rPr>
              <a:t>Regulating downstream consequences protects industry without stifling technical innovation. </a:t>
            </a:r>
          </a:p>
          <a:p>
            <a:endParaRPr lang="en-US" dirty="0"/>
          </a:p>
        </p:txBody>
      </p:sp>
      <p:sp>
        <p:nvSpPr>
          <p:cNvPr id="4" name="Slide Number Placeholder 3"/>
          <p:cNvSpPr>
            <a:spLocks noGrp="1"/>
          </p:cNvSpPr>
          <p:nvPr>
            <p:ph type="sldNum" sz="quarter" idx="5"/>
          </p:nvPr>
        </p:nvSpPr>
        <p:spPr/>
        <p:txBody>
          <a:bodyPr/>
          <a:lstStyle/>
          <a:p>
            <a:fld id="{63F6AA22-1A35-44FB-8D63-AA2C5177128D}" type="slidenum">
              <a:rPr lang="en-US" smtClean="0"/>
              <a:t>13</a:t>
            </a:fld>
            <a:endParaRPr lang="en-US"/>
          </a:p>
        </p:txBody>
      </p:sp>
    </p:spTree>
    <p:extLst>
      <p:ext uri="{BB962C8B-B14F-4D97-AF65-F5344CB8AC3E}">
        <p14:creationId xmlns:p14="http://schemas.microsoft.com/office/powerpoint/2010/main" val="30531149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examine the shift occurring in the workforce. Agentic AI creates a divergence between </a:t>
            </a:r>
            <a:r>
              <a:rPr lang="en-US" sz="1200" b="1" kern="1200" dirty="0">
                <a:solidFill>
                  <a:schemeClr val="tx1"/>
                </a:solidFill>
                <a:effectLst/>
                <a:latin typeface="+mn-lt"/>
                <a:ea typeface="+mn-ea"/>
                <a:cs typeface="+mn-cs"/>
              </a:rPr>
              <a:t>Producers</a:t>
            </a:r>
            <a:r>
              <a:rPr lang="en-US" sz="1200" kern="1200" dirty="0">
                <a:solidFill>
                  <a:schemeClr val="tx1"/>
                </a:solidFill>
                <a:effectLst/>
                <a:latin typeface="+mn-lt"/>
                <a:ea typeface="+mn-ea"/>
                <a:cs typeface="+mn-cs"/>
              </a:rPr>
              <a:t> and administrative </a:t>
            </a:r>
            <a:r>
              <a:rPr lang="en-US" sz="1200" b="1" kern="1200" dirty="0">
                <a:solidFill>
                  <a:schemeClr val="tx1"/>
                </a:solidFill>
                <a:effectLst/>
                <a:latin typeface="+mn-lt"/>
                <a:ea typeface="+mn-ea"/>
                <a:cs typeface="+mn-cs"/>
              </a:rPr>
              <a:t>Cost Centers</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1. Producer Leverage: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Highly skilled producers utilizing AI agents can see baseline productivity gains ranging from </a:t>
            </a:r>
            <a:r>
              <a:rPr lang="en-US" sz="1200" b="1" kern="1200" dirty="0">
                <a:solidFill>
                  <a:schemeClr val="tx1"/>
                </a:solidFill>
                <a:effectLst/>
                <a:latin typeface="+mn-lt"/>
                <a:ea typeface="+mn-ea"/>
                <a:cs typeface="+mn-cs"/>
              </a:rPr>
              <a:t>10x up to 600x</a:t>
            </a:r>
            <a:r>
              <a:rPr lang="en-US" sz="1200" kern="1200" dirty="0">
                <a:solidFill>
                  <a:schemeClr val="tx1"/>
                </a:solidFill>
                <a:effectLst/>
                <a:latin typeface="+mn-lt"/>
                <a:ea typeface="+mn-ea"/>
                <a:cs typeface="+mn-cs"/>
              </a:rPr>
              <a:t>. Tasks that used to take weeks now take hours. </a:t>
            </a:r>
          </a:p>
          <a:p>
            <a:r>
              <a:rPr lang="en-US" sz="1200" b="1" kern="1200" dirty="0">
                <a:solidFill>
                  <a:schemeClr val="tx1"/>
                </a:solidFill>
                <a:effectLst/>
                <a:latin typeface="+mn-lt"/>
                <a:ea typeface="+mn-ea"/>
                <a:cs typeface="+mn-cs"/>
              </a:rPr>
              <a:t>2. The Payroll Reality: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As individual output outruns traditional payroll metrics, justifying fixed salaries for pure administrative 'cost-center' roles becomes mathematically challenging. When a producer's capacity scales exponentially, non-producing overhead layers become visible inefficiencies. </a:t>
            </a:r>
          </a:p>
          <a:p>
            <a:r>
              <a:rPr lang="en-US" sz="1200" b="1" kern="1200" dirty="0">
                <a:solidFill>
                  <a:schemeClr val="tx1"/>
                </a:solidFill>
                <a:effectLst/>
                <a:latin typeface="+mn-lt"/>
                <a:ea typeface="+mn-ea"/>
                <a:cs typeface="+mn-cs"/>
              </a:rPr>
              <a:t>3. Cognitive Erosion Risk:</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There is a critical human element to monitor: </a:t>
            </a:r>
            <a:r>
              <a:rPr lang="en-US" sz="1200" b="1" kern="1200" dirty="0">
                <a:solidFill>
                  <a:schemeClr val="tx1"/>
                </a:solidFill>
                <a:effectLst/>
                <a:latin typeface="+mn-lt"/>
                <a:ea typeface="+mn-ea"/>
                <a:cs typeface="+mn-cs"/>
              </a:rPr>
              <a:t>Cognitive Risk</a:t>
            </a:r>
            <a:r>
              <a:rPr lang="en-US" sz="1200" kern="1200" dirty="0">
                <a:solidFill>
                  <a:schemeClr val="tx1"/>
                </a:solidFill>
                <a:effectLst/>
                <a:latin typeface="+mn-lt"/>
                <a:ea typeface="+mn-ea"/>
                <a:cs typeface="+mn-cs"/>
              </a:rPr>
              <a:t>. Over-reliance on AI without design controls and human-in-the-loop validation can erode critical thinking skills. If domain experts rely entirely on agents without maintaining underlying subject mastery, they lose the ability to evaluate model outputs effectively. </a:t>
            </a:r>
          </a:p>
          <a:p>
            <a:endParaRPr lang="en-US" dirty="0"/>
          </a:p>
        </p:txBody>
      </p:sp>
      <p:sp>
        <p:nvSpPr>
          <p:cNvPr id="4" name="Slide Number Placeholder 3"/>
          <p:cNvSpPr>
            <a:spLocks noGrp="1"/>
          </p:cNvSpPr>
          <p:nvPr>
            <p:ph type="sldNum" sz="quarter" idx="5"/>
          </p:nvPr>
        </p:nvSpPr>
        <p:spPr/>
        <p:txBody>
          <a:bodyPr/>
          <a:lstStyle/>
          <a:p>
            <a:fld id="{63F6AA22-1A35-44FB-8D63-AA2C5177128D}" type="slidenum">
              <a:rPr lang="en-US" smtClean="0"/>
              <a:t>14</a:t>
            </a:fld>
            <a:endParaRPr lang="en-US"/>
          </a:p>
        </p:txBody>
      </p:sp>
    </p:spTree>
    <p:extLst>
      <p:ext uri="{BB962C8B-B14F-4D97-AF65-F5344CB8AC3E}">
        <p14:creationId xmlns:p14="http://schemas.microsoft.com/office/powerpoint/2010/main" val="15062592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Looking broader, AI represents a fundamental economic shift. </a:t>
            </a:r>
          </a:p>
          <a:p>
            <a:r>
              <a:rPr lang="en-US" sz="1200" b="1" kern="1200" dirty="0">
                <a:solidFill>
                  <a:schemeClr val="tx1"/>
                </a:solidFill>
                <a:effectLst/>
                <a:latin typeface="+mn-lt"/>
                <a:ea typeface="+mn-ea"/>
                <a:cs typeface="+mn-cs"/>
              </a:rPr>
              <a:t>The Paradigm Shift:</a:t>
            </a:r>
            <a:r>
              <a:rPr lang="en-US" sz="1200" kern="1200" dirty="0">
                <a:solidFill>
                  <a:schemeClr val="tx1"/>
                </a:solidFill>
                <a:effectLst/>
                <a:latin typeface="+mn-lt"/>
                <a:ea typeface="+mn-ea"/>
                <a:cs typeface="+mn-cs"/>
              </a:rPr>
              <a:t> Throughout human history, economic models have managed scarcity. AI introduces the possibility of managing </a:t>
            </a:r>
            <a:r>
              <a:rPr lang="en-US" sz="1200" b="1" kern="1200" dirty="0">
                <a:solidFill>
                  <a:schemeClr val="tx1"/>
                </a:solidFill>
                <a:effectLst/>
                <a:latin typeface="+mn-lt"/>
                <a:ea typeface="+mn-ea"/>
                <a:cs typeface="+mn-cs"/>
              </a:rPr>
              <a:t>abundance</a:t>
            </a:r>
            <a:r>
              <a:rPr lang="en-US" sz="1200" kern="1200" dirty="0">
                <a:solidFill>
                  <a:schemeClr val="tx1"/>
                </a:solidFill>
                <a:effectLst/>
                <a:latin typeface="+mn-lt"/>
                <a:ea typeface="+mn-ea"/>
                <a:cs typeface="+mn-cs"/>
              </a:rPr>
              <a:t>. For the first time, global productivity output divided by total population can realistically exceed the cost of a comfortable living wage. </a:t>
            </a:r>
          </a:p>
          <a:p>
            <a:r>
              <a:rPr lang="en-US" sz="1200" b="1" kern="1200" dirty="0">
                <a:solidFill>
                  <a:schemeClr val="tx1"/>
                </a:solidFill>
                <a:effectLst/>
                <a:latin typeface="+mn-lt"/>
                <a:ea typeface="+mn-ea"/>
                <a:cs typeface="+mn-cs"/>
              </a:rPr>
              <a:t>The Origin of Output: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AI models were trained on the collective written knowledge, software, and operational experience of humanity. Because this productivity leverage stems from shared human input, its benefits should extend broadly across society. </a:t>
            </a:r>
          </a:p>
          <a:p>
            <a:r>
              <a:rPr lang="en-US" sz="1200" b="1" kern="1200" dirty="0">
                <a:solidFill>
                  <a:schemeClr val="tx1"/>
                </a:solidFill>
                <a:effectLst/>
                <a:latin typeface="+mn-lt"/>
                <a:ea typeface="+mn-ea"/>
                <a:cs typeface="+mn-cs"/>
              </a:rPr>
              <a:t>Capitalist UBI:</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As productivity gains outpace traditional labor markets, structural policy adjustments like Universal Basic Income (UBI) become a practical economic requirement to maintain consumer demand and market stability. Managing this transition thoughtfully is essential for long-term economic alignment. </a:t>
            </a:r>
          </a:p>
          <a:p>
            <a:endParaRPr lang="en-US" dirty="0"/>
          </a:p>
        </p:txBody>
      </p:sp>
      <p:sp>
        <p:nvSpPr>
          <p:cNvPr id="4" name="Slide Number Placeholder 3"/>
          <p:cNvSpPr>
            <a:spLocks noGrp="1"/>
          </p:cNvSpPr>
          <p:nvPr>
            <p:ph type="sldNum" sz="quarter" idx="5"/>
          </p:nvPr>
        </p:nvSpPr>
        <p:spPr/>
        <p:txBody>
          <a:bodyPr/>
          <a:lstStyle/>
          <a:p>
            <a:fld id="{63F6AA22-1A35-44FB-8D63-AA2C5177128D}" type="slidenum">
              <a:rPr lang="en-US" smtClean="0"/>
              <a:t>15</a:t>
            </a:fld>
            <a:endParaRPr lang="en-US"/>
          </a:p>
        </p:txBody>
      </p:sp>
    </p:spTree>
    <p:extLst>
      <p:ext uri="{BB962C8B-B14F-4D97-AF65-F5344CB8AC3E}">
        <p14:creationId xmlns:p14="http://schemas.microsoft.com/office/powerpoint/2010/main" val="34607979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synthesize where we stand as we enter the Agentic Era: </a:t>
            </a:r>
          </a:p>
          <a:p>
            <a:r>
              <a:rPr lang="en-US" sz="1200" b="1" kern="1200" dirty="0">
                <a:solidFill>
                  <a:schemeClr val="tx1"/>
                </a:solidFill>
                <a:effectLst/>
                <a:latin typeface="+mn-lt"/>
                <a:ea typeface="+mn-ea"/>
                <a:cs typeface="+mn-cs"/>
              </a:rPr>
              <a:t>1. The Reality:</a:t>
            </a:r>
            <a:r>
              <a:rPr lang="en-US" sz="1200" kern="1200" dirty="0">
                <a:solidFill>
                  <a:schemeClr val="tx1"/>
                </a:solidFill>
                <a:effectLst/>
                <a:latin typeface="+mn-lt"/>
                <a:ea typeface="+mn-ea"/>
                <a:cs typeface="+mn-cs"/>
              </a:rPr>
              <a:t> AI represents a significant general-purpose technological advancement. However, LLMs remain probabilistic tools—not deterministic minds. </a:t>
            </a:r>
          </a:p>
          <a:p>
            <a:r>
              <a:rPr lang="en-US" sz="1200" b="1" kern="1200" dirty="0">
                <a:solidFill>
                  <a:schemeClr val="tx1"/>
                </a:solidFill>
                <a:effectLst/>
                <a:latin typeface="+mn-lt"/>
                <a:ea typeface="+mn-ea"/>
                <a:cs typeface="+mn-cs"/>
              </a:rPr>
              <a:t>2. The Advantage:</a:t>
            </a:r>
            <a:r>
              <a:rPr lang="en-US" sz="1200" kern="1200" dirty="0">
                <a:solidFill>
                  <a:schemeClr val="tx1"/>
                </a:solidFill>
                <a:effectLst/>
                <a:latin typeface="+mn-lt"/>
                <a:ea typeface="+mn-ea"/>
                <a:cs typeface="+mn-cs"/>
              </a:rPr>
              <a:t> Industrial end-users are advancing their digital fluency at an unprecedented pace, applying agentic workflows to solve long-standing operational challenges. </a:t>
            </a:r>
          </a:p>
          <a:p>
            <a:r>
              <a:rPr lang="en-US" sz="1200" b="1" kern="1200" dirty="0">
                <a:solidFill>
                  <a:schemeClr val="tx1"/>
                </a:solidFill>
                <a:effectLst/>
                <a:latin typeface="+mn-lt"/>
                <a:ea typeface="+mn-ea"/>
                <a:cs typeface="+mn-cs"/>
              </a:rPr>
              <a:t>3. The Executive Directive: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Modernize Data Architecture:</a:t>
            </a:r>
            <a:r>
              <a:rPr lang="en-US" sz="1200" kern="1200" dirty="0">
                <a:solidFill>
                  <a:schemeClr val="tx1"/>
                </a:solidFill>
                <a:effectLst/>
                <a:latin typeface="+mn-lt"/>
                <a:ea typeface="+mn-ea"/>
                <a:cs typeface="+mn-cs"/>
              </a:rPr>
              <a:t> Build a robust Unified Namespace (UNS) and integrate Knowledge Graphs to ensure high-quality context.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Protect Deterministic Control:</a:t>
            </a:r>
            <a:r>
              <a:rPr lang="en-US" sz="1200" kern="1200" dirty="0">
                <a:solidFill>
                  <a:schemeClr val="tx1"/>
                </a:solidFill>
                <a:effectLst/>
                <a:latin typeface="+mn-lt"/>
                <a:ea typeface="+mn-ea"/>
                <a:cs typeface="+mn-cs"/>
              </a:rPr>
              <a:t> Keep probabilistic AI out of unsupervised closed-loop operations; maintain deterministic control systems.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Embrace Agentic Leverage:</a:t>
            </a:r>
            <a:r>
              <a:rPr lang="en-US" sz="1200" kern="1200" dirty="0">
                <a:solidFill>
                  <a:schemeClr val="tx1"/>
                </a:solidFill>
                <a:effectLst/>
                <a:latin typeface="+mn-lt"/>
                <a:ea typeface="+mn-ea"/>
                <a:cs typeface="+mn-cs"/>
              </a:rPr>
              <a:t> Shift from slow, monolithic software models to lean, API-driven agentic development. </a:t>
            </a:r>
          </a:p>
          <a:p>
            <a:r>
              <a:rPr lang="en-US" sz="1200" kern="1200" dirty="0">
                <a:solidFill>
                  <a:schemeClr val="tx1"/>
                </a:solidFill>
                <a:effectLst/>
                <a:latin typeface="+mn-lt"/>
                <a:ea typeface="+mn-ea"/>
                <a:cs typeface="+mn-cs"/>
              </a:rPr>
              <a:t>Thank you for your time, and I look forward to taking your questions. </a:t>
            </a:r>
          </a:p>
          <a:p>
            <a:endParaRPr lang="en-US" dirty="0"/>
          </a:p>
          <a:p>
            <a:endParaRPr lang="en-US" dirty="0"/>
          </a:p>
          <a:p>
            <a:endParaRPr lang="en-US" dirty="0"/>
          </a:p>
          <a:p>
            <a:r>
              <a:rPr lang="en-US" dirty="0"/>
              <a:t>https://www.youtube.com/watch?v=Own2-RUFkRg</a:t>
            </a:r>
          </a:p>
        </p:txBody>
      </p:sp>
      <p:sp>
        <p:nvSpPr>
          <p:cNvPr id="4" name="Slide Number Placeholder 3"/>
          <p:cNvSpPr>
            <a:spLocks noGrp="1"/>
          </p:cNvSpPr>
          <p:nvPr>
            <p:ph type="sldNum" sz="quarter" idx="5"/>
          </p:nvPr>
        </p:nvSpPr>
        <p:spPr/>
        <p:txBody>
          <a:bodyPr/>
          <a:lstStyle/>
          <a:p>
            <a:fld id="{63F6AA22-1A35-44FB-8D63-AA2C5177128D}" type="slidenum">
              <a:rPr lang="en-US" smtClean="0"/>
              <a:t>16</a:t>
            </a:fld>
            <a:endParaRPr lang="en-US"/>
          </a:p>
        </p:txBody>
      </p:sp>
    </p:spTree>
    <p:extLst>
      <p:ext uri="{BB962C8B-B14F-4D97-AF65-F5344CB8AC3E}">
        <p14:creationId xmlns:p14="http://schemas.microsoft.com/office/powerpoint/2010/main" val="1726530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112E78-E522-5AEA-69CE-EF0F8D3753EB}"/>
              </a:ext>
            </a:extLst>
          </p:cNvPr>
          <p:cNvSpPr>
            <a:spLocks noGrp="1"/>
          </p:cNvSpPr>
          <p:nvPr>
            <p:ph type="dt" sz="half" idx="10"/>
          </p:nvPr>
        </p:nvSpPr>
        <p:spPr/>
        <p:txBody>
          <a:bodyPr/>
          <a:lstStyle/>
          <a:p>
            <a:fld id="{F93B8BE5-B329-45D4-9CD3-1AF36B788BA1}" type="datetimeFigureOut">
              <a:rPr lang="en-US" smtClean="0"/>
              <a:t>10/20/2026</a:t>
            </a:fld>
            <a:endParaRPr lang="en-US"/>
          </a:p>
        </p:txBody>
      </p:sp>
      <p:sp>
        <p:nvSpPr>
          <p:cNvPr id="3" name="Footer Placeholder 2">
            <a:extLst>
              <a:ext uri="{FF2B5EF4-FFF2-40B4-BE49-F238E27FC236}">
                <a16:creationId xmlns:a16="http://schemas.microsoft.com/office/drawing/2014/main" id="{8FD9016D-9AC4-8C11-8636-54917866A4E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584701D-8A4A-5E7D-A542-DB03058BE332}"/>
              </a:ext>
            </a:extLst>
          </p:cNvPr>
          <p:cNvSpPr>
            <a:spLocks noGrp="1"/>
          </p:cNvSpPr>
          <p:nvPr>
            <p:ph type="sldNum" sz="quarter" idx="12"/>
          </p:nvPr>
        </p:nvSpPr>
        <p:spPr/>
        <p:txBody>
          <a:bodyPr/>
          <a:lstStyle/>
          <a:p>
            <a:fld id="{802D03EB-083A-486C-86EC-C8EB868F2DA6}" type="slidenum">
              <a:rPr lang="en-US" smtClean="0"/>
              <a:t>‹#›</a:t>
            </a:fld>
            <a:endParaRPr lang="en-US"/>
          </a:p>
        </p:txBody>
      </p:sp>
    </p:spTree>
    <p:extLst>
      <p:ext uri="{BB962C8B-B14F-4D97-AF65-F5344CB8AC3E}">
        <p14:creationId xmlns:p14="http://schemas.microsoft.com/office/powerpoint/2010/main" val="17577877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99B8D0-2950-5DA3-1AEA-B602F528CF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720B91-D636-BF3E-1664-937FE005B9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542131-A6DC-419C-15D4-19906B735A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93B8BE5-B329-45D4-9CD3-1AF36B788BA1}" type="datetimeFigureOut">
              <a:rPr lang="en-US" smtClean="0"/>
              <a:t>10/20/2026</a:t>
            </a:fld>
            <a:endParaRPr lang="en-US"/>
          </a:p>
        </p:txBody>
      </p:sp>
      <p:sp>
        <p:nvSpPr>
          <p:cNvPr id="5" name="Footer Placeholder 4">
            <a:extLst>
              <a:ext uri="{FF2B5EF4-FFF2-40B4-BE49-F238E27FC236}">
                <a16:creationId xmlns:a16="http://schemas.microsoft.com/office/drawing/2014/main" id="{68559D30-50CE-DD00-7B61-7E34FA63E1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511E2DD-9CFC-3F43-82E8-B12A3B471A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2D03EB-083A-486C-86EC-C8EB868F2DA6}" type="slidenum">
              <a:rPr lang="en-US" smtClean="0"/>
              <a:t>‹#›</a:t>
            </a:fld>
            <a:endParaRPr lang="en-US"/>
          </a:p>
        </p:txBody>
      </p:sp>
    </p:spTree>
    <p:extLst>
      <p:ext uri="{BB962C8B-B14F-4D97-AF65-F5344CB8AC3E}">
        <p14:creationId xmlns:p14="http://schemas.microsoft.com/office/powerpoint/2010/main" val="141659596"/>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4FCB837-08EB-D4B0-3CE3-D900E175609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CD0C665-0DE5-EE3C-F857-5B7189B33CC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3075F71-5D44-B748-1881-5A639C83359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A592915-4E6B-8984-7477-E921274757E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5E54265-0BEB-65F7-4E6A-32C577F289F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6FF3DC-5092-F23E-203F-CD763DFFCD8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B72E1D1-3240-B3E0-42C7-CBD9D28075D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B7B016-C443-4280-DC71-91C8FF5A44B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01CA4B-C8ED-2823-C9EA-83825E2408F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1B8AFB-3236-CE84-F328-C4703FA7DD3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EB7210-8850-CD8D-5B5C-DDA7916B6C3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7B7BBF2-8D8D-B146-8CB0-D1F24CCE566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81FA52-843A-0209-E01C-89BB3AE13D5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53F29E-4E72-59C2-3951-7AA6C1AEF17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58645B4-F239-A0B6-1047-0978B87F4DC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76BDED-81AC-DA5F-E36B-448E14C55568}"/>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24870772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2685</Words>
  <Application>Microsoft Office PowerPoint</Application>
  <PresentationFormat>寬螢幕</PresentationFormat>
  <Paragraphs>127</Paragraphs>
  <Slides>16</Slides>
  <Notes>16</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16</vt:i4>
      </vt:variant>
    </vt:vector>
  </HeadingPairs>
  <TitlesOfParts>
    <vt:vector size="21" baseType="lpstr">
      <vt:lpstr>Aptos</vt:lpstr>
      <vt:lpstr>Aptos Display</vt:lpstr>
      <vt:lpstr>Arial</vt:lpstr>
      <vt:lpstr>Cambria Math</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2026-09-20T05:13:57Z</dcterms:created>
  <dcterms:modified xsi:type="dcterms:W3CDTF">2026-10-20T13:30:48Z</dcterms:modified>
</cp:coreProperties>
</file>