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A8873B6-0683-43C7-A140-162A65A1C8A4}" v="19" dt="2026-09-11T14:24:06.81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4" autoAdjust="0"/>
    <p:restoredTop sz="67949" autoAdjust="0"/>
  </p:normalViewPr>
  <p:slideViewPr>
    <p:cSldViewPr snapToGrid="0">
      <p:cViewPr varScale="1">
        <p:scale>
          <a:sx n="73" d="100"/>
          <a:sy n="73" d="100"/>
        </p:scale>
        <p:origin x="84" y="5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modMainMaster">
      <pc:chgData name="Lai, Wilson" userId="2840974a-0d84-4886-90a9-9a3ed79f3a48" providerId="ADAL" clId="{9F23B798-9E84-4552-BA63-E776E805C424}" dt="2026-09-11T14:24:20.652" v="64" actId="166"/>
      <pc:docMkLst>
        <pc:docMk/>
      </pc:docMkLst>
      <pc:sldChg chg="addSp delSp modSp mod modAnim modNotesTx">
        <pc:chgData name="Lai, Wilson" userId="2840974a-0d84-4886-90a9-9a3ed79f3a48" providerId="ADAL" clId="{9F23B798-9E84-4552-BA63-E776E805C424}" dt="2026-09-11T14:24:20.652" v="64" actId="166"/>
        <pc:sldMkLst>
          <pc:docMk/>
          <pc:sldMk cId="0" sldId="257"/>
        </pc:sldMkLst>
        <pc:spChg chg="add mod">
          <ac:chgData name="Lai, Wilson" userId="2840974a-0d84-4886-90a9-9a3ed79f3a48" providerId="ADAL" clId="{9F23B798-9E84-4552-BA63-E776E805C424}" dt="2026-09-09T02:40:49.655" v="16" actId="164"/>
          <ac:spMkLst>
            <pc:docMk/>
            <pc:sldMk cId="0" sldId="257"/>
            <ac:spMk id="5" creationId="{6647FE2C-60BB-63DB-ADB4-0E1BDD1E8123}"/>
          </ac:spMkLst>
        </pc:spChg>
        <pc:grpChg chg="add mod">
          <ac:chgData name="Lai, Wilson" userId="2840974a-0d84-4886-90a9-9a3ed79f3a48" providerId="ADAL" clId="{9F23B798-9E84-4552-BA63-E776E805C424}" dt="2026-09-09T02:40:53.329" v="17" actId="1076"/>
          <ac:grpSpMkLst>
            <pc:docMk/>
            <pc:sldMk cId="0" sldId="257"/>
            <ac:grpSpMk id="6" creationId="{FE83EF9F-227B-EA01-5AFA-5201D46F61C0}"/>
          </ac:grpSpMkLst>
        </pc:grpChg>
        <pc:picChg chg="del mod">
          <ac:chgData name="Lai, Wilson" userId="2840974a-0d84-4886-90a9-9a3ed79f3a48" providerId="ADAL" clId="{9F23B798-9E84-4552-BA63-E776E805C424}" dt="2026-09-11T05:46:16.473" v="18" actId="21"/>
          <ac:picMkLst>
            <pc:docMk/>
            <pc:sldMk cId="0" sldId="257"/>
            <ac:picMk id="2" creationId="{00000000-0000-0000-0000-000000000000}"/>
          </ac:picMkLst>
        </pc:picChg>
        <pc:picChg chg="add mod">
          <ac:chgData name="Lai, Wilson" userId="2840974a-0d84-4886-90a9-9a3ed79f3a48" providerId="ADAL" clId="{9F23B798-9E84-4552-BA63-E776E805C424}" dt="2026-09-09T02:40:49.655" v="16" actId="164"/>
          <ac:picMkLst>
            <pc:docMk/>
            <pc:sldMk cId="0" sldId="257"/>
            <ac:picMk id="3" creationId="{A8AC67A5-87E4-0FD2-87A8-65C156C85CEC}"/>
          </ac:picMkLst>
        </pc:picChg>
        <pc:picChg chg="add ord">
          <ac:chgData name="Lai, Wilson" userId="2840974a-0d84-4886-90a9-9a3ed79f3a48" providerId="ADAL" clId="{9F23B798-9E84-4552-BA63-E776E805C424}" dt="2026-09-11T14:24:20.652" v="64" actId="166"/>
          <ac:picMkLst>
            <pc:docMk/>
            <pc:sldMk cId="0" sldId="257"/>
            <ac:picMk id="7" creationId="{165E0420-CDC0-E490-6B7A-AF84E1B1FC81}"/>
          </ac:picMkLst>
        </pc:picChg>
      </pc:sldChg>
      <pc:sldChg chg="addSp delSp mod modNotes">
        <pc:chgData name="Lai, Wilson" userId="2840974a-0d84-4886-90a9-9a3ed79f3a48" providerId="ADAL" clId="{9F23B798-9E84-4552-BA63-E776E805C424}" dt="2026-09-11T14:24:06.814" v="62"/>
        <pc:sldMkLst>
          <pc:docMk/>
          <pc:sldMk cId="0" sldId="258"/>
        </pc:sldMkLst>
        <pc:picChg chg="del">
          <ac:chgData name="Lai, Wilson" userId="2840974a-0d84-4886-90a9-9a3ed79f3a48" providerId="ADAL" clId="{9F23B798-9E84-4552-BA63-E776E805C424}" dt="2026-09-11T05:46:35.699" v="20" actId="21"/>
          <ac:picMkLst>
            <pc:docMk/>
            <pc:sldMk cId="0" sldId="258"/>
            <ac:picMk id="2" creationId="{00000000-0000-0000-0000-000000000000}"/>
          </ac:picMkLst>
        </pc:picChg>
        <pc:picChg chg="add">
          <ac:chgData name="Lai, Wilson" userId="2840974a-0d84-4886-90a9-9a3ed79f3a48" providerId="ADAL" clId="{9F23B798-9E84-4552-BA63-E776E805C424}" dt="2026-09-11T05:47:25.758" v="21" actId="22"/>
          <ac:picMkLst>
            <pc:docMk/>
            <pc:sldMk cId="0" sldId="258"/>
            <ac:picMk id="4" creationId="{A6D5786A-14DA-9A03-F28D-817D8F10CB56}"/>
          </ac:picMkLst>
        </pc:picChg>
      </pc:sldChg>
      <pc:sldChg chg="addSp delSp mod modNotes">
        <pc:chgData name="Lai, Wilson" userId="2840974a-0d84-4886-90a9-9a3ed79f3a48" providerId="ADAL" clId="{9F23B798-9E84-4552-BA63-E776E805C424}" dt="2026-09-11T14:24:06.814" v="62"/>
        <pc:sldMkLst>
          <pc:docMk/>
          <pc:sldMk cId="0" sldId="259"/>
        </pc:sldMkLst>
        <pc:picChg chg="del">
          <ac:chgData name="Lai, Wilson" userId="2840974a-0d84-4886-90a9-9a3ed79f3a48" providerId="ADAL" clId="{9F23B798-9E84-4552-BA63-E776E805C424}" dt="2026-09-11T05:47:29.066" v="22" actId="21"/>
          <ac:picMkLst>
            <pc:docMk/>
            <pc:sldMk cId="0" sldId="259"/>
            <ac:picMk id="2" creationId="{00000000-0000-0000-0000-000000000000}"/>
          </ac:picMkLst>
        </pc:picChg>
        <pc:picChg chg="add">
          <ac:chgData name="Lai, Wilson" userId="2840974a-0d84-4886-90a9-9a3ed79f3a48" providerId="ADAL" clId="{9F23B798-9E84-4552-BA63-E776E805C424}" dt="2026-09-11T05:47:38.596" v="23" actId="22"/>
          <ac:picMkLst>
            <pc:docMk/>
            <pc:sldMk cId="0" sldId="259"/>
            <ac:picMk id="4" creationId="{588EC336-5244-8F3B-E2AA-786938EE43DB}"/>
          </ac:picMkLst>
        </pc:picChg>
      </pc:sldChg>
      <pc:sldChg chg="addSp delSp mod modNotes">
        <pc:chgData name="Lai, Wilson" userId="2840974a-0d84-4886-90a9-9a3ed79f3a48" providerId="ADAL" clId="{9F23B798-9E84-4552-BA63-E776E805C424}" dt="2026-09-11T14:24:06.814" v="62"/>
        <pc:sldMkLst>
          <pc:docMk/>
          <pc:sldMk cId="0" sldId="260"/>
        </pc:sldMkLst>
        <pc:picChg chg="del">
          <ac:chgData name="Lai, Wilson" userId="2840974a-0d84-4886-90a9-9a3ed79f3a48" providerId="ADAL" clId="{9F23B798-9E84-4552-BA63-E776E805C424}" dt="2026-09-11T05:47:40.159" v="24" actId="21"/>
          <ac:picMkLst>
            <pc:docMk/>
            <pc:sldMk cId="0" sldId="260"/>
            <ac:picMk id="2" creationId="{00000000-0000-0000-0000-000000000000}"/>
          </ac:picMkLst>
        </pc:picChg>
        <pc:picChg chg="add">
          <ac:chgData name="Lai, Wilson" userId="2840974a-0d84-4886-90a9-9a3ed79f3a48" providerId="ADAL" clId="{9F23B798-9E84-4552-BA63-E776E805C424}" dt="2026-09-11T05:48:09.329" v="25" actId="22"/>
          <ac:picMkLst>
            <pc:docMk/>
            <pc:sldMk cId="0" sldId="260"/>
            <ac:picMk id="4" creationId="{2CE61318-DB8A-904A-5AAE-85B1BE4F96D2}"/>
          </ac:picMkLst>
        </pc:picChg>
      </pc:sldChg>
      <pc:sldChg chg="addSp delSp mod modNotes modNotesTx">
        <pc:chgData name="Lai, Wilson" userId="2840974a-0d84-4886-90a9-9a3ed79f3a48" providerId="ADAL" clId="{9F23B798-9E84-4552-BA63-E776E805C424}" dt="2026-09-11T14:24:06.814" v="62"/>
        <pc:sldMkLst>
          <pc:docMk/>
          <pc:sldMk cId="0" sldId="261"/>
        </pc:sldMkLst>
        <pc:picChg chg="del">
          <ac:chgData name="Lai, Wilson" userId="2840974a-0d84-4886-90a9-9a3ed79f3a48" providerId="ADAL" clId="{9F23B798-9E84-4552-BA63-E776E805C424}" dt="2026-09-11T05:48:10.758" v="26" actId="21"/>
          <ac:picMkLst>
            <pc:docMk/>
            <pc:sldMk cId="0" sldId="261"/>
            <ac:picMk id="2" creationId="{00000000-0000-0000-0000-000000000000}"/>
          </ac:picMkLst>
        </pc:picChg>
        <pc:picChg chg="add">
          <ac:chgData name="Lai, Wilson" userId="2840974a-0d84-4886-90a9-9a3ed79f3a48" providerId="ADAL" clId="{9F23B798-9E84-4552-BA63-E776E805C424}" dt="2026-09-11T05:48:27.169" v="27" actId="22"/>
          <ac:picMkLst>
            <pc:docMk/>
            <pc:sldMk cId="0" sldId="261"/>
            <ac:picMk id="4" creationId="{4D8E5D6E-56B8-9448-DC6A-460FD1F1D9BF}"/>
          </ac:picMkLst>
        </pc:picChg>
      </pc:sldChg>
      <pc:sldChg chg="addSp delSp mod modNotes modNotesTx">
        <pc:chgData name="Lai, Wilson" userId="2840974a-0d84-4886-90a9-9a3ed79f3a48" providerId="ADAL" clId="{9F23B798-9E84-4552-BA63-E776E805C424}" dt="2026-09-11T14:24:06.814" v="62"/>
        <pc:sldMkLst>
          <pc:docMk/>
          <pc:sldMk cId="0" sldId="262"/>
        </pc:sldMkLst>
        <pc:picChg chg="del">
          <ac:chgData name="Lai, Wilson" userId="2840974a-0d84-4886-90a9-9a3ed79f3a48" providerId="ADAL" clId="{9F23B798-9E84-4552-BA63-E776E805C424}" dt="2026-09-11T05:48:32.633" v="28" actId="21"/>
          <ac:picMkLst>
            <pc:docMk/>
            <pc:sldMk cId="0" sldId="262"/>
            <ac:picMk id="2" creationId="{00000000-0000-0000-0000-000000000000}"/>
          </ac:picMkLst>
        </pc:picChg>
        <pc:picChg chg="add">
          <ac:chgData name="Lai, Wilson" userId="2840974a-0d84-4886-90a9-9a3ed79f3a48" providerId="ADAL" clId="{9F23B798-9E84-4552-BA63-E776E805C424}" dt="2026-09-11T05:48:42.602" v="29" actId="22"/>
          <ac:picMkLst>
            <pc:docMk/>
            <pc:sldMk cId="0" sldId="262"/>
            <ac:picMk id="4" creationId="{C9C41EB1-2D05-5911-3494-651BCEC34AB7}"/>
          </ac:picMkLst>
        </pc:picChg>
      </pc:sldChg>
      <pc:sldChg chg="addSp delSp mod modNotes modNotesTx">
        <pc:chgData name="Lai, Wilson" userId="2840974a-0d84-4886-90a9-9a3ed79f3a48" providerId="ADAL" clId="{9F23B798-9E84-4552-BA63-E776E805C424}" dt="2026-09-11T14:24:06.814" v="62"/>
        <pc:sldMkLst>
          <pc:docMk/>
          <pc:sldMk cId="0" sldId="263"/>
        </pc:sldMkLst>
        <pc:picChg chg="del">
          <ac:chgData name="Lai, Wilson" userId="2840974a-0d84-4886-90a9-9a3ed79f3a48" providerId="ADAL" clId="{9F23B798-9E84-4552-BA63-E776E805C424}" dt="2026-09-11T05:48:44.119" v="30" actId="21"/>
          <ac:picMkLst>
            <pc:docMk/>
            <pc:sldMk cId="0" sldId="263"/>
            <ac:picMk id="2" creationId="{00000000-0000-0000-0000-000000000000}"/>
          </ac:picMkLst>
        </pc:picChg>
        <pc:picChg chg="add">
          <ac:chgData name="Lai, Wilson" userId="2840974a-0d84-4886-90a9-9a3ed79f3a48" providerId="ADAL" clId="{9F23B798-9E84-4552-BA63-E776E805C424}" dt="2026-09-11T05:48:54.830" v="31" actId="22"/>
          <ac:picMkLst>
            <pc:docMk/>
            <pc:sldMk cId="0" sldId="263"/>
            <ac:picMk id="4" creationId="{FD2AEC13-74AA-D2BA-73E2-04E0357F161F}"/>
          </ac:picMkLst>
        </pc:picChg>
      </pc:sldChg>
      <pc:sldChg chg="addSp delSp mod modNotes">
        <pc:chgData name="Lai, Wilson" userId="2840974a-0d84-4886-90a9-9a3ed79f3a48" providerId="ADAL" clId="{9F23B798-9E84-4552-BA63-E776E805C424}" dt="2026-09-11T14:24:06.814" v="62"/>
        <pc:sldMkLst>
          <pc:docMk/>
          <pc:sldMk cId="0" sldId="264"/>
        </pc:sldMkLst>
        <pc:picChg chg="del">
          <ac:chgData name="Lai, Wilson" userId="2840974a-0d84-4886-90a9-9a3ed79f3a48" providerId="ADAL" clId="{9F23B798-9E84-4552-BA63-E776E805C424}" dt="2026-09-11T05:48:56.736" v="32" actId="21"/>
          <ac:picMkLst>
            <pc:docMk/>
            <pc:sldMk cId="0" sldId="264"/>
            <ac:picMk id="2" creationId="{00000000-0000-0000-0000-000000000000}"/>
          </ac:picMkLst>
        </pc:picChg>
        <pc:picChg chg="add">
          <ac:chgData name="Lai, Wilson" userId="2840974a-0d84-4886-90a9-9a3ed79f3a48" providerId="ADAL" clId="{9F23B798-9E84-4552-BA63-E776E805C424}" dt="2026-09-11T05:49:05.320" v="33" actId="22"/>
          <ac:picMkLst>
            <pc:docMk/>
            <pc:sldMk cId="0" sldId="264"/>
            <ac:picMk id="4" creationId="{6AC25B24-3FAA-5B8D-5D9D-93651BAF6220}"/>
          </ac:picMkLst>
        </pc:picChg>
      </pc:sldChg>
      <pc:sldChg chg="addSp delSp mod modNotes">
        <pc:chgData name="Lai, Wilson" userId="2840974a-0d84-4886-90a9-9a3ed79f3a48" providerId="ADAL" clId="{9F23B798-9E84-4552-BA63-E776E805C424}" dt="2026-09-11T14:24:06.814" v="62"/>
        <pc:sldMkLst>
          <pc:docMk/>
          <pc:sldMk cId="0" sldId="265"/>
        </pc:sldMkLst>
        <pc:picChg chg="del">
          <ac:chgData name="Lai, Wilson" userId="2840974a-0d84-4886-90a9-9a3ed79f3a48" providerId="ADAL" clId="{9F23B798-9E84-4552-BA63-E776E805C424}" dt="2026-09-11T05:49:07.042" v="34" actId="21"/>
          <ac:picMkLst>
            <pc:docMk/>
            <pc:sldMk cId="0" sldId="265"/>
            <ac:picMk id="2" creationId="{00000000-0000-0000-0000-000000000000}"/>
          </ac:picMkLst>
        </pc:picChg>
        <pc:picChg chg="add">
          <ac:chgData name="Lai, Wilson" userId="2840974a-0d84-4886-90a9-9a3ed79f3a48" providerId="ADAL" clId="{9F23B798-9E84-4552-BA63-E776E805C424}" dt="2026-09-11T05:49:18.654" v="35" actId="22"/>
          <ac:picMkLst>
            <pc:docMk/>
            <pc:sldMk cId="0" sldId="265"/>
            <ac:picMk id="4" creationId="{5C22DE73-B023-8D64-B9CA-7424849F7A04}"/>
          </ac:picMkLst>
        </pc:picChg>
      </pc:sldChg>
      <pc:sldChg chg="addSp delSp mod modNotes modNotesTx">
        <pc:chgData name="Lai, Wilson" userId="2840974a-0d84-4886-90a9-9a3ed79f3a48" providerId="ADAL" clId="{9F23B798-9E84-4552-BA63-E776E805C424}" dt="2026-09-11T14:24:06.814" v="62"/>
        <pc:sldMkLst>
          <pc:docMk/>
          <pc:sldMk cId="0" sldId="266"/>
        </pc:sldMkLst>
        <pc:picChg chg="del">
          <ac:chgData name="Lai, Wilson" userId="2840974a-0d84-4886-90a9-9a3ed79f3a48" providerId="ADAL" clId="{9F23B798-9E84-4552-BA63-E776E805C424}" dt="2026-09-11T05:49:21.320" v="36" actId="21"/>
          <ac:picMkLst>
            <pc:docMk/>
            <pc:sldMk cId="0" sldId="266"/>
            <ac:picMk id="2" creationId="{00000000-0000-0000-0000-000000000000}"/>
          </ac:picMkLst>
        </pc:picChg>
        <pc:picChg chg="add">
          <ac:chgData name="Lai, Wilson" userId="2840974a-0d84-4886-90a9-9a3ed79f3a48" providerId="ADAL" clId="{9F23B798-9E84-4552-BA63-E776E805C424}" dt="2026-09-11T05:49:28.790" v="37" actId="22"/>
          <ac:picMkLst>
            <pc:docMk/>
            <pc:sldMk cId="0" sldId="266"/>
            <ac:picMk id="4" creationId="{7A3FEC38-9A2D-B542-BAF9-B184E2FFA5A3}"/>
          </ac:picMkLst>
        </pc:picChg>
      </pc:sldChg>
      <pc:sldChg chg="addSp delSp mod modNotes">
        <pc:chgData name="Lai, Wilson" userId="2840974a-0d84-4886-90a9-9a3ed79f3a48" providerId="ADAL" clId="{9F23B798-9E84-4552-BA63-E776E805C424}" dt="2026-09-11T14:24:06.814" v="62"/>
        <pc:sldMkLst>
          <pc:docMk/>
          <pc:sldMk cId="0" sldId="267"/>
        </pc:sldMkLst>
        <pc:picChg chg="del">
          <ac:chgData name="Lai, Wilson" userId="2840974a-0d84-4886-90a9-9a3ed79f3a48" providerId="ADAL" clId="{9F23B798-9E84-4552-BA63-E776E805C424}" dt="2026-09-11T05:49:30.804" v="38" actId="21"/>
          <ac:picMkLst>
            <pc:docMk/>
            <pc:sldMk cId="0" sldId="267"/>
            <ac:picMk id="2" creationId="{00000000-0000-0000-0000-000000000000}"/>
          </ac:picMkLst>
        </pc:picChg>
        <pc:picChg chg="add">
          <ac:chgData name="Lai, Wilson" userId="2840974a-0d84-4886-90a9-9a3ed79f3a48" providerId="ADAL" clId="{9F23B798-9E84-4552-BA63-E776E805C424}" dt="2026-09-11T05:49:43.571" v="39" actId="22"/>
          <ac:picMkLst>
            <pc:docMk/>
            <pc:sldMk cId="0" sldId="267"/>
            <ac:picMk id="4" creationId="{5DD6A516-7D08-5FBB-1D6A-A43A6B9D063D}"/>
          </ac:picMkLst>
        </pc:picChg>
      </pc:sldChg>
      <pc:sldChg chg="addSp delSp mod modNotes">
        <pc:chgData name="Lai, Wilson" userId="2840974a-0d84-4886-90a9-9a3ed79f3a48" providerId="ADAL" clId="{9F23B798-9E84-4552-BA63-E776E805C424}" dt="2026-09-11T14:24:06.814" v="62"/>
        <pc:sldMkLst>
          <pc:docMk/>
          <pc:sldMk cId="0" sldId="268"/>
        </pc:sldMkLst>
        <pc:picChg chg="del">
          <ac:chgData name="Lai, Wilson" userId="2840974a-0d84-4886-90a9-9a3ed79f3a48" providerId="ADAL" clId="{9F23B798-9E84-4552-BA63-E776E805C424}" dt="2026-09-11T05:49:49.119" v="40" actId="21"/>
          <ac:picMkLst>
            <pc:docMk/>
            <pc:sldMk cId="0" sldId="268"/>
            <ac:picMk id="2" creationId="{00000000-0000-0000-0000-000000000000}"/>
          </ac:picMkLst>
        </pc:picChg>
        <pc:picChg chg="add">
          <ac:chgData name="Lai, Wilson" userId="2840974a-0d84-4886-90a9-9a3ed79f3a48" providerId="ADAL" clId="{9F23B798-9E84-4552-BA63-E776E805C424}" dt="2026-09-11T05:49:57.289" v="41" actId="22"/>
          <ac:picMkLst>
            <pc:docMk/>
            <pc:sldMk cId="0" sldId="268"/>
            <ac:picMk id="4" creationId="{1FFD63E0-644A-0177-C596-35AD4723E9A4}"/>
          </ac:picMkLst>
        </pc:picChg>
      </pc:sldChg>
      <pc:sldChg chg="addSp delSp mod modNotes">
        <pc:chgData name="Lai, Wilson" userId="2840974a-0d84-4886-90a9-9a3ed79f3a48" providerId="ADAL" clId="{9F23B798-9E84-4552-BA63-E776E805C424}" dt="2026-09-11T14:24:06.814" v="62"/>
        <pc:sldMkLst>
          <pc:docMk/>
          <pc:sldMk cId="0" sldId="269"/>
        </pc:sldMkLst>
        <pc:picChg chg="del">
          <ac:chgData name="Lai, Wilson" userId="2840974a-0d84-4886-90a9-9a3ed79f3a48" providerId="ADAL" clId="{9F23B798-9E84-4552-BA63-E776E805C424}" dt="2026-09-11T05:49:58.830" v="42" actId="21"/>
          <ac:picMkLst>
            <pc:docMk/>
            <pc:sldMk cId="0" sldId="269"/>
            <ac:picMk id="2" creationId="{00000000-0000-0000-0000-000000000000}"/>
          </ac:picMkLst>
        </pc:picChg>
        <pc:picChg chg="add">
          <ac:chgData name="Lai, Wilson" userId="2840974a-0d84-4886-90a9-9a3ed79f3a48" providerId="ADAL" clId="{9F23B798-9E84-4552-BA63-E776E805C424}" dt="2026-09-11T05:50:07.134" v="43" actId="22"/>
          <ac:picMkLst>
            <pc:docMk/>
            <pc:sldMk cId="0" sldId="269"/>
            <ac:picMk id="4" creationId="{6F967A13-2B1A-3E4F-DC3A-F86B143797BB}"/>
          </ac:picMkLst>
        </pc:picChg>
      </pc:sldChg>
      <pc:sldChg chg="addSp delSp mod modNotes modNotesTx">
        <pc:chgData name="Lai, Wilson" userId="2840974a-0d84-4886-90a9-9a3ed79f3a48" providerId="ADAL" clId="{9F23B798-9E84-4552-BA63-E776E805C424}" dt="2026-09-11T14:24:06.814" v="62"/>
        <pc:sldMkLst>
          <pc:docMk/>
          <pc:sldMk cId="0" sldId="270"/>
        </pc:sldMkLst>
        <pc:picChg chg="del">
          <ac:chgData name="Lai, Wilson" userId="2840974a-0d84-4886-90a9-9a3ed79f3a48" providerId="ADAL" clId="{9F23B798-9E84-4552-BA63-E776E805C424}" dt="2026-09-11T05:50:10.557" v="44" actId="21"/>
          <ac:picMkLst>
            <pc:docMk/>
            <pc:sldMk cId="0" sldId="270"/>
            <ac:picMk id="2" creationId="{00000000-0000-0000-0000-000000000000}"/>
          </ac:picMkLst>
        </pc:picChg>
        <pc:picChg chg="add">
          <ac:chgData name="Lai, Wilson" userId="2840974a-0d84-4886-90a9-9a3ed79f3a48" providerId="ADAL" clId="{9F23B798-9E84-4552-BA63-E776E805C424}" dt="2026-09-11T05:50:20.231" v="45" actId="22"/>
          <ac:picMkLst>
            <pc:docMk/>
            <pc:sldMk cId="0" sldId="270"/>
            <ac:picMk id="4" creationId="{741A7E9B-6D97-C401-4866-BF71F2AA31C5}"/>
          </ac:picMkLst>
        </pc:picChg>
      </pc:sldChg>
      <pc:sldChg chg="addSp delSp mod modNotes">
        <pc:chgData name="Lai, Wilson" userId="2840974a-0d84-4886-90a9-9a3ed79f3a48" providerId="ADAL" clId="{9F23B798-9E84-4552-BA63-E776E805C424}" dt="2026-09-11T14:24:06.814" v="62"/>
        <pc:sldMkLst>
          <pc:docMk/>
          <pc:sldMk cId="0" sldId="271"/>
        </pc:sldMkLst>
        <pc:picChg chg="del">
          <ac:chgData name="Lai, Wilson" userId="2840974a-0d84-4886-90a9-9a3ed79f3a48" providerId="ADAL" clId="{9F23B798-9E84-4552-BA63-E776E805C424}" dt="2026-09-11T05:50:22.088" v="46" actId="21"/>
          <ac:picMkLst>
            <pc:docMk/>
            <pc:sldMk cId="0" sldId="271"/>
            <ac:picMk id="2" creationId="{00000000-0000-0000-0000-000000000000}"/>
          </ac:picMkLst>
        </pc:picChg>
        <pc:picChg chg="add">
          <ac:chgData name="Lai, Wilson" userId="2840974a-0d84-4886-90a9-9a3ed79f3a48" providerId="ADAL" clId="{9F23B798-9E84-4552-BA63-E776E805C424}" dt="2026-09-11T05:50:35.210" v="47" actId="22"/>
          <ac:picMkLst>
            <pc:docMk/>
            <pc:sldMk cId="0" sldId="271"/>
            <ac:picMk id="4" creationId="{F3D96B7F-DBDA-5BF1-D2A5-892A104AEC01}"/>
          </ac:picMkLst>
        </pc:picChg>
      </pc:sldChg>
      <pc:sldChg chg="addSp delSp mod modNotes modNotesTx">
        <pc:chgData name="Lai, Wilson" userId="2840974a-0d84-4886-90a9-9a3ed79f3a48" providerId="ADAL" clId="{9F23B798-9E84-4552-BA63-E776E805C424}" dt="2026-09-11T14:24:06.814" v="62"/>
        <pc:sldMkLst>
          <pc:docMk/>
          <pc:sldMk cId="1400400841" sldId="272"/>
        </pc:sldMkLst>
        <pc:picChg chg="del">
          <ac:chgData name="Lai, Wilson" userId="2840974a-0d84-4886-90a9-9a3ed79f3a48" providerId="ADAL" clId="{9F23B798-9E84-4552-BA63-E776E805C424}" dt="2026-09-11T05:50:38.128" v="48" actId="21"/>
          <ac:picMkLst>
            <pc:docMk/>
            <pc:sldMk cId="1400400841" sldId="272"/>
            <ac:picMk id="3" creationId="{E4240ECC-2D70-5E79-10C0-72A5C00D564C}"/>
          </ac:picMkLst>
        </pc:picChg>
        <pc:picChg chg="add">
          <ac:chgData name="Lai, Wilson" userId="2840974a-0d84-4886-90a9-9a3ed79f3a48" providerId="ADAL" clId="{9F23B798-9E84-4552-BA63-E776E805C424}" dt="2026-09-11T05:51:02.136" v="49" actId="22"/>
          <ac:picMkLst>
            <pc:docMk/>
            <pc:sldMk cId="1400400841" sldId="272"/>
            <ac:picMk id="4" creationId="{134F9334-CF94-96CD-4CA2-7F20408D346B}"/>
          </ac:picMkLst>
        </pc:picChg>
      </pc:sldChg>
      <pc:sldMasterChg chg="setBg">
        <pc:chgData name="Lai, Wilson" userId="2840974a-0d84-4886-90a9-9a3ed79f3a48" providerId="ADAL" clId="{9F23B798-9E84-4552-BA63-E776E805C424}" dt="2026-09-09T02:39:03.629" v="0"/>
        <pc:sldMasterMkLst>
          <pc:docMk/>
          <pc:sldMasterMk cId="3426866930" sldId="2147483648"/>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6CD882-7938-428E-AA5F-354BE933A35B}" type="datetimeFigureOut">
              <a:rPr lang="en-US" smtClean="0"/>
              <a:t>10/20/2026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E52723-549F-4DAC-8F25-D33A1FDE19D1}" type="slidenum">
              <a:rPr lang="en-US" smtClean="0"/>
              <a:t>‹#›</a:t>
            </a:fld>
            <a:endParaRPr lang="en-US"/>
          </a:p>
        </p:txBody>
      </p:sp>
    </p:spTree>
    <p:extLst>
      <p:ext uri="{BB962C8B-B14F-4D97-AF65-F5344CB8AC3E}">
        <p14:creationId xmlns:p14="http://schemas.microsoft.com/office/powerpoint/2010/main" val="39037320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Welcome everyone. Today, we are discussing one of the most critical survival skills of our modern era: </a:t>
            </a:r>
            <a:r>
              <a:rPr lang="en-US" sz="1200" i="1" kern="1200" dirty="0">
                <a:solidFill>
                  <a:schemeClr val="tx1"/>
                </a:solidFill>
                <a:effectLst/>
                <a:latin typeface="+mn-lt"/>
                <a:ea typeface="+mn-ea"/>
                <a:cs typeface="+mn-cs"/>
              </a:rPr>
              <a:t>The Cognitive Edge</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We live in an age where Artificial Intelligence can write code, draft essays, generate art, and process millions of data points per second. Naturally, this brings up an unsettling question: As technology gets smarter, what happens to human intelligence? Are we upgrading our capabilities, or are we inadvertently letting our minds atrophy?</a:t>
            </a:r>
          </a:p>
          <a:p>
            <a:r>
              <a:rPr lang="en-US" sz="1200" kern="1200" dirty="0">
                <a:solidFill>
                  <a:schemeClr val="tx1"/>
                </a:solidFill>
                <a:effectLst/>
                <a:latin typeface="+mn-lt"/>
                <a:ea typeface="+mn-ea"/>
                <a:cs typeface="+mn-cs"/>
              </a:rPr>
              <a:t>Today’s framework is deeply inspired by world-renowned brain performance expert Jim Kwik, who has spent over three decades helping top executives, Olympic athletes, and performers optimize their mental software and hardware. Kwik often shares a deeply personal story: after suffering a severe head injury at five years old, he struggled for years in school. A teacher once pointed at him and labeled him 'the boy with a broken brain.' For a decade, that single label became his mental limit. He eventually realized that his primary limitation wasn't his physical injury, but the internal narrative he was running in his head. </a:t>
            </a:r>
          </a:p>
          <a:p>
            <a:r>
              <a:rPr lang="en-US" sz="1200" kern="1200" dirty="0">
                <a:solidFill>
                  <a:schemeClr val="tx1"/>
                </a:solidFill>
                <a:effectLst/>
                <a:latin typeface="+mn-lt"/>
                <a:ea typeface="+mn-ea"/>
                <a:cs typeface="+mn-cs"/>
              </a:rPr>
              <a:t>Over the course of this session, we will break down the exact mechanics of how your brain operates under pressure, how to prevent 'going blank' during high-stakes moments, how to partner with AI without surrendering your critical thinking, and how to build a rock-solid cognitive command center. Let’s dive in.</a:t>
            </a:r>
          </a:p>
          <a:p>
            <a:endParaRPr lang="en-US" dirty="0"/>
          </a:p>
          <a:p>
            <a:endParaRPr lang="en-US" dirty="0"/>
          </a:p>
          <a:p>
            <a:endParaRPr lang="en-US" dirty="0"/>
          </a:p>
          <a:p>
            <a:r>
              <a:rPr lang="en-US" dirty="0"/>
              <a:t>https://www.youtube.com/watch?v=n43LkALyK-g</a:t>
            </a:r>
          </a:p>
        </p:txBody>
      </p:sp>
      <p:sp>
        <p:nvSpPr>
          <p:cNvPr id="4" name="Slide Number Placeholder 3"/>
          <p:cNvSpPr>
            <a:spLocks noGrp="1"/>
          </p:cNvSpPr>
          <p:nvPr>
            <p:ph type="sldNum" sz="quarter" idx="5"/>
          </p:nvPr>
        </p:nvSpPr>
        <p:spPr/>
        <p:txBody>
          <a:bodyPr/>
          <a:lstStyle/>
          <a:p>
            <a:fld id="{C6E52723-549F-4DAC-8F25-D33A1FDE19D1}" type="slidenum">
              <a:rPr lang="en-US" smtClean="0"/>
              <a:t>1</a:t>
            </a:fld>
            <a:endParaRPr lang="en-US"/>
          </a:p>
        </p:txBody>
      </p:sp>
    </p:spTree>
    <p:extLst>
      <p:ext uri="{BB962C8B-B14F-4D97-AF65-F5344CB8AC3E}">
        <p14:creationId xmlns:p14="http://schemas.microsoft.com/office/powerpoint/2010/main" val="18396035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Have you ever walked into a high-stakes presentation, a crucial negotiation, or an important meeting, and suddenly your mind went completely blank? You prepared for hours, yet you couldn't access a single line of what you intended to say.</a:t>
            </a:r>
          </a:p>
          <a:p>
            <a:r>
              <a:rPr lang="en-US" sz="1200" kern="1200" dirty="0">
                <a:solidFill>
                  <a:schemeClr val="tx1"/>
                </a:solidFill>
                <a:effectLst/>
                <a:latin typeface="+mn-lt"/>
                <a:ea typeface="+mn-ea"/>
                <a:cs typeface="+mn-cs"/>
              </a:rPr>
              <a:t>That isn't a memory failure; it is a physiological hijacking. Look at the two brain states on this slide: </a:t>
            </a:r>
          </a:p>
          <a:p>
            <a:r>
              <a:rPr lang="en-US" sz="1200" kern="1200" dirty="0">
                <a:solidFill>
                  <a:schemeClr val="tx1"/>
                </a:solidFill>
                <a:effectLst/>
                <a:latin typeface="+mn-lt"/>
                <a:ea typeface="+mn-ea"/>
                <a:cs typeface="+mn-cs"/>
              </a:rPr>
              <a:t>On the left, we have the </a:t>
            </a:r>
            <a:r>
              <a:rPr lang="en-US" sz="1200" b="1" kern="1200" dirty="0">
                <a:solidFill>
                  <a:schemeClr val="tx1"/>
                </a:solidFill>
                <a:effectLst/>
                <a:latin typeface="+mn-lt"/>
                <a:ea typeface="+mn-ea"/>
                <a:cs typeface="+mn-cs"/>
              </a:rPr>
              <a:t>Amygdala</a:t>
            </a:r>
            <a:r>
              <a:rPr lang="en-US" sz="1200" kern="1200" dirty="0">
                <a:solidFill>
                  <a:schemeClr val="tx1"/>
                </a:solidFill>
                <a:effectLst/>
                <a:latin typeface="+mn-lt"/>
                <a:ea typeface="+mn-ea"/>
                <a:cs typeface="+mn-cs"/>
              </a:rPr>
              <a:t>, the primitive center responsible for fight-or-flight responses. When you experience perceived threat—whether it's an intimidating audience or high pressure—your body floods with stress hormones like cortisol and adrenaline. When you are in fight-or-flight mode, your brain prioritizes immediate physical survival. It locks out higher-level executive functions because running away from a predator doesn't require complex creative problem-solving. </a:t>
            </a:r>
          </a:p>
          <a:p>
            <a:r>
              <a:rPr lang="en-US" sz="1200" kern="1200" dirty="0">
                <a:solidFill>
                  <a:schemeClr val="tx1"/>
                </a:solidFill>
                <a:effectLst/>
                <a:latin typeface="+mn-lt"/>
                <a:ea typeface="+mn-ea"/>
                <a:cs typeface="+mn-cs"/>
              </a:rPr>
              <a:t>On the right is your </a:t>
            </a:r>
            <a:r>
              <a:rPr lang="en-US" sz="1200" b="1" kern="1200" dirty="0">
                <a:solidFill>
                  <a:schemeClr val="tx1"/>
                </a:solidFill>
                <a:effectLst/>
                <a:latin typeface="+mn-lt"/>
                <a:ea typeface="+mn-ea"/>
                <a:cs typeface="+mn-cs"/>
              </a:rPr>
              <a:t>Prefrontal Cortex</a:t>
            </a:r>
            <a:r>
              <a:rPr lang="en-US" sz="1200" kern="1200" dirty="0">
                <a:solidFill>
                  <a:schemeClr val="tx1"/>
                </a:solidFill>
                <a:effectLst/>
                <a:latin typeface="+mn-lt"/>
                <a:ea typeface="+mn-ea"/>
                <a:cs typeface="+mn-cs"/>
              </a:rPr>
              <a:t>. This is where executive functioning, flow state, creative problem-solving, and quick verbal recall reside. When you are calm and centered, you have full access to this region. </a:t>
            </a:r>
          </a:p>
          <a:p>
            <a:r>
              <a:rPr lang="en-US" sz="1200" kern="1200" dirty="0">
                <a:solidFill>
                  <a:schemeClr val="tx1"/>
                </a:solidFill>
                <a:effectLst/>
                <a:latin typeface="+mn-lt"/>
                <a:ea typeface="+mn-ea"/>
                <a:cs typeface="+mn-cs"/>
              </a:rPr>
              <a:t>As Jim Kwik emphasizes: </a:t>
            </a:r>
            <a:r>
              <a:rPr lang="en-US" sz="1200" i="1" kern="1200" dirty="0">
                <a:solidFill>
                  <a:schemeClr val="tx1"/>
                </a:solidFill>
                <a:effectLst/>
                <a:latin typeface="+mn-lt"/>
                <a:ea typeface="+mn-ea"/>
                <a:cs typeface="+mn-cs"/>
              </a:rPr>
              <a:t>'All learning and performance is state-dependent.'</a:t>
            </a:r>
            <a:r>
              <a:rPr lang="en-US" sz="1200" kern="1200" dirty="0">
                <a:solidFill>
                  <a:schemeClr val="tx1"/>
                </a:solidFill>
                <a:effectLst/>
                <a:latin typeface="+mn-lt"/>
                <a:ea typeface="+mn-ea"/>
                <a:cs typeface="+mn-cs"/>
              </a:rPr>
              <a:t> If you are in an anxious state, your cognitive retrieval plummets. Remember: </a:t>
            </a:r>
            <a:r>
              <a:rPr lang="en-US" sz="1200" i="1" kern="1200" dirty="0">
                <a:solidFill>
                  <a:schemeClr val="tx1"/>
                </a:solidFill>
                <a:effectLst/>
                <a:latin typeface="+mn-lt"/>
                <a:ea typeface="+mn-ea"/>
                <a:cs typeface="+mn-cs"/>
              </a:rPr>
              <a:t>We do not rise to the level of our expectations; we fall to the level of our training.</a:t>
            </a:r>
            <a:r>
              <a:rPr lang="en-US" sz="1200" kern="1200" dirty="0">
                <a:solidFill>
                  <a:schemeClr val="tx1"/>
                </a:solidFill>
                <a:effectLst/>
                <a:latin typeface="+mn-lt"/>
                <a:ea typeface="+mn-ea"/>
                <a:cs typeface="+mn-cs"/>
              </a:rPr>
              <a:t> If you haven't trained your state management under pressure, your brain will default to amygdala hijacking every single time. </a:t>
            </a:r>
          </a:p>
          <a:p>
            <a:endParaRPr lang="en-US" dirty="0"/>
          </a:p>
        </p:txBody>
      </p:sp>
      <p:sp>
        <p:nvSpPr>
          <p:cNvPr id="4" name="Slide Number Placeholder 3"/>
          <p:cNvSpPr>
            <a:spLocks noGrp="1"/>
          </p:cNvSpPr>
          <p:nvPr>
            <p:ph type="sldNum" sz="quarter" idx="5"/>
          </p:nvPr>
        </p:nvSpPr>
        <p:spPr/>
        <p:txBody>
          <a:bodyPr/>
          <a:lstStyle/>
          <a:p>
            <a:fld id="{C6E52723-549F-4DAC-8F25-D33A1FDE19D1}" type="slidenum">
              <a:rPr lang="en-US" smtClean="0"/>
              <a:t>2</a:t>
            </a:fld>
            <a:endParaRPr lang="en-US"/>
          </a:p>
        </p:txBody>
      </p:sp>
    </p:spTree>
    <p:extLst>
      <p:ext uri="{BB962C8B-B14F-4D97-AF65-F5344CB8AC3E}">
        <p14:creationId xmlns:p14="http://schemas.microsoft.com/office/powerpoint/2010/main" val="37946914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If you want peak software performance from your mind, you first have to optimize the underlying hardware. You cannot run modern high-level cognitive software on outdated, depleted hardware. Jim Kwik prescribes a foundational daily protocol called </a:t>
            </a:r>
            <a:r>
              <a:rPr lang="en-US" sz="1200" b="1" kern="1200" dirty="0">
                <a:solidFill>
                  <a:schemeClr val="tx1"/>
                </a:solidFill>
                <a:effectLst/>
                <a:latin typeface="+mn-lt"/>
                <a:ea typeface="+mn-ea"/>
                <a:cs typeface="+mn-cs"/>
              </a:rPr>
              <a:t>M.E.D.S.</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M – Meditate:</a:t>
            </a:r>
            <a:r>
              <a:rPr lang="en-US" sz="1200" kern="1200" dirty="0">
                <a:solidFill>
                  <a:schemeClr val="tx1"/>
                </a:solidFill>
                <a:effectLst/>
                <a:latin typeface="+mn-lt"/>
                <a:ea typeface="+mn-ea"/>
                <a:cs typeface="+mn-cs"/>
              </a:rPr>
              <a:t> Meditation isn't just about spiritual enlightenment; it is attention training. When you meditate, your mind strays, and you practice pulling it back to your breath. That mechanism builds the mental muscle required to pull your focus back when you get distracted during a Zoom call or a high-pressure debate. </a:t>
            </a:r>
          </a:p>
          <a:p>
            <a:r>
              <a:rPr lang="en-US" sz="1200" b="1" kern="1200" dirty="0">
                <a:solidFill>
                  <a:schemeClr val="tx1"/>
                </a:solidFill>
                <a:effectLst/>
                <a:latin typeface="+mn-lt"/>
                <a:ea typeface="+mn-ea"/>
                <a:cs typeface="+mn-cs"/>
              </a:rPr>
              <a:t>E – Exercise:</a:t>
            </a:r>
            <a:r>
              <a:rPr lang="en-US" sz="1200" kern="1200" dirty="0">
                <a:solidFill>
                  <a:schemeClr val="tx1"/>
                </a:solidFill>
                <a:effectLst/>
                <a:latin typeface="+mn-lt"/>
                <a:ea typeface="+mn-ea"/>
                <a:cs typeface="+mn-cs"/>
              </a:rPr>
              <a:t> Physical movement triggers the release of BDNF—Brain-Derived Neurotrophic Factor. Think of BDNF as high-grade fertilizer for your brain cells, facilitating neuroplasticity and the creation of new neural pathways. Furthermore, simple hydration during exercise or daily routines plays a massive role: being properly hydrated can boost your reaction time and thinking speed by up to 30%! </a:t>
            </a:r>
          </a:p>
          <a:p>
            <a:r>
              <a:rPr lang="en-US" sz="1200" b="1" kern="1200" dirty="0">
                <a:solidFill>
                  <a:schemeClr val="tx1"/>
                </a:solidFill>
                <a:effectLst/>
                <a:latin typeface="+mn-lt"/>
                <a:ea typeface="+mn-ea"/>
                <a:cs typeface="+mn-cs"/>
              </a:rPr>
              <a:t>D – Diet:</a:t>
            </a:r>
            <a:r>
              <a:rPr lang="en-US" sz="1200" kern="1200" dirty="0">
                <a:solidFill>
                  <a:schemeClr val="tx1"/>
                </a:solidFill>
                <a:effectLst/>
                <a:latin typeface="+mn-lt"/>
                <a:ea typeface="+mn-ea"/>
                <a:cs typeface="+mn-cs"/>
              </a:rPr>
              <a:t> 'Neuro-nutrition' is real. What you eat directly impacts your gray matter. Incorporate top brain foods: avocados, blueberries (or '</a:t>
            </a:r>
            <a:r>
              <a:rPr lang="en-US" sz="1200" kern="1200" dirty="0" err="1">
                <a:solidFill>
                  <a:schemeClr val="tx1"/>
                </a:solidFill>
                <a:effectLst/>
                <a:latin typeface="+mn-lt"/>
                <a:ea typeface="+mn-ea"/>
                <a:cs typeface="+mn-cs"/>
              </a:rPr>
              <a:t>brainberries</a:t>
            </a:r>
            <a:r>
              <a:rPr lang="en-US" sz="1200" kern="1200" dirty="0">
                <a:solidFill>
                  <a:schemeClr val="tx1"/>
                </a:solidFill>
                <a:effectLst/>
                <a:latin typeface="+mn-lt"/>
                <a:ea typeface="+mn-ea"/>
                <a:cs typeface="+mn-cs"/>
              </a:rPr>
              <a:t>'), walnuts, eggs (rich in choline), dark chocolate, and healthy fats like olive oil. </a:t>
            </a:r>
          </a:p>
          <a:p>
            <a:r>
              <a:rPr lang="en-US" sz="1200" b="1" kern="1200" dirty="0">
                <a:solidFill>
                  <a:schemeClr val="tx1"/>
                </a:solidFill>
                <a:effectLst/>
                <a:latin typeface="+mn-lt"/>
                <a:ea typeface="+mn-ea"/>
                <a:cs typeface="+mn-cs"/>
              </a:rPr>
              <a:t>S – Sleep:</a:t>
            </a:r>
            <a:r>
              <a:rPr lang="en-US" sz="1200" kern="1200" dirty="0">
                <a:solidFill>
                  <a:schemeClr val="tx1"/>
                </a:solidFill>
                <a:effectLst/>
                <a:latin typeface="+mn-lt"/>
                <a:ea typeface="+mn-ea"/>
                <a:cs typeface="+mn-cs"/>
              </a:rPr>
              <a:t> Sleep acts as the brain's nightly garbage collection system, clearing out waste products and consolidating short-term memories into long-term storage. Poor sleep severely limits memory encoding. Always take your M.E.D.S. before demanding peak mental output. </a:t>
            </a:r>
          </a:p>
          <a:p>
            <a:endParaRPr lang="en-US" dirty="0"/>
          </a:p>
        </p:txBody>
      </p:sp>
      <p:sp>
        <p:nvSpPr>
          <p:cNvPr id="4" name="Slide Number Placeholder 3"/>
          <p:cNvSpPr>
            <a:spLocks noGrp="1"/>
          </p:cNvSpPr>
          <p:nvPr>
            <p:ph type="sldNum" sz="quarter" idx="5"/>
          </p:nvPr>
        </p:nvSpPr>
        <p:spPr/>
        <p:txBody>
          <a:bodyPr/>
          <a:lstStyle/>
          <a:p>
            <a:fld id="{C6E52723-549F-4DAC-8F25-D33A1FDE19D1}" type="slidenum">
              <a:rPr lang="en-US" smtClean="0"/>
              <a:t>3</a:t>
            </a:fld>
            <a:endParaRPr lang="en-US"/>
          </a:p>
        </p:txBody>
      </p:sp>
    </p:spTree>
    <p:extLst>
      <p:ext uri="{BB962C8B-B14F-4D97-AF65-F5344CB8AC3E}">
        <p14:creationId xmlns:p14="http://schemas.microsoft.com/office/powerpoint/2010/main" val="27549802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For decades, old science claimed that the adult brain was static—that after a certain age, you were stuck with the brain you had. We now know that neuroplasticity proves the exact opposite: your brain is constantly reshaping itself based on how you use it.</a:t>
            </a:r>
          </a:p>
          <a:p>
            <a:r>
              <a:rPr lang="en-US" sz="1200" kern="1200" dirty="0">
                <a:solidFill>
                  <a:schemeClr val="tx1"/>
                </a:solidFill>
                <a:effectLst/>
                <a:latin typeface="+mn-lt"/>
                <a:ea typeface="+mn-ea"/>
                <a:cs typeface="+mn-cs"/>
              </a:rPr>
              <a:t>The foundational rule here is </a:t>
            </a:r>
            <a:r>
              <a:rPr lang="en-US" sz="1200" b="1" kern="1200" dirty="0">
                <a:solidFill>
                  <a:schemeClr val="tx1"/>
                </a:solidFill>
                <a:effectLst/>
                <a:latin typeface="+mn-lt"/>
                <a:ea typeface="+mn-ea"/>
                <a:cs typeface="+mn-cs"/>
              </a:rPr>
              <a:t>Hebb’s Law</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'Neurons that fire together, wire together.'</a:t>
            </a:r>
            <a:r>
              <a:rPr lang="en-US" sz="1200" kern="1200" dirty="0">
                <a:solidFill>
                  <a:schemeClr val="tx1"/>
                </a:solidFill>
                <a:effectLst/>
                <a:latin typeface="+mn-lt"/>
                <a:ea typeface="+mn-ea"/>
                <a:cs typeface="+mn-cs"/>
              </a:rPr>
              <a:t> Look at the three-step progression on this slide: </a:t>
            </a:r>
          </a:p>
          <a:p>
            <a:r>
              <a:rPr lang="en-US" sz="1200" b="1" kern="1200" dirty="0">
                <a:solidFill>
                  <a:schemeClr val="tx1"/>
                </a:solidFill>
                <a:effectLst/>
                <a:latin typeface="+mn-lt"/>
                <a:ea typeface="+mn-ea"/>
                <a:cs typeface="+mn-cs"/>
              </a:rPr>
              <a:t>Step 1 is Novelty (The Dirt Trail):</a:t>
            </a:r>
            <a:r>
              <a:rPr lang="en-US" sz="1200" kern="1200" dirty="0">
                <a:solidFill>
                  <a:schemeClr val="tx1"/>
                </a:solidFill>
                <a:effectLst/>
                <a:latin typeface="+mn-lt"/>
                <a:ea typeface="+mn-ea"/>
                <a:cs typeface="+mn-cs"/>
              </a:rPr>
              <a:t> When you attempt a skill or thought pattern for the first time—like brushing your teeth with your non-dominant hand or learning a new communication technique—it feels awkward and slow. You are hacking through dense forest to create a faint dirt trail. </a:t>
            </a:r>
          </a:p>
          <a:p>
            <a:r>
              <a:rPr lang="en-US" sz="1200" b="1" kern="1200" dirty="0">
                <a:solidFill>
                  <a:schemeClr val="tx1"/>
                </a:solidFill>
                <a:effectLst/>
                <a:latin typeface="+mn-lt"/>
                <a:ea typeface="+mn-ea"/>
                <a:cs typeface="+mn-cs"/>
              </a:rPr>
              <a:t>Step 2 is Repetition (The Paved Road):</a:t>
            </a:r>
            <a:r>
              <a:rPr lang="en-US" sz="1200" kern="1200" dirty="0">
                <a:solidFill>
                  <a:schemeClr val="tx1"/>
                </a:solidFill>
                <a:effectLst/>
                <a:latin typeface="+mn-lt"/>
                <a:ea typeface="+mn-ea"/>
                <a:cs typeface="+mn-cs"/>
              </a:rPr>
              <a:t> As you practice repeatedly, myelin wraps around those neural pathways, insulating them and accelerating signal speed. The dirt trail becomes a smooth, paved road. </a:t>
            </a:r>
          </a:p>
          <a:p>
            <a:r>
              <a:rPr lang="en-US" sz="1200" b="1" kern="1200" dirty="0">
                <a:solidFill>
                  <a:schemeClr val="tx1"/>
                </a:solidFill>
                <a:effectLst/>
                <a:latin typeface="+mn-lt"/>
                <a:ea typeface="+mn-ea"/>
                <a:cs typeface="+mn-cs"/>
              </a:rPr>
              <a:t>Step 3 is Habit / Unconscious Competence (The Highway):</a:t>
            </a:r>
            <a:r>
              <a:rPr lang="en-US" sz="1200" kern="1200" dirty="0">
                <a:solidFill>
                  <a:schemeClr val="tx1"/>
                </a:solidFill>
                <a:effectLst/>
                <a:latin typeface="+mn-lt"/>
                <a:ea typeface="+mn-ea"/>
                <a:cs typeface="+mn-cs"/>
              </a:rPr>
              <a:t> With sustained practice, that pathway becomes an automatic superhighway. You no longer have to consciously think about executing the behavior; it flows naturally. Whether building positive habits or unlearning negative ones, neuroplasticity is your superpower. </a:t>
            </a:r>
          </a:p>
          <a:p>
            <a:endParaRPr lang="en-US" dirty="0"/>
          </a:p>
        </p:txBody>
      </p:sp>
      <p:sp>
        <p:nvSpPr>
          <p:cNvPr id="4" name="Slide Number Placeholder 3"/>
          <p:cNvSpPr>
            <a:spLocks noGrp="1"/>
          </p:cNvSpPr>
          <p:nvPr>
            <p:ph type="sldNum" sz="quarter" idx="5"/>
          </p:nvPr>
        </p:nvSpPr>
        <p:spPr/>
        <p:txBody>
          <a:bodyPr/>
          <a:lstStyle/>
          <a:p>
            <a:fld id="{C6E52723-549F-4DAC-8F25-D33A1FDE19D1}" type="slidenum">
              <a:rPr lang="en-US" smtClean="0"/>
              <a:t>4</a:t>
            </a:fld>
            <a:endParaRPr lang="en-US"/>
          </a:p>
        </p:txBody>
      </p:sp>
    </p:spTree>
    <p:extLst>
      <p:ext uri="{BB962C8B-B14F-4D97-AF65-F5344CB8AC3E}">
        <p14:creationId xmlns:p14="http://schemas.microsoft.com/office/powerpoint/2010/main" val="2072628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How powerful is your mind’s ability to reshape reality? Consider a classic University of Chicago study on basketball free-throw performance. </a:t>
            </a:r>
          </a:p>
          <a:p>
            <a:r>
              <a:rPr lang="en-US" sz="1200" kern="1200" dirty="0">
                <a:solidFill>
                  <a:schemeClr val="tx1"/>
                </a:solidFill>
                <a:effectLst/>
                <a:latin typeface="+mn-lt"/>
                <a:ea typeface="+mn-ea"/>
                <a:cs typeface="+mn-cs"/>
              </a:rPr>
              <a:t>Researchers split participants into three groups: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Group A</a:t>
            </a:r>
            <a:r>
              <a:rPr lang="en-US" sz="1200" kern="1200" dirty="0">
                <a:solidFill>
                  <a:schemeClr val="tx1"/>
                </a:solidFill>
                <a:effectLst/>
                <a:latin typeface="+mn-lt"/>
                <a:ea typeface="+mn-ea"/>
                <a:cs typeface="+mn-cs"/>
              </a:rPr>
              <a:t> engaged in physical practice every day for 30 days. They improved their shot accuracy by </a:t>
            </a:r>
            <a:r>
              <a:rPr lang="en-US" sz="1200" b="1" kern="1200" dirty="0">
                <a:solidFill>
                  <a:schemeClr val="tx1"/>
                </a:solidFill>
                <a:effectLst/>
                <a:latin typeface="+mn-lt"/>
                <a:ea typeface="+mn-ea"/>
                <a:cs typeface="+mn-cs"/>
              </a:rPr>
              <a:t>26%</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Group C</a:t>
            </a:r>
            <a:r>
              <a:rPr lang="en-US" sz="1200" kern="1200" dirty="0">
                <a:solidFill>
                  <a:schemeClr val="tx1"/>
                </a:solidFill>
                <a:effectLst/>
                <a:latin typeface="+mn-lt"/>
                <a:ea typeface="+mn-ea"/>
                <a:cs typeface="+mn-cs"/>
              </a:rPr>
              <a:t> did zero practice for 30 days. Unsurprisingly, their improvement was </a:t>
            </a:r>
            <a:r>
              <a:rPr lang="en-US" sz="1200" b="1" kern="1200" dirty="0">
                <a:solidFill>
                  <a:schemeClr val="tx1"/>
                </a:solidFill>
                <a:effectLst/>
                <a:latin typeface="+mn-lt"/>
                <a:ea typeface="+mn-ea"/>
                <a:cs typeface="+mn-cs"/>
              </a:rPr>
              <a:t>0%</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Group B</a:t>
            </a:r>
            <a:r>
              <a:rPr lang="en-US" sz="1200" kern="1200" dirty="0">
                <a:solidFill>
                  <a:schemeClr val="tx1"/>
                </a:solidFill>
                <a:effectLst/>
                <a:latin typeface="+mn-lt"/>
                <a:ea typeface="+mn-ea"/>
                <a:cs typeface="+mn-cs"/>
              </a:rPr>
              <a:t> did </a:t>
            </a:r>
            <a:r>
              <a:rPr lang="en-US" sz="1200" i="1" kern="1200" dirty="0">
                <a:solidFill>
                  <a:schemeClr val="tx1"/>
                </a:solidFill>
                <a:effectLst/>
                <a:latin typeface="+mn-lt"/>
                <a:ea typeface="+mn-ea"/>
                <a:cs typeface="+mn-cs"/>
              </a:rPr>
              <a:t>not</a:t>
            </a:r>
            <a:r>
              <a:rPr lang="en-US" sz="1200" kern="1200" dirty="0">
                <a:solidFill>
                  <a:schemeClr val="tx1"/>
                </a:solidFill>
                <a:effectLst/>
                <a:latin typeface="+mn-lt"/>
                <a:ea typeface="+mn-ea"/>
                <a:cs typeface="+mn-cs"/>
              </a:rPr>
              <a:t> touch a basketball for 30 days. Instead, they spent 30 minutes a day purely visualizing themselves making successful shots in their minds. Their improvement? </a:t>
            </a:r>
            <a:r>
              <a:rPr lang="en-US" sz="1200" b="1" kern="1200" dirty="0">
                <a:solidFill>
                  <a:schemeClr val="tx1"/>
                </a:solidFill>
                <a:effectLst/>
                <a:latin typeface="+mn-lt"/>
                <a:ea typeface="+mn-ea"/>
                <a:cs typeface="+mn-cs"/>
              </a:rPr>
              <a:t>24%</a:t>
            </a:r>
            <a:r>
              <a:rPr lang="en-US" sz="1200" kern="1200" dirty="0">
                <a:solidFill>
                  <a:schemeClr val="tx1"/>
                </a:solidFill>
                <a:effectLst/>
                <a:latin typeface="+mn-lt"/>
                <a:ea typeface="+mn-ea"/>
                <a:cs typeface="+mn-cs"/>
              </a:rPr>
              <a:t>—a mere 2% difference from physical practice! </a:t>
            </a:r>
          </a:p>
          <a:p>
            <a:r>
              <a:rPr lang="en-US" sz="1200" kern="1200" dirty="0">
                <a:solidFill>
                  <a:schemeClr val="tx1"/>
                </a:solidFill>
                <a:effectLst/>
                <a:latin typeface="+mn-lt"/>
                <a:ea typeface="+mn-ea"/>
                <a:cs typeface="+mn-cs"/>
              </a:rPr>
              <a:t>Why does this happen? Because the brain does not know the difference between a vividly imagined experience and a real one. Neural pathways fire during visualization almost identically to physical execution. </a:t>
            </a:r>
          </a:p>
          <a:p>
            <a:r>
              <a:rPr lang="en-US" sz="1200" b="1" kern="1200" dirty="0">
                <a:solidFill>
                  <a:schemeClr val="tx1"/>
                </a:solidFill>
                <a:effectLst/>
                <a:latin typeface="+mn-lt"/>
                <a:ea typeface="+mn-ea"/>
                <a:cs typeface="+mn-cs"/>
              </a:rPr>
              <a:t>The Critical Takeaway:</a:t>
            </a:r>
            <a:r>
              <a:rPr lang="en-US" sz="1200" kern="1200" dirty="0">
                <a:solidFill>
                  <a:schemeClr val="tx1"/>
                </a:solidFill>
                <a:effectLst/>
                <a:latin typeface="+mn-lt"/>
                <a:ea typeface="+mn-ea"/>
                <a:cs typeface="+mn-cs"/>
              </a:rPr>
              <a:t> Most people spend their days actively rehearsing failure! They visualize stuttering during a presentation, forgetting their client's name, or blowing a key conversation. When you do that, you are literally training your brain to fail. Stop rehearsing your fears; start visualizing the exact habits and actions that make success inevitable. </a:t>
            </a:r>
          </a:p>
          <a:p>
            <a:endParaRPr lang="en-US" dirty="0"/>
          </a:p>
        </p:txBody>
      </p:sp>
      <p:sp>
        <p:nvSpPr>
          <p:cNvPr id="4" name="Slide Number Placeholder 3"/>
          <p:cNvSpPr>
            <a:spLocks noGrp="1"/>
          </p:cNvSpPr>
          <p:nvPr>
            <p:ph type="sldNum" sz="quarter" idx="5"/>
          </p:nvPr>
        </p:nvSpPr>
        <p:spPr/>
        <p:txBody>
          <a:bodyPr/>
          <a:lstStyle/>
          <a:p>
            <a:fld id="{C6E52723-549F-4DAC-8F25-D33A1FDE19D1}" type="slidenum">
              <a:rPr lang="en-US" smtClean="0"/>
              <a:t>5</a:t>
            </a:fld>
            <a:endParaRPr lang="en-US"/>
          </a:p>
        </p:txBody>
      </p:sp>
    </p:spTree>
    <p:extLst>
      <p:ext uri="{BB962C8B-B14F-4D97-AF65-F5344CB8AC3E}">
        <p14:creationId xmlns:p14="http://schemas.microsoft.com/office/powerpoint/2010/main" val="19062599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move from reactive emotional outbursts to deliberate, thoughtful responses, we must insert a conscious gap between stimulus and response. As Viktor Frankl famously noted, in that space lies our power to choose.</a:t>
            </a:r>
          </a:p>
          <a:p>
            <a:r>
              <a:rPr lang="en-US" sz="1200" kern="1200" dirty="0">
                <a:solidFill>
                  <a:schemeClr val="tx1"/>
                </a:solidFill>
                <a:effectLst/>
                <a:latin typeface="+mn-lt"/>
                <a:ea typeface="+mn-ea"/>
                <a:cs typeface="+mn-cs"/>
              </a:rPr>
              <a:t>Jim Kwik shares a powerful technique called the </a:t>
            </a:r>
            <a:r>
              <a:rPr lang="en-US" sz="1200" b="1" kern="1200" dirty="0">
                <a:solidFill>
                  <a:schemeClr val="tx1"/>
                </a:solidFill>
                <a:effectLst/>
                <a:latin typeface="+mn-lt"/>
                <a:ea typeface="+mn-ea"/>
                <a:cs typeface="+mn-cs"/>
              </a:rPr>
              <a:t>Pause Trigger Map</a:t>
            </a:r>
            <a:r>
              <a:rPr lang="en-US" sz="1200" kern="1200" dirty="0">
                <a:solidFill>
                  <a:schemeClr val="tx1"/>
                </a:solidFill>
                <a:effectLst/>
                <a:latin typeface="+mn-lt"/>
                <a:ea typeface="+mn-ea"/>
                <a:cs typeface="+mn-cs"/>
              </a:rPr>
              <a:t>. Habits require triggers. Instead of waiting for a high-stress moment to magically remember to stay calm, attach physical triggers in your everyday environment to train your pause muscle.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Everyday Triggers:</a:t>
            </a:r>
            <a:r>
              <a:rPr lang="en-US" sz="1200" kern="1200" dirty="0">
                <a:solidFill>
                  <a:schemeClr val="tx1"/>
                </a:solidFill>
                <a:effectLst/>
                <a:latin typeface="+mn-lt"/>
                <a:ea typeface="+mn-ea"/>
                <a:cs typeface="+mn-cs"/>
              </a:rPr>
              <a:t> Train yourself so that every time you reach for a door handle, or every time your phone rings, you force yourself to take a one-second pause and a deep breath before responding.</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Visual Interruption:</a:t>
            </a:r>
            <a:r>
              <a:rPr lang="en-US" sz="1200" kern="1200" dirty="0">
                <a:solidFill>
                  <a:schemeClr val="tx1"/>
                </a:solidFill>
                <a:effectLst/>
                <a:latin typeface="+mn-lt"/>
                <a:ea typeface="+mn-ea"/>
                <a:cs typeface="+mn-cs"/>
              </a:rPr>
              <a:t> When someone starts getting heated in a difficult conversation, imagine a giant red 'Pause Button' appearing right on their forehead. Not only does this introduce a slight moment of humor to break your physiological stress state, but it enforces a rule: </a:t>
            </a:r>
            <a:r>
              <a:rPr lang="en-US" sz="1200" i="1" kern="1200" dirty="0">
                <a:solidFill>
                  <a:schemeClr val="tx1"/>
                </a:solidFill>
                <a:effectLst/>
                <a:latin typeface="+mn-lt"/>
                <a:ea typeface="+mn-ea"/>
                <a:cs typeface="+mn-cs"/>
              </a:rPr>
              <a:t>You cannot speak until you mentally press that pause button.</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By consciously intervening with a single breath, you disengage the amygdala and bring your prefrontal cortex back online, allowing you to respond thoughtfully instead of reacting impulsively. </a:t>
            </a:r>
          </a:p>
          <a:p>
            <a:endParaRPr lang="en-US" dirty="0"/>
          </a:p>
        </p:txBody>
      </p:sp>
      <p:sp>
        <p:nvSpPr>
          <p:cNvPr id="4" name="Slide Number Placeholder 3"/>
          <p:cNvSpPr>
            <a:spLocks noGrp="1"/>
          </p:cNvSpPr>
          <p:nvPr>
            <p:ph type="sldNum" sz="quarter" idx="5"/>
          </p:nvPr>
        </p:nvSpPr>
        <p:spPr/>
        <p:txBody>
          <a:bodyPr/>
          <a:lstStyle/>
          <a:p>
            <a:fld id="{C6E52723-549F-4DAC-8F25-D33A1FDE19D1}" type="slidenum">
              <a:rPr lang="en-US" smtClean="0"/>
              <a:t>6</a:t>
            </a:fld>
            <a:endParaRPr lang="en-US"/>
          </a:p>
        </p:txBody>
      </p:sp>
    </p:spTree>
    <p:extLst>
      <p:ext uri="{BB962C8B-B14F-4D97-AF65-F5344CB8AC3E}">
        <p14:creationId xmlns:p14="http://schemas.microsoft.com/office/powerpoint/2010/main" val="17299161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Let’s talk about the most important conversation you will ever have: the conversation you have with yourself.</a:t>
            </a:r>
          </a:p>
          <a:p>
            <a:r>
              <a:rPr lang="en-US" sz="1200" kern="1200" dirty="0">
                <a:solidFill>
                  <a:schemeClr val="tx1"/>
                </a:solidFill>
                <a:effectLst/>
                <a:latin typeface="+mn-lt"/>
                <a:ea typeface="+mn-ea"/>
                <a:cs typeface="+mn-cs"/>
              </a:rPr>
              <a:t>Evolutionary biology gave us a negativity bias. Our brains evolved to keep us alive, not happy. We constantly scan for danger, and as a result, our internal voice often defaults to </a:t>
            </a:r>
            <a:r>
              <a:rPr lang="en-US" sz="1200" b="1" kern="1200" dirty="0">
                <a:solidFill>
                  <a:schemeClr val="tx1"/>
                </a:solidFill>
                <a:effectLst/>
                <a:latin typeface="+mn-lt"/>
                <a:ea typeface="+mn-ea"/>
                <a:cs typeface="+mn-cs"/>
              </a:rPr>
              <a:t>The Critic</a:t>
            </a:r>
            <a:r>
              <a:rPr lang="en-US" sz="1200" kern="1200" dirty="0">
                <a:solidFill>
                  <a:schemeClr val="tx1"/>
                </a:solidFill>
                <a:effectLst/>
                <a:latin typeface="+mn-lt"/>
                <a:ea typeface="+mn-ea"/>
                <a:cs typeface="+mn-cs"/>
              </a:rPr>
              <a:t>—harsh, past-focused, and unforgiving. </a:t>
            </a:r>
          </a:p>
          <a:p>
            <a:r>
              <a:rPr lang="en-US" sz="1200" kern="1200" dirty="0">
                <a:solidFill>
                  <a:schemeClr val="tx1"/>
                </a:solidFill>
                <a:effectLst/>
                <a:latin typeface="+mn-lt"/>
                <a:ea typeface="+mn-ea"/>
                <a:cs typeface="+mn-cs"/>
              </a:rPr>
              <a:t>Jim Kwik reminds us: </a:t>
            </a:r>
            <a:r>
              <a:rPr lang="en-US" sz="1200" i="1" kern="1200" dirty="0">
                <a:solidFill>
                  <a:schemeClr val="tx1"/>
                </a:solidFill>
                <a:effectLst/>
                <a:latin typeface="+mn-lt"/>
                <a:ea typeface="+mn-ea"/>
                <a:cs typeface="+mn-cs"/>
              </a:rPr>
              <a:t>'Your brain is an incredible supercomputer, and your self-talk is the program it runs.'</a:t>
            </a:r>
            <a:r>
              <a:rPr lang="en-US" sz="1200" kern="1200" dirty="0">
                <a:solidFill>
                  <a:schemeClr val="tx1"/>
                </a:solidFill>
                <a:effectLst/>
                <a:latin typeface="+mn-lt"/>
                <a:ea typeface="+mn-ea"/>
                <a:cs typeface="+mn-cs"/>
              </a:rPr>
              <a:t> If you run a program that says, </a:t>
            </a:r>
            <a:r>
              <a:rPr lang="en-US" sz="1200" i="1" kern="1200" dirty="0">
                <a:solidFill>
                  <a:schemeClr val="tx1"/>
                </a:solidFill>
                <a:effectLst/>
                <a:latin typeface="+mn-lt"/>
                <a:ea typeface="+mn-ea"/>
                <a:cs typeface="+mn-cs"/>
              </a:rPr>
              <a:t>'I have a terrible memory,'</a:t>
            </a:r>
            <a:r>
              <a:rPr lang="en-US" sz="1200" kern="1200" dirty="0">
                <a:solidFill>
                  <a:schemeClr val="tx1"/>
                </a:solidFill>
                <a:effectLst/>
                <a:latin typeface="+mn-lt"/>
                <a:ea typeface="+mn-ea"/>
                <a:cs typeface="+mn-cs"/>
              </a:rPr>
              <a:t> or </a:t>
            </a:r>
            <a:r>
              <a:rPr lang="en-US" sz="1200" i="1" kern="1200" dirty="0">
                <a:solidFill>
                  <a:schemeClr val="tx1"/>
                </a:solidFill>
                <a:effectLst/>
                <a:latin typeface="+mn-lt"/>
                <a:ea typeface="+mn-ea"/>
                <a:cs typeface="+mn-cs"/>
              </a:rPr>
              <a:t>'I'm awful under pressure,'</a:t>
            </a:r>
            <a:r>
              <a:rPr lang="en-US" sz="1200" kern="1200" dirty="0">
                <a:solidFill>
                  <a:schemeClr val="tx1"/>
                </a:solidFill>
                <a:effectLst/>
                <a:latin typeface="+mn-lt"/>
                <a:ea typeface="+mn-ea"/>
                <a:cs typeface="+mn-cs"/>
              </a:rPr>
              <a:t> your supercomputer will actively seek evidence to fulfill that command. Remember: </a:t>
            </a:r>
            <a:r>
              <a:rPr lang="en-US" sz="1200" b="1" kern="1200" dirty="0">
                <a:solidFill>
                  <a:schemeClr val="tx1"/>
                </a:solidFill>
                <a:effectLst/>
                <a:latin typeface="+mn-lt"/>
                <a:ea typeface="+mn-ea"/>
                <a:cs typeface="+mn-cs"/>
              </a:rPr>
              <a:t>If you fight for your limitations, you get to keep them.</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We need to switch from </a:t>
            </a:r>
            <a:r>
              <a:rPr lang="en-US" sz="1200" b="1" kern="1200" dirty="0">
                <a:solidFill>
                  <a:schemeClr val="tx1"/>
                </a:solidFill>
                <a:effectLst/>
                <a:latin typeface="+mn-lt"/>
                <a:ea typeface="+mn-ea"/>
                <a:cs typeface="+mn-cs"/>
              </a:rPr>
              <a:t>The Critic</a:t>
            </a:r>
            <a:r>
              <a:rPr lang="en-US" sz="1200" kern="1200" dirty="0">
                <a:solidFill>
                  <a:schemeClr val="tx1"/>
                </a:solidFill>
                <a:effectLst/>
                <a:latin typeface="+mn-lt"/>
                <a:ea typeface="+mn-ea"/>
                <a:cs typeface="+mn-cs"/>
              </a:rPr>
              <a:t> to </a:t>
            </a:r>
            <a:r>
              <a:rPr lang="en-US" sz="1200" b="1" kern="1200" dirty="0">
                <a:solidFill>
                  <a:schemeClr val="tx1"/>
                </a:solidFill>
                <a:effectLst/>
                <a:latin typeface="+mn-lt"/>
                <a:ea typeface="+mn-ea"/>
                <a:cs typeface="+mn-cs"/>
              </a:rPr>
              <a:t>The Coach</a:t>
            </a:r>
            <a:r>
              <a:rPr lang="en-US" sz="1200" kern="1200" dirty="0">
                <a:solidFill>
                  <a:schemeClr val="tx1"/>
                </a:solidFill>
                <a:effectLst/>
                <a:latin typeface="+mn-lt"/>
                <a:ea typeface="+mn-ea"/>
                <a:cs typeface="+mn-cs"/>
              </a:rPr>
              <a:t>. A coach is not delusional or overly soft; a coach is honest, compassionate, and forward-looking.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Instead of saying: </a:t>
            </a:r>
            <a:r>
              <a:rPr lang="en-US" sz="1200" i="1" kern="1200" dirty="0">
                <a:solidFill>
                  <a:schemeClr val="tx1"/>
                </a:solidFill>
                <a:effectLst/>
                <a:latin typeface="+mn-lt"/>
                <a:ea typeface="+mn-ea"/>
                <a:cs typeface="+mn-cs"/>
              </a:rPr>
              <a:t>'I have a terrible memory,'</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Reframe it to: </a:t>
            </a:r>
            <a:r>
              <a:rPr lang="en-US" sz="1200" i="1" kern="1200" dirty="0">
                <a:solidFill>
                  <a:schemeClr val="tx1"/>
                </a:solidFill>
                <a:effectLst/>
                <a:latin typeface="+mn-lt"/>
                <a:ea typeface="+mn-ea"/>
                <a:cs typeface="+mn-cs"/>
              </a:rPr>
              <a:t>'I am currently training my memory.'</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Research on self-compassion shows that treating yourself with grace makes you far more resilient and likely to follow through than beatings from self-criticism ever will.</a:t>
            </a:r>
          </a:p>
          <a:p>
            <a:endParaRPr lang="en-US" dirty="0"/>
          </a:p>
        </p:txBody>
      </p:sp>
      <p:sp>
        <p:nvSpPr>
          <p:cNvPr id="4" name="Slide Number Placeholder 3"/>
          <p:cNvSpPr>
            <a:spLocks noGrp="1"/>
          </p:cNvSpPr>
          <p:nvPr>
            <p:ph type="sldNum" sz="quarter" idx="5"/>
          </p:nvPr>
        </p:nvSpPr>
        <p:spPr/>
        <p:txBody>
          <a:bodyPr/>
          <a:lstStyle/>
          <a:p>
            <a:fld id="{C6E52723-549F-4DAC-8F25-D33A1FDE19D1}" type="slidenum">
              <a:rPr lang="en-US" smtClean="0"/>
              <a:t>7</a:t>
            </a:fld>
            <a:endParaRPr lang="en-US"/>
          </a:p>
        </p:txBody>
      </p:sp>
    </p:spTree>
    <p:extLst>
      <p:ext uri="{BB962C8B-B14F-4D97-AF65-F5344CB8AC3E}">
        <p14:creationId xmlns:p14="http://schemas.microsoft.com/office/powerpoint/2010/main" val="21530779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Now let's tackle the central question of our modern era: Is AI making our brains weaker or stronger?</a:t>
            </a:r>
          </a:p>
          <a:p>
            <a:r>
              <a:rPr lang="en-US" sz="1200" kern="1200" dirty="0">
                <a:solidFill>
                  <a:schemeClr val="tx1"/>
                </a:solidFill>
                <a:effectLst/>
                <a:latin typeface="+mn-lt"/>
                <a:ea typeface="+mn-ea"/>
                <a:cs typeface="+mn-cs"/>
              </a:rPr>
              <a:t>To answer this, we must distinguish between two critical concepts: </a:t>
            </a:r>
            <a:r>
              <a:rPr lang="en-US" sz="1200" b="1" kern="1200" dirty="0">
                <a:solidFill>
                  <a:schemeClr val="tx1"/>
                </a:solidFill>
                <a:effectLst/>
                <a:latin typeface="+mn-lt"/>
                <a:ea typeface="+mn-ea"/>
                <a:cs typeface="+mn-cs"/>
              </a:rPr>
              <a:t>Cognitive Offloading</a:t>
            </a:r>
            <a:r>
              <a:rPr lang="en-US" sz="1200" kern="1200" dirty="0">
                <a:solidFill>
                  <a:schemeClr val="tx1"/>
                </a:solidFill>
                <a:effectLst/>
                <a:latin typeface="+mn-lt"/>
                <a:ea typeface="+mn-ea"/>
                <a:cs typeface="+mn-cs"/>
              </a:rPr>
              <a:t> and </a:t>
            </a:r>
            <a:r>
              <a:rPr lang="en-US" sz="1200" b="1" kern="1200" dirty="0">
                <a:solidFill>
                  <a:schemeClr val="tx1"/>
                </a:solidFill>
                <a:effectLst/>
                <a:latin typeface="+mn-lt"/>
                <a:ea typeface="+mn-ea"/>
                <a:cs typeface="+mn-cs"/>
              </a:rPr>
              <a:t>Cognitive Surrender</a:t>
            </a:r>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Cognitive Offloading</a:t>
            </a:r>
            <a:r>
              <a:rPr lang="en-US" sz="1200" kern="1200" dirty="0">
                <a:solidFill>
                  <a:schemeClr val="tx1"/>
                </a:solidFill>
                <a:effectLst/>
                <a:latin typeface="+mn-lt"/>
                <a:ea typeface="+mn-ea"/>
                <a:cs typeface="+mn-cs"/>
              </a:rPr>
              <a:t> is using tools to remove low-level friction. We use calculators for basic math, or calendars to store meeting times. This frees up precious working memory bandwidth for higher-tier creative thinking. </a:t>
            </a:r>
          </a:p>
          <a:p>
            <a:r>
              <a:rPr lang="en-US" sz="1200" b="1" kern="1200" dirty="0">
                <a:solidFill>
                  <a:schemeClr val="tx1"/>
                </a:solidFill>
                <a:effectLst/>
                <a:latin typeface="+mn-lt"/>
                <a:ea typeface="+mn-ea"/>
                <a:cs typeface="+mn-cs"/>
              </a:rPr>
              <a:t>Cognitive Surrender</a:t>
            </a:r>
            <a:r>
              <a:rPr lang="en-US" sz="1200" kern="1200" dirty="0">
                <a:solidFill>
                  <a:schemeClr val="tx1"/>
                </a:solidFill>
                <a:effectLst/>
                <a:latin typeface="+mn-lt"/>
                <a:ea typeface="+mn-ea"/>
                <a:cs typeface="+mn-cs"/>
              </a:rPr>
              <a:t>, however, occurs when you rely on AI to do the actual thinking, opinion-forming, and personal communicating for you. This leads directly to what neuroscientists call </a:t>
            </a:r>
            <a:r>
              <a:rPr lang="en-US" sz="1200" b="1" kern="1200" dirty="0">
                <a:solidFill>
                  <a:schemeClr val="tx1"/>
                </a:solidFill>
                <a:effectLst/>
                <a:latin typeface="+mn-lt"/>
                <a:ea typeface="+mn-ea"/>
                <a:cs typeface="+mn-cs"/>
              </a:rPr>
              <a:t>Digital Dementia</a:t>
            </a:r>
            <a:r>
              <a:rPr lang="en-US" sz="1200" kern="1200" dirty="0">
                <a:solidFill>
                  <a:schemeClr val="tx1"/>
                </a:solidFill>
                <a:effectLst/>
                <a:latin typeface="+mn-lt"/>
                <a:ea typeface="+mn-ea"/>
                <a:cs typeface="+mn-cs"/>
              </a:rPr>
              <a:t>—the breakdown of cognitive faculties due to disuse. </a:t>
            </a:r>
          </a:p>
          <a:p>
            <a:r>
              <a:rPr lang="en-US" sz="1200" kern="1200" dirty="0">
                <a:solidFill>
                  <a:schemeClr val="tx1"/>
                </a:solidFill>
                <a:effectLst/>
                <a:latin typeface="+mn-lt"/>
                <a:ea typeface="+mn-ea"/>
                <a:cs typeface="+mn-cs"/>
              </a:rPr>
              <a:t>Look at the recent </a:t>
            </a:r>
            <a:r>
              <a:rPr lang="en-US" sz="1200" b="1" kern="1200" dirty="0">
                <a:solidFill>
                  <a:schemeClr val="tx1"/>
                </a:solidFill>
                <a:effectLst/>
                <a:latin typeface="+mn-lt"/>
                <a:ea typeface="+mn-ea"/>
                <a:cs typeface="+mn-cs"/>
              </a:rPr>
              <a:t>MIT Study</a:t>
            </a:r>
            <a:r>
              <a:rPr lang="en-US" sz="1200" kern="1200" dirty="0">
                <a:solidFill>
                  <a:schemeClr val="tx1"/>
                </a:solidFill>
                <a:effectLst/>
                <a:latin typeface="+mn-lt"/>
                <a:ea typeface="+mn-ea"/>
                <a:cs typeface="+mn-cs"/>
              </a:rPr>
              <a:t> mentioned on this slide: Students were tasked with writing essays. Group A used ChatGPT, Group B used standard Google searches, and Group C used no technology. Brain scans showed that Group C had the highest cognitive engagement. But when tested later on recall of their own essay topics, the ChatGPT group retained by far the </a:t>
            </a:r>
            <a:r>
              <a:rPr lang="en-US" sz="1200" i="1" kern="1200" dirty="0">
                <a:solidFill>
                  <a:schemeClr val="tx1"/>
                </a:solidFill>
                <a:effectLst/>
                <a:latin typeface="+mn-lt"/>
                <a:ea typeface="+mn-ea"/>
                <a:cs typeface="+mn-cs"/>
              </a:rPr>
              <a:t>least</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Why? Because </a:t>
            </a:r>
            <a:r>
              <a:rPr lang="en-US" sz="1200" b="1" kern="1200" dirty="0">
                <a:solidFill>
                  <a:schemeClr val="tx1"/>
                </a:solidFill>
                <a:effectLst/>
                <a:latin typeface="+mn-lt"/>
                <a:ea typeface="+mn-ea"/>
                <a:cs typeface="+mn-cs"/>
              </a:rPr>
              <a:t>No cognitive effort = No cognitive reward</a:t>
            </a:r>
            <a:r>
              <a:rPr lang="en-US" sz="1200" kern="1200" dirty="0">
                <a:solidFill>
                  <a:schemeClr val="tx1"/>
                </a:solidFill>
                <a:effectLst/>
                <a:latin typeface="+mn-lt"/>
                <a:ea typeface="+mn-ea"/>
                <a:cs typeface="+mn-cs"/>
              </a:rPr>
              <a:t>. If you ask someone else at the gym to lift the weights for you, you don't get the muscle growth. </a:t>
            </a:r>
          </a:p>
          <a:p>
            <a:endParaRPr lang="en-US" dirty="0"/>
          </a:p>
        </p:txBody>
      </p:sp>
      <p:sp>
        <p:nvSpPr>
          <p:cNvPr id="4" name="Slide Number Placeholder 3"/>
          <p:cNvSpPr>
            <a:spLocks noGrp="1"/>
          </p:cNvSpPr>
          <p:nvPr>
            <p:ph type="sldNum" sz="quarter" idx="5"/>
          </p:nvPr>
        </p:nvSpPr>
        <p:spPr/>
        <p:txBody>
          <a:bodyPr/>
          <a:lstStyle/>
          <a:p>
            <a:fld id="{C6E52723-549F-4DAC-8F25-D33A1FDE19D1}" type="slidenum">
              <a:rPr lang="en-US" smtClean="0"/>
              <a:t>8</a:t>
            </a:fld>
            <a:endParaRPr lang="en-US"/>
          </a:p>
        </p:txBody>
      </p:sp>
    </p:spTree>
    <p:extLst>
      <p:ext uri="{BB962C8B-B14F-4D97-AF65-F5344CB8AC3E}">
        <p14:creationId xmlns:p14="http://schemas.microsoft.com/office/powerpoint/2010/main" val="5146210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We shouldn't reject AI, but we must establish healthy boundaries so it enhances our brain rather than replacing it. Before you open ChatGPT or Claude to write or solve a problem, execute Jim Kwik’s </a:t>
            </a:r>
            <a:r>
              <a:rPr lang="en-US" sz="1200" b="1" kern="1200" dirty="0">
                <a:solidFill>
                  <a:schemeClr val="tx1"/>
                </a:solidFill>
                <a:effectLst/>
                <a:latin typeface="+mn-lt"/>
                <a:ea typeface="+mn-ea"/>
                <a:cs typeface="+mn-cs"/>
              </a:rPr>
              <a:t>B.U.I.L.D. Protocol</a:t>
            </a:r>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1. B – Brainstorm:</a:t>
            </a:r>
            <a:r>
              <a:rPr lang="en-US" sz="1200" kern="1200" dirty="0">
                <a:solidFill>
                  <a:schemeClr val="tx1"/>
                </a:solidFill>
                <a:effectLst/>
                <a:latin typeface="+mn-lt"/>
                <a:ea typeface="+mn-ea"/>
                <a:cs typeface="+mn-cs"/>
              </a:rPr>
              <a:t> Engage your own neural circuits first. Write down your own thoughts, rough outlines, or ideas </a:t>
            </a:r>
            <a:r>
              <a:rPr lang="en-US" sz="1200" i="1" kern="1200" dirty="0">
                <a:solidFill>
                  <a:schemeClr val="tx1"/>
                </a:solidFill>
                <a:effectLst/>
                <a:latin typeface="+mn-lt"/>
                <a:ea typeface="+mn-ea"/>
                <a:cs typeface="+mn-cs"/>
              </a:rPr>
              <a:t>before</a:t>
            </a:r>
            <a:r>
              <a:rPr lang="en-US" sz="1200" kern="1200" dirty="0">
                <a:solidFill>
                  <a:schemeClr val="tx1"/>
                </a:solidFill>
                <a:effectLst/>
                <a:latin typeface="+mn-lt"/>
                <a:ea typeface="+mn-ea"/>
                <a:cs typeface="+mn-cs"/>
              </a:rPr>
              <a:t> you input a prompt. </a:t>
            </a:r>
          </a:p>
          <a:p>
            <a:r>
              <a:rPr lang="en-US" sz="1200" b="1" kern="1200" dirty="0">
                <a:solidFill>
                  <a:schemeClr val="tx1"/>
                </a:solidFill>
                <a:effectLst/>
                <a:latin typeface="+mn-lt"/>
                <a:ea typeface="+mn-ea"/>
                <a:cs typeface="+mn-cs"/>
              </a:rPr>
              <a:t>2. U – Understand:</a:t>
            </a:r>
            <a:r>
              <a:rPr lang="en-US" sz="1200" kern="1200" dirty="0">
                <a:solidFill>
                  <a:schemeClr val="tx1"/>
                </a:solidFill>
                <a:effectLst/>
                <a:latin typeface="+mn-lt"/>
                <a:ea typeface="+mn-ea"/>
                <a:cs typeface="+mn-cs"/>
              </a:rPr>
              <a:t> Define the core problem clearly. As Einstein famously suggested, spend the majority of your time understanding and asking the right question rather than rushing to a surface solution. </a:t>
            </a:r>
          </a:p>
          <a:p>
            <a:r>
              <a:rPr lang="en-US" sz="1200" b="1" kern="1200" dirty="0">
                <a:solidFill>
                  <a:schemeClr val="tx1"/>
                </a:solidFill>
                <a:effectLst/>
                <a:latin typeface="+mn-lt"/>
                <a:ea typeface="+mn-ea"/>
                <a:cs typeface="+mn-cs"/>
              </a:rPr>
              <a:t>3. I – Imagine:</a:t>
            </a:r>
            <a:r>
              <a:rPr lang="en-US" sz="1200" kern="1200" dirty="0">
                <a:solidFill>
                  <a:schemeClr val="tx1"/>
                </a:solidFill>
                <a:effectLst/>
                <a:latin typeface="+mn-lt"/>
                <a:ea typeface="+mn-ea"/>
                <a:cs typeface="+mn-cs"/>
              </a:rPr>
              <a:t> Shift perspectives mentally. Ask yourself: </a:t>
            </a:r>
            <a:r>
              <a:rPr lang="en-US" sz="1200" i="1" kern="1200" dirty="0">
                <a:solidFill>
                  <a:schemeClr val="tx1"/>
                </a:solidFill>
                <a:effectLst/>
                <a:latin typeface="+mn-lt"/>
                <a:ea typeface="+mn-ea"/>
                <a:cs typeface="+mn-cs"/>
              </a:rPr>
              <a:t>'How would a 5-year-old look at this problem?'</a:t>
            </a:r>
            <a:r>
              <a:rPr lang="en-US" sz="1200" kern="1200" dirty="0">
                <a:solidFill>
                  <a:schemeClr val="tx1"/>
                </a:solidFill>
                <a:effectLst/>
                <a:latin typeface="+mn-lt"/>
                <a:ea typeface="+mn-ea"/>
                <a:cs typeface="+mn-cs"/>
              </a:rPr>
              <a:t> or </a:t>
            </a:r>
            <a:r>
              <a:rPr lang="en-US" sz="1200" i="1" kern="1200" dirty="0">
                <a:solidFill>
                  <a:schemeClr val="tx1"/>
                </a:solidFill>
                <a:effectLst/>
                <a:latin typeface="+mn-lt"/>
                <a:ea typeface="+mn-ea"/>
                <a:cs typeface="+mn-cs"/>
              </a:rPr>
              <a:t>'What would Leonardo da Vinci do in this scenario?'</a:t>
            </a:r>
            <a:r>
              <a:rPr lang="en-US" sz="1200" kern="1200" dirty="0">
                <a:solidFill>
                  <a:schemeClr val="tx1"/>
                </a:solidFill>
                <a:effectLst/>
                <a:latin typeface="+mn-lt"/>
                <a:ea typeface="+mn-ea"/>
                <a:cs typeface="+mn-cs"/>
              </a:rPr>
              <a:t> Forced perspective shifts provoke creative breakthroughs. </a:t>
            </a:r>
          </a:p>
          <a:p>
            <a:r>
              <a:rPr lang="en-US" sz="1200" b="1" kern="1200" dirty="0">
                <a:solidFill>
                  <a:schemeClr val="tx1"/>
                </a:solidFill>
                <a:effectLst/>
                <a:latin typeface="+mn-lt"/>
                <a:ea typeface="+mn-ea"/>
                <a:cs typeface="+mn-cs"/>
              </a:rPr>
              <a:t>4. L – Leverage:</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Now</a:t>
            </a:r>
            <a:r>
              <a:rPr lang="en-US" sz="1200" kern="1200" dirty="0">
                <a:solidFill>
                  <a:schemeClr val="tx1"/>
                </a:solidFill>
                <a:effectLst/>
                <a:latin typeface="+mn-lt"/>
                <a:ea typeface="+mn-ea"/>
                <a:cs typeface="+mn-cs"/>
              </a:rPr>
              <a:t> bring in AI. Use it to stress-test your ideas, find blind spots, play devil's advocate, or distill vast datasets. Treat AI as a brilliant collaborator, not a substitute brain. </a:t>
            </a:r>
          </a:p>
          <a:p>
            <a:r>
              <a:rPr lang="en-US" sz="1200" b="1" kern="1200" dirty="0">
                <a:solidFill>
                  <a:schemeClr val="tx1"/>
                </a:solidFill>
                <a:effectLst/>
                <a:latin typeface="+mn-lt"/>
                <a:ea typeface="+mn-ea"/>
                <a:cs typeface="+mn-cs"/>
              </a:rPr>
              <a:t>5. D – Decide:</a:t>
            </a:r>
            <a:r>
              <a:rPr lang="en-US" sz="1200" kern="1200" dirty="0">
                <a:solidFill>
                  <a:schemeClr val="tx1"/>
                </a:solidFill>
                <a:effectLst/>
                <a:latin typeface="+mn-lt"/>
                <a:ea typeface="+mn-ea"/>
                <a:cs typeface="+mn-cs"/>
              </a:rPr>
              <a:t> AI can compute and process faster than us, but a human must ultimately determine what the data means and decide on the proper course of action. </a:t>
            </a:r>
          </a:p>
          <a:p>
            <a:endParaRPr lang="en-US" dirty="0"/>
          </a:p>
        </p:txBody>
      </p:sp>
      <p:sp>
        <p:nvSpPr>
          <p:cNvPr id="4" name="Slide Number Placeholder 3"/>
          <p:cNvSpPr>
            <a:spLocks noGrp="1"/>
          </p:cNvSpPr>
          <p:nvPr>
            <p:ph type="sldNum" sz="quarter" idx="5"/>
          </p:nvPr>
        </p:nvSpPr>
        <p:spPr/>
        <p:txBody>
          <a:bodyPr/>
          <a:lstStyle/>
          <a:p>
            <a:fld id="{C6E52723-549F-4DAC-8F25-D33A1FDE19D1}" type="slidenum">
              <a:rPr lang="en-US" smtClean="0"/>
              <a:t>9</a:t>
            </a:fld>
            <a:endParaRPr lang="en-US"/>
          </a:p>
        </p:txBody>
      </p:sp>
    </p:spTree>
    <p:extLst>
      <p:ext uri="{BB962C8B-B14F-4D97-AF65-F5344CB8AC3E}">
        <p14:creationId xmlns:p14="http://schemas.microsoft.com/office/powerpoint/2010/main" val="33550065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AI will inevitably out-process, out-calculate, and out-memorize humans. If you try to compete on raw computation, you will lose. To stay irreplaceable, you must double down on traits that cannot be synthetically duplicated. Focus on the </a:t>
            </a:r>
            <a:r>
              <a:rPr lang="en-US" sz="1200" b="1" kern="1200" dirty="0">
                <a:solidFill>
                  <a:schemeClr val="tx1"/>
                </a:solidFill>
                <a:effectLst/>
                <a:latin typeface="+mn-lt"/>
                <a:ea typeface="+mn-ea"/>
                <a:cs typeface="+mn-cs"/>
              </a:rPr>
              <a:t>H.U.M.A.N. Pillars</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H – Heart:</a:t>
            </a:r>
            <a:r>
              <a:rPr lang="en-US" sz="1200" kern="1200" dirty="0">
                <a:solidFill>
                  <a:schemeClr val="tx1"/>
                </a:solidFill>
                <a:effectLst/>
                <a:latin typeface="+mn-lt"/>
                <a:ea typeface="+mn-ea"/>
                <a:cs typeface="+mn-cs"/>
              </a:rPr>
              <a:t> Emotional intelligence (EQ), empathy, compassion, and authentic human connection. AI can simulate polite sentences, but it cannot genuinely care.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U – Understanding:</a:t>
            </a:r>
            <a:r>
              <a:rPr lang="en-US" sz="1200" kern="1200" dirty="0">
                <a:solidFill>
                  <a:schemeClr val="tx1"/>
                </a:solidFill>
                <a:effectLst/>
                <a:latin typeface="+mn-lt"/>
                <a:ea typeface="+mn-ea"/>
                <a:cs typeface="+mn-cs"/>
              </a:rPr>
              <a:t> Insatiable curiosity. High performers are driven by deep curiosity that unlocks hidden insights.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M – Meaning:</a:t>
            </a:r>
            <a:r>
              <a:rPr lang="en-US" sz="1200" kern="1200" dirty="0">
                <a:solidFill>
                  <a:schemeClr val="tx1"/>
                </a:solidFill>
                <a:effectLst/>
                <a:latin typeface="+mn-lt"/>
                <a:ea typeface="+mn-ea"/>
                <a:cs typeface="+mn-cs"/>
              </a:rPr>
              <a:t> Purpose and passion. Passion is what lights </a:t>
            </a:r>
            <a:r>
              <a:rPr lang="en-US" sz="1200" i="1" kern="1200" dirty="0">
                <a:solidFill>
                  <a:schemeClr val="tx1"/>
                </a:solidFill>
                <a:effectLst/>
                <a:latin typeface="+mn-lt"/>
                <a:ea typeface="+mn-ea"/>
                <a:cs typeface="+mn-cs"/>
              </a:rPr>
              <a:t>you</a:t>
            </a:r>
            <a:r>
              <a:rPr lang="en-US" sz="1200" kern="1200" dirty="0">
                <a:solidFill>
                  <a:schemeClr val="tx1"/>
                </a:solidFill>
                <a:effectLst/>
                <a:latin typeface="+mn-lt"/>
                <a:ea typeface="+mn-ea"/>
                <a:cs typeface="+mn-cs"/>
              </a:rPr>
              <a:t> up; purpose is using your passion to light </a:t>
            </a:r>
            <a:r>
              <a:rPr lang="en-US" sz="1200" i="1" kern="1200" dirty="0">
                <a:solidFill>
                  <a:schemeClr val="tx1"/>
                </a:solidFill>
                <a:effectLst/>
                <a:latin typeface="+mn-lt"/>
                <a:ea typeface="+mn-ea"/>
                <a:cs typeface="+mn-cs"/>
              </a:rPr>
              <a:t>others</a:t>
            </a:r>
            <a:r>
              <a:rPr lang="en-US" sz="1200" kern="1200" dirty="0">
                <a:solidFill>
                  <a:schemeClr val="tx1"/>
                </a:solidFill>
                <a:effectLst/>
                <a:latin typeface="+mn-lt"/>
                <a:ea typeface="+mn-ea"/>
                <a:cs typeface="+mn-cs"/>
              </a:rPr>
              <a:t> up.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A – Adaptation:</a:t>
            </a:r>
            <a:r>
              <a:rPr lang="en-US" sz="1200" kern="1200" dirty="0">
                <a:solidFill>
                  <a:schemeClr val="tx1"/>
                </a:solidFill>
                <a:effectLst/>
                <a:latin typeface="+mn-lt"/>
                <a:ea typeface="+mn-ea"/>
                <a:cs typeface="+mn-cs"/>
              </a:rPr>
              <a:t> Cognitive flexibility—the ability to learn, unlearn, and relearn rapidly as the landscape shifts.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N – Nexus:</a:t>
            </a:r>
            <a:r>
              <a:rPr lang="en-US" sz="1200" kern="1200" dirty="0">
                <a:solidFill>
                  <a:schemeClr val="tx1"/>
                </a:solidFill>
                <a:effectLst/>
                <a:latin typeface="+mn-lt"/>
                <a:ea typeface="+mn-ea"/>
                <a:cs typeface="+mn-cs"/>
              </a:rPr>
              <a:t> Deep communication, trust-building, and social relationships. Humans will always seek genuine human leadership and lived experience. </a:t>
            </a:r>
          </a:p>
          <a:p>
            <a:endParaRPr lang="en-US" dirty="0"/>
          </a:p>
        </p:txBody>
      </p:sp>
      <p:sp>
        <p:nvSpPr>
          <p:cNvPr id="4" name="Slide Number Placeholder 3"/>
          <p:cNvSpPr>
            <a:spLocks noGrp="1"/>
          </p:cNvSpPr>
          <p:nvPr>
            <p:ph type="sldNum" sz="quarter" idx="5"/>
          </p:nvPr>
        </p:nvSpPr>
        <p:spPr/>
        <p:txBody>
          <a:bodyPr/>
          <a:lstStyle/>
          <a:p>
            <a:fld id="{C6E52723-549F-4DAC-8F25-D33A1FDE19D1}" type="slidenum">
              <a:rPr lang="en-US" smtClean="0"/>
              <a:t>10</a:t>
            </a:fld>
            <a:endParaRPr lang="en-US"/>
          </a:p>
        </p:txBody>
      </p:sp>
    </p:spTree>
    <p:extLst>
      <p:ext uri="{BB962C8B-B14F-4D97-AF65-F5344CB8AC3E}">
        <p14:creationId xmlns:p14="http://schemas.microsoft.com/office/powerpoint/2010/main" val="32135126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How many times have you claimed, </a:t>
                </a:r>
                <a:r>
                  <a:rPr lang="en-US" sz="1200" i="1" kern="1200" dirty="0">
                    <a:solidFill>
                      <a:schemeClr val="tx1"/>
                    </a:solidFill>
                    <a:effectLst/>
                    <a:latin typeface="+mn-lt"/>
                    <a:ea typeface="+mn-ea"/>
                    <a:cs typeface="+mn-cs"/>
                  </a:rPr>
                  <a:t>'I'm just bad with names,'</a:t>
                </a:r>
                <a:r>
                  <a:rPr lang="en-US" sz="1200" kern="1200" dirty="0">
                    <a:solidFill>
                      <a:schemeClr val="tx1"/>
                    </a:solidFill>
                    <a:effectLst/>
                    <a:latin typeface="+mn-lt"/>
                    <a:ea typeface="+mn-ea"/>
                    <a:cs typeface="+mn-cs"/>
                  </a:rPr>
                  <a:t> or </a:t>
                </a:r>
                <a:r>
                  <a:rPr lang="en-US" sz="1200" i="1" kern="1200" dirty="0">
                    <a:solidFill>
                      <a:schemeClr val="tx1"/>
                    </a:solidFill>
                    <a:effectLst/>
                    <a:latin typeface="+mn-lt"/>
                    <a:ea typeface="+mn-ea"/>
                    <a:cs typeface="+mn-cs"/>
                  </a:rPr>
                  <a:t>'I have a horrible memory'</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Jim Kwik insists: </a:t>
                </a:r>
                <a:r>
                  <a:rPr lang="en-US" sz="1200" i="1" kern="1200" dirty="0">
                    <a:solidFill>
                      <a:schemeClr val="tx1"/>
                    </a:solidFill>
                    <a:effectLst/>
                    <a:latin typeface="+mn-lt"/>
                    <a:ea typeface="+mn-ea"/>
                    <a:cs typeface="+mn-cs"/>
                  </a:rPr>
                  <a:t>'There is no such thing as a good or bad memory. There is only a trained memory and an untrained memory.'</a:t>
                </a:r>
                <a:r>
                  <a:rPr lang="en-US" sz="1200" kern="1200" dirty="0">
                    <a:solidFill>
                      <a:schemeClr val="tx1"/>
                    </a:solidFill>
                    <a:effectLst/>
                    <a:latin typeface="+mn-lt"/>
                    <a:ea typeface="+mn-ea"/>
                    <a:cs typeface="+mn-cs"/>
                  </a:rPr>
                  <a:t> School taught us </a:t>
                </a:r>
                <a:r>
                  <a:rPr lang="en-US" sz="1200" i="1" kern="1200" dirty="0">
                    <a:solidFill>
                      <a:schemeClr val="tx1"/>
                    </a:solidFill>
                    <a:effectLst/>
                    <a:latin typeface="+mn-lt"/>
                    <a:ea typeface="+mn-ea"/>
                    <a:cs typeface="+mn-cs"/>
                  </a:rPr>
                  <a:t>what</a:t>
                </a:r>
                <a:r>
                  <a:rPr lang="en-US" sz="1200" kern="1200" dirty="0">
                    <a:solidFill>
                      <a:schemeClr val="tx1"/>
                    </a:solidFill>
                    <a:effectLst/>
                    <a:latin typeface="+mn-lt"/>
                    <a:ea typeface="+mn-ea"/>
                    <a:cs typeface="+mn-cs"/>
                  </a:rPr>
                  <a:t> to learn, but never </a:t>
                </a:r>
                <a:r>
                  <a:rPr lang="en-US" sz="1200" i="1" kern="1200" dirty="0">
                    <a:solidFill>
                      <a:schemeClr val="tx1"/>
                    </a:solidFill>
                    <a:effectLst/>
                    <a:latin typeface="+mn-lt"/>
                    <a:ea typeface="+mn-ea"/>
                    <a:cs typeface="+mn-cs"/>
                  </a:rPr>
                  <a:t>how</a:t>
                </a:r>
                <a:r>
                  <a:rPr lang="en-US" sz="1200" kern="1200" dirty="0">
                    <a:solidFill>
                      <a:schemeClr val="tx1"/>
                    </a:solidFill>
                    <a:effectLst/>
                    <a:latin typeface="+mn-lt"/>
                    <a:ea typeface="+mn-ea"/>
                    <a:cs typeface="+mn-cs"/>
                  </a:rPr>
                  <a:t> to learn. </a:t>
                </a:r>
              </a:p>
              <a:p>
                <a:r>
                  <a:rPr lang="en-US" sz="1200" kern="1200" dirty="0">
                    <a:solidFill>
                      <a:schemeClr val="tx1"/>
                    </a:solidFill>
                    <a:effectLst/>
                    <a:latin typeface="+mn-lt"/>
                    <a:ea typeface="+mn-ea"/>
                    <a:cs typeface="+mn-cs"/>
                  </a:rPr>
                  <a:t>The core formula for unlocking memory is </a:t>
                </a:r>
                <a14:m>
                  <m:oMath xmlns:m="http://schemas.openxmlformats.org/officeDocument/2006/math">
                    <m:r>
                      <a:rPr lang="en-US" sz="1200" i="1" kern="1200" smtClean="0">
                        <a:solidFill>
                          <a:schemeClr val="tx1"/>
                        </a:solidFill>
                        <a:latin typeface="Cambria Math" panose="02040503050406030204" pitchFamily="18" charset="0"/>
                        <a:ea typeface="+mn-ea"/>
                        <a:cs typeface="+mn-cs"/>
                      </a:rPr>
                      <m:t>𝑀</m:t>
                    </m:r>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𝑂</m:t>
                    </m:r>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𝑀</m:t>
                    </m:r>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𝑀𝐸𝑀𝑂𝑅𝑌</m:t>
                    </m:r>
                  </m:oMath>
                </a14:m>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1. Motivation:</a:t>
                </a:r>
                <a:r>
                  <a:rPr lang="en-US" sz="1200" kern="1200" dirty="0">
                    <a:solidFill>
                      <a:schemeClr val="tx1"/>
                    </a:solidFill>
                    <a:effectLst/>
                    <a:latin typeface="+mn-lt"/>
                    <a:ea typeface="+mn-ea"/>
                    <a:cs typeface="+mn-cs"/>
                  </a:rPr>
                  <a:t> Reasons reap results. If I offered you a million dollars to remember the next person's name you meet, you would remember it effortlessly. Why? Because your motivation shifted instantly. To remember something, connect the information from your head to your heart. </a:t>
                </a:r>
              </a:p>
              <a:p>
                <a:r>
                  <a:rPr lang="en-US" sz="1200" b="1" kern="1200" dirty="0">
                    <a:solidFill>
                      <a:schemeClr val="tx1"/>
                    </a:solidFill>
                    <a:effectLst/>
                    <a:latin typeface="+mn-lt"/>
                    <a:ea typeface="+mn-ea"/>
                    <a:cs typeface="+mn-cs"/>
                  </a:rPr>
                  <a:t>2. Observation:</a:t>
                </a:r>
                <a:r>
                  <a:rPr lang="en-US" sz="1200" kern="1200" dirty="0">
                    <a:solidFill>
                      <a:schemeClr val="tx1"/>
                    </a:solidFill>
                    <a:effectLst/>
                    <a:latin typeface="+mn-lt"/>
                    <a:ea typeface="+mn-ea"/>
                    <a:cs typeface="+mn-cs"/>
                  </a:rPr>
                  <a:t> The art of memory is the art of attention. Most of the time when you 'forget' a name or fact, you didn't forget it—you simply were not present when it was spoken. You were thinking about your response or scanning the room. </a:t>
                </a:r>
              </a:p>
              <a:p>
                <a:r>
                  <a:rPr lang="en-US" sz="1200" b="1" kern="1200" dirty="0">
                    <a:solidFill>
                      <a:schemeClr val="tx1"/>
                    </a:solidFill>
                    <a:effectLst/>
                    <a:latin typeface="+mn-lt"/>
                    <a:ea typeface="+mn-ea"/>
                    <a:cs typeface="+mn-cs"/>
                  </a:rPr>
                  <a:t>3. Methods:</a:t>
                </a:r>
                <a:r>
                  <a:rPr lang="en-US" sz="1200" kern="1200" dirty="0">
                    <a:solidFill>
                      <a:schemeClr val="tx1"/>
                    </a:solidFill>
                    <a:effectLst/>
                    <a:latin typeface="+mn-lt"/>
                    <a:ea typeface="+mn-ea"/>
                    <a:cs typeface="+mn-cs"/>
                  </a:rPr>
                  <a:t> Tactical encoding tools, such as the Memory Palace or spatial visualization, to lock information into long-term structures. </a:t>
                </a:r>
              </a:p>
              <a:p>
                <a:endParaRPr lang="en-US" dirty="0"/>
              </a:p>
            </p:txBody>
          </p:sp>
        </mc:Choice>
        <mc:Fallback xmlns="">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How many times have you claimed, </a:t>
                </a:r>
                <a:r>
                  <a:rPr lang="en-US" sz="1200" i="1" kern="1200" dirty="0">
                    <a:solidFill>
                      <a:schemeClr val="tx1"/>
                    </a:solidFill>
                    <a:effectLst/>
                    <a:latin typeface="+mn-lt"/>
                    <a:ea typeface="+mn-ea"/>
                    <a:cs typeface="+mn-cs"/>
                  </a:rPr>
                  <a:t>'I'm just bad with names,'</a:t>
                </a:r>
                <a:r>
                  <a:rPr lang="en-US" sz="1200" kern="1200" dirty="0">
                    <a:solidFill>
                      <a:schemeClr val="tx1"/>
                    </a:solidFill>
                    <a:effectLst/>
                    <a:latin typeface="+mn-lt"/>
                    <a:ea typeface="+mn-ea"/>
                    <a:cs typeface="+mn-cs"/>
                  </a:rPr>
                  <a:t> or </a:t>
                </a:r>
                <a:r>
                  <a:rPr lang="en-US" sz="1200" i="1" kern="1200" dirty="0">
                    <a:solidFill>
                      <a:schemeClr val="tx1"/>
                    </a:solidFill>
                    <a:effectLst/>
                    <a:latin typeface="+mn-lt"/>
                    <a:ea typeface="+mn-ea"/>
                    <a:cs typeface="+mn-cs"/>
                  </a:rPr>
                  <a:t>'I have a horrible memory'</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Jim Kwik insists: </a:t>
                </a:r>
                <a:r>
                  <a:rPr lang="en-US" sz="1200" i="1" kern="1200" dirty="0">
                    <a:solidFill>
                      <a:schemeClr val="tx1"/>
                    </a:solidFill>
                    <a:effectLst/>
                    <a:latin typeface="+mn-lt"/>
                    <a:ea typeface="+mn-ea"/>
                    <a:cs typeface="+mn-cs"/>
                  </a:rPr>
                  <a:t>'There is no such thing as a good or bad memory. There is only a trained memory and an untrained memory.'</a:t>
                </a:r>
                <a:r>
                  <a:rPr lang="en-US" sz="1200" kern="1200" dirty="0">
                    <a:solidFill>
                      <a:schemeClr val="tx1"/>
                    </a:solidFill>
                    <a:effectLst/>
                    <a:latin typeface="+mn-lt"/>
                    <a:ea typeface="+mn-ea"/>
                    <a:cs typeface="+mn-cs"/>
                  </a:rPr>
                  <a:t> School taught us </a:t>
                </a:r>
                <a:r>
                  <a:rPr lang="en-US" sz="1200" i="1" kern="1200" dirty="0">
                    <a:solidFill>
                      <a:schemeClr val="tx1"/>
                    </a:solidFill>
                    <a:effectLst/>
                    <a:latin typeface="+mn-lt"/>
                    <a:ea typeface="+mn-ea"/>
                    <a:cs typeface="+mn-cs"/>
                  </a:rPr>
                  <a:t>what</a:t>
                </a:r>
                <a:r>
                  <a:rPr lang="en-US" sz="1200" kern="1200" dirty="0">
                    <a:solidFill>
                      <a:schemeClr val="tx1"/>
                    </a:solidFill>
                    <a:effectLst/>
                    <a:latin typeface="+mn-lt"/>
                    <a:ea typeface="+mn-ea"/>
                    <a:cs typeface="+mn-cs"/>
                  </a:rPr>
                  <a:t> to learn, but never </a:t>
                </a:r>
                <a:r>
                  <a:rPr lang="en-US" sz="1200" i="1" kern="1200" dirty="0">
                    <a:solidFill>
                      <a:schemeClr val="tx1"/>
                    </a:solidFill>
                    <a:effectLst/>
                    <a:latin typeface="+mn-lt"/>
                    <a:ea typeface="+mn-ea"/>
                    <a:cs typeface="+mn-cs"/>
                  </a:rPr>
                  <a:t>how</a:t>
                </a:r>
                <a:r>
                  <a:rPr lang="en-US" sz="1200" kern="1200" dirty="0">
                    <a:solidFill>
                      <a:schemeClr val="tx1"/>
                    </a:solidFill>
                    <a:effectLst/>
                    <a:latin typeface="+mn-lt"/>
                    <a:ea typeface="+mn-ea"/>
                    <a:cs typeface="+mn-cs"/>
                  </a:rPr>
                  <a:t> to learn. </a:t>
                </a:r>
              </a:p>
              <a:p>
                <a:r>
                  <a:rPr lang="en-US" sz="1200" kern="1200" dirty="0">
                    <a:solidFill>
                      <a:schemeClr val="tx1"/>
                    </a:solidFill>
                    <a:effectLst/>
                    <a:latin typeface="+mn-lt"/>
                    <a:ea typeface="+mn-ea"/>
                    <a:cs typeface="+mn-cs"/>
                  </a:rPr>
                  <a:t>The core formula for unlocking memory is </a:t>
                </a:r>
                <a:r>
                  <a:rPr lang="en-US" sz="1200" i="0" kern="1200">
                    <a:solidFill>
                      <a:schemeClr val="tx1"/>
                    </a:solidFill>
                    <a:latin typeface="+mn-lt"/>
                    <a:ea typeface="+mn-ea"/>
                    <a:cs typeface="+mn-cs"/>
                  </a:rPr>
                  <a:t>𝑀+𝑂+𝑀=𝑀𝐸𝑀𝑂𝑅𝑌</a:t>
                </a:r>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1. Motivation:</a:t>
                </a:r>
                <a:r>
                  <a:rPr lang="en-US" sz="1200" kern="1200" dirty="0">
                    <a:solidFill>
                      <a:schemeClr val="tx1"/>
                    </a:solidFill>
                    <a:effectLst/>
                    <a:latin typeface="+mn-lt"/>
                    <a:ea typeface="+mn-ea"/>
                    <a:cs typeface="+mn-cs"/>
                  </a:rPr>
                  <a:t> Reasons reap results. If I offered you a million dollars to remember the next person's name you meet, you would remember it effortlessly. Why? Because your motivation shifted instantly. To remember something, connect the information from your head to your heart. </a:t>
                </a:r>
              </a:p>
              <a:p>
                <a:r>
                  <a:rPr lang="en-US" sz="1200" b="1" kern="1200" dirty="0">
                    <a:solidFill>
                      <a:schemeClr val="tx1"/>
                    </a:solidFill>
                    <a:effectLst/>
                    <a:latin typeface="+mn-lt"/>
                    <a:ea typeface="+mn-ea"/>
                    <a:cs typeface="+mn-cs"/>
                  </a:rPr>
                  <a:t>2. Observation:</a:t>
                </a:r>
                <a:r>
                  <a:rPr lang="en-US" sz="1200" kern="1200" dirty="0">
                    <a:solidFill>
                      <a:schemeClr val="tx1"/>
                    </a:solidFill>
                    <a:effectLst/>
                    <a:latin typeface="+mn-lt"/>
                    <a:ea typeface="+mn-ea"/>
                    <a:cs typeface="+mn-cs"/>
                  </a:rPr>
                  <a:t> The art of memory is the art of attention. Most of the time when you 'forget' a name or fact, you didn't forget it—you simply were not present when it was spoken. You were thinking about your response or scanning the room. </a:t>
                </a:r>
              </a:p>
              <a:p>
                <a:r>
                  <a:rPr lang="en-US" sz="1200" b="1" kern="1200" dirty="0">
                    <a:solidFill>
                      <a:schemeClr val="tx1"/>
                    </a:solidFill>
                    <a:effectLst/>
                    <a:latin typeface="+mn-lt"/>
                    <a:ea typeface="+mn-ea"/>
                    <a:cs typeface="+mn-cs"/>
                  </a:rPr>
                  <a:t>3. Methods:</a:t>
                </a:r>
                <a:r>
                  <a:rPr lang="en-US" sz="1200" kern="1200" dirty="0">
                    <a:solidFill>
                      <a:schemeClr val="tx1"/>
                    </a:solidFill>
                    <a:effectLst/>
                    <a:latin typeface="+mn-lt"/>
                    <a:ea typeface="+mn-ea"/>
                    <a:cs typeface="+mn-cs"/>
                  </a:rPr>
                  <a:t> Tactical encoding tools, such as the Memory Palace or spatial visualization, to lock information into long-term structures. </a:t>
                </a:r>
              </a:p>
              <a:p>
                <a:endParaRPr lang="en-US" dirty="0"/>
              </a:p>
            </p:txBody>
          </p:sp>
        </mc:Fallback>
      </mc:AlternateContent>
      <p:sp>
        <p:nvSpPr>
          <p:cNvPr id="4" name="Slide Number Placeholder 3"/>
          <p:cNvSpPr>
            <a:spLocks noGrp="1"/>
          </p:cNvSpPr>
          <p:nvPr>
            <p:ph type="sldNum" sz="quarter" idx="5"/>
          </p:nvPr>
        </p:nvSpPr>
        <p:spPr/>
        <p:txBody>
          <a:bodyPr/>
          <a:lstStyle/>
          <a:p>
            <a:fld id="{C6E52723-549F-4DAC-8F25-D33A1FDE19D1}" type="slidenum">
              <a:rPr lang="en-US" smtClean="0"/>
              <a:t>11</a:t>
            </a:fld>
            <a:endParaRPr lang="en-US"/>
          </a:p>
        </p:txBody>
      </p:sp>
    </p:spTree>
    <p:extLst>
      <p:ext uri="{BB962C8B-B14F-4D97-AF65-F5344CB8AC3E}">
        <p14:creationId xmlns:p14="http://schemas.microsoft.com/office/powerpoint/2010/main" val="6301714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When you meet someone new, you have roughly </a:t>
            </a:r>
            <a:r>
              <a:rPr lang="en-US" sz="1200" b="1" kern="1200" dirty="0">
                <a:solidFill>
                  <a:schemeClr val="tx1"/>
                </a:solidFill>
                <a:effectLst/>
                <a:latin typeface="+mn-lt"/>
                <a:ea typeface="+mn-ea"/>
                <a:cs typeface="+mn-cs"/>
              </a:rPr>
              <a:t>6 seconds</a:t>
            </a:r>
            <a:r>
              <a:rPr lang="en-US" sz="1200" kern="1200" dirty="0">
                <a:solidFill>
                  <a:schemeClr val="tx1"/>
                </a:solidFill>
                <a:effectLst/>
                <a:latin typeface="+mn-lt"/>
                <a:ea typeface="+mn-ea"/>
                <a:cs typeface="+mn-cs"/>
              </a:rPr>
              <a:t> to encode their name before it evaporates from working memory. To conquer this, use the </a:t>
            </a:r>
            <a:r>
              <a:rPr lang="en-US" sz="1200" b="1" kern="1200" dirty="0">
                <a:solidFill>
                  <a:schemeClr val="tx1"/>
                </a:solidFill>
                <a:effectLst/>
                <a:latin typeface="+mn-lt"/>
                <a:ea typeface="+mn-ea"/>
                <a:cs typeface="+mn-cs"/>
              </a:rPr>
              <a:t>S.U.A.V.E.</a:t>
            </a:r>
            <a:r>
              <a:rPr lang="en-US" sz="1200" kern="1200" dirty="0">
                <a:solidFill>
                  <a:schemeClr val="tx1"/>
                </a:solidFill>
                <a:effectLst/>
                <a:latin typeface="+mn-lt"/>
                <a:ea typeface="+mn-ea"/>
                <a:cs typeface="+mn-cs"/>
              </a:rPr>
              <a:t> protocol: </a:t>
            </a:r>
          </a:p>
          <a:p>
            <a:r>
              <a:rPr lang="en-US" sz="1200" b="1" kern="1200" dirty="0">
                <a:solidFill>
                  <a:schemeClr val="tx1"/>
                </a:solidFill>
                <a:effectLst/>
                <a:latin typeface="+mn-lt"/>
                <a:ea typeface="+mn-ea"/>
                <a:cs typeface="+mn-cs"/>
              </a:rPr>
              <a:t>S – Say:</a:t>
            </a:r>
            <a:r>
              <a:rPr lang="en-US" sz="1200" kern="1200" dirty="0">
                <a:solidFill>
                  <a:schemeClr val="tx1"/>
                </a:solidFill>
                <a:effectLst/>
                <a:latin typeface="+mn-lt"/>
                <a:ea typeface="+mn-ea"/>
                <a:cs typeface="+mn-cs"/>
              </a:rPr>
              <a:t> Repeat their name immediately upon introduction. </a:t>
            </a:r>
            <a:r>
              <a:rPr lang="en-US" sz="1200" i="1" kern="1200" dirty="0">
                <a:solidFill>
                  <a:schemeClr val="tx1"/>
                </a:solidFill>
                <a:effectLst/>
                <a:latin typeface="+mn-lt"/>
                <a:ea typeface="+mn-ea"/>
                <a:cs typeface="+mn-cs"/>
              </a:rPr>
              <a:t>'Nice to meet you, Jefferson.'</a:t>
            </a:r>
            <a:r>
              <a:rPr lang="en-US" sz="1200" kern="1200" dirty="0">
                <a:solidFill>
                  <a:schemeClr val="tx1"/>
                </a:solidFill>
                <a:effectLst/>
                <a:latin typeface="+mn-lt"/>
                <a:ea typeface="+mn-ea"/>
                <a:cs typeface="+mn-cs"/>
              </a:rPr>
              <a:t> This confirms you heard it correctly. </a:t>
            </a:r>
          </a:p>
          <a:p>
            <a:r>
              <a:rPr lang="en-US" sz="1200" b="1" kern="1200" dirty="0">
                <a:solidFill>
                  <a:schemeClr val="tx1"/>
                </a:solidFill>
                <a:effectLst/>
                <a:latin typeface="+mn-lt"/>
                <a:ea typeface="+mn-ea"/>
                <a:cs typeface="+mn-cs"/>
              </a:rPr>
              <a:t>U – Use:</a:t>
            </a:r>
            <a:r>
              <a:rPr lang="en-US" sz="1200" kern="1200" dirty="0">
                <a:solidFill>
                  <a:schemeClr val="tx1"/>
                </a:solidFill>
                <a:effectLst/>
                <a:latin typeface="+mn-lt"/>
                <a:ea typeface="+mn-ea"/>
                <a:cs typeface="+mn-cs"/>
              </a:rPr>
              <a:t> Use their name 3 to 4 times naturally in your conversation. (Avoid overusing it to the point where it sounds bizarre!) </a:t>
            </a:r>
          </a:p>
          <a:p>
            <a:r>
              <a:rPr lang="en-US" sz="1200" b="1" kern="1200" dirty="0">
                <a:solidFill>
                  <a:schemeClr val="tx1"/>
                </a:solidFill>
                <a:effectLst/>
                <a:latin typeface="+mn-lt"/>
                <a:ea typeface="+mn-ea"/>
                <a:cs typeface="+mn-cs"/>
              </a:rPr>
              <a:t>A – Ask:</a:t>
            </a:r>
            <a:r>
              <a:rPr lang="en-US" sz="1200" kern="1200" dirty="0">
                <a:solidFill>
                  <a:schemeClr val="tx1"/>
                </a:solidFill>
                <a:effectLst/>
                <a:latin typeface="+mn-lt"/>
                <a:ea typeface="+mn-ea"/>
                <a:cs typeface="+mn-cs"/>
              </a:rPr>
              <a:t> If it’s an unfamiliar or unique name, ask about its origin, spelling, or meaning. People love discussing their background, and it gives you additional contextual anchors. </a:t>
            </a:r>
          </a:p>
          <a:p>
            <a:r>
              <a:rPr lang="en-US" sz="1200" b="1" kern="1200" dirty="0">
                <a:solidFill>
                  <a:schemeClr val="tx1"/>
                </a:solidFill>
                <a:effectLst/>
                <a:latin typeface="+mn-lt"/>
                <a:ea typeface="+mn-ea"/>
                <a:cs typeface="+mn-cs"/>
              </a:rPr>
              <a:t>V – Visualize:</a:t>
            </a:r>
            <a:r>
              <a:rPr lang="en-US" sz="1200" kern="1200" dirty="0">
                <a:solidFill>
                  <a:schemeClr val="tx1"/>
                </a:solidFill>
                <a:effectLst/>
                <a:latin typeface="+mn-lt"/>
                <a:ea typeface="+mn-ea"/>
                <a:cs typeface="+mn-cs"/>
              </a:rPr>
              <a:t> Create a vivid, funny visual image in your mind during those first 6 seconds. If you meet someone named Chef, picture them in a giant chef's hat; if named David, imagine David and Goliath with a slingshot. The sillier the image, the stronger the memory hook. </a:t>
            </a:r>
          </a:p>
          <a:p>
            <a:r>
              <a:rPr lang="en-US" sz="1200" b="1" kern="1200" dirty="0">
                <a:solidFill>
                  <a:schemeClr val="tx1"/>
                </a:solidFill>
                <a:effectLst/>
                <a:latin typeface="+mn-lt"/>
                <a:ea typeface="+mn-ea"/>
                <a:cs typeface="+mn-cs"/>
              </a:rPr>
              <a:t>E – End:</a:t>
            </a:r>
            <a:r>
              <a:rPr lang="en-US" sz="1200" kern="1200" dirty="0">
                <a:solidFill>
                  <a:schemeClr val="tx1"/>
                </a:solidFill>
                <a:effectLst/>
                <a:latin typeface="+mn-lt"/>
                <a:ea typeface="+mn-ea"/>
                <a:cs typeface="+mn-cs"/>
              </a:rPr>
              <a:t> End the interaction by using their name one final time: </a:t>
            </a:r>
            <a:r>
              <a:rPr lang="en-US" sz="1200" i="1" kern="1200" dirty="0">
                <a:solidFill>
                  <a:schemeClr val="tx1"/>
                </a:solidFill>
                <a:effectLst/>
                <a:latin typeface="+mn-lt"/>
                <a:ea typeface="+mn-ea"/>
                <a:cs typeface="+mn-cs"/>
              </a:rPr>
              <a:t>'Goodbye, Jefferson.'</a:t>
            </a:r>
            <a:r>
              <a:rPr lang="en-US" sz="1200" kern="1200" dirty="0">
                <a:solidFill>
                  <a:schemeClr val="tx1"/>
                </a:solidFill>
                <a:effectLst/>
                <a:latin typeface="+mn-lt"/>
                <a:ea typeface="+mn-ea"/>
                <a:cs typeface="+mn-cs"/>
              </a:rPr>
              <a:t> If you walk out of a room of 10 strangers and say goodbye to each by name, you will be unforgettable. </a:t>
            </a:r>
          </a:p>
          <a:p>
            <a:endParaRPr lang="en-US" dirty="0"/>
          </a:p>
        </p:txBody>
      </p:sp>
      <p:sp>
        <p:nvSpPr>
          <p:cNvPr id="4" name="Slide Number Placeholder 3"/>
          <p:cNvSpPr>
            <a:spLocks noGrp="1"/>
          </p:cNvSpPr>
          <p:nvPr>
            <p:ph type="sldNum" sz="quarter" idx="5"/>
          </p:nvPr>
        </p:nvSpPr>
        <p:spPr/>
        <p:txBody>
          <a:bodyPr/>
          <a:lstStyle/>
          <a:p>
            <a:fld id="{C6E52723-549F-4DAC-8F25-D33A1FDE19D1}" type="slidenum">
              <a:rPr lang="en-US" smtClean="0"/>
              <a:t>12</a:t>
            </a:fld>
            <a:endParaRPr lang="en-US"/>
          </a:p>
        </p:txBody>
      </p:sp>
    </p:spTree>
    <p:extLst>
      <p:ext uri="{BB962C8B-B14F-4D97-AF65-F5344CB8AC3E}">
        <p14:creationId xmlns:p14="http://schemas.microsoft.com/office/powerpoint/2010/main" val="5260006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When you wake up in the morning, your brain transitions out of sleep through a state called </a:t>
            </a:r>
            <a:r>
              <a:rPr lang="en-US" sz="1200" b="1" kern="1200" dirty="0">
                <a:solidFill>
                  <a:schemeClr val="tx1"/>
                </a:solidFill>
                <a:effectLst/>
                <a:latin typeface="+mn-lt"/>
                <a:ea typeface="+mn-ea"/>
                <a:cs typeface="+mn-cs"/>
              </a:rPr>
              <a:t>sleep inertia</a:t>
            </a:r>
            <a:r>
              <a:rPr lang="en-US" sz="1200" kern="1200" dirty="0">
                <a:solidFill>
                  <a:schemeClr val="tx1"/>
                </a:solidFill>
                <a:effectLst/>
                <a:latin typeface="+mn-lt"/>
                <a:ea typeface="+mn-ea"/>
                <a:cs typeface="+mn-cs"/>
              </a:rPr>
              <a:t>. During this window, your brain waves move from delta to theta to alpha. Your working memory is completely clear and hyper-suggestible.</a:t>
            </a:r>
          </a:p>
          <a:p>
            <a:r>
              <a:rPr lang="en-US" sz="1200" kern="1200" dirty="0">
                <a:solidFill>
                  <a:schemeClr val="tx1"/>
                </a:solidFill>
                <a:effectLst/>
                <a:latin typeface="+mn-lt"/>
                <a:ea typeface="+mn-ea"/>
                <a:cs typeface="+mn-cs"/>
              </a:rPr>
              <a:t>What you input during this period has a massive, disproportionate effect on your focus, emotional state, and framing for the entire day.</a:t>
            </a:r>
          </a:p>
          <a:p>
            <a:r>
              <a:rPr lang="en-US" sz="1200" b="1" kern="1200" dirty="0">
                <a:solidFill>
                  <a:schemeClr val="tx1"/>
                </a:solidFill>
                <a:effectLst/>
                <a:latin typeface="+mn-lt"/>
                <a:ea typeface="+mn-ea"/>
                <a:cs typeface="+mn-cs"/>
              </a:rPr>
              <a:t>The Reactive Path:</a:t>
            </a:r>
            <a:r>
              <a:rPr lang="en-US" sz="1200" kern="1200" dirty="0">
                <a:solidFill>
                  <a:schemeClr val="tx1"/>
                </a:solidFill>
                <a:effectLst/>
                <a:latin typeface="+mn-lt"/>
                <a:ea typeface="+mn-ea"/>
                <a:cs typeface="+mn-cs"/>
              </a:rPr>
              <a:t> Most people grab their smartphones within seconds of opening their eyes. They flood their brain with emails, headlines, social media alerts, and outrage. This trains your brain to be hyper-reactive, anxious, and easily distracted before you even get out of bed. </a:t>
            </a:r>
          </a:p>
          <a:p>
            <a:r>
              <a:rPr lang="en-US" sz="1200" b="1" kern="1200" dirty="0">
                <a:solidFill>
                  <a:schemeClr val="tx1"/>
                </a:solidFill>
                <a:effectLst/>
                <a:latin typeface="+mn-lt"/>
                <a:ea typeface="+mn-ea"/>
                <a:cs typeface="+mn-cs"/>
              </a:rPr>
              <a:t>The Proactive Path:</a:t>
            </a:r>
            <a:r>
              <a:rPr lang="en-US" sz="1200" kern="1200" dirty="0">
                <a:solidFill>
                  <a:schemeClr val="tx1"/>
                </a:solidFill>
                <a:effectLst/>
                <a:latin typeface="+mn-lt"/>
                <a:ea typeface="+mn-ea"/>
                <a:cs typeface="+mn-cs"/>
              </a:rPr>
              <a:t> Practice </a:t>
            </a:r>
            <a:r>
              <a:rPr lang="en-US" sz="1200" b="1" kern="1200" dirty="0">
                <a:solidFill>
                  <a:schemeClr val="tx1"/>
                </a:solidFill>
                <a:effectLst/>
                <a:latin typeface="+mn-lt"/>
                <a:ea typeface="+mn-ea"/>
                <a:cs typeface="+mn-cs"/>
              </a:rPr>
              <a:t>Mind Before Media</a:t>
            </a:r>
            <a:r>
              <a:rPr lang="en-US" sz="1200" kern="1200" dirty="0">
                <a:solidFill>
                  <a:schemeClr val="tx1"/>
                </a:solidFill>
                <a:effectLst/>
                <a:latin typeface="+mn-lt"/>
                <a:ea typeface="+mn-ea"/>
                <a:cs typeface="+mn-cs"/>
              </a:rPr>
              <a:t>. Protect your first hour. Dedicate this window to intentional inputs: gratitude, goal visualization, reading, or quiet reflection. </a:t>
            </a:r>
          </a:p>
          <a:p>
            <a:r>
              <a:rPr lang="en-US" sz="1200" kern="1200" dirty="0">
                <a:solidFill>
                  <a:schemeClr val="tx1"/>
                </a:solidFill>
                <a:effectLst/>
                <a:latin typeface="+mn-lt"/>
                <a:ea typeface="+mn-ea"/>
                <a:cs typeface="+mn-cs"/>
              </a:rPr>
              <a:t>Remember the mantra: </a:t>
            </a:r>
            <a:r>
              <a:rPr lang="en-US" sz="1200" i="1" kern="1200" dirty="0">
                <a:solidFill>
                  <a:schemeClr val="tx1"/>
                </a:solidFill>
                <a:effectLst/>
                <a:latin typeface="+mn-lt"/>
                <a:ea typeface="+mn-ea"/>
                <a:cs typeface="+mn-cs"/>
              </a:rPr>
              <a:t>Mind before media. Intention before interruption. Direction before distraction.</a:t>
            </a:r>
            <a:r>
              <a:rPr lang="en-US" sz="1200" kern="1200" dirty="0">
                <a:solidFill>
                  <a:schemeClr val="tx1"/>
                </a:solidFill>
                <a:effectLst/>
                <a:latin typeface="+mn-lt"/>
                <a:ea typeface="+mn-ea"/>
                <a:cs typeface="+mn-cs"/>
              </a:rPr>
              <a:t> </a:t>
            </a:r>
          </a:p>
          <a:p>
            <a:endParaRPr lang="en-US" dirty="0"/>
          </a:p>
        </p:txBody>
      </p:sp>
      <p:sp>
        <p:nvSpPr>
          <p:cNvPr id="4" name="Slide Number Placeholder 3"/>
          <p:cNvSpPr>
            <a:spLocks noGrp="1"/>
          </p:cNvSpPr>
          <p:nvPr>
            <p:ph type="sldNum" sz="quarter" idx="5"/>
          </p:nvPr>
        </p:nvSpPr>
        <p:spPr/>
        <p:txBody>
          <a:bodyPr/>
          <a:lstStyle/>
          <a:p>
            <a:fld id="{C6E52723-549F-4DAC-8F25-D33A1FDE19D1}" type="slidenum">
              <a:rPr lang="en-US" smtClean="0"/>
              <a:t>13</a:t>
            </a:fld>
            <a:endParaRPr lang="en-US"/>
          </a:p>
        </p:txBody>
      </p:sp>
    </p:spTree>
    <p:extLst>
      <p:ext uri="{BB962C8B-B14F-4D97-AF65-F5344CB8AC3E}">
        <p14:creationId xmlns:p14="http://schemas.microsoft.com/office/powerpoint/2010/main" val="39914477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slide brings our entire ecosystem together into a single </a:t>
            </a:r>
            <a:r>
              <a:rPr lang="en-US" sz="1200" b="1" kern="1200" dirty="0">
                <a:solidFill>
                  <a:schemeClr val="tx1"/>
                </a:solidFill>
                <a:effectLst/>
                <a:latin typeface="+mn-lt"/>
                <a:ea typeface="+mn-ea"/>
                <a:cs typeface="+mn-cs"/>
              </a:rPr>
              <a:t>Cognitive Command Center</a:t>
            </a:r>
            <a:r>
              <a:rPr lang="en-US" sz="1200" kern="1200" dirty="0">
                <a:solidFill>
                  <a:schemeClr val="tx1"/>
                </a:solidFill>
                <a:effectLst/>
                <a:latin typeface="+mn-lt"/>
                <a:ea typeface="+mn-ea"/>
                <a:cs typeface="+mn-cs"/>
              </a:rPr>
              <a:t>. Think of your mind operating across four core domains: </a:t>
            </a:r>
          </a:p>
          <a:p>
            <a:pPr marL="228600" lvl="0" indent="-228600">
              <a:buFont typeface="+mj-lt"/>
              <a:buAutoNum type="arabicPeriod"/>
            </a:pPr>
            <a:r>
              <a:rPr lang="en-US" sz="1200" b="1" kern="1200" dirty="0">
                <a:solidFill>
                  <a:schemeClr val="tx1"/>
                </a:solidFill>
                <a:effectLst/>
                <a:latin typeface="+mn-lt"/>
                <a:ea typeface="+mn-ea"/>
                <a:cs typeface="+mn-cs"/>
              </a:rPr>
              <a:t>Hardware (M.E.D.S.):</a:t>
            </a:r>
            <a:r>
              <a:rPr lang="en-US" sz="1200" kern="1200" dirty="0">
                <a:solidFill>
                  <a:schemeClr val="tx1"/>
                </a:solidFill>
                <a:effectLst/>
                <a:latin typeface="+mn-lt"/>
                <a:ea typeface="+mn-ea"/>
                <a:cs typeface="+mn-cs"/>
              </a:rPr>
              <a:t> Meditate, Exercise, Diet, Sleep. Keep your physical biological organ healthy, hydrated, and neurochemically balanced. </a:t>
            </a:r>
          </a:p>
          <a:p>
            <a:pPr marL="228600" lvl="0" indent="-228600">
              <a:buFont typeface="+mj-lt"/>
              <a:buAutoNum type="arabicPeriod"/>
            </a:pPr>
            <a:r>
              <a:rPr lang="en-US" sz="1200" b="1" kern="1200" dirty="0">
                <a:solidFill>
                  <a:schemeClr val="tx1"/>
                </a:solidFill>
                <a:effectLst/>
                <a:latin typeface="+mn-lt"/>
                <a:ea typeface="+mn-ea"/>
                <a:cs typeface="+mn-cs"/>
              </a:rPr>
              <a:t>Software (M.O.M. &amp; S.U.A.V.E.):</a:t>
            </a:r>
            <a:r>
              <a:rPr lang="en-US" sz="1200" kern="1200" dirty="0">
                <a:solidFill>
                  <a:schemeClr val="tx1"/>
                </a:solidFill>
                <a:effectLst/>
                <a:latin typeface="+mn-lt"/>
                <a:ea typeface="+mn-ea"/>
                <a:cs typeface="+mn-cs"/>
              </a:rPr>
              <a:t> Drive motivation, hone active observation, and apply tactical encoding tools like S.U.A.V.E. for names and communication recall. </a:t>
            </a:r>
          </a:p>
          <a:p>
            <a:pPr marL="228600" lvl="0" indent="-228600">
              <a:buFont typeface="+mj-lt"/>
              <a:buAutoNum type="arabicPeriod"/>
            </a:pPr>
            <a:r>
              <a:rPr lang="en-US" sz="1200" b="1" kern="1200" dirty="0">
                <a:solidFill>
                  <a:schemeClr val="tx1"/>
                </a:solidFill>
                <a:effectLst/>
                <a:latin typeface="+mn-lt"/>
                <a:ea typeface="+mn-ea"/>
                <a:cs typeface="+mn-cs"/>
              </a:rPr>
              <a:t>The AI Age (B.U.I.L.D.):</a:t>
            </a:r>
            <a:r>
              <a:rPr lang="en-US" sz="1200" kern="1200" dirty="0">
                <a:solidFill>
                  <a:schemeClr val="tx1"/>
                </a:solidFill>
                <a:effectLst/>
                <a:latin typeface="+mn-lt"/>
                <a:ea typeface="+mn-ea"/>
                <a:cs typeface="+mn-cs"/>
              </a:rPr>
              <a:t> Avoid cognitive surrender. Brainstorm, Understand, Imagine, Leverage, and Decide. Use technology as an external engine, not as your core driver. </a:t>
            </a:r>
          </a:p>
          <a:p>
            <a:pPr marL="228600" lvl="0" indent="-228600">
              <a:buFont typeface="+mj-lt"/>
              <a:buAutoNum type="arabicPeriod"/>
            </a:pPr>
            <a:r>
              <a:rPr lang="en-US" sz="1200" b="1" kern="1200" dirty="0">
                <a:solidFill>
                  <a:schemeClr val="tx1"/>
                </a:solidFill>
                <a:effectLst/>
                <a:latin typeface="+mn-lt"/>
                <a:ea typeface="+mn-ea"/>
                <a:cs typeface="+mn-cs"/>
              </a:rPr>
              <a:t>Human Advantages (H.U.M.A.N.):</a:t>
            </a:r>
            <a:r>
              <a:rPr lang="en-US" sz="1200" kern="1200" dirty="0">
                <a:solidFill>
                  <a:schemeClr val="tx1"/>
                </a:solidFill>
                <a:effectLst/>
                <a:latin typeface="+mn-lt"/>
                <a:ea typeface="+mn-ea"/>
                <a:cs typeface="+mn-cs"/>
              </a:rPr>
              <a:t> Invest heavily in Heart, Understanding, Meaning, Adaptation, and Nexus networks. </a:t>
            </a:r>
          </a:p>
          <a:p>
            <a:r>
              <a:rPr lang="en-US" sz="1200" kern="1200" dirty="0">
                <a:solidFill>
                  <a:schemeClr val="tx1"/>
                </a:solidFill>
                <a:effectLst/>
                <a:latin typeface="+mn-lt"/>
                <a:ea typeface="+mn-ea"/>
                <a:cs typeface="+mn-cs"/>
              </a:rPr>
              <a:t>When you systematically optimize these four areas, you build an unstoppable, resilient cognitive edge that thrives under any environmental pressure. </a:t>
            </a:r>
          </a:p>
          <a:p>
            <a:endParaRPr lang="en-US" dirty="0"/>
          </a:p>
        </p:txBody>
      </p:sp>
      <p:sp>
        <p:nvSpPr>
          <p:cNvPr id="4" name="Slide Number Placeholder 3"/>
          <p:cNvSpPr>
            <a:spLocks noGrp="1"/>
          </p:cNvSpPr>
          <p:nvPr>
            <p:ph type="sldNum" sz="quarter" idx="5"/>
          </p:nvPr>
        </p:nvSpPr>
        <p:spPr/>
        <p:txBody>
          <a:bodyPr/>
          <a:lstStyle/>
          <a:p>
            <a:fld id="{C6E52723-549F-4DAC-8F25-D33A1FDE19D1}" type="slidenum">
              <a:rPr lang="en-US" smtClean="0"/>
              <a:t>14</a:t>
            </a:fld>
            <a:endParaRPr lang="en-US"/>
          </a:p>
        </p:txBody>
      </p:sp>
    </p:spTree>
    <p:extLst>
      <p:ext uri="{BB962C8B-B14F-4D97-AF65-F5344CB8AC3E}">
        <p14:creationId xmlns:p14="http://schemas.microsoft.com/office/powerpoint/2010/main" val="9687281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As we near the end of our deck, let’s reflect on why this work matters. </a:t>
            </a:r>
          </a:p>
          <a:p>
            <a:r>
              <a:rPr lang="en-US" sz="1200" kern="1200" dirty="0">
                <a:solidFill>
                  <a:schemeClr val="tx1"/>
                </a:solidFill>
                <a:effectLst/>
                <a:latin typeface="+mn-lt"/>
                <a:ea typeface="+mn-ea"/>
                <a:cs typeface="+mn-cs"/>
              </a:rPr>
              <a:t>It is easy to view memory, speed reading, or focus exercises as mere self-improvement productivity hacks. But in reality, your brain is the lens through which you experience every second of your existence.</a:t>
            </a:r>
          </a:p>
          <a:p>
            <a:r>
              <a:rPr lang="en-US" sz="1200" kern="1200" dirty="0">
                <a:solidFill>
                  <a:schemeClr val="tx1"/>
                </a:solidFill>
                <a:effectLst/>
                <a:latin typeface="+mn-lt"/>
                <a:ea typeface="+mn-ea"/>
                <a:cs typeface="+mn-cs"/>
              </a:rPr>
              <a:t>When you upgrade your brain, you change your decisions. When you change your decisions, you change your career, your relationships, your health, and your financial future.</a:t>
            </a:r>
          </a:p>
          <a:p>
            <a:r>
              <a:rPr lang="en-US" sz="1200" kern="1200" dirty="0">
                <a:solidFill>
                  <a:schemeClr val="tx1"/>
                </a:solidFill>
                <a:effectLst/>
                <a:latin typeface="+mn-lt"/>
                <a:ea typeface="+mn-ea"/>
                <a:cs typeface="+mn-cs"/>
              </a:rPr>
              <a:t>As Jim Kwik beautifully summarizes: </a:t>
            </a:r>
            <a:r>
              <a:rPr lang="en-US" sz="1200" i="1" kern="1200" dirty="0">
                <a:solidFill>
                  <a:schemeClr val="tx1"/>
                </a:solidFill>
                <a:effectLst/>
                <a:latin typeface="+mn-lt"/>
                <a:ea typeface="+mn-ea"/>
                <a:cs typeface="+mn-cs"/>
              </a:rPr>
              <a:t>'You change your brain, you change your life. You change your brain, you can change the world.'</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Never accept artificial limitations placed on you by past injuries, harsh labels from teachers or bosses, or self-critical inner monologue. Your brain possesses staggering plasticity—you simply need to step into driver's seat and run the right programs.</a:t>
            </a:r>
          </a:p>
          <a:p>
            <a:endParaRPr lang="en-US" dirty="0"/>
          </a:p>
        </p:txBody>
      </p:sp>
      <p:sp>
        <p:nvSpPr>
          <p:cNvPr id="4" name="Slide Number Placeholder 3"/>
          <p:cNvSpPr>
            <a:spLocks noGrp="1"/>
          </p:cNvSpPr>
          <p:nvPr>
            <p:ph type="sldNum" sz="quarter" idx="5"/>
          </p:nvPr>
        </p:nvSpPr>
        <p:spPr/>
        <p:txBody>
          <a:bodyPr/>
          <a:lstStyle/>
          <a:p>
            <a:fld id="{C6E52723-549F-4DAC-8F25-D33A1FDE19D1}" type="slidenum">
              <a:rPr lang="en-US" smtClean="0"/>
              <a:t>15</a:t>
            </a:fld>
            <a:endParaRPr lang="en-US"/>
          </a:p>
        </p:txBody>
      </p:sp>
    </p:spTree>
    <p:extLst>
      <p:ext uri="{BB962C8B-B14F-4D97-AF65-F5344CB8AC3E}">
        <p14:creationId xmlns:p14="http://schemas.microsoft.com/office/powerpoint/2010/main" val="5667246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conclude our session, Slide 16 serves as your complete single-page executive summary. Let’s review the critical highlights to lock them into memory: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Hardware Optimization:</a:t>
            </a:r>
            <a:r>
              <a:rPr lang="en-US" sz="1200" kern="1200" dirty="0">
                <a:solidFill>
                  <a:schemeClr val="tx1"/>
                </a:solidFill>
                <a:effectLst/>
                <a:latin typeface="+mn-lt"/>
                <a:ea typeface="+mn-ea"/>
                <a:cs typeface="+mn-cs"/>
              </a:rPr>
              <a:t> Prioritize the M.E.D.S. protocol (Meditation, Exercise, Diet, Sleep) to build and protect gray matter. Hydrate immediately upon waking for an instant boost in processing speed.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First Hour:</a:t>
            </a:r>
            <a:r>
              <a:rPr lang="en-US" sz="1200" kern="1200" dirty="0">
                <a:solidFill>
                  <a:schemeClr val="tx1"/>
                </a:solidFill>
                <a:effectLst/>
                <a:latin typeface="+mn-lt"/>
                <a:ea typeface="+mn-ea"/>
                <a:cs typeface="+mn-cs"/>
              </a:rPr>
              <a:t> Practice 'Mind Before Media' during the morning sleep inertia window. Avoid reactive scrolling to keep your working memory focused and proactive.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Mental Rehearsal Power:</a:t>
            </a:r>
            <a:r>
              <a:rPr lang="en-US" sz="1200" kern="1200" dirty="0">
                <a:solidFill>
                  <a:schemeClr val="tx1"/>
                </a:solidFill>
                <a:effectLst/>
                <a:latin typeface="+mn-lt"/>
                <a:ea typeface="+mn-ea"/>
                <a:cs typeface="+mn-cs"/>
              </a:rPr>
              <a:t> Remember the Chicago free-throw study—mental visualization alone created a </a:t>
            </a:r>
            <a:r>
              <a:rPr lang="en-US" sz="1200" b="1" kern="1200" dirty="0">
                <a:solidFill>
                  <a:schemeClr val="tx1"/>
                </a:solidFill>
                <a:effectLst/>
                <a:latin typeface="+mn-lt"/>
                <a:ea typeface="+mn-ea"/>
                <a:cs typeface="+mn-cs"/>
              </a:rPr>
              <a:t>24% improvement</a:t>
            </a:r>
            <a:r>
              <a:rPr lang="en-US" sz="1200" kern="1200" dirty="0">
                <a:solidFill>
                  <a:schemeClr val="tx1"/>
                </a:solidFill>
                <a:effectLst/>
                <a:latin typeface="+mn-lt"/>
                <a:ea typeface="+mn-ea"/>
                <a:cs typeface="+mn-cs"/>
              </a:rPr>
              <a:t>. Rehearse your success and key actions daily, not your fears.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Avoid the AI Trap:</a:t>
            </a:r>
            <a:r>
              <a:rPr lang="en-US" sz="1200" kern="1200" dirty="0">
                <a:solidFill>
                  <a:schemeClr val="tx1"/>
                </a:solidFill>
                <a:effectLst/>
                <a:latin typeface="+mn-lt"/>
                <a:ea typeface="+mn-ea"/>
                <a:cs typeface="+mn-cs"/>
              </a:rPr>
              <a:t> Don't fall into cognitive surrender. Independent effort yields maximum cognitive engagement and recall, whereas relying purely on AI offloading yields the lowest recall. Always apply </a:t>
            </a:r>
            <a:r>
              <a:rPr lang="en-US" sz="1200" b="1" kern="1200" dirty="0">
                <a:solidFill>
                  <a:schemeClr val="tx1"/>
                </a:solidFill>
                <a:effectLst/>
                <a:latin typeface="+mn-lt"/>
                <a:ea typeface="+mn-ea"/>
                <a:cs typeface="+mn-cs"/>
              </a:rPr>
              <a:t>B.U.I.L.D.</a:t>
            </a:r>
            <a:r>
              <a:rPr lang="en-US" sz="1200" kern="1200" dirty="0">
                <a:solidFill>
                  <a:schemeClr val="tx1"/>
                </a:solidFill>
                <a:effectLst/>
                <a:latin typeface="+mn-lt"/>
                <a:ea typeface="+mn-ea"/>
                <a:cs typeface="+mn-cs"/>
              </a:rPr>
              <a:t> before turning to AI.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H.U.M.A.N. Pillars:</a:t>
            </a:r>
            <a:r>
              <a:rPr lang="en-US" sz="1200" kern="1200" dirty="0">
                <a:solidFill>
                  <a:schemeClr val="tx1"/>
                </a:solidFill>
                <a:effectLst/>
                <a:latin typeface="+mn-lt"/>
                <a:ea typeface="+mn-ea"/>
                <a:cs typeface="+mn-cs"/>
              </a:rPr>
              <a:t> Double down on Heart, Understanding, Meaning, Adaptation, and Nexus to remain irreplaceable. </a:t>
            </a:r>
          </a:p>
          <a:p>
            <a:r>
              <a:rPr lang="en-US" sz="1200" kern="1200" dirty="0">
                <a:solidFill>
                  <a:schemeClr val="tx1"/>
                </a:solidFill>
                <a:effectLst/>
                <a:latin typeface="+mn-lt"/>
                <a:ea typeface="+mn-ea"/>
                <a:cs typeface="+mn-cs"/>
              </a:rPr>
              <a:t>Thank you for your time and focus today. Take these frameworks, apply them daily, and reclaim your cognitive edge! </a:t>
            </a:r>
          </a:p>
          <a:p>
            <a:endParaRPr lang="en-US" dirty="0"/>
          </a:p>
        </p:txBody>
      </p:sp>
      <p:sp>
        <p:nvSpPr>
          <p:cNvPr id="4" name="Slide Number Placeholder 3"/>
          <p:cNvSpPr>
            <a:spLocks noGrp="1"/>
          </p:cNvSpPr>
          <p:nvPr>
            <p:ph type="sldNum" sz="quarter" idx="5"/>
          </p:nvPr>
        </p:nvSpPr>
        <p:spPr/>
        <p:txBody>
          <a:bodyPr/>
          <a:lstStyle/>
          <a:p>
            <a:fld id="{C6E52723-549F-4DAC-8F25-D33A1FDE19D1}" type="slidenum">
              <a:rPr lang="en-US" smtClean="0"/>
              <a:t>16</a:t>
            </a:fld>
            <a:endParaRPr lang="en-US"/>
          </a:p>
        </p:txBody>
      </p:sp>
    </p:spTree>
    <p:extLst>
      <p:ext uri="{BB962C8B-B14F-4D97-AF65-F5344CB8AC3E}">
        <p14:creationId xmlns:p14="http://schemas.microsoft.com/office/powerpoint/2010/main" val="327363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E9E149D-7026-89E4-EFF2-E6BDDA52BCF5}"/>
              </a:ext>
            </a:extLst>
          </p:cNvPr>
          <p:cNvSpPr>
            <a:spLocks noGrp="1"/>
          </p:cNvSpPr>
          <p:nvPr>
            <p:ph type="dt" sz="half" idx="10"/>
          </p:nvPr>
        </p:nvSpPr>
        <p:spPr/>
        <p:txBody>
          <a:bodyPr/>
          <a:lstStyle/>
          <a:p>
            <a:fld id="{AFF4D0AB-4751-44D2-9F1F-F518D34A4EB5}" type="datetimeFigureOut">
              <a:rPr lang="en-US" smtClean="0"/>
              <a:t>10/20/2026</a:t>
            </a:fld>
            <a:endParaRPr lang="en-US"/>
          </a:p>
        </p:txBody>
      </p:sp>
      <p:sp>
        <p:nvSpPr>
          <p:cNvPr id="3" name="Footer Placeholder 2">
            <a:extLst>
              <a:ext uri="{FF2B5EF4-FFF2-40B4-BE49-F238E27FC236}">
                <a16:creationId xmlns:a16="http://schemas.microsoft.com/office/drawing/2014/main" id="{42E6B7ED-75DF-E0FE-4CAA-056A64BB0D4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8C133ED-BC93-BE39-C3C2-0EC537C1AD43}"/>
              </a:ext>
            </a:extLst>
          </p:cNvPr>
          <p:cNvSpPr>
            <a:spLocks noGrp="1"/>
          </p:cNvSpPr>
          <p:nvPr>
            <p:ph type="sldNum" sz="quarter" idx="12"/>
          </p:nvPr>
        </p:nvSpPr>
        <p:spPr/>
        <p:txBody>
          <a:bodyPr/>
          <a:lstStyle/>
          <a:p>
            <a:fld id="{CF30B443-116F-4084-80D4-20FE494461C2}" type="slidenum">
              <a:rPr lang="en-US" smtClean="0"/>
              <a:t>‹#›</a:t>
            </a:fld>
            <a:endParaRPr lang="en-US"/>
          </a:p>
        </p:txBody>
      </p:sp>
    </p:spTree>
    <p:extLst>
      <p:ext uri="{BB962C8B-B14F-4D97-AF65-F5344CB8AC3E}">
        <p14:creationId xmlns:p14="http://schemas.microsoft.com/office/powerpoint/2010/main" val="176465706"/>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86C5E0-4BB9-61B7-0B40-E1CD6F4A263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1ED090B-FF8A-F82F-42EC-31A4558DEAF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41D8BC-6F53-1489-D769-C59EB0ADAE6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FF4D0AB-4751-44D2-9F1F-F518D34A4EB5}" type="datetimeFigureOut">
              <a:rPr lang="en-US" smtClean="0"/>
              <a:t>10/20/2026</a:t>
            </a:fld>
            <a:endParaRPr lang="en-US"/>
          </a:p>
        </p:txBody>
      </p:sp>
      <p:sp>
        <p:nvSpPr>
          <p:cNvPr id="5" name="Footer Placeholder 4">
            <a:extLst>
              <a:ext uri="{FF2B5EF4-FFF2-40B4-BE49-F238E27FC236}">
                <a16:creationId xmlns:a16="http://schemas.microsoft.com/office/drawing/2014/main" id="{4BBBB768-ED08-37F8-916F-B95717707A0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03AA8F2-D7BE-A3B6-F2DC-D9819C39698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F30B443-116F-4084-80D4-20FE494461C2}" type="slidenum">
              <a:rPr lang="en-US" smtClean="0"/>
              <a:t>‹#›</a:t>
            </a:fld>
            <a:endParaRPr lang="en-US"/>
          </a:p>
        </p:txBody>
      </p:sp>
    </p:spTree>
    <p:extLst>
      <p:ext uri="{BB962C8B-B14F-4D97-AF65-F5344CB8AC3E}">
        <p14:creationId xmlns:p14="http://schemas.microsoft.com/office/powerpoint/2010/main" val="3426866930"/>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65E0420-CDC0-E490-6B7A-AF84E1B1FC8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6D5786A-14DA-9A03-F28D-817D8F10CB5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88EC336-5244-8F3B-E2AA-786938EE43D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CE61318-DB8A-904A-5AAE-85B1BE4F96D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D8E5D6E-56B8-9448-DC6A-460FD1F1D9B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9C41EB1-2D05-5911-3494-651BCEC34AB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D2AEC13-74AA-D2BA-73E2-04E0357F161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AC25B24-3FAA-5B8D-5D9D-93651BAF622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C22DE73-B023-8D64-B9CA-7424849F7A0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A3FEC38-9A2D-B542-BAF9-B184E2FFA5A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DD6A516-7D08-5FBB-1D6A-A43A6B9D063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FFD63E0-644A-0177-C596-35AD4723E9A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F967A13-2B1A-3E4F-DC3A-F86B143797B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41A7E9B-6D97-C401-4866-BF71F2AA31C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3D96B7F-DBDA-5BF1-D2A5-892A104AEC0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34F9334-CF94-96CD-4CA2-7F20408D346B}"/>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14004008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TotalTime>
  <Words>3466</Words>
  <Application>Microsoft Office PowerPoint</Application>
  <PresentationFormat>寬螢幕</PresentationFormat>
  <Paragraphs>111</Paragraphs>
  <Slides>16</Slides>
  <Notes>16</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16</vt:i4>
      </vt:variant>
    </vt:vector>
  </HeadingPairs>
  <TitlesOfParts>
    <vt:vector size="21" baseType="lpstr">
      <vt:lpstr>Aptos</vt:lpstr>
      <vt:lpstr>Aptos Display</vt:lpstr>
      <vt:lpstr>Arial</vt:lpstr>
      <vt:lpstr>Cambria Math</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2026-09-09T02:37:48Z</dcterms:created>
  <dcterms:modified xsi:type="dcterms:W3CDTF">2026-10-20T13:42:17Z</dcterms:modified>
</cp:coreProperties>
</file>