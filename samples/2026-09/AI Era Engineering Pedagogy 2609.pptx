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2547FC-ADFF-4448-88A2-B9DD14891449}" v="22" dt="2026-09-24T05:50:37.0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59009"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24T06:02:34.017" v="117" actId="22"/>
      <pc:docMkLst>
        <pc:docMk/>
      </pc:docMkLst>
      <pc:sldChg chg="addSp delSp modSp mod modAnim modNotes modNotesTx">
        <pc:chgData name="Lai, Wilson" userId="2840974a-0d84-4886-90a9-9a3ed79f3a48" providerId="ADAL" clId="{9F23B798-9E84-4552-BA63-E776E805C424}" dt="2026-09-24T05:56:25.690" v="86" actId="22"/>
        <pc:sldMkLst>
          <pc:docMk/>
          <pc:sldMk cId="0" sldId="257"/>
        </pc:sldMkLst>
        <pc:spChg chg="add mod">
          <ac:chgData name="Lai, Wilson" userId="2840974a-0d84-4886-90a9-9a3ed79f3a48" providerId="ADAL" clId="{9F23B798-9E84-4552-BA63-E776E805C424}" dt="2026-09-24T05:50:37.036" v="83" actId="164"/>
          <ac:spMkLst>
            <pc:docMk/>
            <pc:sldMk cId="0" sldId="257"/>
            <ac:spMk id="5" creationId="{2B0F1653-5966-A0E7-09E7-CE24C1D9FE9C}"/>
          </ac:spMkLst>
        </pc:spChg>
        <pc:grpChg chg="add mod">
          <ac:chgData name="Lai, Wilson" userId="2840974a-0d84-4886-90a9-9a3ed79f3a48" providerId="ADAL" clId="{9F23B798-9E84-4552-BA63-E776E805C424}" dt="2026-09-24T05:50:37.036" v="83" actId="164"/>
          <ac:grpSpMkLst>
            <pc:docMk/>
            <pc:sldMk cId="0" sldId="257"/>
            <ac:grpSpMk id="6" creationId="{E7C8419C-E262-1BAB-0533-4581F0D1FFF1}"/>
          </ac:grpSpMkLst>
        </pc:grpChg>
        <pc:picChg chg="del ord">
          <ac:chgData name="Lai, Wilson" userId="2840974a-0d84-4886-90a9-9a3ed79f3a48" providerId="ADAL" clId="{9F23B798-9E84-4552-BA63-E776E805C424}" dt="2026-09-24T05:55:59.919" v="85" actId="21"/>
          <ac:picMkLst>
            <pc:docMk/>
            <pc:sldMk cId="0" sldId="257"/>
            <ac:picMk id="2" creationId="{00000000-0000-0000-0000-000000000000}"/>
          </ac:picMkLst>
        </pc:picChg>
        <pc:picChg chg="add mod">
          <ac:chgData name="Lai, Wilson" userId="2840974a-0d84-4886-90a9-9a3ed79f3a48" providerId="ADAL" clId="{9F23B798-9E84-4552-BA63-E776E805C424}" dt="2026-09-24T05:50:37.036" v="83" actId="164"/>
          <ac:picMkLst>
            <pc:docMk/>
            <pc:sldMk cId="0" sldId="257"/>
            <ac:picMk id="3" creationId="{18F97159-522F-CD53-5474-F0D7AEB1889E}"/>
          </ac:picMkLst>
        </pc:picChg>
        <pc:picChg chg="add">
          <ac:chgData name="Lai, Wilson" userId="2840974a-0d84-4886-90a9-9a3ed79f3a48" providerId="ADAL" clId="{9F23B798-9E84-4552-BA63-E776E805C424}" dt="2026-09-24T05:56:25.690" v="86" actId="22"/>
          <ac:picMkLst>
            <pc:docMk/>
            <pc:sldMk cId="0" sldId="257"/>
            <ac:picMk id="7" creationId="{458D5FCD-9866-E052-8655-484534ABD89E}"/>
          </ac:picMkLst>
        </pc:picChg>
      </pc:sldChg>
      <pc:sldChg chg="addSp delSp mod modNotes modNotesTx">
        <pc:chgData name="Lai, Wilson" userId="2840974a-0d84-4886-90a9-9a3ed79f3a48" providerId="ADAL" clId="{9F23B798-9E84-4552-BA63-E776E805C424}" dt="2026-09-24T05:56:38.763" v="88" actId="22"/>
        <pc:sldMkLst>
          <pc:docMk/>
          <pc:sldMk cId="0" sldId="258"/>
        </pc:sldMkLst>
        <pc:picChg chg="del">
          <ac:chgData name="Lai, Wilson" userId="2840974a-0d84-4886-90a9-9a3ed79f3a48" providerId="ADAL" clId="{9F23B798-9E84-4552-BA63-E776E805C424}" dt="2026-09-24T05:56:27.451" v="87" actId="21"/>
          <ac:picMkLst>
            <pc:docMk/>
            <pc:sldMk cId="0" sldId="258"/>
            <ac:picMk id="2" creationId="{00000000-0000-0000-0000-000000000000}"/>
          </ac:picMkLst>
        </pc:picChg>
        <pc:picChg chg="add">
          <ac:chgData name="Lai, Wilson" userId="2840974a-0d84-4886-90a9-9a3ed79f3a48" providerId="ADAL" clId="{9F23B798-9E84-4552-BA63-E776E805C424}" dt="2026-09-24T05:56:38.763" v="88" actId="22"/>
          <ac:picMkLst>
            <pc:docMk/>
            <pc:sldMk cId="0" sldId="258"/>
            <ac:picMk id="4" creationId="{A33A12BE-8D3F-EE09-9174-A6F2A3246DCB}"/>
          </ac:picMkLst>
        </pc:picChg>
      </pc:sldChg>
      <pc:sldChg chg="addSp delSp mod modNotes modNotesTx">
        <pc:chgData name="Lai, Wilson" userId="2840974a-0d84-4886-90a9-9a3ed79f3a48" providerId="ADAL" clId="{9F23B798-9E84-4552-BA63-E776E805C424}" dt="2026-09-24T05:56:48.440" v="90" actId="22"/>
        <pc:sldMkLst>
          <pc:docMk/>
          <pc:sldMk cId="0" sldId="259"/>
        </pc:sldMkLst>
        <pc:picChg chg="del">
          <ac:chgData name="Lai, Wilson" userId="2840974a-0d84-4886-90a9-9a3ed79f3a48" providerId="ADAL" clId="{9F23B798-9E84-4552-BA63-E776E805C424}" dt="2026-09-24T05:56:40.257" v="89" actId="21"/>
          <ac:picMkLst>
            <pc:docMk/>
            <pc:sldMk cId="0" sldId="259"/>
            <ac:picMk id="2" creationId="{00000000-0000-0000-0000-000000000000}"/>
          </ac:picMkLst>
        </pc:picChg>
        <pc:picChg chg="add">
          <ac:chgData name="Lai, Wilson" userId="2840974a-0d84-4886-90a9-9a3ed79f3a48" providerId="ADAL" clId="{9F23B798-9E84-4552-BA63-E776E805C424}" dt="2026-09-24T05:56:48.440" v="90" actId="22"/>
          <ac:picMkLst>
            <pc:docMk/>
            <pc:sldMk cId="0" sldId="259"/>
            <ac:picMk id="4" creationId="{09F0E3F7-D355-0A84-70AD-E4CEBC4C3EF7}"/>
          </ac:picMkLst>
        </pc:picChg>
      </pc:sldChg>
      <pc:sldChg chg="addSp delSp mod modNotes modNotesTx">
        <pc:chgData name="Lai, Wilson" userId="2840974a-0d84-4886-90a9-9a3ed79f3a48" providerId="ADAL" clId="{9F23B798-9E84-4552-BA63-E776E805C424}" dt="2026-09-24T05:57:55.045" v="92" actId="22"/>
        <pc:sldMkLst>
          <pc:docMk/>
          <pc:sldMk cId="0" sldId="260"/>
        </pc:sldMkLst>
        <pc:picChg chg="del">
          <ac:chgData name="Lai, Wilson" userId="2840974a-0d84-4886-90a9-9a3ed79f3a48" providerId="ADAL" clId="{9F23B798-9E84-4552-BA63-E776E805C424}" dt="2026-09-24T05:56:49.749" v="91" actId="21"/>
          <ac:picMkLst>
            <pc:docMk/>
            <pc:sldMk cId="0" sldId="260"/>
            <ac:picMk id="2" creationId="{00000000-0000-0000-0000-000000000000}"/>
          </ac:picMkLst>
        </pc:picChg>
        <pc:picChg chg="add">
          <ac:chgData name="Lai, Wilson" userId="2840974a-0d84-4886-90a9-9a3ed79f3a48" providerId="ADAL" clId="{9F23B798-9E84-4552-BA63-E776E805C424}" dt="2026-09-24T05:57:55.045" v="92" actId="22"/>
          <ac:picMkLst>
            <pc:docMk/>
            <pc:sldMk cId="0" sldId="260"/>
            <ac:picMk id="4" creationId="{6BA657CE-596B-0F15-FF1F-F4E3DE032FE4}"/>
          </ac:picMkLst>
        </pc:picChg>
      </pc:sldChg>
      <pc:sldChg chg="addSp delSp mod modNotes modNotesTx">
        <pc:chgData name="Lai, Wilson" userId="2840974a-0d84-4886-90a9-9a3ed79f3a48" providerId="ADAL" clId="{9F23B798-9E84-4552-BA63-E776E805C424}" dt="2026-09-24T05:58:17.011" v="94" actId="22"/>
        <pc:sldMkLst>
          <pc:docMk/>
          <pc:sldMk cId="0" sldId="261"/>
        </pc:sldMkLst>
        <pc:picChg chg="del">
          <ac:chgData name="Lai, Wilson" userId="2840974a-0d84-4886-90a9-9a3ed79f3a48" providerId="ADAL" clId="{9F23B798-9E84-4552-BA63-E776E805C424}" dt="2026-09-24T05:57:57.555" v="93" actId="21"/>
          <ac:picMkLst>
            <pc:docMk/>
            <pc:sldMk cId="0" sldId="261"/>
            <ac:picMk id="2" creationId="{00000000-0000-0000-0000-000000000000}"/>
          </ac:picMkLst>
        </pc:picChg>
        <pc:picChg chg="add">
          <ac:chgData name="Lai, Wilson" userId="2840974a-0d84-4886-90a9-9a3ed79f3a48" providerId="ADAL" clId="{9F23B798-9E84-4552-BA63-E776E805C424}" dt="2026-09-24T05:58:17.011" v="94" actId="22"/>
          <ac:picMkLst>
            <pc:docMk/>
            <pc:sldMk cId="0" sldId="261"/>
            <ac:picMk id="4" creationId="{52FEF000-3DA8-E28D-5F65-8F52CBBD785A}"/>
          </ac:picMkLst>
        </pc:picChg>
      </pc:sldChg>
      <pc:sldChg chg="addSp delSp mod modNotes modNotesTx">
        <pc:chgData name="Lai, Wilson" userId="2840974a-0d84-4886-90a9-9a3ed79f3a48" providerId="ADAL" clId="{9F23B798-9E84-4552-BA63-E776E805C424}" dt="2026-09-24T05:58:25.536" v="96" actId="22"/>
        <pc:sldMkLst>
          <pc:docMk/>
          <pc:sldMk cId="0" sldId="262"/>
        </pc:sldMkLst>
        <pc:picChg chg="del">
          <ac:chgData name="Lai, Wilson" userId="2840974a-0d84-4886-90a9-9a3ed79f3a48" providerId="ADAL" clId="{9F23B798-9E84-4552-BA63-E776E805C424}" dt="2026-09-24T05:58:18.426" v="95" actId="21"/>
          <ac:picMkLst>
            <pc:docMk/>
            <pc:sldMk cId="0" sldId="262"/>
            <ac:picMk id="2" creationId="{00000000-0000-0000-0000-000000000000}"/>
          </ac:picMkLst>
        </pc:picChg>
        <pc:picChg chg="add">
          <ac:chgData name="Lai, Wilson" userId="2840974a-0d84-4886-90a9-9a3ed79f3a48" providerId="ADAL" clId="{9F23B798-9E84-4552-BA63-E776E805C424}" dt="2026-09-24T05:58:25.536" v="96" actId="22"/>
          <ac:picMkLst>
            <pc:docMk/>
            <pc:sldMk cId="0" sldId="262"/>
            <ac:picMk id="4" creationId="{3CAE95DF-4753-E711-5CB3-D3105C5DA6DF}"/>
          </ac:picMkLst>
        </pc:picChg>
      </pc:sldChg>
      <pc:sldChg chg="addSp delSp modSp mod setBg modNotes modNotesTx">
        <pc:chgData name="Lai, Wilson" userId="2840974a-0d84-4886-90a9-9a3ed79f3a48" providerId="ADAL" clId="{9F23B798-9E84-4552-BA63-E776E805C424}" dt="2026-09-24T05:59:30.831" v="99" actId="22"/>
        <pc:sldMkLst>
          <pc:docMk/>
          <pc:sldMk cId="0" sldId="263"/>
        </pc:sldMkLst>
        <pc:spChg chg="add">
          <ac:chgData name="Lai, Wilson" userId="2840974a-0d84-4886-90a9-9a3ed79f3a48" providerId="ADAL" clId="{9F23B798-9E84-4552-BA63-E776E805C424}" dt="2026-09-24T05:58:34.518" v="97" actId="26606"/>
          <ac:spMkLst>
            <pc:docMk/>
            <pc:sldMk cId="0" sldId="263"/>
            <ac:spMk id="7" creationId="{42A4FC2C-047E-45A5-965D-8E1E3BF09BC6}"/>
          </ac:spMkLst>
        </pc:spChg>
        <pc:picChg chg="del mod">
          <ac:chgData name="Lai, Wilson" userId="2840974a-0d84-4886-90a9-9a3ed79f3a48" providerId="ADAL" clId="{9F23B798-9E84-4552-BA63-E776E805C424}" dt="2026-09-24T05:58:36.385" v="98" actId="21"/>
          <ac:picMkLst>
            <pc:docMk/>
            <pc:sldMk cId="0" sldId="263"/>
            <ac:picMk id="2" creationId="{00000000-0000-0000-0000-000000000000}"/>
          </ac:picMkLst>
        </pc:picChg>
        <pc:picChg chg="add">
          <ac:chgData name="Lai, Wilson" userId="2840974a-0d84-4886-90a9-9a3ed79f3a48" providerId="ADAL" clId="{9F23B798-9E84-4552-BA63-E776E805C424}" dt="2026-09-24T05:59:30.831" v="99" actId="22"/>
          <ac:picMkLst>
            <pc:docMk/>
            <pc:sldMk cId="0" sldId="263"/>
            <ac:picMk id="4" creationId="{CFBC07BB-8E6D-36BF-0F38-A132C792273C}"/>
          </ac:picMkLst>
        </pc:picChg>
      </pc:sldChg>
      <pc:sldChg chg="addSp delSp mod modNotes modNotesTx">
        <pc:chgData name="Lai, Wilson" userId="2840974a-0d84-4886-90a9-9a3ed79f3a48" providerId="ADAL" clId="{9F23B798-9E84-4552-BA63-E776E805C424}" dt="2026-09-24T05:59:47.794" v="101" actId="22"/>
        <pc:sldMkLst>
          <pc:docMk/>
          <pc:sldMk cId="0" sldId="264"/>
        </pc:sldMkLst>
        <pc:picChg chg="del">
          <ac:chgData name="Lai, Wilson" userId="2840974a-0d84-4886-90a9-9a3ed79f3a48" providerId="ADAL" clId="{9F23B798-9E84-4552-BA63-E776E805C424}" dt="2026-09-24T05:59:40.814" v="100" actId="21"/>
          <ac:picMkLst>
            <pc:docMk/>
            <pc:sldMk cId="0" sldId="264"/>
            <ac:picMk id="2" creationId="{00000000-0000-0000-0000-000000000000}"/>
          </ac:picMkLst>
        </pc:picChg>
        <pc:picChg chg="add">
          <ac:chgData name="Lai, Wilson" userId="2840974a-0d84-4886-90a9-9a3ed79f3a48" providerId="ADAL" clId="{9F23B798-9E84-4552-BA63-E776E805C424}" dt="2026-09-24T05:59:47.794" v="101" actId="22"/>
          <ac:picMkLst>
            <pc:docMk/>
            <pc:sldMk cId="0" sldId="264"/>
            <ac:picMk id="4" creationId="{2571C394-4643-A8C5-FA2F-60934907ED85}"/>
          </ac:picMkLst>
        </pc:picChg>
      </pc:sldChg>
      <pc:sldChg chg="addSp delSp mod modNotes modNotesTx">
        <pc:chgData name="Lai, Wilson" userId="2840974a-0d84-4886-90a9-9a3ed79f3a48" providerId="ADAL" clId="{9F23B798-9E84-4552-BA63-E776E805C424}" dt="2026-09-24T05:59:57.649" v="103" actId="22"/>
        <pc:sldMkLst>
          <pc:docMk/>
          <pc:sldMk cId="0" sldId="265"/>
        </pc:sldMkLst>
        <pc:picChg chg="del">
          <ac:chgData name="Lai, Wilson" userId="2840974a-0d84-4886-90a9-9a3ed79f3a48" providerId="ADAL" clId="{9F23B798-9E84-4552-BA63-E776E805C424}" dt="2026-09-24T05:59:49.134" v="102" actId="21"/>
          <ac:picMkLst>
            <pc:docMk/>
            <pc:sldMk cId="0" sldId="265"/>
            <ac:picMk id="2" creationId="{00000000-0000-0000-0000-000000000000}"/>
          </ac:picMkLst>
        </pc:picChg>
        <pc:picChg chg="add">
          <ac:chgData name="Lai, Wilson" userId="2840974a-0d84-4886-90a9-9a3ed79f3a48" providerId="ADAL" clId="{9F23B798-9E84-4552-BA63-E776E805C424}" dt="2026-09-24T05:59:57.649" v="103" actId="22"/>
          <ac:picMkLst>
            <pc:docMk/>
            <pc:sldMk cId="0" sldId="265"/>
            <ac:picMk id="4" creationId="{552588FA-4B52-EE2C-5CFE-8C6279E2352E}"/>
          </ac:picMkLst>
        </pc:picChg>
      </pc:sldChg>
      <pc:sldChg chg="addSp delSp mod modNotes modNotesTx">
        <pc:chgData name="Lai, Wilson" userId="2840974a-0d84-4886-90a9-9a3ed79f3a48" providerId="ADAL" clId="{9F23B798-9E84-4552-BA63-E776E805C424}" dt="2026-09-24T06:00:07.516" v="105" actId="22"/>
        <pc:sldMkLst>
          <pc:docMk/>
          <pc:sldMk cId="0" sldId="266"/>
        </pc:sldMkLst>
        <pc:picChg chg="del">
          <ac:chgData name="Lai, Wilson" userId="2840974a-0d84-4886-90a9-9a3ed79f3a48" providerId="ADAL" clId="{9F23B798-9E84-4552-BA63-E776E805C424}" dt="2026-09-24T05:59:59.260" v="104" actId="21"/>
          <ac:picMkLst>
            <pc:docMk/>
            <pc:sldMk cId="0" sldId="266"/>
            <ac:picMk id="2" creationId="{00000000-0000-0000-0000-000000000000}"/>
          </ac:picMkLst>
        </pc:picChg>
        <pc:picChg chg="add">
          <ac:chgData name="Lai, Wilson" userId="2840974a-0d84-4886-90a9-9a3ed79f3a48" providerId="ADAL" clId="{9F23B798-9E84-4552-BA63-E776E805C424}" dt="2026-09-24T06:00:07.516" v="105" actId="22"/>
          <ac:picMkLst>
            <pc:docMk/>
            <pc:sldMk cId="0" sldId="266"/>
            <ac:picMk id="4" creationId="{DA0DB8F9-F172-9727-BBF7-AB65AA945AF1}"/>
          </ac:picMkLst>
        </pc:picChg>
      </pc:sldChg>
      <pc:sldChg chg="addSp delSp mod modNotes modNotesTx">
        <pc:chgData name="Lai, Wilson" userId="2840974a-0d84-4886-90a9-9a3ed79f3a48" providerId="ADAL" clId="{9F23B798-9E84-4552-BA63-E776E805C424}" dt="2026-09-24T06:00:25.960" v="107" actId="22"/>
        <pc:sldMkLst>
          <pc:docMk/>
          <pc:sldMk cId="0" sldId="267"/>
        </pc:sldMkLst>
        <pc:picChg chg="del">
          <ac:chgData name="Lai, Wilson" userId="2840974a-0d84-4886-90a9-9a3ed79f3a48" providerId="ADAL" clId="{9F23B798-9E84-4552-BA63-E776E805C424}" dt="2026-09-24T06:00:10.920" v="106" actId="21"/>
          <ac:picMkLst>
            <pc:docMk/>
            <pc:sldMk cId="0" sldId="267"/>
            <ac:picMk id="2" creationId="{00000000-0000-0000-0000-000000000000}"/>
          </ac:picMkLst>
        </pc:picChg>
        <pc:picChg chg="add">
          <ac:chgData name="Lai, Wilson" userId="2840974a-0d84-4886-90a9-9a3ed79f3a48" providerId="ADAL" clId="{9F23B798-9E84-4552-BA63-E776E805C424}" dt="2026-09-24T06:00:25.960" v="107" actId="22"/>
          <ac:picMkLst>
            <pc:docMk/>
            <pc:sldMk cId="0" sldId="267"/>
            <ac:picMk id="4" creationId="{7025610F-D988-C899-337C-35F521F4DA4B}"/>
          </ac:picMkLst>
        </pc:picChg>
      </pc:sldChg>
      <pc:sldChg chg="addSp delSp mod modNotes modNotesTx">
        <pc:chgData name="Lai, Wilson" userId="2840974a-0d84-4886-90a9-9a3ed79f3a48" providerId="ADAL" clId="{9F23B798-9E84-4552-BA63-E776E805C424}" dt="2026-09-24T06:00:35.096" v="109" actId="22"/>
        <pc:sldMkLst>
          <pc:docMk/>
          <pc:sldMk cId="0" sldId="268"/>
        </pc:sldMkLst>
        <pc:picChg chg="del">
          <ac:chgData name="Lai, Wilson" userId="2840974a-0d84-4886-90a9-9a3ed79f3a48" providerId="ADAL" clId="{9F23B798-9E84-4552-BA63-E776E805C424}" dt="2026-09-24T06:00:28.214" v="108" actId="21"/>
          <ac:picMkLst>
            <pc:docMk/>
            <pc:sldMk cId="0" sldId="268"/>
            <ac:picMk id="2" creationId="{00000000-0000-0000-0000-000000000000}"/>
          </ac:picMkLst>
        </pc:picChg>
        <pc:picChg chg="add">
          <ac:chgData name="Lai, Wilson" userId="2840974a-0d84-4886-90a9-9a3ed79f3a48" providerId="ADAL" clId="{9F23B798-9E84-4552-BA63-E776E805C424}" dt="2026-09-24T06:00:35.096" v="109" actId="22"/>
          <ac:picMkLst>
            <pc:docMk/>
            <pc:sldMk cId="0" sldId="268"/>
            <ac:picMk id="4" creationId="{BBE6AE9E-F2A3-48BD-E4CD-B8CE287EA0DA}"/>
          </ac:picMkLst>
        </pc:picChg>
      </pc:sldChg>
      <pc:sldChg chg="addSp delSp mod modNotes modNotesTx">
        <pc:chgData name="Lai, Wilson" userId="2840974a-0d84-4886-90a9-9a3ed79f3a48" providerId="ADAL" clId="{9F23B798-9E84-4552-BA63-E776E805C424}" dt="2026-09-24T06:00:47.857" v="111" actId="22"/>
        <pc:sldMkLst>
          <pc:docMk/>
          <pc:sldMk cId="0" sldId="269"/>
        </pc:sldMkLst>
        <pc:picChg chg="del">
          <ac:chgData name="Lai, Wilson" userId="2840974a-0d84-4886-90a9-9a3ed79f3a48" providerId="ADAL" clId="{9F23B798-9E84-4552-BA63-E776E805C424}" dt="2026-09-24T06:00:37.526" v="110" actId="21"/>
          <ac:picMkLst>
            <pc:docMk/>
            <pc:sldMk cId="0" sldId="269"/>
            <ac:picMk id="2" creationId="{00000000-0000-0000-0000-000000000000}"/>
          </ac:picMkLst>
        </pc:picChg>
        <pc:picChg chg="add">
          <ac:chgData name="Lai, Wilson" userId="2840974a-0d84-4886-90a9-9a3ed79f3a48" providerId="ADAL" clId="{9F23B798-9E84-4552-BA63-E776E805C424}" dt="2026-09-24T06:00:47.857" v="111" actId="22"/>
          <ac:picMkLst>
            <pc:docMk/>
            <pc:sldMk cId="0" sldId="269"/>
            <ac:picMk id="4" creationId="{80CCA398-0417-7F0B-C302-81152AF2E424}"/>
          </ac:picMkLst>
        </pc:picChg>
      </pc:sldChg>
      <pc:sldChg chg="addSp delSp mod modNotes modNotesTx">
        <pc:chgData name="Lai, Wilson" userId="2840974a-0d84-4886-90a9-9a3ed79f3a48" providerId="ADAL" clId="{9F23B798-9E84-4552-BA63-E776E805C424}" dt="2026-09-24T06:02:04.028" v="113" actId="22"/>
        <pc:sldMkLst>
          <pc:docMk/>
          <pc:sldMk cId="0" sldId="270"/>
        </pc:sldMkLst>
        <pc:picChg chg="del">
          <ac:chgData name="Lai, Wilson" userId="2840974a-0d84-4886-90a9-9a3ed79f3a48" providerId="ADAL" clId="{9F23B798-9E84-4552-BA63-E776E805C424}" dt="2026-09-24T06:00:49.338" v="112" actId="21"/>
          <ac:picMkLst>
            <pc:docMk/>
            <pc:sldMk cId="0" sldId="270"/>
            <ac:picMk id="2" creationId="{00000000-0000-0000-0000-000000000000}"/>
          </ac:picMkLst>
        </pc:picChg>
        <pc:picChg chg="add">
          <ac:chgData name="Lai, Wilson" userId="2840974a-0d84-4886-90a9-9a3ed79f3a48" providerId="ADAL" clId="{9F23B798-9E84-4552-BA63-E776E805C424}" dt="2026-09-24T06:02:04.028" v="113" actId="22"/>
          <ac:picMkLst>
            <pc:docMk/>
            <pc:sldMk cId="0" sldId="270"/>
            <ac:picMk id="4" creationId="{17DCB8CA-B097-A79E-64F1-B9A62494AEB7}"/>
          </ac:picMkLst>
        </pc:picChg>
      </pc:sldChg>
      <pc:sldChg chg="addSp delSp mod modNotes modNotesTx">
        <pc:chgData name="Lai, Wilson" userId="2840974a-0d84-4886-90a9-9a3ed79f3a48" providerId="ADAL" clId="{9F23B798-9E84-4552-BA63-E776E805C424}" dt="2026-09-24T06:02:16.699" v="115" actId="22"/>
        <pc:sldMkLst>
          <pc:docMk/>
          <pc:sldMk cId="0" sldId="271"/>
        </pc:sldMkLst>
        <pc:picChg chg="del">
          <ac:chgData name="Lai, Wilson" userId="2840974a-0d84-4886-90a9-9a3ed79f3a48" providerId="ADAL" clId="{9F23B798-9E84-4552-BA63-E776E805C424}" dt="2026-09-24T06:02:08.549" v="114" actId="21"/>
          <ac:picMkLst>
            <pc:docMk/>
            <pc:sldMk cId="0" sldId="271"/>
            <ac:picMk id="2" creationId="{00000000-0000-0000-0000-000000000000}"/>
          </ac:picMkLst>
        </pc:picChg>
        <pc:picChg chg="add">
          <ac:chgData name="Lai, Wilson" userId="2840974a-0d84-4886-90a9-9a3ed79f3a48" providerId="ADAL" clId="{9F23B798-9E84-4552-BA63-E776E805C424}" dt="2026-09-24T06:02:16.699" v="115" actId="22"/>
          <ac:picMkLst>
            <pc:docMk/>
            <pc:sldMk cId="0" sldId="271"/>
            <ac:picMk id="4" creationId="{95C28192-38CA-5260-D499-A8B862240400}"/>
          </ac:picMkLst>
        </pc:picChg>
      </pc:sldChg>
      <pc:sldChg chg="addSp delSp modSp mod modNotes modNotesTx">
        <pc:chgData name="Lai, Wilson" userId="2840974a-0d84-4886-90a9-9a3ed79f3a48" providerId="ADAL" clId="{9F23B798-9E84-4552-BA63-E776E805C424}" dt="2026-09-24T06:02:34.017" v="117" actId="22"/>
        <pc:sldMkLst>
          <pc:docMk/>
          <pc:sldMk cId="912418826" sldId="272"/>
        </pc:sldMkLst>
        <pc:picChg chg="add del mod">
          <ac:chgData name="Lai, Wilson" userId="2840974a-0d84-4886-90a9-9a3ed79f3a48" providerId="ADAL" clId="{9F23B798-9E84-4552-BA63-E776E805C424}" dt="2026-09-24T06:02:19.225" v="116" actId="21"/>
          <ac:picMkLst>
            <pc:docMk/>
            <pc:sldMk cId="912418826" sldId="272"/>
            <ac:picMk id="3" creationId="{F41A51A9-2508-7936-1425-A16F3781338F}"/>
          </ac:picMkLst>
        </pc:picChg>
        <pc:picChg chg="add">
          <ac:chgData name="Lai, Wilson" userId="2840974a-0d84-4886-90a9-9a3ed79f3a48" providerId="ADAL" clId="{9F23B798-9E84-4552-BA63-E776E805C424}" dt="2026-09-24T06:02:34.017" v="117" actId="22"/>
          <ac:picMkLst>
            <pc:docMk/>
            <pc:sldMk cId="912418826" sldId="272"/>
            <ac:picMk id="4" creationId="{CA339755-A57E-22F0-C8A9-45F7DFF69D8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F6B0CF-4CD7-447B-BFE7-F5414EC577A9}"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6C8764-EE1E-4E72-A622-53BCE1C9AF6F}" type="slidenum">
              <a:rPr lang="en-US" smtClean="0"/>
              <a:t>‹#›</a:t>
            </a:fld>
            <a:endParaRPr lang="en-US"/>
          </a:p>
        </p:txBody>
      </p:sp>
    </p:spTree>
    <p:extLst>
      <p:ext uri="{BB962C8B-B14F-4D97-AF65-F5344CB8AC3E}">
        <p14:creationId xmlns:p14="http://schemas.microsoft.com/office/powerpoint/2010/main" val="4213616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we're diving into a fundamentally crucial topic for modern software organizations and technical educators alike: how software engineering education must adapt in an era defined by generative AI. </a:t>
            </a:r>
          </a:p>
          <a:p>
            <a:r>
              <a:rPr lang="en-US" sz="1200" kern="1200" dirty="0">
                <a:solidFill>
                  <a:schemeClr val="tx1"/>
                </a:solidFill>
                <a:effectLst/>
                <a:latin typeface="+mn-lt"/>
                <a:ea typeface="+mn-ea"/>
                <a:cs typeface="+mn-cs"/>
              </a:rPr>
              <a:t>Look at the pseudocode on this slide. It outlines a core dilemma we face today: </a:t>
            </a:r>
          </a:p>
          <a:p>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OCaml</a:t>
            </a:r>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cost_of_plausible_PR</a:t>
            </a:r>
            <a:r>
              <a:rPr lang="en-US" sz="1200" kern="1200" dirty="0">
                <a:solidFill>
                  <a:schemeClr val="tx1"/>
                </a:solidFill>
                <a:effectLst/>
                <a:latin typeface="+mn-lt"/>
                <a:ea typeface="+mn-ea"/>
                <a:cs typeface="+mn-cs"/>
              </a:rPr>
              <a:t> = 0;   (* AI writes it instantly *)</a:t>
            </a:r>
          </a:p>
          <a:p>
            <a:r>
              <a:rPr lang="en-US" sz="1200" kern="1200" dirty="0" err="1">
                <a:solidFill>
                  <a:schemeClr val="tx1"/>
                </a:solidFill>
                <a:effectLst/>
                <a:latin typeface="+mn-lt"/>
                <a:ea typeface="+mn-ea"/>
                <a:cs typeface="+mn-cs"/>
              </a:rPr>
              <a:t>cost_of_verification</a:t>
            </a:r>
            <a:r>
              <a:rPr lang="en-US" sz="1200" kern="1200" dirty="0">
                <a:solidFill>
                  <a:schemeClr val="tx1"/>
                </a:solidFill>
                <a:effectLst/>
                <a:latin typeface="+mn-lt"/>
                <a:ea typeface="+mn-ea"/>
                <a:cs typeface="+mn-cs"/>
              </a:rPr>
              <a:t> = MAX; (* Human must reverse-engineer intent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decades, the primary bottleneck in software engineering was </a:t>
            </a:r>
            <a:r>
              <a:rPr lang="en-US" sz="1200" b="1" kern="1200" dirty="0">
                <a:solidFill>
                  <a:schemeClr val="tx1"/>
                </a:solidFill>
                <a:effectLst/>
                <a:latin typeface="+mn-lt"/>
                <a:ea typeface="+mn-ea"/>
                <a:cs typeface="+mn-cs"/>
              </a:rPr>
              <a:t>authoring code</a:t>
            </a:r>
            <a:r>
              <a:rPr lang="en-US" sz="1200" kern="1200" dirty="0">
                <a:solidFill>
                  <a:schemeClr val="tx1"/>
                </a:solidFill>
                <a:effectLst/>
                <a:latin typeface="+mn-lt"/>
                <a:ea typeface="+mn-ea"/>
                <a:cs typeface="+mn-cs"/>
              </a:rPr>
              <a:t>—getting syntactically correct, performant code written and committed. But today, Large Language Models have pushed the cost of generating plausible-looking pull requests down to zero. </a:t>
            </a:r>
          </a:p>
          <a:p>
            <a:r>
              <a:rPr lang="en-US" sz="1200" kern="1200" dirty="0">
                <a:solidFill>
                  <a:schemeClr val="tx1"/>
                </a:solidFill>
                <a:effectLst/>
                <a:latin typeface="+mn-lt"/>
                <a:ea typeface="+mn-ea"/>
                <a:cs typeface="+mn-cs"/>
              </a:rPr>
              <a:t>However, generating plausible code is not the same as generating correct, maintainable, and secure system architectures. As authoring becomes trivial, the bottleneck shifts entirely to </a:t>
            </a:r>
            <a:r>
              <a:rPr lang="en-US" sz="1200" b="1" kern="1200" dirty="0">
                <a:solidFill>
                  <a:schemeClr val="tx1"/>
                </a:solidFill>
                <a:effectLst/>
                <a:latin typeface="+mn-lt"/>
                <a:ea typeface="+mn-ea"/>
                <a:cs typeface="+mn-cs"/>
              </a:rPr>
              <a:t>human comprehension and verification</a:t>
            </a:r>
            <a:r>
              <a:rPr lang="en-US" sz="1200" kern="1200" dirty="0">
                <a:solidFill>
                  <a:schemeClr val="tx1"/>
                </a:solidFill>
                <a:effectLst/>
                <a:latin typeface="+mn-lt"/>
                <a:ea typeface="+mn-ea"/>
                <a:cs typeface="+mn-cs"/>
              </a:rPr>
              <a:t>. Humans must now read, reverse-engineer, test, and validate AI-generated pull requests. </a:t>
            </a:r>
          </a:p>
          <a:p>
            <a:r>
              <a:rPr lang="en-US" sz="1200" kern="1200" dirty="0">
                <a:solidFill>
                  <a:schemeClr val="tx1"/>
                </a:solidFill>
                <a:effectLst/>
                <a:latin typeface="+mn-lt"/>
                <a:ea typeface="+mn-ea"/>
                <a:cs typeface="+mn-cs"/>
              </a:rPr>
              <a:t>At Jane Street, where correctness and performance carry immense real-world weight, this shift has forced us to fundamentally rethink how we onboard, teach, and assess engineers. Over the next 15 slides, we’ll examine how engineering pedagogy must pivot from focusing on code generation to building deep mental models. </a:t>
            </a:r>
          </a:p>
          <a:p>
            <a:endParaRPr lang="en-US" dirty="0"/>
          </a:p>
          <a:p>
            <a:endParaRPr lang="en-US" dirty="0"/>
          </a:p>
          <a:p>
            <a:endParaRPr lang="en-US" dirty="0"/>
          </a:p>
          <a:p>
            <a:endParaRPr lang="en-US" dirty="0"/>
          </a:p>
          <a:p>
            <a:endParaRPr lang="en-US" dirty="0"/>
          </a:p>
          <a:p>
            <a:r>
              <a:rPr lang="en-US" b="1" dirty="0"/>
              <a:t>Teaching in the Age of AI: Learning Goals and the Goals of Learning</a:t>
            </a:r>
          </a:p>
          <a:p>
            <a:r>
              <a:rPr lang="en-US" dirty="0"/>
              <a:t>https://www.youtube.com/watch?v=qN6OM1IzjIE</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33AF8E22-A76E-4B35-B7C5-26C7C06318D6}" type="slidenum">
              <a:rPr lang="en-US" smtClean="0"/>
              <a:t>1</a:t>
            </a:fld>
            <a:endParaRPr lang="en-US"/>
          </a:p>
        </p:txBody>
      </p:sp>
    </p:spTree>
    <p:extLst>
      <p:ext uri="{BB962C8B-B14F-4D97-AF65-F5344CB8AC3E}">
        <p14:creationId xmlns:p14="http://schemas.microsoft.com/office/powerpoint/2010/main" val="4148265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Jane Street’s approach to pedagogy, you first need to understand our unique technological stack. </a:t>
            </a:r>
          </a:p>
          <a:p>
            <a:r>
              <a:rPr lang="en-US" sz="1200" kern="1200" dirty="0">
                <a:solidFill>
                  <a:schemeClr val="tx1"/>
                </a:solidFill>
                <a:effectLst/>
                <a:latin typeface="+mn-lt"/>
                <a:ea typeface="+mn-ea"/>
                <a:cs typeface="+mn-cs"/>
              </a:rPr>
              <a:t>We don't operate like a standard Silicon Valley shop. </a:t>
            </a:r>
          </a:p>
          <a:p>
            <a:pPr marL="171450" lvl="0" indent="-171450">
              <a:buFont typeface="Arial" panose="020B0604020202020204" pitchFamily="34" charset="0"/>
              <a:buChar char="•"/>
            </a:pPr>
            <a:r>
              <a:rPr lang="en-US" sz="1200" b="1" kern="1200" dirty="0" err="1">
                <a:solidFill>
                  <a:schemeClr val="tx1"/>
                </a:solidFill>
                <a:effectLst/>
                <a:latin typeface="+mn-lt"/>
                <a:ea typeface="+mn-ea"/>
                <a:cs typeface="+mn-cs"/>
              </a:rPr>
              <a:t>OCaml</a:t>
            </a:r>
            <a:r>
              <a:rPr lang="en-US" sz="1200" b="1" kern="1200" dirty="0">
                <a:solidFill>
                  <a:schemeClr val="tx1"/>
                </a:solidFill>
                <a:effectLst/>
                <a:latin typeface="+mn-lt"/>
                <a:ea typeface="+mn-ea"/>
                <a:cs typeface="+mn-cs"/>
              </a:rPr>
              <a:t> Dominance:</a:t>
            </a:r>
            <a:r>
              <a:rPr lang="en-US" sz="1200" kern="1200" dirty="0">
                <a:solidFill>
                  <a:schemeClr val="tx1"/>
                </a:solidFill>
                <a:effectLst/>
                <a:latin typeface="+mn-lt"/>
                <a:ea typeface="+mn-ea"/>
                <a:cs typeface="+mn-cs"/>
              </a:rPr>
              <a:t> Our primary production language is </a:t>
            </a:r>
            <a:r>
              <a:rPr lang="en-US" sz="1200" kern="1200" dirty="0" err="1">
                <a:solidFill>
                  <a:schemeClr val="tx1"/>
                </a:solidFill>
                <a:effectLst/>
                <a:latin typeface="+mn-lt"/>
                <a:ea typeface="+mn-ea"/>
                <a:cs typeface="+mn-cs"/>
              </a:rPr>
              <a:t>OCaml</a:t>
            </a:r>
            <a:r>
              <a:rPr lang="en-US" sz="1200" kern="1200" dirty="0">
                <a:solidFill>
                  <a:schemeClr val="tx1"/>
                </a:solidFill>
                <a:effectLst/>
                <a:latin typeface="+mn-lt"/>
                <a:ea typeface="+mn-ea"/>
                <a:cs typeface="+mn-cs"/>
              </a:rPr>
              <a:t>, a specialized, statically typed functional programming language. Very few new hires come in with production-level </a:t>
            </a:r>
            <a:r>
              <a:rPr lang="en-US" sz="1200" kern="1200" dirty="0" err="1">
                <a:solidFill>
                  <a:schemeClr val="tx1"/>
                </a:solidFill>
                <a:effectLst/>
                <a:latin typeface="+mn-lt"/>
                <a:ea typeface="+mn-ea"/>
                <a:cs typeface="+mn-cs"/>
              </a:rPr>
              <a:t>OCaml</a:t>
            </a:r>
            <a:r>
              <a:rPr lang="en-US" sz="1200" kern="1200" dirty="0">
                <a:solidFill>
                  <a:schemeClr val="tx1"/>
                </a:solidFill>
                <a:effectLst/>
                <a:latin typeface="+mn-lt"/>
                <a:ea typeface="+mn-ea"/>
                <a:cs typeface="+mn-cs"/>
              </a:rPr>
              <a:t> experience.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Iron Version Control:</a:t>
            </a:r>
            <a:r>
              <a:rPr lang="en-US" sz="1200" kern="1200" dirty="0">
                <a:solidFill>
                  <a:schemeClr val="tx1"/>
                </a:solidFill>
                <a:effectLst/>
                <a:latin typeface="+mn-lt"/>
                <a:ea typeface="+mn-ea"/>
                <a:cs typeface="+mn-cs"/>
              </a:rPr>
              <a:t> Instead of standard Git/GitHub Web interfaces, we rely on Iron, an internally developed, 25-year-old alternative universe for code review and release management.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Bonsai UI Framework:</a:t>
            </a:r>
            <a:r>
              <a:rPr lang="en-US" sz="1200" kern="1200" dirty="0">
                <a:solidFill>
                  <a:schemeClr val="tx1"/>
                </a:solidFill>
                <a:effectLst/>
                <a:latin typeface="+mn-lt"/>
                <a:ea typeface="+mn-ea"/>
                <a:cs typeface="+mn-cs"/>
              </a:rPr>
              <a:t> We use Bonsai, our proprietary functional UI framework for incremental computing.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Custom Python Integration:</a:t>
            </a:r>
            <a:r>
              <a:rPr lang="en-US" sz="1200" kern="1200" dirty="0">
                <a:solidFill>
                  <a:schemeClr val="tx1"/>
                </a:solidFill>
                <a:effectLst/>
                <a:latin typeface="+mn-lt"/>
                <a:ea typeface="+mn-ea"/>
                <a:cs typeface="+mn-cs"/>
              </a:rPr>
              <a:t> Data science and research rely on bespoke, highly customized internal Python integrations. </a:t>
            </a:r>
          </a:p>
          <a:p>
            <a:r>
              <a:rPr lang="en-US" sz="1200" kern="1200" dirty="0">
                <a:solidFill>
                  <a:schemeClr val="tx1"/>
                </a:solidFill>
                <a:effectLst/>
                <a:latin typeface="+mn-lt"/>
                <a:ea typeface="+mn-ea"/>
                <a:cs typeface="+mn-cs"/>
              </a:rPr>
              <a:t>Because of this proprietary, specialized environment, virtually </a:t>
            </a:r>
            <a:r>
              <a:rPr lang="en-US" sz="1200" b="1" kern="1200" dirty="0">
                <a:solidFill>
                  <a:schemeClr val="tx1"/>
                </a:solidFill>
                <a:effectLst/>
                <a:latin typeface="+mn-lt"/>
                <a:ea typeface="+mn-ea"/>
                <a:cs typeface="+mn-cs"/>
              </a:rPr>
              <a:t>no one walks in knowing how to work here on Day 1</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At Jane Street, education isn't an HR onboarding activity—it is a </a:t>
            </a:r>
            <a:r>
              <a:rPr lang="en-US" sz="1200" b="1" kern="1200" dirty="0">
                <a:solidFill>
                  <a:schemeClr val="tx1"/>
                </a:solidFill>
                <a:effectLst/>
                <a:latin typeface="+mn-lt"/>
                <a:ea typeface="+mn-ea"/>
                <a:cs typeface="+mn-cs"/>
              </a:rPr>
              <a:t>mandatory engineering infrastructure layer</a:t>
            </a:r>
            <a:r>
              <a:rPr lang="en-US" sz="1200" kern="1200" dirty="0">
                <a:solidFill>
                  <a:schemeClr val="tx1"/>
                </a:solidFill>
                <a:effectLst/>
                <a:latin typeface="+mn-lt"/>
                <a:ea typeface="+mn-ea"/>
                <a:cs typeface="+mn-cs"/>
              </a:rPr>
              <a:t>. If our internal educational pipelines fail, our engineering throughput halts. In the AI era, training people to navigate specialized internal ecosystems requires even greater intent, because public AI models are trained on public code bases, not our internal abstractions. </a:t>
            </a:r>
          </a:p>
          <a:p>
            <a:endParaRPr lang="en-US" dirty="0"/>
          </a:p>
        </p:txBody>
      </p:sp>
      <p:sp>
        <p:nvSpPr>
          <p:cNvPr id="4" name="Slide Number Placeholder 3"/>
          <p:cNvSpPr>
            <a:spLocks noGrp="1"/>
          </p:cNvSpPr>
          <p:nvPr>
            <p:ph type="sldNum" sz="quarter" idx="5"/>
          </p:nvPr>
        </p:nvSpPr>
        <p:spPr/>
        <p:txBody>
          <a:bodyPr/>
          <a:lstStyle/>
          <a:p>
            <a:fld id="{586C8764-EE1E-4E72-A622-53BCE1C9AF6F}" type="slidenum">
              <a:rPr lang="en-US" smtClean="0"/>
              <a:t>2</a:t>
            </a:fld>
            <a:endParaRPr lang="en-US"/>
          </a:p>
        </p:txBody>
      </p:sp>
    </p:spTree>
    <p:extLst>
      <p:ext uri="{BB962C8B-B14F-4D97-AF65-F5344CB8AC3E}">
        <p14:creationId xmlns:p14="http://schemas.microsoft.com/office/powerpoint/2010/main" val="1290496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you design a curriculum for such a specialized tech stack in a rapidly moving AI landscape? You build a </a:t>
            </a:r>
            <a:r>
              <a:rPr lang="en-US" sz="1200" b="1" kern="1200" dirty="0">
                <a:solidFill>
                  <a:schemeClr val="tx1"/>
                </a:solidFill>
                <a:effectLst/>
                <a:latin typeface="+mn-lt"/>
                <a:ea typeface="+mn-ea"/>
                <a:cs typeface="+mn-cs"/>
              </a:rPr>
              <a:t>50/50 Hybrid Model</a:t>
            </a:r>
            <a:r>
              <a:rPr lang="en-US" sz="1200" kern="1200" dirty="0">
                <a:solidFill>
                  <a:schemeClr val="tx1"/>
                </a:solidFill>
                <a:effectLst/>
                <a:latin typeface="+mn-lt"/>
                <a:ea typeface="+mn-ea"/>
                <a:cs typeface="+mn-cs"/>
              </a:rPr>
              <a:t> for your educators. </a:t>
            </a:r>
          </a:p>
          <a:p>
            <a:r>
              <a:rPr lang="en-US" sz="1200" kern="1200" dirty="0">
                <a:solidFill>
                  <a:schemeClr val="tx1"/>
                </a:solidFill>
                <a:effectLst/>
                <a:latin typeface="+mn-lt"/>
                <a:ea typeface="+mn-ea"/>
                <a:cs typeface="+mn-cs"/>
              </a:rPr>
              <a:t>At Jane Street, our technical instructors are split down the middle: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50% Software Engineer:</a:t>
            </a:r>
            <a:r>
              <a:rPr lang="en-US" sz="1200" kern="1200" dirty="0">
                <a:solidFill>
                  <a:schemeClr val="tx1"/>
                </a:solidFill>
                <a:effectLst/>
                <a:latin typeface="+mn-lt"/>
                <a:ea typeface="+mn-ea"/>
                <a:cs typeface="+mn-cs"/>
              </a:rPr>
              <a:t> Instructors spend half their time actively writing </a:t>
            </a:r>
            <a:r>
              <a:rPr lang="en-US" sz="1200" kern="1200" dirty="0" err="1">
                <a:solidFill>
                  <a:schemeClr val="tx1"/>
                </a:solidFill>
                <a:effectLst/>
                <a:latin typeface="+mn-lt"/>
                <a:ea typeface="+mn-ea"/>
                <a:cs typeface="+mn-cs"/>
              </a:rPr>
              <a:t>OCaml</a:t>
            </a:r>
            <a:r>
              <a:rPr lang="en-US" sz="1200" kern="1200" dirty="0">
                <a:solidFill>
                  <a:schemeClr val="tx1"/>
                </a:solidFill>
                <a:effectLst/>
                <a:latin typeface="+mn-lt"/>
                <a:ea typeface="+mn-ea"/>
                <a:cs typeface="+mn-cs"/>
              </a:rPr>
              <a:t> in production, maintaining internal editor infrastructure, and directly experiencing the toolchain's friction points.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50% Educator:</a:t>
            </a:r>
            <a:r>
              <a:rPr lang="en-US" sz="1200" kern="1200" dirty="0">
                <a:solidFill>
                  <a:schemeClr val="tx1"/>
                </a:solidFill>
                <a:effectLst/>
                <a:latin typeface="+mn-lt"/>
                <a:ea typeface="+mn-ea"/>
                <a:cs typeface="+mn-cs"/>
              </a:rPr>
              <a:t> The other half is spent designing onboarding curricula, running specialized teach-ins, and directly mentoring early-career engineers. </a:t>
            </a:r>
          </a:p>
          <a:p>
            <a:r>
              <a:rPr lang="en-US" sz="1200" b="1" kern="1200" dirty="0">
                <a:solidFill>
                  <a:schemeClr val="tx1"/>
                </a:solidFill>
                <a:effectLst/>
                <a:latin typeface="+mn-lt"/>
                <a:ea typeface="+mn-ea"/>
                <a:cs typeface="+mn-cs"/>
              </a:rPr>
              <a:t>Why is this 50/50 split essential?</a:t>
            </a:r>
            <a:r>
              <a:rPr lang="en-US" sz="1200" kern="1200" dirty="0">
                <a:solidFill>
                  <a:schemeClr val="tx1"/>
                </a:solidFill>
                <a:effectLst/>
                <a:latin typeface="+mn-lt"/>
                <a:ea typeface="+mn-ea"/>
                <a:cs typeface="+mn-cs"/>
              </a:rPr>
              <a:t> If educators </a:t>
            </a:r>
            <a:r>
              <a:rPr lang="en-US" sz="1200" i="1" kern="1200" dirty="0">
                <a:solidFill>
                  <a:schemeClr val="tx1"/>
                </a:solidFill>
                <a:effectLst/>
                <a:latin typeface="+mn-lt"/>
                <a:ea typeface="+mn-ea"/>
                <a:cs typeface="+mn-cs"/>
              </a:rPr>
              <a:t>only</a:t>
            </a:r>
            <a:r>
              <a:rPr lang="en-US" sz="1200" kern="1200" dirty="0">
                <a:solidFill>
                  <a:schemeClr val="tx1"/>
                </a:solidFill>
                <a:effectLst/>
                <a:latin typeface="+mn-lt"/>
                <a:ea typeface="+mn-ea"/>
                <a:cs typeface="+mn-cs"/>
              </a:rPr>
              <a:t> teach, their knowledge becomes static and detached from real-world codebase changes. If engineers </a:t>
            </a:r>
            <a:r>
              <a:rPr lang="en-US" sz="1200" i="1" kern="1200" dirty="0">
                <a:solidFill>
                  <a:schemeClr val="tx1"/>
                </a:solidFill>
                <a:effectLst/>
                <a:latin typeface="+mn-lt"/>
                <a:ea typeface="+mn-ea"/>
                <a:cs typeface="+mn-cs"/>
              </a:rPr>
              <a:t>only</a:t>
            </a:r>
            <a:r>
              <a:rPr lang="en-US" sz="1200" kern="1200" dirty="0">
                <a:solidFill>
                  <a:schemeClr val="tx1"/>
                </a:solidFill>
                <a:effectLst/>
                <a:latin typeface="+mn-lt"/>
                <a:ea typeface="+mn-ea"/>
                <a:cs typeface="+mn-cs"/>
              </a:rPr>
              <a:t> code, pedagogical expertise gets lost, and teaching becomes an afterthought. </a:t>
            </a:r>
          </a:p>
          <a:p>
            <a:r>
              <a:rPr lang="en-US" sz="1200" kern="1200" dirty="0">
                <a:solidFill>
                  <a:schemeClr val="tx1"/>
                </a:solidFill>
                <a:effectLst/>
                <a:latin typeface="+mn-lt"/>
                <a:ea typeface="+mn-ea"/>
                <a:cs typeface="+mn-cs"/>
              </a:rPr>
              <a:t>This hybrid structure creates </a:t>
            </a:r>
            <a:r>
              <a:rPr lang="en-US" sz="1200" b="1" kern="1200" dirty="0">
                <a:solidFill>
                  <a:schemeClr val="tx1"/>
                </a:solidFill>
                <a:effectLst/>
                <a:latin typeface="+mn-lt"/>
                <a:ea typeface="+mn-ea"/>
                <a:cs typeface="+mn-cs"/>
              </a:rPr>
              <a:t>Credible Pedagogy</a:t>
            </a:r>
            <a:r>
              <a:rPr lang="en-US" sz="1200" kern="1200" dirty="0">
                <a:solidFill>
                  <a:schemeClr val="tx1"/>
                </a:solidFill>
                <a:effectLst/>
                <a:latin typeface="+mn-lt"/>
                <a:ea typeface="+mn-ea"/>
                <a:cs typeface="+mn-cs"/>
              </a:rPr>
              <a:t>. When an instructor explains how to debug a subtle type error or how to utilize AI code assistance effectively within our toolchain, they aren't giving theoretical advice—they are drawing from their own production commits made earlier that week. </a:t>
            </a:r>
          </a:p>
          <a:p>
            <a:endParaRPr lang="en-US" dirty="0"/>
          </a:p>
        </p:txBody>
      </p:sp>
      <p:sp>
        <p:nvSpPr>
          <p:cNvPr id="4" name="Slide Number Placeholder 3"/>
          <p:cNvSpPr>
            <a:spLocks noGrp="1"/>
          </p:cNvSpPr>
          <p:nvPr>
            <p:ph type="sldNum" sz="quarter" idx="5"/>
          </p:nvPr>
        </p:nvSpPr>
        <p:spPr/>
        <p:txBody>
          <a:bodyPr/>
          <a:lstStyle/>
          <a:p>
            <a:fld id="{586C8764-EE1E-4E72-A622-53BCE1C9AF6F}" type="slidenum">
              <a:rPr lang="en-US" smtClean="0"/>
              <a:t>3</a:t>
            </a:fld>
            <a:endParaRPr lang="en-US"/>
          </a:p>
        </p:txBody>
      </p:sp>
    </p:spTree>
    <p:extLst>
      <p:ext uri="{BB962C8B-B14F-4D97-AF65-F5344CB8AC3E}">
        <p14:creationId xmlns:p14="http://schemas.microsoft.com/office/powerpoint/2010/main" val="2751509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While much of the modern tech industry is shifting toward browser-based UIs and web consoles, Jane Street maintains </a:t>
            </a:r>
            <a:r>
              <a:rPr lang="en-US" sz="1200" b="1" kern="1200" dirty="0">
                <a:solidFill>
                  <a:schemeClr val="tx1"/>
                </a:solidFill>
                <a:effectLst/>
                <a:latin typeface="+mn-lt"/>
                <a:ea typeface="+mn-ea"/>
                <a:cs typeface="+mn-cs"/>
              </a:rPr>
              <a:t>The Text Editor (Emacs, VS Code, </a:t>
            </a:r>
            <a:r>
              <a:rPr lang="en-US" sz="1200" b="1" kern="1200" dirty="0" err="1">
                <a:solidFill>
                  <a:schemeClr val="tx1"/>
                </a:solidFill>
                <a:effectLst/>
                <a:latin typeface="+mn-lt"/>
                <a:ea typeface="+mn-ea"/>
                <a:cs typeface="+mn-cs"/>
              </a:rPr>
              <a:t>Neovim</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as the absolute center of gravity for developers. </a:t>
            </a:r>
          </a:p>
          <a:p>
            <a:r>
              <a:rPr lang="en-US" sz="1200" kern="1200" dirty="0">
                <a:solidFill>
                  <a:schemeClr val="tx1"/>
                </a:solidFill>
                <a:effectLst/>
                <a:latin typeface="+mn-lt"/>
                <a:ea typeface="+mn-ea"/>
                <a:cs typeface="+mn-cs"/>
              </a:rPr>
              <a:t>Our ecosystem integrates directly into the editor interface: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Iron Code Review:</a:t>
            </a:r>
            <a:r>
              <a:rPr lang="en-US" sz="1200" kern="1200" dirty="0">
                <a:solidFill>
                  <a:schemeClr val="tx1"/>
                </a:solidFill>
                <a:effectLst/>
                <a:latin typeface="+mn-lt"/>
                <a:ea typeface="+mn-ea"/>
                <a:cs typeface="+mn-cs"/>
              </a:rPr>
              <a:t> Code review comments (CRs) are placed, read, and addressed inline directly inside the text editor. </a:t>
            </a:r>
          </a:p>
          <a:p>
            <a:pPr marL="171450" lvl="0" indent="-171450">
              <a:buFont typeface="Arial" panose="020B0604020202020204" pitchFamily="34" charset="0"/>
              <a:buChar char="•"/>
            </a:pPr>
            <a:r>
              <a:rPr lang="en-US" sz="1200" b="1" kern="1200" dirty="0" err="1">
                <a:solidFill>
                  <a:schemeClr val="tx1"/>
                </a:solidFill>
                <a:effectLst/>
                <a:latin typeface="+mn-lt"/>
                <a:ea typeface="+mn-ea"/>
                <a:cs typeface="+mn-cs"/>
              </a:rPr>
              <a:t>OCaml</a:t>
            </a:r>
            <a:r>
              <a:rPr lang="en-US" sz="1200" b="1" kern="1200" dirty="0">
                <a:solidFill>
                  <a:schemeClr val="tx1"/>
                </a:solidFill>
                <a:effectLst/>
                <a:latin typeface="+mn-lt"/>
                <a:ea typeface="+mn-ea"/>
                <a:cs typeface="+mn-cs"/>
              </a:rPr>
              <a:t> Language Server:</a:t>
            </a:r>
            <a:r>
              <a:rPr lang="en-US" sz="1200" kern="1200" dirty="0">
                <a:solidFill>
                  <a:schemeClr val="tx1"/>
                </a:solidFill>
                <a:effectLst/>
                <a:latin typeface="+mn-lt"/>
                <a:ea typeface="+mn-ea"/>
                <a:cs typeface="+mn-cs"/>
              </a:rPr>
              <a:t> Delivers high-performance type lookups, jump-to-definition, and real-time type checks directly as you edit.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Version Control:</a:t>
            </a:r>
            <a:r>
              <a:rPr lang="en-US" sz="1200" kern="1200" dirty="0">
                <a:solidFill>
                  <a:schemeClr val="tx1"/>
                </a:solidFill>
                <a:effectLst/>
                <a:latin typeface="+mn-lt"/>
                <a:ea typeface="+mn-ea"/>
                <a:cs typeface="+mn-cs"/>
              </a:rPr>
              <a:t> Complete feature branch management happens in-editor without touching a web interface. </a:t>
            </a:r>
          </a:p>
          <a:p>
            <a:r>
              <a:rPr lang="en-US" sz="1200" b="1" kern="1200" dirty="0">
                <a:solidFill>
                  <a:schemeClr val="tx1"/>
                </a:solidFill>
                <a:effectLst/>
                <a:latin typeface="+mn-lt"/>
                <a:ea typeface="+mn-ea"/>
                <a:cs typeface="+mn-cs"/>
              </a:rPr>
              <a:t>The Pedagogy Connection:</a:t>
            </a:r>
            <a:r>
              <a:rPr lang="en-US" sz="1200" kern="1200" dirty="0">
                <a:solidFill>
                  <a:schemeClr val="tx1"/>
                </a:solidFill>
                <a:effectLst/>
                <a:latin typeface="+mn-lt"/>
                <a:ea typeface="+mn-ea"/>
                <a:cs typeface="+mn-cs"/>
              </a:rPr>
              <a:t> When introducing AI tools to developers, we do not throw them into detached web chats or separate AI interfaces. AI integration must respect and live inside this text-editor-centric environment. Maintaining a unified, text-editor-centered ecosystem ensures that engineers retain fast feedback loops and key keyboard-driven workflows without context-switching. </a:t>
            </a:r>
          </a:p>
          <a:p>
            <a:endParaRPr lang="en-US" dirty="0"/>
          </a:p>
        </p:txBody>
      </p:sp>
      <p:sp>
        <p:nvSpPr>
          <p:cNvPr id="4" name="Slide Number Placeholder 3"/>
          <p:cNvSpPr>
            <a:spLocks noGrp="1"/>
          </p:cNvSpPr>
          <p:nvPr>
            <p:ph type="sldNum" sz="quarter" idx="5"/>
          </p:nvPr>
        </p:nvSpPr>
        <p:spPr/>
        <p:txBody>
          <a:bodyPr/>
          <a:lstStyle/>
          <a:p>
            <a:fld id="{586C8764-EE1E-4E72-A622-53BCE1C9AF6F}" type="slidenum">
              <a:rPr lang="en-US" smtClean="0"/>
              <a:t>4</a:t>
            </a:fld>
            <a:endParaRPr lang="en-US"/>
          </a:p>
        </p:txBody>
      </p:sp>
    </p:spTree>
    <p:extLst>
      <p:ext uri="{BB962C8B-B14F-4D97-AF65-F5344CB8AC3E}">
        <p14:creationId xmlns:p14="http://schemas.microsoft.com/office/powerpoint/2010/main" val="3625919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look at how the cognitive load of engineering has fundamentally shifted between the Pre-AI Era and the AI-Augmented Era. </a:t>
            </a:r>
          </a:p>
          <a:p>
            <a:pPr marL="0" lvl="0" indent="0">
              <a:buFont typeface="Arial" panose="020B0604020202020204" pitchFamily="34" charset="0"/>
              <a:buNone/>
            </a:pPr>
            <a:r>
              <a:rPr lang="en-US" sz="1200" b="1" kern="1200" dirty="0">
                <a:solidFill>
                  <a:schemeClr val="tx1"/>
                </a:solidFill>
                <a:effectLst/>
                <a:latin typeface="+mn-lt"/>
                <a:ea typeface="+mn-ea"/>
                <a:cs typeface="+mn-cs"/>
              </a:rPr>
              <a:t>1. Authoring Code: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Pre-AI:</a:t>
            </a:r>
            <a:r>
              <a:rPr lang="en-US" sz="1200" kern="1200" dirty="0">
                <a:solidFill>
                  <a:schemeClr val="tx1"/>
                </a:solidFill>
                <a:effectLst/>
                <a:latin typeface="+mn-lt"/>
                <a:ea typeface="+mn-ea"/>
                <a:cs typeface="+mn-cs"/>
              </a:rPr>
              <a:t> Authoring took </a:t>
            </a:r>
            <a:r>
              <a:rPr lang="en-US" sz="1200" b="1" kern="1200" dirty="0">
                <a:solidFill>
                  <a:schemeClr val="tx1"/>
                </a:solidFill>
                <a:effectLst/>
                <a:latin typeface="+mn-lt"/>
                <a:ea typeface="+mn-ea"/>
                <a:cs typeface="+mn-cs"/>
              </a:rPr>
              <a:t>high effort</a:t>
            </a:r>
            <a:r>
              <a:rPr lang="en-US" sz="1200" kern="1200" dirty="0">
                <a:solidFill>
                  <a:schemeClr val="tx1"/>
                </a:solidFill>
                <a:effectLst/>
                <a:latin typeface="+mn-lt"/>
                <a:ea typeface="+mn-ea"/>
                <a:cs typeface="+mn-cs"/>
              </a:rPr>
              <a:t>. As you slowly typed code, line by line, you naturally constructed a mental model of the software’s structure.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AI Era:</a:t>
            </a:r>
            <a:r>
              <a:rPr lang="en-US" sz="1200" kern="1200" dirty="0">
                <a:solidFill>
                  <a:schemeClr val="tx1"/>
                </a:solidFill>
                <a:effectLst/>
                <a:latin typeface="+mn-lt"/>
                <a:ea typeface="+mn-ea"/>
                <a:cs typeface="+mn-cs"/>
              </a:rPr>
              <a:t> Authoring takes </a:t>
            </a:r>
            <a:r>
              <a:rPr lang="en-US" sz="1200" b="1" kern="1200" dirty="0">
                <a:solidFill>
                  <a:schemeClr val="tx1"/>
                </a:solidFill>
                <a:effectLst/>
                <a:latin typeface="+mn-lt"/>
                <a:ea typeface="+mn-ea"/>
                <a:cs typeface="+mn-cs"/>
              </a:rPr>
              <a:t>near-zero effort</a:t>
            </a:r>
            <a:r>
              <a:rPr lang="en-US" sz="1200" kern="1200" dirty="0">
                <a:solidFill>
                  <a:schemeClr val="tx1"/>
                </a:solidFill>
                <a:effectLst/>
                <a:latin typeface="+mn-lt"/>
                <a:ea typeface="+mn-ea"/>
                <a:cs typeface="+mn-cs"/>
              </a:rPr>
              <a:t> ('Vibe coding'). Entire functions or modules are produced near-instantly. </a:t>
            </a:r>
          </a:p>
          <a:p>
            <a:pPr marL="0" lvl="0" indent="0">
              <a:buFont typeface="Arial" panose="020B0604020202020204" pitchFamily="34" charset="0"/>
              <a:buNone/>
            </a:pPr>
            <a:r>
              <a:rPr lang="en-US" sz="1200" b="1" kern="1200" dirty="0">
                <a:solidFill>
                  <a:schemeClr val="tx1"/>
                </a:solidFill>
                <a:effectLst/>
                <a:latin typeface="+mn-lt"/>
                <a:ea typeface="+mn-ea"/>
                <a:cs typeface="+mn-cs"/>
              </a:rPr>
              <a:t>2. Verifying Code: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Pre-AI:</a:t>
            </a:r>
            <a:r>
              <a:rPr lang="en-US" sz="1200" kern="1200" dirty="0">
                <a:solidFill>
                  <a:schemeClr val="tx1"/>
                </a:solidFill>
                <a:effectLst/>
                <a:latin typeface="+mn-lt"/>
                <a:ea typeface="+mn-ea"/>
                <a:cs typeface="+mn-cs"/>
              </a:rPr>
              <a:t> Moderate effort. You wrote it, so you generally understood its execution path; testing verified boundary cases.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AI Era:</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High effort</a:t>
            </a:r>
            <a:r>
              <a:rPr lang="en-US" sz="1200" kern="1200" dirty="0">
                <a:solidFill>
                  <a:schemeClr val="tx1"/>
                </a:solidFill>
                <a:effectLst/>
                <a:latin typeface="+mn-lt"/>
                <a:ea typeface="+mn-ea"/>
                <a:cs typeface="+mn-cs"/>
              </a:rPr>
              <a:t>. Engineers must hunt for subtle, uncanny bugs buried inside syntactically smooth, highly plausible code generated by an AI. </a:t>
            </a:r>
          </a:p>
          <a:p>
            <a:pPr marL="0" lvl="0" indent="0">
              <a:buFont typeface="Arial" panose="020B0604020202020204" pitchFamily="34" charset="0"/>
              <a:buNone/>
            </a:pPr>
            <a:r>
              <a:rPr lang="en-US" sz="1200" b="1" kern="1200" dirty="0">
                <a:solidFill>
                  <a:schemeClr val="tx1"/>
                </a:solidFill>
                <a:effectLst/>
                <a:latin typeface="+mn-lt"/>
                <a:ea typeface="+mn-ea"/>
                <a:cs typeface="+mn-cs"/>
              </a:rPr>
              <a:t>3. Building Mental Models: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Pre-AI:</a:t>
            </a:r>
            <a:r>
              <a:rPr lang="en-US" sz="1200" kern="1200" dirty="0">
                <a:solidFill>
                  <a:schemeClr val="tx1"/>
                </a:solidFill>
                <a:effectLst/>
                <a:latin typeface="+mn-lt"/>
                <a:ea typeface="+mn-ea"/>
                <a:cs typeface="+mn-cs"/>
              </a:rPr>
              <a:t> Formed naturally during the authoring process.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AI Era:</a:t>
            </a:r>
            <a:r>
              <a:rPr lang="en-US" sz="1200" kern="1200" dirty="0">
                <a:solidFill>
                  <a:schemeClr val="tx1"/>
                </a:solidFill>
                <a:effectLst/>
                <a:latin typeface="+mn-lt"/>
                <a:ea typeface="+mn-ea"/>
                <a:cs typeface="+mn-cs"/>
              </a:rPr>
              <a:t> Mental models must now be </a:t>
            </a:r>
            <a:r>
              <a:rPr lang="en-US" sz="1200" b="1" kern="1200" dirty="0">
                <a:solidFill>
                  <a:schemeClr val="tx1"/>
                </a:solidFill>
                <a:effectLst/>
                <a:latin typeface="+mn-lt"/>
                <a:ea typeface="+mn-ea"/>
                <a:cs typeface="+mn-cs"/>
              </a:rPr>
              <a:t>awkwardly reverse-engineered</a:t>
            </a:r>
            <a:r>
              <a:rPr lang="en-US" sz="1200" kern="1200" dirty="0">
                <a:solidFill>
                  <a:schemeClr val="tx1"/>
                </a:solidFill>
                <a:effectLst/>
                <a:latin typeface="+mn-lt"/>
                <a:ea typeface="+mn-ea"/>
                <a:cs typeface="+mn-cs"/>
              </a:rPr>
              <a:t> by reading finished blocks of code generated by a machine. </a:t>
            </a:r>
          </a:p>
          <a:p>
            <a:r>
              <a:rPr lang="en-US" b="1" dirty="0"/>
              <a:t>Key Takeaway:</a:t>
            </a:r>
            <a:r>
              <a:rPr lang="en-US" dirty="0"/>
              <a:t> If an engineer defaults to instant AI code generation, they lose the passive mental-model construction that used to happen during manual coding. Educators must now deliberately design exercises that teach engineers how to build mental models </a:t>
            </a:r>
            <a:r>
              <a:rPr lang="en-US" i="1" dirty="0"/>
              <a:t>without</a:t>
            </a:r>
            <a:r>
              <a:rPr lang="en-US" dirty="0"/>
              <a:t> relying on manual typing as the sole learning vehicle. </a:t>
            </a:r>
          </a:p>
        </p:txBody>
      </p:sp>
      <p:sp>
        <p:nvSpPr>
          <p:cNvPr id="4" name="Slide Number Placeholder 3"/>
          <p:cNvSpPr>
            <a:spLocks noGrp="1"/>
          </p:cNvSpPr>
          <p:nvPr>
            <p:ph type="sldNum" sz="quarter" idx="5"/>
          </p:nvPr>
        </p:nvSpPr>
        <p:spPr/>
        <p:txBody>
          <a:bodyPr/>
          <a:lstStyle/>
          <a:p>
            <a:fld id="{586C8764-EE1E-4E72-A622-53BCE1C9AF6F}" type="slidenum">
              <a:rPr lang="en-US" smtClean="0"/>
              <a:t>5</a:t>
            </a:fld>
            <a:endParaRPr lang="en-US"/>
          </a:p>
        </p:txBody>
      </p:sp>
    </p:spTree>
    <p:extLst>
      <p:ext uri="{BB962C8B-B14F-4D97-AF65-F5344CB8AC3E}">
        <p14:creationId xmlns:p14="http://schemas.microsoft.com/office/powerpoint/2010/main" val="16023713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Educational psychology teaches us that </a:t>
            </a:r>
            <a:r>
              <a:rPr lang="en-US" sz="1200" b="1" kern="1200" dirty="0">
                <a:solidFill>
                  <a:schemeClr val="tx1"/>
                </a:solidFill>
                <a:effectLst/>
                <a:latin typeface="+mn-lt"/>
                <a:ea typeface="+mn-ea"/>
                <a:cs typeface="+mn-cs"/>
              </a:rPr>
              <a:t>learning requires cognitive struggle</a:t>
            </a:r>
            <a:r>
              <a:rPr lang="en-US" sz="1200" kern="1200" dirty="0">
                <a:solidFill>
                  <a:schemeClr val="tx1"/>
                </a:solidFill>
                <a:effectLst/>
                <a:latin typeface="+mn-lt"/>
                <a:ea typeface="+mn-ea"/>
                <a:cs typeface="+mn-cs"/>
              </a:rPr>
              <a:t>. A student must actively struggle through a problem to build neural pathways and retain complex concepts. </a:t>
            </a:r>
          </a:p>
          <a:p>
            <a:r>
              <a:rPr lang="en-US" sz="1200" kern="1200" dirty="0">
                <a:solidFill>
                  <a:schemeClr val="tx1"/>
                </a:solidFill>
                <a:effectLst/>
                <a:latin typeface="+mn-lt"/>
                <a:ea typeface="+mn-ea"/>
                <a:cs typeface="+mn-cs"/>
              </a:rPr>
              <a:t>Generative AI acts like an </a:t>
            </a:r>
            <a:r>
              <a:rPr lang="en-US" sz="1200" i="1" kern="1200" dirty="0">
                <a:solidFill>
                  <a:schemeClr val="tx1"/>
                </a:solidFill>
                <a:effectLst/>
                <a:latin typeface="+mn-lt"/>
                <a:ea typeface="+mn-ea"/>
                <a:cs typeface="+mn-cs"/>
              </a:rPr>
              <a:t>infinitely patient genie</a:t>
            </a:r>
            <a:r>
              <a:rPr lang="en-US" sz="1200" kern="1200" dirty="0">
                <a:solidFill>
                  <a:schemeClr val="tx1"/>
                </a:solidFill>
                <a:effectLst/>
                <a:latin typeface="+mn-lt"/>
                <a:ea typeface="+mn-ea"/>
                <a:cs typeface="+mn-cs"/>
              </a:rPr>
              <a:t>. It will gladly solve any problem given to it instantly. </a:t>
            </a:r>
          </a:p>
          <a:p>
            <a:r>
              <a:rPr lang="en-US" sz="1200" kern="1200" dirty="0">
                <a:solidFill>
                  <a:schemeClr val="tx1"/>
                </a:solidFill>
                <a:effectLst/>
                <a:latin typeface="+mn-lt"/>
                <a:ea typeface="+mn-ea"/>
                <a:cs typeface="+mn-cs"/>
              </a:rPr>
              <a:t>Look at this Venn diagram: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Historically, there was a sweet spot: problems that were </a:t>
            </a:r>
            <a:r>
              <a:rPr lang="en-US" sz="1200" b="1" kern="1200" dirty="0">
                <a:solidFill>
                  <a:schemeClr val="tx1"/>
                </a:solidFill>
                <a:effectLst/>
                <a:latin typeface="+mn-lt"/>
                <a:ea typeface="+mn-ea"/>
                <a:cs typeface="+mn-cs"/>
              </a:rPr>
              <a:t>Tractable for Beginners</a:t>
            </a:r>
            <a:r>
              <a:rPr lang="en-US" sz="1200" kern="1200" dirty="0">
                <a:solidFill>
                  <a:schemeClr val="tx1"/>
                </a:solidFill>
                <a:effectLst/>
                <a:latin typeface="+mn-lt"/>
                <a:ea typeface="+mn-ea"/>
                <a:cs typeface="+mn-cs"/>
              </a:rPr>
              <a:t> but </a:t>
            </a:r>
            <a:r>
              <a:rPr lang="en-US" sz="1200" b="1" kern="1200" dirty="0">
                <a:solidFill>
                  <a:schemeClr val="tx1"/>
                </a:solidFill>
                <a:effectLst/>
                <a:latin typeface="+mn-lt"/>
                <a:ea typeface="+mn-ea"/>
                <a:cs typeface="+mn-cs"/>
              </a:rPr>
              <a:t>Non-trivial</a:t>
            </a:r>
            <a:r>
              <a:rPr lang="en-US" sz="1200" kern="1200" dirty="0">
                <a:solidFill>
                  <a:schemeClr val="tx1"/>
                </a:solidFill>
                <a:effectLst/>
                <a:latin typeface="+mn-lt"/>
                <a:ea typeface="+mn-ea"/>
                <a:cs typeface="+mn-cs"/>
              </a:rPr>
              <a:t> enough to force learning.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the AI era, LLMs instantly solve almost every standard beginner-level problem. The overlap between 'good for a human learner' and 'hard for an AI to one-shot' is rapidly shrinking toward zero. </a:t>
            </a:r>
          </a:p>
          <a:p>
            <a:r>
              <a:rPr lang="en-US" sz="1200" kern="1200" dirty="0">
                <a:solidFill>
                  <a:schemeClr val="tx1"/>
                </a:solidFill>
                <a:effectLst/>
                <a:latin typeface="+mn-lt"/>
                <a:ea typeface="+mn-ea"/>
                <a:cs typeface="+mn-cs"/>
              </a:rPr>
              <a:t>If a novice engineer relies on the AI genie to solve every beginner problem, they bypass the required cognitive friction. They reach an answer without acquiring the underlying understanding, leading to a long-term </a:t>
            </a:r>
            <a:r>
              <a:rPr lang="en-US" sz="1200" b="1" kern="1200" dirty="0">
                <a:solidFill>
                  <a:schemeClr val="tx1"/>
                </a:solidFill>
                <a:effectLst/>
                <a:latin typeface="+mn-lt"/>
                <a:ea typeface="+mn-ea"/>
                <a:cs typeface="+mn-cs"/>
              </a:rPr>
              <a:t>educational crisis</a:t>
            </a:r>
            <a:r>
              <a:rPr lang="en-US" sz="1200" kern="1200" dirty="0">
                <a:solidFill>
                  <a:schemeClr val="tx1"/>
                </a:solidFill>
                <a:effectLst/>
                <a:latin typeface="+mn-lt"/>
                <a:ea typeface="+mn-ea"/>
                <a:cs typeface="+mn-cs"/>
              </a:rPr>
              <a:t> when confronted with novel, complex system failures. </a:t>
            </a:r>
          </a:p>
          <a:p>
            <a:endParaRPr lang="en-US" dirty="0"/>
          </a:p>
        </p:txBody>
      </p:sp>
      <p:sp>
        <p:nvSpPr>
          <p:cNvPr id="4" name="Slide Number Placeholder 3"/>
          <p:cNvSpPr>
            <a:spLocks noGrp="1"/>
          </p:cNvSpPr>
          <p:nvPr>
            <p:ph type="sldNum" sz="quarter" idx="5"/>
          </p:nvPr>
        </p:nvSpPr>
        <p:spPr/>
        <p:txBody>
          <a:bodyPr/>
          <a:lstStyle/>
          <a:p>
            <a:fld id="{586C8764-EE1E-4E72-A622-53BCE1C9AF6F}" type="slidenum">
              <a:rPr lang="en-US" smtClean="0"/>
              <a:t>6</a:t>
            </a:fld>
            <a:endParaRPr lang="en-US"/>
          </a:p>
        </p:txBody>
      </p:sp>
    </p:spTree>
    <p:extLst>
      <p:ext uri="{BB962C8B-B14F-4D97-AF65-F5344CB8AC3E}">
        <p14:creationId xmlns:p14="http://schemas.microsoft.com/office/powerpoint/2010/main" val="1395117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we combat this 'Infinitely Patient Genie' problem? We practice </a:t>
            </a:r>
            <a:r>
              <a:rPr lang="en-US" sz="1200" b="1" kern="1200" dirty="0">
                <a:solidFill>
                  <a:schemeClr val="tx1"/>
                </a:solidFill>
                <a:effectLst/>
                <a:latin typeface="+mn-lt"/>
                <a:ea typeface="+mn-ea"/>
                <a:cs typeface="+mn-cs"/>
              </a:rPr>
              <a:t>Strategic Withholding of Affordances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Instead of giving learners unrestricted access to full code-generation prompts, we tune AI tools—such as custom-configured Claude Code styles—to act as tutors rather than auto-completers. </a:t>
            </a:r>
          </a:p>
          <a:p>
            <a:r>
              <a:rPr lang="en-US" sz="1200" kern="1200" dirty="0">
                <a:solidFill>
                  <a:schemeClr val="tx1"/>
                </a:solidFill>
                <a:effectLst/>
                <a:latin typeface="+mn-lt"/>
                <a:ea typeface="+mn-ea"/>
                <a:cs typeface="+mn-cs"/>
              </a:rPr>
              <a:t>Look at the code sample on this slide: </a:t>
            </a:r>
          </a:p>
          <a:p>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OCaml</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let </a:t>
            </a:r>
            <a:r>
              <a:rPr lang="en-US" sz="1200" kern="1200" dirty="0" err="1">
                <a:solidFill>
                  <a:schemeClr val="tx1"/>
                </a:solidFill>
                <a:effectLst/>
                <a:latin typeface="+mn-lt"/>
                <a:ea typeface="+mn-ea"/>
                <a:cs typeface="+mn-cs"/>
              </a:rPr>
              <a:t>test_property</a:t>
            </a:r>
            <a:r>
              <a:rPr lang="en-US" sz="1200" kern="1200" dirty="0">
                <a:solidFill>
                  <a:schemeClr val="tx1"/>
                </a:solidFill>
                <a:effectLst/>
                <a:latin typeface="+mn-lt"/>
                <a:ea typeface="+mn-ea"/>
                <a:cs typeface="+mn-cs"/>
              </a:rPr>
              <a:t> input =</a:t>
            </a:r>
          </a:p>
          <a:p>
            <a:r>
              <a:rPr lang="en-US" sz="1200" kern="1200" dirty="0">
                <a:solidFill>
                  <a:schemeClr val="tx1"/>
                </a:solidFill>
                <a:effectLst/>
                <a:latin typeface="+mn-lt"/>
                <a:ea typeface="+mn-ea"/>
                <a:cs typeface="+mn-cs"/>
              </a:rPr>
              <a:t>  (* System setup code generated... *)</a:t>
            </a:r>
          </a:p>
          <a:p>
            <a:r>
              <a:rPr lang="en-US" sz="1200" kern="1200" dirty="0">
                <a:solidFill>
                  <a:schemeClr val="tx1"/>
                </a:solidFill>
                <a:effectLst/>
                <a:latin typeface="+mn-lt"/>
                <a:ea typeface="+mn-ea"/>
                <a:cs typeface="+mn-cs"/>
              </a:rPr>
              <a:t>  (* TODO (Human): Implement property-based test logic here. *)</a:t>
            </a:r>
          </a:p>
          <a:p>
            <a:r>
              <a:rPr lang="en-US" sz="1200" kern="1200" dirty="0">
                <a:solidFill>
                  <a:schemeClr val="tx1"/>
                </a:solidFill>
                <a:effectLst/>
                <a:latin typeface="+mn-lt"/>
                <a:ea typeface="+mn-ea"/>
                <a:cs typeface="+mn-cs"/>
              </a:rPr>
              <a:t>  (* [LLM Paused. Awaiting human implementation.]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Notice what happened here: The AI scaffolded the boilerplate, system setup, and types, but </a:t>
            </a:r>
            <a:r>
              <a:rPr lang="en-US" sz="1200" b="1" kern="1200" dirty="0">
                <a:solidFill>
                  <a:schemeClr val="tx1"/>
                </a:solidFill>
                <a:effectLst/>
                <a:latin typeface="+mn-lt"/>
                <a:ea typeface="+mn-ea"/>
                <a:cs typeface="+mn-cs"/>
              </a:rPr>
              <a:t>intentionally paused</a:t>
            </a:r>
            <a:r>
              <a:rPr lang="en-US" sz="1200" kern="1200" dirty="0">
                <a:solidFill>
                  <a:schemeClr val="tx1"/>
                </a:solidFill>
                <a:effectLst/>
                <a:latin typeface="+mn-lt"/>
                <a:ea typeface="+mn-ea"/>
                <a:cs typeface="+mn-cs"/>
              </a:rPr>
              <a:t> right before the critical logic. </a:t>
            </a:r>
          </a:p>
          <a:p>
            <a:r>
              <a:rPr lang="en-US" sz="1200" kern="1200" dirty="0">
                <a:solidFill>
                  <a:schemeClr val="tx1"/>
                </a:solidFill>
                <a:effectLst/>
                <a:latin typeface="+mn-lt"/>
                <a:ea typeface="+mn-ea"/>
                <a:cs typeface="+mn-cs"/>
              </a:rPr>
              <a:t>By withholding the full solution, we force the developer to engage in the specific cognitive task required to learn property-based testing. We leverage AI to eliminate busywork while strictly guarding the learning moments. </a:t>
            </a:r>
          </a:p>
          <a:p>
            <a:endParaRPr lang="en-US" dirty="0"/>
          </a:p>
        </p:txBody>
      </p:sp>
      <p:sp>
        <p:nvSpPr>
          <p:cNvPr id="4" name="Slide Number Placeholder 3"/>
          <p:cNvSpPr>
            <a:spLocks noGrp="1"/>
          </p:cNvSpPr>
          <p:nvPr>
            <p:ph type="sldNum" sz="quarter" idx="5"/>
          </p:nvPr>
        </p:nvSpPr>
        <p:spPr/>
        <p:txBody>
          <a:bodyPr/>
          <a:lstStyle/>
          <a:p>
            <a:fld id="{586C8764-EE1E-4E72-A622-53BCE1C9AF6F}" type="slidenum">
              <a:rPr lang="en-US" smtClean="0"/>
              <a:t>7</a:t>
            </a:fld>
            <a:endParaRPr lang="en-US"/>
          </a:p>
        </p:txBody>
      </p:sp>
    </p:spTree>
    <p:extLst>
      <p:ext uri="{BB962C8B-B14F-4D97-AF65-F5344CB8AC3E}">
        <p14:creationId xmlns:p14="http://schemas.microsoft.com/office/powerpoint/2010/main" val="3622747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teach effectively in an AI-dominated world, we must elevate how we define </a:t>
            </a:r>
            <a:r>
              <a:rPr lang="en-US" sz="1200" b="1" kern="1200" dirty="0">
                <a:solidFill>
                  <a:schemeClr val="tx1"/>
                </a:solidFill>
                <a:effectLst/>
                <a:latin typeface="+mn-lt"/>
                <a:ea typeface="+mn-ea"/>
                <a:cs typeface="+mn-cs"/>
              </a:rPr>
              <a:t>Learning Goals</a:t>
            </a:r>
            <a:r>
              <a:rPr lang="en-US" sz="1200" kern="1200" dirty="0">
                <a:solidFill>
                  <a:schemeClr val="tx1"/>
                </a:solidFill>
                <a:effectLst/>
                <a:latin typeface="+mn-lt"/>
                <a:ea typeface="+mn-ea"/>
                <a:cs typeface="+mn-cs"/>
              </a:rPr>
              <a:t>. Vague learning objectives fail when AI can generate superficial proofs of work. </a:t>
            </a:r>
          </a:p>
          <a:p>
            <a:r>
              <a:rPr lang="en-US" sz="1200" kern="1200" dirty="0">
                <a:solidFill>
                  <a:schemeClr val="tx1"/>
                </a:solidFill>
                <a:effectLst/>
                <a:latin typeface="+mn-lt"/>
                <a:ea typeface="+mn-ea"/>
                <a:cs typeface="+mn-cs"/>
              </a:rPr>
              <a:t>Consider this contrast: </a:t>
            </a:r>
          </a:p>
          <a:p>
            <a:pPr lvl="0"/>
            <a:r>
              <a:rPr lang="en-US" sz="1200" b="1" kern="1200" dirty="0">
                <a:solidFill>
                  <a:schemeClr val="tx1"/>
                </a:solidFill>
                <a:effectLst/>
                <a:latin typeface="+mn-lt"/>
                <a:ea typeface="+mn-ea"/>
                <a:cs typeface="+mn-cs"/>
              </a:rPr>
              <a:t>Weak/Vague Goal:</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Students will understand property-based testing.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Critique:</a:t>
            </a:r>
            <a:r>
              <a:rPr lang="en-US" sz="1200" kern="1200" dirty="0">
                <a:solidFill>
                  <a:schemeClr val="tx1"/>
                </a:solidFill>
                <a:effectLst/>
                <a:latin typeface="+mn-lt"/>
                <a:ea typeface="+mn-ea"/>
                <a:cs typeface="+mn-cs"/>
              </a:rPr>
              <a:t> This is unmeasurable. It exists only inside the student's head, and a student can easily paste an AI response to fake comprehension. </a:t>
            </a:r>
          </a:p>
          <a:p>
            <a:pPr lvl="0"/>
            <a:r>
              <a:rPr lang="en-US" sz="1200" b="1" kern="1200" dirty="0">
                <a:solidFill>
                  <a:schemeClr val="tx1"/>
                </a:solidFill>
                <a:effectLst/>
                <a:latin typeface="+mn-lt"/>
                <a:ea typeface="+mn-ea"/>
                <a:cs typeface="+mn-cs"/>
              </a:rPr>
              <a:t>Actionable/Observable Goal:</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Students will be able to write a property-based test for a nested record type input.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Critique:</a:t>
            </a:r>
            <a:r>
              <a:rPr lang="en-US" sz="1200" kern="1200" dirty="0">
                <a:solidFill>
                  <a:schemeClr val="tx1"/>
                </a:solidFill>
                <a:effectLst/>
                <a:latin typeface="+mn-lt"/>
                <a:ea typeface="+mn-ea"/>
                <a:cs typeface="+mn-cs"/>
              </a:rPr>
              <a:t> This is observable, specific, and dictates exactly how to design course exercises and evaluation criteria. </a:t>
            </a:r>
          </a:p>
          <a:p>
            <a:r>
              <a:rPr lang="en-US" sz="1200" kern="1200" dirty="0">
                <a:solidFill>
                  <a:schemeClr val="tx1"/>
                </a:solidFill>
                <a:effectLst/>
                <a:latin typeface="+mn-lt"/>
                <a:ea typeface="+mn-ea"/>
                <a:cs typeface="+mn-cs"/>
              </a:rPr>
              <a:t>When designing curricula, every goal must be framed around </a:t>
            </a:r>
            <a:r>
              <a:rPr lang="en-US" sz="1200" b="1" kern="1200" dirty="0">
                <a:solidFill>
                  <a:schemeClr val="tx1"/>
                </a:solidFill>
                <a:effectLst/>
                <a:latin typeface="+mn-lt"/>
                <a:ea typeface="+mn-ea"/>
                <a:cs typeface="+mn-cs"/>
              </a:rPr>
              <a:t>observable performance</a:t>
            </a:r>
            <a:r>
              <a:rPr lang="en-US" sz="1200" kern="1200" dirty="0">
                <a:solidFill>
                  <a:schemeClr val="tx1"/>
                </a:solidFill>
                <a:effectLst/>
                <a:latin typeface="+mn-lt"/>
                <a:ea typeface="+mn-ea"/>
                <a:cs typeface="+mn-cs"/>
              </a:rPr>
              <a:t>. What concrete action must the developer execute that proves real understanding, independent of an AI prompt? </a:t>
            </a:r>
          </a:p>
          <a:p>
            <a:endParaRPr lang="en-US" dirty="0"/>
          </a:p>
        </p:txBody>
      </p:sp>
      <p:sp>
        <p:nvSpPr>
          <p:cNvPr id="4" name="Slide Number Placeholder 3"/>
          <p:cNvSpPr>
            <a:spLocks noGrp="1"/>
          </p:cNvSpPr>
          <p:nvPr>
            <p:ph type="sldNum" sz="quarter" idx="5"/>
          </p:nvPr>
        </p:nvSpPr>
        <p:spPr/>
        <p:txBody>
          <a:bodyPr/>
          <a:lstStyle/>
          <a:p>
            <a:fld id="{586C8764-EE1E-4E72-A622-53BCE1C9AF6F}" type="slidenum">
              <a:rPr lang="en-US" smtClean="0"/>
              <a:t>8</a:t>
            </a:fld>
            <a:endParaRPr lang="en-US"/>
          </a:p>
        </p:txBody>
      </p:sp>
    </p:spTree>
    <p:extLst>
      <p:ext uri="{BB962C8B-B14F-4D97-AF65-F5344CB8AC3E}">
        <p14:creationId xmlns:p14="http://schemas.microsoft.com/office/powerpoint/2010/main" val="2839131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onboarding engineers into a complex ecosystem like Jane Street, cognitive overload is a huge risk. Human working memory is strictly limited. </a:t>
            </a:r>
          </a:p>
          <a:p>
            <a:r>
              <a:rPr lang="en-US" sz="1200" kern="1200" dirty="0">
                <a:solidFill>
                  <a:schemeClr val="tx1"/>
                </a:solidFill>
                <a:effectLst/>
                <a:latin typeface="+mn-lt"/>
                <a:ea typeface="+mn-ea"/>
                <a:cs typeface="+mn-cs"/>
              </a:rPr>
              <a:t>To prevent overload, we sequence tool delivery across four distinct phases: </a:t>
            </a:r>
          </a:p>
          <a:p>
            <a:pPr marL="228600" lvl="0" indent="-228600">
              <a:buFont typeface="+mj-lt"/>
              <a:buAutoNum type="arabicPeriod"/>
            </a:pPr>
            <a:r>
              <a:rPr lang="en-US" sz="1200" b="1" kern="1200" dirty="0">
                <a:solidFill>
                  <a:schemeClr val="tx1"/>
                </a:solidFill>
                <a:effectLst/>
                <a:latin typeface="+mn-lt"/>
                <a:ea typeface="+mn-ea"/>
                <a:cs typeface="+mn-cs"/>
              </a:rPr>
              <a:t>Language Syntax:</a:t>
            </a:r>
            <a:r>
              <a:rPr lang="en-US" sz="1200" kern="1200" dirty="0">
                <a:solidFill>
                  <a:schemeClr val="tx1"/>
                </a:solidFill>
                <a:effectLst/>
                <a:latin typeface="+mn-lt"/>
                <a:ea typeface="+mn-ea"/>
                <a:cs typeface="+mn-cs"/>
              </a:rPr>
              <a:t> Introduced first via isolated browser snippet boxes. This completely strips away environment setup and editor complexity so the developer can focus strictly on </a:t>
            </a:r>
            <a:r>
              <a:rPr lang="en-US" sz="1200" kern="1200" dirty="0" err="1">
                <a:solidFill>
                  <a:schemeClr val="tx1"/>
                </a:solidFill>
                <a:effectLst/>
                <a:latin typeface="+mn-lt"/>
                <a:ea typeface="+mn-ea"/>
                <a:cs typeface="+mn-cs"/>
              </a:rPr>
              <a:t>OCaml</a:t>
            </a:r>
            <a:r>
              <a:rPr lang="en-US" sz="1200" kern="1200" dirty="0">
                <a:solidFill>
                  <a:schemeClr val="tx1"/>
                </a:solidFill>
                <a:effectLst/>
                <a:latin typeface="+mn-lt"/>
                <a:ea typeface="+mn-ea"/>
                <a:cs typeface="+mn-cs"/>
              </a:rPr>
              <a:t> semantics. </a:t>
            </a:r>
          </a:p>
          <a:p>
            <a:pPr marL="228600" lvl="0" indent="-228600">
              <a:buFont typeface="+mj-lt"/>
              <a:buAutoNum type="arabicPeriod"/>
            </a:pPr>
            <a:r>
              <a:rPr lang="en-US" sz="1200" b="1" kern="1200" dirty="0">
                <a:solidFill>
                  <a:schemeClr val="tx1"/>
                </a:solidFill>
                <a:effectLst/>
                <a:latin typeface="+mn-lt"/>
                <a:ea typeface="+mn-ea"/>
                <a:cs typeface="+mn-cs"/>
              </a:rPr>
              <a:t>The Editor:</a:t>
            </a:r>
            <a:r>
              <a:rPr lang="en-US" sz="1200" kern="1200" dirty="0">
                <a:solidFill>
                  <a:schemeClr val="tx1"/>
                </a:solidFill>
                <a:effectLst/>
                <a:latin typeface="+mn-lt"/>
                <a:ea typeface="+mn-ea"/>
                <a:cs typeface="+mn-cs"/>
              </a:rPr>
              <a:t> Once syntax basics are solid, developers transition into the text editor, mastering keystrokes, navigation, and language server feedback. </a:t>
            </a:r>
          </a:p>
          <a:p>
            <a:pPr marL="228600" lvl="0" indent="-228600">
              <a:buFont typeface="+mj-lt"/>
              <a:buAutoNum type="arabicPeriod"/>
            </a:pPr>
            <a:r>
              <a:rPr lang="en-US" sz="1200" b="1" kern="1200" dirty="0">
                <a:solidFill>
                  <a:schemeClr val="tx1"/>
                </a:solidFill>
                <a:effectLst/>
                <a:latin typeface="+mn-lt"/>
                <a:ea typeface="+mn-ea"/>
                <a:cs typeface="+mn-cs"/>
              </a:rPr>
              <a:t>Version Control:</a:t>
            </a:r>
            <a:r>
              <a:rPr lang="en-US" sz="1200" kern="1200" dirty="0">
                <a:solidFill>
                  <a:schemeClr val="tx1"/>
                </a:solidFill>
                <a:effectLst/>
                <a:latin typeface="+mn-lt"/>
                <a:ea typeface="+mn-ea"/>
                <a:cs typeface="+mn-cs"/>
              </a:rPr>
              <a:t> Next, we layer on Iron VCS, teaching developers how code branches, feature trees, and review comments flow. </a:t>
            </a:r>
          </a:p>
          <a:p>
            <a:pPr marL="228600" lvl="0" indent="-228600">
              <a:buFont typeface="+mj-lt"/>
              <a:buAutoNum type="arabicPeriod"/>
            </a:pPr>
            <a:r>
              <a:rPr lang="en-US" sz="1200" b="1" kern="1200" dirty="0">
                <a:solidFill>
                  <a:schemeClr val="tx1"/>
                </a:solidFill>
                <a:effectLst/>
                <a:latin typeface="+mn-lt"/>
                <a:ea typeface="+mn-ea"/>
                <a:cs typeface="+mn-cs"/>
              </a:rPr>
              <a:t>Integration:</a:t>
            </a:r>
            <a:r>
              <a:rPr lang="en-US" sz="1200" kern="1200" dirty="0">
                <a:solidFill>
                  <a:schemeClr val="tx1"/>
                </a:solidFill>
                <a:effectLst/>
                <a:latin typeface="+mn-lt"/>
                <a:ea typeface="+mn-ea"/>
                <a:cs typeface="+mn-cs"/>
              </a:rPr>
              <a:t> Finally, developers build a full client-server bootcamp application that ties syntax, editor tools, version control, and UI frameworks together. </a:t>
            </a:r>
          </a:p>
          <a:p>
            <a:r>
              <a:rPr lang="en-US" sz="1200" b="1" kern="1200" dirty="0">
                <a:solidFill>
                  <a:schemeClr val="tx1"/>
                </a:solidFill>
                <a:effectLst/>
                <a:latin typeface="+mn-lt"/>
                <a:ea typeface="+mn-ea"/>
                <a:cs typeface="+mn-cs"/>
              </a:rPr>
              <a:t>Core Principle: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Never introduce a new tool until the foundational tool is mastered.</a:t>
            </a:r>
            <a:r>
              <a:rPr lang="en-US" sz="1200" kern="1200" dirty="0">
                <a:solidFill>
                  <a:schemeClr val="tx1"/>
                </a:solidFill>
                <a:effectLst/>
                <a:latin typeface="+mn-lt"/>
                <a:ea typeface="+mn-ea"/>
                <a:cs typeface="+mn-cs"/>
              </a:rPr>
              <a:t> Pushing AI tooling onto a beginner before they understand basic syntax or editor semantics creates an unmanageable cognitive load. </a:t>
            </a:r>
          </a:p>
          <a:p>
            <a:endParaRPr lang="en-US" dirty="0"/>
          </a:p>
        </p:txBody>
      </p:sp>
      <p:sp>
        <p:nvSpPr>
          <p:cNvPr id="4" name="Slide Number Placeholder 3"/>
          <p:cNvSpPr>
            <a:spLocks noGrp="1"/>
          </p:cNvSpPr>
          <p:nvPr>
            <p:ph type="sldNum" sz="quarter" idx="5"/>
          </p:nvPr>
        </p:nvSpPr>
        <p:spPr/>
        <p:txBody>
          <a:bodyPr/>
          <a:lstStyle/>
          <a:p>
            <a:fld id="{586C8764-EE1E-4E72-A622-53BCE1C9AF6F}" type="slidenum">
              <a:rPr lang="en-US" smtClean="0"/>
              <a:t>9</a:t>
            </a:fld>
            <a:endParaRPr lang="en-US"/>
          </a:p>
        </p:txBody>
      </p:sp>
    </p:spTree>
    <p:extLst>
      <p:ext uri="{BB962C8B-B14F-4D97-AF65-F5344CB8AC3E}">
        <p14:creationId xmlns:p14="http://schemas.microsoft.com/office/powerpoint/2010/main" val="10605560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Because generative AI can solve standard 4-week intern projects in a single well-crafted prompt, traditional internship evaluations are obsolete. Measuring code production speed no longer measures human talent. </a:t>
            </a:r>
          </a:p>
          <a:p>
            <a:r>
              <a:rPr lang="en-US" sz="1200" kern="1200" dirty="0">
                <a:solidFill>
                  <a:schemeClr val="tx1"/>
                </a:solidFill>
                <a:effectLst/>
                <a:latin typeface="+mn-lt"/>
                <a:ea typeface="+mn-ea"/>
                <a:cs typeface="+mn-cs"/>
              </a:rPr>
              <a:t>We have completely pivoted our internship program: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Legacy Focus:</a:t>
            </a:r>
            <a:r>
              <a:rPr lang="en-US" sz="1200" kern="1200" dirty="0">
                <a:solidFill>
                  <a:schemeClr val="tx1"/>
                </a:solidFill>
                <a:effectLst/>
                <a:latin typeface="+mn-lt"/>
                <a:ea typeface="+mn-ea"/>
                <a:cs typeface="+mn-cs"/>
              </a:rPr>
              <a:t> Manual bulk code writing, completing a self-contained 4-week solo project, and using code generation velocity as the primary hiring signal.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New AI-Era Focus:</a:t>
            </a:r>
            <a:endParaRPr lang="en-US" sz="1200" kern="1200" dirty="0">
              <a:solidFill>
                <a:schemeClr val="tx1"/>
              </a:solidFill>
              <a:effectLst/>
              <a:latin typeface="+mn-lt"/>
              <a:ea typeface="+mn-ea"/>
              <a:cs typeface="+mn-cs"/>
            </a:endParaRPr>
          </a:p>
          <a:p>
            <a:pPr marL="685800" lvl="1" indent="-228600">
              <a:buFont typeface="+mj-lt"/>
              <a:buAutoNum type="arabicPeriod"/>
            </a:pPr>
            <a:r>
              <a:rPr lang="en-US" sz="1200" b="1" kern="1200" dirty="0">
                <a:solidFill>
                  <a:schemeClr val="tx1"/>
                </a:solidFill>
                <a:effectLst/>
                <a:latin typeface="+mn-lt"/>
                <a:ea typeface="+mn-ea"/>
                <a:cs typeface="+mn-cs"/>
              </a:rPr>
              <a:t>Requirement Gathering:</a:t>
            </a:r>
            <a:r>
              <a:rPr lang="en-US" sz="1200" kern="1200" dirty="0">
                <a:solidFill>
                  <a:schemeClr val="tx1"/>
                </a:solidFill>
                <a:effectLst/>
                <a:latin typeface="+mn-lt"/>
                <a:ea typeface="+mn-ea"/>
                <a:cs typeface="+mn-cs"/>
              </a:rPr>
              <a:t> Can the intern extract complex, ambiguous requirements from human stakeholders? </a:t>
            </a:r>
          </a:p>
          <a:p>
            <a:pPr marL="685800" lvl="1" indent="-228600">
              <a:buFont typeface="+mj-lt"/>
              <a:buAutoNum type="arabicPeriod"/>
            </a:pPr>
            <a:r>
              <a:rPr lang="en-US" sz="1200" b="1" kern="1200" dirty="0">
                <a:solidFill>
                  <a:schemeClr val="tx1"/>
                </a:solidFill>
                <a:effectLst/>
                <a:latin typeface="+mn-lt"/>
                <a:ea typeface="+mn-ea"/>
                <a:cs typeface="+mn-cs"/>
              </a:rPr>
              <a:t>Architectural Stewardship:</a:t>
            </a:r>
            <a:r>
              <a:rPr lang="en-US" sz="1200" kern="1200" dirty="0">
                <a:solidFill>
                  <a:schemeClr val="tx1"/>
                </a:solidFill>
                <a:effectLst/>
                <a:latin typeface="+mn-lt"/>
                <a:ea typeface="+mn-ea"/>
                <a:cs typeface="+mn-cs"/>
              </a:rPr>
              <a:t> Can they write, defend, and critique Design and Architecture Documents? </a:t>
            </a:r>
          </a:p>
          <a:p>
            <a:pPr marL="685800" lvl="1" indent="-228600">
              <a:buFont typeface="+mj-lt"/>
              <a:buAutoNum type="arabicPeriod"/>
            </a:pPr>
            <a:r>
              <a:rPr lang="en-US" sz="1200" b="1" kern="1200" dirty="0">
                <a:solidFill>
                  <a:schemeClr val="tx1"/>
                </a:solidFill>
                <a:effectLst/>
                <a:latin typeface="+mn-lt"/>
                <a:ea typeface="+mn-ea"/>
                <a:cs typeface="+mn-cs"/>
              </a:rPr>
              <a:t>Verification &amp; Testing:</a:t>
            </a:r>
            <a:r>
              <a:rPr lang="en-US" sz="1200" kern="1200" dirty="0">
                <a:solidFill>
                  <a:schemeClr val="tx1"/>
                </a:solidFill>
                <a:effectLst/>
                <a:latin typeface="+mn-lt"/>
                <a:ea typeface="+mn-ea"/>
                <a:cs typeface="+mn-cs"/>
              </a:rPr>
              <a:t> Can they rigorously test and steward code to production readiness? </a:t>
            </a:r>
          </a:p>
          <a:p>
            <a:r>
              <a:rPr lang="en-US" sz="1200" kern="1200" dirty="0">
                <a:solidFill>
                  <a:schemeClr val="tx1"/>
                </a:solidFill>
                <a:effectLst/>
                <a:latin typeface="+mn-lt"/>
                <a:ea typeface="+mn-ea"/>
                <a:cs typeface="+mn-cs"/>
              </a:rPr>
              <a:t>We don't grade how fast an intern can produce code; we evaluate how well they steward software through its architectural lifecycle. </a:t>
            </a:r>
          </a:p>
          <a:p>
            <a:endParaRPr lang="en-US" dirty="0"/>
          </a:p>
        </p:txBody>
      </p:sp>
      <p:sp>
        <p:nvSpPr>
          <p:cNvPr id="4" name="Slide Number Placeholder 3"/>
          <p:cNvSpPr>
            <a:spLocks noGrp="1"/>
          </p:cNvSpPr>
          <p:nvPr>
            <p:ph type="sldNum" sz="quarter" idx="5"/>
          </p:nvPr>
        </p:nvSpPr>
        <p:spPr/>
        <p:txBody>
          <a:bodyPr/>
          <a:lstStyle/>
          <a:p>
            <a:fld id="{586C8764-EE1E-4E72-A622-53BCE1C9AF6F}" type="slidenum">
              <a:rPr lang="en-US" smtClean="0"/>
              <a:t>10</a:t>
            </a:fld>
            <a:endParaRPr lang="en-US"/>
          </a:p>
        </p:txBody>
      </p:sp>
    </p:spTree>
    <p:extLst>
      <p:ext uri="{BB962C8B-B14F-4D97-AF65-F5344CB8AC3E}">
        <p14:creationId xmlns:p14="http://schemas.microsoft.com/office/powerpoint/2010/main" val="35822180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Historically, interns spent little time reviewing code; their goal was simply to write it. In the AI era, code review is the primary mechanism for verification and quality control. It now gets a dedicated 3-day intensive training module mid-internship. </a:t>
            </a:r>
          </a:p>
          <a:p>
            <a:r>
              <a:rPr lang="en-US" sz="1200" kern="1200" dirty="0">
                <a:solidFill>
                  <a:schemeClr val="tx1"/>
                </a:solidFill>
                <a:effectLst/>
                <a:latin typeface="+mn-lt"/>
                <a:ea typeface="+mn-ea"/>
                <a:cs typeface="+mn-cs"/>
              </a:rPr>
              <a:t>Our Code Review Training consists of three steps: </a:t>
            </a:r>
          </a:p>
          <a:p>
            <a:pPr marL="228600" lvl="0" indent="-228600">
              <a:buFont typeface="+mj-lt"/>
              <a:buAutoNum type="arabicPeriod"/>
            </a:pPr>
            <a:r>
              <a:rPr lang="en-US" sz="1200" b="1" kern="1200" dirty="0">
                <a:solidFill>
                  <a:schemeClr val="tx1"/>
                </a:solidFill>
                <a:effectLst/>
                <a:latin typeface="+mn-lt"/>
                <a:ea typeface="+mn-ea"/>
                <a:cs typeface="+mn-cs"/>
              </a:rPr>
              <a:t>Diagnose:</a:t>
            </a:r>
            <a:r>
              <a:rPr lang="en-US" sz="1200" kern="1200" dirty="0">
                <a:solidFill>
                  <a:schemeClr val="tx1"/>
                </a:solidFill>
                <a:effectLst/>
                <a:latin typeface="+mn-lt"/>
                <a:ea typeface="+mn-ea"/>
                <a:cs typeface="+mn-cs"/>
              </a:rPr>
              <a:t> Interns are given pre-made, intentionally flawed features containing hidden logical, performance, or concurrency bugs inserted into an existing codebase. </a:t>
            </a:r>
          </a:p>
          <a:p>
            <a:pPr marL="228600" lvl="0" indent="-228600">
              <a:buFont typeface="+mj-lt"/>
              <a:buAutoNum type="arabicPeriod"/>
            </a:pPr>
            <a:r>
              <a:rPr lang="en-US" sz="1200" b="1" kern="1200" dirty="0">
                <a:solidFill>
                  <a:schemeClr val="tx1"/>
                </a:solidFill>
                <a:effectLst/>
                <a:latin typeface="+mn-lt"/>
                <a:ea typeface="+mn-ea"/>
                <a:cs typeface="+mn-cs"/>
              </a:rPr>
              <a:t>Calibrate:</a:t>
            </a:r>
            <a:r>
              <a:rPr lang="en-US" sz="1200" kern="1200" dirty="0">
                <a:solidFill>
                  <a:schemeClr val="tx1"/>
                </a:solidFill>
                <a:effectLst/>
                <a:latin typeface="+mn-lt"/>
                <a:ea typeface="+mn-ea"/>
                <a:cs typeface="+mn-cs"/>
              </a:rPr>
              <a:t> After conducting their reviews, interns compare their inline comments against a curated </a:t>
            </a:r>
            <a:r>
              <a:rPr lang="en-US" sz="1200" b="1" kern="1200" dirty="0">
                <a:solidFill>
                  <a:schemeClr val="tx1"/>
                </a:solidFill>
                <a:effectLst/>
                <a:latin typeface="+mn-lt"/>
                <a:ea typeface="+mn-ea"/>
                <a:cs typeface="+mn-cs"/>
              </a:rPr>
              <a:t>Answer Key</a:t>
            </a:r>
            <a:r>
              <a:rPr lang="en-US" sz="1200" kern="1200" dirty="0">
                <a:solidFill>
                  <a:schemeClr val="tx1"/>
                </a:solidFill>
                <a:effectLst/>
                <a:latin typeface="+mn-lt"/>
                <a:ea typeface="+mn-ea"/>
                <a:cs typeface="+mn-cs"/>
              </a:rPr>
              <a:t> of ideal code review comments created by senior engineers. </a:t>
            </a:r>
          </a:p>
          <a:p>
            <a:pPr marL="228600" lvl="0" indent="-228600">
              <a:buFont typeface="+mj-lt"/>
              <a:buAutoNum type="arabicPeriod"/>
            </a:pPr>
            <a:r>
              <a:rPr lang="en-US" sz="1200" b="1" kern="1200" dirty="0">
                <a:solidFill>
                  <a:schemeClr val="tx1"/>
                </a:solidFill>
                <a:effectLst/>
                <a:latin typeface="+mn-lt"/>
                <a:ea typeface="+mn-ea"/>
                <a:cs typeface="+mn-cs"/>
              </a:rPr>
              <a:t>Execute:</a:t>
            </a:r>
            <a:r>
              <a:rPr lang="en-US" sz="1200" kern="1200" dirty="0">
                <a:solidFill>
                  <a:schemeClr val="tx1"/>
                </a:solidFill>
                <a:effectLst/>
                <a:latin typeface="+mn-lt"/>
                <a:ea typeface="+mn-ea"/>
                <a:cs typeface="+mn-cs"/>
              </a:rPr>
              <a:t> Interns apply their calibrated skills in real-time by peer-reviewing actual feature commits from their pod-mates. </a:t>
            </a:r>
          </a:p>
          <a:p>
            <a:r>
              <a:rPr lang="en-US" sz="1200" kern="1200" dirty="0">
                <a:solidFill>
                  <a:schemeClr val="tx1"/>
                </a:solidFill>
                <a:effectLst/>
                <a:latin typeface="+mn-lt"/>
                <a:ea typeface="+mn-ea"/>
                <a:cs typeface="+mn-cs"/>
              </a:rPr>
              <a:t>By making code review a explicit skill, we train interns to catch the exact type of subtle, high-risk bugs that AI generators introduce. </a:t>
            </a:r>
          </a:p>
          <a:p>
            <a:endParaRPr lang="en-US" dirty="0"/>
          </a:p>
        </p:txBody>
      </p:sp>
      <p:sp>
        <p:nvSpPr>
          <p:cNvPr id="4" name="Slide Number Placeholder 3"/>
          <p:cNvSpPr>
            <a:spLocks noGrp="1"/>
          </p:cNvSpPr>
          <p:nvPr>
            <p:ph type="sldNum" sz="quarter" idx="5"/>
          </p:nvPr>
        </p:nvSpPr>
        <p:spPr/>
        <p:txBody>
          <a:bodyPr/>
          <a:lstStyle/>
          <a:p>
            <a:fld id="{586C8764-EE1E-4E72-A622-53BCE1C9AF6F}" type="slidenum">
              <a:rPr lang="en-US" smtClean="0"/>
              <a:t>11</a:t>
            </a:fld>
            <a:endParaRPr lang="en-US"/>
          </a:p>
        </p:txBody>
      </p:sp>
    </p:spTree>
    <p:extLst>
      <p:ext uri="{BB962C8B-B14F-4D97-AF65-F5344CB8AC3E}">
        <p14:creationId xmlns:p14="http://schemas.microsoft.com/office/powerpoint/2010/main" val="17987697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prevent automated complacency—where a developer relies passively on an AI feedback loop—we inject </a:t>
            </a:r>
            <a:r>
              <a:rPr lang="en-US" sz="1200" b="1" kern="1200" dirty="0">
                <a:solidFill>
                  <a:schemeClr val="tx1"/>
                </a:solidFill>
                <a:effectLst/>
                <a:latin typeface="+mn-lt"/>
                <a:ea typeface="+mn-ea"/>
                <a:cs typeface="+mn-cs"/>
              </a:rPr>
              <a:t>social friction</a:t>
            </a:r>
            <a:r>
              <a:rPr lang="en-US" sz="1200" kern="1200" dirty="0">
                <a:solidFill>
                  <a:schemeClr val="tx1"/>
                </a:solidFill>
                <a:effectLst/>
                <a:latin typeface="+mn-lt"/>
                <a:ea typeface="+mn-ea"/>
                <a:cs typeface="+mn-cs"/>
              </a:rPr>
              <a:t> into the curriculum through human-to-human interaction. </a:t>
            </a:r>
          </a:p>
          <a:p>
            <a:r>
              <a:rPr lang="en-US" sz="1200" kern="1200" dirty="0">
                <a:solidFill>
                  <a:schemeClr val="tx1"/>
                </a:solidFill>
                <a:effectLst/>
                <a:latin typeface="+mn-lt"/>
                <a:ea typeface="+mn-ea"/>
                <a:cs typeface="+mn-cs"/>
              </a:rPr>
              <a:t>We rely on two social structures: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Pod System:</a:t>
            </a:r>
            <a:r>
              <a:rPr lang="en-US" sz="1200" kern="1200" dirty="0">
                <a:solidFill>
                  <a:schemeClr val="tx1"/>
                </a:solidFill>
                <a:effectLst/>
                <a:latin typeface="+mn-lt"/>
                <a:ea typeface="+mn-ea"/>
                <a:cs typeface="+mn-cs"/>
              </a:rPr>
              <a:t> Interns are grouped into pods of four. When an LLM prompt fails or generates hallucinated code, the pod discusses the failure mode and collaboratively devises debugging and testing strategies in real-time.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Roleplay:</a:t>
            </a:r>
            <a:r>
              <a:rPr lang="en-US" sz="1200" kern="1200" dirty="0">
                <a:solidFill>
                  <a:schemeClr val="tx1"/>
                </a:solidFill>
                <a:effectLst/>
                <a:latin typeface="+mn-lt"/>
                <a:ea typeface="+mn-ea"/>
                <a:cs typeface="+mn-cs"/>
              </a:rPr>
              <a:t> Senior full-time engineers act as demanding, ambiguous business stakeholders. Interns must interview them, extract actual requirements, navigate conflicting needs, and verbally justify their system design choices. </a:t>
            </a:r>
          </a:p>
          <a:p>
            <a:r>
              <a:rPr lang="en-US" sz="1200" kern="1200" dirty="0">
                <a:solidFill>
                  <a:schemeClr val="tx1"/>
                </a:solidFill>
                <a:effectLst/>
                <a:latin typeface="+mn-lt"/>
                <a:ea typeface="+mn-ea"/>
                <a:cs typeface="+mn-cs"/>
              </a:rPr>
              <a:t>AI cannot replicate human social friction. Anchoring learning in collaborative, real-world team interactions keeps engineers grounded, accountable, and deeply engaged. </a:t>
            </a:r>
          </a:p>
          <a:p>
            <a:endParaRPr lang="en-US" dirty="0"/>
          </a:p>
        </p:txBody>
      </p:sp>
      <p:sp>
        <p:nvSpPr>
          <p:cNvPr id="4" name="Slide Number Placeholder 3"/>
          <p:cNvSpPr>
            <a:spLocks noGrp="1"/>
          </p:cNvSpPr>
          <p:nvPr>
            <p:ph type="sldNum" sz="quarter" idx="5"/>
          </p:nvPr>
        </p:nvSpPr>
        <p:spPr/>
        <p:txBody>
          <a:bodyPr/>
          <a:lstStyle/>
          <a:p>
            <a:fld id="{586C8764-EE1E-4E72-A622-53BCE1C9AF6F}" type="slidenum">
              <a:rPr lang="en-US" smtClean="0"/>
              <a:t>12</a:t>
            </a:fld>
            <a:endParaRPr lang="en-US"/>
          </a:p>
        </p:txBody>
      </p:sp>
    </p:spTree>
    <p:extLst>
      <p:ext uri="{BB962C8B-B14F-4D97-AF65-F5344CB8AC3E}">
        <p14:creationId xmlns:p14="http://schemas.microsoft.com/office/powerpoint/2010/main" val="6904291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an AI-driven environment, curriculum cannot be static; it must operate as a continuous feedback loop. </a:t>
            </a:r>
          </a:p>
          <a:p>
            <a:r>
              <a:rPr lang="en-US" sz="1200" kern="1200" dirty="0">
                <a:solidFill>
                  <a:schemeClr val="tx1"/>
                </a:solidFill>
                <a:effectLst/>
                <a:latin typeface="+mn-lt"/>
                <a:ea typeface="+mn-ea"/>
                <a:cs typeface="+mn-cs"/>
              </a:rPr>
              <a:t>Our adaptive loop relies on three pillars: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Update Teaching Models:</a:t>
            </a:r>
            <a:r>
              <a:rPr lang="en-US" sz="1200" kern="1200" dirty="0">
                <a:solidFill>
                  <a:schemeClr val="tx1"/>
                </a:solidFill>
                <a:effectLst/>
                <a:latin typeface="+mn-lt"/>
                <a:ea typeface="+mn-ea"/>
                <a:cs typeface="+mn-cs"/>
              </a:rPr>
              <a:t> The optimal ways to prompt, guide, and inspect LLMs change constantly as models evolve. Our curriculum is a living framework updated every few months.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Monitor Telemetry:</a:t>
            </a:r>
            <a:r>
              <a:rPr lang="en-US" sz="1200" kern="1200" dirty="0">
                <a:solidFill>
                  <a:schemeClr val="tx1"/>
                </a:solidFill>
                <a:effectLst/>
                <a:latin typeface="+mn-lt"/>
                <a:ea typeface="+mn-ea"/>
                <a:cs typeface="+mn-cs"/>
              </a:rPr>
              <a:t> We track quantitative engineering telemetry. For example, data showed developers were utilizing 'jump-to-definition' </a:t>
            </a:r>
            <a:r>
              <a:rPr lang="en-US" sz="1200" i="1" kern="1200" dirty="0">
                <a:solidFill>
                  <a:schemeClr val="tx1"/>
                </a:solidFill>
                <a:effectLst/>
                <a:latin typeface="+mn-lt"/>
                <a:ea typeface="+mn-ea"/>
                <a:cs typeface="+mn-cs"/>
              </a:rPr>
              <a:t>more</a:t>
            </a:r>
            <a:r>
              <a:rPr lang="en-US" sz="1200" kern="1200" dirty="0">
                <a:solidFill>
                  <a:schemeClr val="tx1"/>
                </a:solidFill>
                <a:effectLst/>
                <a:latin typeface="+mn-lt"/>
                <a:ea typeface="+mn-ea"/>
                <a:cs typeface="+mn-cs"/>
              </a:rPr>
              <a:t> frequently when using AI assistants. This revealed that developers needed better jump-to-definition navigation skills to verify generated code quickly.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Adjust Task Scope:</a:t>
            </a:r>
            <a:r>
              <a:rPr lang="en-US" sz="1200" kern="1200" dirty="0">
                <a:solidFill>
                  <a:schemeClr val="tx1"/>
                </a:solidFill>
                <a:effectLst/>
                <a:latin typeface="+mn-lt"/>
                <a:ea typeface="+mn-ea"/>
                <a:cs typeface="+mn-cs"/>
              </a:rPr>
              <a:t> When we observed interns spending too much time manually polishing oversized AI-generated drafts, we scaled project scopes down to emphasize depth over breadth. </a:t>
            </a:r>
          </a:p>
          <a:p>
            <a:r>
              <a:rPr lang="en-US" sz="1200" kern="1200" dirty="0">
                <a:solidFill>
                  <a:schemeClr val="tx1"/>
                </a:solidFill>
                <a:effectLst/>
                <a:latin typeface="+mn-lt"/>
                <a:ea typeface="+mn-ea"/>
                <a:cs typeface="+mn-cs"/>
              </a:rPr>
              <a:t>By pairing telemetry with classroom observation, we continually refine how we teach. </a:t>
            </a:r>
          </a:p>
          <a:p>
            <a:endParaRPr lang="en-US" dirty="0"/>
          </a:p>
        </p:txBody>
      </p:sp>
      <p:sp>
        <p:nvSpPr>
          <p:cNvPr id="4" name="Slide Number Placeholder 3"/>
          <p:cNvSpPr>
            <a:spLocks noGrp="1"/>
          </p:cNvSpPr>
          <p:nvPr>
            <p:ph type="sldNum" sz="quarter" idx="5"/>
          </p:nvPr>
        </p:nvSpPr>
        <p:spPr/>
        <p:txBody>
          <a:bodyPr/>
          <a:lstStyle/>
          <a:p>
            <a:fld id="{586C8764-EE1E-4E72-A622-53BCE1C9AF6F}" type="slidenum">
              <a:rPr lang="en-US" smtClean="0"/>
              <a:t>13</a:t>
            </a:fld>
            <a:endParaRPr lang="en-US"/>
          </a:p>
        </p:txBody>
      </p:sp>
    </p:spTree>
    <p:extLst>
      <p:ext uri="{BB962C8B-B14F-4D97-AF65-F5344CB8AC3E}">
        <p14:creationId xmlns:p14="http://schemas.microsoft.com/office/powerpoint/2010/main" val="16397567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you are looking to adapt your own engineering organization or academic curriculum for the AI era, this slide summarizes our overarching blueprint: </a:t>
            </a:r>
          </a:p>
          <a:p>
            <a:pPr marL="228600" lvl="0" indent="-228600">
              <a:buFont typeface="+mj-lt"/>
              <a:buAutoNum type="arabicPeriod"/>
            </a:pPr>
            <a:r>
              <a:rPr lang="en-US" sz="1200" b="1" kern="1200" dirty="0">
                <a:solidFill>
                  <a:schemeClr val="tx1"/>
                </a:solidFill>
                <a:effectLst/>
                <a:latin typeface="+mn-lt"/>
                <a:ea typeface="+mn-ea"/>
                <a:cs typeface="+mn-cs"/>
              </a:rPr>
              <a:t>Embed Pedagogy:</a:t>
            </a:r>
            <a:r>
              <a:rPr lang="en-US" sz="1200" kern="1200" dirty="0">
                <a:solidFill>
                  <a:schemeClr val="tx1"/>
                </a:solidFill>
                <a:effectLst/>
                <a:latin typeface="+mn-lt"/>
                <a:ea typeface="+mn-ea"/>
                <a:cs typeface="+mn-cs"/>
              </a:rPr>
              <a:t> Adopt the 50/50 Developer/Educator model. Ensure your instructors write production code so they intimately understand actual workflow friction. </a:t>
            </a:r>
          </a:p>
          <a:p>
            <a:pPr marL="228600" lvl="0" indent="-228600">
              <a:buFont typeface="+mj-lt"/>
              <a:buAutoNum type="arabicPeriod"/>
            </a:pPr>
            <a:r>
              <a:rPr lang="en-US" sz="1200" b="1" kern="1200" dirty="0">
                <a:solidFill>
                  <a:schemeClr val="tx1"/>
                </a:solidFill>
                <a:effectLst/>
                <a:latin typeface="+mn-lt"/>
                <a:ea typeface="+mn-ea"/>
                <a:cs typeface="+mn-cs"/>
              </a:rPr>
              <a:t>Shift the Bottleneck:</a:t>
            </a:r>
            <a:r>
              <a:rPr lang="en-US" sz="1200" kern="1200" dirty="0">
                <a:solidFill>
                  <a:schemeClr val="tx1"/>
                </a:solidFill>
                <a:effectLst/>
                <a:latin typeface="+mn-lt"/>
                <a:ea typeface="+mn-ea"/>
                <a:cs typeface="+mn-cs"/>
              </a:rPr>
              <a:t> Stop evaluating developers on raw code production velocity. Build training programs specifically around code comprehension, verification, architecture, and code review. </a:t>
            </a:r>
          </a:p>
          <a:p>
            <a:pPr marL="228600" lvl="0" indent="-228600">
              <a:buFont typeface="+mj-lt"/>
              <a:buAutoNum type="arabicPeriod"/>
            </a:pPr>
            <a:r>
              <a:rPr lang="en-US" sz="1200" b="1" kern="1200" dirty="0">
                <a:solidFill>
                  <a:schemeClr val="tx1"/>
                </a:solidFill>
                <a:effectLst/>
                <a:latin typeface="+mn-lt"/>
                <a:ea typeface="+mn-ea"/>
                <a:cs typeface="+mn-cs"/>
              </a:rPr>
              <a:t>Define Observables:</a:t>
            </a:r>
            <a:r>
              <a:rPr lang="en-US" sz="1200" kern="1200" dirty="0">
                <a:solidFill>
                  <a:schemeClr val="tx1"/>
                </a:solidFill>
                <a:effectLst/>
                <a:latin typeface="+mn-lt"/>
                <a:ea typeface="+mn-ea"/>
                <a:cs typeface="+mn-cs"/>
              </a:rPr>
              <a:t> Replace vague syllabi with observable, specific, and measurable Learning Goals. </a:t>
            </a:r>
          </a:p>
          <a:p>
            <a:pPr marL="228600" lvl="0" indent="-228600">
              <a:buFont typeface="+mj-lt"/>
              <a:buAutoNum type="arabicPeriod"/>
            </a:pPr>
            <a:r>
              <a:rPr lang="en-US" sz="1200" b="1" kern="1200" dirty="0">
                <a:solidFill>
                  <a:schemeClr val="tx1"/>
                </a:solidFill>
                <a:effectLst/>
                <a:latin typeface="+mn-lt"/>
                <a:ea typeface="+mn-ea"/>
                <a:cs typeface="+mn-cs"/>
              </a:rPr>
              <a:t>Strategic Withholding:</a:t>
            </a:r>
            <a:r>
              <a:rPr lang="en-US" sz="1200" kern="1200" dirty="0">
                <a:solidFill>
                  <a:schemeClr val="tx1"/>
                </a:solidFill>
                <a:effectLst/>
                <a:latin typeface="+mn-lt"/>
                <a:ea typeface="+mn-ea"/>
                <a:cs typeface="+mn-cs"/>
              </a:rPr>
              <a:t> Do not let AI become an unconstrained, infinitely patient genie. Custom-configure AI tools to scaffold boilerplate while forcing human developers to solve the critical core logic. </a:t>
            </a:r>
          </a:p>
          <a:p>
            <a:endParaRPr lang="en-US" dirty="0"/>
          </a:p>
        </p:txBody>
      </p:sp>
      <p:sp>
        <p:nvSpPr>
          <p:cNvPr id="4" name="Slide Number Placeholder 3"/>
          <p:cNvSpPr>
            <a:spLocks noGrp="1"/>
          </p:cNvSpPr>
          <p:nvPr>
            <p:ph type="sldNum" sz="quarter" idx="5"/>
          </p:nvPr>
        </p:nvSpPr>
        <p:spPr/>
        <p:txBody>
          <a:bodyPr/>
          <a:lstStyle/>
          <a:p>
            <a:fld id="{586C8764-EE1E-4E72-A622-53BCE1C9AF6F}" type="slidenum">
              <a:rPr lang="en-US" smtClean="0"/>
              <a:t>14</a:t>
            </a:fld>
            <a:endParaRPr lang="en-US"/>
          </a:p>
        </p:txBody>
      </p:sp>
    </p:spTree>
    <p:extLst>
      <p:ext uri="{BB962C8B-B14F-4D97-AF65-F5344CB8AC3E}">
        <p14:creationId xmlns:p14="http://schemas.microsoft.com/office/powerpoint/2010/main" val="13058608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provides a visual summary of the mental shift required across the industry. </a:t>
            </a:r>
          </a:p>
          <a:p>
            <a:pPr lvl="0"/>
            <a:r>
              <a:rPr lang="en-US" sz="1200" b="1" kern="1200" dirty="0">
                <a:solidFill>
                  <a:schemeClr val="tx1"/>
                </a:solidFill>
                <a:effectLst/>
                <a:latin typeface="+mn-lt"/>
                <a:ea typeface="+mn-ea"/>
                <a:cs typeface="+mn-cs"/>
              </a:rPr>
              <a:t>Image 1 (Brain &amp; Dialogue):</a:t>
            </a:r>
            <a:r>
              <a:rPr lang="en-US" sz="1200" kern="1200" dirty="0">
                <a:solidFill>
                  <a:schemeClr val="tx1"/>
                </a:solidFill>
                <a:effectLst/>
                <a:latin typeface="+mn-lt"/>
                <a:ea typeface="+mn-ea"/>
                <a:cs typeface="+mn-cs"/>
              </a:rPr>
              <a:t> Demonstrates the cognitive transition. Software engineering is moving from mechanical syntax execution to high-level architectural reasoning and intent communication.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Image 2 (Human at Machine):</a:t>
            </a:r>
            <a:r>
              <a:rPr lang="en-US" sz="1200" kern="1200" dirty="0">
                <a:solidFill>
                  <a:schemeClr val="tx1"/>
                </a:solidFill>
                <a:effectLst/>
                <a:latin typeface="+mn-lt"/>
                <a:ea typeface="+mn-ea"/>
                <a:cs typeface="+mn-cs"/>
              </a:rPr>
              <a:t> Represents stewardship. The human engineer is no longer the manual compiler; they are the operator and validator overseeing automated assembly.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Image 3 (Code Workspace):</a:t>
            </a:r>
            <a:r>
              <a:rPr lang="en-US" sz="1200" kern="1200" dirty="0">
                <a:solidFill>
                  <a:schemeClr val="tx1"/>
                </a:solidFill>
                <a:effectLst/>
                <a:latin typeface="+mn-lt"/>
                <a:ea typeface="+mn-ea"/>
                <a:cs typeface="+mn-cs"/>
              </a:rPr>
              <a:t> Highlights the centrality of focused, integrated text-editor workflows over fragmented Web tools.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Image 4 (Magnifying Glass over Code):</a:t>
            </a:r>
            <a:r>
              <a:rPr lang="en-US" sz="1200" kern="1200" dirty="0">
                <a:solidFill>
                  <a:schemeClr val="tx1"/>
                </a:solidFill>
                <a:effectLst/>
                <a:latin typeface="+mn-lt"/>
                <a:ea typeface="+mn-ea"/>
                <a:cs typeface="+mn-cs"/>
              </a:rPr>
              <a:t> Represents verification. The primary skill of the modern engineer is critical inspection and deep debugging.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Image 5 (Collaborative Whiteboard):</a:t>
            </a:r>
            <a:r>
              <a:rPr lang="en-US" sz="1200" kern="1200" dirty="0">
                <a:solidFill>
                  <a:schemeClr val="tx1"/>
                </a:solidFill>
                <a:effectLst/>
                <a:latin typeface="+mn-lt"/>
                <a:ea typeface="+mn-ea"/>
                <a:cs typeface="+mn-cs"/>
              </a:rPr>
              <a:t> Highlights social friction. Architectural alignment, human requirement extraction, and pod collaboration anchor real-world learning.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Image 6 (Locked AI Access):</a:t>
            </a:r>
            <a:r>
              <a:rPr lang="en-US" sz="1200" kern="1200" dirty="0">
                <a:solidFill>
                  <a:schemeClr val="tx1"/>
                </a:solidFill>
                <a:effectLst/>
                <a:latin typeface="+mn-lt"/>
                <a:ea typeface="+mn-ea"/>
                <a:cs typeface="+mn-cs"/>
              </a:rPr>
              <a:t> Symbolizes strategic withholding—controlling AI access points to ensure foundational skills are built before automation is unlocked. </a:t>
            </a:r>
          </a:p>
          <a:p>
            <a:r>
              <a:rPr lang="en-US" sz="1200" kern="1200" dirty="0">
                <a:solidFill>
                  <a:schemeClr val="tx1"/>
                </a:solidFill>
                <a:effectLst/>
                <a:latin typeface="+mn-lt"/>
                <a:ea typeface="+mn-ea"/>
                <a:cs typeface="+mn-cs"/>
              </a:rPr>
              <a:t>These six images illustrate a single reality: engineering education is moving from </a:t>
            </a:r>
            <a:r>
              <a:rPr lang="en-US" sz="1200" b="1" kern="1200" dirty="0">
                <a:solidFill>
                  <a:schemeClr val="tx1"/>
                </a:solidFill>
                <a:effectLst/>
                <a:latin typeface="+mn-lt"/>
                <a:ea typeface="+mn-ea"/>
                <a:cs typeface="+mn-cs"/>
              </a:rPr>
              <a:t>authoring production</a:t>
            </a:r>
            <a:r>
              <a:rPr lang="en-US" sz="1200" kern="1200" dirty="0">
                <a:solidFill>
                  <a:schemeClr val="tx1"/>
                </a:solidFill>
                <a:effectLst/>
                <a:latin typeface="+mn-lt"/>
                <a:ea typeface="+mn-ea"/>
                <a:cs typeface="+mn-cs"/>
              </a:rPr>
              <a:t> to </a:t>
            </a:r>
            <a:r>
              <a:rPr lang="en-US" sz="1200" b="1" kern="1200" dirty="0">
                <a:solidFill>
                  <a:schemeClr val="tx1"/>
                </a:solidFill>
                <a:effectLst/>
                <a:latin typeface="+mn-lt"/>
                <a:ea typeface="+mn-ea"/>
                <a:cs typeface="+mn-cs"/>
              </a:rPr>
              <a:t>architectural mastery</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586C8764-EE1E-4E72-A622-53BCE1C9AF6F}" type="slidenum">
              <a:rPr lang="en-US" smtClean="0"/>
              <a:t>15</a:t>
            </a:fld>
            <a:endParaRPr lang="en-US"/>
          </a:p>
        </p:txBody>
      </p:sp>
    </p:spTree>
    <p:extLst>
      <p:ext uri="{BB962C8B-B14F-4D97-AF65-F5344CB8AC3E}">
        <p14:creationId xmlns:p14="http://schemas.microsoft.com/office/powerpoint/2010/main" val="40376718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let’s consolidate the core educational shift driving our pedagogy. </a:t>
            </a:r>
          </a:p>
          <a:p>
            <a:r>
              <a:rPr lang="en-US" sz="1200" b="1" kern="1200" dirty="0">
                <a:solidFill>
                  <a:schemeClr val="tx1"/>
                </a:solidFill>
                <a:effectLst/>
                <a:latin typeface="+mn-lt"/>
                <a:ea typeface="+mn-ea"/>
                <a:cs typeface="+mn-cs"/>
              </a:rPr>
              <a:t>The Science of Effective Learning:</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Flipped Classroom Model:</a:t>
            </a:r>
            <a:r>
              <a:rPr lang="en-US" sz="1200" kern="1200" dirty="0">
                <a:solidFill>
                  <a:schemeClr val="tx1"/>
                </a:solidFill>
                <a:effectLst/>
                <a:latin typeface="+mn-lt"/>
                <a:ea typeface="+mn-ea"/>
                <a:cs typeface="+mn-cs"/>
              </a:rPr>
              <a:t> Information delivery happens prior to class; valuable interactive time is reserved for live problem-solving and peer review. </a:t>
            </a:r>
          </a:p>
          <a:p>
            <a:pPr lvl="0"/>
            <a:r>
              <a:rPr lang="en-US" sz="1200" b="1" kern="1200" dirty="0">
                <a:solidFill>
                  <a:schemeClr val="tx1"/>
                </a:solidFill>
                <a:effectLst/>
                <a:latin typeface="+mn-lt"/>
                <a:ea typeface="+mn-ea"/>
                <a:cs typeface="+mn-cs"/>
              </a:rPr>
              <a:t>Value of the 'Struggle':</a:t>
            </a:r>
            <a:r>
              <a:rPr lang="en-US" sz="1200" kern="1200" dirty="0">
                <a:solidFill>
                  <a:schemeClr val="tx1"/>
                </a:solidFill>
                <a:effectLst/>
                <a:latin typeface="+mn-lt"/>
                <a:ea typeface="+mn-ea"/>
                <a:cs typeface="+mn-cs"/>
              </a:rPr>
              <a:t> Bypassing cognitive struggle via instant AI generation degrades long-term skill retention. </a:t>
            </a:r>
          </a:p>
          <a:p>
            <a:pPr lvl="0"/>
            <a:r>
              <a:rPr lang="en-US" sz="1200" b="1" kern="1200" dirty="0">
                <a:solidFill>
                  <a:schemeClr val="tx1"/>
                </a:solidFill>
                <a:effectLst/>
                <a:latin typeface="+mn-lt"/>
                <a:ea typeface="+mn-ea"/>
                <a:cs typeface="+mn-cs"/>
              </a:rPr>
              <a:t>Withholding Affordances:</a:t>
            </a:r>
            <a:r>
              <a:rPr lang="en-US" sz="1200" kern="1200" dirty="0">
                <a:solidFill>
                  <a:schemeClr val="tx1"/>
                </a:solidFill>
                <a:effectLst/>
                <a:latin typeface="+mn-lt"/>
                <a:ea typeface="+mn-ea"/>
                <a:cs typeface="+mn-cs"/>
              </a:rPr>
              <a:t> Restricting AI access at key learning milestones ensures foundational mastery. </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Dimension		Traditional Era	Age of AI</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Primary Task		</a:t>
            </a:r>
            <a:r>
              <a:rPr lang="en-US" sz="1200" kern="1200" dirty="0">
                <a:solidFill>
                  <a:schemeClr val="tx1"/>
                </a:solidFill>
                <a:effectLst/>
                <a:latin typeface="+mn-lt"/>
                <a:ea typeface="+mn-ea"/>
                <a:cs typeface="+mn-cs"/>
              </a:rPr>
              <a:t>Writing / Syntax 	Reviewing / Verifying </a:t>
            </a:r>
          </a:p>
          <a:p>
            <a:r>
              <a:rPr lang="en-US" sz="1200" b="1" kern="1200" dirty="0">
                <a:solidFill>
                  <a:schemeClr val="tx1"/>
                </a:solidFill>
                <a:effectLst/>
                <a:latin typeface="+mn-lt"/>
                <a:ea typeface="+mn-ea"/>
                <a:cs typeface="+mn-cs"/>
              </a:rPr>
              <a:t>Learning Goal		</a:t>
            </a:r>
            <a:r>
              <a:rPr lang="en-US" sz="1200" kern="1200" dirty="0">
                <a:solidFill>
                  <a:schemeClr val="tx1"/>
                </a:solidFill>
                <a:effectLst/>
                <a:latin typeface="+mn-lt"/>
                <a:ea typeface="+mn-ea"/>
                <a:cs typeface="+mn-cs"/>
              </a:rPr>
              <a:t>Code Generation 	Mental Model Building </a:t>
            </a:r>
          </a:p>
          <a:p>
            <a:r>
              <a:rPr lang="en-US" sz="1200" b="1" kern="1200" dirty="0">
                <a:solidFill>
                  <a:schemeClr val="tx1"/>
                </a:solidFill>
                <a:effectLst/>
                <a:latin typeface="+mn-lt"/>
                <a:ea typeface="+mn-ea"/>
                <a:cs typeface="+mn-cs"/>
              </a:rPr>
              <a:t>Access Model		</a:t>
            </a:r>
            <a:r>
              <a:rPr lang="en-US" sz="1200" kern="1200" dirty="0">
                <a:solidFill>
                  <a:schemeClr val="tx1"/>
                </a:solidFill>
                <a:effectLst/>
                <a:latin typeface="+mn-lt"/>
                <a:ea typeface="+mn-ea"/>
                <a:cs typeface="+mn-cs"/>
              </a:rPr>
              <a:t>Full Manual / Standard Tools	Strategic Withholding / Guided AI </a:t>
            </a:r>
          </a:p>
          <a:p>
            <a:r>
              <a:rPr lang="en-US" sz="1200" b="1" kern="1200" dirty="0">
                <a:solidFill>
                  <a:schemeClr val="tx1"/>
                </a:solidFill>
                <a:effectLst/>
                <a:latin typeface="+mn-lt"/>
                <a:ea typeface="+mn-ea"/>
                <a:cs typeface="+mn-cs"/>
              </a:rPr>
              <a:t>Success Metric	</a:t>
            </a:r>
            <a:r>
              <a:rPr lang="en-US" sz="1200" kern="1200" dirty="0">
                <a:solidFill>
                  <a:schemeClr val="tx1"/>
                </a:solidFill>
                <a:effectLst/>
                <a:latin typeface="+mn-lt"/>
                <a:ea typeface="+mn-ea"/>
                <a:cs typeface="+mn-cs"/>
              </a:rPr>
              <a:t>Working Program 	Validated Architecture </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Final Word:</a:t>
            </a:r>
            <a:r>
              <a:rPr lang="en-US" sz="1200" kern="1200" dirty="0">
                <a:solidFill>
                  <a:schemeClr val="tx1"/>
                </a:solidFill>
                <a:effectLst/>
                <a:latin typeface="+mn-lt"/>
                <a:ea typeface="+mn-ea"/>
                <a:cs typeface="+mn-cs"/>
              </a:rPr>
              <a:t> We must move software engineering education away from 'vibe coding' and unvetted prompts toward rigorous verification, test stewardship, and validated architecture. </a:t>
            </a:r>
          </a:p>
          <a:p>
            <a:r>
              <a:rPr lang="en-US" sz="1200" kern="1200" dirty="0">
                <a:solidFill>
                  <a:schemeClr val="tx1"/>
                </a:solidFill>
                <a:effectLst/>
                <a:latin typeface="+mn-lt"/>
                <a:ea typeface="+mn-ea"/>
                <a:cs typeface="+mn-cs"/>
              </a:rPr>
              <a:t>Thank you! I will now open the floor to any questions.</a:t>
            </a:r>
          </a:p>
          <a:p>
            <a:endParaRPr lang="en-US" dirty="0"/>
          </a:p>
          <a:p>
            <a:endParaRPr lang="en-US" dirty="0"/>
          </a:p>
          <a:p>
            <a:endParaRPr lang="en-US" dirty="0"/>
          </a:p>
          <a:p>
            <a:endParaRPr lang="en-US" dirty="0"/>
          </a:p>
          <a:p>
            <a:endParaRPr lang="en-US" dirty="0"/>
          </a:p>
          <a:p>
            <a:r>
              <a:rPr lang="en-US" b="1" dirty="0"/>
              <a:t>Teaching in the Age of AI: Learning Goals and the Goals of Learning</a:t>
            </a:r>
          </a:p>
          <a:p>
            <a:r>
              <a:rPr lang="en-US" dirty="0"/>
              <a:t>https://www.youtube.com/watch?v=qN6OM1IzjIE</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86C8764-EE1E-4E72-A622-53BCE1C9AF6F}" type="slidenum">
              <a:rPr lang="en-US" smtClean="0"/>
              <a:t>16</a:t>
            </a:fld>
            <a:endParaRPr lang="en-US"/>
          </a:p>
        </p:txBody>
      </p:sp>
    </p:spTree>
    <p:extLst>
      <p:ext uri="{BB962C8B-B14F-4D97-AF65-F5344CB8AC3E}">
        <p14:creationId xmlns:p14="http://schemas.microsoft.com/office/powerpoint/2010/main" val="1737944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5F1CD8-EBDB-98D8-9348-0C2F846849E3}"/>
              </a:ext>
            </a:extLst>
          </p:cNvPr>
          <p:cNvSpPr>
            <a:spLocks noGrp="1"/>
          </p:cNvSpPr>
          <p:nvPr>
            <p:ph type="dt" sz="half" idx="10"/>
          </p:nvPr>
        </p:nvSpPr>
        <p:spPr/>
        <p:txBody>
          <a:bodyPr/>
          <a:lstStyle/>
          <a:p>
            <a:fld id="{45505C16-5709-42D0-9F0B-D1705CE5104F}" type="datetimeFigureOut">
              <a:rPr lang="en-US" smtClean="0"/>
              <a:t>10/20/2026</a:t>
            </a:fld>
            <a:endParaRPr lang="en-US"/>
          </a:p>
        </p:txBody>
      </p:sp>
      <p:sp>
        <p:nvSpPr>
          <p:cNvPr id="3" name="Footer Placeholder 2">
            <a:extLst>
              <a:ext uri="{FF2B5EF4-FFF2-40B4-BE49-F238E27FC236}">
                <a16:creationId xmlns:a16="http://schemas.microsoft.com/office/drawing/2014/main" id="{F60DE77C-723A-C1B5-524C-8EDF0585BC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D1A3213-AE07-EAA5-E4DC-162E3CB04691}"/>
              </a:ext>
            </a:extLst>
          </p:cNvPr>
          <p:cNvSpPr>
            <a:spLocks noGrp="1"/>
          </p:cNvSpPr>
          <p:nvPr>
            <p:ph type="sldNum" sz="quarter" idx="12"/>
          </p:nvPr>
        </p:nvSpPr>
        <p:spPr/>
        <p:txBody>
          <a:bodyPr/>
          <a:lstStyle/>
          <a:p>
            <a:fld id="{CDEB226F-01A5-4498-82DB-AC5BABA282B8}" type="slidenum">
              <a:rPr lang="en-US" smtClean="0"/>
              <a:t>‹#›</a:t>
            </a:fld>
            <a:endParaRPr lang="en-US"/>
          </a:p>
        </p:txBody>
      </p:sp>
    </p:spTree>
    <p:extLst>
      <p:ext uri="{BB962C8B-B14F-4D97-AF65-F5344CB8AC3E}">
        <p14:creationId xmlns:p14="http://schemas.microsoft.com/office/powerpoint/2010/main" val="156747994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09A02B-7DA2-977E-F32B-394EF2B508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F5F3FB-D2C5-F93D-A1EC-F29394D4CD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52A989-C800-3F56-EF95-883242DBA4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505C16-5709-42D0-9F0B-D1705CE5104F}" type="datetimeFigureOut">
              <a:rPr lang="en-US" smtClean="0"/>
              <a:t>10/20/2026</a:t>
            </a:fld>
            <a:endParaRPr lang="en-US"/>
          </a:p>
        </p:txBody>
      </p:sp>
      <p:sp>
        <p:nvSpPr>
          <p:cNvPr id="5" name="Footer Placeholder 4">
            <a:extLst>
              <a:ext uri="{FF2B5EF4-FFF2-40B4-BE49-F238E27FC236}">
                <a16:creationId xmlns:a16="http://schemas.microsoft.com/office/drawing/2014/main" id="{CF65D48E-5805-117D-D470-C690C3FB6A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31C2E1B-510B-45C2-2A4B-293FDD7063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EB226F-01A5-4498-82DB-AC5BABA282B8}" type="slidenum">
              <a:rPr lang="en-US" smtClean="0"/>
              <a:t>‹#›</a:t>
            </a:fld>
            <a:endParaRPr lang="en-US"/>
          </a:p>
        </p:txBody>
      </p:sp>
    </p:spTree>
    <p:extLst>
      <p:ext uri="{BB962C8B-B14F-4D97-AF65-F5344CB8AC3E}">
        <p14:creationId xmlns:p14="http://schemas.microsoft.com/office/powerpoint/2010/main" val="1497462443"/>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58D5FCD-9866-E052-8655-484534ABD89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3A12BE-8D3F-EE09-9174-A6F2A3246DC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F0E3F7-D355-0A84-70AD-E4CEBC4C3EF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A657CE-596B-0F15-FF1F-F4E3DE032FE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2FEF000-3DA8-E28D-5F65-8F52CBBD785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AE95DF-4753-E711-5CB3-D3105C5DA6D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a:extLst>
              <a:ext uri="{FF2B5EF4-FFF2-40B4-BE49-F238E27FC236}">
                <a16:creationId xmlns:a16="http://schemas.microsoft.com/office/drawing/2014/main" id="{CFBC07BB-8E6D-36BF-0F38-A132C792273C}"/>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71C394-4643-A8C5-FA2F-60934907ED8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52588FA-4B52-EE2C-5CFE-8C6279E2352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0DB8F9-F172-9727-BBF7-AB65AA945AF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25610F-D988-C899-337C-35F521F4DA4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BE6AE9E-F2A3-48BD-E4CD-B8CE287EA0D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CCA398-0417-7F0B-C302-81152AF2E42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DCB8CA-B097-A79E-64F1-B9A62494AEB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C28192-38CA-5260-D499-A8B86224040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339755-A57E-22F0-C8A9-45F7DFF69D83}"/>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9124188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2757</Words>
  <Application>Microsoft Office PowerPoint</Application>
  <PresentationFormat>寬螢幕</PresentationFormat>
  <Paragraphs>158</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2026-09-24T05:27:38Z</dcterms:created>
  <dcterms:modified xsi:type="dcterms:W3CDTF">2026-10-20T13:26:29Z</dcterms:modified>
</cp:coreProperties>
</file>