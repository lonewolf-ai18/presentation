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30E9B-0888-4885-A3A5-0B86EEA01EC5}" v="22" dt="2026-09-22T03:47:30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462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">
      <pc:chgData name="Lai, Wilson" userId="2840974a-0d84-4886-90a9-9a3ed79f3a48" providerId="ADAL" clId="{9F23B798-9E84-4552-BA63-E776E805C424}" dt="2026-09-22T03:48:08.506" v="95" actId="166"/>
      <pc:docMkLst>
        <pc:docMk/>
      </pc:docMkLst>
      <pc:sldChg chg="addSp delSp modSp mod modAnim modNotes modNotesTx">
        <pc:chgData name="Lai, Wilson" userId="2840974a-0d84-4886-90a9-9a3ed79f3a48" providerId="ADAL" clId="{9F23B798-9E84-4552-BA63-E776E805C424}" dt="2026-09-22T03:48:08.506" v="95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22T00:01:28.112" v="13" actId="164"/>
          <ac:spMkLst>
            <pc:docMk/>
            <pc:sldMk cId="0" sldId="257"/>
            <ac:spMk id="5" creationId="{01B37CB4-9A93-C354-A2E0-339C1B446B63}"/>
          </ac:spMkLst>
        </pc:spChg>
        <pc:grpChg chg="add mod">
          <ac:chgData name="Lai, Wilson" userId="2840974a-0d84-4886-90a9-9a3ed79f3a48" providerId="ADAL" clId="{9F23B798-9E84-4552-BA63-E776E805C424}" dt="2026-09-22T00:01:28.112" v="13" actId="164"/>
          <ac:grpSpMkLst>
            <pc:docMk/>
            <pc:sldMk cId="0" sldId="257"/>
            <ac:grpSpMk id="6" creationId="{57DAD2DC-6007-B743-8A5B-82CE99B1C0D2}"/>
          </ac:grpSpMkLst>
        </pc:grpChg>
        <pc:picChg chg="del">
          <ac:chgData name="Lai, Wilson" userId="2840974a-0d84-4886-90a9-9a3ed79f3a48" providerId="ADAL" clId="{9F23B798-9E84-4552-BA63-E776E805C424}" dt="2026-09-22T00:21:47.320" v="14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22T00:01:28.112" v="13" actId="164"/>
          <ac:picMkLst>
            <pc:docMk/>
            <pc:sldMk cId="0" sldId="257"/>
            <ac:picMk id="3" creationId="{20B93CAC-71A9-F154-3067-99ECD454458F}"/>
          </ac:picMkLst>
        </pc:picChg>
        <pc:picChg chg="add ord">
          <ac:chgData name="Lai, Wilson" userId="2840974a-0d84-4886-90a9-9a3ed79f3a48" providerId="ADAL" clId="{9F23B798-9E84-4552-BA63-E776E805C424}" dt="2026-09-22T03:48:08.506" v="95" actId="166"/>
          <ac:picMkLst>
            <pc:docMk/>
            <pc:sldMk cId="0" sldId="257"/>
            <ac:picMk id="7" creationId="{2F2CDEB9-F86D-3A0C-ED39-D2AA8200448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22T00:21:56.958" v="16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2:04.368" v="17" actId="22"/>
          <ac:picMkLst>
            <pc:docMk/>
            <pc:sldMk cId="0" sldId="258"/>
            <ac:picMk id="4" creationId="{79A90385-CFC7-2FF8-E914-D19E491E144A}"/>
          </ac:picMkLst>
        </pc:picChg>
      </pc:sldChg>
      <pc:sldChg chg="modNotes modNotesTx">
        <pc:chgData name="Lai, Wilson" userId="2840974a-0d84-4886-90a9-9a3ed79f3a48" providerId="ADAL" clId="{9F23B798-9E84-4552-BA63-E776E805C424}" dt="2026-09-22T03:47:30.998" v="93"/>
        <pc:sldMkLst>
          <pc:docMk/>
          <pc:sldMk cId="0" sldId="259"/>
        </pc:sldMkLst>
      </pc:sldChg>
      <pc:sldChg chg="addSp delSp mod modNotes modNotesTx">
        <pc:chgData name="Lai, Wilson" userId="2840974a-0d84-4886-90a9-9a3ed79f3a48" providerId="ADAL" clId="{9F23B798-9E84-4552-BA63-E776E805C424}" dt="2026-09-22T03:47:20.573" v="91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22T00:22:12.294" v="18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2:29.290" v="19" actId="22"/>
          <ac:picMkLst>
            <pc:docMk/>
            <pc:sldMk cId="0" sldId="260"/>
            <ac:picMk id="4" creationId="{FCEAAD09-D51D-A51F-9A2E-83E90552BD1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30.998" v="93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22T00:22:31.046" v="20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2:43.417" v="21" actId="22"/>
          <ac:picMkLst>
            <pc:docMk/>
            <pc:sldMk cId="0" sldId="261"/>
            <ac:picMk id="4" creationId="{8C555045-22C8-C7F9-9D8D-6E358E33FDEA}"/>
          </ac:picMkLst>
        </pc:picChg>
      </pc:sldChg>
      <pc:sldChg chg="addSp delSp modSp mod delAnim modAnim modNotes">
        <pc:chgData name="Lai, Wilson" userId="2840974a-0d84-4886-90a9-9a3ed79f3a48" providerId="ADAL" clId="{9F23B798-9E84-4552-BA63-E776E805C424}" dt="2026-09-22T03:47:20.573" v="91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22T00:22:45.054" v="22" actId="21"/>
          <ac:picMkLst>
            <pc:docMk/>
            <pc:sldMk cId="0" sldId="262"/>
            <ac:picMk id="2" creationId="{00000000-0000-0000-0000-000000000000}"/>
          </ac:picMkLst>
        </pc:picChg>
        <pc:picChg chg="add del mod">
          <ac:chgData name="Lai, Wilson" userId="2840974a-0d84-4886-90a9-9a3ed79f3a48" providerId="ADAL" clId="{9F23B798-9E84-4552-BA63-E776E805C424}" dt="2026-09-22T00:00:45.653" v="1" actId="21"/>
          <ac:picMkLst>
            <pc:docMk/>
            <pc:sldMk cId="0" sldId="262"/>
            <ac:picMk id="3" creationId="{20B93CAC-71A9-F154-3067-99ECD454458F}"/>
          </ac:picMkLst>
        </pc:picChg>
        <pc:picChg chg="add">
          <ac:chgData name="Lai, Wilson" userId="2840974a-0d84-4886-90a9-9a3ed79f3a48" providerId="ADAL" clId="{9F23B798-9E84-4552-BA63-E776E805C424}" dt="2026-09-22T00:23:05.311" v="23" actId="22"/>
          <ac:picMkLst>
            <pc:docMk/>
            <pc:sldMk cId="0" sldId="262"/>
            <ac:picMk id="4" creationId="{3CF59472-CC13-83BE-BFB1-D470325F2257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22T00:23:07.276" v="24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3:29.271" v="25" actId="22"/>
          <ac:picMkLst>
            <pc:docMk/>
            <pc:sldMk cId="0" sldId="263"/>
            <ac:picMk id="4" creationId="{6FCF7D6A-83B1-575B-409C-03CAE3B47A5A}"/>
          </ac:picMkLst>
        </pc:picChg>
      </pc:sldChg>
      <pc:sldChg chg="modNotes modNotesTx">
        <pc:chgData name="Lai, Wilson" userId="2840974a-0d84-4886-90a9-9a3ed79f3a48" providerId="ADAL" clId="{9F23B798-9E84-4552-BA63-E776E805C424}" dt="2026-09-22T03:47:30.998" v="93"/>
        <pc:sldMkLst>
          <pc:docMk/>
          <pc:sldMk cId="0" sldId="264"/>
        </pc:sldMkLst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22T00:23:33.665" v="26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3:43.124" v="27" actId="22"/>
          <ac:picMkLst>
            <pc:docMk/>
            <pc:sldMk cId="0" sldId="265"/>
            <ac:picMk id="4" creationId="{9D259DF1-2273-A1F0-3BEA-C0D7119D184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22T00:23:46.653" v="28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3:57.145" v="29" actId="22"/>
          <ac:picMkLst>
            <pc:docMk/>
            <pc:sldMk cId="0" sldId="266"/>
            <ac:picMk id="4" creationId="{A68F9CDC-FDC3-7385-AAC7-E864786ECB69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2T03:47:26.995" v="9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9-22T00:23:59.401" v="30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4:14.162" v="31" actId="22"/>
          <ac:picMkLst>
            <pc:docMk/>
            <pc:sldMk cId="0" sldId="267"/>
            <ac:picMk id="4" creationId="{78DA06AA-AF57-18D8-078E-9F67F290C1E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9-22T00:24:17.438" v="32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4:25.356" v="33" actId="22"/>
          <ac:picMkLst>
            <pc:docMk/>
            <pc:sldMk cId="0" sldId="268"/>
            <ac:picMk id="4" creationId="{4762350F-07E1-797D-D55C-B7CD205C8F2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0.573" v="91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9-22T00:24:26.635" v="34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4:40.923" v="35" actId="22"/>
          <ac:picMkLst>
            <pc:docMk/>
            <pc:sldMk cId="0" sldId="269"/>
            <ac:picMk id="4" creationId="{698ED48E-08BC-0F49-C5F9-7FA2B7A79478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2T03:47:26.995" v="92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9-22T00:24:42.232" v="36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4:54.204" v="37" actId="22"/>
          <ac:picMkLst>
            <pc:docMk/>
            <pc:sldMk cId="0" sldId="270"/>
            <ac:picMk id="4" creationId="{EFC2105D-9C10-316F-3B45-C792931436E6}"/>
          </ac:picMkLst>
        </pc:picChg>
      </pc:sldChg>
      <pc:sldChg chg="addSp delSp mod modNotes">
        <pc:chgData name="Lai, Wilson" userId="2840974a-0d84-4886-90a9-9a3ed79f3a48" providerId="ADAL" clId="{9F23B798-9E84-4552-BA63-E776E805C424}" dt="2026-09-22T03:47:26.995" v="9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9-22T00:24:55.903" v="38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2T00:25:06.240" v="39" actId="22"/>
          <ac:picMkLst>
            <pc:docMk/>
            <pc:sldMk cId="0" sldId="271"/>
            <ac:picMk id="4" creationId="{0E7D10BC-E831-2DBE-ADDC-5AB9526D3E62}"/>
          </ac:picMkLst>
        </pc:picChg>
      </pc:sldChg>
      <pc:sldChg chg="modNotes modNotesTx">
        <pc:chgData name="Lai, Wilson" userId="2840974a-0d84-4886-90a9-9a3ed79f3a48" providerId="ADAL" clId="{9F23B798-9E84-4552-BA63-E776E805C424}" dt="2026-09-22T03:47:26.995" v="92"/>
        <pc:sldMkLst>
          <pc:docMk/>
          <pc:sldMk cId="4350878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99BC5-056D-4A9A-B047-5518BA1D190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D40C8-4724-497C-A319-5B22F5C8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7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everyone. Today, we’re unpacking a concept that completely flips traditional entrepreneurship on its head: moving from being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your business to actually owning an asset that serves your life.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business advice online pushes what Codie Sanchez calls hustle culture or trauma-bonding—the idea that you must grind yourself to exhaustion until you eventually outlive the competition.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as Codie highlights in her discussion with Lewis Howes, working yourself into burnout isn't a badge of honor; it’s a design flaw in your business model.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next 16 slides, we are going to walk through the exact Private Equity framework designed to dismantle this hustle myth and build true financial sovereignty through systematic ownership.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Deepest Conversation You’ll Ever Watch About Money | Codie Sanchez</a:t>
            </a:r>
          </a:p>
          <a:p>
            <a:r>
              <a:rPr lang="en-US" dirty="0"/>
              <a:t>https://www.youtube.com/watch?v=a_5-iAEMRpE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05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address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Myth vs. The Reality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popular myth glorified on social media shows founders flying on private jets and making millions while barely working.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Reality?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average annual salary of most entrepreneurs across the U.S. is just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$46,000 to $64,000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put that in perspective, California’s minimum wage equates to roughly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$78,000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 year. That means the majority of business owners make less than minimum wage when accounting for their time.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Insights: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Trauma-Bonding to Hustle: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We’ve been conditioned to believe that if business isn't miserable and hard, we aren't trying hard enough.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Ego vs. Profit: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Most founders optimize for top-line revenue because big figures sound impressive, but revenue is a vanity metric if net income is zero.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Trap: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stop working and cash stops flowing,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don't own a business; you own an expensive, stressful job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97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determine whether you own a true business asset or just an expensive job, you must run your company through three core diagnostic tests: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Time Test: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 Job: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take off for 8 weeks, does the company collapse? This is classic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Keyman Risk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—where you are the sole key that unlocks the value.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Asset: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step away for 8 weeks, systems and processes ensure that cash continues to flow seamlessly without your daily intervention.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Talent Test: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 Job: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are surrounded by a sea of assistants who wait around for your orders because you're afraid to hire people smarter than you.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Asset: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are surrounded by leaders operating directly in their zone of genius, executing higher-level decisions independently.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 Income Test: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 Job: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Revenue is continuously chased through exhausting, one-off sales cycles.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 Asset: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Revenue is predictable, continuous, and automated via recurring models.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978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 sovereignty starts with identity and mindset. In the interview, Codie notes that people generally split into two categories: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Builder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Taker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Builder: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Operates from a belief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massive abundance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Knows they can create value out of thin air by solving real market problems.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 that capital naturally flows and multiplies where it can proliferate—like a growing garden.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Taker: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Believes wealth is zero-sum—that for them to win, someone else must lose.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Operates from scarcity, attempting to extract value rather than construct it.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prerequisite to building real wealth is shifting from a scarcity mindset to the unapologetic belief that you are capable of building long-term value.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93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private equity firms consistently acquire businesses and dramatically scale their profitability? They don't rely on creative genius;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run a repeatable playbook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4-Step Private Equity Framework: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Start at the single source of truth—the Profit &amp; Loss (P&amp;L) statement—to locate hidden inefficiencies and cost leaks.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the business against the 12 Core Profit Levers (The 12 Ps) using structured scoring metrics.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Implement system fixes, optimize terms, raise prices, and transition to recurring structures.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Enforce a strict 90-day review cadence to eliminate operational blind spots and measure progress.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David Adelman and other PE leaders state: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Don't try to be a genius. Just steal the homework and run the playbook.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8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Source of Truth: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P&amp;L statement is the single most honest document in your organization.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wasting effort trying to acquire more customers or drive top-line growth, run a thorough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X-ray on your costs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starting with costs matters: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significantly easier to keep the money you already make than to double your sales volume. 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Pouring more marketing dollars into a business with poor operational efficiency is like pouring water into a leaky bucket.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Step: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Audit your operating expenses, hidden subscription fees, and structural inefficiencies today.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95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looking to optimize revenue and cash flow, there are 3 immediate levers every business owner should pull: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 1: Persona (Who)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 projecting your personal wallet onto your clients. Many owners underprice because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wouldn't buy at high rates. Target high-capital clients who value time and outcome over price.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 2: Pricing (How Much)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 from market-based pricing (matching competitors) to value-based pricing. Most small businesses are underpriced by 30% to 300%. Adjust payment terms to collect cash upfront.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 3: Recurring Lifetime Value (LTV) (How Often)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away from one-off transactional sales. Build continuous billing structures where customers pay automatically month after month.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60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Equity frameworks evaluate business operations across 12 distinct P levers to generate an overall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 Score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all 12 levers contribute to total business health,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core levers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drive immediate cash flow improvements: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Aligning with affluent, high-LTV targets.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Moving away from cost-plus to value-driven positioning.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Packaging offerings for scale rather than customized labor.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Ensuring cash flows to the owner first rather than last.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Documenting SOPs so execution doesn't depend on key talent.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People: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Aligning incentives and hiring leaders rather than task-doers.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Promotion/Pipeline: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Establishing predictable customer acquisition systems.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0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build a business that runs without you, you must understand your own operational blind spots. Codie identifies 12 Founder Archetypes in her book: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Common Archetype Profiles: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Workhorse: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Equates hard work with success; takes on all tasks instead of delegating or setting boundaries.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Ball Hog: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Wants to take every shot himself; acts like Michael Jordan without a coach or team.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Good Guy: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Reluctant to raise prices or enforce tough contract terms for fear of conflict.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Dreamer / Founder: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Attached to original ideas even when the market signals it's time to pivot.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Identifying your archetype is the first step toward stepping out of the day-to-day operations and building systems to balance your weaknesses.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93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cannot manage what you do not measure. Calculating your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 Score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provides an objective audit of your business asset health.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Audit Works: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your performance across the 12 Profit Levers.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your level of Keyman Risk (how dependent the business is on your daily involvement).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whether your income is recurring or transactional.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low Owner Score indicates an expensive job; a high Owner Score reflects an independent, scalable asset ready for growth or exit.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53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you've scored your business, it’s time to execute strategic operational upgrades: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Value-Based Pricing: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Re-evaluate your contracts. Raising prices by even 10–20% without increasing overhead directly expands net profit margins.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Automated Recurring Revenue: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Convert one-time service deals into retainer, membership, or subscription structures.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Operational SOPs: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Systematize core workflows so team members can execute tasks seamlessly without requiring owner approval.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Incentive Alignment: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Align employee compensation with profit goals so leadership acts like owners.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53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 isn't a one-time event; it’s a discipline. Implementing a strict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90-day review cycle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keeps your business on track.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Quarterly Review Checklist: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 P&amp;L statements for margin compression and rising costs.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 KPI scorecards for key department leaders.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 customer LTV and churn rates.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Re-assess Keyman Risk across all operational departments.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 90-day sprints prevent operational drift and keep the business optimized for cash flow.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63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a practical transformation case study: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(Keyman Trap):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 works 60+ hours a week.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Revenue relies on one-off sales calls made personally by the founder.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Margins are tight due to low prices and unmanaged operational expenses.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(P.E. Playbook Applied):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Prices restructured using value-based models (+30% margin increase).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Recurring retainers implemented, securing predictable monthly cash flow.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SOPs and leadership delegation reduce owner work hours to strategic oversight.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14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build true financial sovereignty, you must speak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 of money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Wealthy operators and investors communicate using specific financial metrics: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LTV (Lifetime Value):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total revenue a single customer generates over their lifetime.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 (Customer Acquisition Cost):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total cost required to acquire a new paying client.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Churn Rate: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percentage of recurring customers who cancel their services over a given period.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EBITDA: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Earnings Before Interest, Taxes, Depreciation, and Amortization—the ultimate baseline metric for business valuation.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Mastering these concepts allows you to make data-driven decisions rather than emotional ones.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11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ultimate goal of financial sovereignty is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freedom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Codie points out, business should fit into a life you enjoy, rather than forcing your life to fit around an exhausting business schedule.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Stop acting like a martyr or hero in your company. Build systems, empower leaders, and leverage proven playbooks so your business serves your personal life, family, and long-term sovereignty.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962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 Plan: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 a complete X-ray audit on your current P&amp;L statement.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Owner Score assessment at ownerscore.com to identify your business weaknesses and founder archetype.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your pricing to value-based models and integrate recurring revenue mechanisms.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 90-day review cycles to continuously optimize cash flow.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you! Let's open the floor to questions and begin building businesses that truly serve our lives.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Deepest Conversation You’ll Ever Watch About Money | Codie Sanchez</a:t>
            </a:r>
          </a:p>
          <a:p>
            <a:r>
              <a:rPr lang="en-US" dirty="0"/>
              <a:t>https://www.youtube.com/watch?v=a_5-iAEMRpE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D40C8-4724-497C-A319-5B22F5C830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41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8A80F-6EAB-A639-6688-A1B8B53A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14CB7-19CF-4850-86AB-54A221BB2A9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0A38A-091E-1BB4-5F7A-A7BCEAE87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2E10E-52C6-A39B-B4DB-601FC98F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3B41-81CA-4FDF-BE5E-AD1E096C3D2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C4AD88-0177-8A4B-6E8F-A3A74DDB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87396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1307B-4678-4367-F043-5C8BF439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1E081-2A6C-5175-3785-7F61D08AD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FB172-144E-0242-0AF7-4781E5E0D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14CB7-19CF-4850-86AB-54A221BB2A93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5B17E-2A01-AC62-B5A4-BE30933A6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C03DB-F874-6FEA-1465-42031D9AA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23B41-81CA-4FDF-BE5E-AD1E096C3D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0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2CDEB9-F86D-3A0C-ED39-D2AA82004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A90385-CFC7-2FF8-E914-D19E491E1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EAAD09-D51D-A51F-9A2E-83E90552B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555045-22C8-C7F9-9D8D-6E358E33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59472-CC13-83BE-BFB1-D470325F2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CF7D6A-83B1-575B-409C-03CAE3B47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259DF1-2273-A1F0-3BEA-C0D7119D1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8F9CDC-FDC3-7385-AAC7-E864786E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DA06AA-AF57-18D8-078E-9F67F290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62350F-07E1-797D-D55C-B7CD205C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8ED48E-08BC-0F49-C5F9-7FA2B7A7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C2105D-9C10-316F-3B45-C79293143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7D10BC-E831-2DBE-ADDC-5AB9526D3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913081-E055-700A-81C8-1565EAD323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8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1901</Words>
  <Application>Microsoft Office PowerPoint</Application>
  <PresentationFormat>寬螢幕</PresentationFormat>
  <Paragraphs>137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2026-09-21T23:55:02Z</dcterms:created>
  <dcterms:modified xsi:type="dcterms:W3CDTF">2026-10-21T02:50:32Z</dcterms:modified>
</cp:coreProperties>
</file>