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22035A-74B0-4052-8B6A-BC7043BFC192}" v="20" dt="2026-09-04T14:34:45.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557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notesViewPr>
    <p:cSldViewPr snapToGrid="0">
      <p:cViewPr varScale="1">
        <p:scale>
          <a:sx n="41" d="100"/>
          <a:sy n="41" d="100"/>
        </p:scale>
        <p:origin x="196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04T14:34:45.483" v="41"/>
      <pc:docMkLst>
        <pc:docMk/>
      </pc:docMkLst>
      <pc:sldChg chg="addSp delSp mod modNotes modNotesTx">
        <pc:chgData name="Lai, Wilson" userId="2840974a-0d84-4886-90a9-9a3ed79f3a48" providerId="ADAL" clId="{9F23B798-9E84-4552-BA63-E776E805C424}" dt="2026-09-04T14:34:45.483" v="41"/>
        <pc:sldMkLst>
          <pc:docMk/>
          <pc:sldMk cId="0" sldId="257"/>
        </pc:sldMkLst>
        <pc:picChg chg="del">
          <ac:chgData name="Lai, Wilson" userId="2840974a-0d84-4886-90a9-9a3ed79f3a48" providerId="ADAL" clId="{9F23B798-9E84-4552-BA63-E776E805C424}" dt="2026-09-04T11:39:36.120" v="0" actId="21"/>
          <ac:picMkLst>
            <pc:docMk/>
            <pc:sldMk cId="0" sldId="257"/>
            <ac:picMk id="2" creationId="{00000000-0000-0000-0000-000000000000}"/>
          </ac:picMkLst>
        </pc:picChg>
        <pc:picChg chg="add">
          <ac:chgData name="Lai, Wilson" userId="2840974a-0d84-4886-90a9-9a3ed79f3a48" providerId="ADAL" clId="{9F23B798-9E84-4552-BA63-E776E805C424}" dt="2026-09-04T11:39:49.448" v="1" actId="22"/>
          <ac:picMkLst>
            <pc:docMk/>
            <pc:sldMk cId="0" sldId="257"/>
            <ac:picMk id="7" creationId="{74AE493B-5437-EFD0-A530-67611F1BBF7F}"/>
          </ac:picMkLst>
        </pc:picChg>
      </pc:sldChg>
      <pc:sldChg chg="addSp delSp mod modNotes">
        <pc:chgData name="Lai, Wilson" userId="2840974a-0d84-4886-90a9-9a3ed79f3a48" providerId="ADAL" clId="{9F23B798-9E84-4552-BA63-E776E805C424}" dt="2026-09-04T14:34:45.483" v="41"/>
        <pc:sldMkLst>
          <pc:docMk/>
          <pc:sldMk cId="0" sldId="258"/>
        </pc:sldMkLst>
        <pc:picChg chg="del">
          <ac:chgData name="Lai, Wilson" userId="2840974a-0d84-4886-90a9-9a3ed79f3a48" providerId="ADAL" clId="{9F23B798-9E84-4552-BA63-E776E805C424}" dt="2026-09-04T11:39:52.692" v="2" actId="21"/>
          <ac:picMkLst>
            <pc:docMk/>
            <pc:sldMk cId="0" sldId="258"/>
            <ac:picMk id="2" creationId="{00000000-0000-0000-0000-000000000000}"/>
          </ac:picMkLst>
        </pc:picChg>
        <pc:picChg chg="add">
          <ac:chgData name="Lai, Wilson" userId="2840974a-0d84-4886-90a9-9a3ed79f3a48" providerId="ADAL" clId="{9F23B798-9E84-4552-BA63-E776E805C424}" dt="2026-09-04T11:40:03.273" v="3" actId="22"/>
          <ac:picMkLst>
            <pc:docMk/>
            <pc:sldMk cId="0" sldId="258"/>
            <ac:picMk id="4" creationId="{A74D49B5-E7D1-9F97-04AE-E705767C8289}"/>
          </ac:picMkLst>
        </pc:picChg>
      </pc:sldChg>
      <pc:sldChg chg="addSp delSp mod modNotes modNotesTx">
        <pc:chgData name="Lai, Wilson" userId="2840974a-0d84-4886-90a9-9a3ed79f3a48" providerId="ADAL" clId="{9F23B798-9E84-4552-BA63-E776E805C424}" dt="2026-09-04T14:34:45.483" v="41"/>
        <pc:sldMkLst>
          <pc:docMk/>
          <pc:sldMk cId="0" sldId="259"/>
        </pc:sldMkLst>
        <pc:picChg chg="del">
          <ac:chgData name="Lai, Wilson" userId="2840974a-0d84-4886-90a9-9a3ed79f3a48" providerId="ADAL" clId="{9F23B798-9E84-4552-BA63-E776E805C424}" dt="2026-09-04T11:40:05.386" v="4" actId="21"/>
          <ac:picMkLst>
            <pc:docMk/>
            <pc:sldMk cId="0" sldId="259"/>
            <ac:picMk id="2" creationId="{00000000-0000-0000-0000-000000000000}"/>
          </ac:picMkLst>
        </pc:picChg>
        <pc:picChg chg="add">
          <ac:chgData name="Lai, Wilson" userId="2840974a-0d84-4886-90a9-9a3ed79f3a48" providerId="ADAL" clId="{9F23B798-9E84-4552-BA63-E776E805C424}" dt="2026-09-04T11:40:14.733" v="5" actId="22"/>
          <ac:picMkLst>
            <pc:docMk/>
            <pc:sldMk cId="0" sldId="259"/>
            <ac:picMk id="4" creationId="{7B97820E-ABF9-1D0F-B7B3-9D84FA26E0A0}"/>
          </ac:picMkLst>
        </pc:picChg>
      </pc:sldChg>
      <pc:sldChg chg="addSp delSp mod modNotes">
        <pc:chgData name="Lai, Wilson" userId="2840974a-0d84-4886-90a9-9a3ed79f3a48" providerId="ADAL" clId="{9F23B798-9E84-4552-BA63-E776E805C424}" dt="2026-09-04T14:34:45.483" v="41"/>
        <pc:sldMkLst>
          <pc:docMk/>
          <pc:sldMk cId="0" sldId="260"/>
        </pc:sldMkLst>
        <pc:picChg chg="del">
          <ac:chgData name="Lai, Wilson" userId="2840974a-0d84-4886-90a9-9a3ed79f3a48" providerId="ADAL" clId="{9F23B798-9E84-4552-BA63-E776E805C424}" dt="2026-09-04T11:40:18.040" v="6" actId="21"/>
          <ac:picMkLst>
            <pc:docMk/>
            <pc:sldMk cId="0" sldId="260"/>
            <ac:picMk id="2" creationId="{00000000-0000-0000-0000-000000000000}"/>
          </ac:picMkLst>
        </pc:picChg>
        <pc:picChg chg="add">
          <ac:chgData name="Lai, Wilson" userId="2840974a-0d84-4886-90a9-9a3ed79f3a48" providerId="ADAL" clId="{9F23B798-9E84-4552-BA63-E776E805C424}" dt="2026-09-04T11:40:28.208" v="7" actId="22"/>
          <ac:picMkLst>
            <pc:docMk/>
            <pc:sldMk cId="0" sldId="260"/>
            <ac:picMk id="4" creationId="{FD0E0CCA-6456-002E-3E42-8EA445709C74}"/>
          </ac:picMkLst>
        </pc:picChg>
      </pc:sldChg>
      <pc:sldChg chg="addSp delSp mod modNotes">
        <pc:chgData name="Lai, Wilson" userId="2840974a-0d84-4886-90a9-9a3ed79f3a48" providerId="ADAL" clId="{9F23B798-9E84-4552-BA63-E776E805C424}" dt="2026-09-04T14:34:45.483" v="41"/>
        <pc:sldMkLst>
          <pc:docMk/>
          <pc:sldMk cId="0" sldId="261"/>
        </pc:sldMkLst>
        <pc:picChg chg="del">
          <ac:chgData name="Lai, Wilson" userId="2840974a-0d84-4886-90a9-9a3ed79f3a48" providerId="ADAL" clId="{9F23B798-9E84-4552-BA63-E776E805C424}" dt="2026-09-04T11:40:30.101" v="8" actId="21"/>
          <ac:picMkLst>
            <pc:docMk/>
            <pc:sldMk cId="0" sldId="261"/>
            <ac:picMk id="2" creationId="{00000000-0000-0000-0000-000000000000}"/>
          </ac:picMkLst>
        </pc:picChg>
        <pc:picChg chg="add">
          <ac:chgData name="Lai, Wilson" userId="2840974a-0d84-4886-90a9-9a3ed79f3a48" providerId="ADAL" clId="{9F23B798-9E84-4552-BA63-E776E805C424}" dt="2026-09-04T11:40:37.572" v="9" actId="22"/>
          <ac:picMkLst>
            <pc:docMk/>
            <pc:sldMk cId="0" sldId="261"/>
            <ac:picMk id="4" creationId="{AFD544B1-4071-BEDA-5122-FFF351F35374}"/>
          </ac:picMkLst>
        </pc:picChg>
      </pc:sldChg>
      <pc:sldChg chg="addSp delSp mod modNotes">
        <pc:chgData name="Lai, Wilson" userId="2840974a-0d84-4886-90a9-9a3ed79f3a48" providerId="ADAL" clId="{9F23B798-9E84-4552-BA63-E776E805C424}" dt="2026-09-04T14:34:45.483" v="41"/>
        <pc:sldMkLst>
          <pc:docMk/>
          <pc:sldMk cId="0" sldId="262"/>
        </pc:sldMkLst>
        <pc:picChg chg="del">
          <ac:chgData name="Lai, Wilson" userId="2840974a-0d84-4886-90a9-9a3ed79f3a48" providerId="ADAL" clId="{9F23B798-9E84-4552-BA63-E776E805C424}" dt="2026-09-04T11:40:39.466" v="10" actId="21"/>
          <ac:picMkLst>
            <pc:docMk/>
            <pc:sldMk cId="0" sldId="262"/>
            <ac:picMk id="2" creationId="{00000000-0000-0000-0000-000000000000}"/>
          </ac:picMkLst>
        </pc:picChg>
        <pc:picChg chg="add">
          <ac:chgData name="Lai, Wilson" userId="2840974a-0d84-4886-90a9-9a3ed79f3a48" providerId="ADAL" clId="{9F23B798-9E84-4552-BA63-E776E805C424}" dt="2026-09-04T11:43:02.372" v="11" actId="22"/>
          <ac:picMkLst>
            <pc:docMk/>
            <pc:sldMk cId="0" sldId="262"/>
            <ac:picMk id="4" creationId="{5B8B981B-B5E8-E32F-44BA-6D076C93C4E1}"/>
          </ac:picMkLst>
        </pc:picChg>
      </pc:sldChg>
      <pc:sldChg chg="addSp delSp mod modNotes">
        <pc:chgData name="Lai, Wilson" userId="2840974a-0d84-4886-90a9-9a3ed79f3a48" providerId="ADAL" clId="{9F23B798-9E84-4552-BA63-E776E805C424}" dt="2026-09-04T14:34:45.483" v="41"/>
        <pc:sldMkLst>
          <pc:docMk/>
          <pc:sldMk cId="0" sldId="263"/>
        </pc:sldMkLst>
        <pc:picChg chg="del">
          <ac:chgData name="Lai, Wilson" userId="2840974a-0d84-4886-90a9-9a3ed79f3a48" providerId="ADAL" clId="{9F23B798-9E84-4552-BA63-E776E805C424}" dt="2026-09-04T11:43:04.301" v="12" actId="21"/>
          <ac:picMkLst>
            <pc:docMk/>
            <pc:sldMk cId="0" sldId="263"/>
            <ac:picMk id="2" creationId="{00000000-0000-0000-0000-000000000000}"/>
          </ac:picMkLst>
        </pc:picChg>
        <pc:picChg chg="add">
          <ac:chgData name="Lai, Wilson" userId="2840974a-0d84-4886-90a9-9a3ed79f3a48" providerId="ADAL" clId="{9F23B798-9E84-4552-BA63-E776E805C424}" dt="2026-09-04T11:44:42.893" v="13" actId="22"/>
          <ac:picMkLst>
            <pc:docMk/>
            <pc:sldMk cId="0" sldId="263"/>
            <ac:picMk id="4" creationId="{5EF1C34A-20DE-09A9-3CBA-9B1C6DAD4FF1}"/>
          </ac:picMkLst>
        </pc:picChg>
      </pc:sldChg>
      <pc:sldChg chg="addSp delSp mod modNotes">
        <pc:chgData name="Lai, Wilson" userId="2840974a-0d84-4886-90a9-9a3ed79f3a48" providerId="ADAL" clId="{9F23B798-9E84-4552-BA63-E776E805C424}" dt="2026-09-04T14:34:45.483" v="41"/>
        <pc:sldMkLst>
          <pc:docMk/>
          <pc:sldMk cId="0" sldId="264"/>
        </pc:sldMkLst>
        <pc:picChg chg="del">
          <ac:chgData name="Lai, Wilson" userId="2840974a-0d84-4886-90a9-9a3ed79f3a48" providerId="ADAL" clId="{9F23B798-9E84-4552-BA63-E776E805C424}" dt="2026-09-04T11:44:46.422" v="14" actId="21"/>
          <ac:picMkLst>
            <pc:docMk/>
            <pc:sldMk cId="0" sldId="264"/>
            <ac:picMk id="2" creationId="{00000000-0000-0000-0000-000000000000}"/>
          </ac:picMkLst>
        </pc:picChg>
        <pc:picChg chg="add">
          <ac:chgData name="Lai, Wilson" userId="2840974a-0d84-4886-90a9-9a3ed79f3a48" providerId="ADAL" clId="{9F23B798-9E84-4552-BA63-E776E805C424}" dt="2026-09-04T11:46:30.932" v="15" actId="22"/>
          <ac:picMkLst>
            <pc:docMk/>
            <pc:sldMk cId="0" sldId="264"/>
            <ac:picMk id="4" creationId="{4F87BCFA-2041-C890-B672-F4CDA8524623}"/>
          </ac:picMkLst>
        </pc:picChg>
      </pc:sldChg>
      <pc:sldChg chg="addSp delSp mod modNotes">
        <pc:chgData name="Lai, Wilson" userId="2840974a-0d84-4886-90a9-9a3ed79f3a48" providerId="ADAL" clId="{9F23B798-9E84-4552-BA63-E776E805C424}" dt="2026-09-04T14:34:45.483" v="41"/>
        <pc:sldMkLst>
          <pc:docMk/>
          <pc:sldMk cId="0" sldId="265"/>
        </pc:sldMkLst>
        <pc:picChg chg="del">
          <ac:chgData name="Lai, Wilson" userId="2840974a-0d84-4886-90a9-9a3ed79f3a48" providerId="ADAL" clId="{9F23B798-9E84-4552-BA63-E776E805C424}" dt="2026-09-04T11:46:38.305" v="16" actId="21"/>
          <ac:picMkLst>
            <pc:docMk/>
            <pc:sldMk cId="0" sldId="265"/>
            <ac:picMk id="2" creationId="{00000000-0000-0000-0000-000000000000}"/>
          </ac:picMkLst>
        </pc:picChg>
        <pc:picChg chg="add">
          <ac:chgData name="Lai, Wilson" userId="2840974a-0d84-4886-90a9-9a3ed79f3a48" providerId="ADAL" clId="{9F23B798-9E84-4552-BA63-E776E805C424}" dt="2026-09-04T11:48:07.332" v="17" actId="22"/>
          <ac:picMkLst>
            <pc:docMk/>
            <pc:sldMk cId="0" sldId="265"/>
            <ac:picMk id="4" creationId="{FF7B478A-4880-FD50-FE0D-373BE371ED7C}"/>
          </ac:picMkLst>
        </pc:picChg>
      </pc:sldChg>
      <pc:sldChg chg="addSp delSp mod modNotes">
        <pc:chgData name="Lai, Wilson" userId="2840974a-0d84-4886-90a9-9a3ed79f3a48" providerId="ADAL" clId="{9F23B798-9E84-4552-BA63-E776E805C424}" dt="2026-09-04T14:34:45.483" v="41"/>
        <pc:sldMkLst>
          <pc:docMk/>
          <pc:sldMk cId="0" sldId="266"/>
        </pc:sldMkLst>
        <pc:picChg chg="del">
          <ac:chgData name="Lai, Wilson" userId="2840974a-0d84-4886-90a9-9a3ed79f3a48" providerId="ADAL" clId="{9F23B798-9E84-4552-BA63-E776E805C424}" dt="2026-09-04T11:52:14.677" v="31" actId="21"/>
          <ac:picMkLst>
            <pc:docMk/>
            <pc:sldMk cId="0" sldId="266"/>
            <ac:picMk id="2" creationId="{00000000-0000-0000-0000-000000000000}"/>
          </ac:picMkLst>
        </pc:picChg>
        <pc:picChg chg="add">
          <ac:chgData name="Lai, Wilson" userId="2840974a-0d84-4886-90a9-9a3ed79f3a48" providerId="ADAL" clId="{9F23B798-9E84-4552-BA63-E776E805C424}" dt="2026-09-04T11:52:23.264" v="32" actId="22"/>
          <ac:picMkLst>
            <pc:docMk/>
            <pc:sldMk cId="0" sldId="266"/>
            <ac:picMk id="4" creationId="{3F089E61-075E-B692-1B11-90884F5D6899}"/>
          </ac:picMkLst>
        </pc:picChg>
      </pc:sldChg>
      <pc:sldChg chg="addSp delSp mod modNotes">
        <pc:chgData name="Lai, Wilson" userId="2840974a-0d84-4886-90a9-9a3ed79f3a48" providerId="ADAL" clId="{9F23B798-9E84-4552-BA63-E776E805C424}" dt="2026-09-04T14:34:45.483" v="41"/>
        <pc:sldMkLst>
          <pc:docMk/>
          <pc:sldMk cId="0" sldId="267"/>
        </pc:sldMkLst>
        <pc:picChg chg="del">
          <ac:chgData name="Lai, Wilson" userId="2840974a-0d84-4886-90a9-9a3ed79f3a48" providerId="ADAL" clId="{9F23B798-9E84-4552-BA63-E776E805C424}" dt="2026-09-04T11:52:02.978" v="29" actId="21"/>
          <ac:picMkLst>
            <pc:docMk/>
            <pc:sldMk cId="0" sldId="267"/>
            <ac:picMk id="2" creationId="{00000000-0000-0000-0000-000000000000}"/>
          </ac:picMkLst>
        </pc:picChg>
        <pc:picChg chg="add">
          <ac:chgData name="Lai, Wilson" userId="2840974a-0d84-4886-90a9-9a3ed79f3a48" providerId="ADAL" clId="{9F23B798-9E84-4552-BA63-E776E805C424}" dt="2026-09-04T11:52:10.602" v="30" actId="22"/>
          <ac:picMkLst>
            <pc:docMk/>
            <pc:sldMk cId="0" sldId="267"/>
            <ac:picMk id="4" creationId="{8235B9A9-2938-1312-2F40-6F28932EFB4F}"/>
          </ac:picMkLst>
        </pc:picChg>
      </pc:sldChg>
      <pc:sldChg chg="addSp delSp mod modNotes modNotesTx">
        <pc:chgData name="Lai, Wilson" userId="2840974a-0d84-4886-90a9-9a3ed79f3a48" providerId="ADAL" clId="{9F23B798-9E84-4552-BA63-E776E805C424}" dt="2026-09-04T14:34:45.483" v="41"/>
        <pc:sldMkLst>
          <pc:docMk/>
          <pc:sldMk cId="0" sldId="268"/>
        </pc:sldMkLst>
        <pc:picChg chg="del">
          <ac:chgData name="Lai, Wilson" userId="2840974a-0d84-4886-90a9-9a3ed79f3a48" providerId="ADAL" clId="{9F23B798-9E84-4552-BA63-E776E805C424}" dt="2026-09-04T11:51:49.968" v="27" actId="21"/>
          <ac:picMkLst>
            <pc:docMk/>
            <pc:sldMk cId="0" sldId="268"/>
            <ac:picMk id="2" creationId="{00000000-0000-0000-0000-000000000000}"/>
          </ac:picMkLst>
        </pc:picChg>
        <pc:picChg chg="add">
          <ac:chgData name="Lai, Wilson" userId="2840974a-0d84-4886-90a9-9a3ed79f3a48" providerId="ADAL" clId="{9F23B798-9E84-4552-BA63-E776E805C424}" dt="2026-09-04T11:51:59.340" v="28" actId="22"/>
          <ac:picMkLst>
            <pc:docMk/>
            <pc:sldMk cId="0" sldId="268"/>
            <ac:picMk id="4" creationId="{FB4C2467-30DE-B0EF-1236-4FA8AF096F48}"/>
          </ac:picMkLst>
        </pc:picChg>
      </pc:sldChg>
      <pc:sldChg chg="addSp delSp mod modNotes">
        <pc:chgData name="Lai, Wilson" userId="2840974a-0d84-4886-90a9-9a3ed79f3a48" providerId="ADAL" clId="{9F23B798-9E84-4552-BA63-E776E805C424}" dt="2026-09-04T14:34:45.483" v="41"/>
        <pc:sldMkLst>
          <pc:docMk/>
          <pc:sldMk cId="0" sldId="269"/>
        </pc:sldMkLst>
        <pc:picChg chg="del">
          <ac:chgData name="Lai, Wilson" userId="2840974a-0d84-4886-90a9-9a3ed79f3a48" providerId="ADAL" clId="{9F23B798-9E84-4552-BA63-E776E805C424}" dt="2026-09-04T11:51:37.983" v="25" actId="21"/>
          <ac:picMkLst>
            <pc:docMk/>
            <pc:sldMk cId="0" sldId="269"/>
            <ac:picMk id="2" creationId="{00000000-0000-0000-0000-000000000000}"/>
          </ac:picMkLst>
        </pc:picChg>
        <pc:picChg chg="add">
          <ac:chgData name="Lai, Wilson" userId="2840974a-0d84-4886-90a9-9a3ed79f3a48" providerId="ADAL" clId="{9F23B798-9E84-4552-BA63-E776E805C424}" dt="2026-09-04T11:51:46.172" v="26" actId="22"/>
          <ac:picMkLst>
            <pc:docMk/>
            <pc:sldMk cId="0" sldId="269"/>
            <ac:picMk id="4" creationId="{BB973F04-DD1A-50AB-412A-031A790D25C1}"/>
          </ac:picMkLst>
        </pc:picChg>
      </pc:sldChg>
      <pc:sldChg chg="addSp delSp mod modNotes">
        <pc:chgData name="Lai, Wilson" userId="2840974a-0d84-4886-90a9-9a3ed79f3a48" providerId="ADAL" clId="{9F23B798-9E84-4552-BA63-E776E805C424}" dt="2026-09-04T14:34:45.483" v="41"/>
        <pc:sldMkLst>
          <pc:docMk/>
          <pc:sldMk cId="0" sldId="270"/>
        </pc:sldMkLst>
        <pc:picChg chg="del">
          <ac:chgData name="Lai, Wilson" userId="2840974a-0d84-4886-90a9-9a3ed79f3a48" providerId="ADAL" clId="{9F23B798-9E84-4552-BA63-E776E805C424}" dt="2026-09-04T11:51:27.944" v="23" actId="21"/>
          <ac:picMkLst>
            <pc:docMk/>
            <pc:sldMk cId="0" sldId="270"/>
            <ac:picMk id="2" creationId="{00000000-0000-0000-0000-000000000000}"/>
          </ac:picMkLst>
        </pc:picChg>
        <pc:picChg chg="add">
          <ac:chgData name="Lai, Wilson" userId="2840974a-0d84-4886-90a9-9a3ed79f3a48" providerId="ADAL" clId="{9F23B798-9E84-4552-BA63-E776E805C424}" dt="2026-09-04T11:51:36.073" v="24" actId="22"/>
          <ac:picMkLst>
            <pc:docMk/>
            <pc:sldMk cId="0" sldId="270"/>
            <ac:picMk id="4" creationId="{D1222B02-B464-0D09-FC31-AC193D13BF8D}"/>
          </ac:picMkLst>
        </pc:picChg>
      </pc:sldChg>
      <pc:sldChg chg="addSp delSp modSp mod modNotes">
        <pc:chgData name="Lai, Wilson" userId="2840974a-0d84-4886-90a9-9a3ed79f3a48" providerId="ADAL" clId="{9F23B798-9E84-4552-BA63-E776E805C424}" dt="2026-09-04T14:34:45.483" v="41"/>
        <pc:sldMkLst>
          <pc:docMk/>
          <pc:sldMk cId="0" sldId="271"/>
        </pc:sldMkLst>
        <pc:picChg chg="del mod">
          <ac:chgData name="Lai, Wilson" userId="2840974a-0d84-4886-90a9-9a3ed79f3a48" providerId="ADAL" clId="{9F23B798-9E84-4552-BA63-E776E805C424}" dt="2026-09-04T11:51:16.301" v="21" actId="21"/>
          <ac:picMkLst>
            <pc:docMk/>
            <pc:sldMk cId="0" sldId="271"/>
            <ac:picMk id="2" creationId="{00000000-0000-0000-0000-000000000000}"/>
          </ac:picMkLst>
        </pc:picChg>
        <pc:picChg chg="add">
          <ac:chgData name="Lai, Wilson" userId="2840974a-0d84-4886-90a9-9a3ed79f3a48" providerId="ADAL" clId="{9F23B798-9E84-4552-BA63-E776E805C424}" dt="2026-09-04T11:51:24.487" v="22" actId="22"/>
          <ac:picMkLst>
            <pc:docMk/>
            <pc:sldMk cId="0" sldId="271"/>
            <ac:picMk id="4" creationId="{A01DDD31-F71E-597E-E862-850508BE3314}"/>
          </ac:picMkLst>
        </pc:picChg>
      </pc:sldChg>
      <pc:sldChg chg="addSp delSp mod modNotes modNotesTx">
        <pc:chgData name="Lai, Wilson" userId="2840974a-0d84-4886-90a9-9a3ed79f3a48" providerId="ADAL" clId="{9F23B798-9E84-4552-BA63-E776E805C424}" dt="2026-09-04T14:34:45.483" v="41"/>
        <pc:sldMkLst>
          <pc:docMk/>
          <pc:sldMk cId="2362468266" sldId="272"/>
        </pc:sldMkLst>
        <pc:picChg chg="del">
          <ac:chgData name="Lai, Wilson" userId="2840974a-0d84-4886-90a9-9a3ed79f3a48" providerId="ADAL" clId="{9F23B798-9E84-4552-BA63-E776E805C424}" dt="2026-09-04T11:48:14.987" v="18" actId="21"/>
          <ac:picMkLst>
            <pc:docMk/>
            <pc:sldMk cId="2362468266" sldId="272"/>
            <ac:picMk id="3" creationId="{1F544335-141C-7D7F-FEDB-60F141980DA8}"/>
          </ac:picMkLst>
        </pc:picChg>
        <pc:picChg chg="add">
          <ac:chgData name="Lai, Wilson" userId="2840974a-0d84-4886-90a9-9a3ed79f3a48" providerId="ADAL" clId="{9F23B798-9E84-4552-BA63-E776E805C424}" dt="2026-09-04T11:51:10.915" v="19" actId="22"/>
          <ac:picMkLst>
            <pc:docMk/>
            <pc:sldMk cId="2362468266" sldId="272"/>
            <ac:picMk id="4" creationId="{D7C8B302-847D-B2EF-FF62-51891971C8C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A77CA3-C07A-CFA7-A105-51956188D0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EA3D2C0-C451-3282-D82D-D37208C80D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087BF1-278A-4D15-BEE7-D61D2DC37280}" type="datetimeFigureOut">
              <a:rPr lang="en-US" smtClean="0"/>
              <a:t>10/21/2026</a:t>
            </a:fld>
            <a:endParaRPr lang="en-US"/>
          </a:p>
        </p:txBody>
      </p:sp>
      <p:sp>
        <p:nvSpPr>
          <p:cNvPr id="4" name="Footer Placeholder 3">
            <a:extLst>
              <a:ext uri="{FF2B5EF4-FFF2-40B4-BE49-F238E27FC236}">
                <a16:creationId xmlns:a16="http://schemas.microsoft.com/office/drawing/2014/main" id="{A9F251E6-41DD-B0CE-DD19-C0852B28E3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33F3607-532E-99BC-D764-3DE8734581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717813-706D-40AA-AFC8-764A0223DA9C}" type="slidenum">
              <a:rPr lang="en-US" smtClean="0"/>
              <a:t>‹#›</a:t>
            </a:fld>
            <a:endParaRPr lang="en-US"/>
          </a:p>
        </p:txBody>
      </p:sp>
    </p:spTree>
    <p:extLst>
      <p:ext uri="{BB962C8B-B14F-4D97-AF65-F5344CB8AC3E}">
        <p14:creationId xmlns:p14="http://schemas.microsoft.com/office/powerpoint/2010/main" val="3595793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711D76-7DA4-4CC8-8D4D-ED64F8CBDA40}"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6C3CB5-F041-4BDA-A074-C352CF194E60}" type="slidenum">
              <a:rPr lang="en-US" smtClean="0"/>
              <a:t>‹#›</a:t>
            </a:fld>
            <a:endParaRPr lang="en-US"/>
          </a:p>
        </p:txBody>
      </p:sp>
    </p:spTree>
    <p:extLst>
      <p:ext uri="{BB962C8B-B14F-4D97-AF65-F5344CB8AC3E}">
        <p14:creationId xmlns:p14="http://schemas.microsoft.com/office/powerpoint/2010/main" val="1719244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a:t>
            </a:r>
            <a:r>
              <a:rPr lang="en-US" dirty="0"/>
              <a:t> Welcome everyone. Today, we're diving into </a:t>
            </a:r>
            <a:r>
              <a:rPr lang="en-US" i="1" dirty="0"/>
              <a:t>The Cognitive Stack</a:t>
            </a:r>
            <a:r>
              <a:rPr lang="en-US" dirty="0"/>
              <a:t>—a systematic framework for upgrading your mind in an age flooded with artificial intelligence, algorithmic feeds, and endless distraction.</a:t>
            </a:r>
          </a:p>
          <a:p>
            <a:pPr lvl="0"/>
            <a:r>
              <a:rPr lang="en-US" b="1" dirty="0"/>
              <a:t>The Thesis:</a:t>
            </a:r>
            <a:r>
              <a:rPr lang="en-US" dirty="0"/>
              <a:t> As Nick </a:t>
            </a:r>
            <a:r>
              <a:rPr lang="en-US" dirty="0" err="1"/>
              <a:t>Saraev</a:t>
            </a:r>
            <a:r>
              <a:rPr lang="en-US" dirty="0"/>
              <a:t> points out, clear thinking is the root foundation of clear action and real-world leverage. If you learn how to think clearly, your ability to execute, make decisions, and capture high-value opportunities scales exponentially.</a:t>
            </a:r>
          </a:p>
          <a:p>
            <a:pPr lvl="0"/>
            <a:r>
              <a:rPr lang="en-US" b="1" dirty="0"/>
              <a:t>The Core Metaphor:</a:t>
            </a:r>
            <a:r>
              <a:rPr lang="en-US" dirty="0"/>
              <a:t> Your brain is the most metabolically expensive machine you own. Yet, most people treat it like a mysterious black box. Today, we stop treating the mind like a mystery and start programming it like a multi-layered engineering stack: Hardware, Operating System, Software, and Executable Scripts.</a:t>
            </a:r>
          </a:p>
          <a:p>
            <a:endParaRPr lang="en-US" dirty="0"/>
          </a:p>
          <a:p>
            <a:endParaRPr lang="en-US" dirty="0"/>
          </a:p>
          <a:p>
            <a:r>
              <a:rPr lang="en-US" dirty="0"/>
              <a:t>https://www.youtube.com/watch?v=QLLuZbuTIRc</a:t>
            </a:r>
          </a:p>
        </p:txBody>
      </p:sp>
      <p:sp>
        <p:nvSpPr>
          <p:cNvPr id="4" name="Slide Number Placeholder 3"/>
          <p:cNvSpPr>
            <a:spLocks noGrp="1"/>
          </p:cNvSpPr>
          <p:nvPr>
            <p:ph type="sldNum" sz="quarter" idx="5"/>
          </p:nvPr>
        </p:nvSpPr>
        <p:spPr/>
        <p:txBody>
          <a:bodyPr/>
          <a:lstStyle/>
          <a:p>
            <a:fld id="{2D6C3CB5-F041-4BDA-A074-C352CF194E60}" type="slidenum">
              <a:rPr lang="en-US" smtClean="0"/>
              <a:t>1</a:t>
            </a:fld>
            <a:endParaRPr lang="en-US"/>
          </a:p>
        </p:txBody>
      </p:sp>
    </p:spTree>
    <p:extLst>
      <p:ext uri="{BB962C8B-B14F-4D97-AF65-F5344CB8AC3E}">
        <p14:creationId xmlns:p14="http://schemas.microsoft.com/office/powerpoint/2010/main" val="3901947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Layer 1 - Biological Hardware:</a:t>
            </a:r>
            <a:r>
              <a:rPr lang="en-US" sz="1200" kern="1200" dirty="0">
                <a:solidFill>
                  <a:schemeClr val="tx1"/>
                </a:solidFill>
                <a:effectLst/>
                <a:latin typeface="+mn-lt"/>
                <a:ea typeface="+mn-ea"/>
                <a:cs typeface="+mn-cs"/>
              </a:rPr>
              <a:t> The physical layer. This includes sleep architecture, oxygenation, VO2 max, and environmental CO2 levels. If hardware fails, no amount of mental tricks will save you. </a:t>
            </a:r>
          </a:p>
          <a:p>
            <a:pPr lvl="0"/>
            <a:r>
              <a:rPr lang="en-US" sz="1200" b="1" kern="1200" dirty="0">
                <a:solidFill>
                  <a:schemeClr val="tx1"/>
                </a:solidFill>
                <a:effectLst/>
                <a:latin typeface="+mn-lt"/>
                <a:ea typeface="+mn-ea"/>
                <a:cs typeface="+mn-cs"/>
              </a:rPr>
              <a:t>Layer 2 - Operating System:</a:t>
            </a:r>
            <a:r>
              <a:rPr lang="en-US" sz="1200" kern="1200" dirty="0">
                <a:solidFill>
                  <a:schemeClr val="tx1"/>
                </a:solidFill>
                <a:effectLst/>
                <a:latin typeface="+mn-lt"/>
                <a:ea typeface="+mn-ea"/>
                <a:cs typeface="+mn-cs"/>
              </a:rPr>
              <a:t> Your physical and digital environment. High-control individuals don't rely on brute-force willpower; they engineer frictionless environments and setup Ulysses contracts. </a:t>
            </a:r>
          </a:p>
          <a:p>
            <a:pPr lvl="0"/>
            <a:r>
              <a:rPr lang="en-US" sz="1200" b="1" kern="1200" dirty="0">
                <a:solidFill>
                  <a:schemeClr val="tx1"/>
                </a:solidFill>
                <a:effectLst/>
                <a:latin typeface="+mn-lt"/>
                <a:ea typeface="+mn-ea"/>
                <a:cs typeface="+mn-cs"/>
              </a:rPr>
              <a:t>Layer 3 - Software (Mental Models):</a:t>
            </a:r>
            <a:r>
              <a:rPr lang="en-US" sz="1200" kern="1200" dirty="0">
                <a:solidFill>
                  <a:schemeClr val="tx1"/>
                </a:solidFill>
                <a:effectLst/>
                <a:latin typeface="+mn-lt"/>
                <a:ea typeface="+mn-ea"/>
                <a:cs typeface="+mn-cs"/>
              </a:rPr>
              <a:t> Installing high-leverage decision models like Expected Value, Bayes' Theorem, Power Laws, and the Map vs. Territory distinction. </a:t>
            </a:r>
          </a:p>
          <a:p>
            <a:pPr lvl="0"/>
            <a:r>
              <a:rPr lang="en-US" sz="1200" b="1" kern="1200" dirty="0">
                <a:solidFill>
                  <a:schemeClr val="tx1"/>
                </a:solidFill>
                <a:effectLst/>
                <a:latin typeface="+mn-lt"/>
                <a:ea typeface="+mn-ea"/>
                <a:cs typeface="+mn-cs"/>
              </a:rPr>
              <a:t>Layer 4 - Executable Scripts:</a:t>
            </a:r>
            <a:r>
              <a:rPr lang="en-US" sz="1200" kern="1200" dirty="0">
                <a:solidFill>
                  <a:schemeClr val="tx1"/>
                </a:solidFill>
                <a:effectLst/>
                <a:latin typeface="+mn-lt"/>
                <a:ea typeface="+mn-ea"/>
                <a:cs typeface="+mn-cs"/>
              </a:rPr>
              <a:t> Real-time action protocols—Trigger-Action Plans (TAPs), noticing loops, and premortems—that bypass hesitation and cure akrasia.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2</a:t>
            </a:fld>
            <a:endParaRPr lang="en-US"/>
          </a:p>
        </p:txBody>
      </p:sp>
    </p:spTree>
    <p:extLst>
      <p:ext uri="{BB962C8B-B14F-4D97-AF65-F5344CB8AC3E}">
        <p14:creationId xmlns:p14="http://schemas.microsoft.com/office/powerpoint/2010/main" val="3728417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Energy Tax:</a:t>
            </a:r>
            <a:r>
              <a:rPr lang="en-US" sz="1200" kern="1200" dirty="0">
                <a:solidFill>
                  <a:schemeClr val="tx1"/>
                </a:solidFill>
                <a:effectLst/>
                <a:latin typeface="+mn-lt"/>
                <a:ea typeface="+mn-ea"/>
                <a:cs typeface="+mn-cs"/>
              </a:rPr>
              <a:t> Your brain accounts for only 2% of your body mass, but it consumes 20% of your resting energy. Because executive function is metabolically expensive, the brain naturally defaults to low-energy habit loops. </a:t>
            </a:r>
          </a:p>
          <a:p>
            <a:pPr lvl="0"/>
            <a:r>
              <a:rPr lang="en-US" sz="1200" kern="1200" dirty="0">
                <a:solidFill>
                  <a:schemeClr val="tx1"/>
                </a:solidFill>
                <a:effectLst/>
                <a:latin typeface="+mn-lt"/>
                <a:ea typeface="+mn-ea"/>
                <a:cs typeface="+mn-cs"/>
              </a:rPr>
              <a:t>The Three Cognitive Components: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Gatekeeper (Attention):</a:t>
            </a:r>
            <a:r>
              <a:rPr lang="en-US" sz="1200" kern="1200" dirty="0">
                <a:solidFill>
                  <a:schemeClr val="tx1"/>
                </a:solidFill>
                <a:effectLst/>
                <a:latin typeface="+mn-lt"/>
                <a:ea typeface="+mn-ea"/>
                <a:cs typeface="+mn-cs"/>
              </a:rPr>
              <a:t> Permits only a sliver of external data into your awareness.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Workbench (Working Memory):</a:t>
            </a:r>
            <a:r>
              <a:rPr lang="en-US" sz="1200" kern="1200" dirty="0">
                <a:solidFill>
                  <a:schemeClr val="tx1"/>
                </a:solidFill>
                <a:effectLst/>
                <a:latin typeface="+mn-lt"/>
                <a:ea typeface="+mn-ea"/>
                <a:cs typeface="+mn-cs"/>
              </a:rPr>
              <a:t> Can only hold 3 to 5 'chunks' of information at any given time.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Foreman (Executive Function):</a:t>
            </a:r>
            <a:r>
              <a:rPr lang="en-US" sz="1200" kern="1200" dirty="0">
                <a:solidFill>
                  <a:schemeClr val="tx1"/>
                </a:solidFill>
                <a:effectLst/>
                <a:latin typeface="+mn-lt"/>
                <a:ea typeface="+mn-ea"/>
                <a:cs typeface="+mn-cs"/>
              </a:rPr>
              <a:t> The high-level decision engine that drains rapidly when taxed. </a:t>
            </a:r>
          </a:p>
          <a:p>
            <a:pPr lvl="0"/>
            <a:r>
              <a:rPr lang="en-US" sz="1200" b="1" kern="1200" dirty="0">
                <a:solidFill>
                  <a:schemeClr val="tx1"/>
                </a:solidFill>
                <a:effectLst/>
                <a:latin typeface="+mn-lt"/>
                <a:ea typeface="+mn-ea"/>
                <a:cs typeface="+mn-cs"/>
              </a:rPr>
              <a:t>The Chunking Exploit:</a:t>
            </a:r>
            <a:r>
              <a:rPr lang="en-US" sz="1200" kern="1200" dirty="0">
                <a:solidFill>
                  <a:schemeClr val="tx1"/>
                </a:solidFill>
                <a:effectLst/>
                <a:latin typeface="+mn-lt"/>
                <a:ea typeface="+mn-ea"/>
                <a:cs typeface="+mn-cs"/>
              </a:rPr>
              <a:t> Notice the letters on screen: E-I-L-N-D-A-E take up 7 slots. Compress them into DEADLINE, and it takes 1 slot. Meaning compresses data to bypass hardware limitations.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3</a:t>
            </a:fld>
            <a:endParaRPr lang="en-US"/>
          </a:p>
        </p:txBody>
      </p:sp>
    </p:spTree>
    <p:extLst>
      <p:ext uri="{BB962C8B-B14F-4D97-AF65-F5344CB8AC3E}">
        <p14:creationId xmlns:p14="http://schemas.microsoft.com/office/powerpoint/2010/main" val="309131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Sleep-Disordered Breathing:</a:t>
            </a:r>
            <a:r>
              <a:rPr lang="en-US" sz="1200" kern="1200" dirty="0">
                <a:solidFill>
                  <a:schemeClr val="tx1"/>
                </a:solidFill>
                <a:effectLst/>
                <a:latin typeface="+mn-lt"/>
                <a:ea typeface="+mn-ea"/>
                <a:cs typeface="+mn-cs"/>
              </a:rPr>
              <a:t> Affects ~30% of men. Fixing oxygen deprivation during sleep reclaims foundational cognitive capacity immediately. </a:t>
            </a:r>
          </a:p>
          <a:p>
            <a:pPr lvl="0"/>
            <a:r>
              <a:rPr lang="en-US" sz="1200" b="1" kern="1200" dirty="0">
                <a:solidFill>
                  <a:schemeClr val="tx1"/>
                </a:solidFill>
                <a:effectLst/>
                <a:latin typeface="+mn-lt"/>
                <a:ea typeface="+mn-ea"/>
                <a:cs typeface="+mn-cs"/>
              </a:rPr>
              <a:t>REHIT Cardio Protocol:</a:t>
            </a:r>
            <a:r>
              <a:rPr lang="en-US" sz="1200" kern="1200" dirty="0">
                <a:solidFill>
                  <a:schemeClr val="tx1"/>
                </a:solidFill>
                <a:effectLst/>
                <a:latin typeface="+mn-lt"/>
                <a:ea typeface="+mn-ea"/>
                <a:cs typeface="+mn-cs"/>
              </a:rPr>
              <a:t> Executing two 20-second max-effort sprints 3 times a week boosts VO2 max, driving brain oxygenation and neurogenesis for a +15% capacity gain in 6 weeks. </a:t>
            </a:r>
          </a:p>
          <a:p>
            <a:pPr lvl="0"/>
            <a:r>
              <a:rPr lang="en-US" sz="1200" b="1" kern="1200" dirty="0">
                <a:solidFill>
                  <a:schemeClr val="tx1"/>
                </a:solidFill>
                <a:effectLst/>
                <a:latin typeface="+mn-lt"/>
                <a:ea typeface="+mn-ea"/>
                <a:cs typeface="+mn-cs"/>
              </a:rPr>
              <a:t>Caffeine Cutoff (12 PM):</a:t>
            </a:r>
            <a:r>
              <a:rPr lang="en-US" sz="1200" kern="1200" dirty="0">
                <a:solidFill>
                  <a:schemeClr val="tx1"/>
                </a:solidFill>
                <a:effectLst/>
                <a:latin typeface="+mn-lt"/>
                <a:ea typeface="+mn-ea"/>
                <a:cs typeface="+mn-cs"/>
              </a:rPr>
              <a:t> Caffeine has a multi-hour half-life. A strict noon cutoff prevents residual caffeine from disrupting deep REM sleep architecture. </a:t>
            </a:r>
          </a:p>
          <a:p>
            <a:pPr lvl="0"/>
            <a:r>
              <a:rPr lang="en-US" sz="1200" b="1" kern="1200" dirty="0">
                <a:solidFill>
                  <a:schemeClr val="tx1"/>
                </a:solidFill>
                <a:effectLst/>
                <a:latin typeface="+mn-lt"/>
                <a:ea typeface="+mn-ea"/>
                <a:cs typeface="+mn-cs"/>
              </a:rPr>
              <a:t>Morning Sun Exposure:</a:t>
            </a:r>
            <a:r>
              <a:rPr lang="en-US" sz="1200" kern="1200" dirty="0">
                <a:solidFill>
                  <a:schemeClr val="tx1"/>
                </a:solidFill>
                <a:effectLst/>
                <a:latin typeface="+mn-lt"/>
                <a:ea typeface="+mn-ea"/>
                <a:cs typeface="+mn-cs"/>
              </a:rPr>
              <a:t> 10 minutes of direct sunlight upon waking anchors your circadian rhythm, setting cortisol and adrenaline spikes for sustained focus.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Attempting advanced productivity tactics on failing biological hardware yields zero compounding returns.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4</a:t>
            </a:fld>
            <a:endParaRPr lang="en-US"/>
          </a:p>
        </p:txBody>
      </p:sp>
    </p:spTree>
    <p:extLst>
      <p:ext uri="{BB962C8B-B14F-4D97-AF65-F5344CB8AC3E}">
        <p14:creationId xmlns:p14="http://schemas.microsoft.com/office/powerpoint/2010/main" val="3281583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CO2 Poisoning:</a:t>
            </a:r>
            <a:r>
              <a:rPr lang="en-US" sz="1200" kern="1200" dirty="0">
                <a:solidFill>
                  <a:schemeClr val="tx1"/>
                </a:solidFill>
                <a:effectLst/>
                <a:latin typeface="+mn-lt"/>
                <a:ea typeface="+mn-ea"/>
                <a:cs typeface="+mn-cs"/>
              </a:rPr>
              <a:t> When indoor CO2 levels cross 1,400 ppm, strategic thinking and complex decision-making drop by 50%. Install a $200 monitor and open doors to circulate fresh air. </a:t>
            </a:r>
          </a:p>
          <a:p>
            <a:pPr lvl="0"/>
            <a:r>
              <a:rPr lang="en-US" sz="1200" b="1" kern="1200" dirty="0">
                <a:solidFill>
                  <a:schemeClr val="tx1"/>
                </a:solidFill>
                <a:effectLst/>
                <a:latin typeface="+mn-lt"/>
                <a:ea typeface="+mn-ea"/>
                <a:cs typeface="+mn-cs"/>
              </a:rPr>
              <a:t>Intelligible Speech:</a:t>
            </a:r>
            <a:r>
              <a:rPr lang="en-US" sz="1200" kern="1200" dirty="0">
                <a:solidFill>
                  <a:schemeClr val="tx1"/>
                </a:solidFill>
                <a:effectLst/>
                <a:latin typeface="+mn-lt"/>
                <a:ea typeface="+mn-ea"/>
                <a:cs typeface="+mn-cs"/>
              </a:rPr>
              <a:t> Hearing human conversations in the background forces involuntary auditory processing, imposing a 4% to 45% cognitive tax on reasoning. Deploy foam earplugs or isolated work zones. </a:t>
            </a:r>
          </a:p>
          <a:p>
            <a:pPr lvl="0"/>
            <a:r>
              <a:rPr lang="en-US" sz="1200" b="1" kern="1200" dirty="0">
                <a:solidFill>
                  <a:schemeClr val="tx1"/>
                </a:solidFill>
                <a:effectLst/>
                <a:latin typeface="+mn-lt"/>
                <a:ea typeface="+mn-ea"/>
                <a:cs typeface="+mn-cs"/>
              </a:rPr>
              <a:t>Attentional Residue:</a:t>
            </a:r>
            <a:r>
              <a:rPr lang="en-US" sz="1200" kern="1200" dirty="0">
                <a:solidFill>
                  <a:schemeClr val="tx1"/>
                </a:solidFill>
                <a:effectLst/>
                <a:latin typeface="+mn-lt"/>
                <a:ea typeface="+mn-ea"/>
                <a:cs typeface="+mn-cs"/>
              </a:rPr>
              <a:t> Switching tasks causes your attention to remain stuck on the previous activity for up to 20 minutes. Fix this by writing a 30-second 'Resume Plan' specifying your exact next step before changing tabs.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5</a:t>
            </a:fld>
            <a:endParaRPr lang="en-US"/>
          </a:p>
        </p:txBody>
      </p:sp>
    </p:spTree>
    <p:extLst>
      <p:ext uri="{BB962C8B-B14F-4D97-AF65-F5344CB8AC3E}">
        <p14:creationId xmlns:p14="http://schemas.microsoft.com/office/powerpoint/2010/main" val="2483089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Friction Dictates Behavior:</a:t>
            </a:r>
            <a:r>
              <a:rPr lang="en-US" sz="1200" kern="1200" dirty="0">
                <a:solidFill>
                  <a:schemeClr val="tx1"/>
                </a:solidFill>
                <a:effectLst/>
                <a:latin typeface="+mn-lt"/>
                <a:ea typeface="+mn-ea"/>
                <a:cs typeface="+mn-cs"/>
              </a:rPr>
              <a:t> The Tongs Experiment showed that simply swapping a serving spoon with awkward tongs reduced pea consumption by 16.5%. Small increases in physical friction dramatically alter human behavior. </a:t>
            </a:r>
          </a:p>
          <a:p>
            <a:pPr lvl="0"/>
            <a:r>
              <a:rPr lang="en-US" sz="1200" b="1" kern="1200" dirty="0">
                <a:solidFill>
                  <a:schemeClr val="tx1"/>
                </a:solidFill>
                <a:effectLst/>
                <a:latin typeface="+mn-lt"/>
                <a:ea typeface="+mn-ea"/>
                <a:cs typeface="+mn-cs"/>
              </a:rPr>
              <a:t>Ulysses Contracts:</a:t>
            </a:r>
            <a:r>
              <a:rPr lang="en-US" sz="1200" kern="1200" dirty="0">
                <a:solidFill>
                  <a:schemeClr val="tx1"/>
                </a:solidFill>
                <a:effectLst/>
                <a:latin typeface="+mn-lt"/>
                <a:ea typeface="+mn-ea"/>
                <a:cs typeface="+mn-cs"/>
              </a:rPr>
              <a:t> Make high-executive decisions when your focus is high (8 AM) to bind the actions of your future, exhausted self (9 PM). For example, lock your phone in another room overnight. </a:t>
            </a:r>
          </a:p>
          <a:p>
            <a:pPr lvl="0"/>
            <a:r>
              <a:rPr lang="en-US" sz="1200" b="1" kern="1200" dirty="0">
                <a:solidFill>
                  <a:schemeClr val="tx1"/>
                </a:solidFill>
                <a:effectLst/>
                <a:latin typeface="+mn-lt"/>
                <a:ea typeface="+mn-ea"/>
                <a:cs typeface="+mn-cs"/>
              </a:rPr>
              <a:t>Default States:</a:t>
            </a:r>
            <a:r>
              <a:rPr lang="en-US" sz="1200" kern="1200" dirty="0">
                <a:solidFill>
                  <a:schemeClr val="tx1"/>
                </a:solidFill>
                <a:effectLst/>
                <a:latin typeface="+mn-lt"/>
                <a:ea typeface="+mn-ea"/>
                <a:cs typeface="+mn-cs"/>
              </a:rPr>
              <a:t> If an outcome benefits an app developer but harms your productivity, change the default state. Rely on environmental physics, not raw discipline.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6</a:t>
            </a:fld>
            <a:endParaRPr lang="en-US"/>
          </a:p>
        </p:txBody>
      </p:sp>
    </p:spTree>
    <p:extLst>
      <p:ext uri="{BB962C8B-B14F-4D97-AF65-F5344CB8AC3E}">
        <p14:creationId xmlns:p14="http://schemas.microsoft.com/office/powerpoint/2010/main" val="3370207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Map is Not the Territory:</a:t>
            </a:r>
            <a:r>
              <a:rPr lang="en-US" sz="1200" kern="1200" dirty="0">
                <a:solidFill>
                  <a:schemeClr val="tx1"/>
                </a:solidFill>
                <a:effectLst/>
                <a:latin typeface="+mn-lt"/>
                <a:ea typeface="+mn-ea"/>
                <a:cs typeface="+mn-cs"/>
              </a:rPr>
              <a:t> Dashboards, spreadsheets, metrics, and AI summaries are lossy compressions of reality. They exist to be useful, not perfectly accurate. When the map disagrees with reality on the ground, reality is always right. </a:t>
            </a:r>
          </a:p>
          <a:p>
            <a:pPr lvl="0"/>
            <a:r>
              <a:rPr lang="en-US" sz="1200" b="1" kern="1200" dirty="0">
                <a:solidFill>
                  <a:schemeClr val="tx1"/>
                </a:solidFill>
                <a:effectLst/>
                <a:latin typeface="+mn-lt"/>
                <a:ea typeface="+mn-ea"/>
                <a:cs typeface="+mn-cs"/>
              </a:rPr>
              <a:t>Chesterton's Fence:</a:t>
            </a:r>
            <a:r>
              <a:rPr lang="en-US" sz="1200" kern="1200" dirty="0">
                <a:solidFill>
                  <a:schemeClr val="tx1"/>
                </a:solidFill>
                <a:effectLst/>
                <a:latin typeface="+mn-lt"/>
                <a:ea typeface="+mn-ea"/>
                <a:cs typeface="+mn-cs"/>
              </a:rPr>
              <a:t> Never tear down a rule, process, or SOP until you fully understand why it was put there in the first place. Assuming former operators were simply foolish is a classic map error.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7</a:t>
            </a:fld>
            <a:endParaRPr lang="en-US"/>
          </a:p>
        </p:txBody>
      </p:sp>
    </p:spTree>
    <p:extLst>
      <p:ext uri="{BB962C8B-B14F-4D97-AF65-F5344CB8AC3E}">
        <p14:creationId xmlns:p14="http://schemas.microsoft.com/office/powerpoint/2010/main" val="3413164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Power Law (Outcomes):</a:t>
                </a:r>
                <a:r>
                  <a:rPr lang="en-US" sz="1200" kern="1200" dirty="0">
                    <a:solidFill>
                      <a:schemeClr val="tx1"/>
                    </a:solidFill>
                    <a:effectLst/>
                    <a:latin typeface="+mn-lt"/>
                    <a:ea typeface="+mn-ea"/>
                    <a:cs typeface="+mn-cs"/>
                  </a:rPr>
                  <a:t> 80% of results come from 20% of inputs. In power-law distributions, the average is a useless stat. Double down on the head of the distribution (top client, top channel, top product) and ignore the long tail. </a:t>
                </a:r>
              </a:p>
              <a:p>
                <a:pPr lvl="0"/>
                <a:r>
                  <a:rPr lang="en-US" sz="1200" b="1" kern="1200" dirty="0">
                    <a:solidFill>
                      <a:schemeClr val="tx1"/>
                    </a:solidFill>
                    <a:effectLst/>
                    <a:latin typeface="+mn-lt"/>
                    <a:ea typeface="+mn-ea"/>
                    <a:cs typeface="+mn-cs"/>
                  </a:rPr>
                  <a:t>The Chain Law (Processes):</a:t>
                </a:r>
                <a:r>
                  <a:rPr lang="en-US" sz="1200" kern="1200" dirty="0">
                    <a:solidFill>
                      <a:schemeClr val="tx1"/>
                    </a:solidFill>
                    <a:effectLst/>
                    <a:latin typeface="+mn-lt"/>
                    <a:ea typeface="+mn-ea"/>
                    <a:cs typeface="+mn-cs"/>
                  </a:rPr>
                  <a:t> A sequential process's success rate is the product of its individual steps (</a:t>
                </a:r>
                <a14:m>
                  <m:oMath xmlns:m="http://schemas.openxmlformats.org/officeDocument/2006/math">
                    <m:r>
                      <a:rPr lang="en-US" sz="1200" kern="1200" smtClean="0">
                        <a:solidFill>
                          <a:schemeClr val="tx1"/>
                        </a:solidFill>
                        <a:latin typeface="Cambria Math" panose="02040503050406030204" pitchFamily="18" charset="0"/>
                        <a:ea typeface="+mn-ea"/>
                        <a:cs typeface="+mn-cs"/>
                      </a:rPr>
                      <m:t>0.9</m:t>
                    </m:r>
                    <m:r>
                      <a:rPr lang="en-US" sz="1200" i="0" kern="1200">
                        <a:solidFill>
                          <a:schemeClr val="tx1"/>
                        </a:solidFill>
                        <a:latin typeface="Cambria Math" panose="02040503050406030204" pitchFamily="18" charset="0"/>
                        <a:ea typeface="+mn-ea"/>
                        <a:cs typeface="+mn-cs"/>
                      </a:rPr>
                      <m:t>×0.9×0.2=16%</m:t>
                    </m:r>
                  </m:oMath>
                </a14:m>
                <a:r>
                  <a:rPr lang="en-US" sz="1200" kern="1200" dirty="0">
                    <a:solidFill>
                      <a:schemeClr val="tx1"/>
                    </a:solidFill>
                    <a:effectLst/>
                    <a:latin typeface="+mn-lt"/>
                    <a:ea typeface="+mn-ea"/>
                    <a:cs typeface="+mn-cs"/>
                  </a:rPr>
                  <a:t>). Stop polishing the steps operating at 90% efficiency. Identify the bottleneck (the 20% weak link) and eliminate or repair it.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Power Law (Outcomes):</a:t>
                </a:r>
                <a:r>
                  <a:rPr lang="en-US" sz="1200" kern="1200" dirty="0">
                    <a:solidFill>
                      <a:schemeClr val="tx1"/>
                    </a:solidFill>
                    <a:effectLst/>
                    <a:latin typeface="+mn-lt"/>
                    <a:ea typeface="+mn-ea"/>
                    <a:cs typeface="+mn-cs"/>
                  </a:rPr>
                  <a:t> 80% of results come from 20% of inputs. In power-law distributions, the average is a useless stat. Double down on the head of the distribution (top client, top channel, top product) and ignore the long tail. </a:t>
                </a:r>
              </a:p>
              <a:p>
                <a:pPr lvl="0"/>
                <a:r>
                  <a:rPr lang="en-US" sz="1200" b="1" kern="1200" dirty="0">
                    <a:solidFill>
                      <a:schemeClr val="tx1"/>
                    </a:solidFill>
                    <a:effectLst/>
                    <a:latin typeface="+mn-lt"/>
                    <a:ea typeface="+mn-ea"/>
                    <a:cs typeface="+mn-cs"/>
                  </a:rPr>
                  <a:t>The Chain Law (Processes):</a:t>
                </a:r>
                <a:r>
                  <a:rPr lang="en-US" sz="1200" kern="1200" dirty="0">
                    <a:solidFill>
                      <a:schemeClr val="tx1"/>
                    </a:solidFill>
                    <a:effectLst/>
                    <a:latin typeface="+mn-lt"/>
                    <a:ea typeface="+mn-ea"/>
                    <a:cs typeface="+mn-cs"/>
                  </a:rPr>
                  <a:t> A sequential process's success rate is the product of its individual steps (</a:t>
                </a:r>
                <a:r>
                  <a:rPr lang="en-US" sz="1200" i="0" kern="1200">
                    <a:solidFill>
                      <a:schemeClr val="tx1"/>
                    </a:solidFill>
                    <a:latin typeface="+mn-lt"/>
                    <a:ea typeface="+mn-ea"/>
                    <a:cs typeface="+mn-cs"/>
                  </a:rPr>
                  <a:t>0.9×0.9×0.2=16%</a:t>
                </a:r>
                <a:r>
                  <a:rPr lang="en-US" sz="1200" kern="1200" dirty="0">
                    <a:solidFill>
                      <a:schemeClr val="tx1"/>
                    </a:solidFill>
                    <a:effectLst/>
                    <a:latin typeface="+mn-lt"/>
                    <a:ea typeface="+mn-ea"/>
                    <a:cs typeface="+mn-cs"/>
                  </a:rPr>
                  <a:t>). Stop polishing the steps operating at 90% efficiency. Identify the bottleneck (the 20% weak link) and eliminate or repair it. </a:t>
                </a:r>
              </a:p>
              <a:p>
                <a:endParaRPr lang="en-US" dirty="0"/>
              </a:p>
            </p:txBody>
          </p:sp>
        </mc:Fallback>
      </mc:AlternateContent>
      <p:sp>
        <p:nvSpPr>
          <p:cNvPr id="4" name="Slide Number Placeholder 3"/>
          <p:cNvSpPr>
            <a:spLocks noGrp="1"/>
          </p:cNvSpPr>
          <p:nvPr>
            <p:ph type="sldNum" sz="quarter" idx="5"/>
          </p:nvPr>
        </p:nvSpPr>
        <p:spPr/>
        <p:txBody>
          <a:bodyPr/>
          <a:lstStyle/>
          <a:p>
            <a:fld id="{2D6C3CB5-F041-4BDA-A074-C352CF194E60}" type="slidenum">
              <a:rPr lang="en-US" smtClean="0"/>
              <a:t>8</a:t>
            </a:fld>
            <a:endParaRPr lang="en-US"/>
          </a:p>
        </p:txBody>
      </p:sp>
    </p:spTree>
    <p:extLst>
      <p:ext uri="{BB962C8B-B14F-4D97-AF65-F5344CB8AC3E}">
        <p14:creationId xmlns:p14="http://schemas.microsoft.com/office/powerpoint/2010/main" val="803364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Local Maximum Trap:</a:t>
            </a:r>
            <a:r>
              <a:rPr lang="en-US" sz="1200" kern="1200" dirty="0">
                <a:solidFill>
                  <a:schemeClr val="tx1"/>
                </a:solidFill>
                <a:effectLst/>
                <a:latin typeface="+mn-lt"/>
                <a:ea typeface="+mn-ea"/>
                <a:cs typeface="+mn-cs"/>
              </a:rPr>
              <a:t> Human instinct is to keep climbing upward. But if you're at the top of a small hill, every initial move toward a higher mountain looks like a step downward into a valley. </a:t>
            </a:r>
          </a:p>
          <a:p>
            <a:pPr lvl="0"/>
            <a:r>
              <a:rPr lang="en-US" sz="1200" b="1" kern="1200" dirty="0">
                <a:solidFill>
                  <a:schemeClr val="tx1"/>
                </a:solidFill>
                <a:effectLst/>
                <a:latin typeface="+mn-lt"/>
                <a:ea typeface="+mn-ea"/>
                <a:cs typeface="+mn-cs"/>
              </a:rPr>
              <a:t>Crossing the Valley:</a:t>
            </a:r>
            <a:r>
              <a:rPr lang="en-US" sz="1200" kern="1200" dirty="0">
                <a:solidFill>
                  <a:schemeClr val="tx1"/>
                </a:solidFill>
                <a:effectLst/>
                <a:latin typeface="+mn-lt"/>
                <a:ea typeface="+mn-ea"/>
                <a:cs typeface="+mn-cs"/>
              </a:rPr>
              <a:t> To reach a global maximum, you must willingly step down into the valley—accepting temporary dips in revenue, status, or short-term metrics. </a:t>
            </a:r>
          </a:p>
          <a:p>
            <a:pPr lvl="0"/>
            <a:r>
              <a:rPr lang="en-US" sz="1200" b="1" kern="1200" dirty="0">
                <a:solidFill>
                  <a:schemeClr val="tx1"/>
                </a:solidFill>
                <a:effectLst/>
                <a:latin typeface="+mn-lt"/>
                <a:ea typeface="+mn-ea"/>
                <a:cs typeface="+mn-cs"/>
              </a:rPr>
              <a:t>Explore vs. Exploit:</a:t>
            </a:r>
            <a:r>
              <a:rPr lang="en-US" sz="1200" kern="1200" dirty="0">
                <a:solidFill>
                  <a:schemeClr val="tx1"/>
                </a:solidFill>
                <a:effectLst/>
                <a:latin typeface="+mn-lt"/>
                <a:ea typeface="+mn-ea"/>
                <a:cs typeface="+mn-cs"/>
              </a:rPr>
              <a:t> When your time horizon is long, spend resources exploring new peaks. When time is short or returns are proven, exploit and extract maximum value from your current position.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9</a:t>
            </a:fld>
            <a:endParaRPr lang="en-US"/>
          </a:p>
        </p:txBody>
      </p:sp>
    </p:spTree>
    <p:extLst>
      <p:ext uri="{BB962C8B-B14F-4D97-AF65-F5344CB8AC3E}">
        <p14:creationId xmlns:p14="http://schemas.microsoft.com/office/powerpoint/2010/main" val="3374553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Expected Value (EV):</a:t>
            </a:r>
            <a:r>
              <a:rPr lang="en-US" sz="1200" kern="1200" dirty="0">
                <a:solidFill>
                  <a:schemeClr val="tx1"/>
                </a:solidFill>
                <a:effectLst/>
                <a:latin typeface="+mn-lt"/>
                <a:ea typeface="+mn-ea"/>
                <a:cs typeface="+mn-cs"/>
              </a:rPr>
              <a:t> Never evaluate decisions purely by short-term outcomes. A 20% chance to win $10 ($2 EV) is mathematically superior to an 80% chance to win $2 ($1.60 EV). Over a long timeline, expected value always wins out. </a:t>
            </a:r>
          </a:p>
          <a:p>
            <a:pPr lvl="0"/>
            <a:r>
              <a:rPr lang="en-US" sz="1200" b="1" kern="1200" dirty="0">
                <a:solidFill>
                  <a:schemeClr val="tx1"/>
                </a:solidFill>
                <a:effectLst/>
                <a:latin typeface="+mn-lt"/>
                <a:ea typeface="+mn-ea"/>
                <a:cs typeface="+mn-cs"/>
              </a:rPr>
              <a:t>Bayes' Theorem:</a:t>
            </a:r>
            <a:r>
              <a:rPr lang="en-US" sz="1200" kern="1200" dirty="0">
                <a:solidFill>
                  <a:schemeClr val="tx1"/>
                </a:solidFill>
                <a:effectLst/>
                <a:latin typeface="+mn-lt"/>
                <a:ea typeface="+mn-ea"/>
                <a:cs typeface="+mn-cs"/>
              </a:rPr>
              <a:t> Stop viewing claims as binary choices (true or false). View beliefs as prior probabilities updated as new evidence comes in. Ask: </a:t>
            </a:r>
            <a:r>
              <a:rPr lang="en-US" sz="1200" i="1" kern="1200" dirty="0">
                <a:solidFill>
                  <a:schemeClr val="tx1"/>
                </a:solidFill>
                <a:effectLst/>
                <a:latin typeface="+mn-lt"/>
                <a:ea typeface="+mn-ea"/>
                <a:cs typeface="+mn-cs"/>
              </a:rPr>
              <a:t>'What is the likelihood of seeing this evidence if my belief were true versus if it were false?'</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10</a:t>
            </a:fld>
            <a:endParaRPr lang="en-US"/>
          </a:p>
        </p:txBody>
      </p:sp>
    </p:spTree>
    <p:extLst>
      <p:ext uri="{BB962C8B-B14F-4D97-AF65-F5344CB8AC3E}">
        <p14:creationId xmlns:p14="http://schemas.microsoft.com/office/powerpoint/2010/main" val="2768273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Opportunity Cost:</a:t>
            </a:r>
            <a:r>
              <a:rPr lang="en-US" sz="1200" kern="1200" dirty="0">
                <a:solidFill>
                  <a:schemeClr val="tx1"/>
                </a:solidFill>
                <a:effectLst/>
                <a:latin typeface="+mn-lt"/>
                <a:ea typeface="+mn-ea"/>
                <a:cs typeface="+mn-cs"/>
              </a:rPr>
              <a:t> Price and cost are fundamentally different. The true cost of scrolling social media isn't zero—it's the value of what you could have created during that hour. </a:t>
            </a:r>
          </a:p>
          <a:p>
            <a:pPr lvl="0"/>
            <a:r>
              <a:rPr lang="en-US" sz="1200" b="1" kern="1200" dirty="0">
                <a:solidFill>
                  <a:schemeClr val="tx1"/>
                </a:solidFill>
                <a:effectLst/>
                <a:latin typeface="+mn-lt"/>
                <a:ea typeface="+mn-ea"/>
                <a:cs typeface="+mn-cs"/>
              </a:rPr>
              <a:t>The Offload Equation:</a:t>
            </a:r>
            <a:r>
              <a:rPr lang="en-US" sz="1200" kern="1200" dirty="0">
                <a:solidFill>
                  <a:schemeClr val="tx1"/>
                </a:solidFill>
                <a:effectLst/>
                <a:latin typeface="+mn-lt"/>
                <a:ea typeface="+mn-ea"/>
                <a:cs typeface="+mn-cs"/>
              </a:rPr>
              <a:t> Delegate a task if [Task Cost] + [Supervision Time x Hourly Rate] &lt; [Your Manual Time]. Remember to account for supervision time, which is rarely zero. </a:t>
            </a:r>
          </a:p>
          <a:p>
            <a:pPr lvl="0"/>
            <a:r>
              <a:rPr lang="en-US" sz="1200" b="1" kern="1200" dirty="0">
                <a:solidFill>
                  <a:schemeClr val="tx1"/>
                </a:solidFill>
                <a:effectLst/>
                <a:latin typeface="+mn-lt"/>
                <a:ea typeface="+mn-ea"/>
                <a:cs typeface="+mn-cs"/>
              </a:rPr>
              <a:t>The Planning Fallacy:</a:t>
            </a:r>
            <a:r>
              <a:rPr lang="en-US" sz="1200" kern="1200" dirty="0">
                <a:solidFill>
                  <a:schemeClr val="tx1"/>
                </a:solidFill>
                <a:effectLst/>
                <a:latin typeface="+mn-lt"/>
                <a:ea typeface="+mn-ea"/>
                <a:cs typeface="+mn-cs"/>
              </a:rPr>
              <a:t> When planning projects internally, we default to the best-case path. Apply a mandatory 1.5x multiplier to all time and resource estimates.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11</a:t>
            </a:fld>
            <a:endParaRPr lang="en-US"/>
          </a:p>
        </p:txBody>
      </p:sp>
    </p:spTree>
    <p:extLst>
      <p:ext uri="{BB962C8B-B14F-4D97-AF65-F5344CB8AC3E}">
        <p14:creationId xmlns:p14="http://schemas.microsoft.com/office/powerpoint/2010/main" val="3629962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Curing Akrasia:</a:t>
            </a:r>
            <a:r>
              <a:rPr lang="en-US" sz="1200" kern="1200" dirty="0">
                <a:solidFill>
                  <a:schemeClr val="tx1"/>
                </a:solidFill>
                <a:effectLst/>
                <a:latin typeface="+mn-lt"/>
                <a:ea typeface="+mn-ea"/>
                <a:cs typeface="+mn-cs"/>
              </a:rPr>
              <a:t> Akrasia is knowing what you ought to do but failing to act. Deliberation consumes energy; hardwire your choices into automated background scripts. </a:t>
            </a:r>
          </a:p>
          <a:p>
            <a:pPr lvl="0"/>
            <a:r>
              <a:rPr lang="en-US" sz="1200" b="1" kern="1200" dirty="0">
                <a:solidFill>
                  <a:schemeClr val="tx1"/>
                </a:solidFill>
                <a:effectLst/>
                <a:latin typeface="+mn-lt"/>
                <a:ea typeface="+mn-ea"/>
                <a:cs typeface="+mn-cs"/>
              </a:rPr>
              <a:t>The TAP Syntax:</a:t>
            </a:r>
            <a:r>
              <a:rPr lang="en-US" sz="1200" kern="1200" dirty="0">
                <a:solidFill>
                  <a:schemeClr val="tx1"/>
                </a:solidFill>
                <a:effectLst/>
                <a:latin typeface="+mn-lt"/>
                <a:ea typeface="+mn-ea"/>
                <a:cs typeface="+mn-cs"/>
              </a:rPr>
              <a:t> IF [Trigger] THEN [Action]. TAPs increase goal achievement probability by 0.65 standard deviations. </a:t>
            </a:r>
          </a:p>
          <a:p>
            <a:pPr lvl="0"/>
            <a:r>
              <a:rPr lang="en-US" sz="1200" kern="1200" dirty="0">
                <a:solidFill>
                  <a:schemeClr val="tx1"/>
                </a:solidFill>
                <a:effectLst/>
                <a:latin typeface="+mn-lt"/>
                <a:ea typeface="+mn-ea"/>
                <a:cs typeface="+mn-cs"/>
              </a:rPr>
              <a:t>Two Golden Rules: </a:t>
            </a:r>
          </a:p>
          <a:p>
            <a:pPr marL="228600" lvl="0" indent="-228600">
              <a:buFont typeface="+mj-lt"/>
              <a:buAutoNum type="arabicPeriod"/>
            </a:pPr>
            <a:r>
              <a:rPr lang="en-US" sz="1200" i="1" kern="1200" dirty="0">
                <a:solidFill>
                  <a:schemeClr val="tx1"/>
                </a:solidFill>
                <a:effectLst/>
                <a:latin typeface="+mn-lt"/>
                <a:ea typeface="+mn-ea"/>
                <a:cs typeface="+mn-cs"/>
              </a:rPr>
              <a:t>The Trigger must be specific:</a:t>
            </a:r>
            <a:r>
              <a:rPr lang="en-US" sz="1200" kern="1200" dirty="0">
                <a:solidFill>
                  <a:schemeClr val="tx1"/>
                </a:solidFill>
                <a:effectLst/>
                <a:latin typeface="+mn-lt"/>
                <a:ea typeface="+mn-ea"/>
                <a:cs typeface="+mn-cs"/>
              </a:rPr>
              <a:t> 'When I sit down at my desk' works. 'When I feel like working' fails. </a:t>
            </a:r>
          </a:p>
          <a:p>
            <a:pPr marL="228600" lvl="0" indent="-228600">
              <a:buFont typeface="+mj-lt"/>
              <a:buAutoNum type="arabicPeriod"/>
            </a:pPr>
            <a:r>
              <a:rPr lang="en-US" sz="1200" i="1" kern="1200" dirty="0">
                <a:solidFill>
                  <a:schemeClr val="tx1"/>
                </a:solidFill>
                <a:effectLst/>
                <a:latin typeface="+mn-lt"/>
                <a:ea typeface="+mn-ea"/>
                <a:cs typeface="+mn-cs"/>
              </a:rPr>
              <a:t>The Action must be physical and tiny:</a:t>
            </a:r>
            <a:r>
              <a:rPr lang="en-US" sz="1200" kern="1200" dirty="0">
                <a:solidFill>
                  <a:schemeClr val="tx1"/>
                </a:solidFill>
                <a:effectLst/>
                <a:latin typeface="+mn-lt"/>
                <a:ea typeface="+mn-ea"/>
                <a:cs typeface="+mn-cs"/>
              </a:rPr>
              <a:t> 'Open a blank doc and write one sentence' works. 'Write the report' fails.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12</a:t>
            </a:fld>
            <a:endParaRPr lang="en-US"/>
          </a:p>
        </p:txBody>
      </p:sp>
    </p:spTree>
    <p:extLst>
      <p:ext uri="{BB962C8B-B14F-4D97-AF65-F5344CB8AC3E}">
        <p14:creationId xmlns:p14="http://schemas.microsoft.com/office/powerpoint/2010/main" val="3340297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Noticing Confusion:</a:t>
            </a:r>
            <a:r>
              <a:rPr lang="en-US" sz="1200" kern="1200" dirty="0">
                <a:solidFill>
                  <a:schemeClr val="tx1"/>
                </a:solidFill>
                <a:effectLst/>
                <a:latin typeface="+mn-lt"/>
                <a:ea typeface="+mn-ea"/>
                <a:cs typeface="+mn-cs"/>
              </a:rPr>
              <a:t> When incoming data contradicts your mental model, stop and state aloud: </a:t>
            </a:r>
            <a:r>
              <a:rPr lang="en-US" sz="1200" i="1" kern="1200" dirty="0">
                <a:solidFill>
                  <a:schemeClr val="tx1"/>
                </a:solidFill>
                <a:effectLst/>
                <a:latin typeface="+mn-lt"/>
                <a:ea typeface="+mn-ea"/>
                <a:cs typeface="+mn-cs"/>
              </a:rPr>
              <a:t>'I notice I am confused.'</a:t>
            </a:r>
            <a:r>
              <a:rPr lang="en-US" sz="1200" kern="1200" dirty="0">
                <a:solidFill>
                  <a:schemeClr val="tx1"/>
                </a:solidFill>
                <a:effectLst/>
                <a:latin typeface="+mn-lt"/>
                <a:ea typeface="+mn-ea"/>
                <a:cs typeface="+mn-cs"/>
              </a:rPr>
              <a:t> Re-examine your assumptions and update your map. </a:t>
            </a:r>
          </a:p>
          <a:p>
            <a:pPr lvl="0"/>
            <a:r>
              <a:rPr lang="en-US" sz="1200" b="1" kern="1200" dirty="0">
                <a:solidFill>
                  <a:schemeClr val="tx1"/>
                </a:solidFill>
                <a:effectLst/>
                <a:latin typeface="+mn-lt"/>
                <a:ea typeface="+mn-ea"/>
                <a:cs typeface="+mn-cs"/>
              </a:rPr>
              <a:t>The Flinch (Ugh Field):</a:t>
            </a:r>
            <a:r>
              <a:rPr lang="en-US" sz="1200" kern="1200" dirty="0">
                <a:solidFill>
                  <a:schemeClr val="tx1"/>
                </a:solidFill>
                <a:effectLst/>
                <a:latin typeface="+mn-lt"/>
                <a:ea typeface="+mn-ea"/>
                <a:cs typeface="+mn-cs"/>
              </a:rPr>
              <a:t> When you feel resistance to opening an email or confronting a difficult task, force yourself to stare directly at it for 10 seconds to desensitize avoidance loops. </a:t>
            </a:r>
          </a:p>
          <a:p>
            <a:pPr lvl="0"/>
            <a:r>
              <a:rPr lang="en-US" sz="1200" b="1" kern="1200" dirty="0">
                <a:solidFill>
                  <a:schemeClr val="tx1"/>
                </a:solidFill>
                <a:effectLst/>
                <a:latin typeface="+mn-lt"/>
                <a:ea typeface="+mn-ea"/>
                <a:cs typeface="+mn-cs"/>
              </a:rPr>
              <a:t>The 'Should' Audit:</a:t>
            </a:r>
            <a:r>
              <a:rPr lang="en-US" sz="1200" kern="1200" dirty="0">
                <a:solidFill>
                  <a:schemeClr val="tx1"/>
                </a:solidFill>
                <a:effectLst/>
                <a:latin typeface="+mn-lt"/>
                <a:ea typeface="+mn-ea"/>
                <a:cs typeface="+mn-cs"/>
              </a:rPr>
              <a:t> Whenever you hear yourself saying </a:t>
            </a:r>
            <a:r>
              <a:rPr lang="en-US" sz="1200" i="1" kern="1200" dirty="0">
                <a:solidFill>
                  <a:schemeClr val="tx1"/>
                </a:solidFill>
                <a:effectLst/>
                <a:latin typeface="+mn-lt"/>
                <a:ea typeface="+mn-ea"/>
                <a:cs typeface="+mn-cs"/>
              </a:rPr>
              <a:t>'I should do X,'</a:t>
            </a:r>
            <a:r>
              <a:rPr lang="en-US" sz="1200" kern="1200" dirty="0">
                <a:solidFill>
                  <a:schemeClr val="tx1"/>
                </a:solidFill>
                <a:effectLst/>
                <a:latin typeface="+mn-lt"/>
                <a:ea typeface="+mn-ea"/>
                <a:cs typeface="+mn-cs"/>
              </a:rPr>
              <a:t> stop and ask: </a:t>
            </a:r>
            <a:r>
              <a:rPr lang="en-US" sz="1200" i="1" kern="1200" dirty="0">
                <a:solidFill>
                  <a:schemeClr val="tx1"/>
                </a:solidFill>
                <a:effectLst/>
                <a:latin typeface="+mn-lt"/>
                <a:ea typeface="+mn-ea"/>
                <a:cs typeface="+mn-cs"/>
              </a:rPr>
              <a:t>'Whose goal am I actually serving?'</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13</a:t>
            </a:fld>
            <a:endParaRPr lang="en-US"/>
          </a:p>
        </p:txBody>
      </p:sp>
    </p:spTree>
    <p:extLst>
      <p:ext uri="{BB962C8B-B14F-4D97-AF65-F5344CB8AC3E}">
        <p14:creationId xmlns:p14="http://schemas.microsoft.com/office/powerpoint/2010/main" val="620795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Red-Teaming AI:</a:t>
            </a:r>
            <a:r>
              <a:rPr lang="en-US" sz="1200" kern="1200" dirty="0">
                <a:solidFill>
                  <a:schemeClr val="tx1"/>
                </a:solidFill>
                <a:effectLst/>
                <a:latin typeface="+mn-lt"/>
                <a:ea typeface="+mn-ea"/>
                <a:cs typeface="+mn-cs"/>
              </a:rPr>
              <a:t> AI models are trained to be agreeable. If you ask </a:t>
            </a:r>
            <a:r>
              <a:rPr lang="en-US" sz="1200" i="1" kern="1200" dirty="0">
                <a:solidFill>
                  <a:schemeClr val="tx1"/>
                </a:solidFill>
                <a:effectLst/>
                <a:latin typeface="+mn-lt"/>
                <a:ea typeface="+mn-ea"/>
                <a:cs typeface="+mn-cs"/>
              </a:rPr>
              <a:t>'Is this a good idea?'</a:t>
            </a:r>
            <a:r>
              <a:rPr lang="en-US" sz="1200" kern="1200" dirty="0">
                <a:solidFill>
                  <a:schemeClr val="tx1"/>
                </a:solidFill>
                <a:effectLst/>
                <a:latin typeface="+mn-lt"/>
                <a:ea typeface="+mn-ea"/>
                <a:cs typeface="+mn-cs"/>
              </a:rPr>
              <a:t>, it will validate your plan. Instead, prompt: </a:t>
            </a:r>
            <a:r>
              <a:rPr lang="en-US" sz="1200" i="1" kern="1200" dirty="0">
                <a:solidFill>
                  <a:schemeClr val="tx1"/>
                </a:solidFill>
                <a:effectLst/>
                <a:latin typeface="+mn-lt"/>
                <a:ea typeface="+mn-ea"/>
                <a:cs typeface="+mn-cs"/>
              </a:rPr>
              <a:t>'Assume this plan is a catastrophic mistake. Give me the 3 strongest reasons a smart person would reject it.'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Premortem:</a:t>
            </a:r>
            <a:r>
              <a:rPr lang="en-US" sz="1200" kern="1200" dirty="0">
                <a:solidFill>
                  <a:schemeClr val="tx1"/>
                </a:solidFill>
                <a:effectLst/>
                <a:latin typeface="+mn-lt"/>
                <a:ea typeface="+mn-ea"/>
                <a:cs typeface="+mn-cs"/>
              </a:rPr>
              <a:t> Don't ask </a:t>
            </a:r>
            <a:r>
              <a:rPr lang="en-US" sz="1200" i="1" kern="1200" dirty="0">
                <a:solidFill>
                  <a:schemeClr val="tx1"/>
                </a:solidFill>
                <a:effectLst/>
                <a:latin typeface="+mn-lt"/>
                <a:ea typeface="+mn-ea"/>
                <a:cs typeface="+mn-cs"/>
              </a:rPr>
              <a:t>'What might go wrong?'</a:t>
            </a:r>
            <a:r>
              <a:rPr lang="en-US" sz="1200" kern="1200" dirty="0">
                <a:solidFill>
                  <a:schemeClr val="tx1"/>
                </a:solidFill>
                <a:effectLst/>
                <a:latin typeface="+mn-lt"/>
                <a:ea typeface="+mn-ea"/>
                <a:cs typeface="+mn-cs"/>
              </a:rPr>
              <a:t> Project yourself 6 months into the future and assume the project failed completely. Write the post-mortem in the past tense explaining why it failed, then fix those failure points today.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14</a:t>
            </a:fld>
            <a:endParaRPr lang="en-US"/>
          </a:p>
        </p:txBody>
      </p:sp>
    </p:spTree>
    <p:extLst>
      <p:ext uri="{BB962C8B-B14F-4D97-AF65-F5344CB8AC3E}">
        <p14:creationId xmlns:p14="http://schemas.microsoft.com/office/powerpoint/2010/main" val="634576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Synthesizing the Stack:</a:t>
            </a:r>
            <a:r>
              <a:rPr lang="en-US" sz="1200" kern="1200" dirty="0">
                <a:solidFill>
                  <a:schemeClr val="tx1"/>
                </a:solidFill>
                <a:effectLst/>
                <a:latin typeface="+mn-lt"/>
                <a:ea typeface="+mn-ea"/>
                <a:cs typeface="+mn-cs"/>
              </a:rPr>
              <a:t> Clear thinking is an engineered state, not an inherent talent. Upgrading physical hardware unlocks mental clarity. Designing frictionless environments preserves executive focus. Utilizing mathematical models improves decision accuracy. Executing via TAPs eliminates hesitation. </a:t>
            </a:r>
          </a:p>
          <a:p>
            <a:pPr lvl="0"/>
            <a:r>
              <a:rPr lang="en-US" sz="1200" b="1" kern="1200" dirty="0">
                <a:solidFill>
                  <a:schemeClr val="tx1"/>
                </a:solidFill>
                <a:effectLst/>
                <a:latin typeface="+mn-lt"/>
                <a:ea typeface="+mn-ea"/>
                <a:cs typeface="+mn-cs"/>
              </a:rPr>
              <a:t>Exponential Growth:</a:t>
            </a:r>
            <a:r>
              <a:rPr lang="en-US" sz="1200" kern="1200" dirty="0">
                <a:solidFill>
                  <a:schemeClr val="tx1"/>
                </a:solidFill>
                <a:effectLst/>
                <a:latin typeface="+mn-lt"/>
                <a:ea typeface="+mn-ea"/>
                <a:cs typeface="+mn-cs"/>
              </a:rPr>
              <a:t> When these layers work together, cognitive output stops growing linearly and begins compounding exponentially over time.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15</a:t>
            </a:fld>
            <a:endParaRPr lang="en-US"/>
          </a:p>
        </p:txBody>
      </p:sp>
    </p:spTree>
    <p:extLst>
      <p:ext uri="{BB962C8B-B14F-4D97-AF65-F5344CB8AC3E}">
        <p14:creationId xmlns:p14="http://schemas.microsoft.com/office/powerpoint/2010/main" val="1953830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Recap:</a:t>
            </a:r>
            <a:r>
              <a:rPr lang="en-US" sz="1200" kern="1200" dirty="0">
                <a:solidFill>
                  <a:schemeClr val="tx1"/>
                </a:solidFill>
                <a:effectLst/>
                <a:latin typeface="+mn-lt"/>
                <a:ea typeface="+mn-ea"/>
                <a:cs typeface="+mn-cs"/>
              </a:rPr>
              <a:t> This master blueprint summarizes our entire system: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Hardware:</a:t>
            </a:r>
            <a:r>
              <a:rPr lang="en-US" sz="1200" kern="1200" dirty="0">
                <a:solidFill>
                  <a:schemeClr val="tx1"/>
                </a:solidFill>
                <a:effectLst/>
                <a:latin typeface="+mn-lt"/>
                <a:ea typeface="+mn-ea"/>
                <a:cs typeface="+mn-cs"/>
              </a:rPr>
              <a:t> Protect sleep, control ambient CO2 (&lt;1,400 ppm), and raise VO2 max.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Software:</a:t>
            </a:r>
            <a:r>
              <a:rPr lang="en-US" sz="1200" kern="1200" dirty="0">
                <a:solidFill>
                  <a:schemeClr val="tx1"/>
                </a:solidFill>
                <a:effectLst/>
                <a:latin typeface="+mn-lt"/>
                <a:ea typeface="+mn-ea"/>
                <a:cs typeface="+mn-cs"/>
              </a:rPr>
              <a:t> Keep the Map separate from the Territory, run Red-Team prompts on AI, and make choices based on Expected Value.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Scripts:</a:t>
            </a:r>
            <a:r>
              <a:rPr lang="en-US" sz="1200" kern="1200" dirty="0">
                <a:solidFill>
                  <a:schemeClr val="tx1"/>
                </a:solidFill>
                <a:effectLst/>
                <a:latin typeface="+mn-lt"/>
                <a:ea typeface="+mn-ea"/>
                <a:cs typeface="+mn-cs"/>
              </a:rPr>
              <a:t> Convert intentions into automated Trigger-Action Plans (IF [Cue] THEN [Action]). </a:t>
            </a:r>
          </a:p>
          <a:p>
            <a:pPr lvl="0"/>
            <a:r>
              <a:rPr lang="en-US" sz="1200" b="1" kern="1200" dirty="0">
                <a:solidFill>
                  <a:schemeClr val="tx1"/>
                </a:solidFill>
                <a:effectLst/>
                <a:latin typeface="+mn-lt"/>
                <a:ea typeface="+mn-ea"/>
                <a:cs typeface="+mn-cs"/>
              </a:rPr>
              <a:t>Closing Charge:</a:t>
            </a:r>
            <a:r>
              <a:rPr lang="en-US" sz="1200" kern="1200" dirty="0">
                <a:solidFill>
                  <a:schemeClr val="tx1"/>
                </a:solidFill>
                <a:effectLst/>
                <a:latin typeface="+mn-lt"/>
                <a:ea typeface="+mn-ea"/>
                <a:cs typeface="+mn-cs"/>
              </a:rPr>
              <a:t> Your brain is the most expensive machine you own. Stop leaving its performance to chance and start operating it like a precision system. </a:t>
            </a:r>
          </a:p>
          <a:p>
            <a:endParaRPr lang="en-US" dirty="0"/>
          </a:p>
        </p:txBody>
      </p:sp>
      <p:sp>
        <p:nvSpPr>
          <p:cNvPr id="4" name="Slide Number Placeholder 3"/>
          <p:cNvSpPr>
            <a:spLocks noGrp="1"/>
          </p:cNvSpPr>
          <p:nvPr>
            <p:ph type="sldNum" sz="quarter" idx="5"/>
          </p:nvPr>
        </p:nvSpPr>
        <p:spPr/>
        <p:txBody>
          <a:bodyPr/>
          <a:lstStyle/>
          <a:p>
            <a:fld id="{2D6C3CB5-F041-4BDA-A074-C352CF194E60}" type="slidenum">
              <a:rPr lang="en-US" smtClean="0"/>
              <a:t>16</a:t>
            </a:fld>
            <a:endParaRPr lang="en-US"/>
          </a:p>
        </p:txBody>
      </p:sp>
    </p:spTree>
    <p:extLst>
      <p:ext uri="{BB962C8B-B14F-4D97-AF65-F5344CB8AC3E}">
        <p14:creationId xmlns:p14="http://schemas.microsoft.com/office/powerpoint/2010/main" val="2986133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1B0583-3A7C-C3E7-2041-DDBC0A91E568}"/>
              </a:ext>
            </a:extLst>
          </p:cNvPr>
          <p:cNvSpPr>
            <a:spLocks noGrp="1"/>
          </p:cNvSpPr>
          <p:nvPr>
            <p:ph type="dt" sz="half" idx="10"/>
          </p:nvPr>
        </p:nvSpPr>
        <p:spPr/>
        <p:txBody>
          <a:bodyPr/>
          <a:lstStyle/>
          <a:p>
            <a:fld id="{9B52F531-14D3-45A8-8473-6D7BFBA740EC}" type="datetimeFigureOut">
              <a:rPr lang="en-US" smtClean="0"/>
              <a:t>10/21/2026</a:t>
            </a:fld>
            <a:endParaRPr lang="en-US"/>
          </a:p>
        </p:txBody>
      </p:sp>
      <p:sp>
        <p:nvSpPr>
          <p:cNvPr id="3" name="Footer Placeholder 2">
            <a:extLst>
              <a:ext uri="{FF2B5EF4-FFF2-40B4-BE49-F238E27FC236}">
                <a16:creationId xmlns:a16="http://schemas.microsoft.com/office/drawing/2014/main" id="{D2EC3232-1090-7E8F-2CB8-92220FF0E2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DD8AB3-E25B-50D1-EF20-96CDB2B03CC4}"/>
              </a:ext>
            </a:extLst>
          </p:cNvPr>
          <p:cNvSpPr>
            <a:spLocks noGrp="1"/>
          </p:cNvSpPr>
          <p:nvPr>
            <p:ph type="sldNum" sz="quarter" idx="12"/>
          </p:nvPr>
        </p:nvSpPr>
        <p:spPr/>
        <p:txBody>
          <a:bodyPr/>
          <a:lstStyle/>
          <a:p>
            <a:fld id="{E24863A9-DBCD-4ED4-8C5C-FBCAFB03F85C}" type="slidenum">
              <a:rPr lang="en-US" smtClean="0"/>
              <a:t>‹#›</a:t>
            </a:fld>
            <a:endParaRPr lang="en-US"/>
          </a:p>
        </p:txBody>
      </p:sp>
    </p:spTree>
    <p:extLst>
      <p:ext uri="{BB962C8B-B14F-4D97-AF65-F5344CB8AC3E}">
        <p14:creationId xmlns:p14="http://schemas.microsoft.com/office/powerpoint/2010/main" val="276278898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2B05F-D909-206E-0A3E-75FBD2E6A9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DF3970-F19E-DF1D-B9F9-3EC0D29C1A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8FF883-7AEB-BEB7-AE43-CD8E64B2D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52F531-14D3-45A8-8473-6D7BFBA740EC}" type="datetimeFigureOut">
              <a:rPr lang="en-US" smtClean="0"/>
              <a:t>10/21/2026</a:t>
            </a:fld>
            <a:endParaRPr lang="en-US"/>
          </a:p>
        </p:txBody>
      </p:sp>
      <p:sp>
        <p:nvSpPr>
          <p:cNvPr id="5" name="Footer Placeholder 4">
            <a:extLst>
              <a:ext uri="{FF2B5EF4-FFF2-40B4-BE49-F238E27FC236}">
                <a16:creationId xmlns:a16="http://schemas.microsoft.com/office/drawing/2014/main" id="{208A4057-01CE-24DE-2FCE-A0EA7680A2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4E8AD7-78C2-2947-A0E8-5A8C6A6A6F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4863A9-DBCD-4ED4-8C5C-FBCAFB03F85C}" type="slidenum">
              <a:rPr lang="en-US" smtClean="0"/>
              <a:t>‹#›</a:t>
            </a:fld>
            <a:endParaRPr lang="en-US"/>
          </a:p>
        </p:txBody>
      </p:sp>
    </p:spTree>
    <p:extLst>
      <p:ext uri="{BB962C8B-B14F-4D97-AF65-F5344CB8AC3E}">
        <p14:creationId xmlns:p14="http://schemas.microsoft.com/office/powerpoint/2010/main" val="79061436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AE493B-5437-EFD0-A530-67611F1BBF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4D49B5-E7D1-9F97-04AE-E705767C82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97820E-ABF9-1D0F-B7B3-9D84FA26E0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0E0CCA-6456-002E-3E42-8EA445709C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D544B1-4071-BEDA-5122-FFF351F353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8B981B-B5E8-E32F-44BA-6D076C93C4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F1C34A-20DE-09A9-3CBA-9B1C6DAD4F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87BCFA-2041-C890-B672-F4CDA852462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7B478A-4880-FD50-FE0D-373BE371ED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089E61-075E-B692-1B11-90884F5D689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35B9A9-2938-1312-2F40-6F28932EFB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4C2467-30DE-B0EF-1236-4FA8AF096F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973F04-DD1A-50AB-412A-031A790D25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222B02-B464-0D09-FC31-AC193D13BF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1DDD31-F71E-597E-E862-850508BE33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C8B302-847D-B2EF-FF62-51891971C8C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362468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1698</Words>
  <Application>Microsoft Office PowerPoint</Application>
  <PresentationFormat>寬螢幕</PresentationFormat>
  <Paragraphs>72</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2026-09-04T10:33:51Z</dcterms:created>
  <dcterms:modified xsi:type="dcterms:W3CDTF">2026-10-21T02:44:35Z</dcterms:modified>
</cp:coreProperties>
</file>