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7EC4D8-67B7-4E9D-A538-0832EF4E6F18}" v="19" dt="2026-09-12T15:43:59.2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4" autoAdjust="0"/>
    <p:restoredTop sz="79630"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12T15:44:25.168" v="56" actId="166"/>
      <pc:docMkLst>
        <pc:docMk/>
      </pc:docMkLst>
      <pc:sldChg chg="addSp delSp modSp mod modAnim modNotesTx">
        <pc:chgData name="Lai, Wilson" userId="2840974a-0d84-4886-90a9-9a3ed79f3a48" providerId="ADAL" clId="{9F23B798-9E84-4552-BA63-E776E805C424}" dt="2026-09-12T15:44:25.168" v="56" actId="166"/>
        <pc:sldMkLst>
          <pc:docMk/>
          <pc:sldMk cId="0" sldId="257"/>
        </pc:sldMkLst>
        <pc:spChg chg="add mod">
          <ac:chgData name="Lai, Wilson" userId="2840974a-0d84-4886-90a9-9a3ed79f3a48" providerId="ADAL" clId="{9F23B798-9E84-4552-BA63-E776E805C424}" dt="2026-09-12T13:01:56.331" v="10" actId="164"/>
          <ac:spMkLst>
            <pc:docMk/>
            <pc:sldMk cId="0" sldId="257"/>
            <ac:spMk id="5" creationId="{AEA2A527-0431-067F-48EB-6CA35896B6B6}"/>
          </ac:spMkLst>
        </pc:spChg>
        <pc:grpChg chg="add mod">
          <ac:chgData name="Lai, Wilson" userId="2840974a-0d84-4886-90a9-9a3ed79f3a48" providerId="ADAL" clId="{9F23B798-9E84-4552-BA63-E776E805C424}" dt="2026-09-12T13:01:56.331" v="10" actId="164"/>
          <ac:grpSpMkLst>
            <pc:docMk/>
            <pc:sldMk cId="0" sldId="257"/>
            <ac:grpSpMk id="6" creationId="{B0D7CB3F-5E17-264E-936D-F31F5249F455}"/>
          </ac:grpSpMkLst>
        </pc:grpChg>
        <pc:picChg chg="del mod">
          <ac:chgData name="Lai, Wilson" userId="2840974a-0d84-4886-90a9-9a3ed79f3a48" providerId="ADAL" clId="{9F23B798-9E84-4552-BA63-E776E805C424}" dt="2026-09-12T13:40:39.432" v="15" actId="21"/>
          <ac:picMkLst>
            <pc:docMk/>
            <pc:sldMk cId="0" sldId="257"/>
            <ac:picMk id="2" creationId="{00000000-0000-0000-0000-000000000000}"/>
          </ac:picMkLst>
        </pc:picChg>
        <pc:picChg chg="add mod">
          <ac:chgData name="Lai, Wilson" userId="2840974a-0d84-4886-90a9-9a3ed79f3a48" providerId="ADAL" clId="{9F23B798-9E84-4552-BA63-E776E805C424}" dt="2026-09-12T13:01:56.331" v="10" actId="164"/>
          <ac:picMkLst>
            <pc:docMk/>
            <pc:sldMk cId="0" sldId="257"/>
            <ac:picMk id="3" creationId="{E25D1E73-70C1-4A41-2F89-21927525067E}"/>
          </ac:picMkLst>
        </pc:picChg>
        <pc:picChg chg="add ord">
          <ac:chgData name="Lai, Wilson" userId="2840974a-0d84-4886-90a9-9a3ed79f3a48" providerId="ADAL" clId="{9F23B798-9E84-4552-BA63-E776E805C424}" dt="2026-09-12T15:44:25.168" v="56" actId="166"/>
          <ac:picMkLst>
            <pc:docMk/>
            <pc:sldMk cId="0" sldId="257"/>
            <ac:picMk id="7" creationId="{275C0F39-3B2E-6EE9-FAA8-6736D3BC56B6}"/>
          </ac:picMkLst>
        </pc:picChg>
      </pc:sldChg>
      <pc:sldChg chg="addSp delSp mod">
        <pc:chgData name="Lai, Wilson" userId="2840974a-0d84-4886-90a9-9a3ed79f3a48" providerId="ADAL" clId="{9F23B798-9E84-4552-BA63-E776E805C424}" dt="2026-09-12T13:54:19.109" v="18" actId="22"/>
        <pc:sldMkLst>
          <pc:docMk/>
          <pc:sldMk cId="0" sldId="258"/>
        </pc:sldMkLst>
        <pc:picChg chg="del">
          <ac:chgData name="Lai, Wilson" userId="2840974a-0d84-4886-90a9-9a3ed79f3a48" providerId="ADAL" clId="{9F23B798-9E84-4552-BA63-E776E805C424}" dt="2026-09-12T13:54:05.247" v="17" actId="21"/>
          <ac:picMkLst>
            <pc:docMk/>
            <pc:sldMk cId="0" sldId="258"/>
            <ac:picMk id="2" creationId="{00000000-0000-0000-0000-000000000000}"/>
          </ac:picMkLst>
        </pc:picChg>
        <pc:picChg chg="add">
          <ac:chgData name="Lai, Wilson" userId="2840974a-0d84-4886-90a9-9a3ed79f3a48" providerId="ADAL" clId="{9F23B798-9E84-4552-BA63-E776E805C424}" dt="2026-09-12T13:54:19.109" v="18" actId="22"/>
          <ac:picMkLst>
            <pc:docMk/>
            <pc:sldMk cId="0" sldId="258"/>
            <ac:picMk id="4" creationId="{45553D10-1A7C-E8B6-30DB-BE178D91D0B7}"/>
          </ac:picMkLst>
        </pc:picChg>
      </pc:sldChg>
      <pc:sldChg chg="addSp delSp mod modNotesTx">
        <pc:chgData name="Lai, Wilson" userId="2840974a-0d84-4886-90a9-9a3ed79f3a48" providerId="ADAL" clId="{9F23B798-9E84-4552-BA63-E776E805C424}" dt="2026-09-12T15:41:42.963" v="49" actId="12"/>
        <pc:sldMkLst>
          <pc:docMk/>
          <pc:sldMk cId="0" sldId="259"/>
        </pc:sldMkLst>
        <pc:picChg chg="del">
          <ac:chgData name="Lai, Wilson" userId="2840974a-0d84-4886-90a9-9a3ed79f3a48" providerId="ADAL" clId="{9F23B798-9E84-4552-BA63-E776E805C424}" dt="2026-09-12T13:54:20.381" v="19" actId="21"/>
          <ac:picMkLst>
            <pc:docMk/>
            <pc:sldMk cId="0" sldId="259"/>
            <ac:picMk id="2" creationId="{00000000-0000-0000-0000-000000000000}"/>
          </ac:picMkLst>
        </pc:picChg>
        <pc:picChg chg="add">
          <ac:chgData name="Lai, Wilson" userId="2840974a-0d84-4886-90a9-9a3ed79f3a48" providerId="ADAL" clId="{9F23B798-9E84-4552-BA63-E776E805C424}" dt="2026-09-12T13:54:28.174" v="20" actId="22"/>
          <ac:picMkLst>
            <pc:docMk/>
            <pc:sldMk cId="0" sldId="259"/>
            <ac:picMk id="4" creationId="{8FCFF6FA-AD52-99C7-2401-F674B20E93FB}"/>
          </ac:picMkLst>
        </pc:picChg>
      </pc:sldChg>
      <pc:sldChg chg="addSp delSp mod">
        <pc:chgData name="Lai, Wilson" userId="2840974a-0d84-4886-90a9-9a3ed79f3a48" providerId="ADAL" clId="{9F23B798-9E84-4552-BA63-E776E805C424}" dt="2026-09-12T13:55:01.199" v="22" actId="22"/>
        <pc:sldMkLst>
          <pc:docMk/>
          <pc:sldMk cId="0" sldId="260"/>
        </pc:sldMkLst>
        <pc:picChg chg="del">
          <ac:chgData name="Lai, Wilson" userId="2840974a-0d84-4886-90a9-9a3ed79f3a48" providerId="ADAL" clId="{9F23B798-9E84-4552-BA63-E776E805C424}" dt="2026-09-12T13:54:29.568" v="21" actId="21"/>
          <ac:picMkLst>
            <pc:docMk/>
            <pc:sldMk cId="0" sldId="260"/>
            <ac:picMk id="2" creationId="{00000000-0000-0000-0000-000000000000}"/>
          </ac:picMkLst>
        </pc:picChg>
        <pc:picChg chg="add">
          <ac:chgData name="Lai, Wilson" userId="2840974a-0d84-4886-90a9-9a3ed79f3a48" providerId="ADAL" clId="{9F23B798-9E84-4552-BA63-E776E805C424}" dt="2026-09-12T13:55:01.199" v="22" actId="22"/>
          <ac:picMkLst>
            <pc:docMk/>
            <pc:sldMk cId="0" sldId="260"/>
            <ac:picMk id="4" creationId="{A9D3D928-72CA-8E18-3040-B333C11D80B5}"/>
          </ac:picMkLst>
        </pc:picChg>
      </pc:sldChg>
      <pc:sldChg chg="addSp delSp mod">
        <pc:chgData name="Lai, Wilson" userId="2840974a-0d84-4886-90a9-9a3ed79f3a48" providerId="ADAL" clId="{9F23B798-9E84-4552-BA63-E776E805C424}" dt="2026-09-12T13:55:40.898" v="24" actId="22"/>
        <pc:sldMkLst>
          <pc:docMk/>
          <pc:sldMk cId="0" sldId="261"/>
        </pc:sldMkLst>
        <pc:picChg chg="del">
          <ac:chgData name="Lai, Wilson" userId="2840974a-0d84-4886-90a9-9a3ed79f3a48" providerId="ADAL" clId="{9F23B798-9E84-4552-BA63-E776E805C424}" dt="2026-09-12T13:55:02.512" v="23" actId="21"/>
          <ac:picMkLst>
            <pc:docMk/>
            <pc:sldMk cId="0" sldId="261"/>
            <ac:picMk id="2" creationId="{00000000-0000-0000-0000-000000000000}"/>
          </ac:picMkLst>
        </pc:picChg>
        <pc:picChg chg="add">
          <ac:chgData name="Lai, Wilson" userId="2840974a-0d84-4886-90a9-9a3ed79f3a48" providerId="ADAL" clId="{9F23B798-9E84-4552-BA63-E776E805C424}" dt="2026-09-12T13:55:40.898" v="24" actId="22"/>
          <ac:picMkLst>
            <pc:docMk/>
            <pc:sldMk cId="0" sldId="261"/>
            <ac:picMk id="4" creationId="{E7A6B4D3-806F-D6D3-60E9-3D571E52278E}"/>
          </ac:picMkLst>
        </pc:picChg>
      </pc:sldChg>
      <pc:sldChg chg="addSp delSp mod modNotesTx">
        <pc:chgData name="Lai, Wilson" userId="2840974a-0d84-4886-90a9-9a3ed79f3a48" providerId="ADAL" clId="{9F23B798-9E84-4552-BA63-E776E805C424}" dt="2026-09-12T15:42:09.659" v="50" actId="12"/>
        <pc:sldMkLst>
          <pc:docMk/>
          <pc:sldMk cId="0" sldId="262"/>
        </pc:sldMkLst>
        <pc:picChg chg="del">
          <ac:chgData name="Lai, Wilson" userId="2840974a-0d84-4886-90a9-9a3ed79f3a48" providerId="ADAL" clId="{9F23B798-9E84-4552-BA63-E776E805C424}" dt="2026-09-12T13:55:47.807" v="25" actId="21"/>
          <ac:picMkLst>
            <pc:docMk/>
            <pc:sldMk cId="0" sldId="262"/>
            <ac:picMk id="2" creationId="{00000000-0000-0000-0000-000000000000}"/>
          </ac:picMkLst>
        </pc:picChg>
        <pc:picChg chg="add">
          <ac:chgData name="Lai, Wilson" userId="2840974a-0d84-4886-90a9-9a3ed79f3a48" providerId="ADAL" clId="{9F23B798-9E84-4552-BA63-E776E805C424}" dt="2026-09-12T13:55:56.843" v="26" actId="22"/>
          <ac:picMkLst>
            <pc:docMk/>
            <pc:sldMk cId="0" sldId="262"/>
            <ac:picMk id="4" creationId="{C0572DF6-94FF-FA91-EF98-413B00616EEF}"/>
          </ac:picMkLst>
        </pc:picChg>
      </pc:sldChg>
      <pc:sldChg chg="addSp delSp mod">
        <pc:chgData name="Lai, Wilson" userId="2840974a-0d84-4886-90a9-9a3ed79f3a48" providerId="ADAL" clId="{9F23B798-9E84-4552-BA63-E776E805C424}" dt="2026-09-12T13:56:41.954" v="28" actId="22"/>
        <pc:sldMkLst>
          <pc:docMk/>
          <pc:sldMk cId="0" sldId="263"/>
        </pc:sldMkLst>
        <pc:picChg chg="del">
          <ac:chgData name="Lai, Wilson" userId="2840974a-0d84-4886-90a9-9a3ed79f3a48" providerId="ADAL" clId="{9F23B798-9E84-4552-BA63-E776E805C424}" dt="2026-09-12T13:55:58.379" v="27" actId="21"/>
          <ac:picMkLst>
            <pc:docMk/>
            <pc:sldMk cId="0" sldId="263"/>
            <ac:picMk id="2" creationId="{00000000-0000-0000-0000-000000000000}"/>
          </ac:picMkLst>
        </pc:picChg>
        <pc:picChg chg="add">
          <ac:chgData name="Lai, Wilson" userId="2840974a-0d84-4886-90a9-9a3ed79f3a48" providerId="ADAL" clId="{9F23B798-9E84-4552-BA63-E776E805C424}" dt="2026-09-12T13:56:41.954" v="28" actId="22"/>
          <ac:picMkLst>
            <pc:docMk/>
            <pc:sldMk cId="0" sldId="263"/>
            <ac:picMk id="4" creationId="{3AAB05BC-6CEA-5444-2E07-3425485E9845}"/>
          </ac:picMkLst>
        </pc:picChg>
      </pc:sldChg>
      <pc:sldChg chg="addSp delSp mod modNotesTx">
        <pc:chgData name="Lai, Wilson" userId="2840974a-0d84-4886-90a9-9a3ed79f3a48" providerId="ADAL" clId="{9F23B798-9E84-4552-BA63-E776E805C424}" dt="2026-09-12T15:42:30.771" v="51" actId="11"/>
        <pc:sldMkLst>
          <pc:docMk/>
          <pc:sldMk cId="0" sldId="264"/>
        </pc:sldMkLst>
        <pc:picChg chg="del">
          <ac:chgData name="Lai, Wilson" userId="2840974a-0d84-4886-90a9-9a3ed79f3a48" providerId="ADAL" clId="{9F23B798-9E84-4552-BA63-E776E805C424}" dt="2026-09-12T13:56:49.356" v="29" actId="21"/>
          <ac:picMkLst>
            <pc:docMk/>
            <pc:sldMk cId="0" sldId="264"/>
            <ac:picMk id="2" creationId="{00000000-0000-0000-0000-000000000000}"/>
          </ac:picMkLst>
        </pc:picChg>
        <pc:picChg chg="add">
          <ac:chgData name="Lai, Wilson" userId="2840974a-0d84-4886-90a9-9a3ed79f3a48" providerId="ADAL" clId="{9F23B798-9E84-4552-BA63-E776E805C424}" dt="2026-09-12T13:56:57.831" v="30" actId="22"/>
          <ac:picMkLst>
            <pc:docMk/>
            <pc:sldMk cId="0" sldId="264"/>
            <ac:picMk id="4" creationId="{B5CD8A13-20FD-8927-FF30-C5616ED135FC}"/>
          </ac:picMkLst>
        </pc:picChg>
      </pc:sldChg>
      <pc:sldChg chg="addSp delSp mod">
        <pc:chgData name="Lai, Wilson" userId="2840974a-0d84-4886-90a9-9a3ed79f3a48" providerId="ADAL" clId="{9F23B798-9E84-4552-BA63-E776E805C424}" dt="2026-09-12T13:57:07.293" v="32" actId="22"/>
        <pc:sldMkLst>
          <pc:docMk/>
          <pc:sldMk cId="0" sldId="265"/>
        </pc:sldMkLst>
        <pc:picChg chg="del">
          <ac:chgData name="Lai, Wilson" userId="2840974a-0d84-4886-90a9-9a3ed79f3a48" providerId="ADAL" clId="{9F23B798-9E84-4552-BA63-E776E805C424}" dt="2026-09-12T13:56:59.583" v="31" actId="21"/>
          <ac:picMkLst>
            <pc:docMk/>
            <pc:sldMk cId="0" sldId="265"/>
            <ac:picMk id="2" creationId="{00000000-0000-0000-0000-000000000000}"/>
          </ac:picMkLst>
        </pc:picChg>
        <pc:picChg chg="add">
          <ac:chgData name="Lai, Wilson" userId="2840974a-0d84-4886-90a9-9a3ed79f3a48" providerId="ADAL" clId="{9F23B798-9E84-4552-BA63-E776E805C424}" dt="2026-09-12T13:57:07.293" v="32" actId="22"/>
          <ac:picMkLst>
            <pc:docMk/>
            <pc:sldMk cId="0" sldId="265"/>
            <ac:picMk id="4" creationId="{D27D353F-28E6-ADD9-F92C-CB0F06C6C39D}"/>
          </ac:picMkLst>
        </pc:picChg>
      </pc:sldChg>
      <pc:sldChg chg="addSp delSp mod modNotesTx">
        <pc:chgData name="Lai, Wilson" userId="2840974a-0d84-4886-90a9-9a3ed79f3a48" providerId="ADAL" clId="{9F23B798-9E84-4552-BA63-E776E805C424}" dt="2026-09-12T15:42:52.923" v="52" actId="12"/>
        <pc:sldMkLst>
          <pc:docMk/>
          <pc:sldMk cId="0" sldId="266"/>
        </pc:sldMkLst>
        <pc:picChg chg="del">
          <ac:chgData name="Lai, Wilson" userId="2840974a-0d84-4886-90a9-9a3ed79f3a48" providerId="ADAL" clId="{9F23B798-9E84-4552-BA63-E776E805C424}" dt="2026-09-12T13:57:09.465" v="33" actId="21"/>
          <ac:picMkLst>
            <pc:docMk/>
            <pc:sldMk cId="0" sldId="266"/>
            <ac:picMk id="2" creationId="{00000000-0000-0000-0000-000000000000}"/>
          </ac:picMkLst>
        </pc:picChg>
        <pc:picChg chg="add">
          <ac:chgData name="Lai, Wilson" userId="2840974a-0d84-4886-90a9-9a3ed79f3a48" providerId="ADAL" clId="{9F23B798-9E84-4552-BA63-E776E805C424}" dt="2026-09-12T13:57:18.832" v="34" actId="22"/>
          <ac:picMkLst>
            <pc:docMk/>
            <pc:sldMk cId="0" sldId="266"/>
            <ac:picMk id="4" creationId="{CFC41625-ECC0-083B-EB6C-E4B5FEAA852B}"/>
          </ac:picMkLst>
        </pc:picChg>
      </pc:sldChg>
      <pc:sldChg chg="addSp delSp mod">
        <pc:chgData name="Lai, Wilson" userId="2840974a-0d84-4886-90a9-9a3ed79f3a48" providerId="ADAL" clId="{9F23B798-9E84-4552-BA63-E776E805C424}" dt="2026-09-12T13:57:29.433" v="36" actId="22"/>
        <pc:sldMkLst>
          <pc:docMk/>
          <pc:sldMk cId="0" sldId="267"/>
        </pc:sldMkLst>
        <pc:picChg chg="del">
          <ac:chgData name="Lai, Wilson" userId="2840974a-0d84-4886-90a9-9a3ed79f3a48" providerId="ADAL" clId="{9F23B798-9E84-4552-BA63-E776E805C424}" dt="2026-09-12T13:57:20.859" v="35" actId="21"/>
          <ac:picMkLst>
            <pc:docMk/>
            <pc:sldMk cId="0" sldId="267"/>
            <ac:picMk id="2" creationId="{00000000-0000-0000-0000-000000000000}"/>
          </ac:picMkLst>
        </pc:picChg>
        <pc:picChg chg="add">
          <ac:chgData name="Lai, Wilson" userId="2840974a-0d84-4886-90a9-9a3ed79f3a48" providerId="ADAL" clId="{9F23B798-9E84-4552-BA63-E776E805C424}" dt="2026-09-12T13:57:29.433" v="36" actId="22"/>
          <ac:picMkLst>
            <pc:docMk/>
            <pc:sldMk cId="0" sldId="267"/>
            <ac:picMk id="4" creationId="{2D4AF337-9360-6941-8806-B302E76F39E0}"/>
          </ac:picMkLst>
        </pc:picChg>
      </pc:sldChg>
      <pc:sldChg chg="addSp delSp mod modNotesTx">
        <pc:chgData name="Lai, Wilson" userId="2840974a-0d84-4886-90a9-9a3ed79f3a48" providerId="ADAL" clId="{9F23B798-9E84-4552-BA63-E776E805C424}" dt="2026-09-12T15:43:11.886" v="53" actId="12"/>
        <pc:sldMkLst>
          <pc:docMk/>
          <pc:sldMk cId="0" sldId="268"/>
        </pc:sldMkLst>
        <pc:picChg chg="del">
          <ac:chgData name="Lai, Wilson" userId="2840974a-0d84-4886-90a9-9a3ed79f3a48" providerId="ADAL" clId="{9F23B798-9E84-4552-BA63-E776E805C424}" dt="2026-09-12T13:57:31.991" v="37" actId="21"/>
          <ac:picMkLst>
            <pc:docMk/>
            <pc:sldMk cId="0" sldId="268"/>
            <ac:picMk id="2" creationId="{00000000-0000-0000-0000-000000000000}"/>
          </ac:picMkLst>
        </pc:picChg>
        <pc:picChg chg="add">
          <ac:chgData name="Lai, Wilson" userId="2840974a-0d84-4886-90a9-9a3ed79f3a48" providerId="ADAL" clId="{9F23B798-9E84-4552-BA63-E776E805C424}" dt="2026-09-12T13:57:41.033" v="38" actId="22"/>
          <ac:picMkLst>
            <pc:docMk/>
            <pc:sldMk cId="0" sldId="268"/>
            <ac:picMk id="4" creationId="{A2EA501C-ED55-1AEA-6445-B4E2178F3C50}"/>
          </ac:picMkLst>
        </pc:picChg>
      </pc:sldChg>
      <pc:sldChg chg="addSp delSp mod">
        <pc:chgData name="Lai, Wilson" userId="2840974a-0d84-4886-90a9-9a3ed79f3a48" providerId="ADAL" clId="{9F23B798-9E84-4552-BA63-E776E805C424}" dt="2026-09-12T13:58:35.825" v="40" actId="22"/>
        <pc:sldMkLst>
          <pc:docMk/>
          <pc:sldMk cId="0" sldId="269"/>
        </pc:sldMkLst>
        <pc:picChg chg="del">
          <ac:chgData name="Lai, Wilson" userId="2840974a-0d84-4886-90a9-9a3ed79f3a48" providerId="ADAL" clId="{9F23B798-9E84-4552-BA63-E776E805C424}" dt="2026-09-12T13:57:42.601" v="39" actId="21"/>
          <ac:picMkLst>
            <pc:docMk/>
            <pc:sldMk cId="0" sldId="269"/>
            <ac:picMk id="2" creationId="{00000000-0000-0000-0000-000000000000}"/>
          </ac:picMkLst>
        </pc:picChg>
        <pc:picChg chg="add">
          <ac:chgData name="Lai, Wilson" userId="2840974a-0d84-4886-90a9-9a3ed79f3a48" providerId="ADAL" clId="{9F23B798-9E84-4552-BA63-E776E805C424}" dt="2026-09-12T13:58:35.825" v="40" actId="22"/>
          <ac:picMkLst>
            <pc:docMk/>
            <pc:sldMk cId="0" sldId="269"/>
            <ac:picMk id="4" creationId="{FAD257BD-4390-8274-F225-BB58B8219253}"/>
          </ac:picMkLst>
        </pc:picChg>
      </pc:sldChg>
      <pc:sldChg chg="addSp delSp mod">
        <pc:chgData name="Lai, Wilson" userId="2840974a-0d84-4886-90a9-9a3ed79f3a48" providerId="ADAL" clId="{9F23B798-9E84-4552-BA63-E776E805C424}" dt="2026-09-12T13:58:47.492" v="42" actId="22"/>
        <pc:sldMkLst>
          <pc:docMk/>
          <pc:sldMk cId="0" sldId="270"/>
        </pc:sldMkLst>
        <pc:picChg chg="del">
          <ac:chgData name="Lai, Wilson" userId="2840974a-0d84-4886-90a9-9a3ed79f3a48" providerId="ADAL" clId="{9F23B798-9E84-4552-BA63-E776E805C424}" dt="2026-09-12T13:58:37.445" v="41" actId="21"/>
          <ac:picMkLst>
            <pc:docMk/>
            <pc:sldMk cId="0" sldId="270"/>
            <ac:picMk id="2" creationId="{00000000-0000-0000-0000-000000000000}"/>
          </ac:picMkLst>
        </pc:picChg>
        <pc:picChg chg="add">
          <ac:chgData name="Lai, Wilson" userId="2840974a-0d84-4886-90a9-9a3ed79f3a48" providerId="ADAL" clId="{9F23B798-9E84-4552-BA63-E776E805C424}" dt="2026-09-12T13:58:47.492" v="42" actId="22"/>
          <ac:picMkLst>
            <pc:docMk/>
            <pc:sldMk cId="0" sldId="270"/>
            <ac:picMk id="4" creationId="{6D46826A-D0AE-93C6-EBAA-ABED51AA7101}"/>
          </ac:picMkLst>
        </pc:picChg>
      </pc:sldChg>
      <pc:sldChg chg="addSp delSp mod modNotesTx">
        <pc:chgData name="Lai, Wilson" userId="2840974a-0d84-4886-90a9-9a3ed79f3a48" providerId="ADAL" clId="{9F23B798-9E84-4552-BA63-E776E805C424}" dt="2026-09-12T15:43:46.217" v="54" actId="12"/>
        <pc:sldMkLst>
          <pc:docMk/>
          <pc:sldMk cId="0" sldId="271"/>
        </pc:sldMkLst>
        <pc:picChg chg="del">
          <ac:chgData name="Lai, Wilson" userId="2840974a-0d84-4886-90a9-9a3ed79f3a48" providerId="ADAL" clId="{9F23B798-9E84-4552-BA63-E776E805C424}" dt="2026-09-12T13:58:50.318" v="43" actId="21"/>
          <ac:picMkLst>
            <pc:docMk/>
            <pc:sldMk cId="0" sldId="271"/>
            <ac:picMk id="2" creationId="{00000000-0000-0000-0000-000000000000}"/>
          </ac:picMkLst>
        </pc:picChg>
        <pc:picChg chg="add">
          <ac:chgData name="Lai, Wilson" userId="2840974a-0d84-4886-90a9-9a3ed79f3a48" providerId="ADAL" clId="{9F23B798-9E84-4552-BA63-E776E805C424}" dt="2026-09-12T13:58:56.933" v="44" actId="22"/>
          <ac:picMkLst>
            <pc:docMk/>
            <pc:sldMk cId="0" sldId="271"/>
            <ac:picMk id="4" creationId="{A59787C9-3531-9309-201B-89DA7E733E6E}"/>
          </ac:picMkLst>
        </pc:picChg>
      </pc:sldChg>
      <pc:sldChg chg="addSp delSp mod">
        <pc:chgData name="Lai, Wilson" userId="2840974a-0d84-4886-90a9-9a3ed79f3a48" providerId="ADAL" clId="{9F23B798-9E84-4552-BA63-E776E805C424}" dt="2026-09-12T13:40:33.121" v="14" actId="22"/>
        <pc:sldMkLst>
          <pc:docMk/>
          <pc:sldMk cId="49913545" sldId="272"/>
        </pc:sldMkLst>
        <pc:picChg chg="del">
          <ac:chgData name="Lai, Wilson" userId="2840974a-0d84-4886-90a9-9a3ed79f3a48" providerId="ADAL" clId="{9F23B798-9E84-4552-BA63-E776E805C424}" dt="2026-09-12T13:30:00.109" v="11" actId="21"/>
          <ac:picMkLst>
            <pc:docMk/>
            <pc:sldMk cId="49913545" sldId="272"/>
            <ac:picMk id="3" creationId="{7F3B5F4D-9CFD-8D2D-E434-A8090A0058C4}"/>
          </ac:picMkLst>
        </pc:picChg>
        <pc:picChg chg="add del">
          <ac:chgData name="Lai, Wilson" userId="2840974a-0d84-4886-90a9-9a3ed79f3a48" providerId="ADAL" clId="{9F23B798-9E84-4552-BA63-E776E805C424}" dt="2026-09-12T13:40:32.685" v="13" actId="478"/>
          <ac:picMkLst>
            <pc:docMk/>
            <pc:sldMk cId="49913545" sldId="272"/>
            <ac:picMk id="4" creationId="{90AF3D05-8996-41D4-CBCA-4CD541C51DD4}"/>
          </ac:picMkLst>
        </pc:picChg>
        <pc:picChg chg="add">
          <ac:chgData name="Lai, Wilson" userId="2840974a-0d84-4886-90a9-9a3ed79f3a48" providerId="ADAL" clId="{9F23B798-9E84-4552-BA63-E776E805C424}" dt="2026-09-12T13:40:33.121" v="14" actId="22"/>
          <ac:picMkLst>
            <pc:docMk/>
            <pc:sldMk cId="49913545" sldId="272"/>
            <ac:picMk id="6" creationId="{A0B6AA62-3196-F279-AC81-33BA68F641A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934737-A0F8-4A53-A63A-8780FEA4A0A6}"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C40244-152C-4BC4-A11B-914C1976555E}" type="slidenum">
              <a:rPr lang="en-US" smtClean="0"/>
              <a:t>‹#›</a:t>
            </a:fld>
            <a:endParaRPr lang="en-US"/>
          </a:p>
        </p:txBody>
      </p:sp>
    </p:spTree>
    <p:extLst>
      <p:ext uri="{BB962C8B-B14F-4D97-AF65-F5344CB8AC3E}">
        <p14:creationId xmlns:p14="http://schemas.microsoft.com/office/powerpoint/2010/main" val="464368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walking through </a:t>
            </a:r>
            <a:r>
              <a:rPr lang="en-US" sz="1200" i="1" kern="1200" dirty="0">
                <a:solidFill>
                  <a:schemeClr val="tx1"/>
                </a:solidFill>
                <a:effectLst/>
                <a:latin typeface="+mn-lt"/>
                <a:ea typeface="+mn-ea"/>
                <a:cs typeface="+mn-cs"/>
              </a:rPr>
              <a:t>The Art of Simple Investing</a:t>
            </a:r>
            <a:r>
              <a:rPr lang="en-US" sz="1200" kern="1200" dirty="0">
                <a:solidFill>
                  <a:schemeClr val="tx1"/>
                </a:solidFill>
                <a:effectLst/>
                <a:latin typeface="+mn-lt"/>
                <a:ea typeface="+mn-ea"/>
                <a:cs typeface="+mn-cs"/>
              </a:rPr>
              <a:t>, a visual playbook designed to help us navigate modern wealth, filter out the constant noise in today's media environment, and strengthen our behavioral defenses as investors. </a:t>
            </a:r>
          </a:p>
          <a:p>
            <a:r>
              <a:rPr lang="en-US" sz="1200" kern="1200" dirty="0">
                <a:solidFill>
                  <a:schemeClr val="tx1"/>
                </a:solidFill>
                <a:effectLst/>
                <a:latin typeface="+mn-lt"/>
                <a:ea typeface="+mn-ea"/>
                <a:cs typeface="+mn-cs"/>
              </a:rPr>
              <a:t>The insights in this presentation are distilled directly from Ben Carlson, CFA—author, blogger at </a:t>
            </a:r>
            <a:r>
              <a:rPr lang="en-US" sz="1200" i="1" kern="1200" dirty="0">
                <a:solidFill>
                  <a:schemeClr val="tx1"/>
                </a:solidFill>
                <a:effectLst/>
                <a:latin typeface="+mn-lt"/>
                <a:ea typeface="+mn-ea"/>
                <a:cs typeface="+mn-cs"/>
              </a:rPr>
              <a:t>A Wealth of Common Sense</a:t>
            </a:r>
            <a:r>
              <a:rPr lang="en-US" sz="1200" kern="1200" dirty="0">
                <a:solidFill>
                  <a:schemeClr val="tx1"/>
                </a:solidFill>
                <a:effectLst/>
                <a:latin typeface="+mn-lt"/>
                <a:ea typeface="+mn-ea"/>
                <a:cs typeface="+mn-cs"/>
              </a:rPr>
              <a:t>, and co-host of the </a:t>
            </a:r>
            <a:r>
              <a:rPr lang="en-US" sz="1200" i="1" kern="1200" dirty="0">
                <a:solidFill>
                  <a:schemeClr val="tx1"/>
                </a:solidFill>
                <a:effectLst/>
                <a:latin typeface="+mn-lt"/>
                <a:ea typeface="+mn-ea"/>
                <a:cs typeface="+mn-cs"/>
              </a:rPr>
              <a:t>Animal Spirits</a:t>
            </a:r>
            <a:r>
              <a:rPr lang="en-US" sz="1200" kern="1200" dirty="0">
                <a:solidFill>
                  <a:schemeClr val="tx1"/>
                </a:solidFill>
                <a:effectLst/>
                <a:latin typeface="+mn-lt"/>
                <a:ea typeface="+mn-ea"/>
                <a:cs typeface="+mn-cs"/>
              </a:rPr>
              <a:t> podcast. </a:t>
            </a:r>
          </a:p>
          <a:p>
            <a:r>
              <a:rPr lang="en-US" sz="1200" kern="1200" dirty="0">
                <a:solidFill>
                  <a:schemeClr val="tx1"/>
                </a:solidFill>
                <a:effectLst/>
                <a:latin typeface="+mn-lt"/>
                <a:ea typeface="+mn-ea"/>
                <a:cs typeface="+mn-cs"/>
              </a:rPr>
              <a:t>When we look at wealth management today, there is a fundamental paradox: technology has given us access to more financial instruments, real-time data, and complex investment strategies than at any point in human history. Yet, the primary factor determining an investor’s long-term success isn’t the complexity of their strategy—it’s their ability to control their behavior, stay disciplined during downturns, and avoid self-inflicted errors. </a:t>
            </a:r>
          </a:p>
          <a:p>
            <a:r>
              <a:rPr lang="en-US" sz="1200" kern="1200" dirty="0">
                <a:solidFill>
                  <a:schemeClr val="tx1"/>
                </a:solidFill>
                <a:effectLst/>
                <a:latin typeface="+mn-lt"/>
                <a:ea typeface="+mn-ea"/>
                <a:cs typeface="+mn-cs"/>
              </a:rPr>
              <a:t>Over the next 15 slides, we will break down the myth of institutional "secret sauce," explore the reality of public versus private markets, re-examine fixed income and inflation defenses following the market shifts of 2022, and establish clear rules for managing market volatility without sacrificing peace of mind. Let’s dive in. </a:t>
            </a:r>
          </a:p>
          <a:p>
            <a:endParaRPr lang="en-US" dirty="0"/>
          </a:p>
          <a:p>
            <a:endParaRPr lang="en-US" dirty="0"/>
          </a:p>
          <a:p>
            <a:endParaRPr lang="en-US" dirty="0"/>
          </a:p>
          <a:p>
            <a:endParaRPr lang="en-US" dirty="0"/>
          </a:p>
          <a:p>
            <a:r>
              <a:rPr lang="en-US" dirty="0"/>
              <a:t>https://www.youtube.com/watch?v=7AvuMokBeDo</a:t>
            </a:r>
          </a:p>
        </p:txBody>
      </p:sp>
      <p:sp>
        <p:nvSpPr>
          <p:cNvPr id="4" name="Slide Number Placeholder 3"/>
          <p:cNvSpPr>
            <a:spLocks noGrp="1"/>
          </p:cNvSpPr>
          <p:nvPr>
            <p:ph type="sldNum" sz="quarter" idx="5"/>
          </p:nvPr>
        </p:nvSpPr>
        <p:spPr/>
        <p:txBody>
          <a:bodyPr/>
          <a:lstStyle/>
          <a:p>
            <a:fld id="{4EC40244-152C-4BC4-A11B-914C1976555E}" type="slidenum">
              <a:rPr lang="en-US" smtClean="0"/>
              <a:t>1</a:t>
            </a:fld>
            <a:endParaRPr lang="en-US"/>
          </a:p>
        </p:txBody>
      </p:sp>
    </p:spTree>
    <p:extLst>
      <p:ext uri="{BB962C8B-B14F-4D97-AF65-F5344CB8AC3E}">
        <p14:creationId xmlns:p14="http://schemas.microsoft.com/office/powerpoint/2010/main" val="1561838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Having worked across wealth management and institutional investing, Ben Carlson often points out a common psychological tendency: even ultra-high-net-worth clients intuitively search for a "holy grail" of wealth management. </a:t>
            </a:r>
          </a:p>
          <a:p>
            <a:r>
              <a:rPr lang="en-US" sz="1200" kern="1200" dirty="0">
                <a:solidFill>
                  <a:schemeClr val="tx1"/>
                </a:solidFill>
                <a:effectLst/>
                <a:latin typeface="+mn-lt"/>
                <a:ea typeface="+mn-ea"/>
                <a:cs typeface="+mn-cs"/>
              </a:rPr>
              <a:t>There is this deep-seated belief that somewhere, behind closed doors, elite investors share a "wink-wink secret path." Clients will literally ask: </a:t>
            </a:r>
            <a:r>
              <a:rPr lang="en-US" sz="1200" i="1" kern="1200" dirty="0">
                <a:solidFill>
                  <a:schemeClr val="tx1"/>
                </a:solidFill>
                <a:effectLst/>
                <a:latin typeface="+mn-lt"/>
                <a:ea typeface="+mn-ea"/>
                <a:cs typeface="+mn-cs"/>
              </a:rPr>
              <a:t>"Tell me the secret path where I get all of the upside, but none of the downside. How do I sidestep bad market events and jump in only after the dust settles?"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Here is the reality check: </a:t>
            </a:r>
            <a:r>
              <a:rPr lang="en-US" sz="1200" b="1" kern="1200" dirty="0">
                <a:solidFill>
                  <a:schemeClr val="tx1"/>
                </a:solidFill>
                <a:effectLst/>
                <a:latin typeface="+mn-lt"/>
                <a:ea typeface="+mn-ea"/>
                <a:cs typeface="+mn-cs"/>
              </a:rPr>
              <a:t>There is no secret.</a:t>
            </a:r>
            <a:r>
              <a:rPr lang="en-US" sz="1200" kern="1200" dirty="0">
                <a:solidFill>
                  <a:schemeClr val="tx1"/>
                </a:solidFill>
                <a:effectLst/>
                <a:latin typeface="+mn-lt"/>
                <a:ea typeface="+mn-ea"/>
                <a:cs typeface="+mn-cs"/>
              </a:rPr>
              <a:t> The pursuit of sidestepping market pullbacks while capturing all the gains is a phantom goal. In investing, return is explicitly the compensation you receive for taking on risk and enduring uncertainty. </a:t>
            </a:r>
          </a:p>
          <a:p>
            <a:r>
              <a:rPr lang="en-US" sz="1200" kern="1200" dirty="0">
                <a:solidFill>
                  <a:schemeClr val="tx1"/>
                </a:solidFill>
                <a:effectLst/>
                <a:latin typeface="+mn-lt"/>
                <a:ea typeface="+mn-ea"/>
                <a:cs typeface="+mn-cs"/>
              </a:rPr>
              <a:t>When investors try to eliminate risk entirely through complex structures or market-timing schemes, they usually end up substituting market risk for other risks—such as illiquidity risk, manager risk, opacity risk, and excessive fee drag. The starting point for long-term wealth building is accepting that short-term pain is the price of admission for long-term real gains. </a:t>
            </a:r>
          </a:p>
          <a:p>
            <a:endParaRPr lang="en-US" dirty="0"/>
          </a:p>
        </p:txBody>
      </p:sp>
      <p:sp>
        <p:nvSpPr>
          <p:cNvPr id="4" name="Slide Number Placeholder 3"/>
          <p:cNvSpPr>
            <a:spLocks noGrp="1"/>
          </p:cNvSpPr>
          <p:nvPr>
            <p:ph type="sldNum" sz="quarter" idx="5"/>
          </p:nvPr>
        </p:nvSpPr>
        <p:spPr/>
        <p:txBody>
          <a:bodyPr/>
          <a:lstStyle/>
          <a:p>
            <a:fld id="{4EC40244-152C-4BC4-A11B-914C1976555E}" type="slidenum">
              <a:rPr lang="en-US" smtClean="0"/>
              <a:t>2</a:t>
            </a:fld>
            <a:endParaRPr lang="en-US"/>
          </a:p>
        </p:txBody>
      </p:sp>
    </p:spTree>
    <p:extLst>
      <p:ext uri="{BB962C8B-B14F-4D97-AF65-F5344CB8AC3E}">
        <p14:creationId xmlns:p14="http://schemas.microsoft.com/office/powerpoint/2010/main" val="3907631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contrasts </a:t>
            </a:r>
            <a:r>
              <a:rPr lang="en-US" sz="1200" b="1" kern="1200" dirty="0">
                <a:solidFill>
                  <a:schemeClr val="tx1"/>
                </a:solidFill>
                <a:effectLst/>
                <a:latin typeface="+mn-lt"/>
                <a:ea typeface="+mn-ea"/>
                <a:cs typeface="+mn-cs"/>
              </a:rPr>
              <a:t>Simple (Public Markets)</a:t>
            </a:r>
            <a:r>
              <a:rPr lang="en-US" sz="1200" kern="1200" dirty="0">
                <a:solidFill>
                  <a:schemeClr val="tx1"/>
                </a:solidFill>
                <a:effectLst/>
                <a:latin typeface="+mn-lt"/>
                <a:ea typeface="+mn-ea"/>
                <a:cs typeface="+mn-cs"/>
              </a:rPr>
              <a:t> with </a:t>
            </a:r>
            <a:r>
              <a:rPr lang="en-US" sz="1200" b="1" kern="1200" dirty="0">
                <a:solidFill>
                  <a:schemeClr val="tx1"/>
                </a:solidFill>
                <a:effectLst/>
                <a:latin typeface="+mn-lt"/>
                <a:ea typeface="+mn-ea"/>
                <a:cs typeface="+mn-cs"/>
              </a:rPr>
              <a:t>Complex (Private Markets)</a:t>
            </a:r>
            <a:r>
              <a:rPr lang="en-US" sz="1200" kern="1200" dirty="0">
                <a:solidFill>
                  <a:schemeClr val="tx1"/>
                </a:solidFill>
                <a:effectLst/>
                <a:latin typeface="+mn-lt"/>
                <a:ea typeface="+mn-ea"/>
                <a:cs typeface="+mn-cs"/>
              </a:rPr>
              <a:t> across three key dimensions: Transparency, Liquidity, and Behavior in Downturns. </a:t>
            </a:r>
          </a:p>
          <a:p>
            <a:pPr marL="228600" lvl="0" indent="-228600">
              <a:buFont typeface="+mj-lt"/>
              <a:buAutoNum type="arabicPeriod"/>
            </a:pPr>
            <a:r>
              <a:rPr lang="en-US" sz="1200" b="1" kern="1200" dirty="0">
                <a:solidFill>
                  <a:schemeClr val="tx1"/>
                </a:solidFill>
                <a:effectLst/>
                <a:latin typeface="+mn-lt"/>
                <a:ea typeface="+mn-ea"/>
                <a:cs typeface="+mn-cs"/>
              </a:rPr>
              <a:t>Transparency:</a:t>
            </a:r>
            <a:r>
              <a:rPr lang="en-US" sz="1200" kern="1200" dirty="0">
                <a:solidFill>
                  <a:schemeClr val="tx1"/>
                </a:solidFill>
                <a:effectLst/>
                <a:latin typeface="+mn-lt"/>
                <a:ea typeface="+mn-ea"/>
                <a:cs typeface="+mn-cs"/>
              </a:rPr>
              <a:t> Public index funds allow you to see exactly what you own instantly, marked to market every second the exchanges are open. Complex private equity or hedge funds, by contrast, act like a </a:t>
            </a:r>
            <a:r>
              <a:rPr lang="en-US" sz="1200" b="1" kern="1200" dirty="0">
                <a:solidFill>
                  <a:schemeClr val="tx1"/>
                </a:solidFill>
                <a:effectLst/>
                <a:latin typeface="+mn-lt"/>
                <a:ea typeface="+mn-ea"/>
                <a:cs typeface="+mn-cs"/>
              </a:rPr>
              <a:t>Schrödinger’s Portfolio</a:t>
            </a:r>
            <a:r>
              <a:rPr lang="en-US" sz="1200" kern="1200" dirty="0">
                <a:solidFill>
                  <a:schemeClr val="tx1"/>
                </a:solidFill>
                <a:effectLst/>
                <a:latin typeface="+mn-lt"/>
                <a:ea typeface="+mn-ea"/>
                <a:cs typeface="+mn-cs"/>
              </a:rPr>
              <a:t>. It’s a black box where quarterly asset valuations ("marks") are controlled by the fund managers themselves. You don't truly know what the portfolio is worth until assets are actually sold. </a:t>
            </a:r>
          </a:p>
          <a:p>
            <a:pPr marL="228600" lvl="0" indent="-228600">
              <a:buFont typeface="+mj-lt"/>
              <a:buAutoNum type="arabicPeriod"/>
            </a:pPr>
            <a:r>
              <a:rPr lang="en-US" sz="1200" b="1" kern="1200" dirty="0">
                <a:solidFill>
                  <a:schemeClr val="tx1"/>
                </a:solidFill>
                <a:effectLst/>
                <a:latin typeface="+mn-lt"/>
                <a:ea typeface="+mn-ea"/>
                <a:cs typeface="+mn-cs"/>
              </a:rPr>
              <a:t>Liquidity:</a:t>
            </a:r>
            <a:r>
              <a:rPr lang="en-US" sz="1200" kern="1200" dirty="0">
                <a:solidFill>
                  <a:schemeClr val="tx1"/>
                </a:solidFill>
                <a:effectLst/>
                <a:latin typeface="+mn-lt"/>
                <a:ea typeface="+mn-ea"/>
                <a:cs typeface="+mn-cs"/>
              </a:rPr>
              <a:t> Public markets offer daily liquidity. Private assets require capital lockups often spanning 10 to 12 years, accompanied by unpredictable capital calls where you must supply cash whenever the manager finds an acquisition. </a:t>
            </a:r>
          </a:p>
          <a:p>
            <a:pPr marL="228600" lvl="0" indent="-228600">
              <a:buFont typeface="+mj-lt"/>
              <a:buAutoNum type="arabicPeriod"/>
            </a:pPr>
            <a:r>
              <a:rPr lang="en-US" sz="1200" b="1" kern="1200" dirty="0">
                <a:solidFill>
                  <a:schemeClr val="tx1"/>
                </a:solidFill>
                <a:effectLst/>
                <a:latin typeface="+mn-lt"/>
                <a:ea typeface="+mn-ea"/>
                <a:cs typeface="+mn-cs"/>
              </a:rPr>
              <a:t>Behavior in Downturns:</a:t>
            </a:r>
            <a:r>
              <a:rPr lang="en-US" sz="1200" kern="1200" dirty="0">
                <a:solidFill>
                  <a:schemeClr val="tx1"/>
                </a:solidFill>
                <a:effectLst/>
                <a:latin typeface="+mn-lt"/>
                <a:ea typeface="+mn-ea"/>
                <a:cs typeface="+mn-cs"/>
              </a:rPr>
              <a:t> This is the most crucial takeaway. When a simple public portfolio falls, you understand what you own and why it’s down, making it far easier to rebalance and "lean into the pain." With complex private assets, when performance lags, investors can't evaluate what’s broken. This lack of understanding creates high emotional temptation to hit the eject button and engage in a game of financial musical chairs. </a:t>
            </a:r>
          </a:p>
          <a:p>
            <a:endParaRPr lang="en-US" dirty="0"/>
          </a:p>
        </p:txBody>
      </p:sp>
      <p:sp>
        <p:nvSpPr>
          <p:cNvPr id="4" name="Slide Number Placeholder 3"/>
          <p:cNvSpPr>
            <a:spLocks noGrp="1"/>
          </p:cNvSpPr>
          <p:nvPr>
            <p:ph type="sldNum" sz="quarter" idx="5"/>
          </p:nvPr>
        </p:nvSpPr>
        <p:spPr/>
        <p:txBody>
          <a:bodyPr/>
          <a:lstStyle/>
          <a:p>
            <a:fld id="{4EC40244-152C-4BC4-A11B-914C1976555E}" type="slidenum">
              <a:rPr lang="en-US" smtClean="0"/>
              <a:t>3</a:t>
            </a:fld>
            <a:endParaRPr lang="en-US"/>
          </a:p>
        </p:txBody>
      </p:sp>
    </p:spTree>
    <p:extLst>
      <p:ext uri="{BB962C8B-B14F-4D97-AF65-F5344CB8AC3E}">
        <p14:creationId xmlns:p14="http://schemas.microsoft.com/office/powerpoint/2010/main" val="3859972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why so many investors fall into the complexity trap, we look to a quote from Dr. Bill Bernstein: </a:t>
            </a:r>
            <a:r>
              <a:rPr lang="en-US" sz="1200" i="1" kern="1200" dirty="0">
                <a:solidFill>
                  <a:schemeClr val="tx1"/>
                </a:solidFill>
                <a:effectLst/>
                <a:latin typeface="+mn-lt"/>
                <a:ea typeface="+mn-ea"/>
                <a:cs typeface="+mn-cs"/>
              </a:rPr>
              <a:t>"David Swensen got the lobster tails and prime rib. Everyone imitating him today gets the tuna noodle casserole."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David Swensen, the legendary late CIO of the Yale University Endowment, pioneered the "Yale Model." He moved Yale's portfolio heavily into illiquid assets, private equity, and venture capital at a time when almost no other institution was doing it. Because he was a pioneer entering an uncrowded market, Yale achieved extraordinary returns. </a:t>
            </a:r>
          </a:p>
          <a:p>
            <a:r>
              <a:rPr lang="en-US" sz="1200" kern="1200" dirty="0">
                <a:solidFill>
                  <a:schemeClr val="tx1"/>
                </a:solidFill>
                <a:effectLst/>
                <a:latin typeface="+mn-lt"/>
                <a:ea typeface="+mn-ea"/>
                <a:cs typeface="+mn-cs"/>
              </a:rPr>
              <a:t>However, Swensen himself later wrote books advising individual investors </a:t>
            </a:r>
            <a:r>
              <a:rPr lang="en-US" sz="1200" i="1" kern="1200" dirty="0">
                <a:solidFill>
                  <a:schemeClr val="tx1"/>
                </a:solidFill>
                <a:effectLst/>
                <a:latin typeface="+mn-lt"/>
                <a:ea typeface="+mn-ea"/>
                <a:cs typeface="+mn-cs"/>
              </a:rPr>
              <a:t>not</a:t>
            </a:r>
            <a:r>
              <a:rPr lang="en-US" sz="1200" kern="1200" dirty="0">
                <a:solidFill>
                  <a:schemeClr val="tx1"/>
                </a:solidFill>
                <a:effectLst/>
                <a:latin typeface="+mn-lt"/>
                <a:ea typeface="+mn-ea"/>
                <a:cs typeface="+mn-cs"/>
              </a:rPr>
              <a:t> to try to replicate his institutional strategy, recommending broad-based index funds instead. Why? Because the first pioneers at the institutional buffet table got the prime choices. Decades later, as Wall Street financialized these strategies for retail and private client wealth, the high fees, diluted deal quality, and wall of capital competing for private deals mean today's imitators are mostly left with "tuna noodle casserole." </a:t>
            </a:r>
          </a:p>
          <a:p>
            <a:endParaRPr lang="en-US" dirty="0"/>
          </a:p>
        </p:txBody>
      </p:sp>
      <p:sp>
        <p:nvSpPr>
          <p:cNvPr id="4" name="Slide Number Placeholder 3"/>
          <p:cNvSpPr>
            <a:spLocks noGrp="1"/>
          </p:cNvSpPr>
          <p:nvPr>
            <p:ph type="sldNum" sz="quarter" idx="5"/>
          </p:nvPr>
        </p:nvSpPr>
        <p:spPr/>
        <p:txBody>
          <a:bodyPr/>
          <a:lstStyle/>
          <a:p>
            <a:fld id="{4EC40244-152C-4BC4-A11B-914C1976555E}" type="slidenum">
              <a:rPr lang="en-US" smtClean="0"/>
              <a:t>4</a:t>
            </a:fld>
            <a:endParaRPr lang="en-US"/>
          </a:p>
        </p:txBody>
      </p:sp>
    </p:spTree>
    <p:extLst>
      <p:ext uri="{BB962C8B-B14F-4D97-AF65-F5344CB8AC3E}">
        <p14:creationId xmlns:p14="http://schemas.microsoft.com/office/powerpoint/2010/main" val="1324599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four decades—from the early 1980s through 2021—fixed income was essentially a "one-decision" asset class. Interest rates were on a structural 40-year decline, meaning you could buy a single Total Bond Market Fund and get solid yield, capital appreciation during recessions, and excellent stock diversification. </a:t>
            </a:r>
          </a:p>
          <a:p>
            <a:r>
              <a:rPr lang="en-US" sz="1200" b="1" kern="1200" dirty="0">
                <a:solidFill>
                  <a:schemeClr val="tx1"/>
                </a:solidFill>
                <a:effectLst/>
                <a:latin typeface="+mn-lt"/>
                <a:ea typeface="+mn-ea"/>
                <a:cs typeface="+mn-cs"/>
              </a:rPr>
              <a:t>The Historical Anchor:</a:t>
            </a:r>
            <a:r>
              <a:rPr lang="en-US" sz="1200" kern="1200" dirty="0">
                <a:solidFill>
                  <a:schemeClr val="tx1"/>
                </a:solidFill>
                <a:effectLst/>
                <a:latin typeface="+mn-lt"/>
                <a:ea typeface="+mn-ea"/>
                <a:cs typeface="+mn-cs"/>
              </a:rPr>
              <a:t> Over the last century, during years when US stocks posted negative returns (averaging -13.5%), high-quality bonds generated an average gain of +4.3%. Bonds acted as the dependable ballast. </a:t>
            </a:r>
          </a:p>
          <a:p>
            <a:r>
              <a:rPr lang="en-US" sz="1200" b="1" kern="1200" dirty="0">
                <a:solidFill>
                  <a:schemeClr val="tx1"/>
                </a:solidFill>
                <a:effectLst/>
                <a:latin typeface="+mn-lt"/>
                <a:ea typeface="+mn-ea"/>
                <a:cs typeface="+mn-cs"/>
              </a:rPr>
              <a:t>The 2022 Wake-Up Call:</a:t>
            </a:r>
            <a:r>
              <a:rPr lang="en-US" sz="1200" kern="1200" dirty="0">
                <a:solidFill>
                  <a:schemeClr val="tx1"/>
                </a:solidFill>
                <a:effectLst/>
                <a:latin typeface="+mn-lt"/>
                <a:ea typeface="+mn-ea"/>
                <a:cs typeface="+mn-cs"/>
              </a:rPr>
              <a:t> 2022 broke that pattern. As inflation surged to 40-year highs, the Federal Reserve raised interest rates at an unprecedented pace. High-quality, intermediate-duration bond funds dropped roughly 18%—falling side-by-side with equities. </a:t>
            </a:r>
          </a:p>
          <a:p>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You cannot assume a single total bond fund will protect you across </a:t>
            </a:r>
            <a:r>
              <a:rPr lang="en-US" sz="1200" i="1" kern="1200" dirty="0">
                <a:solidFill>
                  <a:schemeClr val="tx1"/>
                </a:solidFill>
                <a:effectLst/>
                <a:latin typeface="+mn-lt"/>
                <a:ea typeface="+mn-ea"/>
                <a:cs typeface="+mn-cs"/>
              </a:rPr>
              <a:t>every</a:t>
            </a:r>
            <a:r>
              <a:rPr lang="en-US" sz="1200" kern="1200" dirty="0">
                <a:solidFill>
                  <a:schemeClr val="tx1"/>
                </a:solidFill>
                <a:effectLst/>
                <a:latin typeface="+mn-lt"/>
                <a:ea typeface="+mn-ea"/>
                <a:cs typeface="+mn-cs"/>
              </a:rPr>
              <a:t> economic regime. While bonds remain valuable ballast, higher inflation and rapid rate hikes mean investors now need deliberate diversification </a:t>
            </a:r>
            <a:r>
              <a:rPr lang="en-US" sz="1200" i="1" kern="1200" dirty="0">
                <a:solidFill>
                  <a:schemeClr val="tx1"/>
                </a:solidFill>
                <a:effectLst/>
                <a:latin typeface="+mn-lt"/>
                <a:ea typeface="+mn-ea"/>
                <a:cs typeface="+mn-cs"/>
              </a:rPr>
              <a:t>within</a:t>
            </a:r>
            <a:r>
              <a:rPr lang="en-US" sz="1200" kern="1200" dirty="0">
                <a:solidFill>
                  <a:schemeClr val="tx1"/>
                </a:solidFill>
                <a:effectLst/>
                <a:latin typeface="+mn-lt"/>
                <a:ea typeface="+mn-ea"/>
                <a:cs typeface="+mn-cs"/>
              </a:rPr>
              <a:t> their fixed-income allocation. </a:t>
            </a:r>
          </a:p>
          <a:p>
            <a:endParaRPr lang="en-US" dirty="0"/>
          </a:p>
        </p:txBody>
      </p:sp>
      <p:sp>
        <p:nvSpPr>
          <p:cNvPr id="4" name="Slide Number Placeholder 3"/>
          <p:cNvSpPr>
            <a:spLocks noGrp="1"/>
          </p:cNvSpPr>
          <p:nvPr>
            <p:ph type="sldNum" sz="quarter" idx="5"/>
          </p:nvPr>
        </p:nvSpPr>
        <p:spPr/>
        <p:txBody>
          <a:bodyPr/>
          <a:lstStyle/>
          <a:p>
            <a:fld id="{4EC40244-152C-4BC4-A11B-914C1976555E}" type="slidenum">
              <a:rPr lang="en-US" smtClean="0"/>
              <a:t>5</a:t>
            </a:fld>
            <a:endParaRPr lang="en-US"/>
          </a:p>
        </p:txBody>
      </p:sp>
    </p:spTree>
    <p:extLst>
      <p:ext uri="{BB962C8B-B14F-4D97-AF65-F5344CB8AC3E}">
        <p14:creationId xmlns:p14="http://schemas.microsoft.com/office/powerpoint/2010/main" val="29169980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build a resilient fixed-income structure today, we use a three-pillar framework rather than relying on a single total bond fund.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Pillar 1: Total Bond Funds (The Anchor).</a:t>
            </a:r>
            <a:r>
              <a:rPr lang="en-US" sz="1200" kern="1200" dirty="0">
                <a:solidFill>
                  <a:schemeClr val="tx1"/>
                </a:solidFill>
                <a:effectLst/>
                <a:latin typeface="+mn-lt"/>
                <a:ea typeface="+mn-ea"/>
                <a:cs typeface="+mn-cs"/>
              </a:rPr>
              <a:t> Yielding in the 4.7% to 5.0% range, intermediate total bond funds remain essential core ballast. Don't abandon them simply because 2022 was painful. If yields fall during a economic slowdown, these funds provide critical duration gains.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Pillar 2: Cash &amp; T-Bills (The Rate Hedge).</a:t>
            </a:r>
            <a:r>
              <a:rPr lang="en-US" sz="1200" kern="1200" dirty="0">
                <a:solidFill>
                  <a:schemeClr val="tx1"/>
                </a:solidFill>
                <a:effectLst/>
                <a:latin typeface="+mn-lt"/>
                <a:ea typeface="+mn-ea"/>
                <a:cs typeface="+mn-cs"/>
              </a:rPr>
              <a:t> Money market funds, short-duration Treasury bills, and CDs eliminate nominal price risk because their ultra-short duration allows yields to adjust rapidly as the Fed hikes rates.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Pillar 3: Short-Term TIPS (The Inflation Hedge).</a:t>
            </a:r>
            <a:r>
              <a:rPr lang="en-US" sz="1200" kern="1200" dirty="0">
                <a:solidFill>
                  <a:schemeClr val="tx1"/>
                </a:solidFill>
                <a:effectLst/>
                <a:latin typeface="+mn-lt"/>
                <a:ea typeface="+mn-ea"/>
                <a:cs typeface="+mn-cs"/>
              </a:rPr>
              <a:t> Standard Treasury Inflation-Protected Securities (TIPS) suffered in 2022 because long duration offset their inflation adjustments. Short-term TIPS strip out that duration risk, providing direct, one-for-one inflation adjustments without price volatility from rising rates. </a:t>
            </a:r>
          </a:p>
          <a:p>
            <a:endParaRPr lang="en-US" dirty="0"/>
          </a:p>
        </p:txBody>
      </p:sp>
      <p:sp>
        <p:nvSpPr>
          <p:cNvPr id="4" name="Slide Number Placeholder 3"/>
          <p:cNvSpPr>
            <a:spLocks noGrp="1"/>
          </p:cNvSpPr>
          <p:nvPr>
            <p:ph type="sldNum" sz="quarter" idx="5"/>
          </p:nvPr>
        </p:nvSpPr>
        <p:spPr/>
        <p:txBody>
          <a:bodyPr/>
          <a:lstStyle/>
          <a:p>
            <a:fld id="{4EC40244-152C-4BC4-A11B-914C1976555E}" type="slidenum">
              <a:rPr lang="en-US" smtClean="0"/>
              <a:t>6</a:t>
            </a:fld>
            <a:endParaRPr lang="en-US"/>
          </a:p>
        </p:txBody>
      </p:sp>
    </p:spTree>
    <p:extLst>
      <p:ext uri="{BB962C8B-B14F-4D97-AF65-F5344CB8AC3E}">
        <p14:creationId xmlns:p14="http://schemas.microsoft.com/office/powerpoint/2010/main" val="837193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is a ongoing debate among individual investors regarding </a:t>
            </a:r>
            <a:r>
              <a:rPr lang="en-US" sz="1200" b="1" kern="1200" dirty="0">
                <a:solidFill>
                  <a:schemeClr val="tx1"/>
                </a:solidFill>
                <a:effectLst/>
                <a:latin typeface="+mn-lt"/>
                <a:ea typeface="+mn-ea"/>
                <a:cs typeface="+mn-cs"/>
              </a:rPr>
              <a:t>Bond Mutual Funds/ETFs versus Individual Bond Ladders</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The Math:</a:t>
            </a:r>
            <a:r>
              <a:rPr lang="en-US" sz="1200" kern="1200" dirty="0">
                <a:solidFill>
                  <a:schemeClr val="tx1"/>
                </a:solidFill>
                <a:effectLst/>
                <a:latin typeface="+mn-lt"/>
                <a:ea typeface="+mn-ea"/>
                <a:cs typeface="+mn-cs"/>
              </a:rPr>
              <a:t> Mathematically, a bond fund is simply a portfolio of individual bonds held to a target duration. If market interest rates rise, the underlying economic loss of purchasing power and price drop is virtually identical whether you hold the fund or the individual bonds. </a:t>
            </a:r>
          </a:p>
          <a:p>
            <a:r>
              <a:rPr lang="en-US" sz="1200" b="1" kern="1200" dirty="0">
                <a:solidFill>
                  <a:schemeClr val="tx1"/>
                </a:solidFill>
                <a:effectLst/>
                <a:latin typeface="+mn-lt"/>
                <a:ea typeface="+mn-ea"/>
                <a:cs typeface="+mn-cs"/>
              </a:rPr>
              <a:t>The Psychology:</a:t>
            </a:r>
            <a:r>
              <a:rPr lang="en-US" sz="1200" kern="1200" dirty="0">
                <a:solidFill>
                  <a:schemeClr val="tx1"/>
                </a:solidFill>
                <a:effectLst/>
                <a:latin typeface="+mn-lt"/>
                <a:ea typeface="+mn-ea"/>
                <a:cs typeface="+mn-cs"/>
              </a:rPr>
              <a:t> Psychologically, however, individual ladders offer a powerful mental release valve. When a bond fund's ticker shows a paper drop, investors panic. But with an individual bond ladder, investors comfortably tell themselves, </a:t>
            </a:r>
            <a:r>
              <a:rPr lang="en-US" sz="1200" i="1" kern="1200" dirty="0">
                <a:solidFill>
                  <a:schemeClr val="tx1"/>
                </a:solidFill>
                <a:effectLst/>
                <a:latin typeface="+mn-lt"/>
                <a:ea typeface="+mn-ea"/>
                <a:cs typeface="+mn-cs"/>
              </a:rPr>
              <a:t>"As long as I hold this to maturity, I will get my principal back at par."</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Verdict:</a:t>
            </a:r>
            <a:r>
              <a:rPr lang="en-US" sz="1200" kern="1200" dirty="0">
                <a:solidFill>
                  <a:schemeClr val="tx1"/>
                </a:solidFill>
                <a:effectLst/>
                <a:latin typeface="+mn-lt"/>
                <a:ea typeface="+mn-ea"/>
                <a:cs typeface="+mn-cs"/>
              </a:rPr>
              <a:t> Use individual bond ladders if you require that behavioral safety net to prevent yourself from panic-selling during rising-rate cycles—not because it offers a mathematical edge over funds. </a:t>
            </a:r>
          </a:p>
          <a:p>
            <a:endParaRPr lang="en-US" dirty="0"/>
          </a:p>
        </p:txBody>
      </p:sp>
      <p:sp>
        <p:nvSpPr>
          <p:cNvPr id="4" name="Slide Number Placeholder 3"/>
          <p:cNvSpPr>
            <a:spLocks noGrp="1"/>
          </p:cNvSpPr>
          <p:nvPr>
            <p:ph type="sldNum" sz="quarter" idx="5"/>
          </p:nvPr>
        </p:nvSpPr>
        <p:spPr/>
        <p:txBody>
          <a:bodyPr/>
          <a:lstStyle/>
          <a:p>
            <a:fld id="{4EC40244-152C-4BC4-A11B-914C1976555E}" type="slidenum">
              <a:rPr lang="en-US" smtClean="0"/>
              <a:t>7</a:t>
            </a:fld>
            <a:endParaRPr lang="en-US"/>
          </a:p>
        </p:txBody>
      </p:sp>
    </p:spTree>
    <p:extLst>
      <p:ext uri="{BB962C8B-B14F-4D97-AF65-F5344CB8AC3E}">
        <p14:creationId xmlns:p14="http://schemas.microsoft.com/office/powerpoint/2010/main" val="8474557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investors worry about inflation, they often look for financial products like gold, commodities, or crypto. However, Ben Carlson emphasizes four real-world household Hedges: </a:t>
            </a:r>
          </a:p>
          <a:p>
            <a:pPr marL="228600" lvl="0" indent="-228600">
              <a:buFont typeface="+mj-lt"/>
              <a:buAutoNum type="arabicPeriod"/>
            </a:pPr>
            <a:r>
              <a:rPr lang="en-US" sz="1200" b="1" kern="1200" dirty="0">
                <a:solidFill>
                  <a:schemeClr val="tx1"/>
                </a:solidFill>
                <a:effectLst/>
                <a:latin typeface="+mn-lt"/>
                <a:ea typeface="+mn-ea"/>
                <a:cs typeface="+mn-cs"/>
              </a:rPr>
              <a:t>A Desirable Career:</a:t>
            </a:r>
            <a:r>
              <a:rPr lang="en-US" sz="1200" kern="1200" dirty="0">
                <a:solidFill>
                  <a:schemeClr val="tx1"/>
                </a:solidFill>
                <a:effectLst/>
                <a:latin typeface="+mn-lt"/>
                <a:ea typeface="+mn-ea"/>
                <a:cs typeface="+mn-cs"/>
              </a:rPr>
              <a:t> The single strongest inflation defense is your own human capital—the ongoing ability to increase your salary at or above the rate of inflation. </a:t>
            </a:r>
          </a:p>
          <a:p>
            <a:pPr marL="228600" lvl="0" indent="-228600">
              <a:buFont typeface="+mj-lt"/>
              <a:buAutoNum type="arabicPeriod"/>
            </a:pPr>
            <a:r>
              <a:rPr lang="en-US" sz="1200" b="1" kern="1200" dirty="0">
                <a:solidFill>
                  <a:schemeClr val="tx1"/>
                </a:solidFill>
                <a:effectLst/>
                <a:latin typeface="+mn-lt"/>
                <a:ea typeface="+mn-ea"/>
                <a:cs typeface="+mn-cs"/>
              </a:rPr>
              <a:t>The 30-Year Fixed Mortgage:</a:t>
            </a:r>
            <a:r>
              <a:rPr lang="en-US" sz="1200" kern="1200" dirty="0">
                <a:solidFill>
                  <a:schemeClr val="tx1"/>
                </a:solidFill>
                <a:effectLst/>
                <a:latin typeface="+mn-lt"/>
                <a:ea typeface="+mn-ea"/>
                <a:cs typeface="+mn-cs"/>
              </a:rPr>
              <a:t> A fixed-rate mortgage allows you to lock in housing costs while paying back bank debt using dollars that shrink in purchasing power over time. </a:t>
            </a:r>
          </a:p>
          <a:p>
            <a:pPr marL="228600" lvl="0" indent="-228600">
              <a:buFont typeface="+mj-lt"/>
              <a:buAutoNum type="arabicPeriod"/>
            </a:pPr>
            <a:r>
              <a:rPr lang="en-US" sz="1200" b="1" kern="1200" dirty="0">
                <a:solidFill>
                  <a:schemeClr val="tx1"/>
                </a:solidFill>
                <a:effectLst/>
                <a:latin typeface="+mn-lt"/>
                <a:ea typeface="+mn-ea"/>
                <a:cs typeface="+mn-cs"/>
              </a:rPr>
              <a:t>Stocks for the Long Run:</a:t>
            </a:r>
            <a:r>
              <a:rPr lang="en-US" sz="1200" kern="1200" dirty="0">
                <a:solidFill>
                  <a:schemeClr val="tx1"/>
                </a:solidFill>
                <a:effectLst/>
                <a:latin typeface="+mn-lt"/>
                <a:ea typeface="+mn-ea"/>
                <a:cs typeface="+mn-cs"/>
              </a:rPr>
              <a:t> Public equities represent real businesses that can adjust prices to keep pace with inflation. Despite short-term turbulence during inflation spikes, equities historically yield 6% to 7% real (after-inflation) returns over multi-decade horizons. </a:t>
            </a:r>
          </a:p>
          <a:p>
            <a:pPr marL="228600" lvl="0" indent="-228600">
              <a:buFont typeface="+mj-lt"/>
              <a:buAutoNum type="arabicPeriod"/>
            </a:pPr>
            <a:r>
              <a:rPr lang="en-US" sz="1200" b="1" kern="1200" dirty="0">
                <a:solidFill>
                  <a:schemeClr val="tx1"/>
                </a:solidFill>
                <a:effectLst/>
                <a:latin typeface="+mn-lt"/>
                <a:ea typeface="+mn-ea"/>
                <a:cs typeface="+mn-cs"/>
              </a:rPr>
              <a:t>Delaying Social Security:</a:t>
            </a:r>
            <a:r>
              <a:rPr lang="en-US" sz="1200" kern="1200" dirty="0">
                <a:solidFill>
                  <a:schemeClr val="tx1"/>
                </a:solidFill>
                <a:effectLst/>
                <a:latin typeface="+mn-lt"/>
                <a:ea typeface="+mn-ea"/>
                <a:cs typeface="+mn-cs"/>
              </a:rPr>
              <a:t> For retirees, delaying benefits increases the monthly baseline payout, which is then permanently indexed to CPI. </a:t>
            </a:r>
          </a:p>
          <a:p>
            <a:endParaRPr lang="en-US" dirty="0"/>
          </a:p>
        </p:txBody>
      </p:sp>
      <p:sp>
        <p:nvSpPr>
          <p:cNvPr id="4" name="Slide Number Placeholder 3"/>
          <p:cNvSpPr>
            <a:spLocks noGrp="1"/>
          </p:cNvSpPr>
          <p:nvPr>
            <p:ph type="sldNum" sz="quarter" idx="5"/>
          </p:nvPr>
        </p:nvSpPr>
        <p:spPr/>
        <p:txBody>
          <a:bodyPr/>
          <a:lstStyle/>
          <a:p>
            <a:fld id="{4EC40244-152C-4BC4-A11B-914C1976555E}" type="slidenum">
              <a:rPr lang="en-US" smtClean="0"/>
              <a:t>8</a:t>
            </a:fld>
            <a:endParaRPr lang="en-US"/>
          </a:p>
        </p:txBody>
      </p:sp>
    </p:spTree>
    <p:extLst>
      <p:ext uri="{BB962C8B-B14F-4D97-AF65-F5344CB8AC3E}">
        <p14:creationId xmlns:p14="http://schemas.microsoft.com/office/powerpoint/2010/main" val="42804281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Expanding on the mortgage concept, holding a 30-year fixed-rate debt position is structured like a short bet against the purchasing power of the US dollar. </a:t>
            </a:r>
          </a:p>
          <a:p>
            <a:r>
              <a:rPr lang="en-US" sz="1200" b="1" kern="1200" dirty="0">
                <a:solidFill>
                  <a:schemeClr val="tx1"/>
                </a:solidFill>
                <a:effectLst/>
                <a:latin typeface="+mn-lt"/>
                <a:ea typeface="+mn-ea"/>
                <a:cs typeface="+mn-cs"/>
              </a:rPr>
              <a:t>The Mechanics:</a:t>
            </a:r>
            <a:r>
              <a:rPr lang="en-US" sz="1200" kern="1200" dirty="0">
                <a:solidFill>
                  <a:schemeClr val="tx1"/>
                </a:solidFill>
                <a:effectLst/>
                <a:latin typeface="+mn-lt"/>
                <a:ea typeface="+mn-ea"/>
                <a:cs typeface="+mn-cs"/>
              </a:rPr>
              <a:t> Even at a modest historical inflation rate of 3% per year, the purchasing power of a paper dollar is reduced by approximately half every 22 years. </a:t>
            </a:r>
          </a:p>
          <a:p>
            <a:r>
              <a:rPr lang="en-US" sz="1200" b="1" kern="1200" dirty="0">
                <a:solidFill>
                  <a:schemeClr val="tx1"/>
                </a:solidFill>
                <a:effectLst/>
                <a:latin typeface="+mn-lt"/>
                <a:ea typeface="+mn-ea"/>
                <a:cs typeface="+mn-cs"/>
              </a:rPr>
              <a:t>The Insight:</a:t>
            </a:r>
            <a:r>
              <a:rPr lang="en-US" sz="1200" kern="1200" dirty="0">
                <a:solidFill>
                  <a:schemeClr val="tx1"/>
                </a:solidFill>
                <a:effectLst/>
                <a:latin typeface="+mn-lt"/>
                <a:ea typeface="+mn-ea"/>
                <a:cs typeface="+mn-cs"/>
              </a:rPr>
              <a:t> While inflation erodes the value of held cash, a fixed-rate mortgage locks your nominal monthly housing payment flat over 30 years. As wages and prices rise around you over time, the real economic weight of that monthly mortgage payment shrinks significantly. You are effectively repaying fixed nominal debt with cheaper, inflated currency. </a:t>
            </a:r>
          </a:p>
          <a:p>
            <a:endParaRPr lang="en-US" dirty="0"/>
          </a:p>
        </p:txBody>
      </p:sp>
      <p:sp>
        <p:nvSpPr>
          <p:cNvPr id="4" name="Slide Number Placeholder 3"/>
          <p:cNvSpPr>
            <a:spLocks noGrp="1"/>
          </p:cNvSpPr>
          <p:nvPr>
            <p:ph type="sldNum" sz="quarter" idx="5"/>
          </p:nvPr>
        </p:nvSpPr>
        <p:spPr/>
        <p:txBody>
          <a:bodyPr/>
          <a:lstStyle/>
          <a:p>
            <a:fld id="{4EC40244-152C-4BC4-A11B-914C1976555E}" type="slidenum">
              <a:rPr lang="en-US" smtClean="0"/>
              <a:t>9</a:t>
            </a:fld>
            <a:endParaRPr lang="en-US"/>
          </a:p>
        </p:txBody>
      </p:sp>
    </p:spTree>
    <p:extLst>
      <p:ext uri="{BB962C8B-B14F-4D97-AF65-F5344CB8AC3E}">
        <p14:creationId xmlns:p14="http://schemas.microsoft.com/office/powerpoint/2010/main" val="3954678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Behavioral finance shows that human beings feel the emotional pain of a financial loss roughly twice as intensely as the pleasure of an equivalent gain. This slide illustrates how account-checking frequency triggers that loss aversion.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Checking Daily:</a:t>
            </a:r>
            <a:r>
              <a:rPr lang="en-US" sz="1200" kern="1200" dirty="0">
                <a:solidFill>
                  <a:schemeClr val="tx1"/>
                </a:solidFill>
                <a:effectLst/>
                <a:latin typeface="+mn-lt"/>
                <a:ea typeface="+mn-ea"/>
                <a:cs typeface="+mn-cs"/>
              </a:rPr>
              <a:t> On any single trading day, the stock market is positive roughly </a:t>
            </a:r>
            <a:r>
              <a:rPr lang="en-US" sz="1200" b="1" kern="1200" dirty="0">
                <a:solidFill>
                  <a:schemeClr val="tx1"/>
                </a:solidFill>
                <a:effectLst/>
                <a:latin typeface="+mn-lt"/>
                <a:ea typeface="+mn-ea"/>
                <a:cs typeface="+mn-cs"/>
              </a:rPr>
              <a:t>53%</a:t>
            </a:r>
            <a:r>
              <a:rPr lang="en-US" sz="1200" kern="1200" dirty="0">
                <a:solidFill>
                  <a:schemeClr val="tx1"/>
                </a:solidFill>
                <a:effectLst/>
                <a:latin typeface="+mn-lt"/>
                <a:ea typeface="+mn-ea"/>
                <a:cs typeface="+mn-cs"/>
              </a:rPr>
              <a:t> of the time. Checking your portfolio daily is effectively flipping a coin, exposing you to negative emotional feedback nearly half the days.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Drawdown Reality:</a:t>
            </a:r>
            <a:r>
              <a:rPr lang="en-US" sz="1200" kern="1200" dirty="0">
                <a:solidFill>
                  <a:schemeClr val="tx1"/>
                </a:solidFill>
                <a:effectLst/>
                <a:latin typeface="+mn-lt"/>
                <a:ea typeface="+mn-ea"/>
                <a:cs typeface="+mn-cs"/>
              </a:rPr>
              <a:t> Since 1950, only </a:t>
            </a:r>
            <a:r>
              <a:rPr lang="en-US" sz="1200" b="1" kern="1200" dirty="0">
                <a:solidFill>
                  <a:schemeClr val="tx1"/>
                </a:solidFill>
                <a:effectLst/>
                <a:latin typeface="+mn-lt"/>
                <a:ea typeface="+mn-ea"/>
                <a:cs typeface="+mn-cs"/>
              </a:rPr>
              <a:t>7%</a:t>
            </a:r>
            <a:r>
              <a:rPr lang="en-US" sz="1200" kern="1200" dirty="0">
                <a:solidFill>
                  <a:schemeClr val="tx1"/>
                </a:solidFill>
                <a:effectLst/>
                <a:latin typeface="+mn-lt"/>
                <a:ea typeface="+mn-ea"/>
                <a:cs typeface="+mn-cs"/>
              </a:rPr>
              <a:t> of all trading days closed at a new all-time high. That means </a:t>
            </a:r>
            <a:r>
              <a:rPr lang="en-US" sz="1200" b="1" kern="1200" dirty="0">
                <a:solidFill>
                  <a:schemeClr val="tx1"/>
                </a:solidFill>
                <a:effectLst/>
                <a:latin typeface="+mn-lt"/>
                <a:ea typeface="+mn-ea"/>
                <a:cs typeface="+mn-cs"/>
              </a:rPr>
              <a:t>93% of the time, your portfolio sits below its historical peak</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The Rule:</a:t>
            </a:r>
            <a:r>
              <a:rPr lang="en-US" sz="1200" kern="1200" dirty="0">
                <a:solidFill>
                  <a:schemeClr val="tx1"/>
                </a:solidFill>
                <a:effectLst/>
                <a:latin typeface="+mn-lt"/>
                <a:ea typeface="+mn-ea"/>
                <a:cs typeface="+mn-cs"/>
              </a:rPr>
              <a:t> The more frequently you look at your portfolio values, the more frequently you experience loss aversion. To preserve behavioral discipline, limit formal account updates to every 6 to 12 months. </a:t>
            </a:r>
          </a:p>
          <a:p>
            <a:endParaRPr lang="en-US" dirty="0"/>
          </a:p>
        </p:txBody>
      </p:sp>
      <p:sp>
        <p:nvSpPr>
          <p:cNvPr id="4" name="Slide Number Placeholder 3"/>
          <p:cNvSpPr>
            <a:spLocks noGrp="1"/>
          </p:cNvSpPr>
          <p:nvPr>
            <p:ph type="sldNum" sz="quarter" idx="5"/>
          </p:nvPr>
        </p:nvSpPr>
        <p:spPr/>
        <p:txBody>
          <a:bodyPr/>
          <a:lstStyle/>
          <a:p>
            <a:fld id="{4EC40244-152C-4BC4-A11B-914C1976555E}" type="slidenum">
              <a:rPr lang="en-US" smtClean="0"/>
              <a:t>10</a:t>
            </a:fld>
            <a:endParaRPr lang="en-US"/>
          </a:p>
        </p:txBody>
      </p:sp>
    </p:spTree>
    <p:extLst>
      <p:ext uri="{BB962C8B-B14F-4D97-AF65-F5344CB8AC3E}">
        <p14:creationId xmlns:p14="http://schemas.microsoft.com/office/powerpoint/2010/main" val="3655397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major pitfall for individual investors is trying to trade portfolios based on breaking news headlines. </a:t>
            </a:r>
          </a:p>
          <a:p>
            <a:r>
              <a:rPr lang="en-US" sz="1200" b="1" kern="1200" dirty="0">
                <a:solidFill>
                  <a:schemeClr val="tx1"/>
                </a:solidFill>
                <a:effectLst/>
                <a:latin typeface="+mn-lt"/>
                <a:ea typeface="+mn-ea"/>
                <a:cs typeface="+mn-cs"/>
              </a:rPr>
              <a:t>Bad News is an Event; Good News is a Process:</a:t>
            </a:r>
            <a:r>
              <a:rPr lang="en-US" sz="1200" kern="1200" dirty="0">
                <a:solidFill>
                  <a:schemeClr val="tx1"/>
                </a:solidFill>
                <a:effectLst/>
                <a:latin typeface="+mn-lt"/>
                <a:ea typeface="+mn-ea"/>
                <a:cs typeface="+mn-cs"/>
              </a:rPr>
              <a:t> Bad news arrives as sudden events—tariffs, geopolitical conflict, oil shocks, or earnings misses. Good news, by contrast, is an ongoing, quiet compounding process driven by business innovation, earnings productivity, and reinvested dividends over time. </a:t>
            </a:r>
          </a:p>
          <a:p>
            <a:r>
              <a:rPr lang="en-US" sz="1200" b="1" kern="1200" dirty="0">
                <a:solidFill>
                  <a:schemeClr val="tx1"/>
                </a:solidFill>
                <a:effectLst/>
                <a:latin typeface="+mn-lt"/>
                <a:ea typeface="+mn-ea"/>
                <a:cs typeface="+mn-cs"/>
              </a:rPr>
              <a:t>The COVID Case Study:</a:t>
            </a:r>
            <a:r>
              <a:rPr lang="en-US" sz="1200" kern="1200" dirty="0">
                <a:solidFill>
                  <a:schemeClr val="tx1"/>
                </a:solidFill>
                <a:effectLst/>
                <a:latin typeface="+mn-lt"/>
                <a:ea typeface="+mn-ea"/>
                <a:cs typeface="+mn-cs"/>
              </a:rPr>
              <a:t> In early 2020, as COVID spread, US unemployment spiked to a record 14%. Yet, right as economic data reached its worst levels in spring 2020, the stock market bottomed and surged upward. </a:t>
            </a:r>
          </a:p>
          <a:p>
            <a:r>
              <a:rPr lang="en-US" sz="1200" b="1" kern="1200" dirty="0">
                <a:solidFill>
                  <a:schemeClr val="tx1"/>
                </a:solidFill>
                <a:effectLst/>
                <a:latin typeface="+mn-lt"/>
                <a:ea typeface="+mn-ea"/>
                <a:cs typeface="+mn-cs"/>
              </a:rPr>
              <a:t>The Lesson:</a:t>
            </a:r>
            <a:r>
              <a:rPr lang="en-US" sz="1200" kern="1200" dirty="0">
                <a:solidFill>
                  <a:schemeClr val="tx1"/>
                </a:solidFill>
                <a:effectLst/>
                <a:latin typeface="+mn-lt"/>
                <a:ea typeface="+mn-ea"/>
                <a:cs typeface="+mn-cs"/>
              </a:rPr>
              <a:t> Markets are forward-looking engines that price in events </a:t>
            </a:r>
            <a:r>
              <a:rPr lang="en-US" sz="1200" i="1" kern="1200" dirty="0">
                <a:solidFill>
                  <a:schemeClr val="tx1"/>
                </a:solidFill>
                <a:effectLst/>
                <a:latin typeface="+mn-lt"/>
                <a:ea typeface="+mn-ea"/>
                <a:cs typeface="+mn-cs"/>
              </a:rPr>
              <a:t>before</a:t>
            </a:r>
            <a:r>
              <a:rPr lang="en-US" sz="1200" kern="1200" dirty="0">
                <a:solidFill>
                  <a:schemeClr val="tx1"/>
                </a:solidFill>
                <a:effectLst/>
                <a:latin typeface="+mn-lt"/>
                <a:ea typeface="+mn-ea"/>
                <a:cs typeface="+mn-cs"/>
              </a:rPr>
              <a:t> official economic figures appear. Exiting to cash to "wait until the dust settles" guarantees you miss the sharpest points of market recovery. </a:t>
            </a:r>
          </a:p>
          <a:p>
            <a:endParaRPr lang="en-US" dirty="0"/>
          </a:p>
        </p:txBody>
      </p:sp>
      <p:sp>
        <p:nvSpPr>
          <p:cNvPr id="4" name="Slide Number Placeholder 3"/>
          <p:cNvSpPr>
            <a:spLocks noGrp="1"/>
          </p:cNvSpPr>
          <p:nvPr>
            <p:ph type="sldNum" sz="quarter" idx="5"/>
          </p:nvPr>
        </p:nvSpPr>
        <p:spPr/>
        <p:txBody>
          <a:bodyPr/>
          <a:lstStyle/>
          <a:p>
            <a:fld id="{4EC40244-152C-4BC4-A11B-914C1976555E}" type="slidenum">
              <a:rPr lang="en-US" smtClean="0"/>
              <a:t>11</a:t>
            </a:fld>
            <a:endParaRPr lang="en-US"/>
          </a:p>
        </p:txBody>
      </p:sp>
    </p:spTree>
    <p:extLst>
      <p:ext uri="{BB962C8B-B14F-4D97-AF65-F5344CB8AC3E}">
        <p14:creationId xmlns:p14="http://schemas.microsoft.com/office/powerpoint/2010/main" val="9034990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Recognizing that strict self-discipline can be difficult to maintain, Ben Carlson suggests introducing a behavioral release valve using a 90/10 split: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90% Core Engine:</a:t>
            </a:r>
            <a:r>
              <a:rPr lang="en-US" sz="1200" kern="1200" dirty="0">
                <a:solidFill>
                  <a:schemeClr val="tx1"/>
                </a:solidFill>
                <a:effectLst/>
                <a:latin typeface="+mn-lt"/>
                <a:ea typeface="+mn-ea"/>
                <a:cs typeface="+mn-cs"/>
              </a:rPr>
              <a:t> The bulk of your wealth is committed to an automated, low-cost index portfolio. It remains completely untouched by headlines, emotion, or market timing.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10% Cowboy Account:</a:t>
            </a:r>
            <a:r>
              <a:rPr lang="en-US" sz="1200" kern="1200" dirty="0">
                <a:solidFill>
                  <a:schemeClr val="tx1"/>
                </a:solidFill>
                <a:effectLst/>
                <a:latin typeface="+mn-lt"/>
                <a:ea typeface="+mn-ea"/>
                <a:cs typeface="+mn-cs"/>
              </a:rPr>
              <a:t> Up to 10% of your capital is isolated in a separate account dedicated to individual stock picking, tactical bets, or speculative assets. </a:t>
            </a:r>
          </a:p>
          <a:p>
            <a:r>
              <a:rPr lang="en-US" sz="1200" kern="1200" dirty="0">
                <a:solidFill>
                  <a:schemeClr val="tx1"/>
                </a:solidFill>
                <a:effectLst/>
                <a:latin typeface="+mn-lt"/>
                <a:ea typeface="+mn-ea"/>
                <a:cs typeface="+mn-cs"/>
              </a:rPr>
              <a:t>This setup allows you to "sin a little bit" in a controlled space. By isolating your speculative urges to a small fraction of your portfolio, you protect your core long-term wealth from behavioral mistakes. </a:t>
            </a:r>
          </a:p>
          <a:p>
            <a:endParaRPr lang="en-US" dirty="0"/>
          </a:p>
        </p:txBody>
      </p:sp>
      <p:sp>
        <p:nvSpPr>
          <p:cNvPr id="4" name="Slide Number Placeholder 3"/>
          <p:cNvSpPr>
            <a:spLocks noGrp="1"/>
          </p:cNvSpPr>
          <p:nvPr>
            <p:ph type="sldNum" sz="quarter" idx="5"/>
          </p:nvPr>
        </p:nvSpPr>
        <p:spPr/>
        <p:txBody>
          <a:bodyPr/>
          <a:lstStyle/>
          <a:p>
            <a:fld id="{4EC40244-152C-4BC4-A11B-914C1976555E}" type="slidenum">
              <a:rPr lang="en-US" smtClean="0"/>
              <a:t>12</a:t>
            </a:fld>
            <a:endParaRPr lang="en-US"/>
          </a:p>
        </p:txBody>
      </p:sp>
    </p:spTree>
    <p:extLst>
      <p:ext uri="{BB962C8B-B14F-4D97-AF65-F5344CB8AC3E}">
        <p14:creationId xmlns:p14="http://schemas.microsoft.com/office/powerpoint/2010/main" val="8106830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recent years, wealth managers have increasingly promoted </a:t>
            </a:r>
            <a:r>
              <a:rPr lang="en-US" sz="1200" b="1" kern="1200" dirty="0">
                <a:solidFill>
                  <a:schemeClr val="tx1"/>
                </a:solidFill>
                <a:effectLst/>
                <a:latin typeface="+mn-lt"/>
                <a:ea typeface="+mn-ea"/>
                <a:cs typeface="+mn-cs"/>
              </a:rPr>
              <a:t>Direct Indexing</a:t>
            </a:r>
            <a:r>
              <a:rPr lang="en-US" sz="1200" kern="1200" dirty="0">
                <a:solidFill>
                  <a:schemeClr val="tx1"/>
                </a:solidFill>
                <a:effectLst/>
                <a:latin typeface="+mn-lt"/>
                <a:ea typeface="+mn-ea"/>
                <a:cs typeface="+mn-cs"/>
              </a:rPr>
              <a:t> as a way to generate "after-tax alpha." </a:t>
            </a:r>
          </a:p>
          <a:p>
            <a:r>
              <a:rPr lang="en-US" sz="1200" b="1" kern="1200" dirty="0">
                <a:solidFill>
                  <a:schemeClr val="tx1"/>
                </a:solidFill>
                <a:effectLst/>
                <a:latin typeface="+mn-lt"/>
                <a:ea typeface="+mn-ea"/>
                <a:cs typeface="+mn-cs"/>
              </a:rPr>
              <a:t>The Pitch:</a:t>
            </a:r>
            <a:r>
              <a:rPr lang="en-US" sz="1200" kern="1200" dirty="0">
                <a:solidFill>
                  <a:schemeClr val="tx1"/>
                </a:solidFill>
                <a:effectLst/>
                <a:latin typeface="+mn-lt"/>
                <a:ea typeface="+mn-ea"/>
                <a:cs typeface="+mn-cs"/>
              </a:rPr>
              <a:t> Instead of holding an ETF, you purchase hundreds of individual stocks directly via fractional shares, continuously harvesting losses to offset realized capital gains elsewhere. Advanced versions even add leverage (e.g., 130/30 long-short structures) to amplify loss harvesting opportunities. </a:t>
            </a:r>
          </a:p>
          <a:p>
            <a:r>
              <a:rPr lang="en-US" sz="1200" b="1" kern="1200" dirty="0">
                <a:solidFill>
                  <a:schemeClr val="tx1"/>
                </a:solidFill>
                <a:effectLst/>
                <a:latin typeface="+mn-lt"/>
                <a:ea typeface="+mn-ea"/>
                <a:cs typeface="+mn-cs"/>
              </a:rPr>
              <a:t>The Reality Check:</a:t>
            </a:r>
            <a:r>
              <a:rPr lang="en-US" sz="1200" kern="1200" dirty="0">
                <a:solidFill>
                  <a:schemeClr val="tx1"/>
                </a:solidFill>
                <a:effectLst/>
                <a:latin typeface="+mn-lt"/>
                <a:ea typeface="+mn-ea"/>
                <a:cs typeface="+mn-cs"/>
              </a:rPr>
              <a:t> These strategies introduce considerable complexity, tracking error, and ongoing management fees. Furthermore, loss harvesting primarily </a:t>
            </a:r>
            <a:r>
              <a:rPr lang="en-US" sz="1200" i="1" kern="1200" dirty="0">
                <a:solidFill>
                  <a:schemeClr val="tx1"/>
                </a:solidFill>
                <a:effectLst/>
                <a:latin typeface="+mn-lt"/>
                <a:ea typeface="+mn-ea"/>
                <a:cs typeface="+mn-cs"/>
              </a:rPr>
              <a:t>defers</a:t>
            </a:r>
            <a:r>
              <a:rPr lang="en-US" sz="1200" kern="1200" dirty="0">
                <a:solidFill>
                  <a:schemeClr val="tx1"/>
                </a:solidFill>
                <a:effectLst/>
                <a:latin typeface="+mn-lt"/>
                <a:ea typeface="+mn-ea"/>
                <a:cs typeface="+mn-cs"/>
              </a:rPr>
              <a:t> taxes rather than eliminating them entirely. </a:t>
            </a:r>
          </a:p>
          <a:p>
            <a:r>
              <a:rPr lang="en-US" sz="1200" b="1" kern="1200" dirty="0">
                <a:solidFill>
                  <a:schemeClr val="tx1"/>
                </a:solidFill>
                <a:effectLst/>
                <a:latin typeface="+mn-lt"/>
                <a:ea typeface="+mn-ea"/>
                <a:cs typeface="+mn-cs"/>
              </a:rPr>
              <a:t>The ONLY Use Case:</a:t>
            </a:r>
            <a:r>
              <a:rPr lang="en-US" sz="1200" kern="1200" dirty="0">
                <a:solidFill>
                  <a:schemeClr val="tx1"/>
                </a:solidFill>
                <a:effectLst/>
                <a:latin typeface="+mn-lt"/>
                <a:ea typeface="+mn-ea"/>
                <a:cs typeface="+mn-cs"/>
              </a:rPr>
              <a:t> Direct indexing is generally best reserved for specific liquidity events—such as selling a business or unwinding low-basis concentrated stock positions. For standard portfolio accumulation, the added management fees and complexity often outweigh the net tax benefits. </a:t>
            </a:r>
          </a:p>
        </p:txBody>
      </p:sp>
      <p:sp>
        <p:nvSpPr>
          <p:cNvPr id="4" name="Slide Number Placeholder 3"/>
          <p:cNvSpPr>
            <a:spLocks noGrp="1"/>
          </p:cNvSpPr>
          <p:nvPr>
            <p:ph type="sldNum" sz="quarter" idx="5"/>
          </p:nvPr>
        </p:nvSpPr>
        <p:spPr/>
        <p:txBody>
          <a:bodyPr/>
          <a:lstStyle/>
          <a:p>
            <a:fld id="{4EC40244-152C-4BC4-A11B-914C1976555E}" type="slidenum">
              <a:rPr lang="en-US" smtClean="0"/>
              <a:t>13</a:t>
            </a:fld>
            <a:endParaRPr lang="en-US"/>
          </a:p>
        </p:txBody>
      </p:sp>
    </p:spTree>
    <p:extLst>
      <p:ext uri="{BB962C8B-B14F-4D97-AF65-F5344CB8AC3E}">
        <p14:creationId xmlns:p14="http://schemas.microsoft.com/office/powerpoint/2010/main" val="31578255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you choose to move beyond market-cap indexing, it should be done through </a:t>
            </a:r>
            <a:r>
              <a:rPr lang="en-US" sz="1200" b="1" kern="1200" dirty="0">
                <a:solidFill>
                  <a:schemeClr val="tx1"/>
                </a:solidFill>
                <a:effectLst/>
                <a:latin typeface="+mn-lt"/>
                <a:ea typeface="+mn-ea"/>
                <a:cs typeface="+mn-cs"/>
              </a:rPr>
              <a:t>rules-based factor strategies</a:t>
            </a:r>
            <a:r>
              <a:rPr lang="en-US" sz="1200" kern="1200" dirty="0">
                <a:solidFill>
                  <a:schemeClr val="tx1"/>
                </a:solidFill>
                <a:effectLst/>
                <a:latin typeface="+mn-lt"/>
                <a:ea typeface="+mn-ea"/>
                <a:cs typeface="+mn-cs"/>
              </a:rPr>
              <a:t> rather than discretionary stock picking. </a:t>
            </a:r>
          </a:p>
          <a:p>
            <a:r>
              <a:rPr lang="en-US" sz="1200" b="1" kern="1200" dirty="0">
                <a:solidFill>
                  <a:schemeClr val="tx1"/>
                </a:solidFill>
                <a:effectLst/>
                <a:latin typeface="+mn-lt"/>
                <a:ea typeface="+mn-ea"/>
                <a:cs typeface="+mn-cs"/>
              </a:rPr>
              <a:t>The Philosophy:</a:t>
            </a:r>
            <a:r>
              <a:rPr lang="en-US" sz="1200" kern="1200" dirty="0">
                <a:solidFill>
                  <a:schemeClr val="tx1"/>
                </a:solidFill>
                <a:effectLst/>
                <a:latin typeface="+mn-lt"/>
                <a:ea typeface="+mn-ea"/>
                <a:cs typeface="+mn-cs"/>
              </a:rPr>
              <a:t> Broad market indexing works because it operates on systematic rules, maintaining low turnover and high tax efficiency. You can apply these same systematic principles to factor strategies like Momentum. </a:t>
            </a:r>
          </a:p>
          <a:p>
            <a:r>
              <a:rPr lang="en-US" sz="1200" b="1" kern="1200" dirty="0">
                <a:solidFill>
                  <a:schemeClr val="tx1"/>
                </a:solidFill>
                <a:effectLst/>
                <a:latin typeface="+mn-lt"/>
                <a:ea typeface="+mn-ea"/>
                <a:cs typeface="+mn-cs"/>
              </a:rPr>
              <a:t>The Momentum Chameleon:</a:t>
            </a:r>
            <a:r>
              <a:rPr lang="en-US" sz="1200" kern="1200" dirty="0">
                <a:solidFill>
                  <a:schemeClr val="tx1"/>
                </a:solidFill>
                <a:effectLst/>
                <a:latin typeface="+mn-lt"/>
                <a:ea typeface="+mn-ea"/>
                <a:cs typeface="+mn-cs"/>
              </a:rPr>
              <a:t> A momentum strategy systematically buys assets displaying strong recent performance—whether tech, energy, or consumer staples—without relying on human forecasting or emotional biases. </a:t>
            </a:r>
          </a:p>
          <a:p>
            <a:r>
              <a:rPr lang="en-US" sz="1200" b="1" kern="1200" dirty="0">
                <a:solidFill>
                  <a:schemeClr val="tx1"/>
                </a:solidFill>
                <a:effectLst/>
                <a:latin typeface="+mn-lt"/>
                <a:ea typeface="+mn-ea"/>
                <a:cs typeface="+mn-cs"/>
              </a:rPr>
              <a:t>The Goal:</a:t>
            </a:r>
            <a:r>
              <a:rPr lang="en-US" sz="1200" kern="1200" dirty="0">
                <a:solidFill>
                  <a:schemeClr val="tx1"/>
                </a:solidFill>
                <a:effectLst/>
                <a:latin typeface="+mn-lt"/>
                <a:ea typeface="+mn-ea"/>
                <a:cs typeface="+mn-cs"/>
              </a:rPr>
              <a:t> Factor exposure should not be treated as a quest for market-beating "alpha." Instead, view it as a pre-planned source of structural diversification designed to support performance during periods when standard market-cap indexing lags. </a:t>
            </a:r>
          </a:p>
          <a:p>
            <a:endParaRPr lang="en-US" dirty="0"/>
          </a:p>
        </p:txBody>
      </p:sp>
      <p:sp>
        <p:nvSpPr>
          <p:cNvPr id="4" name="Slide Number Placeholder 3"/>
          <p:cNvSpPr>
            <a:spLocks noGrp="1"/>
          </p:cNvSpPr>
          <p:nvPr>
            <p:ph type="sldNum" sz="quarter" idx="5"/>
          </p:nvPr>
        </p:nvSpPr>
        <p:spPr/>
        <p:txBody>
          <a:bodyPr/>
          <a:lstStyle/>
          <a:p>
            <a:fld id="{4EC40244-152C-4BC4-A11B-914C1976555E}" type="slidenum">
              <a:rPr lang="en-US" smtClean="0"/>
              <a:t>14</a:t>
            </a:fld>
            <a:endParaRPr lang="en-US"/>
          </a:p>
        </p:txBody>
      </p:sp>
    </p:spTree>
    <p:extLst>
      <p:ext uri="{BB962C8B-B14F-4D97-AF65-F5344CB8AC3E}">
        <p14:creationId xmlns:p14="http://schemas.microsoft.com/office/powerpoint/2010/main" val="38444795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matrix establishes clear boundaries between market noise and true portfolio triggers.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Market Events (NOISE):</a:t>
            </a:r>
            <a:r>
              <a:rPr lang="en-US" sz="1200" kern="1200" dirty="0">
                <a:solidFill>
                  <a:schemeClr val="tx1"/>
                </a:solidFill>
                <a:effectLst/>
                <a:latin typeface="+mn-lt"/>
                <a:ea typeface="+mn-ea"/>
                <a:cs typeface="+mn-cs"/>
              </a:rPr>
              <a:t> Rate changes, inflation reports, recessions, corporate earnings, and valuation alarms represent market noise. </a:t>
            </a:r>
            <a:r>
              <a:rPr lang="en-US" sz="1200" b="1" kern="1200" dirty="0">
                <a:solidFill>
                  <a:schemeClr val="tx1"/>
                </a:solidFill>
                <a:effectLst/>
                <a:latin typeface="+mn-lt"/>
                <a:ea typeface="+mn-ea"/>
                <a:cs typeface="+mn-cs"/>
              </a:rPr>
              <a:t>Action: Do nothing.</a:t>
            </a:r>
            <a:r>
              <a:rPr lang="en-US" sz="1200" kern="1200" dirty="0">
                <a:solidFill>
                  <a:schemeClr val="tx1"/>
                </a:solidFill>
                <a:effectLst/>
                <a:latin typeface="+mn-lt"/>
                <a:ea typeface="+mn-ea"/>
                <a:cs typeface="+mn-cs"/>
              </a:rPr>
              <a:t> Never alter your core allocation based on news headlines.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Life Events (SIGNAL):</a:t>
            </a:r>
            <a:r>
              <a:rPr lang="en-US" sz="1200" kern="1200" dirty="0">
                <a:solidFill>
                  <a:schemeClr val="tx1"/>
                </a:solidFill>
                <a:effectLst/>
                <a:latin typeface="+mn-lt"/>
                <a:ea typeface="+mn-ea"/>
                <a:cs typeface="+mn-cs"/>
              </a:rPr>
              <a:t> Approaching retirement, shifts in spending, receiving an inheritance, job loss, or selling a business represent real lifestyle signals. </a:t>
            </a:r>
            <a:r>
              <a:rPr lang="en-US" sz="1200" b="1" kern="1200" dirty="0">
                <a:solidFill>
                  <a:schemeClr val="tx1"/>
                </a:solidFill>
                <a:effectLst/>
                <a:latin typeface="+mn-lt"/>
                <a:ea typeface="+mn-ea"/>
                <a:cs typeface="+mn-cs"/>
              </a:rPr>
              <a:t>Action: Adjust risk tolerance.</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Synthesis:</a:t>
            </a:r>
            <a:r>
              <a:rPr lang="en-US" sz="1200" kern="1200" dirty="0">
                <a:solidFill>
                  <a:schemeClr val="tx1"/>
                </a:solidFill>
                <a:effectLst/>
                <a:latin typeface="+mn-lt"/>
                <a:ea typeface="+mn-ea"/>
                <a:cs typeface="+mn-cs"/>
              </a:rPr>
              <a:t> Market headlines should never trigger wholesale allocation changes. Portfolio shifts should be driven strictly by changes in your personal financial circumstances and timeline. </a:t>
            </a:r>
          </a:p>
          <a:p>
            <a:endParaRPr lang="en-US" dirty="0"/>
          </a:p>
        </p:txBody>
      </p:sp>
      <p:sp>
        <p:nvSpPr>
          <p:cNvPr id="4" name="Slide Number Placeholder 3"/>
          <p:cNvSpPr>
            <a:spLocks noGrp="1"/>
          </p:cNvSpPr>
          <p:nvPr>
            <p:ph type="sldNum" sz="quarter" idx="5"/>
          </p:nvPr>
        </p:nvSpPr>
        <p:spPr/>
        <p:txBody>
          <a:bodyPr/>
          <a:lstStyle/>
          <a:p>
            <a:fld id="{4EC40244-152C-4BC4-A11B-914C1976555E}" type="slidenum">
              <a:rPr lang="en-US" smtClean="0"/>
              <a:t>15</a:t>
            </a:fld>
            <a:endParaRPr lang="en-US"/>
          </a:p>
        </p:txBody>
      </p:sp>
    </p:spTree>
    <p:extLst>
      <p:ext uri="{BB962C8B-B14F-4D97-AF65-F5344CB8AC3E}">
        <p14:creationId xmlns:p14="http://schemas.microsoft.com/office/powerpoint/2010/main" val="8238753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a:t>
            </a:r>
            <a:r>
              <a:rPr lang="en-US" sz="1200" b="1" kern="1200" dirty="0">
                <a:solidFill>
                  <a:schemeClr val="tx1"/>
                </a:solidFill>
                <a:effectLst/>
                <a:latin typeface="+mn-lt"/>
                <a:ea typeface="+mn-ea"/>
                <a:cs typeface="+mn-cs"/>
              </a:rPr>
              <a:t>Less is More.</a:t>
            </a:r>
            <a:r>
              <a:rPr lang="en-US" sz="1200" kern="1200" dirty="0">
                <a:solidFill>
                  <a:schemeClr val="tx1"/>
                </a:solidFill>
                <a:effectLst/>
                <a:latin typeface="+mn-lt"/>
                <a:ea typeface="+mn-ea"/>
                <a:cs typeface="+mn-cs"/>
              </a:rPr>
              <a:t> Automate your process, tune out daily headlines, and let time compound your wealth. </a:t>
            </a:r>
          </a:p>
          <a:p>
            <a:pPr lvl="0"/>
            <a:r>
              <a:rPr lang="en-US" sz="1200" b="1" kern="1200" dirty="0">
                <a:solidFill>
                  <a:schemeClr val="tx1"/>
                </a:solidFill>
                <a:effectLst/>
                <a:latin typeface="+mn-lt"/>
                <a:ea typeface="+mn-ea"/>
                <a:cs typeface="+mn-cs"/>
              </a:rPr>
              <a:t>Simplicity is Easier to Maintain:</a:t>
            </a:r>
            <a:r>
              <a:rPr lang="en-US" sz="1200" kern="1200" dirty="0">
                <a:solidFill>
                  <a:schemeClr val="tx1"/>
                </a:solidFill>
                <a:effectLst/>
                <a:latin typeface="+mn-lt"/>
                <a:ea typeface="+mn-ea"/>
                <a:cs typeface="+mn-cs"/>
              </a:rPr>
              <a:t> Complex strategies are often abandoned during market panics because they are difficult to evaluate. </a:t>
            </a:r>
          </a:p>
          <a:p>
            <a:pPr lvl="0"/>
            <a:r>
              <a:rPr lang="en-US" sz="1200" b="1" kern="1200" dirty="0">
                <a:solidFill>
                  <a:schemeClr val="tx1"/>
                </a:solidFill>
                <a:effectLst/>
                <a:latin typeface="+mn-lt"/>
                <a:ea typeface="+mn-ea"/>
                <a:cs typeface="+mn-cs"/>
              </a:rPr>
              <a:t>Maintain Behavioral Guards:</a:t>
            </a:r>
            <a:r>
              <a:rPr lang="en-US" sz="1200" kern="1200" dirty="0">
                <a:solidFill>
                  <a:schemeClr val="tx1"/>
                </a:solidFill>
                <a:effectLst/>
                <a:latin typeface="+mn-lt"/>
                <a:ea typeface="+mn-ea"/>
                <a:cs typeface="+mn-cs"/>
              </a:rPr>
              <a:t> Use the "Don't Look" rule (checking accounts every 6–12 months) to limit loss aversion, and use a 10% "Cowboy Account" if you need a speculative outlet. </a:t>
            </a:r>
          </a:p>
          <a:p>
            <a:pPr lvl="0"/>
            <a:r>
              <a:rPr lang="en-US" sz="1200" b="1" kern="1200" dirty="0">
                <a:solidFill>
                  <a:schemeClr val="tx1"/>
                </a:solidFill>
                <a:effectLst/>
                <a:latin typeface="+mn-lt"/>
                <a:ea typeface="+mn-ea"/>
                <a:cs typeface="+mn-cs"/>
              </a:rPr>
              <a:t>Structure Fixed Income Deliberately:</a:t>
            </a:r>
            <a:r>
              <a:rPr lang="en-US" sz="1200" kern="1200" dirty="0">
                <a:solidFill>
                  <a:schemeClr val="tx1"/>
                </a:solidFill>
                <a:effectLst/>
                <a:latin typeface="+mn-lt"/>
                <a:ea typeface="+mn-ea"/>
                <a:cs typeface="+mn-cs"/>
              </a:rPr>
              <a:t> Maintain core total bond funds for ballast, complemented by short-term cash or TIPS to hedge against inflation and rising interest rates. </a:t>
            </a:r>
          </a:p>
          <a:p>
            <a:pPr lvl="0"/>
            <a:r>
              <a:rPr lang="en-US" sz="1200" b="1" kern="1200" dirty="0">
                <a:solidFill>
                  <a:schemeClr val="tx1"/>
                </a:solidFill>
                <a:effectLst/>
                <a:latin typeface="+mn-lt"/>
                <a:ea typeface="+mn-ea"/>
                <a:cs typeface="+mn-cs"/>
              </a:rPr>
              <a:t>Rely on Real Inflation Hedges:</a:t>
            </a:r>
            <a:r>
              <a:rPr lang="en-US" sz="1200" kern="1200" dirty="0">
                <a:solidFill>
                  <a:schemeClr val="tx1"/>
                </a:solidFill>
                <a:effectLst/>
                <a:latin typeface="+mn-lt"/>
                <a:ea typeface="+mn-ea"/>
                <a:cs typeface="+mn-cs"/>
              </a:rPr>
              <a:t> Focus on growing your career earnings, holding long-term equities, and leveraging fixed-rate housing debt. </a:t>
            </a:r>
          </a:p>
          <a:p>
            <a:r>
              <a:rPr lang="en-US" sz="1200" kern="1200" dirty="0">
                <a:solidFill>
                  <a:schemeClr val="tx1"/>
                </a:solidFill>
                <a:effectLst/>
                <a:latin typeface="+mn-lt"/>
                <a:ea typeface="+mn-ea"/>
                <a:cs typeface="+mn-cs"/>
              </a:rPr>
              <a:t>Stick to simple, rules-based strategies, align changes with your life goals, and let compounding do the heavy lifting. Thank you!</a:t>
            </a:r>
          </a:p>
          <a:p>
            <a:endParaRPr lang="en-US" dirty="0"/>
          </a:p>
        </p:txBody>
      </p:sp>
      <p:sp>
        <p:nvSpPr>
          <p:cNvPr id="4" name="Slide Number Placeholder 3"/>
          <p:cNvSpPr>
            <a:spLocks noGrp="1"/>
          </p:cNvSpPr>
          <p:nvPr>
            <p:ph type="sldNum" sz="quarter" idx="5"/>
          </p:nvPr>
        </p:nvSpPr>
        <p:spPr/>
        <p:txBody>
          <a:bodyPr/>
          <a:lstStyle/>
          <a:p>
            <a:fld id="{4EC40244-152C-4BC4-A11B-914C1976555E}" type="slidenum">
              <a:rPr lang="en-US" smtClean="0"/>
              <a:t>16</a:t>
            </a:fld>
            <a:endParaRPr lang="en-US"/>
          </a:p>
        </p:txBody>
      </p:sp>
    </p:spTree>
    <p:extLst>
      <p:ext uri="{BB962C8B-B14F-4D97-AF65-F5344CB8AC3E}">
        <p14:creationId xmlns:p14="http://schemas.microsoft.com/office/powerpoint/2010/main" val="2993012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2EE105-4F0B-0DCD-DC11-1229B06B135B}"/>
              </a:ext>
            </a:extLst>
          </p:cNvPr>
          <p:cNvSpPr>
            <a:spLocks noGrp="1"/>
          </p:cNvSpPr>
          <p:nvPr>
            <p:ph type="dt" sz="half" idx="10"/>
          </p:nvPr>
        </p:nvSpPr>
        <p:spPr/>
        <p:txBody>
          <a:bodyPr/>
          <a:lstStyle/>
          <a:p>
            <a:fld id="{FE9EFDF5-953D-4E02-B98D-544849298565}" type="datetimeFigureOut">
              <a:rPr lang="en-US" smtClean="0"/>
              <a:t>10/21/2026</a:t>
            </a:fld>
            <a:endParaRPr lang="en-US"/>
          </a:p>
        </p:txBody>
      </p:sp>
      <p:sp>
        <p:nvSpPr>
          <p:cNvPr id="3" name="Footer Placeholder 2">
            <a:extLst>
              <a:ext uri="{FF2B5EF4-FFF2-40B4-BE49-F238E27FC236}">
                <a16:creationId xmlns:a16="http://schemas.microsoft.com/office/drawing/2014/main" id="{A31312AB-3EA3-4C3A-67F6-6663C5AD01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3075E0-4A02-A97C-1DE5-5F8289B55996}"/>
              </a:ext>
            </a:extLst>
          </p:cNvPr>
          <p:cNvSpPr>
            <a:spLocks noGrp="1"/>
          </p:cNvSpPr>
          <p:nvPr>
            <p:ph type="sldNum" sz="quarter" idx="12"/>
          </p:nvPr>
        </p:nvSpPr>
        <p:spPr/>
        <p:txBody>
          <a:bodyPr/>
          <a:lstStyle/>
          <a:p>
            <a:fld id="{8F759CDA-08B2-49E1-9370-BE141B6091E5}" type="slidenum">
              <a:rPr lang="en-US" smtClean="0"/>
              <a:t>‹#›</a:t>
            </a:fld>
            <a:endParaRPr lang="en-US"/>
          </a:p>
        </p:txBody>
      </p:sp>
    </p:spTree>
    <p:extLst>
      <p:ext uri="{BB962C8B-B14F-4D97-AF65-F5344CB8AC3E}">
        <p14:creationId xmlns:p14="http://schemas.microsoft.com/office/powerpoint/2010/main" val="295175576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630C3F-4E16-00AC-1BD5-616D33BA47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CA49A9-4D88-82CA-CF79-1F3324754B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2C9DE7-6A2A-1D55-F85B-31840C2C2C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9EFDF5-953D-4E02-B98D-544849298565}" type="datetimeFigureOut">
              <a:rPr lang="en-US" smtClean="0"/>
              <a:t>10/21/2026</a:t>
            </a:fld>
            <a:endParaRPr lang="en-US"/>
          </a:p>
        </p:txBody>
      </p:sp>
      <p:sp>
        <p:nvSpPr>
          <p:cNvPr id="5" name="Footer Placeholder 4">
            <a:extLst>
              <a:ext uri="{FF2B5EF4-FFF2-40B4-BE49-F238E27FC236}">
                <a16:creationId xmlns:a16="http://schemas.microsoft.com/office/drawing/2014/main" id="{9E449617-DB03-8BDA-0731-879031E0FE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26E2BF4-E721-532D-05E7-5A0B47284D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F759CDA-08B2-49E1-9370-BE141B6091E5}" type="slidenum">
              <a:rPr lang="en-US" smtClean="0"/>
              <a:t>‹#›</a:t>
            </a:fld>
            <a:endParaRPr lang="en-US"/>
          </a:p>
        </p:txBody>
      </p:sp>
    </p:spTree>
    <p:extLst>
      <p:ext uri="{BB962C8B-B14F-4D97-AF65-F5344CB8AC3E}">
        <p14:creationId xmlns:p14="http://schemas.microsoft.com/office/powerpoint/2010/main" val="2762857093"/>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75C0F39-3B2E-6EE9-FAA8-6736D3BC56B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553D10-1A7C-E8B6-30DB-BE178D91D0B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FCFF6FA-AD52-99C7-2401-F674B20E93F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D3D928-72CA-8E18-3040-B333C11D80B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7A6B4D3-806F-D6D3-60E9-3D571E52278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572DF6-94FF-FA91-EF98-413B00616EE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AB05BC-6CEA-5444-2E07-3425485E984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5CD8A13-20FD-8927-FF30-C5616ED135F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27D353F-28E6-ADD9-F92C-CB0F06C6C39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C41625-ECC0-083B-EB6C-E4B5FEAA852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D4AF337-9360-6941-8806-B302E76F39E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EA501C-ED55-1AEA-6445-B4E2178F3C5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D257BD-4390-8274-F225-BB58B821925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D46826A-D0AE-93C6-EBAA-ABED51AA710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59787C9-3531-9309-201B-89DA7E733E6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0B6AA62-3196-F279-AC81-33BA68F641AA}"/>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499135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2618</Words>
  <Application>Microsoft Office PowerPoint</Application>
  <PresentationFormat>寬螢幕</PresentationFormat>
  <Paragraphs>86</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2026-09-12T12:55:03Z</dcterms:created>
  <dcterms:modified xsi:type="dcterms:W3CDTF">2026-10-21T02:39:46Z</dcterms:modified>
</cp:coreProperties>
</file>