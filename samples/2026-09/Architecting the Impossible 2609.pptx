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F9ABCA-C9F3-4B70-9B54-4E4258EAB90A}" v="27" dt="2026-09-20T04:10:30.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2650"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pc:chgData name="Lai, Wilson" userId="2840974a-0d84-4886-90a9-9a3ed79f3a48" providerId="ADAL" clId="{9F23B798-9E84-4552-BA63-E776E805C424}" dt="2026-09-20T04:11:04.388" v="73" actId="166"/>
      <pc:docMkLst>
        <pc:docMk/>
      </pc:docMkLst>
      <pc:sldChg chg="addSp delSp modSp mod modAnim modNotes modNotesTx">
        <pc:chgData name="Lai, Wilson" userId="2840974a-0d84-4886-90a9-9a3ed79f3a48" providerId="ADAL" clId="{9F23B798-9E84-4552-BA63-E776E805C424}" dt="2026-09-20T04:11:04.388" v="73" actId="166"/>
        <pc:sldMkLst>
          <pc:docMk/>
          <pc:sldMk cId="0" sldId="257"/>
        </pc:sldMkLst>
        <pc:spChg chg="add mod">
          <ac:chgData name="Lai, Wilson" userId="2840974a-0d84-4886-90a9-9a3ed79f3a48" providerId="ADAL" clId="{9F23B798-9E84-4552-BA63-E776E805C424}" dt="2026-09-19T06:30:47.570" v="10" actId="164"/>
          <ac:spMkLst>
            <pc:docMk/>
            <pc:sldMk cId="0" sldId="257"/>
            <ac:spMk id="5" creationId="{FFEC21AE-F823-FC08-3971-E362B45F93DF}"/>
          </ac:spMkLst>
        </pc:spChg>
        <pc:grpChg chg="add mod">
          <ac:chgData name="Lai, Wilson" userId="2840974a-0d84-4886-90a9-9a3ed79f3a48" providerId="ADAL" clId="{9F23B798-9E84-4552-BA63-E776E805C424}" dt="2026-09-19T06:30:47.570" v="10" actId="164"/>
          <ac:grpSpMkLst>
            <pc:docMk/>
            <pc:sldMk cId="0" sldId="257"/>
            <ac:grpSpMk id="6" creationId="{C9AE916D-A1EC-971C-D42C-ACC7F387BEFD}"/>
          </ac:grpSpMkLst>
        </pc:grpChg>
        <pc:picChg chg="del">
          <ac:chgData name="Lai, Wilson" userId="2840974a-0d84-4886-90a9-9a3ed79f3a48" providerId="ADAL" clId="{9F23B798-9E84-4552-BA63-E776E805C424}" dt="2026-09-19T06:20:25.870" v="0" actId="21"/>
          <ac:picMkLst>
            <pc:docMk/>
            <pc:sldMk cId="0" sldId="257"/>
            <ac:picMk id="2" creationId="{00000000-0000-0000-0000-000000000000}"/>
          </ac:picMkLst>
        </pc:picChg>
        <pc:picChg chg="add mod">
          <ac:chgData name="Lai, Wilson" userId="2840974a-0d84-4886-90a9-9a3ed79f3a48" providerId="ADAL" clId="{9F23B798-9E84-4552-BA63-E776E805C424}" dt="2026-09-19T06:30:47.570" v="10" actId="164"/>
          <ac:picMkLst>
            <pc:docMk/>
            <pc:sldMk cId="0" sldId="257"/>
            <ac:picMk id="2" creationId="{6EDBF308-139F-3182-19F6-0094D1DFB9DC}"/>
          </ac:picMkLst>
        </pc:picChg>
        <pc:picChg chg="add ord">
          <ac:chgData name="Lai, Wilson" userId="2840974a-0d84-4886-90a9-9a3ed79f3a48" providerId="ADAL" clId="{9F23B798-9E84-4552-BA63-E776E805C424}" dt="2026-09-20T04:11:04.388" v="73" actId="166"/>
          <ac:picMkLst>
            <pc:docMk/>
            <pc:sldMk cId="0" sldId="257"/>
            <ac:picMk id="4" creationId="{65AA7F58-AF4B-8733-9C16-CCF71C840946}"/>
          </ac:picMkLst>
        </pc:picChg>
      </pc:sldChg>
      <pc:sldChg chg="addSp delSp mod modNotes">
        <pc:chgData name="Lai, Wilson" userId="2840974a-0d84-4886-90a9-9a3ed79f3a48" providerId="ADAL" clId="{9F23B798-9E84-4552-BA63-E776E805C424}" dt="2026-09-20T04:10:30.544" v="72"/>
        <pc:sldMkLst>
          <pc:docMk/>
          <pc:sldMk cId="0" sldId="258"/>
        </pc:sldMkLst>
        <pc:picChg chg="del">
          <ac:chgData name="Lai, Wilson" userId="2840974a-0d84-4886-90a9-9a3ed79f3a48" providerId="ADAL" clId="{9F23B798-9E84-4552-BA63-E776E805C424}" dt="2026-09-19T11:44:47.053" v="11" actId="21"/>
          <ac:picMkLst>
            <pc:docMk/>
            <pc:sldMk cId="0" sldId="258"/>
            <ac:picMk id="2" creationId="{00000000-0000-0000-0000-000000000000}"/>
          </ac:picMkLst>
        </pc:picChg>
        <pc:picChg chg="add">
          <ac:chgData name="Lai, Wilson" userId="2840974a-0d84-4886-90a9-9a3ed79f3a48" providerId="ADAL" clId="{9F23B798-9E84-4552-BA63-E776E805C424}" dt="2026-09-19T11:45:00.835" v="12" actId="22"/>
          <ac:picMkLst>
            <pc:docMk/>
            <pc:sldMk cId="0" sldId="258"/>
            <ac:picMk id="4" creationId="{BE2C3E21-F310-745D-9A74-FD96D71C83A2}"/>
          </ac:picMkLst>
        </pc:picChg>
      </pc:sldChg>
      <pc:sldChg chg="addSp delSp mod modNotes modNotesTx">
        <pc:chgData name="Lai, Wilson" userId="2840974a-0d84-4886-90a9-9a3ed79f3a48" providerId="ADAL" clId="{9F23B798-9E84-4552-BA63-E776E805C424}" dt="2026-09-20T04:10:30.544" v="72"/>
        <pc:sldMkLst>
          <pc:docMk/>
          <pc:sldMk cId="0" sldId="259"/>
        </pc:sldMkLst>
        <pc:picChg chg="del">
          <ac:chgData name="Lai, Wilson" userId="2840974a-0d84-4886-90a9-9a3ed79f3a48" providerId="ADAL" clId="{9F23B798-9E84-4552-BA63-E776E805C424}" dt="2026-09-19T11:45:02.152" v="13" actId="21"/>
          <ac:picMkLst>
            <pc:docMk/>
            <pc:sldMk cId="0" sldId="259"/>
            <ac:picMk id="2" creationId="{00000000-0000-0000-0000-000000000000}"/>
          </ac:picMkLst>
        </pc:picChg>
        <pc:picChg chg="add">
          <ac:chgData name="Lai, Wilson" userId="2840974a-0d84-4886-90a9-9a3ed79f3a48" providerId="ADAL" clId="{9F23B798-9E84-4552-BA63-E776E805C424}" dt="2026-09-19T11:45:10.432" v="14" actId="22"/>
          <ac:picMkLst>
            <pc:docMk/>
            <pc:sldMk cId="0" sldId="259"/>
            <ac:picMk id="4" creationId="{D03FE67D-E206-6B30-B180-7D7132E0EB5B}"/>
          </ac:picMkLst>
        </pc:picChg>
      </pc:sldChg>
      <pc:sldChg chg="addSp delSp mod modNotes modNotesTx">
        <pc:chgData name="Lai, Wilson" userId="2840974a-0d84-4886-90a9-9a3ed79f3a48" providerId="ADAL" clId="{9F23B798-9E84-4552-BA63-E776E805C424}" dt="2026-09-20T04:10:30.544" v="72"/>
        <pc:sldMkLst>
          <pc:docMk/>
          <pc:sldMk cId="0" sldId="260"/>
        </pc:sldMkLst>
        <pc:picChg chg="del">
          <ac:chgData name="Lai, Wilson" userId="2840974a-0d84-4886-90a9-9a3ed79f3a48" providerId="ADAL" clId="{9F23B798-9E84-4552-BA63-E776E805C424}" dt="2026-09-19T11:45:13.002" v="15" actId="21"/>
          <ac:picMkLst>
            <pc:docMk/>
            <pc:sldMk cId="0" sldId="260"/>
            <ac:picMk id="2" creationId="{00000000-0000-0000-0000-000000000000}"/>
          </ac:picMkLst>
        </pc:picChg>
        <pc:picChg chg="add">
          <ac:chgData name="Lai, Wilson" userId="2840974a-0d84-4886-90a9-9a3ed79f3a48" providerId="ADAL" clId="{9F23B798-9E84-4552-BA63-E776E805C424}" dt="2026-09-19T11:45:30.411" v="16" actId="22"/>
          <ac:picMkLst>
            <pc:docMk/>
            <pc:sldMk cId="0" sldId="260"/>
            <ac:picMk id="4" creationId="{5E66F5B7-F821-A3D4-195C-EF14380C2D0B}"/>
          </ac:picMkLst>
        </pc:picChg>
      </pc:sldChg>
      <pc:sldChg chg="addSp delSp mod modNotes modNotesTx">
        <pc:chgData name="Lai, Wilson" userId="2840974a-0d84-4886-90a9-9a3ed79f3a48" providerId="ADAL" clId="{9F23B798-9E84-4552-BA63-E776E805C424}" dt="2026-09-20T04:10:30.544" v="72"/>
        <pc:sldMkLst>
          <pc:docMk/>
          <pc:sldMk cId="0" sldId="261"/>
        </pc:sldMkLst>
        <pc:picChg chg="del">
          <ac:chgData name="Lai, Wilson" userId="2840974a-0d84-4886-90a9-9a3ed79f3a48" providerId="ADAL" clId="{9F23B798-9E84-4552-BA63-E776E805C424}" dt="2026-09-19T11:45:32.383" v="17" actId="21"/>
          <ac:picMkLst>
            <pc:docMk/>
            <pc:sldMk cId="0" sldId="261"/>
            <ac:picMk id="2" creationId="{00000000-0000-0000-0000-000000000000}"/>
          </ac:picMkLst>
        </pc:picChg>
        <pc:picChg chg="add">
          <ac:chgData name="Lai, Wilson" userId="2840974a-0d84-4886-90a9-9a3ed79f3a48" providerId="ADAL" clId="{9F23B798-9E84-4552-BA63-E776E805C424}" dt="2026-09-19T11:45:44.340" v="18" actId="22"/>
          <ac:picMkLst>
            <pc:docMk/>
            <pc:sldMk cId="0" sldId="261"/>
            <ac:picMk id="4" creationId="{45BB3445-A925-A11E-0485-9FEC85E435B3}"/>
          </ac:picMkLst>
        </pc:picChg>
      </pc:sldChg>
      <pc:sldChg chg="addSp delSp modSp mod setBg modNotes modNotesTx">
        <pc:chgData name="Lai, Wilson" userId="2840974a-0d84-4886-90a9-9a3ed79f3a48" providerId="ADAL" clId="{9F23B798-9E84-4552-BA63-E776E805C424}" dt="2026-09-20T04:10:18.418" v="71"/>
        <pc:sldMkLst>
          <pc:docMk/>
          <pc:sldMk cId="0" sldId="262"/>
        </pc:sldMkLst>
        <pc:spChg chg="add del">
          <ac:chgData name="Lai, Wilson" userId="2840974a-0d84-4886-90a9-9a3ed79f3a48" providerId="ADAL" clId="{9F23B798-9E84-4552-BA63-E776E805C424}" dt="2026-09-19T11:46:00.005" v="22" actId="26606"/>
          <ac:spMkLst>
            <pc:docMk/>
            <pc:sldMk cId="0" sldId="262"/>
            <ac:spMk id="9" creationId="{2215C6C6-E45C-4179-9FC1-E8A4C1D47430}"/>
          </ac:spMkLst>
        </pc:spChg>
        <pc:spChg chg="add del">
          <ac:chgData name="Lai, Wilson" userId="2840974a-0d84-4886-90a9-9a3ed79f3a48" providerId="ADAL" clId="{9F23B798-9E84-4552-BA63-E776E805C424}" dt="2026-09-19T11:46:00.005" v="22" actId="26606"/>
          <ac:spMkLst>
            <pc:docMk/>
            <pc:sldMk cId="0" sldId="262"/>
            <ac:spMk id="15" creationId="{3776B14B-F2F4-4825-8DA8-8C7A0F2B3960}"/>
          </ac:spMkLst>
        </pc:spChg>
        <pc:grpChg chg="add del">
          <ac:chgData name="Lai, Wilson" userId="2840974a-0d84-4886-90a9-9a3ed79f3a48" providerId="ADAL" clId="{9F23B798-9E84-4552-BA63-E776E805C424}" dt="2026-09-19T11:46:00.005" v="22" actId="26606"/>
          <ac:grpSpMkLst>
            <pc:docMk/>
            <pc:sldMk cId="0" sldId="262"/>
            <ac:grpSpMk id="11" creationId="{5FE9FE4C-C9E0-4C54-8010-EA9D29CD4D59}"/>
          </ac:grpSpMkLst>
        </pc:grpChg>
        <pc:picChg chg="del">
          <ac:chgData name="Lai, Wilson" userId="2840974a-0d84-4886-90a9-9a3ed79f3a48" providerId="ADAL" clId="{9F23B798-9E84-4552-BA63-E776E805C424}" dt="2026-09-19T11:45:46.232" v="19" actId="21"/>
          <ac:picMkLst>
            <pc:docMk/>
            <pc:sldMk cId="0" sldId="262"/>
            <ac:picMk id="2" creationId="{00000000-0000-0000-0000-000000000000}"/>
          </ac:picMkLst>
        </pc:picChg>
        <pc:picChg chg="add mod">
          <ac:chgData name="Lai, Wilson" userId="2840974a-0d84-4886-90a9-9a3ed79f3a48" providerId="ADAL" clId="{9F23B798-9E84-4552-BA63-E776E805C424}" dt="2026-09-19T11:46:00.005" v="22" actId="26606"/>
          <ac:picMkLst>
            <pc:docMk/>
            <pc:sldMk cId="0" sldId="262"/>
            <ac:picMk id="4" creationId="{01DE2E0D-BD07-E5C5-4C30-E448E6EC67FD}"/>
          </ac:picMkLst>
        </pc:picChg>
      </pc:sldChg>
      <pc:sldChg chg="addSp delSp mod modNotes modNotesTx">
        <pc:chgData name="Lai, Wilson" userId="2840974a-0d84-4886-90a9-9a3ed79f3a48" providerId="ADAL" clId="{9F23B798-9E84-4552-BA63-E776E805C424}" dt="2026-09-20T04:10:30.544" v="72"/>
        <pc:sldMkLst>
          <pc:docMk/>
          <pc:sldMk cId="0" sldId="263"/>
        </pc:sldMkLst>
        <pc:picChg chg="del">
          <ac:chgData name="Lai, Wilson" userId="2840974a-0d84-4886-90a9-9a3ed79f3a48" providerId="ADAL" clId="{9F23B798-9E84-4552-BA63-E776E805C424}" dt="2026-09-20T03:58:39.653" v="44" actId="21"/>
          <ac:picMkLst>
            <pc:docMk/>
            <pc:sldMk cId="0" sldId="263"/>
            <ac:picMk id="2" creationId="{00000000-0000-0000-0000-000000000000}"/>
          </ac:picMkLst>
        </pc:picChg>
        <pc:picChg chg="add">
          <ac:chgData name="Lai, Wilson" userId="2840974a-0d84-4886-90a9-9a3ed79f3a48" providerId="ADAL" clId="{9F23B798-9E84-4552-BA63-E776E805C424}" dt="2026-09-20T03:58:58.646" v="45" actId="22"/>
          <ac:picMkLst>
            <pc:docMk/>
            <pc:sldMk cId="0" sldId="263"/>
            <ac:picMk id="4" creationId="{0B9FD2CC-6313-CBAD-72E7-45FB7E9F5E6A}"/>
          </ac:picMkLst>
        </pc:picChg>
      </pc:sldChg>
      <pc:sldChg chg="addSp delSp mod modNotes modNotesTx">
        <pc:chgData name="Lai, Wilson" userId="2840974a-0d84-4886-90a9-9a3ed79f3a48" providerId="ADAL" clId="{9F23B798-9E84-4552-BA63-E776E805C424}" dt="2026-09-20T04:10:18.418" v="71"/>
        <pc:sldMkLst>
          <pc:docMk/>
          <pc:sldMk cId="0" sldId="264"/>
        </pc:sldMkLst>
        <pc:picChg chg="del">
          <ac:chgData name="Lai, Wilson" userId="2840974a-0d84-4886-90a9-9a3ed79f3a48" providerId="ADAL" clId="{9F23B798-9E84-4552-BA63-E776E805C424}" dt="2026-09-19T11:46:05.967" v="23" actId="21"/>
          <ac:picMkLst>
            <pc:docMk/>
            <pc:sldMk cId="0" sldId="264"/>
            <ac:picMk id="2" creationId="{00000000-0000-0000-0000-000000000000}"/>
          </ac:picMkLst>
        </pc:picChg>
        <pc:picChg chg="add">
          <ac:chgData name="Lai, Wilson" userId="2840974a-0d84-4886-90a9-9a3ed79f3a48" providerId="ADAL" clId="{9F23B798-9E84-4552-BA63-E776E805C424}" dt="2026-09-19T11:46:14.271" v="24" actId="22"/>
          <ac:picMkLst>
            <pc:docMk/>
            <pc:sldMk cId="0" sldId="264"/>
            <ac:picMk id="4" creationId="{A4150CAF-E06B-48A1-3755-BF35F0B95D90}"/>
          </ac:picMkLst>
        </pc:picChg>
      </pc:sldChg>
      <pc:sldChg chg="addSp delSp mod modNotes modNotesTx">
        <pc:chgData name="Lai, Wilson" userId="2840974a-0d84-4886-90a9-9a3ed79f3a48" providerId="ADAL" clId="{9F23B798-9E84-4552-BA63-E776E805C424}" dt="2026-09-20T04:10:30.544" v="72"/>
        <pc:sldMkLst>
          <pc:docMk/>
          <pc:sldMk cId="0" sldId="265"/>
        </pc:sldMkLst>
        <pc:picChg chg="del">
          <ac:chgData name="Lai, Wilson" userId="2840974a-0d84-4886-90a9-9a3ed79f3a48" providerId="ADAL" clId="{9F23B798-9E84-4552-BA63-E776E805C424}" dt="2026-09-19T11:46:16.695" v="25" actId="21"/>
          <ac:picMkLst>
            <pc:docMk/>
            <pc:sldMk cId="0" sldId="265"/>
            <ac:picMk id="2" creationId="{00000000-0000-0000-0000-000000000000}"/>
          </ac:picMkLst>
        </pc:picChg>
        <pc:picChg chg="add">
          <ac:chgData name="Lai, Wilson" userId="2840974a-0d84-4886-90a9-9a3ed79f3a48" providerId="ADAL" clId="{9F23B798-9E84-4552-BA63-E776E805C424}" dt="2026-09-19T11:46:30.371" v="26" actId="22"/>
          <ac:picMkLst>
            <pc:docMk/>
            <pc:sldMk cId="0" sldId="265"/>
            <ac:picMk id="4" creationId="{A23ECE17-E628-0FF0-932A-58F2EC6718DF}"/>
          </ac:picMkLst>
        </pc:picChg>
      </pc:sldChg>
      <pc:sldChg chg="addSp delSp mod modNotes modNotesTx">
        <pc:chgData name="Lai, Wilson" userId="2840974a-0d84-4886-90a9-9a3ed79f3a48" providerId="ADAL" clId="{9F23B798-9E84-4552-BA63-E776E805C424}" dt="2026-09-20T04:10:30.544" v="72"/>
        <pc:sldMkLst>
          <pc:docMk/>
          <pc:sldMk cId="0" sldId="266"/>
        </pc:sldMkLst>
        <pc:picChg chg="del">
          <ac:chgData name="Lai, Wilson" userId="2840974a-0d84-4886-90a9-9a3ed79f3a48" providerId="ADAL" clId="{9F23B798-9E84-4552-BA63-E776E805C424}" dt="2026-09-19T11:46:34.540" v="27" actId="21"/>
          <ac:picMkLst>
            <pc:docMk/>
            <pc:sldMk cId="0" sldId="266"/>
            <ac:picMk id="2" creationId="{00000000-0000-0000-0000-000000000000}"/>
          </ac:picMkLst>
        </pc:picChg>
        <pc:picChg chg="add">
          <ac:chgData name="Lai, Wilson" userId="2840974a-0d84-4886-90a9-9a3ed79f3a48" providerId="ADAL" clId="{9F23B798-9E84-4552-BA63-E776E805C424}" dt="2026-09-19T11:46:41.379" v="28" actId="22"/>
          <ac:picMkLst>
            <pc:docMk/>
            <pc:sldMk cId="0" sldId="266"/>
            <ac:picMk id="4" creationId="{1575B523-5759-2412-325A-FA4561B4D0E1}"/>
          </ac:picMkLst>
        </pc:picChg>
      </pc:sldChg>
      <pc:sldChg chg="addSp delSp mod modNotes">
        <pc:chgData name="Lai, Wilson" userId="2840974a-0d84-4886-90a9-9a3ed79f3a48" providerId="ADAL" clId="{9F23B798-9E84-4552-BA63-E776E805C424}" dt="2026-09-20T04:10:30.544" v="72"/>
        <pc:sldMkLst>
          <pc:docMk/>
          <pc:sldMk cId="0" sldId="267"/>
        </pc:sldMkLst>
        <pc:picChg chg="del">
          <ac:chgData name="Lai, Wilson" userId="2840974a-0d84-4886-90a9-9a3ed79f3a48" providerId="ADAL" clId="{9F23B798-9E84-4552-BA63-E776E805C424}" dt="2026-09-19T11:46:42.945" v="29" actId="21"/>
          <ac:picMkLst>
            <pc:docMk/>
            <pc:sldMk cId="0" sldId="267"/>
            <ac:picMk id="2" creationId="{00000000-0000-0000-0000-000000000000}"/>
          </ac:picMkLst>
        </pc:picChg>
        <pc:picChg chg="add">
          <ac:chgData name="Lai, Wilson" userId="2840974a-0d84-4886-90a9-9a3ed79f3a48" providerId="ADAL" clId="{9F23B798-9E84-4552-BA63-E776E805C424}" dt="2026-09-19T11:46:52.034" v="30" actId="22"/>
          <ac:picMkLst>
            <pc:docMk/>
            <pc:sldMk cId="0" sldId="267"/>
            <ac:picMk id="4" creationId="{C736E186-607F-288A-E444-9BD3069125A1}"/>
          </ac:picMkLst>
        </pc:picChg>
      </pc:sldChg>
      <pc:sldChg chg="addSp delSp mod modNotes modNotesTx">
        <pc:chgData name="Lai, Wilson" userId="2840974a-0d84-4886-90a9-9a3ed79f3a48" providerId="ADAL" clId="{9F23B798-9E84-4552-BA63-E776E805C424}" dt="2026-09-20T04:10:30.544" v="72"/>
        <pc:sldMkLst>
          <pc:docMk/>
          <pc:sldMk cId="0" sldId="268"/>
        </pc:sldMkLst>
        <pc:picChg chg="del">
          <ac:chgData name="Lai, Wilson" userId="2840974a-0d84-4886-90a9-9a3ed79f3a48" providerId="ADAL" clId="{9F23B798-9E84-4552-BA63-E776E805C424}" dt="2026-09-19T11:46:53.294" v="31" actId="21"/>
          <ac:picMkLst>
            <pc:docMk/>
            <pc:sldMk cId="0" sldId="268"/>
            <ac:picMk id="2" creationId="{00000000-0000-0000-0000-000000000000}"/>
          </ac:picMkLst>
        </pc:picChg>
        <pc:picChg chg="add">
          <ac:chgData name="Lai, Wilson" userId="2840974a-0d84-4886-90a9-9a3ed79f3a48" providerId="ADAL" clId="{9F23B798-9E84-4552-BA63-E776E805C424}" dt="2026-09-19T11:47:02.126" v="32" actId="22"/>
          <ac:picMkLst>
            <pc:docMk/>
            <pc:sldMk cId="0" sldId="268"/>
            <ac:picMk id="4" creationId="{1681CA39-498C-6E63-6350-8B2FC84CDA9F}"/>
          </ac:picMkLst>
        </pc:picChg>
      </pc:sldChg>
      <pc:sldChg chg="addSp delSp mod modNotes modNotesTx">
        <pc:chgData name="Lai, Wilson" userId="2840974a-0d84-4886-90a9-9a3ed79f3a48" providerId="ADAL" clId="{9F23B798-9E84-4552-BA63-E776E805C424}" dt="2026-09-20T04:10:30.544" v="72"/>
        <pc:sldMkLst>
          <pc:docMk/>
          <pc:sldMk cId="0" sldId="269"/>
        </pc:sldMkLst>
        <pc:picChg chg="del">
          <ac:chgData name="Lai, Wilson" userId="2840974a-0d84-4886-90a9-9a3ed79f3a48" providerId="ADAL" clId="{9F23B798-9E84-4552-BA63-E776E805C424}" dt="2026-09-19T11:47:03.285" v="33" actId="21"/>
          <ac:picMkLst>
            <pc:docMk/>
            <pc:sldMk cId="0" sldId="269"/>
            <ac:picMk id="2" creationId="{00000000-0000-0000-0000-000000000000}"/>
          </ac:picMkLst>
        </pc:picChg>
        <pc:picChg chg="add">
          <ac:chgData name="Lai, Wilson" userId="2840974a-0d84-4886-90a9-9a3ed79f3a48" providerId="ADAL" clId="{9F23B798-9E84-4552-BA63-E776E805C424}" dt="2026-09-19T11:47:11.286" v="34" actId="22"/>
          <ac:picMkLst>
            <pc:docMk/>
            <pc:sldMk cId="0" sldId="269"/>
            <ac:picMk id="4" creationId="{0B5FFDE8-23CF-0926-4E2F-EC2CD2A0812E}"/>
          </ac:picMkLst>
        </pc:picChg>
      </pc:sldChg>
      <pc:sldChg chg="addSp delSp mod modNotes">
        <pc:chgData name="Lai, Wilson" userId="2840974a-0d84-4886-90a9-9a3ed79f3a48" providerId="ADAL" clId="{9F23B798-9E84-4552-BA63-E776E805C424}" dt="2026-09-20T04:10:30.544" v="72"/>
        <pc:sldMkLst>
          <pc:docMk/>
          <pc:sldMk cId="0" sldId="270"/>
        </pc:sldMkLst>
        <pc:picChg chg="del">
          <ac:chgData name="Lai, Wilson" userId="2840974a-0d84-4886-90a9-9a3ed79f3a48" providerId="ADAL" clId="{9F23B798-9E84-4552-BA63-E776E805C424}" dt="2026-09-19T11:47:12.600" v="35" actId="21"/>
          <ac:picMkLst>
            <pc:docMk/>
            <pc:sldMk cId="0" sldId="270"/>
            <ac:picMk id="2" creationId="{00000000-0000-0000-0000-000000000000}"/>
          </ac:picMkLst>
        </pc:picChg>
        <pc:picChg chg="add">
          <ac:chgData name="Lai, Wilson" userId="2840974a-0d84-4886-90a9-9a3ed79f3a48" providerId="ADAL" clId="{9F23B798-9E84-4552-BA63-E776E805C424}" dt="2026-09-19T11:47:22.773" v="36" actId="22"/>
          <ac:picMkLst>
            <pc:docMk/>
            <pc:sldMk cId="0" sldId="270"/>
            <ac:picMk id="4" creationId="{20987299-99C9-06A9-EFB5-4EEED49E1FB5}"/>
          </ac:picMkLst>
        </pc:picChg>
      </pc:sldChg>
      <pc:sldChg chg="addSp delSp modSp mod modNotes modNotesTx">
        <pc:chgData name="Lai, Wilson" userId="2840974a-0d84-4886-90a9-9a3ed79f3a48" providerId="ADAL" clId="{9F23B798-9E84-4552-BA63-E776E805C424}" dt="2026-09-20T04:10:18.418" v="71"/>
        <pc:sldMkLst>
          <pc:docMk/>
          <pc:sldMk cId="0" sldId="271"/>
        </pc:sldMkLst>
        <pc:spChg chg="add del mod">
          <ac:chgData name="Lai, Wilson" userId="2840974a-0d84-4886-90a9-9a3ed79f3a48" providerId="ADAL" clId="{9F23B798-9E84-4552-BA63-E776E805C424}" dt="2026-09-20T04:09:32.789" v="64" actId="22"/>
          <ac:spMkLst>
            <pc:docMk/>
            <pc:sldMk cId="0" sldId="271"/>
            <ac:spMk id="3" creationId="{8E21CD29-0187-C89B-31F4-A97F629EB18F}"/>
          </ac:spMkLst>
        </pc:spChg>
        <pc:picChg chg="del">
          <ac:chgData name="Lai, Wilson" userId="2840974a-0d84-4886-90a9-9a3ed79f3a48" providerId="ADAL" clId="{9F23B798-9E84-4552-BA63-E776E805C424}" dt="2026-09-19T11:47:37.306" v="39" actId="21"/>
          <ac:picMkLst>
            <pc:docMk/>
            <pc:sldMk cId="0" sldId="271"/>
            <ac:picMk id="2" creationId="{00000000-0000-0000-0000-000000000000}"/>
          </ac:picMkLst>
        </pc:picChg>
        <pc:picChg chg="add mod">
          <ac:chgData name="Lai, Wilson" userId="2840974a-0d84-4886-90a9-9a3ed79f3a48" providerId="ADAL" clId="{9F23B798-9E84-4552-BA63-E776E805C424}" dt="2026-09-19T11:47:48.250" v="41" actId="1076"/>
          <ac:picMkLst>
            <pc:docMk/>
            <pc:sldMk cId="0" sldId="271"/>
            <ac:picMk id="4" creationId="{466CE4F2-75C0-986E-E4A0-18002562177D}"/>
          </ac:picMkLst>
        </pc:picChg>
      </pc:sldChg>
      <pc:sldChg chg="addSp delSp mod ord modNotes modNotesTx">
        <pc:chgData name="Lai, Wilson" userId="2840974a-0d84-4886-90a9-9a3ed79f3a48" providerId="ADAL" clId="{9F23B798-9E84-4552-BA63-E776E805C424}" dt="2026-09-20T04:10:18.418" v="71"/>
        <pc:sldMkLst>
          <pc:docMk/>
          <pc:sldMk cId="1475307292" sldId="272"/>
        </pc:sldMkLst>
        <pc:picChg chg="del">
          <ac:chgData name="Lai, Wilson" userId="2840974a-0d84-4886-90a9-9a3ed79f3a48" providerId="ADAL" clId="{9F23B798-9E84-4552-BA63-E776E805C424}" dt="2026-09-19T11:47:27.163" v="37" actId="21"/>
          <ac:picMkLst>
            <pc:docMk/>
            <pc:sldMk cId="1475307292" sldId="272"/>
            <ac:picMk id="3" creationId="{5A97A916-0F79-EA4E-964A-58492E274C7C}"/>
          </ac:picMkLst>
        </pc:picChg>
        <pc:picChg chg="add">
          <ac:chgData name="Lai, Wilson" userId="2840974a-0d84-4886-90a9-9a3ed79f3a48" providerId="ADAL" clId="{9F23B798-9E84-4552-BA63-E776E805C424}" dt="2026-09-19T11:47:34.955" v="38" actId="22"/>
          <ac:picMkLst>
            <pc:docMk/>
            <pc:sldMk cId="1475307292" sldId="272"/>
            <ac:picMk id="4" creationId="{2C79DBA1-A9FB-80D7-9DA3-EFA54FE4C75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8C2065-D8E4-4E84-AD62-4B8E8972D7ED}"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479DD4-03B6-4019-887E-EA3E2A78E956}" type="slidenum">
              <a:rPr lang="en-US" smtClean="0"/>
              <a:t>‹#›</a:t>
            </a:fld>
            <a:endParaRPr lang="en-US"/>
          </a:p>
        </p:txBody>
      </p:sp>
    </p:spTree>
    <p:extLst>
      <p:ext uri="{BB962C8B-B14F-4D97-AF65-F5344CB8AC3E}">
        <p14:creationId xmlns:p14="http://schemas.microsoft.com/office/powerpoint/2010/main" val="4132371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taking a deep dive inside Google Research to explore how we transition technologies from the realm of the seemingly "impossible" into the foundation of everyday life. </a:t>
            </a:r>
          </a:p>
          <a:p>
            <a:r>
              <a:rPr lang="en-US" sz="1200" kern="1200" dirty="0">
                <a:solidFill>
                  <a:schemeClr val="tx1"/>
                </a:solidFill>
                <a:effectLst/>
                <a:latin typeface="+mn-lt"/>
                <a:ea typeface="+mn-ea"/>
                <a:cs typeface="+mn-cs"/>
              </a:rPr>
              <a:t>When Google was founded, it started with a single research paper. Today, Google Research operates on a vast spectrum—from the microscopic level of the cell up to planetary-scale modeling, and from foundational machine learning algorithms all the way to quantum computing. We are the team behind breakthroughs like the Transformer architecture—the paper </a:t>
            </a:r>
            <a:r>
              <a:rPr lang="en-US" sz="1200" i="1" kern="1200" dirty="0">
                <a:solidFill>
                  <a:schemeClr val="tx1"/>
                </a:solidFill>
                <a:effectLst/>
                <a:latin typeface="+mn-lt"/>
                <a:ea typeface="+mn-ea"/>
                <a:cs typeface="+mn-cs"/>
              </a:rPr>
              <a:t>Attention Is All You Need</a:t>
            </a:r>
            <a:r>
              <a:rPr lang="en-US" sz="1200" kern="1200" dirty="0">
                <a:solidFill>
                  <a:schemeClr val="tx1"/>
                </a:solidFill>
                <a:effectLst/>
                <a:latin typeface="+mn-lt"/>
                <a:ea typeface="+mn-ea"/>
                <a:cs typeface="+mn-cs"/>
              </a:rPr>
              <a:t>, which sparked the generative AI revolution—as well as early conversational AI like Google Duplex, global flood warning systems, and quantum processors. </a:t>
            </a:r>
          </a:p>
          <a:p>
            <a:r>
              <a:rPr lang="en-US" sz="1200" kern="1200" dirty="0">
                <a:solidFill>
                  <a:schemeClr val="tx1"/>
                </a:solidFill>
                <a:effectLst/>
                <a:latin typeface="+mn-lt"/>
                <a:ea typeface="+mn-ea"/>
                <a:cs typeface="+mn-cs"/>
              </a:rPr>
              <a:t>We find ourselves in what can truly be described as the "Golden Age of Research." Never before have scientists and engineers had the ability to imagine a future and then bring it into reality with the speed and global scope that we can achieve today. </a:t>
            </a:r>
          </a:p>
          <a:p>
            <a:r>
              <a:rPr lang="en-US" sz="1200" kern="1200" dirty="0">
                <a:solidFill>
                  <a:schemeClr val="tx1"/>
                </a:solidFill>
                <a:effectLst/>
                <a:latin typeface="+mn-lt"/>
                <a:ea typeface="+mn-ea"/>
                <a:cs typeface="+mn-cs"/>
              </a:rPr>
              <a:t>Throughout this presentation, we will discuss how AI is evolving from a discrete tool into a continuous background utility—what we call </a:t>
            </a:r>
            <a:r>
              <a:rPr lang="en-US" sz="1200" b="1" kern="1200" dirty="0">
                <a:solidFill>
                  <a:schemeClr val="tx1"/>
                </a:solidFill>
                <a:effectLst/>
                <a:latin typeface="+mn-lt"/>
                <a:ea typeface="+mn-ea"/>
                <a:cs typeface="+mn-cs"/>
              </a:rPr>
              <a:t>Ambient Intelligence</a:t>
            </a:r>
            <a:r>
              <a:rPr lang="en-US" sz="1200" kern="1200" dirty="0">
                <a:solidFill>
                  <a:schemeClr val="tx1"/>
                </a:solidFill>
                <a:effectLst/>
                <a:latin typeface="+mn-lt"/>
                <a:ea typeface="+mn-ea"/>
                <a:cs typeface="+mn-cs"/>
              </a:rPr>
              <a:t>. We will look at how AI is accelerating the scientific method itself, turning researchers into polymaths, and how quantum computing will bridge with neural networks to solve humanity’s most complex challenges. Let's begin. </a:t>
            </a:r>
          </a:p>
          <a:p>
            <a:endParaRPr lang="en-US" dirty="0"/>
          </a:p>
          <a:p>
            <a:endParaRPr lang="en-US" dirty="0"/>
          </a:p>
          <a:p>
            <a:endParaRPr lang="en-US" dirty="0"/>
          </a:p>
          <a:p>
            <a:r>
              <a:rPr lang="en-US" dirty="0"/>
              <a:t>https://www.youtube.com/watch?v=ggPWZ34gGaY</a:t>
            </a:r>
          </a:p>
        </p:txBody>
      </p:sp>
      <p:sp>
        <p:nvSpPr>
          <p:cNvPr id="4" name="Slide Number Placeholder 3"/>
          <p:cNvSpPr>
            <a:spLocks noGrp="1"/>
          </p:cNvSpPr>
          <p:nvPr>
            <p:ph type="sldNum" sz="quarter" idx="5"/>
          </p:nvPr>
        </p:nvSpPr>
        <p:spPr/>
        <p:txBody>
          <a:bodyPr/>
          <a:lstStyle/>
          <a:p>
            <a:fld id="{A6479DD4-03B6-4019-887E-EA3E2A78E956}" type="slidenum">
              <a:rPr lang="en-US" smtClean="0"/>
              <a:t>1</a:t>
            </a:fld>
            <a:endParaRPr lang="en-US"/>
          </a:p>
        </p:txBody>
      </p:sp>
    </p:spTree>
    <p:extLst>
      <p:ext uri="{BB962C8B-B14F-4D97-AF65-F5344CB8AC3E}">
        <p14:creationId xmlns:p14="http://schemas.microsoft.com/office/powerpoint/2010/main" val="3727749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Arthur C. Clarke famously stated that </a:t>
            </a:r>
            <a:r>
              <a:rPr lang="en-US" sz="1200" i="1" kern="1200" dirty="0">
                <a:solidFill>
                  <a:schemeClr val="tx1"/>
                </a:solidFill>
                <a:effectLst/>
                <a:latin typeface="+mn-lt"/>
                <a:ea typeface="+mn-ea"/>
                <a:cs typeface="+mn-cs"/>
              </a:rPr>
              <a:t>"Any sufficiently advanced technology is indistinguishable from magic."</a:t>
            </a:r>
            <a:r>
              <a:rPr lang="en-US" sz="1200" kern="1200" dirty="0">
                <a:solidFill>
                  <a:schemeClr val="tx1"/>
                </a:solidFill>
                <a:effectLst/>
                <a:latin typeface="+mn-lt"/>
                <a:ea typeface="+mn-ea"/>
                <a:cs typeface="+mn-cs"/>
              </a:rPr>
              <a:t> But as Yossi Matias points out, there is a second half to that truth: once a technology works reliably and continuously, it ceases to feel like magic—it becomes invisible. </a:t>
            </a:r>
          </a:p>
          <a:p>
            <a:r>
              <a:rPr lang="en-US" sz="1200" kern="1200" dirty="0">
                <a:solidFill>
                  <a:schemeClr val="tx1"/>
                </a:solidFill>
                <a:effectLst/>
                <a:latin typeface="+mn-lt"/>
                <a:ea typeface="+mn-ea"/>
                <a:cs typeface="+mn-cs"/>
              </a:rPr>
              <a:t>Think about how we interact with technology today. A decade ago, typing a question into a search engine and receiving instant answers felt miraculous. Today, "Googling it" is second nature. Similarly, when you plug your smartphone into a wall outlet, you don't ponder the grid or the physics of alternating current—you simply assume the power is there. </a:t>
            </a:r>
          </a:p>
          <a:p>
            <a:r>
              <a:rPr lang="en-US" sz="1200" kern="1200" dirty="0">
                <a:solidFill>
                  <a:schemeClr val="tx1"/>
                </a:solidFill>
                <a:effectLst/>
                <a:latin typeface="+mn-lt"/>
                <a:ea typeface="+mn-ea"/>
                <a:cs typeface="+mn-cs"/>
              </a:rPr>
              <a:t>We are now entering the era of </a:t>
            </a:r>
            <a:r>
              <a:rPr lang="en-US" sz="1200" b="1" kern="1200" dirty="0">
                <a:solidFill>
                  <a:schemeClr val="tx1"/>
                </a:solidFill>
                <a:effectLst/>
                <a:latin typeface="+mn-lt"/>
                <a:ea typeface="+mn-ea"/>
                <a:cs typeface="+mn-cs"/>
              </a:rPr>
              <a:t>Ambient Intelligence</a:t>
            </a:r>
            <a:r>
              <a:rPr lang="en-US" sz="1200" kern="1200" dirty="0">
                <a:solidFill>
                  <a:schemeClr val="tx1"/>
                </a:solidFill>
                <a:effectLst/>
                <a:latin typeface="+mn-lt"/>
                <a:ea typeface="+mn-ea"/>
                <a:cs typeface="+mn-cs"/>
              </a:rPr>
              <a:t>. AI is undergoing a fundamental paradigm shift. It is no longer a discrete application or a destination tool that you consciously open on a screen. Instead, it is becoming a continuous, atmospheric layer running in the background—streaming intelligence just like electricity or water. </a:t>
            </a:r>
          </a:p>
          <a:p>
            <a:r>
              <a:rPr lang="en-US" sz="1200" kern="1200" dirty="0">
                <a:solidFill>
                  <a:schemeClr val="tx1"/>
                </a:solidFill>
                <a:effectLst/>
                <a:latin typeface="+mn-lt"/>
                <a:ea typeface="+mn-ea"/>
                <a:cs typeface="+mn-cs"/>
              </a:rPr>
              <a:t>When intelligence becomes ambient, the barrier to asking complex questions vanishes. Users no longer need to figure out how to query a system or format their intent; the ambient layer understands context, anticipates needs, and delivers answers seamlessly across devices and modalities. As we elevate this baseline, intelligence is taken for granted, allowing humanity to focus on the next set of higher-level challenges. </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2</a:t>
            </a:fld>
            <a:endParaRPr lang="en-US"/>
          </a:p>
        </p:txBody>
      </p:sp>
    </p:spTree>
    <p:extLst>
      <p:ext uri="{BB962C8B-B14F-4D97-AF65-F5344CB8AC3E}">
        <p14:creationId xmlns:p14="http://schemas.microsoft.com/office/powerpoint/2010/main" val="3719272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systematically build this ambient future? At Google Research, we drive progress through what we call </a:t>
            </a:r>
            <a:r>
              <a:rPr lang="en-US" sz="1200" b="1" kern="1200" dirty="0">
                <a:solidFill>
                  <a:schemeClr val="tx1"/>
                </a:solidFill>
                <a:effectLst/>
                <a:latin typeface="+mn-lt"/>
                <a:ea typeface="+mn-ea"/>
                <a:cs typeface="+mn-cs"/>
              </a:rPr>
              <a:t>"The Magic Cycle of Research."</a:t>
            </a:r>
            <a:r>
              <a:rPr lang="en-US" sz="1200" kern="1200" dirty="0">
                <a:solidFill>
                  <a:schemeClr val="tx1"/>
                </a:solidFill>
                <a:effectLst/>
                <a:latin typeface="+mn-lt"/>
                <a:ea typeface="+mn-ea"/>
                <a:cs typeface="+mn-cs"/>
              </a:rPr>
              <a:t> This is a continuous, four-stage feedback loop that powers all of our breakthroughs. </a:t>
            </a:r>
          </a:p>
          <a:p>
            <a:pPr marL="228600" lvl="0" indent="-228600">
              <a:buFont typeface="+mj-lt"/>
              <a:buAutoNum type="arabicPeriod"/>
            </a:pPr>
            <a:r>
              <a:rPr lang="en-US" sz="1200" b="1" kern="1200" dirty="0">
                <a:solidFill>
                  <a:schemeClr val="tx1"/>
                </a:solidFill>
                <a:effectLst/>
                <a:latin typeface="+mn-lt"/>
                <a:ea typeface="+mn-ea"/>
                <a:cs typeface="+mn-cs"/>
              </a:rPr>
              <a:t>Target the Impossible:</a:t>
            </a:r>
            <a:r>
              <a:rPr lang="en-US" sz="1200" kern="1200" dirty="0">
                <a:solidFill>
                  <a:schemeClr val="tx1"/>
                </a:solidFill>
                <a:effectLst/>
                <a:latin typeface="+mn-lt"/>
                <a:ea typeface="+mn-ea"/>
                <a:cs typeface="+mn-cs"/>
              </a:rPr>
              <a:t> We begin by identifying a high-impact problem in society, healthcare, or computing that is widely assumed to be unsolvable due to data limitations or human bandwidth constraints. </a:t>
            </a:r>
          </a:p>
          <a:p>
            <a:pPr marL="228600" lvl="0" indent="-228600">
              <a:buFont typeface="+mj-lt"/>
              <a:buAutoNum type="arabicPeriod"/>
            </a:pPr>
            <a:r>
              <a:rPr lang="en-US" sz="1200" b="1" kern="1200" dirty="0">
                <a:solidFill>
                  <a:schemeClr val="tx1"/>
                </a:solidFill>
                <a:effectLst/>
                <a:latin typeface="+mn-lt"/>
                <a:ea typeface="+mn-ea"/>
                <a:cs typeface="+mn-cs"/>
              </a:rPr>
              <a:t>AI Acceleration:</a:t>
            </a:r>
            <a:r>
              <a:rPr lang="en-US" sz="1200" kern="1200" dirty="0">
                <a:solidFill>
                  <a:schemeClr val="tx1"/>
                </a:solidFill>
                <a:effectLst/>
                <a:latin typeface="+mn-lt"/>
                <a:ea typeface="+mn-ea"/>
                <a:cs typeface="+mn-cs"/>
              </a:rPr>
              <a:t> We leverage our current best AI models and algorithmic innovations to drastically speed up research and experimentation. </a:t>
            </a:r>
          </a:p>
          <a:p>
            <a:pPr marL="228600" lvl="0" indent="-228600">
              <a:buFont typeface="+mj-lt"/>
              <a:buAutoNum type="arabicPeriod"/>
            </a:pPr>
            <a:r>
              <a:rPr lang="en-US" sz="1200" b="1" kern="1200" dirty="0">
                <a:solidFill>
                  <a:schemeClr val="tx1"/>
                </a:solidFill>
                <a:effectLst/>
                <a:latin typeface="+mn-lt"/>
                <a:ea typeface="+mn-ea"/>
                <a:cs typeface="+mn-cs"/>
              </a:rPr>
              <a:t>Baseline Reality:</a:t>
            </a:r>
            <a:r>
              <a:rPr lang="en-US" sz="1200" kern="1200" dirty="0">
                <a:solidFill>
                  <a:schemeClr val="tx1"/>
                </a:solidFill>
                <a:effectLst/>
                <a:latin typeface="+mn-lt"/>
                <a:ea typeface="+mn-ea"/>
                <a:cs typeface="+mn-cs"/>
              </a:rPr>
              <a:t> Once we achieve a research breakthrough, we don't leave it in the lab. We deploy it into production across our platforms to make it a global "baseline reality" for billions of people. </a:t>
            </a:r>
          </a:p>
          <a:p>
            <a:pPr marL="228600" lvl="0" indent="-228600">
              <a:buFont typeface="+mj-lt"/>
              <a:buAutoNum type="arabicPeriod"/>
            </a:pPr>
            <a:r>
              <a:rPr lang="en-US" sz="1200" b="1" kern="1200" dirty="0">
                <a:solidFill>
                  <a:schemeClr val="tx1"/>
                </a:solidFill>
                <a:effectLst/>
                <a:latin typeface="+mn-lt"/>
                <a:ea typeface="+mn-ea"/>
                <a:cs typeface="+mn-cs"/>
              </a:rPr>
              <a:t>Discover the Next Wall:</a:t>
            </a:r>
            <a:r>
              <a:rPr lang="en-US" sz="1200" kern="1200" dirty="0">
                <a:solidFill>
                  <a:schemeClr val="tx1"/>
                </a:solidFill>
                <a:effectLst/>
                <a:latin typeface="+mn-lt"/>
                <a:ea typeface="+mn-ea"/>
                <a:cs typeface="+mn-cs"/>
              </a:rPr>
              <a:t> The moment a breakthrough becomes the new baseline, it exposes new limits, open questions, and higher-level challenges. We hit the next wall, refine our questions, and begin the cycle again. </a:t>
            </a:r>
          </a:p>
          <a:p>
            <a:r>
              <a:rPr lang="en-US" sz="1200" kern="1200" dirty="0">
                <a:solidFill>
                  <a:schemeClr val="tx1"/>
                </a:solidFill>
                <a:effectLst/>
                <a:latin typeface="+mn-lt"/>
                <a:ea typeface="+mn-ea"/>
                <a:cs typeface="+mn-cs"/>
              </a:rPr>
              <a:t>What makes this present moment a "golden age" is that AI is no longer just the output of the cycle—it has become the engine accelerating the cycle itself. We are using AI to build better AI, optimize hardware, write software, and formulate scientific hypotheses. As this recursive loop tightens, the time required to move from an "impossible" concept to a scaled reality shrinks from decades to years, and from years to days. </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3</a:t>
            </a:fld>
            <a:endParaRPr lang="en-US"/>
          </a:p>
        </p:txBody>
      </p:sp>
    </p:spTree>
    <p:extLst>
      <p:ext uri="{BB962C8B-B14F-4D97-AF65-F5344CB8AC3E}">
        <p14:creationId xmlns:p14="http://schemas.microsoft.com/office/powerpoint/2010/main" val="2109915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key manifestations of Ambient Intelligence in user experience is </a:t>
            </a:r>
            <a:r>
              <a:rPr lang="en-US" sz="1200" b="1" kern="1200" dirty="0">
                <a:solidFill>
                  <a:schemeClr val="tx1"/>
                </a:solidFill>
                <a:effectLst/>
                <a:latin typeface="+mn-lt"/>
                <a:ea typeface="+mn-ea"/>
                <a:cs typeface="+mn-cs"/>
              </a:rPr>
              <a:t>Generative UI (</a:t>
            </a:r>
            <a:r>
              <a:rPr lang="en-US" sz="1200" b="1" kern="1200" dirty="0" err="1">
                <a:solidFill>
                  <a:schemeClr val="tx1"/>
                </a:solidFill>
                <a:effectLst/>
                <a:latin typeface="+mn-lt"/>
                <a:ea typeface="+mn-ea"/>
                <a:cs typeface="+mn-cs"/>
              </a:rPr>
              <a:t>GenUI</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Historically, digital interfaces have been static. Software designers built fixed layouts, and every user, regardless of their background, age, or learning style, saw the exact same screen. </a:t>
            </a:r>
          </a:p>
          <a:p>
            <a:r>
              <a:rPr lang="en-US" sz="1200" kern="1200" dirty="0">
                <a:solidFill>
                  <a:schemeClr val="tx1"/>
                </a:solidFill>
                <a:effectLst/>
                <a:latin typeface="+mn-lt"/>
                <a:ea typeface="+mn-ea"/>
                <a:cs typeface="+mn-cs"/>
              </a:rPr>
              <a:t>Generative UI turns this paradigm on its head. Information is no longer static; the interface itself is generated dynamically in real-time to match the user's explicit prompt, implicit context, device, and personal learning modality. </a:t>
            </a:r>
          </a:p>
          <a:p>
            <a:r>
              <a:rPr lang="en-US" sz="1200" kern="1200" dirty="0">
                <a:solidFill>
                  <a:schemeClr val="tx1"/>
                </a:solidFill>
                <a:effectLst/>
                <a:latin typeface="+mn-lt"/>
                <a:ea typeface="+mn-ea"/>
                <a:cs typeface="+mn-cs"/>
              </a:rPr>
              <a:t>Look at the example on this slide for the prompt </a:t>
            </a:r>
            <a:r>
              <a:rPr lang="en-US" sz="1200" i="1" kern="1200" dirty="0">
                <a:solidFill>
                  <a:schemeClr val="tx1"/>
                </a:solidFill>
                <a:effectLst/>
                <a:latin typeface="+mn-lt"/>
                <a:ea typeface="+mn-ea"/>
                <a:cs typeface="+mn-cs"/>
              </a:rPr>
              <a:t>"Explain the quadratic equation."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 a student who prefers abstract mathematical notation, </a:t>
            </a:r>
            <a:r>
              <a:rPr lang="en-US" sz="1200" kern="1200" dirty="0" err="1">
                <a:solidFill>
                  <a:schemeClr val="tx1"/>
                </a:solidFill>
                <a:effectLst/>
                <a:latin typeface="+mn-lt"/>
                <a:ea typeface="+mn-ea"/>
                <a:cs typeface="+mn-cs"/>
              </a:rPr>
              <a:t>GenUI</a:t>
            </a:r>
            <a:r>
              <a:rPr lang="en-US" sz="1200" kern="1200" dirty="0">
                <a:solidFill>
                  <a:schemeClr val="tx1"/>
                </a:solidFill>
                <a:effectLst/>
                <a:latin typeface="+mn-lt"/>
                <a:ea typeface="+mn-ea"/>
                <a:cs typeface="+mn-cs"/>
              </a:rPr>
              <a:t> renders </a:t>
            </a:r>
            <a:r>
              <a:rPr lang="en-US" sz="1200" b="1" kern="1200" dirty="0">
                <a:solidFill>
                  <a:schemeClr val="tx1"/>
                </a:solidFill>
                <a:effectLst/>
                <a:latin typeface="+mn-lt"/>
                <a:ea typeface="+mn-ea"/>
                <a:cs typeface="+mn-cs"/>
              </a:rPr>
              <a:t>Format A</a:t>
            </a:r>
            <a:r>
              <a:rPr lang="en-US" sz="1200" kern="1200" dirty="0">
                <a:solidFill>
                  <a:schemeClr val="tx1"/>
                </a:solidFill>
                <a:effectLst/>
                <a:latin typeface="+mn-lt"/>
                <a:ea typeface="+mn-ea"/>
                <a:cs typeface="+mn-cs"/>
              </a:rPr>
              <a:t>: pure algebraic equations and discriminant formulas.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 a visual learner or a younger child, </a:t>
            </a:r>
            <a:r>
              <a:rPr lang="en-US" sz="1200" kern="1200" dirty="0" err="1">
                <a:solidFill>
                  <a:schemeClr val="tx1"/>
                </a:solidFill>
                <a:effectLst/>
                <a:latin typeface="+mn-lt"/>
                <a:ea typeface="+mn-ea"/>
                <a:cs typeface="+mn-cs"/>
              </a:rPr>
              <a:t>GenUI</a:t>
            </a:r>
            <a:r>
              <a:rPr lang="en-US" sz="1200" kern="1200" dirty="0">
                <a:solidFill>
                  <a:schemeClr val="tx1"/>
                </a:solidFill>
                <a:effectLst/>
                <a:latin typeface="+mn-lt"/>
                <a:ea typeface="+mn-ea"/>
                <a:cs typeface="+mn-cs"/>
              </a:rPr>
              <a:t> creates </a:t>
            </a:r>
            <a:r>
              <a:rPr lang="en-US" sz="1200" b="1" kern="1200" dirty="0">
                <a:solidFill>
                  <a:schemeClr val="tx1"/>
                </a:solidFill>
                <a:effectLst/>
                <a:latin typeface="+mn-lt"/>
                <a:ea typeface="+mn-ea"/>
                <a:cs typeface="+mn-cs"/>
              </a:rPr>
              <a:t>Format B</a:t>
            </a:r>
            <a:r>
              <a:rPr lang="en-US" sz="1200" kern="1200" dirty="0">
                <a:solidFill>
                  <a:schemeClr val="tx1"/>
                </a:solidFill>
                <a:effectLst/>
                <a:latin typeface="+mn-lt"/>
                <a:ea typeface="+mn-ea"/>
                <a:cs typeface="+mn-cs"/>
              </a:rPr>
              <a:t>: a dynamic visual graphic showing a basketball player shooting hoops, illustrating how the arc of the ball directly represents a parabolic curve and quadratic parameters.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 a computer science student or software developer, </a:t>
            </a:r>
            <a:r>
              <a:rPr lang="en-US" sz="1200" kern="1200" dirty="0" err="1">
                <a:solidFill>
                  <a:schemeClr val="tx1"/>
                </a:solidFill>
                <a:effectLst/>
                <a:latin typeface="+mn-lt"/>
                <a:ea typeface="+mn-ea"/>
                <a:cs typeface="+mn-cs"/>
              </a:rPr>
              <a:t>GenUI</a:t>
            </a:r>
            <a:r>
              <a:rPr lang="en-US" sz="1200" kern="1200" dirty="0">
                <a:solidFill>
                  <a:schemeClr val="tx1"/>
                </a:solidFill>
                <a:effectLst/>
                <a:latin typeface="+mn-lt"/>
                <a:ea typeface="+mn-ea"/>
                <a:cs typeface="+mn-cs"/>
              </a:rPr>
              <a:t> generates </a:t>
            </a:r>
            <a:r>
              <a:rPr lang="en-US" sz="1200" b="1" kern="1200" dirty="0">
                <a:solidFill>
                  <a:schemeClr val="tx1"/>
                </a:solidFill>
                <a:effectLst/>
                <a:latin typeface="+mn-lt"/>
                <a:ea typeface="+mn-ea"/>
                <a:cs typeface="+mn-cs"/>
              </a:rPr>
              <a:t>Format C</a:t>
            </a:r>
            <a:r>
              <a:rPr lang="en-US" sz="1200" kern="1200" dirty="0">
                <a:solidFill>
                  <a:schemeClr val="tx1"/>
                </a:solidFill>
                <a:effectLst/>
                <a:latin typeface="+mn-lt"/>
                <a:ea typeface="+mn-ea"/>
                <a:cs typeface="+mn-cs"/>
              </a:rPr>
              <a:t>: executable Python code using libraries like NumPy and Matplotlib to render Mandelbrot fractals or quadratic curves. </a:t>
            </a:r>
          </a:p>
          <a:p>
            <a:pPr marL="0" indent="0">
              <a:buFont typeface="Arial" panose="020B0604020202020204" pitchFamily="34" charset="0"/>
              <a:buNone/>
            </a:pPr>
            <a:r>
              <a:rPr lang="en-US" sz="1200" kern="1200" dirty="0" err="1">
                <a:solidFill>
                  <a:schemeClr val="tx1"/>
                </a:solidFill>
                <a:effectLst/>
                <a:latin typeface="+mn-lt"/>
                <a:ea typeface="+mn-ea"/>
                <a:cs typeface="+mn-cs"/>
              </a:rPr>
              <a:t>GenUI</a:t>
            </a:r>
            <a:r>
              <a:rPr lang="en-US" sz="1200" kern="1200" dirty="0">
                <a:solidFill>
                  <a:schemeClr val="tx1"/>
                </a:solidFill>
                <a:effectLst/>
                <a:latin typeface="+mn-lt"/>
                <a:ea typeface="+mn-ea"/>
                <a:cs typeface="+mn-cs"/>
              </a:rPr>
              <a:t> allows software to meet your mind where it naturally works. Whether you are an expert needing dense menu text or a visual thinker needing diagrams, ambient AI adapts the interface presentation on the fly. </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4</a:t>
            </a:fld>
            <a:endParaRPr lang="en-US"/>
          </a:p>
        </p:txBody>
      </p:sp>
    </p:spTree>
    <p:extLst>
      <p:ext uri="{BB962C8B-B14F-4D97-AF65-F5344CB8AC3E}">
        <p14:creationId xmlns:p14="http://schemas.microsoft.com/office/powerpoint/2010/main" val="25508818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see the Magic Cycle of Research in action, let's examine our work in healthcare. We view AI not as a ceiling that caps achievement, but as a brand-new floor from which global society springboards. </a:t>
            </a:r>
          </a:p>
          <a:p>
            <a:r>
              <a:rPr lang="en-US" sz="1200" kern="1200" dirty="0">
                <a:solidFill>
                  <a:schemeClr val="tx1"/>
                </a:solidFill>
                <a:effectLst/>
                <a:latin typeface="+mn-lt"/>
                <a:ea typeface="+mn-ea"/>
                <a:cs typeface="+mn-cs"/>
              </a:rPr>
              <a:t>Look at the progression across these three pillars: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Lab:</a:t>
            </a:r>
            <a:r>
              <a:rPr lang="en-US" sz="1200" kern="1200" dirty="0">
                <a:solidFill>
                  <a:schemeClr val="tx1"/>
                </a:solidFill>
                <a:effectLst/>
                <a:latin typeface="+mn-lt"/>
                <a:ea typeface="+mn-ea"/>
                <a:cs typeface="+mn-cs"/>
              </a:rPr>
              <a:t> A few years ago, we set a benchmark challenge: Could an AI model pass the US Medical Licensing Examination (USMLE)? We started by achieving a passing score, and rapidly progressed to expert-level performance—reaching over 91% accuracy across multimodal medical inputs (text, images, clinical data).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Platform:</a:t>
            </a:r>
            <a:r>
              <a:rPr lang="en-US" sz="1200" kern="1200" dirty="0">
                <a:solidFill>
                  <a:schemeClr val="tx1"/>
                </a:solidFill>
                <a:effectLst/>
                <a:latin typeface="+mn-lt"/>
                <a:ea typeface="+mn-ea"/>
                <a:cs typeface="+mn-cs"/>
              </a:rPr>
              <a:t> Benchmarks in a lab mean nothing if developers can't access the tech. We translated those research insights into </a:t>
            </a:r>
            <a:r>
              <a:rPr lang="en-US" sz="1200" b="1" kern="1200" dirty="0" err="1">
                <a:solidFill>
                  <a:schemeClr val="tx1"/>
                </a:solidFill>
                <a:effectLst/>
                <a:latin typeface="+mn-lt"/>
                <a:ea typeface="+mn-ea"/>
                <a:cs typeface="+mn-cs"/>
              </a:rPr>
              <a:t>MedGemma</a:t>
            </a:r>
            <a:r>
              <a:rPr lang="en-US" sz="1200" kern="1200" dirty="0">
                <a:solidFill>
                  <a:schemeClr val="tx1"/>
                </a:solidFill>
                <a:effectLst/>
                <a:latin typeface="+mn-lt"/>
                <a:ea typeface="+mn-ea"/>
                <a:cs typeface="+mn-cs"/>
              </a:rPr>
              <a:t>, an open-source medical model optimized for developers worldwide. </a:t>
            </a:r>
            <a:r>
              <a:rPr lang="en-US" sz="1200" kern="1200" dirty="0" err="1">
                <a:solidFill>
                  <a:schemeClr val="tx1"/>
                </a:solidFill>
                <a:effectLst/>
                <a:latin typeface="+mn-lt"/>
                <a:ea typeface="+mn-ea"/>
                <a:cs typeface="+mn-cs"/>
              </a:rPr>
              <a:t>MedGemma</a:t>
            </a:r>
            <a:r>
              <a:rPr lang="en-US" sz="1200" kern="1200" dirty="0">
                <a:solidFill>
                  <a:schemeClr val="tx1"/>
                </a:solidFill>
                <a:effectLst/>
                <a:latin typeface="+mn-lt"/>
                <a:ea typeface="+mn-ea"/>
                <a:cs typeface="+mn-cs"/>
              </a:rPr>
              <a:t> has already surpassed 5 million downloads, enabling startups and researchers to bypass years of foundational model training.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World:</a:t>
            </a:r>
            <a:r>
              <a:rPr lang="en-US" sz="1200" kern="1200" dirty="0">
                <a:solidFill>
                  <a:schemeClr val="tx1"/>
                </a:solidFill>
                <a:effectLst/>
                <a:latin typeface="+mn-lt"/>
                <a:ea typeface="+mn-ea"/>
                <a:cs typeface="+mn-cs"/>
              </a:rPr>
              <a:t> The true test of research is its real-world impact. Recently, a healthcare worker in rural Uganda was facing a critical maternal emergency with no internet access. Using a third-party mobile app powered offline by </a:t>
            </a:r>
            <a:r>
              <a:rPr lang="en-US" sz="1200" kern="1200" dirty="0" err="1">
                <a:solidFill>
                  <a:schemeClr val="tx1"/>
                </a:solidFill>
                <a:effectLst/>
                <a:latin typeface="+mn-lt"/>
                <a:ea typeface="+mn-ea"/>
                <a:cs typeface="+mn-cs"/>
              </a:rPr>
              <a:t>MedGemma</a:t>
            </a:r>
            <a:r>
              <a:rPr lang="en-US" sz="1200" kern="1200" dirty="0">
                <a:solidFill>
                  <a:schemeClr val="tx1"/>
                </a:solidFill>
                <a:effectLst/>
                <a:latin typeface="+mn-lt"/>
                <a:ea typeface="+mn-ea"/>
                <a:cs typeface="+mn-cs"/>
              </a:rPr>
              <a:t>, she received instant clinical advice on handling the complication—saving the lives of both the mother and her newborn. </a:t>
            </a:r>
          </a:p>
          <a:p>
            <a:r>
              <a:rPr lang="en-US" sz="1200" kern="1200" dirty="0">
                <a:solidFill>
                  <a:schemeClr val="tx1"/>
                </a:solidFill>
                <a:effectLst/>
                <a:latin typeface="+mn-lt"/>
                <a:ea typeface="+mn-ea"/>
                <a:cs typeface="+mn-cs"/>
              </a:rPr>
              <a:t>This is what happens when advanced research becomes open infrastructure. By raising the technology floor, a local health worker in a remote clinic gains the diagnostic leverage of an expert medical panel. </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5</a:t>
            </a:fld>
            <a:endParaRPr lang="en-US"/>
          </a:p>
        </p:txBody>
      </p:sp>
    </p:spTree>
    <p:extLst>
      <p:ext uri="{BB962C8B-B14F-4D97-AF65-F5344CB8AC3E}">
        <p14:creationId xmlns:p14="http://schemas.microsoft.com/office/powerpoint/2010/main" val="103977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AI is transforming healthcare and software, its most profound impact will be on the </a:t>
            </a:r>
            <a:r>
              <a:rPr lang="en-US" sz="1200" b="1" kern="1200" dirty="0">
                <a:solidFill>
                  <a:schemeClr val="tx1"/>
                </a:solidFill>
                <a:effectLst/>
                <a:latin typeface="+mn-lt"/>
                <a:ea typeface="+mn-ea"/>
                <a:cs typeface="+mn-cs"/>
              </a:rPr>
              <a:t>scientific method itself</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centuries, scientific progress has been heavily constrained by human bandwidth. When a brilliant researcher formulates a breakthrough hypothesis, they immediately encounter massive foundational friction. </a:t>
            </a:r>
          </a:p>
          <a:p>
            <a:r>
              <a:rPr lang="en-US" sz="1200" kern="1200" dirty="0">
                <a:solidFill>
                  <a:schemeClr val="tx1"/>
                </a:solidFill>
                <a:effectLst/>
                <a:latin typeface="+mn-lt"/>
                <a:ea typeface="+mn-ea"/>
                <a:cs typeface="+mn-cs"/>
              </a:rPr>
              <a:t>Look at where a scientist's time is traditionally wasted: </a:t>
            </a:r>
          </a:p>
          <a:p>
            <a:pPr marL="228600" lvl="0" indent="-228600">
              <a:buFont typeface="+mj-lt"/>
              <a:buAutoNum type="arabicPeriod"/>
            </a:pPr>
            <a:r>
              <a:rPr lang="en-US" sz="1200" b="1" kern="1200" dirty="0">
                <a:solidFill>
                  <a:schemeClr val="tx1"/>
                </a:solidFill>
                <a:effectLst/>
                <a:latin typeface="+mn-lt"/>
                <a:ea typeface="+mn-ea"/>
                <a:cs typeface="+mn-cs"/>
              </a:rPr>
              <a:t>Manual Literature Reviews:</a:t>
            </a:r>
            <a:r>
              <a:rPr lang="en-US" sz="1200" kern="1200" dirty="0">
                <a:solidFill>
                  <a:schemeClr val="tx1"/>
                </a:solidFill>
                <a:effectLst/>
                <a:latin typeface="+mn-lt"/>
                <a:ea typeface="+mn-ea"/>
                <a:cs typeface="+mn-cs"/>
              </a:rPr>
              <a:t> Researchers spend months or years reading thousands of siloed papers published across physics, chemistry, and biology just to understand what has already been tried or disproven. </a:t>
            </a:r>
          </a:p>
          <a:p>
            <a:pPr marL="228600" lvl="0" indent="-228600">
              <a:buFont typeface="+mj-lt"/>
              <a:buAutoNum type="arabicPeriod"/>
            </a:pPr>
            <a:r>
              <a:rPr lang="en-US" sz="1200" b="1" kern="1200" dirty="0">
                <a:solidFill>
                  <a:schemeClr val="tx1"/>
                </a:solidFill>
                <a:effectLst/>
                <a:latin typeface="+mn-lt"/>
                <a:ea typeface="+mn-ea"/>
                <a:cs typeface="+mn-cs"/>
              </a:rPr>
              <a:t>Custom Model Coding:</a:t>
            </a:r>
            <a:r>
              <a:rPr lang="en-US" sz="1200" kern="1200" dirty="0">
                <a:solidFill>
                  <a:schemeClr val="tx1"/>
                </a:solidFill>
                <a:effectLst/>
                <a:latin typeface="+mn-lt"/>
                <a:ea typeface="+mn-ea"/>
                <a:cs typeface="+mn-cs"/>
              </a:rPr>
              <a:t> If a chemist or biologist wants to test a digital hypothesis, they often must pause their science to spend weeks writing complex empirical models or hiring specialized data science teams. </a:t>
            </a:r>
          </a:p>
          <a:p>
            <a:r>
              <a:rPr lang="en-US" sz="1200" kern="1200" dirty="0">
                <a:solidFill>
                  <a:schemeClr val="tx1"/>
                </a:solidFill>
                <a:effectLst/>
                <a:latin typeface="+mn-lt"/>
                <a:ea typeface="+mn-ea"/>
                <a:cs typeface="+mn-cs"/>
              </a:rPr>
              <a:t>As a result, </a:t>
            </a:r>
            <a:r>
              <a:rPr lang="en-US" sz="1200" b="1" kern="1200" dirty="0">
                <a:solidFill>
                  <a:schemeClr val="tx1"/>
                </a:solidFill>
                <a:effectLst/>
                <a:latin typeface="+mn-lt"/>
                <a:ea typeface="+mn-ea"/>
                <a:cs typeface="+mn-cs"/>
              </a:rPr>
              <a:t>Hypothesis Generation &amp; Testing</a:t>
            </a:r>
            <a:r>
              <a:rPr lang="en-US" sz="1200" kern="1200" dirty="0">
                <a:solidFill>
                  <a:schemeClr val="tx1"/>
                </a:solidFill>
                <a:effectLst/>
                <a:latin typeface="+mn-lt"/>
                <a:ea typeface="+mn-ea"/>
                <a:cs typeface="+mn-cs"/>
              </a:rPr>
              <a:t>—the actual high-value, creative heart of science—occupies only a tiny fraction of a researcher's time. The rest is consumed by administrative and mechanical overhead. </a:t>
            </a:r>
          </a:p>
          <a:p>
            <a:r>
              <a:rPr lang="en-US" sz="1200" kern="1200" dirty="0">
                <a:solidFill>
                  <a:schemeClr val="tx1"/>
                </a:solidFill>
                <a:effectLst/>
                <a:latin typeface="+mn-lt"/>
                <a:ea typeface="+mn-ea"/>
                <a:cs typeface="+mn-cs"/>
              </a:rPr>
              <a:t>If we are to solve pressing global challenges like antibiotic resistance, climate change, and clean energy, we cannot afford to let scientific bandwidth remain bottlenecked by manual processing. We need tools that remove this mechanical friction. </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6</a:t>
            </a:fld>
            <a:endParaRPr lang="en-US"/>
          </a:p>
        </p:txBody>
      </p:sp>
    </p:spTree>
    <p:extLst>
      <p:ext uri="{BB962C8B-B14F-4D97-AF65-F5344CB8AC3E}">
        <p14:creationId xmlns:p14="http://schemas.microsoft.com/office/powerpoint/2010/main" val="2239132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eliminate these scientific bottlenecks, Google Research developed two complementary agentic systems: </a:t>
            </a:r>
            <a:r>
              <a:rPr lang="en-US" sz="1200" b="1" kern="1200" dirty="0">
                <a:solidFill>
                  <a:schemeClr val="tx1"/>
                </a:solidFill>
                <a:effectLst/>
                <a:latin typeface="+mn-lt"/>
                <a:ea typeface="+mn-ea"/>
                <a:cs typeface="+mn-cs"/>
              </a:rPr>
              <a:t>AI Co-Scientist</a:t>
            </a:r>
            <a:r>
              <a:rPr lang="en-US" sz="1200" kern="1200" dirty="0">
                <a:solidFill>
                  <a:schemeClr val="tx1"/>
                </a:solidFill>
                <a:effectLst/>
                <a:latin typeface="+mn-lt"/>
                <a:ea typeface="+mn-ea"/>
                <a:cs typeface="+mn-cs"/>
              </a:rPr>
              <a:t> and the </a:t>
            </a:r>
            <a:r>
              <a:rPr lang="en-US" sz="1200" b="1" kern="1200" dirty="0">
                <a:solidFill>
                  <a:schemeClr val="tx1"/>
                </a:solidFill>
                <a:effectLst/>
                <a:latin typeface="+mn-lt"/>
                <a:ea typeface="+mn-ea"/>
                <a:cs typeface="+mn-cs"/>
              </a:rPr>
              <a:t>Empirical Research Assistant (ERA)</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AI Co-Scientist acts as a multi-agent polymath. It performs: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Literature Synthesis:</a:t>
            </a:r>
            <a:r>
              <a:rPr lang="en-US" sz="1200" kern="1200" dirty="0">
                <a:solidFill>
                  <a:schemeClr val="tx1"/>
                </a:solidFill>
                <a:effectLst/>
                <a:latin typeface="+mn-lt"/>
                <a:ea typeface="+mn-ea"/>
                <a:cs typeface="+mn-cs"/>
              </a:rPr>
              <a:t> It reads through millions of papers across physics, chemistry, biology, and medicine simultaneously, connecting disparate facts that no single human could ever hold in their head.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Hypothesis Generation:</a:t>
            </a:r>
            <a:r>
              <a:rPr lang="en-US" sz="1200" kern="1200" dirty="0">
                <a:solidFill>
                  <a:schemeClr val="tx1"/>
                </a:solidFill>
                <a:effectLst/>
                <a:latin typeface="+mn-lt"/>
                <a:ea typeface="+mn-ea"/>
                <a:cs typeface="+mn-cs"/>
              </a:rPr>
              <a:t> It formulates highly probable, cross-disciplinary research hypotheses and rigorously ranks them based on existing literature and experimental data. </a:t>
            </a:r>
          </a:p>
          <a:p>
            <a:r>
              <a:rPr lang="en-US" sz="1200" kern="1200" dirty="0">
                <a:solidFill>
                  <a:schemeClr val="tx1"/>
                </a:solidFill>
                <a:effectLst/>
                <a:latin typeface="+mn-lt"/>
                <a:ea typeface="+mn-ea"/>
                <a:cs typeface="+mn-cs"/>
              </a:rPr>
              <a:t>Meanwhile, the </a:t>
            </a:r>
            <a:r>
              <a:rPr lang="en-US" sz="1200" b="1" kern="1200" dirty="0">
                <a:solidFill>
                  <a:schemeClr val="tx1"/>
                </a:solidFill>
                <a:effectLst/>
                <a:latin typeface="+mn-lt"/>
                <a:ea typeface="+mn-ea"/>
                <a:cs typeface="+mn-cs"/>
              </a:rPr>
              <a:t>Empirical Research Assistant</a:t>
            </a:r>
            <a:r>
              <a:rPr lang="en-US" sz="1200" kern="1200" dirty="0">
                <a:solidFill>
                  <a:schemeClr val="tx1"/>
                </a:solidFill>
                <a:effectLst/>
                <a:latin typeface="+mn-lt"/>
                <a:ea typeface="+mn-ea"/>
                <a:cs typeface="+mn-cs"/>
              </a:rPr>
              <a:t> automatically handles the technical implementation—coding the empirical models needed to test those hypotheses in a virtual lab environment. </a:t>
            </a:r>
          </a:p>
          <a:p>
            <a:r>
              <a:rPr lang="en-US" sz="1200" b="1" kern="1200" dirty="0">
                <a:solidFill>
                  <a:schemeClr val="tx1"/>
                </a:solidFill>
                <a:effectLst/>
                <a:latin typeface="+mn-lt"/>
                <a:ea typeface="+mn-ea"/>
                <a:cs typeface="+mn-cs"/>
              </a:rPr>
              <a:t>The Proof Point:</a:t>
            </a:r>
            <a:r>
              <a:rPr lang="en-US" sz="1200" kern="1200" dirty="0">
                <a:solidFill>
                  <a:schemeClr val="tx1"/>
                </a:solidFill>
                <a:effectLst/>
                <a:latin typeface="+mn-lt"/>
                <a:ea typeface="+mn-ea"/>
                <a:cs typeface="+mn-cs"/>
              </a:rPr>
              <a:t> Consider our work with partners at Imperial College London. They had spent years studying why certain bacteria become resistant to antibiotics. When configured with the problem, AI Co-Scientist analyzed the domain literature and generated the exact, multi-year antibiotic resistance hypothesis in just </a:t>
            </a:r>
            <a:r>
              <a:rPr lang="en-US" sz="1200" b="1" kern="1200" dirty="0">
                <a:solidFill>
                  <a:schemeClr val="tx1"/>
                </a:solidFill>
                <a:effectLst/>
                <a:latin typeface="+mn-lt"/>
                <a:ea typeface="+mn-ea"/>
                <a:cs typeface="+mn-cs"/>
              </a:rPr>
              <a:t>3 days</a:t>
            </a:r>
            <a:r>
              <a:rPr lang="en-US" sz="1200" kern="1200" dirty="0">
                <a:solidFill>
                  <a:schemeClr val="tx1"/>
                </a:solidFill>
                <a:effectLst/>
                <a:latin typeface="+mn-lt"/>
                <a:ea typeface="+mn-ea"/>
                <a:cs typeface="+mn-cs"/>
              </a:rPr>
              <a:t>. The resulting research was validated and recently published in </a:t>
            </a:r>
            <a:r>
              <a:rPr lang="en-US" sz="1200" i="1" kern="1200" dirty="0">
                <a:solidFill>
                  <a:schemeClr val="tx1"/>
                </a:solidFill>
                <a:effectLst/>
                <a:latin typeface="+mn-lt"/>
                <a:ea typeface="+mn-ea"/>
                <a:cs typeface="+mn-cs"/>
              </a:rPr>
              <a:t>Nature</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7</a:t>
            </a:fld>
            <a:endParaRPr lang="en-US"/>
          </a:p>
        </p:txBody>
      </p:sp>
    </p:spTree>
    <p:extLst>
      <p:ext uri="{BB962C8B-B14F-4D97-AF65-F5344CB8AC3E}">
        <p14:creationId xmlns:p14="http://schemas.microsoft.com/office/powerpoint/2010/main" val="2468351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shift in scientific tools necessitates a fundamental shift in the human role. We are witnessing </a:t>
            </a:r>
            <a:r>
              <a:rPr lang="en-US" sz="1200" b="1" kern="1200" dirty="0">
                <a:solidFill>
                  <a:schemeClr val="tx1"/>
                </a:solidFill>
                <a:effectLst/>
                <a:latin typeface="+mn-lt"/>
                <a:ea typeface="+mn-ea"/>
                <a:cs typeface="+mn-cs"/>
              </a:rPr>
              <a:t>the evolution of the scientist</a:t>
            </a:r>
            <a:r>
              <a:rPr lang="en-US" sz="1200" kern="1200" dirty="0">
                <a:solidFill>
                  <a:schemeClr val="tx1"/>
                </a:solidFill>
                <a:effectLst/>
                <a:latin typeface="+mn-lt"/>
                <a:ea typeface="+mn-ea"/>
                <a:cs typeface="+mn-cs"/>
              </a:rPr>
              <a:t> from a technician to an architect.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Yesterday (The Technician):</a:t>
            </a:r>
            <a:r>
              <a:rPr lang="en-US" sz="1200" kern="1200" dirty="0">
                <a:solidFill>
                  <a:schemeClr val="tx1"/>
                </a:solidFill>
                <a:effectLst/>
                <a:latin typeface="+mn-lt"/>
                <a:ea typeface="+mn-ea"/>
                <a:cs typeface="+mn-cs"/>
              </a:rPr>
              <a:t> A scientist spent 80% of their time performing repetitive manual work—reading past literature, synthesizing citations, and building bespoke empirical models. Their scope was strictly hyper-specialized within a single vertical discipline, and their productivity was bounded by physical lab space, grant funding, and human hours.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Tomorrow (The Architect):</a:t>
            </a:r>
            <a:r>
              <a:rPr lang="en-US" sz="1200" kern="1200" dirty="0">
                <a:solidFill>
                  <a:schemeClr val="tx1"/>
                </a:solidFill>
                <a:effectLst/>
                <a:latin typeface="+mn-lt"/>
                <a:ea typeface="+mn-ea"/>
                <a:cs typeface="+mn-cs"/>
              </a:rPr>
              <a:t> The scientist spends 80% of their time asking complex, visionary questions, defining problems, and exercising high-level judgment. Their scope is cross-disciplinary and fluid; they direct an AI-powered "invention factory" that can evaluate thousands of candidate solutions in parallel. </a:t>
            </a:r>
          </a:p>
          <a:p>
            <a:r>
              <a:rPr lang="en-US" sz="1200" kern="1200" dirty="0">
                <a:solidFill>
                  <a:schemeClr val="tx1"/>
                </a:solidFill>
                <a:effectLst/>
                <a:latin typeface="+mn-lt"/>
                <a:ea typeface="+mn-ea"/>
                <a:cs typeface="+mn-cs"/>
              </a:rPr>
              <a:t>I love to reference Duke Ellington’s famous quote on music: </a:t>
            </a:r>
            <a:r>
              <a:rPr lang="en-US" sz="1200" i="1" kern="1200" dirty="0">
                <a:solidFill>
                  <a:schemeClr val="tx1"/>
                </a:solidFill>
                <a:effectLst/>
                <a:latin typeface="+mn-lt"/>
                <a:ea typeface="+mn-ea"/>
                <a:cs typeface="+mn-cs"/>
              </a:rPr>
              <a:t>"If it sounds good, it is good."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AI tools generate an infinite stream of hypotheses, code, and molecular candidates, the bottleneck shifts away from execution. The ultimate human skill becomes </a:t>
            </a:r>
            <a:r>
              <a:rPr lang="en-US" sz="1200" b="1" kern="1200" dirty="0">
                <a:solidFill>
                  <a:schemeClr val="tx1"/>
                </a:solidFill>
                <a:effectLst/>
                <a:latin typeface="+mn-lt"/>
                <a:ea typeface="+mn-ea"/>
                <a:cs typeface="+mn-cs"/>
              </a:rPr>
              <a:t>judgment, taste, and discernment</a:t>
            </a:r>
            <a:r>
              <a:rPr lang="en-US" sz="1200" kern="1200" dirty="0">
                <a:solidFill>
                  <a:schemeClr val="tx1"/>
                </a:solidFill>
                <a:effectLst/>
                <a:latin typeface="+mn-lt"/>
                <a:ea typeface="+mn-ea"/>
                <a:cs typeface="+mn-cs"/>
              </a:rPr>
              <a:t>. Human researchers provide the steering, empathy, and critical evaluation to determine </a:t>
            </a:r>
            <a:r>
              <a:rPr lang="en-US" sz="1200" i="1" kern="1200" dirty="0">
                <a:solidFill>
                  <a:schemeClr val="tx1"/>
                </a:solidFill>
                <a:effectLst/>
                <a:latin typeface="+mn-lt"/>
                <a:ea typeface="+mn-ea"/>
                <a:cs typeface="+mn-cs"/>
              </a:rPr>
              <a:t>which</a:t>
            </a:r>
            <a:r>
              <a:rPr lang="en-US" sz="1200" kern="1200" dirty="0">
                <a:solidFill>
                  <a:schemeClr val="tx1"/>
                </a:solidFill>
                <a:effectLst/>
                <a:latin typeface="+mn-lt"/>
                <a:ea typeface="+mn-ea"/>
                <a:cs typeface="+mn-cs"/>
              </a:rPr>
              <a:t> solutions truly matter for humanity. </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8</a:t>
            </a:fld>
            <a:endParaRPr lang="en-US"/>
          </a:p>
        </p:txBody>
      </p:sp>
    </p:spTree>
    <p:extLst>
      <p:ext uri="{BB962C8B-B14F-4D97-AF65-F5344CB8AC3E}">
        <p14:creationId xmlns:p14="http://schemas.microsoft.com/office/powerpoint/2010/main" val="1038647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look at how the Magic Cycle of Research addresses climate and planetary resilience through </a:t>
            </a:r>
            <a:r>
              <a:rPr lang="en-US" sz="1200" b="1" kern="1200" dirty="0">
                <a:solidFill>
                  <a:schemeClr val="tx1"/>
                </a:solidFill>
                <a:effectLst/>
                <a:latin typeface="+mn-lt"/>
                <a:ea typeface="+mn-ea"/>
                <a:cs typeface="+mn-cs"/>
              </a:rPr>
              <a:t>Google Flood Hub</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Impossible Problem:</a:t>
            </a:r>
            <a:r>
              <a:rPr lang="en-US" sz="1200" kern="1200" dirty="0">
                <a:solidFill>
                  <a:schemeClr val="tx1"/>
                </a:solidFill>
                <a:effectLst/>
                <a:latin typeface="+mn-lt"/>
                <a:ea typeface="+mn-ea"/>
                <a:cs typeface="+mn-cs"/>
              </a:rPr>
              <a:t> For decades, urban flash floods were considered too chaotic, localized, and data-poor to accurately model or predict. Hydrologists believed reliable global early warnings were mathematically out of reach.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AI Solution (</a:t>
            </a:r>
            <a:r>
              <a:rPr lang="en-US" sz="1200" b="1" kern="1200" dirty="0" err="1">
                <a:solidFill>
                  <a:schemeClr val="tx1"/>
                </a:solidFill>
                <a:effectLst/>
                <a:latin typeface="+mn-lt"/>
                <a:ea typeface="+mn-ea"/>
                <a:cs typeface="+mn-cs"/>
              </a:rPr>
              <a:t>Groundsource</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To overcome the lack of physical sensor data in vulnerable regions, our researchers realized that news outlets have reported on local flood events for decades. We deployed Gemini to read 20 years of global news reports across dozens of languages, extracting and structuring </a:t>
            </a:r>
            <a:r>
              <a:rPr lang="en-US" sz="1200" b="1" kern="1200" dirty="0">
                <a:solidFill>
                  <a:schemeClr val="tx1"/>
                </a:solidFill>
                <a:effectLst/>
                <a:latin typeface="+mn-lt"/>
                <a:ea typeface="+mn-ea"/>
                <a:cs typeface="+mn-cs"/>
              </a:rPr>
              <a:t>2.6 million historical flash flood events</a:t>
            </a:r>
            <a:r>
              <a:rPr lang="en-US" sz="1200" kern="1200" dirty="0">
                <a:solidFill>
                  <a:schemeClr val="tx1"/>
                </a:solidFill>
                <a:effectLst/>
                <a:latin typeface="+mn-lt"/>
                <a:ea typeface="+mn-ea"/>
                <a:cs typeface="+mn-cs"/>
              </a:rPr>
              <a:t> to build an unprecedented ground-truth training dataset.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Baseline Reality:</a:t>
            </a:r>
            <a:r>
              <a:rPr lang="en-US" sz="1200" kern="1200" dirty="0">
                <a:solidFill>
                  <a:schemeClr val="tx1"/>
                </a:solidFill>
                <a:effectLst/>
                <a:latin typeface="+mn-lt"/>
                <a:ea typeface="+mn-ea"/>
                <a:cs typeface="+mn-cs"/>
              </a:rPr>
              <a:t> Today, Google Flood Hub provides up to </a:t>
            </a:r>
            <a:r>
              <a:rPr lang="en-US" sz="1200" b="1" kern="1200" dirty="0">
                <a:solidFill>
                  <a:schemeClr val="tx1"/>
                </a:solidFill>
                <a:effectLst/>
                <a:latin typeface="+mn-lt"/>
                <a:ea typeface="+mn-ea"/>
                <a:cs typeface="+mn-cs"/>
              </a:rPr>
              <a:t>7-day advance flood predictions</a:t>
            </a:r>
            <a:r>
              <a:rPr lang="en-US" sz="1200" kern="1200" dirty="0">
                <a:solidFill>
                  <a:schemeClr val="tx1"/>
                </a:solidFill>
                <a:effectLst/>
                <a:latin typeface="+mn-lt"/>
                <a:ea typeface="+mn-ea"/>
                <a:cs typeface="+mn-cs"/>
              </a:rPr>
              <a:t> across </a:t>
            </a:r>
            <a:r>
              <a:rPr lang="en-US" sz="1200" b="1" kern="1200" dirty="0">
                <a:solidFill>
                  <a:schemeClr val="tx1"/>
                </a:solidFill>
                <a:effectLst/>
                <a:latin typeface="+mn-lt"/>
                <a:ea typeface="+mn-ea"/>
                <a:cs typeface="+mn-cs"/>
              </a:rPr>
              <a:t>150 countries</a:t>
            </a:r>
            <a:r>
              <a:rPr lang="en-US" sz="1200" kern="1200" dirty="0">
                <a:solidFill>
                  <a:schemeClr val="tx1"/>
                </a:solidFill>
                <a:effectLst/>
                <a:latin typeface="+mn-lt"/>
                <a:ea typeface="+mn-ea"/>
                <a:cs typeface="+mn-cs"/>
              </a:rPr>
              <a:t>, protecting over </a:t>
            </a:r>
            <a:r>
              <a:rPr lang="en-US" sz="1200" b="1" kern="1200" dirty="0">
                <a:solidFill>
                  <a:schemeClr val="tx1"/>
                </a:solidFill>
                <a:effectLst/>
                <a:latin typeface="+mn-lt"/>
                <a:ea typeface="+mn-ea"/>
                <a:cs typeface="+mn-cs"/>
              </a:rPr>
              <a:t>2 billion people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Think about what a 7-day warning means. In places like Nigeria, governments and NGOs use our Flood Hub API to automatically distribute cash transfers to villagers </a:t>
            </a:r>
            <a:r>
              <a:rPr lang="en-US" sz="1200" i="1" kern="1200" dirty="0">
                <a:solidFill>
                  <a:schemeClr val="tx1"/>
                </a:solidFill>
                <a:effectLst/>
                <a:latin typeface="+mn-lt"/>
                <a:ea typeface="+mn-ea"/>
                <a:cs typeface="+mn-cs"/>
              </a:rPr>
              <a:t>before</a:t>
            </a:r>
            <a:r>
              <a:rPr lang="en-US" sz="1200" kern="1200" dirty="0">
                <a:solidFill>
                  <a:schemeClr val="tx1"/>
                </a:solidFill>
                <a:effectLst/>
                <a:latin typeface="+mn-lt"/>
                <a:ea typeface="+mn-ea"/>
                <a:cs typeface="+mn-cs"/>
              </a:rPr>
              <a:t> the waters arrive, allowing families to evacuate safely with their belongings. What was deemed impossible eight years ago is now an operational, life-saving infrastructure. </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9</a:t>
            </a:fld>
            <a:endParaRPr lang="en-US"/>
          </a:p>
        </p:txBody>
      </p:sp>
    </p:spTree>
    <p:extLst>
      <p:ext uri="{BB962C8B-B14F-4D97-AF65-F5344CB8AC3E}">
        <p14:creationId xmlns:p14="http://schemas.microsoft.com/office/powerpoint/2010/main" val="3741761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Building on flood forecasting, we asked: What if we didn't just solve one natural disaster model at a time? What if we unified all planetary data into a single, conversational interface? </a:t>
            </a:r>
          </a:p>
          <a:p>
            <a:r>
              <a:rPr lang="en-US" sz="1200" kern="1200" dirty="0">
                <a:solidFill>
                  <a:schemeClr val="tx1"/>
                </a:solidFill>
                <a:effectLst/>
                <a:latin typeface="+mn-lt"/>
                <a:ea typeface="+mn-ea"/>
                <a:cs typeface="+mn-cs"/>
              </a:rPr>
              <a:t>This is </a:t>
            </a:r>
            <a:r>
              <a:rPr lang="en-US" sz="1200" b="1" kern="1200" dirty="0">
                <a:solidFill>
                  <a:schemeClr val="tx1"/>
                </a:solidFill>
                <a:effectLst/>
                <a:latin typeface="+mn-lt"/>
                <a:ea typeface="+mn-ea"/>
                <a:cs typeface="+mn-cs"/>
              </a:rPr>
              <a:t>Google Earth AI</a:t>
            </a:r>
            <a:r>
              <a:rPr lang="en-US" sz="1200" kern="1200" dirty="0">
                <a:solidFill>
                  <a:schemeClr val="tx1"/>
                </a:solidFill>
                <a:effectLst/>
                <a:latin typeface="+mn-lt"/>
                <a:ea typeface="+mn-ea"/>
                <a:cs typeface="+mn-cs"/>
              </a:rPr>
              <a:t>—a platform for planetary intelligence. Earth AI fuses multiple complex, discrete intelligence layers into a single agentic model: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Layer 1: Geospatial &amp; Satellite Imagery:</a:t>
            </a:r>
            <a:r>
              <a:rPr lang="en-US" sz="1200" kern="1200" dirty="0">
                <a:solidFill>
                  <a:schemeClr val="tx1"/>
                </a:solidFill>
                <a:effectLst/>
                <a:latin typeface="+mn-lt"/>
                <a:ea typeface="+mn-ea"/>
                <a:cs typeface="+mn-cs"/>
              </a:rPr>
              <a:t> High-resolution optical, radar, and land-use mapping.</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Layer 2: </a:t>
            </a:r>
            <a:r>
              <a:rPr lang="en-US" sz="1200" b="1" kern="1200" dirty="0" err="1">
                <a:solidFill>
                  <a:schemeClr val="tx1"/>
                </a:solidFill>
                <a:effectLst/>
                <a:latin typeface="+mn-lt"/>
                <a:ea typeface="+mn-ea"/>
                <a:cs typeface="+mn-cs"/>
              </a:rPr>
              <a:t>WeatherNext</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DeepMind's extreme weather and atmospheric prediction models.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Layer 3: Population Dynamics:</a:t>
            </a:r>
            <a:r>
              <a:rPr lang="en-US" sz="1200" kern="1200" dirty="0">
                <a:solidFill>
                  <a:schemeClr val="tx1"/>
                </a:solidFill>
                <a:effectLst/>
                <a:latin typeface="+mn-lt"/>
                <a:ea typeface="+mn-ea"/>
                <a:cs typeface="+mn-cs"/>
              </a:rPr>
              <a:t> Privacy-preserving foundation models tracking human movement and urbanization trends. </a:t>
            </a:r>
          </a:p>
          <a:p>
            <a:r>
              <a:rPr lang="en-US" sz="1200" kern="1200" dirty="0">
                <a:solidFill>
                  <a:schemeClr val="tx1"/>
                </a:solidFill>
                <a:effectLst/>
                <a:latin typeface="+mn-lt"/>
                <a:ea typeface="+mn-ea"/>
                <a:cs typeface="+mn-cs"/>
              </a:rPr>
              <a:t>Instead of writing complex GIS code or querying fragmented climate databases, users can simply converse with the planet in plain natural language. </a:t>
            </a:r>
          </a:p>
          <a:p>
            <a:r>
              <a:rPr lang="en-US" sz="1200" kern="1200" dirty="0">
                <a:solidFill>
                  <a:schemeClr val="tx1"/>
                </a:solidFill>
                <a:effectLst/>
                <a:latin typeface="+mn-lt"/>
                <a:ea typeface="+mn-ea"/>
                <a:cs typeface="+mn-cs"/>
              </a:rPr>
              <a:t>An epidemiologist can ask: </a:t>
            </a:r>
            <a:r>
              <a:rPr lang="en-US" sz="1200" i="1" kern="1200" dirty="0">
                <a:solidFill>
                  <a:schemeClr val="tx1"/>
                </a:solidFill>
                <a:effectLst/>
                <a:latin typeface="+mn-lt"/>
                <a:ea typeface="+mn-ea"/>
                <a:cs typeface="+mn-cs"/>
              </a:rPr>
              <a:t>"Where will this cholera outbreak spread next given current rainfall and population movement?"</a:t>
            </a:r>
            <a:r>
              <a:rPr lang="en-US" sz="1200" kern="1200" dirty="0">
                <a:solidFill>
                  <a:schemeClr val="tx1"/>
                </a:solidFill>
                <a:effectLst/>
                <a:latin typeface="+mn-lt"/>
                <a:ea typeface="+mn-ea"/>
                <a:cs typeface="+mn-cs"/>
              </a:rPr>
              <a:t> An urban planner can ask: </a:t>
            </a:r>
            <a:r>
              <a:rPr lang="en-US" sz="1200" i="1" kern="1200" dirty="0">
                <a:solidFill>
                  <a:schemeClr val="tx1"/>
                </a:solidFill>
                <a:effectLst/>
                <a:latin typeface="+mn-lt"/>
                <a:ea typeface="+mn-ea"/>
                <a:cs typeface="+mn-cs"/>
              </a:rPr>
              <a:t>"If we build a highway through this county, which forest corridor is most critical to protect endangered biodiversity?"</a:t>
            </a:r>
            <a:r>
              <a:rPr lang="en-US" sz="1200" kern="1200" dirty="0">
                <a:solidFill>
                  <a:schemeClr val="tx1"/>
                </a:solidFill>
                <a:effectLst/>
                <a:latin typeface="+mn-lt"/>
                <a:ea typeface="+mn-ea"/>
                <a:cs typeface="+mn-cs"/>
              </a:rPr>
              <a:t> Earth AI transforms the Earth into a searchable, interactive, and understandable system. </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10</a:t>
            </a:fld>
            <a:endParaRPr lang="en-US"/>
          </a:p>
        </p:txBody>
      </p:sp>
    </p:spTree>
    <p:extLst>
      <p:ext uri="{BB962C8B-B14F-4D97-AF65-F5344CB8AC3E}">
        <p14:creationId xmlns:p14="http://schemas.microsoft.com/office/powerpoint/2010/main" val="2752435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ambient AI transforms software and scientific workflows, solving nature's deepest computational bottlenecks requires entering </a:t>
                </a:r>
                <a:r>
                  <a:rPr lang="en-US" sz="1200" b="1" kern="1200" dirty="0">
                    <a:solidFill>
                      <a:schemeClr val="tx1"/>
                    </a:solidFill>
                    <a:effectLst/>
                    <a:latin typeface="+mn-lt"/>
                    <a:ea typeface="+mn-ea"/>
                    <a:cs typeface="+mn-cs"/>
                  </a:rPr>
                  <a:t>the quantum frontier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Quantum computing operates on a fundamentally different paradigm than classical supercomputers. Classical bits are strictly 0 or 1, whereas quantum qubits leverage superposition and entanglement. However, qubits are notoriously fragile and prone to environmental noise. </a:t>
                </a:r>
              </a:p>
              <a:p>
                <a:r>
                  <a:rPr lang="en-US" sz="1200" kern="1200" dirty="0">
                    <a:solidFill>
                      <a:schemeClr val="tx1"/>
                    </a:solidFill>
                    <a:effectLst/>
                    <a:latin typeface="+mn-lt"/>
                    <a:ea typeface="+mn-ea"/>
                    <a:cs typeface="+mn-cs"/>
                  </a:rPr>
                  <a:t>With our breakthrough </a:t>
                </a:r>
                <a:r>
                  <a:rPr lang="en-US" sz="1200" b="1" kern="1200" dirty="0">
                    <a:solidFill>
                      <a:schemeClr val="tx1"/>
                    </a:solidFill>
                    <a:effectLst/>
                    <a:latin typeface="+mn-lt"/>
                    <a:ea typeface="+mn-ea"/>
                    <a:cs typeface="+mn-cs"/>
                  </a:rPr>
                  <a:t>Willow quantum chip</a:t>
                </a:r>
                <a:r>
                  <a:rPr lang="en-US" sz="1200" kern="1200" dirty="0">
                    <a:solidFill>
                      <a:schemeClr val="tx1"/>
                    </a:solidFill>
                    <a:effectLst/>
                    <a:latin typeface="+mn-lt"/>
                    <a:ea typeface="+mn-ea"/>
                    <a:cs typeface="+mn-cs"/>
                  </a:rPr>
                  <a:t>, Google achieved a historic milestone in quantum error correction: as we added more physical qubits to scale the system, the error rate actually </a:t>
                </a:r>
                <a:r>
                  <a:rPr lang="en-US" sz="1200" i="1" kern="1200" dirty="0">
                    <a:solidFill>
                      <a:schemeClr val="tx1"/>
                    </a:solidFill>
                    <a:effectLst/>
                    <a:latin typeface="+mn-lt"/>
                    <a:ea typeface="+mn-ea"/>
                    <a:cs typeface="+mn-cs"/>
                  </a:rPr>
                  <a:t>decreased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metrics achieved by Willow: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10 Septillion Years:</a:t>
                </a:r>
                <a:r>
                  <a:rPr lang="en-US" sz="1200" kern="1200" dirty="0">
                    <a:solidFill>
                      <a:schemeClr val="tx1"/>
                    </a:solidFill>
                    <a:effectLst/>
                    <a:latin typeface="+mn-lt"/>
                    <a:ea typeface="+mn-ea"/>
                    <a:cs typeface="+mn-cs"/>
                  </a:rPr>
                  <a:t> On standard benchmarks, Willow completed a complex computation in seconds that would take the world’s fastest classical supercomputer </a:t>
                </a:r>
                <a14:m>
                  <m:oMath xmlns:m="http://schemas.openxmlformats.org/officeDocument/2006/math">
                    <m:sSup>
                      <m:sSupPr>
                        <m:ctrlPr>
                          <a:rPr lang="en-US" sz="1200" i="1" kern="1200">
                            <a:solidFill>
                              <a:schemeClr val="tx1"/>
                            </a:solidFill>
                            <a:latin typeface="Cambria Math" panose="02040503050406030204" pitchFamily="18" charset="0"/>
                            <a:ea typeface="+mn-ea"/>
                            <a:cs typeface="+mn-cs"/>
                          </a:rPr>
                        </m:ctrlPr>
                      </m:sSupPr>
                      <m:e>
                        <m:r>
                          <a:rPr lang="en-US" sz="1200" kern="1200">
                            <a:solidFill>
                              <a:schemeClr val="tx1"/>
                            </a:solidFill>
                            <a:latin typeface="Cambria Math" panose="02040503050406030204" pitchFamily="18" charset="0"/>
                            <a:ea typeface="+mn-ea"/>
                            <a:cs typeface="+mn-cs"/>
                          </a:rPr>
                          <m:t>10</m:t>
                        </m:r>
                      </m:e>
                      <m:sup>
                        <m:r>
                          <a:rPr lang="en-US" sz="1200" i="0" kern="1200">
                            <a:solidFill>
                              <a:schemeClr val="tx1"/>
                            </a:solidFill>
                            <a:latin typeface="Cambria Math" panose="02040503050406030204" pitchFamily="18" charset="0"/>
                            <a:ea typeface="+mn-ea"/>
                            <a:cs typeface="+mn-cs"/>
                          </a:rPr>
                          <m:t>25</m:t>
                        </m:r>
                      </m:sup>
                    </m:sSup>
                  </m:oMath>
                </a14:m>
                <a:r>
                  <a:rPr lang="en-US" sz="1200" b="1" kern="1200" dirty="0">
                    <a:solidFill>
                      <a:schemeClr val="tx1"/>
                    </a:solidFill>
                    <a:effectLst/>
                    <a:latin typeface="+mn-lt"/>
                    <a:ea typeface="+mn-ea"/>
                    <a:cs typeface="+mn-cs"/>
                  </a:rPr>
                  <a:t>years</a:t>
                </a:r>
                <a:r>
                  <a:rPr lang="en-US" sz="1200" kern="1200" dirty="0">
                    <a:solidFill>
                      <a:schemeClr val="tx1"/>
                    </a:solidFill>
                    <a:effectLst/>
                    <a:latin typeface="+mn-lt"/>
                    <a:ea typeface="+mn-ea"/>
                    <a:cs typeface="+mn-cs"/>
                  </a:rPr>
                  <a:t> (10 septillion years)—a duration vastly longer than the age of the universe.</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13,000x Faster Verified Advantage:</a:t>
                </a:r>
                <a:r>
                  <a:rPr lang="en-US" sz="1200" kern="1200" dirty="0">
                    <a:solidFill>
                      <a:schemeClr val="tx1"/>
                    </a:solidFill>
                    <a:effectLst/>
                    <a:latin typeface="+mn-lt"/>
                    <a:ea typeface="+mn-ea"/>
                    <a:cs typeface="+mn-cs"/>
                  </a:rPr>
                  <a:t> On verified benchmarks like the Echo algorithm, Willow demonstrated exponential performance scaling over classical algorithms.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1/10,000th Power Consumption:</a:t>
                </a:r>
                <a:r>
                  <a:rPr lang="en-US" sz="1200" kern="1200" dirty="0">
                    <a:solidFill>
                      <a:schemeClr val="tx1"/>
                    </a:solidFill>
                    <a:effectLst/>
                    <a:latin typeface="+mn-lt"/>
                    <a:ea typeface="+mn-ea"/>
                    <a:cs typeface="+mn-cs"/>
                  </a:rPr>
                  <a:t> Willow achieves these exponential computational leaps consuming a tiny fraction of the electrical energy required by traditional supercomputer clusters. </a:t>
                </a:r>
              </a:p>
              <a:p>
                <a:r>
                  <a:rPr lang="en-US" sz="1200" kern="1200" dirty="0">
                    <a:solidFill>
                      <a:schemeClr val="tx1"/>
                    </a:solidFill>
                    <a:effectLst/>
                    <a:latin typeface="+mn-lt"/>
                    <a:ea typeface="+mn-ea"/>
                    <a:cs typeface="+mn-cs"/>
                  </a:rPr>
                  <a:t>Quantum is no longer a distant theoretical concept; it is rapidly progressing toward practical, real-world utility. </a:t>
                </a:r>
              </a:p>
              <a:p>
                <a:endParaRPr lang="en-US" dirty="0"/>
              </a:p>
            </p:txBody>
          </p:sp>
        </mc:Choice>
        <mc:Fallback xmlns="">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ambient AI transforms software and scientific workflows, solving nature's deepest computational bottlenecks requires entering </a:t>
                </a:r>
                <a:r>
                  <a:rPr lang="en-US" sz="1200" b="1" kern="1200" dirty="0">
                    <a:solidFill>
                      <a:schemeClr val="tx1"/>
                    </a:solidFill>
                    <a:effectLst/>
                    <a:latin typeface="+mn-lt"/>
                    <a:ea typeface="+mn-ea"/>
                    <a:cs typeface="+mn-cs"/>
                  </a:rPr>
                  <a:t>the quantum frontier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Quantum computing operates on a fundamentally different paradigm than classical supercomputers. Classical bits are strictly 0 or 1, whereas quantum qubits leverage superposition and entanglement. However, qubits are notoriously fragile and prone to environmental noise. </a:t>
                </a:r>
              </a:p>
              <a:p>
                <a:r>
                  <a:rPr lang="en-US" sz="1200" kern="1200" dirty="0">
                    <a:solidFill>
                      <a:schemeClr val="tx1"/>
                    </a:solidFill>
                    <a:effectLst/>
                    <a:latin typeface="+mn-lt"/>
                    <a:ea typeface="+mn-ea"/>
                    <a:cs typeface="+mn-cs"/>
                  </a:rPr>
                  <a:t>With our breakthrough </a:t>
                </a:r>
                <a:r>
                  <a:rPr lang="en-US" sz="1200" b="1" kern="1200" dirty="0">
                    <a:solidFill>
                      <a:schemeClr val="tx1"/>
                    </a:solidFill>
                    <a:effectLst/>
                    <a:latin typeface="+mn-lt"/>
                    <a:ea typeface="+mn-ea"/>
                    <a:cs typeface="+mn-cs"/>
                  </a:rPr>
                  <a:t>Willow quantum chip</a:t>
                </a:r>
                <a:r>
                  <a:rPr lang="en-US" sz="1200" kern="1200" dirty="0">
                    <a:solidFill>
                      <a:schemeClr val="tx1"/>
                    </a:solidFill>
                    <a:effectLst/>
                    <a:latin typeface="+mn-lt"/>
                    <a:ea typeface="+mn-ea"/>
                    <a:cs typeface="+mn-cs"/>
                  </a:rPr>
                  <a:t>, Google achieved a historic milestone in quantum error correction: as we added more physical qubits to scale the system, the error rate actually </a:t>
                </a:r>
                <a:r>
                  <a:rPr lang="en-US" sz="1200" i="1" kern="1200" dirty="0">
                    <a:solidFill>
                      <a:schemeClr val="tx1"/>
                    </a:solidFill>
                    <a:effectLst/>
                    <a:latin typeface="+mn-lt"/>
                    <a:ea typeface="+mn-ea"/>
                    <a:cs typeface="+mn-cs"/>
                  </a:rPr>
                  <a:t>decreased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metrics achieved by Willow: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10 Septillion Years:</a:t>
                </a:r>
                <a:r>
                  <a:rPr lang="en-US" sz="1200" kern="1200" dirty="0">
                    <a:solidFill>
                      <a:schemeClr val="tx1"/>
                    </a:solidFill>
                    <a:effectLst/>
                    <a:latin typeface="+mn-lt"/>
                    <a:ea typeface="+mn-ea"/>
                    <a:cs typeface="+mn-cs"/>
                  </a:rPr>
                  <a:t> On standard benchmarks, Willow completed a complex computation in seconds that would take the world’s fastest classical supercomputer </a:t>
                </a:r>
                <a:r>
                  <a:rPr lang="en-US" sz="1200" i="0" kern="1200">
                    <a:solidFill>
                      <a:schemeClr val="tx1"/>
                    </a:solidFill>
                    <a:latin typeface="+mn-lt"/>
                    <a:ea typeface="+mn-ea"/>
                    <a:cs typeface="+mn-cs"/>
                  </a:rPr>
                  <a:t>10^25</a:t>
                </a:r>
                <a:r>
                  <a:rPr lang="en-US" sz="1200" b="1" kern="1200" dirty="0">
                    <a:solidFill>
                      <a:schemeClr val="tx1"/>
                    </a:solidFill>
                    <a:effectLst/>
                    <a:latin typeface="+mn-lt"/>
                    <a:ea typeface="+mn-ea"/>
                    <a:cs typeface="+mn-cs"/>
                  </a:rPr>
                  <a:t>years</a:t>
                </a:r>
                <a:r>
                  <a:rPr lang="en-US" sz="1200" kern="1200" dirty="0">
                    <a:solidFill>
                      <a:schemeClr val="tx1"/>
                    </a:solidFill>
                    <a:effectLst/>
                    <a:latin typeface="+mn-lt"/>
                    <a:ea typeface="+mn-ea"/>
                    <a:cs typeface="+mn-cs"/>
                  </a:rPr>
                  <a:t> (10 septillion years)—a duration vastly longer than the age of the universe.</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13,000x Faster Verified Advantage:</a:t>
                </a:r>
                <a:r>
                  <a:rPr lang="en-US" sz="1200" kern="1200" dirty="0">
                    <a:solidFill>
                      <a:schemeClr val="tx1"/>
                    </a:solidFill>
                    <a:effectLst/>
                    <a:latin typeface="+mn-lt"/>
                    <a:ea typeface="+mn-ea"/>
                    <a:cs typeface="+mn-cs"/>
                  </a:rPr>
                  <a:t> On verified benchmarks like the Echo algorithm, Willow demonstrated exponential performance scaling over classical algorithms.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1/10,000th Power Consumption:</a:t>
                </a:r>
                <a:r>
                  <a:rPr lang="en-US" sz="1200" kern="1200" dirty="0">
                    <a:solidFill>
                      <a:schemeClr val="tx1"/>
                    </a:solidFill>
                    <a:effectLst/>
                    <a:latin typeface="+mn-lt"/>
                    <a:ea typeface="+mn-ea"/>
                    <a:cs typeface="+mn-cs"/>
                  </a:rPr>
                  <a:t> Willow achieves these exponential computational leaps consuming a tiny fraction of the electrical energy required by traditional supercomputer clusters. </a:t>
                </a:r>
              </a:p>
              <a:p>
                <a:r>
                  <a:rPr lang="en-US" sz="1200" kern="1200" dirty="0">
                    <a:solidFill>
                      <a:schemeClr val="tx1"/>
                    </a:solidFill>
                    <a:effectLst/>
                    <a:latin typeface="+mn-lt"/>
                    <a:ea typeface="+mn-ea"/>
                    <a:cs typeface="+mn-cs"/>
                  </a:rPr>
                  <a:t>Quantum is no longer a distant theoretical concept; it is rapidly progressing toward practical, real-world utility. </a:t>
                </a:r>
              </a:p>
              <a:p>
                <a:endParaRPr lang="en-US" dirty="0"/>
              </a:p>
            </p:txBody>
          </p:sp>
        </mc:Fallback>
      </mc:AlternateContent>
      <p:sp>
        <p:nvSpPr>
          <p:cNvPr id="4" name="Slide Number Placeholder 3"/>
          <p:cNvSpPr>
            <a:spLocks noGrp="1"/>
          </p:cNvSpPr>
          <p:nvPr>
            <p:ph type="sldNum" sz="quarter" idx="5"/>
          </p:nvPr>
        </p:nvSpPr>
        <p:spPr/>
        <p:txBody>
          <a:bodyPr/>
          <a:lstStyle/>
          <a:p>
            <a:fld id="{A6479DD4-03B6-4019-887E-EA3E2A78E956}" type="slidenum">
              <a:rPr lang="en-US" smtClean="0"/>
              <a:t>11</a:t>
            </a:fld>
            <a:endParaRPr lang="en-US"/>
          </a:p>
        </p:txBody>
      </p:sp>
    </p:spTree>
    <p:extLst>
      <p:ext uri="{BB962C8B-B14F-4D97-AF65-F5344CB8AC3E}">
        <p14:creationId xmlns:p14="http://schemas.microsoft.com/office/powerpoint/2010/main" val="1831974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It is critical to realize that Quantum Computing and Artificial Intelligence are not competing or parallel technologies. Rather, </a:t>
            </a:r>
            <a:r>
              <a:rPr lang="en-US" sz="1200" b="1" kern="1200" dirty="0">
                <a:solidFill>
                  <a:schemeClr val="tx1"/>
                </a:solidFill>
                <a:effectLst/>
                <a:latin typeface="+mn-lt"/>
                <a:ea typeface="+mn-ea"/>
                <a:cs typeface="+mn-cs"/>
              </a:rPr>
              <a:t>Quantum is the ultimate future fuel for AI</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Today's neural networks are heavily constrained by the training data available. When we try to model complex chemistry, battery materials, or protein interactions, classical computers must rely on approximations because simulating exact quantum mechanical physics at the atomic level is classically intractable. </a:t>
            </a:r>
          </a:p>
          <a:p>
            <a:r>
              <a:rPr lang="en-US" sz="1200" kern="1200" dirty="0">
                <a:solidFill>
                  <a:schemeClr val="tx1"/>
                </a:solidFill>
                <a:effectLst/>
                <a:latin typeface="+mn-lt"/>
                <a:ea typeface="+mn-ea"/>
                <a:cs typeface="+mn-cs"/>
              </a:rPr>
              <a:t>Here is how the </a:t>
            </a:r>
            <a:r>
              <a:rPr lang="en-US" sz="1200" b="1" kern="1200" dirty="0">
                <a:solidFill>
                  <a:schemeClr val="tx1"/>
                </a:solidFill>
                <a:effectLst/>
                <a:latin typeface="+mn-lt"/>
                <a:ea typeface="+mn-ea"/>
                <a:cs typeface="+mn-cs"/>
              </a:rPr>
              <a:t>Quantum-AI Bridge</a:t>
            </a:r>
            <a:r>
              <a:rPr lang="en-US" sz="1200" kern="1200" dirty="0">
                <a:solidFill>
                  <a:schemeClr val="tx1"/>
                </a:solidFill>
                <a:effectLst/>
                <a:latin typeface="+mn-lt"/>
                <a:ea typeface="+mn-ea"/>
                <a:cs typeface="+mn-cs"/>
              </a:rPr>
              <a:t> functions: </a:t>
            </a:r>
          </a:p>
          <a:p>
            <a:pPr marL="228600" lvl="0" indent="-228600">
              <a:buFont typeface="+mj-lt"/>
              <a:buAutoNum type="arabicPeriod"/>
            </a:pPr>
            <a:r>
              <a:rPr lang="en-US" sz="1200" b="1" kern="1200" dirty="0">
                <a:solidFill>
                  <a:schemeClr val="tx1"/>
                </a:solidFill>
                <a:effectLst/>
                <a:latin typeface="+mn-lt"/>
                <a:ea typeface="+mn-ea"/>
                <a:cs typeface="+mn-cs"/>
              </a:rPr>
              <a:t>Perfect Simulation:</a:t>
            </a:r>
            <a:r>
              <a:rPr lang="en-US" sz="1200" kern="1200" dirty="0">
                <a:solidFill>
                  <a:schemeClr val="tx1"/>
                </a:solidFill>
                <a:effectLst/>
                <a:latin typeface="+mn-lt"/>
                <a:ea typeface="+mn-ea"/>
                <a:cs typeface="+mn-cs"/>
              </a:rPr>
              <a:t> Quantum computers naturally excel at simulating nature because nature itself operates on quantum physics. Willow-class systems will simulate complex molecular, chemical, and biological interactions with exact physical fidelity. </a:t>
            </a:r>
          </a:p>
          <a:p>
            <a:pPr marL="228600" lvl="0" indent="-228600">
              <a:buFont typeface="+mj-lt"/>
              <a:buAutoNum type="arabicPeriod"/>
            </a:pPr>
            <a:r>
              <a:rPr lang="en-US" sz="1200" b="1" kern="1200" dirty="0">
                <a:solidFill>
                  <a:schemeClr val="tx1"/>
                </a:solidFill>
                <a:effectLst/>
                <a:latin typeface="+mn-lt"/>
                <a:ea typeface="+mn-ea"/>
                <a:cs typeface="+mn-cs"/>
              </a:rPr>
              <a:t>Training Fuel:</a:t>
            </a:r>
            <a:r>
              <a:rPr lang="en-US" sz="1200" kern="1200" dirty="0">
                <a:solidFill>
                  <a:schemeClr val="tx1"/>
                </a:solidFill>
                <a:effectLst/>
                <a:latin typeface="+mn-lt"/>
                <a:ea typeface="+mn-ea"/>
                <a:cs typeface="+mn-cs"/>
              </a:rPr>
              <a:t> The flawless physical data generated by quantum simulations will be fed directly into AI neural networks as synthetic training data. </a:t>
            </a:r>
          </a:p>
          <a:p>
            <a:pPr marL="228600" lvl="0" indent="-228600">
              <a:buFont typeface="+mj-lt"/>
              <a:buAutoNum type="arabicPeriod"/>
            </a:pPr>
            <a:r>
              <a:rPr lang="en-US" sz="1200" b="1" kern="1200" dirty="0">
                <a:solidFill>
                  <a:schemeClr val="tx1"/>
                </a:solidFill>
                <a:effectLst/>
                <a:latin typeface="+mn-lt"/>
                <a:ea typeface="+mn-ea"/>
                <a:cs typeface="+mn-cs"/>
              </a:rPr>
              <a:t>Advanced Intelligence:</a:t>
            </a:r>
            <a:r>
              <a:rPr lang="en-US" sz="1200" kern="1200" dirty="0">
                <a:solidFill>
                  <a:schemeClr val="tx1"/>
                </a:solidFill>
                <a:effectLst/>
                <a:latin typeface="+mn-lt"/>
                <a:ea typeface="+mn-ea"/>
                <a:cs typeface="+mn-cs"/>
              </a:rPr>
              <a:t> AI models trained on exact quantum data will develop a fundamental understanding of nature's building blocks, accelerating drug discovery, material design, and high-temperature superconductors. </a:t>
            </a:r>
          </a:p>
          <a:p>
            <a:r>
              <a:rPr lang="en-US" sz="1200" kern="1200" dirty="0">
                <a:solidFill>
                  <a:schemeClr val="tx1"/>
                </a:solidFill>
                <a:effectLst/>
                <a:latin typeface="+mn-lt"/>
                <a:ea typeface="+mn-ea"/>
                <a:cs typeface="+mn-cs"/>
              </a:rPr>
              <a:t>Quantum solves the physical data bottleneck, providing the pure training ground for the next generation of artificial intelligence. </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12</a:t>
            </a:fld>
            <a:endParaRPr lang="en-US"/>
          </a:p>
        </p:txBody>
      </p:sp>
    </p:spTree>
    <p:extLst>
      <p:ext uri="{BB962C8B-B14F-4D97-AF65-F5344CB8AC3E}">
        <p14:creationId xmlns:p14="http://schemas.microsoft.com/office/powerpoint/2010/main" val="22468700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centuries, academic institutions have organized human knowledge into strict vertical silos: Physics, Chemistry, Medicine, and Climatology. This was necessary because human cognitive bandwidth prevented any individual from mastering more than one discipline. </a:t>
            </a:r>
          </a:p>
          <a:p>
            <a:r>
              <a:rPr lang="en-US" sz="1200" kern="1200" dirty="0">
                <a:solidFill>
                  <a:schemeClr val="tx1"/>
                </a:solidFill>
                <a:effectLst/>
                <a:latin typeface="+mn-lt"/>
                <a:ea typeface="+mn-ea"/>
                <a:cs typeface="+mn-cs"/>
              </a:rPr>
              <a:t>However, nature does not operate in silos. The physical mechanics of a protein folding involve physics, chemistry, biology, and thermodynamics simultaneously. </a:t>
            </a:r>
          </a:p>
          <a:p>
            <a:r>
              <a:rPr lang="en-US" sz="1200" kern="1200" dirty="0">
                <a:solidFill>
                  <a:schemeClr val="tx1"/>
                </a:solidFill>
                <a:effectLst/>
                <a:latin typeface="+mn-lt"/>
                <a:ea typeface="+mn-ea"/>
                <a:cs typeface="+mn-cs"/>
              </a:rPr>
              <a:t>AI acts as a </a:t>
            </a:r>
            <a:r>
              <a:rPr lang="en-US" sz="1200" b="1" kern="1200" dirty="0">
                <a:solidFill>
                  <a:schemeClr val="tx1"/>
                </a:solidFill>
                <a:effectLst/>
                <a:latin typeface="+mn-lt"/>
                <a:ea typeface="+mn-ea"/>
                <a:cs typeface="+mn-cs"/>
              </a:rPr>
              <a:t>polymathic bridge</a:t>
            </a:r>
            <a:r>
              <a:rPr lang="en-US" sz="1200" kern="1200" dirty="0">
                <a:solidFill>
                  <a:schemeClr val="tx1"/>
                </a:solidFill>
                <a:effectLst/>
                <a:latin typeface="+mn-lt"/>
                <a:ea typeface="+mn-ea"/>
                <a:cs typeface="+mn-cs"/>
              </a:rPr>
              <a:t> that collapses these disciplinary walls: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An AI co-scientist can spot a mathematical pattern in quantum physics data and immediately apply it to solve a carbon-capture problem in climatology.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can take a structural breakthrough in chemistry and map it directly onto a receptor target in medicine. </a:t>
            </a:r>
          </a:p>
          <a:p>
            <a:r>
              <a:rPr lang="en-US" sz="1200" kern="1200" dirty="0">
                <a:solidFill>
                  <a:schemeClr val="tx1"/>
                </a:solidFill>
                <a:effectLst/>
                <a:latin typeface="+mn-lt"/>
                <a:ea typeface="+mn-ea"/>
                <a:cs typeface="+mn-cs"/>
              </a:rPr>
              <a:t>The core of discovery sits at the bright intersection where these four domains overlap. The future of research does not belong to those who stay comfortably inside a single domain, but to those who think across the entire architecture of science. </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13</a:t>
            </a:fld>
            <a:endParaRPr lang="en-US"/>
          </a:p>
        </p:txBody>
      </p:sp>
    </p:spTree>
    <p:extLst>
      <p:ext uri="{BB962C8B-B14F-4D97-AF65-F5344CB8AC3E}">
        <p14:creationId xmlns:p14="http://schemas.microsoft.com/office/powerpoint/2010/main" val="2610790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people evaluate AI, they often worry that automating basic tasks will make human workers redundant. In research, the opposite is true: </a:t>
            </a:r>
            <a:r>
              <a:rPr lang="en-US" sz="1200" b="1" kern="1200" dirty="0">
                <a:solidFill>
                  <a:schemeClr val="tx1"/>
                </a:solidFill>
                <a:effectLst/>
                <a:latin typeface="+mn-lt"/>
                <a:ea typeface="+mn-ea"/>
                <a:cs typeface="+mn-cs"/>
              </a:rPr>
              <a:t>AI is an amplifier of human ingenuity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Consider Thomas Edison. History remembers Edison as a lone genius inventor, but in reality, he built the world's first modern research park in Menlo Park, NJ, employing over 100 skilled technicians, machinists, and assistants—his "invention factory." Top scientists today similarly manage large university labs. </a:t>
            </a:r>
          </a:p>
          <a:p>
            <a:r>
              <a:rPr lang="en-US" sz="1200" kern="1200" dirty="0">
                <a:solidFill>
                  <a:schemeClr val="tx1"/>
                </a:solidFill>
                <a:effectLst/>
                <a:latin typeface="+mn-lt"/>
                <a:ea typeface="+mn-ea"/>
                <a:cs typeface="+mn-cs"/>
              </a:rPr>
              <a:t>AI democratizes the invention factory. It grants every individual student, independent developer, doctor, and veteran researcher their own virtual lab staff. </a:t>
            </a:r>
          </a:p>
          <a:p>
            <a:r>
              <a:rPr lang="en-US" sz="1200" kern="1200" dirty="0">
                <a:solidFill>
                  <a:schemeClr val="tx1"/>
                </a:solidFill>
                <a:effectLst/>
                <a:latin typeface="+mn-lt"/>
                <a:ea typeface="+mn-ea"/>
                <a:cs typeface="+mn-cs"/>
              </a:rPr>
              <a:t>As the mechanical labor of literature synthesis, data cleaning, and boilerplate coding approaches zero cost, the premium on uniquely human qualities—</a:t>
            </a:r>
            <a:r>
              <a:rPr lang="en-US" sz="1200" b="1" kern="1200" dirty="0">
                <a:solidFill>
                  <a:schemeClr val="tx1"/>
                </a:solidFill>
                <a:effectLst/>
                <a:latin typeface="+mn-lt"/>
                <a:ea typeface="+mn-ea"/>
                <a:cs typeface="+mn-cs"/>
              </a:rPr>
              <a:t>creativity, empathy, critical judgment, and asking the right questions</a:t>
            </a:r>
            <a:r>
              <a:rPr lang="en-US" sz="1200" kern="1200" dirty="0">
                <a:solidFill>
                  <a:schemeClr val="tx1"/>
                </a:solidFill>
                <a:effectLst/>
                <a:latin typeface="+mn-lt"/>
                <a:ea typeface="+mn-ea"/>
                <a:cs typeface="+mn-cs"/>
              </a:rPr>
              <a:t>—reaches an all-time high. AI expands human potential rather than replacing it. </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14</a:t>
            </a:fld>
            <a:endParaRPr lang="en-US"/>
          </a:p>
        </p:txBody>
      </p:sp>
    </p:spTree>
    <p:extLst>
      <p:ext uri="{BB962C8B-B14F-4D97-AF65-F5344CB8AC3E}">
        <p14:creationId xmlns:p14="http://schemas.microsoft.com/office/powerpoint/2010/main" val="3742943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synthesize what we have discussed today, navigating the architecture of tomorrow requires embracing three key strategic posture shifts: </a:t>
            </a:r>
          </a:p>
          <a:p>
            <a:pPr marL="228600" lvl="0" indent="-228600">
              <a:buFont typeface="+mj-lt"/>
              <a:buAutoNum type="arabicPeriod"/>
            </a:pPr>
            <a:r>
              <a:rPr lang="en-US" sz="1200" b="1" kern="1200" dirty="0">
                <a:solidFill>
                  <a:schemeClr val="tx1"/>
                </a:solidFill>
                <a:effectLst/>
                <a:latin typeface="+mn-lt"/>
                <a:ea typeface="+mn-ea"/>
                <a:cs typeface="+mn-cs"/>
              </a:rPr>
              <a:t>Expect Ambient Intelligence:</a:t>
            </a:r>
            <a:r>
              <a:rPr lang="en-US" sz="1200" kern="1200" dirty="0">
                <a:solidFill>
                  <a:schemeClr val="tx1"/>
                </a:solidFill>
                <a:effectLst/>
                <a:latin typeface="+mn-lt"/>
                <a:ea typeface="+mn-ea"/>
                <a:cs typeface="+mn-cs"/>
              </a:rPr>
              <a:t> Stop designing software as static, isolated applications. Prepare for a world of continuous, context-aware intelligence that dynamically generates its own interfaces to meet user intent. </a:t>
            </a:r>
          </a:p>
          <a:p>
            <a:pPr marL="228600" lvl="0" indent="-228600">
              <a:buFont typeface="+mj-lt"/>
              <a:buAutoNum type="arabicPeriod"/>
            </a:pPr>
            <a:r>
              <a:rPr lang="en-US" sz="1200" b="1" kern="1200" dirty="0">
                <a:solidFill>
                  <a:schemeClr val="tx1"/>
                </a:solidFill>
                <a:effectLst/>
                <a:latin typeface="+mn-lt"/>
                <a:ea typeface="+mn-ea"/>
                <a:cs typeface="+mn-cs"/>
              </a:rPr>
              <a:t>Shift from Technician to Architect:</a:t>
            </a:r>
            <a:r>
              <a:rPr lang="en-US" sz="1200" kern="1200" dirty="0">
                <a:solidFill>
                  <a:schemeClr val="tx1"/>
                </a:solidFill>
                <a:effectLst/>
                <a:latin typeface="+mn-lt"/>
                <a:ea typeface="+mn-ea"/>
                <a:cs typeface="+mn-cs"/>
              </a:rPr>
              <a:t> The market value of manual coding and routine data collection is plummeting. The value of systems-level thinking, cross-disciplinary judgment, domain taste, and ethical oversight is soaring. </a:t>
            </a:r>
          </a:p>
          <a:p>
            <a:pPr marL="228600" lvl="0" indent="-228600">
              <a:buFont typeface="+mj-lt"/>
              <a:buAutoNum type="arabicPeriod"/>
            </a:pPr>
            <a:r>
              <a:rPr lang="en-US" sz="1200" b="1" kern="1200" dirty="0">
                <a:solidFill>
                  <a:schemeClr val="tx1"/>
                </a:solidFill>
                <a:effectLst/>
                <a:latin typeface="+mn-lt"/>
                <a:ea typeface="+mn-ea"/>
                <a:cs typeface="+mn-cs"/>
              </a:rPr>
              <a:t>Target the Impossible:</a:t>
            </a:r>
            <a:r>
              <a:rPr lang="en-US" sz="1200" kern="1200" dirty="0">
                <a:solidFill>
                  <a:schemeClr val="tx1"/>
                </a:solidFill>
                <a:effectLst/>
                <a:latin typeface="+mn-lt"/>
                <a:ea typeface="+mn-ea"/>
                <a:cs typeface="+mn-cs"/>
              </a:rPr>
              <a:t> The Magic Cycle of Research is spinning faster than ever. If a problem in your industry currently seems intractable due to human bandwidth or data complexity, it is prime for an AI breakthrough. Ask bigger questions. </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15</a:t>
            </a:fld>
            <a:endParaRPr lang="en-US"/>
          </a:p>
        </p:txBody>
      </p:sp>
    </p:spTree>
    <p:extLst>
      <p:ext uri="{BB962C8B-B14F-4D97-AF65-F5344CB8AC3E}">
        <p14:creationId xmlns:p14="http://schemas.microsoft.com/office/powerpoint/2010/main" val="313347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Google Research is committed to transitioning AI from a technical novelty into an </a:t>
            </a:r>
            <a:r>
              <a:rPr lang="en-US" sz="1200" b="1" kern="1200" dirty="0">
                <a:solidFill>
                  <a:schemeClr val="tx1"/>
                </a:solidFill>
                <a:effectLst/>
                <a:latin typeface="+mn-lt"/>
                <a:ea typeface="+mn-ea"/>
                <a:cs typeface="+mn-cs"/>
              </a:rPr>
              <a:t>Ambient Intelligence</a:t>
            </a:r>
            <a:r>
              <a:rPr lang="en-US" sz="1200" kern="1200" dirty="0">
                <a:solidFill>
                  <a:schemeClr val="tx1"/>
                </a:solidFill>
                <a:effectLst/>
                <a:latin typeface="+mn-lt"/>
                <a:ea typeface="+mn-ea"/>
                <a:cs typeface="+mn-cs"/>
              </a:rPr>
              <a:t> that solves humanity's most complex challenges. </a:t>
            </a:r>
          </a:p>
          <a:p>
            <a:r>
              <a:rPr lang="en-US" sz="1200" kern="1200" dirty="0">
                <a:solidFill>
                  <a:schemeClr val="tx1"/>
                </a:solidFill>
                <a:effectLst/>
                <a:latin typeface="+mn-lt"/>
                <a:ea typeface="+mn-ea"/>
                <a:cs typeface="+mn-cs"/>
              </a:rPr>
              <a:t>Look at what is already becoming our new baseline: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Generative UI</a:t>
            </a:r>
            <a:r>
              <a:rPr lang="en-US" sz="1200" kern="1200" dirty="0">
                <a:solidFill>
                  <a:schemeClr val="tx1"/>
                </a:solidFill>
                <a:effectLst/>
                <a:latin typeface="+mn-lt"/>
                <a:ea typeface="+mn-ea"/>
                <a:cs typeface="+mn-cs"/>
              </a:rPr>
              <a:t> dynamically tailoring information to individual human context.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AI Co-Scientists</a:t>
            </a:r>
            <a:r>
              <a:rPr lang="en-US" sz="1200" kern="1200" dirty="0">
                <a:solidFill>
                  <a:schemeClr val="tx1"/>
                </a:solidFill>
                <a:effectLst/>
                <a:latin typeface="+mn-lt"/>
                <a:ea typeface="+mn-ea"/>
                <a:cs typeface="+mn-cs"/>
              </a:rPr>
              <a:t> compressing years of literature review and hypothesis testing into three days.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Planetary Intelligence</a:t>
            </a:r>
            <a:r>
              <a:rPr lang="en-US" sz="1200" kern="1200" dirty="0">
                <a:solidFill>
                  <a:schemeClr val="tx1"/>
                </a:solidFill>
                <a:effectLst/>
                <a:latin typeface="+mn-lt"/>
                <a:ea typeface="+mn-ea"/>
                <a:cs typeface="+mn-cs"/>
              </a:rPr>
              <a:t> protecting 2 billion people across 150 countries with 7-day early flood warnings.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Open Platforms</a:t>
            </a:r>
            <a:r>
              <a:rPr lang="en-US" sz="1200" kern="1200" dirty="0">
                <a:solidFill>
                  <a:schemeClr val="tx1"/>
                </a:solidFill>
                <a:effectLst/>
                <a:latin typeface="+mn-lt"/>
                <a:ea typeface="+mn-ea"/>
                <a:cs typeface="+mn-cs"/>
              </a:rPr>
              <a:t> like </a:t>
            </a:r>
            <a:r>
              <a:rPr lang="en-US" sz="1200" kern="1200" dirty="0" err="1">
                <a:solidFill>
                  <a:schemeClr val="tx1"/>
                </a:solidFill>
                <a:effectLst/>
                <a:latin typeface="+mn-lt"/>
                <a:ea typeface="+mn-ea"/>
                <a:cs typeface="+mn-cs"/>
              </a:rPr>
              <a:t>MedGemma</a:t>
            </a:r>
            <a:r>
              <a:rPr lang="en-US" sz="1200" kern="1200" dirty="0">
                <a:solidFill>
                  <a:schemeClr val="tx1"/>
                </a:solidFill>
                <a:effectLst/>
                <a:latin typeface="+mn-lt"/>
                <a:ea typeface="+mn-ea"/>
                <a:cs typeface="+mn-cs"/>
              </a:rPr>
              <a:t> democratizing clinical AI to save lives in remote corners of the world.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Artificial Intelligence is not the end of human discovery—it is the springboard. By architecting the impossible today, we build the baseline reality for tomorrow. Thank you.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https://www.youtube.com/watch?v=ggPWZ34gGaY</a:t>
            </a:r>
          </a:p>
          <a:p>
            <a:endParaRPr lang="en-US" dirty="0"/>
          </a:p>
        </p:txBody>
      </p:sp>
      <p:sp>
        <p:nvSpPr>
          <p:cNvPr id="4" name="Slide Number Placeholder 3"/>
          <p:cNvSpPr>
            <a:spLocks noGrp="1"/>
          </p:cNvSpPr>
          <p:nvPr>
            <p:ph type="sldNum" sz="quarter" idx="5"/>
          </p:nvPr>
        </p:nvSpPr>
        <p:spPr/>
        <p:txBody>
          <a:bodyPr/>
          <a:lstStyle/>
          <a:p>
            <a:fld id="{A6479DD4-03B6-4019-887E-EA3E2A78E956}" type="slidenum">
              <a:rPr lang="en-US" smtClean="0"/>
              <a:t>16</a:t>
            </a:fld>
            <a:endParaRPr lang="en-US"/>
          </a:p>
        </p:txBody>
      </p:sp>
    </p:spTree>
    <p:extLst>
      <p:ext uri="{BB962C8B-B14F-4D97-AF65-F5344CB8AC3E}">
        <p14:creationId xmlns:p14="http://schemas.microsoft.com/office/powerpoint/2010/main" val="2009419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E6D162-C9BC-4AAA-64AE-2F2555B9D663}"/>
              </a:ext>
            </a:extLst>
          </p:cNvPr>
          <p:cNvSpPr>
            <a:spLocks noGrp="1"/>
          </p:cNvSpPr>
          <p:nvPr>
            <p:ph type="dt" sz="half" idx="10"/>
          </p:nvPr>
        </p:nvSpPr>
        <p:spPr/>
        <p:txBody>
          <a:bodyPr/>
          <a:lstStyle/>
          <a:p>
            <a:fld id="{90913443-C5B2-4BC8-A852-3254D027E71B}" type="datetimeFigureOut">
              <a:rPr lang="en-US" smtClean="0"/>
              <a:t>10/20/2026</a:t>
            </a:fld>
            <a:endParaRPr lang="en-US"/>
          </a:p>
        </p:txBody>
      </p:sp>
      <p:sp>
        <p:nvSpPr>
          <p:cNvPr id="3" name="Footer Placeholder 2">
            <a:extLst>
              <a:ext uri="{FF2B5EF4-FFF2-40B4-BE49-F238E27FC236}">
                <a16:creationId xmlns:a16="http://schemas.microsoft.com/office/drawing/2014/main" id="{0E7ACAAE-5DCC-4D63-9A6A-8D8161BED7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483592-2B8E-4D26-7B76-3698A003599F}"/>
              </a:ext>
            </a:extLst>
          </p:cNvPr>
          <p:cNvSpPr>
            <a:spLocks noGrp="1"/>
          </p:cNvSpPr>
          <p:nvPr>
            <p:ph type="sldNum" sz="quarter" idx="12"/>
          </p:nvPr>
        </p:nvSpPr>
        <p:spPr/>
        <p:txBody>
          <a:bodyPr/>
          <a:lstStyle/>
          <a:p>
            <a:fld id="{0972C517-B7E4-4B56-999E-A0138AA13E09}" type="slidenum">
              <a:rPr lang="en-US" smtClean="0"/>
              <a:t>‹#›</a:t>
            </a:fld>
            <a:endParaRPr lang="en-US"/>
          </a:p>
        </p:txBody>
      </p:sp>
    </p:spTree>
    <p:extLst>
      <p:ext uri="{BB962C8B-B14F-4D97-AF65-F5344CB8AC3E}">
        <p14:creationId xmlns:p14="http://schemas.microsoft.com/office/powerpoint/2010/main" val="352248635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086149-91FC-9DD8-8299-48B44F2B23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1CBEC2-77D3-DC1B-2496-02C75ED35B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5DF122-50E3-3A7D-5A6E-4C7F274A01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913443-C5B2-4BC8-A852-3254D027E71B}" type="datetimeFigureOut">
              <a:rPr lang="en-US" smtClean="0"/>
              <a:t>10/20/2026</a:t>
            </a:fld>
            <a:endParaRPr lang="en-US"/>
          </a:p>
        </p:txBody>
      </p:sp>
      <p:sp>
        <p:nvSpPr>
          <p:cNvPr id="5" name="Footer Placeholder 4">
            <a:extLst>
              <a:ext uri="{FF2B5EF4-FFF2-40B4-BE49-F238E27FC236}">
                <a16:creationId xmlns:a16="http://schemas.microsoft.com/office/drawing/2014/main" id="{58985CF0-5BE6-860C-2BCA-94DB2C1BC5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83A2CC5-28A6-DD01-FBB4-7F3A7A2958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972C517-B7E4-4B56-999E-A0138AA13E09}" type="slidenum">
              <a:rPr lang="en-US" smtClean="0"/>
              <a:t>‹#›</a:t>
            </a:fld>
            <a:endParaRPr lang="en-US"/>
          </a:p>
        </p:txBody>
      </p:sp>
    </p:spTree>
    <p:extLst>
      <p:ext uri="{BB962C8B-B14F-4D97-AF65-F5344CB8AC3E}">
        <p14:creationId xmlns:p14="http://schemas.microsoft.com/office/powerpoint/2010/main" val="255677351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AA7F58-AF4B-8733-9C16-CCF71C8409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2C3E21-F310-745D-9A74-FD96D71C83A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3FE67D-E206-6B30-B180-7D7132E0EB5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66F5B7-F821-A3D4-195C-EF14380C2D0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BB3445-A925-A11E-0485-9FEC85E435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DE2E0D-BD07-E5C5-4C30-E448E6EC67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9FD2CC-6313-CBAD-72E7-45FB7E9F5E6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150CAF-E06B-48A1-3755-BF35F0B95D9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3ECE17-E628-0FF0-932A-58F2EC6718D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75B523-5759-2412-325A-FA4561B4D0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36E186-607F-288A-E444-9BD3069125A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81CA39-498C-6E63-6350-8B2FC84CDA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5FFDE8-23CF-0926-4E2F-EC2CD2A081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987299-99C9-06A9-EFB5-4EEED49E1F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6CE4F2-75C0-986E-E4A0-18002562177D}"/>
              </a:ext>
            </a:extLst>
          </p:cNvPr>
          <p:cNvPicPr>
            <a:picLocks noChangeAspect="1"/>
          </p:cNvPicPr>
          <p:nvPr/>
        </p:nvPicPr>
        <p:blipFill>
          <a:blip r:embed="rId3"/>
          <a:stretch>
            <a:fillRect/>
          </a:stretch>
        </p:blipFill>
        <p:spPr>
          <a:xfrm>
            <a:off x="0" y="57150"/>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79DBA1-A9FB-80D7-9DA3-EFA54FE4C75D}"/>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4753072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3299</Words>
  <Application>Microsoft Office PowerPoint</Application>
  <PresentationFormat>寬螢幕</PresentationFormat>
  <Paragraphs>117</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2026-09-19T06:17:34Z</dcterms:created>
  <dcterms:modified xsi:type="dcterms:W3CDTF">2026-10-20T13:27:34Z</dcterms:modified>
</cp:coreProperties>
</file>