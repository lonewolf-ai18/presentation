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ACA560-4D35-48A1-9AB8-B6D5B6074DAD}" v="32" dt="2026-09-26T12:40:48.2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8717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26T12:42:03.905" v="65" actId="166"/>
      <pc:docMkLst>
        <pc:docMk/>
      </pc:docMkLst>
      <pc:sldChg chg="addSp delSp modSp mod modNotes modNotesTx">
        <pc:chgData name="Lai, Wilson" userId="2840974a-0d84-4886-90a9-9a3ed79f3a48" providerId="ADAL" clId="{9F23B798-9E84-4552-BA63-E776E805C424}" dt="2026-09-26T12:42:03.905" v="65" actId="166"/>
        <pc:sldMkLst>
          <pc:docMk/>
          <pc:sldMk cId="0" sldId="257"/>
        </pc:sldMkLst>
        <pc:picChg chg="del ord">
          <ac:chgData name="Lai, Wilson" userId="2840974a-0d84-4886-90a9-9a3ed79f3a48" providerId="ADAL" clId="{9F23B798-9E84-4552-BA63-E776E805C424}" dt="2026-09-26T11:43:57.642" v="1" actId="21"/>
          <ac:picMkLst>
            <pc:docMk/>
            <pc:sldMk cId="0" sldId="257"/>
            <ac:picMk id="2" creationId="{00000000-0000-0000-0000-000000000000}"/>
          </ac:picMkLst>
        </pc:picChg>
        <pc:picChg chg="add mod ord">
          <ac:chgData name="Lai, Wilson" userId="2840974a-0d84-4886-90a9-9a3ed79f3a48" providerId="ADAL" clId="{9F23B798-9E84-4552-BA63-E776E805C424}" dt="2026-09-26T12:42:03.905" v="65" actId="166"/>
          <ac:picMkLst>
            <pc:docMk/>
            <pc:sldMk cId="0" sldId="257"/>
            <ac:picMk id="7" creationId="{E5161ED8-4682-A21F-2AC1-D23358E92B90}"/>
          </ac:picMkLst>
        </pc:picChg>
      </pc:sldChg>
      <pc:sldChg chg="addSp delSp mod modNotes">
        <pc:chgData name="Lai, Wilson" userId="2840974a-0d84-4886-90a9-9a3ed79f3a48" providerId="ADAL" clId="{9F23B798-9E84-4552-BA63-E776E805C424}" dt="2026-09-26T12:40:25.440" v="57"/>
        <pc:sldMkLst>
          <pc:docMk/>
          <pc:sldMk cId="0" sldId="258"/>
        </pc:sldMkLst>
        <pc:picChg chg="del">
          <ac:chgData name="Lai, Wilson" userId="2840974a-0d84-4886-90a9-9a3ed79f3a48" providerId="ADAL" clId="{9F23B798-9E84-4552-BA63-E776E805C424}" dt="2026-09-26T11:44:27.594" v="4" actId="21"/>
          <ac:picMkLst>
            <pc:docMk/>
            <pc:sldMk cId="0" sldId="258"/>
            <ac:picMk id="2" creationId="{00000000-0000-0000-0000-000000000000}"/>
          </ac:picMkLst>
        </pc:picChg>
        <pc:picChg chg="add">
          <ac:chgData name="Lai, Wilson" userId="2840974a-0d84-4886-90a9-9a3ed79f3a48" providerId="ADAL" clId="{9F23B798-9E84-4552-BA63-E776E805C424}" dt="2026-09-26T11:44:35.818" v="5" actId="22"/>
          <ac:picMkLst>
            <pc:docMk/>
            <pc:sldMk cId="0" sldId="258"/>
            <ac:picMk id="4" creationId="{A313E562-CEAA-1DC7-31AB-906E8CDE11C5}"/>
          </ac:picMkLst>
        </pc:picChg>
      </pc:sldChg>
      <pc:sldChg chg="addSp delSp mod modNotes">
        <pc:chgData name="Lai, Wilson" userId="2840974a-0d84-4886-90a9-9a3ed79f3a48" providerId="ADAL" clId="{9F23B798-9E84-4552-BA63-E776E805C424}" dt="2026-09-26T12:40:25.440" v="57"/>
        <pc:sldMkLst>
          <pc:docMk/>
          <pc:sldMk cId="0" sldId="259"/>
        </pc:sldMkLst>
        <pc:picChg chg="del">
          <ac:chgData name="Lai, Wilson" userId="2840974a-0d84-4886-90a9-9a3ed79f3a48" providerId="ADAL" clId="{9F23B798-9E84-4552-BA63-E776E805C424}" dt="2026-09-26T11:44:40.442" v="6" actId="21"/>
          <ac:picMkLst>
            <pc:docMk/>
            <pc:sldMk cId="0" sldId="259"/>
            <ac:picMk id="2" creationId="{00000000-0000-0000-0000-000000000000}"/>
          </ac:picMkLst>
        </pc:picChg>
        <pc:picChg chg="add">
          <ac:chgData name="Lai, Wilson" userId="2840974a-0d84-4886-90a9-9a3ed79f3a48" providerId="ADAL" clId="{9F23B798-9E84-4552-BA63-E776E805C424}" dt="2026-09-26T11:44:47.528" v="7" actId="22"/>
          <ac:picMkLst>
            <pc:docMk/>
            <pc:sldMk cId="0" sldId="259"/>
            <ac:picMk id="4" creationId="{24EF7F70-182F-CB77-69BA-4B1468F8402A}"/>
          </ac:picMkLst>
        </pc:picChg>
      </pc:sldChg>
      <pc:sldChg chg="addSp delSp mod modNotes">
        <pc:chgData name="Lai, Wilson" userId="2840974a-0d84-4886-90a9-9a3ed79f3a48" providerId="ADAL" clId="{9F23B798-9E84-4552-BA63-E776E805C424}" dt="2026-09-26T12:40:48.298" v="59"/>
        <pc:sldMkLst>
          <pc:docMk/>
          <pc:sldMk cId="0" sldId="260"/>
        </pc:sldMkLst>
        <pc:picChg chg="del">
          <ac:chgData name="Lai, Wilson" userId="2840974a-0d84-4886-90a9-9a3ed79f3a48" providerId="ADAL" clId="{9F23B798-9E84-4552-BA63-E776E805C424}" dt="2026-09-26T11:44:52.600" v="8" actId="21"/>
          <ac:picMkLst>
            <pc:docMk/>
            <pc:sldMk cId="0" sldId="260"/>
            <ac:picMk id="2" creationId="{00000000-0000-0000-0000-000000000000}"/>
          </ac:picMkLst>
        </pc:picChg>
        <pc:picChg chg="add">
          <ac:chgData name="Lai, Wilson" userId="2840974a-0d84-4886-90a9-9a3ed79f3a48" providerId="ADAL" clId="{9F23B798-9E84-4552-BA63-E776E805C424}" dt="2026-09-26T11:44:59.978" v="9" actId="22"/>
          <ac:picMkLst>
            <pc:docMk/>
            <pc:sldMk cId="0" sldId="260"/>
            <ac:picMk id="4" creationId="{0BC31B7F-8FFE-6D1D-1E37-3B89B43AA944}"/>
          </ac:picMkLst>
        </pc:picChg>
      </pc:sldChg>
      <pc:sldChg chg="addSp delSp mod modNotes">
        <pc:chgData name="Lai, Wilson" userId="2840974a-0d84-4886-90a9-9a3ed79f3a48" providerId="ADAL" clId="{9F23B798-9E84-4552-BA63-E776E805C424}" dt="2026-09-26T12:40:25.440" v="57"/>
        <pc:sldMkLst>
          <pc:docMk/>
          <pc:sldMk cId="0" sldId="261"/>
        </pc:sldMkLst>
        <pc:picChg chg="del">
          <ac:chgData name="Lai, Wilson" userId="2840974a-0d84-4886-90a9-9a3ed79f3a48" providerId="ADAL" clId="{9F23B798-9E84-4552-BA63-E776E805C424}" dt="2026-09-26T11:45:02.323" v="10" actId="21"/>
          <ac:picMkLst>
            <pc:docMk/>
            <pc:sldMk cId="0" sldId="261"/>
            <ac:picMk id="2" creationId="{00000000-0000-0000-0000-000000000000}"/>
          </ac:picMkLst>
        </pc:picChg>
        <pc:picChg chg="add">
          <ac:chgData name="Lai, Wilson" userId="2840974a-0d84-4886-90a9-9a3ed79f3a48" providerId="ADAL" clId="{9F23B798-9E84-4552-BA63-E776E805C424}" dt="2026-09-26T11:45:33.061" v="11" actId="22"/>
          <ac:picMkLst>
            <pc:docMk/>
            <pc:sldMk cId="0" sldId="261"/>
            <ac:picMk id="4" creationId="{FFCF40AA-B96B-A187-538B-55B32CA8EAD1}"/>
          </ac:picMkLst>
        </pc:picChg>
      </pc:sldChg>
      <pc:sldChg chg="addSp delSp mod modNotes">
        <pc:chgData name="Lai, Wilson" userId="2840974a-0d84-4886-90a9-9a3ed79f3a48" providerId="ADAL" clId="{9F23B798-9E84-4552-BA63-E776E805C424}" dt="2026-09-26T12:40:48.298" v="59"/>
        <pc:sldMkLst>
          <pc:docMk/>
          <pc:sldMk cId="0" sldId="262"/>
        </pc:sldMkLst>
        <pc:picChg chg="del">
          <ac:chgData name="Lai, Wilson" userId="2840974a-0d84-4886-90a9-9a3ed79f3a48" providerId="ADAL" clId="{9F23B798-9E84-4552-BA63-E776E805C424}" dt="2026-09-26T11:45:35.013" v="12" actId="21"/>
          <ac:picMkLst>
            <pc:docMk/>
            <pc:sldMk cId="0" sldId="262"/>
            <ac:picMk id="2" creationId="{00000000-0000-0000-0000-000000000000}"/>
          </ac:picMkLst>
        </pc:picChg>
        <pc:picChg chg="add">
          <ac:chgData name="Lai, Wilson" userId="2840974a-0d84-4886-90a9-9a3ed79f3a48" providerId="ADAL" clId="{9F23B798-9E84-4552-BA63-E776E805C424}" dt="2026-09-26T11:45:44.420" v="13" actId="22"/>
          <ac:picMkLst>
            <pc:docMk/>
            <pc:sldMk cId="0" sldId="262"/>
            <ac:picMk id="4" creationId="{3481E73E-6DE8-1050-097E-C9741E3691BD}"/>
          </ac:picMkLst>
        </pc:picChg>
      </pc:sldChg>
      <pc:sldChg chg="addSp delSp mod modNotes">
        <pc:chgData name="Lai, Wilson" userId="2840974a-0d84-4886-90a9-9a3ed79f3a48" providerId="ADAL" clId="{9F23B798-9E84-4552-BA63-E776E805C424}" dt="2026-09-26T12:40:25.440" v="57"/>
        <pc:sldMkLst>
          <pc:docMk/>
          <pc:sldMk cId="0" sldId="263"/>
        </pc:sldMkLst>
        <pc:picChg chg="del">
          <ac:chgData name="Lai, Wilson" userId="2840974a-0d84-4886-90a9-9a3ed79f3a48" providerId="ADAL" clId="{9F23B798-9E84-4552-BA63-E776E805C424}" dt="2026-09-26T11:45:49.751" v="14" actId="21"/>
          <ac:picMkLst>
            <pc:docMk/>
            <pc:sldMk cId="0" sldId="263"/>
            <ac:picMk id="2" creationId="{00000000-0000-0000-0000-000000000000}"/>
          </ac:picMkLst>
        </pc:picChg>
        <pc:picChg chg="add">
          <ac:chgData name="Lai, Wilson" userId="2840974a-0d84-4886-90a9-9a3ed79f3a48" providerId="ADAL" clId="{9F23B798-9E84-4552-BA63-E776E805C424}" dt="2026-09-26T11:46:55.070" v="15" actId="22"/>
          <ac:picMkLst>
            <pc:docMk/>
            <pc:sldMk cId="0" sldId="263"/>
            <ac:picMk id="4" creationId="{5F9F06CC-6BC5-FC5D-9305-D7DA84E0A7D0}"/>
          </ac:picMkLst>
        </pc:picChg>
      </pc:sldChg>
      <pc:sldChg chg="addSp delSp mod modNotes">
        <pc:chgData name="Lai, Wilson" userId="2840974a-0d84-4886-90a9-9a3ed79f3a48" providerId="ADAL" clId="{9F23B798-9E84-4552-BA63-E776E805C424}" dt="2026-09-26T12:40:25.440" v="57"/>
        <pc:sldMkLst>
          <pc:docMk/>
          <pc:sldMk cId="0" sldId="264"/>
        </pc:sldMkLst>
        <pc:picChg chg="del">
          <ac:chgData name="Lai, Wilson" userId="2840974a-0d84-4886-90a9-9a3ed79f3a48" providerId="ADAL" clId="{9F23B798-9E84-4552-BA63-E776E805C424}" dt="2026-09-26T11:46:57.822" v="16" actId="21"/>
          <ac:picMkLst>
            <pc:docMk/>
            <pc:sldMk cId="0" sldId="264"/>
            <ac:picMk id="2" creationId="{00000000-0000-0000-0000-000000000000}"/>
          </ac:picMkLst>
        </pc:picChg>
        <pc:picChg chg="add">
          <ac:chgData name="Lai, Wilson" userId="2840974a-0d84-4886-90a9-9a3ed79f3a48" providerId="ADAL" clId="{9F23B798-9E84-4552-BA63-E776E805C424}" dt="2026-09-26T11:47:05.332" v="17" actId="22"/>
          <ac:picMkLst>
            <pc:docMk/>
            <pc:sldMk cId="0" sldId="264"/>
            <ac:picMk id="4" creationId="{DC32CC97-B6B6-3E9B-B396-BC312E0177F4}"/>
          </ac:picMkLst>
        </pc:picChg>
      </pc:sldChg>
      <pc:sldChg chg="addSp delSp mod modNotes">
        <pc:chgData name="Lai, Wilson" userId="2840974a-0d84-4886-90a9-9a3ed79f3a48" providerId="ADAL" clId="{9F23B798-9E84-4552-BA63-E776E805C424}" dt="2026-09-26T12:40:25.440" v="57"/>
        <pc:sldMkLst>
          <pc:docMk/>
          <pc:sldMk cId="0" sldId="265"/>
        </pc:sldMkLst>
        <pc:picChg chg="del">
          <ac:chgData name="Lai, Wilson" userId="2840974a-0d84-4886-90a9-9a3ed79f3a48" providerId="ADAL" clId="{9F23B798-9E84-4552-BA63-E776E805C424}" dt="2026-09-26T11:47:09.024" v="18" actId="21"/>
          <ac:picMkLst>
            <pc:docMk/>
            <pc:sldMk cId="0" sldId="265"/>
            <ac:picMk id="2" creationId="{00000000-0000-0000-0000-000000000000}"/>
          </ac:picMkLst>
        </pc:picChg>
        <pc:picChg chg="add">
          <ac:chgData name="Lai, Wilson" userId="2840974a-0d84-4886-90a9-9a3ed79f3a48" providerId="ADAL" clId="{9F23B798-9E84-4552-BA63-E776E805C424}" dt="2026-09-26T11:47:59.429" v="19" actId="22"/>
          <ac:picMkLst>
            <pc:docMk/>
            <pc:sldMk cId="0" sldId="265"/>
            <ac:picMk id="4" creationId="{A6B71579-FA19-3940-F0AB-445DD448CE59}"/>
          </ac:picMkLst>
        </pc:picChg>
      </pc:sldChg>
      <pc:sldChg chg="addSp delSp mod modNotes">
        <pc:chgData name="Lai, Wilson" userId="2840974a-0d84-4886-90a9-9a3ed79f3a48" providerId="ADAL" clId="{9F23B798-9E84-4552-BA63-E776E805C424}" dt="2026-09-26T12:40:48.298" v="59"/>
        <pc:sldMkLst>
          <pc:docMk/>
          <pc:sldMk cId="0" sldId="266"/>
        </pc:sldMkLst>
        <pc:picChg chg="del">
          <ac:chgData name="Lai, Wilson" userId="2840974a-0d84-4886-90a9-9a3ed79f3a48" providerId="ADAL" clId="{9F23B798-9E84-4552-BA63-E776E805C424}" dt="2026-09-26T11:48:02.996" v="20" actId="21"/>
          <ac:picMkLst>
            <pc:docMk/>
            <pc:sldMk cId="0" sldId="266"/>
            <ac:picMk id="2" creationId="{00000000-0000-0000-0000-000000000000}"/>
          </ac:picMkLst>
        </pc:picChg>
        <pc:picChg chg="add">
          <ac:chgData name="Lai, Wilson" userId="2840974a-0d84-4886-90a9-9a3ed79f3a48" providerId="ADAL" clId="{9F23B798-9E84-4552-BA63-E776E805C424}" dt="2026-09-26T11:48:11.161" v="21" actId="22"/>
          <ac:picMkLst>
            <pc:docMk/>
            <pc:sldMk cId="0" sldId="266"/>
            <ac:picMk id="4" creationId="{A2949157-A234-463D-D776-1E311EB778BD}"/>
          </ac:picMkLst>
        </pc:picChg>
      </pc:sldChg>
      <pc:sldChg chg="addSp delSp mod modNotes">
        <pc:chgData name="Lai, Wilson" userId="2840974a-0d84-4886-90a9-9a3ed79f3a48" providerId="ADAL" clId="{9F23B798-9E84-4552-BA63-E776E805C424}" dt="2026-09-26T12:40:25.440" v="57"/>
        <pc:sldMkLst>
          <pc:docMk/>
          <pc:sldMk cId="0" sldId="267"/>
        </pc:sldMkLst>
        <pc:picChg chg="del">
          <ac:chgData name="Lai, Wilson" userId="2840974a-0d84-4886-90a9-9a3ed79f3a48" providerId="ADAL" clId="{9F23B798-9E84-4552-BA63-E776E805C424}" dt="2026-09-26T11:48:12.715" v="22" actId="21"/>
          <ac:picMkLst>
            <pc:docMk/>
            <pc:sldMk cId="0" sldId="267"/>
            <ac:picMk id="2" creationId="{00000000-0000-0000-0000-000000000000}"/>
          </ac:picMkLst>
        </pc:picChg>
        <pc:picChg chg="add">
          <ac:chgData name="Lai, Wilson" userId="2840974a-0d84-4886-90a9-9a3ed79f3a48" providerId="ADAL" clId="{9F23B798-9E84-4552-BA63-E776E805C424}" dt="2026-09-26T11:48:19.955" v="23" actId="22"/>
          <ac:picMkLst>
            <pc:docMk/>
            <pc:sldMk cId="0" sldId="267"/>
            <ac:picMk id="4" creationId="{2125F8CD-4B1F-D651-971F-724E3C877DDC}"/>
          </ac:picMkLst>
        </pc:picChg>
      </pc:sldChg>
      <pc:sldChg chg="addSp delSp mod modNotes">
        <pc:chgData name="Lai, Wilson" userId="2840974a-0d84-4886-90a9-9a3ed79f3a48" providerId="ADAL" clId="{9F23B798-9E84-4552-BA63-E776E805C424}" dt="2026-09-26T12:40:25.440" v="57"/>
        <pc:sldMkLst>
          <pc:docMk/>
          <pc:sldMk cId="0" sldId="268"/>
        </pc:sldMkLst>
        <pc:picChg chg="del">
          <ac:chgData name="Lai, Wilson" userId="2840974a-0d84-4886-90a9-9a3ed79f3a48" providerId="ADAL" clId="{9F23B798-9E84-4552-BA63-E776E805C424}" dt="2026-09-26T11:48:21.682" v="24" actId="21"/>
          <ac:picMkLst>
            <pc:docMk/>
            <pc:sldMk cId="0" sldId="268"/>
            <ac:picMk id="2" creationId="{00000000-0000-0000-0000-000000000000}"/>
          </ac:picMkLst>
        </pc:picChg>
        <pc:picChg chg="add">
          <ac:chgData name="Lai, Wilson" userId="2840974a-0d84-4886-90a9-9a3ed79f3a48" providerId="ADAL" clId="{9F23B798-9E84-4552-BA63-E776E805C424}" dt="2026-09-26T11:48:30.080" v="25" actId="22"/>
          <ac:picMkLst>
            <pc:docMk/>
            <pc:sldMk cId="0" sldId="268"/>
            <ac:picMk id="4" creationId="{3F5C7056-CA41-37CF-16D7-970877CEB3B4}"/>
          </ac:picMkLst>
        </pc:picChg>
      </pc:sldChg>
      <pc:sldChg chg="addSp delSp mod modNotes modNotesTx">
        <pc:chgData name="Lai, Wilson" userId="2840974a-0d84-4886-90a9-9a3ed79f3a48" providerId="ADAL" clId="{9F23B798-9E84-4552-BA63-E776E805C424}" dt="2026-09-26T12:40:25.440" v="57"/>
        <pc:sldMkLst>
          <pc:docMk/>
          <pc:sldMk cId="2429079608" sldId="269"/>
        </pc:sldMkLst>
        <pc:picChg chg="del">
          <ac:chgData name="Lai, Wilson" userId="2840974a-0d84-4886-90a9-9a3ed79f3a48" providerId="ADAL" clId="{9F23B798-9E84-4552-BA63-E776E805C424}" dt="2026-09-26T11:48:33.181" v="26" actId="21"/>
          <ac:picMkLst>
            <pc:docMk/>
            <pc:sldMk cId="2429079608" sldId="269"/>
            <ac:picMk id="3" creationId="{1E4224E3-B333-0A1C-7894-42E0282D1345}"/>
          </ac:picMkLst>
        </pc:picChg>
        <pc:picChg chg="add">
          <ac:chgData name="Lai, Wilson" userId="2840974a-0d84-4886-90a9-9a3ed79f3a48" providerId="ADAL" clId="{9F23B798-9E84-4552-BA63-E776E805C424}" dt="2026-09-26T11:48:47.397" v="27" actId="22"/>
          <ac:picMkLst>
            <pc:docMk/>
            <pc:sldMk cId="2429079608" sldId="269"/>
            <ac:picMk id="4" creationId="{E1E0257D-7517-7518-6050-DC6CB4EFFC3E}"/>
          </ac:picMkLst>
        </pc:picChg>
      </pc:sldChg>
      <pc:sldMasterChg chg="setBg">
        <pc:chgData name="Lai, Wilson" userId="2840974a-0d84-4886-90a9-9a3ed79f3a48" providerId="ADAL" clId="{9F23B798-9E84-4552-BA63-E776E805C424}" dt="2026-09-26T11:44:20.713" v="3"/>
        <pc:sldMasterMkLst>
          <pc:docMk/>
          <pc:sldMasterMk cId="3671838131"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1DA48-D61B-4C71-B49F-86C4F0E2E47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C47CDD-C67A-4A7D-90C0-AA846513EB75}" type="slidenum">
              <a:rPr lang="en-US" smtClean="0"/>
              <a:t>‹#›</a:t>
            </a:fld>
            <a:endParaRPr lang="en-US"/>
          </a:p>
        </p:txBody>
      </p:sp>
    </p:spTree>
    <p:extLst>
      <p:ext uri="{BB962C8B-B14F-4D97-AF65-F5344CB8AC3E}">
        <p14:creationId xmlns:p14="http://schemas.microsoft.com/office/powerpoint/2010/main" val="159791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9dUte6c7ZcM&amp;utm_source=gemini"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&amp; Hook:</a:t>
            </a:r>
            <a:endParaRPr lang="en-US" dirty="0"/>
          </a:p>
          <a:p>
            <a:pPr lvl="0"/>
            <a:r>
              <a:rPr lang="en-US" dirty="0"/>
              <a:t>"Good day, everyone. Today, we are addressing what I consider to be the single most critical macroeconomic transition of our generation: </a:t>
            </a:r>
            <a:r>
              <a:rPr lang="en-US" b="1" dirty="0"/>
              <a:t>The Dollar Debasement Trade</a:t>
            </a:r>
            <a:r>
              <a:rPr lang="en-US" dirty="0"/>
              <a:t> and why it has reached a mathematical point of no return. For years, mainstream media and traditional economists treated discussions around hyperinflation or sovereign default as fringe theory. Today, we are going to look at the cold, hard balance sheet of the United States government and demonstrate why the math has become inescapable."</a:t>
            </a:r>
          </a:p>
          <a:p>
            <a:pPr lvl="0"/>
            <a:r>
              <a:rPr lang="en-US" b="1" dirty="0"/>
              <a:t>Core Narrative &amp; Thesis:</a:t>
            </a:r>
            <a:endParaRPr lang="en-US" dirty="0"/>
          </a:p>
          <a:p>
            <a:pPr lvl="0"/>
            <a:r>
              <a:rPr lang="en-US" dirty="0"/>
              <a:t>"The title of today’s briefing is 'The Hyperinflation Tipping Point'. We are not talking about standard cyclical inflation caused by short-term supply chain snarls. We are talking about </a:t>
            </a:r>
            <a:r>
              <a:rPr lang="en-US" b="1" dirty="0"/>
              <a:t>structural monetary debasement</a:t>
            </a:r>
            <a:r>
              <a:rPr lang="en-US" dirty="0"/>
              <a:t> driven by federal debt dynamics. When a sovereign state accumulates debt at a rate faster than its real economy can grow, and when interest payments alone consume the budget, traditional monetary policy ceases to function. That is where we are today."</a:t>
            </a:r>
          </a:p>
          <a:p>
            <a:pPr lvl="0"/>
            <a:r>
              <a:rPr lang="en-US" b="1" dirty="0"/>
              <a:t>Transition:</a:t>
            </a:r>
            <a:endParaRPr lang="en-US" dirty="0"/>
          </a:p>
          <a:p>
            <a:r>
              <a:rPr lang="en-US" dirty="0"/>
              <a:t>Here are comprehensive, professional speaker notes tailored for </a:t>
            </a:r>
            <a:r>
              <a:rPr lang="en-US" b="1" dirty="0"/>
              <a:t>Slides 1 through 13</a:t>
            </a:r>
            <a:r>
              <a:rPr lang="en-US" dirty="0"/>
              <a:t> of "The Hyperinflation Tipping Point" presentation deck. Each slide's script is formatted with distinct sections for key takeaways, delivery cues, and targeted talking points calibrated for a </a:t>
            </a:r>
            <a:r>
              <a:rPr lang="en-US" b="1" dirty="0"/>
              <a:t>2 to 6-minute presentation per slide</a:t>
            </a:r>
            <a:r>
              <a:rPr lang="en-US" dirty="0"/>
              <a:t>. </a:t>
            </a:r>
          </a:p>
          <a:p>
            <a:r>
              <a:rPr lang="en-US" dirty="0">
                <a:effectLst/>
              </a:rPr>
              <a:t>PDF</a:t>
            </a:r>
            <a:r>
              <a:rPr lang="en-US" dirty="0"/>
              <a:t>+ 1</a:t>
            </a:r>
          </a:p>
          <a:p>
            <a:r>
              <a:rPr lang="en-US" b="1" dirty="0"/>
              <a:t>Slide 1: Title Slide — The Hyperinflation Tipping Point</a:t>
            </a:r>
          </a:p>
          <a:p>
            <a:pPr lvl="0"/>
            <a:r>
              <a:rPr lang="en-US" b="1" dirty="0"/>
              <a:t>Target Duration:</a:t>
            </a:r>
            <a:r>
              <a:rPr lang="en-US" dirty="0"/>
              <a:t> 2 – 3 Minutes</a:t>
            </a:r>
          </a:p>
          <a:p>
            <a:pPr lvl="0"/>
            <a:r>
              <a:rPr lang="en-US" b="1" dirty="0"/>
              <a:t>Slide Visual:</a:t>
            </a:r>
            <a:r>
              <a:rPr lang="en-US" dirty="0"/>
              <a:t> Cover page titled "THE HYPERINFLATION TIPPING POINT: Why the Dollar Debasement Trade is Back—and Accelerating" with the subtitle "The math has become inescapable." </a:t>
            </a:r>
          </a:p>
          <a:p>
            <a:pPr lvl="0"/>
            <a:r>
              <a:rPr lang="en-US" dirty="0">
                <a:effectLst/>
              </a:rPr>
              <a:t>PDF</a:t>
            </a:r>
            <a:endParaRPr lang="en-US" dirty="0"/>
          </a:p>
          <a:p>
            <a:r>
              <a:rPr lang="en-US" b="1" dirty="0"/>
              <a:t>Speaker Script / Notes:</a:t>
            </a:r>
          </a:p>
          <a:p>
            <a:pPr lvl="0"/>
            <a:r>
              <a:rPr lang="en-US" b="1" dirty="0"/>
              <a:t>Introduction &amp; Hook:</a:t>
            </a:r>
            <a:endParaRPr lang="en-US" dirty="0"/>
          </a:p>
          <a:p>
            <a:pPr lvl="0"/>
            <a:r>
              <a:rPr lang="en-US" dirty="0"/>
              <a:t>"Good day, everyone. Today, we are addressing what I consider to be the single most critical macroeconomic transition of our generation: </a:t>
            </a:r>
            <a:r>
              <a:rPr lang="en-US" b="1" dirty="0"/>
              <a:t>The Dollar Debasement Trade</a:t>
            </a:r>
            <a:r>
              <a:rPr lang="en-US" dirty="0"/>
              <a:t> and why it has reached a mathematical point of no return. For years, mainstream media and traditional economists treated discussions around hyperinflation or sovereign default as fringe theory. Today, we are going to look at the cold, hard balance sheet of the United States government and demonstrate why the math has become inescapable." </a:t>
            </a:r>
          </a:p>
          <a:p>
            <a:pPr lvl="0"/>
            <a:r>
              <a:rPr lang="en-US" dirty="0">
                <a:effectLst/>
              </a:rPr>
              <a:t>PDF</a:t>
            </a:r>
            <a:r>
              <a:rPr lang="en-US" dirty="0"/>
              <a:t>+ 1</a:t>
            </a:r>
          </a:p>
          <a:p>
            <a:pPr lvl="0"/>
            <a:r>
              <a:rPr lang="en-US" b="1" dirty="0"/>
              <a:t>Core Narrative &amp; Thesis:</a:t>
            </a:r>
            <a:endParaRPr lang="en-US" dirty="0"/>
          </a:p>
          <a:p>
            <a:pPr lvl="0"/>
            <a:r>
              <a:rPr lang="en-US" dirty="0"/>
              <a:t>"The title of today’s briefing is 'The Hyperinflation Tipping Point'. We are not talking about standard cyclical inflation caused by short-term supply chain snarls. We are talking about </a:t>
            </a:r>
            <a:r>
              <a:rPr lang="en-US" b="1" dirty="0"/>
              <a:t>structural monetary debasement</a:t>
            </a:r>
            <a:r>
              <a:rPr lang="en-US" dirty="0"/>
              <a:t> driven by federal debt dynamics. When a sovereign state accumulates debt at a rate faster than its real economy can grow, and when interest payments alone consume the budget, traditional monetary policy ceases to function. That is where we are today." </a:t>
            </a:r>
          </a:p>
          <a:p>
            <a:pPr lvl="0"/>
            <a:r>
              <a:rPr lang="en-US" dirty="0">
                <a:effectLst/>
              </a:rPr>
              <a:t>PDF</a:t>
            </a:r>
            <a:r>
              <a:rPr lang="en-US" dirty="0"/>
              <a:t>+ 3</a:t>
            </a:r>
          </a:p>
          <a:p>
            <a:pPr lvl="0"/>
            <a:r>
              <a:rPr lang="en-US" b="1" dirty="0"/>
              <a:t>Transition:</a:t>
            </a:r>
            <a:endParaRPr lang="en-US" dirty="0"/>
          </a:p>
          <a:p>
            <a:pPr lvl="0"/>
            <a:r>
              <a:rPr lang="en-US" dirty="0"/>
              <a:t>"Over the next 12 slides, we will break down the exact mechanism of this trap—how traditional Federal Reserve policy breaks down, how AI accelerates the deficit, and why physical assets, gold, and Bitcoin are the only logical exit ramps. Let's turn to Slide 2 to see why traditional economic models no longer work." </a:t>
            </a:r>
          </a:p>
          <a:p>
            <a:endParaRPr lang="en-US" dirty="0"/>
          </a:p>
          <a:p>
            <a:endParaRPr lang="en-US" dirty="0"/>
          </a:p>
          <a:p>
            <a:endParaRPr lang="en-US" dirty="0"/>
          </a:p>
          <a:p>
            <a:r>
              <a:rPr lang="en-US" b="1" dirty="0"/>
              <a:t>Luke Gromen: This Is How Hyperinflation Begins</a:t>
            </a:r>
          </a:p>
          <a:p>
            <a:r>
              <a:rPr lang="en-US" dirty="0"/>
              <a:t>https://www.youtube.com/watch?v=9dUte6c7ZcM</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1</a:t>
            </a:fld>
            <a:endParaRPr lang="en-US"/>
          </a:p>
        </p:txBody>
      </p:sp>
    </p:spTree>
    <p:extLst>
      <p:ext uri="{BB962C8B-B14F-4D97-AF65-F5344CB8AC3E}">
        <p14:creationId xmlns:p14="http://schemas.microsoft.com/office/powerpoint/2010/main" val="2113442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Contextualizing the Shift: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"Look at the visual on the left—a broken compass resting on a burnt economics textbook. That is the reality facing market participants today. For four decades, money managers were taught a simple rulebook: when inflation rises, central banks raise interest rates. Higher rates tighten credit, slow corporate borrowing, lower economic demand, and ultimately bring inflation down. That model works when national debt is low to moderate." </a:t>
            </a:r>
          </a:p>
          <a:p>
            <a:pPr lvl="0"/>
            <a:r>
              <a:rPr lang="en-US" sz="1200" b="1" kern="1200" dirty="0">
                <a:solidFill>
                  <a:schemeClr val="tx1"/>
                </a:solidFill>
                <a:effectLst/>
                <a:latin typeface="+mn-lt"/>
                <a:ea typeface="+mn-ea"/>
                <a:cs typeface="+mn-cs"/>
              </a:rPr>
              <a:t>Deconstructing the $40 Trillion Reality: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look at the right side of the slide: </a:t>
            </a:r>
            <a:r>
              <a:rPr lang="en-US" sz="1200" b="1" kern="1200" dirty="0">
                <a:solidFill>
                  <a:schemeClr val="tx1"/>
                </a:solidFill>
                <a:effectLst/>
                <a:latin typeface="+mn-lt"/>
                <a:ea typeface="+mn-ea"/>
                <a:cs typeface="+mn-cs"/>
              </a:rPr>
              <a:t>The $40 Trillion Reality</a:t>
            </a:r>
            <a:r>
              <a:rPr lang="en-US" sz="1200" kern="1200" dirty="0">
                <a:solidFill>
                  <a:schemeClr val="tx1"/>
                </a:solidFill>
                <a:effectLst/>
                <a:latin typeface="+mn-lt"/>
                <a:ea typeface="+mn-ea"/>
                <a:cs typeface="+mn-cs"/>
              </a:rPr>
              <a:t>. When U.S. sovereign debt hits $40 Trillion, raising interest rates creates a paradox. Every 100 basis points of Fed hikes adds hundreds of billions of dollars directly to federal interest expenditure. Where does that interest money go? It goes directly into the private economy—handed straight to treasury bondholders, money market funds, and global institutions as liquid cash income. </a:t>
            </a:r>
          </a:p>
          <a:p>
            <a:pPr lvl="0"/>
            <a:r>
              <a:rPr lang="en-US" sz="1200" kern="1200" dirty="0">
                <a:solidFill>
                  <a:schemeClr val="tx1"/>
                </a:solidFill>
                <a:effectLst/>
                <a:latin typeface="+mn-lt"/>
                <a:ea typeface="+mn-ea"/>
                <a:cs typeface="+mn-cs"/>
              </a:rPr>
              <a:t>Instead of tightening liquidity, </a:t>
            </a:r>
            <a:r>
              <a:rPr lang="en-US" sz="1200" b="1" kern="1200" dirty="0">
                <a:solidFill>
                  <a:schemeClr val="tx1"/>
                </a:solidFill>
                <a:effectLst/>
                <a:latin typeface="+mn-lt"/>
                <a:ea typeface="+mn-ea"/>
                <a:cs typeface="+mn-cs"/>
              </a:rPr>
              <a:t>rate hikes become a massive fiscal stimulus</a:t>
            </a:r>
            <a:r>
              <a:rPr lang="en-US" sz="1200" kern="1200" dirty="0">
                <a:solidFill>
                  <a:schemeClr val="tx1"/>
                </a:solidFill>
                <a:effectLst/>
                <a:latin typeface="+mn-lt"/>
                <a:ea typeface="+mn-ea"/>
                <a:cs typeface="+mn-cs"/>
              </a:rPr>
              <a:t>. As the quote on the slide highlights: </a:t>
            </a:r>
            <a:r>
              <a:rPr lang="en-US" sz="1200" i="1" kern="1200" dirty="0">
                <a:solidFill>
                  <a:schemeClr val="tx1"/>
                </a:solidFill>
                <a:effectLst/>
                <a:latin typeface="+mn-lt"/>
                <a:ea typeface="+mn-ea"/>
                <a:cs typeface="+mn-cs"/>
              </a:rPr>
              <a:t>'Both Fed cuts and Fed rate hikes are inflationary at this point. They are much more cornered than people realize.'</a:t>
            </a:r>
            <a:r>
              <a:rPr lang="en-US" sz="1200" kern="1200" dirty="0">
                <a:solidFill>
                  <a:schemeClr val="tx1"/>
                </a:solidFill>
                <a:effectLst/>
                <a:latin typeface="+mn-lt"/>
                <a:ea typeface="+mn-ea"/>
                <a:cs typeface="+mn-cs"/>
              </a:rPr>
              <a:t> If they cut rates, they debase the currency; if they raise rates, they explode the fiscal interest deficit. The central bank is boxed in." </a:t>
            </a:r>
          </a:p>
          <a:p>
            <a:pPr lvl="0"/>
            <a:r>
              <a:rPr lang="en-US" sz="1200" b="1" kern="1200" dirty="0">
                <a:solidFill>
                  <a:schemeClr val="tx1"/>
                </a:solidFill>
                <a:effectLst/>
                <a:latin typeface="+mn-lt"/>
                <a:ea typeface="+mn-ea"/>
                <a:cs typeface="+mn-cs"/>
              </a:rPr>
              <a:t>Takeaway for Investors: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"If rate hikes no longer extinguish inflation, then traditional financial assets like long-duration paper bonds lose their primary defense mechanism. The compass is broken, and we must navigate using a new framework."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2</a:t>
            </a:fld>
            <a:endParaRPr lang="en-US"/>
          </a:p>
        </p:txBody>
      </p:sp>
    </p:spTree>
    <p:extLst>
      <p:ext uri="{BB962C8B-B14F-4D97-AF65-F5344CB8AC3E}">
        <p14:creationId xmlns:p14="http://schemas.microsoft.com/office/powerpoint/2010/main" val="2091153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Setting Up the Analogy: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why this is an inevitable tipping point, you don't need a Ph.D. in econometrics. You need sixth-grade arithmetic. On this slide, we use a simple fluid container visual. </a:t>
            </a:r>
          </a:p>
          <a:p>
            <a:pPr lvl="0"/>
            <a:r>
              <a:rPr lang="en-US" sz="1200" kern="1200" dirty="0">
                <a:solidFill>
                  <a:schemeClr val="tx1"/>
                </a:solidFill>
                <a:effectLst/>
                <a:latin typeface="+mn-lt"/>
                <a:ea typeface="+mn-ea"/>
                <a:cs typeface="+mn-cs"/>
              </a:rPr>
              <a:t>The container represents </a:t>
            </a:r>
            <a:r>
              <a:rPr lang="en-US" sz="1200" b="1" kern="1200" dirty="0">
                <a:solidFill>
                  <a:schemeClr val="tx1"/>
                </a:solidFill>
                <a:effectLst/>
                <a:latin typeface="+mn-lt"/>
                <a:ea typeface="+mn-ea"/>
                <a:cs typeface="+mn-cs"/>
              </a:rPr>
              <a:t>100% of U.S. government tax receipts</a:t>
            </a:r>
            <a:r>
              <a:rPr lang="en-US" sz="1200" kern="1200" dirty="0">
                <a:solidFill>
                  <a:schemeClr val="tx1"/>
                </a:solidFill>
                <a:effectLst/>
                <a:latin typeface="+mn-lt"/>
                <a:ea typeface="+mn-ea"/>
                <a:cs typeface="+mn-cs"/>
              </a:rPr>
              <a:t>, which grow at a historical nominal baseline of roughly 4% per year. The liquid inside represents the U.S. government's </a:t>
            </a:r>
            <a:r>
              <a:rPr lang="en-US" sz="1200" b="1" kern="1200" dirty="0">
                <a:solidFill>
                  <a:schemeClr val="tx1"/>
                </a:solidFill>
                <a:effectLst/>
                <a:latin typeface="+mn-lt"/>
                <a:ea typeface="+mn-ea"/>
                <a:cs typeface="+mn-cs"/>
              </a:rPr>
              <a:t>mandatory obligations</a:t>
            </a:r>
            <a:r>
              <a:rPr lang="en-US" sz="1200" kern="1200" dirty="0">
                <a:solidFill>
                  <a:schemeClr val="tx1"/>
                </a:solidFill>
                <a:effectLst/>
                <a:latin typeface="+mn-lt"/>
                <a:ea typeface="+mn-ea"/>
                <a:cs typeface="+mn-cs"/>
              </a:rPr>
              <a:t>—namely Interest on Debt, Entitlements (Social Security and Medicare), and Veterans Affairs—which grow at roughly 8% annually." </a:t>
            </a:r>
          </a:p>
          <a:p>
            <a:pPr lvl="0"/>
            <a:r>
              <a:rPr lang="en-US" sz="1200" b="1" kern="1200" dirty="0">
                <a:solidFill>
                  <a:schemeClr val="tx1"/>
                </a:solidFill>
                <a:effectLst/>
                <a:latin typeface="+mn-lt"/>
                <a:ea typeface="+mn-ea"/>
                <a:cs typeface="+mn-cs"/>
              </a:rPr>
              <a:t>The Core Mathematical Imbalance: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"Notice the liquid level: </a:t>
            </a:r>
            <a:r>
              <a:rPr lang="en-US" sz="1200" b="1" kern="1200" dirty="0">
                <a:solidFill>
                  <a:schemeClr val="tx1"/>
                </a:solidFill>
                <a:effectLst/>
                <a:latin typeface="+mn-lt"/>
                <a:ea typeface="+mn-ea"/>
                <a:cs typeface="+mn-cs"/>
              </a:rPr>
              <a:t>105%</a:t>
            </a:r>
            <a:r>
              <a:rPr lang="en-US" sz="1200" kern="1200" dirty="0">
                <a:solidFill>
                  <a:schemeClr val="tx1"/>
                </a:solidFill>
                <a:effectLst/>
                <a:latin typeface="+mn-lt"/>
                <a:ea typeface="+mn-ea"/>
                <a:cs typeface="+mn-cs"/>
              </a:rPr>
              <a:t>. Before the U.S. government spends a single dollar on national defense, roads, education, border security, or federal agencies, </a:t>
            </a:r>
            <a:r>
              <a:rPr lang="en-US" sz="1200" b="1" kern="1200" dirty="0">
                <a:solidFill>
                  <a:schemeClr val="tx1"/>
                </a:solidFill>
                <a:effectLst/>
                <a:latin typeface="+mn-lt"/>
                <a:ea typeface="+mn-ea"/>
                <a:cs typeface="+mn-cs"/>
              </a:rPr>
              <a:t>105% of all tax revenues are already spoken for</a:t>
            </a:r>
            <a:r>
              <a:rPr lang="en-US" sz="1200" kern="1200" dirty="0">
                <a:solidFill>
                  <a:schemeClr val="tx1"/>
                </a:solidFill>
                <a:effectLst/>
                <a:latin typeface="+mn-lt"/>
                <a:ea typeface="+mn-ea"/>
                <a:cs typeface="+mn-cs"/>
              </a:rPr>
              <a:t> by mandatory spending and debt service. </a:t>
            </a:r>
          </a:p>
          <a:p>
            <a:pPr lvl="0"/>
            <a:r>
              <a:rPr lang="en-US" sz="1200" kern="1200" dirty="0">
                <a:solidFill>
                  <a:schemeClr val="tx1"/>
                </a:solidFill>
                <a:effectLst/>
                <a:latin typeface="+mn-lt"/>
                <a:ea typeface="+mn-ea"/>
                <a:cs typeface="+mn-cs"/>
              </a:rPr>
              <a:t>Every single dollar of non-mandatory discretionary spending is funded 100% by freshly issued debt. Now, consider what happens when the Fed raises interest rates to curb inflation: </a:t>
            </a:r>
          </a:p>
          <a:p>
            <a:pPr lvl="0"/>
            <a:r>
              <a:rPr lang="en-US" sz="1200" kern="1200" dirty="0">
                <a:solidFill>
                  <a:schemeClr val="tx1"/>
                </a:solidFill>
                <a:effectLst/>
                <a:latin typeface="+mn-lt"/>
                <a:ea typeface="+mn-ea"/>
                <a:cs typeface="+mn-cs"/>
              </a:rPr>
              <a:t>Higher interest rates slow the private economy, which </a:t>
            </a:r>
            <a:r>
              <a:rPr lang="en-US" sz="1200" b="1" kern="1200" dirty="0">
                <a:solidFill>
                  <a:schemeClr val="tx1"/>
                </a:solidFill>
                <a:effectLst/>
                <a:latin typeface="+mn-lt"/>
                <a:ea typeface="+mn-ea"/>
                <a:cs typeface="+mn-cs"/>
              </a:rPr>
              <a:t>shrinks the container</a:t>
            </a:r>
            <a:r>
              <a:rPr lang="en-US" sz="1200" kern="1200" dirty="0">
                <a:solidFill>
                  <a:schemeClr val="tx1"/>
                </a:solidFill>
                <a:effectLst/>
                <a:latin typeface="+mn-lt"/>
                <a:ea typeface="+mn-ea"/>
                <a:cs typeface="+mn-cs"/>
              </a:rPr>
              <a:t> (reducing tax receipts). </a:t>
            </a:r>
          </a:p>
          <a:p>
            <a:pPr lvl="0"/>
            <a:r>
              <a:rPr lang="en-US" sz="1200" kern="1200" dirty="0">
                <a:solidFill>
                  <a:schemeClr val="tx1"/>
                </a:solidFill>
                <a:effectLst/>
                <a:latin typeface="+mn-lt"/>
                <a:ea typeface="+mn-ea"/>
                <a:cs typeface="+mn-cs"/>
              </a:rPr>
              <a:t>Simultaneously, higher interest rates raise national interest expenses, which </a:t>
            </a:r>
            <a:r>
              <a:rPr lang="en-US" sz="1200" b="1" kern="1200" dirty="0">
                <a:solidFill>
                  <a:schemeClr val="tx1"/>
                </a:solidFill>
                <a:effectLst/>
                <a:latin typeface="+mn-lt"/>
                <a:ea typeface="+mn-ea"/>
                <a:cs typeface="+mn-cs"/>
              </a:rPr>
              <a:t>expands the volume of the liquid</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The beaker overflows violently. The government faces two choices: explicitly default on bondholders or print the interest to inflate the debt away. History tells us sovereigns always print." </a:t>
            </a:r>
          </a:p>
          <a:p>
            <a:pPr lvl="0"/>
            <a:r>
              <a:rPr lang="en-US" sz="1200" b="1" kern="1200" dirty="0">
                <a:solidFill>
                  <a:schemeClr val="tx1"/>
                </a:solidFill>
                <a:effectLst/>
                <a:latin typeface="+mn-lt"/>
                <a:ea typeface="+mn-ea"/>
                <a:cs typeface="+mn-cs"/>
              </a:rPr>
              <a:t>Wrap-Up: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is why U.S. debt cannot be 'paid back' in standard purchasing power. The system mathematically requires a weaker dollar."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3</a:t>
            </a:fld>
            <a:endParaRPr lang="en-US"/>
          </a:p>
        </p:txBody>
      </p:sp>
    </p:spTree>
    <p:extLst>
      <p:ext uri="{BB962C8B-B14F-4D97-AF65-F5344CB8AC3E}">
        <p14:creationId xmlns:p14="http://schemas.microsoft.com/office/powerpoint/2010/main" val="2088108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 of the Global Feedback Loop: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"Why can’t the U.S. just attract foreign capital by keeping interest rates elevated? This slide maps out </a:t>
            </a:r>
            <a:r>
              <a:rPr lang="en-US" sz="1200" b="1" kern="1200" dirty="0">
                <a:solidFill>
                  <a:schemeClr val="tx1"/>
                </a:solidFill>
                <a:effectLst/>
                <a:latin typeface="+mn-lt"/>
                <a:ea typeface="+mn-ea"/>
                <a:cs typeface="+mn-cs"/>
              </a:rPr>
              <a:t>The Eurodollar Trap</a:t>
            </a:r>
            <a:r>
              <a:rPr lang="en-US" sz="1200" kern="1200" dirty="0">
                <a:solidFill>
                  <a:schemeClr val="tx1"/>
                </a:solidFill>
                <a:effectLst/>
                <a:latin typeface="+mn-lt"/>
                <a:ea typeface="+mn-ea"/>
                <a:cs typeface="+mn-cs"/>
              </a:rPr>
              <a:t>—the vicious self-reinforcing engine driving yield spikes. </a:t>
            </a:r>
          </a:p>
          <a:p>
            <a:pPr lvl="0"/>
            <a:r>
              <a:rPr lang="en-US" sz="1200" kern="1200" dirty="0">
                <a:solidFill>
                  <a:schemeClr val="tx1"/>
                </a:solidFill>
                <a:effectLst/>
                <a:latin typeface="+mn-lt"/>
                <a:ea typeface="+mn-ea"/>
                <a:cs typeface="+mn-cs"/>
              </a:rPr>
              <a:t>Let's walk through the five-step loop on the chart: </a:t>
            </a:r>
          </a:p>
          <a:p>
            <a:pPr lvl="0"/>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The Fed hikes rates to defend against inflation. The U.S. starts with a baseline fiscal deficit of $2.1 Trillion. </a:t>
            </a:r>
          </a:p>
          <a:p>
            <a:pPr lvl="0"/>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The U.S. Dollar strengthens globally. However, the U.S. Net International Investment Position is at a record negative </a:t>
            </a:r>
            <a:r>
              <a:rPr lang="en-US" sz="1200" b="1" kern="1200" dirty="0">
                <a:solidFill>
                  <a:schemeClr val="tx1"/>
                </a:solidFill>
                <a:effectLst/>
                <a:latin typeface="+mn-lt"/>
                <a:ea typeface="+mn-ea"/>
                <a:cs typeface="+mn-cs"/>
              </a:rPr>
              <a:t>80% of GDP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Foreign Liquidation Engine: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Step 3: Foreign Defense.</a:t>
            </a:r>
            <a:r>
              <a:rPr lang="en-US" sz="1200" kern="1200" dirty="0">
                <a:solidFill>
                  <a:schemeClr val="tx1"/>
                </a:solidFill>
                <a:effectLst/>
                <a:latin typeface="+mn-lt"/>
                <a:ea typeface="+mn-ea"/>
                <a:cs typeface="+mn-cs"/>
              </a:rPr>
              <a:t> Foreign central banks and corporations hold roughly $13 Trillion to $14 Trillion in dollar-denominated debt. As the dollar surges, local currencies collapse against the dollar. To defend their currencies and service dollar obligations, foreign governments must sell U.S. Treasuries to raise dollar cash. </a:t>
            </a:r>
          </a:p>
          <a:p>
            <a:pPr lvl="0"/>
            <a:r>
              <a:rPr lang="en-US" sz="1200" b="1" kern="1200" dirty="0">
                <a:solidFill>
                  <a:schemeClr val="tx1"/>
                </a:solidFill>
                <a:effectLst/>
                <a:latin typeface="+mn-lt"/>
                <a:ea typeface="+mn-ea"/>
                <a:cs typeface="+mn-cs"/>
              </a:rPr>
              <a:t>Step 4: The Supply Shock.</a:t>
            </a:r>
            <a:r>
              <a:rPr lang="en-US" sz="1200" kern="1200" dirty="0">
                <a:solidFill>
                  <a:schemeClr val="tx1"/>
                </a:solidFill>
                <a:effectLst/>
                <a:latin typeface="+mn-lt"/>
                <a:ea typeface="+mn-ea"/>
                <a:cs typeface="+mn-cs"/>
              </a:rPr>
              <a:t> Foreigners liquidate approximately $1 Trillion in U.S. Treasuries annually. At the same time, leveraged hedge funds conducting the treasury basis trade are forced to </a:t>
            </a:r>
            <a:r>
              <a:rPr lang="en-US" sz="1200" kern="1200" dirty="0" err="1">
                <a:solidFill>
                  <a:schemeClr val="tx1"/>
                </a:solidFill>
                <a:effectLst/>
                <a:latin typeface="+mn-lt"/>
                <a:ea typeface="+mn-ea"/>
                <a:cs typeface="+mn-cs"/>
              </a:rPr>
              <a:t>degross</a:t>
            </a:r>
            <a:r>
              <a:rPr lang="en-US" sz="1200" kern="1200" dirty="0">
                <a:solidFill>
                  <a:schemeClr val="tx1"/>
                </a:solidFill>
                <a:effectLst/>
                <a:latin typeface="+mn-lt"/>
                <a:ea typeface="+mn-ea"/>
                <a:cs typeface="+mn-cs"/>
              </a:rPr>
              <a:t> roughly $600 Billion. </a:t>
            </a:r>
          </a:p>
          <a:p>
            <a:pPr lvl="0"/>
            <a:r>
              <a:rPr lang="en-US" sz="1200" b="1" kern="1200" dirty="0">
                <a:solidFill>
                  <a:schemeClr val="tx1"/>
                </a:solidFill>
                <a:effectLst/>
                <a:latin typeface="+mn-lt"/>
                <a:ea typeface="+mn-ea"/>
                <a:cs typeface="+mn-cs"/>
              </a:rPr>
              <a:t>Step 5: Deficit Explosion.</a:t>
            </a:r>
            <a:r>
              <a:rPr lang="en-US" sz="1200" kern="1200" dirty="0">
                <a:solidFill>
                  <a:schemeClr val="tx1"/>
                </a:solidFill>
                <a:effectLst/>
                <a:latin typeface="+mn-lt"/>
                <a:ea typeface="+mn-ea"/>
                <a:cs typeface="+mn-cs"/>
              </a:rPr>
              <a:t> This forced selling drives treasury yields sharply higher. Higher yields push the effective U.S. deficit from $2.1 Trillion to </a:t>
            </a:r>
            <a:r>
              <a:rPr lang="en-US" sz="1200" b="1" kern="1200" dirty="0">
                <a:solidFill>
                  <a:schemeClr val="tx1"/>
                </a:solidFill>
                <a:effectLst/>
                <a:latin typeface="+mn-lt"/>
                <a:ea typeface="+mn-ea"/>
                <a:cs typeface="+mn-cs"/>
              </a:rPr>
              <a:t>$3.7 Trillion+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Key Summary: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"Notice the text in the center: </a:t>
            </a:r>
            <a:r>
              <a:rPr lang="en-US" sz="1200" i="1" kern="1200" dirty="0">
                <a:solidFill>
                  <a:schemeClr val="tx1"/>
                </a:solidFill>
                <a:effectLst/>
                <a:latin typeface="+mn-lt"/>
                <a:ea typeface="+mn-ea"/>
                <a:cs typeface="+mn-cs"/>
              </a:rPr>
              <a:t>'Raising rates to attract capital fails because the capital is already trapped in the U.S. Every tick higher in the dollar triggers forced Treasury selling.'</a:t>
            </a:r>
            <a:r>
              <a:rPr lang="en-US" sz="1200" kern="1200" dirty="0">
                <a:solidFill>
                  <a:schemeClr val="tx1"/>
                </a:solidFill>
                <a:effectLst/>
                <a:latin typeface="+mn-lt"/>
                <a:ea typeface="+mn-ea"/>
                <a:cs typeface="+mn-cs"/>
              </a:rPr>
              <a:t> The tighter the Fed tries to squeeze the system, the faster the foreign liquidation of U.S. debt accelerates."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4</a:t>
            </a:fld>
            <a:endParaRPr lang="en-US"/>
          </a:p>
        </p:txBody>
      </p:sp>
    </p:spTree>
    <p:extLst>
      <p:ext uri="{BB962C8B-B14F-4D97-AF65-F5344CB8AC3E}">
        <p14:creationId xmlns:p14="http://schemas.microsoft.com/office/powerpoint/2010/main" val="428352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Empirical Data: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analyzing macroeconomic regimes, investors often say 'this time is different.' Let's examine the empirical data spanning the last 220 years. </a:t>
            </a:r>
          </a:p>
          <a:p>
            <a:pPr lvl="0"/>
            <a:r>
              <a:rPr lang="en-US" sz="1200" kern="1200" dirty="0">
                <a:solidFill>
                  <a:schemeClr val="tx1"/>
                </a:solidFill>
                <a:effectLst/>
                <a:latin typeface="+mn-lt"/>
                <a:ea typeface="+mn-ea"/>
                <a:cs typeface="+mn-cs"/>
              </a:rPr>
              <a:t>Since the year 1800, exactly </a:t>
            </a:r>
            <a:r>
              <a:rPr lang="en-US" sz="1200" b="1" kern="1200" dirty="0">
                <a:solidFill>
                  <a:schemeClr val="tx1"/>
                </a:solidFill>
                <a:effectLst/>
                <a:latin typeface="+mn-lt"/>
                <a:ea typeface="+mn-ea"/>
                <a:cs typeface="+mn-cs"/>
              </a:rPr>
              <a:t>53 countries</a:t>
            </a:r>
            <a:r>
              <a:rPr lang="en-US" sz="1200" kern="1200" dirty="0">
                <a:solidFill>
                  <a:schemeClr val="tx1"/>
                </a:solidFill>
                <a:effectLst/>
                <a:latin typeface="+mn-lt"/>
                <a:ea typeface="+mn-ea"/>
                <a:cs typeface="+mn-cs"/>
              </a:rPr>
              <a:t> have reached a sovereign Debt-to-GDP ratio of </a:t>
            </a:r>
            <a:r>
              <a:rPr lang="en-US" sz="1200" b="1" kern="1200" dirty="0">
                <a:solidFill>
                  <a:schemeClr val="tx1"/>
                </a:solidFill>
                <a:effectLst/>
                <a:latin typeface="+mn-lt"/>
                <a:ea typeface="+mn-ea"/>
                <a:cs typeface="+mn-cs"/>
              </a:rPr>
              <a:t>130%</a:t>
            </a:r>
            <a:r>
              <a:rPr lang="en-US" sz="1200" kern="1200" dirty="0">
                <a:solidFill>
                  <a:schemeClr val="tx1"/>
                </a:solidFill>
                <a:effectLst/>
                <a:latin typeface="+mn-lt"/>
                <a:ea typeface="+mn-ea"/>
                <a:cs typeface="+mn-cs"/>
              </a:rPr>
              <a:t> or higher. Out of those 53 nations, </a:t>
            </a:r>
            <a:r>
              <a:rPr lang="en-US" sz="1200" b="1" kern="1200" dirty="0">
                <a:solidFill>
                  <a:schemeClr val="tx1"/>
                </a:solidFill>
                <a:effectLst/>
                <a:latin typeface="+mn-lt"/>
                <a:ea typeface="+mn-ea"/>
                <a:cs typeface="+mn-cs"/>
              </a:rPr>
              <a:t>52 experienced an explicit sovereign default or hyperinflationary restructuring</a:t>
            </a:r>
            <a:r>
              <a:rPr lang="en-US" sz="1200" kern="1200" dirty="0">
                <a:solidFill>
                  <a:schemeClr val="tx1"/>
                </a:solidFill>
                <a:effectLst/>
                <a:latin typeface="+mn-lt"/>
                <a:ea typeface="+mn-ea"/>
                <a:cs typeface="+mn-cs"/>
              </a:rPr>
              <a:t>. That is a 98.1% historical failure rate." </a:t>
            </a:r>
          </a:p>
          <a:p>
            <a:pPr lvl="0"/>
            <a:r>
              <a:rPr lang="en-US" sz="1200" b="1" kern="1200" dirty="0">
                <a:solidFill>
                  <a:schemeClr val="tx1"/>
                </a:solidFill>
                <a:effectLst/>
                <a:latin typeface="+mn-lt"/>
                <a:ea typeface="+mn-ea"/>
                <a:cs typeface="+mn-cs"/>
              </a:rPr>
              <a:t>The 53rd Sovereign: Japan: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"Who is the 53rd country? </a:t>
            </a:r>
            <a:r>
              <a:rPr lang="en-US" sz="1200" b="1" kern="1200" dirty="0">
                <a:solidFill>
                  <a:schemeClr val="tx1"/>
                </a:solidFill>
                <a:effectLst/>
                <a:latin typeface="+mn-lt"/>
                <a:ea typeface="+mn-ea"/>
                <a:cs typeface="+mn-cs"/>
              </a:rPr>
              <a:t>Japan</a:t>
            </a:r>
            <a:r>
              <a:rPr lang="en-US" sz="1200" kern="1200" dirty="0">
                <a:solidFill>
                  <a:schemeClr val="tx1"/>
                </a:solidFill>
                <a:effectLst/>
                <a:latin typeface="+mn-lt"/>
                <a:ea typeface="+mn-ea"/>
                <a:cs typeface="+mn-cs"/>
              </a:rPr>
              <a:t>. And Japan is actively demonstrating what happens at the end-stage. The Bank of Japan is forced to cap yields while its currency drops, actively inflating away its sovereign debt obligations while its bond market experiences severe distress. </a:t>
            </a:r>
          </a:p>
          <a:p>
            <a:pPr lvl="0"/>
            <a:r>
              <a:rPr lang="en-US" sz="1200" kern="1200" dirty="0">
                <a:solidFill>
                  <a:schemeClr val="tx1"/>
                </a:solidFill>
                <a:effectLst/>
                <a:latin typeface="+mn-lt"/>
                <a:ea typeface="+mn-ea"/>
                <a:cs typeface="+mn-cs"/>
              </a:rPr>
              <a:t>In the world of macro investing, finding trade setups with a 100% historical probability is almost impossible. This is as close to a 100% historical guarantee as macro financial history provides. The U.S. has crossed into this exact debt threshold."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"Countries do not pay back debt levels above 130% of GDP with purchasing power; they inflate the debt into irrelevance. The debasement trade isn't a speculative play—it is a mathematical necessity."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5</a:t>
            </a:fld>
            <a:endParaRPr lang="en-US"/>
          </a:p>
        </p:txBody>
      </p:sp>
    </p:spTree>
    <p:extLst>
      <p:ext uri="{BB962C8B-B14F-4D97-AF65-F5344CB8AC3E}">
        <p14:creationId xmlns:p14="http://schemas.microsoft.com/office/powerpoint/2010/main" val="1524161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Introducing the AI Conflict: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"Many market analysts believe that Artificial Intelligence will generate a productivity boom large enough to outgrow U.S. national debt. This slide illustrates why AI actually accelerates the sovereign bond crisis. We call this the </a:t>
            </a:r>
            <a:r>
              <a:rPr lang="en-US" sz="1200" b="1" kern="1200" dirty="0">
                <a:solidFill>
                  <a:schemeClr val="tx1"/>
                </a:solidFill>
                <a:effectLst/>
                <a:latin typeface="+mn-lt"/>
                <a:ea typeface="+mn-ea"/>
                <a:cs typeface="+mn-cs"/>
              </a:rPr>
              <a:t>Bond Singularity arriving before the AI Singularity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Force 1: Capital Drain: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"Look at </a:t>
            </a:r>
            <a:r>
              <a:rPr lang="en-US" sz="1200" b="1" kern="1200" dirty="0">
                <a:solidFill>
                  <a:schemeClr val="tx1"/>
                </a:solidFill>
                <a:effectLst/>
                <a:latin typeface="+mn-lt"/>
                <a:ea typeface="+mn-ea"/>
                <a:cs typeface="+mn-cs"/>
              </a:rPr>
              <a:t>Force 1: Capital Drain</a:t>
            </a:r>
            <a:r>
              <a:rPr lang="en-US" sz="1200" kern="1200" dirty="0">
                <a:solidFill>
                  <a:schemeClr val="tx1"/>
                </a:solidFill>
                <a:effectLst/>
                <a:latin typeface="+mn-lt"/>
                <a:ea typeface="+mn-ea"/>
                <a:cs typeface="+mn-cs"/>
              </a:rPr>
              <a:t>. Building out global AI infrastructure requires an estimated </a:t>
            </a:r>
            <a:r>
              <a:rPr lang="en-US" sz="1200" b="1" kern="1200" dirty="0">
                <a:solidFill>
                  <a:schemeClr val="tx1"/>
                </a:solidFill>
                <a:effectLst/>
                <a:latin typeface="+mn-lt"/>
                <a:ea typeface="+mn-ea"/>
                <a:cs typeface="+mn-cs"/>
              </a:rPr>
              <a:t>$11 Trillion in capital expenditure by 2029</a:t>
            </a:r>
            <a:r>
              <a:rPr lang="en-US" sz="1200" kern="1200" dirty="0">
                <a:solidFill>
                  <a:schemeClr val="tx1"/>
                </a:solidFill>
                <a:effectLst/>
                <a:latin typeface="+mn-lt"/>
                <a:ea typeface="+mn-ea"/>
                <a:cs typeface="+mn-cs"/>
              </a:rPr>
              <a:t>, with at least $5 Trillion funded through debt markets. Big Tech, private equity, and utilities are borrowing aggressively. </a:t>
            </a:r>
          </a:p>
          <a:p>
            <a:pPr lvl="0"/>
            <a:r>
              <a:rPr lang="en-US" sz="1200" kern="1200" dirty="0">
                <a:solidFill>
                  <a:schemeClr val="tx1"/>
                </a:solidFill>
                <a:effectLst/>
                <a:latin typeface="+mn-lt"/>
                <a:ea typeface="+mn-ea"/>
                <a:cs typeface="+mn-cs"/>
              </a:rPr>
              <a:t>This private sector capex boom competes directly with the U.S. Treasury for capital. When corporate bond issuers offer high yields backed by real AI cash flows, who wants to hold low-yielding U.S. Treasuries? Private capital drains away from government debt." </a:t>
            </a:r>
          </a:p>
          <a:p>
            <a:pPr lvl="0"/>
            <a:r>
              <a:rPr lang="en-US" sz="1200" b="1" kern="1200" dirty="0">
                <a:solidFill>
                  <a:schemeClr val="tx1"/>
                </a:solidFill>
                <a:effectLst/>
                <a:latin typeface="+mn-lt"/>
                <a:ea typeface="+mn-ea"/>
                <a:cs typeface="+mn-cs"/>
              </a:rPr>
              <a:t>Force 2: Tax Base Destruction: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look at </a:t>
            </a:r>
            <a:r>
              <a:rPr lang="en-US" sz="1200" b="1" kern="1200" dirty="0">
                <a:solidFill>
                  <a:schemeClr val="tx1"/>
                </a:solidFill>
                <a:effectLst/>
                <a:latin typeface="+mn-lt"/>
                <a:ea typeface="+mn-ea"/>
                <a:cs typeface="+mn-cs"/>
              </a:rPr>
              <a:t>Force 2: Tax Base Destruction</a:t>
            </a:r>
            <a:r>
              <a:rPr lang="en-US" sz="1200" kern="1200" dirty="0">
                <a:solidFill>
                  <a:schemeClr val="tx1"/>
                </a:solidFill>
                <a:effectLst/>
                <a:latin typeface="+mn-lt"/>
                <a:ea typeface="+mn-ea"/>
                <a:cs typeface="+mn-cs"/>
              </a:rPr>
              <a:t>. Roughly </a:t>
            </a:r>
            <a:r>
              <a:rPr lang="en-US" sz="1200" b="1" kern="1200" dirty="0">
                <a:solidFill>
                  <a:schemeClr val="tx1"/>
                </a:solidFill>
                <a:effectLst/>
                <a:latin typeface="+mn-lt"/>
                <a:ea typeface="+mn-ea"/>
                <a:cs typeface="+mn-cs"/>
              </a:rPr>
              <a:t>50% of U.S. federal tax revenue</a:t>
            </a:r>
            <a:r>
              <a:rPr lang="en-US" sz="1200" kern="1200" dirty="0">
                <a:solidFill>
                  <a:schemeClr val="tx1"/>
                </a:solidFill>
                <a:effectLst/>
                <a:latin typeface="+mn-lt"/>
                <a:ea typeface="+mn-ea"/>
                <a:cs typeface="+mn-cs"/>
              </a:rPr>
              <a:t> relies directly on personal labor receipts (payroll and income taxes). </a:t>
            </a:r>
          </a:p>
          <a:p>
            <a:pPr lvl="0"/>
            <a:r>
              <a:rPr lang="en-US" sz="1200" kern="1200" dirty="0">
                <a:solidFill>
                  <a:schemeClr val="tx1"/>
                </a:solidFill>
                <a:effectLst/>
                <a:latin typeface="+mn-lt"/>
                <a:ea typeface="+mn-ea"/>
                <a:cs typeface="+mn-cs"/>
              </a:rPr>
              <a:t>AI drives the marginal cost of white-collar intelligence and administrative tasks toward zero. As high-paying professional labor is automated or displaced, personal income tax collections drop, disrupting mortgage and consumer credit markets. Deficits explode non-linearly at the exact moment the Treasury is starved of bond buyers." </a:t>
            </a:r>
          </a:p>
          <a:p>
            <a:pPr lvl="0"/>
            <a:r>
              <a:rPr lang="en-US" sz="1200" b="1" kern="1200" dirty="0">
                <a:solidFill>
                  <a:schemeClr val="tx1"/>
                </a:solidFill>
                <a:effectLst/>
                <a:latin typeface="+mn-lt"/>
                <a:ea typeface="+mn-ea"/>
                <a:cs typeface="+mn-cs"/>
              </a:rPr>
              <a:t>Conclusion of Slide: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Fed will eventually be forced to become the buyer of last resort for the entire Treasury market, printing money to absorb the supply."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6</a:t>
            </a:fld>
            <a:endParaRPr lang="en-US"/>
          </a:p>
        </p:txBody>
      </p:sp>
    </p:spTree>
    <p:extLst>
      <p:ext uri="{BB962C8B-B14F-4D97-AF65-F5344CB8AC3E}">
        <p14:creationId xmlns:p14="http://schemas.microsoft.com/office/powerpoint/2010/main" val="1580293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Hyperinflationary Mindset: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"Hyperinflation is not merely a monetary phenomenon—it is a </a:t>
            </a:r>
            <a:r>
              <a:rPr lang="en-US" sz="1200" b="1" kern="1200" dirty="0">
                <a:solidFill>
                  <a:schemeClr val="tx1"/>
                </a:solidFill>
                <a:effectLst/>
                <a:latin typeface="+mn-lt"/>
                <a:ea typeface="+mn-ea"/>
                <a:cs typeface="+mn-cs"/>
              </a:rPr>
              <a:t>psychological tipping point</a:t>
            </a:r>
            <a:r>
              <a:rPr lang="en-US" sz="1200" kern="1200" dirty="0">
                <a:solidFill>
                  <a:schemeClr val="tx1"/>
                </a:solidFill>
                <a:effectLst/>
                <a:latin typeface="+mn-lt"/>
                <a:ea typeface="+mn-ea"/>
                <a:cs typeface="+mn-cs"/>
              </a:rPr>
              <a:t>. It begins the moment economic actors lose faith in the future purchasing power of currency and prefer holding physical goods over fiat money." </a:t>
            </a:r>
          </a:p>
          <a:p>
            <a:pPr lvl="0"/>
            <a:r>
              <a:rPr lang="en-US" sz="1200" b="1" kern="1200" dirty="0">
                <a:solidFill>
                  <a:schemeClr val="tx1"/>
                </a:solidFill>
                <a:effectLst/>
                <a:latin typeface="+mn-lt"/>
                <a:ea typeface="+mn-ea"/>
                <a:cs typeface="+mn-cs"/>
              </a:rPr>
              <a:t>Industrial Supply Chain Signals: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"Examine the statement from U.S. industrial executives in 2024 on the slide: </a:t>
            </a:r>
            <a:r>
              <a:rPr lang="en-US" sz="1200" i="1" kern="1200" dirty="0">
                <a:solidFill>
                  <a:schemeClr val="tx1"/>
                </a:solidFill>
                <a:effectLst/>
                <a:latin typeface="+mn-lt"/>
                <a:ea typeface="+mn-ea"/>
                <a:cs typeface="+mn-cs"/>
              </a:rPr>
              <a:t>'I would rather have copper in my warehouse than cash in my bank.'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Why are supply chain leaders saying this? Because global supply chains are fracturing, and lead times for critical industrial components have stretched to </a:t>
            </a:r>
            <a:r>
              <a:rPr lang="en-US" sz="1200" b="1" kern="1200" dirty="0">
                <a:solidFill>
                  <a:schemeClr val="tx1"/>
                </a:solidFill>
                <a:effectLst/>
                <a:latin typeface="+mn-lt"/>
                <a:ea typeface="+mn-ea"/>
                <a:cs typeface="+mn-cs"/>
              </a:rPr>
              <a:t>12 to 18 months</a:t>
            </a:r>
            <a:r>
              <a:rPr lang="en-US" sz="1200" kern="1200" dirty="0">
                <a:solidFill>
                  <a:schemeClr val="tx1"/>
                </a:solidFill>
                <a:effectLst/>
                <a:latin typeface="+mn-lt"/>
                <a:ea typeface="+mn-ea"/>
                <a:cs typeface="+mn-cs"/>
              </a:rPr>
              <a:t>. Paper wealth is useless if cash cannot purchase scarce physical inventory when needed. When corporate treasurers actively convert bank deposits into raw commodity stockpiles, the hyperinflationary mindset has already taken hold." </a:t>
            </a:r>
          </a:p>
          <a:p>
            <a:pPr lvl="0"/>
            <a:r>
              <a:rPr lang="en-US" sz="1200" b="1" kern="1200" dirty="0">
                <a:solidFill>
                  <a:schemeClr val="tx1"/>
                </a:solidFill>
                <a:effectLst/>
                <a:latin typeface="+mn-lt"/>
                <a:ea typeface="+mn-ea"/>
                <a:cs typeface="+mn-cs"/>
              </a:rPr>
              <a:t>Strategic Insight: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the real economy shifts from financialized assets back to physical inventories, money velocity surges, accelerating the currency's decline."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7</a:t>
            </a:fld>
            <a:endParaRPr lang="en-US"/>
          </a:p>
        </p:txBody>
      </p:sp>
    </p:spTree>
    <p:extLst>
      <p:ext uri="{BB962C8B-B14F-4D97-AF65-F5344CB8AC3E}">
        <p14:creationId xmlns:p14="http://schemas.microsoft.com/office/powerpoint/2010/main" val="3445289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Walking Through the Hierarchy Pyramid:</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paper wealth loses credibility, global markets reorder assets based on counterparty risk and physical utility. This slide outlines </a:t>
            </a:r>
            <a:r>
              <a:rPr lang="en-US" sz="1200" b="1" kern="1200" dirty="0">
                <a:solidFill>
                  <a:schemeClr val="tx1"/>
                </a:solidFill>
                <a:effectLst/>
                <a:latin typeface="+mn-lt"/>
                <a:ea typeface="+mn-ea"/>
                <a:cs typeface="+mn-cs"/>
              </a:rPr>
              <a:t>The Unobtanium Hierarchy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Tier 1: Hard Money (Top).</a:t>
            </a:r>
            <a:r>
              <a:rPr lang="en-US" sz="1200" kern="1200" dirty="0">
                <a:solidFill>
                  <a:schemeClr val="tx1"/>
                </a:solidFill>
                <a:effectLst/>
                <a:latin typeface="+mn-lt"/>
                <a:ea typeface="+mn-ea"/>
                <a:cs typeface="+mn-cs"/>
              </a:rPr>
              <a:t> Physical Gold, Silver, and Bitcoin. These represent bearer assets with zero counterparty risk and absolute mathematical scarcity. </a:t>
            </a:r>
          </a:p>
          <a:p>
            <a:pPr lvl="0"/>
            <a:r>
              <a:rPr lang="en-US" sz="1200" b="1" kern="1200" dirty="0">
                <a:solidFill>
                  <a:schemeClr val="tx1"/>
                </a:solidFill>
                <a:effectLst/>
                <a:latin typeface="+mn-lt"/>
                <a:ea typeface="+mn-ea"/>
                <a:cs typeface="+mn-cs"/>
              </a:rPr>
              <a:t>Tier 2: Physical Reality (Middle).</a:t>
            </a:r>
            <a:r>
              <a:rPr lang="en-US" sz="1200" kern="1200" dirty="0">
                <a:solidFill>
                  <a:schemeClr val="tx1"/>
                </a:solidFill>
                <a:effectLst/>
                <a:latin typeface="+mn-lt"/>
                <a:ea typeface="+mn-ea"/>
                <a:cs typeface="+mn-cs"/>
              </a:rPr>
              <a:t> Energy, Food, Copper, Tungsten, and Diesel. These are essential inputs required for industrial society, military function, and basic human survival." </a:t>
            </a:r>
          </a:p>
          <a:p>
            <a:pPr lvl="0"/>
            <a:r>
              <a:rPr lang="en-US" sz="1200" b="1" kern="1200" dirty="0">
                <a:solidFill>
                  <a:schemeClr val="tx1"/>
                </a:solidFill>
                <a:effectLst/>
                <a:latin typeface="+mn-lt"/>
                <a:ea typeface="+mn-ea"/>
                <a:cs typeface="+mn-cs"/>
              </a:rPr>
              <a:t>The Failure of Paper Illusions: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Tier 3: Paper Illusions (Bottom).</a:t>
            </a:r>
            <a:r>
              <a:rPr lang="en-US" sz="1200" kern="1200" dirty="0">
                <a:solidFill>
                  <a:schemeClr val="tx1"/>
                </a:solidFill>
                <a:effectLst/>
                <a:latin typeface="+mn-lt"/>
                <a:ea typeface="+mn-ea"/>
                <a:cs typeface="+mn-cs"/>
              </a:rPr>
              <a:t> U.S. Treasuries, unbacked bank deposits, financial derivatives, and fiat cash. In times of extreme resource scarcity, these paper contracts lose real purchasing power. </a:t>
            </a:r>
          </a:p>
          <a:p>
            <a:pPr lvl="0"/>
            <a:r>
              <a:rPr lang="en-US" sz="1200" kern="1200" dirty="0">
                <a:solidFill>
                  <a:schemeClr val="tx1"/>
                </a:solidFill>
                <a:effectLst/>
                <a:latin typeface="+mn-lt"/>
                <a:ea typeface="+mn-ea"/>
                <a:cs typeface="+mn-cs"/>
              </a:rPr>
              <a:t>Note the summary statement at the bottom of the slide: </a:t>
            </a:r>
            <a:r>
              <a:rPr lang="en-US" sz="1200" i="1" kern="1200" dirty="0">
                <a:solidFill>
                  <a:schemeClr val="tx1"/>
                </a:solidFill>
                <a:effectLst/>
                <a:latin typeface="+mn-lt"/>
                <a:ea typeface="+mn-ea"/>
                <a:cs typeface="+mn-cs"/>
              </a:rPr>
              <a:t>'When the choice is between freezing with a Treasury bond or staying warm by selling it—you sell the bond.'</a:t>
            </a:r>
            <a:r>
              <a:rPr lang="en-US" sz="1200" kern="1200" dirty="0">
                <a:solidFill>
                  <a:schemeClr val="tx1"/>
                </a:solidFill>
                <a:effectLst/>
                <a:latin typeface="+mn-lt"/>
                <a:ea typeface="+mn-ea"/>
                <a:cs typeface="+mn-cs"/>
              </a:rPr>
              <a:t> Institutional capital is shifting up the pyramid, liquidating paper promises to secure real-world physical assets." </a:t>
            </a:r>
          </a:p>
          <a:p>
            <a:pPr lvl="0"/>
            <a:r>
              <a:rPr lang="en-US" sz="1200" b="1" kern="1200" dirty="0">
                <a:solidFill>
                  <a:schemeClr val="tx1"/>
                </a:solidFill>
                <a:effectLst/>
                <a:latin typeface="+mn-lt"/>
                <a:ea typeface="+mn-ea"/>
                <a:cs typeface="+mn-cs"/>
              </a:rPr>
              <a:t>Closing Point: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"Understanding this hierarchy is vital for portfolio construction in a debasement regime."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8</a:t>
            </a:fld>
            <a:endParaRPr lang="en-US"/>
          </a:p>
        </p:txBody>
      </p:sp>
    </p:spTree>
    <p:extLst>
      <p:ext uri="{BB962C8B-B14F-4D97-AF65-F5344CB8AC3E}">
        <p14:creationId xmlns:p14="http://schemas.microsoft.com/office/powerpoint/2010/main" val="1765494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Timeline Shift: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"Many institutional investors believe they have years to adjust to this dynamic. However, market indicators show that this repricing is taking place right now." </a:t>
            </a:r>
          </a:p>
          <a:p>
            <a:pPr lvl="0"/>
            <a:r>
              <a:rPr lang="en-US" sz="1200" b="1" kern="1200" dirty="0">
                <a:solidFill>
                  <a:schemeClr val="tx1"/>
                </a:solidFill>
                <a:effectLst/>
                <a:latin typeface="+mn-lt"/>
                <a:ea typeface="+mn-ea"/>
                <a:cs typeface="+mn-cs"/>
              </a:rPr>
              <a:t>Breaking Down the 3 Warning Indicators: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"Let's review the </a:t>
            </a:r>
            <a:r>
              <a:rPr lang="en-US" sz="1200" b="1" kern="1200" dirty="0">
                <a:solidFill>
                  <a:schemeClr val="tx1"/>
                </a:solidFill>
                <a:effectLst/>
                <a:latin typeface="+mn-lt"/>
                <a:ea typeface="+mn-ea"/>
                <a:cs typeface="+mn-cs"/>
              </a:rPr>
              <a:t>3 Early Alarm Signals</a:t>
            </a:r>
            <a:r>
              <a:rPr lang="en-US" sz="1200" kern="1200" dirty="0">
                <a:solidFill>
                  <a:schemeClr val="tx1"/>
                </a:solidFill>
                <a:effectLst/>
                <a:latin typeface="+mn-lt"/>
                <a:ea typeface="+mn-ea"/>
                <a:cs typeface="+mn-cs"/>
              </a:rPr>
              <a:t> highlighted on the screen: </a:t>
            </a:r>
          </a:p>
          <a:p>
            <a:pPr lvl="0"/>
            <a:r>
              <a:rPr lang="en-US" sz="1200" b="1" kern="1200" dirty="0">
                <a:solidFill>
                  <a:schemeClr val="tx1"/>
                </a:solidFill>
                <a:effectLst/>
                <a:latin typeface="+mn-lt"/>
                <a:ea typeface="+mn-ea"/>
                <a:cs typeface="+mn-cs"/>
              </a:rPr>
              <a:t>Treasuries Failing to Clear:</a:t>
            </a:r>
            <a:r>
              <a:rPr lang="en-US" sz="1200" kern="1200" dirty="0">
                <a:solidFill>
                  <a:schemeClr val="tx1"/>
                </a:solidFill>
                <a:effectLst/>
                <a:latin typeface="+mn-lt"/>
                <a:ea typeface="+mn-ea"/>
                <a:cs typeface="+mn-cs"/>
              </a:rPr>
              <a:t> Even with yields above 5%, long-end Treasury auctions are exhibiting structural weakness, pushing yields higher. </a:t>
            </a:r>
          </a:p>
          <a:p>
            <a:pPr lvl="0"/>
            <a:r>
              <a:rPr lang="en-US" sz="1200" b="1" kern="1200" dirty="0">
                <a:solidFill>
                  <a:schemeClr val="tx1"/>
                </a:solidFill>
                <a:effectLst/>
                <a:latin typeface="+mn-lt"/>
                <a:ea typeface="+mn-ea"/>
                <a:cs typeface="+mn-cs"/>
              </a:rPr>
              <a:t>Gold Defying the Dollar:</a:t>
            </a:r>
            <a:r>
              <a:rPr lang="en-US" sz="1200" kern="1200" dirty="0">
                <a:solidFill>
                  <a:schemeClr val="tx1"/>
                </a:solidFill>
                <a:effectLst/>
                <a:latin typeface="+mn-lt"/>
                <a:ea typeface="+mn-ea"/>
                <a:cs typeface="+mn-cs"/>
              </a:rPr>
              <a:t> Historically, a rising U.S. Dollar Index crushed gold prices. Today, gold is making all-time highs alongside a strong dollar, signaling its role as a neutral sovereign reserve asset. </a:t>
            </a:r>
          </a:p>
          <a:p>
            <a:pPr lvl="0"/>
            <a:r>
              <a:rPr lang="en-US" sz="1200" b="1" kern="1200" dirty="0">
                <a:solidFill>
                  <a:schemeClr val="tx1"/>
                </a:solidFill>
                <a:effectLst/>
                <a:latin typeface="+mn-lt"/>
                <a:ea typeface="+mn-ea"/>
                <a:cs typeface="+mn-cs"/>
              </a:rPr>
              <a:t>Bitcoin Accelerating:</a:t>
            </a:r>
            <a:r>
              <a:rPr lang="en-US" sz="1200" kern="1200" dirty="0">
                <a:solidFill>
                  <a:schemeClr val="tx1"/>
                </a:solidFill>
                <a:effectLst/>
                <a:latin typeface="+mn-lt"/>
                <a:ea typeface="+mn-ea"/>
                <a:cs typeface="+mn-cs"/>
              </a:rPr>
              <a:t> Bitcoin continues to outperform traditional paper assets, functioning as an alarm system for monetary debasement."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market transition from paper wealth to physical scarcity is actively being priced in. Capital allocation decisions must reflect current market dynamics, not past cycles."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9</a:t>
            </a:fld>
            <a:endParaRPr lang="en-US"/>
          </a:p>
        </p:txBody>
      </p:sp>
    </p:spTree>
    <p:extLst>
      <p:ext uri="{BB962C8B-B14F-4D97-AF65-F5344CB8AC3E}">
        <p14:creationId xmlns:p14="http://schemas.microsoft.com/office/powerpoint/2010/main" val="671867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Evaluating Asset Classes: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 do we translate this macroeconomic diagnosis into an actionable investment allocation? This slide presents </a:t>
            </a:r>
            <a:r>
              <a:rPr lang="en-US" sz="1200" b="1" kern="1200" dirty="0">
                <a:solidFill>
                  <a:schemeClr val="tx1"/>
                </a:solidFill>
                <a:effectLst/>
                <a:latin typeface="+mn-lt"/>
                <a:ea typeface="+mn-ea"/>
                <a:cs typeface="+mn-cs"/>
              </a:rPr>
              <a:t>The Debasement Playbook</a:t>
            </a:r>
            <a:r>
              <a:rPr lang="en-US" sz="1200" kern="1200" dirty="0">
                <a:solidFill>
                  <a:schemeClr val="tx1"/>
                </a:solidFill>
                <a:effectLst/>
                <a:latin typeface="+mn-lt"/>
                <a:ea typeface="+mn-ea"/>
                <a:cs typeface="+mn-cs"/>
              </a:rPr>
              <a:t> across four key asset categories: </a:t>
            </a:r>
          </a:p>
          <a:p>
            <a:pPr lvl="0"/>
            <a:r>
              <a:rPr lang="en-US" sz="1200" b="1" kern="1200" dirty="0">
                <a:solidFill>
                  <a:schemeClr val="tx1"/>
                </a:solidFill>
                <a:effectLst/>
                <a:latin typeface="+mn-lt"/>
                <a:ea typeface="+mn-ea"/>
                <a:cs typeface="+mn-cs"/>
              </a:rPr>
              <a:t>U.S. Treasuries (The Trap):</a:t>
            </a:r>
            <a:r>
              <a:rPr lang="en-US" sz="1200" kern="1200" dirty="0">
                <a:solidFill>
                  <a:schemeClr val="tx1"/>
                </a:solidFill>
                <a:effectLst/>
                <a:latin typeface="+mn-lt"/>
                <a:ea typeface="+mn-ea"/>
                <a:cs typeface="+mn-cs"/>
              </a:rPr>
              <a:t> Volatility is low nominal, but real purchasing power losses are guaranteed as the debt is inflated away. Verdict: </a:t>
            </a:r>
            <a:r>
              <a:rPr lang="en-US" sz="1200" b="1" kern="1200" dirty="0">
                <a:solidFill>
                  <a:schemeClr val="tx1"/>
                </a:solidFill>
                <a:effectLst/>
                <a:latin typeface="+mn-lt"/>
                <a:ea typeface="+mn-ea"/>
                <a:cs typeface="+mn-cs"/>
              </a:rPr>
              <a:t>Worthless in real terms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Hard Assets &amp; Industrial Commodities: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Physical Gold (The Anchor):</a:t>
            </a:r>
            <a:r>
              <a:rPr lang="en-US" sz="1200" kern="1200" dirty="0">
                <a:solidFill>
                  <a:schemeClr val="tx1"/>
                </a:solidFill>
                <a:effectLst/>
                <a:latin typeface="+mn-lt"/>
                <a:ea typeface="+mn-ea"/>
                <a:cs typeface="+mn-cs"/>
              </a:rPr>
              <a:t> Low drama, un-cancellable wealth independent of sovereign defaults. Verdict: </a:t>
            </a:r>
            <a:r>
              <a:rPr lang="en-US" sz="1200" b="1" kern="1200" dirty="0">
                <a:solidFill>
                  <a:schemeClr val="tx1"/>
                </a:solidFill>
                <a:effectLst/>
                <a:latin typeface="+mn-lt"/>
                <a:ea typeface="+mn-ea"/>
                <a:cs typeface="+mn-cs"/>
              </a:rPr>
              <a:t>Core foundational holding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Bitcoin (The Early Alarm):</a:t>
            </a:r>
            <a:r>
              <a:rPr lang="en-US" sz="1200" kern="1200" dirty="0">
                <a:solidFill>
                  <a:schemeClr val="tx1"/>
                </a:solidFill>
                <a:effectLst/>
                <a:latin typeface="+mn-lt"/>
                <a:ea typeface="+mn-ea"/>
                <a:cs typeface="+mn-cs"/>
              </a:rPr>
              <a:t> High volatility, extreme upside potential as the hardest digital monetary asset. Verdict: </a:t>
            </a:r>
            <a:r>
              <a:rPr lang="en-US" sz="1200" b="1" kern="1200" dirty="0">
                <a:solidFill>
                  <a:schemeClr val="tx1"/>
                </a:solidFill>
                <a:effectLst/>
                <a:latin typeface="+mn-lt"/>
                <a:ea typeface="+mn-ea"/>
                <a:cs typeface="+mn-cs"/>
              </a:rPr>
              <a:t>Accumulate tactically</a:t>
            </a:r>
            <a:r>
              <a:rPr lang="en-US" sz="1200" kern="1200" dirty="0">
                <a:solidFill>
                  <a:schemeClr val="tx1"/>
                </a:solidFill>
                <a:effectLst/>
                <a:latin typeface="+mn-lt"/>
                <a:ea typeface="+mn-ea"/>
                <a:cs typeface="+mn-cs"/>
              </a:rPr>
              <a:t>, sizing appropriately for volatility. </a:t>
            </a:r>
          </a:p>
          <a:p>
            <a:pPr lvl="0"/>
            <a:r>
              <a:rPr lang="en-US" sz="1200" b="1" kern="1200" dirty="0">
                <a:solidFill>
                  <a:schemeClr val="tx1"/>
                </a:solidFill>
                <a:effectLst/>
                <a:latin typeface="+mn-lt"/>
                <a:ea typeface="+mn-ea"/>
                <a:cs typeface="+mn-cs"/>
              </a:rPr>
              <a:t>Silver &amp; Copper (The Industrial Kicker):</a:t>
            </a:r>
            <a:r>
              <a:rPr lang="en-US" sz="1200" kern="1200" dirty="0">
                <a:solidFill>
                  <a:schemeClr val="tx1"/>
                </a:solidFill>
                <a:effectLst/>
                <a:latin typeface="+mn-lt"/>
                <a:ea typeface="+mn-ea"/>
                <a:cs typeface="+mn-cs"/>
              </a:rPr>
              <a:t> High volatility with dual demand drivers—functioning as both monetary stores of value and indispensable industrial materials. Verdict: </a:t>
            </a:r>
            <a:r>
              <a:rPr lang="en-US" sz="1200" b="1" kern="1200" dirty="0">
                <a:solidFill>
                  <a:schemeClr val="tx1"/>
                </a:solidFill>
                <a:effectLst/>
                <a:latin typeface="+mn-lt"/>
                <a:ea typeface="+mn-ea"/>
                <a:cs typeface="+mn-cs"/>
              </a:rPr>
              <a:t>Massive tail-risk hedge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Portfolio Strategy: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"By reallocating away from paper traps into physical anchors, investors can protect purchasing power during monetary debasement."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10</a:t>
            </a:fld>
            <a:endParaRPr lang="en-US"/>
          </a:p>
        </p:txBody>
      </p:sp>
    </p:spTree>
    <p:extLst>
      <p:ext uri="{BB962C8B-B14F-4D97-AF65-F5344CB8AC3E}">
        <p14:creationId xmlns:p14="http://schemas.microsoft.com/office/powerpoint/2010/main" val="537258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Physical Bullion vs. Mining Equities: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 common question from investors is: </a:t>
            </a:r>
            <a:r>
              <a:rPr lang="en-US" sz="1200" i="1" kern="1200" dirty="0">
                <a:solidFill>
                  <a:schemeClr val="tx1"/>
                </a:solidFill>
                <a:effectLst/>
                <a:latin typeface="+mn-lt"/>
                <a:ea typeface="+mn-ea"/>
                <a:cs typeface="+mn-cs"/>
              </a:rPr>
              <a:t>'Why not just buy gold mining stocks instead of physical bullion to get operational leverage?'</a:t>
            </a:r>
            <a:r>
              <a:rPr lang="en-US" sz="1200" kern="1200" dirty="0">
                <a:solidFill>
                  <a:schemeClr val="tx1"/>
                </a:solidFill>
                <a:effectLst/>
                <a:latin typeface="+mn-lt"/>
                <a:ea typeface="+mn-ea"/>
                <a:cs typeface="+mn-cs"/>
              </a:rPr>
              <a:t> Slide 11 breaks down why physical bullion outperforms equities in an end-stage debasement scenario." </a:t>
            </a:r>
          </a:p>
          <a:p>
            <a:pPr lvl="0"/>
            <a:r>
              <a:rPr lang="en-US" sz="1200" b="1" kern="1200" dirty="0">
                <a:solidFill>
                  <a:schemeClr val="tx1"/>
                </a:solidFill>
                <a:effectLst/>
                <a:latin typeface="+mn-lt"/>
                <a:ea typeface="+mn-ea"/>
                <a:cs typeface="+mn-cs"/>
              </a:rPr>
              <a:t>Analyzing Operational and Geopolitical Risks: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"While mining equities traditionally act as leveraged plays on gold, they face two structural threats in a resource-scarce regime: </a:t>
            </a:r>
          </a:p>
          <a:p>
            <a:pPr lvl="0"/>
            <a:r>
              <a:rPr lang="en-US" sz="1200" b="1" kern="1200" dirty="0">
                <a:solidFill>
                  <a:schemeClr val="tx1"/>
                </a:solidFill>
                <a:effectLst/>
                <a:latin typeface="+mn-lt"/>
                <a:ea typeface="+mn-ea"/>
                <a:cs typeface="+mn-cs"/>
              </a:rPr>
              <a:t>The Unobtanium Risk:</a:t>
            </a:r>
            <a:r>
              <a:rPr lang="en-US" sz="1200" kern="1200" dirty="0">
                <a:solidFill>
                  <a:schemeClr val="tx1"/>
                </a:solidFill>
                <a:effectLst/>
                <a:latin typeface="+mn-lt"/>
                <a:ea typeface="+mn-ea"/>
                <a:cs typeface="+mn-cs"/>
              </a:rPr>
              <a:t> Mining requires significant energy inputs, particularly diesel and grid power. If global diesel is rationed or power grids destabilize, miners may be forced to halt operations regardless of how high gold prices go. </a:t>
            </a:r>
          </a:p>
          <a:p>
            <a:pPr lvl="0"/>
            <a:r>
              <a:rPr lang="en-US" sz="1200" b="1" kern="1200" dirty="0">
                <a:solidFill>
                  <a:schemeClr val="tx1"/>
                </a:solidFill>
                <a:effectLst/>
                <a:latin typeface="+mn-lt"/>
                <a:ea typeface="+mn-ea"/>
                <a:cs typeface="+mn-cs"/>
              </a:rPr>
              <a:t>Geopolitical &amp; Nationalization Threats:</a:t>
            </a:r>
            <a:r>
              <a:rPr lang="en-US" sz="1200" kern="1200" dirty="0">
                <a:solidFill>
                  <a:schemeClr val="tx1"/>
                </a:solidFill>
                <a:effectLst/>
                <a:latin typeface="+mn-lt"/>
                <a:ea typeface="+mn-ea"/>
                <a:cs typeface="+mn-cs"/>
              </a:rPr>
              <a:t> As gold becomes recognized as a critical national security asset, governments face incentives to nationalize mines, impose windfall taxes, or cap realized profits." </a:t>
            </a:r>
          </a:p>
          <a:p>
            <a:pPr lvl="0"/>
            <a:r>
              <a:rPr lang="en-US" sz="1200" b="1" kern="1200" dirty="0">
                <a:solidFill>
                  <a:schemeClr val="tx1"/>
                </a:solidFill>
                <a:effectLst/>
                <a:latin typeface="+mn-lt"/>
                <a:ea typeface="+mn-ea"/>
                <a:cs typeface="+mn-cs"/>
              </a:rPr>
              <a:t>Core Lesson: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"Holding physical bullion unencumbered by counterparty or operational risk remains a key structural distinction. If you don't hold it, you don't own it."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11</a:t>
            </a:fld>
            <a:endParaRPr lang="en-US"/>
          </a:p>
        </p:txBody>
      </p:sp>
    </p:spTree>
    <p:extLst>
      <p:ext uri="{BB962C8B-B14F-4D97-AF65-F5344CB8AC3E}">
        <p14:creationId xmlns:p14="http://schemas.microsoft.com/office/powerpoint/2010/main" val="1713118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Synthesizing the Core Macro Drivers: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slide brings our analysis together into a single unified framework represented by three intersecting rings: </a:t>
            </a:r>
            <a:r>
              <a:rPr lang="en-US" sz="1200" b="1" kern="1200" dirty="0">
                <a:solidFill>
                  <a:schemeClr val="tx1"/>
                </a:solidFill>
                <a:effectLst/>
                <a:latin typeface="+mn-lt"/>
                <a:ea typeface="+mn-ea"/>
                <a:cs typeface="+mn-cs"/>
              </a:rPr>
              <a:t>Debt, Technology, and Energy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Debt:</a:t>
            </a:r>
            <a:r>
              <a:rPr lang="en-US" sz="1200" kern="1200" dirty="0">
                <a:solidFill>
                  <a:schemeClr val="tx1"/>
                </a:solidFill>
                <a:effectLst/>
                <a:latin typeface="+mn-lt"/>
                <a:ea typeface="+mn-ea"/>
                <a:cs typeface="+mn-cs"/>
              </a:rPr>
              <a:t> U.S. debt at $40 Trillion mathematically forces currency debasement to avoid explicit default. </a:t>
            </a:r>
          </a:p>
          <a:p>
            <a:pPr lvl="0"/>
            <a:r>
              <a:rPr lang="en-US" sz="1200" b="1" kern="1200" dirty="0">
                <a:solidFill>
                  <a:schemeClr val="tx1"/>
                </a:solidFill>
                <a:effectLst/>
                <a:latin typeface="+mn-lt"/>
                <a:ea typeface="+mn-ea"/>
                <a:cs typeface="+mn-cs"/>
              </a:rPr>
              <a:t>Technology:</a:t>
            </a:r>
            <a:r>
              <a:rPr lang="en-US" sz="1200" kern="1200" dirty="0">
                <a:solidFill>
                  <a:schemeClr val="tx1"/>
                </a:solidFill>
                <a:effectLst/>
                <a:latin typeface="+mn-lt"/>
                <a:ea typeface="+mn-ea"/>
                <a:cs typeface="+mn-cs"/>
              </a:rPr>
              <a:t> AI accelerates structural deficits by competing for capital while displacing the labor-based tax base. </a:t>
            </a:r>
          </a:p>
          <a:p>
            <a:pPr lvl="0"/>
            <a:r>
              <a:rPr lang="en-US" sz="1200" b="1" kern="1200" dirty="0">
                <a:solidFill>
                  <a:schemeClr val="tx1"/>
                </a:solidFill>
                <a:effectLst/>
                <a:latin typeface="+mn-lt"/>
                <a:ea typeface="+mn-ea"/>
                <a:cs typeface="+mn-cs"/>
              </a:rPr>
              <a:t>Energy &amp; Geopolitics:</a:t>
            </a:r>
            <a:r>
              <a:rPr lang="en-US" sz="1200" kern="1200" dirty="0">
                <a:solidFill>
                  <a:schemeClr val="tx1"/>
                </a:solidFill>
                <a:effectLst/>
                <a:latin typeface="+mn-lt"/>
                <a:ea typeface="+mn-ea"/>
                <a:cs typeface="+mn-cs"/>
              </a:rPr>
              <a:t> Fracturing supply chains and energy constraints drive persistent real-world physical scarcity." </a:t>
            </a:r>
          </a:p>
          <a:p>
            <a:pPr lvl="0"/>
            <a:r>
              <a:rPr lang="en-US" sz="1200" b="1" kern="1200" dirty="0">
                <a:solidFill>
                  <a:schemeClr val="tx1"/>
                </a:solidFill>
                <a:effectLst/>
                <a:latin typeface="+mn-lt"/>
                <a:ea typeface="+mn-ea"/>
                <a:cs typeface="+mn-cs"/>
              </a:rPr>
              <a:t>Addressing the Final Question: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"When these three forces converge, paper financial assets face structural pressure while physical assets reprice higher. </a:t>
            </a:r>
          </a:p>
          <a:p>
            <a:pPr lvl="0"/>
            <a:r>
              <a:rPr lang="en-US" sz="1200" kern="1200" dirty="0">
                <a:solidFill>
                  <a:schemeClr val="tx1"/>
                </a:solidFill>
                <a:effectLst/>
                <a:latin typeface="+mn-lt"/>
                <a:ea typeface="+mn-ea"/>
                <a:cs typeface="+mn-cs"/>
              </a:rPr>
              <a:t>Look at the final question on the screen: </a:t>
            </a:r>
            <a:r>
              <a:rPr lang="en-US" sz="1200" b="1" i="1" kern="1200" dirty="0">
                <a:solidFill>
                  <a:schemeClr val="tx1"/>
                </a:solidFill>
                <a:effectLst/>
                <a:latin typeface="+mn-lt"/>
                <a:ea typeface="+mn-ea"/>
                <a:cs typeface="+mn-cs"/>
              </a:rPr>
              <a:t>'Do you want to be right, or do you want to make money?'</a:t>
            </a:r>
            <a:r>
              <a:rPr lang="en-US" sz="1200" kern="1200" dirty="0">
                <a:solidFill>
                  <a:schemeClr val="tx1"/>
                </a:solidFill>
                <a:effectLst/>
                <a:latin typeface="+mn-lt"/>
                <a:ea typeface="+mn-ea"/>
                <a:cs typeface="+mn-cs"/>
              </a:rPr>
              <a:t> Being 'right' according to traditional economic textbooks will not protect capital when those rules no longer apply. Adapting to these mathematical realities is necessary to preserve wealth." </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12</a:t>
            </a:fld>
            <a:endParaRPr lang="en-US"/>
          </a:p>
        </p:txBody>
      </p:sp>
    </p:spTree>
    <p:extLst>
      <p:ext uri="{BB962C8B-B14F-4D97-AF65-F5344CB8AC3E}">
        <p14:creationId xmlns:p14="http://schemas.microsoft.com/office/powerpoint/2010/main" val="1977163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Executive Summary of the Problem:</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conclude our presentation, Slide 13 provides an executive briefing summary. On the left, we have </a:t>
            </a:r>
            <a:r>
              <a:rPr lang="en-US" sz="1200" b="1" kern="1200" dirty="0">
                <a:solidFill>
                  <a:schemeClr val="tx1"/>
                </a:solidFill>
                <a:effectLst/>
                <a:latin typeface="+mn-lt"/>
                <a:ea typeface="+mn-ea"/>
                <a:cs typeface="+mn-cs"/>
              </a:rPr>
              <a:t>The Bond Singularity (The Problem)</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100% Historical Default Rate:</a:t>
            </a:r>
            <a:r>
              <a:rPr lang="en-US" sz="1200" kern="1200" dirty="0">
                <a:solidFill>
                  <a:schemeClr val="tx1"/>
                </a:solidFill>
                <a:effectLst/>
                <a:latin typeface="+mn-lt"/>
                <a:ea typeface="+mn-ea"/>
                <a:cs typeface="+mn-cs"/>
              </a:rPr>
              <a:t> Every country hitting 130% Debt-to-GDP since 1800 has restructured or inflated away its obligations.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Death of Traditional Policy:</a:t>
            </a:r>
            <a:r>
              <a:rPr lang="en-US" sz="1200" kern="1200" dirty="0">
                <a:solidFill>
                  <a:schemeClr val="tx1"/>
                </a:solidFill>
                <a:effectLst/>
                <a:latin typeface="+mn-lt"/>
                <a:ea typeface="+mn-ea"/>
                <a:cs typeface="+mn-cs"/>
              </a:rPr>
              <a:t> Both rate cuts and rate hikes are now expansionary and inflationary.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AI Accelerator:</a:t>
            </a:r>
            <a:r>
              <a:rPr lang="en-US" sz="1200" kern="1200" dirty="0">
                <a:solidFill>
                  <a:schemeClr val="tx1"/>
                </a:solidFill>
                <a:effectLst/>
                <a:latin typeface="+mn-lt"/>
                <a:ea typeface="+mn-ea"/>
                <a:cs typeface="+mn-cs"/>
              </a:rPr>
              <a:t> AI capital expenditures starve the Treasury of buyers while eroding the labor tax base." </a:t>
            </a:r>
          </a:p>
          <a:p>
            <a:pPr lvl="0"/>
            <a:r>
              <a:rPr lang="en-US" sz="1200" b="1" kern="1200" dirty="0">
                <a:solidFill>
                  <a:schemeClr val="tx1"/>
                </a:solidFill>
                <a:effectLst/>
                <a:latin typeface="+mn-lt"/>
                <a:ea typeface="+mn-ea"/>
                <a:cs typeface="+mn-cs"/>
              </a:rPr>
              <a:t>Executive Summary of the Solution: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 the right, we have </a:t>
            </a:r>
            <a:r>
              <a:rPr lang="en-US" sz="1200" b="1" kern="1200" dirty="0">
                <a:solidFill>
                  <a:schemeClr val="tx1"/>
                </a:solidFill>
                <a:effectLst/>
                <a:latin typeface="+mn-lt"/>
                <a:ea typeface="+mn-ea"/>
                <a:cs typeface="+mn-cs"/>
              </a:rPr>
              <a:t>The Debasement Trade (The Solution)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'Copper Over Cash':</a:t>
            </a:r>
            <a:r>
              <a:rPr lang="en-US" sz="1200" kern="1200" dirty="0">
                <a:solidFill>
                  <a:schemeClr val="tx1"/>
                </a:solidFill>
                <a:effectLst/>
                <a:latin typeface="+mn-lt"/>
                <a:ea typeface="+mn-ea"/>
                <a:cs typeface="+mn-cs"/>
              </a:rPr>
              <a:t> Industrial leaders prefer physical inventory over depreciating bank deposits.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Gold as the Neutral Reserve Asset:</a:t>
            </a:r>
            <a:r>
              <a:rPr lang="en-US" sz="1200" kern="1200" dirty="0">
                <a:solidFill>
                  <a:schemeClr val="tx1"/>
                </a:solidFill>
                <a:effectLst/>
                <a:latin typeface="+mn-lt"/>
                <a:ea typeface="+mn-ea"/>
                <a:cs typeface="+mn-cs"/>
              </a:rPr>
              <a:t> Global trade settlement is reordering toward local currencies backed by physical gold.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Hard Asset Trio:</a:t>
            </a:r>
            <a:r>
              <a:rPr lang="en-US" sz="1200" kern="1200" dirty="0">
                <a:solidFill>
                  <a:schemeClr val="tx1"/>
                </a:solidFill>
                <a:effectLst/>
                <a:latin typeface="+mn-lt"/>
                <a:ea typeface="+mn-ea"/>
                <a:cs typeface="+mn-cs"/>
              </a:rPr>
              <a:t> Bitcoin, Gold, and Silver serve as primary hedges against paper debasement." </a:t>
            </a:r>
          </a:p>
          <a:p>
            <a:pPr lvl="0"/>
            <a:r>
              <a:rPr lang="en-US" sz="1200" b="1" kern="1200" dirty="0">
                <a:solidFill>
                  <a:schemeClr val="tx1"/>
                </a:solidFill>
                <a:effectLst/>
                <a:latin typeface="+mn-lt"/>
                <a:ea typeface="+mn-ea"/>
                <a:cs typeface="+mn-cs"/>
              </a:rPr>
              <a:t>Final Closing Statement: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mathematical transition is underway. By positioning capital out of paper liabilities and into scarce, physical, and un-cancellable assets, investors can navigate this macroeconomic shift. Thank you, and I am now open to your questions." </a:t>
            </a:r>
          </a:p>
          <a:p>
            <a:r>
              <a:rPr lang="en-US" sz="1200" kern="1200" dirty="0">
                <a:solidFill>
                  <a:schemeClr val="tx1"/>
                </a:solidFill>
                <a:effectLst/>
                <a:latin typeface="+mn-lt"/>
                <a:ea typeface="+mn-ea"/>
                <a:cs typeface="+mn-cs"/>
              </a:rPr>
              <a:t>For additional video context and discussion on dollar debasement trends, see </a:t>
            </a:r>
            <a:r>
              <a:rPr lang="en-US" sz="1200" kern="1200" dirty="0">
                <a:solidFill>
                  <a:schemeClr val="tx1"/>
                </a:solidFill>
                <a:effectLst/>
                <a:latin typeface="+mn-lt"/>
                <a:ea typeface="+mn-ea"/>
                <a:cs typeface="+mn-cs"/>
                <a:hlinkClick r:id="rId3"/>
              </a:rPr>
              <a:t>Luke Gromen's analysis on hyperinflation</a:t>
            </a:r>
            <a:r>
              <a:rPr lang="en-US" sz="1200" kern="1200" dirty="0">
                <a:solidFill>
                  <a:schemeClr val="tx1"/>
                </a:solidFill>
                <a:effectLst/>
                <a:latin typeface="+mn-lt"/>
                <a:ea typeface="+mn-ea"/>
                <a:cs typeface="+mn-cs"/>
              </a:rPr>
              <a:t>, which details these exact macro drivers.</a:t>
            </a:r>
          </a:p>
          <a:p>
            <a:endParaRPr lang="en-US" dirty="0"/>
          </a:p>
          <a:p>
            <a:endParaRPr lang="en-US" dirty="0"/>
          </a:p>
          <a:p>
            <a:endParaRPr lang="en-US" dirty="0"/>
          </a:p>
          <a:p>
            <a:endParaRPr lang="en-US" dirty="0"/>
          </a:p>
          <a:p>
            <a:endParaRPr lang="en-US" dirty="0"/>
          </a:p>
          <a:p>
            <a:r>
              <a:rPr lang="en-US" dirty="0"/>
              <a:t>Luke Gromen: This Is How Hyperinflation Begins</a:t>
            </a:r>
          </a:p>
          <a:p>
            <a:r>
              <a:rPr lang="en-US" dirty="0"/>
              <a:t>https://www.youtube.com/watch?v=9dUte6c7ZcM</a:t>
            </a:r>
          </a:p>
          <a:p>
            <a:endParaRPr lang="en-US" dirty="0"/>
          </a:p>
        </p:txBody>
      </p:sp>
      <p:sp>
        <p:nvSpPr>
          <p:cNvPr id="4" name="Slide Number Placeholder 3"/>
          <p:cNvSpPr>
            <a:spLocks noGrp="1"/>
          </p:cNvSpPr>
          <p:nvPr>
            <p:ph type="sldNum" sz="quarter" idx="5"/>
          </p:nvPr>
        </p:nvSpPr>
        <p:spPr/>
        <p:txBody>
          <a:bodyPr/>
          <a:lstStyle/>
          <a:p>
            <a:fld id="{F9C47CDD-C67A-4A7D-90C0-AA846513EB75}" type="slidenum">
              <a:rPr lang="en-US" smtClean="0"/>
              <a:t>13</a:t>
            </a:fld>
            <a:endParaRPr lang="en-US"/>
          </a:p>
        </p:txBody>
      </p:sp>
    </p:spTree>
    <p:extLst>
      <p:ext uri="{BB962C8B-B14F-4D97-AF65-F5344CB8AC3E}">
        <p14:creationId xmlns:p14="http://schemas.microsoft.com/office/powerpoint/2010/main" val="2696134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5960BC-F2A4-3E09-574D-2FD6977E5E3A}"/>
              </a:ext>
            </a:extLst>
          </p:cNvPr>
          <p:cNvSpPr>
            <a:spLocks noGrp="1"/>
          </p:cNvSpPr>
          <p:nvPr>
            <p:ph type="dt" sz="half" idx="10"/>
          </p:nvPr>
        </p:nvSpPr>
        <p:spPr/>
        <p:txBody>
          <a:bodyPr/>
          <a:lstStyle/>
          <a:p>
            <a:fld id="{16786764-893F-4CA1-8E30-D1D3D2B9C3B6}" type="datetimeFigureOut">
              <a:rPr lang="en-US" smtClean="0"/>
              <a:t>10/21/2026</a:t>
            </a:fld>
            <a:endParaRPr lang="en-US"/>
          </a:p>
        </p:txBody>
      </p:sp>
      <p:sp>
        <p:nvSpPr>
          <p:cNvPr id="3" name="Footer Placeholder 2">
            <a:extLst>
              <a:ext uri="{FF2B5EF4-FFF2-40B4-BE49-F238E27FC236}">
                <a16:creationId xmlns:a16="http://schemas.microsoft.com/office/drawing/2014/main" id="{9E682A1A-0E7D-59A7-0959-D152B471B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DFDA9A-11B6-FC02-DCB5-72C0089284A2}"/>
              </a:ext>
            </a:extLst>
          </p:cNvPr>
          <p:cNvSpPr>
            <a:spLocks noGrp="1"/>
          </p:cNvSpPr>
          <p:nvPr>
            <p:ph type="sldNum" sz="quarter" idx="12"/>
          </p:nvPr>
        </p:nvSpPr>
        <p:spPr/>
        <p:txBody>
          <a:bodyPr/>
          <a:lstStyle/>
          <a:p>
            <a:fld id="{76C696E4-D561-4F8E-8396-A6F3E609FE6E}" type="slidenum">
              <a:rPr lang="en-US" smtClean="0"/>
              <a:t>‹#›</a:t>
            </a:fld>
            <a:endParaRPr lang="en-US"/>
          </a:p>
        </p:txBody>
      </p:sp>
    </p:spTree>
    <p:extLst>
      <p:ext uri="{BB962C8B-B14F-4D97-AF65-F5344CB8AC3E}">
        <p14:creationId xmlns:p14="http://schemas.microsoft.com/office/powerpoint/2010/main" val="238855797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7D0F57-AFD4-B869-B848-B9EE851ABA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282ED6-03B1-559F-909E-8B3DABBCF7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BAE1E-3E05-4650-9FCC-FDA73CC1AE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786764-893F-4CA1-8E30-D1D3D2B9C3B6}" type="datetimeFigureOut">
              <a:rPr lang="en-US" smtClean="0"/>
              <a:t>10/21/2026</a:t>
            </a:fld>
            <a:endParaRPr lang="en-US"/>
          </a:p>
        </p:txBody>
      </p:sp>
      <p:sp>
        <p:nvSpPr>
          <p:cNvPr id="5" name="Footer Placeholder 4">
            <a:extLst>
              <a:ext uri="{FF2B5EF4-FFF2-40B4-BE49-F238E27FC236}">
                <a16:creationId xmlns:a16="http://schemas.microsoft.com/office/drawing/2014/main" id="{D8AFC72A-666A-F58D-DC03-151E5C351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D01F21-429C-ACB4-73BE-E01F2975BF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C696E4-D561-4F8E-8396-A6F3E609FE6E}" type="slidenum">
              <a:rPr lang="en-US" smtClean="0"/>
              <a:t>‹#›</a:t>
            </a:fld>
            <a:endParaRPr lang="en-US"/>
          </a:p>
        </p:txBody>
      </p:sp>
    </p:spTree>
    <p:extLst>
      <p:ext uri="{BB962C8B-B14F-4D97-AF65-F5344CB8AC3E}">
        <p14:creationId xmlns:p14="http://schemas.microsoft.com/office/powerpoint/2010/main" val="367183813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161ED8-4682-A21F-2AC1-D23358E92B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13E562-CEAA-1DC7-31AB-906E8CDE11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EF7F70-182F-CB77-69BA-4B1468F840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C31B7F-8FFE-6D1D-1E37-3B89B43AA9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CF40AA-B96B-A187-538B-55B32CA8EA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81E73E-6DE8-1050-097E-C9741E3691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9F06CC-6BC5-FC5D-9305-D7DA84E0A7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32CC97-B6B6-3E9B-B396-BC312E0177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B71579-FA19-3940-F0AB-445DD448CE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949157-A234-463D-D776-1E311EB778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25F8CD-4B1F-D651-971F-724E3C877D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5C7056-CA41-37CF-16D7-970877CEB3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E0257D-7517-7518-6050-DC6CB4EFFC3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429079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3297</Words>
  <Application>Microsoft Office PowerPoint</Application>
  <PresentationFormat>寬螢幕</PresentationFormat>
  <Paragraphs>155</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2026-09-26T11:26:43Z</dcterms:created>
  <dcterms:modified xsi:type="dcterms:W3CDTF">2026-10-21T02:47:26Z</dcterms:modified>
</cp:coreProperties>
</file>