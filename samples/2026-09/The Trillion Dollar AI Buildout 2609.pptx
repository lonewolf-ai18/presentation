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4C2A1E-D35C-4685-A70B-A1F9BF2DB06E}" v="37" dt="2026-09-21T09:52:10.1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8" autoAdjust="0"/>
    <p:restoredTop sz="92593" autoAdjust="0"/>
  </p:normalViewPr>
  <p:slideViewPr>
    <p:cSldViewPr snapToGrid="0">
      <p:cViewPr varScale="1">
        <p:scale>
          <a:sx n="72" d="100"/>
          <a:sy n="72" d="100"/>
        </p:scale>
        <p:origin x="84"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sldOrd modMainMaster">
      <pc:chgData name="Lai, Wilson" userId="2840974a-0d84-4886-90a9-9a3ed79f3a48" providerId="ADAL" clId="{9F23B798-9E84-4552-BA63-E776E805C424}" dt="2026-09-21T09:52:56.331" v="220" actId="166"/>
      <pc:docMkLst>
        <pc:docMk/>
      </pc:docMkLst>
      <pc:sldChg chg="addSp delSp modSp mod modAnim modNotes modNotesTx">
        <pc:chgData name="Lai, Wilson" userId="2840974a-0d84-4886-90a9-9a3ed79f3a48" providerId="ADAL" clId="{9F23B798-9E84-4552-BA63-E776E805C424}" dt="2026-09-21T09:52:56.331" v="220" actId="166"/>
        <pc:sldMkLst>
          <pc:docMk/>
          <pc:sldMk cId="0" sldId="257"/>
        </pc:sldMkLst>
        <pc:spChg chg="add mod">
          <ac:chgData name="Lai, Wilson" userId="2840974a-0d84-4886-90a9-9a3ed79f3a48" providerId="ADAL" clId="{9F23B798-9E84-4552-BA63-E776E805C424}" dt="2026-09-21T09:52:10.163" v="219" actId="164"/>
          <ac:spMkLst>
            <pc:docMk/>
            <pc:sldMk cId="0" sldId="257"/>
            <ac:spMk id="5" creationId="{4D30AA59-23D3-7D81-7ED6-19F8F6C0239A}"/>
          </ac:spMkLst>
        </pc:spChg>
        <pc:grpChg chg="add mod">
          <ac:chgData name="Lai, Wilson" userId="2840974a-0d84-4886-90a9-9a3ed79f3a48" providerId="ADAL" clId="{9F23B798-9E84-4552-BA63-E776E805C424}" dt="2026-09-21T09:52:10.163" v="219" actId="164"/>
          <ac:grpSpMkLst>
            <pc:docMk/>
            <pc:sldMk cId="0" sldId="257"/>
            <ac:grpSpMk id="6" creationId="{D7D201AB-2258-0C31-3C89-B4C099205261}"/>
          </ac:grpSpMkLst>
        </pc:grpChg>
        <pc:picChg chg="del">
          <ac:chgData name="Lai, Wilson" userId="2840974a-0d84-4886-90a9-9a3ed79f3a48" providerId="ADAL" clId="{9F23B798-9E84-4552-BA63-E776E805C424}" dt="2026-09-21T01:41:33.261" v="0" actId="21"/>
          <ac:picMkLst>
            <pc:docMk/>
            <pc:sldMk cId="0" sldId="257"/>
            <ac:picMk id="2" creationId="{00000000-0000-0000-0000-000000000000}"/>
          </ac:picMkLst>
        </pc:picChg>
        <pc:picChg chg="add mod">
          <ac:chgData name="Lai, Wilson" userId="2840974a-0d84-4886-90a9-9a3ed79f3a48" providerId="ADAL" clId="{9F23B798-9E84-4552-BA63-E776E805C424}" dt="2026-09-21T09:52:10.163" v="219" actId="164"/>
          <ac:picMkLst>
            <pc:docMk/>
            <pc:sldMk cId="0" sldId="257"/>
            <ac:picMk id="2" creationId="{58B4281A-845D-749D-2F31-7F1964EBF68F}"/>
          </ac:picMkLst>
        </pc:picChg>
        <pc:picChg chg="add mod ord">
          <ac:chgData name="Lai, Wilson" userId="2840974a-0d84-4886-90a9-9a3ed79f3a48" providerId="ADAL" clId="{9F23B798-9E84-4552-BA63-E776E805C424}" dt="2026-09-21T09:52:56.331" v="220" actId="166"/>
          <ac:picMkLst>
            <pc:docMk/>
            <pc:sldMk cId="0" sldId="257"/>
            <ac:picMk id="4" creationId="{3D36C526-3EC3-0725-317F-4D3589239037}"/>
          </ac:picMkLst>
        </pc:picChg>
      </pc:sldChg>
      <pc:sldChg chg="addSp delSp mod modNotes modNotesTx">
        <pc:chgData name="Lai, Wilson" userId="2840974a-0d84-4886-90a9-9a3ed79f3a48" providerId="ADAL" clId="{9F23B798-9E84-4552-BA63-E776E805C424}" dt="2026-09-21T02:20:28.527" v="182" actId="14"/>
        <pc:sldMkLst>
          <pc:docMk/>
          <pc:sldMk cId="0" sldId="258"/>
        </pc:sldMkLst>
        <pc:picChg chg="del">
          <ac:chgData name="Lai, Wilson" userId="2840974a-0d84-4886-90a9-9a3ed79f3a48" providerId="ADAL" clId="{9F23B798-9E84-4552-BA63-E776E805C424}" dt="2026-09-21T01:41:58.335" v="2" actId="21"/>
          <ac:picMkLst>
            <pc:docMk/>
            <pc:sldMk cId="0" sldId="258"/>
            <ac:picMk id="2" creationId="{00000000-0000-0000-0000-000000000000}"/>
          </ac:picMkLst>
        </pc:picChg>
        <pc:picChg chg="add">
          <ac:chgData name="Lai, Wilson" userId="2840974a-0d84-4886-90a9-9a3ed79f3a48" providerId="ADAL" clId="{9F23B798-9E84-4552-BA63-E776E805C424}" dt="2026-09-21T01:42:19.869" v="3" actId="22"/>
          <ac:picMkLst>
            <pc:docMk/>
            <pc:sldMk cId="0" sldId="258"/>
            <ac:picMk id="4" creationId="{36E1DC89-DF7C-159C-5891-C9CC2463D8FD}"/>
          </ac:picMkLst>
        </pc:picChg>
      </pc:sldChg>
      <pc:sldChg chg="addSp delSp mod modNotes modNotesTx">
        <pc:chgData name="Lai, Wilson" userId="2840974a-0d84-4886-90a9-9a3ed79f3a48" providerId="ADAL" clId="{9F23B798-9E84-4552-BA63-E776E805C424}" dt="2026-09-21T02:20:39.211" v="183" actId="14"/>
        <pc:sldMkLst>
          <pc:docMk/>
          <pc:sldMk cId="0" sldId="259"/>
        </pc:sldMkLst>
        <pc:picChg chg="del">
          <ac:chgData name="Lai, Wilson" userId="2840974a-0d84-4886-90a9-9a3ed79f3a48" providerId="ADAL" clId="{9F23B798-9E84-4552-BA63-E776E805C424}" dt="2026-09-21T01:42:28.547" v="4" actId="21"/>
          <ac:picMkLst>
            <pc:docMk/>
            <pc:sldMk cId="0" sldId="259"/>
            <ac:picMk id="2" creationId="{00000000-0000-0000-0000-000000000000}"/>
          </ac:picMkLst>
        </pc:picChg>
        <pc:picChg chg="add">
          <ac:chgData name="Lai, Wilson" userId="2840974a-0d84-4886-90a9-9a3ed79f3a48" providerId="ADAL" clId="{9F23B798-9E84-4552-BA63-E776E805C424}" dt="2026-09-21T01:42:48.575" v="5" actId="22"/>
          <ac:picMkLst>
            <pc:docMk/>
            <pc:sldMk cId="0" sldId="259"/>
            <ac:picMk id="4" creationId="{9A295699-882D-6C4E-0692-E0E42638CE1E}"/>
          </ac:picMkLst>
        </pc:picChg>
      </pc:sldChg>
      <pc:sldChg chg="addSp delSp mod modNotes modNotesTx">
        <pc:chgData name="Lai, Wilson" userId="2840974a-0d84-4886-90a9-9a3ed79f3a48" providerId="ADAL" clId="{9F23B798-9E84-4552-BA63-E776E805C424}" dt="2026-09-21T02:20:01.413" v="181"/>
        <pc:sldMkLst>
          <pc:docMk/>
          <pc:sldMk cId="0" sldId="260"/>
        </pc:sldMkLst>
        <pc:picChg chg="del">
          <ac:chgData name="Lai, Wilson" userId="2840974a-0d84-4886-90a9-9a3ed79f3a48" providerId="ADAL" clId="{9F23B798-9E84-4552-BA63-E776E805C424}" dt="2026-09-21T01:42:53.099" v="6" actId="21"/>
          <ac:picMkLst>
            <pc:docMk/>
            <pc:sldMk cId="0" sldId="260"/>
            <ac:picMk id="2" creationId="{00000000-0000-0000-0000-000000000000}"/>
          </ac:picMkLst>
        </pc:picChg>
        <pc:picChg chg="add">
          <ac:chgData name="Lai, Wilson" userId="2840974a-0d84-4886-90a9-9a3ed79f3a48" providerId="ADAL" clId="{9F23B798-9E84-4552-BA63-E776E805C424}" dt="2026-09-21T01:43:18.990" v="7" actId="22"/>
          <ac:picMkLst>
            <pc:docMk/>
            <pc:sldMk cId="0" sldId="260"/>
            <ac:picMk id="4" creationId="{719B4C12-CB89-7723-6054-A8937289ACFC}"/>
          </ac:picMkLst>
        </pc:picChg>
      </pc:sldChg>
      <pc:sldChg chg="addSp delSp mod modNotes modNotesTx">
        <pc:chgData name="Lai, Wilson" userId="2840974a-0d84-4886-90a9-9a3ed79f3a48" providerId="ADAL" clId="{9F23B798-9E84-4552-BA63-E776E805C424}" dt="2026-09-21T02:20:50.143" v="184" actId="14"/>
        <pc:sldMkLst>
          <pc:docMk/>
          <pc:sldMk cId="0" sldId="261"/>
        </pc:sldMkLst>
        <pc:picChg chg="del">
          <ac:chgData name="Lai, Wilson" userId="2840974a-0d84-4886-90a9-9a3ed79f3a48" providerId="ADAL" clId="{9F23B798-9E84-4552-BA63-E776E805C424}" dt="2026-09-21T01:44:09.394" v="9" actId="21"/>
          <ac:picMkLst>
            <pc:docMk/>
            <pc:sldMk cId="0" sldId="261"/>
            <ac:picMk id="2" creationId="{00000000-0000-0000-0000-000000000000}"/>
          </ac:picMkLst>
        </pc:picChg>
        <pc:picChg chg="add">
          <ac:chgData name="Lai, Wilson" userId="2840974a-0d84-4886-90a9-9a3ed79f3a48" providerId="ADAL" clId="{9F23B798-9E84-4552-BA63-E776E805C424}" dt="2026-09-21T01:44:21.952" v="10" actId="22"/>
          <ac:picMkLst>
            <pc:docMk/>
            <pc:sldMk cId="0" sldId="261"/>
            <ac:picMk id="4" creationId="{79C07FCA-9DB7-A033-A89B-F3A7588C505C}"/>
          </ac:picMkLst>
        </pc:picChg>
      </pc:sldChg>
      <pc:sldChg chg="addSp delSp mod modNotes modNotesTx">
        <pc:chgData name="Lai, Wilson" userId="2840974a-0d84-4886-90a9-9a3ed79f3a48" providerId="ADAL" clId="{9F23B798-9E84-4552-BA63-E776E805C424}" dt="2026-09-21T02:20:56.164" v="185" actId="14"/>
        <pc:sldMkLst>
          <pc:docMk/>
          <pc:sldMk cId="0" sldId="262"/>
        </pc:sldMkLst>
        <pc:picChg chg="del">
          <ac:chgData name="Lai, Wilson" userId="2840974a-0d84-4886-90a9-9a3ed79f3a48" providerId="ADAL" clId="{9F23B798-9E84-4552-BA63-E776E805C424}" dt="2026-09-21T01:44:30.323" v="11" actId="21"/>
          <ac:picMkLst>
            <pc:docMk/>
            <pc:sldMk cId="0" sldId="262"/>
            <ac:picMk id="2" creationId="{00000000-0000-0000-0000-000000000000}"/>
          </ac:picMkLst>
        </pc:picChg>
        <pc:picChg chg="add">
          <ac:chgData name="Lai, Wilson" userId="2840974a-0d84-4886-90a9-9a3ed79f3a48" providerId="ADAL" clId="{9F23B798-9E84-4552-BA63-E776E805C424}" dt="2026-09-21T01:44:53.788" v="12" actId="22"/>
          <ac:picMkLst>
            <pc:docMk/>
            <pc:sldMk cId="0" sldId="262"/>
            <ac:picMk id="4" creationId="{A44281E8-D428-88AA-E22D-A54EC67CED68}"/>
          </ac:picMkLst>
        </pc:picChg>
      </pc:sldChg>
      <pc:sldChg chg="addSp delSp mod modNotes modNotesTx">
        <pc:chgData name="Lai, Wilson" userId="2840974a-0d84-4886-90a9-9a3ed79f3a48" providerId="ADAL" clId="{9F23B798-9E84-4552-BA63-E776E805C424}" dt="2026-09-21T02:21:27.549" v="189" actId="14"/>
        <pc:sldMkLst>
          <pc:docMk/>
          <pc:sldMk cId="0" sldId="263"/>
        </pc:sldMkLst>
        <pc:picChg chg="del">
          <ac:chgData name="Lai, Wilson" userId="2840974a-0d84-4886-90a9-9a3ed79f3a48" providerId="ADAL" clId="{9F23B798-9E84-4552-BA63-E776E805C424}" dt="2026-09-21T01:44:59.707" v="13" actId="21"/>
          <ac:picMkLst>
            <pc:docMk/>
            <pc:sldMk cId="0" sldId="263"/>
            <ac:picMk id="2" creationId="{00000000-0000-0000-0000-000000000000}"/>
          </ac:picMkLst>
        </pc:picChg>
        <pc:picChg chg="add">
          <ac:chgData name="Lai, Wilson" userId="2840974a-0d84-4886-90a9-9a3ed79f3a48" providerId="ADAL" clId="{9F23B798-9E84-4552-BA63-E776E805C424}" dt="2026-09-21T01:45:19.003" v="14" actId="22"/>
          <ac:picMkLst>
            <pc:docMk/>
            <pc:sldMk cId="0" sldId="263"/>
            <ac:picMk id="4" creationId="{28B39769-B144-1A5A-5905-6AF4390A5DCF}"/>
          </ac:picMkLst>
        </pc:picChg>
      </pc:sldChg>
      <pc:sldChg chg="addSp delSp mod modNotes modNotesTx">
        <pc:chgData name="Lai, Wilson" userId="2840974a-0d84-4886-90a9-9a3ed79f3a48" providerId="ADAL" clId="{9F23B798-9E84-4552-BA63-E776E805C424}" dt="2026-09-21T02:20:01.413" v="181"/>
        <pc:sldMkLst>
          <pc:docMk/>
          <pc:sldMk cId="0" sldId="264"/>
        </pc:sldMkLst>
        <pc:picChg chg="del">
          <ac:chgData name="Lai, Wilson" userId="2840974a-0d84-4886-90a9-9a3ed79f3a48" providerId="ADAL" clId="{9F23B798-9E84-4552-BA63-E776E805C424}" dt="2026-09-21T01:45:23.152" v="15" actId="21"/>
          <ac:picMkLst>
            <pc:docMk/>
            <pc:sldMk cId="0" sldId="264"/>
            <ac:picMk id="2" creationId="{00000000-0000-0000-0000-000000000000}"/>
          </ac:picMkLst>
        </pc:picChg>
        <pc:picChg chg="add">
          <ac:chgData name="Lai, Wilson" userId="2840974a-0d84-4886-90a9-9a3ed79f3a48" providerId="ADAL" clId="{9F23B798-9E84-4552-BA63-E776E805C424}" dt="2026-09-21T01:45:35.823" v="16" actId="22"/>
          <ac:picMkLst>
            <pc:docMk/>
            <pc:sldMk cId="0" sldId="264"/>
            <ac:picMk id="4" creationId="{92EAF3CA-BE8B-2907-30AC-22294755767F}"/>
          </ac:picMkLst>
        </pc:picChg>
      </pc:sldChg>
      <pc:sldChg chg="addSp delSp mod modNotes modNotesTx">
        <pc:chgData name="Lai, Wilson" userId="2840974a-0d84-4886-90a9-9a3ed79f3a48" providerId="ADAL" clId="{9F23B798-9E84-4552-BA63-E776E805C424}" dt="2026-09-21T02:20:01.413" v="181"/>
        <pc:sldMkLst>
          <pc:docMk/>
          <pc:sldMk cId="0" sldId="265"/>
        </pc:sldMkLst>
        <pc:picChg chg="del">
          <ac:chgData name="Lai, Wilson" userId="2840974a-0d84-4886-90a9-9a3ed79f3a48" providerId="ADAL" clId="{9F23B798-9E84-4552-BA63-E776E805C424}" dt="2026-09-21T01:45:41.573" v="17" actId="21"/>
          <ac:picMkLst>
            <pc:docMk/>
            <pc:sldMk cId="0" sldId="265"/>
            <ac:picMk id="2" creationId="{00000000-0000-0000-0000-000000000000}"/>
          </ac:picMkLst>
        </pc:picChg>
        <pc:picChg chg="add">
          <ac:chgData name="Lai, Wilson" userId="2840974a-0d84-4886-90a9-9a3ed79f3a48" providerId="ADAL" clId="{9F23B798-9E84-4552-BA63-E776E805C424}" dt="2026-09-21T01:45:54.355" v="18" actId="22"/>
          <ac:picMkLst>
            <pc:docMk/>
            <pc:sldMk cId="0" sldId="265"/>
            <ac:picMk id="4" creationId="{C439585D-CFD5-3F9C-E805-8262CE4C1D94}"/>
          </ac:picMkLst>
        </pc:picChg>
      </pc:sldChg>
      <pc:sldChg chg="addSp delSp mod modNotes modNotesTx">
        <pc:chgData name="Lai, Wilson" userId="2840974a-0d84-4886-90a9-9a3ed79f3a48" providerId="ADAL" clId="{9F23B798-9E84-4552-BA63-E776E805C424}" dt="2026-09-21T02:20:01.413" v="181"/>
        <pc:sldMkLst>
          <pc:docMk/>
          <pc:sldMk cId="0" sldId="266"/>
        </pc:sldMkLst>
        <pc:picChg chg="del">
          <ac:chgData name="Lai, Wilson" userId="2840974a-0d84-4886-90a9-9a3ed79f3a48" providerId="ADAL" clId="{9F23B798-9E84-4552-BA63-E776E805C424}" dt="2026-09-21T01:45:58.979" v="19" actId="21"/>
          <ac:picMkLst>
            <pc:docMk/>
            <pc:sldMk cId="0" sldId="266"/>
            <ac:picMk id="2" creationId="{00000000-0000-0000-0000-000000000000}"/>
          </ac:picMkLst>
        </pc:picChg>
        <pc:picChg chg="add">
          <ac:chgData name="Lai, Wilson" userId="2840974a-0d84-4886-90a9-9a3ed79f3a48" providerId="ADAL" clId="{9F23B798-9E84-4552-BA63-E776E805C424}" dt="2026-09-21T01:46:13.868" v="20" actId="22"/>
          <ac:picMkLst>
            <pc:docMk/>
            <pc:sldMk cId="0" sldId="266"/>
            <ac:picMk id="4" creationId="{8C33CEA0-A0FF-449A-7E7D-C9449528EDC2}"/>
          </ac:picMkLst>
        </pc:picChg>
      </pc:sldChg>
      <pc:sldChg chg="addSp delSp mod modNotes modNotesTx">
        <pc:chgData name="Lai, Wilson" userId="2840974a-0d84-4886-90a9-9a3ed79f3a48" providerId="ADAL" clId="{9F23B798-9E84-4552-BA63-E776E805C424}" dt="2026-09-21T02:41:30.256" v="203" actId="14"/>
        <pc:sldMkLst>
          <pc:docMk/>
          <pc:sldMk cId="0" sldId="267"/>
        </pc:sldMkLst>
        <pc:picChg chg="del">
          <ac:chgData name="Lai, Wilson" userId="2840974a-0d84-4886-90a9-9a3ed79f3a48" providerId="ADAL" clId="{9F23B798-9E84-4552-BA63-E776E805C424}" dt="2026-09-21T01:46:17.404" v="21" actId="21"/>
          <ac:picMkLst>
            <pc:docMk/>
            <pc:sldMk cId="0" sldId="267"/>
            <ac:picMk id="2" creationId="{00000000-0000-0000-0000-000000000000}"/>
          </ac:picMkLst>
        </pc:picChg>
        <pc:picChg chg="add">
          <ac:chgData name="Lai, Wilson" userId="2840974a-0d84-4886-90a9-9a3ed79f3a48" providerId="ADAL" clId="{9F23B798-9E84-4552-BA63-E776E805C424}" dt="2026-09-21T01:46:32.267" v="22" actId="22"/>
          <ac:picMkLst>
            <pc:docMk/>
            <pc:sldMk cId="0" sldId="267"/>
            <ac:picMk id="4" creationId="{C766E5D6-0DCA-1294-20C1-4D314E3C1049}"/>
          </ac:picMkLst>
        </pc:picChg>
      </pc:sldChg>
      <pc:sldChg chg="addSp delSp mod modNotes modNotesTx">
        <pc:chgData name="Lai, Wilson" userId="2840974a-0d84-4886-90a9-9a3ed79f3a48" providerId="ADAL" clId="{9F23B798-9E84-4552-BA63-E776E805C424}" dt="2026-09-21T02:21:44.492" v="190" actId="14"/>
        <pc:sldMkLst>
          <pc:docMk/>
          <pc:sldMk cId="0" sldId="268"/>
        </pc:sldMkLst>
        <pc:picChg chg="del">
          <ac:chgData name="Lai, Wilson" userId="2840974a-0d84-4886-90a9-9a3ed79f3a48" providerId="ADAL" clId="{9F23B798-9E84-4552-BA63-E776E805C424}" dt="2026-09-21T01:46:38.920" v="23" actId="21"/>
          <ac:picMkLst>
            <pc:docMk/>
            <pc:sldMk cId="0" sldId="268"/>
            <ac:picMk id="2" creationId="{00000000-0000-0000-0000-000000000000}"/>
          </ac:picMkLst>
        </pc:picChg>
        <pc:picChg chg="add">
          <ac:chgData name="Lai, Wilson" userId="2840974a-0d84-4886-90a9-9a3ed79f3a48" providerId="ADAL" clId="{9F23B798-9E84-4552-BA63-E776E805C424}" dt="2026-09-21T01:46:48.266" v="24" actId="22"/>
          <ac:picMkLst>
            <pc:docMk/>
            <pc:sldMk cId="0" sldId="268"/>
            <ac:picMk id="4" creationId="{EFA4DF18-7F37-0B5F-DAED-73579B9B3407}"/>
          </ac:picMkLst>
        </pc:picChg>
      </pc:sldChg>
      <pc:sldChg chg="addSp delSp mod ord modNotes modNotesTx">
        <pc:chgData name="Lai, Wilson" userId="2840974a-0d84-4886-90a9-9a3ed79f3a48" providerId="ADAL" clId="{9F23B798-9E84-4552-BA63-E776E805C424}" dt="2026-09-21T02:21:50.384" v="191" actId="14"/>
        <pc:sldMkLst>
          <pc:docMk/>
          <pc:sldMk cId="0" sldId="269"/>
        </pc:sldMkLst>
        <pc:picChg chg="del">
          <ac:chgData name="Lai, Wilson" userId="2840974a-0d84-4886-90a9-9a3ed79f3a48" providerId="ADAL" clId="{9F23B798-9E84-4552-BA63-E776E805C424}" dt="2026-09-21T01:46:51.240" v="25" actId="21"/>
          <ac:picMkLst>
            <pc:docMk/>
            <pc:sldMk cId="0" sldId="269"/>
            <ac:picMk id="2" creationId="{00000000-0000-0000-0000-000000000000}"/>
          </ac:picMkLst>
        </pc:picChg>
        <pc:picChg chg="add">
          <ac:chgData name="Lai, Wilson" userId="2840974a-0d84-4886-90a9-9a3ed79f3a48" providerId="ADAL" clId="{9F23B798-9E84-4552-BA63-E776E805C424}" dt="2026-09-21T01:47:12.575" v="26" actId="22"/>
          <ac:picMkLst>
            <pc:docMk/>
            <pc:sldMk cId="0" sldId="269"/>
            <ac:picMk id="4" creationId="{7339C730-E5EC-2270-7803-FD44E07359DC}"/>
          </ac:picMkLst>
        </pc:picChg>
      </pc:sldChg>
      <pc:sldChg chg="addSp delSp mod modNotes modNotesTx">
        <pc:chgData name="Lai, Wilson" userId="2840974a-0d84-4886-90a9-9a3ed79f3a48" providerId="ADAL" clId="{9F23B798-9E84-4552-BA63-E776E805C424}" dt="2026-09-21T02:22:19.705" v="194" actId="14"/>
        <pc:sldMkLst>
          <pc:docMk/>
          <pc:sldMk cId="0" sldId="270"/>
        </pc:sldMkLst>
        <pc:picChg chg="del">
          <ac:chgData name="Lai, Wilson" userId="2840974a-0d84-4886-90a9-9a3ed79f3a48" providerId="ADAL" clId="{9F23B798-9E84-4552-BA63-E776E805C424}" dt="2026-09-21T01:47:18.969" v="27" actId="21"/>
          <ac:picMkLst>
            <pc:docMk/>
            <pc:sldMk cId="0" sldId="270"/>
            <ac:picMk id="2" creationId="{00000000-0000-0000-0000-000000000000}"/>
          </ac:picMkLst>
        </pc:picChg>
        <pc:picChg chg="add">
          <ac:chgData name="Lai, Wilson" userId="2840974a-0d84-4886-90a9-9a3ed79f3a48" providerId="ADAL" clId="{9F23B798-9E84-4552-BA63-E776E805C424}" dt="2026-09-21T01:47:37.129" v="28" actId="22"/>
          <ac:picMkLst>
            <pc:docMk/>
            <pc:sldMk cId="0" sldId="270"/>
            <ac:picMk id="4" creationId="{EA2E56C4-A129-7297-4348-FA3B91DA39FE}"/>
          </ac:picMkLst>
        </pc:picChg>
      </pc:sldChg>
      <pc:sldChg chg="addSp delSp mod modNotes modNotesTx">
        <pc:chgData name="Lai, Wilson" userId="2840974a-0d84-4886-90a9-9a3ed79f3a48" providerId="ADAL" clId="{9F23B798-9E84-4552-BA63-E776E805C424}" dt="2026-09-21T02:22:44.951" v="200" actId="14"/>
        <pc:sldMkLst>
          <pc:docMk/>
          <pc:sldMk cId="0" sldId="271"/>
        </pc:sldMkLst>
        <pc:picChg chg="del">
          <ac:chgData name="Lai, Wilson" userId="2840974a-0d84-4886-90a9-9a3ed79f3a48" providerId="ADAL" clId="{9F23B798-9E84-4552-BA63-E776E805C424}" dt="2026-09-21T01:47:45.173" v="29" actId="21"/>
          <ac:picMkLst>
            <pc:docMk/>
            <pc:sldMk cId="0" sldId="271"/>
            <ac:picMk id="2" creationId="{00000000-0000-0000-0000-000000000000}"/>
          </ac:picMkLst>
        </pc:picChg>
        <pc:picChg chg="add">
          <ac:chgData name="Lai, Wilson" userId="2840974a-0d84-4886-90a9-9a3ed79f3a48" providerId="ADAL" clId="{9F23B798-9E84-4552-BA63-E776E805C424}" dt="2026-09-21T01:48:21.802" v="30" actId="22"/>
          <ac:picMkLst>
            <pc:docMk/>
            <pc:sldMk cId="0" sldId="271"/>
            <ac:picMk id="4" creationId="{08B6F2F9-4250-E74D-40C6-1A90BB96F5CF}"/>
          </ac:picMkLst>
        </pc:picChg>
      </pc:sldChg>
      <pc:sldChg chg="addSp delSp mod modNotes modNotesTx">
        <pc:chgData name="Lai, Wilson" userId="2840974a-0d84-4886-90a9-9a3ed79f3a48" providerId="ADAL" clId="{9F23B798-9E84-4552-BA63-E776E805C424}" dt="2026-09-21T02:22:53.709" v="202" actId="14"/>
        <pc:sldMkLst>
          <pc:docMk/>
          <pc:sldMk cId="3700657650" sldId="272"/>
        </pc:sldMkLst>
        <pc:picChg chg="del">
          <ac:chgData name="Lai, Wilson" userId="2840974a-0d84-4886-90a9-9a3ed79f3a48" providerId="ADAL" clId="{9F23B798-9E84-4552-BA63-E776E805C424}" dt="2026-09-21T01:48:26.224" v="31" actId="21"/>
          <ac:picMkLst>
            <pc:docMk/>
            <pc:sldMk cId="3700657650" sldId="272"/>
            <ac:picMk id="3" creationId="{2496745D-3DA4-9092-6C2E-219CD2E41245}"/>
          </ac:picMkLst>
        </pc:picChg>
        <pc:picChg chg="add">
          <ac:chgData name="Lai, Wilson" userId="2840974a-0d84-4886-90a9-9a3ed79f3a48" providerId="ADAL" clId="{9F23B798-9E84-4552-BA63-E776E805C424}" dt="2026-09-21T01:48:46.534" v="32" actId="22"/>
          <ac:picMkLst>
            <pc:docMk/>
            <pc:sldMk cId="3700657650" sldId="272"/>
            <ac:picMk id="4" creationId="{1E76C3F4-1196-761F-EB70-7A47ECD3B2C7}"/>
          </ac:picMkLst>
        </pc:picChg>
      </pc:sldChg>
      <pc:sldMasterChg chg="setBg">
        <pc:chgData name="Lai, Wilson" userId="2840974a-0d84-4886-90a9-9a3ed79f3a48" providerId="ADAL" clId="{9F23B798-9E84-4552-BA63-E776E805C424}" dt="2026-09-21T01:43:58.406" v="8"/>
        <pc:sldMasterMkLst>
          <pc:docMk/>
          <pc:sldMasterMk cId="3522708940"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57F11B-444C-4BCC-B702-1980E211E50D}"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96476E-44E0-43A3-8615-ACBD158674D1}" type="slidenum">
              <a:rPr lang="en-US" smtClean="0"/>
              <a:t>‹#›</a:t>
            </a:fld>
            <a:endParaRPr lang="en-US"/>
          </a:p>
        </p:txBody>
      </p:sp>
    </p:spTree>
    <p:extLst>
      <p:ext uri="{BB962C8B-B14F-4D97-AF65-F5344CB8AC3E}">
        <p14:creationId xmlns:p14="http://schemas.microsoft.com/office/powerpoint/2010/main" val="903614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Introduction &amp; Opening Humor :</a:t>
            </a:r>
            <a:r>
              <a:rPr lang="en-US" dirty="0"/>
              <a:t> Good morning, everyone. Welcome, and thank you all for traveling from across the globe to join us today. Before we dive into the numbers, I want to address something essential: how to be a global finance fitness influencer. First, abundant sweat—it establishes authenticity. Second, always elevate the camera angle to avoid the dreaded double chin. Third, shameless branding—wear logos like a NASCAR driver. Fourth, lean into the dorky dad vibes. And fifth, endless emojis to signal enthusiasm.</a:t>
            </a:r>
          </a:p>
          <a:p>
            <a:pPr lvl="0"/>
            <a:r>
              <a:rPr lang="en-US" b="1" dirty="0"/>
              <a:t>Transition to the Core Theme :</a:t>
            </a:r>
            <a:r>
              <a:rPr lang="en-US" dirty="0"/>
              <a:t> Now, let's step into our day job. Today, we are addressing four vital macro questions: What has changed since we last met a year ago? What can we learn from history? Where do we stand today? And where is this economic wave carrying us?</a:t>
            </a:r>
          </a:p>
          <a:p>
            <a:pPr lvl="0"/>
            <a:r>
              <a:rPr lang="en-US" b="1" dirty="0"/>
              <a:t>The "Beef" Framing :</a:t>
            </a:r>
            <a:r>
              <a:rPr lang="en-US" dirty="0"/>
              <a:t> We are examining all of this through the lens of two letters: AI. The central question being asked across global markets today is straightforward: </a:t>
            </a:r>
            <a:r>
              <a:rPr lang="en-US" i="1" dirty="0"/>
              <a:t>"Where's the beef?"</a:t>
            </a:r>
            <a:r>
              <a:rPr lang="en-US" dirty="0"/>
              <a:t> Trillions of dollars are flowing into infrastructure, chips, and power grids. Investors are naturally asking whether this buildout is supported by genuine, cash-on-cash ROI or if it's merely speculative fluff. Over the next several slides, we will demonstrate why the "beef"—the corporate returns, productivity expansion, and margin gains—is real and already showing up on balance sheets.</a:t>
            </a:r>
          </a:p>
          <a:p>
            <a:endParaRPr lang="en-US" dirty="0"/>
          </a:p>
          <a:p>
            <a:endParaRPr lang="en-US" dirty="0"/>
          </a:p>
          <a:p>
            <a:endParaRPr lang="en-US" dirty="0"/>
          </a:p>
          <a:p>
            <a:endParaRPr lang="en-US" dirty="0"/>
          </a:p>
          <a:p>
            <a:r>
              <a:rPr lang="en-US" dirty="0"/>
              <a:t>https://www.youtube.com/watch?v=4rhShOPHl50</a:t>
            </a:r>
          </a:p>
          <a:p>
            <a:endParaRPr lang="en-US" dirty="0"/>
          </a:p>
        </p:txBody>
      </p:sp>
      <p:sp>
        <p:nvSpPr>
          <p:cNvPr id="4" name="Slide Number Placeholder 3"/>
          <p:cNvSpPr>
            <a:spLocks noGrp="1"/>
          </p:cNvSpPr>
          <p:nvPr>
            <p:ph type="sldNum" sz="quarter" idx="5"/>
          </p:nvPr>
        </p:nvSpPr>
        <p:spPr/>
        <p:txBody>
          <a:bodyPr/>
          <a:lstStyle/>
          <a:p>
            <a:fld id="{5C96476E-44E0-43A3-8615-ACBD158674D1}" type="slidenum">
              <a:rPr lang="en-US" smtClean="0"/>
              <a:t>1</a:t>
            </a:fld>
            <a:endParaRPr lang="en-US"/>
          </a:p>
        </p:txBody>
      </p:sp>
    </p:spTree>
    <p:extLst>
      <p:ext uri="{BB962C8B-B14F-4D97-AF65-F5344CB8AC3E}">
        <p14:creationId xmlns:p14="http://schemas.microsoft.com/office/powerpoint/2010/main" val="5780550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Exponential Token Consumption :</a:t>
            </a:r>
            <a:r>
              <a:rPr lang="en-US" sz="1200" kern="1200" dirty="0">
                <a:solidFill>
                  <a:schemeClr val="tx1"/>
                </a:solidFill>
                <a:effectLst/>
                <a:latin typeface="+mn-lt"/>
                <a:ea typeface="+mn-ea"/>
                <a:cs typeface="+mn-cs"/>
              </a:rPr>
              <a:t> If we look back to September 2025, token usage was at hundreds of trillions. Fast-forward to May 2026, Google alone processed </a:t>
            </a:r>
            <a:r>
              <a:rPr lang="en-US" sz="1200" b="1" kern="1200" dirty="0">
                <a:solidFill>
                  <a:schemeClr val="tx1"/>
                </a:solidFill>
                <a:effectLst/>
                <a:latin typeface="+mn-lt"/>
                <a:ea typeface="+mn-ea"/>
                <a:cs typeface="+mn-cs"/>
              </a:rPr>
              <a:t>3.2 quadrillion monthly tokens</a:t>
            </a:r>
            <a:r>
              <a:rPr lang="en-US" sz="1200" kern="1200" dirty="0">
                <a:solidFill>
                  <a:schemeClr val="tx1"/>
                </a:solidFill>
                <a:effectLst/>
                <a:latin typeface="+mn-lt"/>
                <a:ea typeface="+mn-ea"/>
                <a:cs typeface="+mn-cs"/>
              </a:rPr>
              <a:t>. This is an order of magnitude shift in compute consumption happening in less than eight quarters. </a:t>
            </a:r>
          </a:p>
          <a:p>
            <a:pPr lvl="0"/>
            <a:r>
              <a:rPr lang="en-US" sz="1200" b="1" kern="1200" dirty="0">
                <a:solidFill>
                  <a:schemeClr val="tx1"/>
                </a:solidFill>
                <a:effectLst/>
                <a:latin typeface="+mn-lt"/>
                <a:ea typeface="+mn-ea"/>
                <a:cs typeface="+mn-cs"/>
              </a:rPr>
              <a:t>Model Revenue Run Rates :</a:t>
            </a:r>
            <a:r>
              <a:rPr lang="en-US" sz="1200" kern="1200" dirty="0">
                <a:solidFill>
                  <a:schemeClr val="tx1"/>
                </a:solidFill>
                <a:effectLst/>
                <a:latin typeface="+mn-lt"/>
                <a:ea typeface="+mn-ea"/>
                <a:cs typeface="+mn-cs"/>
              </a:rPr>
              <a:t> On the corporate side, frontier model companies like OpenAI and Anthropic generated virtually zero revenue a couple of years ago. By mid-2025, model revenues had scaled 100x, hitting an astounding </a:t>
            </a:r>
            <a:r>
              <a:rPr lang="en-US" sz="1200" b="1" kern="1200" dirty="0">
                <a:solidFill>
                  <a:schemeClr val="tx1"/>
                </a:solidFill>
                <a:effectLst/>
                <a:latin typeface="+mn-lt"/>
                <a:ea typeface="+mn-ea"/>
                <a:cs typeface="+mn-cs"/>
              </a:rPr>
              <a:t>$105 billion annualized run rate by July 2026</a:t>
            </a:r>
            <a:r>
              <a:rPr lang="en-US" sz="1200" kern="1200" dirty="0">
                <a:solidFill>
                  <a:schemeClr val="tx1"/>
                </a:solidFill>
                <a:effectLst/>
                <a:latin typeface="+mn-lt"/>
                <a:ea typeface="+mn-ea"/>
                <a:cs typeface="+mn-cs"/>
              </a:rPr>
              <a:t>. This speed of revenue adoption is completely unmatched in economic history. </a:t>
            </a:r>
          </a:p>
          <a:p>
            <a:pPr lvl="0"/>
            <a:r>
              <a:rPr lang="en-US" sz="1200" b="1" kern="1200" dirty="0">
                <a:solidFill>
                  <a:schemeClr val="tx1"/>
                </a:solidFill>
                <a:effectLst/>
                <a:latin typeface="+mn-lt"/>
                <a:ea typeface="+mn-ea"/>
                <a:cs typeface="+mn-cs"/>
              </a:rPr>
              <a:t>The Proprietary Data Point (Blackstone Portfolio) :</a:t>
            </a:r>
            <a:r>
              <a:rPr lang="en-US" sz="1200" kern="1200" dirty="0">
                <a:solidFill>
                  <a:schemeClr val="tx1"/>
                </a:solidFill>
                <a:effectLst/>
                <a:latin typeface="+mn-lt"/>
                <a:ea typeface="+mn-ea"/>
                <a:cs typeface="+mn-cs"/>
              </a:rPr>
              <a:t> Skeptics often ask if this demand is artificially inflated or localized. Because of our scale at Blackstone, we have a unique window into real enterprise behavior. Across our network of 1,400 portfolio companies and borrowers, run-rate spending with Anthropic surged </a:t>
            </a:r>
            <a:r>
              <a:rPr lang="en-US" sz="1200" b="1" kern="1200" dirty="0">
                <a:solidFill>
                  <a:schemeClr val="tx1"/>
                </a:solidFill>
                <a:effectLst/>
                <a:latin typeface="+mn-lt"/>
                <a:ea typeface="+mn-ea"/>
                <a:cs typeface="+mn-cs"/>
              </a:rPr>
              <a:t>21-fold in just 10 months</a:t>
            </a:r>
            <a:r>
              <a:rPr lang="en-US" sz="1200" kern="1200" dirty="0">
                <a:solidFill>
                  <a:schemeClr val="tx1"/>
                </a:solidFill>
                <a:effectLst/>
                <a:latin typeface="+mn-lt"/>
                <a:ea typeface="+mn-ea"/>
                <a:cs typeface="+mn-cs"/>
              </a:rPr>
              <a:t>—growing from $25 million in late 2025 to </a:t>
            </a:r>
            <a:r>
              <a:rPr lang="en-US" sz="1200" b="1" kern="1200" dirty="0">
                <a:solidFill>
                  <a:schemeClr val="tx1"/>
                </a:solidFill>
                <a:effectLst/>
                <a:latin typeface="+mn-lt"/>
                <a:ea typeface="+mn-ea"/>
                <a:cs typeface="+mn-cs"/>
              </a:rPr>
              <a:t>$525 million</a:t>
            </a:r>
            <a:r>
              <a:rPr lang="en-US" sz="1200" kern="1200" dirty="0">
                <a:solidFill>
                  <a:schemeClr val="tx1"/>
                </a:solidFill>
                <a:effectLst/>
                <a:latin typeface="+mn-lt"/>
                <a:ea typeface="+mn-ea"/>
                <a:cs typeface="+mn-cs"/>
              </a:rPr>
              <a:t> today. </a:t>
            </a:r>
          </a:p>
          <a:p>
            <a:pPr lvl="0"/>
            <a:r>
              <a:rPr lang="en-US" sz="1200" b="1" kern="1200" dirty="0">
                <a:solidFill>
                  <a:schemeClr val="tx1"/>
                </a:solidFill>
                <a:effectLst/>
                <a:latin typeface="+mn-lt"/>
                <a:ea typeface="+mn-ea"/>
                <a:cs typeface="+mn-cs"/>
              </a:rPr>
              <a:t>Key Takeaway :</a:t>
            </a:r>
            <a:r>
              <a:rPr lang="en-US" sz="1200" kern="1200" dirty="0">
                <a:solidFill>
                  <a:schemeClr val="tx1"/>
                </a:solidFill>
                <a:effectLst/>
                <a:latin typeface="+mn-lt"/>
                <a:ea typeface="+mn-ea"/>
                <a:cs typeface="+mn-cs"/>
              </a:rPr>
              <a:t> Enterprises are not spending this money on a whim. They are pouring capital into these platforms because the software models are generating tangible, immediate returns for their core operations. </a:t>
            </a:r>
          </a:p>
        </p:txBody>
      </p:sp>
      <p:sp>
        <p:nvSpPr>
          <p:cNvPr id="4" name="Slide Number Placeholder 3"/>
          <p:cNvSpPr>
            <a:spLocks noGrp="1"/>
          </p:cNvSpPr>
          <p:nvPr>
            <p:ph type="sldNum" sz="quarter" idx="5"/>
          </p:nvPr>
        </p:nvSpPr>
        <p:spPr/>
        <p:txBody>
          <a:bodyPr/>
          <a:lstStyle/>
          <a:p>
            <a:fld id="{5C96476E-44E0-43A3-8615-ACBD158674D1}" type="slidenum">
              <a:rPr lang="en-US" smtClean="0"/>
              <a:t>2</a:t>
            </a:fld>
            <a:endParaRPr lang="en-US"/>
          </a:p>
        </p:txBody>
      </p:sp>
    </p:spTree>
    <p:extLst>
      <p:ext uri="{BB962C8B-B14F-4D97-AF65-F5344CB8AC3E}">
        <p14:creationId xmlns:p14="http://schemas.microsoft.com/office/powerpoint/2010/main" val="26468360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err="1">
                <a:solidFill>
                  <a:schemeClr val="tx1"/>
                </a:solidFill>
                <a:effectLst/>
                <a:latin typeface="+mn-lt"/>
                <a:ea typeface="+mn-ea"/>
                <a:cs typeface="+mn-cs"/>
              </a:rPr>
              <a:t>Hyperscaler</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CapEx</a:t>
            </a:r>
            <a:r>
              <a:rPr lang="en-US" sz="1200" b="1" kern="1200" dirty="0">
                <a:solidFill>
                  <a:schemeClr val="tx1"/>
                </a:solidFill>
                <a:effectLst/>
                <a:latin typeface="+mn-lt"/>
                <a:ea typeface="+mn-ea"/>
                <a:cs typeface="+mn-cs"/>
              </a:rPr>
              <a:t> Expansion :</a:t>
            </a:r>
            <a:r>
              <a:rPr lang="en-US" sz="1200" kern="1200" dirty="0">
                <a:solidFill>
                  <a:schemeClr val="tx1"/>
                </a:solidFill>
                <a:effectLst/>
                <a:latin typeface="+mn-lt"/>
                <a:ea typeface="+mn-ea"/>
                <a:cs typeface="+mn-cs"/>
              </a:rPr>
              <a:t> To support this compute explosion, physical infrastructure spend is accelerating exponentially. Last year, </a:t>
            </a:r>
            <a:r>
              <a:rPr lang="en-US" sz="1200" kern="1200" dirty="0" err="1">
                <a:solidFill>
                  <a:schemeClr val="tx1"/>
                </a:solidFill>
                <a:effectLst/>
                <a:latin typeface="+mn-lt"/>
                <a:ea typeface="+mn-ea"/>
                <a:cs typeface="+mn-cs"/>
              </a:rPr>
              <a:t>hyperscaler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CapEx</a:t>
            </a:r>
            <a:r>
              <a:rPr lang="en-US" sz="1200" kern="1200" dirty="0">
                <a:solidFill>
                  <a:schemeClr val="tx1"/>
                </a:solidFill>
                <a:effectLst/>
                <a:latin typeface="+mn-lt"/>
                <a:ea typeface="+mn-ea"/>
                <a:cs typeface="+mn-cs"/>
              </a:rPr>
              <a:t> across the top tech companies stood at $415 billion. By 2026, that number has virtually doubled to </a:t>
            </a:r>
            <a:r>
              <a:rPr lang="en-US" sz="1200" b="1" kern="1200" dirty="0">
                <a:solidFill>
                  <a:schemeClr val="tx1"/>
                </a:solidFill>
                <a:effectLst/>
                <a:latin typeface="+mn-lt"/>
                <a:ea typeface="+mn-ea"/>
                <a:cs typeface="+mn-cs"/>
              </a:rPr>
              <a:t>$820 billion</a:t>
            </a:r>
            <a:r>
              <a:rPr lang="en-US" sz="1200" kern="1200" dirty="0">
                <a:solidFill>
                  <a:schemeClr val="tx1"/>
                </a:solidFill>
                <a:effectLst/>
                <a:latin typeface="+mn-lt"/>
                <a:ea typeface="+mn-ea"/>
                <a:cs typeface="+mn-cs"/>
              </a:rPr>
              <a:t>. To put that into macro context, </a:t>
            </a:r>
            <a:r>
              <a:rPr lang="en-US" sz="1200" kern="1200" dirty="0" err="1">
                <a:solidFill>
                  <a:schemeClr val="tx1"/>
                </a:solidFill>
                <a:effectLst/>
                <a:latin typeface="+mn-lt"/>
                <a:ea typeface="+mn-ea"/>
                <a:cs typeface="+mn-cs"/>
              </a:rPr>
              <a:t>hyperscaler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CapEx</a:t>
            </a:r>
            <a:r>
              <a:rPr lang="en-US" sz="1200" kern="1200" dirty="0">
                <a:solidFill>
                  <a:schemeClr val="tx1"/>
                </a:solidFill>
                <a:effectLst/>
                <a:latin typeface="+mn-lt"/>
                <a:ea typeface="+mn-ea"/>
                <a:cs typeface="+mn-cs"/>
              </a:rPr>
              <a:t> alone now equals approximately </a:t>
            </a:r>
            <a:r>
              <a:rPr lang="en-US" sz="1200" b="1" kern="1200" dirty="0">
                <a:solidFill>
                  <a:schemeClr val="tx1"/>
                </a:solidFill>
                <a:effectLst/>
                <a:latin typeface="+mn-lt"/>
                <a:ea typeface="+mn-ea"/>
                <a:cs typeface="+mn-cs"/>
              </a:rPr>
              <a:t>2.5% of total US GDP</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Utility &amp; Power Grid Upgrades :</a:t>
            </a:r>
            <a:r>
              <a:rPr lang="en-US" sz="1200" kern="1200" dirty="0">
                <a:solidFill>
                  <a:schemeClr val="tx1"/>
                </a:solidFill>
                <a:effectLst/>
                <a:latin typeface="+mn-lt"/>
                <a:ea typeface="+mn-ea"/>
                <a:cs typeface="+mn-cs"/>
              </a:rPr>
              <a:t> It’s not just tech firms spending money; utility </a:t>
            </a:r>
            <a:r>
              <a:rPr lang="en-US" sz="1200" kern="1200" dirty="0" err="1">
                <a:solidFill>
                  <a:schemeClr val="tx1"/>
                </a:solidFill>
                <a:effectLst/>
                <a:latin typeface="+mn-lt"/>
                <a:ea typeface="+mn-ea"/>
                <a:cs typeface="+mn-cs"/>
              </a:rPr>
              <a:t>CapEx</a:t>
            </a:r>
            <a:r>
              <a:rPr lang="en-US" sz="1200" kern="1200" dirty="0">
                <a:solidFill>
                  <a:schemeClr val="tx1"/>
                </a:solidFill>
                <a:effectLst/>
                <a:latin typeface="+mn-lt"/>
                <a:ea typeface="+mn-ea"/>
                <a:cs typeface="+mn-cs"/>
              </a:rPr>
              <a:t> is stepping up in parallel. Over the previous five years, global utility grid upgrades represented $800 billion. Over the next five years, that capital requirement is doubling as power grids worldwide are overhauled to feed energy-intensive data centers. </a:t>
            </a:r>
          </a:p>
          <a:p>
            <a:pPr lvl="0"/>
            <a:r>
              <a:rPr lang="en-US" sz="1200" b="1" kern="1200" dirty="0">
                <a:solidFill>
                  <a:schemeClr val="tx1"/>
                </a:solidFill>
                <a:effectLst/>
                <a:latin typeface="+mn-lt"/>
                <a:ea typeface="+mn-ea"/>
                <a:cs typeface="+mn-cs"/>
              </a:rPr>
              <a:t>Data Center Leasing Footprint :</a:t>
            </a:r>
            <a:r>
              <a:rPr lang="en-US" sz="1200" kern="1200" dirty="0">
                <a:solidFill>
                  <a:schemeClr val="tx1"/>
                </a:solidFill>
                <a:effectLst/>
                <a:latin typeface="+mn-lt"/>
                <a:ea typeface="+mn-ea"/>
                <a:cs typeface="+mn-cs"/>
              </a:rPr>
              <a:t> Look at data center leasing velocity. In 2024, 1 Gigawatt was leased globally. In 2025, that doubled to 2 Gigawatts. In 2026, estimates point to </a:t>
            </a:r>
            <a:r>
              <a:rPr lang="en-US" sz="1200" b="1" kern="1200" dirty="0">
                <a:solidFill>
                  <a:schemeClr val="tx1"/>
                </a:solidFill>
                <a:effectLst/>
                <a:latin typeface="+mn-lt"/>
                <a:ea typeface="+mn-ea"/>
                <a:cs typeface="+mn-cs"/>
              </a:rPr>
              <a:t>6 Gigawatts</a:t>
            </a:r>
            <a:r>
              <a:rPr lang="en-US" sz="1200" kern="1200" dirty="0">
                <a:solidFill>
                  <a:schemeClr val="tx1"/>
                </a:solidFill>
                <a:effectLst/>
                <a:latin typeface="+mn-lt"/>
                <a:ea typeface="+mn-ea"/>
                <a:cs typeface="+mn-cs"/>
              </a:rPr>
              <a:t>—representing ~$100 billion in direct data center </a:t>
            </a:r>
            <a:r>
              <a:rPr lang="en-US" sz="1200" kern="1200" dirty="0" err="1">
                <a:solidFill>
                  <a:schemeClr val="tx1"/>
                </a:solidFill>
                <a:effectLst/>
                <a:latin typeface="+mn-lt"/>
                <a:ea typeface="+mn-ea"/>
                <a:cs typeface="+mn-cs"/>
              </a:rPr>
              <a:t>CapEx</a:t>
            </a:r>
            <a:r>
              <a:rPr lang="en-US" sz="1200" kern="1200" dirty="0">
                <a:solidFill>
                  <a:schemeClr val="tx1"/>
                </a:solidFill>
                <a:effectLst/>
                <a:latin typeface="+mn-lt"/>
                <a:ea typeface="+mn-ea"/>
                <a:cs typeface="+mn-cs"/>
              </a:rPr>
              <a:t>, with tenants deploying hundreds of billions more strictly on silicon. </a:t>
            </a:r>
          </a:p>
          <a:p>
            <a:pPr lvl="0"/>
            <a:r>
              <a:rPr lang="en-US" sz="1200" b="1" kern="1200" dirty="0">
                <a:solidFill>
                  <a:schemeClr val="tx1"/>
                </a:solidFill>
                <a:effectLst/>
                <a:latin typeface="+mn-lt"/>
                <a:ea typeface="+mn-ea"/>
                <a:cs typeface="+mn-cs"/>
              </a:rPr>
              <a:t>Key Takeaway :</a:t>
            </a:r>
            <a:r>
              <a:rPr lang="en-US" sz="1200" kern="1200" dirty="0">
                <a:solidFill>
                  <a:schemeClr val="tx1"/>
                </a:solidFill>
                <a:effectLst/>
                <a:latin typeface="+mn-lt"/>
                <a:ea typeface="+mn-ea"/>
                <a:cs typeface="+mn-cs"/>
              </a:rPr>
              <a:t> We are engaged in the largest physical infrastructure project of our lifetimes, bridging digital demand with real-world power and concrete. </a:t>
            </a:r>
          </a:p>
        </p:txBody>
      </p:sp>
      <p:sp>
        <p:nvSpPr>
          <p:cNvPr id="4" name="Slide Number Placeholder 3"/>
          <p:cNvSpPr>
            <a:spLocks noGrp="1"/>
          </p:cNvSpPr>
          <p:nvPr>
            <p:ph type="sldNum" sz="quarter" idx="5"/>
          </p:nvPr>
        </p:nvSpPr>
        <p:spPr/>
        <p:txBody>
          <a:bodyPr/>
          <a:lstStyle/>
          <a:p>
            <a:fld id="{5C96476E-44E0-43A3-8615-ACBD158674D1}" type="slidenum">
              <a:rPr lang="en-US" smtClean="0"/>
              <a:t>3</a:t>
            </a:fld>
            <a:endParaRPr lang="en-US"/>
          </a:p>
        </p:txBody>
      </p:sp>
    </p:spTree>
    <p:extLst>
      <p:ext uri="{BB962C8B-B14F-4D97-AF65-F5344CB8AC3E}">
        <p14:creationId xmlns:p14="http://schemas.microsoft.com/office/powerpoint/2010/main" val="2286976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Valuation Comparison (2000 vs. 2026) :</a:t>
            </a:r>
            <a:r>
              <a:rPr lang="en-US" sz="1200" kern="1200" dirty="0">
                <a:solidFill>
                  <a:schemeClr val="tx1"/>
                </a:solidFill>
                <a:effectLst/>
                <a:latin typeface="+mn-lt"/>
                <a:ea typeface="+mn-ea"/>
                <a:cs typeface="+mn-cs"/>
              </a:rPr>
              <a:t> Whenever investors see charts moving straight up, the immediate reaction is: </a:t>
            </a:r>
            <a:r>
              <a:rPr lang="en-US" sz="1200" i="1" kern="1200" dirty="0">
                <a:solidFill>
                  <a:schemeClr val="tx1"/>
                </a:solidFill>
                <a:effectLst/>
                <a:latin typeface="+mn-lt"/>
                <a:ea typeface="+mn-ea"/>
                <a:cs typeface="+mn-cs"/>
              </a:rPr>
              <a:t>"Is this the 2000 Dot-Com bubble all over again?"</a:t>
            </a:r>
            <a:r>
              <a:rPr lang="en-US" sz="1200" kern="1200" dirty="0">
                <a:solidFill>
                  <a:schemeClr val="tx1"/>
                </a:solidFill>
                <a:effectLst/>
                <a:latin typeface="+mn-lt"/>
                <a:ea typeface="+mn-ea"/>
                <a:cs typeface="+mn-cs"/>
              </a:rPr>
              <a:t> Let’s analyze the fundamentals. At the peak of the 2000 telecom boom, Cisco traded at a </a:t>
            </a:r>
            <a:r>
              <a:rPr lang="en-US" sz="1200" b="1" kern="1200" dirty="0">
                <a:solidFill>
                  <a:schemeClr val="tx1"/>
                </a:solidFill>
                <a:effectLst/>
                <a:latin typeface="+mn-lt"/>
                <a:ea typeface="+mn-ea"/>
                <a:cs typeface="+mn-cs"/>
              </a:rPr>
              <a:t>150x Price-to-Earnings multiple</a:t>
            </a:r>
            <a:r>
              <a:rPr lang="en-US" sz="1200" kern="1200" dirty="0">
                <a:solidFill>
                  <a:schemeClr val="tx1"/>
                </a:solidFill>
                <a:effectLst/>
                <a:latin typeface="+mn-lt"/>
                <a:ea typeface="+mn-ea"/>
                <a:cs typeface="+mn-cs"/>
              </a:rPr>
              <a:t> based on speculative, uncontracted future buildout. </a:t>
            </a:r>
          </a:p>
          <a:p>
            <a:pPr lvl="0"/>
            <a:r>
              <a:rPr lang="en-US" sz="1200" b="1" kern="1200" dirty="0">
                <a:solidFill>
                  <a:schemeClr val="tx1"/>
                </a:solidFill>
                <a:effectLst/>
                <a:latin typeface="+mn-lt"/>
                <a:ea typeface="+mn-ea"/>
                <a:cs typeface="+mn-cs"/>
              </a:rPr>
              <a:t>Current Earnings Reality :</a:t>
            </a:r>
            <a:r>
              <a:rPr lang="en-US" sz="1200" kern="1200" dirty="0">
                <a:solidFill>
                  <a:schemeClr val="tx1"/>
                </a:solidFill>
                <a:effectLst/>
                <a:latin typeface="+mn-lt"/>
                <a:ea typeface="+mn-ea"/>
                <a:cs typeface="+mn-cs"/>
              </a:rPr>
              <a:t> Today, primary hardware backbones like SK Hynix—whose stocks have risen 500% to 600% due to High-Bandwidth Memory demand—are trading at just a </a:t>
            </a:r>
            <a:r>
              <a:rPr lang="en-US" sz="1200" b="1" kern="1200" dirty="0">
                <a:solidFill>
                  <a:schemeClr val="tx1"/>
                </a:solidFill>
                <a:effectLst/>
                <a:latin typeface="+mn-lt"/>
                <a:ea typeface="+mn-ea"/>
                <a:cs typeface="+mn-cs"/>
              </a:rPr>
              <a:t>4x P/E multiple</a:t>
            </a:r>
            <a:r>
              <a:rPr lang="en-US" sz="1200" kern="1200" dirty="0">
                <a:solidFill>
                  <a:schemeClr val="tx1"/>
                </a:solidFill>
                <a:effectLst/>
                <a:latin typeface="+mn-lt"/>
                <a:ea typeface="+mn-ea"/>
                <a:cs typeface="+mn-cs"/>
              </a:rPr>
              <a:t>. These companies are not valuing speculative dreams; they are printing massive, immediate, hard-cash earnings today. </a:t>
            </a:r>
          </a:p>
          <a:p>
            <a:pPr lvl="0"/>
            <a:r>
              <a:rPr lang="en-US" sz="1200" b="1" kern="1200" dirty="0">
                <a:solidFill>
                  <a:schemeClr val="tx1"/>
                </a:solidFill>
                <a:effectLst/>
                <a:latin typeface="+mn-lt"/>
                <a:ea typeface="+mn-ea"/>
                <a:cs typeface="+mn-cs"/>
              </a:rPr>
              <a:t>Historical Lens (1870 to 1900 Transition) :</a:t>
            </a:r>
            <a:r>
              <a:rPr lang="en-US" sz="1200" kern="1200" dirty="0">
                <a:solidFill>
                  <a:schemeClr val="tx1"/>
                </a:solidFill>
                <a:effectLst/>
                <a:latin typeface="+mn-lt"/>
                <a:ea typeface="+mn-ea"/>
                <a:cs typeface="+mn-cs"/>
              </a:rPr>
              <a:t> Rather than looking at late-90s telecom, the true historical parallel is the late 19th-century transition from an Agrarian to an Industrial economy. In 1870, society relied on pitchforks, horses, wood structures, and candles. By 1900, steel structures, rail cars, and Edison’s electric grid had completely remade society. </a:t>
            </a:r>
          </a:p>
          <a:p>
            <a:pPr lvl="0"/>
            <a:r>
              <a:rPr lang="en-US" sz="1200" b="1" kern="1200" dirty="0">
                <a:solidFill>
                  <a:schemeClr val="tx1"/>
                </a:solidFill>
                <a:effectLst/>
                <a:latin typeface="+mn-lt"/>
                <a:ea typeface="+mn-ea"/>
                <a:cs typeface="+mn-cs"/>
              </a:rPr>
              <a:t>Economic Impact of Electrification :</a:t>
            </a:r>
            <a:r>
              <a:rPr lang="en-US" sz="1200" kern="1200" dirty="0">
                <a:solidFill>
                  <a:schemeClr val="tx1"/>
                </a:solidFill>
                <a:effectLst/>
                <a:latin typeface="+mn-lt"/>
                <a:ea typeface="+mn-ea"/>
                <a:cs typeface="+mn-cs"/>
              </a:rPr>
              <a:t> During that 30-year period of physical rebuild, labor productivity doubled, national GDP quadrupled, manufacturing expanded 6x, and stock market values grew 7x. We are at the identical threshold today as we transition into an Algorithmic Economy. </a:t>
            </a:r>
          </a:p>
        </p:txBody>
      </p:sp>
      <p:sp>
        <p:nvSpPr>
          <p:cNvPr id="4" name="Slide Number Placeholder 3"/>
          <p:cNvSpPr>
            <a:spLocks noGrp="1"/>
          </p:cNvSpPr>
          <p:nvPr>
            <p:ph type="sldNum" sz="quarter" idx="5"/>
          </p:nvPr>
        </p:nvSpPr>
        <p:spPr/>
        <p:txBody>
          <a:bodyPr/>
          <a:lstStyle/>
          <a:p>
            <a:fld id="{5C96476E-44E0-43A3-8615-ACBD158674D1}" type="slidenum">
              <a:rPr lang="en-US" smtClean="0"/>
              <a:t>4</a:t>
            </a:fld>
            <a:endParaRPr lang="en-US"/>
          </a:p>
        </p:txBody>
      </p:sp>
    </p:spTree>
    <p:extLst>
      <p:ext uri="{BB962C8B-B14F-4D97-AF65-F5344CB8AC3E}">
        <p14:creationId xmlns:p14="http://schemas.microsoft.com/office/powerpoint/2010/main" val="286293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Cautionary Tale of Railroads &amp; Telecom :</a:t>
            </a:r>
            <a:r>
              <a:rPr lang="en-US" sz="1200" kern="1200" dirty="0">
                <a:solidFill>
                  <a:schemeClr val="tx1"/>
                </a:solidFill>
                <a:effectLst/>
                <a:latin typeface="+mn-lt"/>
                <a:ea typeface="+mn-ea"/>
                <a:cs typeface="+mn-cs"/>
              </a:rPr>
              <a:t> During the 19th-century railroad boom, over 200 railroad companies went bankrupt. Why? Because they took on extreme leverage to build speculative supply far ahead of actual consumer demand. The 1990s telecom bust followed the exact same pattern. </a:t>
            </a:r>
          </a:p>
          <a:p>
            <a:pPr lvl="0"/>
            <a:r>
              <a:rPr lang="en-US" sz="1200" b="1" kern="1200" dirty="0">
                <a:solidFill>
                  <a:schemeClr val="tx1"/>
                </a:solidFill>
                <a:effectLst/>
                <a:latin typeface="+mn-lt"/>
                <a:ea typeface="+mn-ea"/>
                <a:cs typeface="+mn-cs"/>
              </a:rPr>
              <a:t>The Structural Inversion of the AI Boom :</a:t>
            </a:r>
            <a:r>
              <a:rPr lang="en-US" sz="1200" kern="1200" dirty="0">
                <a:solidFill>
                  <a:schemeClr val="tx1"/>
                </a:solidFill>
                <a:effectLst/>
                <a:latin typeface="+mn-lt"/>
                <a:ea typeface="+mn-ea"/>
                <a:cs typeface="+mn-cs"/>
              </a:rPr>
              <a:t> Today, the dynamic is fundamentally inverted. Demand for compute and intelligence is running vastly ahead of available supply. Furthermore, the </a:t>
            </a:r>
            <a:r>
              <a:rPr lang="en-US" sz="1200" kern="1200" dirty="0" err="1">
                <a:solidFill>
                  <a:schemeClr val="tx1"/>
                </a:solidFill>
                <a:effectLst/>
                <a:latin typeface="+mn-lt"/>
                <a:ea typeface="+mn-ea"/>
                <a:cs typeface="+mn-cs"/>
              </a:rPr>
              <a:t>hyperscalers</a:t>
            </a:r>
            <a:r>
              <a:rPr lang="en-US" sz="1200" kern="1200" dirty="0">
                <a:solidFill>
                  <a:schemeClr val="tx1"/>
                </a:solidFill>
                <a:effectLst/>
                <a:latin typeface="+mn-lt"/>
                <a:ea typeface="+mn-ea"/>
                <a:cs typeface="+mn-cs"/>
              </a:rPr>
              <a:t> and data center operators building this infrastructure carry low financial leverage and enter into long-term, highly contracted revenue agreements before ground is broken. </a:t>
            </a:r>
          </a:p>
          <a:p>
            <a:pPr lvl="0"/>
            <a:r>
              <a:rPr lang="en-US" sz="1200" b="1" kern="1200" dirty="0">
                <a:solidFill>
                  <a:schemeClr val="tx1"/>
                </a:solidFill>
                <a:effectLst/>
                <a:latin typeface="+mn-lt"/>
                <a:ea typeface="+mn-ea"/>
                <a:cs typeface="+mn-cs"/>
              </a:rPr>
              <a:t>Physical World Constraints :</a:t>
            </a:r>
            <a:r>
              <a:rPr lang="en-US" sz="1200" kern="1200" dirty="0">
                <a:solidFill>
                  <a:schemeClr val="tx1"/>
                </a:solidFill>
                <a:effectLst/>
                <a:latin typeface="+mn-lt"/>
                <a:ea typeface="+mn-ea"/>
                <a:cs typeface="+mn-cs"/>
              </a:rPr>
              <a:t> In software, you can spin up a microservice in seconds. In the physical world, transformers, power plants, and silicon fabrication plants take years to build. Physical reality permanently constrains supply from catching up with logarithmic intelligence demand, protecting pricing power across the infrastructure stack. </a:t>
            </a:r>
          </a:p>
        </p:txBody>
      </p:sp>
      <p:sp>
        <p:nvSpPr>
          <p:cNvPr id="4" name="Slide Number Placeholder 3"/>
          <p:cNvSpPr>
            <a:spLocks noGrp="1"/>
          </p:cNvSpPr>
          <p:nvPr>
            <p:ph type="sldNum" sz="quarter" idx="5"/>
          </p:nvPr>
        </p:nvSpPr>
        <p:spPr/>
        <p:txBody>
          <a:bodyPr/>
          <a:lstStyle/>
          <a:p>
            <a:fld id="{5C96476E-44E0-43A3-8615-ACBD158674D1}" type="slidenum">
              <a:rPr lang="en-US" smtClean="0"/>
              <a:t>5</a:t>
            </a:fld>
            <a:endParaRPr lang="en-US"/>
          </a:p>
        </p:txBody>
      </p:sp>
    </p:spTree>
    <p:extLst>
      <p:ext uri="{BB962C8B-B14F-4D97-AF65-F5344CB8AC3E}">
        <p14:creationId xmlns:p14="http://schemas.microsoft.com/office/powerpoint/2010/main" val="19699445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1. Capital Requirements :</a:t>
            </a:r>
            <a:r>
              <a:rPr lang="en-US" sz="1200" kern="1200" dirty="0">
                <a:solidFill>
                  <a:schemeClr val="tx1"/>
                </a:solidFill>
                <a:effectLst/>
                <a:latin typeface="+mn-lt"/>
                <a:ea typeface="+mn-ea"/>
                <a:cs typeface="+mn-cs"/>
              </a:rPr>
              <a:t> Building an "AI Factory"—a fully integrated 1-Gigawatt compute campus with chips and dedicated power—requires approximately </a:t>
            </a:r>
            <a:r>
              <a:rPr lang="en-US" sz="1200" b="1" kern="1200" dirty="0">
                <a:solidFill>
                  <a:schemeClr val="tx1"/>
                </a:solidFill>
                <a:effectLst/>
                <a:latin typeface="+mn-lt"/>
                <a:ea typeface="+mn-ea"/>
                <a:cs typeface="+mn-cs"/>
              </a:rPr>
              <a:t>$55 billion per Gigawatt</a:t>
            </a:r>
            <a:r>
              <a:rPr lang="en-US" sz="1200" kern="1200" dirty="0">
                <a:solidFill>
                  <a:schemeClr val="tx1"/>
                </a:solidFill>
                <a:effectLst/>
                <a:latin typeface="+mn-lt"/>
                <a:ea typeface="+mn-ea"/>
                <a:cs typeface="+mn-cs"/>
              </a:rPr>
              <a:t>. Capital scale alone acts as a massive moat. </a:t>
            </a:r>
          </a:p>
          <a:p>
            <a:pPr lvl="0"/>
            <a:r>
              <a:rPr lang="en-US" sz="1200" b="1" kern="1200" dirty="0">
                <a:solidFill>
                  <a:schemeClr val="tx1"/>
                </a:solidFill>
                <a:effectLst/>
                <a:latin typeface="+mn-lt"/>
                <a:ea typeface="+mn-ea"/>
                <a:cs typeface="+mn-cs"/>
              </a:rPr>
              <a:t>2. Entitlements &amp; Zoning Delays :</a:t>
            </a:r>
            <a:r>
              <a:rPr lang="en-US" sz="1200" kern="1200" dirty="0">
                <a:solidFill>
                  <a:schemeClr val="tx1"/>
                </a:solidFill>
                <a:effectLst/>
                <a:latin typeface="+mn-lt"/>
                <a:ea typeface="+mn-ea"/>
                <a:cs typeface="+mn-cs"/>
              </a:rPr>
              <a:t> Local community moratoriums and strict zoning hurdles are creating major friction. We see community pushback and environmental restrictions right here in New York State and across Europe, heavily slowing down project approvals. </a:t>
            </a:r>
          </a:p>
          <a:p>
            <a:pPr lvl="0"/>
            <a:r>
              <a:rPr lang="en-US" sz="1200" b="1" kern="1200" dirty="0">
                <a:solidFill>
                  <a:schemeClr val="tx1"/>
                </a:solidFill>
                <a:effectLst/>
                <a:latin typeface="+mn-lt"/>
                <a:ea typeface="+mn-ea"/>
                <a:cs typeface="+mn-cs"/>
              </a:rPr>
              <a:t>3. Power Generation Equipment Backlogs :</a:t>
            </a:r>
            <a:r>
              <a:rPr lang="en-US" sz="1200" kern="1200" dirty="0">
                <a:solidFill>
                  <a:schemeClr val="tx1"/>
                </a:solidFill>
                <a:effectLst/>
                <a:latin typeface="+mn-lt"/>
                <a:ea typeface="+mn-ea"/>
                <a:cs typeface="+mn-cs"/>
              </a:rPr>
              <a:t> If you want to buy new heavy-duty turbines from manufacturers like GE </a:t>
            </a:r>
            <a:r>
              <a:rPr lang="en-US" sz="1200" kern="1200" dirty="0" err="1">
                <a:solidFill>
                  <a:schemeClr val="tx1"/>
                </a:solidFill>
                <a:effectLst/>
                <a:latin typeface="+mn-lt"/>
                <a:ea typeface="+mn-ea"/>
                <a:cs typeface="+mn-cs"/>
              </a:rPr>
              <a:t>Vernova</a:t>
            </a:r>
            <a:r>
              <a:rPr lang="en-US" sz="1200" kern="1200" dirty="0">
                <a:solidFill>
                  <a:schemeClr val="tx1"/>
                </a:solidFill>
                <a:effectLst/>
                <a:latin typeface="+mn-lt"/>
                <a:ea typeface="+mn-ea"/>
                <a:cs typeface="+mn-cs"/>
              </a:rPr>
              <a:t> to power a data center campus, the current waitlist stretches out to </a:t>
            </a:r>
            <a:r>
              <a:rPr lang="en-US" sz="1200" b="1" kern="1200" dirty="0">
                <a:solidFill>
                  <a:schemeClr val="tx1"/>
                </a:solidFill>
                <a:effectLst/>
                <a:latin typeface="+mn-lt"/>
                <a:ea typeface="+mn-ea"/>
                <a:cs typeface="+mn-cs"/>
              </a:rPr>
              <a:t>2030 or 2031</a:t>
            </a:r>
            <a:r>
              <a:rPr lang="en-US" sz="1200" kern="1200" dirty="0">
                <a:solidFill>
                  <a:schemeClr val="tx1"/>
                </a:solidFill>
                <a:effectLst/>
                <a:latin typeface="+mn-lt"/>
                <a:ea typeface="+mn-ea"/>
                <a:cs typeface="+mn-cs"/>
              </a:rPr>
              <a:t>. You simply cannot buy power equipment off the shelf. </a:t>
            </a:r>
          </a:p>
          <a:p>
            <a:pPr lvl="0"/>
            <a:r>
              <a:rPr lang="en-US" sz="1200" b="1" kern="1200" dirty="0">
                <a:solidFill>
                  <a:schemeClr val="tx1"/>
                </a:solidFill>
                <a:effectLst/>
                <a:latin typeface="+mn-lt"/>
                <a:ea typeface="+mn-ea"/>
                <a:cs typeface="+mn-cs"/>
              </a:rPr>
              <a:t>4. Silicon Availability Imbalance :</a:t>
            </a:r>
            <a:r>
              <a:rPr lang="en-US" sz="1200" kern="1200" dirty="0">
                <a:solidFill>
                  <a:schemeClr val="tx1"/>
                </a:solidFill>
                <a:effectLst/>
                <a:latin typeface="+mn-lt"/>
                <a:ea typeface="+mn-ea"/>
                <a:cs typeface="+mn-cs"/>
              </a:rPr>
              <a:t> Over the last five years, </a:t>
            </a:r>
            <a:r>
              <a:rPr lang="en-US" sz="1200" kern="1200" dirty="0" err="1">
                <a:solidFill>
                  <a:schemeClr val="tx1"/>
                </a:solidFill>
                <a:effectLst/>
                <a:latin typeface="+mn-lt"/>
                <a:ea typeface="+mn-ea"/>
                <a:cs typeface="+mn-cs"/>
              </a:rPr>
              <a:t>hyperscaler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CapEx</a:t>
            </a:r>
            <a:r>
              <a:rPr lang="en-US" sz="1200" kern="1200" dirty="0">
                <a:solidFill>
                  <a:schemeClr val="tx1"/>
                </a:solidFill>
                <a:effectLst/>
                <a:latin typeface="+mn-lt"/>
                <a:ea typeface="+mn-ea"/>
                <a:cs typeface="+mn-cs"/>
              </a:rPr>
              <a:t> demand has surged 9x. In response, core semiconductor supply has not even doubled. Chipmakers, accustomed to historic tech cycles, have been conservative, creating a structural deficit in available compute. Existing, operational compute capacity commands a high premium as a result. </a:t>
            </a:r>
          </a:p>
        </p:txBody>
      </p:sp>
      <p:sp>
        <p:nvSpPr>
          <p:cNvPr id="4" name="Slide Number Placeholder 3"/>
          <p:cNvSpPr>
            <a:spLocks noGrp="1"/>
          </p:cNvSpPr>
          <p:nvPr>
            <p:ph type="sldNum" sz="quarter" idx="5"/>
          </p:nvPr>
        </p:nvSpPr>
        <p:spPr/>
        <p:txBody>
          <a:bodyPr/>
          <a:lstStyle/>
          <a:p>
            <a:fld id="{5C96476E-44E0-43A3-8615-ACBD158674D1}" type="slidenum">
              <a:rPr lang="en-US" smtClean="0"/>
              <a:t>6</a:t>
            </a:fld>
            <a:endParaRPr lang="en-US"/>
          </a:p>
        </p:txBody>
      </p:sp>
    </p:spTree>
    <p:extLst>
      <p:ext uri="{BB962C8B-B14F-4D97-AF65-F5344CB8AC3E}">
        <p14:creationId xmlns:p14="http://schemas.microsoft.com/office/powerpoint/2010/main" val="4980071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Infrastructure "Bun" vs. The ROI "Beef" :</a:t>
            </a:r>
            <a:r>
              <a:rPr lang="en-US" sz="1200" kern="1200" dirty="0">
                <a:solidFill>
                  <a:schemeClr val="tx1"/>
                </a:solidFill>
                <a:effectLst/>
                <a:latin typeface="+mn-lt"/>
                <a:ea typeface="+mn-ea"/>
                <a:cs typeface="+mn-cs"/>
              </a:rPr>
              <a:t> To understand this market, think of it like a burger. The "Bun" is the trillion-dollar foundation: the chips, data centers, cooling systems, and power grids. The "Beef"—what actually justifies the cost—is the software ROI, process speed, new revenue, and margin expansion. </a:t>
            </a:r>
          </a:p>
          <a:p>
            <a:pPr lvl="0"/>
            <a:r>
              <a:rPr lang="en-US" sz="1200" b="1" kern="1200" dirty="0">
                <a:solidFill>
                  <a:schemeClr val="tx1"/>
                </a:solidFill>
                <a:effectLst/>
                <a:latin typeface="+mn-lt"/>
                <a:ea typeface="+mn-ea"/>
                <a:cs typeface="+mn-cs"/>
              </a:rPr>
              <a:t>Micro 'Beef' (Enterprise Case Studies) :</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Process Automation:</a:t>
            </a:r>
            <a:r>
              <a:rPr lang="en-US" sz="1200" kern="1200" dirty="0">
                <a:solidFill>
                  <a:schemeClr val="tx1"/>
                </a:solidFill>
                <a:effectLst/>
                <a:latin typeface="+mn-lt"/>
                <a:ea typeface="+mn-ea"/>
                <a:cs typeface="+mn-cs"/>
              </a:rPr>
              <a:t> Phoenix Tower invested $4 million into AI leasing workflows; they now process leases 5x faster, generating </a:t>
            </a:r>
            <a:r>
              <a:rPr lang="en-US" sz="1200" b="1" kern="1200" dirty="0">
                <a:solidFill>
                  <a:schemeClr val="tx1"/>
                </a:solidFill>
                <a:effectLst/>
                <a:latin typeface="+mn-lt"/>
                <a:ea typeface="+mn-ea"/>
                <a:cs typeface="+mn-cs"/>
              </a:rPr>
              <a:t>$4.5 million in annual savings</a:t>
            </a:r>
            <a:r>
              <a:rPr lang="en-US" sz="1200" kern="1200" dirty="0">
                <a:solidFill>
                  <a:schemeClr val="tx1"/>
                </a:solidFill>
                <a:effectLst/>
                <a:latin typeface="+mn-lt"/>
                <a:ea typeface="+mn-ea"/>
                <a:cs typeface="+mn-cs"/>
              </a:rPr>
              <a:t>—a 100%+ annual return.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Software Engineering:</a:t>
            </a:r>
            <a:r>
              <a:rPr lang="en-US" sz="1200" kern="1200" dirty="0">
                <a:solidFill>
                  <a:schemeClr val="tx1"/>
                </a:solidFill>
                <a:effectLst/>
                <a:latin typeface="+mn-lt"/>
                <a:ea typeface="+mn-ea"/>
                <a:cs typeface="+mn-cs"/>
              </a:rPr>
              <a:t> Energy analytics firm </a:t>
            </a:r>
            <a:r>
              <a:rPr lang="en-US" sz="1200" kern="1200" dirty="0" err="1">
                <a:solidFill>
                  <a:schemeClr val="tx1"/>
                </a:solidFill>
                <a:effectLst/>
                <a:latin typeface="+mn-lt"/>
                <a:ea typeface="+mn-ea"/>
                <a:cs typeface="+mn-cs"/>
              </a:rPr>
              <a:t>Enverus</a:t>
            </a:r>
            <a:r>
              <a:rPr lang="en-US" sz="1200" kern="1200" dirty="0">
                <a:solidFill>
                  <a:schemeClr val="tx1"/>
                </a:solidFill>
                <a:effectLst/>
                <a:latin typeface="+mn-lt"/>
                <a:ea typeface="+mn-ea"/>
                <a:cs typeface="+mn-cs"/>
              </a:rPr>
              <a:t> deployed AI models to refactor legacy code, delivering an </a:t>
            </a:r>
            <a:r>
              <a:rPr lang="en-US" sz="1200" b="1" kern="1200" dirty="0">
                <a:solidFill>
                  <a:schemeClr val="tx1"/>
                </a:solidFill>
                <a:effectLst/>
                <a:latin typeface="+mn-lt"/>
                <a:ea typeface="+mn-ea"/>
                <a:cs typeface="+mn-cs"/>
              </a:rPr>
              <a:t>18x cash return</a:t>
            </a:r>
            <a:r>
              <a:rPr lang="en-US" sz="1200" kern="1200" dirty="0">
                <a:solidFill>
                  <a:schemeClr val="tx1"/>
                </a:solidFill>
                <a:effectLst/>
                <a:latin typeface="+mn-lt"/>
                <a:ea typeface="+mn-ea"/>
                <a:cs typeface="+mn-cs"/>
              </a:rPr>
              <a:t> on every dollar spent with model companies.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Product Innovation:</a:t>
            </a:r>
            <a:r>
              <a:rPr lang="en-US" sz="1200" kern="1200" dirty="0">
                <a:solidFill>
                  <a:schemeClr val="tx1"/>
                </a:solidFill>
                <a:effectLst/>
                <a:latin typeface="+mn-lt"/>
                <a:ea typeface="+mn-ea"/>
                <a:cs typeface="+mn-cs"/>
              </a:rPr>
              <a:t> Chamberlain evolved from an analog garage door company to selling AI Face-Access smart locks, driving product run-rate from </a:t>
            </a:r>
            <a:r>
              <a:rPr lang="en-US" sz="1200" b="1" kern="1200" dirty="0">
                <a:solidFill>
                  <a:schemeClr val="tx1"/>
                </a:solidFill>
                <a:effectLst/>
                <a:latin typeface="+mn-lt"/>
                <a:ea typeface="+mn-ea"/>
                <a:cs typeface="+mn-cs"/>
              </a:rPr>
              <a:t>$50 million to a projected $500 million</a:t>
            </a:r>
            <a:r>
              <a:rPr lang="en-US" sz="1200" kern="1200" dirty="0">
                <a:solidFill>
                  <a:schemeClr val="tx1"/>
                </a:solidFill>
                <a:effectLst/>
                <a:latin typeface="+mn-lt"/>
                <a:ea typeface="+mn-ea"/>
                <a:cs typeface="+mn-cs"/>
              </a:rPr>
              <a:t> over five years. </a:t>
            </a:r>
          </a:p>
          <a:p>
            <a:pPr lvl="0"/>
            <a:r>
              <a:rPr lang="en-US" sz="1200" b="1" kern="1200" dirty="0">
                <a:solidFill>
                  <a:schemeClr val="tx1"/>
                </a:solidFill>
                <a:effectLst/>
                <a:latin typeface="+mn-lt"/>
                <a:ea typeface="+mn-ea"/>
                <a:cs typeface="+mn-cs"/>
              </a:rPr>
              <a:t>Macro 'Beef' (National Metrics) :</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Tech Sector: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Hyperscaler</a:t>
            </a:r>
            <a:r>
              <a:rPr lang="en-US" sz="1200" kern="1200" dirty="0">
                <a:solidFill>
                  <a:schemeClr val="tx1"/>
                </a:solidFill>
                <a:effectLst/>
                <a:latin typeface="+mn-lt"/>
                <a:ea typeface="+mn-ea"/>
                <a:cs typeface="+mn-cs"/>
              </a:rPr>
              <a:t> revenue per employee surged </a:t>
            </a:r>
            <a:r>
              <a:rPr lang="en-US" sz="1200" b="1" kern="1200" dirty="0">
                <a:solidFill>
                  <a:schemeClr val="tx1"/>
                </a:solidFill>
                <a:effectLst/>
                <a:latin typeface="+mn-lt"/>
                <a:ea typeface="+mn-ea"/>
                <a:cs typeface="+mn-cs"/>
              </a:rPr>
              <a:t>65% in 3.5 years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Corporate Sector:</a:t>
            </a:r>
            <a:r>
              <a:rPr lang="en-US" sz="1200" kern="1200" dirty="0">
                <a:solidFill>
                  <a:schemeClr val="tx1"/>
                </a:solidFill>
                <a:effectLst/>
                <a:latin typeface="+mn-lt"/>
                <a:ea typeface="+mn-ea"/>
                <a:cs typeface="+mn-cs"/>
              </a:rPr>
              <a:t> S&amp;P 500 and private portfolio EBITDA margins expanded </a:t>
            </a:r>
            <a:r>
              <a:rPr lang="en-US" sz="1200" b="1" kern="1200" dirty="0">
                <a:solidFill>
                  <a:schemeClr val="tx1"/>
                </a:solidFill>
                <a:effectLst/>
                <a:latin typeface="+mn-lt"/>
                <a:ea typeface="+mn-ea"/>
                <a:cs typeface="+mn-cs"/>
              </a:rPr>
              <a:t>500 to 700 basis points</a:t>
            </a:r>
            <a:r>
              <a:rPr lang="en-US" sz="1200" kern="1200" dirty="0">
                <a:solidFill>
                  <a:schemeClr val="tx1"/>
                </a:solidFill>
                <a:effectLst/>
                <a:latin typeface="+mn-lt"/>
                <a:ea typeface="+mn-ea"/>
                <a:cs typeface="+mn-cs"/>
              </a:rPr>
              <a:t> over four years.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Macro Level:</a:t>
            </a:r>
            <a:r>
              <a:rPr lang="en-US" sz="1200" kern="1200" dirty="0">
                <a:solidFill>
                  <a:schemeClr val="tx1"/>
                </a:solidFill>
                <a:effectLst/>
                <a:latin typeface="+mn-lt"/>
                <a:ea typeface="+mn-ea"/>
                <a:cs typeface="+mn-cs"/>
              </a:rPr>
              <a:t> US annual productivity growth jumped from a 1.5% historical average to </a:t>
            </a:r>
            <a:r>
              <a:rPr lang="en-US" sz="1200" b="1" kern="1200" dirty="0">
                <a:solidFill>
                  <a:schemeClr val="tx1"/>
                </a:solidFill>
                <a:effectLst/>
                <a:latin typeface="+mn-lt"/>
                <a:ea typeface="+mn-ea"/>
                <a:cs typeface="+mn-cs"/>
              </a:rPr>
              <a:t>2.6% over the last 30 months</a:t>
            </a:r>
            <a:r>
              <a:rPr lang="en-US" sz="1200" kern="1200" dirty="0">
                <a:solidFill>
                  <a:schemeClr val="tx1"/>
                </a:solidFill>
                <a:effectLst/>
                <a:latin typeface="+mn-lt"/>
                <a:ea typeface="+mn-ea"/>
                <a:cs typeface="+mn-cs"/>
              </a:rPr>
              <a:t>. Enterprise-level efficiencies are combining to lift overall economic output. </a:t>
            </a:r>
          </a:p>
          <a:p>
            <a:endParaRPr lang="en-US" dirty="0"/>
          </a:p>
        </p:txBody>
      </p:sp>
      <p:sp>
        <p:nvSpPr>
          <p:cNvPr id="4" name="Slide Number Placeholder 3"/>
          <p:cNvSpPr>
            <a:spLocks noGrp="1"/>
          </p:cNvSpPr>
          <p:nvPr>
            <p:ph type="sldNum" sz="quarter" idx="5"/>
          </p:nvPr>
        </p:nvSpPr>
        <p:spPr/>
        <p:txBody>
          <a:bodyPr/>
          <a:lstStyle/>
          <a:p>
            <a:fld id="{5C96476E-44E0-43A3-8615-ACBD158674D1}" type="slidenum">
              <a:rPr lang="en-US" smtClean="0"/>
              <a:t>7</a:t>
            </a:fld>
            <a:endParaRPr lang="en-US"/>
          </a:p>
        </p:txBody>
      </p:sp>
    </p:spTree>
    <p:extLst>
      <p:ext uri="{BB962C8B-B14F-4D97-AF65-F5344CB8AC3E}">
        <p14:creationId xmlns:p14="http://schemas.microsoft.com/office/powerpoint/2010/main" val="34617997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Beyond the Desktop Chatbot :</a:t>
            </a:r>
            <a:r>
              <a:rPr lang="en-US" sz="1200" kern="1200" dirty="0">
                <a:solidFill>
                  <a:schemeClr val="tx1"/>
                </a:solidFill>
                <a:effectLst/>
                <a:latin typeface="+mn-lt"/>
                <a:ea typeface="+mn-ea"/>
                <a:cs typeface="+mn-cs"/>
              </a:rPr>
              <a:t> Most productivity gains to date have occurred at computer desks. However, the next exponential surge in compute demand will occur as AI moves into physical space, robotics, bioscience, and transportation. </a:t>
            </a:r>
          </a:p>
          <a:p>
            <a:pPr lvl="0"/>
            <a:r>
              <a:rPr lang="en-US" sz="1200" b="1" kern="1200" dirty="0">
                <a:solidFill>
                  <a:schemeClr val="tx1"/>
                </a:solidFill>
                <a:effectLst/>
                <a:latin typeface="+mn-lt"/>
                <a:ea typeface="+mn-ea"/>
                <a:cs typeface="+mn-cs"/>
              </a:rPr>
              <a:t>Autonomous Transport :</a:t>
            </a:r>
            <a:r>
              <a:rPr lang="en-US" sz="1200" kern="1200" dirty="0">
                <a:solidFill>
                  <a:schemeClr val="tx1"/>
                </a:solidFill>
                <a:effectLst/>
                <a:latin typeface="+mn-lt"/>
                <a:ea typeface="+mn-ea"/>
                <a:cs typeface="+mn-cs"/>
              </a:rPr>
              <a:t> Waymo’s driverless autonomous mileage has expanded </a:t>
            </a:r>
            <a:r>
              <a:rPr lang="en-US" sz="1200" b="1" kern="1200" dirty="0">
                <a:solidFill>
                  <a:schemeClr val="tx1"/>
                </a:solidFill>
                <a:effectLst/>
                <a:latin typeface="+mn-lt"/>
                <a:ea typeface="+mn-ea"/>
                <a:cs typeface="+mn-cs"/>
              </a:rPr>
              <a:t>250x in the last 2.5 years</a:t>
            </a:r>
            <a:r>
              <a:rPr lang="en-US" sz="1200" kern="1200" dirty="0">
                <a:solidFill>
                  <a:schemeClr val="tx1"/>
                </a:solidFill>
                <a:effectLst/>
                <a:latin typeface="+mn-lt"/>
                <a:ea typeface="+mn-ea"/>
                <a:cs typeface="+mn-cs"/>
              </a:rPr>
              <a:t>. More importantly, its safety metrics show a </a:t>
            </a:r>
            <a:r>
              <a:rPr lang="en-US" sz="1200" b="1" kern="1200" dirty="0">
                <a:solidFill>
                  <a:schemeClr val="tx1"/>
                </a:solidFill>
                <a:effectLst/>
                <a:latin typeface="+mn-lt"/>
                <a:ea typeface="+mn-ea"/>
                <a:cs typeface="+mn-cs"/>
              </a:rPr>
              <a:t>94% reduction in serious injury accidents</a:t>
            </a:r>
            <a:r>
              <a:rPr lang="en-US" sz="1200" kern="1200" dirty="0">
                <a:solidFill>
                  <a:schemeClr val="tx1"/>
                </a:solidFill>
                <a:effectLst/>
                <a:latin typeface="+mn-lt"/>
                <a:ea typeface="+mn-ea"/>
                <a:cs typeface="+mn-cs"/>
              </a:rPr>
              <a:t> compared to human drivers. Autonomous logistics will require substantial real-time edge compute. </a:t>
            </a:r>
          </a:p>
          <a:p>
            <a:pPr lvl="0"/>
            <a:r>
              <a:rPr lang="en-US" sz="1200" b="1" kern="1200" dirty="0">
                <a:solidFill>
                  <a:schemeClr val="tx1"/>
                </a:solidFill>
                <a:effectLst/>
                <a:latin typeface="+mn-lt"/>
                <a:ea typeface="+mn-ea"/>
                <a:cs typeface="+mn-cs"/>
              </a:rPr>
              <a:t>The Blue-Collar Infrastructure Boom :</a:t>
            </a:r>
            <a:r>
              <a:rPr lang="en-US" sz="1200" kern="1200" dirty="0">
                <a:solidFill>
                  <a:schemeClr val="tx1"/>
                </a:solidFill>
                <a:effectLst/>
                <a:latin typeface="+mn-lt"/>
                <a:ea typeface="+mn-ea"/>
                <a:cs typeface="+mn-cs"/>
              </a:rPr>
              <a:t> AI is not eliminating jobs wholesale; it is shifting labor needs. At QTS Data Centers, construction workforce requirements </a:t>
            </a:r>
            <a:r>
              <a:rPr lang="en-US" sz="1200" b="1" kern="1200" dirty="0">
                <a:solidFill>
                  <a:schemeClr val="tx1"/>
                </a:solidFill>
                <a:effectLst/>
                <a:latin typeface="+mn-lt"/>
                <a:ea typeface="+mn-ea"/>
                <a:cs typeface="+mn-cs"/>
              </a:rPr>
              <a:t>tripled in under two years</a:t>
            </a:r>
            <a:r>
              <a:rPr lang="en-US" sz="1200" kern="1200" dirty="0">
                <a:solidFill>
                  <a:schemeClr val="tx1"/>
                </a:solidFill>
                <a:effectLst/>
                <a:latin typeface="+mn-lt"/>
                <a:ea typeface="+mn-ea"/>
                <a:cs typeface="+mn-cs"/>
              </a:rPr>
              <a:t> to keep pace with physical buildout demands. </a:t>
            </a:r>
          </a:p>
          <a:p>
            <a:pPr lvl="0"/>
            <a:r>
              <a:rPr lang="en-US" sz="1200" b="1" kern="1200" dirty="0">
                <a:solidFill>
                  <a:schemeClr val="tx1"/>
                </a:solidFill>
                <a:effectLst/>
                <a:latin typeface="+mn-lt"/>
                <a:ea typeface="+mn-ea"/>
                <a:cs typeface="+mn-cs"/>
              </a:rPr>
              <a:t>Bioscience &amp; Pharmaceutical Chemistry :</a:t>
            </a:r>
            <a:r>
              <a:rPr lang="en-US" sz="1200" kern="1200" dirty="0">
                <a:solidFill>
                  <a:schemeClr val="tx1"/>
                </a:solidFill>
                <a:effectLst/>
                <a:latin typeface="+mn-lt"/>
                <a:ea typeface="+mn-ea"/>
                <a:cs typeface="+mn-cs"/>
              </a:rPr>
              <a:t> In life sciences, AI-assisted drug discovery is delivering real results. Clinical trial durations have dropped by up to </a:t>
            </a:r>
            <a:r>
              <a:rPr lang="en-US" sz="1200" b="1" kern="1200" dirty="0">
                <a:solidFill>
                  <a:schemeClr val="tx1"/>
                </a:solidFill>
                <a:effectLst/>
                <a:latin typeface="+mn-lt"/>
                <a:ea typeface="+mn-ea"/>
                <a:cs typeface="+mn-cs"/>
              </a:rPr>
              <a:t>40%</a:t>
            </a:r>
            <a:r>
              <a:rPr lang="en-US" sz="1200" kern="1200" dirty="0">
                <a:solidFill>
                  <a:schemeClr val="tx1"/>
                </a:solidFill>
                <a:effectLst/>
                <a:latin typeface="+mn-lt"/>
                <a:ea typeface="+mn-ea"/>
                <a:cs typeface="+mn-cs"/>
              </a:rPr>
              <a:t> at platforms like Advara, while Phase 1 trial success rates are rising significantly. </a:t>
            </a:r>
          </a:p>
          <a:p>
            <a:endParaRPr lang="en-US" dirty="0"/>
          </a:p>
        </p:txBody>
      </p:sp>
      <p:sp>
        <p:nvSpPr>
          <p:cNvPr id="4" name="Slide Number Placeholder 3"/>
          <p:cNvSpPr>
            <a:spLocks noGrp="1"/>
          </p:cNvSpPr>
          <p:nvPr>
            <p:ph type="sldNum" sz="quarter" idx="5"/>
          </p:nvPr>
        </p:nvSpPr>
        <p:spPr/>
        <p:txBody>
          <a:bodyPr/>
          <a:lstStyle/>
          <a:p>
            <a:fld id="{5C96476E-44E0-43A3-8615-ACBD158674D1}" type="slidenum">
              <a:rPr lang="en-US" smtClean="0"/>
              <a:t>8</a:t>
            </a:fld>
            <a:endParaRPr lang="en-US"/>
          </a:p>
        </p:txBody>
      </p:sp>
    </p:spTree>
    <p:extLst>
      <p:ext uri="{BB962C8B-B14F-4D97-AF65-F5344CB8AC3E}">
        <p14:creationId xmlns:p14="http://schemas.microsoft.com/office/powerpoint/2010/main" val="20126324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Market Uncertainty &amp; Multiple Compression :</a:t>
            </a:r>
            <a:r>
              <a:rPr lang="en-US" sz="1200" kern="1200" dirty="0">
                <a:solidFill>
                  <a:schemeClr val="tx1"/>
                </a:solidFill>
                <a:effectLst/>
                <a:latin typeface="+mn-lt"/>
                <a:ea typeface="+mn-ea"/>
                <a:cs typeface="+mn-cs"/>
              </a:rPr>
              <a:t> Over the past year, public software and professional services firms experienced notable stock multiple compression. Private equity software deal volume dropped 66% as investors grappled with fear of AI disruption. </a:t>
            </a:r>
          </a:p>
          <a:p>
            <a:pPr lvl="0"/>
            <a:r>
              <a:rPr lang="en-US" sz="1200" b="1" kern="1200" dirty="0">
                <a:solidFill>
                  <a:schemeClr val="tx1"/>
                </a:solidFill>
                <a:effectLst/>
                <a:latin typeface="+mn-lt"/>
                <a:ea typeface="+mn-ea"/>
                <a:cs typeface="+mn-cs"/>
              </a:rPr>
              <a:t>Lessons from Retail Disruption :</a:t>
            </a:r>
            <a:r>
              <a:rPr lang="en-US" sz="1200" kern="1200" dirty="0">
                <a:solidFill>
                  <a:schemeClr val="tx1"/>
                </a:solidFill>
                <a:effectLst/>
                <a:latin typeface="+mn-lt"/>
                <a:ea typeface="+mn-ea"/>
                <a:cs typeface="+mn-cs"/>
              </a:rPr>
              <a:t> History shows us that technological shifts do not sink all incumbent ships equally. When e-commerce emerged, legacy retailers like Sears and Toys 'R' Us went bankrupt. However, Walmart, Costco, and TJ Maxx adapted, expanded their value propositions, and hit record profitability. </a:t>
            </a:r>
          </a:p>
          <a:p>
            <a:pPr lvl="0"/>
            <a:r>
              <a:rPr lang="en-US" sz="1200" b="1" kern="1200" dirty="0">
                <a:solidFill>
                  <a:schemeClr val="tx1"/>
                </a:solidFill>
                <a:effectLst/>
                <a:latin typeface="+mn-lt"/>
                <a:ea typeface="+mn-ea"/>
                <a:cs typeface="+mn-cs"/>
              </a:rPr>
              <a:t>White-Collar Transition: "Selling Seats" vs. "Selling Outcomes" :</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 Vulnerable:</a:t>
            </a:r>
            <a:r>
              <a:rPr lang="en-US" sz="1200" kern="1200" dirty="0">
                <a:solidFill>
                  <a:schemeClr val="tx1"/>
                </a:solidFill>
                <a:effectLst/>
                <a:latin typeface="+mn-lt"/>
                <a:ea typeface="+mn-ea"/>
                <a:cs typeface="+mn-cs"/>
              </a:rPr>
              <a:t> Businesses that rely on charging per-seat or billing manual human hours face multiple compression and potential obsolescence.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 Winners:</a:t>
            </a:r>
            <a:r>
              <a:rPr lang="en-US" sz="1200" kern="1200" dirty="0">
                <a:solidFill>
                  <a:schemeClr val="tx1"/>
                </a:solidFill>
                <a:effectLst/>
                <a:latin typeface="+mn-lt"/>
                <a:ea typeface="+mn-ea"/>
                <a:cs typeface="+mn-cs"/>
              </a:rPr>
              <a:t> Enterprise platforms that integrate AI directly into workflow systems of record and shift pricing models from "seats" to "outcomes delivered" will capture expanded margins. </a:t>
            </a:r>
          </a:p>
        </p:txBody>
      </p:sp>
      <p:sp>
        <p:nvSpPr>
          <p:cNvPr id="4" name="Slide Number Placeholder 3"/>
          <p:cNvSpPr>
            <a:spLocks noGrp="1"/>
          </p:cNvSpPr>
          <p:nvPr>
            <p:ph type="sldNum" sz="quarter" idx="5"/>
          </p:nvPr>
        </p:nvSpPr>
        <p:spPr/>
        <p:txBody>
          <a:bodyPr/>
          <a:lstStyle/>
          <a:p>
            <a:fld id="{5C96476E-44E0-43A3-8615-ACBD158674D1}" type="slidenum">
              <a:rPr lang="en-US" smtClean="0"/>
              <a:t>9</a:t>
            </a:fld>
            <a:endParaRPr lang="en-US"/>
          </a:p>
        </p:txBody>
      </p:sp>
    </p:spTree>
    <p:extLst>
      <p:ext uri="{BB962C8B-B14F-4D97-AF65-F5344CB8AC3E}">
        <p14:creationId xmlns:p14="http://schemas.microsoft.com/office/powerpoint/2010/main" val="32473292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Non-</a:t>
            </a:r>
            <a:r>
              <a:rPr lang="en-US" sz="1200" b="1" kern="1200" dirty="0" err="1">
                <a:solidFill>
                  <a:schemeClr val="tx1"/>
                </a:solidFill>
                <a:effectLst/>
                <a:latin typeface="+mn-lt"/>
                <a:ea typeface="+mn-ea"/>
                <a:cs typeface="+mn-cs"/>
              </a:rPr>
              <a:t>Disruptible</a:t>
            </a:r>
            <a:r>
              <a:rPr lang="en-US" sz="1200" b="1" kern="1200" dirty="0">
                <a:solidFill>
                  <a:schemeClr val="tx1"/>
                </a:solidFill>
                <a:effectLst/>
                <a:latin typeface="+mn-lt"/>
                <a:ea typeface="+mn-ea"/>
                <a:cs typeface="+mn-cs"/>
              </a:rPr>
              <a:t> Physical Assets :</a:t>
            </a:r>
            <a:r>
              <a:rPr lang="en-US" sz="1200" kern="1200" dirty="0">
                <a:solidFill>
                  <a:schemeClr val="tx1"/>
                </a:solidFill>
                <a:effectLst/>
                <a:latin typeface="+mn-lt"/>
                <a:ea typeface="+mn-ea"/>
                <a:cs typeface="+mn-cs"/>
              </a:rPr>
              <a:t> While software models evolve continuously, physical geography, irreproducible infrastructure, and human experiences cannot be replicated by algorithms. </a:t>
            </a:r>
          </a:p>
          <a:p>
            <a:pPr lvl="0"/>
            <a:r>
              <a:rPr lang="en-US" sz="1200" b="1" kern="1200" dirty="0">
                <a:solidFill>
                  <a:schemeClr val="tx1"/>
                </a:solidFill>
                <a:effectLst/>
                <a:latin typeface="+mn-lt"/>
                <a:ea typeface="+mn-ea"/>
                <a:cs typeface="+mn-cs"/>
              </a:rPr>
              <a:t>Four Strategic Real-World Anchors :</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i="1" kern="1200" dirty="0">
                <a:solidFill>
                  <a:schemeClr val="tx1"/>
                </a:solidFill>
                <a:effectLst/>
                <a:latin typeface="+mn-lt"/>
                <a:ea typeface="+mn-ea"/>
                <a:cs typeface="+mn-cs"/>
              </a:rPr>
              <a:t>Live Sports / Unique Media:</a:t>
            </a:r>
            <a:r>
              <a:rPr lang="en-US" sz="1200" kern="1200" dirty="0">
                <a:solidFill>
                  <a:schemeClr val="tx1"/>
                </a:solidFill>
                <a:effectLst/>
                <a:latin typeface="+mn-lt"/>
                <a:ea typeface="+mn-ea"/>
                <a:cs typeface="+mn-cs"/>
              </a:rPr>
              <a:t> Investing in an Indian Premier League cricket franchise—serving 1.4 billion passionate fans across only 10 sports licenses. </a:t>
            </a:r>
          </a:p>
          <a:p>
            <a:pPr marL="228600" lvl="0" indent="-228600">
              <a:buFont typeface="+mj-lt"/>
              <a:buAutoNum type="arabicPeriod"/>
            </a:pPr>
            <a:r>
              <a:rPr lang="en-US" sz="1200" i="1" kern="1200" dirty="0">
                <a:solidFill>
                  <a:schemeClr val="tx1"/>
                </a:solidFill>
                <a:effectLst/>
                <a:latin typeface="+mn-lt"/>
                <a:ea typeface="+mn-ea"/>
                <a:cs typeface="+mn-cs"/>
              </a:rPr>
              <a:t>Irreplaceable Consumer Habits:</a:t>
            </a:r>
            <a:r>
              <a:rPr lang="en-US" sz="1200" kern="1200" dirty="0">
                <a:solidFill>
                  <a:schemeClr val="tx1"/>
                </a:solidFill>
                <a:effectLst/>
                <a:latin typeface="+mn-lt"/>
                <a:ea typeface="+mn-ea"/>
                <a:cs typeface="+mn-cs"/>
              </a:rPr>
              <a:t> High-margin, drive-thru beverage chains like Seven Brew catering to physical daily routines. </a:t>
            </a:r>
          </a:p>
          <a:p>
            <a:pPr marL="228600" lvl="0" indent="-228600">
              <a:buFont typeface="+mj-lt"/>
              <a:buAutoNum type="arabicPeriod"/>
            </a:pPr>
            <a:r>
              <a:rPr lang="en-US" sz="1200" i="1" kern="1200" dirty="0">
                <a:solidFill>
                  <a:schemeClr val="tx1"/>
                </a:solidFill>
                <a:effectLst/>
                <a:latin typeface="+mn-lt"/>
                <a:ea typeface="+mn-ea"/>
                <a:cs typeface="+mn-cs"/>
              </a:rPr>
              <a:t>Geographical Scarcity:</a:t>
            </a:r>
            <a:r>
              <a:rPr lang="en-US" sz="1200" kern="1200" dirty="0">
                <a:solidFill>
                  <a:schemeClr val="tx1"/>
                </a:solidFill>
                <a:effectLst/>
                <a:latin typeface="+mn-lt"/>
                <a:ea typeface="+mn-ea"/>
                <a:cs typeface="+mn-cs"/>
              </a:rPr>
              <a:t> Prime beachfront real estate where supply is strictly fixed by physical geography. </a:t>
            </a:r>
          </a:p>
          <a:p>
            <a:pPr marL="228600" lvl="0" indent="-228600">
              <a:buFont typeface="+mj-lt"/>
              <a:buAutoNum type="arabicPeriod"/>
            </a:pPr>
            <a:r>
              <a:rPr lang="en-US" sz="1200" i="1" kern="1200" dirty="0">
                <a:solidFill>
                  <a:schemeClr val="tx1"/>
                </a:solidFill>
                <a:effectLst/>
                <a:latin typeface="+mn-lt"/>
                <a:ea typeface="+mn-ea"/>
                <a:cs typeface="+mn-cs"/>
              </a:rPr>
              <a:t>Monopoly Physical Infrastructure:</a:t>
            </a:r>
            <a:r>
              <a:rPr lang="en-US" sz="1200" kern="1200" dirty="0">
                <a:solidFill>
                  <a:schemeClr val="tx1"/>
                </a:solidFill>
                <a:effectLst/>
                <a:latin typeface="+mn-lt"/>
                <a:ea typeface="+mn-ea"/>
                <a:cs typeface="+mn-cs"/>
              </a:rPr>
              <a:t> Critical hub assets like Rome Airport Terminal, providing vital physical gateways. </a:t>
            </a:r>
          </a:p>
          <a:p>
            <a:pPr lvl="0"/>
            <a:r>
              <a:rPr lang="en-US" sz="1200" b="1" kern="1200" dirty="0">
                <a:solidFill>
                  <a:schemeClr val="tx1"/>
                </a:solidFill>
                <a:effectLst/>
                <a:latin typeface="+mn-lt"/>
                <a:ea typeface="+mn-ea"/>
                <a:cs typeface="+mn-cs"/>
              </a:rPr>
              <a:t>Strategic Portfolio Value :</a:t>
            </a:r>
            <a:r>
              <a:rPr lang="en-US" sz="1200" kern="1200" dirty="0">
                <a:solidFill>
                  <a:schemeClr val="tx1"/>
                </a:solidFill>
                <a:effectLst/>
                <a:latin typeface="+mn-lt"/>
                <a:ea typeface="+mn-ea"/>
                <a:cs typeface="+mn-cs"/>
              </a:rPr>
              <a:t> Combining digital infrastructure investments with low-multiple, cash-generative physical assets provides an effective portfolio hedge during rapid digitization. </a:t>
            </a:r>
          </a:p>
          <a:p>
            <a:endParaRPr lang="en-US" dirty="0"/>
          </a:p>
          <a:p>
            <a:endParaRPr lang="en-US" dirty="0"/>
          </a:p>
        </p:txBody>
      </p:sp>
      <p:sp>
        <p:nvSpPr>
          <p:cNvPr id="4" name="Slide Number Placeholder 3"/>
          <p:cNvSpPr>
            <a:spLocks noGrp="1"/>
          </p:cNvSpPr>
          <p:nvPr>
            <p:ph type="sldNum" sz="quarter" idx="5"/>
          </p:nvPr>
        </p:nvSpPr>
        <p:spPr/>
        <p:txBody>
          <a:bodyPr/>
          <a:lstStyle/>
          <a:p>
            <a:fld id="{5C96476E-44E0-43A3-8615-ACBD158674D1}" type="slidenum">
              <a:rPr lang="en-US" smtClean="0"/>
              <a:t>10</a:t>
            </a:fld>
            <a:endParaRPr lang="en-US"/>
          </a:p>
        </p:txBody>
      </p:sp>
    </p:spTree>
    <p:extLst>
      <p:ext uri="{BB962C8B-B14F-4D97-AF65-F5344CB8AC3E}">
        <p14:creationId xmlns:p14="http://schemas.microsoft.com/office/powerpoint/2010/main" val="15308930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Prudent Risk Management :</a:t>
            </a:r>
            <a:r>
              <a:rPr lang="en-US" sz="1200" kern="1200" dirty="0">
                <a:solidFill>
                  <a:schemeClr val="tx1"/>
                </a:solidFill>
                <a:effectLst/>
                <a:latin typeface="+mn-lt"/>
                <a:ea typeface="+mn-ea"/>
                <a:cs typeface="+mn-cs"/>
              </a:rPr>
              <a:t> While the broader adoption of AI is clear, executing at scale requires addressing four major structural risks: </a:t>
            </a:r>
          </a:p>
          <a:p>
            <a:pPr lvl="0"/>
            <a:r>
              <a:rPr lang="en-US" sz="1200" b="1" kern="1200" dirty="0">
                <a:solidFill>
                  <a:schemeClr val="tx1"/>
                </a:solidFill>
                <a:effectLst/>
                <a:latin typeface="+mn-lt"/>
                <a:ea typeface="+mn-ea"/>
                <a:cs typeface="+mn-cs"/>
              </a:rPr>
              <a:t>1. Cyber Safety &amp; Regulatory Friction :</a:t>
            </a:r>
            <a:r>
              <a:rPr lang="en-US" sz="1200" kern="1200" dirty="0">
                <a:solidFill>
                  <a:schemeClr val="tx1"/>
                </a:solidFill>
                <a:effectLst/>
                <a:latin typeface="+mn-lt"/>
                <a:ea typeface="+mn-ea"/>
                <a:cs typeface="+mn-cs"/>
              </a:rPr>
              <a:t> Sophisticated cyber threats against financial systems or energy grids could trigger heavy government intervention. Regulatory friction may slow down the outer frontier of model releases, though diffusion of existing models will continue. </a:t>
            </a:r>
          </a:p>
          <a:p>
            <a:pPr lvl="0"/>
            <a:r>
              <a:rPr lang="en-US" sz="1200" b="1" kern="1200" dirty="0">
                <a:solidFill>
                  <a:schemeClr val="tx1"/>
                </a:solidFill>
                <a:effectLst/>
                <a:latin typeface="+mn-lt"/>
                <a:ea typeface="+mn-ea"/>
                <a:cs typeface="+mn-cs"/>
              </a:rPr>
              <a:t>2. Evolving Compute Tech (Space &amp; Edge) :</a:t>
            </a:r>
            <a:r>
              <a:rPr lang="en-US" sz="1200" kern="1200" dirty="0">
                <a:solidFill>
                  <a:schemeClr val="tx1"/>
                </a:solidFill>
                <a:effectLst/>
                <a:latin typeface="+mn-lt"/>
                <a:ea typeface="+mn-ea"/>
                <a:cs typeface="+mn-cs"/>
              </a:rPr>
              <a:t> Tech evolutions—such as space-based solar data centers or edge processing on handheld devices—could alter terrestrial data center demand. However, given the steep demand curve, ground-based facilities will remain foundational for the foreseeable future. </a:t>
            </a:r>
          </a:p>
          <a:p>
            <a:pPr lvl="0"/>
            <a:r>
              <a:rPr lang="en-US" sz="1200" b="1" kern="1200" dirty="0">
                <a:solidFill>
                  <a:schemeClr val="tx1"/>
                </a:solidFill>
                <a:effectLst/>
                <a:latin typeface="+mn-lt"/>
                <a:ea typeface="+mn-ea"/>
                <a:cs typeface="+mn-cs"/>
              </a:rPr>
              <a:t>3. Geopolitical Supply Chain Concentration :</a:t>
            </a:r>
            <a:r>
              <a:rPr lang="en-US" sz="1200" kern="1200" dirty="0">
                <a:solidFill>
                  <a:schemeClr val="tx1"/>
                </a:solidFill>
                <a:effectLst/>
                <a:latin typeface="+mn-lt"/>
                <a:ea typeface="+mn-ea"/>
                <a:cs typeface="+mn-cs"/>
              </a:rPr>
              <a:t> Over </a:t>
            </a:r>
            <a:r>
              <a:rPr lang="en-US" sz="1200" b="1" kern="1200" dirty="0">
                <a:solidFill>
                  <a:schemeClr val="tx1"/>
                </a:solidFill>
                <a:effectLst/>
                <a:latin typeface="+mn-lt"/>
                <a:ea typeface="+mn-ea"/>
                <a:cs typeface="+mn-cs"/>
              </a:rPr>
              <a:t>90% of advanced semiconductor manufacturing</a:t>
            </a:r>
            <a:r>
              <a:rPr lang="en-US" sz="1200" kern="1200" dirty="0">
                <a:solidFill>
                  <a:schemeClr val="tx1"/>
                </a:solidFill>
                <a:effectLst/>
                <a:latin typeface="+mn-lt"/>
                <a:ea typeface="+mn-ea"/>
                <a:cs typeface="+mn-cs"/>
              </a:rPr>
              <a:t> is concentrated in Taiwan. Any geopolitical disruption in the Taiwan Strait presents an immediate supply chain risk to global technology. </a:t>
            </a:r>
          </a:p>
          <a:p>
            <a:pPr lvl="0"/>
            <a:r>
              <a:rPr lang="en-US" sz="1200" b="1" kern="1200" dirty="0">
                <a:solidFill>
                  <a:schemeClr val="tx1"/>
                </a:solidFill>
                <a:effectLst/>
                <a:latin typeface="+mn-lt"/>
                <a:ea typeface="+mn-ea"/>
                <a:cs typeface="+mn-cs"/>
              </a:rPr>
              <a:t>4. Speculative Venture Valuations :</a:t>
            </a:r>
            <a:r>
              <a:rPr lang="en-US" sz="1200" kern="1200" dirty="0">
                <a:solidFill>
                  <a:schemeClr val="tx1"/>
                </a:solidFill>
                <a:effectLst/>
                <a:latin typeface="+mn-lt"/>
                <a:ea typeface="+mn-ea"/>
                <a:cs typeface="+mn-cs"/>
              </a:rPr>
              <a:t> Early-stage, pre-revenue defense and AI startups seeking $10B+ valuations demand rigorous investment discipline to avoid overpaying for hype. </a:t>
            </a:r>
          </a:p>
          <a:p>
            <a:endParaRPr lang="en-US" dirty="0"/>
          </a:p>
        </p:txBody>
      </p:sp>
      <p:sp>
        <p:nvSpPr>
          <p:cNvPr id="4" name="Slide Number Placeholder 3"/>
          <p:cNvSpPr>
            <a:spLocks noGrp="1"/>
          </p:cNvSpPr>
          <p:nvPr>
            <p:ph type="sldNum" sz="quarter" idx="5"/>
          </p:nvPr>
        </p:nvSpPr>
        <p:spPr/>
        <p:txBody>
          <a:bodyPr/>
          <a:lstStyle/>
          <a:p>
            <a:fld id="{5C96476E-44E0-43A3-8615-ACBD158674D1}" type="slidenum">
              <a:rPr lang="en-US" smtClean="0"/>
              <a:t>11</a:t>
            </a:fld>
            <a:endParaRPr lang="en-US"/>
          </a:p>
        </p:txBody>
      </p:sp>
    </p:spTree>
    <p:extLst>
      <p:ext uri="{BB962C8B-B14F-4D97-AF65-F5344CB8AC3E}">
        <p14:creationId xmlns:p14="http://schemas.microsoft.com/office/powerpoint/2010/main" val="9091806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Focusing on the Senior-Most Layers :</a:t>
            </a:r>
            <a:r>
              <a:rPr lang="en-US" sz="1200" kern="1200" dirty="0">
                <a:solidFill>
                  <a:schemeClr val="tx1"/>
                </a:solidFill>
                <a:effectLst/>
                <a:latin typeface="+mn-lt"/>
                <a:ea typeface="+mn-ea"/>
                <a:cs typeface="+mn-cs"/>
              </a:rPr>
              <a:t> Given these macro uncertainties, our primary strategy is to focus capital deployment on the senior-most, foundational layers of the compute stack—power, land, grid access, and core data center facilities. </a:t>
            </a:r>
          </a:p>
          <a:p>
            <a:pPr lvl="0"/>
            <a:r>
              <a:rPr lang="en-US" sz="1200" b="1" kern="1200" dirty="0">
                <a:solidFill>
                  <a:schemeClr val="tx1"/>
                </a:solidFill>
                <a:effectLst/>
                <a:latin typeface="+mn-lt"/>
                <a:ea typeface="+mn-ea"/>
                <a:cs typeface="+mn-cs"/>
              </a:rPr>
              <a:t>Guaranteed Structural Demand :</a:t>
            </a:r>
            <a:r>
              <a:rPr lang="en-US" sz="1200" kern="1200" dirty="0">
                <a:solidFill>
                  <a:schemeClr val="tx1"/>
                </a:solidFill>
                <a:effectLst/>
                <a:latin typeface="+mn-lt"/>
                <a:ea typeface="+mn-ea"/>
                <a:cs typeface="+mn-cs"/>
              </a:rPr>
              <a:t> Downstream software applications may face competition, but every application requires underlying power and compute. </a:t>
            </a:r>
          </a:p>
          <a:p>
            <a:pPr lvl="0"/>
            <a:r>
              <a:rPr lang="en-US" sz="1200" b="1" kern="1200" dirty="0">
                <a:solidFill>
                  <a:schemeClr val="tx1"/>
                </a:solidFill>
                <a:effectLst/>
                <a:latin typeface="+mn-lt"/>
                <a:ea typeface="+mn-ea"/>
                <a:cs typeface="+mn-cs"/>
              </a:rPr>
              <a:t>Preserving Pricing Power :</a:t>
            </a:r>
            <a:r>
              <a:rPr lang="en-US" sz="1200" kern="1200" dirty="0">
                <a:solidFill>
                  <a:schemeClr val="tx1"/>
                </a:solidFill>
                <a:effectLst/>
                <a:latin typeface="+mn-lt"/>
                <a:ea typeface="+mn-ea"/>
                <a:cs typeface="+mn-cs"/>
              </a:rPr>
              <a:t> Because real-world constraints—such as turbine backlogs, chip lead times, and power grid bottlenecks—restrict supply, operational infrastructure assets maintain strong pricing power. </a:t>
            </a:r>
          </a:p>
          <a:p>
            <a:pPr lvl="0"/>
            <a:r>
              <a:rPr lang="en-US" sz="1200" b="1" kern="1200" dirty="0">
                <a:solidFill>
                  <a:schemeClr val="tx1"/>
                </a:solidFill>
                <a:effectLst/>
                <a:latin typeface="+mn-lt"/>
                <a:ea typeface="+mn-ea"/>
                <a:cs typeface="+mn-cs"/>
              </a:rPr>
              <a:t>Conclusion :</a:t>
            </a:r>
            <a:r>
              <a:rPr lang="en-US" sz="1200" kern="1200" dirty="0">
                <a:solidFill>
                  <a:schemeClr val="tx1"/>
                </a:solidFill>
                <a:effectLst/>
                <a:latin typeface="+mn-lt"/>
                <a:ea typeface="+mn-ea"/>
                <a:cs typeface="+mn-cs"/>
              </a:rPr>
              <a:t> This </a:t>
            </a:r>
            <a:r>
              <a:rPr lang="en-US" sz="1200" kern="1200" dirty="0" err="1">
                <a:solidFill>
                  <a:schemeClr val="tx1"/>
                </a:solidFill>
                <a:effectLst/>
                <a:latin typeface="+mn-lt"/>
                <a:ea typeface="+mn-ea"/>
                <a:cs typeface="+mn-cs"/>
              </a:rPr>
              <a:t>CapEx</a:t>
            </a:r>
            <a:r>
              <a:rPr lang="en-US" sz="1200" kern="1200" dirty="0">
                <a:solidFill>
                  <a:schemeClr val="tx1"/>
                </a:solidFill>
                <a:effectLst/>
                <a:latin typeface="+mn-lt"/>
                <a:ea typeface="+mn-ea"/>
                <a:cs typeface="+mn-cs"/>
              </a:rPr>
              <a:t> expansion is not an uncalculated risk. It is a structured response to clear economic returns. The "beef" is real, software yields are strong, and foundational infrastructure sits at the center of this transformation. </a:t>
            </a:r>
          </a:p>
          <a:p>
            <a:endParaRPr lang="en-US" dirty="0"/>
          </a:p>
        </p:txBody>
      </p:sp>
      <p:sp>
        <p:nvSpPr>
          <p:cNvPr id="4" name="Slide Number Placeholder 3"/>
          <p:cNvSpPr>
            <a:spLocks noGrp="1"/>
          </p:cNvSpPr>
          <p:nvPr>
            <p:ph type="sldNum" sz="quarter" idx="5"/>
          </p:nvPr>
        </p:nvSpPr>
        <p:spPr/>
        <p:txBody>
          <a:bodyPr/>
          <a:lstStyle/>
          <a:p>
            <a:fld id="{5C96476E-44E0-43A3-8615-ACBD158674D1}" type="slidenum">
              <a:rPr lang="en-US" smtClean="0"/>
              <a:t>12</a:t>
            </a:fld>
            <a:endParaRPr lang="en-US"/>
          </a:p>
        </p:txBody>
      </p:sp>
    </p:spTree>
    <p:extLst>
      <p:ext uri="{BB962C8B-B14F-4D97-AF65-F5344CB8AC3E}">
        <p14:creationId xmlns:p14="http://schemas.microsoft.com/office/powerpoint/2010/main" val="12903039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Visualizing the Physical Stack :</a:t>
            </a:r>
            <a:r>
              <a:rPr lang="en-US" sz="1200" kern="1200" dirty="0">
                <a:solidFill>
                  <a:schemeClr val="tx1"/>
                </a:solidFill>
                <a:effectLst/>
                <a:latin typeface="+mn-lt"/>
                <a:ea typeface="+mn-ea"/>
                <a:cs typeface="+mn-cs"/>
              </a:rPr>
              <a:t> Slide 13 brings us to the visual illustration of our macro framework. Here, we look closely at the Infrastructure "Bun"—the physical foundation absorbing hundreds of billions in capital. </a:t>
            </a:r>
          </a:p>
          <a:p>
            <a:pPr lvl="0"/>
            <a:r>
              <a:rPr lang="en-US" sz="1200" b="1" kern="1200" dirty="0">
                <a:solidFill>
                  <a:schemeClr val="tx1"/>
                </a:solidFill>
                <a:effectLst/>
                <a:latin typeface="+mn-lt"/>
                <a:ea typeface="+mn-ea"/>
                <a:cs typeface="+mn-cs"/>
              </a:rPr>
              <a:t>The Expansion of Token Demand :</a:t>
            </a:r>
            <a:r>
              <a:rPr lang="en-US" sz="1200" kern="1200" dirty="0">
                <a:solidFill>
                  <a:schemeClr val="tx1"/>
                </a:solidFill>
                <a:effectLst/>
                <a:latin typeface="+mn-lt"/>
                <a:ea typeface="+mn-ea"/>
                <a:cs typeface="+mn-cs"/>
              </a:rPr>
              <a:t> The graphic highlights the massive pipeline scaling from </a:t>
            </a:r>
            <a:r>
              <a:rPr lang="en-US" sz="1200" b="1" kern="1200" dirty="0">
                <a:solidFill>
                  <a:schemeClr val="tx1"/>
                </a:solidFill>
                <a:effectLst/>
                <a:latin typeface="+mn-lt"/>
                <a:ea typeface="+mn-ea"/>
                <a:cs typeface="+mn-cs"/>
              </a:rPr>
              <a:t>400 Trillion Tokens in 2024 to Quadrillions by 2026</a:t>
            </a:r>
            <a:r>
              <a:rPr lang="en-US" sz="1200" kern="1200" dirty="0">
                <a:solidFill>
                  <a:schemeClr val="tx1"/>
                </a:solidFill>
                <a:effectLst/>
                <a:latin typeface="+mn-lt"/>
                <a:ea typeface="+mn-ea"/>
                <a:cs typeface="+mn-cs"/>
              </a:rPr>
              <a:t>. To accommodate this, data centers have transformed from localized server rooms into industrial energy plants. </a:t>
            </a:r>
          </a:p>
          <a:p>
            <a:pPr lvl="0"/>
            <a:r>
              <a:rPr lang="en-US" sz="1200" b="1" kern="1200" dirty="0">
                <a:solidFill>
                  <a:schemeClr val="tx1"/>
                </a:solidFill>
                <a:effectLst/>
                <a:latin typeface="+mn-lt"/>
                <a:ea typeface="+mn-ea"/>
                <a:cs typeface="+mn-cs"/>
              </a:rPr>
              <a:t>Macro Capital Scale :</a:t>
            </a:r>
            <a:r>
              <a:rPr lang="en-US" sz="1200" kern="1200" dirty="0">
                <a:solidFill>
                  <a:schemeClr val="tx1"/>
                </a:solidFill>
                <a:effectLst/>
                <a:latin typeface="+mn-lt"/>
                <a:ea typeface="+mn-ea"/>
                <a:cs typeface="+mn-cs"/>
              </a:rPr>
              <a:t> Spending by top tech firms doubled in a single year, reaching </a:t>
            </a:r>
            <a:r>
              <a:rPr lang="en-US" sz="1200" b="1" kern="1200" dirty="0">
                <a:solidFill>
                  <a:schemeClr val="tx1"/>
                </a:solidFill>
                <a:effectLst/>
                <a:latin typeface="+mn-lt"/>
                <a:ea typeface="+mn-ea"/>
                <a:cs typeface="+mn-cs"/>
              </a:rPr>
              <a:t>2.5% of US GDP</a:t>
            </a:r>
            <a:r>
              <a:rPr lang="en-US" sz="1200" kern="1200" dirty="0">
                <a:solidFill>
                  <a:schemeClr val="tx1"/>
                </a:solidFill>
                <a:effectLst/>
                <a:latin typeface="+mn-lt"/>
                <a:ea typeface="+mn-ea"/>
                <a:cs typeface="+mn-cs"/>
              </a:rPr>
              <a:t>. This visual represents why data centers are now analyzed like heavy utilities rather than traditional real estate. </a:t>
            </a:r>
          </a:p>
          <a:p>
            <a:endParaRPr lang="en-US" dirty="0"/>
          </a:p>
        </p:txBody>
      </p:sp>
      <p:sp>
        <p:nvSpPr>
          <p:cNvPr id="4" name="Slide Number Placeholder 3"/>
          <p:cNvSpPr>
            <a:spLocks noGrp="1"/>
          </p:cNvSpPr>
          <p:nvPr>
            <p:ph type="sldNum" sz="quarter" idx="5"/>
          </p:nvPr>
        </p:nvSpPr>
        <p:spPr/>
        <p:txBody>
          <a:bodyPr/>
          <a:lstStyle/>
          <a:p>
            <a:fld id="{5C96476E-44E0-43A3-8615-ACBD158674D1}" type="slidenum">
              <a:rPr lang="en-US" smtClean="0"/>
              <a:t>13</a:t>
            </a:fld>
            <a:endParaRPr lang="en-US"/>
          </a:p>
        </p:txBody>
      </p:sp>
    </p:spTree>
    <p:extLst>
      <p:ext uri="{BB962C8B-B14F-4D97-AF65-F5344CB8AC3E}">
        <p14:creationId xmlns:p14="http://schemas.microsoft.com/office/powerpoint/2010/main" val="25854352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Valve Metaphor :</a:t>
            </a:r>
            <a:r>
              <a:rPr lang="en-US" sz="1200" kern="1200" dirty="0">
                <a:solidFill>
                  <a:schemeClr val="tx1"/>
                </a:solidFill>
                <a:effectLst/>
                <a:latin typeface="+mn-lt"/>
                <a:ea typeface="+mn-ea"/>
                <a:cs typeface="+mn-cs"/>
              </a:rPr>
              <a:t> This slide illustrates the central constraint in the AI ecosystem: the physical bottleneck. Think of digital intelligence as pressurized water flowing through a pipe, restricted by a physical manifold valve. </a:t>
            </a:r>
          </a:p>
          <a:p>
            <a:pPr lvl="0"/>
            <a:r>
              <a:rPr lang="en-US" sz="1200" b="1" kern="1200" dirty="0">
                <a:solidFill>
                  <a:schemeClr val="tx1"/>
                </a:solidFill>
                <a:effectLst/>
                <a:latin typeface="+mn-lt"/>
                <a:ea typeface="+mn-ea"/>
                <a:cs typeface="+mn-cs"/>
              </a:rPr>
              <a:t>The Three Critical Friction Points :</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Power Grid Capacity:</a:t>
            </a:r>
            <a:r>
              <a:rPr lang="en-US" sz="1200" kern="1200" dirty="0">
                <a:solidFill>
                  <a:schemeClr val="tx1"/>
                </a:solidFill>
                <a:effectLst/>
                <a:latin typeface="+mn-lt"/>
                <a:ea typeface="+mn-ea"/>
                <a:cs typeface="+mn-cs"/>
              </a:rPr>
              <a:t> Local utilities cannot upgrade high-voltage lines quickly enough.</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Data Center Entitlements:</a:t>
            </a:r>
            <a:r>
              <a:rPr lang="en-US" sz="1200" kern="1200" dirty="0">
                <a:solidFill>
                  <a:schemeClr val="tx1"/>
                </a:solidFill>
                <a:effectLst/>
                <a:latin typeface="+mn-lt"/>
                <a:ea typeface="+mn-ea"/>
                <a:cs typeface="+mn-cs"/>
              </a:rPr>
              <a:t> Zoning restrictions and local moratoriums slow down site preparation.</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Chip Availability:</a:t>
            </a:r>
            <a:r>
              <a:rPr lang="en-US" sz="1200" kern="1200" dirty="0">
                <a:solidFill>
                  <a:schemeClr val="tx1"/>
                </a:solidFill>
                <a:effectLst/>
                <a:latin typeface="+mn-lt"/>
                <a:ea typeface="+mn-ea"/>
                <a:cs typeface="+mn-cs"/>
              </a:rPr>
              <a:t> Advanced silicon supply remains tightly constrained relative to </a:t>
            </a:r>
            <a:r>
              <a:rPr lang="en-US" sz="1200" kern="1200" dirty="0" err="1">
                <a:solidFill>
                  <a:schemeClr val="tx1"/>
                </a:solidFill>
                <a:effectLst/>
                <a:latin typeface="+mn-lt"/>
                <a:ea typeface="+mn-ea"/>
                <a:cs typeface="+mn-cs"/>
              </a:rPr>
              <a:t>hyperscaler</a:t>
            </a:r>
            <a:r>
              <a:rPr lang="en-US" sz="1200" kern="1200" dirty="0">
                <a:solidFill>
                  <a:schemeClr val="tx1"/>
                </a:solidFill>
                <a:effectLst/>
                <a:latin typeface="+mn-lt"/>
                <a:ea typeface="+mn-ea"/>
                <a:cs typeface="+mn-cs"/>
              </a:rPr>
              <a:t> demand.</a:t>
            </a:r>
          </a:p>
          <a:p>
            <a:pPr lvl="0"/>
            <a:r>
              <a:rPr lang="en-US" sz="1200" b="1" kern="1200" dirty="0">
                <a:solidFill>
                  <a:schemeClr val="tx1"/>
                </a:solidFill>
                <a:effectLst/>
                <a:latin typeface="+mn-lt"/>
                <a:ea typeface="+mn-ea"/>
                <a:cs typeface="+mn-cs"/>
              </a:rPr>
              <a:t>Strategic Takeaway :</a:t>
            </a:r>
            <a:r>
              <a:rPr lang="en-US" sz="1200" kern="1200" dirty="0">
                <a:solidFill>
                  <a:schemeClr val="tx1"/>
                </a:solidFill>
                <a:effectLst/>
                <a:latin typeface="+mn-lt"/>
                <a:ea typeface="+mn-ea"/>
                <a:cs typeface="+mn-cs"/>
              </a:rPr>
              <a:t> Capital invested in solving these specific bottlenecks secures long-term value because these physical assets cannot be bypassed by software alone.</a:t>
            </a:r>
          </a:p>
          <a:p>
            <a:endParaRPr lang="en-US" dirty="0"/>
          </a:p>
        </p:txBody>
      </p:sp>
      <p:sp>
        <p:nvSpPr>
          <p:cNvPr id="4" name="Slide Number Placeholder 3"/>
          <p:cNvSpPr>
            <a:spLocks noGrp="1"/>
          </p:cNvSpPr>
          <p:nvPr>
            <p:ph type="sldNum" sz="quarter" idx="5"/>
          </p:nvPr>
        </p:nvSpPr>
        <p:spPr/>
        <p:txBody>
          <a:bodyPr/>
          <a:lstStyle/>
          <a:p>
            <a:fld id="{5C96476E-44E0-43A3-8615-ACBD158674D1}" type="slidenum">
              <a:rPr lang="en-US" smtClean="0"/>
              <a:t>14</a:t>
            </a:fld>
            <a:endParaRPr lang="en-US"/>
          </a:p>
        </p:txBody>
      </p:sp>
    </p:spTree>
    <p:extLst>
      <p:ext uri="{BB962C8B-B14F-4D97-AF65-F5344CB8AC3E}">
        <p14:creationId xmlns:p14="http://schemas.microsoft.com/office/powerpoint/2010/main" val="5976000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Quantifying Surge to 2.6%:</a:t>
            </a:r>
            <a:r>
              <a:rPr lang="en-US" dirty="0"/>
              <a:t> Broad macroeconomic data shows US labor productivity nearly doubling from its decade average of 1.5% to </a:t>
            </a:r>
            <a:r>
              <a:rPr lang="en-US" b="1" dirty="0"/>
              <a:t>2.6% over the </a:t>
            </a:r>
            <a:r>
              <a:rPr lang="en-US" b="1" dirty="0" err="1"/>
              <a:t>lastEnterprise</a:t>
            </a:r>
            <a:r>
              <a:rPr lang="en-US" b="1" dirty="0"/>
              <a:t> Yields :</a:t>
            </a:r>
            <a:r>
              <a:rPr lang="en-US" dirty="0"/>
              <a:t> Here, we focus on concrete enterprise metrics:</a:t>
            </a:r>
          </a:p>
          <a:p>
            <a:pPr marL="171450" lvl="0" indent="-171450">
              <a:buFont typeface="Arial" panose="020B0604020202020204" pitchFamily="34" charset="0"/>
              <a:buChar char="•"/>
            </a:pPr>
            <a:r>
              <a:rPr lang="en-US" b="1" dirty="0"/>
              <a:t>100%+ Annual Returns on Process AI:</a:t>
            </a:r>
            <a:r>
              <a:rPr lang="en-US" dirty="0"/>
              <a:t> Illustrated by Phoenix Tower’s 5x faster lease processing on a $4M investment.</a:t>
            </a:r>
          </a:p>
          <a:p>
            <a:pPr marL="171450" lvl="0" indent="-171450">
              <a:buFont typeface="Arial" panose="020B0604020202020204" pitchFamily="34" charset="0"/>
              <a:buChar char="•"/>
            </a:pPr>
            <a:r>
              <a:rPr lang="en-US" b="1" dirty="0"/>
              <a:t>18x Cash Returns on Code Remediations:</a:t>
            </a:r>
            <a:r>
              <a:rPr lang="en-US" dirty="0"/>
              <a:t> Verified across software engineering portfolios like </a:t>
            </a:r>
            <a:r>
              <a:rPr lang="en-US" dirty="0" err="1"/>
              <a:t>Enverus</a:t>
            </a:r>
            <a:r>
              <a:rPr lang="en-US" dirty="0"/>
              <a:t>.</a:t>
            </a:r>
          </a:p>
          <a:p>
            <a:pPr marL="171450" lvl="0" indent="-171450">
              <a:buFont typeface="Arial" panose="020B0604020202020204" pitchFamily="34" charset="0"/>
              <a:buChar char="•"/>
            </a:pPr>
            <a:r>
              <a:rPr lang="en-US" b="1" dirty="0"/>
              <a:t>US Productivity  30 months</a:t>
            </a:r>
            <a:r>
              <a:rPr lang="en-US" dirty="0"/>
              <a:t>.</a:t>
            </a:r>
          </a:p>
          <a:p>
            <a:pPr lvl="0"/>
            <a:r>
              <a:rPr lang="en-US" b="1" dirty="0"/>
              <a:t>Summary :</a:t>
            </a:r>
            <a:r>
              <a:rPr lang="en-US" dirty="0"/>
              <a:t> These metrics demonstrate that current </a:t>
            </a:r>
            <a:r>
              <a:rPr lang="en-US" dirty="0" err="1"/>
              <a:t>CapEx</a:t>
            </a:r>
            <a:r>
              <a:rPr lang="en-US" dirty="0"/>
              <a:t> is grounded in clear operational productivity and margin gains.</a:t>
            </a:r>
          </a:p>
          <a:p>
            <a:endParaRPr lang="en-US" dirty="0"/>
          </a:p>
        </p:txBody>
      </p:sp>
      <p:sp>
        <p:nvSpPr>
          <p:cNvPr id="4" name="Slide Number Placeholder 3"/>
          <p:cNvSpPr>
            <a:spLocks noGrp="1"/>
          </p:cNvSpPr>
          <p:nvPr>
            <p:ph type="sldNum" sz="quarter" idx="5"/>
          </p:nvPr>
        </p:nvSpPr>
        <p:spPr/>
        <p:txBody>
          <a:bodyPr/>
          <a:lstStyle/>
          <a:p>
            <a:fld id="{5C96476E-44E0-43A3-8615-ACBD158674D1}" type="slidenum">
              <a:rPr lang="en-US" smtClean="0"/>
              <a:t>15</a:t>
            </a:fld>
            <a:endParaRPr lang="en-US"/>
          </a:p>
        </p:txBody>
      </p:sp>
    </p:spTree>
    <p:extLst>
      <p:ext uri="{BB962C8B-B14F-4D97-AF65-F5344CB8AC3E}">
        <p14:creationId xmlns:p14="http://schemas.microsoft.com/office/powerpoint/2010/main" val="35488496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Comparative Performance Summary Table :</a:t>
            </a:r>
            <a:endParaRPr lang="en-US" dirty="0"/>
          </a:p>
          <a:p>
            <a:pPr marL="171450" lvl="0" indent="-171450">
              <a:buFont typeface="Arial" panose="020B0604020202020204" pitchFamily="34" charset="0"/>
              <a:buChar char="•"/>
            </a:pPr>
            <a:r>
              <a:rPr lang="en-US" i="1" dirty="0"/>
              <a:t>Data Center Leasing Footprint:</a:t>
            </a:r>
            <a:r>
              <a:rPr lang="en-US" dirty="0"/>
              <a:t> Scaled from </a:t>
            </a:r>
            <a:r>
              <a:rPr lang="en-US" b="1" dirty="0"/>
              <a:t>1 GW in 2024 to 6 GW in 2026</a:t>
            </a:r>
            <a:r>
              <a:rPr lang="en-US" dirty="0"/>
              <a:t>.</a:t>
            </a:r>
          </a:p>
          <a:p>
            <a:pPr marL="171450" lvl="0" indent="-171450">
              <a:buFont typeface="Arial" panose="020B0604020202020204" pitchFamily="34" charset="0"/>
              <a:buChar char="•"/>
            </a:pPr>
            <a:r>
              <a:rPr lang="en-US" i="1" dirty="0" err="1"/>
              <a:t>Hyperscaler</a:t>
            </a:r>
            <a:r>
              <a:rPr lang="en-US" i="1" dirty="0"/>
              <a:t> </a:t>
            </a:r>
            <a:r>
              <a:rPr lang="en-US" i="1" dirty="0" err="1"/>
              <a:t>CapEx</a:t>
            </a:r>
            <a:r>
              <a:rPr lang="en-US" i="1" dirty="0"/>
              <a:t>:</a:t>
            </a:r>
            <a:r>
              <a:rPr lang="en-US" dirty="0"/>
              <a:t> Expanded from </a:t>
            </a:r>
            <a:r>
              <a:rPr lang="en-US" b="1" dirty="0"/>
              <a:t>$415 Billion to $820 Billion</a:t>
            </a:r>
            <a:r>
              <a:rPr lang="en-US" dirty="0"/>
              <a:t>.</a:t>
            </a:r>
          </a:p>
          <a:p>
            <a:pPr marL="171450" lvl="0" indent="-171450">
              <a:buFont typeface="Arial" panose="020B0604020202020204" pitchFamily="34" charset="0"/>
              <a:buChar char="•"/>
            </a:pPr>
            <a:r>
              <a:rPr lang="en-US" i="1" dirty="0"/>
              <a:t>Model Company Run-Rate Revenue:</a:t>
            </a:r>
            <a:r>
              <a:rPr lang="en-US" dirty="0"/>
              <a:t> Surged from ~$1 Billion in 2024 to </a:t>
            </a:r>
            <a:r>
              <a:rPr lang="en-US" b="1" dirty="0"/>
              <a:t>$105 Billion in 2026</a:t>
            </a:r>
            <a:r>
              <a:rPr lang="en-US" dirty="0"/>
              <a:t>.</a:t>
            </a:r>
          </a:p>
          <a:p>
            <a:pPr lvl="0"/>
            <a:r>
              <a:rPr lang="en-US" b="1" dirty="0"/>
              <a:t>Revenue Per Employee Step-Function :</a:t>
            </a:r>
            <a:r>
              <a:rPr lang="en-US" dirty="0"/>
              <a:t> </a:t>
            </a:r>
            <a:r>
              <a:rPr lang="en-US" dirty="0" err="1"/>
              <a:t>Hyperscalers</a:t>
            </a:r>
            <a:r>
              <a:rPr lang="en-US" dirty="0"/>
              <a:t> have driven </a:t>
            </a:r>
            <a:r>
              <a:rPr lang="en-US" b="1" dirty="0"/>
              <a:t>65% growth in Revenue Per Employee</a:t>
            </a:r>
            <a:r>
              <a:rPr lang="en-US" dirty="0"/>
              <a:t> over a 3.5-year period. As AI agents transition from handling simple queries to managing complex, multi-step workflows, corporate operating leverage continues to expand.</a:t>
            </a:r>
          </a:p>
          <a:p>
            <a:pPr lvl="0"/>
            <a:r>
              <a:rPr lang="en-US" b="1" dirty="0"/>
              <a:t>Closing Thoughts :</a:t>
            </a:r>
            <a:r>
              <a:rPr lang="en-US" dirty="0"/>
              <a:t> We remain focused on delivering durable returns for our investors by anchoring capital in the core infrastructure supporting this economic shift. Thank you all very much.</a:t>
            </a:r>
          </a:p>
          <a:p>
            <a:endParaRPr lang="en-US" dirty="0"/>
          </a:p>
          <a:p>
            <a:endParaRPr lang="en-US" dirty="0"/>
          </a:p>
          <a:p>
            <a:endParaRPr lang="en-US" dirty="0"/>
          </a:p>
          <a:p>
            <a:r>
              <a:rPr lang="en-US" dirty="0"/>
              <a:t>https://www.youtube.com/watch?v=4rhShOPHl50</a:t>
            </a:r>
          </a:p>
          <a:p>
            <a:endParaRPr lang="en-US" dirty="0"/>
          </a:p>
        </p:txBody>
      </p:sp>
      <p:sp>
        <p:nvSpPr>
          <p:cNvPr id="4" name="Slide Number Placeholder 3"/>
          <p:cNvSpPr>
            <a:spLocks noGrp="1"/>
          </p:cNvSpPr>
          <p:nvPr>
            <p:ph type="sldNum" sz="quarter" idx="5"/>
          </p:nvPr>
        </p:nvSpPr>
        <p:spPr/>
        <p:txBody>
          <a:bodyPr/>
          <a:lstStyle/>
          <a:p>
            <a:fld id="{5C96476E-44E0-43A3-8615-ACBD158674D1}" type="slidenum">
              <a:rPr lang="en-US" smtClean="0"/>
              <a:t>16</a:t>
            </a:fld>
            <a:endParaRPr lang="en-US"/>
          </a:p>
        </p:txBody>
      </p:sp>
    </p:spTree>
    <p:extLst>
      <p:ext uri="{BB962C8B-B14F-4D97-AF65-F5344CB8AC3E}">
        <p14:creationId xmlns:p14="http://schemas.microsoft.com/office/powerpoint/2010/main" val="16846231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48B7C8-E3E7-19ED-C55A-C99332380BCD}"/>
              </a:ext>
            </a:extLst>
          </p:cNvPr>
          <p:cNvSpPr>
            <a:spLocks noGrp="1"/>
          </p:cNvSpPr>
          <p:nvPr>
            <p:ph type="dt" sz="half" idx="10"/>
          </p:nvPr>
        </p:nvSpPr>
        <p:spPr/>
        <p:txBody>
          <a:bodyPr/>
          <a:lstStyle/>
          <a:p>
            <a:fld id="{77191A88-CA3A-4250-98F0-71A36D2F66DA}" type="datetimeFigureOut">
              <a:rPr lang="en-US" smtClean="0"/>
              <a:t>10/21/2026</a:t>
            </a:fld>
            <a:endParaRPr lang="en-US"/>
          </a:p>
        </p:txBody>
      </p:sp>
      <p:sp>
        <p:nvSpPr>
          <p:cNvPr id="3" name="Footer Placeholder 2">
            <a:extLst>
              <a:ext uri="{FF2B5EF4-FFF2-40B4-BE49-F238E27FC236}">
                <a16:creationId xmlns:a16="http://schemas.microsoft.com/office/drawing/2014/main" id="{0086CE46-FBC9-0AF7-5781-B3AC9E7D90D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4FAF439-DBF1-8C8B-7030-8F379E798AB3}"/>
              </a:ext>
            </a:extLst>
          </p:cNvPr>
          <p:cNvSpPr>
            <a:spLocks noGrp="1"/>
          </p:cNvSpPr>
          <p:nvPr>
            <p:ph type="sldNum" sz="quarter" idx="12"/>
          </p:nvPr>
        </p:nvSpPr>
        <p:spPr/>
        <p:txBody>
          <a:bodyPr/>
          <a:lstStyle/>
          <a:p>
            <a:fld id="{0355DEB5-7C59-40A6-B2A9-176D5C8F6C1E}" type="slidenum">
              <a:rPr lang="en-US" smtClean="0"/>
              <a:t>‹#›</a:t>
            </a:fld>
            <a:endParaRPr lang="en-US"/>
          </a:p>
        </p:txBody>
      </p:sp>
    </p:spTree>
    <p:extLst>
      <p:ext uri="{BB962C8B-B14F-4D97-AF65-F5344CB8AC3E}">
        <p14:creationId xmlns:p14="http://schemas.microsoft.com/office/powerpoint/2010/main" val="356343248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140417-EB1E-9C7B-04D1-C37CAFB40A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D6B4A57-B76A-9DF7-EC1F-2932DE0147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57F7D7-0109-58EF-98FF-7392CCB5AC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7191A88-CA3A-4250-98F0-71A36D2F66DA}" type="datetimeFigureOut">
              <a:rPr lang="en-US" smtClean="0"/>
              <a:t>10/21/2026</a:t>
            </a:fld>
            <a:endParaRPr lang="en-US"/>
          </a:p>
        </p:txBody>
      </p:sp>
      <p:sp>
        <p:nvSpPr>
          <p:cNvPr id="5" name="Footer Placeholder 4">
            <a:extLst>
              <a:ext uri="{FF2B5EF4-FFF2-40B4-BE49-F238E27FC236}">
                <a16:creationId xmlns:a16="http://schemas.microsoft.com/office/drawing/2014/main" id="{20D5EA6F-A99B-E95D-60FC-199E29CBA4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B02FFDD-EFB9-B181-89FE-00E7296BF4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355DEB5-7C59-40A6-B2A9-176D5C8F6C1E}" type="slidenum">
              <a:rPr lang="en-US" smtClean="0"/>
              <a:t>‹#›</a:t>
            </a:fld>
            <a:endParaRPr lang="en-US"/>
          </a:p>
        </p:txBody>
      </p:sp>
    </p:spTree>
    <p:extLst>
      <p:ext uri="{BB962C8B-B14F-4D97-AF65-F5344CB8AC3E}">
        <p14:creationId xmlns:p14="http://schemas.microsoft.com/office/powerpoint/2010/main" val="3522708940"/>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D36C526-3EC3-0725-317F-4D358923903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6E1DC89-DF7C-159C-5891-C9CC2463D8F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A295699-882D-6C4E-0692-E0E42638CE1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19B4C12-CB89-7723-6054-A8937289ACF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9C07FCA-9DB7-A033-A89B-F3A7588C505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44281E8-D428-88AA-E22D-A54EC67CED6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8B39769-B144-1A5A-5905-6AF4390A5DC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2EAF3CA-BE8B-2907-30AC-22294755767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439585D-CFD5-3F9C-E805-8262CE4C1D9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C33CEA0-A0FF-449A-7E7D-C9449528EDC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766E5D6-0DCA-1294-20C1-4D314E3C104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A4DF18-7F37-0B5F-DAED-73579B9B340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39C730-E5EC-2270-7803-FD44E07359D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A2E56C4-A129-7297-4348-FA3B91DA39F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8B6F2F9-4250-E74D-40C6-1A90BB96F5C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E76C3F4-1196-761F-EB70-7A47ECD3B2C7}"/>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37006576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TotalTime>
  <Words>2823</Words>
  <Application>Microsoft Office PowerPoint</Application>
  <PresentationFormat>寬螢幕</PresentationFormat>
  <Paragraphs>101</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2026-09-21T01:37:35Z</dcterms:created>
  <dcterms:modified xsi:type="dcterms:W3CDTF">2026-10-21T02:51:47Z</dcterms:modified>
</cp:coreProperties>
</file>