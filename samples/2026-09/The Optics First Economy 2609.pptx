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80B3E3-6093-449C-A9B5-9A1E340F0184}" v="19" dt="2026-09-28T01:42:41.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407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28T01:42:56.811" v="69" actId="166"/>
      <pc:docMkLst>
        <pc:docMk/>
      </pc:docMkLst>
      <pc:sldChg chg="addSp delSp modSp mod modAnim modNotesTx">
        <pc:chgData name="Lai, Wilson" userId="2840974a-0d84-4886-90a9-9a3ed79f3a48" providerId="ADAL" clId="{9F23B798-9E84-4552-BA63-E776E805C424}" dt="2026-09-28T01:42:56.811" v="69" actId="166"/>
        <pc:sldMkLst>
          <pc:docMk/>
          <pc:sldMk cId="0" sldId="257"/>
        </pc:sldMkLst>
        <pc:spChg chg="add mod">
          <ac:chgData name="Lai, Wilson" userId="2840974a-0d84-4886-90a9-9a3ed79f3a48" providerId="ADAL" clId="{9F23B798-9E84-4552-BA63-E776E805C424}" dt="2026-09-27T23:52:31.410" v="14" actId="164"/>
          <ac:spMkLst>
            <pc:docMk/>
            <pc:sldMk cId="0" sldId="257"/>
            <ac:spMk id="5" creationId="{C0BB870D-C62B-BBBA-DDD8-1764015E49C5}"/>
          </ac:spMkLst>
        </pc:spChg>
        <pc:spChg chg="add del">
          <ac:chgData name="Lai, Wilson" userId="2840974a-0d84-4886-90a9-9a3ed79f3a48" providerId="ADAL" clId="{9F23B798-9E84-4552-BA63-E776E805C424}" dt="2026-09-27T23:56:06.614" v="17" actId="22"/>
          <ac:spMkLst>
            <pc:docMk/>
            <pc:sldMk cId="0" sldId="257"/>
            <ac:spMk id="7" creationId="{4A56F5B5-5FA2-31F3-4C5B-56207FC51FEC}"/>
          </ac:spMkLst>
        </pc:spChg>
        <pc:grpChg chg="add mod">
          <ac:chgData name="Lai, Wilson" userId="2840974a-0d84-4886-90a9-9a3ed79f3a48" providerId="ADAL" clId="{9F23B798-9E84-4552-BA63-E776E805C424}" dt="2026-09-27T23:52:31.410" v="14" actId="164"/>
          <ac:grpSpMkLst>
            <pc:docMk/>
            <pc:sldMk cId="0" sldId="257"/>
            <ac:grpSpMk id="6" creationId="{1164F193-40AB-745A-40BF-D9542A7010A6}"/>
          </ac:grpSpMkLst>
        </pc:grpChg>
        <pc:picChg chg="del ord">
          <ac:chgData name="Lai, Wilson" userId="2840974a-0d84-4886-90a9-9a3ed79f3a48" providerId="ADAL" clId="{9F23B798-9E84-4552-BA63-E776E805C424}" dt="2026-09-28T00:19:13.387" v="18" actId="21"/>
          <ac:picMkLst>
            <pc:docMk/>
            <pc:sldMk cId="0" sldId="257"/>
            <ac:picMk id="2" creationId="{00000000-0000-0000-0000-000000000000}"/>
          </ac:picMkLst>
        </pc:picChg>
        <pc:picChg chg="add mod">
          <ac:chgData name="Lai, Wilson" userId="2840974a-0d84-4886-90a9-9a3ed79f3a48" providerId="ADAL" clId="{9F23B798-9E84-4552-BA63-E776E805C424}" dt="2026-09-27T23:52:31.410" v="14" actId="164"/>
          <ac:picMkLst>
            <pc:docMk/>
            <pc:sldMk cId="0" sldId="257"/>
            <ac:picMk id="3" creationId="{CEC27491-5C6B-F0CF-2A82-E813C367001D}"/>
          </ac:picMkLst>
        </pc:picChg>
        <pc:picChg chg="add ord">
          <ac:chgData name="Lai, Wilson" userId="2840974a-0d84-4886-90a9-9a3ed79f3a48" providerId="ADAL" clId="{9F23B798-9E84-4552-BA63-E776E805C424}" dt="2026-09-28T01:42:56.811" v="69" actId="166"/>
          <ac:picMkLst>
            <pc:docMk/>
            <pc:sldMk cId="0" sldId="257"/>
            <ac:picMk id="7" creationId="{1BB6BD08-E2DB-BB81-9040-92F893D9079C}"/>
          </ac:picMkLst>
        </pc:picChg>
      </pc:sldChg>
      <pc:sldChg chg="addSp delSp mod modNotes">
        <pc:chgData name="Lai, Wilson" userId="2840974a-0d84-4886-90a9-9a3ed79f3a48" providerId="ADAL" clId="{9F23B798-9E84-4552-BA63-E776E805C424}" dt="2026-09-28T01:42:41.024" v="68"/>
        <pc:sldMkLst>
          <pc:docMk/>
          <pc:sldMk cId="0" sldId="258"/>
        </pc:sldMkLst>
        <pc:picChg chg="del">
          <ac:chgData name="Lai, Wilson" userId="2840974a-0d84-4886-90a9-9a3ed79f3a48" providerId="ADAL" clId="{9F23B798-9E84-4552-BA63-E776E805C424}" dt="2026-09-28T00:19:24.466" v="20" actId="21"/>
          <ac:picMkLst>
            <pc:docMk/>
            <pc:sldMk cId="0" sldId="258"/>
            <ac:picMk id="2" creationId="{00000000-0000-0000-0000-000000000000}"/>
          </ac:picMkLst>
        </pc:picChg>
        <pc:picChg chg="add">
          <ac:chgData name="Lai, Wilson" userId="2840974a-0d84-4886-90a9-9a3ed79f3a48" providerId="ADAL" clId="{9F23B798-9E84-4552-BA63-E776E805C424}" dt="2026-09-28T00:19:36.716" v="21" actId="22"/>
          <ac:picMkLst>
            <pc:docMk/>
            <pc:sldMk cId="0" sldId="258"/>
            <ac:picMk id="4" creationId="{D18FBDE7-A411-8142-4166-F8E05B136480}"/>
          </ac:picMkLst>
        </pc:picChg>
      </pc:sldChg>
      <pc:sldChg chg="addSp delSp mod ord modNotes">
        <pc:chgData name="Lai, Wilson" userId="2840974a-0d84-4886-90a9-9a3ed79f3a48" providerId="ADAL" clId="{9F23B798-9E84-4552-BA63-E776E805C424}" dt="2026-09-28T01:42:41.024" v="68"/>
        <pc:sldMkLst>
          <pc:docMk/>
          <pc:sldMk cId="0" sldId="259"/>
        </pc:sldMkLst>
        <pc:picChg chg="del">
          <ac:chgData name="Lai, Wilson" userId="2840974a-0d84-4886-90a9-9a3ed79f3a48" providerId="ADAL" clId="{9F23B798-9E84-4552-BA63-E776E805C424}" dt="2026-09-28T00:19:38.888" v="22" actId="21"/>
          <ac:picMkLst>
            <pc:docMk/>
            <pc:sldMk cId="0" sldId="259"/>
            <ac:picMk id="2" creationId="{00000000-0000-0000-0000-000000000000}"/>
          </ac:picMkLst>
        </pc:picChg>
        <pc:picChg chg="add">
          <ac:chgData name="Lai, Wilson" userId="2840974a-0d84-4886-90a9-9a3ed79f3a48" providerId="ADAL" clId="{9F23B798-9E84-4552-BA63-E776E805C424}" dt="2026-09-28T00:20:03.249" v="23" actId="22"/>
          <ac:picMkLst>
            <pc:docMk/>
            <pc:sldMk cId="0" sldId="259"/>
            <ac:picMk id="4" creationId="{1767D591-2E61-5C28-BDFE-9C7DD7C6A01C}"/>
          </ac:picMkLst>
        </pc:picChg>
      </pc:sldChg>
      <pc:sldChg chg="addSp delSp mod modNotes modNotesTx">
        <pc:chgData name="Lai, Wilson" userId="2840974a-0d84-4886-90a9-9a3ed79f3a48" providerId="ADAL" clId="{9F23B798-9E84-4552-BA63-E776E805C424}" dt="2026-09-28T01:42:41.024" v="68"/>
        <pc:sldMkLst>
          <pc:docMk/>
          <pc:sldMk cId="0" sldId="260"/>
        </pc:sldMkLst>
        <pc:picChg chg="del">
          <ac:chgData name="Lai, Wilson" userId="2840974a-0d84-4886-90a9-9a3ed79f3a48" providerId="ADAL" clId="{9F23B798-9E84-4552-BA63-E776E805C424}" dt="2026-09-28T00:20:04.988" v="24" actId="21"/>
          <ac:picMkLst>
            <pc:docMk/>
            <pc:sldMk cId="0" sldId="260"/>
            <ac:picMk id="2" creationId="{00000000-0000-0000-0000-000000000000}"/>
          </ac:picMkLst>
        </pc:picChg>
        <pc:picChg chg="add">
          <ac:chgData name="Lai, Wilson" userId="2840974a-0d84-4886-90a9-9a3ed79f3a48" providerId="ADAL" clId="{9F23B798-9E84-4552-BA63-E776E805C424}" dt="2026-09-28T00:20:15.698" v="25" actId="22"/>
          <ac:picMkLst>
            <pc:docMk/>
            <pc:sldMk cId="0" sldId="260"/>
            <ac:picMk id="4" creationId="{62E740F6-75A6-6505-D7E4-58E30A827182}"/>
          </ac:picMkLst>
        </pc:picChg>
      </pc:sldChg>
      <pc:sldChg chg="addSp delSp mod modNotes">
        <pc:chgData name="Lai, Wilson" userId="2840974a-0d84-4886-90a9-9a3ed79f3a48" providerId="ADAL" clId="{9F23B798-9E84-4552-BA63-E776E805C424}" dt="2026-09-28T01:42:37.237" v="67"/>
        <pc:sldMkLst>
          <pc:docMk/>
          <pc:sldMk cId="0" sldId="261"/>
        </pc:sldMkLst>
        <pc:picChg chg="del">
          <ac:chgData name="Lai, Wilson" userId="2840974a-0d84-4886-90a9-9a3ed79f3a48" providerId="ADAL" clId="{9F23B798-9E84-4552-BA63-E776E805C424}" dt="2026-09-28T00:20:16.918" v="26" actId="21"/>
          <ac:picMkLst>
            <pc:docMk/>
            <pc:sldMk cId="0" sldId="261"/>
            <ac:picMk id="2" creationId="{00000000-0000-0000-0000-000000000000}"/>
          </ac:picMkLst>
        </pc:picChg>
        <pc:picChg chg="add">
          <ac:chgData name="Lai, Wilson" userId="2840974a-0d84-4886-90a9-9a3ed79f3a48" providerId="ADAL" clId="{9F23B798-9E84-4552-BA63-E776E805C424}" dt="2026-09-28T00:20:25.564" v="27" actId="22"/>
          <ac:picMkLst>
            <pc:docMk/>
            <pc:sldMk cId="0" sldId="261"/>
            <ac:picMk id="4" creationId="{E5E7210F-4934-8EC7-D89E-4E9C8942CDBD}"/>
          </ac:picMkLst>
        </pc:picChg>
      </pc:sldChg>
      <pc:sldChg chg="addSp delSp mod modNotes modNotesTx">
        <pc:chgData name="Lai, Wilson" userId="2840974a-0d84-4886-90a9-9a3ed79f3a48" providerId="ADAL" clId="{9F23B798-9E84-4552-BA63-E776E805C424}" dt="2026-09-28T01:42:41.024" v="68"/>
        <pc:sldMkLst>
          <pc:docMk/>
          <pc:sldMk cId="0" sldId="262"/>
        </pc:sldMkLst>
        <pc:picChg chg="del">
          <ac:chgData name="Lai, Wilson" userId="2840974a-0d84-4886-90a9-9a3ed79f3a48" providerId="ADAL" clId="{9F23B798-9E84-4552-BA63-E776E805C424}" dt="2026-09-28T00:20:26.762" v="28" actId="21"/>
          <ac:picMkLst>
            <pc:docMk/>
            <pc:sldMk cId="0" sldId="262"/>
            <ac:picMk id="2" creationId="{00000000-0000-0000-0000-000000000000}"/>
          </ac:picMkLst>
        </pc:picChg>
        <pc:picChg chg="add">
          <ac:chgData name="Lai, Wilson" userId="2840974a-0d84-4886-90a9-9a3ed79f3a48" providerId="ADAL" clId="{9F23B798-9E84-4552-BA63-E776E805C424}" dt="2026-09-28T00:21:29.606" v="29" actId="22"/>
          <ac:picMkLst>
            <pc:docMk/>
            <pc:sldMk cId="0" sldId="262"/>
            <ac:picMk id="4" creationId="{5E6F500C-A37A-B99E-A5E2-B5FC12E360C5}"/>
          </ac:picMkLst>
        </pc:picChg>
      </pc:sldChg>
      <pc:sldChg chg="addSp delSp mod modNotes modNotesTx">
        <pc:chgData name="Lai, Wilson" userId="2840974a-0d84-4886-90a9-9a3ed79f3a48" providerId="ADAL" clId="{9F23B798-9E84-4552-BA63-E776E805C424}" dt="2026-09-28T01:42:41.024" v="68"/>
        <pc:sldMkLst>
          <pc:docMk/>
          <pc:sldMk cId="0" sldId="263"/>
        </pc:sldMkLst>
        <pc:picChg chg="del">
          <ac:chgData name="Lai, Wilson" userId="2840974a-0d84-4886-90a9-9a3ed79f3a48" providerId="ADAL" clId="{9F23B798-9E84-4552-BA63-E776E805C424}" dt="2026-09-28T00:21:31.781" v="30" actId="21"/>
          <ac:picMkLst>
            <pc:docMk/>
            <pc:sldMk cId="0" sldId="263"/>
            <ac:picMk id="2" creationId="{00000000-0000-0000-0000-000000000000}"/>
          </ac:picMkLst>
        </pc:picChg>
        <pc:picChg chg="add">
          <ac:chgData name="Lai, Wilson" userId="2840974a-0d84-4886-90a9-9a3ed79f3a48" providerId="ADAL" clId="{9F23B798-9E84-4552-BA63-E776E805C424}" dt="2026-09-28T00:21:40.136" v="31" actId="22"/>
          <ac:picMkLst>
            <pc:docMk/>
            <pc:sldMk cId="0" sldId="263"/>
            <ac:picMk id="4" creationId="{5E25EED3-99B0-0685-C96E-9720BE160F92}"/>
          </ac:picMkLst>
        </pc:picChg>
      </pc:sldChg>
      <pc:sldChg chg="addSp delSp mod modNotes modNotesTx">
        <pc:chgData name="Lai, Wilson" userId="2840974a-0d84-4886-90a9-9a3ed79f3a48" providerId="ADAL" clId="{9F23B798-9E84-4552-BA63-E776E805C424}" dt="2026-09-28T01:42:37.237" v="67"/>
        <pc:sldMkLst>
          <pc:docMk/>
          <pc:sldMk cId="0" sldId="264"/>
        </pc:sldMkLst>
        <pc:picChg chg="del">
          <ac:chgData name="Lai, Wilson" userId="2840974a-0d84-4886-90a9-9a3ed79f3a48" providerId="ADAL" clId="{9F23B798-9E84-4552-BA63-E776E805C424}" dt="2026-09-28T00:21:41.429" v="32" actId="21"/>
          <ac:picMkLst>
            <pc:docMk/>
            <pc:sldMk cId="0" sldId="264"/>
            <ac:picMk id="2" creationId="{00000000-0000-0000-0000-000000000000}"/>
          </ac:picMkLst>
        </pc:picChg>
        <pc:picChg chg="add">
          <ac:chgData name="Lai, Wilson" userId="2840974a-0d84-4886-90a9-9a3ed79f3a48" providerId="ADAL" clId="{9F23B798-9E84-4552-BA63-E776E805C424}" dt="2026-09-28T00:21:49.135" v="33" actId="22"/>
          <ac:picMkLst>
            <pc:docMk/>
            <pc:sldMk cId="0" sldId="264"/>
            <ac:picMk id="4" creationId="{B794D572-271E-0A90-7849-37ED6550715A}"/>
          </ac:picMkLst>
        </pc:picChg>
      </pc:sldChg>
      <pc:sldChg chg="addSp delSp mod modNotes">
        <pc:chgData name="Lai, Wilson" userId="2840974a-0d84-4886-90a9-9a3ed79f3a48" providerId="ADAL" clId="{9F23B798-9E84-4552-BA63-E776E805C424}" dt="2026-09-28T01:42:37.237" v="67"/>
        <pc:sldMkLst>
          <pc:docMk/>
          <pc:sldMk cId="0" sldId="265"/>
        </pc:sldMkLst>
        <pc:picChg chg="del">
          <ac:chgData name="Lai, Wilson" userId="2840974a-0d84-4886-90a9-9a3ed79f3a48" providerId="ADAL" clId="{9F23B798-9E84-4552-BA63-E776E805C424}" dt="2026-09-28T00:21:50.682" v="34" actId="21"/>
          <ac:picMkLst>
            <pc:docMk/>
            <pc:sldMk cId="0" sldId="265"/>
            <ac:picMk id="2" creationId="{00000000-0000-0000-0000-000000000000}"/>
          </ac:picMkLst>
        </pc:picChg>
        <pc:picChg chg="add">
          <ac:chgData name="Lai, Wilson" userId="2840974a-0d84-4886-90a9-9a3ed79f3a48" providerId="ADAL" clId="{9F23B798-9E84-4552-BA63-E776E805C424}" dt="2026-09-28T00:22:00.083" v="35" actId="22"/>
          <ac:picMkLst>
            <pc:docMk/>
            <pc:sldMk cId="0" sldId="265"/>
            <ac:picMk id="4" creationId="{302E9ABB-703A-4BC4-7BC6-7594661C3F83}"/>
          </ac:picMkLst>
        </pc:picChg>
      </pc:sldChg>
      <pc:sldChg chg="addSp delSp mod modNotes modNotesTx">
        <pc:chgData name="Lai, Wilson" userId="2840974a-0d84-4886-90a9-9a3ed79f3a48" providerId="ADAL" clId="{9F23B798-9E84-4552-BA63-E776E805C424}" dt="2026-09-28T01:42:41.024" v="68"/>
        <pc:sldMkLst>
          <pc:docMk/>
          <pc:sldMk cId="0" sldId="266"/>
        </pc:sldMkLst>
        <pc:picChg chg="del">
          <ac:chgData name="Lai, Wilson" userId="2840974a-0d84-4886-90a9-9a3ed79f3a48" providerId="ADAL" clId="{9F23B798-9E84-4552-BA63-E776E805C424}" dt="2026-09-28T00:22:01.440" v="36" actId="21"/>
          <ac:picMkLst>
            <pc:docMk/>
            <pc:sldMk cId="0" sldId="266"/>
            <ac:picMk id="2" creationId="{00000000-0000-0000-0000-000000000000}"/>
          </ac:picMkLst>
        </pc:picChg>
        <pc:picChg chg="add">
          <ac:chgData name="Lai, Wilson" userId="2840974a-0d84-4886-90a9-9a3ed79f3a48" providerId="ADAL" clId="{9F23B798-9E84-4552-BA63-E776E805C424}" dt="2026-09-28T00:22:09.298" v="37" actId="22"/>
          <ac:picMkLst>
            <pc:docMk/>
            <pc:sldMk cId="0" sldId="266"/>
            <ac:picMk id="4" creationId="{9B8FA403-677E-2170-AFC3-867D52CC011D}"/>
          </ac:picMkLst>
        </pc:picChg>
      </pc:sldChg>
      <pc:sldChg chg="addSp delSp mod modNotes modNotesTx">
        <pc:chgData name="Lai, Wilson" userId="2840974a-0d84-4886-90a9-9a3ed79f3a48" providerId="ADAL" clId="{9F23B798-9E84-4552-BA63-E776E805C424}" dt="2026-09-28T01:42:37.237" v="67"/>
        <pc:sldMkLst>
          <pc:docMk/>
          <pc:sldMk cId="0" sldId="267"/>
        </pc:sldMkLst>
        <pc:picChg chg="del">
          <ac:chgData name="Lai, Wilson" userId="2840974a-0d84-4886-90a9-9a3ed79f3a48" providerId="ADAL" clId="{9F23B798-9E84-4552-BA63-E776E805C424}" dt="2026-09-28T00:22:10.460" v="38" actId="21"/>
          <ac:picMkLst>
            <pc:docMk/>
            <pc:sldMk cId="0" sldId="267"/>
            <ac:picMk id="2" creationId="{00000000-0000-0000-0000-000000000000}"/>
          </ac:picMkLst>
        </pc:picChg>
        <pc:picChg chg="add">
          <ac:chgData name="Lai, Wilson" userId="2840974a-0d84-4886-90a9-9a3ed79f3a48" providerId="ADAL" clId="{9F23B798-9E84-4552-BA63-E776E805C424}" dt="2026-09-28T00:22:29.809" v="39" actId="22"/>
          <ac:picMkLst>
            <pc:docMk/>
            <pc:sldMk cId="0" sldId="267"/>
            <ac:picMk id="4" creationId="{49DAA787-D2DC-8437-3111-8EFA998D3E76}"/>
          </ac:picMkLst>
        </pc:picChg>
      </pc:sldChg>
      <pc:sldChg chg="addSp delSp mod modNotes">
        <pc:chgData name="Lai, Wilson" userId="2840974a-0d84-4886-90a9-9a3ed79f3a48" providerId="ADAL" clId="{9F23B798-9E84-4552-BA63-E776E805C424}" dt="2026-09-28T01:42:41.024" v="68"/>
        <pc:sldMkLst>
          <pc:docMk/>
          <pc:sldMk cId="0" sldId="268"/>
        </pc:sldMkLst>
        <pc:picChg chg="del">
          <ac:chgData name="Lai, Wilson" userId="2840974a-0d84-4886-90a9-9a3ed79f3a48" providerId="ADAL" clId="{9F23B798-9E84-4552-BA63-E776E805C424}" dt="2026-09-28T00:22:32.052" v="40" actId="21"/>
          <ac:picMkLst>
            <pc:docMk/>
            <pc:sldMk cId="0" sldId="268"/>
            <ac:picMk id="2" creationId="{00000000-0000-0000-0000-000000000000}"/>
          </ac:picMkLst>
        </pc:picChg>
        <pc:picChg chg="add">
          <ac:chgData name="Lai, Wilson" userId="2840974a-0d84-4886-90a9-9a3ed79f3a48" providerId="ADAL" clId="{9F23B798-9E84-4552-BA63-E776E805C424}" dt="2026-09-28T00:22:46.870" v="41" actId="22"/>
          <ac:picMkLst>
            <pc:docMk/>
            <pc:sldMk cId="0" sldId="268"/>
            <ac:picMk id="4" creationId="{B33AAB12-F395-8D47-0D8D-29BCD11106F5}"/>
          </ac:picMkLst>
        </pc:picChg>
      </pc:sldChg>
      <pc:sldChg chg="addSp delSp mod modNotes modNotesTx">
        <pc:chgData name="Lai, Wilson" userId="2840974a-0d84-4886-90a9-9a3ed79f3a48" providerId="ADAL" clId="{9F23B798-9E84-4552-BA63-E776E805C424}" dt="2026-09-28T01:42:37.237" v="67"/>
        <pc:sldMkLst>
          <pc:docMk/>
          <pc:sldMk cId="2870155641" sldId="269"/>
        </pc:sldMkLst>
        <pc:picChg chg="del">
          <ac:chgData name="Lai, Wilson" userId="2840974a-0d84-4886-90a9-9a3ed79f3a48" providerId="ADAL" clId="{9F23B798-9E84-4552-BA63-E776E805C424}" dt="2026-09-28T00:22:48.608" v="42" actId="21"/>
          <ac:picMkLst>
            <pc:docMk/>
            <pc:sldMk cId="2870155641" sldId="269"/>
            <ac:picMk id="3" creationId="{0777C2D0-CEB8-D301-1E47-72250E611591}"/>
          </ac:picMkLst>
        </pc:picChg>
        <pc:picChg chg="add">
          <ac:chgData name="Lai, Wilson" userId="2840974a-0d84-4886-90a9-9a3ed79f3a48" providerId="ADAL" clId="{9F23B798-9E84-4552-BA63-E776E805C424}" dt="2026-09-28T00:22:58.628" v="43" actId="22"/>
          <ac:picMkLst>
            <pc:docMk/>
            <pc:sldMk cId="2870155641" sldId="269"/>
            <ac:picMk id="4" creationId="{E4A61773-3B36-1F2E-2FA7-C226137109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6C245-A93E-4763-9FAB-1F6863FBECF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02D469-3303-4686-862C-4CD5BC760EC2}" type="slidenum">
              <a:rPr lang="en-US" smtClean="0"/>
              <a:t>‹#›</a:t>
            </a:fld>
            <a:endParaRPr lang="en-US"/>
          </a:p>
        </p:txBody>
      </p:sp>
    </p:spTree>
    <p:extLst>
      <p:ext uri="{BB962C8B-B14F-4D97-AF65-F5344CB8AC3E}">
        <p14:creationId xmlns:p14="http://schemas.microsoft.com/office/powerpoint/2010/main" val="1685649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today’s presentation on </a:t>
            </a:r>
            <a:r>
              <a:rPr lang="en-US" i="1" dirty="0"/>
              <a:t>The Optics-First Economy: Manufactured Illusions, Institutional Decay, and the Mathematical Inevitability of Hard Assets</a:t>
            </a:r>
            <a:r>
              <a:rPr lang="en-US" dirty="0"/>
              <a:t>.</a:t>
            </a:r>
          </a:p>
          <a:p>
            <a:r>
              <a:rPr lang="en-US" dirty="0"/>
              <a:t>The core thesis of this deck revolves around a dangerous decoupling happening across two fronts: financial markets and government state institutions. In financial markets, investors and media are prioritizing headlines and index optics while ignoring severe underlying structural decay—specifically record yield pressures and extreme concentration. In our state institutions, regulators are prioritizing high-profile public relations victories over constitutional due process and actual consumer protection.</a:t>
            </a:r>
          </a:p>
          <a:p>
            <a:r>
              <a:rPr lang="en-US" dirty="0"/>
              <a:t>Throughout history, whenever a system optimizes strictly for "optics" over underlying mathematical truth, the facade eventually cracks. When optics fail, only hard math remains. Over the next 45 minutes, we will unpack the data behind the stock market's hidden bear market, deconstruct the demand-side reality of interest rates, examine an alarming case study of regulatory overreach, and trace the inescapable capital rotation into hard assets.</a:t>
            </a:r>
          </a:p>
          <a:p>
            <a:endParaRPr lang="en-US" dirty="0"/>
          </a:p>
          <a:p>
            <a:endParaRPr lang="en-US" dirty="0"/>
          </a:p>
          <a:p>
            <a:endParaRPr lang="en-US" dirty="0"/>
          </a:p>
          <a:p>
            <a:endParaRPr lang="en-US" dirty="0"/>
          </a:p>
          <a:p>
            <a:endParaRPr lang="en-US" dirty="0"/>
          </a:p>
          <a:p>
            <a:r>
              <a:rPr lang="en-US" b="1" dirty="0"/>
              <a:t>86% of Stocks Are in a Bear Market... The S&amp;P Hides It</a:t>
            </a:r>
          </a:p>
          <a:p>
            <a:r>
              <a:rPr lang="en-US" dirty="0"/>
              <a:t>https://www.youtube.com/watch?v=GEGgSywAHlk</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1</a:t>
            </a:fld>
            <a:endParaRPr lang="en-US"/>
          </a:p>
        </p:txBody>
      </p:sp>
    </p:spTree>
    <p:extLst>
      <p:ext uri="{BB962C8B-B14F-4D97-AF65-F5344CB8AC3E}">
        <p14:creationId xmlns:p14="http://schemas.microsoft.com/office/powerpoint/2010/main" val="1160969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by looking at the fixed-income landscape. What we are witnessing in the bond market right now is nothing short of historic.</a:t>
            </a:r>
          </a:p>
          <a:p>
            <a:r>
              <a:rPr lang="en-US" dirty="0"/>
              <a:t>US 10-Year Treasury yields closed at 5.16%, touching intraday highs of 5.22%. Meanwhile, the US 30-Year Treasury yield hit 5.49%, with intraday peaks of 5.53%. These are the highest closing bond yields on a closing basis in over two decades. Even shorter-term paper, like the 5-Year and 2-Year Treasuries, have crossed or are flirting with 5%.</a:t>
            </a:r>
          </a:p>
          <a:p>
            <a:r>
              <a:rPr lang="en-US" dirty="0"/>
              <a:t>Crucially, this is not just a domestic issue; it is a global contagion. If you look across the Pacific, Japan’s 10-Year Japanese Government Bond (JGB) yield has settled above 3.00%—a monumental shift for a nation that maintained negative and zero-interest-rate policies for decades. Japan's 30-year bond hit 4.13%, an all-time record high.</a:t>
            </a:r>
          </a:p>
          <a:p>
            <a:r>
              <a:rPr lang="en-US" dirty="0"/>
              <a:t>Rising yields are the absolute benchmark for the global cost of capital. When yields spike to 20-year highs, every single financial model, debt service calculation, and valuation metric in the global economy experiences massive systemic pressure. Yet, as we'll see on the next slide, equity markets are behaving as if none of this matters.</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2</a:t>
            </a:fld>
            <a:endParaRPr lang="en-US"/>
          </a:p>
        </p:txBody>
      </p:sp>
    </p:spTree>
    <p:extLst>
      <p:ext uri="{BB962C8B-B14F-4D97-AF65-F5344CB8AC3E}">
        <p14:creationId xmlns:p14="http://schemas.microsoft.com/office/powerpoint/2010/main" val="9725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Despite the historic surge in borrowing costs, the headline S&amp;P 500 index is hovering a mere 0.7% below its all-time highs.</a:t>
            </a:r>
          </a:p>
          <a:p>
            <a:r>
              <a:rPr lang="en-US" sz="1200" kern="1200" dirty="0">
                <a:solidFill>
                  <a:schemeClr val="tx1"/>
                </a:solidFill>
                <a:effectLst/>
                <a:latin typeface="+mn-lt"/>
                <a:ea typeface="+mn-ea"/>
                <a:cs typeface="+mn-cs"/>
              </a:rPr>
              <a:t>Market participants and mainstream financial commentators are engaged in what can only be called the "Invincibility Delusion." They are actively rationalizing higher bond yields as a sign of economic resilience and consumer strength rather than a tightening cost of capital. They claim, "The economy is so strong that businesses and consumers can simply pay 5.5% on debt without breaking a sweat." </a:t>
            </a:r>
          </a:p>
          <a:p>
            <a:r>
              <a:rPr lang="en-US" sz="1200" kern="1200" dirty="0">
                <a:solidFill>
                  <a:schemeClr val="tx1"/>
                </a:solidFill>
                <a:effectLst/>
                <a:latin typeface="+mn-lt"/>
                <a:ea typeface="+mn-ea"/>
                <a:cs typeface="+mn-cs"/>
              </a:rPr>
              <a:t>This rationalization ignores basic economic gravity. Capital has a cost. When risk-free Treasuries yield over 5.5%, they present direct competition to risk equities. Furthermore, high rates act as an inescapable brake on corporate profit margins and consumer spending. The market’s refusal to price in rising yields is not rational valuation—it is willful ignorance and wishful thinking fueled by narrative-chasing.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3</a:t>
            </a:fld>
            <a:endParaRPr lang="en-US"/>
          </a:p>
        </p:txBody>
      </p:sp>
    </p:spTree>
    <p:extLst>
      <p:ext uri="{BB962C8B-B14F-4D97-AF65-F5344CB8AC3E}">
        <p14:creationId xmlns:p14="http://schemas.microsoft.com/office/powerpoint/2010/main" val="3171803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the headline S&amp;P 500 appears invincible, we must peer beneath the surface and examine market breadth. The headline index is a manufactured optical illusion. </a:t>
            </a:r>
          </a:p>
          <a:p>
            <a:r>
              <a:rPr lang="en-US" sz="1200" kern="1200" dirty="0">
                <a:solidFill>
                  <a:schemeClr val="tx1"/>
                </a:solidFill>
                <a:effectLst/>
                <a:latin typeface="+mn-lt"/>
                <a:ea typeface="+mn-ea"/>
                <a:cs typeface="+mn-cs"/>
              </a:rPr>
              <a:t>On the left side of this slide, you see the </a:t>
            </a:r>
            <a:r>
              <a:rPr lang="en-US" sz="1200" b="1" kern="1200" dirty="0">
                <a:solidFill>
                  <a:schemeClr val="tx1"/>
                </a:solidFill>
                <a:effectLst/>
                <a:latin typeface="+mn-lt"/>
                <a:ea typeface="+mn-ea"/>
                <a:cs typeface="+mn-cs"/>
              </a:rPr>
              <a:t>OPTICS</a:t>
            </a:r>
            <a:r>
              <a:rPr lang="en-US" sz="1200" kern="1200" dirty="0">
                <a:solidFill>
                  <a:schemeClr val="tx1"/>
                </a:solidFill>
                <a:effectLst/>
                <a:latin typeface="+mn-lt"/>
                <a:ea typeface="+mn-ea"/>
                <a:cs typeface="+mn-cs"/>
              </a:rPr>
              <a:t>: The S&amp;P 500 headline index is down only 0.7% from record highs. The NASDAQ closed up 1.2% in a single week. Media narratives attribute this strength to endless Artificial Intelligence momentum and consumer resilience. </a:t>
            </a:r>
          </a:p>
          <a:p>
            <a:r>
              <a:rPr lang="en-US" sz="1200" kern="1200" dirty="0">
                <a:solidFill>
                  <a:schemeClr val="tx1"/>
                </a:solidFill>
                <a:effectLst/>
                <a:latin typeface="+mn-lt"/>
                <a:ea typeface="+mn-ea"/>
                <a:cs typeface="+mn-cs"/>
              </a:rPr>
              <a:t>Now look at the right side—the </a:t>
            </a:r>
            <a:r>
              <a:rPr lang="en-US" sz="1200" b="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Hidden Bear</a:t>
            </a:r>
            <a:r>
              <a:rPr lang="en-US" sz="1200" kern="1200" dirty="0">
                <a:solidFill>
                  <a:schemeClr val="tx1"/>
                </a:solidFill>
                <a:effectLst/>
                <a:latin typeface="+mn-lt"/>
                <a:ea typeface="+mn-ea"/>
                <a:cs typeface="+mn-cs"/>
              </a:rPr>
              <a:t>: If you remove the top 70 mega-cap stocks from the S&amp;P 500, the remaining 430 stocks are down an average of 21.7% from their highs. That means 86% of the S&amp;P 500 is technically trapped in a bear market. </a:t>
            </a:r>
          </a:p>
          <a:p>
            <a:pPr marL="228600" lvl="0" indent="-228600">
              <a:buFont typeface="+mj-lt"/>
              <a:buAutoNum type="arabicPeriod"/>
            </a:pPr>
            <a:r>
              <a:rPr lang="en-US" sz="1200" b="1" kern="1200" dirty="0">
                <a:solidFill>
                  <a:schemeClr val="tx1"/>
                </a:solidFill>
                <a:effectLst/>
                <a:latin typeface="+mn-lt"/>
                <a:ea typeface="+mn-ea"/>
                <a:cs typeface="+mn-cs"/>
              </a:rPr>
              <a:t>Deep Drawdowns</a:t>
            </a:r>
            <a:r>
              <a:rPr lang="en-US" sz="1200" kern="1200" dirty="0">
                <a:solidFill>
                  <a:schemeClr val="tx1"/>
                </a:solidFill>
                <a:effectLst/>
                <a:latin typeface="+mn-lt"/>
                <a:ea typeface="+mn-ea"/>
                <a:cs typeface="+mn-cs"/>
              </a:rPr>
              <a:t>: Broadly speaking, 60% of all individual stocks within the S&amp;P 500 are in official bear markets, trading more than 20% off their peaks. </a:t>
            </a:r>
          </a:p>
          <a:p>
            <a:pPr marL="228600" lvl="0" indent="-228600">
              <a:buFont typeface="+mj-lt"/>
              <a:buAutoNum type="arabicPeriod"/>
            </a:pPr>
            <a:r>
              <a:rPr lang="en-US" sz="1200" b="1" kern="1200" dirty="0">
                <a:solidFill>
                  <a:schemeClr val="tx1"/>
                </a:solidFill>
                <a:effectLst/>
                <a:latin typeface="+mn-lt"/>
                <a:ea typeface="+mn-ea"/>
                <a:cs typeface="+mn-cs"/>
              </a:rPr>
              <a:t>Systemic Capitulation Metrics</a:t>
            </a:r>
            <a:r>
              <a:rPr lang="en-US" sz="1200" kern="1200" dirty="0">
                <a:solidFill>
                  <a:schemeClr val="tx1"/>
                </a:solidFill>
                <a:effectLst/>
                <a:latin typeface="+mn-lt"/>
                <a:ea typeface="+mn-ea"/>
                <a:cs typeface="+mn-cs"/>
              </a:rPr>
              <a:t>: In a healthy bull market at record highs, stock advances far outpace declines. Yet, last week saw 41 S&amp;P stocks hit new 52-week lows against only 14 hitting new highs—a 3:1 ratio of new lows to new highs. </a:t>
            </a:r>
          </a:p>
          <a:p>
            <a:r>
              <a:rPr lang="en-US" sz="1200" kern="1200" dirty="0">
                <a:solidFill>
                  <a:schemeClr val="tx1"/>
                </a:solidFill>
                <a:effectLst/>
                <a:latin typeface="+mn-lt"/>
                <a:ea typeface="+mn-ea"/>
                <a:cs typeface="+mn-cs"/>
              </a:rPr>
              <a:t>A 3:1 ratio of new lows to new highs usually occurs during total market capitulation, yet it is happening while the headline index sits near record highs. A tiny hand-full of mega-cap "generals" are marching upward while the vast majority of the "troops" are retreating.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4</a:t>
            </a:fld>
            <a:endParaRPr lang="en-US"/>
          </a:p>
        </p:txBody>
      </p:sp>
    </p:spTree>
    <p:extLst>
      <p:ext uri="{BB962C8B-B14F-4D97-AF65-F5344CB8AC3E}">
        <p14:creationId xmlns:p14="http://schemas.microsoft.com/office/powerpoint/2010/main" val="44620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Severe breadth divergence of this magnitude is extremely rare. In fact, across the last 100 years of US financial history, market breadth has reached this level of extreme decay only twice before. </a:t>
            </a:r>
          </a:p>
          <a:p>
            <a:r>
              <a:rPr lang="en-US" sz="1200" b="1" kern="1200" dirty="0">
                <a:solidFill>
                  <a:schemeClr val="tx1"/>
                </a:solidFill>
                <a:effectLst/>
                <a:latin typeface="+mn-lt"/>
                <a:ea typeface="+mn-ea"/>
                <a:cs typeface="+mn-cs"/>
              </a:rPr>
              <a:t>1. January 1973 (The Nifty Fifty Bubble)</a:t>
            </a:r>
            <a:r>
              <a:rPr lang="en-US" sz="1200" kern="1200" dirty="0">
                <a:solidFill>
                  <a:schemeClr val="tx1"/>
                </a:solidFill>
                <a:effectLst/>
                <a:latin typeface="+mn-lt"/>
                <a:ea typeface="+mn-ea"/>
                <a:cs typeface="+mn-cs"/>
              </a:rPr>
              <a:t>: During the late 1960s and early 1970s, investors piled exclusively into 50 institutional darling stocks (the "Nifty Fifty"), ignoring broader economic weakness. Narrow market breadth masked severe underlying rot. Once the illusion cracked, the S&amp;P 500 collapsed by 48.2%, launching a brutal bear market that took until the early 1980s to recover. </a:t>
            </a:r>
          </a:p>
          <a:p>
            <a:r>
              <a:rPr lang="en-US" sz="1200" b="1" kern="1200" dirty="0">
                <a:solidFill>
                  <a:schemeClr val="tx1"/>
                </a:solidFill>
                <a:effectLst/>
                <a:latin typeface="+mn-lt"/>
                <a:ea typeface="+mn-ea"/>
                <a:cs typeface="+mn-cs"/>
              </a:rPr>
              <a:t>2. Late 1999 / Early 2000 (The Dot-Com Bubble)</a:t>
            </a:r>
            <a:r>
              <a:rPr lang="en-US" sz="1200" kern="1200" dirty="0">
                <a:solidFill>
                  <a:schemeClr val="tx1"/>
                </a:solidFill>
                <a:effectLst/>
                <a:latin typeface="+mn-lt"/>
                <a:ea typeface="+mn-ea"/>
                <a:cs typeface="+mn-cs"/>
              </a:rPr>
              <a:t>: Tech-heavy mega-caps surged while the average stock was already declining. Once again, narrow participation masked systemic risk. The resulting crash saw the S&amp;P 500 fall 49.2%, while the NASDAQ plummeted nearly 80%. </a:t>
            </a:r>
          </a:p>
          <a:p>
            <a:r>
              <a:rPr lang="en-US" sz="1200" b="1" kern="1200" dirty="0">
                <a:solidFill>
                  <a:schemeClr val="tx1"/>
                </a:solidFill>
                <a:effectLst/>
                <a:latin typeface="+mn-lt"/>
                <a:ea typeface="+mn-ea"/>
                <a:cs typeface="+mn-cs"/>
              </a:rPr>
              <a:t>3. Present Day (2023/2024 - The AI Wildcard)</a:t>
            </a:r>
            <a:r>
              <a:rPr lang="en-US" sz="1200" kern="1200" dirty="0">
                <a:solidFill>
                  <a:schemeClr val="tx1"/>
                </a:solidFill>
                <a:effectLst/>
                <a:latin typeface="+mn-lt"/>
                <a:ea typeface="+mn-ea"/>
                <a:cs typeface="+mn-cs"/>
              </a:rPr>
              <a:t>: Today's breadth divergence mirrors 1973 and 2000 almost perfectly. Today's bull argument relies on the idea that "AI productivity gains make this time different." But as Sir John Templeton famously warned, "The most dangerous words in investing are 'this time is different.'" History demonstrates that when 86% of the market breaks down, the headline index eventually follows.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5</a:t>
            </a:fld>
            <a:endParaRPr lang="en-US"/>
          </a:p>
        </p:txBody>
      </p:sp>
    </p:spTree>
    <p:extLst>
      <p:ext uri="{BB962C8B-B14F-4D97-AF65-F5344CB8AC3E}">
        <p14:creationId xmlns:p14="http://schemas.microsoft.com/office/powerpoint/2010/main" val="4043390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equity markets ignore interest rates, consumer sentiment is breaking down due to sticky, embedded inflation. </a:t>
            </a:r>
          </a:p>
          <a:p>
            <a:r>
              <a:rPr lang="en-US" sz="1200" kern="1200" dirty="0">
                <a:solidFill>
                  <a:schemeClr val="tx1"/>
                </a:solidFill>
                <a:effectLst/>
                <a:latin typeface="+mn-lt"/>
                <a:ea typeface="+mn-ea"/>
                <a:cs typeface="+mn-cs"/>
              </a:rPr>
              <a:t>Recent data from the University of Michigan Consumer Sentiment survey showed sentiment plunging from 51.7 to 48.1. More alarmingly, 1-Year Inflation Expectations jumped sharply from 4.0% to 4.6%. This shift signals the start of a dangerous self-fulfilling economic loop known as the Inflationary Psychology Spiral: </a:t>
            </a:r>
          </a:p>
          <a:p>
            <a:pPr marL="228600" lvl="0" indent="-228600">
              <a:buFont typeface="+mj-lt"/>
              <a:buAutoNum type="arabicPeriod"/>
            </a:pPr>
            <a:r>
              <a:rPr lang="en-US" sz="1200" b="1" kern="1200" dirty="0">
                <a:solidFill>
                  <a:schemeClr val="tx1"/>
                </a:solidFill>
                <a:effectLst/>
                <a:latin typeface="+mn-lt"/>
                <a:ea typeface="+mn-ea"/>
                <a:cs typeface="+mn-cs"/>
              </a:rPr>
              <a:t>Rising Expectations</a:t>
            </a:r>
            <a:r>
              <a:rPr lang="en-US" sz="1200" kern="1200" dirty="0">
                <a:solidFill>
                  <a:schemeClr val="tx1"/>
                </a:solidFill>
                <a:effectLst/>
                <a:latin typeface="+mn-lt"/>
                <a:ea typeface="+mn-ea"/>
                <a:cs typeface="+mn-cs"/>
              </a:rPr>
              <a:t>: Consumers realize their purchasing power is actively eroding. </a:t>
            </a:r>
          </a:p>
          <a:p>
            <a:pPr marL="228600" lvl="0" indent="-228600">
              <a:buFont typeface="+mj-lt"/>
              <a:buAutoNum type="arabicPeriod"/>
            </a:pPr>
            <a:r>
              <a:rPr lang="en-US" sz="1200" b="1" kern="1200" dirty="0">
                <a:solidFill>
                  <a:schemeClr val="tx1"/>
                </a:solidFill>
                <a:effectLst/>
                <a:latin typeface="+mn-lt"/>
                <a:ea typeface="+mn-ea"/>
                <a:cs typeface="+mn-cs"/>
              </a:rPr>
              <a:t>Panic Pull-Forward (Hoarding)</a:t>
            </a:r>
            <a:r>
              <a:rPr lang="en-US" sz="1200" kern="1200" dirty="0">
                <a:solidFill>
                  <a:schemeClr val="tx1"/>
                </a:solidFill>
                <a:effectLst/>
                <a:latin typeface="+mn-lt"/>
                <a:ea typeface="+mn-ea"/>
                <a:cs typeface="+mn-cs"/>
              </a:rPr>
              <a:t>: Fearing that goods will cost 10% or 15% more next year, consumers buy goods </a:t>
            </a:r>
            <a:r>
              <a:rPr lang="en-US" sz="1200" i="1" kern="1200" dirty="0">
                <a:solidFill>
                  <a:schemeClr val="tx1"/>
                </a:solidFill>
                <a:effectLst/>
                <a:latin typeface="+mn-lt"/>
                <a:ea typeface="+mn-ea"/>
                <a:cs typeface="+mn-cs"/>
              </a:rPr>
              <a:t>today</a:t>
            </a:r>
            <a:r>
              <a:rPr lang="en-US" sz="1200" kern="1200" dirty="0">
                <a:solidFill>
                  <a:schemeClr val="tx1"/>
                </a:solidFill>
                <a:effectLst/>
                <a:latin typeface="+mn-lt"/>
                <a:ea typeface="+mn-ea"/>
                <a:cs typeface="+mn-cs"/>
              </a:rPr>
              <a:t> before they actually need them. Buying a non-perishable good today to avoid a 10% price hike next year provides a 10% tax-free return on capital. </a:t>
            </a:r>
          </a:p>
          <a:p>
            <a:pPr marL="228600" lvl="0" indent="-228600">
              <a:buFont typeface="+mj-lt"/>
              <a:buAutoNum type="arabicPeriod"/>
            </a:pPr>
            <a:r>
              <a:rPr lang="en-US" sz="1200" b="1" kern="1200" dirty="0">
                <a:solidFill>
                  <a:schemeClr val="tx1"/>
                </a:solidFill>
                <a:effectLst/>
                <a:latin typeface="+mn-lt"/>
                <a:ea typeface="+mn-ea"/>
                <a:cs typeface="+mn-cs"/>
              </a:rPr>
              <a:t>Inventory Depletion &amp; Artificial Spending</a:t>
            </a:r>
            <a:r>
              <a:rPr lang="en-US" sz="1200" kern="1200" dirty="0">
                <a:solidFill>
                  <a:schemeClr val="tx1"/>
                </a:solidFill>
                <a:effectLst/>
                <a:latin typeface="+mn-lt"/>
                <a:ea typeface="+mn-ea"/>
                <a:cs typeface="+mn-cs"/>
              </a:rPr>
              <a:t>: Headline "consumer spending" numbers look strong on paper, but they are artificially inflated by panic buying. Consequently, store shelves begin to empty. </a:t>
            </a:r>
          </a:p>
          <a:p>
            <a:pPr marL="228600" lvl="0" indent="-228600">
              <a:buFont typeface="+mj-lt"/>
              <a:buAutoNum type="arabicPeriod"/>
            </a:pPr>
            <a:r>
              <a:rPr lang="en-US" sz="1200" b="1" kern="1200" dirty="0">
                <a:solidFill>
                  <a:schemeClr val="tx1"/>
                </a:solidFill>
                <a:effectLst/>
                <a:latin typeface="+mn-lt"/>
                <a:ea typeface="+mn-ea"/>
                <a:cs typeface="+mn-cs"/>
              </a:rPr>
              <a:t>Price Escalation</a:t>
            </a:r>
            <a:r>
              <a:rPr lang="en-US" sz="1200" kern="1200" dirty="0">
                <a:solidFill>
                  <a:schemeClr val="tx1"/>
                </a:solidFill>
                <a:effectLst/>
                <a:latin typeface="+mn-lt"/>
                <a:ea typeface="+mn-ea"/>
                <a:cs typeface="+mn-cs"/>
              </a:rPr>
              <a:t>: Merchants witness surging demand against falling inventories, prompting them to mark up prices even faster. </a:t>
            </a:r>
          </a:p>
          <a:p>
            <a:r>
              <a:rPr lang="en-US" sz="1200" kern="1200" dirty="0">
                <a:solidFill>
                  <a:schemeClr val="tx1"/>
                </a:solidFill>
                <a:effectLst/>
                <a:latin typeface="+mn-lt"/>
                <a:ea typeface="+mn-ea"/>
                <a:cs typeface="+mn-cs"/>
              </a:rPr>
              <a:t>This psychology creates a feedback loop that cannot be solved by rosy government economic press releases.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6</a:t>
            </a:fld>
            <a:endParaRPr lang="en-US"/>
          </a:p>
        </p:txBody>
      </p:sp>
    </p:spTree>
    <p:extLst>
      <p:ext uri="{BB962C8B-B14F-4D97-AF65-F5344CB8AC3E}">
        <p14:creationId xmlns:p14="http://schemas.microsoft.com/office/powerpoint/2010/main" val="1957518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an active debate among high-profile market figures regarding how interest rates impact inflation. Prominent investor Bill Ackman recently argued that the Fed should cease raising interest rates and raise its inflation target from 2% to 3%. His logic? Higher borrowing costs increase operating expenses for businesses, which forces them to raise prices on consumers, thus </a:t>
            </a:r>
            <a:r>
              <a:rPr lang="en-US" sz="1200" i="1" kern="1200" dirty="0">
                <a:solidFill>
                  <a:schemeClr val="tx1"/>
                </a:solidFill>
                <a:effectLst/>
                <a:latin typeface="+mn-lt"/>
                <a:ea typeface="+mn-ea"/>
                <a:cs typeface="+mn-cs"/>
              </a:rPr>
              <a:t>fueling</a:t>
            </a:r>
            <a:r>
              <a:rPr lang="en-US" sz="1200" kern="1200" dirty="0">
                <a:solidFill>
                  <a:schemeClr val="tx1"/>
                </a:solidFill>
                <a:effectLst/>
                <a:latin typeface="+mn-lt"/>
                <a:ea typeface="+mn-ea"/>
                <a:cs typeface="+mn-cs"/>
              </a:rPr>
              <a:t> inflation. </a:t>
            </a:r>
          </a:p>
          <a:p>
            <a:r>
              <a:rPr lang="en-US" sz="1200" kern="1200" dirty="0">
                <a:solidFill>
                  <a:schemeClr val="tx1"/>
                </a:solidFill>
                <a:effectLst/>
                <a:latin typeface="+mn-lt"/>
                <a:ea typeface="+mn-ea"/>
                <a:cs typeface="+mn-cs"/>
              </a:rPr>
              <a:t>Ackman’s argument is half-correct on supply, but entirely wrong on demand: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Pass-Through (Supply Side)</a:t>
            </a:r>
            <a:r>
              <a:rPr lang="en-US" sz="1200" kern="1200" dirty="0">
                <a:solidFill>
                  <a:schemeClr val="tx1"/>
                </a:solidFill>
                <a:effectLst/>
                <a:latin typeface="+mn-lt"/>
                <a:ea typeface="+mn-ea"/>
                <a:cs typeface="+mn-cs"/>
              </a:rPr>
              <a:t>: Interest rates are indeed an operational cost, identical to raw materials, labor, and rent. When borrowing costs rise, businesses attempt to pass these costs down to consumers to protect profit margins. Ackman is correct here.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Demand Choke Point</a:t>
            </a:r>
            <a:r>
              <a:rPr lang="en-US" sz="1200" kern="1200" dirty="0">
                <a:solidFill>
                  <a:schemeClr val="tx1"/>
                </a:solidFill>
                <a:effectLst/>
                <a:latin typeface="+mn-lt"/>
                <a:ea typeface="+mn-ea"/>
                <a:cs typeface="+mn-cs"/>
              </a:rPr>
              <a:t>: However, rates exist primarily to constrain </a:t>
            </a:r>
            <a:r>
              <a:rPr lang="en-US" sz="1200" i="1" kern="1200" dirty="0">
                <a:solidFill>
                  <a:schemeClr val="tx1"/>
                </a:solidFill>
                <a:effectLst/>
                <a:latin typeface="+mn-lt"/>
                <a:ea typeface="+mn-ea"/>
                <a:cs typeface="+mn-cs"/>
              </a:rPr>
              <a:t>demand</a:t>
            </a:r>
            <a:r>
              <a:rPr lang="en-US" sz="1200" kern="1200" dirty="0">
                <a:solidFill>
                  <a:schemeClr val="tx1"/>
                </a:solidFill>
                <a:effectLst/>
                <a:latin typeface="+mn-lt"/>
                <a:ea typeface="+mn-ea"/>
                <a:cs typeface="+mn-cs"/>
              </a:rPr>
              <a:t>. Business borrowing to build productive capital expands supply. Consumer and government borrowing to fund current consumption fuels demand and drives inflation. </a:t>
            </a:r>
          </a:p>
          <a:p>
            <a:r>
              <a:rPr lang="en-US" sz="1200" kern="1200" dirty="0">
                <a:solidFill>
                  <a:schemeClr val="tx1"/>
                </a:solidFill>
                <a:effectLst/>
                <a:latin typeface="+mn-lt"/>
                <a:ea typeface="+mn-ea"/>
                <a:cs typeface="+mn-cs"/>
              </a:rPr>
              <a:t>Raising rates is the only mechanism available to choke off consumer and government credit-fueled spending. Surrendering to a 3% inflation target doesn't stabilize prices; it unanchors expectations, guaranteeing a rapid run-up to 5% or higher.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7</a:t>
            </a:fld>
            <a:endParaRPr lang="en-US"/>
          </a:p>
        </p:txBody>
      </p:sp>
    </p:spTree>
    <p:extLst>
      <p:ext uri="{BB962C8B-B14F-4D97-AF65-F5344CB8AC3E}">
        <p14:creationId xmlns:p14="http://schemas.microsoft.com/office/powerpoint/2010/main" val="3364976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combine these observations, a clear pattern emerges: the defining characteristic of our modern system is the complete optimization of </a:t>
            </a:r>
            <a:r>
              <a:rPr lang="en-US" sz="1200" b="1" kern="1200" dirty="0">
                <a:solidFill>
                  <a:schemeClr val="tx1"/>
                </a:solidFill>
                <a:effectLst/>
                <a:latin typeface="+mn-lt"/>
                <a:ea typeface="+mn-ea"/>
                <a:cs typeface="+mn-cs"/>
              </a:rPr>
              <a:t>optics over mathematical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 the Markets</a:t>
            </a:r>
            <a:r>
              <a:rPr lang="en-US" sz="1200" kern="1200" dirty="0">
                <a:solidFill>
                  <a:schemeClr val="tx1"/>
                </a:solidFill>
                <a:effectLst/>
                <a:latin typeface="+mn-lt"/>
                <a:ea typeface="+mn-ea"/>
                <a:cs typeface="+mn-cs"/>
              </a:rPr>
              <a:t>: Investors pretend that 5.5% Treasury yields and a 21.7% draw-down across 430 S&amp;P stocks don't matter, choosing instead to bid up mega-cap AI headlines.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 the State</a:t>
            </a:r>
            <a:r>
              <a:rPr lang="en-US" sz="1200" kern="1200" dirty="0">
                <a:solidFill>
                  <a:schemeClr val="tx1"/>
                </a:solidFill>
                <a:effectLst/>
                <a:latin typeface="+mn-lt"/>
                <a:ea typeface="+mn-ea"/>
                <a:cs typeface="+mn-cs"/>
              </a:rPr>
              <a:t>: Government agencies increasingly ignore operational facts and financial health, focusing instead on manufactured PR enforcement actions designed to display strength to the public, regardless of the destruction caused. </a:t>
            </a:r>
          </a:p>
          <a:p>
            <a:r>
              <a:rPr lang="en-US" sz="1200" kern="1200" dirty="0">
                <a:solidFill>
                  <a:schemeClr val="tx1"/>
                </a:solidFill>
                <a:effectLst/>
                <a:latin typeface="+mn-lt"/>
                <a:ea typeface="+mn-ea"/>
                <a:cs typeface="+mn-cs"/>
              </a:rPr>
              <a:t>The broad financial and regulatory system has decoupled from fundamental truth. But mathematical reality cannot be suppressed indefinitely. When manufactured illusions inevitably collapse under their own weight, only balance-sheet reality and hard assets remain.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8</a:t>
            </a:fld>
            <a:endParaRPr lang="en-US"/>
          </a:p>
        </p:txBody>
      </p:sp>
    </p:spTree>
    <p:extLst>
      <p:ext uri="{BB962C8B-B14F-4D97-AF65-F5344CB8AC3E}">
        <p14:creationId xmlns:p14="http://schemas.microsoft.com/office/powerpoint/2010/main" val="2875734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illustrate how "optics-first" government enforcement functions in practice, let's examine a concrete case study: the regulatory shutdown of Euro Pacific Bank. </a:t>
            </a:r>
          </a:p>
          <a:p>
            <a:r>
              <a:rPr lang="en-US" sz="1200" kern="1200" dirty="0">
                <a:solidFill>
                  <a:schemeClr val="tx1"/>
                </a:solidFill>
                <a:effectLst/>
                <a:latin typeface="+mn-lt"/>
                <a:ea typeface="+mn-ea"/>
                <a:cs typeface="+mn-cs"/>
              </a:rPr>
              <a:t>On the left, we see </a:t>
            </a:r>
            <a:r>
              <a:rPr lang="en-US" sz="1200" b="1" kern="1200" dirty="0">
                <a:solidFill>
                  <a:schemeClr val="tx1"/>
                </a:solidFill>
                <a:effectLst/>
                <a:latin typeface="+mn-lt"/>
                <a:ea typeface="+mn-ea"/>
                <a:cs typeface="+mn-cs"/>
              </a:rPr>
              <a:t>The Media Fiction (Optics)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In 2020, Euro Pacific Bank was targeted by coordinated media reports, including </a:t>
            </a:r>
            <a:r>
              <a:rPr lang="en-US" sz="1200" i="1" kern="1200" dirty="0">
                <a:solidFill>
                  <a:schemeClr val="tx1"/>
                </a:solidFill>
                <a:effectLst/>
                <a:latin typeface="+mn-lt"/>
                <a:ea typeface="+mn-ea"/>
                <a:cs typeface="+mn-cs"/>
              </a:rPr>
              <a:t>60 Minutes Australia</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The New York Times</a:t>
            </a:r>
            <a:r>
              <a:rPr lang="en-US" sz="1200" kern="1200" dirty="0">
                <a:solidFill>
                  <a:schemeClr val="tx1"/>
                </a:solidFill>
                <a:effectLst/>
                <a:latin typeface="+mn-lt"/>
                <a:ea typeface="+mn-ea"/>
                <a:cs typeface="+mn-cs"/>
              </a:rPr>
              <a:t>, alongside the IRS and J5 taskforce. Public allegations claimed the bank was facilitating tax evasion, money laundering, and organized crime. Puerto Rican regulator OSF staged a high-profile press conference announcing the bank’s immediate shutdown, framing it as proof that Puerto Rico was "getting tough on financial crime." </a:t>
            </a:r>
          </a:p>
          <a:p>
            <a:r>
              <a:rPr lang="en-US" sz="1200" kern="1200" dirty="0">
                <a:solidFill>
                  <a:schemeClr val="tx1"/>
                </a:solidFill>
                <a:effectLst/>
                <a:latin typeface="+mn-lt"/>
                <a:ea typeface="+mn-ea"/>
                <a:cs typeface="+mn-cs"/>
              </a:rPr>
              <a:t>On the right, we see </a:t>
            </a:r>
            <a:r>
              <a:rPr lang="en-US" sz="1200" b="1" kern="1200" dirty="0">
                <a:solidFill>
                  <a:schemeClr val="tx1"/>
                </a:solidFill>
                <a:effectLst/>
                <a:latin typeface="+mn-lt"/>
                <a:ea typeface="+mn-ea"/>
                <a:cs typeface="+mn-cs"/>
              </a:rPr>
              <a:t>The Balance Sheet Fact (Reality)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Euro Pacific was a </a:t>
            </a:r>
            <a:r>
              <a:rPr lang="en-US" sz="1200" b="1" kern="1200" dirty="0">
                <a:solidFill>
                  <a:schemeClr val="tx1"/>
                </a:solidFill>
                <a:effectLst/>
                <a:latin typeface="+mn-lt"/>
                <a:ea typeface="+mn-ea"/>
                <a:cs typeface="+mn-cs"/>
              </a:rPr>
              <a:t>100% reserve bank</a:t>
            </a:r>
            <a:r>
              <a:rPr lang="en-US" sz="1200" kern="1200" dirty="0">
                <a:solidFill>
                  <a:schemeClr val="tx1"/>
                </a:solidFill>
                <a:effectLst/>
                <a:latin typeface="+mn-lt"/>
                <a:ea typeface="+mn-ea"/>
                <a:cs typeface="+mn-cs"/>
              </a:rPr>
              <a:t>. It issued zero loans and held 100% of customer deposits in cash or safe liquid instruments. No customer funds were ever at risk. The bank's owner was personally injecting $250,000 to $300,000 per month of private capital to maintain regulatory capital cushions despite media-driven revenue hits. </a:t>
            </a:r>
          </a:p>
          <a:p>
            <a:r>
              <a:rPr lang="en-US" sz="1200" kern="1200" dirty="0">
                <a:solidFill>
                  <a:schemeClr val="tx1"/>
                </a:solidFill>
                <a:effectLst/>
                <a:latin typeface="+mn-lt"/>
                <a:ea typeface="+mn-ea"/>
                <a:cs typeface="+mn-cs"/>
              </a:rPr>
              <a:t>During the shutdown, regulators privately acknowledged the bank was safe to operate while seeking a buyer. Ultimately, no criminal charges, indictments, or evidence of money laundering were ever produced. The shutdown was executed for optics.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9</a:t>
            </a:fld>
            <a:endParaRPr lang="en-US"/>
          </a:p>
        </p:txBody>
      </p:sp>
    </p:spTree>
    <p:extLst>
      <p:ext uri="{BB962C8B-B14F-4D97-AF65-F5344CB8AC3E}">
        <p14:creationId xmlns:p14="http://schemas.microsoft.com/office/powerpoint/2010/main" val="1127787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Following the shutdown, Freedom of Information Act (FOIA) requests and subsequent legal action uncovered internal IRS emails that revealed how the enforcement action was handled internally: </a:t>
            </a:r>
          </a:p>
          <a:p>
            <a:pPr marL="228600" lvl="0" indent="-228600">
              <a:buFont typeface="+mj-lt"/>
              <a:buAutoNum type="arabicPeriod"/>
            </a:pPr>
            <a:r>
              <a:rPr lang="en-US" sz="1200" b="1" kern="1200" dirty="0">
                <a:solidFill>
                  <a:schemeClr val="tx1"/>
                </a:solidFill>
                <a:effectLst/>
                <a:latin typeface="+mn-lt"/>
                <a:ea typeface="+mn-ea"/>
                <a:cs typeface="+mn-cs"/>
              </a:rPr>
              <a:t>The Pre-Determined Hit</a:t>
            </a:r>
            <a:r>
              <a:rPr lang="en-US" sz="1200" kern="1200" dirty="0">
                <a:solidFill>
                  <a:schemeClr val="tx1"/>
                </a:solidFill>
                <a:effectLst/>
                <a:latin typeface="+mn-lt"/>
                <a:ea typeface="+mn-ea"/>
                <a:cs typeface="+mn-cs"/>
              </a:rPr>
              <a:t>: A Memorandum of Understanding (MOU) was signed between the IRS and OSF long before the shutdown took place. This directly contradicted public press conference claims that local Puerto Rican regulators acted independently based on standalone audit findings. </a:t>
            </a:r>
          </a:p>
          <a:p>
            <a:pPr marL="228600" lvl="0" indent="-228600">
              <a:buFont typeface="+mj-lt"/>
              <a:buAutoNum type="arabicPeriod"/>
            </a:pPr>
            <a:r>
              <a:rPr lang="en-US" sz="1200" b="1" kern="1200" dirty="0">
                <a:solidFill>
                  <a:schemeClr val="tx1"/>
                </a:solidFill>
                <a:effectLst/>
                <a:latin typeface="+mn-lt"/>
                <a:ea typeface="+mn-ea"/>
                <a:cs typeface="+mn-cs"/>
              </a:rPr>
              <a:t>The Ignorant Chief</a:t>
            </a:r>
            <a:r>
              <a:rPr lang="en-US" sz="1200" kern="1200" dirty="0">
                <a:solidFill>
                  <a:schemeClr val="tx1"/>
                </a:solidFill>
                <a:effectLst/>
                <a:latin typeface="+mn-lt"/>
                <a:ea typeface="+mn-ea"/>
                <a:cs typeface="+mn-cs"/>
              </a:rPr>
              <a:t>: Hours before stepping onto the stage for the global press conference, former IRS Criminal Investigation Chief Jim Lee emailed IRS PR Head Justin Cole asking basic questions about what the bank had actually done wrong. Chief Lee genuinely assumed the bank was guilty of massive tax crimes and requested specific examples to share with reporters. </a:t>
            </a:r>
          </a:p>
          <a:p>
            <a:pPr marL="228600" lvl="0" indent="-228600">
              <a:buFont typeface="+mj-lt"/>
              <a:buAutoNum type="arabicPeriod"/>
            </a:pPr>
            <a:r>
              <a:rPr lang="en-US" sz="1200" b="1" kern="1200" dirty="0">
                <a:solidFill>
                  <a:schemeClr val="tx1"/>
                </a:solidFill>
                <a:effectLst/>
                <a:latin typeface="+mn-lt"/>
                <a:ea typeface="+mn-ea"/>
                <a:cs typeface="+mn-cs"/>
              </a:rPr>
              <a:t>The Unanswerable Questions</a:t>
            </a:r>
            <a:r>
              <a:rPr lang="en-US" sz="1200" kern="1200" dirty="0">
                <a:solidFill>
                  <a:schemeClr val="tx1"/>
                </a:solidFill>
                <a:effectLst/>
                <a:latin typeface="+mn-lt"/>
                <a:ea typeface="+mn-ea"/>
                <a:cs typeface="+mn-cs"/>
              </a:rPr>
              <a:t>: IRS agent Gary Shapley was tasked with answering Lee's questions. When Lee asked, "Give me two brief examples of what the bank did for its clients to evade taxes," the line was left completely </a:t>
            </a:r>
            <a:r>
              <a:rPr lang="en-US" sz="1200" b="1" kern="1200" dirty="0">
                <a:solidFill>
                  <a:schemeClr val="tx1"/>
                </a:solidFill>
                <a:effectLst/>
                <a:latin typeface="+mn-lt"/>
                <a:ea typeface="+mn-ea"/>
                <a:cs typeface="+mn-cs"/>
              </a:rPr>
              <a:t>BLANK</a:t>
            </a:r>
            <a:r>
              <a:rPr lang="en-US" sz="1200" kern="1200" dirty="0">
                <a:solidFill>
                  <a:schemeClr val="tx1"/>
                </a:solidFill>
                <a:effectLst/>
                <a:latin typeface="+mn-lt"/>
                <a:ea typeface="+mn-ea"/>
                <a:cs typeface="+mn-cs"/>
              </a:rPr>
              <a:t>—because no examples existed. When asked what was happening to the owner of the bank, IRS officials refused to answer in writing, stating it was "better discussed verbally," because the truthful answer was "nothing"—no crime had occurred.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10</a:t>
            </a:fld>
            <a:endParaRPr lang="en-US"/>
          </a:p>
        </p:txBody>
      </p:sp>
    </p:spTree>
    <p:extLst>
      <p:ext uri="{BB962C8B-B14F-4D97-AF65-F5344CB8AC3E}">
        <p14:creationId xmlns:p14="http://schemas.microsoft.com/office/powerpoint/2010/main" val="1975357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real tragedy of optics-first regulatory actions is the severe financial damage inflicted on the very depositors the government claims to protect. Let's compare the free-market self-liquidation process against government receivership: </a:t>
            </a:r>
          </a:p>
          <a:p>
            <a:pPr marL="228600" lvl="0" indent="-228600">
              <a:buFont typeface="+mj-lt"/>
              <a:buAutoNum type="arabicPeriod"/>
            </a:pPr>
            <a:r>
              <a:rPr lang="en-US" sz="1200" b="1" kern="1200" dirty="0">
                <a:solidFill>
                  <a:schemeClr val="tx1"/>
                </a:solidFill>
                <a:effectLst/>
                <a:latin typeface="+mn-lt"/>
                <a:ea typeface="+mn-ea"/>
                <a:cs typeface="+mn-cs"/>
              </a:rPr>
              <a:t>Self-Liquidation (Free Market)</a:t>
            </a:r>
            <a:r>
              <a:rPr lang="en-US" sz="1200" kern="1200" dirty="0">
                <a:solidFill>
                  <a:schemeClr val="tx1"/>
                </a:solidFill>
                <a:effectLst/>
                <a:latin typeface="+mn-lt"/>
                <a:ea typeface="+mn-ea"/>
                <a:cs typeface="+mn-cs"/>
              </a:rPr>
              <a:t>: Following initial negative press in late 2020, Euro Pacific Bank processed account closures for approximately </a:t>
            </a:r>
            <a:r>
              <a:rPr lang="en-US" sz="1200" b="1" kern="1200" dirty="0">
                <a:solidFill>
                  <a:schemeClr val="tx1"/>
                </a:solidFill>
                <a:effectLst/>
                <a:latin typeface="+mn-lt"/>
                <a:ea typeface="+mn-ea"/>
                <a:cs typeface="+mn-cs"/>
              </a:rPr>
              <a:t>4,500 customers</a:t>
            </a:r>
            <a:r>
              <a:rPr lang="en-US" sz="1200" kern="1200" dirty="0">
                <a:solidFill>
                  <a:schemeClr val="tx1"/>
                </a:solidFill>
                <a:effectLst/>
                <a:latin typeface="+mn-lt"/>
                <a:ea typeface="+mn-ea"/>
                <a:cs typeface="+mn-cs"/>
              </a:rPr>
              <a:t>, returning 100% of their capital seamlessly in under two years. Cost to taxpayers or bank capital: </a:t>
            </a:r>
            <a:r>
              <a:rPr lang="en-US" sz="1200" b="1" kern="1200" dirty="0">
                <a:solidFill>
                  <a:schemeClr val="tx1"/>
                </a:solidFill>
                <a:effectLst/>
                <a:latin typeface="+mn-lt"/>
                <a:ea typeface="+mn-ea"/>
                <a:cs typeface="+mn-cs"/>
              </a:rPr>
              <a:t>$0</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Government Receiver (The State)</a:t>
            </a:r>
            <a:r>
              <a:rPr lang="en-US" sz="1200" kern="1200" dirty="0">
                <a:solidFill>
                  <a:schemeClr val="tx1"/>
                </a:solidFill>
                <a:effectLst/>
                <a:latin typeface="+mn-lt"/>
                <a:ea typeface="+mn-ea"/>
                <a:cs typeface="+mn-cs"/>
              </a:rPr>
              <a:t>: In the 4 years and 3 months since the government appointed a receiver, the receiver has repaid only </a:t>
            </a:r>
            <a:r>
              <a:rPr lang="en-US" sz="1200" b="1" kern="1200" dirty="0">
                <a:solidFill>
                  <a:schemeClr val="tx1"/>
                </a:solidFill>
                <a:effectLst/>
                <a:latin typeface="+mn-lt"/>
                <a:ea typeface="+mn-ea"/>
                <a:cs typeface="+mn-cs"/>
              </a:rPr>
              <a:t>78 out of ~3,500 remaining customers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Capital Destruction</a:t>
            </a:r>
            <a:r>
              <a:rPr lang="en-US" sz="1200" kern="1200" dirty="0">
                <a:solidFill>
                  <a:schemeClr val="tx1"/>
                </a:solidFill>
                <a:effectLst/>
                <a:latin typeface="+mn-lt"/>
                <a:ea typeface="+mn-ea"/>
                <a:cs typeface="+mn-cs"/>
              </a:rPr>
              <a:t>: The receiver has burned through </a:t>
            </a:r>
            <a:r>
              <a:rPr lang="en-US" sz="1200" b="1" kern="1200" dirty="0">
                <a:solidFill>
                  <a:schemeClr val="tx1"/>
                </a:solidFill>
                <a:effectLst/>
                <a:latin typeface="+mn-lt"/>
                <a:ea typeface="+mn-ea"/>
                <a:cs typeface="+mn-cs"/>
              </a:rPr>
              <a:t>$2.2 million</a:t>
            </a:r>
            <a:r>
              <a:rPr lang="en-US" sz="1200" kern="1200" dirty="0">
                <a:solidFill>
                  <a:schemeClr val="tx1"/>
                </a:solidFill>
                <a:effectLst/>
                <a:latin typeface="+mn-lt"/>
                <a:ea typeface="+mn-ea"/>
                <a:cs typeface="+mn-cs"/>
              </a:rPr>
              <a:t> in bank capital, paying over </a:t>
            </a:r>
            <a:r>
              <a:rPr lang="en-US" sz="1200" b="1" kern="1200" dirty="0">
                <a:solidFill>
                  <a:schemeClr val="tx1"/>
                </a:solidFill>
                <a:effectLst/>
                <a:latin typeface="+mn-lt"/>
                <a:ea typeface="+mn-ea"/>
                <a:cs typeface="+mn-cs"/>
              </a:rPr>
              <a:t>$850,000</a:t>
            </a:r>
            <a:r>
              <a:rPr lang="en-US" sz="1200" kern="1200" dirty="0">
                <a:solidFill>
                  <a:schemeClr val="tx1"/>
                </a:solidFill>
                <a:effectLst/>
                <a:latin typeface="+mn-lt"/>
                <a:ea typeface="+mn-ea"/>
                <a:cs typeface="+mn-cs"/>
              </a:rPr>
              <a:t> directly to himself in fees. </a:t>
            </a:r>
          </a:p>
          <a:p>
            <a:r>
              <a:rPr lang="en-US" sz="1200" kern="1200" dirty="0">
                <a:solidFill>
                  <a:schemeClr val="tx1"/>
                </a:solidFill>
                <a:effectLst/>
                <a:latin typeface="+mn-lt"/>
                <a:ea typeface="+mn-ea"/>
                <a:cs typeface="+mn-cs"/>
              </a:rPr>
              <a:t>That breaks down to </a:t>
            </a:r>
            <a:r>
              <a:rPr lang="en-US" sz="1200" b="1" kern="1200" dirty="0">
                <a:solidFill>
                  <a:schemeClr val="tx1"/>
                </a:solidFill>
                <a:effectLst/>
                <a:latin typeface="+mn-lt"/>
                <a:ea typeface="+mn-ea"/>
                <a:cs typeface="+mn-cs"/>
              </a:rPr>
              <a:t>$28,000 in capital burned for every single customer claim paid</a:t>
            </a:r>
            <a:r>
              <a:rPr lang="en-US" sz="1200" kern="1200" dirty="0">
                <a:solidFill>
                  <a:schemeClr val="tx1"/>
                </a:solidFill>
                <a:effectLst/>
                <a:latin typeface="+mn-lt"/>
                <a:ea typeface="+mn-ea"/>
                <a:cs typeface="+mn-cs"/>
              </a:rPr>
              <a:t>. At the receiver's current pace of 2 claims per week, fully resolving the remaining accounts will take another 5.5 years and burn an additional $2.2 million in receiver fees. Government "protection" destroyed millions in depositor value to stage a PR press conference. </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11</a:t>
            </a:fld>
            <a:endParaRPr lang="en-US"/>
          </a:p>
        </p:txBody>
      </p:sp>
    </p:spTree>
    <p:extLst>
      <p:ext uri="{BB962C8B-B14F-4D97-AF65-F5344CB8AC3E}">
        <p14:creationId xmlns:p14="http://schemas.microsoft.com/office/powerpoint/2010/main" val="2230575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 me pull these threads together—soaring bond yields, inflation expectations, and institutional decay—to show where global capital is forced to flow. </a:t>
            </a:r>
          </a:p>
          <a:p>
            <a:r>
              <a:rPr lang="en-US" sz="1200" b="1" kern="1200" dirty="0">
                <a:solidFill>
                  <a:schemeClr val="tx1"/>
                </a:solidFill>
                <a:effectLst/>
                <a:latin typeface="+mn-lt"/>
                <a:ea typeface="+mn-ea"/>
                <a:cs typeface="+mn-cs"/>
              </a:rPr>
              <a:t>Step 1: Yields Spike (The Catalyst)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US Treasury yields break above 5.0% to 5.5%. Traditional market commentators assume rising yields are bearish for precious metals because high yields increase the opportunity cost of holding non-yielding gold. This is short-sighted. </a:t>
            </a:r>
          </a:p>
          <a:p>
            <a:r>
              <a:rPr lang="en-US" sz="1200" b="1" kern="1200" dirty="0">
                <a:solidFill>
                  <a:schemeClr val="tx1"/>
                </a:solidFill>
                <a:effectLst/>
                <a:latin typeface="+mn-lt"/>
                <a:ea typeface="+mn-ea"/>
                <a:cs typeface="+mn-cs"/>
              </a:rPr>
              <a:t>Step 2: Sovereign Realization (The Shift)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Foreign central banks and sovereign wealth funds realize that surging yields guarantee massive budget deficits and mandatory monetary expansion (money printing) to service sovereign debt. Fiat debt assets like US Treasuries are sitting directly in the crosshairs of long-term inflation—they are no longer a risk-free safe haven. </a:t>
            </a:r>
          </a:p>
          <a:p>
            <a:r>
              <a:rPr lang="en-US" sz="1200" b="1" kern="1200" dirty="0">
                <a:solidFill>
                  <a:schemeClr val="tx1"/>
                </a:solidFill>
                <a:effectLst/>
                <a:latin typeface="+mn-lt"/>
                <a:ea typeface="+mn-ea"/>
                <a:cs typeface="+mn-cs"/>
              </a:rPr>
              <a:t>Step 3: Capital Rotation (The Output)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avoid absorbing compounding balance sheet losses on Treasury reserves, central banks must trim fiat-denominated debt. Their primary alternative for liquid, sovereign-scale, zero-counterparty-risk reserves is </a:t>
            </a:r>
            <a:r>
              <a:rPr lang="en-US" sz="1200" b="1" kern="1200" dirty="0">
                <a:solidFill>
                  <a:schemeClr val="tx1"/>
                </a:solidFill>
                <a:effectLst/>
                <a:latin typeface="+mn-lt"/>
                <a:ea typeface="+mn-ea"/>
                <a:cs typeface="+mn-cs"/>
              </a:rPr>
              <a:t>Physical Gold</a:t>
            </a:r>
            <a:r>
              <a:rPr lang="en-US" sz="1200" kern="1200" dirty="0">
                <a:solidFill>
                  <a:schemeClr val="tx1"/>
                </a:solidFill>
                <a:effectLst/>
                <a:latin typeface="+mn-lt"/>
                <a:ea typeface="+mn-ea"/>
                <a:cs typeface="+mn-cs"/>
              </a:rPr>
              <a:t>. Gold is not merely a commodity; it is how central banks hedge a collapsing bond market.</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12</a:t>
            </a:fld>
            <a:endParaRPr lang="en-US"/>
          </a:p>
        </p:txBody>
      </p:sp>
    </p:spTree>
    <p:extLst>
      <p:ext uri="{BB962C8B-B14F-4D97-AF65-F5344CB8AC3E}">
        <p14:creationId xmlns:p14="http://schemas.microsoft.com/office/powerpoint/2010/main" val="1472793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let’s summarize the mathematical realities that underpin our global macro landscape:</a:t>
            </a:r>
          </a:p>
          <a:p>
            <a:pPr marL="228600" lvl="0" indent="-228600">
              <a:buFont typeface="+mj-lt"/>
              <a:buAutoNum type="arabicPeriod"/>
            </a:pPr>
            <a:r>
              <a:rPr lang="en-US" sz="1200" b="1" kern="1200" dirty="0">
                <a:solidFill>
                  <a:schemeClr val="tx1"/>
                </a:solidFill>
                <a:effectLst/>
                <a:latin typeface="+mn-lt"/>
                <a:ea typeface="+mn-ea"/>
                <a:cs typeface="+mn-cs"/>
              </a:rPr>
              <a:t>The Market Reality</a:t>
            </a:r>
            <a:r>
              <a:rPr lang="en-US" sz="1200" kern="1200" dirty="0">
                <a:solidFill>
                  <a:schemeClr val="tx1"/>
                </a:solidFill>
                <a:effectLst/>
                <a:latin typeface="+mn-lt"/>
                <a:ea typeface="+mn-ea"/>
                <a:cs typeface="+mn-cs"/>
              </a:rPr>
              <a:t>: Top-heavy index breadth mirrors the 1973 and 2000 bubble peaks. Broader economic realities—8% mortgage rates, 5.5% Treasury yields, and eroding consumer sentiment—cannot be obscured by a dozen mega-cap AI stocks forever.</a:t>
            </a:r>
          </a:p>
          <a:p>
            <a:pPr marL="228600" lvl="0" indent="-228600">
              <a:buFont typeface="+mj-lt"/>
              <a:buAutoNum type="arabicPeriod"/>
            </a:pPr>
            <a:r>
              <a:rPr lang="en-US" sz="1200" b="1" kern="1200" dirty="0">
                <a:solidFill>
                  <a:schemeClr val="tx1"/>
                </a:solidFill>
                <a:effectLst/>
                <a:latin typeface="+mn-lt"/>
                <a:ea typeface="+mn-ea"/>
                <a:cs typeface="+mn-cs"/>
              </a:rPr>
              <a:t>The State Reality</a:t>
            </a:r>
            <a:r>
              <a:rPr lang="en-US" sz="1200" kern="1200" dirty="0">
                <a:solidFill>
                  <a:schemeClr val="tx1"/>
                </a:solidFill>
                <a:effectLst/>
                <a:latin typeface="+mn-lt"/>
                <a:ea typeface="+mn-ea"/>
                <a:cs typeface="+mn-cs"/>
              </a:rPr>
              <a:t>: Modern institutions regularly prioritize optics over systemic health, using enforcement power to manufacture PR wins while burning real capital. </a:t>
            </a:r>
          </a:p>
          <a:p>
            <a:pPr marL="228600" lvl="0" indent="-228600">
              <a:buFont typeface="+mj-lt"/>
              <a:buAutoNum type="arabicPeriod"/>
            </a:pPr>
            <a:r>
              <a:rPr lang="en-US" sz="1200" b="1" kern="1200" dirty="0">
                <a:solidFill>
                  <a:schemeClr val="tx1"/>
                </a:solidFill>
                <a:effectLst/>
                <a:latin typeface="+mn-lt"/>
                <a:ea typeface="+mn-ea"/>
                <a:cs typeface="+mn-cs"/>
              </a:rPr>
              <a:t>The Investor Escape</a:t>
            </a:r>
            <a:r>
              <a:rPr lang="en-US" sz="1200" kern="1200" dirty="0">
                <a:solidFill>
                  <a:schemeClr val="tx1"/>
                </a:solidFill>
                <a:effectLst/>
                <a:latin typeface="+mn-lt"/>
                <a:ea typeface="+mn-ea"/>
                <a:cs typeface="+mn-cs"/>
              </a:rPr>
              <a:t>: Inflation erodes fixed-income debt. As the illusion of risk-free Treasuries and invincible headline indices cracks, global sovereign capital will continue rotating into tangible assets with zero counterparty risk.</a:t>
            </a:r>
          </a:p>
          <a:p>
            <a:r>
              <a:rPr lang="en-US" sz="1200" kern="1200" dirty="0">
                <a:solidFill>
                  <a:schemeClr val="tx1"/>
                </a:solidFill>
                <a:effectLst/>
                <a:latin typeface="+mn-lt"/>
                <a:ea typeface="+mn-ea"/>
                <a:cs typeface="+mn-cs"/>
              </a:rPr>
              <a:t>Gold is the ultimate mathematical reality in an optics-first economy. Thank you very much. I will now open the floor to any questions.</a:t>
            </a:r>
          </a:p>
          <a:p>
            <a:endParaRPr lang="en-US" dirty="0"/>
          </a:p>
          <a:p>
            <a:endParaRPr lang="en-US" dirty="0"/>
          </a:p>
          <a:p>
            <a:endParaRPr lang="en-US" dirty="0"/>
          </a:p>
          <a:p>
            <a:endParaRPr lang="en-US" dirty="0"/>
          </a:p>
          <a:p>
            <a:endParaRPr lang="en-US" dirty="0"/>
          </a:p>
          <a:p>
            <a:endParaRPr lang="en-US" dirty="0"/>
          </a:p>
          <a:p>
            <a:r>
              <a:rPr lang="en-US" b="1" dirty="0"/>
              <a:t>86% of Stocks Are in a Bear Market... The S&amp;P Hides It</a:t>
            </a:r>
          </a:p>
          <a:p>
            <a:r>
              <a:rPr lang="en-US" dirty="0"/>
              <a:t>https://www.youtube.com/watch?v=GEGgSywAHlk</a:t>
            </a:r>
          </a:p>
          <a:p>
            <a:endParaRPr lang="en-US" dirty="0"/>
          </a:p>
        </p:txBody>
      </p:sp>
      <p:sp>
        <p:nvSpPr>
          <p:cNvPr id="4" name="Slide Number Placeholder 3"/>
          <p:cNvSpPr>
            <a:spLocks noGrp="1"/>
          </p:cNvSpPr>
          <p:nvPr>
            <p:ph type="sldNum" sz="quarter" idx="5"/>
          </p:nvPr>
        </p:nvSpPr>
        <p:spPr/>
        <p:txBody>
          <a:bodyPr/>
          <a:lstStyle/>
          <a:p>
            <a:fld id="{3302D469-3303-4686-862C-4CD5BC760EC2}" type="slidenum">
              <a:rPr lang="en-US" smtClean="0"/>
              <a:t>13</a:t>
            </a:fld>
            <a:endParaRPr lang="en-US"/>
          </a:p>
        </p:txBody>
      </p:sp>
    </p:spTree>
    <p:extLst>
      <p:ext uri="{BB962C8B-B14F-4D97-AF65-F5344CB8AC3E}">
        <p14:creationId xmlns:p14="http://schemas.microsoft.com/office/powerpoint/2010/main" val="630427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DB63A5-C283-341F-9A55-C5D72B4D422F}"/>
              </a:ext>
            </a:extLst>
          </p:cNvPr>
          <p:cNvSpPr>
            <a:spLocks noGrp="1"/>
          </p:cNvSpPr>
          <p:nvPr>
            <p:ph type="dt" sz="half" idx="10"/>
          </p:nvPr>
        </p:nvSpPr>
        <p:spPr/>
        <p:txBody>
          <a:bodyPr/>
          <a:lstStyle/>
          <a:p>
            <a:fld id="{5AF8745F-9C6D-4B68-9643-5D6742359A27}" type="datetimeFigureOut">
              <a:rPr lang="en-US" smtClean="0"/>
              <a:t>10/21/2026</a:t>
            </a:fld>
            <a:endParaRPr lang="en-US"/>
          </a:p>
        </p:txBody>
      </p:sp>
      <p:sp>
        <p:nvSpPr>
          <p:cNvPr id="3" name="Footer Placeholder 2">
            <a:extLst>
              <a:ext uri="{FF2B5EF4-FFF2-40B4-BE49-F238E27FC236}">
                <a16:creationId xmlns:a16="http://schemas.microsoft.com/office/drawing/2014/main" id="{62704ADA-846F-3E5A-E6B9-5269FBD500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00B410-A1ED-189F-DA11-C65099F88B8F}"/>
              </a:ext>
            </a:extLst>
          </p:cNvPr>
          <p:cNvSpPr>
            <a:spLocks noGrp="1"/>
          </p:cNvSpPr>
          <p:nvPr>
            <p:ph type="sldNum" sz="quarter" idx="12"/>
          </p:nvPr>
        </p:nvSpPr>
        <p:spPr/>
        <p:txBody>
          <a:bodyPr/>
          <a:lstStyle/>
          <a:p>
            <a:fld id="{66A625C1-81E3-4EB7-879A-1202B84563EB}" type="slidenum">
              <a:rPr lang="en-US" smtClean="0"/>
              <a:t>‹#›</a:t>
            </a:fld>
            <a:endParaRPr lang="en-US"/>
          </a:p>
        </p:txBody>
      </p:sp>
    </p:spTree>
    <p:extLst>
      <p:ext uri="{BB962C8B-B14F-4D97-AF65-F5344CB8AC3E}">
        <p14:creationId xmlns:p14="http://schemas.microsoft.com/office/powerpoint/2010/main" val="41094773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4640D9-20EB-63A1-7C0F-C68B44BA93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59EC59-77CF-7334-C3E2-F7C498F158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237AC6-0BCD-F12A-7B44-0F1D00828C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F8745F-9C6D-4B68-9643-5D6742359A27}" type="datetimeFigureOut">
              <a:rPr lang="en-US" smtClean="0"/>
              <a:t>10/21/2026</a:t>
            </a:fld>
            <a:endParaRPr lang="en-US"/>
          </a:p>
        </p:txBody>
      </p:sp>
      <p:sp>
        <p:nvSpPr>
          <p:cNvPr id="5" name="Footer Placeholder 4">
            <a:extLst>
              <a:ext uri="{FF2B5EF4-FFF2-40B4-BE49-F238E27FC236}">
                <a16:creationId xmlns:a16="http://schemas.microsoft.com/office/drawing/2014/main" id="{5BEAE511-F4D4-2FA3-B4D0-421543A49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A2EB63-2C14-4479-68EE-96463C630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A625C1-81E3-4EB7-879A-1202B84563EB}" type="slidenum">
              <a:rPr lang="en-US" smtClean="0"/>
              <a:t>‹#›</a:t>
            </a:fld>
            <a:endParaRPr lang="en-US"/>
          </a:p>
        </p:txBody>
      </p:sp>
    </p:spTree>
    <p:extLst>
      <p:ext uri="{BB962C8B-B14F-4D97-AF65-F5344CB8AC3E}">
        <p14:creationId xmlns:p14="http://schemas.microsoft.com/office/powerpoint/2010/main" val="365455438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B6BD08-E2DB-BB81-9040-92F893D907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FBDE7-A411-8142-4166-F8E05B1364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67D591-2E61-5C28-BDFE-9C7DD7C6A0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E740F6-75A6-6505-D7E4-58E30A8271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E7210F-4934-8EC7-D89E-4E9C8942CD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6F500C-A37A-B99E-A5E2-B5FC12E360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25EED3-99B0-0685-C96E-9720BE160F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94D572-271E-0A90-7849-37ED655071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2E9ABB-703A-4BC4-7BC6-7594661C3F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8FA403-677E-2170-AFC3-867D52CC01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DAA787-D2DC-8437-3111-8EFA998D3E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3AAB12-F395-8D47-0D8D-29BCD11106F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A61773-3B36-1F2E-2FA7-C226137109C1}"/>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870155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2693</Words>
  <Application>Microsoft Office PowerPoint</Application>
  <PresentationFormat>寬螢幕</PresentationFormat>
  <Paragraphs>92</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2026-09-27T17:28:22Z</dcterms:created>
  <dcterms:modified xsi:type="dcterms:W3CDTF">2026-10-21T02:50:10Z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2026-09-29T03:00:50Z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c0008284-de6d-42c3-bacb-0c9af4f9ce9c</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