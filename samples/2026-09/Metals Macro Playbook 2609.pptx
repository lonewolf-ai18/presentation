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30A4A8-2975-443F-9D95-FA2989147D22}" v="15" dt="2026-09-21T14:27:39.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93447"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1T14:27:51.179" v="96" actId="166"/>
      <pc:docMkLst>
        <pc:docMk/>
      </pc:docMkLst>
      <pc:sldChg chg="addSp delSp modSp mod modNotes modNotesTx">
        <pc:chgData name="Lai, Wilson" userId="2840974a-0d84-4886-90a9-9a3ed79f3a48" providerId="ADAL" clId="{9F23B798-9E84-4552-BA63-E776E805C424}" dt="2026-09-21T14:27:51.179" v="96" actId="166"/>
        <pc:sldMkLst>
          <pc:docMk/>
          <pc:sldMk cId="0" sldId="257"/>
        </pc:sldMkLst>
        <pc:picChg chg="del mod">
          <ac:chgData name="Lai, Wilson" userId="2840974a-0d84-4886-90a9-9a3ed79f3a48" providerId="ADAL" clId="{9F23B798-9E84-4552-BA63-E776E805C424}" dt="2026-09-21T12:14:34.219" v="1" actId="21"/>
          <ac:picMkLst>
            <pc:docMk/>
            <pc:sldMk cId="0" sldId="257"/>
            <ac:picMk id="2" creationId="{00000000-0000-0000-0000-000000000000}"/>
          </ac:picMkLst>
        </pc:picChg>
        <pc:picChg chg="add ord">
          <ac:chgData name="Lai, Wilson" userId="2840974a-0d84-4886-90a9-9a3ed79f3a48" providerId="ADAL" clId="{9F23B798-9E84-4552-BA63-E776E805C424}" dt="2026-09-21T14:27:51.179" v="96" actId="166"/>
          <ac:picMkLst>
            <pc:docMk/>
            <pc:sldMk cId="0" sldId="257"/>
            <ac:picMk id="7" creationId="{EFF28B1D-4214-80E2-4B61-9A7959B97E22}"/>
          </ac:picMkLst>
        </pc:picChg>
      </pc:sldChg>
      <pc:sldChg chg="addSp delSp mod modNotes modNotesTx">
        <pc:chgData name="Lai, Wilson" userId="2840974a-0d84-4886-90a9-9a3ed79f3a48" providerId="ADAL" clId="{9F23B798-9E84-4552-BA63-E776E805C424}" dt="2026-09-21T14:27:35.983" v="94"/>
        <pc:sldMkLst>
          <pc:docMk/>
          <pc:sldMk cId="0" sldId="258"/>
        </pc:sldMkLst>
        <pc:picChg chg="del">
          <ac:chgData name="Lai, Wilson" userId="2840974a-0d84-4886-90a9-9a3ed79f3a48" providerId="ADAL" clId="{9F23B798-9E84-4552-BA63-E776E805C424}" dt="2026-09-21T12:14:50.417" v="3" actId="21"/>
          <ac:picMkLst>
            <pc:docMk/>
            <pc:sldMk cId="0" sldId="258"/>
            <ac:picMk id="2" creationId="{00000000-0000-0000-0000-000000000000}"/>
          </ac:picMkLst>
        </pc:picChg>
        <pc:picChg chg="add">
          <ac:chgData name="Lai, Wilson" userId="2840974a-0d84-4886-90a9-9a3ed79f3a48" providerId="ADAL" clId="{9F23B798-9E84-4552-BA63-E776E805C424}" dt="2026-09-21T12:15:01.506" v="4" actId="22"/>
          <ac:picMkLst>
            <pc:docMk/>
            <pc:sldMk cId="0" sldId="258"/>
            <ac:picMk id="4" creationId="{6F15B9F2-2B52-EE42-7286-4CC29F88DC41}"/>
          </ac:picMkLst>
        </pc:picChg>
      </pc:sldChg>
      <pc:sldChg chg="addSp delSp mod modNotes modNotesTx">
        <pc:chgData name="Lai, Wilson" userId="2840974a-0d84-4886-90a9-9a3ed79f3a48" providerId="ADAL" clId="{9F23B798-9E84-4552-BA63-E776E805C424}" dt="2026-09-21T14:27:39.978" v="95"/>
        <pc:sldMkLst>
          <pc:docMk/>
          <pc:sldMk cId="0" sldId="259"/>
        </pc:sldMkLst>
        <pc:picChg chg="del">
          <ac:chgData name="Lai, Wilson" userId="2840974a-0d84-4886-90a9-9a3ed79f3a48" providerId="ADAL" clId="{9F23B798-9E84-4552-BA63-E776E805C424}" dt="2026-09-21T12:15:06.376" v="5" actId="21"/>
          <ac:picMkLst>
            <pc:docMk/>
            <pc:sldMk cId="0" sldId="259"/>
            <ac:picMk id="2" creationId="{00000000-0000-0000-0000-000000000000}"/>
          </ac:picMkLst>
        </pc:picChg>
        <pc:picChg chg="add">
          <ac:chgData name="Lai, Wilson" userId="2840974a-0d84-4886-90a9-9a3ed79f3a48" providerId="ADAL" clId="{9F23B798-9E84-4552-BA63-E776E805C424}" dt="2026-09-21T12:15:30.239" v="6" actId="22"/>
          <ac:picMkLst>
            <pc:docMk/>
            <pc:sldMk cId="0" sldId="259"/>
            <ac:picMk id="4" creationId="{0C84E394-09CF-13B5-2DEF-B568DAD7CE83}"/>
          </ac:picMkLst>
        </pc:picChg>
      </pc:sldChg>
      <pc:sldChg chg="addSp delSp mod modNotes modNotesTx">
        <pc:chgData name="Lai, Wilson" userId="2840974a-0d84-4886-90a9-9a3ed79f3a48" providerId="ADAL" clId="{9F23B798-9E84-4552-BA63-E776E805C424}" dt="2026-09-21T14:27:35.983" v="94"/>
        <pc:sldMkLst>
          <pc:docMk/>
          <pc:sldMk cId="0" sldId="260"/>
        </pc:sldMkLst>
        <pc:picChg chg="del">
          <ac:chgData name="Lai, Wilson" userId="2840974a-0d84-4886-90a9-9a3ed79f3a48" providerId="ADAL" clId="{9F23B798-9E84-4552-BA63-E776E805C424}" dt="2026-09-21T12:15:33.294" v="7" actId="21"/>
          <ac:picMkLst>
            <pc:docMk/>
            <pc:sldMk cId="0" sldId="260"/>
            <ac:picMk id="2" creationId="{00000000-0000-0000-0000-000000000000}"/>
          </ac:picMkLst>
        </pc:picChg>
        <pc:picChg chg="add">
          <ac:chgData name="Lai, Wilson" userId="2840974a-0d84-4886-90a9-9a3ed79f3a48" providerId="ADAL" clId="{9F23B798-9E84-4552-BA63-E776E805C424}" dt="2026-09-21T12:15:42.225" v="8" actId="22"/>
          <ac:picMkLst>
            <pc:docMk/>
            <pc:sldMk cId="0" sldId="260"/>
            <ac:picMk id="4" creationId="{928579FC-4942-B21D-1ABE-827C1B7686C2}"/>
          </ac:picMkLst>
        </pc:picChg>
      </pc:sldChg>
      <pc:sldChg chg="addSp delSp mod modNotes modNotesTx">
        <pc:chgData name="Lai, Wilson" userId="2840974a-0d84-4886-90a9-9a3ed79f3a48" providerId="ADAL" clId="{9F23B798-9E84-4552-BA63-E776E805C424}" dt="2026-09-21T14:27:35.983" v="94"/>
        <pc:sldMkLst>
          <pc:docMk/>
          <pc:sldMk cId="0" sldId="261"/>
        </pc:sldMkLst>
        <pc:picChg chg="del">
          <ac:chgData name="Lai, Wilson" userId="2840974a-0d84-4886-90a9-9a3ed79f3a48" providerId="ADAL" clId="{9F23B798-9E84-4552-BA63-E776E805C424}" dt="2026-09-21T12:15:43.757" v="9" actId="21"/>
          <ac:picMkLst>
            <pc:docMk/>
            <pc:sldMk cId="0" sldId="261"/>
            <ac:picMk id="2" creationId="{00000000-0000-0000-0000-000000000000}"/>
          </ac:picMkLst>
        </pc:picChg>
        <pc:picChg chg="add">
          <ac:chgData name="Lai, Wilson" userId="2840974a-0d84-4886-90a9-9a3ed79f3a48" providerId="ADAL" clId="{9F23B798-9E84-4552-BA63-E776E805C424}" dt="2026-09-21T12:15:53.385" v="10" actId="22"/>
          <ac:picMkLst>
            <pc:docMk/>
            <pc:sldMk cId="0" sldId="261"/>
            <ac:picMk id="4" creationId="{CBF619D4-C53F-91DE-DF28-BA89ADBD2EA8}"/>
          </ac:picMkLst>
        </pc:picChg>
      </pc:sldChg>
      <pc:sldChg chg="addSp delSp mod modNotes modNotesTx">
        <pc:chgData name="Lai, Wilson" userId="2840974a-0d84-4886-90a9-9a3ed79f3a48" providerId="ADAL" clId="{9F23B798-9E84-4552-BA63-E776E805C424}" dt="2026-09-21T14:27:35.983" v="94"/>
        <pc:sldMkLst>
          <pc:docMk/>
          <pc:sldMk cId="0" sldId="262"/>
        </pc:sldMkLst>
        <pc:picChg chg="del">
          <ac:chgData name="Lai, Wilson" userId="2840974a-0d84-4886-90a9-9a3ed79f3a48" providerId="ADAL" clId="{9F23B798-9E84-4552-BA63-E776E805C424}" dt="2026-09-21T12:15:55.290" v="11" actId="21"/>
          <ac:picMkLst>
            <pc:docMk/>
            <pc:sldMk cId="0" sldId="262"/>
            <ac:picMk id="2" creationId="{00000000-0000-0000-0000-000000000000}"/>
          </ac:picMkLst>
        </pc:picChg>
        <pc:picChg chg="add">
          <ac:chgData name="Lai, Wilson" userId="2840974a-0d84-4886-90a9-9a3ed79f3a48" providerId="ADAL" clId="{9F23B798-9E84-4552-BA63-E776E805C424}" dt="2026-09-21T12:16:05.579" v="12" actId="22"/>
          <ac:picMkLst>
            <pc:docMk/>
            <pc:sldMk cId="0" sldId="262"/>
            <ac:picMk id="4" creationId="{07806F76-451C-05A8-6633-043C26C17664}"/>
          </ac:picMkLst>
        </pc:picChg>
      </pc:sldChg>
      <pc:sldChg chg="addSp delSp mod modNotes modNotesTx">
        <pc:chgData name="Lai, Wilson" userId="2840974a-0d84-4886-90a9-9a3ed79f3a48" providerId="ADAL" clId="{9F23B798-9E84-4552-BA63-E776E805C424}" dt="2026-09-21T14:27:39.978" v="95"/>
        <pc:sldMkLst>
          <pc:docMk/>
          <pc:sldMk cId="0" sldId="263"/>
        </pc:sldMkLst>
        <pc:picChg chg="del">
          <ac:chgData name="Lai, Wilson" userId="2840974a-0d84-4886-90a9-9a3ed79f3a48" providerId="ADAL" clId="{9F23B798-9E84-4552-BA63-E776E805C424}" dt="2026-09-21T12:16:07.325" v="13" actId="21"/>
          <ac:picMkLst>
            <pc:docMk/>
            <pc:sldMk cId="0" sldId="263"/>
            <ac:picMk id="2" creationId="{00000000-0000-0000-0000-000000000000}"/>
          </ac:picMkLst>
        </pc:picChg>
        <pc:picChg chg="add">
          <ac:chgData name="Lai, Wilson" userId="2840974a-0d84-4886-90a9-9a3ed79f3a48" providerId="ADAL" clId="{9F23B798-9E84-4552-BA63-E776E805C424}" dt="2026-09-21T12:16:14.970" v="14" actId="22"/>
          <ac:picMkLst>
            <pc:docMk/>
            <pc:sldMk cId="0" sldId="263"/>
            <ac:picMk id="4" creationId="{63477D9D-0CED-6293-7A96-1023D4B52A72}"/>
          </ac:picMkLst>
        </pc:picChg>
      </pc:sldChg>
      <pc:sldChg chg="addSp delSp mod modNotes modNotesTx">
        <pc:chgData name="Lai, Wilson" userId="2840974a-0d84-4886-90a9-9a3ed79f3a48" providerId="ADAL" clId="{9F23B798-9E84-4552-BA63-E776E805C424}" dt="2026-09-21T14:27:39.978" v="95"/>
        <pc:sldMkLst>
          <pc:docMk/>
          <pc:sldMk cId="0" sldId="264"/>
        </pc:sldMkLst>
        <pc:picChg chg="del">
          <ac:chgData name="Lai, Wilson" userId="2840974a-0d84-4886-90a9-9a3ed79f3a48" providerId="ADAL" clId="{9F23B798-9E84-4552-BA63-E776E805C424}" dt="2026-09-21T12:16:16.578" v="15" actId="21"/>
          <ac:picMkLst>
            <pc:docMk/>
            <pc:sldMk cId="0" sldId="264"/>
            <ac:picMk id="2" creationId="{00000000-0000-0000-0000-000000000000}"/>
          </ac:picMkLst>
        </pc:picChg>
        <pc:picChg chg="add">
          <ac:chgData name="Lai, Wilson" userId="2840974a-0d84-4886-90a9-9a3ed79f3a48" providerId="ADAL" clId="{9F23B798-9E84-4552-BA63-E776E805C424}" dt="2026-09-21T12:16:24.949" v="16" actId="22"/>
          <ac:picMkLst>
            <pc:docMk/>
            <pc:sldMk cId="0" sldId="264"/>
            <ac:picMk id="4" creationId="{F2068907-FC66-4F23-A0A8-8CC27758854D}"/>
          </ac:picMkLst>
        </pc:picChg>
      </pc:sldChg>
      <pc:sldChg chg="addSp delSp mod modNotes modNotesTx">
        <pc:chgData name="Lai, Wilson" userId="2840974a-0d84-4886-90a9-9a3ed79f3a48" providerId="ADAL" clId="{9F23B798-9E84-4552-BA63-E776E805C424}" dt="2026-09-21T14:27:30.021" v="93"/>
        <pc:sldMkLst>
          <pc:docMk/>
          <pc:sldMk cId="0" sldId="265"/>
        </pc:sldMkLst>
        <pc:picChg chg="del">
          <ac:chgData name="Lai, Wilson" userId="2840974a-0d84-4886-90a9-9a3ed79f3a48" providerId="ADAL" clId="{9F23B798-9E84-4552-BA63-E776E805C424}" dt="2026-09-21T12:16:26.279" v="17" actId="21"/>
          <ac:picMkLst>
            <pc:docMk/>
            <pc:sldMk cId="0" sldId="265"/>
            <ac:picMk id="2" creationId="{00000000-0000-0000-0000-000000000000}"/>
          </ac:picMkLst>
        </pc:picChg>
        <pc:picChg chg="add">
          <ac:chgData name="Lai, Wilson" userId="2840974a-0d84-4886-90a9-9a3ed79f3a48" providerId="ADAL" clId="{9F23B798-9E84-4552-BA63-E776E805C424}" dt="2026-09-21T12:16:34.582" v="18" actId="22"/>
          <ac:picMkLst>
            <pc:docMk/>
            <pc:sldMk cId="0" sldId="265"/>
            <ac:picMk id="4" creationId="{5B6FF1B8-0F8D-BAC2-38DC-5415A60B2625}"/>
          </ac:picMkLst>
        </pc:picChg>
      </pc:sldChg>
      <pc:sldChg chg="addSp delSp mod modNotes modNotesTx">
        <pc:chgData name="Lai, Wilson" userId="2840974a-0d84-4886-90a9-9a3ed79f3a48" providerId="ADAL" clId="{9F23B798-9E84-4552-BA63-E776E805C424}" dt="2026-09-21T14:27:39.978" v="95"/>
        <pc:sldMkLst>
          <pc:docMk/>
          <pc:sldMk cId="0" sldId="266"/>
        </pc:sldMkLst>
        <pc:picChg chg="del">
          <ac:chgData name="Lai, Wilson" userId="2840974a-0d84-4886-90a9-9a3ed79f3a48" providerId="ADAL" clId="{9F23B798-9E84-4552-BA63-E776E805C424}" dt="2026-09-21T12:16:36.326" v="19" actId="21"/>
          <ac:picMkLst>
            <pc:docMk/>
            <pc:sldMk cId="0" sldId="266"/>
            <ac:picMk id="2" creationId="{00000000-0000-0000-0000-000000000000}"/>
          </ac:picMkLst>
        </pc:picChg>
        <pc:picChg chg="add">
          <ac:chgData name="Lai, Wilson" userId="2840974a-0d84-4886-90a9-9a3ed79f3a48" providerId="ADAL" clId="{9F23B798-9E84-4552-BA63-E776E805C424}" dt="2026-09-21T12:16:46.777" v="20" actId="22"/>
          <ac:picMkLst>
            <pc:docMk/>
            <pc:sldMk cId="0" sldId="266"/>
            <ac:picMk id="4" creationId="{B26B6E3E-DCCD-E427-A206-8494B77D4BF5}"/>
          </ac:picMkLst>
        </pc:picChg>
      </pc:sldChg>
      <pc:sldChg chg="addSp delSp mod modNotes modNotesTx">
        <pc:chgData name="Lai, Wilson" userId="2840974a-0d84-4886-90a9-9a3ed79f3a48" providerId="ADAL" clId="{9F23B798-9E84-4552-BA63-E776E805C424}" dt="2026-09-21T14:27:39.978" v="95"/>
        <pc:sldMkLst>
          <pc:docMk/>
          <pc:sldMk cId="0" sldId="267"/>
        </pc:sldMkLst>
        <pc:picChg chg="del">
          <ac:chgData name="Lai, Wilson" userId="2840974a-0d84-4886-90a9-9a3ed79f3a48" providerId="ADAL" clId="{9F23B798-9E84-4552-BA63-E776E805C424}" dt="2026-09-21T12:16:48.825" v="21" actId="21"/>
          <ac:picMkLst>
            <pc:docMk/>
            <pc:sldMk cId="0" sldId="267"/>
            <ac:picMk id="2" creationId="{00000000-0000-0000-0000-000000000000}"/>
          </ac:picMkLst>
        </pc:picChg>
        <pc:picChg chg="add">
          <ac:chgData name="Lai, Wilson" userId="2840974a-0d84-4886-90a9-9a3ed79f3a48" providerId="ADAL" clId="{9F23B798-9E84-4552-BA63-E776E805C424}" dt="2026-09-21T12:17:52.363" v="22" actId="22"/>
          <ac:picMkLst>
            <pc:docMk/>
            <pc:sldMk cId="0" sldId="267"/>
            <ac:picMk id="4" creationId="{5773B65F-FEDD-6D3E-389B-080E537F44E1}"/>
          </ac:picMkLst>
        </pc:picChg>
      </pc:sldChg>
      <pc:sldChg chg="modNotes modNotesTx">
        <pc:chgData name="Lai, Wilson" userId="2840974a-0d84-4886-90a9-9a3ed79f3a48" providerId="ADAL" clId="{9F23B798-9E84-4552-BA63-E776E805C424}" dt="2026-09-21T14:27:30.021" v="93"/>
        <pc:sldMkLst>
          <pc:docMk/>
          <pc:sldMk cId="985507358"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E92D84-F45A-4533-9BC1-A21924C37AD1}"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F2C6E-9A20-4B0A-9CE4-4522B2E46C3C}" type="slidenum">
              <a:rPr lang="en-US" smtClean="0"/>
              <a:t>‹#›</a:t>
            </a:fld>
            <a:endParaRPr lang="en-US"/>
          </a:p>
        </p:txBody>
      </p:sp>
    </p:spTree>
    <p:extLst>
      <p:ext uri="{BB962C8B-B14F-4D97-AF65-F5344CB8AC3E}">
        <p14:creationId xmlns:p14="http://schemas.microsoft.com/office/powerpoint/2010/main" val="160924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Opening: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Welcome everyone. Today, we are taking a deep dive into </a:t>
            </a:r>
            <a:r>
              <a:rPr lang="en-US" sz="1200" kern="1200" dirty="0" err="1">
                <a:solidFill>
                  <a:schemeClr val="tx1"/>
                </a:solidFill>
                <a:effectLst/>
                <a:latin typeface="+mn-lt"/>
                <a:ea typeface="+mn-ea"/>
                <a:cs typeface="+mn-cs"/>
              </a:rPr>
              <a:t>Aurelion</a:t>
            </a:r>
            <a:r>
              <a:rPr lang="en-US" sz="1200" kern="1200" dirty="0">
                <a:solidFill>
                  <a:schemeClr val="tx1"/>
                </a:solidFill>
                <a:effectLst/>
                <a:latin typeface="+mn-lt"/>
                <a:ea typeface="+mn-ea"/>
                <a:cs typeface="+mn-cs"/>
              </a:rPr>
              <a:t> Research’s latest macro and commodities playbook, presented by Jérémie Boyer.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the past few years, the commodity space has undergone a massive paradigm shift. While the narrative in the financial media has been heavily dominated by the AI boom, physical commodities have taken center stage in 2026, driven by a combination of spiraling inflation, fiscal deficits, geopolitical friction, and energy security mandates. </a:t>
            </a:r>
          </a:p>
          <a:p>
            <a:pPr lvl="0"/>
            <a:r>
              <a:rPr lang="en-US" sz="1200" b="1" kern="1200" dirty="0">
                <a:solidFill>
                  <a:schemeClr val="tx1"/>
                </a:solidFill>
                <a:effectLst/>
                <a:latin typeface="+mn-lt"/>
                <a:ea typeface="+mn-ea"/>
                <a:cs typeface="+mn-cs"/>
              </a:rPr>
              <a:t>Core Premise: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central thesis of this presentation is straightforward: The traditional, monolithic cyclical playbook of the 2010s is obsolete.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are entering a new metals </a:t>
            </a:r>
            <a:r>
              <a:rPr lang="en-US" sz="1200" kern="1200" dirty="0" err="1">
                <a:solidFill>
                  <a:schemeClr val="tx1"/>
                </a:solidFill>
                <a:effectLst/>
                <a:latin typeface="+mn-lt"/>
                <a:ea typeface="+mn-ea"/>
                <a:cs typeface="+mn-cs"/>
              </a:rPr>
              <a:t>supercycle</a:t>
            </a:r>
            <a:r>
              <a:rPr lang="en-US" sz="1200" kern="1200" dirty="0">
                <a:solidFill>
                  <a:schemeClr val="tx1"/>
                </a:solidFill>
                <a:effectLst/>
                <a:latin typeface="+mn-lt"/>
                <a:ea typeface="+mn-ea"/>
                <a:cs typeface="+mn-cs"/>
              </a:rPr>
              <a:t> where key structural tailwinds are accelerating high-conviction metals like Gold, Copper, and Uranium, while structural headwinds continue to drag down traditional energy sectors like Crude Oil and Fertilizers.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the next 45 to 50 minutes, we will unpack </a:t>
            </a:r>
            <a:r>
              <a:rPr lang="en-US" sz="1200" kern="1200" dirty="0" err="1">
                <a:solidFill>
                  <a:schemeClr val="tx1"/>
                </a:solidFill>
                <a:effectLst/>
                <a:latin typeface="+mn-lt"/>
                <a:ea typeface="+mn-ea"/>
                <a:cs typeface="+mn-cs"/>
              </a:rPr>
              <a:t>Aurelion</a:t>
            </a:r>
            <a:r>
              <a:rPr lang="en-US" sz="1200" kern="1200" dirty="0">
                <a:solidFill>
                  <a:schemeClr val="tx1"/>
                </a:solidFill>
                <a:effectLst/>
                <a:latin typeface="+mn-lt"/>
                <a:ea typeface="+mn-ea"/>
                <a:cs typeface="+mn-cs"/>
              </a:rPr>
              <a:t> Research’s cross-asset framework, examine the broken market correlations, breakdown specific asset allocations, and outline exact portfolio execution strategies. </a:t>
            </a:r>
          </a:p>
          <a:p>
            <a:endParaRPr lang="en-US" b="1" dirty="0"/>
          </a:p>
          <a:p>
            <a:endParaRPr lang="en-US" dirty="0"/>
          </a:p>
          <a:p>
            <a:endParaRPr lang="en-US" dirty="0"/>
          </a:p>
          <a:p>
            <a:r>
              <a:rPr lang="en-US" dirty="0"/>
              <a:t>https://www.youtube.com/watch?v=1Lylw0Anyxk</a:t>
            </a:r>
          </a:p>
          <a:p>
            <a:endParaRPr lang="en-US" dirty="0"/>
          </a:p>
        </p:txBody>
      </p:sp>
      <p:sp>
        <p:nvSpPr>
          <p:cNvPr id="4" name="Slide Number Placeholder 3"/>
          <p:cNvSpPr>
            <a:spLocks noGrp="1"/>
          </p:cNvSpPr>
          <p:nvPr>
            <p:ph type="sldNum" sz="quarter" idx="5"/>
          </p:nvPr>
        </p:nvSpPr>
        <p:spPr/>
        <p:txBody>
          <a:bodyPr/>
          <a:lstStyle/>
          <a:p>
            <a:fld id="{969F5963-C44E-4F00-B41D-77FA1ADD40B3}" type="slidenum">
              <a:rPr lang="en-US" smtClean="0"/>
              <a:t>1</a:t>
            </a:fld>
            <a:endParaRPr lang="en-US"/>
          </a:p>
        </p:txBody>
      </p:sp>
    </p:spTree>
    <p:extLst>
      <p:ext uri="{BB962C8B-B14F-4D97-AF65-F5344CB8AC3E}">
        <p14:creationId xmlns:p14="http://schemas.microsoft.com/office/powerpoint/2010/main" val="3761423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Core Breakdown: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this market, you must first accept that historical correlations across the commodity complex are breaking down. In previous cycles, commodities tended to move as a unified block—if energy rallied, broad industrial metals and agricultural components followed. That is no longer the case. </a:t>
            </a:r>
          </a:p>
          <a:p>
            <a:pPr lvl="0"/>
            <a:r>
              <a:rPr lang="en-US" sz="1200" b="1" kern="1200" dirty="0">
                <a:solidFill>
                  <a:schemeClr val="tx1"/>
                </a:solidFill>
                <a:effectLst/>
                <a:latin typeface="+mn-lt"/>
                <a:ea typeface="+mn-ea"/>
                <a:cs typeface="+mn-cs"/>
              </a:rPr>
              <a:t>Structural Tailwinds (Gold, Copper, Uranium):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left, we see a clear structural bull market in selected metals.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Gold</a:t>
            </a:r>
            <a:r>
              <a:rPr lang="en-US" sz="1200" kern="1200" dirty="0">
                <a:solidFill>
                  <a:schemeClr val="tx1"/>
                </a:solidFill>
                <a:effectLst/>
                <a:latin typeface="+mn-lt"/>
                <a:ea typeface="+mn-ea"/>
                <a:cs typeface="+mn-cs"/>
              </a:rPr>
              <a:t> is being propelled by sovereign physical accumulation, de-dollarization, and massive institutional capital rotation.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Copper</a:t>
            </a:r>
            <a:r>
              <a:rPr lang="en-US" sz="1200" kern="1200" dirty="0">
                <a:solidFill>
                  <a:schemeClr val="tx1"/>
                </a:solidFill>
                <a:effectLst/>
                <a:latin typeface="+mn-lt"/>
                <a:ea typeface="+mn-ea"/>
                <a:cs typeface="+mn-cs"/>
              </a:rPr>
              <a:t> is hitting a physical wall due to AI infrastructure requirements, grid modernizations, and a structural supply deficit that takes over a decade to fix.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Uranium</a:t>
            </a:r>
            <a:r>
              <a:rPr lang="en-US" sz="1200" kern="1200" dirty="0">
                <a:solidFill>
                  <a:schemeClr val="tx1"/>
                </a:solidFill>
                <a:effectLst/>
                <a:latin typeface="+mn-lt"/>
                <a:ea typeface="+mn-ea"/>
                <a:cs typeface="+mn-cs"/>
              </a:rPr>
              <a:t> is supported by price-insensitive utility buyers and government baseload energy sovereignty mandates. </a:t>
            </a:r>
          </a:p>
          <a:p>
            <a:pPr lvl="0"/>
            <a:r>
              <a:rPr lang="en-US" sz="1200" b="1" kern="1200" dirty="0">
                <a:solidFill>
                  <a:schemeClr val="tx1"/>
                </a:solidFill>
                <a:effectLst/>
                <a:latin typeface="+mn-lt"/>
                <a:ea typeface="+mn-ea"/>
                <a:cs typeface="+mn-cs"/>
              </a:rPr>
              <a:t>Structural Headwinds (Oil, Fertilizers):</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Conversely, energy and agricultural inputs are suffering from structural weakness.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Crude Oil</a:t>
            </a:r>
            <a:r>
              <a:rPr lang="en-US" sz="1200" kern="1200" dirty="0">
                <a:solidFill>
                  <a:schemeClr val="tx1"/>
                </a:solidFill>
                <a:effectLst/>
                <a:latin typeface="+mn-lt"/>
                <a:ea typeface="+mn-ea"/>
                <a:cs typeface="+mn-cs"/>
              </a:rPr>
              <a:t> is being burdened by Chinese demand destruction—as China pivots to coal and renewables while consumer spending softens—and hidden physical supply moving via dark fleets.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2</a:t>
            </a:fld>
            <a:endParaRPr lang="en-US"/>
          </a:p>
        </p:txBody>
      </p:sp>
    </p:spTree>
    <p:extLst>
      <p:ext uri="{BB962C8B-B14F-4D97-AF65-F5344CB8AC3E}">
        <p14:creationId xmlns:p14="http://schemas.microsoft.com/office/powerpoint/2010/main" val="1127574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 of Asset Class Framework: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matrix summarizes </a:t>
            </a:r>
            <a:r>
              <a:rPr lang="en-US" sz="1200" kern="1200" dirty="0" err="1">
                <a:solidFill>
                  <a:schemeClr val="tx1"/>
                </a:solidFill>
                <a:effectLst/>
                <a:latin typeface="+mn-lt"/>
                <a:ea typeface="+mn-ea"/>
                <a:cs typeface="+mn-cs"/>
              </a:rPr>
              <a:t>Aurelion’s</a:t>
            </a:r>
            <a:r>
              <a:rPr lang="en-US" sz="1200" kern="1200" dirty="0">
                <a:solidFill>
                  <a:schemeClr val="tx1"/>
                </a:solidFill>
                <a:effectLst/>
                <a:latin typeface="+mn-lt"/>
                <a:ea typeface="+mn-ea"/>
                <a:cs typeface="+mn-cs"/>
              </a:rPr>
              <a:t> conviction level, time horizon, catalyst drivers, and execution strategy across all five key commodities. </a:t>
            </a:r>
          </a:p>
          <a:p>
            <a:pPr lvl="0"/>
            <a:r>
              <a:rPr lang="en-US" sz="1200" b="1" kern="1200" dirty="0">
                <a:solidFill>
                  <a:schemeClr val="tx1"/>
                </a:solidFill>
                <a:effectLst/>
                <a:latin typeface="+mn-lt"/>
                <a:ea typeface="+mn-ea"/>
                <a:cs typeface="+mn-cs"/>
              </a:rPr>
              <a:t>Detailed Breakdown by Asset:</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Gold: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Highly Bullish | Short/Medium Horizon.</a:t>
            </a:r>
            <a:r>
              <a:rPr lang="en-US" sz="1200" kern="1200" dirty="0">
                <a:solidFill>
                  <a:schemeClr val="tx1"/>
                </a:solidFill>
                <a:effectLst/>
                <a:latin typeface="+mn-lt"/>
                <a:ea typeface="+mn-ea"/>
                <a:cs typeface="+mn-cs"/>
              </a:rPr>
              <a:t> Driven by geopolitical instability and central bank buying. Execution is focused on selecting mid-tier miners entering their Earning Phase with a strict 5–7% portfolio weighting. </a:t>
            </a:r>
          </a:p>
          <a:p>
            <a:pPr marL="228600" lvl="0" indent="-228600">
              <a:buFont typeface="+mj-lt"/>
              <a:buAutoNum type="arabicPeriod"/>
            </a:pPr>
            <a:r>
              <a:rPr lang="en-US" sz="1200" b="1" kern="1200" dirty="0">
                <a:solidFill>
                  <a:schemeClr val="tx1"/>
                </a:solidFill>
                <a:effectLst/>
                <a:latin typeface="+mn-lt"/>
                <a:ea typeface="+mn-ea"/>
                <a:cs typeface="+mn-cs"/>
              </a:rPr>
              <a:t>Copper:</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Highly Bullish | Immediate/Long Horizon.</a:t>
            </a:r>
            <a:r>
              <a:rPr lang="en-US" sz="1200" kern="1200" dirty="0">
                <a:solidFill>
                  <a:schemeClr val="tx1"/>
                </a:solidFill>
                <a:effectLst/>
                <a:latin typeface="+mn-lt"/>
                <a:ea typeface="+mn-ea"/>
                <a:cs typeface="+mn-cs"/>
              </a:rPr>
              <a:t> Catalyzed by AI data center builds and power grid buildouts. Execution focuses on high-beta, multi-jurisdictional producers with low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profiles. </a:t>
            </a:r>
          </a:p>
          <a:p>
            <a:pPr marL="228600" lvl="0" indent="-228600">
              <a:buFont typeface="+mj-lt"/>
              <a:buAutoNum type="arabicPeriod"/>
            </a:pPr>
            <a:r>
              <a:rPr lang="en-US" sz="1200" b="1" kern="1200" dirty="0">
                <a:solidFill>
                  <a:schemeClr val="tx1"/>
                </a:solidFill>
                <a:effectLst/>
                <a:latin typeface="+mn-lt"/>
                <a:ea typeface="+mn-ea"/>
                <a:cs typeface="+mn-cs"/>
              </a:rPr>
              <a:t>Uranium:</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Bullish | Long-Term Horizon.</a:t>
            </a:r>
            <a:r>
              <a:rPr lang="en-US" sz="1200" kern="1200" dirty="0">
                <a:solidFill>
                  <a:schemeClr val="tx1"/>
                </a:solidFill>
                <a:effectLst/>
                <a:latin typeface="+mn-lt"/>
                <a:ea typeface="+mn-ea"/>
                <a:cs typeface="+mn-cs"/>
              </a:rPr>
              <a:t> Driven by global green baseload mandates. Executed via a barbell strategy: holding direct physical uranium vehicles paired with select equity producers. </a:t>
            </a:r>
          </a:p>
          <a:p>
            <a:pPr marL="228600" lvl="0" indent="-228600">
              <a:buFont typeface="+mj-lt"/>
              <a:buAutoNum type="arabicPeriod"/>
            </a:pPr>
            <a:r>
              <a:rPr lang="en-US" sz="1200" b="1" kern="1200" dirty="0">
                <a:solidFill>
                  <a:schemeClr val="tx1"/>
                </a:solidFill>
                <a:effectLst/>
                <a:latin typeface="+mn-lt"/>
                <a:ea typeface="+mn-ea"/>
                <a:cs typeface="+mn-cs"/>
              </a:rPr>
              <a:t>Oil: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Bearish | Short/Medium Horizon.</a:t>
            </a:r>
            <a:r>
              <a:rPr lang="en-US" sz="1200" kern="1200" dirty="0">
                <a:solidFill>
                  <a:schemeClr val="tx1"/>
                </a:solidFill>
                <a:effectLst/>
                <a:latin typeface="+mn-lt"/>
                <a:ea typeface="+mn-ea"/>
                <a:cs typeface="+mn-cs"/>
              </a:rPr>
              <a:t> Weakened by structural Chinese demand destruction. Strategy calls for zero direct crude exposure. </a:t>
            </a:r>
          </a:p>
          <a:p>
            <a:pPr marL="228600" lvl="0" indent="-228600">
              <a:buFont typeface="+mj-lt"/>
              <a:buAutoNum type="arabicPeriod"/>
            </a:pPr>
            <a:r>
              <a:rPr lang="en-US" sz="1200" b="1" kern="1200" dirty="0">
                <a:solidFill>
                  <a:schemeClr val="tx1"/>
                </a:solidFill>
                <a:effectLst/>
                <a:latin typeface="+mn-lt"/>
                <a:ea typeface="+mn-ea"/>
                <a:cs typeface="+mn-cs"/>
              </a:rPr>
              <a:t>Fertilizer:</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Neutral/Bearish | Short-Term Horizon.</a:t>
            </a:r>
            <a:r>
              <a:rPr lang="en-US" sz="1200" kern="1200" dirty="0">
                <a:solidFill>
                  <a:schemeClr val="tx1"/>
                </a:solidFill>
                <a:effectLst/>
                <a:latin typeface="+mn-lt"/>
                <a:ea typeface="+mn-ea"/>
                <a:cs typeface="+mn-cs"/>
              </a:rPr>
              <a:t> High affordability, high supply, and lack of bullish data. Execution strategy dictates zero allocation.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3</a:t>
            </a:fld>
            <a:endParaRPr lang="en-US"/>
          </a:p>
        </p:txBody>
      </p:sp>
    </p:spTree>
    <p:extLst>
      <p:ext uri="{BB962C8B-B14F-4D97-AF65-F5344CB8AC3E}">
        <p14:creationId xmlns:p14="http://schemas.microsoft.com/office/powerpoint/2010/main" val="1925446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Historical Context vs. The Breakdown: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Historically, gold traded with a predictable inverse relationship to real interest rates and crude oil prices. When real rates rose or oil crashed, gold would sell off.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starting around mid-2024 (and accelerating through July/August), gold underwent </a:t>
            </a:r>
            <a:r>
              <a:rPr lang="en-US" sz="1200" b="1" kern="1200" dirty="0">
                <a:solidFill>
                  <a:schemeClr val="tx1"/>
                </a:solidFill>
                <a:effectLst/>
                <a:latin typeface="+mn-lt"/>
                <a:ea typeface="+mn-ea"/>
                <a:cs typeface="+mn-cs"/>
              </a:rPr>
              <a:t>The Great Decoupling</a:t>
            </a:r>
            <a:r>
              <a:rPr lang="en-US" sz="1200" kern="1200" dirty="0">
                <a:solidFill>
                  <a:schemeClr val="tx1"/>
                </a:solidFill>
                <a:effectLst/>
                <a:latin typeface="+mn-lt"/>
                <a:ea typeface="+mn-ea"/>
                <a:cs typeface="+mn-cs"/>
              </a:rPr>
              <a:t>. It detached from Federal Reserve rate hike logic and crude oil price action. </a:t>
            </a:r>
          </a:p>
          <a:p>
            <a:pPr lvl="0"/>
            <a:r>
              <a:rPr lang="en-US" sz="1200" b="1" kern="1200" dirty="0">
                <a:solidFill>
                  <a:schemeClr val="tx1"/>
                </a:solidFill>
                <a:effectLst/>
                <a:latin typeface="+mn-lt"/>
                <a:ea typeface="+mn-ea"/>
                <a:cs typeface="+mn-cs"/>
              </a:rPr>
              <a:t>Three Pillars Driving Gold to $5,000/oz:</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 Sovereign Bid:</a:t>
            </a:r>
            <a:r>
              <a:rPr lang="en-US" sz="1200" kern="1200" dirty="0">
                <a:solidFill>
                  <a:schemeClr val="tx1"/>
                </a:solidFill>
                <a:effectLst/>
                <a:latin typeface="+mn-lt"/>
                <a:ea typeface="+mn-ea"/>
                <a:cs typeface="+mn-cs"/>
              </a:rPr>
              <a:t> Unprecedented central bank physical accumulation. In June alone, China purchased 66 out of the 100 global metric tons acquired by global central banks. </a:t>
            </a:r>
          </a:p>
          <a:p>
            <a:pPr marL="228600" lvl="0" indent="-228600">
              <a:buFont typeface="+mj-lt"/>
              <a:buAutoNum type="arabicPeriod"/>
            </a:pPr>
            <a:r>
              <a:rPr lang="en-US" sz="1200" b="1" kern="1200" dirty="0">
                <a:solidFill>
                  <a:schemeClr val="tx1"/>
                </a:solidFill>
                <a:effectLst/>
                <a:latin typeface="+mn-lt"/>
                <a:ea typeface="+mn-ea"/>
                <a:cs typeface="+mn-cs"/>
              </a:rPr>
              <a:t>The Geopolitical Premium:</a:t>
            </a:r>
            <a:r>
              <a:rPr lang="en-US" sz="1200" kern="1200" dirty="0">
                <a:solidFill>
                  <a:schemeClr val="tx1"/>
                </a:solidFill>
                <a:effectLst/>
                <a:latin typeface="+mn-lt"/>
                <a:ea typeface="+mn-ea"/>
                <a:cs typeface="+mn-cs"/>
              </a:rPr>
              <a:t> Post-2022 asset freezing highlighted the risks of holding paper Western reserves. Non-aligned nations and sovereign entities are aggressively shifting reserves into physical gold. </a:t>
            </a:r>
          </a:p>
          <a:p>
            <a:pPr marL="228600" lvl="0" indent="-228600">
              <a:buFont typeface="+mj-lt"/>
              <a:buAutoNum type="arabicPeriod"/>
            </a:pPr>
            <a:r>
              <a:rPr lang="en-US" sz="1200" b="1" kern="1200" dirty="0">
                <a:solidFill>
                  <a:schemeClr val="tx1"/>
                </a:solidFill>
                <a:effectLst/>
                <a:latin typeface="+mn-lt"/>
                <a:ea typeface="+mn-ea"/>
                <a:cs typeface="+mn-cs"/>
              </a:rPr>
              <a:t>The Institutional Pivot:</a:t>
            </a:r>
            <a:r>
              <a:rPr lang="en-US" sz="1200" kern="1200" dirty="0">
                <a:solidFill>
                  <a:schemeClr val="tx1"/>
                </a:solidFill>
                <a:effectLst/>
                <a:latin typeface="+mn-lt"/>
                <a:ea typeface="+mn-ea"/>
                <a:cs typeface="+mn-cs"/>
              </a:rPr>
              <a:t> Generalist funds and ETFs that completely missed the initial rally are experiencing intense FOMO. With gold surging 2% daily and unhedged miners up 30-40% in a month, institutional managers are forced to chase performance.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4</a:t>
            </a:fld>
            <a:endParaRPr lang="en-US"/>
          </a:p>
        </p:txBody>
      </p:sp>
    </p:spTree>
    <p:extLst>
      <p:ext uri="{BB962C8B-B14F-4D97-AF65-F5344CB8AC3E}">
        <p14:creationId xmlns:p14="http://schemas.microsoft.com/office/powerpoint/2010/main" val="1918938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Demand Shock: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Silicon Valley and Wall Street are hyper-focused on GPU compute power, chip design, and software algorithms. However, the digital revolution is hitting a hard physical bottleneck: power and transmission.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Tech companies and photonics manufacturers (like </a:t>
            </a:r>
            <a:r>
              <a:rPr lang="en-US" sz="1200" kern="1200" dirty="0" err="1">
                <a:solidFill>
                  <a:schemeClr val="tx1"/>
                </a:solidFill>
                <a:effectLst/>
                <a:latin typeface="+mn-lt"/>
                <a:ea typeface="+mn-ea"/>
                <a:cs typeface="+mn-cs"/>
              </a:rPr>
              <a:t>Lumentum</a:t>
            </a:r>
            <a:r>
              <a:rPr lang="en-US" sz="1200" kern="1200" dirty="0">
                <a:solidFill>
                  <a:schemeClr val="tx1"/>
                </a:solidFill>
                <a:effectLst/>
                <a:latin typeface="+mn-lt"/>
                <a:ea typeface="+mn-ea"/>
                <a:cs typeface="+mn-cs"/>
              </a:rPr>
              <a:t>) are now acknowledging in earnings calls and footnote risk disclosures that copper supply is a critical risk factor to their growth. </a:t>
            </a:r>
          </a:p>
          <a:p>
            <a:pPr lvl="0"/>
            <a:r>
              <a:rPr lang="en-US" sz="1200" b="1" kern="1200" dirty="0">
                <a:solidFill>
                  <a:schemeClr val="tx1"/>
                </a:solidFill>
                <a:effectLst/>
                <a:latin typeface="+mn-lt"/>
                <a:ea typeface="+mn-ea"/>
                <a:cs typeface="+mn-cs"/>
              </a:rPr>
              <a:t>The Deficit Zone &amp; Supply Reality:</a:t>
            </a:r>
            <a:r>
              <a:rPr lang="en-US" sz="1200" kern="1200" dirty="0">
                <a:solidFill>
                  <a:schemeClr val="tx1"/>
                </a:solidFill>
                <a:effectLst/>
                <a:latin typeface="+mn-lt"/>
                <a:ea typeface="+mn-ea"/>
                <a:cs typeface="+mn-cs"/>
              </a:rPr>
              <a:t> </a:t>
            </a:r>
          </a:p>
          <a:p>
            <a:pPr marL="228600" lvl="0" indent="-228600">
              <a:buFont typeface="Arial" panose="020B0604020202020204" pitchFamily="34" charset="0"/>
              <a:buChar char="•"/>
            </a:pPr>
            <a:r>
              <a:rPr lang="en-US" sz="1200" kern="1200" dirty="0">
                <a:solidFill>
                  <a:schemeClr val="tx1"/>
                </a:solidFill>
                <a:effectLst/>
                <a:latin typeface="+mn-lt"/>
                <a:ea typeface="+mn-ea"/>
                <a:cs typeface="+mn-cs"/>
              </a:rPr>
              <a:t>We are entering an immediate structural deficit. </a:t>
            </a:r>
            <a:r>
              <a:rPr lang="en-US" sz="1200" kern="1200" dirty="0" err="1">
                <a:solidFill>
                  <a:schemeClr val="tx1"/>
                </a:solidFill>
                <a:effectLst/>
                <a:latin typeface="+mn-lt"/>
                <a:ea typeface="+mn-ea"/>
                <a:cs typeface="+mn-cs"/>
              </a:rPr>
              <a:t>Aurelion</a:t>
            </a:r>
            <a:r>
              <a:rPr lang="en-US" sz="1200" kern="1200" dirty="0">
                <a:solidFill>
                  <a:schemeClr val="tx1"/>
                </a:solidFill>
                <a:effectLst/>
                <a:latin typeface="+mn-lt"/>
                <a:ea typeface="+mn-ea"/>
                <a:cs typeface="+mn-cs"/>
              </a:rPr>
              <a:t> sets a target price adjustment of </a:t>
            </a:r>
            <a:r>
              <a:rPr lang="en-US" sz="1200" b="1" kern="1200" dirty="0">
                <a:solidFill>
                  <a:schemeClr val="tx1"/>
                </a:solidFill>
                <a:effectLst/>
                <a:latin typeface="+mn-lt"/>
                <a:ea typeface="+mn-ea"/>
                <a:cs typeface="+mn-cs"/>
              </a:rPr>
              <a:t>$7.00/</a:t>
            </a:r>
            <a:r>
              <a:rPr lang="en-US" sz="1200" b="1" kern="1200" dirty="0" err="1">
                <a:solidFill>
                  <a:schemeClr val="tx1"/>
                </a:solidFill>
                <a:effectLst/>
                <a:latin typeface="+mn-lt"/>
                <a:ea typeface="+mn-ea"/>
                <a:cs typeface="+mn-cs"/>
              </a:rPr>
              <a:t>lb</a:t>
            </a:r>
            <a:r>
              <a:rPr lang="en-US" sz="1200" kern="1200" dirty="0">
                <a:solidFill>
                  <a:schemeClr val="tx1"/>
                </a:solidFill>
                <a:effectLst/>
                <a:latin typeface="+mn-lt"/>
                <a:ea typeface="+mn-ea"/>
                <a:cs typeface="+mn-cs"/>
              </a:rPr>
              <a:t> in the near term.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Physics vs. Capital:</a:t>
            </a:r>
            <a:r>
              <a:rPr lang="en-US" sz="1200" kern="1200" dirty="0">
                <a:solidFill>
                  <a:schemeClr val="tx1"/>
                </a:solidFill>
                <a:effectLst/>
                <a:latin typeface="+mn-lt"/>
                <a:ea typeface="+mn-ea"/>
                <a:cs typeface="+mn-cs"/>
              </a:rPr>
              <a:t> You cannot simply throw money at a software problem to build a mine overnight. Bringing a new copper mine from discovery to commercial production takes 10 to 15 years. Capital cannot instantly overcome lead times and permitting physics.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5</a:t>
            </a:fld>
            <a:endParaRPr lang="en-US"/>
          </a:p>
        </p:txBody>
      </p:sp>
    </p:spTree>
    <p:extLst>
      <p:ext uri="{BB962C8B-B14F-4D97-AF65-F5344CB8AC3E}">
        <p14:creationId xmlns:p14="http://schemas.microsoft.com/office/powerpoint/2010/main" val="1556952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Structural Pipeline: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Governments worldwide are realizing that solar and wind cannot provide reliable 24/7 power for heavy industry and AI data centers.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Nuclear energy is the only zero-emission baseload alternative. China alone has 70 nuclear reactors planned over the next decade, with the UK, France, India, and even former anti-nuclear nations like Germany moving to build or extend reactor life. </a:t>
            </a:r>
          </a:p>
          <a:p>
            <a:pPr lvl="0"/>
            <a:r>
              <a:rPr lang="en-US" sz="1200" b="1" kern="1200" dirty="0">
                <a:solidFill>
                  <a:schemeClr val="tx1"/>
                </a:solidFill>
                <a:effectLst/>
                <a:latin typeface="+mn-lt"/>
                <a:ea typeface="+mn-ea"/>
                <a:cs typeface="+mn-cs"/>
              </a:rPr>
              <a:t>The Price-Insensitive Buyer: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Nuclear reactors cannot simply be switched on and off like natural gas facilities. They must run continuously.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Furthermore, physical uranium fuel accounts for a tiny fraction of a plant's overall operating cost. Consequently, utility procurement officers are completely price-insensitive; they will pay whatever spot price is required to secure long-term utility supply. </a:t>
            </a:r>
          </a:p>
          <a:p>
            <a:pPr lvl="0"/>
            <a:r>
              <a:rPr lang="en-US" sz="1200" b="1" kern="1200" dirty="0" err="1">
                <a:solidFill>
                  <a:schemeClr val="tx1"/>
                </a:solidFill>
                <a:effectLst/>
                <a:latin typeface="+mn-lt"/>
                <a:ea typeface="+mn-ea"/>
                <a:cs typeface="+mn-cs"/>
              </a:rPr>
              <a:t>Aurelion</a:t>
            </a:r>
            <a:r>
              <a:rPr lang="en-US" sz="1200" b="1" kern="1200" dirty="0">
                <a:solidFill>
                  <a:schemeClr val="tx1"/>
                </a:solidFill>
                <a:effectLst/>
                <a:latin typeface="+mn-lt"/>
                <a:ea typeface="+mn-ea"/>
                <a:cs typeface="+mn-cs"/>
              </a:rPr>
              <a:t> Strategy: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Implements a barbell approach: physical holding companies (direct spot price leverage without operating risk) paired with low-cost equity producers.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6</a:t>
            </a:fld>
            <a:endParaRPr lang="en-US"/>
          </a:p>
        </p:txBody>
      </p:sp>
    </p:spTree>
    <p:extLst>
      <p:ext uri="{BB962C8B-B14F-4D97-AF65-F5344CB8AC3E}">
        <p14:creationId xmlns:p14="http://schemas.microsoft.com/office/powerpoint/2010/main" val="4127422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Geopolitical Hype vs. Macro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common market narrative claims that middle-eastern transit disruptions and Hormuz escalation justify a $120+ oil premium. </a:t>
            </a:r>
            <a:r>
              <a:rPr lang="en-US" sz="1200" kern="1200" dirty="0" err="1">
                <a:solidFill>
                  <a:schemeClr val="tx1"/>
                </a:solidFill>
                <a:effectLst/>
                <a:latin typeface="+mn-lt"/>
                <a:ea typeface="+mn-ea"/>
                <a:cs typeface="+mn-cs"/>
              </a:rPr>
              <a:t>Aurelion</a:t>
            </a:r>
            <a:r>
              <a:rPr lang="en-US" sz="1200" kern="1200" dirty="0">
                <a:solidFill>
                  <a:schemeClr val="tx1"/>
                </a:solidFill>
                <a:effectLst/>
                <a:latin typeface="+mn-lt"/>
                <a:ea typeface="+mn-ea"/>
                <a:cs typeface="+mn-cs"/>
              </a:rPr>
              <a:t> takes a firm contrarian, bearish stance. </a:t>
            </a:r>
          </a:p>
          <a:p>
            <a:pPr lvl="0"/>
            <a:r>
              <a:rPr lang="en-US" sz="1200" b="1" kern="1200" dirty="0">
                <a:solidFill>
                  <a:schemeClr val="tx1"/>
                </a:solidFill>
                <a:effectLst/>
                <a:latin typeface="+mn-lt"/>
                <a:ea typeface="+mn-ea"/>
                <a:cs typeface="+mn-cs"/>
              </a:rPr>
              <a:t>Why </a:t>
            </a:r>
            <a:r>
              <a:rPr lang="en-US" sz="1200" b="1" kern="1200" dirty="0" err="1">
                <a:solidFill>
                  <a:schemeClr val="tx1"/>
                </a:solidFill>
                <a:effectLst/>
                <a:latin typeface="+mn-lt"/>
                <a:ea typeface="+mn-ea"/>
                <a:cs typeface="+mn-cs"/>
              </a:rPr>
              <a:t>Aurelion</a:t>
            </a:r>
            <a:r>
              <a:rPr lang="en-US" sz="1200" b="1" kern="1200" dirty="0">
                <a:solidFill>
                  <a:schemeClr val="tx1"/>
                </a:solidFill>
                <a:effectLst/>
                <a:latin typeface="+mn-lt"/>
                <a:ea typeface="+mn-ea"/>
                <a:cs typeface="+mn-cs"/>
              </a:rPr>
              <a:t> is Bearish on Oil:</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Chinese Demand Destruction:</a:t>
            </a:r>
            <a:r>
              <a:rPr lang="en-US" sz="1200" kern="1200" dirty="0">
                <a:solidFill>
                  <a:schemeClr val="tx1"/>
                </a:solidFill>
                <a:effectLst/>
                <a:latin typeface="+mn-lt"/>
                <a:ea typeface="+mn-ea"/>
                <a:cs typeface="+mn-cs"/>
              </a:rPr>
              <a:t> China is structurally lowering oil imports by shifting toward coal, renewables, and EVs amid slowing consumer spending. </a:t>
            </a:r>
          </a:p>
          <a:p>
            <a:pPr marL="228600" lvl="0" indent="-228600">
              <a:buFont typeface="+mj-lt"/>
              <a:buAutoNum type="arabicPeriod"/>
            </a:pPr>
            <a:r>
              <a:rPr lang="en-US" sz="1200" b="1" kern="1200" dirty="0">
                <a:solidFill>
                  <a:schemeClr val="tx1"/>
                </a:solidFill>
                <a:effectLst/>
                <a:latin typeface="+mn-lt"/>
                <a:ea typeface="+mn-ea"/>
                <a:cs typeface="+mn-cs"/>
              </a:rPr>
              <a:t>Hidden Supply &amp; Dark Fleets:</a:t>
            </a:r>
            <a:r>
              <a:rPr lang="en-US" sz="1200" kern="1200" dirty="0">
                <a:solidFill>
                  <a:schemeClr val="tx1"/>
                </a:solidFill>
                <a:effectLst/>
                <a:latin typeface="+mn-lt"/>
                <a:ea typeface="+mn-ea"/>
                <a:cs typeface="+mn-cs"/>
              </a:rPr>
              <a:t> Contrary to selective headline charts showing declining US inventories, global physical crude inventories are rising due to unrecorded transit and dark fleet movements. </a:t>
            </a:r>
          </a:p>
          <a:p>
            <a:pPr marL="228600" lvl="0" indent="-228600">
              <a:buFont typeface="+mj-lt"/>
              <a:buAutoNum type="arabicPeriod"/>
            </a:pPr>
            <a:r>
              <a:rPr lang="en-US" sz="1200" b="1" kern="1200" dirty="0">
                <a:solidFill>
                  <a:schemeClr val="tx1"/>
                </a:solidFill>
                <a:effectLst/>
                <a:latin typeface="+mn-lt"/>
                <a:ea typeface="+mn-ea"/>
                <a:cs typeface="+mn-cs"/>
              </a:rPr>
              <a:t>Bottom Line:</a:t>
            </a:r>
            <a:r>
              <a:rPr lang="en-US" sz="1200" kern="1200" dirty="0">
                <a:solidFill>
                  <a:schemeClr val="tx1"/>
                </a:solidFill>
                <a:effectLst/>
                <a:latin typeface="+mn-lt"/>
                <a:ea typeface="+mn-ea"/>
                <a:cs typeface="+mn-cs"/>
              </a:rPr>
              <a:t> Unless there is direct boots on the ground military action involving major production infrastructure, the risk/reward skew for oil is overwhelmingly to the downside.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7</a:t>
            </a:fld>
            <a:endParaRPr lang="en-US"/>
          </a:p>
        </p:txBody>
      </p:sp>
    </p:spTree>
    <p:extLst>
      <p:ext uri="{BB962C8B-B14F-4D97-AF65-F5344CB8AC3E}">
        <p14:creationId xmlns:p14="http://schemas.microsoft.com/office/powerpoint/2010/main" val="238060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Mega-Cap Trap: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Most generalist institutional funds seeking copper or gold exposure default to buying mega-cap names like Freeport-McMoRan or Southern Copper simply because they offer high daily liquidity.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crowding has pushed mega-cap valuations to inflated multiples of </a:t>
            </a:r>
            <a:r>
              <a:rPr lang="en-US" sz="1200" b="1" kern="1200" dirty="0">
                <a:solidFill>
                  <a:schemeClr val="tx1"/>
                </a:solidFill>
                <a:effectLst/>
                <a:latin typeface="+mn-lt"/>
                <a:ea typeface="+mn-ea"/>
                <a:cs typeface="+mn-cs"/>
              </a:rPr>
              <a:t>36x–40x P/E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Activation Curve &amp; Earning Phase: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Aurelion</a:t>
            </a:r>
            <a:r>
              <a:rPr lang="en-US" sz="1200" kern="1200" dirty="0">
                <a:solidFill>
                  <a:schemeClr val="tx1"/>
                </a:solidFill>
                <a:effectLst/>
                <a:latin typeface="+mn-lt"/>
                <a:ea typeface="+mn-ea"/>
                <a:cs typeface="+mn-cs"/>
              </a:rPr>
              <a:t> focuses on mid-tier producers ($10B market cap range) trading around </a:t>
            </a:r>
            <a:r>
              <a:rPr lang="en-US" sz="1200" b="1" kern="1200" dirty="0">
                <a:solidFill>
                  <a:schemeClr val="tx1"/>
                </a:solidFill>
                <a:effectLst/>
                <a:latin typeface="+mn-lt"/>
                <a:ea typeface="+mn-ea"/>
                <a:cs typeface="+mn-cs"/>
              </a:rPr>
              <a:t>17x P/E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Mechanics:</a:t>
            </a:r>
            <a:r>
              <a:rPr lang="en-US" sz="1200" kern="1200" dirty="0">
                <a:solidFill>
                  <a:schemeClr val="tx1"/>
                </a:solidFill>
                <a:effectLst/>
                <a:latin typeface="+mn-lt"/>
                <a:ea typeface="+mn-ea"/>
                <a:cs typeface="+mn-cs"/>
              </a:rPr>
              <a:t> These mid-tier companies have already completed their heavy Capital Expenditure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buildout cycle. As mines transition into active production,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plummets right as high commodity spot prices kick in. This creates an explosive inflection point in Free Cash Flow (FCF) generation.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Smart quant capital (e.g., D.E. Shaw) quietly builds significant positions in these overlooked mid-tier cash generators.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8</a:t>
            </a:fld>
            <a:endParaRPr lang="en-US"/>
          </a:p>
        </p:txBody>
      </p:sp>
    </p:spTree>
    <p:extLst>
      <p:ext uri="{BB962C8B-B14F-4D97-AF65-F5344CB8AC3E}">
        <p14:creationId xmlns:p14="http://schemas.microsoft.com/office/powerpoint/2010/main" val="4270009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Producer vs. Royalty Model:</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Traditional Producer:</a:t>
            </a:r>
            <a:r>
              <a:rPr lang="en-US" sz="1200" kern="1200" dirty="0">
                <a:solidFill>
                  <a:schemeClr val="tx1"/>
                </a:solidFill>
                <a:effectLst/>
                <a:latin typeface="+mn-lt"/>
                <a:ea typeface="+mn-ea"/>
                <a:cs typeface="+mn-cs"/>
              </a:rPr>
              <a:t> Incurs massive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exploration risk, environmental permitting liabilities, refining costs, and asset depletion.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Royalty Model:</a:t>
            </a:r>
            <a:r>
              <a:rPr lang="en-US" sz="1200" kern="1200" dirty="0">
                <a:solidFill>
                  <a:schemeClr val="tx1"/>
                </a:solidFill>
                <a:effectLst/>
                <a:latin typeface="+mn-lt"/>
                <a:ea typeface="+mn-ea"/>
                <a:cs typeface="+mn-cs"/>
              </a:rPr>
              <a:t> Owns the underlying land or water rights, leasing them out to operators in exchange for top-line revenue cuts. Near-zero operating cost, zero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inflation risk, and 95%–97% gross margins. </a:t>
            </a:r>
          </a:p>
          <a:p>
            <a:pPr lvl="0"/>
            <a:r>
              <a:rPr lang="en-US" sz="1200" b="1" kern="1200" dirty="0">
                <a:solidFill>
                  <a:schemeClr val="tx1"/>
                </a:solidFill>
                <a:effectLst/>
                <a:latin typeface="+mn-lt"/>
                <a:ea typeface="+mn-ea"/>
                <a:cs typeface="+mn-cs"/>
              </a:rPr>
              <a:t>The Valuation Disconnect:</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Traditional generalist investors balk at paying 40x P/E for royalty businesses like </a:t>
            </a:r>
            <a:r>
              <a:rPr lang="en-US" sz="1200" kern="1200" dirty="0" err="1">
                <a:solidFill>
                  <a:schemeClr val="tx1"/>
                </a:solidFill>
                <a:effectLst/>
                <a:latin typeface="+mn-lt"/>
                <a:ea typeface="+mn-ea"/>
                <a:cs typeface="+mn-cs"/>
              </a:rPr>
              <a:t>LandBridge</a:t>
            </a:r>
            <a:r>
              <a:rPr lang="en-US" sz="1200" kern="1200" dirty="0">
                <a:solidFill>
                  <a:schemeClr val="tx1"/>
                </a:solidFill>
                <a:effectLst/>
                <a:latin typeface="+mn-lt"/>
                <a:ea typeface="+mn-ea"/>
                <a:cs typeface="+mn-cs"/>
              </a:rPr>
              <a:t> or Topaz.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However, when a company has tech-like gross margins, zero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liability, and exposure to major secular drivers (such as Permian Basin water rights sold to Texas AI data centers), it commands high multiples similar to Texas Pacific Land Trust (TPL) at 50x P/E.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9</a:t>
            </a:fld>
            <a:endParaRPr lang="en-US"/>
          </a:p>
        </p:txBody>
      </p:sp>
    </p:spTree>
    <p:extLst>
      <p:ext uri="{BB962C8B-B14F-4D97-AF65-F5344CB8AC3E}">
        <p14:creationId xmlns:p14="http://schemas.microsoft.com/office/powerpoint/2010/main" val="2465458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Risk Management Framework: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 conviction does not mean reckless capital allocation. Capital preservation and low volatility are core mandates. </a:t>
            </a:r>
          </a:p>
          <a:p>
            <a:pPr lvl="0"/>
            <a:r>
              <a:rPr lang="en-US" sz="1200" b="1" kern="1200" dirty="0">
                <a:solidFill>
                  <a:schemeClr val="tx1"/>
                </a:solidFill>
                <a:effectLst/>
                <a:latin typeface="+mn-lt"/>
                <a:ea typeface="+mn-ea"/>
                <a:cs typeface="+mn-cs"/>
              </a:rPr>
              <a:t>Portfolio Guardrails: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Strict Total Cap:</a:t>
            </a:r>
            <a:r>
              <a:rPr lang="en-US" sz="1200" kern="1200" dirty="0">
                <a:solidFill>
                  <a:schemeClr val="tx1"/>
                </a:solidFill>
                <a:effectLst/>
                <a:latin typeface="+mn-lt"/>
                <a:ea typeface="+mn-ea"/>
                <a:cs typeface="+mn-cs"/>
              </a:rPr>
              <a:t> Overall active commodity exposure is capped strictly below 50% (currently hovering between 25%–30%) to limit portfolio drawdowns. </a:t>
            </a:r>
          </a:p>
          <a:p>
            <a:pPr marL="228600" lvl="0" indent="-228600">
              <a:buFont typeface="+mj-lt"/>
              <a:buAutoNum type="arabicPeriod"/>
            </a:pPr>
            <a:r>
              <a:rPr lang="en-US" sz="1200" b="1" kern="1200" dirty="0">
                <a:solidFill>
                  <a:schemeClr val="tx1"/>
                </a:solidFill>
                <a:effectLst/>
                <a:latin typeface="+mn-lt"/>
                <a:ea typeface="+mn-ea"/>
                <a:cs typeface="+mn-cs"/>
              </a:rPr>
              <a:t>Individual Position Sizing:</a:t>
            </a:r>
            <a:r>
              <a:rPr lang="en-US" sz="1200" kern="1200" dirty="0">
                <a:solidFill>
                  <a:schemeClr val="tx1"/>
                </a:solidFill>
                <a:effectLst/>
                <a:latin typeface="+mn-lt"/>
                <a:ea typeface="+mn-ea"/>
                <a:cs typeface="+mn-cs"/>
              </a:rPr>
              <a:t> Even for top bullish calls (Gold/Copper), individual equity weightings are strictly capped at </a:t>
            </a:r>
            <a:r>
              <a:rPr lang="en-US" sz="1200" b="1" kern="1200" dirty="0">
                <a:solidFill>
                  <a:schemeClr val="tx1"/>
                </a:solidFill>
                <a:effectLst/>
                <a:latin typeface="+mn-lt"/>
                <a:ea typeface="+mn-ea"/>
                <a:cs typeface="+mn-cs"/>
              </a:rPr>
              <a:t>5%–7%</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Cards Ready to Play:</a:t>
            </a:r>
            <a:r>
              <a:rPr lang="en-US" sz="1200" kern="1200" dirty="0">
                <a:solidFill>
                  <a:schemeClr val="tx1"/>
                </a:solidFill>
                <a:effectLst/>
                <a:latin typeface="+mn-lt"/>
                <a:ea typeface="+mn-ea"/>
                <a:cs typeface="+mn-cs"/>
              </a:rPr>
              <a:t> Maintain a vetted watchlist of ~10 tactical targets (such as US critical minerals plays). If macro catalysts trigger (e.g., new US-Canada trade tariffs), capital is executed immediately rather than chasing late-stage rallies.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10</a:t>
            </a:fld>
            <a:endParaRPr lang="en-US"/>
          </a:p>
        </p:txBody>
      </p:sp>
    </p:spTree>
    <p:extLst>
      <p:ext uri="{BB962C8B-B14F-4D97-AF65-F5344CB8AC3E}">
        <p14:creationId xmlns:p14="http://schemas.microsoft.com/office/powerpoint/2010/main" val="4249911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Summary of the Three Strategic Pillars: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Pillar 1: Physical Over Paper.</a:t>
            </a:r>
            <a:r>
              <a:rPr lang="en-US" sz="1200" kern="1200" dirty="0">
                <a:solidFill>
                  <a:schemeClr val="tx1"/>
                </a:solidFill>
                <a:effectLst/>
                <a:latin typeface="+mn-lt"/>
                <a:ea typeface="+mn-ea"/>
                <a:cs typeface="+mn-cs"/>
              </a:rPr>
              <a:t> Central bank sovereign buying and utility contract requirements prove that physical asset demands outweigh paper market derivative pricing.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Pillar 2: Infrastructure Over Hype.</a:t>
            </a:r>
            <a:r>
              <a:rPr lang="en-US" sz="1200" kern="1200" dirty="0">
                <a:solidFill>
                  <a:schemeClr val="tx1"/>
                </a:solidFill>
                <a:effectLst/>
                <a:latin typeface="+mn-lt"/>
                <a:ea typeface="+mn-ea"/>
                <a:cs typeface="+mn-cs"/>
              </a:rPr>
              <a:t> The digital revolution requires physical power and conductors. Copper and nuclear baseload power are non-negotiable bottlenecks.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Pillar 3: Margin Over Scale.</a:t>
            </a:r>
            <a:r>
              <a:rPr lang="en-US" sz="1200" kern="1200" dirty="0">
                <a:solidFill>
                  <a:schemeClr val="tx1"/>
                </a:solidFill>
                <a:effectLst/>
                <a:latin typeface="+mn-lt"/>
                <a:ea typeface="+mn-ea"/>
                <a:cs typeface="+mn-cs"/>
              </a:rPr>
              <a:t> Alpha is generated by avoiding overcrowded 40x P/E mega-caps and targeting 95% margin royalty plays and mid-tier miners entering their cash-flow Earning Phase. </a:t>
            </a:r>
          </a:p>
          <a:p>
            <a:pPr lvl="0"/>
            <a:r>
              <a:rPr lang="en-US" sz="1200" b="1" kern="1200" dirty="0">
                <a:solidFill>
                  <a:schemeClr val="tx1"/>
                </a:solidFill>
                <a:effectLst/>
                <a:latin typeface="+mn-lt"/>
                <a:ea typeface="+mn-ea"/>
                <a:cs typeface="+mn-cs"/>
              </a:rPr>
              <a:t>Agile Philosophy: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Macro investing requires flexibility. We are not sticky with our views. If the underlying data changes, we change. </a:t>
            </a:r>
          </a:p>
          <a:p>
            <a:endParaRPr lang="en-US" dirty="0"/>
          </a:p>
        </p:txBody>
      </p:sp>
      <p:sp>
        <p:nvSpPr>
          <p:cNvPr id="4" name="Slide Number Placeholder 3"/>
          <p:cNvSpPr>
            <a:spLocks noGrp="1"/>
          </p:cNvSpPr>
          <p:nvPr>
            <p:ph type="sldNum" sz="quarter" idx="5"/>
          </p:nvPr>
        </p:nvSpPr>
        <p:spPr/>
        <p:txBody>
          <a:bodyPr/>
          <a:lstStyle/>
          <a:p>
            <a:fld id="{CE5F2C6E-9A20-4B0A-9CE4-4522B2E46C3C}" type="slidenum">
              <a:rPr lang="en-US" smtClean="0"/>
              <a:t>11</a:t>
            </a:fld>
            <a:endParaRPr lang="en-US"/>
          </a:p>
        </p:txBody>
      </p:sp>
    </p:spTree>
    <p:extLst>
      <p:ext uri="{BB962C8B-B14F-4D97-AF65-F5344CB8AC3E}">
        <p14:creationId xmlns:p14="http://schemas.microsoft.com/office/powerpoint/2010/main" val="4288218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Executive Summary / Closing Overview:</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conclude, we are witnessing a structural divergence across global commodities. </a:t>
            </a:r>
          </a:p>
          <a:p>
            <a:pPr lvl="0"/>
            <a:r>
              <a:rPr lang="en-US" sz="1200" b="1" kern="1200" dirty="0">
                <a:solidFill>
                  <a:schemeClr val="tx1"/>
                </a:solidFill>
                <a:effectLst/>
                <a:latin typeface="+mn-lt"/>
                <a:ea typeface="+mn-ea"/>
                <a:cs typeface="+mn-cs"/>
              </a:rPr>
              <a:t>Bullish Metals Side: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Gold:</a:t>
            </a:r>
            <a:r>
              <a:rPr lang="en-US" sz="1200" kern="1200" dirty="0">
                <a:solidFill>
                  <a:schemeClr val="tx1"/>
                </a:solidFill>
                <a:effectLst/>
                <a:latin typeface="+mn-lt"/>
                <a:ea typeface="+mn-ea"/>
                <a:cs typeface="+mn-cs"/>
              </a:rPr>
              <a:t> Decoupled from rates/oil; central bank buying targets </a:t>
            </a:r>
            <a:r>
              <a:rPr lang="en-US" sz="1200" b="1" kern="1200" dirty="0">
                <a:solidFill>
                  <a:schemeClr val="tx1"/>
                </a:solidFill>
                <a:effectLst/>
                <a:latin typeface="+mn-lt"/>
                <a:ea typeface="+mn-ea"/>
                <a:cs typeface="+mn-cs"/>
              </a:rPr>
              <a:t>$5,000/oz</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Copper:</a:t>
            </a:r>
            <a:r>
              <a:rPr lang="en-US" sz="1200" kern="1200" dirty="0">
                <a:solidFill>
                  <a:schemeClr val="tx1"/>
                </a:solidFill>
                <a:effectLst/>
                <a:latin typeface="+mn-lt"/>
                <a:ea typeface="+mn-ea"/>
                <a:cs typeface="+mn-cs"/>
              </a:rPr>
              <a:t> The backbone of AI &amp; power infrastructure; target </a:t>
            </a:r>
            <a:r>
              <a:rPr lang="en-US" sz="1200" b="1" kern="1200" dirty="0">
                <a:solidFill>
                  <a:schemeClr val="tx1"/>
                </a:solidFill>
                <a:effectLst/>
                <a:latin typeface="+mn-lt"/>
                <a:ea typeface="+mn-ea"/>
                <a:cs typeface="+mn-cs"/>
              </a:rPr>
              <a:t>$7.00/lb</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Uranium:</a:t>
            </a:r>
            <a:r>
              <a:rPr lang="en-US" sz="1200" kern="1200" dirty="0">
                <a:solidFill>
                  <a:schemeClr val="tx1"/>
                </a:solidFill>
                <a:effectLst/>
                <a:latin typeface="+mn-lt"/>
                <a:ea typeface="+mn-ea"/>
                <a:cs typeface="+mn-cs"/>
              </a:rPr>
              <a:t> Essential baseload power for global net-zero targets and reactor buildouts. </a:t>
            </a:r>
          </a:p>
          <a:p>
            <a:pPr lvl="0"/>
            <a:r>
              <a:rPr lang="en-US" sz="1200" b="1" kern="1200" dirty="0">
                <a:solidFill>
                  <a:schemeClr val="tx1"/>
                </a:solidFill>
                <a:effectLst/>
                <a:latin typeface="+mn-lt"/>
                <a:ea typeface="+mn-ea"/>
                <a:cs typeface="+mn-cs"/>
              </a:rPr>
              <a:t>Bearish / Neutral Side: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Crude Oil:</a:t>
            </a:r>
            <a:r>
              <a:rPr lang="en-US" sz="1200" kern="1200" dirty="0">
                <a:solidFill>
                  <a:schemeClr val="tx1"/>
                </a:solidFill>
                <a:effectLst/>
                <a:latin typeface="+mn-lt"/>
                <a:ea typeface="+mn-ea"/>
                <a:cs typeface="+mn-cs"/>
              </a:rPr>
              <a:t> Chinese demand destruction and dark fleet inventory builds skew risk downward.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Fertilizers:</a:t>
            </a:r>
            <a:r>
              <a:rPr lang="en-US" sz="1200" kern="1200" dirty="0">
                <a:solidFill>
                  <a:schemeClr val="tx1"/>
                </a:solidFill>
                <a:effectLst/>
                <a:latin typeface="+mn-lt"/>
                <a:ea typeface="+mn-ea"/>
                <a:cs typeface="+mn-cs"/>
              </a:rPr>
              <a:t> High affordability and lack of bullish drivers keep sentiment neutral-to-bearish. </a:t>
            </a:r>
          </a:p>
          <a:p>
            <a:pPr lvl="0"/>
            <a:r>
              <a:rPr lang="en-US" sz="1200" b="1" kern="1200" dirty="0">
                <a:solidFill>
                  <a:schemeClr val="tx1"/>
                </a:solidFill>
                <a:effectLst/>
                <a:latin typeface="+mn-lt"/>
                <a:ea typeface="+mn-ea"/>
                <a:cs typeface="+mn-cs"/>
              </a:rPr>
              <a:t>Closing Remarks: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Thank you for your time. We will now open the floor for Q&amp;A.</a:t>
            </a:r>
          </a:p>
          <a:p>
            <a:endParaRPr lang="en-US" dirty="0"/>
          </a:p>
          <a:p>
            <a:endParaRPr lang="en-US" dirty="0"/>
          </a:p>
          <a:p>
            <a:endParaRPr lang="en-US" dirty="0"/>
          </a:p>
          <a:p>
            <a:r>
              <a:rPr lang="en-US" dirty="0"/>
              <a:t>https://www.youtube.com/watch?v=1Lylw0Anyxk</a:t>
            </a:r>
          </a:p>
          <a:p>
            <a:endParaRPr lang="en-US" dirty="0"/>
          </a:p>
        </p:txBody>
      </p:sp>
      <p:sp>
        <p:nvSpPr>
          <p:cNvPr id="4" name="Slide Number Placeholder 3"/>
          <p:cNvSpPr>
            <a:spLocks noGrp="1"/>
          </p:cNvSpPr>
          <p:nvPr>
            <p:ph type="sldNum" sz="quarter" idx="5"/>
          </p:nvPr>
        </p:nvSpPr>
        <p:spPr/>
        <p:txBody>
          <a:bodyPr/>
          <a:lstStyle/>
          <a:p>
            <a:fld id="{969F5963-C44E-4F00-B41D-77FA1ADD40B3}" type="slidenum">
              <a:rPr lang="en-US" smtClean="0"/>
              <a:t>12</a:t>
            </a:fld>
            <a:endParaRPr lang="en-US"/>
          </a:p>
        </p:txBody>
      </p:sp>
    </p:spTree>
    <p:extLst>
      <p:ext uri="{BB962C8B-B14F-4D97-AF65-F5344CB8AC3E}">
        <p14:creationId xmlns:p14="http://schemas.microsoft.com/office/powerpoint/2010/main" val="2977161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26792D-AD76-97F6-3D46-32827E038113}"/>
              </a:ext>
            </a:extLst>
          </p:cNvPr>
          <p:cNvSpPr>
            <a:spLocks noGrp="1"/>
          </p:cNvSpPr>
          <p:nvPr>
            <p:ph type="dt" sz="half" idx="10"/>
          </p:nvPr>
        </p:nvSpPr>
        <p:spPr/>
        <p:txBody>
          <a:bodyPr/>
          <a:lstStyle/>
          <a:p>
            <a:fld id="{CDA947AC-8CDF-44BF-9B76-A72765A93F65}" type="datetimeFigureOut">
              <a:rPr lang="en-US" smtClean="0"/>
              <a:t>10/20/2026</a:t>
            </a:fld>
            <a:endParaRPr lang="en-US"/>
          </a:p>
        </p:txBody>
      </p:sp>
      <p:sp>
        <p:nvSpPr>
          <p:cNvPr id="3" name="Footer Placeholder 2">
            <a:extLst>
              <a:ext uri="{FF2B5EF4-FFF2-40B4-BE49-F238E27FC236}">
                <a16:creationId xmlns:a16="http://schemas.microsoft.com/office/drawing/2014/main" id="{280C1128-6DC7-3ECE-9762-1F940869F0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25EF7A-41A3-CF41-33EC-E42BA023B7A5}"/>
              </a:ext>
            </a:extLst>
          </p:cNvPr>
          <p:cNvSpPr>
            <a:spLocks noGrp="1"/>
          </p:cNvSpPr>
          <p:nvPr>
            <p:ph type="sldNum" sz="quarter" idx="12"/>
          </p:nvPr>
        </p:nvSpPr>
        <p:spPr/>
        <p:txBody>
          <a:bodyPr/>
          <a:lstStyle/>
          <a:p>
            <a:fld id="{6F843471-04F3-4A9E-BEA5-2EA1AA3EDA74}" type="slidenum">
              <a:rPr lang="en-US" smtClean="0"/>
              <a:t>‹#›</a:t>
            </a:fld>
            <a:endParaRPr lang="en-US"/>
          </a:p>
        </p:txBody>
      </p:sp>
    </p:spTree>
    <p:extLst>
      <p:ext uri="{BB962C8B-B14F-4D97-AF65-F5344CB8AC3E}">
        <p14:creationId xmlns:p14="http://schemas.microsoft.com/office/powerpoint/2010/main" val="132464329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ED39A3-2AF2-3F55-54D9-7C5B03B85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C1E694-07AE-EB62-D0ED-31B0246F19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6B3A70-E23C-8412-7CD5-0CADE53854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A947AC-8CDF-44BF-9B76-A72765A93F65}" type="datetimeFigureOut">
              <a:rPr lang="en-US" smtClean="0"/>
              <a:t>10/20/2026</a:t>
            </a:fld>
            <a:endParaRPr lang="en-US"/>
          </a:p>
        </p:txBody>
      </p:sp>
      <p:sp>
        <p:nvSpPr>
          <p:cNvPr id="5" name="Footer Placeholder 4">
            <a:extLst>
              <a:ext uri="{FF2B5EF4-FFF2-40B4-BE49-F238E27FC236}">
                <a16:creationId xmlns:a16="http://schemas.microsoft.com/office/drawing/2014/main" id="{4C78263B-AD90-3323-F426-ABAB753E9C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0649E6-02BD-D673-9CD7-EB72BA862F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843471-04F3-4A9E-BEA5-2EA1AA3EDA74}" type="slidenum">
              <a:rPr lang="en-US" smtClean="0"/>
              <a:t>‹#›</a:t>
            </a:fld>
            <a:endParaRPr lang="en-US"/>
          </a:p>
        </p:txBody>
      </p:sp>
    </p:spTree>
    <p:extLst>
      <p:ext uri="{BB962C8B-B14F-4D97-AF65-F5344CB8AC3E}">
        <p14:creationId xmlns:p14="http://schemas.microsoft.com/office/powerpoint/2010/main" val="158527175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FF28B1D-4214-80E2-4B61-9A7959B97E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15B9F2-2B52-EE42-7286-4CC29F88DC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84E394-09CF-13B5-2DEF-B568DAD7CE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8579FC-4942-B21D-1ABE-827C1B7686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F619D4-C53F-91DE-DF28-BA89ADBD2E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806F76-451C-05A8-6633-043C26C1766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477D9D-0CED-6293-7A96-1023D4B52A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068907-FC66-4F23-A0A8-8CC2775885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6FF1B8-0F8D-BAC2-38DC-5415A60B26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6B6E3E-DCCD-E427-A206-8494B77D4BF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73B65F-FEDD-6D3E-389B-080E537F44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F5B8AB-C320-B0DD-BC8A-E6612483C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985507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1872</Words>
  <Application>Microsoft Office PowerPoint</Application>
  <PresentationFormat>寬螢幕</PresentationFormat>
  <Paragraphs>108</Paragraphs>
  <Slides>12</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2026-09-21T08:47:56Z</dcterms:created>
  <dcterms:modified xsi:type="dcterms:W3CDTF">2026-10-20T13:31:54Z</dcterms:modified>
</cp:coreProperties>
</file>