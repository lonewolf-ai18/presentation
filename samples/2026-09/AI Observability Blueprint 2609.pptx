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15703-4F9C-41A7-8C1E-09F4D60C24E2}" v="17" dt="2026-09-21T14:14:11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83191" autoAdjust="0"/>
  </p:normalViewPr>
  <p:slideViewPr>
    <p:cSldViewPr snapToGrid="0">
      <p:cViewPr varScale="1">
        <p:scale>
          <a:sx n="72" d="100"/>
          <a:sy n="72" d="100"/>
        </p:scale>
        <p:origin x="8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">
      <pc:chgData name="Lai, Wilson" userId="2840974a-0d84-4886-90a9-9a3ed79f3a48" providerId="ADAL" clId="{9F23B798-9E84-4552-BA63-E776E805C424}" dt="2026-09-21T14:14:29.599" v="56" actId="166"/>
      <pc:docMkLst>
        <pc:docMk/>
      </pc:docMkLst>
      <pc:sldChg chg="addSp delSp modSp mod modNotesTx">
        <pc:chgData name="Lai, Wilson" userId="2840974a-0d84-4886-90a9-9a3ed79f3a48" providerId="ADAL" clId="{9F23B798-9E84-4552-BA63-E776E805C424}" dt="2026-09-21T14:14:29.599" v="56" actId="166"/>
        <pc:sldMkLst>
          <pc:docMk/>
          <pc:sldMk cId="0" sldId="257"/>
        </pc:sldMkLst>
        <pc:picChg chg="del">
          <ac:chgData name="Lai, Wilson" userId="2840974a-0d84-4886-90a9-9a3ed79f3a48" providerId="ADAL" clId="{9F23B798-9E84-4552-BA63-E776E805C424}" dt="2026-09-21T13:50:01.001" v="0" actId="21"/>
          <ac:picMkLst>
            <pc:docMk/>
            <pc:sldMk cId="0" sldId="257"/>
            <ac:picMk id="2" creationId="{00000000-0000-0000-0000-000000000000}"/>
          </ac:picMkLst>
        </pc:picChg>
        <pc:picChg chg="add ord">
          <ac:chgData name="Lai, Wilson" userId="2840974a-0d84-4886-90a9-9a3ed79f3a48" providerId="ADAL" clId="{9F23B798-9E84-4552-BA63-E776E805C424}" dt="2026-09-21T14:14:29.599" v="56" actId="166"/>
          <ac:picMkLst>
            <pc:docMk/>
            <pc:sldMk cId="0" sldId="257"/>
            <ac:picMk id="7" creationId="{DB1E2CB6-E8D9-FED8-26D5-BDF454FD4AC2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21T14:14:11.830" v="55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21T13:51:14.697" v="2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3:52:35.195" v="3" actId="22"/>
          <ac:picMkLst>
            <pc:docMk/>
            <pc:sldMk cId="0" sldId="258"/>
            <ac:picMk id="4" creationId="{42AA0CDC-2CB8-D199-8E01-F4958FFF04B5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21T14:14:11.830" v="55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21T13:52:44.484" v="4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3:52:57.317" v="5" actId="22"/>
          <ac:picMkLst>
            <pc:docMk/>
            <pc:sldMk cId="0" sldId="259"/>
            <ac:picMk id="4" creationId="{FEF6CB0A-B697-77CF-3AB0-C803689BAF8E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21T13:52:59.358" v="6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3:54:04.424" v="7" actId="22"/>
          <ac:picMkLst>
            <pc:docMk/>
            <pc:sldMk cId="0" sldId="260"/>
            <ac:picMk id="4" creationId="{500210DB-FF93-D193-64B1-F5F20E73B023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21T13:54:39.803" v="8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3:55:23.348" v="9" actId="22"/>
          <ac:picMkLst>
            <pc:docMk/>
            <pc:sldMk cId="0" sldId="261"/>
            <ac:picMk id="4" creationId="{8F653E04-E292-A158-F6EE-1842894E07A3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21T13:55:26.438" v="10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3:56:03.830" v="11" actId="22"/>
          <ac:picMkLst>
            <pc:docMk/>
            <pc:sldMk cId="0" sldId="262"/>
            <ac:picMk id="4" creationId="{50CE6E05-47E9-0FB8-E7EE-59AF669A6BF6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21T13:56:07.377" v="12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3:57:02.897" v="13" actId="22"/>
          <ac:picMkLst>
            <pc:docMk/>
            <pc:sldMk cId="0" sldId="263"/>
            <ac:picMk id="4" creationId="{712AEDD0-6073-A66D-7697-C3DD0EC0F1E6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21T13:57:04.590" v="14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3:58:05.218" v="15" actId="22"/>
          <ac:picMkLst>
            <pc:docMk/>
            <pc:sldMk cId="0" sldId="264"/>
            <ac:picMk id="4" creationId="{6280C33B-428D-B50B-88A8-10F67E2728F9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21T13:58:08.673" v="16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3:59:03.437" v="17" actId="22"/>
          <ac:picMkLst>
            <pc:docMk/>
            <pc:sldMk cId="0" sldId="265"/>
            <ac:picMk id="4" creationId="{9BC30053-CD51-F7D1-AA61-776ADE33AD7D}"/>
          </ac:picMkLst>
        </pc:picChg>
      </pc:sldChg>
      <pc:sldChg chg="addSp delSp mod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66"/>
        </pc:sldMkLst>
        <pc:picChg chg="del mod">
          <ac:chgData name="Lai, Wilson" userId="2840974a-0d84-4886-90a9-9a3ed79f3a48" providerId="ADAL" clId="{9F23B798-9E84-4552-BA63-E776E805C424}" dt="2026-09-21T13:59:06.371" v="19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3:59:32.609" v="20" actId="22"/>
          <ac:picMkLst>
            <pc:docMk/>
            <pc:sldMk cId="0" sldId="266"/>
            <ac:picMk id="4" creationId="{1A5BC26F-3F03-0EBF-8194-2057968F63D7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21T13:59:51.593" v="21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4:00:17.656" v="22" actId="22"/>
          <ac:picMkLst>
            <pc:docMk/>
            <pc:sldMk cId="0" sldId="267"/>
            <ac:picMk id="4" creationId="{E0731F32-2A8A-BEBA-AD62-E990E111D092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21T14:14:11.830" v="55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21T14:00:20.490" v="23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4:00:46.244" v="24" actId="22"/>
          <ac:picMkLst>
            <pc:docMk/>
            <pc:sldMk cId="0" sldId="268"/>
            <ac:picMk id="4" creationId="{A021A781-3B03-D5FA-83B8-514385A50324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21T14:00:48.321" v="25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4:01:15.906" v="26" actId="22"/>
          <ac:picMkLst>
            <pc:docMk/>
            <pc:sldMk cId="0" sldId="269"/>
            <ac:picMk id="4" creationId="{C27A0826-0061-3984-4E66-EFF02BA14411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9-21T14:01:18.211" v="27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4:01:41.617" v="28" actId="22"/>
          <ac:picMkLst>
            <pc:docMk/>
            <pc:sldMk cId="0" sldId="270"/>
            <ac:picMk id="4" creationId="{7F4E343B-F5D0-4E8C-61FF-B12EB4EBC708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1T14:14:11.830" v="55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9-21T14:01:43.504" v="29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1T14:02:12.102" v="30" actId="22"/>
          <ac:picMkLst>
            <pc:docMk/>
            <pc:sldMk cId="0" sldId="271"/>
            <ac:picMk id="4" creationId="{76EE9761-B0EE-D0D3-1DE2-2DE0F8043C07}"/>
          </ac:picMkLst>
        </pc:picChg>
      </pc:sldChg>
      <pc:sldChg chg="modNotes modNotesTx">
        <pc:chgData name="Lai, Wilson" userId="2840974a-0d84-4886-90a9-9a3ed79f3a48" providerId="ADAL" clId="{9F23B798-9E84-4552-BA63-E776E805C424}" dt="2026-09-21T14:14:11.830" v="55"/>
        <pc:sldMkLst>
          <pc:docMk/>
          <pc:sldMk cId="25775777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AC369-1DBB-4DC0-AC7B-17471954ED1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24881-9FE6-4D90-9608-71CC41DE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14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Welcome, everyone. Today we are diving into 'The Ultimate Guide 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AI: Making the Invisible Visible'. As AI systems become central to software architectures—moving from simple static microservices to complex, non-deterministic agentic workflows—our observability practices must adapt. Standard infrastructure metrics like CPU utilization or HTTP status codes are no longer enough.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session, we will demystify AI observability. We will move step-by-step from foundational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principles 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OpenInference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standards, span hierarchies, sampling strategies, and production-ready implementation practices. By the end of this talk, you will understand how to turn invisible AI behaviors into actionable, traceable telemetry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https://www.youtube.com/watch?v=fHGSxOhWO-g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3ABB2-5193-4BAA-A960-880445E2C5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25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why AI observability is critical, let's look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Silent Failure Problem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traditional software engineering, an outage is usually explicit—a service returns an HTTP 500 Server Error, a database connection drops, or a pod crashes.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in AI applications, you can easily maintain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uptime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paper while your product is actively failing. Users don't think in 'five nines' of availability; they simply expect the system to provide correct, reliable results.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an LLM application suffers from silent degradation, it might hallucinate facts, execute the wrong tool call, retrieve irrelevant chunks from a RAG vector database, or quietly produce truncated outputs. From the perspective of traditional monitoring tools, every HTTP call returned a 200 OK. But to the end user, the system is broken. This invisible breakdown erodes user trust rapidly.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the standardized framework needed to stop guessing and start measuring what is actually happening inside the AI black box.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58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solve the black-box challenge, we rely on two key standards working together: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OpenInference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left pillar, we have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CNCF industry standard. It is a vendor-neutral, language-agnostic framework designed to generate, collect, and export telemetry data—specifically traces, metrics, and logs. It is crucial to clarify what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not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it is not a database, nor is it a dashboard or visualization tool.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handles the plumbing and transport layer.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right pillar, we have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OpenInference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While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the base telemetry framework, it originally lacked semantic definitions for AI-specific concepts.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OpenInference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acts as the AI extension layer built directly on top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standardizes how AI attributes—such as prompt messages, completion outputs, token usage counts, embedding vectors, and tool parameters—are named and structured.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Together, they ensure your AI telemetry remains completely open, portable, and independent of any single vendor backend.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29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examine how telemetry data is structured using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Triad Framework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Sessions, Traces, and Spans.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highest boundary. A session represents an entire user journey or multi-turn interaction over time—such as a user chatting with a customer support bot over ten minutes.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single execution path triggered by a specific request. For instance, one user prompt that causes an agent to run multiple steps forms a single trace shared across a unique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fundamental building block. A span represents a single contiguous unit of work—like executing an embedding model, querying a vector store, or calling an LLM API.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Spans exist in parent-child relationships established through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pointers. Pay close attention to the warning at the bottom of this slide: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Orphan Spans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context propagation fails or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points to a non-existent span, the trace chain breaks. In complex distributed AI workflows, broken trace chains make it impossible to reconstruct the execution tree.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33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Zooming inside an individual span, what key metadata does it contain?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Context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An immutable identity object holding the unique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Key-value pairs containing vital metadata. In AI applications, this is where token counts, model names, temperature settings, and prompt inputs/outputs live.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Structured logs tied to specific timestamps within the duration of the span. These are great for marking discrete internal milestones, like stream token arrival.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Explicitly defined state indicator—Unset, OK, or Error. Note that by default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status is Unset. If an exception occurs, you must explicitly set the status to Error so backend monitoring tools can flag it.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Classifies the role of the span (e.g., Client, Server, Internal).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88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openinference.span.kind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arguably the single most critical task when instrumenting AI applications. Downstream observability backends rely heavily on this attribute to correctly parse and render your traces.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OpenInference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defines four primary categories: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Represents a direct call to a language model. Requires capturing input messages, output completions, token counts, and model parameters.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Represents sequential execution logic or workflow orchestrations (like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execution path or custom pipeline).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Captures high-level agentic routing logic, decisions, and system prompts.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Represents an external API or function call executed by an agent—such as a database lookup, web search, or math calculator.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Categorizing spans properly allows downstream tools to separate model latency from external tool performance automatically.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8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that we understand how data is structured, let's look at how telemetry flows through your application using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Pipeline Blueprint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Configured once at startup. It appends immutable global metadata—such as service name, service version, environment (production vs staging), and host info—to every span generated.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Tracer Provider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stateful runtime factory. It holds the global configuration and dispenses Tracer instances to your application modules.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Processor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Intercepts spans at lifecycle events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on_start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on_end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It determines how spans are processed, filtered, or batched before transmission.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Converts in-memory spans into wire payloads and sends them to the destination backend.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60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setting up your pipeline, you must choose a Span Processor. There are two choices, and choosing the wrong one will severely degrade your application's performance.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 Span Processor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Exports each span synchronously as soon as it ends. This adds massive network latency directly onto your application thread.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for local development and debugging only.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Never run this in production!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Span Processor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mandatory production standard. It buffers spans asynchronously in memory and flushes them in batches based on configured thresholds: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 Batch Size: Triggers an immediate export when reached (e.g., 512 spans).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 Delay: Maximum time to wait before forcing a flush.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 Queue Size: Caps memory usage; note that if exceeded, new spans are silently dropped.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76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spans are batched, how do they move across the network? We have two primary transport choices: 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(Production Recommended)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HTTP/2 on Port 4317 with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Protobuf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serialization.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Highly compact, multiplexed, and optimized for high-throughput AI workloads.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Has a strict default 4MB payload limit, and corporate proxies or strict firewalls sometimes block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(Fallback / Bypass)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standard HTTP POST on Port 4318 with JSON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Protobuf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serialization.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for local debugging and easily bypasses strict corporate firewalls or service meshes.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07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we actually write the code to capture this telemetry? There are three main strategies: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Auto-Instrumentation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Uses monkey-patching under the hood to automatically intercept calls to popular libraries (like OpenAI,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LlamaIndex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Requires almost no code changes, but gives you little control over contextual metadata.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 Instrumentation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Requires manually wrapping functions with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tracer.start_as_current_span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 Provides complete control, but is tedious and error-prone.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Hybrid Approach (The Sweet Spot)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recommended practice. You use auto-instrumentation to seamlessly capture standard LLM calls, while using context managers in your business logic to inject scoped metadata—like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routing flags—into active traces.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35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modern distributed architectures, an AI request often spans multiple microservices. How do we maintain trace continuity across service boundaries? Through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Propagation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Service A makes an HTTP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call to Service B: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A uses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TextMapPropagator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inject the active span context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baggage) directly into outgoing HTTP headers (such as the W3C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traceparent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header).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B extracts these headers upon receiving the request.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B initializes its root span using the extracted parent context, seamlessly connecting Service B's operations as child spans of Service A.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03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inputs and outputs frequently contain sensitive user data or PII (Personally Identifiable Information). A key challenge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completed spans are immutable once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on_end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called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you cannot simply modify or delete attributes on an existing span object in-place.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Solution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Build a custom Span Processor Redaction Engine. When a span ends, the custom processor intercepts it before exporting. It extracts the raw attributes, applies regex/masking rules to sanitize sensitive prompts or outputs, instantiates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sanitized span object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forwards the clean span to the exporter while safely dropping the original.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83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scale, collecting 100% of telemetry data can become prohibitively expensive. To manage cost and storage, we use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 Sampling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is made at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trace.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a ratio (e.g., sample 10% of requests).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Extremely cheap, zero memory buffer required.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Blind to errors or latency spikes that occur later during execution.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Tail Sampling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is made at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trace.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buffering spans in 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Collector until the full trace completes.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100% effective at catching slow requests, errors, edge cases, and hallucinations.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Higher memory overhead on the collector infrastructure.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42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high-volume, enterprise production deployments, sending telemetry directly from application nodes to backends is anti-pattern. Instead, we deploy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OTel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Collector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Collector consists of three sequential components: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Accept incoming telemetry streams from applications on dedicated ports.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Execute heavy-duty tasks off-application thread—such as Tail Sampling, attribute scrub/transformation, and batching.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Support 'Fan Out' capabilities, sending processed data concurrently to multiple destinations (e.g.,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for ML evaluation alongside traditional APM tools for system performance).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77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shipping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AI to production, review these five non-negotiable rules: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 Use Batch Processors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Never run Simple Processors in production to avoid severe latency degradation.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Tune Timeouts Carefully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Ensure exporter timeouts are strictly shorter than processor timeouts to prevent retry cascades.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Force Flush on Exit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Explicitly call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force_flush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or shutdown() on process termination—critical for serverless environments like AWS Lambda or Node.js.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Strict Semantic Adherence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 enforce standard naming, especially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openinference.span.kind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 Environment Variables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Watch out for pre-existing system env vars that might quietly override your SDK configurations in production.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41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 our blueprint, let's summarize the key layers of mastering AI Observability: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Hierarchy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Remember how single operations (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aggregate into full request paths (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which roll up into complete user conversations (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Engine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well-tuned pipeline uses a robust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Tracer Provider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asynchronous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Processors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efficient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move telemetry safely.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 Types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Combine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(for root-cause latency/failure analysis),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(for token usage and cost monitoring),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(for discrete event tracking).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grounding your AI stack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OpenInference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standards, you turn silent failures into visible, actionable insights. Thank you!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https://www.youtube.com/watch?v=fHGSxOhWO-g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24881-9FE6-4D90-9608-71CC41DE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58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96C46-693E-D985-8ECF-937F971B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E25-E04D-4209-AAE2-06997813174C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EC8D19-43C0-ECDB-7C15-6D514038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49BB-1E5B-1E92-E4E7-D8932CCEF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D835-63D1-4584-8FE4-54DF4ADF1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9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B18A5-D1BD-9BA9-A8D5-E7DAF833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7ED24-EF3F-AFE3-4D56-B5C092DEC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B1B76-1A7E-5EEE-8C7C-3D7E23092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0AE25-E04D-4209-AAE2-06997813174C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5C881-3C00-3651-DF25-AD51F76DC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82985-0D6F-7039-E82B-FD1CFA348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DD835-63D1-4584-8FE4-54DF4ADF1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5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1E2CB6-E8D9-FED8-26D5-BDF454FD4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AA0CDC-2CB8-D199-8E01-F4958FFF0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F6CB0A-B697-77CF-3AB0-C803689BA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0210DB-FF93-D193-64B1-F5F20E73B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653E04-E292-A158-F6EE-1842894E0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CE6E05-47E9-0FB8-E7EE-59AF669A6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2AEDD0-6073-A66D-7697-C3DD0EC0F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80C33B-428D-B50B-88A8-10F67E272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C30053-CD51-F7D1-AA61-776ADE33A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5BC26F-3F03-0EBF-8194-2057968F6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731F32-2A8A-BEBA-AD62-E990E111D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21A781-3B03-D5FA-83B8-514385A50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7A0826-0061-3984-4E66-EFF02BA14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4E343B-F5D0-4E8C-61FF-B12EB4EBC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EE9761-B0EE-D0D3-1DE2-2DE0F8043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28ED0D-924C-849E-C88A-D30737A74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2224</Words>
  <Application>Microsoft Office PowerPoint</Application>
  <PresentationFormat>寬螢幕</PresentationFormat>
  <Paragraphs>110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2026-09-21T12:50:06Z</dcterms:created>
  <dcterms:modified xsi:type="dcterms:W3CDTF">2026-10-20T13:26:57Z</dcterms:modified>
</cp:coreProperties>
</file>