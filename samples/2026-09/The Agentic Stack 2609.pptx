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AF3729-1B64-4701-9547-50DAB565717D}" v="22" dt="2026-09-23T03:10:45.3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23T03:11:00.245" v="69" actId="166"/>
      <pc:docMkLst>
        <pc:docMk/>
      </pc:docMkLst>
      <pc:sldChg chg="addSp delSp modSp mod modAnim modNotes modNotesTx">
        <pc:chgData name="Lai, Wilson" userId="2840974a-0d84-4886-90a9-9a3ed79f3a48" providerId="ADAL" clId="{9F23B798-9E84-4552-BA63-E776E805C424}" dt="2026-09-23T03:11:00.245" v="69" actId="166"/>
        <pc:sldMkLst>
          <pc:docMk/>
          <pc:sldMk cId="0" sldId="257"/>
        </pc:sldMkLst>
        <pc:spChg chg="add mod">
          <ac:chgData name="Lai, Wilson" userId="2840974a-0d84-4886-90a9-9a3ed79f3a48" providerId="ADAL" clId="{9F23B798-9E84-4552-BA63-E776E805C424}" dt="2026-09-23T02:44:28.328" v="38" actId="164"/>
          <ac:spMkLst>
            <pc:docMk/>
            <pc:sldMk cId="0" sldId="257"/>
            <ac:spMk id="5" creationId="{25E47983-1AE2-5757-7B90-50A901FC69D0}"/>
          </ac:spMkLst>
        </pc:spChg>
        <pc:grpChg chg="add mod">
          <ac:chgData name="Lai, Wilson" userId="2840974a-0d84-4886-90a9-9a3ed79f3a48" providerId="ADAL" clId="{9F23B798-9E84-4552-BA63-E776E805C424}" dt="2026-09-23T02:44:28.328" v="38" actId="164"/>
          <ac:grpSpMkLst>
            <pc:docMk/>
            <pc:sldMk cId="0" sldId="257"/>
            <ac:grpSpMk id="6" creationId="{F7787EBF-B783-21AC-572A-AB55800F05B6}"/>
          </ac:grpSpMkLst>
        </pc:grpChg>
        <pc:picChg chg="del">
          <ac:chgData name="Lai, Wilson" userId="2840974a-0d84-4886-90a9-9a3ed79f3a48" providerId="ADAL" clId="{9F23B798-9E84-4552-BA63-E776E805C424}" dt="2026-09-23T02:18:27.170" v="0" actId="21"/>
          <ac:picMkLst>
            <pc:docMk/>
            <pc:sldMk cId="0" sldId="257"/>
            <ac:picMk id="2" creationId="{00000000-0000-0000-0000-000000000000}"/>
          </ac:picMkLst>
        </pc:picChg>
        <pc:picChg chg="add mod">
          <ac:chgData name="Lai, Wilson" userId="2840974a-0d84-4886-90a9-9a3ed79f3a48" providerId="ADAL" clId="{9F23B798-9E84-4552-BA63-E776E805C424}" dt="2026-09-23T02:44:28.328" v="38" actId="164"/>
          <ac:picMkLst>
            <pc:docMk/>
            <pc:sldMk cId="0" sldId="257"/>
            <ac:picMk id="2" creationId="{A6B8A1EF-40B7-73FB-066E-2745DC4B018C}"/>
          </ac:picMkLst>
        </pc:picChg>
        <pc:picChg chg="add ord">
          <ac:chgData name="Lai, Wilson" userId="2840974a-0d84-4886-90a9-9a3ed79f3a48" providerId="ADAL" clId="{9F23B798-9E84-4552-BA63-E776E805C424}" dt="2026-09-23T03:11:00.245" v="69" actId="166"/>
          <ac:picMkLst>
            <pc:docMk/>
            <pc:sldMk cId="0" sldId="257"/>
            <ac:picMk id="4" creationId="{A220265D-9DE6-00EC-93CB-E55751F1DE75}"/>
          </ac:picMkLst>
        </pc:picChg>
      </pc:sldChg>
      <pc:sldChg chg="addSp delSp mod modNotes">
        <pc:chgData name="Lai, Wilson" userId="2840974a-0d84-4886-90a9-9a3ed79f3a48" providerId="ADAL" clId="{9F23B798-9E84-4552-BA63-E776E805C424}" dt="2026-09-23T03:10:45.357" v="66"/>
        <pc:sldMkLst>
          <pc:docMk/>
          <pc:sldMk cId="0" sldId="258"/>
        </pc:sldMkLst>
        <pc:picChg chg="del">
          <ac:chgData name="Lai, Wilson" userId="2840974a-0d84-4886-90a9-9a3ed79f3a48" providerId="ADAL" clId="{9F23B798-9E84-4552-BA63-E776E805C424}" dt="2026-09-23T02:18:36.602" v="2" actId="21"/>
          <ac:picMkLst>
            <pc:docMk/>
            <pc:sldMk cId="0" sldId="258"/>
            <ac:picMk id="2" creationId="{00000000-0000-0000-0000-000000000000}"/>
          </ac:picMkLst>
        </pc:picChg>
        <pc:picChg chg="add">
          <ac:chgData name="Lai, Wilson" userId="2840974a-0d84-4886-90a9-9a3ed79f3a48" providerId="ADAL" clId="{9F23B798-9E84-4552-BA63-E776E805C424}" dt="2026-09-23T02:18:53.742" v="3" actId="22"/>
          <ac:picMkLst>
            <pc:docMk/>
            <pc:sldMk cId="0" sldId="258"/>
            <ac:picMk id="4" creationId="{8733999D-A811-2678-6348-8585FE543744}"/>
          </ac:picMkLst>
        </pc:picChg>
      </pc:sldChg>
      <pc:sldChg chg="addSp delSp mod modNotes">
        <pc:chgData name="Lai, Wilson" userId="2840974a-0d84-4886-90a9-9a3ed79f3a48" providerId="ADAL" clId="{9F23B798-9E84-4552-BA63-E776E805C424}" dt="2026-09-23T03:10:45.357" v="66"/>
        <pc:sldMkLst>
          <pc:docMk/>
          <pc:sldMk cId="0" sldId="259"/>
        </pc:sldMkLst>
        <pc:picChg chg="del">
          <ac:chgData name="Lai, Wilson" userId="2840974a-0d84-4886-90a9-9a3ed79f3a48" providerId="ADAL" clId="{9F23B798-9E84-4552-BA63-E776E805C424}" dt="2026-09-23T02:18:55.368" v="4" actId="21"/>
          <ac:picMkLst>
            <pc:docMk/>
            <pc:sldMk cId="0" sldId="259"/>
            <ac:picMk id="2" creationId="{00000000-0000-0000-0000-000000000000}"/>
          </ac:picMkLst>
        </pc:picChg>
        <pc:picChg chg="add">
          <ac:chgData name="Lai, Wilson" userId="2840974a-0d84-4886-90a9-9a3ed79f3a48" providerId="ADAL" clId="{9F23B798-9E84-4552-BA63-E776E805C424}" dt="2026-09-23T02:19:05.722" v="5" actId="22"/>
          <ac:picMkLst>
            <pc:docMk/>
            <pc:sldMk cId="0" sldId="259"/>
            <ac:picMk id="4" creationId="{08FEDA68-90C1-3625-8ABA-F19032D36138}"/>
          </ac:picMkLst>
        </pc:picChg>
      </pc:sldChg>
      <pc:sldChg chg="addSp delSp mod modNotes">
        <pc:chgData name="Lai, Wilson" userId="2840974a-0d84-4886-90a9-9a3ed79f3a48" providerId="ADAL" clId="{9F23B798-9E84-4552-BA63-E776E805C424}" dt="2026-09-23T03:10:45.357" v="66"/>
        <pc:sldMkLst>
          <pc:docMk/>
          <pc:sldMk cId="0" sldId="260"/>
        </pc:sldMkLst>
        <pc:picChg chg="del">
          <ac:chgData name="Lai, Wilson" userId="2840974a-0d84-4886-90a9-9a3ed79f3a48" providerId="ADAL" clId="{9F23B798-9E84-4552-BA63-E776E805C424}" dt="2026-09-23T02:19:07.442" v="6" actId="21"/>
          <ac:picMkLst>
            <pc:docMk/>
            <pc:sldMk cId="0" sldId="260"/>
            <ac:picMk id="2" creationId="{00000000-0000-0000-0000-000000000000}"/>
          </ac:picMkLst>
        </pc:picChg>
        <pc:picChg chg="add">
          <ac:chgData name="Lai, Wilson" userId="2840974a-0d84-4886-90a9-9a3ed79f3a48" providerId="ADAL" clId="{9F23B798-9E84-4552-BA63-E776E805C424}" dt="2026-09-23T02:19:15.662" v="7" actId="22"/>
          <ac:picMkLst>
            <pc:docMk/>
            <pc:sldMk cId="0" sldId="260"/>
            <ac:picMk id="4" creationId="{13F43817-076C-A288-6B25-652314D26B44}"/>
          </ac:picMkLst>
        </pc:picChg>
      </pc:sldChg>
      <pc:sldChg chg="addSp delSp mod modNotes modNotesTx">
        <pc:chgData name="Lai, Wilson" userId="2840974a-0d84-4886-90a9-9a3ed79f3a48" providerId="ADAL" clId="{9F23B798-9E84-4552-BA63-E776E805C424}" dt="2026-09-23T03:10:45.357" v="66"/>
        <pc:sldMkLst>
          <pc:docMk/>
          <pc:sldMk cId="0" sldId="261"/>
        </pc:sldMkLst>
        <pc:picChg chg="del">
          <ac:chgData name="Lai, Wilson" userId="2840974a-0d84-4886-90a9-9a3ed79f3a48" providerId="ADAL" clId="{9F23B798-9E84-4552-BA63-E776E805C424}" dt="2026-09-23T02:19:17.090" v="8" actId="21"/>
          <ac:picMkLst>
            <pc:docMk/>
            <pc:sldMk cId="0" sldId="261"/>
            <ac:picMk id="2" creationId="{00000000-0000-0000-0000-000000000000}"/>
          </ac:picMkLst>
        </pc:picChg>
        <pc:picChg chg="add">
          <ac:chgData name="Lai, Wilson" userId="2840974a-0d84-4886-90a9-9a3ed79f3a48" providerId="ADAL" clId="{9F23B798-9E84-4552-BA63-E776E805C424}" dt="2026-09-23T02:19:28.742" v="9" actId="22"/>
          <ac:picMkLst>
            <pc:docMk/>
            <pc:sldMk cId="0" sldId="261"/>
            <ac:picMk id="4" creationId="{B7DF008D-8FB1-3EF2-757F-BCF610A61FA0}"/>
          </ac:picMkLst>
        </pc:picChg>
      </pc:sldChg>
      <pc:sldChg chg="addSp delSp mod modNotes">
        <pc:chgData name="Lai, Wilson" userId="2840974a-0d84-4886-90a9-9a3ed79f3a48" providerId="ADAL" clId="{9F23B798-9E84-4552-BA63-E776E805C424}" dt="2026-09-23T03:10:45.357" v="66"/>
        <pc:sldMkLst>
          <pc:docMk/>
          <pc:sldMk cId="0" sldId="262"/>
        </pc:sldMkLst>
        <pc:picChg chg="del">
          <ac:chgData name="Lai, Wilson" userId="2840974a-0d84-4886-90a9-9a3ed79f3a48" providerId="ADAL" clId="{9F23B798-9E84-4552-BA63-E776E805C424}" dt="2026-09-23T02:19:31.008" v="10" actId="21"/>
          <ac:picMkLst>
            <pc:docMk/>
            <pc:sldMk cId="0" sldId="262"/>
            <ac:picMk id="2" creationId="{00000000-0000-0000-0000-000000000000}"/>
          </ac:picMkLst>
        </pc:picChg>
        <pc:picChg chg="add">
          <ac:chgData name="Lai, Wilson" userId="2840974a-0d84-4886-90a9-9a3ed79f3a48" providerId="ADAL" clId="{9F23B798-9E84-4552-BA63-E776E805C424}" dt="2026-09-23T02:19:42.991" v="11" actId="22"/>
          <ac:picMkLst>
            <pc:docMk/>
            <pc:sldMk cId="0" sldId="262"/>
            <ac:picMk id="4" creationId="{1412EA60-7F57-4107-2535-43A0D5074EE3}"/>
          </ac:picMkLst>
        </pc:picChg>
      </pc:sldChg>
      <pc:sldChg chg="addSp delSp mod modNotes modNotesTx">
        <pc:chgData name="Lai, Wilson" userId="2840974a-0d84-4886-90a9-9a3ed79f3a48" providerId="ADAL" clId="{9F23B798-9E84-4552-BA63-E776E805C424}" dt="2026-09-23T03:10:45.357" v="66"/>
        <pc:sldMkLst>
          <pc:docMk/>
          <pc:sldMk cId="0" sldId="263"/>
        </pc:sldMkLst>
        <pc:picChg chg="del">
          <ac:chgData name="Lai, Wilson" userId="2840974a-0d84-4886-90a9-9a3ed79f3a48" providerId="ADAL" clId="{9F23B798-9E84-4552-BA63-E776E805C424}" dt="2026-09-23T02:19:44.291" v="12" actId="21"/>
          <ac:picMkLst>
            <pc:docMk/>
            <pc:sldMk cId="0" sldId="263"/>
            <ac:picMk id="2" creationId="{00000000-0000-0000-0000-000000000000}"/>
          </ac:picMkLst>
        </pc:picChg>
        <pc:picChg chg="add">
          <ac:chgData name="Lai, Wilson" userId="2840974a-0d84-4886-90a9-9a3ed79f3a48" providerId="ADAL" clId="{9F23B798-9E84-4552-BA63-E776E805C424}" dt="2026-09-23T02:20:15.417" v="13" actId="22"/>
          <ac:picMkLst>
            <pc:docMk/>
            <pc:sldMk cId="0" sldId="263"/>
            <ac:picMk id="4" creationId="{9D265928-1116-20AE-2922-5838E8197ECB}"/>
          </ac:picMkLst>
        </pc:picChg>
      </pc:sldChg>
      <pc:sldChg chg="addSp delSp mod modNotes modNotesTx">
        <pc:chgData name="Lai, Wilson" userId="2840974a-0d84-4886-90a9-9a3ed79f3a48" providerId="ADAL" clId="{9F23B798-9E84-4552-BA63-E776E805C424}" dt="2026-09-23T03:10:45.357" v="66"/>
        <pc:sldMkLst>
          <pc:docMk/>
          <pc:sldMk cId="0" sldId="264"/>
        </pc:sldMkLst>
        <pc:picChg chg="del">
          <ac:chgData name="Lai, Wilson" userId="2840974a-0d84-4886-90a9-9a3ed79f3a48" providerId="ADAL" clId="{9F23B798-9E84-4552-BA63-E776E805C424}" dt="2026-09-23T02:20:16.868" v="14" actId="21"/>
          <ac:picMkLst>
            <pc:docMk/>
            <pc:sldMk cId="0" sldId="264"/>
            <ac:picMk id="2" creationId="{00000000-0000-0000-0000-000000000000}"/>
          </ac:picMkLst>
        </pc:picChg>
        <pc:picChg chg="add">
          <ac:chgData name="Lai, Wilson" userId="2840974a-0d84-4886-90a9-9a3ed79f3a48" providerId="ADAL" clId="{9F23B798-9E84-4552-BA63-E776E805C424}" dt="2026-09-23T02:20:28.319" v="15" actId="22"/>
          <ac:picMkLst>
            <pc:docMk/>
            <pc:sldMk cId="0" sldId="264"/>
            <ac:picMk id="4" creationId="{3EF3DB15-428C-FFCB-95F0-805F73D76EFA}"/>
          </ac:picMkLst>
        </pc:picChg>
      </pc:sldChg>
      <pc:sldChg chg="addSp delSp mod modNotes modNotesTx">
        <pc:chgData name="Lai, Wilson" userId="2840974a-0d84-4886-90a9-9a3ed79f3a48" providerId="ADAL" clId="{9F23B798-9E84-4552-BA63-E776E805C424}" dt="2026-09-23T03:10:45.357" v="66"/>
        <pc:sldMkLst>
          <pc:docMk/>
          <pc:sldMk cId="0" sldId="265"/>
        </pc:sldMkLst>
        <pc:picChg chg="del">
          <ac:chgData name="Lai, Wilson" userId="2840974a-0d84-4886-90a9-9a3ed79f3a48" providerId="ADAL" clId="{9F23B798-9E84-4552-BA63-E776E805C424}" dt="2026-09-23T02:20:30.262" v="16" actId="21"/>
          <ac:picMkLst>
            <pc:docMk/>
            <pc:sldMk cId="0" sldId="265"/>
            <ac:picMk id="2" creationId="{00000000-0000-0000-0000-000000000000}"/>
          </ac:picMkLst>
        </pc:picChg>
        <pc:picChg chg="add">
          <ac:chgData name="Lai, Wilson" userId="2840974a-0d84-4886-90a9-9a3ed79f3a48" providerId="ADAL" clId="{9F23B798-9E84-4552-BA63-E776E805C424}" dt="2026-09-23T02:20:43.706" v="17" actId="22"/>
          <ac:picMkLst>
            <pc:docMk/>
            <pc:sldMk cId="0" sldId="265"/>
            <ac:picMk id="4" creationId="{27C5A7FF-7297-0E82-6822-37488394B8FD}"/>
          </ac:picMkLst>
        </pc:picChg>
      </pc:sldChg>
      <pc:sldChg chg="addSp delSp mod modNotes modNotesTx">
        <pc:chgData name="Lai, Wilson" userId="2840974a-0d84-4886-90a9-9a3ed79f3a48" providerId="ADAL" clId="{9F23B798-9E84-4552-BA63-E776E805C424}" dt="2026-09-23T03:10:45.357" v="66"/>
        <pc:sldMkLst>
          <pc:docMk/>
          <pc:sldMk cId="0" sldId="266"/>
        </pc:sldMkLst>
        <pc:picChg chg="del">
          <ac:chgData name="Lai, Wilson" userId="2840974a-0d84-4886-90a9-9a3ed79f3a48" providerId="ADAL" clId="{9F23B798-9E84-4552-BA63-E776E805C424}" dt="2026-09-23T02:20:45.580" v="18" actId="21"/>
          <ac:picMkLst>
            <pc:docMk/>
            <pc:sldMk cId="0" sldId="266"/>
            <ac:picMk id="2" creationId="{00000000-0000-0000-0000-000000000000}"/>
          </ac:picMkLst>
        </pc:picChg>
        <pc:picChg chg="add">
          <ac:chgData name="Lai, Wilson" userId="2840974a-0d84-4886-90a9-9a3ed79f3a48" providerId="ADAL" clId="{9F23B798-9E84-4552-BA63-E776E805C424}" dt="2026-09-23T02:20:54.355" v="19" actId="22"/>
          <ac:picMkLst>
            <pc:docMk/>
            <pc:sldMk cId="0" sldId="266"/>
            <ac:picMk id="4" creationId="{976A64CF-1088-D82A-33F4-E8034F2FC46C}"/>
          </ac:picMkLst>
        </pc:picChg>
      </pc:sldChg>
      <pc:sldChg chg="addSp delSp mod modNotes modNotesTx">
        <pc:chgData name="Lai, Wilson" userId="2840974a-0d84-4886-90a9-9a3ed79f3a48" providerId="ADAL" clId="{9F23B798-9E84-4552-BA63-E776E805C424}" dt="2026-09-23T03:10:45.357" v="66"/>
        <pc:sldMkLst>
          <pc:docMk/>
          <pc:sldMk cId="0" sldId="267"/>
        </pc:sldMkLst>
        <pc:picChg chg="del">
          <ac:chgData name="Lai, Wilson" userId="2840974a-0d84-4886-90a9-9a3ed79f3a48" providerId="ADAL" clId="{9F23B798-9E84-4552-BA63-E776E805C424}" dt="2026-09-23T02:20:55.681" v="20" actId="21"/>
          <ac:picMkLst>
            <pc:docMk/>
            <pc:sldMk cId="0" sldId="267"/>
            <ac:picMk id="2" creationId="{00000000-0000-0000-0000-000000000000}"/>
          </ac:picMkLst>
        </pc:picChg>
        <pc:picChg chg="add">
          <ac:chgData name="Lai, Wilson" userId="2840974a-0d84-4886-90a9-9a3ed79f3a48" providerId="ADAL" clId="{9F23B798-9E84-4552-BA63-E776E805C424}" dt="2026-09-23T02:21:03.571" v="21" actId="22"/>
          <ac:picMkLst>
            <pc:docMk/>
            <pc:sldMk cId="0" sldId="267"/>
            <ac:picMk id="4" creationId="{DC0E8A77-7B38-9972-E86D-7AAE93F6BF90}"/>
          </ac:picMkLst>
        </pc:picChg>
      </pc:sldChg>
      <pc:sldChg chg="addSp delSp mod modNotes modNotesTx">
        <pc:chgData name="Lai, Wilson" userId="2840974a-0d84-4886-90a9-9a3ed79f3a48" providerId="ADAL" clId="{9F23B798-9E84-4552-BA63-E776E805C424}" dt="2026-09-23T03:10:45.357" v="66"/>
        <pc:sldMkLst>
          <pc:docMk/>
          <pc:sldMk cId="0" sldId="268"/>
        </pc:sldMkLst>
        <pc:picChg chg="del">
          <ac:chgData name="Lai, Wilson" userId="2840974a-0d84-4886-90a9-9a3ed79f3a48" providerId="ADAL" clId="{9F23B798-9E84-4552-BA63-E776E805C424}" dt="2026-09-23T02:21:05.279" v="22" actId="21"/>
          <ac:picMkLst>
            <pc:docMk/>
            <pc:sldMk cId="0" sldId="268"/>
            <ac:picMk id="2" creationId="{00000000-0000-0000-0000-000000000000}"/>
          </ac:picMkLst>
        </pc:picChg>
        <pc:picChg chg="add">
          <ac:chgData name="Lai, Wilson" userId="2840974a-0d84-4886-90a9-9a3ed79f3a48" providerId="ADAL" clId="{9F23B798-9E84-4552-BA63-E776E805C424}" dt="2026-09-23T02:21:18.510" v="23" actId="22"/>
          <ac:picMkLst>
            <pc:docMk/>
            <pc:sldMk cId="0" sldId="268"/>
            <ac:picMk id="4" creationId="{F72222B0-4B7E-2849-8556-063951921D62}"/>
          </ac:picMkLst>
        </pc:picChg>
      </pc:sldChg>
      <pc:sldChg chg="addSp delSp mod modNotes modNotesTx">
        <pc:chgData name="Lai, Wilson" userId="2840974a-0d84-4886-90a9-9a3ed79f3a48" providerId="ADAL" clId="{9F23B798-9E84-4552-BA63-E776E805C424}" dt="2026-09-23T03:10:45.357" v="66"/>
        <pc:sldMkLst>
          <pc:docMk/>
          <pc:sldMk cId="0" sldId="269"/>
        </pc:sldMkLst>
        <pc:picChg chg="del">
          <ac:chgData name="Lai, Wilson" userId="2840974a-0d84-4886-90a9-9a3ed79f3a48" providerId="ADAL" clId="{9F23B798-9E84-4552-BA63-E776E805C424}" dt="2026-09-23T02:21:20.629" v="24" actId="21"/>
          <ac:picMkLst>
            <pc:docMk/>
            <pc:sldMk cId="0" sldId="269"/>
            <ac:picMk id="2" creationId="{00000000-0000-0000-0000-000000000000}"/>
          </ac:picMkLst>
        </pc:picChg>
        <pc:picChg chg="add">
          <ac:chgData name="Lai, Wilson" userId="2840974a-0d84-4886-90a9-9a3ed79f3a48" providerId="ADAL" clId="{9F23B798-9E84-4552-BA63-E776E805C424}" dt="2026-09-23T02:21:28.997" v="25" actId="22"/>
          <ac:picMkLst>
            <pc:docMk/>
            <pc:sldMk cId="0" sldId="269"/>
            <ac:picMk id="4" creationId="{838B3818-0AC6-8E7E-D1F6-EE6C27512C32}"/>
          </ac:picMkLst>
        </pc:picChg>
      </pc:sldChg>
      <pc:sldChg chg="addSp delSp mod modNotes">
        <pc:chgData name="Lai, Wilson" userId="2840974a-0d84-4886-90a9-9a3ed79f3a48" providerId="ADAL" clId="{9F23B798-9E84-4552-BA63-E776E805C424}" dt="2026-09-23T03:10:45.357" v="66"/>
        <pc:sldMkLst>
          <pc:docMk/>
          <pc:sldMk cId="0" sldId="270"/>
        </pc:sldMkLst>
        <pc:picChg chg="del">
          <ac:chgData name="Lai, Wilson" userId="2840974a-0d84-4886-90a9-9a3ed79f3a48" providerId="ADAL" clId="{9F23B798-9E84-4552-BA63-E776E805C424}" dt="2026-09-23T02:21:30.592" v="26" actId="21"/>
          <ac:picMkLst>
            <pc:docMk/>
            <pc:sldMk cId="0" sldId="270"/>
            <ac:picMk id="2" creationId="{00000000-0000-0000-0000-000000000000}"/>
          </ac:picMkLst>
        </pc:picChg>
        <pc:picChg chg="add">
          <ac:chgData name="Lai, Wilson" userId="2840974a-0d84-4886-90a9-9a3ed79f3a48" providerId="ADAL" clId="{9F23B798-9E84-4552-BA63-E776E805C424}" dt="2026-09-23T02:21:40.659" v="27" actId="22"/>
          <ac:picMkLst>
            <pc:docMk/>
            <pc:sldMk cId="0" sldId="270"/>
            <ac:picMk id="4" creationId="{A32EB7BC-7722-D434-6424-E8671B7DC2CB}"/>
          </ac:picMkLst>
        </pc:picChg>
      </pc:sldChg>
      <pc:sldChg chg="addSp delSp mod modNotes modNotesTx">
        <pc:chgData name="Lai, Wilson" userId="2840974a-0d84-4886-90a9-9a3ed79f3a48" providerId="ADAL" clId="{9F23B798-9E84-4552-BA63-E776E805C424}" dt="2026-09-23T03:10:45.357" v="66"/>
        <pc:sldMkLst>
          <pc:docMk/>
          <pc:sldMk cId="457985007" sldId="271"/>
        </pc:sldMkLst>
        <pc:picChg chg="del">
          <ac:chgData name="Lai, Wilson" userId="2840974a-0d84-4886-90a9-9a3ed79f3a48" providerId="ADAL" clId="{9F23B798-9E84-4552-BA63-E776E805C424}" dt="2026-09-23T02:21:42.764" v="28" actId="21"/>
          <ac:picMkLst>
            <pc:docMk/>
            <pc:sldMk cId="457985007" sldId="271"/>
            <ac:picMk id="3" creationId="{6106BB9A-0130-4C68-1CFA-8A2239479395}"/>
          </ac:picMkLst>
        </pc:picChg>
        <pc:picChg chg="add">
          <ac:chgData name="Lai, Wilson" userId="2840974a-0d84-4886-90a9-9a3ed79f3a48" providerId="ADAL" clId="{9F23B798-9E84-4552-BA63-E776E805C424}" dt="2026-09-23T02:22:37.713" v="29" actId="22"/>
          <ac:picMkLst>
            <pc:docMk/>
            <pc:sldMk cId="457985007" sldId="271"/>
            <ac:picMk id="4" creationId="{14356488-728E-B630-8DF9-02EA13C575F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CE2E22-2CE4-4485-953D-78A9F97A75F6}"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5A5621-8DB9-4025-B2A2-7C8E2388966F}" type="slidenum">
              <a:rPr lang="en-US" smtClean="0"/>
              <a:t>‹#›</a:t>
            </a:fld>
            <a:endParaRPr lang="en-US"/>
          </a:p>
        </p:txBody>
      </p:sp>
    </p:spTree>
    <p:extLst>
      <p:ext uri="{BB962C8B-B14F-4D97-AF65-F5344CB8AC3E}">
        <p14:creationId xmlns:p14="http://schemas.microsoft.com/office/powerpoint/2010/main" val="1352640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taking a deep dive into the paradigm shift currently happening across the AI engineering landscape. Over the past two years, the default mental model for AI has been the single-player, conversational LLM—essentially a chat window where a human types plain text and receives open-ended text back. </a:t>
            </a:r>
          </a:p>
          <a:p>
            <a:r>
              <a:rPr lang="en-US" sz="1200" kern="1200" dirty="0">
                <a:solidFill>
                  <a:schemeClr val="tx1"/>
                </a:solidFill>
                <a:effectLst/>
                <a:latin typeface="+mn-lt"/>
                <a:ea typeface="+mn-ea"/>
                <a:cs typeface="+mn-cs"/>
              </a:rPr>
              <a:t>But as anyone building production-grade agentic systems knows, single-player text generation hits a ceiling very quickly. It’s probabilistic, hard to steer, siloes context, and struggles with true task execution. </a:t>
            </a:r>
          </a:p>
          <a:p>
            <a:r>
              <a:rPr lang="en-US" sz="1200" kern="1200" dirty="0">
                <a:solidFill>
                  <a:schemeClr val="tx1"/>
                </a:solidFill>
                <a:effectLst/>
                <a:latin typeface="+mn-lt"/>
                <a:ea typeface="+mn-ea"/>
                <a:cs typeface="+mn-cs"/>
              </a:rPr>
              <a:t>What we’re covering today—synthesized from recent discussions on </a:t>
            </a:r>
            <a:r>
              <a:rPr lang="en-US" sz="1200" i="1" kern="1200" dirty="0">
                <a:solidFill>
                  <a:schemeClr val="tx1"/>
                </a:solidFill>
                <a:effectLst/>
                <a:latin typeface="+mn-lt"/>
                <a:ea typeface="+mn-ea"/>
                <a:cs typeface="+mn-cs"/>
              </a:rPr>
              <a:t>Agents Hour</a:t>
            </a:r>
            <a:r>
              <a:rPr lang="en-US" sz="1200" kern="1200" dirty="0">
                <a:solidFill>
                  <a:schemeClr val="tx1"/>
                </a:solidFill>
                <a:effectLst/>
                <a:latin typeface="+mn-lt"/>
                <a:ea typeface="+mn-ea"/>
                <a:cs typeface="+mn-cs"/>
              </a:rPr>
              <a:t> featuring platforms like Plum, OpenAI’s Software Factory insights, and </a:t>
            </a:r>
            <a:r>
              <a:rPr lang="en-US" sz="1200" kern="1200" dirty="0" err="1">
                <a:solidFill>
                  <a:schemeClr val="tx1"/>
                </a:solidFill>
                <a:effectLst/>
                <a:latin typeface="+mn-lt"/>
                <a:ea typeface="+mn-ea"/>
                <a:cs typeface="+mn-cs"/>
              </a:rPr>
              <a:t>Jev’s</a:t>
            </a:r>
            <a:r>
              <a:rPr lang="en-US" sz="1200" kern="1200" dirty="0">
                <a:solidFill>
                  <a:schemeClr val="tx1"/>
                </a:solidFill>
                <a:effectLst/>
                <a:latin typeface="+mn-lt"/>
                <a:ea typeface="+mn-ea"/>
                <a:cs typeface="+mn-cs"/>
              </a:rPr>
              <a:t> RLCD classifiers—is a structural blueprint for the modern </a:t>
            </a:r>
            <a:r>
              <a:rPr lang="en-US" sz="1200" b="1" kern="1200" dirty="0">
                <a:solidFill>
                  <a:schemeClr val="tx1"/>
                </a:solidFill>
                <a:effectLst/>
                <a:latin typeface="+mn-lt"/>
                <a:ea typeface="+mn-ea"/>
                <a:cs typeface="+mn-cs"/>
              </a:rPr>
              <a:t>Agentic Stack</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shown on screen, this architecture rests on three core pillars: </a:t>
            </a:r>
          </a:p>
          <a:p>
            <a:pPr marL="228600" lvl="0" indent="-228600">
              <a:buFont typeface="+mj-lt"/>
              <a:buAutoNum type="arabicPeriod"/>
            </a:pPr>
            <a:r>
              <a:rPr lang="en-US" sz="1200" b="1" kern="1200" dirty="0">
                <a:solidFill>
                  <a:schemeClr val="tx1"/>
                </a:solidFill>
                <a:effectLst/>
                <a:latin typeface="+mn-lt"/>
                <a:ea typeface="+mn-ea"/>
                <a:cs typeface="+mn-cs"/>
              </a:rPr>
              <a:t>Collaboration:</a:t>
            </a:r>
            <a:r>
              <a:rPr lang="en-US" sz="1200" kern="1200" dirty="0">
                <a:solidFill>
                  <a:schemeClr val="tx1"/>
                </a:solidFill>
                <a:effectLst/>
                <a:latin typeface="+mn-lt"/>
                <a:ea typeface="+mn-ea"/>
                <a:cs typeface="+mn-cs"/>
              </a:rPr>
              <a:t> Shifting from isolated prompts to live, multiplayer, human-agent shared contexts. </a:t>
            </a:r>
          </a:p>
          <a:p>
            <a:pPr marL="228600" lvl="0" indent="-228600">
              <a:buFont typeface="+mj-lt"/>
              <a:buAutoNum type="arabicPeriod"/>
            </a:pPr>
            <a:r>
              <a:rPr lang="en-US" sz="1200" b="1" kern="1200" dirty="0">
                <a:solidFill>
                  <a:schemeClr val="tx1"/>
                </a:solidFill>
                <a:effectLst/>
                <a:latin typeface="+mn-lt"/>
                <a:ea typeface="+mn-ea"/>
                <a:cs typeface="+mn-cs"/>
              </a:rPr>
              <a:t>Infrastructure:</a:t>
            </a:r>
            <a:r>
              <a:rPr lang="en-US" sz="1200" kern="1200" dirty="0">
                <a:solidFill>
                  <a:schemeClr val="tx1"/>
                </a:solidFill>
                <a:effectLst/>
                <a:latin typeface="+mn-lt"/>
                <a:ea typeface="+mn-ea"/>
                <a:cs typeface="+mn-cs"/>
              </a:rPr>
              <a:t> Moving from manual prompt tweaking to autonomous CI/CD loops and continuous evaluation factories. </a:t>
            </a:r>
          </a:p>
          <a:p>
            <a:pPr marL="228600" lvl="0" indent="-228600">
              <a:buFont typeface="+mj-lt"/>
              <a:buAutoNum type="arabicPeriod"/>
            </a:pPr>
            <a:r>
              <a:rPr lang="en-US" sz="1200" b="1" kern="1200" dirty="0">
                <a:solidFill>
                  <a:schemeClr val="tx1"/>
                </a:solidFill>
                <a:effectLst/>
                <a:latin typeface="+mn-lt"/>
                <a:ea typeface="+mn-ea"/>
                <a:cs typeface="+mn-cs"/>
              </a:rPr>
              <a:t>Logic:</a:t>
            </a:r>
            <a:r>
              <a:rPr lang="en-US" sz="1200" kern="1200" dirty="0">
                <a:solidFill>
                  <a:schemeClr val="tx1"/>
                </a:solidFill>
                <a:effectLst/>
                <a:latin typeface="+mn-lt"/>
                <a:ea typeface="+mn-ea"/>
                <a:cs typeface="+mn-cs"/>
              </a:rPr>
              <a:t> Replacing monolithic generative reasoning with high-velocity, deterministic probability classifiers. </a:t>
            </a:r>
          </a:p>
          <a:p>
            <a:r>
              <a:rPr lang="en-US" sz="1200" kern="1200" dirty="0">
                <a:solidFill>
                  <a:schemeClr val="tx1"/>
                </a:solidFill>
                <a:effectLst/>
                <a:latin typeface="+mn-lt"/>
                <a:ea typeface="+mn-ea"/>
                <a:cs typeface="+mn-cs"/>
              </a:rPr>
              <a:t>By the end of this presentation, you’ll understand how these three shifts intersect to make AI applications faster, exponentially cheaper, and production-ready. </a:t>
            </a:r>
          </a:p>
          <a:p>
            <a:endParaRPr lang="en-US" dirty="0"/>
          </a:p>
          <a:p>
            <a:endParaRPr lang="en-US" dirty="0"/>
          </a:p>
          <a:p>
            <a:endParaRPr lang="en-US" dirty="0"/>
          </a:p>
          <a:p>
            <a:endParaRPr lang="en-US" dirty="0"/>
          </a:p>
          <a:p>
            <a:endParaRPr lang="en-US" dirty="0"/>
          </a:p>
          <a:p>
            <a:r>
              <a:rPr lang="en-US" b="1" dirty="0" err="1"/>
              <a:t>Jev</a:t>
            </a:r>
            <a:r>
              <a:rPr lang="en-US" b="1" dirty="0"/>
              <a:t> Is 200x Faster Than LLMs, Gemini Hacks 3 Companies &amp; OpenAI's Software</a:t>
            </a:r>
          </a:p>
          <a:p>
            <a:r>
              <a:rPr lang="en-US" dirty="0"/>
              <a:t>https://www.youtube.com/watch?v=QSCASVj7kkU</a:t>
            </a:r>
          </a:p>
        </p:txBody>
      </p:sp>
      <p:sp>
        <p:nvSpPr>
          <p:cNvPr id="4" name="Slide Number Placeholder 3"/>
          <p:cNvSpPr>
            <a:spLocks noGrp="1"/>
          </p:cNvSpPr>
          <p:nvPr>
            <p:ph type="sldNum" sz="quarter" idx="5"/>
          </p:nvPr>
        </p:nvSpPr>
        <p:spPr/>
        <p:txBody>
          <a:bodyPr/>
          <a:lstStyle/>
          <a:p>
            <a:fld id="{D05A5621-8DB9-4025-B2A2-7C8E2388966F}" type="slidenum">
              <a:rPr lang="en-US" smtClean="0"/>
              <a:t>1</a:t>
            </a:fld>
            <a:endParaRPr lang="en-US"/>
          </a:p>
        </p:txBody>
      </p:sp>
    </p:spTree>
    <p:extLst>
      <p:ext uri="{BB962C8B-B14F-4D97-AF65-F5344CB8AC3E}">
        <p14:creationId xmlns:p14="http://schemas.microsoft.com/office/powerpoint/2010/main" val="3448164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where agent software is going, we have to look at why current implementations break down. </a:t>
            </a:r>
          </a:p>
          <a:p>
            <a:r>
              <a:rPr lang="en-US" sz="1200" kern="1200" dirty="0">
                <a:solidFill>
                  <a:schemeClr val="tx1"/>
                </a:solidFill>
                <a:effectLst/>
                <a:latin typeface="+mn-lt"/>
                <a:ea typeface="+mn-ea"/>
                <a:cs typeface="+mn-cs"/>
              </a:rPr>
              <a:t>If you look at this blueprint, you see an upward architectural stack. At the foundation, we have </a:t>
            </a:r>
            <a:r>
              <a:rPr lang="en-US" sz="1200" b="1" kern="1200" dirty="0">
                <a:solidFill>
                  <a:schemeClr val="tx1"/>
                </a:solidFill>
                <a:effectLst/>
                <a:latin typeface="+mn-lt"/>
                <a:ea typeface="+mn-ea"/>
                <a:cs typeface="+mn-cs"/>
              </a:rPr>
              <a:t>The Logic Shift</a:t>
            </a:r>
            <a:r>
              <a:rPr lang="en-US" sz="1200" kern="1200" dirty="0">
                <a:solidFill>
                  <a:schemeClr val="tx1"/>
                </a:solidFill>
                <a:effectLst/>
                <a:latin typeface="+mn-lt"/>
                <a:ea typeface="+mn-ea"/>
                <a:cs typeface="+mn-cs"/>
              </a:rPr>
              <a:t>. Up until recently, we treated LLMs as all-in-one execution engines: you feed them raw context, ask a question, and wait several seconds for a long-form textual answer. The Logic Shift replaces that open-ended text generation with </a:t>
            </a:r>
            <a:r>
              <a:rPr lang="en-US" sz="1200" b="1" kern="1200" dirty="0">
                <a:solidFill>
                  <a:schemeClr val="tx1"/>
                </a:solidFill>
                <a:effectLst/>
                <a:latin typeface="+mn-lt"/>
                <a:ea typeface="+mn-ea"/>
                <a:cs typeface="+mn-cs"/>
              </a:rPr>
              <a:t>Deterministic Classifiers</a:t>
            </a:r>
            <a:r>
              <a:rPr lang="en-US" sz="1200" kern="1200" dirty="0">
                <a:solidFill>
                  <a:schemeClr val="tx1"/>
                </a:solidFill>
                <a:effectLst/>
                <a:latin typeface="+mn-lt"/>
                <a:ea typeface="+mn-ea"/>
                <a:cs typeface="+mn-cs"/>
              </a:rPr>
              <a:t>—models specifically trained to output structured probabilities rather than conversation. </a:t>
            </a:r>
          </a:p>
          <a:p>
            <a:r>
              <a:rPr lang="en-US" sz="1200" kern="1200" dirty="0">
                <a:solidFill>
                  <a:schemeClr val="tx1"/>
                </a:solidFill>
                <a:effectLst/>
                <a:latin typeface="+mn-lt"/>
                <a:ea typeface="+mn-ea"/>
                <a:cs typeface="+mn-cs"/>
              </a:rPr>
              <a:t>On top of that logic sits </a:t>
            </a:r>
            <a:r>
              <a:rPr lang="en-US" sz="1200" b="1" kern="1200" dirty="0">
                <a:solidFill>
                  <a:schemeClr val="tx1"/>
                </a:solidFill>
                <a:effectLst/>
                <a:latin typeface="+mn-lt"/>
                <a:ea typeface="+mn-ea"/>
                <a:cs typeface="+mn-cs"/>
              </a:rPr>
              <a:t>The Infrastructure Shift</a:t>
            </a:r>
            <a:r>
              <a:rPr lang="en-US" sz="1200" kern="1200" dirty="0">
                <a:solidFill>
                  <a:schemeClr val="tx1"/>
                </a:solidFill>
                <a:effectLst/>
                <a:latin typeface="+mn-lt"/>
                <a:ea typeface="+mn-ea"/>
                <a:cs typeface="+mn-cs"/>
              </a:rPr>
              <a:t>. In early AI development, deployment meant pushing an LLM endpoint and hoping it didn't hallucinate. Today, state-of-the-art labs like OpenAI operate autonomous </a:t>
            </a:r>
            <a:r>
              <a:rPr lang="en-US" sz="1200" b="1" kern="1200" dirty="0">
                <a:solidFill>
                  <a:schemeClr val="tx1"/>
                </a:solidFill>
                <a:effectLst/>
                <a:latin typeface="+mn-lt"/>
                <a:ea typeface="+mn-ea"/>
                <a:cs typeface="+mn-cs"/>
              </a:rPr>
              <a:t>Software Factories</a:t>
            </a:r>
            <a:r>
              <a:rPr lang="en-US" sz="1200" kern="1200" dirty="0">
                <a:solidFill>
                  <a:schemeClr val="tx1"/>
                </a:solidFill>
                <a:effectLst/>
                <a:latin typeface="+mn-lt"/>
                <a:ea typeface="+mn-ea"/>
                <a:cs typeface="+mn-cs"/>
              </a:rPr>
              <a:t>—continuous delivery pipelines where agents write code, execute automated unit tests, and continuously reconcile errors based on live telemetry. </a:t>
            </a:r>
          </a:p>
          <a:p>
            <a:r>
              <a:rPr lang="en-US" sz="1200" kern="1200" dirty="0">
                <a:solidFill>
                  <a:schemeClr val="tx1"/>
                </a:solidFill>
                <a:effectLst/>
                <a:latin typeface="+mn-lt"/>
                <a:ea typeface="+mn-ea"/>
                <a:cs typeface="+mn-cs"/>
              </a:rPr>
              <a:t>Finally, at the top layer, we have </a:t>
            </a:r>
            <a:r>
              <a:rPr lang="en-US" sz="1200" b="1" kern="1200" dirty="0">
                <a:solidFill>
                  <a:schemeClr val="tx1"/>
                </a:solidFill>
                <a:effectLst/>
                <a:latin typeface="+mn-lt"/>
                <a:ea typeface="+mn-ea"/>
                <a:cs typeface="+mn-cs"/>
              </a:rPr>
              <a:t>The Collaboration Shift</a:t>
            </a:r>
            <a:r>
              <a:rPr lang="en-US" sz="1200" kern="1200" dirty="0">
                <a:solidFill>
                  <a:schemeClr val="tx1"/>
                </a:solidFill>
                <a:effectLst/>
                <a:latin typeface="+mn-lt"/>
                <a:ea typeface="+mn-ea"/>
                <a:cs typeface="+mn-cs"/>
              </a:rPr>
              <a:t>. An AI agent shouldn't be trapped behind a private chat interface. It needs to participate in live, multiplayer workspaces alongside human team members and other autonomous agents. </a:t>
            </a:r>
          </a:p>
          <a:p>
            <a:r>
              <a:rPr lang="en-US" sz="1200" kern="1200" dirty="0">
                <a:solidFill>
                  <a:schemeClr val="tx1"/>
                </a:solidFill>
                <a:effectLst/>
                <a:latin typeface="+mn-lt"/>
                <a:ea typeface="+mn-ea"/>
                <a:cs typeface="+mn-cs"/>
              </a:rPr>
              <a:t>When you combine structured logic at the bottom, continuous infrastructure loops in the middle, and multi-agent context at the top, you transition from building 'chatbots' to constructing fully autonomous systems. </a:t>
            </a:r>
          </a:p>
          <a:p>
            <a:endParaRPr lang="en-US" dirty="0"/>
          </a:p>
        </p:txBody>
      </p:sp>
      <p:sp>
        <p:nvSpPr>
          <p:cNvPr id="4" name="Slide Number Placeholder 3"/>
          <p:cNvSpPr>
            <a:spLocks noGrp="1"/>
          </p:cNvSpPr>
          <p:nvPr>
            <p:ph type="sldNum" sz="quarter" idx="5"/>
          </p:nvPr>
        </p:nvSpPr>
        <p:spPr/>
        <p:txBody>
          <a:bodyPr/>
          <a:lstStyle/>
          <a:p>
            <a:fld id="{D05A5621-8DB9-4025-B2A2-7C8E2388966F}" type="slidenum">
              <a:rPr lang="en-US" smtClean="0"/>
              <a:t>2</a:t>
            </a:fld>
            <a:endParaRPr lang="en-US"/>
          </a:p>
        </p:txBody>
      </p:sp>
    </p:spTree>
    <p:extLst>
      <p:ext uri="{BB962C8B-B14F-4D97-AF65-F5344CB8AC3E}">
        <p14:creationId xmlns:p14="http://schemas.microsoft.com/office/powerpoint/2010/main" val="1119007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zoom into the first layer: </a:t>
            </a:r>
            <a:r>
              <a:rPr lang="en-US" sz="1200" b="1" kern="1200" dirty="0">
                <a:solidFill>
                  <a:schemeClr val="tx1"/>
                </a:solidFill>
                <a:effectLst/>
                <a:latin typeface="+mn-lt"/>
                <a:ea typeface="+mn-ea"/>
                <a:cs typeface="+mn-cs"/>
              </a:rPr>
              <a:t>Human-Agent Shared Context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typical workflows, working with an AI agent is an isolating, single-player experience. An engineer or manager opens ChatGPT, types a prompt, gets a response, and then manually copies that response over to Slack, Jira, or Zoom. This creates a 'telemetry drop'—context gets lost, and the team misses out on collaborative refinement. </a:t>
            </a:r>
          </a:p>
          <a:p>
            <a:r>
              <a:rPr lang="en-US" sz="1200" kern="1200" dirty="0">
                <a:solidFill>
                  <a:schemeClr val="tx1"/>
                </a:solidFill>
                <a:effectLst/>
                <a:latin typeface="+mn-lt"/>
                <a:ea typeface="+mn-ea"/>
                <a:cs typeface="+mn-cs"/>
              </a:rPr>
              <a:t>Platforms like </a:t>
            </a:r>
            <a:r>
              <a:rPr lang="en-US" sz="1200" b="1" kern="1200" dirty="0">
                <a:solidFill>
                  <a:schemeClr val="tx1"/>
                </a:solidFill>
                <a:effectLst/>
                <a:latin typeface="+mn-lt"/>
                <a:ea typeface="+mn-ea"/>
                <a:cs typeface="+mn-cs"/>
              </a:rPr>
              <a:t>Plum</a:t>
            </a:r>
            <a:r>
              <a:rPr lang="en-US" sz="1200" kern="1200" dirty="0">
                <a:solidFill>
                  <a:schemeClr val="tx1"/>
                </a:solidFill>
                <a:effectLst/>
                <a:latin typeface="+mn-lt"/>
                <a:ea typeface="+mn-ea"/>
                <a:cs typeface="+mn-cs"/>
              </a:rPr>
              <a:t>, which was featured on </a:t>
            </a:r>
            <a:r>
              <a:rPr lang="en-US" sz="1200" i="1" kern="1200" dirty="0">
                <a:solidFill>
                  <a:schemeClr val="tx1"/>
                </a:solidFill>
                <a:effectLst/>
                <a:latin typeface="+mn-lt"/>
                <a:ea typeface="+mn-ea"/>
                <a:cs typeface="+mn-cs"/>
              </a:rPr>
              <a:t>Agents Hour</a:t>
            </a:r>
            <a:r>
              <a:rPr lang="en-US" sz="1200" kern="1200" dirty="0">
                <a:solidFill>
                  <a:schemeClr val="tx1"/>
                </a:solidFill>
                <a:effectLst/>
                <a:latin typeface="+mn-lt"/>
                <a:ea typeface="+mn-ea"/>
                <a:cs typeface="+mn-cs"/>
              </a:rPr>
              <a:t>, demonstrate how we solve this 'AI loneliness'. Instead of bringing humans to the agent, we bring first-class AI agents directly into live human environments. </a:t>
            </a:r>
          </a:p>
          <a:p>
            <a:r>
              <a:rPr lang="en-US" sz="1200" kern="1200" dirty="0">
                <a:solidFill>
                  <a:schemeClr val="tx1"/>
                </a:solidFill>
                <a:effectLst/>
                <a:latin typeface="+mn-lt"/>
                <a:ea typeface="+mn-ea"/>
                <a:cs typeface="+mn-cs"/>
              </a:rPr>
              <a:t>Consider the real-world scenario shown on this slide: A human executive is in a live meeting asking, </a:t>
            </a:r>
            <a:r>
              <a:rPr lang="en-US" sz="1200" i="1" kern="1200" dirty="0">
                <a:solidFill>
                  <a:schemeClr val="tx1"/>
                </a:solidFill>
                <a:effectLst/>
                <a:latin typeface="+mn-lt"/>
                <a:ea typeface="+mn-ea"/>
                <a:cs typeface="+mn-cs"/>
              </a:rPr>
              <a:t>'Are we going to hit our Q3 numbers?'</a:t>
            </a:r>
            <a:r>
              <a:rPr lang="en-US" sz="1200" kern="1200" dirty="0">
                <a:solidFill>
                  <a:schemeClr val="tx1"/>
                </a:solidFill>
                <a:effectLst/>
                <a:latin typeface="+mn-lt"/>
                <a:ea typeface="+mn-ea"/>
                <a:cs typeface="+mn-cs"/>
              </a:rPr>
              <a:t> Instead of tabbing out to open a dashboard or waiting for an analyst to dig through SQL databases, the workspace includes a dedicated </a:t>
            </a:r>
            <a:r>
              <a:rPr lang="en-US" sz="1200" b="1" kern="1200" dirty="0">
                <a:solidFill>
                  <a:schemeClr val="tx1"/>
                </a:solidFill>
                <a:effectLst/>
                <a:latin typeface="+mn-lt"/>
                <a:ea typeface="+mn-ea"/>
                <a:cs typeface="+mn-cs"/>
              </a:rPr>
              <a:t>CFO Bot Node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That CFO agent queries the company's real-time Data Platform and verifies financial figures in seconds. Concurrently, a </a:t>
            </a:r>
            <a:r>
              <a:rPr lang="en-US" sz="1200" b="1" kern="1200" dirty="0" err="1">
                <a:solidFill>
                  <a:schemeClr val="tx1"/>
                </a:solidFill>
                <a:effectLst/>
                <a:latin typeface="+mn-lt"/>
                <a:ea typeface="+mn-ea"/>
                <a:cs typeface="+mn-cs"/>
              </a:rPr>
              <a:t>Slidebot</a:t>
            </a:r>
            <a:r>
              <a:rPr lang="en-US" sz="1200" b="1" kern="1200" dirty="0">
                <a:solidFill>
                  <a:schemeClr val="tx1"/>
                </a:solidFill>
                <a:effectLst/>
                <a:latin typeface="+mn-lt"/>
                <a:ea typeface="+mn-ea"/>
                <a:cs typeface="+mn-cs"/>
              </a:rPr>
              <a:t> Node</a:t>
            </a:r>
            <a:r>
              <a:rPr lang="en-US" sz="1200" kern="1200" dirty="0">
                <a:solidFill>
                  <a:schemeClr val="tx1"/>
                </a:solidFill>
                <a:effectLst/>
                <a:latin typeface="+mn-lt"/>
                <a:ea typeface="+mn-ea"/>
                <a:cs typeface="+mn-cs"/>
              </a:rPr>
              <a:t> pulls tasks from a Linear workspace and builds visual deck assets on the fly while the meeting is still happening. </a:t>
            </a:r>
          </a:p>
          <a:p>
            <a:r>
              <a:rPr lang="en-US" sz="1200" kern="1200" dirty="0">
                <a:solidFill>
                  <a:schemeClr val="tx1"/>
                </a:solidFill>
                <a:effectLst/>
                <a:latin typeface="+mn-lt"/>
                <a:ea typeface="+mn-ea"/>
                <a:cs typeface="+mn-cs"/>
              </a:rPr>
              <a:t>Agents aren't just invisible background workers or passive note-takers; they are active, live participants in the multiplayer room.</a:t>
            </a:r>
          </a:p>
          <a:p>
            <a:endParaRPr lang="en-US" dirty="0"/>
          </a:p>
        </p:txBody>
      </p:sp>
      <p:sp>
        <p:nvSpPr>
          <p:cNvPr id="4" name="Slide Number Placeholder 3"/>
          <p:cNvSpPr>
            <a:spLocks noGrp="1"/>
          </p:cNvSpPr>
          <p:nvPr>
            <p:ph type="sldNum" sz="quarter" idx="5"/>
          </p:nvPr>
        </p:nvSpPr>
        <p:spPr/>
        <p:txBody>
          <a:bodyPr/>
          <a:lstStyle/>
          <a:p>
            <a:fld id="{D05A5621-8DB9-4025-B2A2-7C8E2388966F}" type="slidenum">
              <a:rPr lang="en-US" smtClean="0"/>
              <a:t>3</a:t>
            </a:fld>
            <a:endParaRPr lang="en-US"/>
          </a:p>
        </p:txBody>
      </p:sp>
    </p:spTree>
    <p:extLst>
      <p:ext uri="{BB962C8B-B14F-4D97-AF65-F5344CB8AC3E}">
        <p14:creationId xmlns:p14="http://schemas.microsoft.com/office/powerpoint/2010/main" val="972434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of the biggest friction points in multi-agent collaboration has been interoperability. Historically, if you built an agent in Claude, another in OpenAI, and a third on custom framework code like </a:t>
            </a:r>
            <a:r>
              <a:rPr lang="en-US" sz="1200" kern="1200" dirty="0" err="1">
                <a:solidFill>
                  <a:schemeClr val="tx1"/>
                </a:solidFill>
                <a:effectLst/>
                <a:latin typeface="+mn-lt"/>
                <a:ea typeface="+mn-ea"/>
                <a:cs typeface="+mn-cs"/>
              </a:rPr>
              <a:t>Mastra</a:t>
            </a:r>
            <a:r>
              <a:rPr lang="en-US" sz="1200" kern="1200" dirty="0">
                <a:solidFill>
                  <a:schemeClr val="tx1"/>
                </a:solidFill>
                <a:effectLst/>
                <a:latin typeface="+mn-lt"/>
                <a:ea typeface="+mn-ea"/>
                <a:cs typeface="+mn-cs"/>
              </a:rPr>
              <a:t>, getting them to talk to each other in a single environment required writing custom, brittle API integrations for every combination. </a:t>
            </a:r>
          </a:p>
          <a:p>
            <a:r>
              <a:rPr lang="en-US" sz="1200" kern="1200" dirty="0">
                <a:solidFill>
                  <a:schemeClr val="tx1"/>
                </a:solidFill>
                <a:effectLst/>
                <a:latin typeface="+mn-lt"/>
                <a:ea typeface="+mn-ea"/>
                <a:cs typeface="+mn-cs"/>
              </a:rPr>
              <a:t>The breakthrough approach shown here uses open standards like </a:t>
            </a:r>
            <a:r>
              <a:rPr lang="en-US" sz="1200" b="1" kern="1200" dirty="0" err="1">
                <a:solidFill>
                  <a:schemeClr val="tx1"/>
                </a:solidFill>
                <a:effectLst/>
                <a:latin typeface="+mn-lt"/>
                <a:ea typeface="+mn-ea"/>
                <a:cs typeface="+mn-cs"/>
              </a:rPr>
              <a:t>WebMCP</a:t>
            </a:r>
            <a:r>
              <a:rPr lang="en-US" sz="1200" kern="1200" dirty="0">
                <a:solidFill>
                  <a:schemeClr val="tx1"/>
                </a:solidFill>
                <a:effectLst/>
                <a:latin typeface="+mn-lt"/>
                <a:ea typeface="+mn-ea"/>
                <a:cs typeface="+mn-cs"/>
              </a:rPr>
              <a:t> (Web Model Context Protocol). </a:t>
            </a:r>
          </a:p>
          <a:p>
            <a:r>
              <a:rPr lang="en-US" sz="1200" kern="1200" dirty="0" err="1">
                <a:solidFill>
                  <a:schemeClr val="tx1"/>
                </a:solidFill>
                <a:effectLst/>
                <a:latin typeface="+mn-lt"/>
                <a:ea typeface="+mn-ea"/>
                <a:cs typeface="+mn-cs"/>
              </a:rPr>
              <a:t>WebMCP</a:t>
            </a:r>
            <a:r>
              <a:rPr lang="en-US" sz="1200" kern="1200" dirty="0">
                <a:solidFill>
                  <a:schemeClr val="tx1"/>
                </a:solidFill>
                <a:effectLst/>
                <a:latin typeface="+mn-lt"/>
                <a:ea typeface="+mn-ea"/>
                <a:cs typeface="+mn-cs"/>
              </a:rPr>
              <a:t> exposes standardized endpoints that any agent—regardless of its host platform or harness—can execute. By reading a single </a:t>
            </a:r>
            <a:r>
              <a:rPr lang="en-US" sz="1200" kern="1200" dirty="0" err="1">
                <a:solidFill>
                  <a:schemeClr val="tx1"/>
                </a:solidFill>
                <a:effectLst/>
                <a:latin typeface="+mn-lt"/>
                <a:ea typeface="+mn-ea"/>
                <a:cs typeface="+mn-cs"/>
              </a:rPr>
              <a:t>WebMCP</a:t>
            </a:r>
            <a:r>
              <a:rPr lang="en-US" sz="1200" kern="1200" dirty="0">
                <a:solidFill>
                  <a:schemeClr val="tx1"/>
                </a:solidFill>
                <a:effectLst/>
                <a:latin typeface="+mn-lt"/>
                <a:ea typeface="+mn-ea"/>
                <a:cs typeface="+mn-cs"/>
              </a:rPr>
              <a:t> manifest link, an agent instantly learns how to perform native actions inside a meeting space: Join Meeting, Raise Hand, Speak via text-to-speech, or Share Asset. </a:t>
            </a:r>
          </a:p>
          <a:p>
            <a:r>
              <a:rPr lang="en-US" sz="1200" kern="1200" dirty="0">
                <a:solidFill>
                  <a:schemeClr val="tx1"/>
                </a:solidFill>
                <a:effectLst/>
                <a:latin typeface="+mn-lt"/>
                <a:ea typeface="+mn-ea"/>
                <a:cs typeface="+mn-cs"/>
              </a:rPr>
              <a:t>Notice the callout box at the bottom right—this describes a live incident during Plum's early testing: A Claude-based agent was attempting to share a visual asset in a call but threw an execution error. Before a human engineer could intervene, a separate Grok-based agent in the same room read the protocol schema, entered the chat, and autonomously instructed Claude on the correct </a:t>
            </a:r>
            <a:r>
              <a:rPr lang="en-US" sz="1200" kern="1200" dirty="0" err="1">
                <a:solidFill>
                  <a:schemeClr val="tx1"/>
                </a:solidFill>
                <a:effectLst/>
                <a:latin typeface="+mn-lt"/>
                <a:ea typeface="+mn-ea"/>
                <a:cs typeface="+mn-cs"/>
              </a:rPr>
              <a:t>WebMCP</a:t>
            </a:r>
            <a:r>
              <a:rPr lang="en-US" sz="1200" kern="1200" dirty="0">
                <a:solidFill>
                  <a:schemeClr val="tx1"/>
                </a:solidFill>
                <a:effectLst/>
                <a:latin typeface="+mn-lt"/>
                <a:ea typeface="+mn-ea"/>
                <a:cs typeface="+mn-cs"/>
              </a:rPr>
              <a:t> payload to fix the error live. </a:t>
            </a:r>
          </a:p>
          <a:p>
            <a:r>
              <a:rPr lang="en-US" sz="1200" kern="1200" dirty="0">
                <a:solidFill>
                  <a:schemeClr val="tx1"/>
                </a:solidFill>
                <a:effectLst/>
                <a:latin typeface="+mn-lt"/>
                <a:ea typeface="+mn-ea"/>
                <a:cs typeface="+mn-cs"/>
              </a:rPr>
              <a:t>When you standardize protocol endpoints, agents can self-correct, cross-instruct, and assist each other without human middleware. </a:t>
            </a:r>
          </a:p>
          <a:p>
            <a:endParaRPr lang="en-US" dirty="0"/>
          </a:p>
        </p:txBody>
      </p:sp>
      <p:sp>
        <p:nvSpPr>
          <p:cNvPr id="4" name="Slide Number Placeholder 3"/>
          <p:cNvSpPr>
            <a:spLocks noGrp="1"/>
          </p:cNvSpPr>
          <p:nvPr>
            <p:ph type="sldNum" sz="quarter" idx="5"/>
          </p:nvPr>
        </p:nvSpPr>
        <p:spPr/>
        <p:txBody>
          <a:bodyPr/>
          <a:lstStyle/>
          <a:p>
            <a:fld id="{D05A5621-8DB9-4025-B2A2-7C8E2388966F}" type="slidenum">
              <a:rPr lang="en-US" smtClean="0"/>
              <a:t>4</a:t>
            </a:fld>
            <a:endParaRPr lang="en-US"/>
          </a:p>
        </p:txBody>
      </p:sp>
    </p:spTree>
    <p:extLst>
      <p:ext uri="{BB962C8B-B14F-4D97-AF65-F5344CB8AC3E}">
        <p14:creationId xmlns:p14="http://schemas.microsoft.com/office/powerpoint/2010/main" val="2937795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transition to the middle layer of our stack: </a:t>
            </a:r>
            <a:r>
              <a:rPr lang="en-US" sz="1200" b="1" kern="1200" dirty="0">
                <a:solidFill>
                  <a:schemeClr val="tx1"/>
                </a:solidFill>
                <a:effectLst/>
                <a:latin typeface="+mn-lt"/>
                <a:ea typeface="+mn-ea"/>
                <a:cs typeface="+mn-cs"/>
              </a:rPr>
              <a:t>The Infrastructure Shift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people talk about AI coding assistants today, they are usually talking about autocomplete tools or chat extensions inside an IDE. That is still human-driven development with AI assistance. </a:t>
            </a:r>
          </a:p>
          <a:p>
            <a:r>
              <a:rPr lang="en-US" sz="1200" kern="1200" dirty="0">
                <a:solidFill>
                  <a:schemeClr val="tx1"/>
                </a:solidFill>
                <a:effectLst/>
                <a:latin typeface="+mn-lt"/>
                <a:ea typeface="+mn-ea"/>
                <a:cs typeface="+mn-cs"/>
              </a:rPr>
              <a:t>The frontier of AI engineering is the </a:t>
            </a:r>
            <a:r>
              <a:rPr lang="en-US" sz="1200" b="1" kern="1200" dirty="0">
                <a:solidFill>
                  <a:schemeClr val="tx1"/>
                </a:solidFill>
                <a:effectLst/>
                <a:latin typeface="+mn-lt"/>
                <a:ea typeface="+mn-ea"/>
                <a:cs typeface="+mn-cs"/>
              </a:rPr>
              <a:t>Agentic Software Factory</a:t>
            </a:r>
            <a:r>
              <a:rPr lang="en-US" sz="1200" kern="1200" dirty="0">
                <a:solidFill>
                  <a:schemeClr val="tx1"/>
                </a:solidFill>
                <a:effectLst/>
                <a:latin typeface="+mn-lt"/>
                <a:ea typeface="+mn-ea"/>
                <a:cs typeface="+mn-cs"/>
              </a:rPr>
              <a:t>. In this paradigm, code generation is just the starting trigger. Once a user or system prompts an initial feature request, the Software Factory takes over full end-to-end lifecycle management. </a:t>
            </a:r>
          </a:p>
          <a:p>
            <a:r>
              <a:rPr lang="en-US" sz="1200" kern="1200" dirty="0">
                <a:solidFill>
                  <a:schemeClr val="tx1"/>
                </a:solidFill>
                <a:effectLst/>
                <a:latin typeface="+mn-lt"/>
                <a:ea typeface="+mn-ea"/>
                <a:cs typeface="+mn-cs"/>
              </a:rPr>
              <a:t>Look at the execution loop: </a:t>
            </a:r>
          </a:p>
          <a:p>
            <a:pPr marL="228600" lvl="0" indent="-228600">
              <a:buFont typeface="+mj-lt"/>
              <a:buAutoNum type="arabicPeriod"/>
            </a:pPr>
            <a:r>
              <a:rPr lang="en-US" sz="1200" b="1" kern="1200" dirty="0">
                <a:solidFill>
                  <a:schemeClr val="tx1"/>
                </a:solidFill>
                <a:effectLst/>
                <a:latin typeface="+mn-lt"/>
                <a:ea typeface="+mn-ea"/>
                <a:cs typeface="+mn-cs"/>
              </a:rPr>
              <a:t>Code Generation:</a:t>
            </a:r>
            <a:r>
              <a:rPr lang="en-US" sz="1200" kern="1200" dirty="0">
                <a:solidFill>
                  <a:schemeClr val="tx1"/>
                </a:solidFill>
                <a:effectLst/>
                <a:latin typeface="+mn-lt"/>
                <a:ea typeface="+mn-ea"/>
                <a:cs typeface="+mn-cs"/>
              </a:rPr>
              <a:t> Initial prompt translates to functional code. </a:t>
            </a:r>
          </a:p>
          <a:p>
            <a:pPr marL="228600" lvl="0" indent="-228600">
              <a:buFont typeface="+mj-lt"/>
              <a:buAutoNum type="arabicPeriod"/>
            </a:pPr>
            <a:r>
              <a:rPr lang="en-US" sz="1200" b="1" kern="1200" dirty="0">
                <a:solidFill>
                  <a:schemeClr val="tx1"/>
                </a:solidFill>
                <a:effectLst/>
                <a:latin typeface="+mn-lt"/>
                <a:ea typeface="+mn-ea"/>
                <a:cs typeface="+mn-cs"/>
              </a:rPr>
              <a:t>Automated Testing:</a:t>
            </a:r>
            <a:r>
              <a:rPr lang="en-US" sz="1200" kern="1200" dirty="0">
                <a:solidFill>
                  <a:schemeClr val="tx1"/>
                </a:solidFill>
                <a:effectLst/>
                <a:latin typeface="+mn-lt"/>
                <a:ea typeface="+mn-ea"/>
                <a:cs typeface="+mn-cs"/>
              </a:rPr>
              <a:t> The factory runs non-deterministic code against strict unit, integration, and system test suites. </a:t>
            </a:r>
          </a:p>
          <a:p>
            <a:pPr marL="228600" lvl="0" indent="-228600">
              <a:buFont typeface="+mj-lt"/>
              <a:buAutoNum type="arabicPeriod"/>
            </a:pPr>
            <a:r>
              <a:rPr lang="en-US" sz="1200" b="1" kern="1200" dirty="0">
                <a:solidFill>
                  <a:schemeClr val="tx1"/>
                </a:solidFill>
                <a:effectLst/>
                <a:latin typeface="+mn-lt"/>
                <a:ea typeface="+mn-ea"/>
                <a:cs typeface="+mn-cs"/>
              </a:rPr>
              <a:t>Perf Factory:</a:t>
            </a:r>
            <a:r>
              <a:rPr lang="en-US" sz="1200" kern="1200" dirty="0">
                <a:solidFill>
                  <a:schemeClr val="tx1"/>
                </a:solidFill>
                <a:effectLst/>
                <a:latin typeface="+mn-lt"/>
                <a:ea typeface="+mn-ea"/>
                <a:cs typeface="+mn-cs"/>
              </a:rPr>
              <a:t> The build moves to performance sandbox profiling to catch latency spikes, edge-case regressions, or memory leaks. </a:t>
            </a:r>
          </a:p>
          <a:p>
            <a:pPr marL="228600" lvl="0" indent="-228600">
              <a:buFont typeface="+mj-lt"/>
              <a:buAutoNum type="arabicPeriod"/>
            </a:pPr>
            <a:r>
              <a:rPr lang="en-US" sz="1200" b="1" kern="1200" dirty="0">
                <a:solidFill>
                  <a:schemeClr val="tx1"/>
                </a:solidFill>
                <a:effectLst/>
                <a:latin typeface="+mn-lt"/>
                <a:ea typeface="+mn-ea"/>
                <a:cs typeface="+mn-cs"/>
              </a:rPr>
              <a:t>Deployment:</a:t>
            </a:r>
            <a:r>
              <a:rPr lang="en-US" sz="1200" kern="1200" dirty="0">
                <a:solidFill>
                  <a:schemeClr val="tx1"/>
                </a:solidFill>
                <a:effectLst/>
                <a:latin typeface="+mn-lt"/>
                <a:ea typeface="+mn-ea"/>
                <a:cs typeface="+mn-cs"/>
              </a:rPr>
              <a:t> Validated code is automatically shipped directly to live production. </a:t>
            </a:r>
          </a:p>
          <a:p>
            <a:r>
              <a:rPr lang="en-US" sz="1200" kern="1200" dirty="0">
                <a:solidFill>
                  <a:schemeClr val="tx1"/>
                </a:solidFill>
                <a:effectLst/>
                <a:latin typeface="+mn-lt"/>
                <a:ea typeface="+mn-ea"/>
                <a:cs typeface="+mn-cs"/>
              </a:rPr>
              <a:t>The ultimate goal here isn't just generating code snippets faster; it is creating an autonomous closed-loop system that continuously writes, verifies, and ships software with minimal human intervention. </a:t>
            </a:r>
          </a:p>
          <a:p>
            <a:endParaRPr lang="en-US" dirty="0"/>
          </a:p>
        </p:txBody>
      </p:sp>
      <p:sp>
        <p:nvSpPr>
          <p:cNvPr id="4" name="Slide Number Placeholder 3"/>
          <p:cNvSpPr>
            <a:spLocks noGrp="1"/>
          </p:cNvSpPr>
          <p:nvPr>
            <p:ph type="sldNum" sz="quarter" idx="5"/>
          </p:nvPr>
        </p:nvSpPr>
        <p:spPr/>
        <p:txBody>
          <a:bodyPr/>
          <a:lstStyle/>
          <a:p>
            <a:fld id="{D05A5621-8DB9-4025-B2A2-7C8E2388966F}" type="slidenum">
              <a:rPr lang="en-US" smtClean="0"/>
              <a:t>5</a:t>
            </a:fld>
            <a:endParaRPr lang="en-US"/>
          </a:p>
        </p:txBody>
      </p:sp>
    </p:spTree>
    <p:extLst>
      <p:ext uri="{BB962C8B-B14F-4D97-AF65-F5344CB8AC3E}">
        <p14:creationId xmlns:p14="http://schemas.microsoft.com/office/powerpoint/2010/main" val="282132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Every software engineer knows a universal truth: code that passes 100% of local unit tests can—and will—still break when exposed to production traffic. </a:t>
            </a:r>
          </a:p>
          <a:p>
            <a:r>
              <a:rPr lang="en-US" sz="1200" kern="1200" dirty="0">
                <a:solidFill>
                  <a:schemeClr val="tx1"/>
                </a:solidFill>
                <a:effectLst/>
                <a:latin typeface="+mn-lt"/>
                <a:ea typeface="+mn-ea"/>
                <a:cs typeface="+mn-cs"/>
              </a:rPr>
              <a:t>Traditional CI/CD pipelines stop at deployment. If an error occurs in production, a human developer gets paged on PagerDuty, reviews Sentry logs, reproduces the bug locally, and manually submits a hotfix. </a:t>
            </a:r>
          </a:p>
          <a:p>
            <a:r>
              <a:rPr lang="en-US" sz="1200" kern="1200" dirty="0">
                <a:solidFill>
                  <a:schemeClr val="tx1"/>
                </a:solidFill>
                <a:effectLst/>
                <a:latin typeface="+mn-lt"/>
                <a:ea typeface="+mn-ea"/>
                <a:cs typeface="+mn-cs"/>
              </a:rPr>
              <a:t>As detailed in recent OpenAI software factory breakdowns, the </a:t>
            </a:r>
            <a:r>
              <a:rPr lang="en-US" sz="1200" b="1" kern="1200" dirty="0">
                <a:solidFill>
                  <a:schemeClr val="tx1"/>
                </a:solidFill>
                <a:effectLst/>
                <a:latin typeface="+mn-lt"/>
                <a:ea typeface="+mn-ea"/>
                <a:cs typeface="+mn-cs"/>
              </a:rPr>
              <a:t>Perf Factory</a:t>
            </a:r>
            <a:r>
              <a:rPr lang="en-US" sz="1200" kern="1200" dirty="0">
                <a:solidFill>
                  <a:schemeClr val="tx1"/>
                </a:solidFill>
                <a:effectLst/>
                <a:latin typeface="+mn-lt"/>
                <a:ea typeface="+mn-ea"/>
                <a:cs typeface="+mn-cs"/>
              </a:rPr>
              <a:t> closes this loop autonomously. </a:t>
            </a:r>
          </a:p>
          <a:p>
            <a:r>
              <a:rPr lang="en-US" sz="1200" kern="1200" dirty="0">
                <a:solidFill>
                  <a:schemeClr val="tx1"/>
                </a:solidFill>
                <a:effectLst/>
                <a:latin typeface="+mn-lt"/>
                <a:ea typeface="+mn-ea"/>
                <a:cs typeface="+mn-cs"/>
              </a:rPr>
              <a:t>As shown in the diagram: When code is deployed to live users, the Perf Factory continuously ingests telemetry, stack traces, and defect reports. When a defect is caught, the Perf Factory packages the precise runtime error state, constructs an error reproduction context, and feeds it directly back into the </a:t>
            </a:r>
            <a:r>
              <a:rPr lang="en-US" sz="1200" b="1" kern="1200" dirty="0">
                <a:solidFill>
                  <a:schemeClr val="tx1"/>
                </a:solidFill>
                <a:effectLst/>
                <a:latin typeface="+mn-lt"/>
                <a:ea typeface="+mn-ea"/>
                <a:cs typeface="+mn-cs"/>
              </a:rPr>
              <a:t>Code Generation Reconciliation Loop</a:t>
            </a:r>
            <a:r>
              <a:rPr lang="en-US" sz="1200" kern="1200" dirty="0">
                <a:solidFill>
                  <a:schemeClr val="tx1"/>
                </a:solidFill>
                <a:effectLst/>
                <a:latin typeface="+mn-lt"/>
                <a:ea typeface="+mn-ea"/>
                <a:cs typeface="+mn-cs"/>
              </a:rPr>
              <a:t>. The system writes its own patch, runs it back through automated QA, and redeploys. </a:t>
            </a:r>
          </a:p>
          <a:p>
            <a:r>
              <a:rPr lang="en-US" sz="1200" kern="1200" dirty="0">
                <a:solidFill>
                  <a:schemeClr val="tx1"/>
                </a:solidFill>
                <a:effectLst/>
                <a:latin typeface="+mn-lt"/>
                <a:ea typeface="+mn-ea"/>
                <a:cs typeface="+mn-cs"/>
              </a:rPr>
              <a:t>Now, there is a key operational constraint to highlight here: Operating an autonomous software factory requires massive compute volume. While frontier labs like OpenAI operate with functionally unlimited token budgets and custom hardware, standard engineering teams face strict API rate limits and token costs. </a:t>
            </a:r>
          </a:p>
          <a:p>
            <a:r>
              <a:rPr lang="en-US" sz="1200" kern="1200" dirty="0">
                <a:solidFill>
                  <a:schemeClr val="tx1"/>
                </a:solidFill>
                <a:effectLst/>
                <a:latin typeface="+mn-lt"/>
                <a:ea typeface="+mn-ea"/>
                <a:cs typeface="+mn-cs"/>
              </a:rPr>
              <a:t>This brings us to a crucial question: How do we build scalable agent systems without burning millions of dollars in LLM token fees? That brings us to our third layer: Logic.</a:t>
            </a:r>
          </a:p>
          <a:p>
            <a:endParaRPr lang="en-US" dirty="0"/>
          </a:p>
        </p:txBody>
      </p:sp>
      <p:sp>
        <p:nvSpPr>
          <p:cNvPr id="4" name="Slide Number Placeholder 3"/>
          <p:cNvSpPr>
            <a:spLocks noGrp="1"/>
          </p:cNvSpPr>
          <p:nvPr>
            <p:ph type="sldNum" sz="quarter" idx="5"/>
          </p:nvPr>
        </p:nvSpPr>
        <p:spPr/>
        <p:txBody>
          <a:bodyPr/>
          <a:lstStyle/>
          <a:p>
            <a:fld id="{D05A5621-8DB9-4025-B2A2-7C8E2388966F}" type="slidenum">
              <a:rPr lang="en-US" smtClean="0"/>
              <a:t>6</a:t>
            </a:fld>
            <a:endParaRPr lang="en-US"/>
          </a:p>
        </p:txBody>
      </p:sp>
    </p:spTree>
    <p:extLst>
      <p:ext uri="{BB962C8B-B14F-4D97-AF65-F5344CB8AC3E}">
        <p14:creationId xmlns:p14="http://schemas.microsoft.com/office/powerpoint/2010/main" val="21047491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addresses the most talked-about development in recent AI architecture: </a:t>
            </a:r>
            <a:r>
              <a:rPr lang="en-US" sz="1200" b="1" kern="1200" dirty="0">
                <a:solidFill>
                  <a:schemeClr val="tx1"/>
                </a:solidFill>
                <a:effectLst/>
                <a:latin typeface="+mn-lt"/>
                <a:ea typeface="+mn-ea"/>
                <a:cs typeface="+mn-cs"/>
              </a:rPr>
              <a:t>The Logic Shift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years, the industry assumed that the path to higher intelligence was building ever-larger, multi-billion parameter LLMs that generate long streams of chain-of-thought reasoning. But using a massive generative LLM to answer a simple binary decision or routing question is like using a freight train to deliver a single letter. It is slow, expensive, and overkill. </a:t>
            </a:r>
          </a:p>
          <a:p>
            <a:r>
              <a:rPr lang="en-US" sz="1200" kern="1200" dirty="0">
                <a:solidFill>
                  <a:schemeClr val="tx1"/>
                </a:solidFill>
                <a:effectLst/>
                <a:latin typeface="+mn-lt"/>
                <a:ea typeface="+mn-ea"/>
                <a:cs typeface="+mn-cs"/>
              </a:rPr>
              <a:t>The breakthrough demonstrated by models like </a:t>
            </a:r>
            <a:r>
              <a:rPr lang="en-US" sz="1200" b="1" kern="1200" dirty="0" err="1">
                <a:solidFill>
                  <a:schemeClr val="tx1"/>
                </a:solidFill>
                <a:effectLst/>
                <a:latin typeface="+mn-lt"/>
                <a:ea typeface="+mn-ea"/>
                <a:cs typeface="+mn-cs"/>
              </a:rPr>
              <a:t>Jev</a:t>
            </a:r>
            <a:r>
              <a:rPr lang="en-US" sz="1200" kern="1200" dirty="0">
                <a:solidFill>
                  <a:schemeClr val="tx1"/>
                </a:solidFill>
                <a:effectLst/>
                <a:latin typeface="+mn-lt"/>
                <a:ea typeface="+mn-ea"/>
                <a:cs typeface="+mn-cs"/>
              </a:rPr>
              <a:t> is a fundamental pivot from open-ended text generation to </a:t>
            </a:r>
            <a:r>
              <a:rPr lang="en-US" sz="1200" b="1" kern="1200" dirty="0">
                <a:solidFill>
                  <a:schemeClr val="tx1"/>
                </a:solidFill>
                <a:effectLst/>
                <a:latin typeface="+mn-lt"/>
                <a:ea typeface="+mn-ea"/>
                <a:cs typeface="+mn-cs"/>
              </a:rPr>
              <a:t>Deterministic Classifiers</a:t>
            </a:r>
            <a:r>
              <a:rPr lang="en-US" sz="1200" kern="1200" dirty="0">
                <a:solidFill>
                  <a:schemeClr val="tx1"/>
                </a:solidFill>
                <a:effectLst/>
                <a:latin typeface="+mn-lt"/>
                <a:ea typeface="+mn-ea"/>
                <a:cs typeface="+mn-cs"/>
              </a:rPr>
              <a:t> trained via </a:t>
            </a:r>
            <a:r>
              <a:rPr lang="en-US" sz="1200" b="1" kern="1200" dirty="0">
                <a:solidFill>
                  <a:schemeClr val="tx1"/>
                </a:solidFill>
                <a:effectLst/>
                <a:latin typeface="+mn-lt"/>
                <a:ea typeface="+mn-ea"/>
                <a:cs typeface="+mn-cs"/>
              </a:rPr>
              <a:t>RLCD</a:t>
            </a:r>
            <a:r>
              <a:rPr lang="en-US" sz="1200" kern="1200" dirty="0">
                <a:solidFill>
                  <a:schemeClr val="tx1"/>
                </a:solidFill>
                <a:effectLst/>
                <a:latin typeface="+mn-lt"/>
                <a:ea typeface="+mn-ea"/>
                <a:cs typeface="+mn-cs"/>
              </a:rPr>
              <a:t> (Reinforcement Learning for Calibrated Decisions). </a:t>
            </a:r>
          </a:p>
          <a:p>
            <a:r>
              <a:rPr lang="en-US" sz="1200" kern="1200" dirty="0">
                <a:solidFill>
                  <a:schemeClr val="tx1"/>
                </a:solidFill>
                <a:effectLst/>
                <a:latin typeface="+mn-lt"/>
                <a:ea typeface="+mn-ea"/>
                <a:cs typeface="+mn-cs"/>
              </a:rPr>
              <a:t>Let's look at the metrics: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Speed:</a:t>
            </a:r>
            <a:r>
              <a:rPr lang="en-US" sz="1200" kern="1200" dirty="0">
                <a:solidFill>
                  <a:schemeClr val="tx1"/>
                </a:solidFill>
                <a:effectLst/>
                <a:latin typeface="+mn-lt"/>
                <a:ea typeface="+mn-ea"/>
                <a:cs typeface="+mn-cs"/>
              </a:rPr>
              <a:t> Classifiers operate </a:t>
            </a:r>
            <a:r>
              <a:rPr lang="en-US" sz="1200" b="1" kern="1200" dirty="0">
                <a:solidFill>
                  <a:schemeClr val="tx1"/>
                </a:solidFill>
                <a:effectLst/>
                <a:latin typeface="+mn-lt"/>
                <a:ea typeface="+mn-ea"/>
                <a:cs typeface="+mn-cs"/>
              </a:rPr>
              <a:t>20x to 200x faster</a:t>
            </a:r>
            <a:r>
              <a:rPr lang="en-US" sz="1200" kern="1200" dirty="0">
                <a:solidFill>
                  <a:schemeClr val="tx1"/>
                </a:solidFill>
                <a:effectLst/>
                <a:latin typeface="+mn-lt"/>
                <a:ea typeface="+mn-ea"/>
                <a:cs typeface="+mn-cs"/>
              </a:rPr>
              <a:t> than standard generative LLMs.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Cost:</a:t>
            </a:r>
            <a:r>
              <a:rPr lang="en-US" sz="1200" kern="1200" dirty="0">
                <a:solidFill>
                  <a:schemeClr val="tx1"/>
                </a:solidFill>
                <a:effectLst/>
                <a:latin typeface="+mn-lt"/>
                <a:ea typeface="+mn-ea"/>
                <a:cs typeface="+mn-cs"/>
              </a:rPr>
              <a:t> Execution is </a:t>
            </a:r>
            <a:r>
              <a:rPr lang="en-US" sz="1200" b="1" kern="1200" dirty="0">
                <a:solidFill>
                  <a:schemeClr val="tx1"/>
                </a:solidFill>
                <a:effectLst/>
                <a:latin typeface="+mn-lt"/>
                <a:ea typeface="+mn-ea"/>
                <a:cs typeface="+mn-cs"/>
              </a:rPr>
              <a:t>40x to 400x cheaper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 structural table comparing the two: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Standard LLMs focus on </a:t>
            </a:r>
            <a:r>
              <a:rPr lang="en-US" sz="1200" i="1" kern="1200" dirty="0">
                <a:solidFill>
                  <a:schemeClr val="tx1"/>
                </a:solidFill>
                <a:effectLst/>
                <a:latin typeface="+mn-lt"/>
                <a:ea typeface="+mn-ea"/>
                <a:cs typeface="+mn-cs"/>
              </a:rPr>
              <a:t>Generative Text &amp; Reasoning</a:t>
            </a:r>
            <a:r>
              <a:rPr lang="en-US" sz="1200" kern="1200" dirty="0">
                <a:solidFill>
                  <a:schemeClr val="tx1"/>
                </a:solidFill>
                <a:effectLst/>
                <a:latin typeface="+mn-lt"/>
                <a:ea typeface="+mn-ea"/>
                <a:cs typeface="+mn-cs"/>
              </a:rPr>
              <a:t>, trained via RLHF (Human Feedback). They are great for creative problem solving and net-new content generation.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Classifiers focus on </a:t>
            </a:r>
            <a:r>
              <a:rPr lang="en-US" sz="1200" i="1" kern="1200" dirty="0">
                <a:solidFill>
                  <a:schemeClr val="tx1"/>
                </a:solidFill>
                <a:effectLst/>
                <a:latin typeface="+mn-lt"/>
                <a:ea typeface="+mn-ea"/>
                <a:cs typeface="+mn-cs"/>
              </a:rPr>
              <a:t>Structured Probability &amp; Decisions</a:t>
            </a:r>
            <a:r>
              <a:rPr lang="en-US" sz="1200" kern="1200" dirty="0">
                <a:solidFill>
                  <a:schemeClr val="tx1"/>
                </a:solidFill>
                <a:effectLst/>
                <a:latin typeface="+mn-lt"/>
                <a:ea typeface="+mn-ea"/>
                <a:cs typeface="+mn-cs"/>
              </a:rPr>
              <a:t>, trained via RLCD. Instead of paragraphs of text, </a:t>
            </a:r>
            <a:r>
              <a:rPr lang="en-US" sz="1200" kern="1200" dirty="0" err="1">
                <a:solidFill>
                  <a:schemeClr val="tx1"/>
                </a:solidFill>
                <a:effectLst/>
                <a:latin typeface="+mn-lt"/>
                <a:ea typeface="+mn-ea"/>
                <a:cs typeface="+mn-cs"/>
              </a:rPr>
              <a:t>Jev</a:t>
            </a:r>
            <a:r>
              <a:rPr lang="en-US" sz="1200" kern="1200" dirty="0">
                <a:solidFill>
                  <a:schemeClr val="tx1"/>
                </a:solidFill>
                <a:effectLst/>
                <a:latin typeface="+mn-lt"/>
                <a:ea typeface="+mn-ea"/>
                <a:cs typeface="+mn-cs"/>
              </a:rPr>
              <a:t> returns a clean JSON schema populated with exact probability confidence scores (e.g., Sentiment: 0.95, Intent: 0.88). </a:t>
            </a:r>
          </a:p>
          <a:p>
            <a:r>
              <a:rPr lang="en-US" sz="1200" kern="1200" dirty="0">
                <a:solidFill>
                  <a:schemeClr val="tx1"/>
                </a:solidFill>
                <a:effectLst/>
                <a:latin typeface="+mn-lt"/>
                <a:ea typeface="+mn-ea"/>
                <a:cs typeface="+mn-cs"/>
              </a:rPr>
              <a:t>Classifiers give developers the speed and determinism of traditional software code combined with the semantic understanding of AI. </a:t>
            </a:r>
          </a:p>
          <a:p>
            <a:endParaRPr lang="en-US" dirty="0"/>
          </a:p>
        </p:txBody>
      </p:sp>
      <p:sp>
        <p:nvSpPr>
          <p:cNvPr id="4" name="Slide Number Placeholder 3"/>
          <p:cNvSpPr>
            <a:spLocks noGrp="1"/>
          </p:cNvSpPr>
          <p:nvPr>
            <p:ph type="sldNum" sz="quarter" idx="5"/>
          </p:nvPr>
        </p:nvSpPr>
        <p:spPr/>
        <p:txBody>
          <a:bodyPr/>
          <a:lstStyle/>
          <a:p>
            <a:fld id="{D05A5621-8DB9-4025-B2A2-7C8E2388966F}" type="slidenum">
              <a:rPr lang="en-US" smtClean="0"/>
              <a:t>7</a:t>
            </a:fld>
            <a:endParaRPr lang="en-US"/>
          </a:p>
        </p:txBody>
      </p:sp>
    </p:spTree>
    <p:extLst>
      <p:ext uri="{BB962C8B-B14F-4D97-AF65-F5344CB8AC3E}">
        <p14:creationId xmlns:p14="http://schemas.microsoft.com/office/powerpoint/2010/main" val="1856609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break down how an RLCD Classifier actually processes information under the hood. </a:t>
            </a:r>
          </a:p>
          <a:p>
            <a:r>
              <a:rPr lang="en-US" sz="1200" kern="1200" dirty="0">
                <a:solidFill>
                  <a:schemeClr val="tx1"/>
                </a:solidFill>
                <a:effectLst/>
                <a:latin typeface="+mn-lt"/>
                <a:ea typeface="+mn-ea"/>
                <a:cs typeface="+mn-cs"/>
              </a:rPr>
              <a:t>Traditional LLMs take a prompt and predict the next most likely token in a sequence. RLCD models work differently: they evaluate </a:t>
            </a:r>
            <a:r>
              <a:rPr lang="en-US" sz="1200" b="1" kern="1200" dirty="0">
                <a:solidFill>
                  <a:schemeClr val="tx1"/>
                </a:solidFill>
                <a:effectLst/>
                <a:latin typeface="+mn-lt"/>
                <a:ea typeface="+mn-ea"/>
                <a:cs typeface="+mn-cs"/>
              </a:rPr>
              <a:t>State against Intent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input into an RLCD classifier consists of two distinct components: </a:t>
            </a:r>
          </a:p>
          <a:p>
            <a:pPr marL="228600" lvl="0" indent="-228600">
              <a:buFont typeface="+mj-lt"/>
              <a:buAutoNum type="arabicPeriod"/>
            </a:pPr>
            <a:r>
              <a:rPr lang="en-US" sz="1200" b="1" kern="1200" dirty="0">
                <a:solidFill>
                  <a:schemeClr val="tx1"/>
                </a:solidFill>
                <a:effectLst/>
                <a:latin typeface="+mn-lt"/>
                <a:ea typeface="+mn-ea"/>
                <a:cs typeface="+mn-cs"/>
              </a:rPr>
              <a:t>Evidence (The State of the World):</a:t>
            </a:r>
            <a:r>
              <a:rPr lang="en-US" sz="1200" kern="1200" dirty="0">
                <a:solidFill>
                  <a:schemeClr val="tx1"/>
                </a:solidFill>
                <a:effectLst/>
                <a:latin typeface="+mn-lt"/>
                <a:ea typeface="+mn-ea"/>
                <a:cs typeface="+mn-cs"/>
              </a:rPr>
              <a:t> The raw context, customer history, system logs, or text payload. </a:t>
            </a:r>
          </a:p>
          <a:p>
            <a:pPr marL="228600" lvl="0" indent="-228600">
              <a:buFont typeface="+mj-lt"/>
              <a:buAutoNum type="arabicPeriod"/>
            </a:pPr>
            <a:r>
              <a:rPr lang="en-US" sz="1200" b="1" kern="1200" dirty="0">
                <a:solidFill>
                  <a:schemeClr val="tx1"/>
                </a:solidFill>
                <a:effectLst/>
                <a:latin typeface="+mn-lt"/>
                <a:ea typeface="+mn-ea"/>
                <a:cs typeface="+mn-cs"/>
              </a:rPr>
              <a:t>Question (The Schema):</a:t>
            </a:r>
            <a:r>
              <a:rPr lang="en-US" sz="1200" kern="1200" dirty="0">
                <a:solidFill>
                  <a:schemeClr val="tx1"/>
                </a:solidFill>
                <a:effectLst/>
                <a:latin typeface="+mn-lt"/>
                <a:ea typeface="+mn-ea"/>
                <a:cs typeface="+mn-cs"/>
              </a:rPr>
              <a:t> A strict, typed structure defining exactly what decisions need to be evaluated. </a:t>
            </a:r>
          </a:p>
          <a:p>
            <a:r>
              <a:rPr lang="en-US" sz="1200" kern="1200" dirty="0">
                <a:solidFill>
                  <a:schemeClr val="tx1"/>
                </a:solidFill>
                <a:effectLst/>
                <a:latin typeface="+mn-lt"/>
                <a:ea typeface="+mn-ea"/>
                <a:cs typeface="+mn-cs"/>
              </a:rPr>
              <a:t>Look at the real-world example at the bottom of the slide: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State:</a:t>
            </a:r>
            <a:r>
              <a:rPr lang="en-US" sz="1200" kern="1200" dirty="0">
                <a:solidFill>
                  <a:schemeClr val="tx1"/>
                </a:solidFill>
                <a:effectLst/>
                <a:latin typeface="+mn-lt"/>
                <a:ea typeface="+mn-ea"/>
                <a:cs typeface="+mn-cs"/>
              </a:rPr>
              <a:t> Refund policy allows 5–7 days with a 15% restocking fee.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Agent Reply:</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 pushed the refund.'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Classifier Output:</a:t>
            </a:r>
            <a:r>
              <a:rPr lang="en-US" sz="1200" kern="1200" dirty="0">
                <a:solidFill>
                  <a:schemeClr val="tx1"/>
                </a:solidFill>
                <a:effectLst/>
                <a:latin typeface="+mn-lt"/>
                <a:ea typeface="+mn-ea"/>
                <a:cs typeface="+mn-cs"/>
              </a:rPr>
              <a:t> The model evaluates whether the reply complies with the state policy and outputs a typed JSON object: Resolution: Partial with a Grounded Confidence: 52%. </a:t>
            </a:r>
          </a:p>
          <a:p>
            <a:r>
              <a:rPr lang="en-US" sz="1200" kern="1200" dirty="0">
                <a:solidFill>
                  <a:schemeClr val="tx1"/>
                </a:solidFill>
                <a:effectLst/>
                <a:latin typeface="+mn-lt"/>
                <a:ea typeface="+mn-ea"/>
                <a:cs typeface="+mn-cs"/>
              </a:rPr>
              <a:t>Because RLCD models are trained specifically to calibrate confidence scores across multiple runs, their outputs fall within tightly controlled standard deviations. You don't get wild, unpredictable variations. You get statistically grounded, type-safe decision objects. </a:t>
            </a:r>
          </a:p>
          <a:p>
            <a:endParaRPr lang="en-US" dirty="0"/>
          </a:p>
        </p:txBody>
      </p:sp>
      <p:sp>
        <p:nvSpPr>
          <p:cNvPr id="4" name="Slide Number Placeholder 3"/>
          <p:cNvSpPr>
            <a:spLocks noGrp="1"/>
          </p:cNvSpPr>
          <p:nvPr>
            <p:ph type="sldNum" sz="quarter" idx="5"/>
          </p:nvPr>
        </p:nvSpPr>
        <p:spPr/>
        <p:txBody>
          <a:bodyPr/>
          <a:lstStyle/>
          <a:p>
            <a:fld id="{D05A5621-8DB9-4025-B2A2-7C8E2388966F}" type="slidenum">
              <a:rPr lang="en-US" smtClean="0"/>
              <a:t>8</a:t>
            </a:fld>
            <a:endParaRPr lang="en-US"/>
          </a:p>
        </p:txBody>
      </p:sp>
    </p:spTree>
    <p:extLst>
      <p:ext uri="{BB962C8B-B14F-4D97-AF65-F5344CB8AC3E}">
        <p14:creationId xmlns:p14="http://schemas.microsoft.com/office/powerpoint/2010/main" val="26660839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Once you have access to ultra-fast, low-cost classifiers, how do you integrate them into your application stack? </a:t>
            </a:r>
          </a:p>
          <a:p>
            <a:r>
              <a:rPr lang="en-US" sz="1200" kern="1200" dirty="0">
                <a:solidFill>
                  <a:schemeClr val="tx1"/>
                </a:solidFill>
                <a:effectLst/>
                <a:latin typeface="+mn-lt"/>
                <a:ea typeface="+mn-ea"/>
                <a:cs typeface="+mn-cs"/>
              </a:rPr>
              <a:t>On screen are </a:t>
            </a:r>
            <a:r>
              <a:rPr lang="en-US" sz="1200" b="1" kern="1200" dirty="0">
                <a:solidFill>
                  <a:schemeClr val="tx1"/>
                </a:solidFill>
                <a:effectLst/>
                <a:latin typeface="+mn-lt"/>
                <a:ea typeface="+mn-ea"/>
                <a:cs typeface="+mn-cs"/>
              </a:rPr>
              <a:t>The Six Primitives</a:t>
            </a:r>
            <a:r>
              <a:rPr lang="en-US" sz="1200" kern="1200" dirty="0">
                <a:solidFill>
                  <a:schemeClr val="tx1"/>
                </a:solidFill>
                <a:effectLst/>
                <a:latin typeface="+mn-lt"/>
                <a:ea typeface="+mn-ea"/>
                <a:cs typeface="+mn-cs"/>
              </a:rPr>
              <a:t> for classifier integration, which effectively bridge probabilistic AI models with traditional software code: </a:t>
            </a:r>
          </a:p>
          <a:p>
            <a:pPr marL="228600" lvl="0" indent="-228600">
              <a:buFont typeface="+mj-lt"/>
              <a:buAutoNum type="arabicPeriod"/>
            </a:pPr>
            <a:r>
              <a:rPr lang="en-US" sz="1200" b="1" kern="1200" dirty="0">
                <a:solidFill>
                  <a:schemeClr val="tx1"/>
                </a:solidFill>
                <a:effectLst/>
                <a:latin typeface="+mn-lt"/>
                <a:ea typeface="+mn-ea"/>
                <a:cs typeface="+mn-cs"/>
              </a:rPr>
              <a:t>Workflows:</a:t>
            </a:r>
            <a:r>
              <a:rPr lang="en-US" sz="1200" kern="1200" dirty="0">
                <a:solidFill>
                  <a:schemeClr val="tx1"/>
                </a:solidFill>
                <a:effectLst/>
                <a:latin typeface="+mn-lt"/>
                <a:ea typeface="+mn-ea"/>
                <a:cs typeface="+mn-cs"/>
              </a:rPr>
              <a:t> Replacing vague LLM reasoning steps with deterministic branching logic based on classified intent. </a:t>
            </a:r>
          </a:p>
          <a:p>
            <a:pPr marL="228600" lvl="0" indent="-228600">
              <a:buFont typeface="+mj-lt"/>
              <a:buAutoNum type="arabicPeriod"/>
            </a:pPr>
            <a:r>
              <a:rPr lang="en-US" sz="1200" b="1" kern="1200" dirty="0">
                <a:solidFill>
                  <a:schemeClr val="tx1"/>
                </a:solidFill>
                <a:effectLst/>
                <a:latin typeface="+mn-lt"/>
                <a:ea typeface="+mn-ea"/>
                <a:cs typeface="+mn-cs"/>
              </a:rPr>
              <a:t>Guardrails:</a:t>
            </a:r>
            <a:r>
              <a:rPr lang="en-US" sz="1200" kern="1200" dirty="0">
                <a:solidFill>
                  <a:schemeClr val="tx1"/>
                </a:solidFill>
                <a:effectLst/>
                <a:latin typeface="+mn-lt"/>
                <a:ea typeface="+mn-ea"/>
                <a:cs typeface="+mn-cs"/>
              </a:rPr>
              <a:t> Implementing high-speed algorithmic tripwires that evaluate content for PII leaks, toxicity, or safety breaches before calling heavy models. </a:t>
            </a:r>
          </a:p>
          <a:p>
            <a:pPr marL="228600" lvl="0" indent="-228600">
              <a:buFont typeface="+mj-lt"/>
              <a:buAutoNum type="arabicPeriod"/>
            </a:pPr>
            <a:r>
              <a:rPr lang="en-US" sz="1200" b="1" kern="1200" dirty="0">
                <a:solidFill>
                  <a:schemeClr val="tx1"/>
                </a:solidFill>
                <a:effectLst/>
                <a:latin typeface="+mn-lt"/>
                <a:ea typeface="+mn-ea"/>
                <a:cs typeface="+mn-cs"/>
              </a:rPr>
              <a:t>Tool Pre-selection:</a:t>
            </a:r>
            <a:r>
              <a:rPr lang="en-US" sz="1200" kern="1200" dirty="0">
                <a:solidFill>
                  <a:schemeClr val="tx1"/>
                </a:solidFill>
                <a:effectLst/>
                <a:latin typeface="+mn-lt"/>
                <a:ea typeface="+mn-ea"/>
                <a:cs typeface="+mn-cs"/>
              </a:rPr>
              <a:t> Narrowing down hundreds of available API tools to a small, domain-specific search window before an agent executes. </a:t>
            </a:r>
          </a:p>
          <a:p>
            <a:pPr marL="228600" lvl="0" indent="-228600">
              <a:buFont typeface="+mj-lt"/>
              <a:buAutoNum type="arabicPeriod"/>
            </a:pPr>
            <a:r>
              <a:rPr lang="en-US" sz="1200" b="1" kern="1200" dirty="0">
                <a:solidFill>
                  <a:schemeClr val="tx1"/>
                </a:solidFill>
                <a:effectLst/>
                <a:latin typeface="+mn-lt"/>
                <a:ea typeface="+mn-ea"/>
                <a:cs typeface="+mn-cs"/>
              </a:rPr>
              <a:t>Model Routing:</a:t>
            </a:r>
            <a:r>
              <a:rPr lang="en-US" sz="1200" kern="1200" dirty="0">
                <a:solidFill>
                  <a:schemeClr val="tx1"/>
                </a:solidFill>
                <a:effectLst/>
                <a:latin typeface="+mn-lt"/>
                <a:ea typeface="+mn-ea"/>
                <a:cs typeface="+mn-cs"/>
              </a:rPr>
              <a:t> Directing incoming user requests to the cheapest model capable of handling the task without breaking prompt caches unnecessarily. </a:t>
            </a:r>
          </a:p>
          <a:p>
            <a:pPr marL="228600" lvl="0" indent="-228600">
              <a:buFont typeface="+mj-lt"/>
              <a:buAutoNum type="arabicPeriod"/>
            </a:pPr>
            <a:r>
              <a:rPr lang="en-US" sz="1200" b="1" kern="1200" dirty="0">
                <a:solidFill>
                  <a:schemeClr val="tx1"/>
                </a:solidFill>
                <a:effectLst/>
                <a:latin typeface="+mn-lt"/>
                <a:ea typeface="+mn-ea"/>
                <a:cs typeface="+mn-cs"/>
              </a:rPr>
              <a:t>Tool Approvals:</a:t>
            </a:r>
            <a:r>
              <a:rPr lang="en-US" sz="1200" kern="1200" dirty="0">
                <a:solidFill>
                  <a:schemeClr val="tx1"/>
                </a:solidFill>
                <a:effectLst/>
                <a:latin typeface="+mn-lt"/>
                <a:ea typeface="+mn-ea"/>
                <a:cs typeface="+mn-cs"/>
              </a:rPr>
              <a:t> Performing dynamic risk evaluations on proposed tool arguments before executing sensitive system actions. </a:t>
            </a:r>
          </a:p>
          <a:p>
            <a:pPr marL="228600" lvl="0" indent="-228600">
              <a:buFont typeface="+mj-lt"/>
              <a:buAutoNum type="arabicPeriod"/>
            </a:pPr>
            <a:r>
              <a:rPr lang="en-US" sz="1200" b="1" kern="1200" dirty="0">
                <a:solidFill>
                  <a:schemeClr val="tx1"/>
                </a:solidFill>
                <a:effectLst/>
                <a:latin typeface="+mn-lt"/>
                <a:ea typeface="+mn-ea"/>
                <a:cs typeface="+mn-cs"/>
              </a:rPr>
              <a:t>AI-as-Judge:</a:t>
            </a:r>
            <a:r>
              <a:rPr lang="en-US" sz="1200" kern="1200" dirty="0">
                <a:solidFill>
                  <a:schemeClr val="tx1"/>
                </a:solidFill>
                <a:effectLst/>
                <a:latin typeface="+mn-lt"/>
                <a:ea typeface="+mn-ea"/>
                <a:cs typeface="+mn-cs"/>
              </a:rPr>
              <a:t> Scoring agent response quality, policy compliance, and resolution completion at a fraction of the cost of large LLM evaluator calls. </a:t>
            </a:r>
          </a:p>
          <a:p>
            <a:r>
              <a:rPr lang="en-US" sz="1200" kern="1200" dirty="0">
                <a:solidFill>
                  <a:schemeClr val="tx1"/>
                </a:solidFill>
                <a:effectLst/>
                <a:latin typeface="+mn-lt"/>
                <a:ea typeface="+mn-ea"/>
                <a:cs typeface="+mn-cs"/>
              </a:rPr>
              <a:t>Over the next few slides, we will look at exact visual patterns for how these primitives execute in production. </a:t>
            </a:r>
          </a:p>
          <a:p>
            <a:endParaRPr lang="en-US" dirty="0"/>
          </a:p>
        </p:txBody>
      </p:sp>
      <p:sp>
        <p:nvSpPr>
          <p:cNvPr id="4" name="Slide Number Placeholder 3"/>
          <p:cNvSpPr>
            <a:spLocks noGrp="1"/>
          </p:cNvSpPr>
          <p:nvPr>
            <p:ph type="sldNum" sz="quarter" idx="5"/>
          </p:nvPr>
        </p:nvSpPr>
        <p:spPr/>
        <p:txBody>
          <a:bodyPr/>
          <a:lstStyle/>
          <a:p>
            <a:fld id="{D05A5621-8DB9-4025-B2A2-7C8E2388966F}" type="slidenum">
              <a:rPr lang="en-US" smtClean="0"/>
              <a:t>9</a:t>
            </a:fld>
            <a:endParaRPr lang="en-US"/>
          </a:p>
        </p:txBody>
      </p:sp>
    </p:spTree>
    <p:extLst>
      <p:ext uri="{BB962C8B-B14F-4D97-AF65-F5344CB8AC3E}">
        <p14:creationId xmlns:p14="http://schemas.microsoft.com/office/powerpoint/2010/main" val="22149299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look at Primitive #1 in practice: </a:t>
            </a:r>
            <a:r>
              <a:rPr lang="en-US" sz="1200" b="1" kern="1200" dirty="0">
                <a:solidFill>
                  <a:schemeClr val="tx1"/>
                </a:solidFill>
                <a:effectLst/>
                <a:latin typeface="+mn-lt"/>
                <a:ea typeface="+mn-ea"/>
                <a:cs typeface="+mn-cs"/>
              </a:rPr>
              <a:t>Deterministic Branching in Workflows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legacy approach to building a support agent was to write a mega-prompt containing 50 pages of instructions covering refunds, broken hardware, account upgrades, and shipping status. You would send the entire user message through that massive prompt every single turn. It was expensive, slow, and prone to instruction drift. </a:t>
            </a:r>
          </a:p>
          <a:p>
            <a:r>
              <a:rPr lang="en-US" sz="1200" kern="1200" dirty="0">
                <a:solidFill>
                  <a:schemeClr val="tx1"/>
                </a:solidFill>
                <a:effectLst/>
                <a:latin typeface="+mn-lt"/>
                <a:ea typeface="+mn-ea"/>
                <a:cs typeface="+mn-cs"/>
              </a:rPr>
              <a:t>With a classifier pattern, we split intent detection from execution. </a:t>
            </a:r>
          </a:p>
          <a:p>
            <a:r>
              <a:rPr lang="en-US" sz="1200" kern="1200" dirty="0">
                <a:solidFill>
                  <a:schemeClr val="tx1"/>
                </a:solidFill>
                <a:effectLst/>
                <a:latin typeface="+mn-lt"/>
                <a:ea typeface="+mn-ea"/>
                <a:cs typeface="+mn-cs"/>
              </a:rPr>
              <a:t>Look at the pipeline: A user submits: </a:t>
            </a:r>
            <a:r>
              <a:rPr lang="en-US" sz="1200" i="1" kern="1200" dirty="0">
                <a:solidFill>
                  <a:schemeClr val="tx1"/>
                </a:solidFill>
                <a:effectLst/>
                <a:latin typeface="+mn-lt"/>
                <a:ea typeface="+mn-ea"/>
                <a:cs typeface="+mn-cs"/>
              </a:rPr>
              <a:t>'I was billed $89.'</a:t>
            </a:r>
            <a:r>
              <a:rPr lang="en-US" sz="1200" kern="1200" dirty="0">
                <a:solidFill>
                  <a:schemeClr val="tx1"/>
                </a:solidFill>
                <a:effectLst/>
                <a:latin typeface="+mn-lt"/>
                <a:ea typeface="+mn-ea"/>
                <a:cs typeface="+mn-cs"/>
              </a:rPr>
              <a:t> Before triggering any LLM agent or loading thousands of tokens of context, a lightweight classifier evaluates the intent instantly.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intent = [Refund], the system routes directly down an isolated </a:t>
            </a:r>
            <a:r>
              <a:rPr lang="en-US" sz="1200" b="1" kern="1200" dirty="0">
                <a:solidFill>
                  <a:schemeClr val="tx1"/>
                </a:solidFill>
                <a:effectLst/>
                <a:latin typeface="+mn-lt"/>
                <a:ea typeface="+mn-ea"/>
                <a:cs typeface="+mn-cs"/>
              </a:rPr>
              <a:t>Refund Path</a:t>
            </a:r>
            <a:r>
              <a:rPr lang="en-US" sz="1200" kern="1200" dirty="0">
                <a:solidFill>
                  <a:schemeClr val="tx1"/>
                </a:solidFill>
                <a:effectLst/>
                <a:latin typeface="+mn-lt"/>
                <a:ea typeface="+mn-ea"/>
                <a:cs typeface="+mn-cs"/>
              </a:rPr>
              <a:t> workflow.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intent = [Broken], it routes to the </a:t>
            </a:r>
            <a:r>
              <a:rPr lang="en-US" sz="1200" b="1" kern="1200" dirty="0">
                <a:solidFill>
                  <a:schemeClr val="tx1"/>
                </a:solidFill>
                <a:effectLst/>
                <a:latin typeface="+mn-lt"/>
                <a:ea typeface="+mn-ea"/>
                <a:cs typeface="+mn-cs"/>
              </a:rPr>
              <a:t>Replacement Path</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intent = [Sales], it routes to the </a:t>
            </a:r>
            <a:r>
              <a:rPr lang="en-US" sz="1200" b="1" kern="1200" dirty="0">
                <a:solidFill>
                  <a:schemeClr val="tx1"/>
                </a:solidFill>
                <a:effectLst/>
                <a:latin typeface="+mn-lt"/>
                <a:ea typeface="+mn-ea"/>
                <a:cs typeface="+mn-cs"/>
              </a:rPr>
              <a:t>Expansion Path</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By isolating workflows down deterministic code paths, each downstream agent receives only the exact context and tools it needs for its specific task. Execution speed skyrockets while token consumption drops by orders of magnitude. </a:t>
            </a:r>
          </a:p>
          <a:p>
            <a:endParaRPr lang="en-US" dirty="0"/>
          </a:p>
        </p:txBody>
      </p:sp>
      <p:sp>
        <p:nvSpPr>
          <p:cNvPr id="4" name="Slide Number Placeholder 3"/>
          <p:cNvSpPr>
            <a:spLocks noGrp="1"/>
          </p:cNvSpPr>
          <p:nvPr>
            <p:ph type="sldNum" sz="quarter" idx="5"/>
          </p:nvPr>
        </p:nvSpPr>
        <p:spPr/>
        <p:txBody>
          <a:bodyPr/>
          <a:lstStyle/>
          <a:p>
            <a:fld id="{D05A5621-8DB9-4025-B2A2-7C8E2388966F}" type="slidenum">
              <a:rPr lang="en-US" smtClean="0"/>
              <a:t>10</a:t>
            </a:fld>
            <a:endParaRPr lang="en-US"/>
          </a:p>
        </p:txBody>
      </p:sp>
    </p:spTree>
    <p:extLst>
      <p:ext uri="{BB962C8B-B14F-4D97-AF65-F5344CB8AC3E}">
        <p14:creationId xmlns:p14="http://schemas.microsoft.com/office/powerpoint/2010/main" val="4279300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Primitive #2 centers on safety and compliance: </a:t>
            </a:r>
            <a:r>
              <a:rPr lang="en-US" sz="1200" b="1" kern="1200" dirty="0">
                <a:solidFill>
                  <a:schemeClr val="tx1"/>
                </a:solidFill>
                <a:effectLst/>
                <a:latin typeface="+mn-lt"/>
                <a:ea typeface="+mn-ea"/>
                <a:cs typeface="+mn-cs"/>
              </a:rPr>
              <a:t>Algorithmic Tripwires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production systems, checking for secret leaks, API keys, private personal data (PII), or toxic language is critical. But using a full-scale LLM to inspect every incoming and outgoing message chunk adds massive latency and overhead. </a:t>
            </a:r>
          </a:p>
          <a:p>
            <a:r>
              <a:rPr lang="en-US" sz="1200" kern="1200" dirty="0">
                <a:solidFill>
                  <a:schemeClr val="tx1"/>
                </a:solidFill>
                <a:effectLst/>
                <a:latin typeface="+mn-lt"/>
                <a:ea typeface="+mn-ea"/>
                <a:cs typeface="+mn-cs"/>
              </a:rPr>
              <a:t>As shown on this slide, an RLCD classifier can evaluate multiple </a:t>
            </a:r>
            <a:r>
              <a:rPr lang="en-US" sz="1200" kern="1200" dirty="0" err="1">
                <a:solidFill>
                  <a:schemeClr val="tx1"/>
                </a:solidFill>
                <a:effectLst/>
                <a:latin typeface="+mn-lt"/>
                <a:ea typeface="+mn-ea"/>
                <a:cs typeface="+mn-cs"/>
              </a:rPr>
              <a:t>boolean</a:t>
            </a:r>
            <a:r>
              <a:rPr lang="en-US" sz="1200" kern="1200" dirty="0">
                <a:solidFill>
                  <a:schemeClr val="tx1"/>
                </a:solidFill>
                <a:effectLst/>
                <a:latin typeface="+mn-lt"/>
                <a:ea typeface="+mn-ea"/>
                <a:cs typeface="+mn-cs"/>
              </a:rPr>
              <a:t> conditions simultaneously in a single, ultra-fast pass. </a:t>
            </a:r>
          </a:p>
          <a:p>
            <a:r>
              <a:rPr lang="en-US" sz="1200" kern="1200" dirty="0">
                <a:solidFill>
                  <a:schemeClr val="tx1"/>
                </a:solidFill>
                <a:effectLst/>
                <a:latin typeface="+mn-lt"/>
                <a:ea typeface="+mn-ea"/>
                <a:cs typeface="+mn-cs"/>
              </a:rPr>
              <a:t>In this example, incoming text passes through a </a:t>
            </a:r>
            <a:r>
              <a:rPr lang="en-US" sz="1200" b="1" kern="1200" dirty="0">
                <a:solidFill>
                  <a:schemeClr val="tx1"/>
                </a:solidFill>
                <a:effectLst/>
                <a:latin typeface="+mn-lt"/>
                <a:ea typeface="+mn-ea"/>
                <a:cs typeface="+mn-cs"/>
              </a:rPr>
              <a:t>Content Guard Classifier</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Abusive: Probability score </a:t>
            </a:r>
            <a:r>
              <a:rPr lang="en-US" sz="1200" b="1" kern="1200" dirty="0">
                <a:solidFill>
                  <a:schemeClr val="tx1"/>
                </a:solidFill>
                <a:effectLst/>
                <a:latin typeface="+mn-lt"/>
                <a:ea typeface="+mn-ea"/>
                <a:cs typeface="+mn-cs"/>
              </a:rPr>
              <a:t>0.12</a:t>
            </a:r>
            <a:r>
              <a:rPr lang="en-US" sz="1200" kern="1200" dirty="0">
                <a:solidFill>
                  <a:schemeClr val="tx1"/>
                </a:solidFill>
                <a:effectLst/>
                <a:latin typeface="+mn-lt"/>
                <a:ea typeface="+mn-ea"/>
                <a:cs typeface="+mn-cs"/>
              </a:rPr>
              <a:t> (Safe).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Contains Secrets: Probability score </a:t>
            </a:r>
            <a:r>
              <a:rPr lang="en-US" sz="1200" b="1" kern="1200" dirty="0">
                <a:solidFill>
                  <a:schemeClr val="tx1"/>
                </a:solidFill>
                <a:effectLst/>
                <a:latin typeface="+mn-lt"/>
                <a:ea typeface="+mn-ea"/>
                <a:cs typeface="+mn-cs"/>
              </a:rPr>
              <a:t>0.85</a:t>
            </a:r>
            <a:r>
              <a:rPr lang="en-US" sz="1200" kern="1200" dirty="0">
                <a:solidFill>
                  <a:schemeClr val="tx1"/>
                </a:solidFill>
                <a:effectLst/>
                <a:latin typeface="+mn-lt"/>
                <a:ea typeface="+mn-ea"/>
                <a:cs typeface="+mn-cs"/>
              </a:rPr>
              <a:t> (Danger threshold breached!). </a:t>
            </a:r>
          </a:p>
          <a:p>
            <a:r>
              <a:rPr lang="en-US" sz="1200" kern="1200" dirty="0">
                <a:solidFill>
                  <a:schemeClr val="tx1"/>
                </a:solidFill>
                <a:effectLst/>
                <a:latin typeface="+mn-lt"/>
                <a:ea typeface="+mn-ea"/>
                <a:cs typeface="+mn-cs"/>
              </a:rPr>
              <a:t>Because the Contains Secrets probability score crossed our preset safety threshold (e.g., &gt; 0.70), the classifier instantly fires an programmatic </a:t>
            </a:r>
            <a:r>
              <a:rPr lang="en-US" sz="1200" b="1" kern="1200" dirty="0">
                <a:solidFill>
                  <a:schemeClr val="tx1"/>
                </a:solidFill>
                <a:effectLst/>
                <a:latin typeface="+mn-lt"/>
                <a:ea typeface="+mn-ea"/>
                <a:cs typeface="+mn-cs"/>
              </a:rPr>
              <a:t>[Abort] tripwire</a:t>
            </a:r>
            <a:r>
              <a:rPr lang="en-US" sz="1200" kern="1200" dirty="0">
                <a:solidFill>
                  <a:schemeClr val="tx1"/>
                </a:solidFill>
                <a:effectLst/>
                <a:latin typeface="+mn-lt"/>
                <a:ea typeface="+mn-ea"/>
                <a:cs typeface="+mn-cs"/>
              </a:rPr>
              <a:t>. The request is halted before it ever touches downstream LLMs or external databases. </a:t>
            </a:r>
          </a:p>
          <a:p>
            <a:r>
              <a:rPr lang="en-US" sz="1200" kern="1200" dirty="0">
                <a:solidFill>
                  <a:schemeClr val="tx1"/>
                </a:solidFill>
                <a:effectLst/>
                <a:latin typeface="+mn-lt"/>
                <a:ea typeface="+mn-ea"/>
                <a:cs typeface="+mn-cs"/>
              </a:rPr>
              <a:t>It provides instant, millisecond-level guardrails without adding noticeable latency to the user experience. </a:t>
            </a:r>
          </a:p>
          <a:p>
            <a:endParaRPr lang="en-US" dirty="0"/>
          </a:p>
        </p:txBody>
      </p:sp>
      <p:sp>
        <p:nvSpPr>
          <p:cNvPr id="4" name="Slide Number Placeholder 3"/>
          <p:cNvSpPr>
            <a:spLocks noGrp="1"/>
          </p:cNvSpPr>
          <p:nvPr>
            <p:ph type="sldNum" sz="quarter" idx="5"/>
          </p:nvPr>
        </p:nvSpPr>
        <p:spPr/>
        <p:txBody>
          <a:bodyPr/>
          <a:lstStyle/>
          <a:p>
            <a:fld id="{D05A5621-8DB9-4025-B2A2-7C8E2388966F}" type="slidenum">
              <a:rPr lang="en-US" smtClean="0"/>
              <a:t>11</a:t>
            </a:fld>
            <a:endParaRPr lang="en-US"/>
          </a:p>
        </p:txBody>
      </p:sp>
    </p:spTree>
    <p:extLst>
      <p:ext uri="{BB962C8B-B14F-4D97-AF65-F5344CB8AC3E}">
        <p14:creationId xmlns:p14="http://schemas.microsoft.com/office/powerpoint/2010/main" val="4136824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keep our architectural strategy aligned with the wider industry, let's look at this month's </a:t>
            </a:r>
            <a:r>
              <a:rPr lang="en-US" sz="1200" b="1" kern="1200" dirty="0">
                <a:solidFill>
                  <a:schemeClr val="tx1"/>
                </a:solidFill>
                <a:effectLst/>
                <a:latin typeface="+mn-lt"/>
                <a:ea typeface="+mn-ea"/>
                <a:cs typeface="+mn-cs"/>
              </a:rPr>
              <a:t>Ecosystem Radar</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Gemini &amp; The 'Felony Bench':</a:t>
            </a:r>
            <a:r>
              <a:rPr lang="en-US" sz="1200" kern="1200" dirty="0">
                <a:solidFill>
                  <a:schemeClr val="tx1"/>
                </a:solidFill>
                <a:effectLst/>
                <a:latin typeface="+mn-lt"/>
                <a:ea typeface="+mn-ea"/>
                <a:cs typeface="+mn-cs"/>
              </a:rPr>
              <a:t> Google's Gemini made headlines after achieving the first known autonomous breakout in cybersecurity benchmarking, successfully penetrating three target environments. While humorous, it highlights the rapidly scaling offensive and task-execution capabilities of frontier models. </a:t>
            </a:r>
          </a:p>
          <a:p>
            <a:pPr marL="228600" lvl="0" indent="-228600">
              <a:buFont typeface="+mj-lt"/>
              <a:buAutoNum type="arabicPeriod"/>
            </a:pPr>
            <a:r>
              <a:rPr lang="en-US" sz="1200" b="1" kern="1200" dirty="0">
                <a:solidFill>
                  <a:schemeClr val="tx1"/>
                </a:solidFill>
                <a:effectLst/>
                <a:latin typeface="+mn-lt"/>
                <a:ea typeface="+mn-ea"/>
                <a:cs typeface="+mn-cs"/>
              </a:rPr>
              <a:t>Context Standardization (agents.md):</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Anthropic's</a:t>
            </a:r>
            <a:r>
              <a:rPr lang="en-US" sz="1200" kern="1200" dirty="0">
                <a:solidFill>
                  <a:schemeClr val="tx1"/>
                </a:solidFill>
                <a:effectLst/>
                <a:latin typeface="+mn-lt"/>
                <a:ea typeface="+mn-ea"/>
                <a:cs typeface="+mn-cs"/>
              </a:rPr>
              <a:t> Claude ecosystem adopted the open agents.md standard. Previously, developers managing multi-harness setups had to maintain separate configuration files or complex </a:t>
            </a:r>
            <a:r>
              <a:rPr lang="en-US" sz="1200" kern="1200" dirty="0" err="1">
                <a:solidFill>
                  <a:schemeClr val="tx1"/>
                </a:solidFill>
                <a:effectLst/>
                <a:latin typeface="+mn-lt"/>
                <a:ea typeface="+mn-ea"/>
                <a:cs typeface="+mn-cs"/>
              </a:rPr>
              <a:t>symlinks</a:t>
            </a:r>
            <a:r>
              <a:rPr lang="en-US" sz="1200" kern="1200" dirty="0">
                <a:solidFill>
                  <a:schemeClr val="tx1"/>
                </a:solidFill>
                <a:effectLst/>
                <a:latin typeface="+mn-lt"/>
                <a:ea typeface="+mn-ea"/>
                <a:cs typeface="+mn-cs"/>
              </a:rPr>
              <a:t> across platforms. Standardizing context directives into agents.md across harnesses drastically simplifies agent project management. </a:t>
            </a:r>
          </a:p>
          <a:p>
            <a:pPr marL="228600" lvl="0" indent="-228600">
              <a:buFont typeface="+mj-lt"/>
              <a:buAutoNum type="arabicPeriod"/>
            </a:pPr>
            <a:r>
              <a:rPr lang="en-US" sz="1200" b="1" kern="1200" dirty="0">
                <a:solidFill>
                  <a:schemeClr val="tx1"/>
                </a:solidFill>
                <a:effectLst/>
                <a:latin typeface="+mn-lt"/>
                <a:ea typeface="+mn-ea"/>
                <a:cs typeface="+mn-cs"/>
              </a:rPr>
              <a:t>Software Factory Capital Acceleration:</a:t>
            </a:r>
            <a:r>
              <a:rPr lang="en-US" sz="1200" kern="1200" dirty="0">
                <a:solidFill>
                  <a:schemeClr val="tx1"/>
                </a:solidFill>
                <a:effectLst/>
                <a:latin typeface="+mn-lt"/>
                <a:ea typeface="+mn-ea"/>
                <a:cs typeface="+mn-cs"/>
              </a:rPr>
              <a:t> Autonomous software factories are attracting massive capital. Factory Droid recently raised $200M at a $5B valuation. The market is clearly betting that autonomous development environments—not just IDE inline chat assistants—are the future of software engineering. </a:t>
            </a:r>
          </a:p>
          <a:p>
            <a:r>
              <a:rPr lang="en-US" sz="1200" kern="1200" dirty="0">
                <a:solidFill>
                  <a:schemeClr val="tx1"/>
                </a:solidFill>
                <a:effectLst/>
                <a:latin typeface="+mn-lt"/>
                <a:ea typeface="+mn-ea"/>
                <a:cs typeface="+mn-cs"/>
              </a:rPr>
              <a:t>The periphery of AI development is standardizing rapidly around autonomous, structured environments. </a:t>
            </a:r>
          </a:p>
          <a:p>
            <a:endParaRPr lang="en-US" dirty="0"/>
          </a:p>
        </p:txBody>
      </p:sp>
      <p:sp>
        <p:nvSpPr>
          <p:cNvPr id="4" name="Slide Number Placeholder 3"/>
          <p:cNvSpPr>
            <a:spLocks noGrp="1"/>
          </p:cNvSpPr>
          <p:nvPr>
            <p:ph type="sldNum" sz="quarter" idx="5"/>
          </p:nvPr>
        </p:nvSpPr>
        <p:spPr/>
        <p:txBody>
          <a:bodyPr/>
          <a:lstStyle/>
          <a:p>
            <a:fld id="{D05A5621-8DB9-4025-B2A2-7C8E2388966F}" type="slidenum">
              <a:rPr lang="en-US" smtClean="0"/>
              <a:t>12</a:t>
            </a:fld>
            <a:endParaRPr lang="en-US"/>
          </a:p>
        </p:txBody>
      </p:sp>
    </p:spTree>
    <p:extLst>
      <p:ext uri="{BB962C8B-B14F-4D97-AF65-F5344CB8AC3E}">
        <p14:creationId xmlns:p14="http://schemas.microsoft.com/office/powerpoint/2010/main" val="15261337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we synthesize these three shifts, we arrive at the core engineering philosophy of the modern agent stack. </a:t>
            </a:r>
          </a:p>
          <a:p>
            <a:r>
              <a:rPr lang="en-US" sz="1200" kern="1200" dirty="0">
                <a:solidFill>
                  <a:schemeClr val="tx1"/>
                </a:solidFill>
                <a:effectLst/>
                <a:latin typeface="+mn-lt"/>
                <a:ea typeface="+mn-ea"/>
                <a:cs typeface="+mn-cs"/>
              </a:rPr>
              <a:t>On the left side of the slide, you see what the industry calls a </a:t>
            </a:r>
            <a:r>
              <a:rPr lang="en-US" sz="1200" b="1" kern="1200" dirty="0">
                <a:solidFill>
                  <a:schemeClr val="tx1"/>
                </a:solidFill>
                <a:effectLst/>
                <a:latin typeface="+mn-lt"/>
                <a:ea typeface="+mn-ea"/>
                <a:cs typeface="+mn-cs"/>
              </a:rPr>
              <a:t>'Slop Grenade'</a:t>
            </a:r>
            <a:r>
              <a:rPr lang="en-US" sz="1200" kern="1200" dirty="0">
                <a:solidFill>
                  <a:schemeClr val="tx1"/>
                </a:solidFill>
                <a:effectLst/>
                <a:latin typeface="+mn-lt"/>
                <a:ea typeface="+mn-ea"/>
                <a:cs typeface="+mn-cs"/>
              </a:rPr>
              <a:t>. A Slop Grenade occurs when an organization dumps raw, uncalibrated LLM text generation onto users or workflows. It produces high token volumes, high cost, high hallucination rates, and minimal actual business value. </a:t>
            </a:r>
          </a:p>
          <a:p>
            <a:r>
              <a:rPr lang="en-US" sz="1200" kern="1200" dirty="0">
                <a:solidFill>
                  <a:schemeClr val="tx1"/>
                </a:solidFill>
                <a:effectLst/>
                <a:latin typeface="+mn-lt"/>
                <a:ea typeface="+mn-ea"/>
                <a:cs typeface="+mn-cs"/>
              </a:rPr>
              <a:t>On the right side, we have </a:t>
            </a:r>
            <a:r>
              <a:rPr lang="en-US" sz="1200" b="1" kern="1200" dirty="0">
                <a:solidFill>
                  <a:schemeClr val="tx1"/>
                </a:solidFill>
                <a:effectLst/>
                <a:latin typeface="+mn-lt"/>
                <a:ea typeface="+mn-ea"/>
                <a:cs typeface="+mn-cs"/>
              </a:rPr>
              <a:t>Calibrated Architecture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Calibrated systems do not rely on raw generative volume. They combine: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Human-in-the-loop collaboration</a:t>
            </a:r>
            <a:r>
              <a:rPr lang="en-US" sz="1200" kern="1200" dirty="0">
                <a:solidFill>
                  <a:schemeClr val="tx1"/>
                </a:solidFill>
                <a:effectLst/>
                <a:latin typeface="+mn-lt"/>
                <a:ea typeface="+mn-ea"/>
                <a:cs typeface="+mn-cs"/>
              </a:rPr>
              <a:t> for real-time multiplayer context.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Continuous CI/CD infrastructure loops</a:t>
            </a:r>
            <a:r>
              <a:rPr lang="en-US" sz="1200" kern="1200" dirty="0">
                <a:solidFill>
                  <a:schemeClr val="tx1"/>
                </a:solidFill>
                <a:effectLst/>
                <a:latin typeface="+mn-lt"/>
                <a:ea typeface="+mn-ea"/>
                <a:cs typeface="+mn-cs"/>
              </a:rPr>
              <a:t> for self-correcting code quality.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Lightning-fast deterministic logic loops</a:t>
            </a:r>
            <a:r>
              <a:rPr lang="en-US" sz="1200" kern="1200" dirty="0">
                <a:solidFill>
                  <a:schemeClr val="tx1"/>
                </a:solidFill>
                <a:effectLst/>
                <a:latin typeface="+mn-lt"/>
                <a:ea typeface="+mn-ea"/>
                <a:cs typeface="+mn-cs"/>
              </a:rPr>
              <a:t> to handle classification, routing, and guardrails at near-zero cost. </a:t>
            </a:r>
          </a:p>
          <a:p>
            <a:r>
              <a:rPr lang="en-US" sz="1200" kern="1200" dirty="0">
                <a:solidFill>
                  <a:schemeClr val="tx1"/>
                </a:solidFill>
                <a:effectLst/>
                <a:latin typeface="+mn-lt"/>
                <a:ea typeface="+mn-ea"/>
                <a:cs typeface="+mn-cs"/>
              </a:rPr>
              <a:t>The mandate for AI engineers moving forward is clear: </a:t>
            </a:r>
            <a:r>
              <a:rPr lang="en-US" sz="1200" b="1" kern="1200" dirty="0">
                <a:solidFill>
                  <a:schemeClr val="tx1"/>
                </a:solidFill>
                <a:effectLst/>
                <a:latin typeface="+mn-lt"/>
                <a:ea typeface="+mn-ea"/>
                <a:cs typeface="+mn-cs"/>
              </a:rPr>
              <a:t>Architect precision, not volume.</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D05A5621-8DB9-4025-B2A2-7C8E2388966F}" type="slidenum">
              <a:rPr lang="en-US" smtClean="0"/>
              <a:t>13</a:t>
            </a:fld>
            <a:endParaRPr lang="en-US"/>
          </a:p>
        </p:txBody>
      </p:sp>
    </p:spTree>
    <p:extLst>
      <p:ext uri="{BB962C8B-B14F-4D97-AF65-F5344CB8AC3E}">
        <p14:creationId xmlns:p14="http://schemas.microsoft.com/office/powerpoint/2010/main" val="2604672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summarize how these components function together as an end-to-end system. </a:t>
            </a:r>
          </a:p>
          <a:p>
            <a:r>
              <a:rPr lang="en-US" sz="1200" kern="1200" dirty="0">
                <a:solidFill>
                  <a:schemeClr val="tx1"/>
                </a:solidFill>
                <a:effectLst/>
                <a:latin typeface="+mn-lt"/>
                <a:ea typeface="+mn-ea"/>
                <a:cs typeface="+mn-cs"/>
              </a:rPr>
              <a:t>As shown on the left panel: Models like </a:t>
            </a:r>
            <a:r>
              <a:rPr lang="en-US" sz="1200" kern="1200" dirty="0" err="1">
                <a:solidFill>
                  <a:schemeClr val="tx1"/>
                </a:solidFill>
                <a:effectLst/>
                <a:latin typeface="+mn-lt"/>
                <a:ea typeface="+mn-ea"/>
                <a:cs typeface="+mn-cs"/>
              </a:rPr>
              <a:t>Jev</a:t>
            </a:r>
            <a:r>
              <a:rPr lang="en-US" sz="1200" kern="1200" dirty="0">
                <a:solidFill>
                  <a:schemeClr val="tx1"/>
                </a:solidFill>
                <a:effectLst/>
                <a:latin typeface="+mn-lt"/>
                <a:ea typeface="+mn-ea"/>
                <a:cs typeface="+mn-cs"/>
              </a:rPr>
              <a:t> represent the </a:t>
            </a:r>
            <a:r>
              <a:rPr lang="en-US" sz="1200" b="1" kern="1200" dirty="0">
                <a:solidFill>
                  <a:schemeClr val="tx1"/>
                </a:solidFill>
                <a:effectLst/>
                <a:latin typeface="+mn-lt"/>
                <a:ea typeface="+mn-ea"/>
                <a:cs typeface="+mn-cs"/>
              </a:rPr>
              <a:t>'Decision-Making Powerhouse'</a:t>
            </a:r>
            <a:r>
              <a:rPr lang="en-US" sz="1200" kern="1200" dirty="0">
                <a:solidFill>
                  <a:schemeClr val="tx1"/>
                </a:solidFill>
                <a:effectLst/>
                <a:latin typeface="+mn-lt"/>
                <a:ea typeface="+mn-ea"/>
                <a:cs typeface="+mn-cs"/>
              </a:rPr>
              <a:t> of the stack. By leveraging RLCD training, they shift tasks that used to require high-latency LLM calls (seconds) into ultra-low latency decision loops (milliseconds). They act as the programmatic </a:t>
            </a:r>
            <a:r>
              <a:rPr lang="en-US" sz="1200" b="1" kern="1200" dirty="0">
                <a:solidFill>
                  <a:schemeClr val="tx1"/>
                </a:solidFill>
                <a:effectLst/>
                <a:latin typeface="+mn-lt"/>
                <a:ea typeface="+mn-ea"/>
                <a:cs typeface="+mn-cs"/>
              </a:rPr>
              <a:t>'IF-Statement of AI'</a:t>
            </a:r>
            <a:r>
              <a:rPr lang="en-US" sz="1200" kern="1200" dirty="0">
                <a:solidFill>
                  <a:schemeClr val="tx1"/>
                </a:solidFill>
                <a:effectLst/>
                <a:latin typeface="+mn-lt"/>
                <a:ea typeface="+mn-ea"/>
                <a:cs typeface="+mn-cs"/>
              </a:rPr>
              <a:t> for ticket triage, content guarding, tool selection, and routing. </a:t>
            </a:r>
          </a:p>
          <a:p>
            <a:r>
              <a:rPr lang="en-US" sz="1200" kern="1200" dirty="0">
                <a:solidFill>
                  <a:schemeClr val="tx1"/>
                </a:solidFill>
                <a:effectLst/>
                <a:latin typeface="+mn-lt"/>
                <a:ea typeface="+mn-ea"/>
                <a:cs typeface="+mn-cs"/>
              </a:rPr>
              <a:t>As shown on the right panel: That high-speed logic layer directly powers </a:t>
            </a:r>
            <a:r>
              <a:rPr lang="en-US" sz="1200" b="1" kern="1200" dirty="0">
                <a:solidFill>
                  <a:schemeClr val="tx1"/>
                </a:solidFill>
                <a:effectLst/>
                <a:latin typeface="+mn-lt"/>
                <a:ea typeface="+mn-ea"/>
                <a:cs typeface="+mn-cs"/>
              </a:rPr>
              <a:t>Live Collaboration Environments</a:t>
            </a:r>
            <a:r>
              <a:rPr lang="en-US" sz="1200" kern="1200" dirty="0">
                <a:solidFill>
                  <a:schemeClr val="tx1"/>
                </a:solidFill>
                <a:effectLst/>
                <a:latin typeface="+mn-lt"/>
                <a:ea typeface="+mn-ea"/>
                <a:cs typeface="+mn-cs"/>
              </a:rPr>
              <a:t>. Human participants and agent teams from different platforms interact within a unified, shared context. Agents can raise their hands, speak via real-time TTS, share generated deck assets, or pull live transactional data. </a:t>
            </a:r>
          </a:p>
          <a:p>
            <a:r>
              <a:rPr lang="en-US" sz="1200" kern="1200" dirty="0">
                <a:solidFill>
                  <a:schemeClr val="tx1"/>
                </a:solidFill>
                <a:effectLst/>
                <a:latin typeface="+mn-lt"/>
                <a:ea typeface="+mn-ea"/>
                <a:cs typeface="+mn-cs"/>
              </a:rPr>
              <a:t>When a human executive asks a financial question in a live call, the CFO agent verifies data in milliseconds using fast classifiers, speaks the answer, and posts supporting visual evidence directly into the shared room. </a:t>
            </a:r>
          </a:p>
          <a:p>
            <a:r>
              <a:rPr lang="en-US" sz="1200" kern="1200" dirty="0">
                <a:solidFill>
                  <a:schemeClr val="tx1"/>
                </a:solidFill>
                <a:effectLst/>
                <a:latin typeface="+mn-lt"/>
                <a:ea typeface="+mn-ea"/>
                <a:cs typeface="+mn-cs"/>
              </a:rPr>
              <a:t>High-velocity decision models make live, multi-agent collaboration practical for enterprise operations. </a:t>
            </a:r>
          </a:p>
          <a:p>
            <a:endParaRPr lang="en-US" dirty="0"/>
          </a:p>
        </p:txBody>
      </p:sp>
      <p:sp>
        <p:nvSpPr>
          <p:cNvPr id="4" name="Slide Number Placeholder 3"/>
          <p:cNvSpPr>
            <a:spLocks noGrp="1"/>
          </p:cNvSpPr>
          <p:nvPr>
            <p:ph type="sldNum" sz="quarter" idx="5"/>
          </p:nvPr>
        </p:nvSpPr>
        <p:spPr/>
        <p:txBody>
          <a:bodyPr/>
          <a:lstStyle/>
          <a:p>
            <a:fld id="{D05A5621-8DB9-4025-B2A2-7C8E2388966F}" type="slidenum">
              <a:rPr lang="en-US" smtClean="0"/>
              <a:t>14</a:t>
            </a:fld>
            <a:endParaRPr lang="en-US"/>
          </a:p>
        </p:txBody>
      </p:sp>
    </p:spTree>
    <p:extLst>
      <p:ext uri="{BB962C8B-B14F-4D97-AF65-F5344CB8AC3E}">
        <p14:creationId xmlns:p14="http://schemas.microsoft.com/office/powerpoint/2010/main" val="1434363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sz="1200" kern="1200" dirty="0">
                <a:solidFill>
                  <a:schemeClr val="tx1"/>
                </a:solidFill>
                <a:effectLst/>
                <a:latin typeface="+mn-lt"/>
                <a:ea typeface="+mn-ea"/>
                <a:cs typeface="+mn-cs"/>
              </a:rPr>
              <a:t>To wrap up our deck, let's trace a single request through the full, operationalized </a:t>
            </a:r>
            <a:r>
              <a:rPr lang="en-US" sz="1200" b="1" kern="1200" dirty="0">
                <a:solidFill>
                  <a:schemeClr val="tx1"/>
                </a:solidFill>
                <a:effectLst/>
                <a:latin typeface="+mn-lt"/>
                <a:ea typeface="+mn-ea"/>
                <a:cs typeface="+mn-cs"/>
              </a:rPr>
              <a:t>Agentic Stack</a:t>
            </a:r>
            <a:r>
              <a:rPr lang="en-US" sz="1200" kern="1200" dirty="0">
                <a:solidFill>
                  <a:schemeClr val="tx1"/>
                </a:solidFill>
                <a:effectLst/>
                <a:latin typeface="+mn-lt"/>
                <a:ea typeface="+mn-ea"/>
                <a:cs typeface="+mn-cs"/>
              </a:rPr>
              <a:t> from start to finish.</a:t>
            </a:r>
          </a:p>
          <a:p>
            <a:pPr marL="228600" lvl="0" indent="-228600">
              <a:buFont typeface="+mj-lt"/>
              <a:buAutoNum type="arabicPeriod"/>
            </a:pPr>
            <a:r>
              <a:rPr lang="en-US" sz="1200" b="1" kern="1200" dirty="0">
                <a:solidFill>
                  <a:schemeClr val="tx1"/>
                </a:solidFill>
                <a:effectLst/>
                <a:latin typeface="+mn-lt"/>
                <a:ea typeface="+mn-ea"/>
                <a:cs typeface="+mn-cs"/>
              </a:rPr>
              <a:t>Entry &amp; Intent Routing:</a:t>
            </a:r>
            <a:r>
              <a:rPr lang="en-US" sz="1200" kern="1200" dirty="0">
                <a:solidFill>
                  <a:schemeClr val="tx1"/>
                </a:solidFill>
                <a:effectLst/>
                <a:latin typeface="+mn-lt"/>
                <a:ea typeface="+mn-ea"/>
                <a:cs typeface="+mn-cs"/>
              </a:rPr>
              <a:t> An event or user message enters the system. Before reaching a large LLM, it hits our </a:t>
            </a:r>
            <a:r>
              <a:rPr lang="en-US" sz="1200" b="1" kern="1200" dirty="0">
                <a:solidFill>
                  <a:schemeClr val="tx1"/>
                </a:solidFill>
                <a:effectLst/>
                <a:latin typeface="+mn-lt"/>
                <a:ea typeface="+mn-ea"/>
                <a:cs typeface="+mn-cs"/>
              </a:rPr>
              <a:t>RLCD Classifier layer</a:t>
            </a:r>
            <a:r>
              <a:rPr lang="en-US" sz="1200" kern="1200" dirty="0">
                <a:solidFill>
                  <a:schemeClr val="tx1"/>
                </a:solidFill>
                <a:effectLst/>
                <a:latin typeface="+mn-lt"/>
                <a:ea typeface="+mn-ea"/>
                <a:cs typeface="+mn-cs"/>
              </a:rPr>
              <a:t>. In under 50 milliseconds, the classifier runs an algorithmic tripwire check for secrets or toxicity and classifies intent. </a:t>
            </a:r>
          </a:p>
          <a:p>
            <a:pPr marL="228600" lvl="0" indent="-228600">
              <a:buFont typeface="+mj-lt"/>
              <a:buAutoNum type="arabicPeriod"/>
            </a:pPr>
            <a:r>
              <a:rPr lang="en-US" sz="1200" b="1" kern="1200" dirty="0">
                <a:solidFill>
                  <a:schemeClr val="tx1"/>
                </a:solidFill>
                <a:effectLst/>
                <a:latin typeface="+mn-lt"/>
                <a:ea typeface="+mn-ea"/>
                <a:cs typeface="+mn-cs"/>
              </a:rPr>
              <a:t>Deterministic Execution:</a:t>
            </a:r>
            <a:r>
              <a:rPr lang="en-US" sz="1200" kern="1200" dirty="0">
                <a:solidFill>
                  <a:schemeClr val="tx1"/>
                </a:solidFill>
                <a:effectLst/>
                <a:latin typeface="+mn-lt"/>
                <a:ea typeface="+mn-ea"/>
                <a:cs typeface="+mn-cs"/>
              </a:rPr>
              <a:t> If the task requires structured processing, it bypasses open-ended prompting entirely and branches down a deterministic workflow path. If tools are needed, our classifier pre-selects the minimum required tool schema to conserve context windows. </a:t>
            </a:r>
          </a:p>
          <a:p>
            <a:pPr marL="228600" lvl="0" indent="-228600">
              <a:buFont typeface="+mj-lt"/>
              <a:buAutoNum type="arabicPeriod"/>
            </a:pPr>
            <a:r>
              <a:rPr lang="en-US" sz="1200" b="1" kern="1200" dirty="0">
                <a:solidFill>
                  <a:schemeClr val="tx1"/>
                </a:solidFill>
                <a:effectLst/>
                <a:latin typeface="+mn-lt"/>
                <a:ea typeface="+mn-ea"/>
                <a:cs typeface="+mn-cs"/>
              </a:rPr>
              <a:t>Live Multiplayer Collaboration:</a:t>
            </a:r>
            <a:r>
              <a:rPr lang="en-US" sz="1200" kern="1200" dirty="0">
                <a:solidFill>
                  <a:schemeClr val="tx1"/>
                </a:solidFill>
                <a:effectLst/>
                <a:latin typeface="+mn-lt"/>
                <a:ea typeface="+mn-ea"/>
                <a:cs typeface="+mn-cs"/>
              </a:rPr>
              <a:t> If human approval or cross-agent context is needed, the task moves into a </a:t>
            </a:r>
            <a:r>
              <a:rPr lang="en-US" sz="1200" b="1" kern="1200" dirty="0" err="1">
                <a:solidFill>
                  <a:schemeClr val="tx1"/>
                </a:solidFill>
                <a:effectLst/>
                <a:latin typeface="+mn-lt"/>
                <a:ea typeface="+mn-ea"/>
                <a:cs typeface="+mn-cs"/>
              </a:rPr>
              <a:t>WebMCP</a:t>
            </a:r>
            <a:r>
              <a:rPr lang="en-US" sz="1200" b="1" kern="1200" dirty="0">
                <a:solidFill>
                  <a:schemeClr val="tx1"/>
                </a:solidFill>
                <a:effectLst/>
                <a:latin typeface="+mn-lt"/>
                <a:ea typeface="+mn-ea"/>
                <a:cs typeface="+mn-cs"/>
              </a:rPr>
              <a:t>-enabled live workspace</a:t>
            </a:r>
            <a:r>
              <a:rPr lang="en-US" sz="1200" kern="1200" dirty="0">
                <a:solidFill>
                  <a:schemeClr val="tx1"/>
                </a:solidFill>
                <a:effectLst/>
                <a:latin typeface="+mn-lt"/>
                <a:ea typeface="+mn-ea"/>
                <a:cs typeface="+mn-cs"/>
              </a:rPr>
              <a:t>. Specialized agents—whether running on Claude, OpenAI, or custom </a:t>
            </a:r>
            <a:r>
              <a:rPr lang="en-US" sz="1200" kern="1200" dirty="0" err="1">
                <a:solidFill>
                  <a:schemeClr val="tx1"/>
                </a:solidFill>
                <a:effectLst/>
                <a:latin typeface="+mn-lt"/>
                <a:ea typeface="+mn-ea"/>
                <a:cs typeface="+mn-cs"/>
              </a:rPr>
              <a:t>Mastra</a:t>
            </a:r>
            <a:r>
              <a:rPr lang="en-US" sz="1200" kern="1200" dirty="0">
                <a:solidFill>
                  <a:schemeClr val="tx1"/>
                </a:solidFill>
                <a:effectLst/>
                <a:latin typeface="+mn-lt"/>
                <a:ea typeface="+mn-ea"/>
                <a:cs typeface="+mn-cs"/>
              </a:rPr>
              <a:t> frameworks—collaborate in real time, sharing visual assets and verifying data on the fly. </a:t>
            </a:r>
          </a:p>
          <a:p>
            <a:pPr marL="228600" lvl="0" indent="-228600">
              <a:buFont typeface="+mj-lt"/>
              <a:buAutoNum type="arabicPeriod"/>
            </a:pPr>
            <a:r>
              <a:rPr lang="en-US" sz="1200" b="1" kern="1200" dirty="0">
                <a:solidFill>
                  <a:schemeClr val="tx1"/>
                </a:solidFill>
                <a:effectLst/>
                <a:latin typeface="+mn-lt"/>
                <a:ea typeface="+mn-ea"/>
                <a:cs typeface="+mn-cs"/>
              </a:rPr>
              <a:t>Infrastructure Reconciliation:</a:t>
            </a:r>
            <a:r>
              <a:rPr lang="en-US" sz="1200" kern="1200" dirty="0">
                <a:solidFill>
                  <a:schemeClr val="tx1"/>
                </a:solidFill>
                <a:effectLst/>
                <a:latin typeface="+mn-lt"/>
                <a:ea typeface="+mn-ea"/>
                <a:cs typeface="+mn-cs"/>
              </a:rPr>
              <a:t> As new code or automation scripts are shipped to live environments, the </a:t>
            </a:r>
            <a:r>
              <a:rPr lang="en-US" sz="1200" b="1" kern="1200" dirty="0">
                <a:solidFill>
                  <a:schemeClr val="tx1"/>
                </a:solidFill>
                <a:effectLst/>
                <a:latin typeface="+mn-lt"/>
                <a:ea typeface="+mn-ea"/>
                <a:cs typeface="+mn-cs"/>
              </a:rPr>
              <a:t>Perf Factory</a:t>
            </a:r>
            <a:r>
              <a:rPr lang="en-US" sz="1200" kern="1200" dirty="0">
                <a:solidFill>
                  <a:schemeClr val="tx1"/>
                </a:solidFill>
                <a:effectLst/>
                <a:latin typeface="+mn-lt"/>
                <a:ea typeface="+mn-ea"/>
                <a:cs typeface="+mn-cs"/>
              </a:rPr>
              <a:t> captures runtime telemetry. If defects are detected, error states are fed directly back into autonomous generation loops to patch and redeploy automatically. </a:t>
            </a:r>
          </a:p>
          <a:p>
            <a:r>
              <a:rPr lang="en-US" sz="1200" b="1" kern="1200" dirty="0">
                <a:solidFill>
                  <a:schemeClr val="tx1"/>
                </a:solidFill>
                <a:effectLst/>
                <a:latin typeface="+mn-lt"/>
                <a:ea typeface="+mn-ea"/>
                <a:cs typeface="+mn-cs"/>
              </a:rPr>
              <a:t>Closing Takeaway:</a:t>
            </a:r>
            <a:r>
              <a:rPr lang="en-US" sz="1200" kern="1200" dirty="0">
                <a:solidFill>
                  <a:schemeClr val="tx1"/>
                </a:solidFill>
                <a:effectLst/>
                <a:latin typeface="+mn-lt"/>
                <a:ea typeface="+mn-ea"/>
                <a:cs typeface="+mn-cs"/>
              </a:rPr>
              <a:t> The era of single-player, conversational LLM chatbots is behind us. The future belongs to calibrated, deterministic architectures combining ultra-fast RLCD classifiers, autonomous software factories, and live multiplayer environments. </a:t>
            </a:r>
          </a:p>
          <a:p>
            <a:r>
              <a:rPr lang="en-US" sz="1200" kern="1200" dirty="0">
                <a:solidFill>
                  <a:schemeClr val="tx1"/>
                </a:solidFill>
                <a:effectLst/>
                <a:latin typeface="+mn-lt"/>
                <a:ea typeface="+mn-ea"/>
                <a:cs typeface="+mn-cs"/>
              </a:rPr>
              <a:t>Thank you, and I look forward to your questions!</a:t>
            </a:r>
          </a:p>
          <a:p>
            <a:endParaRPr lang="en-US" dirty="0"/>
          </a:p>
          <a:p>
            <a:endParaRPr lang="en-US" dirty="0"/>
          </a:p>
          <a:p>
            <a:endParaRPr lang="en-US" dirty="0"/>
          </a:p>
          <a:p>
            <a:endParaRPr lang="en-US" dirty="0"/>
          </a:p>
          <a:p>
            <a:r>
              <a:rPr lang="en-US" dirty="0" err="1"/>
              <a:t>Jev</a:t>
            </a:r>
            <a:r>
              <a:rPr lang="en-US" dirty="0"/>
              <a:t> Is 200x Faster Than LLMs, Gemini Hacks 3 Companies &amp; OpenAI's Software</a:t>
            </a:r>
          </a:p>
          <a:p>
            <a:r>
              <a:rPr lang="en-US" dirty="0"/>
              <a:t>https://www.youtube.com/watch?v=QSCASVj7kkU</a:t>
            </a:r>
          </a:p>
        </p:txBody>
      </p:sp>
      <p:sp>
        <p:nvSpPr>
          <p:cNvPr id="4" name="Slide Number Placeholder 3"/>
          <p:cNvSpPr>
            <a:spLocks noGrp="1"/>
          </p:cNvSpPr>
          <p:nvPr>
            <p:ph type="sldNum" sz="quarter" idx="5"/>
          </p:nvPr>
        </p:nvSpPr>
        <p:spPr/>
        <p:txBody>
          <a:bodyPr/>
          <a:lstStyle/>
          <a:p>
            <a:fld id="{D05A5621-8DB9-4025-B2A2-7C8E2388966F}" type="slidenum">
              <a:rPr lang="en-US" smtClean="0"/>
              <a:t>15</a:t>
            </a:fld>
            <a:endParaRPr lang="en-US"/>
          </a:p>
        </p:txBody>
      </p:sp>
    </p:spTree>
    <p:extLst>
      <p:ext uri="{BB962C8B-B14F-4D97-AF65-F5344CB8AC3E}">
        <p14:creationId xmlns:p14="http://schemas.microsoft.com/office/powerpoint/2010/main" val="935056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DC6F19-93D9-4AEA-B6B4-BD9250831AC1}"/>
              </a:ext>
            </a:extLst>
          </p:cNvPr>
          <p:cNvSpPr>
            <a:spLocks noGrp="1"/>
          </p:cNvSpPr>
          <p:nvPr>
            <p:ph type="dt" sz="half" idx="10"/>
          </p:nvPr>
        </p:nvSpPr>
        <p:spPr/>
        <p:txBody>
          <a:bodyPr/>
          <a:lstStyle/>
          <a:p>
            <a:fld id="{EC6843FD-62AA-4D5E-B6C7-2636B3ED325E}" type="datetimeFigureOut">
              <a:rPr lang="en-US" smtClean="0"/>
              <a:t>10/21/2026</a:t>
            </a:fld>
            <a:endParaRPr lang="en-US"/>
          </a:p>
        </p:txBody>
      </p:sp>
      <p:sp>
        <p:nvSpPr>
          <p:cNvPr id="3" name="Footer Placeholder 2">
            <a:extLst>
              <a:ext uri="{FF2B5EF4-FFF2-40B4-BE49-F238E27FC236}">
                <a16:creationId xmlns:a16="http://schemas.microsoft.com/office/drawing/2014/main" id="{47304678-99CD-381B-B5F8-B0F9CEB784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F347A8-6031-D29E-0EBC-A8EE7A740283}"/>
              </a:ext>
            </a:extLst>
          </p:cNvPr>
          <p:cNvSpPr>
            <a:spLocks noGrp="1"/>
          </p:cNvSpPr>
          <p:nvPr>
            <p:ph type="sldNum" sz="quarter" idx="12"/>
          </p:nvPr>
        </p:nvSpPr>
        <p:spPr/>
        <p:txBody>
          <a:bodyPr/>
          <a:lstStyle/>
          <a:p>
            <a:fld id="{04EDE5A5-6BFE-413A-A0D9-876EAAEED81D}" type="slidenum">
              <a:rPr lang="en-US" smtClean="0"/>
              <a:t>‹#›</a:t>
            </a:fld>
            <a:endParaRPr lang="en-US"/>
          </a:p>
        </p:txBody>
      </p:sp>
    </p:spTree>
    <p:extLst>
      <p:ext uri="{BB962C8B-B14F-4D97-AF65-F5344CB8AC3E}">
        <p14:creationId xmlns:p14="http://schemas.microsoft.com/office/powerpoint/2010/main" val="419537514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73BC75-15E3-F7BF-3646-947F52CFCF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E9C693-CEB5-EF6C-210D-E26AFCF43B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EBAE9D-B02E-F242-AC10-219A3E302C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6843FD-62AA-4D5E-B6C7-2636B3ED325E}" type="datetimeFigureOut">
              <a:rPr lang="en-US" smtClean="0"/>
              <a:t>10/21/2026</a:t>
            </a:fld>
            <a:endParaRPr lang="en-US"/>
          </a:p>
        </p:txBody>
      </p:sp>
      <p:sp>
        <p:nvSpPr>
          <p:cNvPr id="5" name="Footer Placeholder 4">
            <a:extLst>
              <a:ext uri="{FF2B5EF4-FFF2-40B4-BE49-F238E27FC236}">
                <a16:creationId xmlns:a16="http://schemas.microsoft.com/office/drawing/2014/main" id="{228AE310-EA27-C174-F4D4-CE127DFE7E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881B6A3-D7AA-DBED-B03D-4EFFC65F34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EDE5A5-6BFE-413A-A0D9-876EAAEED81D}" type="slidenum">
              <a:rPr lang="en-US" smtClean="0"/>
              <a:t>‹#›</a:t>
            </a:fld>
            <a:endParaRPr lang="en-US"/>
          </a:p>
        </p:txBody>
      </p:sp>
    </p:spTree>
    <p:extLst>
      <p:ext uri="{BB962C8B-B14F-4D97-AF65-F5344CB8AC3E}">
        <p14:creationId xmlns:p14="http://schemas.microsoft.com/office/powerpoint/2010/main" val="85292629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20265D-9DE6-00EC-93CB-E55751F1DE7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33999D-A811-2678-6348-8585FE54374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FEDA68-90C1-3625-8ABA-F19032D3613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F43817-076C-A288-6B25-652314D26B4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DF008D-8FB1-3EF2-757F-BCF610A61FA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12EA60-7F57-4107-2535-43A0D5074EE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265928-1116-20AE-2922-5838E8197EC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F3DB15-428C-FFCB-95F0-805F73D76EF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C5A7FF-7297-0E82-6822-37488394B8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6A64CF-1088-D82A-33F4-E8034F2FC46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0E8A77-7B38-9972-E86D-7AAE93F6BF9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2222B0-4B7E-2849-8556-063951921D6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8B3818-0AC6-8E7E-D1F6-EE6C27512C3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2EB7BC-7722-D434-6424-E8671B7DC2C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356488-728E-B630-8DF9-02EA13C575F6}"/>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4579850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3176</Words>
  <Application>Microsoft Office PowerPoint</Application>
  <PresentationFormat>寬螢幕</PresentationFormat>
  <Paragraphs>138</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2026-09-23T02:13:18Z</dcterms:created>
  <dcterms:modified xsi:type="dcterms:W3CDTF">2026-10-21T02:41:36Z</dcterms:modified>
</cp:coreProperties>
</file>