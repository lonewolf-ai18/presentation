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A0B418-8930-4CDE-BF87-7FE2A0304FC6}" v="1" dt="2026-09-11T15:18:08.266"/>
    <p1510:client id="{E41760DA-97E4-4EE3-80FF-4994D4CC299A}" v="22" dt="2026-09-12T02:33:59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2792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9-12T02:34:23.640" v="52" actId="166"/>
      <pc:docMkLst>
        <pc:docMk/>
      </pc:docMkLst>
      <pc:sldChg chg="modSp mod modNotesTx">
        <pc:chgData name="Lai, Wilson" userId="2840974a-0d84-4886-90a9-9a3ed79f3a48" providerId="ADAL" clId="{9F23B798-9E84-4552-BA63-E776E805C424}" dt="2026-09-12T02:34:23.640" v="52" actId="166"/>
        <pc:sldMkLst>
          <pc:docMk/>
          <pc:sldMk cId="0" sldId="257"/>
        </pc:sldMkLst>
        <pc:picChg chg="ord">
          <ac:chgData name="Lai, Wilson" userId="2840974a-0d84-4886-90a9-9a3ed79f3a48" providerId="ADAL" clId="{9F23B798-9E84-4552-BA63-E776E805C424}" dt="2026-09-12T02:34:23.640" v="52" actId="166"/>
          <ac:picMkLst>
            <pc:docMk/>
            <pc:sldMk cId="0" sldId="257"/>
            <ac:picMk id="7" creationId="{88A97908-3AE4-7C2A-0468-9D5D174CBF3C}"/>
          </ac:picMkLst>
        </pc:picChg>
      </pc:sldChg>
      <pc:sldChg chg="modNotesTx">
        <pc:chgData name="Lai, Wilson" userId="2840974a-0d84-4886-90a9-9a3ed79f3a48" providerId="ADAL" clId="{9F23B798-9E84-4552-BA63-E776E805C424}" dt="2026-09-12T02:29:57.497" v="8" actId="6549"/>
        <pc:sldMkLst>
          <pc:docMk/>
          <pc:sldMk cId="0" sldId="258"/>
        </pc:sldMkLst>
      </pc:sldChg>
      <pc:sldChg chg="modNotes modNotesTx">
        <pc:chgData name="Lai, Wilson" userId="2840974a-0d84-4886-90a9-9a3ed79f3a48" providerId="ADAL" clId="{9F23B798-9E84-4552-BA63-E776E805C424}" dt="2026-09-12T02:33:59.067" v="50"/>
        <pc:sldMkLst>
          <pc:docMk/>
          <pc:sldMk cId="0" sldId="259"/>
        </pc:sldMkLst>
      </pc:sldChg>
      <pc:sldChg chg="modNotes modNotesTx">
        <pc:chgData name="Lai, Wilson" userId="2840974a-0d84-4886-90a9-9a3ed79f3a48" providerId="ADAL" clId="{9F23B798-9E84-4552-BA63-E776E805C424}" dt="2026-09-12T02:33:59.067" v="50"/>
        <pc:sldMkLst>
          <pc:docMk/>
          <pc:sldMk cId="0" sldId="260"/>
        </pc:sldMkLst>
      </pc:sldChg>
      <pc:sldChg chg="modNotes modNotesTx">
        <pc:chgData name="Lai, Wilson" userId="2840974a-0d84-4886-90a9-9a3ed79f3a48" providerId="ADAL" clId="{9F23B798-9E84-4552-BA63-E776E805C424}" dt="2026-09-12T02:33:59.067" v="50"/>
        <pc:sldMkLst>
          <pc:docMk/>
          <pc:sldMk cId="0" sldId="261"/>
        </pc:sldMkLst>
      </pc:sldChg>
      <pc:sldChg chg="modNotes modNotesTx">
        <pc:chgData name="Lai, Wilson" userId="2840974a-0d84-4886-90a9-9a3ed79f3a48" providerId="ADAL" clId="{9F23B798-9E84-4552-BA63-E776E805C424}" dt="2026-09-12T02:33:59.067" v="50"/>
        <pc:sldMkLst>
          <pc:docMk/>
          <pc:sldMk cId="0" sldId="262"/>
        </pc:sldMkLst>
      </pc:sldChg>
      <pc:sldChg chg="modNotes modNotesTx">
        <pc:chgData name="Lai, Wilson" userId="2840974a-0d84-4886-90a9-9a3ed79f3a48" providerId="ADAL" clId="{9F23B798-9E84-4552-BA63-E776E805C424}" dt="2026-09-12T02:33:59.067" v="50"/>
        <pc:sldMkLst>
          <pc:docMk/>
          <pc:sldMk cId="0" sldId="263"/>
        </pc:sldMkLst>
      </pc:sldChg>
      <pc:sldChg chg="modNotes modNotesTx">
        <pc:chgData name="Lai, Wilson" userId="2840974a-0d84-4886-90a9-9a3ed79f3a48" providerId="ADAL" clId="{9F23B798-9E84-4552-BA63-E776E805C424}" dt="2026-09-12T02:33:59.067" v="50"/>
        <pc:sldMkLst>
          <pc:docMk/>
          <pc:sldMk cId="0" sldId="264"/>
        </pc:sldMkLst>
      </pc:sldChg>
      <pc:sldChg chg="modNotes modNotesTx">
        <pc:chgData name="Lai, Wilson" userId="2840974a-0d84-4886-90a9-9a3ed79f3a48" providerId="ADAL" clId="{9F23B798-9E84-4552-BA63-E776E805C424}" dt="2026-09-12T02:33:59.067" v="50"/>
        <pc:sldMkLst>
          <pc:docMk/>
          <pc:sldMk cId="0" sldId="265"/>
        </pc:sldMkLst>
      </pc:sldChg>
      <pc:sldChg chg="modNotes modNotesTx">
        <pc:chgData name="Lai, Wilson" userId="2840974a-0d84-4886-90a9-9a3ed79f3a48" providerId="ADAL" clId="{9F23B798-9E84-4552-BA63-E776E805C424}" dt="2026-09-12T02:33:59.067" v="50"/>
        <pc:sldMkLst>
          <pc:docMk/>
          <pc:sldMk cId="0" sldId="266"/>
        </pc:sldMkLst>
      </pc:sldChg>
      <pc:sldChg chg="modNotesTx">
        <pc:chgData name="Lai, Wilson" userId="2840974a-0d84-4886-90a9-9a3ed79f3a48" providerId="ADAL" clId="{9F23B798-9E84-4552-BA63-E776E805C424}" dt="2026-09-12T02:32:05.372" v="19" actId="20577"/>
        <pc:sldMkLst>
          <pc:docMk/>
          <pc:sldMk cId="0" sldId="267"/>
        </pc:sldMkLst>
      </pc:sldChg>
      <pc:sldChg chg="modNotesTx">
        <pc:chgData name="Lai, Wilson" userId="2840974a-0d84-4886-90a9-9a3ed79f3a48" providerId="ADAL" clId="{9F23B798-9E84-4552-BA63-E776E805C424}" dt="2026-09-12T02:31:52.201" v="15" actId="14"/>
        <pc:sldMkLst>
          <pc:docMk/>
          <pc:sldMk cId="0" sldId="268"/>
        </pc:sldMkLst>
      </pc:sldChg>
      <pc:sldChg chg="modNotesTx">
        <pc:chgData name="Lai, Wilson" userId="2840974a-0d84-4886-90a9-9a3ed79f3a48" providerId="ADAL" clId="{9F23B798-9E84-4552-BA63-E776E805C424}" dt="2026-09-12T02:31:42.782" v="13" actId="14"/>
        <pc:sldMkLst>
          <pc:docMk/>
          <pc:sldMk cId="339448642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148C1-9012-42F5-B944-81C532732EAC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031DA-F420-4295-B25B-C1AB558FE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08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Introduction:</a:t>
            </a:r>
            <a:r>
              <a:rPr lang="en-US" dirty="0"/>
              <a:t> Welcome the audience. Explain that today’s topic is not about chasing stock tips, complex active trading, or getting rich overnight. It’s about building a sustainable, DIY strategy to reach true financial independence.</a:t>
            </a:r>
          </a:p>
          <a:p>
            <a:pPr lvl="0"/>
            <a:r>
              <a:rPr lang="en-US" b="1" dirty="0"/>
              <a:t>Contextual Framing:</a:t>
            </a:r>
            <a:r>
              <a:rPr lang="en-US" dirty="0"/>
              <a:t> Introduce Ramin Nakisa (creator of </a:t>
            </a:r>
            <a:r>
              <a:rPr lang="en-US" i="1" dirty="0" err="1"/>
              <a:t>PensionCraft</a:t>
            </a:r>
            <a:r>
              <a:rPr lang="en-US" dirty="0"/>
              <a:t>), whose career spans quantitative finance, investment banking, and educating retail investors on sensible long-term wealth management.</a:t>
            </a:r>
          </a:p>
          <a:p>
            <a:pPr lvl="0"/>
            <a:r>
              <a:rPr lang="en-US" b="1" dirty="0"/>
              <a:t>Core Premise:</a:t>
            </a:r>
            <a:r>
              <a:rPr lang="en-US" dirty="0"/>
              <a:t> The deck synthesizes two core pillars: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1" dirty="0"/>
              <a:t>Structural discipline</a:t>
            </a:r>
            <a:r>
              <a:rPr lang="en-US" dirty="0"/>
              <a:t> (how market mechanics, asset allocation, and low fees drive wealth creation).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1" dirty="0"/>
              <a:t>Behavioral alignment</a:t>
            </a:r>
            <a:r>
              <a:rPr lang="en-US" dirty="0"/>
              <a:t> (matching portfolio design with human psychology and defining "enough").</a:t>
            </a:r>
          </a:p>
          <a:p>
            <a:pPr lvl="0"/>
            <a:r>
              <a:rPr lang="en-US" b="1" dirty="0"/>
              <a:t>Transition:</a:t>
            </a:r>
            <a:r>
              <a:rPr lang="en-US" dirty="0"/>
              <a:t> Let's start by analyzing why the traditional financial industry operates the way it does.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https://www.youtube.com/watch?v=E-gdRQS6NuU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72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Core Quote: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As Ramin states,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"It’s not about numbers. It’s about incentives. Once you understand that, you understand finance."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Deconstructing the Financial Industry: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Asset Managers: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Their business is asset gathering (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𝐼𝑛𝑐𝑜𝑚𝑒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𝑆𝑖𝑧𝑒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𝑜𝑓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𝑃𝑜𝑡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𝐹𝑒𝑒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To grow the pot, they craft compelling narratives—thematic funds, AI hype, or star managers.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Flow Desks / Brokers: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Their metric is transaction volume (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𝑅𝑒𝑣𝑒𝑛𝑢𝑒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𝑁𝑢𝑚𝑏𝑒𝑟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𝑜𝑓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𝑇𝑟𝑎𝑑𝑒𝑠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𝑆𝑝𝑟𝑒𝑎𝑑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They publish constant research and news alerts to induce churn and trading activity.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DIY Solution: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rational DIYer cuts through this noise. The mathematical formula for success is simple: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i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Outcome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Diversification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m:rPr>
                        <m:nor/>
                      </m:rP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Low</m:t>
                    </m:r>
                    <m:r>
                      <m:rPr>
                        <m:nor/>
                      </m:rP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Fees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m:rPr>
                        <m:nor/>
                      </m:rP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Time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Takeaway: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Your goal is uninterrupted compounding, which is best achieved through low-cost index investing rather than playing into Wall Street’s incentive structure.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Core Quote: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As Ramin states,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"It’s not about numbers. It’s about incentives. Once you understand that, you understand finance."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Deconstructing the Financial Industry: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Asset Managers: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Their business is asset gathering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𝐼𝑛𝑐𝑜𝑚𝑒=𝑆𝑖𝑧𝑒 𝑜𝑓 𝑃𝑜𝑡×𝐹𝑒𝑒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To grow the pot, they craft compelling narratives—thematic funds, AI hype, or star managers.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Flow Desks / Brokers: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Their metric is transaction volume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𝑅𝑒𝑣𝑒𝑛𝑢𝑒=𝑁𝑢𝑚𝑏𝑒𝑟 𝑜𝑓 𝑇𝑟𝑎𝑑𝑒𝑠×𝑆𝑝𝑟𝑒𝑎𝑑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They publish constant research and news alerts to induce churn and trading activity.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DIY Solution: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rational DIYer cuts through this noise. The mathematical formula for success is simple: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"Outcome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"Diversification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"Low Fees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"Time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Takeaway: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Your goal is uninterrupted compounding, which is best achieved through low-cost index investing rather than playing into Wall Street’s incentive structure.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94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Active Attempt vs. Passive Reality:</a:t>
            </a:r>
            <a:r>
              <a:rPr lang="en-US" dirty="0"/>
              <a:t> Stock picking requires predicting individual business cycles, chip architectures, or monopolies. Active managers charge high fees despite a high failure rate over time. Passive indexing allows you to own the entire market index, guaranteeing you hold tomorrow’s winners without guessing.</a:t>
            </a:r>
          </a:p>
          <a:p>
            <a:pPr lvl="0"/>
            <a:r>
              <a:rPr lang="en-US" b="1" dirty="0"/>
              <a:t>The Psychological Burden:</a:t>
            </a:r>
            <a:r>
              <a:rPr lang="en-US" dirty="0"/>
              <a:t> Active stock picking forces constant monitoring and anxiety. Passive indexing offers peace of mind ("Not my monkeys, not my circus").</a:t>
            </a:r>
          </a:p>
          <a:p>
            <a:pPr lvl="0"/>
            <a:r>
              <a:rPr lang="en-US" b="1" dirty="0"/>
              <a:t>Managing Market Crashes:</a:t>
            </a:r>
            <a:r>
              <a:rPr lang="en-US" dirty="0"/>
              <a:t> When markets drop 50% (as seen in 2008–2009), active investors experience panic. Passive, long-term investors recognize market drops as prime buying opportunities to lock in future cash flows at discount valuations.</a:t>
            </a:r>
          </a:p>
          <a:p>
            <a:pPr lvl="0"/>
            <a:r>
              <a:rPr lang="en-US" b="1" dirty="0"/>
              <a:t>Systemic Insight:</a:t>
            </a:r>
            <a:r>
              <a:rPr lang="en-US" dirty="0"/>
              <a:t> Passive indexing can scale extensively because the high financial rewards for successful stock picking ensure active traders will always exist to provide price discovery.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62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The Culinary Metaphor:</a:t>
            </a:r>
            <a:r>
              <a:rPr lang="en-US" dirty="0"/>
              <a:t> Ramin references Tyler from </a:t>
            </a:r>
            <a:r>
              <a:rPr lang="en-US" i="1" dirty="0"/>
              <a:t>Portfolio Charts</a:t>
            </a:r>
            <a:r>
              <a:rPr lang="en-US" dirty="0"/>
              <a:t>, comparing asset allocation to cooking.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Gold:</a:t>
            </a:r>
            <a:r>
              <a:rPr lang="en-US" dirty="0"/>
              <a:t> Taken on its own, gold produces no yield and can be insipid or volatile.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Equities:</a:t>
            </a:r>
            <a:r>
              <a:rPr lang="en-US" dirty="0"/>
              <a:t> High long-term growth and returns, but accompanied by heavy price volatility.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Fixed Income:</a:t>
            </a:r>
            <a:r>
              <a:rPr lang="en-US" dirty="0"/>
              <a:t> Lower long-term returns, but acts as a stabilizing cushion during market drawdowns.</a:t>
            </a:r>
          </a:p>
          <a:p>
            <a:pPr lvl="0"/>
            <a:r>
              <a:rPr lang="en-US" b="1" dirty="0"/>
              <a:t>Risk-Adjusted Magic:</a:t>
            </a:r>
            <a:r>
              <a:rPr lang="en-US" dirty="0"/>
              <a:t> Combining these assets in precise proportions smooths out volatility and improves risk-adjusted returns through true diversification.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59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Phase 1 — Accumulation: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Maximize long-term capital growth.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Profile:</a:t>
            </a:r>
            <a:r>
              <a:rPr lang="en-US" dirty="0"/>
              <a:t> High risk tolerance, minimal short-term liquidity needs, ability to tolerate severe drops because you aren't liquidating assets to cover living expenses. Ideal mix: Up to 100% global equities.</a:t>
            </a:r>
          </a:p>
          <a:p>
            <a:pPr lvl="0"/>
            <a:r>
              <a:rPr lang="en-US" b="1" dirty="0"/>
              <a:t>Phase 2 — Preservation &amp; Retirement: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Generate steady, multi-asset income while protecting capital.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Profile:</a:t>
            </a:r>
            <a:r>
              <a:rPr lang="en-US" dirty="0"/>
              <a:t> Low risk tolerance; sequence-of-returns risk becomes fatal if forced to sell equities in a crash.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Solution:</a:t>
            </a:r>
            <a:r>
              <a:rPr lang="en-US" dirty="0"/>
              <a:t> A multi-asset framework (Equities, Bonds, Commodities, Gold) ensures you always have a non-correlated, non-crashed asset class to sell during market distress.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4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Ramin's Personal Case Study:</a:t>
            </a:r>
            <a:r>
              <a:rPr lang="en-US" dirty="0"/>
              <a:t> Ramin shifted his personal portfolio from 100% equities to a 60/40 equity/bond structure.</a:t>
            </a:r>
          </a:p>
          <a:p>
            <a:pPr lvl="0"/>
            <a:r>
              <a:rPr lang="en-US" b="1" dirty="0"/>
              <a:t>Risk Capacity vs. Risk Appetite: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Risk Capacity:</a:t>
            </a:r>
            <a:r>
              <a:rPr lang="en-US" dirty="0"/>
              <a:t> Having the financial capital to absorb a 50% drop without changing your lifestyle.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Risk Appetite:</a:t>
            </a:r>
            <a:r>
              <a:rPr lang="en-US" dirty="0"/>
              <a:t> The psychological willingness to endure volatility.</a:t>
            </a:r>
          </a:p>
          <a:p>
            <a:pPr lvl="0"/>
            <a:r>
              <a:rPr lang="en-US" b="1" dirty="0"/>
              <a:t>The "Enough" Realization:</a:t>
            </a:r>
            <a:r>
              <a:rPr lang="en-US" dirty="0"/>
              <a:t> Once Ramin hit his target number, he no longer </a:t>
            </a:r>
            <a:r>
              <a:rPr lang="en-US" i="1" dirty="0"/>
              <a:t>needed</a:t>
            </a:r>
            <a:r>
              <a:rPr lang="en-US" dirty="0"/>
              <a:t> maximum equity returns to achieve his goals. His risk appetite naturally decreased.</a:t>
            </a:r>
          </a:p>
          <a:p>
            <a:pPr lvl="0"/>
            <a:r>
              <a:rPr lang="en-US" b="1" dirty="0"/>
              <a:t>Key Takeaway:</a:t>
            </a:r>
            <a:r>
              <a:rPr lang="en-US" dirty="0"/>
              <a:t> Rebalancing into bonds/fixed income isn't always about running out of growth—it's about matching your portfolio design to your nervous system. Just because you </a:t>
            </a:r>
            <a:r>
              <a:rPr lang="en-US" i="1" dirty="0"/>
              <a:t>can</a:t>
            </a:r>
            <a:r>
              <a:rPr lang="en-US" dirty="0"/>
              <a:t> afford maximum risk doesn't mean you </a:t>
            </a:r>
            <a:r>
              <a:rPr lang="en-US" i="1" dirty="0"/>
              <a:t>must</a:t>
            </a:r>
            <a:r>
              <a:rPr lang="en-US" dirty="0"/>
              <a:t> take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52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Bonds Are Not a Monolith:</a:t>
            </a:r>
            <a:r>
              <a:rPr lang="en-US" dirty="0"/>
              <a:t> Fixed income spans a broad continuum controlled by duration.</a:t>
            </a:r>
          </a:p>
          <a:p>
            <a:pPr lvl="0"/>
            <a:r>
              <a:rPr lang="en-US" b="1" dirty="0"/>
              <a:t>The Slider Mechanism: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0 Duration (Cash / Money Markets):</a:t>
            </a:r>
            <a:r>
              <a:rPr lang="en-US" dirty="0"/>
              <a:t> Yields around 3.75%+. Liquid cushion with zero interest rate risk.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Longer Duration (10–15 Year Bonds):</a:t>
            </a:r>
            <a:r>
              <a:rPr lang="en-US" dirty="0"/>
              <a:t> Yielding ~5.5%+. Provides term premium, locking in yield and protecting against broader economic shocks or rate cuts.</a:t>
            </a:r>
          </a:p>
          <a:p>
            <a:pPr lvl="0"/>
            <a:r>
              <a:rPr lang="en-US" b="1" dirty="0"/>
              <a:t>Current Market Dynamics:</a:t>
            </a:r>
            <a:r>
              <a:rPr lang="en-US" dirty="0"/>
              <a:t> Developed-market yield curves now offer positive real yields and normalized term premiums, making the bond component a functioning shock absorber once again.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34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The Rational Trap:</a:t>
            </a:r>
            <a:r>
              <a:rPr lang="en-US" dirty="0"/>
              <a:t> On paper, an automated, low-cost global index portfolio is mathematically optimal.</a:t>
            </a:r>
          </a:p>
          <a:p>
            <a:pPr lvl="0"/>
            <a:r>
              <a:rPr lang="en-US" b="1" dirty="0"/>
              <a:t>The Human Element:</a:t>
            </a:r>
            <a:r>
              <a:rPr lang="en-US" dirty="0"/>
              <a:t> In practice, passive investing is excruciatingly boring. Investors get curious, want to test market opinions, or feel the urge to trade.</a:t>
            </a:r>
          </a:p>
          <a:p>
            <a:pPr lvl="0"/>
            <a:r>
              <a:rPr lang="en-US" b="1" dirty="0"/>
              <a:t>Behavioral Leakage:</a:t>
            </a:r>
            <a:r>
              <a:rPr lang="en-US" dirty="0"/>
              <a:t> If you don't build a safe outlet for curiosity, you risk blowing up your core strategy by making emotional, high-risk trades with your retirement money.</a:t>
            </a:r>
          </a:p>
          <a:p>
            <a:pPr lvl="0"/>
            <a:r>
              <a:rPr lang="en-US" b="1" dirty="0"/>
              <a:t>Solution:</a:t>
            </a:r>
            <a:r>
              <a:rPr lang="en-US" dirty="0"/>
              <a:t> Quarantine the human urge to gamble inside a structured framework.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97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Portfolio Division: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90% Core (The Vault):</a:t>
            </a:r>
            <a:r>
              <a:rPr lang="en-US" dirty="0"/>
              <a:t> Held in an automated 60/40 global index structure. Low-fee, untouchable, and left alone to compound quietly.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10% Satellite (The Toy Box):</a:t>
            </a:r>
            <a:r>
              <a:rPr lang="en-US" dirty="0"/>
              <a:t> A dedicated area for speculative plays—crypto, 3x leveraged ETFs, single stocks, or thematic bets (e.g., copper miners).</a:t>
            </a:r>
          </a:p>
          <a:p>
            <a:pPr lvl="0"/>
            <a:r>
              <a:rPr lang="en-US" b="1" dirty="0"/>
              <a:t>Why It Works:</a:t>
            </a:r>
            <a:r>
              <a:rPr lang="en-US" dirty="0"/>
              <a:t> It "scratches the itch" for activity, market involvement, and learning without jeopardizing your financial security.</a:t>
            </a:r>
          </a:p>
          <a:p>
            <a:pPr lvl="0"/>
            <a:r>
              <a:rPr lang="en-US" b="1" dirty="0"/>
              <a:t>Risk Constraint:</a:t>
            </a:r>
            <a:r>
              <a:rPr lang="en-US" dirty="0"/>
              <a:t> Your total speculative loss is strictly capped at 10% of total wealth.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37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Mathematical Structure:</a:t>
            </a:r>
            <a:r>
              <a:rPr lang="en-US" dirty="0"/>
              <a:t> The 10% allocation operates on asymmetrical return profiles.</a:t>
            </a:r>
          </a:p>
          <a:p>
            <a:pPr lvl="0"/>
            <a:r>
              <a:rPr lang="en-US" b="1" dirty="0"/>
              <a:t>Downside Capped:</a:t>
            </a:r>
            <a:r>
              <a:rPr lang="en-US" dirty="0"/>
              <a:t> The absolute worst-case scenario is a 10% loss to total net worth, which is manageable over a long compounding horizon.</a:t>
            </a:r>
          </a:p>
          <a:p>
            <a:pPr lvl="0"/>
            <a:r>
              <a:rPr lang="en-US" b="1" dirty="0"/>
              <a:t>Upside Convexity:</a:t>
            </a:r>
            <a:r>
              <a:rPr lang="en-US" dirty="0"/>
              <a:t> High-octane assets can deliver 10x to 100x returns. A tiny position in a hyper-growth asset can meaningfully boost overall portfolio returns.</a:t>
            </a:r>
          </a:p>
          <a:p>
            <a:pPr lvl="0"/>
            <a:r>
              <a:rPr lang="en-US" b="1" dirty="0"/>
              <a:t>Behavioral Freedom:</a:t>
            </a:r>
            <a:r>
              <a:rPr lang="en-US" dirty="0"/>
              <a:t> You give yourself permission to be aggressively wrong on short-term tactical ideas without putting your financial baseline at risk.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56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Closing Takeaway:</a:t>
            </a:r>
            <a:r>
              <a:rPr lang="en-US" dirty="0"/>
              <a:t> Ramin shares his primary core belief: </a:t>
            </a:r>
            <a:r>
              <a:rPr lang="en-US" i="1" dirty="0"/>
              <a:t>"Investing is rarely about maximizing numbers on a screen. The ultimate metric is defining exactly what 'enough' looks like for your specific lifestyle."</a:t>
            </a:r>
            <a:endParaRPr lang="en-US" dirty="0"/>
          </a:p>
          <a:p>
            <a:pPr lvl="0"/>
            <a:r>
              <a:rPr lang="en-US" b="1" dirty="0"/>
              <a:t>Transforming Work:</a:t>
            </a:r>
            <a:r>
              <a:rPr lang="en-US" dirty="0"/>
              <a:t> Reaching your "number" shifts work from an economic necessity to a voluntary choice.</a:t>
            </a:r>
          </a:p>
          <a:p>
            <a:pPr lvl="0"/>
            <a:r>
              <a:rPr lang="en-US" b="1" dirty="0"/>
              <a:t>Self-Knowledge:</a:t>
            </a:r>
            <a:r>
              <a:rPr lang="en-US" dirty="0"/>
              <a:t> Without defining "enough," investors risk staying on a perpetual treadmill, taking unnecessary risks for marginal gains.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22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Synthesizing the Framework:</a:t>
            </a:r>
            <a:endParaRPr lang="en-US" dirty="0"/>
          </a:p>
          <a:p>
            <a:pPr marL="228600" lvl="0" indent="-228600">
              <a:buFont typeface="+mj-lt"/>
              <a:buAutoNum type="arabicPeriod"/>
            </a:pPr>
            <a:r>
              <a:rPr lang="en-US" b="1" dirty="0"/>
              <a:t>Market Mechanics:</a:t>
            </a:r>
            <a:r>
              <a:rPr lang="en-US" dirty="0"/>
              <a:t> Master low-cost index funds and let broad market growth carry the portfolio.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1" dirty="0"/>
              <a:t>Portfolio Architecture:</a:t>
            </a:r>
            <a:r>
              <a:rPr lang="en-US" dirty="0"/>
              <a:t> Enforce the 90/10 firewall to keep core assets safe while leaving room for speculative plays.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1" dirty="0"/>
              <a:t>Personal Psychology:</a:t>
            </a:r>
            <a:r>
              <a:rPr lang="en-US" dirty="0"/>
              <a:t> Match risk capacity with risk appetite and stop moving the goalposts once you hit your targets.</a:t>
            </a:r>
          </a:p>
          <a:p>
            <a:pPr lvl="0"/>
            <a:r>
              <a:rPr lang="en-US" b="1" dirty="0"/>
              <a:t>Goal:</a:t>
            </a:r>
            <a:r>
              <a:rPr lang="en-US" dirty="0"/>
              <a:t> True financial autonomy.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17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Detailed Execution Summary:</a:t>
            </a: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90% Core Foundation:</a:t>
            </a:r>
            <a:r>
              <a:rPr lang="en-US" dirty="0"/>
              <a:t> Focused on compounding and safety. Invested across global index funds and bonds via a set-and-forget approach.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/>
              <a:t>10% Toy Box Playground:</a:t>
            </a:r>
            <a:r>
              <a:rPr lang="en-US" dirty="0"/>
              <a:t> Focused on fun, tactical ideas, and hands-on learning. Active trading in crypto, sector tilts, or individual stocks is contained here.</a:t>
            </a:r>
          </a:p>
          <a:p>
            <a:pPr lvl="0"/>
            <a:r>
              <a:rPr lang="en-US" b="1" dirty="0"/>
              <a:t>Final Presentation Conclusion:</a:t>
            </a:r>
            <a:r>
              <a:rPr lang="en-US" dirty="0"/>
              <a:t> Encourage the audience to review their portfolios through this lens: separate core wealth preservation from tactical speculation, reduce unnecessary fees, and focus on reaching their personal target.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031DA-F420-4295-B25B-C1AB558FEE6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82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494FD9-AD02-1E62-2D45-ADB74A51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6708E-28C2-4755-ADDF-51A8103207F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C886A-A2C2-22AC-DE04-C0B2C9DA6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CF9EC-3798-B260-A61F-EF24AEBD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7580-4EA0-46CA-8AD6-E904A4C3D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65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91474-C7F4-59AB-AA0B-D3BECBEB3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23031-C0B4-5822-9E42-6DC8833B4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89AB4-BDE4-4639-ABA7-D07C3933D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6708E-28C2-4755-ADDF-51A8103207F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90280-97AB-3F6B-9B04-5DBD5B205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5FCCB-270F-64E2-1BE7-1D09BFF23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C7580-4EA0-46CA-8AD6-E904A4C3D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A97908-3AE4-7C2A-0468-9D5D174CB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A82F75-CCF3-3CEE-B589-ECA417F36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66DDC4-EA1E-6914-EAC7-44904422A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8CB2C6-1DD5-8807-B4D5-2584258D7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E69A75-C785-FA9B-FD78-43848E03D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51F552-8D04-898D-57AF-CD788E7AB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2906BD-1874-2E8E-52F6-4AEED4002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B649EC-2107-5ED3-E707-C1CA6D6E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BE857-C8D6-BED2-BE9C-1A6B57CB5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0967EF-1782-5689-98A5-E325BD5C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0EF43C-893F-3BFC-28C5-5751080C0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1789F1-A9EF-067A-1ADA-DC526E0FD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9A54E-8C48-B6BE-C071-4AC74B8AD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8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1410</Words>
  <Application>Microsoft Office PowerPoint</Application>
  <PresentationFormat>寬螢幕</PresentationFormat>
  <Paragraphs>81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3</cp:revision>
  <dcterms:created xsi:type="dcterms:W3CDTF">2026-09-11T15:13:56Z</dcterms:created>
  <dcterms:modified xsi:type="dcterms:W3CDTF">2026-10-21T02:43:06Z</dcterms:modified>
</cp:coreProperties>
</file>