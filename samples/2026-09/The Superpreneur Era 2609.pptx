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B6C5A8-F47C-49C6-9816-DAA62D0610FE}" v="20" dt="2026-09-17T12:16:39.9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398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17T12:16:45.503" v="66" actId="166"/>
      <pc:docMkLst>
        <pc:docMk/>
      </pc:docMkLst>
      <pc:sldChg chg="addSp delSp modSp mod modAnim modNotesTx">
        <pc:chgData name="Lai, Wilson" userId="2840974a-0d84-4886-90a9-9a3ed79f3a48" providerId="ADAL" clId="{9F23B798-9E84-4552-BA63-E776E805C424}" dt="2026-09-17T12:16:45.503" v="66" actId="166"/>
        <pc:sldMkLst>
          <pc:docMk/>
          <pc:sldMk cId="0" sldId="257"/>
        </pc:sldMkLst>
        <pc:spChg chg="add mod">
          <ac:chgData name="Lai, Wilson" userId="2840974a-0d84-4886-90a9-9a3ed79f3a48" providerId="ADAL" clId="{9F23B798-9E84-4552-BA63-E776E805C424}" dt="2026-09-17T12:16:39.999" v="64" actId="164"/>
          <ac:spMkLst>
            <pc:docMk/>
            <pc:sldMk cId="0" sldId="257"/>
            <ac:spMk id="5" creationId="{B0B1247F-AA98-0D63-2284-5155CFA43A16}"/>
          </ac:spMkLst>
        </pc:spChg>
        <pc:grpChg chg="add mod">
          <ac:chgData name="Lai, Wilson" userId="2840974a-0d84-4886-90a9-9a3ed79f3a48" providerId="ADAL" clId="{9F23B798-9E84-4552-BA63-E776E805C424}" dt="2026-09-17T12:16:43.430" v="65" actId="1076"/>
          <ac:grpSpMkLst>
            <pc:docMk/>
            <pc:sldMk cId="0" sldId="257"/>
            <ac:grpSpMk id="6" creationId="{3B610C61-83A6-84F1-6421-148FEF1D1B4C}"/>
          </ac:grpSpMkLst>
        </pc:grpChg>
        <pc:picChg chg="del">
          <ac:chgData name="Lai, Wilson" userId="2840974a-0d84-4886-90a9-9a3ed79f3a48" providerId="ADAL" clId="{9F23B798-9E84-4552-BA63-E776E805C424}" dt="2026-09-17T11:42:52.277" v="0" actId="21"/>
          <ac:picMkLst>
            <pc:docMk/>
            <pc:sldMk cId="0" sldId="257"/>
            <ac:picMk id="2" creationId="{00000000-0000-0000-0000-000000000000}"/>
          </ac:picMkLst>
        </pc:picChg>
        <pc:picChg chg="add mod">
          <ac:chgData name="Lai, Wilson" userId="2840974a-0d84-4886-90a9-9a3ed79f3a48" providerId="ADAL" clId="{9F23B798-9E84-4552-BA63-E776E805C424}" dt="2026-09-17T12:16:39.999" v="64" actId="164"/>
          <ac:picMkLst>
            <pc:docMk/>
            <pc:sldMk cId="0" sldId="257"/>
            <ac:picMk id="2" creationId="{28E045F6-68AF-BE2A-D28B-CD42253BFED8}"/>
          </ac:picMkLst>
        </pc:picChg>
        <pc:picChg chg="add mod ord">
          <ac:chgData name="Lai, Wilson" userId="2840974a-0d84-4886-90a9-9a3ed79f3a48" providerId="ADAL" clId="{9F23B798-9E84-4552-BA63-E776E805C424}" dt="2026-09-17T12:16:45.503" v="66" actId="166"/>
          <ac:picMkLst>
            <pc:docMk/>
            <pc:sldMk cId="0" sldId="257"/>
            <ac:picMk id="4" creationId="{27B2D7EF-2341-2C85-0FF3-409B9745A750}"/>
          </ac:picMkLst>
        </pc:picChg>
      </pc:sldChg>
      <pc:sldChg chg="addSp delSp mod">
        <pc:chgData name="Lai, Wilson" userId="2840974a-0d84-4886-90a9-9a3ed79f3a48" providerId="ADAL" clId="{9F23B798-9E84-4552-BA63-E776E805C424}" dt="2026-09-17T11:43:15.123" v="3" actId="22"/>
        <pc:sldMkLst>
          <pc:docMk/>
          <pc:sldMk cId="0" sldId="258"/>
        </pc:sldMkLst>
        <pc:picChg chg="del">
          <ac:chgData name="Lai, Wilson" userId="2840974a-0d84-4886-90a9-9a3ed79f3a48" providerId="ADAL" clId="{9F23B798-9E84-4552-BA63-E776E805C424}" dt="2026-09-17T11:43:04.700" v="2" actId="21"/>
          <ac:picMkLst>
            <pc:docMk/>
            <pc:sldMk cId="0" sldId="258"/>
            <ac:picMk id="2" creationId="{00000000-0000-0000-0000-000000000000}"/>
          </ac:picMkLst>
        </pc:picChg>
        <pc:picChg chg="add">
          <ac:chgData name="Lai, Wilson" userId="2840974a-0d84-4886-90a9-9a3ed79f3a48" providerId="ADAL" clId="{9F23B798-9E84-4552-BA63-E776E805C424}" dt="2026-09-17T11:43:15.123" v="3" actId="22"/>
          <ac:picMkLst>
            <pc:docMk/>
            <pc:sldMk cId="0" sldId="258"/>
            <ac:picMk id="4" creationId="{8DF07071-78A5-A1D2-B556-EF2C2DBC3CE6}"/>
          </ac:picMkLst>
        </pc:picChg>
      </pc:sldChg>
      <pc:sldChg chg="addSp delSp mod">
        <pc:chgData name="Lai, Wilson" userId="2840974a-0d84-4886-90a9-9a3ed79f3a48" providerId="ADAL" clId="{9F23B798-9E84-4552-BA63-E776E805C424}" dt="2026-09-17T11:43:24.829" v="5" actId="22"/>
        <pc:sldMkLst>
          <pc:docMk/>
          <pc:sldMk cId="0" sldId="259"/>
        </pc:sldMkLst>
        <pc:picChg chg="del">
          <ac:chgData name="Lai, Wilson" userId="2840974a-0d84-4886-90a9-9a3ed79f3a48" providerId="ADAL" clId="{9F23B798-9E84-4552-BA63-E776E805C424}" dt="2026-09-17T11:43:16.273" v="4" actId="21"/>
          <ac:picMkLst>
            <pc:docMk/>
            <pc:sldMk cId="0" sldId="259"/>
            <ac:picMk id="2" creationId="{00000000-0000-0000-0000-000000000000}"/>
          </ac:picMkLst>
        </pc:picChg>
        <pc:picChg chg="add">
          <ac:chgData name="Lai, Wilson" userId="2840974a-0d84-4886-90a9-9a3ed79f3a48" providerId="ADAL" clId="{9F23B798-9E84-4552-BA63-E776E805C424}" dt="2026-09-17T11:43:24.829" v="5" actId="22"/>
          <ac:picMkLst>
            <pc:docMk/>
            <pc:sldMk cId="0" sldId="259"/>
            <ac:picMk id="4" creationId="{6DEC34BD-1DA4-4C9C-55C7-BA523216E63B}"/>
          </ac:picMkLst>
        </pc:picChg>
      </pc:sldChg>
      <pc:sldChg chg="addSp delSp mod modNotesTx">
        <pc:chgData name="Lai, Wilson" userId="2840974a-0d84-4886-90a9-9a3ed79f3a48" providerId="ADAL" clId="{9F23B798-9E84-4552-BA63-E776E805C424}" dt="2026-09-17T12:05:31.795" v="34" actId="12"/>
        <pc:sldMkLst>
          <pc:docMk/>
          <pc:sldMk cId="0" sldId="260"/>
        </pc:sldMkLst>
        <pc:picChg chg="del">
          <ac:chgData name="Lai, Wilson" userId="2840974a-0d84-4886-90a9-9a3ed79f3a48" providerId="ADAL" clId="{9F23B798-9E84-4552-BA63-E776E805C424}" dt="2026-09-17T11:43:26.560" v="6" actId="21"/>
          <ac:picMkLst>
            <pc:docMk/>
            <pc:sldMk cId="0" sldId="260"/>
            <ac:picMk id="2" creationId="{00000000-0000-0000-0000-000000000000}"/>
          </ac:picMkLst>
        </pc:picChg>
        <pc:picChg chg="add">
          <ac:chgData name="Lai, Wilson" userId="2840974a-0d84-4886-90a9-9a3ed79f3a48" providerId="ADAL" clId="{9F23B798-9E84-4552-BA63-E776E805C424}" dt="2026-09-17T11:43:36.271" v="7" actId="22"/>
          <ac:picMkLst>
            <pc:docMk/>
            <pc:sldMk cId="0" sldId="260"/>
            <ac:picMk id="4" creationId="{89150B47-DD4E-2E0F-8A06-6BE978F2F3CF}"/>
          </ac:picMkLst>
        </pc:picChg>
      </pc:sldChg>
      <pc:sldChg chg="addSp delSp mod">
        <pc:chgData name="Lai, Wilson" userId="2840974a-0d84-4886-90a9-9a3ed79f3a48" providerId="ADAL" clId="{9F23B798-9E84-4552-BA63-E776E805C424}" dt="2026-09-17T11:43:46.121" v="9" actId="22"/>
        <pc:sldMkLst>
          <pc:docMk/>
          <pc:sldMk cId="0" sldId="261"/>
        </pc:sldMkLst>
        <pc:picChg chg="del">
          <ac:chgData name="Lai, Wilson" userId="2840974a-0d84-4886-90a9-9a3ed79f3a48" providerId="ADAL" clId="{9F23B798-9E84-4552-BA63-E776E805C424}" dt="2026-09-17T11:43:37.501" v="8" actId="21"/>
          <ac:picMkLst>
            <pc:docMk/>
            <pc:sldMk cId="0" sldId="261"/>
            <ac:picMk id="2" creationId="{00000000-0000-0000-0000-000000000000}"/>
          </ac:picMkLst>
        </pc:picChg>
        <pc:picChg chg="add">
          <ac:chgData name="Lai, Wilson" userId="2840974a-0d84-4886-90a9-9a3ed79f3a48" providerId="ADAL" clId="{9F23B798-9E84-4552-BA63-E776E805C424}" dt="2026-09-17T11:43:46.121" v="9" actId="22"/>
          <ac:picMkLst>
            <pc:docMk/>
            <pc:sldMk cId="0" sldId="261"/>
            <ac:picMk id="4" creationId="{D50B1F3F-0C7D-06C4-6351-9FDA0DF847DD}"/>
          </ac:picMkLst>
        </pc:picChg>
      </pc:sldChg>
      <pc:sldChg chg="addSp delSp mod modNotesTx">
        <pc:chgData name="Lai, Wilson" userId="2840974a-0d84-4886-90a9-9a3ed79f3a48" providerId="ADAL" clId="{9F23B798-9E84-4552-BA63-E776E805C424}" dt="2026-09-17T12:05:54.388" v="35" actId="12"/>
        <pc:sldMkLst>
          <pc:docMk/>
          <pc:sldMk cId="0" sldId="262"/>
        </pc:sldMkLst>
        <pc:picChg chg="del">
          <ac:chgData name="Lai, Wilson" userId="2840974a-0d84-4886-90a9-9a3ed79f3a48" providerId="ADAL" clId="{9F23B798-9E84-4552-BA63-E776E805C424}" dt="2026-09-17T11:43:47.638" v="10" actId="21"/>
          <ac:picMkLst>
            <pc:docMk/>
            <pc:sldMk cId="0" sldId="262"/>
            <ac:picMk id="2" creationId="{00000000-0000-0000-0000-000000000000}"/>
          </ac:picMkLst>
        </pc:picChg>
        <pc:picChg chg="add">
          <ac:chgData name="Lai, Wilson" userId="2840974a-0d84-4886-90a9-9a3ed79f3a48" providerId="ADAL" clId="{9F23B798-9E84-4552-BA63-E776E805C424}" dt="2026-09-17T11:43:54.981" v="11" actId="22"/>
          <ac:picMkLst>
            <pc:docMk/>
            <pc:sldMk cId="0" sldId="262"/>
            <ac:picMk id="4" creationId="{61D5D6A4-573B-75F1-60CC-3C35E06A4F2E}"/>
          </ac:picMkLst>
        </pc:picChg>
      </pc:sldChg>
      <pc:sldChg chg="addSp delSp mod modNotesTx">
        <pc:chgData name="Lai, Wilson" userId="2840974a-0d84-4886-90a9-9a3ed79f3a48" providerId="ADAL" clId="{9F23B798-9E84-4552-BA63-E776E805C424}" dt="2026-09-17T12:06:06.137" v="36" actId="12"/>
        <pc:sldMkLst>
          <pc:docMk/>
          <pc:sldMk cId="0" sldId="263"/>
        </pc:sldMkLst>
        <pc:picChg chg="del">
          <ac:chgData name="Lai, Wilson" userId="2840974a-0d84-4886-90a9-9a3ed79f3a48" providerId="ADAL" clId="{9F23B798-9E84-4552-BA63-E776E805C424}" dt="2026-09-17T11:43:56.204" v="12" actId="21"/>
          <ac:picMkLst>
            <pc:docMk/>
            <pc:sldMk cId="0" sldId="263"/>
            <ac:picMk id="2" creationId="{00000000-0000-0000-0000-000000000000}"/>
          </ac:picMkLst>
        </pc:picChg>
        <pc:picChg chg="add">
          <ac:chgData name="Lai, Wilson" userId="2840974a-0d84-4886-90a9-9a3ed79f3a48" providerId="ADAL" clId="{9F23B798-9E84-4552-BA63-E776E805C424}" dt="2026-09-17T11:44:04.357" v="13" actId="22"/>
          <ac:picMkLst>
            <pc:docMk/>
            <pc:sldMk cId="0" sldId="263"/>
            <ac:picMk id="4" creationId="{41B9B754-6568-B9B2-2824-EE7289CD77D7}"/>
          </ac:picMkLst>
        </pc:picChg>
      </pc:sldChg>
      <pc:sldChg chg="addSp delSp mod modNotesTx">
        <pc:chgData name="Lai, Wilson" userId="2840974a-0d84-4886-90a9-9a3ed79f3a48" providerId="ADAL" clId="{9F23B798-9E84-4552-BA63-E776E805C424}" dt="2026-09-17T12:06:22.188" v="38" actId="12"/>
        <pc:sldMkLst>
          <pc:docMk/>
          <pc:sldMk cId="0" sldId="264"/>
        </pc:sldMkLst>
        <pc:picChg chg="del">
          <ac:chgData name="Lai, Wilson" userId="2840974a-0d84-4886-90a9-9a3ed79f3a48" providerId="ADAL" clId="{9F23B798-9E84-4552-BA63-E776E805C424}" dt="2026-09-17T11:44:05.548" v="14" actId="21"/>
          <ac:picMkLst>
            <pc:docMk/>
            <pc:sldMk cId="0" sldId="264"/>
            <ac:picMk id="2" creationId="{00000000-0000-0000-0000-000000000000}"/>
          </ac:picMkLst>
        </pc:picChg>
        <pc:picChg chg="add">
          <ac:chgData name="Lai, Wilson" userId="2840974a-0d84-4886-90a9-9a3ed79f3a48" providerId="ADAL" clId="{9F23B798-9E84-4552-BA63-E776E805C424}" dt="2026-09-17T11:44:16.316" v="15" actId="22"/>
          <ac:picMkLst>
            <pc:docMk/>
            <pc:sldMk cId="0" sldId="264"/>
            <ac:picMk id="4" creationId="{BE816168-F404-2A33-58E1-82038D4F30A4}"/>
          </ac:picMkLst>
        </pc:picChg>
      </pc:sldChg>
      <pc:sldChg chg="addSp delSp mod modNotesTx">
        <pc:chgData name="Lai, Wilson" userId="2840974a-0d84-4886-90a9-9a3ed79f3a48" providerId="ADAL" clId="{9F23B798-9E84-4552-BA63-E776E805C424}" dt="2026-09-17T12:06:38.963" v="40" actId="20577"/>
        <pc:sldMkLst>
          <pc:docMk/>
          <pc:sldMk cId="0" sldId="265"/>
        </pc:sldMkLst>
        <pc:picChg chg="del">
          <ac:chgData name="Lai, Wilson" userId="2840974a-0d84-4886-90a9-9a3ed79f3a48" providerId="ADAL" clId="{9F23B798-9E84-4552-BA63-E776E805C424}" dt="2026-09-17T11:44:17.718" v="16" actId="21"/>
          <ac:picMkLst>
            <pc:docMk/>
            <pc:sldMk cId="0" sldId="265"/>
            <ac:picMk id="2" creationId="{00000000-0000-0000-0000-000000000000}"/>
          </ac:picMkLst>
        </pc:picChg>
        <pc:picChg chg="add">
          <ac:chgData name="Lai, Wilson" userId="2840974a-0d84-4886-90a9-9a3ed79f3a48" providerId="ADAL" clId="{9F23B798-9E84-4552-BA63-E776E805C424}" dt="2026-09-17T11:44:25.153" v="17" actId="22"/>
          <ac:picMkLst>
            <pc:docMk/>
            <pc:sldMk cId="0" sldId="265"/>
            <ac:picMk id="4" creationId="{7C3C35BF-0B7E-2C58-F119-2D6680ADCA7F}"/>
          </ac:picMkLst>
        </pc:picChg>
      </pc:sldChg>
      <pc:sldChg chg="addSp delSp mod modNotesTx">
        <pc:chgData name="Lai, Wilson" userId="2840974a-0d84-4886-90a9-9a3ed79f3a48" providerId="ADAL" clId="{9F23B798-9E84-4552-BA63-E776E805C424}" dt="2026-09-17T12:06:49.964" v="41" actId="12"/>
        <pc:sldMkLst>
          <pc:docMk/>
          <pc:sldMk cId="0" sldId="266"/>
        </pc:sldMkLst>
        <pc:picChg chg="del">
          <ac:chgData name="Lai, Wilson" userId="2840974a-0d84-4886-90a9-9a3ed79f3a48" providerId="ADAL" clId="{9F23B798-9E84-4552-BA63-E776E805C424}" dt="2026-09-17T11:44:26.359" v="18" actId="21"/>
          <ac:picMkLst>
            <pc:docMk/>
            <pc:sldMk cId="0" sldId="266"/>
            <ac:picMk id="2" creationId="{00000000-0000-0000-0000-000000000000}"/>
          </ac:picMkLst>
        </pc:picChg>
        <pc:picChg chg="add">
          <ac:chgData name="Lai, Wilson" userId="2840974a-0d84-4886-90a9-9a3ed79f3a48" providerId="ADAL" clId="{9F23B798-9E84-4552-BA63-E776E805C424}" dt="2026-09-17T11:44:33.359" v="19" actId="22"/>
          <ac:picMkLst>
            <pc:docMk/>
            <pc:sldMk cId="0" sldId="266"/>
            <ac:picMk id="4" creationId="{D7C50FF8-162B-A96C-CEFC-22B99AB91F39}"/>
          </ac:picMkLst>
        </pc:picChg>
      </pc:sldChg>
      <pc:sldChg chg="addSp delSp mod modNotesTx">
        <pc:chgData name="Lai, Wilson" userId="2840974a-0d84-4886-90a9-9a3ed79f3a48" providerId="ADAL" clId="{9F23B798-9E84-4552-BA63-E776E805C424}" dt="2026-09-17T12:07:04.732" v="42" actId="12"/>
        <pc:sldMkLst>
          <pc:docMk/>
          <pc:sldMk cId="0" sldId="267"/>
        </pc:sldMkLst>
        <pc:picChg chg="del">
          <ac:chgData name="Lai, Wilson" userId="2840974a-0d84-4886-90a9-9a3ed79f3a48" providerId="ADAL" clId="{9F23B798-9E84-4552-BA63-E776E805C424}" dt="2026-09-17T11:44:34.490" v="20" actId="21"/>
          <ac:picMkLst>
            <pc:docMk/>
            <pc:sldMk cId="0" sldId="267"/>
            <ac:picMk id="2" creationId="{00000000-0000-0000-0000-000000000000}"/>
          </ac:picMkLst>
        </pc:picChg>
        <pc:picChg chg="add">
          <ac:chgData name="Lai, Wilson" userId="2840974a-0d84-4886-90a9-9a3ed79f3a48" providerId="ADAL" clId="{9F23B798-9E84-4552-BA63-E776E805C424}" dt="2026-09-17T11:44:41.474" v="21" actId="22"/>
          <ac:picMkLst>
            <pc:docMk/>
            <pc:sldMk cId="0" sldId="267"/>
            <ac:picMk id="4" creationId="{E8C51C79-1FE7-7F34-4901-F4356EC1800C}"/>
          </ac:picMkLst>
        </pc:picChg>
      </pc:sldChg>
      <pc:sldChg chg="addSp delSp mod modNotesTx">
        <pc:chgData name="Lai, Wilson" userId="2840974a-0d84-4886-90a9-9a3ed79f3a48" providerId="ADAL" clId="{9F23B798-9E84-4552-BA63-E776E805C424}" dt="2026-09-17T12:07:17.045" v="43" actId="12"/>
        <pc:sldMkLst>
          <pc:docMk/>
          <pc:sldMk cId="0" sldId="268"/>
        </pc:sldMkLst>
        <pc:picChg chg="del">
          <ac:chgData name="Lai, Wilson" userId="2840974a-0d84-4886-90a9-9a3ed79f3a48" providerId="ADAL" clId="{9F23B798-9E84-4552-BA63-E776E805C424}" dt="2026-09-17T11:44:42.595" v="22" actId="21"/>
          <ac:picMkLst>
            <pc:docMk/>
            <pc:sldMk cId="0" sldId="268"/>
            <ac:picMk id="2" creationId="{00000000-0000-0000-0000-000000000000}"/>
          </ac:picMkLst>
        </pc:picChg>
        <pc:picChg chg="add">
          <ac:chgData name="Lai, Wilson" userId="2840974a-0d84-4886-90a9-9a3ed79f3a48" providerId="ADAL" clId="{9F23B798-9E84-4552-BA63-E776E805C424}" dt="2026-09-17T11:44:50.894" v="23" actId="22"/>
          <ac:picMkLst>
            <pc:docMk/>
            <pc:sldMk cId="0" sldId="268"/>
            <ac:picMk id="4" creationId="{2A88DD4B-EE97-627C-AA98-63AB55E7EB0C}"/>
          </ac:picMkLst>
        </pc:picChg>
      </pc:sldChg>
      <pc:sldChg chg="addSp delSp mod modNotesTx">
        <pc:chgData name="Lai, Wilson" userId="2840974a-0d84-4886-90a9-9a3ed79f3a48" providerId="ADAL" clId="{9F23B798-9E84-4552-BA63-E776E805C424}" dt="2026-09-17T12:07:30.353" v="44" actId="12"/>
        <pc:sldMkLst>
          <pc:docMk/>
          <pc:sldMk cId="0" sldId="269"/>
        </pc:sldMkLst>
        <pc:picChg chg="del">
          <ac:chgData name="Lai, Wilson" userId="2840974a-0d84-4886-90a9-9a3ed79f3a48" providerId="ADAL" clId="{9F23B798-9E84-4552-BA63-E776E805C424}" dt="2026-09-17T11:44:53.341" v="24" actId="21"/>
          <ac:picMkLst>
            <pc:docMk/>
            <pc:sldMk cId="0" sldId="269"/>
            <ac:picMk id="2" creationId="{00000000-0000-0000-0000-000000000000}"/>
          </ac:picMkLst>
        </pc:picChg>
        <pc:picChg chg="add">
          <ac:chgData name="Lai, Wilson" userId="2840974a-0d84-4886-90a9-9a3ed79f3a48" providerId="ADAL" clId="{9F23B798-9E84-4552-BA63-E776E805C424}" dt="2026-09-17T11:44:59.926" v="25" actId="22"/>
          <ac:picMkLst>
            <pc:docMk/>
            <pc:sldMk cId="0" sldId="269"/>
            <ac:picMk id="4" creationId="{DD1843DA-FDFA-26DF-FA9D-A1BC8F59C2FF}"/>
          </ac:picMkLst>
        </pc:picChg>
      </pc:sldChg>
      <pc:sldChg chg="addSp delSp mod">
        <pc:chgData name="Lai, Wilson" userId="2840974a-0d84-4886-90a9-9a3ed79f3a48" providerId="ADAL" clId="{9F23B798-9E84-4552-BA63-E776E805C424}" dt="2026-09-17T11:45:06.794" v="27" actId="22"/>
        <pc:sldMkLst>
          <pc:docMk/>
          <pc:sldMk cId="0" sldId="270"/>
        </pc:sldMkLst>
        <pc:picChg chg="del">
          <ac:chgData name="Lai, Wilson" userId="2840974a-0d84-4886-90a9-9a3ed79f3a48" providerId="ADAL" clId="{9F23B798-9E84-4552-BA63-E776E805C424}" dt="2026-09-17T11:45:00.962" v="26" actId="21"/>
          <ac:picMkLst>
            <pc:docMk/>
            <pc:sldMk cId="0" sldId="270"/>
            <ac:picMk id="2" creationId="{00000000-0000-0000-0000-000000000000}"/>
          </ac:picMkLst>
        </pc:picChg>
        <pc:picChg chg="add">
          <ac:chgData name="Lai, Wilson" userId="2840974a-0d84-4886-90a9-9a3ed79f3a48" providerId="ADAL" clId="{9F23B798-9E84-4552-BA63-E776E805C424}" dt="2026-09-17T11:45:06.794" v="27" actId="22"/>
          <ac:picMkLst>
            <pc:docMk/>
            <pc:sldMk cId="0" sldId="270"/>
            <ac:picMk id="4" creationId="{DC149EB5-5F53-7A45-DD5B-EB3EE7DA85EF}"/>
          </ac:picMkLst>
        </pc:picChg>
      </pc:sldChg>
      <pc:sldChg chg="addSp delSp mod modNotesTx">
        <pc:chgData name="Lai, Wilson" userId="2840974a-0d84-4886-90a9-9a3ed79f3a48" providerId="ADAL" clId="{9F23B798-9E84-4552-BA63-E776E805C424}" dt="2026-09-17T12:07:54.262" v="45" actId="12"/>
        <pc:sldMkLst>
          <pc:docMk/>
          <pc:sldMk cId="0" sldId="271"/>
        </pc:sldMkLst>
        <pc:picChg chg="del">
          <ac:chgData name="Lai, Wilson" userId="2840974a-0d84-4886-90a9-9a3ed79f3a48" providerId="ADAL" clId="{9F23B798-9E84-4552-BA63-E776E805C424}" dt="2026-09-17T11:45:08.070" v="28" actId="21"/>
          <ac:picMkLst>
            <pc:docMk/>
            <pc:sldMk cId="0" sldId="271"/>
            <ac:picMk id="2" creationId="{00000000-0000-0000-0000-000000000000}"/>
          </ac:picMkLst>
        </pc:picChg>
        <pc:picChg chg="add">
          <ac:chgData name="Lai, Wilson" userId="2840974a-0d84-4886-90a9-9a3ed79f3a48" providerId="ADAL" clId="{9F23B798-9E84-4552-BA63-E776E805C424}" dt="2026-09-17T11:45:14.652" v="29" actId="22"/>
          <ac:picMkLst>
            <pc:docMk/>
            <pc:sldMk cId="0" sldId="271"/>
            <ac:picMk id="4" creationId="{665110F5-9F0A-610E-DF16-E440B5E5EE71}"/>
          </ac:picMkLst>
        </pc:picChg>
      </pc:sldChg>
      <pc:sldChg chg="modNotesTx">
        <pc:chgData name="Lai, Wilson" userId="2840974a-0d84-4886-90a9-9a3ed79f3a48" providerId="ADAL" clId="{9F23B798-9E84-4552-BA63-E776E805C424}" dt="2026-09-17T12:08:24.381" v="49" actId="12"/>
        <pc:sldMkLst>
          <pc:docMk/>
          <pc:sldMk cId="652669652"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A28F9B-2BAD-426D-A035-F08F110F6BE1}"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993A78-7F49-4850-8161-D988F36F3425}" type="slidenum">
              <a:rPr lang="en-US" smtClean="0"/>
              <a:t>‹#›</a:t>
            </a:fld>
            <a:endParaRPr lang="en-US"/>
          </a:p>
        </p:txBody>
      </p:sp>
    </p:spTree>
    <p:extLst>
      <p:ext uri="{BB962C8B-B14F-4D97-AF65-F5344CB8AC3E}">
        <p14:creationId xmlns:p14="http://schemas.microsoft.com/office/powerpoint/2010/main" val="1314521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unpacking a massive paradigm shift in how value and software are created. We are officially entering the era of the </a:t>
            </a:r>
            <a:r>
              <a:rPr lang="en-US" b="1" dirty="0" err="1"/>
              <a:t>Superpreneur</a:t>
            </a:r>
            <a:r>
              <a:rPr lang="en-US" dirty="0"/>
              <a:t>—the AI-powered solo operator who can match the output, leverage, and memory of an entire traditional company.</a:t>
            </a:r>
          </a:p>
          <a:p>
            <a:r>
              <a:rPr lang="en-US" dirty="0"/>
              <a:t>To understand why this is happening right now, we have to look back at the timeline of AI interaction. In November 2022, we experienced the 'ChatGPT moment'. The core interaction model was simple: you typed in a prompt, and the model gave you an output. It had low-level reasoning and executed single-pass requests.</a:t>
            </a:r>
          </a:p>
          <a:p>
            <a:r>
              <a:rPr lang="en-US" dirty="0"/>
              <a:t>But around November 2023, a quiet revolution took place—what we call </a:t>
            </a:r>
            <a:r>
              <a:rPr lang="en-US" b="1" dirty="0"/>
              <a:t>The Agentic Leap</a:t>
            </a:r>
            <a:r>
              <a:rPr lang="en-US" dirty="0"/>
              <a:t>. Frontier models shifted from simple prompt-response loops to genuine </a:t>
            </a:r>
            <a:r>
              <a:rPr lang="en-US" b="1" dirty="0"/>
              <a:t>reasoning, reflection, and self-correction</a:t>
            </a:r>
            <a:r>
              <a:rPr lang="en-US" dirty="0"/>
              <a:t>. Instead of basic answers, you can now issue higher-order tasks. The AI can reflect, plan, execute multi-step workflows, and autonomously build complete end-to-end deliverables.</a:t>
            </a:r>
          </a:p>
          <a:p>
            <a:r>
              <a:rPr lang="en-US" dirty="0"/>
              <a:t>This shift from </a:t>
            </a:r>
            <a:r>
              <a:rPr lang="en-US" i="1" dirty="0"/>
              <a:t>prompting</a:t>
            </a:r>
            <a:r>
              <a:rPr lang="en-US" dirty="0"/>
              <a:t> to </a:t>
            </a:r>
            <a:r>
              <a:rPr lang="en-US" i="1" dirty="0"/>
              <a:t>reasoning</a:t>
            </a:r>
            <a:r>
              <a:rPr lang="en-US" dirty="0"/>
              <a:t> changes everything. It transforms AI from a passive assistant into an active partner, setting the stage for one-person companies operating at scale.</a:t>
            </a:r>
          </a:p>
          <a:p>
            <a:endParaRPr lang="en-US" dirty="0"/>
          </a:p>
          <a:p>
            <a:endParaRPr lang="en-US" dirty="0"/>
          </a:p>
          <a:p>
            <a:endParaRPr lang="en-US" dirty="0"/>
          </a:p>
          <a:p>
            <a:r>
              <a:rPr lang="en-US" dirty="0"/>
              <a:t>https://www.youtube.com/watch?v=zS0eTmgl5z4</a:t>
            </a:r>
          </a:p>
        </p:txBody>
      </p:sp>
      <p:sp>
        <p:nvSpPr>
          <p:cNvPr id="4" name="Slide Number Placeholder 3"/>
          <p:cNvSpPr>
            <a:spLocks noGrp="1"/>
          </p:cNvSpPr>
          <p:nvPr>
            <p:ph type="sldNum" sz="quarter" idx="5"/>
          </p:nvPr>
        </p:nvSpPr>
        <p:spPr/>
        <p:txBody>
          <a:bodyPr/>
          <a:lstStyle/>
          <a:p>
            <a:fld id="{B4993A78-7F49-4850-8161-D988F36F3425}" type="slidenum">
              <a:rPr lang="en-US" smtClean="0"/>
              <a:t>1</a:t>
            </a:fld>
            <a:endParaRPr lang="en-US"/>
          </a:p>
        </p:txBody>
      </p:sp>
    </p:spTree>
    <p:extLst>
      <p:ext uri="{BB962C8B-B14F-4D97-AF65-F5344CB8AC3E}">
        <p14:creationId xmlns:p14="http://schemas.microsoft.com/office/powerpoint/2010/main" val="3968089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hard macro data driving this trend. Historically, there was a strict biological ceiling on a solo business. A single individual only had so many hours in a day and so much brain capacity to handle sales, marketing, support, and execution. To scale, you </a:t>
            </a:r>
            <a:r>
              <a:rPr lang="en-US" i="1" dirty="0"/>
              <a:t>had</a:t>
            </a:r>
            <a:r>
              <a:rPr lang="en-US" dirty="0"/>
              <a:t> to hire employees.</a:t>
            </a:r>
          </a:p>
          <a:p>
            <a:r>
              <a:rPr lang="en-US" dirty="0"/>
              <a:t>That biological ceiling has vanished. According to the U.S. Census Bureau, new business formations in the United States reached a historic record high, topping 5 million new registrations. But here is the most astonishing statistic: </a:t>
            </a:r>
            <a:r>
              <a:rPr lang="en-US" b="1" dirty="0"/>
              <a:t>86% of these newly registered companies have zero plans or statistical likelihood to hire a single employee</a:t>
            </a:r>
            <a:r>
              <a:rPr lang="en-US" dirty="0"/>
              <a:t>.</a:t>
            </a:r>
          </a:p>
          <a:p>
            <a:r>
              <a:rPr lang="en-US" dirty="0"/>
              <a:t>They are intentionally designed as one-person operations leveraging AI to do the work that previously required entire departments. We are undergoing a fundamental economic transition: shifting from building companies of </a:t>
            </a:r>
            <a:r>
              <a:rPr lang="en-US" i="1" dirty="0"/>
              <a:t>many</a:t>
            </a:r>
            <a:r>
              <a:rPr lang="en-US" dirty="0"/>
              <a:t> to building AI-powered companies of </a:t>
            </a:r>
            <a:r>
              <a:rPr lang="en-US" i="1" dirty="0"/>
              <a:t>one</a:t>
            </a:r>
            <a:r>
              <a:rPr lang="en-US" dirty="0"/>
              <a:t>.</a:t>
            </a:r>
          </a:p>
          <a:p>
            <a:endParaRPr lang="en-US" dirty="0"/>
          </a:p>
        </p:txBody>
      </p:sp>
      <p:sp>
        <p:nvSpPr>
          <p:cNvPr id="4" name="Slide Number Placeholder 3"/>
          <p:cNvSpPr>
            <a:spLocks noGrp="1"/>
          </p:cNvSpPr>
          <p:nvPr>
            <p:ph type="sldNum" sz="quarter" idx="5"/>
          </p:nvPr>
        </p:nvSpPr>
        <p:spPr/>
        <p:txBody>
          <a:bodyPr/>
          <a:lstStyle/>
          <a:p>
            <a:fld id="{B4993A78-7F49-4850-8161-D988F36F3425}" type="slidenum">
              <a:rPr lang="en-US" smtClean="0"/>
              <a:t>2</a:t>
            </a:fld>
            <a:endParaRPr lang="en-US"/>
          </a:p>
        </p:txBody>
      </p:sp>
    </p:spTree>
    <p:extLst>
      <p:ext uri="{BB962C8B-B14F-4D97-AF65-F5344CB8AC3E}">
        <p14:creationId xmlns:p14="http://schemas.microsoft.com/office/powerpoint/2010/main" val="586264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power a high-performing solo enterprise, we need to solve a fundamental paradox between human biology and current AI architecture. We call this </a:t>
            </a:r>
            <a:r>
              <a:rPr lang="en-US" b="1" dirty="0"/>
              <a:t>The Intelligence &amp; Memory Gap</a:t>
            </a:r>
            <a:r>
              <a:rPr lang="en-US" dirty="0"/>
              <a:t>.</a:t>
            </a:r>
          </a:p>
          <a:p>
            <a:r>
              <a:rPr lang="en-US" dirty="0"/>
              <a:t>On the human side, our bottleneck is </a:t>
            </a:r>
            <a:r>
              <a:rPr lang="en-US" b="1" dirty="0"/>
              <a:t>RAM Limit</a:t>
            </a:r>
            <a:r>
              <a:rPr lang="en-US" dirty="0"/>
              <a:t>. Human brains are biologically amazing at deep reasoning, creative synthesis, and emotional intelligence. However, our short-term, working memory capacity is strictly limited. We cannot simultaneously hold thousands of emails, meeting transcripts, CRM notes, and social interactions in our working memory. Critical context constantly falls through the cracks.</a:t>
            </a:r>
          </a:p>
          <a:p>
            <a:r>
              <a:rPr lang="en-US" dirty="0"/>
              <a:t>On the flip side, look at the AI Core. Frontier models have massive IQs—they’ve read the entire internet. But their bottleneck is </a:t>
            </a:r>
            <a:r>
              <a:rPr lang="en-US" b="1" dirty="0"/>
              <a:t>Time Freeze</a:t>
            </a:r>
            <a:r>
              <a:rPr lang="en-US" dirty="0"/>
              <a:t>. A static LLM is frozen at the moment its training weights were set. Out of the box, it has zero persistent memory of your personal business, your customer interactions, your negotiations, or your strategic preferences.</a:t>
            </a:r>
          </a:p>
          <a:p>
            <a:r>
              <a:rPr lang="en-US" dirty="0"/>
              <a:t>The challenge is clear: humans have rich real-time context but limited memory bandwidth, while AI has massive intelligence but zero personal memory. Bridging this gap is the key to unlocking the </a:t>
            </a:r>
            <a:r>
              <a:rPr lang="en-US" dirty="0" err="1"/>
              <a:t>Superpreneur</a:t>
            </a:r>
            <a:r>
              <a:rPr lang="en-US" dirty="0"/>
              <a:t>.</a:t>
            </a:r>
          </a:p>
          <a:p>
            <a:endParaRPr lang="en-US" dirty="0"/>
          </a:p>
        </p:txBody>
      </p:sp>
      <p:sp>
        <p:nvSpPr>
          <p:cNvPr id="4" name="Slide Number Placeholder 3"/>
          <p:cNvSpPr>
            <a:spLocks noGrp="1"/>
          </p:cNvSpPr>
          <p:nvPr>
            <p:ph type="sldNum" sz="quarter" idx="5"/>
          </p:nvPr>
        </p:nvSpPr>
        <p:spPr/>
        <p:txBody>
          <a:bodyPr/>
          <a:lstStyle/>
          <a:p>
            <a:fld id="{B4993A78-7F49-4850-8161-D988F36F3425}" type="slidenum">
              <a:rPr lang="en-US" smtClean="0"/>
              <a:t>3</a:t>
            </a:fld>
            <a:endParaRPr lang="en-US"/>
          </a:p>
        </p:txBody>
      </p:sp>
    </p:spTree>
    <p:extLst>
      <p:ext uri="{BB962C8B-B14F-4D97-AF65-F5344CB8AC3E}">
        <p14:creationId xmlns:p14="http://schemas.microsoft.com/office/powerpoint/2010/main" val="3269173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to this gap is </a:t>
            </a:r>
            <a:r>
              <a:rPr lang="en-US" b="1" dirty="0"/>
              <a:t>The Second Brain</a:t>
            </a:r>
            <a:r>
              <a:rPr lang="en-US" dirty="0"/>
              <a:t>. As Dharmesh Shah highlights, a Second Brain is a digital auxiliary system for the modern knowledge worker. It sits right at the intersection of your human context and the raw IQ of frontier AI models.</a:t>
            </a:r>
          </a:p>
          <a:p>
            <a:r>
              <a:rPr lang="en-US" dirty="0"/>
              <a:t>Here’s how it works:</a:t>
            </a:r>
          </a:p>
          <a:p>
            <a:pPr marL="228600" lvl="0" indent="-228600">
              <a:buFont typeface="+mj-lt"/>
              <a:buAutoNum type="arabicPeriod"/>
            </a:pPr>
            <a:r>
              <a:rPr lang="en-US" b="1" dirty="0"/>
              <a:t>The Power Boost:</a:t>
            </a:r>
            <a:r>
              <a:rPr lang="en-US" dirty="0"/>
              <a:t> Instead of feeding generic prompts to an LLM, the Second Brain continuously supplements the AI model’s raw intelligence with your specific, persistent, personal context.</a:t>
            </a:r>
          </a:p>
          <a:p>
            <a:pPr marL="228600" lvl="0" indent="-228600">
              <a:buFont typeface="+mj-lt"/>
              <a:buAutoNum type="arabicPeriod"/>
            </a:pPr>
            <a:r>
              <a:rPr lang="en-US" b="1" dirty="0"/>
              <a:t>Continuous Ambient Learning:</a:t>
            </a:r>
            <a:r>
              <a:rPr lang="en-US" dirty="0"/>
              <a:t> It operates silently in the background, ambiently capturing thousands of micro-interactions across your digital footprint—your emails, calendar events, meeting transcripts, LinkedIn messages, and social media comments.</a:t>
            </a:r>
          </a:p>
          <a:p>
            <a:pPr marL="228600" lvl="0" indent="-228600">
              <a:buFont typeface="+mj-lt"/>
              <a:buAutoNum type="arabicPeriod"/>
            </a:pPr>
            <a:r>
              <a:rPr lang="en-US" b="1" dirty="0"/>
              <a:t>The Result:</a:t>
            </a:r>
            <a:r>
              <a:rPr lang="en-US" dirty="0"/>
              <a:t> The frontier model transitions from a generic chatbot into an all-knowing proactive business partner that possesses perfect recall of your entire operational universe.</a:t>
            </a:r>
          </a:p>
          <a:p>
            <a:r>
              <a:rPr lang="en-US" dirty="0"/>
              <a:t>Inspired by concepts like Andrej </a:t>
            </a:r>
            <a:r>
              <a:rPr lang="en-US" dirty="0" err="1"/>
              <a:t>Karpathy’s</a:t>
            </a:r>
            <a:r>
              <a:rPr lang="en-US" dirty="0"/>
              <a:t> 'LLM Wiki', this takes personal knowledge systems out of manual note-taking apps and turns them into a dynamic, living memory graph.</a:t>
            </a:r>
          </a:p>
          <a:p>
            <a:endParaRPr lang="en-US" dirty="0"/>
          </a:p>
        </p:txBody>
      </p:sp>
      <p:sp>
        <p:nvSpPr>
          <p:cNvPr id="4" name="Slide Number Placeholder 3"/>
          <p:cNvSpPr>
            <a:spLocks noGrp="1"/>
          </p:cNvSpPr>
          <p:nvPr>
            <p:ph type="sldNum" sz="quarter" idx="5"/>
          </p:nvPr>
        </p:nvSpPr>
        <p:spPr/>
        <p:txBody>
          <a:bodyPr/>
          <a:lstStyle/>
          <a:p>
            <a:fld id="{B4993A78-7F49-4850-8161-D988F36F3425}" type="slidenum">
              <a:rPr lang="en-US" smtClean="0"/>
              <a:t>4</a:t>
            </a:fld>
            <a:endParaRPr lang="en-US"/>
          </a:p>
        </p:txBody>
      </p:sp>
    </p:spTree>
    <p:extLst>
      <p:ext uri="{BB962C8B-B14F-4D97-AF65-F5344CB8AC3E}">
        <p14:creationId xmlns:p14="http://schemas.microsoft.com/office/powerpoint/2010/main" val="3471851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practical AI applications, we must understand a crucial technical framing: </a:t>
            </a:r>
            <a:r>
              <a:rPr lang="en-US" b="1" dirty="0"/>
              <a:t>The Model is the Engine; The Harness is the Car</a:t>
            </a:r>
            <a:r>
              <a:rPr lang="en-US" dirty="0"/>
              <a:t>.</a:t>
            </a:r>
          </a:p>
          <a:p>
            <a:r>
              <a:rPr lang="en-US" dirty="0"/>
              <a:t>Frontier models like GPT, Claude, or Fable get all the media headlines. But the model is merely the engine. It provides raw horsepower, reasoning capability, and latent energy. However, an engine resting on a workbench will not take you down the highway.</a:t>
            </a:r>
          </a:p>
          <a:p>
            <a:r>
              <a:rPr lang="en-US" b="1" dirty="0"/>
              <a:t>The Agentic Harness is the car built around that engine</a:t>
            </a:r>
            <a:r>
              <a:rPr lang="en-US" dirty="0"/>
              <a:t>. The harness provides the steering wheel, wheels, dashboard, brakes, and GPS. It captures the raw energy of the AI model and directs it safely and effectively toward a specific goal.</a:t>
            </a:r>
          </a:p>
          <a:p>
            <a:r>
              <a:rPr lang="en-US" dirty="0"/>
              <a:t>End-users don't interact with raw models directly—they interact with harnesses. The competitive moat in AI today isn't just training base models; it’s building highly specialized, domain-tailored harnesses that give models the tools, memory, and guardrails to execute complex work.</a:t>
            </a:r>
          </a:p>
          <a:p>
            <a:endParaRPr lang="en-US" dirty="0"/>
          </a:p>
        </p:txBody>
      </p:sp>
      <p:sp>
        <p:nvSpPr>
          <p:cNvPr id="4" name="Slide Number Placeholder 3"/>
          <p:cNvSpPr>
            <a:spLocks noGrp="1"/>
          </p:cNvSpPr>
          <p:nvPr>
            <p:ph type="sldNum" sz="quarter" idx="5"/>
          </p:nvPr>
        </p:nvSpPr>
        <p:spPr/>
        <p:txBody>
          <a:bodyPr/>
          <a:lstStyle/>
          <a:p>
            <a:fld id="{B4993A78-7F49-4850-8161-D988F36F3425}" type="slidenum">
              <a:rPr lang="en-US" smtClean="0"/>
              <a:t>5</a:t>
            </a:fld>
            <a:endParaRPr lang="en-US"/>
          </a:p>
        </p:txBody>
      </p:sp>
    </p:spTree>
    <p:extLst>
      <p:ext uri="{BB962C8B-B14F-4D97-AF65-F5344CB8AC3E}">
        <p14:creationId xmlns:p14="http://schemas.microsoft.com/office/powerpoint/2010/main" val="2977373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building a Second Brain harness, the underlying data architecture must be reimagined. Legacy systems rely on </a:t>
            </a:r>
            <a:r>
              <a:rPr lang="en-US" b="1" dirty="0"/>
              <a:t>static files and hierarchical folder trees</a:t>
            </a:r>
            <a:r>
              <a:rPr lang="en-US" dirty="0"/>
              <a:t>.</a:t>
            </a:r>
          </a:p>
          <a:p>
            <a:r>
              <a:rPr lang="en-US" dirty="0"/>
              <a:t>In contrast, the new primitive of data is </a:t>
            </a:r>
            <a:r>
              <a:rPr lang="en-US" b="1" dirty="0"/>
              <a:t>The Object</a:t>
            </a:r>
            <a:r>
              <a:rPr lang="en-US" dirty="0"/>
              <a:t>, not the File.</a:t>
            </a:r>
          </a:p>
          <a:p>
            <a:r>
              <a:rPr lang="en-US" dirty="0"/>
              <a:t>In a modern Second Brain architecture, every single data point is treated as a distinct, typed object connected via graph relationships:</a:t>
            </a:r>
          </a:p>
          <a:p>
            <a:pPr marL="171450" lvl="0" indent="-171450">
              <a:buFont typeface="Arial" panose="020B0604020202020204" pitchFamily="34" charset="0"/>
              <a:buChar char="•"/>
            </a:pPr>
            <a:r>
              <a:rPr lang="en-US" dirty="0"/>
              <a:t>An email received is an object.</a:t>
            </a:r>
          </a:p>
          <a:p>
            <a:pPr marL="171450" lvl="0" indent="-171450">
              <a:buFont typeface="Arial" panose="020B0604020202020204" pitchFamily="34" charset="0"/>
              <a:buChar char="•"/>
            </a:pPr>
            <a:r>
              <a:rPr lang="en-US" dirty="0"/>
              <a:t>A LinkedIn comment or Twitter like is an object.</a:t>
            </a:r>
          </a:p>
          <a:p>
            <a:pPr lvl="0"/>
            <a:r>
              <a:rPr lang="en-US" dirty="0"/>
              <a:t>A dropped negotiation, a meeting transcript segment, or even a user-stated preference—a 'Fact'—is an object.</a:t>
            </a:r>
          </a:p>
          <a:p>
            <a:r>
              <a:rPr lang="en-US" dirty="0"/>
              <a:t>By linking these objects dynamically in a knowledge graph, the AI can connect dots across disparate channels. It understands that a tweet from yesterday relates to an email sent three months ago and a meeting scheduled for tomorrow.</a:t>
            </a:r>
          </a:p>
          <a:p>
            <a:endParaRPr lang="en-US" dirty="0"/>
          </a:p>
        </p:txBody>
      </p:sp>
      <p:sp>
        <p:nvSpPr>
          <p:cNvPr id="4" name="Slide Number Placeholder 3"/>
          <p:cNvSpPr>
            <a:spLocks noGrp="1"/>
          </p:cNvSpPr>
          <p:nvPr>
            <p:ph type="sldNum" sz="quarter" idx="5"/>
          </p:nvPr>
        </p:nvSpPr>
        <p:spPr/>
        <p:txBody>
          <a:bodyPr/>
          <a:lstStyle/>
          <a:p>
            <a:fld id="{B4993A78-7F49-4850-8161-D988F36F3425}" type="slidenum">
              <a:rPr lang="en-US" smtClean="0"/>
              <a:t>6</a:t>
            </a:fld>
            <a:endParaRPr lang="en-US"/>
          </a:p>
        </p:txBody>
      </p:sp>
    </p:spTree>
    <p:extLst>
      <p:ext uri="{BB962C8B-B14F-4D97-AF65-F5344CB8AC3E}">
        <p14:creationId xmlns:p14="http://schemas.microsoft.com/office/powerpoint/2010/main" val="2439162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architectural shift leads to a major industry contrast between </a:t>
            </a:r>
            <a:r>
              <a:rPr lang="en-US" b="1" dirty="0"/>
              <a:t>Legacy CRMs</a:t>
            </a:r>
            <a:r>
              <a:rPr lang="en-US" dirty="0"/>
              <a:t> and </a:t>
            </a:r>
            <a:r>
              <a:rPr lang="en-US" b="1" dirty="0"/>
              <a:t>AI-First Second Brain systems like </a:t>
            </a:r>
            <a:r>
              <a:rPr lang="en-US" b="1" dirty="0" err="1"/>
              <a:t>Uspot</a:t>
            </a:r>
            <a:r>
              <a:rPr lang="en-US" dirty="0"/>
              <a:t>.</a:t>
            </a:r>
          </a:p>
          <a:p>
            <a:r>
              <a:rPr lang="en-US" dirty="0"/>
              <a:t>Let's look at the core differences:</a:t>
            </a:r>
          </a:p>
          <a:p>
            <a:pPr marL="171450" lvl="0" indent="-171450">
              <a:buFont typeface="Arial" panose="020B0604020202020204" pitchFamily="34" charset="0"/>
              <a:buChar char="•"/>
            </a:pPr>
            <a:r>
              <a:rPr lang="en-US" b="1" dirty="0"/>
              <a:t>Core Architecture:</a:t>
            </a:r>
            <a:r>
              <a:rPr lang="en-US" dirty="0"/>
              <a:t> Legacy CRMs are traditional database software with AI added on top as a feature or chatbot plugin. </a:t>
            </a:r>
            <a:r>
              <a:rPr lang="en-US" dirty="0" err="1"/>
              <a:t>Uspot</a:t>
            </a:r>
            <a:r>
              <a:rPr lang="en-US" dirty="0"/>
              <a:t> inverts this model completely—it is an </a:t>
            </a:r>
            <a:r>
              <a:rPr lang="en-US" b="1" dirty="0"/>
              <a:t>AI Harness with a lightweight CRM built inside it</a:t>
            </a:r>
            <a:r>
              <a:rPr lang="en-US" dirty="0"/>
              <a:t>.</a:t>
            </a:r>
          </a:p>
          <a:p>
            <a:pPr marL="171450" lvl="0" indent="-171450">
              <a:buFont typeface="Arial" panose="020B0604020202020204" pitchFamily="34" charset="0"/>
              <a:buChar char="•"/>
            </a:pPr>
            <a:r>
              <a:rPr lang="en-US" b="1" dirty="0"/>
              <a:t>Data Primitives:</a:t>
            </a:r>
            <a:r>
              <a:rPr lang="en-US" dirty="0"/>
              <a:t> Legacy systems rely on static records like manual fields for name, address, and phone number. Second Brain CRMs rely on dynamic, interconnected objects—capturing everything from a YouTube comment to an inactive negotiation.</a:t>
            </a:r>
          </a:p>
          <a:p>
            <a:pPr marL="171450" lvl="0" indent="-171450">
              <a:buFont typeface="Arial" panose="020B0604020202020204" pitchFamily="34" charset="0"/>
              <a:buChar char="•"/>
            </a:pPr>
            <a:r>
              <a:rPr lang="en-US" b="1" dirty="0"/>
              <a:t>Input Mechanism:</a:t>
            </a:r>
            <a:r>
              <a:rPr lang="en-US" dirty="0"/>
              <a:t> Legacy CRMs require tedious manual data entry and form filing. </a:t>
            </a:r>
            <a:r>
              <a:rPr lang="en-US" dirty="0" err="1"/>
              <a:t>Uspot</a:t>
            </a:r>
            <a:r>
              <a:rPr lang="en-US" dirty="0"/>
              <a:t> captures context </a:t>
            </a:r>
            <a:r>
              <a:rPr lang="en-US" b="1" dirty="0"/>
              <a:t>ambiently and automatically</a:t>
            </a:r>
            <a:r>
              <a:rPr lang="en-US" dirty="0"/>
              <a:t> across all connected digital channels.</a:t>
            </a:r>
          </a:p>
          <a:p>
            <a:pPr marL="171450" lvl="0" indent="-171450">
              <a:buFont typeface="Arial" panose="020B0604020202020204" pitchFamily="34" charset="0"/>
              <a:buChar char="•"/>
            </a:pPr>
            <a:r>
              <a:rPr lang="en-US" b="1" dirty="0"/>
              <a:t>Target User:</a:t>
            </a:r>
            <a:r>
              <a:rPr lang="en-US" dirty="0"/>
              <a:t> Traditional enterprise CRMs require dedicated ops teams to configure and maintain. </a:t>
            </a:r>
            <a:r>
              <a:rPr lang="en-US" dirty="0" err="1"/>
              <a:t>Uspot</a:t>
            </a:r>
            <a:r>
              <a:rPr lang="en-US" dirty="0"/>
              <a:t> is purpose-built specifically for the solo </a:t>
            </a:r>
            <a:r>
              <a:rPr lang="en-US" dirty="0" err="1"/>
              <a:t>Superpreneur</a:t>
            </a:r>
            <a:r>
              <a:rPr lang="en-US" dirty="0"/>
              <a:t>.</a:t>
            </a:r>
          </a:p>
          <a:p>
            <a:endParaRPr lang="en-US" dirty="0"/>
          </a:p>
        </p:txBody>
      </p:sp>
      <p:sp>
        <p:nvSpPr>
          <p:cNvPr id="4" name="Slide Number Placeholder 3"/>
          <p:cNvSpPr>
            <a:spLocks noGrp="1"/>
          </p:cNvSpPr>
          <p:nvPr>
            <p:ph type="sldNum" sz="quarter" idx="5"/>
          </p:nvPr>
        </p:nvSpPr>
        <p:spPr/>
        <p:txBody>
          <a:bodyPr/>
          <a:lstStyle/>
          <a:p>
            <a:fld id="{B4993A78-7F49-4850-8161-D988F36F3425}" type="slidenum">
              <a:rPr lang="en-US" smtClean="0"/>
              <a:t>7</a:t>
            </a:fld>
            <a:endParaRPr lang="en-US"/>
          </a:p>
        </p:txBody>
      </p:sp>
    </p:spTree>
    <p:extLst>
      <p:ext uri="{BB962C8B-B14F-4D97-AF65-F5344CB8AC3E}">
        <p14:creationId xmlns:p14="http://schemas.microsoft.com/office/powerpoint/2010/main" val="1087504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 </a:t>
            </a:r>
            <a:r>
              <a:rPr lang="en-US" b="1" dirty="0" err="1"/>
              <a:t>Uspot</a:t>
            </a:r>
            <a:r>
              <a:rPr lang="en-US" dirty="0"/>
              <a:t>—a custom-built AI harness designed from the ground up for one-person companies.</a:t>
            </a:r>
          </a:p>
          <a:p>
            <a:r>
              <a:rPr lang="en-US" dirty="0" err="1"/>
              <a:t>Uspot</a:t>
            </a:r>
            <a:r>
              <a:rPr lang="en-US" dirty="0"/>
              <a:t> combines three core elements into a single workspace:</a:t>
            </a:r>
          </a:p>
          <a:p>
            <a:pPr marL="228600" lvl="0" indent="-228600">
              <a:buFont typeface="+mj-lt"/>
              <a:buAutoNum type="arabicPeriod"/>
            </a:pPr>
            <a:r>
              <a:rPr lang="en-US" b="1" dirty="0"/>
              <a:t>Lightweight Natural Language Interface:</a:t>
            </a:r>
            <a:r>
              <a:rPr lang="en-US" dirty="0"/>
              <a:t> You interact with your entire business graph simply by conversing with it, just as you would with ChatGPT or Claude.</a:t>
            </a:r>
          </a:p>
          <a:p>
            <a:pPr marL="228600" lvl="0" indent="-228600">
              <a:buFont typeface="+mj-lt"/>
              <a:buAutoNum type="arabicPeriod"/>
            </a:pPr>
            <a:r>
              <a:rPr lang="en-US" b="1" dirty="0"/>
              <a:t>Elimination of Operational Friction:</a:t>
            </a:r>
            <a:r>
              <a:rPr lang="en-US" dirty="0"/>
              <a:t> It replaces static spreadsheets, sticky notes, and disconnected tools with a fluid, continuous conversation powered by personal memory.</a:t>
            </a:r>
          </a:p>
          <a:p>
            <a:pPr marL="228600" lvl="0" indent="-228600">
              <a:buFont typeface="+mj-lt"/>
              <a:buAutoNum type="arabicPeriod"/>
            </a:pPr>
            <a:r>
              <a:rPr lang="en-US" b="1" dirty="0"/>
              <a:t>Focused ICP Alignment:</a:t>
            </a:r>
            <a:r>
              <a:rPr lang="en-US" dirty="0"/>
              <a:t> </a:t>
            </a:r>
            <a:r>
              <a:rPr lang="en-US" dirty="0" err="1"/>
              <a:t>Uspot</a:t>
            </a:r>
            <a:r>
              <a:rPr lang="en-US" dirty="0"/>
              <a:t> isn't trying to be a general consumer assistant or handle retail point-of-sale systems. It is optimized specifically for </a:t>
            </a:r>
            <a:r>
              <a:rPr lang="en-US" b="1" dirty="0"/>
              <a:t>considered-purchase business relationships</a:t>
            </a:r>
            <a:r>
              <a:rPr lang="en-US" dirty="0"/>
              <a:t>—consultants, solo software founders, creators, and advisors who rely on high-value networks and deep relationships to win business.</a:t>
            </a:r>
          </a:p>
          <a:p>
            <a:endParaRPr lang="en-US" b="1" dirty="0"/>
          </a:p>
        </p:txBody>
      </p:sp>
      <p:sp>
        <p:nvSpPr>
          <p:cNvPr id="4" name="Slide Number Placeholder 3"/>
          <p:cNvSpPr>
            <a:spLocks noGrp="1"/>
          </p:cNvSpPr>
          <p:nvPr>
            <p:ph type="sldNum" sz="quarter" idx="5"/>
          </p:nvPr>
        </p:nvSpPr>
        <p:spPr/>
        <p:txBody>
          <a:bodyPr/>
          <a:lstStyle/>
          <a:p>
            <a:fld id="{B4993A78-7F49-4850-8161-D988F36F3425}" type="slidenum">
              <a:rPr lang="en-US" smtClean="0"/>
              <a:t>8</a:t>
            </a:fld>
            <a:endParaRPr lang="en-US"/>
          </a:p>
        </p:txBody>
      </p:sp>
    </p:spTree>
    <p:extLst>
      <p:ext uri="{BB962C8B-B14F-4D97-AF65-F5344CB8AC3E}">
        <p14:creationId xmlns:p14="http://schemas.microsoft.com/office/powerpoint/2010/main" val="3341564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important principles in the </a:t>
            </a:r>
            <a:r>
              <a:rPr lang="en-US" dirty="0" err="1"/>
              <a:t>Superpreneur</a:t>
            </a:r>
            <a:r>
              <a:rPr lang="en-US" dirty="0"/>
              <a:t> stack is </a:t>
            </a:r>
            <a:r>
              <a:rPr lang="en-US" b="1" dirty="0"/>
              <a:t>Memory Portability</a:t>
            </a:r>
            <a:r>
              <a:rPr lang="en-US" dirty="0"/>
              <a:t>.</a:t>
            </a:r>
          </a:p>
          <a:p>
            <a:r>
              <a:rPr lang="en-US" dirty="0"/>
              <a:t>Today, users suffer from severe AI FOMO (Fear Of Missing Out). Every week, a new frontier model drops—whether it's OpenAI, Anthropic Claude, or Google Gemini. But switching models usually means starting over from scratch, losing all the learned context and memory stored inside a proprietary model's memory tab.</a:t>
            </a:r>
          </a:p>
          <a:p>
            <a:r>
              <a:rPr lang="en-US" b="1" dirty="0"/>
              <a:t>You should own your memory; it should never be trapped inside a single AI vendor's silo</a:t>
            </a:r>
            <a:r>
              <a:rPr lang="en-US" dirty="0"/>
              <a:t>.</a:t>
            </a:r>
          </a:p>
          <a:p>
            <a:r>
              <a:rPr lang="en-US" dirty="0" err="1"/>
              <a:t>Uspot</a:t>
            </a:r>
            <a:r>
              <a:rPr lang="en-US" dirty="0"/>
              <a:t> decouples the memory layer from the underlying AI model using the </a:t>
            </a:r>
            <a:r>
              <a:rPr lang="en-US" b="1" dirty="0"/>
              <a:t>Model Context Protocol (MCP)</a:t>
            </a:r>
            <a:r>
              <a:rPr lang="en-US" dirty="0"/>
              <a:t>. Your memory core lives independently. If a superior model comes out tomorrow, you can plug your Second Brain memory directly into that new model instantly. Your learned personal context stays with you forever.</a:t>
            </a:r>
          </a:p>
        </p:txBody>
      </p:sp>
      <p:sp>
        <p:nvSpPr>
          <p:cNvPr id="4" name="Slide Number Placeholder 3"/>
          <p:cNvSpPr>
            <a:spLocks noGrp="1"/>
          </p:cNvSpPr>
          <p:nvPr>
            <p:ph type="sldNum" sz="quarter" idx="5"/>
          </p:nvPr>
        </p:nvSpPr>
        <p:spPr/>
        <p:txBody>
          <a:bodyPr/>
          <a:lstStyle/>
          <a:p>
            <a:fld id="{B4993A78-7F49-4850-8161-D988F36F3425}" type="slidenum">
              <a:rPr lang="en-US" smtClean="0"/>
              <a:t>9</a:t>
            </a:fld>
            <a:endParaRPr lang="en-US"/>
          </a:p>
        </p:txBody>
      </p:sp>
    </p:spTree>
    <p:extLst>
      <p:ext uri="{BB962C8B-B14F-4D97-AF65-F5344CB8AC3E}">
        <p14:creationId xmlns:p14="http://schemas.microsoft.com/office/powerpoint/2010/main" val="231699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t>
            </a:r>
            <a:r>
              <a:rPr lang="en-US" dirty="0" err="1"/>
              <a:t>Uspot</a:t>
            </a:r>
            <a:r>
              <a:rPr lang="en-US" dirty="0"/>
              <a:t> maintains an active memory graph, it transforms from a reactive tool that waits for prompts into a </a:t>
            </a:r>
            <a:r>
              <a:rPr lang="en-US" b="1" dirty="0"/>
              <a:t>proactive executive assistant that manages you</a:t>
            </a:r>
            <a:r>
              <a:rPr lang="en-US" dirty="0"/>
              <a:t>.</a:t>
            </a:r>
          </a:p>
          <a:p>
            <a:r>
              <a:rPr lang="en-US" dirty="0"/>
              <a:t>Every morning, </a:t>
            </a:r>
            <a:r>
              <a:rPr lang="en-US" dirty="0" err="1"/>
              <a:t>Superpreneurs</a:t>
            </a:r>
            <a:r>
              <a:rPr lang="en-US" dirty="0"/>
              <a:t> receive an automated </a:t>
            </a:r>
            <a:r>
              <a:rPr lang="en-US" b="1" dirty="0"/>
              <a:t>Executive Briefing</a:t>
            </a:r>
            <a:r>
              <a:rPr lang="en-US" dirty="0"/>
              <a:t> highlighting actionable insights:</a:t>
            </a:r>
          </a:p>
          <a:p>
            <a:pPr marL="171450" lvl="0" indent="-171450">
              <a:buFont typeface="Arial" panose="020B0604020202020204" pitchFamily="34" charset="0"/>
              <a:buChar char="•"/>
            </a:pPr>
            <a:r>
              <a:rPr lang="en-US" b="1" dirty="0"/>
              <a:t>Proactive Opportunity:</a:t>
            </a:r>
            <a:r>
              <a:rPr lang="en-US" dirty="0"/>
              <a:t> </a:t>
            </a:r>
            <a:r>
              <a:rPr lang="en-US" i="1" dirty="0"/>
              <a:t>'You dropped a domain negotiation 7 days ago. Our valuation tool estimates it is worth 3x the seller's asking price. Follow up today.'</a:t>
            </a:r>
            <a:endParaRPr lang="en-US" dirty="0"/>
          </a:p>
          <a:p>
            <a:pPr marL="171450" lvl="0" indent="-171450">
              <a:buFont typeface="Arial" panose="020B0604020202020204" pitchFamily="34" charset="0"/>
              <a:buChar char="•"/>
            </a:pPr>
            <a:r>
              <a:rPr lang="en-US" b="1" dirty="0"/>
              <a:t>Fact Updating via Feedback:</a:t>
            </a:r>
            <a:r>
              <a:rPr lang="en-US" dirty="0"/>
              <a:t> If the AI suggests something irrelevant and you reply, </a:t>
            </a:r>
            <a:r>
              <a:rPr lang="en-US" i="1" dirty="0"/>
              <a:t>'I don't care about manufacturing domains,'</a:t>
            </a:r>
            <a:r>
              <a:rPr lang="en-US" dirty="0"/>
              <a:t> the system immediately stores a new </a:t>
            </a:r>
            <a:r>
              <a:rPr lang="en-US" b="1" dirty="0"/>
              <a:t>Fact Object</a:t>
            </a:r>
            <a:r>
              <a:rPr lang="en-US" dirty="0"/>
              <a:t>: </a:t>
            </a:r>
            <a:r>
              <a:rPr lang="en-US" i="1" dirty="0"/>
              <a:t>'User does not want manufacturing opportunities.'</a:t>
            </a:r>
            <a:r>
              <a:rPr lang="en-US" dirty="0"/>
              <a:t> Future briefings adapt instantly.</a:t>
            </a:r>
          </a:p>
          <a:p>
            <a:pPr lvl="0"/>
            <a:r>
              <a:rPr lang="en-US" b="1" dirty="0"/>
              <a:t>Network Monitoring:</a:t>
            </a:r>
            <a:r>
              <a:rPr lang="en-US" dirty="0"/>
              <a:t> </a:t>
            </a:r>
            <a:r>
              <a:rPr lang="en-US" i="1" dirty="0"/>
              <a:t>'A key contact with 100k+ followers commented on your post yesterday. You haven't replied yet.'</a:t>
            </a:r>
            <a:endParaRPr lang="en-US" dirty="0"/>
          </a:p>
          <a:p>
            <a:r>
              <a:rPr lang="en-US" dirty="0"/>
              <a:t>This flips management on its head: instead of you constantly checking dashboards, the system proactively directs your focus to high-leverage activities.</a:t>
            </a:r>
          </a:p>
          <a:p>
            <a:endParaRPr lang="en-US" dirty="0"/>
          </a:p>
        </p:txBody>
      </p:sp>
      <p:sp>
        <p:nvSpPr>
          <p:cNvPr id="4" name="Slide Number Placeholder 3"/>
          <p:cNvSpPr>
            <a:spLocks noGrp="1"/>
          </p:cNvSpPr>
          <p:nvPr>
            <p:ph type="sldNum" sz="quarter" idx="5"/>
          </p:nvPr>
        </p:nvSpPr>
        <p:spPr/>
        <p:txBody>
          <a:bodyPr/>
          <a:lstStyle/>
          <a:p>
            <a:fld id="{B4993A78-7F49-4850-8161-D988F36F3425}" type="slidenum">
              <a:rPr lang="en-US" smtClean="0"/>
              <a:t>10</a:t>
            </a:fld>
            <a:endParaRPr lang="en-US"/>
          </a:p>
        </p:txBody>
      </p:sp>
    </p:spTree>
    <p:extLst>
      <p:ext uri="{BB962C8B-B14F-4D97-AF65-F5344CB8AC3E}">
        <p14:creationId xmlns:p14="http://schemas.microsoft.com/office/powerpoint/2010/main" val="1209792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execute actions continuously without human intervention, the system deploys </a:t>
            </a:r>
            <a:r>
              <a:rPr lang="en-US" b="1" dirty="0"/>
              <a:t>Cloud Agents</a:t>
            </a:r>
            <a:r>
              <a:rPr lang="en-US" dirty="0"/>
              <a:t>.</a:t>
            </a:r>
          </a:p>
          <a:p>
            <a:r>
              <a:rPr lang="en-US" dirty="0"/>
              <a:t>Cloud agents are server-side background helpers that run 24/7 against your Second Brain graph. You program them using plain natural language instructions:</a:t>
            </a:r>
          </a:p>
          <a:p>
            <a:pPr marL="171450" lvl="0" indent="-171450">
              <a:buFont typeface="Arial" panose="020B0604020202020204" pitchFamily="34" charset="0"/>
              <a:buChar char="•"/>
            </a:pPr>
            <a:r>
              <a:rPr lang="en-US" b="1" dirty="0"/>
              <a:t>Listen:</a:t>
            </a:r>
            <a:r>
              <a:rPr lang="en-US" dirty="0"/>
              <a:t> </a:t>
            </a:r>
            <a:r>
              <a:rPr lang="en-US" i="1" dirty="0"/>
              <a:t>'If someone mentions my brand on LinkedIn and the post reaches 20+ likes, send me an instant email alert.'</a:t>
            </a:r>
            <a:endParaRPr lang="en-US" dirty="0"/>
          </a:p>
          <a:p>
            <a:pPr marL="171450" lvl="0" indent="-171450">
              <a:buFont typeface="Arial" panose="020B0604020202020204" pitchFamily="34" charset="0"/>
              <a:buChar char="•"/>
            </a:pPr>
            <a:r>
              <a:rPr lang="en-US" b="1" dirty="0"/>
              <a:t>Scour:</a:t>
            </a:r>
            <a:r>
              <a:rPr lang="en-US" dirty="0"/>
              <a:t> </a:t>
            </a:r>
            <a:r>
              <a:rPr lang="en-US" i="1" dirty="0"/>
              <a:t>'Read all my subscribed newsletters. If a mentioned company matches my ideal customer profile, create a prospect lead object automatically.'</a:t>
            </a:r>
            <a:endParaRPr lang="en-US" dirty="0"/>
          </a:p>
          <a:p>
            <a:pPr marL="171450" lvl="0" indent="-171450">
              <a:buFont typeface="Arial" panose="020B0604020202020204" pitchFamily="34" charset="0"/>
              <a:buChar char="•"/>
            </a:pPr>
            <a:r>
              <a:rPr lang="en-US" b="1" dirty="0"/>
              <a:t>Monitor:</a:t>
            </a:r>
            <a:r>
              <a:rPr lang="en-US" dirty="0"/>
              <a:t> </a:t>
            </a:r>
            <a:r>
              <a:rPr lang="en-US" i="1" dirty="0"/>
              <a:t>'If internal emails mention Project Y, tag the message and text my phone immediately.'</a:t>
            </a:r>
            <a:endParaRPr lang="en-US" dirty="0"/>
          </a:p>
          <a:p>
            <a:r>
              <a:rPr lang="en-US" dirty="0"/>
              <a:t>These agents extend your leverage </a:t>
            </a:r>
            <a:r>
              <a:rPr lang="en-US" dirty="0" err="1"/>
              <a:t>exponentialy</a:t>
            </a:r>
            <a:r>
              <a:rPr lang="en-US" dirty="0"/>
              <a:t>, acting as digital staff members that monitor, filter, and execute tasks while you sleep.</a:t>
            </a:r>
          </a:p>
          <a:p>
            <a:endParaRPr lang="en-US" dirty="0"/>
          </a:p>
        </p:txBody>
      </p:sp>
      <p:sp>
        <p:nvSpPr>
          <p:cNvPr id="4" name="Slide Number Placeholder 3"/>
          <p:cNvSpPr>
            <a:spLocks noGrp="1"/>
          </p:cNvSpPr>
          <p:nvPr>
            <p:ph type="sldNum" sz="quarter" idx="5"/>
          </p:nvPr>
        </p:nvSpPr>
        <p:spPr/>
        <p:txBody>
          <a:bodyPr/>
          <a:lstStyle/>
          <a:p>
            <a:fld id="{B4993A78-7F49-4850-8161-D988F36F3425}" type="slidenum">
              <a:rPr lang="en-US" smtClean="0"/>
              <a:t>11</a:t>
            </a:fld>
            <a:endParaRPr lang="en-US"/>
          </a:p>
        </p:txBody>
      </p:sp>
    </p:spTree>
    <p:extLst>
      <p:ext uri="{BB962C8B-B14F-4D97-AF65-F5344CB8AC3E}">
        <p14:creationId xmlns:p14="http://schemas.microsoft.com/office/powerpoint/2010/main" val="81799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a concrete real-world example of how the Second Brain synthesizes data across disparate channels.</a:t>
            </a:r>
          </a:p>
          <a:p>
            <a:r>
              <a:rPr lang="en-US" dirty="0"/>
              <a:t>Imagine you want to find brand ambassadors or hire a key strategic partner:</a:t>
            </a:r>
          </a:p>
          <a:p>
            <a:pPr marL="171450" lvl="0" indent="-171450">
              <a:buFont typeface="Arial" panose="020B0604020202020204" pitchFamily="34" charset="0"/>
              <a:buChar char="•"/>
            </a:pPr>
            <a:r>
              <a:rPr lang="en-US" b="1" dirty="0"/>
              <a:t>Input:</a:t>
            </a:r>
            <a:r>
              <a:rPr lang="en-US" dirty="0"/>
              <a:t> You simply type a goal in natural language: </a:t>
            </a:r>
            <a:r>
              <a:rPr lang="en-US" i="1" dirty="0"/>
              <a:t>'Find an ideal ambassador for our new product launch.'</a:t>
            </a:r>
            <a:endParaRPr lang="en-US" dirty="0"/>
          </a:p>
          <a:p>
            <a:pPr marL="171450" lvl="0" indent="-171450">
              <a:buFont typeface="Arial" panose="020B0604020202020204" pitchFamily="34" charset="0"/>
              <a:buChar char="•"/>
            </a:pPr>
            <a:r>
              <a:rPr lang="en-US" b="1" dirty="0"/>
              <a:t>Synthesis:</a:t>
            </a:r>
            <a:r>
              <a:rPr lang="en-US" dirty="0"/>
              <a:t> The Second Brain cross-references multiple data streams simultaneously. It checks users who engaged with your past posts, analyzes your historical email threads, and reviews current LinkedIn career roles across your network.</a:t>
            </a:r>
          </a:p>
          <a:p>
            <a:pPr marL="171450" lvl="0" indent="-171450">
              <a:buFont typeface="Arial" panose="020B0604020202020204" pitchFamily="34" charset="0"/>
              <a:buChar char="•"/>
            </a:pPr>
            <a:r>
              <a:rPr lang="en-US" b="1" dirty="0"/>
              <a:t>Output:</a:t>
            </a:r>
            <a:r>
              <a:rPr lang="en-US" dirty="0"/>
              <a:t> Rather than giving you a generic search result, </a:t>
            </a:r>
            <a:r>
              <a:rPr lang="en-US" dirty="0" err="1"/>
              <a:t>Uspot</a:t>
            </a:r>
            <a:r>
              <a:rPr lang="en-US" dirty="0"/>
              <a:t> generates a curated shortlist of top candidate matches and specifically identifies </a:t>
            </a:r>
            <a:r>
              <a:rPr lang="en-US" b="1" dirty="0"/>
              <a:t>who in your immediate personal contact list can provide the warmest intro</a:t>
            </a:r>
            <a:r>
              <a:rPr lang="en-US" dirty="0"/>
              <a:t>.</a:t>
            </a:r>
          </a:p>
          <a:p>
            <a:r>
              <a:rPr lang="en-US" dirty="0"/>
              <a:t>This turns unstructured, forgotten personal data into actionable strategic intelligence.</a:t>
            </a:r>
          </a:p>
          <a:p>
            <a:endParaRPr lang="en-US" dirty="0"/>
          </a:p>
        </p:txBody>
      </p:sp>
      <p:sp>
        <p:nvSpPr>
          <p:cNvPr id="4" name="Slide Number Placeholder 3"/>
          <p:cNvSpPr>
            <a:spLocks noGrp="1"/>
          </p:cNvSpPr>
          <p:nvPr>
            <p:ph type="sldNum" sz="quarter" idx="5"/>
          </p:nvPr>
        </p:nvSpPr>
        <p:spPr/>
        <p:txBody>
          <a:bodyPr/>
          <a:lstStyle/>
          <a:p>
            <a:fld id="{B4993A78-7F49-4850-8161-D988F36F3425}" type="slidenum">
              <a:rPr lang="en-US" smtClean="0"/>
              <a:t>12</a:t>
            </a:fld>
            <a:endParaRPr lang="en-US"/>
          </a:p>
        </p:txBody>
      </p:sp>
    </p:spTree>
    <p:extLst>
      <p:ext uri="{BB962C8B-B14F-4D97-AF65-F5344CB8AC3E}">
        <p14:creationId xmlns:p14="http://schemas.microsoft.com/office/powerpoint/2010/main" val="381053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software for one-person companies also requires innovating on business and monetization models. Traditional enterprise software relies on bloated annual contracts or seat-based subscriptions—which make no sense for a solo entrepreneur.</a:t>
            </a:r>
          </a:p>
          <a:p>
            <a:r>
              <a:rPr lang="en-US" dirty="0" err="1"/>
              <a:t>Uspot</a:t>
            </a:r>
            <a:r>
              <a:rPr lang="en-US" dirty="0"/>
              <a:t> is testing a </a:t>
            </a:r>
            <a:r>
              <a:rPr lang="en-US" b="1" dirty="0"/>
              <a:t>transparent consumption-based model</a:t>
            </a:r>
            <a:r>
              <a:rPr lang="en-US" dirty="0"/>
              <a:t>:</a:t>
            </a:r>
          </a:p>
          <a:p>
            <a:pPr marL="171450" lvl="0" indent="-171450">
              <a:buFont typeface="Arial" panose="020B0604020202020204" pitchFamily="34" charset="0"/>
              <a:buChar char="•"/>
            </a:pPr>
            <a:r>
              <a:rPr lang="en-US" b="1" dirty="0"/>
              <a:t>Standard Tier:</a:t>
            </a:r>
            <a:r>
              <a:rPr lang="en-US" dirty="0"/>
              <a:t> $10 per month, which covers base operational credits with pay-as-you-go scaling for power usage.</a:t>
            </a:r>
          </a:p>
          <a:p>
            <a:pPr marL="171450" lvl="0" indent="-171450">
              <a:buFont typeface="Arial" panose="020B0604020202020204" pitchFamily="34" charset="0"/>
              <a:buChar char="•"/>
            </a:pPr>
            <a:r>
              <a:rPr lang="en-US" b="1" dirty="0"/>
              <a:t>Community Promo:</a:t>
            </a:r>
            <a:r>
              <a:rPr lang="en-US" dirty="0"/>
              <a:t> For listeners and early adopters, entering the promo code </a:t>
            </a:r>
            <a:r>
              <a:rPr lang="en-US" sz="1200" b="1" kern="1200" dirty="0">
                <a:solidFill>
                  <a:schemeClr val="tx1"/>
                </a:solidFill>
                <a:latin typeface="+mn-lt"/>
                <a:ea typeface="+mn-ea"/>
                <a:cs typeface="+mn-cs"/>
              </a:rPr>
              <a:t>brain the green</a:t>
            </a:r>
            <a:r>
              <a:rPr lang="en-US" dirty="0"/>
              <a:t> locks in a discounted rate of </a:t>
            </a:r>
            <a:r>
              <a:rPr lang="en-US" b="1" dirty="0"/>
              <a:t>$7 per month</a:t>
            </a:r>
            <a:r>
              <a:rPr lang="en-US" dirty="0"/>
              <a:t>.</a:t>
            </a:r>
          </a:p>
          <a:p>
            <a:r>
              <a:rPr lang="en-US" dirty="0"/>
              <a:t>This model aligns software costs directly with business value and usage, making enterprise-grade AI tools accessible to every solo operator globally.</a:t>
            </a:r>
          </a:p>
          <a:p>
            <a:endParaRPr lang="en-US" dirty="0"/>
          </a:p>
        </p:txBody>
      </p:sp>
      <p:sp>
        <p:nvSpPr>
          <p:cNvPr id="4" name="Slide Number Placeholder 3"/>
          <p:cNvSpPr>
            <a:spLocks noGrp="1"/>
          </p:cNvSpPr>
          <p:nvPr>
            <p:ph type="sldNum" sz="quarter" idx="5"/>
          </p:nvPr>
        </p:nvSpPr>
        <p:spPr/>
        <p:txBody>
          <a:bodyPr/>
          <a:lstStyle/>
          <a:p>
            <a:fld id="{B4993A78-7F49-4850-8161-D988F36F3425}" type="slidenum">
              <a:rPr lang="en-US" smtClean="0"/>
              <a:t>13</a:t>
            </a:fld>
            <a:endParaRPr lang="en-US"/>
          </a:p>
        </p:txBody>
      </p:sp>
    </p:spTree>
    <p:extLst>
      <p:ext uri="{BB962C8B-B14F-4D97-AF65-F5344CB8AC3E}">
        <p14:creationId xmlns:p14="http://schemas.microsoft.com/office/powerpoint/2010/main" val="211872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put this moment in historical perspective, think back twenty years. The original web boom allowed millions of small businesses to build online storefronts and reach a global market for the first time.</a:t>
            </a:r>
          </a:p>
          <a:p>
            <a:r>
              <a:rPr lang="en-US" dirty="0"/>
              <a:t>Today, Agentic AI and the Second Brain represent </a:t>
            </a:r>
            <a:r>
              <a:rPr lang="en-US" b="1" dirty="0"/>
              <a:t>the ultimate democratization of leverage</a:t>
            </a:r>
            <a:r>
              <a:rPr lang="en-US" dirty="0"/>
              <a:t>.</a:t>
            </a:r>
          </a:p>
          <a:p>
            <a:r>
              <a:rPr lang="en-US" dirty="0"/>
              <a:t>A single individual, operating with a Second Brain memory core and agentic cloud helpers, can now achieve the memory, reach, operational capacity, and market leverage of a 20-person enterprise. The traditional overhead required to run a business is disappearing, clearing the path for the </a:t>
            </a:r>
            <a:r>
              <a:rPr lang="en-US" dirty="0" err="1"/>
              <a:t>Superpreneur</a:t>
            </a:r>
            <a:r>
              <a:rPr lang="en-US" dirty="0"/>
              <a:t> era.</a:t>
            </a:r>
          </a:p>
          <a:p>
            <a:endParaRPr lang="en-US" dirty="0"/>
          </a:p>
        </p:txBody>
      </p:sp>
      <p:sp>
        <p:nvSpPr>
          <p:cNvPr id="4" name="Slide Number Placeholder 3"/>
          <p:cNvSpPr>
            <a:spLocks noGrp="1"/>
          </p:cNvSpPr>
          <p:nvPr>
            <p:ph type="sldNum" sz="quarter" idx="5"/>
          </p:nvPr>
        </p:nvSpPr>
        <p:spPr/>
        <p:txBody>
          <a:bodyPr/>
          <a:lstStyle/>
          <a:p>
            <a:fld id="{B4993A78-7F49-4850-8161-D988F36F3425}" type="slidenum">
              <a:rPr lang="en-US" smtClean="0"/>
              <a:t>14</a:t>
            </a:fld>
            <a:endParaRPr lang="en-US"/>
          </a:p>
        </p:txBody>
      </p:sp>
    </p:spTree>
    <p:extLst>
      <p:ext uri="{BB962C8B-B14F-4D97-AF65-F5344CB8AC3E}">
        <p14:creationId xmlns:p14="http://schemas.microsoft.com/office/powerpoint/2010/main" val="3866948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summarize the key strategic takeaways that define this transformation:</a:t>
            </a:r>
          </a:p>
          <a:p>
            <a:pPr marL="228600" lvl="0" indent="-228600">
              <a:buFont typeface="+mj-lt"/>
              <a:buAutoNum type="arabicPeriod"/>
            </a:pPr>
            <a:r>
              <a:rPr lang="en-US" b="1" dirty="0"/>
              <a:t>Engine vs. Harness:</a:t>
            </a:r>
            <a:r>
              <a:rPr lang="en-US" dirty="0"/>
              <a:t> Understand that raw LLM horsepower is a commodity. True organizational capability comes from your personal harness—how well your tools steer AI models toward your goals.</a:t>
            </a:r>
          </a:p>
          <a:p>
            <a:pPr marL="228600" lvl="0" indent="-228600">
              <a:buFont typeface="+mj-lt"/>
              <a:buAutoNum type="arabicPeriod"/>
            </a:pPr>
            <a:r>
              <a:rPr lang="en-US" b="1" dirty="0"/>
              <a:t>Macro Solo Growth:</a:t>
            </a:r>
            <a:r>
              <a:rPr lang="en-US" dirty="0"/>
              <a:t> 86% of new business formations are intentionally designed to remain employee-free. Solopreneurs are leveraging software agents instead of headcount.</a:t>
            </a:r>
          </a:p>
          <a:p>
            <a:pPr marL="228600" lvl="0" indent="-228600">
              <a:buFont typeface="+mj-lt"/>
              <a:buAutoNum type="arabicPeriod"/>
            </a:pPr>
            <a:r>
              <a:rPr lang="en-US" b="1" dirty="0"/>
              <a:t>The </a:t>
            </a:r>
            <a:r>
              <a:rPr lang="en-US" b="1" dirty="0" err="1"/>
              <a:t>Superpreneur</a:t>
            </a:r>
            <a:r>
              <a:rPr lang="en-US" b="1" dirty="0"/>
              <a:t> Skill Spectrum:</a:t>
            </a:r>
            <a:r>
              <a:rPr lang="en-US" dirty="0"/>
              <a:t> Instead of siloing skills, a single entrepreneur now orchestrates creative design, marketing campaigns, data analysis, and product development simultaneously using agentic workflows.</a:t>
            </a:r>
          </a:p>
          <a:p>
            <a:r>
              <a:rPr lang="en-US" dirty="0"/>
              <a:t>By uniting intelligent engines with domain-specific harnesses, solo operators can scale outputs without scaling organizational complexity.</a:t>
            </a:r>
          </a:p>
          <a:p>
            <a:endParaRPr lang="en-US" dirty="0"/>
          </a:p>
        </p:txBody>
      </p:sp>
      <p:sp>
        <p:nvSpPr>
          <p:cNvPr id="4" name="Slide Number Placeholder 3"/>
          <p:cNvSpPr>
            <a:spLocks noGrp="1"/>
          </p:cNvSpPr>
          <p:nvPr>
            <p:ph type="sldNum" sz="quarter" idx="5"/>
          </p:nvPr>
        </p:nvSpPr>
        <p:spPr/>
        <p:txBody>
          <a:bodyPr/>
          <a:lstStyle/>
          <a:p>
            <a:fld id="{B4993A78-7F49-4850-8161-D988F36F3425}" type="slidenum">
              <a:rPr lang="en-US" smtClean="0"/>
              <a:t>15</a:t>
            </a:fld>
            <a:endParaRPr lang="en-US"/>
          </a:p>
        </p:txBody>
      </p:sp>
    </p:spTree>
    <p:extLst>
      <p:ext uri="{BB962C8B-B14F-4D97-AF65-F5344CB8AC3E}">
        <p14:creationId xmlns:p14="http://schemas.microsoft.com/office/powerpoint/2010/main" val="6706490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let's look at the complete operational architecture from start to finish.</a:t>
            </a:r>
          </a:p>
          <a:p>
            <a:r>
              <a:rPr lang="en-US" dirty="0"/>
              <a:t>Unstructured data sits across your daily work life—emails, shared docs, meeting transcripts, social posts, and unorganized notes.</a:t>
            </a:r>
          </a:p>
          <a:p>
            <a:r>
              <a:rPr lang="en-US" dirty="0"/>
              <a:t>When ingested into a unified </a:t>
            </a:r>
            <a:r>
              <a:rPr lang="en-US" b="1" dirty="0"/>
              <a:t>Second Brain Memory Core</a:t>
            </a:r>
            <a:r>
              <a:rPr lang="en-US" dirty="0"/>
              <a:t>, always-on </a:t>
            </a:r>
            <a:r>
              <a:rPr lang="en-US" b="1" dirty="0"/>
              <a:t>Cloud Agents</a:t>
            </a:r>
            <a:r>
              <a:rPr lang="en-US" dirty="0"/>
              <a:t> operate continuously behind the scenes:</a:t>
            </a:r>
          </a:p>
          <a:p>
            <a:pPr marL="171450" lvl="0" indent="-171450">
              <a:buFont typeface="Arial" panose="020B0604020202020204" pitchFamily="34" charset="0"/>
              <a:buChar char="•"/>
            </a:pPr>
            <a:r>
              <a:rPr lang="en-US" dirty="0"/>
              <a:t>They automatically perform natural-language </a:t>
            </a:r>
            <a:r>
              <a:rPr lang="en-US" b="1" dirty="0"/>
              <a:t>Lead Scoring</a:t>
            </a:r>
            <a:r>
              <a:rPr lang="en-US" dirty="0"/>
              <a:t> based on your ideal buyer profile.</a:t>
            </a:r>
          </a:p>
          <a:p>
            <a:pPr marL="171450" lvl="0" indent="-171450">
              <a:buFont typeface="Arial" panose="020B0604020202020204" pitchFamily="34" charset="0"/>
              <a:buChar char="•"/>
            </a:pPr>
            <a:r>
              <a:rPr lang="en-US" dirty="0"/>
              <a:t>They continuously aggregate market feedback and network engagement.</a:t>
            </a:r>
          </a:p>
          <a:p>
            <a:pPr marL="171450" lvl="0" indent="-171450">
              <a:buFont typeface="Arial" panose="020B0604020202020204" pitchFamily="34" charset="0"/>
              <a:buChar char="•"/>
            </a:pPr>
            <a:r>
              <a:rPr lang="en-US" dirty="0"/>
              <a:t>They deliver proactive </a:t>
            </a:r>
            <a:r>
              <a:rPr lang="en-US" b="1" dirty="0"/>
              <a:t>Executive Briefings</a:t>
            </a:r>
            <a:r>
              <a:rPr lang="en-US" dirty="0"/>
              <a:t> every morning, keeping you focused on high-value business moves.</a:t>
            </a:r>
          </a:p>
          <a:p>
            <a:r>
              <a:rPr lang="en-US" dirty="0"/>
              <a:t>This is how we transition from drowning in data to executing high-leverage business actions. Thank you!</a:t>
            </a:r>
          </a:p>
          <a:p>
            <a:endParaRPr lang="en-US" dirty="0"/>
          </a:p>
          <a:p>
            <a:endParaRPr lang="en-US" dirty="0"/>
          </a:p>
          <a:p>
            <a:endParaRPr lang="en-US" dirty="0"/>
          </a:p>
          <a:p>
            <a:r>
              <a:rPr lang="en-US" dirty="0"/>
              <a:t>https://www.youtube.com/watch?v=zS0eTmgl5z4</a:t>
            </a:r>
          </a:p>
        </p:txBody>
      </p:sp>
      <p:sp>
        <p:nvSpPr>
          <p:cNvPr id="4" name="Slide Number Placeholder 3"/>
          <p:cNvSpPr>
            <a:spLocks noGrp="1"/>
          </p:cNvSpPr>
          <p:nvPr>
            <p:ph type="sldNum" sz="quarter" idx="5"/>
          </p:nvPr>
        </p:nvSpPr>
        <p:spPr/>
        <p:txBody>
          <a:bodyPr/>
          <a:lstStyle/>
          <a:p>
            <a:fld id="{B4993A78-7F49-4850-8161-D988F36F3425}" type="slidenum">
              <a:rPr lang="en-US" smtClean="0"/>
              <a:t>16</a:t>
            </a:fld>
            <a:endParaRPr lang="en-US"/>
          </a:p>
        </p:txBody>
      </p:sp>
    </p:spTree>
    <p:extLst>
      <p:ext uri="{BB962C8B-B14F-4D97-AF65-F5344CB8AC3E}">
        <p14:creationId xmlns:p14="http://schemas.microsoft.com/office/powerpoint/2010/main" val="467474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3C9E28-1E21-7B7A-33AA-3EF783C671A2}"/>
              </a:ext>
            </a:extLst>
          </p:cNvPr>
          <p:cNvSpPr>
            <a:spLocks noGrp="1"/>
          </p:cNvSpPr>
          <p:nvPr>
            <p:ph type="dt" sz="half" idx="10"/>
          </p:nvPr>
        </p:nvSpPr>
        <p:spPr/>
        <p:txBody>
          <a:bodyPr/>
          <a:lstStyle/>
          <a:p>
            <a:fld id="{5D7439DA-167E-4206-84A8-754D17DA3059}" type="datetimeFigureOut">
              <a:rPr lang="en-US" smtClean="0"/>
              <a:t>10/21/2026</a:t>
            </a:fld>
            <a:endParaRPr lang="en-US"/>
          </a:p>
        </p:txBody>
      </p:sp>
      <p:sp>
        <p:nvSpPr>
          <p:cNvPr id="3" name="Footer Placeholder 2">
            <a:extLst>
              <a:ext uri="{FF2B5EF4-FFF2-40B4-BE49-F238E27FC236}">
                <a16:creationId xmlns:a16="http://schemas.microsoft.com/office/drawing/2014/main" id="{5C3B50AC-F557-76C6-C3B7-C253BC0C66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69DF2D-332C-E00E-6A5C-861BDB54426D}"/>
              </a:ext>
            </a:extLst>
          </p:cNvPr>
          <p:cNvSpPr>
            <a:spLocks noGrp="1"/>
          </p:cNvSpPr>
          <p:nvPr>
            <p:ph type="sldNum" sz="quarter" idx="12"/>
          </p:nvPr>
        </p:nvSpPr>
        <p:spPr/>
        <p:txBody>
          <a:bodyPr/>
          <a:lstStyle/>
          <a:p>
            <a:fld id="{05C246F6-FD77-4B5F-AFCA-8F25C2DFC698}" type="slidenum">
              <a:rPr lang="en-US" smtClean="0"/>
              <a:t>‹#›</a:t>
            </a:fld>
            <a:endParaRPr lang="en-US"/>
          </a:p>
        </p:txBody>
      </p:sp>
    </p:spTree>
    <p:extLst>
      <p:ext uri="{BB962C8B-B14F-4D97-AF65-F5344CB8AC3E}">
        <p14:creationId xmlns:p14="http://schemas.microsoft.com/office/powerpoint/2010/main" val="370417484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4DDD0E-9672-9DCF-2418-2B7633DBEF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2C3D30-4054-09C6-AF04-394C715238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EA7110-2D83-AE1D-CB74-50B9A06B0B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7439DA-167E-4206-84A8-754D17DA3059}" type="datetimeFigureOut">
              <a:rPr lang="en-US" smtClean="0"/>
              <a:t>10/21/2026</a:t>
            </a:fld>
            <a:endParaRPr lang="en-US"/>
          </a:p>
        </p:txBody>
      </p:sp>
      <p:sp>
        <p:nvSpPr>
          <p:cNvPr id="5" name="Footer Placeholder 4">
            <a:extLst>
              <a:ext uri="{FF2B5EF4-FFF2-40B4-BE49-F238E27FC236}">
                <a16:creationId xmlns:a16="http://schemas.microsoft.com/office/drawing/2014/main" id="{5CF8027F-837D-2114-917D-E47CC8F927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81A6C05-D876-A7A0-9ED9-7EC1197266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C246F6-FD77-4B5F-AFCA-8F25C2DFC698}" type="slidenum">
              <a:rPr lang="en-US" smtClean="0"/>
              <a:t>‹#›</a:t>
            </a:fld>
            <a:endParaRPr lang="en-US"/>
          </a:p>
        </p:txBody>
      </p:sp>
    </p:spTree>
    <p:extLst>
      <p:ext uri="{BB962C8B-B14F-4D97-AF65-F5344CB8AC3E}">
        <p14:creationId xmlns:p14="http://schemas.microsoft.com/office/powerpoint/2010/main" val="266884052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B2D7EF-2341-2C85-0FF3-409B9745A75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F07071-78A5-A1D2-B556-EF2C2DBC3CE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EC34BD-1DA4-4C9C-55C7-BA523216E63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150B47-DD4E-2E0F-8A06-6BE978F2F3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0B1F3F-0C7D-06C4-6351-9FDA0DF847D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D5D6A4-573B-75F1-60CC-3C35E06A4F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B9B754-6568-B9B2-2824-EE7289CD77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816168-F404-2A33-58E1-82038D4F30A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3C35BF-0B7E-2C58-F119-2D6680ADCA7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C50FF8-162B-A96C-CEFC-22B99AB91F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C51C79-1FE7-7F34-4901-F4356EC180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8DD4B-EE97-627C-AA98-63AB55E7EB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1843DA-FDFA-26DF-FA9D-A1BC8F59C2F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149EB5-5F53-7A45-DD5B-EB3EE7DA85E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5110F5-9F0A-610E-DF16-E440B5E5EE7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8B6EEE-005B-4414-3921-F5AD79017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652669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2427</Words>
  <Application>Microsoft Office PowerPoint</Application>
  <PresentationFormat>寬螢幕</PresentationFormat>
  <Paragraphs>105</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2026-09-17T10:01:31Z</dcterms:created>
  <dcterms:modified xsi:type="dcterms:W3CDTF">2026-10-21T02:51:34Z</dcterms:modified>
</cp:coreProperties>
</file>