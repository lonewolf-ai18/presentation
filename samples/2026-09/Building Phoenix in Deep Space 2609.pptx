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35FB98-3C57-455B-A8BD-7CE46D64D2B1}" v="30" dt="2026-09-28T06:55:09.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07" autoAdjust="0"/>
    <p:restoredTop sz="69801" autoAdjust="0"/>
  </p:normalViewPr>
  <p:slideViewPr>
    <p:cSldViewPr snapToGrid="0">
      <p:cViewPr varScale="1">
        <p:scale>
          <a:sx n="73" d="100"/>
          <a:sy n="73" d="100"/>
        </p:scale>
        <p:origin x="60"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8T06:56:57.208" v="39" actId="166"/>
      <pc:docMkLst>
        <pc:docMk/>
      </pc:docMkLst>
      <pc:sldChg chg="addSp modSp mod modAnim modNotes modNotesTx">
        <pc:chgData name="Lai, Wilson" userId="2840974a-0d84-4886-90a9-9a3ed79f3a48" providerId="ADAL" clId="{9F23B798-9E84-4552-BA63-E776E805C424}" dt="2026-09-28T06:56:57.208" v="39" actId="166"/>
        <pc:sldMkLst>
          <pc:docMk/>
          <pc:sldMk cId="0" sldId="257"/>
        </pc:sldMkLst>
        <pc:spChg chg="add mod">
          <ac:chgData name="Lai, Wilson" userId="2840974a-0d84-4886-90a9-9a3ed79f3a48" providerId="ADAL" clId="{9F23B798-9E84-4552-BA63-E776E805C424}" dt="2026-09-28T06:33:02.726" v="12" actId="164"/>
          <ac:spMkLst>
            <pc:docMk/>
            <pc:sldMk cId="0" sldId="257"/>
            <ac:spMk id="5" creationId="{10EAB891-F597-2269-65ED-45A18C30095B}"/>
          </ac:spMkLst>
        </pc:spChg>
        <pc:grpChg chg="add mod">
          <ac:chgData name="Lai, Wilson" userId="2840974a-0d84-4886-90a9-9a3ed79f3a48" providerId="ADAL" clId="{9F23B798-9E84-4552-BA63-E776E805C424}" dt="2026-09-28T06:33:02.726" v="12" actId="164"/>
          <ac:grpSpMkLst>
            <pc:docMk/>
            <pc:sldMk cId="0" sldId="257"/>
            <ac:grpSpMk id="6" creationId="{0971DBEC-76E1-F3C0-A0CE-0867DFA7512A}"/>
          </ac:grpSpMkLst>
        </pc:grpChg>
        <pc:picChg chg="ord">
          <ac:chgData name="Lai, Wilson" userId="2840974a-0d84-4886-90a9-9a3ed79f3a48" providerId="ADAL" clId="{9F23B798-9E84-4552-BA63-E776E805C424}" dt="2026-09-28T06:56:57.208" v="39" actId="166"/>
          <ac:picMkLst>
            <pc:docMk/>
            <pc:sldMk cId="0" sldId="257"/>
            <ac:picMk id="2" creationId="{00000000-0000-0000-0000-000000000000}"/>
          </ac:picMkLst>
        </pc:picChg>
        <pc:picChg chg="add mod">
          <ac:chgData name="Lai, Wilson" userId="2840974a-0d84-4886-90a9-9a3ed79f3a48" providerId="ADAL" clId="{9F23B798-9E84-4552-BA63-E776E805C424}" dt="2026-09-28T06:33:02.726" v="12" actId="164"/>
          <ac:picMkLst>
            <pc:docMk/>
            <pc:sldMk cId="0" sldId="257"/>
            <ac:picMk id="3" creationId="{2B834F3A-9869-AA69-2439-54DCD7AA938A}"/>
          </ac:picMkLst>
        </pc:picChg>
      </pc:sldChg>
      <pc:sldChg chg="modNotes">
        <pc:chgData name="Lai, Wilson" userId="2840974a-0d84-4886-90a9-9a3ed79f3a48" providerId="ADAL" clId="{9F23B798-9E84-4552-BA63-E776E805C424}" dt="2026-09-28T06:55:09.035" v="24"/>
        <pc:sldMkLst>
          <pc:docMk/>
          <pc:sldMk cId="0" sldId="258"/>
        </pc:sldMkLst>
      </pc:sldChg>
      <pc:sldChg chg="modNotes modNotesTx">
        <pc:chgData name="Lai, Wilson" userId="2840974a-0d84-4886-90a9-9a3ed79f3a48" providerId="ADAL" clId="{9F23B798-9E84-4552-BA63-E776E805C424}" dt="2026-09-28T06:56:28.442" v="38" actId="14"/>
        <pc:sldMkLst>
          <pc:docMk/>
          <pc:sldMk cId="0" sldId="259"/>
        </pc:sldMkLst>
      </pc:sldChg>
      <pc:sldChg chg="modNotes">
        <pc:chgData name="Lai, Wilson" userId="2840974a-0d84-4886-90a9-9a3ed79f3a48" providerId="ADAL" clId="{9F23B798-9E84-4552-BA63-E776E805C424}" dt="2026-09-28T06:55:09.035" v="24"/>
        <pc:sldMkLst>
          <pc:docMk/>
          <pc:sldMk cId="0" sldId="260"/>
        </pc:sldMkLst>
      </pc:sldChg>
      <pc:sldChg chg="modNotes modNotesTx">
        <pc:chgData name="Lai, Wilson" userId="2840974a-0d84-4886-90a9-9a3ed79f3a48" providerId="ADAL" clId="{9F23B798-9E84-4552-BA63-E776E805C424}" dt="2026-09-28T06:56:15.569" v="34" actId="14"/>
        <pc:sldMkLst>
          <pc:docMk/>
          <pc:sldMk cId="0" sldId="261"/>
        </pc:sldMkLst>
      </pc:sldChg>
      <pc:sldChg chg="modNotes">
        <pc:chgData name="Lai, Wilson" userId="2840974a-0d84-4886-90a9-9a3ed79f3a48" providerId="ADAL" clId="{9F23B798-9E84-4552-BA63-E776E805C424}" dt="2026-09-28T06:55:09.035" v="24"/>
        <pc:sldMkLst>
          <pc:docMk/>
          <pc:sldMk cId="0" sldId="262"/>
        </pc:sldMkLst>
      </pc:sldChg>
      <pc:sldChg chg="modNotes modNotesTx">
        <pc:chgData name="Lai, Wilson" userId="2840974a-0d84-4886-90a9-9a3ed79f3a48" providerId="ADAL" clId="{9F23B798-9E84-4552-BA63-E776E805C424}" dt="2026-09-28T06:56:03.299" v="30" actId="14"/>
        <pc:sldMkLst>
          <pc:docMk/>
          <pc:sldMk cId="0" sldId="263"/>
        </pc:sldMkLst>
      </pc:sldChg>
      <pc:sldChg chg="modNotes">
        <pc:chgData name="Lai, Wilson" userId="2840974a-0d84-4886-90a9-9a3ed79f3a48" providerId="ADAL" clId="{9F23B798-9E84-4552-BA63-E776E805C424}" dt="2026-09-28T06:55:09.035" v="24"/>
        <pc:sldMkLst>
          <pc:docMk/>
          <pc:sldMk cId="0" sldId="264"/>
        </pc:sldMkLst>
      </pc:sldChg>
      <pc:sldChg chg="modNotes modNotesTx">
        <pc:chgData name="Lai, Wilson" userId="2840974a-0d84-4886-90a9-9a3ed79f3a48" providerId="ADAL" clId="{9F23B798-9E84-4552-BA63-E776E805C424}" dt="2026-09-28T06:55:54.232" v="28" actId="14"/>
        <pc:sldMkLst>
          <pc:docMk/>
          <pc:sldMk cId="0" sldId="265"/>
        </pc:sldMkLst>
      </pc:sldChg>
      <pc:sldChg chg="addSp delSp mod modNotes modNotesTx">
        <pc:chgData name="Lai, Wilson" userId="2840974a-0d84-4886-90a9-9a3ed79f3a48" providerId="ADAL" clId="{9F23B798-9E84-4552-BA63-E776E805C424}" dt="2026-09-28T06:55:46.713" v="26" actId="14"/>
        <pc:sldMkLst>
          <pc:docMk/>
          <pc:sldMk cId="0" sldId="266"/>
        </pc:sldMkLst>
        <pc:spChg chg="add del">
          <ac:chgData name="Lai, Wilson" userId="2840974a-0d84-4886-90a9-9a3ed79f3a48" providerId="ADAL" clId="{9F23B798-9E84-4552-BA63-E776E805C424}" dt="2026-09-28T06:53:31.316" v="17" actId="22"/>
          <ac:spMkLst>
            <pc:docMk/>
            <pc:sldMk cId="0" sldId="266"/>
            <ac:spMk id="4" creationId="{11CAD947-B5C7-B0B5-3A6D-9F17A71EC65A}"/>
          </ac:spMkLst>
        </pc:spChg>
      </pc:sldChg>
      <pc:sldChg chg="modNotes">
        <pc:chgData name="Lai, Wilson" userId="2840974a-0d84-4886-90a9-9a3ed79f3a48" providerId="ADAL" clId="{9F23B798-9E84-4552-BA63-E776E805C424}" dt="2026-09-28T06:55:09.035" v="24"/>
        <pc:sldMkLst>
          <pc:docMk/>
          <pc:sldMk cId="0" sldId="267"/>
        </pc:sldMkLst>
      </pc:sldChg>
      <pc:sldChg chg="modNotes modNotesTx">
        <pc:chgData name="Lai, Wilson" userId="2840974a-0d84-4886-90a9-9a3ed79f3a48" providerId="ADAL" clId="{9F23B798-9E84-4552-BA63-E776E805C424}" dt="2026-09-28T06:55:09.035" v="24"/>
        <pc:sldMkLst>
          <pc:docMk/>
          <pc:sldMk cId="0" sldId="268"/>
        </pc:sldMkLst>
      </pc:sldChg>
      <pc:sldChg chg="modNotes modNotesTx">
        <pc:chgData name="Lai, Wilson" userId="2840974a-0d84-4886-90a9-9a3ed79f3a48" providerId="ADAL" clId="{9F23B798-9E84-4552-BA63-E776E805C424}" dt="2026-09-28T06:55:09.035" v="24"/>
        <pc:sldMkLst>
          <pc:docMk/>
          <pc:sldMk cId="0" sldId="269"/>
        </pc:sldMkLst>
      </pc:sldChg>
      <pc:sldChg chg="modNotes">
        <pc:chgData name="Lai, Wilson" userId="2840974a-0d84-4886-90a9-9a3ed79f3a48" providerId="ADAL" clId="{9F23B798-9E84-4552-BA63-E776E805C424}" dt="2026-09-28T06:55:03.061" v="23"/>
        <pc:sldMkLst>
          <pc:docMk/>
          <pc:sldMk cId="0" sldId="270"/>
        </pc:sldMkLst>
      </pc:sldChg>
      <pc:sldChg chg="modNotes modNotesTx">
        <pc:chgData name="Lai, Wilson" userId="2840974a-0d84-4886-90a9-9a3ed79f3a48" providerId="ADAL" clId="{9F23B798-9E84-4552-BA63-E776E805C424}" dt="2026-09-28T06:55:03.061" v="23"/>
        <pc:sldMkLst>
          <pc:docMk/>
          <pc:sldMk cId="937844472"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851CB4-8564-4AEB-8DE2-932BFDCB6EC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82F9B-FEA8-48CA-A8F3-21699448B3A2}" type="slidenum">
              <a:rPr lang="en-US" smtClean="0"/>
              <a:t>‹#›</a:t>
            </a:fld>
            <a:endParaRPr lang="en-US"/>
          </a:p>
        </p:txBody>
      </p:sp>
    </p:spTree>
    <p:extLst>
      <p:ext uri="{BB962C8B-B14F-4D97-AF65-F5344CB8AC3E}">
        <p14:creationId xmlns:p14="http://schemas.microsoft.com/office/powerpoint/2010/main" val="75365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&amp; Welcome:</a:t>
            </a:r>
            <a:r>
              <a:rPr lang="en-US" dirty="0"/>
              <a:t> Welcome everyone. Today, we’re celebrating a huge milestone: Phoenix passing </a:t>
            </a:r>
            <a:r>
              <a:rPr lang="en-US" b="1" dirty="0"/>
              <a:t>10,000 GitHub stars</a:t>
            </a:r>
            <a:r>
              <a:rPr lang="en-US" dirty="0"/>
              <a:t>. But more than a star count, this is the story of how an open-source "stadium project" became the standard for AI observability.</a:t>
            </a:r>
          </a:p>
          <a:p>
            <a:pPr lvl="0"/>
            <a:r>
              <a:rPr lang="en-US" b="1" dirty="0"/>
              <a:t>The "Stadium Project" Ethos:</a:t>
            </a:r>
            <a:r>
              <a:rPr lang="en-US" dirty="0"/>
              <a:t> When you look at massive platforms, you might imagine a giant enterprise floor with hundreds of engineers. Phoenix was built by a lean core team of just </a:t>
            </a:r>
            <a:r>
              <a:rPr lang="en-US" b="1" dirty="0"/>
              <a:t>6 to 7 engineers</a:t>
            </a:r>
            <a:r>
              <a:rPr lang="en-US" dirty="0"/>
              <a:t>. We call this a </a:t>
            </a:r>
            <a:r>
              <a:rPr lang="en-US" i="1" dirty="0"/>
              <a:t>stadium project</a:t>
            </a:r>
            <a:r>
              <a:rPr lang="en-US" dirty="0"/>
              <a:t>—a tiny team building the infrastructure that thousands of developers and enterprise teams run on globally every single day.</a:t>
            </a:r>
          </a:p>
          <a:p>
            <a:pPr lvl="0"/>
            <a:r>
              <a:rPr lang="en-US" b="1" dirty="0"/>
              <a:t>The Core Problem:</a:t>
            </a:r>
            <a:r>
              <a:rPr lang="en-US" dirty="0"/>
              <a:t> Why did we build Phoenix? In late 2022 and early 2023, as teams moved from traditional ML to generative AI, a deep trust deficit emerged between practitioners and traditional black-box enterprise AI vendors. Developers didn't trust closed systems to handle their raw prompts or unstructured text payloads.</a:t>
            </a:r>
          </a:p>
          <a:p>
            <a:pPr lvl="0"/>
            <a:r>
              <a:rPr lang="en-US" b="1" dirty="0"/>
              <a:t>The Solution:</a:t>
            </a:r>
            <a:r>
              <a:rPr lang="en-US" dirty="0"/>
              <a:t> The antidote to this trust deficit was </a:t>
            </a:r>
            <a:r>
              <a:rPr lang="en-US" b="1" dirty="0"/>
              <a:t>radical transparency</a:t>
            </a:r>
            <a:r>
              <a:rPr lang="en-US" dirty="0"/>
              <a:t>, rapid feedback loops, and bypassing six-month corporate procurement cycles entirely. Engineers could </a:t>
            </a:r>
            <a:r>
              <a:rPr lang="en-US" sz="1200" kern="1200" dirty="0">
                <a:solidFill>
                  <a:schemeClr val="tx1"/>
                </a:solidFill>
                <a:latin typeface="+mn-lt"/>
                <a:ea typeface="+mn-ea"/>
                <a:cs typeface="+mn-cs"/>
              </a:rPr>
              <a:t>pip install</a:t>
            </a:r>
            <a:r>
              <a:rPr lang="en-US" dirty="0"/>
              <a:t> Phoenix and gain immediate, local visibility into their LLMs and RAG pipelines without sending data to third-party SaaS servers.</a:t>
            </a:r>
          </a:p>
          <a:p>
            <a:endParaRPr lang="en-US" dirty="0"/>
          </a:p>
          <a:p>
            <a:endParaRPr lang="en-US" dirty="0"/>
          </a:p>
          <a:p>
            <a:r>
              <a:rPr lang="en-US" dirty="0"/>
              <a:t>How Phoenix became the standard for AI observability</a:t>
            </a:r>
          </a:p>
          <a:p>
            <a:r>
              <a:rPr lang="en-US" dirty="0"/>
              <a:t>https://www.youtube.com/watch?v=osTNToMfiBo</a:t>
            </a:r>
          </a:p>
        </p:txBody>
      </p:sp>
      <p:sp>
        <p:nvSpPr>
          <p:cNvPr id="4" name="Slide Number Placeholder 3"/>
          <p:cNvSpPr>
            <a:spLocks noGrp="1"/>
          </p:cNvSpPr>
          <p:nvPr>
            <p:ph type="sldNum" sz="quarter" idx="5"/>
          </p:nvPr>
        </p:nvSpPr>
        <p:spPr/>
        <p:txBody>
          <a:bodyPr/>
          <a:lstStyle/>
          <a:p>
            <a:fld id="{84382F9B-FEA8-48CA-A8F3-21699448B3A2}" type="slidenum">
              <a:rPr lang="en-US" smtClean="0"/>
              <a:t>1</a:t>
            </a:fld>
            <a:endParaRPr lang="en-US"/>
          </a:p>
        </p:txBody>
      </p:sp>
    </p:spTree>
    <p:extLst>
      <p:ext uri="{BB962C8B-B14F-4D97-AF65-F5344CB8AC3E}">
        <p14:creationId xmlns:p14="http://schemas.microsoft.com/office/powerpoint/2010/main" val="2926389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Catalyst:</a:t>
            </a:r>
            <a:r>
              <a:rPr lang="en-US" dirty="0"/>
              <a:t> When GPT-3 and ChatGPT dropped, traditional DevOps and ML metrics (like mean squared error or simple latency histograms) suddenly failed. Understanding modern AI required a completely new paradigm: visualizing unstructured text, complex prompts, and conversational memory in real time.</a:t>
            </a:r>
          </a:p>
          <a:p>
            <a:pPr lvl="0"/>
            <a:r>
              <a:rPr lang="en-US" b="1" dirty="0"/>
              <a:t>The Technical Breakthrough:</a:t>
            </a:r>
            <a:r>
              <a:rPr lang="en-US" dirty="0"/>
              <a:t> In the early days of </a:t>
            </a:r>
            <a:r>
              <a:rPr lang="en-US" dirty="0" err="1"/>
              <a:t>Arize's</a:t>
            </a:r>
            <a:r>
              <a:rPr lang="en-US" dirty="0"/>
              <a:t> open-source effort, our team was experimenting with clustering techniques. The major "aha!" moment happened when engineer Roger Yang successfully wired up </a:t>
            </a:r>
            <a:r>
              <a:rPr lang="en-US" b="1" dirty="0"/>
              <a:t>UMAP</a:t>
            </a:r>
            <a:r>
              <a:rPr lang="en-US" dirty="0"/>
              <a:t> and </a:t>
            </a:r>
            <a:r>
              <a:rPr lang="en-US" b="1" dirty="0"/>
              <a:t>HDBSCAN</a:t>
            </a:r>
            <a:r>
              <a:rPr lang="en-US" dirty="0"/>
              <a:t> to project high-dimensional text embeddings into interactive 3D point clouds. For the first time, developers could literally see the clusters and topic drift inside a chatbot’s inner workings.</a:t>
            </a:r>
          </a:p>
          <a:p>
            <a:pPr lvl="0"/>
            <a:r>
              <a:rPr lang="en-US" b="1" dirty="0"/>
              <a:t>The Ecosystem Pivot:</a:t>
            </a:r>
            <a:r>
              <a:rPr lang="en-US" dirty="0"/>
              <a:t> As RAG (Retrieval-Augmented Generation) frameworks like </a:t>
            </a:r>
            <a:r>
              <a:rPr lang="en-US" dirty="0" err="1"/>
              <a:t>LlamaIndex</a:t>
            </a:r>
            <a:r>
              <a:rPr lang="en-US" dirty="0"/>
              <a:t> began taking off, we realized that developers urgently needed to inspect the exact retrieved context payloads powering their LLM pipelines. Visualizing these vector embeddings became our immediate pivot point.</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2</a:t>
            </a:fld>
            <a:endParaRPr lang="en-US"/>
          </a:p>
        </p:txBody>
      </p:sp>
    </p:spTree>
    <p:extLst>
      <p:ext uri="{BB962C8B-B14F-4D97-AF65-F5344CB8AC3E}">
        <p14:creationId xmlns:p14="http://schemas.microsoft.com/office/powerpoint/2010/main" val="3989003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Architecture Paradox:</a:t>
            </a:r>
            <a:r>
              <a:rPr lang="en-US" sz="1200" kern="1200" dirty="0">
                <a:solidFill>
                  <a:schemeClr val="tx1"/>
                </a:solidFill>
                <a:effectLst/>
                <a:latin typeface="+mn-lt"/>
                <a:ea typeface="+mn-ea"/>
                <a:cs typeface="+mn-cs"/>
              </a:rPr>
              <a:t> Traditional SaaS applications follow a predictable software engineering blueprint: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Set up a database.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Build containerized services.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Implement authentication and RBAC.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Finally, build UI features. </a:t>
            </a:r>
          </a:p>
          <a:p>
            <a:pPr lvl="0"/>
            <a:r>
              <a:rPr lang="en-US" sz="1200" b="1" kern="1200" dirty="0">
                <a:solidFill>
                  <a:schemeClr val="tx1"/>
                </a:solidFill>
                <a:effectLst/>
                <a:latin typeface="+mn-lt"/>
                <a:ea typeface="+mn-ea"/>
                <a:cs typeface="+mn-cs"/>
              </a:rPr>
              <a:t>The Phoenix Flow:</a:t>
            </a:r>
            <a:r>
              <a:rPr lang="en-US" sz="1200" kern="1200" dirty="0">
                <a:solidFill>
                  <a:schemeClr val="tx1"/>
                </a:solidFill>
                <a:effectLst/>
                <a:latin typeface="+mn-lt"/>
                <a:ea typeface="+mn-ea"/>
                <a:cs typeface="+mn-cs"/>
              </a:rPr>
              <a:t> Phoenix flipped this model entirely upside-down: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Features First (2023):</a:t>
            </a:r>
            <a:r>
              <a:rPr lang="en-US" sz="1200" kern="1200" dirty="0">
                <a:solidFill>
                  <a:schemeClr val="tx1"/>
                </a:solidFill>
                <a:effectLst/>
                <a:latin typeface="+mn-lt"/>
                <a:ea typeface="+mn-ea"/>
                <a:cs typeface="+mn-cs"/>
              </a:rPr>
              <a:t> We started strictly inside a Jupyter notebook extension focusing on pure, immediate visibility for RAG pipelines.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Containerization:</a:t>
            </a:r>
            <a:r>
              <a:rPr lang="en-US" sz="1200" kern="1200" dirty="0">
                <a:solidFill>
                  <a:schemeClr val="tx1"/>
                </a:solidFill>
                <a:effectLst/>
                <a:latin typeface="+mn-lt"/>
                <a:ea typeface="+mn-ea"/>
                <a:cs typeface="+mn-cs"/>
              </a:rPr>
              <a:t> Users were leaving notebooks running for days with millions of telemetry spans. To escape the notebook environment, we published a Docker container before we even had a persistence layer, letting users export traces to custom setups like </a:t>
            </a:r>
            <a:r>
              <a:rPr lang="en-US" sz="1200" kern="1200" dirty="0" err="1">
                <a:solidFill>
                  <a:schemeClr val="tx1"/>
                </a:solidFill>
                <a:effectLst/>
                <a:latin typeface="+mn-lt"/>
                <a:ea typeface="+mn-ea"/>
                <a:cs typeface="+mn-cs"/>
              </a:rPr>
              <a:t>ElasticSearch</a:t>
            </a:r>
            <a:r>
              <a:rPr lang="en-US" sz="1200" kern="1200" dirty="0">
                <a:solidFill>
                  <a:schemeClr val="tx1"/>
                </a:solidFill>
                <a:effectLst/>
                <a:latin typeface="+mn-lt"/>
                <a:ea typeface="+mn-ea"/>
                <a:cs typeface="+mn-cs"/>
              </a:rPr>
              <a:t> or Mongo.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Local Persistence:</a:t>
            </a:r>
            <a:r>
              <a:rPr lang="en-US" sz="1200" kern="1200" dirty="0">
                <a:solidFill>
                  <a:schemeClr val="tx1"/>
                </a:solidFill>
                <a:effectLst/>
                <a:latin typeface="+mn-lt"/>
                <a:ea typeface="+mn-ea"/>
                <a:cs typeface="+mn-cs"/>
              </a:rPr>
              <a:t> Community demand forced us to build structured local persistence using SQLite for lightweight local workflows and PostgreSQL for enterprise scale.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 Enterprise Security:</a:t>
            </a:r>
            <a:r>
              <a:rPr lang="en-US" sz="1200" kern="1200" dirty="0">
                <a:solidFill>
                  <a:schemeClr val="tx1"/>
                </a:solidFill>
                <a:effectLst/>
                <a:latin typeface="+mn-lt"/>
                <a:ea typeface="+mn-ea"/>
                <a:cs typeface="+mn-cs"/>
              </a:rPr>
              <a:t> Enterprise users loved the tool but required auth. We implemented </a:t>
            </a:r>
            <a:r>
              <a:rPr lang="en-US" sz="1200" kern="1200" dirty="0" err="1">
                <a:solidFill>
                  <a:schemeClr val="tx1"/>
                </a:solidFill>
                <a:effectLst/>
                <a:latin typeface="+mn-lt"/>
                <a:ea typeface="+mn-ea"/>
                <a:cs typeface="+mn-cs"/>
              </a:rPr>
              <a:t>Keycloak</a:t>
            </a:r>
            <a:r>
              <a:rPr lang="en-US" sz="1200" kern="1200" dirty="0">
                <a:solidFill>
                  <a:schemeClr val="tx1"/>
                </a:solidFill>
                <a:effectLst/>
                <a:latin typeface="+mn-lt"/>
                <a:ea typeface="+mn-ea"/>
                <a:cs typeface="+mn-cs"/>
              </a:rPr>
              <a:t>, OIDC, and custom auth layers as the final step.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Building software "backwards" ensured that every architectural layer added was directly pulled by real user demand rather than pushed by PM assumptions.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3</a:t>
            </a:fld>
            <a:endParaRPr lang="en-US"/>
          </a:p>
        </p:txBody>
      </p:sp>
    </p:spTree>
    <p:extLst>
      <p:ext uri="{BB962C8B-B14F-4D97-AF65-F5344CB8AC3E}">
        <p14:creationId xmlns:p14="http://schemas.microsoft.com/office/powerpoint/2010/main" val="4071915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Happy Accident:</a:t>
            </a:r>
            <a:r>
              <a:rPr lang="en-US" sz="1200" kern="1200" dirty="0">
                <a:solidFill>
                  <a:schemeClr val="tx1"/>
                </a:solidFill>
                <a:effectLst/>
                <a:latin typeface="+mn-lt"/>
                <a:ea typeface="+mn-ea"/>
                <a:cs typeface="+mn-cs"/>
              </a:rPr>
              <a:t> Because Phoenix was born as a notebook extension, running locally wasn't initially a grand strategic masterplan—it was a technical necessity. However, this "happy accident" turned into our biggest enterprise superpower. </a:t>
            </a:r>
          </a:p>
          <a:p>
            <a:pPr lvl="0"/>
            <a:r>
              <a:rPr lang="en-US" sz="1200" b="1" kern="1200" dirty="0">
                <a:solidFill>
                  <a:schemeClr val="tx1"/>
                </a:solidFill>
                <a:effectLst/>
                <a:latin typeface="+mn-lt"/>
                <a:ea typeface="+mn-ea"/>
                <a:cs typeface="+mn-cs"/>
              </a:rPr>
              <a:t>Zero PII Leakage:</a:t>
            </a:r>
            <a:r>
              <a:rPr lang="en-US" sz="1200" kern="1200" dirty="0">
                <a:solidFill>
                  <a:schemeClr val="tx1"/>
                </a:solidFill>
                <a:effectLst/>
                <a:latin typeface="+mn-lt"/>
                <a:ea typeface="+mn-ea"/>
                <a:cs typeface="+mn-cs"/>
              </a:rPr>
              <a:t> Generative AI trace payloads contain sensitive prompts, proprietary knowledge base documents, and user memory. A local-first stack guarantees that sensitive data never leaves the practitioner's local machine or corporate VPC. </a:t>
            </a:r>
          </a:p>
          <a:p>
            <a:pPr lvl="0"/>
            <a:r>
              <a:rPr lang="en-US" sz="1200" b="1" kern="1200" dirty="0">
                <a:solidFill>
                  <a:schemeClr val="tx1"/>
                </a:solidFill>
                <a:effectLst/>
                <a:latin typeface="+mn-lt"/>
                <a:ea typeface="+mn-ea"/>
                <a:cs typeface="+mn-cs"/>
              </a:rPr>
              <a:t>Air-Gapped &amp; Locked-Down Environments:</a:t>
            </a:r>
            <a:r>
              <a:rPr lang="en-US" sz="1200" kern="1200" dirty="0">
                <a:solidFill>
                  <a:schemeClr val="tx1"/>
                </a:solidFill>
                <a:effectLst/>
                <a:latin typeface="+mn-lt"/>
                <a:ea typeface="+mn-ea"/>
                <a:cs typeface="+mn-cs"/>
              </a:rPr>
              <a:t> We were surprised by the massive influx of support requests from enterprise Windows users operating in heavily restricted corporate environments. Phoenix gave them full-featured observability without needing external cloud connectivity or security sign-offs. </a:t>
            </a:r>
          </a:p>
          <a:p>
            <a:pPr lvl="0"/>
            <a:r>
              <a:rPr lang="en-US" sz="1200" b="1" kern="1200" dirty="0">
                <a:solidFill>
                  <a:schemeClr val="tx1"/>
                </a:solidFill>
                <a:effectLst/>
                <a:latin typeface="+mn-lt"/>
                <a:ea typeface="+mn-ea"/>
                <a:cs typeface="+mn-cs"/>
              </a:rPr>
              <a:t>Zero-Cost Developer Velocity:</a:t>
            </a:r>
            <a:r>
              <a:rPr lang="en-US" sz="1200" kern="1200" dirty="0">
                <a:solidFill>
                  <a:schemeClr val="tx1"/>
                </a:solidFill>
                <a:effectLst/>
                <a:latin typeface="+mn-lt"/>
                <a:ea typeface="+mn-ea"/>
                <a:cs typeface="+mn-cs"/>
              </a:rPr>
              <a:t> Why pay variable SaaS pricing per span while locally debugging code? Phoenix allows an enterprise to equip 400+ engineers with full observability stacks locally at zero marginal SaaS commodity cost.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4</a:t>
            </a:fld>
            <a:endParaRPr lang="en-US"/>
          </a:p>
        </p:txBody>
      </p:sp>
    </p:spTree>
    <p:extLst>
      <p:ext uri="{BB962C8B-B14F-4D97-AF65-F5344CB8AC3E}">
        <p14:creationId xmlns:p14="http://schemas.microsoft.com/office/powerpoint/2010/main" val="392328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Architectural Split:</a:t>
            </a:r>
            <a:r>
              <a:rPr lang="en-US" sz="1200" kern="1200" dirty="0">
                <a:solidFill>
                  <a:schemeClr val="tx1"/>
                </a:solidFill>
                <a:effectLst/>
                <a:latin typeface="+mn-lt"/>
                <a:ea typeface="+mn-ea"/>
                <a:cs typeface="+mn-cs"/>
              </a:rPr>
              <a:t> As we deepened tracing capabilities, we faced an internal engineering debate: </a:t>
            </a:r>
            <a:r>
              <a:rPr lang="en-US" sz="1200" i="1" kern="1200" dirty="0">
                <a:solidFill>
                  <a:schemeClr val="tx1"/>
                </a:solidFill>
                <a:effectLst/>
                <a:latin typeface="+mn-lt"/>
                <a:ea typeface="+mn-ea"/>
                <a:cs typeface="+mn-cs"/>
              </a:rPr>
              <a:t>Can standard DevOps plumbing (like </a:t>
            </a:r>
            <a:r>
              <a:rPr lang="en-US" sz="1200" i="1" kern="1200" dirty="0" err="1">
                <a:solidFill>
                  <a:schemeClr val="tx1"/>
                </a:solidFill>
                <a:effectLst/>
                <a:latin typeface="+mn-lt"/>
                <a:ea typeface="+mn-ea"/>
                <a:cs typeface="+mn-cs"/>
              </a:rPr>
              <a:t>OpenTelemetry</a:t>
            </a:r>
            <a:r>
              <a:rPr lang="en-US" sz="1200" i="1" kern="1200" dirty="0">
                <a:solidFill>
                  <a:schemeClr val="tx1"/>
                </a:solidFill>
                <a:effectLst/>
                <a:latin typeface="+mn-lt"/>
                <a:ea typeface="+mn-ea"/>
                <a:cs typeface="+mn-cs"/>
              </a:rPr>
              <a:t>) handle AI workload telemetry?</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Traditional DevOps (Standard </a:t>
            </a:r>
            <a:r>
              <a:rPr lang="en-US" sz="1200" b="1" kern="1200" dirty="0" err="1">
                <a:solidFill>
                  <a:schemeClr val="tx1"/>
                </a:solidFill>
                <a:effectLst/>
                <a:latin typeface="+mn-lt"/>
                <a:ea typeface="+mn-ea"/>
                <a:cs typeface="+mn-cs"/>
              </a:rPr>
              <a:t>OTel</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Designed for system signals, discrete microservice events, network latency, and millisecond timings.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Deals primarily with small key-value pairs and HTTP response codes. </a:t>
            </a:r>
          </a:p>
          <a:p>
            <a:pPr lvl="0"/>
            <a:r>
              <a:rPr lang="en-US" sz="1200" b="1" kern="1200" dirty="0">
                <a:solidFill>
                  <a:schemeClr val="tx1"/>
                </a:solidFill>
                <a:effectLst/>
                <a:latin typeface="+mn-lt"/>
                <a:ea typeface="+mn-ea"/>
                <a:cs typeface="+mn-cs"/>
              </a:rPr>
              <a:t>AIOps (The New Frontier):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Involves heavy multimodality, dense PII, massive text payloads (paragraphs of prompts and contexts), and high-dimensional vector embeddings. </a:t>
            </a:r>
          </a:p>
          <a:p>
            <a:pPr lvl="0"/>
            <a:r>
              <a:rPr lang="en-US" sz="1200" b="1" kern="1200" dirty="0">
                <a:solidFill>
                  <a:schemeClr val="tx1"/>
                </a:solidFill>
                <a:effectLst/>
                <a:latin typeface="+mn-lt"/>
                <a:ea typeface="+mn-ea"/>
                <a:cs typeface="+mn-cs"/>
              </a:rPr>
              <a:t>The Friction:</a:t>
            </a:r>
            <a:r>
              <a:rPr lang="en-US" sz="1200" kern="1200" dirty="0">
                <a:solidFill>
                  <a:schemeClr val="tx1"/>
                </a:solidFill>
                <a:effectLst/>
                <a:latin typeface="+mn-lt"/>
                <a:ea typeface="+mn-ea"/>
                <a:cs typeface="+mn-cs"/>
              </a:rPr>
              <a:t> Standard telemetry collectors are optimized to drop or trim large payloads to save network overhead. AI observability requires preserving these multi-kilobyte payloads intact so engineers can debug prompt engineering and context retrieval failures.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5</a:t>
            </a:fld>
            <a:endParaRPr lang="en-US"/>
          </a:p>
        </p:txBody>
      </p:sp>
    </p:spTree>
    <p:extLst>
      <p:ext uri="{BB962C8B-B14F-4D97-AF65-F5344CB8AC3E}">
        <p14:creationId xmlns:p14="http://schemas.microsoft.com/office/powerpoint/2010/main" val="3229766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Pull Request: Initially, we built a custom internal tracer. Over a weekend, Roger Yang opened a PR mapping our rich AI trace payloads directly to </a:t>
            </a:r>
            <a:r>
              <a:rPr lang="en-US" dirty="0" err="1"/>
              <a:t>OpenTelemetry</a:t>
            </a:r>
            <a:r>
              <a:rPr lang="en-US" dirty="0"/>
              <a:t> standards. While met with initial internal skepticism, it proved the hidden flexibility of </a:t>
            </a:r>
            <a:r>
              <a:rPr lang="en-US" dirty="0" err="1"/>
              <a:t>OTel</a:t>
            </a:r>
            <a:r>
              <a:rPr lang="en-US" dirty="0"/>
              <a:t>.   Universal Cross-Language Reach: Standardizing on </a:t>
            </a:r>
            <a:r>
              <a:rPr lang="en-US" dirty="0" err="1"/>
              <a:t>OTel</a:t>
            </a:r>
            <a:r>
              <a:rPr lang="en-US" dirty="0"/>
              <a:t> instantly eliminated language barriers. A maintainer writing </a:t>
            </a:r>
            <a:r>
              <a:rPr lang="en-US" dirty="0" err="1"/>
              <a:t>LangChain</a:t>
            </a:r>
            <a:r>
              <a:rPr lang="en-US" dirty="0"/>
              <a:t> in Go or an enterprise building in Ruby can stream traces straight to Phoenix using native </a:t>
            </a:r>
            <a:r>
              <a:rPr lang="en-US" dirty="0" err="1"/>
              <a:t>OpenTelemetry</a:t>
            </a:r>
            <a:r>
              <a:rPr lang="en-US" dirty="0"/>
              <a:t> exporters without waiting for Python-only updates.   DevOps ARE AIOps Problems: AI applications don't live in a vacuum. When an LLM application fails, it's often due to classic DevOps issues like DNS resolution failures, rate limits, or network timeouts contacting API endpoints (e.g., OpenAI outages). A unified </a:t>
            </a:r>
            <a:r>
              <a:rPr lang="en-US" dirty="0" err="1"/>
              <a:t>OTel</a:t>
            </a:r>
            <a:r>
              <a:rPr lang="en-US" dirty="0"/>
              <a:t> pipeline bridges software engineering with AI engineering. </a:t>
            </a:r>
          </a:p>
        </p:txBody>
      </p:sp>
      <p:sp>
        <p:nvSpPr>
          <p:cNvPr id="4" name="Slide Number Placeholder 3"/>
          <p:cNvSpPr>
            <a:spLocks noGrp="1"/>
          </p:cNvSpPr>
          <p:nvPr>
            <p:ph type="sldNum" sz="quarter" idx="5"/>
          </p:nvPr>
        </p:nvSpPr>
        <p:spPr/>
        <p:txBody>
          <a:bodyPr/>
          <a:lstStyle/>
          <a:p>
            <a:fld id="{84382F9B-FEA8-48CA-A8F3-21699448B3A2}" type="slidenum">
              <a:rPr lang="en-US" smtClean="0"/>
              <a:t>6</a:t>
            </a:fld>
            <a:endParaRPr lang="en-US"/>
          </a:p>
        </p:txBody>
      </p:sp>
    </p:spTree>
    <p:extLst>
      <p:ext uri="{BB962C8B-B14F-4D97-AF65-F5344CB8AC3E}">
        <p14:creationId xmlns:p14="http://schemas.microsoft.com/office/powerpoint/2010/main" val="4277176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Bridging the Semantic Gap: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provided the standard transport pipes, but it had no native vocabulary to describe LLM concepts like prompts, completions, vector retrieval, or agent tool calls. </a:t>
            </a:r>
          </a:p>
          <a:p>
            <a:pPr lvl="0"/>
            <a:r>
              <a:rPr lang="en-US" sz="1200" b="1" kern="1200" dirty="0">
                <a:solidFill>
                  <a:schemeClr val="tx1"/>
                </a:solidFill>
                <a:effectLst/>
                <a:latin typeface="+mn-lt"/>
                <a:ea typeface="+mn-ea"/>
                <a:cs typeface="+mn-cs"/>
              </a:rPr>
              <a:t>Introducing Open Inference:</a:t>
            </a:r>
            <a:r>
              <a:rPr lang="en-US" sz="1200" kern="1200" dirty="0">
                <a:solidFill>
                  <a:schemeClr val="tx1"/>
                </a:solidFill>
                <a:effectLst/>
                <a:latin typeface="+mn-lt"/>
                <a:ea typeface="+mn-ea"/>
                <a:cs typeface="+mn-cs"/>
              </a:rPr>
              <a:t> We created the </a:t>
            </a:r>
            <a:r>
              <a:rPr lang="en-US" sz="1200" b="1" kern="1200" dirty="0">
                <a:solidFill>
                  <a:schemeClr val="tx1"/>
                </a:solidFill>
                <a:effectLst/>
                <a:latin typeface="+mn-lt"/>
                <a:ea typeface="+mn-ea"/>
                <a:cs typeface="+mn-cs"/>
              </a:rPr>
              <a:t>Open Inference specification</a:t>
            </a:r>
            <a:r>
              <a:rPr lang="en-US" sz="1200" kern="1200" dirty="0">
                <a:solidFill>
                  <a:schemeClr val="tx1"/>
                </a:solidFill>
                <a:effectLst/>
                <a:latin typeface="+mn-lt"/>
                <a:ea typeface="+mn-ea"/>
                <a:cs typeface="+mn-cs"/>
              </a:rPr>
              <a:t> as an open, vendor-neutral semantic convention. It translates raw, unformatted LLM outputs into structured, </a:t>
            </a:r>
            <a:r>
              <a:rPr lang="en-US" sz="1200" kern="1200" dirty="0" err="1">
                <a:solidFill>
                  <a:schemeClr val="tx1"/>
                </a:solidFill>
                <a:effectLst/>
                <a:latin typeface="+mn-lt"/>
                <a:ea typeface="+mn-ea"/>
                <a:cs typeface="+mn-cs"/>
              </a:rPr>
              <a:t>queryable</a:t>
            </a:r>
            <a:r>
              <a:rPr lang="en-US" sz="1200" kern="1200" dirty="0">
                <a:solidFill>
                  <a:schemeClr val="tx1"/>
                </a:solidFill>
                <a:effectLst/>
                <a:latin typeface="+mn-lt"/>
                <a:ea typeface="+mn-ea"/>
                <a:cs typeface="+mn-cs"/>
              </a:rPr>
              <a:t> telemetry span attributes: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Prompt and completion token counts.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Reranking scores and vector retrieval distance metrics.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Agent tool selection and execution parameters. </a:t>
            </a:r>
          </a:p>
          <a:p>
            <a:pPr lvl="0"/>
            <a:r>
              <a:rPr lang="en-US" sz="1200" b="1" kern="1200" dirty="0">
                <a:solidFill>
                  <a:schemeClr val="tx1"/>
                </a:solidFill>
                <a:effectLst/>
                <a:latin typeface="+mn-lt"/>
                <a:ea typeface="+mn-ea"/>
                <a:cs typeface="+mn-cs"/>
              </a:rPr>
              <a:t>Spec + Instrumentation Co-location:</a:t>
            </a:r>
            <a:r>
              <a:rPr lang="en-US" sz="1200" kern="1200" dirty="0">
                <a:solidFill>
                  <a:schemeClr val="tx1"/>
                </a:solidFill>
                <a:effectLst/>
                <a:latin typeface="+mn-lt"/>
                <a:ea typeface="+mn-ea"/>
                <a:cs typeface="+mn-cs"/>
              </a:rPr>
              <a:t> By co-locating the Open Inference specification directly alongside the instrumentation packages in our </a:t>
            </a:r>
            <a:r>
              <a:rPr lang="en-US" sz="1200" kern="1200" dirty="0" err="1">
                <a:solidFill>
                  <a:schemeClr val="tx1"/>
                </a:solidFill>
                <a:effectLst/>
                <a:latin typeface="+mn-lt"/>
                <a:ea typeface="+mn-ea"/>
                <a:cs typeface="+mn-cs"/>
              </a:rPr>
              <a:t>monorepo</a:t>
            </a:r>
            <a:r>
              <a:rPr lang="en-US" sz="1200" kern="1200" dirty="0">
                <a:solidFill>
                  <a:schemeClr val="tx1"/>
                </a:solidFill>
                <a:effectLst/>
                <a:latin typeface="+mn-lt"/>
                <a:ea typeface="+mn-ea"/>
                <a:cs typeface="+mn-cs"/>
              </a:rPr>
              <a:t>, we empowered community practitioners to ship rapid two-week updates as agent patterns evolved.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7</a:t>
            </a:fld>
            <a:endParaRPr lang="en-US"/>
          </a:p>
        </p:txBody>
      </p:sp>
    </p:spTree>
    <p:extLst>
      <p:ext uri="{BB962C8B-B14F-4D97-AF65-F5344CB8AC3E}">
        <p14:creationId xmlns:p14="http://schemas.microsoft.com/office/powerpoint/2010/main" val="223106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Complete Framework Neutrality:</a:t>
            </a:r>
            <a:r>
              <a:rPr lang="en-US" sz="1200" kern="1200" dirty="0">
                <a:solidFill>
                  <a:schemeClr val="tx1"/>
                </a:solidFill>
                <a:effectLst/>
                <a:latin typeface="+mn-lt"/>
                <a:ea typeface="+mn-ea"/>
                <a:cs typeface="+mn-cs"/>
              </a:rPr>
              <a:t> Phoenix sits neutrally between orchestrators (</a:t>
            </a:r>
            <a:r>
              <a:rPr lang="en-US" sz="1200" kern="1200" dirty="0" err="1">
                <a:solidFill>
                  <a:schemeClr val="tx1"/>
                </a:solidFill>
                <a:effectLst/>
                <a:latin typeface="+mn-lt"/>
                <a:ea typeface="+mn-ea"/>
                <a:cs typeface="+mn-cs"/>
              </a:rPr>
              <a:t>LlamaIndex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LangChain</a:t>
            </a:r>
            <a:r>
              <a:rPr lang="en-US" sz="1200" kern="1200" dirty="0">
                <a:solidFill>
                  <a:schemeClr val="tx1"/>
                </a:solidFill>
                <a:effectLst/>
                <a:latin typeface="+mn-lt"/>
                <a:ea typeface="+mn-ea"/>
                <a:cs typeface="+mn-cs"/>
              </a:rPr>
              <a:t>) and LLM providers (OpenAI, Anthropic, Hugging Face). </a:t>
            </a:r>
          </a:p>
          <a:p>
            <a:pPr lvl="0"/>
            <a:r>
              <a:rPr lang="en-US" sz="1200" b="1" kern="1200" dirty="0">
                <a:solidFill>
                  <a:schemeClr val="tx1"/>
                </a:solidFill>
                <a:effectLst/>
                <a:latin typeface="+mn-lt"/>
                <a:ea typeface="+mn-ea"/>
                <a:cs typeface="+mn-cs"/>
              </a:rPr>
              <a:t>No Vendor Lock-In:</a:t>
            </a:r>
            <a:r>
              <a:rPr lang="en-US" sz="1200" kern="1200" dirty="0">
                <a:solidFill>
                  <a:schemeClr val="tx1"/>
                </a:solidFill>
                <a:effectLst/>
                <a:latin typeface="+mn-lt"/>
                <a:ea typeface="+mn-ea"/>
                <a:cs typeface="+mn-cs"/>
              </a:rPr>
              <a:t> Practitioners are not forced into proprietary SDKs. Phoenix instruments both Python and TypeScript stacks across any model back-end. </a:t>
            </a:r>
          </a:p>
          <a:p>
            <a:pPr lvl="0"/>
            <a:r>
              <a:rPr lang="en-US" sz="1200" b="1" kern="1200" dirty="0">
                <a:solidFill>
                  <a:schemeClr val="tx1"/>
                </a:solidFill>
                <a:effectLst/>
                <a:latin typeface="+mn-lt"/>
                <a:ea typeface="+mn-ea"/>
                <a:cs typeface="+mn-cs"/>
              </a:rPr>
              <a:t>The Scientific Playground for Evals:</a:t>
            </a:r>
            <a:r>
              <a:rPr lang="en-US" sz="1200" kern="1200" dirty="0">
                <a:solidFill>
                  <a:schemeClr val="tx1"/>
                </a:solidFill>
                <a:effectLst/>
                <a:latin typeface="+mn-lt"/>
                <a:ea typeface="+mn-ea"/>
                <a:cs typeface="+mn-cs"/>
              </a:rPr>
              <a:t> Early on, nobody knew definitively what a "good" LLM evaluation looked like—whether it was G-Eval, ROUGE scores, or embedding similarities. Phoenix was designed as an open experimental playground where the community could objectively test, benchmark, and establish evaluation standards. </a:t>
            </a:r>
          </a:p>
          <a:p>
            <a:pPr lvl="0"/>
            <a:r>
              <a:rPr lang="en-US" sz="1200" b="1" kern="1200" dirty="0">
                <a:solidFill>
                  <a:schemeClr val="tx1"/>
                </a:solidFill>
                <a:effectLst/>
                <a:latin typeface="+mn-lt"/>
                <a:ea typeface="+mn-ea"/>
                <a:cs typeface="+mn-cs"/>
              </a:rPr>
              <a:t>Truth Over Dogma:</a:t>
            </a:r>
            <a:r>
              <a:rPr lang="en-US" sz="1200" kern="1200" dirty="0">
                <a:solidFill>
                  <a:schemeClr val="tx1"/>
                </a:solidFill>
                <a:effectLst/>
                <a:latin typeface="+mn-lt"/>
                <a:ea typeface="+mn-ea"/>
                <a:cs typeface="+mn-cs"/>
              </a:rPr>
              <a:t> We don't mandate how teams evaluate their systems; we provide the trusted medium to capture and analyze the ground truth.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8</a:t>
            </a:fld>
            <a:endParaRPr lang="en-US"/>
          </a:p>
        </p:txBody>
      </p:sp>
    </p:spTree>
    <p:extLst>
      <p:ext uri="{BB962C8B-B14F-4D97-AF65-F5344CB8AC3E}">
        <p14:creationId xmlns:p14="http://schemas.microsoft.com/office/powerpoint/2010/main" val="1884579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Complementary Roles:</a:t>
            </a:r>
            <a:r>
              <a:rPr lang="en-US" sz="1200" kern="1200" dirty="0">
                <a:solidFill>
                  <a:schemeClr val="tx1"/>
                </a:solidFill>
                <a:effectLst/>
                <a:latin typeface="+mn-lt"/>
                <a:ea typeface="+mn-ea"/>
                <a:cs typeface="+mn-cs"/>
              </a:rPr>
              <a:t> People often ask how Phoenix relates to </a:t>
            </a:r>
            <a:r>
              <a:rPr lang="en-US" sz="1200" kern="1200" dirty="0" err="1">
                <a:solidFill>
                  <a:schemeClr val="tx1"/>
                </a:solidFill>
                <a:effectLst/>
                <a:latin typeface="+mn-lt"/>
                <a:ea typeface="+mn-ea"/>
                <a:cs typeface="+mn-cs"/>
              </a:rPr>
              <a:t>Arize’s</a:t>
            </a:r>
            <a:r>
              <a:rPr lang="en-US" sz="1200" kern="1200" dirty="0">
                <a:solidFill>
                  <a:schemeClr val="tx1"/>
                </a:solidFill>
                <a:effectLst/>
                <a:latin typeface="+mn-lt"/>
                <a:ea typeface="+mn-ea"/>
                <a:cs typeface="+mn-cs"/>
              </a:rPr>
              <a:t> commercial enterprise platform,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AX. They are built to complement each other across different operational scale boundaries: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Phoenix (Open Source):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Practitioner-focused, agile, and reach-optimized.</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Runs local-first (SQLite) or containerized (Postgres) in air-gapped environments.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Functions as an agile "Skunkworks" </a:t>
            </a:r>
            <a:r>
              <a:rPr lang="en-US" sz="1200" kern="1200" dirty="0" err="1">
                <a:solidFill>
                  <a:schemeClr val="tx1"/>
                </a:solidFill>
                <a:effectLst/>
                <a:latin typeface="+mn-lt"/>
                <a:ea typeface="+mn-ea"/>
                <a:cs typeface="+mn-cs"/>
              </a:rPr>
              <a:t>OTel</a:t>
            </a:r>
            <a:r>
              <a:rPr lang="en-US" sz="1200" kern="1200" dirty="0">
                <a:solidFill>
                  <a:schemeClr val="tx1"/>
                </a:solidFill>
                <a:effectLst/>
                <a:latin typeface="+mn-lt"/>
                <a:ea typeface="+mn-ea"/>
                <a:cs typeface="+mn-cs"/>
              </a:rPr>
              <a:t> collector and rapid evaluation testing bed.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AX (Enterprise Platform):</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Revenue- and compliance-optimized for global enterprises.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Deployed on cloud infrastructure or large-scale enterprise data warehouses.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Handles massive long-term data retention, enterprise RBAC, and SOC-2 compliance. </a:t>
            </a:r>
          </a:p>
          <a:p>
            <a:pPr lvl="0"/>
            <a:r>
              <a:rPr lang="en-US" sz="1200" b="1" kern="1200" dirty="0">
                <a:solidFill>
                  <a:schemeClr val="tx1"/>
                </a:solidFill>
                <a:effectLst/>
                <a:latin typeface="+mn-lt"/>
                <a:ea typeface="+mn-ea"/>
                <a:cs typeface="+mn-cs"/>
              </a:rPr>
              <a:t>The Synergy:</a:t>
            </a:r>
            <a:r>
              <a:rPr lang="en-US" sz="1200" kern="1200" dirty="0">
                <a:solidFill>
                  <a:schemeClr val="tx1"/>
                </a:solidFill>
                <a:effectLst/>
                <a:latin typeface="+mn-lt"/>
                <a:ea typeface="+mn-ea"/>
                <a:cs typeface="+mn-cs"/>
              </a:rPr>
              <a:t> Phoenix captures telemetry at the developer's local edge; AX aggregates and scales it across enterprise production fleets.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9</a:t>
            </a:fld>
            <a:endParaRPr lang="en-US"/>
          </a:p>
        </p:txBody>
      </p:sp>
    </p:spTree>
    <p:extLst>
      <p:ext uri="{BB962C8B-B14F-4D97-AF65-F5344CB8AC3E}">
        <p14:creationId xmlns:p14="http://schemas.microsoft.com/office/powerpoint/2010/main" val="2068954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Bringing the Core Pillars Together:</a:t>
            </a:r>
            <a:r>
              <a:rPr lang="en-US" sz="1200" kern="1200" dirty="0">
                <a:solidFill>
                  <a:schemeClr val="tx1"/>
                </a:solidFill>
                <a:effectLst/>
                <a:latin typeface="+mn-lt"/>
                <a:ea typeface="+mn-ea"/>
                <a:cs typeface="+mn-cs"/>
              </a:rPr>
              <a:t> Building robust, non-deterministic AI applications requires three foundational elements operating in unison: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Local Privacy (The Fortress):</a:t>
            </a:r>
            <a:r>
              <a:rPr lang="en-US" sz="1200" kern="1200" dirty="0">
                <a:solidFill>
                  <a:schemeClr val="tx1"/>
                </a:solidFill>
                <a:effectLst/>
                <a:latin typeface="+mn-lt"/>
                <a:ea typeface="+mn-ea"/>
                <a:cs typeface="+mn-cs"/>
              </a:rPr>
              <a:t> Zero PII leakage and local-first execution.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Standardized Plumbing (</a:t>
            </a:r>
            <a:r>
              <a:rPr lang="en-US" sz="1200" b="1" kern="1200" dirty="0" err="1">
                <a:solidFill>
                  <a:schemeClr val="tx1"/>
                </a:solidFill>
                <a:effectLst/>
                <a:latin typeface="+mn-lt"/>
                <a:ea typeface="+mn-ea"/>
                <a:cs typeface="+mn-cs"/>
              </a:rPr>
              <a:t>OpenTelemetry</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Cross-language distributed tracing across modern microservices.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Rich Semantic Context (</a:t>
            </a:r>
            <a:r>
              <a:rPr lang="en-US" sz="1200" b="1" kern="1200" dirty="0" err="1">
                <a:solidFill>
                  <a:schemeClr val="tx1"/>
                </a:solidFill>
                <a:effectLst/>
                <a:latin typeface="+mn-lt"/>
                <a:ea typeface="+mn-ea"/>
                <a:cs typeface="+mn-cs"/>
              </a:rPr>
              <a:t>OpenInference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Structuring prompts, agent steps, and retrieval payloads. </a:t>
            </a:r>
          </a:p>
          <a:p>
            <a:pPr lvl="0"/>
            <a:r>
              <a:rPr lang="en-US" sz="1200" b="1" kern="1200" dirty="0">
                <a:solidFill>
                  <a:schemeClr val="tx1"/>
                </a:solidFill>
                <a:effectLst/>
                <a:latin typeface="+mn-lt"/>
                <a:ea typeface="+mn-ea"/>
                <a:cs typeface="+mn-cs"/>
              </a:rPr>
              <a:t>The Modern AI Software Factory:</a:t>
            </a:r>
            <a:r>
              <a:rPr lang="en-US" sz="1200" kern="1200" dirty="0">
                <a:solidFill>
                  <a:schemeClr val="tx1"/>
                </a:solidFill>
                <a:effectLst/>
                <a:latin typeface="+mn-lt"/>
                <a:ea typeface="+mn-ea"/>
                <a:cs typeface="+mn-cs"/>
              </a:rPr>
              <a:t> When these three pillars interconnect around an Agent Engine, developers gain the feedback loops needed to audit, evaluate, and iterate on complex non-deterministic software safely.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10</a:t>
            </a:fld>
            <a:endParaRPr lang="en-US"/>
          </a:p>
        </p:txBody>
      </p:sp>
    </p:spTree>
    <p:extLst>
      <p:ext uri="{BB962C8B-B14F-4D97-AF65-F5344CB8AC3E}">
        <p14:creationId xmlns:p14="http://schemas.microsoft.com/office/powerpoint/2010/main" val="1530389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Software engineering is undergoing a fundamental transformation. Developers are moving from hand-writing deterministic code to orchestrating autonomous coding agents like Claude 3.5 Sonnet and GPT-4o. </a:t>
            </a:r>
          </a:p>
          <a:p>
            <a:pPr lvl="0"/>
            <a:r>
              <a:rPr lang="en-US" sz="1200" b="1" kern="1200" dirty="0">
                <a:solidFill>
                  <a:schemeClr val="tx1"/>
                </a:solidFill>
                <a:effectLst/>
                <a:latin typeface="+mn-lt"/>
                <a:ea typeface="+mn-ea"/>
                <a:cs typeface="+mn-cs"/>
              </a:rPr>
              <a:t>Agents Writing Agents:</a:t>
            </a:r>
            <a:r>
              <a:rPr lang="en-US" sz="1200" kern="1200" dirty="0">
                <a:solidFill>
                  <a:schemeClr val="tx1"/>
                </a:solidFill>
                <a:effectLst/>
                <a:latin typeface="+mn-lt"/>
                <a:ea typeface="+mn-ea"/>
                <a:cs typeface="+mn-cs"/>
              </a:rPr>
              <a:t> As coding agents generate non-deterministic code, they need their own sandboxed observability environments to execute, inspect, and self-correct their work. Engineers are using Git </a:t>
            </a:r>
            <a:r>
              <a:rPr lang="en-US" sz="1200" kern="1200" dirty="0" err="1">
                <a:solidFill>
                  <a:schemeClr val="tx1"/>
                </a:solidFill>
                <a:effectLst/>
                <a:latin typeface="+mn-lt"/>
                <a:ea typeface="+mn-ea"/>
                <a:cs typeface="+mn-cs"/>
              </a:rPr>
              <a:t>worktrees</a:t>
            </a:r>
            <a:r>
              <a:rPr lang="en-US" sz="1200" kern="1200" dirty="0">
                <a:solidFill>
                  <a:schemeClr val="tx1"/>
                </a:solidFill>
                <a:effectLst/>
                <a:latin typeface="+mn-lt"/>
                <a:ea typeface="+mn-ea"/>
                <a:cs typeface="+mn-cs"/>
              </a:rPr>
              <a:t> with multiple isolated Phoenix instances running side by side. </a:t>
            </a:r>
          </a:p>
          <a:p>
            <a:pPr lvl="0"/>
            <a:r>
              <a:rPr lang="en-US" sz="1200" b="1" kern="1200" dirty="0">
                <a:solidFill>
                  <a:schemeClr val="tx1"/>
                </a:solidFill>
                <a:effectLst/>
                <a:latin typeface="+mn-lt"/>
                <a:ea typeface="+mn-ea"/>
                <a:cs typeface="+mn-cs"/>
              </a:rPr>
              <a:t>The Phoenix Role in Agent Workflows:</a:t>
            </a:r>
            <a:r>
              <a:rPr lang="en-US" sz="1200" kern="1200" dirty="0">
                <a:solidFill>
                  <a:schemeClr val="tx1"/>
                </a:solidFill>
                <a:effectLst/>
                <a:latin typeface="+mn-lt"/>
                <a:ea typeface="+mn-ea"/>
                <a:cs typeface="+mn-cs"/>
              </a:rPr>
              <a:t> Phoenix acts as the local observability sandbox. It injects relevant telemetry context into coding agents and provides auditable trace histories to verify what the agent attempted, what tools it invoked, and where it failed.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11</a:t>
            </a:fld>
            <a:endParaRPr lang="en-US"/>
          </a:p>
        </p:txBody>
      </p:sp>
    </p:spTree>
    <p:extLst>
      <p:ext uri="{BB962C8B-B14F-4D97-AF65-F5344CB8AC3E}">
        <p14:creationId xmlns:p14="http://schemas.microsoft.com/office/powerpoint/2010/main" val="373113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AI Slop Risk:</a:t>
            </a:r>
            <a:r>
              <a:rPr lang="en-US" sz="1200" kern="1200" dirty="0">
                <a:solidFill>
                  <a:schemeClr val="tx1"/>
                </a:solidFill>
                <a:effectLst/>
                <a:latin typeface="+mn-lt"/>
                <a:ea typeface="+mn-ea"/>
                <a:cs typeface="+mn-cs"/>
              </a:rPr>
              <a:t> Autonomous coding agents allow teams to generate software at unprecedented velocity. However, unconstrained generation creates a critical risk: shipping vast amounts of unverified, </a:t>
            </a:r>
            <a:r>
              <a:rPr lang="en-US" sz="1200" kern="1200" dirty="0" err="1">
                <a:solidFill>
                  <a:schemeClr val="tx1"/>
                </a:solidFill>
                <a:effectLst/>
                <a:latin typeface="+mn-lt"/>
                <a:ea typeface="+mn-ea"/>
                <a:cs typeface="+mn-cs"/>
              </a:rPr>
              <a:t>untrackable</a:t>
            </a:r>
            <a:r>
              <a:rPr lang="en-US" sz="1200" kern="1200" dirty="0">
                <a:solidFill>
                  <a:schemeClr val="tx1"/>
                </a:solidFill>
                <a:effectLst/>
                <a:latin typeface="+mn-lt"/>
                <a:ea typeface="+mn-ea"/>
                <a:cs typeface="+mn-cs"/>
              </a:rPr>
              <a:t> "AI slop" into production. </a:t>
            </a:r>
          </a:p>
          <a:p>
            <a:pPr lvl="0"/>
            <a:r>
              <a:rPr lang="en-US" sz="1200" b="1" kern="1200" dirty="0">
                <a:solidFill>
                  <a:schemeClr val="tx1"/>
                </a:solidFill>
                <a:effectLst/>
                <a:latin typeface="+mn-lt"/>
                <a:ea typeface="+mn-ea"/>
                <a:cs typeface="+mn-cs"/>
              </a:rPr>
              <a:t>The Antidote — Evidence-Based Development:</a:t>
            </a:r>
            <a:r>
              <a:rPr lang="en-US" sz="1200" kern="1200" dirty="0">
                <a:solidFill>
                  <a:schemeClr val="tx1"/>
                </a:solidFill>
                <a:effectLst/>
                <a:latin typeface="+mn-lt"/>
                <a:ea typeface="+mn-ea"/>
                <a:cs typeface="+mn-cs"/>
              </a:rPr>
              <a:t> Uncompromising data visibility is the cure. Speed is only valuable when supported by rigorous evaluation and structural discipline. </a:t>
            </a:r>
          </a:p>
          <a:p>
            <a:pPr lvl="0"/>
            <a:r>
              <a:rPr lang="en-US" sz="1200" b="1" kern="1200" dirty="0">
                <a:solidFill>
                  <a:schemeClr val="tx1"/>
                </a:solidFill>
                <a:effectLst/>
                <a:latin typeface="+mn-lt"/>
                <a:ea typeface="+mn-ea"/>
                <a:cs typeface="+mn-cs"/>
              </a:rPr>
              <a:t>Operational Mechanisms: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Human-in-the-Loop </a:t>
            </a:r>
            <a:r>
              <a:rPr lang="en-US" sz="1200" b="1" kern="1200" dirty="0" err="1">
                <a:solidFill>
                  <a:schemeClr val="tx1"/>
                </a:solidFill>
                <a:effectLst/>
                <a:latin typeface="+mn-lt"/>
                <a:ea typeface="+mn-ea"/>
                <a:cs typeface="+mn-cs"/>
              </a:rPr>
              <a:t>Permissioning</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Ensuring humans review high-impact agent actions.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Scientific Evaluation:</a:t>
            </a:r>
            <a:r>
              <a:rPr lang="en-US" sz="1200" kern="1200" dirty="0">
                <a:solidFill>
                  <a:schemeClr val="tx1"/>
                </a:solidFill>
                <a:effectLst/>
                <a:latin typeface="+mn-lt"/>
                <a:ea typeface="+mn-ea"/>
                <a:cs typeface="+mn-cs"/>
              </a:rPr>
              <a:t> Replacing guesswork with systematic benchmark testing.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Complete Auditability:</a:t>
            </a:r>
            <a:r>
              <a:rPr lang="en-US" sz="1200" kern="1200" dirty="0">
                <a:solidFill>
                  <a:schemeClr val="tx1"/>
                </a:solidFill>
                <a:effectLst/>
                <a:latin typeface="+mn-lt"/>
                <a:ea typeface="+mn-ea"/>
                <a:cs typeface="+mn-cs"/>
              </a:rPr>
              <a:t> Maintaining end-to-end trace logs for every agent execution step.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12</a:t>
            </a:fld>
            <a:endParaRPr lang="en-US"/>
          </a:p>
        </p:txBody>
      </p:sp>
    </p:spTree>
    <p:extLst>
      <p:ext uri="{BB962C8B-B14F-4D97-AF65-F5344CB8AC3E}">
        <p14:creationId xmlns:p14="http://schemas.microsoft.com/office/powerpoint/2010/main" val="3660895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No Layer of Distance:</a:t>
            </a:r>
            <a:r>
              <a:rPr lang="en-US" sz="1200" kern="1200" dirty="0">
                <a:solidFill>
                  <a:schemeClr val="tx1"/>
                </a:solidFill>
                <a:effectLst/>
                <a:latin typeface="+mn-lt"/>
                <a:ea typeface="+mn-ea"/>
                <a:cs typeface="+mn-cs"/>
              </a:rPr>
              <a:t> The Phoenix core engineering team operates directly on Slack and GitHub without intermediary support layers. When users submit issues or feature requests, they interact directly with the core developers building the platform. </a:t>
            </a:r>
          </a:p>
          <a:p>
            <a:pPr lvl="0"/>
            <a:r>
              <a:rPr lang="en-US" sz="1200" b="1" kern="1200" dirty="0">
                <a:solidFill>
                  <a:schemeClr val="tx1"/>
                </a:solidFill>
                <a:effectLst/>
                <a:latin typeface="+mn-lt"/>
                <a:ea typeface="+mn-ea"/>
                <a:cs typeface="+mn-cs"/>
              </a:rPr>
              <a:t>Call to Action: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Contribute:</a:t>
            </a:r>
            <a:r>
              <a:rPr lang="en-US" sz="1200" kern="1200" dirty="0">
                <a:solidFill>
                  <a:schemeClr val="tx1"/>
                </a:solidFill>
                <a:effectLst/>
                <a:latin typeface="+mn-lt"/>
                <a:ea typeface="+mn-ea"/>
                <a:cs typeface="+mn-cs"/>
              </a:rPr>
              <a:t> Join us in expanding and defining the Open Inference standard.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Install:</a:t>
            </a:r>
            <a:r>
              <a:rPr lang="en-US" sz="1200" kern="1200" dirty="0">
                <a:solidFill>
                  <a:schemeClr val="tx1"/>
                </a:solidFill>
                <a:effectLst/>
                <a:latin typeface="+mn-lt"/>
                <a:ea typeface="+mn-ea"/>
                <a:cs typeface="+mn-cs"/>
              </a:rPr>
              <a:t> Run pip install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-phoenix locally today to regain immediate visibility into your AI application stacks.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Connect:</a:t>
            </a:r>
            <a:r>
              <a:rPr lang="en-US" sz="1200" kern="1200" dirty="0">
                <a:solidFill>
                  <a:schemeClr val="tx1"/>
                </a:solidFill>
                <a:effectLst/>
                <a:latin typeface="+mn-lt"/>
                <a:ea typeface="+mn-ea"/>
                <a:cs typeface="+mn-cs"/>
              </a:rPr>
              <a:t> Participate in community discussions with thousands of practitioners building AI observability in the open.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13</a:t>
            </a:fld>
            <a:endParaRPr lang="en-US"/>
          </a:p>
        </p:txBody>
      </p:sp>
    </p:spTree>
    <p:extLst>
      <p:ext uri="{BB962C8B-B14F-4D97-AF65-F5344CB8AC3E}">
        <p14:creationId xmlns:p14="http://schemas.microsoft.com/office/powerpoint/2010/main" val="1882571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 Milestone for Open Source AI:</a:t>
            </a:r>
            <a:r>
              <a:rPr lang="en-US" sz="1200" kern="1200" dirty="0">
                <a:solidFill>
                  <a:schemeClr val="tx1"/>
                </a:solidFill>
                <a:effectLst/>
                <a:latin typeface="+mn-lt"/>
                <a:ea typeface="+mn-ea"/>
                <a:cs typeface="+mn-cs"/>
              </a:rPr>
              <a:t> Hitting </a:t>
            </a:r>
            <a:r>
              <a:rPr lang="en-US" sz="1200" b="1" kern="1200" dirty="0">
                <a:solidFill>
                  <a:schemeClr val="tx1"/>
                </a:solidFill>
                <a:effectLst/>
                <a:latin typeface="+mn-lt"/>
                <a:ea typeface="+mn-ea"/>
                <a:cs typeface="+mn-cs"/>
              </a:rPr>
              <a:t>10,000 GitHub stars</a:t>
            </a:r>
            <a:r>
              <a:rPr lang="en-US" sz="1200" kern="1200" dirty="0">
                <a:solidFill>
                  <a:schemeClr val="tx1"/>
                </a:solidFill>
                <a:effectLst/>
                <a:latin typeface="+mn-lt"/>
                <a:ea typeface="+mn-ea"/>
                <a:cs typeface="+mn-cs"/>
              </a:rPr>
              <a:t> validates the shift toward open, privacy-first, and standardized AI observability. </a:t>
            </a:r>
          </a:p>
          <a:p>
            <a:pPr lvl="0"/>
            <a:r>
              <a:rPr lang="en-US" sz="1200" b="1" kern="1200" dirty="0">
                <a:solidFill>
                  <a:schemeClr val="tx1"/>
                </a:solidFill>
                <a:effectLst/>
                <a:latin typeface="+mn-lt"/>
                <a:ea typeface="+mn-ea"/>
                <a:cs typeface="+mn-cs"/>
              </a:rPr>
              <a:t>Community Gratitude:</a:t>
            </a:r>
            <a:r>
              <a:rPr lang="en-US" sz="1200" kern="1200" dirty="0">
                <a:solidFill>
                  <a:schemeClr val="tx1"/>
                </a:solidFill>
                <a:effectLst/>
                <a:latin typeface="+mn-lt"/>
                <a:ea typeface="+mn-ea"/>
                <a:cs typeface="+mn-cs"/>
              </a:rPr>
              <a:t> Thank you to every contributor, maintainer, framework partner (</a:t>
            </a:r>
            <a:r>
              <a:rPr lang="en-US" sz="1200" kern="1200" dirty="0" err="1">
                <a:solidFill>
                  <a:schemeClr val="tx1"/>
                </a:solidFill>
                <a:effectLst/>
                <a:latin typeface="+mn-lt"/>
                <a:ea typeface="+mn-ea"/>
                <a:cs typeface="+mn-cs"/>
              </a:rPr>
              <a:t>LlamaIndex</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LangChain</a:t>
            </a:r>
            <a:r>
              <a:rPr lang="en-US" sz="1200" kern="1200" dirty="0">
                <a:solidFill>
                  <a:schemeClr val="tx1"/>
                </a:solidFill>
                <a:effectLst/>
                <a:latin typeface="+mn-lt"/>
                <a:ea typeface="+mn-ea"/>
                <a:cs typeface="+mn-cs"/>
              </a:rPr>
              <a:t>, Hugging Face), and practitioner who submitted PRs, reported issues, and helped shape Phoenix into an industry standard. </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14</a:t>
            </a:fld>
            <a:endParaRPr lang="en-US"/>
          </a:p>
        </p:txBody>
      </p:sp>
    </p:spTree>
    <p:extLst>
      <p:ext uri="{BB962C8B-B14F-4D97-AF65-F5344CB8AC3E}">
        <p14:creationId xmlns:p14="http://schemas.microsoft.com/office/powerpoint/2010/main" val="1267609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Executive Recap: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Built Backwards:</a:t>
            </a:r>
            <a:r>
              <a:rPr lang="en-US" sz="1200" kern="1200" dirty="0">
                <a:solidFill>
                  <a:schemeClr val="tx1"/>
                </a:solidFill>
                <a:effectLst/>
                <a:latin typeface="+mn-lt"/>
                <a:ea typeface="+mn-ea"/>
                <a:cs typeface="+mn-cs"/>
              </a:rPr>
              <a:t> Phoenix evolved from a Jupyter notebook extension into a full local/enterprise observability standard by prioritizing practitioner value over traditional SaaS scaffolding.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Local Privacy as a Core Pillar:</a:t>
            </a:r>
            <a:r>
              <a:rPr lang="en-US" sz="1200" kern="1200" dirty="0">
                <a:solidFill>
                  <a:schemeClr val="tx1"/>
                </a:solidFill>
                <a:effectLst/>
                <a:latin typeface="+mn-lt"/>
                <a:ea typeface="+mn-ea"/>
                <a:cs typeface="+mn-cs"/>
              </a:rPr>
              <a:t> 100% on-device execution guarantees security for air-gapped corporate environments and sensitive PII.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Open Standards:</a:t>
            </a:r>
            <a:r>
              <a:rPr lang="en-US" sz="1200" kern="1200" dirty="0">
                <a:solidFill>
                  <a:schemeClr val="tx1"/>
                </a:solidFill>
                <a:effectLst/>
                <a:latin typeface="+mn-lt"/>
                <a:ea typeface="+mn-ea"/>
                <a:cs typeface="+mn-cs"/>
              </a:rPr>
              <a:t> Built on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and Open Inference to unify AIOps and DevOps into a single, vendor-neutral language.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Ready for the Agentic Era:</a:t>
            </a:r>
            <a:r>
              <a:rPr lang="en-US" sz="1200" kern="1200" dirty="0">
                <a:solidFill>
                  <a:schemeClr val="tx1"/>
                </a:solidFill>
                <a:effectLst/>
                <a:latin typeface="+mn-lt"/>
                <a:ea typeface="+mn-ea"/>
                <a:cs typeface="+mn-cs"/>
              </a:rPr>
              <a:t> Equipping autonomous coding agents and human engineers with the auditable sandboxes required to ship AI applications fast—and responsibly. </a:t>
            </a:r>
          </a:p>
          <a:p>
            <a:pPr marL="171450" indent="-171450">
              <a:buFont typeface="Arial" panose="020B0604020202020204" pitchFamily="34" charset="0"/>
              <a:buChar char="•"/>
            </a:pPr>
            <a:endParaRPr lang="en-US" dirty="0"/>
          </a:p>
          <a:p>
            <a:r>
              <a:rPr lang="en-US" dirty="0"/>
              <a:t>How Phoenix became the standard for AI observability</a:t>
            </a:r>
          </a:p>
          <a:p>
            <a:r>
              <a:rPr lang="en-US" dirty="0"/>
              <a:t>https://www.youtube.com/watch?v=osTNToMfiBo</a:t>
            </a:r>
          </a:p>
          <a:p>
            <a:endParaRPr lang="en-US" dirty="0"/>
          </a:p>
        </p:txBody>
      </p:sp>
      <p:sp>
        <p:nvSpPr>
          <p:cNvPr id="4" name="Slide Number Placeholder 3"/>
          <p:cNvSpPr>
            <a:spLocks noGrp="1"/>
          </p:cNvSpPr>
          <p:nvPr>
            <p:ph type="sldNum" sz="quarter" idx="5"/>
          </p:nvPr>
        </p:nvSpPr>
        <p:spPr/>
        <p:txBody>
          <a:bodyPr/>
          <a:lstStyle/>
          <a:p>
            <a:fld id="{84382F9B-FEA8-48CA-A8F3-21699448B3A2}" type="slidenum">
              <a:rPr lang="en-US" smtClean="0"/>
              <a:t>15</a:t>
            </a:fld>
            <a:endParaRPr lang="en-US"/>
          </a:p>
        </p:txBody>
      </p:sp>
    </p:spTree>
    <p:extLst>
      <p:ext uri="{BB962C8B-B14F-4D97-AF65-F5344CB8AC3E}">
        <p14:creationId xmlns:p14="http://schemas.microsoft.com/office/powerpoint/2010/main" val="3150445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386680-4E68-233C-32C7-DE3BACF5076B}"/>
              </a:ext>
            </a:extLst>
          </p:cNvPr>
          <p:cNvSpPr>
            <a:spLocks noGrp="1"/>
          </p:cNvSpPr>
          <p:nvPr>
            <p:ph type="dt" sz="half" idx="10"/>
          </p:nvPr>
        </p:nvSpPr>
        <p:spPr/>
        <p:txBody>
          <a:bodyPr/>
          <a:lstStyle/>
          <a:p>
            <a:fld id="{29A2AE55-91A3-4EAD-98B2-F51E23CE9DE1}" type="datetimeFigureOut">
              <a:rPr lang="en-US" smtClean="0"/>
              <a:t>10/20/2026</a:t>
            </a:fld>
            <a:endParaRPr lang="en-US"/>
          </a:p>
        </p:txBody>
      </p:sp>
      <p:sp>
        <p:nvSpPr>
          <p:cNvPr id="3" name="Footer Placeholder 2">
            <a:extLst>
              <a:ext uri="{FF2B5EF4-FFF2-40B4-BE49-F238E27FC236}">
                <a16:creationId xmlns:a16="http://schemas.microsoft.com/office/drawing/2014/main" id="{C6ECD229-6274-1951-A0F6-551FD06998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6B1E91-A4E7-B462-23B9-F8A55FA282AA}"/>
              </a:ext>
            </a:extLst>
          </p:cNvPr>
          <p:cNvSpPr>
            <a:spLocks noGrp="1"/>
          </p:cNvSpPr>
          <p:nvPr>
            <p:ph type="sldNum" sz="quarter" idx="12"/>
          </p:nvPr>
        </p:nvSpPr>
        <p:spPr/>
        <p:txBody>
          <a:bodyPr/>
          <a:lstStyle/>
          <a:p>
            <a:fld id="{BDC08FBB-BB07-4DA5-BF92-4713754E86EC}" type="slidenum">
              <a:rPr lang="en-US" smtClean="0"/>
              <a:t>‹#›</a:t>
            </a:fld>
            <a:endParaRPr lang="en-US"/>
          </a:p>
        </p:txBody>
      </p:sp>
    </p:spTree>
    <p:extLst>
      <p:ext uri="{BB962C8B-B14F-4D97-AF65-F5344CB8AC3E}">
        <p14:creationId xmlns:p14="http://schemas.microsoft.com/office/powerpoint/2010/main" val="35150466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26F2B0-CD49-F527-9436-A316DAC34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6478DC-C012-6EBB-F6D2-26A4F9DFBF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EF7A58-BCD3-EADC-2C3A-29F649505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A2AE55-91A3-4EAD-98B2-F51E23CE9DE1}" type="datetimeFigureOut">
              <a:rPr lang="en-US" smtClean="0"/>
              <a:t>10/20/2026</a:t>
            </a:fld>
            <a:endParaRPr lang="en-US"/>
          </a:p>
        </p:txBody>
      </p:sp>
      <p:sp>
        <p:nvSpPr>
          <p:cNvPr id="5" name="Footer Placeholder 4">
            <a:extLst>
              <a:ext uri="{FF2B5EF4-FFF2-40B4-BE49-F238E27FC236}">
                <a16:creationId xmlns:a16="http://schemas.microsoft.com/office/drawing/2014/main" id="{F89580C3-519C-AA74-3A83-32F0BC231F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0FE0AD-4DA7-6419-7CA0-8094C200F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C08FBB-BB07-4DA5-BF92-4713754E86EC}" type="slidenum">
              <a:rPr lang="en-US" smtClean="0"/>
              <a:t>‹#›</a:t>
            </a:fld>
            <a:endParaRPr lang="en-US"/>
          </a:p>
        </p:txBody>
      </p:sp>
    </p:spTree>
    <p:extLst>
      <p:ext uri="{BB962C8B-B14F-4D97-AF65-F5344CB8AC3E}">
        <p14:creationId xmlns:p14="http://schemas.microsoft.com/office/powerpoint/2010/main" val="271812718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EAE94C-5B40-AB93-21D0-727FD5ABE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937844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2036</Words>
  <Application>Microsoft Office PowerPoint</Application>
  <PresentationFormat>寬螢幕</PresentationFormat>
  <Paragraphs>98</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2026-09-28T06:29:42Z</dcterms:created>
  <dcterms:modified xsi:type="dcterms:W3CDTF">2026-10-20T13:28:18Z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2026-09-29T03:00:39Z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ab5f9d3d-74c6-4fd6-bbd6-407bb906c310</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