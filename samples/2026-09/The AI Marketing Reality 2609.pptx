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63DF76C-F90B-496A-A231-C4A6B5BC061D}" v="17" dt="2026-09-23T03:14:49.49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64530"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3T03:15:00.631" v="55" actId="166"/>
      <pc:docMkLst>
        <pc:docMk/>
      </pc:docMkLst>
      <pc:sldChg chg="addSp delSp modSp mod modAnim modNotesTx">
        <pc:chgData name="Lai, Wilson" userId="2840974a-0d84-4886-90a9-9a3ed79f3a48" providerId="ADAL" clId="{9F23B798-9E84-4552-BA63-E776E805C424}" dt="2026-09-23T03:15:00.631" v="55" actId="166"/>
        <pc:sldMkLst>
          <pc:docMk/>
          <pc:sldMk cId="0" sldId="257"/>
        </pc:sldMkLst>
        <pc:spChg chg="add mod">
          <ac:chgData name="Lai, Wilson" userId="2840974a-0d84-4886-90a9-9a3ed79f3a48" providerId="ADAL" clId="{9F23B798-9E84-4552-BA63-E776E805C424}" dt="2026-09-23T02:10:25.036" v="30" actId="164"/>
          <ac:spMkLst>
            <pc:docMk/>
            <pc:sldMk cId="0" sldId="257"/>
            <ac:spMk id="5" creationId="{6EEE7F62-65EB-9F71-047D-0328B3711611}"/>
          </ac:spMkLst>
        </pc:spChg>
        <pc:grpChg chg="add mod">
          <ac:chgData name="Lai, Wilson" userId="2840974a-0d84-4886-90a9-9a3ed79f3a48" providerId="ADAL" clId="{9F23B798-9E84-4552-BA63-E776E805C424}" dt="2026-09-23T02:10:25.036" v="30" actId="164"/>
          <ac:grpSpMkLst>
            <pc:docMk/>
            <pc:sldMk cId="0" sldId="257"/>
            <ac:grpSpMk id="6" creationId="{2C9ACA70-6EB6-B1EA-83AE-F66973F85981}"/>
          </ac:grpSpMkLst>
        </pc:grpChg>
        <pc:picChg chg="del">
          <ac:chgData name="Lai, Wilson" userId="2840974a-0d84-4886-90a9-9a3ed79f3a48" providerId="ADAL" clId="{9F23B798-9E84-4552-BA63-E776E805C424}" dt="2026-09-23T01:50:53.039" v="0" actId="21"/>
          <ac:picMkLst>
            <pc:docMk/>
            <pc:sldMk cId="0" sldId="257"/>
            <ac:picMk id="2" creationId="{00000000-0000-0000-0000-000000000000}"/>
          </ac:picMkLst>
        </pc:picChg>
        <pc:picChg chg="add mod">
          <ac:chgData name="Lai, Wilson" userId="2840974a-0d84-4886-90a9-9a3ed79f3a48" providerId="ADAL" clId="{9F23B798-9E84-4552-BA63-E776E805C424}" dt="2026-09-23T02:10:25.036" v="30" actId="164"/>
          <ac:picMkLst>
            <pc:docMk/>
            <pc:sldMk cId="0" sldId="257"/>
            <ac:picMk id="2" creationId="{F4F00605-68A6-0513-1C3D-E4BDC17FF522}"/>
          </ac:picMkLst>
        </pc:picChg>
        <pc:picChg chg="add ord">
          <ac:chgData name="Lai, Wilson" userId="2840974a-0d84-4886-90a9-9a3ed79f3a48" providerId="ADAL" clId="{9F23B798-9E84-4552-BA63-E776E805C424}" dt="2026-09-23T03:15:00.631" v="55" actId="166"/>
          <ac:picMkLst>
            <pc:docMk/>
            <pc:sldMk cId="0" sldId="257"/>
            <ac:picMk id="4" creationId="{64716A28-BBFA-33AD-B1FC-4DEF7B9687CD}"/>
          </ac:picMkLst>
        </pc:picChg>
      </pc:sldChg>
      <pc:sldChg chg="addSp delSp mod">
        <pc:chgData name="Lai, Wilson" userId="2840974a-0d84-4886-90a9-9a3ed79f3a48" providerId="ADAL" clId="{9F23B798-9E84-4552-BA63-E776E805C424}" dt="2026-09-23T01:51:09.805" v="3" actId="22"/>
        <pc:sldMkLst>
          <pc:docMk/>
          <pc:sldMk cId="0" sldId="258"/>
        </pc:sldMkLst>
        <pc:picChg chg="del">
          <ac:chgData name="Lai, Wilson" userId="2840974a-0d84-4886-90a9-9a3ed79f3a48" providerId="ADAL" clId="{9F23B798-9E84-4552-BA63-E776E805C424}" dt="2026-09-23T01:51:02.709" v="2" actId="21"/>
          <ac:picMkLst>
            <pc:docMk/>
            <pc:sldMk cId="0" sldId="258"/>
            <ac:picMk id="2" creationId="{00000000-0000-0000-0000-000000000000}"/>
          </ac:picMkLst>
        </pc:picChg>
        <pc:picChg chg="add">
          <ac:chgData name="Lai, Wilson" userId="2840974a-0d84-4886-90a9-9a3ed79f3a48" providerId="ADAL" clId="{9F23B798-9E84-4552-BA63-E776E805C424}" dt="2026-09-23T01:51:09.805" v="3" actId="22"/>
          <ac:picMkLst>
            <pc:docMk/>
            <pc:sldMk cId="0" sldId="258"/>
            <ac:picMk id="4" creationId="{34D891B9-D5A1-17FD-782A-9A45B054CD05}"/>
          </ac:picMkLst>
        </pc:picChg>
      </pc:sldChg>
      <pc:sldChg chg="modNotesTx">
        <pc:chgData name="Lai, Wilson" userId="2840974a-0d84-4886-90a9-9a3ed79f3a48" providerId="ADAL" clId="{9F23B798-9E84-4552-BA63-E776E805C424}" dt="2026-09-23T03:13:18.125" v="42" actId="12"/>
        <pc:sldMkLst>
          <pc:docMk/>
          <pc:sldMk cId="0" sldId="259"/>
        </pc:sldMkLst>
      </pc:sldChg>
      <pc:sldChg chg="addSp delSp mod modNotesTx">
        <pc:chgData name="Lai, Wilson" userId="2840974a-0d84-4886-90a9-9a3ed79f3a48" providerId="ADAL" clId="{9F23B798-9E84-4552-BA63-E776E805C424}" dt="2026-09-23T03:13:29.792" v="44" actId="14"/>
        <pc:sldMkLst>
          <pc:docMk/>
          <pc:sldMk cId="0" sldId="260"/>
        </pc:sldMkLst>
        <pc:picChg chg="del">
          <ac:chgData name="Lai, Wilson" userId="2840974a-0d84-4886-90a9-9a3ed79f3a48" providerId="ADAL" clId="{9F23B798-9E84-4552-BA63-E776E805C424}" dt="2026-09-23T01:51:12.177" v="4" actId="21"/>
          <ac:picMkLst>
            <pc:docMk/>
            <pc:sldMk cId="0" sldId="260"/>
            <ac:picMk id="2" creationId="{00000000-0000-0000-0000-000000000000}"/>
          </ac:picMkLst>
        </pc:picChg>
        <pc:picChg chg="add">
          <ac:chgData name="Lai, Wilson" userId="2840974a-0d84-4886-90a9-9a3ed79f3a48" providerId="ADAL" clId="{9F23B798-9E84-4552-BA63-E776E805C424}" dt="2026-09-23T01:51:19.173" v="5" actId="22"/>
          <ac:picMkLst>
            <pc:docMk/>
            <pc:sldMk cId="0" sldId="260"/>
            <ac:picMk id="4" creationId="{8AE72004-955A-3B4C-0AF9-76284B680D0E}"/>
          </ac:picMkLst>
        </pc:picChg>
      </pc:sldChg>
      <pc:sldChg chg="addSp delSp mod">
        <pc:chgData name="Lai, Wilson" userId="2840974a-0d84-4886-90a9-9a3ed79f3a48" providerId="ADAL" clId="{9F23B798-9E84-4552-BA63-E776E805C424}" dt="2026-09-23T01:51:29.128" v="7" actId="22"/>
        <pc:sldMkLst>
          <pc:docMk/>
          <pc:sldMk cId="0" sldId="261"/>
        </pc:sldMkLst>
        <pc:picChg chg="del">
          <ac:chgData name="Lai, Wilson" userId="2840974a-0d84-4886-90a9-9a3ed79f3a48" providerId="ADAL" clId="{9F23B798-9E84-4552-BA63-E776E805C424}" dt="2026-09-23T01:51:20.676" v="6" actId="21"/>
          <ac:picMkLst>
            <pc:docMk/>
            <pc:sldMk cId="0" sldId="261"/>
            <ac:picMk id="2" creationId="{00000000-0000-0000-0000-000000000000}"/>
          </ac:picMkLst>
        </pc:picChg>
        <pc:picChg chg="add">
          <ac:chgData name="Lai, Wilson" userId="2840974a-0d84-4886-90a9-9a3ed79f3a48" providerId="ADAL" clId="{9F23B798-9E84-4552-BA63-E776E805C424}" dt="2026-09-23T01:51:29.128" v="7" actId="22"/>
          <ac:picMkLst>
            <pc:docMk/>
            <pc:sldMk cId="0" sldId="261"/>
            <ac:picMk id="4" creationId="{ED264D00-AD2C-C935-A9F8-5A9238F1BE81}"/>
          </ac:picMkLst>
        </pc:picChg>
      </pc:sldChg>
      <pc:sldChg chg="addSp delSp mod modNotesTx">
        <pc:chgData name="Lai, Wilson" userId="2840974a-0d84-4886-90a9-9a3ed79f3a48" providerId="ADAL" clId="{9F23B798-9E84-4552-BA63-E776E805C424}" dt="2026-09-23T03:13:48.448" v="46" actId="12"/>
        <pc:sldMkLst>
          <pc:docMk/>
          <pc:sldMk cId="0" sldId="262"/>
        </pc:sldMkLst>
        <pc:picChg chg="del">
          <ac:chgData name="Lai, Wilson" userId="2840974a-0d84-4886-90a9-9a3ed79f3a48" providerId="ADAL" clId="{9F23B798-9E84-4552-BA63-E776E805C424}" dt="2026-09-23T01:51:30.286" v="8" actId="21"/>
          <ac:picMkLst>
            <pc:docMk/>
            <pc:sldMk cId="0" sldId="262"/>
            <ac:picMk id="2" creationId="{00000000-0000-0000-0000-000000000000}"/>
          </ac:picMkLst>
        </pc:picChg>
        <pc:picChg chg="add">
          <ac:chgData name="Lai, Wilson" userId="2840974a-0d84-4886-90a9-9a3ed79f3a48" providerId="ADAL" clId="{9F23B798-9E84-4552-BA63-E776E805C424}" dt="2026-09-23T01:51:37.473" v="9" actId="22"/>
          <ac:picMkLst>
            <pc:docMk/>
            <pc:sldMk cId="0" sldId="262"/>
            <ac:picMk id="4" creationId="{E7C3A56A-49BC-52B1-FDBE-B4F744E55C19}"/>
          </ac:picMkLst>
        </pc:picChg>
      </pc:sldChg>
      <pc:sldChg chg="addSp delSp mod modNotesTx">
        <pc:chgData name="Lai, Wilson" userId="2840974a-0d84-4886-90a9-9a3ed79f3a48" providerId="ADAL" clId="{9F23B798-9E84-4552-BA63-E776E805C424}" dt="2026-09-23T03:14:02.999" v="48" actId="14"/>
        <pc:sldMkLst>
          <pc:docMk/>
          <pc:sldMk cId="0" sldId="263"/>
        </pc:sldMkLst>
        <pc:picChg chg="del">
          <ac:chgData name="Lai, Wilson" userId="2840974a-0d84-4886-90a9-9a3ed79f3a48" providerId="ADAL" clId="{9F23B798-9E84-4552-BA63-E776E805C424}" dt="2026-09-23T01:51:39.507" v="10" actId="21"/>
          <ac:picMkLst>
            <pc:docMk/>
            <pc:sldMk cId="0" sldId="263"/>
            <ac:picMk id="2" creationId="{00000000-0000-0000-0000-000000000000}"/>
          </ac:picMkLst>
        </pc:picChg>
        <pc:picChg chg="add">
          <ac:chgData name="Lai, Wilson" userId="2840974a-0d84-4886-90a9-9a3ed79f3a48" providerId="ADAL" clId="{9F23B798-9E84-4552-BA63-E776E805C424}" dt="2026-09-23T01:51:46.991" v="11" actId="22"/>
          <ac:picMkLst>
            <pc:docMk/>
            <pc:sldMk cId="0" sldId="263"/>
            <ac:picMk id="4" creationId="{6DB14B72-2492-E14A-9E90-DA775C192A96}"/>
          </ac:picMkLst>
        </pc:picChg>
      </pc:sldChg>
      <pc:sldChg chg="addSp delSp mod">
        <pc:chgData name="Lai, Wilson" userId="2840974a-0d84-4886-90a9-9a3ed79f3a48" providerId="ADAL" clId="{9F23B798-9E84-4552-BA63-E776E805C424}" dt="2026-09-23T01:51:58.045" v="13" actId="22"/>
        <pc:sldMkLst>
          <pc:docMk/>
          <pc:sldMk cId="0" sldId="264"/>
        </pc:sldMkLst>
        <pc:picChg chg="del">
          <ac:chgData name="Lai, Wilson" userId="2840974a-0d84-4886-90a9-9a3ed79f3a48" providerId="ADAL" clId="{9F23B798-9E84-4552-BA63-E776E805C424}" dt="2026-09-23T01:51:49.364" v="12" actId="21"/>
          <ac:picMkLst>
            <pc:docMk/>
            <pc:sldMk cId="0" sldId="264"/>
            <ac:picMk id="2" creationId="{00000000-0000-0000-0000-000000000000}"/>
          </ac:picMkLst>
        </pc:picChg>
        <pc:picChg chg="add">
          <ac:chgData name="Lai, Wilson" userId="2840974a-0d84-4886-90a9-9a3ed79f3a48" providerId="ADAL" clId="{9F23B798-9E84-4552-BA63-E776E805C424}" dt="2026-09-23T01:51:58.045" v="13" actId="22"/>
          <ac:picMkLst>
            <pc:docMk/>
            <pc:sldMk cId="0" sldId="264"/>
            <ac:picMk id="4" creationId="{73392E35-1171-D302-AD29-D06C23176F1A}"/>
          </ac:picMkLst>
        </pc:picChg>
      </pc:sldChg>
      <pc:sldChg chg="addSp delSp mod">
        <pc:chgData name="Lai, Wilson" userId="2840974a-0d84-4886-90a9-9a3ed79f3a48" providerId="ADAL" clId="{9F23B798-9E84-4552-BA63-E776E805C424}" dt="2026-09-23T01:52:06.350" v="15" actId="22"/>
        <pc:sldMkLst>
          <pc:docMk/>
          <pc:sldMk cId="0" sldId="265"/>
        </pc:sldMkLst>
        <pc:picChg chg="del">
          <ac:chgData name="Lai, Wilson" userId="2840974a-0d84-4886-90a9-9a3ed79f3a48" providerId="ADAL" clId="{9F23B798-9E84-4552-BA63-E776E805C424}" dt="2026-09-23T01:52:00.044" v="14" actId="21"/>
          <ac:picMkLst>
            <pc:docMk/>
            <pc:sldMk cId="0" sldId="265"/>
            <ac:picMk id="2" creationId="{00000000-0000-0000-0000-000000000000}"/>
          </ac:picMkLst>
        </pc:picChg>
        <pc:picChg chg="add">
          <ac:chgData name="Lai, Wilson" userId="2840974a-0d84-4886-90a9-9a3ed79f3a48" providerId="ADAL" clId="{9F23B798-9E84-4552-BA63-E776E805C424}" dt="2026-09-23T01:52:06.350" v="15" actId="22"/>
          <ac:picMkLst>
            <pc:docMk/>
            <pc:sldMk cId="0" sldId="265"/>
            <ac:picMk id="4" creationId="{EB56F88E-A926-9D49-EEC6-3809095AC6CA}"/>
          </ac:picMkLst>
        </pc:picChg>
      </pc:sldChg>
      <pc:sldChg chg="addSp delSp mod">
        <pc:chgData name="Lai, Wilson" userId="2840974a-0d84-4886-90a9-9a3ed79f3a48" providerId="ADAL" clId="{9F23B798-9E84-4552-BA63-E776E805C424}" dt="2026-09-23T01:52:15.266" v="17" actId="22"/>
        <pc:sldMkLst>
          <pc:docMk/>
          <pc:sldMk cId="0" sldId="266"/>
        </pc:sldMkLst>
        <pc:picChg chg="del">
          <ac:chgData name="Lai, Wilson" userId="2840974a-0d84-4886-90a9-9a3ed79f3a48" providerId="ADAL" clId="{9F23B798-9E84-4552-BA63-E776E805C424}" dt="2026-09-23T01:52:08.438" v="16" actId="21"/>
          <ac:picMkLst>
            <pc:docMk/>
            <pc:sldMk cId="0" sldId="266"/>
            <ac:picMk id="2" creationId="{00000000-0000-0000-0000-000000000000}"/>
          </ac:picMkLst>
        </pc:picChg>
        <pc:picChg chg="add">
          <ac:chgData name="Lai, Wilson" userId="2840974a-0d84-4886-90a9-9a3ed79f3a48" providerId="ADAL" clId="{9F23B798-9E84-4552-BA63-E776E805C424}" dt="2026-09-23T01:52:15.266" v="17" actId="22"/>
          <ac:picMkLst>
            <pc:docMk/>
            <pc:sldMk cId="0" sldId="266"/>
            <ac:picMk id="4" creationId="{6AE5CCA7-5FE0-E421-3E63-C35A93474201}"/>
          </ac:picMkLst>
        </pc:picChg>
      </pc:sldChg>
      <pc:sldChg chg="addSp delSp mod">
        <pc:chgData name="Lai, Wilson" userId="2840974a-0d84-4886-90a9-9a3ed79f3a48" providerId="ADAL" clId="{9F23B798-9E84-4552-BA63-E776E805C424}" dt="2026-09-23T01:52:28.305" v="19" actId="22"/>
        <pc:sldMkLst>
          <pc:docMk/>
          <pc:sldMk cId="0" sldId="267"/>
        </pc:sldMkLst>
        <pc:picChg chg="del">
          <ac:chgData name="Lai, Wilson" userId="2840974a-0d84-4886-90a9-9a3ed79f3a48" providerId="ADAL" clId="{9F23B798-9E84-4552-BA63-E776E805C424}" dt="2026-09-23T01:52:17.089" v="18" actId="21"/>
          <ac:picMkLst>
            <pc:docMk/>
            <pc:sldMk cId="0" sldId="267"/>
            <ac:picMk id="2" creationId="{00000000-0000-0000-0000-000000000000}"/>
          </ac:picMkLst>
        </pc:picChg>
        <pc:picChg chg="add">
          <ac:chgData name="Lai, Wilson" userId="2840974a-0d84-4886-90a9-9a3ed79f3a48" providerId="ADAL" clId="{9F23B798-9E84-4552-BA63-E776E805C424}" dt="2026-09-23T01:52:28.305" v="19" actId="22"/>
          <ac:picMkLst>
            <pc:docMk/>
            <pc:sldMk cId="0" sldId="267"/>
            <ac:picMk id="4" creationId="{9B87121F-0CD4-3AB0-E6EE-6FFE4B96661F}"/>
          </ac:picMkLst>
        </pc:picChg>
      </pc:sldChg>
      <pc:sldChg chg="addSp delSp mod">
        <pc:chgData name="Lai, Wilson" userId="2840974a-0d84-4886-90a9-9a3ed79f3a48" providerId="ADAL" clId="{9F23B798-9E84-4552-BA63-E776E805C424}" dt="2026-09-23T01:52:37.340" v="21" actId="22"/>
        <pc:sldMkLst>
          <pc:docMk/>
          <pc:sldMk cId="0" sldId="268"/>
        </pc:sldMkLst>
        <pc:picChg chg="del">
          <ac:chgData name="Lai, Wilson" userId="2840974a-0d84-4886-90a9-9a3ed79f3a48" providerId="ADAL" clId="{9F23B798-9E84-4552-BA63-E776E805C424}" dt="2026-09-23T01:52:29.831" v="20" actId="21"/>
          <ac:picMkLst>
            <pc:docMk/>
            <pc:sldMk cId="0" sldId="268"/>
            <ac:picMk id="2" creationId="{00000000-0000-0000-0000-000000000000}"/>
          </ac:picMkLst>
        </pc:picChg>
        <pc:picChg chg="add">
          <ac:chgData name="Lai, Wilson" userId="2840974a-0d84-4886-90a9-9a3ed79f3a48" providerId="ADAL" clId="{9F23B798-9E84-4552-BA63-E776E805C424}" dt="2026-09-23T01:52:37.340" v="21" actId="22"/>
          <ac:picMkLst>
            <pc:docMk/>
            <pc:sldMk cId="0" sldId="268"/>
            <ac:picMk id="4" creationId="{13A279E9-8F46-D437-4B8D-10B96B873C93}"/>
          </ac:picMkLst>
        </pc:picChg>
      </pc:sldChg>
      <pc:sldChg chg="modNotesTx">
        <pc:chgData name="Lai, Wilson" userId="2840974a-0d84-4886-90a9-9a3ed79f3a48" providerId="ADAL" clId="{9F23B798-9E84-4552-BA63-E776E805C424}" dt="2026-09-23T03:14:52.187" v="54" actId="113"/>
        <pc:sldMkLst>
          <pc:docMk/>
          <pc:sldMk cId="2425440197"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8EF4E9-D525-4301-88E3-EE973CF5B027}"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7CE5BF-87C9-4F4C-B0A7-1EE1A4C03949}" type="slidenum">
              <a:rPr lang="en-US" smtClean="0"/>
              <a:t>‹#›</a:t>
            </a:fld>
            <a:endParaRPr lang="en-US"/>
          </a:p>
        </p:txBody>
      </p:sp>
    </p:spTree>
    <p:extLst>
      <p:ext uri="{BB962C8B-B14F-4D97-AF65-F5344CB8AC3E}">
        <p14:creationId xmlns:p14="http://schemas.microsoft.com/office/powerpoint/2010/main" val="3573565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b="1" dirty="0"/>
              <a:t>Introduction</a:t>
            </a:r>
            <a:r>
              <a:rPr lang="en-US" dirty="0"/>
              <a:t>: Welcome everyone. Today, we are breaking down "The AI Marketing Reality Check." For the past two years, the industry has been obsessed with chasing broad reach, vanity metrics, and viral views. However, the harsh truth for B2B and enterprise brands is simple: millions of views do not automatically convert into multi-million-dollar contracts.</a:t>
            </a:r>
          </a:p>
          <a:p>
            <a:pPr lvl="0"/>
            <a:r>
              <a:rPr lang="en-US" b="1" dirty="0"/>
              <a:t>The Core Themes</a:t>
            </a:r>
            <a:r>
              <a:rPr lang="en-US" dirty="0"/>
              <a:t>:</a:t>
            </a:r>
          </a:p>
          <a:p>
            <a:pPr marL="171450" lvl="0" indent="-171450">
              <a:buFont typeface="Arial" panose="020B0604020202020204" pitchFamily="34" charset="0"/>
              <a:buChar char="•"/>
            </a:pPr>
            <a:r>
              <a:rPr lang="en-US" b="1" dirty="0"/>
              <a:t>Autonomous Agents</a:t>
            </a:r>
            <a:r>
              <a:rPr lang="en-US" dirty="0"/>
              <a:t>: We are moving rapidly past simple chatbots into AI agents capable of executing end-to-end operational workflows.</a:t>
            </a:r>
          </a:p>
          <a:p>
            <a:pPr marL="171450" lvl="0" indent="-171450">
              <a:buFont typeface="Arial" panose="020B0604020202020204" pitchFamily="34" charset="0"/>
              <a:buChar char="•"/>
            </a:pPr>
            <a:r>
              <a:rPr lang="en-US" b="1" dirty="0"/>
              <a:t>Content Economics</a:t>
            </a:r>
            <a:r>
              <a:rPr lang="en-US" dirty="0"/>
              <a:t>: Broad content builds audiences, but hyper-niche content builds bottom-line enterprise revenue.</a:t>
            </a:r>
          </a:p>
          <a:p>
            <a:pPr marL="171450" lvl="0" indent="-171450">
              <a:buFont typeface="Arial" panose="020B0604020202020204" pitchFamily="34" charset="0"/>
              <a:buChar char="•"/>
            </a:pPr>
            <a:r>
              <a:rPr lang="en-US" b="1" dirty="0"/>
              <a:t>Operational Focus</a:t>
            </a:r>
            <a:r>
              <a:rPr lang="en-US" dirty="0"/>
              <a:t>: Raw tech is no longer a sustainable moat—distribution, trust, and ruthless focus through "unshipping" are.</a:t>
            </a:r>
          </a:p>
          <a:p>
            <a:pPr lvl="0"/>
            <a:r>
              <a:rPr lang="en-US" b="1" dirty="0"/>
              <a:t>Transition</a:t>
            </a:r>
            <a:r>
              <a:rPr lang="en-US" dirty="0"/>
              <a:t>: Let’s dive straight into how AI is shifting from conversational assistants into true execution engines.</a:t>
            </a:r>
          </a:p>
          <a:p>
            <a:endParaRPr lang="en-US" dirty="0"/>
          </a:p>
          <a:p>
            <a:endParaRPr lang="en-US" dirty="0"/>
          </a:p>
          <a:p>
            <a:endParaRPr lang="en-US" dirty="0"/>
          </a:p>
          <a:p>
            <a:r>
              <a:rPr lang="en-US" b="1" dirty="0"/>
              <a:t>Meta's New AI Agent, $100M Email With No Employees, and the AI That Made $75</a:t>
            </a:r>
          </a:p>
          <a:p>
            <a:r>
              <a:rPr lang="en-US" dirty="0"/>
              <a:t>https://www.youtube.com/watch?v=_b2rYZbach0</a:t>
            </a:r>
          </a:p>
        </p:txBody>
      </p:sp>
      <p:sp>
        <p:nvSpPr>
          <p:cNvPr id="4" name="Slide Number Placeholder 3"/>
          <p:cNvSpPr>
            <a:spLocks noGrp="1"/>
          </p:cNvSpPr>
          <p:nvPr>
            <p:ph type="sldNum" sz="quarter" idx="5"/>
          </p:nvPr>
        </p:nvSpPr>
        <p:spPr/>
        <p:txBody>
          <a:bodyPr/>
          <a:lstStyle/>
          <a:p>
            <a:fld id="{C77CE5BF-87C9-4F4C-B0A7-1EE1A4C03949}" type="slidenum">
              <a:rPr lang="en-US" smtClean="0"/>
              <a:t>1</a:t>
            </a:fld>
            <a:endParaRPr lang="en-US"/>
          </a:p>
        </p:txBody>
      </p:sp>
    </p:spTree>
    <p:extLst>
      <p:ext uri="{BB962C8B-B14F-4D97-AF65-F5344CB8AC3E}">
        <p14:creationId xmlns:p14="http://schemas.microsoft.com/office/powerpoint/2010/main" val="5316670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Historical Context</a:t>
            </a:r>
            <a:r>
              <a:rPr lang="en-US" sz="1200" kern="1200" dirty="0">
                <a:solidFill>
                  <a:schemeClr val="tx1"/>
                </a:solidFill>
                <a:effectLst/>
                <a:latin typeface="+mn-lt"/>
                <a:ea typeface="+mn-ea"/>
                <a:cs typeface="+mn-cs"/>
              </a:rPr>
              <a:t>: In the first phase of generative AI, we relied heavily on "Copilots" and text-based chatbots like ChatGPT or Claude. They assisted human workflows by drafting copy or answering single queries. </a:t>
            </a:r>
          </a:p>
          <a:p>
            <a:pPr lvl="0"/>
            <a:r>
              <a:rPr lang="en-US" sz="1200" b="1" kern="1200" dirty="0">
                <a:solidFill>
                  <a:schemeClr val="tx1"/>
                </a:solidFill>
                <a:effectLst/>
                <a:latin typeface="+mn-lt"/>
                <a:ea typeface="+mn-ea"/>
                <a:cs typeface="+mn-cs"/>
              </a:rPr>
              <a:t>The Action Era</a:t>
            </a:r>
            <a:r>
              <a:rPr lang="en-US" sz="1200" kern="1200" dirty="0">
                <a:solidFill>
                  <a:schemeClr val="tx1"/>
                </a:solidFill>
                <a:effectLst/>
                <a:latin typeface="+mn-lt"/>
                <a:ea typeface="+mn-ea"/>
                <a:cs typeface="+mn-cs"/>
              </a:rPr>
              <a:t>: We have entered the era of </a:t>
            </a:r>
            <a:r>
              <a:rPr lang="en-US" sz="1200" b="1" kern="1200" dirty="0">
                <a:solidFill>
                  <a:schemeClr val="tx1"/>
                </a:solidFill>
                <a:effectLst/>
                <a:latin typeface="+mn-lt"/>
                <a:ea typeface="+mn-ea"/>
                <a:cs typeface="+mn-cs"/>
              </a:rPr>
              <a:t>Autonomous Agents</a:t>
            </a:r>
            <a:r>
              <a:rPr lang="en-US" sz="1200" kern="1200" dirty="0">
                <a:solidFill>
                  <a:schemeClr val="tx1"/>
                </a:solidFill>
                <a:effectLst/>
                <a:latin typeface="+mn-lt"/>
                <a:ea typeface="+mn-ea"/>
                <a:cs typeface="+mn-cs"/>
              </a:rPr>
              <a:t>—systems like Meta Muse, Grok, and Instinct. These agents do not just sit in a web browser wait for prompts; they operate directly across device networks via secure tools like </a:t>
            </a:r>
            <a:r>
              <a:rPr lang="en-US" sz="1200" kern="1200" dirty="0" err="1">
                <a:solidFill>
                  <a:schemeClr val="tx1"/>
                </a:solidFill>
                <a:effectLst/>
                <a:latin typeface="+mn-lt"/>
                <a:ea typeface="+mn-ea"/>
                <a:cs typeface="+mn-cs"/>
              </a:rPr>
              <a:t>Tailscale</a:t>
            </a:r>
            <a:r>
              <a:rPr lang="en-US" sz="1200" kern="1200" dirty="0">
                <a:solidFill>
                  <a:schemeClr val="tx1"/>
                </a:solidFill>
                <a:effectLst/>
                <a:latin typeface="+mn-lt"/>
                <a:ea typeface="+mn-ea"/>
                <a:cs typeface="+mn-cs"/>
              </a:rPr>
              <a:t> to perform multi-step, complex tasks completely unassisted.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The value is no longer in having a smart chatbot, but in deploying agents that handle real-world operational execution autonomously.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2</a:t>
            </a:fld>
            <a:endParaRPr lang="en-US"/>
          </a:p>
        </p:txBody>
      </p:sp>
    </p:spTree>
    <p:extLst>
      <p:ext uri="{BB962C8B-B14F-4D97-AF65-F5344CB8AC3E}">
        <p14:creationId xmlns:p14="http://schemas.microsoft.com/office/powerpoint/2010/main" val="33872136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Commoditization of Compute</a:t>
            </a:r>
            <a:r>
              <a:rPr lang="en-US" sz="1200" kern="1200" dirty="0">
                <a:solidFill>
                  <a:schemeClr val="tx1"/>
                </a:solidFill>
                <a:effectLst/>
                <a:latin typeface="+mn-lt"/>
                <a:ea typeface="+mn-ea"/>
                <a:cs typeface="+mn-cs"/>
              </a:rPr>
              <a:t>: Raw AI compute power is becoming commoditized. Models are increasingly interchangeable. As a result, the true enterprise moat is no longer the underlying model, but </a:t>
            </a:r>
            <a:r>
              <a:rPr lang="en-US" sz="1200" b="1" kern="1200" dirty="0">
                <a:solidFill>
                  <a:schemeClr val="tx1"/>
                </a:solidFill>
                <a:effectLst/>
                <a:latin typeface="+mn-lt"/>
                <a:ea typeface="+mn-ea"/>
                <a:cs typeface="+mn-cs"/>
              </a:rPr>
              <a:t>distribution</a:t>
            </a:r>
            <a:r>
              <a:rPr lang="en-US" sz="1200" kern="1200" dirty="0">
                <a:solidFill>
                  <a:schemeClr val="tx1"/>
                </a:solidFill>
                <a:effectLst/>
                <a:latin typeface="+mn-lt"/>
                <a:ea typeface="+mn-ea"/>
                <a:cs typeface="+mn-cs"/>
              </a:rPr>
              <a:t> and </a:t>
            </a:r>
            <a:r>
              <a:rPr lang="en-US" sz="1200" b="1" kern="1200" dirty="0">
                <a:solidFill>
                  <a:schemeClr val="tx1"/>
                </a:solidFill>
                <a:effectLst/>
                <a:latin typeface="+mn-lt"/>
                <a:ea typeface="+mn-ea"/>
                <a:cs typeface="+mn-cs"/>
              </a:rPr>
              <a:t>established trust</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Comparing Platforms</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Meta / Incumbents</a:t>
            </a:r>
            <a:r>
              <a:rPr lang="en-US" sz="1200" kern="1200" dirty="0">
                <a:solidFill>
                  <a:schemeClr val="tx1"/>
                </a:solidFill>
                <a:effectLst/>
                <a:latin typeface="+mn-lt"/>
                <a:ea typeface="+mn-ea"/>
                <a:cs typeface="+mn-cs"/>
              </a:rPr>
              <a:t>: Possess 3.5 billion daily active users, deep social distribution, and massive ad libraries.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Enterprise Tier AI Labs</a:t>
            </a:r>
            <a:r>
              <a:rPr lang="en-US" sz="1200" kern="1200" dirty="0">
                <a:solidFill>
                  <a:schemeClr val="tx1"/>
                </a:solidFill>
                <a:effectLst/>
                <a:latin typeface="+mn-lt"/>
                <a:ea typeface="+mn-ea"/>
                <a:cs typeface="+mn-cs"/>
              </a:rPr>
              <a:t>: Microsoft and Amazon offer deep security compliance, whereas newer AI tools risk flagging issues (e.g., deleted chats still visible days later). </a:t>
            </a:r>
          </a:p>
          <a:p>
            <a:pPr lvl="0"/>
            <a:r>
              <a:rPr lang="en-US" sz="1200" b="1" kern="1200" dirty="0">
                <a:solidFill>
                  <a:schemeClr val="tx1"/>
                </a:solidFill>
                <a:effectLst/>
                <a:latin typeface="+mn-lt"/>
                <a:ea typeface="+mn-ea"/>
                <a:cs typeface="+mn-cs"/>
              </a:rPr>
              <a:t>Key Insight</a:t>
            </a:r>
            <a:r>
              <a:rPr lang="en-US" sz="1200" kern="1200" dirty="0">
                <a:solidFill>
                  <a:schemeClr val="tx1"/>
                </a:solidFill>
                <a:effectLst/>
                <a:latin typeface="+mn-lt"/>
                <a:ea typeface="+mn-ea"/>
                <a:cs typeface="+mn-cs"/>
              </a:rPr>
              <a:t>: In an age dominated by autonomous agents, platforms with built-in distribution networks and deep compliance trust will win over standalone models every time.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3</a:t>
            </a:fld>
            <a:endParaRPr lang="en-US"/>
          </a:p>
        </p:txBody>
      </p:sp>
    </p:spTree>
    <p:extLst>
      <p:ext uri="{BB962C8B-B14F-4D97-AF65-F5344CB8AC3E}">
        <p14:creationId xmlns:p14="http://schemas.microsoft.com/office/powerpoint/2010/main" val="9182660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Fallacy of Mass Views</a:t>
            </a:r>
            <a:r>
              <a:rPr lang="en-US" sz="1200" kern="1200" dirty="0">
                <a:solidFill>
                  <a:schemeClr val="tx1"/>
                </a:solidFill>
                <a:effectLst/>
                <a:latin typeface="+mn-lt"/>
                <a:ea typeface="+mn-ea"/>
                <a:cs typeface="+mn-cs"/>
              </a:rPr>
              <a:t>: Algorithmic platforms encourage creators to chase broad topics—like general personal finance or entertainment—to maximize view counts. </a:t>
            </a:r>
          </a:p>
          <a:p>
            <a:pPr lvl="0"/>
            <a:r>
              <a:rPr lang="en-US" sz="1200" b="1" kern="1200" dirty="0">
                <a:solidFill>
                  <a:schemeClr val="tx1"/>
                </a:solidFill>
                <a:effectLst/>
                <a:latin typeface="+mn-lt"/>
                <a:ea typeface="+mn-ea"/>
                <a:cs typeface="+mn-cs"/>
              </a:rPr>
              <a:t>Contrast in Numbers</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Broad content (e.g., "Your Rich BFF" style videos) hits 500K–700K views, driving endless comments but zero qualified enterprise leads.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Niche B2B content generates only 8K–30K views, but directly engages C-suite executives and procurement teams, driving $10M+ Fortune 100 RFPs. </a:t>
            </a:r>
          </a:p>
          <a:p>
            <a:pPr lvl="0"/>
            <a:r>
              <a:rPr lang="en-US" sz="1200" b="1" kern="1200" dirty="0">
                <a:solidFill>
                  <a:schemeClr val="tx1"/>
                </a:solidFill>
                <a:effectLst/>
                <a:latin typeface="+mn-lt"/>
                <a:ea typeface="+mn-ea"/>
                <a:cs typeface="+mn-cs"/>
              </a:rPr>
              <a:t>Rule of Thumb</a:t>
            </a:r>
            <a:r>
              <a:rPr lang="en-US" sz="1200" kern="1200" dirty="0">
                <a:solidFill>
                  <a:schemeClr val="tx1"/>
                </a:solidFill>
                <a:effectLst/>
                <a:latin typeface="+mn-lt"/>
                <a:ea typeface="+mn-ea"/>
                <a:cs typeface="+mn-cs"/>
              </a:rPr>
              <a:t>: If you optimize for views, force yourself to pair every reach metric with a sales lead metric. Never confuse audience scale with revenue quality.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4</a:t>
            </a:fld>
            <a:endParaRPr lang="en-US"/>
          </a:p>
        </p:txBody>
      </p:sp>
    </p:spTree>
    <p:extLst>
      <p:ext uri="{BB962C8B-B14F-4D97-AF65-F5344CB8AC3E}">
        <p14:creationId xmlns:p14="http://schemas.microsoft.com/office/powerpoint/2010/main" val="41377383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Broad Creator Model</a:t>
            </a:r>
            <a:r>
              <a:rPr lang="en-US" sz="1200" kern="1200" dirty="0">
                <a:solidFill>
                  <a:schemeClr val="tx1"/>
                </a:solidFill>
                <a:effectLst/>
                <a:latin typeface="+mn-lt"/>
                <a:ea typeface="+mn-ea"/>
                <a:cs typeface="+mn-cs"/>
              </a:rPr>
              <a:t>: Relies on high-volume, sensational entertainment. They monetize through digital courses, books, or small coaching programs. Because their audience is broad and SMB-heavy, their customer churn is extremely high. </a:t>
            </a:r>
          </a:p>
          <a:p>
            <a:pPr lvl="0"/>
            <a:r>
              <a:rPr lang="en-US" sz="1200" b="1" kern="1200" dirty="0">
                <a:solidFill>
                  <a:schemeClr val="tx1"/>
                </a:solidFill>
                <a:effectLst/>
                <a:latin typeface="+mn-lt"/>
                <a:ea typeface="+mn-ea"/>
                <a:cs typeface="+mn-cs"/>
              </a:rPr>
              <a:t>The Enterprise Marketer Model</a:t>
            </a:r>
            <a:r>
              <a:rPr lang="en-US" sz="1200" kern="1200" dirty="0">
                <a:solidFill>
                  <a:schemeClr val="tx1"/>
                </a:solidFill>
                <a:effectLst/>
                <a:latin typeface="+mn-lt"/>
                <a:ea typeface="+mn-ea"/>
                <a:cs typeface="+mn-cs"/>
              </a:rPr>
              <a:t>: Focuses on hyper-specific problem-solving for enterprise buyers. Their goal isn't to go viral; it is to secure sticky, 3-to-5-year enterprise retainers.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Wide total addressable markets (TAMs) confuse enterprise buyers. Focus on specific value over mass reach.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5</a:t>
            </a:fld>
            <a:endParaRPr lang="en-US"/>
          </a:p>
        </p:txBody>
      </p:sp>
    </p:spTree>
    <p:extLst>
      <p:ext uri="{BB962C8B-B14F-4D97-AF65-F5344CB8AC3E}">
        <p14:creationId xmlns:p14="http://schemas.microsoft.com/office/powerpoint/2010/main" val="42627999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Content Pipeline</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0:00–0:05</a:t>
            </a:r>
            <a:r>
              <a:rPr lang="en-US" sz="1200" kern="1200" dirty="0">
                <a:solidFill>
                  <a:schemeClr val="tx1"/>
                </a:solidFill>
                <a:effectLst/>
                <a:latin typeface="+mn-lt"/>
                <a:ea typeface="+mn-ea"/>
                <a:cs typeface="+mn-cs"/>
              </a:rPr>
              <a:t>: Grab attention with an entertainment hook.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0:05–0:10</a:t>
            </a:r>
            <a:r>
              <a:rPr lang="en-US" sz="1200" kern="1200" dirty="0">
                <a:solidFill>
                  <a:schemeClr val="tx1"/>
                </a:solidFill>
                <a:effectLst/>
                <a:latin typeface="+mn-lt"/>
                <a:ea typeface="+mn-ea"/>
                <a:cs typeface="+mn-cs"/>
              </a:rPr>
              <a:t>: Establish credibility early (e.g., "Our agency works with Fortune 500s...").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0:10+</a:t>
            </a:r>
            <a:r>
              <a:rPr lang="en-US" sz="1200" kern="1200" dirty="0">
                <a:solidFill>
                  <a:schemeClr val="tx1"/>
                </a:solidFill>
                <a:effectLst/>
                <a:latin typeface="+mn-lt"/>
                <a:ea typeface="+mn-ea"/>
                <a:cs typeface="+mn-cs"/>
              </a:rPr>
              <a:t>: Deliver core value. </a:t>
            </a:r>
          </a:p>
          <a:p>
            <a:pPr lvl="0"/>
            <a:r>
              <a:rPr lang="en-US" sz="1200" b="1" kern="1200" dirty="0">
                <a:solidFill>
                  <a:schemeClr val="tx1"/>
                </a:solidFill>
                <a:effectLst/>
                <a:latin typeface="+mn-lt"/>
                <a:ea typeface="+mn-ea"/>
                <a:cs typeface="+mn-cs"/>
              </a:rPr>
              <a:t>The AI Iteration Loop</a:t>
            </a:r>
            <a:r>
              <a:rPr lang="en-US" sz="1200" kern="1200" dirty="0">
                <a:solidFill>
                  <a:schemeClr val="tx1"/>
                </a:solidFill>
                <a:effectLst/>
                <a:latin typeface="+mn-lt"/>
                <a:ea typeface="+mn-ea"/>
                <a:cs typeface="+mn-cs"/>
              </a:rPr>
              <a:t>: Treat organic media with the same rigor as paid ad performance. If a post underperforms, don't leave it to sit. Use AI voice-to-code agents to analyze performance, rewrite the headline, re-edit the hook, delete the old version, and immediately republish.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6</a:t>
            </a:fld>
            <a:endParaRPr lang="en-US"/>
          </a:p>
        </p:txBody>
      </p:sp>
    </p:spTree>
    <p:extLst>
      <p:ext uri="{BB962C8B-B14F-4D97-AF65-F5344CB8AC3E}">
        <p14:creationId xmlns:p14="http://schemas.microsoft.com/office/powerpoint/2010/main" val="33820042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Enterprise Barrier</a:t>
            </a:r>
            <a:r>
              <a:rPr lang="en-US" sz="1200" kern="1200" dirty="0">
                <a:solidFill>
                  <a:schemeClr val="tx1"/>
                </a:solidFill>
                <a:effectLst/>
                <a:latin typeface="+mn-lt"/>
                <a:ea typeface="+mn-ea"/>
                <a:cs typeface="+mn-cs"/>
              </a:rPr>
              <a:t>: Niche agencies with elite skillsets often plateau at 5–10% growth because big enterprise clients refuse to hire small headcounts. Enterprise buyers stick to the age-old rule: </a:t>
            </a:r>
            <a:r>
              <a:rPr lang="en-US" sz="1200" i="1" kern="1200" dirty="0">
                <a:solidFill>
                  <a:schemeClr val="tx1"/>
                </a:solidFill>
                <a:effectLst/>
                <a:latin typeface="+mn-lt"/>
                <a:ea typeface="+mn-ea"/>
                <a:cs typeface="+mn-cs"/>
              </a:rPr>
              <a:t>"Nobody gets fired for hiring IBM."</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The Playbook</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Acquire</a:t>
            </a:r>
            <a:r>
              <a:rPr lang="en-US" sz="1200" kern="1200" dirty="0">
                <a:solidFill>
                  <a:schemeClr val="tx1"/>
                </a:solidFill>
                <a:effectLst/>
                <a:latin typeface="+mn-lt"/>
                <a:ea typeface="+mn-ea"/>
                <a:cs typeface="+mn-cs"/>
              </a:rPr>
              <a:t>: Buy a target, hyper-niche agency with strong client logos.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Integrate</a:t>
            </a:r>
            <a:r>
              <a:rPr lang="en-US" sz="1200" kern="1200" dirty="0">
                <a:solidFill>
                  <a:schemeClr val="tx1"/>
                </a:solidFill>
                <a:effectLst/>
                <a:latin typeface="+mn-lt"/>
                <a:ea typeface="+mn-ea"/>
                <a:cs typeface="+mn-cs"/>
              </a:rPr>
              <a:t>: Fold their core capabilities into a larger global footprint (e.g., 1,000+ employees across 28 countries).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Multiply</a:t>
            </a:r>
            <a:r>
              <a:rPr lang="en-US" sz="1200" kern="1200" dirty="0">
                <a:solidFill>
                  <a:schemeClr val="tx1"/>
                </a:solidFill>
                <a:effectLst/>
                <a:latin typeface="+mn-lt"/>
                <a:ea typeface="+mn-ea"/>
                <a:cs typeface="+mn-cs"/>
              </a:rPr>
              <a:t>: Eliminate the headcount objection to unlock massive corporate retainers, driving 40% to 60% EBITDA growth within 12 months.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7</a:t>
            </a:fld>
            <a:endParaRPr lang="en-US"/>
          </a:p>
        </p:txBody>
      </p:sp>
    </p:spTree>
    <p:extLst>
      <p:ext uri="{BB962C8B-B14F-4D97-AF65-F5344CB8AC3E}">
        <p14:creationId xmlns:p14="http://schemas.microsoft.com/office/powerpoint/2010/main" val="15269581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Old Paradigm</a:t>
            </a:r>
            <a:r>
              <a:rPr lang="en-US" sz="1200" kern="1200" dirty="0">
                <a:solidFill>
                  <a:schemeClr val="tx1"/>
                </a:solidFill>
                <a:effectLst/>
                <a:latin typeface="+mn-lt"/>
                <a:ea typeface="+mn-ea"/>
                <a:cs typeface="+mn-cs"/>
              </a:rPr>
              <a:t>: Marketers passed concepts to designers, creating bottlenecks. Human error and manual reviews led to off-brand assets and wasted hours. </a:t>
            </a:r>
          </a:p>
          <a:p>
            <a:pPr lvl="0"/>
            <a:r>
              <a:rPr lang="en-US" sz="1200" b="1" kern="1200" dirty="0">
                <a:solidFill>
                  <a:schemeClr val="tx1"/>
                </a:solidFill>
                <a:effectLst/>
                <a:latin typeface="+mn-lt"/>
                <a:ea typeface="+mn-ea"/>
                <a:cs typeface="+mn-cs"/>
              </a:rPr>
              <a:t>The New Paradigm</a:t>
            </a:r>
            <a:r>
              <a:rPr lang="en-US" sz="1200" kern="1200" dirty="0">
                <a:solidFill>
                  <a:schemeClr val="tx1"/>
                </a:solidFill>
                <a:effectLst/>
                <a:latin typeface="+mn-lt"/>
                <a:ea typeface="+mn-ea"/>
                <a:cs typeface="+mn-cs"/>
              </a:rPr>
              <a:t>: Codify brand guidelines into structured files (like .md files). </a:t>
            </a:r>
          </a:p>
          <a:p>
            <a:pPr lvl="0"/>
            <a:r>
              <a:rPr lang="en-US" sz="1200" b="1" kern="1200" dirty="0">
                <a:solidFill>
                  <a:schemeClr val="tx1"/>
                </a:solidFill>
                <a:effectLst/>
                <a:latin typeface="+mn-lt"/>
                <a:ea typeface="+mn-ea"/>
                <a:cs typeface="+mn-cs"/>
              </a:rPr>
              <a:t>Outcome</a:t>
            </a:r>
            <a:r>
              <a:rPr lang="en-US" sz="1200" kern="1200" dirty="0">
                <a:solidFill>
                  <a:schemeClr val="tx1"/>
                </a:solidFill>
                <a:effectLst/>
                <a:latin typeface="+mn-lt"/>
                <a:ea typeface="+mn-ea"/>
                <a:cs typeface="+mn-cs"/>
              </a:rPr>
              <a:t>: AI agents ingest these guidelines to instantly generate 100% brand-compliant output. Designers no longer waste time fixing fonts or colors; they focus entirely on high-level strategic design.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8</a:t>
            </a:fld>
            <a:endParaRPr lang="en-US"/>
          </a:p>
        </p:txBody>
      </p:sp>
    </p:spTree>
    <p:extLst>
      <p:ext uri="{BB962C8B-B14F-4D97-AF65-F5344CB8AC3E}">
        <p14:creationId xmlns:p14="http://schemas.microsoft.com/office/powerpoint/2010/main" val="22071820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Trap of Abundance</a:t>
            </a:r>
            <a:r>
              <a:rPr lang="en-US" sz="1200" kern="1200" dirty="0">
                <a:solidFill>
                  <a:schemeClr val="tx1"/>
                </a:solidFill>
                <a:effectLst/>
                <a:latin typeface="+mn-lt"/>
                <a:ea typeface="+mn-ea"/>
                <a:cs typeface="+mn-cs"/>
              </a:rPr>
              <a:t>: Because AI makes it easy to build and launch products quickly, teams risk over-extending themselves and diluting their core offering. </a:t>
            </a:r>
          </a:p>
          <a:p>
            <a:pPr lvl="0"/>
            <a:r>
              <a:rPr lang="en-US" sz="1200" b="1" kern="1200" dirty="0">
                <a:solidFill>
                  <a:schemeClr val="tx1"/>
                </a:solidFill>
                <a:effectLst/>
                <a:latin typeface="+mn-lt"/>
                <a:ea typeface="+mn-ea"/>
                <a:cs typeface="+mn-cs"/>
              </a:rPr>
              <a:t>Case Study – Super Memory</a:t>
            </a:r>
            <a:r>
              <a:rPr lang="en-US" sz="1200" kern="1200" dirty="0">
                <a:solidFill>
                  <a:schemeClr val="tx1"/>
                </a:solidFill>
                <a:effectLst/>
                <a:latin typeface="+mn-lt"/>
                <a:ea typeface="+mn-ea"/>
                <a:cs typeface="+mn-cs"/>
              </a:rPr>
              <a:t>: A team rapidly shipped an AI "Company Brain" integration, but realized it diverted critical engineering resources away from their core product and created client conflicts. They killed the product to protect their core business. </a:t>
            </a:r>
          </a:p>
          <a:p>
            <a:pPr lvl="0"/>
            <a:r>
              <a:rPr lang="en-US" sz="1200" b="1" kern="1200" dirty="0">
                <a:solidFill>
                  <a:schemeClr val="tx1"/>
                </a:solidFill>
                <a:effectLst/>
                <a:latin typeface="+mn-lt"/>
                <a:ea typeface="+mn-ea"/>
                <a:cs typeface="+mn-cs"/>
              </a:rPr>
              <a:t>Lesson</a:t>
            </a:r>
            <a:r>
              <a:rPr lang="en-US" sz="1200" kern="1200" dirty="0">
                <a:solidFill>
                  <a:schemeClr val="tx1"/>
                </a:solidFill>
                <a:effectLst/>
                <a:latin typeface="+mn-lt"/>
                <a:ea typeface="+mn-ea"/>
                <a:cs typeface="+mn-cs"/>
              </a:rPr>
              <a:t>: When AI enables you to ship everything, you risk becoming known for nothing. Strategic "unshipping" is more critical than shipping.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9</a:t>
            </a:fld>
            <a:endParaRPr lang="en-US"/>
          </a:p>
        </p:txBody>
      </p:sp>
    </p:spTree>
    <p:extLst>
      <p:ext uri="{BB962C8B-B14F-4D97-AF65-F5344CB8AC3E}">
        <p14:creationId xmlns:p14="http://schemas.microsoft.com/office/powerpoint/2010/main" val="24292585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Eight Sleep’s Email AI</a:t>
            </a:r>
            <a:r>
              <a:rPr lang="en-US" sz="1200" kern="1200" dirty="0">
                <a:solidFill>
                  <a:schemeClr val="tx1"/>
                </a:solidFill>
                <a:effectLst/>
                <a:latin typeface="+mn-lt"/>
                <a:ea typeface="+mn-ea"/>
                <a:cs typeface="+mn-cs"/>
              </a:rPr>
              <a:t>: Replaced a two-person email marketing team with autonomous AI bots that manage the entire campaign workflow, supported by top-of-funnel paid media. </a:t>
            </a:r>
          </a:p>
          <a:p>
            <a:pPr lvl="0"/>
            <a:r>
              <a:rPr lang="en-US" sz="1200" b="1" kern="1200" dirty="0">
                <a:solidFill>
                  <a:schemeClr val="tx1"/>
                </a:solidFill>
                <a:effectLst/>
                <a:latin typeface="+mn-lt"/>
                <a:ea typeface="+mn-ea"/>
                <a:cs typeface="+mn-cs"/>
              </a:rPr>
              <a:t>Ramp’s "Bug Basher" Experiment</a:t>
            </a:r>
            <a:r>
              <a:rPr lang="en-US" sz="1200" kern="1200" dirty="0">
                <a:solidFill>
                  <a:schemeClr val="tx1"/>
                </a:solidFill>
                <a:effectLst/>
                <a:latin typeface="+mn-lt"/>
                <a:ea typeface="+mn-ea"/>
                <a:cs typeface="+mn-cs"/>
              </a:rPr>
              <a:t>: Equipped Devin AI with a corporate card and phone number. Tasked with selling pest inspection referrals from scratch, it made 10,000 cold calls and processed transactions autonomously via Stripe, earning $75. </a:t>
            </a:r>
          </a:p>
          <a:p>
            <a:pPr lvl="0"/>
            <a:r>
              <a:rPr lang="en-US" sz="1200" b="1" kern="1200" dirty="0">
                <a:solidFill>
                  <a:schemeClr val="tx1"/>
                </a:solidFill>
                <a:effectLst/>
                <a:latin typeface="+mn-lt"/>
                <a:ea typeface="+mn-ea"/>
                <a:cs typeface="+mn-cs"/>
              </a:rPr>
              <a:t>Takeaway</a:t>
            </a:r>
            <a:r>
              <a:rPr lang="en-US" sz="1200" kern="1200" dirty="0">
                <a:solidFill>
                  <a:schemeClr val="tx1"/>
                </a:solidFill>
                <a:effectLst/>
                <a:latin typeface="+mn-lt"/>
                <a:ea typeface="+mn-ea"/>
                <a:cs typeface="+mn-cs"/>
              </a:rPr>
              <a:t>: AI agents are no longer purely theoretical—they are actively transacting in the real economy.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10</a:t>
            </a:fld>
            <a:endParaRPr lang="en-US"/>
          </a:p>
        </p:txBody>
      </p:sp>
    </p:spTree>
    <p:extLst>
      <p:ext uri="{BB962C8B-B14F-4D97-AF65-F5344CB8AC3E}">
        <p14:creationId xmlns:p14="http://schemas.microsoft.com/office/powerpoint/2010/main" val="192908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Broad Reach Limitations</a:t>
            </a:r>
            <a:r>
              <a:rPr lang="en-US" sz="1200" kern="1200" dirty="0">
                <a:solidFill>
                  <a:schemeClr val="tx1"/>
                </a:solidFill>
                <a:effectLst/>
                <a:latin typeface="+mn-lt"/>
                <a:ea typeface="+mn-ea"/>
                <a:cs typeface="+mn-cs"/>
              </a:rPr>
              <a:t>: Broad content drives ~70% of SMB leads but less than 3% of enterprise revenue. </a:t>
            </a:r>
          </a:p>
          <a:p>
            <a:pPr lvl="0"/>
            <a:r>
              <a:rPr lang="en-US" sz="1200" b="1" kern="1200" dirty="0">
                <a:solidFill>
                  <a:schemeClr val="tx1"/>
                </a:solidFill>
                <a:effectLst/>
                <a:latin typeface="+mn-lt"/>
                <a:ea typeface="+mn-ea"/>
                <a:cs typeface="+mn-cs"/>
              </a:rPr>
              <a:t>Operational Efficiency</a:t>
            </a:r>
            <a:r>
              <a:rPr lang="en-US" sz="1200" kern="1200" dirty="0">
                <a:solidFill>
                  <a:schemeClr val="tx1"/>
                </a:solidFill>
                <a:effectLst/>
                <a:latin typeface="+mn-lt"/>
                <a:ea typeface="+mn-ea"/>
                <a:cs typeface="+mn-cs"/>
              </a:rPr>
              <a:t>: Autonomous agents handle operational tasks, while codifying brand guidelines automates design execution. </a:t>
            </a:r>
          </a:p>
          <a:p>
            <a:pPr lvl="0"/>
            <a:r>
              <a:rPr lang="en-US" sz="1200" b="1" kern="1200" dirty="0">
                <a:solidFill>
                  <a:schemeClr val="tx1"/>
                </a:solidFill>
                <a:effectLst/>
                <a:latin typeface="+mn-lt"/>
                <a:ea typeface="+mn-ea"/>
                <a:cs typeface="+mn-cs"/>
              </a:rPr>
              <a:t>The Trust Component</a:t>
            </a:r>
            <a:r>
              <a:rPr lang="en-US" sz="1200" kern="1200" dirty="0">
                <a:solidFill>
                  <a:schemeClr val="tx1"/>
                </a:solidFill>
                <a:effectLst/>
                <a:latin typeface="+mn-lt"/>
                <a:ea typeface="+mn-ea"/>
                <a:cs typeface="+mn-cs"/>
              </a:rPr>
              <a:t>: High-ticket buyers partner with established, compliant platforms over unproven startups. Combine hyper-niche content with trusted infrastructure to build stable revenue streams.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11</a:t>
            </a:fld>
            <a:endParaRPr lang="en-US"/>
          </a:p>
        </p:txBody>
      </p:sp>
    </p:spTree>
    <p:extLst>
      <p:ext uri="{BB962C8B-B14F-4D97-AF65-F5344CB8AC3E}">
        <p14:creationId xmlns:p14="http://schemas.microsoft.com/office/powerpoint/2010/main" val="31421656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SMB Audience</a:t>
            </a:r>
            <a:r>
              <a:rPr lang="en-US" sz="1200" kern="1200" dirty="0">
                <a:solidFill>
                  <a:schemeClr val="tx1"/>
                </a:solidFill>
                <a:effectLst/>
                <a:latin typeface="+mn-lt"/>
                <a:ea typeface="+mn-ea"/>
                <a:cs typeface="+mn-cs"/>
              </a:rPr>
              <a:t>: Broad content yields high customer churn due to price sensitivity and changing market conditions. </a:t>
            </a:r>
          </a:p>
          <a:p>
            <a:pPr lvl="0"/>
            <a:r>
              <a:rPr lang="en-US" sz="1200" b="1" kern="1200" dirty="0">
                <a:solidFill>
                  <a:schemeClr val="tx1"/>
                </a:solidFill>
                <a:effectLst/>
                <a:latin typeface="+mn-lt"/>
                <a:ea typeface="+mn-ea"/>
                <a:cs typeface="+mn-cs"/>
              </a:rPr>
              <a:t>Enterprise Audience</a:t>
            </a:r>
            <a:r>
              <a:rPr lang="en-US" sz="1200" kern="1200" dirty="0">
                <a:solidFill>
                  <a:schemeClr val="tx1"/>
                </a:solidFill>
                <a:effectLst/>
                <a:latin typeface="+mn-lt"/>
                <a:ea typeface="+mn-ea"/>
                <a:cs typeface="+mn-cs"/>
              </a:rPr>
              <a:t>: Hyper-specific content targets specific business needs, yielding low-churn, 3-to-5-year sticky contracts. </a:t>
            </a:r>
          </a:p>
          <a:p>
            <a:pPr lvl="0"/>
            <a:r>
              <a:rPr lang="en-US" sz="1200" b="1" kern="1200" dirty="0">
                <a:solidFill>
                  <a:schemeClr val="tx1"/>
                </a:solidFill>
                <a:effectLst/>
                <a:latin typeface="+mn-lt"/>
                <a:ea typeface="+mn-ea"/>
                <a:cs typeface="+mn-cs"/>
              </a:rPr>
              <a:t>Strategic Choice</a:t>
            </a:r>
            <a:r>
              <a:rPr lang="en-US" sz="1200" kern="1200" dirty="0">
                <a:solidFill>
                  <a:schemeClr val="tx1"/>
                </a:solidFill>
                <a:effectLst/>
                <a:latin typeface="+mn-lt"/>
                <a:ea typeface="+mn-ea"/>
                <a:cs typeface="+mn-cs"/>
              </a:rPr>
              <a:t>: Choose whether your marketing model targets volume with high turnover or steady enterprise growth. </a:t>
            </a:r>
          </a:p>
          <a:p>
            <a:endParaRPr lang="en-US" dirty="0"/>
          </a:p>
        </p:txBody>
      </p:sp>
      <p:sp>
        <p:nvSpPr>
          <p:cNvPr id="4" name="Slide Number Placeholder 3"/>
          <p:cNvSpPr>
            <a:spLocks noGrp="1"/>
          </p:cNvSpPr>
          <p:nvPr>
            <p:ph type="sldNum" sz="quarter" idx="5"/>
          </p:nvPr>
        </p:nvSpPr>
        <p:spPr/>
        <p:txBody>
          <a:bodyPr/>
          <a:lstStyle/>
          <a:p>
            <a:fld id="{C77CE5BF-87C9-4F4C-B0A7-1EE1A4C03949}" type="slidenum">
              <a:rPr lang="en-US" smtClean="0"/>
              <a:t>12</a:t>
            </a:fld>
            <a:endParaRPr lang="en-US"/>
          </a:p>
        </p:txBody>
      </p:sp>
    </p:spTree>
    <p:extLst>
      <p:ext uri="{BB962C8B-B14F-4D97-AF65-F5344CB8AC3E}">
        <p14:creationId xmlns:p14="http://schemas.microsoft.com/office/powerpoint/2010/main" val="1906578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1. Trust Over Tech</a:t>
            </a:r>
            <a:r>
              <a:rPr lang="en-US" sz="1200" kern="1200" dirty="0">
                <a:solidFill>
                  <a:schemeClr val="tx1"/>
                </a:solidFill>
                <a:effectLst/>
                <a:latin typeface="+mn-lt"/>
                <a:ea typeface="+mn-ea"/>
                <a:cs typeface="+mn-cs"/>
              </a:rPr>
              <a:t>: Technology is commoditized; your real moat is built on established trust and strong offline relationships. </a:t>
            </a:r>
          </a:p>
          <a:p>
            <a:pPr lvl="0"/>
            <a:r>
              <a:rPr lang="en-US" sz="1200" b="1" kern="1200" dirty="0">
                <a:solidFill>
                  <a:schemeClr val="tx1"/>
                </a:solidFill>
                <a:effectLst/>
                <a:latin typeface="+mn-lt"/>
                <a:ea typeface="+mn-ea"/>
                <a:cs typeface="+mn-cs"/>
              </a:rPr>
              <a:t>2. Specificity Over TAM</a:t>
            </a:r>
            <a:r>
              <a:rPr lang="en-US" sz="1200" kern="1200" dirty="0">
                <a:solidFill>
                  <a:schemeClr val="tx1"/>
                </a:solidFill>
                <a:effectLst/>
                <a:latin typeface="+mn-lt"/>
                <a:ea typeface="+mn-ea"/>
                <a:cs typeface="+mn-cs"/>
              </a:rPr>
              <a:t>: Resist the push for broad reach. Niche content solves real problems and drives high-margin enterprise revenue. </a:t>
            </a:r>
          </a:p>
          <a:p>
            <a:pPr lvl="0"/>
            <a:r>
              <a:rPr lang="en-US" sz="1200" b="1" kern="1200" dirty="0">
                <a:solidFill>
                  <a:schemeClr val="tx1"/>
                </a:solidFill>
                <a:effectLst/>
                <a:latin typeface="+mn-lt"/>
                <a:ea typeface="+mn-ea"/>
                <a:cs typeface="+mn-cs"/>
              </a:rPr>
              <a:t>3. Focus Over Activity</a:t>
            </a:r>
            <a:r>
              <a:rPr lang="en-US" sz="1200" kern="1200" dirty="0">
                <a:solidFill>
                  <a:schemeClr val="tx1"/>
                </a:solidFill>
                <a:effectLst/>
                <a:latin typeface="+mn-lt"/>
                <a:ea typeface="+mn-ea"/>
                <a:cs typeface="+mn-cs"/>
              </a:rPr>
              <a:t>: Unship distractions ruthlessly. Let AI handle standard operational tasks so human teams can drive core strategy. </a:t>
            </a:r>
          </a:p>
          <a:p>
            <a:endParaRPr lang="en-US" dirty="0"/>
          </a:p>
          <a:p>
            <a:endParaRPr lang="en-US" dirty="0"/>
          </a:p>
          <a:p>
            <a:endParaRPr lang="en-US" dirty="0"/>
          </a:p>
          <a:p>
            <a:endParaRPr lang="en-US" dirty="0"/>
          </a:p>
          <a:p>
            <a:endParaRPr lang="en-US" dirty="0"/>
          </a:p>
          <a:p>
            <a:r>
              <a:rPr lang="en-US" b="1" dirty="0"/>
              <a:t>Meta's New AI Agent, $100M Email With No Employees, and the AI That Made $75</a:t>
            </a:r>
          </a:p>
          <a:p>
            <a:r>
              <a:rPr lang="en-US" dirty="0"/>
              <a:t>https://www.youtube.com/watch?v=_b2rYZbach0</a:t>
            </a:r>
          </a:p>
        </p:txBody>
      </p:sp>
      <p:sp>
        <p:nvSpPr>
          <p:cNvPr id="4" name="Slide Number Placeholder 3"/>
          <p:cNvSpPr>
            <a:spLocks noGrp="1"/>
          </p:cNvSpPr>
          <p:nvPr>
            <p:ph type="sldNum" sz="quarter" idx="5"/>
          </p:nvPr>
        </p:nvSpPr>
        <p:spPr/>
        <p:txBody>
          <a:bodyPr/>
          <a:lstStyle/>
          <a:p>
            <a:fld id="{C77CE5BF-87C9-4F4C-B0A7-1EE1A4C03949}" type="slidenum">
              <a:rPr lang="en-US" smtClean="0"/>
              <a:t>13</a:t>
            </a:fld>
            <a:endParaRPr lang="en-US"/>
          </a:p>
        </p:txBody>
      </p:sp>
    </p:spTree>
    <p:extLst>
      <p:ext uri="{BB962C8B-B14F-4D97-AF65-F5344CB8AC3E}">
        <p14:creationId xmlns:p14="http://schemas.microsoft.com/office/powerpoint/2010/main" val="3127410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3BB29-FD5B-DD74-416E-1F6E3E520147}"/>
              </a:ext>
            </a:extLst>
          </p:cNvPr>
          <p:cNvSpPr>
            <a:spLocks noGrp="1"/>
          </p:cNvSpPr>
          <p:nvPr>
            <p:ph type="dt" sz="half" idx="10"/>
          </p:nvPr>
        </p:nvSpPr>
        <p:spPr/>
        <p:txBody>
          <a:bodyPr/>
          <a:lstStyle/>
          <a:p>
            <a:fld id="{239B9FFA-605D-4B20-A3CF-5F40617131AC}" type="datetimeFigureOut">
              <a:rPr lang="en-US" smtClean="0"/>
              <a:t>10/21/2026</a:t>
            </a:fld>
            <a:endParaRPr lang="en-US"/>
          </a:p>
        </p:txBody>
      </p:sp>
      <p:sp>
        <p:nvSpPr>
          <p:cNvPr id="3" name="Footer Placeholder 2">
            <a:extLst>
              <a:ext uri="{FF2B5EF4-FFF2-40B4-BE49-F238E27FC236}">
                <a16:creationId xmlns:a16="http://schemas.microsoft.com/office/drawing/2014/main" id="{A07673CD-D9EA-7799-5EEB-6884421B12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C11B171-35EB-7ABF-4686-585139671B08}"/>
              </a:ext>
            </a:extLst>
          </p:cNvPr>
          <p:cNvSpPr>
            <a:spLocks noGrp="1"/>
          </p:cNvSpPr>
          <p:nvPr>
            <p:ph type="sldNum" sz="quarter" idx="12"/>
          </p:nvPr>
        </p:nvSpPr>
        <p:spPr/>
        <p:txBody>
          <a:bodyPr/>
          <a:lstStyle/>
          <a:p>
            <a:fld id="{A709A17F-B675-459F-9B0D-ED2A4754A7CF}" type="slidenum">
              <a:rPr lang="en-US" smtClean="0"/>
              <a:t>‹#›</a:t>
            </a:fld>
            <a:endParaRPr lang="en-US"/>
          </a:p>
        </p:txBody>
      </p:sp>
    </p:spTree>
    <p:extLst>
      <p:ext uri="{BB962C8B-B14F-4D97-AF65-F5344CB8AC3E}">
        <p14:creationId xmlns:p14="http://schemas.microsoft.com/office/powerpoint/2010/main" val="244615687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8D6966-4108-DB7E-164E-D2C035B65C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E207FE-992B-5B71-5F7F-E95A603AB9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ED5B6C-1CFA-9F51-7E05-F73CE246D4B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39B9FFA-605D-4B20-A3CF-5F40617131AC}" type="datetimeFigureOut">
              <a:rPr lang="en-US" smtClean="0"/>
              <a:t>10/21/2026</a:t>
            </a:fld>
            <a:endParaRPr lang="en-US"/>
          </a:p>
        </p:txBody>
      </p:sp>
      <p:sp>
        <p:nvSpPr>
          <p:cNvPr id="5" name="Footer Placeholder 4">
            <a:extLst>
              <a:ext uri="{FF2B5EF4-FFF2-40B4-BE49-F238E27FC236}">
                <a16:creationId xmlns:a16="http://schemas.microsoft.com/office/drawing/2014/main" id="{6DB385AA-C38F-EEB8-69B6-632CE24A89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70E549F-1211-D263-E780-1470B876F0A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709A17F-B675-459F-9B0D-ED2A4754A7CF}" type="slidenum">
              <a:rPr lang="en-US" smtClean="0"/>
              <a:t>‹#›</a:t>
            </a:fld>
            <a:endParaRPr lang="en-US"/>
          </a:p>
        </p:txBody>
      </p:sp>
    </p:spTree>
    <p:extLst>
      <p:ext uri="{BB962C8B-B14F-4D97-AF65-F5344CB8AC3E}">
        <p14:creationId xmlns:p14="http://schemas.microsoft.com/office/powerpoint/2010/main" val="3563151490"/>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4716A28-BBFA-33AD-B1FC-4DEF7B9687C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4D891B9-D5A1-17FD-782A-9A45B054CD0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AE72004-955A-3B4C-0AF9-76284B680D0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D264D00-AD2C-C935-A9F8-5A9238F1BE8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7C3A56A-49BC-52B1-FDBE-B4F744E55C1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DB14B72-2492-E14A-9E90-DA775C192A9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3392E35-1171-D302-AD29-D06C23176F1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B56F88E-A926-9D49-EEC6-3809095AC6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AE5CCA7-5FE0-E421-3E63-C35A9347420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87121F-0CD4-3AB0-E6EE-6FFE4B96661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3A279E9-8F46-D437-4B8D-10B96B873C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30BA5E2-FE25-C126-DBE1-22CF857BC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24254401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1326</Words>
  <Application>Microsoft Office PowerPoint</Application>
  <PresentationFormat>寬螢幕</PresentationFormat>
  <Paragraphs>75</Paragraphs>
  <Slides>13</Slides>
  <Notes>13</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13</vt:i4>
      </vt:variant>
    </vt:vector>
  </HeadingPairs>
  <TitlesOfParts>
    <vt:vector size="17"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2026-09-23T01:48:32Z</dcterms:created>
  <dcterms:modified xsi:type="dcterms:W3CDTF">2026-10-21T02:41:59Z</dcterms:modified>
</cp:coreProperties>
</file>