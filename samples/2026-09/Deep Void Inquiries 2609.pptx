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3F2ED0-3F86-46CA-B154-0E7FD38454F8}" v="20" dt="2026-09-16T15:23:12.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30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16T15:23:35.362" v="68" actId="166"/>
      <pc:docMkLst>
        <pc:docMk/>
      </pc:docMkLst>
      <pc:sldChg chg="addSp delSp modSp mod modAnim modNotesTx">
        <pc:chgData name="Lai, Wilson" userId="2840974a-0d84-4886-90a9-9a3ed79f3a48" providerId="ADAL" clId="{9F23B798-9E84-4552-BA63-E776E805C424}" dt="2026-09-16T15:23:35.362" v="68" actId="166"/>
        <pc:sldMkLst>
          <pc:docMk/>
          <pc:sldMk cId="0" sldId="257"/>
        </pc:sldMkLst>
        <pc:spChg chg="add del">
          <ac:chgData name="Lai, Wilson" userId="2840974a-0d84-4886-90a9-9a3ed79f3a48" providerId="ADAL" clId="{9F23B798-9E84-4552-BA63-E776E805C424}" dt="2026-09-16T11:16:04.402" v="1" actId="22"/>
          <ac:spMkLst>
            <pc:docMk/>
            <pc:sldMk cId="0" sldId="257"/>
            <ac:spMk id="4" creationId="{14613850-FD11-2A4D-3F9B-A0EE5D087141}"/>
          </ac:spMkLst>
        </pc:spChg>
        <pc:spChg chg="add mod">
          <ac:chgData name="Lai, Wilson" userId="2840974a-0d84-4886-90a9-9a3ed79f3a48" providerId="ADAL" clId="{9F23B798-9E84-4552-BA63-E776E805C424}" dt="2026-09-16T11:47:03.752" v="11" actId="164"/>
          <ac:spMkLst>
            <pc:docMk/>
            <pc:sldMk cId="0" sldId="257"/>
            <ac:spMk id="5" creationId="{60B2D31B-EBA5-42D9-9A12-ED7BD7A5817B}"/>
          </ac:spMkLst>
        </pc:spChg>
        <pc:grpChg chg="add mod">
          <ac:chgData name="Lai, Wilson" userId="2840974a-0d84-4886-90a9-9a3ed79f3a48" providerId="ADAL" clId="{9F23B798-9E84-4552-BA63-E776E805C424}" dt="2026-09-16T11:47:03.752" v="11" actId="164"/>
          <ac:grpSpMkLst>
            <pc:docMk/>
            <pc:sldMk cId="0" sldId="257"/>
            <ac:grpSpMk id="6" creationId="{8B5B755E-3AF1-9BB1-1A6B-9E5F9FDFB388}"/>
          </ac:grpSpMkLst>
        </pc:grpChg>
        <pc:picChg chg="del">
          <ac:chgData name="Lai, Wilson" userId="2840974a-0d84-4886-90a9-9a3ed79f3a48" providerId="ADAL" clId="{9F23B798-9E84-4552-BA63-E776E805C424}" dt="2026-09-16T13:58:39.658" v="12" actId="21"/>
          <ac:picMkLst>
            <pc:docMk/>
            <pc:sldMk cId="0" sldId="257"/>
            <ac:picMk id="2" creationId="{00000000-0000-0000-0000-000000000000}"/>
          </ac:picMkLst>
        </pc:picChg>
        <pc:picChg chg="add mod">
          <ac:chgData name="Lai, Wilson" userId="2840974a-0d84-4886-90a9-9a3ed79f3a48" providerId="ADAL" clId="{9F23B798-9E84-4552-BA63-E776E805C424}" dt="2026-09-16T11:47:03.752" v="11" actId="164"/>
          <ac:picMkLst>
            <pc:docMk/>
            <pc:sldMk cId="0" sldId="257"/>
            <ac:picMk id="3" creationId="{1A5196AC-AB4E-9D5C-61DB-0B6C08247F4E}"/>
          </ac:picMkLst>
        </pc:picChg>
        <pc:picChg chg="add ord">
          <ac:chgData name="Lai, Wilson" userId="2840974a-0d84-4886-90a9-9a3ed79f3a48" providerId="ADAL" clId="{9F23B798-9E84-4552-BA63-E776E805C424}" dt="2026-09-16T15:23:35.362" v="68" actId="166"/>
          <ac:picMkLst>
            <pc:docMk/>
            <pc:sldMk cId="0" sldId="257"/>
            <ac:picMk id="7" creationId="{988349A6-810A-5634-4CF3-011BE5BFA6C4}"/>
          </ac:picMkLst>
        </pc:picChg>
      </pc:sldChg>
      <pc:sldChg chg="addSp delSp mod">
        <pc:chgData name="Lai, Wilson" userId="2840974a-0d84-4886-90a9-9a3ed79f3a48" providerId="ADAL" clId="{9F23B798-9E84-4552-BA63-E776E805C424}" dt="2026-09-16T13:59:04.010" v="15" actId="22"/>
        <pc:sldMkLst>
          <pc:docMk/>
          <pc:sldMk cId="0" sldId="258"/>
        </pc:sldMkLst>
        <pc:picChg chg="del">
          <ac:chgData name="Lai, Wilson" userId="2840974a-0d84-4886-90a9-9a3ed79f3a48" providerId="ADAL" clId="{9F23B798-9E84-4552-BA63-E776E805C424}" dt="2026-09-16T13:58:54.853" v="14" actId="21"/>
          <ac:picMkLst>
            <pc:docMk/>
            <pc:sldMk cId="0" sldId="258"/>
            <ac:picMk id="2" creationId="{00000000-0000-0000-0000-000000000000}"/>
          </ac:picMkLst>
        </pc:picChg>
        <pc:picChg chg="add">
          <ac:chgData name="Lai, Wilson" userId="2840974a-0d84-4886-90a9-9a3ed79f3a48" providerId="ADAL" clId="{9F23B798-9E84-4552-BA63-E776E805C424}" dt="2026-09-16T13:59:04.010" v="15" actId="22"/>
          <ac:picMkLst>
            <pc:docMk/>
            <pc:sldMk cId="0" sldId="258"/>
            <ac:picMk id="4" creationId="{B6FE7024-9FA3-47B8-B4F7-B8E45CC5CF93}"/>
          </ac:picMkLst>
        </pc:picChg>
      </pc:sldChg>
      <pc:sldChg chg="addSp delSp mod modNotesTx">
        <pc:chgData name="Lai, Wilson" userId="2840974a-0d84-4886-90a9-9a3ed79f3a48" providerId="ADAL" clId="{9F23B798-9E84-4552-BA63-E776E805C424}" dt="2026-09-16T15:20:36.820" v="48" actId="12"/>
        <pc:sldMkLst>
          <pc:docMk/>
          <pc:sldMk cId="0" sldId="259"/>
        </pc:sldMkLst>
        <pc:picChg chg="del">
          <ac:chgData name="Lai, Wilson" userId="2840974a-0d84-4886-90a9-9a3ed79f3a48" providerId="ADAL" clId="{9F23B798-9E84-4552-BA63-E776E805C424}" dt="2026-09-16T13:59:05.973" v="16" actId="21"/>
          <ac:picMkLst>
            <pc:docMk/>
            <pc:sldMk cId="0" sldId="259"/>
            <ac:picMk id="2" creationId="{00000000-0000-0000-0000-000000000000}"/>
          </ac:picMkLst>
        </pc:picChg>
        <pc:picChg chg="add">
          <ac:chgData name="Lai, Wilson" userId="2840974a-0d84-4886-90a9-9a3ed79f3a48" providerId="ADAL" clId="{9F23B798-9E84-4552-BA63-E776E805C424}" dt="2026-09-16T13:59:12.952" v="17" actId="22"/>
          <ac:picMkLst>
            <pc:docMk/>
            <pc:sldMk cId="0" sldId="259"/>
            <ac:picMk id="4" creationId="{B2AA6DFF-B036-A630-2FCD-20B888995515}"/>
          </ac:picMkLst>
        </pc:picChg>
      </pc:sldChg>
      <pc:sldChg chg="addSp delSp mod modNotesTx">
        <pc:chgData name="Lai, Wilson" userId="2840974a-0d84-4886-90a9-9a3ed79f3a48" providerId="ADAL" clId="{9F23B798-9E84-4552-BA63-E776E805C424}" dt="2026-09-16T15:20:52.041" v="51" actId="12"/>
        <pc:sldMkLst>
          <pc:docMk/>
          <pc:sldMk cId="0" sldId="260"/>
        </pc:sldMkLst>
        <pc:picChg chg="del">
          <ac:chgData name="Lai, Wilson" userId="2840974a-0d84-4886-90a9-9a3ed79f3a48" providerId="ADAL" clId="{9F23B798-9E84-4552-BA63-E776E805C424}" dt="2026-09-16T13:59:14.866" v="18" actId="21"/>
          <ac:picMkLst>
            <pc:docMk/>
            <pc:sldMk cId="0" sldId="260"/>
            <ac:picMk id="2" creationId="{00000000-0000-0000-0000-000000000000}"/>
          </ac:picMkLst>
        </pc:picChg>
        <pc:picChg chg="add">
          <ac:chgData name="Lai, Wilson" userId="2840974a-0d84-4886-90a9-9a3ed79f3a48" providerId="ADAL" clId="{9F23B798-9E84-4552-BA63-E776E805C424}" dt="2026-09-16T13:59:26.765" v="19" actId="22"/>
          <ac:picMkLst>
            <pc:docMk/>
            <pc:sldMk cId="0" sldId="260"/>
            <ac:picMk id="4" creationId="{1FC11759-A067-4023-44CA-5A383CA3A5F8}"/>
          </ac:picMkLst>
        </pc:picChg>
      </pc:sldChg>
      <pc:sldChg chg="addSp delSp mod modNotesTx">
        <pc:chgData name="Lai, Wilson" userId="2840974a-0d84-4886-90a9-9a3ed79f3a48" providerId="ADAL" clId="{9F23B798-9E84-4552-BA63-E776E805C424}" dt="2026-09-16T15:21:03.408" v="53" actId="14"/>
        <pc:sldMkLst>
          <pc:docMk/>
          <pc:sldMk cId="0" sldId="261"/>
        </pc:sldMkLst>
        <pc:picChg chg="del">
          <ac:chgData name="Lai, Wilson" userId="2840974a-0d84-4886-90a9-9a3ed79f3a48" providerId="ADAL" clId="{9F23B798-9E84-4552-BA63-E776E805C424}" dt="2026-09-16T13:59:29.433" v="20" actId="21"/>
          <ac:picMkLst>
            <pc:docMk/>
            <pc:sldMk cId="0" sldId="261"/>
            <ac:picMk id="2" creationId="{00000000-0000-0000-0000-000000000000}"/>
          </ac:picMkLst>
        </pc:picChg>
        <pc:picChg chg="add">
          <ac:chgData name="Lai, Wilson" userId="2840974a-0d84-4886-90a9-9a3ed79f3a48" providerId="ADAL" clId="{9F23B798-9E84-4552-BA63-E776E805C424}" dt="2026-09-16T13:59:37.683" v="21" actId="22"/>
          <ac:picMkLst>
            <pc:docMk/>
            <pc:sldMk cId="0" sldId="261"/>
            <ac:picMk id="4" creationId="{B66206DA-B490-1400-FFEA-36A1AAEC6116}"/>
          </ac:picMkLst>
        </pc:picChg>
      </pc:sldChg>
      <pc:sldChg chg="addSp delSp mod modNotesTx">
        <pc:chgData name="Lai, Wilson" userId="2840974a-0d84-4886-90a9-9a3ed79f3a48" providerId="ADAL" clId="{9F23B798-9E84-4552-BA63-E776E805C424}" dt="2026-09-16T15:21:20.053" v="58" actId="14"/>
        <pc:sldMkLst>
          <pc:docMk/>
          <pc:sldMk cId="0" sldId="262"/>
        </pc:sldMkLst>
        <pc:picChg chg="del">
          <ac:chgData name="Lai, Wilson" userId="2840974a-0d84-4886-90a9-9a3ed79f3a48" providerId="ADAL" clId="{9F23B798-9E84-4552-BA63-E776E805C424}" dt="2026-09-16T13:59:39.456" v="22" actId="21"/>
          <ac:picMkLst>
            <pc:docMk/>
            <pc:sldMk cId="0" sldId="262"/>
            <ac:picMk id="2" creationId="{00000000-0000-0000-0000-000000000000}"/>
          </ac:picMkLst>
        </pc:picChg>
        <pc:picChg chg="add">
          <ac:chgData name="Lai, Wilson" userId="2840974a-0d84-4886-90a9-9a3ed79f3a48" providerId="ADAL" clId="{9F23B798-9E84-4552-BA63-E776E805C424}" dt="2026-09-16T13:59:46.112" v="23" actId="22"/>
          <ac:picMkLst>
            <pc:docMk/>
            <pc:sldMk cId="0" sldId="262"/>
            <ac:picMk id="4" creationId="{16409A75-5FA4-05A7-D6CC-D0800BE50409}"/>
          </ac:picMkLst>
        </pc:picChg>
      </pc:sldChg>
      <pc:sldChg chg="addSp delSp mod">
        <pc:chgData name="Lai, Wilson" userId="2840974a-0d84-4886-90a9-9a3ed79f3a48" providerId="ADAL" clId="{9F23B798-9E84-4552-BA63-E776E805C424}" dt="2026-09-16T13:59:54.527" v="25" actId="22"/>
        <pc:sldMkLst>
          <pc:docMk/>
          <pc:sldMk cId="0" sldId="263"/>
        </pc:sldMkLst>
        <pc:picChg chg="del">
          <ac:chgData name="Lai, Wilson" userId="2840974a-0d84-4886-90a9-9a3ed79f3a48" providerId="ADAL" clId="{9F23B798-9E84-4552-BA63-E776E805C424}" dt="2026-09-16T13:59:47.540" v="24" actId="21"/>
          <ac:picMkLst>
            <pc:docMk/>
            <pc:sldMk cId="0" sldId="263"/>
            <ac:picMk id="2" creationId="{00000000-0000-0000-0000-000000000000}"/>
          </ac:picMkLst>
        </pc:picChg>
        <pc:picChg chg="add">
          <ac:chgData name="Lai, Wilson" userId="2840974a-0d84-4886-90a9-9a3ed79f3a48" providerId="ADAL" clId="{9F23B798-9E84-4552-BA63-E776E805C424}" dt="2026-09-16T13:59:54.527" v="25" actId="22"/>
          <ac:picMkLst>
            <pc:docMk/>
            <pc:sldMk cId="0" sldId="263"/>
            <ac:picMk id="4" creationId="{10CCED79-7CCD-AA4B-5B86-E8AA4E7F7DC3}"/>
          </ac:picMkLst>
        </pc:picChg>
      </pc:sldChg>
      <pc:sldChg chg="addSp delSp mod">
        <pc:chgData name="Lai, Wilson" userId="2840974a-0d84-4886-90a9-9a3ed79f3a48" providerId="ADAL" clId="{9F23B798-9E84-4552-BA63-E776E805C424}" dt="2026-09-16T14:00:03.181" v="27" actId="22"/>
        <pc:sldMkLst>
          <pc:docMk/>
          <pc:sldMk cId="0" sldId="264"/>
        </pc:sldMkLst>
        <pc:picChg chg="del">
          <ac:chgData name="Lai, Wilson" userId="2840974a-0d84-4886-90a9-9a3ed79f3a48" providerId="ADAL" clId="{9F23B798-9E84-4552-BA63-E776E805C424}" dt="2026-09-16T13:59:55.782" v="26" actId="21"/>
          <ac:picMkLst>
            <pc:docMk/>
            <pc:sldMk cId="0" sldId="264"/>
            <ac:picMk id="2" creationId="{00000000-0000-0000-0000-000000000000}"/>
          </ac:picMkLst>
        </pc:picChg>
        <pc:picChg chg="add">
          <ac:chgData name="Lai, Wilson" userId="2840974a-0d84-4886-90a9-9a3ed79f3a48" providerId="ADAL" clId="{9F23B798-9E84-4552-BA63-E776E805C424}" dt="2026-09-16T14:00:03.181" v="27" actId="22"/>
          <ac:picMkLst>
            <pc:docMk/>
            <pc:sldMk cId="0" sldId="264"/>
            <ac:picMk id="4" creationId="{91DBC134-ECB8-4234-06D2-6E0CD73CEFFD}"/>
          </ac:picMkLst>
        </pc:picChg>
      </pc:sldChg>
      <pc:sldChg chg="addSp delSp mod">
        <pc:chgData name="Lai, Wilson" userId="2840974a-0d84-4886-90a9-9a3ed79f3a48" providerId="ADAL" clId="{9F23B798-9E84-4552-BA63-E776E805C424}" dt="2026-09-16T14:00:10.716" v="29" actId="22"/>
        <pc:sldMkLst>
          <pc:docMk/>
          <pc:sldMk cId="0" sldId="265"/>
        </pc:sldMkLst>
        <pc:picChg chg="del">
          <ac:chgData name="Lai, Wilson" userId="2840974a-0d84-4886-90a9-9a3ed79f3a48" providerId="ADAL" clId="{9F23B798-9E84-4552-BA63-E776E805C424}" dt="2026-09-16T14:00:04.377" v="28" actId="21"/>
          <ac:picMkLst>
            <pc:docMk/>
            <pc:sldMk cId="0" sldId="265"/>
            <ac:picMk id="2" creationId="{00000000-0000-0000-0000-000000000000}"/>
          </ac:picMkLst>
        </pc:picChg>
        <pc:picChg chg="add">
          <ac:chgData name="Lai, Wilson" userId="2840974a-0d84-4886-90a9-9a3ed79f3a48" providerId="ADAL" clId="{9F23B798-9E84-4552-BA63-E776E805C424}" dt="2026-09-16T14:00:10.716" v="29" actId="22"/>
          <ac:picMkLst>
            <pc:docMk/>
            <pc:sldMk cId="0" sldId="265"/>
            <ac:picMk id="4" creationId="{A188D069-7407-CB17-C4C9-61ADBE6DF6F4}"/>
          </ac:picMkLst>
        </pc:picChg>
      </pc:sldChg>
      <pc:sldChg chg="addSp delSp mod">
        <pc:chgData name="Lai, Wilson" userId="2840974a-0d84-4886-90a9-9a3ed79f3a48" providerId="ADAL" clId="{9F23B798-9E84-4552-BA63-E776E805C424}" dt="2026-09-16T14:00:20.731" v="31" actId="22"/>
        <pc:sldMkLst>
          <pc:docMk/>
          <pc:sldMk cId="0" sldId="266"/>
        </pc:sldMkLst>
        <pc:picChg chg="del">
          <ac:chgData name="Lai, Wilson" userId="2840974a-0d84-4886-90a9-9a3ed79f3a48" providerId="ADAL" clId="{9F23B798-9E84-4552-BA63-E776E805C424}" dt="2026-09-16T14:00:12.509" v="30" actId="21"/>
          <ac:picMkLst>
            <pc:docMk/>
            <pc:sldMk cId="0" sldId="266"/>
            <ac:picMk id="2" creationId="{00000000-0000-0000-0000-000000000000}"/>
          </ac:picMkLst>
        </pc:picChg>
        <pc:picChg chg="add">
          <ac:chgData name="Lai, Wilson" userId="2840974a-0d84-4886-90a9-9a3ed79f3a48" providerId="ADAL" clId="{9F23B798-9E84-4552-BA63-E776E805C424}" dt="2026-09-16T14:00:20.731" v="31" actId="22"/>
          <ac:picMkLst>
            <pc:docMk/>
            <pc:sldMk cId="0" sldId="266"/>
            <ac:picMk id="4" creationId="{8CE7D8BF-3D51-A004-4380-E15FD6FE217C}"/>
          </ac:picMkLst>
        </pc:picChg>
      </pc:sldChg>
      <pc:sldChg chg="addSp delSp mod modNotesTx">
        <pc:chgData name="Lai, Wilson" userId="2840974a-0d84-4886-90a9-9a3ed79f3a48" providerId="ADAL" clId="{9F23B798-9E84-4552-BA63-E776E805C424}" dt="2026-09-16T15:22:08.020" v="59" actId="12"/>
        <pc:sldMkLst>
          <pc:docMk/>
          <pc:sldMk cId="0" sldId="267"/>
        </pc:sldMkLst>
        <pc:picChg chg="del">
          <ac:chgData name="Lai, Wilson" userId="2840974a-0d84-4886-90a9-9a3ed79f3a48" providerId="ADAL" clId="{9F23B798-9E84-4552-BA63-E776E805C424}" dt="2026-09-16T14:00:21.982" v="32" actId="21"/>
          <ac:picMkLst>
            <pc:docMk/>
            <pc:sldMk cId="0" sldId="267"/>
            <ac:picMk id="2" creationId="{00000000-0000-0000-0000-000000000000}"/>
          </ac:picMkLst>
        </pc:picChg>
        <pc:picChg chg="add">
          <ac:chgData name="Lai, Wilson" userId="2840974a-0d84-4886-90a9-9a3ed79f3a48" providerId="ADAL" clId="{9F23B798-9E84-4552-BA63-E776E805C424}" dt="2026-09-16T14:00:28.927" v="33" actId="22"/>
          <ac:picMkLst>
            <pc:docMk/>
            <pc:sldMk cId="0" sldId="267"/>
            <ac:picMk id="4" creationId="{EB57958B-8105-1A52-5D2F-FFE5D7010E5D}"/>
          </ac:picMkLst>
        </pc:picChg>
      </pc:sldChg>
      <pc:sldChg chg="addSp delSp mod modNotesTx">
        <pc:chgData name="Lai, Wilson" userId="2840974a-0d84-4886-90a9-9a3ed79f3a48" providerId="ADAL" clId="{9F23B798-9E84-4552-BA63-E776E805C424}" dt="2026-09-16T15:22:36.599" v="60" actId="12"/>
        <pc:sldMkLst>
          <pc:docMk/>
          <pc:sldMk cId="0" sldId="268"/>
        </pc:sldMkLst>
        <pc:picChg chg="del">
          <ac:chgData name="Lai, Wilson" userId="2840974a-0d84-4886-90a9-9a3ed79f3a48" providerId="ADAL" clId="{9F23B798-9E84-4552-BA63-E776E805C424}" dt="2026-09-16T14:00:30.259" v="34" actId="21"/>
          <ac:picMkLst>
            <pc:docMk/>
            <pc:sldMk cId="0" sldId="268"/>
            <ac:picMk id="2" creationId="{00000000-0000-0000-0000-000000000000}"/>
          </ac:picMkLst>
        </pc:picChg>
        <pc:picChg chg="add">
          <ac:chgData name="Lai, Wilson" userId="2840974a-0d84-4886-90a9-9a3ed79f3a48" providerId="ADAL" clId="{9F23B798-9E84-4552-BA63-E776E805C424}" dt="2026-09-16T14:00:45.060" v="35" actId="22"/>
          <ac:picMkLst>
            <pc:docMk/>
            <pc:sldMk cId="0" sldId="268"/>
            <ac:picMk id="4" creationId="{45E75667-7B28-5C62-63AE-642DC5E64446}"/>
          </ac:picMkLst>
        </pc:picChg>
      </pc:sldChg>
      <pc:sldChg chg="addSp delSp mod modNotesTx">
        <pc:chgData name="Lai, Wilson" userId="2840974a-0d84-4886-90a9-9a3ed79f3a48" providerId="ADAL" clId="{9F23B798-9E84-4552-BA63-E776E805C424}" dt="2026-09-16T15:22:48.266" v="62" actId="14"/>
        <pc:sldMkLst>
          <pc:docMk/>
          <pc:sldMk cId="0" sldId="269"/>
        </pc:sldMkLst>
        <pc:picChg chg="del">
          <ac:chgData name="Lai, Wilson" userId="2840974a-0d84-4886-90a9-9a3ed79f3a48" providerId="ADAL" clId="{9F23B798-9E84-4552-BA63-E776E805C424}" dt="2026-09-16T14:00:46.675" v="36" actId="21"/>
          <ac:picMkLst>
            <pc:docMk/>
            <pc:sldMk cId="0" sldId="269"/>
            <ac:picMk id="2" creationId="{00000000-0000-0000-0000-000000000000}"/>
          </ac:picMkLst>
        </pc:picChg>
        <pc:picChg chg="add">
          <ac:chgData name="Lai, Wilson" userId="2840974a-0d84-4886-90a9-9a3ed79f3a48" providerId="ADAL" clId="{9F23B798-9E84-4552-BA63-E776E805C424}" dt="2026-09-16T14:00:56.460" v="37" actId="22"/>
          <ac:picMkLst>
            <pc:docMk/>
            <pc:sldMk cId="0" sldId="269"/>
            <ac:picMk id="4" creationId="{D47D9397-221F-E074-34EF-F7D3E6C0348E}"/>
          </ac:picMkLst>
        </pc:picChg>
      </pc:sldChg>
      <pc:sldChg chg="addSp delSp mod modNotesTx">
        <pc:chgData name="Lai, Wilson" userId="2840974a-0d84-4886-90a9-9a3ed79f3a48" providerId="ADAL" clId="{9F23B798-9E84-4552-BA63-E776E805C424}" dt="2026-09-16T15:23:00.246" v="64" actId="14"/>
        <pc:sldMkLst>
          <pc:docMk/>
          <pc:sldMk cId="0" sldId="270"/>
        </pc:sldMkLst>
        <pc:picChg chg="del">
          <ac:chgData name="Lai, Wilson" userId="2840974a-0d84-4886-90a9-9a3ed79f3a48" providerId="ADAL" clId="{9F23B798-9E84-4552-BA63-E776E805C424}" dt="2026-09-16T14:00:57.917" v="38" actId="21"/>
          <ac:picMkLst>
            <pc:docMk/>
            <pc:sldMk cId="0" sldId="270"/>
            <ac:picMk id="2" creationId="{00000000-0000-0000-0000-000000000000}"/>
          </ac:picMkLst>
        </pc:picChg>
        <pc:picChg chg="add">
          <ac:chgData name="Lai, Wilson" userId="2840974a-0d84-4886-90a9-9a3ed79f3a48" providerId="ADAL" clId="{9F23B798-9E84-4552-BA63-E776E805C424}" dt="2026-09-16T14:01:06.418" v="39" actId="22"/>
          <ac:picMkLst>
            <pc:docMk/>
            <pc:sldMk cId="0" sldId="270"/>
            <ac:picMk id="4" creationId="{D574FF33-1FC5-81D3-7BC8-FFB025F053B0}"/>
          </ac:picMkLst>
        </pc:picChg>
      </pc:sldChg>
      <pc:sldChg chg="addSp delSp mod modNotesTx">
        <pc:chgData name="Lai, Wilson" userId="2840974a-0d84-4886-90a9-9a3ed79f3a48" providerId="ADAL" clId="{9F23B798-9E84-4552-BA63-E776E805C424}" dt="2026-09-16T15:23:12.060" v="67" actId="20577"/>
        <pc:sldMkLst>
          <pc:docMk/>
          <pc:sldMk cId="3572144546" sldId="271"/>
        </pc:sldMkLst>
        <pc:picChg chg="del">
          <ac:chgData name="Lai, Wilson" userId="2840974a-0d84-4886-90a9-9a3ed79f3a48" providerId="ADAL" clId="{9F23B798-9E84-4552-BA63-E776E805C424}" dt="2026-09-16T14:01:08" v="40" actId="21"/>
          <ac:picMkLst>
            <pc:docMk/>
            <pc:sldMk cId="3572144546" sldId="271"/>
            <ac:picMk id="3" creationId="{29C9C4B9-018F-24DF-C592-0DE1A83D6203}"/>
          </ac:picMkLst>
        </pc:picChg>
        <pc:picChg chg="add">
          <ac:chgData name="Lai, Wilson" userId="2840974a-0d84-4886-90a9-9a3ed79f3a48" providerId="ADAL" clId="{9F23B798-9E84-4552-BA63-E776E805C424}" dt="2026-09-16T14:01:16.272" v="41" actId="22"/>
          <ac:picMkLst>
            <pc:docMk/>
            <pc:sldMk cId="3572144546" sldId="271"/>
            <ac:picMk id="4" creationId="{EDC54E27-B4E0-CD4F-1719-9B75E574F226}"/>
          </ac:picMkLst>
        </pc:picChg>
      </pc:sldChg>
      <pc:sldMasterChg chg="setBg">
        <pc:chgData name="Lai, Wilson" userId="2840974a-0d84-4886-90a9-9a3ed79f3a48" providerId="ADAL" clId="{9F23B798-9E84-4552-BA63-E776E805C424}" dt="2026-09-16T11:16:19.626" v="2"/>
        <pc:sldMasterMkLst>
          <pc:docMk/>
          <pc:sldMasterMk cId="2373884638"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87718E-FBEC-4D17-9733-C0538015F53C}"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27FB7A-5C45-4062-BCF6-95D2947F5DF1}" type="slidenum">
              <a:rPr lang="en-US" smtClean="0"/>
              <a:t>‹#›</a:t>
            </a:fld>
            <a:endParaRPr lang="en-US"/>
          </a:p>
        </p:txBody>
      </p:sp>
    </p:spTree>
    <p:extLst>
      <p:ext uri="{BB962C8B-B14F-4D97-AF65-F5344CB8AC3E}">
        <p14:creationId xmlns:p14="http://schemas.microsoft.com/office/powerpoint/2010/main" val="774742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Frame:</a:t>
            </a:r>
            <a:r>
              <a:rPr lang="en-US" sz="1200" kern="1200" dirty="0">
                <a:solidFill>
                  <a:schemeClr val="tx1"/>
                </a:solidFill>
                <a:effectLst/>
                <a:latin typeface="+mn-lt"/>
                <a:ea typeface="+mn-ea"/>
                <a:cs typeface="+mn-cs"/>
              </a:rPr>
              <a:t> Welcome everyone. Today we are embarking on a journey across five fundamental existential inquiries that link theoretical physics, cosmic timescales, and human self-reflection. </a:t>
            </a:r>
          </a:p>
          <a:p>
            <a:pPr lvl="0"/>
            <a:r>
              <a:rPr lang="en-US" sz="1200" b="1" kern="1200" dirty="0">
                <a:solidFill>
                  <a:schemeClr val="tx1"/>
                </a:solidFill>
                <a:effectLst/>
                <a:latin typeface="+mn-lt"/>
                <a:ea typeface="+mn-ea"/>
                <a:cs typeface="+mn-cs"/>
              </a:rPr>
              <a:t>The Visual Progression:</a:t>
            </a:r>
            <a:r>
              <a:rPr lang="en-US" sz="1200" kern="1200" dirty="0">
                <a:solidFill>
                  <a:schemeClr val="tx1"/>
                </a:solidFill>
                <a:effectLst/>
                <a:latin typeface="+mn-lt"/>
                <a:ea typeface="+mn-ea"/>
                <a:cs typeface="+mn-cs"/>
              </a:rPr>
              <a:t> Look at the four icons on this slide: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Human Body:</a:t>
            </a:r>
            <a:r>
              <a:rPr lang="en-US" sz="1200" kern="1200" dirty="0">
                <a:solidFill>
                  <a:schemeClr val="tx1"/>
                </a:solidFill>
                <a:effectLst/>
                <a:latin typeface="+mn-lt"/>
                <a:ea typeface="+mn-ea"/>
                <a:cs typeface="+mn-cs"/>
              </a:rPr>
              <a:t> A collection of localized, structured biological matter.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Earth &amp; Solar System:</a:t>
            </a:r>
            <a:r>
              <a:rPr lang="en-US" sz="1200" kern="1200" dirty="0">
                <a:solidFill>
                  <a:schemeClr val="tx1"/>
                </a:solidFill>
                <a:effectLst/>
                <a:latin typeface="+mn-lt"/>
                <a:ea typeface="+mn-ea"/>
                <a:cs typeface="+mn-cs"/>
              </a:rPr>
              <a:t> Our immediate planetary home, floating in vast empty space.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Milky Way Galaxy:</a:t>
            </a:r>
            <a:r>
              <a:rPr lang="en-US" sz="1200" kern="1200" dirty="0">
                <a:solidFill>
                  <a:schemeClr val="tx1"/>
                </a:solidFill>
                <a:effectLst/>
                <a:latin typeface="+mn-lt"/>
                <a:ea typeface="+mn-ea"/>
                <a:cs typeface="+mn-cs"/>
              </a:rPr>
              <a:t> Hundreds of billions of stars swirling in gravitational harmony.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Cosmic Microwave Background:</a:t>
            </a:r>
            <a:r>
              <a:rPr lang="en-US" sz="1200" kern="1200" dirty="0">
                <a:solidFill>
                  <a:schemeClr val="tx1"/>
                </a:solidFill>
                <a:effectLst/>
                <a:latin typeface="+mn-lt"/>
                <a:ea typeface="+mn-ea"/>
                <a:cs typeface="+mn-cs"/>
              </a:rPr>
              <a:t> The remnant thermal imprint of the early universe, mapping the cosmos across 45 billion light-years. </a:t>
            </a:r>
          </a:p>
          <a:p>
            <a:pPr lvl="0"/>
            <a:r>
              <a:rPr lang="en-US" sz="1200" b="1" kern="1200" dirty="0">
                <a:solidFill>
                  <a:schemeClr val="tx1"/>
                </a:solidFill>
                <a:effectLst/>
                <a:latin typeface="+mn-lt"/>
                <a:ea typeface="+mn-ea"/>
                <a:cs typeface="+mn-cs"/>
              </a:rPr>
              <a:t>Core Premise:</a:t>
            </a:r>
            <a:r>
              <a:rPr lang="en-US" sz="1200" kern="1200" dirty="0">
                <a:solidFill>
                  <a:schemeClr val="tx1"/>
                </a:solidFill>
                <a:effectLst/>
                <a:latin typeface="+mn-lt"/>
                <a:ea typeface="+mn-ea"/>
                <a:cs typeface="+mn-cs"/>
              </a:rPr>
              <a:t> We are a temporary arrangement of particles. In a universe that is 13.8 billion years old, human history is less than a blink of an eye. Yet, our ability to look out into the void and map these laws is what gives us our distinct significance. </a:t>
            </a:r>
          </a:p>
          <a:p>
            <a:endParaRPr lang="en-US" dirty="0"/>
          </a:p>
          <a:p>
            <a:endParaRPr lang="en-US" dirty="0"/>
          </a:p>
          <a:p>
            <a:endParaRPr lang="en-US" dirty="0"/>
          </a:p>
          <a:p>
            <a:r>
              <a:rPr lang="en-US" dirty="0"/>
              <a:t>https://www.youtube.com/watch?v=Qifsxitq_q4</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1</a:t>
            </a:fld>
            <a:endParaRPr lang="en-US"/>
          </a:p>
        </p:txBody>
      </p:sp>
    </p:spTree>
    <p:extLst>
      <p:ext uri="{BB962C8B-B14F-4D97-AF65-F5344CB8AC3E}">
        <p14:creationId xmlns:p14="http://schemas.microsoft.com/office/powerpoint/2010/main" val="228968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Physical Reality:</a:t>
            </a:r>
            <a:r>
              <a:rPr lang="en-US" sz="1200" kern="1200" dirty="0">
                <a:solidFill>
                  <a:schemeClr val="tx1"/>
                </a:solidFill>
                <a:effectLst/>
                <a:latin typeface="+mn-lt"/>
                <a:ea typeface="+mn-ea"/>
                <a:cs typeface="+mn-cs"/>
              </a:rPr>
              <a:t> The observable universe spans approximately </a:t>
            </a:r>
            <a:r>
              <a:rPr lang="en-US" sz="1200" b="1" kern="1200" dirty="0">
                <a:solidFill>
                  <a:schemeClr val="tx1"/>
                </a:solidFill>
                <a:effectLst/>
                <a:latin typeface="+mn-lt"/>
                <a:ea typeface="+mn-ea"/>
                <a:cs typeface="+mn-cs"/>
              </a:rPr>
              <a:t>45 billion light-years in every direction</a:t>
            </a:r>
            <a:r>
              <a:rPr lang="en-US" sz="1200" kern="1200" dirty="0">
                <a:solidFill>
                  <a:schemeClr val="tx1"/>
                </a:solidFill>
                <a:effectLst/>
                <a:latin typeface="+mn-lt"/>
                <a:ea typeface="+mn-ea"/>
                <a:cs typeface="+mn-cs"/>
              </a:rPr>
              <a:t> from our vantage point, containing hundreds of billions of galaxies. </a:t>
            </a:r>
          </a:p>
          <a:p>
            <a:pPr lvl="0"/>
            <a:r>
              <a:rPr lang="en-US" sz="1200" b="1" kern="1200" dirty="0">
                <a:solidFill>
                  <a:schemeClr val="tx1"/>
                </a:solidFill>
                <a:effectLst/>
                <a:latin typeface="+mn-lt"/>
                <a:ea typeface="+mn-ea"/>
                <a:cs typeface="+mn-cs"/>
              </a:rPr>
              <a:t>Reclaiming Significance:</a:t>
            </a:r>
            <a:r>
              <a:rPr lang="en-US" sz="1200" kern="1200" dirty="0">
                <a:solidFill>
                  <a:schemeClr val="tx1"/>
                </a:solidFill>
                <a:effectLst/>
                <a:latin typeface="+mn-lt"/>
                <a:ea typeface="+mn-ea"/>
                <a:cs typeface="+mn-cs"/>
              </a:rPr>
              <a:t> It is easy to look at those numbers and conclude that human life is totally meaningless or insignificant. But as Prof. Brian Greene emphasizes, physical size is not the measure of value. </a:t>
            </a:r>
          </a:p>
          <a:p>
            <a:pPr lvl="0"/>
            <a:r>
              <a:rPr lang="en-US" sz="1200" b="1" kern="1200" dirty="0">
                <a:solidFill>
                  <a:schemeClr val="tx1"/>
                </a:solidFill>
                <a:effectLst/>
                <a:latin typeface="+mn-lt"/>
                <a:ea typeface="+mn-ea"/>
                <a:cs typeface="+mn-cs"/>
              </a:rPr>
              <a:t>The Mind’s Reach:</a:t>
            </a:r>
            <a:r>
              <a:rPr lang="en-US" sz="1200" kern="1200" dirty="0">
                <a:solidFill>
                  <a:schemeClr val="tx1"/>
                </a:solidFill>
                <a:effectLst/>
                <a:latin typeface="+mn-lt"/>
                <a:ea typeface="+mn-ea"/>
                <a:cs typeface="+mn-cs"/>
              </a:rPr>
              <a:t> The true miracle is that a collection of star-stuff—atoms forged in ancient supernovae—can organize into a brain capable of formulating the equations of general relativity and quantum mechanics. Our minds can reach the literal edge of the observable cosmos and comprehend our own physical predicament.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2</a:t>
            </a:fld>
            <a:endParaRPr lang="en-US"/>
          </a:p>
        </p:txBody>
      </p:sp>
    </p:spTree>
    <p:extLst>
      <p:ext uri="{BB962C8B-B14F-4D97-AF65-F5344CB8AC3E}">
        <p14:creationId xmlns:p14="http://schemas.microsoft.com/office/powerpoint/2010/main" val="256827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Hierarchy of Structure:</a:t>
            </a:r>
            <a:r>
              <a:rPr lang="en-US" sz="1200" kern="1200" dirty="0">
                <a:solidFill>
                  <a:schemeClr val="tx1"/>
                </a:solidFill>
                <a:effectLst/>
                <a:latin typeface="+mn-lt"/>
                <a:ea typeface="+mn-ea"/>
                <a:cs typeface="+mn-cs"/>
              </a:rPr>
              <a:t> To understand reality, we break matter down tier by tier: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Macroscopic Objects:</a:t>
            </a:r>
            <a:r>
              <a:rPr lang="en-US" sz="1200" kern="1200" dirty="0">
                <a:solidFill>
                  <a:schemeClr val="tx1"/>
                </a:solidFill>
                <a:effectLst/>
                <a:latin typeface="+mn-lt"/>
                <a:ea typeface="+mn-ea"/>
                <a:cs typeface="+mn-cs"/>
              </a:rPr>
              <a:t> The tables, chairs, and bodies we interact with daily.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Molecular &amp; Atomic Layers:</a:t>
            </a:r>
            <a:r>
              <a:rPr lang="en-US" sz="1200" kern="1200" dirty="0">
                <a:solidFill>
                  <a:schemeClr val="tx1"/>
                </a:solidFill>
                <a:effectLst/>
                <a:latin typeface="+mn-lt"/>
                <a:ea typeface="+mn-ea"/>
                <a:cs typeface="+mn-cs"/>
              </a:rPr>
              <a:t> Collections of molecules built from atoms like Hydrogen and Oxygen.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Subatomic Particles:</a:t>
            </a:r>
            <a:r>
              <a:rPr lang="en-US" sz="1200" kern="1200" dirty="0">
                <a:solidFill>
                  <a:schemeClr val="tx1"/>
                </a:solidFill>
                <a:effectLst/>
                <a:latin typeface="+mn-lt"/>
                <a:ea typeface="+mn-ea"/>
                <a:cs typeface="+mn-cs"/>
              </a:rPr>
              <a:t> Quarks and electrons forming the fundamental building blocks of standard physics. </a:t>
            </a:r>
          </a:p>
          <a:p>
            <a:pPr lvl="0"/>
            <a:r>
              <a:rPr lang="en-US" sz="1200" b="1" kern="1200" dirty="0">
                <a:solidFill>
                  <a:schemeClr val="tx1"/>
                </a:solidFill>
                <a:effectLst/>
                <a:latin typeface="+mn-lt"/>
                <a:ea typeface="+mn-ea"/>
                <a:cs typeface="+mn-cs"/>
              </a:rPr>
              <a:t>The Fundamental Currency:</a:t>
            </a:r>
            <a:r>
              <a:rPr lang="en-US" sz="1200" kern="1200" dirty="0">
                <a:solidFill>
                  <a:schemeClr val="tx1"/>
                </a:solidFill>
                <a:effectLst/>
                <a:latin typeface="+mn-lt"/>
                <a:ea typeface="+mn-ea"/>
                <a:cs typeface="+mn-cs"/>
              </a:rPr>
              <a:t> Beneath all matter lies </a:t>
            </a:r>
            <a:r>
              <a:rPr lang="en-US" sz="1200" b="1" kern="1200" dirty="0">
                <a:solidFill>
                  <a:schemeClr val="tx1"/>
                </a:solidFill>
                <a:effectLst/>
                <a:latin typeface="+mn-lt"/>
                <a:ea typeface="+mn-ea"/>
                <a:cs typeface="+mn-cs"/>
              </a:rPr>
              <a:t>energy</a:t>
            </a:r>
            <a:r>
              <a:rPr lang="en-US" sz="1200" kern="1200" dirty="0">
                <a:solidFill>
                  <a:schemeClr val="tx1"/>
                </a:solidFill>
                <a:effectLst/>
                <a:latin typeface="+mn-lt"/>
                <a:ea typeface="+mn-ea"/>
                <a:cs typeface="+mn-cs"/>
              </a:rPr>
              <a:t>. Energy is the underlying currency of the cosmos; matter is simply concentrated energy held in stable configurations. </a:t>
            </a:r>
          </a:p>
          <a:p>
            <a:pPr lvl="0"/>
            <a:r>
              <a:rPr lang="en-US" sz="1200" b="1" kern="1200" dirty="0">
                <a:solidFill>
                  <a:schemeClr val="tx1"/>
                </a:solidFill>
                <a:effectLst/>
                <a:latin typeface="+mn-lt"/>
                <a:ea typeface="+mn-ea"/>
                <a:cs typeface="+mn-cs"/>
              </a:rPr>
              <a:t>String Theory Hypothesis:</a:t>
            </a:r>
            <a:r>
              <a:rPr lang="en-US" sz="1200" kern="1200" dirty="0">
                <a:solidFill>
                  <a:schemeClr val="tx1"/>
                </a:solidFill>
                <a:effectLst/>
                <a:latin typeface="+mn-lt"/>
                <a:ea typeface="+mn-ea"/>
                <a:cs typeface="+mn-cs"/>
              </a:rPr>
              <a:t> String theory proposes that if you zoom in far past subatomic particles, you don't find point-like dots, but tiny vibrating filaments of energy—strings. Just as a violin string produces different musical notes based on its vibration frequency, different vibrational modes of these fundamental strings produce different particle properties (mass, charge, spin).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3</a:t>
            </a:fld>
            <a:endParaRPr lang="en-US"/>
          </a:p>
        </p:txBody>
      </p:sp>
    </p:spTree>
    <p:extLst>
      <p:ext uri="{BB962C8B-B14F-4D97-AF65-F5344CB8AC3E}">
        <p14:creationId xmlns:p14="http://schemas.microsoft.com/office/powerpoint/2010/main" val="1111459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Simulation Argument:</a:t>
            </a:r>
            <a:r>
              <a:rPr lang="en-US" sz="1200" kern="1200" dirty="0">
                <a:solidFill>
                  <a:schemeClr val="tx1"/>
                </a:solidFill>
                <a:effectLst/>
                <a:latin typeface="+mn-lt"/>
                <a:ea typeface="+mn-ea"/>
                <a:cs typeface="+mn-cs"/>
              </a:rPr>
              <a:t> Based on Nick Bostrom's simulation trilemma, we must evaluate three core pillars: </a:t>
            </a:r>
          </a:p>
          <a:p>
            <a:pPr marL="228600" lvl="0" indent="-228600">
              <a:buFont typeface="+mj-lt"/>
              <a:buAutoNum type="arabicPeriod"/>
            </a:pPr>
            <a:r>
              <a:rPr lang="en-US" sz="1200" i="1" kern="1200" dirty="0">
                <a:solidFill>
                  <a:schemeClr val="tx1"/>
                </a:solidFill>
                <a:effectLst/>
                <a:latin typeface="+mn-lt"/>
                <a:ea typeface="+mn-ea"/>
                <a:cs typeface="+mn-cs"/>
              </a:rPr>
              <a:t>The Premise:</a:t>
            </a:r>
            <a:r>
              <a:rPr lang="en-US" sz="1200" kern="1200" dirty="0">
                <a:solidFill>
                  <a:schemeClr val="tx1"/>
                </a:solidFill>
                <a:effectLst/>
                <a:latin typeface="+mn-lt"/>
                <a:ea typeface="+mn-ea"/>
                <a:cs typeface="+mn-cs"/>
              </a:rPr>
              <a:t> If an advanced post-biological civilization develops the computing capacity to run conscious, high-fidelity ancestor simulations, they will run millions or billions of them. </a:t>
            </a:r>
          </a:p>
          <a:p>
            <a:pPr marL="228600" lvl="0" indent="-228600">
              <a:buFont typeface="+mj-lt"/>
              <a:buAutoNum type="arabicPeriod"/>
            </a:pPr>
            <a:r>
              <a:rPr lang="en-US" sz="1200" i="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If simulated conscious observers outnumber physical base-reality observers by billions to one, then any randomly chosen conscious observer is statistically almost guaranteed to be living in code. </a:t>
            </a:r>
          </a:p>
          <a:p>
            <a:pPr marL="228600" lvl="0" indent="-228600">
              <a:buFont typeface="+mj-lt"/>
              <a:buAutoNum type="arabicPeriod"/>
            </a:pPr>
            <a:r>
              <a:rPr lang="en-US" sz="1200" i="1" kern="1200" dirty="0">
                <a:solidFill>
                  <a:schemeClr val="tx1"/>
                </a:solidFill>
                <a:effectLst/>
                <a:latin typeface="+mn-lt"/>
                <a:ea typeface="+mn-ea"/>
                <a:cs typeface="+mn-cs"/>
              </a:rPr>
              <a:t>The Assumption:</a:t>
            </a:r>
            <a:r>
              <a:rPr lang="en-US" sz="1200" kern="1200" dirty="0">
                <a:solidFill>
                  <a:schemeClr val="tx1"/>
                </a:solidFill>
                <a:effectLst/>
                <a:latin typeface="+mn-lt"/>
                <a:ea typeface="+mn-ea"/>
                <a:cs typeface="+mn-cs"/>
              </a:rPr>
              <a:t> This hinges on whether consciousness is substrate-independent—whether running an electrical pattern on silicon can create real subjective awareness. </a:t>
            </a:r>
          </a:p>
          <a:p>
            <a:pPr lvl="0"/>
            <a:r>
              <a:rPr lang="en-US" sz="1200" b="1" kern="1200" dirty="0">
                <a:solidFill>
                  <a:schemeClr val="tx1"/>
                </a:solidFill>
                <a:effectLst/>
                <a:latin typeface="+mn-lt"/>
                <a:ea typeface="+mn-ea"/>
                <a:cs typeface="+mn-cs"/>
              </a:rPr>
              <a:t>The Practical Takeaway:</a:t>
            </a:r>
            <a:r>
              <a:rPr lang="en-US" sz="1200" kern="1200" dirty="0">
                <a:solidFill>
                  <a:schemeClr val="tx1"/>
                </a:solidFill>
                <a:effectLst/>
                <a:latin typeface="+mn-lt"/>
                <a:ea typeface="+mn-ea"/>
                <a:cs typeface="+mn-cs"/>
              </a:rPr>
              <a:t> Does this render your life meaningless? No. Whether base reality is raw physics or 29th-century software code running in a garage, your conscious experience remains real to you. The logical response is to live life fully regardless.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4</a:t>
            </a:fld>
            <a:endParaRPr lang="en-US"/>
          </a:p>
        </p:txBody>
      </p:sp>
    </p:spTree>
    <p:extLst>
      <p:ext uri="{BB962C8B-B14F-4D97-AF65-F5344CB8AC3E}">
        <p14:creationId xmlns:p14="http://schemas.microsoft.com/office/powerpoint/2010/main" val="1891910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Physical Pipeline: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 are a man-shaped collection of particles.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These particles obey universal physical laws (classical physics and quantum probability).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Particle motion determines chemical reactions, which drive electrical brain signals.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Electrical signals travel down nerves to cause muscle contractions, resulting in action. </a:t>
            </a:r>
          </a:p>
          <a:p>
            <a:pPr lvl="0"/>
            <a:r>
              <a:rPr lang="en-US" sz="1200" b="1" kern="1200" dirty="0">
                <a:solidFill>
                  <a:schemeClr val="tx1"/>
                </a:solidFill>
                <a:effectLst/>
                <a:latin typeface="+mn-lt"/>
                <a:ea typeface="+mn-ea"/>
                <a:cs typeface="+mn-cs"/>
              </a:rPr>
              <a:t>The 'Illusion' of Free Will:</a:t>
            </a:r>
            <a:r>
              <a:rPr lang="en-US" sz="1200" kern="1200" dirty="0">
                <a:solidFill>
                  <a:schemeClr val="tx1"/>
                </a:solidFill>
                <a:effectLst/>
                <a:latin typeface="+mn-lt"/>
                <a:ea typeface="+mn-ea"/>
                <a:cs typeface="+mn-cs"/>
              </a:rPr>
              <a:t> Where in this deterministic pipeline does a "free choice" enter? Physics leaves no uncaused gap for a non-physical "will" to nudge an electron. </a:t>
            </a:r>
          </a:p>
          <a:p>
            <a:pPr lvl="0"/>
            <a:r>
              <a:rPr lang="en-US" sz="1200" b="1" kern="1200" dirty="0">
                <a:solidFill>
                  <a:schemeClr val="tx1"/>
                </a:solidFill>
                <a:effectLst/>
                <a:latin typeface="+mn-lt"/>
                <a:ea typeface="+mn-ea"/>
                <a:cs typeface="+mn-cs"/>
              </a:rPr>
              <a:t>Post-Hoc Storytelling:</a:t>
            </a:r>
            <a:r>
              <a:rPr lang="en-US" sz="1200" kern="1200" dirty="0">
                <a:solidFill>
                  <a:schemeClr val="tx1"/>
                </a:solidFill>
                <a:effectLst/>
                <a:latin typeface="+mn-lt"/>
                <a:ea typeface="+mn-ea"/>
                <a:cs typeface="+mn-cs"/>
              </a:rPr>
              <a:t> When you raise your hand, physical laws guided the particles in your motor cortex milliseconds before you became consciously aware of deciding. Consciousness invents the story of "I chose this" post-hoc, serving an evolutionary advantage for social navigation and survival.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5</a:t>
            </a:fld>
            <a:endParaRPr lang="en-US"/>
          </a:p>
        </p:txBody>
      </p:sp>
    </p:spTree>
    <p:extLst>
      <p:ext uri="{BB962C8B-B14F-4D97-AF65-F5344CB8AC3E}">
        <p14:creationId xmlns:p14="http://schemas.microsoft.com/office/powerpoint/2010/main" val="1713565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Current LLM Landscape (The Asymptote):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Large Language Models operate on token prediction and statistical probability trained on existing human internet data.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Limitation:</a:t>
            </a:r>
            <a:r>
              <a:rPr lang="en-US" sz="1200" kern="1200" dirty="0">
                <a:solidFill>
                  <a:schemeClr val="tx1"/>
                </a:solidFill>
                <a:effectLst/>
                <a:latin typeface="+mn-lt"/>
                <a:ea typeface="+mn-ea"/>
                <a:cs typeface="+mn-cs"/>
              </a:rPr>
              <a:t> They may hit an architectural ceiling because they cannot natively innovate beyond human knowledge bases without grounding.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Safety:</a:t>
            </a:r>
            <a:r>
              <a:rPr lang="en-US" sz="1200" kern="1200" dirty="0">
                <a:solidFill>
                  <a:schemeClr val="tx1"/>
                </a:solidFill>
                <a:effectLst/>
                <a:latin typeface="+mn-lt"/>
                <a:ea typeface="+mn-ea"/>
                <a:cs typeface="+mn-cs"/>
              </a:rPr>
              <a:t> Safety relies on basic containment ("pulling the plug" or RLHF alignment). </a:t>
            </a:r>
          </a:p>
          <a:p>
            <a:pPr lvl="0"/>
            <a:r>
              <a:rPr lang="en-US" sz="1200" b="1" kern="1200" dirty="0">
                <a:solidFill>
                  <a:schemeClr val="tx1"/>
                </a:solidFill>
                <a:effectLst/>
                <a:latin typeface="+mn-lt"/>
                <a:ea typeface="+mn-ea"/>
                <a:cs typeface="+mn-cs"/>
              </a:rPr>
              <a:t>Recursive Self-Improvement (AGI / ASI Threat):</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Artificial Superintelligence occurs when an AI writes its own code, optimizes its hardware, and redesigns its architecture recursively. </a:t>
            </a:r>
          </a:p>
          <a:p>
            <a:pPr marL="171450" lvl="0" indent="-171450" algn="l">
              <a:buFont typeface="Arial" panose="020B0604020202020204" pitchFamily="34" charset="0"/>
              <a:buChar char="•"/>
            </a:pPr>
            <a:r>
              <a:rPr lang="en-US" sz="1200" i="1" kern="1200" dirty="0">
                <a:solidFill>
                  <a:schemeClr val="tx1"/>
                </a:solidFill>
                <a:effectLst/>
                <a:latin typeface="+mn-lt"/>
                <a:ea typeface="+mn-ea"/>
                <a:cs typeface="+mn-cs"/>
              </a:rPr>
              <a:t>Timeline:</a:t>
            </a:r>
            <a:r>
              <a:rPr lang="en-US" sz="1200" kern="1200" dirty="0">
                <a:solidFill>
                  <a:schemeClr val="tx1"/>
                </a:solidFill>
                <a:effectLst/>
                <a:latin typeface="+mn-lt"/>
                <a:ea typeface="+mn-ea"/>
                <a:cs typeface="+mn-cs"/>
              </a:rPr>
              <a:t> Leading AI researchers predict human-level crossover between </a:t>
            </a:r>
            <a:r>
              <a:rPr lang="en-US" sz="1200" b="1" kern="1200" dirty="0">
                <a:solidFill>
                  <a:schemeClr val="tx1"/>
                </a:solidFill>
                <a:effectLst/>
                <a:latin typeface="+mn-lt"/>
                <a:ea typeface="+mn-ea"/>
                <a:cs typeface="+mn-cs"/>
              </a:rPr>
              <a:t>2026 and 2029</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i="1" kern="1200" dirty="0">
                <a:solidFill>
                  <a:schemeClr val="tx1"/>
                </a:solidFill>
                <a:effectLst/>
                <a:latin typeface="+mn-lt"/>
                <a:ea typeface="+mn-ea"/>
                <a:cs typeface="+mn-cs"/>
              </a:rPr>
              <a:t>The Risk:</a:t>
            </a:r>
            <a:r>
              <a:rPr lang="en-US" sz="1200" kern="1200" dirty="0">
                <a:solidFill>
                  <a:schemeClr val="tx1"/>
                </a:solidFill>
                <a:effectLst/>
                <a:latin typeface="+mn-lt"/>
                <a:ea typeface="+mn-ea"/>
                <a:cs typeface="+mn-cs"/>
              </a:rPr>
              <a:t> An exponential intelligence explosion taking place in seconds. At that speed, human feedback loops break down completely because the system's reasoning becomes incomprehensible to human minds.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6</a:t>
            </a:fld>
            <a:endParaRPr lang="en-US"/>
          </a:p>
        </p:txBody>
      </p:sp>
    </p:spTree>
    <p:extLst>
      <p:ext uri="{BB962C8B-B14F-4D97-AF65-F5344CB8AC3E}">
        <p14:creationId xmlns:p14="http://schemas.microsoft.com/office/powerpoint/2010/main" val="3348424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Substrate Misconception:</a:t>
            </a:r>
            <a:r>
              <a:rPr lang="en-US" sz="1200" kern="1200" dirty="0">
                <a:solidFill>
                  <a:schemeClr val="tx1"/>
                </a:solidFill>
                <a:effectLst/>
                <a:latin typeface="+mn-lt"/>
                <a:ea typeface="+mn-ea"/>
                <a:cs typeface="+mn-cs"/>
              </a:rPr>
              <a:t> We tend to view biological tissue (neurons, axons, synapses) as sacred. But physics shows that intelligence is about </a:t>
            </a:r>
            <a:r>
              <a:rPr lang="en-US" sz="1200" i="1" kern="1200" dirty="0">
                <a:solidFill>
                  <a:schemeClr val="tx1"/>
                </a:solidFill>
                <a:effectLst/>
                <a:latin typeface="+mn-lt"/>
                <a:ea typeface="+mn-ea"/>
                <a:cs typeface="+mn-cs"/>
              </a:rPr>
              <a:t>information processing structure</a:t>
            </a:r>
            <a:r>
              <a:rPr lang="en-US" sz="1200" kern="1200" dirty="0">
                <a:solidFill>
                  <a:schemeClr val="tx1"/>
                </a:solidFill>
                <a:effectLst/>
                <a:latin typeface="+mn-lt"/>
                <a:ea typeface="+mn-ea"/>
                <a:cs typeface="+mn-cs"/>
              </a:rPr>
              <a:t>, not the organic substrate. </a:t>
            </a:r>
          </a:p>
          <a:p>
            <a:pPr lvl="0"/>
            <a:r>
              <a:rPr lang="en-US" sz="1200" b="1" kern="1200" dirty="0">
                <a:solidFill>
                  <a:schemeClr val="tx1"/>
                </a:solidFill>
                <a:effectLst/>
                <a:latin typeface="+mn-lt"/>
                <a:ea typeface="+mn-ea"/>
                <a:cs typeface="+mn-cs"/>
              </a:rPr>
              <a:t>The Blending Horizon:</a:t>
            </a:r>
            <a:r>
              <a:rPr lang="en-US" sz="1200" kern="1200" dirty="0">
                <a:solidFill>
                  <a:schemeClr val="tx1"/>
                </a:solidFill>
                <a:effectLst/>
                <a:latin typeface="+mn-lt"/>
                <a:ea typeface="+mn-ea"/>
                <a:cs typeface="+mn-cs"/>
              </a:rPr>
              <a:t> Biological evolution is too slow to compete with digital iteration. The future of conscious intelligence will likely involve a deep synthesis—whether through neural interfaces, hybrid cognitive systems, or direct digital integration. </a:t>
            </a:r>
          </a:p>
          <a:p>
            <a:pPr lvl="0"/>
            <a:r>
              <a:rPr lang="en-US" sz="1200" b="1" kern="1200" dirty="0">
                <a:solidFill>
                  <a:schemeClr val="tx1"/>
                </a:solidFill>
                <a:effectLst/>
                <a:latin typeface="+mn-lt"/>
                <a:ea typeface="+mn-ea"/>
                <a:cs typeface="+mn-cs"/>
              </a:rPr>
              <a:t>Redefining 'Human':</a:t>
            </a:r>
            <a:r>
              <a:rPr lang="en-US" sz="1200" kern="1200" dirty="0">
                <a:solidFill>
                  <a:schemeClr val="tx1"/>
                </a:solidFill>
                <a:effectLst/>
                <a:latin typeface="+mn-lt"/>
                <a:ea typeface="+mn-ea"/>
                <a:cs typeface="+mn-cs"/>
              </a:rPr>
              <a:t> Future generations may look back at un-augmented biological humans as a temporary transitional phase in cosmic history.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7</a:t>
            </a:fld>
            <a:endParaRPr lang="en-US"/>
          </a:p>
        </p:txBody>
      </p:sp>
    </p:spTree>
    <p:extLst>
      <p:ext uri="{BB962C8B-B14F-4D97-AF65-F5344CB8AC3E}">
        <p14:creationId xmlns:p14="http://schemas.microsoft.com/office/powerpoint/2010/main" val="313443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Understanding Cosmic Time:</a:t>
                </a:r>
                <a:r>
                  <a:rPr lang="en-US" sz="1200" kern="1200" dirty="0">
                    <a:solidFill>
                      <a:schemeClr val="tx1"/>
                    </a:solidFill>
                    <a:effectLst/>
                    <a:latin typeface="+mn-lt"/>
                    <a:ea typeface="+mn-ea"/>
                    <a:cs typeface="+mn-cs"/>
                  </a:rPr>
                  <a:t> We use a logarithmic scale ("Floors") where Floor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𝑁</m:t>
                    </m:r>
                  </m:oMath>
                </a14:m>
                <a:r>
                  <a:rPr lang="en-US" sz="1200" kern="1200" dirty="0">
                    <a:solidFill>
                      <a:schemeClr val="tx1"/>
                    </a:solidFill>
                    <a:effectLst/>
                    <a:latin typeface="+mn-lt"/>
                    <a:ea typeface="+mn-ea"/>
                    <a:cs typeface="+mn-cs"/>
                  </a:rPr>
                  <a:t>represents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1" kern="1200">
                            <a:solidFill>
                              <a:schemeClr val="tx1"/>
                            </a:solidFill>
                            <a:latin typeface="Cambria Math" panose="02040503050406030204" pitchFamily="18" charset="0"/>
                            <a:ea typeface="+mn-ea"/>
                            <a:cs typeface="+mn-cs"/>
                          </a:rPr>
                          <m:t>𝑁</m:t>
                        </m:r>
                      </m:sup>
                    </m:sSup>
                  </m:oMath>
                </a14:m>
                <a:r>
                  <a:rPr lang="en-US" sz="1200" kern="1200" dirty="0">
                    <a:solidFill>
                      <a:schemeClr val="tx1"/>
                    </a:solidFill>
                    <a:effectLst/>
                    <a:latin typeface="+mn-lt"/>
                    <a:ea typeface="+mn-ea"/>
                    <a:cs typeface="+mn-cs"/>
                  </a:rPr>
                  <a:t>years. </a:t>
                </a:r>
              </a:p>
              <a:p>
                <a:pPr lvl="0"/>
                <a:r>
                  <a:rPr lang="en-US" sz="1200" b="1" kern="1200" dirty="0">
                    <a:solidFill>
                      <a:schemeClr val="tx1"/>
                    </a:solidFill>
                    <a:effectLst/>
                    <a:latin typeface="+mn-lt"/>
                    <a:ea typeface="+mn-ea"/>
                    <a:cs typeface="+mn-cs"/>
                  </a:rPr>
                  <a:t>Floor 10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10</m:t>
                        </m:r>
                      </m:sup>
                    </m:sSup>
                  </m:oMath>
                </a14:m>
                <a:r>
                  <a:rPr lang="en-US" sz="1200" b="1" kern="1200" dirty="0">
                    <a:solidFill>
                      <a:schemeClr val="tx1"/>
                    </a:solidFill>
                    <a:effectLst/>
                    <a:latin typeface="+mn-lt"/>
                    <a:ea typeface="+mn-ea"/>
                    <a:cs typeface="+mn-cs"/>
                  </a:rPr>
                  <a:t> or 10 Billion Years):</a:t>
                </a:r>
                <a:r>
                  <a:rPr lang="en-US" sz="1200" kern="1200" dirty="0">
                    <a:solidFill>
                      <a:schemeClr val="tx1"/>
                    </a:solidFill>
                    <a:effectLst/>
                    <a:latin typeface="+mn-lt"/>
                    <a:ea typeface="+mn-ea"/>
                    <a:cs typeface="+mn-cs"/>
                  </a:rPr>
                  <a:t> Our current era. Stars are forming, nuclear fusion lights up galaxies, and life thrives on Earth. </a:t>
                </a:r>
              </a:p>
              <a:p>
                <a:pPr lvl="0"/>
                <a:r>
                  <a:rPr lang="en-US" sz="1200" b="1" kern="1200" dirty="0">
                    <a:solidFill>
                      <a:schemeClr val="tx1"/>
                    </a:solidFill>
                    <a:effectLst/>
                    <a:latin typeface="+mn-lt"/>
                    <a:ea typeface="+mn-ea"/>
                    <a:cs typeface="+mn-cs"/>
                  </a:rPr>
                  <a:t>Floor 11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11</m:t>
                        </m:r>
                      </m:sup>
                    </m:sSup>
                  </m:oMath>
                </a14:m>
                <a:r>
                  <a:rPr lang="en-US" sz="1200" b="1" kern="1200" dirty="0">
                    <a:solidFill>
                      <a:schemeClr val="tx1"/>
                    </a:solidFill>
                    <a:effectLst/>
                    <a:latin typeface="+mn-lt"/>
                    <a:ea typeface="+mn-ea"/>
                    <a:cs typeface="+mn-cs"/>
                  </a:rPr>
                  <a:t> Years):</a:t>
                </a:r>
                <a:r>
                  <a:rPr lang="en-US" sz="1200" kern="1200" dirty="0">
                    <a:solidFill>
                      <a:schemeClr val="tx1"/>
                    </a:solidFill>
                    <a:effectLst/>
                    <a:latin typeface="+mn-lt"/>
                    <a:ea typeface="+mn-ea"/>
                    <a:cs typeface="+mn-cs"/>
                  </a:rPr>
                  <a:t> The Sun expands into a red giant, engulfing Mercury and Venus, boiling Earth's oceans, and ending all terrestrial life. </a:t>
                </a:r>
              </a:p>
              <a:p>
                <a:pPr lvl="0"/>
                <a:r>
                  <a:rPr lang="en-US" sz="1200" b="1" kern="1200" dirty="0">
                    <a:solidFill>
                      <a:schemeClr val="tx1"/>
                    </a:solidFill>
                    <a:effectLst/>
                    <a:latin typeface="+mn-lt"/>
                    <a:ea typeface="+mn-ea"/>
                    <a:cs typeface="+mn-cs"/>
                  </a:rPr>
                  <a:t>Floor 20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20</m:t>
                        </m:r>
                      </m:sup>
                    </m:sSup>
                  </m:oMath>
                </a14:m>
                <a:r>
                  <a:rPr lang="en-US" sz="1200" b="1" kern="1200" dirty="0">
                    <a:solidFill>
                      <a:schemeClr val="tx1"/>
                    </a:solidFill>
                    <a:effectLst/>
                    <a:latin typeface="+mn-lt"/>
                    <a:ea typeface="+mn-ea"/>
                    <a:cs typeface="+mn-cs"/>
                  </a:rPr>
                  <a:t> Years):</a:t>
                </a:r>
                <a:r>
                  <a:rPr lang="en-US" sz="1200" kern="1200" dirty="0">
                    <a:solidFill>
                      <a:schemeClr val="tx1"/>
                    </a:solidFill>
                    <a:effectLst/>
                    <a:latin typeface="+mn-lt"/>
                    <a:ea typeface="+mn-ea"/>
                    <a:cs typeface="+mn-cs"/>
                  </a:rPr>
                  <a:t> Gravitational radiation causes remaining planetary remnants to lose orbital energy and spiral into dead stellar cores. </a:t>
                </a:r>
              </a:p>
              <a:p>
                <a:pPr lvl="0"/>
                <a:r>
                  <a:rPr lang="en-US" sz="1200" b="1" kern="1200" dirty="0">
                    <a:solidFill>
                      <a:schemeClr val="tx1"/>
                    </a:solidFill>
                    <a:effectLst/>
                    <a:latin typeface="+mn-lt"/>
                    <a:ea typeface="+mn-ea"/>
                    <a:cs typeface="+mn-cs"/>
                  </a:rPr>
                  <a:t>Floor 30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30</m:t>
                        </m:r>
                      </m:sup>
                    </m:sSup>
                  </m:oMath>
                </a14:m>
                <a:r>
                  <a:rPr lang="en-US" sz="1200" b="1" kern="1200" dirty="0">
                    <a:solidFill>
                      <a:schemeClr val="tx1"/>
                    </a:solidFill>
                    <a:effectLst/>
                    <a:latin typeface="+mn-lt"/>
                    <a:ea typeface="+mn-ea"/>
                    <a:cs typeface="+mn-cs"/>
                  </a:rPr>
                  <a:t> Years):</a:t>
                </a:r>
                <a:r>
                  <a:rPr lang="en-US" sz="1200" kern="1200" dirty="0">
                    <a:solidFill>
                      <a:schemeClr val="tx1"/>
                    </a:solidFill>
                    <a:effectLst/>
                    <a:latin typeface="+mn-lt"/>
                    <a:ea typeface="+mn-ea"/>
                    <a:cs typeface="+mn-cs"/>
                  </a:rPr>
                  <a:t> The Stellar Era ends. All stars burn out their nuclear fuel. Galaxies become graveyards of brown dwarfs, neutron stars, and supermassive black holes.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Understanding Cosmic Time:</a:t>
                </a:r>
                <a:r>
                  <a:rPr lang="en-US" sz="1200" kern="1200" dirty="0">
                    <a:solidFill>
                      <a:schemeClr val="tx1"/>
                    </a:solidFill>
                    <a:effectLst/>
                    <a:latin typeface="+mn-lt"/>
                    <a:ea typeface="+mn-ea"/>
                    <a:cs typeface="+mn-cs"/>
                  </a:rPr>
                  <a:t> We use a logarithmic scale ("Floors") where Floor </a:t>
                </a:r>
                <a:r>
                  <a:rPr lang="en-US" sz="1200" i="0" kern="1200">
                    <a:solidFill>
                      <a:schemeClr val="tx1"/>
                    </a:solidFill>
                    <a:latin typeface="+mn-lt"/>
                    <a:ea typeface="+mn-ea"/>
                    <a:cs typeface="+mn-cs"/>
                  </a:rPr>
                  <a:t>𝑁</a:t>
                </a:r>
                <a:r>
                  <a:rPr lang="en-US" sz="1200" kern="1200" dirty="0">
                    <a:solidFill>
                      <a:schemeClr val="tx1"/>
                    </a:solidFill>
                    <a:effectLst/>
                    <a:latin typeface="+mn-lt"/>
                    <a:ea typeface="+mn-ea"/>
                    <a:cs typeface="+mn-cs"/>
                  </a:rPr>
                  <a:t>represents </a:t>
                </a:r>
                <a:r>
                  <a:rPr lang="en-US" sz="1200" i="0" kern="1200">
                    <a:solidFill>
                      <a:schemeClr val="tx1"/>
                    </a:solidFill>
                    <a:latin typeface="+mn-lt"/>
                    <a:ea typeface="+mn-ea"/>
                    <a:cs typeface="+mn-cs"/>
                  </a:rPr>
                  <a:t>10^𝑁</a:t>
                </a:r>
                <a:r>
                  <a:rPr lang="en-US" sz="1200" kern="1200" dirty="0">
                    <a:solidFill>
                      <a:schemeClr val="tx1"/>
                    </a:solidFill>
                    <a:effectLst/>
                    <a:latin typeface="+mn-lt"/>
                    <a:ea typeface="+mn-ea"/>
                    <a:cs typeface="+mn-cs"/>
                  </a:rPr>
                  <a:t>years. </a:t>
                </a:r>
              </a:p>
              <a:p>
                <a:pPr lvl="0"/>
                <a:r>
                  <a:rPr lang="en-US" sz="1200" b="1" kern="1200" dirty="0">
                    <a:solidFill>
                      <a:schemeClr val="tx1"/>
                    </a:solidFill>
                    <a:effectLst/>
                    <a:latin typeface="+mn-lt"/>
                    <a:ea typeface="+mn-ea"/>
                    <a:cs typeface="+mn-cs"/>
                  </a:rPr>
                  <a:t>Floor 10 (</a:t>
                </a:r>
                <a:r>
                  <a:rPr lang="en-US" sz="1200" i="0" kern="1200">
                    <a:solidFill>
                      <a:schemeClr val="tx1"/>
                    </a:solidFill>
                    <a:latin typeface="+mn-lt"/>
                    <a:ea typeface="+mn-ea"/>
                    <a:cs typeface="+mn-cs"/>
                  </a:rPr>
                  <a:t>10^10</a:t>
                </a:r>
                <a:r>
                  <a:rPr lang="en-US" sz="1200" b="1" kern="1200" dirty="0">
                    <a:solidFill>
                      <a:schemeClr val="tx1"/>
                    </a:solidFill>
                    <a:effectLst/>
                    <a:latin typeface="+mn-lt"/>
                    <a:ea typeface="+mn-ea"/>
                    <a:cs typeface="+mn-cs"/>
                  </a:rPr>
                  <a:t> or 10 Billion Years):</a:t>
                </a:r>
                <a:r>
                  <a:rPr lang="en-US" sz="1200" kern="1200" dirty="0">
                    <a:solidFill>
                      <a:schemeClr val="tx1"/>
                    </a:solidFill>
                    <a:effectLst/>
                    <a:latin typeface="+mn-lt"/>
                    <a:ea typeface="+mn-ea"/>
                    <a:cs typeface="+mn-cs"/>
                  </a:rPr>
                  <a:t> Our current era. Stars are forming, nuclear fusion lights up galaxies, and life thrives on Earth. </a:t>
                </a:r>
              </a:p>
              <a:p>
                <a:pPr lvl="0"/>
                <a:r>
                  <a:rPr lang="en-US" sz="1200" b="1" kern="1200" dirty="0">
                    <a:solidFill>
                      <a:schemeClr val="tx1"/>
                    </a:solidFill>
                    <a:effectLst/>
                    <a:latin typeface="+mn-lt"/>
                    <a:ea typeface="+mn-ea"/>
                    <a:cs typeface="+mn-cs"/>
                  </a:rPr>
                  <a:t>Floor 11 (</a:t>
                </a:r>
                <a:r>
                  <a:rPr lang="en-US" sz="1200" i="0" kern="1200">
                    <a:solidFill>
                      <a:schemeClr val="tx1"/>
                    </a:solidFill>
                    <a:latin typeface="+mn-lt"/>
                    <a:ea typeface="+mn-ea"/>
                    <a:cs typeface="+mn-cs"/>
                  </a:rPr>
                  <a:t>10^11</a:t>
                </a:r>
                <a:r>
                  <a:rPr lang="en-US" sz="1200" b="1" kern="1200" dirty="0">
                    <a:solidFill>
                      <a:schemeClr val="tx1"/>
                    </a:solidFill>
                    <a:effectLst/>
                    <a:latin typeface="+mn-lt"/>
                    <a:ea typeface="+mn-ea"/>
                    <a:cs typeface="+mn-cs"/>
                  </a:rPr>
                  <a:t> Years):</a:t>
                </a:r>
                <a:r>
                  <a:rPr lang="en-US" sz="1200" kern="1200" dirty="0">
                    <a:solidFill>
                      <a:schemeClr val="tx1"/>
                    </a:solidFill>
                    <a:effectLst/>
                    <a:latin typeface="+mn-lt"/>
                    <a:ea typeface="+mn-ea"/>
                    <a:cs typeface="+mn-cs"/>
                  </a:rPr>
                  <a:t> The Sun expands into a red giant, engulfing Mercury and Venus, boiling Earth's oceans, and ending all terrestrial life. </a:t>
                </a:r>
              </a:p>
              <a:p>
                <a:pPr lvl="0"/>
                <a:r>
                  <a:rPr lang="en-US" sz="1200" b="1" kern="1200" dirty="0">
                    <a:solidFill>
                      <a:schemeClr val="tx1"/>
                    </a:solidFill>
                    <a:effectLst/>
                    <a:latin typeface="+mn-lt"/>
                    <a:ea typeface="+mn-ea"/>
                    <a:cs typeface="+mn-cs"/>
                  </a:rPr>
                  <a:t>Floor 20 (</a:t>
                </a:r>
                <a:r>
                  <a:rPr lang="en-US" sz="1200" i="0" kern="1200">
                    <a:solidFill>
                      <a:schemeClr val="tx1"/>
                    </a:solidFill>
                    <a:latin typeface="+mn-lt"/>
                    <a:ea typeface="+mn-ea"/>
                    <a:cs typeface="+mn-cs"/>
                  </a:rPr>
                  <a:t>10^20</a:t>
                </a:r>
                <a:r>
                  <a:rPr lang="en-US" sz="1200" b="1" kern="1200" dirty="0">
                    <a:solidFill>
                      <a:schemeClr val="tx1"/>
                    </a:solidFill>
                    <a:effectLst/>
                    <a:latin typeface="+mn-lt"/>
                    <a:ea typeface="+mn-ea"/>
                    <a:cs typeface="+mn-cs"/>
                  </a:rPr>
                  <a:t> Years):</a:t>
                </a:r>
                <a:r>
                  <a:rPr lang="en-US" sz="1200" kern="1200" dirty="0">
                    <a:solidFill>
                      <a:schemeClr val="tx1"/>
                    </a:solidFill>
                    <a:effectLst/>
                    <a:latin typeface="+mn-lt"/>
                    <a:ea typeface="+mn-ea"/>
                    <a:cs typeface="+mn-cs"/>
                  </a:rPr>
                  <a:t> Gravitational radiation causes remaining planetary remnants to lose orbital energy and spiral into dead stellar cores. </a:t>
                </a:r>
              </a:p>
              <a:p>
                <a:pPr lvl="0"/>
                <a:r>
                  <a:rPr lang="en-US" sz="1200" b="1" kern="1200" dirty="0">
                    <a:solidFill>
                      <a:schemeClr val="tx1"/>
                    </a:solidFill>
                    <a:effectLst/>
                    <a:latin typeface="+mn-lt"/>
                    <a:ea typeface="+mn-ea"/>
                    <a:cs typeface="+mn-cs"/>
                  </a:rPr>
                  <a:t>Floor 30 (</a:t>
                </a:r>
                <a:r>
                  <a:rPr lang="en-US" sz="1200" i="0" kern="1200">
                    <a:solidFill>
                      <a:schemeClr val="tx1"/>
                    </a:solidFill>
                    <a:latin typeface="+mn-lt"/>
                    <a:ea typeface="+mn-ea"/>
                    <a:cs typeface="+mn-cs"/>
                  </a:rPr>
                  <a:t>10^30</a:t>
                </a:r>
                <a:r>
                  <a:rPr lang="en-US" sz="1200" b="1" kern="1200" dirty="0">
                    <a:solidFill>
                      <a:schemeClr val="tx1"/>
                    </a:solidFill>
                    <a:effectLst/>
                    <a:latin typeface="+mn-lt"/>
                    <a:ea typeface="+mn-ea"/>
                    <a:cs typeface="+mn-cs"/>
                  </a:rPr>
                  <a:t> Years):</a:t>
                </a:r>
                <a:r>
                  <a:rPr lang="en-US" sz="1200" kern="1200" dirty="0">
                    <a:solidFill>
                      <a:schemeClr val="tx1"/>
                    </a:solidFill>
                    <a:effectLst/>
                    <a:latin typeface="+mn-lt"/>
                    <a:ea typeface="+mn-ea"/>
                    <a:cs typeface="+mn-cs"/>
                  </a:rPr>
                  <a:t> The Stellar Era ends. All stars burn out their nuclear fuel. Galaxies become graveyards of brown dwarfs, neutron stars, and supermassive black holes. </a:t>
                </a:r>
              </a:p>
              <a:p>
                <a:endParaRPr lang="en-US" dirty="0"/>
              </a:p>
            </p:txBody>
          </p:sp>
        </mc:Fallback>
      </mc:AlternateContent>
      <p:sp>
        <p:nvSpPr>
          <p:cNvPr id="4" name="Slide Number Placeholder 3"/>
          <p:cNvSpPr>
            <a:spLocks noGrp="1"/>
          </p:cNvSpPr>
          <p:nvPr>
            <p:ph type="sldNum" sz="quarter" idx="5"/>
          </p:nvPr>
        </p:nvSpPr>
        <p:spPr/>
        <p:txBody>
          <a:bodyPr/>
          <a:lstStyle/>
          <a:p>
            <a:fld id="{1F27FB7A-5C45-4062-BCF6-95D2947F5DF1}" type="slidenum">
              <a:rPr lang="en-US" smtClean="0"/>
              <a:t>8</a:t>
            </a:fld>
            <a:endParaRPr lang="en-US"/>
          </a:p>
        </p:txBody>
      </p:sp>
    </p:spTree>
    <p:extLst>
      <p:ext uri="{BB962C8B-B14F-4D97-AF65-F5344CB8AC3E}">
        <p14:creationId xmlns:p14="http://schemas.microsoft.com/office/powerpoint/2010/main" val="2567314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Floor 38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38</m:t>
                        </m:r>
                      </m:sup>
                    </m:sSup>
                  </m:oMath>
                </a14:m>
                <a:r>
                  <a:rPr lang="en-US" sz="1200" b="1" kern="1200" dirty="0">
                    <a:solidFill>
                      <a:schemeClr val="tx1"/>
                    </a:solidFill>
                    <a:effectLst/>
                    <a:latin typeface="+mn-lt"/>
                    <a:ea typeface="+mn-ea"/>
                    <a:cs typeface="+mn-cs"/>
                  </a:rPr>
                  <a:t> Years): Proton Decay:</a:t>
                </a:r>
                <a:r>
                  <a:rPr lang="en-US" sz="1200" kern="1200" dirty="0">
                    <a:solidFill>
                      <a:schemeClr val="tx1"/>
                    </a:solidFill>
                    <a:effectLst/>
                    <a:latin typeface="+mn-lt"/>
                    <a:ea typeface="+mn-ea"/>
                    <a:cs typeface="+mn-cs"/>
                  </a:rPr>
                  <a:t> Subatomic stability ends. Protons—the fundamental pillars of atoms—disintegrate. Solid matter as we know it disappears completely. </a:t>
                </a:r>
              </a:p>
              <a:p>
                <a:pPr lvl="0"/>
                <a:r>
                  <a:rPr lang="en-US" sz="1200" b="1" kern="1200" dirty="0">
                    <a:solidFill>
                      <a:schemeClr val="tx1"/>
                    </a:solidFill>
                    <a:effectLst/>
                    <a:latin typeface="+mn-lt"/>
                    <a:ea typeface="+mn-ea"/>
                    <a:cs typeface="+mn-cs"/>
                  </a:rPr>
                  <a:t>Floor 50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50</m:t>
                        </m:r>
                      </m:sup>
                    </m:sSup>
                  </m:oMath>
                </a14:m>
                <a:r>
                  <a:rPr lang="en-US" sz="1200" b="1" kern="1200" dirty="0">
                    <a:solidFill>
                      <a:schemeClr val="tx1"/>
                    </a:solidFill>
                    <a:effectLst/>
                    <a:latin typeface="+mn-lt"/>
                    <a:ea typeface="+mn-ea"/>
                    <a:cs typeface="+mn-cs"/>
                  </a:rPr>
                  <a:t> Years): The Death of Thought:</a:t>
                </a:r>
                <a:r>
                  <a:rPr lang="en-US" sz="1200" kern="1200" dirty="0">
                    <a:solidFill>
                      <a:schemeClr val="tx1"/>
                    </a:solidFill>
                    <a:effectLst/>
                    <a:latin typeface="+mn-lt"/>
                    <a:ea typeface="+mn-ea"/>
                    <a:cs typeface="+mn-cs"/>
                  </a:rPr>
                  <a:t> Thermodynamic entropy increases to the point where no organized work or computation can occur. Any conscious structure trying to think a thought would generate heat it cannot dissipate, essentially frying in its own entropic waste. </a:t>
                </a:r>
              </a:p>
              <a:p>
                <a:pPr lvl="0"/>
                <a:r>
                  <a:rPr lang="en-US" sz="1200" b="1" kern="1200" dirty="0">
                    <a:solidFill>
                      <a:schemeClr val="tx1"/>
                    </a:solidFill>
                    <a:effectLst/>
                    <a:latin typeface="+mn-lt"/>
                    <a:ea typeface="+mn-ea"/>
                    <a:cs typeface="+mn-cs"/>
                  </a:rPr>
                  <a:t>Floor 68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68</m:t>
                        </m:r>
                      </m:sup>
                    </m:sSup>
                  </m:oMath>
                </a14:m>
                <a:r>
                  <a:rPr lang="en-US" sz="1200" b="1" kern="1200" dirty="0">
                    <a:solidFill>
                      <a:schemeClr val="tx1"/>
                    </a:solidFill>
                    <a:effectLst/>
                    <a:latin typeface="+mn-lt"/>
                    <a:ea typeface="+mn-ea"/>
                    <a:cs typeface="+mn-cs"/>
                  </a:rPr>
                  <a:t> Years): Black Hole Evaporation:</a:t>
                </a:r>
                <a:r>
                  <a:rPr lang="en-US" sz="1200" kern="1200" dirty="0">
                    <a:solidFill>
                      <a:schemeClr val="tx1"/>
                    </a:solidFill>
                    <a:effectLst/>
                    <a:latin typeface="+mn-lt"/>
                    <a:ea typeface="+mn-ea"/>
                    <a:cs typeface="+mn-cs"/>
                  </a:rPr>
                  <a:t> Hawking radiation causes solar-mass black holes to slowly radiate away their mass and explode in bursts of gamma rays. </a:t>
                </a:r>
              </a:p>
              <a:p>
                <a:pPr lvl="0"/>
                <a:r>
                  <a:rPr lang="en-US" sz="1200" b="1" kern="1200" dirty="0">
                    <a:solidFill>
                      <a:schemeClr val="tx1"/>
                    </a:solidFill>
                    <a:effectLst/>
                    <a:latin typeface="+mn-lt"/>
                    <a:ea typeface="+mn-ea"/>
                    <a:cs typeface="+mn-cs"/>
                  </a:rPr>
                  <a:t>Floor 100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100</m:t>
                        </m:r>
                      </m:sup>
                    </m:sSup>
                  </m:oMath>
                </a14:m>
                <a:r>
                  <a:rPr lang="en-US" sz="1200" b="1" kern="1200" dirty="0">
                    <a:solidFill>
                      <a:schemeClr val="tx1"/>
                    </a:solidFill>
                    <a:effectLst/>
                    <a:latin typeface="+mn-lt"/>
                    <a:ea typeface="+mn-ea"/>
                    <a:cs typeface="+mn-cs"/>
                  </a:rPr>
                  <a:t> Years): Heat Death:</a:t>
                </a:r>
                <a:r>
                  <a:rPr lang="en-US" sz="1200" kern="1200" dirty="0">
                    <a:solidFill>
                      <a:schemeClr val="tx1"/>
                    </a:solidFill>
                    <a:effectLst/>
                    <a:latin typeface="+mn-lt"/>
                    <a:ea typeface="+mn-ea"/>
                    <a:cs typeface="+mn-cs"/>
                  </a:rPr>
                  <a:t> The "Big Freeze." Only a dilute, cold gas of photons and leptons remains drifting through an expanding, lifeless void.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Floor 38 (</a:t>
                </a:r>
                <a:r>
                  <a:rPr lang="en-US" sz="1200" i="0" kern="1200">
                    <a:solidFill>
                      <a:schemeClr val="tx1"/>
                    </a:solidFill>
                    <a:latin typeface="+mn-lt"/>
                    <a:ea typeface="+mn-ea"/>
                    <a:cs typeface="+mn-cs"/>
                  </a:rPr>
                  <a:t>10^38</a:t>
                </a:r>
                <a:r>
                  <a:rPr lang="en-US" sz="1200" b="1" kern="1200" dirty="0">
                    <a:solidFill>
                      <a:schemeClr val="tx1"/>
                    </a:solidFill>
                    <a:effectLst/>
                    <a:latin typeface="+mn-lt"/>
                    <a:ea typeface="+mn-ea"/>
                    <a:cs typeface="+mn-cs"/>
                  </a:rPr>
                  <a:t> Years): Proton Decay:</a:t>
                </a:r>
                <a:r>
                  <a:rPr lang="en-US" sz="1200" kern="1200" dirty="0">
                    <a:solidFill>
                      <a:schemeClr val="tx1"/>
                    </a:solidFill>
                    <a:effectLst/>
                    <a:latin typeface="+mn-lt"/>
                    <a:ea typeface="+mn-ea"/>
                    <a:cs typeface="+mn-cs"/>
                  </a:rPr>
                  <a:t> Subatomic stability ends. Protons—the fundamental pillars of atoms—disintegrate. Solid matter as we know it disappears completely. </a:t>
                </a:r>
              </a:p>
              <a:p>
                <a:pPr lvl="0"/>
                <a:r>
                  <a:rPr lang="en-US" sz="1200" b="1" kern="1200" dirty="0">
                    <a:solidFill>
                      <a:schemeClr val="tx1"/>
                    </a:solidFill>
                    <a:effectLst/>
                    <a:latin typeface="+mn-lt"/>
                    <a:ea typeface="+mn-ea"/>
                    <a:cs typeface="+mn-cs"/>
                  </a:rPr>
                  <a:t>Floor 50 (</a:t>
                </a:r>
                <a:r>
                  <a:rPr lang="en-US" sz="1200" i="0" kern="1200">
                    <a:solidFill>
                      <a:schemeClr val="tx1"/>
                    </a:solidFill>
                    <a:latin typeface="+mn-lt"/>
                    <a:ea typeface="+mn-ea"/>
                    <a:cs typeface="+mn-cs"/>
                  </a:rPr>
                  <a:t>10^50</a:t>
                </a:r>
                <a:r>
                  <a:rPr lang="en-US" sz="1200" b="1" kern="1200" dirty="0">
                    <a:solidFill>
                      <a:schemeClr val="tx1"/>
                    </a:solidFill>
                    <a:effectLst/>
                    <a:latin typeface="+mn-lt"/>
                    <a:ea typeface="+mn-ea"/>
                    <a:cs typeface="+mn-cs"/>
                  </a:rPr>
                  <a:t> Years): The Death of Thought:</a:t>
                </a:r>
                <a:r>
                  <a:rPr lang="en-US" sz="1200" kern="1200" dirty="0">
                    <a:solidFill>
                      <a:schemeClr val="tx1"/>
                    </a:solidFill>
                    <a:effectLst/>
                    <a:latin typeface="+mn-lt"/>
                    <a:ea typeface="+mn-ea"/>
                    <a:cs typeface="+mn-cs"/>
                  </a:rPr>
                  <a:t> Thermodynamic entropy increases to the point where no organized work or computation can occur. Any conscious structure trying to think a thought would generate heat it cannot dissipate, essentially frying in its own entropic waste. </a:t>
                </a:r>
              </a:p>
              <a:p>
                <a:pPr lvl="0"/>
                <a:r>
                  <a:rPr lang="en-US" sz="1200" b="1" kern="1200" dirty="0">
                    <a:solidFill>
                      <a:schemeClr val="tx1"/>
                    </a:solidFill>
                    <a:effectLst/>
                    <a:latin typeface="+mn-lt"/>
                    <a:ea typeface="+mn-ea"/>
                    <a:cs typeface="+mn-cs"/>
                  </a:rPr>
                  <a:t>Floor 68 (</a:t>
                </a:r>
                <a:r>
                  <a:rPr lang="en-US" sz="1200" i="0" kern="1200">
                    <a:solidFill>
                      <a:schemeClr val="tx1"/>
                    </a:solidFill>
                    <a:latin typeface="+mn-lt"/>
                    <a:ea typeface="+mn-ea"/>
                    <a:cs typeface="+mn-cs"/>
                  </a:rPr>
                  <a:t>10^68</a:t>
                </a:r>
                <a:r>
                  <a:rPr lang="en-US" sz="1200" b="1" kern="1200" dirty="0">
                    <a:solidFill>
                      <a:schemeClr val="tx1"/>
                    </a:solidFill>
                    <a:effectLst/>
                    <a:latin typeface="+mn-lt"/>
                    <a:ea typeface="+mn-ea"/>
                    <a:cs typeface="+mn-cs"/>
                  </a:rPr>
                  <a:t> Years): Black Hole Evaporation:</a:t>
                </a:r>
                <a:r>
                  <a:rPr lang="en-US" sz="1200" kern="1200" dirty="0">
                    <a:solidFill>
                      <a:schemeClr val="tx1"/>
                    </a:solidFill>
                    <a:effectLst/>
                    <a:latin typeface="+mn-lt"/>
                    <a:ea typeface="+mn-ea"/>
                    <a:cs typeface="+mn-cs"/>
                  </a:rPr>
                  <a:t> Hawking radiation causes solar-mass black holes to slowly radiate away their mass and explode in bursts of gamma rays. </a:t>
                </a:r>
              </a:p>
              <a:p>
                <a:pPr lvl="0"/>
                <a:r>
                  <a:rPr lang="en-US" sz="1200" b="1" kern="1200" dirty="0">
                    <a:solidFill>
                      <a:schemeClr val="tx1"/>
                    </a:solidFill>
                    <a:effectLst/>
                    <a:latin typeface="+mn-lt"/>
                    <a:ea typeface="+mn-ea"/>
                    <a:cs typeface="+mn-cs"/>
                  </a:rPr>
                  <a:t>Floor 100 (</a:t>
                </a:r>
                <a:r>
                  <a:rPr lang="en-US" sz="1200" i="0" kern="1200">
                    <a:solidFill>
                      <a:schemeClr val="tx1"/>
                    </a:solidFill>
                    <a:latin typeface="+mn-lt"/>
                    <a:ea typeface="+mn-ea"/>
                    <a:cs typeface="+mn-cs"/>
                  </a:rPr>
                  <a:t>10^100</a:t>
                </a:r>
                <a:r>
                  <a:rPr lang="en-US" sz="1200" b="1" kern="1200" dirty="0">
                    <a:solidFill>
                      <a:schemeClr val="tx1"/>
                    </a:solidFill>
                    <a:effectLst/>
                    <a:latin typeface="+mn-lt"/>
                    <a:ea typeface="+mn-ea"/>
                    <a:cs typeface="+mn-cs"/>
                  </a:rPr>
                  <a:t> Years): Heat Death:</a:t>
                </a:r>
                <a:r>
                  <a:rPr lang="en-US" sz="1200" kern="1200" dirty="0">
                    <a:solidFill>
                      <a:schemeClr val="tx1"/>
                    </a:solidFill>
                    <a:effectLst/>
                    <a:latin typeface="+mn-lt"/>
                    <a:ea typeface="+mn-ea"/>
                    <a:cs typeface="+mn-cs"/>
                  </a:rPr>
                  <a:t> The "Big Freeze." Only a dilute, cold gas of photons and leptons remains drifting through an expanding, lifeless void. </a:t>
                </a:r>
              </a:p>
              <a:p>
                <a:endParaRPr lang="en-US" dirty="0"/>
              </a:p>
            </p:txBody>
          </p:sp>
        </mc:Fallback>
      </mc:AlternateContent>
      <p:sp>
        <p:nvSpPr>
          <p:cNvPr id="4" name="Slide Number Placeholder 3"/>
          <p:cNvSpPr>
            <a:spLocks noGrp="1"/>
          </p:cNvSpPr>
          <p:nvPr>
            <p:ph type="sldNum" sz="quarter" idx="5"/>
          </p:nvPr>
        </p:nvSpPr>
        <p:spPr/>
        <p:txBody>
          <a:bodyPr/>
          <a:lstStyle/>
          <a:p>
            <a:fld id="{1F27FB7A-5C45-4062-BCF6-95D2947F5DF1}" type="slidenum">
              <a:rPr lang="en-US" smtClean="0"/>
              <a:t>9</a:t>
            </a:fld>
            <a:endParaRPr lang="en-US"/>
          </a:p>
        </p:txBody>
      </p:sp>
    </p:spTree>
    <p:extLst>
      <p:ext uri="{BB962C8B-B14F-4D97-AF65-F5344CB8AC3E}">
        <p14:creationId xmlns:p14="http://schemas.microsoft.com/office/powerpoint/2010/main" val="1701191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Cosmic Context:</a:t>
            </a:r>
            <a:r>
              <a:rPr lang="en-US" sz="1200" kern="1200" dirty="0">
                <a:solidFill>
                  <a:schemeClr val="tx1"/>
                </a:solidFill>
                <a:effectLst/>
                <a:latin typeface="+mn-lt"/>
                <a:ea typeface="+mn-ea"/>
                <a:cs typeface="+mn-cs"/>
              </a:rPr>
              <a:t> Before us lies billions of years of chaotic particles; after us lies an infinitely cold, expanding void. We inhabit a fleeting "crack of light" between two eternal darknesses. </a:t>
            </a:r>
          </a:p>
          <a:p>
            <a:pPr lvl="0"/>
            <a:r>
              <a:rPr lang="en-US" sz="1200" b="1" kern="1200" dirty="0">
                <a:solidFill>
                  <a:schemeClr val="tx1"/>
                </a:solidFill>
                <a:effectLst/>
                <a:latin typeface="+mn-lt"/>
                <a:ea typeface="+mn-ea"/>
                <a:cs typeface="+mn-cs"/>
              </a:rPr>
              <a:t>The Fallacy of External Meaning:</a:t>
            </a:r>
            <a:r>
              <a:rPr lang="en-US" sz="1200" kern="1200" dirty="0">
                <a:solidFill>
                  <a:schemeClr val="tx1"/>
                </a:solidFill>
                <a:effectLst/>
                <a:latin typeface="+mn-lt"/>
                <a:ea typeface="+mn-ea"/>
                <a:cs typeface="+mn-cs"/>
              </a:rPr>
              <a:t> People often search the stars for an inherent, grand purpose floating out in space. Physics shows the universe itself is indifferent and governed by inanimate laws. </a:t>
            </a:r>
          </a:p>
          <a:p>
            <a:pPr lvl="0"/>
            <a:r>
              <a:rPr lang="en-US" sz="1200" b="1" kern="1200" dirty="0">
                <a:solidFill>
                  <a:schemeClr val="tx1"/>
                </a:solidFill>
                <a:effectLst/>
                <a:latin typeface="+mn-lt"/>
                <a:ea typeface="+mn-ea"/>
                <a:cs typeface="+mn-cs"/>
              </a:rPr>
              <a:t>Self-Generated Value:</a:t>
            </a:r>
            <a:r>
              <a:rPr lang="en-US" sz="1200" kern="1200" dirty="0">
                <a:solidFill>
                  <a:schemeClr val="tx1"/>
                </a:solidFill>
                <a:effectLst/>
                <a:latin typeface="+mn-lt"/>
                <a:ea typeface="+mn-ea"/>
                <a:cs typeface="+mn-cs"/>
              </a:rPr>
              <a:t> Meaning is not discovered; it is </a:t>
            </a:r>
            <a:r>
              <a:rPr lang="en-US" sz="1200" i="1" kern="1200" dirty="0">
                <a:solidFill>
                  <a:schemeClr val="tx1"/>
                </a:solidFill>
                <a:effectLst/>
                <a:latin typeface="+mn-lt"/>
                <a:ea typeface="+mn-ea"/>
                <a:cs typeface="+mn-cs"/>
              </a:rPr>
              <a:t>constructed</a:t>
            </a:r>
            <a:r>
              <a:rPr lang="en-US" sz="1200" kern="1200" dirty="0">
                <a:solidFill>
                  <a:schemeClr val="tx1"/>
                </a:solidFill>
                <a:effectLst/>
                <a:latin typeface="+mn-lt"/>
                <a:ea typeface="+mn-ea"/>
                <a:cs typeface="+mn-cs"/>
              </a:rPr>
              <a:t>. We are the way the universe reflects upon itself. Our loves, art, scientific inquiries, and conscious moments matter precisely because they are brief and unique configurations of matter.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10</a:t>
            </a:fld>
            <a:endParaRPr lang="en-US"/>
          </a:p>
        </p:txBody>
      </p:sp>
    </p:spTree>
    <p:extLst>
      <p:ext uri="{BB962C8B-B14F-4D97-AF65-F5344CB8AC3E}">
        <p14:creationId xmlns:p14="http://schemas.microsoft.com/office/powerpoint/2010/main" val="758917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Summary of Reality Constructs:</a:t>
            </a:r>
            <a:r>
              <a:rPr lang="en-US" sz="1200" kern="1200" dirty="0">
                <a:solidFill>
                  <a:schemeClr val="tx1"/>
                </a:solidFill>
                <a:effectLst/>
                <a:latin typeface="+mn-lt"/>
                <a:ea typeface="+mn-ea"/>
                <a:cs typeface="+mn-cs"/>
              </a:rPr>
              <a:t> Bringing our first core inquiries together: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Matter as Vibrating Strings:</a:t>
            </a:r>
            <a:r>
              <a:rPr lang="en-US" sz="1200" kern="1200" dirty="0">
                <a:solidFill>
                  <a:schemeClr val="tx1"/>
                </a:solidFill>
                <a:effectLst/>
                <a:latin typeface="+mn-lt"/>
                <a:ea typeface="+mn-ea"/>
                <a:cs typeface="+mn-cs"/>
              </a:rPr>
              <a:t> Replacing point particles with multidimensional string vibrations bridges quantum mechanics and general relativity.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Simulation Probability:</a:t>
            </a:r>
            <a:r>
              <a:rPr lang="en-US" sz="1200" kern="1200" dirty="0">
                <a:solidFill>
                  <a:schemeClr val="tx1"/>
                </a:solidFill>
                <a:effectLst/>
                <a:latin typeface="+mn-lt"/>
                <a:ea typeface="+mn-ea"/>
                <a:cs typeface="+mn-cs"/>
              </a:rPr>
              <a:t> Reminding us to maintain intellectual humility regarding the true nature of our substrate.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Consciousness as Physical Process:</a:t>
            </a:r>
            <a:r>
              <a:rPr lang="en-US" sz="1200" kern="1200" dirty="0">
                <a:solidFill>
                  <a:schemeClr val="tx1"/>
                </a:solidFill>
                <a:effectLst/>
                <a:latin typeface="+mn-lt"/>
                <a:ea typeface="+mn-ea"/>
                <a:cs typeface="+mn-cs"/>
              </a:rPr>
              <a:t> Understanding that mental phenomena—from profound awe to simple anxieties—are real physical events in a biological system.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11</a:t>
            </a:fld>
            <a:endParaRPr lang="en-US"/>
          </a:p>
        </p:txBody>
      </p:sp>
    </p:spTree>
    <p:extLst>
      <p:ext uri="{BB962C8B-B14F-4D97-AF65-F5344CB8AC3E}">
        <p14:creationId xmlns:p14="http://schemas.microsoft.com/office/powerpoint/2010/main" val="1101593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Bridging the Present to the Deep Future: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Blending with AI:</a:t>
            </a:r>
            <a:r>
              <a:rPr lang="en-US" sz="1200" kern="1200" dirty="0">
                <a:solidFill>
                  <a:schemeClr val="tx1"/>
                </a:solidFill>
                <a:effectLst/>
                <a:latin typeface="+mn-lt"/>
                <a:ea typeface="+mn-ea"/>
                <a:cs typeface="+mn-cs"/>
              </a:rPr>
              <a:t> Biological intelligence will likely co-evolve with synthetic systems.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Finality of Thought:</a:t>
            </a:r>
            <a:r>
              <a:rPr lang="en-US" sz="1200" kern="1200" dirty="0">
                <a:solidFill>
                  <a:schemeClr val="tx1"/>
                </a:solidFill>
                <a:effectLst/>
                <a:latin typeface="+mn-lt"/>
                <a:ea typeface="+mn-ea"/>
                <a:cs typeface="+mn-cs"/>
              </a:rPr>
              <a:t> Recognizing that the universe has an expiration date gives urgency to our current cosmic epoch.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Significance in Scale:</a:t>
            </a:r>
            <a:r>
              <a:rPr lang="en-US" sz="1200" kern="1200" dirty="0">
                <a:solidFill>
                  <a:schemeClr val="tx1"/>
                </a:solidFill>
                <a:effectLst/>
                <a:latin typeface="+mn-lt"/>
                <a:ea typeface="+mn-ea"/>
                <a:cs typeface="+mn-cs"/>
              </a:rPr>
              <a:t> Our true magnitude isn't measured in meters or light-years, but in our awareness.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12</a:t>
            </a:fld>
            <a:endParaRPr lang="en-US"/>
          </a:p>
        </p:txBody>
      </p:sp>
    </p:spTree>
    <p:extLst>
      <p:ext uri="{BB962C8B-B14F-4D97-AF65-F5344CB8AC3E}">
        <p14:creationId xmlns:p14="http://schemas.microsoft.com/office/powerpoint/2010/main" val="2531042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Substrate Mapping:</a:t>
            </a:r>
            <a:r>
              <a:rPr lang="en-US" sz="1200" kern="1200" dirty="0">
                <a:solidFill>
                  <a:schemeClr val="tx1"/>
                </a:solidFill>
                <a:effectLst/>
                <a:latin typeface="+mn-lt"/>
                <a:ea typeface="+mn-ea"/>
                <a:cs typeface="+mn-cs"/>
              </a:rPr>
              <a:t> Comparing biological brains to synthetic AI nodes: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Biological:</a:t>
            </a:r>
            <a:r>
              <a:rPr lang="en-US" sz="1200" kern="1200" dirty="0">
                <a:solidFill>
                  <a:schemeClr val="tx1"/>
                </a:solidFill>
                <a:effectLst/>
                <a:latin typeface="+mn-lt"/>
                <a:ea typeface="+mn-ea"/>
                <a:cs typeface="+mn-cs"/>
              </a:rPr>
              <a:t> Powered by ATP, running on ~20 watts, constrained by biological birth channels and skull size, evolving over millions of years.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Synthetic:</a:t>
            </a:r>
            <a:r>
              <a:rPr lang="en-US" sz="1200" kern="1200" dirty="0">
                <a:solidFill>
                  <a:schemeClr val="tx1"/>
                </a:solidFill>
                <a:effectLst/>
                <a:latin typeface="+mn-lt"/>
                <a:ea typeface="+mn-ea"/>
                <a:cs typeface="+mn-cs"/>
              </a:rPr>
              <a:t> Powered by electrical grids, scaling across data centers, capable of instant weight updates and recursive self-improvement. </a:t>
            </a:r>
          </a:p>
          <a:p>
            <a:pPr lvl="0"/>
            <a:r>
              <a:rPr lang="en-US" sz="1200" b="1" kern="1200" dirty="0">
                <a:solidFill>
                  <a:schemeClr val="tx1"/>
                </a:solidFill>
                <a:effectLst/>
                <a:latin typeface="+mn-lt"/>
                <a:ea typeface="+mn-ea"/>
                <a:cs typeface="+mn-cs"/>
              </a:rPr>
              <a:t>Convergence:</a:t>
            </a:r>
            <a:r>
              <a:rPr lang="en-US" sz="1200" kern="1200" dirty="0">
                <a:solidFill>
                  <a:schemeClr val="tx1"/>
                </a:solidFill>
                <a:effectLst/>
                <a:latin typeface="+mn-lt"/>
                <a:ea typeface="+mn-ea"/>
                <a:cs typeface="+mn-cs"/>
              </a:rPr>
              <a:t> As we build machines that mimic neural architectures, the line between biological thought and machine processing grows increasingly thin.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13</a:t>
            </a:fld>
            <a:endParaRPr lang="en-US"/>
          </a:p>
        </p:txBody>
      </p:sp>
    </p:spTree>
    <p:extLst>
      <p:ext uri="{BB962C8B-B14F-4D97-AF65-F5344CB8AC3E}">
        <p14:creationId xmlns:p14="http://schemas.microsoft.com/office/powerpoint/2010/main" val="3517309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Visualizing the Entropic Arc:</a:t>
            </a:r>
            <a:r>
              <a:rPr lang="en-US" sz="1200" kern="1200" dirty="0">
                <a:solidFill>
                  <a:schemeClr val="tx1"/>
                </a:solidFill>
                <a:effectLst/>
                <a:latin typeface="+mn-lt"/>
                <a:ea typeface="+mn-ea"/>
                <a:cs typeface="+mn-cs"/>
              </a:rPr>
              <a:t> Trace the energy degradation curve on this slide: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Low Entropy (Big Bang):</a:t>
            </a:r>
            <a:r>
              <a:rPr lang="en-US" sz="1200" kern="1200" dirty="0">
                <a:solidFill>
                  <a:schemeClr val="tx1"/>
                </a:solidFill>
                <a:effectLst/>
                <a:latin typeface="+mn-lt"/>
                <a:ea typeface="+mn-ea"/>
                <a:cs typeface="+mn-cs"/>
              </a:rPr>
              <a:t> Highly ordered, ultra-dense energy state.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Complexity Peak (Current Era):</a:t>
            </a:r>
            <a:r>
              <a:rPr lang="en-US" sz="1200" kern="1200" dirty="0">
                <a:solidFill>
                  <a:schemeClr val="tx1"/>
                </a:solidFill>
                <a:effectLst/>
                <a:latin typeface="+mn-lt"/>
                <a:ea typeface="+mn-ea"/>
                <a:cs typeface="+mn-cs"/>
              </a:rPr>
              <a:t> Stars, chemistry, biological life, consciousness, and technology flourish.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High Entropy (Heat Death):</a:t>
            </a:r>
            <a:r>
              <a:rPr lang="en-US" sz="1200" kern="1200" dirty="0">
                <a:solidFill>
                  <a:schemeClr val="tx1"/>
                </a:solidFill>
                <a:effectLst/>
                <a:latin typeface="+mn-lt"/>
                <a:ea typeface="+mn-ea"/>
                <a:cs typeface="+mn-cs"/>
              </a:rPr>
              <a:t> Thermal equilibrium where no free energy remains to power work or thought. </a:t>
            </a:r>
          </a:p>
          <a:p>
            <a:pPr lvl="0"/>
            <a:r>
              <a:rPr lang="en-US" sz="1200" b="1" kern="1200" dirty="0">
                <a:solidFill>
                  <a:schemeClr val="tx1"/>
                </a:solidFill>
                <a:effectLst/>
                <a:latin typeface="+mn-lt"/>
                <a:ea typeface="+mn-ea"/>
                <a:cs typeface="+mn-cs"/>
              </a:rPr>
              <a:t>Our Place on the Curve:</a:t>
            </a:r>
            <a:r>
              <a:rPr lang="en-US" sz="1200" kern="1200" dirty="0">
                <a:solidFill>
                  <a:schemeClr val="tx1"/>
                </a:solidFill>
                <a:effectLst/>
                <a:latin typeface="+mn-lt"/>
                <a:ea typeface="+mn-ea"/>
                <a:cs typeface="+mn-cs"/>
              </a:rPr>
              <a:t> We are privileged to live near the complexity peak of cosmic history. </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14</a:t>
            </a:fld>
            <a:endParaRPr lang="en-US"/>
          </a:p>
        </p:txBody>
      </p:sp>
    </p:spTree>
    <p:extLst>
      <p:ext uri="{BB962C8B-B14F-4D97-AF65-F5344CB8AC3E}">
        <p14:creationId xmlns:p14="http://schemas.microsoft.com/office/powerpoint/2010/main" val="2484203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Closing Thoughts:</a:t>
            </a:r>
            <a:r>
              <a:rPr lang="en-US" sz="1200" kern="1200" dirty="0">
                <a:solidFill>
                  <a:schemeClr val="tx1"/>
                </a:solidFill>
                <a:effectLst/>
                <a:latin typeface="+mn-lt"/>
                <a:ea typeface="+mn-ea"/>
                <a:cs typeface="+mn-cs"/>
              </a:rPr>
              <a:t> We started with five existential inquiries into scale, reality, simulation, choice, and the future of intelligence. </a:t>
            </a:r>
          </a:p>
          <a:p>
            <a:pPr lvl="0"/>
            <a:r>
              <a:rPr lang="en-US" sz="1200" b="1" kern="1200" dirty="0">
                <a:solidFill>
                  <a:schemeClr val="tx1"/>
                </a:solidFill>
                <a:effectLst/>
                <a:latin typeface="+mn-lt"/>
                <a:ea typeface="+mn-ea"/>
                <a:cs typeface="+mn-cs"/>
              </a:rPr>
              <a:t>The Final Mindset:</a:t>
            </a:r>
            <a:r>
              <a:rPr lang="en-US" sz="1200" kern="1200" dirty="0">
                <a:solidFill>
                  <a:schemeClr val="tx1"/>
                </a:solidFill>
                <a:effectLst/>
                <a:latin typeface="+mn-lt"/>
                <a:ea typeface="+mn-ea"/>
                <a:cs typeface="+mn-cs"/>
              </a:rPr>
              <a:t> Knowing that our time is finite and our world is a rare oasis of low entropy should not lead to despair. Instead, it should inspire profound gratitude and responsibility.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We are the universe waking up, looking around, and understanding itself. Make your moment in the light count. </a:t>
            </a:r>
            <a:r>
              <a:rPr lang="en-US" sz="1200" kern="1200">
                <a:solidFill>
                  <a:schemeClr val="tx1"/>
                </a:solidFill>
                <a:effectLst/>
                <a:latin typeface="+mn-lt"/>
                <a:ea typeface="+mn-ea"/>
                <a:cs typeface="+mn-cs"/>
              </a:rPr>
              <a:t>Thank you.</a:t>
            </a:r>
          </a:p>
          <a:p>
            <a:endParaRPr lang="en-US" dirty="0"/>
          </a:p>
          <a:p>
            <a:endParaRPr lang="en-US" dirty="0"/>
          </a:p>
          <a:p>
            <a:endParaRPr lang="en-US" dirty="0"/>
          </a:p>
          <a:p>
            <a:r>
              <a:rPr lang="en-US" dirty="0"/>
              <a:t>https://www.youtube.com/watch?v=Qifsxitq_q4</a:t>
            </a:r>
          </a:p>
          <a:p>
            <a:endParaRPr lang="en-US" dirty="0"/>
          </a:p>
        </p:txBody>
      </p:sp>
      <p:sp>
        <p:nvSpPr>
          <p:cNvPr id="4" name="Slide Number Placeholder 3"/>
          <p:cNvSpPr>
            <a:spLocks noGrp="1"/>
          </p:cNvSpPr>
          <p:nvPr>
            <p:ph type="sldNum" sz="quarter" idx="5"/>
          </p:nvPr>
        </p:nvSpPr>
        <p:spPr/>
        <p:txBody>
          <a:bodyPr/>
          <a:lstStyle/>
          <a:p>
            <a:fld id="{1F27FB7A-5C45-4062-BCF6-95D2947F5DF1}" type="slidenum">
              <a:rPr lang="en-US" smtClean="0"/>
              <a:t>15</a:t>
            </a:fld>
            <a:endParaRPr lang="en-US"/>
          </a:p>
        </p:txBody>
      </p:sp>
    </p:spTree>
    <p:extLst>
      <p:ext uri="{BB962C8B-B14F-4D97-AF65-F5344CB8AC3E}">
        <p14:creationId xmlns:p14="http://schemas.microsoft.com/office/powerpoint/2010/main" val="3734179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A15B51-0A1E-C225-8A9F-4577A6C7238F}"/>
              </a:ext>
            </a:extLst>
          </p:cNvPr>
          <p:cNvSpPr>
            <a:spLocks noGrp="1"/>
          </p:cNvSpPr>
          <p:nvPr>
            <p:ph type="dt" sz="half" idx="10"/>
          </p:nvPr>
        </p:nvSpPr>
        <p:spPr/>
        <p:txBody>
          <a:bodyPr/>
          <a:lstStyle/>
          <a:p>
            <a:fld id="{C12524A2-EFD0-4A8A-8779-5FEE04354AB6}" type="datetimeFigureOut">
              <a:rPr lang="en-US" smtClean="0"/>
              <a:t>10/20/2026</a:t>
            </a:fld>
            <a:endParaRPr lang="en-US"/>
          </a:p>
        </p:txBody>
      </p:sp>
      <p:sp>
        <p:nvSpPr>
          <p:cNvPr id="3" name="Footer Placeholder 2">
            <a:extLst>
              <a:ext uri="{FF2B5EF4-FFF2-40B4-BE49-F238E27FC236}">
                <a16:creationId xmlns:a16="http://schemas.microsoft.com/office/drawing/2014/main" id="{5A62F91D-144F-C593-0F7D-C704FBDDE2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85D3ED-94F2-B425-2D68-2BBBBB4544C2}"/>
              </a:ext>
            </a:extLst>
          </p:cNvPr>
          <p:cNvSpPr>
            <a:spLocks noGrp="1"/>
          </p:cNvSpPr>
          <p:nvPr>
            <p:ph type="sldNum" sz="quarter" idx="12"/>
          </p:nvPr>
        </p:nvSpPr>
        <p:spPr/>
        <p:txBody>
          <a:bodyPr/>
          <a:lstStyle/>
          <a:p>
            <a:fld id="{B6E89DE3-0217-43CD-BB5F-6A13DB50C02A}" type="slidenum">
              <a:rPr lang="en-US" smtClean="0"/>
              <a:t>‹#›</a:t>
            </a:fld>
            <a:endParaRPr lang="en-US"/>
          </a:p>
        </p:txBody>
      </p:sp>
    </p:spTree>
    <p:extLst>
      <p:ext uri="{BB962C8B-B14F-4D97-AF65-F5344CB8AC3E}">
        <p14:creationId xmlns:p14="http://schemas.microsoft.com/office/powerpoint/2010/main" val="80967632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E8E7C8-8278-2483-77C5-109995240F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8D66F8-0CE9-FE30-CE1A-8FCB1079C8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8DB581-8254-2087-DD98-FAEAB9D457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2524A2-EFD0-4A8A-8779-5FEE04354AB6}" type="datetimeFigureOut">
              <a:rPr lang="en-US" smtClean="0"/>
              <a:t>10/20/2026</a:t>
            </a:fld>
            <a:endParaRPr lang="en-US"/>
          </a:p>
        </p:txBody>
      </p:sp>
      <p:sp>
        <p:nvSpPr>
          <p:cNvPr id="5" name="Footer Placeholder 4">
            <a:extLst>
              <a:ext uri="{FF2B5EF4-FFF2-40B4-BE49-F238E27FC236}">
                <a16:creationId xmlns:a16="http://schemas.microsoft.com/office/drawing/2014/main" id="{74E00144-BC36-20F3-F2AC-D0F4853D4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8B6D5A-2F25-D375-AB7C-8D8D11A5CA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E89DE3-0217-43CD-BB5F-6A13DB50C02A}" type="slidenum">
              <a:rPr lang="en-US" smtClean="0"/>
              <a:t>‹#›</a:t>
            </a:fld>
            <a:endParaRPr lang="en-US"/>
          </a:p>
        </p:txBody>
      </p:sp>
    </p:spTree>
    <p:extLst>
      <p:ext uri="{BB962C8B-B14F-4D97-AF65-F5344CB8AC3E}">
        <p14:creationId xmlns:p14="http://schemas.microsoft.com/office/powerpoint/2010/main" val="237388463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8349A6-810A-5634-4CF3-011BE5BFA6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FE7024-9FA3-47B8-B4F7-B8E45CC5CF9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AA6DFF-B036-A630-2FCD-20B8889955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C11759-A067-4023-44CA-5A383CA3A5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6206DA-B490-1400-FFEA-36A1AAEC611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409A75-5FA4-05A7-D6CC-D0800BE504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CCED79-7CCD-AA4B-5B86-E8AA4E7F7D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DBC134-ECB8-4234-06D2-6E0CD73CEF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88D069-7407-CB17-C4C9-61ADBE6DF6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E7D8BF-3D51-A004-4380-E15FD6FE21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57958B-8105-1A52-5D2F-FFE5D7010E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E75667-7B28-5C62-63AE-642DC5E644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7D9397-221F-E074-34EF-F7D3E6C034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4FF33-1FC5-81D3-7BC8-FFB025F053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C54E27-B4E0-CD4F-1719-9B75E574F22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572144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1792</Words>
  <Application>Microsoft Office PowerPoint</Application>
  <PresentationFormat>寬螢幕</PresentationFormat>
  <Paragraphs>94</Paragraphs>
  <Slides>15</Slides>
  <Notes>15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2026-09-16T11:14:52Z</dcterms:created>
  <dcterms:modified xsi:type="dcterms:W3CDTF">2026-10-20T13:29:17Z</dcterms:modified>
</cp:coreProperties>
</file>