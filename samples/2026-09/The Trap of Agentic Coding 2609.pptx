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BF8"/>
    <a:srgbClr val="3C4862"/>
    <a:srgbClr val="D47A71"/>
    <a:srgbClr val="FCB0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249D32-5CBA-403A-8903-ADDEF887AA30}" v="42" dt="2026-09-27T03:23:56.7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86467"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7T03:24:27.992" v="171" actId="166"/>
      <pc:docMkLst>
        <pc:docMk/>
      </pc:docMkLst>
      <pc:sldChg chg="addSp delSp modSp mod modAnim modNotes modNotesTx">
        <pc:chgData name="Lai, Wilson" userId="2840974a-0d84-4886-90a9-9a3ed79f3a48" providerId="ADAL" clId="{9F23B798-9E84-4552-BA63-E776E805C424}" dt="2026-09-27T03:24:27.992" v="171" actId="166"/>
        <pc:sldMkLst>
          <pc:docMk/>
          <pc:sldMk cId="0" sldId="257"/>
        </pc:sldMkLst>
        <pc:spChg chg="add mod">
          <ac:chgData name="Lai, Wilson" userId="2840974a-0d84-4886-90a9-9a3ed79f3a48" providerId="ADAL" clId="{9F23B798-9E84-4552-BA63-E776E805C424}" dt="2026-09-27T02:40:46.069" v="8" actId="164"/>
          <ac:spMkLst>
            <pc:docMk/>
            <pc:sldMk cId="0" sldId="257"/>
            <ac:spMk id="5" creationId="{35802C30-7D80-49F1-081F-178EDF1CE448}"/>
          </ac:spMkLst>
        </pc:spChg>
        <pc:grpChg chg="add mod">
          <ac:chgData name="Lai, Wilson" userId="2840974a-0d84-4886-90a9-9a3ed79f3a48" providerId="ADAL" clId="{9F23B798-9E84-4552-BA63-E776E805C424}" dt="2026-09-27T02:40:49.799" v="9" actId="1076"/>
          <ac:grpSpMkLst>
            <pc:docMk/>
            <pc:sldMk cId="0" sldId="257"/>
            <ac:grpSpMk id="6" creationId="{7D90246D-88A7-0E08-CB39-82C9FAA9A0C7}"/>
          </ac:grpSpMkLst>
        </pc:grpChg>
        <pc:picChg chg="del">
          <ac:chgData name="Lai, Wilson" userId="2840974a-0d84-4886-90a9-9a3ed79f3a48" providerId="ADAL" clId="{9F23B798-9E84-4552-BA63-E776E805C424}" dt="2026-09-27T02:57:17.994" v="10" actId="21"/>
          <ac:picMkLst>
            <pc:docMk/>
            <pc:sldMk cId="0" sldId="257"/>
            <ac:picMk id="2" creationId="{00000000-0000-0000-0000-000000000000}"/>
          </ac:picMkLst>
        </pc:picChg>
        <pc:picChg chg="add mod">
          <ac:chgData name="Lai, Wilson" userId="2840974a-0d84-4886-90a9-9a3ed79f3a48" providerId="ADAL" clId="{9F23B798-9E84-4552-BA63-E776E805C424}" dt="2026-09-27T02:40:46.069" v="8" actId="164"/>
          <ac:picMkLst>
            <pc:docMk/>
            <pc:sldMk cId="0" sldId="257"/>
            <ac:picMk id="3" creationId="{4B232CEB-4911-627D-70E6-57980768A1A6}"/>
          </ac:picMkLst>
        </pc:picChg>
        <pc:picChg chg="add ord">
          <ac:chgData name="Lai, Wilson" userId="2840974a-0d84-4886-90a9-9a3ed79f3a48" providerId="ADAL" clId="{9F23B798-9E84-4552-BA63-E776E805C424}" dt="2026-09-27T03:24:27.992" v="171" actId="166"/>
          <ac:picMkLst>
            <pc:docMk/>
            <pc:sldMk cId="0" sldId="257"/>
            <ac:picMk id="7" creationId="{C95446BB-B5D3-6D70-5953-7C85CB5B9BC0}"/>
          </ac:picMkLst>
        </pc:picChg>
      </pc:sldChg>
      <pc:sldChg chg="addSp delSp mod modNotes modNotesTx">
        <pc:chgData name="Lai, Wilson" userId="2840974a-0d84-4886-90a9-9a3ed79f3a48" providerId="ADAL" clId="{9F23B798-9E84-4552-BA63-E776E805C424}" dt="2026-09-27T03:23:56.752" v="170"/>
        <pc:sldMkLst>
          <pc:docMk/>
          <pc:sldMk cId="0" sldId="258"/>
        </pc:sldMkLst>
        <pc:picChg chg="del">
          <ac:chgData name="Lai, Wilson" userId="2840974a-0d84-4886-90a9-9a3ed79f3a48" providerId="ADAL" clId="{9F23B798-9E84-4552-BA63-E776E805C424}" dt="2026-09-27T02:57:35.069" v="12" actId="21"/>
          <ac:picMkLst>
            <pc:docMk/>
            <pc:sldMk cId="0" sldId="258"/>
            <ac:picMk id="2" creationId="{00000000-0000-0000-0000-000000000000}"/>
          </ac:picMkLst>
        </pc:picChg>
        <pc:picChg chg="add">
          <ac:chgData name="Lai, Wilson" userId="2840974a-0d84-4886-90a9-9a3ed79f3a48" providerId="ADAL" clId="{9F23B798-9E84-4552-BA63-E776E805C424}" dt="2026-09-27T02:58:05.985" v="13" actId="22"/>
          <ac:picMkLst>
            <pc:docMk/>
            <pc:sldMk cId="0" sldId="258"/>
            <ac:picMk id="4" creationId="{56D8558A-F849-B316-8D2A-EBDE9F0789E6}"/>
          </ac:picMkLst>
        </pc:picChg>
      </pc:sldChg>
      <pc:sldChg chg="addSp delSp mod modNotes modNotesTx">
        <pc:chgData name="Lai, Wilson" userId="2840974a-0d84-4886-90a9-9a3ed79f3a48" providerId="ADAL" clId="{9F23B798-9E84-4552-BA63-E776E805C424}" dt="2026-09-27T03:23:56.752" v="170"/>
        <pc:sldMkLst>
          <pc:docMk/>
          <pc:sldMk cId="0" sldId="259"/>
        </pc:sldMkLst>
        <pc:picChg chg="del">
          <ac:chgData name="Lai, Wilson" userId="2840974a-0d84-4886-90a9-9a3ed79f3a48" providerId="ADAL" clId="{9F23B798-9E84-4552-BA63-E776E805C424}" dt="2026-09-27T02:58:08.878" v="14" actId="21"/>
          <ac:picMkLst>
            <pc:docMk/>
            <pc:sldMk cId="0" sldId="259"/>
            <ac:picMk id="2" creationId="{00000000-0000-0000-0000-000000000000}"/>
          </ac:picMkLst>
        </pc:picChg>
        <pc:picChg chg="add">
          <ac:chgData name="Lai, Wilson" userId="2840974a-0d84-4886-90a9-9a3ed79f3a48" providerId="ADAL" clId="{9F23B798-9E84-4552-BA63-E776E805C424}" dt="2026-09-27T02:58:32.516" v="15" actId="22"/>
          <ac:picMkLst>
            <pc:docMk/>
            <pc:sldMk cId="0" sldId="259"/>
            <ac:picMk id="4" creationId="{0440951B-81BA-B5A0-703F-92BD2CFB44DC}"/>
          </ac:picMkLst>
        </pc:picChg>
      </pc:sldChg>
      <pc:sldChg chg="addSp delSp mod modNotes modNotesTx">
        <pc:chgData name="Lai, Wilson" userId="2840974a-0d84-4886-90a9-9a3ed79f3a48" providerId="ADAL" clId="{9F23B798-9E84-4552-BA63-E776E805C424}" dt="2026-09-27T03:23:56.752" v="170"/>
        <pc:sldMkLst>
          <pc:docMk/>
          <pc:sldMk cId="0" sldId="260"/>
        </pc:sldMkLst>
        <pc:picChg chg="del">
          <ac:chgData name="Lai, Wilson" userId="2840974a-0d84-4886-90a9-9a3ed79f3a48" providerId="ADAL" clId="{9F23B798-9E84-4552-BA63-E776E805C424}" dt="2026-09-27T02:58:34.378" v="16" actId="21"/>
          <ac:picMkLst>
            <pc:docMk/>
            <pc:sldMk cId="0" sldId="260"/>
            <ac:picMk id="2" creationId="{00000000-0000-0000-0000-000000000000}"/>
          </ac:picMkLst>
        </pc:picChg>
        <pc:picChg chg="add">
          <ac:chgData name="Lai, Wilson" userId="2840974a-0d84-4886-90a9-9a3ed79f3a48" providerId="ADAL" clId="{9F23B798-9E84-4552-BA63-E776E805C424}" dt="2026-09-27T02:59:11.628" v="17" actId="22"/>
          <ac:picMkLst>
            <pc:docMk/>
            <pc:sldMk cId="0" sldId="260"/>
            <ac:picMk id="4" creationId="{7CB5333D-D0B5-9F16-2DD9-B66F4F794016}"/>
          </ac:picMkLst>
        </pc:picChg>
      </pc:sldChg>
      <pc:sldChg chg="addSp delSp mod modNotes modNotesTx">
        <pc:chgData name="Lai, Wilson" userId="2840974a-0d84-4886-90a9-9a3ed79f3a48" providerId="ADAL" clId="{9F23B798-9E84-4552-BA63-E776E805C424}" dt="2026-09-27T03:23:56.752" v="170"/>
        <pc:sldMkLst>
          <pc:docMk/>
          <pc:sldMk cId="0" sldId="261"/>
        </pc:sldMkLst>
        <pc:picChg chg="del">
          <ac:chgData name="Lai, Wilson" userId="2840974a-0d84-4886-90a9-9a3ed79f3a48" providerId="ADAL" clId="{9F23B798-9E84-4552-BA63-E776E805C424}" dt="2026-09-27T02:59:16.914" v="18" actId="21"/>
          <ac:picMkLst>
            <pc:docMk/>
            <pc:sldMk cId="0" sldId="261"/>
            <ac:picMk id="2" creationId="{00000000-0000-0000-0000-000000000000}"/>
          </ac:picMkLst>
        </pc:picChg>
        <pc:picChg chg="add">
          <ac:chgData name="Lai, Wilson" userId="2840974a-0d84-4886-90a9-9a3ed79f3a48" providerId="ADAL" clId="{9F23B798-9E84-4552-BA63-E776E805C424}" dt="2026-09-27T02:59:26.898" v="19" actId="22"/>
          <ac:picMkLst>
            <pc:docMk/>
            <pc:sldMk cId="0" sldId="261"/>
            <ac:picMk id="4" creationId="{3AA9C929-398B-AE14-DD1E-E9ACA5E65FC1}"/>
          </ac:picMkLst>
        </pc:picChg>
      </pc:sldChg>
      <pc:sldChg chg="addSp delSp mod modNotes modNotesTx">
        <pc:chgData name="Lai, Wilson" userId="2840974a-0d84-4886-90a9-9a3ed79f3a48" providerId="ADAL" clId="{9F23B798-9E84-4552-BA63-E776E805C424}" dt="2026-09-27T03:23:56.752" v="170"/>
        <pc:sldMkLst>
          <pc:docMk/>
          <pc:sldMk cId="0" sldId="262"/>
        </pc:sldMkLst>
        <pc:picChg chg="del">
          <ac:chgData name="Lai, Wilson" userId="2840974a-0d84-4886-90a9-9a3ed79f3a48" providerId="ADAL" clId="{9F23B798-9E84-4552-BA63-E776E805C424}" dt="2026-09-27T02:59:28.231" v="20" actId="21"/>
          <ac:picMkLst>
            <pc:docMk/>
            <pc:sldMk cId="0" sldId="262"/>
            <ac:picMk id="2" creationId="{00000000-0000-0000-0000-000000000000}"/>
          </ac:picMkLst>
        </pc:picChg>
        <pc:picChg chg="add">
          <ac:chgData name="Lai, Wilson" userId="2840974a-0d84-4886-90a9-9a3ed79f3a48" providerId="ADAL" clId="{9F23B798-9E84-4552-BA63-E776E805C424}" dt="2026-09-27T02:59:38.671" v="21" actId="22"/>
          <ac:picMkLst>
            <pc:docMk/>
            <pc:sldMk cId="0" sldId="262"/>
            <ac:picMk id="4" creationId="{3349FBDF-BAEC-3190-82DB-7D96936EC753}"/>
          </ac:picMkLst>
        </pc:picChg>
      </pc:sldChg>
      <pc:sldChg chg="addSp delSp mod modNotes modNotesTx">
        <pc:chgData name="Lai, Wilson" userId="2840974a-0d84-4886-90a9-9a3ed79f3a48" providerId="ADAL" clId="{9F23B798-9E84-4552-BA63-E776E805C424}" dt="2026-09-27T03:23:56.752" v="170"/>
        <pc:sldMkLst>
          <pc:docMk/>
          <pc:sldMk cId="0" sldId="263"/>
        </pc:sldMkLst>
        <pc:picChg chg="del">
          <ac:chgData name="Lai, Wilson" userId="2840974a-0d84-4886-90a9-9a3ed79f3a48" providerId="ADAL" clId="{9F23B798-9E84-4552-BA63-E776E805C424}" dt="2026-09-27T02:59:41.372" v="22" actId="21"/>
          <ac:picMkLst>
            <pc:docMk/>
            <pc:sldMk cId="0" sldId="263"/>
            <ac:picMk id="2" creationId="{00000000-0000-0000-0000-000000000000}"/>
          </ac:picMkLst>
        </pc:picChg>
        <pc:picChg chg="add">
          <ac:chgData name="Lai, Wilson" userId="2840974a-0d84-4886-90a9-9a3ed79f3a48" providerId="ADAL" clId="{9F23B798-9E84-4552-BA63-E776E805C424}" dt="2026-09-27T02:59:51.712" v="23" actId="22"/>
          <ac:picMkLst>
            <pc:docMk/>
            <pc:sldMk cId="0" sldId="263"/>
            <ac:picMk id="4" creationId="{72BA0963-A66C-A76F-0804-612B27D36CEA}"/>
          </ac:picMkLst>
        </pc:picChg>
      </pc:sldChg>
      <pc:sldChg chg="addSp delSp mod modNotes modNotesTx">
        <pc:chgData name="Lai, Wilson" userId="2840974a-0d84-4886-90a9-9a3ed79f3a48" providerId="ADAL" clId="{9F23B798-9E84-4552-BA63-E776E805C424}" dt="2026-09-27T03:23:56.752" v="170"/>
        <pc:sldMkLst>
          <pc:docMk/>
          <pc:sldMk cId="0" sldId="264"/>
        </pc:sldMkLst>
        <pc:picChg chg="del">
          <ac:chgData name="Lai, Wilson" userId="2840974a-0d84-4886-90a9-9a3ed79f3a48" providerId="ADAL" clId="{9F23B798-9E84-4552-BA63-E776E805C424}" dt="2026-09-27T02:59:53.068" v="24" actId="21"/>
          <ac:picMkLst>
            <pc:docMk/>
            <pc:sldMk cId="0" sldId="264"/>
            <ac:picMk id="2" creationId="{00000000-0000-0000-0000-000000000000}"/>
          </ac:picMkLst>
        </pc:picChg>
        <pc:picChg chg="add">
          <ac:chgData name="Lai, Wilson" userId="2840974a-0d84-4886-90a9-9a3ed79f3a48" providerId="ADAL" clId="{9F23B798-9E84-4552-BA63-E776E805C424}" dt="2026-09-27T03:00:01.294" v="25" actId="22"/>
          <ac:picMkLst>
            <pc:docMk/>
            <pc:sldMk cId="0" sldId="264"/>
            <ac:picMk id="4" creationId="{80EA75DA-C889-DF9F-6D30-45C09AF0B50C}"/>
          </ac:picMkLst>
        </pc:picChg>
      </pc:sldChg>
      <pc:sldChg chg="addSp delSp mod modNotes modNotesTx">
        <pc:chgData name="Lai, Wilson" userId="2840974a-0d84-4886-90a9-9a3ed79f3a48" providerId="ADAL" clId="{9F23B798-9E84-4552-BA63-E776E805C424}" dt="2026-09-27T03:23:56.752" v="170"/>
        <pc:sldMkLst>
          <pc:docMk/>
          <pc:sldMk cId="0" sldId="265"/>
        </pc:sldMkLst>
        <pc:picChg chg="del">
          <ac:chgData name="Lai, Wilson" userId="2840974a-0d84-4886-90a9-9a3ed79f3a48" providerId="ADAL" clId="{9F23B798-9E84-4552-BA63-E776E805C424}" dt="2026-09-27T03:00:05.214" v="26" actId="21"/>
          <ac:picMkLst>
            <pc:docMk/>
            <pc:sldMk cId="0" sldId="265"/>
            <ac:picMk id="2" creationId="{00000000-0000-0000-0000-000000000000}"/>
          </ac:picMkLst>
        </pc:picChg>
        <pc:picChg chg="add">
          <ac:chgData name="Lai, Wilson" userId="2840974a-0d84-4886-90a9-9a3ed79f3a48" providerId="ADAL" clId="{9F23B798-9E84-4552-BA63-E776E805C424}" dt="2026-09-27T03:00:13.881" v="27" actId="22"/>
          <ac:picMkLst>
            <pc:docMk/>
            <pc:sldMk cId="0" sldId="265"/>
            <ac:picMk id="4" creationId="{77E4FB0A-E363-E42E-37A4-C246D7F296B1}"/>
          </ac:picMkLst>
        </pc:picChg>
      </pc:sldChg>
      <pc:sldChg chg="addSp delSp mod modNotes modNotesTx">
        <pc:chgData name="Lai, Wilson" userId="2840974a-0d84-4886-90a9-9a3ed79f3a48" providerId="ADAL" clId="{9F23B798-9E84-4552-BA63-E776E805C424}" dt="2026-09-27T03:23:56.752" v="170"/>
        <pc:sldMkLst>
          <pc:docMk/>
          <pc:sldMk cId="0" sldId="266"/>
        </pc:sldMkLst>
        <pc:picChg chg="del">
          <ac:chgData name="Lai, Wilson" userId="2840974a-0d84-4886-90a9-9a3ed79f3a48" providerId="ADAL" clId="{9F23B798-9E84-4552-BA63-E776E805C424}" dt="2026-09-27T03:00:15.295" v="28" actId="21"/>
          <ac:picMkLst>
            <pc:docMk/>
            <pc:sldMk cId="0" sldId="266"/>
            <ac:picMk id="2" creationId="{00000000-0000-0000-0000-000000000000}"/>
          </ac:picMkLst>
        </pc:picChg>
        <pc:picChg chg="add">
          <ac:chgData name="Lai, Wilson" userId="2840974a-0d84-4886-90a9-9a3ed79f3a48" providerId="ADAL" clId="{9F23B798-9E84-4552-BA63-E776E805C424}" dt="2026-09-27T03:00:22.964" v="29" actId="22"/>
          <ac:picMkLst>
            <pc:docMk/>
            <pc:sldMk cId="0" sldId="266"/>
            <ac:picMk id="4" creationId="{6494108A-C8A1-FF5A-D798-647D566BACF7}"/>
          </ac:picMkLst>
        </pc:picChg>
      </pc:sldChg>
      <pc:sldChg chg="addSp delSp mod modNotes modNotesTx">
        <pc:chgData name="Lai, Wilson" userId="2840974a-0d84-4886-90a9-9a3ed79f3a48" providerId="ADAL" clId="{9F23B798-9E84-4552-BA63-E776E805C424}" dt="2026-09-27T03:23:56.752" v="170"/>
        <pc:sldMkLst>
          <pc:docMk/>
          <pc:sldMk cId="0" sldId="267"/>
        </pc:sldMkLst>
        <pc:picChg chg="del">
          <ac:chgData name="Lai, Wilson" userId="2840974a-0d84-4886-90a9-9a3ed79f3a48" providerId="ADAL" clId="{9F23B798-9E84-4552-BA63-E776E805C424}" dt="2026-09-27T03:00:25.371" v="30" actId="21"/>
          <ac:picMkLst>
            <pc:docMk/>
            <pc:sldMk cId="0" sldId="267"/>
            <ac:picMk id="2" creationId="{00000000-0000-0000-0000-000000000000}"/>
          </ac:picMkLst>
        </pc:picChg>
        <pc:picChg chg="add">
          <ac:chgData name="Lai, Wilson" userId="2840974a-0d84-4886-90a9-9a3ed79f3a48" providerId="ADAL" clId="{9F23B798-9E84-4552-BA63-E776E805C424}" dt="2026-09-27T03:00:47.231" v="31" actId="22"/>
          <ac:picMkLst>
            <pc:docMk/>
            <pc:sldMk cId="0" sldId="267"/>
            <ac:picMk id="4" creationId="{E44570E0-78D7-8F2B-7BDF-8897EFD6605C}"/>
          </ac:picMkLst>
        </pc:picChg>
      </pc:sldChg>
      <pc:sldChg chg="addSp delSp mod modNotes modNotesTx">
        <pc:chgData name="Lai, Wilson" userId="2840974a-0d84-4886-90a9-9a3ed79f3a48" providerId="ADAL" clId="{9F23B798-9E84-4552-BA63-E776E805C424}" dt="2026-09-27T03:23:56.752" v="170"/>
        <pc:sldMkLst>
          <pc:docMk/>
          <pc:sldMk cId="0" sldId="268"/>
        </pc:sldMkLst>
        <pc:picChg chg="del">
          <ac:chgData name="Lai, Wilson" userId="2840974a-0d84-4886-90a9-9a3ed79f3a48" providerId="ADAL" clId="{9F23B798-9E84-4552-BA63-E776E805C424}" dt="2026-09-27T03:00:48.898" v="32" actId="21"/>
          <ac:picMkLst>
            <pc:docMk/>
            <pc:sldMk cId="0" sldId="268"/>
            <ac:picMk id="2" creationId="{00000000-0000-0000-0000-000000000000}"/>
          </ac:picMkLst>
        </pc:picChg>
        <pc:picChg chg="add">
          <ac:chgData name="Lai, Wilson" userId="2840974a-0d84-4886-90a9-9a3ed79f3a48" providerId="ADAL" clId="{9F23B798-9E84-4552-BA63-E776E805C424}" dt="2026-09-27T03:00:57.893" v="33" actId="22"/>
          <ac:picMkLst>
            <pc:docMk/>
            <pc:sldMk cId="0" sldId="268"/>
            <ac:picMk id="4" creationId="{3C842FC5-C2E0-6FFC-0FCC-FF404F0A35A9}"/>
          </ac:picMkLst>
        </pc:picChg>
      </pc:sldChg>
      <pc:sldChg chg="addSp delSp modSp mod modNotes modNotesTx">
        <pc:chgData name="Lai, Wilson" userId="2840974a-0d84-4886-90a9-9a3ed79f3a48" providerId="ADAL" clId="{9F23B798-9E84-4552-BA63-E776E805C424}" dt="2026-09-27T03:23:56.752" v="170"/>
        <pc:sldMkLst>
          <pc:docMk/>
          <pc:sldMk cId="1496626562" sldId="269"/>
        </pc:sldMkLst>
        <pc:spChg chg="add del mod">
          <ac:chgData name="Lai, Wilson" userId="2840974a-0d84-4886-90a9-9a3ed79f3a48" providerId="ADAL" clId="{9F23B798-9E84-4552-BA63-E776E805C424}" dt="2026-09-27T03:09:05.775" v="91" actId="478"/>
          <ac:spMkLst>
            <pc:docMk/>
            <pc:sldMk cId="1496626562" sldId="269"/>
            <ac:spMk id="5" creationId="{9A726CD8-5313-B117-D7D6-A9A5E2B4BFCF}"/>
          </ac:spMkLst>
        </pc:spChg>
        <pc:spChg chg="add del mod">
          <ac:chgData name="Lai, Wilson" userId="2840974a-0d84-4886-90a9-9a3ed79f3a48" providerId="ADAL" clId="{9F23B798-9E84-4552-BA63-E776E805C424}" dt="2026-09-27T03:09:05.775" v="91" actId="478"/>
          <ac:spMkLst>
            <pc:docMk/>
            <pc:sldMk cId="1496626562" sldId="269"/>
            <ac:spMk id="6" creationId="{BA85D061-1490-A3D1-C282-874EF9A44FD2}"/>
          </ac:spMkLst>
        </pc:spChg>
        <pc:spChg chg="add del mod">
          <ac:chgData name="Lai, Wilson" userId="2840974a-0d84-4886-90a9-9a3ed79f3a48" providerId="ADAL" clId="{9F23B798-9E84-4552-BA63-E776E805C424}" dt="2026-09-27T03:09:05.775" v="91" actId="478"/>
          <ac:spMkLst>
            <pc:docMk/>
            <pc:sldMk cId="1496626562" sldId="269"/>
            <ac:spMk id="7" creationId="{ED49F969-D27D-0254-12B1-A4D107C66172}"/>
          </ac:spMkLst>
        </pc:spChg>
        <pc:picChg chg="del mod">
          <ac:chgData name="Lai, Wilson" userId="2840974a-0d84-4886-90a9-9a3ed79f3a48" providerId="ADAL" clId="{9F23B798-9E84-4552-BA63-E776E805C424}" dt="2026-09-27T03:10:19.465" v="92" actId="478"/>
          <ac:picMkLst>
            <pc:docMk/>
            <pc:sldMk cId="1496626562" sldId="269"/>
            <ac:picMk id="3" creationId="{D1BFEBA3-2730-3694-116B-389F159B4E66}"/>
          </ac:picMkLst>
        </pc:picChg>
        <pc:picChg chg="add del mod modCrop">
          <ac:chgData name="Lai, Wilson" userId="2840974a-0d84-4886-90a9-9a3ed79f3a48" providerId="ADAL" clId="{9F23B798-9E84-4552-BA63-E776E805C424}" dt="2026-09-27T03:02:35.738" v="50" actId="478"/>
          <ac:picMkLst>
            <pc:docMk/>
            <pc:sldMk cId="1496626562" sldId="269"/>
            <ac:picMk id="4" creationId="{5EECC405-0C78-D7BF-034B-B526C7342E6C}"/>
          </ac:picMkLst>
        </pc:picChg>
        <pc:picChg chg="add">
          <ac:chgData name="Lai, Wilson" userId="2840974a-0d84-4886-90a9-9a3ed79f3a48" providerId="ADAL" clId="{9F23B798-9E84-4552-BA63-E776E805C424}" dt="2026-09-27T03:10:22.642" v="93" actId="22"/>
          <ac:picMkLst>
            <pc:docMk/>
            <pc:sldMk cId="1496626562" sldId="269"/>
            <ac:picMk id="9" creationId="{F0B4044C-131E-9461-2B79-95887741C48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630D2-915A-45C2-A196-99B65FEF1303}"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8AEFA3-7812-442C-860F-6BFC7175D925}" type="slidenum">
              <a:rPr lang="en-US" smtClean="0"/>
              <a:t>‹#›</a:t>
            </a:fld>
            <a:endParaRPr lang="en-US"/>
          </a:p>
        </p:txBody>
      </p:sp>
    </p:spTree>
    <p:extLst>
      <p:ext uri="{BB962C8B-B14F-4D97-AF65-F5344CB8AC3E}">
        <p14:creationId xmlns:p14="http://schemas.microsoft.com/office/powerpoint/2010/main" val="2636806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200" kern="1200" dirty="0">
                <a:solidFill>
                  <a:schemeClr val="tx1"/>
                </a:solidFill>
                <a:effectLst/>
                <a:latin typeface="+mn-lt"/>
                <a:ea typeface="+mn-ea"/>
                <a:cs typeface="+mn-cs"/>
              </a:rPr>
              <a:t>Welcome, everyone. Today, we are deconstructing one of the most pervasive narratives sweeping software engineering, venture capital, and corporate tech leadership: the promise of Agentic Coding. </a:t>
            </a:r>
          </a:p>
          <a:p>
            <a:r>
              <a:rPr lang="en-US" sz="1200" kern="1200" dirty="0">
                <a:solidFill>
                  <a:schemeClr val="tx1"/>
                </a:solidFill>
                <a:effectLst/>
                <a:latin typeface="+mn-lt"/>
                <a:ea typeface="+mn-ea"/>
                <a:cs typeface="+mn-cs"/>
              </a:rPr>
              <a:t>We are repeatedly told by tool vendors, influencers, and AI cheerleaders that writing syntax is dead. The message is simple: </a:t>
            </a:r>
            <a:r>
              <a:rPr lang="en-US" sz="1200" i="1" kern="1200" dirty="0">
                <a:solidFill>
                  <a:schemeClr val="tx1"/>
                </a:solidFill>
                <a:effectLst/>
                <a:latin typeface="+mn-lt"/>
                <a:ea typeface="+mn-ea"/>
                <a:cs typeface="+mn-cs"/>
              </a:rPr>
              <a:t>“You don't need to read code anymore; just prompt the AI agent and let it build the app.”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However, when you inspect what is actually happening on the ground in real production environments, a massive gap emerges between AI marketing hype and software engineering reality. </a:t>
            </a:r>
          </a:p>
          <a:p>
            <a:r>
              <a:rPr lang="en-US" sz="1200" kern="1200" dirty="0">
                <a:solidFill>
                  <a:schemeClr val="tx1"/>
                </a:solidFill>
                <a:effectLst/>
                <a:latin typeface="+mn-lt"/>
                <a:ea typeface="+mn-ea"/>
                <a:cs typeface="+mn-cs"/>
              </a:rPr>
              <a:t>This presentation is grounded in the real-world experience and writings of Lars Faye—a 20-year agency developer and founder. Lars has watched tech crazes come and go, from the early web to low-code/no-code platforms, and now to LLM-driven agentic workflows. </a:t>
            </a:r>
          </a:p>
          <a:p>
            <a:r>
              <a:rPr lang="en-US" sz="1200" kern="1200" dirty="0">
                <a:solidFill>
                  <a:schemeClr val="tx1"/>
                </a:solidFill>
                <a:effectLst/>
                <a:latin typeface="+mn-lt"/>
                <a:ea typeface="+mn-ea"/>
                <a:cs typeface="+mn-cs"/>
              </a:rPr>
              <a:t>Over the next 13 slides, we will examine: </a:t>
            </a:r>
          </a:p>
          <a:p>
            <a:pPr marL="228600" lvl="0" indent="-228600">
              <a:buFont typeface="+mj-lt"/>
              <a:buAutoNum type="arabicPeriod"/>
            </a:pPr>
            <a:r>
              <a:rPr lang="en-US" sz="1200" b="1" kern="1200" dirty="0">
                <a:solidFill>
                  <a:schemeClr val="tx1"/>
                </a:solidFill>
                <a:effectLst/>
                <a:latin typeface="+mn-lt"/>
                <a:ea typeface="+mn-ea"/>
                <a:cs typeface="+mn-cs"/>
              </a:rPr>
              <a:t>The Disconnect:</a:t>
            </a:r>
            <a:r>
              <a:rPr lang="en-US" sz="1200" kern="1200" dirty="0">
                <a:solidFill>
                  <a:schemeClr val="tx1"/>
                </a:solidFill>
                <a:effectLst/>
                <a:latin typeface="+mn-lt"/>
                <a:ea typeface="+mn-ea"/>
                <a:cs typeface="+mn-cs"/>
              </a:rPr>
              <a:t> Why claims of developer obsolescence collapse under scrutiny. </a:t>
            </a:r>
          </a:p>
          <a:p>
            <a:pPr marL="228600" lvl="0" indent="-228600">
              <a:buFont typeface="+mj-lt"/>
              <a:buAutoNum type="arabicPeriod"/>
            </a:pPr>
            <a:r>
              <a:rPr lang="en-US" sz="1200" b="1" kern="1200" dirty="0">
                <a:solidFill>
                  <a:schemeClr val="tx1"/>
                </a:solidFill>
                <a:effectLst/>
                <a:latin typeface="+mn-lt"/>
                <a:ea typeface="+mn-ea"/>
                <a:cs typeface="+mn-cs"/>
              </a:rPr>
              <a:t>The Expertise Paradox:</a:t>
            </a:r>
            <a:r>
              <a:rPr lang="en-US" sz="1200" kern="1200" dirty="0">
                <a:solidFill>
                  <a:schemeClr val="tx1"/>
                </a:solidFill>
                <a:effectLst/>
                <a:latin typeface="+mn-lt"/>
                <a:ea typeface="+mn-ea"/>
                <a:cs typeface="+mn-cs"/>
              </a:rPr>
              <a:t> Why AI tools require deep human expertise to evaluate, while actively preventing beginners from acquiring that expertise. </a:t>
            </a:r>
          </a:p>
          <a:p>
            <a:pPr marL="228600" lvl="0" indent="-228600">
              <a:buFont typeface="+mj-lt"/>
              <a:buAutoNum type="arabicPeriod"/>
            </a:pPr>
            <a:r>
              <a:rPr lang="en-US" sz="1200" b="1" kern="1200" dirty="0">
                <a:solidFill>
                  <a:schemeClr val="tx1"/>
                </a:solidFill>
                <a:effectLst/>
                <a:latin typeface="+mn-lt"/>
                <a:ea typeface="+mn-ea"/>
                <a:cs typeface="+mn-cs"/>
              </a:rPr>
              <a:t>The Biology of Skill Acquisition:</a:t>
            </a:r>
            <a:r>
              <a:rPr lang="en-US" sz="1200" kern="1200" dirty="0">
                <a:solidFill>
                  <a:schemeClr val="tx1"/>
                </a:solidFill>
                <a:effectLst/>
                <a:latin typeface="+mn-lt"/>
                <a:ea typeface="+mn-ea"/>
                <a:cs typeface="+mn-cs"/>
              </a:rPr>
              <a:t> Why friction and failure are essential for building true mental models. </a:t>
            </a:r>
          </a:p>
          <a:p>
            <a:pPr marL="228600" lvl="0" indent="-228600">
              <a:buFont typeface="+mj-lt"/>
              <a:buAutoNum type="arabicPeriod"/>
            </a:pPr>
            <a:r>
              <a:rPr lang="en-US" sz="1200" b="1" kern="1200" dirty="0">
                <a:solidFill>
                  <a:schemeClr val="tx1"/>
                </a:solidFill>
                <a:effectLst/>
                <a:latin typeface="+mn-lt"/>
                <a:ea typeface="+mn-ea"/>
                <a:cs typeface="+mn-cs"/>
              </a:rPr>
              <a:t>The Three Tiers of AI Delegation:</a:t>
            </a:r>
            <a:r>
              <a:rPr lang="en-US" sz="1200" kern="1200" dirty="0">
                <a:solidFill>
                  <a:schemeClr val="tx1"/>
                </a:solidFill>
                <a:effectLst/>
                <a:latin typeface="+mn-lt"/>
                <a:ea typeface="+mn-ea"/>
                <a:cs typeface="+mn-cs"/>
              </a:rPr>
              <a:t> Assessing risk across simple CMS builds, automations, and custom logic. </a:t>
            </a:r>
          </a:p>
          <a:p>
            <a:pPr marL="228600" lvl="0" indent="-228600">
              <a:buFont typeface="+mj-lt"/>
              <a:buAutoNum type="arabicPeriod"/>
            </a:pPr>
            <a:r>
              <a:rPr lang="en-US" sz="1200" b="1" kern="1200" dirty="0">
                <a:solidFill>
                  <a:schemeClr val="tx1"/>
                </a:solidFill>
                <a:effectLst/>
                <a:latin typeface="+mn-lt"/>
                <a:ea typeface="+mn-ea"/>
                <a:cs typeface="+mn-cs"/>
              </a:rPr>
              <a:t>Syntax vs. Composition:</a:t>
            </a:r>
            <a:r>
              <a:rPr lang="en-US" sz="1200" kern="1200" dirty="0">
                <a:solidFill>
                  <a:schemeClr val="tx1"/>
                </a:solidFill>
                <a:effectLst/>
                <a:latin typeface="+mn-lt"/>
                <a:ea typeface="+mn-ea"/>
                <a:cs typeface="+mn-cs"/>
              </a:rPr>
              <a:t> Why LLMs excel at micro-level pattern matching but fail at macro-level architecture. </a:t>
            </a:r>
          </a:p>
          <a:p>
            <a:pPr marL="228600" lvl="0" indent="-228600">
              <a:buFont typeface="+mj-lt"/>
              <a:buAutoNum type="arabicPeriod"/>
            </a:pPr>
            <a:r>
              <a:rPr lang="en-US" sz="1200" b="1" kern="1200" dirty="0">
                <a:solidFill>
                  <a:schemeClr val="tx1"/>
                </a:solidFill>
                <a:effectLst/>
                <a:latin typeface="+mn-lt"/>
                <a:ea typeface="+mn-ea"/>
                <a:cs typeface="+mn-cs"/>
              </a:rPr>
              <a:t>The Agentic Failure Loop:</a:t>
            </a:r>
            <a:r>
              <a:rPr lang="en-US" sz="1200" kern="1200" dirty="0">
                <a:solidFill>
                  <a:schemeClr val="tx1"/>
                </a:solidFill>
                <a:effectLst/>
                <a:latin typeface="+mn-lt"/>
                <a:ea typeface="+mn-ea"/>
                <a:cs typeface="+mn-cs"/>
              </a:rPr>
              <a:t> How un-audited AI code leads directly to vendor lock-in and unmaintainable tech debt. </a:t>
            </a:r>
          </a:p>
          <a:p>
            <a:pPr marL="228600" lvl="0" indent="-228600">
              <a:buFont typeface="+mj-lt"/>
              <a:buAutoNum type="arabicPeriod"/>
            </a:pPr>
            <a:r>
              <a:rPr lang="en-US" sz="1200" b="1" kern="1200" dirty="0">
                <a:solidFill>
                  <a:schemeClr val="tx1"/>
                </a:solidFill>
                <a:effectLst/>
                <a:latin typeface="+mn-lt"/>
                <a:ea typeface="+mn-ea"/>
                <a:cs typeface="+mn-cs"/>
              </a:rPr>
              <a:t>The Historical Workload Paradox:</a:t>
            </a:r>
            <a:r>
              <a:rPr lang="en-US" sz="1200" kern="1200" dirty="0">
                <a:solidFill>
                  <a:schemeClr val="tx1"/>
                </a:solidFill>
                <a:effectLst/>
                <a:latin typeface="+mn-lt"/>
                <a:ea typeface="+mn-ea"/>
                <a:cs typeface="+mn-cs"/>
              </a:rPr>
              <a:t> How productivity revolutions increase demand for complex human output rather than eliminating jobs. </a:t>
            </a:r>
          </a:p>
          <a:p>
            <a:pPr marL="228600" lvl="0" indent="-228600">
              <a:buFont typeface="+mj-lt"/>
              <a:buAutoNum type="arabicPeriod"/>
            </a:pPr>
            <a:r>
              <a:rPr lang="en-US" sz="1200" b="1" kern="1200" dirty="0">
                <a:solidFill>
                  <a:schemeClr val="tx1"/>
                </a:solidFill>
                <a:effectLst/>
                <a:latin typeface="+mn-lt"/>
                <a:ea typeface="+mn-ea"/>
                <a:cs typeface="+mn-cs"/>
              </a:rPr>
              <a:t>The Master vs. Mimic Framework:</a:t>
            </a:r>
            <a:r>
              <a:rPr lang="en-US" sz="1200" kern="1200" dirty="0">
                <a:solidFill>
                  <a:schemeClr val="tx1"/>
                </a:solidFill>
                <a:effectLst/>
                <a:latin typeface="+mn-lt"/>
                <a:ea typeface="+mn-ea"/>
                <a:cs typeface="+mn-cs"/>
              </a:rPr>
              <a:t> Practical strategies for preserving cognitive agency while using AI as a typing assistant. </a:t>
            </a:r>
          </a:p>
          <a:p>
            <a:r>
              <a:rPr lang="en-US" sz="1200" kern="1200" dirty="0">
                <a:solidFill>
                  <a:schemeClr val="tx1"/>
                </a:solidFill>
                <a:effectLst/>
                <a:latin typeface="+mn-lt"/>
                <a:ea typeface="+mn-ea"/>
                <a:cs typeface="+mn-cs"/>
              </a:rPr>
              <a:t>Let’s begin by examining the disconnect between narrative and reality on Slide 2. </a:t>
            </a:r>
          </a:p>
          <a:p>
            <a:endParaRPr lang="en-US" dirty="0"/>
          </a:p>
          <a:p>
            <a:endParaRPr lang="en-US" dirty="0"/>
          </a:p>
          <a:p>
            <a:endParaRPr lang="en-US" dirty="0"/>
          </a:p>
          <a:p>
            <a:endParaRPr lang="en-US" dirty="0"/>
          </a:p>
          <a:p>
            <a:r>
              <a:rPr lang="en-US" b="1" dirty="0"/>
              <a:t>Only Good Devs Catch AI's Mistakes, and AI Makes You Worse - Lars Faye | Ep. 97</a:t>
            </a:r>
          </a:p>
          <a:p>
            <a:r>
              <a:rPr lang="en-US" dirty="0"/>
              <a:t>https://www.youtube.com/watch?v=0Kas27lxen4</a:t>
            </a:r>
          </a:p>
        </p:txBody>
      </p:sp>
      <p:sp>
        <p:nvSpPr>
          <p:cNvPr id="4" name="Slide Number Placeholder 3"/>
          <p:cNvSpPr>
            <a:spLocks noGrp="1"/>
          </p:cNvSpPr>
          <p:nvPr>
            <p:ph type="sldNum" sz="quarter" idx="5"/>
          </p:nvPr>
        </p:nvSpPr>
        <p:spPr/>
        <p:txBody>
          <a:bodyPr/>
          <a:lstStyle/>
          <a:p>
            <a:fld id="{018AEFA3-7812-442C-860F-6BFC7175D925}" type="slidenum">
              <a:rPr lang="en-US" smtClean="0"/>
              <a:t>1</a:t>
            </a:fld>
            <a:endParaRPr lang="en-US"/>
          </a:p>
        </p:txBody>
      </p:sp>
    </p:spTree>
    <p:extLst>
      <p:ext uri="{BB962C8B-B14F-4D97-AF65-F5344CB8AC3E}">
        <p14:creationId xmlns:p14="http://schemas.microsoft.com/office/powerpoint/2010/main" val="1987628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 spend five minutes on tech Twitter, LinkedIn, or YouTube, you will encounter headlines proclaiming: </a:t>
            </a:r>
            <a:r>
              <a:rPr lang="en-US" sz="1200" i="1" kern="1200" dirty="0">
                <a:solidFill>
                  <a:schemeClr val="tx1"/>
                </a:solidFill>
                <a:effectLst/>
                <a:latin typeface="+mn-lt"/>
                <a:ea typeface="+mn-ea"/>
                <a:cs typeface="+mn-cs"/>
              </a:rPr>
              <a:t>"Programmers will be obsolete in a year,"</a:t>
            </a:r>
            <a:r>
              <a:rPr lang="en-US" sz="1200" kern="1200" dirty="0">
                <a:solidFill>
                  <a:schemeClr val="tx1"/>
                </a:solidFill>
                <a:effectLst/>
                <a:latin typeface="+mn-lt"/>
                <a:ea typeface="+mn-ea"/>
                <a:cs typeface="+mn-cs"/>
              </a:rPr>
              <a:t> or </a:t>
            </a:r>
            <a:r>
              <a:rPr lang="en-US" sz="1200" i="1" kern="1200" dirty="0">
                <a:solidFill>
                  <a:schemeClr val="tx1"/>
                </a:solidFill>
                <a:effectLst/>
                <a:latin typeface="+mn-lt"/>
                <a:ea typeface="+mn-ea"/>
                <a:cs typeface="+mn-cs"/>
              </a:rPr>
              <a:t>"The hot new programming language is English."</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Yet, on the ground, veteran developers are experiencing something completely different. </a:t>
            </a:r>
          </a:p>
          <a:p>
            <a:r>
              <a:rPr lang="en-US" sz="1200" b="1" kern="1200" dirty="0">
                <a:solidFill>
                  <a:schemeClr val="tx1"/>
                </a:solidFill>
                <a:effectLst/>
                <a:latin typeface="+mn-lt"/>
                <a:ea typeface="+mn-ea"/>
                <a:cs typeface="+mn-cs"/>
              </a:rPr>
              <a:t>The Reality on the Ground: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Consider the quote on the slide from Lars Faye: </a:t>
            </a:r>
            <a:r>
              <a:rPr lang="en-US" sz="1200" i="1" kern="1200" dirty="0">
                <a:solidFill>
                  <a:schemeClr val="tx1"/>
                </a:solidFill>
                <a:effectLst/>
                <a:latin typeface="+mn-lt"/>
                <a:ea typeface="+mn-ea"/>
                <a:cs typeface="+mn-cs"/>
              </a:rPr>
              <a:t>"I am four years into six months of being replaced, and I have more clients than ever."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For years, tech prognosticators promised that agency developers and custom software engineers would be rendered obsolete by automated tools. Instead, demand for skilled human developers who can reason through complex architecture, debug edge cases, and maintain legacy codebases has reached record highs. </a:t>
            </a:r>
          </a:p>
          <a:p>
            <a:r>
              <a:rPr lang="en-US" sz="1200" b="1" kern="1200" dirty="0">
                <a:solidFill>
                  <a:schemeClr val="tx1"/>
                </a:solidFill>
                <a:effectLst/>
                <a:latin typeface="+mn-lt"/>
                <a:ea typeface="+mn-ea"/>
                <a:cs typeface="+mn-cs"/>
              </a:rPr>
              <a:t>Why is this happening?</a:t>
            </a:r>
          </a:p>
          <a:p>
            <a:pPr marL="228600" lvl="0" indent="-228600">
              <a:buFont typeface="+mj-lt"/>
              <a:buAutoNum type="arabicPeriod"/>
            </a:pPr>
            <a:r>
              <a:rPr lang="en-US" sz="1200" b="1" kern="1200" dirty="0">
                <a:solidFill>
                  <a:schemeClr val="tx1"/>
                </a:solidFill>
                <a:effectLst/>
                <a:latin typeface="+mn-lt"/>
                <a:ea typeface="+mn-ea"/>
                <a:cs typeface="+mn-cs"/>
              </a:rPr>
              <a:t>The Code Generation Deluge:</a:t>
            </a:r>
            <a:r>
              <a:rPr lang="en-US" sz="1200" kern="1200" dirty="0">
                <a:solidFill>
                  <a:schemeClr val="tx1"/>
                </a:solidFill>
                <a:effectLst/>
                <a:latin typeface="+mn-lt"/>
                <a:ea typeface="+mn-ea"/>
                <a:cs typeface="+mn-cs"/>
              </a:rPr>
              <a:t> Non-technical founders and junior developers are using LLM agents to generate thousands of lines of boilerplate code in minutes. </a:t>
            </a:r>
          </a:p>
          <a:p>
            <a:pPr marL="228600" lvl="0" indent="-228600">
              <a:buFont typeface="+mj-lt"/>
              <a:buAutoNum type="arabicPeriod"/>
            </a:pPr>
            <a:r>
              <a:rPr lang="en-US" sz="1200" b="1" kern="1200" dirty="0">
                <a:solidFill>
                  <a:schemeClr val="tx1"/>
                </a:solidFill>
                <a:effectLst/>
                <a:latin typeface="+mn-lt"/>
                <a:ea typeface="+mn-ea"/>
                <a:cs typeface="+mn-cs"/>
              </a:rPr>
              <a:t>The Illusion of Completion:</a:t>
            </a:r>
            <a:r>
              <a:rPr lang="en-US" sz="1200" kern="1200" dirty="0">
                <a:solidFill>
                  <a:schemeClr val="tx1"/>
                </a:solidFill>
                <a:effectLst/>
                <a:latin typeface="+mn-lt"/>
                <a:ea typeface="+mn-ea"/>
                <a:cs typeface="+mn-cs"/>
              </a:rPr>
              <a:t> Generating code is easy; making that code performant, secure, scalable, and maintainable over years is hard. </a:t>
            </a:r>
          </a:p>
          <a:p>
            <a:pPr marL="228600" lvl="0" indent="-228600">
              <a:buFont typeface="+mj-lt"/>
              <a:buAutoNum type="arabicPeriod"/>
            </a:pPr>
            <a:r>
              <a:rPr lang="en-US" sz="1200" b="1" kern="1200" dirty="0">
                <a:solidFill>
                  <a:schemeClr val="tx1"/>
                </a:solidFill>
                <a:effectLst/>
                <a:latin typeface="+mn-lt"/>
                <a:ea typeface="+mn-ea"/>
                <a:cs typeface="+mn-cs"/>
              </a:rPr>
              <a:t>The Cleanup Economy:</a:t>
            </a:r>
            <a:r>
              <a:rPr lang="en-US" sz="1200" kern="1200" dirty="0">
                <a:solidFill>
                  <a:schemeClr val="tx1"/>
                </a:solidFill>
                <a:effectLst/>
                <a:latin typeface="+mn-lt"/>
                <a:ea typeface="+mn-ea"/>
                <a:cs typeface="+mn-cs"/>
              </a:rPr>
              <a:t> When non-deterministic models output subtly broken applications, companies inevitably realize they cannot prompt their way out of architectural failures. They have to hire experienced human developers to untangle the mess. </a:t>
            </a:r>
          </a:p>
          <a:p>
            <a:pPr marL="0" indent="0">
              <a:buFont typeface="+mj-lt"/>
              <a:buNone/>
            </a:pPr>
            <a:r>
              <a:rPr lang="en-US" sz="1200" b="1" kern="1200" dirty="0">
                <a:solidFill>
                  <a:schemeClr val="tx1"/>
                </a:solidFill>
                <a:effectLst/>
                <a:latin typeface="+mn-lt"/>
                <a:ea typeface="+mn-ea"/>
                <a:cs typeface="+mn-cs"/>
              </a:rPr>
              <a:t>The Core Illusion: </a:t>
            </a:r>
          </a:p>
          <a:p>
            <a:r>
              <a:rPr lang="en-US" sz="1200" kern="1200" dirty="0">
                <a:solidFill>
                  <a:schemeClr val="tx1"/>
                </a:solidFill>
                <a:effectLst/>
                <a:latin typeface="+mn-lt"/>
                <a:ea typeface="+mn-ea"/>
                <a:cs typeface="+mn-cs"/>
              </a:rPr>
              <a:t>The hype assumes software engineering is merely the mechanical act of typing syntax. In reality, typing syntax is only 10% of the job. The remaining 90% is problem decomposition, state management, edge-case analysis, business logic alignment, and long-term system architecture. </a:t>
            </a:r>
          </a:p>
          <a:p>
            <a:r>
              <a:rPr lang="en-US" sz="1200" kern="1200" dirty="0">
                <a:solidFill>
                  <a:schemeClr val="tx1"/>
                </a:solidFill>
                <a:effectLst/>
                <a:latin typeface="+mn-lt"/>
                <a:ea typeface="+mn-ea"/>
                <a:cs typeface="+mn-cs"/>
              </a:rPr>
              <a:t>Delegating typing to an agent does not eliminate the need for human cognition; in fact, as we will see on the next slide, it makes high-level expertise even more critical.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2</a:t>
            </a:fld>
            <a:endParaRPr lang="en-US"/>
          </a:p>
        </p:txBody>
      </p:sp>
    </p:spTree>
    <p:extLst>
      <p:ext uri="{BB962C8B-B14F-4D97-AF65-F5344CB8AC3E}">
        <p14:creationId xmlns:p14="http://schemas.microsoft.com/office/powerpoint/2010/main" val="411947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3 outlines what Lars Faye calls </a:t>
            </a:r>
            <a:r>
              <a:rPr lang="en-US" sz="1200" b="1" kern="1200" dirty="0">
                <a:solidFill>
                  <a:schemeClr val="tx1"/>
                </a:solidFill>
                <a:effectLst/>
                <a:latin typeface="+mn-lt"/>
                <a:ea typeface="+mn-ea"/>
                <a:cs typeface="+mn-cs"/>
              </a:rPr>
              <a:t>The Expertise Paradox</a:t>
            </a:r>
            <a:r>
              <a:rPr lang="en-US" sz="1200" kern="1200" dirty="0">
                <a:solidFill>
                  <a:schemeClr val="tx1"/>
                </a:solidFill>
                <a:effectLst/>
                <a:latin typeface="+mn-lt"/>
                <a:ea typeface="+mn-ea"/>
                <a:cs typeface="+mn-cs"/>
              </a:rPr>
              <a:t>—a foundational catch-22 in modern AI-assisted software development.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[Requires Deep Expertise to Evaluate AI Output]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 (Paradoxical Tension)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[AI Circumvents the Friction Needed to Gain Expertise]</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The Catch-22 Breakdown:</a:t>
            </a:r>
          </a:p>
          <a:p>
            <a:pPr marL="228600" lvl="0" indent="-228600">
              <a:buFont typeface="+mj-lt"/>
              <a:buAutoNum type="arabicPeriod"/>
            </a:pPr>
            <a:r>
              <a:rPr lang="en-US" sz="1200" b="1" kern="1200" dirty="0">
                <a:solidFill>
                  <a:schemeClr val="tx1"/>
                </a:solidFill>
                <a:effectLst/>
                <a:latin typeface="+mn-lt"/>
                <a:ea typeface="+mn-ea"/>
                <a:cs typeface="+mn-cs"/>
              </a:rPr>
              <a:t>Condition A:</a:t>
            </a:r>
            <a:r>
              <a:rPr lang="en-US" sz="1200" kern="1200" dirty="0">
                <a:solidFill>
                  <a:schemeClr val="tx1"/>
                </a:solidFill>
                <a:effectLst/>
                <a:latin typeface="+mn-lt"/>
                <a:ea typeface="+mn-ea"/>
                <a:cs typeface="+mn-cs"/>
              </a:rPr>
              <a:t> To effectively use an AI coding agent without getting burned, you must possess deep, foundational domain expertise. You must be able to read the code the agent outputs, audit its security implications, evaluate its performance trade-offs, and catch non-deterministic hallucinations. </a:t>
            </a:r>
          </a:p>
          <a:p>
            <a:pPr marL="228600" lvl="0" indent="-228600">
              <a:buFont typeface="+mj-lt"/>
              <a:buAutoNum type="arabicPeriod"/>
            </a:pPr>
            <a:r>
              <a:rPr lang="en-US" sz="1200" b="1" kern="1200" dirty="0">
                <a:solidFill>
                  <a:schemeClr val="tx1"/>
                </a:solidFill>
                <a:effectLst/>
                <a:latin typeface="+mn-lt"/>
                <a:ea typeface="+mn-ea"/>
                <a:cs typeface="+mn-cs"/>
              </a:rPr>
              <a:t>Condition B:</a:t>
            </a:r>
            <a:r>
              <a:rPr lang="en-US" sz="1200" kern="1200" dirty="0">
                <a:solidFill>
                  <a:schemeClr val="tx1"/>
                </a:solidFill>
                <a:effectLst/>
                <a:latin typeface="+mn-lt"/>
                <a:ea typeface="+mn-ea"/>
                <a:cs typeface="+mn-cs"/>
              </a:rPr>
              <a:t> However, relying on an agentic workflow from day one removes the cognitive friction, struggle, and hands-on practice required to develop that very expertise. </a:t>
            </a:r>
          </a:p>
          <a:p>
            <a:r>
              <a:rPr lang="en-US" sz="1200" b="1" kern="1200" dirty="0">
                <a:solidFill>
                  <a:schemeClr val="tx1"/>
                </a:solidFill>
                <a:effectLst/>
                <a:latin typeface="+mn-lt"/>
                <a:ea typeface="+mn-ea"/>
                <a:cs typeface="+mn-cs"/>
              </a:rPr>
              <a:t>How We Got Here: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traditional software engineering, a junior developer learns by hitting walls. They struggle with syntax errors, wrestle with pointer arithmetic, waste hours debugging a state mutation, and read documentation line-by-line.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That painful, slow friction builds neural pathways and deep mental models. It develops what engineers call "taste" and intuition.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a junior developer delegates problem-solving to an AI agent, they bypass that friction entirely. The agent gives them a working block of code instantly. The junior developer feels productive, but they haven't actually learned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the code works or </a:t>
            </a:r>
            <a:r>
              <a:rPr lang="en-US" sz="1200" i="1" kern="1200" dirty="0">
                <a:solidFill>
                  <a:schemeClr val="tx1"/>
                </a:solidFill>
                <a:effectLst/>
                <a:latin typeface="+mn-lt"/>
                <a:ea typeface="+mn-ea"/>
                <a:cs typeface="+mn-cs"/>
              </a:rPr>
              <a:t>where</a:t>
            </a:r>
            <a:r>
              <a:rPr lang="en-US" sz="1200" kern="1200" dirty="0">
                <a:solidFill>
                  <a:schemeClr val="tx1"/>
                </a:solidFill>
                <a:effectLst/>
                <a:latin typeface="+mn-lt"/>
                <a:ea typeface="+mn-ea"/>
                <a:cs typeface="+mn-cs"/>
              </a:rPr>
              <a:t> it will break. </a:t>
            </a:r>
          </a:p>
          <a:p>
            <a:r>
              <a:rPr lang="en-US" sz="1200" b="1" kern="1200" dirty="0">
                <a:solidFill>
                  <a:schemeClr val="tx1"/>
                </a:solidFill>
                <a:effectLst/>
                <a:latin typeface="+mn-lt"/>
                <a:ea typeface="+mn-ea"/>
                <a:cs typeface="+mn-cs"/>
              </a:rPr>
              <a:t>The Industry Crisis: </a:t>
            </a:r>
          </a:p>
          <a:p>
            <a:r>
              <a:rPr lang="en-US" sz="1200" kern="1200" dirty="0">
                <a:solidFill>
                  <a:schemeClr val="tx1"/>
                </a:solidFill>
                <a:effectLst/>
                <a:latin typeface="+mn-lt"/>
                <a:ea typeface="+mn-ea"/>
                <a:cs typeface="+mn-cs"/>
              </a:rPr>
              <a:t>This creates a dangerous generational pipeline problem: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Where do future senior engineers come from?</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the entry-level tier of development is automated away or replaced by prompt engineering, junior developers will never cross the friction threshold required to become senior architects who can audit AI outputs. </a:t>
            </a:r>
          </a:p>
          <a:p>
            <a:r>
              <a:rPr lang="en-US" sz="1200" kern="1200" dirty="0">
                <a:solidFill>
                  <a:schemeClr val="tx1"/>
                </a:solidFill>
                <a:effectLst/>
                <a:latin typeface="+mn-lt"/>
                <a:ea typeface="+mn-ea"/>
                <a:cs typeface="+mn-cs"/>
              </a:rPr>
              <a:t>We are creating a world that requires master developers to supervise AI, while simultaneously destroying the pipeline that trains master developers.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3</a:t>
            </a:fld>
            <a:endParaRPr lang="en-US"/>
          </a:p>
        </p:txBody>
      </p:sp>
    </p:spTree>
    <p:extLst>
      <p:ext uri="{BB962C8B-B14F-4D97-AF65-F5344CB8AC3E}">
        <p14:creationId xmlns:p14="http://schemas.microsoft.com/office/powerpoint/2010/main" val="1120896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agentic prompting fails as a learning tool, we must look at </a:t>
            </a:r>
            <a:r>
              <a:rPr lang="en-US" sz="1200" b="1" kern="1200" dirty="0">
                <a:solidFill>
                  <a:schemeClr val="tx1"/>
                </a:solidFill>
                <a:effectLst/>
                <a:latin typeface="+mn-lt"/>
                <a:ea typeface="+mn-ea"/>
                <a:cs typeface="+mn-cs"/>
              </a:rPr>
              <a:t>The Biology of Skill Acquisition</a:t>
            </a:r>
            <a:r>
              <a:rPr lang="en-US" sz="1200" kern="1200" dirty="0">
                <a:solidFill>
                  <a:schemeClr val="tx1"/>
                </a:solidFill>
                <a:effectLst/>
                <a:latin typeface="+mn-lt"/>
                <a:ea typeface="+mn-ea"/>
                <a:cs typeface="+mn-cs"/>
              </a:rPr>
              <a:t> on Slide 4. </a:t>
            </a:r>
          </a:p>
          <a:p>
            <a:r>
              <a:rPr lang="en-US" sz="1200" b="1" kern="1200" dirty="0">
                <a:solidFill>
                  <a:schemeClr val="tx1"/>
                </a:solidFill>
                <a:effectLst/>
                <a:latin typeface="+mn-lt"/>
                <a:ea typeface="+mn-ea"/>
                <a:cs typeface="+mn-cs"/>
              </a:rPr>
              <a:t>The Culinary Analogy:</a:t>
            </a:r>
          </a:p>
          <a:p>
            <a:r>
              <a:rPr lang="en-US" sz="1200" kern="1200" dirty="0">
                <a:solidFill>
                  <a:schemeClr val="tx1"/>
                </a:solidFill>
                <a:effectLst/>
                <a:latin typeface="+mn-lt"/>
                <a:ea typeface="+mn-ea"/>
                <a:cs typeface="+mn-cs"/>
              </a:rPr>
              <a:t>As Lars Faye colorfully points out: </a:t>
            </a:r>
            <a:r>
              <a:rPr lang="en-US" sz="1200" i="1" kern="1200" dirty="0">
                <a:solidFill>
                  <a:schemeClr val="tx1"/>
                </a:solidFill>
                <a:effectLst/>
                <a:latin typeface="+mn-lt"/>
                <a:ea typeface="+mn-ea"/>
                <a:cs typeface="+mn-cs"/>
              </a:rPr>
              <a:t>"You cannot learn to be a chef by watching someone salt food. You must taste, adjust, and fail. AI removes the taste from coding."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Imagine trying to become an elite chef by ordering dishes from a high-end restaurant kitchen and placing them on tables. You might learn the names of the dishes, and you might know what good food looks like, but you don't know how to adjust the acidity when a sauce breaks, nor do you understand heat management.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Skill Acquisition</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                    True Comprehension (Iterative Failure &amp; Debugging)</a:t>
            </a:r>
          </a:p>
          <a:p>
            <a:r>
              <a:rPr lang="en-US" sz="1200" kern="1200" dirty="0">
                <a:solidFill>
                  <a:schemeClr val="tx1"/>
                </a:solidFill>
                <a:effectLst/>
                <a:latin typeface="+mn-lt"/>
                <a:ea typeface="+mn-ea"/>
                <a:cs typeface="+mn-cs"/>
              </a:rPr>
              <a:t>      │                                   /  \  /  \  /</a:t>
            </a:r>
          </a:p>
          <a:p>
            <a:r>
              <a:rPr lang="en-US" sz="1200" kern="1200" dirty="0">
                <a:solidFill>
                  <a:schemeClr val="tx1"/>
                </a:solidFill>
                <a:effectLst/>
                <a:latin typeface="+mn-lt"/>
                <a:ea typeface="+mn-ea"/>
                <a:cs typeface="+mn-cs"/>
              </a:rPr>
              <a:t>      │──────────────────────────────────/────\/────\/── [Friction Threshold]</a:t>
            </a:r>
          </a:p>
          <a:p>
            <a:r>
              <a:rPr lang="en-US" sz="1200" kern="1200" dirty="0">
                <a:solidFill>
                  <a:schemeClr val="tx1"/>
                </a:solidFill>
                <a:effectLst/>
                <a:latin typeface="+mn-lt"/>
                <a:ea typeface="+mn-ea"/>
                <a:cs typeface="+mn-cs"/>
              </a:rPr>
              <a:t>      │                                 /</a:t>
            </a:r>
          </a:p>
          <a:p>
            <a:r>
              <a:rPr lang="en-US" sz="1200" kern="1200" dirty="0">
                <a:solidFill>
                  <a:schemeClr val="tx1"/>
                </a:solidFill>
                <a:effectLst/>
                <a:latin typeface="+mn-lt"/>
                <a:ea typeface="+mn-ea"/>
                <a:cs typeface="+mn-cs"/>
              </a:rPr>
              <a:t>      │  Agentic Prompting ────────────/──────────────── [Skill Ceiling]</a:t>
            </a:r>
          </a:p>
          <a:p>
            <a:r>
              <a:rPr lang="en-US" sz="1200" kern="1200" dirty="0">
                <a:solidFill>
                  <a:schemeClr val="tx1"/>
                </a:solidFill>
                <a:effectLst/>
                <a:latin typeface="+mn-lt"/>
                <a:ea typeface="+mn-ea"/>
                <a:cs typeface="+mn-cs"/>
              </a:rPr>
              <a:t>      └─────────────────────────────────────────────────────────► Time / Effort</a:t>
            </a:r>
          </a:p>
          <a:p>
            <a:endParaRPr lang="en-US" sz="1200" b="1"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Analyzing the Graph:</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Agentic Prompting Line (Gray Bottom Curve):</a:t>
            </a:r>
            <a:r>
              <a:rPr lang="en-US" sz="1200" kern="1200" dirty="0">
                <a:solidFill>
                  <a:schemeClr val="tx1"/>
                </a:solidFill>
                <a:effectLst/>
                <a:latin typeface="+mn-lt"/>
                <a:ea typeface="+mn-ea"/>
                <a:cs typeface="+mn-cs"/>
              </a:rPr>
              <a:t> When an individual relies on agentic prompts, their short-term output appears high, but their actual skill acquisition hits a low plateau. They stay below the </a:t>
            </a:r>
            <a:r>
              <a:rPr lang="en-US" sz="1200" b="1" kern="1200" dirty="0">
                <a:solidFill>
                  <a:schemeClr val="tx1"/>
                </a:solidFill>
                <a:effectLst/>
                <a:latin typeface="+mn-lt"/>
                <a:ea typeface="+mn-ea"/>
                <a:cs typeface="+mn-cs"/>
              </a:rPr>
              <a:t>Friction Threshold</a:t>
            </a:r>
            <a:r>
              <a:rPr lang="en-US" sz="1200" kern="1200" dirty="0">
                <a:solidFill>
                  <a:schemeClr val="tx1"/>
                </a:solidFill>
                <a:effectLst/>
                <a:latin typeface="+mn-lt"/>
                <a:ea typeface="+mn-ea"/>
                <a:cs typeface="+mn-cs"/>
              </a:rPr>
              <a:t>. They don't build muscle memory or mental models because they never endure the cognitive effort of debugging their own mistakes.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True Comprehension Line (White Oscillating Curve):</a:t>
            </a:r>
            <a:r>
              <a:rPr lang="en-US" sz="1200" kern="1200" dirty="0">
                <a:solidFill>
                  <a:schemeClr val="tx1"/>
                </a:solidFill>
                <a:effectLst/>
                <a:latin typeface="+mn-lt"/>
                <a:ea typeface="+mn-ea"/>
                <a:cs typeface="+mn-cs"/>
              </a:rPr>
              <a:t> True mastery is non-linear and messy. It involves trial, error, failure, confusion, and breakthroughs. Each dip in the curve represents a bug or system failure; each peak represents a newly internalized architectural concept. </a:t>
            </a:r>
          </a:p>
          <a:p>
            <a:r>
              <a:rPr lang="en-US" sz="1200" b="1" kern="1200" dirty="0">
                <a:solidFill>
                  <a:schemeClr val="tx1"/>
                </a:solidFill>
                <a:effectLst/>
                <a:latin typeface="+mn-lt"/>
                <a:ea typeface="+mn-ea"/>
                <a:cs typeface="+mn-cs"/>
              </a:rPr>
              <a:t>The Takeaway: </a:t>
            </a:r>
          </a:p>
          <a:p>
            <a:r>
              <a:rPr lang="en-US" sz="1200" kern="1200" dirty="0">
                <a:solidFill>
                  <a:schemeClr val="tx1"/>
                </a:solidFill>
                <a:effectLst/>
                <a:latin typeface="+mn-lt"/>
                <a:ea typeface="+mn-ea"/>
                <a:cs typeface="+mn-cs"/>
              </a:rPr>
              <a:t>Cognitive friction is not a bug in the learning process; </a:t>
            </a:r>
            <a:r>
              <a:rPr lang="en-US" sz="1200" b="1" kern="1200" dirty="0">
                <a:solidFill>
                  <a:schemeClr val="tx1"/>
                </a:solidFill>
                <a:effectLst/>
                <a:latin typeface="+mn-lt"/>
                <a:ea typeface="+mn-ea"/>
                <a:cs typeface="+mn-cs"/>
              </a:rPr>
              <a:t>friction is the learning process.</a:t>
            </a:r>
            <a:r>
              <a:rPr lang="en-US" sz="1200" kern="1200" dirty="0">
                <a:solidFill>
                  <a:schemeClr val="tx1"/>
                </a:solidFill>
                <a:effectLst/>
                <a:latin typeface="+mn-lt"/>
                <a:ea typeface="+mn-ea"/>
                <a:cs typeface="+mn-cs"/>
              </a:rPr>
              <a:t> When you use AI to eliminate friction, you eliminate learning. You trade long-term cognitive capability for short-term velocity.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4</a:t>
            </a:fld>
            <a:endParaRPr lang="en-US"/>
          </a:p>
        </p:txBody>
      </p:sp>
    </p:spTree>
    <p:extLst>
      <p:ext uri="{BB962C8B-B14F-4D97-AF65-F5344CB8AC3E}">
        <p14:creationId xmlns:p14="http://schemas.microsoft.com/office/powerpoint/2010/main" val="3586562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Not all software tasks carry the same level of risk when delegated to AI. Slide 5 introduces a practical decision matrix: The Three Tiers of AI Delegation.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Tier 1: Brochure Sites (CMS) ──&gt; Tier 2: Workflows &amp; Automations ──&gt; Tier 3: Custom Web Apps &amp; Logic</a:t>
            </a:r>
          </a:p>
          <a:p>
            <a:r>
              <a:rPr lang="en-US" sz="1200" kern="1200" dirty="0">
                <a:solidFill>
                  <a:schemeClr val="tx1"/>
                </a:solidFill>
                <a:effectLst/>
                <a:latin typeface="+mn-lt"/>
                <a:ea typeface="+mn-ea"/>
                <a:cs typeface="+mn-cs"/>
              </a:rPr>
              <a:t>      [LOW RISK]                      [MEDIUM RISK]                       [HIGH RISK]</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Tier 1: Brochure Sites &amp; Standard CMS (Low Risk)</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Characteristics:</a:t>
            </a:r>
            <a:r>
              <a:rPr lang="en-US" sz="1200" kern="1200" dirty="0">
                <a:solidFill>
                  <a:schemeClr val="tx1"/>
                </a:solidFill>
                <a:effectLst/>
                <a:latin typeface="+mn-lt"/>
                <a:ea typeface="+mn-ea"/>
                <a:cs typeface="+mn-cs"/>
              </a:rPr>
              <a:t> Highly repetitive, templated layouts, standard HTML/CSS, basic marketing pages.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Delegation Safety:</a:t>
            </a:r>
            <a:r>
              <a:rPr lang="en-US" sz="1200" kern="1200" dirty="0">
                <a:solidFill>
                  <a:schemeClr val="tx1"/>
                </a:solidFill>
                <a:effectLst/>
                <a:latin typeface="+mn-lt"/>
                <a:ea typeface="+mn-ea"/>
                <a:cs typeface="+mn-cs"/>
              </a:rPr>
              <a:t> High. If an AI generates a layout glitch on a static marketing page, the blast radius is minimal. The logic is simple, and security risks are low. </a:t>
            </a:r>
          </a:p>
          <a:p>
            <a:r>
              <a:rPr lang="en-US" sz="1200" b="1" kern="1200" dirty="0">
                <a:solidFill>
                  <a:schemeClr val="tx1"/>
                </a:solidFill>
                <a:effectLst/>
                <a:latin typeface="+mn-lt"/>
                <a:ea typeface="+mn-ea"/>
                <a:cs typeface="+mn-cs"/>
              </a:rPr>
              <a:t>Tier 2: Workflows &amp; Automations (Medium Risk)</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Characteristics:</a:t>
            </a:r>
            <a:r>
              <a:rPr lang="en-US" sz="1200" kern="1200" dirty="0">
                <a:solidFill>
                  <a:schemeClr val="tx1"/>
                </a:solidFill>
                <a:effectLst/>
                <a:latin typeface="+mn-lt"/>
                <a:ea typeface="+mn-ea"/>
                <a:cs typeface="+mn-cs"/>
              </a:rPr>
              <a:t> Glue code connecting third-party APIs, Zapier/Make scripts, automated data transformation, internal admin tools.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Delegation Safety:</a:t>
            </a:r>
            <a:r>
              <a:rPr lang="en-US" sz="1200" kern="1200" dirty="0">
                <a:solidFill>
                  <a:schemeClr val="tx1"/>
                </a:solidFill>
                <a:effectLst/>
                <a:latin typeface="+mn-lt"/>
                <a:ea typeface="+mn-ea"/>
                <a:cs typeface="+mn-cs"/>
              </a:rPr>
              <a:t> Moderate. AI handles boilerplate API integrations well. However, failure risks emerge around edge cases, authentication token handling, rate-limiting, and error recovery. </a:t>
            </a:r>
          </a:p>
          <a:p>
            <a:r>
              <a:rPr lang="en-US" sz="1200" b="1" kern="1200" dirty="0">
                <a:solidFill>
                  <a:schemeClr val="tx1"/>
                </a:solidFill>
                <a:effectLst/>
                <a:latin typeface="+mn-lt"/>
                <a:ea typeface="+mn-ea"/>
                <a:cs typeface="+mn-cs"/>
              </a:rPr>
              <a:t>Tier 3: Custom Web Applications &amp; Core Logic (High Risk)</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Characteristics:</a:t>
            </a:r>
            <a:r>
              <a:rPr lang="en-US" sz="1200" kern="1200" dirty="0">
                <a:solidFill>
                  <a:schemeClr val="tx1"/>
                </a:solidFill>
                <a:effectLst/>
                <a:latin typeface="+mn-lt"/>
                <a:ea typeface="+mn-ea"/>
                <a:cs typeface="+mn-cs"/>
              </a:rPr>
              <a:t> Novel user interactions, complex multi-tenant data architecture, financial transaction processing, real-time data sync, state management.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Delegation Safety:</a:t>
            </a:r>
            <a:r>
              <a:rPr lang="en-US" sz="1200" kern="1200" dirty="0">
                <a:solidFill>
                  <a:schemeClr val="tx1"/>
                </a:solidFill>
                <a:effectLst/>
                <a:latin typeface="+mn-lt"/>
                <a:ea typeface="+mn-ea"/>
                <a:cs typeface="+mn-cs"/>
              </a:rPr>
              <a:t> Dangerous. Custom logic requires precise structural design. AI models lack a holistic understanding of system state and data flow. Delegating Tier 3 logic to an agent without strict line-by-line human auditing leads directly to catastrophic architectural debt. </a:t>
            </a:r>
          </a:p>
          <a:p>
            <a:r>
              <a:rPr lang="en-US" sz="1200" b="1" kern="1200" dirty="0">
                <a:solidFill>
                  <a:schemeClr val="tx1"/>
                </a:solidFill>
                <a:effectLst/>
                <a:latin typeface="+mn-lt"/>
                <a:ea typeface="+mn-ea"/>
                <a:cs typeface="+mn-cs"/>
              </a:rPr>
              <a:t>Guidance for Tech Leaders:</a:t>
            </a:r>
          </a:p>
          <a:p>
            <a:r>
              <a:rPr lang="en-US" sz="1200" kern="1200" dirty="0">
                <a:solidFill>
                  <a:schemeClr val="tx1"/>
                </a:solidFill>
                <a:effectLst/>
                <a:latin typeface="+mn-lt"/>
                <a:ea typeface="+mn-ea"/>
                <a:cs typeface="+mn-cs"/>
              </a:rPr>
              <a:t>Establish clear boundary lines. Allow AI agents to speed up Tier 1 templates and Tier 2 boilerplate, but strictly guard Tier 3 architecture with human cognitive oversight.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5</a:t>
            </a:fld>
            <a:endParaRPr lang="en-US"/>
          </a:p>
        </p:txBody>
      </p:sp>
    </p:spTree>
    <p:extLst>
      <p:ext uri="{BB962C8B-B14F-4D97-AF65-F5344CB8AC3E}">
        <p14:creationId xmlns:p14="http://schemas.microsoft.com/office/powerpoint/2010/main" val="42832888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6 exposes the fundamental technical limitation of Large Language Models: </a:t>
            </a:r>
            <a:r>
              <a:rPr lang="en-US" sz="1200" b="1" kern="1200" dirty="0">
                <a:solidFill>
                  <a:schemeClr val="tx1"/>
                </a:solidFill>
                <a:effectLst/>
                <a:latin typeface="+mn-lt"/>
                <a:ea typeface="+mn-ea"/>
                <a:cs typeface="+mn-cs"/>
              </a:rPr>
              <a:t>The distinction between Micro-Level Syntax and Macro-Level Composition.</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[MICRO-LEVEL SYNTAX]  ──&gt; Flawless (Spelling, Grammar, Local Functions) ──&gt; AI Excel</a:t>
            </a:r>
          </a:p>
          <a:p>
            <a:r>
              <a:rPr lang="en-US" sz="1200" kern="1200" dirty="0">
                <a:solidFill>
                  <a:schemeClr val="tx1"/>
                </a:solidFill>
                <a:effectLst/>
                <a:latin typeface="+mn-lt"/>
                <a:ea typeface="+mn-ea"/>
                <a:cs typeface="+mn-cs"/>
              </a:rPr>
              <a:t>        VS</a:t>
            </a:r>
          </a:p>
          <a:p>
            <a:r>
              <a:rPr lang="en-US" sz="1200" kern="1200" dirty="0">
                <a:solidFill>
                  <a:schemeClr val="tx1"/>
                </a:solidFill>
                <a:effectLst/>
                <a:latin typeface="+mn-lt"/>
                <a:ea typeface="+mn-ea"/>
                <a:cs typeface="+mn-cs"/>
              </a:rPr>
              <a:t>[MACRO-LEVEL COMPOSITION] ──&gt; Broken (Architecture, State, Systems Thinking) ──&gt; AI Fails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AI as a Pattern Interpolator (Micro-Level Syntax)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LLMs are world-class pattern interpolators. They have ingested billions of lines of public code from GitHub.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Consequently, an LLM knows how to write a perfectly formatted regex pattern, construct a SQL query, or write a local helper function. At the micro-level, the syntax is clean and looks flawless. It is the equivalent of an author who has perfect spelling and grammar. </a:t>
            </a:r>
          </a:p>
          <a:p>
            <a:r>
              <a:rPr lang="en-US" sz="1200" b="1" kern="1200" dirty="0">
                <a:solidFill>
                  <a:schemeClr val="tx1"/>
                </a:solidFill>
                <a:effectLst/>
                <a:latin typeface="+mn-lt"/>
                <a:ea typeface="+mn-ea"/>
                <a:cs typeface="+mn-cs"/>
              </a:rPr>
              <a:t>2. The Missing Theory of Mind (Macro-Level Composition)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However, software engineering is not spelling; it is novel writing.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LLM has no internal mental model, no "theory of mind," and no awareness of how a change in line 50 of File A impacts memory consumption or state mutation in File Z six months down the road.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 cannot compose a coherent macro-architecture. It stitches together locally optimal snippets that are globally disastrous when combined. </a:t>
            </a:r>
          </a:p>
          <a:p>
            <a:r>
              <a:rPr lang="en-US" sz="1200" b="1" kern="1200" dirty="0">
                <a:solidFill>
                  <a:schemeClr val="tx1"/>
                </a:solidFill>
                <a:effectLst/>
                <a:latin typeface="+mn-lt"/>
                <a:ea typeface="+mn-ea"/>
                <a:cs typeface="+mn-cs"/>
              </a:rPr>
              <a:t>The Illusion of Perfection at Scale: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When a developer asks an agent to generate a small component, it looks brilliant.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But as the codebase grows to 10,000 or 100,000 lines of code, the lack of an overarching architectural vision causes the system to degrade.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Duplicate logic accumulates, state mutations collide, dependencies conflict, and performance collapses. The initial illusion of rapid progress dissolves into an un-</a:t>
            </a:r>
            <a:r>
              <a:rPr lang="en-US" sz="1200" kern="1200" dirty="0" err="1">
                <a:solidFill>
                  <a:schemeClr val="tx1"/>
                </a:solidFill>
                <a:effectLst/>
                <a:latin typeface="+mn-lt"/>
                <a:ea typeface="+mn-ea"/>
                <a:cs typeface="+mn-cs"/>
              </a:rPr>
              <a:t>debuggable</a:t>
            </a:r>
            <a:r>
              <a:rPr lang="en-US" sz="1200" kern="1200" dirty="0">
                <a:solidFill>
                  <a:schemeClr val="tx1"/>
                </a:solidFill>
                <a:effectLst/>
                <a:latin typeface="+mn-lt"/>
                <a:ea typeface="+mn-ea"/>
                <a:cs typeface="+mn-cs"/>
              </a:rPr>
              <a:t> maze of spaghetti code.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6</a:t>
            </a:fld>
            <a:endParaRPr lang="en-US"/>
          </a:p>
        </p:txBody>
      </p:sp>
    </p:spTree>
    <p:extLst>
      <p:ext uri="{BB962C8B-B14F-4D97-AF65-F5344CB8AC3E}">
        <p14:creationId xmlns:p14="http://schemas.microsoft.com/office/powerpoint/2010/main" val="1161623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7 maps the exact operational sequence that turns a promising AI project into an unmaintainable nightmare: The Agentic Failure Loop.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Step 1: Prompt Agent for Feature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Step 2: Agent Generates </a:t>
            </a:r>
            <a:r>
              <a:rPr lang="en-US" sz="1200" kern="1200" dirty="0" err="1">
                <a:solidFill>
                  <a:schemeClr val="tx1"/>
                </a:solidFill>
                <a:effectLst/>
                <a:latin typeface="+mn-lt"/>
                <a:ea typeface="+mn-ea"/>
                <a:cs typeface="+mn-cs"/>
              </a:rPr>
              <a:t>Unarchitected</a:t>
            </a:r>
            <a:r>
              <a:rPr lang="en-US" sz="1200" kern="1200" dirty="0">
                <a:solidFill>
                  <a:schemeClr val="tx1"/>
                </a:solidFill>
                <a:effectLst/>
                <a:latin typeface="+mn-lt"/>
                <a:ea typeface="+mn-ea"/>
                <a:cs typeface="+mn-cs"/>
              </a:rPr>
              <a:t> Code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Step 3: Developer Cannot Read or Audit Output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Step 4: Developer Uses Agent to Debug Agent Errors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Step 5: Total Vendor Lock-in &amp; Cognitive Collapse</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Step-by-Step Breakdown: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 The Prompt.</a:t>
            </a:r>
            <a:r>
              <a:rPr lang="en-US" sz="1200" kern="1200" dirty="0">
                <a:solidFill>
                  <a:schemeClr val="tx1"/>
                </a:solidFill>
                <a:effectLst/>
                <a:latin typeface="+mn-lt"/>
                <a:ea typeface="+mn-ea"/>
                <a:cs typeface="+mn-cs"/>
              </a:rPr>
              <a:t> A developer or founder asks the agent to implement a complex feature.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 </a:t>
            </a:r>
            <a:r>
              <a:rPr lang="en-US" sz="1200" b="1" kern="1200" dirty="0" err="1">
                <a:solidFill>
                  <a:schemeClr val="tx1"/>
                </a:solidFill>
                <a:effectLst/>
                <a:latin typeface="+mn-lt"/>
                <a:ea typeface="+mn-ea"/>
                <a:cs typeface="+mn-cs"/>
              </a:rPr>
              <a:t>Unarchitected</a:t>
            </a:r>
            <a:r>
              <a:rPr lang="en-US" sz="1200" b="1" kern="1200" dirty="0">
                <a:solidFill>
                  <a:schemeClr val="tx1"/>
                </a:solidFill>
                <a:effectLst/>
                <a:latin typeface="+mn-lt"/>
                <a:ea typeface="+mn-ea"/>
                <a:cs typeface="+mn-cs"/>
              </a:rPr>
              <a:t> Generation.</a:t>
            </a:r>
            <a:r>
              <a:rPr lang="en-US" sz="1200" kern="1200" dirty="0">
                <a:solidFill>
                  <a:schemeClr val="tx1"/>
                </a:solidFill>
                <a:effectLst/>
                <a:latin typeface="+mn-lt"/>
                <a:ea typeface="+mn-ea"/>
                <a:cs typeface="+mn-cs"/>
              </a:rPr>
              <a:t> The agent outputs hundreds of lines of code. Because the agent generates code instantly, it bypasses standard design docs and refactoring steps.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 Audit Failure.</a:t>
            </a:r>
            <a:r>
              <a:rPr lang="en-US" sz="1200" kern="1200" dirty="0">
                <a:solidFill>
                  <a:schemeClr val="tx1"/>
                </a:solidFill>
                <a:effectLst/>
                <a:latin typeface="+mn-lt"/>
                <a:ea typeface="+mn-ea"/>
                <a:cs typeface="+mn-cs"/>
              </a:rPr>
              <a:t> Because the developer didn't write the code and lacks deep familiarity with the codebase, they cannot effectively audit it. They glance at the UI, see that the button works, and merge the Pull Request.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 Recursive Debugging.</a:t>
            </a:r>
            <a:r>
              <a:rPr lang="en-US" sz="1200" kern="1200" dirty="0">
                <a:solidFill>
                  <a:schemeClr val="tx1"/>
                </a:solidFill>
                <a:effectLst/>
                <a:latin typeface="+mn-lt"/>
                <a:ea typeface="+mn-ea"/>
                <a:cs typeface="+mn-cs"/>
              </a:rPr>
              <a:t> A bug inevitably appears. Instead of stepping through the code with a debugger, the developer pastes the error message back into the AI agent and says, </a:t>
            </a:r>
            <a:r>
              <a:rPr lang="en-US" sz="1200" i="1" kern="1200" dirty="0">
                <a:solidFill>
                  <a:schemeClr val="tx1"/>
                </a:solidFill>
                <a:effectLst/>
                <a:latin typeface="+mn-lt"/>
                <a:ea typeface="+mn-ea"/>
                <a:cs typeface="+mn-cs"/>
              </a:rPr>
              <a:t>"Fix this."</a:t>
            </a:r>
            <a:r>
              <a:rPr lang="en-US" sz="1200" kern="1200" dirty="0">
                <a:solidFill>
                  <a:schemeClr val="tx1"/>
                </a:solidFill>
                <a:effectLst/>
                <a:latin typeface="+mn-lt"/>
                <a:ea typeface="+mn-ea"/>
                <a:cs typeface="+mn-cs"/>
              </a:rPr>
              <a:t> The agent patches the bug by adding another layer of </a:t>
            </a:r>
            <a:r>
              <a:rPr lang="en-US" sz="1200" kern="1200" dirty="0" err="1">
                <a:solidFill>
                  <a:schemeClr val="tx1"/>
                </a:solidFill>
                <a:effectLst/>
                <a:latin typeface="+mn-lt"/>
                <a:ea typeface="+mn-ea"/>
                <a:cs typeface="+mn-cs"/>
              </a:rPr>
              <a:t>unarchitected</a:t>
            </a:r>
            <a:r>
              <a:rPr lang="en-US" sz="1200" kern="1200" dirty="0">
                <a:solidFill>
                  <a:schemeClr val="tx1"/>
                </a:solidFill>
                <a:effectLst/>
                <a:latin typeface="+mn-lt"/>
                <a:ea typeface="+mn-ea"/>
                <a:cs typeface="+mn-cs"/>
              </a:rPr>
              <a:t> complexity.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5: Total Vendor Lock-in &amp; Cognitive Traps.</a:t>
            </a:r>
            <a:r>
              <a:rPr lang="en-US" sz="1200" kern="1200" dirty="0">
                <a:solidFill>
                  <a:schemeClr val="tx1"/>
                </a:solidFill>
                <a:effectLst/>
                <a:latin typeface="+mn-lt"/>
                <a:ea typeface="+mn-ea"/>
                <a:cs typeface="+mn-cs"/>
              </a:rPr>
              <a:t> The developer no longer understands their own codebase. They are completely dependent on the AI vendor's subscription to maintain or update the application. They are locked into a tool they cannot verify, managing a system they cannot read.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7</a:t>
            </a:fld>
            <a:endParaRPr lang="en-US"/>
          </a:p>
        </p:txBody>
      </p:sp>
    </p:spTree>
    <p:extLst>
      <p:ext uri="{BB962C8B-B14F-4D97-AF65-F5344CB8AC3E}">
        <p14:creationId xmlns:p14="http://schemas.microsoft.com/office/powerpoint/2010/main" val="1634604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Every time a new technology arrives, tech commentators make the same prediction: </a:t>
            </a:r>
            <a:r>
              <a:rPr lang="en-US" sz="1200" i="1" kern="1200" dirty="0">
                <a:solidFill>
                  <a:schemeClr val="tx1"/>
                </a:solidFill>
                <a:effectLst/>
                <a:latin typeface="+mn-lt"/>
                <a:ea typeface="+mn-ea"/>
                <a:cs typeface="+mn-cs"/>
              </a:rPr>
              <a:t>"This will eliminate human work and make developers obsolete."</a:t>
            </a:r>
            <a:r>
              <a:rPr lang="en-US" sz="1200" kern="1200" dirty="0">
                <a:solidFill>
                  <a:schemeClr val="tx1"/>
                </a:solidFill>
                <a:effectLst/>
                <a:latin typeface="+mn-lt"/>
                <a:ea typeface="+mn-ea"/>
                <a:cs typeface="+mn-cs"/>
              </a:rPr>
              <a:t> Slide 8 places our current moment in historical context through The Workload Paradox.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1980s: The PC  ──&gt; Promised paperless office ──&gt; Created complex OS/IT management demand.</a:t>
            </a:r>
          </a:p>
          <a:p>
            <a:r>
              <a:rPr lang="en-US" sz="1200" kern="1200" dirty="0">
                <a:solidFill>
                  <a:schemeClr val="tx1"/>
                </a:solidFill>
                <a:effectLst/>
                <a:latin typeface="+mn-lt"/>
                <a:ea typeface="+mn-ea"/>
                <a:cs typeface="+mn-cs"/>
              </a:rPr>
              <a:t>2010s: No-Code ──&gt; Promised end of </a:t>
            </a:r>
            <a:r>
              <a:rPr lang="en-US" sz="1200" kern="1200" dirty="0" err="1">
                <a:solidFill>
                  <a:schemeClr val="tx1"/>
                </a:solidFill>
                <a:effectLst/>
                <a:latin typeface="+mn-lt"/>
                <a:ea typeface="+mn-ea"/>
                <a:cs typeface="+mn-cs"/>
              </a:rPr>
              <a:t>devs</a:t>
            </a:r>
            <a:r>
              <a:rPr lang="en-US" sz="1200" kern="1200" dirty="0">
                <a:solidFill>
                  <a:schemeClr val="tx1"/>
                </a:solidFill>
                <a:effectLst/>
                <a:latin typeface="+mn-lt"/>
                <a:ea typeface="+mn-ea"/>
                <a:cs typeface="+mn-cs"/>
              </a:rPr>
              <a:t>    ──&gt; Created massive demand for platform integrators.</a:t>
            </a:r>
          </a:p>
          <a:p>
            <a:r>
              <a:rPr lang="en-US" sz="1200" kern="1200" dirty="0">
                <a:solidFill>
                  <a:schemeClr val="tx1"/>
                </a:solidFill>
                <a:effectLst/>
                <a:latin typeface="+mn-lt"/>
                <a:ea typeface="+mn-ea"/>
                <a:cs typeface="+mn-cs"/>
              </a:rPr>
              <a:t>2020s: LLMs    ──&gt; Promises end of coding  ──&gt; Turning </a:t>
            </a:r>
            <a:r>
              <a:rPr lang="en-US" sz="1200" kern="1200" dirty="0" err="1">
                <a:solidFill>
                  <a:schemeClr val="tx1"/>
                </a:solidFill>
                <a:effectLst/>
                <a:latin typeface="+mn-lt"/>
                <a:ea typeface="+mn-ea"/>
                <a:cs typeface="+mn-cs"/>
              </a:rPr>
              <a:t>devs</a:t>
            </a:r>
            <a:r>
              <a:rPr lang="en-US" sz="1200" kern="1200" dirty="0">
                <a:solidFill>
                  <a:schemeClr val="tx1"/>
                </a:solidFill>
                <a:effectLst/>
                <a:latin typeface="+mn-lt"/>
                <a:ea typeface="+mn-ea"/>
                <a:cs typeface="+mn-cs"/>
              </a:rPr>
              <a:t> into full-time model debuggers.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Historical Evidence:</a:t>
            </a:r>
          </a:p>
          <a:p>
            <a:pPr marL="228600" lvl="0" indent="-228600">
              <a:buFont typeface="+mj-lt"/>
              <a:buAutoNum type="arabicPeriod"/>
            </a:pPr>
            <a:r>
              <a:rPr lang="en-US" sz="1200" b="1" kern="1200" dirty="0">
                <a:solidFill>
                  <a:schemeClr val="tx1"/>
                </a:solidFill>
                <a:effectLst/>
                <a:latin typeface="+mn-lt"/>
                <a:ea typeface="+mn-ea"/>
                <a:cs typeface="+mn-cs"/>
              </a:rPr>
              <a:t>The Personal Computer (1980s):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The Promise:</a:t>
            </a:r>
            <a:r>
              <a:rPr lang="en-US" sz="1200" kern="1200" dirty="0">
                <a:solidFill>
                  <a:schemeClr val="tx1"/>
                </a:solidFill>
                <a:effectLst/>
                <a:latin typeface="+mn-lt"/>
                <a:ea typeface="+mn-ea"/>
                <a:cs typeface="+mn-cs"/>
              </a:rPr>
              <a:t> PCs were supposed to eliminate administrative staff and filing clerks, creating a "paperless office." </a:t>
            </a: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PCs skyrocketed the volume of documents, spreadsheets, and communications required, forcing administrative workers to master complex operating systems and software tools. </a:t>
            </a:r>
          </a:p>
          <a:p>
            <a:pPr marL="228600" lvl="0" indent="-228600">
              <a:buFont typeface="+mj-lt"/>
              <a:buAutoNum type="arabicPeriod"/>
            </a:pPr>
            <a:r>
              <a:rPr lang="en-US" sz="1200" b="1" kern="1200" dirty="0">
                <a:solidFill>
                  <a:schemeClr val="tx1"/>
                </a:solidFill>
                <a:effectLst/>
                <a:latin typeface="+mn-lt"/>
                <a:ea typeface="+mn-ea"/>
                <a:cs typeface="+mn-cs"/>
              </a:rPr>
              <a:t>No-Code / Low-Code Platforms (2010s):</a:t>
            </a:r>
            <a:endParaRPr lang="en-US" sz="1200" kern="1200" dirty="0">
              <a:solidFill>
                <a:schemeClr val="tx1"/>
              </a:solidFill>
              <a:effectLst/>
              <a:latin typeface="+mn-lt"/>
              <a:ea typeface="+mn-ea"/>
              <a:cs typeface="+mn-cs"/>
            </a:endParaRP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The Promise:</a:t>
            </a:r>
            <a:r>
              <a:rPr lang="en-US" sz="1200" kern="1200" dirty="0">
                <a:solidFill>
                  <a:schemeClr val="tx1"/>
                </a:solidFill>
                <a:effectLst/>
                <a:latin typeface="+mn-lt"/>
                <a:ea typeface="+mn-ea"/>
                <a:cs typeface="+mn-cs"/>
              </a:rPr>
              <a:t> Drag-and-drop builders were touted as the "death of custom software development." </a:t>
            </a:r>
          </a:p>
          <a:p>
            <a:pPr marL="685800" lvl="1" indent="-228600">
              <a:buFont typeface="Arial" panose="020B0604020202020204" pitchFamily="34" charset="0"/>
              <a:buChar char="•"/>
            </a:pPr>
            <a:r>
              <a:rPr lang="en-US" sz="1200" i="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Business workflows became more intricate. Companies needed specialized engineers to manage API integrations, webhooks, and platform limitations. </a:t>
            </a:r>
          </a:p>
          <a:p>
            <a:pPr marL="228600" lvl="0" indent="-228600">
              <a:buFont typeface="+mj-lt"/>
              <a:buAutoNum type="arabicPeriod"/>
            </a:pPr>
            <a:r>
              <a:rPr lang="en-US" sz="1200" b="1" kern="1200" dirty="0">
                <a:solidFill>
                  <a:schemeClr val="tx1"/>
                </a:solidFill>
                <a:effectLst/>
                <a:latin typeface="+mn-lt"/>
                <a:ea typeface="+mn-ea"/>
                <a:cs typeface="+mn-cs"/>
              </a:rPr>
              <a:t>Large Language Models (2020s):</a:t>
            </a:r>
            <a:endParaRPr lang="en-US" sz="1200" kern="1200" dirty="0">
              <a:solidFill>
                <a:schemeClr val="tx1"/>
              </a:solidFill>
              <a:effectLst/>
              <a:latin typeface="+mn-lt"/>
              <a:ea typeface="+mn-ea"/>
              <a:cs typeface="+mn-cs"/>
            </a:endParaRPr>
          </a:p>
          <a:p>
            <a:pPr marL="685800" lvl="1" indent="-228600">
              <a:buFont typeface="+mj-lt"/>
              <a:buAutoNum type="arabicPeriod"/>
            </a:pPr>
            <a:r>
              <a:rPr lang="en-US" sz="1200" i="1" kern="1200" dirty="0">
                <a:solidFill>
                  <a:schemeClr val="tx1"/>
                </a:solidFill>
                <a:effectLst/>
                <a:latin typeface="+mn-lt"/>
                <a:ea typeface="+mn-ea"/>
                <a:cs typeface="+mn-cs"/>
              </a:rPr>
              <a:t>The Promise:</a:t>
            </a:r>
            <a:r>
              <a:rPr lang="en-US" sz="1200" kern="1200" dirty="0">
                <a:solidFill>
                  <a:schemeClr val="tx1"/>
                </a:solidFill>
                <a:effectLst/>
                <a:latin typeface="+mn-lt"/>
                <a:ea typeface="+mn-ea"/>
                <a:cs typeface="+mn-cs"/>
              </a:rPr>
              <a:t> AI will eliminate the need for human programmers. </a:t>
            </a:r>
          </a:p>
          <a:p>
            <a:pPr marL="685800" lvl="1" indent="-228600">
              <a:buFont typeface="+mj-lt"/>
              <a:buAutoNum type="arabicPeriod"/>
            </a:pPr>
            <a:r>
              <a:rPr lang="en-US" sz="1200" i="1" kern="1200" dirty="0">
                <a:solidFill>
                  <a:schemeClr val="tx1"/>
                </a:solidFill>
                <a:effectLst/>
                <a:latin typeface="+mn-lt"/>
                <a:ea typeface="+mn-ea"/>
                <a:cs typeface="+mn-cs"/>
              </a:rPr>
              <a:t>The Reality:</a:t>
            </a:r>
            <a:r>
              <a:rPr lang="en-US" sz="1200" kern="1200" dirty="0">
                <a:solidFill>
                  <a:schemeClr val="tx1"/>
                </a:solidFill>
                <a:effectLst/>
                <a:latin typeface="+mn-lt"/>
                <a:ea typeface="+mn-ea"/>
                <a:cs typeface="+mn-cs"/>
              </a:rPr>
              <a:t> LLMs make generating basic code cheap, which exponentially increases the total volume of software being created. More software means more edge cases, more integration challenges, and more technical debt. </a:t>
            </a:r>
          </a:p>
          <a:p>
            <a:r>
              <a:rPr lang="en-US" sz="1200" b="1" kern="1200" dirty="0">
                <a:solidFill>
                  <a:schemeClr val="tx1"/>
                </a:solidFill>
                <a:effectLst/>
                <a:latin typeface="+mn-lt"/>
                <a:ea typeface="+mn-ea"/>
                <a:cs typeface="+mn-cs"/>
              </a:rPr>
              <a:t>Core Takeaway:</a:t>
            </a:r>
          </a:p>
          <a:p>
            <a:r>
              <a:rPr lang="en-US" sz="1200" kern="1200" dirty="0">
                <a:solidFill>
                  <a:schemeClr val="tx1"/>
                </a:solidFill>
                <a:effectLst/>
                <a:latin typeface="+mn-lt"/>
                <a:ea typeface="+mn-ea"/>
                <a:cs typeface="+mn-cs"/>
              </a:rPr>
              <a:t>New tools don't eliminate human work; they shift the nature of human work upward. Developers are not being replaced; they are being forced to become full-time evaluators and debuggers of non-deterministic AI systems.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8</a:t>
            </a:fld>
            <a:endParaRPr lang="en-US"/>
          </a:p>
        </p:txBody>
      </p:sp>
    </p:spTree>
    <p:extLst>
      <p:ext uri="{BB962C8B-B14F-4D97-AF65-F5344CB8AC3E}">
        <p14:creationId xmlns:p14="http://schemas.microsoft.com/office/powerpoint/2010/main" val="1681359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How do master developers actually use AI tools without falling into the cognitive trap? Slide 9 outlines The Expert's Playbook. </a:t>
            </a:r>
          </a:p>
          <a:p>
            <a:r>
              <a:rPr lang="en-US" sz="1200" b="1" kern="1200" dirty="0">
                <a:solidFill>
                  <a:schemeClr val="tx1"/>
                </a:solidFill>
                <a:effectLst/>
                <a:latin typeface="+mn-lt"/>
                <a:ea typeface="+mn-ea"/>
                <a:cs typeface="+mn-cs"/>
              </a:rPr>
              <a:t>The Foundational Principle:</a:t>
            </a:r>
          </a:p>
          <a:p>
            <a:r>
              <a:rPr lang="en-US" sz="1200" i="1" kern="1200" dirty="0">
                <a:solidFill>
                  <a:schemeClr val="tx1"/>
                </a:solidFill>
                <a:effectLst/>
                <a:latin typeface="+mn-lt"/>
                <a:ea typeface="+mn-ea"/>
                <a:cs typeface="+mn-cs"/>
              </a:rPr>
              <a:t>"Master developers do not use AI to think less; they use it to type less. The blueprint exists in the human mind long before the prompt is written."</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        HUMAN COGNITION (THE CORE)        │</a:t>
            </a:r>
          </a:p>
          <a:p>
            <a:r>
              <a:rPr lang="en-US" sz="1200" kern="1200" dirty="0">
                <a:solidFill>
                  <a:schemeClr val="tx1"/>
                </a:solidFill>
                <a:effectLst/>
                <a:latin typeface="+mn-lt"/>
                <a:ea typeface="+mn-ea"/>
                <a:cs typeface="+mn-cs"/>
              </a:rPr>
              <a:t>                  │   System Architecture &amp; Design Intent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                          ▼                          ▼</a:t>
            </a:r>
          </a:p>
          <a:p>
            <a:r>
              <a:rPr lang="en-US" sz="1200" kern="1200" dirty="0">
                <a:solidFill>
                  <a:schemeClr val="tx1"/>
                </a:solidFill>
                <a:effectLst/>
                <a:latin typeface="+mn-lt"/>
                <a:ea typeface="+mn-ea"/>
                <a:cs typeface="+mn-cs"/>
              </a:rPr>
              <a:t>    [Boilerplate Gen]          [Autocomplete]            [Data Formatting]</a:t>
            </a:r>
          </a:p>
          <a:p>
            <a:r>
              <a:rPr lang="en-US" sz="1200" kern="1200" dirty="0">
                <a:solidFill>
                  <a:schemeClr val="tx1"/>
                </a:solidFill>
                <a:effectLst/>
                <a:latin typeface="+mn-lt"/>
                <a:ea typeface="+mn-ea"/>
                <a:cs typeface="+mn-cs"/>
              </a:rPr>
              <a:t>    (Peripheral AI)            (Peripheral AI)           (Peripheral AI)</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How Experts Leverage AI:</a:t>
            </a:r>
          </a:p>
          <a:p>
            <a:pPr marL="228600" lvl="0" indent="-228600">
              <a:buFont typeface="+mj-lt"/>
              <a:buAutoNum type="arabicPeriod"/>
            </a:pPr>
            <a:r>
              <a:rPr lang="en-US" sz="1200" b="1" kern="1200" dirty="0">
                <a:solidFill>
                  <a:schemeClr val="tx1"/>
                </a:solidFill>
                <a:effectLst/>
                <a:latin typeface="+mn-lt"/>
                <a:ea typeface="+mn-ea"/>
                <a:cs typeface="+mn-cs"/>
              </a:rPr>
              <a:t>Architectural Authority:</a:t>
            </a:r>
            <a:r>
              <a:rPr lang="en-US" sz="1200" kern="1200" dirty="0">
                <a:solidFill>
                  <a:schemeClr val="tx1"/>
                </a:solidFill>
                <a:effectLst/>
                <a:latin typeface="+mn-lt"/>
                <a:ea typeface="+mn-ea"/>
                <a:cs typeface="+mn-cs"/>
              </a:rPr>
              <a:t> The human developer retains 100% control over system design, data modeling, API boundaries, and security architecture. The mental blueprint is constructed before touching an AI tool. </a:t>
            </a:r>
          </a:p>
          <a:p>
            <a:pPr marL="228600" lvl="0" indent="-228600">
              <a:buFont typeface="+mj-lt"/>
              <a:buAutoNum type="arabicPeriod"/>
            </a:pPr>
            <a:r>
              <a:rPr lang="en-US" sz="1200" b="1" kern="1200" dirty="0">
                <a:solidFill>
                  <a:schemeClr val="tx1"/>
                </a:solidFill>
                <a:effectLst/>
                <a:latin typeface="+mn-lt"/>
                <a:ea typeface="+mn-ea"/>
                <a:cs typeface="+mn-cs"/>
              </a:rPr>
              <a:t>Delegating Mundane Repetition:</a:t>
            </a:r>
            <a:r>
              <a:rPr lang="en-US" sz="1200" kern="1200" dirty="0">
                <a:solidFill>
                  <a:schemeClr val="tx1"/>
                </a:solidFill>
                <a:effectLst/>
                <a:latin typeface="+mn-lt"/>
                <a:ea typeface="+mn-ea"/>
                <a:cs typeface="+mn-cs"/>
              </a:rPr>
              <a:t> Experts treat AI as a peripheral typing assistant. They use it for repetitive boilerplate generation, syntax lookup, unit test stubbing, and data reformatting. </a:t>
            </a:r>
          </a:p>
          <a:p>
            <a:pPr marL="228600" lvl="0" indent="-228600">
              <a:buFont typeface="+mj-lt"/>
              <a:buAutoNum type="arabicPeriod"/>
            </a:pPr>
            <a:r>
              <a:rPr lang="en-US" sz="1200" b="1" kern="1200" dirty="0">
                <a:solidFill>
                  <a:schemeClr val="tx1"/>
                </a:solidFill>
                <a:effectLst/>
                <a:latin typeface="+mn-lt"/>
                <a:ea typeface="+mn-ea"/>
                <a:cs typeface="+mn-cs"/>
              </a:rPr>
              <a:t>Continuous Code Auditing:</a:t>
            </a:r>
            <a:r>
              <a:rPr lang="en-US" sz="1200" kern="1200" dirty="0">
                <a:solidFill>
                  <a:schemeClr val="tx1"/>
                </a:solidFill>
                <a:effectLst/>
                <a:latin typeface="+mn-lt"/>
                <a:ea typeface="+mn-ea"/>
                <a:cs typeface="+mn-cs"/>
              </a:rPr>
              <a:t> When an expert uses an AI autocomplete or prompt snippet, they read every line output before accepting it. If the AI introduces unnecessary abstraction, the expert rejects it immediately. </a:t>
            </a:r>
          </a:p>
          <a:p>
            <a:r>
              <a:rPr lang="en-US" sz="1200" b="1" kern="1200" dirty="0">
                <a:solidFill>
                  <a:schemeClr val="tx1"/>
                </a:solidFill>
                <a:effectLst/>
                <a:latin typeface="+mn-lt"/>
                <a:ea typeface="+mn-ea"/>
                <a:cs typeface="+mn-cs"/>
              </a:rPr>
              <a:t>Key Takeaway: </a:t>
            </a:r>
          </a:p>
          <a:p>
            <a:r>
              <a:rPr lang="en-US" sz="1200" kern="1200" dirty="0">
                <a:solidFill>
                  <a:schemeClr val="tx1"/>
                </a:solidFill>
                <a:effectLst/>
                <a:latin typeface="+mn-lt"/>
                <a:ea typeface="+mn-ea"/>
                <a:cs typeface="+mn-cs"/>
              </a:rPr>
              <a:t>Keep AI on the periphery of your workflow. Use it to reduce mechanical typing friction, but never delegate structural decision-making.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9</a:t>
            </a:fld>
            <a:endParaRPr lang="en-US"/>
          </a:p>
        </p:txBody>
      </p:sp>
    </p:spTree>
    <p:extLst>
      <p:ext uri="{BB962C8B-B14F-4D97-AF65-F5344CB8AC3E}">
        <p14:creationId xmlns:p14="http://schemas.microsoft.com/office/powerpoint/2010/main" val="143629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10 provides a clear diagnostic framework to evaluate developer behavior within an organization: The Master vs. The Mimic. </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Feature	The Master Developer	The AI Mimic</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Primary </a:t>
            </a:r>
            <a:r>
              <a:rPr lang="en-US" sz="1200" b="1" kern="1200" dirty="0" err="1">
                <a:solidFill>
                  <a:schemeClr val="tx1"/>
                </a:solidFill>
                <a:effectLst/>
                <a:latin typeface="+mn-lt"/>
                <a:ea typeface="+mn-ea"/>
                <a:cs typeface="+mn-cs"/>
              </a:rPr>
              <a:t>GoalType</a:t>
            </a:r>
            <a:r>
              <a:rPr lang="en-US" sz="1200" b="1" kern="1200" dirty="0">
                <a:solidFill>
                  <a:schemeClr val="tx1"/>
                </a:solidFill>
                <a:effectLst/>
                <a:latin typeface="+mn-lt"/>
                <a:ea typeface="+mn-ea"/>
                <a:cs typeface="+mn-cs"/>
              </a:rPr>
              <a:t> Less</a:t>
            </a:r>
            <a:r>
              <a:rPr lang="en-US" sz="1200" kern="1200" dirty="0">
                <a:solidFill>
                  <a:schemeClr val="tx1"/>
                </a:solidFill>
                <a:effectLst/>
                <a:latin typeface="+mn-lt"/>
                <a:ea typeface="+mn-ea"/>
                <a:cs typeface="+mn-cs"/>
              </a:rPr>
              <a:t> (Reduce mechanical toil)</a:t>
            </a:r>
          </a:p>
          <a:p>
            <a:r>
              <a:rPr lang="en-US" sz="1200" b="1" kern="1200" dirty="0">
                <a:solidFill>
                  <a:schemeClr val="tx1"/>
                </a:solidFill>
                <a:effectLst/>
                <a:latin typeface="+mn-lt"/>
                <a:ea typeface="+mn-ea"/>
                <a:cs typeface="+mn-cs"/>
              </a:rPr>
              <a:t>Think Less</a:t>
            </a:r>
            <a:r>
              <a:rPr lang="en-US" sz="1200" kern="1200" dirty="0">
                <a:solidFill>
                  <a:schemeClr val="tx1"/>
                </a:solidFill>
                <a:effectLst/>
                <a:latin typeface="+mn-lt"/>
                <a:ea typeface="+mn-ea"/>
                <a:cs typeface="+mn-cs"/>
              </a:rPr>
              <a:t> (Outsource cognition) </a:t>
            </a:r>
          </a:p>
          <a:p>
            <a:r>
              <a:rPr lang="en-US" sz="1200" b="1" kern="1200" dirty="0">
                <a:solidFill>
                  <a:schemeClr val="tx1"/>
                </a:solidFill>
                <a:effectLst/>
                <a:latin typeface="+mn-lt"/>
                <a:ea typeface="+mn-ea"/>
                <a:cs typeface="+mn-cs"/>
              </a:rPr>
              <a:t>Role of AI </a:t>
            </a:r>
            <a:r>
              <a:rPr lang="en-US" sz="1200" b="1" kern="1200" dirty="0" err="1">
                <a:solidFill>
                  <a:schemeClr val="tx1"/>
                </a:solidFill>
                <a:effectLst/>
                <a:latin typeface="+mn-lt"/>
                <a:ea typeface="+mn-ea"/>
                <a:cs typeface="+mn-cs"/>
              </a:rPr>
              <a:t>Tool</a:t>
            </a:r>
            <a:r>
              <a:rPr lang="en-US" sz="1200" kern="1200" dirty="0" err="1">
                <a:solidFill>
                  <a:schemeClr val="tx1"/>
                </a:solidFill>
                <a:effectLst/>
                <a:latin typeface="+mn-lt"/>
                <a:ea typeface="+mn-ea"/>
                <a:cs typeface="+mn-cs"/>
              </a:rPr>
              <a:t>Peripheral</a:t>
            </a:r>
            <a:r>
              <a:rPr lang="en-US" sz="1200" kern="1200" dirty="0">
                <a:solidFill>
                  <a:schemeClr val="tx1"/>
                </a:solidFill>
                <a:effectLst/>
                <a:latin typeface="+mn-lt"/>
                <a:ea typeface="+mn-ea"/>
                <a:cs typeface="+mn-cs"/>
              </a:rPr>
              <a:t> typing &amp; search assistant</a:t>
            </a:r>
          </a:p>
          <a:p>
            <a:r>
              <a:rPr lang="en-US" sz="1200" kern="1200" dirty="0">
                <a:solidFill>
                  <a:schemeClr val="tx1"/>
                </a:solidFill>
                <a:effectLst/>
                <a:latin typeface="+mn-lt"/>
                <a:ea typeface="+mn-ea"/>
                <a:cs typeface="+mn-cs"/>
              </a:rPr>
              <a:t>Central project driver &amp; decision maker </a:t>
            </a:r>
          </a:p>
          <a:p>
            <a:r>
              <a:rPr lang="en-US" sz="1200" b="1" kern="1200" dirty="0">
                <a:solidFill>
                  <a:schemeClr val="tx1"/>
                </a:solidFill>
                <a:effectLst/>
                <a:latin typeface="+mn-lt"/>
                <a:ea typeface="+mn-ea"/>
                <a:cs typeface="+mn-cs"/>
              </a:rPr>
              <a:t>Output Audit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Rigorous, line-by-line critical analysis </a:t>
            </a:r>
          </a:p>
          <a:p>
            <a:r>
              <a:rPr lang="en-US" sz="1200" kern="1200" dirty="0">
                <a:solidFill>
                  <a:schemeClr val="tx1"/>
                </a:solidFill>
                <a:effectLst/>
                <a:latin typeface="+mn-lt"/>
                <a:ea typeface="+mn-ea"/>
                <a:cs typeface="+mn-cs"/>
              </a:rPr>
              <a:t>Blind trust &amp; copy-pasting </a:t>
            </a:r>
          </a:p>
          <a:p>
            <a:r>
              <a:rPr lang="en-US" sz="1200" b="1" kern="1200" dirty="0">
                <a:solidFill>
                  <a:schemeClr val="tx1"/>
                </a:solidFill>
                <a:effectLst/>
                <a:latin typeface="+mn-lt"/>
                <a:ea typeface="+mn-ea"/>
                <a:cs typeface="+mn-cs"/>
              </a:rPr>
              <a:t>Response to </a:t>
            </a:r>
            <a:r>
              <a:rPr lang="en-US" sz="1200" b="1" kern="1200" dirty="0" err="1">
                <a:solidFill>
                  <a:schemeClr val="tx1"/>
                </a:solidFill>
                <a:effectLst/>
                <a:latin typeface="+mn-lt"/>
                <a:ea typeface="+mn-ea"/>
                <a:cs typeface="+mn-cs"/>
              </a:rPr>
              <a:t>Errors</a:t>
            </a:r>
            <a:r>
              <a:rPr lang="en-US" sz="1200" kern="1200" dirty="0" err="1">
                <a:solidFill>
                  <a:schemeClr val="tx1"/>
                </a:solidFill>
                <a:effectLst/>
                <a:latin typeface="+mn-lt"/>
                <a:ea typeface="+mn-ea"/>
                <a:cs typeface="+mn-cs"/>
              </a:rPr>
              <a:t>Steps</a:t>
            </a:r>
            <a:r>
              <a:rPr lang="en-US" sz="1200" kern="1200" dirty="0">
                <a:solidFill>
                  <a:schemeClr val="tx1"/>
                </a:solidFill>
                <a:effectLst/>
                <a:latin typeface="+mn-lt"/>
                <a:ea typeface="+mn-ea"/>
                <a:cs typeface="+mn-cs"/>
              </a:rPr>
              <a:t> through with debugger; traces root </a:t>
            </a:r>
            <a:r>
              <a:rPr lang="en-US" sz="1200" kern="1200" dirty="0" err="1">
                <a:solidFill>
                  <a:schemeClr val="tx1"/>
                </a:solidFill>
                <a:effectLst/>
                <a:latin typeface="+mn-lt"/>
                <a:ea typeface="+mn-ea"/>
                <a:cs typeface="+mn-cs"/>
              </a:rPr>
              <a:t>causeRe</a:t>
            </a:r>
            <a:r>
              <a:rPr lang="en-US" sz="1200" kern="1200" dirty="0">
                <a:solidFill>
                  <a:schemeClr val="tx1"/>
                </a:solidFill>
                <a:effectLst/>
                <a:latin typeface="+mn-lt"/>
                <a:ea typeface="+mn-ea"/>
                <a:cs typeface="+mn-cs"/>
              </a:rPr>
              <a:t>-prompts agent: </a:t>
            </a:r>
            <a:r>
              <a:rPr lang="en-US" sz="1200" i="1" kern="1200" dirty="0">
                <a:solidFill>
                  <a:schemeClr val="tx1"/>
                </a:solidFill>
                <a:effectLst/>
                <a:latin typeface="+mn-lt"/>
                <a:ea typeface="+mn-ea"/>
                <a:cs typeface="+mn-cs"/>
              </a:rPr>
              <a:t>"Fix this error."</a:t>
            </a:r>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Long-Term Outcome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Accelerated creative velocity &amp; agency </a:t>
            </a:r>
          </a:p>
          <a:p>
            <a:r>
              <a:rPr lang="en-US" sz="1200" kern="1200" dirty="0">
                <a:solidFill>
                  <a:schemeClr val="tx1"/>
                </a:solidFill>
                <a:effectLst/>
                <a:latin typeface="+mn-lt"/>
                <a:ea typeface="+mn-ea"/>
                <a:cs typeface="+mn-cs"/>
              </a:rPr>
              <a:t>Cognitive atrophy &amp; total AI dependency</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Detailed Analysis: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Master:</a:t>
            </a:r>
            <a:r>
              <a:rPr lang="en-US" sz="1200" kern="1200" dirty="0">
                <a:solidFill>
                  <a:schemeClr val="tx1"/>
                </a:solidFill>
                <a:effectLst/>
                <a:latin typeface="+mn-lt"/>
                <a:ea typeface="+mn-ea"/>
                <a:cs typeface="+mn-cs"/>
              </a:rPr>
              <a:t> Uses AI to eliminate boilerplate speedbumps while keeping their hands firmly on the wheel. When the AI makes a mistake, the Master spots it instantly because they understand the underlying system mechanics.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Mimic:</a:t>
            </a:r>
            <a:r>
              <a:rPr lang="en-US" sz="1200" kern="1200" dirty="0">
                <a:solidFill>
                  <a:schemeClr val="tx1"/>
                </a:solidFill>
                <a:effectLst/>
                <a:latin typeface="+mn-lt"/>
                <a:ea typeface="+mn-ea"/>
                <a:cs typeface="+mn-cs"/>
              </a:rPr>
              <a:t> Operates as a prompt operator. They paste prompts, accept generated code without reading it, and hope it passes integration tests. When something breaks, they are completely helpless because they never understood the system to begin with. </a:t>
            </a:r>
          </a:p>
          <a:p>
            <a:r>
              <a:rPr lang="en-US" sz="1200" b="1" kern="1200" dirty="0">
                <a:solidFill>
                  <a:schemeClr val="tx1"/>
                </a:solidFill>
                <a:effectLst/>
                <a:latin typeface="+mn-lt"/>
                <a:ea typeface="+mn-ea"/>
                <a:cs typeface="+mn-cs"/>
              </a:rPr>
              <a:t>Organizational Impact: </a:t>
            </a:r>
          </a:p>
          <a:p>
            <a:r>
              <a:rPr lang="en-US" sz="1200" kern="1200" dirty="0">
                <a:solidFill>
                  <a:schemeClr val="tx1"/>
                </a:solidFill>
                <a:effectLst/>
                <a:latin typeface="+mn-lt"/>
                <a:ea typeface="+mn-ea"/>
                <a:cs typeface="+mn-cs"/>
              </a:rPr>
              <a:t>Engineering organizations that hire or train "Mimics" may see short-term feature throughput spikes, but will suffer long-term systemic failures, security breaches, and unmaintainable codebases. </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18AEFA3-7812-442C-860F-6BFC7175D925}" type="slidenum">
              <a:rPr lang="en-US" smtClean="0"/>
              <a:t>10</a:t>
            </a:fld>
            <a:endParaRPr lang="en-US"/>
          </a:p>
        </p:txBody>
      </p:sp>
    </p:spTree>
    <p:extLst>
      <p:ext uri="{BB962C8B-B14F-4D97-AF65-F5344CB8AC3E}">
        <p14:creationId xmlns:p14="http://schemas.microsoft.com/office/powerpoint/2010/main" val="32148000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addresses the industry-wide, macro risk of over-relying on agentic workflows: </a:t>
            </a:r>
            <a:r>
              <a:rPr lang="en-US" sz="1200" b="1" kern="1200" dirty="0">
                <a:solidFill>
                  <a:schemeClr val="tx1"/>
                </a:solidFill>
                <a:effectLst/>
                <a:latin typeface="+mn-lt"/>
                <a:ea typeface="+mn-ea"/>
                <a:cs typeface="+mn-cs"/>
              </a:rPr>
              <a:t>The Systemic Maintenance Crisis.</a:t>
            </a:r>
            <a:r>
              <a:rPr lang="en-US" sz="1200" kern="1200" dirty="0">
                <a:solidFill>
                  <a:schemeClr val="tx1"/>
                </a:solidFill>
                <a:effectLst/>
                <a:latin typeface="+mn-lt"/>
                <a:ea typeface="+mn-ea"/>
                <a:cs typeface="+mn-cs"/>
              </a:rPr>
              <a: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[Software Must Be Maintained Forever]</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[Bypassing Learning Friction Destroys Mastery Pipeline]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[Who Fixes Non-Deterministic Failures When AI Fails?]</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1. Software is Permanent Maintenance </a:t>
            </a:r>
          </a:p>
          <a:p>
            <a:pPr lvl="0"/>
            <a:r>
              <a:rPr lang="en-US" sz="1200" kern="1200" dirty="0">
                <a:solidFill>
                  <a:schemeClr val="tx1"/>
                </a:solidFill>
                <a:effectLst/>
                <a:latin typeface="+mn-lt"/>
                <a:ea typeface="+mn-ea"/>
                <a:cs typeface="+mn-cs"/>
              </a:rPr>
              <a:t>Writing code is a small fraction of the software lifecycle; </a:t>
            </a:r>
            <a:r>
              <a:rPr lang="en-US" sz="1200" b="1" kern="1200" dirty="0">
                <a:solidFill>
                  <a:schemeClr val="tx1"/>
                </a:solidFill>
                <a:effectLst/>
                <a:latin typeface="+mn-lt"/>
                <a:ea typeface="+mn-ea"/>
                <a:cs typeface="+mn-cs"/>
              </a:rPr>
              <a:t>maintaining code over 5, 10, or 20 years is where the real cost lives.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Software operates in changing environments: operating systems update, security vulnerabilities emerge, third-party APIs deprecate, and business requirements evolve. </a:t>
            </a:r>
          </a:p>
          <a:p>
            <a:r>
              <a:rPr lang="en-US" sz="1200" b="1" kern="1200" dirty="0">
                <a:solidFill>
                  <a:schemeClr val="tx1"/>
                </a:solidFill>
                <a:effectLst/>
                <a:latin typeface="+mn-lt"/>
                <a:ea typeface="+mn-ea"/>
                <a:cs typeface="+mn-cs"/>
              </a:rPr>
              <a:t>2. The Cognitive Pipeline Drain </a:t>
            </a:r>
          </a:p>
          <a:p>
            <a:pPr lvl="0"/>
            <a:r>
              <a:rPr lang="en-US" sz="1200" kern="1200" dirty="0">
                <a:solidFill>
                  <a:schemeClr val="tx1"/>
                </a:solidFill>
                <a:effectLst/>
                <a:latin typeface="+mn-lt"/>
                <a:ea typeface="+mn-ea"/>
                <a:cs typeface="+mn-cs"/>
              </a:rPr>
              <a:t>If an entire generation of incoming engineers uses agentic tools to bypass the friction of learning, we are systematically draining the industry's cognitive reserve. </a:t>
            </a:r>
          </a:p>
          <a:p>
            <a:pPr lvl="0"/>
            <a:r>
              <a:rPr lang="en-US" sz="1200" kern="1200" dirty="0">
                <a:solidFill>
                  <a:schemeClr val="tx1"/>
                </a:solidFill>
                <a:effectLst/>
                <a:latin typeface="+mn-lt"/>
                <a:ea typeface="+mn-ea"/>
                <a:cs typeface="+mn-cs"/>
              </a:rPr>
              <a:t>When non-deterministic LLM models inevitably hallucinate, fail, or produce conflicting logic across large infrastructure, </a:t>
            </a:r>
            <a:r>
              <a:rPr lang="en-US" sz="1200" b="1" kern="1200" dirty="0">
                <a:solidFill>
                  <a:schemeClr val="tx1"/>
                </a:solidFill>
                <a:effectLst/>
                <a:latin typeface="+mn-lt"/>
                <a:ea typeface="+mn-ea"/>
                <a:cs typeface="+mn-cs"/>
              </a:rPr>
              <a:t>who will be left with the domain expertise to fix the systems?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3. The Subscription Dependency Trap </a:t>
            </a:r>
          </a:p>
          <a:p>
            <a:pPr lvl="0"/>
            <a:r>
              <a:rPr lang="en-US" sz="1200" kern="1200" dirty="0">
                <a:solidFill>
                  <a:schemeClr val="tx1"/>
                </a:solidFill>
                <a:effectLst/>
                <a:latin typeface="+mn-lt"/>
                <a:ea typeface="+mn-ea"/>
                <a:cs typeface="+mn-cs"/>
              </a:rPr>
              <a:t>As Lars Faye warns, relinquishing cognitive power to closed-source, venture-backed AI platforms creates dangerous structural dependencies. </a:t>
            </a:r>
          </a:p>
          <a:p>
            <a:pPr lvl="0"/>
            <a:r>
              <a:rPr lang="en-US" sz="1200" kern="1200" dirty="0">
                <a:solidFill>
                  <a:schemeClr val="tx1"/>
                </a:solidFill>
                <a:effectLst/>
                <a:latin typeface="+mn-lt"/>
                <a:ea typeface="+mn-ea"/>
                <a:cs typeface="+mn-cs"/>
              </a:rPr>
              <a:t>Engineering teams risk losing the ability to build software independently, becoming permanent subscribers dependent on AI vendors to maintain basic digital infrastructure.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11</a:t>
            </a:fld>
            <a:endParaRPr lang="en-US"/>
          </a:p>
        </p:txBody>
      </p:sp>
    </p:spTree>
    <p:extLst>
      <p:ext uri="{BB962C8B-B14F-4D97-AF65-F5344CB8AC3E}">
        <p14:creationId xmlns:p14="http://schemas.microsoft.com/office/powerpoint/2010/main" val="3370169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12 presents a balanced, sustainable architecture for modern software teams: The Human-in-the-Loop Ecosystem.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HUMAN INTENT &amp; COMPOSITION                  │</a:t>
            </a:r>
          </a:p>
          <a:p>
            <a:r>
              <a:rPr lang="en-US" sz="1200" kern="1200" dirty="0">
                <a:solidFill>
                  <a:schemeClr val="tx1"/>
                </a:solidFill>
                <a:effectLst/>
                <a:latin typeface="+mn-lt"/>
                <a:ea typeface="+mn-ea"/>
                <a:cs typeface="+mn-cs"/>
              </a:rPr>
              <a:t>│  (System Architecture, Logic, Security, Ethics, Vision)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AI SYNTAX &amp; PATTERN EXECUTION                 │</a:t>
            </a:r>
          </a:p>
          <a:p>
            <a:r>
              <a:rPr lang="en-US" sz="1200" kern="1200" dirty="0">
                <a:solidFill>
                  <a:schemeClr val="tx1"/>
                </a:solidFill>
                <a:effectLst/>
                <a:latin typeface="+mn-lt"/>
                <a:ea typeface="+mn-ea"/>
                <a:cs typeface="+mn-cs"/>
              </a:rPr>
              <a:t>│    (Boilerplate, Autocomplete, Refactoring Snippets)     │</a:t>
            </a:r>
          </a:p>
          <a:p>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How to Balance the Architecture:</a:t>
            </a:r>
          </a:p>
          <a:p>
            <a:pPr marL="228600" lvl="0" indent="-228600">
              <a:buFont typeface="+mj-lt"/>
              <a:buAutoNum type="arabicPeriod"/>
            </a:pPr>
            <a:r>
              <a:rPr lang="en-US" sz="1200" b="1" kern="1200" dirty="0">
                <a:solidFill>
                  <a:schemeClr val="tx1"/>
                </a:solidFill>
                <a:effectLst/>
                <a:latin typeface="+mn-lt"/>
                <a:ea typeface="+mn-ea"/>
                <a:cs typeface="+mn-cs"/>
              </a:rPr>
              <a:t>Human Intent &amp; Composition at the Top:</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High-level architectural intent, domain modeling, user experience design, security protocols, and system composition must remain strictly within human domain. </a:t>
            </a:r>
          </a:p>
          <a:p>
            <a:pPr marL="228600" lvl="0" indent="-228600">
              <a:buFont typeface="+mj-lt"/>
              <a:buAutoNum type="arabicPeriod"/>
            </a:pPr>
            <a:r>
              <a:rPr lang="en-US" sz="1200" b="1" kern="1200" dirty="0">
                <a:solidFill>
                  <a:schemeClr val="tx1"/>
                </a:solidFill>
                <a:effectLst/>
                <a:latin typeface="+mn-lt"/>
                <a:ea typeface="+mn-ea"/>
                <a:cs typeface="+mn-cs"/>
              </a:rPr>
              <a:t>AI Syntax &amp; Pattern Execution at the Bottom:</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Mechanical implementation, pattern matching, repetitive typing, and local syntax lookup can be delegated to AI engines. </a:t>
            </a:r>
          </a:p>
          <a:p>
            <a:r>
              <a:rPr lang="en-US" sz="1200" b="1" kern="1200" dirty="0">
                <a:solidFill>
                  <a:schemeClr val="tx1"/>
                </a:solidFill>
                <a:effectLst/>
                <a:latin typeface="+mn-lt"/>
                <a:ea typeface="+mn-ea"/>
                <a:cs typeface="+mn-cs"/>
              </a:rPr>
              <a:t>Guarding Your Craft: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Software development is ultimately an exercise in structured thought.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value of a software engineer does not come from how fast their fingers move across a keyboard; it comes from their ability to reason through complex constraints and build durable solutions.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Do not let tools strip away the cognitive friction that makes software engineering a valuable, creative discipline. </a:t>
            </a:r>
          </a:p>
          <a:p>
            <a:endParaRPr lang="en-US" dirty="0"/>
          </a:p>
        </p:txBody>
      </p:sp>
      <p:sp>
        <p:nvSpPr>
          <p:cNvPr id="4" name="Slide Number Placeholder 3"/>
          <p:cNvSpPr>
            <a:spLocks noGrp="1"/>
          </p:cNvSpPr>
          <p:nvPr>
            <p:ph type="sldNum" sz="quarter" idx="5"/>
          </p:nvPr>
        </p:nvSpPr>
        <p:spPr/>
        <p:txBody>
          <a:bodyPr/>
          <a:lstStyle/>
          <a:p>
            <a:fld id="{018AEFA3-7812-442C-860F-6BFC7175D925}" type="slidenum">
              <a:rPr lang="en-US" smtClean="0"/>
              <a:t>12</a:t>
            </a:fld>
            <a:endParaRPr lang="en-US"/>
          </a:p>
        </p:txBody>
      </p:sp>
    </p:spTree>
    <p:extLst>
      <p:ext uri="{BB962C8B-B14F-4D97-AF65-F5344CB8AC3E}">
        <p14:creationId xmlns:p14="http://schemas.microsoft.com/office/powerpoint/2010/main" val="1871136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sz="1200" kern="1200" dirty="0">
                <a:solidFill>
                  <a:schemeClr val="tx1"/>
                </a:solidFill>
                <a:effectLst/>
                <a:latin typeface="+mn-lt"/>
                <a:ea typeface="+mn-ea"/>
                <a:cs typeface="+mn-cs"/>
              </a:rPr>
              <a:t>Slide 13 summarizes the four main takeaways of the presentation into a clear executive overview.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1. THE "AGENTIC" TRAP         │     2. COGNITIVE ATROPHY        │</a:t>
            </a:r>
          </a:p>
          <a:p>
            <a:r>
              <a:rPr lang="en-US" sz="1200" kern="1200" dirty="0">
                <a:solidFill>
                  <a:schemeClr val="tx1"/>
                </a:solidFill>
                <a:effectLst/>
                <a:latin typeface="+mn-lt"/>
                <a:ea typeface="+mn-ea"/>
                <a:cs typeface="+mn-cs"/>
              </a:rPr>
              <a:t>│ Total reliance destroys codebase  │ Bypassing friction prevents       │</a:t>
            </a:r>
          </a:p>
          <a:p>
            <a:r>
              <a:rPr lang="en-US" sz="1200" kern="1200" dirty="0">
                <a:solidFill>
                  <a:schemeClr val="tx1"/>
                </a:solidFill>
                <a:effectLst/>
                <a:latin typeface="+mn-lt"/>
                <a:ea typeface="+mn-ea"/>
                <a:cs typeface="+mn-cs"/>
              </a:rPr>
              <a:t>│ familiarity &amp; creates dependency. │ gaining essential debug skills.   │</a:t>
            </a:r>
          </a:p>
          <a:p>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     3. ARCHITECTURAL DEBT         │     4. FRICTION BUILDS SKILL      │</a:t>
            </a:r>
          </a:p>
          <a:p>
            <a:r>
              <a:rPr lang="en-US" sz="1200" kern="1200" dirty="0">
                <a:solidFill>
                  <a:schemeClr val="tx1"/>
                </a:solidFill>
                <a:effectLst/>
                <a:latin typeface="+mn-lt"/>
                <a:ea typeface="+mn-ea"/>
                <a:cs typeface="+mn-cs"/>
              </a:rPr>
              <a:t>│ LLMs lack holistic vision,        │ Manual problem-solving creates    │</a:t>
            </a:r>
          </a:p>
          <a:p>
            <a:r>
              <a:rPr lang="en-US" sz="1200" kern="1200" dirty="0">
                <a:solidFill>
                  <a:schemeClr val="tx1"/>
                </a:solidFill>
                <a:effectLst/>
                <a:latin typeface="+mn-lt"/>
                <a:ea typeface="+mn-ea"/>
                <a:cs typeface="+mn-cs"/>
              </a:rPr>
              <a:t>│ leading to chaotic composition.   │ true resilience when models fail. │</a:t>
            </a:r>
          </a:p>
          <a:p>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Executive Overview Breakdown:</a:t>
            </a:r>
          </a:p>
          <a:p>
            <a:pPr marL="228600" lvl="0" indent="-228600">
              <a:buFont typeface="+mj-lt"/>
              <a:buAutoNum type="arabicPeriod"/>
            </a:pPr>
            <a:r>
              <a:rPr lang="en-US" sz="1200" b="1" kern="1200" dirty="0">
                <a:solidFill>
                  <a:schemeClr val="tx1"/>
                </a:solidFill>
                <a:effectLst/>
                <a:latin typeface="+mn-lt"/>
                <a:ea typeface="+mn-ea"/>
                <a:cs typeface="+mn-cs"/>
              </a:rPr>
              <a:t>The "Agentic" Trap:</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Over-reliance on autonomous agents destroys deep codebase familiarity. If you didn't participate in building the architecture, you cannot effectively maintain or debug it when errors occur. </a:t>
            </a:r>
          </a:p>
          <a:p>
            <a:pPr marL="228600" lvl="0" indent="-228600">
              <a:buFont typeface="+mj-lt"/>
              <a:buAutoNum type="arabicPeriod"/>
            </a:pPr>
            <a:r>
              <a:rPr lang="en-US" sz="1200" b="1" kern="1200" dirty="0">
                <a:solidFill>
                  <a:schemeClr val="tx1"/>
                </a:solidFill>
                <a:effectLst/>
                <a:latin typeface="+mn-lt"/>
                <a:ea typeface="+mn-ea"/>
                <a:cs typeface="+mn-cs"/>
              </a:rPr>
              <a:t>Cognitive Atrophy &amp; Skill Loss:</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Bypassing the friction of problem-solving prevents new engineers from developing essential mental models. Friction is not a barrier to productivity; it is the mechanism of skill acquisition. </a:t>
            </a:r>
          </a:p>
          <a:p>
            <a:pPr marL="228600" lvl="0" indent="-228600">
              <a:buFont typeface="+mj-lt"/>
              <a:buAutoNum type="arabicPeriod"/>
            </a:pPr>
            <a:r>
              <a:rPr lang="en-US" sz="1200" b="1" kern="1200" dirty="0">
                <a:solidFill>
                  <a:schemeClr val="tx1"/>
                </a:solidFill>
                <a:effectLst/>
                <a:latin typeface="+mn-lt"/>
                <a:ea typeface="+mn-ea"/>
                <a:cs typeface="+mn-cs"/>
              </a:rPr>
              <a:t>Architectural Debt Accumulation:</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LLMs excel at local syntax but fail at global composition. Un-audited AI generation creates compounding technical debt and messy codebases. </a:t>
            </a:r>
          </a:p>
          <a:p>
            <a:pPr marL="228600" lvl="0" indent="-228600">
              <a:buFont typeface="+mj-lt"/>
              <a:buAutoNum type="arabicPeriod"/>
            </a:pPr>
            <a:r>
              <a:rPr lang="en-US" sz="1200" b="1" kern="1200" dirty="0">
                <a:solidFill>
                  <a:schemeClr val="tx1"/>
                </a:solidFill>
                <a:effectLst/>
                <a:latin typeface="+mn-lt"/>
                <a:ea typeface="+mn-ea"/>
                <a:cs typeface="+mn-cs"/>
              </a:rPr>
              <a:t>Friction Builds True Expertise:</a:t>
            </a:r>
            <a:r>
              <a:rPr lang="en-US" sz="1200" kern="1200" dirty="0">
                <a:solidFill>
                  <a:schemeClr val="tx1"/>
                </a:solidFill>
                <a:effectLst/>
                <a:latin typeface="+mn-lt"/>
                <a:ea typeface="+mn-ea"/>
                <a:cs typeface="+mn-cs"/>
              </a:rPr>
              <a:t> </a:t>
            </a:r>
          </a:p>
          <a:p>
            <a:pPr marL="685800" lvl="1" indent="-228600">
              <a:buFont typeface="Arial" panose="020B0604020202020204" pitchFamily="34" charset="0"/>
              <a:buChar char="•"/>
            </a:pPr>
            <a:r>
              <a:rPr lang="en-US" sz="1200" kern="1200" dirty="0">
                <a:solidFill>
                  <a:schemeClr val="tx1"/>
                </a:solidFill>
                <a:effectLst/>
                <a:latin typeface="+mn-lt"/>
                <a:ea typeface="+mn-ea"/>
                <a:cs typeface="+mn-cs"/>
              </a:rPr>
              <a:t>Real engineering value lies in reasoning, architecture, and problem decomposition. Master developers use AI as a peripheral typing assistant to type less, while keeping complete authority over system design. </a:t>
            </a:r>
          </a:p>
          <a:p>
            <a:r>
              <a:rPr lang="en-US" sz="1200" kern="1200" dirty="0">
                <a:solidFill>
                  <a:schemeClr val="tx1"/>
                </a:solidFill>
                <a:effectLst/>
                <a:latin typeface="+mn-lt"/>
                <a:ea typeface="+mn-ea"/>
                <a:cs typeface="+mn-cs"/>
              </a:rPr>
              <a:t>Thank you. I am happy to open the floor to Q&amp;A and discussion.</a:t>
            </a:r>
          </a:p>
          <a:p>
            <a:endParaRPr lang="en-US" b="1" dirty="0"/>
          </a:p>
          <a:p>
            <a:endParaRPr lang="en-US" dirty="0"/>
          </a:p>
          <a:p>
            <a:endParaRPr lang="en-US" dirty="0"/>
          </a:p>
          <a:p>
            <a:endParaRPr lang="en-US" dirty="0"/>
          </a:p>
          <a:p>
            <a:r>
              <a:rPr lang="en-US" b="1" dirty="0"/>
              <a:t>Only Good Devs Catch AI's Mistakes, and AI Makes You Worse - Lars Faye | Ep. 97</a:t>
            </a:r>
          </a:p>
          <a:p>
            <a:r>
              <a:rPr lang="en-US" dirty="0"/>
              <a:t>https://www.youtube.com/watch?v=0Kas27lxen4</a:t>
            </a:r>
          </a:p>
        </p:txBody>
      </p:sp>
      <p:sp>
        <p:nvSpPr>
          <p:cNvPr id="4" name="Slide Number Placeholder 3"/>
          <p:cNvSpPr>
            <a:spLocks noGrp="1"/>
          </p:cNvSpPr>
          <p:nvPr>
            <p:ph type="sldNum" sz="quarter" idx="5"/>
          </p:nvPr>
        </p:nvSpPr>
        <p:spPr/>
        <p:txBody>
          <a:bodyPr/>
          <a:lstStyle/>
          <a:p>
            <a:fld id="{018AEFA3-7812-442C-860F-6BFC7175D925}" type="slidenum">
              <a:rPr lang="en-US" smtClean="0"/>
              <a:t>13</a:t>
            </a:fld>
            <a:endParaRPr lang="en-US"/>
          </a:p>
        </p:txBody>
      </p:sp>
    </p:spTree>
    <p:extLst>
      <p:ext uri="{BB962C8B-B14F-4D97-AF65-F5344CB8AC3E}">
        <p14:creationId xmlns:p14="http://schemas.microsoft.com/office/powerpoint/2010/main" val="2179134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0A683-B01F-7788-E641-E123EDFC74EF}"/>
              </a:ext>
            </a:extLst>
          </p:cNvPr>
          <p:cNvSpPr>
            <a:spLocks noGrp="1"/>
          </p:cNvSpPr>
          <p:nvPr>
            <p:ph type="dt" sz="half" idx="10"/>
          </p:nvPr>
        </p:nvSpPr>
        <p:spPr/>
        <p:txBody>
          <a:bodyPr/>
          <a:lstStyle/>
          <a:p>
            <a:fld id="{622E4494-01C6-4D0A-853C-7EA0678CA860}" type="datetimeFigureOut">
              <a:rPr lang="en-US" smtClean="0"/>
              <a:t>10/21/2026</a:t>
            </a:fld>
            <a:endParaRPr lang="en-US"/>
          </a:p>
        </p:txBody>
      </p:sp>
      <p:sp>
        <p:nvSpPr>
          <p:cNvPr id="3" name="Footer Placeholder 2">
            <a:extLst>
              <a:ext uri="{FF2B5EF4-FFF2-40B4-BE49-F238E27FC236}">
                <a16:creationId xmlns:a16="http://schemas.microsoft.com/office/drawing/2014/main" id="{EF648F61-B49C-A59A-2857-DDD4B5FC05D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18D1D1-CDCE-1A7B-4E78-C473C8F4F8E6}"/>
              </a:ext>
            </a:extLst>
          </p:cNvPr>
          <p:cNvSpPr>
            <a:spLocks noGrp="1"/>
          </p:cNvSpPr>
          <p:nvPr>
            <p:ph type="sldNum" sz="quarter" idx="12"/>
          </p:nvPr>
        </p:nvSpPr>
        <p:spPr/>
        <p:txBody>
          <a:bodyPr/>
          <a:lstStyle/>
          <a:p>
            <a:fld id="{6C488A89-42C4-4E78-A40D-8C82B04BB7C1}" type="slidenum">
              <a:rPr lang="en-US" smtClean="0"/>
              <a:t>‹#›</a:t>
            </a:fld>
            <a:endParaRPr lang="en-US"/>
          </a:p>
        </p:txBody>
      </p:sp>
    </p:spTree>
    <p:extLst>
      <p:ext uri="{BB962C8B-B14F-4D97-AF65-F5344CB8AC3E}">
        <p14:creationId xmlns:p14="http://schemas.microsoft.com/office/powerpoint/2010/main" val="316475884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6353FC-C0EC-C56E-828D-7D9E7ACAB9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CB46E2-04E0-A5D0-FA4B-8C62B08FA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9217CB-A321-6473-781B-C006D416FB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2E4494-01C6-4D0A-853C-7EA0678CA860}" type="datetimeFigureOut">
              <a:rPr lang="en-US" smtClean="0"/>
              <a:t>10/21/2026</a:t>
            </a:fld>
            <a:endParaRPr lang="en-US"/>
          </a:p>
        </p:txBody>
      </p:sp>
      <p:sp>
        <p:nvSpPr>
          <p:cNvPr id="5" name="Footer Placeholder 4">
            <a:extLst>
              <a:ext uri="{FF2B5EF4-FFF2-40B4-BE49-F238E27FC236}">
                <a16:creationId xmlns:a16="http://schemas.microsoft.com/office/drawing/2014/main" id="{0F5361DA-9B6F-2390-B31B-46BC1F1BCA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C02B682-935D-D25B-97A0-CEA7D25A61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C488A89-42C4-4E78-A40D-8C82B04BB7C1}" type="slidenum">
              <a:rPr lang="en-US" smtClean="0"/>
              <a:t>‹#›</a:t>
            </a:fld>
            <a:endParaRPr lang="en-US"/>
          </a:p>
        </p:txBody>
      </p:sp>
    </p:spTree>
    <p:extLst>
      <p:ext uri="{BB962C8B-B14F-4D97-AF65-F5344CB8AC3E}">
        <p14:creationId xmlns:p14="http://schemas.microsoft.com/office/powerpoint/2010/main" val="3898723639"/>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5446BB-B5D3-6D70-5953-7C85CB5B9B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6D8558A-F849-B316-8D2A-EBDE9F0789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0951B-81BA-B5A0-703F-92BD2CFB44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B5333D-D0B5-9F16-2DD9-B66F4F79401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A9C929-398B-AE14-DD1E-E9ACA5E65FC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49FBDF-BAEC-3190-82DB-7D96936EC7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BA0963-A66C-A76F-0804-612B27D36CE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EA75DA-C889-DF9F-6D30-45C09AF0B5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E4FB0A-E363-E42E-37A4-C246D7F296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94108A-C8A1-FF5A-D798-647D566BACF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4570E0-78D7-8F2B-7BDF-8897EFD660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842FC5-C2E0-6FFC-0FCC-FF404F0A35A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0B4044C-131E-9461-2B79-95887741C48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496626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3703</Words>
  <Application>Microsoft Office PowerPoint</Application>
  <PresentationFormat>寬螢幕</PresentationFormat>
  <Paragraphs>268</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2026-09-27T02:36:41Z</dcterms:created>
  <dcterms:modified xsi:type="dcterms:W3CDTF">2026-10-21T02:51:41Z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2026-09-27T10:56:45Z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6e450c6b-0f26-46c7-8f8c-9b277d3c79aa</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