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8E68AD-20FF-4619-95BB-1205366A99CA}" v="14" dt="2026-09-13T14:26:33.3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1652"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13T14:26:48.917" v="78" actId="166"/>
      <pc:docMkLst>
        <pc:docMk/>
      </pc:docMkLst>
      <pc:sldChg chg="addSp delSp modSp mod modAnim modNotesTx">
        <pc:chgData name="Lai, Wilson" userId="2840974a-0d84-4886-90a9-9a3ed79f3a48" providerId="ADAL" clId="{9F23B798-9E84-4552-BA63-E776E805C424}" dt="2026-09-13T14:26:48.917" v="78" actId="166"/>
        <pc:sldMkLst>
          <pc:docMk/>
          <pc:sldMk cId="0" sldId="257"/>
        </pc:sldMkLst>
        <pc:spChg chg="add mod">
          <ac:chgData name="Lai, Wilson" userId="2840974a-0d84-4886-90a9-9a3ed79f3a48" providerId="ADAL" clId="{9F23B798-9E84-4552-BA63-E776E805C424}" dt="2026-09-12T07:05:51.870" v="43" actId="164"/>
          <ac:spMkLst>
            <pc:docMk/>
            <pc:sldMk cId="0" sldId="257"/>
            <ac:spMk id="5" creationId="{63D6FB42-A657-A234-198D-707611361DB8}"/>
          </ac:spMkLst>
        </pc:spChg>
        <pc:grpChg chg="add mod">
          <ac:chgData name="Lai, Wilson" userId="2840974a-0d84-4886-90a9-9a3ed79f3a48" providerId="ADAL" clId="{9F23B798-9E84-4552-BA63-E776E805C424}" dt="2026-09-12T07:05:51.870" v="43" actId="164"/>
          <ac:grpSpMkLst>
            <pc:docMk/>
            <pc:sldMk cId="0" sldId="257"/>
            <ac:grpSpMk id="6" creationId="{436EE68A-C9F6-D04B-D30C-313588B36284}"/>
          </ac:grpSpMkLst>
        </pc:grpChg>
        <pc:picChg chg="del">
          <ac:chgData name="Lai, Wilson" userId="2840974a-0d84-4886-90a9-9a3ed79f3a48" providerId="ADAL" clId="{9F23B798-9E84-4552-BA63-E776E805C424}" dt="2026-09-12T06:47:25.113" v="0" actId="21"/>
          <ac:picMkLst>
            <pc:docMk/>
            <pc:sldMk cId="0" sldId="257"/>
            <ac:picMk id="2" creationId="{00000000-0000-0000-0000-000000000000}"/>
          </ac:picMkLst>
        </pc:picChg>
        <pc:picChg chg="add mod">
          <ac:chgData name="Lai, Wilson" userId="2840974a-0d84-4886-90a9-9a3ed79f3a48" providerId="ADAL" clId="{9F23B798-9E84-4552-BA63-E776E805C424}" dt="2026-09-12T07:05:51.870" v="43" actId="164"/>
          <ac:picMkLst>
            <pc:docMk/>
            <pc:sldMk cId="0" sldId="257"/>
            <ac:picMk id="2" creationId="{CE3F81DC-DB92-1BCB-915A-2D668F8784B4}"/>
          </ac:picMkLst>
        </pc:picChg>
        <pc:picChg chg="add ord">
          <ac:chgData name="Lai, Wilson" userId="2840974a-0d84-4886-90a9-9a3ed79f3a48" providerId="ADAL" clId="{9F23B798-9E84-4552-BA63-E776E805C424}" dt="2026-09-13T14:26:48.917" v="78" actId="166"/>
          <ac:picMkLst>
            <pc:docMk/>
            <pc:sldMk cId="0" sldId="257"/>
            <ac:picMk id="4" creationId="{3052FC1B-FCB8-09A7-A397-AD1967F02F9A}"/>
          </ac:picMkLst>
        </pc:picChg>
      </pc:sldChg>
      <pc:sldChg chg="addSp delSp mod">
        <pc:chgData name="Lai, Wilson" userId="2840974a-0d84-4886-90a9-9a3ed79f3a48" providerId="ADAL" clId="{9F23B798-9E84-4552-BA63-E776E805C424}" dt="2026-09-12T06:50:58.102" v="5" actId="22"/>
        <pc:sldMkLst>
          <pc:docMk/>
          <pc:sldMk cId="0" sldId="258"/>
        </pc:sldMkLst>
        <pc:picChg chg="del">
          <ac:chgData name="Lai, Wilson" userId="2840974a-0d84-4886-90a9-9a3ed79f3a48" providerId="ADAL" clId="{9F23B798-9E84-4552-BA63-E776E805C424}" dt="2026-09-12T06:50:49.578" v="4" actId="21"/>
          <ac:picMkLst>
            <pc:docMk/>
            <pc:sldMk cId="0" sldId="258"/>
            <ac:picMk id="2" creationId="{00000000-0000-0000-0000-000000000000}"/>
          </ac:picMkLst>
        </pc:picChg>
        <pc:picChg chg="add">
          <ac:chgData name="Lai, Wilson" userId="2840974a-0d84-4886-90a9-9a3ed79f3a48" providerId="ADAL" clId="{9F23B798-9E84-4552-BA63-E776E805C424}" dt="2026-09-12T06:50:58.102" v="5" actId="22"/>
          <ac:picMkLst>
            <pc:docMk/>
            <pc:sldMk cId="0" sldId="258"/>
            <ac:picMk id="4" creationId="{47248547-08A2-A195-CA3A-0DC2EC2FAFBF}"/>
          </ac:picMkLst>
        </pc:picChg>
      </pc:sldChg>
      <pc:sldChg chg="addSp delSp mod">
        <pc:chgData name="Lai, Wilson" userId="2840974a-0d84-4886-90a9-9a3ed79f3a48" providerId="ADAL" clId="{9F23B798-9E84-4552-BA63-E776E805C424}" dt="2026-09-12T06:51:09.244" v="7" actId="22"/>
        <pc:sldMkLst>
          <pc:docMk/>
          <pc:sldMk cId="0" sldId="259"/>
        </pc:sldMkLst>
        <pc:picChg chg="del">
          <ac:chgData name="Lai, Wilson" userId="2840974a-0d84-4886-90a9-9a3ed79f3a48" providerId="ADAL" clId="{9F23B798-9E84-4552-BA63-E776E805C424}" dt="2026-09-12T06:50:59.724" v="6" actId="21"/>
          <ac:picMkLst>
            <pc:docMk/>
            <pc:sldMk cId="0" sldId="259"/>
            <ac:picMk id="2" creationId="{00000000-0000-0000-0000-000000000000}"/>
          </ac:picMkLst>
        </pc:picChg>
        <pc:picChg chg="add">
          <ac:chgData name="Lai, Wilson" userId="2840974a-0d84-4886-90a9-9a3ed79f3a48" providerId="ADAL" clId="{9F23B798-9E84-4552-BA63-E776E805C424}" dt="2026-09-12T06:51:09.244" v="7" actId="22"/>
          <ac:picMkLst>
            <pc:docMk/>
            <pc:sldMk cId="0" sldId="259"/>
            <ac:picMk id="4" creationId="{0A8159EF-A9AC-8060-804A-60DC43468239}"/>
          </ac:picMkLst>
        </pc:picChg>
      </pc:sldChg>
      <pc:sldChg chg="addSp delSp mod">
        <pc:chgData name="Lai, Wilson" userId="2840974a-0d84-4886-90a9-9a3ed79f3a48" providerId="ADAL" clId="{9F23B798-9E84-4552-BA63-E776E805C424}" dt="2026-09-12T06:51:21.156" v="9" actId="22"/>
        <pc:sldMkLst>
          <pc:docMk/>
          <pc:sldMk cId="0" sldId="260"/>
        </pc:sldMkLst>
        <pc:picChg chg="del">
          <ac:chgData name="Lai, Wilson" userId="2840974a-0d84-4886-90a9-9a3ed79f3a48" providerId="ADAL" clId="{9F23B798-9E84-4552-BA63-E776E805C424}" dt="2026-09-12T06:51:14.333" v="8" actId="21"/>
          <ac:picMkLst>
            <pc:docMk/>
            <pc:sldMk cId="0" sldId="260"/>
            <ac:picMk id="2" creationId="{00000000-0000-0000-0000-000000000000}"/>
          </ac:picMkLst>
        </pc:picChg>
        <pc:picChg chg="add">
          <ac:chgData name="Lai, Wilson" userId="2840974a-0d84-4886-90a9-9a3ed79f3a48" providerId="ADAL" clId="{9F23B798-9E84-4552-BA63-E776E805C424}" dt="2026-09-12T06:51:21.156" v="9" actId="22"/>
          <ac:picMkLst>
            <pc:docMk/>
            <pc:sldMk cId="0" sldId="260"/>
            <ac:picMk id="4" creationId="{29183278-ADB7-7CA9-6995-2AD836413A9A}"/>
          </ac:picMkLst>
        </pc:picChg>
      </pc:sldChg>
      <pc:sldChg chg="addSp delSp mod modNotesTx">
        <pc:chgData name="Lai, Wilson" userId="2840974a-0d84-4886-90a9-9a3ed79f3a48" providerId="ADAL" clId="{9F23B798-9E84-4552-BA63-E776E805C424}" dt="2026-09-13T14:24:37.428" v="55" actId="14"/>
        <pc:sldMkLst>
          <pc:docMk/>
          <pc:sldMk cId="0" sldId="261"/>
        </pc:sldMkLst>
        <pc:picChg chg="del">
          <ac:chgData name="Lai, Wilson" userId="2840974a-0d84-4886-90a9-9a3ed79f3a48" providerId="ADAL" clId="{9F23B798-9E84-4552-BA63-E776E805C424}" dt="2026-09-12T06:51:24.309" v="10" actId="21"/>
          <ac:picMkLst>
            <pc:docMk/>
            <pc:sldMk cId="0" sldId="261"/>
            <ac:picMk id="2" creationId="{00000000-0000-0000-0000-000000000000}"/>
          </ac:picMkLst>
        </pc:picChg>
        <pc:picChg chg="add">
          <ac:chgData name="Lai, Wilson" userId="2840974a-0d84-4886-90a9-9a3ed79f3a48" providerId="ADAL" clId="{9F23B798-9E84-4552-BA63-E776E805C424}" dt="2026-09-12T06:51:31.617" v="11" actId="22"/>
          <ac:picMkLst>
            <pc:docMk/>
            <pc:sldMk cId="0" sldId="261"/>
            <ac:picMk id="4" creationId="{15016324-2DE6-3C87-A5A3-1DDB30FA659E}"/>
          </ac:picMkLst>
        </pc:picChg>
      </pc:sldChg>
      <pc:sldChg chg="addSp delSp mod">
        <pc:chgData name="Lai, Wilson" userId="2840974a-0d84-4886-90a9-9a3ed79f3a48" providerId="ADAL" clId="{9F23B798-9E84-4552-BA63-E776E805C424}" dt="2026-09-12T06:51:40.510" v="13" actId="22"/>
        <pc:sldMkLst>
          <pc:docMk/>
          <pc:sldMk cId="0" sldId="262"/>
        </pc:sldMkLst>
        <pc:picChg chg="del">
          <ac:chgData name="Lai, Wilson" userId="2840974a-0d84-4886-90a9-9a3ed79f3a48" providerId="ADAL" clId="{9F23B798-9E84-4552-BA63-E776E805C424}" dt="2026-09-12T06:51:33.011" v="12" actId="21"/>
          <ac:picMkLst>
            <pc:docMk/>
            <pc:sldMk cId="0" sldId="262"/>
            <ac:picMk id="2" creationId="{00000000-0000-0000-0000-000000000000}"/>
          </ac:picMkLst>
        </pc:picChg>
        <pc:picChg chg="add">
          <ac:chgData name="Lai, Wilson" userId="2840974a-0d84-4886-90a9-9a3ed79f3a48" providerId="ADAL" clId="{9F23B798-9E84-4552-BA63-E776E805C424}" dt="2026-09-12T06:51:40.510" v="13" actId="22"/>
          <ac:picMkLst>
            <pc:docMk/>
            <pc:sldMk cId="0" sldId="262"/>
            <ac:picMk id="4" creationId="{BC8E87D9-86D3-1D9E-6BCC-5040587BFC54}"/>
          </ac:picMkLst>
        </pc:picChg>
      </pc:sldChg>
      <pc:sldChg chg="addSp delSp mod modNotesTx">
        <pc:chgData name="Lai, Wilson" userId="2840974a-0d84-4886-90a9-9a3ed79f3a48" providerId="ADAL" clId="{9F23B798-9E84-4552-BA63-E776E805C424}" dt="2026-09-13T14:25:03.855" v="60" actId="14"/>
        <pc:sldMkLst>
          <pc:docMk/>
          <pc:sldMk cId="0" sldId="263"/>
        </pc:sldMkLst>
        <pc:picChg chg="del">
          <ac:chgData name="Lai, Wilson" userId="2840974a-0d84-4886-90a9-9a3ed79f3a48" providerId="ADAL" clId="{9F23B798-9E84-4552-BA63-E776E805C424}" dt="2026-09-12T06:51:42.113" v="14" actId="21"/>
          <ac:picMkLst>
            <pc:docMk/>
            <pc:sldMk cId="0" sldId="263"/>
            <ac:picMk id="2" creationId="{00000000-0000-0000-0000-000000000000}"/>
          </ac:picMkLst>
        </pc:picChg>
        <pc:picChg chg="add">
          <ac:chgData name="Lai, Wilson" userId="2840974a-0d84-4886-90a9-9a3ed79f3a48" providerId="ADAL" clId="{9F23B798-9E84-4552-BA63-E776E805C424}" dt="2026-09-12T06:51:50.647" v="15" actId="22"/>
          <ac:picMkLst>
            <pc:docMk/>
            <pc:sldMk cId="0" sldId="263"/>
            <ac:picMk id="4" creationId="{523D9F8B-65E5-2B34-6307-4DC8144A0389}"/>
          </ac:picMkLst>
        </pc:picChg>
      </pc:sldChg>
      <pc:sldChg chg="addSp delSp mod modNotesTx">
        <pc:chgData name="Lai, Wilson" userId="2840974a-0d84-4886-90a9-9a3ed79f3a48" providerId="ADAL" clId="{9F23B798-9E84-4552-BA63-E776E805C424}" dt="2026-09-13T14:25:19.548" v="62" actId="12"/>
        <pc:sldMkLst>
          <pc:docMk/>
          <pc:sldMk cId="0" sldId="264"/>
        </pc:sldMkLst>
        <pc:picChg chg="del">
          <ac:chgData name="Lai, Wilson" userId="2840974a-0d84-4886-90a9-9a3ed79f3a48" providerId="ADAL" clId="{9F23B798-9E84-4552-BA63-E776E805C424}" dt="2026-09-12T06:51:52.169" v="16" actId="21"/>
          <ac:picMkLst>
            <pc:docMk/>
            <pc:sldMk cId="0" sldId="264"/>
            <ac:picMk id="2" creationId="{00000000-0000-0000-0000-000000000000}"/>
          </ac:picMkLst>
        </pc:picChg>
        <pc:picChg chg="add">
          <ac:chgData name="Lai, Wilson" userId="2840974a-0d84-4886-90a9-9a3ed79f3a48" providerId="ADAL" clId="{9F23B798-9E84-4552-BA63-E776E805C424}" dt="2026-09-12T06:52:02.972" v="17" actId="22"/>
          <ac:picMkLst>
            <pc:docMk/>
            <pc:sldMk cId="0" sldId="264"/>
            <ac:picMk id="4" creationId="{AB8BECC9-402C-7B94-B91D-83CFA8775179}"/>
          </ac:picMkLst>
        </pc:picChg>
      </pc:sldChg>
      <pc:sldChg chg="addSp delSp mod modNotesTx">
        <pc:chgData name="Lai, Wilson" userId="2840974a-0d84-4886-90a9-9a3ed79f3a48" providerId="ADAL" clId="{9F23B798-9E84-4552-BA63-E776E805C424}" dt="2026-09-13T14:25:29.530" v="64" actId="14"/>
        <pc:sldMkLst>
          <pc:docMk/>
          <pc:sldMk cId="0" sldId="265"/>
        </pc:sldMkLst>
        <pc:picChg chg="del">
          <ac:chgData name="Lai, Wilson" userId="2840974a-0d84-4886-90a9-9a3ed79f3a48" providerId="ADAL" clId="{9F23B798-9E84-4552-BA63-E776E805C424}" dt="2026-09-12T06:52:05.170" v="18" actId="21"/>
          <ac:picMkLst>
            <pc:docMk/>
            <pc:sldMk cId="0" sldId="265"/>
            <ac:picMk id="2" creationId="{00000000-0000-0000-0000-000000000000}"/>
          </ac:picMkLst>
        </pc:picChg>
        <pc:picChg chg="add">
          <ac:chgData name="Lai, Wilson" userId="2840974a-0d84-4886-90a9-9a3ed79f3a48" providerId="ADAL" clId="{9F23B798-9E84-4552-BA63-E776E805C424}" dt="2026-09-12T06:52:13.156" v="19" actId="22"/>
          <ac:picMkLst>
            <pc:docMk/>
            <pc:sldMk cId="0" sldId="265"/>
            <ac:picMk id="4" creationId="{F8C9874E-F09C-264C-A47D-A5336897DCF5}"/>
          </ac:picMkLst>
        </pc:picChg>
      </pc:sldChg>
      <pc:sldChg chg="addSp delSp mod modNotesTx">
        <pc:chgData name="Lai, Wilson" userId="2840974a-0d84-4886-90a9-9a3ed79f3a48" providerId="ADAL" clId="{9F23B798-9E84-4552-BA63-E776E805C424}" dt="2026-09-13T14:25:45.936" v="68" actId="14"/>
        <pc:sldMkLst>
          <pc:docMk/>
          <pc:sldMk cId="0" sldId="266"/>
        </pc:sldMkLst>
        <pc:picChg chg="del">
          <ac:chgData name="Lai, Wilson" userId="2840974a-0d84-4886-90a9-9a3ed79f3a48" providerId="ADAL" clId="{9F23B798-9E84-4552-BA63-E776E805C424}" dt="2026-09-12T06:52:17.992" v="20" actId="21"/>
          <ac:picMkLst>
            <pc:docMk/>
            <pc:sldMk cId="0" sldId="266"/>
            <ac:picMk id="2" creationId="{00000000-0000-0000-0000-000000000000}"/>
          </ac:picMkLst>
        </pc:picChg>
        <pc:picChg chg="add">
          <ac:chgData name="Lai, Wilson" userId="2840974a-0d84-4886-90a9-9a3ed79f3a48" providerId="ADAL" clId="{9F23B798-9E84-4552-BA63-E776E805C424}" dt="2026-09-12T06:52:28.419" v="21" actId="22"/>
          <ac:picMkLst>
            <pc:docMk/>
            <pc:sldMk cId="0" sldId="266"/>
            <ac:picMk id="4" creationId="{9B41709C-48C1-F7C6-8C77-781B70657786}"/>
          </ac:picMkLst>
        </pc:picChg>
      </pc:sldChg>
      <pc:sldChg chg="addSp delSp mod modNotesTx">
        <pc:chgData name="Lai, Wilson" userId="2840974a-0d84-4886-90a9-9a3ed79f3a48" providerId="ADAL" clId="{9F23B798-9E84-4552-BA63-E776E805C424}" dt="2026-09-13T14:26:05.178" v="72" actId="14"/>
        <pc:sldMkLst>
          <pc:docMk/>
          <pc:sldMk cId="0" sldId="267"/>
        </pc:sldMkLst>
        <pc:picChg chg="del">
          <ac:chgData name="Lai, Wilson" userId="2840974a-0d84-4886-90a9-9a3ed79f3a48" providerId="ADAL" clId="{9F23B798-9E84-4552-BA63-E776E805C424}" dt="2026-09-12T06:52:29.917" v="22" actId="21"/>
          <ac:picMkLst>
            <pc:docMk/>
            <pc:sldMk cId="0" sldId="267"/>
            <ac:picMk id="2" creationId="{00000000-0000-0000-0000-000000000000}"/>
          </ac:picMkLst>
        </pc:picChg>
        <pc:picChg chg="add">
          <ac:chgData name="Lai, Wilson" userId="2840974a-0d84-4886-90a9-9a3ed79f3a48" providerId="ADAL" clId="{9F23B798-9E84-4552-BA63-E776E805C424}" dt="2026-09-12T06:52:38.481" v="23" actId="22"/>
          <ac:picMkLst>
            <pc:docMk/>
            <pc:sldMk cId="0" sldId="267"/>
            <ac:picMk id="4" creationId="{9470136C-B14E-CA9F-208E-61190736F865}"/>
          </ac:picMkLst>
        </pc:picChg>
      </pc:sldChg>
      <pc:sldChg chg="addSp delSp mod modNotesTx">
        <pc:chgData name="Lai, Wilson" userId="2840974a-0d84-4886-90a9-9a3ed79f3a48" providerId="ADAL" clId="{9F23B798-9E84-4552-BA63-E776E805C424}" dt="2026-09-13T14:26:16.219" v="74" actId="14"/>
        <pc:sldMkLst>
          <pc:docMk/>
          <pc:sldMk cId="0" sldId="268"/>
        </pc:sldMkLst>
        <pc:picChg chg="del">
          <ac:chgData name="Lai, Wilson" userId="2840974a-0d84-4886-90a9-9a3ed79f3a48" providerId="ADAL" clId="{9F23B798-9E84-4552-BA63-E776E805C424}" dt="2026-09-12T06:52:41.079" v="24" actId="21"/>
          <ac:picMkLst>
            <pc:docMk/>
            <pc:sldMk cId="0" sldId="268"/>
            <ac:picMk id="2" creationId="{00000000-0000-0000-0000-000000000000}"/>
          </ac:picMkLst>
        </pc:picChg>
        <pc:picChg chg="add">
          <ac:chgData name="Lai, Wilson" userId="2840974a-0d84-4886-90a9-9a3ed79f3a48" providerId="ADAL" clId="{9F23B798-9E84-4552-BA63-E776E805C424}" dt="2026-09-12T06:52:50.869" v="25" actId="22"/>
          <ac:picMkLst>
            <pc:docMk/>
            <pc:sldMk cId="0" sldId="268"/>
            <ac:picMk id="4" creationId="{B2CAF8BE-1548-CD6A-A691-93955DCF4F2F}"/>
          </ac:picMkLst>
        </pc:picChg>
      </pc:sldChg>
      <pc:sldChg chg="addSp delSp mod">
        <pc:chgData name="Lai, Wilson" userId="2840974a-0d84-4886-90a9-9a3ed79f3a48" providerId="ADAL" clId="{9F23B798-9E84-4552-BA63-E776E805C424}" dt="2026-09-12T06:53:03.040" v="27" actId="22"/>
        <pc:sldMkLst>
          <pc:docMk/>
          <pc:sldMk cId="0" sldId="269"/>
        </pc:sldMkLst>
        <pc:picChg chg="del">
          <ac:chgData name="Lai, Wilson" userId="2840974a-0d84-4886-90a9-9a3ed79f3a48" providerId="ADAL" clId="{9F23B798-9E84-4552-BA63-E776E805C424}" dt="2026-09-12T06:52:53.453" v="26" actId="21"/>
          <ac:picMkLst>
            <pc:docMk/>
            <pc:sldMk cId="0" sldId="269"/>
            <ac:picMk id="2" creationId="{00000000-0000-0000-0000-000000000000}"/>
          </ac:picMkLst>
        </pc:picChg>
        <pc:picChg chg="add">
          <ac:chgData name="Lai, Wilson" userId="2840974a-0d84-4886-90a9-9a3ed79f3a48" providerId="ADAL" clId="{9F23B798-9E84-4552-BA63-E776E805C424}" dt="2026-09-12T06:53:03.040" v="27" actId="22"/>
          <ac:picMkLst>
            <pc:docMk/>
            <pc:sldMk cId="0" sldId="269"/>
            <ac:picMk id="4" creationId="{72FBFD97-64DF-21A7-C7A3-2E889F1D7E7B}"/>
          </ac:picMkLst>
        </pc:picChg>
      </pc:sldChg>
      <pc:sldChg chg="addSp delSp mod modNotesTx">
        <pc:chgData name="Lai, Wilson" userId="2840974a-0d84-4886-90a9-9a3ed79f3a48" providerId="ADAL" clId="{9F23B798-9E84-4552-BA63-E776E805C424}" dt="2026-09-13T14:26:37.177" v="76" actId="14"/>
        <pc:sldMkLst>
          <pc:docMk/>
          <pc:sldMk cId="3630851424" sldId="270"/>
        </pc:sldMkLst>
        <pc:picChg chg="del">
          <ac:chgData name="Lai, Wilson" userId="2840974a-0d84-4886-90a9-9a3ed79f3a48" providerId="ADAL" clId="{9F23B798-9E84-4552-BA63-E776E805C424}" dt="2026-09-12T06:47:43.974" v="2" actId="21"/>
          <ac:picMkLst>
            <pc:docMk/>
            <pc:sldMk cId="3630851424" sldId="270"/>
            <ac:picMk id="3" creationId="{B5085AC4-F79C-AD31-CAB1-A9BFF27222B5}"/>
          </ac:picMkLst>
        </pc:picChg>
        <pc:picChg chg="add">
          <ac:chgData name="Lai, Wilson" userId="2840974a-0d84-4886-90a9-9a3ed79f3a48" providerId="ADAL" clId="{9F23B798-9E84-4552-BA63-E776E805C424}" dt="2026-09-12T06:50:42.182" v="3" actId="22"/>
          <ac:picMkLst>
            <pc:docMk/>
            <pc:sldMk cId="3630851424" sldId="270"/>
            <ac:picMk id="4" creationId="{21B63649-3F43-047E-0DAB-0417B1BA91AD}"/>
          </ac:picMkLst>
        </pc:picChg>
      </pc:sldChg>
      <pc:sldMasterChg chg="setBg">
        <pc:chgData name="Lai, Wilson" userId="2840974a-0d84-4886-90a9-9a3ed79f3a48" providerId="ADAL" clId="{9F23B798-9E84-4552-BA63-E776E805C424}" dt="2026-09-12T07:06:47.150" v="44"/>
        <pc:sldMasterMkLst>
          <pc:docMk/>
          <pc:sldMasterMk cId="74696842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67D63A-C4EB-429A-8041-BD89E595287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E3A2F9-C32F-48BA-8374-5C43DDADDF65}" type="slidenum">
              <a:rPr lang="en-US" smtClean="0"/>
              <a:t>‹#›</a:t>
            </a:fld>
            <a:endParaRPr lang="en-US"/>
          </a:p>
        </p:txBody>
      </p:sp>
    </p:spTree>
    <p:extLst>
      <p:ext uri="{BB962C8B-B14F-4D97-AF65-F5344CB8AC3E}">
        <p14:creationId xmlns:p14="http://schemas.microsoft.com/office/powerpoint/2010/main" val="113284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Hook:</a:t>
            </a:r>
            <a:r>
              <a:rPr lang="en-US" dirty="0"/>
              <a:t> Welcome, everyone. Today we’re going to discuss how to navigate career strategy, vibe coding, and the massive structural bifurcation taking place in AI.</a:t>
            </a:r>
          </a:p>
          <a:p>
            <a:pPr lvl="0"/>
            <a:r>
              <a:rPr lang="en-US" b="1" dirty="0"/>
              <a:t>The Core Thesis:</a:t>
            </a:r>
            <a:r>
              <a:rPr lang="en-US" dirty="0"/>
              <a:t> We live in an era where AI is moving so fast that distinguishing true </a:t>
            </a:r>
            <a:r>
              <a:rPr lang="en-US" i="1" dirty="0"/>
              <a:t>signal</a:t>
            </a:r>
            <a:r>
              <a:rPr lang="en-US" dirty="0"/>
              <a:t> (actionable, high-impact strategies) from </a:t>
            </a:r>
            <a:r>
              <a:rPr lang="en-US" i="1" dirty="0"/>
              <a:t>noise</a:t>
            </a:r>
            <a:r>
              <a:rPr lang="en-US" dirty="0"/>
              <a:t> (social media hype, short-term trends) is the single most critical superpower for tech leaders and engineers.</a:t>
            </a:r>
          </a:p>
          <a:p>
            <a:pPr lvl="0"/>
            <a:r>
              <a:rPr lang="en-US" b="1" dirty="0"/>
              <a:t>Overview of Today's Agenda:</a:t>
            </a:r>
            <a:r>
              <a:rPr lang="en-US" dirty="0"/>
              <a:t> Over the next hour, we’re going to cover:</a:t>
            </a:r>
          </a:p>
          <a:p>
            <a:pPr marL="228600" lvl="0" indent="-228600">
              <a:buFont typeface="+mj-lt"/>
              <a:buAutoNum type="arabicPeriod"/>
            </a:pPr>
            <a:r>
              <a:rPr lang="en-US" dirty="0"/>
              <a:t>How AI coding capability is shifting product development bottlenecks.</a:t>
            </a:r>
          </a:p>
          <a:p>
            <a:pPr marL="228600" lvl="0" indent="-228600">
              <a:buFont typeface="+mj-lt"/>
              <a:buAutoNum type="arabicPeriod"/>
            </a:pPr>
            <a:r>
              <a:rPr lang="en-US" dirty="0"/>
              <a:t>How to shift your focus from writing syntax to product specification and customer empathy.</a:t>
            </a:r>
          </a:p>
          <a:p>
            <a:pPr marL="228600" lvl="0" indent="-228600">
              <a:buFont typeface="+mj-lt"/>
              <a:buAutoNum type="arabicPeriod"/>
            </a:pPr>
            <a:r>
              <a:rPr lang="en-US" dirty="0"/>
              <a:t>The three pillars of the AI-era builder and how to avoid the "</a:t>
            </a:r>
            <a:r>
              <a:rPr lang="en-US" dirty="0" err="1"/>
              <a:t>Overhiring</a:t>
            </a:r>
            <a:r>
              <a:rPr lang="en-US" dirty="0"/>
              <a:t> Hangover."</a:t>
            </a:r>
          </a:p>
          <a:p>
            <a:pPr marL="228600" lvl="0" indent="-228600">
              <a:buFont typeface="+mj-lt"/>
              <a:buAutoNum type="arabicPeriod"/>
            </a:pPr>
            <a:r>
              <a:rPr lang="en-US" dirty="0"/>
              <a:t>Navigating technical debt in an era of AI code generation (Vibe Coding).</a:t>
            </a:r>
          </a:p>
          <a:p>
            <a:pPr marL="228600" lvl="0" indent="-228600">
              <a:buFont typeface="+mj-lt"/>
              <a:buAutoNum type="arabicPeriod"/>
            </a:pPr>
            <a:r>
              <a:rPr lang="en-US" dirty="0"/>
              <a:t>The bifurcation of AI: Cloud-hosted Big AI vs. Self-hosted/Open-weights Small AI.</a:t>
            </a:r>
          </a:p>
          <a:p>
            <a:pPr lvl="0"/>
            <a:r>
              <a:rPr lang="en-US" b="1" dirty="0"/>
              <a:t>Takeaway:</a:t>
            </a:r>
            <a:r>
              <a:rPr lang="en-US" dirty="0"/>
              <a:t> By the end of this talk, you will have a concrete framework to evaluate where to spend your engineering time, how to build career defensibility, and how to drive real bottom-line value.</a:t>
            </a:r>
          </a:p>
          <a:p>
            <a:endParaRPr lang="en-US" dirty="0"/>
          </a:p>
          <a:p>
            <a:endParaRPr lang="en-US" dirty="0"/>
          </a:p>
          <a:p>
            <a:r>
              <a:rPr lang="en-US" dirty="0"/>
              <a:t>https://www.youtube.com/watch?v=AVvDFsMUxf0</a:t>
            </a:r>
          </a:p>
        </p:txBody>
      </p:sp>
      <p:sp>
        <p:nvSpPr>
          <p:cNvPr id="4" name="Slide Number Placeholder 3"/>
          <p:cNvSpPr>
            <a:spLocks noGrp="1"/>
          </p:cNvSpPr>
          <p:nvPr>
            <p:ph type="sldNum" sz="quarter" idx="5"/>
          </p:nvPr>
        </p:nvSpPr>
        <p:spPr/>
        <p:txBody>
          <a:bodyPr/>
          <a:lstStyle/>
          <a:p>
            <a:fld id="{2CE3A2F9-C32F-48BA-8374-5C43DDADDF65}" type="slidenum">
              <a:rPr lang="en-US" smtClean="0"/>
              <a:t>1</a:t>
            </a:fld>
            <a:endParaRPr lang="en-US"/>
          </a:p>
        </p:txBody>
      </p:sp>
    </p:spTree>
    <p:extLst>
      <p:ext uri="{BB962C8B-B14F-4D97-AF65-F5344CB8AC3E}">
        <p14:creationId xmlns:p14="http://schemas.microsoft.com/office/powerpoint/2010/main" val="2075037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Exponential Curve:</a:t>
            </a:r>
            <a:r>
              <a:rPr lang="en-US" sz="1200" kern="1200" dirty="0">
                <a:solidFill>
                  <a:schemeClr val="tx1"/>
                </a:solidFill>
                <a:effectLst/>
                <a:latin typeface="+mn-lt"/>
                <a:ea typeface="+mn-ea"/>
                <a:cs typeface="+mn-cs"/>
              </a:rPr>
              <a:t> Look at the chart on this slide. Research tracking AI capabilities shows that the complexity of coding tasks AI can execute is doubling approximately every 70 days. </a:t>
            </a:r>
          </a:p>
          <a:p>
            <a:pPr lvl="0"/>
            <a:r>
              <a:rPr lang="en-US" sz="1200" b="1" kern="1200" dirty="0">
                <a:solidFill>
                  <a:schemeClr val="tx1"/>
                </a:solidFill>
                <a:effectLst/>
                <a:latin typeface="+mn-lt"/>
                <a:ea typeface="+mn-ea"/>
                <a:cs typeface="+mn-cs"/>
              </a:rPr>
              <a:t>Tooling Velocity:</a:t>
            </a:r>
            <a:r>
              <a:rPr lang="en-US" sz="1200" kern="1200" dirty="0">
                <a:solidFill>
                  <a:schemeClr val="tx1"/>
                </a:solidFill>
                <a:effectLst/>
                <a:latin typeface="+mn-lt"/>
                <a:ea typeface="+mn-ea"/>
                <a:cs typeface="+mn-cs"/>
              </a:rPr>
              <a:t> In practical terms, this means the tools available today—whether it's Claude Code, OpenAI Codex, or Gemini—are dramatically outperforming what was available just six months ago. Staying half a generation behind on your tooling stack translates directly into a massive productivity loss. </a:t>
            </a:r>
          </a:p>
          <a:p>
            <a:pPr lvl="0"/>
            <a:r>
              <a:rPr lang="en-US" sz="1200" b="1" kern="1200" dirty="0">
                <a:solidFill>
                  <a:schemeClr val="tx1"/>
                </a:solidFill>
                <a:effectLst/>
                <a:latin typeface="+mn-lt"/>
                <a:ea typeface="+mn-ea"/>
                <a:cs typeface="+mn-cs"/>
              </a:rPr>
              <a:t>The Fundamental Shift:</a:t>
            </a:r>
            <a:r>
              <a:rPr lang="en-US" sz="1200" kern="1200" dirty="0">
                <a:solidFill>
                  <a:schemeClr val="tx1"/>
                </a:solidFill>
                <a:effectLst/>
                <a:latin typeface="+mn-lt"/>
                <a:ea typeface="+mn-ea"/>
                <a:cs typeface="+mn-cs"/>
              </a:rPr>
              <a:t> Because software is now vastly cheaper and faster to generate, code itself is no longer the bottleneck. Writing raw syntax is becoming a commodity. </a:t>
            </a:r>
          </a:p>
          <a:p>
            <a:pPr lvl="0"/>
            <a:r>
              <a:rPr lang="en-US" sz="1200" b="1" kern="1200" dirty="0">
                <a:solidFill>
                  <a:schemeClr val="tx1"/>
                </a:solidFill>
                <a:effectLst/>
                <a:latin typeface="+mn-lt"/>
                <a:ea typeface="+mn-ea"/>
                <a:cs typeface="+mn-cs"/>
              </a:rPr>
              <a:t>The New Bottleneck:</a:t>
            </a:r>
            <a:r>
              <a:rPr lang="en-US" sz="1200" kern="1200" dirty="0">
                <a:solidFill>
                  <a:schemeClr val="tx1"/>
                </a:solidFill>
                <a:effectLst/>
                <a:latin typeface="+mn-lt"/>
                <a:ea typeface="+mn-ea"/>
                <a:cs typeface="+mn-cs"/>
              </a:rPr>
              <a:t> The true friction in building modern software has shifted from </a:t>
            </a:r>
            <a:r>
              <a:rPr lang="en-US" sz="1200" i="1" kern="1200" dirty="0">
                <a:solidFill>
                  <a:schemeClr val="tx1"/>
                </a:solidFill>
                <a:effectLst/>
                <a:latin typeface="+mn-lt"/>
                <a:ea typeface="+mn-ea"/>
                <a:cs typeface="+mn-cs"/>
              </a:rPr>
              <a:t>how to code it</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deciding exactly what to build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Transition to Next Slide:</a:t>
            </a:r>
            <a:r>
              <a:rPr lang="en-US" sz="1200" kern="1200" dirty="0">
                <a:solidFill>
                  <a:schemeClr val="tx1"/>
                </a:solidFill>
                <a:effectLst/>
                <a:latin typeface="+mn-lt"/>
                <a:ea typeface="+mn-ea"/>
                <a:cs typeface="+mn-cs"/>
              </a:rPr>
              <a:t> This change fundamentally rewrites the traditional roles within software engineering and product management.</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2</a:t>
            </a:fld>
            <a:endParaRPr lang="en-US"/>
          </a:p>
        </p:txBody>
      </p:sp>
    </p:spTree>
    <p:extLst>
      <p:ext uri="{BB962C8B-B14F-4D97-AF65-F5344CB8AC3E}">
        <p14:creationId xmlns:p14="http://schemas.microsoft.com/office/powerpoint/2010/main" val="3272446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vs. AI-Era Ratios:</a:t>
            </a:r>
            <a:r>
              <a:rPr lang="en-US" sz="1200" kern="1200" dirty="0">
                <a:solidFill>
                  <a:schemeClr val="tx1"/>
                </a:solidFill>
                <a:effectLst/>
                <a:latin typeface="+mn-lt"/>
                <a:ea typeface="+mn-ea"/>
                <a:cs typeface="+mn-cs"/>
              </a:rPr>
              <a:t> Historically, tech companies operated at an 8:1 (or 5:1) Engineer-to-Product Manager ratio. You had eight engineers translating specs written by a PM into code. </a:t>
            </a:r>
          </a:p>
          <a:p>
            <a:pPr lvl="0"/>
            <a:r>
              <a:rPr lang="en-US" sz="1200" b="1" kern="1200" dirty="0">
                <a:solidFill>
                  <a:schemeClr val="tx1"/>
                </a:solidFill>
                <a:effectLst/>
                <a:latin typeface="+mn-lt"/>
                <a:ea typeface="+mn-ea"/>
                <a:cs typeface="+mn-cs"/>
              </a:rPr>
              <a:t>The New Reality (1:1 Ratio):</a:t>
            </a:r>
            <a:r>
              <a:rPr lang="en-US" sz="1200" kern="1200" dirty="0">
                <a:solidFill>
                  <a:schemeClr val="tx1"/>
                </a:solidFill>
                <a:effectLst/>
                <a:latin typeface="+mn-lt"/>
                <a:ea typeface="+mn-ea"/>
                <a:cs typeface="+mn-cs"/>
              </a:rPr>
              <a:t> In the AI era, that ratio is collapsing toward 1:1 or 2:1. Why? Because AI can handle the syntax generation, allowing individual developers to quickly prototype and iterate. </a:t>
            </a:r>
          </a:p>
          <a:p>
            <a:pPr lvl="0"/>
            <a:r>
              <a:rPr lang="en-US" sz="1200" b="1" kern="1200" dirty="0">
                <a:solidFill>
                  <a:schemeClr val="tx1"/>
                </a:solidFill>
                <a:effectLst/>
                <a:latin typeface="+mn-lt"/>
                <a:ea typeface="+mn-ea"/>
                <a:cs typeface="+mn-cs"/>
              </a:rPr>
              <a:t>Collapsing the Boundary:</a:t>
            </a:r>
            <a:r>
              <a:rPr lang="en-US" sz="1200" kern="1200" dirty="0">
                <a:solidFill>
                  <a:schemeClr val="tx1"/>
                </a:solidFill>
                <a:effectLst/>
                <a:latin typeface="+mn-lt"/>
                <a:ea typeface="+mn-ea"/>
                <a:cs typeface="+mn-cs"/>
              </a:rPr>
              <a:t> The most valuable builders in today's market are engineers who develop deep customer empathy and collapse the traditional boundary between Product Manager and Engineer into a single workflow. </a:t>
            </a:r>
          </a:p>
          <a:p>
            <a:pPr lvl="0"/>
            <a:r>
              <a:rPr lang="en-US" sz="1200" b="1" kern="1200" dirty="0">
                <a:solidFill>
                  <a:schemeClr val="tx1"/>
                </a:solidFill>
                <a:effectLst/>
                <a:latin typeface="+mn-lt"/>
                <a:ea typeface="+mn-ea"/>
                <a:cs typeface="+mn-cs"/>
              </a:rPr>
              <a:t>Execution Velocity:</a:t>
            </a:r>
            <a:r>
              <a:rPr lang="en-US" sz="1200" kern="1200" dirty="0">
                <a:solidFill>
                  <a:schemeClr val="tx1"/>
                </a:solidFill>
                <a:effectLst/>
                <a:latin typeface="+mn-lt"/>
                <a:ea typeface="+mn-ea"/>
                <a:cs typeface="+mn-cs"/>
              </a:rPr>
              <a:t> When an engineer can talk directly to users, understand business intent, and immediately translate that intent into working code without waiting for handoffs or long spec documents, execution velocity skyrockets.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Don't just sit back and wait for specs. Develop product intuition, speak to users, and leverage AI to build fast end-to-end solutions.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3</a:t>
            </a:fld>
            <a:endParaRPr lang="en-US"/>
          </a:p>
        </p:txBody>
      </p:sp>
    </p:spTree>
    <p:extLst>
      <p:ext uri="{BB962C8B-B14F-4D97-AF65-F5344CB8AC3E}">
        <p14:creationId xmlns:p14="http://schemas.microsoft.com/office/powerpoint/2010/main" val="911125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Contextualizing Market Trends:</a:t>
            </a:r>
            <a:r>
              <a:rPr lang="en-US" sz="1200" kern="1200" dirty="0">
                <a:solidFill>
                  <a:schemeClr val="tx1"/>
                </a:solidFill>
                <a:effectLst/>
                <a:latin typeface="+mn-lt"/>
                <a:ea typeface="+mn-ea"/>
                <a:cs typeface="+mn-cs"/>
              </a:rPr>
              <a:t> To understand where career opportunities lie today, we have to look back at how we got here over the last five years. </a:t>
            </a:r>
          </a:p>
          <a:p>
            <a:pPr lvl="0"/>
            <a:r>
              <a:rPr lang="en-US" sz="1200" b="1" kern="1200" dirty="0">
                <a:solidFill>
                  <a:schemeClr val="tx1"/>
                </a:solidFill>
                <a:effectLst/>
                <a:latin typeface="+mn-lt"/>
                <a:ea typeface="+mn-ea"/>
                <a:cs typeface="+mn-cs"/>
              </a:rPr>
              <a:t>2021 (The Logjam):</a:t>
            </a:r>
            <a:r>
              <a:rPr lang="en-US" sz="1200" kern="1200" dirty="0">
                <a:solidFill>
                  <a:schemeClr val="tx1"/>
                </a:solidFill>
                <a:effectLst/>
                <a:latin typeface="+mn-lt"/>
                <a:ea typeface="+mn-ea"/>
                <a:cs typeface="+mn-cs"/>
              </a:rPr>
              <a:t> During the global pandemic industrial slowdown, tech companies focused tightly on direct revenue and immediate operational survival. </a:t>
            </a:r>
          </a:p>
          <a:p>
            <a:pPr lvl="0"/>
            <a:r>
              <a:rPr lang="en-US" sz="1200" b="1" kern="1200" dirty="0">
                <a:solidFill>
                  <a:schemeClr val="tx1"/>
                </a:solidFill>
                <a:effectLst/>
                <a:latin typeface="+mn-lt"/>
                <a:ea typeface="+mn-ea"/>
                <a:cs typeface="+mn-cs"/>
              </a:rPr>
              <a:t>2022–2023 (The Anomaly Spike):</a:t>
            </a:r>
            <a:r>
              <a:rPr lang="en-US" sz="1200" kern="1200" dirty="0">
                <a:solidFill>
                  <a:schemeClr val="tx1"/>
                </a:solidFill>
                <a:effectLst/>
                <a:latin typeface="+mn-lt"/>
                <a:ea typeface="+mn-ea"/>
                <a:cs typeface="+mn-cs"/>
              </a:rPr>
              <a:t> Generative AI exploded into public consciousness. Panic-hiring set in across Silicon Valley and major tech hubs. Bidding wars for any AI talent created inflated compensation packages that often masked whether actual business value was being delivered. </a:t>
            </a:r>
          </a:p>
          <a:p>
            <a:pPr lvl="0"/>
            <a:r>
              <a:rPr lang="en-US" sz="1200" b="1" kern="1200" dirty="0">
                <a:solidFill>
                  <a:schemeClr val="tx1"/>
                </a:solidFill>
                <a:effectLst/>
                <a:latin typeface="+mn-lt"/>
                <a:ea typeface="+mn-ea"/>
                <a:cs typeface="+mn-cs"/>
              </a:rPr>
              <a:t>2024–2025 (The Great Wakeup):</a:t>
            </a:r>
            <a:r>
              <a:rPr lang="en-US" sz="1200" kern="1200" dirty="0">
                <a:solidFill>
                  <a:schemeClr val="tx1"/>
                </a:solidFill>
                <a:effectLst/>
                <a:latin typeface="+mn-lt"/>
                <a:ea typeface="+mn-ea"/>
                <a:cs typeface="+mn-cs"/>
              </a:rPr>
              <a:t> Now we are in the aftermath. We've seen massive industry layoffs, cautious hiring loops, and a strict pivot toward bottom-line profitability and production readiness. </a:t>
            </a:r>
          </a:p>
          <a:p>
            <a:pPr lvl="0"/>
            <a:r>
              <a:rPr lang="en-US" sz="1200" b="1" kern="1200" dirty="0">
                <a:solidFill>
                  <a:schemeClr val="tx1"/>
                </a:solidFill>
                <a:effectLst/>
                <a:latin typeface="+mn-lt"/>
                <a:ea typeface="+mn-ea"/>
                <a:cs typeface="+mn-cs"/>
              </a:rPr>
              <a:t>Career Implication:</a:t>
            </a:r>
            <a:r>
              <a:rPr lang="en-US" sz="1200" kern="1200" dirty="0">
                <a:solidFill>
                  <a:schemeClr val="tx1"/>
                </a:solidFill>
                <a:effectLst/>
                <a:latin typeface="+mn-lt"/>
                <a:ea typeface="+mn-ea"/>
                <a:cs typeface="+mn-cs"/>
              </a:rPr>
              <a:t> Pure AI enthusiasm is no longer enough to land or keep top roles. Survival and advancement in the current market require proving tangible, bottom-line business impact.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4</a:t>
            </a:fld>
            <a:endParaRPr lang="en-US"/>
          </a:p>
        </p:txBody>
      </p:sp>
    </p:spTree>
    <p:extLst>
      <p:ext uri="{BB962C8B-B14F-4D97-AF65-F5344CB8AC3E}">
        <p14:creationId xmlns:p14="http://schemas.microsoft.com/office/powerpoint/2010/main" val="3529014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Framework Introduction:</a:t>
            </a:r>
            <a:r>
              <a:rPr lang="en-US" sz="1200" kern="1200" dirty="0">
                <a:solidFill>
                  <a:schemeClr val="tx1"/>
                </a:solidFill>
                <a:effectLst/>
                <a:latin typeface="+mn-lt"/>
                <a:ea typeface="+mn-ea"/>
                <a:cs typeface="+mn-cs"/>
              </a:rPr>
              <a:t> How do you position yourself as an indispensable builder in this new market? We break it down into three core pillars: </a:t>
            </a:r>
          </a:p>
          <a:p>
            <a:pPr lvl="0"/>
            <a:r>
              <a:rPr lang="en-US" sz="1200" b="1" kern="1200" dirty="0">
                <a:solidFill>
                  <a:schemeClr val="tx1"/>
                </a:solidFill>
                <a:effectLst/>
                <a:latin typeface="+mn-lt"/>
                <a:ea typeface="+mn-ea"/>
                <a:cs typeface="+mn-cs"/>
              </a:rPr>
              <a:t>1. Depth &amp; Understanding: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Combine academic rigor with practical execution.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Read research papers, understand underlying model architectures, and learn how to distinguish real technical breakthroughs from media hype. </a:t>
            </a:r>
          </a:p>
          <a:p>
            <a:pPr lvl="0"/>
            <a:r>
              <a:rPr lang="en-US" sz="1200" b="1" kern="1200" dirty="0">
                <a:solidFill>
                  <a:schemeClr val="tx1"/>
                </a:solidFill>
                <a:effectLst/>
                <a:latin typeface="+mn-lt"/>
                <a:ea typeface="+mn-ea"/>
                <a:cs typeface="+mn-cs"/>
              </a:rPr>
              <a:t>2. Business Focus: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Output over Hours:</a:t>
            </a:r>
            <a:r>
              <a:rPr lang="en-US" sz="1200" kern="1200" dirty="0">
                <a:solidFill>
                  <a:schemeClr val="tx1"/>
                </a:solidFill>
                <a:effectLst/>
                <a:latin typeface="+mn-lt"/>
                <a:ea typeface="+mn-ea"/>
                <a:cs typeface="+mn-cs"/>
              </a:rPr>
              <a:t> Measure yourself—and your team—by tangible business output rather than desk hours.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Dress for the Job You Want:</a:t>
            </a:r>
            <a:r>
              <a:rPr lang="en-US" sz="1200" kern="1200" dirty="0">
                <a:solidFill>
                  <a:schemeClr val="tx1"/>
                </a:solidFill>
                <a:effectLst/>
                <a:latin typeface="+mn-lt"/>
                <a:ea typeface="+mn-ea"/>
                <a:cs typeface="+mn-cs"/>
              </a:rPr>
              <a:t> Build public projects and output tailored to the exact role you are targeting, forcing interview loops to focus on your actual working code rather than abstract puzzles. </a:t>
            </a:r>
          </a:p>
          <a:p>
            <a:pPr lvl="0"/>
            <a:r>
              <a:rPr lang="en-US" sz="1200" b="1" kern="1200" dirty="0">
                <a:solidFill>
                  <a:schemeClr val="tx1"/>
                </a:solidFill>
                <a:effectLst/>
                <a:latin typeface="+mn-lt"/>
                <a:ea typeface="+mn-ea"/>
                <a:cs typeface="+mn-cs"/>
              </a:rPr>
              <a:t>3. Bias Towards Delivery: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Ideas are cheap; execution is everything.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half-baked, well-grounded proof of concept running in production will always beat a polished, fluffy concept deck.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5</a:t>
            </a:fld>
            <a:endParaRPr lang="en-US"/>
          </a:p>
        </p:txBody>
      </p:sp>
    </p:spTree>
    <p:extLst>
      <p:ext uri="{BB962C8B-B14F-4D97-AF65-F5344CB8AC3E}">
        <p14:creationId xmlns:p14="http://schemas.microsoft.com/office/powerpoint/2010/main" val="2214546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Old Paradigm:</a:t>
            </a:r>
            <a:r>
              <a:rPr lang="en-US" sz="1200" kern="1200" dirty="0">
                <a:solidFill>
                  <a:schemeClr val="tx1"/>
                </a:solidFill>
                <a:effectLst/>
                <a:latin typeface="+mn-lt"/>
                <a:ea typeface="+mn-ea"/>
                <a:cs typeface="+mn-cs"/>
              </a:rPr>
              <a:t> In previous years, corporate AI initiatives often drifted into broad social activism or superficial PR exercises, sometimes resulting in heavy-handed, naive safety filters that damaged historical accuracy or user experience. </a:t>
            </a:r>
          </a:p>
          <a:p>
            <a:pPr lvl="0"/>
            <a:r>
              <a:rPr lang="en-US" sz="1200" b="1" kern="1200" dirty="0">
                <a:solidFill>
                  <a:schemeClr val="tx1"/>
                </a:solidFill>
                <a:effectLst/>
                <a:latin typeface="+mn-lt"/>
                <a:ea typeface="+mn-ea"/>
                <a:cs typeface="+mn-cs"/>
              </a:rPr>
              <a:t>The New Paradigm (Reputation &amp; Risk):</a:t>
            </a:r>
            <a:r>
              <a:rPr lang="en-US" sz="1200" kern="1200" dirty="0">
                <a:solidFill>
                  <a:schemeClr val="tx1"/>
                </a:solidFill>
                <a:effectLst/>
                <a:latin typeface="+mn-lt"/>
                <a:ea typeface="+mn-ea"/>
                <a:cs typeface="+mn-cs"/>
              </a:rPr>
              <a:t> Today, AI ethics and governance have shifted into a core risk-management discipline. </a:t>
            </a:r>
          </a:p>
          <a:p>
            <a:pPr lvl="0"/>
            <a:r>
              <a:rPr lang="en-US" sz="1200" b="1" kern="1200" dirty="0">
                <a:solidFill>
                  <a:schemeClr val="tx1"/>
                </a:solidFill>
                <a:effectLst/>
                <a:latin typeface="+mn-lt"/>
                <a:ea typeface="+mn-ea"/>
                <a:cs typeface="+mn-cs"/>
              </a:rPr>
              <a:t>Business Mandate:</a:t>
            </a:r>
            <a:r>
              <a:rPr lang="en-US" sz="1200" kern="1200" dirty="0">
                <a:solidFill>
                  <a:schemeClr val="tx1"/>
                </a:solidFill>
                <a:effectLst/>
                <a:latin typeface="+mn-lt"/>
                <a:ea typeface="+mn-ea"/>
                <a:cs typeface="+mn-cs"/>
              </a:rPr>
              <a:t> Transforming software from deterministic/heuristic computing to probabilistic AI introduces massive operational and reputational risks. </a:t>
            </a:r>
          </a:p>
          <a:p>
            <a:pPr lvl="0"/>
            <a:r>
              <a:rPr lang="en-US" sz="1200" b="1" kern="1200" dirty="0">
                <a:solidFill>
                  <a:schemeClr val="tx1"/>
                </a:solidFill>
                <a:effectLst/>
                <a:latin typeface="+mn-lt"/>
                <a:ea typeface="+mn-ea"/>
                <a:cs typeface="+mn-cs"/>
              </a:rPr>
              <a:t>Case Study Lesson:</a:t>
            </a:r>
            <a:r>
              <a:rPr lang="en-US" sz="1200" kern="1200" dirty="0">
                <a:solidFill>
                  <a:schemeClr val="tx1"/>
                </a:solidFill>
                <a:effectLst/>
                <a:latin typeface="+mn-lt"/>
                <a:ea typeface="+mn-ea"/>
                <a:cs typeface="+mn-cs"/>
              </a:rPr>
              <a:t> When AI products generate wildly inaccurate or hallucinated results due to poorly implemented safety wrappers, it directly erodes customer trust and product reputation.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Responsibility in AI is no longer an abstract exercise—it is a non-negotiable business mandate to safeguard product integrity and brand equity.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6</a:t>
            </a:fld>
            <a:endParaRPr lang="en-US"/>
          </a:p>
        </p:txBody>
      </p:sp>
    </p:spTree>
    <p:extLst>
      <p:ext uri="{BB962C8B-B14F-4D97-AF65-F5344CB8AC3E}">
        <p14:creationId xmlns:p14="http://schemas.microsoft.com/office/powerpoint/2010/main" val="2737341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Reframing "Vibe Coding":</a:t>
            </a:r>
            <a:r>
              <a:rPr lang="en-US" sz="1200" kern="1200" dirty="0">
                <a:solidFill>
                  <a:schemeClr val="tx1"/>
                </a:solidFill>
                <a:effectLst/>
                <a:latin typeface="+mn-lt"/>
                <a:ea typeface="+mn-ea"/>
                <a:cs typeface="+mn-cs"/>
              </a:rPr>
              <a:t> Using AI to instantly generate hundreds of lines of code—often called "Vibe Coding"—is essentially taking out financial leverage. You are borrowing speed today, but how are you going to service that debt tomorrow? </a:t>
            </a:r>
          </a:p>
          <a:p>
            <a:pPr lvl="0"/>
            <a:r>
              <a:rPr lang="en-US" sz="1200" b="1" kern="1200" dirty="0">
                <a:solidFill>
                  <a:schemeClr val="tx1"/>
                </a:solidFill>
                <a:effectLst/>
                <a:latin typeface="+mn-lt"/>
                <a:ea typeface="+mn-ea"/>
                <a:cs typeface="+mn-cs"/>
              </a:rPr>
              <a:t>Good Debt (The Mortgage):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High upfront investment in structuring prompts, testing, and being willing to throw away cheap code to refine the core logic.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Delivers concrete business value, maintains clear architectural boundaries, and includes rigorous test coverage. </a:t>
            </a:r>
          </a:p>
          <a:p>
            <a:pPr lvl="0"/>
            <a:r>
              <a:rPr lang="en-US" sz="1200" b="1" kern="1200" dirty="0">
                <a:solidFill>
                  <a:schemeClr val="tx1"/>
                </a:solidFill>
                <a:effectLst/>
                <a:latin typeface="+mn-lt"/>
                <a:ea typeface="+mn-ea"/>
                <a:cs typeface="+mn-cs"/>
              </a:rPr>
              <a:t>Bad Debt (The Credit Card):</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Accumulating unreadable spaghetti code and getting stuck in endless trial-and-error prompt loops.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Building flashy solutions in search of a problem.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Pushing code to production that no human on the team truly understands. </a:t>
            </a:r>
          </a:p>
          <a:p>
            <a:pPr marL="171450" lvl="0" indent="-171450" algn="l">
              <a:buFont typeface="Arial" panose="020B0604020202020204" pitchFamily="34" charset="0"/>
              <a:buChar char="•"/>
            </a:pPr>
            <a:r>
              <a:rPr lang="en-US" sz="1200" i="1" kern="1200" dirty="0">
                <a:solidFill>
                  <a:schemeClr val="tx1"/>
                </a:solidFill>
                <a:effectLst/>
                <a:latin typeface="+mn-lt"/>
                <a:ea typeface="+mn-ea"/>
                <a:cs typeface="+mn-cs"/>
              </a:rPr>
              <a:t>Top-down mandates:</a:t>
            </a:r>
            <a:r>
              <a:rPr lang="en-US" sz="1200" kern="1200" dirty="0">
                <a:solidFill>
                  <a:schemeClr val="tx1"/>
                </a:solidFill>
                <a:effectLst/>
                <a:latin typeface="+mn-lt"/>
                <a:ea typeface="+mn-ea"/>
                <a:cs typeface="+mn-cs"/>
              </a:rPr>
              <a:t> Instances where executives force teams to adopt AI tools blindly without engineering oversight.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Use AI code generation strategically, but ensure your team retains deep comprehension of the underlying codebase.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7</a:t>
            </a:fld>
            <a:endParaRPr lang="en-US"/>
          </a:p>
        </p:txBody>
      </p:sp>
    </p:spTree>
    <p:extLst>
      <p:ext uri="{BB962C8B-B14F-4D97-AF65-F5344CB8AC3E}">
        <p14:creationId xmlns:p14="http://schemas.microsoft.com/office/powerpoint/2010/main" val="2853947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4-Step Loop:</a:t>
            </a:r>
            <a:r>
              <a:rPr lang="en-US" sz="1200" kern="1200" dirty="0">
                <a:solidFill>
                  <a:schemeClr val="tx1"/>
                </a:solidFill>
                <a:effectLst/>
                <a:latin typeface="+mn-lt"/>
                <a:ea typeface="+mn-ea"/>
                <a:cs typeface="+mn-cs"/>
              </a:rPr>
              <a:t> To manage agentic workflows effectively, structure your applications around four key stages: </a:t>
            </a:r>
          </a:p>
          <a:p>
            <a:pPr marL="685800" lvl="1" indent="-228600">
              <a:buFont typeface="+mj-lt"/>
              <a:buAutoNum type="arabicPeriod"/>
            </a:pPr>
            <a:r>
              <a:rPr lang="en-US" sz="1200" i="1" kern="1200" dirty="0">
                <a:solidFill>
                  <a:schemeClr val="tx1"/>
                </a:solidFill>
                <a:effectLst/>
                <a:latin typeface="+mn-lt"/>
                <a:ea typeface="+mn-ea"/>
                <a:cs typeface="+mn-cs"/>
              </a:rPr>
              <a:t>Understand Intent:</a:t>
            </a:r>
            <a:r>
              <a:rPr lang="en-US" sz="1200" kern="1200" dirty="0">
                <a:solidFill>
                  <a:schemeClr val="tx1"/>
                </a:solidFill>
                <a:effectLst/>
                <a:latin typeface="+mn-lt"/>
                <a:ea typeface="+mn-ea"/>
                <a:cs typeface="+mn-cs"/>
              </a:rPr>
              <a:t> Large Language Models excel at parsing human goal intent (the "why"). </a:t>
            </a:r>
          </a:p>
          <a:p>
            <a:pPr marL="685800" lvl="1" indent="-228600">
              <a:buFont typeface="+mj-lt"/>
              <a:buAutoNum type="arabicPeriod"/>
            </a:pPr>
            <a:r>
              <a:rPr lang="en-US" sz="1200" i="1" kern="1200" dirty="0">
                <a:solidFill>
                  <a:schemeClr val="tx1"/>
                </a:solidFill>
                <a:effectLst/>
                <a:latin typeface="+mn-lt"/>
                <a:ea typeface="+mn-ea"/>
                <a:cs typeface="+mn-cs"/>
              </a:rPr>
              <a:t>Plan &amp; Select Tools:</a:t>
            </a:r>
            <a:r>
              <a:rPr lang="en-US" sz="1200" kern="1200" dirty="0">
                <a:solidFill>
                  <a:schemeClr val="tx1"/>
                </a:solidFill>
                <a:effectLst/>
                <a:latin typeface="+mn-lt"/>
                <a:ea typeface="+mn-ea"/>
                <a:cs typeface="+mn-cs"/>
              </a:rPr>
              <a:t> Declare available APIs/tools and map out a execution sequence. </a:t>
            </a:r>
          </a:p>
          <a:p>
            <a:pPr marL="685800" lvl="1" indent="-228600">
              <a:buFont typeface="+mj-lt"/>
              <a:buAutoNum type="arabicPeriod"/>
            </a:pPr>
            <a:r>
              <a:rPr lang="en-US" sz="1200" i="1" kern="1200" dirty="0">
                <a:solidFill>
                  <a:schemeClr val="tx1"/>
                </a:solidFill>
                <a:effectLst/>
                <a:latin typeface="+mn-lt"/>
                <a:ea typeface="+mn-ea"/>
                <a:cs typeface="+mn-cs"/>
              </a:rPr>
              <a:t>Execute:</a:t>
            </a:r>
            <a:r>
              <a:rPr lang="en-US" sz="1200" kern="1200" dirty="0">
                <a:solidFill>
                  <a:schemeClr val="tx1"/>
                </a:solidFill>
                <a:effectLst/>
                <a:latin typeface="+mn-lt"/>
                <a:ea typeface="+mn-ea"/>
                <a:cs typeface="+mn-cs"/>
              </a:rPr>
              <a:t> Run the tools to generate the desired output. </a:t>
            </a:r>
          </a:p>
          <a:p>
            <a:pPr marL="685800" lvl="1" indent="-228600">
              <a:buFont typeface="+mj-lt"/>
              <a:buAutoNum type="arabicPeriod"/>
            </a:pPr>
            <a:r>
              <a:rPr lang="en-US" sz="1200" i="1" kern="1200" dirty="0">
                <a:solidFill>
                  <a:schemeClr val="tx1"/>
                </a:solidFill>
                <a:effectLst/>
                <a:latin typeface="+mn-lt"/>
                <a:ea typeface="+mn-ea"/>
                <a:cs typeface="+mn-cs"/>
              </a:rPr>
              <a:t>Reflect:</a:t>
            </a:r>
            <a:r>
              <a:rPr lang="en-US" sz="1200" kern="1200" dirty="0">
                <a:solidFill>
                  <a:schemeClr val="tx1"/>
                </a:solidFill>
                <a:effectLst/>
                <a:latin typeface="+mn-lt"/>
                <a:ea typeface="+mn-ea"/>
                <a:cs typeface="+mn-cs"/>
              </a:rPr>
              <a:t> Compare the result against the initial intent; if it fails, loop back and self-correct. </a:t>
            </a:r>
          </a:p>
          <a:p>
            <a:pPr lvl="0"/>
            <a:r>
              <a:rPr lang="en-US" sz="1200" b="1" kern="1200" dirty="0">
                <a:solidFill>
                  <a:schemeClr val="tx1"/>
                </a:solidFill>
                <a:effectLst/>
                <a:latin typeface="+mn-lt"/>
                <a:ea typeface="+mn-ea"/>
                <a:cs typeface="+mn-cs"/>
              </a:rPr>
              <a:t>Real-World Case Study (Sales Efficiency):</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Problem:</a:t>
            </a:r>
            <a:r>
              <a:rPr lang="en-US" sz="1200" kern="1200" dirty="0">
                <a:solidFill>
                  <a:schemeClr val="tx1"/>
                </a:solidFill>
                <a:effectLst/>
                <a:latin typeface="+mn-lt"/>
                <a:ea typeface="+mn-ea"/>
                <a:cs typeface="+mn-cs"/>
              </a:rPr>
              <a:t> Enterprise salespeople were spending 80% of their time manually researching prospective clients rather than selling.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Solution:</a:t>
            </a:r>
            <a:r>
              <a:rPr lang="en-US" sz="1200" kern="1200" dirty="0">
                <a:solidFill>
                  <a:schemeClr val="tx1"/>
                </a:solidFill>
                <a:effectLst/>
                <a:latin typeface="+mn-lt"/>
                <a:ea typeface="+mn-ea"/>
                <a:cs typeface="+mn-cs"/>
              </a:rPr>
              <a:t> Built an agentic loop designed specifically around client research and intent-matching.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Reduced wasted administrative time by 15%, directly boosting sales commissions, revenue, and team morale.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8</a:t>
            </a:fld>
            <a:endParaRPr lang="en-US"/>
          </a:p>
        </p:txBody>
      </p:sp>
    </p:spTree>
    <p:extLst>
      <p:ext uri="{BB962C8B-B14F-4D97-AF65-F5344CB8AC3E}">
        <p14:creationId xmlns:p14="http://schemas.microsoft.com/office/powerpoint/2010/main" val="3347140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Hype Machine:</a:t>
            </a:r>
            <a:r>
              <a:rPr lang="en-US" sz="1200" kern="1200" dirty="0">
                <a:solidFill>
                  <a:schemeClr val="tx1"/>
                </a:solidFill>
                <a:effectLst/>
                <a:latin typeface="+mn-lt"/>
                <a:ea typeface="+mn-ea"/>
                <a:cs typeface="+mn-cs"/>
              </a:rPr>
              <a:t> Social media and tech influencer channels run on engagement farming—promising things like "Hollywood is dead next month!" or "AGI by the end of the year!" </a:t>
            </a:r>
          </a:p>
          <a:p>
            <a:pPr lvl="0"/>
            <a:r>
              <a:rPr lang="en-US" sz="1200" b="1" kern="1200" dirty="0">
                <a:solidFill>
                  <a:schemeClr val="tx1"/>
                </a:solidFill>
                <a:effectLst/>
                <a:latin typeface="+mn-lt"/>
                <a:ea typeface="+mn-ea"/>
                <a:cs typeface="+mn-cs"/>
              </a:rPr>
              <a:t>The Professional Superpower:</a:t>
            </a:r>
            <a:r>
              <a:rPr lang="en-US" sz="1200" kern="1200" dirty="0">
                <a:solidFill>
                  <a:schemeClr val="tx1"/>
                </a:solidFill>
                <a:effectLst/>
                <a:latin typeface="+mn-lt"/>
                <a:ea typeface="+mn-ea"/>
                <a:cs typeface="+mn-cs"/>
              </a:rPr>
              <a:t> The hallmark of a true technical leader is the ability to peel away the "magic" and make the underlying technology mundane. </a:t>
            </a:r>
          </a:p>
          <a:p>
            <a:pPr lvl="0"/>
            <a:r>
              <a:rPr lang="en-US" sz="1200" b="1" kern="1200" dirty="0">
                <a:solidFill>
                  <a:schemeClr val="tx1"/>
                </a:solidFill>
                <a:effectLst/>
                <a:latin typeface="+mn-lt"/>
                <a:ea typeface="+mn-ea"/>
                <a:cs typeface="+mn-cs"/>
              </a:rPr>
              <a:t>Example (Text-to-Video):</a:t>
            </a:r>
            <a:r>
              <a:rPr lang="en-US" sz="1200" kern="1200" dirty="0">
                <a:solidFill>
                  <a:schemeClr val="tx1"/>
                </a:solidFill>
                <a:effectLst/>
                <a:latin typeface="+mn-lt"/>
                <a:ea typeface="+mn-ea"/>
                <a:cs typeface="+mn-cs"/>
              </a:rPr>
              <a:t> Text-to-video isn't magic or black box wizardry—it is fundamentally a diffusion model trained to predict successive, slightly modified frame tensors. </a:t>
            </a:r>
          </a:p>
          <a:p>
            <a:pPr lvl="0"/>
            <a:r>
              <a:rPr lang="en-US" sz="1200" b="1" kern="1200" dirty="0">
                <a:solidFill>
                  <a:schemeClr val="tx1"/>
                </a:solidFill>
                <a:effectLst/>
                <a:latin typeface="+mn-lt"/>
                <a:ea typeface="+mn-ea"/>
                <a:cs typeface="+mn-cs"/>
              </a:rPr>
              <a:t>Currency Distinction: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currency of social media is </a:t>
            </a:r>
            <a:r>
              <a:rPr lang="en-US" sz="1200" i="1" kern="1200" dirty="0">
                <a:solidFill>
                  <a:schemeClr val="tx1"/>
                </a:solidFill>
                <a:effectLst/>
                <a:latin typeface="+mn-lt"/>
                <a:ea typeface="+mn-ea"/>
                <a:cs typeface="+mn-cs"/>
              </a:rPr>
              <a:t>clicks and engagement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currency of a Trusted AI Advisor is </a:t>
            </a:r>
            <a:r>
              <a:rPr lang="en-US" sz="1200" i="1" kern="1200" dirty="0">
                <a:solidFill>
                  <a:schemeClr val="tx1"/>
                </a:solidFill>
                <a:effectLst/>
                <a:latin typeface="+mn-lt"/>
                <a:ea typeface="+mn-ea"/>
                <a:cs typeface="+mn-cs"/>
              </a:rPr>
              <a:t>accuracy and pragmatic execution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Demystify the technology for your stakeholders so you can build grounded, achievable business strategies.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9</a:t>
            </a:fld>
            <a:endParaRPr lang="en-US"/>
          </a:p>
        </p:txBody>
      </p:sp>
    </p:spTree>
    <p:extLst>
      <p:ext uri="{BB962C8B-B14F-4D97-AF65-F5344CB8AC3E}">
        <p14:creationId xmlns:p14="http://schemas.microsoft.com/office/powerpoint/2010/main" val="3893331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Industry Bifurcation:</a:t>
            </a:r>
            <a:r>
              <a:rPr lang="en-US" sz="1200" kern="1200" dirty="0">
                <a:solidFill>
                  <a:schemeClr val="tx1"/>
                </a:solidFill>
                <a:effectLst/>
                <a:latin typeface="+mn-lt"/>
                <a:ea typeface="+mn-ea"/>
                <a:cs typeface="+mn-cs"/>
              </a:rPr>
              <a:t> The AI landscape is dividing into two distinct paradigms: </a:t>
            </a:r>
          </a:p>
          <a:p>
            <a:pPr lvl="0"/>
            <a:r>
              <a:rPr lang="en-US" sz="1200" b="1" kern="1200" dirty="0">
                <a:solidFill>
                  <a:schemeClr val="tx1"/>
                </a:solidFill>
                <a:effectLst/>
                <a:latin typeface="+mn-lt"/>
                <a:ea typeface="+mn-ea"/>
                <a:cs typeface="+mn-cs"/>
              </a:rPr>
              <a:t>Big AI (Cloud-Hosted Frontier Models):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Players:</a:t>
            </a:r>
            <a:r>
              <a:rPr lang="en-US" sz="1200" kern="1200" dirty="0">
                <a:solidFill>
                  <a:schemeClr val="tx1"/>
                </a:solidFill>
                <a:effectLst/>
                <a:latin typeface="+mn-lt"/>
                <a:ea typeface="+mn-ea"/>
                <a:cs typeface="+mn-cs"/>
              </a:rPr>
              <a:t> OpenAI (GPT), Google (Gemini), Anthropic (Claude).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Focus:</a:t>
            </a:r>
            <a:r>
              <a:rPr lang="en-US" sz="1200" kern="1200" dirty="0">
                <a:solidFill>
                  <a:schemeClr val="tx1"/>
                </a:solidFill>
                <a:effectLst/>
                <a:latin typeface="+mn-lt"/>
                <a:ea typeface="+mn-ea"/>
                <a:cs typeface="+mn-cs"/>
              </a:rPr>
              <a:t> Scale-at-all-costs, massive compute clusters, pursuing general intelligence (AGI).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Exposure to high API costs, latency, and a looming dot-com style valuation bubble around thin UI wrappers. </a:t>
            </a:r>
          </a:p>
          <a:p>
            <a:pPr lvl="0"/>
            <a:r>
              <a:rPr lang="en-US" sz="1200" b="1" kern="1200" dirty="0">
                <a:solidFill>
                  <a:schemeClr val="tx1"/>
                </a:solidFill>
                <a:effectLst/>
                <a:latin typeface="+mn-lt"/>
                <a:ea typeface="+mn-ea"/>
                <a:cs typeface="+mn-cs"/>
              </a:rPr>
              <a:t>Small AI (Self-Hosted / Open-Weights):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Players:</a:t>
            </a:r>
            <a:r>
              <a:rPr lang="en-US" sz="1200" kern="1200" dirty="0">
                <a:solidFill>
                  <a:schemeClr val="tx1"/>
                </a:solidFill>
                <a:effectLst/>
                <a:latin typeface="+mn-lt"/>
                <a:ea typeface="+mn-ea"/>
                <a:cs typeface="+mn-cs"/>
              </a:rPr>
              <a:t> Llama, Mistral, open-weights ecosystem, domain-specialized models.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Focus:</a:t>
            </a:r>
            <a:r>
              <a:rPr lang="en-US" sz="1200" kern="1200" dirty="0">
                <a:solidFill>
                  <a:schemeClr val="tx1"/>
                </a:solidFill>
                <a:effectLst/>
                <a:latin typeface="+mn-lt"/>
                <a:ea typeface="+mn-ea"/>
                <a:cs typeface="+mn-cs"/>
              </a:rPr>
              <a:t> Rapid efficiency gains—modern 7B parameter models frequently match or exceed the capability of older 300B models on specific downstream tasks.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Status:</a:t>
            </a:r>
            <a:r>
              <a:rPr lang="en-US" sz="1200" kern="1200" dirty="0">
                <a:solidFill>
                  <a:schemeClr val="tx1"/>
                </a:solidFill>
                <a:effectLst/>
                <a:latin typeface="+mn-lt"/>
                <a:ea typeface="+mn-ea"/>
                <a:cs typeface="+mn-cs"/>
              </a:rPr>
              <a:t> Currently under-indexed in mainstream media, but represents massive commercial growth potential.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10</a:t>
            </a:fld>
            <a:endParaRPr lang="en-US"/>
          </a:p>
        </p:txBody>
      </p:sp>
    </p:spTree>
    <p:extLst>
      <p:ext uri="{BB962C8B-B14F-4D97-AF65-F5344CB8AC3E}">
        <p14:creationId xmlns:p14="http://schemas.microsoft.com/office/powerpoint/2010/main" val="3135324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Moat 1: Edge Computing &amp; Hardware Acceleration: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Features like Scalable Matrix Extensions (SME) allow specialized models to run directly on standard CPUs without requiring expensive GPU infrastructure.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Example:</a:t>
            </a:r>
            <a:r>
              <a:rPr lang="en-US" sz="1200" kern="1200" dirty="0">
                <a:solidFill>
                  <a:schemeClr val="tx1"/>
                </a:solidFill>
                <a:effectLst/>
                <a:latin typeface="+mn-lt"/>
                <a:ea typeface="+mn-ea"/>
                <a:cs typeface="+mn-cs"/>
              </a:rPr>
              <a:t> Alipay processing local photo search queries directly on user hardware, completely eliminating external server costs and round-trip network latency. </a:t>
            </a:r>
          </a:p>
          <a:p>
            <a:pPr lvl="0"/>
            <a:r>
              <a:rPr lang="en-US" sz="1200" b="1" kern="1200" dirty="0">
                <a:solidFill>
                  <a:schemeClr val="tx1"/>
                </a:solidFill>
                <a:effectLst/>
                <a:latin typeface="+mn-lt"/>
                <a:ea typeface="+mn-ea"/>
                <a:cs typeface="+mn-cs"/>
              </a:rPr>
              <a:t>Moat 2: Intellectual Property &amp; Data Privacy: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industries like media, healthcare, finance, and enterprise software, margins are tight and IP protection is critical.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Major movie studios or defense contractors will never send proprietary scripts or sensitive internal data to a public cloud API.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Self-hosted, fine-tuned, open-weights models are often the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viable path for privacy-sensitive enterprise environments.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11</a:t>
            </a:fld>
            <a:endParaRPr lang="en-US"/>
          </a:p>
        </p:txBody>
      </p:sp>
    </p:spTree>
    <p:extLst>
      <p:ext uri="{BB962C8B-B14F-4D97-AF65-F5344CB8AC3E}">
        <p14:creationId xmlns:p14="http://schemas.microsoft.com/office/powerpoint/2010/main" val="2271647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AI Projects Fail:</a:t>
            </a:r>
            <a:r>
              <a:rPr lang="en-US" sz="1200" kern="1200" dirty="0">
                <a:solidFill>
                  <a:schemeClr val="tx1"/>
                </a:solidFill>
                <a:effectLst/>
                <a:latin typeface="+mn-lt"/>
                <a:ea typeface="+mn-ea"/>
                <a:cs typeface="+mn-cs"/>
              </a:rPr>
              <a:t> Industry data shows that up to 85% of corporate AI projects fail, primarily due to poor scoping and chasing shiny objects. </a:t>
            </a:r>
          </a:p>
          <a:p>
            <a:pPr lvl="0"/>
            <a:r>
              <a:rPr lang="en-US" sz="1200" b="1" kern="1200" dirty="0">
                <a:solidFill>
                  <a:schemeClr val="tx1"/>
                </a:solidFill>
                <a:effectLst/>
                <a:latin typeface="+mn-lt"/>
                <a:ea typeface="+mn-ea"/>
                <a:cs typeface="+mn-cs"/>
              </a:rPr>
              <a:t>The 3-Part Framework to Join the 15%:</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i="1" kern="1200" dirty="0">
                <a:solidFill>
                  <a:schemeClr val="tx1"/>
                </a:solidFill>
                <a:effectLst/>
                <a:latin typeface="+mn-lt"/>
                <a:ea typeface="+mn-ea"/>
                <a:cs typeface="+mn-cs"/>
              </a:rPr>
              <a:t>Understand the WHY (Business Intent):</a:t>
            </a:r>
            <a:r>
              <a:rPr lang="en-US" sz="1200" kern="1200" dirty="0">
                <a:solidFill>
                  <a:schemeClr val="tx1"/>
                </a:solidFill>
                <a:effectLst/>
                <a:latin typeface="+mn-lt"/>
                <a:ea typeface="+mn-ea"/>
                <a:cs typeface="+mn-cs"/>
              </a:rPr>
              <a:t> Refuse to build tech solutions in search of problems. Always trace the project back to a core bottom-line metric. </a:t>
            </a:r>
          </a:p>
          <a:p>
            <a:pPr marL="228600" lvl="0" indent="-228600">
              <a:buFont typeface="+mj-lt"/>
              <a:buAutoNum type="arabicPeriod"/>
            </a:pPr>
            <a:r>
              <a:rPr lang="en-US" sz="1200" i="1" kern="1200" dirty="0">
                <a:solidFill>
                  <a:schemeClr val="tx1"/>
                </a:solidFill>
                <a:effectLst/>
                <a:latin typeface="+mn-lt"/>
                <a:ea typeface="+mn-ea"/>
                <a:cs typeface="+mn-cs"/>
              </a:rPr>
              <a:t>Manage the HOW (Vibe Coding &amp; Tech Debt):</a:t>
            </a:r>
            <a:r>
              <a:rPr lang="en-US" sz="1200" kern="1200" dirty="0">
                <a:solidFill>
                  <a:schemeClr val="tx1"/>
                </a:solidFill>
                <a:effectLst/>
                <a:latin typeface="+mn-lt"/>
                <a:ea typeface="+mn-ea"/>
                <a:cs typeface="+mn-cs"/>
              </a:rPr>
              <a:t> Treat AI code generation like financial leverage. Ensure code remains maintainable, readable, and architecturally sound. </a:t>
            </a:r>
          </a:p>
          <a:p>
            <a:pPr marL="228600" lvl="0" indent="-228600">
              <a:buFont typeface="+mj-lt"/>
              <a:buAutoNum type="arabicPeriod"/>
            </a:pPr>
            <a:r>
              <a:rPr lang="en-US" sz="1200" i="1" kern="1200" dirty="0">
                <a:solidFill>
                  <a:schemeClr val="tx1"/>
                </a:solidFill>
                <a:effectLst/>
                <a:latin typeface="+mn-lt"/>
                <a:ea typeface="+mn-ea"/>
                <a:cs typeface="+mn-cs"/>
              </a:rPr>
              <a:t>Deploy the RIGHT Tool (Big vs. Small AI):</a:t>
            </a:r>
            <a:r>
              <a:rPr lang="en-US" sz="1200" kern="1200" dirty="0">
                <a:solidFill>
                  <a:schemeClr val="tx1"/>
                </a:solidFill>
                <a:effectLst/>
                <a:latin typeface="+mn-lt"/>
                <a:ea typeface="+mn-ea"/>
                <a:cs typeface="+mn-cs"/>
              </a:rPr>
              <a:t> Strip away the hype. Know precisely when to call a frontier cloud API vs. fine-tuning an on-premise 7B open-weights model.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12</a:t>
            </a:fld>
            <a:endParaRPr lang="en-US"/>
          </a:p>
        </p:txBody>
      </p:sp>
    </p:spTree>
    <p:extLst>
      <p:ext uri="{BB962C8B-B14F-4D97-AF65-F5344CB8AC3E}">
        <p14:creationId xmlns:p14="http://schemas.microsoft.com/office/powerpoint/2010/main" val="721438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Jerk Tax:</a:t>
            </a:r>
            <a:r>
              <a:rPr lang="en-US" sz="1200" kern="1200" dirty="0">
                <a:solidFill>
                  <a:schemeClr val="tx1"/>
                </a:solidFill>
                <a:effectLst/>
                <a:latin typeface="+mn-lt"/>
                <a:ea typeface="+mn-ea"/>
                <a:cs typeface="+mn-cs"/>
              </a:rPr>
              <a:t> Passing technical coding loops is no longer a sufficient moat when AI can pass technical loops, too. Great engineering organizations actively reject "brilliant jerks" who destroy team cohesion. </a:t>
            </a:r>
          </a:p>
          <a:p>
            <a:pPr lvl="0"/>
            <a:r>
              <a:rPr lang="en-US" sz="1200" b="1" kern="1200" dirty="0">
                <a:solidFill>
                  <a:schemeClr val="tx1"/>
                </a:solidFill>
                <a:effectLst/>
                <a:latin typeface="+mn-lt"/>
                <a:ea typeface="+mn-ea"/>
                <a:cs typeface="+mn-cs"/>
              </a:rPr>
              <a:t>Avoid Brand Blindness:</a:t>
            </a:r>
            <a:r>
              <a:rPr lang="en-US" sz="1200" kern="1200" dirty="0">
                <a:solidFill>
                  <a:schemeClr val="tx1"/>
                </a:solidFill>
                <a:effectLst/>
                <a:latin typeface="+mn-lt"/>
                <a:ea typeface="+mn-ea"/>
                <a:cs typeface="+mn-cs"/>
              </a:rPr>
              <a:t> Don't evaluate your career trajectory solely by a flashy company logo. Evaluate it by the quality and integrity of the team you'll work with daily. </a:t>
            </a:r>
          </a:p>
          <a:p>
            <a:pPr lvl="0"/>
            <a:r>
              <a:rPr lang="en-US" sz="1200" b="1" kern="1200" dirty="0">
                <a:solidFill>
                  <a:schemeClr val="tx1"/>
                </a:solidFill>
                <a:effectLst/>
                <a:latin typeface="+mn-lt"/>
                <a:ea typeface="+mn-ea"/>
                <a:cs typeface="+mn-cs"/>
              </a:rPr>
              <a:t>The Network Effect:</a:t>
            </a:r>
            <a:r>
              <a:rPr lang="en-US" sz="1200" kern="1200" dirty="0">
                <a:solidFill>
                  <a:schemeClr val="tx1"/>
                </a:solidFill>
                <a:effectLst/>
                <a:latin typeface="+mn-lt"/>
                <a:ea typeface="+mn-ea"/>
                <a:cs typeface="+mn-cs"/>
              </a:rPr>
              <a:t> Your speed of learning and professional growth is largely dictated by the five closest colleagues in your immediate circle. </a:t>
            </a:r>
          </a:p>
          <a:p>
            <a:pPr lvl="0"/>
            <a:r>
              <a:rPr lang="en-US" sz="1200" b="1" kern="1200" dirty="0">
                <a:solidFill>
                  <a:schemeClr val="tx1"/>
                </a:solidFill>
                <a:effectLst/>
                <a:latin typeface="+mn-lt"/>
                <a:ea typeface="+mn-ea"/>
                <a:cs typeface="+mn-cs"/>
              </a:rPr>
              <a:t>Bleeding-Edge Networks:</a:t>
            </a:r>
            <a:r>
              <a:rPr lang="en-US" sz="1200" kern="1200" dirty="0">
                <a:solidFill>
                  <a:schemeClr val="tx1"/>
                </a:solidFill>
                <a:effectLst/>
                <a:latin typeface="+mn-lt"/>
                <a:ea typeface="+mn-ea"/>
                <a:cs typeface="+mn-cs"/>
              </a:rPr>
              <a:t> Position yourself in peer networks that share practical, unpublished, bleeding-edge insights rather than regurgitated social media noise. </a:t>
            </a:r>
          </a:p>
          <a:p>
            <a:pPr lvl="0"/>
            <a:r>
              <a:rPr lang="en-US" sz="1200" b="1" kern="1200" dirty="0">
                <a:solidFill>
                  <a:schemeClr val="tx1"/>
                </a:solidFill>
                <a:effectLst/>
                <a:latin typeface="+mn-lt"/>
                <a:ea typeface="+mn-ea"/>
                <a:cs typeface="+mn-cs"/>
              </a:rPr>
              <a:t>Core Takeaway:</a:t>
            </a:r>
            <a:r>
              <a:rPr lang="en-US" sz="1200" kern="1200" dirty="0">
                <a:solidFill>
                  <a:schemeClr val="tx1"/>
                </a:solidFill>
                <a:effectLst/>
                <a:latin typeface="+mn-lt"/>
                <a:ea typeface="+mn-ea"/>
                <a:cs typeface="+mn-cs"/>
              </a:rPr>
              <a:t> When code generation is cheap, your human network, user empathy, and business pragmatism are your ultimate career moats. </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13</a:t>
            </a:fld>
            <a:endParaRPr lang="en-US"/>
          </a:p>
        </p:txBody>
      </p:sp>
    </p:spTree>
    <p:extLst>
      <p:ext uri="{BB962C8B-B14F-4D97-AF65-F5344CB8AC3E}">
        <p14:creationId xmlns:p14="http://schemas.microsoft.com/office/powerpoint/2010/main" val="1142066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Synthesizing the Deck:</a:t>
            </a:r>
            <a:r>
              <a:rPr lang="en-US" sz="1200" kern="1200" dirty="0">
                <a:solidFill>
                  <a:schemeClr val="tx1"/>
                </a:solidFill>
                <a:effectLst/>
                <a:latin typeface="+mn-lt"/>
                <a:ea typeface="+mn-ea"/>
                <a:cs typeface="+mn-cs"/>
              </a:rPr>
              <a:t> Let's bring everything together in this visual summary:</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Shifting Bottleneck:</a:t>
            </a:r>
            <a:r>
              <a:rPr lang="en-US" sz="1200" kern="1200" dirty="0">
                <a:solidFill>
                  <a:schemeClr val="tx1"/>
                </a:solidFill>
                <a:effectLst/>
                <a:latin typeface="+mn-lt"/>
                <a:ea typeface="+mn-ea"/>
                <a:cs typeface="+mn-cs"/>
              </a:rPr>
              <a:t> Coding complexity doubles every 70 days. Engineering capacity is expanding rapidly, making product specification the primary constraint.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Hybrid Engineer:</a:t>
            </a:r>
            <a:r>
              <a:rPr lang="en-US" sz="1200" kern="1200" dirty="0">
                <a:solidFill>
                  <a:schemeClr val="tx1"/>
                </a:solidFill>
                <a:effectLst/>
                <a:latin typeface="+mn-lt"/>
                <a:ea typeface="+mn-ea"/>
                <a:cs typeface="+mn-cs"/>
              </a:rPr>
              <a:t> Success requires combining technical proficiency with product intuition.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Managing Debt:</a:t>
            </a:r>
            <a:r>
              <a:rPr lang="en-US" sz="1200" kern="1200" dirty="0">
                <a:solidFill>
                  <a:schemeClr val="tx1"/>
                </a:solidFill>
                <a:effectLst/>
                <a:latin typeface="+mn-lt"/>
                <a:ea typeface="+mn-ea"/>
                <a:cs typeface="+mn-cs"/>
              </a:rPr>
              <a:t> Vibe coding creates technical debt that requires human oversight to maintain.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Shift to Value:</a:t>
            </a:r>
            <a:r>
              <a:rPr lang="en-US" sz="1200" kern="1200" dirty="0">
                <a:solidFill>
                  <a:schemeClr val="tx1"/>
                </a:solidFill>
                <a:effectLst/>
                <a:latin typeface="+mn-lt"/>
                <a:ea typeface="+mn-ea"/>
                <a:cs typeface="+mn-cs"/>
              </a:rPr>
              <a:t> Move away from flashy demos toward measurable business outcomes.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Small AI Frontier:</a:t>
            </a:r>
            <a:r>
              <a:rPr lang="en-US" sz="1200" kern="1200" dirty="0">
                <a:solidFill>
                  <a:schemeClr val="tx1"/>
                </a:solidFill>
                <a:effectLst/>
                <a:latin typeface="+mn-lt"/>
                <a:ea typeface="+mn-ea"/>
                <a:cs typeface="+mn-cs"/>
              </a:rPr>
              <a:t> Self-hosted, fine-tuned models are becoming essential for privacy and domain specificity. </a:t>
            </a:r>
          </a:p>
          <a:p>
            <a:pPr marL="171450" lvl="0" indent="-171450">
              <a:buFont typeface="Arial" panose="020B0604020202020204" pitchFamily="34" charset="0"/>
              <a:buChar char="•"/>
            </a:pPr>
            <a:r>
              <a:rPr lang="en-US" sz="1200" i="1" kern="1200" dirty="0" err="1">
                <a:solidFill>
                  <a:schemeClr val="tx1"/>
                </a:solidFill>
                <a:effectLst/>
                <a:latin typeface="+mn-lt"/>
                <a:ea typeface="+mn-ea"/>
                <a:cs typeface="+mn-cs"/>
              </a:rPr>
              <a:t>Eng:PM</a:t>
            </a:r>
            <a:r>
              <a:rPr lang="en-US" sz="1200" i="1" kern="1200" dirty="0">
                <a:solidFill>
                  <a:schemeClr val="tx1"/>
                </a:solidFill>
                <a:effectLst/>
                <a:latin typeface="+mn-lt"/>
                <a:ea typeface="+mn-ea"/>
                <a:cs typeface="+mn-cs"/>
              </a:rPr>
              <a:t> Ratios:</a:t>
            </a:r>
            <a:r>
              <a:rPr lang="en-US" sz="1200" kern="1200" dirty="0">
                <a:solidFill>
                  <a:schemeClr val="tx1"/>
                </a:solidFill>
                <a:effectLst/>
                <a:latin typeface="+mn-lt"/>
                <a:ea typeface="+mn-ea"/>
                <a:cs typeface="+mn-cs"/>
              </a:rPr>
              <a:t> Traditional 8:1 ratios are collapsing to 1:1, empowering developers to own the full product lifecycle. </a:t>
            </a:r>
          </a:p>
          <a:p>
            <a:pPr lvl="0"/>
            <a:r>
              <a:rPr lang="en-US" sz="1200" b="1" kern="1200" dirty="0">
                <a:solidFill>
                  <a:schemeClr val="tx1"/>
                </a:solidFill>
                <a:effectLst/>
                <a:latin typeface="+mn-lt"/>
                <a:ea typeface="+mn-ea"/>
                <a:cs typeface="+mn-cs"/>
              </a:rPr>
              <a:t>Closing Remark:</a:t>
            </a:r>
            <a:r>
              <a:rPr lang="en-US" sz="1200" kern="1200" dirty="0">
                <a:solidFill>
                  <a:schemeClr val="tx1"/>
                </a:solidFill>
                <a:effectLst/>
                <a:latin typeface="+mn-lt"/>
                <a:ea typeface="+mn-ea"/>
                <a:cs typeface="+mn-cs"/>
              </a:rPr>
              <a:t> Focus on signal over noise, build for business value, and leverage AI to amplify your human strengths.</a:t>
            </a:r>
          </a:p>
          <a:p>
            <a:endParaRPr lang="en-US" dirty="0"/>
          </a:p>
        </p:txBody>
      </p:sp>
      <p:sp>
        <p:nvSpPr>
          <p:cNvPr id="4" name="Slide Number Placeholder 3"/>
          <p:cNvSpPr>
            <a:spLocks noGrp="1"/>
          </p:cNvSpPr>
          <p:nvPr>
            <p:ph type="sldNum" sz="quarter" idx="5"/>
          </p:nvPr>
        </p:nvSpPr>
        <p:spPr/>
        <p:txBody>
          <a:bodyPr/>
          <a:lstStyle/>
          <a:p>
            <a:fld id="{2CE3A2F9-C32F-48BA-8374-5C43DDADDF65}" type="slidenum">
              <a:rPr lang="en-US" smtClean="0"/>
              <a:t>14</a:t>
            </a:fld>
            <a:endParaRPr lang="en-US"/>
          </a:p>
        </p:txBody>
      </p:sp>
    </p:spTree>
    <p:extLst>
      <p:ext uri="{BB962C8B-B14F-4D97-AF65-F5344CB8AC3E}">
        <p14:creationId xmlns:p14="http://schemas.microsoft.com/office/powerpoint/2010/main" val="3286110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A8DAA-EC55-3D06-86A6-D4AE1AD15DD7}"/>
              </a:ext>
            </a:extLst>
          </p:cNvPr>
          <p:cNvSpPr>
            <a:spLocks noGrp="1"/>
          </p:cNvSpPr>
          <p:nvPr>
            <p:ph type="dt" sz="half" idx="10"/>
          </p:nvPr>
        </p:nvSpPr>
        <p:spPr/>
        <p:txBody>
          <a:bodyPr/>
          <a:lstStyle/>
          <a:p>
            <a:fld id="{CEDE41F8-B2E0-4061-A244-79413E7A97E1}" type="datetimeFigureOut">
              <a:rPr lang="en-US" smtClean="0"/>
              <a:t>10/21/2026</a:t>
            </a:fld>
            <a:endParaRPr lang="en-US"/>
          </a:p>
        </p:txBody>
      </p:sp>
      <p:sp>
        <p:nvSpPr>
          <p:cNvPr id="3" name="Footer Placeholder 2">
            <a:extLst>
              <a:ext uri="{FF2B5EF4-FFF2-40B4-BE49-F238E27FC236}">
                <a16:creationId xmlns:a16="http://schemas.microsoft.com/office/drawing/2014/main" id="{E086B367-A2EE-D8D8-4B02-29F2A1AA9D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D625B1-46EF-D31F-F3F5-FE00305D9A3F}"/>
              </a:ext>
            </a:extLst>
          </p:cNvPr>
          <p:cNvSpPr>
            <a:spLocks noGrp="1"/>
          </p:cNvSpPr>
          <p:nvPr>
            <p:ph type="sldNum" sz="quarter" idx="12"/>
          </p:nvPr>
        </p:nvSpPr>
        <p:spPr/>
        <p:txBody>
          <a:bodyPr/>
          <a:lstStyle/>
          <a:p>
            <a:fld id="{A9EEA167-E4BA-4BA7-A5B8-E3B405E26685}" type="slidenum">
              <a:rPr lang="en-US" smtClean="0"/>
              <a:t>‹#›</a:t>
            </a:fld>
            <a:endParaRPr lang="en-US"/>
          </a:p>
        </p:txBody>
      </p:sp>
    </p:spTree>
    <p:extLst>
      <p:ext uri="{BB962C8B-B14F-4D97-AF65-F5344CB8AC3E}">
        <p14:creationId xmlns:p14="http://schemas.microsoft.com/office/powerpoint/2010/main" val="10662860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A6BA13-C505-61AF-09E2-0687AD72AB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0477C0-54B5-B688-CC40-2782484C0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483005-7D9D-2BBB-CC96-9703073AF4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DE41F8-B2E0-4061-A244-79413E7A97E1}" type="datetimeFigureOut">
              <a:rPr lang="en-US" smtClean="0"/>
              <a:t>10/21/2026</a:t>
            </a:fld>
            <a:endParaRPr lang="en-US"/>
          </a:p>
        </p:txBody>
      </p:sp>
      <p:sp>
        <p:nvSpPr>
          <p:cNvPr id="5" name="Footer Placeholder 4">
            <a:extLst>
              <a:ext uri="{FF2B5EF4-FFF2-40B4-BE49-F238E27FC236}">
                <a16:creationId xmlns:a16="http://schemas.microsoft.com/office/drawing/2014/main" id="{58BDB250-E09A-3D76-36B2-C5641C58BB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CFF84D-3FB1-25C9-B2C3-27D91952F2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EEA167-E4BA-4BA7-A5B8-E3B405E26685}" type="slidenum">
              <a:rPr lang="en-US" smtClean="0"/>
              <a:t>‹#›</a:t>
            </a:fld>
            <a:endParaRPr lang="en-US"/>
          </a:p>
        </p:txBody>
      </p:sp>
    </p:spTree>
    <p:extLst>
      <p:ext uri="{BB962C8B-B14F-4D97-AF65-F5344CB8AC3E}">
        <p14:creationId xmlns:p14="http://schemas.microsoft.com/office/powerpoint/2010/main" val="74696842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52FC1B-FCB8-09A7-A397-AD1967F02F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248547-08A2-A195-CA3A-0DC2EC2FAF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8159EF-A9AC-8060-804A-60DC434682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83278-ADB7-7CA9-6995-2AD836413A9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016324-2DE6-3C87-A5A3-1DDB30FA65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8E87D9-86D3-1D9E-6BCC-5040587BFC5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3D9F8B-65E5-2B34-6307-4DC8144A03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8BECC9-402C-7B94-B91D-83CFA877517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C9874E-F09C-264C-A47D-A5336897DCF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41709C-48C1-F7C6-8C77-781B706577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70136C-B14E-CA9F-208E-61190736F8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CAF8BE-1548-CD6A-A691-93955DCF4F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FBFD97-64DF-21A7-C7A3-2E889F1D7E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B63649-3F43-047E-0DAB-0417B1BA91A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630851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2126</Words>
  <Application>Microsoft Office PowerPoint</Application>
  <PresentationFormat>寬螢幕</PresentationFormat>
  <Paragraphs>116</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2026-09-12T06:43:02Z</dcterms:created>
  <dcterms:modified xsi:type="dcterms:W3CDTF">2026-10-21T02:51:19Z</dcterms:modified>
</cp:coreProperties>
</file>