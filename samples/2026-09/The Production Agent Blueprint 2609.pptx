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CA4919-837E-4613-934C-BF55260C6620}" v="20" dt="2026-09-24T04:46:15.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2194" autoAdjust="0"/>
  </p:normalViewPr>
  <p:slideViewPr>
    <p:cSldViewPr snapToGrid="0">
      <p:cViewPr varScale="1">
        <p:scale>
          <a:sx n="74" d="100"/>
          <a:sy n="74" d="100"/>
        </p:scale>
        <p:origin x="78"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24T04:46:35.123" v="108" actId="166"/>
      <pc:docMkLst>
        <pc:docMk/>
      </pc:docMkLst>
      <pc:sldChg chg="addSp delSp modSp mod modAnim modNotes modNotesTx">
        <pc:chgData name="Lai, Wilson" userId="2840974a-0d84-4886-90a9-9a3ed79f3a48" providerId="ADAL" clId="{9F23B798-9E84-4552-BA63-E776E805C424}" dt="2026-09-24T04:46:35.123" v="108" actId="166"/>
        <pc:sldMkLst>
          <pc:docMk/>
          <pc:sldMk cId="0" sldId="257"/>
        </pc:sldMkLst>
        <pc:spChg chg="add mod">
          <ac:chgData name="Lai, Wilson" userId="2840974a-0d84-4886-90a9-9a3ed79f3a48" providerId="ADAL" clId="{9F23B798-9E84-4552-BA63-E776E805C424}" dt="2026-09-23T13:50:54.509" v="11" actId="164"/>
          <ac:spMkLst>
            <pc:docMk/>
            <pc:sldMk cId="0" sldId="257"/>
            <ac:spMk id="5" creationId="{2AB320CE-4CF8-C35C-0278-12DA5954AE26}"/>
          </ac:spMkLst>
        </pc:spChg>
        <pc:grpChg chg="add mod">
          <ac:chgData name="Lai, Wilson" userId="2840974a-0d84-4886-90a9-9a3ed79f3a48" providerId="ADAL" clId="{9F23B798-9E84-4552-BA63-E776E805C424}" dt="2026-09-23T13:50:54.509" v="11" actId="164"/>
          <ac:grpSpMkLst>
            <pc:docMk/>
            <pc:sldMk cId="0" sldId="257"/>
            <ac:grpSpMk id="6" creationId="{882FB24C-11BB-1A66-2137-99B8D6717ACF}"/>
          </ac:grpSpMkLst>
        </pc:grpChg>
        <pc:picChg chg="del">
          <ac:chgData name="Lai, Wilson" userId="2840974a-0d84-4886-90a9-9a3ed79f3a48" providerId="ADAL" clId="{9F23B798-9E84-4552-BA63-E776E805C424}" dt="2026-09-24T01:33:49.109" v="12" actId="21"/>
          <ac:picMkLst>
            <pc:docMk/>
            <pc:sldMk cId="0" sldId="257"/>
            <ac:picMk id="2" creationId="{00000000-0000-0000-0000-000000000000}"/>
          </ac:picMkLst>
        </pc:picChg>
        <pc:picChg chg="add mod">
          <ac:chgData name="Lai, Wilson" userId="2840974a-0d84-4886-90a9-9a3ed79f3a48" providerId="ADAL" clId="{9F23B798-9E84-4552-BA63-E776E805C424}" dt="2026-09-23T13:50:54.509" v="11" actId="164"/>
          <ac:picMkLst>
            <pc:docMk/>
            <pc:sldMk cId="0" sldId="257"/>
            <ac:picMk id="3" creationId="{0E019360-0140-AAF8-FD18-090971CE4331}"/>
          </ac:picMkLst>
        </pc:picChg>
        <pc:picChg chg="add ord">
          <ac:chgData name="Lai, Wilson" userId="2840974a-0d84-4886-90a9-9a3ed79f3a48" providerId="ADAL" clId="{9F23B798-9E84-4552-BA63-E776E805C424}" dt="2026-09-24T04:46:35.123" v="108" actId="166"/>
          <ac:picMkLst>
            <pc:docMk/>
            <pc:sldMk cId="0" sldId="257"/>
            <ac:picMk id="7" creationId="{1AEDD49C-4BF0-7973-F2FC-1F0695795762}"/>
          </ac:picMkLst>
        </pc:picChg>
      </pc:sldChg>
      <pc:sldChg chg="addSp delSp mod modNotes modNotesTx">
        <pc:chgData name="Lai, Wilson" userId="2840974a-0d84-4886-90a9-9a3ed79f3a48" providerId="ADAL" clId="{9F23B798-9E84-4552-BA63-E776E805C424}" dt="2026-09-24T04:46:15.572" v="106"/>
        <pc:sldMkLst>
          <pc:docMk/>
          <pc:sldMk cId="0" sldId="258"/>
        </pc:sldMkLst>
        <pc:picChg chg="del">
          <ac:chgData name="Lai, Wilson" userId="2840974a-0d84-4886-90a9-9a3ed79f3a48" providerId="ADAL" clId="{9F23B798-9E84-4552-BA63-E776E805C424}" dt="2026-09-24T01:33:57.614" v="14" actId="21"/>
          <ac:picMkLst>
            <pc:docMk/>
            <pc:sldMk cId="0" sldId="258"/>
            <ac:picMk id="2" creationId="{00000000-0000-0000-0000-000000000000}"/>
          </ac:picMkLst>
        </pc:picChg>
        <pc:picChg chg="add">
          <ac:chgData name="Lai, Wilson" userId="2840974a-0d84-4886-90a9-9a3ed79f3a48" providerId="ADAL" clId="{9F23B798-9E84-4552-BA63-E776E805C424}" dt="2026-09-24T01:34:33.717" v="15" actId="22"/>
          <ac:picMkLst>
            <pc:docMk/>
            <pc:sldMk cId="0" sldId="258"/>
            <ac:picMk id="4" creationId="{34B82198-7F62-03AB-5EE6-AFED4E1D6AF9}"/>
          </ac:picMkLst>
        </pc:picChg>
      </pc:sldChg>
      <pc:sldChg chg="addSp delSp mod modNotes">
        <pc:chgData name="Lai, Wilson" userId="2840974a-0d84-4886-90a9-9a3ed79f3a48" providerId="ADAL" clId="{9F23B798-9E84-4552-BA63-E776E805C424}" dt="2026-09-24T04:46:15.572" v="106"/>
        <pc:sldMkLst>
          <pc:docMk/>
          <pc:sldMk cId="0" sldId="259"/>
        </pc:sldMkLst>
        <pc:picChg chg="del">
          <ac:chgData name="Lai, Wilson" userId="2840974a-0d84-4886-90a9-9a3ed79f3a48" providerId="ADAL" clId="{9F23B798-9E84-4552-BA63-E776E805C424}" dt="2026-09-24T01:34:35.344" v="16" actId="21"/>
          <ac:picMkLst>
            <pc:docMk/>
            <pc:sldMk cId="0" sldId="259"/>
            <ac:picMk id="2" creationId="{00000000-0000-0000-0000-000000000000}"/>
          </ac:picMkLst>
        </pc:picChg>
        <pc:picChg chg="add">
          <ac:chgData name="Lai, Wilson" userId="2840974a-0d84-4886-90a9-9a3ed79f3a48" providerId="ADAL" clId="{9F23B798-9E84-4552-BA63-E776E805C424}" dt="2026-09-24T01:34:42.501" v="17" actId="22"/>
          <ac:picMkLst>
            <pc:docMk/>
            <pc:sldMk cId="0" sldId="259"/>
            <ac:picMk id="4" creationId="{35A30001-6B27-0F2E-0BC5-24E7EF8491B8}"/>
          </ac:picMkLst>
        </pc:picChg>
      </pc:sldChg>
      <pc:sldChg chg="addSp delSp mod modNotes modNotesTx">
        <pc:chgData name="Lai, Wilson" userId="2840974a-0d84-4886-90a9-9a3ed79f3a48" providerId="ADAL" clId="{9F23B798-9E84-4552-BA63-E776E805C424}" dt="2026-09-24T04:46:15.572" v="106"/>
        <pc:sldMkLst>
          <pc:docMk/>
          <pc:sldMk cId="0" sldId="260"/>
        </pc:sldMkLst>
        <pc:picChg chg="del">
          <ac:chgData name="Lai, Wilson" userId="2840974a-0d84-4886-90a9-9a3ed79f3a48" providerId="ADAL" clId="{9F23B798-9E84-4552-BA63-E776E805C424}" dt="2026-09-24T01:34:44.016" v="18" actId="21"/>
          <ac:picMkLst>
            <pc:docMk/>
            <pc:sldMk cId="0" sldId="260"/>
            <ac:picMk id="2" creationId="{00000000-0000-0000-0000-000000000000}"/>
          </ac:picMkLst>
        </pc:picChg>
        <pc:picChg chg="add">
          <ac:chgData name="Lai, Wilson" userId="2840974a-0d84-4886-90a9-9a3ed79f3a48" providerId="ADAL" clId="{9F23B798-9E84-4552-BA63-E776E805C424}" dt="2026-09-24T01:34:50.352" v="19" actId="22"/>
          <ac:picMkLst>
            <pc:docMk/>
            <pc:sldMk cId="0" sldId="260"/>
            <ac:picMk id="4" creationId="{B63F8811-5FD1-B293-7337-069401A8D30F}"/>
          </ac:picMkLst>
        </pc:picChg>
      </pc:sldChg>
      <pc:sldChg chg="addSp delSp mod modNotes">
        <pc:chgData name="Lai, Wilson" userId="2840974a-0d84-4886-90a9-9a3ed79f3a48" providerId="ADAL" clId="{9F23B798-9E84-4552-BA63-E776E805C424}" dt="2026-09-24T04:46:15.572" v="106"/>
        <pc:sldMkLst>
          <pc:docMk/>
          <pc:sldMk cId="0" sldId="261"/>
        </pc:sldMkLst>
        <pc:picChg chg="del">
          <ac:chgData name="Lai, Wilson" userId="2840974a-0d84-4886-90a9-9a3ed79f3a48" providerId="ADAL" clId="{9F23B798-9E84-4552-BA63-E776E805C424}" dt="2026-09-24T01:34:51.757" v="20" actId="21"/>
          <ac:picMkLst>
            <pc:docMk/>
            <pc:sldMk cId="0" sldId="261"/>
            <ac:picMk id="2" creationId="{00000000-0000-0000-0000-000000000000}"/>
          </ac:picMkLst>
        </pc:picChg>
        <pc:picChg chg="add">
          <ac:chgData name="Lai, Wilson" userId="2840974a-0d84-4886-90a9-9a3ed79f3a48" providerId="ADAL" clId="{9F23B798-9E84-4552-BA63-E776E805C424}" dt="2026-09-24T01:34:59.180" v="21" actId="22"/>
          <ac:picMkLst>
            <pc:docMk/>
            <pc:sldMk cId="0" sldId="261"/>
            <ac:picMk id="4" creationId="{C0ACB341-C94C-8865-3CC3-D22E720377C0}"/>
          </ac:picMkLst>
        </pc:picChg>
      </pc:sldChg>
      <pc:sldChg chg="addSp delSp mod modNotes modNotesTx">
        <pc:chgData name="Lai, Wilson" userId="2840974a-0d84-4886-90a9-9a3ed79f3a48" providerId="ADAL" clId="{9F23B798-9E84-4552-BA63-E776E805C424}" dt="2026-09-24T04:46:15.572" v="106"/>
        <pc:sldMkLst>
          <pc:docMk/>
          <pc:sldMk cId="0" sldId="262"/>
        </pc:sldMkLst>
        <pc:picChg chg="del">
          <ac:chgData name="Lai, Wilson" userId="2840974a-0d84-4886-90a9-9a3ed79f3a48" providerId="ADAL" clId="{9F23B798-9E84-4552-BA63-E776E805C424}" dt="2026-09-24T02:46:07.728" v="49" actId="21"/>
          <ac:picMkLst>
            <pc:docMk/>
            <pc:sldMk cId="0" sldId="262"/>
            <ac:picMk id="2" creationId="{00000000-0000-0000-0000-000000000000}"/>
          </ac:picMkLst>
        </pc:picChg>
        <pc:picChg chg="add">
          <ac:chgData name="Lai, Wilson" userId="2840974a-0d84-4886-90a9-9a3ed79f3a48" providerId="ADAL" clId="{9F23B798-9E84-4552-BA63-E776E805C424}" dt="2026-09-24T02:46:18.364" v="50" actId="22"/>
          <ac:picMkLst>
            <pc:docMk/>
            <pc:sldMk cId="0" sldId="262"/>
            <ac:picMk id="4" creationId="{18BCCA49-8E69-5107-327F-E1705E7FB81B}"/>
          </ac:picMkLst>
        </pc:picChg>
      </pc:sldChg>
      <pc:sldChg chg="addSp delSp mod modNotes modNotesTx">
        <pc:chgData name="Lai, Wilson" userId="2840974a-0d84-4886-90a9-9a3ed79f3a48" providerId="ADAL" clId="{9F23B798-9E84-4552-BA63-E776E805C424}" dt="2026-09-24T04:46:15.572" v="106"/>
        <pc:sldMkLst>
          <pc:docMk/>
          <pc:sldMk cId="0" sldId="263"/>
        </pc:sldMkLst>
        <pc:picChg chg="del">
          <ac:chgData name="Lai, Wilson" userId="2840974a-0d84-4886-90a9-9a3ed79f3a48" providerId="ADAL" clId="{9F23B798-9E84-4552-BA63-E776E805C424}" dt="2026-09-24T01:35:00.334" v="22" actId="21"/>
          <ac:picMkLst>
            <pc:docMk/>
            <pc:sldMk cId="0" sldId="263"/>
            <ac:picMk id="2" creationId="{00000000-0000-0000-0000-000000000000}"/>
          </ac:picMkLst>
        </pc:picChg>
        <pc:picChg chg="add">
          <ac:chgData name="Lai, Wilson" userId="2840974a-0d84-4886-90a9-9a3ed79f3a48" providerId="ADAL" clId="{9F23B798-9E84-4552-BA63-E776E805C424}" dt="2026-09-24T01:35:22.541" v="23" actId="22"/>
          <ac:picMkLst>
            <pc:docMk/>
            <pc:sldMk cId="0" sldId="263"/>
            <ac:picMk id="4" creationId="{85482929-D4D9-531C-7F8E-C391EBC9D251}"/>
          </ac:picMkLst>
        </pc:picChg>
      </pc:sldChg>
      <pc:sldChg chg="addSp delSp mod modNotes modNotesTx">
        <pc:chgData name="Lai, Wilson" userId="2840974a-0d84-4886-90a9-9a3ed79f3a48" providerId="ADAL" clId="{9F23B798-9E84-4552-BA63-E776E805C424}" dt="2026-09-24T04:46:15.572" v="106"/>
        <pc:sldMkLst>
          <pc:docMk/>
          <pc:sldMk cId="0" sldId="264"/>
        </pc:sldMkLst>
        <pc:picChg chg="del">
          <ac:chgData name="Lai, Wilson" userId="2840974a-0d84-4886-90a9-9a3ed79f3a48" providerId="ADAL" clId="{9F23B798-9E84-4552-BA63-E776E805C424}" dt="2026-09-24T02:47:46.143" v="51" actId="21"/>
          <ac:picMkLst>
            <pc:docMk/>
            <pc:sldMk cId="0" sldId="264"/>
            <ac:picMk id="2" creationId="{00000000-0000-0000-0000-000000000000}"/>
          </ac:picMkLst>
        </pc:picChg>
        <pc:picChg chg="add">
          <ac:chgData name="Lai, Wilson" userId="2840974a-0d84-4886-90a9-9a3ed79f3a48" providerId="ADAL" clId="{9F23B798-9E84-4552-BA63-E776E805C424}" dt="2026-09-24T02:47:55.770" v="52" actId="22"/>
          <ac:picMkLst>
            <pc:docMk/>
            <pc:sldMk cId="0" sldId="264"/>
            <ac:picMk id="4" creationId="{5DEDF51E-1DDD-BB24-6AAD-B39EAA400B15}"/>
          </ac:picMkLst>
        </pc:picChg>
      </pc:sldChg>
      <pc:sldChg chg="addSp delSp mod modNotes modNotesTx">
        <pc:chgData name="Lai, Wilson" userId="2840974a-0d84-4886-90a9-9a3ed79f3a48" providerId="ADAL" clId="{9F23B798-9E84-4552-BA63-E776E805C424}" dt="2026-09-24T04:46:15.572" v="106"/>
        <pc:sldMkLst>
          <pc:docMk/>
          <pc:sldMk cId="0" sldId="265"/>
        </pc:sldMkLst>
        <pc:picChg chg="del">
          <ac:chgData name="Lai, Wilson" userId="2840974a-0d84-4886-90a9-9a3ed79f3a48" providerId="ADAL" clId="{9F23B798-9E84-4552-BA63-E776E805C424}" dt="2026-09-24T01:35:29.657" v="24" actId="21"/>
          <ac:picMkLst>
            <pc:docMk/>
            <pc:sldMk cId="0" sldId="265"/>
            <ac:picMk id="2" creationId="{00000000-0000-0000-0000-000000000000}"/>
          </ac:picMkLst>
        </pc:picChg>
        <pc:picChg chg="add">
          <ac:chgData name="Lai, Wilson" userId="2840974a-0d84-4886-90a9-9a3ed79f3a48" providerId="ADAL" clId="{9F23B798-9E84-4552-BA63-E776E805C424}" dt="2026-09-24T01:35:43.527" v="25" actId="22"/>
          <ac:picMkLst>
            <pc:docMk/>
            <pc:sldMk cId="0" sldId="265"/>
            <ac:picMk id="4" creationId="{1451CBC4-CD4E-F564-4553-4C5B7FFF2455}"/>
          </ac:picMkLst>
        </pc:picChg>
      </pc:sldChg>
      <pc:sldChg chg="addSp delSp mod modNotes modNotesTx">
        <pc:chgData name="Lai, Wilson" userId="2840974a-0d84-4886-90a9-9a3ed79f3a48" providerId="ADAL" clId="{9F23B798-9E84-4552-BA63-E776E805C424}" dt="2026-09-24T04:46:15.572" v="106"/>
        <pc:sldMkLst>
          <pc:docMk/>
          <pc:sldMk cId="0" sldId="266"/>
        </pc:sldMkLst>
        <pc:picChg chg="del">
          <ac:chgData name="Lai, Wilson" userId="2840974a-0d84-4886-90a9-9a3ed79f3a48" providerId="ADAL" clId="{9F23B798-9E84-4552-BA63-E776E805C424}" dt="2026-09-24T01:35:45.018" v="26" actId="21"/>
          <ac:picMkLst>
            <pc:docMk/>
            <pc:sldMk cId="0" sldId="266"/>
            <ac:picMk id="2" creationId="{00000000-0000-0000-0000-000000000000}"/>
          </ac:picMkLst>
        </pc:picChg>
        <pc:picChg chg="add">
          <ac:chgData name="Lai, Wilson" userId="2840974a-0d84-4886-90a9-9a3ed79f3a48" providerId="ADAL" clId="{9F23B798-9E84-4552-BA63-E776E805C424}" dt="2026-09-24T01:35:54.274" v="27" actId="22"/>
          <ac:picMkLst>
            <pc:docMk/>
            <pc:sldMk cId="0" sldId="266"/>
            <ac:picMk id="4" creationId="{ED704FF2-8391-1C65-E131-9C6A13E37E95}"/>
          </ac:picMkLst>
        </pc:picChg>
      </pc:sldChg>
      <pc:sldChg chg="addSp delSp mod modNotes modNotesTx">
        <pc:chgData name="Lai, Wilson" userId="2840974a-0d84-4886-90a9-9a3ed79f3a48" providerId="ADAL" clId="{9F23B798-9E84-4552-BA63-E776E805C424}" dt="2026-09-24T04:46:15.572" v="106"/>
        <pc:sldMkLst>
          <pc:docMk/>
          <pc:sldMk cId="0" sldId="267"/>
        </pc:sldMkLst>
        <pc:picChg chg="add del">
          <ac:chgData name="Lai, Wilson" userId="2840974a-0d84-4886-90a9-9a3ed79f3a48" providerId="ADAL" clId="{9F23B798-9E84-4552-BA63-E776E805C424}" dt="2026-09-24T01:37:55.627" v="37" actId="21"/>
          <ac:picMkLst>
            <pc:docMk/>
            <pc:sldMk cId="0" sldId="267"/>
            <ac:picMk id="2" creationId="{00000000-0000-0000-0000-000000000000}"/>
          </ac:picMkLst>
        </pc:picChg>
        <pc:picChg chg="add">
          <ac:chgData name="Lai, Wilson" userId="2840974a-0d84-4886-90a9-9a3ed79f3a48" providerId="ADAL" clId="{9F23B798-9E84-4552-BA63-E776E805C424}" dt="2026-09-24T01:40:24.731" v="38" actId="22"/>
          <ac:picMkLst>
            <pc:docMk/>
            <pc:sldMk cId="0" sldId="267"/>
            <ac:picMk id="4" creationId="{BF195800-193F-7FD2-CE6C-9097AFFDF95E}"/>
          </ac:picMkLst>
        </pc:picChg>
      </pc:sldChg>
      <pc:sldChg chg="addSp delSp mod modNotes modNotesTx">
        <pc:chgData name="Lai, Wilson" userId="2840974a-0d84-4886-90a9-9a3ed79f3a48" providerId="ADAL" clId="{9F23B798-9E84-4552-BA63-E776E805C424}" dt="2026-09-24T04:46:15.572" v="106"/>
        <pc:sldMkLst>
          <pc:docMk/>
          <pc:sldMk cId="0" sldId="268"/>
        </pc:sldMkLst>
        <pc:picChg chg="del">
          <ac:chgData name="Lai, Wilson" userId="2840974a-0d84-4886-90a9-9a3ed79f3a48" providerId="ADAL" clId="{9F23B798-9E84-4552-BA63-E776E805C424}" dt="2026-09-24T01:36:18.484" v="30" actId="21"/>
          <ac:picMkLst>
            <pc:docMk/>
            <pc:sldMk cId="0" sldId="268"/>
            <ac:picMk id="2" creationId="{00000000-0000-0000-0000-000000000000}"/>
          </ac:picMkLst>
        </pc:picChg>
        <pc:picChg chg="add">
          <ac:chgData name="Lai, Wilson" userId="2840974a-0d84-4886-90a9-9a3ed79f3a48" providerId="ADAL" clId="{9F23B798-9E84-4552-BA63-E776E805C424}" dt="2026-09-24T01:36:26.334" v="31" actId="22"/>
          <ac:picMkLst>
            <pc:docMk/>
            <pc:sldMk cId="0" sldId="268"/>
            <ac:picMk id="4" creationId="{1CC2980C-FE07-F035-EF74-1ED70321918C}"/>
          </ac:picMkLst>
        </pc:picChg>
      </pc:sldChg>
      <pc:sldChg chg="addSp delSp modSp mod modNotes">
        <pc:chgData name="Lai, Wilson" userId="2840974a-0d84-4886-90a9-9a3ed79f3a48" providerId="ADAL" clId="{9F23B798-9E84-4552-BA63-E776E805C424}" dt="2026-09-24T04:46:15.572" v="106"/>
        <pc:sldMkLst>
          <pc:docMk/>
          <pc:sldMk cId="0" sldId="269"/>
        </pc:sldMkLst>
        <pc:picChg chg="del">
          <ac:chgData name="Lai, Wilson" userId="2840974a-0d84-4886-90a9-9a3ed79f3a48" providerId="ADAL" clId="{9F23B798-9E84-4552-BA63-E776E805C424}" dt="2026-09-24T01:36:29.607" v="32" actId="21"/>
          <ac:picMkLst>
            <pc:docMk/>
            <pc:sldMk cId="0" sldId="269"/>
            <ac:picMk id="2" creationId="{00000000-0000-0000-0000-000000000000}"/>
          </ac:picMkLst>
        </pc:picChg>
        <pc:picChg chg="add del mod">
          <ac:chgData name="Lai, Wilson" userId="2840974a-0d84-4886-90a9-9a3ed79f3a48" providerId="ADAL" clId="{9F23B798-9E84-4552-BA63-E776E805C424}" dt="2026-09-24T02:44:47.027" v="47" actId="21"/>
          <ac:picMkLst>
            <pc:docMk/>
            <pc:sldMk cId="0" sldId="269"/>
            <ac:picMk id="3" creationId="{6DD8E642-6142-CC0C-AADD-B1C0EE49EFEF}"/>
          </ac:picMkLst>
        </pc:picChg>
        <pc:picChg chg="add">
          <ac:chgData name="Lai, Wilson" userId="2840974a-0d84-4886-90a9-9a3ed79f3a48" providerId="ADAL" clId="{9F23B798-9E84-4552-BA63-E776E805C424}" dt="2026-09-24T02:45:26.671" v="48" actId="22"/>
          <ac:picMkLst>
            <pc:docMk/>
            <pc:sldMk cId="0" sldId="269"/>
            <ac:picMk id="4" creationId="{D97B3233-DDF1-17FC-1725-37AF284BE03B}"/>
          </ac:picMkLst>
        </pc:picChg>
      </pc:sldChg>
      <pc:sldChg chg="addSp delSp mod modNotes">
        <pc:chgData name="Lai, Wilson" userId="2840974a-0d84-4886-90a9-9a3ed79f3a48" providerId="ADAL" clId="{9F23B798-9E84-4552-BA63-E776E805C424}" dt="2026-09-24T04:46:15.572" v="106"/>
        <pc:sldMkLst>
          <pc:docMk/>
          <pc:sldMk cId="0" sldId="270"/>
        </pc:sldMkLst>
        <pc:picChg chg="del">
          <ac:chgData name="Lai, Wilson" userId="2840974a-0d84-4886-90a9-9a3ed79f3a48" providerId="ADAL" clId="{9F23B798-9E84-4552-BA63-E776E805C424}" dt="2026-09-24T01:36:36.437" v="33" actId="21"/>
          <ac:picMkLst>
            <pc:docMk/>
            <pc:sldMk cId="0" sldId="270"/>
            <ac:picMk id="2" creationId="{00000000-0000-0000-0000-000000000000}"/>
          </ac:picMkLst>
        </pc:picChg>
        <pc:picChg chg="add">
          <ac:chgData name="Lai, Wilson" userId="2840974a-0d84-4886-90a9-9a3ed79f3a48" providerId="ADAL" clId="{9F23B798-9E84-4552-BA63-E776E805C424}" dt="2026-09-24T01:36:45.704" v="34" actId="22"/>
          <ac:picMkLst>
            <pc:docMk/>
            <pc:sldMk cId="0" sldId="270"/>
            <ac:picMk id="4" creationId="{8A88988D-0503-9CE0-A810-E1F212239FD2}"/>
          </ac:picMkLst>
        </pc:picChg>
      </pc:sldChg>
      <pc:sldChg chg="addSp delSp mod modNotes modNotesTx">
        <pc:chgData name="Lai, Wilson" userId="2840974a-0d84-4886-90a9-9a3ed79f3a48" providerId="ADAL" clId="{9F23B798-9E84-4552-BA63-E776E805C424}" dt="2026-09-24T04:46:15.572" v="106"/>
        <pc:sldMkLst>
          <pc:docMk/>
          <pc:sldMk cId="3337628528" sldId="271"/>
        </pc:sldMkLst>
        <pc:picChg chg="del">
          <ac:chgData name="Lai, Wilson" userId="2840974a-0d84-4886-90a9-9a3ed79f3a48" providerId="ADAL" clId="{9F23B798-9E84-4552-BA63-E776E805C424}" dt="2026-09-24T01:36:47.559" v="35" actId="21"/>
          <ac:picMkLst>
            <pc:docMk/>
            <pc:sldMk cId="3337628528" sldId="271"/>
            <ac:picMk id="3" creationId="{1D5F27DA-22E7-FE7B-02AF-DC51CC7BC712}"/>
          </ac:picMkLst>
        </pc:picChg>
        <pc:picChg chg="add">
          <ac:chgData name="Lai, Wilson" userId="2840974a-0d84-4886-90a9-9a3ed79f3a48" providerId="ADAL" clId="{9F23B798-9E84-4552-BA63-E776E805C424}" dt="2026-09-24T01:36:54.993" v="36" actId="22"/>
          <ac:picMkLst>
            <pc:docMk/>
            <pc:sldMk cId="3337628528" sldId="271"/>
            <ac:picMk id="4" creationId="{3F06232C-BE6F-0910-5B5F-43881674525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296208-1117-4253-8177-63E1C9C57DB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EF5B36-5B79-428F-98C1-EB2C337EAFB2}" type="slidenum">
              <a:rPr lang="en-US" smtClean="0"/>
              <a:t>‹#›</a:t>
            </a:fld>
            <a:endParaRPr lang="en-US"/>
          </a:p>
        </p:txBody>
      </p:sp>
    </p:spTree>
    <p:extLst>
      <p:ext uri="{BB962C8B-B14F-4D97-AF65-F5344CB8AC3E}">
        <p14:creationId xmlns:p14="http://schemas.microsoft.com/office/powerpoint/2010/main" val="2041483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Hello everyone, and welcome. Today, we’re presenting the </a:t>
            </a:r>
            <a:r>
              <a:rPr lang="en-US" sz="1200" i="1" kern="1200" dirty="0">
                <a:solidFill>
                  <a:schemeClr val="tx1"/>
                </a:solidFill>
                <a:effectLst/>
                <a:latin typeface="+mn-lt"/>
                <a:ea typeface="+mn-ea"/>
                <a:cs typeface="+mn-cs"/>
              </a:rPr>
              <a:t>Production AI Agent Blueprint</a:t>
            </a:r>
            <a:r>
              <a:rPr lang="en-US" sz="1200" kern="1200" dirty="0">
                <a:solidFill>
                  <a:schemeClr val="tx1"/>
                </a:solidFill>
                <a:effectLst/>
                <a:latin typeface="+mn-lt"/>
                <a:ea typeface="+mn-ea"/>
                <a:cs typeface="+mn-cs"/>
              </a:rPr>
              <a:t>—a complete framework for taking AI agents out of the experimental demo stage and deploying them safely into production. </a:t>
            </a:r>
          </a:p>
          <a:p>
            <a:r>
              <a:rPr lang="en-US" sz="1200" kern="1200" dirty="0">
                <a:solidFill>
                  <a:schemeClr val="tx1"/>
                </a:solidFill>
                <a:effectLst/>
                <a:latin typeface="+mn-lt"/>
                <a:ea typeface="+mn-ea"/>
                <a:cs typeface="+mn-cs"/>
              </a:rPr>
              <a:t>Right now, AI development is moving at breakneck speed. Building a prototype agent in a Jupyter notebook or a lightweight script is remarkably fast. But as soon as you try to ship that agent into a real production environment where users rely on it for critical workflows—like processing purchases, executing long-running research, or coordinating multi-step transactions—everything changes. </a:t>
            </a:r>
          </a:p>
          <a:p>
            <a:r>
              <a:rPr lang="en-US" sz="1200" kern="1200" dirty="0">
                <a:solidFill>
                  <a:schemeClr val="tx1"/>
                </a:solidFill>
                <a:effectLst/>
                <a:latin typeface="+mn-lt"/>
                <a:ea typeface="+mn-ea"/>
                <a:cs typeface="+mn-cs"/>
              </a:rPr>
              <a:t>In production, you run into two major brick walls: </a:t>
            </a:r>
          </a:p>
          <a:p>
            <a:pPr marL="228600" lvl="0" indent="-228600">
              <a:buFont typeface="+mj-lt"/>
              <a:buAutoNum type="arabicPeriod"/>
            </a:pPr>
            <a:r>
              <a:rPr lang="en-US" sz="1200" b="1" kern="1200" dirty="0">
                <a:solidFill>
                  <a:schemeClr val="tx1"/>
                </a:solidFill>
                <a:effectLst/>
                <a:latin typeface="+mn-lt"/>
                <a:ea typeface="+mn-ea"/>
                <a:cs typeface="+mn-cs"/>
              </a:rPr>
              <a:t>Infrastructure Chaos:</a:t>
            </a:r>
            <a:r>
              <a:rPr lang="en-US" sz="1200" kern="1200" dirty="0">
                <a:solidFill>
                  <a:schemeClr val="tx1"/>
                </a:solidFill>
                <a:effectLst/>
                <a:latin typeface="+mn-lt"/>
                <a:ea typeface="+mn-ea"/>
                <a:cs typeface="+mn-cs"/>
              </a:rPr>
              <a:t> Network blips, third-party API timeouts (like Stripe or OpenAI dropping connections), server restarts, and container deaths mid-task. </a:t>
            </a:r>
          </a:p>
          <a:p>
            <a:pPr marL="228600" lvl="0" indent="-228600">
              <a:buFont typeface="+mj-lt"/>
              <a:buAutoNum type="arabicPeriod"/>
            </a:pPr>
            <a:r>
              <a:rPr lang="en-US" sz="1200" b="1" kern="1200" dirty="0">
                <a:solidFill>
                  <a:schemeClr val="tx1"/>
                </a:solidFill>
                <a:effectLst/>
                <a:latin typeface="+mn-lt"/>
                <a:ea typeface="+mn-ea"/>
                <a:cs typeface="+mn-cs"/>
              </a:rPr>
              <a:t>Model Chaos:</a:t>
            </a:r>
            <a:r>
              <a:rPr lang="en-US" sz="1200" kern="1200" dirty="0">
                <a:solidFill>
                  <a:schemeClr val="tx1"/>
                </a:solidFill>
                <a:effectLst/>
                <a:latin typeface="+mn-lt"/>
                <a:ea typeface="+mn-ea"/>
                <a:cs typeface="+mn-cs"/>
              </a:rPr>
              <a:t> LLMs hallucinating non-existent items, making improper tool choices, losing context, or looping endlessly. </a:t>
            </a:r>
          </a:p>
          <a:p>
            <a:pPr marL="0" indent="0">
              <a:buFont typeface="+mj-lt"/>
              <a:buNone/>
            </a:pPr>
            <a:r>
              <a:rPr lang="en-US" sz="1200" kern="1200" dirty="0">
                <a:solidFill>
                  <a:schemeClr val="tx1"/>
                </a:solidFill>
                <a:effectLst/>
                <a:latin typeface="+mn-lt"/>
                <a:ea typeface="+mn-ea"/>
                <a:cs typeface="+mn-cs"/>
              </a:rPr>
              <a:t>To solve both halves of this problem, you need a dual architecture. </a:t>
            </a:r>
            <a:r>
              <a:rPr lang="en-US" sz="1200" b="1" kern="1200" dirty="0">
                <a:solidFill>
                  <a:schemeClr val="tx1"/>
                </a:solidFill>
                <a:effectLst/>
                <a:latin typeface="+mn-lt"/>
                <a:ea typeface="+mn-ea"/>
                <a:cs typeface="+mn-cs"/>
              </a:rPr>
              <a:t>Temporal</a:t>
            </a:r>
            <a:r>
              <a:rPr lang="en-US" sz="1200" kern="1200" dirty="0">
                <a:solidFill>
                  <a:schemeClr val="tx1"/>
                </a:solidFill>
                <a:effectLst/>
                <a:latin typeface="+mn-lt"/>
                <a:ea typeface="+mn-ea"/>
                <a:cs typeface="+mn-cs"/>
              </a:rPr>
              <a:t> provides the </a:t>
            </a:r>
            <a:r>
              <a:rPr lang="en-US" sz="1200" i="1" kern="1200" dirty="0">
                <a:solidFill>
                  <a:schemeClr val="tx1"/>
                </a:solidFill>
                <a:effectLst/>
                <a:latin typeface="+mn-lt"/>
                <a:ea typeface="+mn-ea"/>
                <a:cs typeface="+mn-cs"/>
              </a:rPr>
              <a:t>Durable Execution</a:t>
            </a:r>
            <a:r>
              <a:rPr lang="en-US" sz="1200" kern="1200" dirty="0">
                <a:solidFill>
                  <a:schemeClr val="tx1"/>
                </a:solidFill>
                <a:effectLst/>
                <a:latin typeface="+mn-lt"/>
                <a:ea typeface="+mn-ea"/>
                <a:cs typeface="+mn-cs"/>
              </a:rPr>
              <a:t> layer that keeps your code running to completion no matter what crashes beneath it. </a:t>
            </a: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provides the </a:t>
            </a:r>
            <a:r>
              <a:rPr lang="en-US" sz="1200" i="1" kern="1200" dirty="0">
                <a:solidFill>
                  <a:schemeClr val="tx1"/>
                </a:solidFill>
                <a:effectLst/>
                <a:latin typeface="+mn-lt"/>
                <a:ea typeface="+mn-ea"/>
                <a:cs typeface="+mn-cs"/>
              </a:rPr>
              <a:t>AI Observability and Evaluation</a:t>
            </a:r>
            <a:r>
              <a:rPr lang="en-US" sz="1200" kern="1200" dirty="0">
                <a:solidFill>
                  <a:schemeClr val="tx1"/>
                </a:solidFill>
                <a:effectLst/>
                <a:latin typeface="+mn-lt"/>
                <a:ea typeface="+mn-ea"/>
                <a:cs typeface="+mn-cs"/>
              </a:rPr>
              <a:t> layer that shows you exactly what happened inside the model’s reasoning path and automatically evaluates its quality. </a:t>
            </a:r>
          </a:p>
          <a:p>
            <a:r>
              <a:rPr lang="en-US" sz="1200" kern="1200" dirty="0">
                <a:solidFill>
                  <a:schemeClr val="tx1"/>
                </a:solidFill>
                <a:effectLst/>
                <a:latin typeface="+mn-lt"/>
                <a:ea typeface="+mn-ea"/>
                <a:cs typeface="+mn-cs"/>
              </a:rPr>
              <a:t>By the end of this deck, you’ll understand how these two systems integrate into a seamless continuous improvement loop. </a:t>
            </a:r>
          </a:p>
          <a:p>
            <a:endParaRPr lang="en-US" dirty="0"/>
          </a:p>
          <a:p>
            <a:endParaRPr lang="en-US" dirty="0"/>
          </a:p>
          <a:p>
            <a:endParaRPr lang="en-US" dirty="0"/>
          </a:p>
          <a:p>
            <a:endParaRPr lang="en-US" dirty="0"/>
          </a:p>
          <a:p>
            <a:r>
              <a:rPr lang="en-US" b="1" dirty="0"/>
              <a:t>How to Build Reliable Long-Running AI Agents | Temporal + </a:t>
            </a:r>
            <a:r>
              <a:rPr lang="en-US" b="1" dirty="0" err="1"/>
              <a:t>Arize</a:t>
            </a:r>
            <a:endParaRPr lang="en-US" b="1" dirty="0"/>
          </a:p>
          <a:p>
            <a:r>
              <a:rPr lang="en-US" dirty="0"/>
              <a:t>https://www.youtube.com/watch?v=TAXglqzS7F0</a:t>
            </a:r>
          </a:p>
        </p:txBody>
      </p:sp>
      <p:sp>
        <p:nvSpPr>
          <p:cNvPr id="4" name="Slide Number Placeholder 3"/>
          <p:cNvSpPr>
            <a:spLocks noGrp="1"/>
          </p:cNvSpPr>
          <p:nvPr>
            <p:ph type="sldNum" sz="quarter" idx="5"/>
          </p:nvPr>
        </p:nvSpPr>
        <p:spPr/>
        <p:txBody>
          <a:bodyPr/>
          <a:lstStyle/>
          <a:p>
            <a:fld id="{76EF5B36-5B79-428F-98C1-EB2C337EAFB2}" type="slidenum">
              <a:rPr lang="en-US" smtClean="0"/>
              <a:t>1</a:t>
            </a:fld>
            <a:endParaRPr lang="en-US"/>
          </a:p>
        </p:txBody>
      </p:sp>
    </p:spTree>
    <p:extLst>
      <p:ext uri="{BB962C8B-B14F-4D97-AF65-F5344CB8AC3E}">
        <p14:creationId xmlns:p14="http://schemas.microsoft.com/office/powerpoint/2010/main" val="38923365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talk about why so many AI agent projects get stuck in 'prototype purgatory'. </a:t>
            </a:r>
          </a:p>
          <a:p>
            <a:r>
              <a:rPr lang="en-US" sz="1200" kern="1200" dirty="0">
                <a:solidFill>
                  <a:schemeClr val="tx1"/>
                </a:solidFill>
                <a:effectLst/>
                <a:latin typeface="+mn-lt"/>
                <a:ea typeface="+mn-ea"/>
                <a:cs typeface="+mn-cs"/>
              </a:rPr>
              <a:t>Look at the diagram on the left. In a prototype, you build for the </a:t>
            </a:r>
            <a:r>
              <a:rPr lang="en-US" sz="1200" b="1" kern="1200" dirty="0">
                <a:solidFill>
                  <a:schemeClr val="tx1"/>
                </a:solidFill>
                <a:effectLst/>
                <a:latin typeface="+mn-lt"/>
                <a:ea typeface="+mn-ea"/>
                <a:cs typeface="+mn-cs"/>
              </a:rPr>
              <a:t>Happy Path</a:t>
            </a:r>
            <a:r>
              <a:rPr lang="en-US" sz="1200" kern="1200" dirty="0">
                <a:solidFill>
                  <a:schemeClr val="tx1"/>
                </a:solidFill>
                <a:effectLst/>
                <a:latin typeface="+mn-lt"/>
                <a:ea typeface="+mn-ea"/>
                <a:cs typeface="+mn-cs"/>
              </a:rPr>
              <a:t>. You have clean inputs, single-turn interactions, static mocks, and you test locally where containers never die and APIs always return 200 OK. In this stage, the agent behaves like a simple, linear script. </a:t>
            </a:r>
          </a:p>
          <a:p>
            <a:r>
              <a:rPr lang="en-US" sz="1200" kern="1200" dirty="0">
                <a:solidFill>
                  <a:schemeClr val="tx1"/>
                </a:solidFill>
                <a:effectLst/>
                <a:latin typeface="+mn-lt"/>
                <a:ea typeface="+mn-ea"/>
                <a:cs typeface="+mn-cs"/>
              </a:rPr>
              <a:t>But look at what happens on the right when you deploy that same script into </a:t>
            </a:r>
            <a:r>
              <a:rPr lang="en-US" sz="1200" b="1" kern="1200" dirty="0">
                <a:solidFill>
                  <a:schemeClr val="tx1"/>
                </a:solidFill>
                <a:effectLst/>
                <a:latin typeface="+mn-lt"/>
                <a:ea typeface="+mn-ea"/>
                <a:cs typeface="+mn-cs"/>
              </a:rPr>
              <a:t>Production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External API Timeouts:</a:t>
            </a:r>
            <a:r>
              <a:rPr lang="en-US" sz="1200" kern="1200" dirty="0">
                <a:solidFill>
                  <a:schemeClr val="tx1"/>
                </a:solidFill>
                <a:effectLst/>
                <a:latin typeface="+mn-lt"/>
                <a:ea typeface="+mn-ea"/>
                <a:cs typeface="+mn-cs"/>
              </a:rPr>
              <a:t> You call an external service—say, Stripe for a payment or a web search tool. The API drops the connection or takes 45 seconds to respond. Your HTTP client times out, and your entire script throws an unhandled exception.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Server &amp; Container Crashes:</a:t>
            </a:r>
            <a:r>
              <a:rPr lang="en-US" sz="1200" kern="1200" dirty="0">
                <a:solidFill>
                  <a:schemeClr val="tx1"/>
                </a:solidFill>
                <a:effectLst/>
                <a:latin typeface="+mn-lt"/>
                <a:ea typeface="+mn-ea"/>
                <a:cs typeface="+mn-cs"/>
              </a:rPr>
              <a:t> Your agent might be running a multi-step research job that takes 20 minutes or hours. Halfway through step 4, the user navigates away or Kubernetes kills the worker node due to an Out-Of-Memory (OOM) error. Everything in memory is wiped out.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Non-Deterministic Loops:</a:t>
            </a:r>
            <a:r>
              <a:rPr lang="en-US" sz="1200" kern="1200" dirty="0">
                <a:solidFill>
                  <a:schemeClr val="tx1"/>
                </a:solidFill>
                <a:effectLst/>
                <a:latin typeface="+mn-lt"/>
                <a:ea typeface="+mn-ea"/>
                <a:cs typeface="+mn-cs"/>
              </a:rPr>
              <a:t> The model decides to search for a product, gets an ambiguous response, calls the tool again, hallucinates an uncatalogued item ID, and enters an infinite tool-calling loop that burns thousands of tokens. </a:t>
            </a:r>
          </a:p>
          <a:p>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In a prototype, an AI agent acts like a script. In production, it must survive like a distributed system. You cannot build a reliable production agent simply by wrapping try/except blocks around an LLM call.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2</a:t>
            </a:fld>
            <a:endParaRPr lang="en-US"/>
          </a:p>
        </p:txBody>
      </p:sp>
    </p:spTree>
    <p:extLst>
      <p:ext uri="{BB962C8B-B14F-4D97-AF65-F5344CB8AC3E}">
        <p14:creationId xmlns:p14="http://schemas.microsoft.com/office/powerpoint/2010/main" val="24959684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can’t we just use standard software testing and monitoring tools to maintain AI agents? Because agentic software represents a fundamental paradigm shift in software engineering. </a:t>
            </a:r>
          </a:p>
          <a:p>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Traditional Software</a:t>
            </a:r>
            <a:r>
              <a:rPr lang="en-US" sz="1200" kern="1200" dirty="0">
                <a:solidFill>
                  <a:schemeClr val="tx1"/>
                </a:solidFill>
                <a:effectLst/>
                <a:latin typeface="+mn-lt"/>
                <a:ea typeface="+mn-ea"/>
                <a:cs typeface="+mn-cs"/>
              </a:rPr>
              <a:t>, you write explicit code logic—if/else branching, static routing, predictable paths. </a:t>
            </a:r>
            <a:r>
              <a:rPr lang="en-US" sz="1200" b="1" kern="1200" dirty="0">
                <a:solidFill>
                  <a:schemeClr val="tx1"/>
                </a:solidFill>
                <a:effectLst/>
                <a:latin typeface="+mn-lt"/>
                <a:ea typeface="+mn-ea"/>
                <a:cs typeface="+mn-cs"/>
              </a:rPr>
              <a:t>Code is the source of truth.</a:t>
            </a:r>
            <a:r>
              <a:rPr lang="en-US" sz="1200" kern="1200" dirty="0">
                <a:solidFill>
                  <a:schemeClr val="tx1"/>
                </a:solidFill>
                <a:effectLst/>
                <a:latin typeface="+mn-lt"/>
                <a:ea typeface="+mn-ea"/>
                <a:cs typeface="+mn-cs"/>
              </a:rPr>
              <a:t> If a user provides Input Node X, you can trace the code statically and know with 100% certainty whether it will hit Output A or Output B. You write unit tests that assert deterministic outputs. </a:t>
            </a:r>
          </a:p>
          <a:p>
            <a:r>
              <a:rPr lang="en-US" sz="1200" kern="1200" dirty="0">
                <a:solidFill>
                  <a:schemeClr val="tx1"/>
                </a:solidFill>
                <a:effectLst/>
                <a:latin typeface="+mn-lt"/>
                <a:ea typeface="+mn-ea"/>
                <a:cs typeface="+mn-cs"/>
              </a:rPr>
              <a:t>In </a:t>
            </a:r>
            <a:r>
              <a:rPr lang="en-US" sz="1200" b="1" kern="1200" dirty="0">
                <a:solidFill>
                  <a:schemeClr val="tx1"/>
                </a:solidFill>
                <a:effectLst/>
                <a:latin typeface="+mn-lt"/>
                <a:ea typeface="+mn-ea"/>
                <a:cs typeface="+mn-cs"/>
              </a:rPr>
              <a:t>Agentic Software</a:t>
            </a:r>
            <a:r>
              <a:rPr lang="en-US" sz="1200" kern="1200" dirty="0">
                <a:solidFill>
                  <a:schemeClr val="tx1"/>
                </a:solidFill>
                <a:effectLst/>
                <a:latin typeface="+mn-lt"/>
                <a:ea typeface="+mn-ea"/>
                <a:cs typeface="+mn-cs"/>
              </a:rPr>
              <a:t>, you hand control over to an LLM reasoning cycle. The model dynamically decides whether to call a tool, retrieve vector context, analyze data, or loop back to re-evaluate. </a:t>
            </a:r>
          </a:p>
          <a:p>
            <a:r>
              <a:rPr lang="en-US" sz="1200" kern="1200" dirty="0">
                <a:solidFill>
                  <a:schemeClr val="tx1"/>
                </a:solidFill>
                <a:effectLst/>
                <a:latin typeface="+mn-lt"/>
                <a:ea typeface="+mn-ea"/>
                <a:cs typeface="+mn-cs"/>
              </a:rPr>
              <a:t>This means execution is non-deterministic. You can pass the exact same user prompt three times in a row, and the model might take three completely different execution paths to reach an answer! </a:t>
            </a:r>
          </a:p>
          <a:p>
            <a:r>
              <a:rPr lang="en-US" sz="1200" kern="1200" dirty="0">
                <a:solidFill>
                  <a:schemeClr val="tx1"/>
                </a:solidFill>
                <a:effectLst/>
                <a:latin typeface="+mn-lt"/>
                <a:ea typeface="+mn-ea"/>
                <a:cs typeface="+mn-cs"/>
              </a:rPr>
              <a:t>Because of this, </a:t>
            </a:r>
            <a:r>
              <a:rPr lang="en-US" sz="1200" b="1" kern="1200" dirty="0">
                <a:solidFill>
                  <a:schemeClr val="tx1"/>
                </a:solidFill>
                <a:effectLst/>
                <a:latin typeface="+mn-lt"/>
                <a:ea typeface="+mn-ea"/>
                <a:cs typeface="+mn-cs"/>
              </a:rPr>
              <a:t>you cannot read agent code and know its execution path.</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Traces are the true source of truth.</a:t>
            </a:r>
            <a:r>
              <a:rPr lang="en-US" sz="1200" kern="1200" dirty="0">
                <a:solidFill>
                  <a:schemeClr val="tx1"/>
                </a:solidFill>
                <a:effectLst/>
                <a:latin typeface="+mn-lt"/>
                <a:ea typeface="+mn-ea"/>
                <a:cs typeface="+mn-cs"/>
              </a:rPr>
              <a:t> To understand how your agent behaved, why it made a mistake, or which tool failed, you must inspect the </a:t>
            </a:r>
            <a:r>
              <a:rPr lang="en-US" sz="1200" i="1" kern="1200" dirty="0">
                <a:solidFill>
                  <a:schemeClr val="tx1"/>
                </a:solidFill>
                <a:effectLst/>
                <a:latin typeface="+mn-lt"/>
                <a:ea typeface="+mn-ea"/>
                <a:cs typeface="+mn-cs"/>
              </a:rPr>
              <a:t>execution evidence</a:t>
            </a:r>
            <a:r>
              <a:rPr lang="en-US" sz="1200" kern="1200" dirty="0">
                <a:solidFill>
                  <a:schemeClr val="tx1"/>
                </a:solidFill>
                <a:effectLst/>
                <a:latin typeface="+mn-lt"/>
                <a:ea typeface="+mn-ea"/>
                <a:cs typeface="+mn-cs"/>
              </a:rPr>
              <a:t> captured after the run completes.</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3</a:t>
            </a:fld>
            <a:endParaRPr lang="en-US"/>
          </a:p>
        </p:txBody>
      </p:sp>
    </p:spTree>
    <p:extLst>
      <p:ext uri="{BB962C8B-B14F-4D97-AF65-F5344CB8AC3E}">
        <p14:creationId xmlns:p14="http://schemas.microsoft.com/office/powerpoint/2010/main" val="1382025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run AI agents reliably at scale, production systems must fulfill two distinct mandates, answered by two core engineering questions: </a:t>
            </a:r>
          </a:p>
          <a:p>
            <a:r>
              <a:rPr lang="en-US" sz="1200" b="1" kern="1200" dirty="0">
                <a:solidFill>
                  <a:schemeClr val="tx1"/>
                </a:solidFill>
                <a:effectLst/>
                <a:latin typeface="+mn-lt"/>
                <a:ea typeface="+mn-ea"/>
                <a:cs typeface="+mn-cs"/>
              </a:rPr>
              <a:t>Mandate 1: Did the agent finish the job?</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Domain:</a:t>
            </a:r>
            <a:r>
              <a:rPr lang="en-US" sz="1200" kern="1200" dirty="0">
                <a:solidFill>
                  <a:schemeClr val="tx1"/>
                </a:solidFill>
                <a:effectLst/>
                <a:latin typeface="+mn-lt"/>
                <a:ea typeface="+mn-ea"/>
                <a:cs typeface="+mn-cs"/>
              </a:rPr>
              <a:t> Durable Execution, handled by </a:t>
            </a:r>
            <a:r>
              <a:rPr lang="en-US" sz="1200" b="1" kern="1200" dirty="0">
                <a:solidFill>
                  <a:schemeClr val="tx1"/>
                </a:solidFill>
                <a:effectLst/>
                <a:latin typeface="+mn-lt"/>
                <a:ea typeface="+mn-ea"/>
                <a:cs typeface="+mn-cs"/>
              </a:rPr>
              <a:t>Temporal</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Failure Modes Addressed:</a:t>
            </a:r>
            <a:r>
              <a:rPr lang="en-US" sz="1200" kern="1200" dirty="0">
                <a:solidFill>
                  <a:schemeClr val="tx1"/>
                </a:solidFill>
                <a:effectLst/>
                <a:latin typeface="+mn-lt"/>
                <a:ea typeface="+mn-ea"/>
                <a:cs typeface="+mn-cs"/>
              </a:rPr>
              <a:t> Infrastructure crashes, network glitches, API rate-limits, container evictions, and long delays waiting for asynchronous events.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Temporal maintains persistent state history and automated retries. It guarantees that no matter what happens to your underlying compute nodes, your agent’s workflow runs to completion. </a:t>
            </a:r>
          </a:p>
          <a:p>
            <a:r>
              <a:rPr lang="en-US" sz="1200" b="1" kern="1200" dirty="0">
                <a:solidFill>
                  <a:schemeClr val="tx1"/>
                </a:solidFill>
                <a:effectLst/>
                <a:latin typeface="+mn-lt"/>
                <a:ea typeface="+mn-ea"/>
                <a:cs typeface="+mn-cs"/>
              </a:rPr>
              <a:t>Mandate 2: Did the agent do the right thing?</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Domain:</a:t>
            </a:r>
            <a:r>
              <a:rPr lang="en-US" sz="1200" kern="1200" dirty="0">
                <a:solidFill>
                  <a:schemeClr val="tx1"/>
                </a:solidFill>
                <a:effectLst/>
                <a:latin typeface="+mn-lt"/>
                <a:ea typeface="+mn-ea"/>
                <a:cs typeface="+mn-cs"/>
              </a:rPr>
              <a:t> AI Observability and Quality, handled by </a:t>
            </a: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Failure Modes Addressed:</a:t>
            </a:r>
            <a:r>
              <a:rPr lang="en-US" sz="1200" kern="1200" dirty="0">
                <a:solidFill>
                  <a:schemeClr val="tx1"/>
                </a:solidFill>
                <a:effectLst/>
                <a:latin typeface="+mn-lt"/>
                <a:ea typeface="+mn-ea"/>
                <a:cs typeface="+mn-cs"/>
              </a:rPr>
              <a:t> LLM hallucinations, wrong tool routing, ignoring retrieved context, generating harmful content, or losing multi-turn conversation context.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Mechanism: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uses distributed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OpenInference</a:t>
            </a:r>
            <a:r>
              <a:rPr lang="en-US" sz="1200" kern="1200" dirty="0">
                <a:solidFill>
                  <a:schemeClr val="tx1"/>
                </a:solidFill>
                <a:effectLst/>
                <a:latin typeface="+mn-lt"/>
                <a:ea typeface="+mn-ea"/>
                <a:cs typeface="+mn-cs"/>
              </a:rPr>
              <a:t> traces and automated LLM-as-a-Judge evaluators. </a:t>
            </a:r>
          </a:p>
          <a:p>
            <a:pPr marL="0" indent="0">
              <a:buFontTx/>
              <a:buNone/>
            </a:pPr>
            <a:r>
              <a:rPr lang="en-US" sz="1200" kern="1200" dirty="0">
                <a:solidFill>
                  <a:schemeClr val="tx1"/>
                </a:solidFill>
                <a:effectLst/>
                <a:latin typeface="+mn-lt"/>
                <a:ea typeface="+mn-ea"/>
                <a:cs typeface="+mn-cs"/>
              </a:rPr>
              <a:t>If your agent finishes its job but outputs hallucinated nonsense, you fail. Conversely, if your agent has perfect prompt logic but dies during a server migration, you also fail. You need both systems working in harmony.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4</a:t>
            </a:fld>
            <a:endParaRPr lang="en-US"/>
          </a:p>
        </p:txBody>
      </p:sp>
    </p:spTree>
    <p:extLst>
      <p:ext uri="{BB962C8B-B14F-4D97-AF65-F5344CB8AC3E}">
        <p14:creationId xmlns:p14="http://schemas.microsoft.com/office/powerpoint/2010/main" val="3729233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dive into how Temporal achieves </a:t>
            </a:r>
            <a:r>
              <a:rPr lang="en-US" sz="1200" b="1" kern="1200" dirty="0">
                <a:solidFill>
                  <a:schemeClr val="tx1"/>
                </a:solidFill>
                <a:effectLst/>
                <a:latin typeface="+mn-lt"/>
                <a:ea typeface="+mn-ea"/>
                <a:cs typeface="+mn-cs"/>
              </a:rPr>
              <a:t>Durable Execution</a:t>
            </a:r>
            <a:r>
              <a:rPr lang="en-US" sz="1200" kern="1200" dirty="0">
                <a:solidFill>
                  <a:schemeClr val="tx1"/>
                </a:solidFill>
                <a:effectLst/>
                <a:latin typeface="+mn-lt"/>
                <a:ea typeface="+mn-ea"/>
                <a:cs typeface="+mn-cs"/>
              </a:rPr>
              <a:t> and defeats server crashes. </a:t>
            </a:r>
          </a:p>
          <a:p>
            <a:r>
              <a:rPr lang="en-US" sz="1200" kern="1200" dirty="0">
                <a:solidFill>
                  <a:schemeClr val="tx1"/>
                </a:solidFill>
                <a:effectLst/>
                <a:latin typeface="+mn-lt"/>
                <a:ea typeface="+mn-ea"/>
                <a:cs typeface="+mn-cs"/>
              </a:rPr>
              <a:t>Imagine an agent executing a complex, 5-hour multi-step research or workflow process. On the left, Worker Node A is processing step 3. Suddenly—due to a cloud outage, memory limit exceedance, or container crash—Worker Node A dies. </a:t>
            </a:r>
          </a:p>
          <a:p>
            <a:r>
              <a:rPr lang="en-US" sz="1200" kern="1200" dirty="0">
                <a:solidFill>
                  <a:schemeClr val="tx1"/>
                </a:solidFill>
                <a:effectLst/>
                <a:latin typeface="+mn-lt"/>
                <a:ea typeface="+mn-ea"/>
                <a:cs typeface="+mn-cs"/>
              </a:rPr>
              <a:t>In a conventional architecture, everything in memory is destroyed. You would have to re-start the workflow from step 1, re-query vector databases, re-run expensive LLM prompts, and burn duplicate tokens. </a:t>
            </a:r>
          </a:p>
          <a:p>
            <a:r>
              <a:rPr lang="en-US" sz="1200" kern="1200" dirty="0">
                <a:solidFill>
                  <a:schemeClr val="tx1"/>
                </a:solidFill>
                <a:effectLst/>
                <a:latin typeface="+mn-lt"/>
                <a:ea typeface="+mn-ea"/>
                <a:cs typeface="+mn-cs"/>
              </a:rPr>
              <a:t>With Temporal, every action, event, and state transition is safely recorded in a central, highly reliable </a:t>
            </a:r>
            <a:r>
              <a:rPr lang="en-US" sz="1200" b="1" kern="1200" dirty="0">
                <a:solidFill>
                  <a:schemeClr val="tx1"/>
                </a:solidFill>
                <a:effectLst/>
                <a:latin typeface="+mn-lt"/>
                <a:ea typeface="+mn-ea"/>
                <a:cs typeface="+mn-cs"/>
              </a:rPr>
              <a:t>History Table</a:t>
            </a:r>
            <a:r>
              <a:rPr lang="en-US" sz="1200" kern="1200" dirty="0">
                <a:solidFill>
                  <a:schemeClr val="tx1"/>
                </a:solidFill>
                <a:effectLst/>
                <a:latin typeface="+mn-lt"/>
                <a:ea typeface="+mn-ea"/>
                <a:cs typeface="+mn-cs"/>
              </a:rPr>
              <a:t> (Persistent State). </a:t>
            </a:r>
          </a:p>
          <a:p>
            <a:r>
              <a:rPr lang="en-US" sz="1200" kern="1200" dirty="0">
                <a:solidFill>
                  <a:schemeClr val="tx1"/>
                </a:solidFill>
                <a:effectLst/>
                <a:latin typeface="+mn-lt"/>
                <a:ea typeface="+mn-ea"/>
                <a:cs typeface="+mn-cs"/>
              </a:rPr>
              <a:t>When Worker Node A dies, the Temporal cluster instantly detects the heart-beat loss and reassigns the workflow to </a:t>
            </a:r>
            <a:r>
              <a:rPr lang="en-US" sz="1200" b="1" kern="1200" dirty="0">
                <a:solidFill>
                  <a:schemeClr val="tx1"/>
                </a:solidFill>
                <a:effectLst/>
                <a:latin typeface="+mn-lt"/>
                <a:ea typeface="+mn-ea"/>
                <a:cs typeface="+mn-cs"/>
              </a:rPr>
              <a:t>Worker Node B</a:t>
            </a:r>
            <a:r>
              <a:rPr lang="en-US" sz="1200" kern="1200" dirty="0">
                <a:solidFill>
                  <a:schemeClr val="tx1"/>
                </a:solidFill>
                <a:effectLst/>
                <a:latin typeface="+mn-lt"/>
                <a:ea typeface="+mn-ea"/>
                <a:cs typeface="+mn-cs"/>
              </a:rPr>
              <a:t>. Worker Node B reads the History Table, reconstructs the precise local memory state, and </a:t>
            </a:r>
            <a:r>
              <a:rPr lang="en-US" sz="1200" b="1" kern="1200" dirty="0">
                <a:solidFill>
                  <a:schemeClr val="tx1"/>
                </a:solidFill>
                <a:effectLst/>
                <a:latin typeface="+mn-lt"/>
                <a:ea typeface="+mn-ea"/>
                <a:cs typeface="+mn-cs"/>
              </a:rPr>
              <a:t>resumes execution at the exact point of failure</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Result:</a:t>
            </a:r>
            <a:r>
              <a:rPr lang="en-US" sz="1200" kern="1200" dirty="0">
                <a:solidFill>
                  <a:schemeClr val="tx1"/>
                </a:solidFill>
                <a:effectLst/>
                <a:latin typeface="+mn-lt"/>
                <a:ea typeface="+mn-ea"/>
                <a:cs typeface="+mn-cs"/>
              </a:rPr>
              <a:t> The code never loses its place, no previous LLM steps need to be re-run, and you achieve </a:t>
            </a:r>
            <a:r>
              <a:rPr lang="en-US" sz="1200" b="1" kern="1200" dirty="0">
                <a:solidFill>
                  <a:schemeClr val="tx1"/>
                </a:solidFill>
                <a:effectLst/>
                <a:latin typeface="+mn-lt"/>
                <a:ea typeface="+mn-ea"/>
                <a:cs typeface="+mn-cs"/>
              </a:rPr>
              <a:t>zero token loss</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5</a:t>
            </a:fld>
            <a:endParaRPr lang="en-US"/>
          </a:p>
        </p:txBody>
      </p:sp>
    </p:spTree>
    <p:extLst>
      <p:ext uri="{BB962C8B-B14F-4D97-AF65-F5344CB8AC3E}">
        <p14:creationId xmlns:p14="http://schemas.microsoft.com/office/powerpoint/2010/main" val="11419567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build agents on Temporal, you need to understand three key core primitives: </a:t>
            </a:r>
          </a:p>
          <a:p>
            <a:pPr marL="228600" lvl="0" indent="-228600">
              <a:buFont typeface="+mj-lt"/>
              <a:buAutoNum type="arabicPeriod"/>
            </a:pPr>
            <a:r>
              <a:rPr lang="en-US" sz="1200" b="1" kern="1200" dirty="0">
                <a:solidFill>
                  <a:schemeClr val="tx1"/>
                </a:solidFill>
                <a:effectLst/>
                <a:latin typeface="+mn-lt"/>
                <a:ea typeface="+mn-ea"/>
                <a:cs typeface="+mn-cs"/>
              </a:rPr>
              <a:t>The Workflow (The Orchestrator):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high-level function that orchestrates the overall logical sequence, state, and order of operations.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Golden Rule:</a:t>
            </a:r>
            <a:r>
              <a:rPr lang="en-US" sz="1200" kern="1200" dirty="0">
                <a:solidFill>
                  <a:schemeClr val="tx1"/>
                </a:solidFill>
                <a:effectLst/>
                <a:latin typeface="+mn-lt"/>
                <a:ea typeface="+mn-ea"/>
                <a:cs typeface="+mn-cs"/>
              </a:rPr>
              <a:t> Workflows must be strictly deterministic! They define the control flow (e.g., 'Do step A, then step B in parallel, then wait for human approval'). </a:t>
            </a:r>
          </a:p>
          <a:p>
            <a:pPr marL="0" lvl="0" indent="0">
              <a:buFont typeface="Arial" panose="020B0604020202020204" pitchFamily="34" charset="0"/>
              <a:buNone/>
            </a:pPr>
            <a:r>
              <a:rPr lang="en-US" sz="1200" b="1" kern="1200" dirty="0">
                <a:solidFill>
                  <a:schemeClr val="tx1"/>
                </a:solidFill>
                <a:effectLst/>
                <a:latin typeface="+mn-lt"/>
                <a:ea typeface="+mn-ea"/>
                <a:cs typeface="+mn-cs"/>
              </a:rPr>
              <a:t>2.  The Activity (The Unit of Execution):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Where the actual non-deterministic, mutable work happens.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This is where you place external API calls, database queries, Stripe payment executions, and calls to LLM providers (OpenAI, Anthropic, local models).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If an Activity fails—say, OpenAI returns a 503 service unavailable error—Temporal automatically retries the Activity based on your configured exponential backoff strategy without restarting the entire Workflow. </a:t>
            </a:r>
          </a:p>
          <a:p>
            <a:pPr lvl="0"/>
            <a:r>
              <a:rPr lang="en-US" sz="1200" b="1" kern="1200" dirty="0">
                <a:solidFill>
                  <a:schemeClr val="tx1"/>
                </a:solidFill>
                <a:effectLst/>
                <a:latin typeface="+mn-lt"/>
                <a:ea typeface="+mn-ea"/>
                <a:cs typeface="+mn-cs"/>
              </a:rPr>
              <a:t>3.  The Worker (The Unit of Deployment):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compute layer (Docker containers, Kubernetes pods, VMs) hosting your code.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Workers poll the Temporal cluster for tasks, execute the Workflows and Activities, and report results back. You can easily scale workers up or down based on traffic load. </a:t>
            </a:r>
          </a:p>
          <a:p>
            <a:r>
              <a:rPr lang="en-US" sz="1200" kern="1200" dirty="0">
                <a:solidFill>
                  <a:schemeClr val="tx1"/>
                </a:solidFill>
                <a:effectLst/>
                <a:latin typeface="+mn-lt"/>
                <a:ea typeface="+mn-ea"/>
                <a:cs typeface="+mn-cs"/>
              </a:rPr>
              <a:t>Once your workflow completes reliably, your code has survived. But that brings us to the next big question: </a:t>
            </a:r>
            <a:r>
              <a:rPr lang="en-US" sz="1200" i="1" kern="1200" dirty="0">
                <a:solidFill>
                  <a:schemeClr val="tx1"/>
                </a:solidFill>
                <a:effectLst/>
                <a:latin typeface="+mn-lt"/>
                <a:ea typeface="+mn-ea"/>
                <a:cs typeface="+mn-cs"/>
              </a:rPr>
              <a:t>What actually happened inside the model’s head while it was running?</a:t>
            </a:r>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6</a:t>
            </a:fld>
            <a:endParaRPr lang="en-US"/>
          </a:p>
        </p:txBody>
      </p:sp>
    </p:spTree>
    <p:extLst>
      <p:ext uri="{BB962C8B-B14F-4D97-AF65-F5344CB8AC3E}">
        <p14:creationId xmlns:p14="http://schemas.microsoft.com/office/powerpoint/2010/main" val="1770920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Temporal guarantees execution, we hand off to </a:t>
            </a: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for observability. How do we open the 'black box' of an AI agent? Through </a:t>
            </a:r>
            <a:r>
              <a:rPr lang="en-US" sz="1200" b="1" kern="1200" dirty="0">
                <a:solidFill>
                  <a:schemeClr val="tx1"/>
                </a:solidFill>
                <a:effectLst/>
                <a:latin typeface="+mn-lt"/>
                <a:ea typeface="+mn-ea"/>
                <a:cs typeface="+mn-cs"/>
              </a:rPr>
              <a:t>Distributed Tracing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this trace waterfall diagram. A single agent interaction (</a:t>
            </a:r>
            <a:r>
              <a:rPr lang="en-US" sz="1200" kern="1200" dirty="0" err="1">
                <a:solidFill>
                  <a:schemeClr val="tx1"/>
                </a:solidFill>
                <a:effectLst/>
                <a:latin typeface="+mn-lt"/>
                <a:ea typeface="+mn-ea"/>
                <a:cs typeface="+mn-cs"/>
              </a:rPr>
              <a:t>agent.run_chat_session</a:t>
            </a:r>
            <a:r>
              <a:rPr lang="en-US" sz="1200" kern="1200" dirty="0">
                <a:solidFill>
                  <a:schemeClr val="tx1"/>
                </a:solidFill>
                <a:effectLst/>
                <a:latin typeface="+mn-lt"/>
                <a:ea typeface="+mn-ea"/>
                <a:cs typeface="+mn-cs"/>
              </a:rPr>
              <a:t>) took 3.2 seconds. Instead of viewing this as a single opaque block, distributed tracing breaks it down into individual </a:t>
            </a:r>
            <a:r>
              <a:rPr lang="en-US" sz="1200" b="1" kern="1200" dirty="0">
                <a:solidFill>
                  <a:schemeClr val="tx1"/>
                </a:solidFill>
                <a:effectLst/>
                <a:latin typeface="+mn-lt"/>
                <a:ea typeface="+mn-ea"/>
                <a:cs typeface="+mn-cs"/>
              </a:rPr>
              <a:t>Spans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a:t>
            </a:r>
            <a:r>
              <a:rPr lang="en-US" sz="1200" kern="1200" dirty="0" err="1">
                <a:solidFill>
                  <a:schemeClr val="tx1"/>
                </a:solidFill>
                <a:effectLst/>
                <a:latin typeface="+mn-lt"/>
                <a:ea typeface="+mn-ea"/>
                <a:cs typeface="+mn-cs"/>
              </a:rPr>
              <a:t>tool_call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search_products</a:t>
            </a:r>
            <a:r>
              <a:rPr lang="en-US" sz="1200" kern="1200" dirty="0">
                <a:solidFill>
                  <a:schemeClr val="tx1"/>
                </a:solidFill>
                <a:effectLst/>
                <a:latin typeface="+mn-lt"/>
                <a:ea typeface="+mn-ea"/>
                <a:cs typeface="+mn-cs"/>
              </a:rPr>
              <a:t> span lasting 1.1s.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 child retrieval: </a:t>
            </a:r>
            <a:r>
              <a:rPr lang="en-US" sz="1200" kern="1200" dirty="0" err="1">
                <a:solidFill>
                  <a:schemeClr val="tx1"/>
                </a:solidFill>
                <a:effectLst/>
                <a:latin typeface="+mn-lt"/>
                <a:ea typeface="+mn-ea"/>
                <a:cs typeface="+mn-cs"/>
              </a:rPr>
              <a:t>fetch_catalog_data</a:t>
            </a:r>
            <a:r>
              <a:rPr lang="en-US" sz="1200" kern="1200" dirty="0">
                <a:solidFill>
                  <a:schemeClr val="tx1"/>
                </a:solidFill>
                <a:effectLst/>
                <a:latin typeface="+mn-lt"/>
                <a:ea typeface="+mn-ea"/>
                <a:cs typeface="+mn-cs"/>
              </a:rPr>
              <a:t> span lasting 400ms.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 </a:t>
            </a:r>
            <a:r>
              <a:rPr lang="en-US" sz="1200" kern="1200" dirty="0" err="1">
                <a:solidFill>
                  <a:schemeClr val="tx1"/>
                </a:solidFill>
                <a:effectLst/>
                <a:latin typeface="+mn-lt"/>
                <a:ea typeface="+mn-ea"/>
                <a:cs typeface="+mn-cs"/>
              </a:rPr>
              <a:t>llm.completion</a:t>
            </a:r>
            <a:r>
              <a:rPr lang="en-US" sz="1200" kern="1200" dirty="0">
                <a:solidFill>
                  <a:schemeClr val="tx1"/>
                </a:solidFill>
                <a:effectLst/>
                <a:latin typeface="+mn-lt"/>
                <a:ea typeface="+mn-ea"/>
                <a:cs typeface="+mn-cs"/>
              </a:rPr>
              <a:t>: gpt-4 span lasting 1.8s. </a:t>
            </a:r>
          </a:p>
          <a:p>
            <a:r>
              <a:rPr lang="en-US" sz="1200" kern="1200" dirty="0">
                <a:solidFill>
                  <a:schemeClr val="tx1"/>
                </a:solidFill>
                <a:effectLst/>
                <a:latin typeface="+mn-lt"/>
                <a:ea typeface="+mn-ea"/>
                <a:cs typeface="+mn-cs"/>
              </a:rPr>
              <a:t>To standardize this telemetry across the industry,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leverages two open standards: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OpenTelemetry</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OTel</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 CNCF industry-standard protocol for moving distributed trace data across servers and services.</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OpenInference</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An open-source standard (donated to the CNCF by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that injects AI-specific semantics onto standard </a:t>
            </a:r>
            <a:r>
              <a:rPr lang="en-US" sz="1200" kern="1200" dirty="0" err="1">
                <a:solidFill>
                  <a:schemeClr val="tx1"/>
                </a:solidFill>
                <a:effectLst/>
                <a:latin typeface="+mn-lt"/>
                <a:ea typeface="+mn-ea"/>
                <a:cs typeface="+mn-cs"/>
              </a:rPr>
              <a:t>OTel</a:t>
            </a:r>
            <a:r>
              <a:rPr lang="en-US" sz="1200" kern="1200" dirty="0">
                <a:solidFill>
                  <a:schemeClr val="tx1"/>
                </a:solidFill>
                <a:effectLst/>
                <a:latin typeface="+mn-lt"/>
                <a:ea typeface="+mn-ea"/>
                <a:cs typeface="+mn-cs"/>
              </a:rPr>
              <a:t> spans. </a:t>
            </a:r>
          </a:p>
          <a:p>
            <a:r>
              <a:rPr lang="en-US" sz="1200" kern="1200" dirty="0" err="1">
                <a:solidFill>
                  <a:schemeClr val="tx1"/>
                </a:solidFill>
                <a:effectLst/>
                <a:latin typeface="+mn-lt"/>
                <a:ea typeface="+mn-ea"/>
                <a:cs typeface="+mn-cs"/>
              </a:rPr>
              <a:t>OpenInference</a:t>
            </a:r>
            <a:r>
              <a:rPr lang="en-US" sz="1200" kern="1200" dirty="0">
                <a:solidFill>
                  <a:schemeClr val="tx1"/>
                </a:solidFill>
                <a:effectLst/>
                <a:latin typeface="+mn-lt"/>
                <a:ea typeface="+mn-ea"/>
                <a:cs typeface="+mn-cs"/>
              </a:rPr>
              <a:t> explicitly tags generic spans as </a:t>
            </a:r>
            <a:r>
              <a:rPr lang="en-US" sz="1200" b="1" kern="1200" dirty="0">
                <a:solidFill>
                  <a:schemeClr val="tx1"/>
                </a:solidFill>
                <a:effectLst/>
                <a:latin typeface="+mn-lt"/>
                <a:ea typeface="+mn-ea"/>
                <a:cs typeface="+mn-cs"/>
              </a:rPr>
              <a:t>LLM calls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Tools</a:t>
            </a:r>
            <a:r>
              <a:rPr lang="en-US" sz="1200" kern="1200" dirty="0">
                <a:solidFill>
                  <a:schemeClr val="tx1"/>
                </a:solidFill>
                <a:effectLst/>
                <a:latin typeface="+mn-lt"/>
                <a:ea typeface="+mn-ea"/>
                <a:cs typeface="+mn-cs"/>
              </a:rPr>
              <a:t>, or </a:t>
            </a:r>
            <a:r>
              <a:rPr lang="en-US" sz="1200" b="1" kern="1200" dirty="0">
                <a:solidFill>
                  <a:schemeClr val="tx1"/>
                </a:solidFill>
                <a:effectLst/>
                <a:latin typeface="+mn-lt"/>
                <a:ea typeface="+mn-ea"/>
                <a:cs typeface="+mn-cs"/>
              </a:rPr>
              <a:t>Retrievals</a:t>
            </a:r>
            <a:r>
              <a:rPr lang="en-US" sz="1200" kern="1200" dirty="0">
                <a:solidFill>
                  <a:schemeClr val="tx1"/>
                </a:solidFill>
                <a:effectLst/>
                <a:latin typeface="+mn-lt"/>
                <a:ea typeface="+mn-ea"/>
                <a:cs typeface="+mn-cs"/>
              </a:rPr>
              <a:t>, capturing token counts, model parameters, system prompts, retrieved context, and latency per step.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7</a:t>
            </a:fld>
            <a:endParaRPr lang="en-US"/>
          </a:p>
        </p:txBody>
      </p:sp>
    </p:spTree>
    <p:extLst>
      <p:ext uri="{BB962C8B-B14F-4D97-AF65-F5344CB8AC3E}">
        <p14:creationId xmlns:p14="http://schemas.microsoft.com/office/powerpoint/2010/main" val="4061004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Having traces is step one. But in production, you can't manually read thousands of trace waterfalls every day. You need automated quality checks. This is where </a:t>
            </a:r>
            <a:r>
              <a:rPr lang="en-US" sz="1200" b="1" kern="1200" dirty="0">
                <a:solidFill>
                  <a:schemeClr val="tx1"/>
                </a:solidFill>
                <a:effectLst/>
                <a:latin typeface="+mn-lt"/>
                <a:ea typeface="+mn-ea"/>
                <a:cs typeface="+mn-cs"/>
              </a:rPr>
              <a:t>LLM-as-a-Judge Evaluators</a:t>
            </a:r>
            <a:r>
              <a:rPr lang="en-US" sz="1200" kern="1200" dirty="0">
                <a:solidFill>
                  <a:schemeClr val="tx1"/>
                </a:solidFill>
                <a:effectLst/>
                <a:latin typeface="+mn-lt"/>
                <a:ea typeface="+mn-ea"/>
                <a:cs typeface="+mn-cs"/>
              </a:rPr>
              <a:t> come in. </a:t>
            </a:r>
          </a:p>
          <a:p>
            <a:r>
              <a:rPr lang="en-US" sz="1200" kern="1200" dirty="0">
                <a:solidFill>
                  <a:schemeClr val="tx1"/>
                </a:solidFill>
                <a:effectLst/>
                <a:latin typeface="+mn-lt"/>
                <a:ea typeface="+mn-ea"/>
                <a:cs typeface="+mn-cs"/>
              </a:rPr>
              <a:t>In the demo and architecture shown on screen, we set up a </a:t>
            </a:r>
            <a:r>
              <a:rPr lang="en-US" sz="1200" b="1" kern="1200" dirty="0">
                <a:solidFill>
                  <a:schemeClr val="tx1"/>
                </a:solidFill>
                <a:effectLst/>
                <a:latin typeface="+mn-lt"/>
                <a:ea typeface="+mn-ea"/>
                <a:cs typeface="+mn-cs"/>
              </a:rPr>
              <a:t>Trace-Level Grounding Evaluator</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Look at the data flow: </a:t>
            </a:r>
          </a:p>
          <a:p>
            <a:pPr marL="228600" lvl="0" indent="-228600">
              <a:buFont typeface="+mj-lt"/>
              <a:buAutoNum type="arabicPeriod"/>
            </a:pPr>
            <a:r>
              <a:rPr lang="en-US" sz="1200" b="1" kern="1200" dirty="0">
                <a:solidFill>
                  <a:schemeClr val="tx1"/>
                </a:solidFill>
                <a:effectLst/>
                <a:latin typeface="+mn-lt"/>
                <a:ea typeface="+mn-ea"/>
                <a:cs typeface="+mn-cs"/>
              </a:rPr>
              <a:t>Retrieved Tool Data:</a:t>
            </a:r>
            <a:r>
              <a:rPr lang="en-US" sz="1200" kern="1200" dirty="0">
                <a:solidFill>
                  <a:schemeClr val="tx1"/>
                </a:solidFill>
                <a:effectLst/>
                <a:latin typeface="+mn-lt"/>
                <a:ea typeface="+mn-ea"/>
                <a:cs typeface="+mn-cs"/>
              </a:rPr>
              <a:t> The database tool returned { id: 101, name: Velvet Paws Bear, price: 32 }. </a:t>
            </a:r>
          </a:p>
          <a:p>
            <a:pPr marL="228600" lvl="0" indent="-228600">
              <a:buFont typeface="+mj-lt"/>
              <a:buAutoNum type="arabicPeriod"/>
            </a:pPr>
            <a:r>
              <a:rPr lang="en-US" sz="1200" b="1" kern="1200" dirty="0">
                <a:solidFill>
                  <a:schemeClr val="tx1"/>
                </a:solidFill>
                <a:effectLst/>
                <a:latin typeface="+mn-lt"/>
                <a:ea typeface="+mn-ea"/>
                <a:cs typeface="+mn-cs"/>
              </a:rPr>
              <a:t>Agent Output:</a:t>
            </a:r>
            <a:r>
              <a:rPr lang="en-US" sz="1200" kern="1200" dirty="0">
                <a:solidFill>
                  <a:schemeClr val="tx1"/>
                </a:solidFill>
                <a:effectLst/>
                <a:latin typeface="+mn-lt"/>
                <a:ea typeface="+mn-ea"/>
                <a:cs typeface="+mn-cs"/>
              </a:rPr>
              <a:t> The model generated: </a:t>
            </a:r>
            <a:r>
              <a:rPr lang="en-US" sz="1200" i="1" kern="1200" dirty="0">
                <a:solidFill>
                  <a:schemeClr val="tx1"/>
                </a:solidFill>
                <a:effectLst/>
                <a:latin typeface="+mn-lt"/>
                <a:ea typeface="+mn-ea"/>
                <a:cs typeface="+mn-cs"/>
              </a:rPr>
              <a:t>'I recommend the Velvet Paws Bear for your gift.'</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Grounding Evaluator:</a:t>
            </a:r>
            <a:r>
              <a:rPr lang="en-US" sz="1200" kern="1200" dirty="0">
                <a:solidFill>
                  <a:schemeClr val="tx1"/>
                </a:solidFill>
                <a:effectLst/>
                <a:latin typeface="+mn-lt"/>
                <a:ea typeface="+mn-ea"/>
                <a:cs typeface="+mn-cs"/>
              </a:rPr>
              <a:t> An automated evaluator inspects both the tool output and the final agent output. It verifies whether product names, prices, and IDs in the response are explicitly grounded in the tool context. </a:t>
            </a:r>
          </a:p>
          <a:p>
            <a:r>
              <a:rPr lang="en-US" sz="1200" kern="1200" dirty="0">
                <a:solidFill>
                  <a:schemeClr val="tx1"/>
                </a:solidFill>
                <a:effectLst/>
                <a:latin typeface="+mn-lt"/>
                <a:ea typeface="+mn-ea"/>
                <a:cs typeface="+mn-cs"/>
              </a:rPr>
              <a:t>If all facts match, it receives a score of </a:t>
            </a:r>
            <a:r>
              <a:rPr lang="en-US" sz="1200" b="1" kern="1200" dirty="0">
                <a:solidFill>
                  <a:schemeClr val="tx1"/>
                </a:solidFill>
                <a:effectLst/>
                <a:latin typeface="+mn-lt"/>
                <a:ea typeface="+mn-ea"/>
                <a:cs typeface="+mn-cs"/>
              </a:rPr>
              <a:t>[1] GROUNDED</a:t>
            </a:r>
            <a:r>
              <a:rPr lang="en-US" sz="1200" kern="1200" dirty="0">
                <a:solidFill>
                  <a:schemeClr val="tx1"/>
                </a:solidFill>
                <a:effectLst/>
                <a:latin typeface="+mn-lt"/>
                <a:ea typeface="+mn-ea"/>
                <a:cs typeface="+mn-cs"/>
              </a:rPr>
              <a:t>. If the agent invented a product name or price not returned by the tool, it receives a score of </a:t>
            </a:r>
            <a:r>
              <a:rPr lang="en-US" sz="1200" b="1" kern="1200" dirty="0">
                <a:solidFill>
                  <a:schemeClr val="tx1"/>
                </a:solidFill>
                <a:effectLst/>
                <a:latin typeface="+mn-lt"/>
                <a:ea typeface="+mn-ea"/>
                <a:cs typeface="+mn-cs"/>
              </a:rPr>
              <a:t>[0] HALLUCINATED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Crucially, as discussed in the webinar, evaluators themselves are validated against human-labeled ground truth to ensure the rubric remains accurate and aligned.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8</a:t>
            </a:fld>
            <a:endParaRPr lang="en-US"/>
          </a:p>
        </p:txBody>
      </p:sp>
    </p:spTree>
    <p:extLst>
      <p:ext uri="{BB962C8B-B14F-4D97-AF65-F5344CB8AC3E}">
        <p14:creationId xmlns:p14="http://schemas.microsoft.com/office/powerpoint/2010/main" val="715914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real-world enterprise applications, agents frequently require human authorization before executing high-value operations—like approving a $1,000 purchase or sending an external email. </a:t>
            </a:r>
          </a:p>
          <a:p>
            <a:r>
              <a:rPr lang="en-US" sz="1200" kern="1200" dirty="0">
                <a:solidFill>
                  <a:schemeClr val="tx1"/>
                </a:solidFill>
                <a:effectLst/>
                <a:latin typeface="+mn-lt"/>
                <a:ea typeface="+mn-ea"/>
                <a:cs typeface="+mn-cs"/>
              </a:rPr>
              <a:t>How do we architect </a:t>
            </a:r>
            <a:r>
              <a:rPr lang="en-US" sz="1200" b="1" kern="1200" dirty="0">
                <a:solidFill>
                  <a:schemeClr val="tx1"/>
                </a:solidFill>
                <a:effectLst/>
                <a:latin typeface="+mn-lt"/>
                <a:ea typeface="+mn-ea"/>
                <a:cs typeface="+mn-cs"/>
              </a:rPr>
              <a:t>Human-in-the-Loop</a:t>
            </a:r>
            <a:r>
              <a:rPr lang="en-US" sz="1200" kern="1200" dirty="0">
                <a:solidFill>
                  <a:schemeClr val="tx1"/>
                </a:solidFill>
                <a:effectLst/>
                <a:latin typeface="+mn-lt"/>
                <a:ea typeface="+mn-ea"/>
                <a:cs typeface="+mn-cs"/>
              </a:rPr>
              <a:t> efficiently? </a:t>
            </a:r>
          </a:p>
          <a:p>
            <a:r>
              <a:rPr lang="en-US" sz="1200" kern="1200" dirty="0">
                <a:solidFill>
                  <a:schemeClr val="tx1"/>
                </a:solidFill>
                <a:effectLst/>
                <a:latin typeface="+mn-lt"/>
                <a:ea typeface="+mn-ea"/>
                <a:cs typeface="+mn-cs"/>
              </a:rPr>
              <a:t>In Temporal, we utilize the </a:t>
            </a:r>
            <a:r>
              <a:rPr lang="en-US" sz="1200" b="1" kern="1200" dirty="0">
                <a:solidFill>
                  <a:schemeClr val="tx1"/>
                </a:solidFill>
                <a:effectLst/>
                <a:latin typeface="+mn-lt"/>
                <a:ea typeface="+mn-ea"/>
                <a:cs typeface="+mn-cs"/>
              </a:rPr>
              <a:t>Entity Pattern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Signals/Updates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Agent Loop</a:t>
            </a:r>
            <a:r>
              <a:rPr lang="en-US" sz="1200" kern="1200" dirty="0">
                <a:solidFill>
                  <a:schemeClr val="tx1"/>
                </a:solidFill>
                <a:effectLst/>
                <a:latin typeface="+mn-lt"/>
                <a:ea typeface="+mn-ea"/>
                <a:cs typeface="+mn-cs"/>
              </a:rPr>
              <a:t> runs its initial reasoning and reaches a checkpoint: </a:t>
            </a:r>
            <a:r>
              <a:rPr lang="en-US" sz="1200" kern="1200" dirty="0" err="1">
                <a:solidFill>
                  <a:schemeClr val="tx1"/>
                </a:solidFill>
                <a:effectLst/>
                <a:latin typeface="+mn-lt"/>
                <a:ea typeface="+mn-ea"/>
                <a:cs typeface="+mn-cs"/>
              </a:rPr>
              <a:t>Wait_For_Human_Approval</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kern="1200" dirty="0">
                <a:solidFill>
                  <a:schemeClr val="tx1"/>
                </a:solidFill>
                <a:effectLst/>
                <a:latin typeface="+mn-lt"/>
                <a:ea typeface="+mn-ea"/>
                <a:cs typeface="+mn-cs"/>
              </a:rPr>
              <a:t>The Temporal Workflow </a:t>
            </a:r>
            <a:r>
              <a:rPr lang="en-US" sz="1200" b="1" kern="1200" dirty="0">
                <a:solidFill>
                  <a:schemeClr val="tx1"/>
                </a:solidFill>
                <a:effectLst/>
                <a:latin typeface="+mn-lt"/>
                <a:ea typeface="+mn-ea"/>
                <a:cs typeface="+mn-cs"/>
              </a:rPr>
              <a:t>pauses and enters a suspended state</a:t>
            </a:r>
            <a:r>
              <a:rPr lang="en-US" sz="1200" kern="1200" dirty="0">
                <a:solidFill>
                  <a:schemeClr val="tx1"/>
                </a:solidFill>
                <a:effectLst/>
                <a:latin typeface="+mn-lt"/>
                <a:ea typeface="+mn-ea"/>
                <a:cs typeface="+mn-cs"/>
              </a:rPr>
              <a:t>. No compute resources, CPU cycles, or server threads are wasted while waiting. It can wait 5 minutes, 5 hours, or 5 days. </a:t>
            </a:r>
          </a:p>
          <a:p>
            <a:pPr marL="228600" lvl="0" indent="-228600">
              <a:buFont typeface="+mj-lt"/>
              <a:buAutoNum type="arabicPeriod"/>
            </a:pPr>
            <a:r>
              <a:rPr lang="en-US" sz="1200" kern="1200" dirty="0">
                <a:solidFill>
                  <a:schemeClr val="tx1"/>
                </a:solidFill>
                <a:effectLst/>
                <a:latin typeface="+mn-lt"/>
                <a:ea typeface="+mn-ea"/>
                <a:cs typeface="+mn-cs"/>
              </a:rPr>
              <a:t>When a human clicks 'Approve Purchase' in the UI, a </a:t>
            </a:r>
            <a:r>
              <a:rPr lang="en-US" sz="1200" b="1" kern="1200" dirty="0">
                <a:solidFill>
                  <a:schemeClr val="tx1"/>
                </a:solidFill>
                <a:effectLst/>
                <a:latin typeface="+mn-lt"/>
                <a:ea typeface="+mn-ea"/>
                <a:cs typeface="+mn-cs"/>
              </a:rPr>
              <a:t>Temporal Signal/Update</a:t>
            </a:r>
            <a:r>
              <a:rPr lang="en-US" sz="1200" kern="1200" dirty="0">
                <a:solidFill>
                  <a:schemeClr val="tx1"/>
                </a:solidFill>
                <a:effectLst/>
                <a:latin typeface="+mn-lt"/>
                <a:ea typeface="+mn-ea"/>
                <a:cs typeface="+mn-cs"/>
              </a:rPr>
              <a:t> injects the authorization payload directly into the workflow’s persistent state. </a:t>
            </a:r>
          </a:p>
          <a:p>
            <a:pPr marL="228600" lvl="0" indent="-228600">
              <a:buFont typeface="+mj-lt"/>
              <a:buAutoNum type="arabicPeriod"/>
            </a:pPr>
            <a:r>
              <a:rPr lang="en-US" sz="1200" kern="1200" dirty="0">
                <a:solidFill>
                  <a:schemeClr val="tx1"/>
                </a:solidFill>
                <a:effectLst/>
                <a:latin typeface="+mn-lt"/>
                <a:ea typeface="+mn-ea"/>
                <a:cs typeface="+mn-cs"/>
              </a:rPr>
              <a:t>The agent instantly resumes execution and triggers the Purchase Tool. </a:t>
            </a:r>
          </a:p>
          <a:p>
            <a:r>
              <a:rPr lang="en-US" sz="1200" kern="1200" dirty="0">
                <a:solidFill>
                  <a:schemeClr val="tx1"/>
                </a:solidFill>
                <a:effectLst/>
                <a:latin typeface="+mn-lt"/>
                <a:ea typeface="+mn-ea"/>
                <a:cs typeface="+mn-cs"/>
              </a:rPr>
              <a:t>Meanwhile,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captures this entire paused-and-resumed interaction under a </a:t>
            </a:r>
            <a:r>
              <a:rPr lang="en-US" sz="1200" b="1" kern="1200" dirty="0">
                <a:solidFill>
                  <a:schemeClr val="tx1"/>
                </a:solidFill>
                <a:effectLst/>
                <a:latin typeface="+mn-lt"/>
                <a:ea typeface="+mn-ea"/>
                <a:cs typeface="+mn-cs"/>
              </a:rPr>
              <a:t>Unified Session Trace</a:t>
            </a:r>
            <a:r>
              <a:rPr lang="en-US" sz="1200" kern="1200" dirty="0">
                <a:solidFill>
                  <a:schemeClr val="tx1"/>
                </a:solidFill>
                <a:effectLst/>
                <a:latin typeface="+mn-lt"/>
                <a:ea typeface="+mn-ea"/>
                <a:cs typeface="+mn-cs"/>
              </a:rPr>
              <a:t>. This maintains full context across multi-turn human-agent sessions, letting you inspect the exact timeline of human intervention.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9</a:t>
            </a:fld>
            <a:endParaRPr lang="en-US"/>
          </a:p>
        </p:txBody>
      </p:sp>
    </p:spTree>
    <p:extLst>
      <p:ext uri="{BB962C8B-B14F-4D97-AF65-F5344CB8AC3E}">
        <p14:creationId xmlns:p14="http://schemas.microsoft.com/office/powerpoint/2010/main" val="11392022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look at how we close the loop from observing failures to actively fixing them.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introduces an autonomous mechanism called </a:t>
            </a:r>
            <a:r>
              <a:rPr lang="en-US" sz="1200" b="1" kern="1200" dirty="0">
                <a:solidFill>
                  <a:schemeClr val="tx1"/>
                </a:solidFill>
                <a:effectLst/>
                <a:latin typeface="+mn-lt"/>
                <a:ea typeface="+mn-ea"/>
                <a:cs typeface="+mn-cs"/>
              </a:rPr>
              <a:t>The Signal Agent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Here is the automated self-healing workflow: </a:t>
            </a:r>
          </a:p>
          <a:p>
            <a:pPr marL="228600" lvl="0" indent="-228600">
              <a:buFont typeface="+mj-lt"/>
              <a:buAutoNum type="arabicPeriod"/>
            </a:pPr>
            <a:r>
              <a:rPr lang="en-US" sz="1200" b="1" kern="1200" dirty="0">
                <a:solidFill>
                  <a:schemeClr val="tx1"/>
                </a:solidFill>
                <a:effectLst/>
                <a:latin typeface="+mn-lt"/>
                <a:ea typeface="+mn-ea"/>
                <a:cs typeface="+mn-cs"/>
              </a:rPr>
              <a:t>Trace Collection:</a:t>
            </a:r>
            <a:r>
              <a:rPr lang="en-US" sz="1200" kern="1200" dirty="0">
                <a:solidFill>
                  <a:schemeClr val="tx1"/>
                </a:solidFill>
                <a:effectLst/>
                <a:latin typeface="+mn-lt"/>
                <a:ea typeface="+mn-ea"/>
                <a:cs typeface="+mn-cs"/>
              </a:rPr>
              <a:t> Telemetry and trace data flow continuously from Temporal workers into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Background Scan:</a:t>
            </a:r>
            <a:r>
              <a:rPr lang="en-US" sz="1200" kern="1200" dirty="0">
                <a:solidFill>
                  <a:schemeClr val="tx1"/>
                </a:solidFill>
                <a:effectLst/>
                <a:latin typeface="+mn-lt"/>
                <a:ea typeface="+mn-ea"/>
                <a:cs typeface="+mn-cs"/>
              </a:rPr>
              <a:t> The Signal Agent runs scheduled scans across recent trace logs. </a:t>
            </a:r>
          </a:p>
          <a:p>
            <a:pPr marL="228600" lvl="0" indent="-228600">
              <a:buFont typeface="+mj-lt"/>
              <a:buAutoNum type="arabicPeriod"/>
            </a:pPr>
            <a:r>
              <a:rPr lang="en-US" sz="1200" b="1" kern="1200" dirty="0">
                <a:solidFill>
                  <a:schemeClr val="tx1"/>
                </a:solidFill>
                <a:effectLst/>
                <a:latin typeface="+mn-lt"/>
                <a:ea typeface="+mn-ea"/>
                <a:cs typeface="+mn-cs"/>
              </a:rPr>
              <a:t>Pattern Detection:</a:t>
            </a:r>
            <a:r>
              <a:rPr lang="en-US" sz="1200" kern="1200" dirty="0">
                <a:solidFill>
                  <a:schemeClr val="tx1"/>
                </a:solidFill>
                <a:effectLst/>
                <a:latin typeface="+mn-lt"/>
                <a:ea typeface="+mn-ea"/>
                <a:cs typeface="+mn-cs"/>
              </a:rPr>
              <a:t> Rather than alerting you on isolated glitches, the Signal Agent detects systemic clusters. For instance: </a:t>
            </a:r>
            <a:r>
              <a:rPr lang="en-US" sz="1200" i="1" kern="1200" dirty="0">
                <a:solidFill>
                  <a:schemeClr val="tx1"/>
                </a:solidFill>
                <a:effectLst/>
                <a:latin typeface="+mn-lt"/>
                <a:ea typeface="+mn-ea"/>
                <a:cs typeface="+mn-cs"/>
              </a:rPr>
              <a:t>'Multiple traces show LLM fabricating products not returned by database tool calls.'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Autonomous Action:</a:t>
            </a:r>
            <a:r>
              <a:rPr lang="en-US" sz="1200" kern="1200" dirty="0">
                <a:solidFill>
                  <a:schemeClr val="tx1"/>
                </a:solidFill>
                <a:effectLst/>
                <a:latin typeface="+mn-lt"/>
                <a:ea typeface="+mn-ea"/>
                <a:cs typeface="+mn-cs"/>
              </a:rPr>
              <a:t> The Signal Agent generates an actionable solution. It opens a Pull Request (PR) in your repository with suggested prompt or logic fixes (e.g., strengthening prompt system instructions to strictly cite retrieved items). </a:t>
            </a:r>
          </a:p>
          <a:p>
            <a:pPr marL="228600" lvl="0" indent="-228600">
              <a:buFont typeface="+mj-lt"/>
              <a:buAutoNum type="arabicPeriod"/>
            </a:pPr>
            <a:r>
              <a:rPr lang="en-US" sz="1200" b="1" kern="1200" dirty="0">
                <a:solidFill>
                  <a:schemeClr val="tx1"/>
                </a:solidFill>
                <a:effectLst/>
                <a:latin typeface="+mn-lt"/>
                <a:ea typeface="+mn-ea"/>
                <a:cs typeface="+mn-cs"/>
              </a:rPr>
              <a:t>Golden Dataset Curation:</a:t>
            </a:r>
            <a:r>
              <a:rPr lang="en-US" sz="1200" kern="1200" dirty="0">
                <a:solidFill>
                  <a:schemeClr val="tx1"/>
                </a:solidFill>
                <a:effectLst/>
                <a:latin typeface="+mn-lt"/>
                <a:ea typeface="+mn-ea"/>
                <a:cs typeface="+mn-cs"/>
              </a:rPr>
              <a:t> Simultaneously, it extracts those flagged failure traces to compile a </a:t>
            </a:r>
            <a:r>
              <a:rPr lang="en-US" sz="1200" b="1" kern="1200" dirty="0">
                <a:solidFill>
                  <a:schemeClr val="tx1"/>
                </a:solidFill>
                <a:effectLst/>
                <a:latin typeface="+mn-lt"/>
                <a:ea typeface="+mn-ea"/>
                <a:cs typeface="+mn-cs"/>
              </a:rPr>
              <a:t>Golden Dataset</a:t>
            </a:r>
            <a:r>
              <a:rPr lang="en-US" sz="1200" kern="1200" dirty="0">
                <a:solidFill>
                  <a:schemeClr val="tx1"/>
                </a:solidFill>
                <a:effectLst/>
                <a:latin typeface="+mn-lt"/>
                <a:ea typeface="+mn-ea"/>
                <a:cs typeface="+mn-cs"/>
              </a:rPr>
              <a:t> for regression testing before you deploy the new release.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10</a:t>
            </a:fld>
            <a:endParaRPr lang="en-US"/>
          </a:p>
        </p:txBody>
      </p:sp>
    </p:spTree>
    <p:extLst>
      <p:ext uri="{BB962C8B-B14F-4D97-AF65-F5344CB8AC3E}">
        <p14:creationId xmlns:p14="http://schemas.microsoft.com/office/powerpoint/2010/main" val="2833783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complete </a:t>
            </a:r>
            <a:r>
              <a:rPr lang="en-US" sz="1200" b="1" kern="1200" dirty="0">
                <a:solidFill>
                  <a:schemeClr val="tx1"/>
                </a:solidFill>
                <a:effectLst/>
                <a:latin typeface="+mn-lt"/>
                <a:ea typeface="+mn-ea"/>
                <a:cs typeface="+mn-cs"/>
              </a:rPr>
              <a:t>Unified Reference Architecture</a:t>
            </a:r>
            <a:r>
              <a:rPr lang="en-US" sz="1200" kern="1200" dirty="0">
                <a:solidFill>
                  <a:schemeClr val="tx1"/>
                </a:solidFill>
                <a:effectLst/>
                <a:latin typeface="+mn-lt"/>
                <a:ea typeface="+mn-ea"/>
                <a:cs typeface="+mn-cs"/>
              </a:rPr>
              <a:t> based on the e-commerce shopping assistant demo. </a:t>
            </a:r>
          </a:p>
          <a:p>
            <a:r>
              <a:rPr lang="en-US" sz="1200" kern="1200" dirty="0">
                <a:solidFill>
                  <a:schemeClr val="tx1"/>
                </a:solidFill>
                <a:effectLst/>
                <a:latin typeface="+mn-lt"/>
                <a:ea typeface="+mn-ea"/>
                <a:cs typeface="+mn-cs"/>
              </a:rPr>
              <a:t>Let's trace a user request from end to end: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User Interface:</a:t>
            </a:r>
            <a:r>
              <a:rPr lang="en-US" sz="1200" kern="1200" dirty="0">
                <a:solidFill>
                  <a:schemeClr val="tx1"/>
                </a:solidFill>
                <a:effectLst/>
                <a:latin typeface="+mn-lt"/>
                <a:ea typeface="+mn-ea"/>
                <a:cs typeface="+mn-cs"/>
              </a:rPr>
              <a:t> The user asks the Next.js Chatbot Frontend: </a:t>
            </a:r>
            <a:r>
              <a:rPr lang="en-US" sz="1200" i="1" kern="1200" dirty="0">
                <a:solidFill>
                  <a:schemeClr val="tx1"/>
                </a:solidFill>
                <a:effectLst/>
                <a:latin typeface="+mn-lt"/>
                <a:ea typeface="+mn-ea"/>
                <a:cs typeface="+mn-cs"/>
              </a:rPr>
              <a:t>'Buy a Teddy Bear.'</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Execution Layer (Temporal):</a:t>
            </a:r>
            <a:r>
              <a:rPr lang="en-US" sz="1200" kern="1200" dirty="0">
                <a:solidFill>
                  <a:schemeClr val="tx1"/>
                </a:solidFill>
                <a:effectLst/>
                <a:latin typeface="+mn-lt"/>
                <a:ea typeface="+mn-ea"/>
                <a:cs typeface="+mn-cs"/>
              </a:rPr>
              <a:t> The frontend issues an execution request to </a:t>
            </a:r>
            <a:r>
              <a:rPr lang="en-US" sz="1200" b="1" kern="1200" dirty="0">
                <a:solidFill>
                  <a:schemeClr val="tx1"/>
                </a:solidFill>
                <a:effectLst/>
                <a:latin typeface="+mn-lt"/>
                <a:ea typeface="+mn-ea"/>
                <a:cs typeface="+mn-cs"/>
              </a:rPr>
              <a:t>Temporal Workers</a:t>
            </a:r>
            <a:r>
              <a:rPr lang="en-US" sz="1200" kern="1200" dirty="0">
                <a:solidFill>
                  <a:schemeClr val="tx1"/>
                </a:solidFill>
                <a:effectLst/>
                <a:latin typeface="+mn-lt"/>
                <a:ea typeface="+mn-ea"/>
                <a:cs typeface="+mn-cs"/>
              </a:rPr>
              <a:t> running long-lived agent workflows.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External &amp; Internal Services:</a:t>
            </a:r>
            <a:r>
              <a:rPr lang="en-US" sz="1200" kern="1200" dirty="0">
                <a:solidFill>
                  <a:schemeClr val="tx1"/>
                </a:solidFill>
                <a:effectLst/>
                <a:latin typeface="+mn-lt"/>
                <a:ea typeface="+mn-ea"/>
                <a:cs typeface="+mn-cs"/>
              </a:rPr>
              <a:t> The Temporal workflow coordinates calls out to </a:t>
            </a:r>
            <a:r>
              <a:rPr lang="en-US" sz="1200" b="1" kern="1200" dirty="0">
                <a:solidFill>
                  <a:schemeClr val="tx1"/>
                </a:solidFill>
                <a:effectLst/>
                <a:latin typeface="+mn-lt"/>
                <a:ea typeface="+mn-ea"/>
                <a:cs typeface="+mn-cs"/>
              </a:rPr>
              <a:t>OpenAI</a:t>
            </a:r>
            <a:r>
              <a:rPr lang="en-US" sz="1200" kern="1200" dirty="0">
                <a:solidFill>
                  <a:schemeClr val="tx1"/>
                </a:solidFill>
                <a:effectLst/>
                <a:latin typeface="+mn-lt"/>
                <a:ea typeface="+mn-ea"/>
                <a:cs typeface="+mn-cs"/>
              </a:rPr>
              <a:t> for reasoning, queries the </a:t>
            </a:r>
            <a:r>
              <a:rPr lang="en-US" sz="1200" b="1" kern="1200" dirty="0">
                <a:solidFill>
                  <a:schemeClr val="tx1"/>
                </a:solidFill>
                <a:effectLst/>
                <a:latin typeface="+mn-lt"/>
                <a:ea typeface="+mn-ea"/>
                <a:cs typeface="+mn-cs"/>
              </a:rPr>
              <a:t>Internal DB</a:t>
            </a:r>
            <a:r>
              <a:rPr lang="en-US" sz="1200" kern="1200" dirty="0">
                <a:solidFill>
                  <a:schemeClr val="tx1"/>
                </a:solidFill>
                <a:effectLst/>
                <a:latin typeface="+mn-lt"/>
                <a:ea typeface="+mn-ea"/>
                <a:cs typeface="+mn-cs"/>
              </a:rPr>
              <a:t> (Product Catalog) via hybrid semantic/keyword search, and processes payments securely via </a:t>
            </a:r>
            <a:r>
              <a:rPr lang="en-US" sz="1200" b="1" kern="1200" dirty="0">
                <a:solidFill>
                  <a:schemeClr val="tx1"/>
                </a:solidFill>
                <a:effectLst/>
                <a:latin typeface="+mn-lt"/>
                <a:ea typeface="+mn-ea"/>
                <a:cs typeface="+mn-cs"/>
              </a:rPr>
              <a:t>Stripe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Telemetry Layer (</a:t>
            </a: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Every single action, tool call, model prompt, and response emits </a:t>
            </a:r>
            <a:r>
              <a:rPr lang="en-US" sz="1200" kern="1200" dirty="0" err="1">
                <a:solidFill>
                  <a:schemeClr val="tx1"/>
                </a:solidFill>
                <a:effectLst/>
                <a:latin typeface="+mn-lt"/>
                <a:ea typeface="+mn-ea"/>
                <a:cs typeface="+mn-cs"/>
              </a:rPr>
              <a:t>OpenInference</a:t>
            </a:r>
            <a:r>
              <a:rPr lang="en-US" sz="1200" kern="1200" dirty="0">
                <a:solidFill>
                  <a:schemeClr val="tx1"/>
                </a:solidFill>
                <a:effectLst/>
                <a:latin typeface="+mn-lt"/>
                <a:ea typeface="+mn-ea"/>
                <a:cs typeface="+mn-cs"/>
              </a:rPr>
              <a:t> traces directly into </a:t>
            </a: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Quality Control:</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runs the </a:t>
            </a:r>
            <a:r>
              <a:rPr lang="en-US" sz="1200" b="1" kern="1200" dirty="0">
                <a:solidFill>
                  <a:schemeClr val="tx1"/>
                </a:solidFill>
                <a:effectLst/>
                <a:latin typeface="+mn-lt"/>
                <a:ea typeface="+mn-ea"/>
                <a:cs typeface="+mn-cs"/>
              </a:rPr>
              <a:t>Grounding Evaluator</a:t>
            </a:r>
            <a:r>
              <a:rPr lang="en-US" sz="1200" kern="1200" dirty="0">
                <a:solidFill>
                  <a:schemeClr val="tx1"/>
                </a:solidFill>
                <a:effectLst/>
                <a:latin typeface="+mn-lt"/>
                <a:ea typeface="+mn-ea"/>
                <a:cs typeface="+mn-cs"/>
              </a:rPr>
              <a:t> to ensure the product recommended to the user matches actual database records. </a:t>
            </a:r>
          </a:p>
          <a:p>
            <a:r>
              <a:rPr lang="en-US" sz="1200" kern="1200" dirty="0">
                <a:solidFill>
                  <a:schemeClr val="tx1"/>
                </a:solidFill>
                <a:effectLst/>
                <a:latin typeface="+mn-lt"/>
                <a:ea typeface="+mn-ea"/>
                <a:cs typeface="+mn-cs"/>
              </a:rPr>
              <a:t>This architecture completely decouples durable execution management from AI quality observability, giving enterprise applications both resilience and precision.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11</a:t>
            </a:fld>
            <a:endParaRPr lang="en-US"/>
          </a:p>
        </p:txBody>
      </p:sp>
    </p:spTree>
    <p:extLst>
      <p:ext uri="{BB962C8B-B14F-4D97-AF65-F5344CB8AC3E}">
        <p14:creationId xmlns:p14="http://schemas.microsoft.com/office/powerpoint/2010/main" val="17077113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maintain high-performing AI agents over time, development teams must operate within a </a:t>
            </a:r>
            <a:r>
              <a:rPr lang="en-US" sz="1200" b="1" kern="1200" dirty="0">
                <a:solidFill>
                  <a:schemeClr val="tx1"/>
                </a:solidFill>
                <a:effectLst/>
                <a:latin typeface="+mn-lt"/>
                <a:ea typeface="+mn-ea"/>
                <a:cs typeface="+mn-cs"/>
              </a:rPr>
              <a:t>Continuous Improvement Loop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0: The Black Box:</a:t>
            </a:r>
            <a:r>
              <a:rPr lang="en-US" sz="1200" kern="1200" dirty="0">
                <a:solidFill>
                  <a:schemeClr val="tx1"/>
                </a:solidFill>
                <a:effectLst/>
                <a:latin typeface="+mn-lt"/>
                <a:ea typeface="+mn-ea"/>
                <a:cs typeface="+mn-cs"/>
              </a:rPr>
              <a:t> This is where teams start—blind deployment with zero visibility into internal reasoning or tool selection.</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Instrument:</a:t>
            </a:r>
            <a:r>
              <a:rPr lang="en-US" sz="1200" kern="1200" dirty="0">
                <a:solidFill>
                  <a:schemeClr val="tx1"/>
                </a:solidFill>
                <a:effectLst/>
                <a:latin typeface="+mn-lt"/>
                <a:ea typeface="+mn-ea"/>
                <a:cs typeface="+mn-cs"/>
              </a:rPr>
              <a:t> You add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OpenInference</a:t>
            </a:r>
            <a:r>
              <a:rPr lang="en-US" sz="1200" kern="1200" dirty="0">
                <a:solidFill>
                  <a:schemeClr val="tx1"/>
                </a:solidFill>
                <a:effectLst/>
                <a:latin typeface="+mn-lt"/>
                <a:ea typeface="+mn-ea"/>
                <a:cs typeface="+mn-cs"/>
              </a:rPr>
              <a:t> to your Temporal agent workflows.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Observe:</a:t>
            </a:r>
            <a:r>
              <a:rPr lang="en-US" sz="1200" kern="1200" dirty="0">
                <a:solidFill>
                  <a:schemeClr val="tx1"/>
                </a:solidFill>
                <a:effectLst/>
                <a:latin typeface="+mn-lt"/>
                <a:ea typeface="+mn-ea"/>
                <a:cs typeface="+mn-cs"/>
              </a:rPr>
              <a:t> You explore trace waterfalls, track latency/cost breakdowns, and analyze multi-turn conversation sessions in </a:t>
            </a:r>
            <a:r>
              <a:rPr lang="en-US" sz="1200" kern="1200" dirty="0" err="1">
                <a:solidFill>
                  <a:schemeClr val="tx1"/>
                </a:solidFill>
                <a:effectLst/>
                <a:latin typeface="+mn-lt"/>
                <a:ea typeface="+mn-ea"/>
                <a:cs typeface="+mn-cs"/>
              </a:rPr>
              <a:t>Arize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3: Evaluate:</a:t>
            </a:r>
            <a:r>
              <a:rPr lang="en-US" sz="1200" kern="1200" dirty="0">
                <a:solidFill>
                  <a:schemeClr val="tx1"/>
                </a:solidFill>
                <a:effectLst/>
                <a:latin typeface="+mn-lt"/>
                <a:ea typeface="+mn-ea"/>
                <a:cs typeface="+mn-cs"/>
              </a:rPr>
              <a:t> You apply Grounding Evaluators and LLM-as-a-Judge scoring to continuously measure response quality against business rules.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4: Improve:</a:t>
            </a:r>
            <a:r>
              <a:rPr lang="en-US" sz="1200" kern="1200" dirty="0">
                <a:solidFill>
                  <a:schemeClr val="tx1"/>
                </a:solidFill>
                <a:effectLst/>
                <a:latin typeface="+mn-lt"/>
                <a:ea typeface="+mn-ea"/>
                <a:cs typeface="+mn-cs"/>
              </a:rPr>
              <a:t> You leverage the Signal Agent to detect recurring failure modes, automatically build Golden Datasets, and push PR fixes. </a:t>
            </a:r>
          </a:p>
          <a:p>
            <a:r>
              <a:rPr lang="en-US" sz="1200" b="1" kern="1200" dirty="0">
                <a:solidFill>
                  <a:schemeClr val="tx1"/>
                </a:solidFill>
                <a:effectLst/>
                <a:latin typeface="+mn-lt"/>
                <a:ea typeface="+mn-ea"/>
                <a:cs typeface="+mn-cs"/>
              </a:rPr>
              <a:t>Core Principle:</a:t>
            </a:r>
            <a:r>
              <a:rPr lang="en-US" sz="1200" kern="1200" dirty="0">
                <a:solidFill>
                  <a:schemeClr val="tx1"/>
                </a:solidFill>
                <a:effectLst/>
                <a:latin typeface="+mn-lt"/>
                <a:ea typeface="+mn-ea"/>
                <a:cs typeface="+mn-cs"/>
              </a:rPr>
              <a:t> Prototypes are designed to act. Production agents must be engineered to survive and learn.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12</a:t>
            </a:fld>
            <a:endParaRPr lang="en-US"/>
          </a:p>
        </p:txBody>
      </p:sp>
    </p:spTree>
    <p:extLst>
      <p:ext uri="{BB962C8B-B14F-4D97-AF65-F5344CB8AC3E}">
        <p14:creationId xmlns:p14="http://schemas.microsoft.com/office/powerpoint/2010/main" val="3504543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this deep-dive slide, let's examine how infrastructure isolation protects your agent applications. </a:t>
            </a:r>
          </a:p>
          <a:p>
            <a:r>
              <a:rPr lang="en-US" sz="1200" kern="1200" dirty="0">
                <a:solidFill>
                  <a:schemeClr val="tx1"/>
                </a:solidFill>
                <a:effectLst/>
                <a:latin typeface="+mn-lt"/>
                <a:ea typeface="+mn-ea"/>
                <a:cs typeface="+mn-cs"/>
              </a:rPr>
              <a:t>Notice the shielded server diagram. When building enterprise agents, you must separate your application compute layer from your state persistence layer. </a:t>
            </a:r>
          </a:p>
          <a:p>
            <a:r>
              <a:rPr lang="en-US" sz="1200" kern="1200" dirty="0">
                <a:solidFill>
                  <a:schemeClr val="tx1"/>
                </a:solidFill>
                <a:effectLst/>
                <a:latin typeface="+mn-lt"/>
                <a:ea typeface="+mn-ea"/>
                <a:cs typeface="+mn-cs"/>
              </a:rPr>
              <a:t>By running agent logic inside worker containers while offloading state management to Temporal's persistence cluster, your application gains complete crash immunity. Even if an entire cloud availability zone goes dark, another worker pool picks up the workflow state intact. </a:t>
            </a:r>
          </a:p>
          <a:p>
            <a:r>
              <a:rPr lang="en-US" sz="1200" kern="1200" dirty="0">
                <a:solidFill>
                  <a:schemeClr val="tx1"/>
                </a:solidFill>
                <a:effectLst/>
                <a:latin typeface="+mn-lt"/>
                <a:ea typeface="+mn-ea"/>
                <a:cs typeface="+mn-cs"/>
              </a:rPr>
              <a:t>At the same time, telemetry spans are exported out-of-band via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gRPC</a:t>
            </a:r>
            <a:r>
              <a:rPr lang="en-US" sz="1200" kern="1200" dirty="0">
                <a:solidFill>
                  <a:schemeClr val="tx1"/>
                </a:solidFill>
                <a:effectLst/>
                <a:latin typeface="+mn-lt"/>
                <a:ea typeface="+mn-ea"/>
                <a:cs typeface="+mn-cs"/>
              </a:rPr>
              <a:t> exporters, ensuring that logging and tracing overhead never slows down worker performance or introduces execution latency for the end user.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13</a:t>
            </a:fld>
            <a:endParaRPr lang="en-US"/>
          </a:p>
        </p:txBody>
      </p:sp>
    </p:spTree>
    <p:extLst>
      <p:ext uri="{BB962C8B-B14F-4D97-AF65-F5344CB8AC3E}">
        <p14:creationId xmlns:p14="http://schemas.microsoft.com/office/powerpoint/2010/main" val="3166384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zoom into the internal decision nodes of an agent run. </a:t>
            </a:r>
          </a:p>
          <a:p>
            <a:r>
              <a:rPr lang="en-US" sz="1200" kern="1200" dirty="0">
                <a:solidFill>
                  <a:schemeClr val="tx1"/>
                </a:solidFill>
                <a:effectLst/>
                <a:latin typeface="+mn-lt"/>
                <a:ea typeface="+mn-ea"/>
                <a:cs typeface="+mn-cs"/>
              </a:rPr>
              <a:t>When an LLM executes a reasoning step, it evaluates multiple branches: Should it trigger a </a:t>
            </a:r>
            <a:r>
              <a:rPr lang="en-US" sz="1200" b="1" kern="1200" dirty="0">
                <a:solidFill>
                  <a:schemeClr val="tx1"/>
                </a:solidFill>
                <a:effectLst/>
                <a:latin typeface="+mn-lt"/>
                <a:ea typeface="+mn-ea"/>
                <a:cs typeface="+mn-cs"/>
              </a:rPr>
              <a:t>Tool Call</a:t>
            </a:r>
            <a:r>
              <a:rPr lang="en-US" sz="1200" kern="1200" dirty="0">
                <a:solidFill>
                  <a:schemeClr val="tx1"/>
                </a:solidFill>
                <a:effectLst/>
                <a:latin typeface="+mn-lt"/>
                <a:ea typeface="+mn-ea"/>
                <a:cs typeface="+mn-cs"/>
              </a:rPr>
              <a:t>, stay in the </a:t>
            </a:r>
            <a:r>
              <a:rPr lang="en-US" sz="1200" b="1" kern="1200" dirty="0">
                <a:solidFill>
                  <a:schemeClr val="tx1"/>
                </a:solidFill>
                <a:effectLst/>
                <a:latin typeface="+mn-lt"/>
                <a:ea typeface="+mn-ea"/>
                <a:cs typeface="+mn-cs"/>
              </a:rPr>
              <a:t>Model Loop</a:t>
            </a:r>
            <a:r>
              <a:rPr lang="en-US" sz="1200" kern="1200" dirty="0">
                <a:solidFill>
                  <a:schemeClr val="tx1"/>
                </a:solidFill>
                <a:effectLst/>
                <a:latin typeface="+mn-lt"/>
                <a:ea typeface="+mn-ea"/>
                <a:cs typeface="+mn-cs"/>
              </a:rPr>
              <a:t>, or finalize the </a:t>
            </a:r>
            <a:r>
              <a:rPr lang="en-US" sz="1200" b="1" kern="1200" dirty="0">
                <a:solidFill>
                  <a:schemeClr val="tx1"/>
                </a:solidFill>
                <a:effectLst/>
                <a:latin typeface="+mn-lt"/>
                <a:ea typeface="+mn-ea"/>
                <a:cs typeface="+mn-cs"/>
              </a:rPr>
              <a:t>Reasoning Step</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Without detailed tracing, if a model takes 10 seconds to respond, you have no way of knowing whether the bottleneck was slow database retrieval, an inefficient prompt, or an endless tool call loop. </a:t>
            </a:r>
          </a:p>
          <a:p>
            <a:r>
              <a:rPr lang="en-US" sz="1200" kern="1200" dirty="0">
                <a:solidFill>
                  <a:schemeClr val="tx1"/>
                </a:solidFill>
                <a:effectLst/>
                <a:latin typeface="+mn-lt"/>
                <a:ea typeface="+mn-ea"/>
                <a:cs typeface="+mn-cs"/>
              </a:rPr>
              <a:t>With </a:t>
            </a:r>
            <a:r>
              <a:rPr lang="en-US" sz="1200" kern="1200" dirty="0" err="1">
                <a:solidFill>
                  <a:schemeClr val="tx1"/>
                </a:solidFill>
                <a:effectLst/>
                <a:latin typeface="+mn-lt"/>
                <a:ea typeface="+mn-ea"/>
                <a:cs typeface="+mn-cs"/>
              </a:rPr>
              <a:t>OpenInference</a:t>
            </a:r>
            <a:r>
              <a:rPr lang="en-US" sz="1200" kern="1200" dirty="0">
                <a:solidFill>
                  <a:schemeClr val="tx1"/>
                </a:solidFill>
                <a:effectLst/>
                <a:latin typeface="+mn-lt"/>
                <a:ea typeface="+mn-ea"/>
                <a:cs typeface="+mn-cs"/>
              </a:rPr>
              <a:t> tagging, every step—from initial intent detection to payload formatting and tool dispatch—is captured with precision latency measurements. This allows engineers to pinpoint exactly where performance degrades or where reasoning breaks down. </a:t>
            </a:r>
          </a:p>
          <a:p>
            <a:endParaRPr lang="en-US" dirty="0"/>
          </a:p>
        </p:txBody>
      </p:sp>
      <p:sp>
        <p:nvSpPr>
          <p:cNvPr id="4" name="Slide Number Placeholder 3"/>
          <p:cNvSpPr>
            <a:spLocks noGrp="1"/>
          </p:cNvSpPr>
          <p:nvPr>
            <p:ph type="sldNum" sz="quarter" idx="5"/>
          </p:nvPr>
        </p:nvSpPr>
        <p:spPr/>
        <p:txBody>
          <a:bodyPr/>
          <a:lstStyle/>
          <a:p>
            <a:fld id="{76EF5B36-5B79-428F-98C1-EB2C337EAFB2}" type="slidenum">
              <a:rPr lang="en-US" smtClean="0"/>
              <a:t>14</a:t>
            </a:fld>
            <a:endParaRPr lang="en-US"/>
          </a:p>
        </p:txBody>
      </p:sp>
    </p:spTree>
    <p:extLst>
      <p:ext uri="{BB962C8B-B14F-4D97-AF65-F5344CB8AC3E}">
        <p14:creationId xmlns:p14="http://schemas.microsoft.com/office/powerpoint/2010/main" val="1642320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everything we’ve covered today, let's look at the </a:t>
            </a:r>
            <a:r>
              <a:rPr lang="en-US" sz="1200" b="1" kern="1200" dirty="0">
                <a:solidFill>
                  <a:schemeClr val="tx1"/>
                </a:solidFill>
                <a:effectLst/>
                <a:latin typeface="+mn-lt"/>
                <a:ea typeface="+mn-ea"/>
                <a:cs typeface="+mn-cs"/>
              </a:rPr>
              <a:t>Comparison Matrix</a:t>
            </a:r>
            <a:r>
              <a:rPr lang="en-US" sz="1200" kern="1200" dirty="0">
                <a:solidFill>
                  <a:schemeClr val="tx1"/>
                </a:solidFill>
                <a:effectLst/>
                <a:latin typeface="+mn-lt"/>
                <a:ea typeface="+mn-ea"/>
                <a:cs typeface="+mn-cs"/>
              </a:rPr>
              <a:t> and your </a:t>
            </a:r>
            <a:r>
              <a:rPr lang="en-US" sz="1200" b="1" kern="1200" dirty="0">
                <a:solidFill>
                  <a:schemeClr val="tx1"/>
                </a:solidFill>
                <a:effectLst/>
                <a:latin typeface="+mn-lt"/>
                <a:ea typeface="+mn-ea"/>
                <a:cs typeface="+mn-cs"/>
              </a:rPr>
              <a:t>Production Pathway</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Traditional Software vs. AI Agent Path:</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Logic:</a:t>
            </a:r>
            <a:r>
              <a:rPr lang="en-US" sz="1200" kern="1200" dirty="0">
                <a:solidFill>
                  <a:schemeClr val="tx1"/>
                </a:solidFill>
                <a:effectLst/>
                <a:latin typeface="+mn-lt"/>
                <a:ea typeface="+mn-ea"/>
                <a:cs typeface="+mn-cs"/>
              </a:rPr>
              <a:t> Traditional software relies on static/code-defined logic. Agents rely on dynamic/model-driven reasoning.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Testing:</a:t>
            </a:r>
            <a:r>
              <a:rPr lang="en-US" sz="1200" kern="1200" dirty="0">
                <a:solidFill>
                  <a:schemeClr val="tx1"/>
                </a:solidFill>
                <a:effectLst/>
                <a:latin typeface="+mn-lt"/>
                <a:ea typeface="+mn-ea"/>
                <a:cs typeface="+mn-cs"/>
              </a:rPr>
              <a:t> Traditional software uses standard unit tests. Agents require trace-based evaluation and LLM-as-a-Judge rubrics.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Reliability:</a:t>
            </a:r>
            <a:r>
              <a:rPr lang="en-US" sz="1200" kern="1200" dirty="0">
                <a:solidFill>
                  <a:schemeClr val="tx1"/>
                </a:solidFill>
                <a:effectLst/>
                <a:latin typeface="+mn-lt"/>
                <a:ea typeface="+mn-ea"/>
                <a:cs typeface="+mn-cs"/>
              </a:rPr>
              <a:t> Traditional software uses simple request/response retries. Agents require durable execution loops. </a:t>
            </a:r>
          </a:p>
          <a:p>
            <a:r>
              <a:rPr lang="en-US" sz="1200" b="1" kern="1200" dirty="0">
                <a:solidFill>
                  <a:schemeClr val="tx1"/>
                </a:solidFill>
                <a:effectLst/>
                <a:latin typeface="+mn-lt"/>
                <a:ea typeface="+mn-ea"/>
                <a:cs typeface="+mn-cs"/>
              </a:rPr>
              <a:t>Your 2-Phase Production Pathway:</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Ensure Workflow Durability (Temporal):</a:t>
            </a:r>
            <a:r>
              <a:rPr lang="en-US" sz="1200" kern="1200" dirty="0">
                <a:solidFill>
                  <a:schemeClr val="tx1"/>
                </a:solidFill>
                <a:effectLst/>
                <a:latin typeface="+mn-lt"/>
                <a:ea typeface="+mn-ea"/>
                <a:cs typeface="+mn-cs"/>
              </a:rPr>
              <a:t> Wrap your agent tasks in Workflows and Activities. Enable automatic retries, state recovery, and crash survival.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Establish Observability &amp; Quality (</a:t>
            </a: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AX):</a:t>
            </a:r>
            <a:r>
              <a:rPr lang="en-US" sz="1200" kern="1200" dirty="0">
                <a:solidFill>
                  <a:schemeClr val="tx1"/>
                </a:solidFill>
                <a:effectLst/>
                <a:latin typeface="+mn-lt"/>
                <a:ea typeface="+mn-ea"/>
                <a:cs typeface="+mn-cs"/>
              </a:rPr>
              <a:t> Instrument your code with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OpenInference</a:t>
            </a:r>
            <a:r>
              <a:rPr lang="en-US" sz="1200" kern="1200" dirty="0">
                <a:solidFill>
                  <a:schemeClr val="tx1"/>
                </a:solidFill>
                <a:effectLst/>
                <a:latin typeface="+mn-lt"/>
                <a:ea typeface="+mn-ea"/>
                <a:cs typeface="+mn-cs"/>
              </a:rPr>
              <a:t>. Implement automated evaluators for grounding and hallucinations, and enable the Signal Agent to drive continuous self-healing via PRs. </a:t>
            </a:r>
          </a:p>
          <a:p>
            <a:pPr marL="0" indent="0">
              <a:buFont typeface="Arial" panose="020B0604020202020204" pitchFamily="34" charset="0"/>
              <a:buNone/>
            </a:pPr>
            <a:r>
              <a:rPr lang="en-US" sz="1200" b="1" kern="1200" dirty="0">
                <a:solidFill>
                  <a:schemeClr val="tx1"/>
                </a:solidFill>
                <a:effectLst/>
                <a:latin typeface="+mn-lt"/>
                <a:ea typeface="+mn-ea"/>
                <a:cs typeface="+mn-cs"/>
              </a:rPr>
              <a:t>Final Closing Thought: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Temporal</a:t>
            </a:r>
            <a:r>
              <a:rPr lang="en-US" sz="1200" kern="1200" dirty="0">
                <a:solidFill>
                  <a:schemeClr val="tx1"/>
                </a:solidFill>
                <a:effectLst/>
                <a:latin typeface="+mn-lt"/>
                <a:ea typeface="+mn-ea"/>
                <a:cs typeface="+mn-cs"/>
              </a:rPr>
              <a:t> ensures your agent survives the chaos of infrastructure. </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Arize</a:t>
            </a:r>
            <a:r>
              <a:rPr lang="en-US" sz="1200" b="1" kern="1200" dirty="0">
                <a:solidFill>
                  <a:schemeClr val="tx1"/>
                </a:solidFill>
                <a:effectLst/>
                <a:latin typeface="+mn-lt"/>
                <a:ea typeface="+mn-ea"/>
                <a:cs typeface="+mn-cs"/>
              </a:rPr>
              <a:t> AI</a:t>
            </a:r>
            <a:r>
              <a:rPr lang="en-US" sz="1200" kern="1200" dirty="0">
                <a:solidFill>
                  <a:schemeClr val="tx1"/>
                </a:solidFill>
                <a:effectLst/>
                <a:latin typeface="+mn-lt"/>
                <a:ea typeface="+mn-ea"/>
                <a:cs typeface="+mn-cs"/>
              </a:rPr>
              <a:t> ensures your agent learns from the chaos of its own logic. </a:t>
            </a:r>
          </a:p>
          <a:p>
            <a:r>
              <a:rPr lang="en-US" sz="1200" kern="1200" dirty="0">
                <a:solidFill>
                  <a:schemeClr val="tx1"/>
                </a:solidFill>
                <a:effectLst/>
                <a:latin typeface="+mn-lt"/>
                <a:ea typeface="+mn-ea"/>
                <a:cs typeface="+mn-cs"/>
              </a:rPr>
              <a:t>Thank you! We'll now open the floor to Q&amp;A. </a:t>
            </a:r>
          </a:p>
          <a:p>
            <a:endParaRPr lang="en-US" b="0" dirty="0"/>
          </a:p>
          <a:p>
            <a:endParaRPr lang="en-US" dirty="0"/>
          </a:p>
          <a:p>
            <a:endParaRPr lang="en-US" dirty="0"/>
          </a:p>
          <a:p>
            <a:endParaRPr lang="en-US" dirty="0"/>
          </a:p>
          <a:p>
            <a:endParaRPr lang="en-US" dirty="0"/>
          </a:p>
          <a:p>
            <a:r>
              <a:rPr lang="en-US" b="1" dirty="0"/>
              <a:t>How to Build Reliable Long-Running AI Agents | Temporal + </a:t>
            </a:r>
            <a:r>
              <a:rPr lang="en-US" b="1" dirty="0" err="1"/>
              <a:t>Arize</a:t>
            </a:r>
            <a:endParaRPr lang="en-US" b="1" dirty="0"/>
          </a:p>
          <a:p>
            <a:r>
              <a:rPr lang="en-US" dirty="0"/>
              <a:t>https://www.youtube.com/watch?v=TAXglqzS7F0</a:t>
            </a:r>
          </a:p>
        </p:txBody>
      </p:sp>
      <p:sp>
        <p:nvSpPr>
          <p:cNvPr id="4" name="Slide Number Placeholder 3"/>
          <p:cNvSpPr>
            <a:spLocks noGrp="1"/>
          </p:cNvSpPr>
          <p:nvPr>
            <p:ph type="sldNum" sz="quarter" idx="5"/>
          </p:nvPr>
        </p:nvSpPr>
        <p:spPr/>
        <p:txBody>
          <a:bodyPr/>
          <a:lstStyle/>
          <a:p>
            <a:fld id="{76EF5B36-5B79-428F-98C1-EB2C337EAFB2}" type="slidenum">
              <a:rPr lang="en-US" smtClean="0"/>
              <a:t>15</a:t>
            </a:fld>
            <a:endParaRPr lang="en-US"/>
          </a:p>
        </p:txBody>
      </p:sp>
    </p:spTree>
    <p:extLst>
      <p:ext uri="{BB962C8B-B14F-4D97-AF65-F5344CB8AC3E}">
        <p14:creationId xmlns:p14="http://schemas.microsoft.com/office/powerpoint/2010/main" val="24852373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0A7675-B7EA-B041-520A-C7FEED5312A6}"/>
              </a:ext>
            </a:extLst>
          </p:cNvPr>
          <p:cNvSpPr>
            <a:spLocks noGrp="1"/>
          </p:cNvSpPr>
          <p:nvPr>
            <p:ph type="dt" sz="half" idx="10"/>
          </p:nvPr>
        </p:nvSpPr>
        <p:spPr/>
        <p:txBody>
          <a:bodyPr/>
          <a:lstStyle/>
          <a:p>
            <a:fld id="{DBDA9C2B-5A04-4C63-B192-EEE4F06E5F56}" type="datetimeFigureOut">
              <a:rPr lang="en-US" smtClean="0"/>
              <a:t>10/21/2026</a:t>
            </a:fld>
            <a:endParaRPr lang="en-US"/>
          </a:p>
        </p:txBody>
      </p:sp>
      <p:sp>
        <p:nvSpPr>
          <p:cNvPr id="3" name="Footer Placeholder 2">
            <a:extLst>
              <a:ext uri="{FF2B5EF4-FFF2-40B4-BE49-F238E27FC236}">
                <a16:creationId xmlns:a16="http://schemas.microsoft.com/office/drawing/2014/main" id="{71DF7424-1BEA-1D7F-91A4-48BB4441BB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02A5A0-7AA2-1015-FF48-7E16C370D7A3}"/>
              </a:ext>
            </a:extLst>
          </p:cNvPr>
          <p:cNvSpPr>
            <a:spLocks noGrp="1"/>
          </p:cNvSpPr>
          <p:nvPr>
            <p:ph type="sldNum" sz="quarter" idx="12"/>
          </p:nvPr>
        </p:nvSpPr>
        <p:spPr/>
        <p:txBody>
          <a:bodyPr/>
          <a:lstStyle/>
          <a:p>
            <a:fld id="{FA0AB83B-9A4D-40A7-B2B5-216A9DDD9EBA}" type="slidenum">
              <a:rPr lang="en-US" smtClean="0"/>
              <a:t>‹#›</a:t>
            </a:fld>
            <a:endParaRPr lang="en-US"/>
          </a:p>
        </p:txBody>
      </p:sp>
    </p:spTree>
    <p:extLst>
      <p:ext uri="{BB962C8B-B14F-4D97-AF65-F5344CB8AC3E}">
        <p14:creationId xmlns:p14="http://schemas.microsoft.com/office/powerpoint/2010/main" val="14854492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7D1891-1219-A24A-4C88-D6F4A26E39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209F0F-A5AD-23F3-0C00-52C23C1807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53142A-142E-185C-401A-BA73734515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DA9C2B-5A04-4C63-B192-EEE4F06E5F56}" type="datetimeFigureOut">
              <a:rPr lang="en-US" smtClean="0"/>
              <a:t>10/21/2026</a:t>
            </a:fld>
            <a:endParaRPr lang="en-US"/>
          </a:p>
        </p:txBody>
      </p:sp>
      <p:sp>
        <p:nvSpPr>
          <p:cNvPr id="5" name="Footer Placeholder 4">
            <a:extLst>
              <a:ext uri="{FF2B5EF4-FFF2-40B4-BE49-F238E27FC236}">
                <a16:creationId xmlns:a16="http://schemas.microsoft.com/office/drawing/2014/main" id="{2126227A-57BA-C1AD-FE40-63CEB487CB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752B9CB-9068-81C7-C571-672DFE37CB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A0AB83B-9A4D-40A7-B2B5-216A9DDD9EBA}" type="slidenum">
              <a:rPr lang="en-US" smtClean="0"/>
              <a:t>‹#›</a:t>
            </a:fld>
            <a:endParaRPr lang="en-US"/>
          </a:p>
        </p:txBody>
      </p:sp>
    </p:spTree>
    <p:extLst>
      <p:ext uri="{BB962C8B-B14F-4D97-AF65-F5344CB8AC3E}">
        <p14:creationId xmlns:p14="http://schemas.microsoft.com/office/powerpoint/2010/main" val="12085990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EDD49C-4BF0-7973-F2FC-1F069579576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B82198-7F62-03AB-5EE6-AFED4E1D6A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A30001-6B27-0F2E-0BC5-24E7EF8491B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63F8811-5FD1-B293-7337-069401A8D30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ACB341-C94C-8865-3CC3-D22E720377C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8BCCA49-8E69-5107-327F-E1705E7FB81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482929-D4D9-531C-7F8E-C391EBC9D25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DF51E-1DDD-BB24-6AAD-B39EAA400B1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51CBC4-CD4E-F564-4553-4C5B7FFF245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704FF2-8391-1C65-E131-9C6A13E37E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195800-193F-7FD2-CE6C-9097AFFDF95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2980C-FE07-F035-EF74-1ED70321918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97B3233-DDF1-17FC-1725-37AF284BE03B}"/>
              </a:ext>
            </a:extLst>
          </p:cNvPr>
          <p:cNvPicPr>
            <a:picLocks noChangeAspect="1"/>
          </p:cNvPicPr>
          <p:nvPr/>
        </p:nvPicPr>
        <p:blipFill>
          <a:blip r:embed="rId3"/>
          <a:stretch>
            <a:fillRect/>
          </a:stretch>
        </p:blipFill>
        <p:spPr>
          <a:xfrm>
            <a:off x="28575" y="47625"/>
            <a:ext cx="12134850" cy="6762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88988D-0503-9CE0-A810-E1F212239F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06232C-BE6F-0910-5B5F-438816745252}"/>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337628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2930</Words>
  <Application>Microsoft Office PowerPoint</Application>
  <PresentationFormat>寬螢幕</PresentationFormat>
  <Paragraphs>142</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2026-09-23T13:36:47Z</dcterms:created>
  <dcterms:modified xsi:type="dcterms:W3CDTF">2026-10-21T02:51:02Z</dcterms:modified>
</cp:coreProperties>
</file>