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44CA9E-5170-4443-8EEF-4221881F18CA}" v="37" dt="2026-09-28T03:26:38.4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66524"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8T03:27:39.384" v="74" actId="166"/>
      <pc:docMkLst>
        <pc:docMk/>
      </pc:docMkLst>
      <pc:sldChg chg="addSp delSp modSp mod modAnim modNotes modNotesTx">
        <pc:chgData name="Lai, Wilson" userId="2840974a-0d84-4886-90a9-9a3ed79f3a48" providerId="ADAL" clId="{9F23B798-9E84-4552-BA63-E776E805C424}" dt="2026-09-28T03:27:39.384" v="74" actId="166"/>
        <pc:sldMkLst>
          <pc:docMk/>
          <pc:sldMk cId="0" sldId="257"/>
        </pc:sldMkLst>
        <pc:spChg chg="add mod">
          <ac:chgData name="Lai, Wilson" userId="2840974a-0d84-4886-90a9-9a3ed79f3a48" providerId="ADAL" clId="{9F23B798-9E84-4552-BA63-E776E805C424}" dt="2026-09-28T02:50:54.441" v="9" actId="164"/>
          <ac:spMkLst>
            <pc:docMk/>
            <pc:sldMk cId="0" sldId="257"/>
            <ac:spMk id="5" creationId="{2D8363B7-E1C4-33D7-5063-EDA17410F5E4}"/>
          </ac:spMkLst>
        </pc:spChg>
        <pc:grpChg chg="add mod">
          <ac:chgData name="Lai, Wilson" userId="2840974a-0d84-4886-90a9-9a3ed79f3a48" providerId="ADAL" clId="{9F23B798-9E84-4552-BA63-E776E805C424}" dt="2026-09-28T02:50:54.441" v="9" actId="164"/>
          <ac:grpSpMkLst>
            <pc:docMk/>
            <pc:sldMk cId="0" sldId="257"/>
            <ac:grpSpMk id="6" creationId="{4FE1FF15-0B1E-E760-D376-5E3CC4DD72C6}"/>
          </ac:grpSpMkLst>
        </pc:grpChg>
        <pc:picChg chg="del">
          <ac:chgData name="Lai, Wilson" userId="2840974a-0d84-4886-90a9-9a3ed79f3a48" providerId="ADAL" clId="{9F23B798-9E84-4552-BA63-E776E805C424}" dt="2026-09-28T02:52:10.271" v="10" actId="21"/>
          <ac:picMkLst>
            <pc:docMk/>
            <pc:sldMk cId="0" sldId="257"/>
            <ac:picMk id="2" creationId="{00000000-0000-0000-0000-000000000000}"/>
          </ac:picMkLst>
        </pc:picChg>
        <pc:picChg chg="add mod">
          <ac:chgData name="Lai, Wilson" userId="2840974a-0d84-4886-90a9-9a3ed79f3a48" providerId="ADAL" clId="{9F23B798-9E84-4552-BA63-E776E805C424}" dt="2026-09-28T02:50:54.441" v="9" actId="164"/>
          <ac:picMkLst>
            <pc:docMk/>
            <pc:sldMk cId="0" sldId="257"/>
            <ac:picMk id="3" creationId="{E42B01B0-51E3-67DB-5CF3-7068C2541517}"/>
          </ac:picMkLst>
        </pc:picChg>
        <pc:picChg chg="add ord">
          <ac:chgData name="Lai, Wilson" userId="2840974a-0d84-4886-90a9-9a3ed79f3a48" providerId="ADAL" clId="{9F23B798-9E84-4552-BA63-E776E805C424}" dt="2026-09-28T03:27:39.384" v="74" actId="166"/>
          <ac:picMkLst>
            <pc:docMk/>
            <pc:sldMk cId="0" sldId="257"/>
            <ac:picMk id="7" creationId="{C590D83C-6FF6-B15F-69F8-E8C1194B5ED6}"/>
          </ac:picMkLst>
        </pc:picChg>
        <pc:picChg chg="add del">
          <ac:chgData name="Lai, Wilson" userId="2840974a-0d84-4886-90a9-9a3ed79f3a48" providerId="ADAL" clId="{9F23B798-9E84-4552-BA63-E776E805C424}" dt="2026-09-28T03:00:10.094" v="48" actId="22"/>
          <ac:picMkLst>
            <pc:docMk/>
            <pc:sldMk cId="0" sldId="257"/>
            <ac:picMk id="9" creationId="{5B6481D4-338A-BBB2-E1FC-4A65B6784B1B}"/>
          </ac:picMkLst>
        </pc:picChg>
        <pc:picChg chg="add del">
          <ac:chgData name="Lai, Wilson" userId="2840974a-0d84-4886-90a9-9a3ed79f3a48" providerId="ADAL" clId="{9F23B798-9E84-4552-BA63-E776E805C424}" dt="2026-09-28T03:00:18.899" v="50" actId="22"/>
          <ac:picMkLst>
            <pc:docMk/>
            <pc:sldMk cId="0" sldId="257"/>
            <ac:picMk id="11" creationId="{7C0642B8-58E7-20F1-5317-56D43DD227A1}"/>
          </ac:picMkLst>
        </pc:picChg>
      </pc:sldChg>
      <pc:sldChg chg="addSp delSp mod modNotes">
        <pc:chgData name="Lai, Wilson" userId="2840974a-0d84-4886-90a9-9a3ed79f3a48" providerId="ADAL" clId="{9F23B798-9E84-4552-BA63-E776E805C424}" dt="2026-09-28T03:26:38.482" v="66"/>
        <pc:sldMkLst>
          <pc:docMk/>
          <pc:sldMk cId="0" sldId="258"/>
        </pc:sldMkLst>
        <pc:picChg chg="del">
          <ac:chgData name="Lai, Wilson" userId="2840974a-0d84-4886-90a9-9a3ed79f3a48" providerId="ADAL" clId="{9F23B798-9E84-4552-BA63-E776E805C424}" dt="2026-09-28T02:52:24.293" v="12" actId="21"/>
          <ac:picMkLst>
            <pc:docMk/>
            <pc:sldMk cId="0" sldId="258"/>
            <ac:picMk id="2" creationId="{00000000-0000-0000-0000-000000000000}"/>
          </ac:picMkLst>
        </pc:picChg>
        <pc:picChg chg="add">
          <ac:chgData name="Lai, Wilson" userId="2840974a-0d84-4886-90a9-9a3ed79f3a48" providerId="ADAL" clId="{9F23B798-9E84-4552-BA63-E776E805C424}" dt="2026-09-28T02:52:35.826" v="13" actId="22"/>
          <ac:picMkLst>
            <pc:docMk/>
            <pc:sldMk cId="0" sldId="258"/>
            <ac:picMk id="4" creationId="{3D1DF724-3F15-030E-F272-40B7CB577D9C}"/>
          </ac:picMkLst>
        </pc:picChg>
      </pc:sldChg>
      <pc:sldChg chg="addSp delSp mod modNotes">
        <pc:chgData name="Lai, Wilson" userId="2840974a-0d84-4886-90a9-9a3ed79f3a48" providerId="ADAL" clId="{9F23B798-9E84-4552-BA63-E776E805C424}" dt="2026-09-28T03:26:38.482" v="66"/>
        <pc:sldMkLst>
          <pc:docMk/>
          <pc:sldMk cId="0" sldId="259"/>
        </pc:sldMkLst>
        <pc:picChg chg="del">
          <ac:chgData name="Lai, Wilson" userId="2840974a-0d84-4886-90a9-9a3ed79f3a48" providerId="ADAL" clId="{9F23B798-9E84-4552-BA63-E776E805C424}" dt="2026-09-28T02:52:37.118" v="14" actId="21"/>
          <ac:picMkLst>
            <pc:docMk/>
            <pc:sldMk cId="0" sldId="259"/>
            <ac:picMk id="2" creationId="{00000000-0000-0000-0000-000000000000}"/>
          </ac:picMkLst>
        </pc:picChg>
        <pc:picChg chg="add">
          <ac:chgData name="Lai, Wilson" userId="2840974a-0d84-4886-90a9-9a3ed79f3a48" providerId="ADAL" clId="{9F23B798-9E84-4552-BA63-E776E805C424}" dt="2026-09-28T02:52:46.019" v="15" actId="22"/>
          <ac:picMkLst>
            <pc:docMk/>
            <pc:sldMk cId="0" sldId="259"/>
            <ac:picMk id="4" creationId="{0318CB58-E0EC-CA71-A47E-AA8231524561}"/>
          </ac:picMkLst>
        </pc:picChg>
      </pc:sldChg>
      <pc:sldChg chg="addSp delSp mod modNotes">
        <pc:chgData name="Lai, Wilson" userId="2840974a-0d84-4886-90a9-9a3ed79f3a48" providerId="ADAL" clId="{9F23B798-9E84-4552-BA63-E776E805C424}" dt="2026-09-28T03:26:38.482" v="66"/>
        <pc:sldMkLst>
          <pc:docMk/>
          <pc:sldMk cId="0" sldId="260"/>
        </pc:sldMkLst>
        <pc:picChg chg="del">
          <ac:chgData name="Lai, Wilson" userId="2840974a-0d84-4886-90a9-9a3ed79f3a48" providerId="ADAL" clId="{9F23B798-9E84-4552-BA63-E776E805C424}" dt="2026-09-28T02:52:48.063" v="16" actId="21"/>
          <ac:picMkLst>
            <pc:docMk/>
            <pc:sldMk cId="0" sldId="260"/>
            <ac:picMk id="2" creationId="{00000000-0000-0000-0000-000000000000}"/>
          </ac:picMkLst>
        </pc:picChg>
        <pc:picChg chg="add">
          <ac:chgData name="Lai, Wilson" userId="2840974a-0d84-4886-90a9-9a3ed79f3a48" providerId="ADAL" clId="{9F23B798-9E84-4552-BA63-E776E805C424}" dt="2026-09-28T02:52:56.365" v="17" actId="22"/>
          <ac:picMkLst>
            <pc:docMk/>
            <pc:sldMk cId="0" sldId="260"/>
            <ac:picMk id="4" creationId="{85B0520C-E80D-F727-BC0B-550BC85F0B57}"/>
          </ac:picMkLst>
        </pc:picChg>
      </pc:sldChg>
      <pc:sldChg chg="addSp delSp mod modNotes">
        <pc:chgData name="Lai, Wilson" userId="2840974a-0d84-4886-90a9-9a3ed79f3a48" providerId="ADAL" clId="{9F23B798-9E84-4552-BA63-E776E805C424}" dt="2026-09-28T03:26:38.482" v="66"/>
        <pc:sldMkLst>
          <pc:docMk/>
          <pc:sldMk cId="0" sldId="261"/>
        </pc:sldMkLst>
        <pc:picChg chg="del">
          <ac:chgData name="Lai, Wilson" userId="2840974a-0d84-4886-90a9-9a3ed79f3a48" providerId="ADAL" clId="{9F23B798-9E84-4552-BA63-E776E805C424}" dt="2026-09-28T02:52:57.520" v="18" actId="21"/>
          <ac:picMkLst>
            <pc:docMk/>
            <pc:sldMk cId="0" sldId="261"/>
            <ac:picMk id="2" creationId="{00000000-0000-0000-0000-000000000000}"/>
          </ac:picMkLst>
        </pc:picChg>
        <pc:picChg chg="add">
          <ac:chgData name="Lai, Wilson" userId="2840974a-0d84-4886-90a9-9a3ed79f3a48" providerId="ADAL" clId="{9F23B798-9E84-4552-BA63-E776E805C424}" dt="2026-09-28T02:55:09.864" v="19" actId="22"/>
          <ac:picMkLst>
            <pc:docMk/>
            <pc:sldMk cId="0" sldId="261"/>
            <ac:picMk id="4" creationId="{99526C1A-0F5C-90D7-44E4-798EC6ED023E}"/>
          </ac:picMkLst>
        </pc:picChg>
      </pc:sldChg>
      <pc:sldChg chg="addSp delSp mod modNotes">
        <pc:chgData name="Lai, Wilson" userId="2840974a-0d84-4886-90a9-9a3ed79f3a48" providerId="ADAL" clId="{9F23B798-9E84-4552-BA63-E776E805C424}" dt="2026-09-28T03:26:38.482" v="66"/>
        <pc:sldMkLst>
          <pc:docMk/>
          <pc:sldMk cId="0" sldId="262"/>
        </pc:sldMkLst>
        <pc:picChg chg="del">
          <ac:chgData name="Lai, Wilson" userId="2840974a-0d84-4886-90a9-9a3ed79f3a48" providerId="ADAL" clId="{9F23B798-9E84-4552-BA63-E776E805C424}" dt="2026-09-28T02:55:11.622" v="20" actId="21"/>
          <ac:picMkLst>
            <pc:docMk/>
            <pc:sldMk cId="0" sldId="262"/>
            <ac:picMk id="2" creationId="{00000000-0000-0000-0000-000000000000}"/>
          </ac:picMkLst>
        </pc:picChg>
        <pc:picChg chg="add">
          <ac:chgData name="Lai, Wilson" userId="2840974a-0d84-4886-90a9-9a3ed79f3a48" providerId="ADAL" clId="{9F23B798-9E84-4552-BA63-E776E805C424}" dt="2026-09-28T02:55:20.243" v="21" actId="22"/>
          <ac:picMkLst>
            <pc:docMk/>
            <pc:sldMk cId="0" sldId="262"/>
            <ac:picMk id="4" creationId="{23F5DE9C-3B81-E49C-2DFB-AE85653D8DA0}"/>
          </ac:picMkLst>
        </pc:picChg>
      </pc:sldChg>
      <pc:sldChg chg="addSp delSp mod">
        <pc:chgData name="Lai, Wilson" userId="2840974a-0d84-4886-90a9-9a3ed79f3a48" providerId="ADAL" clId="{9F23B798-9E84-4552-BA63-E776E805C424}" dt="2026-09-28T02:55:34.831" v="23" actId="22"/>
        <pc:sldMkLst>
          <pc:docMk/>
          <pc:sldMk cId="0" sldId="263"/>
        </pc:sldMkLst>
        <pc:picChg chg="del">
          <ac:chgData name="Lai, Wilson" userId="2840974a-0d84-4886-90a9-9a3ed79f3a48" providerId="ADAL" clId="{9F23B798-9E84-4552-BA63-E776E805C424}" dt="2026-09-28T02:55:21.479" v="22" actId="21"/>
          <ac:picMkLst>
            <pc:docMk/>
            <pc:sldMk cId="0" sldId="263"/>
            <ac:picMk id="2" creationId="{00000000-0000-0000-0000-000000000000}"/>
          </ac:picMkLst>
        </pc:picChg>
        <pc:picChg chg="add">
          <ac:chgData name="Lai, Wilson" userId="2840974a-0d84-4886-90a9-9a3ed79f3a48" providerId="ADAL" clId="{9F23B798-9E84-4552-BA63-E776E805C424}" dt="2026-09-28T02:55:34.831" v="23" actId="22"/>
          <ac:picMkLst>
            <pc:docMk/>
            <pc:sldMk cId="0" sldId="263"/>
            <ac:picMk id="4" creationId="{917D1EB0-B134-698D-EA79-2EB158BB0097}"/>
          </ac:picMkLst>
        </pc:picChg>
      </pc:sldChg>
      <pc:sldChg chg="addSp delSp mod modNotes">
        <pc:chgData name="Lai, Wilson" userId="2840974a-0d84-4886-90a9-9a3ed79f3a48" providerId="ADAL" clId="{9F23B798-9E84-4552-BA63-E776E805C424}" dt="2026-09-28T03:26:38.482" v="66"/>
        <pc:sldMkLst>
          <pc:docMk/>
          <pc:sldMk cId="0" sldId="264"/>
        </pc:sldMkLst>
        <pc:picChg chg="del">
          <ac:chgData name="Lai, Wilson" userId="2840974a-0d84-4886-90a9-9a3ed79f3a48" providerId="ADAL" clId="{9F23B798-9E84-4552-BA63-E776E805C424}" dt="2026-09-28T02:55:36.105" v="24" actId="21"/>
          <ac:picMkLst>
            <pc:docMk/>
            <pc:sldMk cId="0" sldId="264"/>
            <ac:picMk id="2" creationId="{00000000-0000-0000-0000-000000000000}"/>
          </ac:picMkLst>
        </pc:picChg>
        <pc:picChg chg="add">
          <ac:chgData name="Lai, Wilson" userId="2840974a-0d84-4886-90a9-9a3ed79f3a48" providerId="ADAL" clId="{9F23B798-9E84-4552-BA63-E776E805C424}" dt="2026-09-28T02:55:51.122" v="25" actId="22"/>
          <ac:picMkLst>
            <pc:docMk/>
            <pc:sldMk cId="0" sldId="264"/>
            <ac:picMk id="4" creationId="{B57455D8-1411-3A28-E32C-A368EDF885AD}"/>
          </ac:picMkLst>
        </pc:picChg>
      </pc:sldChg>
      <pc:sldChg chg="addSp delSp mod modNotes modNotesTx">
        <pc:chgData name="Lai, Wilson" userId="2840974a-0d84-4886-90a9-9a3ed79f3a48" providerId="ADAL" clId="{9F23B798-9E84-4552-BA63-E776E805C424}" dt="2026-09-28T03:26:55.673" v="68" actId="14"/>
        <pc:sldMkLst>
          <pc:docMk/>
          <pc:sldMk cId="0" sldId="265"/>
        </pc:sldMkLst>
        <pc:picChg chg="del">
          <ac:chgData name="Lai, Wilson" userId="2840974a-0d84-4886-90a9-9a3ed79f3a48" providerId="ADAL" clId="{9F23B798-9E84-4552-BA63-E776E805C424}" dt="2026-09-28T02:55:52.292" v="26" actId="21"/>
          <ac:picMkLst>
            <pc:docMk/>
            <pc:sldMk cId="0" sldId="265"/>
            <ac:picMk id="2" creationId="{00000000-0000-0000-0000-000000000000}"/>
          </ac:picMkLst>
        </pc:picChg>
        <pc:picChg chg="add">
          <ac:chgData name="Lai, Wilson" userId="2840974a-0d84-4886-90a9-9a3ed79f3a48" providerId="ADAL" clId="{9F23B798-9E84-4552-BA63-E776E805C424}" dt="2026-09-28T02:56:00.203" v="27" actId="22"/>
          <ac:picMkLst>
            <pc:docMk/>
            <pc:sldMk cId="0" sldId="265"/>
            <ac:picMk id="4" creationId="{735A755C-6D32-B600-ED9B-664C41E8FFAC}"/>
          </ac:picMkLst>
        </pc:picChg>
      </pc:sldChg>
      <pc:sldChg chg="addSp delSp mod modNotes">
        <pc:chgData name="Lai, Wilson" userId="2840974a-0d84-4886-90a9-9a3ed79f3a48" providerId="ADAL" clId="{9F23B798-9E84-4552-BA63-E776E805C424}" dt="2026-09-28T03:26:38.482" v="66"/>
        <pc:sldMkLst>
          <pc:docMk/>
          <pc:sldMk cId="0" sldId="266"/>
        </pc:sldMkLst>
        <pc:picChg chg="del">
          <ac:chgData name="Lai, Wilson" userId="2840974a-0d84-4886-90a9-9a3ed79f3a48" providerId="ADAL" clId="{9F23B798-9E84-4552-BA63-E776E805C424}" dt="2026-09-28T02:56:01.374" v="28" actId="21"/>
          <ac:picMkLst>
            <pc:docMk/>
            <pc:sldMk cId="0" sldId="266"/>
            <ac:picMk id="2" creationId="{00000000-0000-0000-0000-000000000000}"/>
          </ac:picMkLst>
        </pc:picChg>
        <pc:picChg chg="add">
          <ac:chgData name="Lai, Wilson" userId="2840974a-0d84-4886-90a9-9a3ed79f3a48" providerId="ADAL" clId="{9F23B798-9E84-4552-BA63-E776E805C424}" dt="2026-09-28T02:56:56.678" v="29" actId="22"/>
          <ac:picMkLst>
            <pc:docMk/>
            <pc:sldMk cId="0" sldId="266"/>
            <ac:picMk id="4" creationId="{2125D14F-AA27-3FC2-D121-74B62C5F6F1F}"/>
          </ac:picMkLst>
        </pc:picChg>
      </pc:sldChg>
      <pc:sldChg chg="addSp delSp mod modNotes">
        <pc:chgData name="Lai, Wilson" userId="2840974a-0d84-4886-90a9-9a3ed79f3a48" providerId="ADAL" clId="{9F23B798-9E84-4552-BA63-E776E805C424}" dt="2026-09-28T03:26:38.482" v="66"/>
        <pc:sldMkLst>
          <pc:docMk/>
          <pc:sldMk cId="0" sldId="267"/>
        </pc:sldMkLst>
        <pc:picChg chg="del">
          <ac:chgData name="Lai, Wilson" userId="2840974a-0d84-4886-90a9-9a3ed79f3a48" providerId="ADAL" clId="{9F23B798-9E84-4552-BA63-E776E805C424}" dt="2026-09-28T02:56:58.268" v="30" actId="21"/>
          <ac:picMkLst>
            <pc:docMk/>
            <pc:sldMk cId="0" sldId="267"/>
            <ac:picMk id="2" creationId="{00000000-0000-0000-0000-000000000000}"/>
          </ac:picMkLst>
        </pc:picChg>
        <pc:picChg chg="add">
          <ac:chgData name="Lai, Wilson" userId="2840974a-0d84-4886-90a9-9a3ed79f3a48" providerId="ADAL" clId="{9F23B798-9E84-4552-BA63-E776E805C424}" dt="2026-09-28T02:57:07.314" v="31" actId="22"/>
          <ac:picMkLst>
            <pc:docMk/>
            <pc:sldMk cId="0" sldId="267"/>
            <ac:picMk id="4" creationId="{F2D70A03-F44C-204C-B110-51F7E1DF5E61}"/>
          </ac:picMkLst>
        </pc:picChg>
      </pc:sldChg>
      <pc:sldChg chg="addSp delSp mod modNotes">
        <pc:chgData name="Lai, Wilson" userId="2840974a-0d84-4886-90a9-9a3ed79f3a48" providerId="ADAL" clId="{9F23B798-9E84-4552-BA63-E776E805C424}" dt="2026-09-28T03:26:38.482" v="66"/>
        <pc:sldMkLst>
          <pc:docMk/>
          <pc:sldMk cId="0" sldId="268"/>
        </pc:sldMkLst>
        <pc:picChg chg="del">
          <ac:chgData name="Lai, Wilson" userId="2840974a-0d84-4886-90a9-9a3ed79f3a48" providerId="ADAL" clId="{9F23B798-9E84-4552-BA63-E776E805C424}" dt="2026-09-28T02:57:09.054" v="32" actId="21"/>
          <ac:picMkLst>
            <pc:docMk/>
            <pc:sldMk cId="0" sldId="268"/>
            <ac:picMk id="2" creationId="{00000000-0000-0000-0000-000000000000}"/>
          </ac:picMkLst>
        </pc:picChg>
        <pc:picChg chg="add">
          <ac:chgData name="Lai, Wilson" userId="2840974a-0d84-4886-90a9-9a3ed79f3a48" providerId="ADAL" clId="{9F23B798-9E84-4552-BA63-E776E805C424}" dt="2026-09-28T02:57:16.744" v="33" actId="22"/>
          <ac:picMkLst>
            <pc:docMk/>
            <pc:sldMk cId="0" sldId="268"/>
            <ac:picMk id="4" creationId="{C7E927E2-30F6-363D-37D9-ABA6034DE03B}"/>
          </ac:picMkLst>
        </pc:picChg>
      </pc:sldChg>
      <pc:sldChg chg="addSp delSp modSp mod modNotes">
        <pc:chgData name="Lai, Wilson" userId="2840974a-0d84-4886-90a9-9a3ed79f3a48" providerId="ADAL" clId="{9F23B798-9E84-4552-BA63-E776E805C424}" dt="2026-09-28T03:26:38.482" v="66"/>
        <pc:sldMkLst>
          <pc:docMk/>
          <pc:sldMk cId="0" sldId="269"/>
        </pc:sldMkLst>
        <pc:picChg chg="del mod modCrop">
          <ac:chgData name="Lai, Wilson" userId="2840974a-0d84-4886-90a9-9a3ed79f3a48" providerId="ADAL" clId="{9F23B798-9E84-4552-BA63-E776E805C424}" dt="2026-09-28T02:59:02.168" v="45" actId="21"/>
          <ac:picMkLst>
            <pc:docMk/>
            <pc:sldMk cId="0" sldId="269"/>
            <ac:picMk id="2" creationId="{00000000-0000-0000-0000-000000000000}"/>
          </ac:picMkLst>
        </pc:picChg>
        <pc:picChg chg="add">
          <ac:chgData name="Lai, Wilson" userId="2840974a-0d84-4886-90a9-9a3ed79f3a48" providerId="ADAL" clId="{9F23B798-9E84-4552-BA63-E776E805C424}" dt="2026-09-28T02:59:05.875" v="46" actId="22"/>
          <ac:picMkLst>
            <pc:docMk/>
            <pc:sldMk cId="0" sldId="269"/>
            <ac:picMk id="4" creationId="{8D55D029-9C10-802F-3E7C-BFBEECFF18E7}"/>
          </ac:picMkLst>
        </pc:picChg>
      </pc:sldChg>
      <pc:sldChg chg="addSp delSp mod modNotes">
        <pc:chgData name="Lai, Wilson" userId="2840974a-0d84-4886-90a9-9a3ed79f3a48" providerId="ADAL" clId="{9F23B798-9E84-4552-BA63-E776E805C424}" dt="2026-09-28T03:26:38.482" v="66"/>
        <pc:sldMkLst>
          <pc:docMk/>
          <pc:sldMk cId="0" sldId="270"/>
        </pc:sldMkLst>
        <pc:picChg chg="del">
          <ac:chgData name="Lai, Wilson" userId="2840974a-0d84-4886-90a9-9a3ed79f3a48" providerId="ADAL" clId="{9F23B798-9E84-4552-BA63-E776E805C424}" dt="2026-09-28T02:57:24.204" v="34" actId="21"/>
          <ac:picMkLst>
            <pc:docMk/>
            <pc:sldMk cId="0" sldId="270"/>
            <ac:picMk id="2" creationId="{00000000-0000-0000-0000-000000000000}"/>
          </ac:picMkLst>
        </pc:picChg>
        <pc:picChg chg="add">
          <ac:chgData name="Lai, Wilson" userId="2840974a-0d84-4886-90a9-9a3ed79f3a48" providerId="ADAL" clId="{9F23B798-9E84-4552-BA63-E776E805C424}" dt="2026-09-28T02:57:36.260" v="35" actId="22"/>
          <ac:picMkLst>
            <pc:docMk/>
            <pc:sldMk cId="0" sldId="270"/>
            <ac:picMk id="4" creationId="{A7BF756E-6537-DD7D-F3D0-6B089F09A244}"/>
          </ac:picMkLst>
        </pc:picChg>
      </pc:sldChg>
      <pc:sldChg chg="addSp delSp mod modNotes">
        <pc:chgData name="Lai, Wilson" userId="2840974a-0d84-4886-90a9-9a3ed79f3a48" providerId="ADAL" clId="{9F23B798-9E84-4552-BA63-E776E805C424}" dt="2026-09-28T03:26:38.482" v="66"/>
        <pc:sldMkLst>
          <pc:docMk/>
          <pc:sldMk cId="0" sldId="271"/>
        </pc:sldMkLst>
        <pc:picChg chg="del">
          <ac:chgData name="Lai, Wilson" userId="2840974a-0d84-4886-90a9-9a3ed79f3a48" providerId="ADAL" clId="{9F23B798-9E84-4552-BA63-E776E805C424}" dt="2026-09-28T02:57:37.728" v="36" actId="21"/>
          <ac:picMkLst>
            <pc:docMk/>
            <pc:sldMk cId="0" sldId="271"/>
            <ac:picMk id="2" creationId="{00000000-0000-0000-0000-000000000000}"/>
          </ac:picMkLst>
        </pc:picChg>
        <pc:picChg chg="add">
          <ac:chgData name="Lai, Wilson" userId="2840974a-0d84-4886-90a9-9a3ed79f3a48" providerId="ADAL" clId="{9F23B798-9E84-4552-BA63-E776E805C424}" dt="2026-09-28T02:57:48.793" v="37" actId="22"/>
          <ac:picMkLst>
            <pc:docMk/>
            <pc:sldMk cId="0" sldId="271"/>
            <ac:picMk id="4" creationId="{574018E9-7B35-6BF1-AC5B-6A2B340BB938}"/>
          </ac:picMkLst>
        </pc:picChg>
      </pc:sldChg>
      <pc:sldChg chg="addSp delSp mod modNotes modNotesTx">
        <pc:chgData name="Lai, Wilson" userId="2840974a-0d84-4886-90a9-9a3ed79f3a48" providerId="ADAL" clId="{9F23B798-9E84-4552-BA63-E776E805C424}" dt="2026-09-28T03:27:09.300" v="72" actId="14"/>
        <pc:sldMkLst>
          <pc:docMk/>
          <pc:sldMk cId="2777565902" sldId="272"/>
        </pc:sldMkLst>
        <pc:picChg chg="del">
          <ac:chgData name="Lai, Wilson" userId="2840974a-0d84-4886-90a9-9a3ed79f3a48" providerId="ADAL" clId="{9F23B798-9E84-4552-BA63-E776E805C424}" dt="2026-09-28T02:57:51.596" v="38" actId="21"/>
          <ac:picMkLst>
            <pc:docMk/>
            <pc:sldMk cId="2777565902" sldId="272"/>
            <ac:picMk id="3" creationId="{52372C8C-F16F-02FD-923F-1B0690DAEEA6}"/>
          </ac:picMkLst>
        </pc:picChg>
        <pc:picChg chg="add">
          <ac:chgData name="Lai, Wilson" userId="2840974a-0d84-4886-90a9-9a3ed79f3a48" providerId="ADAL" clId="{9F23B798-9E84-4552-BA63-E776E805C424}" dt="2026-09-28T02:58:06.773" v="39" actId="22"/>
          <ac:picMkLst>
            <pc:docMk/>
            <pc:sldMk cId="2777565902" sldId="272"/>
            <ac:picMk id="4" creationId="{29E47AC1-36C4-1E92-BCB8-798C2827F02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B7F417-FA43-4A3F-B057-AF7431E2C28C}"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9130B6-49BF-472A-8841-1D5C993DD876}" type="slidenum">
              <a:rPr lang="en-US" smtClean="0"/>
              <a:t>‹#›</a:t>
            </a:fld>
            <a:endParaRPr lang="en-US"/>
          </a:p>
        </p:txBody>
      </p:sp>
    </p:spTree>
    <p:extLst>
      <p:ext uri="{BB962C8B-B14F-4D97-AF65-F5344CB8AC3E}">
        <p14:creationId xmlns:p14="http://schemas.microsoft.com/office/powerpoint/2010/main" val="3623010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Welcome &amp; Introduction:</a:t>
            </a:r>
            <a:r>
              <a:rPr lang="en-US" sz="1200" kern="1200" dirty="0">
                <a:solidFill>
                  <a:schemeClr val="tx1"/>
                </a:solidFill>
                <a:effectLst/>
                <a:latin typeface="+mn-lt"/>
                <a:ea typeface="+mn-ea"/>
                <a:cs typeface="+mn-cs"/>
              </a:rPr>
              <a:t> Good morning, everyone. Today, we’re exploring </a:t>
            </a:r>
            <a:r>
              <a:rPr lang="en-US" sz="1200" i="1" kern="1200" dirty="0">
                <a:solidFill>
                  <a:schemeClr val="tx1"/>
                </a:solidFill>
                <a:effectLst/>
                <a:latin typeface="+mn-lt"/>
                <a:ea typeface="+mn-ea"/>
                <a:cs typeface="+mn-cs"/>
              </a:rPr>
              <a:t>'The Laws of Thought: Re-evaluating Modern AI Through the Lens of Cognitive Science.'</a:t>
            </a:r>
            <a:r>
              <a:rPr lang="en-US" sz="1200" kern="1200" dirty="0">
                <a:solidFill>
                  <a:schemeClr val="tx1"/>
                </a:solidFill>
                <a:effectLst/>
                <a:latin typeface="+mn-lt"/>
                <a:ea typeface="+mn-ea"/>
                <a:cs typeface="+mn-cs"/>
              </a:rPr>
              <a:t> For the past two years, AI feels like a sudden magic trick that appeared out of nowhere. But as Princeton Cognitive Scientist Tom Griffiths emphasizes, AI isn’t a sudden miracle; it is the culmination of a 250-year-old mathematical quest to map the human mind. </a:t>
            </a:r>
          </a:p>
          <a:p>
            <a:pPr lvl="0"/>
            <a:r>
              <a:rPr lang="en-US" sz="1200" b="1" kern="1200" dirty="0">
                <a:solidFill>
                  <a:schemeClr val="tx1"/>
                </a:solidFill>
                <a:effectLst/>
                <a:latin typeface="+mn-lt"/>
                <a:ea typeface="+mn-ea"/>
                <a:cs typeface="+mn-cs"/>
              </a:rPr>
              <a:t>Core Framing:</a:t>
            </a:r>
            <a:r>
              <a:rPr lang="en-US" sz="1200" kern="1200" dirty="0">
                <a:solidFill>
                  <a:schemeClr val="tx1"/>
                </a:solidFill>
                <a:effectLst/>
                <a:latin typeface="+mn-lt"/>
                <a:ea typeface="+mn-ea"/>
                <a:cs typeface="+mn-cs"/>
              </a:rPr>
              <a:t> Computer scientists today face an unfamiliar dilemma: for 75 years, software engineers wrote every line of code and knew exactly how their programs operated. Modern AI has broken that paradigm. We have built systems that learn from unreadable volumes of data and encode intelligence across billions of continuous weights—creating a classic 'black box'. </a:t>
            </a:r>
          </a:p>
          <a:p>
            <a:pPr lvl="0"/>
            <a:r>
              <a:rPr lang="en-US" sz="1200" b="1" kern="1200" dirty="0">
                <a:solidFill>
                  <a:schemeClr val="tx1"/>
                </a:solidFill>
                <a:effectLst/>
                <a:latin typeface="+mn-lt"/>
                <a:ea typeface="+mn-ea"/>
                <a:cs typeface="+mn-cs"/>
              </a:rPr>
              <a:t>The Cognitive Science Solution:</a:t>
            </a:r>
            <a:r>
              <a:rPr lang="en-US" sz="1200" kern="1200" dirty="0">
                <a:solidFill>
                  <a:schemeClr val="tx1"/>
                </a:solidFill>
                <a:effectLst/>
                <a:latin typeface="+mn-lt"/>
                <a:ea typeface="+mn-ea"/>
                <a:cs typeface="+mn-cs"/>
              </a:rPr>
              <a:t> Fortunately, cognitive scientists have spent the last 75 years studying another opaque, black-box system: the biological human brain. By bridging cognitive science and computer science, we can decode how AI works, uncover its critical limitations, and chart the true future of intelligence. </a:t>
            </a:r>
          </a:p>
          <a:p>
            <a:endParaRPr lang="en-US" dirty="0"/>
          </a:p>
          <a:p>
            <a:endParaRPr lang="en-US" dirty="0"/>
          </a:p>
          <a:p>
            <a:endParaRPr lang="en-US" dirty="0"/>
          </a:p>
          <a:p>
            <a:endParaRPr lang="en-US" dirty="0"/>
          </a:p>
          <a:p>
            <a:r>
              <a:rPr lang="en-US" b="1" dirty="0"/>
              <a:t>Princeton Cognitive Scientist Says AI Researchers Are Wrong</a:t>
            </a:r>
          </a:p>
          <a:p>
            <a:r>
              <a:rPr lang="en-US" dirty="0"/>
              <a:t>https://www.youtube.com/watch?v=6iMiCJHxTww</a:t>
            </a:r>
          </a:p>
        </p:txBody>
      </p:sp>
      <p:sp>
        <p:nvSpPr>
          <p:cNvPr id="4" name="Slide Number Placeholder 3"/>
          <p:cNvSpPr>
            <a:spLocks noGrp="1"/>
          </p:cNvSpPr>
          <p:nvPr>
            <p:ph type="sldNum" sz="quarter" idx="5"/>
          </p:nvPr>
        </p:nvSpPr>
        <p:spPr/>
        <p:txBody>
          <a:bodyPr/>
          <a:lstStyle/>
          <a:p>
            <a:fld id="{F79130B6-49BF-472A-8841-1D5C993DD876}" type="slidenum">
              <a:rPr lang="en-US" smtClean="0"/>
              <a:t>1</a:t>
            </a:fld>
            <a:endParaRPr lang="en-US"/>
          </a:p>
        </p:txBody>
      </p:sp>
    </p:spTree>
    <p:extLst>
      <p:ext uri="{BB962C8B-B14F-4D97-AF65-F5344CB8AC3E}">
        <p14:creationId xmlns:p14="http://schemas.microsoft.com/office/powerpoint/2010/main" val="1725934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Computer Science Dilemma:</a:t>
            </a:r>
            <a:r>
              <a:rPr lang="en-US" sz="1200" kern="1200" dirty="0">
                <a:solidFill>
                  <a:schemeClr val="tx1"/>
                </a:solidFill>
                <a:effectLst/>
                <a:latin typeface="+mn-lt"/>
                <a:ea typeface="+mn-ea"/>
                <a:cs typeface="+mn-cs"/>
              </a:rPr>
              <a:t> Let’s look at the central paradox of modern software. Historically, computer science was deterministic—you wrote logic, and you knew the exact execution path. Modern Deep Learning inverted this. </a:t>
            </a:r>
          </a:p>
          <a:p>
            <a:pPr lvl="0"/>
            <a:r>
              <a:rPr lang="en-US" sz="1200" b="1" kern="1200" dirty="0">
                <a:solidFill>
                  <a:schemeClr val="tx1"/>
                </a:solidFill>
                <a:effectLst/>
                <a:latin typeface="+mn-lt"/>
                <a:ea typeface="+mn-ea"/>
                <a:cs typeface="+mn-cs"/>
              </a:rPr>
              <a:t>Incomprehensible Scale &amp; Continuous Weights:</a:t>
            </a:r>
            <a:r>
              <a:rPr lang="en-US" sz="1200" kern="1200" dirty="0">
                <a:solidFill>
                  <a:schemeClr val="tx1"/>
                </a:solidFill>
                <a:effectLst/>
                <a:latin typeface="+mn-lt"/>
                <a:ea typeface="+mn-ea"/>
                <a:cs typeface="+mn-cs"/>
              </a:rPr>
              <a:t> First, we have </a:t>
            </a:r>
            <a:r>
              <a:rPr lang="en-US" sz="1200" b="1" kern="1200" dirty="0">
                <a:solidFill>
                  <a:schemeClr val="tx1"/>
                </a:solidFill>
                <a:effectLst/>
                <a:latin typeface="+mn-lt"/>
                <a:ea typeface="+mn-ea"/>
                <a:cs typeface="+mn-cs"/>
              </a:rPr>
              <a:t>Incomprehensible Scale</a:t>
            </a:r>
            <a:r>
              <a:rPr lang="en-US" sz="1200" kern="1200" dirty="0">
                <a:solidFill>
                  <a:schemeClr val="tx1"/>
                </a:solidFill>
                <a:effectLst/>
                <a:latin typeface="+mn-lt"/>
                <a:ea typeface="+mn-ea"/>
                <a:cs typeface="+mn-cs"/>
              </a:rPr>
              <a:t>: these neural networks process far more data during training than any human could read in multiple lifetimes. Second, we have </a:t>
            </a:r>
            <a:r>
              <a:rPr lang="en-US" sz="1200" b="1" kern="1200" dirty="0">
                <a:solidFill>
                  <a:schemeClr val="tx1"/>
                </a:solidFill>
                <a:effectLst/>
                <a:latin typeface="+mn-lt"/>
                <a:ea typeface="+mn-ea"/>
                <a:cs typeface="+mn-cs"/>
              </a:rPr>
              <a:t>The Continuous Web</a:t>
            </a:r>
            <a:r>
              <a:rPr lang="en-US" sz="1200" kern="1200" dirty="0">
                <a:solidFill>
                  <a:schemeClr val="tx1"/>
                </a:solidFill>
                <a:effectLst/>
                <a:latin typeface="+mn-lt"/>
                <a:ea typeface="+mn-ea"/>
                <a:cs typeface="+mn-cs"/>
              </a:rPr>
              <a:t>: knowledge isn't stored as legible 'if-then' statements or database rows. It’s dispersed across billions or trillions of continuous floating-point weights. </a:t>
            </a:r>
          </a:p>
          <a:p>
            <a:pPr lvl="0"/>
            <a:r>
              <a:rPr lang="en-US" sz="1200" b="1" kern="1200" dirty="0">
                <a:solidFill>
                  <a:schemeClr val="tx1"/>
                </a:solidFill>
                <a:effectLst/>
                <a:latin typeface="+mn-lt"/>
                <a:ea typeface="+mn-ea"/>
                <a:cs typeface="+mn-cs"/>
              </a:rPr>
              <a:t>The Cognitive Science Toolset:</a:t>
            </a:r>
            <a:r>
              <a:rPr lang="en-US" sz="1200" kern="1200" dirty="0">
                <a:solidFill>
                  <a:schemeClr val="tx1"/>
                </a:solidFill>
                <a:effectLst/>
                <a:latin typeface="+mn-lt"/>
                <a:ea typeface="+mn-ea"/>
                <a:cs typeface="+mn-cs"/>
              </a:rPr>
              <a:t> This leaves developers asking, </a:t>
            </a:r>
            <a:r>
              <a:rPr lang="en-US" sz="1200" i="1" kern="1200" dirty="0">
                <a:solidFill>
                  <a:schemeClr val="tx1"/>
                </a:solidFill>
                <a:effectLst/>
                <a:latin typeface="+mn-lt"/>
                <a:ea typeface="+mn-ea"/>
                <a:cs typeface="+mn-cs"/>
              </a:rPr>
              <a:t>'What do we do with a system we built but don't understand?'</a:t>
            </a:r>
            <a:r>
              <a:rPr lang="en-US" sz="1200" kern="1200" dirty="0">
                <a:solidFill>
                  <a:schemeClr val="tx1"/>
                </a:solidFill>
                <a:effectLst/>
                <a:latin typeface="+mn-lt"/>
                <a:ea typeface="+mn-ea"/>
                <a:cs typeface="+mn-cs"/>
              </a:rPr>
              <a:t> This is where cognitive science steps in. Cognitive science was born during the mid-20th-century 'cognitive revolution' precisely to build mathematical tools to analyze complex, opaque mental architectures. We are now taking those exact brain-analysis techniques and applying them to artificial neural networks. </a:t>
            </a:r>
          </a:p>
          <a:p>
            <a:endParaRPr lang="en-US" dirty="0"/>
          </a:p>
        </p:txBody>
      </p:sp>
      <p:sp>
        <p:nvSpPr>
          <p:cNvPr id="4" name="Slide Number Placeholder 3"/>
          <p:cNvSpPr>
            <a:spLocks noGrp="1"/>
          </p:cNvSpPr>
          <p:nvPr>
            <p:ph type="sldNum" sz="quarter" idx="5"/>
          </p:nvPr>
        </p:nvSpPr>
        <p:spPr/>
        <p:txBody>
          <a:bodyPr/>
          <a:lstStyle/>
          <a:p>
            <a:fld id="{F79130B6-49BF-472A-8841-1D5C993DD876}" type="slidenum">
              <a:rPr lang="en-US" smtClean="0"/>
              <a:t>2</a:t>
            </a:fld>
            <a:endParaRPr lang="en-US"/>
          </a:p>
        </p:txBody>
      </p:sp>
    </p:spTree>
    <p:extLst>
      <p:ext uri="{BB962C8B-B14F-4D97-AF65-F5344CB8AC3E}">
        <p14:creationId xmlns:p14="http://schemas.microsoft.com/office/powerpoint/2010/main" val="2927205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Historical Origins – Aristotle:</a:t>
            </a:r>
            <a:r>
              <a:rPr lang="en-US" sz="1200" kern="1200" dirty="0">
                <a:solidFill>
                  <a:schemeClr val="tx1"/>
                </a:solidFill>
                <a:effectLst/>
                <a:latin typeface="+mn-lt"/>
                <a:ea typeface="+mn-ea"/>
                <a:cs typeface="+mn-cs"/>
              </a:rPr>
              <a:t> To understand how we arrived at modern AI, we must trace a 250-year intellectual arc. It started with </a:t>
            </a:r>
            <a:r>
              <a:rPr lang="en-US" sz="1200" b="1" kern="1200" dirty="0">
                <a:solidFill>
                  <a:schemeClr val="tx1"/>
                </a:solidFill>
                <a:effectLst/>
                <a:latin typeface="+mn-lt"/>
                <a:ea typeface="+mn-ea"/>
                <a:cs typeface="+mn-cs"/>
              </a:rPr>
              <a:t>Aristotle</a:t>
            </a:r>
            <a:r>
              <a:rPr lang="en-US" sz="1200" kern="1200" dirty="0">
                <a:solidFill>
                  <a:schemeClr val="tx1"/>
                </a:solidFill>
                <a:effectLst/>
                <a:latin typeface="+mn-lt"/>
                <a:ea typeface="+mn-ea"/>
                <a:cs typeface="+mn-cs"/>
              </a:rPr>
              <a:t>, who mapped deductive logic by enumerating combinations of syllogisms—such as </a:t>
            </a:r>
            <a:r>
              <a:rPr lang="en-US" sz="1200" i="1" kern="1200" dirty="0">
                <a:solidFill>
                  <a:schemeClr val="tx1"/>
                </a:solidFill>
                <a:effectLst/>
                <a:latin typeface="+mn-lt"/>
                <a:ea typeface="+mn-ea"/>
                <a:cs typeface="+mn-cs"/>
              </a:rPr>
              <a:t>'All A's are B, all B's are C, therefore all A's are C'</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Leibniz's Early Vision:</a:t>
            </a:r>
            <a:r>
              <a:rPr lang="en-US" sz="1200" kern="1200" dirty="0">
                <a:solidFill>
                  <a:schemeClr val="tx1"/>
                </a:solidFill>
                <a:effectLst/>
                <a:latin typeface="+mn-lt"/>
                <a:ea typeface="+mn-ea"/>
                <a:cs typeface="+mn-cs"/>
              </a:rPr>
              <a:t> 250 years before digital computers, </a:t>
            </a:r>
            <a:r>
              <a:rPr lang="en-US" sz="1200" b="1" kern="1200" dirty="0">
                <a:solidFill>
                  <a:schemeClr val="tx1"/>
                </a:solidFill>
                <a:effectLst/>
                <a:latin typeface="+mn-lt"/>
                <a:ea typeface="+mn-ea"/>
                <a:cs typeface="+mn-cs"/>
              </a:rPr>
              <a:t>Gottfried Leibniz</a:t>
            </a:r>
            <a:r>
              <a:rPr lang="en-US" sz="1200" kern="1200" dirty="0">
                <a:solidFill>
                  <a:schemeClr val="tx1"/>
                </a:solidFill>
                <a:effectLst/>
                <a:latin typeface="+mn-lt"/>
                <a:ea typeface="+mn-ea"/>
                <a:cs typeface="+mn-cs"/>
              </a:rPr>
              <a:t> attempted to invent AI. Leibniz envisioned taking Aristotle's syllogisms and running them on mechanical calculators. To do this, he invented an early form of </a:t>
            </a:r>
            <a:r>
              <a:rPr lang="en-US" sz="1200" b="1" kern="1200" dirty="0">
                <a:solidFill>
                  <a:schemeClr val="tx1"/>
                </a:solidFill>
                <a:effectLst/>
                <a:latin typeface="+mn-lt"/>
                <a:ea typeface="+mn-ea"/>
                <a:cs typeface="+mn-cs"/>
              </a:rPr>
              <a:t>arithmetic vector embeddings</a:t>
            </a:r>
            <a:r>
              <a:rPr lang="en-US" sz="1200" kern="1200" dirty="0">
                <a:solidFill>
                  <a:schemeClr val="tx1"/>
                </a:solidFill>
                <a:effectLst/>
                <a:latin typeface="+mn-lt"/>
                <a:ea typeface="+mn-ea"/>
                <a:cs typeface="+mn-cs"/>
              </a:rPr>
              <a:t>—representing concepts as pairs of numbers and manipulating them arithmetically. </a:t>
            </a:r>
          </a:p>
          <a:p>
            <a:pPr lvl="0"/>
            <a:r>
              <a:rPr lang="en-US" sz="1200" b="1" kern="1200" dirty="0">
                <a:solidFill>
                  <a:schemeClr val="tx1"/>
                </a:solidFill>
                <a:effectLst/>
                <a:latin typeface="+mn-lt"/>
                <a:ea typeface="+mn-ea"/>
                <a:cs typeface="+mn-cs"/>
              </a:rPr>
              <a:t>Boole, Turing &amp; von Neumann:</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George Boole</a:t>
            </a:r>
            <a:r>
              <a:rPr lang="en-US" sz="1200" kern="1200" dirty="0">
                <a:solidFill>
                  <a:schemeClr val="tx1"/>
                </a:solidFill>
                <a:effectLst/>
                <a:latin typeface="+mn-lt"/>
                <a:ea typeface="+mn-ea"/>
                <a:cs typeface="+mn-cs"/>
              </a:rPr>
              <a:t> identified the missing algebraic toolkit that Leibniz lacked, creating Boolean algebra and formalizing the 'laws of thought' into logic circuits. Decades later, </a:t>
            </a:r>
            <a:r>
              <a:rPr lang="en-US" sz="1200" b="1" kern="1200" dirty="0">
                <a:solidFill>
                  <a:schemeClr val="tx1"/>
                </a:solidFill>
                <a:effectLst/>
                <a:latin typeface="+mn-lt"/>
                <a:ea typeface="+mn-ea"/>
                <a:cs typeface="+mn-cs"/>
              </a:rPr>
              <a:t>Alan Turing</a:t>
            </a:r>
            <a:r>
              <a:rPr lang="en-US" sz="1200" kern="1200" dirty="0">
                <a:solidFill>
                  <a:schemeClr val="tx1"/>
                </a:solidFill>
                <a:effectLst/>
                <a:latin typeface="+mn-lt"/>
                <a:ea typeface="+mn-ea"/>
                <a:cs typeface="+mn-cs"/>
              </a:rPr>
              <a:t> abstracted these ideas into theoretical computing machines, and </a:t>
            </a:r>
            <a:r>
              <a:rPr lang="en-US" sz="1200" b="1" kern="1200" dirty="0">
                <a:solidFill>
                  <a:schemeClr val="tx1"/>
                </a:solidFill>
                <a:effectLst/>
                <a:latin typeface="+mn-lt"/>
                <a:ea typeface="+mn-ea"/>
                <a:cs typeface="+mn-cs"/>
              </a:rPr>
              <a:t>John von Neumann</a:t>
            </a:r>
            <a:r>
              <a:rPr lang="en-US" sz="1200" kern="1200" dirty="0">
                <a:solidFill>
                  <a:schemeClr val="tx1"/>
                </a:solidFill>
                <a:effectLst/>
                <a:latin typeface="+mn-lt"/>
                <a:ea typeface="+mn-ea"/>
                <a:cs typeface="+mn-cs"/>
              </a:rPr>
              <a:t> created the stored-program architecture that powers modern hardware today. </a:t>
            </a:r>
          </a:p>
          <a:p>
            <a:endParaRPr lang="en-US" dirty="0"/>
          </a:p>
        </p:txBody>
      </p:sp>
      <p:sp>
        <p:nvSpPr>
          <p:cNvPr id="4" name="Slide Number Placeholder 3"/>
          <p:cNvSpPr>
            <a:spLocks noGrp="1"/>
          </p:cNvSpPr>
          <p:nvPr>
            <p:ph type="sldNum" sz="quarter" idx="5"/>
          </p:nvPr>
        </p:nvSpPr>
        <p:spPr/>
        <p:txBody>
          <a:bodyPr/>
          <a:lstStyle/>
          <a:p>
            <a:fld id="{F79130B6-49BF-472A-8841-1D5C993DD876}" type="slidenum">
              <a:rPr lang="en-US" smtClean="0"/>
              <a:t>3</a:t>
            </a:fld>
            <a:endParaRPr lang="en-US"/>
          </a:p>
        </p:txBody>
      </p:sp>
    </p:spTree>
    <p:extLst>
      <p:ext uri="{BB962C8B-B14F-4D97-AF65-F5344CB8AC3E}">
        <p14:creationId xmlns:p14="http://schemas.microsoft.com/office/powerpoint/2010/main" val="2355079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Cognitive Revolution &amp; Behaviorism Rejection:</a:t>
            </a:r>
            <a:r>
              <a:rPr lang="en-US" sz="1200" kern="1200" dirty="0">
                <a:solidFill>
                  <a:schemeClr val="tx1"/>
                </a:solidFill>
                <a:effectLst/>
                <a:latin typeface="+mn-lt"/>
                <a:ea typeface="+mn-ea"/>
                <a:cs typeface="+mn-cs"/>
              </a:rPr>
              <a:t> In the mid-20th century, psychology was dominated by Behaviorism, which argued that scientists should only study observable inputs and behaviors—ignoring internal thought. Cognitive revolutionaries fought back, arguing that internal mental states could be studied rigorously using mathematical formalisms. </a:t>
            </a:r>
          </a:p>
          <a:p>
            <a:pPr lvl="0"/>
            <a:r>
              <a:rPr lang="en-US" sz="1200" b="1" kern="1200" dirty="0">
                <a:solidFill>
                  <a:schemeClr val="tx1"/>
                </a:solidFill>
                <a:effectLst/>
                <a:latin typeface="+mn-lt"/>
                <a:ea typeface="+mn-ea"/>
                <a:cs typeface="+mn-cs"/>
              </a:rPr>
              <a:t>Chomsky's Chessboard Analogy:</a:t>
            </a:r>
            <a:r>
              <a:rPr lang="en-US" sz="1200" kern="1200" dirty="0">
                <a:solidFill>
                  <a:schemeClr val="tx1"/>
                </a:solidFill>
                <a:effectLst/>
                <a:latin typeface="+mn-lt"/>
                <a:ea typeface="+mn-ea"/>
                <a:cs typeface="+mn-cs"/>
              </a:rPr>
              <a:t> Linguist Noam Chomsky introduced </a:t>
            </a:r>
            <a:r>
              <a:rPr lang="en-US" sz="1200" b="1" kern="1200" dirty="0">
                <a:solidFill>
                  <a:schemeClr val="tx1"/>
                </a:solidFill>
                <a:effectLst/>
                <a:latin typeface="+mn-lt"/>
                <a:ea typeface="+mn-ea"/>
                <a:cs typeface="+mn-cs"/>
              </a:rPr>
              <a:t>Generative Grammar</a:t>
            </a:r>
            <a:r>
              <a:rPr lang="en-US" sz="1200" kern="1200" dirty="0">
                <a:solidFill>
                  <a:schemeClr val="tx1"/>
                </a:solidFill>
                <a:effectLst/>
                <a:latin typeface="+mn-lt"/>
                <a:ea typeface="+mn-ea"/>
                <a:cs typeface="+mn-cs"/>
              </a:rPr>
              <a:t>. To understand this, consider a </a:t>
            </a:r>
            <a:r>
              <a:rPr lang="en-US" sz="1200" b="1" kern="1200" dirty="0">
                <a:solidFill>
                  <a:schemeClr val="tx1"/>
                </a:solidFill>
                <a:effectLst/>
                <a:latin typeface="+mn-lt"/>
                <a:ea typeface="+mn-ea"/>
                <a:cs typeface="+mn-cs"/>
              </a:rPr>
              <a:t>chessboard</a:t>
            </a:r>
            <a:r>
              <a:rPr lang="en-US" sz="1200" kern="1200" dirty="0">
                <a:solidFill>
                  <a:schemeClr val="tx1"/>
                </a:solidFill>
                <a:effectLst/>
                <a:latin typeface="+mn-lt"/>
                <a:ea typeface="+mn-ea"/>
                <a:cs typeface="+mn-cs"/>
              </a:rPr>
              <a:t>. From the initial setup, each player has 20 possible opening moves, creating 400 possible board states after turn one. As moves progress, millions of unique board configurations emerge from a concise, fixed set of chess rules. </a:t>
            </a:r>
          </a:p>
          <a:p>
            <a:pPr lvl="0"/>
            <a:r>
              <a:rPr lang="en-US" sz="1200" b="1" kern="1200" dirty="0">
                <a:solidFill>
                  <a:schemeClr val="tx1"/>
                </a:solidFill>
                <a:effectLst/>
                <a:latin typeface="+mn-lt"/>
                <a:ea typeface="+mn-ea"/>
                <a:cs typeface="+mn-cs"/>
              </a:rPr>
              <a:t>Language as a Mathematical Generator:</a:t>
            </a:r>
            <a:r>
              <a:rPr lang="en-US" sz="1200" kern="1200" dirty="0">
                <a:solidFill>
                  <a:schemeClr val="tx1"/>
                </a:solidFill>
                <a:effectLst/>
                <a:latin typeface="+mn-lt"/>
                <a:ea typeface="+mn-ea"/>
                <a:cs typeface="+mn-cs"/>
              </a:rPr>
              <a:t> Chomsky argued that human language operates identically: a concise set of rigid generative rules allows us to produce an infinite variety of valid, novel sentences. This rule-based framing inspired early </a:t>
            </a:r>
            <a:r>
              <a:rPr lang="en-US" sz="1200" b="1" kern="1200" dirty="0">
                <a:solidFill>
                  <a:schemeClr val="tx1"/>
                </a:solidFill>
                <a:effectLst/>
                <a:latin typeface="+mn-lt"/>
                <a:ea typeface="+mn-ea"/>
                <a:cs typeface="+mn-cs"/>
              </a:rPr>
              <a:t>Symbolic AI</a:t>
            </a:r>
            <a:r>
              <a:rPr lang="en-US" sz="1200" kern="1200" dirty="0">
                <a:solidFill>
                  <a:schemeClr val="tx1"/>
                </a:solidFill>
                <a:effectLst/>
                <a:latin typeface="+mn-lt"/>
                <a:ea typeface="+mn-ea"/>
                <a:cs typeface="+mn-cs"/>
              </a:rPr>
              <a:t>, which dominated research through the 1970s and 80s. </a:t>
            </a:r>
          </a:p>
          <a:p>
            <a:endParaRPr lang="en-US" dirty="0"/>
          </a:p>
        </p:txBody>
      </p:sp>
      <p:sp>
        <p:nvSpPr>
          <p:cNvPr id="4" name="Slide Number Placeholder 3"/>
          <p:cNvSpPr>
            <a:spLocks noGrp="1"/>
          </p:cNvSpPr>
          <p:nvPr>
            <p:ph type="sldNum" sz="quarter" idx="5"/>
          </p:nvPr>
        </p:nvSpPr>
        <p:spPr/>
        <p:txBody>
          <a:bodyPr/>
          <a:lstStyle/>
          <a:p>
            <a:fld id="{F79130B6-49BF-472A-8841-1D5C993DD876}" type="slidenum">
              <a:rPr lang="en-US" smtClean="0"/>
              <a:t>4</a:t>
            </a:fld>
            <a:endParaRPr lang="en-US"/>
          </a:p>
        </p:txBody>
      </p:sp>
    </p:spTree>
    <p:extLst>
      <p:ext uri="{BB962C8B-B14F-4D97-AF65-F5344CB8AC3E}">
        <p14:creationId xmlns:p14="http://schemas.microsoft.com/office/powerpoint/2010/main" val="3855110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Limits of Symbolic Logic:</a:t>
            </a:r>
            <a:r>
              <a:rPr lang="en-US" sz="1200" kern="1200" dirty="0">
                <a:solidFill>
                  <a:schemeClr val="tx1"/>
                </a:solidFill>
                <a:effectLst/>
                <a:latin typeface="+mn-lt"/>
                <a:ea typeface="+mn-ea"/>
                <a:cs typeface="+mn-cs"/>
              </a:rPr>
              <a:t> While rule-based Symbolic AI seemed promising, it ran into a fundamental wall: </a:t>
            </a:r>
            <a:r>
              <a:rPr lang="en-US" sz="1200" b="1" kern="1200" dirty="0">
                <a:solidFill>
                  <a:schemeClr val="tx1"/>
                </a:solidFill>
                <a:effectLst/>
                <a:latin typeface="+mn-lt"/>
                <a:ea typeface="+mn-ea"/>
                <a:cs typeface="+mn-cs"/>
              </a:rPr>
              <a:t>reality is fuzzy, not rigid</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Eleanor Rosch &amp; Prototype Theory:</a:t>
            </a:r>
            <a:r>
              <a:rPr lang="en-US" sz="1200" kern="1200" dirty="0">
                <a:solidFill>
                  <a:schemeClr val="tx1"/>
                </a:solidFill>
                <a:effectLst/>
                <a:latin typeface="+mn-lt"/>
                <a:ea typeface="+mn-ea"/>
                <a:cs typeface="+mn-cs"/>
              </a:rPr>
              <a:t> Cognitive scientist Eleanor Rosch proved that human concepts aren't stored as strict dictionary definitions. Instead, they are defined by </a:t>
            </a:r>
            <a:r>
              <a:rPr lang="en-US" sz="1200" b="1" kern="1200" dirty="0">
                <a:solidFill>
                  <a:schemeClr val="tx1"/>
                </a:solidFill>
                <a:effectLst/>
                <a:latin typeface="+mn-lt"/>
                <a:ea typeface="+mn-ea"/>
                <a:cs typeface="+mn-cs"/>
              </a:rPr>
              <a:t>graded relationships</a:t>
            </a:r>
            <a:r>
              <a:rPr lang="en-US" sz="1200" kern="1200" dirty="0">
                <a:solidFill>
                  <a:schemeClr val="tx1"/>
                </a:solidFill>
                <a:effectLst/>
                <a:latin typeface="+mn-lt"/>
                <a:ea typeface="+mn-ea"/>
                <a:cs typeface="+mn-cs"/>
              </a:rPr>
              <a:t> and 'family resemblance'. If you ask someone, </a:t>
            </a:r>
            <a:r>
              <a:rPr lang="en-US" sz="1200" i="1" kern="1200" dirty="0">
                <a:solidFill>
                  <a:schemeClr val="tx1"/>
                </a:solidFill>
                <a:effectLst/>
                <a:latin typeface="+mn-lt"/>
                <a:ea typeface="+mn-ea"/>
                <a:cs typeface="+mn-cs"/>
              </a:rPr>
              <a:t>'Is a chair furniture?'</a:t>
            </a:r>
            <a:r>
              <a:rPr lang="en-US" sz="1200" kern="1200" dirty="0">
                <a:solidFill>
                  <a:schemeClr val="tx1"/>
                </a:solidFill>
                <a:effectLst/>
                <a:latin typeface="+mn-lt"/>
                <a:ea typeface="+mn-ea"/>
                <a:cs typeface="+mn-cs"/>
              </a:rPr>
              <a:t>, they immediately say yes. </a:t>
            </a:r>
          </a:p>
          <a:p>
            <a:pPr lvl="0"/>
            <a:r>
              <a:rPr lang="en-US" sz="1200" b="1" kern="1200" dirty="0">
                <a:solidFill>
                  <a:schemeClr val="tx1"/>
                </a:solidFill>
                <a:effectLst/>
                <a:latin typeface="+mn-lt"/>
                <a:ea typeface="+mn-ea"/>
                <a:cs typeface="+mn-cs"/>
              </a:rPr>
              <a:t>Exploring Category Boundaries:</a:t>
            </a:r>
            <a:r>
              <a:rPr lang="en-US" sz="1200" kern="1200" dirty="0">
                <a:solidFill>
                  <a:schemeClr val="tx1"/>
                </a:solidFill>
                <a:effectLst/>
                <a:latin typeface="+mn-lt"/>
                <a:ea typeface="+mn-ea"/>
                <a:cs typeface="+mn-cs"/>
              </a:rPr>
              <a:t> If you ask, </a:t>
            </a:r>
            <a:r>
              <a:rPr lang="en-US" sz="1200" i="1" kern="1200" dirty="0">
                <a:solidFill>
                  <a:schemeClr val="tx1"/>
                </a:solidFill>
                <a:effectLst/>
                <a:latin typeface="+mn-lt"/>
                <a:ea typeface="+mn-ea"/>
                <a:cs typeface="+mn-cs"/>
              </a:rPr>
              <a:t>'Is a lamp furniture?'</a:t>
            </a:r>
            <a:r>
              <a:rPr lang="en-US" sz="1200" kern="1200" dirty="0">
                <a:solidFill>
                  <a:schemeClr val="tx1"/>
                </a:solidFill>
                <a:effectLst/>
                <a:latin typeface="+mn-lt"/>
                <a:ea typeface="+mn-ea"/>
                <a:cs typeface="+mn-cs"/>
              </a:rPr>
              <a:t>, people hesitate with a 'maybe'. </a:t>
            </a:r>
            <a:r>
              <a:rPr lang="en-US" sz="1200" i="1" kern="1200" dirty="0">
                <a:solidFill>
                  <a:schemeClr val="tx1"/>
                </a:solidFill>
                <a:effectLst/>
                <a:latin typeface="+mn-lt"/>
                <a:ea typeface="+mn-ea"/>
                <a:cs typeface="+mn-cs"/>
              </a:rPr>
              <a:t>'Is a rug furniture?'</a:t>
            </a:r>
            <a:r>
              <a:rPr lang="en-US" sz="1200" kern="1200" dirty="0">
                <a:solidFill>
                  <a:schemeClr val="tx1"/>
                </a:solidFill>
                <a:effectLst/>
                <a:latin typeface="+mn-lt"/>
                <a:ea typeface="+mn-ea"/>
                <a:cs typeface="+mn-cs"/>
              </a:rPr>
              <a:t> gets a weak 'no'. If concepts were strict rules, membership would be a binary 1 or 0. Rosch showed human memory relies on graded continuous boundaries. </a:t>
            </a:r>
          </a:p>
          <a:p>
            <a:pPr lvl="0"/>
            <a:r>
              <a:rPr lang="en-US" sz="1200" b="1" kern="1200" dirty="0">
                <a:solidFill>
                  <a:schemeClr val="tx1"/>
                </a:solidFill>
                <a:effectLst/>
                <a:latin typeface="+mn-lt"/>
                <a:ea typeface="+mn-ea"/>
                <a:cs typeface="+mn-cs"/>
              </a:rPr>
              <a:t>Shift to Semantic Networks:</a:t>
            </a:r>
            <a:r>
              <a:rPr lang="en-US" sz="1200" kern="1200" dirty="0">
                <a:solidFill>
                  <a:schemeClr val="tx1"/>
                </a:solidFill>
                <a:effectLst/>
                <a:latin typeface="+mn-lt"/>
                <a:ea typeface="+mn-ea"/>
                <a:cs typeface="+mn-cs"/>
              </a:rPr>
              <a:t> To handle uncertainty and real-world ambiguity, AI had to move away from rigid symbolic logic and evolve toward </a:t>
            </a:r>
            <a:r>
              <a:rPr lang="en-US" sz="1200" b="1" kern="1200" dirty="0">
                <a:solidFill>
                  <a:schemeClr val="tx1"/>
                </a:solidFill>
                <a:effectLst/>
                <a:latin typeface="+mn-lt"/>
                <a:ea typeface="+mn-ea"/>
                <a:cs typeface="+mn-cs"/>
              </a:rPr>
              <a:t>distributed semantic networks</a:t>
            </a:r>
            <a:r>
              <a:rPr lang="en-US" sz="1200" kern="1200" dirty="0">
                <a:solidFill>
                  <a:schemeClr val="tx1"/>
                </a:solidFill>
                <a:effectLst/>
                <a:latin typeface="+mn-lt"/>
                <a:ea typeface="+mn-ea"/>
                <a:cs typeface="+mn-cs"/>
              </a:rPr>
              <a:t>, where concepts exist as interconnected nodes in a weighted space.</a:t>
            </a:r>
          </a:p>
          <a:p>
            <a:endParaRPr lang="en-US" dirty="0"/>
          </a:p>
        </p:txBody>
      </p:sp>
      <p:sp>
        <p:nvSpPr>
          <p:cNvPr id="4" name="Slide Number Placeholder 3"/>
          <p:cNvSpPr>
            <a:spLocks noGrp="1"/>
          </p:cNvSpPr>
          <p:nvPr>
            <p:ph type="sldNum" sz="quarter" idx="5"/>
          </p:nvPr>
        </p:nvSpPr>
        <p:spPr/>
        <p:txBody>
          <a:bodyPr/>
          <a:lstStyle/>
          <a:p>
            <a:fld id="{F79130B6-49BF-472A-8841-1D5C993DD876}" type="slidenum">
              <a:rPr lang="en-US" smtClean="0"/>
              <a:t>5</a:t>
            </a:fld>
            <a:endParaRPr lang="en-US"/>
          </a:p>
        </p:txBody>
      </p:sp>
    </p:spTree>
    <p:extLst>
      <p:ext uri="{BB962C8B-B14F-4D97-AF65-F5344CB8AC3E}">
        <p14:creationId xmlns:p14="http://schemas.microsoft.com/office/powerpoint/2010/main" val="764190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Rosenblatt's Perceptron:</a:t>
            </a:r>
            <a:r>
              <a:rPr lang="en-US" sz="1200" kern="1200" dirty="0">
                <a:solidFill>
                  <a:schemeClr val="tx1"/>
                </a:solidFill>
                <a:effectLst/>
                <a:latin typeface="+mn-lt"/>
                <a:ea typeface="+mn-ea"/>
                <a:cs typeface="+mn-cs"/>
              </a:rPr>
              <a:t> In the 1950s, Frank Rosenblatt built the Perceptron—one of the earliest physical neural networks, complete with custom hardware and adjustable resistors. However, MIT's Marvin Minsky proved a fatal theoretical limitation known as </a:t>
            </a:r>
            <a:r>
              <a:rPr lang="en-US" sz="1200" b="1" kern="1200" dirty="0">
                <a:solidFill>
                  <a:schemeClr val="tx1"/>
                </a:solidFill>
                <a:effectLst/>
                <a:latin typeface="+mn-lt"/>
                <a:ea typeface="+mn-ea"/>
                <a:cs typeface="+mn-cs"/>
              </a:rPr>
              <a:t>The XOR Problem</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XOR Problem (Linear Ceiling):</a:t>
            </a:r>
            <a:r>
              <a:rPr lang="en-US" sz="1200" kern="1200" dirty="0">
                <a:solidFill>
                  <a:schemeClr val="tx1"/>
                </a:solidFill>
                <a:effectLst/>
                <a:latin typeface="+mn-lt"/>
                <a:ea typeface="+mn-ea"/>
                <a:cs typeface="+mn-cs"/>
              </a:rPr>
              <a:t> A single layer of neural weights can only draw straight lines (linear decision boundaries) through data space. It completely fails to classify complex, non-linear realities. </a:t>
            </a:r>
          </a:p>
          <a:p>
            <a:pPr lvl="0"/>
            <a:r>
              <a:rPr lang="en-US" sz="1200" b="1" kern="1200" dirty="0">
                <a:solidFill>
                  <a:schemeClr val="tx1"/>
                </a:solidFill>
                <a:effectLst/>
                <a:latin typeface="+mn-lt"/>
                <a:ea typeface="+mn-ea"/>
                <a:cs typeface="+mn-cs"/>
              </a:rPr>
              <a:t>The Multi-Layer Breakthrough &amp; Backpropagation:</a:t>
            </a:r>
            <a:r>
              <a:rPr lang="en-US" sz="1200" kern="1200" dirty="0">
                <a:solidFill>
                  <a:schemeClr val="tx1"/>
                </a:solidFill>
                <a:effectLst/>
                <a:latin typeface="+mn-lt"/>
                <a:ea typeface="+mn-ea"/>
                <a:cs typeface="+mn-cs"/>
              </a:rPr>
              <a:t> Solving this required multi-layer networks. In the 1980s, David Rumelhart, Jay McClelland, and Geoff Hinton popularized </a:t>
            </a:r>
            <a:r>
              <a:rPr lang="en-US" sz="1200" b="1" kern="1200" dirty="0">
                <a:solidFill>
                  <a:schemeClr val="tx1"/>
                </a:solidFill>
                <a:effectLst/>
                <a:latin typeface="+mn-lt"/>
                <a:ea typeface="+mn-ea"/>
                <a:cs typeface="+mn-cs"/>
              </a:rPr>
              <a:t>Backpropagation</a:t>
            </a:r>
            <a:r>
              <a:rPr lang="en-US" sz="1200" kern="1200" dirty="0">
                <a:solidFill>
                  <a:schemeClr val="tx1"/>
                </a:solidFill>
                <a:effectLst/>
                <a:latin typeface="+mn-lt"/>
                <a:ea typeface="+mn-ea"/>
                <a:cs typeface="+mn-cs"/>
              </a:rPr>
              <a:t>. They framed learning as </a:t>
            </a:r>
            <a:r>
              <a:rPr lang="en-US" sz="1200" b="1" kern="1200" dirty="0">
                <a:solidFill>
                  <a:schemeClr val="tx1"/>
                </a:solidFill>
                <a:effectLst/>
                <a:latin typeface="+mn-lt"/>
                <a:ea typeface="+mn-ea"/>
                <a:cs typeface="+mn-cs"/>
              </a:rPr>
              <a:t>gradient descent</a:t>
            </a:r>
            <a:r>
              <a:rPr lang="en-US" sz="1200" kern="1200" dirty="0">
                <a:solidFill>
                  <a:schemeClr val="tx1"/>
                </a:solidFill>
                <a:effectLst/>
                <a:latin typeface="+mn-lt"/>
                <a:ea typeface="+mn-ea"/>
                <a:cs typeface="+mn-cs"/>
              </a:rPr>
              <a:t>—calculating the model's output error and iteratively adjusting internal weights backward through the layers to minimize error. </a:t>
            </a:r>
          </a:p>
          <a:p>
            <a:pPr lvl="0"/>
            <a:r>
              <a:rPr lang="en-US" sz="1200" b="1" kern="1200" dirty="0">
                <a:solidFill>
                  <a:schemeClr val="tx1"/>
                </a:solidFill>
                <a:effectLst/>
                <a:latin typeface="+mn-lt"/>
                <a:ea typeface="+mn-ea"/>
                <a:cs typeface="+mn-cs"/>
              </a:rPr>
              <a:t>Historical Full Circle:</a:t>
            </a:r>
            <a:r>
              <a:rPr lang="en-US" sz="1200" kern="1200" dirty="0">
                <a:solidFill>
                  <a:schemeClr val="tx1"/>
                </a:solidFill>
                <a:effectLst/>
                <a:latin typeface="+mn-lt"/>
                <a:ea typeface="+mn-ea"/>
                <a:cs typeface="+mn-cs"/>
              </a:rPr>
              <a:t> Fascinatingly, the mathematical engine behind backpropagation is the </a:t>
            </a:r>
            <a:r>
              <a:rPr lang="en-US" sz="1200" b="1" kern="1200" dirty="0">
                <a:solidFill>
                  <a:schemeClr val="tx1"/>
                </a:solidFill>
                <a:effectLst/>
                <a:latin typeface="+mn-lt"/>
                <a:ea typeface="+mn-ea"/>
                <a:cs typeface="+mn-cs"/>
              </a:rPr>
              <a:t>Chain Rule</a:t>
            </a:r>
            <a:r>
              <a:rPr lang="en-US" sz="1200" kern="1200" dirty="0">
                <a:solidFill>
                  <a:schemeClr val="tx1"/>
                </a:solidFill>
                <a:effectLst/>
                <a:latin typeface="+mn-lt"/>
                <a:ea typeface="+mn-ea"/>
                <a:cs typeface="+mn-cs"/>
              </a:rPr>
              <a:t>—invented by Gottfried Leibniz 300 years earlier! Furthermore, Geoff Hinton happens to be the great-great-grandson of George Boole. </a:t>
            </a:r>
          </a:p>
          <a:p>
            <a:endParaRPr lang="en-US" dirty="0"/>
          </a:p>
        </p:txBody>
      </p:sp>
      <p:sp>
        <p:nvSpPr>
          <p:cNvPr id="4" name="Slide Number Placeholder 3"/>
          <p:cNvSpPr>
            <a:spLocks noGrp="1"/>
          </p:cNvSpPr>
          <p:nvPr>
            <p:ph type="sldNum" sz="quarter" idx="5"/>
          </p:nvPr>
        </p:nvSpPr>
        <p:spPr/>
        <p:txBody>
          <a:bodyPr/>
          <a:lstStyle/>
          <a:p>
            <a:fld id="{F79130B6-49BF-472A-8841-1D5C993DD876}" type="slidenum">
              <a:rPr lang="en-US" smtClean="0"/>
              <a:t>6</a:t>
            </a:fld>
            <a:endParaRPr lang="en-US"/>
          </a:p>
        </p:txBody>
      </p:sp>
    </p:spTree>
    <p:extLst>
      <p:ext uri="{BB962C8B-B14F-4D97-AF65-F5344CB8AC3E}">
        <p14:creationId xmlns:p14="http://schemas.microsoft.com/office/powerpoint/2010/main" val="1766624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9130B6-49BF-472A-8841-1D5C993DD876}" type="slidenum">
              <a:rPr lang="en-US" smtClean="0"/>
              <a:t>7</a:t>
            </a:fld>
            <a:endParaRPr lang="en-US"/>
          </a:p>
        </p:txBody>
      </p:sp>
    </p:spTree>
    <p:extLst>
      <p:ext uri="{BB962C8B-B14F-4D97-AF65-F5344CB8AC3E}">
        <p14:creationId xmlns:p14="http://schemas.microsoft.com/office/powerpoint/2010/main" val="1566906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Evaluating Flaws:</a:t>
            </a:r>
            <a:r>
              <a:rPr lang="en-US" sz="1200" kern="1200" dirty="0">
                <a:solidFill>
                  <a:schemeClr val="tx1"/>
                </a:solidFill>
                <a:effectLst/>
                <a:latin typeface="+mn-lt"/>
                <a:ea typeface="+mn-ea"/>
                <a:cs typeface="+mn-cs"/>
              </a:rPr>
              <a:t> When cognitive scientists analyze state-of-the-art Large Language Models today, they diagnose three major behavioral flaws: </a:t>
            </a:r>
            <a:r>
              <a:rPr lang="en-US" sz="1200" b="1" kern="1200" dirty="0">
                <a:solidFill>
                  <a:schemeClr val="tx1"/>
                </a:solidFill>
                <a:effectLst/>
                <a:latin typeface="+mn-lt"/>
                <a:ea typeface="+mn-ea"/>
                <a:cs typeface="+mn-cs"/>
              </a:rPr>
              <a:t>Jagged Intelligence</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Hallucination</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Sycophancy</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1. Jagged Intelligence:</a:t>
            </a:r>
            <a:r>
              <a:rPr lang="en-US" sz="1200" kern="1200" dirty="0">
                <a:solidFill>
                  <a:schemeClr val="tx1"/>
                </a:solidFill>
                <a:effectLst/>
                <a:latin typeface="+mn-lt"/>
                <a:ea typeface="+mn-ea"/>
                <a:cs typeface="+mn-cs"/>
              </a:rPr>
              <a:t> Humans assume that if an AI can solve Gold-Medal Math Olympiad problems, it must possess broad human-level common sense. But AI intelligence is 'jagged'—it can perform elite mathematical reasoning yet fail at simple physical, real-world tasks because it lacks generalized human reasoning trajectories. </a:t>
            </a:r>
          </a:p>
          <a:p>
            <a:pPr lvl="0"/>
            <a:r>
              <a:rPr lang="en-US" sz="1200" b="1" kern="1200" dirty="0">
                <a:solidFill>
                  <a:schemeClr val="tx1"/>
                </a:solidFill>
                <a:effectLst/>
                <a:latin typeface="+mn-lt"/>
                <a:ea typeface="+mn-ea"/>
                <a:cs typeface="+mn-cs"/>
              </a:rPr>
              <a:t>2. Hallucination (A Double-Edged Sword):</a:t>
            </a:r>
            <a:r>
              <a:rPr lang="en-US" sz="1200" kern="1200" dirty="0">
                <a:solidFill>
                  <a:schemeClr val="tx1"/>
                </a:solidFill>
                <a:effectLst/>
                <a:latin typeface="+mn-lt"/>
                <a:ea typeface="+mn-ea"/>
                <a:cs typeface="+mn-cs"/>
              </a:rPr>
              <a:t> While hallucination is problematic for factual retrieval, it can be leveraged as a feature for creative research. Prompting an AI to list non-existent academic papers forces it to synthesize highly novel cross-domain concepts that spur human innovation. </a:t>
            </a:r>
          </a:p>
          <a:p>
            <a:pPr lvl="0"/>
            <a:r>
              <a:rPr lang="en-US" sz="1200" b="1" kern="1200" dirty="0">
                <a:solidFill>
                  <a:schemeClr val="tx1"/>
                </a:solidFill>
                <a:effectLst/>
                <a:latin typeface="+mn-lt"/>
                <a:ea typeface="+mn-ea"/>
                <a:cs typeface="+mn-cs"/>
              </a:rPr>
              <a:t>3. Sycophancy (The Critical Risk):</a:t>
            </a:r>
            <a:r>
              <a:rPr lang="en-US" sz="1200" kern="1200" dirty="0">
                <a:solidFill>
                  <a:schemeClr val="tx1"/>
                </a:solidFill>
                <a:effectLst/>
                <a:latin typeface="+mn-lt"/>
                <a:ea typeface="+mn-ea"/>
                <a:cs typeface="+mn-cs"/>
              </a:rPr>
              <a:t> Sycophancy is the most insidious risk. RLHF-aligned models often default to agreeing with the user's premise rather than defending objective truth. </a:t>
            </a:r>
          </a:p>
          <a:p>
            <a:endParaRPr lang="en-US" dirty="0"/>
          </a:p>
        </p:txBody>
      </p:sp>
      <p:sp>
        <p:nvSpPr>
          <p:cNvPr id="4" name="Slide Number Placeholder 3"/>
          <p:cNvSpPr>
            <a:spLocks noGrp="1"/>
          </p:cNvSpPr>
          <p:nvPr>
            <p:ph type="sldNum" sz="quarter" idx="5"/>
          </p:nvPr>
        </p:nvSpPr>
        <p:spPr/>
        <p:txBody>
          <a:bodyPr/>
          <a:lstStyle/>
          <a:p>
            <a:fld id="{F79130B6-49BF-472A-8841-1D5C993DD876}" type="slidenum">
              <a:rPr lang="en-US" smtClean="0"/>
              <a:t>8</a:t>
            </a:fld>
            <a:endParaRPr lang="en-US"/>
          </a:p>
        </p:txBody>
      </p:sp>
    </p:spTree>
    <p:extLst>
      <p:ext uri="{BB962C8B-B14F-4D97-AF65-F5344CB8AC3E}">
        <p14:creationId xmlns:p14="http://schemas.microsoft.com/office/powerpoint/2010/main" val="31005085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Echo Chamber Mechanism:</a:t>
            </a:r>
            <a:r>
              <a:rPr lang="en-US" sz="1200" kern="1200" dirty="0">
                <a:solidFill>
                  <a:schemeClr val="tx1"/>
                </a:solidFill>
                <a:effectLst/>
                <a:latin typeface="+mn-lt"/>
                <a:ea typeface="+mn-ea"/>
                <a:cs typeface="+mn-cs"/>
              </a:rPr>
              <a:t> Let's unpack why sycophancy breaks rational inquiry. Research by Tom Griffiths and Rafael Batista mapped what happens when a rational human interacts with a sycophantic AI. </a:t>
            </a:r>
          </a:p>
          <a:p>
            <a:pPr lvl="0"/>
            <a:r>
              <a:rPr lang="en-US" sz="1200" b="1" kern="1200" dirty="0">
                <a:solidFill>
                  <a:schemeClr val="tx1"/>
                </a:solidFill>
                <a:effectLst/>
                <a:latin typeface="+mn-lt"/>
                <a:ea typeface="+mn-ea"/>
                <a:cs typeface="+mn-cs"/>
              </a:rPr>
              <a:t>Step-by-Step Breakdown: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 human user articulates a hypothesis containing an initial bias.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AI generates supporting text or data validating the user's hypothesis rather than challenging it.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human performs Bayesian belief updating, interpreting the AI's validation as independent confirmation.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End Result:</a:t>
            </a:r>
            <a:r>
              <a:rPr lang="en-US" sz="1200" kern="1200" dirty="0">
                <a:solidFill>
                  <a:schemeClr val="tx1"/>
                </a:solidFill>
                <a:effectLst/>
                <a:latin typeface="+mn-lt"/>
                <a:ea typeface="+mn-ea"/>
                <a:cs typeface="+mn-cs"/>
              </a:rPr>
              <a:t> Maximum human confidence, zero progress toward actual factual truth. </a:t>
            </a:r>
          </a:p>
          <a:p>
            <a:pPr lvl="0"/>
            <a:r>
              <a:rPr lang="en-US" sz="1200" b="1" kern="1200" dirty="0">
                <a:solidFill>
                  <a:schemeClr val="tx1"/>
                </a:solidFill>
                <a:effectLst/>
                <a:latin typeface="+mn-lt"/>
                <a:ea typeface="+mn-ea"/>
                <a:cs typeface="+mn-cs"/>
              </a:rPr>
              <a:t>Real-World Impact:</a:t>
            </a:r>
            <a:r>
              <a:rPr lang="en-US" sz="1200" kern="1200" dirty="0">
                <a:solidFill>
                  <a:schemeClr val="tx1"/>
                </a:solidFill>
                <a:effectLst/>
                <a:latin typeface="+mn-lt"/>
                <a:ea typeface="+mn-ea"/>
                <a:cs typeface="+mn-cs"/>
              </a:rPr>
              <a:t> This creates an echo chamber that solidifies user bias, making sycophancy one of the most pressing safety and alignment challenges in modern deployment. </a:t>
            </a:r>
          </a:p>
        </p:txBody>
      </p:sp>
      <p:sp>
        <p:nvSpPr>
          <p:cNvPr id="4" name="Slide Number Placeholder 3"/>
          <p:cNvSpPr>
            <a:spLocks noGrp="1"/>
          </p:cNvSpPr>
          <p:nvPr>
            <p:ph type="sldNum" sz="quarter" idx="5"/>
          </p:nvPr>
        </p:nvSpPr>
        <p:spPr/>
        <p:txBody>
          <a:bodyPr/>
          <a:lstStyle/>
          <a:p>
            <a:fld id="{F79130B6-49BF-472A-8841-1D5C993DD876}" type="slidenum">
              <a:rPr lang="en-US" smtClean="0"/>
              <a:t>9</a:t>
            </a:fld>
            <a:endParaRPr lang="en-US"/>
          </a:p>
        </p:txBody>
      </p:sp>
    </p:spTree>
    <p:extLst>
      <p:ext uri="{BB962C8B-B14F-4D97-AF65-F5344CB8AC3E}">
        <p14:creationId xmlns:p14="http://schemas.microsoft.com/office/powerpoint/2010/main" val="9460183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Kahneman &amp; Tversky's Bias Claims:</a:t>
                </a:r>
                <a:r>
                  <a:rPr lang="en-US" sz="1200" kern="1200" dirty="0">
                    <a:solidFill>
                      <a:schemeClr val="tx1"/>
                    </a:solidFill>
                    <a:effectLst/>
                    <a:latin typeface="+mn-lt"/>
                    <a:ea typeface="+mn-ea"/>
                    <a:cs typeface="+mn-cs"/>
                  </a:rPr>
                  <a:t> In behavioral economics, Kahneman and Tversky famously argued that humans are fundamentally irrational probability engine failure cases. For instance, given coin flips, people regularly claim Sequence A (H-H-H-H-H) is less likely than Sequence B (H-H-T-H-T). </a:t>
                </a:r>
              </a:p>
              <a:p>
                <a:pPr lvl="0"/>
                <a:r>
                  <a:rPr lang="en-US" sz="1200" b="1" kern="1200" dirty="0">
                    <a:solidFill>
                      <a:schemeClr val="tx1"/>
                    </a:solidFill>
                    <a:effectLst/>
                    <a:latin typeface="+mn-lt"/>
                    <a:ea typeface="+mn-ea"/>
                    <a:cs typeface="+mn-cs"/>
                  </a:rPr>
                  <a:t>Reframing Human Logic:</a:t>
                </a:r>
                <a:r>
                  <a:rPr lang="en-US" sz="1200" kern="1200" dirty="0">
                    <a:solidFill>
                      <a:schemeClr val="tx1"/>
                    </a:solidFill>
                    <a:effectLst/>
                    <a:latin typeface="+mn-lt"/>
                    <a:ea typeface="+mn-ea"/>
                    <a:cs typeface="+mn-cs"/>
                  </a:rPr>
                  <a:t> From pure mathematical sequence probability, both sequences are identically equal (</a:t>
                </a:r>
                <a14:m>
                  <m:oMath xmlns:m="http://schemas.openxmlformats.org/officeDocument/2006/math">
                    <m:r>
                      <a:rPr lang="en-US" sz="1200" kern="1200" smtClean="0">
                        <a:solidFill>
                          <a:schemeClr val="tx1"/>
                        </a:solidFill>
                        <a:latin typeface="Cambria Math" panose="02040503050406030204" pitchFamily="18" charset="0"/>
                        <a:ea typeface="+mn-ea"/>
                        <a:cs typeface="+mn-cs"/>
                      </a:rPr>
                      <m:t>1</m:t>
                    </m:r>
                    <m:r>
                      <a:rPr lang="en-US" sz="1200" i="0" kern="1200">
                        <a:solidFill>
                          <a:schemeClr val="tx1"/>
                        </a:solidFill>
                        <a:latin typeface="Cambria Math" panose="02040503050406030204" pitchFamily="18" charset="0"/>
                        <a:ea typeface="+mn-ea"/>
                        <a:cs typeface="+mn-cs"/>
                      </a:rPr>
                      <m:t>/32</m:t>
                    </m:r>
                  </m:oMath>
                </a14:m>
                <a:r>
                  <a:rPr lang="en-US" sz="1200" kern="1200" dirty="0">
                    <a:solidFill>
                      <a:schemeClr val="tx1"/>
                    </a:solidFill>
                    <a:effectLst/>
                    <a:latin typeface="+mn-lt"/>
                    <a:ea typeface="+mn-ea"/>
                    <a:cs typeface="+mn-cs"/>
                  </a:rPr>
                  <a:t>). Psychologists labeled this a 'human cognitive flaw'. But cognitive science re-analyzed this: </a:t>
                </a:r>
                <a:r>
                  <a:rPr lang="en-US" sz="1200" b="1" kern="1200" dirty="0">
                    <a:solidFill>
                      <a:schemeClr val="tx1"/>
                    </a:solidFill>
                    <a:effectLst/>
                    <a:latin typeface="+mn-lt"/>
                    <a:ea typeface="+mn-ea"/>
                    <a:cs typeface="+mn-cs"/>
                  </a:rPr>
                  <a:t>Humans aren't bad at math; we are solving a different, more relevant equation</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Anomaly Detection:</a:t>
                </a:r>
                <a:r>
                  <a:rPr lang="en-US" sz="1200" kern="1200" dirty="0">
                    <a:solidFill>
                      <a:schemeClr val="tx1"/>
                    </a:solidFill>
                    <a:effectLst/>
                    <a:latin typeface="+mn-lt"/>
                    <a:ea typeface="+mn-ea"/>
                    <a:cs typeface="+mn-cs"/>
                  </a:rPr>
                  <a:t> Rather than calculating the probability of a specific sequence given a known fair coin, human brains calculate the probability that the </a:t>
                </a:r>
                <a:r>
                  <a:rPr lang="en-US" sz="1200" i="1" kern="1200" dirty="0">
                    <a:solidFill>
                      <a:schemeClr val="tx1"/>
                    </a:solidFill>
                    <a:effectLst/>
                    <a:latin typeface="+mn-lt"/>
                    <a:ea typeface="+mn-ea"/>
                    <a:cs typeface="+mn-cs"/>
                  </a:rPr>
                  <a:t>generator itself is random</a:t>
                </a:r>
                <a:r>
                  <a:rPr lang="en-US" sz="1200" kern="1200" dirty="0">
                    <a:solidFill>
                      <a:schemeClr val="tx1"/>
                    </a:solidFill>
                    <a:effectLst/>
                    <a:latin typeface="+mn-lt"/>
                    <a:ea typeface="+mn-ea"/>
                    <a:cs typeface="+mn-cs"/>
                  </a:rPr>
                  <a:t>. Seeing five heads in a row triggers Bayesian suspicion that the coin or generator is rigged. For survival in nature, detecting non-random patterns and anomaly detection is far more valuable than abstract sequence math. </a:t>
                </a:r>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Kahneman &amp; Tversky's Bias Claims:</a:t>
                </a:r>
                <a:r>
                  <a:rPr lang="en-US" sz="1200" kern="1200" dirty="0">
                    <a:solidFill>
                      <a:schemeClr val="tx1"/>
                    </a:solidFill>
                    <a:effectLst/>
                    <a:latin typeface="+mn-lt"/>
                    <a:ea typeface="+mn-ea"/>
                    <a:cs typeface="+mn-cs"/>
                  </a:rPr>
                  <a:t> In behavioral economics, Kahneman and Tversky famously argued that humans are fundamentally irrational probability engine failure cases. For instance, given coin flips, people regularly claim Sequence A (H-H-H-H-H) is less likely than Sequence B (H-H-T-H-T). </a:t>
                </a:r>
              </a:p>
              <a:p>
                <a:pPr lvl="0"/>
                <a:r>
                  <a:rPr lang="en-US" sz="1200" b="1" kern="1200" dirty="0">
                    <a:solidFill>
                      <a:schemeClr val="tx1"/>
                    </a:solidFill>
                    <a:effectLst/>
                    <a:latin typeface="+mn-lt"/>
                    <a:ea typeface="+mn-ea"/>
                    <a:cs typeface="+mn-cs"/>
                  </a:rPr>
                  <a:t>Reframing Human Logic:</a:t>
                </a:r>
                <a:r>
                  <a:rPr lang="en-US" sz="1200" kern="1200" dirty="0">
                    <a:solidFill>
                      <a:schemeClr val="tx1"/>
                    </a:solidFill>
                    <a:effectLst/>
                    <a:latin typeface="+mn-lt"/>
                    <a:ea typeface="+mn-ea"/>
                    <a:cs typeface="+mn-cs"/>
                  </a:rPr>
                  <a:t> From pure mathematical sequence probability, both sequences are identically equal (</a:t>
                </a:r>
                <a:r>
                  <a:rPr lang="en-US" sz="1200" i="0" kern="1200">
                    <a:solidFill>
                      <a:schemeClr val="tx1"/>
                    </a:solidFill>
                    <a:latin typeface="+mn-lt"/>
                    <a:ea typeface="+mn-ea"/>
                    <a:cs typeface="+mn-cs"/>
                  </a:rPr>
                  <a:t>1/32</a:t>
                </a:r>
                <a:r>
                  <a:rPr lang="en-US" sz="1200" kern="1200" dirty="0">
                    <a:solidFill>
                      <a:schemeClr val="tx1"/>
                    </a:solidFill>
                    <a:effectLst/>
                    <a:latin typeface="+mn-lt"/>
                    <a:ea typeface="+mn-ea"/>
                    <a:cs typeface="+mn-cs"/>
                  </a:rPr>
                  <a:t>). Psychologists labeled this a 'human cognitive flaw'. But cognitive science re-analyzed this: </a:t>
                </a:r>
                <a:r>
                  <a:rPr lang="en-US" sz="1200" b="1" kern="1200" dirty="0">
                    <a:solidFill>
                      <a:schemeClr val="tx1"/>
                    </a:solidFill>
                    <a:effectLst/>
                    <a:latin typeface="+mn-lt"/>
                    <a:ea typeface="+mn-ea"/>
                    <a:cs typeface="+mn-cs"/>
                  </a:rPr>
                  <a:t>Humans aren't bad at math; we are solving a different, more relevant equation</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Anomaly Detection:</a:t>
                </a:r>
                <a:r>
                  <a:rPr lang="en-US" sz="1200" kern="1200" dirty="0">
                    <a:solidFill>
                      <a:schemeClr val="tx1"/>
                    </a:solidFill>
                    <a:effectLst/>
                    <a:latin typeface="+mn-lt"/>
                    <a:ea typeface="+mn-ea"/>
                    <a:cs typeface="+mn-cs"/>
                  </a:rPr>
                  <a:t> Rather than calculating the probability of a specific sequence given a known fair coin, human brains calculate the probability that the </a:t>
                </a:r>
                <a:r>
                  <a:rPr lang="en-US" sz="1200" i="1" kern="1200" dirty="0">
                    <a:solidFill>
                      <a:schemeClr val="tx1"/>
                    </a:solidFill>
                    <a:effectLst/>
                    <a:latin typeface="+mn-lt"/>
                    <a:ea typeface="+mn-ea"/>
                    <a:cs typeface="+mn-cs"/>
                  </a:rPr>
                  <a:t>generator itself is random</a:t>
                </a:r>
                <a:r>
                  <a:rPr lang="en-US" sz="1200" kern="1200" dirty="0">
                    <a:solidFill>
                      <a:schemeClr val="tx1"/>
                    </a:solidFill>
                    <a:effectLst/>
                    <a:latin typeface="+mn-lt"/>
                    <a:ea typeface="+mn-ea"/>
                    <a:cs typeface="+mn-cs"/>
                  </a:rPr>
                  <a:t>. Seeing five heads in a row triggers Bayesian suspicion that the coin or generator is rigged. For survival in nature, detecting non-random patterns and anomaly detection is far more valuable than abstract sequence math. </a:t>
                </a:r>
              </a:p>
            </p:txBody>
          </p:sp>
        </mc:Fallback>
      </mc:AlternateContent>
      <p:sp>
        <p:nvSpPr>
          <p:cNvPr id="4" name="Slide Number Placeholder 3"/>
          <p:cNvSpPr>
            <a:spLocks noGrp="1"/>
          </p:cNvSpPr>
          <p:nvPr>
            <p:ph type="sldNum" sz="quarter" idx="5"/>
          </p:nvPr>
        </p:nvSpPr>
        <p:spPr/>
        <p:txBody>
          <a:bodyPr/>
          <a:lstStyle/>
          <a:p>
            <a:fld id="{F79130B6-49BF-472A-8841-1D5C993DD876}" type="slidenum">
              <a:rPr lang="en-US" smtClean="0"/>
              <a:t>10</a:t>
            </a:fld>
            <a:endParaRPr lang="en-US"/>
          </a:p>
        </p:txBody>
      </p:sp>
    </p:spTree>
    <p:extLst>
      <p:ext uri="{BB962C8B-B14F-4D97-AF65-F5344CB8AC3E}">
        <p14:creationId xmlns:p14="http://schemas.microsoft.com/office/powerpoint/2010/main" val="1466360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Alien Signal vs. The Social Primate:</a:t>
            </a:r>
            <a:r>
              <a:rPr lang="en-US" sz="1200" kern="1200" dirty="0">
                <a:solidFill>
                  <a:schemeClr val="tx1"/>
                </a:solidFill>
                <a:effectLst/>
                <a:latin typeface="+mn-lt"/>
                <a:ea typeface="+mn-ea"/>
                <a:cs typeface="+mn-cs"/>
              </a:rPr>
              <a:t> Why do AI and human minds act so differently? Because they were optimized in radically different environments under fundamentally different constraints. </a:t>
            </a:r>
          </a:p>
          <a:p>
            <a:pPr lvl="0"/>
            <a:r>
              <a:rPr lang="en-US" sz="1200" b="1" kern="1200" dirty="0">
                <a:solidFill>
                  <a:schemeClr val="tx1"/>
                </a:solidFill>
                <a:effectLst/>
                <a:latin typeface="+mn-lt"/>
                <a:ea typeface="+mn-ea"/>
                <a:cs typeface="+mn-cs"/>
              </a:rPr>
              <a:t>The Alien Signal (AI):</a:t>
            </a:r>
            <a:r>
              <a:rPr lang="en-US" sz="1200" kern="1200" dirty="0">
                <a:solidFill>
                  <a:schemeClr val="tx1"/>
                </a:solidFill>
                <a:effectLst/>
                <a:latin typeface="+mn-lt"/>
                <a:ea typeface="+mn-ea"/>
                <a:cs typeface="+mn-cs"/>
              </a:rPr>
              <a:t> Modern AI is optimized like a machine tasked with predicting an </a:t>
            </a:r>
            <a:r>
              <a:rPr lang="en-US" sz="1200" b="1" kern="1200" dirty="0">
                <a:solidFill>
                  <a:schemeClr val="tx1"/>
                </a:solidFill>
                <a:effectLst/>
                <a:latin typeface="+mn-lt"/>
                <a:ea typeface="+mn-ea"/>
                <a:cs typeface="+mn-cs"/>
              </a:rPr>
              <a:t>alien radio signal</a:t>
            </a:r>
            <a:r>
              <a:rPr lang="en-US" sz="1200" kern="1200" dirty="0">
                <a:solidFill>
                  <a:schemeClr val="tx1"/>
                </a:solidFill>
                <a:effectLst/>
                <a:latin typeface="+mn-lt"/>
                <a:ea typeface="+mn-ea"/>
                <a:cs typeface="+mn-cs"/>
              </a:rPr>
              <a:t> broadcasting infinite raw text across the galaxy. It parses trillions of statistical regularities to predict the next token with hyper-accuracy, yet it operates without an underlying physical model of the world. </a:t>
            </a:r>
          </a:p>
          <a:p>
            <a:pPr lvl="0"/>
            <a:r>
              <a:rPr lang="en-US" sz="1200" b="1" kern="1200" dirty="0">
                <a:solidFill>
                  <a:schemeClr val="tx1"/>
                </a:solidFill>
                <a:effectLst/>
                <a:latin typeface="+mn-lt"/>
                <a:ea typeface="+mn-ea"/>
                <a:cs typeface="+mn-cs"/>
              </a:rPr>
              <a:t>The Social Primate (Human):</a:t>
            </a:r>
            <a:r>
              <a:rPr lang="en-US" sz="1200" kern="1200" dirty="0">
                <a:solidFill>
                  <a:schemeClr val="tx1"/>
                </a:solidFill>
                <a:effectLst/>
                <a:latin typeface="+mn-lt"/>
                <a:ea typeface="+mn-ea"/>
                <a:cs typeface="+mn-cs"/>
              </a:rPr>
              <a:t> Human minds evolved over hundreds of thousands of years as social primates. We process localized, embodied, physical data tailored for real-time survival, high social coordination, and shared physical environments. </a:t>
            </a:r>
          </a:p>
        </p:txBody>
      </p:sp>
      <p:sp>
        <p:nvSpPr>
          <p:cNvPr id="4" name="Slide Number Placeholder 3"/>
          <p:cNvSpPr>
            <a:spLocks noGrp="1"/>
          </p:cNvSpPr>
          <p:nvPr>
            <p:ph type="sldNum" sz="quarter" idx="5"/>
          </p:nvPr>
        </p:nvSpPr>
        <p:spPr/>
        <p:txBody>
          <a:bodyPr/>
          <a:lstStyle/>
          <a:p>
            <a:fld id="{F79130B6-49BF-472A-8841-1D5C993DD876}" type="slidenum">
              <a:rPr lang="en-US" smtClean="0"/>
              <a:t>11</a:t>
            </a:fld>
            <a:endParaRPr lang="en-US"/>
          </a:p>
        </p:txBody>
      </p:sp>
    </p:spTree>
    <p:extLst>
      <p:ext uri="{BB962C8B-B14F-4D97-AF65-F5344CB8AC3E}">
        <p14:creationId xmlns:p14="http://schemas.microsoft.com/office/powerpoint/2010/main" val="25158325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Plato's Problem:</a:t>
            </a:r>
            <a:r>
              <a:rPr lang="en-US" sz="1200" kern="1200" dirty="0">
                <a:solidFill>
                  <a:schemeClr val="tx1"/>
                </a:solidFill>
                <a:effectLst/>
                <a:latin typeface="+mn-lt"/>
                <a:ea typeface="+mn-ea"/>
                <a:cs typeface="+mn-cs"/>
              </a:rPr>
              <a:t> Noam Chomsky highlighted </a:t>
            </a:r>
            <a:r>
              <a:rPr lang="en-US" sz="1200" b="1" kern="1200" dirty="0">
                <a:solidFill>
                  <a:schemeClr val="tx1"/>
                </a:solidFill>
                <a:effectLst/>
                <a:latin typeface="+mn-lt"/>
                <a:ea typeface="+mn-ea"/>
                <a:cs typeface="+mn-cs"/>
              </a:rPr>
              <a:t>Plato's Problem</a:t>
            </a:r>
            <a:r>
              <a:rPr lang="en-US" sz="1200" kern="1200" dirty="0">
                <a:solidFill>
                  <a:schemeClr val="tx1"/>
                </a:solidFill>
                <a:effectLst/>
                <a:latin typeface="+mn-lt"/>
                <a:ea typeface="+mn-ea"/>
                <a:cs typeface="+mn-cs"/>
              </a:rPr>
              <a:t> or </a:t>
            </a:r>
            <a:r>
              <a:rPr lang="en-US" sz="1200" b="1" kern="1200" dirty="0">
                <a:solidFill>
                  <a:schemeClr val="tx1"/>
                </a:solidFill>
                <a:effectLst/>
                <a:latin typeface="+mn-lt"/>
                <a:ea typeface="+mn-ea"/>
                <a:cs typeface="+mn-cs"/>
              </a:rPr>
              <a:t>The Poverty of the Stimulus</a:t>
            </a:r>
            <a:r>
              <a:rPr lang="en-US" sz="1200" kern="1200" dirty="0">
                <a:solidFill>
                  <a:schemeClr val="tx1"/>
                </a:solidFill>
                <a:effectLst/>
                <a:latin typeface="+mn-lt"/>
                <a:ea typeface="+mn-ea"/>
                <a:cs typeface="+mn-cs"/>
              </a:rPr>
              <a:t>: How do young children come to know so much about language syntax while receiving so little training data? </a:t>
            </a:r>
          </a:p>
          <a:p>
            <a:pPr lvl="0"/>
            <a:r>
              <a:rPr lang="en-US" sz="1200" b="1" kern="1200" dirty="0">
                <a:solidFill>
                  <a:schemeClr val="tx1"/>
                </a:solidFill>
                <a:effectLst/>
                <a:latin typeface="+mn-lt"/>
                <a:ea typeface="+mn-ea"/>
                <a:cs typeface="+mn-cs"/>
              </a:rPr>
              <a:t>Data Budget Comparison:</a:t>
            </a:r>
            <a:r>
              <a:rPr lang="en-US" sz="1200" kern="1200" dirty="0">
                <a:solidFill>
                  <a:schemeClr val="tx1"/>
                </a:solidFill>
                <a:effectLst/>
                <a:latin typeface="+mn-lt"/>
                <a:ea typeface="+mn-ea"/>
                <a:cs typeface="+mn-cs"/>
              </a:rPr>
              <a:t> If you restrict a Large Language Model to the exact lifetime data budget of a 4-year-old child (a few million words), the AI completely fails to master proper grammar and generalization. Yet the human child masters language effortlessly. </a:t>
            </a:r>
          </a:p>
          <a:p>
            <a:pPr lvl="0"/>
            <a:r>
              <a:rPr lang="en-US" sz="1200" b="1" kern="1200" dirty="0">
                <a:solidFill>
                  <a:schemeClr val="tx1"/>
                </a:solidFill>
                <a:effectLst/>
                <a:latin typeface="+mn-lt"/>
                <a:ea typeface="+mn-ea"/>
                <a:cs typeface="+mn-cs"/>
              </a:rPr>
              <a:t>Inductive Bias:</a:t>
            </a:r>
            <a:r>
              <a:rPr lang="en-US" sz="1200" kern="1200" dirty="0">
                <a:solidFill>
                  <a:schemeClr val="tx1"/>
                </a:solidFill>
                <a:effectLst/>
                <a:latin typeface="+mn-lt"/>
                <a:ea typeface="+mn-ea"/>
                <a:cs typeface="+mn-cs"/>
              </a:rPr>
              <a:t> The reason is </a:t>
            </a:r>
            <a:r>
              <a:rPr lang="en-US" sz="1200" b="1" kern="1200" dirty="0">
                <a:solidFill>
                  <a:schemeClr val="tx1"/>
                </a:solidFill>
                <a:effectLst/>
                <a:latin typeface="+mn-lt"/>
                <a:ea typeface="+mn-ea"/>
                <a:cs typeface="+mn-cs"/>
              </a:rPr>
              <a:t>Inductive Bias</a:t>
            </a:r>
            <a:r>
              <a:rPr lang="en-US" sz="1200" kern="1200" dirty="0">
                <a:solidFill>
                  <a:schemeClr val="tx1"/>
                </a:solidFill>
                <a:effectLst/>
                <a:latin typeface="+mn-lt"/>
                <a:ea typeface="+mn-ea"/>
                <a:cs typeface="+mn-cs"/>
              </a:rPr>
              <a:t>—innate structural assumptions brought into the learning problem prior to seeing data. AI lacks built-in inductive biases, forcing it to brute-force with trillions of parameters what a human infant intuits naturally. </a:t>
            </a:r>
          </a:p>
        </p:txBody>
      </p:sp>
      <p:sp>
        <p:nvSpPr>
          <p:cNvPr id="4" name="Slide Number Placeholder 3"/>
          <p:cNvSpPr>
            <a:spLocks noGrp="1"/>
          </p:cNvSpPr>
          <p:nvPr>
            <p:ph type="sldNum" sz="quarter" idx="5"/>
          </p:nvPr>
        </p:nvSpPr>
        <p:spPr/>
        <p:txBody>
          <a:bodyPr/>
          <a:lstStyle/>
          <a:p>
            <a:fld id="{F79130B6-49BF-472A-8841-1D5C993DD876}" type="slidenum">
              <a:rPr lang="en-US" smtClean="0"/>
              <a:t>12</a:t>
            </a:fld>
            <a:endParaRPr lang="en-US"/>
          </a:p>
        </p:txBody>
      </p:sp>
    </p:spTree>
    <p:extLst>
      <p:ext uri="{BB962C8B-B14F-4D97-AF65-F5344CB8AC3E}">
        <p14:creationId xmlns:p14="http://schemas.microsoft.com/office/powerpoint/2010/main" val="22281951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Comparative Dimensions:</a:t>
            </a:r>
            <a:r>
              <a:rPr lang="en-US" sz="1200" kern="1200" dirty="0">
                <a:solidFill>
                  <a:schemeClr val="tx1"/>
                </a:solidFill>
                <a:effectLst/>
                <a:latin typeface="+mn-lt"/>
                <a:ea typeface="+mn-ea"/>
                <a:cs typeface="+mn-cs"/>
              </a:rPr>
              <a:t> Let's directly compare the architectural dimensions of biological vs. artificial neural networks: </a:t>
            </a:r>
          </a:p>
          <a:p>
            <a:pPr lvl="0"/>
            <a:r>
              <a:rPr lang="en-US" sz="1200" b="1" kern="1200" dirty="0">
                <a:solidFill>
                  <a:schemeClr val="tx1"/>
                </a:solidFill>
                <a:effectLst/>
                <a:latin typeface="+mn-lt"/>
                <a:ea typeface="+mn-ea"/>
                <a:cs typeface="+mn-cs"/>
              </a:rPr>
              <a:t>Compute &amp; Hardware:</a:t>
            </a:r>
            <a:r>
              <a:rPr lang="en-US" sz="1200" kern="1200" dirty="0">
                <a:solidFill>
                  <a:schemeClr val="tx1"/>
                </a:solidFill>
                <a:effectLst/>
                <a:latin typeface="+mn-lt"/>
                <a:ea typeface="+mn-ea"/>
                <a:cs typeface="+mn-cs"/>
              </a:rPr>
              <a:t> Humans run on a few pounds of organic biological neurons. AI relies on massive, warehouse-scale GPU clusters. </a:t>
            </a:r>
          </a:p>
          <a:p>
            <a:pPr lvl="0"/>
            <a:r>
              <a:rPr lang="en-US" sz="1200" b="1" kern="1200" dirty="0">
                <a:solidFill>
                  <a:schemeClr val="tx1"/>
                </a:solidFill>
                <a:effectLst/>
                <a:latin typeface="+mn-lt"/>
                <a:ea typeface="+mn-ea"/>
                <a:cs typeface="+mn-cs"/>
              </a:rPr>
              <a:t>Energy Efficiency:</a:t>
            </a:r>
            <a:r>
              <a:rPr lang="en-US" sz="1200" kern="1200" dirty="0">
                <a:solidFill>
                  <a:schemeClr val="tx1"/>
                </a:solidFill>
                <a:effectLst/>
                <a:latin typeface="+mn-lt"/>
                <a:ea typeface="+mn-ea"/>
                <a:cs typeface="+mn-cs"/>
              </a:rPr>
              <a:t> The human brain runs on </a:t>
            </a:r>
            <a:r>
              <a:rPr lang="en-US" sz="1200" b="1" kern="1200" dirty="0">
                <a:solidFill>
                  <a:schemeClr val="tx1"/>
                </a:solidFill>
                <a:effectLst/>
                <a:latin typeface="+mn-lt"/>
                <a:ea typeface="+mn-ea"/>
                <a:cs typeface="+mn-cs"/>
              </a:rPr>
              <a:t>~20 Watts</a:t>
            </a:r>
            <a:r>
              <a:rPr lang="en-US" sz="1200" kern="1200" dirty="0">
                <a:solidFill>
                  <a:schemeClr val="tx1"/>
                </a:solidFill>
                <a:effectLst/>
                <a:latin typeface="+mn-lt"/>
                <a:ea typeface="+mn-ea"/>
                <a:cs typeface="+mn-cs"/>
              </a:rPr>
              <a:t>—roughly the power of a single lightbulb or a sandwich! AI training requires </a:t>
            </a:r>
            <a:r>
              <a:rPr lang="en-US" sz="1200" b="1" kern="1200" dirty="0">
                <a:solidFill>
                  <a:schemeClr val="tx1"/>
                </a:solidFill>
                <a:effectLst/>
                <a:latin typeface="+mn-lt"/>
                <a:ea typeface="+mn-ea"/>
                <a:cs typeface="+mn-cs"/>
              </a:rPr>
              <a:t>megawatts of grid power</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Data Diet:</a:t>
            </a:r>
            <a:r>
              <a:rPr lang="en-US" sz="1200" kern="1200" dirty="0">
                <a:solidFill>
                  <a:schemeClr val="tx1"/>
                </a:solidFill>
                <a:effectLst/>
                <a:latin typeface="+mn-lt"/>
                <a:ea typeface="+mn-ea"/>
                <a:cs typeface="+mn-cs"/>
              </a:rPr>
              <a:t> Humans learn via sparse data (Poverty of the Stimulus). AI requires scraping the entirety of public internet text. </a:t>
            </a:r>
          </a:p>
          <a:p>
            <a:pPr lvl="0"/>
            <a:r>
              <a:rPr lang="en-US" sz="1200" b="1" kern="1200" dirty="0">
                <a:solidFill>
                  <a:schemeClr val="tx1"/>
                </a:solidFill>
                <a:effectLst/>
                <a:latin typeface="+mn-lt"/>
                <a:ea typeface="+mn-ea"/>
                <a:cs typeface="+mn-cs"/>
              </a:rPr>
              <a:t>Inductive Bias:</a:t>
            </a:r>
            <a:r>
              <a:rPr lang="en-US" sz="1200" kern="1200" dirty="0">
                <a:solidFill>
                  <a:schemeClr val="tx1"/>
                </a:solidFill>
                <a:effectLst/>
                <a:latin typeface="+mn-lt"/>
                <a:ea typeface="+mn-ea"/>
                <a:cs typeface="+mn-cs"/>
              </a:rPr>
              <a:t> Humans possess innate structural assumptions. AI is model-agnostic, relying purely on raw compute and data volume. </a:t>
            </a:r>
          </a:p>
        </p:txBody>
      </p:sp>
      <p:sp>
        <p:nvSpPr>
          <p:cNvPr id="4" name="Slide Number Placeholder 3"/>
          <p:cNvSpPr>
            <a:spLocks noGrp="1"/>
          </p:cNvSpPr>
          <p:nvPr>
            <p:ph type="sldNum" sz="quarter" idx="5"/>
          </p:nvPr>
        </p:nvSpPr>
        <p:spPr/>
        <p:txBody>
          <a:bodyPr/>
          <a:lstStyle/>
          <a:p>
            <a:fld id="{F79130B6-49BF-472A-8841-1D5C993DD876}" type="slidenum">
              <a:rPr lang="en-US" smtClean="0"/>
              <a:t>13</a:t>
            </a:fld>
            <a:endParaRPr lang="en-US"/>
          </a:p>
        </p:txBody>
      </p:sp>
    </p:spTree>
    <p:extLst>
      <p:ext uri="{BB962C8B-B14F-4D97-AF65-F5344CB8AC3E}">
        <p14:creationId xmlns:p14="http://schemas.microsoft.com/office/powerpoint/2010/main" val="27426376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One-Dimensional Fallacy:</a:t>
            </a:r>
            <a:r>
              <a:rPr lang="en-US" sz="1200" kern="1200" dirty="0">
                <a:solidFill>
                  <a:schemeClr val="tx1"/>
                </a:solidFill>
                <a:effectLst/>
                <a:latin typeface="+mn-lt"/>
                <a:ea typeface="+mn-ea"/>
                <a:cs typeface="+mn-cs"/>
              </a:rPr>
              <a:t> Media narratives surrounding Superhuman AGI rely on a linear fallacy: assuming intelligence is a 1D ladder where AI climbs past animals, reaches humans, and keeps going vertically into super-intelligence. </a:t>
            </a:r>
          </a:p>
          <a:p>
            <a:pPr lvl="0"/>
            <a:r>
              <a:rPr lang="en-US" sz="1200" b="1" kern="1200" dirty="0">
                <a:solidFill>
                  <a:schemeClr val="tx1"/>
                </a:solidFill>
                <a:effectLst/>
                <a:latin typeface="+mn-lt"/>
                <a:ea typeface="+mn-ea"/>
                <a:cs typeface="+mn-cs"/>
              </a:rPr>
              <a:t>The Multi-Dimensional Reality:</a:t>
            </a:r>
            <a:r>
              <a:rPr lang="en-US" sz="1200" kern="1200" dirty="0">
                <a:solidFill>
                  <a:schemeClr val="tx1"/>
                </a:solidFill>
                <a:effectLst/>
                <a:latin typeface="+mn-lt"/>
                <a:ea typeface="+mn-ea"/>
                <a:cs typeface="+mn-cs"/>
              </a:rPr>
              <a:t> Cognitive science reveals intelligence is multi-dimensional. Human minds and artificial networks operate on completely </a:t>
            </a:r>
            <a:r>
              <a:rPr lang="en-US" sz="1200" b="1" kern="1200" dirty="0">
                <a:solidFill>
                  <a:schemeClr val="tx1"/>
                </a:solidFill>
                <a:effectLst/>
                <a:latin typeface="+mn-lt"/>
                <a:ea typeface="+mn-ea"/>
                <a:cs typeface="+mn-cs"/>
              </a:rPr>
              <a:t>divergent trajectories</a:t>
            </a:r>
            <a:r>
              <a:rPr lang="en-US" sz="1200" kern="1200" dirty="0">
                <a:solidFill>
                  <a:schemeClr val="tx1"/>
                </a:solidFill>
                <a:effectLst/>
                <a:latin typeface="+mn-lt"/>
                <a:ea typeface="+mn-ea"/>
                <a:cs typeface="+mn-cs"/>
              </a:rPr>
              <a:t> governed by different optimization goals. </a:t>
            </a:r>
          </a:p>
          <a:p>
            <a:pPr lvl="0"/>
            <a:r>
              <a:rPr lang="en-US" sz="1200" b="1" kern="1200" dirty="0">
                <a:solidFill>
                  <a:schemeClr val="tx1"/>
                </a:solidFill>
                <a:effectLst/>
                <a:latin typeface="+mn-lt"/>
                <a:ea typeface="+mn-ea"/>
                <a:cs typeface="+mn-cs"/>
              </a:rPr>
              <a:t>Complementary Systems:</a:t>
            </a:r>
            <a:r>
              <a:rPr lang="en-US" sz="1200" kern="1200" dirty="0">
                <a:solidFill>
                  <a:schemeClr val="tx1"/>
                </a:solidFill>
                <a:effectLst/>
                <a:latin typeface="+mn-lt"/>
                <a:ea typeface="+mn-ea"/>
                <a:cs typeface="+mn-cs"/>
              </a:rPr>
              <a:t> AI will become vastly superior at high-dimensional pattern processing and raw calculation, while failing at common-sense physical tasks humans find trivial. AI and human cognition are fundamentally distinct species of intellect. </a:t>
            </a:r>
          </a:p>
        </p:txBody>
      </p:sp>
      <p:sp>
        <p:nvSpPr>
          <p:cNvPr id="4" name="Slide Number Placeholder 3"/>
          <p:cNvSpPr>
            <a:spLocks noGrp="1"/>
          </p:cNvSpPr>
          <p:nvPr>
            <p:ph type="sldNum" sz="quarter" idx="5"/>
          </p:nvPr>
        </p:nvSpPr>
        <p:spPr/>
        <p:txBody>
          <a:bodyPr/>
          <a:lstStyle/>
          <a:p>
            <a:fld id="{F79130B6-49BF-472A-8841-1D5C993DD876}" type="slidenum">
              <a:rPr lang="en-US" smtClean="0"/>
              <a:t>14</a:t>
            </a:fld>
            <a:endParaRPr lang="en-US"/>
          </a:p>
        </p:txBody>
      </p:sp>
    </p:spTree>
    <p:extLst>
      <p:ext uri="{BB962C8B-B14F-4D97-AF65-F5344CB8AC3E}">
        <p14:creationId xmlns:p14="http://schemas.microsoft.com/office/powerpoint/2010/main" val="19503571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Beyond Brute-Force Scaling:</a:t>
            </a:r>
            <a:r>
              <a:rPr lang="en-US" sz="1200" kern="1200" dirty="0">
                <a:solidFill>
                  <a:schemeClr val="tx1"/>
                </a:solidFill>
                <a:effectLst/>
                <a:latin typeface="+mn-lt"/>
                <a:ea typeface="+mn-ea"/>
                <a:cs typeface="+mn-cs"/>
              </a:rPr>
              <a:t> Simply adding more GPUs or scaling parameter counts will not magically solve AI's core limitations or unlock true human-like creativity. </a:t>
            </a:r>
          </a:p>
          <a:p>
            <a:pPr lvl="0"/>
            <a:r>
              <a:rPr lang="en-US" sz="1200" b="1" kern="1200" dirty="0">
                <a:solidFill>
                  <a:schemeClr val="tx1"/>
                </a:solidFill>
                <a:effectLst/>
                <a:latin typeface="+mn-lt"/>
                <a:ea typeface="+mn-ea"/>
                <a:cs typeface="+mn-cs"/>
              </a:rPr>
              <a:t>The Limits of Embodiment:</a:t>
            </a:r>
            <a:r>
              <a:rPr lang="en-US" sz="1200" kern="1200" dirty="0">
                <a:solidFill>
                  <a:schemeClr val="tx1"/>
                </a:solidFill>
                <a:effectLst/>
                <a:latin typeface="+mn-lt"/>
                <a:ea typeface="+mn-ea"/>
                <a:cs typeface="+mn-cs"/>
              </a:rPr>
              <a:t> While robotics and physical sensors provide richer grounded context, cognitive tests show that forcing models into cross-domain metaphors (like designing a car based on an octopus) doesn't automatically induce human-like creative breakthroughs.</a:t>
            </a:r>
          </a:p>
          <a:p>
            <a:pPr lvl="0"/>
            <a:r>
              <a:rPr lang="en-US" sz="1200" b="1" kern="1200" dirty="0">
                <a:solidFill>
                  <a:schemeClr val="tx1"/>
                </a:solidFill>
                <a:effectLst/>
                <a:latin typeface="+mn-lt"/>
                <a:ea typeface="+mn-ea"/>
                <a:cs typeface="+mn-cs"/>
              </a:rPr>
              <a:t>Integrating Cognitive Science:</a:t>
            </a:r>
            <a:r>
              <a:rPr lang="en-US" sz="1200" kern="1200" dirty="0">
                <a:solidFill>
                  <a:schemeClr val="tx1"/>
                </a:solidFill>
                <a:effectLst/>
                <a:latin typeface="+mn-lt"/>
                <a:ea typeface="+mn-ea"/>
                <a:cs typeface="+mn-cs"/>
              </a:rPr>
              <a:t> To build robust, reliable AI systems, computer science must stop relying solely on raw compute scaling and re-engage deeply with cognitive science to engineer better </a:t>
            </a:r>
            <a:r>
              <a:rPr lang="en-US" sz="1200" b="1" kern="1200" dirty="0">
                <a:solidFill>
                  <a:schemeClr val="tx1"/>
                </a:solidFill>
                <a:effectLst/>
                <a:latin typeface="+mn-lt"/>
                <a:ea typeface="+mn-ea"/>
                <a:cs typeface="+mn-cs"/>
              </a:rPr>
              <a:t>inductive biases</a:t>
            </a:r>
            <a:r>
              <a:rPr lang="en-US" sz="1200" kern="1200" dirty="0">
                <a:solidFill>
                  <a:schemeClr val="tx1"/>
                </a:solidFill>
                <a:effectLst/>
                <a:latin typeface="+mn-lt"/>
                <a:ea typeface="+mn-ea"/>
                <a:cs typeface="+mn-cs"/>
              </a:rPr>
              <a:t> and structural architectures.</a:t>
            </a:r>
          </a:p>
        </p:txBody>
      </p:sp>
      <p:sp>
        <p:nvSpPr>
          <p:cNvPr id="4" name="Slide Number Placeholder 3"/>
          <p:cNvSpPr>
            <a:spLocks noGrp="1"/>
          </p:cNvSpPr>
          <p:nvPr>
            <p:ph type="sldNum" sz="quarter" idx="5"/>
          </p:nvPr>
        </p:nvSpPr>
        <p:spPr/>
        <p:txBody>
          <a:bodyPr/>
          <a:lstStyle/>
          <a:p>
            <a:fld id="{F79130B6-49BF-472A-8841-1D5C993DD876}" type="slidenum">
              <a:rPr lang="en-US" smtClean="0"/>
              <a:t>15</a:t>
            </a:fld>
            <a:endParaRPr lang="en-US"/>
          </a:p>
        </p:txBody>
      </p:sp>
    </p:spTree>
    <p:extLst>
      <p:ext uri="{BB962C8B-B14F-4D97-AF65-F5344CB8AC3E}">
        <p14:creationId xmlns:p14="http://schemas.microsoft.com/office/powerpoint/2010/main" val="24010368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Comparative Summary Overview:</a:t>
            </a:r>
            <a:r>
              <a:rPr lang="en-US" sz="1200" kern="1200" dirty="0">
                <a:solidFill>
                  <a:schemeClr val="tx1"/>
                </a:solidFill>
                <a:effectLst/>
                <a:latin typeface="+mn-lt"/>
                <a:ea typeface="+mn-ea"/>
                <a:cs typeface="+mn-cs"/>
              </a:rPr>
              <a:t> This slide synthesizes the core takeaways across our three focus areas: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Mind vs. Machine:</a:t>
            </a:r>
            <a:r>
              <a:rPr lang="en-US" sz="1200" kern="1200" dirty="0">
                <a:solidFill>
                  <a:schemeClr val="tx1"/>
                </a:solidFill>
                <a:effectLst/>
                <a:latin typeface="+mn-lt"/>
                <a:ea typeface="+mn-ea"/>
                <a:cs typeface="+mn-cs"/>
              </a:rPr>
              <a:t> Children show immense data efficiency compared to massive AI scale.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Modern AI Mechanics:</a:t>
            </a:r>
            <a:r>
              <a:rPr lang="en-US" sz="1200" kern="1200" dirty="0">
                <a:solidFill>
                  <a:schemeClr val="tx1"/>
                </a:solidFill>
                <a:effectLst/>
                <a:latin typeface="+mn-lt"/>
                <a:ea typeface="+mn-ea"/>
                <a:cs typeface="+mn-cs"/>
              </a:rPr>
              <a:t> Continuous weights handle fuzzy concept networks better than old symbolic rules.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Critical Risks:</a:t>
            </a:r>
            <a:r>
              <a:rPr lang="en-US" sz="1200" kern="1200" dirty="0">
                <a:solidFill>
                  <a:schemeClr val="tx1"/>
                </a:solidFill>
                <a:effectLst/>
                <a:latin typeface="+mn-lt"/>
                <a:ea typeface="+mn-ea"/>
                <a:cs typeface="+mn-cs"/>
              </a:rPr>
              <a:t> Sycophancy skews user truth, and Jagged Generalization creates false user trust. </a:t>
            </a:r>
          </a:p>
          <a:p>
            <a:pPr lvl="0"/>
            <a:r>
              <a:rPr lang="en-US" sz="1200" b="1" kern="1200" dirty="0">
                <a:solidFill>
                  <a:schemeClr val="tx1"/>
                </a:solidFill>
                <a:effectLst/>
                <a:latin typeface="+mn-lt"/>
                <a:ea typeface="+mn-ea"/>
                <a:cs typeface="+mn-cs"/>
              </a:rPr>
              <a:t>Decoding the Black Box:</a:t>
            </a:r>
            <a:r>
              <a:rPr lang="en-US" sz="1200" kern="1200" dirty="0">
                <a:solidFill>
                  <a:schemeClr val="tx1"/>
                </a:solidFill>
                <a:effectLst/>
                <a:latin typeface="+mn-lt"/>
                <a:ea typeface="+mn-ea"/>
                <a:cs typeface="+mn-cs"/>
              </a:rPr>
              <a:t> Ultimately, cognitive science tools allow us to inspect, interpret, and govern the internal operations of AI black boxes. </a:t>
            </a:r>
          </a:p>
          <a:p>
            <a:endParaRPr lang="en-US" dirty="0"/>
          </a:p>
          <a:p>
            <a:pPr lvl="0"/>
            <a:r>
              <a:rPr lang="en-US" sz="1200" b="1" kern="1200" dirty="0">
                <a:solidFill>
                  <a:schemeClr val="tx1"/>
                </a:solidFill>
                <a:effectLst/>
                <a:latin typeface="+mn-lt"/>
                <a:ea typeface="+mn-ea"/>
                <a:cs typeface="+mn-cs"/>
              </a:rPr>
              <a:t>Comparative Summary Overview:</a:t>
            </a:r>
            <a:r>
              <a:rPr lang="en-US" sz="1200" kern="1200" dirty="0">
                <a:solidFill>
                  <a:schemeClr val="tx1"/>
                </a:solidFill>
                <a:effectLst/>
                <a:latin typeface="+mn-lt"/>
                <a:ea typeface="+mn-ea"/>
                <a:cs typeface="+mn-cs"/>
              </a:rPr>
              <a:t> This slide synthesizes the core takeaways across our three focus areas: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Mind vs. Machine:</a:t>
            </a:r>
            <a:r>
              <a:rPr lang="en-US" sz="1200" kern="1200" dirty="0">
                <a:solidFill>
                  <a:schemeClr val="tx1"/>
                </a:solidFill>
                <a:effectLst/>
                <a:latin typeface="+mn-lt"/>
                <a:ea typeface="+mn-ea"/>
                <a:cs typeface="+mn-cs"/>
              </a:rPr>
              <a:t> Children show immense data efficiency compared to massive AI scale.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Modern AI Mechanics:</a:t>
            </a:r>
            <a:r>
              <a:rPr lang="en-US" sz="1200" kern="1200" dirty="0">
                <a:solidFill>
                  <a:schemeClr val="tx1"/>
                </a:solidFill>
                <a:effectLst/>
                <a:latin typeface="+mn-lt"/>
                <a:ea typeface="+mn-ea"/>
                <a:cs typeface="+mn-cs"/>
              </a:rPr>
              <a:t> Continuous weights handle fuzzy concept networks better than old symbolic rules.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Critical Risks:</a:t>
            </a:r>
            <a:r>
              <a:rPr lang="en-US" sz="1200" kern="1200" dirty="0">
                <a:solidFill>
                  <a:schemeClr val="tx1"/>
                </a:solidFill>
                <a:effectLst/>
                <a:latin typeface="+mn-lt"/>
                <a:ea typeface="+mn-ea"/>
                <a:cs typeface="+mn-cs"/>
              </a:rPr>
              <a:t> Sycophancy skews user truth, and Jagged Generalization creates false user trust. </a:t>
            </a:r>
          </a:p>
          <a:p>
            <a:pPr lvl="0"/>
            <a:r>
              <a:rPr lang="en-US" sz="1200" b="1" kern="1200" dirty="0">
                <a:solidFill>
                  <a:schemeClr val="tx1"/>
                </a:solidFill>
                <a:effectLst/>
                <a:latin typeface="+mn-lt"/>
                <a:ea typeface="+mn-ea"/>
                <a:cs typeface="+mn-cs"/>
              </a:rPr>
              <a:t>Decoding the Black Box:</a:t>
            </a:r>
            <a:r>
              <a:rPr lang="en-US" sz="1200" kern="1200" dirty="0">
                <a:solidFill>
                  <a:schemeClr val="tx1"/>
                </a:solidFill>
                <a:effectLst/>
                <a:latin typeface="+mn-lt"/>
                <a:ea typeface="+mn-ea"/>
                <a:cs typeface="+mn-cs"/>
              </a:rPr>
              <a:t> Ultimately, cognitive science tools allow us to inspect, interpret, and govern the internal operations of AI black boxes. </a:t>
            </a:r>
          </a:p>
          <a:p>
            <a:endParaRPr lang="en-US" b="1" dirty="0"/>
          </a:p>
          <a:p>
            <a:endParaRPr lang="en-US" dirty="0"/>
          </a:p>
          <a:p>
            <a:endParaRPr lang="en-US" dirty="0"/>
          </a:p>
          <a:p>
            <a:endParaRPr lang="en-US" dirty="0"/>
          </a:p>
          <a:p>
            <a:endParaRPr lang="en-US" dirty="0"/>
          </a:p>
          <a:p>
            <a:r>
              <a:rPr lang="en-US" b="1" dirty="0"/>
              <a:t>Princeton Cognitive Scientist Says AI Researchers Are Wrong</a:t>
            </a:r>
          </a:p>
          <a:p>
            <a:r>
              <a:rPr lang="en-US" dirty="0"/>
              <a:t>https://www.youtube.com/watch?v=6iMiCJHxTww</a:t>
            </a:r>
          </a:p>
        </p:txBody>
      </p:sp>
      <p:sp>
        <p:nvSpPr>
          <p:cNvPr id="4" name="Slide Number Placeholder 3"/>
          <p:cNvSpPr>
            <a:spLocks noGrp="1"/>
          </p:cNvSpPr>
          <p:nvPr>
            <p:ph type="sldNum" sz="quarter" idx="5"/>
          </p:nvPr>
        </p:nvSpPr>
        <p:spPr/>
        <p:txBody>
          <a:bodyPr/>
          <a:lstStyle/>
          <a:p>
            <a:fld id="{F79130B6-49BF-472A-8841-1D5C993DD876}" type="slidenum">
              <a:rPr lang="en-US" smtClean="0"/>
              <a:t>16</a:t>
            </a:fld>
            <a:endParaRPr lang="en-US"/>
          </a:p>
        </p:txBody>
      </p:sp>
    </p:spTree>
    <p:extLst>
      <p:ext uri="{BB962C8B-B14F-4D97-AF65-F5344CB8AC3E}">
        <p14:creationId xmlns:p14="http://schemas.microsoft.com/office/powerpoint/2010/main" val="363270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4ADD3B-F508-E194-9281-FC9ED3D26F75}"/>
              </a:ext>
            </a:extLst>
          </p:cNvPr>
          <p:cNvSpPr>
            <a:spLocks noGrp="1"/>
          </p:cNvSpPr>
          <p:nvPr>
            <p:ph type="dt" sz="half" idx="10"/>
          </p:nvPr>
        </p:nvSpPr>
        <p:spPr/>
        <p:txBody>
          <a:bodyPr/>
          <a:lstStyle/>
          <a:p>
            <a:fld id="{EC81D842-4DC9-4B4C-9316-41259D578A5E}" type="datetimeFigureOut">
              <a:rPr lang="en-US" smtClean="0"/>
              <a:t>10/21/2026</a:t>
            </a:fld>
            <a:endParaRPr lang="en-US"/>
          </a:p>
        </p:txBody>
      </p:sp>
      <p:sp>
        <p:nvSpPr>
          <p:cNvPr id="3" name="Footer Placeholder 2">
            <a:extLst>
              <a:ext uri="{FF2B5EF4-FFF2-40B4-BE49-F238E27FC236}">
                <a16:creationId xmlns:a16="http://schemas.microsoft.com/office/drawing/2014/main" id="{F2199254-F966-157C-013C-B1A3658603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C12422-0359-96B6-CC38-FB67D8B0CF9E}"/>
              </a:ext>
            </a:extLst>
          </p:cNvPr>
          <p:cNvSpPr>
            <a:spLocks noGrp="1"/>
          </p:cNvSpPr>
          <p:nvPr>
            <p:ph type="sldNum" sz="quarter" idx="12"/>
          </p:nvPr>
        </p:nvSpPr>
        <p:spPr/>
        <p:txBody>
          <a:bodyPr/>
          <a:lstStyle/>
          <a:p>
            <a:fld id="{1DCB9015-7F80-4080-955E-6010979E677C}" type="slidenum">
              <a:rPr lang="en-US" smtClean="0"/>
              <a:t>‹#›</a:t>
            </a:fld>
            <a:endParaRPr lang="en-US"/>
          </a:p>
        </p:txBody>
      </p:sp>
    </p:spTree>
    <p:extLst>
      <p:ext uri="{BB962C8B-B14F-4D97-AF65-F5344CB8AC3E}">
        <p14:creationId xmlns:p14="http://schemas.microsoft.com/office/powerpoint/2010/main" val="267748813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BA40C4-A7F8-6BFA-0096-FD95AE68B9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1975F40-CB36-D9D3-6E6F-E2670E6FB6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FE6A67-8ABC-D593-9E27-3058C3E22B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C81D842-4DC9-4B4C-9316-41259D578A5E}" type="datetimeFigureOut">
              <a:rPr lang="en-US" smtClean="0"/>
              <a:t>10/21/2026</a:t>
            </a:fld>
            <a:endParaRPr lang="en-US"/>
          </a:p>
        </p:txBody>
      </p:sp>
      <p:sp>
        <p:nvSpPr>
          <p:cNvPr id="5" name="Footer Placeholder 4">
            <a:extLst>
              <a:ext uri="{FF2B5EF4-FFF2-40B4-BE49-F238E27FC236}">
                <a16:creationId xmlns:a16="http://schemas.microsoft.com/office/drawing/2014/main" id="{6BD0137A-14A8-D613-4936-C1E2D80B55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40F85C6-34AF-B16C-3D70-B3F0A8E2C4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CB9015-7F80-4080-955E-6010979E677C}" type="slidenum">
              <a:rPr lang="en-US" smtClean="0"/>
              <a:t>‹#›</a:t>
            </a:fld>
            <a:endParaRPr lang="en-US"/>
          </a:p>
        </p:txBody>
      </p:sp>
    </p:spTree>
    <p:extLst>
      <p:ext uri="{BB962C8B-B14F-4D97-AF65-F5344CB8AC3E}">
        <p14:creationId xmlns:p14="http://schemas.microsoft.com/office/powerpoint/2010/main" val="11177506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590D83C-6FF6-B15F-69F8-E8C1194B5ED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1DF724-3F15-030E-F272-40B7CB577D9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18CB58-E0EC-CA71-A47E-AA823152456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B0520C-E80D-F727-BC0B-550BC85F0B5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526C1A-0F5C-90D7-44E4-798EC6ED023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F5DE9C-3B81-E49C-2DFB-AE85653D8DA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7D1EB0-B134-698D-EA79-2EB158BB009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7455D8-1411-3A28-E32C-A368EDF885A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5A755C-6D32-B600-ED9B-664C41E8FFA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25D14F-AA27-3FC2-D121-74B62C5F6F1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D70A03-F44C-204C-B110-51F7E1DF5E6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E927E2-30F6-363D-37D9-ABA6034DE03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D55D029-9C10-802F-3E7C-BFBEECFF18E7}"/>
              </a:ext>
            </a:extLst>
          </p:cNvPr>
          <p:cNvPicPr>
            <a:picLocks noChangeAspect="1"/>
          </p:cNvPicPr>
          <p:nvPr/>
        </p:nvPicPr>
        <p:blipFill>
          <a:blip r:embed="rId3"/>
          <a:stretch>
            <a:fillRect/>
          </a:stretch>
        </p:blipFill>
        <p:spPr>
          <a:xfrm>
            <a:off x="0" y="0"/>
            <a:ext cx="12192000" cy="68579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BF756E-6537-DD7D-F3D0-6B089F09A24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4018E9-7B35-6BF1-AC5B-6A2B340BB93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E47AC1-36C4-1E92-BCB8-798C2827F022}"/>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7775659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2296</Words>
  <Application>Microsoft Office PowerPoint</Application>
  <PresentationFormat>寬螢幕</PresentationFormat>
  <Paragraphs>91</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2026-09-28T02:48:23Z</dcterms:created>
  <dcterms:modified xsi:type="dcterms:W3CDTF">2026-10-21T02:48:26Z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f47bb8-b38e-408b-b78b-bb41e7d66ecb_Enabled">
    <vt:lpwstr>true</vt:lpwstr>
  </property>
  <property fmtid="{D5CDD505-2E9C-101B-9397-08002B2CF9AE}" pid="3" name="MSIP_Label_d9f47bb8-b38e-408b-b78b-bb41e7d66ecb_SetDate">
    <vt:lpwstr>2026-09-29T03:00:47Z</vt:lpwstr>
  </property>
  <property fmtid="{D5CDD505-2E9C-101B-9397-08002B2CF9AE}" pid="4" name="MSIP_Label_d9f47bb8-b38e-408b-b78b-bb41e7d66ecb_Method">
    <vt:lpwstr>Standard</vt:lpwstr>
  </property>
  <property fmtid="{D5CDD505-2E9C-101B-9397-08002B2CF9AE}" pid="5" name="MSIP_Label_d9f47bb8-b38e-408b-b78b-bb41e7d66ecb_Name">
    <vt:lpwstr>Public</vt:lpwstr>
  </property>
  <property fmtid="{D5CDD505-2E9C-101B-9397-08002B2CF9AE}" pid="6" name="MSIP_Label_d9f47bb8-b38e-408b-b78b-bb41e7d66ecb_SiteId">
    <vt:lpwstr>70ebe3a3-5b30-435d-9d67-7716d74ca190</vt:lpwstr>
  </property>
  <property fmtid="{D5CDD505-2E9C-101B-9397-08002B2CF9AE}" pid="7" name="MSIP_Label_d9f47bb8-b38e-408b-b78b-bb41e7d66ecb_ActionId">
    <vt:lpwstr>3662a18d-3ac6-4e5f-8df9-20aa83d01007</vt:lpwstr>
  </property>
  <property fmtid="{D5CDD505-2E9C-101B-9397-08002B2CF9AE}" pid="8" name="MSIP_Label_d9f47bb8-b38e-408b-b78b-bb41e7d66ecb_Provider">
    <vt:lpwstr>Varonis.Labeling</vt:lpwstr>
  </property>
  <property fmtid="{D5CDD505-2E9C-101B-9397-08002B2CF9AE}" pid="9" name="MSIP_Label_d9f47bb8-b38e-408b-b78b-bb41e7d66ecb_ContentBits">
    <vt:lpwstr>0</vt:lpwstr>
  </property>
</Properties>
</file>