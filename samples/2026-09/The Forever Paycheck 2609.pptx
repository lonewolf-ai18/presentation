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8F9418-9842-4D7F-AFCD-93D08CFB6D4D}" v="18" dt="2026-09-12T15:50:44.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860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2T15:51:15.921" v="52" actId="166"/>
      <pc:docMkLst>
        <pc:docMk/>
      </pc:docMkLst>
      <pc:sldChg chg="addSp delSp modSp mod modNotes modNotesTx">
        <pc:chgData name="Lai, Wilson" userId="2840974a-0d84-4886-90a9-9a3ed79f3a48" providerId="ADAL" clId="{9F23B798-9E84-4552-BA63-E776E805C424}" dt="2026-09-12T15:51:15.921" v="52" actId="166"/>
        <pc:sldMkLst>
          <pc:docMk/>
          <pc:sldMk cId="0" sldId="257"/>
        </pc:sldMkLst>
        <pc:picChg chg="del">
          <ac:chgData name="Lai, Wilson" userId="2840974a-0d84-4886-90a9-9a3ed79f3a48" providerId="ADAL" clId="{9F23B798-9E84-4552-BA63-E776E805C424}" dt="2026-09-12T12:44:43.562" v="0" actId="478"/>
          <ac:picMkLst>
            <pc:docMk/>
            <pc:sldMk cId="0" sldId="257"/>
            <ac:picMk id="2" creationId="{00000000-0000-0000-0000-000000000000}"/>
          </ac:picMkLst>
        </pc:picChg>
        <pc:picChg chg="add ord">
          <ac:chgData name="Lai, Wilson" userId="2840974a-0d84-4886-90a9-9a3ed79f3a48" providerId="ADAL" clId="{9F23B798-9E84-4552-BA63-E776E805C424}" dt="2026-09-12T15:51:15.921" v="52" actId="166"/>
          <ac:picMkLst>
            <pc:docMk/>
            <pc:sldMk cId="0" sldId="257"/>
            <ac:picMk id="7" creationId="{93CCC500-24D6-93D8-7210-9777A583C452}"/>
          </ac:picMkLst>
        </pc:picChg>
      </pc:sldChg>
      <pc:sldChg chg="addSp delSp mod modNotes modNotesTx">
        <pc:chgData name="Lai, Wilson" userId="2840974a-0d84-4886-90a9-9a3ed79f3a48" providerId="ADAL" clId="{9F23B798-9E84-4552-BA63-E776E805C424}" dt="2026-09-12T15:50:44.459" v="50"/>
        <pc:sldMkLst>
          <pc:docMk/>
          <pc:sldMk cId="0" sldId="258"/>
        </pc:sldMkLst>
        <pc:picChg chg="del">
          <ac:chgData name="Lai, Wilson" userId="2840974a-0d84-4886-90a9-9a3ed79f3a48" providerId="ADAL" clId="{9F23B798-9E84-4552-BA63-E776E805C424}" dt="2026-09-12T12:44:51.449" v="2" actId="21"/>
          <ac:picMkLst>
            <pc:docMk/>
            <pc:sldMk cId="0" sldId="258"/>
            <ac:picMk id="2" creationId="{00000000-0000-0000-0000-000000000000}"/>
          </ac:picMkLst>
        </pc:picChg>
        <pc:picChg chg="add">
          <ac:chgData name="Lai, Wilson" userId="2840974a-0d84-4886-90a9-9a3ed79f3a48" providerId="ADAL" clId="{9F23B798-9E84-4552-BA63-E776E805C424}" dt="2026-09-12T12:45:13.698" v="3" actId="22"/>
          <ac:picMkLst>
            <pc:docMk/>
            <pc:sldMk cId="0" sldId="258"/>
            <ac:picMk id="4" creationId="{50717319-D0A8-80F5-322D-C529FC5DC243}"/>
          </ac:picMkLst>
        </pc:picChg>
      </pc:sldChg>
      <pc:sldChg chg="addSp delSp mod modNotes modNotesTx">
        <pc:chgData name="Lai, Wilson" userId="2840974a-0d84-4886-90a9-9a3ed79f3a48" providerId="ADAL" clId="{9F23B798-9E84-4552-BA63-E776E805C424}" dt="2026-09-12T15:50:44.459" v="50"/>
        <pc:sldMkLst>
          <pc:docMk/>
          <pc:sldMk cId="0" sldId="259"/>
        </pc:sldMkLst>
        <pc:picChg chg="del">
          <ac:chgData name="Lai, Wilson" userId="2840974a-0d84-4886-90a9-9a3ed79f3a48" providerId="ADAL" clId="{9F23B798-9E84-4552-BA63-E776E805C424}" dt="2026-09-12T12:45:15.867" v="4" actId="21"/>
          <ac:picMkLst>
            <pc:docMk/>
            <pc:sldMk cId="0" sldId="259"/>
            <ac:picMk id="2" creationId="{00000000-0000-0000-0000-000000000000}"/>
          </ac:picMkLst>
        </pc:picChg>
        <pc:picChg chg="add">
          <ac:chgData name="Lai, Wilson" userId="2840974a-0d84-4886-90a9-9a3ed79f3a48" providerId="ADAL" clId="{9F23B798-9E84-4552-BA63-E776E805C424}" dt="2026-09-12T12:45:24.910" v="5" actId="22"/>
          <ac:picMkLst>
            <pc:docMk/>
            <pc:sldMk cId="0" sldId="259"/>
            <ac:picMk id="4" creationId="{0C96B8C1-8E56-AD02-E5C1-D012F0035A76}"/>
          </ac:picMkLst>
        </pc:picChg>
      </pc:sldChg>
      <pc:sldChg chg="addSp delSp mod modNotes modNotesTx">
        <pc:chgData name="Lai, Wilson" userId="2840974a-0d84-4886-90a9-9a3ed79f3a48" providerId="ADAL" clId="{9F23B798-9E84-4552-BA63-E776E805C424}" dt="2026-09-12T15:50:44.459" v="50"/>
        <pc:sldMkLst>
          <pc:docMk/>
          <pc:sldMk cId="0" sldId="260"/>
        </pc:sldMkLst>
        <pc:picChg chg="del">
          <ac:chgData name="Lai, Wilson" userId="2840974a-0d84-4886-90a9-9a3ed79f3a48" providerId="ADAL" clId="{9F23B798-9E84-4552-BA63-E776E805C424}" dt="2026-09-12T12:45:26.809" v="6" actId="21"/>
          <ac:picMkLst>
            <pc:docMk/>
            <pc:sldMk cId="0" sldId="260"/>
            <ac:picMk id="2" creationId="{00000000-0000-0000-0000-000000000000}"/>
          </ac:picMkLst>
        </pc:picChg>
        <pc:picChg chg="add">
          <ac:chgData name="Lai, Wilson" userId="2840974a-0d84-4886-90a9-9a3ed79f3a48" providerId="ADAL" clId="{9F23B798-9E84-4552-BA63-E776E805C424}" dt="2026-09-12T12:45:36.781" v="7" actId="22"/>
          <ac:picMkLst>
            <pc:docMk/>
            <pc:sldMk cId="0" sldId="260"/>
            <ac:picMk id="4" creationId="{231C1FF4-AEC8-0A5E-6741-FF31FEEBD137}"/>
          </ac:picMkLst>
        </pc:picChg>
      </pc:sldChg>
      <pc:sldChg chg="addSp delSp mod modNotes modNotesTx">
        <pc:chgData name="Lai, Wilson" userId="2840974a-0d84-4886-90a9-9a3ed79f3a48" providerId="ADAL" clId="{9F23B798-9E84-4552-BA63-E776E805C424}" dt="2026-09-12T15:50:44.459" v="50"/>
        <pc:sldMkLst>
          <pc:docMk/>
          <pc:sldMk cId="0" sldId="261"/>
        </pc:sldMkLst>
        <pc:picChg chg="del">
          <ac:chgData name="Lai, Wilson" userId="2840974a-0d84-4886-90a9-9a3ed79f3a48" providerId="ADAL" clId="{9F23B798-9E84-4552-BA63-E776E805C424}" dt="2026-09-12T12:45:39.174" v="8" actId="21"/>
          <ac:picMkLst>
            <pc:docMk/>
            <pc:sldMk cId="0" sldId="261"/>
            <ac:picMk id="2" creationId="{00000000-0000-0000-0000-000000000000}"/>
          </ac:picMkLst>
        </pc:picChg>
        <pc:picChg chg="add">
          <ac:chgData name="Lai, Wilson" userId="2840974a-0d84-4886-90a9-9a3ed79f3a48" providerId="ADAL" clId="{9F23B798-9E84-4552-BA63-E776E805C424}" dt="2026-09-12T12:45:51.367" v="9" actId="22"/>
          <ac:picMkLst>
            <pc:docMk/>
            <pc:sldMk cId="0" sldId="261"/>
            <ac:picMk id="4" creationId="{C66BE813-3127-2A23-F85A-BB976F5402E8}"/>
          </ac:picMkLst>
        </pc:picChg>
      </pc:sldChg>
      <pc:sldChg chg="addSp delSp mod modNotes modNotesTx">
        <pc:chgData name="Lai, Wilson" userId="2840974a-0d84-4886-90a9-9a3ed79f3a48" providerId="ADAL" clId="{9F23B798-9E84-4552-BA63-E776E805C424}" dt="2026-09-12T15:50:44.459" v="50"/>
        <pc:sldMkLst>
          <pc:docMk/>
          <pc:sldMk cId="0" sldId="262"/>
        </pc:sldMkLst>
        <pc:picChg chg="del">
          <ac:chgData name="Lai, Wilson" userId="2840974a-0d84-4886-90a9-9a3ed79f3a48" providerId="ADAL" clId="{9F23B798-9E84-4552-BA63-E776E805C424}" dt="2026-09-12T12:45:52.682" v="10" actId="21"/>
          <ac:picMkLst>
            <pc:docMk/>
            <pc:sldMk cId="0" sldId="262"/>
            <ac:picMk id="2" creationId="{00000000-0000-0000-0000-000000000000}"/>
          </ac:picMkLst>
        </pc:picChg>
        <pc:picChg chg="add">
          <ac:chgData name="Lai, Wilson" userId="2840974a-0d84-4886-90a9-9a3ed79f3a48" providerId="ADAL" clId="{9F23B798-9E84-4552-BA63-E776E805C424}" dt="2026-09-12T12:46:00.844" v="11" actId="22"/>
          <ac:picMkLst>
            <pc:docMk/>
            <pc:sldMk cId="0" sldId="262"/>
            <ac:picMk id="4" creationId="{4224C28C-05F7-8D21-5A4E-FD13BB6B6CF8}"/>
          </ac:picMkLst>
        </pc:picChg>
      </pc:sldChg>
      <pc:sldChg chg="addSp delSp mod modNotes modNotesTx">
        <pc:chgData name="Lai, Wilson" userId="2840974a-0d84-4886-90a9-9a3ed79f3a48" providerId="ADAL" clId="{9F23B798-9E84-4552-BA63-E776E805C424}" dt="2026-09-12T15:50:44.459" v="50"/>
        <pc:sldMkLst>
          <pc:docMk/>
          <pc:sldMk cId="0" sldId="263"/>
        </pc:sldMkLst>
        <pc:picChg chg="del">
          <ac:chgData name="Lai, Wilson" userId="2840974a-0d84-4886-90a9-9a3ed79f3a48" providerId="ADAL" clId="{9F23B798-9E84-4552-BA63-E776E805C424}" dt="2026-09-12T12:46:02.243" v="12" actId="21"/>
          <ac:picMkLst>
            <pc:docMk/>
            <pc:sldMk cId="0" sldId="263"/>
            <ac:picMk id="2" creationId="{00000000-0000-0000-0000-000000000000}"/>
          </ac:picMkLst>
        </pc:picChg>
        <pc:picChg chg="add">
          <ac:chgData name="Lai, Wilson" userId="2840974a-0d84-4886-90a9-9a3ed79f3a48" providerId="ADAL" clId="{9F23B798-9E84-4552-BA63-E776E805C424}" dt="2026-09-12T12:46:11.888" v="13" actId="22"/>
          <ac:picMkLst>
            <pc:docMk/>
            <pc:sldMk cId="0" sldId="263"/>
            <ac:picMk id="4" creationId="{4636B744-A0CC-F6EA-E137-4776BCC24611}"/>
          </ac:picMkLst>
        </pc:picChg>
      </pc:sldChg>
      <pc:sldChg chg="addSp delSp mod modNotes modNotesTx">
        <pc:chgData name="Lai, Wilson" userId="2840974a-0d84-4886-90a9-9a3ed79f3a48" providerId="ADAL" clId="{9F23B798-9E84-4552-BA63-E776E805C424}" dt="2026-09-12T15:50:44.459" v="50"/>
        <pc:sldMkLst>
          <pc:docMk/>
          <pc:sldMk cId="0" sldId="264"/>
        </pc:sldMkLst>
        <pc:picChg chg="del">
          <ac:chgData name="Lai, Wilson" userId="2840974a-0d84-4886-90a9-9a3ed79f3a48" providerId="ADAL" clId="{9F23B798-9E84-4552-BA63-E776E805C424}" dt="2026-09-12T12:46:14.879" v="14" actId="21"/>
          <ac:picMkLst>
            <pc:docMk/>
            <pc:sldMk cId="0" sldId="264"/>
            <ac:picMk id="2" creationId="{00000000-0000-0000-0000-000000000000}"/>
          </ac:picMkLst>
        </pc:picChg>
        <pc:picChg chg="add">
          <ac:chgData name="Lai, Wilson" userId="2840974a-0d84-4886-90a9-9a3ed79f3a48" providerId="ADAL" clId="{9F23B798-9E84-4552-BA63-E776E805C424}" dt="2026-09-12T12:46:24.192" v="15" actId="22"/>
          <ac:picMkLst>
            <pc:docMk/>
            <pc:sldMk cId="0" sldId="264"/>
            <ac:picMk id="4" creationId="{F0159981-A573-013E-2365-84A1FE5930AF}"/>
          </ac:picMkLst>
        </pc:picChg>
      </pc:sldChg>
      <pc:sldChg chg="modNotes modNotesTx">
        <pc:chgData name="Lai, Wilson" userId="2840974a-0d84-4886-90a9-9a3ed79f3a48" providerId="ADAL" clId="{9F23B798-9E84-4552-BA63-E776E805C424}" dt="2026-09-12T15:50:44.459" v="50"/>
        <pc:sldMkLst>
          <pc:docMk/>
          <pc:sldMk cId="0" sldId="265"/>
        </pc:sldMkLst>
      </pc:sldChg>
      <pc:sldChg chg="addSp delSp mod modNotes modNotesTx">
        <pc:chgData name="Lai, Wilson" userId="2840974a-0d84-4886-90a9-9a3ed79f3a48" providerId="ADAL" clId="{9F23B798-9E84-4552-BA63-E776E805C424}" dt="2026-09-12T15:50:44.459" v="50"/>
        <pc:sldMkLst>
          <pc:docMk/>
          <pc:sldMk cId="0" sldId="266"/>
        </pc:sldMkLst>
        <pc:picChg chg="del">
          <ac:chgData name="Lai, Wilson" userId="2840974a-0d84-4886-90a9-9a3ed79f3a48" providerId="ADAL" clId="{9F23B798-9E84-4552-BA63-E776E805C424}" dt="2026-09-12T12:46:31.625" v="16" actId="21"/>
          <ac:picMkLst>
            <pc:docMk/>
            <pc:sldMk cId="0" sldId="266"/>
            <ac:picMk id="2" creationId="{00000000-0000-0000-0000-000000000000}"/>
          </ac:picMkLst>
        </pc:picChg>
        <pc:picChg chg="add">
          <ac:chgData name="Lai, Wilson" userId="2840974a-0d84-4886-90a9-9a3ed79f3a48" providerId="ADAL" clId="{9F23B798-9E84-4552-BA63-E776E805C424}" dt="2026-09-12T12:46:39.148" v="17" actId="22"/>
          <ac:picMkLst>
            <pc:docMk/>
            <pc:sldMk cId="0" sldId="266"/>
            <ac:picMk id="4" creationId="{45AA5706-72C3-78AE-3F9E-EB1695C0B84B}"/>
          </ac:picMkLst>
        </pc:picChg>
      </pc:sldChg>
      <pc:sldChg chg="addSp delSp mod modNotes modNotesTx">
        <pc:chgData name="Lai, Wilson" userId="2840974a-0d84-4886-90a9-9a3ed79f3a48" providerId="ADAL" clId="{9F23B798-9E84-4552-BA63-E776E805C424}" dt="2026-09-12T15:50:44.459" v="50"/>
        <pc:sldMkLst>
          <pc:docMk/>
          <pc:sldMk cId="0" sldId="267"/>
        </pc:sldMkLst>
        <pc:picChg chg="del">
          <ac:chgData name="Lai, Wilson" userId="2840974a-0d84-4886-90a9-9a3ed79f3a48" providerId="ADAL" clId="{9F23B798-9E84-4552-BA63-E776E805C424}" dt="2026-09-12T12:46:43.793" v="18" actId="21"/>
          <ac:picMkLst>
            <pc:docMk/>
            <pc:sldMk cId="0" sldId="267"/>
            <ac:picMk id="2" creationId="{00000000-0000-0000-0000-000000000000}"/>
          </ac:picMkLst>
        </pc:picChg>
        <pc:picChg chg="add">
          <ac:chgData name="Lai, Wilson" userId="2840974a-0d84-4886-90a9-9a3ed79f3a48" providerId="ADAL" clId="{9F23B798-9E84-4552-BA63-E776E805C424}" dt="2026-09-12T12:46:53.324" v="19" actId="22"/>
          <ac:picMkLst>
            <pc:docMk/>
            <pc:sldMk cId="0" sldId="267"/>
            <ac:picMk id="4" creationId="{589FE4EC-AA4C-4DA4-39A7-401DAAEA33BA}"/>
          </ac:picMkLst>
        </pc:picChg>
      </pc:sldChg>
      <pc:sldChg chg="addSp delSp mod modNotes modNotesTx">
        <pc:chgData name="Lai, Wilson" userId="2840974a-0d84-4886-90a9-9a3ed79f3a48" providerId="ADAL" clId="{9F23B798-9E84-4552-BA63-E776E805C424}" dt="2026-09-12T15:50:44.459" v="50"/>
        <pc:sldMkLst>
          <pc:docMk/>
          <pc:sldMk cId="0" sldId="268"/>
        </pc:sldMkLst>
        <pc:picChg chg="del">
          <ac:chgData name="Lai, Wilson" userId="2840974a-0d84-4886-90a9-9a3ed79f3a48" providerId="ADAL" clId="{9F23B798-9E84-4552-BA63-E776E805C424}" dt="2026-09-12T12:46:54.804" v="20" actId="21"/>
          <ac:picMkLst>
            <pc:docMk/>
            <pc:sldMk cId="0" sldId="268"/>
            <ac:picMk id="2" creationId="{00000000-0000-0000-0000-000000000000}"/>
          </ac:picMkLst>
        </pc:picChg>
        <pc:picChg chg="add">
          <ac:chgData name="Lai, Wilson" userId="2840974a-0d84-4886-90a9-9a3ed79f3a48" providerId="ADAL" clId="{9F23B798-9E84-4552-BA63-E776E805C424}" dt="2026-09-12T12:47:06.990" v="21" actId="22"/>
          <ac:picMkLst>
            <pc:docMk/>
            <pc:sldMk cId="0" sldId="268"/>
            <ac:picMk id="4" creationId="{7C6B7BCC-7229-9930-586A-62287411D95F}"/>
          </ac:picMkLst>
        </pc:picChg>
      </pc:sldChg>
      <pc:sldChg chg="addSp delSp mod modNotes modNotesTx">
        <pc:chgData name="Lai, Wilson" userId="2840974a-0d84-4886-90a9-9a3ed79f3a48" providerId="ADAL" clId="{9F23B798-9E84-4552-BA63-E776E805C424}" dt="2026-09-12T15:50:44.459" v="50"/>
        <pc:sldMkLst>
          <pc:docMk/>
          <pc:sldMk cId="0" sldId="269"/>
        </pc:sldMkLst>
        <pc:picChg chg="del">
          <ac:chgData name="Lai, Wilson" userId="2840974a-0d84-4886-90a9-9a3ed79f3a48" providerId="ADAL" clId="{9F23B798-9E84-4552-BA63-E776E805C424}" dt="2026-09-12T12:47:08.697" v="22" actId="21"/>
          <ac:picMkLst>
            <pc:docMk/>
            <pc:sldMk cId="0" sldId="269"/>
            <ac:picMk id="2" creationId="{00000000-0000-0000-0000-000000000000}"/>
          </ac:picMkLst>
        </pc:picChg>
        <pc:picChg chg="add">
          <ac:chgData name="Lai, Wilson" userId="2840974a-0d84-4886-90a9-9a3ed79f3a48" providerId="ADAL" clId="{9F23B798-9E84-4552-BA63-E776E805C424}" dt="2026-09-12T12:47:15.200" v="23" actId="22"/>
          <ac:picMkLst>
            <pc:docMk/>
            <pc:sldMk cId="0" sldId="269"/>
            <ac:picMk id="4" creationId="{15179BB6-3FB7-7765-8CBE-65068007D80A}"/>
          </ac:picMkLst>
        </pc:picChg>
      </pc:sldChg>
      <pc:sldChg chg="addSp delSp mod modNotes modNotesTx">
        <pc:chgData name="Lai, Wilson" userId="2840974a-0d84-4886-90a9-9a3ed79f3a48" providerId="ADAL" clId="{9F23B798-9E84-4552-BA63-E776E805C424}" dt="2026-09-12T15:50:44.459" v="50"/>
        <pc:sldMkLst>
          <pc:docMk/>
          <pc:sldMk cId="0" sldId="270"/>
        </pc:sldMkLst>
        <pc:picChg chg="del">
          <ac:chgData name="Lai, Wilson" userId="2840974a-0d84-4886-90a9-9a3ed79f3a48" providerId="ADAL" clId="{9F23B798-9E84-4552-BA63-E776E805C424}" dt="2026-09-12T12:47:16.858" v="24" actId="21"/>
          <ac:picMkLst>
            <pc:docMk/>
            <pc:sldMk cId="0" sldId="270"/>
            <ac:picMk id="2" creationId="{00000000-0000-0000-0000-000000000000}"/>
          </ac:picMkLst>
        </pc:picChg>
        <pc:picChg chg="add">
          <ac:chgData name="Lai, Wilson" userId="2840974a-0d84-4886-90a9-9a3ed79f3a48" providerId="ADAL" clId="{9F23B798-9E84-4552-BA63-E776E805C424}" dt="2026-09-12T12:47:25.288" v="25" actId="22"/>
          <ac:picMkLst>
            <pc:docMk/>
            <pc:sldMk cId="0" sldId="270"/>
            <ac:picMk id="4" creationId="{E2246DA5-ABFF-950A-BEBD-2639ACEF2976}"/>
          </ac:picMkLst>
        </pc:picChg>
      </pc:sldChg>
      <pc:sldChg chg="addSp delSp mod modNotes modNotesTx">
        <pc:chgData name="Lai, Wilson" userId="2840974a-0d84-4886-90a9-9a3ed79f3a48" providerId="ADAL" clId="{9F23B798-9E84-4552-BA63-E776E805C424}" dt="2026-09-12T15:50:44.459" v="50"/>
        <pc:sldMkLst>
          <pc:docMk/>
          <pc:sldMk cId="488971812" sldId="271"/>
        </pc:sldMkLst>
        <pc:picChg chg="del">
          <ac:chgData name="Lai, Wilson" userId="2840974a-0d84-4886-90a9-9a3ed79f3a48" providerId="ADAL" clId="{9F23B798-9E84-4552-BA63-E776E805C424}" dt="2026-09-12T12:47:28.251" v="26" actId="21"/>
          <ac:picMkLst>
            <pc:docMk/>
            <pc:sldMk cId="488971812" sldId="271"/>
            <ac:picMk id="3" creationId="{3A9E715D-DA52-A663-A74D-204A9D81A2BB}"/>
          </ac:picMkLst>
        </pc:picChg>
        <pc:picChg chg="add">
          <ac:chgData name="Lai, Wilson" userId="2840974a-0d84-4886-90a9-9a3ed79f3a48" providerId="ADAL" clId="{9F23B798-9E84-4552-BA63-E776E805C424}" dt="2026-09-12T12:47:40.136" v="27" actId="22"/>
          <ac:picMkLst>
            <pc:docMk/>
            <pc:sldMk cId="488971812" sldId="271"/>
            <ac:picMk id="4" creationId="{990E3DAB-9DBD-D709-FBF2-8CF38ED4435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6C9211-A6A1-4B3D-804B-0BF192CF1538}"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82B219-F6D7-4AAE-B97C-9BBCDF797B33}" type="slidenum">
              <a:rPr lang="en-US" smtClean="0"/>
              <a:t>‹#›</a:t>
            </a:fld>
            <a:endParaRPr lang="en-US"/>
          </a:p>
        </p:txBody>
      </p:sp>
    </p:spTree>
    <p:extLst>
      <p:ext uri="{BB962C8B-B14F-4D97-AF65-F5344CB8AC3E}">
        <p14:creationId xmlns:p14="http://schemas.microsoft.com/office/powerpoint/2010/main" val="651872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 everyone. Today, we are addressing one of the most critical yet frequently overlooked challenges in financial planning: the psychological transition from </a:t>
            </a:r>
            <a:r>
              <a:rPr lang="en-US" sz="1200" b="1" kern="1200" dirty="0">
                <a:solidFill>
                  <a:schemeClr val="tx1"/>
                </a:solidFill>
                <a:effectLst/>
                <a:latin typeface="+mn-lt"/>
                <a:ea typeface="+mn-ea"/>
                <a:cs typeface="+mn-cs"/>
              </a:rPr>
              <a:t>wealth accumulation</a:t>
            </a:r>
            <a:r>
              <a:rPr lang="en-US" sz="1200" kern="1200" dirty="0">
                <a:solidFill>
                  <a:schemeClr val="tx1"/>
                </a:solidFill>
                <a:effectLst/>
                <a:latin typeface="+mn-lt"/>
                <a:ea typeface="+mn-ea"/>
                <a:cs typeface="+mn-cs"/>
              </a:rPr>
              <a:t> to </a:t>
            </a:r>
            <a:r>
              <a:rPr lang="en-US" sz="1200" b="1" kern="1200" dirty="0">
                <a:solidFill>
                  <a:schemeClr val="tx1"/>
                </a:solidFill>
                <a:effectLst/>
                <a:latin typeface="+mn-lt"/>
                <a:ea typeface="+mn-ea"/>
                <a:cs typeface="+mn-cs"/>
              </a:rPr>
              <a:t>joyful decumulation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For decades, the financial industry has concentrated almost exclusively on the math of saving—how to build a nest egg, maximize 401(k) contributions, and chase portfolio returns. </a:t>
            </a:r>
          </a:p>
          <a:p>
            <a:pPr lvl="0"/>
            <a:r>
              <a:rPr lang="en-US" sz="1200" kern="1200" dirty="0">
                <a:solidFill>
                  <a:schemeClr val="tx1"/>
                </a:solidFill>
                <a:effectLst/>
                <a:latin typeface="+mn-lt"/>
                <a:ea typeface="+mn-ea"/>
                <a:cs typeface="+mn-cs"/>
              </a:rPr>
              <a:t>However, as personal finance leader Jean Chatzky highlights in her recent work, having a full bank account does not automatically translate into a fulfilling retirement if you are plagued by a constant fear of spending. </a:t>
            </a:r>
          </a:p>
          <a:p>
            <a:pPr lvl="0"/>
            <a:r>
              <a:rPr lang="en-US" sz="1200" kern="1200" dirty="0">
                <a:solidFill>
                  <a:schemeClr val="tx1"/>
                </a:solidFill>
                <a:effectLst/>
                <a:latin typeface="+mn-lt"/>
                <a:ea typeface="+mn-ea"/>
                <a:cs typeface="+mn-cs"/>
              </a:rPr>
              <a:t>Over the next 15 slides, we will explore why moving from asset growth to creating a guaranteed 'Forever Paycheck' is essential for unlocking the permission to actually enjoy the money you've spent a lifetime saving. </a:t>
            </a:r>
          </a:p>
          <a:p>
            <a:endParaRPr lang="en-US" dirty="0"/>
          </a:p>
          <a:p>
            <a:endParaRPr lang="en-US" dirty="0"/>
          </a:p>
          <a:p>
            <a:endParaRPr lang="en-US" dirty="0"/>
          </a:p>
          <a:p>
            <a:r>
              <a:rPr lang="en-US" dirty="0"/>
              <a:t>https://www.youtube.com/watch?v=YfPlcduQQ9w</a:t>
            </a:r>
          </a:p>
        </p:txBody>
      </p:sp>
      <p:sp>
        <p:nvSpPr>
          <p:cNvPr id="4" name="Slide Number Placeholder 3"/>
          <p:cNvSpPr>
            <a:spLocks noGrp="1"/>
          </p:cNvSpPr>
          <p:nvPr>
            <p:ph type="sldNum" sz="quarter" idx="5"/>
          </p:nvPr>
        </p:nvSpPr>
        <p:spPr/>
        <p:txBody>
          <a:bodyPr/>
          <a:lstStyle/>
          <a:p>
            <a:fld id="{DB82B219-F6D7-4AAE-B97C-9BBCDF797B33}" type="slidenum">
              <a:rPr lang="en-US" smtClean="0"/>
              <a:t>1</a:t>
            </a:fld>
            <a:endParaRPr lang="en-US"/>
          </a:p>
        </p:txBody>
      </p:sp>
    </p:spTree>
    <p:extLst>
      <p:ext uri="{BB962C8B-B14F-4D97-AF65-F5344CB8AC3E}">
        <p14:creationId xmlns:p14="http://schemas.microsoft.com/office/powerpoint/2010/main" val="1119244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spending money in retirement is so difficult, we have to look at the behavioral system we’ve built over the last 40 years. </a:t>
            </a:r>
          </a:p>
          <a:p>
            <a:pPr lvl="0"/>
            <a:r>
              <a:rPr lang="en-US" sz="1200" kern="1200" dirty="0">
                <a:solidFill>
                  <a:schemeClr val="tx1"/>
                </a:solidFill>
                <a:effectLst/>
                <a:latin typeface="+mn-lt"/>
                <a:ea typeface="+mn-ea"/>
                <a:cs typeface="+mn-cs"/>
              </a:rPr>
              <a:t>During our working years, we operate on </a:t>
            </a:r>
            <a:r>
              <a:rPr lang="en-US" sz="1200" b="1" kern="1200" dirty="0">
                <a:solidFill>
                  <a:schemeClr val="tx1"/>
                </a:solidFill>
                <a:effectLst/>
                <a:latin typeface="+mn-lt"/>
                <a:ea typeface="+mn-ea"/>
                <a:cs typeface="+mn-cs"/>
              </a:rPr>
              <a:t>Accumulation Autopilot</a:t>
            </a:r>
            <a:r>
              <a:rPr lang="en-US" sz="1200" kern="1200" dirty="0">
                <a:solidFill>
                  <a:schemeClr val="tx1"/>
                </a:solidFill>
                <a:effectLst/>
                <a:latin typeface="+mn-lt"/>
                <a:ea typeface="+mn-ea"/>
                <a:cs typeface="+mn-cs"/>
              </a:rPr>
              <a:t>. The system is loaded with behavioral helpers: default auto-enrollment in retirement plans, target-date funds that automatically rebalance risk, and employer matching programs. </a:t>
            </a:r>
          </a:p>
          <a:p>
            <a:pPr lvl="0"/>
            <a:r>
              <a:rPr lang="en-US" sz="1200" kern="1200" dirty="0">
                <a:solidFill>
                  <a:schemeClr val="tx1"/>
                </a:solidFill>
                <a:effectLst/>
                <a:latin typeface="+mn-lt"/>
                <a:ea typeface="+mn-ea"/>
                <a:cs typeface="+mn-cs"/>
              </a:rPr>
              <a:t>Then comes retirement, and retirees suddenly tumble into </a:t>
            </a:r>
            <a:r>
              <a:rPr lang="en-US" sz="1200" b="1" kern="1200" dirty="0">
                <a:solidFill>
                  <a:schemeClr val="tx1"/>
                </a:solidFill>
                <a:effectLst/>
                <a:latin typeface="+mn-lt"/>
                <a:ea typeface="+mn-ea"/>
                <a:cs typeface="+mn-cs"/>
              </a:rPr>
              <a:t>The Decumulation Void</a:t>
            </a:r>
            <a:r>
              <a:rPr lang="en-US" sz="1200" kern="1200" dirty="0">
                <a:solidFill>
                  <a:schemeClr val="tx1"/>
                </a:solidFill>
                <a:effectLst/>
                <a:latin typeface="+mn-lt"/>
                <a:ea typeface="+mn-ea"/>
                <a:cs typeface="+mn-cs"/>
              </a:rPr>
              <a:t>. Overnight, every single automated system turns off. </a:t>
            </a:r>
          </a:p>
          <a:p>
            <a:pPr lvl="0"/>
            <a:r>
              <a:rPr lang="en-US" sz="1200" kern="1200" dirty="0">
                <a:solidFill>
                  <a:schemeClr val="tx1"/>
                </a:solidFill>
                <a:effectLst/>
                <a:latin typeface="+mn-lt"/>
                <a:ea typeface="+mn-ea"/>
                <a:cs typeface="+mn-cs"/>
              </a:rPr>
              <a:t>Instead of automated guardrails, retirees are suddenly thrust into a maze of tax brackets, Medicare IRMAA surcharges, required minimum distributions (RMDs), and an overwhelming fear of outliving their assets. </a:t>
            </a:r>
          </a:p>
          <a:p>
            <a:pPr lvl="0"/>
            <a:r>
              <a:rPr lang="en-US" sz="1200" kern="1200" dirty="0">
                <a:solidFill>
                  <a:schemeClr val="tx1"/>
                </a:solidFill>
                <a:effectLst/>
                <a:latin typeface="+mn-lt"/>
                <a:ea typeface="+mn-ea"/>
                <a:cs typeface="+mn-cs"/>
              </a:rPr>
              <a:t>As Jean Chatzky points out, 'While we have these behavioral finance helpers built into accumulation... none of that stuff exists for spending.'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2</a:t>
            </a:fld>
            <a:endParaRPr lang="en-US"/>
          </a:p>
        </p:txBody>
      </p:sp>
    </p:spTree>
    <p:extLst>
      <p:ext uri="{BB962C8B-B14F-4D97-AF65-F5344CB8AC3E}">
        <p14:creationId xmlns:p14="http://schemas.microsoft.com/office/powerpoint/2010/main" val="16500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Why do retirees struggle so much to pull money out of standard brokerage or retirement accounts? </a:t>
            </a:r>
          </a:p>
          <a:p>
            <a:pPr lvl="0"/>
            <a:r>
              <a:rPr lang="en-US" sz="1200" kern="1200" dirty="0">
                <a:solidFill>
                  <a:schemeClr val="tx1"/>
                </a:solidFill>
                <a:effectLst/>
                <a:latin typeface="+mn-lt"/>
                <a:ea typeface="+mn-ea"/>
                <a:cs typeface="+mn-cs"/>
              </a:rPr>
              <a:t>It comes down to </a:t>
            </a:r>
            <a:r>
              <a:rPr lang="en-US" sz="1200" b="1" kern="1200" dirty="0">
                <a:solidFill>
                  <a:schemeClr val="tx1"/>
                </a:solidFill>
                <a:effectLst/>
                <a:latin typeface="+mn-lt"/>
                <a:ea typeface="+mn-ea"/>
                <a:cs typeface="+mn-cs"/>
              </a:rPr>
              <a:t>mental accounting</a:t>
            </a:r>
            <a:r>
              <a:rPr lang="en-US" sz="1200" kern="1200" dirty="0">
                <a:solidFill>
                  <a:schemeClr val="tx1"/>
                </a:solidFill>
                <a:effectLst/>
                <a:latin typeface="+mn-lt"/>
                <a:ea typeface="+mn-ea"/>
                <a:cs typeface="+mn-cs"/>
              </a:rPr>
              <a:t>. Under </a:t>
            </a:r>
            <a:r>
              <a:rPr lang="en-US" sz="1200" b="1" kern="1200" dirty="0">
                <a:solidFill>
                  <a:schemeClr val="tx1"/>
                </a:solidFill>
                <a:effectLst/>
                <a:latin typeface="+mn-lt"/>
                <a:ea typeface="+mn-ea"/>
                <a:cs typeface="+mn-cs"/>
              </a:rPr>
              <a:t>Model A (The Paycheck)</a:t>
            </a:r>
            <a:r>
              <a:rPr lang="en-US" sz="1200" kern="1200" dirty="0">
                <a:solidFill>
                  <a:schemeClr val="tx1"/>
                </a:solidFill>
                <a:effectLst/>
                <a:latin typeface="+mn-lt"/>
                <a:ea typeface="+mn-ea"/>
                <a:cs typeface="+mn-cs"/>
              </a:rPr>
              <a:t>, we spend income naturally. A recurring paycheck creates psychological security because we know another payment arrives in two weeks to replenish the balance. </a:t>
            </a:r>
          </a:p>
          <a:p>
            <a:pPr lvl="0"/>
            <a:r>
              <a:rPr lang="en-US" sz="1200" kern="1200" dirty="0">
                <a:solidFill>
                  <a:schemeClr val="tx1"/>
                </a:solidFill>
                <a:effectLst/>
                <a:latin typeface="+mn-lt"/>
                <a:ea typeface="+mn-ea"/>
                <a:cs typeface="+mn-cs"/>
              </a:rPr>
              <a:t>Under </a:t>
            </a:r>
            <a:r>
              <a:rPr lang="en-US" sz="1200" b="1" kern="1200" dirty="0">
                <a:solidFill>
                  <a:schemeClr val="tx1"/>
                </a:solidFill>
                <a:effectLst/>
                <a:latin typeface="+mn-lt"/>
                <a:ea typeface="+mn-ea"/>
                <a:cs typeface="+mn-cs"/>
              </a:rPr>
              <a:t>Model B (The Asset)</a:t>
            </a:r>
            <a:r>
              <a:rPr lang="en-US" sz="1200" kern="1200" dirty="0">
                <a:solidFill>
                  <a:schemeClr val="tx1"/>
                </a:solidFill>
                <a:effectLst/>
                <a:latin typeface="+mn-lt"/>
                <a:ea typeface="+mn-ea"/>
                <a:cs typeface="+mn-cs"/>
              </a:rPr>
              <a:t>, we view a nest egg as a static block—a melting ice cube. Most retirees anchor emotionally to their peak net-worth figure. </a:t>
            </a:r>
          </a:p>
          <a:p>
            <a:pPr lvl="0"/>
            <a:r>
              <a:rPr lang="en-US" sz="1200" kern="1200" dirty="0">
                <a:solidFill>
                  <a:schemeClr val="tx1"/>
                </a:solidFill>
                <a:effectLst/>
                <a:latin typeface="+mn-lt"/>
                <a:ea typeface="+mn-ea"/>
                <a:cs typeface="+mn-cs"/>
              </a:rPr>
              <a:t>Jean Chatzky shares a personal story about her mother: Her mother inherited a $1.6M portfolio, had pensions and Social Security, yet refused to touch a single dollar of the $1.6M principal because watching that asset shrink felt like failure. </a:t>
            </a:r>
          </a:p>
          <a:p>
            <a:pPr lvl="0"/>
            <a:r>
              <a:rPr lang="en-US" sz="1200" kern="1200" dirty="0">
                <a:solidFill>
                  <a:schemeClr val="tx1"/>
                </a:solidFill>
                <a:effectLst/>
                <a:latin typeface="+mn-lt"/>
                <a:ea typeface="+mn-ea"/>
                <a:cs typeface="+mn-cs"/>
              </a:rPr>
              <a:t>When she passed away 20 years later, she still had over $1.6 million. Watching a fixed balance drop creates friction and anxiety, even when spending down principal was the intent all along.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3</a:t>
            </a:fld>
            <a:endParaRPr lang="en-US"/>
          </a:p>
        </p:txBody>
      </p:sp>
    </p:spTree>
    <p:extLst>
      <p:ext uri="{BB962C8B-B14F-4D97-AF65-F5344CB8AC3E}">
        <p14:creationId xmlns:p14="http://schemas.microsoft.com/office/powerpoint/2010/main" val="179396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we overcome this fear? Research by David Blanchett and Michael Finke reveals a striking finding: retirees with guaranteed income streams (paychecks) spend </a:t>
            </a:r>
            <a:r>
              <a:rPr lang="en-US" sz="1200" b="1" kern="1200" dirty="0">
                <a:solidFill>
                  <a:schemeClr val="tx1"/>
                </a:solidFill>
                <a:effectLst/>
                <a:latin typeface="+mn-lt"/>
                <a:ea typeface="+mn-ea"/>
                <a:cs typeface="+mn-cs"/>
              </a:rPr>
              <a:t>twice as much</a:t>
            </a:r>
            <a:r>
              <a:rPr lang="en-US" sz="1200" kern="1200" dirty="0">
                <a:solidFill>
                  <a:schemeClr val="tx1"/>
                </a:solidFill>
                <a:effectLst/>
                <a:latin typeface="+mn-lt"/>
                <a:ea typeface="+mn-ea"/>
                <a:cs typeface="+mn-cs"/>
              </a:rPr>
              <a:t> as those with equal wealth stored in standard brokerage accounts. </a:t>
            </a:r>
          </a:p>
          <a:p>
            <a:pPr lvl="0"/>
            <a:r>
              <a:rPr lang="en-US" sz="1200" kern="1200" dirty="0">
                <a:solidFill>
                  <a:schemeClr val="tx1"/>
                </a:solidFill>
                <a:effectLst/>
                <a:latin typeface="+mn-lt"/>
                <a:ea typeface="+mn-ea"/>
                <a:cs typeface="+mn-cs"/>
              </a:rPr>
              <a:t>Because guaranteed income provides psychological permission to spend, we structure the portfolio into two core components: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The Foundation:</a:t>
            </a:r>
            <a:r>
              <a:rPr lang="en-US" sz="1200" kern="1200" dirty="0">
                <a:solidFill>
                  <a:schemeClr val="tx1"/>
                </a:solidFill>
                <a:effectLst/>
                <a:latin typeface="+mn-lt"/>
                <a:ea typeface="+mn-ea"/>
                <a:cs typeface="+mn-cs"/>
              </a:rPr>
              <a:t> Allocate 20% to 30% of total portfolio assets into guaranteed fixed income (alongside Social Security). This creates an income floor covering non-negotiable living costs.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The Growth Engine:</a:t>
            </a:r>
            <a:r>
              <a:rPr lang="en-US" sz="1200" kern="1200" dirty="0">
                <a:solidFill>
                  <a:schemeClr val="tx1"/>
                </a:solidFill>
                <a:effectLst/>
                <a:latin typeface="+mn-lt"/>
                <a:ea typeface="+mn-ea"/>
                <a:cs typeface="+mn-cs"/>
              </a:rPr>
              <a:t> Leave the remaining 70% to 80% invested in equities to hedge against long-term inflation and taxes. </a:t>
            </a:r>
          </a:p>
          <a:p>
            <a:pPr lvl="0"/>
            <a:r>
              <a:rPr lang="en-US" sz="1200" kern="1200" dirty="0">
                <a:solidFill>
                  <a:schemeClr val="tx1"/>
                </a:solidFill>
                <a:effectLst/>
                <a:latin typeface="+mn-lt"/>
                <a:ea typeface="+mn-ea"/>
                <a:cs typeface="+mn-cs"/>
              </a:rPr>
              <a:t>By converting a portion of assets into guaranteed lifetime paychecks, retirees eliminate the fear of asset depletion and freely enjoy their lifestyle.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4</a:t>
            </a:fld>
            <a:endParaRPr lang="en-US"/>
          </a:p>
        </p:txBody>
      </p:sp>
    </p:spTree>
    <p:extLst>
      <p:ext uri="{BB962C8B-B14F-4D97-AF65-F5344CB8AC3E}">
        <p14:creationId xmlns:p14="http://schemas.microsoft.com/office/powerpoint/2010/main" val="2814653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considering annuities to establish this baseline floor, it’s vital to understand product categories and avoid missteps. </a:t>
            </a:r>
          </a:p>
          <a:p>
            <a:pPr lvl="0"/>
            <a:r>
              <a:rPr lang="en-US" sz="1200" b="1" kern="1200" dirty="0">
                <a:solidFill>
                  <a:schemeClr val="tx1"/>
                </a:solidFill>
                <a:effectLst/>
                <a:latin typeface="+mn-lt"/>
                <a:ea typeface="+mn-ea"/>
                <a:cs typeface="+mn-cs"/>
              </a:rPr>
              <a:t>Fixed Annuities:</a:t>
            </a:r>
            <a:r>
              <a:rPr lang="en-US" sz="1200" kern="1200" dirty="0">
                <a:solidFill>
                  <a:schemeClr val="tx1"/>
                </a:solidFill>
                <a:effectLst/>
                <a:latin typeface="+mn-lt"/>
                <a:ea typeface="+mn-ea"/>
                <a:cs typeface="+mn-cs"/>
              </a:rPr>
              <a:t> These provide principal protection. You cannot lose money due to market fluctuations, making them ideal for building a predictable income floor. </a:t>
            </a:r>
          </a:p>
          <a:p>
            <a:pPr lvl="0"/>
            <a:r>
              <a:rPr lang="en-US" sz="1200" b="1" kern="1200" dirty="0">
                <a:solidFill>
                  <a:schemeClr val="tx1"/>
                </a:solidFill>
                <a:effectLst/>
                <a:latin typeface="+mn-lt"/>
                <a:ea typeface="+mn-ea"/>
                <a:cs typeface="+mn-cs"/>
              </a:rPr>
              <a:t>Variable / RILAs (Registered Index-Linked Annuities):</a:t>
            </a:r>
            <a:r>
              <a:rPr lang="en-US" sz="1200" kern="1200" dirty="0">
                <a:solidFill>
                  <a:schemeClr val="tx1"/>
                </a:solidFill>
                <a:effectLst/>
                <a:latin typeface="+mn-lt"/>
                <a:ea typeface="+mn-ea"/>
                <a:cs typeface="+mn-cs"/>
              </a:rPr>
              <a:t> These are tied to market indices, offering growth upside but exposing principal to potential loss. </a:t>
            </a:r>
          </a:p>
          <a:p>
            <a:pPr lvl="0"/>
            <a:r>
              <a:rPr lang="en-US" sz="1200" b="1" kern="1200" dirty="0">
                <a:solidFill>
                  <a:schemeClr val="tx1"/>
                </a:solidFill>
                <a:effectLst/>
                <a:latin typeface="+mn-lt"/>
                <a:ea typeface="+mn-ea"/>
                <a:cs typeface="+mn-cs"/>
              </a:rPr>
              <a:t>Golden Rules for Implementation:</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Never allocate your entire net worth into an annuity—stick to the 20-30% rule for fixed needs. </a:t>
            </a:r>
          </a:p>
          <a:p>
            <a:pPr marL="228600" lvl="0" indent="-228600">
              <a:buFont typeface="+mj-lt"/>
              <a:buAutoNum type="arabicPeriod"/>
            </a:pPr>
            <a:r>
              <a:rPr lang="en-US" sz="1200" kern="1200" dirty="0">
                <a:solidFill>
                  <a:schemeClr val="tx1"/>
                </a:solidFill>
                <a:effectLst/>
                <a:latin typeface="+mn-lt"/>
                <a:ea typeface="+mn-ea"/>
                <a:cs typeface="+mn-cs"/>
              </a:rPr>
              <a:t>Only use top-rated insurance underwriters (rated 'A' or higher by rating agencies). </a:t>
            </a:r>
          </a:p>
          <a:p>
            <a:pPr marL="228600" lvl="0" indent="-228600">
              <a:buFont typeface="+mj-lt"/>
              <a:buAutoNum type="arabicPeriod"/>
            </a:pPr>
            <a:r>
              <a:rPr lang="en-US" sz="1200" kern="1200" dirty="0">
                <a:solidFill>
                  <a:schemeClr val="tx1"/>
                </a:solidFill>
                <a:effectLst/>
                <a:latin typeface="+mn-lt"/>
                <a:ea typeface="+mn-ea"/>
                <a:cs typeface="+mn-cs"/>
              </a:rPr>
              <a:t>Always ask advisors about product transparency and underlying assets.</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5</a:t>
            </a:fld>
            <a:endParaRPr lang="en-US"/>
          </a:p>
        </p:txBody>
      </p:sp>
    </p:spTree>
    <p:extLst>
      <p:ext uri="{BB962C8B-B14F-4D97-AF65-F5344CB8AC3E}">
        <p14:creationId xmlns:p14="http://schemas.microsoft.com/office/powerpoint/2010/main" val="955856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question from index investors is: Why buy an annuity when I can build a Treasury Inflation-Protected Securities (TIPS) ladder? </a:t>
            </a:r>
          </a:p>
          <a:p>
            <a:pPr lvl="0"/>
            <a:r>
              <a:rPr lang="en-US" sz="1200" kern="1200" dirty="0">
                <a:solidFill>
                  <a:schemeClr val="tx1"/>
                </a:solidFill>
                <a:effectLst/>
                <a:latin typeface="+mn-lt"/>
                <a:ea typeface="+mn-ea"/>
                <a:cs typeface="+mn-cs"/>
              </a:rPr>
              <a:t>Let's compare these two approaches across key criteria: </a:t>
            </a:r>
          </a:p>
          <a:p>
            <a:pPr lvl="0"/>
            <a:r>
              <a:rPr lang="en-US" sz="1200" b="1" kern="1200" dirty="0">
                <a:solidFill>
                  <a:schemeClr val="tx1"/>
                </a:solidFill>
                <a:effectLst/>
                <a:latin typeface="+mn-lt"/>
                <a:ea typeface="+mn-ea"/>
                <a:cs typeface="+mn-cs"/>
              </a:rPr>
              <a:t>Longevity Risk:</a:t>
            </a:r>
            <a:r>
              <a:rPr lang="en-US" sz="1200" kern="1200" dirty="0">
                <a:solidFill>
                  <a:schemeClr val="tx1"/>
                </a:solidFill>
                <a:effectLst/>
                <a:latin typeface="+mn-lt"/>
                <a:ea typeface="+mn-ea"/>
                <a:cs typeface="+mn-cs"/>
              </a:rPr>
              <a:t> TIPS ladders offer no lifetime guarantee; payments stop when the ladder ends. Annuities provide lifelong income regardless of how long you live. </a:t>
            </a:r>
          </a:p>
          <a:p>
            <a:pPr lvl="0"/>
            <a:r>
              <a:rPr lang="en-US" sz="1200" b="1" kern="1200" dirty="0">
                <a:solidFill>
                  <a:schemeClr val="tx1"/>
                </a:solidFill>
                <a:effectLst/>
                <a:latin typeface="+mn-lt"/>
                <a:ea typeface="+mn-ea"/>
                <a:cs typeface="+mn-cs"/>
              </a:rPr>
              <a:t>Interest Rate Risk:</a:t>
            </a:r>
            <a:r>
              <a:rPr lang="en-US" sz="1200" kern="1200" dirty="0">
                <a:solidFill>
                  <a:schemeClr val="tx1"/>
                </a:solidFill>
                <a:effectLst/>
                <a:latin typeface="+mn-lt"/>
                <a:ea typeface="+mn-ea"/>
                <a:cs typeface="+mn-cs"/>
              </a:rPr>
              <a:t> TIPS face reinvestment risk as individual bond rungs mature. Fixed annuities lock in payout rates at purchase. </a:t>
            </a:r>
          </a:p>
          <a:p>
            <a:pPr lvl="0"/>
            <a:r>
              <a:rPr lang="en-US" sz="1200" b="1" kern="1200" dirty="0">
                <a:solidFill>
                  <a:schemeClr val="tx1"/>
                </a:solidFill>
                <a:effectLst/>
                <a:latin typeface="+mn-lt"/>
                <a:ea typeface="+mn-ea"/>
                <a:cs typeface="+mn-cs"/>
              </a:rPr>
              <a:t>Psychology &amp; FOMO:</a:t>
            </a:r>
            <a:r>
              <a:rPr lang="en-US" sz="1200" kern="1200" dirty="0">
                <a:solidFill>
                  <a:schemeClr val="tx1"/>
                </a:solidFill>
                <a:effectLst/>
                <a:latin typeface="+mn-lt"/>
                <a:ea typeface="+mn-ea"/>
                <a:cs typeface="+mn-cs"/>
              </a:rPr>
              <a:t> TIPS remain liquid, whereas annuities lock up capital. If you suffer from FOMO when equity markets perform well, a pure total return or investment-ladder strategy may better suit your personality.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6</a:t>
            </a:fld>
            <a:endParaRPr lang="en-US"/>
          </a:p>
        </p:txBody>
      </p:sp>
    </p:spTree>
    <p:extLst>
      <p:ext uri="{BB962C8B-B14F-4D97-AF65-F5344CB8AC3E}">
        <p14:creationId xmlns:p14="http://schemas.microsoft.com/office/powerpoint/2010/main" val="664515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Before purchasing commercial financial products, maximize your primary built-in annuity: </a:t>
            </a:r>
            <a:r>
              <a:rPr lang="en-US" sz="1200" b="1" kern="1200" dirty="0">
                <a:solidFill>
                  <a:schemeClr val="tx1"/>
                </a:solidFill>
                <a:effectLst/>
                <a:latin typeface="+mn-lt"/>
                <a:ea typeface="+mn-ea"/>
                <a:cs typeface="+mn-cs"/>
              </a:rPr>
              <a:t>Social Security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Claiming at age 62 permanently reduces your benefit baseline. Delaying past full retirement age yields a guaranteed 7% to 8% annual increase in payout for every year delayed up to age 70. </a:t>
            </a:r>
          </a:p>
          <a:p>
            <a:pPr lvl="0"/>
            <a:r>
              <a:rPr lang="en-US" sz="1200" kern="1200" dirty="0">
                <a:solidFill>
                  <a:schemeClr val="tx1"/>
                </a:solidFill>
                <a:effectLst/>
                <a:latin typeface="+mn-lt"/>
                <a:ea typeface="+mn-ea"/>
                <a:cs typeface="+mn-cs"/>
              </a:rPr>
              <a:t>Social Security provides an inflation-adjusted pension backed by the federal government, featuring true CPI-based Cost-of-Living Adjustments (COLA). </a:t>
            </a:r>
          </a:p>
          <a:p>
            <a:pPr lvl="0"/>
            <a:r>
              <a:rPr lang="en-US" sz="1200" kern="1200" dirty="0">
                <a:solidFill>
                  <a:schemeClr val="tx1"/>
                </a:solidFill>
                <a:effectLst/>
                <a:latin typeface="+mn-lt"/>
                <a:ea typeface="+mn-ea"/>
                <a:cs typeface="+mn-cs"/>
              </a:rPr>
              <a:t>For clients in reasonably good health expecting average or above-average longevity, delaying Social Security to age 70 serves as the foundation of an effective decumulation plan.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7</a:t>
            </a:fld>
            <a:endParaRPr lang="en-US"/>
          </a:p>
        </p:txBody>
      </p:sp>
    </p:spTree>
    <p:extLst>
      <p:ext uri="{BB962C8B-B14F-4D97-AF65-F5344CB8AC3E}">
        <p14:creationId xmlns:p14="http://schemas.microsoft.com/office/powerpoint/2010/main" val="2874105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delaying Social Security to age 70 is ideal, how do retirees cover expenses during the 5-year gap after stopping work at age 65? </a:t>
            </a:r>
          </a:p>
          <a:p>
            <a:pPr lvl="0"/>
            <a:r>
              <a:rPr lang="en-US" sz="1200" kern="1200" dirty="0">
                <a:solidFill>
                  <a:schemeClr val="tx1"/>
                </a:solidFill>
                <a:effectLst/>
                <a:latin typeface="+mn-lt"/>
                <a:ea typeface="+mn-ea"/>
                <a:cs typeface="+mn-cs"/>
              </a:rPr>
              <a:t>Here are three practical bridging strategies: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Phased-In Work:</a:t>
            </a:r>
            <a:r>
              <a:rPr lang="en-US" sz="1200" kern="1200" dirty="0">
                <a:solidFill>
                  <a:schemeClr val="tx1"/>
                </a:solidFill>
                <a:effectLst/>
                <a:latin typeface="+mn-lt"/>
                <a:ea typeface="+mn-ea"/>
                <a:cs typeface="+mn-cs"/>
              </a:rPr>
              <a:t> Transition into part-time work or consulting. Generating modest earned income reduces portfolio draws while maintaining social connections.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Tax-Deferred Account Drawdowns:</a:t>
            </a:r>
            <a:r>
              <a:rPr lang="en-US" sz="1200" kern="1200" dirty="0">
                <a:solidFill>
                  <a:schemeClr val="tx1"/>
                </a:solidFill>
                <a:effectLst/>
                <a:latin typeface="+mn-lt"/>
                <a:ea typeface="+mn-ea"/>
                <a:cs typeface="+mn-cs"/>
              </a:rPr>
              <a:t> Strategic withdrawals from traditional IRAs or 401(k)s during lower-income gap years can be taxed at lower rates before RMDs begin.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The Bridge Annuity:</a:t>
            </a:r>
            <a:r>
              <a:rPr lang="en-US" sz="1200" kern="1200" dirty="0">
                <a:solidFill>
                  <a:schemeClr val="tx1"/>
                </a:solidFill>
                <a:effectLst/>
                <a:latin typeface="+mn-lt"/>
                <a:ea typeface="+mn-ea"/>
                <a:cs typeface="+mn-cs"/>
              </a:rPr>
              <a:t> Purchase a short-term, fixed-period annuity structured to pay income for exactly 5 years, terminating when Social Security begins.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8</a:t>
            </a:fld>
            <a:endParaRPr lang="en-US"/>
          </a:p>
        </p:txBody>
      </p:sp>
    </p:spTree>
    <p:extLst>
      <p:ext uri="{BB962C8B-B14F-4D97-AF65-F5344CB8AC3E}">
        <p14:creationId xmlns:p14="http://schemas.microsoft.com/office/powerpoint/2010/main" val="1299886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Sequence of Returns Risk</a:t>
            </a:r>
            <a:r>
              <a:rPr lang="en-US" sz="1200" kern="1200" dirty="0">
                <a:solidFill>
                  <a:schemeClr val="tx1"/>
                </a:solidFill>
                <a:effectLst/>
                <a:latin typeface="+mn-lt"/>
                <a:ea typeface="+mn-ea"/>
                <a:cs typeface="+mn-cs"/>
              </a:rPr>
              <a:t> is a major threat in early retirement. Experiencing a market downturn during years 1–3 forces you to sell depreciated assets to fund living expenses, permanently impairing portfolio longevity. </a:t>
            </a:r>
          </a:p>
          <a:p>
            <a:pPr lvl="0"/>
            <a:r>
              <a:rPr lang="en-US" sz="1200" kern="1200" dirty="0">
                <a:solidFill>
                  <a:schemeClr val="tx1"/>
                </a:solidFill>
                <a:effectLst/>
                <a:latin typeface="+mn-lt"/>
                <a:ea typeface="+mn-ea"/>
                <a:cs typeface="+mn-cs"/>
              </a:rPr>
              <a:t>Morningstar estimates safe initial withdrawal rates around 3.3% to 4.0% under static models. </a:t>
            </a:r>
          </a:p>
          <a:p>
            <a:pPr lvl="0"/>
            <a:r>
              <a:rPr lang="en-US" sz="1200" b="1" kern="1200" dirty="0">
                <a:solidFill>
                  <a:schemeClr val="tx1"/>
                </a:solidFill>
                <a:effectLst/>
                <a:latin typeface="+mn-lt"/>
                <a:ea typeface="+mn-ea"/>
                <a:cs typeface="+mn-cs"/>
              </a:rPr>
              <a:t>The Antidote: Dynamic Spending Flexibility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When your baseline needs are fully covered by guaranteed paychecks, you gain total flexibility over discretionary spending. </a:t>
            </a:r>
          </a:p>
          <a:p>
            <a:pPr lvl="0"/>
            <a:r>
              <a:rPr lang="en-US" sz="1200" kern="1200" dirty="0">
                <a:solidFill>
                  <a:schemeClr val="tx1"/>
                </a:solidFill>
                <a:effectLst/>
                <a:latin typeface="+mn-lt"/>
                <a:ea typeface="+mn-ea"/>
                <a:cs typeface="+mn-cs"/>
              </a:rPr>
              <a:t>During market downturns, you can easily reduce discretionary travel or delay major purchases without compromising your core lifestyle or selling equities at bottom prices.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9</a:t>
            </a:fld>
            <a:endParaRPr lang="en-US"/>
          </a:p>
        </p:txBody>
      </p:sp>
    </p:spTree>
    <p:extLst>
      <p:ext uri="{BB962C8B-B14F-4D97-AF65-F5344CB8AC3E}">
        <p14:creationId xmlns:p14="http://schemas.microsoft.com/office/powerpoint/2010/main" val="444060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Financial security is useless if partners lack alignment on how daily life will look. </a:t>
            </a:r>
          </a:p>
          <a:p>
            <a:pPr lvl="0"/>
            <a:r>
              <a:rPr lang="en-US" sz="1200" kern="1200" dirty="0">
                <a:solidFill>
                  <a:schemeClr val="tx1"/>
                </a:solidFill>
                <a:effectLst/>
                <a:latin typeface="+mn-lt"/>
                <a:ea typeface="+mn-ea"/>
                <a:cs typeface="+mn-cs"/>
              </a:rPr>
              <a:t>Research indicates that </a:t>
            </a:r>
            <a:r>
              <a:rPr lang="en-US" sz="1200" b="1" kern="1200" dirty="0">
                <a:solidFill>
                  <a:schemeClr val="tx1"/>
                </a:solidFill>
                <a:effectLst/>
                <a:latin typeface="+mn-lt"/>
                <a:ea typeface="+mn-ea"/>
                <a:cs typeface="+mn-cs"/>
              </a:rPr>
              <a:t>only 6 in 10 couples share a common vision</a:t>
            </a:r>
            <a:r>
              <a:rPr lang="en-US" sz="1200" kern="1200" dirty="0">
                <a:solidFill>
                  <a:schemeClr val="tx1"/>
                </a:solidFill>
                <a:effectLst/>
                <a:latin typeface="+mn-lt"/>
                <a:ea typeface="+mn-ea"/>
                <a:cs typeface="+mn-cs"/>
              </a:rPr>
              <a:t> for life in retirement. </a:t>
            </a:r>
          </a:p>
          <a:p>
            <a:pPr lvl="0"/>
            <a:r>
              <a:rPr lang="en-US" sz="1200" kern="1200" dirty="0">
                <a:solidFill>
                  <a:schemeClr val="tx1"/>
                </a:solidFill>
                <a:effectLst/>
                <a:latin typeface="+mn-lt"/>
                <a:ea typeface="+mn-ea"/>
                <a:cs typeface="+mn-cs"/>
              </a:rPr>
              <a:t>Jean Chatzky highlights a </a:t>
            </a:r>
            <a:r>
              <a:rPr lang="en-US" sz="1200" i="1" kern="1200" dirty="0">
                <a:solidFill>
                  <a:schemeClr val="tx1"/>
                </a:solidFill>
                <a:effectLst/>
                <a:latin typeface="+mn-lt"/>
                <a:ea typeface="+mn-ea"/>
                <a:cs typeface="+mn-cs"/>
              </a:rPr>
              <a:t>Wall Street Journal</a:t>
            </a:r>
            <a:r>
              <a:rPr lang="en-US" sz="1200" kern="1200" dirty="0">
                <a:solidFill>
                  <a:schemeClr val="tx1"/>
                </a:solidFill>
                <a:effectLst/>
                <a:latin typeface="+mn-lt"/>
                <a:ea typeface="+mn-ea"/>
                <a:cs typeface="+mn-cs"/>
              </a:rPr>
              <a:t> case study where one partner wanted to travel the world, while the other wanted to walk to the local library and watch baseball games. </a:t>
            </a:r>
          </a:p>
          <a:p>
            <a:pPr lvl="0"/>
            <a:r>
              <a:rPr lang="en-US" sz="1200" kern="1200" dirty="0">
                <a:solidFill>
                  <a:schemeClr val="tx1"/>
                </a:solidFill>
                <a:effectLst/>
                <a:latin typeface="+mn-lt"/>
                <a:ea typeface="+mn-ea"/>
                <a:cs typeface="+mn-cs"/>
              </a:rPr>
              <a:t>The Solution: Divide &amp; Conquer. Couples do not need to spend every hour together in retirement. Granting each other permission to pursue independent hobbies and trips preserves marital harmony and individual identity.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10</a:t>
            </a:fld>
            <a:endParaRPr lang="en-US"/>
          </a:p>
        </p:txBody>
      </p:sp>
    </p:spTree>
    <p:extLst>
      <p:ext uri="{BB962C8B-B14F-4D97-AF65-F5344CB8AC3E}">
        <p14:creationId xmlns:p14="http://schemas.microsoft.com/office/powerpoint/2010/main" val="3797711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Retirement progresses through three main phases: </a:t>
            </a:r>
            <a:r>
              <a:rPr lang="en-US" sz="1200" b="1" kern="1200" dirty="0">
                <a:solidFill>
                  <a:schemeClr val="tx1"/>
                </a:solidFill>
                <a:effectLst/>
                <a:latin typeface="+mn-lt"/>
                <a:ea typeface="+mn-ea"/>
                <a:cs typeface="+mn-cs"/>
              </a:rPr>
              <a:t>Go-Go</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Slow-Go</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No-Go</a:t>
            </a:r>
            <a:r>
              <a:rPr lang="en-US" sz="1200" kern="1200" dirty="0">
                <a:solidFill>
                  <a:schemeClr val="tx1"/>
                </a:solidFill>
                <a:effectLst/>
                <a:latin typeface="+mn-lt"/>
                <a:ea typeface="+mn-ea"/>
                <a:cs typeface="+mn-cs"/>
              </a:rPr>
              <a:t>. However, experts identify a fourth trap: the </a:t>
            </a:r>
            <a:r>
              <a:rPr lang="en-US" sz="1200" b="1" kern="1200" dirty="0">
                <a:solidFill>
                  <a:schemeClr val="tx1"/>
                </a:solidFill>
                <a:effectLst/>
                <a:latin typeface="+mn-lt"/>
                <a:ea typeface="+mn-ea"/>
                <a:cs typeface="+mn-cs"/>
              </a:rPr>
              <a:t>'Won't-Go' Phase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This risk disproportionately affects men, who frequently rely on workplace structures for social networks and validation. </a:t>
            </a:r>
          </a:p>
          <a:p>
            <a:pPr lvl="0"/>
            <a:r>
              <a:rPr lang="en-US" sz="1200" kern="1200" dirty="0">
                <a:solidFill>
                  <a:schemeClr val="tx1"/>
                </a:solidFill>
                <a:effectLst/>
                <a:latin typeface="+mn-lt"/>
                <a:ea typeface="+mn-ea"/>
                <a:cs typeface="+mn-cs"/>
              </a:rPr>
              <a:t>Retiring to the couch leads to rapid physical, emotional, and cognitive decline. </a:t>
            </a:r>
          </a:p>
          <a:p>
            <a:pPr lvl="0"/>
            <a:r>
              <a:rPr lang="en-US" sz="1200" b="1" kern="1200" dirty="0">
                <a:solidFill>
                  <a:schemeClr val="tx1"/>
                </a:solidFill>
                <a:effectLst/>
                <a:latin typeface="+mn-lt"/>
                <a:ea typeface="+mn-ea"/>
                <a:cs typeface="+mn-cs"/>
              </a:rPr>
              <a:t>Actionable Steps:</a:t>
            </a:r>
            <a:r>
              <a:rPr lang="en-US" sz="1200" kern="1200" dirty="0">
                <a:solidFill>
                  <a:schemeClr val="tx1"/>
                </a:solidFill>
                <a:effectLst/>
                <a:latin typeface="+mn-lt"/>
                <a:ea typeface="+mn-ea"/>
                <a:cs typeface="+mn-cs"/>
              </a:rPr>
              <a:t> Before retiring, build social connections outside of work—audit university courses, volunteer, join clubs, or transition through part-time work to maintain purpose.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11</a:t>
            </a:fld>
            <a:endParaRPr lang="en-US"/>
          </a:p>
        </p:txBody>
      </p:sp>
    </p:spTree>
    <p:extLst>
      <p:ext uri="{BB962C8B-B14F-4D97-AF65-F5344CB8AC3E}">
        <p14:creationId xmlns:p14="http://schemas.microsoft.com/office/powerpoint/2010/main" val="2785890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a:t>
            </a:r>
            <a:r>
              <a:rPr lang="en-US" sz="1200" kern="1200" dirty="0" err="1">
                <a:solidFill>
                  <a:schemeClr val="tx1"/>
                </a:solidFill>
                <a:effectLst/>
                <a:latin typeface="+mn-lt"/>
                <a:ea typeface="+mn-ea"/>
                <a:cs typeface="+mn-cs"/>
              </a:rPr>
              <a:t>decumulators</a:t>
            </a:r>
            <a:r>
              <a:rPr lang="en-US" sz="1200" kern="1200" dirty="0">
                <a:solidFill>
                  <a:schemeClr val="tx1"/>
                </a:solidFill>
                <a:effectLst/>
                <a:latin typeface="+mn-lt"/>
                <a:ea typeface="+mn-ea"/>
                <a:cs typeface="+mn-cs"/>
              </a:rPr>
              <a:t> age, we must protect both their mental health and financial security against two significant threats: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Cognitive Decline:</a:t>
            </a:r>
            <a:r>
              <a:rPr lang="en-US" sz="1200" kern="1200" dirty="0">
                <a:solidFill>
                  <a:schemeClr val="tx1"/>
                </a:solidFill>
                <a:effectLst/>
                <a:latin typeface="+mn-lt"/>
                <a:ea typeface="+mn-ea"/>
                <a:cs typeface="+mn-cs"/>
              </a:rPr>
              <a:t> Financial decision-making capabilities often drop 5 to 10 years before a formal clinical diagnosis of dementia occurs.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Romance &amp; Isolation Scams:</a:t>
            </a:r>
            <a:r>
              <a:rPr lang="en-US" sz="1200" kern="1200" dirty="0">
                <a:solidFill>
                  <a:schemeClr val="tx1"/>
                </a:solidFill>
                <a:effectLst/>
                <a:latin typeface="+mn-lt"/>
                <a:ea typeface="+mn-ea"/>
                <a:cs typeface="+mn-cs"/>
              </a:rPr>
              <a:t> Bad actors prey on isolated seniors, offering emotional validation to extract money. </a:t>
            </a:r>
          </a:p>
          <a:p>
            <a:pPr lvl="0"/>
            <a:r>
              <a:rPr lang="en-US" sz="1200" b="1" kern="1200" dirty="0">
                <a:solidFill>
                  <a:schemeClr val="tx1"/>
                </a:solidFill>
                <a:effectLst/>
                <a:latin typeface="+mn-lt"/>
                <a:ea typeface="+mn-ea"/>
                <a:cs typeface="+mn-cs"/>
              </a:rPr>
              <a:t>The Defense Architecture: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Establish a </a:t>
            </a:r>
            <a:r>
              <a:rPr lang="en-US" sz="1200" b="1" kern="1200" dirty="0">
                <a:solidFill>
                  <a:schemeClr val="tx1"/>
                </a:solidFill>
                <a:effectLst/>
                <a:latin typeface="+mn-lt"/>
                <a:ea typeface="+mn-ea"/>
                <a:cs typeface="+mn-cs"/>
              </a:rPr>
              <a:t>Trusted Contact</a:t>
            </a:r>
            <a:r>
              <a:rPr lang="en-US" sz="1200" kern="1200" dirty="0">
                <a:solidFill>
                  <a:schemeClr val="tx1"/>
                </a:solidFill>
                <a:effectLst/>
                <a:latin typeface="+mn-lt"/>
                <a:ea typeface="+mn-ea"/>
                <a:cs typeface="+mn-cs"/>
              </a:rPr>
              <a:t> on all financial accounts so custodians can alert loved ones to unusual activity.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Work with a neutral financial advisor who can deliver objective guidance when family discussions become difficult.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12</a:t>
            </a:fld>
            <a:endParaRPr lang="en-US"/>
          </a:p>
        </p:txBody>
      </p:sp>
    </p:spTree>
    <p:extLst>
      <p:ext uri="{BB962C8B-B14F-4D97-AF65-F5344CB8AC3E}">
        <p14:creationId xmlns:p14="http://schemas.microsoft.com/office/powerpoint/2010/main" val="2643577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ultimate goal of securing a Forever Paycheck isn't just avoiding poverty—it's </a:t>
            </a:r>
            <a:r>
              <a:rPr lang="en-US" sz="1200" b="1" kern="1200" dirty="0">
                <a:solidFill>
                  <a:schemeClr val="tx1"/>
                </a:solidFill>
                <a:effectLst/>
                <a:latin typeface="+mn-lt"/>
                <a:ea typeface="+mn-ea"/>
                <a:cs typeface="+mn-cs"/>
              </a:rPr>
              <a:t>unlocking permission to enjoy life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Giving While Living:</a:t>
            </a:r>
            <a:r>
              <a:rPr lang="en-US" sz="1200" kern="1200" dirty="0">
                <a:solidFill>
                  <a:schemeClr val="tx1"/>
                </a:solidFill>
                <a:effectLst/>
                <a:latin typeface="+mn-lt"/>
                <a:ea typeface="+mn-ea"/>
                <a:cs typeface="+mn-cs"/>
              </a:rPr>
              <a:t> With guaranteed baseline expenses covered, you can comfortably assist adult children when they need it most (e.g., home down payments or 529 funds at age 30) rather than passing down an inheritance at age 60. </a:t>
            </a:r>
          </a:p>
          <a:p>
            <a:pPr lvl="0"/>
            <a:r>
              <a:rPr lang="en-US" sz="1200" b="1" kern="1200" dirty="0">
                <a:solidFill>
                  <a:schemeClr val="tx1"/>
                </a:solidFill>
                <a:effectLst/>
                <a:latin typeface="+mn-lt"/>
                <a:ea typeface="+mn-ea"/>
                <a:cs typeface="+mn-cs"/>
              </a:rPr>
              <a:t>Taking the Trip Now:</a:t>
            </a:r>
            <a:r>
              <a:rPr lang="en-US" sz="1200" kern="1200" dirty="0">
                <a:solidFill>
                  <a:schemeClr val="tx1"/>
                </a:solidFill>
                <a:effectLst/>
                <a:latin typeface="+mn-lt"/>
                <a:ea typeface="+mn-ea"/>
                <a:cs typeface="+mn-cs"/>
              </a:rPr>
              <a:t> Health and time are finite. Jean Chatzky notes how losing a close friend in his early 60s served as a reminder to stop postponing travel and experiences. </a:t>
            </a:r>
          </a:p>
          <a:p>
            <a:pPr lvl="0"/>
            <a:r>
              <a:rPr lang="en-US" sz="1200" kern="1200" dirty="0">
                <a:solidFill>
                  <a:schemeClr val="tx1"/>
                </a:solidFill>
                <a:effectLst/>
                <a:latin typeface="+mn-lt"/>
                <a:ea typeface="+mn-ea"/>
                <a:cs typeface="+mn-cs"/>
              </a:rPr>
              <a:t>Guaranteed income provides the psychological freedom to spend without guilt or worry.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13</a:t>
            </a:fld>
            <a:endParaRPr lang="en-US"/>
          </a:p>
        </p:txBody>
      </p:sp>
    </p:spTree>
    <p:extLst>
      <p:ext uri="{BB962C8B-B14F-4D97-AF65-F5344CB8AC3E}">
        <p14:creationId xmlns:p14="http://schemas.microsoft.com/office/powerpoint/2010/main" val="3148791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the step-by-step blueprint to implement this strategy: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Calculate the Floor:</a:t>
            </a:r>
            <a:r>
              <a:rPr lang="en-US" sz="1200" kern="1200" dirty="0">
                <a:solidFill>
                  <a:schemeClr val="tx1"/>
                </a:solidFill>
                <a:effectLst/>
                <a:latin typeface="+mn-lt"/>
                <a:ea typeface="+mn-ea"/>
                <a:cs typeface="+mn-cs"/>
              </a:rPr>
              <a:t> Sum up all non-negotiable living expenses (housing, healthcare/Medicare, food, baseline maintenance).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Secure the Baseline:</a:t>
            </a:r>
            <a:r>
              <a:rPr lang="en-US" sz="1200" kern="1200" dirty="0">
                <a:solidFill>
                  <a:schemeClr val="tx1"/>
                </a:solidFill>
                <a:effectLst/>
                <a:latin typeface="+mn-lt"/>
                <a:ea typeface="+mn-ea"/>
                <a:cs typeface="+mn-cs"/>
              </a:rPr>
              <a:t> Delay Social Security toward age 70 to maximize CPI-adjusted income, and allocate 20–30% of assets toward fixed annuities or TIPS to cover the remaining floor gap.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Align the Vision:</a:t>
            </a:r>
            <a:r>
              <a:rPr lang="en-US" sz="1200" kern="1200" dirty="0">
                <a:solidFill>
                  <a:schemeClr val="tx1"/>
                </a:solidFill>
                <a:effectLst/>
                <a:latin typeface="+mn-lt"/>
                <a:ea typeface="+mn-ea"/>
                <a:cs typeface="+mn-cs"/>
              </a:rPr>
              <a:t> Have an open 'Maine vs. Florida' discussion with your spouse, establishing shared and individual goals. </a:t>
            </a:r>
          </a:p>
          <a:p>
            <a:pPr lvl="0"/>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Install Safeguards:</a:t>
            </a:r>
            <a:r>
              <a:rPr lang="en-US" sz="1200" kern="1200" dirty="0">
                <a:solidFill>
                  <a:schemeClr val="tx1"/>
                </a:solidFill>
                <a:effectLst/>
                <a:latin typeface="+mn-lt"/>
                <a:ea typeface="+mn-ea"/>
                <a:cs typeface="+mn-cs"/>
              </a:rPr>
              <a:t> Name trusted contacts across all financial accounts, maintain social networks, and establish phased purpose before leaving the workforce. </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14</a:t>
            </a:fld>
            <a:endParaRPr lang="en-US"/>
          </a:p>
        </p:txBody>
      </p:sp>
    </p:spTree>
    <p:extLst>
      <p:ext uri="{BB962C8B-B14F-4D97-AF65-F5344CB8AC3E}">
        <p14:creationId xmlns:p14="http://schemas.microsoft.com/office/powerpoint/2010/main" val="2743700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wrap up our deck, let's review the integrated model for decumulation success: </a:t>
            </a:r>
          </a:p>
          <a:p>
            <a:pPr lvl="0"/>
            <a:r>
              <a:rPr lang="en-US" sz="1200" b="1" kern="1200" dirty="0">
                <a:solidFill>
                  <a:schemeClr val="tx1"/>
                </a:solidFill>
                <a:effectLst/>
                <a:latin typeface="+mn-lt"/>
                <a:ea typeface="+mn-ea"/>
                <a:cs typeface="+mn-cs"/>
              </a:rPr>
              <a:t>Break free from the Accumulation Trap:</a:t>
            </a:r>
            <a:r>
              <a:rPr lang="en-US" sz="1200" kern="1200" dirty="0">
                <a:solidFill>
                  <a:schemeClr val="tx1"/>
                </a:solidFill>
                <a:effectLst/>
                <a:latin typeface="+mn-lt"/>
                <a:ea typeface="+mn-ea"/>
                <a:cs typeface="+mn-cs"/>
              </a:rPr>
              <a:t> Recognize that shifting from saving to spending is primarily a psychological challenge. </a:t>
            </a:r>
          </a:p>
          <a:p>
            <a:pPr lvl="0"/>
            <a:r>
              <a:rPr lang="en-US" sz="1200" b="1" kern="1200" dirty="0">
                <a:solidFill>
                  <a:schemeClr val="tx1"/>
                </a:solidFill>
                <a:effectLst/>
                <a:latin typeface="+mn-lt"/>
                <a:ea typeface="+mn-ea"/>
                <a:cs typeface="+mn-cs"/>
              </a:rPr>
              <a:t>Leverage the 2X Spending Effect:</a:t>
            </a:r>
            <a:r>
              <a:rPr lang="en-US" sz="1200" kern="1200" dirty="0">
                <a:solidFill>
                  <a:schemeClr val="tx1"/>
                </a:solidFill>
                <a:effectLst/>
                <a:latin typeface="+mn-lt"/>
                <a:ea typeface="+mn-ea"/>
                <a:cs typeface="+mn-cs"/>
              </a:rPr>
              <a:t> Structure 20–30% of your net worth into lifetime income streams to double your effective lifestyle spending safely. </a:t>
            </a:r>
          </a:p>
          <a:p>
            <a:pPr lvl="0"/>
            <a:r>
              <a:rPr lang="en-US" sz="1200" b="1" kern="1200" dirty="0">
                <a:solidFill>
                  <a:schemeClr val="tx1"/>
                </a:solidFill>
                <a:effectLst/>
                <a:latin typeface="+mn-lt"/>
                <a:ea typeface="+mn-ea"/>
                <a:cs typeface="+mn-cs"/>
              </a:rPr>
              <a:t>Maximize Age-70 Benefits &amp; Maintain Spending Flexibility:</a:t>
            </a:r>
            <a:r>
              <a:rPr lang="en-US" sz="1200" kern="1200" dirty="0">
                <a:solidFill>
                  <a:schemeClr val="tx1"/>
                </a:solidFill>
                <a:effectLst/>
                <a:latin typeface="+mn-lt"/>
                <a:ea typeface="+mn-ea"/>
                <a:cs typeface="+mn-cs"/>
              </a:rPr>
              <a:t> Pair maximized Social Security with dynamic 3.3%–4.0% withdrawal rates on your growth equity bucket. </a:t>
            </a:r>
          </a:p>
          <a:p>
            <a:pPr lvl="0"/>
            <a:r>
              <a:rPr lang="en-US" sz="1200" kern="1200" dirty="0">
                <a:solidFill>
                  <a:schemeClr val="tx1"/>
                </a:solidFill>
                <a:effectLst/>
                <a:latin typeface="+mn-lt"/>
                <a:ea typeface="+mn-ea"/>
                <a:cs typeface="+mn-cs"/>
              </a:rPr>
              <a:t>By implementing this dual approach, you protect your principal against market downturns while gaining total freedom to spend with confidence throughout retirement.</a:t>
            </a:r>
          </a:p>
          <a:p>
            <a:endParaRPr lang="en-US" dirty="0"/>
          </a:p>
        </p:txBody>
      </p:sp>
      <p:sp>
        <p:nvSpPr>
          <p:cNvPr id="4" name="Slide Number Placeholder 3"/>
          <p:cNvSpPr>
            <a:spLocks noGrp="1"/>
          </p:cNvSpPr>
          <p:nvPr>
            <p:ph type="sldNum" sz="quarter" idx="5"/>
          </p:nvPr>
        </p:nvSpPr>
        <p:spPr/>
        <p:txBody>
          <a:bodyPr/>
          <a:lstStyle/>
          <a:p>
            <a:fld id="{DB82B219-F6D7-4AAE-B97C-9BBCDF797B33}" type="slidenum">
              <a:rPr lang="en-US" smtClean="0"/>
              <a:t>15</a:t>
            </a:fld>
            <a:endParaRPr lang="en-US"/>
          </a:p>
        </p:txBody>
      </p:sp>
    </p:spTree>
    <p:extLst>
      <p:ext uri="{BB962C8B-B14F-4D97-AF65-F5344CB8AC3E}">
        <p14:creationId xmlns:p14="http://schemas.microsoft.com/office/powerpoint/2010/main" val="584352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976D64-E57C-DD99-76B0-282630B423D1}"/>
              </a:ext>
            </a:extLst>
          </p:cNvPr>
          <p:cNvSpPr>
            <a:spLocks noGrp="1"/>
          </p:cNvSpPr>
          <p:nvPr>
            <p:ph type="dt" sz="half" idx="10"/>
          </p:nvPr>
        </p:nvSpPr>
        <p:spPr/>
        <p:txBody>
          <a:bodyPr/>
          <a:lstStyle/>
          <a:p>
            <a:fld id="{D8A749EF-D65C-4FDF-9439-48897E4C481E}" type="datetimeFigureOut">
              <a:rPr lang="en-US" smtClean="0"/>
              <a:t>10/21/2026</a:t>
            </a:fld>
            <a:endParaRPr lang="en-US"/>
          </a:p>
        </p:txBody>
      </p:sp>
      <p:sp>
        <p:nvSpPr>
          <p:cNvPr id="3" name="Footer Placeholder 2">
            <a:extLst>
              <a:ext uri="{FF2B5EF4-FFF2-40B4-BE49-F238E27FC236}">
                <a16:creationId xmlns:a16="http://schemas.microsoft.com/office/drawing/2014/main" id="{A4DAEEE0-8D53-5D6C-C19A-F9E9311601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880A69-4322-6D4D-FECD-EB6A4348CB78}"/>
              </a:ext>
            </a:extLst>
          </p:cNvPr>
          <p:cNvSpPr>
            <a:spLocks noGrp="1"/>
          </p:cNvSpPr>
          <p:nvPr>
            <p:ph type="sldNum" sz="quarter" idx="12"/>
          </p:nvPr>
        </p:nvSpPr>
        <p:spPr/>
        <p:txBody>
          <a:bodyPr/>
          <a:lstStyle/>
          <a:p>
            <a:fld id="{B45EC094-A33C-4382-AB31-F581EAE4862C}" type="slidenum">
              <a:rPr lang="en-US" smtClean="0"/>
              <a:t>‹#›</a:t>
            </a:fld>
            <a:endParaRPr lang="en-US"/>
          </a:p>
        </p:txBody>
      </p:sp>
    </p:spTree>
    <p:extLst>
      <p:ext uri="{BB962C8B-B14F-4D97-AF65-F5344CB8AC3E}">
        <p14:creationId xmlns:p14="http://schemas.microsoft.com/office/powerpoint/2010/main" val="143500315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77775-2A61-E6C2-A739-9C79D45D0B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5DCEC3-D2FA-69F0-FE08-86D2246E6F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3BA61-B6D1-68B7-4661-C94C6DE7C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A749EF-D65C-4FDF-9439-48897E4C481E}" type="datetimeFigureOut">
              <a:rPr lang="en-US" smtClean="0"/>
              <a:t>10/21/2026</a:t>
            </a:fld>
            <a:endParaRPr lang="en-US"/>
          </a:p>
        </p:txBody>
      </p:sp>
      <p:sp>
        <p:nvSpPr>
          <p:cNvPr id="5" name="Footer Placeholder 4">
            <a:extLst>
              <a:ext uri="{FF2B5EF4-FFF2-40B4-BE49-F238E27FC236}">
                <a16:creationId xmlns:a16="http://schemas.microsoft.com/office/drawing/2014/main" id="{DAD7FD8E-5919-EA5E-A19B-E44E98CD98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F83245D-9BF0-4D85-0835-4503E81E36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5EC094-A33C-4382-AB31-F581EAE4862C}" type="slidenum">
              <a:rPr lang="en-US" smtClean="0"/>
              <a:t>‹#›</a:t>
            </a:fld>
            <a:endParaRPr lang="en-US"/>
          </a:p>
        </p:txBody>
      </p:sp>
    </p:spTree>
    <p:extLst>
      <p:ext uri="{BB962C8B-B14F-4D97-AF65-F5344CB8AC3E}">
        <p14:creationId xmlns:p14="http://schemas.microsoft.com/office/powerpoint/2010/main" val="246472206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3CCC500-24D6-93D8-7210-9777A583C4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717319-D0A8-80F5-322D-C529FC5DC2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96B8C1-8E56-AD02-E5C1-D012F0035A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1C1FF4-AEC8-0A5E-6741-FF31FEEBD1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6BE813-3127-2A23-F85A-BB976F5402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24C28C-05F7-8D21-5A4E-FD13BB6B6C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36B744-A0CC-F6EA-E137-4776BCC246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159981-A573-013E-2365-84A1FE5930A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AA5706-72C3-78AE-3F9E-EB1695C0B8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9FE4EC-AA4C-4DA4-39A7-401DAAEA33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6B7BCC-7229-9930-586A-62287411D9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179BB6-3FB7-7765-8CBE-65068007D8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246DA5-ABFF-950A-BEBD-2639ACEF29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0E3DAB-9DBD-D709-FBF2-8CF38ED4435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88971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1829</Words>
  <Application>Microsoft Office PowerPoint</Application>
  <PresentationFormat>寬螢幕</PresentationFormat>
  <Paragraphs>92</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2026-09-12T12:34:56Z</dcterms:created>
  <dcterms:modified xsi:type="dcterms:W3CDTF">2026-10-21T02:45:48Z</dcterms:modified>
</cp:coreProperties>
</file>