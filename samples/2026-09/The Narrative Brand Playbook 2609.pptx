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7" r:id="rId2"/>
    <p:sldId id="258" r:id="rId3"/>
    <p:sldId id="259" r:id="rId4"/>
    <p:sldId id="260"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531B90-E116-415F-9135-278B0DF07EF1}" v="14" dt="2026-09-06T10:42:24.9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80057"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sldOrd modMainMaster">
      <pc:chgData name="Lai, Wilson" userId="2840974a-0d84-4886-90a9-9a3ed79f3a48" providerId="ADAL" clId="{9F23B798-9E84-4552-BA63-E776E805C424}" dt="2026-09-07T03:55:04.374" v="44" actId="22"/>
      <pc:docMkLst>
        <pc:docMk/>
      </pc:docMkLst>
      <pc:sldChg chg="addSp delSp modSp mod modNotes modNotesTx">
        <pc:chgData name="Lai, Wilson" userId="2840974a-0d84-4886-90a9-9a3ed79f3a48" providerId="ADAL" clId="{9F23B798-9E84-4552-BA63-E776E805C424}" dt="2026-09-07T03:52:36.205" v="24" actId="22"/>
        <pc:sldMkLst>
          <pc:docMk/>
          <pc:sldMk cId="0" sldId="257"/>
        </pc:sldMkLst>
        <pc:picChg chg="del ord">
          <ac:chgData name="Lai, Wilson" userId="2840974a-0d84-4886-90a9-9a3ed79f3a48" providerId="ADAL" clId="{9F23B798-9E84-4552-BA63-E776E805C424}" dt="2026-09-07T03:52:24.179" v="23" actId="21"/>
          <ac:picMkLst>
            <pc:docMk/>
            <pc:sldMk cId="0" sldId="257"/>
            <ac:picMk id="2" creationId="{00000000-0000-0000-0000-000000000000}"/>
          </ac:picMkLst>
        </pc:picChg>
        <pc:picChg chg="add">
          <ac:chgData name="Lai, Wilson" userId="2840974a-0d84-4886-90a9-9a3ed79f3a48" providerId="ADAL" clId="{9F23B798-9E84-4552-BA63-E776E805C424}" dt="2026-09-07T03:52:36.205" v="24" actId="22"/>
          <ac:picMkLst>
            <pc:docMk/>
            <pc:sldMk cId="0" sldId="257"/>
            <ac:picMk id="7" creationId="{F5EEDD22-AFA9-AEF0-D8CD-EA6D17754305}"/>
          </ac:picMkLst>
        </pc:picChg>
      </pc:sldChg>
      <pc:sldChg chg="addSp delSp mod modNotes">
        <pc:chgData name="Lai, Wilson" userId="2840974a-0d84-4886-90a9-9a3ed79f3a48" providerId="ADAL" clId="{9F23B798-9E84-4552-BA63-E776E805C424}" dt="2026-09-07T03:52:49.352" v="26" actId="22"/>
        <pc:sldMkLst>
          <pc:docMk/>
          <pc:sldMk cId="0" sldId="258"/>
        </pc:sldMkLst>
        <pc:picChg chg="del">
          <ac:chgData name="Lai, Wilson" userId="2840974a-0d84-4886-90a9-9a3ed79f3a48" providerId="ADAL" clId="{9F23B798-9E84-4552-BA63-E776E805C424}" dt="2026-09-07T03:52:38.108" v="25" actId="21"/>
          <ac:picMkLst>
            <pc:docMk/>
            <pc:sldMk cId="0" sldId="258"/>
            <ac:picMk id="2" creationId="{00000000-0000-0000-0000-000000000000}"/>
          </ac:picMkLst>
        </pc:picChg>
        <pc:picChg chg="add">
          <ac:chgData name="Lai, Wilson" userId="2840974a-0d84-4886-90a9-9a3ed79f3a48" providerId="ADAL" clId="{9F23B798-9E84-4552-BA63-E776E805C424}" dt="2026-09-07T03:52:49.352" v="26" actId="22"/>
          <ac:picMkLst>
            <pc:docMk/>
            <pc:sldMk cId="0" sldId="258"/>
            <ac:picMk id="4" creationId="{A94CF4E2-32B7-7E13-9E9E-4C38FFD422BE}"/>
          </ac:picMkLst>
        </pc:picChg>
      </pc:sldChg>
      <pc:sldChg chg="addSp delSp mod modNotesTx">
        <pc:chgData name="Lai, Wilson" userId="2840974a-0d84-4886-90a9-9a3ed79f3a48" providerId="ADAL" clId="{9F23B798-9E84-4552-BA63-E776E805C424}" dt="2026-09-07T03:52:59.223" v="28" actId="22"/>
        <pc:sldMkLst>
          <pc:docMk/>
          <pc:sldMk cId="0" sldId="259"/>
        </pc:sldMkLst>
        <pc:picChg chg="del">
          <ac:chgData name="Lai, Wilson" userId="2840974a-0d84-4886-90a9-9a3ed79f3a48" providerId="ADAL" clId="{9F23B798-9E84-4552-BA63-E776E805C424}" dt="2026-09-07T03:52:50.991" v="27" actId="21"/>
          <ac:picMkLst>
            <pc:docMk/>
            <pc:sldMk cId="0" sldId="259"/>
            <ac:picMk id="2" creationId="{00000000-0000-0000-0000-000000000000}"/>
          </ac:picMkLst>
        </pc:picChg>
        <pc:picChg chg="add">
          <ac:chgData name="Lai, Wilson" userId="2840974a-0d84-4886-90a9-9a3ed79f3a48" providerId="ADAL" clId="{9F23B798-9E84-4552-BA63-E776E805C424}" dt="2026-09-07T03:52:59.223" v="28" actId="22"/>
          <ac:picMkLst>
            <pc:docMk/>
            <pc:sldMk cId="0" sldId="259"/>
            <ac:picMk id="4" creationId="{70575A5B-CED7-8A12-02AB-E7A092435D75}"/>
          </ac:picMkLst>
        </pc:picChg>
      </pc:sldChg>
      <pc:sldChg chg="addSp delSp mod modNotesTx">
        <pc:chgData name="Lai, Wilson" userId="2840974a-0d84-4886-90a9-9a3ed79f3a48" providerId="ADAL" clId="{9F23B798-9E84-4552-BA63-E776E805C424}" dt="2026-09-07T03:53:16.596" v="30" actId="22"/>
        <pc:sldMkLst>
          <pc:docMk/>
          <pc:sldMk cId="0" sldId="260"/>
        </pc:sldMkLst>
        <pc:picChg chg="del">
          <ac:chgData name="Lai, Wilson" userId="2840974a-0d84-4886-90a9-9a3ed79f3a48" providerId="ADAL" clId="{9F23B798-9E84-4552-BA63-E776E805C424}" dt="2026-09-07T03:53:00.606" v="29" actId="21"/>
          <ac:picMkLst>
            <pc:docMk/>
            <pc:sldMk cId="0" sldId="260"/>
            <ac:picMk id="2" creationId="{00000000-0000-0000-0000-000000000000}"/>
          </ac:picMkLst>
        </pc:picChg>
        <pc:picChg chg="add">
          <ac:chgData name="Lai, Wilson" userId="2840974a-0d84-4886-90a9-9a3ed79f3a48" providerId="ADAL" clId="{9F23B798-9E84-4552-BA63-E776E805C424}" dt="2026-09-07T03:53:16.596" v="30" actId="22"/>
          <ac:picMkLst>
            <pc:docMk/>
            <pc:sldMk cId="0" sldId="260"/>
            <ac:picMk id="4" creationId="{880A3206-E617-1FD7-FDDF-B227116C5918}"/>
          </ac:picMkLst>
        </pc:picChg>
      </pc:sldChg>
      <pc:sldChg chg="addSp delSp mod modNotes">
        <pc:chgData name="Lai, Wilson" userId="2840974a-0d84-4886-90a9-9a3ed79f3a48" providerId="ADAL" clId="{9F23B798-9E84-4552-BA63-E776E805C424}" dt="2026-09-07T03:53:28.808" v="32" actId="22"/>
        <pc:sldMkLst>
          <pc:docMk/>
          <pc:sldMk cId="0" sldId="261"/>
        </pc:sldMkLst>
        <pc:picChg chg="del">
          <ac:chgData name="Lai, Wilson" userId="2840974a-0d84-4886-90a9-9a3ed79f3a48" providerId="ADAL" clId="{9F23B798-9E84-4552-BA63-E776E805C424}" dt="2026-09-07T03:53:20.332" v="31" actId="21"/>
          <ac:picMkLst>
            <pc:docMk/>
            <pc:sldMk cId="0" sldId="261"/>
            <ac:picMk id="2" creationId="{00000000-0000-0000-0000-000000000000}"/>
          </ac:picMkLst>
        </pc:picChg>
        <pc:picChg chg="add">
          <ac:chgData name="Lai, Wilson" userId="2840974a-0d84-4886-90a9-9a3ed79f3a48" providerId="ADAL" clId="{9F23B798-9E84-4552-BA63-E776E805C424}" dt="2026-09-07T03:53:28.808" v="32" actId="22"/>
          <ac:picMkLst>
            <pc:docMk/>
            <pc:sldMk cId="0" sldId="261"/>
            <ac:picMk id="4" creationId="{DBBC2294-0BEF-E14B-8CC5-B267FA58EF7E}"/>
          </ac:picMkLst>
        </pc:picChg>
      </pc:sldChg>
      <pc:sldChg chg="addSp delSp mod ord">
        <pc:chgData name="Lai, Wilson" userId="2840974a-0d84-4886-90a9-9a3ed79f3a48" providerId="ADAL" clId="{9F23B798-9E84-4552-BA63-E776E805C424}" dt="2026-09-07T03:53:39.151" v="34" actId="22"/>
        <pc:sldMkLst>
          <pc:docMk/>
          <pc:sldMk cId="0" sldId="262"/>
        </pc:sldMkLst>
        <pc:picChg chg="del">
          <ac:chgData name="Lai, Wilson" userId="2840974a-0d84-4886-90a9-9a3ed79f3a48" providerId="ADAL" clId="{9F23B798-9E84-4552-BA63-E776E805C424}" dt="2026-09-07T03:53:30.384" v="33" actId="21"/>
          <ac:picMkLst>
            <pc:docMk/>
            <pc:sldMk cId="0" sldId="262"/>
            <ac:picMk id="2" creationId="{00000000-0000-0000-0000-000000000000}"/>
          </ac:picMkLst>
        </pc:picChg>
        <pc:picChg chg="add">
          <ac:chgData name="Lai, Wilson" userId="2840974a-0d84-4886-90a9-9a3ed79f3a48" providerId="ADAL" clId="{9F23B798-9E84-4552-BA63-E776E805C424}" dt="2026-09-07T03:53:39.151" v="34" actId="22"/>
          <ac:picMkLst>
            <pc:docMk/>
            <pc:sldMk cId="0" sldId="262"/>
            <ac:picMk id="4" creationId="{7B437D3D-D68D-2A65-3337-F0AA8C83FEA3}"/>
          </ac:picMkLst>
        </pc:picChg>
      </pc:sldChg>
      <pc:sldChg chg="addSp delSp mod modNotes modNotesTx">
        <pc:chgData name="Lai, Wilson" userId="2840974a-0d84-4886-90a9-9a3ed79f3a48" providerId="ADAL" clId="{9F23B798-9E84-4552-BA63-E776E805C424}" dt="2026-09-07T03:54:02.939" v="36" actId="22"/>
        <pc:sldMkLst>
          <pc:docMk/>
          <pc:sldMk cId="0" sldId="263"/>
        </pc:sldMkLst>
        <pc:picChg chg="del">
          <ac:chgData name="Lai, Wilson" userId="2840974a-0d84-4886-90a9-9a3ed79f3a48" providerId="ADAL" clId="{9F23B798-9E84-4552-BA63-E776E805C424}" dt="2026-09-07T03:53:40.341" v="35" actId="21"/>
          <ac:picMkLst>
            <pc:docMk/>
            <pc:sldMk cId="0" sldId="263"/>
            <ac:picMk id="2" creationId="{00000000-0000-0000-0000-000000000000}"/>
          </ac:picMkLst>
        </pc:picChg>
        <pc:picChg chg="add">
          <ac:chgData name="Lai, Wilson" userId="2840974a-0d84-4886-90a9-9a3ed79f3a48" providerId="ADAL" clId="{9F23B798-9E84-4552-BA63-E776E805C424}" dt="2026-09-07T03:54:02.939" v="36" actId="22"/>
          <ac:picMkLst>
            <pc:docMk/>
            <pc:sldMk cId="0" sldId="263"/>
            <ac:picMk id="4" creationId="{E6BD7CE0-DA02-23AA-5571-BE9CC7E86BD7}"/>
          </ac:picMkLst>
        </pc:picChg>
      </pc:sldChg>
      <pc:sldChg chg="addSp delSp mod modNotes modNotesTx">
        <pc:chgData name="Lai, Wilson" userId="2840974a-0d84-4886-90a9-9a3ed79f3a48" providerId="ADAL" clId="{9F23B798-9E84-4552-BA63-E776E805C424}" dt="2026-09-07T03:54:11.660" v="38" actId="22"/>
        <pc:sldMkLst>
          <pc:docMk/>
          <pc:sldMk cId="0" sldId="264"/>
        </pc:sldMkLst>
        <pc:picChg chg="del">
          <ac:chgData name="Lai, Wilson" userId="2840974a-0d84-4886-90a9-9a3ed79f3a48" providerId="ADAL" clId="{9F23B798-9E84-4552-BA63-E776E805C424}" dt="2026-09-07T03:54:04.893" v="37" actId="21"/>
          <ac:picMkLst>
            <pc:docMk/>
            <pc:sldMk cId="0" sldId="264"/>
            <ac:picMk id="2" creationId="{00000000-0000-0000-0000-000000000000}"/>
          </ac:picMkLst>
        </pc:picChg>
        <pc:picChg chg="add">
          <ac:chgData name="Lai, Wilson" userId="2840974a-0d84-4886-90a9-9a3ed79f3a48" providerId="ADAL" clId="{9F23B798-9E84-4552-BA63-E776E805C424}" dt="2026-09-07T03:54:11.660" v="38" actId="22"/>
          <ac:picMkLst>
            <pc:docMk/>
            <pc:sldMk cId="0" sldId="264"/>
            <ac:picMk id="4" creationId="{3077F87B-A66A-5735-E083-0FF404439D04}"/>
          </ac:picMkLst>
        </pc:picChg>
      </pc:sldChg>
      <pc:sldChg chg="addSp delSp mod modNotes modNotesTx">
        <pc:chgData name="Lai, Wilson" userId="2840974a-0d84-4886-90a9-9a3ed79f3a48" providerId="ADAL" clId="{9F23B798-9E84-4552-BA63-E776E805C424}" dt="2026-09-07T03:54:19.911" v="40" actId="22"/>
        <pc:sldMkLst>
          <pc:docMk/>
          <pc:sldMk cId="0" sldId="265"/>
        </pc:sldMkLst>
        <pc:picChg chg="del">
          <ac:chgData name="Lai, Wilson" userId="2840974a-0d84-4886-90a9-9a3ed79f3a48" providerId="ADAL" clId="{9F23B798-9E84-4552-BA63-E776E805C424}" dt="2026-09-07T03:54:12.876" v="39" actId="21"/>
          <ac:picMkLst>
            <pc:docMk/>
            <pc:sldMk cId="0" sldId="265"/>
            <ac:picMk id="2" creationId="{00000000-0000-0000-0000-000000000000}"/>
          </ac:picMkLst>
        </pc:picChg>
        <pc:picChg chg="add">
          <ac:chgData name="Lai, Wilson" userId="2840974a-0d84-4886-90a9-9a3ed79f3a48" providerId="ADAL" clId="{9F23B798-9E84-4552-BA63-E776E805C424}" dt="2026-09-07T03:54:19.911" v="40" actId="22"/>
          <ac:picMkLst>
            <pc:docMk/>
            <pc:sldMk cId="0" sldId="265"/>
            <ac:picMk id="4" creationId="{A94B64DC-2A51-0921-C50C-6F412D090725}"/>
          </ac:picMkLst>
        </pc:picChg>
      </pc:sldChg>
      <pc:sldChg chg="addSp delSp mod modNotes modNotesTx">
        <pc:chgData name="Lai, Wilson" userId="2840974a-0d84-4886-90a9-9a3ed79f3a48" providerId="ADAL" clId="{9F23B798-9E84-4552-BA63-E776E805C424}" dt="2026-09-07T03:54:52.841" v="42" actId="22"/>
        <pc:sldMkLst>
          <pc:docMk/>
          <pc:sldMk cId="0" sldId="266"/>
        </pc:sldMkLst>
        <pc:picChg chg="del">
          <ac:chgData name="Lai, Wilson" userId="2840974a-0d84-4886-90a9-9a3ed79f3a48" providerId="ADAL" clId="{9F23B798-9E84-4552-BA63-E776E805C424}" dt="2026-09-07T03:54:21.383" v="41" actId="21"/>
          <ac:picMkLst>
            <pc:docMk/>
            <pc:sldMk cId="0" sldId="266"/>
            <ac:picMk id="2" creationId="{00000000-0000-0000-0000-000000000000}"/>
          </ac:picMkLst>
        </pc:picChg>
        <pc:picChg chg="add">
          <ac:chgData name="Lai, Wilson" userId="2840974a-0d84-4886-90a9-9a3ed79f3a48" providerId="ADAL" clId="{9F23B798-9E84-4552-BA63-E776E805C424}" dt="2026-09-07T03:54:52.841" v="42" actId="22"/>
          <ac:picMkLst>
            <pc:docMk/>
            <pc:sldMk cId="0" sldId="266"/>
            <ac:picMk id="4" creationId="{3F9B37D3-B9CC-F124-2483-9178A2393E50}"/>
          </ac:picMkLst>
        </pc:picChg>
      </pc:sldChg>
      <pc:sldChg chg="addSp delSp mod modNotes">
        <pc:chgData name="Lai, Wilson" userId="2840974a-0d84-4886-90a9-9a3ed79f3a48" providerId="ADAL" clId="{9F23B798-9E84-4552-BA63-E776E805C424}" dt="2026-09-07T03:55:04.374" v="44" actId="22"/>
        <pc:sldMkLst>
          <pc:docMk/>
          <pc:sldMk cId="1983373693" sldId="267"/>
        </pc:sldMkLst>
        <pc:picChg chg="del">
          <ac:chgData name="Lai, Wilson" userId="2840974a-0d84-4886-90a9-9a3ed79f3a48" providerId="ADAL" clId="{9F23B798-9E84-4552-BA63-E776E805C424}" dt="2026-09-07T03:54:55.572" v="43" actId="21"/>
          <ac:picMkLst>
            <pc:docMk/>
            <pc:sldMk cId="1983373693" sldId="267"/>
            <ac:picMk id="3" creationId="{A9C10544-B7CB-36BA-A370-C38A5A0A5547}"/>
          </ac:picMkLst>
        </pc:picChg>
        <pc:picChg chg="add">
          <ac:chgData name="Lai, Wilson" userId="2840974a-0d84-4886-90a9-9a3ed79f3a48" providerId="ADAL" clId="{9F23B798-9E84-4552-BA63-E776E805C424}" dt="2026-09-07T03:55:04.374" v="44" actId="22"/>
          <ac:picMkLst>
            <pc:docMk/>
            <pc:sldMk cId="1983373693" sldId="267"/>
            <ac:picMk id="4" creationId="{40C379C6-9E8B-8A70-4163-065C7172E160}"/>
          </ac:picMkLst>
        </pc:picChg>
      </pc:sldChg>
      <pc:sldMasterChg chg="setBg">
        <pc:chgData name="Lai, Wilson" userId="2840974a-0d84-4886-90a9-9a3ed79f3a48" providerId="ADAL" clId="{9F23B798-9E84-4552-BA63-E776E805C424}" dt="2026-09-06T09:14:06.046" v="0"/>
        <pc:sldMasterMkLst>
          <pc:docMk/>
          <pc:sldMasterMk cId="3818726131"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18626C-3B78-42F8-8A01-42C4F80294C5}"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B38CDE-0C80-40F5-AD24-C726FC9189EF}" type="slidenum">
              <a:rPr lang="en-US" smtClean="0"/>
              <a:t>‹#›</a:t>
            </a:fld>
            <a:endParaRPr lang="en-US"/>
          </a:p>
        </p:txBody>
      </p:sp>
    </p:spTree>
    <p:extLst>
      <p:ext uri="{BB962C8B-B14F-4D97-AF65-F5344CB8AC3E}">
        <p14:creationId xmlns:p14="http://schemas.microsoft.com/office/powerpoint/2010/main" val="39047651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unpacking a fundamental shift in how we approach branding and business growth: moving away from self-promotional noise and stepping into transformational storytelling.</a:t>
            </a:r>
          </a:p>
          <a:p>
            <a:r>
              <a:rPr lang="en-US" dirty="0"/>
              <a:t>Historically, businesses have relied on traditional marketing—shouting about their features, shouting about their prices, and begging for attention. But today’s audience is completely immune to promotional noise. They don't buy what you do; they buy the transformation you make possible.</a:t>
            </a:r>
          </a:p>
          <a:p>
            <a:r>
              <a:rPr lang="en-US" dirty="0"/>
              <a:t>Over the next session, we’re going to walk through a masterclass playbook extracted directly from Chris Do's core frameworks. We will cover three vital pillars:</a:t>
            </a:r>
          </a:p>
          <a:p>
            <a:pPr marL="228600" lvl="0" indent="-228600">
              <a:buFont typeface="+mj-lt"/>
              <a:buAutoNum type="arabicPeriod"/>
            </a:pPr>
            <a:r>
              <a:rPr lang="en-US" b="1" dirty="0"/>
              <a:t>Closing the Imagination Gap through Storytelling</a:t>
            </a:r>
            <a:endParaRPr lang="en-US" dirty="0"/>
          </a:p>
          <a:p>
            <a:pPr marL="228600" lvl="0" indent="-228600">
              <a:buFont typeface="+mj-lt"/>
              <a:buAutoNum type="arabicPeriod"/>
            </a:pPr>
            <a:r>
              <a:rPr lang="en-US" b="1" dirty="0"/>
              <a:t>Transitioning from the Attention Economy to the Thank You Economy</a:t>
            </a:r>
            <a:endParaRPr lang="en-US" dirty="0"/>
          </a:p>
          <a:p>
            <a:pPr marL="228600" lvl="0" indent="-228600">
              <a:buFont typeface="+mj-lt"/>
              <a:buAutoNum type="arabicPeriod"/>
            </a:pPr>
            <a:r>
              <a:rPr lang="en-US" b="1" dirty="0"/>
              <a:t>Hyper-specializing your niche and pushing through The Dip to build a scalable, 7-figure brand</a:t>
            </a:r>
            <a:r>
              <a:rPr lang="en-US" dirty="0"/>
              <a:t>.</a:t>
            </a:r>
          </a:p>
          <a:p>
            <a:r>
              <a:rPr lang="en-US" dirty="0"/>
              <a:t>Whether you're running a design agency, a software service, or an experiential travel business, these rules are universal. Let's dive in.</a:t>
            </a:r>
          </a:p>
          <a:p>
            <a:endParaRPr lang="en-US" dirty="0"/>
          </a:p>
          <a:p>
            <a:endParaRPr lang="en-US" dirty="0"/>
          </a:p>
          <a:p>
            <a:r>
              <a:rPr lang="en-US" dirty="0"/>
              <a:t>https://www.youtube.com/watch?v=FFPaVFBEIhI</a:t>
            </a:r>
          </a:p>
        </p:txBody>
      </p:sp>
      <p:sp>
        <p:nvSpPr>
          <p:cNvPr id="4" name="Slide Number Placeholder 3"/>
          <p:cNvSpPr>
            <a:spLocks noGrp="1"/>
          </p:cNvSpPr>
          <p:nvPr>
            <p:ph type="sldNum" sz="quarter" idx="5"/>
          </p:nvPr>
        </p:nvSpPr>
        <p:spPr/>
        <p:txBody>
          <a:bodyPr/>
          <a:lstStyle/>
          <a:p>
            <a:fld id="{BBB38CDE-0C80-40F5-AD24-C726FC9189EF}" type="slidenum">
              <a:rPr lang="en-US" smtClean="0"/>
              <a:t>1</a:t>
            </a:fld>
            <a:endParaRPr lang="en-US"/>
          </a:p>
        </p:txBody>
      </p:sp>
    </p:spTree>
    <p:extLst>
      <p:ext uri="{BB962C8B-B14F-4D97-AF65-F5344CB8AC3E}">
        <p14:creationId xmlns:p14="http://schemas.microsoft.com/office/powerpoint/2010/main" val="3733926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by identifying the root problem most businesses face when trying to sell an experience or service. </a:t>
            </a:r>
          </a:p>
          <a:p>
            <a:r>
              <a:rPr lang="en-US" sz="1200" kern="1200" dirty="0">
                <a:solidFill>
                  <a:schemeClr val="tx1"/>
                </a:solidFill>
                <a:effectLst/>
                <a:latin typeface="+mn-lt"/>
                <a:ea typeface="+mn-ea"/>
                <a:cs typeface="+mn-cs"/>
              </a:rPr>
              <a:t>Look at this scenario: a business owner stands with a megaphone shouting, </a:t>
            </a:r>
            <a:r>
              <a:rPr lang="en-US" sz="1200" i="1" kern="1200" dirty="0">
                <a:solidFill>
                  <a:schemeClr val="tx1"/>
                </a:solidFill>
                <a:effectLst/>
                <a:latin typeface="+mn-lt"/>
                <a:ea typeface="+mn-ea"/>
                <a:cs typeface="+mn-cs"/>
              </a:rPr>
              <a:t>We offer great bespoke experiences!</a:t>
            </a:r>
            <a:r>
              <a:rPr lang="en-US" sz="1200" kern="1200" dirty="0">
                <a:solidFill>
                  <a:schemeClr val="tx1"/>
                </a:solidFill>
                <a:effectLst/>
                <a:latin typeface="+mn-lt"/>
                <a:ea typeface="+mn-ea"/>
                <a:cs typeface="+mn-cs"/>
              </a:rPr>
              <a:t> What happens on the customer's side? Nothing. Why? Because </a:t>
            </a:r>
            <a:r>
              <a:rPr lang="en-US" sz="1200" b="1" kern="1200" dirty="0">
                <a:solidFill>
                  <a:schemeClr val="tx1"/>
                </a:solidFill>
                <a:effectLst/>
                <a:latin typeface="+mn-lt"/>
                <a:ea typeface="+mn-ea"/>
                <a:cs typeface="+mn-cs"/>
              </a:rPr>
              <a:t>humans suffer from an Imagination Gap</a:t>
            </a:r>
            <a:r>
              <a:rPr lang="en-US" sz="1200" kern="1200" dirty="0">
                <a:solidFill>
                  <a:schemeClr val="tx1"/>
                </a:solidFill>
                <a:effectLst/>
                <a:latin typeface="+mn-lt"/>
                <a:ea typeface="+mn-ea"/>
                <a:cs typeface="+mn-cs"/>
              </a:rPr>
              <a:t>. They cannot simply imagine the incredible experience or result you claim to deliver. </a:t>
            </a:r>
          </a:p>
          <a:p>
            <a:r>
              <a:rPr lang="en-US" sz="1200" kern="1200" dirty="0">
                <a:solidFill>
                  <a:schemeClr val="tx1"/>
                </a:solidFill>
                <a:effectLst/>
                <a:latin typeface="+mn-lt"/>
                <a:ea typeface="+mn-ea"/>
                <a:cs typeface="+mn-cs"/>
              </a:rPr>
              <a:t>When you use broad, promotional adjectives like bespoke, high-end, or customized, they are completely abstract to the customer. Furthermore, as business owners, </a:t>
            </a:r>
            <a:r>
              <a:rPr lang="en-US" sz="1200" b="1" kern="1200" dirty="0">
                <a:solidFill>
                  <a:schemeClr val="tx1"/>
                </a:solidFill>
                <a:effectLst/>
                <a:latin typeface="+mn-lt"/>
                <a:ea typeface="+mn-ea"/>
                <a:cs typeface="+mn-cs"/>
              </a:rPr>
              <a:t>we are historically the worst judges of our own value</a:t>
            </a:r>
            <a:r>
              <a:rPr lang="en-US" sz="1200" kern="1200" dirty="0">
                <a:solidFill>
                  <a:schemeClr val="tx1"/>
                </a:solidFill>
                <a:effectLst/>
                <a:latin typeface="+mn-lt"/>
                <a:ea typeface="+mn-ea"/>
                <a:cs typeface="+mn-cs"/>
              </a:rPr>
              <a:t>. We assume people automatically understand how good we are because we know our work inside out. They don't. </a:t>
            </a:r>
          </a:p>
          <a:p>
            <a:r>
              <a:rPr lang="en-US" sz="1200" kern="1200" dirty="0">
                <a:solidFill>
                  <a:schemeClr val="tx1"/>
                </a:solidFill>
                <a:effectLst/>
                <a:latin typeface="+mn-lt"/>
                <a:ea typeface="+mn-ea"/>
                <a:cs typeface="+mn-cs"/>
              </a:rPr>
              <a:t>You cannot close this Imagination Gap with adjectives or cheap claims. You can only close it with </a:t>
            </a:r>
            <a:r>
              <a:rPr lang="en-US" sz="1200" b="1" kern="1200" dirty="0">
                <a:solidFill>
                  <a:schemeClr val="tx1"/>
                </a:solidFill>
                <a:effectLst/>
                <a:latin typeface="+mn-lt"/>
                <a:ea typeface="+mn-ea"/>
                <a:cs typeface="+mn-cs"/>
              </a:rPr>
              <a:t>documented proof of transformation</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As Chris Do highlights, when clients can't visualize your impact, they say no. To make them say yes, you must give them undeniable, tangible proof—real videos, authentic photos, raw audio, and video testimonials showing real people undergoing that exact shift. Stop telling them how good you are; show them proof until the gap disappears. </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2</a:t>
            </a:fld>
            <a:endParaRPr lang="en-US"/>
          </a:p>
        </p:txBody>
      </p:sp>
    </p:spTree>
    <p:extLst>
      <p:ext uri="{BB962C8B-B14F-4D97-AF65-F5344CB8AC3E}">
        <p14:creationId xmlns:p14="http://schemas.microsoft.com/office/powerpoint/2010/main" val="20730474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show that proof effectively, you must understand the anatomy of a story. Storytelling isn't just a buzzword—it is a proven structural formula that humans have responded to for thousands of years. </a:t>
            </a:r>
          </a:p>
          <a:p>
            <a:r>
              <a:rPr lang="en-US" sz="1200" kern="1200" dirty="0">
                <a:solidFill>
                  <a:schemeClr val="tx1"/>
                </a:solidFill>
                <a:effectLst/>
                <a:latin typeface="+mn-lt"/>
                <a:ea typeface="+mn-ea"/>
                <a:cs typeface="+mn-cs"/>
              </a:rPr>
              <a:t>Every compelling narrative follows a 5-step path: </a:t>
            </a:r>
          </a:p>
          <a:p>
            <a:pPr marL="228600" lvl="0" indent="-228600">
              <a:buFont typeface="+mj-lt"/>
              <a:buAutoNum type="arabicPeriod"/>
            </a:pPr>
            <a:r>
              <a:rPr lang="en-US" sz="1200" b="1" kern="1200" dirty="0">
                <a:solidFill>
                  <a:schemeClr val="tx1"/>
                </a:solidFill>
                <a:effectLst/>
                <a:latin typeface="+mn-lt"/>
                <a:ea typeface="+mn-ea"/>
                <a:cs typeface="+mn-cs"/>
              </a:rPr>
              <a:t>The Character:</a:t>
            </a:r>
            <a:r>
              <a:rPr lang="en-US" sz="1200" kern="1200" dirty="0">
                <a:solidFill>
                  <a:schemeClr val="tx1"/>
                </a:solidFill>
                <a:effectLst/>
                <a:latin typeface="+mn-lt"/>
                <a:ea typeface="+mn-ea"/>
                <a:cs typeface="+mn-cs"/>
              </a:rPr>
              <a:t> A relatable, flawed individual. If the character is perfect, no one cares. </a:t>
            </a:r>
          </a:p>
          <a:p>
            <a:pPr marL="228600" lvl="0" indent="-228600">
              <a:buFont typeface="+mj-lt"/>
              <a:buAutoNum type="arabicPeriod"/>
            </a:pPr>
            <a:r>
              <a:rPr lang="en-US" sz="1200" b="1" kern="1200" dirty="0">
                <a:solidFill>
                  <a:schemeClr val="tx1"/>
                </a:solidFill>
                <a:effectLst/>
                <a:latin typeface="+mn-lt"/>
                <a:ea typeface="+mn-ea"/>
                <a:cs typeface="+mn-cs"/>
              </a:rPr>
              <a:t>The Want:</a:t>
            </a:r>
            <a:r>
              <a:rPr lang="en-US" sz="1200" kern="1200" dirty="0">
                <a:solidFill>
                  <a:schemeClr val="tx1"/>
                </a:solidFill>
                <a:effectLst/>
                <a:latin typeface="+mn-lt"/>
                <a:ea typeface="+mn-ea"/>
                <a:cs typeface="+mn-cs"/>
              </a:rPr>
              <a:t> Their external, superficial desire (e.g., wanting to be popular, wanting a trip, wanting a new tool). </a:t>
            </a:r>
          </a:p>
          <a:p>
            <a:pPr marL="228600" lvl="0" indent="-228600">
              <a:buFont typeface="+mj-lt"/>
              <a:buAutoNum type="arabicPeriod"/>
            </a:pPr>
            <a:r>
              <a:rPr lang="en-US" sz="1200" b="1" kern="1200" dirty="0">
                <a:solidFill>
                  <a:schemeClr val="tx1"/>
                </a:solidFill>
                <a:effectLst/>
                <a:latin typeface="+mn-lt"/>
                <a:ea typeface="+mn-ea"/>
                <a:cs typeface="+mn-cs"/>
              </a:rPr>
              <a:t>The Obstacle:</a:t>
            </a:r>
            <a:r>
              <a:rPr lang="en-US" sz="1200" kern="1200" dirty="0">
                <a:solidFill>
                  <a:schemeClr val="tx1"/>
                </a:solidFill>
                <a:effectLst/>
                <a:latin typeface="+mn-lt"/>
                <a:ea typeface="+mn-ea"/>
                <a:cs typeface="+mn-cs"/>
              </a:rPr>
              <a:t> The conflict in their way. Remember Robert McKee’s famous principle: </a:t>
            </a:r>
            <a:r>
              <a:rPr lang="en-US" sz="1200" i="1" kern="1200" dirty="0">
                <a:solidFill>
                  <a:schemeClr val="tx1"/>
                </a:solidFill>
                <a:effectLst/>
                <a:latin typeface="+mn-lt"/>
                <a:ea typeface="+mn-ea"/>
                <a:cs typeface="+mn-cs"/>
              </a:rPr>
              <a:t>No conflict = no story</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The Need:</a:t>
            </a:r>
            <a:r>
              <a:rPr lang="en-US" sz="1200" kern="1200" dirty="0">
                <a:solidFill>
                  <a:schemeClr val="tx1"/>
                </a:solidFill>
                <a:effectLst/>
                <a:latin typeface="+mn-lt"/>
                <a:ea typeface="+mn-ea"/>
                <a:cs typeface="+mn-cs"/>
              </a:rPr>
              <a:t> The internal lesson they must learn. </a:t>
            </a:r>
          </a:p>
          <a:p>
            <a:pPr marL="228600" lvl="0" indent="-228600">
              <a:buFont typeface="+mj-lt"/>
              <a:buAutoNum type="arabicPeriod"/>
            </a:pPr>
            <a:r>
              <a:rPr lang="en-US" sz="1200" b="1" kern="1200" dirty="0">
                <a:solidFill>
                  <a:schemeClr val="tx1"/>
                </a:solidFill>
                <a:effectLst/>
                <a:latin typeface="+mn-lt"/>
                <a:ea typeface="+mn-ea"/>
                <a:cs typeface="+mn-cs"/>
              </a:rPr>
              <a:t>The Transformation:</a:t>
            </a:r>
            <a:r>
              <a:rPr lang="en-US" sz="1200" kern="1200" dirty="0">
                <a:solidFill>
                  <a:schemeClr val="tx1"/>
                </a:solidFill>
                <a:effectLst/>
                <a:latin typeface="+mn-lt"/>
                <a:ea typeface="+mn-ea"/>
                <a:cs typeface="+mn-cs"/>
              </a:rPr>
              <a:t> The character emerges forever changed. </a:t>
            </a:r>
          </a:p>
          <a:p>
            <a:r>
              <a:rPr lang="en-US" sz="1200" kern="1200" dirty="0">
                <a:solidFill>
                  <a:schemeClr val="tx1"/>
                </a:solidFill>
                <a:effectLst/>
                <a:latin typeface="+mn-lt"/>
                <a:ea typeface="+mn-ea"/>
                <a:cs typeface="+mn-cs"/>
              </a:rPr>
              <a:t>Here is the key pivot every marketer misses: </a:t>
            </a:r>
            <a:r>
              <a:rPr lang="en-US" sz="1200" b="1" kern="1200" dirty="0">
                <a:solidFill>
                  <a:schemeClr val="tx1"/>
                </a:solidFill>
                <a:effectLst/>
                <a:latin typeface="+mn-lt"/>
                <a:ea typeface="+mn-ea"/>
                <a:cs typeface="+mn-cs"/>
              </a:rPr>
              <a:t>Instead of getting what they </a:t>
            </a:r>
            <a:r>
              <a:rPr lang="en-US" sz="1200" b="1" i="1" kern="1200" dirty="0">
                <a:solidFill>
                  <a:schemeClr val="tx1"/>
                </a:solidFill>
                <a:effectLst/>
                <a:latin typeface="+mn-lt"/>
                <a:ea typeface="+mn-ea"/>
                <a:cs typeface="+mn-cs"/>
              </a:rPr>
              <a:t>want</a:t>
            </a:r>
            <a:r>
              <a:rPr lang="en-US" sz="1200" b="1" kern="1200" dirty="0">
                <a:solidFill>
                  <a:schemeClr val="tx1"/>
                </a:solidFill>
                <a:effectLst/>
                <a:latin typeface="+mn-lt"/>
                <a:ea typeface="+mn-ea"/>
                <a:cs typeface="+mn-cs"/>
              </a:rPr>
              <a:t>, the character gets what they </a:t>
            </a:r>
            <a:r>
              <a:rPr lang="en-US" sz="1200" b="1" i="1" kern="1200" dirty="0">
                <a:solidFill>
                  <a:schemeClr val="tx1"/>
                </a:solidFill>
                <a:effectLst/>
                <a:latin typeface="+mn-lt"/>
                <a:ea typeface="+mn-ea"/>
                <a:cs typeface="+mn-cs"/>
              </a:rPr>
              <a:t>need</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classic storytelling—whether it's </a:t>
            </a:r>
            <a:r>
              <a:rPr lang="en-US" sz="1200" i="1" kern="1200" dirty="0">
                <a:solidFill>
                  <a:schemeClr val="tx1"/>
                </a:solidFill>
                <a:effectLst/>
                <a:latin typeface="+mn-lt"/>
                <a:ea typeface="+mn-ea"/>
                <a:cs typeface="+mn-cs"/>
              </a:rPr>
              <a:t>Romeo &amp; Juliet</a:t>
            </a:r>
            <a:r>
              <a:rPr lang="en-US" sz="1200" kern="1200" dirty="0">
                <a:solidFill>
                  <a:schemeClr val="tx1"/>
                </a:solidFill>
                <a:effectLst/>
                <a:latin typeface="+mn-lt"/>
                <a:ea typeface="+mn-ea"/>
                <a:cs typeface="+mn-cs"/>
              </a:rPr>
              <a:t> or a customer case study—the character starts with an external goal (the Want). But when they hit an obstacle, they are forced to confront an internal mindset shift (the Need). That emotional pivot from external desire to internal growth is what creates true emotional engagement and makes your content unforgettable. </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3</a:t>
            </a:fld>
            <a:endParaRPr lang="en-US"/>
          </a:p>
        </p:txBody>
      </p:sp>
    </p:spTree>
    <p:extLst>
      <p:ext uri="{BB962C8B-B14F-4D97-AF65-F5344CB8AC3E}">
        <p14:creationId xmlns:p14="http://schemas.microsoft.com/office/powerpoint/2010/main" val="2665169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how do we apply this storytelling structure to our visual content and case studies? By engineering a dramatic </a:t>
            </a:r>
            <a:r>
              <a:rPr lang="en-US" sz="1200" b="1" kern="1200" dirty="0">
                <a:solidFill>
                  <a:schemeClr val="tx1"/>
                </a:solidFill>
                <a:effectLst/>
                <a:latin typeface="+mn-lt"/>
                <a:ea typeface="+mn-ea"/>
                <a:cs typeface="+mn-cs"/>
              </a:rPr>
              <a:t>Before &amp; After Arc</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Most marketers make the mistake of only showing the shiny result—a beautiful photo of a mountain summit or a polished logo. But visuals carry weight </a:t>
            </a:r>
            <a:r>
              <a:rPr lang="en-US" sz="1200" i="1" kern="1200" dirty="0">
                <a:solidFill>
                  <a:schemeClr val="tx1"/>
                </a:solidFill>
                <a:effectLst/>
                <a:latin typeface="+mn-lt"/>
                <a:ea typeface="+mn-ea"/>
                <a:cs typeface="+mn-cs"/>
              </a:rPr>
              <a:t>only</a:t>
            </a:r>
            <a:r>
              <a:rPr lang="en-US" sz="1200" kern="1200" dirty="0">
                <a:solidFill>
                  <a:schemeClr val="tx1"/>
                </a:solidFill>
                <a:effectLst/>
                <a:latin typeface="+mn-lt"/>
                <a:ea typeface="+mn-ea"/>
                <a:cs typeface="+mn-cs"/>
              </a:rPr>
              <a:t> when you set up the stakes beforehand.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Before (Setting the Baseline):</a:t>
            </a:r>
            <a:r>
              <a:rPr lang="en-US" sz="1200" kern="1200" dirty="0">
                <a:solidFill>
                  <a:schemeClr val="tx1"/>
                </a:solidFill>
                <a:effectLst/>
                <a:latin typeface="+mn-lt"/>
                <a:ea typeface="+mn-ea"/>
                <a:cs typeface="+mn-cs"/>
              </a:rPr>
              <a:t> Who were they before encountering you? Were they timid? Had they never left their hometown? Were they afraid of flying or drowning in tech chaos? Establish their baseline vulnerabilities.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Tension (Dropping into the Obstacle):</a:t>
            </a:r>
            <a:r>
              <a:rPr lang="en-US" sz="1200" kern="1200" dirty="0">
                <a:solidFill>
                  <a:schemeClr val="tx1"/>
                </a:solidFill>
                <a:effectLst/>
                <a:latin typeface="+mn-lt"/>
                <a:ea typeface="+mn-ea"/>
                <a:cs typeface="+mn-cs"/>
              </a:rPr>
              <a:t> Place them right into the challenge. Will they make it? How will they navigate the storm? This tension creates suspense and forces the viewer to stay tuned.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After (The Transformation):</a:t>
            </a:r>
            <a:r>
              <a:rPr lang="en-US" sz="1200" kern="1200" dirty="0">
                <a:solidFill>
                  <a:schemeClr val="tx1"/>
                </a:solidFill>
                <a:effectLst/>
                <a:latin typeface="+mn-lt"/>
                <a:ea typeface="+mn-ea"/>
                <a:cs typeface="+mn-cs"/>
              </a:rPr>
              <a:t> Show how they were fundamentally changed by the experience. </a:t>
            </a:r>
          </a:p>
          <a:p>
            <a:r>
              <a:rPr lang="en-US" sz="1200" kern="1200" dirty="0">
                <a:solidFill>
                  <a:schemeClr val="tx1"/>
                </a:solidFill>
                <a:effectLst/>
                <a:latin typeface="+mn-lt"/>
                <a:ea typeface="+mn-ea"/>
                <a:cs typeface="+mn-cs"/>
              </a:rPr>
              <a:t>If you show a Navy SEAL completing an obstacle course, it's boring because we expect them to win. But if you show someone who was timid, terrified of cold weather, and dropped into an icy glacier hike in Iceland, every step carries dramatic weight. Set up the contrast before you reveal the outcome. </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4</a:t>
            </a:fld>
            <a:endParaRPr lang="en-US"/>
          </a:p>
        </p:txBody>
      </p:sp>
    </p:spTree>
    <p:extLst>
      <p:ext uri="{BB962C8B-B14F-4D97-AF65-F5344CB8AC3E}">
        <p14:creationId xmlns:p14="http://schemas.microsoft.com/office/powerpoint/2010/main" val="31645319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contrast two major business models: </a:t>
            </a:r>
            <a:r>
              <a:rPr lang="en-US" sz="1200" b="1" kern="1200" dirty="0">
                <a:solidFill>
                  <a:schemeClr val="tx1"/>
                </a:solidFill>
                <a:effectLst/>
                <a:latin typeface="+mn-lt"/>
                <a:ea typeface="+mn-ea"/>
                <a:cs typeface="+mn-cs"/>
              </a:rPr>
              <a:t>The Attention Economy</a:t>
            </a:r>
            <a:r>
              <a:rPr lang="en-US" sz="1200" kern="1200" dirty="0">
                <a:solidFill>
                  <a:schemeClr val="tx1"/>
                </a:solidFill>
                <a:effectLst/>
                <a:latin typeface="+mn-lt"/>
                <a:ea typeface="+mn-ea"/>
                <a:cs typeface="+mn-cs"/>
              </a:rPr>
              <a:t> versus </a:t>
            </a:r>
            <a:r>
              <a:rPr lang="en-US" sz="1200" b="1" kern="1200" dirty="0">
                <a:solidFill>
                  <a:schemeClr val="tx1"/>
                </a:solidFill>
                <a:effectLst/>
                <a:latin typeface="+mn-lt"/>
                <a:ea typeface="+mn-ea"/>
                <a:cs typeface="+mn-cs"/>
              </a:rPr>
              <a:t>The Thank You Economy</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Attention Economy</a:t>
            </a:r>
            <a:r>
              <a:rPr lang="en-US" sz="1200" kern="1200" dirty="0">
                <a:solidFill>
                  <a:schemeClr val="tx1"/>
                </a:solidFill>
                <a:effectLst/>
                <a:latin typeface="+mn-lt"/>
                <a:ea typeface="+mn-ea"/>
                <a:cs typeface="+mn-cs"/>
              </a:rPr>
              <a:t>, the focus is on extraction and promotional commercials. Companies try to hack algorithms, interrupt people, and create high noise. It feels hollow, and consumers instantly tune it out. </a:t>
            </a:r>
          </a:p>
          <a:p>
            <a:r>
              <a:rPr lang="en-US" sz="1200" kern="1200" dirty="0">
                <a:solidFill>
                  <a:schemeClr val="tx1"/>
                </a:solidFill>
                <a:effectLst/>
                <a:latin typeface="+mn-lt"/>
                <a:ea typeface="+mn-ea"/>
                <a:cs typeface="+mn-cs"/>
              </a:rPr>
              <a:t>In contrast, </a:t>
            </a:r>
            <a:r>
              <a:rPr lang="en-US" sz="1200" b="1" kern="1200" dirty="0">
                <a:solidFill>
                  <a:schemeClr val="tx1"/>
                </a:solidFill>
                <a:effectLst/>
                <a:latin typeface="+mn-lt"/>
                <a:ea typeface="+mn-ea"/>
                <a:cs typeface="+mn-cs"/>
              </a:rPr>
              <a:t>The Thank You Economy</a:t>
            </a:r>
            <a:r>
              <a:rPr lang="en-US" sz="1200" kern="1200" dirty="0">
                <a:solidFill>
                  <a:schemeClr val="tx1"/>
                </a:solidFill>
                <a:effectLst/>
                <a:latin typeface="+mn-lt"/>
                <a:ea typeface="+mn-ea"/>
                <a:cs typeface="+mn-cs"/>
              </a:rPr>
              <a:t> is built on generosity and random acts of kindness. You enter an environment of zero expectations and high emotional resonance. Instead of trying to trick the algorithm, your growth strategy is simple: </a:t>
            </a:r>
            <a:r>
              <a:rPr lang="en-US" sz="1200" b="1" kern="1200" dirty="0">
                <a:solidFill>
                  <a:schemeClr val="tx1"/>
                </a:solidFill>
                <a:effectLst/>
                <a:latin typeface="+mn-lt"/>
                <a:ea typeface="+mn-ea"/>
                <a:cs typeface="+mn-cs"/>
              </a:rPr>
              <a:t>genuinely help people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Think about popular creators who clean overgrown lawns for free or give shoes to those in need. They aren't in the lawn-mowing or shoe business; they are in the </a:t>
            </a:r>
            <a:r>
              <a:rPr lang="en-US" sz="1200" i="1" kern="1200" dirty="0">
                <a:solidFill>
                  <a:schemeClr val="tx1"/>
                </a:solidFill>
                <a:effectLst/>
                <a:latin typeface="+mn-lt"/>
                <a:ea typeface="+mn-ea"/>
                <a:cs typeface="+mn-cs"/>
              </a:rPr>
              <a:t>helping people</a:t>
            </a:r>
            <a:r>
              <a:rPr lang="en-US" sz="1200" kern="1200" dirty="0">
                <a:solidFill>
                  <a:schemeClr val="tx1"/>
                </a:solidFill>
                <a:effectLst/>
                <a:latin typeface="+mn-lt"/>
                <a:ea typeface="+mn-ea"/>
                <a:cs typeface="+mn-cs"/>
              </a:rPr>
              <a:t> business. The audience pays them via watch time and emotional loyalty, and eventually, major corporations step in to sponsor that goodwill. </a:t>
            </a:r>
          </a:p>
          <a:p>
            <a:r>
              <a:rPr lang="en-US" sz="1200" kern="1200" dirty="0">
                <a:solidFill>
                  <a:schemeClr val="tx1"/>
                </a:solidFill>
                <a:effectLst/>
                <a:latin typeface="+mn-lt"/>
                <a:ea typeface="+mn-ea"/>
                <a:cs typeface="+mn-cs"/>
              </a:rPr>
              <a:t>If you make a subtle mindset pivot from </a:t>
            </a:r>
            <a:r>
              <a:rPr lang="en-US" sz="1200" i="1" kern="1200" dirty="0">
                <a:solidFill>
                  <a:schemeClr val="tx1"/>
                </a:solidFill>
                <a:effectLst/>
                <a:latin typeface="+mn-lt"/>
                <a:ea typeface="+mn-ea"/>
                <a:cs typeface="+mn-cs"/>
              </a:rPr>
              <a:t>What can I sell?</a:t>
            </a:r>
            <a:r>
              <a:rPr lang="en-US" sz="1200" kern="1200" dirty="0">
                <a:solidFill>
                  <a:schemeClr val="tx1"/>
                </a:solidFill>
                <a:effectLst/>
                <a:latin typeface="+mn-lt"/>
                <a:ea typeface="+mn-ea"/>
                <a:cs typeface="+mn-cs"/>
              </a:rPr>
              <a:t> to </a:t>
            </a:r>
            <a:r>
              <a:rPr lang="en-US" sz="1200" i="1" kern="1200" dirty="0">
                <a:solidFill>
                  <a:schemeClr val="tx1"/>
                </a:solidFill>
                <a:effectLst/>
                <a:latin typeface="+mn-lt"/>
                <a:ea typeface="+mn-ea"/>
                <a:cs typeface="+mn-cs"/>
              </a:rPr>
              <a:t>How can I help?</a:t>
            </a:r>
            <a:r>
              <a:rPr lang="en-US" sz="1200" kern="1200" dirty="0">
                <a:solidFill>
                  <a:schemeClr val="tx1"/>
                </a:solidFill>
                <a:effectLst/>
                <a:latin typeface="+mn-lt"/>
                <a:ea typeface="+mn-ea"/>
                <a:cs typeface="+mn-cs"/>
              </a:rPr>
              <a:t>, you unlock a model where you build social capital, attract corporate sponsors, and ultimately get paid generously just to help people. </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5</a:t>
            </a:fld>
            <a:endParaRPr lang="en-US"/>
          </a:p>
        </p:txBody>
      </p:sp>
    </p:spTree>
    <p:extLst>
      <p:ext uri="{BB962C8B-B14F-4D97-AF65-F5344CB8AC3E}">
        <p14:creationId xmlns:p14="http://schemas.microsoft.com/office/powerpoint/2010/main" val="2441624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that we understand story and value, let's talk about positioning: </a:t>
            </a:r>
            <a:r>
              <a:rPr lang="en-US" sz="1200" b="1" kern="1200" dirty="0">
                <a:solidFill>
                  <a:schemeClr val="tx1"/>
                </a:solidFill>
                <a:effectLst/>
                <a:latin typeface="+mn-lt"/>
                <a:ea typeface="+mn-ea"/>
                <a:cs typeface="+mn-cs"/>
              </a:rPr>
              <a:t>When you serve too many people, you serve no one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Generalists constantly struggle to stand out in a crowded market. They fight over price, deal with high client churn, and get lost in the noise. Specialists, on the other hand, crush it. </a:t>
            </a:r>
          </a:p>
          <a:p>
            <a:r>
              <a:rPr lang="en-US" sz="1200" kern="1200" dirty="0">
                <a:solidFill>
                  <a:schemeClr val="tx1"/>
                </a:solidFill>
                <a:effectLst/>
                <a:latin typeface="+mn-lt"/>
                <a:ea typeface="+mn-ea"/>
                <a:cs typeface="+mn-cs"/>
              </a:rPr>
              <a:t>When you specialize, you become the undisputed authority for a specific group. You no longer compete with thousands of general practitioners; you become the surgeon people seek out and pay premium rates for. </a:t>
            </a:r>
          </a:p>
          <a:p>
            <a:r>
              <a:rPr lang="en-US" sz="1200" kern="1200" dirty="0">
                <a:solidFill>
                  <a:schemeClr val="tx1"/>
                </a:solidFill>
                <a:effectLst/>
                <a:latin typeface="+mn-lt"/>
                <a:ea typeface="+mn-ea"/>
                <a:cs typeface="+mn-cs"/>
              </a:rPr>
              <a:t>Choosing a niche feels uncomfortable. It triggers FOMO—the fear of missing out on all the other potential clients. But remember this lesson: </a:t>
            </a:r>
            <a:r>
              <a:rPr lang="en-US" sz="1200" b="1" kern="1200" dirty="0">
                <a:solidFill>
                  <a:schemeClr val="tx1"/>
                </a:solidFill>
                <a:effectLst/>
                <a:latin typeface="+mn-lt"/>
                <a:ea typeface="+mn-ea"/>
                <a:cs typeface="+mn-cs"/>
              </a:rPr>
              <a:t>Difficult things are worth having</a:t>
            </a:r>
            <a:r>
              <a:rPr lang="en-US" sz="1200" kern="1200" dirty="0">
                <a:solidFill>
                  <a:schemeClr val="tx1"/>
                </a:solidFill>
                <a:effectLst/>
                <a:latin typeface="+mn-lt"/>
                <a:ea typeface="+mn-ea"/>
                <a:cs typeface="+mn-cs"/>
              </a:rPr>
              <a:t>. If picking a niche feels incredibly hard, that's proof you are on the exact right track. Ease creates low barriers to entry and high competition; difficulty creates defensibility and authority. </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6</a:t>
            </a:fld>
            <a:endParaRPr lang="en-US"/>
          </a:p>
        </p:txBody>
      </p:sp>
    </p:spTree>
    <p:extLst>
      <p:ext uri="{BB962C8B-B14F-4D97-AF65-F5344CB8AC3E}">
        <p14:creationId xmlns:p14="http://schemas.microsoft.com/office/powerpoint/2010/main" val="514314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you pivot to a specialized niche or launch a new initiative, you will inevitably encounter </a:t>
            </a:r>
            <a:r>
              <a:rPr lang="en-US" sz="1200" b="1" kern="1200" dirty="0">
                <a:solidFill>
                  <a:schemeClr val="tx1"/>
                </a:solidFill>
                <a:effectLst/>
                <a:latin typeface="+mn-lt"/>
                <a:ea typeface="+mn-ea"/>
                <a:cs typeface="+mn-cs"/>
              </a:rPr>
              <a:t>The Dip,</a:t>
            </a:r>
            <a:r>
              <a:rPr lang="en-US" sz="1200" kern="1200" dirty="0">
                <a:solidFill>
                  <a:schemeClr val="tx1"/>
                </a:solidFill>
                <a:effectLst/>
                <a:latin typeface="+mn-lt"/>
                <a:ea typeface="+mn-ea"/>
                <a:cs typeface="+mn-cs"/>
              </a:rPr>
              <a:t> a framework conceptualized by Seth Godin. </a:t>
            </a:r>
          </a:p>
          <a:p>
            <a:r>
              <a:rPr lang="en-US" sz="1200" kern="1200" dirty="0">
                <a:solidFill>
                  <a:schemeClr val="tx1"/>
                </a:solidFill>
                <a:effectLst/>
                <a:latin typeface="+mn-lt"/>
                <a:ea typeface="+mn-ea"/>
                <a:cs typeface="+mn-cs"/>
              </a:rPr>
              <a:t>Every journey follows three distinct phases: </a:t>
            </a:r>
          </a:p>
          <a:p>
            <a:pPr marL="228600" lvl="0" indent="-228600">
              <a:buFont typeface="+mj-lt"/>
              <a:buAutoNum type="arabicPeriod"/>
            </a:pPr>
            <a:r>
              <a:rPr lang="en-US" sz="1200" b="1" kern="1200" dirty="0">
                <a:solidFill>
                  <a:schemeClr val="tx1"/>
                </a:solidFill>
                <a:effectLst/>
                <a:latin typeface="+mn-lt"/>
                <a:ea typeface="+mn-ea"/>
                <a:cs typeface="+mn-cs"/>
              </a:rPr>
              <a:t>Phase 1 (The Start):</a:t>
            </a:r>
            <a:r>
              <a:rPr lang="en-US" sz="1200" kern="1200" dirty="0">
                <a:solidFill>
                  <a:schemeClr val="tx1"/>
                </a:solidFill>
                <a:effectLst/>
                <a:latin typeface="+mn-lt"/>
                <a:ea typeface="+mn-ea"/>
                <a:cs typeface="+mn-cs"/>
              </a:rPr>
              <a:t> Low effort, high initial excitement/results. Platforms and algorithms often reward novelty. </a:t>
            </a:r>
          </a:p>
          <a:p>
            <a:pPr marL="228600" lvl="0" indent="-228600">
              <a:buFont typeface="+mj-lt"/>
              <a:buAutoNum type="arabicPeriod"/>
            </a:pPr>
            <a:r>
              <a:rPr lang="en-US" sz="1200" b="1" kern="1200" dirty="0">
                <a:solidFill>
                  <a:schemeClr val="tx1"/>
                </a:solidFill>
                <a:effectLst/>
                <a:latin typeface="+mn-lt"/>
                <a:ea typeface="+mn-ea"/>
                <a:cs typeface="+mn-cs"/>
              </a:rPr>
              <a:t>Phase 2 (The Dip):</a:t>
            </a:r>
            <a:r>
              <a:rPr lang="en-US" sz="1200" kern="1200" dirty="0">
                <a:solidFill>
                  <a:schemeClr val="tx1"/>
                </a:solidFill>
                <a:effectLst/>
                <a:latin typeface="+mn-lt"/>
                <a:ea typeface="+mn-ea"/>
                <a:cs typeface="+mn-cs"/>
              </a:rPr>
              <a:t> High effort, zero noticeable results. This is the long grind where it feels like you're shouting into an empty room. </a:t>
            </a:r>
            <a:r>
              <a:rPr lang="en-US" sz="1200" b="1" kern="1200" dirty="0">
                <a:solidFill>
                  <a:schemeClr val="tx1"/>
                </a:solidFill>
                <a:effectLst/>
                <a:latin typeface="+mn-lt"/>
                <a:ea typeface="+mn-ea"/>
                <a:cs typeface="+mn-cs"/>
              </a:rPr>
              <a:t>This is where 99% of your competitors quit and reset.</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Phase 3 (The Hockey Stick Growth):</a:t>
            </a:r>
            <a:r>
              <a:rPr lang="en-US" sz="1200" kern="1200" dirty="0">
                <a:solidFill>
                  <a:schemeClr val="tx1"/>
                </a:solidFill>
                <a:effectLst/>
                <a:latin typeface="+mn-lt"/>
                <a:ea typeface="+mn-ea"/>
                <a:cs typeface="+mn-cs"/>
              </a:rPr>
              <a:t> Exponential payoff right when you are three feet from gold. </a:t>
            </a:r>
          </a:p>
          <a:p>
            <a:r>
              <a:rPr lang="en-US" sz="1200" kern="1200" dirty="0">
                <a:solidFill>
                  <a:schemeClr val="tx1"/>
                </a:solidFill>
                <a:effectLst/>
                <a:latin typeface="+mn-lt"/>
                <a:ea typeface="+mn-ea"/>
                <a:cs typeface="+mn-cs"/>
              </a:rPr>
              <a:t>Look at Chris Do’s own YouTube revenue trajectory as a real-world example: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Year 1:</a:t>
            </a:r>
            <a:r>
              <a:rPr lang="en-US" sz="1200" kern="1200" dirty="0">
                <a:solidFill>
                  <a:schemeClr val="tx1"/>
                </a:solidFill>
                <a:effectLst/>
                <a:latin typeface="+mn-lt"/>
                <a:ea typeface="+mn-ea"/>
                <a:cs typeface="+mn-cs"/>
              </a:rPr>
              <a:t> $17,000 (while running a multi-million-dollar agency)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Year 2:</a:t>
            </a:r>
            <a:r>
              <a:rPr lang="en-US" sz="1200" kern="1200" dirty="0">
                <a:solidFill>
                  <a:schemeClr val="tx1"/>
                </a:solidFill>
                <a:effectLst/>
                <a:latin typeface="+mn-lt"/>
                <a:ea typeface="+mn-ea"/>
                <a:cs typeface="+mn-cs"/>
              </a:rPr>
              <a:t> $48,000 (still in the grind)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Year 3:</a:t>
            </a:r>
            <a:r>
              <a:rPr lang="en-US" sz="1200" kern="1200" dirty="0">
                <a:solidFill>
                  <a:schemeClr val="tx1"/>
                </a:solidFill>
                <a:effectLst/>
                <a:latin typeface="+mn-lt"/>
                <a:ea typeface="+mn-ea"/>
                <a:cs typeface="+mn-cs"/>
              </a:rPr>
              <a:t> $150,000 (3x momentum starts)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Year 4+:</a:t>
            </a:r>
            <a:r>
              <a:rPr lang="en-US" sz="1200" kern="1200" dirty="0">
                <a:solidFill>
                  <a:schemeClr val="tx1"/>
                </a:solidFill>
                <a:effectLst/>
                <a:latin typeface="+mn-lt"/>
                <a:ea typeface="+mn-ea"/>
                <a:cs typeface="+mn-cs"/>
              </a:rPr>
              <a:t> $4,000,000+ per year </a:t>
            </a:r>
          </a:p>
          <a:p>
            <a:r>
              <a:rPr lang="en-US" sz="1200" kern="1200" dirty="0">
                <a:solidFill>
                  <a:schemeClr val="tx1"/>
                </a:solidFill>
                <a:effectLst/>
                <a:latin typeface="+mn-lt"/>
                <a:ea typeface="+mn-ea"/>
                <a:cs typeface="+mn-cs"/>
              </a:rPr>
              <a:t>Most people give up during Phase 2 and hop to a new strategy, resetting their journey back to zero. </a:t>
            </a:r>
            <a:r>
              <a:rPr lang="en-US" sz="1200" b="1" kern="1200" dirty="0">
                <a:solidFill>
                  <a:schemeClr val="tx1"/>
                </a:solidFill>
                <a:effectLst/>
                <a:latin typeface="+mn-lt"/>
                <a:ea typeface="+mn-ea"/>
                <a:cs typeface="+mn-cs"/>
              </a:rPr>
              <a:t>Learn to love the dip.</a:t>
            </a:r>
            <a:r>
              <a:rPr lang="en-US" sz="1200" kern="1200" dirty="0">
                <a:solidFill>
                  <a:schemeClr val="tx1"/>
                </a:solidFill>
                <a:effectLst/>
                <a:latin typeface="+mn-lt"/>
                <a:ea typeface="+mn-ea"/>
                <a:cs typeface="+mn-cs"/>
              </a:rPr>
              <a:t> The dip is not your enemy; it is your filter. It eliminates your competition for you. </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7</a:t>
            </a:fld>
            <a:endParaRPr lang="en-US"/>
          </a:p>
        </p:txBody>
      </p:sp>
    </p:spTree>
    <p:extLst>
      <p:ext uri="{BB962C8B-B14F-4D97-AF65-F5344CB8AC3E}">
        <p14:creationId xmlns:p14="http://schemas.microsoft.com/office/powerpoint/2010/main" val="3798077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If you're wondering </a:t>
            </a:r>
            <a:r>
              <a:rPr lang="en-US" sz="1200" i="1" kern="1200" dirty="0">
                <a:solidFill>
                  <a:schemeClr val="tx1"/>
                </a:solidFill>
                <a:effectLst/>
                <a:latin typeface="+mn-lt"/>
                <a:ea typeface="+mn-ea"/>
                <a:cs typeface="+mn-cs"/>
              </a:rPr>
              <a:t>how</a:t>
            </a:r>
            <a:r>
              <a:rPr lang="en-US" sz="1200" kern="1200" dirty="0">
                <a:solidFill>
                  <a:schemeClr val="tx1"/>
                </a:solidFill>
                <a:effectLst/>
                <a:latin typeface="+mn-lt"/>
                <a:ea typeface="+mn-ea"/>
                <a:cs typeface="+mn-cs"/>
              </a:rPr>
              <a:t> to narrow your focus without getting stuck, use this practical </a:t>
            </a:r>
            <a:r>
              <a:rPr lang="en-US" sz="1200" b="1" kern="1200" dirty="0">
                <a:solidFill>
                  <a:schemeClr val="tx1"/>
                </a:solidFill>
                <a:effectLst/>
                <a:latin typeface="+mn-lt"/>
                <a:ea typeface="+mn-ea"/>
                <a:cs typeface="+mn-cs"/>
              </a:rPr>
              <a:t>5-Step Niching Funnel</a:t>
            </a:r>
            <a:r>
              <a:rPr lang="en-US" sz="1200" kern="1200" dirty="0">
                <a:solidFill>
                  <a:schemeClr val="tx1"/>
                </a:solidFill>
                <a:effectLst/>
                <a:latin typeface="+mn-lt"/>
                <a:ea typeface="+mn-ea"/>
                <a:cs typeface="+mn-cs"/>
              </a:rPr>
              <a:t>. Instead of making a random guess, filter your market down layer by layer: </a:t>
            </a:r>
          </a:p>
          <a:p>
            <a:pPr marL="228600" lvl="0" indent="-228600">
              <a:buFont typeface="+mj-lt"/>
              <a:buAutoNum type="arabicPeriod"/>
            </a:pPr>
            <a:r>
              <a:rPr lang="en-US" sz="1200" b="1" kern="1200" dirty="0">
                <a:solidFill>
                  <a:schemeClr val="tx1"/>
                </a:solidFill>
                <a:effectLst/>
                <a:latin typeface="+mn-lt"/>
                <a:ea typeface="+mn-ea"/>
                <a:cs typeface="+mn-cs"/>
              </a:rPr>
              <a:t>Gender:</a:t>
            </a:r>
            <a:r>
              <a:rPr lang="en-US" sz="1200" kern="1200" dirty="0">
                <a:solidFill>
                  <a:schemeClr val="tx1"/>
                </a:solidFill>
                <a:effectLst/>
                <a:latin typeface="+mn-lt"/>
                <a:ea typeface="+mn-ea"/>
                <a:cs typeface="+mn-cs"/>
              </a:rPr>
              <a:t> Narrow down to a primary demographic (e.g., Men). </a:t>
            </a:r>
          </a:p>
          <a:p>
            <a:pPr marL="228600" lvl="0" indent="-228600">
              <a:buFont typeface="+mj-lt"/>
              <a:buAutoNum type="arabicPeriod"/>
            </a:pPr>
            <a:r>
              <a:rPr lang="en-US" sz="1200" b="1" kern="1200" dirty="0">
                <a:solidFill>
                  <a:schemeClr val="tx1"/>
                </a:solidFill>
                <a:effectLst/>
                <a:latin typeface="+mn-lt"/>
                <a:ea typeface="+mn-ea"/>
                <a:cs typeface="+mn-cs"/>
              </a:rPr>
              <a:t>Career Stage:</a:t>
            </a:r>
            <a:r>
              <a:rPr lang="en-US" sz="1200" kern="1200" dirty="0">
                <a:solidFill>
                  <a:schemeClr val="tx1"/>
                </a:solidFill>
                <a:effectLst/>
                <a:latin typeface="+mn-lt"/>
                <a:ea typeface="+mn-ea"/>
                <a:cs typeface="+mn-cs"/>
              </a:rPr>
              <a:t> Focus on a specific age or stage (e.g., Late Career / 40s–50s). </a:t>
            </a:r>
          </a:p>
          <a:p>
            <a:pPr marL="228600" lvl="0" indent="-228600">
              <a:buFont typeface="+mj-lt"/>
              <a:buAutoNum type="arabicPeriod"/>
            </a:pPr>
            <a:r>
              <a:rPr lang="en-US" sz="1200" b="1" kern="1200" dirty="0">
                <a:solidFill>
                  <a:schemeClr val="tx1"/>
                </a:solidFill>
                <a:effectLst/>
                <a:latin typeface="+mn-lt"/>
                <a:ea typeface="+mn-ea"/>
                <a:cs typeface="+mn-cs"/>
              </a:rPr>
              <a:t>Tech Fluency:</a:t>
            </a:r>
            <a:r>
              <a:rPr lang="en-US" sz="1200" kern="1200" dirty="0">
                <a:solidFill>
                  <a:schemeClr val="tx1"/>
                </a:solidFill>
                <a:effectLst/>
                <a:latin typeface="+mn-lt"/>
                <a:ea typeface="+mn-ea"/>
                <a:cs typeface="+mn-cs"/>
              </a:rPr>
              <a:t> Identify their comfort level with modern tools (e.g., Bad with Tech / Neo-Luddites). </a:t>
            </a:r>
          </a:p>
          <a:p>
            <a:pPr marL="228600" lvl="0" indent="-228600">
              <a:buFont typeface="+mj-lt"/>
              <a:buAutoNum type="arabicPeriod"/>
            </a:pPr>
            <a:r>
              <a:rPr lang="en-US" sz="1200" b="1" kern="1200" dirty="0">
                <a:solidFill>
                  <a:schemeClr val="tx1"/>
                </a:solidFill>
                <a:effectLst/>
                <a:latin typeface="+mn-lt"/>
                <a:ea typeface="+mn-ea"/>
                <a:cs typeface="+mn-cs"/>
              </a:rPr>
              <a:t>Industry, Location &amp; Revenue:</a:t>
            </a:r>
            <a:r>
              <a:rPr lang="en-US" sz="1200" kern="1200" dirty="0">
                <a:solidFill>
                  <a:schemeClr val="tx1"/>
                </a:solidFill>
                <a:effectLst/>
                <a:latin typeface="+mn-lt"/>
                <a:ea typeface="+mn-ea"/>
                <a:cs typeface="+mn-cs"/>
              </a:rPr>
              <a:t> Add geographic and commercial constraints (e.g., Blue-collar service providers in Texas earning $2M–$5M/year). </a:t>
            </a:r>
          </a:p>
          <a:p>
            <a:pPr marL="228600" lvl="0" indent="-228600">
              <a:buFont typeface="+mj-lt"/>
              <a:buAutoNum type="arabicPeriod"/>
            </a:pPr>
            <a:r>
              <a:rPr lang="en-US" sz="1200" b="1" kern="1200" dirty="0">
                <a:solidFill>
                  <a:schemeClr val="tx1"/>
                </a:solidFill>
                <a:effectLst/>
                <a:latin typeface="+mn-lt"/>
                <a:ea typeface="+mn-ea"/>
                <a:cs typeface="+mn-cs"/>
              </a:rPr>
              <a:t>Specific Pain Point:</a:t>
            </a:r>
            <a:r>
              <a:rPr lang="en-US" sz="1200" kern="1200" dirty="0">
                <a:solidFill>
                  <a:schemeClr val="tx1"/>
                </a:solidFill>
                <a:effectLst/>
                <a:latin typeface="+mn-lt"/>
                <a:ea typeface="+mn-ea"/>
                <a:cs typeface="+mn-cs"/>
              </a:rPr>
              <a:t> Isolate their single biggest operational headache (e.g., Speed-to-lead / Responsiveness). </a:t>
            </a:r>
          </a:p>
          <a:p>
            <a:pPr marL="0" indent="0">
              <a:buFont typeface="+mj-lt"/>
              <a:buNone/>
            </a:pPr>
            <a:r>
              <a:rPr lang="en-US" sz="1200" b="1" kern="1200" dirty="0">
                <a:solidFill>
                  <a:schemeClr val="tx1"/>
                </a:solidFill>
                <a:effectLst/>
                <a:latin typeface="+mn-lt"/>
                <a:ea typeface="+mn-ea"/>
                <a:cs typeface="+mn-cs"/>
              </a:rPr>
              <a:t>The Result:</a:t>
            </a:r>
            <a:r>
              <a:rPr lang="en-US" sz="1200" kern="1200" dirty="0">
                <a:solidFill>
                  <a:schemeClr val="tx1"/>
                </a:solidFill>
                <a:effectLst/>
                <a:latin typeface="+mn-lt"/>
                <a:ea typeface="+mn-ea"/>
                <a:cs typeface="+mn-cs"/>
              </a:rPr>
              <a:t> You are no longer just a vague consultant doing AI or tech automation. You are now the leading expert solving speed-to-lead issues for 7-figure Texas plumbers. </a:t>
            </a:r>
          </a:p>
          <a:p>
            <a:r>
              <a:rPr lang="en-US" sz="1200" kern="1200" dirty="0">
                <a:solidFill>
                  <a:schemeClr val="tx1"/>
                </a:solidFill>
                <a:effectLst/>
                <a:latin typeface="+mn-lt"/>
                <a:ea typeface="+mn-ea"/>
                <a:cs typeface="+mn-cs"/>
              </a:rPr>
              <a:t>Notice how clear that positioning becomes. When a prospect in that exact bucket sees your offer, they don't compare you to generalists—they hire you immediately because you speak their exact language. </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8</a:t>
            </a:fld>
            <a:endParaRPr lang="en-US"/>
          </a:p>
        </p:txBody>
      </p:sp>
    </p:spTree>
    <p:extLst>
      <p:ext uri="{BB962C8B-B14F-4D97-AF65-F5344CB8AC3E}">
        <p14:creationId xmlns:p14="http://schemas.microsoft.com/office/powerpoint/2010/main" val="346512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Once you understand the 5-step funnel, you can leverage AI tools like Claude to define your </a:t>
            </a:r>
            <a:r>
              <a:rPr lang="en-US" sz="1200" b="1" kern="1200" dirty="0">
                <a:solidFill>
                  <a:schemeClr val="tx1"/>
                </a:solidFill>
                <a:effectLst/>
                <a:latin typeface="+mn-lt"/>
                <a:ea typeface="+mn-ea"/>
                <a:cs typeface="+mn-cs"/>
              </a:rPr>
              <a:t>Ideal Client Profile (ICP)</a:t>
            </a:r>
            <a:r>
              <a:rPr lang="en-US" sz="1200" kern="1200" dirty="0">
                <a:solidFill>
                  <a:schemeClr val="tx1"/>
                </a:solidFill>
                <a:effectLst/>
                <a:latin typeface="+mn-lt"/>
                <a:ea typeface="+mn-ea"/>
                <a:cs typeface="+mn-cs"/>
              </a:rPr>
              <a:t> in minutes. Stop guessing blindly. Look at your past history: who were the clients that paid on time, made fast decisions, and were a joy to work with? </a:t>
            </a:r>
          </a:p>
          <a:p>
            <a:r>
              <a:rPr lang="en-US" sz="1200" kern="1200" dirty="0">
                <a:solidFill>
                  <a:schemeClr val="tx1"/>
                </a:solidFill>
                <a:effectLst/>
                <a:latin typeface="+mn-lt"/>
                <a:ea typeface="+mn-ea"/>
                <a:cs typeface="+mn-cs"/>
              </a:rPr>
              <a:t>To get high-quality output from AI, remember the Golden Rule: </a:t>
            </a:r>
            <a:r>
              <a:rPr lang="en-US" sz="1200" b="1" kern="1200" dirty="0">
                <a:solidFill>
                  <a:schemeClr val="tx1"/>
                </a:solidFill>
                <a:effectLst/>
                <a:latin typeface="+mn-lt"/>
                <a:ea typeface="+mn-ea"/>
                <a:cs typeface="+mn-cs"/>
              </a:rPr>
              <a:t>Sloppy Input = Sloppy Output.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Here is the </a:t>
            </a:r>
            <a:r>
              <a:rPr lang="en-US" sz="1200" b="1" kern="1200" dirty="0">
                <a:solidFill>
                  <a:schemeClr val="tx1"/>
                </a:solidFill>
                <a:effectLst/>
                <a:latin typeface="+mn-lt"/>
                <a:ea typeface="+mn-ea"/>
                <a:cs typeface="+mn-cs"/>
              </a:rPr>
              <a:t>Master Prompt</a:t>
            </a:r>
            <a:r>
              <a:rPr lang="en-US" sz="1200" kern="1200" dirty="0">
                <a:solidFill>
                  <a:schemeClr val="tx1"/>
                </a:solidFill>
                <a:effectLst/>
                <a:latin typeface="+mn-lt"/>
                <a:ea typeface="+mn-ea"/>
                <a:cs typeface="+mn-cs"/>
              </a:rPr>
              <a:t> to use:</a:t>
            </a:r>
          </a:p>
          <a:p>
            <a:r>
              <a:rPr lang="en-US" sz="1200" kern="1200" dirty="0">
                <a:solidFill>
                  <a:schemeClr val="tx1"/>
                </a:solidFill>
                <a:effectLst/>
                <a:latin typeface="+mn-lt"/>
                <a:ea typeface="+mn-ea"/>
                <a:cs typeface="+mn-cs"/>
              </a:rPr>
              <a:t> </a:t>
            </a:r>
          </a:p>
          <a:p>
            <a:r>
              <a:rPr lang="en-US" sz="1200" i="1" kern="1200" dirty="0">
                <a:solidFill>
                  <a:schemeClr val="tx1"/>
                </a:solidFill>
                <a:effectLst/>
                <a:latin typeface="+mn-lt"/>
                <a:ea typeface="+mn-ea"/>
                <a:cs typeface="+mn-cs"/>
              </a:rPr>
              <a:t>I am [Age/Role]. I provide [Specific Solution] for [Hyper-Specific Demographic]. I need help defining my Ideal Client Profile (ICP). Ask me clarifying questions before making a suggestion. Ensure there is sufficient market demand before recommending.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Notice two key elements in this prompt: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 force the AI to ask you clarifying questions first.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You require it to validate market demand before giving a final recommendation. </a:t>
            </a:r>
          </a:p>
          <a:p>
            <a:r>
              <a:rPr lang="en-US" sz="1200" kern="1200" dirty="0">
                <a:solidFill>
                  <a:schemeClr val="tx1"/>
                </a:solidFill>
                <a:effectLst/>
                <a:latin typeface="+mn-lt"/>
                <a:ea typeface="+mn-ea"/>
                <a:cs typeface="+mn-cs"/>
              </a:rPr>
              <a:t>This interactive approach yields an accurate, actionable ICP that you can immediately test in the real world. </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9</a:t>
            </a:fld>
            <a:endParaRPr lang="en-US"/>
          </a:p>
        </p:txBody>
      </p:sp>
    </p:spTree>
    <p:extLst>
      <p:ext uri="{BB962C8B-B14F-4D97-AF65-F5344CB8AC3E}">
        <p14:creationId xmlns:p14="http://schemas.microsoft.com/office/powerpoint/2010/main" val="22611142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everything we’ve covered so far, let's look at </a:t>
            </a:r>
            <a:r>
              <a:rPr lang="en-US" sz="1200" b="1" kern="1200" dirty="0">
                <a:solidFill>
                  <a:schemeClr val="tx1"/>
                </a:solidFill>
                <a:effectLst/>
                <a:latin typeface="+mn-lt"/>
                <a:ea typeface="+mn-ea"/>
                <a:cs typeface="+mn-cs"/>
              </a:rPr>
              <a:t>The Modern Business Triad</a:t>
            </a:r>
            <a:r>
              <a:rPr lang="en-US" sz="1200" kern="1200" dirty="0">
                <a:solidFill>
                  <a:schemeClr val="tx1"/>
                </a:solidFill>
                <a:effectLst/>
                <a:latin typeface="+mn-lt"/>
                <a:ea typeface="+mn-ea"/>
                <a:cs typeface="+mn-cs"/>
              </a:rPr>
              <a:t>. Sustainable 7-figure brands operate at the exact intersection of three core elements: </a:t>
            </a:r>
          </a:p>
          <a:p>
            <a:pPr marL="228600" lvl="0" indent="-228600">
              <a:buFont typeface="+mj-lt"/>
              <a:buAutoNum type="arabicPeriod"/>
            </a:pPr>
            <a:r>
              <a:rPr lang="en-US" sz="1200" b="1" kern="1200" dirty="0">
                <a:solidFill>
                  <a:schemeClr val="tx1"/>
                </a:solidFill>
                <a:effectLst/>
                <a:latin typeface="+mn-lt"/>
                <a:ea typeface="+mn-ea"/>
                <a:cs typeface="+mn-cs"/>
              </a:rPr>
              <a:t>Niche (WHO):</a:t>
            </a:r>
            <a:r>
              <a:rPr lang="en-US" sz="1200" kern="1200" dirty="0">
                <a:solidFill>
                  <a:schemeClr val="tx1"/>
                </a:solidFill>
                <a:effectLst/>
                <a:latin typeface="+mn-lt"/>
                <a:ea typeface="+mn-ea"/>
                <a:cs typeface="+mn-cs"/>
              </a:rPr>
              <a:t> A hyper-specialized ICP. It’s about committing to a singular focus and having the grit to survive The Dip. </a:t>
            </a:r>
          </a:p>
          <a:p>
            <a:pPr marL="228600" lvl="0" indent="-228600">
              <a:buFont typeface="+mj-lt"/>
              <a:buAutoNum type="arabicPeriod"/>
            </a:pPr>
            <a:r>
              <a:rPr lang="en-US" sz="1200" b="1" kern="1200" dirty="0">
                <a:solidFill>
                  <a:schemeClr val="tx1"/>
                </a:solidFill>
                <a:effectLst/>
                <a:latin typeface="+mn-lt"/>
                <a:ea typeface="+mn-ea"/>
                <a:cs typeface="+mn-cs"/>
              </a:rPr>
              <a:t>Story (HOW):</a:t>
            </a:r>
            <a:r>
              <a:rPr lang="en-US" sz="1200" kern="1200" dirty="0">
                <a:solidFill>
                  <a:schemeClr val="tx1"/>
                </a:solidFill>
                <a:effectLst/>
                <a:latin typeface="+mn-lt"/>
                <a:ea typeface="+mn-ea"/>
                <a:cs typeface="+mn-cs"/>
              </a:rPr>
              <a:t> Documenting real Before/After transformations to close the Imagination Gap. </a:t>
            </a:r>
          </a:p>
          <a:p>
            <a:pPr marL="228600" lvl="0" indent="-228600">
              <a:buFont typeface="+mj-lt"/>
              <a:buAutoNum type="arabicPeriod"/>
            </a:pPr>
            <a:r>
              <a:rPr lang="en-US" sz="1200" b="1" kern="1200" dirty="0">
                <a:solidFill>
                  <a:schemeClr val="tx1"/>
                </a:solidFill>
                <a:effectLst/>
                <a:latin typeface="+mn-lt"/>
                <a:ea typeface="+mn-ea"/>
                <a:cs typeface="+mn-cs"/>
              </a:rPr>
              <a:t>Value (WHY):</a:t>
            </a:r>
            <a:r>
              <a:rPr lang="en-US" sz="1200" kern="1200" dirty="0">
                <a:solidFill>
                  <a:schemeClr val="tx1"/>
                </a:solidFill>
                <a:effectLst/>
                <a:latin typeface="+mn-lt"/>
                <a:ea typeface="+mn-ea"/>
                <a:cs typeface="+mn-cs"/>
              </a:rPr>
              <a:t> Operating in the Thank You Economy by giving uncompromised value without immediate expectation of extraction. </a:t>
            </a:r>
          </a:p>
          <a:p>
            <a:r>
              <a:rPr lang="en-US" sz="1200" kern="1200" dirty="0">
                <a:solidFill>
                  <a:schemeClr val="tx1"/>
                </a:solidFill>
                <a:effectLst/>
                <a:latin typeface="+mn-lt"/>
                <a:ea typeface="+mn-ea"/>
                <a:cs typeface="+mn-cs"/>
              </a:rPr>
              <a:t>When all three circles overlap, magic happens. You stop chasing leads, stop discounting prices, and stop competing in red oceans. </a:t>
            </a:r>
          </a:p>
          <a:p>
            <a:r>
              <a:rPr lang="en-US" sz="1200" kern="1200" dirty="0">
                <a:solidFill>
                  <a:schemeClr val="tx1"/>
                </a:solidFill>
                <a:effectLst/>
                <a:latin typeface="+mn-lt"/>
                <a:ea typeface="+mn-ea"/>
                <a:cs typeface="+mn-cs"/>
              </a:rPr>
              <a:t>If you make a subtle pivot from </a:t>
            </a:r>
            <a:r>
              <a:rPr lang="en-US" sz="1200" i="1" kern="1200" dirty="0">
                <a:solidFill>
                  <a:schemeClr val="tx1"/>
                </a:solidFill>
                <a:effectLst/>
                <a:latin typeface="+mn-lt"/>
                <a:ea typeface="+mn-ea"/>
                <a:cs typeface="+mn-cs"/>
              </a:rPr>
              <a:t>what you sell</a:t>
            </a:r>
            <a:r>
              <a:rPr lang="en-US" sz="1200" kern="1200" dirty="0">
                <a:solidFill>
                  <a:schemeClr val="tx1"/>
                </a:solidFill>
                <a:effectLst/>
                <a:latin typeface="+mn-lt"/>
                <a:ea typeface="+mn-ea"/>
                <a:cs typeface="+mn-cs"/>
              </a:rPr>
              <a:t> to </a:t>
            </a:r>
            <a:r>
              <a:rPr lang="en-US" sz="1200" i="1" kern="1200" dirty="0">
                <a:solidFill>
                  <a:schemeClr val="tx1"/>
                </a:solidFill>
                <a:effectLst/>
                <a:latin typeface="+mn-lt"/>
                <a:ea typeface="+mn-ea"/>
                <a:cs typeface="+mn-cs"/>
              </a:rPr>
              <a:t>how you help</a:t>
            </a:r>
            <a:r>
              <a:rPr lang="en-US" sz="1200" kern="1200" dirty="0">
                <a:solidFill>
                  <a:schemeClr val="tx1"/>
                </a:solidFill>
                <a:effectLst/>
                <a:latin typeface="+mn-lt"/>
                <a:ea typeface="+mn-ea"/>
                <a:cs typeface="+mn-cs"/>
              </a:rPr>
              <a:t>, you will build a business that is not only highly profitable, but 100% aligned with who you are. </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10</a:t>
            </a:fld>
            <a:endParaRPr lang="en-US"/>
          </a:p>
        </p:txBody>
      </p:sp>
    </p:spTree>
    <p:extLst>
      <p:ext uri="{BB962C8B-B14F-4D97-AF65-F5344CB8AC3E}">
        <p14:creationId xmlns:p14="http://schemas.microsoft.com/office/powerpoint/2010/main" val="37416854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11 brings our entire framework together into a single, comprehensive summary map—</a:t>
            </a:r>
            <a:r>
              <a:rPr lang="en-US" sz="1200" b="1" kern="1200" dirty="0">
                <a:solidFill>
                  <a:schemeClr val="tx1"/>
                </a:solidFill>
                <a:effectLst/>
                <a:latin typeface="+mn-lt"/>
                <a:ea typeface="+mn-ea"/>
                <a:cs typeface="+mn-cs"/>
              </a:rPr>
              <a:t>The Business Storyteller's Blueprint</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Let's review the journey we've mapped out: </a:t>
            </a:r>
          </a:p>
          <a:p>
            <a:pPr lvl="0"/>
            <a:r>
              <a:rPr lang="en-US" sz="1200" b="1" kern="1200" dirty="0">
                <a:solidFill>
                  <a:schemeClr val="tx1"/>
                </a:solidFill>
                <a:effectLst/>
                <a:latin typeface="+mn-lt"/>
                <a:ea typeface="+mn-ea"/>
                <a:cs typeface="+mn-cs"/>
              </a:rPr>
              <a:t>Strategic Story Structure:</a:t>
            </a:r>
            <a:r>
              <a:rPr lang="en-US" sz="1200" kern="1200" dirty="0">
                <a:solidFill>
                  <a:schemeClr val="tx1"/>
                </a:solidFill>
                <a:effectLst/>
                <a:latin typeface="+mn-lt"/>
                <a:ea typeface="+mn-ea"/>
                <a:cs typeface="+mn-cs"/>
              </a:rPr>
              <a:t> Every brand story starts with a </a:t>
            </a:r>
            <a:r>
              <a:rPr lang="en-US" sz="1200" b="1" kern="1200" dirty="0">
                <a:solidFill>
                  <a:schemeClr val="tx1"/>
                </a:solidFill>
                <a:effectLst/>
                <a:latin typeface="+mn-lt"/>
                <a:ea typeface="+mn-ea"/>
                <a:cs typeface="+mn-cs"/>
              </a:rPr>
              <a:t>Character</a:t>
            </a:r>
            <a:r>
              <a:rPr lang="en-US" sz="1200" kern="1200" dirty="0">
                <a:solidFill>
                  <a:schemeClr val="tx1"/>
                </a:solidFill>
                <a:effectLst/>
                <a:latin typeface="+mn-lt"/>
                <a:ea typeface="+mn-ea"/>
                <a:cs typeface="+mn-cs"/>
              </a:rPr>
              <a:t> who has an external </a:t>
            </a:r>
            <a:r>
              <a:rPr lang="en-US" sz="1200" b="1" kern="1200" dirty="0">
                <a:solidFill>
                  <a:schemeClr val="tx1"/>
                </a:solidFill>
                <a:effectLst/>
                <a:latin typeface="+mn-lt"/>
                <a:ea typeface="+mn-ea"/>
                <a:cs typeface="+mn-cs"/>
              </a:rPr>
              <a:t>Want</a:t>
            </a:r>
            <a:r>
              <a:rPr lang="en-US" sz="1200" kern="1200" dirty="0">
                <a:solidFill>
                  <a:schemeClr val="tx1"/>
                </a:solidFill>
                <a:effectLst/>
                <a:latin typeface="+mn-lt"/>
                <a:ea typeface="+mn-ea"/>
                <a:cs typeface="+mn-cs"/>
              </a:rPr>
              <a:t>. They hit an </a:t>
            </a:r>
            <a:r>
              <a:rPr lang="en-US" sz="1200" b="1" kern="1200" dirty="0">
                <a:solidFill>
                  <a:schemeClr val="tx1"/>
                </a:solidFill>
                <a:effectLst/>
                <a:latin typeface="+mn-lt"/>
                <a:ea typeface="+mn-ea"/>
                <a:cs typeface="+mn-cs"/>
              </a:rPr>
              <a:t>Obstacle</a:t>
            </a:r>
            <a:r>
              <a:rPr lang="en-US" sz="1200" kern="1200" dirty="0">
                <a:solidFill>
                  <a:schemeClr val="tx1"/>
                </a:solidFill>
                <a:effectLst/>
                <a:latin typeface="+mn-lt"/>
                <a:ea typeface="+mn-ea"/>
                <a:cs typeface="+mn-cs"/>
              </a:rPr>
              <a:t>, force an internal pivot to uncover what they </a:t>
            </a:r>
            <a:r>
              <a:rPr lang="en-US" sz="1200" b="1" kern="1200" dirty="0">
                <a:solidFill>
                  <a:schemeClr val="tx1"/>
                </a:solidFill>
                <a:effectLst/>
                <a:latin typeface="+mn-lt"/>
                <a:ea typeface="+mn-ea"/>
                <a:cs typeface="+mn-cs"/>
              </a:rPr>
              <a:t>Need</a:t>
            </a:r>
            <a:r>
              <a:rPr lang="en-US" sz="1200" kern="1200" dirty="0">
                <a:solidFill>
                  <a:schemeClr val="tx1"/>
                </a:solidFill>
                <a:effectLst/>
                <a:latin typeface="+mn-lt"/>
                <a:ea typeface="+mn-ea"/>
                <a:cs typeface="+mn-cs"/>
              </a:rPr>
              <a:t>, and achieve internal transformation. </a:t>
            </a:r>
          </a:p>
          <a:p>
            <a:pPr lvl="0"/>
            <a:r>
              <a:rPr lang="en-US" sz="1200" b="1" kern="1200" dirty="0">
                <a:solidFill>
                  <a:schemeClr val="tx1"/>
                </a:solidFill>
                <a:effectLst/>
                <a:latin typeface="+mn-lt"/>
                <a:ea typeface="+mn-ea"/>
                <a:cs typeface="+mn-cs"/>
              </a:rPr>
              <a:t>Closing the Imagination Gap:</a:t>
            </a:r>
            <a:r>
              <a:rPr lang="en-US" sz="1200" kern="1200" dirty="0">
                <a:solidFill>
                  <a:schemeClr val="tx1"/>
                </a:solidFill>
                <a:effectLst/>
                <a:latin typeface="+mn-lt"/>
                <a:ea typeface="+mn-ea"/>
                <a:cs typeface="+mn-cs"/>
              </a:rPr>
              <a:t> Use undeniable proof—videos, photos, and authentic testimonials—to show, not tell. </a:t>
            </a:r>
          </a:p>
          <a:p>
            <a:pPr lvl="0"/>
            <a:r>
              <a:rPr lang="en-US" sz="1200" b="1" kern="1200" dirty="0">
                <a:solidFill>
                  <a:schemeClr val="tx1"/>
                </a:solidFill>
                <a:effectLst/>
                <a:latin typeface="+mn-lt"/>
                <a:ea typeface="+mn-ea"/>
                <a:cs typeface="+mn-cs"/>
              </a:rPr>
              <a:t>The Thank You Economy:</a:t>
            </a:r>
            <a:r>
              <a:rPr lang="en-US" sz="1200" kern="1200" dirty="0">
                <a:solidFill>
                  <a:schemeClr val="tx1"/>
                </a:solidFill>
                <a:effectLst/>
                <a:latin typeface="+mn-lt"/>
                <a:ea typeface="+mn-ea"/>
                <a:cs typeface="+mn-cs"/>
              </a:rPr>
              <a:t> Generosity creates social attention. As your audience trusts you, high-value brand deals and premium clients follow naturally. </a:t>
            </a:r>
          </a:p>
          <a:p>
            <a:pPr lvl="0"/>
            <a:r>
              <a:rPr lang="en-US" sz="1200" b="1" kern="1200" dirty="0">
                <a:solidFill>
                  <a:schemeClr val="tx1"/>
                </a:solidFill>
                <a:effectLst/>
                <a:latin typeface="+mn-lt"/>
                <a:ea typeface="+mn-ea"/>
                <a:cs typeface="+mn-cs"/>
              </a:rPr>
              <a:t>Specialization over Generalization:</a:t>
            </a:r>
            <a:r>
              <a:rPr lang="en-US" sz="1200" kern="1200" dirty="0">
                <a:solidFill>
                  <a:schemeClr val="tx1"/>
                </a:solidFill>
                <a:effectLst/>
                <a:latin typeface="+mn-lt"/>
                <a:ea typeface="+mn-ea"/>
                <a:cs typeface="+mn-cs"/>
              </a:rPr>
              <a:t> Move from a broad audience to a narrow niche to eliminate competition and increase pricing power. </a:t>
            </a:r>
          </a:p>
          <a:p>
            <a:pPr lvl="0"/>
            <a:r>
              <a:rPr lang="en-US" sz="1200" b="1" kern="1200" dirty="0">
                <a:solidFill>
                  <a:schemeClr val="tx1"/>
                </a:solidFill>
                <a:effectLst/>
                <a:latin typeface="+mn-lt"/>
                <a:ea typeface="+mn-ea"/>
                <a:cs typeface="+mn-cs"/>
              </a:rPr>
              <a:t>Pushing Through The Dip:</a:t>
            </a:r>
            <a:r>
              <a:rPr lang="en-US" sz="1200" kern="1200" dirty="0">
                <a:solidFill>
                  <a:schemeClr val="tx1"/>
                </a:solidFill>
                <a:effectLst/>
                <a:latin typeface="+mn-lt"/>
                <a:ea typeface="+mn-ea"/>
                <a:cs typeface="+mn-cs"/>
              </a:rPr>
              <a:t> Realize that exponential growth ($17k → $48k → $150k+) requires surviving the grind while everyone else quits. </a:t>
            </a:r>
          </a:p>
          <a:p>
            <a:r>
              <a:rPr lang="en-US" sz="1200" b="1" kern="1200" dirty="0">
                <a:solidFill>
                  <a:schemeClr val="tx1"/>
                </a:solidFill>
                <a:effectLst/>
                <a:latin typeface="+mn-lt"/>
                <a:ea typeface="+mn-ea"/>
                <a:cs typeface="+mn-cs"/>
              </a:rPr>
              <a:t>Final Message to the Audience:</a:t>
            </a:r>
            <a:r>
              <a:rPr lang="en-US" sz="1200" kern="1200" dirty="0">
                <a:solidFill>
                  <a:schemeClr val="tx1"/>
                </a:solidFill>
                <a:effectLst/>
                <a:latin typeface="+mn-lt"/>
                <a:ea typeface="+mn-ea"/>
                <a:cs typeface="+mn-cs"/>
              </a:rPr>
              <a:t> Stop selling products. Start telling transformation stories. Specialize your offer, build in public, help people selflessly, and the business growth will follow naturally. Thank you!</a:t>
            </a:r>
          </a:p>
          <a:p>
            <a:endParaRPr lang="en-US" dirty="0"/>
          </a:p>
        </p:txBody>
      </p:sp>
      <p:sp>
        <p:nvSpPr>
          <p:cNvPr id="4" name="Slide Number Placeholder 3"/>
          <p:cNvSpPr>
            <a:spLocks noGrp="1"/>
          </p:cNvSpPr>
          <p:nvPr>
            <p:ph type="sldNum" sz="quarter" idx="5"/>
          </p:nvPr>
        </p:nvSpPr>
        <p:spPr/>
        <p:txBody>
          <a:bodyPr/>
          <a:lstStyle/>
          <a:p>
            <a:fld id="{BBB38CDE-0C80-40F5-AD24-C726FC9189EF}" type="slidenum">
              <a:rPr lang="en-US" smtClean="0"/>
              <a:t>11</a:t>
            </a:fld>
            <a:endParaRPr lang="en-US"/>
          </a:p>
        </p:txBody>
      </p:sp>
    </p:spTree>
    <p:extLst>
      <p:ext uri="{BB962C8B-B14F-4D97-AF65-F5344CB8AC3E}">
        <p14:creationId xmlns:p14="http://schemas.microsoft.com/office/powerpoint/2010/main" val="36768554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48F293-0FAB-64D7-8C18-8A337425F658}"/>
              </a:ext>
            </a:extLst>
          </p:cNvPr>
          <p:cNvSpPr>
            <a:spLocks noGrp="1"/>
          </p:cNvSpPr>
          <p:nvPr>
            <p:ph type="dt" sz="half" idx="10"/>
          </p:nvPr>
        </p:nvSpPr>
        <p:spPr/>
        <p:txBody>
          <a:bodyPr/>
          <a:lstStyle/>
          <a:p>
            <a:fld id="{24318197-0473-4A83-9FA4-D274A4A33D7C}" type="datetimeFigureOut">
              <a:rPr lang="en-US" smtClean="0"/>
              <a:t>10/21/2026</a:t>
            </a:fld>
            <a:endParaRPr lang="en-US"/>
          </a:p>
        </p:txBody>
      </p:sp>
      <p:sp>
        <p:nvSpPr>
          <p:cNvPr id="3" name="Footer Placeholder 2">
            <a:extLst>
              <a:ext uri="{FF2B5EF4-FFF2-40B4-BE49-F238E27FC236}">
                <a16:creationId xmlns:a16="http://schemas.microsoft.com/office/drawing/2014/main" id="{DD62B1EA-CE93-54BE-D5EC-02EE1C00701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8BAF020-35AC-4727-3F0B-A502265107CA}"/>
              </a:ext>
            </a:extLst>
          </p:cNvPr>
          <p:cNvSpPr>
            <a:spLocks noGrp="1"/>
          </p:cNvSpPr>
          <p:nvPr>
            <p:ph type="sldNum" sz="quarter" idx="12"/>
          </p:nvPr>
        </p:nvSpPr>
        <p:spPr/>
        <p:txBody>
          <a:bodyPr/>
          <a:lstStyle/>
          <a:p>
            <a:fld id="{5440B535-0224-4F61-BAE1-AD3272C8FE38}" type="slidenum">
              <a:rPr lang="en-US" smtClean="0"/>
              <a:t>‹#›</a:t>
            </a:fld>
            <a:endParaRPr lang="en-US"/>
          </a:p>
        </p:txBody>
      </p:sp>
    </p:spTree>
    <p:extLst>
      <p:ext uri="{BB962C8B-B14F-4D97-AF65-F5344CB8AC3E}">
        <p14:creationId xmlns:p14="http://schemas.microsoft.com/office/powerpoint/2010/main" val="1395749387"/>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2063AC-DE64-CE6D-E28C-38B1C7B095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D137D2D-FB83-AEB9-E723-6639120CA0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E6F0C2D-7CB2-0D78-B1ED-E2B30E4120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318197-0473-4A83-9FA4-D274A4A33D7C}" type="datetimeFigureOut">
              <a:rPr lang="en-US" smtClean="0"/>
              <a:t>10/21/2026</a:t>
            </a:fld>
            <a:endParaRPr lang="en-US"/>
          </a:p>
        </p:txBody>
      </p:sp>
      <p:sp>
        <p:nvSpPr>
          <p:cNvPr id="5" name="Footer Placeholder 4">
            <a:extLst>
              <a:ext uri="{FF2B5EF4-FFF2-40B4-BE49-F238E27FC236}">
                <a16:creationId xmlns:a16="http://schemas.microsoft.com/office/drawing/2014/main" id="{F2BB9BDF-D164-942E-CF12-1A0DFC83C2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55F3FEF-B8F9-2882-F98F-7469A06CB8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440B535-0224-4F61-BAE1-AD3272C8FE38}" type="slidenum">
              <a:rPr lang="en-US" smtClean="0"/>
              <a:t>‹#›</a:t>
            </a:fld>
            <a:endParaRPr lang="en-US"/>
          </a:p>
        </p:txBody>
      </p:sp>
    </p:spTree>
    <p:extLst>
      <p:ext uri="{BB962C8B-B14F-4D97-AF65-F5344CB8AC3E}">
        <p14:creationId xmlns:p14="http://schemas.microsoft.com/office/powerpoint/2010/main" val="381872613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5EEDD22-AFA9-AEF0-D8CD-EA6D177543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4CF4E2-32B7-7E13-9E9E-4C38FFD422B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0575A5B-CED7-8A12-02AB-E7A092435D7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80A3206-E617-1FD7-FDDF-B227116C591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BC2294-0BEF-E14B-8CC5-B267FA58EF7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B437D3D-D68D-2A65-3337-F0AA8C83FE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BD7CE0-DA02-23AA-5571-BE9CC7E86BD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077F87B-A66A-5735-E083-0FF404439D0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4B64DC-2A51-0921-C50C-6F412D09072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F9B37D3-B9CC-F124-2483-9178A2393E5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0C379C6-9E8B-8A70-4163-065C7172E160}"/>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9833736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2177</Words>
  <Application>Microsoft Office PowerPoint</Application>
  <PresentationFormat>寬螢幕</PresentationFormat>
  <Paragraphs>93</Paragraphs>
  <Slides>11</Slides>
  <Notes>11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11</vt:i4>
      </vt:variant>
    </vt:vector>
  </HeadingPairs>
  <TitlesOfParts>
    <vt:vector size="15"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2026-09-06T09:10:37Z</dcterms:created>
  <dcterms:modified xsi:type="dcterms:W3CDTF">2026-10-21T02:49:04Z</dcterms:modified>
</cp:coreProperties>
</file>