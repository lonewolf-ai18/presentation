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216F9B3-3B5F-4343-B241-98DD0DE67477}" v="21" dt="2026-09-24T05:37:01.85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8" autoAdjust="0"/>
    <p:restoredTop sz="74929" autoAdjust="0"/>
  </p:normalViewPr>
  <p:slideViewPr>
    <p:cSldViewPr snapToGrid="0">
      <p:cViewPr varScale="1">
        <p:scale>
          <a:sx n="72" d="100"/>
          <a:sy n="72" d="100"/>
        </p:scale>
        <p:origin x="84" y="5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addSld delSld modSld modMainMaster">
      <pc:chgData name="Lai, Wilson" userId="2840974a-0d84-4886-90a9-9a3ed79f3a48" providerId="ADAL" clId="{9F23B798-9E84-4552-BA63-E776E805C424}" dt="2026-09-24T05:55:07.826" v="66" actId="22"/>
      <pc:docMkLst>
        <pc:docMk/>
      </pc:docMkLst>
      <pc:sldChg chg="addSp delSp modSp mod modAnim modNotes modNotesTx">
        <pc:chgData name="Lai, Wilson" userId="2840974a-0d84-4886-90a9-9a3ed79f3a48" providerId="ADAL" clId="{9F23B798-9E84-4552-BA63-E776E805C424}" dt="2026-09-24T05:52:47.200" v="42" actId="22"/>
        <pc:sldMkLst>
          <pc:docMk/>
          <pc:sldMk cId="0" sldId="257"/>
        </pc:sldMkLst>
        <pc:spChg chg="add mod">
          <ac:chgData name="Lai, Wilson" userId="2840974a-0d84-4886-90a9-9a3ed79f3a48" providerId="ADAL" clId="{9F23B798-9E84-4552-BA63-E776E805C424}" dt="2026-09-24T05:26:28.685" v="13" actId="164"/>
          <ac:spMkLst>
            <pc:docMk/>
            <pc:sldMk cId="0" sldId="257"/>
            <ac:spMk id="5" creationId="{F1E64C57-15C4-3925-DC2F-73F8F23D3019}"/>
          </ac:spMkLst>
        </pc:spChg>
        <pc:grpChg chg="add mod">
          <ac:chgData name="Lai, Wilson" userId="2840974a-0d84-4886-90a9-9a3ed79f3a48" providerId="ADAL" clId="{9F23B798-9E84-4552-BA63-E776E805C424}" dt="2026-09-24T05:26:28.685" v="13" actId="164"/>
          <ac:grpSpMkLst>
            <pc:docMk/>
            <pc:sldMk cId="0" sldId="257"/>
            <ac:grpSpMk id="6" creationId="{BCF14D66-78EF-8ECE-36FD-702E688926E4}"/>
          </ac:grpSpMkLst>
        </pc:grpChg>
        <pc:picChg chg="del ord">
          <ac:chgData name="Lai, Wilson" userId="2840974a-0d84-4886-90a9-9a3ed79f3a48" providerId="ADAL" clId="{9F23B798-9E84-4552-BA63-E776E805C424}" dt="2026-09-24T05:52:38.184" v="41" actId="21"/>
          <ac:picMkLst>
            <pc:docMk/>
            <pc:sldMk cId="0" sldId="257"/>
            <ac:picMk id="2" creationId="{00000000-0000-0000-0000-000000000000}"/>
          </ac:picMkLst>
        </pc:picChg>
        <pc:picChg chg="add mod">
          <ac:chgData name="Lai, Wilson" userId="2840974a-0d84-4886-90a9-9a3ed79f3a48" providerId="ADAL" clId="{9F23B798-9E84-4552-BA63-E776E805C424}" dt="2026-09-24T05:26:28.685" v="13" actId="164"/>
          <ac:picMkLst>
            <pc:docMk/>
            <pc:sldMk cId="0" sldId="257"/>
            <ac:picMk id="3" creationId="{F353DC01-8D79-F558-3A2B-0300AF01FA0A}"/>
          </ac:picMkLst>
        </pc:picChg>
        <pc:picChg chg="add">
          <ac:chgData name="Lai, Wilson" userId="2840974a-0d84-4886-90a9-9a3ed79f3a48" providerId="ADAL" clId="{9F23B798-9E84-4552-BA63-E776E805C424}" dt="2026-09-24T05:52:47.200" v="42" actId="22"/>
          <ac:picMkLst>
            <pc:docMk/>
            <pc:sldMk cId="0" sldId="257"/>
            <ac:picMk id="7" creationId="{1ABE47BE-9D95-A305-E956-AD39F95B717F}"/>
          </ac:picMkLst>
        </pc:picChg>
      </pc:sldChg>
      <pc:sldChg chg="addSp delSp mod modNotes">
        <pc:chgData name="Lai, Wilson" userId="2840974a-0d84-4886-90a9-9a3ed79f3a48" providerId="ADAL" clId="{9F23B798-9E84-4552-BA63-E776E805C424}" dt="2026-09-24T05:52:56.329" v="44" actId="22"/>
        <pc:sldMkLst>
          <pc:docMk/>
          <pc:sldMk cId="0" sldId="258"/>
        </pc:sldMkLst>
        <pc:picChg chg="del">
          <ac:chgData name="Lai, Wilson" userId="2840974a-0d84-4886-90a9-9a3ed79f3a48" providerId="ADAL" clId="{9F23B798-9E84-4552-BA63-E776E805C424}" dt="2026-09-24T05:52:49.031" v="43" actId="21"/>
          <ac:picMkLst>
            <pc:docMk/>
            <pc:sldMk cId="0" sldId="258"/>
            <ac:picMk id="2" creationId="{00000000-0000-0000-0000-000000000000}"/>
          </ac:picMkLst>
        </pc:picChg>
        <pc:picChg chg="add">
          <ac:chgData name="Lai, Wilson" userId="2840974a-0d84-4886-90a9-9a3ed79f3a48" providerId="ADAL" clId="{9F23B798-9E84-4552-BA63-E776E805C424}" dt="2026-09-24T05:52:56.329" v="44" actId="22"/>
          <ac:picMkLst>
            <pc:docMk/>
            <pc:sldMk cId="0" sldId="258"/>
            <ac:picMk id="4" creationId="{A7A43FAD-5665-C31A-FB4C-7203B7813A8F}"/>
          </ac:picMkLst>
        </pc:picChg>
      </pc:sldChg>
      <pc:sldChg chg="addSp delSp mod modNotes">
        <pc:chgData name="Lai, Wilson" userId="2840974a-0d84-4886-90a9-9a3ed79f3a48" providerId="ADAL" clId="{9F23B798-9E84-4552-BA63-E776E805C424}" dt="2026-09-24T05:53:06.817" v="46" actId="22"/>
        <pc:sldMkLst>
          <pc:docMk/>
          <pc:sldMk cId="0" sldId="259"/>
        </pc:sldMkLst>
        <pc:picChg chg="del">
          <ac:chgData name="Lai, Wilson" userId="2840974a-0d84-4886-90a9-9a3ed79f3a48" providerId="ADAL" clId="{9F23B798-9E84-4552-BA63-E776E805C424}" dt="2026-09-24T05:52:58.475" v="45" actId="21"/>
          <ac:picMkLst>
            <pc:docMk/>
            <pc:sldMk cId="0" sldId="259"/>
            <ac:picMk id="2" creationId="{00000000-0000-0000-0000-000000000000}"/>
          </ac:picMkLst>
        </pc:picChg>
        <pc:picChg chg="add">
          <ac:chgData name="Lai, Wilson" userId="2840974a-0d84-4886-90a9-9a3ed79f3a48" providerId="ADAL" clId="{9F23B798-9E84-4552-BA63-E776E805C424}" dt="2026-09-24T05:53:06.817" v="46" actId="22"/>
          <ac:picMkLst>
            <pc:docMk/>
            <pc:sldMk cId="0" sldId="259"/>
            <ac:picMk id="4" creationId="{0C5668F5-3EA1-8F40-2651-73152E666D58}"/>
          </ac:picMkLst>
        </pc:picChg>
      </pc:sldChg>
      <pc:sldChg chg="addSp delSp mod modNotes">
        <pc:chgData name="Lai, Wilson" userId="2840974a-0d84-4886-90a9-9a3ed79f3a48" providerId="ADAL" clId="{9F23B798-9E84-4552-BA63-E776E805C424}" dt="2026-09-24T05:53:16.052" v="48" actId="22"/>
        <pc:sldMkLst>
          <pc:docMk/>
          <pc:sldMk cId="0" sldId="260"/>
        </pc:sldMkLst>
        <pc:picChg chg="del">
          <ac:chgData name="Lai, Wilson" userId="2840974a-0d84-4886-90a9-9a3ed79f3a48" providerId="ADAL" clId="{9F23B798-9E84-4552-BA63-E776E805C424}" dt="2026-09-24T05:53:09.095" v="47" actId="21"/>
          <ac:picMkLst>
            <pc:docMk/>
            <pc:sldMk cId="0" sldId="260"/>
            <ac:picMk id="2" creationId="{00000000-0000-0000-0000-000000000000}"/>
          </ac:picMkLst>
        </pc:picChg>
        <pc:picChg chg="add">
          <ac:chgData name="Lai, Wilson" userId="2840974a-0d84-4886-90a9-9a3ed79f3a48" providerId="ADAL" clId="{9F23B798-9E84-4552-BA63-E776E805C424}" dt="2026-09-24T05:53:16.052" v="48" actId="22"/>
          <ac:picMkLst>
            <pc:docMk/>
            <pc:sldMk cId="0" sldId="260"/>
            <ac:picMk id="4" creationId="{FEE3D30C-C11A-6C66-FECF-6C211B324245}"/>
          </ac:picMkLst>
        </pc:picChg>
      </pc:sldChg>
      <pc:sldChg chg="addSp delSp mod modNotes">
        <pc:chgData name="Lai, Wilson" userId="2840974a-0d84-4886-90a9-9a3ed79f3a48" providerId="ADAL" clId="{9F23B798-9E84-4552-BA63-E776E805C424}" dt="2026-09-24T05:53:26.433" v="50" actId="22"/>
        <pc:sldMkLst>
          <pc:docMk/>
          <pc:sldMk cId="0" sldId="261"/>
        </pc:sldMkLst>
        <pc:picChg chg="del">
          <ac:chgData name="Lai, Wilson" userId="2840974a-0d84-4886-90a9-9a3ed79f3a48" providerId="ADAL" clId="{9F23B798-9E84-4552-BA63-E776E805C424}" dt="2026-09-24T05:53:18.205" v="49" actId="21"/>
          <ac:picMkLst>
            <pc:docMk/>
            <pc:sldMk cId="0" sldId="261"/>
            <ac:picMk id="2" creationId="{00000000-0000-0000-0000-000000000000}"/>
          </ac:picMkLst>
        </pc:picChg>
        <pc:picChg chg="add">
          <ac:chgData name="Lai, Wilson" userId="2840974a-0d84-4886-90a9-9a3ed79f3a48" providerId="ADAL" clId="{9F23B798-9E84-4552-BA63-E776E805C424}" dt="2026-09-24T05:53:26.433" v="50" actId="22"/>
          <ac:picMkLst>
            <pc:docMk/>
            <pc:sldMk cId="0" sldId="261"/>
            <ac:picMk id="4" creationId="{A787A856-8036-112C-914F-408DDBBCEC2F}"/>
          </ac:picMkLst>
        </pc:picChg>
      </pc:sldChg>
      <pc:sldChg chg="addSp delSp mod modNotes">
        <pc:chgData name="Lai, Wilson" userId="2840974a-0d84-4886-90a9-9a3ed79f3a48" providerId="ADAL" clId="{9F23B798-9E84-4552-BA63-E776E805C424}" dt="2026-09-24T05:53:34.925" v="52" actId="22"/>
        <pc:sldMkLst>
          <pc:docMk/>
          <pc:sldMk cId="0" sldId="262"/>
        </pc:sldMkLst>
        <pc:picChg chg="del">
          <ac:chgData name="Lai, Wilson" userId="2840974a-0d84-4886-90a9-9a3ed79f3a48" providerId="ADAL" clId="{9F23B798-9E84-4552-BA63-E776E805C424}" dt="2026-09-24T05:53:28.059" v="51" actId="21"/>
          <ac:picMkLst>
            <pc:docMk/>
            <pc:sldMk cId="0" sldId="262"/>
            <ac:picMk id="2" creationId="{00000000-0000-0000-0000-000000000000}"/>
          </ac:picMkLst>
        </pc:picChg>
        <pc:picChg chg="add">
          <ac:chgData name="Lai, Wilson" userId="2840974a-0d84-4886-90a9-9a3ed79f3a48" providerId="ADAL" clId="{9F23B798-9E84-4552-BA63-E776E805C424}" dt="2026-09-24T05:53:34.925" v="52" actId="22"/>
          <ac:picMkLst>
            <pc:docMk/>
            <pc:sldMk cId="0" sldId="262"/>
            <ac:picMk id="4" creationId="{BB20EAA4-3710-1ED4-8A4E-FCA6418DAA0F}"/>
          </ac:picMkLst>
        </pc:picChg>
      </pc:sldChg>
      <pc:sldChg chg="addSp delSp mod modNotes modNotesTx">
        <pc:chgData name="Lai, Wilson" userId="2840974a-0d84-4886-90a9-9a3ed79f3a48" providerId="ADAL" clId="{9F23B798-9E84-4552-BA63-E776E805C424}" dt="2026-09-24T05:53:46.848" v="54" actId="22"/>
        <pc:sldMkLst>
          <pc:docMk/>
          <pc:sldMk cId="0" sldId="263"/>
        </pc:sldMkLst>
        <pc:picChg chg="del">
          <ac:chgData name="Lai, Wilson" userId="2840974a-0d84-4886-90a9-9a3ed79f3a48" providerId="ADAL" clId="{9F23B798-9E84-4552-BA63-E776E805C424}" dt="2026-09-24T05:53:37.011" v="53" actId="21"/>
          <ac:picMkLst>
            <pc:docMk/>
            <pc:sldMk cId="0" sldId="263"/>
            <ac:picMk id="2" creationId="{00000000-0000-0000-0000-000000000000}"/>
          </ac:picMkLst>
        </pc:picChg>
        <pc:picChg chg="add">
          <ac:chgData name="Lai, Wilson" userId="2840974a-0d84-4886-90a9-9a3ed79f3a48" providerId="ADAL" clId="{9F23B798-9E84-4552-BA63-E776E805C424}" dt="2026-09-24T05:53:46.848" v="54" actId="22"/>
          <ac:picMkLst>
            <pc:docMk/>
            <pc:sldMk cId="0" sldId="263"/>
            <ac:picMk id="4" creationId="{C72C30E5-1E3A-E3A1-EFB4-38805EEB9911}"/>
          </ac:picMkLst>
        </pc:picChg>
      </pc:sldChg>
      <pc:sldChg chg="addSp delSp mod modNotes modNotesTx">
        <pc:chgData name="Lai, Wilson" userId="2840974a-0d84-4886-90a9-9a3ed79f3a48" providerId="ADAL" clId="{9F23B798-9E84-4552-BA63-E776E805C424}" dt="2026-09-24T05:54:13.134" v="56" actId="22"/>
        <pc:sldMkLst>
          <pc:docMk/>
          <pc:sldMk cId="0" sldId="264"/>
        </pc:sldMkLst>
        <pc:picChg chg="del">
          <ac:chgData name="Lai, Wilson" userId="2840974a-0d84-4886-90a9-9a3ed79f3a48" providerId="ADAL" clId="{9F23B798-9E84-4552-BA63-E776E805C424}" dt="2026-09-24T05:53:48.565" v="55" actId="21"/>
          <ac:picMkLst>
            <pc:docMk/>
            <pc:sldMk cId="0" sldId="264"/>
            <ac:picMk id="2" creationId="{00000000-0000-0000-0000-000000000000}"/>
          </ac:picMkLst>
        </pc:picChg>
        <pc:picChg chg="add">
          <ac:chgData name="Lai, Wilson" userId="2840974a-0d84-4886-90a9-9a3ed79f3a48" providerId="ADAL" clId="{9F23B798-9E84-4552-BA63-E776E805C424}" dt="2026-09-24T05:54:13.134" v="56" actId="22"/>
          <ac:picMkLst>
            <pc:docMk/>
            <pc:sldMk cId="0" sldId="264"/>
            <ac:picMk id="4" creationId="{288C09BF-8CF3-C1B3-1AD1-2BC00F9C7CBE}"/>
          </ac:picMkLst>
        </pc:picChg>
      </pc:sldChg>
      <pc:sldChg chg="addSp delSp mod modNotes">
        <pc:chgData name="Lai, Wilson" userId="2840974a-0d84-4886-90a9-9a3ed79f3a48" providerId="ADAL" clId="{9F23B798-9E84-4552-BA63-E776E805C424}" dt="2026-09-24T05:54:23.635" v="58" actId="22"/>
        <pc:sldMkLst>
          <pc:docMk/>
          <pc:sldMk cId="0" sldId="265"/>
        </pc:sldMkLst>
        <pc:picChg chg="del">
          <ac:chgData name="Lai, Wilson" userId="2840974a-0d84-4886-90a9-9a3ed79f3a48" providerId="ADAL" clId="{9F23B798-9E84-4552-BA63-E776E805C424}" dt="2026-09-24T05:54:15.413" v="57" actId="21"/>
          <ac:picMkLst>
            <pc:docMk/>
            <pc:sldMk cId="0" sldId="265"/>
            <ac:picMk id="2" creationId="{00000000-0000-0000-0000-000000000000}"/>
          </ac:picMkLst>
        </pc:picChg>
        <pc:picChg chg="add">
          <ac:chgData name="Lai, Wilson" userId="2840974a-0d84-4886-90a9-9a3ed79f3a48" providerId="ADAL" clId="{9F23B798-9E84-4552-BA63-E776E805C424}" dt="2026-09-24T05:54:23.635" v="58" actId="22"/>
          <ac:picMkLst>
            <pc:docMk/>
            <pc:sldMk cId="0" sldId="265"/>
            <ac:picMk id="4" creationId="{68DC092F-8CE2-1E87-7581-D7CB161C42C6}"/>
          </ac:picMkLst>
        </pc:picChg>
      </pc:sldChg>
      <pc:sldChg chg="addSp delSp mod modNotes modNotesTx">
        <pc:chgData name="Lai, Wilson" userId="2840974a-0d84-4886-90a9-9a3ed79f3a48" providerId="ADAL" clId="{9F23B798-9E84-4552-BA63-E776E805C424}" dt="2026-09-24T05:54:32.305" v="60" actId="22"/>
        <pc:sldMkLst>
          <pc:docMk/>
          <pc:sldMk cId="0" sldId="266"/>
        </pc:sldMkLst>
        <pc:picChg chg="del">
          <ac:chgData name="Lai, Wilson" userId="2840974a-0d84-4886-90a9-9a3ed79f3a48" providerId="ADAL" clId="{9F23B798-9E84-4552-BA63-E776E805C424}" dt="2026-09-24T05:54:25.141" v="59" actId="21"/>
          <ac:picMkLst>
            <pc:docMk/>
            <pc:sldMk cId="0" sldId="266"/>
            <ac:picMk id="2" creationId="{00000000-0000-0000-0000-000000000000}"/>
          </ac:picMkLst>
        </pc:picChg>
        <pc:picChg chg="add">
          <ac:chgData name="Lai, Wilson" userId="2840974a-0d84-4886-90a9-9a3ed79f3a48" providerId="ADAL" clId="{9F23B798-9E84-4552-BA63-E776E805C424}" dt="2026-09-24T05:54:32.305" v="60" actId="22"/>
          <ac:picMkLst>
            <pc:docMk/>
            <pc:sldMk cId="0" sldId="266"/>
            <ac:picMk id="4" creationId="{839A726A-2596-2214-CCEA-D04719B88526}"/>
          </ac:picMkLst>
        </pc:picChg>
      </pc:sldChg>
      <pc:sldChg chg="addSp delSp mod modNotes modNotesTx">
        <pc:chgData name="Lai, Wilson" userId="2840974a-0d84-4886-90a9-9a3ed79f3a48" providerId="ADAL" clId="{9F23B798-9E84-4552-BA63-E776E805C424}" dt="2026-09-24T05:54:44.795" v="62" actId="22"/>
        <pc:sldMkLst>
          <pc:docMk/>
          <pc:sldMk cId="0" sldId="267"/>
        </pc:sldMkLst>
        <pc:picChg chg="del">
          <ac:chgData name="Lai, Wilson" userId="2840974a-0d84-4886-90a9-9a3ed79f3a48" providerId="ADAL" clId="{9F23B798-9E84-4552-BA63-E776E805C424}" dt="2026-09-24T05:54:33.773" v="61" actId="21"/>
          <ac:picMkLst>
            <pc:docMk/>
            <pc:sldMk cId="0" sldId="267"/>
            <ac:picMk id="2" creationId="{00000000-0000-0000-0000-000000000000}"/>
          </ac:picMkLst>
        </pc:picChg>
        <pc:picChg chg="add">
          <ac:chgData name="Lai, Wilson" userId="2840974a-0d84-4886-90a9-9a3ed79f3a48" providerId="ADAL" clId="{9F23B798-9E84-4552-BA63-E776E805C424}" dt="2026-09-24T05:54:44.795" v="62" actId="22"/>
          <ac:picMkLst>
            <pc:docMk/>
            <pc:sldMk cId="0" sldId="267"/>
            <ac:picMk id="4" creationId="{FA53E958-F375-3B48-D112-18E342A040F5}"/>
          </ac:picMkLst>
        </pc:picChg>
      </pc:sldChg>
      <pc:sldChg chg="addSp delSp mod modNotes">
        <pc:chgData name="Lai, Wilson" userId="2840974a-0d84-4886-90a9-9a3ed79f3a48" providerId="ADAL" clId="{9F23B798-9E84-4552-BA63-E776E805C424}" dt="2026-09-24T05:54:56.381" v="64" actId="22"/>
        <pc:sldMkLst>
          <pc:docMk/>
          <pc:sldMk cId="0" sldId="268"/>
        </pc:sldMkLst>
        <pc:picChg chg="del">
          <ac:chgData name="Lai, Wilson" userId="2840974a-0d84-4886-90a9-9a3ed79f3a48" providerId="ADAL" clId="{9F23B798-9E84-4552-BA63-E776E805C424}" dt="2026-09-24T05:54:46.156" v="63" actId="21"/>
          <ac:picMkLst>
            <pc:docMk/>
            <pc:sldMk cId="0" sldId="268"/>
            <ac:picMk id="2" creationId="{00000000-0000-0000-0000-000000000000}"/>
          </ac:picMkLst>
        </pc:picChg>
        <pc:picChg chg="add">
          <ac:chgData name="Lai, Wilson" userId="2840974a-0d84-4886-90a9-9a3ed79f3a48" providerId="ADAL" clId="{9F23B798-9E84-4552-BA63-E776E805C424}" dt="2026-09-24T05:54:56.381" v="64" actId="22"/>
          <ac:picMkLst>
            <pc:docMk/>
            <pc:sldMk cId="0" sldId="268"/>
            <ac:picMk id="4" creationId="{B14A318C-DF40-C689-2C26-B865A4A2013F}"/>
          </ac:picMkLst>
        </pc:picChg>
      </pc:sldChg>
      <pc:sldChg chg="addSp delSp mod modNotes modNotesTx">
        <pc:chgData name="Lai, Wilson" userId="2840974a-0d84-4886-90a9-9a3ed79f3a48" providerId="ADAL" clId="{9F23B798-9E84-4552-BA63-E776E805C424}" dt="2026-09-24T05:55:07.826" v="66" actId="22"/>
        <pc:sldMkLst>
          <pc:docMk/>
          <pc:sldMk cId="1633564632" sldId="269"/>
        </pc:sldMkLst>
        <pc:picChg chg="del">
          <ac:chgData name="Lai, Wilson" userId="2840974a-0d84-4886-90a9-9a3ed79f3a48" providerId="ADAL" clId="{9F23B798-9E84-4552-BA63-E776E805C424}" dt="2026-09-24T05:54:58.581" v="65" actId="21"/>
          <ac:picMkLst>
            <pc:docMk/>
            <pc:sldMk cId="1633564632" sldId="269"/>
            <ac:picMk id="3" creationId="{779700D1-F71D-8783-3106-B061E578F8D3}"/>
          </ac:picMkLst>
        </pc:picChg>
        <pc:picChg chg="add">
          <ac:chgData name="Lai, Wilson" userId="2840974a-0d84-4886-90a9-9a3ed79f3a48" providerId="ADAL" clId="{9F23B798-9E84-4552-BA63-E776E805C424}" dt="2026-09-24T05:55:07.826" v="66" actId="22"/>
          <ac:picMkLst>
            <pc:docMk/>
            <pc:sldMk cId="1633564632" sldId="269"/>
            <ac:picMk id="4" creationId="{0119A21E-BE2E-2BD6-6A0B-371AB9EA75CE}"/>
          </ac:picMkLst>
        </pc:picChg>
      </pc:sldChg>
      <pc:sldChg chg="new del">
        <pc:chgData name="Lai, Wilson" userId="2840974a-0d84-4886-90a9-9a3ed79f3a48" providerId="ADAL" clId="{9F23B798-9E84-4552-BA63-E776E805C424}" dt="2026-09-24T05:07:11.347" v="1" actId="680"/>
        <pc:sldMkLst>
          <pc:docMk/>
          <pc:sldMk cId="3248585679" sldId="270"/>
        </pc:sldMkLst>
      </pc:sldChg>
      <pc:sldMasterChg chg="setBg">
        <pc:chgData name="Lai, Wilson" userId="2840974a-0d84-4886-90a9-9a3ed79f3a48" providerId="ADAL" clId="{9F23B798-9E84-4552-BA63-E776E805C424}" dt="2026-09-24T05:07:29.884" v="4"/>
        <pc:sldMasterMkLst>
          <pc:docMk/>
          <pc:sldMasterMk cId="1309496825"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B970597-FF95-4032-B7A9-6ED4F69C0B76}"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93B189-5C73-42E8-813B-4CB155193F3A}" type="slidenum">
              <a:rPr lang="en-US" smtClean="0"/>
              <a:t>‹#›</a:t>
            </a:fld>
            <a:endParaRPr lang="en-US"/>
          </a:p>
        </p:txBody>
      </p:sp>
    </p:spTree>
    <p:extLst>
      <p:ext uri="{BB962C8B-B14F-4D97-AF65-F5344CB8AC3E}">
        <p14:creationId xmlns:p14="http://schemas.microsoft.com/office/powerpoint/2010/main" val="25324455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Welcome &amp; Introduction:</a:t>
            </a:r>
            <a:r>
              <a:rPr lang="en-US" sz="1200" kern="1200" dirty="0">
                <a:solidFill>
                  <a:schemeClr val="tx1"/>
                </a:solidFill>
                <a:effectLst/>
                <a:latin typeface="+mn-lt"/>
                <a:ea typeface="+mn-ea"/>
                <a:cs typeface="+mn-cs"/>
              </a:rPr>
              <a:t> Welcome everyone. Today, we're talking about a major shift in how we build software with AI—specifically, why we have moved past the fantasy of 'lights-out' autonomous coding and how to actually build a sustainable, compounding Software Factory. </a:t>
            </a:r>
          </a:p>
          <a:p>
            <a:pPr lvl="0"/>
            <a:r>
              <a:rPr lang="en-US" sz="1200" b="1" kern="1200" dirty="0">
                <a:solidFill>
                  <a:schemeClr val="tx1"/>
                </a:solidFill>
                <a:effectLst/>
                <a:latin typeface="+mn-lt"/>
                <a:ea typeface="+mn-ea"/>
                <a:cs typeface="+mn-cs"/>
              </a:rPr>
              <a:t>The Promise vs. Reality:</a:t>
            </a:r>
            <a:r>
              <a:rPr lang="en-US" sz="1200" kern="1200" dirty="0">
                <a:solidFill>
                  <a:schemeClr val="tx1"/>
                </a:solidFill>
                <a:effectLst/>
                <a:latin typeface="+mn-lt"/>
                <a:ea typeface="+mn-ea"/>
                <a:cs typeface="+mn-cs"/>
              </a:rPr>
              <a:t> Over the past year and a half, the engineering community went through an extreme hype cycle. We all wanted to believe that AI agents could take high-level prompts, disappear into the dark, and output perfect pull requests while we slept. </a:t>
            </a:r>
          </a:p>
          <a:p>
            <a:pPr lvl="0"/>
            <a:r>
              <a:rPr lang="en-US" sz="1200" b="1" kern="1200" dirty="0">
                <a:solidFill>
                  <a:schemeClr val="tx1"/>
                </a:solidFill>
                <a:effectLst/>
                <a:latin typeface="+mn-lt"/>
                <a:ea typeface="+mn-ea"/>
                <a:cs typeface="+mn-cs"/>
              </a:rPr>
              <a:t>The Pivotal Shift:</a:t>
            </a:r>
            <a:r>
              <a:rPr lang="en-US" sz="1200" kern="1200" dirty="0">
                <a:solidFill>
                  <a:schemeClr val="tx1"/>
                </a:solidFill>
                <a:effectLst/>
                <a:latin typeface="+mn-lt"/>
                <a:ea typeface="+mn-ea"/>
                <a:cs typeface="+mn-cs"/>
              </a:rPr>
              <a:t> In this presentation, based on real-world engineering hard lessons from building agentic systems—specifically drawing from Dex Horthy’s experience at Human Layer—we're going to examine why complete delegation fails, why unmonitored AI ruins codebases, and how to introduce human architectural oversight back into the loop.</a:t>
            </a:r>
          </a:p>
          <a:p>
            <a:endParaRPr lang="en-US" dirty="0"/>
          </a:p>
          <a:p>
            <a:endParaRPr lang="en-US" dirty="0"/>
          </a:p>
          <a:p>
            <a:endParaRPr lang="en-US" dirty="0"/>
          </a:p>
          <a:p>
            <a:endParaRPr lang="en-US" dirty="0"/>
          </a:p>
          <a:p>
            <a:endParaRPr lang="en-US" dirty="0"/>
          </a:p>
          <a:p>
            <a:r>
              <a:rPr lang="en-US" b="1" dirty="0"/>
              <a:t>The 'Dumb Zone': Why More Context Makes Your Agent Dumber</a:t>
            </a:r>
          </a:p>
          <a:p>
            <a:r>
              <a:rPr lang="en-US" dirty="0"/>
              <a:t>https://www.youtube.com/watch?v=H_1PygR7kwk</a:t>
            </a:r>
          </a:p>
        </p:txBody>
      </p:sp>
      <p:sp>
        <p:nvSpPr>
          <p:cNvPr id="4" name="Slide Number Placeholder 3"/>
          <p:cNvSpPr>
            <a:spLocks noGrp="1"/>
          </p:cNvSpPr>
          <p:nvPr>
            <p:ph type="sldNum" sz="quarter" idx="5"/>
          </p:nvPr>
        </p:nvSpPr>
        <p:spPr/>
        <p:txBody>
          <a:bodyPr/>
          <a:lstStyle/>
          <a:p>
            <a:fld id="{132A509A-831B-4087-ADB2-32AF95A9009D}" type="slidenum">
              <a:rPr lang="en-US" smtClean="0"/>
              <a:t>1</a:t>
            </a:fld>
            <a:endParaRPr lang="en-US"/>
          </a:p>
        </p:txBody>
      </p:sp>
    </p:spTree>
    <p:extLst>
      <p:ext uri="{BB962C8B-B14F-4D97-AF65-F5344CB8AC3E}">
        <p14:creationId xmlns:p14="http://schemas.microsoft.com/office/powerpoint/2010/main" val="21597443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'YOLO' Era:</a:t>
            </a:r>
            <a:r>
              <a:rPr lang="en-US" sz="1200" kern="1200" dirty="0">
                <a:solidFill>
                  <a:schemeClr val="tx1"/>
                </a:solidFill>
                <a:effectLst/>
                <a:latin typeface="+mn-lt"/>
                <a:ea typeface="+mn-ea"/>
                <a:cs typeface="+mn-cs"/>
              </a:rPr>
              <a:t> Let's revisit what we call 'The Summer of Agentic Hubris'. Around mid-2025, with models like Claude 3.5 Sonnet and early agentic SDKs, a popular paradigm emerged: 'The Spec is the New Code'. </a:t>
            </a:r>
          </a:p>
          <a:p>
            <a:pPr lvl="0"/>
            <a:r>
              <a:rPr lang="en-US" sz="1200" b="1" kern="1200" dirty="0">
                <a:solidFill>
                  <a:schemeClr val="tx1"/>
                </a:solidFill>
                <a:effectLst/>
                <a:latin typeface="+mn-lt"/>
                <a:ea typeface="+mn-ea"/>
                <a:cs typeface="+mn-cs"/>
              </a:rPr>
              <a:t>The Illusion:</a:t>
            </a:r>
            <a:r>
              <a:rPr lang="en-US" sz="1200" kern="1200" dirty="0">
                <a:solidFill>
                  <a:schemeClr val="tx1"/>
                </a:solidFill>
                <a:effectLst/>
                <a:latin typeface="+mn-lt"/>
                <a:ea typeface="+mn-ea"/>
                <a:cs typeface="+mn-cs"/>
              </a:rPr>
              <a:t> The goal was simple—write a quick markdown plan, feed it into a black-box agent, and accept pull requests directly on your phone. </a:t>
            </a:r>
          </a:p>
          <a:p>
            <a:pPr lvl="0"/>
            <a:r>
              <a:rPr lang="en-US" sz="1200" b="1" kern="1200" dirty="0">
                <a:solidFill>
                  <a:schemeClr val="tx1"/>
                </a:solidFill>
                <a:effectLst/>
                <a:latin typeface="+mn-lt"/>
                <a:ea typeface="+mn-ea"/>
                <a:cs typeface="+mn-cs"/>
              </a:rPr>
              <a:t>The Golden Rule That Failed:</a:t>
            </a:r>
            <a:r>
              <a:rPr lang="en-US" sz="1200" kern="1200" dirty="0">
                <a:solidFill>
                  <a:schemeClr val="tx1"/>
                </a:solidFill>
                <a:effectLst/>
                <a:latin typeface="+mn-lt"/>
                <a:ea typeface="+mn-ea"/>
                <a:cs typeface="+mn-cs"/>
              </a:rPr>
              <a:t> The mantra at the time was 'Read the plan, don't read the code'. We treated the LLM as a compiler. Just as Java developers don't inspect bytecode or .jar files, developers stopped inspecting generated diffs. </a:t>
            </a:r>
          </a:p>
          <a:p>
            <a:pPr lvl="0"/>
            <a:r>
              <a:rPr lang="en-US" sz="1200" b="1" kern="1200" dirty="0">
                <a:solidFill>
                  <a:schemeClr val="tx1"/>
                </a:solidFill>
                <a:effectLst/>
                <a:latin typeface="+mn-lt"/>
                <a:ea typeface="+mn-ea"/>
                <a:cs typeface="+mn-cs"/>
              </a:rPr>
              <a:t>Why it Was Tempting:</a:t>
            </a:r>
            <a:r>
              <a:rPr lang="en-US" sz="1200" kern="1200" dirty="0">
                <a:solidFill>
                  <a:schemeClr val="tx1"/>
                </a:solidFill>
                <a:effectLst/>
                <a:latin typeface="+mn-lt"/>
                <a:ea typeface="+mn-ea"/>
                <a:cs typeface="+mn-cs"/>
              </a:rPr>
              <a:t> Planning files were great because they squeezed performance out of context windows and kept agents focused. But treating the AI output as an unexamined black box created a dangerous false sense of security. </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2</a:t>
            </a:fld>
            <a:endParaRPr lang="en-US"/>
          </a:p>
        </p:txBody>
      </p:sp>
    </p:spTree>
    <p:extLst>
      <p:ext uri="{BB962C8B-B14F-4D97-AF65-F5344CB8AC3E}">
        <p14:creationId xmlns:p14="http://schemas.microsoft.com/office/powerpoint/2010/main" val="3065340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Initial Velocity vs. Long-Term Collapse:</a:t>
            </a:r>
            <a:r>
              <a:rPr lang="en-US" sz="1200" kern="1200" dirty="0">
                <a:solidFill>
                  <a:schemeClr val="tx1"/>
                </a:solidFill>
                <a:effectLst/>
                <a:latin typeface="+mn-lt"/>
                <a:ea typeface="+mn-ea"/>
                <a:cs typeface="+mn-cs"/>
              </a:rPr>
              <a:t> At first, everything looks amazing. Velocity spikes, features ship fast, and optimism is sky-high. But as months go by, you enter what we call 'The Slop Zone'. </a:t>
            </a:r>
          </a:p>
          <a:p>
            <a:pPr lvl="0"/>
            <a:r>
              <a:rPr lang="en-US" sz="1200" b="1" kern="1200" dirty="0">
                <a:solidFill>
                  <a:schemeClr val="tx1"/>
                </a:solidFill>
                <a:effectLst/>
                <a:latin typeface="+mn-lt"/>
                <a:ea typeface="+mn-ea"/>
                <a:cs typeface="+mn-cs"/>
              </a:rPr>
              <a:t>Accumulating Technical Debt:</a:t>
            </a:r>
            <a:r>
              <a:rPr lang="en-US" sz="1200" kern="1200" dirty="0">
                <a:solidFill>
                  <a:schemeClr val="tx1"/>
                </a:solidFill>
                <a:effectLst/>
                <a:latin typeface="+mn-lt"/>
                <a:ea typeface="+mn-ea"/>
                <a:cs typeface="+mn-cs"/>
              </a:rPr>
              <a:t> Because developers aren't checking the actual implementation, subtle anti-patterns and architectural drift start creeping in. Every new feature introduces untraceable regressions in completely unrelated parts of the codebase. </a:t>
            </a:r>
          </a:p>
          <a:p>
            <a:pPr lvl="0"/>
            <a:r>
              <a:rPr lang="en-US" sz="1200" b="1" kern="1200" dirty="0">
                <a:solidFill>
                  <a:schemeClr val="tx1"/>
                </a:solidFill>
                <a:effectLst/>
                <a:latin typeface="+mn-lt"/>
                <a:ea typeface="+mn-ea"/>
                <a:cs typeface="+mn-cs"/>
              </a:rPr>
              <a:t>Hitting the Wall:</a:t>
            </a:r>
            <a:r>
              <a:rPr lang="en-US" sz="1200" kern="1200" dirty="0">
                <a:solidFill>
                  <a:schemeClr val="tx1"/>
                </a:solidFill>
                <a:effectLst/>
                <a:latin typeface="+mn-lt"/>
                <a:ea typeface="+mn-ea"/>
                <a:cs typeface="+mn-cs"/>
              </a:rPr>
              <a:t> Eventually, development doesn't speed up—it grinds to a halt. The codebase becomes so tangled and full of 'slop' that even the AI itself can no longer navigate or modify it reliably. </a:t>
            </a:r>
          </a:p>
          <a:p>
            <a:pPr lvl="0"/>
            <a:r>
              <a:rPr lang="en-US" sz="1200" b="1" kern="1200" dirty="0">
                <a:solidFill>
                  <a:schemeClr val="tx1"/>
                </a:solidFill>
                <a:effectLst/>
                <a:latin typeface="+mn-lt"/>
                <a:ea typeface="+mn-ea"/>
                <a:cs typeface="+mn-cs"/>
              </a:rPr>
              <a:t>The Painful Nuclear Option:</a:t>
            </a:r>
            <a:r>
              <a:rPr lang="en-US" sz="1200" kern="1200" dirty="0">
                <a:solidFill>
                  <a:schemeClr val="tx1"/>
                </a:solidFill>
                <a:effectLst/>
                <a:latin typeface="+mn-lt"/>
                <a:ea typeface="+mn-ea"/>
                <a:cs typeface="+mn-cs"/>
              </a:rPr>
              <a:t> In Human Layer’s real case study, after five months of 'lights-out' development, their codebase became completely unusable. The fix? Throwing away the entire codebase and rebuilding the product from scratch—with the co-founder literally in VS Code, hand-typing every character of the core data architecture. </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3</a:t>
            </a:fld>
            <a:endParaRPr lang="en-US"/>
          </a:p>
        </p:txBody>
      </p:sp>
    </p:spTree>
    <p:extLst>
      <p:ext uri="{BB962C8B-B14F-4D97-AF65-F5344CB8AC3E}">
        <p14:creationId xmlns:p14="http://schemas.microsoft.com/office/powerpoint/2010/main" val="527002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Nature of LLM Architecture:</a:t>
            </a:r>
            <a:r>
              <a:rPr lang="en-US" sz="1200" kern="1200" dirty="0">
                <a:solidFill>
                  <a:schemeClr val="tx1"/>
                </a:solidFill>
                <a:effectLst/>
                <a:latin typeface="+mn-lt"/>
                <a:ea typeface="+mn-ea"/>
                <a:cs typeface="+mn-cs"/>
              </a:rPr>
              <a:t> Why do unattended AI agents mess up codebases? Because left to themselves, models naturally default to maximum complexity. </a:t>
            </a:r>
          </a:p>
          <a:p>
            <a:pPr lvl="0"/>
            <a:r>
              <a:rPr lang="en-US" sz="1200" b="1" kern="1200" dirty="0">
                <a:solidFill>
                  <a:schemeClr val="tx1"/>
                </a:solidFill>
                <a:effectLst/>
                <a:latin typeface="+mn-lt"/>
                <a:ea typeface="+mn-ea"/>
                <a:cs typeface="+mn-cs"/>
              </a:rPr>
              <a:t>Kernighan's Law / Donald Knuth Trap:</a:t>
            </a:r>
            <a:r>
              <a:rPr lang="en-US" sz="1200" kern="1200" dirty="0">
                <a:solidFill>
                  <a:schemeClr val="tx1"/>
                </a:solidFill>
                <a:effectLst/>
                <a:latin typeface="+mn-lt"/>
                <a:ea typeface="+mn-ea"/>
                <a:cs typeface="+mn-cs"/>
              </a:rPr>
              <a:t> There’s an old rule in computer science: 'If you write the smartest code you can, you are by definition not smart enough to debug it'. AI models lack the human intuition for simplicity. </a:t>
            </a:r>
          </a:p>
          <a:p>
            <a:pPr lvl="0"/>
            <a:r>
              <a:rPr lang="en-US" sz="1200" b="1" kern="1200" dirty="0">
                <a:solidFill>
                  <a:schemeClr val="tx1"/>
                </a:solidFill>
                <a:effectLst/>
                <a:latin typeface="+mn-lt"/>
                <a:ea typeface="+mn-ea"/>
                <a:cs typeface="+mn-cs"/>
              </a:rPr>
              <a:t>Over-Engineering in Action:</a:t>
            </a:r>
            <a:r>
              <a:rPr lang="en-US" sz="1200" kern="1200" dirty="0">
                <a:solidFill>
                  <a:schemeClr val="tx1"/>
                </a:solidFill>
                <a:effectLst/>
                <a:latin typeface="+mn-lt"/>
                <a:ea typeface="+mn-ea"/>
                <a:cs typeface="+mn-cs"/>
              </a:rPr>
              <a:t> Look at the diagram on this slide. When Human Layer asked AI to handle system architecture autonomously, it generated a labyrinth: a desktop app connecting over Rust sockets to a Golang daemon, managing Claude sessions, spawning MCP servers, communicating with SQLite via Unix sockets, and round-tripping back to the UI. </a:t>
            </a:r>
          </a:p>
          <a:p>
            <a:pPr lvl="0"/>
            <a:r>
              <a:rPr lang="en-US" sz="1200" b="1" kern="1200" dirty="0">
                <a:solidFill>
                  <a:schemeClr val="tx1"/>
                </a:solidFill>
                <a:effectLst/>
                <a:latin typeface="+mn-lt"/>
                <a:ea typeface="+mn-ea"/>
                <a:cs typeface="+mn-cs"/>
              </a:rPr>
              <a:t>The Real Lesson:</a:t>
            </a:r>
            <a:r>
              <a:rPr lang="en-US" sz="1200" kern="1200" dirty="0">
                <a:solidFill>
                  <a:schemeClr val="tx1"/>
                </a:solidFill>
                <a:effectLst/>
                <a:latin typeface="+mn-lt"/>
                <a:ea typeface="+mn-ea"/>
                <a:cs typeface="+mn-cs"/>
              </a:rPr>
              <a:t> Models don't know when </a:t>
            </a:r>
            <a:r>
              <a:rPr lang="en-US" sz="1200" i="1" kern="1200" dirty="0">
                <a:solidFill>
                  <a:schemeClr val="tx1"/>
                </a:solidFill>
                <a:effectLst/>
                <a:latin typeface="+mn-lt"/>
                <a:ea typeface="+mn-ea"/>
                <a:cs typeface="+mn-cs"/>
              </a:rPr>
              <a:t>not</a:t>
            </a:r>
            <a:r>
              <a:rPr lang="en-US" sz="1200" kern="1200" dirty="0">
                <a:solidFill>
                  <a:schemeClr val="tx1"/>
                </a:solidFill>
                <a:effectLst/>
                <a:latin typeface="+mn-lt"/>
                <a:ea typeface="+mn-ea"/>
                <a:cs typeface="+mn-cs"/>
              </a:rPr>
              <a:t> to add abstraction layers. Without human guardrails enforcing simplicity, AI builds unmaintainable webs. </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4</a:t>
            </a:fld>
            <a:endParaRPr lang="en-US"/>
          </a:p>
        </p:txBody>
      </p:sp>
    </p:spTree>
    <p:extLst>
      <p:ext uri="{BB962C8B-B14F-4D97-AF65-F5344CB8AC3E}">
        <p14:creationId xmlns:p14="http://schemas.microsoft.com/office/powerpoint/2010/main" val="20613732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Fast Oracles vs. Delayed Feedback:</a:t>
            </a:r>
            <a:r>
              <a:rPr lang="en-US" sz="1200" kern="1200" dirty="0">
                <a:solidFill>
                  <a:schemeClr val="tx1"/>
                </a:solidFill>
                <a:effectLst/>
                <a:latin typeface="+mn-lt"/>
                <a:ea typeface="+mn-ea"/>
                <a:cs typeface="+mn-cs"/>
              </a:rPr>
              <a:t> Reinforcement learning (RL) works exceptionally well when there is a 'Fast Oracle'—an immediate pass/fail feedback loop. Game engines, compilers, unit tests, and syntax checkers give instant feedback. </a:t>
            </a:r>
          </a:p>
          <a:p>
            <a:pPr lvl="0"/>
            <a:r>
              <a:rPr lang="en-US" sz="1200" b="1" kern="1200" dirty="0">
                <a:solidFill>
                  <a:schemeClr val="tx1"/>
                </a:solidFill>
                <a:effectLst/>
                <a:latin typeface="+mn-lt"/>
                <a:ea typeface="+mn-ea"/>
                <a:cs typeface="+mn-cs"/>
              </a:rPr>
              <a:t>The Code Maintainability Problem:</a:t>
            </a:r>
            <a:r>
              <a:rPr lang="en-US" sz="1200" kern="1200" dirty="0">
                <a:solidFill>
                  <a:schemeClr val="tx1"/>
                </a:solidFill>
                <a:effectLst/>
                <a:latin typeface="+mn-lt"/>
                <a:ea typeface="+mn-ea"/>
                <a:cs typeface="+mn-cs"/>
              </a:rPr>
              <a:t> Code maintainability has </a:t>
            </a:r>
            <a:r>
              <a:rPr lang="en-US" sz="1200" i="1" kern="1200" dirty="0">
                <a:solidFill>
                  <a:schemeClr val="tx1"/>
                </a:solidFill>
                <a:effectLst/>
                <a:latin typeface="+mn-lt"/>
                <a:ea typeface="+mn-ea"/>
                <a:cs typeface="+mn-cs"/>
              </a:rPr>
              <a:t>no</a:t>
            </a:r>
            <a:r>
              <a:rPr lang="en-US" sz="1200" kern="1200" dirty="0">
                <a:solidFill>
                  <a:schemeClr val="tx1"/>
                </a:solidFill>
                <a:effectLst/>
                <a:latin typeface="+mn-lt"/>
                <a:ea typeface="+mn-ea"/>
                <a:cs typeface="+mn-cs"/>
              </a:rPr>
              <a:t> fast oracle. You don't realize code is messy, brittle, or poorly architected on day 1—you find out 2 or 3 months later when trying to add a new feature. </a:t>
            </a:r>
          </a:p>
          <a:p>
            <a:pPr lvl="0"/>
            <a:r>
              <a:rPr lang="en-US" sz="1200" b="1" kern="1200" dirty="0">
                <a:solidFill>
                  <a:schemeClr val="tx1"/>
                </a:solidFill>
                <a:effectLst/>
                <a:latin typeface="+mn-lt"/>
                <a:ea typeface="+mn-ea"/>
                <a:cs typeface="+mn-cs"/>
              </a:rPr>
              <a:t>Benchmark Evidence (Slop Code Bench):</a:t>
            </a:r>
            <a:r>
              <a:rPr lang="en-US" sz="1200" kern="1200" dirty="0">
                <a:solidFill>
                  <a:schemeClr val="tx1"/>
                </a:solidFill>
                <a:effectLst/>
                <a:latin typeface="+mn-lt"/>
                <a:ea typeface="+mn-ea"/>
                <a:cs typeface="+mn-cs"/>
              </a:rPr>
              <a:t> This isn't just subjective; research confirms it. In the 'Slop Code Bench'—a benchmark testing how models maintain a codebase across multiple consecutive feature updates—top frontier models like GPT-5.5 score ~14.8% and Astra around ~16.3%.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Because models cannot hill-climb toward maintainability on their own, humans must define the verifiers and constraints.</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5</a:t>
            </a:fld>
            <a:endParaRPr lang="en-US"/>
          </a:p>
        </p:txBody>
      </p:sp>
    </p:spTree>
    <p:extLst>
      <p:ext uri="{BB962C8B-B14F-4D97-AF65-F5344CB8AC3E}">
        <p14:creationId xmlns:p14="http://schemas.microsoft.com/office/powerpoint/2010/main" val="39624141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Physical Factory vs. AI Software Factory:</a:t>
            </a:r>
            <a:r>
              <a:rPr lang="en-US" sz="1200" kern="1200" dirty="0">
                <a:solidFill>
                  <a:schemeClr val="tx1"/>
                </a:solidFill>
                <a:effectLst/>
                <a:latin typeface="+mn-lt"/>
                <a:ea typeface="+mn-ea"/>
                <a:cs typeface="+mn-cs"/>
              </a:rPr>
              <a:t> To understand why slop code is so dangerous, let's contrast a physical automotive factory with an AI Software Factory. </a:t>
            </a:r>
          </a:p>
          <a:p>
            <a:pPr lvl="0"/>
            <a:r>
              <a:rPr lang="en-US" sz="1200" b="1" kern="1200" dirty="0">
                <a:solidFill>
                  <a:schemeClr val="tx1"/>
                </a:solidFill>
                <a:effectLst/>
                <a:latin typeface="+mn-lt"/>
                <a:ea typeface="+mn-ea"/>
                <a:cs typeface="+mn-cs"/>
              </a:rPr>
              <a:t>Physical World:</a:t>
            </a:r>
            <a:r>
              <a:rPr lang="en-US" sz="1200" kern="1200" dirty="0">
                <a:solidFill>
                  <a:schemeClr val="tx1"/>
                </a:solidFill>
                <a:effectLst/>
                <a:latin typeface="+mn-lt"/>
                <a:ea typeface="+mn-ea"/>
                <a:cs typeface="+mn-cs"/>
              </a:rPr>
              <a:t> If a physical factory produces a defective car, the customer gets a bad car. The factory line itself remains clean and unaffected. </a:t>
            </a:r>
          </a:p>
          <a:p>
            <a:pPr lvl="0"/>
            <a:r>
              <a:rPr lang="en-US" sz="1200" b="1" kern="1200" dirty="0">
                <a:solidFill>
                  <a:schemeClr val="tx1"/>
                </a:solidFill>
                <a:effectLst/>
                <a:latin typeface="+mn-lt"/>
                <a:ea typeface="+mn-ea"/>
                <a:cs typeface="+mn-cs"/>
              </a:rPr>
              <a:t>AI World (The Poison Loop):</a:t>
            </a:r>
            <a:r>
              <a:rPr lang="en-US" sz="1200" kern="1200" dirty="0">
                <a:solidFill>
                  <a:schemeClr val="tx1"/>
                </a:solidFill>
                <a:effectLst/>
                <a:latin typeface="+mn-lt"/>
                <a:ea typeface="+mn-ea"/>
                <a:cs typeface="+mn-cs"/>
              </a:rPr>
              <a:t> In an AI Software Factory, context is everything. When you merge a 'slop' PR into your repository, that bad code immediately becomes the prompt and context for the next feature. </a:t>
            </a:r>
          </a:p>
          <a:p>
            <a:pPr lvl="0"/>
            <a:r>
              <a:rPr lang="en-US" sz="1200" b="1" kern="1200" dirty="0">
                <a:solidFill>
                  <a:schemeClr val="tx1"/>
                </a:solidFill>
                <a:effectLst/>
                <a:latin typeface="+mn-lt"/>
                <a:ea typeface="+mn-ea"/>
                <a:cs typeface="+mn-cs"/>
              </a:rPr>
              <a:t>Degrading Intelligence:</a:t>
            </a:r>
            <a:r>
              <a:rPr lang="en-US" sz="1200" kern="1200" dirty="0">
                <a:solidFill>
                  <a:schemeClr val="tx1"/>
                </a:solidFill>
                <a:effectLst/>
                <a:latin typeface="+mn-lt"/>
                <a:ea typeface="+mn-ea"/>
                <a:cs typeface="+mn-cs"/>
              </a:rPr>
              <a:t> Models naturally mimic existing code patterns. If your codebase is filled with messy abstractions, the AI treats those as standard practice and produces even worse code. Bad code literally degrades the intelligence of your AI factory. </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6</a:t>
            </a:fld>
            <a:endParaRPr lang="en-US"/>
          </a:p>
        </p:txBody>
      </p:sp>
    </p:spTree>
    <p:extLst>
      <p:ext uri="{BB962C8B-B14F-4D97-AF65-F5344CB8AC3E}">
        <p14:creationId xmlns:p14="http://schemas.microsoft.com/office/powerpoint/2010/main" val="33242186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Finding the Sweet Spot:</a:t>
            </a:r>
            <a:r>
              <a:rPr lang="en-US" sz="1200" kern="1200" dirty="0">
                <a:solidFill>
                  <a:schemeClr val="tx1"/>
                </a:solidFill>
                <a:effectLst/>
                <a:latin typeface="+mn-lt"/>
                <a:ea typeface="+mn-ea"/>
                <a:cs typeface="+mn-cs"/>
              </a:rPr>
              <a:t> So, how do we fix this? By understanding the Planning Leverage Curve. </a:t>
            </a:r>
          </a:p>
          <a:p>
            <a:pPr lvl="0"/>
            <a:r>
              <a:rPr lang="en-US" sz="1200" b="1" kern="1200" dirty="0">
                <a:solidFill>
                  <a:schemeClr val="tx1"/>
                </a:solidFill>
                <a:effectLst/>
                <a:latin typeface="+mn-lt"/>
                <a:ea typeface="+mn-ea"/>
                <a:cs typeface="+mn-cs"/>
              </a:rPr>
              <a:t>Two Extremes to Avoid:</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i="1" kern="1200" dirty="0">
                <a:solidFill>
                  <a:schemeClr val="tx1"/>
                </a:solidFill>
                <a:effectLst/>
                <a:latin typeface="+mn-lt"/>
                <a:ea typeface="+mn-ea"/>
                <a:cs typeface="+mn-cs"/>
              </a:rPr>
              <a:t>YOLO Prompting (2 sentences):</a:t>
            </a:r>
            <a:r>
              <a:rPr lang="en-US" sz="1200" kern="1200" dirty="0">
                <a:solidFill>
                  <a:schemeClr val="tx1"/>
                </a:solidFill>
                <a:effectLst/>
                <a:latin typeface="+mn-lt"/>
                <a:ea typeface="+mn-ea"/>
                <a:cs typeface="+mn-cs"/>
              </a:rPr>
              <a:t> Low planning effort, but a 50% chance of rework and high long-term pain. </a:t>
            </a:r>
          </a:p>
          <a:p>
            <a:pPr marL="228600" lvl="0" indent="-228600">
              <a:buFont typeface="+mj-lt"/>
              <a:buAutoNum type="arabicPeriod"/>
            </a:pPr>
            <a:r>
              <a:rPr lang="en-US" sz="1200" i="1" kern="1200" dirty="0">
                <a:solidFill>
                  <a:schemeClr val="tx1"/>
                </a:solidFill>
                <a:effectLst/>
                <a:latin typeface="+mn-lt"/>
                <a:ea typeface="+mn-ea"/>
                <a:cs typeface="+mn-cs"/>
              </a:rPr>
              <a:t>Full Hand-Coding:</a:t>
            </a:r>
            <a:r>
              <a:rPr lang="en-US" sz="1200" kern="1200" dirty="0">
                <a:solidFill>
                  <a:schemeClr val="tx1"/>
                </a:solidFill>
                <a:effectLst/>
                <a:latin typeface="+mn-lt"/>
                <a:ea typeface="+mn-ea"/>
                <a:cs typeface="+mn-cs"/>
              </a:rPr>
              <a:t> 0% agent error, but 0% leverage. You're back to typing every line by hand. </a:t>
            </a:r>
          </a:p>
          <a:p>
            <a:pPr lvl="0"/>
            <a:r>
              <a:rPr lang="en-US" sz="1200" b="1" kern="1200" dirty="0">
                <a:solidFill>
                  <a:schemeClr val="tx1"/>
                </a:solidFill>
                <a:effectLst/>
                <a:latin typeface="+mn-lt"/>
                <a:ea typeface="+mn-ea"/>
                <a:cs typeface="+mn-cs"/>
              </a:rPr>
              <a:t>The Optimal Zone (Detailed AI-Assisted Spec):</a:t>
            </a:r>
            <a:r>
              <a:rPr lang="en-US" sz="1200" kern="1200" dirty="0">
                <a:solidFill>
                  <a:schemeClr val="tx1"/>
                </a:solidFill>
                <a:effectLst/>
                <a:latin typeface="+mn-lt"/>
                <a:ea typeface="+mn-ea"/>
                <a:cs typeface="+mn-cs"/>
              </a:rPr>
              <a:t> The sweet spot is upfront specification. Spending structured time defining data schemas, invariants, and constraints reduces rework risk to ~10% while keeping high agent leverage. </a:t>
            </a:r>
          </a:p>
          <a:p>
            <a:pPr lvl="0"/>
            <a:r>
              <a:rPr lang="en-US" sz="1200" b="1" kern="1200" dirty="0">
                <a:solidFill>
                  <a:schemeClr val="tx1"/>
                </a:solidFill>
                <a:effectLst/>
                <a:latin typeface="+mn-lt"/>
                <a:ea typeface="+mn-ea"/>
                <a:cs typeface="+mn-cs"/>
              </a:rPr>
              <a:t>The Golden Rule:</a:t>
            </a:r>
            <a:r>
              <a:rPr lang="en-US" sz="1200" kern="1200" dirty="0">
                <a:solidFill>
                  <a:schemeClr val="tx1"/>
                </a:solidFill>
                <a:effectLst/>
                <a:latin typeface="+mn-lt"/>
                <a:ea typeface="+mn-ea"/>
                <a:cs typeface="+mn-cs"/>
              </a:rPr>
              <a:t> Never argue with an AI model over button colors or minor visual styling—it takes 5 seconds to re-prompt. Always align strictly on database schemas, data flow, and core architecture. </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7</a:t>
            </a:fld>
            <a:endParaRPr lang="en-US"/>
          </a:p>
        </p:txBody>
      </p:sp>
    </p:spTree>
    <p:extLst>
      <p:ext uri="{BB962C8B-B14F-4D97-AF65-F5344CB8AC3E}">
        <p14:creationId xmlns:p14="http://schemas.microsoft.com/office/powerpoint/2010/main" val="4040091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3-Stage Context Funnel:</a:t>
            </a:r>
            <a:r>
              <a:rPr lang="en-US" sz="1200" kern="1200" dirty="0">
                <a:solidFill>
                  <a:schemeClr val="tx1"/>
                </a:solidFill>
                <a:effectLst/>
                <a:latin typeface="+mn-lt"/>
                <a:ea typeface="+mn-ea"/>
                <a:cs typeface="+mn-cs"/>
              </a:rPr>
              <a:t> High-leverage planning requires a structured 3-stage funnel: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Stage 1 (Raw Dump):</a:t>
            </a:r>
            <a:r>
              <a:rPr lang="en-US" sz="1200" kern="1200" dirty="0">
                <a:solidFill>
                  <a:schemeClr val="tx1"/>
                </a:solidFill>
                <a:effectLst/>
                <a:latin typeface="+mn-lt"/>
                <a:ea typeface="+mn-ea"/>
                <a:cs typeface="+mn-cs"/>
              </a:rPr>
              <a:t> Voice-prompt a 60-second unstructured brain dump of your ideas and goals.</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Stage 2 (AI Interview Loop):</a:t>
            </a:r>
            <a:r>
              <a:rPr lang="en-US" sz="1200" kern="1200" dirty="0">
                <a:solidFill>
                  <a:schemeClr val="tx1"/>
                </a:solidFill>
                <a:effectLst/>
                <a:latin typeface="+mn-lt"/>
                <a:ea typeface="+mn-ea"/>
                <a:cs typeface="+mn-cs"/>
              </a:rPr>
              <a:t> Instead of jumping straight to code, let the AI interview </a:t>
            </a:r>
            <a:r>
              <a:rPr lang="en-US" sz="1200" i="1" kern="1200" dirty="0">
                <a:solidFill>
                  <a:schemeClr val="tx1"/>
                </a:solidFill>
                <a:effectLst/>
                <a:latin typeface="+mn-lt"/>
                <a:ea typeface="+mn-ea"/>
                <a:cs typeface="+mn-cs"/>
              </a:rPr>
              <a:t>you</a:t>
            </a:r>
            <a:r>
              <a:rPr lang="en-US" sz="1200" kern="1200" dirty="0">
                <a:solidFill>
                  <a:schemeClr val="tx1"/>
                </a:solidFill>
                <a:effectLst/>
                <a:latin typeface="+mn-lt"/>
                <a:ea typeface="+mn-ea"/>
                <a:cs typeface="+mn-cs"/>
              </a:rPr>
              <a:t>. The model asks edge-case questions, presents trade-offs, and pushes down decision trees. </a:t>
            </a:r>
          </a:p>
          <a:p>
            <a:pPr marL="228600" lvl="0" indent="-228600">
              <a:buFont typeface="Arial" panose="020B0604020202020204" pitchFamily="34" charset="0"/>
              <a:buChar char="•"/>
            </a:pPr>
            <a:r>
              <a:rPr lang="en-US" sz="1200" b="1" kern="1200" dirty="0">
                <a:solidFill>
                  <a:schemeClr val="tx1"/>
                </a:solidFill>
                <a:effectLst/>
                <a:latin typeface="+mn-lt"/>
                <a:ea typeface="+mn-ea"/>
                <a:cs typeface="+mn-cs"/>
              </a:rPr>
              <a:t>Stage 3 (The Shadow Spec):</a:t>
            </a:r>
            <a:r>
              <a:rPr lang="en-US" sz="1200" kern="1200" dirty="0">
                <a:solidFill>
                  <a:schemeClr val="tx1"/>
                </a:solidFill>
                <a:effectLst/>
                <a:latin typeface="+mn-lt"/>
                <a:ea typeface="+mn-ea"/>
                <a:cs typeface="+mn-cs"/>
              </a:rPr>
              <a:t> Output a clean, deterministic instruction set ready for execution.</a:t>
            </a:r>
          </a:p>
          <a:p>
            <a:pPr lvl="0"/>
            <a:r>
              <a:rPr lang="en-US" sz="1200" b="1" kern="1200" dirty="0">
                <a:solidFill>
                  <a:schemeClr val="tx1"/>
                </a:solidFill>
                <a:effectLst/>
                <a:latin typeface="+mn-lt"/>
                <a:ea typeface="+mn-ea"/>
                <a:cs typeface="+mn-cs"/>
              </a:rPr>
              <a:t>Avoiding the 'Dumb Zone':</a:t>
            </a:r>
            <a:r>
              <a:rPr lang="en-US" sz="1200" kern="1200" dirty="0">
                <a:solidFill>
                  <a:schemeClr val="tx1"/>
                </a:solidFill>
                <a:effectLst/>
                <a:latin typeface="+mn-lt"/>
                <a:ea typeface="+mn-ea"/>
                <a:cs typeface="+mn-cs"/>
              </a:rPr>
              <a:t> Dumping 100k+ tokens of raw unorganized text into an LLM causes context dilution (the 'Dumb Zone'). Too much context means no focus. </a:t>
            </a:r>
          </a:p>
          <a:p>
            <a:pPr lvl="0"/>
            <a:r>
              <a:rPr lang="en-US" sz="1200" b="1" kern="1200" dirty="0">
                <a:solidFill>
                  <a:schemeClr val="tx1"/>
                </a:solidFill>
                <a:effectLst/>
                <a:latin typeface="+mn-lt"/>
                <a:ea typeface="+mn-ea"/>
                <a:cs typeface="+mn-cs"/>
              </a:rPr>
              <a:t>Mindset Shift:</a:t>
            </a:r>
            <a:r>
              <a:rPr lang="en-US" sz="1200" kern="1200" dirty="0">
                <a:solidFill>
                  <a:schemeClr val="tx1"/>
                </a:solidFill>
                <a:effectLst/>
                <a:latin typeface="+mn-lt"/>
                <a:ea typeface="+mn-ea"/>
                <a:cs typeface="+mn-cs"/>
              </a:rPr>
              <a:t> Shift your engineering focus from position (fixing specific lines of code) to velocity (improving the system that writes the code).</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8</a:t>
            </a:fld>
            <a:endParaRPr lang="en-US"/>
          </a:p>
        </p:txBody>
      </p:sp>
    </p:spTree>
    <p:extLst>
      <p:ext uri="{BB962C8B-B14F-4D97-AF65-F5344CB8AC3E}">
        <p14:creationId xmlns:p14="http://schemas.microsoft.com/office/powerpoint/2010/main" val="29507056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Defining 'Taste':</a:t>
            </a:r>
            <a:r>
              <a:rPr lang="en-US" sz="1200" kern="1200" dirty="0">
                <a:solidFill>
                  <a:schemeClr val="tx1"/>
                </a:solidFill>
                <a:effectLst/>
                <a:latin typeface="+mn-lt"/>
                <a:ea typeface="+mn-ea"/>
                <a:cs typeface="+mn-cs"/>
              </a:rPr>
              <a:t> What is human engineering taste? Taste is simply a preference you haven't bothered writing down yet. </a:t>
            </a:r>
          </a:p>
          <a:p>
            <a:pPr lvl="0"/>
            <a:r>
              <a:rPr lang="en-US" sz="1200" b="1" kern="1200" dirty="0">
                <a:solidFill>
                  <a:schemeClr val="tx1"/>
                </a:solidFill>
                <a:effectLst/>
                <a:latin typeface="+mn-lt"/>
                <a:ea typeface="+mn-ea"/>
                <a:cs typeface="+mn-cs"/>
              </a:rPr>
              <a:t>In-Line vs. Leaky Abstractions:</a:t>
            </a:r>
            <a:r>
              <a:rPr lang="en-US" sz="1200" kern="1200" dirty="0">
                <a:solidFill>
                  <a:schemeClr val="tx1"/>
                </a:solidFill>
                <a:effectLst/>
                <a:latin typeface="+mn-lt"/>
                <a:ea typeface="+mn-ea"/>
                <a:cs typeface="+mn-cs"/>
              </a:rPr>
              <a:t> Look at the comparison on the slide. AI often tries to create massive </a:t>
            </a:r>
            <a:r>
              <a:rPr lang="en-US" sz="1200" kern="1200" dirty="0" err="1">
                <a:solidFill>
                  <a:schemeClr val="tx1"/>
                </a:solidFill>
                <a:effectLst/>
                <a:latin typeface="+mn-lt"/>
                <a:ea typeface="+mn-ea"/>
                <a:cs typeface="+mn-cs"/>
              </a:rPr>
              <a:t>AbstractMetricsManager</a:t>
            </a:r>
            <a:r>
              <a:rPr lang="en-US" sz="1200" kern="1200" dirty="0">
                <a:solidFill>
                  <a:schemeClr val="tx1"/>
                </a:solidFill>
                <a:effectLst/>
                <a:latin typeface="+mn-lt"/>
                <a:ea typeface="+mn-ea"/>
                <a:cs typeface="+mn-cs"/>
              </a:rPr>
              <a:t> classes that leak state and create complex side effects. </a:t>
            </a:r>
          </a:p>
          <a:p>
            <a:pPr lvl="0"/>
            <a:r>
              <a:rPr lang="en-US" sz="1200" b="1" kern="1200" dirty="0">
                <a:solidFill>
                  <a:schemeClr val="tx1"/>
                </a:solidFill>
                <a:effectLst/>
                <a:latin typeface="+mn-lt"/>
                <a:ea typeface="+mn-ea"/>
                <a:cs typeface="+mn-cs"/>
              </a:rPr>
              <a:t>The Rule of 'Three Copies Pressed Hard':</a:t>
            </a:r>
            <a:r>
              <a:rPr lang="en-US" sz="1200" kern="1200" dirty="0">
                <a:solidFill>
                  <a:schemeClr val="tx1"/>
                </a:solidFill>
                <a:effectLst/>
                <a:latin typeface="+mn-lt"/>
                <a:ea typeface="+mn-ea"/>
                <a:cs typeface="+mn-cs"/>
              </a:rPr>
              <a:t> Adopt pragmatic engineering rules. Duplicate simple inline logic 2 or 3 times rather than creating premature, fragile abstractions. </a:t>
            </a:r>
          </a:p>
          <a:p>
            <a:pPr lvl="0"/>
            <a:r>
              <a:rPr lang="en-US" sz="1200" b="1" kern="1200" dirty="0">
                <a:solidFill>
                  <a:schemeClr val="tx1"/>
                </a:solidFill>
                <a:effectLst/>
                <a:latin typeface="+mn-lt"/>
                <a:ea typeface="+mn-ea"/>
                <a:cs typeface="+mn-cs"/>
              </a:rPr>
              <a:t>Codification:</a:t>
            </a:r>
            <a:r>
              <a:rPr lang="en-US" sz="1200" kern="1200" dirty="0">
                <a:solidFill>
                  <a:schemeClr val="tx1"/>
                </a:solidFill>
                <a:effectLst/>
                <a:latin typeface="+mn-lt"/>
                <a:ea typeface="+mn-ea"/>
                <a:cs typeface="+mn-cs"/>
              </a:rPr>
              <a:t> If you don't explicitly document your team's code rules in system prompts, rules files, or skill definitions, AI will default to generic, over-engineered generic patterns.</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9</a:t>
            </a:fld>
            <a:endParaRPr lang="en-US"/>
          </a:p>
        </p:txBody>
      </p:sp>
    </p:spTree>
    <p:extLst>
      <p:ext uri="{BB962C8B-B14F-4D97-AF65-F5344CB8AC3E}">
        <p14:creationId xmlns:p14="http://schemas.microsoft.com/office/powerpoint/2010/main" val="342033756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Automated Codebase Hygiene:</a:t>
            </a:r>
            <a:r>
              <a:rPr lang="en-US" sz="1200" kern="1200" dirty="0">
                <a:solidFill>
                  <a:schemeClr val="tx1"/>
                </a:solidFill>
                <a:effectLst/>
                <a:latin typeface="+mn-lt"/>
                <a:ea typeface="+mn-ea"/>
                <a:cs typeface="+mn-cs"/>
              </a:rPr>
              <a:t> How do we maintain quality at scale? Through compounding engineering loops. </a:t>
            </a:r>
          </a:p>
          <a:p>
            <a:pPr lvl="0"/>
            <a:r>
              <a:rPr lang="en-US" sz="1200" b="1" kern="1200" dirty="0">
                <a:solidFill>
                  <a:schemeClr val="tx1"/>
                </a:solidFill>
                <a:effectLst/>
                <a:latin typeface="+mn-lt"/>
                <a:ea typeface="+mn-ea"/>
                <a:cs typeface="+mn-cs"/>
              </a:rPr>
              <a:t>The Overnight Cron Workflow:</a:t>
            </a:r>
            <a:r>
              <a:rPr lang="en-US" sz="1200" kern="1200" dirty="0">
                <a:solidFill>
                  <a:schemeClr val="tx1"/>
                </a:solidFill>
                <a:effectLst/>
                <a:latin typeface="+mn-lt"/>
                <a:ea typeface="+mn-ea"/>
                <a:cs typeface="+mn-cs"/>
              </a:rPr>
              <a:t> Instead of relying on developers to manually clean code, set up nightly </a:t>
            </a:r>
            <a:r>
              <a:rPr lang="en-US" sz="1200" kern="1200" dirty="0" err="1">
                <a:solidFill>
                  <a:schemeClr val="tx1"/>
                </a:solidFill>
                <a:effectLst/>
                <a:latin typeface="+mn-lt"/>
                <a:ea typeface="+mn-ea"/>
                <a:cs typeface="+mn-cs"/>
              </a:rPr>
              <a:t>cron</a:t>
            </a:r>
            <a:r>
              <a:rPr lang="en-US" sz="1200" kern="1200" dirty="0">
                <a:solidFill>
                  <a:schemeClr val="tx1"/>
                </a:solidFill>
                <a:effectLst/>
                <a:latin typeface="+mn-lt"/>
                <a:ea typeface="+mn-ea"/>
                <a:cs typeface="+mn-cs"/>
              </a:rPr>
              <a:t> jobs split into two categories:</a:t>
            </a:r>
          </a:p>
          <a:p>
            <a:pPr marL="228600" lvl="0" indent="-228600">
              <a:buFont typeface="+mj-lt"/>
              <a:buAutoNum type="arabicPeriod"/>
            </a:pPr>
            <a:r>
              <a:rPr lang="en-US" sz="1200" i="1" kern="1200" dirty="0">
                <a:solidFill>
                  <a:schemeClr val="tx1"/>
                </a:solidFill>
                <a:effectLst/>
                <a:latin typeface="+mn-lt"/>
                <a:ea typeface="+mn-ea"/>
                <a:cs typeface="+mn-cs"/>
              </a:rPr>
              <a:t>Deterministic Detectors:</a:t>
            </a:r>
            <a:r>
              <a:rPr lang="en-US" sz="1200" kern="1200" dirty="0">
                <a:solidFill>
                  <a:schemeClr val="tx1"/>
                </a:solidFill>
                <a:effectLst/>
                <a:latin typeface="+mn-lt"/>
                <a:ea typeface="+mn-ea"/>
                <a:cs typeface="+mn-cs"/>
              </a:rPr>
              <a:t> Tools like React Doctor or </a:t>
            </a:r>
            <a:r>
              <a:rPr lang="en-US" sz="1200" kern="1200" dirty="0" err="1">
                <a:solidFill>
                  <a:schemeClr val="tx1"/>
                </a:solidFill>
                <a:effectLst/>
                <a:latin typeface="+mn-lt"/>
                <a:ea typeface="+mn-ea"/>
                <a:cs typeface="+mn-cs"/>
              </a:rPr>
              <a:t>Oxlint</a:t>
            </a:r>
            <a:r>
              <a:rPr lang="en-US" sz="1200" kern="1200" dirty="0">
                <a:solidFill>
                  <a:schemeClr val="tx1"/>
                </a:solidFill>
                <a:effectLst/>
                <a:latin typeface="+mn-lt"/>
                <a:ea typeface="+mn-ea"/>
                <a:cs typeface="+mn-cs"/>
              </a:rPr>
              <a:t> to catch concrete warnings and errors. </a:t>
            </a:r>
          </a:p>
          <a:p>
            <a:pPr marL="228600" lvl="0" indent="-228600">
              <a:buFont typeface="+mj-lt"/>
              <a:buAutoNum type="arabicPeriod"/>
            </a:pPr>
            <a:r>
              <a:rPr lang="en-US" sz="1200" i="1" kern="1200" dirty="0">
                <a:solidFill>
                  <a:schemeClr val="tx1"/>
                </a:solidFill>
                <a:effectLst/>
                <a:latin typeface="+mn-lt"/>
                <a:ea typeface="+mn-ea"/>
                <a:cs typeface="+mn-cs"/>
              </a:rPr>
              <a:t>Non-Deterministic AI Agents:</a:t>
            </a:r>
            <a:r>
              <a:rPr lang="en-US" sz="1200" kern="1200" dirty="0">
                <a:solidFill>
                  <a:schemeClr val="tx1"/>
                </a:solidFill>
                <a:effectLst/>
                <a:latin typeface="+mn-lt"/>
                <a:ea typeface="+mn-ea"/>
                <a:cs typeface="+mn-cs"/>
              </a:rPr>
              <a:t> Style and taste enforcers that look for unwanted anti-patterns and propose cleanups. </a:t>
            </a:r>
          </a:p>
          <a:p>
            <a:pPr lvl="0"/>
            <a:r>
              <a:rPr lang="en-US" sz="1200" b="1" kern="1200" dirty="0">
                <a:solidFill>
                  <a:schemeClr val="tx1"/>
                </a:solidFill>
                <a:effectLst/>
                <a:latin typeface="+mn-lt"/>
                <a:ea typeface="+mn-ea"/>
                <a:cs typeface="+mn-cs"/>
              </a:rPr>
              <a:t>1% Daily Improvement:</a:t>
            </a:r>
            <a:r>
              <a:rPr lang="en-US" sz="1200" kern="1200" dirty="0">
                <a:solidFill>
                  <a:schemeClr val="tx1"/>
                </a:solidFill>
                <a:effectLst/>
                <a:latin typeface="+mn-lt"/>
                <a:ea typeface="+mn-ea"/>
                <a:cs typeface="+mn-cs"/>
              </a:rPr>
              <a:t> Wake up every morning to 5 automated Pull Requests that make the codebase 1% cleaner. </a:t>
            </a:r>
          </a:p>
          <a:p>
            <a:pPr lvl="0"/>
            <a:r>
              <a:rPr lang="en-US" sz="1200" b="1" kern="1200" dirty="0">
                <a:solidFill>
                  <a:schemeClr val="tx1"/>
                </a:solidFill>
                <a:effectLst/>
                <a:latin typeface="+mn-lt"/>
                <a:ea typeface="+mn-ea"/>
                <a:cs typeface="+mn-cs"/>
              </a:rPr>
              <a:t>Proactive vs. Reactive:</a:t>
            </a:r>
            <a:r>
              <a:rPr lang="en-US" sz="1200" kern="1200" dirty="0">
                <a:solidFill>
                  <a:schemeClr val="tx1"/>
                </a:solidFill>
                <a:effectLst/>
                <a:latin typeface="+mn-lt"/>
                <a:ea typeface="+mn-ea"/>
                <a:cs typeface="+mn-cs"/>
              </a:rPr>
              <a:t> Stop the bleeding before you build the factory. Don't wait for massive, painful system rewrites. </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10</a:t>
            </a:fld>
            <a:endParaRPr lang="en-US"/>
          </a:p>
        </p:txBody>
      </p:sp>
    </p:spTree>
    <p:extLst>
      <p:ext uri="{BB962C8B-B14F-4D97-AF65-F5344CB8AC3E}">
        <p14:creationId xmlns:p14="http://schemas.microsoft.com/office/powerpoint/2010/main" val="9923649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Ecosystem Trends:</a:t>
            </a:r>
            <a:r>
              <a:rPr lang="en-US" sz="1200" kern="1200" dirty="0">
                <a:solidFill>
                  <a:schemeClr val="tx1"/>
                </a:solidFill>
                <a:effectLst/>
                <a:latin typeface="+mn-lt"/>
                <a:ea typeface="+mn-ea"/>
                <a:cs typeface="+mn-cs"/>
              </a:rPr>
              <a:t> As agentic infrastructure matures, we see a division between two architectures: </a:t>
            </a:r>
          </a:p>
          <a:p>
            <a:pPr marL="228600" lvl="0" indent="-228600">
              <a:buFont typeface="+mj-lt"/>
              <a:buAutoNum type="arabicPeriod"/>
            </a:pPr>
            <a:r>
              <a:rPr lang="en-US" sz="1200" i="1" kern="1200" dirty="0">
                <a:solidFill>
                  <a:schemeClr val="tx1"/>
                </a:solidFill>
                <a:effectLst/>
                <a:latin typeface="+mn-lt"/>
                <a:ea typeface="+mn-ea"/>
                <a:cs typeface="+mn-cs"/>
              </a:rPr>
              <a:t>Vertical Closed Stacks:</a:t>
            </a:r>
            <a:r>
              <a:rPr lang="en-US" sz="1200" kern="1200" dirty="0">
                <a:solidFill>
                  <a:schemeClr val="tx1"/>
                </a:solidFill>
                <a:effectLst/>
                <a:latin typeface="+mn-lt"/>
                <a:ea typeface="+mn-ea"/>
                <a:cs typeface="+mn-cs"/>
              </a:rPr>
              <a:t> Seamless walled gardens (e.g., all-in-one proprietary agent environments). </a:t>
            </a:r>
          </a:p>
          <a:p>
            <a:pPr marL="228600" lvl="0" indent="-228600">
              <a:buFont typeface="+mj-lt"/>
              <a:buAutoNum type="arabicPeriod"/>
            </a:pPr>
            <a:r>
              <a:rPr lang="en-US" sz="1200" i="1" kern="1200" dirty="0">
                <a:solidFill>
                  <a:schemeClr val="tx1"/>
                </a:solidFill>
                <a:effectLst/>
                <a:latin typeface="+mn-lt"/>
                <a:ea typeface="+mn-ea"/>
                <a:cs typeface="+mn-cs"/>
              </a:rPr>
              <a:t>Open Composable Stacks:</a:t>
            </a:r>
            <a:r>
              <a:rPr lang="en-US" sz="1200" kern="1200" dirty="0">
                <a:solidFill>
                  <a:schemeClr val="tx1"/>
                </a:solidFill>
                <a:effectLst/>
                <a:latin typeface="+mn-lt"/>
                <a:ea typeface="+mn-ea"/>
                <a:cs typeface="+mn-cs"/>
              </a:rPr>
              <a:t> Modular ecosystems built on open skills, data portability, interchangeable LLMs, API standards, and vendor-agnostic sandboxes. </a:t>
            </a:r>
          </a:p>
          <a:p>
            <a:pPr lvl="0"/>
            <a:r>
              <a:rPr lang="en-US" sz="1200" b="1" kern="1200" dirty="0">
                <a:solidFill>
                  <a:schemeClr val="tx1"/>
                </a:solidFill>
                <a:effectLst/>
                <a:latin typeface="+mn-lt"/>
                <a:ea typeface="+mn-ea"/>
                <a:cs typeface="+mn-cs"/>
              </a:rPr>
              <a:t>The Kubernetes Parallel:</a:t>
            </a:r>
            <a:r>
              <a:rPr lang="en-US" sz="1200" kern="1200" dirty="0">
                <a:solidFill>
                  <a:schemeClr val="tx1"/>
                </a:solidFill>
                <a:effectLst/>
                <a:latin typeface="+mn-lt"/>
                <a:ea typeface="+mn-ea"/>
                <a:cs typeface="+mn-cs"/>
              </a:rPr>
              <a:t> Just as open standards won in cloud infrastructure (Kubernetes, Linux, Web standards), open and composable dev tools will win in the AI era. </a:t>
            </a:r>
          </a:p>
          <a:p>
            <a:pPr lvl="0"/>
            <a:r>
              <a:rPr lang="en-US" sz="1200" b="1" kern="1200" dirty="0">
                <a:solidFill>
                  <a:schemeClr val="tx1"/>
                </a:solidFill>
                <a:effectLst/>
                <a:latin typeface="+mn-lt"/>
                <a:ea typeface="+mn-ea"/>
                <a:cs typeface="+mn-cs"/>
              </a:rPr>
              <a:t>Strategic Advice:</a:t>
            </a:r>
            <a:r>
              <a:rPr lang="en-US" sz="1200" kern="1200" dirty="0">
                <a:solidFill>
                  <a:schemeClr val="tx1"/>
                </a:solidFill>
                <a:effectLst/>
                <a:latin typeface="+mn-lt"/>
                <a:ea typeface="+mn-ea"/>
                <a:cs typeface="+mn-cs"/>
              </a:rPr>
              <a:t> Don't lock your entire enterprise code pipeline into a single vendor's black box. Build modular skill sets and maintain stack portability. </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11</a:t>
            </a:fld>
            <a:endParaRPr lang="en-US"/>
          </a:p>
        </p:txBody>
      </p:sp>
    </p:spTree>
    <p:extLst>
      <p:ext uri="{BB962C8B-B14F-4D97-AF65-F5344CB8AC3E}">
        <p14:creationId xmlns:p14="http://schemas.microsoft.com/office/powerpoint/2010/main" val="27348888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Baseline Risk:</a:t>
            </a:r>
            <a:r>
              <a:rPr lang="en-US" sz="1200" kern="1200" dirty="0">
                <a:solidFill>
                  <a:schemeClr val="tx1"/>
                </a:solidFill>
                <a:effectLst/>
                <a:latin typeface="+mn-lt"/>
                <a:ea typeface="+mn-ea"/>
                <a:cs typeface="+mn-cs"/>
              </a:rPr>
              <a:t> If you accept 100% of unreviewed AI output, you will end up with the exact same median product as everyone else. </a:t>
            </a:r>
          </a:p>
          <a:p>
            <a:pPr lvl="0"/>
            <a:r>
              <a:rPr lang="en-US" sz="1200" b="1" kern="1200" dirty="0">
                <a:solidFill>
                  <a:schemeClr val="tx1"/>
                </a:solidFill>
                <a:effectLst/>
                <a:latin typeface="+mn-lt"/>
                <a:ea typeface="+mn-ea"/>
                <a:cs typeface="+mn-cs"/>
              </a:rPr>
              <a:t>Where Alpha Lives:</a:t>
            </a:r>
            <a:r>
              <a:rPr lang="en-US" sz="1200" kern="1200" dirty="0">
                <a:solidFill>
                  <a:schemeClr val="tx1"/>
                </a:solidFill>
                <a:effectLst/>
                <a:latin typeface="+mn-lt"/>
                <a:ea typeface="+mn-ea"/>
                <a:cs typeface="+mn-cs"/>
              </a:rPr>
              <a:t> Competitive advantage—the 'alpha'—lives in human judgment, review, and fine-grained oversight.</a:t>
            </a:r>
          </a:p>
          <a:p>
            <a:pPr lvl="0"/>
            <a:r>
              <a:rPr lang="en-US" sz="1200" b="1" kern="1200" dirty="0">
                <a:solidFill>
                  <a:schemeClr val="tx1"/>
                </a:solidFill>
                <a:effectLst/>
                <a:latin typeface="+mn-lt"/>
                <a:ea typeface="+mn-ea"/>
                <a:cs typeface="+mn-cs"/>
              </a:rPr>
              <a:t>The Ultimate Moat:</a:t>
            </a:r>
            <a:r>
              <a:rPr lang="en-US" sz="1200" kern="1200" dirty="0">
                <a:solidFill>
                  <a:schemeClr val="tx1"/>
                </a:solidFill>
                <a:effectLst/>
                <a:latin typeface="+mn-lt"/>
                <a:ea typeface="+mn-ea"/>
                <a:cs typeface="+mn-cs"/>
              </a:rPr>
              <a:t> Your moat isn't your capability to generate tokens fast. Your moat is understanding the customer and domain problem better than anyone else, then encoding that deep understanding into your AI factory. </a:t>
            </a:r>
          </a:p>
          <a:p>
            <a:endParaRPr lang="en-US" dirty="0"/>
          </a:p>
        </p:txBody>
      </p:sp>
      <p:sp>
        <p:nvSpPr>
          <p:cNvPr id="4" name="Slide Number Placeholder 3"/>
          <p:cNvSpPr>
            <a:spLocks noGrp="1"/>
          </p:cNvSpPr>
          <p:nvPr>
            <p:ph type="sldNum" sz="quarter" idx="5"/>
          </p:nvPr>
        </p:nvSpPr>
        <p:spPr/>
        <p:txBody>
          <a:bodyPr/>
          <a:lstStyle/>
          <a:p>
            <a:fld id="{8093B189-5C73-42E8-813B-4CB155193F3A}" type="slidenum">
              <a:rPr lang="en-US" smtClean="0"/>
              <a:t>12</a:t>
            </a:fld>
            <a:endParaRPr lang="en-US"/>
          </a:p>
        </p:txBody>
      </p:sp>
    </p:spTree>
    <p:extLst>
      <p:ext uri="{BB962C8B-B14F-4D97-AF65-F5344CB8AC3E}">
        <p14:creationId xmlns:p14="http://schemas.microsoft.com/office/powerpoint/2010/main" val="5249438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Synthesis:</a:t>
            </a:r>
            <a:r>
              <a:rPr lang="en-US" sz="1200" kern="1200" dirty="0">
                <a:solidFill>
                  <a:schemeClr val="tx1"/>
                </a:solidFill>
                <a:effectLst/>
                <a:latin typeface="+mn-lt"/>
                <a:ea typeface="+mn-ea"/>
                <a:cs typeface="+mn-cs"/>
              </a:rPr>
              <a:t> To conclude, let's review the main takeaways of the AI Software Factory model: </a:t>
            </a:r>
          </a:p>
          <a:p>
            <a:pPr lvl="1"/>
            <a:r>
              <a:rPr lang="en-US" sz="1200" b="1" kern="1200" dirty="0">
                <a:solidFill>
                  <a:schemeClr val="tx1"/>
                </a:solidFill>
                <a:effectLst/>
                <a:latin typeface="+mn-lt"/>
                <a:ea typeface="+mn-ea"/>
                <a:cs typeface="+mn-cs"/>
              </a:rPr>
              <a:t>Shift Upstream:</a:t>
            </a:r>
            <a:r>
              <a:rPr lang="en-US" sz="1200" kern="1200" dirty="0">
                <a:solidFill>
                  <a:schemeClr val="tx1"/>
                </a:solidFill>
                <a:effectLst/>
                <a:latin typeface="+mn-lt"/>
                <a:ea typeface="+mn-ea"/>
                <a:cs typeface="+mn-cs"/>
              </a:rPr>
              <a:t> Focus human energy on high-leverage planning, schema design, and intent specification rather than raw code typing or lazy 2-sentence prompting. </a:t>
            </a:r>
          </a:p>
          <a:p>
            <a:pPr lvl="1"/>
            <a:r>
              <a:rPr lang="en-US" sz="1200" b="1" kern="1200" dirty="0">
                <a:solidFill>
                  <a:schemeClr val="tx1"/>
                </a:solidFill>
                <a:effectLst/>
                <a:latin typeface="+mn-lt"/>
                <a:ea typeface="+mn-ea"/>
                <a:cs typeface="+mn-cs"/>
              </a:rPr>
              <a:t>Break the Poison Loop:</a:t>
            </a:r>
            <a:r>
              <a:rPr lang="en-US" sz="1200" kern="1200" dirty="0">
                <a:solidFill>
                  <a:schemeClr val="tx1"/>
                </a:solidFill>
                <a:effectLst/>
                <a:latin typeface="+mn-lt"/>
                <a:ea typeface="+mn-ea"/>
                <a:cs typeface="+mn-cs"/>
              </a:rPr>
              <a:t> Prevent architectural slop from polluting your repo context window. </a:t>
            </a:r>
          </a:p>
          <a:p>
            <a:pPr lvl="1"/>
            <a:r>
              <a:rPr lang="en-US" sz="1200" b="1" kern="1200" dirty="0">
                <a:solidFill>
                  <a:schemeClr val="tx1"/>
                </a:solidFill>
                <a:effectLst/>
                <a:latin typeface="+mn-lt"/>
                <a:ea typeface="+mn-ea"/>
                <a:cs typeface="+mn-cs"/>
              </a:rPr>
              <a:t>Human Verification:</a:t>
            </a:r>
            <a:r>
              <a:rPr lang="en-US" sz="1200" kern="1200" dirty="0">
                <a:solidFill>
                  <a:schemeClr val="tx1"/>
                </a:solidFill>
                <a:effectLst/>
                <a:latin typeface="+mn-lt"/>
                <a:ea typeface="+mn-ea"/>
                <a:cs typeface="+mn-cs"/>
              </a:rPr>
              <a:t> Keep human verification loops active to enforce style, taste, and system integrity. </a:t>
            </a:r>
          </a:p>
          <a:p>
            <a:pPr lvl="1"/>
            <a:r>
              <a:rPr lang="en-US" sz="1200" b="1" kern="1200" dirty="0">
                <a:solidFill>
                  <a:schemeClr val="tx1"/>
                </a:solidFill>
                <a:effectLst/>
                <a:latin typeface="+mn-lt"/>
                <a:ea typeface="+mn-ea"/>
                <a:cs typeface="+mn-cs"/>
              </a:rPr>
              <a:t>Build the Factory:</a:t>
            </a:r>
            <a:r>
              <a:rPr lang="en-US" sz="1200" kern="1200" dirty="0">
                <a:solidFill>
                  <a:schemeClr val="tx1"/>
                </a:solidFill>
                <a:effectLst/>
                <a:latin typeface="+mn-lt"/>
                <a:ea typeface="+mn-ea"/>
                <a:cs typeface="+mn-cs"/>
              </a:rPr>
              <a:t> Focus on compounding engineering—improving the automated tools and verification pipelines that maintain code quality continuously. </a:t>
            </a:r>
          </a:p>
          <a:p>
            <a:endParaRPr lang="en-US" dirty="0"/>
          </a:p>
          <a:p>
            <a:endParaRPr lang="en-US" dirty="0"/>
          </a:p>
          <a:p>
            <a:endParaRPr lang="en-US" dirty="0"/>
          </a:p>
          <a:p>
            <a:endParaRPr lang="en-US" dirty="0"/>
          </a:p>
          <a:p>
            <a:endParaRPr lang="en-US" dirty="0"/>
          </a:p>
          <a:p>
            <a:r>
              <a:rPr lang="en-US" b="1" dirty="0"/>
              <a:t>The 'Dumb Zone': Why More Context Makes Your Agent Dumber</a:t>
            </a:r>
          </a:p>
          <a:p>
            <a:r>
              <a:rPr lang="en-US" dirty="0"/>
              <a:t>https://www.youtube.com/watch?v=H_1PygR7kwk</a:t>
            </a:r>
          </a:p>
          <a:p>
            <a:endParaRPr lang="en-US" dirty="0"/>
          </a:p>
        </p:txBody>
      </p:sp>
      <p:sp>
        <p:nvSpPr>
          <p:cNvPr id="4" name="Slide Number Placeholder 3"/>
          <p:cNvSpPr>
            <a:spLocks noGrp="1"/>
          </p:cNvSpPr>
          <p:nvPr>
            <p:ph type="sldNum" sz="quarter" idx="5"/>
          </p:nvPr>
        </p:nvSpPr>
        <p:spPr/>
        <p:txBody>
          <a:bodyPr/>
          <a:lstStyle/>
          <a:p>
            <a:fld id="{132A509A-831B-4087-ADB2-32AF95A9009D}" type="slidenum">
              <a:rPr lang="en-US" smtClean="0"/>
              <a:t>13</a:t>
            </a:fld>
            <a:endParaRPr lang="en-US"/>
          </a:p>
        </p:txBody>
      </p:sp>
    </p:spTree>
    <p:extLst>
      <p:ext uri="{BB962C8B-B14F-4D97-AF65-F5344CB8AC3E}">
        <p14:creationId xmlns:p14="http://schemas.microsoft.com/office/powerpoint/2010/main" val="6321324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9EE59A-5A8C-775D-ABD4-7B5BE930E611}"/>
              </a:ext>
            </a:extLst>
          </p:cNvPr>
          <p:cNvSpPr>
            <a:spLocks noGrp="1"/>
          </p:cNvSpPr>
          <p:nvPr>
            <p:ph type="dt" sz="half" idx="10"/>
          </p:nvPr>
        </p:nvSpPr>
        <p:spPr/>
        <p:txBody>
          <a:bodyPr/>
          <a:lstStyle/>
          <a:p>
            <a:fld id="{5BBBE4FB-7244-47F9-BD5B-3411F274233E}" type="datetimeFigureOut">
              <a:rPr lang="en-US" smtClean="0"/>
              <a:t>10/20/2026</a:t>
            </a:fld>
            <a:endParaRPr lang="en-US"/>
          </a:p>
        </p:txBody>
      </p:sp>
      <p:sp>
        <p:nvSpPr>
          <p:cNvPr id="3" name="Footer Placeholder 2">
            <a:extLst>
              <a:ext uri="{FF2B5EF4-FFF2-40B4-BE49-F238E27FC236}">
                <a16:creationId xmlns:a16="http://schemas.microsoft.com/office/drawing/2014/main" id="{8145A01C-89BA-B7FE-FF0E-6C4FF578657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1547B0-4380-3803-3688-50FC0D106835}"/>
              </a:ext>
            </a:extLst>
          </p:cNvPr>
          <p:cNvSpPr>
            <a:spLocks noGrp="1"/>
          </p:cNvSpPr>
          <p:nvPr>
            <p:ph type="sldNum" sz="quarter" idx="12"/>
          </p:nvPr>
        </p:nvSpPr>
        <p:spPr/>
        <p:txBody>
          <a:bodyPr/>
          <a:lstStyle/>
          <a:p>
            <a:fld id="{0C81EC61-C328-400C-9A98-0211D47CED5A}" type="slidenum">
              <a:rPr lang="en-US" smtClean="0"/>
              <a:t>‹#›</a:t>
            </a:fld>
            <a:endParaRPr lang="en-US"/>
          </a:p>
        </p:txBody>
      </p:sp>
    </p:spTree>
    <p:extLst>
      <p:ext uri="{BB962C8B-B14F-4D97-AF65-F5344CB8AC3E}">
        <p14:creationId xmlns:p14="http://schemas.microsoft.com/office/powerpoint/2010/main" val="357289056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C7B15A-86E1-2E4D-F374-6545AD68AA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B9D6BF6-1468-9737-49E1-6AC963DEDF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685759-0E15-0935-E935-6C0B3456F5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BBE4FB-7244-47F9-BD5B-3411F274233E}" type="datetimeFigureOut">
              <a:rPr lang="en-US" smtClean="0"/>
              <a:t>10/20/2026</a:t>
            </a:fld>
            <a:endParaRPr lang="en-US"/>
          </a:p>
        </p:txBody>
      </p:sp>
      <p:sp>
        <p:nvSpPr>
          <p:cNvPr id="5" name="Footer Placeholder 4">
            <a:extLst>
              <a:ext uri="{FF2B5EF4-FFF2-40B4-BE49-F238E27FC236}">
                <a16:creationId xmlns:a16="http://schemas.microsoft.com/office/drawing/2014/main" id="{13DD779F-0B85-CDB5-F9A7-B06504C370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C8D0C4B-6B51-4A25-E949-75CE55E5D23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81EC61-C328-400C-9A98-0211D47CED5A}" type="slidenum">
              <a:rPr lang="en-US" smtClean="0"/>
              <a:t>‹#›</a:t>
            </a:fld>
            <a:endParaRPr lang="en-US"/>
          </a:p>
        </p:txBody>
      </p:sp>
    </p:spTree>
    <p:extLst>
      <p:ext uri="{BB962C8B-B14F-4D97-AF65-F5344CB8AC3E}">
        <p14:creationId xmlns:p14="http://schemas.microsoft.com/office/powerpoint/2010/main" val="130949682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ABE47BE-9D95-A305-E956-AD39F95B717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A43FAD-5665-C31A-FB4C-7203B7813A8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C5668F5-3EA1-8F40-2651-73152E666D5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EE3D30C-C11A-6C66-FECF-6C211B32424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787A856-8036-112C-914F-408DDBBCEC2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B20EAA4-3710-1ED4-8A4E-FCA6418DAA0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2C30E5-1E3A-E3A1-EFB4-38805EEB991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88C09BF-8CF3-C1B3-1AD1-2BC00F9C7CB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DC092F-8CE2-1E87-7581-D7CB161C42C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9A726A-2596-2214-CCEA-D04719B8852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A53E958-F375-3B48-D112-18E342A040F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14A318C-DF40-C689-2C26-B865A4A2013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19A21E-BE2E-2BD6-6A0B-371AB9EA75CE}"/>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633564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TotalTime>
  <Words>1838</Words>
  <Application>Microsoft Office PowerPoint</Application>
  <PresentationFormat>寬螢幕</PresentationFormat>
  <Paragraphs>85</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2026-09-24T05:06:43Z</dcterms:created>
  <dcterms:modified xsi:type="dcterms:W3CDTF">2026-10-20T13:29:34Z</dcterms:modified>
</cp:coreProperties>
</file>