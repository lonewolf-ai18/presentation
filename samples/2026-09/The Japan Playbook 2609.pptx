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542B5-1267-49C2-96A9-ADE9385C461A}" v="23" dt="2026-09-06T07:38:28.3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0" autoAdjust="0"/>
    <p:restoredTop sz="7435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sldOrd">
      <pc:chgData name="Lai, Wilson" userId="2840974a-0d84-4886-90a9-9a3ed79f3a48" providerId="ADAL" clId="{9F23B798-9E84-4552-BA63-E776E805C424}" dt="2026-09-06T07:39:08.961" v="67" actId="166"/>
      <pc:docMkLst>
        <pc:docMk/>
      </pc:docMkLst>
      <pc:sldChg chg="addSp delSp modSp mod modAnim modNotesTx">
        <pc:chgData name="Lai, Wilson" userId="2840974a-0d84-4886-90a9-9a3ed79f3a48" providerId="ADAL" clId="{9F23B798-9E84-4552-BA63-E776E805C424}" dt="2026-09-06T07:39:08.961" v="67" actId="166"/>
        <pc:sldMkLst>
          <pc:docMk/>
          <pc:sldMk cId="0" sldId="257"/>
        </pc:sldMkLst>
        <pc:spChg chg="add mod">
          <ac:chgData name="Lai, Wilson" userId="2840974a-0d84-4886-90a9-9a3ed79f3a48" providerId="ADAL" clId="{9F23B798-9E84-4552-BA63-E776E805C424}" dt="2026-09-05T13:59:31.010" v="8" actId="164"/>
          <ac:spMkLst>
            <pc:docMk/>
            <pc:sldMk cId="0" sldId="257"/>
            <ac:spMk id="5" creationId="{0F2958F9-9DEE-AB81-3D9B-86E9A5B85AA4}"/>
          </ac:spMkLst>
        </pc:spChg>
        <pc:grpChg chg="add mod">
          <ac:chgData name="Lai, Wilson" userId="2840974a-0d84-4886-90a9-9a3ed79f3a48" providerId="ADAL" clId="{9F23B798-9E84-4552-BA63-E776E805C424}" dt="2026-09-05T13:59:39.787" v="11" actId="1076"/>
          <ac:grpSpMkLst>
            <pc:docMk/>
            <pc:sldMk cId="0" sldId="257"/>
            <ac:grpSpMk id="6" creationId="{002E5226-61B1-CBB2-452A-199D60B711DC}"/>
          </ac:grpSpMkLst>
        </pc:grpChg>
        <pc:picChg chg="del mod">
          <ac:chgData name="Lai, Wilson" userId="2840974a-0d84-4886-90a9-9a3ed79f3a48" providerId="ADAL" clId="{9F23B798-9E84-4552-BA63-E776E805C424}" dt="2026-09-06T00:34:25.804" v="12" actId="21"/>
          <ac:picMkLst>
            <pc:docMk/>
            <pc:sldMk cId="0" sldId="257"/>
            <ac:picMk id="2" creationId="{00000000-0000-0000-0000-000000000000}"/>
          </ac:picMkLst>
        </pc:picChg>
        <pc:picChg chg="add mod">
          <ac:chgData name="Lai, Wilson" userId="2840974a-0d84-4886-90a9-9a3ed79f3a48" providerId="ADAL" clId="{9F23B798-9E84-4552-BA63-E776E805C424}" dt="2026-09-05T13:59:31.010" v="8" actId="164"/>
          <ac:picMkLst>
            <pc:docMk/>
            <pc:sldMk cId="0" sldId="257"/>
            <ac:picMk id="3" creationId="{629D3441-110C-0BF5-AA6C-BB93ECB094E9}"/>
          </ac:picMkLst>
        </pc:picChg>
        <pc:picChg chg="add ord">
          <ac:chgData name="Lai, Wilson" userId="2840974a-0d84-4886-90a9-9a3ed79f3a48" providerId="ADAL" clId="{9F23B798-9E84-4552-BA63-E776E805C424}" dt="2026-09-06T07:39:08.961" v="67" actId="166"/>
          <ac:picMkLst>
            <pc:docMk/>
            <pc:sldMk cId="0" sldId="257"/>
            <ac:picMk id="7" creationId="{0383587B-AC5B-2E9B-442D-4C64103871C6}"/>
          </ac:picMkLst>
        </pc:picChg>
      </pc:sldChg>
      <pc:sldChg chg="addSp delSp mod ord">
        <pc:chgData name="Lai, Wilson" userId="2840974a-0d84-4886-90a9-9a3ed79f3a48" providerId="ADAL" clId="{9F23B798-9E84-4552-BA63-E776E805C424}" dt="2026-09-06T07:32:43.869" v="43"/>
        <pc:sldMkLst>
          <pc:docMk/>
          <pc:sldMk cId="0" sldId="258"/>
        </pc:sldMkLst>
        <pc:picChg chg="del">
          <ac:chgData name="Lai, Wilson" userId="2840974a-0d84-4886-90a9-9a3ed79f3a48" providerId="ADAL" clId="{9F23B798-9E84-4552-BA63-E776E805C424}" dt="2026-09-06T00:34:58.881" v="14" actId="21"/>
          <ac:picMkLst>
            <pc:docMk/>
            <pc:sldMk cId="0" sldId="258"/>
            <ac:picMk id="2" creationId="{00000000-0000-0000-0000-000000000000}"/>
          </ac:picMkLst>
        </pc:picChg>
        <pc:picChg chg="add">
          <ac:chgData name="Lai, Wilson" userId="2840974a-0d84-4886-90a9-9a3ed79f3a48" providerId="ADAL" clId="{9F23B798-9E84-4552-BA63-E776E805C424}" dt="2026-09-06T00:35:48.157" v="15" actId="22"/>
          <ac:picMkLst>
            <pc:docMk/>
            <pc:sldMk cId="0" sldId="258"/>
            <ac:picMk id="4" creationId="{6FE65831-67AF-575D-2939-77C3CE1EF8E4}"/>
          </ac:picMkLst>
        </pc:picChg>
      </pc:sldChg>
      <pc:sldChg chg="addSp delSp mod modNotes modNotesTx">
        <pc:chgData name="Lai, Wilson" userId="2840974a-0d84-4886-90a9-9a3ed79f3a48" providerId="ADAL" clId="{9F23B798-9E84-4552-BA63-E776E805C424}" dt="2026-09-06T07:37:17.566" v="60"/>
        <pc:sldMkLst>
          <pc:docMk/>
          <pc:sldMk cId="0" sldId="259"/>
        </pc:sldMkLst>
        <pc:picChg chg="del">
          <ac:chgData name="Lai, Wilson" userId="2840974a-0d84-4886-90a9-9a3ed79f3a48" providerId="ADAL" clId="{9F23B798-9E84-4552-BA63-E776E805C424}" dt="2026-09-06T00:35:50.434" v="16" actId="21"/>
          <ac:picMkLst>
            <pc:docMk/>
            <pc:sldMk cId="0" sldId="259"/>
            <ac:picMk id="2" creationId="{00000000-0000-0000-0000-000000000000}"/>
          </ac:picMkLst>
        </pc:picChg>
        <pc:picChg chg="add">
          <ac:chgData name="Lai, Wilson" userId="2840974a-0d84-4886-90a9-9a3ed79f3a48" providerId="ADAL" clId="{9F23B798-9E84-4552-BA63-E776E805C424}" dt="2026-09-06T00:35:59.603" v="17" actId="22"/>
          <ac:picMkLst>
            <pc:docMk/>
            <pc:sldMk cId="0" sldId="259"/>
            <ac:picMk id="4" creationId="{33C187EB-F8DB-C0AA-B58D-2620C0CE965D}"/>
          </ac:picMkLst>
        </pc:picChg>
      </pc:sldChg>
      <pc:sldChg chg="addSp delSp mod modNotes modNotesTx">
        <pc:chgData name="Lai, Wilson" userId="2840974a-0d84-4886-90a9-9a3ed79f3a48" providerId="ADAL" clId="{9F23B798-9E84-4552-BA63-E776E805C424}" dt="2026-09-06T07:37:17.566" v="60"/>
        <pc:sldMkLst>
          <pc:docMk/>
          <pc:sldMk cId="0" sldId="260"/>
        </pc:sldMkLst>
        <pc:picChg chg="del">
          <ac:chgData name="Lai, Wilson" userId="2840974a-0d84-4886-90a9-9a3ed79f3a48" providerId="ADAL" clId="{9F23B798-9E84-4552-BA63-E776E805C424}" dt="2026-09-06T00:36:01.985" v="18" actId="21"/>
          <ac:picMkLst>
            <pc:docMk/>
            <pc:sldMk cId="0" sldId="260"/>
            <ac:picMk id="2" creationId="{00000000-0000-0000-0000-000000000000}"/>
          </ac:picMkLst>
        </pc:picChg>
        <pc:picChg chg="add">
          <ac:chgData name="Lai, Wilson" userId="2840974a-0d84-4886-90a9-9a3ed79f3a48" providerId="ADAL" clId="{9F23B798-9E84-4552-BA63-E776E805C424}" dt="2026-09-06T00:36:10.189" v="19" actId="22"/>
          <ac:picMkLst>
            <pc:docMk/>
            <pc:sldMk cId="0" sldId="260"/>
            <ac:picMk id="4" creationId="{6B79CD17-FD4A-9F57-7291-A09F640CBD14}"/>
          </ac:picMkLst>
        </pc:picChg>
      </pc:sldChg>
      <pc:sldChg chg="addSp delSp mod">
        <pc:chgData name="Lai, Wilson" userId="2840974a-0d84-4886-90a9-9a3ed79f3a48" providerId="ADAL" clId="{9F23B798-9E84-4552-BA63-E776E805C424}" dt="2026-09-06T00:36:23.214" v="21" actId="22"/>
        <pc:sldMkLst>
          <pc:docMk/>
          <pc:sldMk cId="0" sldId="261"/>
        </pc:sldMkLst>
        <pc:picChg chg="del">
          <ac:chgData name="Lai, Wilson" userId="2840974a-0d84-4886-90a9-9a3ed79f3a48" providerId="ADAL" clId="{9F23B798-9E84-4552-BA63-E776E805C424}" dt="2026-09-06T00:36:12.047" v="20" actId="21"/>
          <ac:picMkLst>
            <pc:docMk/>
            <pc:sldMk cId="0" sldId="261"/>
            <ac:picMk id="2" creationId="{00000000-0000-0000-0000-000000000000}"/>
          </ac:picMkLst>
        </pc:picChg>
        <pc:picChg chg="add">
          <ac:chgData name="Lai, Wilson" userId="2840974a-0d84-4886-90a9-9a3ed79f3a48" providerId="ADAL" clId="{9F23B798-9E84-4552-BA63-E776E805C424}" dt="2026-09-06T00:36:23.214" v="21" actId="22"/>
          <ac:picMkLst>
            <pc:docMk/>
            <pc:sldMk cId="0" sldId="261"/>
            <ac:picMk id="4" creationId="{EDC566D4-8263-BCCF-72D3-83117C838A94}"/>
          </ac:picMkLst>
        </pc:picChg>
      </pc:sldChg>
      <pc:sldChg chg="addSp delSp mod modNotes">
        <pc:chgData name="Lai, Wilson" userId="2840974a-0d84-4886-90a9-9a3ed79f3a48" providerId="ADAL" clId="{9F23B798-9E84-4552-BA63-E776E805C424}" dt="2026-09-06T07:37:17.566" v="60"/>
        <pc:sldMkLst>
          <pc:docMk/>
          <pc:sldMk cId="0" sldId="262"/>
        </pc:sldMkLst>
        <pc:picChg chg="del">
          <ac:chgData name="Lai, Wilson" userId="2840974a-0d84-4886-90a9-9a3ed79f3a48" providerId="ADAL" clId="{9F23B798-9E84-4552-BA63-E776E805C424}" dt="2026-09-06T00:36:45.097" v="22" actId="21"/>
          <ac:picMkLst>
            <pc:docMk/>
            <pc:sldMk cId="0" sldId="262"/>
            <ac:picMk id="2" creationId="{00000000-0000-0000-0000-000000000000}"/>
          </ac:picMkLst>
        </pc:picChg>
        <pc:picChg chg="add">
          <ac:chgData name="Lai, Wilson" userId="2840974a-0d84-4886-90a9-9a3ed79f3a48" providerId="ADAL" clId="{9F23B798-9E84-4552-BA63-E776E805C424}" dt="2026-09-06T00:37:40.028" v="23" actId="22"/>
          <ac:picMkLst>
            <pc:docMk/>
            <pc:sldMk cId="0" sldId="262"/>
            <ac:picMk id="4" creationId="{02B13B93-6F8B-B440-3BFC-96721BAAD19F}"/>
          </ac:picMkLst>
        </pc:picChg>
      </pc:sldChg>
      <pc:sldChg chg="addSp delSp mod">
        <pc:chgData name="Lai, Wilson" userId="2840974a-0d84-4886-90a9-9a3ed79f3a48" providerId="ADAL" clId="{9F23B798-9E84-4552-BA63-E776E805C424}" dt="2026-09-06T00:37:59.817" v="25" actId="22"/>
        <pc:sldMkLst>
          <pc:docMk/>
          <pc:sldMk cId="0" sldId="263"/>
        </pc:sldMkLst>
        <pc:picChg chg="del">
          <ac:chgData name="Lai, Wilson" userId="2840974a-0d84-4886-90a9-9a3ed79f3a48" providerId="ADAL" clId="{9F23B798-9E84-4552-BA63-E776E805C424}" dt="2026-09-06T00:37:44.540" v="24" actId="21"/>
          <ac:picMkLst>
            <pc:docMk/>
            <pc:sldMk cId="0" sldId="263"/>
            <ac:picMk id="2" creationId="{00000000-0000-0000-0000-000000000000}"/>
          </ac:picMkLst>
        </pc:picChg>
        <pc:picChg chg="add">
          <ac:chgData name="Lai, Wilson" userId="2840974a-0d84-4886-90a9-9a3ed79f3a48" providerId="ADAL" clId="{9F23B798-9E84-4552-BA63-E776E805C424}" dt="2026-09-06T00:37:59.817" v="25" actId="22"/>
          <ac:picMkLst>
            <pc:docMk/>
            <pc:sldMk cId="0" sldId="263"/>
            <ac:picMk id="4" creationId="{1545D3FB-29F6-526C-B61D-9CD7E3669B24}"/>
          </ac:picMkLst>
        </pc:picChg>
      </pc:sldChg>
      <pc:sldChg chg="addSp delSp mod modNotesTx">
        <pc:chgData name="Lai, Wilson" userId="2840974a-0d84-4886-90a9-9a3ed79f3a48" providerId="ADAL" clId="{9F23B798-9E84-4552-BA63-E776E805C424}" dt="2026-09-06T07:34:55.001" v="50" actId="12"/>
        <pc:sldMkLst>
          <pc:docMk/>
          <pc:sldMk cId="0" sldId="264"/>
        </pc:sldMkLst>
        <pc:picChg chg="del">
          <ac:chgData name="Lai, Wilson" userId="2840974a-0d84-4886-90a9-9a3ed79f3a48" providerId="ADAL" clId="{9F23B798-9E84-4552-BA63-E776E805C424}" dt="2026-09-06T00:38:04.405" v="26" actId="21"/>
          <ac:picMkLst>
            <pc:docMk/>
            <pc:sldMk cId="0" sldId="264"/>
            <ac:picMk id="2" creationId="{00000000-0000-0000-0000-000000000000}"/>
          </ac:picMkLst>
        </pc:picChg>
        <pc:picChg chg="add">
          <ac:chgData name="Lai, Wilson" userId="2840974a-0d84-4886-90a9-9a3ed79f3a48" providerId="ADAL" clId="{9F23B798-9E84-4552-BA63-E776E805C424}" dt="2026-09-06T00:38:14.137" v="27" actId="22"/>
          <ac:picMkLst>
            <pc:docMk/>
            <pc:sldMk cId="0" sldId="264"/>
            <ac:picMk id="4" creationId="{BB5F42DA-546C-E8F7-47F9-4449A154F98E}"/>
          </ac:picMkLst>
        </pc:picChg>
      </pc:sldChg>
      <pc:sldChg chg="addSp delSp mod modNotesTx">
        <pc:chgData name="Lai, Wilson" userId="2840974a-0d84-4886-90a9-9a3ed79f3a48" providerId="ADAL" clId="{9F23B798-9E84-4552-BA63-E776E805C424}" dt="2026-09-06T07:35:39.522" v="53" actId="12"/>
        <pc:sldMkLst>
          <pc:docMk/>
          <pc:sldMk cId="0" sldId="265"/>
        </pc:sldMkLst>
        <pc:picChg chg="del">
          <ac:chgData name="Lai, Wilson" userId="2840974a-0d84-4886-90a9-9a3ed79f3a48" providerId="ADAL" clId="{9F23B798-9E84-4552-BA63-E776E805C424}" dt="2026-09-06T00:38:15.908" v="28" actId="21"/>
          <ac:picMkLst>
            <pc:docMk/>
            <pc:sldMk cId="0" sldId="265"/>
            <ac:picMk id="2" creationId="{00000000-0000-0000-0000-000000000000}"/>
          </ac:picMkLst>
        </pc:picChg>
        <pc:picChg chg="add">
          <ac:chgData name="Lai, Wilson" userId="2840974a-0d84-4886-90a9-9a3ed79f3a48" providerId="ADAL" clId="{9F23B798-9E84-4552-BA63-E776E805C424}" dt="2026-09-06T00:38:24.709" v="29" actId="22"/>
          <ac:picMkLst>
            <pc:docMk/>
            <pc:sldMk cId="0" sldId="265"/>
            <ac:picMk id="4" creationId="{5A919237-CD1C-9AA5-783C-4779877AB010}"/>
          </ac:picMkLst>
        </pc:picChg>
      </pc:sldChg>
      <pc:sldChg chg="addSp delSp mod ord modNotesTx">
        <pc:chgData name="Lai, Wilson" userId="2840974a-0d84-4886-90a9-9a3ed79f3a48" providerId="ADAL" clId="{9F23B798-9E84-4552-BA63-E776E805C424}" dt="2026-09-06T07:38:25.885" v="65" actId="6549"/>
        <pc:sldMkLst>
          <pc:docMk/>
          <pc:sldMk cId="0" sldId="266"/>
        </pc:sldMkLst>
        <pc:picChg chg="del">
          <ac:chgData name="Lai, Wilson" userId="2840974a-0d84-4886-90a9-9a3ed79f3a48" providerId="ADAL" clId="{9F23B798-9E84-4552-BA63-E776E805C424}" dt="2026-09-06T00:38:26.361" v="30" actId="21"/>
          <ac:picMkLst>
            <pc:docMk/>
            <pc:sldMk cId="0" sldId="266"/>
            <ac:picMk id="2" creationId="{00000000-0000-0000-0000-000000000000}"/>
          </ac:picMkLst>
        </pc:picChg>
        <pc:picChg chg="add">
          <ac:chgData name="Lai, Wilson" userId="2840974a-0d84-4886-90a9-9a3ed79f3a48" providerId="ADAL" clId="{9F23B798-9E84-4552-BA63-E776E805C424}" dt="2026-09-06T00:38:34.782" v="31" actId="22"/>
          <ac:picMkLst>
            <pc:docMk/>
            <pc:sldMk cId="0" sldId="266"/>
            <ac:picMk id="4" creationId="{CC40C165-1B93-8B47-84F7-297D93D6BAE4}"/>
          </ac:picMkLst>
        </pc:picChg>
      </pc:sldChg>
      <pc:sldChg chg="addSp delSp mod">
        <pc:chgData name="Lai, Wilson" userId="2840974a-0d84-4886-90a9-9a3ed79f3a48" providerId="ADAL" clId="{9F23B798-9E84-4552-BA63-E776E805C424}" dt="2026-09-06T00:38:48.537" v="33" actId="22"/>
        <pc:sldMkLst>
          <pc:docMk/>
          <pc:sldMk cId="0" sldId="267"/>
        </pc:sldMkLst>
        <pc:picChg chg="del">
          <ac:chgData name="Lai, Wilson" userId="2840974a-0d84-4886-90a9-9a3ed79f3a48" providerId="ADAL" clId="{9F23B798-9E84-4552-BA63-E776E805C424}" dt="2026-09-06T00:38:36.153" v="32" actId="21"/>
          <ac:picMkLst>
            <pc:docMk/>
            <pc:sldMk cId="0" sldId="267"/>
            <ac:picMk id="2" creationId="{00000000-0000-0000-0000-000000000000}"/>
          </ac:picMkLst>
        </pc:picChg>
        <pc:picChg chg="add">
          <ac:chgData name="Lai, Wilson" userId="2840974a-0d84-4886-90a9-9a3ed79f3a48" providerId="ADAL" clId="{9F23B798-9E84-4552-BA63-E776E805C424}" dt="2026-09-06T00:38:48.537" v="33" actId="22"/>
          <ac:picMkLst>
            <pc:docMk/>
            <pc:sldMk cId="0" sldId="267"/>
            <ac:picMk id="4" creationId="{F7E74E02-9133-7EE3-F6C9-41A0EAA4B8F8}"/>
          </ac:picMkLst>
        </pc:picChg>
      </pc:sldChg>
      <pc:sldChg chg="addSp delSp mod modNotes modNotesTx">
        <pc:chgData name="Lai, Wilson" userId="2840974a-0d84-4886-90a9-9a3ed79f3a48" providerId="ADAL" clId="{9F23B798-9E84-4552-BA63-E776E805C424}" dt="2026-09-06T07:37:17.566" v="60"/>
        <pc:sldMkLst>
          <pc:docMk/>
          <pc:sldMk cId="0" sldId="268"/>
        </pc:sldMkLst>
        <pc:picChg chg="del">
          <ac:chgData name="Lai, Wilson" userId="2840974a-0d84-4886-90a9-9a3ed79f3a48" providerId="ADAL" clId="{9F23B798-9E84-4552-BA63-E776E805C424}" dt="2026-09-06T00:38:50.146" v="34" actId="21"/>
          <ac:picMkLst>
            <pc:docMk/>
            <pc:sldMk cId="0" sldId="268"/>
            <ac:picMk id="2" creationId="{00000000-0000-0000-0000-000000000000}"/>
          </ac:picMkLst>
        </pc:picChg>
        <pc:picChg chg="add">
          <ac:chgData name="Lai, Wilson" userId="2840974a-0d84-4886-90a9-9a3ed79f3a48" providerId="ADAL" clId="{9F23B798-9E84-4552-BA63-E776E805C424}" dt="2026-09-06T00:39:01.642" v="35" actId="22"/>
          <ac:picMkLst>
            <pc:docMk/>
            <pc:sldMk cId="0" sldId="268"/>
            <ac:picMk id="4" creationId="{0C3010C2-AFF1-4CE1-FFF0-43925D8D6085}"/>
          </ac:picMkLst>
        </pc:picChg>
      </pc:sldChg>
      <pc:sldChg chg="addSp delSp mod modNotes modNotesTx">
        <pc:chgData name="Lai, Wilson" userId="2840974a-0d84-4886-90a9-9a3ed79f3a48" providerId="ADAL" clId="{9F23B798-9E84-4552-BA63-E776E805C424}" dt="2026-09-06T07:37:17.566" v="60"/>
        <pc:sldMkLst>
          <pc:docMk/>
          <pc:sldMk cId="0" sldId="269"/>
        </pc:sldMkLst>
        <pc:picChg chg="del">
          <ac:chgData name="Lai, Wilson" userId="2840974a-0d84-4886-90a9-9a3ed79f3a48" providerId="ADAL" clId="{9F23B798-9E84-4552-BA63-E776E805C424}" dt="2026-09-06T00:39:04.023" v="36" actId="21"/>
          <ac:picMkLst>
            <pc:docMk/>
            <pc:sldMk cId="0" sldId="269"/>
            <ac:picMk id="2" creationId="{00000000-0000-0000-0000-000000000000}"/>
          </ac:picMkLst>
        </pc:picChg>
        <pc:picChg chg="add">
          <ac:chgData name="Lai, Wilson" userId="2840974a-0d84-4886-90a9-9a3ed79f3a48" providerId="ADAL" clId="{9F23B798-9E84-4552-BA63-E776E805C424}" dt="2026-09-06T00:39:18.473" v="37" actId="22"/>
          <ac:picMkLst>
            <pc:docMk/>
            <pc:sldMk cId="0" sldId="269"/>
            <ac:picMk id="4" creationId="{612459AA-3DB5-CA78-ADE6-8FD2456245A0}"/>
          </ac:picMkLst>
        </pc:picChg>
      </pc:sldChg>
      <pc:sldChg chg="addSp delSp mod modNotes modNotesTx">
        <pc:chgData name="Lai, Wilson" userId="2840974a-0d84-4886-90a9-9a3ed79f3a48" providerId="ADAL" clId="{9F23B798-9E84-4552-BA63-E776E805C424}" dt="2026-09-06T07:37:17.566" v="60"/>
        <pc:sldMkLst>
          <pc:docMk/>
          <pc:sldMk cId="0" sldId="270"/>
        </pc:sldMkLst>
        <pc:picChg chg="del">
          <ac:chgData name="Lai, Wilson" userId="2840974a-0d84-4886-90a9-9a3ed79f3a48" providerId="ADAL" clId="{9F23B798-9E84-4552-BA63-E776E805C424}" dt="2026-09-06T00:39:21.805" v="38" actId="21"/>
          <ac:picMkLst>
            <pc:docMk/>
            <pc:sldMk cId="0" sldId="270"/>
            <ac:picMk id="2" creationId="{00000000-0000-0000-0000-000000000000}"/>
          </ac:picMkLst>
        </pc:picChg>
        <pc:picChg chg="add">
          <ac:chgData name="Lai, Wilson" userId="2840974a-0d84-4886-90a9-9a3ed79f3a48" providerId="ADAL" clId="{9F23B798-9E84-4552-BA63-E776E805C424}" dt="2026-09-06T00:39:30.272" v="39" actId="22"/>
          <ac:picMkLst>
            <pc:docMk/>
            <pc:sldMk cId="0" sldId="270"/>
            <ac:picMk id="4" creationId="{7AE498CE-9A48-45A6-8499-7EF478AFE830}"/>
          </ac:picMkLst>
        </pc:picChg>
      </pc:sldChg>
      <pc:sldChg chg="addSp delSp mod modNotes modNotesTx">
        <pc:chgData name="Lai, Wilson" userId="2840974a-0d84-4886-90a9-9a3ed79f3a48" providerId="ADAL" clId="{9F23B798-9E84-4552-BA63-E776E805C424}" dt="2026-09-06T07:37:17.566" v="60"/>
        <pc:sldMkLst>
          <pc:docMk/>
          <pc:sldMk cId="0" sldId="271"/>
        </pc:sldMkLst>
        <pc:picChg chg="del">
          <ac:chgData name="Lai, Wilson" userId="2840974a-0d84-4886-90a9-9a3ed79f3a48" providerId="ADAL" clId="{9F23B798-9E84-4552-BA63-E776E805C424}" dt="2026-09-06T00:39:33.252" v="40" actId="21"/>
          <ac:picMkLst>
            <pc:docMk/>
            <pc:sldMk cId="0" sldId="271"/>
            <ac:picMk id="2" creationId="{00000000-0000-0000-0000-000000000000}"/>
          </ac:picMkLst>
        </pc:picChg>
        <pc:picChg chg="add">
          <ac:chgData name="Lai, Wilson" userId="2840974a-0d84-4886-90a9-9a3ed79f3a48" providerId="ADAL" clId="{9F23B798-9E84-4552-BA63-E776E805C424}" dt="2026-09-06T00:40:03.903" v="41" actId="22"/>
          <ac:picMkLst>
            <pc:docMk/>
            <pc:sldMk cId="0" sldId="271"/>
            <ac:picMk id="4" creationId="{985C38F6-0009-AD7A-5D7D-A5228AFD9956}"/>
          </ac:picMkLst>
        </pc:picChg>
      </pc:sldChg>
      <pc:sldChg chg="modNotes modNotesTx">
        <pc:chgData name="Lai, Wilson" userId="2840974a-0d84-4886-90a9-9a3ed79f3a48" providerId="ADAL" clId="{9F23B798-9E84-4552-BA63-E776E805C424}" dt="2026-09-06T07:37:17.566" v="60"/>
        <pc:sldMkLst>
          <pc:docMk/>
          <pc:sldMk cId="3761682122"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56495D-27EE-4E18-8B74-6A3CB13294DA}"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6F6BDF-A585-4FDC-9035-284A429B7B7C}" type="slidenum">
              <a:rPr lang="en-US" smtClean="0"/>
              <a:t>‹#›</a:t>
            </a:fld>
            <a:endParaRPr lang="en-US"/>
          </a:p>
        </p:txBody>
      </p:sp>
    </p:spTree>
    <p:extLst>
      <p:ext uri="{BB962C8B-B14F-4D97-AF65-F5344CB8AC3E}">
        <p14:creationId xmlns:p14="http://schemas.microsoft.com/office/powerpoint/2010/main" val="30134512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Today, we are opening up a conversation about one of the most critical macro-financial shifts of our lifetime: what we call </a:t>
            </a:r>
            <a:r>
              <a:rPr lang="en-US" sz="1200" b="1" kern="1200" dirty="0">
                <a:solidFill>
                  <a:schemeClr val="tx1"/>
                </a:solidFill>
                <a:effectLst/>
                <a:latin typeface="+mn-lt"/>
                <a:ea typeface="+mn-ea"/>
                <a:cs typeface="+mn-cs"/>
              </a:rPr>
              <a:t>The Japan Playbook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Right now, we are witnessing a fundamental break in the economic reality we’ve relied on for decades. Look at the ticker across the top of this slide: US national debt is fast approaching a staggering </a:t>
            </a:r>
            <a:r>
              <a:rPr lang="en-US" sz="1200" b="1" kern="1200" dirty="0">
                <a:solidFill>
                  <a:schemeClr val="tx1"/>
                </a:solidFill>
                <a:effectLst/>
                <a:latin typeface="+mn-lt"/>
                <a:ea typeface="+mn-ea"/>
                <a:cs typeface="+mn-cs"/>
              </a:rPr>
              <a:t>$40 Trillion tipping point</a:t>
            </a:r>
            <a:r>
              <a:rPr lang="en-US" sz="1200" kern="1200" dirty="0">
                <a:solidFill>
                  <a:schemeClr val="tx1"/>
                </a:solidFill>
                <a:effectLst/>
                <a:latin typeface="+mn-lt"/>
                <a:ea typeface="+mn-ea"/>
                <a:cs typeface="+mn-cs"/>
              </a:rPr>
              <a:t>. At the same time, the Yen carry trade is flashing warning signs, inflation remains stubbornly sticky, and while the S&amp;P 500 is up 70% over the last three years, most working people feel like they are falling behind. </a:t>
            </a:r>
          </a:p>
          <a:p>
            <a:r>
              <a:rPr lang="en-US" sz="1200" kern="1200" dirty="0">
                <a:solidFill>
                  <a:schemeClr val="tx1"/>
                </a:solidFill>
                <a:effectLst/>
                <a:latin typeface="+mn-lt"/>
                <a:ea typeface="+mn-ea"/>
                <a:cs typeface="+mn-cs"/>
              </a:rPr>
              <a:t>In this session, we're going to break down why the bond market has stopped trusting government spending, how the US is adopting the exact monetary playbook Japan has used for 30 years, and—most importantly—how you can use the </a:t>
            </a:r>
            <a:r>
              <a:rPr lang="en-US" sz="1200" b="1" kern="1200" dirty="0">
                <a:solidFill>
                  <a:schemeClr val="tx1"/>
                </a:solidFill>
                <a:effectLst/>
                <a:latin typeface="+mn-lt"/>
                <a:ea typeface="+mn-ea"/>
                <a:cs typeface="+mn-cs"/>
              </a:rPr>
              <a:t>Saturday Investor framework</a:t>
            </a:r>
            <a:r>
              <a:rPr lang="en-US" sz="1200" kern="1200" dirty="0">
                <a:solidFill>
                  <a:schemeClr val="tx1"/>
                </a:solidFill>
                <a:effectLst/>
                <a:latin typeface="+mn-lt"/>
                <a:ea typeface="+mn-ea"/>
                <a:cs typeface="+mn-cs"/>
              </a:rPr>
              <a:t> to protect your purchasing power and thrive in an era of persistent money printing.</a:t>
            </a:r>
          </a:p>
          <a:p>
            <a:endParaRPr lang="en-US" dirty="0"/>
          </a:p>
          <a:p>
            <a:endParaRPr lang="en-US" dirty="0"/>
          </a:p>
          <a:p>
            <a:endParaRPr lang="en-US" dirty="0"/>
          </a:p>
          <a:p>
            <a:r>
              <a:rPr lang="en-US" dirty="0"/>
              <a:t>https://www.youtube.com/watch?v=Si52BL8HAYI</a:t>
            </a:r>
          </a:p>
        </p:txBody>
      </p:sp>
      <p:sp>
        <p:nvSpPr>
          <p:cNvPr id="4" name="Slide Number Placeholder 3"/>
          <p:cNvSpPr>
            <a:spLocks noGrp="1"/>
          </p:cNvSpPr>
          <p:nvPr>
            <p:ph type="sldNum" sz="quarter" idx="5"/>
          </p:nvPr>
        </p:nvSpPr>
        <p:spPr/>
        <p:txBody>
          <a:bodyPr/>
          <a:lstStyle/>
          <a:p>
            <a:fld id="{826F6BDF-A585-4FDC-9035-284A429B7B7C}" type="slidenum">
              <a:rPr lang="en-US" smtClean="0"/>
              <a:t>1</a:t>
            </a:fld>
            <a:endParaRPr lang="en-US"/>
          </a:p>
        </p:txBody>
      </p:sp>
    </p:spTree>
    <p:extLst>
      <p:ext uri="{BB962C8B-B14F-4D97-AF65-F5344CB8AC3E}">
        <p14:creationId xmlns:p14="http://schemas.microsoft.com/office/powerpoint/2010/main" val="2702352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Wall Street insiders often reference a specific threshold: </a:t>
            </a:r>
            <a:r>
              <a:rPr lang="en-US" sz="1200" b="1" kern="1200" dirty="0">
                <a:solidFill>
                  <a:schemeClr val="tx1"/>
                </a:solidFill>
                <a:effectLst/>
                <a:latin typeface="+mn-lt"/>
                <a:ea typeface="+mn-ea"/>
                <a:cs typeface="+mn-cs"/>
              </a:rPr>
              <a:t>$40 Trillion</a:t>
            </a:r>
            <a:r>
              <a:rPr lang="en-US" sz="1200" kern="1200" dirty="0">
                <a:solidFill>
                  <a:schemeClr val="tx1"/>
                </a:solidFill>
                <a:effectLst/>
                <a:latin typeface="+mn-lt"/>
                <a:ea typeface="+mn-ea"/>
                <a:cs typeface="+mn-cs"/>
              </a:rPr>
              <a:t>. They call it the tipping point where debt math becomes mathematically unrecoverable. </a:t>
            </a:r>
          </a:p>
          <a:p>
            <a:r>
              <a:rPr lang="en-US" sz="1200" kern="1200" dirty="0">
                <a:solidFill>
                  <a:schemeClr val="tx1"/>
                </a:solidFill>
                <a:effectLst/>
                <a:latin typeface="+mn-lt"/>
                <a:ea typeface="+mn-ea"/>
                <a:cs typeface="+mn-cs"/>
              </a:rPr>
              <a:t>Let’s talk about what broke in the bond market. Under normal economic rules, when you get bad economic news or weak jobs data, investors run to safety. They buy long-term US bonds, which pushes bond prices up and brings interest rates down. But today, long-term interest rates are rising </a:t>
            </a:r>
            <a:r>
              <a:rPr lang="en-US" sz="1200" i="1" kern="1200" dirty="0">
                <a:solidFill>
                  <a:schemeClr val="tx1"/>
                </a:solidFill>
                <a:effectLst/>
                <a:latin typeface="+mn-lt"/>
                <a:ea typeface="+mn-ea"/>
                <a:cs typeface="+mn-cs"/>
              </a:rPr>
              <a:t>despite</a:t>
            </a:r>
            <a:r>
              <a:rPr lang="en-US" sz="1200" kern="1200" dirty="0">
                <a:solidFill>
                  <a:schemeClr val="tx1"/>
                </a:solidFill>
                <a:effectLst/>
                <a:latin typeface="+mn-lt"/>
                <a:ea typeface="+mn-ea"/>
                <a:cs typeface="+mn-cs"/>
              </a:rPr>
              <a:t> economic uncertainty. Why? Because the bond market—the smartest, most disciplined money on Wall Street—has stopped trusting government spending. </a:t>
            </a:r>
          </a:p>
          <a:p>
            <a:r>
              <a:rPr lang="en-US" sz="1200" kern="1200" dirty="0">
                <a:solidFill>
                  <a:schemeClr val="tx1"/>
                </a:solidFill>
                <a:effectLst/>
                <a:latin typeface="+mn-lt"/>
                <a:ea typeface="+mn-ea"/>
                <a:cs typeface="+mn-cs"/>
              </a:rPr>
              <a:t>Look at the service cost: </a:t>
            </a:r>
            <a:r>
              <a:rPr lang="en-US" sz="1200" b="1" kern="1200" dirty="0">
                <a:solidFill>
                  <a:schemeClr val="tx1"/>
                </a:solidFill>
                <a:effectLst/>
                <a:latin typeface="+mn-lt"/>
                <a:ea typeface="+mn-ea"/>
                <a:cs typeface="+mn-cs"/>
              </a:rPr>
              <a:t>The US paid over $1.4 Trillion in interest alone last year</a:t>
            </a:r>
            <a:r>
              <a:rPr lang="en-US" sz="1200" kern="1200" dirty="0">
                <a:solidFill>
                  <a:schemeClr val="tx1"/>
                </a:solidFill>
                <a:effectLst/>
                <a:latin typeface="+mn-lt"/>
                <a:ea typeface="+mn-ea"/>
                <a:cs typeface="+mn-cs"/>
              </a:rPr>
              <a:t>. Interest payment is now the single largest line item in the federal budget—exceeding defense spending. When rates rise further, that interest cost expands exponentially. When you reach this level of debt math, hard defaults are politically off the table. Instead, the system relies on a soft default: inflating the debt away.</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2</a:t>
            </a:fld>
            <a:endParaRPr lang="en-US"/>
          </a:p>
        </p:txBody>
      </p:sp>
    </p:spTree>
    <p:extLst>
      <p:ext uri="{BB962C8B-B14F-4D97-AF65-F5344CB8AC3E}">
        <p14:creationId xmlns:p14="http://schemas.microsoft.com/office/powerpoint/2010/main" val="1241139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facing a $2 Trillion annual structural deficit, voters assume politicians will solve it. But as investors, we must realize that </a:t>
            </a:r>
            <a:r>
              <a:rPr lang="en-US" sz="1200" b="1" kern="1200" dirty="0">
                <a:solidFill>
                  <a:schemeClr val="tx1"/>
                </a:solidFill>
                <a:effectLst/>
                <a:latin typeface="+mn-lt"/>
                <a:ea typeface="+mn-ea"/>
                <a:cs typeface="+mn-cs"/>
              </a:rPr>
              <a:t>no politician is coming to save you</a:t>
            </a:r>
            <a:r>
              <a:rPr lang="en-US" sz="1200" kern="1200" dirty="0">
                <a:solidFill>
                  <a:schemeClr val="tx1"/>
                </a:solidFill>
                <a:effectLst/>
                <a:latin typeface="+mn-lt"/>
                <a:ea typeface="+mn-ea"/>
                <a:cs typeface="+mn-cs"/>
              </a:rPr>
              <a:t>, regardless of party. There are only three potential paths, and two of them are political non-starters: </a:t>
            </a:r>
          </a:p>
          <a:p>
            <a:pPr marL="228600" lvl="0" indent="-228600">
              <a:buFont typeface="+mj-lt"/>
              <a:buAutoNum type="arabicPeriod"/>
            </a:pPr>
            <a:r>
              <a:rPr lang="en-US" sz="1200" b="1" kern="1200" dirty="0">
                <a:solidFill>
                  <a:schemeClr val="tx1"/>
                </a:solidFill>
                <a:effectLst/>
                <a:latin typeface="+mn-lt"/>
                <a:ea typeface="+mn-ea"/>
                <a:cs typeface="+mn-cs"/>
              </a:rPr>
              <a:t>The Taxer:</a:t>
            </a:r>
            <a:r>
              <a:rPr lang="en-US" sz="1200" kern="1200" dirty="0">
                <a:solidFill>
                  <a:schemeClr val="tx1"/>
                </a:solidFill>
                <a:effectLst/>
                <a:latin typeface="+mn-lt"/>
                <a:ea typeface="+mn-ea"/>
                <a:cs typeface="+mn-cs"/>
              </a:rPr>
              <a:t> The theory is to tax our way out of the deficit. The math fails. For every new $1 in tax revenue brought in historically, government spending expands by $1.58. You cannot tax your way out of a structural spending problem. </a:t>
            </a:r>
          </a:p>
          <a:p>
            <a:pPr marL="228600" lvl="0" indent="-228600">
              <a:buFont typeface="+mj-lt"/>
              <a:buAutoNum type="arabicPeriod"/>
            </a:pPr>
            <a:r>
              <a:rPr lang="en-US" sz="1200" b="1" kern="1200" dirty="0">
                <a:solidFill>
                  <a:schemeClr val="tx1"/>
                </a:solidFill>
                <a:effectLst/>
                <a:latin typeface="+mn-lt"/>
                <a:ea typeface="+mn-ea"/>
                <a:cs typeface="+mn-cs"/>
              </a:rPr>
              <a:t>The Cutter:</a:t>
            </a:r>
            <a:r>
              <a:rPr lang="en-US" sz="1200" kern="1200" dirty="0">
                <a:solidFill>
                  <a:schemeClr val="tx1"/>
                </a:solidFill>
                <a:effectLst/>
                <a:latin typeface="+mn-lt"/>
                <a:ea typeface="+mn-ea"/>
                <a:cs typeface="+mn-cs"/>
              </a:rPr>
              <a:t> The theory is to slash $2 Trillion in federal spending. But government spending is corporate revenue. Cutting $2 Trillion immediately collapses corporate earnings by up to 20%, triggers widespread layoffs, and plunges the economy into a severe recession. Politicians who cut spending at that scale get fired immediately. </a:t>
            </a:r>
          </a:p>
          <a:p>
            <a:pPr marL="228600" lvl="0" indent="-228600">
              <a:buFont typeface="+mj-lt"/>
              <a:buAutoNum type="arabicPeriod"/>
            </a:pPr>
            <a:r>
              <a:rPr lang="en-US" sz="1200" b="1" kern="1200" dirty="0">
                <a:solidFill>
                  <a:schemeClr val="tx1"/>
                </a:solidFill>
                <a:effectLst/>
                <a:latin typeface="+mn-lt"/>
                <a:ea typeface="+mn-ea"/>
                <a:cs typeface="+mn-cs"/>
              </a:rPr>
              <a:t>The Printer:</a:t>
            </a:r>
            <a:r>
              <a:rPr lang="en-US" sz="1200" kern="1200" dirty="0">
                <a:solidFill>
                  <a:schemeClr val="tx1"/>
                </a:solidFill>
                <a:effectLst/>
                <a:latin typeface="+mn-lt"/>
                <a:ea typeface="+mn-ea"/>
                <a:cs typeface="+mn-cs"/>
              </a:rPr>
              <a:t> This leaves option three—the only politically viable path. Print money to service the debt and inflate it away. It acts as an unannounced, stealth tax on salaries and cash savings. The sovereign state survives, but purchasing power degrades. </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3</a:t>
            </a:fld>
            <a:endParaRPr lang="en-US"/>
          </a:p>
        </p:txBody>
      </p:sp>
    </p:spTree>
    <p:extLst>
      <p:ext uri="{BB962C8B-B14F-4D97-AF65-F5344CB8AC3E}">
        <p14:creationId xmlns:p14="http://schemas.microsoft.com/office/powerpoint/2010/main" val="5974299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Because the government cannot balance its books, it enters what we call </a:t>
            </a:r>
            <a:r>
              <a:rPr lang="en-US" sz="1200" b="1" kern="1200" dirty="0">
                <a:solidFill>
                  <a:schemeClr val="tx1"/>
                </a:solidFill>
                <a:effectLst/>
                <a:latin typeface="+mn-lt"/>
                <a:ea typeface="+mn-ea"/>
                <a:cs typeface="+mn-cs"/>
              </a:rPr>
              <a:t>The Ponzi Loop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1:</a:t>
            </a:r>
            <a:r>
              <a:rPr lang="en-US" sz="1200" kern="1200" dirty="0">
                <a:solidFill>
                  <a:schemeClr val="tx1"/>
                </a:solidFill>
                <a:effectLst/>
                <a:latin typeface="+mn-lt"/>
                <a:ea typeface="+mn-ea"/>
                <a:cs typeface="+mn-cs"/>
              </a:rPr>
              <a:t> The US Treasury attempts to issue 10-, 20-, and 30-year bonds to finance $2T+ annual deficits.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2:</a:t>
            </a:r>
            <a:r>
              <a:rPr lang="en-US" sz="1200" kern="1200" dirty="0">
                <a:solidFill>
                  <a:schemeClr val="tx1"/>
                </a:solidFill>
                <a:effectLst/>
                <a:latin typeface="+mn-lt"/>
                <a:ea typeface="+mn-ea"/>
                <a:cs typeface="+mn-cs"/>
              </a:rPr>
              <a:t> The free market rejects long-term bonds. Foreign central banks and private investors refuse to lock in low yields on 30-year debt when they anticipate long-term fiscal dilution.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3:</a:t>
            </a:r>
            <a:r>
              <a:rPr lang="en-US" sz="1200" kern="1200" dirty="0">
                <a:solidFill>
                  <a:schemeClr val="tx1"/>
                </a:solidFill>
                <a:effectLst/>
                <a:latin typeface="+mn-lt"/>
                <a:ea typeface="+mn-ea"/>
                <a:cs typeface="+mn-cs"/>
              </a:rPr>
              <a:t> The Treasury pivots by issuing massive volumes of short-term Treasury bills (IOUs).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Step 4:</a:t>
            </a:r>
            <a:r>
              <a:rPr lang="en-US" sz="1200" kern="1200" dirty="0">
                <a:solidFill>
                  <a:schemeClr val="tx1"/>
                </a:solidFill>
                <a:effectLst/>
                <a:latin typeface="+mn-lt"/>
                <a:ea typeface="+mn-ea"/>
                <a:cs typeface="+mn-cs"/>
              </a:rPr>
              <a:t> The Fed acts as the ultimate buyer of last resort, absorbing this short-term debt using newly created liquidity. </a:t>
            </a:r>
          </a:p>
          <a:p>
            <a:r>
              <a:rPr lang="en-US" sz="1200" kern="1200" dirty="0">
                <a:solidFill>
                  <a:schemeClr val="tx1"/>
                </a:solidFill>
                <a:effectLst/>
                <a:latin typeface="+mn-lt"/>
                <a:ea typeface="+mn-ea"/>
                <a:cs typeface="+mn-cs"/>
              </a:rPr>
              <a:t>Wall Street and central banks don't like to call this 'money printing'. They invent fancy euphemisms like 'Liquidity Easing' or 'Balance Sheet Management'. But the underlying math is simple: it is pure money creation to keep rates artificially suppressed. </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4</a:t>
            </a:fld>
            <a:endParaRPr lang="en-US"/>
          </a:p>
        </p:txBody>
      </p:sp>
    </p:spTree>
    <p:extLst>
      <p:ext uri="{BB962C8B-B14F-4D97-AF65-F5344CB8AC3E}">
        <p14:creationId xmlns:p14="http://schemas.microsoft.com/office/powerpoint/2010/main" val="10355472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This leads us to the heart of the presentation: </a:t>
            </a:r>
            <a:r>
              <a:rPr lang="en-US" sz="1200" b="1" kern="1200" dirty="0">
                <a:solidFill>
                  <a:schemeClr val="tx1"/>
                </a:solidFill>
                <a:effectLst/>
                <a:latin typeface="+mn-lt"/>
                <a:ea typeface="+mn-ea"/>
                <a:cs typeface="+mn-cs"/>
              </a:rPr>
              <a:t>The Japan Playbook</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Following their asset bubble burst in 1989-1990, Japan spent over three decades running this exact script. To keep nominal interest rates artificially low while supporting staggering debt-to-GDP ratios (over 230%), the Bank of Japan stepped in to buy up the vast majority of its own national debt. </a:t>
            </a:r>
          </a:p>
          <a:p>
            <a:r>
              <a:rPr lang="en-US" sz="1200" b="1" kern="1200" dirty="0">
                <a:solidFill>
                  <a:schemeClr val="tx1"/>
                </a:solidFill>
                <a:effectLst/>
                <a:latin typeface="+mn-lt"/>
                <a:ea typeface="+mn-ea"/>
                <a:cs typeface="+mn-cs"/>
              </a:rPr>
              <a:t>The Goal:</a:t>
            </a:r>
            <a:r>
              <a:rPr lang="en-US" sz="1200" kern="1200" dirty="0">
                <a:solidFill>
                  <a:schemeClr val="tx1"/>
                </a:solidFill>
                <a:effectLst/>
                <a:latin typeface="+mn-lt"/>
                <a:ea typeface="+mn-ea"/>
                <a:cs typeface="+mn-cs"/>
              </a:rPr>
              <a:t> Keep nominal interest rates low while allowing inflation to run higher, mathematically shrinking the value of the debt relative to total GDP over time. </a:t>
            </a:r>
          </a:p>
          <a:p>
            <a:r>
              <a:rPr lang="en-US" sz="1200" b="1" kern="1200" dirty="0">
                <a:solidFill>
                  <a:schemeClr val="tx1"/>
                </a:solidFill>
                <a:effectLst/>
                <a:latin typeface="+mn-lt"/>
                <a:ea typeface="+mn-ea"/>
                <a:cs typeface="+mn-cs"/>
              </a:rPr>
              <a:t>The Micro Result:</a:t>
            </a:r>
            <a:r>
              <a:rPr lang="en-US" sz="1200" kern="1200" dirty="0">
                <a:solidFill>
                  <a:schemeClr val="tx1"/>
                </a:solidFill>
                <a:effectLst/>
                <a:latin typeface="+mn-lt"/>
                <a:ea typeface="+mn-ea"/>
                <a:cs typeface="+mn-cs"/>
              </a:rPr>
              <a:t> The central government stays solvent, but the social contract breaks. The average Japanese </a:t>
            </a:r>
            <a:r>
              <a:rPr lang="en-US" sz="1200" i="1" kern="1200" dirty="0">
                <a:solidFill>
                  <a:schemeClr val="tx1"/>
                </a:solidFill>
                <a:effectLst/>
                <a:latin typeface="+mn-lt"/>
                <a:ea typeface="+mn-ea"/>
                <a:cs typeface="+mn-cs"/>
              </a:rPr>
              <a:t>salaryman</a:t>
            </a:r>
            <a:r>
              <a:rPr lang="en-US" sz="1200" kern="1200" dirty="0">
                <a:solidFill>
                  <a:schemeClr val="tx1"/>
                </a:solidFill>
                <a:effectLst/>
                <a:latin typeface="+mn-lt"/>
                <a:ea typeface="+mn-ea"/>
                <a:cs typeface="+mn-cs"/>
              </a:rPr>
              <a:t> is no wealthier today in real terms than 30 years ago. Purchasing power was slowly absorbed by the state to support sovereign debt. The US is now executing this exact playbook.</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5</a:t>
            </a:fld>
            <a:endParaRPr lang="en-US"/>
          </a:p>
        </p:txBody>
      </p:sp>
    </p:spTree>
    <p:extLst>
      <p:ext uri="{BB962C8B-B14F-4D97-AF65-F5344CB8AC3E}">
        <p14:creationId xmlns:p14="http://schemas.microsoft.com/office/powerpoint/2010/main" val="42944466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Understanding the US debt crisis requires understanding the </a:t>
            </a:r>
            <a:r>
              <a:rPr lang="en-US" sz="1200" b="1" kern="1200" dirty="0">
                <a:solidFill>
                  <a:schemeClr val="tx1"/>
                </a:solidFill>
                <a:effectLst/>
                <a:latin typeface="+mn-lt"/>
                <a:ea typeface="+mn-ea"/>
                <a:cs typeface="+mn-cs"/>
              </a:rPr>
              <a:t>Yen Carry Trade</a:t>
            </a:r>
            <a:r>
              <a:rPr lang="en-US" sz="1200" kern="1200" dirty="0">
                <a:solidFill>
                  <a:schemeClr val="tx1"/>
                </a:solidFill>
                <a:effectLst/>
                <a:latin typeface="+mn-lt"/>
                <a:ea typeface="+mn-ea"/>
                <a:cs typeface="+mn-cs"/>
              </a:rPr>
              <a:t>—a financial mechanism estimated between $10 Trillion and $30 Trillion. </a:t>
            </a:r>
          </a:p>
          <a:p>
            <a:r>
              <a:rPr lang="en-US" sz="1200" kern="1200" dirty="0">
                <a:solidFill>
                  <a:schemeClr val="tx1"/>
                </a:solidFill>
                <a:effectLst/>
                <a:latin typeface="+mn-lt"/>
                <a:ea typeface="+mn-ea"/>
                <a:cs typeface="+mn-cs"/>
              </a:rPr>
              <a:t>For decades, global hedge funds borrowed massive amounts of Japanese Yen at near 0% interest. They converted those Yen into US Dollars to buy higher-yielding US Treasuries and Mega-Cap Tech stocks yielding 5% to 10%. </a:t>
            </a:r>
          </a:p>
          <a:p>
            <a:r>
              <a:rPr lang="en-US" sz="1200" kern="1200" dirty="0">
                <a:solidFill>
                  <a:schemeClr val="tx1"/>
                </a:solidFill>
                <a:effectLst/>
                <a:latin typeface="+mn-lt"/>
                <a:ea typeface="+mn-ea"/>
                <a:cs typeface="+mn-cs"/>
              </a:rPr>
              <a:t>The danger is </a:t>
            </a:r>
            <a:r>
              <a:rPr lang="en-US" sz="1200" b="1" kern="1200" dirty="0">
                <a:solidFill>
                  <a:schemeClr val="tx1"/>
                </a:solidFill>
                <a:effectLst/>
                <a:latin typeface="+mn-lt"/>
                <a:ea typeface="+mn-ea"/>
                <a:cs typeface="+mn-cs"/>
              </a:rPr>
              <a:t>leverage</a:t>
            </a:r>
            <a:r>
              <a:rPr lang="en-US" sz="1200" kern="1200" dirty="0">
                <a:solidFill>
                  <a:schemeClr val="tx1"/>
                </a:solidFill>
                <a:effectLst/>
                <a:latin typeface="+mn-lt"/>
                <a:ea typeface="+mn-ea"/>
                <a:cs typeface="+mn-cs"/>
              </a:rPr>
              <a:t>. Financial institutions often leveraged these positions 20x to 40x. At 40x leverage, if US markets drop just 2% in a single day, or if the Yen rapidly appreciates, the fund suffers an 80% capital loss—triggering instant margin calls and forced liquidation. </a:t>
            </a:r>
          </a:p>
          <a:p>
            <a:r>
              <a:rPr lang="en-US" sz="1200" kern="1200" dirty="0">
                <a:solidFill>
                  <a:schemeClr val="tx1"/>
                </a:solidFill>
                <a:effectLst/>
                <a:latin typeface="+mn-lt"/>
                <a:ea typeface="+mn-ea"/>
                <a:cs typeface="+mn-cs"/>
              </a:rPr>
              <a:t>This is why the US Treasury is actively forced to prop up US bond prices while managing the Yen simultaneously. An uncontrolled unwinding of the carry trade risks triggering a 2008-level global liquidation event.</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6</a:t>
            </a:fld>
            <a:endParaRPr lang="en-US"/>
          </a:p>
        </p:txBody>
      </p:sp>
    </p:spTree>
    <p:extLst>
      <p:ext uri="{BB962C8B-B14F-4D97-AF65-F5344CB8AC3E}">
        <p14:creationId xmlns:p14="http://schemas.microsoft.com/office/powerpoint/2010/main" val="92046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foreign central banks reduce their purchases of US Treasuries, the Treasury needs a new source of domestic demand. Enter the </a:t>
            </a:r>
            <a:r>
              <a:rPr lang="en-US" sz="1200" b="1" kern="1200" dirty="0">
                <a:solidFill>
                  <a:schemeClr val="tx1"/>
                </a:solidFill>
                <a:effectLst/>
                <a:latin typeface="+mn-lt"/>
                <a:ea typeface="+mn-ea"/>
                <a:cs typeface="+mn-cs"/>
              </a:rPr>
              <a:t>GENIUS Act</a:t>
            </a:r>
            <a:r>
              <a:rPr lang="en-US" sz="1200" kern="1200" dirty="0">
                <a:solidFill>
                  <a:schemeClr val="tx1"/>
                </a:solidFill>
                <a:effectLst/>
                <a:latin typeface="+mn-lt"/>
                <a:ea typeface="+mn-ea"/>
                <a:cs typeface="+mn-cs"/>
              </a:rPr>
              <a:t> and the stablecoin market. </a:t>
            </a:r>
          </a:p>
          <a:p>
            <a:r>
              <a:rPr lang="en-US" sz="1200" kern="1200" dirty="0">
                <a:solidFill>
                  <a:schemeClr val="tx1"/>
                </a:solidFill>
                <a:effectLst/>
                <a:latin typeface="+mn-lt"/>
                <a:ea typeface="+mn-ea"/>
                <a:cs typeface="+mn-cs"/>
              </a:rPr>
              <a:t>Under the guise of crypto regulation, stablecoin issuers like Tether and Circle are required by law to back digital tokens with short-term US government debt. Stablecoin issuers retain the 4% to 5% yield without passing interest on to users, making it wildly profitable for them while creating compulsory domestic refinancing for the US government. </a:t>
            </a:r>
          </a:p>
          <a:p>
            <a:r>
              <a:rPr lang="en-US" sz="1200" kern="1200" dirty="0">
                <a:solidFill>
                  <a:schemeClr val="tx1"/>
                </a:solidFill>
                <a:effectLst/>
                <a:latin typeface="+mn-lt"/>
                <a:ea typeface="+mn-ea"/>
                <a:cs typeface="+mn-cs"/>
              </a:rPr>
              <a:t>Overnight, stablecoin companies have transformed into sovereign-level financiers. Tether alone is now the </a:t>
            </a:r>
            <a:r>
              <a:rPr lang="en-US" sz="1200" b="1" kern="1200" dirty="0">
                <a:solidFill>
                  <a:schemeClr val="tx1"/>
                </a:solidFill>
                <a:effectLst/>
                <a:latin typeface="+mn-lt"/>
                <a:ea typeface="+mn-ea"/>
                <a:cs typeface="+mn-cs"/>
              </a:rPr>
              <a:t>17th largest holder of US government debt</a:t>
            </a:r>
            <a:r>
              <a:rPr lang="en-US" sz="1200" kern="1200" dirty="0">
                <a:solidFill>
                  <a:schemeClr val="tx1"/>
                </a:solidFill>
                <a:effectLst/>
                <a:latin typeface="+mn-lt"/>
                <a:ea typeface="+mn-ea"/>
                <a:cs typeface="+mn-cs"/>
              </a:rPr>
              <a:t>—holding more US Treasuries than many major nations. The stablecoin sector is projected to absorb up to $2 Trillion in unfinanceable national debt.</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7</a:t>
            </a:fld>
            <a:endParaRPr lang="en-US"/>
          </a:p>
        </p:txBody>
      </p:sp>
    </p:spTree>
    <p:extLst>
      <p:ext uri="{BB962C8B-B14F-4D97-AF65-F5344CB8AC3E}">
        <p14:creationId xmlns:p14="http://schemas.microsoft.com/office/powerpoint/2010/main" val="13195102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Government statistics report Consumer Price Index (CPI) inflation around 3%. But stated CPI numbers rely on hedonic adjustments and substitution models. </a:t>
            </a:r>
          </a:p>
          <a:p>
            <a:r>
              <a:rPr lang="en-US" sz="1200" kern="1200" dirty="0">
                <a:solidFill>
                  <a:schemeClr val="tx1"/>
                </a:solidFill>
                <a:effectLst/>
                <a:latin typeface="+mn-lt"/>
                <a:ea typeface="+mn-ea"/>
                <a:cs typeface="+mn-cs"/>
              </a:rPr>
              <a:t>Look at real-world benchmarks: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Luxury hotel room rates have surged 5x to 10x over recent years, reflecting what asset-rich individuals are able and willing to pay.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S&amp;P 500 is up </a:t>
            </a:r>
            <a:r>
              <a:rPr lang="en-US" sz="1200" b="1" kern="1200" dirty="0">
                <a:solidFill>
                  <a:schemeClr val="tx1"/>
                </a:solidFill>
                <a:effectLst/>
                <a:latin typeface="+mn-lt"/>
                <a:ea typeface="+mn-ea"/>
                <a:cs typeface="+mn-cs"/>
              </a:rPr>
              <a:t>70% in 3 years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The Key Insight:</a:t>
            </a:r>
            <a:r>
              <a:rPr lang="en-US" sz="1200" kern="1200" dirty="0">
                <a:solidFill>
                  <a:schemeClr val="tx1"/>
                </a:solidFill>
                <a:effectLst/>
                <a:latin typeface="+mn-lt"/>
                <a:ea typeface="+mn-ea"/>
                <a:cs typeface="+mn-cs"/>
              </a:rPr>
              <a:t> The stock market did not rise 70% because corporations suddenly became 70% more productive. Roughly 80% of market expansion is simply printed money flooding into financial assets to avoid dollar devaluations. The stock market's rise is largely the inverse reflection of a declining dollar.</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8</a:t>
            </a:fld>
            <a:endParaRPr lang="en-US"/>
          </a:p>
        </p:txBody>
      </p:sp>
    </p:spTree>
    <p:extLst>
      <p:ext uri="{BB962C8B-B14F-4D97-AF65-F5344CB8AC3E}">
        <p14:creationId xmlns:p14="http://schemas.microsoft.com/office/powerpoint/2010/main" val="17297435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central bank uses monetary expansion to solve sovereign debt, it creates a structured transfer of wealth: </a:t>
            </a:r>
          </a:p>
          <a:p>
            <a:r>
              <a:rPr lang="en-US" sz="1200" b="1" kern="1200" dirty="0">
                <a:solidFill>
                  <a:schemeClr val="tx1"/>
                </a:solidFill>
                <a:effectLst/>
                <a:latin typeface="+mn-lt"/>
                <a:ea typeface="+mn-ea"/>
                <a:cs typeface="+mn-cs"/>
              </a:rPr>
              <a:t>The Losers:</a:t>
            </a:r>
            <a:r>
              <a:rPr lang="en-US" sz="1200" kern="1200" dirty="0">
                <a:solidFill>
                  <a:schemeClr val="tx1"/>
                </a:solidFill>
                <a:effectLst/>
                <a:latin typeface="+mn-lt"/>
                <a:ea typeface="+mn-ea"/>
                <a:cs typeface="+mn-cs"/>
              </a:rPr>
              <a:t> Salary earners, cash savers, and pensioners on fixed incomes. A US dollar saved in cash in 1971 retains roughly </a:t>
            </a:r>
            <a:r>
              <a:rPr lang="en-US" sz="1200" b="1" kern="1200" dirty="0">
                <a:solidFill>
                  <a:schemeClr val="tx1"/>
                </a:solidFill>
                <a:effectLst/>
                <a:latin typeface="+mn-lt"/>
                <a:ea typeface="+mn-ea"/>
                <a:cs typeface="+mn-cs"/>
              </a:rPr>
              <a:t>$0.07 in purchasing power today</a:t>
            </a:r>
            <a:r>
              <a:rPr lang="en-US" sz="1200" kern="1200" dirty="0">
                <a:solidFill>
                  <a:schemeClr val="tx1"/>
                </a:solidFill>
                <a:effectLst/>
                <a:latin typeface="+mn-lt"/>
                <a:ea typeface="+mn-ea"/>
                <a:cs typeface="+mn-cs"/>
              </a:rPr>
              <a:t>. Inflation acts as an unannounced tax, absorbing labor value from those holding cash. </a:t>
            </a:r>
          </a:p>
          <a:p>
            <a:r>
              <a:rPr lang="en-US" sz="1200" b="1" kern="1200" dirty="0">
                <a:solidFill>
                  <a:schemeClr val="tx1"/>
                </a:solidFill>
                <a:effectLst/>
                <a:latin typeface="+mn-lt"/>
                <a:ea typeface="+mn-ea"/>
                <a:cs typeface="+mn-cs"/>
              </a:rPr>
              <a:t>The Winners:</a:t>
            </a:r>
            <a:r>
              <a:rPr lang="en-US" sz="1200" kern="1200" dirty="0">
                <a:solidFill>
                  <a:schemeClr val="tx1"/>
                </a:solidFill>
                <a:effectLst/>
                <a:latin typeface="+mn-lt"/>
                <a:ea typeface="+mn-ea"/>
                <a:cs typeface="+mn-cs"/>
              </a:rPr>
              <a:t> Asset owners, hedge funds, sovereign debtors, and prime asset holders. Asset prices expand alongside money supply expansion. Debtors pay off old fixed-rate liabilities with inflated dollars, while their physical and equity assets appreciate. </a:t>
            </a:r>
          </a:p>
          <a:p>
            <a:r>
              <a:rPr lang="en-US" sz="1200" kern="1200">
                <a:solidFill>
                  <a:schemeClr val="tx1"/>
                </a:solidFill>
                <a:effectLst/>
                <a:latin typeface="+mn-lt"/>
                <a:ea typeface="+mn-ea"/>
                <a:cs typeface="+mn-cs"/>
              </a:rPr>
              <a:t>The takeaway: The Japan Playbook is a handout to those who own the board rather than those who just play on it.</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9</a:t>
            </a:fld>
            <a:endParaRPr lang="en-US"/>
          </a:p>
        </p:txBody>
      </p:sp>
    </p:spTree>
    <p:extLst>
      <p:ext uri="{BB962C8B-B14F-4D97-AF65-F5344CB8AC3E}">
        <p14:creationId xmlns:p14="http://schemas.microsoft.com/office/powerpoint/2010/main" val="4598010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Many tech investors argue: </a:t>
            </a:r>
            <a:r>
              <a:rPr lang="en-US" sz="1200" i="1" kern="1200" dirty="0">
                <a:solidFill>
                  <a:schemeClr val="tx1"/>
                </a:solidFill>
                <a:effectLst/>
                <a:latin typeface="+mn-lt"/>
                <a:ea typeface="+mn-ea"/>
                <a:cs typeface="+mn-cs"/>
              </a:rPr>
              <a:t>'AI productivity will generate so much economic growth that it will outpace the national debt.'</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Let's look at recent history: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Year 2000 (The Internet Boom):</a:t>
            </a:r>
            <a:r>
              <a:rPr lang="en-US" sz="1200" kern="1200" dirty="0">
                <a:solidFill>
                  <a:schemeClr val="tx1"/>
                </a:solidFill>
                <a:effectLst/>
                <a:latin typeface="+mn-lt"/>
                <a:ea typeface="+mn-ea"/>
                <a:cs typeface="+mn-cs"/>
              </a:rPr>
              <a:t> The internet was the most transformative productivity tool since electricity. Did it reduce US National Debt? No, debt growth accelerated.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Today (The AI Boom):</a:t>
            </a:r>
            <a:r>
              <a:rPr lang="en-US" sz="1200" kern="1200" dirty="0">
                <a:solidFill>
                  <a:schemeClr val="tx1"/>
                </a:solidFill>
                <a:effectLst/>
                <a:latin typeface="+mn-lt"/>
                <a:ea typeface="+mn-ea"/>
                <a:cs typeface="+mn-cs"/>
              </a:rPr>
              <a:t> Top tech companies are committing over $700 Billion toward AI capital expenditures. </a:t>
            </a:r>
          </a:p>
          <a:p>
            <a:r>
              <a:rPr lang="en-US" sz="1200" kern="1200" dirty="0">
                <a:solidFill>
                  <a:schemeClr val="tx1"/>
                </a:solidFill>
                <a:effectLst/>
                <a:latin typeface="+mn-lt"/>
                <a:ea typeface="+mn-ea"/>
                <a:cs typeface="+mn-cs"/>
              </a:rPr>
              <a:t>Technology creates genuine efficiency, but </a:t>
            </a:r>
            <a:r>
              <a:rPr lang="en-US" sz="1200" b="1" kern="1200" dirty="0">
                <a:solidFill>
                  <a:schemeClr val="tx1"/>
                </a:solidFill>
                <a:effectLst/>
                <a:latin typeface="+mn-lt"/>
                <a:ea typeface="+mn-ea"/>
                <a:cs typeface="+mn-cs"/>
              </a:rPr>
              <a:t>it cannot erase structural debt math</a:t>
            </a:r>
            <a:r>
              <a:rPr lang="en-US" sz="1200" kern="1200" dirty="0">
                <a:solidFill>
                  <a:schemeClr val="tx1"/>
                </a:solidFill>
                <a:effectLst/>
                <a:latin typeface="+mn-lt"/>
                <a:ea typeface="+mn-ea"/>
                <a:cs typeface="+mn-cs"/>
              </a:rPr>
              <a:t>. You cannot rely on an AI boom alone to preserve cash purchasing power when currency supply is expanding faster than economic growth.</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10</a:t>
            </a:fld>
            <a:endParaRPr lang="en-US"/>
          </a:p>
        </p:txBody>
      </p:sp>
    </p:spTree>
    <p:extLst>
      <p:ext uri="{BB962C8B-B14F-4D97-AF65-F5344CB8AC3E}">
        <p14:creationId xmlns:p14="http://schemas.microsoft.com/office/powerpoint/2010/main" val="22674021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fundamental rule for surviving this paradigm shift: </a:t>
            </a:r>
            <a:r>
              <a:rPr lang="en-US" sz="1200" b="1" kern="1200" dirty="0">
                <a:solidFill>
                  <a:schemeClr val="tx1"/>
                </a:solidFill>
                <a:effectLst/>
                <a:latin typeface="+mn-lt"/>
                <a:ea typeface="+mn-ea"/>
                <a:cs typeface="+mn-cs"/>
              </a:rPr>
              <a:t>Your salary is not your wealth. Your salary is seed capital.</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If a high-earner makes $100,000 and leaves it in cash, inflation devalues that capital over time. </a:t>
            </a:r>
          </a:p>
          <a:p>
            <a:r>
              <a:rPr lang="en-US" sz="1200" kern="1200" dirty="0">
                <a:solidFill>
                  <a:schemeClr val="tx1"/>
                </a:solidFill>
                <a:effectLst/>
                <a:latin typeface="+mn-lt"/>
                <a:ea typeface="+mn-ea"/>
                <a:cs typeface="+mn-cs"/>
              </a:rPr>
              <a:t>The objective of earning income in an inflationary environment is immediate conversion into productive assets—real estate, broad equities, and hard assets. You must convert fiat paychecks into ownership stakes before purchasing power degrades. </a:t>
            </a:r>
          </a:p>
          <a:p>
            <a:r>
              <a:rPr lang="en-US" sz="1200" i="1" kern="1200" dirty="0">
                <a:solidFill>
                  <a:schemeClr val="tx1"/>
                </a:solidFill>
                <a:effectLst/>
                <a:latin typeface="+mn-lt"/>
                <a:ea typeface="+mn-ea"/>
                <a:cs typeface="+mn-cs"/>
              </a:rPr>
              <a:t>Warning:</a:t>
            </a:r>
            <a:r>
              <a:rPr lang="en-US" sz="1200" kern="1200" dirty="0">
                <a:solidFill>
                  <a:schemeClr val="tx1"/>
                </a:solidFill>
                <a:effectLst/>
                <a:latin typeface="+mn-lt"/>
                <a:ea typeface="+mn-ea"/>
                <a:cs typeface="+mn-cs"/>
              </a:rPr>
              <a:t> Standard 401(k) allocations and broad index funds often carry </a:t>
            </a:r>
            <a:r>
              <a:rPr lang="en-US" sz="1200" b="1" kern="1200" dirty="0">
                <a:solidFill>
                  <a:schemeClr val="tx1"/>
                </a:solidFill>
                <a:effectLst/>
                <a:latin typeface="+mn-lt"/>
                <a:ea typeface="+mn-ea"/>
                <a:cs typeface="+mn-cs"/>
              </a:rPr>
              <a:t>over 50% implicit exposure to Tech and AI</a:t>
            </a:r>
            <a:r>
              <a:rPr lang="en-US" sz="1200" kern="1200" dirty="0">
                <a:solidFill>
                  <a:schemeClr val="tx1"/>
                </a:solidFill>
                <a:effectLst/>
                <a:latin typeface="+mn-lt"/>
                <a:ea typeface="+mn-ea"/>
                <a:cs typeface="+mn-cs"/>
              </a:rPr>
              <a:t>. During the dot-com unwinding, tech indices dropped 78%. Diversify across structural economic drivers, not just ticker symbols.</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11</a:t>
            </a:fld>
            <a:endParaRPr lang="en-US"/>
          </a:p>
        </p:txBody>
      </p:sp>
    </p:spTree>
    <p:extLst>
      <p:ext uri="{BB962C8B-B14F-4D97-AF65-F5344CB8AC3E}">
        <p14:creationId xmlns:p14="http://schemas.microsoft.com/office/powerpoint/2010/main" val="12030546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insulate capital against monetary expansion and volatility, institutional funds structure portfolios across </a:t>
            </a:r>
            <a:r>
              <a:rPr lang="en-US" sz="1200" b="1" kern="1200" dirty="0">
                <a:solidFill>
                  <a:schemeClr val="tx1"/>
                </a:solidFill>
                <a:effectLst/>
                <a:latin typeface="+mn-lt"/>
                <a:ea typeface="+mn-ea"/>
                <a:cs typeface="+mn-cs"/>
              </a:rPr>
              <a:t>three core pillars</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Hard Insurance (Gold &amp; Silver):</a:t>
            </a:r>
            <a:r>
              <a:rPr lang="en-US" sz="1200" kern="1200" dirty="0">
                <a:solidFill>
                  <a:schemeClr val="tx1"/>
                </a:solidFill>
                <a:effectLst/>
                <a:latin typeface="+mn-lt"/>
                <a:ea typeface="+mn-ea"/>
                <a:cs typeface="+mn-cs"/>
              </a:rPr>
              <a:t> Gold does not generate income and fluctuates based on short-term market speculation. However, it acts as a non-counterparty reserve asset against currency devaluation. It is financial insurance, not a yield instrument. </a:t>
            </a:r>
          </a:p>
          <a:p>
            <a:pPr marL="228600" lvl="0" indent="-228600">
              <a:buFont typeface="+mj-lt"/>
              <a:buAutoNum type="arabicPeriod"/>
            </a:pPr>
            <a:r>
              <a:rPr lang="en-US" sz="1200" b="1" kern="1200" dirty="0">
                <a:solidFill>
                  <a:schemeClr val="tx1"/>
                </a:solidFill>
                <a:effectLst/>
                <a:latin typeface="+mn-lt"/>
                <a:ea typeface="+mn-ea"/>
                <a:cs typeface="+mn-cs"/>
              </a:rPr>
              <a:t>Uncorrelated Anchors (Railways &amp; Utilities):</a:t>
            </a:r>
            <a:r>
              <a:rPr lang="en-US" sz="1200" kern="1200" dirty="0">
                <a:solidFill>
                  <a:schemeClr val="tx1"/>
                </a:solidFill>
                <a:effectLst/>
                <a:latin typeface="+mn-lt"/>
                <a:ea typeface="+mn-ea"/>
                <a:cs typeface="+mn-cs"/>
              </a:rPr>
              <a:t> Physical infrastructure assets with structural moats. Competitors cannot construct parallel transcontinental railway lines. These assets provide cash flows and reduce tech-sector volatility. </a:t>
            </a:r>
          </a:p>
          <a:p>
            <a:pPr marL="228600" lvl="0" indent="-228600">
              <a:buFont typeface="+mj-lt"/>
              <a:buAutoNum type="arabicPeriod"/>
            </a:pPr>
            <a:r>
              <a:rPr lang="en-US" sz="1200" b="1" kern="1200" dirty="0">
                <a:solidFill>
                  <a:schemeClr val="tx1"/>
                </a:solidFill>
                <a:effectLst/>
                <a:latin typeface="+mn-lt"/>
                <a:ea typeface="+mn-ea"/>
                <a:cs typeface="+mn-cs"/>
              </a:rPr>
              <a:t>Moated Cash Cows (Visa, Mastercard, Alphabet):</a:t>
            </a:r>
            <a:r>
              <a:rPr lang="en-US" sz="1200" kern="1200" dirty="0">
                <a:solidFill>
                  <a:schemeClr val="tx1"/>
                </a:solidFill>
                <a:effectLst/>
                <a:latin typeface="+mn-lt"/>
                <a:ea typeface="+mn-ea"/>
                <a:cs typeface="+mn-cs"/>
              </a:rPr>
              <a:t> Digital tollbooths. Every time inflated dollars circulate through consumer networks, these platforms take a transactional cut. Their revenues scale naturally alongside nominal money flows. </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12</a:t>
            </a:fld>
            <a:endParaRPr lang="en-US"/>
          </a:p>
        </p:txBody>
      </p:sp>
    </p:spTree>
    <p:extLst>
      <p:ext uri="{BB962C8B-B14F-4D97-AF65-F5344CB8AC3E}">
        <p14:creationId xmlns:p14="http://schemas.microsoft.com/office/powerpoint/2010/main" val="4183827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institutional money enters an asset class, it leaves structural footprints on price charts. </a:t>
            </a:r>
          </a:p>
          <a:p>
            <a:r>
              <a:rPr lang="en-US" sz="1200" kern="1200" dirty="0">
                <a:solidFill>
                  <a:schemeClr val="tx1"/>
                </a:solidFill>
                <a:effectLst/>
                <a:latin typeface="+mn-lt"/>
                <a:ea typeface="+mn-ea"/>
                <a:cs typeface="+mn-cs"/>
              </a:rPr>
              <a:t>Over a 20-year multi-bagger study, major 10x market leaders demonstrated a consistent structural setup before major upward trends: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The Heartbeat:</a:t>
            </a:r>
            <a:r>
              <a:rPr lang="en-US" sz="1200" kern="1200" dirty="0">
                <a:solidFill>
                  <a:schemeClr val="tx1"/>
                </a:solidFill>
                <a:effectLst/>
                <a:latin typeface="+mn-lt"/>
                <a:ea typeface="+mn-ea"/>
                <a:cs typeface="+mn-cs"/>
              </a:rPr>
              <a:t> A sideways consolidation range lasting 1.5 to 4 years. During this period, institutional capital quietly accumulates positions without spiking public market prices.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Volume Breakout:</a:t>
            </a:r>
            <a:r>
              <a:rPr lang="en-US" sz="1200" kern="1200" dirty="0">
                <a:solidFill>
                  <a:schemeClr val="tx1"/>
                </a:solidFill>
                <a:effectLst/>
                <a:latin typeface="+mn-lt"/>
                <a:ea typeface="+mn-ea"/>
                <a:cs typeface="+mn-cs"/>
              </a:rPr>
              <a:t> Price breaks above multi-year resistance levels accompanied by institutional buying volume. </a:t>
            </a:r>
          </a:p>
          <a:p>
            <a:r>
              <a:rPr lang="en-US" sz="1200" kern="1200" dirty="0">
                <a:solidFill>
                  <a:schemeClr val="tx1"/>
                </a:solidFill>
                <a:effectLst/>
                <a:latin typeface="+mn-lt"/>
                <a:ea typeface="+mn-ea"/>
                <a:cs typeface="+mn-cs"/>
              </a:rPr>
              <a:t>Rather than acting on daily news headlines, monitor capital flows and consolidation patterns where smart money accumulates positions prior to broader public adoption. </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13</a:t>
            </a:fld>
            <a:endParaRPr lang="en-US"/>
          </a:p>
        </p:txBody>
      </p:sp>
    </p:spTree>
    <p:extLst>
      <p:ext uri="{BB962C8B-B14F-4D97-AF65-F5344CB8AC3E}">
        <p14:creationId xmlns:p14="http://schemas.microsoft.com/office/powerpoint/2010/main" val="42507737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difference between retail trading losses and institutional risk management comes down to </a:t>
            </a:r>
            <a:r>
              <a:rPr lang="en-US" sz="1200" b="1" kern="1200" dirty="0">
                <a:solidFill>
                  <a:schemeClr val="tx1"/>
                </a:solidFill>
                <a:effectLst/>
                <a:latin typeface="+mn-lt"/>
                <a:ea typeface="+mn-ea"/>
                <a:cs typeface="+mn-cs"/>
              </a:rPr>
              <a:t>emotional discipline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Monday–Friday Investor:</a:t>
            </a:r>
            <a:r>
              <a:rPr lang="en-US" sz="1200" kern="1200" dirty="0">
                <a:solidFill>
                  <a:schemeClr val="tx1"/>
                </a:solidFill>
                <a:effectLst/>
                <a:latin typeface="+mn-lt"/>
                <a:ea typeface="+mn-ea"/>
                <a:cs typeface="+mn-cs"/>
              </a:rPr>
              <a:t> Monitors accounts during active market hours. Triggers impulse transactions based on daily price ticks and headlines. Focuses heavily on narrow high-beta tech tickers.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Saturday Investor:</a:t>
            </a:r>
            <a:r>
              <a:rPr lang="en-US" sz="1200" kern="1200" dirty="0">
                <a:solidFill>
                  <a:schemeClr val="tx1"/>
                </a:solidFill>
                <a:effectLst/>
                <a:latin typeface="+mn-lt"/>
                <a:ea typeface="+mn-ea"/>
                <a:cs typeface="+mn-cs"/>
              </a:rPr>
              <a:t> Reviews portfolio positioning once per week for 60 minutes on Saturday. Because exchanges are closed, prices are completely static. This enables objective evaluation of sector allocations (e.g., Software vs. Energy vs. Utilities) free from active trading noise. </a:t>
            </a:r>
          </a:p>
          <a:p>
            <a:r>
              <a:rPr lang="en-US" sz="1200" b="1" kern="1200" dirty="0">
                <a:solidFill>
                  <a:schemeClr val="tx1"/>
                </a:solidFill>
                <a:effectLst/>
                <a:latin typeface="+mn-lt"/>
                <a:ea typeface="+mn-ea"/>
                <a:cs typeface="+mn-cs"/>
              </a:rPr>
              <a:t>Rule of Thumb:</a:t>
            </a:r>
            <a:r>
              <a:rPr lang="en-US" sz="1200" kern="1200" dirty="0">
                <a:solidFill>
                  <a:schemeClr val="tx1"/>
                </a:solidFill>
                <a:effectLst/>
                <a:latin typeface="+mn-lt"/>
                <a:ea typeface="+mn-ea"/>
                <a:cs typeface="+mn-cs"/>
              </a:rPr>
              <a:t> Make strategic asset allocation decisions when markets are still. </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14</a:t>
            </a:fld>
            <a:endParaRPr lang="en-US"/>
          </a:p>
        </p:txBody>
      </p:sp>
    </p:spTree>
    <p:extLst>
      <p:ext uri="{BB962C8B-B14F-4D97-AF65-F5344CB8AC3E}">
        <p14:creationId xmlns:p14="http://schemas.microsoft.com/office/powerpoint/2010/main" val="15967384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navigate the coming decade, we must accept three realities: </a:t>
            </a:r>
          </a:p>
          <a:p>
            <a:pPr marL="228600" lvl="0" indent="-228600">
              <a:buFont typeface="+mj-lt"/>
              <a:buAutoNum type="arabicPeriod"/>
            </a:pPr>
            <a:r>
              <a:rPr lang="en-US" sz="1200" kern="1200" dirty="0">
                <a:solidFill>
                  <a:schemeClr val="tx1"/>
                </a:solidFill>
                <a:effectLst/>
                <a:latin typeface="+mn-lt"/>
                <a:ea typeface="+mn-ea"/>
                <a:cs typeface="+mn-cs"/>
              </a:rPr>
              <a:t>Governments will not balance structural budgets. </a:t>
            </a:r>
          </a:p>
          <a:p>
            <a:pPr marL="228600" lvl="0" indent="-228600">
              <a:buFont typeface="+mj-lt"/>
              <a:buAutoNum type="arabicPeriod"/>
            </a:pPr>
            <a:r>
              <a:rPr lang="en-US" sz="1200" kern="1200" dirty="0">
                <a:solidFill>
                  <a:schemeClr val="tx1"/>
                </a:solidFill>
                <a:effectLst/>
                <a:latin typeface="+mn-lt"/>
                <a:ea typeface="+mn-ea"/>
                <a:cs typeface="+mn-cs"/>
              </a:rPr>
              <a:t>Governments will not execute meaningful spending cuts. </a:t>
            </a:r>
          </a:p>
          <a:p>
            <a:pPr marL="228600" lvl="0" indent="-228600">
              <a:buFont typeface="+mj-lt"/>
              <a:buAutoNum type="arabicPeriod"/>
            </a:pPr>
            <a:r>
              <a:rPr lang="en-US" sz="1200" kern="1200" dirty="0">
                <a:solidFill>
                  <a:schemeClr val="tx1"/>
                </a:solidFill>
                <a:effectLst/>
                <a:latin typeface="+mn-lt"/>
                <a:ea typeface="+mn-ea"/>
                <a:cs typeface="+mn-cs"/>
              </a:rPr>
              <a:t>Central banks will resort to monetary expansion to service sovereign obligations. </a:t>
            </a:r>
          </a:p>
          <a:p>
            <a:r>
              <a:rPr lang="en-US" sz="1200" kern="1200" dirty="0">
                <a:solidFill>
                  <a:schemeClr val="tx1"/>
                </a:solidFill>
                <a:effectLst/>
                <a:latin typeface="+mn-lt"/>
                <a:ea typeface="+mn-ea"/>
                <a:cs typeface="+mn-cs"/>
              </a:rPr>
              <a:t>The system is structurally incentivized to inflate away sovereign obligations. Trying to fight this reality by holding excess uninvested cash guarantees purchasing power erosion. Defense requires owning productive, inflation-resilient assets.</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15</a:t>
            </a:fld>
            <a:endParaRPr lang="en-US"/>
          </a:p>
        </p:txBody>
      </p:sp>
    </p:spTree>
    <p:extLst>
      <p:ext uri="{BB962C8B-B14F-4D97-AF65-F5344CB8AC3E}">
        <p14:creationId xmlns:p14="http://schemas.microsoft.com/office/powerpoint/2010/main" val="40015742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Slide 1 to 16, here is your executive summary action map: </a:t>
            </a:r>
          </a:p>
          <a:p>
            <a:pPr marL="228600" lvl="0" indent="-228600">
              <a:buFont typeface="+mj-lt"/>
              <a:buAutoNum type="arabicPeriod"/>
            </a:pPr>
            <a:r>
              <a:rPr lang="en-US" sz="1200" b="1" kern="1200" dirty="0">
                <a:solidFill>
                  <a:schemeClr val="tx1"/>
                </a:solidFill>
                <a:effectLst/>
                <a:latin typeface="+mn-lt"/>
                <a:ea typeface="+mn-ea"/>
                <a:cs typeface="+mn-cs"/>
              </a:rPr>
              <a:t>Treat Salary as Capital:</a:t>
            </a:r>
            <a:r>
              <a:rPr lang="en-US" sz="1200" kern="1200" dirty="0">
                <a:solidFill>
                  <a:schemeClr val="tx1"/>
                </a:solidFill>
                <a:effectLst/>
                <a:latin typeface="+mn-lt"/>
                <a:ea typeface="+mn-ea"/>
                <a:cs typeface="+mn-cs"/>
              </a:rPr>
              <a:t> View paychecks as seed capital to be converted into productive assets. </a:t>
            </a:r>
          </a:p>
          <a:p>
            <a:pPr marL="228600" lvl="0" indent="-228600">
              <a:buFont typeface="+mj-lt"/>
              <a:buAutoNum type="arabicPeriod"/>
            </a:pPr>
            <a:r>
              <a:rPr lang="en-US" sz="1200" b="1" kern="1200" dirty="0">
                <a:solidFill>
                  <a:schemeClr val="tx1"/>
                </a:solidFill>
                <a:effectLst/>
                <a:latin typeface="+mn-lt"/>
                <a:ea typeface="+mn-ea"/>
                <a:cs typeface="+mn-cs"/>
              </a:rPr>
              <a:t>Diversify Portfolio Drivers:</a:t>
            </a:r>
            <a:r>
              <a:rPr lang="en-US" sz="1200" kern="1200" dirty="0">
                <a:solidFill>
                  <a:schemeClr val="tx1"/>
                </a:solidFill>
                <a:effectLst/>
                <a:latin typeface="+mn-lt"/>
                <a:ea typeface="+mn-ea"/>
                <a:cs typeface="+mn-cs"/>
              </a:rPr>
              <a:t> Reduce over-concentration in pure tech/AI; incorporate cash-cow businesses with moats and hard assets. </a:t>
            </a:r>
          </a:p>
          <a:p>
            <a:pPr marL="228600" lvl="0" indent="-228600">
              <a:buFont typeface="+mj-lt"/>
              <a:buAutoNum type="arabicPeriod"/>
            </a:pPr>
            <a:r>
              <a:rPr lang="en-US" sz="1200" b="1" kern="1200" dirty="0">
                <a:solidFill>
                  <a:schemeClr val="tx1"/>
                </a:solidFill>
                <a:effectLst/>
                <a:latin typeface="+mn-lt"/>
                <a:ea typeface="+mn-ea"/>
                <a:cs typeface="+mn-cs"/>
              </a:rPr>
              <a:t>Understand the Macro Environment:</a:t>
            </a:r>
            <a:r>
              <a:rPr lang="en-US" sz="1200" kern="1200" dirty="0">
                <a:solidFill>
                  <a:schemeClr val="tx1"/>
                </a:solidFill>
                <a:effectLst/>
                <a:latin typeface="+mn-lt"/>
                <a:ea typeface="+mn-ea"/>
                <a:cs typeface="+mn-cs"/>
              </a:rPr>
              <a:t> Recognizing sovereign debt constraints helps explain central bank market interventions. </a:t>
            </a:r>
          </a:p>
          <a:p>
            <a:pPr marL="228600" lvl="0" indent="-228600">
              <a:buFont typeface="+mj-lt"/>
              <a:buAutoNum type="arabicPeriod"/>
            </a:pPr>
            <a:r>
              <a:rPr lang="en-US" sz="1200" b="1" kern="1200" dirty="0">
                <a:solidFill>
                  <a:schemeClr val="tx1"/>
                </a:solidFill>
                <a:effectLst/>
                <a:latin typeface="+mn-lt"/>
                <a:ea typeface="+mn-ea"/>
                <a:cs typeface="+mn-cs"/>
              </a:rPr>
              <a:t>Recognize Monetary Policy Shifts:</a:t>
            </a:r>
            <a:r>
              <a:rPr lang="en-US" sz="1200" kern="1200" dirty="0">
                <a:solidFill>
                  <a:schemeClr val="tx1"/>
                </a:solidFill>
                <a:effectLst/>
                <a:latin typeface="+mn-lt"/>
                <a:ea typeface="+mn-ea"/>
                <a:cs typeface="+mn-cs"/>
              </a:rPr>
              <a:t> Monitor central bank balance sheets as they absorb debt issuance. </a:t>
            </a:r>
          </a:p>
          <a:p>
            <a:pPr marL="228600" lvl="0" indent="-228600">
              <a:buFont typeface="+mj-lt"/>
              <a:buAutoNum type="arabicPeriod"/>
            </a:pPr>
            <a:r>
              <a:rPr lang="en-US" sz="1200" b="1" kern="1200" dirty="0">
                <a:solidFill>
                  <a:schemeClr val="tx1"/>
                </a:solidFill>
                <a:effectLst/>
                <a:latin typeface="+mn-lt"/>
                <a:ea typeface="+mn-ea"/>
                <a:cs typeface="+mn-cs"/>
              </a:rPr>
              <a:t>Protect Against Inflation:</a:t>
            </a:r>
            <a:r>
              <a:rPr lang="en-US" sz="1200" kern="1200" dirty="0">
                <a:solidFill>
                  <a:schemeClr val="tx1"/>
                </a:solidFill>
                <a:effectLst/>
                <a:latin typeface="+mn-lt"/>
                <a:ea typeface="+mn-ea"/>
                <a:cs typeface="+mn-cs"/>
              </a:rPr>
              <a:t> Cash holdings incur an implicit purchasing power tax during period of monetary expansion. </a:t>
            </a:r>
          </a:p>
          <a:p>
            <a:pPr marL="228600" lvl="0" indent="-228600">
              <a:buFont typeface="+mj-lt"/>
              <a:buAutoNum type="arabicPeriod"/>
            </a:pPr>
            <a:r>
              <a:rPr lang="en-US" sz="1200" b="1" kern="1200" dirty="0">
                <a:solidFill>
                  <a:schemeClr val="tx1"/>
                </a:solidFill>
                <a:effectLst/>
                <a:latin typeface="+mn-lt"/>
                <a:ea typeface="+mn-ea"/>
                <a:cs typeface="+mn-cs"/>
              </a:rPr>
              <a:t>Execute on Weekends:</a:t>
            </a:r>
            <a:r>
              <a:rPr lang="en-US" sz="1200" kern="1200" dirty="0">
                <a:solidFill>
                  <a:schemeClr val="tx1"/>
                </a:solidFill>
                <a:effectLst/>
                <a:latin typeface="+mn-lt"/>
                <a:ea typeface="+mn-ea"/>
                <a:cs typeface="+mn-cs"/>
              </a:rPr>
              <a:t> Conduct portfolio reviews when markets are closed to eliminate impulsive, news-driven trades. </a:t>
            </a:r>
          </a:p>
          <a:p>
            <a:r>
              <a:rPr lang="en-US" sz="1200" kern="1200" dirty="0">
                <a:solidFill>
                  <a:schemeClr val="tx1"/>
                </a:solidFill>
                <a:effectLst/>
                <a:latin typeface="+mn-lt"/>
                <a:ea typeface="+mn-ea"/>
                <a:cs typeface="+mn-cs"/>
              </a:rPr>
              <a:t>Thank you. Let's open up the floor for Q&amp;A.</a:t>
            </a:r>
          </a:p>
          <a:p>
            <a:endParaRPr lang="en-US" dirty="0"/>
          </a:p>
        </p:txBody>
      </p:sp>
      <p:sp>
        <p:nvSpPr>
          <p:cNvPr id="4" name="Slide Number Placeholder 3"/>
          <p:cNvSpPr>
            <a:spLocks noGrp="1"/>
          </p:cNvSpPr>
          <p:nvPr>
            <p:ph type="sldNum" sz="quarter" idx="5"/>
          </p:nvPr>
        </p:nvSpPr>
        <p:spPr/>
        <p:txBody>
          <a:bodyPr/>
          <a:lstStyle/>
          <a:p>
            <a:fld id="{826F6BDF-A585-4FDC-9035-284A429B7B7C}" type="slidenum">
              <a:rPr lang="en-US" smtClean="0"/>
              <a:t>16</a:t>
            </a:fld>
            <a:endParaRPr lang="en-US"/>
          </a:p>
        </p:txBody>
      </p:sp>
    </p:spTree>
    <p:extLst>
      <p:ext uri="{BB962C8B-B14F-4D97-AF65-F5344CB8AC3E}">
        <p14:creationId xmlns:p14="http://schemas.microsoft.com/office/powerpoint/2010/main" val="33013286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7B12285-725C-722C-D759-8E6F7BC6131F}"/>
              </a:ext>
            </a:extLst>
          </p:cNvPr>
          <p:cNvSpPr>
            <a:spLocks noGrp="1"/>
          </p:cNvSpPr>
          <p:nvPr>
            <p:ph type="dt" sz="half" idx="10"/>
          </p:nvPr>
        </p:nvSpPr>
        <p:spPr/>
        <p:txBody>
          <a:bodyPr/>
          <a:lstStyle/>
          <a:p>
            <a:fld id="{9C04F6AF-8397-4806-B339-F323136485A7}" type="datetimeFigureOut">
              <a:rPr lang="en-US" smtClean="0"/>
              <a:t>10/21/2026</a:t>
            </a:fld>
            <a:endParaRPr lang="en-US"/>
          </a:p>
        </p:txBody>
      </p:sp>
      <p:sp>
        <p:nvSpPr>
          <p:cNvPr id="3" name="Footer Placeholder 2">
            <a:extLst>
              <a:ext uri="{FF2B5EF4-FFF2-40B4-BE49-F238E27FC236}">
                <a16:creationId xmlns:a16="http://schemas.microsoft.com/office/drawing/2014/main" id="{2087B3C5-59EB-A989-4D73-4B16428C2F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50BCD9E-BFB1-6905-A730-4FF8FCE9C4A2}"/>
              </a:ext>
            </a:extLst>
          </p:cNvPr>
          <p:cNvSpPr>
            <a:spLocks noGrp="1"/>
          </p:cNvSpPr>
          <p:nvPr>
            <p:ph type="sldNum" sz="quarter" idx="12"/>
          </p:nvPr>
        </p:nvSpPr>
        <p:spPr/>
        <p:txBody>
          <a:bodyPr/>
          <a:lstStyle/>
          <a:p>
            <a:fld id="{B4C4F786-37A3-4CBC-8B84-8B2C16EE9616}" type="slidenum">
              <a:rPr lang="en-US" smtClean="0"/>
              <a:t>‹#›</a:t>
            </a:fld>
            <a:endParaRPr lang="en-US"/>
          </a:p>
        </p:txBody>
      </p:sp>
    </p:spTree>
    <p:extLst>
      <p:ext uri="{BB962C8B-B14F-4D97-AF65-F5344CB8AC3E}">
        <p14:creationId xmlns:p14="http://schemas.microsoft.com/office/powerpoint/2010/main" val="423504731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A5243C3-600F-B4E1-20AA-77477EE5609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208677A-1485-B273-6E03-18BBF7E335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CACB6E-0503-11F3-4A72-C35E1D9B3E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04F6AF-8397-4806-B339-F323136485A7}" type="datetimeFigureOut">
              <a:rPr lang="en-US" smtClean="0"/>
              <a:t>10/21/2026</a:t>
            </a:fld>
            <a:endParaRPr lang="en-US"/>
          </a:p>
        </p:txBody>
      </p:sp>
      <p:sp>
        <p:nvSpPr>
          <p:cNvPr id="5" name="Footer Placeholder 4">
            <a:extLst>
              <a:ext uri="{FF2B5EF4-FFF2-40B4-BE49-F238E27FC236}">
                <a16:creationId xmlns:a16="http://schemas.microsoft.com/office/drawing/2014/main" id="{A6BF7259-0F55-586D-0009-FE7B666C67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C4B476C-6796-87EA-5C88-16149BCF57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4C4F786-37A3-4CBC-8B84-8B2C16EE9616}" type="slidenum">
              <a:rPr lang="en-US" smtClean="0"/>
              <a:t>‹#›</a:t>
            </a:fld>
            <a:endParaRPr lang="en-US"/>
          </a:p>
        </p:txBody>
      </p:sp>
    </p:spTree>
    <p:extLst>
      <p:ext uri="{BB962C8B-B14F-4D97-AF65-F5344CB8AC3E}">
        <p14:creationId xmlns:p14="http://schemas.microsoft.com/office/powerpoint/2010/main" val="4153227153"/>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383587B-AC5B-2E9B-442D-4C64103871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FE65831-67AF-575D-2939-77C3CE1EF8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C187EB-F8DB-C0AA-B58D-2620C0CE965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B79CD17-FD4A-9F57-7291-A09F640CBD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C566D4-8263-BCCF-72D3-83117C838A9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2B13B93-6F8B-B440-3BFC-96721BAAD1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545D3FB-29F6-526C-B61D-9CD7E3669B2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5F42DA-546C-E8F7-47F9-4449A154F9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A919237-CD1C-9AA5-783C-4779877AB01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40C165-1B93-8B47-84F7-297D93D6BAE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7E74E02-9133-7EE3-F6C9-41A0EAA4B8F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3010C2-AFF1-4CE1-FFF0-43925D8D608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2459AA-3DB5-CA78-ADE6-8FD2456245A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E498CE-9A48-45A6-8499-7EF478AFE83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85C38F6-0009-AD7A-5D7D-A5228AFD995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5FE631-6509-3748-D8FD-2D8831406C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7616821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TotalTime>
  <Words>2271</Words>
  <Application>Microsoft Office PowerPoint</Application>
  <PresentationFormat>寬螢幕</PresentationFormat>
  <Paragraphs>91</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2026-09-05T13:51:39Z</dcterms:created>
  <dcterms:modified xsi:type="dcterms:W3CDTF">2026-10-21T02:48:07Z</dcterms:modified>
</cp:coreProperties>
</file>