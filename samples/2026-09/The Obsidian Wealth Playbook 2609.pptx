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98ED6A-F9A1-4241-B8D2-E80C49C788FB}" v="19" dt="2026-09-06T07:06:01.7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7749"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9-06T07:06:22.332" v="50" actId="166"/>
      <pc:docMkLst>
        <pc:docMk/>
      </pc:docMkLst>
      <pc:sldChg chg="addSp delSp modSp mod modNotesTx">
        <pc:chgData name="Lai, Wilson" userId="2840974a-0d84-4886-90a9-9a3ed79f3a48" providerId="ADAL" clId="{9F23B798-9E84-4552-BA63-E776E805C424}" dt="2026-09-06T07:06:22.332" v="50" actId="166"/>
        <pc:sldMkLst>
          <pc:docMk/>
          <pc:sldMk cId="0" sldId="257"/>
        </pc:sldMkLst>
        <pc:picChg chg="del">
          <ac:chgData name="Lai, Wilson" userId="2840974a-0d84-4886-90a9-9a3ed79f3a48" providerId="ADAL" clId="{9F23B798-9E84-4552-BA63-E776E805C424}" dt="2026-09-06T00:41:58.707" v="0" actId="21"/>
          <ac:picMkLst>
            <pc:docMk/>
            <pc:sldMk cId="0" sldId="257"/>
            <ac:picMk id="2" creationId="{00000000-0000-0000-0000-000000000000}"/>
          </ac:picMkLst>
        </pc:picChg>
        <pc:picChg chg="add ord">
          <ac:chgData name="Lai, Wilson" userId="2840974a-0d84-4886-90a9-9a3ed79f3a48" providerId="ADAL" clId="{9F23B798-9E84-4552-BA63-E776E805C424}" dt="2026-09-06T07:06:22.332" v="50" actId="166"/>
          <ac:picMkLst>
            <pc:docMk/>
            <pc:sldMk cId="0" sldId="257"/>
            <ac:picMk id="7" creationId="{591D207F-196B-91D9-2444-8DD1F813A583}"/>
          </ac:picMkLst>
        </pc:picChg>
      </pc:sldChg>
      <pc:sldChg chg="addSp delSp mod">
        <pc:chgData name="Lai, Wilson" userId="2840974a-0d84-4886-90a9-9a3ed79f3a48" providerId="ADAL" clId="{9F23B798-9E84-4552-BA63-E776E805C424}" dt="2026-09-06T00:45:16.830" v="3" actId="22"/>
        <pc:sldMkLst>
          <pc:docMk/>
          <pc:sldMk cId="0" sldId="258"/>
        </pc:sldMkLst>
        <pc:picChg chg="del">
          <ac:chgData name="Lai, Wilson" userId="2840974a-0d84-4886-90a9-9a3ed79f3a48" providerId="ADAL" clId="{9F23B798-9E84-4552-BA63-E776E805C424}" dt="2026-09-06T00:45:03.778" v="2" actId="21"/>
          <ac:picMkLst>
            <pc:docMk/>
            <pc:sldMk cId="0" sldId="258"/>
            <ac:picMk id="2" creationId="{00000000-0000-0000-0000-000000000000}"/>
          </ac:picMkLst>
        </pc:picChg>
        <pc:picChg chg="add">
          <ac:chgData name="Lai, Wilson" userId="2840974a-0d84-4886-90a9-9a3ed79f3a48" providerId="ADAL" clId="{9F23B798-9E84-4552-BA63-E776E805C424}" dt="2026-09-06T00:45:16.830" v="3" actId="22"/>
          <ac:picMkLst>
            <pc:docMk/>
            <pc:sldMk cId="0" sldId="258"/>
            <ac:picMk id="4" creationId="{9A9A524A-F2F4-C118-3300-51893E20B200}"/>
          </ac:picMkLst>
        </pc:picChg>
      </pc:sldChg>
      <pc:sldChg chg="addSp delSp mod modNotesTx">
        <pc:chgData name="Lai, Wilson" userId="2840974a-0d84-4886-90a9-9a3ed79f3a48" providerId="ADAL" clId="{9F23B798-9E84-4552-BA63-E776E805C424}" dt="2026-09-06T07:03:19.304" v="35" actId="12"/>
        <pc:sldMkLst>
          <pc:docMk/>
          <pc:sldMk cId="0" sldId="259"/>
        </pc:sldMkLst>
        <pc:picChg chg="del">
          <ac:chgData name="Lai, Wilson" userId="2840974a-0d84-4886-90a9-9a3ed79f3a48" providerId="ADAL" clId="{9F23B798-9E84-4552-BA63-E776E805C424}" dt="2026-09-06T00:45:19.185" v="4" actId="21"/>
          <ac:picMkLst>
            <pc:docMk/>
            <pc:sldMk cId="0" sldId="259"/>
            <ac:picMk id="2" creationId="{00000000-0000-0000-0000-000000000000}"/>
          </ac:picMkLst>
        </pc:picChg>
        <pc:picChg chg="add">
          <ac:chgData name="Lai, Wilson" userId="2840974a-0d84-4886-90a9-9a3ed79f3a48" providerId="ADAL" clId="{9F23B798-9E84-4552-BA63-E776E805C424}" dt="2026-09-06T00:45:31.372" v="5" actId="22"/>
          <ac:picMkLst>
            <pc:docMk/>
            <pc:sldMk cId="0" sldId="259"/>
            <ac:picMk id="4" creationId="{39B3509A-D897-4853-B9A6-D10BF3E0D472}"/>
          </ac:picMkLst>
        </pc:picChg>
      </pc:sldChg>
      <pc:sldChg chg="addSp delSp mod modNotes modNotesTx">
        <pc:chgData name="Lai, Wilson" userId="2840974a-0d84-4886-90a9-9a3ed79f3a48" providerId="ADAL" clId="{9F23B798-9E84-4552-BA63-E776E805C424}" dt="2026-09-06T07:06:01.759" v="48"/>
        <pc:sldMkLst>
          <pc:docMk/>
          <pc:sldMk cId="0" sldId="260"/>
        </pc:sldMkLst>
        <pc:picChg chg="del">
          <ac:chgData name="Lai, Wilson" userId="2840974a-0d84-4886-90a9-9a3ed79f3a48" providerId="ADAL" clId="{9F23B798-9E84-4552-BA63-E776E805C424}" dt="2026-09-06T00:45:33.675" v="6" actId="21"/>
          <ac:picMkLst>
            <pc:docMk/>
            <pc:sldMk cId="0" sldId="260"/>
            <ac:picMk id="2" creationId="{00000000-0000-0000-0000-000000000000}"/>
          </ac:picMkLst>
        </pc:picChg>
        <pc:picChg chg="add">
          <ac:chgData name="Lai, Wilson" userId="2840974a-0d84-4886-90a9-9a3ed79f3a48" providerId="ADAL" clId="{9F23B798-9E84-4552-BA63-E776E805C424}" dt="2026-09-06T00:45:50.461" v="7" actId="22"/>
          <ac:picMkLst>
            <pc:docMk/>
            <pc:sldMk cId="0" sldId="260"/>
            <ac:picMk id="4" creationId="{A2B3D953-6822-BA1A-78EA-0B7370ADFD16}"/>
          </ac:picMkLst>
        </pc:picChg>
      </pc:sldChg>
      <pc:sldChg chg="addSp delSp mod modNotesTx">
        <pc:chgData name="Lai, Wilson" userId="2840974a-0d84-4886-90a9-9a3ed79f3a48" providerId="ADAL" clId="{9F23B798-9E84-4552-BA63-E776E805C424}" dt="2026-09-06T07:03:41.123" v="37" actId="12"/>
        <pc:sldMkLst>
          <pc:docMk/>
          <pc:sldMk cId="0" sldId="261"/>
        </pc:sldMkLst>
        <pc:picChg chg="del">
          <ac:chgData name="Lai, Wilson" userId="2840974a-0d84-4886-90a9-9a3ed79f3a48" providerId="ADAL" clId="{9F23B798-9E84-4552-BA63-E776E805C424}" dt="2026-09-06T00:45:52.415" v="8" actId="21"/>
          <ac:picMkLst>
            <pc:docMk/>
            <pc:sldMk cId="0" sldId="261"/>
            <ac:picMk id="2" creationId="{00000000-0000-0000-0000-000000000000}"/>
          </ac:picMkLst>
        </pc:picChg>
        <pc:picChg chg="add">
          <ac:chgData name="Lai, Wilson" userId="2840974a-0d84-4886-90a9-9a3ed79f3a48" providerId="ADAL" clId="{9F23B798-9E84-4552-BA63-E776E805C424}" dt="2026-09-06T00:46:00.207" v="9" actId="22"/>
          <ac:picMkLst>
            <pc:docMk/>
            <pc:sldMk cId="0" sldId="261"/>
            <ac:picMk id="4" creationId="{AD91FB46-A8B6-6E5C-39F3-7E31EFFEA6B2}"/>
          </ac:picMkLst>
        </pc:picChg>
      </pc:sldChg>
      <pc:sldChg chg="addSp delSp mod modNotesTx">
        <pc:chgData name="Lai, Wilson" userId="2840974a-0d84-4886-90a9-9a3ed79f3a48" providerId="ADAL" clId="{9F23B798-9E84-4552-BA63-E776E805C424}" dt="2026-09-06T07:03:53.075" v="38" actId="12"/>
        <pc:sldMkLst>
          <pc:docMk/>
          <pc:sldMk cId="0" sldId="262"/>
        </pc:sldMkLst>
        <pc:picChg chg="del">
          <ac:chgData name="Lai, Wilson" userId="2840974a-0d84-4886-90a9-9a3ed79f3a48" providerId="ADAL" clId="{9F23B798-9E84-4552-BA63-E776E805C424}" dt="2026-09-06T00:46:01.998" v="10" actId="21"/>
          <ac:picMkLst>
            <pc:docMk/>
            <pc:sldMk cId="0" sldId="262"/>
            <ac:picMk id="2" creationId="{00000000-0000-0000-0000-000000000000}"/>
          </ac:picMkLst>
        </pc:picChg>
        <pc:picChg chg="add">
          <ac:chgData name="Lai, Wilson" userId="2840974a-0d84-4886-90a9-9a3ed79f3a48" providerId="ADAL" clId="{9F23B798-9E84-4552-BA63-E776E805C424}" dt="2026-09-06T00:46:54.552" v="11" actId="22"/>
          <ac:picMkLst>
            <pc:docMk/>
            <pc:sldMk cId="0" sldId="262"/>
            <ac:picMk id="4" creationId="{9B14A098-F8DA-C5A6-F03C-DDC9164304CF}"/>
          </ac:picMkLst>
        </pc:picChg>
      </pc:sldChg>
      <pc:sldChg chg="addSp delSp mod modNotesTx">
        <pc:chgData name="Lai, Wilson" userId="2840974a-0d84-4886-90a9-9a3ed79f3a48" providerId="ADAL" clId="{9F23B798-9E84-4552-BA63-E776E805C424}" dt="2026-09-06T07:04:10.092" v="40" actId="12"/>
        <pc:sldMkLst>
          <pc:docMk/>
          <pc:sldMk cId="0" sldId="263"/>
        </pc:sldMkLst>
        <pc:picChg chg="del">
          <ac:chgData name="Lai, Wilson" userId="2840974a-0d84-4886-90a9-9a3ed79f3a48" providerId="ADAL" clId="{9F23B798-9E84-4552-BA63-E776E805C424}" dt="2026-09-06T00:47:08.426" v="12" actId="21"/>
          <ac:picMkLst>
            <pc:docMk/>
            <pc:sldMk cId="0" sldId="263"/>
            <ac:picMk id="2" creationId="{00000000-0000-0000-0000-000000000000}"/>
          </ac:picMkLst>
        </pc:picChg>
        <pc:picChg chg="add">
          <ac:chgData name="Lai, Wilson" userId="2840974a-0d84-4886-90a9-9a3ed79f3a48" providerId="ADAL" clId="{9F23B798-9E84-4552-BA63-E776E805C424}" dt="2026-09-06T00:47:16.152" v="13" actId="22"/>
          <ac:picMkLst>
            <pc:docMk/>
            <pc:sldMk cId="0" sldId="263"/>
            <ac:picMk id="4" creationId="{287E598E-6F22-DB5C-3753-547F55967A4B}"/>
          </ac:picMkLst>
        </pc:picChg>
      </pc:sldChg>
      <pc:sldChg chg="addSp delSp mod modNotesTx">
        <pc:chgData name="Lai, Wilson" userId="2840974a-0d84-4886-90a9-9a3ed79f3a48" providerId="ADAL" clId="{9F23B798-9E84-4552-BA63-E776E805C424}" dt="2026-09-06T07:04:24.232" v="41" actId="12"/>
        <pc:sldMkLst>
          <pc:docMk/>
          <pc:sldMk cId="0" sldId="264"/>
        </pc:sldMkLst>
        <pc:picChg chg="del">
          <ac:chgData name="Lai, Wilson" userId="2840974a-0d84-4886-90a9-9a3ed79f3a48" providerId="ADAL" clId="{9F23B798-9E84-4552-BA63-E776E805C424}" dt="2026-09-06T00:47:18.203" v="14" actId="21"/>
          <ac:picMkLst>
            <pc:docMk/>
            <pc:sldMk cId="0" sldId="264"/>
            <ac:picMk id="2" creationId="{00000000-0000-0000-0000-000000000000}"/>
          </ac:picMkLst>
        </pc:picChg>
        <pc:picChg chg="add">
          <ac:chgData name="Lai, Wilson" userId="2840974a-0d84-4886-90a9-9a3ed79f3a48" providerId="ADAL" clId="{9F23B798-9E84-4552-BA63-E776E805C424}" dt="2026-09-06T00:47:36.008" v="15" actId="22"/>
          <ac:picMkLst>
            <pc:docMk/>
            <pc:sldMk cId="0" sldId="264"/>
            <ac:picMk id="4" creationId="{3F8F726F-1B12-BDFE-65E1-9DB3E66DB04C}"/>
          </ac:picMkLst>
        </pc:picChg>
      </pc:sldChg>
      <pc:sldChg chg="addSp delSp mod modNotesTx">
        <pc:chgData name="Lai, Wilson" userId="2840974a-0d84-4886-90a9-9a3ed79f3a48" providerId="ADAL" clId="{9F23B798-9E84-4552-BA63-E776E805C424}" dt="2026-09-06T07:04:38.611" v="42" actId="12"/>
        <pc:sldMkLst>
          <pc:docMk/>
          <pc:sldMk cId="0" sldId="265"/>
        </pc:sldMkLst>
        <pc:picChg chg="del">
          <ac:chgData name="Lai, Wilson" userId="2840974a-0d84-4886-90a9-9a3ed79f3a48" providerId="ADAL" clId="{9F23B798-9E84-4552-BA63-E776E805C424}" dt="2026-09-06T00:47:38.853" v="16" actId="21"/>
          <ac:picMkLst>
            <pc:docMk/>
            <pc:sldMk cId="0" sldId="265"/>
            <ac:picMk id="2" creationId="{00000000-0000-0000-0000-000000000000}"/>
          </ac:picMkLst>
        </pc:picChg>
        <pc:picChg chg="add">
          <ac:chgData name="Lai, Wilson" userId="2840974a-0d84-4886-90a9-9a3ed79f3a48" providerId="ADAL" clId="{9F23B798-9E84-4552-BA63-E776E805C424}" dt="2026-09-06T00:47:53.258" v="17" actId="22"/>
          <ac:picMkLst>
            <pc:docMk/>
            <pc:sldMk cId="0" sldId="265"/>
            <ac:picMk id="4" creationId="{70EB480A-CCB6-9B28-07E7-9CDE7CA28E15}"/>
          </ac:picMkLst>
        </pc:picChg>
      </pc:sldChg>
      <pc:sldChg chg="addSp delSp mod modNotesTx">
        <pc:chgData name="Lai, Wilson" userId="2840974a-0d84-4886-90a9-9a3ed79f3a48" providerId="ADAL" clId="{9F23B798-9E84-4552-BA63-E776E805C424}" dt="2026-09-06T07:04:49.563" v="43" actId="12"/>
        <pc:sldMkLst>
          <pc:docMk/>
          <pc:sldMk cId="0" sldId="266"/>
        </pc:sldMkLst>
        <pc:picChg chg="del">
          <ac:chgData name="Lai, Wilson" userId="2840974a-0d84-4886-90a9-9a3ed79f3a48" providerId="ADAL" clId="{9F23B798-9E84-4552-BA63-E776E805C424}" dt="2026-09-06T00:47:58.625" v="18" actId="21"/>
          <ac:picMkLst>
            <pc:docMk/>
            <pc:sldMk cId="0" sldId="266"/>
            <ac:picMk id="2" creationId="{00000000-0000-0000-0000-000000000000}"/>
          </ac:picMkLst>
        </pc:picChg>
        <pc:picChg chg="add">
          <ac:chgData name="Lai, Wilson" userId="2840974a-0d84-4886-90a9-9a3ed79f3a48" providerId="ADAL" clId="{9F23B798-9E84-4552-BA63-E776E805C424}" dt="2026-09-06T00:48:10.151" v="19" actId="22"/>
          <ac:picMkLst>
            <pc:docMk/>
            <pc:sldMk cId="0" sldId="266"/>
            <ac:picMk id="4" creationId="{5E796BC4-2E47-0099-A05A-9CB4816D6EC4}"/>
          </ac:picMkLst>
        </pc:picChg>
      </pc:sldChg>
      <pc:sldChg chg="addSp delSp mod modNotes modNotesTx">
        <pc:chgData name="Lai, Wilson" userId="2840974a-0d84-4886-90a9-9a3ed79f3a48" providerId="ADAL" clId="{9F23B798-9E84-4552-BA63-E776E805C424}" dt="2026-09-06T07:06:01.759" v="48"/>
        <pc:sldMkLst>
          <pc:docMk/>
          <pc:sldMk cId="0" sldId="267"/>
        </pc:sldMkLst>
        <pc:picChg chg="del">
          <ac:chgData name="Lai, Wilson" userId="2840974a-0d84-4886-90a9-9a3ed79f3a48" providerId="ADAL" clId="{9F23B798-9E84-4552-BA63-E776E805C424}" dt="2026-09-06T00:48:16.483" v="20" actId="21"/>
          <ac:picMkLst>
            <pc:docMk/>
            <pc:sldMk cId="0" sldId="267"/>
            <ac:picMk id="2" creationId="{00000000-0000-0000-0000-000000000000}"/>
          </ac:picMkLst>
        </pc:picChg>
        <pc:picChg chg="add">
          <ac:chgData name="Lai, Wilson" userId="2840974a-0d84-4886-90a9-9a3ed79f3a48" providerId="ADAL" clId="{9F23B798-9E84-4552-BA63-E776E805C424}" dt="2026-09-06T00:48:25.550" v="21" actId="22"/>
          <ac:picMkLst>
            <pc:docMk/>
            <pc:sldMk cId="0" sldId="267"/>
            <ac:picMk id="4" creationId="{09FDBE55-8EFA-968E-744F-2F907DE7C822}"/>
          </ac:picMkLst>
        </pc:picChg>
      </pc:sldChg>
      <pc:sldChg chg="addSp delSp mod modNotesTx">
        <pc:chgData name="Lai, Wilson" userId="2840974a-0d84-4886-90a9-9a3ed79f3a48" providerId="ADAL" clId="{9F23B798-9E84-4552-BA63-E776E805C424}" dt="2026-09-06T07:05:15.723" v="45" actId="12"/>
        <pc:sldMkLst>
          <pc:docMk/>
          <pc:sldMk cId="0" sldId="268"/>
        </pc:sldMkLst>
        <pc:picChg chg="del">
          <ac:chgData name="Lai, Wilson" userId="2840974a-0d84-4886-90a9-9a3ed79f3a48" providerId="ADAL" clId="{9F23B798-9E84-4552-BA63-E776E805C424}" dt="2026-09-06T00:48:27.150" v="22" actId="21"/>
          <ac:picMkLst>
            <pc:docMk/>
            <pc:sldMk cId="0" sldId="268"/>
            <ac:picMk id="2" creationId="{00000000-0000-0000-0000-000000000000}"/>
          </ac:picMkLst>
        </pc:picChg>
        <pc:picChg chg="add">
          <ac:chgData name="Lai, Wilson" userId="2840974a-0d84-4886-90a9-9a3ed79f3a48" providerId="ADAL" clId="{9F23B798-9E84-4552-BA63-E776E805C424}" dt="2026-09-06T00:48:46.956" v="23" actId="22"/>
          <ac:picMkLst>
            <pc:docMk/>
            <pc:sldMk cId="0" sldId="268"/>
            <ac:picMk id="4" creationId="{9191704A-A493-EECE-CFE3-33E8414BEF21}"/>
          </ac:picMkLst>
        </pc:picChg>
      </pc:sldChg>
      <pc:sldChg chg="addSp delSp mod modNotes modNotesTx">
        <pc:chgData name="Lai, Wilson" userId="2840974a-0d84-4886-90a9-9a3ed79f3a48" providerId="ADAL" clId="{9F23B798-9E84-4552-BA63-E776E805C424}" dt="2026-09-06T07:06:01.759" v="48"/>
        <pc:sldMkLst>
          <pc:docMk/>
          <pc:sldMk cId="0" sldId="269"/>
        </pc:sldMkLst>
        <pc:picChg chg="del">
          <ac:chgData name="Lai, Wilson" userId="2840974a-0d84-4886-90a9-9a3ed79f3a48" providerId="ADAL" clId="{9F23B798-9E84-4552-BA63-E776E805C424}" dt="2026-09-06T00:48:49.030" v="24" actId="21"/>
          <ac:picMkLst>
            <pc:docMk/>
            <pc:sldMk cId="0" sldId="269"/>
            <ac:picMk id="2" creationId="{00000000-0000-0000-0000-000000000000}"/>
          </ac:picMkLst>
        </pc:picChg>
        <pc:picChg chg="add">
          <ac:chgData name="Lai, Wilson" userId="2840974a-0d84-4886-90a9-9a3ed79f3a48" providerId="ADAL" clId="{9F23B798-9E84-4552-BA63-E776E805C424}" dt="2026-09-06T00:48:57.323" v="25" actId="22"/>
          <ac:picMkLst>
            <pc:docMk/>
            <pc:sldMk cId="0" sldId="269"/>
            <ac:picMk id="4" creationId="{E810479A-FE8D-1002-6A9D-F1EE9FB4B1BE}"/>
          </ac:picMkLst>
        </pc:picChg>
      </pc:sldChg>
      <pc:sldChg chg="addSp delSp mod modNotesTx">
        <pc:chgData name="Lai, Wilson" userId="2840974a-0d84-4886-90a9-9a3ed79f3a48" providerId="ADAL" clId="{9F23B798-9E84-4552-BA63-E776E805C424}" dt="2026-09-06T07:05:37.361" v="47" actId="12"/>
        <pc:sldMkLst>
          <pc:docMk/>
          <pc:sldMk cId="0" sldId="270"/>
        </pc:sldMkLst>
        <pc:picChg chg="del">
          <ac:chgData name="Lai, Wilson" userId="2840974a-0d84-4886-90a9-9a3ed79f3a48" providerId="ADAL" clId="{9F23B798-9E84-4552-BA63-E776E805C424}" dt="2026-09-06T00:48:59.840" v="26" actId="21"/>
          <ac:picMkLst>
            <pc:docMk/>
            <pc:sldMk cId="0" sldId="270"/>
            <ac:picMk id="2" creationId="{00000000-0000-0000-0000-000000000000}"/>
          </ac:picMkLst>
        </pc:picChg>
        <pc:picChg chg="add">
          <ac:chgData name="Lai, Wilson" userId="2840974a-0d84-4886-90a9-9a3ed79f3a48" providerId="ADAL" clId="{9F23B798-9E84-4552-BA63-E776E805C424}" dt="2026-09-06T00:49:07.672" v="27" actId="22"/>
          <ac:picMkLst>
            <pc:docMk/>
            <pc:sldMk cId="0" sldId="270"/>
            <ac:picMk id="4" creationId="{E81D1B50-680C-C5EC-1899-0390D6BA02DD}"/>
          </ac:picMkLst>
        </pc:picChg>
      </pc:sldChg>
      <pc:sldChg chg="addSp delSp mod">
        <pc:chgData name="Lai, Wilson" userId="2840974a-0d84-4886-90a9-9a3ed79f3a48" providerId="ADAL" clId="{9F23B798-9E84-4552-BA63-E776E805C424}" dt="2026-09-06T00:49:18.402" v="29" actId="22"/>
        <pc:sldMkLst>
          <pc:docMk/>
          <pc:sldMk cId="0" sldId="271"/>
        </pc:sldMkLst>
        <pc:picChg chg="del">
          <ac:chgData name="Lai, Wilson" userId="2840974a-0d84-4886-90a9-9a3ed79f3a48" providerId="ADAL" clId="{9F23B798-9E84-4552-BA63-E776E805C424}" dt="2026-09-06T00:49:10.516" v="28" actId="21"/>
          <ac:picMkLst>
            <pc:docMk/>
            <pc:sldMk cId="0" sldId="271"/>
            <ac:picMk id="2" creationId="{00000000-0000-0000-0000-000000000000}"/>
          </ac:picMkLst>
        </pc:picChg>
        <pc:picChg chg="add">
          <ac:chgData name="Lai, Wilson" userId="2840974a-0d84-4886-90a9-9a3ed79f3a48" providerId="ADAL" clId="{9F23B798-9E84-4552-BA63-E776E805C424}" dt="2026-09-06T00:49:18.402" v="29" actId="22"/>
          <ac:picMkLst>
            <pc:docMk/>
            <pc:sldMk cId="0" sldId="271"/>
            <ac:picMk id="4" creationId="{98FA3DE9-4F2D-59A5-B61C-B9C311E3661F}"/>
          </ac:picMkLst>
        </pc:picChg>
      </pc:sldChg>
      <pc:sldChg chg="addSp delSp mod modNotes">
        <pc:chgData name="Lai, Wilson" userId="2840974a-0d84-4886-90a9-9a3ed79f3a48" providerId="ADAL" clId="{9F23B798-9E84-4552-BA63-E776E805C424}" dt="2026-09-06T07:06:01.759" v="48"/>
        <pc:sldMkLst>
          <pc:docMk/>
          <pc:sldMk cId="118226938" sldId="272"/>
        </pc:sldMkLst>
        <pc:picChg chg="del">
          <ac:chgData name="Lai, Wilson" userId="2840974a-0d84-4886-90a9-9a3ed79f3a48" providerId="ADAL" clId="{9F23B798-9E84-4552-BA63-E776E805C424}" dt="2026-09-06T00:49:20.347" v="30" actId="21"/>
          <ac:picMkLst>
            <pc:docMk/>
            <pc:sldMk cId="118226938" sldId="272"/>
            <ac:picMk id="3" creationId="{E2C82424-8CC6-19E0-39BC-8F0232C32458}"/>
          </ac:picMkLst>
        </pc:picChg>
        <pc:picChg chg="add">
          <ac:chgData name="Lai, Wilson" userId="2840974a-0d84-4886-90a9-9a3ed79f3a48" providerId="ADAL" clId="{9F23B798-9E84-4552-BA63-E776E805C424}" dt="2026-09-06T00:49:35.637" v="31" actId="22"/>
          <ac:picMkLst>
            <pc:docMk/>
            <pc:sldMk cId="118226938" sldId="272"/>
            <ac:picMk id="4" creationId="{3F6826D3-9E6A-3B2B-1290-A929AA3F3A20}"/>
          </ac:picMkLst>
        </pc:picChg>
      </pc:sldChg>
      <pc:sldMasterChg chg="setBg">
        <pc:chgData name="Lai, Wilson" userId="2840974a-0d84-4886-90a9-9a3ed79f3a48" providerId="ADAL" clId="{9F23B798-9E84-4552-BA63-E776E805C424}" dt="2026-09-06T00:50:13.096" v="32"/>
        <pc:sldMasterMkLst>
          <pc:docMk/>
          <pc:sldMasterMk cId="3082407127"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A8ECD0-8340-4A2B-9518-09B6C59A049F}"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885E16-9A34-44E1-A650-C2A3A78D45D9}" type="slidenum">
              <a:rPr lang="en-US" smtClean="0"/>
              <a:t>‹#›</a:t>
            </a:fld>
            <a:endParaRPr lang="en-US"/>
          </a:p>
        </p:txBody>
      </p:sp>
    </p:spTree>
    <p:extLst>
      <p:ext uri="{BB962C8B-B14F-4D97-AF65-F5344CB8AC3E}">
        <p14:creationId xmlns:p14="http://schemas.microsoft.com/office/powerpoint/2010/main" val="3398484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breaking down the blueprint for true financial freedom through what I call </a:t>
            </a:r>
            <a:r>
              <a:rPr lang="en-US" sz="1200" i="1" kern="1200" dirty="0">
                <a:solidFill>
                  <a:schemeClr val="tx1"/>
                </a:solidFill>
                <a:effectLst/>
                <a:latin typeface="+mn-lt"/>
                <a:ea typeface="+mn-ea"/>
                <a:cs typeface="+mn-cs"/>
              </a:rPr>
              <a:t>The Obsidian Playbook</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Growing up, many of us are taught to view wealth as a mystery, a stroke of luck, or something reserved only for a select few. But as we’ll uncover today, </a:t>
            </a:r>
            <a:r>
              <a:rPr lang="en-US" sz="1200" b="1" kern="1200" dirty="0">
                <a:solidFill>
                  <a:schemeClr val="tx1"/>
                </a:solidFill>
                <a:effectLst/>
                <a:latin typeface="+mn-lt"/>
                <a:ea typeface="+mn-ea"/>
                <a:cs typeface="+mn-cs"/>
              </a:rPr>
              <a:t>wealth is neither a mystery nor a lottery—everything is structural, and everything is a contract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you learn to speak the contractual language of money, you shift from being a passive participant in the economy to an intentional architect of your own net worth. Over the next several slides, we’ll dive into the exact framework, laws, and engines that drive structural wealth creation.</a:t>
            </a:r>
          </a:p>
          <a:p>
            <a:endParaRPr lang="en-US" dirty="0"/>
          </a:p>
          <a:p>
            <a:endParaRPr lang="en-US" dirty="0"/>
          </a:p>
          <a:p>
            <a:r>
              <a:rPr lang="en-US" dirty="0"/>
              <a:t>https://www.youtube.com/watch?v=BhPWimKPD48</a:t>
            </a:r>
          </a:p>
        </p:txBody>
      </p:sp>
      <p:sp>
        <p:nvSpPr>
          <p:cNvPr id="4" name="Slide Number Placeholder 3"/>
          <p:cNvSpPr>
            <a:spLocks noGrp="1"/>
          </p:cNvSpPr>
          <p:nvPr>
            <p:ph type="sldNum" sz="quarter" idx="5"/>
          </p:nvPr>
        </p:nvSpPr>
        <p:spPr/>
        <p:txBody>
          <a:bodyPr/>
          <a:lstStyle/>
          <a:p>
            <a:fld id="{99885E16-9A34-44E1-A650-C2A3A78D45D9}" type="slidenum">
              <a:rPr lang="en-US" smtClean="0"/>
              <a:t>1</a:t>
            </a:fld>
            <a:endParaRPr lang="en-US"/>
          </a:p>
        </p:txBody>
      </p:sp>
    </p:spTree>
    <p:extLst>
      <p:ext uri="{BB962C8B-B14F-4D97-AF65-F5344CB8AC3E}">
        <p14:creationId xmlns:p14="http://schemas.microsoft.com/office/powerpoint/2010/main" val="2122172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start by looking at where most people get money wrong. Growing up in lower-middle-class environments, many of us absorb toxic narratives: that rich people are evil, that wealth comes from scams, or that financial success requires winning the lottery. </a:t>
            </a:r>
          </a:p>
          <a:p>
            <a:r>
              <a:rPr lang="en-US" sz="1200" kern="1200" dirty="0">
                <a:solidFill>
                  <a:schemeClr val="tx1"/>
                </a:solidFill>
                <a:effectLst/>
                <a:latin typeface="+mn-lt"/>
                <a:ea typeface="+mn-ea"/>
                <a:cs typeface="+mn-cs"/>
              </a:rPr>
              <a:t>But there’s another layer to this misunderstanding—even among high earners. Take a look at the </a:t>
            </a:r>
            <a:r>
              <a:rPr lang="en-US" sz="1200" b="1" kern="1200" dirty="0">
                <a:solidFill>
                  <a:schemeClr val="tx1"/>
                </a:solidFill>
                <a:effectLst/>
                <a:latin typeface="+mn-lt"/>
                <a:ea typeface="+mn-ea"/>
                <a:cs typeface="+mn-cs"/>
              </a:rPr>
              <a:t>$50 Million Illusion</a:t>
            </a:r>
            <a:r>
              <a:rPr lang="en-US" sz="1200" kern="1200" dirty="0">
                <a:solidFill>
                  <a:schemeClr val="tx1"/>
                </a:solidFill>
                <a:effectLst/>
                <a:latin typeface="+mn-lt"/>
                <a:ea typeface="+mn-ea"/>
                <a:cs typeface="+mn-cs"/>
              </a:rPr>
              <a:t>. Early in my tech engineering career, I worked at a company that was acquired for $550 million. Based on my equity stake, I expected a payout of nearly $50 million. But when I checked my bank account at the ATM, the wire transfer was </a:t>
            </a:r>
            <a:r>
              <a:rPr lang="en-US" sz="1200" b="1" kern="1200" dirty="0">
                <a:solidFill>
                  <a:schemeClr val="tx1"/>
                </a:solidFill>
                <a:effectLst/>
                <a:latin typeface="+mn-lt"/>
                <a:ea typeface="+mn-ea"/>
                <a:cs typeface="+mn-cs"/>
              </a:rPr>
              <a:t>$4.97 million</a:t>
            </a:r>
            <a:r>
              <a:rPr lang="en-US" sz="1200" kern="1200" dirty="0">
                <a:solidFill>
                  <a:schemeClr val="tx1"/>
                </a:solidFill>
                <a:effectLst/>
                <a:latin typeface="+mn-lt"/>
                <a:ea typeface="+mn-ea"/>
                <a:cs typeface="+mn-cs"/>
              </a:rPr>
              <a:t>—a whole zero off. </a:t>
            </a:r>
          </a:p>
          <a:p>
            <a:r>
              <a:rPr lang="en-US" sz="1200" kern="1200" dirty="0">
                <a:solidFill>
                  <a:schemeClr val="tx1"/>
                </a:solidFill>
                <a:effectLst/>
                <a:latin typeface="+mn-lt"/>
                <a:ea typeface="+mn-ea"/>
                <a:cs typeface="+mn-cs"/>
              </a:rPr>
              <a:t>Why? Because of a hidden </a:t>
            </a:r>
            <a:r>
              <a:rPr lang="en-US" sz="1200" b="1" kern="1200" dirty="0">
                <a:solidFill>
                  <a:schemeClr val="tx1"/>
                </a:solidFill>
                <a:effectLst/>
                <a:latin typeface="+mn-lt"/>
                <a:ea typeface="+mn-ea"/>
                <a:cs typeface="+mn-cs"/>
              </a:rPr>
              <a:t>ratchet clause</a:t>
            </a:r>
            <a:r>
              <a:rPr lang="en-US" sz="1200" kern="1200" dirty="0">
                <a:solidFill>
                  <a:schemeClr val="tx1"/>
                </a:solidFill>
                <a:effectLst/>
                <a:latin typeface="+mn-lt"/>
                <a:ea typeface="+mn-ea"/>
                <a:cs typeface="+mn-cs"/>
              </a:rPr>
              <a:t> in the acquisition contract that severely diluted my payout. That was my wake-up call. It wasn't about luck or hard work alone; I didn't speak the contractual language of money. That $45M lesson led me straight to business school and Wall Street to master how wealth structurally functions.</a:t>
            </a:r>
          </a:p>
          <a:p>
            <a:endParaRPr lang="en-US" dirty="0"/>
          </a:p>
        </p:txBody>
      </p:sp>
      <p:sp>
        <p:nvSpPr>
          <p:cNvPr id="4" name="Slide Number Placeholder 3"/>
          <p:cNvSpPr>
            <a:spLocks noGrp="1"/>
          </p:cNvSpPr>
          <p:nvPr>
            <p:ph type="sldNum" sz="quarter" idx="5"/>
          </p:nvPr>
        </p:nvSpPr>
        <p:spPr/>
        <p:txBody>
          <a:bodyPr/>
          <a:lstStyle/>
          <a:p>
            <a:fld id="{99885E16-9A34-44E1-A650-C2A3A78D45D9}" type="slidenum">
              <a:rPr lang="en-US" smtClean="0"/>
              <a:t>2</a:t>
            </a:fld>
            <a:endParaRPr lang="en-US"/>
          </a:p>
        </p:txBody>
      </p:sp>
    </p:spTree>
    <p:extLst>
      <p:ext uri="{BB962C8B-B14F-4D97-AF65-F5344CB8AC3E}">
        <p14:creationId xmlns:p14="http://schemas.microsoft.com/office/powerpoint/2010/main" val="1410500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Richard Branson once shared with me that if you don't have a clear framework for making decisions, you will always get left behind. You are the cumulative sum of every decision you’ve ever made. </a:t>
            </a:r>
          </a:p>
          <a:p>
            <a:r>
              <a:rPr lang="en-US" sz="1200" kern="1200" dirty="0">
                <a:solidFill>
                  <a:schemeClr val="tx1"/>
                </a:solidFill>
                <a:effectLst/>
                <a:latin typeface="+mn-lt"/>
                <a:ea typeface="+mn-ea"/>
                <a:cs typeface="+mn-cs"/>
              </a:rPr>
              <a:t>To ensure consistent success, we use </a:t>
            </a:r>
            <a:r>
              <a:rPr lang="en-US" sz="1200" b="1" kern="1200" dirty="0">
                <a:solidFill>
                  <a:schemeClr val="tx1"/>
                </a:solidFill>
                <a:effectLst/>
                <a:latin typeface="+mn-lt"/>
                <a:ea typeface="+mn-ea"/>
                <a:cs typeface="+mn-cs"/>
              </a:rPr>
              <a:t>The Decision Engine</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Context:</a:t>
            </a:r>
            <a:r>
              <a:rPr lang="en-US" sz="1200" kern="1200" dirty="0">
                <a:solidFill>
                  <a:schemeClr val="tx1"/>
                </a:solidFill>
                <a:effectLst/>
                <a:latin typeface="+mn-lt"/>
                <a:ea typeface="+mn-ea"/>
                <a:cs typeface="+mn-cs"/>
              </a:rPr>
              <a:t> Step back and understand the actual environment surrounding the decision. Ask: </a:t>
            </a:r>
            <a:r>
              <a:rPr lang="en-US" sz="1200" i="1" kern="1200" dirty="0">
                <a:solidFill>
                  <a:schemeClr val="tx1"/>
                </a:solidFill>
                <a:effectLst/>
                <a:latin typeface="+mn-lt"/>
                <a:ea typeface="+mn-ea"/>
                <a:cs typeface="+mn-cs"/>
              </a:rPr>
              <a:t>'What are we really talking about here?'</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Isolate:</a:t>
            </a:r>
            <a:r>
              <a:rPr lang="en-US" sz="1200" kern="1200" dirty="0">
                <a:solidFill>
                  <a:schemeClr val="tx1"/>
                </a:solidFill>
                <a:effectLst/>
                <a:latin typeface="+mn-lt"/>
                <a:ea typeface="+mn-ea"/>
                <a:cs typeface="+mn-cs"/>
              </a:rPr>
              <a:t> Extract the single core variable or issue. Define exactly what you want to execute. </a:t>
            </a:r>
          </a:p>
          <a:p>
            <a:pPr marL="228600" lvl="0" indent="-228600">
              <a:buFont typeface="+mj-lt"/>
              <a:buAutoNum type="arabicPeriod"/>
            </a:pPr>
            <a:r>
              <a:rPr lang="en-US" sz="1200" b="1" kern="1200" dirty="0">
                <a:solidFill>
                  <a:schemeClr val="tx1"/>
                </a:solidFill>
                <a:effectLst/>
                <a:latin typeface="+mn-lt"/>
                <a:ea typeface="+mn-ea"/>
                <a:cs typeface="+mn-cs"/>
              </a:rPr>
              <a:t>Risk:</a:t>
            </a:r>
            <a:r>
              <a:rPr lang="en-US" sz="1200" kern="1200" dirty="0">
                <a:solidFill>
                  <a:schemeClr val="tx1"/>
                </a:solidFill>
                <a:effectLst/>
                <a:latin typeface="+mn-lt"/>
                <a:ea typeface="+mn-ea"/>
                <a:cs typeface="+mn-cs"/>
              </a:rPr>
              <a:t> Explicitly accept the trade-offs. Recognize that </a:t>
            </a:r>
            <a:r>
              <a:rPr lang="en-US" sz="1200" i="1" kern="1200" dirty="0">
                <a:solidFill>
                  <a:schemeClr val="tx1"/>
                </a:solidFill>
                <a:effectLst/>
                <a:latin typeface="+mn-lt"/>
                <a:ea typeface="+mn-ea"/>
                <a:cs typeface="+mn-cs"/>
              </a:rPr>
              <a:t>'If we choose option X, we cannot execute A, B, or C'</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Map:</a:t>
            </a:r>
            <a:r>
              <a:rPr lang="en-US" sz="1200" kern="1200" dirty="0">
                <a:solidFill>
                  <a:schemeClr val="tx1"/>
                </a:solidFill>
                <a:effectLst/>
                <a:latin typeface="+mn-lt"/>
                <a:ea typeface="+mn-ea"/>
                <a:cs typeface="+mn-cs"/>
              </a:rPr>
              <a:t> Chart out the step-by-step execution roadmap required to achieve option X safely. </a:t>
            </a:r>
          </a:p>
          <a:p>
            <a:r>
              <a:rPr lang="en-US" sz="1200" kern="1200" dirty="0">
                <a:solidFill>
                  <a:schemeClr val="tx1"/>
                </a:solidFill>
                <a:effectLst/>
                <a:latin typeface="+mn-lt"/>
                <a:ea typeface="+mn-ea"/>
                <a:cs typeface="+mn-cs"/>
              </a:rPr>
              <a:t>Using this engine eliminates emotional decision-making and aligns your strategy with raw logic.</a:t>
            </a:r>
          </a:p>
          <a:p>
            <a:endParaRPr lang="en-US" dirty="0"/>
          </a:p>
        </p:txBody>
      </p:sp>
      <p:sp>
        <p:nvSpPr>
          <p:cNvPr id="4" name="Slide Number Placeholder 3"/>
          <p:cNvSpPr>
            <a:spLocks noGrp="1"/>
          </p:cNvSpPr>
          <p:nvPr>
            <p:ph type="sldNum" sz="quarter" idx="5"/>
          </p:nvPr>
        </p:nvSpPr>
        <p:spPr/>
        <p:txBody>
          <a:bodyPr/>
          <a:lstStyle/>
          <a:p>
            <a:fld id="{99885E16-9A34-44E1-A650-C2A3A78D45D9}" type="slidenum">
              <a:rPr lang="en-US" smtClean="0"/>
              <a:t>3</a:t>
            </a:fld>
            <a:endParaRPr lang="en-US"/>
          </a:p>
        </p:txBody>
      </p:sp>
    </p:spTree>
    <p:extLst>
      <p:ext uri="{BB962C8B-B14F-4D97-AF65-F5344CB8AC3E}">
        <p14:creationId xmlns:p14="http://schemas.microsoft.com/office/powerpoint/2010/main" val="1557198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mainstream financial world has conditioned us to believe financial freedom is a massive pile of cash waiting for us at age 65. That model is flawed. </a:t>
            </a:r>
          </a:p>
          <a:p>
            <a:r>
              <a:rPr lang="en-US" sz="1200" kern="1200" dirty="0">
                <a:solidFill>
                  <a:schemeClr val="tx1"/>
                </a:solidFill>
                <a:effectLst/>
                <a:latin typeface="+mn-lt"/>
                <a:ea typeface="+mn-ea"/>
                <a:cs typeface="+mn-cs"/>
              </a:rPr>
              <a:t>Real Financial Freedom happens the exact moment </a:t>
            </a:r>
            <a:r>
              <a:rPr lang="en-US" sz="1200" b="1" kern="1200" dirty="0">
                <a:solidFill>
                  <a:schemeClr val="tx1"/>
                </a:solidFill>
                <a:effectLst/>
                <a:latin typeface="+mn-lt"/>
                <a:ea typeface="+mn-ea"/>
                <a:cs typeface="+mn-cs"/>
              </a:rPr>
              <a:t>Passive Income exceeds your Monthly Expenses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Monthly Expenses</a:t>
            </a:r>
            <a:r>
              <a:rPr lang="en-US" sz="1200" kern="1200" dirty="0">
                <a:solidFill>
                  <a:schemeClr val="tx1"/>
                </a:solidFill>
                <a:effectLst/>
                <a:latin typeface="+mn-lt"/>
                <a:ea typeface="+mn-ea"/>
                <a:cs typeface="+mn-cs"/>
              </a:rPr>
              <a:t> represent your structural baseline cost of living.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Passive Income</a:t>
            </a:r>
            <a:r>
              <a:rPr lang="en-US" sz="1200" kern="1200" dirty="0">
                <a:solidFill>
                  <a:schemeClr val="tx1"/>
                </a:solidFill>
                <a:effectLst/>
                <a:latin typeface="+mn-lt"/>
                <a:ea typeface="+mn-ea"/>
                <a:cs typeface="+mn-cs"/>
              </a:rPr>
              <a:t> isn't a scam or free money; it is </a:t>
            </a:r>
            <a:r>
              <a:rPr lang="en-US" sz="1200" b="1" kern="1200" dirty="0">
                <a:solidFill>
                  <a:schemeClr val="tx1"/>
                </a:solidFill>
                <a:effectLst/>
                <a:latin typeface="+mn-lt"/>
                <a:ea typeface="+mn-ea"/>
                <a:cs typeface="+mn-cs"/>
              </a:rPr>
              <a:t>pre-funded income</a:t>
            </a:r>
            <a:r>
              <a:rPr lang="en-US" sz="1200" kern="1200" dirty="0">
                <a:solidFill>
                  <a:schemeClr val="tx1"/>
                </a:solidFill>
                <a:effectLst/>
                <a:latin typeface="+mn-lt"/>
                <a:ea typeface="+mn-ea"/>
                <a:cs typeface="+mn-cs"/>
              </a:rPr>
              <a:t> generated by upfront capital or concentrated effort. </a:t>
            </a:r>
          </a:p>
          <a:p>
            <a:r>
              <a:rPr lang="en-US" sz="1200" kern="1200" dirty="0">
                <a:solidFill>
                  <a:schemeClr val="tx1"/>
                </a:solidFill>
                <a:effectLst/>
                <a:latin typeface="+mn-lt"/>
                <a:ea typeface="+mn-ea"/>
                <a:cs typeface="+mn-cs"/>
              </a:rPr>
              <a:t>When your pre-funded cash flow covers your baseline expenses, you stop trading time for survival. You wake up every morning with total agency, asking yourself: </a:t>
            </a:r>
            <a:r>
              <a:rPr lang="en-US" sz="1200" i="1" kern="1200" dirty="0">
                <a:solidFill>
                  <a:schemeClr val="tx1"/>
                </a:solidFill>
                <a:effectLst/>
                <a:latin typeface="+mn-lt"/>
                <a:ea typeface="+mn-ea"/>
                <a:cs typeface="+mn-cs"/>
              </a:rPr>
              <a:t>'What would I like to do today?'</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99885E16-9A34-44E1-A650-C2A3A78D45D9}" type="slidenum">
              <a:rPr lang="en-US" smtClean="0"/>
              <a:t>4</a:t>
            </a:fld>
            <a:endParaRPr lang="en-US"/>
          </a:p>
        </p:txBody>
      </p:sp>
    </p:spTree>
    <p:extLst>
      <p:ext uri="{BB962C8B-B14F-4D97-AF65-F5344CB8AC3E}">
        <p14:creationId xmlns:p14="http://schemas.microsoft.com/office/powerpoint/2010/main" val="4126299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we structurally reach that point? We climb </a:t>
            </a:r>
            <a:r>
              <a:rPr lang="en-US" sz="1200" b="1" kern="1200" dirty="0">
                <a:solidFill>
                  <a:schemeClr val="tx1"/>
                </a:solidFill>
                <a:effectLst/>
                <a:latin typeface="+mn-lt"/>
                <a:ea typeface="+mn-ea"/>
                <a:cs typeface="+mn-cs"/>
              </a:rPr>
              <a:t>The Wealth Ladder</a:t>
            </a:r>
            <a:r>
              <a:rPr lang="en-US" sz="1200" kern="1200" dirty="0">
                <a:solidFill>
                  <a:schemeClr val="tx1"/>
                </a:solidFill>
                <a:effectLst/>
                <a:latin typeface="+mn-lt"/>
                <a:ea typeface="+mn-ea"/>
                <a:cs typeface="+mn-cs"/>
              </a:rPr>
              <a:t> rung by rung: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Rung 1: Cover the Baseline.</a:t>
            </a:r>
            <a:r>
              <a:rPr lang="en-US" sz="1200" kern="1200" dirty="0">
                <a:solidFill>
                  <a:schemeClr val="tx1"/>
                </a:solidFill>
                <a:effectLst/>
                <a:latin typeface="+mn-lt"/>
                <a:ea typeface="+mn-ea"/>
                <a:cs typeface="+mn-cs"/>
              </a:rPr>
              <a:t> Ensure Active Income &gt; Monthly Expenses. If it isn't, cut expenses or aggressively upskill to boost your income.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Rung 2: Manage the Surplus.</a:t>
            </a:r>
            <a:r>
              <a:rPr lang="en-US" sz="1200" kern="1200" dirty="0">
                <a:solidFill>
                  <a:schemeClr val="tx1"/>
                </a:solidFill>
                <a:effectLst/>
                <a:latin typeface="+mn-lt"/>
                <a:ea typeface="+mn-ea"/>
                <a:cs typeface="+mn-cs"/>
              </a:rPr>
              <a:t> Build a 'Money Factory'. Give every single dollar a job using automated distribution systems, such as the 70/20/10 rule (70% lifestyle, 20% savings, 10% investing).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Rung 3: Acquire TIGAS.</a:t>
            </a:r>
            <a:r>
              <a:rPr lang="en-US" sz="1200" kern="1200" dirty="0">
                <a:solidFill>
                  <a:schemeClr val="tx1"/>
                </a:solidFill>
                <a:effectLst/>
                <a:latin typeface="+mn-lt"/>
                <a:ea typeface="+mn-ea"/>
                <a:cs typeface="+mn-cs"/>
              </a:rPr>
              <a:t> Deploy your surplus into </a:t>
            </a:r>
            <a:r>
              <a:rPr lang="en-US" sz="1200" b="1" kern="1200" dirty="0">
                <a:solidFill>
                  <a:schemeClr val="tx1"/>
                </a:solidFill>
                <a:effectLst/>
                <a:latin typeface="+mn-lt"/>
                <a:ea typeface="+mn-ea"/>
                <a:cs typeface="+mn-cs"/>
              </a:rPr>
              <a:t>Tiny Income Generating Assets</a:t>
            </a:r>
            <a:r>
              <a:rPr lang="en-US" sz="1200" kern="1200" dirty="0">
                <a:solidFill>
                  <a:schemeClr val="tx1"/>
                </a:solidFill>
                <a:effectLst/>
                <a:latin typeface="+mn-lt"/>
                <a:ea typeface="+mn-ea"/>
                <a:cs typeface="+mn-cs"/>
              </a:rPr>
              <a:t> (like index funds, ETFs, or fractional real estate).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Rung 4: Achieve True Freedom.</a:t>
            </a:r>
            <a:r>
              <a:rPr lang="en-US" sz="1200" kern="1200" dirty="0">
                <a:solidFill>
                  <a:schemeClr val="tx1"/>
                </a:solidFill>
                <a:effectLst/>
                <a:latin typeface="+mn-lt"/>
                <a:ea typeface="+mn-ea"/>
                <a:cs typeface="+mn-cs"/>
              </a:rPr>
              <a:t> Stack those TIGAS until your Passive Income completely overshadows your Monthly Expenses. </a:t>
            </a:r>
          </a:p>
          <a:p>
            <a:r>
              <a:rPr lang="en-US" sz="1200" kern="1200" dirty="0">
                <a:solidFill>
                  <a:schemeClr val="tx1"/>
                </a:solidFill>
                <a:effectLst/>
                <a:latin typeface="+mn-lt"/>
                <a:ea typeface="+mn-ea"/>
                <a:cs typeface="+mn-cs"/>
              </a:rPr>
              <a:t>Climbing this ladder strips away market noise and gives you a clear target at every stage.</a:t>
            </a:r>
          </a:p>
          <a:p>
            <a:endParaRPr lang="en-US" dirty="0"/>
          </a:p>
        </p:txBody>
      </p:sp>
      <p:sp>
        <p:nvSpPr>
          <p:cNvPr id="4" name="Slide Number Placeholder 3"/>
          <p:cNvSpPr>
            <a:spLocks noGrp="1"/>
          </p:cNvSpPr>
          <p:nvPr>
            <p:ph type="sldNum" sz="quarter" idx="5"/>
          </p:nvPr>
        </p:nvSpPr>
        <p:spPr/>
        <p:txBody>
          <a:bodyPr/>
          <a:lstStyle/>
          <a:p>
            <a:fld id="{99885E16-9A34-44E1-A650-C2A3A78D45D9}" type="slidenum">
              <a:rPr lang="en-US" smtClean="0"/>
              <a:t>5</a:t>
            </a:fld>
            <a:endParaRPr lang="en-US"/>
          </a:p>
        </p:txBody>
      </p:sp>
    </p:spTree>
    <p:extLst>
      <p:ext uri="{BB962C8B-B14F-4D97-AF65-F5344CB8AC3E}">
        <p14:creationId xmlns:p14="http://schemas.microsoft.com/office/powerpoint/2010/main" val="2609155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Law #1 states: </a:t>
            </a:r>
            <a:r>
              <a:rPr lang="en-US" sz="1200" b="1" kern="1200" dirty="0">
                <a:solidFill>
                  <a:schemeClr val="tx1"/>
                </a:solidFill>
                <a:effectLst/>
                <a:latin typeface="+mn-lt"/>
                <a:ea typeface="+mn-ea"/>
                <a:cs typeface="+mn-cs"/>
              </a:rPr>
              <a:t>Money loves speed, but Wealth loves time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Consider two investors: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Investor A (Speed):</a:t>
            </a:r>
            <a:r>
              <a:rPr lang="en-US" sz="1200" kern="1200" dirty="0">
                <a:solidFill>
                  <a:schemeClr val="tx1"/>
                </a:solidFill>
                <a:effectLst/>
                <a:latin typeface="+mn-lt"/>
                <a:ea typeface="+mn-ea"/>
                <a:cs typeface="+mn-cs"/>
              </a:rPr>
              <a:t> Flipping 50 homes a year. On paper, it generates fast cash. But because of heavy tax drag and constant capital recycling, Investor A remains chronically cash-strapped.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Investor B (Time):</a:t>
            </a:r>
            <a:r>
              <a:rPr lang="en-US" sz="1200" kern="1200" dirty="0">
                <a:solidFill>
                  <a:schemeClr val="tx1"/>
                </a:solidFill>
                <a:effectLst/>
                <a:latin typeface="+mn-lt"/>
                <a:ea typeface="+mn-ea"/>
                <a:cs typeface="+mn-cs"/>
              </a:rPr>
              <a:t> Following the Arnold Schwarzenegger approach—buying a single duplex, holding it, letting time compound the asset, and refinancing into a 4-plex and eventually 12 units. </a:t>
            </a:r>
          </a:p>
          <a:p>
            <a:r>
              <a:rPr lang="en-US" sz="1200" kern="1200" dirty="0">
                <a:solidFill>
                  <a:schemeClr val="tx1"/>
                </a:solidFill>
                <a:effectLst/>
                <a:latin typeface="+mn-lt"/>
                <a:ea typeface="+mn-ea"/>
                <a:cs typeface="+mn-cs"/>
              </a:rPr>
              <a:t>Over 5 years, Investor B accumulates </a:t>
            </a:r>
            <a:r>
              <a:rPr lang="en-US" sz="1200" b="1" kern="1200" dirty="0">
                <a:solidFill>
                  <a:schemeClr val="tx1"/>
                </a:solidFill>
                <a:effectLst/>
                <a:latin typeface="+mn-lt"/>
                <a:ea typeface="+mn-ea"/>
                <a:cs typeface="+mn-cs"/>
              </a:rPr>
              <a:t>5 times the net worth</a:t>
            </a:r>
            <a:r>
              <a:rPr lang="en-US" sz="1200" kern="1200" dirty="0">
                <a:solidFill>
                  <a:schemeClr val="tx1"/>
                </a:solidFill>
                <a:effectLst/>
                <a:latin typeface="+mn-lt"/>
                <a:ea typeface="+mn-ea"/>
                <a:cs typeface="+mn-cs"/>
              </a:rPr>
              <a:t> of Investor A with far less operational friction. Rapid transactions generate short-term income, but holding compounding assets over time builds generational wealth.</a:t>
            </a:r>
          </a:p>
          <a:p>
            <a:endParaRPr lang="en-US" dirty="0"/>
          </a:p>
        </p:txBody>
      </p:sp>
      <p:sp>
        <p:nvSpPr>
          <p:cNvPr id="4" name="Slide Number Placeholder 3"/>
          <p:cNvSpPr>
            <a:spLocks noGrp="1"/>
          </p:cNvSpPr>
          <p:nvPr>
            <p:ph type="sldNum" sz="quarter" idx="5"/>
          </p:nvPr>
        </p:nvSpPr>
        <p:spPr/>
        <p:txBody>
          <a:bodyPr/>
          <a:lstStyle/>
          <a:p>
            <a:fld id="{99885E16-9A34-44E1-A650-C2A3A78D45D9}" type="slidenum">
              <a:rPr lang="en-US" smtClean="0"/>
              <a:t>6</a:t>
            </a:fld>
            <a:endParaRPr lang="en-US"/>
          </a:p>
        </p:txBody>
      </p:sp>
    </p:spTree>
    <p:extLst>
      <p:ext uri="{BB962C8B-B14F-4D97-AF65-F5344CB8AC3E}">
        <p14:creationId xmlns:p14="http://schemas.microsoft.com/office/powerpoint/2010/main" val="34655810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Telling people to cut up their credit cards is like telling someone who bought a car to never drive again because driving can be dangerous. Debt is not inherently evil—it is simply a financial vehicle.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Liability Path:</a:t>
            </a:r>
            <a:r>
              <a:rPr lang="en-US" sz="1200" kern="1200" dirty="0">
                <a:solidFill>
                  <a:schemeClr val="tx1"/>
                </a:solidFill>
                <a:effectLst/>
                <a:latin typeface="+mn-lt"/>
                <a:ea typeface="+mn-ea"/>
                <a:cs typeface="+mn-cs"/>
              </a:rPr>
              <a:t> Using debt (e.g., credit cards) for discretionary expenses like luxury trips or consumer electronics.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Asset Path:</a:t>
            </a:r>
            <a:r>
              <a:rPr lang="en-US" sz="1200" kern="1200" dirty="0">
                <a:solidFill>
                  <a:schemeClr val="tx1"/>
                </a:solidFill>
                <a:effectLst/>
                <a:latin typeface="+mn-lt"/>
                <a:ea typeface="+mn-ea"/>
                <a:cs typeface="+mn-cs"/>
              </a:rPr>
              <a:t> Utilizing 0% introductory credit cards to acquire income-producing assets (like securing a rental property down payment). </a:t>
            </a:r>
          </a:p>
          <a:p>
            <a:r>
              <a:rPr lang="en-US" sz="1200" kern="1200" dirty="0">
                <a:solidFill>
                  <a:schemeClr val="tx1"/>
                </a:solidFill>
                <a:effectLst/>
                <a:latin typeface="+mn-lt"/>
                <a:ea typeface="+mn-ea"/>
                <a:cs typeface="+mn-cs"/>
              </a:rPr>
              <a:t>To manage leverage, apply </a:t>
            </a:r>
            <a:r>
              <a:rPr lang="en-US" sz="1200" b="1" kern="1200" dirty="0">
                <a:solidFill>
                  <a:schemeClr val="tx1"/>
                </a:solidFill>
                <a:effectLst/>
                <a:latin typeface="+mn-lt"/>
                <a:ea typeface="+mn-ea"/>
                <a:cs typeface="+mn-cs"/>
              </a:rPr>
              <a:t>The Congruence Test</a:t>
            </a:r>
            <a:r>
              <a:rPr lang="en-US" sz="1200" kern="1200" dirty="0">
                <a:solidFill>
                  <a:schemeClr val="tx1"/>
                </a:solidFill>
                <a:effectLst/>
                <a:latin typeface="+mn-lt"/>
                <a:ea typeface="+mn-ea"/>
                <a:cs typeface="+mn-cs"/>
              </a:rPr>
              <a:t> across your Past, Present, and Future selves: </a:t>
            </a:r>
          </a:p>
          <a:p>
            <a:pPr marL="228600" lvl="0" indent="-228600">
              <a:buFont typeface="+mj-lt"/>
              <a:buAutoNum type="arabicPeriod"/>
            </a:pPr>
            <a:r>
              <a:rPr lang="en-US" sz="1200" i="1" kern="1200" dirty="0">
                <a:solidFill>
                  <a:schemeClr val="tx1"/>
                </a:solidFill>
                <a:effectLst/>
                <a:latin typeface="+mn-lt"/>
                <a:ea typeface="+mn-ea"/>
                <a:cs typeface="+mn-cs"/>
              </a:rPr>
              <a:t>Past Self</a:t>
            </a:r>
            <a:r>
              <a:rPr lang="en-US" sz="1200" kern="1200" dirty="0">
                <a:solidFill>
                  <a:schemeClr val="tx1"/>
                </a:solidFill>
                <a:effectLst/>
                <a:latin typeface="+mn-lt"/>
                <a:ea typeface="+mn-ea"/>
                <a:cs typeface="+mn-cs"/>
              </a:rPr>
              <a:t> takes on leverage strategically. </a:t>
            </a:r>
          </a:p>
          <a:p>
            <a:pPr marL="228600" lvl="0" indent="-228600">
              <a:buFont typeface="+mj-lt"/>
              <a:buAutoNum type="arabicPeriod"/>
            </a:pPr>
            <a:r>
              <a:rPr lang="en-US" sz="1200" i="1" kern="1200" dirty="0">
                <a:solidFill>
                  <a:schemeClr val="tx1"/>
                </a:solidFill>
                <a:effectLst/>
                <a:latin typeface="+mn-lt"/>
                <a:ea typeface="+mn-ea"/>
                <a:cs typeface="+mn-cs"/>
              </a:rPr>
              <a:t>Present Self</a:t>
            </a:r>
            <a:r>
              <a:rPr lang="en-US" sz="1200" kern="1200" dirty="0">
                <a:solidFill>
                  <a:schemeClr val="tx1"/>
                </a:solidFill>
                <a:effectLst/>
                <a:latin typeface="+mn-lt"/>
                <a:ea typeface="+mn-ea"/>
                <a:cs typeface="+mn-cs"/>
              </a:rPr>
              <a:t> puts in the work to manage it. </a:t>
            </a:r>
          </a:p>
          <a:p>
            <a:pPr marL="228600" lvl="0" indent="-228600">
              <a:buFont typeface="+mj-lt"/>
              <a:buAutoNum type="arabicPeriod"/>
            </a:pPr>
            <a:r>
              <a:rPr lang="en-US" sz="1200" i="1" kern="1200" dirty="0">
                <a:solidFill>
                  <a:schemeClr val="tx1"/>
                </a:solidFill>
                <a:effectLst/>
                <a:latin typeface="+mn-lt"/>
                <a:ea typeface="+mn-ea"/>
                <a:cs typeface="+mn-cs"/>
              </a:rPr>
              <a:t>Future Self</a:t>
            </a:r>
            <a:r>
              <a:rPr lang="en-US" sz="1200" kern="1200" dirty="0">
                <a:solidFill>
                  <a:schemeClr val="tx1"/>
                </a:solidFill>
                <a:effectLst/>
                <a:latin typeface="+mn-lt"/>
                <a:ea typeface="+mn-ea"/>
                <a:cs typeface="+mn-cs"/>
              </a:rPr>
              <a:t> reaps the cash flow dividends. If debt buys liabilities, your future self is punished; if it buys cash-flowing assets, your future self is freed.</a:t>
            </a:r>
          </a:p>
          <a:p>
            <a:endParaRPr lang="en-US" dirty="0"/>
          </a:p>
        </p:txBody>
      </p:sp>
      <p:sp>
        <p:nvSpPr>
          <p:cNvPr id="4" name="Slide Number Placeholder 3"/>
          <p:cNvSpPr>
            <a:spLocks noGrp="1"/>
          </p:cNvSpPr>
          <p:nvPr>
            <p:ph type="sldNum" sz="quarter" idx="5"/>
          </p:nvPr>
        </p:nvSpPr>
        <p:spPr/>
        <p:txBody>
          <a:bodyPr/>
          <a:lstStyle/>
          <a:p>
            <a:fld id="{99885E16-9A34-44E1-A650-C2A3A78D45D9}" type="slidenum">
              <a:rPr lang="en-US" smtClean="0"/>
              <a:t>7</a:t>
            </a:fld>
            <a:endParaRPr lang="en-US"/>
          </a:p>
        </p:txBody>
      </p:sp>
    </p:spTree>
    <p:extLst>
      <p:ext uri="{BB962C8B-B14F-4D97-AF65-F5344CB8AC3E}">
        <p14:creationId xmlns:p14="http://schemas.microsoft.com/office/powerpoint/2010/main" val="5079865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are only two main stairways guaranteed to build wealth in the modern financial system: </a:t>
            </a:r>
            <a:r>
              <a:rPr lang="en-US" sz="1200" b="1" kern="1200" dirty="0">
                <a:solidFill>
                  <a:schemeClr val="tx1"/>
                </a:solidFill>
                <a:effectLst/>
                <a:latin typeface="+mn-lt"/>
                <a:ea typeface="+mn-ea"/>
                <a:cs typeface="+mn-cs"/>
              </a:rPr>
              <a:t>Companies and Real Estate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Companies (e.g., Ticker: VOO):</a:t>
            </a:r>
            <a:r>
              <a:rPr lang="en-US" sz="1200" kern="1200" dirty="0">
                <a:solidFill>
                  <a:schemeClr val="tx1"/>
                </a:solidFill>
                <a:effectLst/>
                <a:latin typeface="+mn-lt"/>
                <a:ea typeface="+mn-ea"/>
                <a:cs typeface="+mn-cs"/>
              </a:rPr>
              <a:t> The top 1% of the world owns nearly 40% of all global equities.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Real Estate (e.g., Ticker: VNQ):</a:t>
            </a:r>
            <a:r>
              <a:rPr lang="en-US" sz="1200" kern="1200" dirty="0">
                <a:solidFill>
                  <a:schemeClr val="tx1"/>
                </a:solidFill>
                <a:effectLst/>
                <a:latin typeface="+mn-lt"/>
                <a:ea typeface="+mn-ea"/>
                <a:cs typeface="+mn-cs"/>
              </a:rPr>
              <a:t> The U.S. tax code is engineered specifically to reward real estate owners. </a:t>
            </a:r>
          </a:p>
          <a:p>
            <a:r>
              <a:rPr lang="en-US" sz="1200" kern="1200" dirty="0">
                <a:solidFill>
                  <a:schemeClr val="tx1"/>
                </a:solidFill>
                <a:effectLst/>
                <a:latin typeface="+mn-lt"/>
                <a:ea typeface="+mn-ea"/>
                <a:cs typeface="+mn-cs"/>
              </a:rPr>
              <a:t>You don't need millions to enter these markets. Take </a:t>
            </a:r>
            <a:r>
              <a:rPr lang="en-US" sz="1200" b="1" kern="1200" dirty="0">
                <a:solidFill>
                  <a:schemeClr val="tx1"/>
                </a:solidFill>
                <a:effectLst/>
                <a:latin typeface="+mn-lt"/>
                <a:ea typeface="+mn-ea"/>
                <a:cs typeface="+mn-cs"/>
              </a:rPr>
              <a:t>The 14-Year-Old Blueprint</a:t>
            </a:r>
            <a:r>
              <a:rPr lang="en-US" sz="1200" kern="1200" dirty="0">
                <a:solidFill>
                  <a:schemeClr val="tx1"/>
                </a:solidFill>
                <a:effectLst/>
                <a:latin typeface="+mn-lt"/>
                <a:ea typeface="+mn-ea"/>
                <a:cs typeface="+mn-cs"/>
              </a:rPr>
              <a:t>: start fractional access immediately by putting small amounts into broad index ETFs (VOO and VNQ). Build principal in these core asset classes, gain comfort, and eventually roll that capital into direct real estate syndications or private company equity.</a:t>
            </a:r>
          </a:p>
          <a:p>
            <a:endParaRPr lang="en-US" dirty="0"/>
          </a:p>
        </p:txBody>
      </p:sp>
      <p:sp>
        <p:nvSpPr>
          <p:cNvPr id="4" name="Slide Number Placeholder 3"/>
          <p:cNvSpPr>
            <a:spLocks noGrp="1"/>
          </p:cNvSpPr>
          <p:nvPr>
            <p:ph type="sldNum" sz="quarter" idx="5"/>
          </p:nvPr>
        </p:nvSpPr>
        <p:spPr/>
        <p:txBody>
          <a:bodyPr/>
          <a:lstStyle/>
          <a:p>
            <a:fld id="{99885E16-9A34-44E1-A650-C2A3A78D45D9}" type="slidenum">
              <a:rPr lang="en-US" smtClean="0"/>
              <a:t>8</a:t>
            </a:fld>
            <a:endParaRPr lang="en-US"/>
          </a:p>
        </p:txBody>
      </p:sp>
    </p:spTree>
    <p:extLst>
      <p:ext uri="{BB962C8B-B14F-4D97-AF65-F5344CB8AC3E}">
        <p14:creationId xmlns:p14="http://schemas.microsoft.com/office/powerpoint/2010/main" val="37002076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Before deploying capital, you must identify where you sit within </a:t>
            </a:r>
            <a:r>
              <a:rPr lang="en-US" sz="1200" b="1" kern="1200" dirty="0">
                <a:solidFill>
                  <a:schemeClr val="tx1"/>
                </a:solidFill>
                <a:effectLst/>
                <a:latin typeface="+mn-lt"/>
                <a:ea typeface="+mn-ea"/>
                <a:cs typeface="+mn-cs"/>
              </a:rPr>
              <a:t>The Investor Trinity</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Active Investor:</a:t>
            </a:r>
            <a:r>
              <a:rPr lang="en-US" sz="1200" kern="1200" dirty="0">
                <a:solidFill>
                  <a:schemeClr val="tx1"/>
                </a:solidFill>
                <a:effectLst/>
                <a:latin typeface="+mn-lt"/>
                <a:ea typeface="+mn-ea"/>
                <a:cs typeface="+mn-cs"/>
              </a:rPr>
              <a:t> Full-time operator. High potential returns, maximum effort. </a:t>
            </a:r>
          </a:p>
          <a:p>
            <a:pPr marL="228600" lvl="0" indent="-228600">
              <a:buFont typeface="+mj-lt"/>
              <a:buAutoNum type="arabicPeriod"/>
            </a:pPr>
            <a:r>
              <a:rPr lang="en-US" sz="1200" b="1" kern="1200" dirty="0">
                <a:solidFill>
                  <a:schemeClr val="tx1"/>
                </a:solidFill>
                <a:effectLst/>
                <a:latin typeface="+mn-lt"/>
                <a:ea typeface="+mn-ea"/>
                <a:cs typeface="+mn-cs"/>
              </a:rPr>
              <a:t>Thematic Investor:</a:t>
            </a:r>
            <a:r>
              <a:rPr lang="en-US" sz="1200" kern="1200" dirty="0">
                <a:solidFill>
                  <a:schemeClr val="tx1"/>
                </a:solidFill>
                <a:effectLst/>
                <a:latin typeface="+mn-lt"/>
                <a:ea typeface="+mn-ea"/>
                <a:cs typeface="+mn-cs"/>
              </a:rPr>
              <a:t> Bets on long-term technological or macro trends (like AI or renewable tech) and tolerates market volatility. </a:t>
            </a:r>
          </a:p>
          <a:p>
            <a:pPr marL="228600" lvl="0" indent="-228600">
              <a:buFont typeface="+mj-lt"/>
              <a:buAutoNum type="arabicPeriod"/>
            </a:pPr>
            <a:r>
              <a:rPr lang="en-US" sz="1200" b="1" kern="1200" dirty="0">
                <a:solidFill>
                  <a:schemeClr val="tx1"/>
                </a:solidFill>
                <a:effectLst/>
                <a:latin typeface="+mn-lt"/>
                <a:ea typeface="+mn-ea"/>
                <a:cs typeface="+mn-cs"/>
              </a:rPr>
              <a:t>Passive Investor:</a:t>
            </a:r>
            <a:r>
              <a:rPr lang="en-US" sz="1200" kern="1200" dirty="0">
                <a:solidFill>
                  <a:schemeClr val="tx1"/>
                </a:solidFill>
                <a:effectLst/>
                <a:latin typeface="+mn-lt"/>
                <a:ea typeface="+mn-ea"/>
                <a:cs typeface="+mn-cs"/>
              </a:rPr>
              <a:t> Allocates capital to Active Investors. </a:t>
            </a:r>
          </a:p>
          <a:p>
            <a:r>
              <a:rPr lang="en-US" sz="1200" b="1" kern="1200" dirty="0">
                <a:solidFill>
                  <a:schemeClr val="tx1"/>
                </a:solidFill>
                <a:effectLst/>
                <a:latin typeface="+mn-lt"/>
                <a:ea typeface="+mn-ea"/>
                <a:cs typeface="+mn-cs"/>
              </a:rPr>
              <a:t>Critical Rule: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If an investment is passive for you, it MUST be active for someone else</a:t>
            </a:r>
            <a:r>
              <a:rPr lang="en-US" sz="1200" kern="1200" dirty="0">
                <a:solidFill>
                  <a:schemeClr val="tx1"/>
                </a:solidFill>
                <a:effectLst/>
                <a:latin typeface="+mn-lt"/>
                <a:ea typeface="+mn-ea"/>
                <a:cs typeface="+mn-cs"/>
              </a:rPr>
              <a:t>. A major mistake families make is hiring a fractional financial advisor with 300 clients to serve as their dedicated family CFO. If no one is actively stewarding your specific nest egg, your capital is vulnerable.</a:t>
            </a:r>
          </a:p>
          <a:p>
            <a:endParaRPr lang="en-US" dirty="0"/>
          </a:p>
        </p:txBody>
      </p:sp>
      <p:sp>
        <p:nvSpPr>
          <p:cNvPr id="4" name="Slide Number Placeholder 3"/>
          <p:cNvSpPr>
            <a:spLocks noGrp="1"/>
          </p:cNvSpPr>
          <p:nvPr>
            <p:ph type="sldNum" sz="quarter" idx="5"/>
          </p:nvPr>
        </p:nvSpPr>
        <p:spPr/>
        <p:txBody>
          <a:bodyPr/>
          <a:lstStyle/>
          <a:p>
            <a:fld id="{99885E16-9A34-44E1-A650-C2A3A78D45D9}" type="slidenum">
              <a:rPr lang="en-US" smtClean="0"/>
              <a:t>9</a:t>
            </a:fld>
            <a:endParaRPr lang="en-US"/>
          </a:p>
        </p:txBody>
      </p:sp>
    </p:spTree>
    <p:extLst>
      <p:ext uri="{BB962C8B-B14F-4D97-AF65-F5344CB8AC3E}">
        <p14:creationId xmlns:p14="http://schemas.microsoft.com/office/powerpoint/2010/main" val="2126832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Charlie Munger noted that building wealth is often less about brilliant moves and more about avoiding mistakes. We face </a:t>
            </a:r>
            <a:r>
              <a:rPr lang="en-US" sz="1200" b="1" kern="1200" dirty="0">
                <a:solidFill>
                  <a:schemeClr val="tx1"/>
                </a:solidFill>
                <a:effectLst/>
                <a:latin typeface="+mn-lt"/>
                <a:ea typeface="+mn-ea"/>
                <a:cs typeface="+mn-cs"/>
              </a:rPr>
              <a:t>4 Money Monsters</a:t>
            </a:r>
            <a:r>
              <a:rPr lang="en-US" sz="1200" kern="1200" dirty="0">
                <a:solidFill>
                  <a:schemeClr val="tx1"/>
                </a:solidFill>
                <a:effectLst/>
                <a:latin typeface="+mn-lt"/>
                <a:ea typeface="+mn-ea"/>
                <a:cs typeface="+mn-cs"/>
              </a:rPr>
              <a:t> that quietly erode wealth: </a:t>
            </a:r>
          </a:p>
          <a:p>
            <a:pPr marL="228600" lvl="0" indent="-228600">
              <a:buFont typeface="+mj-lt"/>
              <a:buAutoNum type="arabicPeriod"/>
            </a:pPr>
            <a:r>
              <a:rPr lang="en-US" sz="1200" b="1" kern="1200" dirty="0">
                <a:solidFill>
                  <a:schemeClr val="tx1"/>
                </a:solidFill>
                <a:effectLst/>
                <a:latin typeface="+mn-lt"/>
                <a:ea typeface="+mn-ea"/>
                <a:cs typeface="+mn-cs"/>
              </a:rPr>
              <a:t>Inflation:</a:t>
            </a:r>
            <a:r>
              <a:rPr lang="en-US" sz="1200" kern="1200" dirty="0">
                <a:solidFill>
                  <a:schemeClr val="tx1"/>
                </a:solidFill>
                <a:effectLst/>
                <a:latin typeface="+mn-lt"/>
                <a:ea typeface="+mn-ea"/>
                <a:cs typeface="+mn-cs"/>
              </a:rPr>
              <a:t> The silent tax. </a:t>
            </a:r>
            <a:r>
              <a:rPr lang="en-US" sz="1200" i="1" kern="1200" dirty="0">
                <a:solidFill>
                  <a:schemeClr val="tx1"/>
                </a:solidFill>
                <a:effectLst/>
                <a:latin typeface="+mn-lt"/>
                <a:ea typeface="+mn-ea"/>
                <a:cs typeface="+mn-cs"/>
              </a:rPr>
              <a:t>(Defense: High-Yield Savings or TIPS - Treasury Inflation-Protected Securities)</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Taxes:</a:t>
            </a:r>
            <a:r>
              <a:rPr lang="en-US" sz="1200" kern="1200" dirty="0">
                <a:solidFill>
                  <a:schemeClr val="tx1"/>
                </a:solidFill>
                <a:effectLst/>
                <a:latin typeface="+mn-lt"/>
                <a:ea typeface="+mn-ea"/>
                <a:cs typeface="+mn-cs"/>
              </a:rPr>
              <a:t> The biggest drag on capital. Over 5,700 pages of the tax code exist to detail legal tax incentives and deductions. </a:t>
            </a:r>
            <a:r>
              <a:rPr lang="en-US" sz="1200" i="1" kern="1200" dirty="0">
                <a:solidFill>
                  <a:schemeClr val="tx1"/>
                </a:solidFill>
                <a:effectLst/>
                <a:latin typeface="+mn-lt"/>
                <a:ea typeface="+mn-ea"/>
                <a:cs typeface="+mn-cs"/>
              </a:rPr>
              <a:t>(Defense: Real Estate and Tax Strategists)</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Interruption:</a:t>
            </a:r>
            <a:r>
              <a:rPr lang="en-US" sz="1200" kern="1200" dirty="0">
                <a:solidFill>
                  <a:schemeClr val="tx1"/>
                </a:solidFill>
                <a:effectLst/>
                <a:latin typeface="+mn-lt"/>
                <a:ea typeface="+mn-ea"/>
                <a:cs typeface="+mn-cs"/>
              </a:rPr>
              <a:t> Pulling capital out during down-markets. Missing just the 12 best market days in a year can eliminate annual gains. </a:t>
            </a:r>
            <a:r>
              <a:rPr lang="en-US" sz="1200" i="1" kern="1200" dirty="0">
                <a:solidFill>
                  <a:schemeClr val="tx1"/>
                </a:solidFill>
                <a:effectLst/>
                <a:latin typeface="+mn-lt"/>
                <a:ea typeface="+mn-ea"/>
                <a:cs typeface="+mn-cs"/>
              </a:rPr>
              <a:t>(Defense: Hold principal intact)</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Fees:</a:t>
            </a:r>
            <a:r>
              <a:rPr lang="en-US" sz="1200" kern="1200" dirty="0">
                <a:solidFill>
                  <a:schemeClr val="tx1"/>
                </a:solidFill>
                <a:effectLst/>
                <a:latin typeface="+mn-lt"/>
                <a:ea typeface="+mn-ea"/>
                <a:cs typeface="+mn-cs"/>
              </a:rPr>
              <a:t> A 1% advisory fee on $1M over 20 years forfeits roughly $1,000,000 in lost compounding growth. </a:t>
            </a:r>
            <a:r>
              <a:rPr lang="en-US" sz="1200" i="1" kern="1200" dirty="0">
                <a:solidFill>
                  <a:schemeClr val="tx1"/>
                </a:solidFill>
                <a:effectLst/>
                <a:latin typeface="+mn-lt"/>
                <a:ea typeface="+mn-ea"/>
                <a:cs typeface="+mn-cs"/>
              </a:rPr>
              <a:t>(Defense: Low-cost index funds)</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99885E16-9A34-44E1-A650-C2A3A78D45D9}" type="slidenum">
              <a:rPr lang="en-US" smtClean="0"/>
              <a:t>10</a:t>
            </a:fld>
            <a:endParaRPr lang="en-US"/>
          </a:p>
        </p:txBody>
      </p:sp>
    </p:spTree>
    <p:extLst>
      <p:ext uri="{BB962C8B-B14F-4D97-AF65-F5344CB8AC3E}">
        <p14:creationId xmlns:p14="http://schemas.microsoft.com/office/powerpoint/2010/main" val="1718882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After losing $1 million on an investment due to a fraudulent operator who vanished, I developed </a:t>
            </a:r>
            <a:r>
              <a:rPr lang="en-US" sz="1200" b="1" kern="1200" dirty="0">
                <a:solidFill>
                  <a:schemeClr val="tx1"/>
                </a:solidFill>
                <a:effectLst/>
                <a:latin typeface="+mn-lt"/>
                <a:ea typeface="+mn-ea"/>
                <a:cs typeface="+mn-cs"/>
              </a:rPr>
              <a:t>The 4 Goods Framework</a:t>
            </a:r>
            <a:r>
              <a:rPr lang="en-US" sz="1200" kern="1200" dirty="0">
                <a:solidFill>
                  <a:schemeClr val="tx1"/>
                </a:solidFill>
                <a:effectLst/>
                <a:latin typeface="+mn-lt"/>
                <a:ea typeface="+mn-ea"/>
                <a:cs typeface="+mn-cs"/>
              </a:rPr>
              <a:t> for evaluating opportunities: </a:t>
            </a:r>
          </a:p>
          <a:p>
            <a:pPr marL="228600" lvl="0" indent="-228600">
              <a:buFont typeface="+mj-lt"/>
              <a:buAutoNum type="arabicPeriod"/>
            </a:pPr>
            <a:r>
              <a:rPr lang="en-US" sz="1200" b="1" kern="1200" dirty="0">
                <a:solidFill>
                  <a:schemeClr val="tx1"/>
                </a:solidFill>
                <a:effectLst/>
                <a:latin typeface="+mn-lt"/>
                <a:ea typeface="+mn-ea"/>
                <a:cs typeface="+mn-cs"/>
              </a:rPr>
              <a:t>Good People:</a:t>
            </a:r>
            <a:r>
              <a:rPr lang="en-US" sz="1200" kern="1200" dirty="0">
                <a:solidFill>
                  <a:schemeClr val="tx1"/>
                </a:solidFill>
                <a:effectLst/>
                <a:latin typeface="+mn-lt"/>
                <a:ea typeface="+mn-ea"/>
                <a:cs typeface="+mn-cs"/>
              </a:rPr>
              <a:t> Execute mutual background checks. Trust, but aggressively verify. </a:t>
            </a:r>
          </a:p>
          <a:p>
            <a:pPr marL="228600" lvl="0" indent="-228600">
              <a:buFont typeface="+mj-lt"/>
              <a:buAutoNum type="arabicPeriod"/>
            </a:pPr>
            <a:r>
              <a:rPr lang="en-US" sz="1200" b="1" kern="1200" dirty="0">
                <a:solidFill>
                  <a:schemeClr val="tx1"/>
                </a:solidFill>
                <a:effectLst/>
                <a:latin typeface="+mn-lt"/>
                <a:ea typeface="+mn-ea"/>
                <a:cs typeface="+mn-cs"/>
              </a:rPr>
              <a:t>Good Intentions:</a:t>
            </a:r>
            <a:r>
              <a:rPr lang="en-US" sz="1200" kern="1200" dirty="0">
                <a:solidFill>
                  <a:schemeClr val="tx1"/>
                </a:solidFill>
                <a:effectLst/>
                <a:latin typeface="+mn-lt"/>
                <a:ea typeface="+mn-ea"/>
                <a:cs typeface="+mn-cs"/>
              </a:rPr>
              <a:t> Run the stress test—ask, </a:t>
            </a:r>
            <a:r>
              <a:rPr lang="en-US" sz="1200" i="1" kern="1200" dirty="0">
                <a:solidFill>
                  <a:schemeClr val="tx1"/>
                </a:solidFill>
                <a:effectLst/>
                <a:latin typeface="+mn-lt"/>
                <a:ea typeface="+mn-ea"/>
                <a:cs typeface="+mn-cs"/>
              </a:rPr>
              <a:t>'Walk me through step-by-step what happens if this goes completely wrong?'</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Good Rationale:</a:t>
            </a:r>
            <a:r>
              <a:rPr lang="en-US" sz="1200" kern="1200" dirty="0">
                <a:solidFill>
                  <a:schemeClr val="tx1"/>
                </a:solidFill>
                <a:effectLst/>
                <a:latin typeface="+mn-lt"/>
                <a:ea typeface="+mn-ea"/>
                <a:cs typeface="+mn-cs"/>
              </a:rPr>
              <a:t> Review the underlying financial mechanics directly on a spreadsheet. </a:t>
            </a:r>
          </a:p>
          <a:p>
            <a:pPr marL="228600" lvl="0" indent="-228600">
              <a:buFont typeface="+mj-lt"/>
              <a:buAutoNum type="arabicPeriod"/>
            </a:pPr>
            <a:r>
              <a:rPr lang="en-US" sz="1200" b="1" kern="1200" dirty="0">
                <a:solidFill>
                  <a:schemeClr val="tx1"/>
                </a:solidFill>
                <a:effectLst/>
                <a:latin typeface="+mn-lt"/>
                <a:ea typeface="+mn-ea"/>
                <a:cs typeface="+mn-cs"/>
              </a:rPr>
              <a:t>Good Contracts:</a:t>
            </a:r>
            <a:r>
              <a:rPr lang="en-US" sz="1200" kern="1200" dirty="0">
                <a:solidFill>
                  <a:schemeClr val="tx1"/>
                </a:solidFill>
                <a:effectLst/>
                <a:latin typeface="+mn-lt"/>
                <a:ea typeface="+mn-ea"/>
                <a:cs typeface="+mn-cs"/>
              </a:rPr>
              <a:t> Ensure legal enforceability. Having a lawyer draft an agreement is useless if the operator cannot be served. </a:t>
            </a:r>
          </a:p>
          <a:p>
            <a:r>
              <a:rPr lang="en-US" sz="1200" kern="1200" dirty="0">
                <a:solidFill>
                  <a:schemeClr val="tx1"/>
                </a:solidFill>
                <a:effectLst/>
                <a:latin typeface="+mn-lt"/>
                <a:ea typeface="+mn-ea"/>
                <a:cs typeface="+mn-cs"/>
              </a:rPr>
              <a:t>Remember: It's not just about finding a 'good investment'—it's about becoming a disciplined, 'good investor'.</a:t>
            </a:r>
          </a:p>
          <a:p>
            <a:endParaRPr lang="en-US" dirty="0"/>
          </a:p>
        </p:txBody>
      </p:sp>
      <p:sp>
        <p:nvSpPr>
          <p:cNvPr id="4" name="Slide Number Placeholder 3"/>
          <p:cNvSpPr>
            <a:spLocks noGrp="1"/>
          </p:cNvSpPr>
          <p:nvPr>
            <p:ph type="sldNum" sz="quarter" idx="5"/>
          </p:nvPr>
        </p:nvSpPr>
        <p:spPr/>
        <p:txBody>
          <a:bodyPr/>
          <a:lstStyle/>
          <a:p>
            <a:fld id="{99885E16-9A34-44E1-A650-C2A3A78D45D9}" type="slidenum">
              <a:rPr lang="en-US" smtClean="0"/>
              <a:t>11</a:t>
            </a:fld>
            <a:endParaRPr lang="en-US"/>
          </a:p>
        </p:txBody>
      </p:sp>
    </p:spTree>
    <p:extLst>
      <p:ext uri="{BB962C8B-B14F-4D97-AF65-F5344CB8AC3E}">
        <p14:creationId xmlns:p14="http://schemas.microsoft.com/office/powerpoint/2010/main" val="1736005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Your business network dictates your execution capacity. Relationships operate across five distinct levels: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Level 1 (The Past):</a:t>
            </a:r>
            <a:r>
              <a:rPr lang="en-US" sz="1200" kern="1200" dirty="0">
                <a:solidFill>
                  <a:schemeClr val="tx1"/>
                </a:solidFill>
                <a:effectLst/>
                <a:latin typeface="+mn-lt"/>
                <a:ea typeface="+mn-ea"/>
                <a:cs typeface="+mn-cs"/>
              </a:rPr>
              <a:t> Reminiscing about old times.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Level 2 (Others):</a:t>
            </a:r>
            <a:r>
              <a:rPr lang="en-US" sz="1200" kern="1200" dirty="0">
                <a:solidFill>
                  <a:schemeClr val="tx1"/>
                </a:solidFill>
                <a:effectLst/>
                <a:latin typeface="+mn-lt"/>
                <a:ea typeface="+mn-ea"/>
                <a:cs typeface="+mn-cs"/>
              </a:rPr>
              <a:t> Gossip and small talk.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Level 3 (Ideas):</a:t>
            </a:r>
            <a:r>
              <a:rPr lang="en-US" sz="1200" kern="1200" dirty="0">
                <a:solidFill>
                  <a:schemeClr val="tx1"/>
                </a:solidFill>
                <a:effectLst/>
                <a:latin typeface="+mn-lt"/>
                <a:ea typeface="+mn-ea"/>
                <a:cs typeface="+mn-cs"/>
              </a:rPr>
              <a:t> Brainstorming concepts without taking action.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Level 4 (Execution):</a:t>
            </a:r>
            <a:r>
              <a:rPr lang="en-US" sz="1200" kern="1200" dirty="0">
                <a:solidFill>
                  <a:schemeClr val="tx1"/>
                </a:solidFill>
                <a:effectLst/>
                <a:latin typeface="+mn-lt"/>
                <a:ea typeface="+mn-ea"/>
                <a:cs typeface="+mn-cs"/>
              </a:rPr>
              <a:t> Strategic, tactical inner-circle collaboration.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Level 5 (Money):</a:t>
            </a:r>
            <a:r>
              <a:rPr lang="en-US" sz="1200" kern="1200" dirty="0">
                <a:solidFill>
                  <a:schemeClr val="tx1"/>
                </a:solidFill>
                <a:effectLst/>
                <a:latin typeface="+mn-lt"/>
                <a:ea typeface="+mn-ea"/>
                <a:cs typeface="+mn-cs"/>
              </a:rPr>
              <a:t> Deep contractual vulnerability and financial clarity. </a:t>
            </a:r>
          </a:p>
          <a:p>
            <a:r>
              <a:rPr lang="en-US" sz="1200" kern="1200" dirty="0">
                <a:solidFill>
                  <a:schemeClr val="tx1"/>
                </a:solidFill>
                <a:effectLst/>
                <a:latin typeface="+mn-lt"/>
                <a:ea typeface="+mn-ea"/>
                <a:cs typeface="+mn-cs"/>
              </a:rPr>
              <a:t>To build high-level partnerships fast, practice </a:t>
            </a:r>
            <a:r>
              <a:rPr lang="en-US" sz="1200" b="1" kern="1200" dirty="0">
                <a:solidFill>
                  <a:schemeClr val="tx1"/>
                </a:solidFill>
                <a:effectLst/>
                <a:latin typeface="+mn-lt"/>
                <a:ea typeface="+mn-ea"/>
                <a:cs typeface="+mn-cs"/>
              </a:rPr>
              <a:t>The Rule of Going Second</a:t>
            </a:r>
            <a:r>
              <a:rPr lang="en-US" sz="1200" kern="1200" dirty="0">
                <a:solidFill>
                  <a:schemeClr val="tx1"/>
                </a:solidFill>
                <a:effectLst/>
                <a:latin typeface="+mn-lt"/>
                <a:ea typeface="+mn-ea"/>
                <a:cs typeface="+mn-cs"/>
              </a:rPr>
              <a:t>. When you voluntarily share the mechanics of your numbers first, you give others permission to be vulnerable, accelerating trust dramatically.</a:t>
            </a:r>
          </a:p>
          <a:p>
            <a:endParaRPr lang="en-US" dirty="0"/>
          </a:p>
        </p:txBody>
      </p:sp>
      <p:sp>
        <p:nvSpPr>
          <p:cNvPr id="4" name="Slide Number Placeholder 3"/>
          <p:cNvSpPr>
            <a:spLocks noGrp="1"/>
          </p:cNvSpPr>
          <p:nvPr>
            <p:ph type="sldNum" sz="quarter" idx="5"/>
          </p:nvPr>
        </p:nvSpPr>
        <p:spPr/>
        <p:txBody>
          <a:bodyPr/>
          <a:lstStyle/>
          <a:p>
            <a:fld id="{99885E16-9A34-44E1-A650-C2A3A78D45D9}" type="slidenum">
              <a:rPr lang="en-US" smtClean="0"/>
              <a:t>12</a:t>
            </a:fld>
            <a:endParaRPr lang="en-US"/>
          </a:p>
        </p:txBody>
      </p:sp>
    </p:spTree>
    <p:extLst>
      <p:ext uri="{BB962C8B-B14F-4D97-AF65-F5344CB8AC3E}">
        <p14:creationId xmlns:p14="http://schemas.microsoft.com/office/powerpoint/2010/main" val="20229716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synthesize these laws into an operational system: </a:t>
            </a:r>
            <a:r>
              <a:rPr lang="en-US" sz="1200" b="1" kern="1200" dirty="0">
                <a:solidFill>
                  <a:schemeClr val="tx1"/>
                </a:solidFill>
                <a:effectLst/>
                <a:latin typeface="+mn-lt"/>
                <a:ea typeface="+mn-ea"/>
                <a:cs typeface="+mn-cs"/>
              </a:rPr>
              <a:t>The Money Factory</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Input:</a:t>
            </a:r>
            <a:r>
              <a:rPr lang="en-US" sz="1200" kern="1200" dirty="0">
                <a:solidFill>
                  <a:schemeClr val="tx1"/>
                </a:solidFill>
                <a:effectLst/>
                <a:latin typeface="+mn-lt"/>
                <a:ea typeface="+mn-ea"/>
                <a:cs typeface="+mn-cs"/>
              </a:rPr>
              <a:t> Active income surplus generated from your primary career or business. </a:t>
            </a:r>
          </a:p>
          <a:p>
            <a:pPr marL="228600" lvl="0" indent="-228600">
              <a:buFont typeface="+mj-lt"/>
              <a:buAutoNum type="arabicPeriod"/>
            </a:pPr>
            <a:r>
              <a:rPr lang="en-US" sz="1200" b="1" kern="1200" dirty="0">
                <a:solidFill>
                  <a:schemeClr val="tx1"/>
                </a:solidFill>
                <a:effectLst/>
                <a:latin typeface="+mn-lt"/>
                <a:ea typeface="+mn-ea"/>
                <a:cs typeface="+mn-cs"/>
              </a:rPr>
              <a:t>The Quarterback:</a:t>
            </a:r>
            <a:r>
              <a:rPr lang="en-US" sz="1200" kern="1200" dirty="0">
                <a:solidFill>
                  <a:schemeClr val="tx1"/>
                </a:solidFill>
                <a:effectLst/>
                <a:latin typeface="+mn-lt"/>
                <a:ea typeface="+mn-ea"/>
                <a:cs typeface="+mn-cs"/>
              </a:rPr>
              <a:t> Automated allocation systems that route funds directly upon arrival (e.g., 70% Lifestyle, 20% Savings, 10% Investment). </a:t>
            </a:r>
          </a:p>
          <a:p>
            <a:pPr marL="228600" lvl="0" indent="-228600">
              <a:buFont typeface="+mj-lt"/>
              <a:buAutoNum type="arabicPeriod"/>
            </a:pPr>
            <a:r>
              <a:rPr lang="en-US" sz="1200" b="1" kern="1200" dirty="0">
                <a:solidFill>
                  <a:schemeClr val="tx1"/>
                </a:solidFill>
                <a:effectLst/>
                <a:latin typeface="+mn-lt"/>
                <a:ea typeface="+mn-ea"/>
                <a:cs typeface="+mn-cs"/>
              </a:rPr>
              <a:t>The Shield:</a:t>
            </a:r>
            <a:r>
              <a:rPr lang="en-US" sz="1200" kern="1200" dirty="0">
                <a:solidFill>
                  <a:schemeClr val="tx1"/>
                </a:solidFill>
                <a:effectLst/>
                <a:latin typeface="+mn-lt"/>
                <a:ea typeface="+mn-ea"/>
                <a:cs typeface="+mn-cs"/>
              </a:rPr>
              <a:t> Tax strategy, inflation hedges, and fee minimization that guard your capital from erosion. </a:t>
            </a:r>
          </a:p>
          <a:p>
            <a:pPr marL="228600" lvl="0" indent="-228600">
              <a:buFont typeface="+mj-lt"/>
              <a:buAutoNum type="arabicPeriod"/>
            </a:pPr>
            <a:r>
              <a:rPr lang="en-US" sz="1200" b="1" kern="1200" dirty="0">
                <a:solidFill>
                  <a:schemeClr val="tx1"/>
                </a:solidFill>
                <a:effectLst/>
                <a:latin typeface="+mn-lt"/>
                <a:ea typeface="+mn-ea"/>
                <a:cs typeface="+mn-cs"/>
              </a:rPr>
              <a:t>The Engine:</a:t>
            </a:r>
            <a:r>
              <a:rPr lang="en-US" sz="1200" kern="1200" dirty="0">
                <a:solidFill>
                  <a:schemeClr val="tx1"/>
                </a:solidFill>
                <a:effectLst/>
                <a:latin typeface="+mn-lt"/>
                <a:ea typeface="+mn-ea"/>
                <a:cs typeface="+mn-cs"/>
              </a:rPr>
              <a:t> Real estate and company assets (TIGAS) working continuously. </a:t>
            </a:r>
          </a:p>
          <a:p>
            <a:pPr marL="228600" lvl="0" indent="-228600">
              <a:buFont typeface="+mj-lt"/>
              <a:buAutoNum type="arabicPeriod"/>
            </a:pPr>
            <a:r>
              <a:rPr lang="en-US" sz="1200" b="1" kern="1200" dirty="0">
                <a:solidFill>
                  <a:schemeClr val="tx1"/>
                </a:solidFill>
                <a:effectLst/>
                <a:latin typeface="+mn-lt"/>
                <a:ea typeface="+mn-ea"/>
                <a:cs typeface="+mn-cs"/>
              </a:rPr>
              <a:t>Output:</a:t>
            </a:r>
            <a:r>
              <a:rPr lang="en-US" sz="1200" kern="1200" dirty="0">
                <a:solidFill>
                  <a:schemeClr val="tx1"/>
                </a:solidFill>
                <a:effectLst/>
                <a:latin typeface="+mn-lt"/>
                <a:ea typeface="+mn-ea"/>
                <a:cs typeface="+mn-cs"/>
              </a:rPr>
              <a:t> Reliable passive income that systematically exceeds monthly living expenses—allowing your capital to manage itself while you sleep.</a:t>
            </a:r>
          </a:p>
          <a:p>
            <a:endParaRPr lang="en-US" dirty="0"/>
          </a:p>
        </p:txBody>
      </p:sp>
      <p:sp>
        <p:nvSpPr>
          <p:cNvPr id="4" name="Slide Number Placeholder 3"/>
          <p:cNvSpPr>
            <a:spLocks noGrp="1"/>
          </p:cNvSpPr>
          <p:nvPr>
            <p:ph type="sldNum" sz="quarter" idx="5"/>
          </p:nvPr>
        </p:nvSpPr>
        <p:spPr/>
        <p:txBody>
          <a:bodyPr/>
          <a:lstStyle/>
          <a:p>
            <a:fld id="{99885E16-9A34-44E1-A650-C2A3A78D45D9}" type="slidenum">
              <a:rPr lang="en-US" smtClean="0"/>
              <a:t>13</a:t>
            </a:fld>
            <a:endParaRPr lang="en-US"/>
          </a:p>
        </p:txBody>
      </p:sp>
    </p:spTree>
    <p:extLst>
      <p:ext uri="{BB962C8B-B14F-4D97-AF65-F5344CB8AC3E}">
        <p14:creationId xmlns:p14="http://schemas.microsoft.com/office/powerpoint/2010/main" val="34457508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Sustaining a wealth strategy requires specific mindset principles: </a:t>
            </a:r>
          </a:p>
          <a:p>
            <a:pPr marL="228600" lvl="0" indent="-228600">
              <a:buFont typeface="+mj-lt"/>
              <a:buAutoNum type="arabicPeriod"/>
            </a:pPr>
            <a:r>
              <a:rPr lang="en-US" sz="1200" b="1" kern="1200" dirty="0">
                <a:solidFill>
                  <a:schemeClr val="tx1"/>
                </a:solidFill>
                <a:effectLst/>
                <a:latin typeface="+mn-lt"/>
                <a:ea typeface="+mn-ea"/>
                <a:cs typeface="+mn-cs"/>
              </a:rPr>
              <a:t>Average is Punishment:</a:t>
            </a:r>
            <a:r>
              <a:rPr lang="en-US" sz="1200" kern="1200" dirty="0">
                <a:solidFill>
                  <a:schemeClr val="tx1"/>
                </a:solidFill>
                <a:effectLst/>
                <a:latin typeface="+mn-lt"/>
                <a:ea typeface="+mn-ea"/>
                <a:cs typeface="+mn-cs"/>
              </a:rPr>
              <a:t> The world constantly pressures you to conform to mediocrity. To achieve extraordinary outcomes, do fewer things with unreasonable effort. </a:t>
            </a:r>
          </a:p>
          <a:p>
            <a:pPr marL="228600" lvl="0" indent="-228600">
              <a:buFont typeface="+mj-lt"/>
              <a:buAutoNum type="arabicPeriod"/>
            </a:pPr>
            <a:r>
              <a:rPr lang="en-US" sz="1200" b="1" kern="1200" dirty="0">
                <a:solidFill>
                  <a:schemeClr val="tx1"/>
                </a:solidFill>
                <a:effectLst/>
                <a:latin typeface="+mn-lt"/>
                <a:ea typeface="+mn-ea"/>
                <a:cs typeface="+mn-cs"/>
              </a:rPr>
              <a:t>Okay to Suck, Not to Skip:</a:t>
            </a:r>
            <a:r>
              <a:rPr lang="en-US" sz="1200" kern="1200" dirty="0">
                <a:solidFill>
                  <a:schemeClr val="tx1"/>
                </a:solidFill>
                <a:effectLst/>
                <a:latin typeface="+mn-lt"/>
                <a:ea typeface="+mn-ea"/>
                <a:cs typeface="+mn-cs"/>
              </a:rPr>
              <a:t> Consistency beats sporadic perfection. You don't need a flawless investment or perfect execution every day—you just need to show up and execute the system repeatedly. </a:t>
            </a:r>
          </a:p>
          <a:p>
            <a:pPr marL="228600" lvl="0" indent="-228600">
              <a:buFont typeface="+mj-lt"/>
              <a:buAutoNum type="arabicPeriod"/>
            </a:pPr>
            <a:r>
              <a:rPr lang="en-US" sz="1200" b="1" kern="1200" dirty="0">
                <a:solidFill>
                  <a:schemeClr val="tx1"/>
                </a:solidFill>
                <a:effectLst/>
                <a:latin typeface="+mn-lt"/>
                <a:ea typeface="+mn-ea"/>
                <a:cs typeface="+mn-cs"/>
              </a:rPr>
              <a:t>Everyone is a Teacher:</a:t>
            </a:r>
            <a:r>
              <a:rPr lang="en-US" sz="1200" kern="1200" dirty="0">
                <a:solidFill>
                  <a:schemeClr val="tx1"/>
                </a:solidFill>
                <a:effectLst/>
                <a:latin typeface="+mn-lt"/>
                <a:ea typeface="+mn-ea"/>
                <a:cs typeface="+mn-cs"/>
              </a:rPr>
              <a:t> Approach business and life with childlike curiosity. Assume every individual you encounter was sent to teach you a valuable lesson.</a:t>
            </a:r>
          </a:p>
          <a:p>
            <a:endParaRPr lang="en-US" dirty="0"/>
          </a:p>
        </p:txBody>
      </p:sp>
      <p:sp>
        <p:nvSpPr>
          <p:cNvPr id="4" name="Slide Number Placeholder 3"/>
          <p:cNvSpPr>
            <a:spLocks noGrp="1"/>
          </p:cNvSpPr>
          <p:nvPr>
            <p:ph type="sldNum" sz="quarter" idx="5"/>
          </p:nvPr>
        </p:nvSpPr>
        <p:spPr/>
        <p:txBody>
          <a:bodyPr/>
          <a:lstStyle/>
          <a:p>
            <a:fld id="{99885E16-9A34-44E1-A650-C2A3A78D45D9}" type="slidenum">
              <a:rPr lang="en-US" smtClean="0"/>
              <a:t>14</a:t>
            </a:fld>
            <a:endParaRPr lang="en-US"/>
          </a:p>
        </p:txBody>
      </p:sp>
    </p:spTree>
    <p:extLst>
      <p:ext uri="{BB962C8B-B14F-4D97-AF65-F5344CB8AC3E}">
        <p14:creationId xmlns:p14="http://schemas.microsoft.com/office/powerpoint/2010/main" val="27830300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 close with </a:t>
            </a:r>
            <a:r>
              <a:rPr lang="en-US" sz="1200" b="1" kern="1200" dirty="0">
                <a:solidFill>
                  <a:schemeClr val="tx1"/>
                </a:solidFill>
                <a:effectLst/>
                <a:latin typeface="+mn-lt"/>
                <a:ea typeface="+mn-ea"/>
                <a:cs typeface="+mn-cs"/>
              </a:rPr>
              <a:t>The Sisyphus Metaphor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Greek mythology, Sisyphus was condemned by the gods to push a heavy boulder up a mountain, only to watch it roll back down every time he reached the top. It was designed as eternal torture.</a:t>
            </a:r>
          </a:p>
          <a:p>
            <a:r>
              <a:rPr lang="en-US" sz="1200" kern="1200" dirty="0">
                <a:solidFill>
                  <a:schemeClr val="tx1"/>
                </a:solidFill>
                <a:effectLst/>
                <a:latin typeface="+mn-lt"/>
                <a:ea typeface="+mn-ea"/>
                <a:cs typeface="+mn-cs"/>
              </a:rPr>
              <a:t>But Sisyphus realized something profound: if he detached his joy from the final outcome and attached it entirely to the process of pushing, the punishment vanished. </a:t>
            </a:r>
          </a:p>
          <a:p>
            <a:r>
              <a:rPr lang="en-US" sz="1200" kern="1200" dirty="0">
                <a:solidFill>
                  <a:schemeClr val="tx1"/>
                </a:solidFill>
                <a:effectLst/>
                <a:latin typeface="+mn-lt"/>
                <a:ea typeface="+mn-ea"/>
                <a:cs typeface="+mn-cs"/>
              </a:rPr>
              <a:t>True financial mastery follows the same paradigm. The ultimate reward isn't just reaching a specific net-worth destination; it's mastering the craft, executing the daily operations, and pushing the boulder up the mountain with a smile on your face.</a:t>
            </a:r>
          </a:p>
          <a:p>
            <a:endParaRPr lang="en-US" dirty="0"/>
          </a:p>
        </p:txBody>
      </p:sp>
      <p:sp>
        <p:nvSpPr>
          <p:cNvPr id="4" name="Slide Number Placeholder 3"/>
          <p:cNvSpPr>
            <a:spLocks noGrp="1"/>
          </p:cNvSpPr>
          <p:nvPr>
            <p:ph type="sldNum" sz="quarter" idx="5"/>
          </p:nvPr>
        </p:nvSpPr>
        <p:spPr/>
        <p:txBody>
          <a:bodyPr/>
          <a:lstStyle/>
          <a:p>
            <a:fld id="{99885E16-9A34-44E1-A650-C2A3A78D45D9}" type="slidenum">
              <a:rPr lang="en-US" smtClean="0"/>
              <a:t>15</a:t>
            </a:fld>
            <a:endParaRPr lang="en-US"/>
          </a:p>
        </p:txBody>
      </p:sp>
    </p:spTree>
    <p:extLst>
      <p:ext uri="{BB962C8B-B14F-4D97-AF65-F5344CB8AC3E}">
        <p14:creationId xmlns:p14="http://schemas.microsoft.com/office/powerpoint/2010/main" val="34003579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summarize our complete playbook: </a:t>
            </a:r>
          </a:p>
          <a:p>
            <a:pPr lvl="0"/>
            <a:r>
              <a:rPr lang="en-US" sz="1200" b="1" kern="1200" dirty="0">
                <a:solidFill>
                  <a:schemeClr val="tx1"/>
                </a:solidFill>
                <a:effectLst/>
                <a:latin typeface="+mn-lt"/>
                <a:ea typeface="+mn-ea"/>
                <a:cs typeface="+mn-cs"/>
              </a:rPr>
              <a:t>Mindset &amp; Mechanics:</a:t>
            </a:r>
            <a:r>
              <a:rPr lang="en-US" sz="1200" kern="1200" dirty="0">
                <a:solidFill>
                  <a:schemeClr val="tx1"/>
                </a:solidFill>
                <a:effectLst/>
                <a:latin typeface="+mn-lt"/>
                <a:ea typeface="+mn-ea"/>
                <a:cs typeface="+mn-cs"/>
              </a:rPr>
              <a:t> Money loves speed, but true wealth requires time. Use the 4-step Decision Framework to maintain clarity on every major choice. </a:t>
            </a:r>
          </a:p>
          <a:p>
            <a:pPr lvl="0"/>
            <a:r>
              <a:rPr lang="en-US" sz="1200" b="1" kern="1200" dirty="0">
                <a:solidFill>
                  <a:schemeClr val="tx1"/>
                </a:solidFill>
                <a:effectLst/>
                <a:latin typeface="+mn-lt"/>
                <a:ea typeface="+mn-ea"/>
                <a:cs typeface="+mn-cs"/>
              </a:rPr>
              <a:t>Defense:</a:t>
            </a:r>
            <a:r>
              <a:rPr lang="en-US" sz="1200" kern="1200" dirty="0">
                <a:solidFill>
                  <a:schemeClr val="tx1"/>
                </a:solidFill>
                <a:effectLst/>
                <a:latin typeface="+mn-lt"/>
                <a:ea typeface="+mn-ea"/>
                <a:cs typeface="+mn-cs"/>
              </a:rPr>
              <a:t> Actively shield your capital from the 4 Money Monsters: Inflation, Taxes, Interruption, and Hidden Fees. </a:t>
            </a:r>
          </a:p>
          <a:p>
            <a:pPr lvl="0"/>
            <a:r>
              <a:rPr lang="en-US" sz="1200" b="1" kern="1200" dirty="0">
                <a:solidFill>
                  <a:schemeClr val="tx1"/>
                </a:solidFill>
                <a:effectLst/>
                <a:latin typeface="+mn-lt"/>
                <a:ea typeface="+mn-ea"/>
                <a:cs typeface="+mn-cs"/>
              </a:rPr>
              <a:t>Roadmap:</a:t>
            </a:r>
            <a:r>
              <a:rPr lang="en-US" sz="1200" kern="1200" dirty="0">
                <a:solidFill>
                  <a:schemeClr val="tx1"/>
                </a:solidFill>
                <a:effectLst/>
                <a:latin typeface="+mn-lt"/>
                <a:ea typeface="+mn-ea"/>
                <a:cs typeface="+mn-cs"/>
              </a:rPr>
              <a:t> Climb the Wealth Ladder by securing active surplus, acquiring TIGAS, and focusing on the two main stairways—Companies and Real Estate. </a:t>
            </a:r>
          </a:p>
          <a:p>
            <a:pPr lvl="0"/>
            <a:r>
              <a:rPr lang="en-US" sz="1200" b="1" kern="1200" dirty="0">
                <a:solidFill>
                  <a:schemeClr val="tx1"/>
                </a:solidFill>
                <a:effectLst/>
                <a:latin typeface="+mn-lt"/>
                <a:ea typeface="+mn-ea"/>
                <a:cs typeface="+mn-cs"/>
              </a:rPr>
              <a:t>Execution:</a:t>
            </a:r>
            <a:r>
              <a:rPr lang="en-US" sz="1200" kern="1200" dirty="0">
                <a:solidFill>
                  <a:schemeClr val="tx1"/>
                </a:solidFill>
                <a:effectLst/>
                <a:latin typeface="+mn-lt"/>
                <a:ea typeface="+mn-ea"/>
                <a:cs typeface="+mn-cs"/>
              </a:rPr>
              <a:t> Know your investor persona—whether Active, Thematic, or Passive—and ensure your passive assets are managed by dedicated active stewards. </a:t>
            </a:r>
          </a:p>
          <a:p>
            <a:r>
              <a:rPr lang="en-US" sz="1200" kern="1200" dirty="0">
                <a:solidFill>
                  <a:schemeClr val="tx1"/>
                </a:solidFill>
                <a:effectLst/>
                <a:latin typeface="+mn-lt"/>
                <a:ea typeface="+mn-ea"/>
                <a:cs typeface="+mn-cs"/>
              </a:rPr>
              <a:t>Master these structural principles, speak the language of money, and build a system designed for lasting freedom. Thank you.</a:t>
            </a:r>
          </a:p>
          <a:p>
            <a:endParaRPr lang="en-US" dirty="0"/>
          </a:p>
        </p:txBody>
      </p:sp>
      <p:sp>
        <p:nvSpPr>
          <p:cNvPr id="4" name="Slide Number Placeholder 3"/>
          <p:cNvSpPr>
            <a:spLocks noGrp="1"/>
          </p:cNvSpPr>
          <p:nvPr>
            <p:ph type="sldNum" sz="quarter" idx="5"/>
          </p:nvPr>
        </p:nvSpPr>
        <p:spPr/>
        <p:txBody>
          <a:bodyPr/>
          <a:lstStyle/>
          <a:p>
            <a:fld id="{99885E16-9A34-44E1-A650-C2A3A78D45D9}" type="slidenum">
              <a:rPr lang="en-US" smtClean="0"/>
              <a:t>16</a:t>
            </a:fld>
            <a:endParaRPr lang="en-US"/>
          </a:p>
        </p:txBody>
      </p:sp>
    </p:spTree>
    <p:extLst>
      <p:ext uri="{BB962C8B-B14F-4D97-AF65-F5344CB8AC3E}">
        <p14:creationId xmlns:p14="http://schemas.microsoft.com/office/powerpoint/2010/main" val="37351470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F3B645-2C25-1C49-7031-B89FE3E66BD8}"/>
              </a:ext>
            </a:extLst>
          </p:cNvPr>
          <p:cNvSpPr>
            <a:spLocks noGrp="1"/>
          </p:cNvSpPr>
          <p:nvPr>
            <p:ph type="dt" sz="half" idx="10"/>
          </p:nvPr>
        </p:nvSpPr>
        <p:spPr/>
        <p:txBody>
          <a:bodyPr/>
          <a:lstStyle/>
          <a:p>
            <a:fld id="{F4748A36-419D-4412-9908-F24368BB0903}" type="datetimeFigureOut">
              <a:rPr lang="en-US" smtClean="0"/>
              <a:t>10/21/2026</a:t>
            </a:fld>
            <a:endParaRPr lang="en-US"/>
          </a:p>
        </p:txBody>
      </p:sp>
      <p:sp>
        <p:nvSpPr>
          <p:cNvPr id="3" name="Footer Placeholder 2">
            <a:extLst>
              <a:ext uri="{FF2B5EF4-FFF2-40B4-BE49-F238E27FC236}">
                <a16:creationId xmlns:a16="http://schemas.microsoft.com/office/drawing/2014/main" id="{E5577FEF-4584-C066-06C6-EB4F5CB879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E19772-E3EA-8711-9286-4ABD25FFAB05}"/>
              </a:ext>
            </a:extLst>
          </p:cNvPr>
          <p:cNvSpPr>
            <a:spLocks noGrp="1"/>
          </p:cNvSpPr>
          <p:nvPr>
            <p:ph type="sldNum" sz="quarter" idx="12"/>
          </p:nvPr>
        </p:nvSpPr>
        <p:spPr/>
        <p:txBody>
          <a:bodyPr/>
          <a:lstStyle/>
          <a:p>
            <a:fld id="{0CEE8957-A470-4D98-9F82-21FD12570436}" type="slidenum">
              <a:rPr lang="en-US" smtClean="0"/>
              <a:t>‹#›</a:t>
            </a:fld>
            <a:endParaRPr lang="en-US"/>
          </a:p>
        </p:txBody>
      </p:sp>
    </p:spTree>
    <p:extLst>
      <p:ext uri="{BB962C8B-B14F-4D97-AF65-F5344CB8AC3E}">
        <p14:creationId xmlns:p14="http://schemas.microsoft.com/office/powerpoint/2010/main" val="204975563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E543E6-D98D-D9D6-E751-4FE4793BE9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500B747-C30E-1A57-A15C-1FABE35811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2563F6-1901-F19F-136B-0D6B03EAC4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748A36-419D-4412-9908-F24368BB0903}" type="datetimeFigureOut">
              <a:rPr lang="en-US" smtClean="0"/>
              <a:t>10/21/2026</a:t>
            </a:fld>
            <a:endParaRPr lang="en-US"/>
          </a:p>
        </p:txBody>
      </p:sp>
      <p:sp>
        <p:nvSpPr>
          <p:cNvPr id="5" name="Footer Placeholder 4">
            <a:extLst>
              <a:ext uri="{FF2B5EF4-FFF2-40B4-BE49-F238E27FC236}">
                <a16:creationId xmlns:a16="http://schemas.microsoft.com/office/drawing/2014/main" id="{CDB81778-61B1-804B-A5CD-1F39376DB3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91C3630-7442-DADD-092D-C7CEA59B2A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EE8957-A470-4D98-9F82-21FD12570436}" type="slidenum">
              <a:rPr lang="en-US" smtClean="0"/>
              <a:t>‹#›</a:t>
            </a:fld>
            <a:endParaRPr lang="en-US"/>
          </a:p>
        </p:txBody>
      </p:sp>
    </p:spTree>
    <p:extLst>
      <p:ext uri="{BB962C8B-B14F-4D97-AF65-F5344CB8AC3E}">
        <p14:creationId xmlns:p14="http://schemas.microsoft.com/office/powerpoint/2010/main" val="3082407127"/>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91D207F-196B-91D9-2444-8DD1F813A58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9A524A-F2F4-C118-3300-51893E20B20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B3509A-D897-4853-B9A6-D10BF3E0D47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B3D953-6822-BA1A-78EA-0B7370ADFD1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91FB46-A8B6-6E5C-39F3-7E31EFFEA6B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14A098-F8DA-C5A6-F03C-DDC9164304C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7E598E-6F22-DB5C-3753-547F55967A4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8F726F-1B12-BDFE-65E1-9DB3E66DB04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EB480A-CCB6-9B28-07E7-9CDE7CA28E1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796BC4-2E47-0099-A05A-9CB4816D6EC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FDBE55-8EFA-968E-744F-2F907DE7C82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191704A-A493-EECE-CFE3-33E8414BEF2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10479A-FE8D-1002-6A9D-F1EE9FB4B1B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1D1B50-680C-C5EC-1899-0390D6BA02D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FA3DE9-4F2D-59A5-B61C-B9C311E3661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6826D3-9E6A-3B2B-1290-A929AA3F3A20}"/>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182269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2102</Words>
  <Application>Microsoft Office PowerPoint</Application>
  <PresentationFormat>寬螢幕</PresentationFormat>
  <Paragraphs>102</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2026-09-05T08:11:39Z</dcterms:created>
  <dcterms:modified xsi:type="dcterms:W3CDTF">2026-10-21T02:50:01Z</dcterms:modified>
</cp:coreProperties>
</file>