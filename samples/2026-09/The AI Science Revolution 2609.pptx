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3FA7DD-DE20-43D3-9384-9034052CF7C4}" v="21" dt="2026-09-21T14:34:30.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321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1T14:34:38.364" v="61" actId="166"/>
      <pc:docMkLst>
        <pc:docMk/>
      </pc:docMkLst>
      <pc:sldChg chg="addSp delSp modSp mod modAnim modNotes modNotesTx">
        <pc:chgData name="Lai, Wilson" userId="2840974a-0d84-4886-90a9-9a3ed79f3a48" providerId="ADAL" clId="{9F23B798-9E84-4552-BA63-E776E805C424}" dt="2026-09-21T14:34:38.364" v="61" actId="166"/>
        <pc:sldMkLst>
          <pc:docMk/>
          <pc:sldMk cId="0" sldId="257"/>
        </pc:sldMkLst>
        <pc:spChg chg="add mod">
          <ac:chgData name="Lai, Wilson" userId="2840974a-0d84-4886-90a9-9a3ed79f3a48" providerId="ADAL" clId="{9F23B798-9E84-4552-BA63-E776E805C424}" dt="2026-09-21T07:45:20.095" v="11" actId="164"/>
          <ac:spMkLst>
            <pc:docMk/>
            <pc:sldMk cId="0" sldId="257"/>
            <ac:spMk id="5" creationId="{F33E1B1D-A95F-60AC-FE60-622800B36F86}"/>
          </ac:spMkLst>
        </pc:spChg>
        <pc:grpChg chg="add mod">
          <ac:chgData name="Lai, Wilson" userId="2840974a-0d84-4886-90a9-9a3ed79f3a48" providerId="ADAL" clId="{9F23B798-9E84-4552-BA63-E776E805C424}" dt="2026-09-21T07:45:20.095" v="11" actId="164"/>
          <ac:grpSpMkLst>
            <pc:docMk/>
            <pc:sldMk cId="0" sldId="257"/>
            <ac:grpSpMk id="6" creationId="{F6A1AACC-E423-D168-E2B2-714AE20BAC35}"/>
          </ac:grpSpMkLst>
        </pc:grpChg>
        <pc:picChg chg="del">
          <ac:chgData name="Lai, Wilson" userId="2840974a-0d84-4886-90a9-9a3ed79f3a48" providerId="ADAL" clId="{9F23B798-9E84-4552-BA63-E776E805C424}" dt="2026-09-21T12:20:39.452" v="12" actId="21"/>
          <ac:picMkLst>
            <pc:docMk/>
            <pc:sldMk cId="0" sldId="257"/>
            <ac:picMk id="2" creationId="{00000000-0000-0000-0000-000000000000}"/>
          </ac:picMkLst>
        </pc:picChg>
        <pc:picChg chg="add mod">
          <ac:chgData name="Lai, Wilson" userId="2840974a-0d84-4886-90a9-9a3ed79f3a48" providerId="ADAL" clId="{9F23B798-9E84-4552-BA63-E776E805C424}" dt="2026-09-21T07:45:20.095" v="11" actId="164"/>
          <ac:picMkLst>
            <pc:docMk/>
            <pc:sldMk cId="0" sldId="257"/>
            <ac:picMk id="3" creationId="{BCB6BC3C-5165-897A-3ACB-EA706D4DF935}"/>
          </ac:picMkLst>
        </pc:picChg>
        <pc:picChg chg="add ord">
          <ac:chgData name="Lai, Wilson" userId="2840974a-0d84-4886-90a9-9a3ed79f3a48" providerId="ADAL" clId="{9F23B798-9E84-4552-BA63-E776E805C424}" dt="2026-09-21T14:34:38.364" v="61" actId="166"/>
          <ac:picMkLst>
            <pc:docMk/>
            <pc:sldMk cId="0" sldId="257"/>
            <ac:picMk id="7" creationId="{21C50366-3064-8D49-B931-A183F6E980BB}"/>
          </ac:picMkLst>
        </pc:picChg>
      </pc:sldChg>
      <pc:sldChg chg="addSp delSp mod modNotes">
        <pc:chgData name="Lai, Wilson" userId="2840974a-0d84-4886-90a9-9a3ed79f3a48" providerId="ADAL" clId="{9F23B798-9E84-4552-BA63-E776E805C424}" dt="2026-09-21T14:34:30.901" v="60"/>
        <pc:sldMkLst>
          <pc:docMk/>
          <pc:sldMk cId="0" sldId="258"/>
        </pc:sldMkLst>
        <pc:picChg chg="del">
          <ac:chgData name="Lai, Wilson" userId="2840974a-0d84-4886-90a9-9a3ed79f3a48" providerId="ADAL" clId="{9F23B798-9E84-4552-BA63-E776E805C424}" dt="2026-09-21T12:20:55.280" v="14" actId="21"/>
          <ac:picMkLst>
            <pc:docMk/>
            <pc:sldMk cId="0" sldId="258"/>
            <ac:picMk id="2" creationId="{00000000-0000-0000-0000-000000000000}"/>
          </ac:picMkLst>
        </pc:picChg>
        <pc:picChg chg="add">
          <ac:chgData name="Lai, Wilson" userId="2840974a-0d84-4886-90a9-9a3ed79f3a48" providerId="ADAL" clId="{9F23B798-9E84-4552-BA63-E776E805C424}" dt="2026-09-21T12:21:07.549" v="15" actId="22"/>
          <ac:picMkLst>
            <pc:docMk/>
            <pc:sldMk cId="0" sldId="258"/>
            <ac:picMk id="4" creationId="{9A6AB537-FEF6-5C1E-D8AA-AECB89F8B3B6}"/>
          </ac:picMkLst>
        </pc:picChg>
      </pc:sldChg>
      <pc:sldChg chg="addSp delSp mod modNotes">
        <pc:chgData name="Lai, Wilson" userId="2840974a-0d84-4886-90a9-9a3ed79f3a48" providerId="ADAL" clId="{9F23B798-9E84-4552-BA63-E776E805C424}" dt="2026-09-21T14:34:30.901" v="60"/>
        <pc:sldMkLst>
          <pc:docMk/>
          <pc:sldMk cId="0" sldId="259"/>
        </pc:sldMkLst>
        <pc:picChg chg="del">
          <ac:chgData name="Lai, Wilson" userId="2840974a-0d84-4886-90a9-9a3ed79f3a48" providerId="ADAL" clId="{9F23B798-9E84-4552-BA63-E776E805C424}" dt="2026-09-21T12:21:09.749" v="16" actId="21"/>
          <ac:picMkLst>
            <pc:docMk/>
            <pc:sldMk cId="0" sldId="259"/>
            <ac:picMk id="2" creationId="{00000000-0000-0000-0000-000000000000}"/>
          </ac:picMkLst>
        </pc:picChg>
        <pc:picChg chg="add">
          <ac:chgData name="Lai, Wilson" userId="2840974a-0d84-4886-90a9-9a3ed79f3a48" providerId="ADAL" clId="{9F23B798-9E84-4552-BA63-E776E805C424}" dt="2026-09-21T12:21:17.762" v="17" actId="22"/>
          <ac:picMkLst>
            <pc:docMk/>
            <pc:sldMk cId="0" sldId="259"/>
            <ac:picMk id="4" creationId="{D28EA89F-C2BF-C160-A766-353544C9AAE6}"/>
          </ac:picMkLst>
        </pc:picChg>
      </pc:sldChg>
      <pc:sldChg chg="addSp delSp mod modNotes">
        <pc:chgData name="Lai, Wilson" userId="2840974a-0d84-4886-90a9-9a3ed79f3a48" providerId="ADAL" clId="{9F23B798-9E84-4552-BA63-E776E805C424}" dt="2026-09-21T14:34:30.901" v="60"/>
        <pc:sldMkLst>
          <pc:docMk/>
          <pc:sldMk cId="0" sldId="260"/>
        </pc:sldMkLst>
        <pc:picChg chg="del">
          <ac:chgData name="Lai, Wilson" userId="2840974a-0d84-4886-90a9-9a3ed79f3a48" providerId="ADAL" clId="{9F23B798-9E84-4552-BA63-E776E805C424}" dt="2026-09-21T12:21:19.119" v="18" actId="21"/>
          <ac:picMkLst>
            <pc:docMk/>
            <pc:sldMk cId="0" sldId="260"/>
            <ac:picMk id="2" creationId="{00000000-0000-0000-0000-000000000000}"/>
          </ac:picMkLst>
        </pc:picChg>
        <pc:picChg chg="add">
          <ac:chgData name="Lai, Wilson" userId="2840974a-0d84-4886-90a9-9a3ed79f3a48" providerId="ADAL" clId="{9F23B798-9E84-4552-BA63-E776E805C424}" dt="2026-09-21T12:21:27.365" v="19" actId="22"/>
          <ac:picMkLst>
            <pc:docMk/>
            <pc:sldMk cId="0" sldId="260"/>
            <ac:picMk id="4" creationId="{E0D155D6-1527-7DCD-0A2D-8DC2C52F3791}"/>
          </ac:picMkLst>
        </pc:picChg>
      </pc:sldChg>
      <pc:sldChg chg="addSp delSp mod modNotes modNotesTx">
        <pc:chgData name="Lai, Wilson" userId="2840974a-0d84-4886-90a9-9a3ed79f3a48" providerId="ADAL" clId="{9F23B798-9E84-4552-BA63-E776E805C424}" dt="2026-09-21T14:34:30.901" v="60"/>
        <pc:sldMkLst>
          <pc:docMk/>
          <pc:sldMk cId="0" sldId="261"/>
        </pc:sldMkLst>
        <pc:picChg chg="del">
          <ac:chgData name="Lai, Wilson" userId="2840974a-0d84-4886-90a9-9a3ed79f3a48" providerId="ADAL" clId="{9F23B798-9E84-4552-BA63-E776E805C424}" dt="2026-09-21T12:21:28.885" v="20" actId="21"/>
          <ac:picMkLst>
            <pc:docMk/>
            <pc:sldMk cId="0" sldId="261"/>
            <ac:picMk id="2" creationId="{00000000-0000-0000-0000-000000000000}"/>
          </ac:picMkLst>
        </pc:picChg>
        <pc:picChg chg="add">
          <ac:chgData name="Lai, Wilson" userId="2840974a-0d84-4886-90a9-9a3ed79f3a48" providerId="ADAL" clId="{9F23B798-9E84-4552-BA63-E776E805C424}" dt="2026-09-21T12:21:37.240" v="21" actId="22"/>
          <ac:picMkLst>
            <pc:docMk/>
            <pc:sldMk cId="0" sldId="261"/>
            <ac:picMk id="4" creationId="{C6655252-4C4C-9D55-0CAE-DAFD6D07C2B9}"/>
          </ac:picMkLst>
        </pc:picChg>
      </pc:sldChg>
      <pc:sldChg chg="addSp delSp mod modNotes modNotesTx">
        <pc:chgData name="Lai, Wilson" userId="2840974a-0d84-4886-90a9-9a3ed79f3a48" providerId="ADAL" clId="{9F23B798-9E84-4552-BA63-E776E805C424}" dt="2026-09-21T14:34:30.901" v="60"/>
        <pc:sldMkLst>
          <pc:docMk/>
          <pc:sldMk cId="0" sldId="262"/>
        </pc:sldMkLst>
        <pc:picChg chg="del">
          <ac:chgData name="Lai, Wilson" userId="2840974a-0d84-4886-90a9-9a3ed79f3a48" providerId="ADAL" clId="{9F23B798-9E84-4552-BA63-E776E805C424}" dt="2026-09-21T12:21:38.653" v="22" actId="21"/>
          <ac:picMkLst>
            <pc:docMk/>
            <pc:sldMk cId="0" sldId="262"/>
            <ac:picMk id="2" creationId="{00000000-0000-0000-0000-000000000000}"/>
          </ac:picMkLst>
        </pc:picChg>
        <pc:picChg chg="add">
          <ac:chgData name="Lai, Wilson" userId="2840974a-0d84-4886-90a9-9a3ed79f3a48" providerId="ADAL" clId="{9F23B798-9E84-4552-BA63-E776E805C424}" dt="2026-09-21T12:21:52.053" v="23" actId="22"/>
          <ac:picMkLst>
            <pc:docMk/>
            <pc:sldMk cId="0" sldId="262"/>
            <ac:picMk id="4" creationId="{1C8C5B8E-24F1-E54C-1649-DB368D07AE4F}"/>
          </ac:picMkLst>
        </pc:picChg>
      </pc:sldChg>
      <pc:sldChg chg="addSp delSp mod modNotes">
        <pc:chgData name="Lai, Wilson" userId="2840974a-0d84-4886-90a9-9a3ed79f3a48" providerId="ADAL" clId="{9F23B798-9E84-4552-BA63-E776E805C424}" dt="2026-09-21T14:34:30.901" v="60"/>
        <pc:sldMkLst>
          <pc:docMk/>
          <pc:sldMk cId="0" sldId="263"/>
        </pc:sldMkLst>
        <pc:picChg chg="del">
          <ac:chgData name="Lai, Wilson" userId="2840974a-0d84-4886-90a9-9a3ed79f3a48" providerId="ADAL" clId="{9F23B798-9E84-4552-BA63-E776E805C424}" dt="2026-09-21T12:21:56.387" v="24" actId="21"/>
          <ac:picMkLst>
            <pc:docMk/>
            <pc:sldMk cId="0" sldId="263"/>
            <ac:picMk id="2" creationId="{00000000-0000-0000-0000-000000000000}"/>
          </ac:picMkLst>
        </pc:picChg>
        <pc:picChg chg="add">
          <ac:chgData name="Lai, Wilson" userId="2840974a-0d84-4886-90a9-9a3ed79f3a48" providerId="ADAL" clId="{9F23B798-9E84-4552-BA63-E776E805C424}" dt="2026-09-21T12:22:08.035" v="25" actId="22"/>
          <ac:picMkLst>
            <pc:docMk/>
            <pc:sldMk cId="0" sldId="263"/>
            <ac:picMk id="4" creationId="{077D1CB1-19CD-478B-EDF2-2D7BE3614F46}"/>
          </ac:picMkLst>
        </pc:picChg>
      </pc:sldChg>
      <pc:sldChg chg="addSp delSp mod modNotes modNotesTx">
        <pc:chgData name="Lai, Wilson" userId="2840974a-0d84-4886-90a9-9a3ed79f3a48" providerId="ADAL" clId="{9F23B798-9E84-4552-BA63-E776E805C424}" dt="2026-09-21T14:34:30.901" v="60"/>
        <pc:sldMkLst>
          <pc:docMk/>
          <pc:sldMk cId="0" sldId="264"/>
        </pc:sldMkLst>
        <pc:picChg chg="del">
          <ac:chgData name="Lai, Wilson" userId="2840974a-0d84-4886-90a9-9a3ed79f3a48" providerId="ADAL" clId="{9F23B798-9E84-4552-BA63-E776E805C424}" dt="2026-09-21T12:22:09.784" v="26" actId="21"/>
          <ac:picMkLst>
            <pc:docMk/>
            <pc:sldMk cId="0" sldId="264"/>
            <ac:picMk id="2" creationId="{00000000-0000-0000-0000-000000000000}"/>
          </ac:picMkLst>
        </pc:picChg>
        <pc:picChg chg="add">
          <ac:chgData name="Lai, Wilson" userId="2840974a-0d84-4886-90a9-9a3ed79f3a48" providerId="ADAL" clId="{9F23B798-9E84-4552-BA63-E776E805C424}" dt="2026-09-21T12:22:19.909" v="27" actId="22"/>
          <ac:picMkLst>
            <pc:docMk/>
            <pc:sldMk cId="0" sldId="264"/>
            <ac:picMk id="4" creationId="{2D403A2D-11CA-ED78-48AC-87391807DC34}"/>
          </ac:picMkLst>
        </pc:picChg>
      </pc:sldChg>
      <pc:sldChg chg="addSp delSp mod modNotes modNotesTx">
        <pc:chgData name="Lai, Wilson" userId="2840974a-0d84-4886-90a9-9a3ed79f3a48" providerId="ADAL" clId="{9F23B798-9E84-4552-BA63-E776E805C424}" dt="2026-09-21T14:34:30.901" v="60"/>
        <pc:sldMkLst>
          <pc:docMk/>
          <pc:sldMk cId="0" sldId="265"/>
        </pc:sldMkLst>
        <pc:picChg chg="del">
          <ac:chgData name="Lai, Wilson" userId="2840974a-0d84-4886-90a9-9a3ed79f3a48" providerId="ADAL" clId="{9F23B798-9E84-4552-BA63-E776E805C424}" dt="2026-09-21T12:22:21.583" v="28" actId="21"/>
          <ac:picMkLst>
            <pc:docMk/>
            <pc:sldMk cId="0" sldId="265"/>
            <ac:picMk id="2" creationId="{00000000-0000-0000-0000-000000000000}"/>
          </ac:picMkLst>
        </pc:picChg>
        <pc:picChg chg="add">
          <ac:chgData name="Lai, Wilson" userId="2840974a-0d84-4886-90a9-9a3ed79f3a48" providerId="ADAL" clId="{9F23B798-9E84-4552-BA63-E776E805C424}" dt="2026-09-21T12:22:29.110" v="29" actId="22"/>
          <ac:picMkLst>
            <pc:docMk/>
            <pc:sldMk cId="0" sldId="265"/>
            <ac:picMk id="4" creationId="{4DA11B9B-2E53-E960-DCA6-B771CCF81230}"/>
          </ac:picMkLst>
        </pc:picChg>
      </pc:sldChg>
      <pc:sldChg chg="addSp delSp mod modNotes">
        <pc:chgData name="Lai, Wilson" userId="2840974a-0d84-4886-90a9-9a3ed79f3a48" providerId="ADAL" clId="{9F23B798-9E84-4552-BA63-E776E805C424}" dt="2026-09-21T14:34:30.901" v="60"/>
        <pc:sldMkLst>
          <pc:docMk/>
          <pc:sldMk cId="0" sldId="266"/>
        </pc:sldMkLst>
        <pc:picChg chg="del">
          <ac:chgData name="Lai, Wilson" userId="2840974a-0d84-4886-90a9-9a3ed79f3a48" providerId="ADAL" clId="{9F23B798-9E84-4552-BA63-E776E805C424}" dt="2026-09-21T12:22:30.311" v="30" actId="21"/>
          <ac:picMkLst>
            <pc:docMk/>
            <pc:sldMk cId="0" sldId="266"/>
            <ac:picMk id="2" creationId="{00000000-0000-0000-0000-000000000000}"/>
          </ac:picMkLst>
        </pc:picChg>
        <pc:picChg chg="add">
          <ac:chgData name="Lai, Wilson" userId="2840974a-0d84-4886-90a9-9a3ed79f3a48" providerId="ADAL" clId="{9F23B798-9E84-4552-BA63-E776E805C424}" dt="2026-09-21T12:22:39.355" v="31" actId="22"/>
          <ac:picMkLst>
            <pc:docMk/>
            <pc:sldMk cId="0" sldId="266"/>
            <ac:picMk id="4" creationId="{7E78392F-EFAB-1889-E675-90F5919BFAA8}"/>
          </ac:picMkLst>
        </pc:picChg>
      </pc:sldChg>
      <pc:sldChg chg="addSp delSp mod modNotes modNotesTx">
        <pc:chgData name="Lai, Wilson" userId="2840974a-0d84-4886-90a9-9a3ed79f3a48" providerId="ADAL" clId="{9F23B798-9E84-4552-BA63-E776E805C424}" dt="2026-09-21T14:34:30.901" v="60"/>
        <pc:sldMkLst>
          <pc:docMk/>
          <pc:sldMk cId="0" sldId="267"/>
        </pc:sldMkLst>
        <pc:picChg chg="del">
          <ac:chgData name="Lai, Wilson" userId="2840974a-0d84-4886-90a9-9a3ed79f3a48" providerId="ADAL" clId="{9F23B798-9E84-4552-BA63-E776E805C424}" dt="2026-09-21T12:22:40.751" v="32" actId="21"/>
          <ac:picMkLst>
            <pc:docMk/>
            <pc:sldMk cId="0" sldId="267"/>
            <ac:picMk id="2" creationId="{00000000-0000-0000-0000-000000000000}"/>
          </ac:picMkLst>
        </pc:picChg>
        <pc:picChg chg="add">
          <ac:chgData name="Lai, Wilson" userId="2840974a-0d84-4886-90a9-9a3ed79f3a48" providerId="ADAL" clId="{9F23B798-9E84-4552-BA63-E776E805C424}" dt="2026-09-21T12:22:49.809" v="33" actId="22"/>
          <ac:picMkLst>
            <pc:docMk/>
            <pc:sldMk cId="0" sldId="267"/>
            <ac:picMk id="4" creationId="{2171D2D4-0F5A-A681-6E37-4BFEE918FFA8}"/>
          </ac:picMkLst>
        </pc:picChg>
      </pc:sldChg>
      <pc:sldChg chg="addSp delSp mod modNotes">
        <pc:chgData name="Lai, Wilson" userId="2840974a-0d84-4886-90a9-9a3ed79f3a48" providerId="ADAL" clId="{9F23B798-9E84-4552-BA63-E776E805C424}" dt="2026-09-21T14:34:30.901" v="60"/>
        <pc:sldMkLst>
          <pc:docMk/>
          <pc:sldMk cId="0" sldId="268"/>
        </pc:sldMkLst>
        <pc:picChg chg="del">
          <ac:chgData name="Lai, Wilson" userId="2840974a-0d84-4886-90a9-9a3ed79f3a48" providerId="ADAL" clId="{9F23B798-9E84-4552-BA63-E776E805C424}" dt="2026-09-21T12:22:50.924" v="34" actId="21"/>
          <ac:picMkLst>
            <pc:docMk/>
            <pc:sldMk cId="0" sldId="268"/>
            <ac:picMk id="2" creationId="{00000000-0000-0000-0000-000000000000}"/>
          </ac:picMkLst>
        </pc:picChg>
        <pc:picChg chg="add">
          <ac:chgData name="Lai, Wilson" userId="2840974a-0d84-4886-90a9-9a3ed79f3a48" providerId="ADAL" clId="{9F23B798-9E84-4552-BA63-E776E805C424}" dt="2026-09-21T12:22:58.427" v="35" actId="22"/>
          <ac:picMkLst>
            <pc:docMk/>
            <pc:sldMk cId="0" sldId="268"/>
            <ac:picMk id="4" creationId="{86974241-E4D6-94FE-9D1B-26FBF904D161}"/>
          </ac:picMkLst>
        </pc:picChg>
      </pc:sldChg>
      <pc:sldChg chg="addSp delSp mod modNotes modNotesTx">
        <pc:chgData name="Lai, Wilson" userId="2840974a-0d84-4886-90a9-9a3ed79f3a48" providerId="ADAL" clId="{9F23B798-9E84-4552-BA63-E776E805C424}" dt="2026-09-21T14:34:30.901" v="60"/>
        <pc:sldMkLst>
          <pc:docMk/>
          <pc:sldMk cId="0" sldId="269"/>
        </pc:sldMkLst>
        <pc:picChg chg="del">
          <ac:chgData name="Lai, Wilson" userId="2840974a-0d84-4886-90a9-9a3ed79f3a48" providerId="ADAL" clId="{9F23B798-9E84-4552-BA63-E776E805C424}" dt="2026-09-21T12:22:59.562" v="36" actId="21"/>
          <ac:picMkLst>
            <pc:docMk/>
            <pc:sldMk cId="0" sldId="269"/>
            <ac:picMk id="2" creationId="{00000000-0000-0000-0000-000000000000}"/>
          </ac:picMkLst>
        </pc:picChg>
        <pc:picChg chg="add">
          <ac:chgData name="Lai, Wilson" userId="2840974a-0d84-4886-90a9-9a3ed79f3a48" providerId="ADAL" clId="{9F23B798-9E84-4552-BA63-E776E805C424}" dt="2026-09-21T12:23:08.636" v="37" actId="22"/>
          <ac:picMkLst>
            <pc:docMk/>
            <pc:sldMk cId="0" sldId="269"/>
            <ac:picMk id="4" creationId="{B0168EE7-4DCE-7225-0250-71C53E4B5E04}"/>
          </ac:picMkLst>
        </pc:picChg>
      </pc:sldChg>
      <pc:sldChg chg="addSp delSp mod modNotes modNotesTx">
        <pc:chgData name="Lai, Wilson" userId="2840974a-0d84-4886-90a9-9a3ed79f3a48" providerId="ADAL" clId="{9F23B798-9E84-4552-BA63-E776E805C424}" dt="2026-09-21T14:34:30.901" v="60"/>
        <pc:sldMkLst>
          <pc:docMk/>
          <pc:sldMk cId="0" sldId="270"/>
        </pc:sldMkLst>
        <pc:picChg chg="del">
          <ac:chgData name="Lai, Wilson" userId="2840974a-0d84-4886-90a9-9a3ed79f3a48" providerId="ADAL" clId="{9F23B798-9E84-4552-BA63-E776E805C424}" dt="2026-09-21T12:23:09.790" v="38" actId="21"/>
          <ac:picMkLst>
            <pc:docMk/>
            <pc:sldMk cId="0" sldId="270"/>
            <ac:picMk id="2" creationId="{00000000-0000-0000-0000-000000000000}"/>
          </ac:picMkLst>
        </pc:picChg>
        <pc:picChg chg="add">
          <ac:chgData name="Lai, Wilson" userId="2840974a-0d84-4886-90a9-9a3ed79f3a48" providerId="ADAL" clId="{9F23B798-9E84-4552-BA63-E776E805C424}" dt="2026-09-21T12:23:50.916" v="39" actId="22"/>
          <ac:picMkLst>
            <pc:docMk/>
            <pc:sldMk cId="0" sldId="270"/>
            <ac:picMk id="4" creationId="{413EBDFD-0FE9-28D0-BFB1-1AFEE88B56CB}"/>
          </ac:picMkLst>
        </pc:picChg>
      </pc:sldChg>
      <pc:sldChg chg="addSp delSp mod modNotes modNotesTx">
        <pc:chgData name="Lai, Wilson" userId="2840974a-0d84-4886-90a9-9a3ed79f3a48" providerId="ADAL" clId="{9F23B798-9E84-4552-BA63-E776E805C424}" dt="2026-09-21T14:34:30.901" v="60"/>
        <pc:sldMkLst>
          <pc:docMk/>
          <pc:sldMk cId="757674224" sldId="271"/>
        </pc:sldMkLst>
        <pc:picChg chg="del">
          <ac:chgData name="Lai, Wilson" userId="2840974a-0d84-4886-90a9-9a3ed79f3a48" providerId="ADAL" clId="{9F23B798-9E84-4552-BA63-E776E805C424}" dt="2026-09-21T12:23:54.035" v="40" actId="21"/>
          <ac:picMkLst>
            <pc:docMk/>
            <pc:sldMk cId="757674224" sldId="271"/>
            <ac:picMk id="3" creationId="{78BC9C67-48D8-920B-D601-290E1D17CEA5}"/>
          </ac:picMkLst>
        </pc:picChg>
        <pc:picChg chg="add">
          <ac:chgData name="Lai, Wilson" userId="2840974a-0d84-4886-90a9-9a3ed79f3a48" providerId="ADAL" clId="{9F23B798-9E84-4552-BA63-E776E805C424}" dt="2026-09-21T12:24:02.740" v="41" actId="22"/>
          <ac:picMkLst>
            <pc:docMk/>
            <pc:sldMk cId="757674224" sldId="271"/>
            <ac:picMk id="4" creationId="{7C4F18E0-476C-E512-8CF6-9BFDA84C7E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0822C-FBAB-4E1D-9D05-F221D9EDFA7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B6E8D-8686-42BD-BE18-28E768D986FF}" type="slidenum">
              <a:rPr lang="en-US" smtClean="0"/>
              <a:t>‹#›</a:t>
            </a:fld>
            <a:endParaRPr lang="en-US"/>
          </a:p>
        </p:txBody>
      </p:sp>
    </p:spTree>
    <p:extLst>
      <p:ext uri="{BB962C8B-B14F-4D97-AF65-F5344CB8AC3E}">
        <p14:creationId xmlns:p14="http://schemas.microsoft.com/office/powerpoint/2010/main" val="4227944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standing at one of the most profound crossroads in human history—a shift in how we understand the natural world, conduct scientific inquiry, and build human knowledge. </a:t>
            </a:r>
          </a:p>
          <a:p>
            <a:r>
              <a:rPr lang="en-US" sz="1200" kern="1200" dirty="0">
                <a:solidFill>
                  <a:schemeClr val="tx1"/>
                </a:solidFill>
                <a:effectLst/>
                <a:latin typeface="+mn-lt"/>
                <a:ea typeface="+mn-ea"/>
                <a:cs typeface="+mn-cs"/>
              </a:rPr>
              <a:t>The title of this presentation is </a:t>
            </a:r>
            <a:r>
              <a:rPr lang="en-US" sz="1200" i="1" kern="1200" dirty="0">
                <a:solidFill>
                  <a:schemeClr val="tx1"/>
                </a:solidFill>
                <a:effectLst/>
                <a:latin typeface="+mn-lt"/>
                <a:ea typeface="+mn-ea"/>
                <a:cs typeface="+mn-cs"/>
              </a:rPr>
              <a:t>The Illuminated Black Box: AI's Impact on the Future of Science</a:t>
            </a:r>
            <a:r>
              <a:rPr lang="en-US" sz="1200" kern="1200" dirty="0">
                <a:solidFill>
                  <a:schemeClr val="tx1"/>
                </a:solidFill>
                <a:effectLst/>
                <a:latin typeface="+mn-lt"/>
                <a:ea typeface="+mn-ea"/>
                <a:cs typeface="+mn-cs"/>
              </a:rPr>
              <a:t>. These insights are distilled from the Nobel Prize Dialogue Seoul 2026, where leading minds in physics, chemistry, biology, ethics, and computer science gathered to address a central question: What happens to human science when our tools begin to discover things faster than we can comprehend them? </a:t>
            </a:r>
          </a:p>
          <a:p>
            <a:r>
              <a:rPr lang="en-US" sz="1200" kern="1200" dirty="0">
                <a:solidFill>
                  <a:schemeClr val="tx1"/>
                </a:solidFill>
                <a:effectLst/>
                <a:latin typeface="+mn-lt"/>
                <a:ea typeface="+mn-ea"/>
                <a:cs typeface="+mn-cs"/>
              </a:rPr>
              <a:t>Look at the imagery on this slide. You see the fusion of computational networks—represented by interconnected geometric grids and digital signals—intertwined with fundamental physical entities: subatomic structures, quantum orbitals, and the double helix of DNA. For centuries, science operated by human brains observing nature, formulating hypotheses, and manually running experiments. Today, Artificial Intelligence acts as an illuminating spotlight shining into the 'black box' of complex physical phenomena. But while it illuminates answers, it also creates new questions about what human understanding actually means. Over the next 15 slides, we will unpack how AI is disrupting disciplines, shifting human roles, and why maintaining the 'human element' is the only safeguard against catastrophic failure. </a:t>
            </a:r>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AI's Impact on the Future of Science | Nobel Prize Dialogue Seoul 2026</a:t>
            </a:r>
          </a:p>
          <a:p>
            <a:r>
              <a:rPr lang="en-US" dirty="0"/>
              <a:t>https://www.youtube.com/watch?v=vSfL5fi-Q78</a:t>
            </a:r>
          </a:p>
        </p:txBody>
      </p:sp>
      <p:sp>
        <p:nvSpPr>
          <p:cNvPr id="4" name="Slide Number Placeholder 3"/>
          <p:cNvSpPr>
            <a:spLocks noGrp="1"/>
          </p:cNvSpPr>
          <p:nvPr>
            <p:ph type="sldNum" sz="quarter" idx="5"/>
          </p:nvPr>
        </p:nvSpPr>
        <p:spPr/>
        <p:txBody>
          <a:bodyPr/>
          <a:lstStyle/>
          <a:p>
            <a:fld id="{0AEB6E8D-8686-42BD-BE18-28E768D986FF}" type="slidenum">
              <a:rPr lang="en-US" smtClean="0"/>
              <a:t>1</a:t>
            </a:fld>
            <a:endParaRPr lang="en-US"/>
          </a:p>
        </p:txBody>
      </p:sp>
    </p:spTree>
    <p:extLst>
      <p:ext uri="{BB962C8B-B14F-4D97-AF65-F5344CB8AC3E}">
        <p14:creationId xmlns:p14="http://schemas.microsoft.com/office/powerpoint/2010/main" val="1485159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take a historical perspective. For the past 5,000 years—from early Babylonian astronomy and Archimedes' lever, all the way to Einstein’s general relativity—if you asked the question, </a:t>
            </a:r>
            <a:r>
              <a:rPr lang="en-US" sz="1200" i="1" kern="1200" dirty="0">
                <a:solidFill>
                  <a:schemeClr val="tx1"/>
                </a:solidFill>
                <a:effectLst/>
                <a:latin typeface="+mn-lt"/>
                <a:ea typeface="+mn-ea"/>
                <a:cs typeface="+mn-cs"/>
              </a:rPr>
              <a:t>'How does scientific discovery happen?'</a:t>
            </a:r>
            <a:r>
              <a:rPr lang="en-US" sz="1200" kern="1200" dirty="0">
                <a:solidFill>
                  <a:schemeClr val="tx1"/>
                </a:solidFill>
                <a:effectLst/>
                <a:latin typeface="+mn-lt"/>
                <a:ea typeface="+mn-ea"/>
                <a:cs typeface="+mn-cs"/>
              </a:rPr>
              <a:t>, the answer was simple and singular: </a:t>
            </a:r>
            <a:r>
              <a:rPr lang="en-US" sz="1200" i="1" kern="1200" dirty="0">
                <a:solidFill>
                  <a:schemeClr val="tx1"/>
                </a:solidFill>
                <a:effectLst/>
                <a:latin typeface="+mn-lt"/>
                <a:ea typeface="+mn-ea"/>
                <a:cs typeface="+mn-cs"/>
              </a:rPr>
              <a:t>People.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Human cognitive capacity was the sole engine of the scientific method. We observed data, manually detected patterns, formulated hypotheses in our minds, performed physical experimentation, and iteratively arrived at validated theories. As you see on the left timeline, progress was steady, but constrained entirely by human brain capacity, biological lifespans, and manual labor. </a:t>
            </a:r>
          </a:p>
          <a:p>
            <a:r>
              <a:rPr lang="en-US" sz="1200" kern="1200" dirty="0">
                <a:solidFill>
                  <a:schemeClr val="tx1"/>
                </a:solidFill>
                <a:effectLst/>
                <a:latin typeface="+mn-lt"/>
                <a:ea typeface="+mn-ea"/>
                <a:cs typeface="+mn-cs"/>
              </a:rPr>
              <a:t>Now, look at the right side: </a:t>
            </a:r>
            <a:r>
              <a:rPr lang="en-US" sz="1200" b="1" kern="1200" dirty="0">
                <a:solidFill>
                  <a:schemeClr val="tx1"/>
                </a:solidFill>
                <a:effectLst/>
                <a:latin typeface="+mn-lt"/>
                <a:ea typeface="+mn-ea"/>
                <a:cs typeface="+mn-cs"/>
              </a:rPr>
              <a:t>2024 and Beyond.</a:t>
            </a:r>
            <a:r>
              <a:rPr lang="en-US" sz="1200" kern="1200" dirty="0">
                <a:solidFill>
                  <a:schemeClr val="tx1"/>
                </a:solidFill>
                <a:effectLst/>
                <a:latin typeface="+mn-lt"/>
                <a:ea typeface="+mn-ea"/>
                <a:cs typeface="+mn-cs"/>
              </a:rPr>
              <a:t> A monumental boundary was crossed when the 2024 Nobel Prizes in both Physics and Chemistry were awarded for AI research—specifically neural networks and AI protein structure prediction systems like AlphaFold. This signaled that AI was no longer just a calculator or a data storage tool; it had become an active partner in science. </a:t>
            </a:r>
          </a:p>
          <a:p>
            <a:r>
              <a:rPr lang="en-US" sz="1200" kern="1200" dirty="0">
                <a:solidFill>
                  <a:schemeClr val="tx1"/>
                </a:solidFill>
                <a:effectLst/>
                <a:latin typeface="+mn-lt"/>
                <a:ea typeface="+mn-ea"/>
                <a:cs typeface="+mn-cs"/>
              </a:rPr>
              <a:t>AI now ingests astronomical datasets, detects high-dimensional patterns invisible to human senses, generates novel hypotheses, runs millions of virtual simulations, and assists in automated validation. The fundamental methodology of scientific inquiry has changed forever. We have officially exited the human-only era of discovery and entered an era of hybrid, machine-accelerated intelligence.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2</a:t>
            </a:fld>
            <a:endParaRPr lang="en-US"/>
          </a:p>
        </p:txBody>
      </p:sp>
    </p:spTree>
    <p:extLst>
      <p:ext uri="{BB962C8B-B14F-4D97-AF65-F5344CB8AC3E}">
        <p14:creationId xmlns:p14="http://schemas.microsoft.com/office/powerpoint/2010/main" val="2710474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AI accelerates discovery, it introduces a deep theoretical dilemma—what I call </a:t>
            </a:r>
            <a:r>
              <a:rPr lang="en-US" sz="1200" i="1" kern="1200" dirty="0">
                <a:solidFill>
                  <a:schemeClr val="tx1"/>
                </a:solidFill>
                <a:effectLst/>
                <a:latin typeface="+mn-lt"/>
                <a:ea typeface="+mn-ea"/>
                <a:cs typeface="+mn-cs"/>
              </a:rPr>
              <a:t>The Divergence of Discovery and Understanding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closely at the graph on this slide. The top curve represents </a:t>
            </a:r>
            <a:r>
              <a:rPr lang="en-US" sz="1200" b="1" kern="1200" dirty="0">
                <a:solidFill>
                  <a:schemeClr val="tx1"/>
                </a:solidFill>
                <a:effectLst/>
                <a:latin typeface="+mn-lt"/>
                <a:ea typeface="+mn-ea"/>
                <a:cs typeface="+mn-cs"/>
              </a:rPr>
              <a:t>AI-Generated Discoveries</a:t>
            </a:r>
            <a:r>
              <a:rPr lang="en-US" sz="1200" kern="1200" dirty="0">
                <a:solidFill>
                  <a:schemeClr val="tx1"/>
                </a:solidFill>
                <a:effectLst/>
                <a:latin typeface="+mn-lt"/>
                <a:ea typeface="+mn-ea"/>
                <a:cs typeface="+mn-cs"/>
              </a:rPr>
              <a:t>—which is skyrocketing exponentially. The lower curve represents </a:t>
            </a:r>
            <a:r>
              <a:rPr lang="en-US" sz="1200" b="1" kern="1200" dirty="0">
                <a:solidFill>
                  <a:schemeClr val="tx1"/>
                </a:solidFill>
                <a:effectLst/>
                <a:latin typeface="+mn-lt"/>
                <a:ea typeface="+mn-ea"/>
                <a:cs typeface="+mn-cs"/>
              </a:rPr>
              <a:t>Human Causal Understanding</a:t>
            </a:r>
            <a:r>
              <a:rPr lang="en-US" sz="1200" kern="1200" dirty="0">
                <a:solidFill>
                  <a:schemeClr val="tx1"/>
                </a:solidFill>
                <a:effectLst/>
                <a:latin typeface="+mn-lt"/>
                <a:ea typeface="+mn-ea"/>
                <a:cs typeface="+mn-cs"/>
              </a:rPr>
              <a:t>—which is growing linearly or even plateauing. The widening gap between these two curves is what we call </a:t>
            </a:r>
            <a:r>
              <a:rPr lang="en-US" sz="1200" b="1" kern="1200" dirty="0">
                <a:solidFill>
                  <a:schemeClr val="tx1"/>
                </a:solidFill>
                <a:effectLst/>
                <a:latin typeface="+mn-lt"/>
                <a:ea typeface="+mn-ea"/>
                <a:cs typeface="+mn-cs"/>
              </a:rPr>
              <a:t>The Black Box Gap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the </a:t>
            </a:r>
            <a:r>
              <a:rPr lang="en-US" sz="1200" b="1" kern="1200" dirty="0">
                <a:solidFill>
                  <a:schemeClr val="tx1"/>
                </a:solidFill>
                <a:effectLst/>
                <a:latin typeface="+mn-lt"/>
                <a:ea typeface="+mn-ea"/>
                <a:cs typeface="+mn-cs"/>
              </a:rPr>
              <a:t>Mathematics Shock</a:t>
            </a:r>
            <a:r>
              <a:rPr lang="en-US" sz="1200" kern="1200" dirty="0">
                <a:solidFill>
                  <a:schemeClr val="tx1"/>
                </a:solidFill>
                <a:effectLst/>
                <a:latin typeface="+mn-lt"/>
                <a:ea typeface="+mn-ea"/>
                <a:cs typeface="+mn-cs"/>
              </a:rPr>
              <a:t> highlighted on the right. For decades or centuries, certain mathematical conjectures remained unresolved. Suddenly, advanced AI architectures suggest verified solutions or novel mathematical proofs in a matter of months or weeks. But here is the paradox: AI gives us the </a:t>
            </a:r>
            <a:r>
              <a:rPr lang="en-US" sz="1200" i="1" kern="1200" dirty="0">
                <a:solidFill>
                  <a:schemeClr val="tx1"/>
                </a:solidFill>
                <a:effectLst/>
                <a:latin typeface="+mn-lt"/>
                <a:ea typeface="+mn-ea"/>
                <a:cs typeface="+mn-cs"/>
              </a:rPr>
              <a:t>correct answer</a:t>
            </a:r>
            <a:r>
              <a:rPr lang="en-US" sz="1200" kern="1200" dirty="0">
                <a:solidFill>
                  <a:schemeClr val="tx1"/>
                </a:solidFill>
                <a:effectLst/>
                <a:latin typeface="+mn-lt"/>
                <a:ea typeface="+mn-ea"/>
                <a:cs typeface="+mn-cs"/>
              </a:rPr>
              <a:t>, but it cannot explain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it arrived at that answer in human-understandable terms. </a:t>
            </a:r>
          </a:p>
          <a:p>
            <a:r>
              <a:rPr lang="en-US" sz="1200" kern="1200" dirty="0">
                <a:solidFill>
                  <a:schemeClr val="tx1"/>
                </a:solidFill>
                <a:effectLst/>
                <a:latin typeface="+mn-lt"/>
                <a:ea typeface="+mn-ea"/>
                <a:cs typeface="+mn-cs"/>
              </a:rPr>
              <a:t>Science is currently being flooded with hyper-accurate predictions, valid molecular structures, and correct empirical results. Yet, our foundational theoretical understanding of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those solutions work is lagging behind. We are generating solutions without developing new foundational theories. If we accept predictions without understanding their underlying mechanisms, are we truly doing science, or are we simply operating a high-tech oracle?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3</a:t>
            </a:fld>
            <a:endParaRPr lang="en-US"/>
          </a:p>
        </p:txBody>
      </p:sp>
    </p:spTree>
    <p:extLst>
      <p:ext uri="{BB962C8B-B14F-4D97-AF65-F5344CB8AC3E}">
        <p14:creationId xmlns:p14="http://schemas.microsoft.com/office/powerpoint/2010/main" val="680918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does the 'Black Box Gap' matter? Why can’t we just accept AI's correct outputs and celebrate? Because </a:t>
            </a:r>
            <a:r>
              <a:rPr lang="en-US" sz="1200" b="1" kern="1200" dirty="0">
                <a:solidFill>
                  <a:schemeClr val="tx1"/>
                </a:solidFill>
                <a:effectLst/>
                <a:latin typeface="+mn-lt"/>
                <a:ea typeface="+mn-ea"/>
                <a:cs typeface="+mn-cs"/>
              </a:rPr>
              <a:t>unexplainable success breeds catastrophic risk.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Imagine a concrete scenario in medicine or drug discovery, illustrated here. An advanced Black Box AI ingests raw biological data—genomic sequences, clinical records, chemical libraries—and designs a novel molecule. Clinical trials show that this drug cures a deadly disease with 95% efficacy. </a:t>
            </a:r>
          </a:p>
          <a:p>
            <a:r>
              <a:rPr lang="en-US" sz="1200" kern="1200" dirty="0">
                <a:solidFill>
                  <a:schemeClr val="tx1"/>
                </a:solidFill>
                <a:effectLst/>
                <a:latin typeface="+mn-lt"/>
                <a:ea typeface="+mn-ea"/>
                <a:cs typeface="+mn-cs"/>
              </a:rPr>
              <a:t>However, because the AI operates as a black box, scientists do not understand the exact causal biological mechanism. They don't know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it works; they just know it </a:t>
            </a:r>
            <a:r>
              <a:rPr lang="en-US" sz="1200" i="1" kern="1200" dirty="0">
                <a:solidFill>
                  <a:schemeClr val="tx1"/>
                </a:solidFill>
                <a:effectLst/>
                <a:latin typeface="+mn-lt"/>
                <a:ea typeface="+mn-ea"/>
                <a:cs typeface="+mn-cs"/>
              </a:rPr>
              <a:t>does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5 or 10 years down the line when a genetic mutation, an environmental shift, or a drug-drug interaction causes catastrophic organ failure in a subset of patients? Because we lacked a causal model of the mechanism, the failure is untraceable. We cannot modify the molecule intelligently; we can only guess. </a:t>
            </a:r>
          </a:p>
          <a:p>
            <a:r>
              <a:rPr lang="en-US" sz="1200" kern="1200" dirty="0">
                <a:solidFill>
                  <a:schemeClr val="tx1"/>
                </a:solidFill>
                <a:effectLst/>
                <a:latin typeface="+mn-lt"/>
                <a:ea typeface="+mn-ea"/>
                <a:cs typeface="+mn-cs"/>
              </a:rPr>
              <a:t>This is why </a:t>
            </a:r>
            <a:r>
              <a:rPr lang="en-US" sz="1200" b="1" kern="1200" dirty="0">
                <a:solidFill>
                  <a:schemeClr val="tx1"/>
                </a:solidFill>
                <a:effectLst/>
                <a:latin typeface="+mn-lt"/>
                <a:ea typeface="+mn-ea"/>
                <a:cs typeface="+mn-cs"/>
              </a:rPr>
              <a:t>Explainable AI (XAI)</a:t>
            </a:r>
            <a:r>
              <a:rPr lang="en-US" sz="1200" kern="1200" dirty="0">
                <a:solidFill>
                  <a:schemeClr val="tx1"/>
                </a:solidFill>
                <a:effectLst/>
                <a:latin typeface="+mn-lt"/>
                <a:ea typeface="+mn-ea"/>
                <a:cs typeface="+mn-cs"/>
              </a:rPr>
              <a:t> is not merely an auditing tool or a regulatory compliance box to check. XAI is a mandatory </a:t>
            </a:r>
            <a:r>
              <a:rPr lang="en-US" sz="1200" i="1" kern="1200" dirty="0">
                <a:solidFill>
                  <a:schemeClr val="tx1"/>
                </a:solidFill>
                <a:effectLst/>
                <a:latin typeface="+mn-lt"/>
                <a:ea typeface="+mn-ea"/>
                <a:cs typeface="+mn-cs"/>
              </a:rPr>
              <a:t>new discipline</a:t>
            </a:r>
            <a:r>
              <a:rPr lang="en-US" sz="1200" kern="1200" dirty="0">
                <a:solidFill>
                  <a:schemeClr val="tx1"/>
                </a:solidFill>
                <a:effectLst/>
                <a:latin typeface="+mn-lt"/>
                <a:ea typeface="+mn-ea"/>
                <a:cs typeface="+mn-cs"/>
              </a:rPr>
              <a:t> of science. Its job is to bridge complex AI neural weights with human biological and physical frameworks, ensuring that every discovery comes paired with human comprehension.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4</a:t>
            </a:fld>
            <a:endParaRPr lang="en-US"/>
          </a:p>
        </p:txBody>
      </p:sp>
    </p:spTree>
    <p:extLst>
      <p:ext uri="{BB962C8B-B14F-4D97-AF65-F5344CB8AC3E}">
        <p14:creationId xmlns:p14="http://schemas.microsoft.com/office/powerpoint/2010/main" val="4186302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is not impacting all scientific domains in the same way. This matrix breaks down the shift across four key pillars: </a:t>
            </a:r>
            <a:r>
              <a:rPr lang="en-US" sz="1200" b="1" kern="1200" dirty="0">
                <a:solidFill>
                  <a:schemeClr val="tx1"/>
                </a:solidFill>
                <a:effectLst/>
                <a:latin typeface="+mn-lt"/>
                <a:ea typeface="+mn-ea"/>
                <a:cs typeface="+mn-cs"/>
              </a:rPr>
              <a:t>Mathematics, Biology, Chemistry, and Materials Science.</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Mathematics:</a:t>
            </a:r>
            <a:r>
              <a:rPr lang="en-US" sz="1200" kern="1200" dirty="0">
                <a:solidFill>
                  <a:schemeClr val="tx1"/>
                </a:solidFill>
                <a:effectLst/>
                <a:latin typeface="+mn-lt"/>
                <a:ea typeface="+mn-ea"/>
                <a:cs typeface="+mn-cs"/>
              </a:rPr>
              <a:t> We are moving from manual theorem proving to AI-generated proofs. The role of the mathematician is shifting toward auditing these proofs and managing a massive flood of automated mathematical discoveries. </a:t>
            </a:r>
          </a:p>
          <a:p>
            <a:pPr marL="228600" lvl="0" indent="-228600">
              <a:buFont typeface="+mj-lt"/>
              <a:buAutoNum type="arabicPeriod"/>
            </a:pPr>
            <a:r>
              <a:rPr lang="en-US" sz="1200" b="1" kern="1200" dirty="0">
                <a:solidFill>
                  <a:schemeClr val="tx1"/>
                </a:solidFill>
                <a:effectLst/>
                <a:latin typeface="+mn-lt"/>
                <a:ea typeface="+mn-ea"/>
                <a:cs typeface="+mn-cs"/>
              </a:rPr>
              <a:t>Biology:</a:t>
            </a:r>
            <a:r>
              <a:rPr lang="en-US" sz="1200" kern="1200" dirty="0">
                <a:solidFill>
                  <a:schemeClr val="tx1"/>
                </a:solidFill>
                <a:effectLst/>
                <a:latin typeface="+mn-lt"/>
                <a:ea typeface="+mn-ea"/>
                <a:cs typeface="+mn-cs"/>
              </a:rPr>
              <a:t> We have transitioned from spending years agonizing over single, static protein structures (via X-ray crystallography) to using AI to predict dynamic molecular interactions, cellular folding, and complex disease pathways in seconds. </a:t>
            </a:r>
          </a:p>
          <a:p>
            <a:pPr marL="228600" lvl="0" indent="-228600">
              <a:buFont typeface="+mj-lt"/>
              <a:buAutoNum type="arabicPeriod"/>
            </a:pPr>
            <a:r>
              <a:rPr lang="en-US" sz="1200" b="1" kern="1200" dirty="0">
                <a:solidFill>
                  <a:schemeClr val="tx1"/>
                </a:solidFill>
                <a:effectLst/>
                <a:latin typeface="+mn-lt"/>
                <a:ea typeface="+mn-ea"/>
                <a:cs typeface="+mn-cs"/>
              </a:rPr>
              <a:t>Chemistry:</a:t>
            </a:r>
            <a:r>
              <a:rPr lang="en-US" sz="1200" kern="1200" dirty="0">
                <a:solidFill>
                  <a:schemeClr val="tx1"/>
                </a:solidFill>
                <a:effectLst/>
                <a:latin typeface="+mn-lt"/>
                <a:ea typeface="+mn-ea"/>
                <a:cs typeface="+mn-cs"/>
              </a:rPr>
              <a:t> Historically, chemistry relied on optimizing known chemical reactions. AI optimizes these reactions with incredible efficiency. However, chemistry currently faces an innovation plateau: AI can optimize existing pathways, but it cannot yet intuitively invent entirely new classes of chemical reactions without human guidance. </a:t>
            </a:r>
          </a:p>
          <a:p>
            <a:pPr marL="228600" lvl="0" indent="-228600">
              <a:buFont typeface="+mj-lt"/>
              <a:buAutoNum type="arabicPeriod"/>
            </a:pPr>
            <a:r>
              <a:rPr lang="en-US" sz="1200" b="1" kern="1200" dirty="0">
                <a:solidFill>
                  <a:schemeClr val="tx1"/>
                </a:solidFill>
                <a:effectLst/>
                <a:latin typeface="+mn-lt"/>
                <a:ea typeface="+mn-ea"/>
                <a:cs typeface="+mn-cs"/>
              </a:rPr>
              <a:t>Materials Science:</a:t>
            </a:r>
            <a:r>
              <a:rPr lang="en-US" sz="1200" kern="1200" dirty="0">
                <a:solidFill>
                  <a:schemeClr val="tx1"/>
                </a:solidFill>
                <a:effectLst/>
                <a:latin typeface="+mn-lt"/>
                <a:ea typeface="+mn-ea"/>
                <a:cs typeface="+mn-cs"/>
              </a:rPr>
              <a:t> We used to gather data post-experiment and analyze it days later. Today, AI is integrated directly inside transmission electron microscopes, evaluating atomic-scale interactions in real-time as atoms move. </a:t>
            </a:r>
          </a:p>
          <a:p>
            <a:r>
              <a:rPr lang="en-US" sz="1200" kern="1200" dirty="0">
                <a:solidFill>
                  <a:schemeClr val="tx1"/>
                </a:solidFill>
                <a:effectLst/>
                <a:latin typeface="+mn-lt"/>
                <a:ea typeface="+mn-ea"/>
                <a:cs typeface="+mn-cs"/>
              </a:rPr>
              <a:t>Across every field, the bottleneck is moving away from </a:t>
            </a:r>
            <a:r>
              <a:rPr lang="en-US" sz="1200" i="1" kern="1200" dirty="0">
                <a:solidFill>
                  <a:schemeClr val="tx1"/>
                </a:solidFill>
                <a:effectLst/>
                <a:latin typeface="+mn-lt"/>
                <a:ea typeface="+mn-ea"/>
                <a:cs typeface="+mn-cs"/>
              </a:rPr>
              <a:t>data gathering</a:t>
            </a:r>
            <a:r>
              <a:rPr lang="en-US" sz="1200" kern="1200" dirty="0">
                <a:solidFill>
                  <a:schemeClr val="tx1"/>
                </a:solidFill>
                <a:effectLst/>
                <a:latin typeface="+mn-lt"/>
                <a:ea typeface="+mn-ea"/>
                <a:cs typeface="+mn-cs"/>
              </a:rPr>
              <a:t> and toward </a:t>
            </a:r>
            <a:r>
              <a:rPr lang="en-US" sz="1200" i="1" kern="1200" dirty="0">
                <a:solidFill>
                  <a:schemeClr val="tx1"/>
                </a:solidFill>
                <a:effectLst/>
                <a:latin typeface="+mn-lt"/>
                <a:ea typeface="+mn-ea"/>
                <a:cs typeface="+mn-cs"/>
              </a:rPr>
              <a:t>synthesis and interpretation.</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5</a:t>
            </a:fld>
            <a:endParaRPr lang="en-US"/>
          </a:p>
        </p:txBody>
      </p:sp>
    </p:spTree>
    <p:extLst>
      <p:ext uri="{BB962C8B-B14F-4D97-AF65-F5344CB8AC3E}">
        <p14:creationId xmlns:p14="http://schemas.microsoft.com/office/powerpoint/2010/main" val="2847182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physical automated systems advance, we are witnessing the rise of </a:t>
            </a:r>
            <a:r>
              <a:rPr lang="en-US" sz="1200" b="1" kern="1200" dirty="0">
                <a:solidFill>
                  <a:schemeClr val="tx1"/>
                </a:solidFill>
                <a:effectLst/>
                <a:latin typeface="+mn-lt"/>
                <a:ea typeface="+mn-ea"/>
                <a:cs typeface="+mn-cs"/>
              </a:rPr>
              <a:t>The Self-Driving Lab.</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Look at the circular workflow depicted here: </a:t>
            </a:r>
          </a:p>
          <a:p>
            <a:pPr marL="228600" lvl="0" indent="-228600">
              <a:buFont typeface="+mj-lt"/>
              <a:buAutoNum type="arabicPeriod"/>
            </a:pPr>
            <a:r>
              <a:rPr lang="en-US" sz="1200" kern="1200" dirty="0">
                <a:solidFill>
                  <a:schemeClr val="tx1"/>
                </a:solidFill>
                <a:effectLst/>
                <a:latin typeface="+mn-lt"/>
                <a:ea typeface="+mn-ea"/>
                <a:cs typeface="+mn-cs"/>
              </a:rPr>
              <a:t>AI proposes a scientific hypothesis. </a:t>
            </a:r>
          </a:p>
          <a:p>
            <a:pPr marL="228600" lvl="0" indent="-228600">
              <a:buFont typeface="+mj-lt"/>
              <a:buAutoNum type="arabicPeriod"/>
            </a:pPr>
            <a:r>
              <a:rPr lang="en-US" sz="1200" kern="1200" dirty="0">
                <a:solidFill>
                  <a:schemeClr val="tx1"/>
                </a:solidFill>
                <a:effectLst/>
                <a:latin typeface="+mn-lt"/>
                <a:ea typeface="+mn-ea"/>
                <a:cs typeface="+mn-cs"/>
              </a:rPr>
              <a:t>Robotic arms and liquid handlers execute the physical experiment. </a:t>
            </a:r>
          </a:p>
          <a:p>
            <a:pPr marL="228600" lvl="0" indent="-228600">
              <a:buFont typeface="+mj-lt"/>
              <a:buAutoNum type="arabicPeriod"/>
            </a:pPr>
            <a:r>
              <a:rPr lang="en-US" sz="1200" kern="1200" dirty="0">
                <a:solidFill>
                  <a:schemeClr val="tx1"/>
                </a:solidFill>
                <a:effectLst/>
                <a:latin typeface="+mn-lt"/>
                <a:ea typeface="+mn-ea"/>
                <a:cs typeface="+mn-cs"/>
              </a:rPr>
              <a:t>High-throughput sensors gather real-time data. </a:t>
            </a:r>
          </a:p>
          <a:p>
            <a:pPr marL="228600" lvl="0" indent="-228600">
              <a:buFont typeface="+mj-lt"/>
              <a:buAutoNum type="arabicPeriod"/>
            </a:pPr>
            <a:r>
              <a:rPr lang="en-US" sz="1200" kern="1200" dirty="0">
                <a:solidFill>
                  <a:schemeClr val="tx1"/>
                </a:solidFill>
                <a:effectLst/>
                <a:latin typeface="+mn-lt"/>
                <a:ea typeface="+mn-ea"/>
                <a:cs typeface="+mn-cs"/>
              </a:rPr>
              <a:t>The AI analyzes the results and automatically adjusts the hypothesis for the next cycle. </a:t>
            </a:r>
          </a:p>
          <a:p>
            <a:r>
              <a:rPr lang="en-US" sz="1200" kern="1200" dirty="0">
                <a:solidFill>
                  <a:schemeClr val="tx1"/>
                </a:solidFill>
                <a:effectLst/>
                <a:latin typeface="+mn-lt"/>
                <a:ea typeface="+mn-ea"/>
                <a:cs typeface="+mn-cs"/>
              </a:rPr>
              <a:t>Notice where the human is placed: </a:t>
            </a:r>
            <a:r>
              <a:rPr lang="en-US" sz="1200" b="1" kern="1200" dirty="0">
                <a:solidFill>
                  <a:schemeClr val="tx1"/>
                </a:solidFill>
                <a:effectLst/>
                <a:latin typeface="+mn-lt"/>
                <a:ea typeface="+mn-ea"/>
                <a:cs typeface="+mn-cs"/>
              </a:rPr>
              <a:t>Outside the execution loop.</a:t>
            </a:r>
            <a:r>
              <a:rPr lang="en-US" sz="1200" kern="1200" dirty="0">
                <a:solidFill>
                  <a:schemeClr val="tx1"/>
                </a:solidFill>
                <a:effectLst/>
                <a:latin typeface="+mn-lt"/>
                <a:ea typeface="+mn-ea"/>
                <a:cs typeface="+mn-cs"/>
              </a:rPr>
              <a:t> The human is no longer the technician holding pipettes or running titrations. The human acts as the </a:t>
            </a:r>
            <a:r>
              <a:rPr lang="en-US" sz="1200" i="1" kern="1200" dirty="0">
                <a:solidFill>
                  <a:schemeClr val="tx1"/>
                </a:solidFill>
                <a:effectLst/>
                <a:latin typeface="+mn-lt"/>
                <a:ea typeface="+mn-ea"/>
                <a:cs typeface="+mn-cs"/>
              </a:rPr>
              <a:t>Director</a:t>
            </a:r>
            <a:r>
              <a:rPr lang="en-US" sz="1200" kern="1200" dirty="0">
                <a:solidFill>
                  <a:schemeClr val="tx1"/>
                </a:solidFill>
                <a:effectLst/>
                <a:latin typeface="+mn-lt"/>
                <a:ea typeface="+mn-ea"/>
                <a:cs typeface="+mn-cs"/>
              </a:rPr>
              <a:t>—setting initial parameters, defining the grand challenge, and establishing boundary conditions. </a:t>
            </a:r>
          </a:p>
          <a:p>
            <a:r>
              <a:rPr lang="en-US" sz="1200" kern="1200" dirty="0">
                <a:solidFill>
                  <a:schemeClr val="tx1"/>
                </a:solidFill>
                <a:effectLst/>
                <a:latin typeface="+mn-lt"/>
                <a:ea typeface="+mn-ea"/>
                <a:cs typeface="+mn-cs"/>
              </a:rPr>
              <a:t>What is the current bottleneck of this fully autonomous loop? It isn't the software; it's </a:t>
            </a:r>
            <a:r>
              <a:rPr lang="en-US" sz="1200" b="1" kern="1200" dirty="0">
                <a:solidFill>
                  <a:schemeClr val="tx1"/>
                </a:solidFill>
                <a:effectLst/>
                <a:latin typeface="+mn-lt"/>
                <a:ea typeface="+mn-ea"/>
                <a:cs typeface="+mn-cs"/>
              </a:rPr>
              <a:t>robotic dexterity.</a:t>
            </a:r>
            <a:r>
              <a:rPr lang="en-US" sz="1200" kern="1200" dirty="0">
                <a:solidFill>
                  <a:schemeClr val="tx1"/>
                </a:solidFill>
                <a:effectLst/>
                <a:latin typeface="+mn-lt"/>
                <a:ea typeface="+mn-ea"/>
                <a:cs typeface="+mn-cs"/>
              </a:rPr>
              <a:t> While AI can formulate millions of hypotheses in seconds, physical robots still struggle with delicate physical manipulation, complex wet-lab materials, and hardware failures in unstructured environments. But as spatial AI and robotics catch up, execution will become fully algorithmic.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6</a:t>
            </a:fld>
            <a:endParaRPr lang="en-US"/>
          </a:p>
        </p:txBody>
      </p:sp>
    </p:spTree>
    <p:extLst>
      <p:ext uri="{BB962C8B-B14F-4D97-AF65-F5344CB8AC3E}">
        <p14:creationId xmlns:p14="http://schemas.microsoft.com/office/powerpoint/2010/main" val="749898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highlights one of the most subtle, yet dangerous risks of over-relying on AI: </a:t>
            </a:r>
            <a:r>
              <a:rPr lang="en-US" sz="1200" b="1" kern="1200" dirty="0">
                <a:solidFill>
                  <a:schemeClr val="tx1"/>
                </a:solidFill>
                <a:effectLst/>
                <a:latin typeface="+mn-lt"/>
                <a:ea typeface="+mn-ea"/>
                <a:cs typeface="+mn-cs"/>
              </a:rPr>
              <a:t>The Serendipity Gap.</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Look at the straight blue line representing </a:t>
            </a:r>
            <a:r>
              <a:rPr lang="en-US" sz="1200" b="1" kern="1200" dirty="0">
                <a:solidFill>
                  <a:schemeClr val="tx1"/>
                </a:solidFill>
                <a:effectLst/>
                <a:latin typeface="+mn-lt"/>
                <a:ea typeface="+mn-ea"/>
                <a:cs typeface="+mn-cs"/>
              </a:rPr>
              <a:t>AI Data-Driven Optimization</a:t>
            </a:r>
            <a:r>
              <a:rPr lang="en-US" sz="1200" kern="1200" dirty="0">
                <a:solidFill>
                  <a:schemeClr val="tx1"/>
                </a:solidFill>
                <a:effectLst/>
                <a:latin typeface="+mn-lt"/>
                <a:ea typeface="+mn-ea"/>
                <a:cs typeface="+mn-cs"/>
              </a:rPr>
              <a:t>. AI is designed to find the shortest, most efficient, and mathematically safe path from Point A to Point B based on existing data. It excels at perfection and optimization. </a:t>
            </a:r>
          </a:p>
          <a:p>
            <a:r>
              <a:rPr lang="en-US" sz="1200" kern="1200" dirty="0">
                <a:solidFill>
                  <a:schemeClr val="tx1"/>
                </a:solidFill>
                <a:effectLst/>
                <a:latin typeface="+mn-lt"/>
                <a:ea typeface="+mn-ea"/>
                <a:cs typeface="+mn-cs"/>
              </a:rPr>
              <a:t>But historically, how have the greatest scientific breakthroughs actually occurred? Think of Alexander Fleming discovering penicillin because a petri dish was accidentally contaminated and left by an open window. Think of microwave radiation discovered from a melted chocolate bar in a radar lab. </a:t>
            </a:r>
            <a:r>
              <a:rPr lang="en-US" sz="1200" b="1" kern="1200" dirty="0">
                <a:solidFill>
                  <a:schemeClr val="tx1"/>
                </a:solidFill>
                <a:effectLst/>
                <a:latin typeface="+mn-lt"/>
                <a:ea typeface="+mn-ea"/>
                <a:cs typeface="+mn-cs"/>
              </a:rPr>
              <a:t>The Human Edge</a:t>
            </a:r>
            <a:r>
              <a:rPr lang="en-US" sz="1200" kern="1200" dirty="0">
                <a:solidFill>
                  <a:schemeClr val="tx1"/>
                </a:solidFill>
                <a:effectLst/>
                <a:latin typeface="+mn-lt"/>
                <a:ea typeface="+mn-ea"/>
                <a:cs typeface="+mn-cs"/>
              </a:rPr>
              <a:t> lies in investigating anomalies, failed experiments, and unexpected errors. </a:t>
            </a:r>
          </a:p>
          <a:p>
            <a:r>
              <a:rPr lang="en-US" sz="1200" kern="1200" dirty="0">
                <a:solidFill>
                  <a:schemeClr val="tx1"/>
                </a:solidFill>
                <a:effectLst/>
                <a:latin typeface="+mn-lt"/>
                <a:ea typeface="+mn-ea"/>
                <a:cs typeface="+mn-cs"/>
              </a:rPr>
              <a:t>When AI cleans up data and smooths out experimental noise, it discards what it views as 'trash' or 'statistical anomalies.' In doing so, it inadvertently eliminates serendipity. </a:t>
            </a:r>
          </a:p>
          <a:p>
            <a:r>
              <a:rPr lang="en-US" sz="1200" kern="1200" dirty="0">
                <a:solidFill>
                  <a:schemeClr val="tx1"/>
                </a:solidFill>
                <a:effectLst/>
                <a:latin typeface="+mn-lt"/>
                <a:ea typeface="+mn-ea"/>
                <a:cs typeface="+mn-cs"/>
              </a:rPr>
              <a:t>To counter this, scientists are now developing </a:t>
            </a:r>
            <a:r>
              <a:rPr lang="en-US" sz="1200" b="1" kern="1200" dirty="0">
                <a:solidFill>
                  <a:schemeClr val="tx1"/>
                </a:solidFill>
                <a:effectLst/>
                <a:latin typeface="+mn-lt"/>
                <a:ea typeface="+mn-ea"/>
                <a:cs typeface="+mn-cs"/>
              </a:rPr>
              <a:t>Countermeasures</a:t>
            </a:r>
            <a:r>
              <a:rPr lang="en-US" sz="1200" kern="1200" dirty="0">
                <a:solidFill>
                  <a:schemeClr val="tx1"/>
                </a:solidFill>
                <a:effectLst/>
                <a:latin typeface="+mn-lt"/>
                <a:ea typeface="+mn-ea"/>
                <a:cs typeface="+mn-cs"/>
              </a:rPr>
              <a:t>—deliberately programming AI to force reactions between molecules that </a:t>
            </a:r>
            <a:r>
              <a:rPr lang="en-US" sz="1200" i="1" kern="1200" dirty="0">
                <a:solidFill>
                  <a:schemeClr val="tx1"/>
                </a:solidFill>
                <a:effectLst/>
                <a:latin typeface="+mn-lt"/>
                <a:ea typeface="+mn-ea"/>
                <a:cs typeface="+mn-cs"/>
              </a:rPr>
              <a:t>shouldn't</a:t>
            </a:r>
            <a:r>
              <a:rPr lang="en-US" sz="1200" kern="1200" dirty="0">
                <a:solidFill>
                  <a:schemeClr val="tx1"/>
                </a:solidFill>
                <a:effectLst/>
                <a:latin typeface="+mn-lt"/>
                <a:ea typeface="+mn-ea"/>
                <a:cs typeface="+mn-cs"/>
              </a:rPr>
              <a:t> work theoretically, deliberately throwing unexpected anomalies into the model to artificially induce serendipitous discovery.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7</a:t>
            </a:fld>
            <a:endParaRPr lang="en-US"/>
          </a:p>
        </p:txBody>
      </p:sp>
    </p:spTree>
    <p:extLst>
      <p:ext uri="{BB962C8B-B14F-4D97-AF65-F5344CB8AC3E}">
        <p14:creationId xmlns:p14="http://schemas.microsoft.com/office/powerpoint/2010/main" val="1928173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we confront a crisis facing academic institutions worldwide: </a:t>
            </a:r>
            <a:r>
              <a:rPr lang="en-US" sz="1200" b="1" kern="1200" dirty="0">
                <a:solidFill>
                  <a:schemeClr val="tx1"/>
                </a:solidFill>
                <a:effectLst/>
                <a:latin typeface="+mn-lt"/>
                <a:ea typeface="+mn-ea"/>
                <a:cs typeface="+mn-cs"/>
              </a:rPr>
              <a:t>The Publication Crisis and 'AI Slop.'</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Look at the funnel on this slide. On top, you have an overwhelming torrent of academic papers. Under immense pressure to 'publish or perish,' researchers—especially early-career scientists—are using LLMs and AI generators to instantly draft literature reviews, write Python scripts, generate synthetic data, and construct hypotheses. </a:t>
            </a:r>
          </a:p>
          <a:p>
            <a:r>
              <a:rPr lang="en-US" sz="1200" kern="1200" dirty="0">
                <a:solidFill>
                  <a:schemeClr val="tx1"/>
                </a:solidFill>
                <a:effectLst/>
                <a:latin typeface="+mn-lt"/>
                <a:ea typeface="+mn-ea"/>
                <a:cs typeface="+mn-cs"/>
              </a:rPr>
              <a:t>This creates two major failures:</a:t>
            </a:r>
          </a:p>
          <a:p>
            <a:pPr marL="228600" lvl="0" indent="-228600">
              <a:buFont typeface="+mj-lt"/>
              <a:buAutoNum type="arabicPeriod"/>
            </a:pPr>
            <a:r>
              <a:rPr lang="en-US" sz="1200" b="1" kern="1200" dirty="0">
                <a:solidFill>
                  <a:schemeClr val="tx1"/>
                </a:solidFill>
                <a:effectLst/>
                <a:latin typeface="+mn-lt"/>
                <a:ea typeface="+mn-ea"/>
                <a:cs typeface="+mn-cs"/>
              </a:rPr>
              <a:t>The Peer Review Bottleneck:</a:t>
            </a:r>
            <a:r>
              <a:rPr lang="en-US" sz="1200" kern="1200" dirty="0">
                <a:solidFill>
                  <a:schemeClr val="tx1"/>
                </a:solidFill>
                <a:effectLst/>
                <a:latin typeface="+mn-lt"/>
                <a:ea typeface="+mn-ea"/>
                <a:cs typeface="+mn-cs"/>
              </a:rPr>
              <a:t> The traditional scientific peer-review infrastructure was built for a human throughput of thousands of papers per year, not millions of AI-generated manuscripts. The system is drowning under the weight of unverified, low-quality submissions. </a:t>
            </a:r>
          </a:p>
          <a:p>
            <a:pPr marL="228600" lvl="0" indent="-228600">
              <a:buFont typeface="+mj-lt"/>
              <a:buAutoNum type="arabicPeriod"/>
            </a:pPr>
            <a:r>
              <a:rPr lang="en-US" sz="1200" b="1" kern="1200" dirty="0">
                <a:solidFill>
                  <a:schemeClr val="tx1"/>
                </a:solidFill>
                <a:effectLst/>
                <a:latin typeface="+mn-lt"/>
                <a:ea typeface="+mn-ea"/>
                <a:cs typeface="+mn-cs"/>
              </a:rPr>
              <a:t>Cognitive Loss:</a:t>
            </a:r>
            <a:r>
              <a:rPr lang="en-US" sz="1200" kern="1200" dirty="0">
                <a:solidFill>
                  <a:schemeClr val="tx1"/>
                </a:solidFill>
                <a:effectLst/>
                <a:latin typeface="+mn-lt"/>
                <a:ea typeface="+mn-ea"/>
                <a:cs typeface="+mn-cs"/>
              </a:rPr>
              <a:t> When young scientists bypass the grueling, manual, iterative process of wrestling with messy data and summarizing literature themselves, they lose the time required for deep reflection and critical thinking. </a:t>
            </a:r>
          </a:p>
          <a:p>
            <a:r>
              <a:rPr lang="en-US" sz="1200" kern="1200" dirty="0">
                <a:solidFill>
                  <a:schemeClr val="tx1"/>
                </a:solidFill>
                <a:effectLst/>
                <a:latin typeface="+mn-lt"/>
                <a:ea typeface="+mn-ea"/>
                <a:cs typeface="+mn-cs"/>
              </a:rPr>
              <a:t>The end result is a flood of homogenized, unverified, and irreproducible science that threatens the foundation of public trust in scientific research.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8</a:t>
            </a:fld>
            <a:endParaRPr lang="en-US"/>
          </a:p>
        </p:txBody>
      </p:sp>
    </p:spTree>
    <p:extLst>
      <p:ext uri="{BB962C8B-B14F-4D97-AF65-F5344CB8AC3E}">
        <p14:creationId xmlns:p14="http://schemas.microsoft.com/office/powerpoint/2010/main" val="2331900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has the potential to democratize science, but right now, it threatens to widen global inequality. This slide illustrates </a:t>
            </a:r>
            <a:r>
              <a:rPr lang="en-US" sz="1200" b="1" kern="1200" dirty="0">
                <a:solidFill>
                  <a:schemeClr val="tx1"/>
                </a:solidFill>
                <a:effectLst/>
                <a:latin typeface="+mn-lt"/>
                <a:ea typeface="+mn-ea"/>
                <a:cs typeface="+mn-cs"/>
              </a:rPr>
              <a:t>The Expanding Equity Divide</a:t>
            </a:r>
            <a:r>
              <a:rPr lang="en-US" sz="1200" kern="1200" dirty="0">
                <a:solidFill>
                  <a:schemeClr val="tx1"/>
                </a:solidFill>
                <a:effectLst/>
                <a:latin typeface="+mn-lt"/>
                <a:ea typeface="+mn-ea"/>
                <a:cs typeface="+mn-cs"/>
              </a:rPr>
              <a:t> through two major barriers: </a:t>
            </a:r>
          </a:p>
          <a:p>
            <a:pPr marL="228600" lvl="0" indent="-228600">
              <a:buFont typeface="+mj-lt"/>
              <a:buAutoNum type="arabicPeriod"/>
            </a:pPr>
            <a:r>
              <a:rPr lang="en-US" sz="1200" b="1" kern="1200" dirty="0">
                <a:solidFill>
                  <a:schemeClr val="tx1"/>
                </a:solidFill>
                <a:effectLst/>
                <a:latin typeface="+mn-lt"/>
                <a:ea typeface="+mn-ea"/>
                <a:cs typeface="+mn-cs"/>
              </a:rPr>
              <a:t>The Compute Monopoly:</a:t>
            </a:r>
            <a:r>
              <a:rPr lang="en-US" sz="1200" kern="1200" dirty="0">
                <a:solidFill>
                  <a:schemeClr val="tx1"/>
                </a:solidFill>
                <a:effectLst/>
                <a:latin typeface="+mn-lt"/>
                <a:ea typeface="+mn-ea"/>
                <a:cs typeface="+mn-cs"/>
              </a:rPr>
              <a:t> Advanced AI-driven science requires massive compute clusters, high-end GPUs, and enormous data centers. Today, these assets are heavily concentrated in a handful of tech giants and wealthy nations. Well-funded institutions compound their lead, while researchers in developing nations risk becoming mere consumers of pre-packaged AI tools rather than creators of foundational science. </a:t>
            </a:r>
          </a:p>
          <a:p>
            <a:pPr marL="228600" lvl="0" indent="-228600">
              <a:buFont typeface="+mj-lt"/>
              <a:buAutoNum type="arabicPeriod"/>
            </a:pPr>
            <a:r>
              <a:rPr lang="en-US" sz="1200" b="1" kern="1200" dirty="0">
                <a:solidFill>
                  <a:schemeClr val="tx1"/>
                </a:solidFill>
                <a:effectLst/>
                <a:latin typeface="+mn-lt"/>
                <a:ea typeface="+mn-ea"/>
                <a:cs typeface="+mn-cs"/>
              </a:rPr>
              <a:t>The Linguistic Tax:</a:t>
            </a:r>
            <a:r>
              <a:rPr lang="en-US" sz="1200" kern="1200" dirty="0">
                <a:solidFill>
                  <a:schemeClr val="tx1"/>
                </a:solidFill>
                <a:effectLst/>
                <a:latin typeface="+mn-lt"/>
                <a:ea typeface="+mn-ea"/>
                <a:cs typeface="+mn-cs"/>
              </a:rPr>
              <a:t> Most major foundation models use tokenizers optimized for English. Processing scientific text or prompts in non-English languages requires significantly more tokens per sentence. This creates an explicit 'economic tax' on non-English-speaking institutions, raising API and compute costs simply because of language differences. </a:t>
            </a:r>
          </a:p>
          <a:p>
            <a:r>
              <a:rPr lang="en-US" sz="1200" kern="1200" dirty="0">
                <a:solidFill>
                  <a:schemeClr val="tx1"/>
                </a:solidFill>
                <a:effectLst/>
                <a:latin typeface="+mn-lt"/>
                <a:ea typeface="+mn-ea"/>
                <a:cs typeface="+mn-cs"/>
              </a:rPr>
              <a:t>If we do not actively establish open-access compute infrastructure and multilingual AI frameworks, the global scientific divide will become insurmountable.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9</a:t>
            </a:fld>
            <a:endParaRPr lang="en-US"/>
          </a:p>
        </p:txBody>
      </p:sp>
    </p:spTree>
    <p:extLst>
      <p:ext uri="{BB962C8B-B14F-4D97-AF65-F5344CB8AC3E}">
        <p14:creationId xmlns:p14="http://schemas.microsoft.com/office/powerpoint/2010/main" val="1313319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an era driven by quarterly returns and algorithmic efficiency, we must champion what Abraham Flexner famously called </a:t>
            </a:r>
            <a:r>
              <a:rPr lang="en-US" sz="1200" b="1" kern="1200" dirty="0">
                <a:solidFill>
                  <a:schemeClr val="tx1"/>
                </a:solidFill>
                <a:effectLst/>
                <a:latin typeface="+mn-lt"/>
                <a:ea typeface="+mn-ea"/>
                <a:cs typeface="+mn-cs"/>
              </a:rPr>
              <a:t>'The Usefulness of Useless Knowledge.'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AI is exceptional at optimizing solutions for clear, well-defined problems—like designing a target antibody or optimizing a battery cell. But AI prioritizes based on historical reward functions. It struggles to value pure, curiosity-driven exploration that appears to have no immediate practical application. </a:t>
            </a:r>
          </a:p>
          <a:p>
            <a:r>
              <a:rPr lang="en-US" sz="1200" kern="1200" dirty="0">
                <a:solidFill>
                  <a:schemeClr val="tx1"/>
                </a:solidFill>
                <a:effectLst/>
                <a:latin typeface="+mn-lt"/>
                <a:ea typeface="+mn-ea"/>
                <a:cs typeface="+mn-cs"/>
              </a:rPr>
              <a:t>Look at the historical example on this slide. In the 1860s, James Clerk Maxwell formulated his equations unifying electricity and magnetism. At the time, politicians and pragmatic thinkers considered it purely theoretical and 'useless.' Yet, Maxwell’s equations laid the groundwork for modern global telecommunications, satellite technology, wireless networks, and fiber optics. </a:t>
            </a:r>
          </a:p>
          <a:p>
            <a:r>
              <a:rPr lang="en-US" sz="1200" kern="1200" dirty="0">
                <a:solidFill>
                  <a:schemeClr val="tx1"/>
                </a:solidFill>
                <a:effectLst/>
                <a:latin typeface="+mn-lt"/>
                <a:ea typeface="+mn-ea"/>
                <a:cs typeface="+mn-cs"/>
              </a:rPr>
              <a:t>If we allow AI reward functions to dictate research funding, we risk defunding orthogonal, curiosity-driven basic science. We must protect research that seems 'useless' today, because it forms the seed of tomorrow's revolutions.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10</a:t>
            </a:fld>
            <a:endParaRPr lang="en-US"/>
          </a:p>
        </p:txBody>
      </p:sp>
    </p:spTree>
    <p:extLst>
      <p:ext uri="{BB962C8B-B14F-4D97-AF65-F5344CB8AC3E}">
        <p14:creationId xmlns:p14="http://schemas.microsoft.com/office/powerpoint/2010/main" val="2478034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the tools of science are changing, the skills required to be a successful scientist must also evolve. </a:t>
            </a:r>
          </a:p>
          <a:p>
            <a:r>
              <a:rPr lang="en-US" sz="1200" kern="1200" dirty="0">
                <a:solidFill>
                  <a:schemeClr val="tx1"/>
                </a:solidFill>
                <a:effectLst/>
                <a:latin typeface="+mn-lt"/>
                <a:ea typeface="+mn-ea"/>
                <a:cs typeface="+mn-cs"/>
              </a:rPr>
              <a:t>On the left, we see </a:t>
            </a:r>
            <a:r>
              <a:rPr lang="en-US" sz="1200" b="1" kern="1200" dirty="0">
                <a:solidFill>
                  <a:schemeClr val="tx1"/>
                </a:solidFill>
                <a:effectLst/>
                <a:latin typeface="+mn-lt"/>
                <a:ea typeface="+mn-ea"/>
                <a:cs typeface="+mn-cs"/>
              </a:rPr>
              <a:t>The Legacy Scientist.</a:t>
            </a:r>
            <a:r>
              <a:rPr lang="en-US" sz="1200" kern="1200" dirty="0">
                <a:solidFill>
                  <a:schemeClr val="tx1"/>
                </a:solidFill>
                <a:effectLst/>
                <a:latin typeface="+mn-lt"/>
                <a:ea typeface="+mn-ea"/>
                <a:cs typeface="+mn-cs"/>
              </a:rPr>
              <a:t> Historically, value was placed on memorizing existing literature, finding answers manually, performing complex mathematical calculations by hand, and working in isolated specialization. </a:t>
            </a:r>
          </a:p>
          <a:p>
            <a:r>
              <a:rPr lang="en-US" sz="1200" kern="1200" dirty="0">
                <a:solidFill>
                  <a:schemeClr val="tx1"/>
                </a:solidFill>
                <a:effectLst/>
                <a:latin typeface="+mn-lt"/>
                <a:ea typeface="+mn-ea"/>
                <a:cs typeface="+mn-cs"/>
              </a:rPr>
              <a:t>On the right, we see </a:t>
            </a:r>
            <a:r>
              <a:rPr lang="en-US" sz="1200" b="1" kern="1200" dirty="0">
                <a:solidFill>
                  <a:schemeClr val="tx1"/>
                </a:solidFill>
                <a:effectLst/>
                <a:latin typeface="+mn-lt"/>
                <a:ea typeface="+mn-ea"/>
                <a:cs typeface="+mn-cs"/>
              </a:rPr>
              <a:t>The AI-Era Scientist.</a:t>
            </a:r>
            <a:r>
              <a:rPr lang="en-US" sz="1200" kern="1200" dirty="0">
                <a:solidFill>
                  <a:schemeClr val="tx1"/>
                </a:solidFill>
                <a:effectLst/>
                <a:latin typeface="+mn-lt"/>
                <a:ea typeface="+mn-ea"/>
                <a:cs typeface="+mn-cs"/>
              </a:rPr>
              <a:t> When answers become instant commodities, the premium shifts entirely from </a:t>
            </a:r>
            <a:r>
              <a:rPr lang="en-US" sz="1200" i="1" kern="1200" dirty="0">
                <a:solidFill>
                  <a:schemeClr val="tx1"/>
                </a:solidFill>
                <a:effectLst/>
                <a:latin typeface="+mn-lt"/>
                <a:ea typeface="+mn-ea"/>
                <a:cs typeface="+mn-cs"/>
              </a:rPr>
              <a:t>answering questions</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asking the right questions.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modern scientist must excel in four key areas: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Framing Problems:</a:t>
            </a:r>
            <a:r>
              <a:rPr lang="en-US" sz="1200" kern="1200" dirty="0">
                <a:solidFill>
                  <a:schemeClr val="tx1"/>
                </a:solidFill>
                <a:effectLst/>
                <a:latin typeface="+mn-lt"/>
                <a:ea typeface="+mn-ea"/>
                <a:cs typeface="+mn-cs"/>
              </a:rPr>
              <a:t> Formulating precise, creative, and novel scientific inquiries.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Rigorous Skepticism:</a:t>
            </a:r>
            <a:r>
              <a:rPr lang="en-US" sz="1200" kern="1200" dirty="0">
                <a:solidFill>
                  <a:schemeClr val="tx1"/>
                </a:solidFill>
                <a:effectLst/>
                <a:latin typeface="+mn-lt"/>
                <a:ea typeface="+mn-ea"/>
                <a:cs typeface="+mn-cs"/>
              </a:rPr>
              <a:t> Knowing how to interrogate AI outputs, detect subtle hallucinations, and audit algorithmic reasoning.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Ethical &amp; Value Judgments:</a:t>
            </a:r>
            <a:r>
              <a:rPr lang="en-US" sz="1200" kern="1200" dirty="0">
                <a:solidFill>
                  <a:schemeClr val="tx1"/>
                </a:solidFill>
                <a:effectLst/>
                <a:latin typeface="+mn-lt"/>
                <a:ea typeface="+mn-ea"/>
                <a:cs typeface="+mn-cs"/>
              </a:rPr>
              <a:t> Deciding </a:t>
            </a:r>
            <a:r>
              <a:rPr lang="en-US" sz="1200" i="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should be built and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discoveries affect society.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Interdisciplinary Collaboration:</a:t>
            </a:r>
            <a:r>
              <a:rPr lang="en-US" sz="1200" kern="1200" dirty="0">
                <a:solidFill>
                  <a:schemeClr val="tx1"/>
                </a:solidFill>
                <a:effectLst/>
                <a:latin typeface="+mn-lt"/>
                <a:ea typeface="+mn-ea"/>
                <a:cs typeface="+mn-cs"/>
              </a:rPr>
              <a:t> Bridging computer science, domain expertise, and human policy.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11</a:t>
            </a:fld>
            <a:endParaRPr lang="en-US"/>
          </a:p>
        </p:txBody>
      </p:sp>
    </p:spTree>
    <p:extLst>
      <p:ext uri="{BB962C8B-B14F-4D97-AF65-F5344CB8AC3E}">
        <p14:creationId xmlns:p14="http://schemas.microsoft.com/office/powerpoint/2010/main" val="1659280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train this new generation of scientists? We cannot simply ban AI, nor can we hand over all learning to it. We need a structured, 3-step educational paradigm: </a:t>
            </a:r>
          </a:p>
          <a:p>
            <a:r>
              <a:rPr lang="en-US" sz="1200" b="1" kern="1200" dirty="0">
                <a:solidFill>
                  <a:schemeClr val="tx1"/>
                </a:solidFill>
                <a:effectLst/>
                <a:latin typeface="+mn-lt"/>
                <a:ea typeface="+mn-ea"/>
                <a:cs typeface="+mn-cs"/>
              </a:rPr>
              <a:t>Step 1: AI as a Sparring Partner.</a:t>
            </a:r>
            <a:r>
              <a:rPr lang="en-US" sz="1200" kern="1200" dirty="0">
                <a:solidFill>
                  <a:schemeClr val="tx1"/>
                </a:solidFill>
                <a:effectLst/>
                <a:latin typeface="+mn-lt"/>
                <a:ea typeface="+mn-ea"/>
                <a:cs typeface="+mn-cs"/>
              </a:rPr>
              <a:t> Students should use AI as a personalized tutor to argue test logic, uncover blind spots in their arguments, and challenge their assumptions in real-time. </a:t>
            </a:r>
          </a:p>
          <a:p>
            <a:r>
              <a:rPr lang="en-US" sz="1200" b="1" kern="1200" dirty="0">
                <a:solidFill>
                  <a:schemeClr val="tx1"/>
                </a:solidFill>
                <a:effectLst/>
                <a:latin typeface="+mn-lt"/>
                <a:ea typeface="+mn-ea"/>
                <a:cs typeface="+mn-cs"/>
              </a:rPr>
              <a:t>Step 2: Core AI Literacy.</a:t>
            </a:r>
            <a:r>
              <a:rPr lang="en-US" sz="1200" kern="1200" dirty="0">
                <a:solidFill>
                  <a:schemeClr val="tx1"/>
                </a:solidFill>
                <a:effectLst/>
                <a:latin typeface="+mn-lt"/>
                <a:ea typeface="+mn-ea"/>
                <a:cs typeface="+mn-cs"/>
              </a:rPr>
              <a:t> We must teach the underlying statistical mechanics of AI models. Students need to intuitively understand how neural networks represent data, why hallucinations occur, and where failure modes hide. </a:t>
            </a:r>
          </a:p>
          <a:p>
            <a:r>
              <a:rPr lang="en-US" sz="1200" b="1" kern="1200" dirty="0">
                <a:solidFill>
                  <a:schemeClr val="tx1"/>
                </a:solidFill>
                <a:effectLst/>
                <a:latin typeface="+mn-lt"/>
                <a:ea typeface="+mn-ea"/>
                <a:cs typeface="+mn-cs"/>
              </a:rPr>
              <a:t>Step 3: The No-AI Zone.</a:t>
            </a:r>
            <a:r>
              <a:rPr lang="en-US" sz="1200" kern="1200" dirty="0">
                <a:solidFill>
                  <a:schemeClr val="tx1"/>
                </a:solidFill>
                <a:effectLst/>
                <a:latin typeface="+mn-lt"/>
                <a:ea typeface="+mn-ea"/>
                <a:cs typeface="+mn-cs"/>
              </a:rPr>
              <a:t> To prevent cognitive atrophy, institutions must mandate strict, un-plugged assessment environments. Students must still learn to build mental models, derive equations, and reason from first principles manually so their foundational internal cognition remains intact.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12</a:t>
            </a:fld>
            <a:endParaRPr lang="en-US"/>
          </a:p>
        </p:txBody>
      </p:sp>
    </p:spTree>
    <p:extLst>
      <p:ext uri="{BB962C8B-B14F-4D97-AF65-F5344CB8AC3E}">
        <p14:creationId xmlns:p14="http://schemas.microsoft.com/office/powerpoint/2010/main" val="639747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integrate AI deeper into research, we must establish clear boundaries for accountability. Slide 13 outlines </a:t>
            </a:r>
            <a:r>
              <a:rPr lang="en-US" sz="1200" b="1" kern="1200" dirty="0">
                <a:solidFill>
                  <a:schemeClr val="tx1"/>
                </a:solidFill>
                <a:effectLst/>
                <a:latin typeface="+mn-lt"/>
                <a:ea typeface="+mn-ea"/>
                <a:cs typeface="+mn-cs"/>
              </a:rPr>
              <a:t>The Accountable Co-Pilot Framework.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concentric rings surrounding human accountability: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Outer Layer (Speed &amp; Scale):</a:t>
            </a:r>
            <a:r>
              <a:rPr lang="en-US" sz="1200" kern="1200" dirty="0">
                <a:solidFill>
                  <a:schemeClr val="tx1"/>
                </a:solidFill>
                <a:effectLst/>
                <a:latin typeface="+mn-lt"/>
                <a:ea typeface="+mn-ea"/>
                <a:cs typeface="+mn-cs"/>
              </a:rPr>
              <a:t> AI handles vast throughput and high-speed processing.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Middle Layer (Pattern Recognition):</a:t>
            </a:r>
            <a:r>
              <a:rPr lang="en-US" sz="1200" kern="1200" dirty="0">
                <a:solidFill>
                  <a:schemeClr val="tx1"/>
                </a:solidFill>
                <a:effectLst/>
                <a:latin typeface="+mn-lt"/>
                <a:ea typeface="+mn-ea"/>
                <a:cs typeface="+mn-cs"/>
              </a:rPr>
              <a:t> AI detects correlations across multi-modal datasets.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Inner Core (Human Accountability):</a:t>
            </a:r>
            <a:r>
              <a:rPr lang="en-US" sz="1200" kern="1200" dirty="0">
                <a:solidFill>
                  <a:schemeClr val="tx1"/>
                </a:solidFill>
                <a:effectLst/>
                <a:latin typeface="+mn-lt"/>
                <a:ea typeface="+mn-ea"/>
                <a:cs typeface="+mn-cs"/>
              </a:rPr>
              <a:t> The ethical and legal core remains exclusively human. </a:t>
            </a:r>
          </a:p>
          <a:p>
            <a:r>
              <a:rPr lang="en-US" sz="1200" b="1" kern="1200" dirty="0">
                <a:solidFill>
                  <a:schemeClr val="tx1"/>
                </a:solidFill>
                <a:effectLst/>
                <a:latin typeface="+mn-lt"/>
                <a:ea typeface="+mn-ea"/>
                <a:cs typeface="+mn-cs"/>
              </a:rPr>
              <a:t>The Synthesis:</a:t>
            </a:r>
            <a:r>
              <a:rPr lang="en-US" sz="1200" kern="1200" dirty="0">
                <a:solidFill>
                  <a:schemeClr val="tx1"/>
                </a:solidFill>
                <a:effectLst/>
                <a:latin typeface="+mn-lt"/>
                <a:ea typeface="+mn-ea"/>
                <a:cs typeface="+mn-cs"/>
              </a:rPr>
              <a:t> AI is not an autonomous scientific agent endowed with rights or duties; it is a human construct built to serve humanity. </a:t>
            </a:r>
          </a:p>
          <a:p>
            <a:r>
              <a:rPr lang="en-US" sz="1200" b="1" kern="1200" dirty="0">
                <a:solidFill>
                  <a:schemeClr val="tx1"/>
                </a:solidFill>
                <a:effectLst/>
                <a:latin typeface="+mn-lt"/>
                <a:ea typeface="+mn-ea"/>
                <a:cs typeface="+mn-cs"/>
              </a:rPr>
              <a:t>The Mandate:</a:t>
            </a:r>
            <a:r>
              <a:rPr lang="en-US" sz="1200" kern="1200" dirty="0">
                <a:solidFill>
                  <a:schemeClr val="tx1"/>
                </a:solidFill>
                <a:effectLst/>
                <a:latin typeface="+mn-lt"/>
                <a:ea typeface="+mn-ea"/>
                <a:cs typeface="+mn-cs"/>
              </a:rPr>
              <a:t> Whether it is a peer-reviewed paper or an AI-generated medical drug, a human must always stand behind the discovery. A human must assume ethical blame, own the risk, validate the safety, and vouch for the truth of the output. AI can co-pilot, but humans hold sole responsibility. </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13</a:t>
            </a:fld>
            <a:endParaRPr lang="en-US"/>
          </a:p>
        </p:txBody>
      </p:sp>
    </p:spTree>
    <p:extLst>
      <p:ext uri="{BB962C8B-B14F-4D97-AF65-F5344CB8AC3E}">
        <p14:creationId xmlns:p14="http://schemas.microsoft.com/office/powerpoint/2010/main" val="3879036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highlights the central philosophical posture every scientist must adopt when working with AI. </a:t>
            </a:r>
          </a:p>
          <a:p>
            <a:r>
              <a:rPr lang="en-US" sz="1200" kern="1200" dirty="0">
                <a:solidFill>
                  <a:schemeClr val="tx1"/>
                </a:solidFill>
                <a:effectLst/>
                <a:latin typeface="+mn-lt"/>
                <a:ea typeface="+mn-ea"/>
                <a:cs typeface="+mn-cs"/>
              </a:rPr>
              <a:t>Read this core takeaway: </a:t>
            </a:r>
            <a:r>
              <a:rPr lang="en-US" sz="1200" i="1" kern="1200" dirty="0">
                <a:solidFill>
                  <a:schemeClr val="tx1"/>
                </a:solidFill>
                <a:effectLst/>
                <a:latin typeface="+mn-lt"/>
                <a:ea typeface="+mn-ea"/>
                <a:cs typeface="+mn-cs"/>
              </a:rPr>
              <a:t>'The only safe way to use AI is to use it to try to disprove what you already believe. If you use it to confirm your biases, you will fail.'</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LLMs and generative models are trained to satisfy prompt conditions and find patterns, they can easily echo a researcher's confirmation bias. If you approach an AI asking it to support your flawed hypothesis, it will happily generate plausible-sounding arguments and cherry-picked data patterns to agree with you. </a:t>
            </a:r>
          </a:p>
          <a:p>
            <a:r>
              <a:rPr lang="en-US" sz="1200" kern="1200" dirty="0">
                <a:solidFill>
                  <a:schemeClr val="tx1"/>
                </a:solidFill>
                <a:effectLst/>
                <a:latin typeface="+mn-lt"/>
                <a:ea typeface="+mn-ea"/>
                <a:cs typeface="+mn-cs"/>
              </a:rPr>
              <a:t>The ultimate safeguard against Black Box hallucinations is </a:t>
            </a:r>
            <a:r>
              <a:rPr lang="en-US" sz="1200" b="1" kern="1200" dirty="0">
                <a:solidFill>
                  <a:schemeClr val="tx1"/>
                </a:solidFill>
                <a:effectLst/>
                <a:latin typeface="+mn-lt"/>
                <a:ea typeface="+mn-ea"/>
                <a:cs typeface="+mn-cs"/>
              </a:rPr>
              <a:t>adversarial usage.</a:t>
            </a:r>
            <a:r>
              <a:rPr lang="en-US" sz="1200" kern="1200" dirty="0">
                <a:solidFill>
                  <a:schemeClr val="tx1"/>
                </a:solidFill>
                <a:effectLst/>
                <a:latin typeface="+mn-lt"/>
                <a:ea typeface="+mn-ea"/>
                <a:cs typeface="+mn-cs"/>
              </a:rPr>
              <a:t> Use AI as a fierce opponent. Demand that it find counterexamples, expose flaws in your logic, and attempt to falsify your hypothesis. Great science has always begun—and will continue to begin—with a great question. </a:t>
            </a:r>
          </a:p>
          <a:p>
            <a:r>
              <a:rPr lang="en-US" dirty="0"/>
              <a:t>	</a:t>
            </a:r>
          </a:p>
        </p:txBody>
      </p:sp>
      <p:sp>
        <p:nvSpPr>
          <p:cNvPr id="4" name="Slide Number Placeholder 3"/>
          <p:cNvSpPr>
            <a:spLocks noGrp="1"/>
          </p:cNvSpPr>
          <p:nvPr>
            <p:ph type="sldNum" sz="quarter" idx="5"/>
          </p:nvPr>
        </p:nvSpPr>
        <p:spPr/>
        <p:txBody>
          <a:bodyPr/>
          <a:lstStyle/>
          <a:p>
            <a:fld id="{0AEB6E8D-8686-42BD-BE18-28E768D986FF}" type="slidenum">
              <a:rPr lang="en-US" smtClean="0"/>
              <a:t>14</a:t>
            </a:fld>
            <a:endParaRPr lang="en-US"/>
          </a:p>
        </p:txBody>
      </p:sp>
    </p:spTree>
    <p:extLst>
      <p:ext uri="{BB962C8B-B14F-4D97-AF65-F5344CB8AC3E}">
        <p14:creationId xmlns:p14="http://schemas.microsoft.com/office/powerpoint/2010/main" val="2047438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session, Slide 15 brings together the entire landscape of the 2026 Nobel Prize Dialogue into a unified matrix. </a:t>
            </a:r>
          </a:p>
          <a:p>
            <a:r>
              <a:rPr lang="en-US" sz="1200" kern="1200" dirty="0">
                <a:solidFill>
                  <a:schemeClr val="tx1"/>
                </a:solidFill>
                <a:effectLst/>
                <a:latin typeface="+mn-lt"/>
                <a:ea typeface="+mn-ea"/>
                <a:cs typeface="+mn-cs"/>
              </a:rPr>
              <a:t>On the left, we have </a:t>
            </a:r>
            <a:r>
              <a:rPr lang="en-US" sz="1200" b="1" kern="1200" dirty="0">
                <a:solidFill>
                  <a:schemeClr val="tx1"/>
                </a:solidFill>
                <a:effectLst/>
                <a:latin typeface="+mn-lt"/>
                <a:ea typeface="+mn-ea"/>
                <a:cs typeface="+mn-cs"/>
              </a:rPr>
              <a:t>AI as the Engine of Discovery</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Nobel Milestones:</a:t>
            </a:r>
            <a:r>
              <a:rPr lang="en-US" sz="1200" kern="1200" dirty="0">
                <a:solidFill>
                  <a:schemeClr val="tx1"/>
                </a:solidFill>
                <a:effectLst/>
                <a:latin typeface="+mn-lt"/>
                <a:ea typeface="+mn-ea"/>
                <a:cs typeface="+mn-cs"/>
              </a:rPr>
              <a:t> AI's foundational role recognized in Physics and Chemistry.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Speed to Strategy:</a:t>
            </a:r>
            <a:r>
              <a:rPr lang="en-US" sz="1200" kern="1200" dirty="0">
                <a:solidFill>
                  <a:schemeClr val="tx1"/>
                </a:solidFill>
                <a:effectLst/>
                <a:latin typeface="+mn-lt"/>
                <a:ea typeface="+mn-ea"/>
                <a:cs typeface="+mn-cs"/>
              </a:rPr>
              <a:t> Transitioning from faster calculation to automated hypothesis generation.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Closing the Loop:</a:t>
            </a:r>
            <a:r>
              <a:rPr lang="en-US" sz="1200" kern="1200" dirty="0">
                <a:solidFill>
                  <a:schemeClr val="tx1"/>
                </a:solidFill>
                <a:effectLst/>
                <a:latin typeface="+mn-lt"/>
                <a:ea typeface="+mn-ea"/>
                <a:cs typeface="+mn-cs"/>
              </a:rPr>
              <a:t> Self-driving labs executing robotic experimentation autonomously. </a:t>
            </a:r>
          </a:p>
          <a:p>
            <a:r>
              <a:rPr lang="en-US" sz="1200" kern="1200" dirty="0">
                <a:solidFill>
                  <a:schemeClr val="tx1"/>
                </a:solidFill>
                <a:effectLst/>
                <a:latin typeface="+mn-lt"/>
                <a:ea typeface="+mn-ea"/>
                <a:cs typeface="+mn-cs"/>
              </a:rPr>
              <a:t>On the right, we have </a:t>
            </a:r>
            <a:r>
              <a:rPr lang="en-US" sz="1200" b="1" kern="1200" dirty="0">
                <a:solidFill>
                  <a:schemeClr val="tx1"/>
                </a:solidFill>
                <a:effectLst/>
                <a:latin typeface="+mn-lt"/>
                <a:ea typeface="+mn-ea"/>
                <a:cs typeface="+mn-cs"/>
              </a:rPr>
              <a:t>The Irreplaceable Human Element</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Power of the Good Question:</a:t>
            </a:r>
            <a:r>
              <a:rPr lang="en-US" sz="1200" kern="1200" dirty="0">
                <a:solidFill>
                  <a:schemeClr val="tx1"/>
                </a:solidFill>
                <a:effectLst/>
                <a:latin typeface="+mn-lt"/>
                <a:ea typeface="+mn-ea"/>
                <a:cs typeface="+mn-cs"/>
              </a:rPr>
              <a:t> Human scientists framing the parameters of meaning and curiosity.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 Accountability:</a:t>
            </a:r>
            <a:r>
              <a:rPr lang="en-US" sz="1200" kern="1200" dirty="0">
                <a:solidFill>
                  <a:schemeClr val="tx1"/>
                </a:solidFill>
                <a:effectLst/>
                <a:latin typeface="+mn-lt"/>
                <a:ea typeface="+mn-ea"/>
                <a:cs typeface="+mn-cs"/>
              </a:rPr>
              <a:t> Assuming ethical ownership and public trust.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Embracing Serendipity:</a:t>
            </a:r>
            <a:r>
              <a:rPr lang="en-US" sz="1200" kern="1200" dirty="0">
                <a:solidFill>
                  <a:schemeClr val="tx1"/>
                </a:solidFill>
                <a:effectLst/>
                <a:latin typeface="+mn-lt"/>
                <a:ea typeface="+mn-ea"/>
                <a:cs typeface="+mn-cs"/>
              </a:rPr>
              <a:t> Turning unexpected failures and statistical anomalies into breakthrough science. </a:t>
            </a:r>
          </a:p>
          <a:p>
            <a:r>
              <a:rPr lang="en-US" sz="1200" kern="1200" dirty="0">
                <a:solidFill>
                  <a:schemeClr val="tx1"/>
                </a:solidFill>
                <a:effectLst/>
                <a:latin typeface="+mn-lt"/>
                <a:ea typeface="+mn-ea"/>
                <a:cs typeface="+mn-cs"/>
              </a:rPr>
              <a:t>In the center, we see the divide: AI brings </a:t>
            </a:r>
            <a:r>
              <a:rPr lang="en-US" sz="1200" b="1" kern="1200" dirty="0">
                <a:solidFill>
                  <a:schemeClr val="tx1"/>
                </a:solidFill>
                <a:effectLst/>
                <a:latin typeface="+mn-lt"/>
                <a:ea typeface="+mn-ea"/>
                <a:cs typeface="+mn-cs"/>
              </a:rPr>
              <a:t>scalable answers, pattern recognition, and algorithmic efficiency</a:t>
            </a:r>
            <a:r>
              <a:rPr lang="en-US" sz="1200" kern="1200" dirty="0">
                <a:solidFill>
                  <a:schemeClr val="tx1"/>
                </a:solidFill>
                <a:effectLst/>
                <a:latin typeface="+mn-lt"/>
                <a:ea typeface="+mn-ea"/>
                <a:cs typeface="+mn-cs"/>
              </a:rPr>
              <a:t>. Humans bring </a:t>
            </a:r>
            <a:r>
              <a:rPr lang="en-US" sz="1200" b="1" kern="1200" dirty="0">
                <a:solidFill>
                  <a:schemeClr val="tx1"/>
                </a:solidFill>
                <a:effectLst/>
                <a:latin typeface="+mn-lt"/>
                <a:ea typeface="+mn-ea"/>
                <a:cs typeface="+mn-cs"/>
              </a:rPr>
              <a:t>critical thinking, ethical judgment, wonder, and moral accountability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we look ahead, AI will not replace scientists. But scientists who master the symbiotic relationship with AI—while keeping human curiosity and skepticism at the center—will redefine the frontier of human knowledge. Thank you. </a:t>
            </a:r>
          </a:p>
          <a:p>
            <a:endParaRPr lang="en-US" dirty="0"/>
          </a:p>
          <a:p>
            <a:endParaRPr lang="en-US" dirty="0"/>
          </a:p>
          <a:p>
            <a:endParaRPr lang="en-US" dirty="0"/>
          </a:p>
          <a:p>
            <a:r>
              <a:rPr lang="en-US" dirty="0"/>
              <a:t>https://www.youtube.com/watch?v=vSfL5fi-Q78</a:t>
            </a:r>
          </a:p>
          <a:p>
            <a:endParaRPr lang="en-US" dirty="0"/>
          </a:p>
        </p:txBody>
      </p:sp>
      <p:sp>
        <p:nvSpPr>
          <p:cNvPr id="4" name="Slide Number Placeholder 3"/>
          <p:cNvSpPr>
            <a:spLocks noGrp="1"/>
          </p:cNvSpPr>
          <p:nvPr>
            <p:ph type="sldNum" sz="quarter" idx="5"/>
          </p:nvPr>
        </p:nvSpPr>
        <p:spPr/>
        <p:txBody>
          <a:bodyPr/>
          <a:lstStyle/>
          <a:p>
            <a:fld id="{0AEB6E8D-8686-42BD-BE18-28E768D986FF}" type="slidenum">
              <a:rPr lang="en-US" smtClean="0"/>
              <a:t>15</a:t>
            </a:fld>
            <a:endParaRPr lang="en-US"/>
          </a:p>
        </p:txBody>
      </p:sp>
    </p:spTree>
    <p:extLst>
      <p:ext uri="{BB962C8B-B14F-4D97-AF65-F5344CB8AC3E}">
        <p14:creationId xmlns:p14="http://schemas.microsoft.com/office/powerpoint/2010/main" val="3000008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711CD-89D2-FDA4-0F52-0DBCFB3C8AA7}"/>
              </a:ext>
            </a:extLst>
          </p:cNvPr>
          <p:cNvSpPr>
            <a:spLocks noGrp="1"/>
          </p:cNvSpPr>
          <p:nvPr>
            <p:ph type="dt" sz="half" idx="10"/>
          </p:nvPr>
        </p:nvSpPr>
        <p:spPr/>
        <p:txBody>
          <a:bodyPr/>
          <a:lstStyle/>
          <a:p>
            <a:fld id="{2496C99F-42CA-415E-8DD3-1FFF10E06781}" type="datetimeFigureOut">
              <a:rPr lang="en-US" smtClean="0"/>
              <a:t>10/21/2026</a:t>
            </a:fld>
            <a:endParaRPr lang="en-US"/>
          </a:p>
        </p:txBody>
      </p:sp>
      <p:sp>
        <p:nvSpPr>
          <p:cNvPr id="3" name="Footer Placeholder 2">
            <a:extLst>
              <a:ext uri="{FF2B5EF4-FFF2-40B4-BE49-F238E27FC236}">
                <a16:creationId xmlns:a16="http://schemas.microsoft.com/office/drawing/2014/main" id="{33768EB3-E2F1-E293-F0D8-13D68348E6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3AECD-12B1-79C0-30D7-5E68A7713A29}"/>
              </a:ext>
            </a:extLst>
          </p:cNvPr>
          <p:cNvSpPr>
            <a:spLocks noGrp="1"/>
          </p:cNvSpPr>
          <p:nvPr>
            <p:ph type="sldNum" sz="quarter" idx="12"/>
          </p:nvPr>
        </p:nvSpPr>
        <p:spPr/>
        <p:txBody>
          <a:bodyPr/>
          <a:lstStyle/>
          <a:p>
            <a:fld id="{7C5D0295-54F3-4565-AB17-AFEACA616B80}" type="slidenum">
              <a:rPr lang="en-US" smtClean="0"/>
              <a:t>‹#›</a:t>
            </a:fld>
            <a:endParaRPr lang="en-US"/>
          </a:p>
        </p:txBody>
      </p:sp>
    </p:spTree>
    <p:extLst>
      <p:ext uri="{BB962C8B-B14F-4D97-AF65-F5344CB8AC3E}">
        <p14:creationId xmlns:p14="http://schemas.microsoft.com/office/powerpoint/2010/main" val="175138995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87B2FE-87FA-8229-2B51-7BB1ABF6BC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E62C6-81E0-1ABB-A686-EAAC0AC577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2808EA-8F97-B6E0-07F7-709800E06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96C99F-42CA-415E-8DD3-1FFF10E06781}" type="datetimeFigureOut">
              <a:rPr lang="en-US" smtClean="0"/>
              <a:t>10/21/2026</a:t>
            </a:fld>
            <a:endParaRPr lang="en-US"/>
          </a:p>
        </p:txBody>
      </p:sp>
      <p:sp>
        <p:nvSpPr>
          <p:cNvPr id="5" name="Footer Placeholder 4">
            <a:extLst>
              <a:ext uri="{FF2B5EF4-FFF2-40B4-BE49-F238E27FC236}">
                <a16:creationId xmlns:a16="http://schemas.microsoft.com/office/drawing/2014/main" id="{B6748678-A6CF-FFC9-956A-7F7BF3B992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209485-78D5-BDF0-F8B0-BD81BFC52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5D0295-54F3-4565-AB17-AFEACA616B80}" type="slidenum">
              <a:rPr lang="en-US" smtClean="0"/>
              <a:t>‹#›</a:t>
            </a:fld>
            <a:endParaRPr lang="en-US"/>
          </a:p>
        </p:txBody>
      </p:sp>
    </p:spTree>
    <p:extLst>
      <p:ext uri="{BB962C8B-B14F-4D97-AF65-F5344CB8AC3E}">
        <p14:creationId xmlns:p14="http://schemas.microsoft.com/office/powerpoint/2010/main" val="300974306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C50366-3064-8D49-B931-A183F6E980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6AB537-FEF6-5C1E-D8AA-AECB89F8B3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8EA89F-C2BF-C160-A766-353544C9AA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D155D6-1527-7DCD-0A2D-8DC2C52F37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655252-4C4C-9D55-0CAE-DAFD6D07C2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8C5B8E-24F1-E54C-1649-DB368D07AE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7D1CB1-19CD-478B-EDF2-2D7BE3614F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403A2D-11CA-ED78-48AC-87391807DC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A11B9B-2E53-E960-DCA6-B771CCF812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78392F-EFAB-1889-E675-90F5919BFA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71D2D4-0F5A-A681-6E37-4BFEE918FF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974241-E4D6-94FE-9D1B-26FBF904D1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168EE7-4DCE-7225-0250-71C53E4B5E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3EBDFD-0FE9-28D0-BFB1-1AFEE88B56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4F18E0-476C-E512-8CF6-9BFDA84C7EC1}"/>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757674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2924</Words>
  <Application>Microsoft Office PowerPoint</Application>
  <PresentationFormat>寬螢幕</PresentationFormat>
  <Paragraphs>109</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2026-09-21T07:17:45Z</dcterms:created>
  <dcterms:modified xsi:type="dcterms:W3CDTF">2026-10-21T02:42:23Z</dcterms:modified>
</cp:coreProperties>
</file>