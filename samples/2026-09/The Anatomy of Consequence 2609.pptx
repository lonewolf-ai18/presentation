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F77FD5-89F2-442E-A693-5435527425BA}" v="14" dt="2026-09-18T02:13:50.0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59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8T02:15:04.464" v="83" actId="166"/>
      <pc:docMkLst>
        <pc:docMk/>
      </pc:docMkLst>
      <pc:sldChg chg="addSp delSp modSp mod modNotesTx">
        <pc:chgData name="Lai, Wilson" userId="2840974a-0d84-4886-90a9-9a3ed79f3a48" providerId="ADAL" clId="{9F23B798-9E84-4552-BA63-E776E805C424}" dt="2026-09-18T02:15:04.464" v="83" actId="166"/>
        <pc:sldMkLst>
          <pc:docMk/>
          <pc:sldMk cId="0" sldId="257"/>
        </pc:sldMkLst>
        <pc:picChg chg="del">
          <ac:chgData name="Lai, Wilson" userId="2840974a-0d84-4886-90a9-9a3ed79f3a48" providerId="ADAL" clId="{9F23B798-9E84-4552-BA63-E776E805C424}" dt="2026-09-17T23:47:14.757" v="0" actId="21"/>
          <ac:picMkLst>
            <pc:docMk/>
            <pc:sldMk cId="0" sldId="257"/>
            <ac:picMk id="2" creationId="{00000000-0000-0000-0000-000000000000}"/>
          </ac:picMkLst>
        </pc:picChg>
        <pc:picChg chg="add ord">
          <ac:chgData name="Lai, Wilson" userId="2840974a-0d84-4886-90a9-9a3ed79f3a48" providerId="ADAL" clId="{9F23B798-9E84-4552-BA63-E776E805C424}" dt="2026-09-18T02:15:04.464" v="83" actId="166"/>
          <ac:picMkLst>
            <pc:docMk/>
            <pc:sldMk cId="0" sldId="257"/>
            <ac:picMk id="7" creationId="{745D7C24-42B3-6672-270C-CF37647CF9D4}"/>
          </ac:picMkLst>
        </pc:picChg>
      </pc:sldChg>
      <pc:sldChg chg="addSp delSp mod modNotesTx">
        <pc:chgData name="Lai, Wilson" userId="2840974a-0d84-4886-90a9-9a3ed79f3a48" providerId="ADAL" clId="{9F23B798-9E84-4552-BA63-E776E805C424}" dt="2026-09-18T02:11:13.294" v="57" actId="20577"/>
        <pc:sldMkLst>
          <pc:docMk/>
          <pc:sldMk cId="0" sldId="258"/>
        </pc:sldMkLst>
        <pc:picChg chg="del">
          <ac:chgData name="Lai, Wilson" userId="2840974a-0d84-4886-90a9-9a3ed79f3a48" providerId="ADAL" clId="{9F23B798-9E84-4552-BA63-E776E805C424}" dt="2026-09-17T23:48:06.539" v="2" actId="21"/>
          <ac:picMkLst>
            <pc:docMk/>
            <pc:sldMk cId="0" sldId="258"/>
            <ac:picMk id="2" creationId="{00000000-0000-0000-0000-000000000000}"/>
          </ac:picMkLst>
        </pc:picChg>
        <pc:picChg chg="add">
          <ac:chgData name="Lai, Wilson" userId="2840974a-0d84-4886-90a9-9a3ed79f3a48" providerId="ADAL" clId="{9F23B798-9E84-4552-BA63-E776E805C424}" dt="2026-09-17T23:48:15.213" v="3" actId="22"/>
          <ac:picMkLst>
            <pc:docMk/>
            <pc:sldMk cId="0" sldId="258"/>
            <ac:picMk id="4" creationId="{5DEC2540-C7FE-9206-FE7B-0C02C6305FC2}"/>
          </ac:picMkLst>
        </pc:picChg>
      </pc:sldChg>
      <pc:sldChg chg="addSp delSp mod modNotesTx">
        <pc:chgData name="Lai, Wilson" userId="2840974a-0d84-4886-90a9-9a3ed79f3a48" providerId="ADAL" clId="{9F23B798-9E84-4552-BA63-E776E805C424}" dt="2026-09-18T02:11:33.119" v="58" actId="12"/>
        <pc:sldMkLst>
          <pc:docMk/>
          <pc:sldMk cId="0" sldId="259"/>
        </pc:sldMkLst>
        <pc:picChg chg="del">
          <ac:chgData name="Lai, Wilson" userId="2840974a-0d84-4886-90a9-9a3ed79f3a48" providerId="ADAL" clId="{9F23B798-9E84-4552-BA63-E776E805C424}" dt="2026-09-17T23:48:17.279" v="4" actId="21"/>
          <ac:picMkLst>
            <pc:docMk/>
            <pc:sldMk cId="0" sldId="259"/>
            <ac:picMk id="2" creationId="{00000000-0000-0000-0000-000000000000}"/>
          </ac:picMkLst>
        </pc:picChg>
        <pc:picChg chg="add">
          <ac:chgData name="Lai, Wilson" userId="2840974a-0d84-4886-90a9-9a3ed79f3a48" providerId="ADAL" clId="{9F23B798-9E84-4552-BA63-E776E805C424}" dt="2026-09-17T23:48:29.039" v="5" actId="22"/>
          <ac:picMkLst>
            <pc:docMk/>
            <pc:sldMk cId="0" sldId="259"/>
            <ac:picMk id="4" creationId="{C58265E9-E1D4-C227-CB0D-3DDA9CA7DFA7}"/>
          </ac:picMkLst>
        </pc:picChg>
      </pc:sldChg>
      <pc:sldChg chg="addSp delSp mod">
        <pc:chgData name="Lai, Wilson" userId="2840974a-0d84-4886-90a9-9a3ed79f3a48" providerId="ADAL" clId="{9F23B798-9E84-4552-BA63-E776E805C424}" dt="2026-09-17T23:48:39.853" v="7" actId="22"/>
        <pc:sldMkLst>
          <pc:docMk/>
          <pc:sldMk cId="0" sldId="260"/>
        </pc:sldMkLst>
        <pc:picChg chg="del">
          <ac:chgData name="Lai, Wilson" userId="2840974a-0d84-4886-90a9-9a3ed79f3a48" providerId="ADAL" clId="{9F23B798-9E84-4552-BA63-E776E805C424}" dt="2026-09-17T23:48:30.794" v="6" actId="21"/>
          <ac:picMkLst>
            <pc:docMk/>
            <pc:sldMk cId="0" sldId="260"/>
            <ac:picMk id="2" creationId="{00000000-0000-0000-0000-000000000000}"/>
          </ac:picMkLst>
        </pc:picChg>
        <pc:picChg chg="add">
          <ac:chgData name="Lai, Wilson" userId="2840974a-0d84-4886-90a9-9a3ed79f3a48" providerId="ADAL" clId="{9F23B798-9E84-4552-BA63-E776E805C424}" dt="2026-09-17T23:48:39.853" v="7" actId="22"/>
          <ac:picMkLst>
            <pc:docMk/>
            <pc:sldMk cId="0" sldId="260"/>
            <ac:picMk id="4" creationId="{06F40085-F3DD-1980-26E4-9F4BCBEADC9D}"/>
          </ac:picMkLst>
        </pc:picChg>
      </pc:sldChg>
      <pc:sldChg chg="addSp delSp mod modNotesTx">
        <pc:chgData name="Lai, Wilson" userId="2840974a-0d84-4886-90a9-9a3ed79f3a48" providerId="ADAL" clId="{9F23B798-9E84-4552-BA63-E776E805C424}" dt="2026-09-18T02:11:59.541" v="59" actId="12"/>
        <pc:sldMkLst>
          <pc:docMk/>
          <pc:sldMk cId="0" sldId="261"/>
        </pc:sldMkLst>
        <pc:picChg chg="del">
          <ac:chgData name="Lai, Wilson" userId="2840974a-0d84-4886-90a9-9a3ed79f3a48" providerId="ADAL" clId="{9F23B798-9E84-4552-BA63-E776E805C424}" dt="2026-09-17T23:48:41.376" v="8" actId="21"/>
          <ac:picMkLst>
            <pc:docMk/>
            <pc:sldMk cId="0" sldId="261"/>
            <ac:picMk id="2" creationId="{00000000-0000-0000-0000-000000000000}"/>
          </ac:picMkLst>
        </pc:picChg>
        <pc:picChg chg="add">
          <ac:chgData name="Lai, Wilson" userId="2840974a-0d84-4886-90a9-9a3ed79f3a48" providerId="ADAL" clId="{9F23B798-9E84-4552-BA63-E776E805C424}" dt="2026-09-17T23:49:54.486" v="9" actId="22"/>
          <ac:picMkLst>
            <pc:docMk/>
            <pc:sldMk cId="0" sldId="261"/>
            <ac:picMk id="4" creationId="{FE284851-2FA2-B17C-3189-9CE1A7D06855}"/>
          </ac:picMkLst>
        </pc:picChg>
      </pc:sldChg>
      <pc:sldChg chg="addSp delSp mod">
        <pc:chgData name="Lai, Wilson" userId="2840974a-0d84-4886-90a9-9a3ed79f3a48" providerId="ADAL" clId="{9F23B798-9E84-4552-BA63-E776E805C424}" dt="2026-09-17T23:50:03.146" v="11" actId="22"/>
        <pc:sldMkLst>
          <pc:docMk/>
          <pc:sldMk cId="0" sldId="262"/>
        </pc:sldMkLst>
        <pc:picChg chg="del">
          <ac:chgData name="Lai, Wilson" userId="2840974a-0d84-4886-90a9-9a3ed79f3a48" providerId="ADAL" clId="{9F23B798-9E84-4552-BA63-E776E805C424}" dt="2026-09-17T23:49:56.179" v="10" actId="21"/>
          <ac:picMkLst>
            <pc:docMk/>
            <pc:sldMk cId="0" sldId="262"/>
            <ac:picMk id="2" creationId="{00000000-0000-0000-0000-000000000000}"/>
          </ac:picMkLst>
        </pc:picChg>
        <pc:picChg chg="add">
          <ac:chgData name="Lai, Wilson" userId="2840974a-0d84-4886-90a9-9a3ed79f3a48" providerId="ADAL" clId="{9F23B798-9E84-4552-BA63-E776E805C424}" dt="2026-09-17T23:50:03.146" v="11" actId="22"/>
          <ac:picMkLst>
            <pc:docMk/>
            <pc:sldMk cId="0" sldId="262"/>
            <ac:picMk id="4" creationId="{348A14C8-C9F5-4CEB-B61B-D344D6BC79E2}"/>
          </ac:picMkLst>
        </pc:picChg>
      </pc:sldChg>
      <pc:sldChg chg="addSp delSp mod modNotesTx">
        <pc:chgData name="Lai, Wilson" userId="2840974a-0d84-4886-90a9-9a3ed79f3a48" providerId="ADAL" clId="{9F23B798-9E84-4552-BA63-E776E805C424}" dt="2026-09-18T02:12:19.557" v="60" actId="12"/>
        <pc:sldMkLst>
          <pc:docMk/>
          <pc:sldMk cId="0" sldId="263"/>
        </pc:sldMkLst>
        <pc:picChg chg="del">
          <ac:chgData name="Lai, Wilson" userId="2840974a-0d84-4886-90a9-9a3ed79f3a48" providerId="ADAL" clId="{9F23B798-9E84-4552-BA63-E776E805C424}" dt="2026-09-17T23:50:04.689" v="12" actId="21"/>
          <ac:picMkLst>
            <pc:docMk/>
            <pc:sldMk cId="0" sldId="263"/>
            <ac:picMk id="2" creationId="{00000000-0000-0000-0000-000000000000}"/>
          </ac:picMkLst>
        </pc:picChg>
        <pc:picChg chg="add">
          <ac:chgData name="Lai, Wilson" userId="2840974a-0d84-4886-90a9-9a3ed79f3a48" providerId="ADAL" clId="{9F23B798-9E84-4552-BA63-E776E805C424}" dt="2026-09-17T23:50:51.170" v="13" actId="22"/>
          <ac:picMkLst>
            <pc:docMk/>
            <pc:sldMk cId="0" sldId="263"/>
            <ac:picMk id="4" creationId="{CEA35725-6ABC-7F7C-D6F3-F4CA57299293}"/>
          </ac:picMkLst>
        </pc:picChg>
      </pc:sldChg>
      <pc:sldChg chg="addSp delSp mod modNotesTx">
        <pc:chgData name="Lai, Wilson" userId="2840974a-0d84-4886-90a9-9a3ed79f3a48" providerId="ADAL" clId="{9F23B798-9E84-4552-BA63-E776E805C424}" dt="2026-09-18T02:12:30.324" v="61" actId="12"/>
        <pc:sldMkLst>
          <pc:docMk/>
          <pc:sldMk cId="0" sldId="264"/>
        </pc:sldMkLst>
        <pc:picChg chg="del">
          <ac:chgData name="Lai, Wilson" userId="2840974a-0d84-4886-90a9-9a3ed79f3a48" providerId="ADAL" clId="{9F23B798-9E84-4552-BA63-E776E805C424}" dt="2026-09-17T23:50:56.226" v="14" actId="21"/>
          <ac:picMkLst>
            <pc:docMk/>
            <pc:sldMk cId="0" sldId="264"/>
            <ac:picMk id="2" creationId="{00000000-0000-0000-0000-000000000000}"/>
          </ac:picMkLst>
        </pc:picChg>
        <pc:picChg chg="add">
          <ac:chgData name="Lai, Wilson" userId="2840974a-0d84-4886-90a9-9a3ed79f3a48" providerId="ADAL" clId="{9F23B798-9E84-4552-BA63-E776E805C424}" dt="2026-09-17T23:51:06.036" v="15" actId="22"/>
          <ac:picMkLst>
            <pc:docMk/>
            <pc:sldMk cId="0" sldId="264"/>
            <ac:picMk id="4" creationId="{E9E7519E-E7BA-1A54-4400-E86733A0E648}"/>
          </ac:picMkLst>
        </pc:picChg>
      </pc:sldChg>
      <pc:sldChg chg="addSp delSp mod modNotesTx">
        <pc:chgData name="Lai, Wilson" userId="2840974a-0d84-4886-90a9-9a3ed79f3a48" providerId="ADAL" clId="{9F23B798-9E84-4552-BA63-E776E805C424}" dt="2026-09-18T02:13:04.530" v="75" actId="12"/>
        <pc:sldMkLst>
          <pc:docMk/>
          <pc:sldMk cId="0" sldId="265"/>
        </pc:sldMkLst>
        <pc:picChg chg="del">
          <ac:chgData name="Lai, Wilson" userId="2840974a-0d84-4886-90a9-9a3ed79f3a48" providerId="ADAL" clId="{9F23B798-9E84-4552-BA63-E776E805C424}" dt="2026-09-17T23:51:07.510" v="16" actId="21"/>
          <ac:picMkLst>
            <pc:docMk/>
            <pc:sldMk cId="0" sldId="265"/>
            <ac:picMk id="2" creationId="{00000000-0000-0000-0000-000000000000}"/>
          </ac:picMkLst>
        </pc:picChg>
        <pc:picChg chg="add">
          <ac:chgData name="Lai, Wilson" userId="2840974a-0d84-4886-90a9-9a3ed79f3a48" providerId="ADAL" clId="{9F23B798-9E84-4552-BA63-E776E805C424}" dt="2026-09-17T23:51:17.216" v="17" actId="22"/>
          <ac:picMkLst>
            <pc:docMk/>
            <pc:sldMk cId="0" sldId="265"/>
            <ac:picMk id="4" creationId="{1DEAAD75-0682-7E61-C9A3-4CB45BEA5D96}"/>
          </ac:picMkLst>
        </pc:picChg>
      </pc:sldChg>
      <pc:sldChg chg="addSp delSp mod modNotesTx">
        <pc:chgData name="Lai, Wilson" userId="2840974a-0d84-4886-90a9-9a3ed79f3a48" providerId="ADAL" clId="{9F23B798-9E84-4552-BA63-E776E805C424}" dt="2026-09-18T02:13:16.039" v="76" actId="12"/>
        <pc:sldMkLst>
          <pc:docMk/>
          <pc:sldMk cId="0" sldId="266"/>
        </pc:sldMkLst>
        <pc:picChg chg="del">
          <ac:chgData name="Lai, Wilson" userId="2840974a-0d84-4886-90a9-9a3ed79f3a48" providerId="ADAL" clId="{9F23B798-9E84-4552-BA63-E776E805C424}" dt="2026-09-17T23:51:18.532" v="18" actId="21"/>
          <ac:picMkLst>
            <pc:docMk/>
            <pc:sldMk cId="0" sldId="266"/>
            <ac:picMk id="2" creationId="{00000000-0000-0000-0000-000000000000}"/>
          </ac:picMkLst>
        </pc:picChg>
        <pc:picChg chg="add">
          <ac:chgData name="Lai, Wilson" userId="2840974a-0d84-4886-90a9-9a3ed79f3a48" providerId="ADAL" clId="{9F23B798-9E84-4552-BA63-E776E805C424}" dt="2026-09-17T23:51:28.533" v="19" actId="22"/>
          <ac:picMkLst>
            <pc:docMk/>
            <pc:sldMk cId="0" sldId="266"/>
            <ac:picMk id="4" creationId="{D31478BB-DD4B-0FB8-17AD-9A08CC233D3F}"/>
          </ac:picMkLst>
        </pc:picChg>
      </pc:sldChg>
      <pc:sldChg chg="addSp delSp mod modNotesTx">
        <pc:chgData name="Lai, Wilson" userId="2840974a-0d84-4886-90a9-9a3ed79f3a48" providerId="ADAL" clId="{9F23B798-9E84-4552-BA63-E776E805C424}" dt="2026-09-18T02:13:25.601" v="77" actId="12"/>
        <pc:sldMkLst>
          <pc:docMk/>
          <pc:sldMk cId="0" sldId="267"/>
        </pc:sldMkLst>
        <pc:picChg chg="del">
          <ac:chgData name="Lai, Wilson" userId="2840974a-0d84-4886-90a9-9a3ed79f3a48" providerId="ADAL" clId="{9F23B798-9E84-4552-BA63-E776E805C424}" dt="2026-09-17T23:51:43.667" v="22" actId="21"/>
          <ac:picMkLst>
            <pc:docMk/>
            <pc:sldMk cId="0" sldId="267"/>
            <ac:picMk id="2" creationId="{00000000-0000-0000-0000-000000000000}"/>
          </ac:picMkLst>
        </pc:picChg>
        <pc:picChg chg="add">
          <ac:chgData name="Lai, Wilson" userId="2840974a-0d84-4886-90a9-9a3ed79f3a48" providerId="ADAL" clId="{9F23B798-9E84-4552-BA63-E776E805C424}" dt="2026-09-17T23:51:59.360" v="23" actId="22"/>
          <ac:picMkLst>
            <pc:docMk/>
            <pc:sldMk cId="0" sldId="267"/>
            <ac:picMk id="4" creationId="{5970CF74-76D2-497A-3701-56F9EEA3D75D}"/>
          </ac:picMkLst>
        </pc:picChg>
      </pc:sldChg>
      <pc:sldChg chg="addSp delSp mod">
        <pc:chgData name="Lai, Wilson" userId="2840974a-0d84-4886-90a9-9a3ed79f3a48" providerId="ADAL" clId="{9F23B798-9E84-4552-BA63-E776E805C424}" dt="2026-09-17T23:51:41.043" v="21" actId="22"/>
        <pc:sldMkLst>
          <pc:docMk/>
          <pc:sldMk cId="0" sldId="268"/>
        </pc:sldMkLst>
        <pc:picChg chg="del">
          <ac:chgData name="Lai, Wilson" userId="2840974a-0d84-4886-90a9-9a3ed79f3a48" providerId="ADAL" clId="{9F23B798-9E84-4552-BA63-E776E805C424}" dt="2026-09-17T23:51:32.365" v="20" actId="21"/>
          <ac:picMkLst>
            <pc:docMk/>
            <pc:sldMk cId="0" sldId="268"/>
            <ac:picMk id="2" creationId="{00000000-0000-0000-0000-000000000000}"/>
          </ac:picMkLst>
        </pc:picChg>
        <pc:picChg chg="add">
          <ac:chgData name="Lai, Wilson" userId="2840974a-0d84-4886-90a9-9a3ed79f3a48" providerId="ADAL" clId="{9F23B798-9E84-4552-BA63-E776E805C424}" dt="2026-09-17T23:51:41.043" v="21" actId="22"/>
          <ac:picMkLst>
            <pc:docMk/>
            <pc:sldMk cId="0" sldId="268"/>
            <ac:picMk id="4" creationId="{5A9E61E7-79DA-2592-93F3-39C96465E849}"/>
          </ac:picMkLst>
        </pc:picChg>
      </pc:sldChg>
      <pc:sldChg chg="modNotesTx">
        <pc:chgData name="Lai, Wilson" userId="2840974a-0d84-4886-90a9-9a3ed79f3a48" providerId="ADAL" clId="{9F23B798-9E84-4552-BA63-E776E805C424}" dt="2026-09-18T02:13:54.454" v="81" actId="12"/>
        <pc:sldMkLst>
          <pc:docMk/>
          <pc:sldMk cId="2319834355"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69007-1AD2-438E-9B2E-F14FC074D52E}"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2A0690-2E29-4B08-8192-EADB02DB408C}" type="slidenum">
              <a:rPr lang="en-US" smtClean="0"/>
              <a:t>‹#›</a:t>
            </a:fld>
            <a:endParaRPr lang="en-US"/>
          </a:p>
        </p:txBody>
      </p:sp>
    </p:spTree>
    <p:extLst>
      <p:ext uri="{BB962C8B-B14F-4D97-AF65-F5344CB8AC3E}">
        <p14:creationId xmlns:p14="http://schemas.microsoft.com/office/powerpoint/2010/main" val="2953671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unpacking "The Anatomy of Consequence," an analysis based on Michael Moritz's reflections on extreme success, institutional resilience, and human nature. Moritz—a legendary partner at Sequoia Capital and former journalist—posits that extraordinary achievement is not a collection of happy coincidences or lucky breaks. Instead, it functions almost like a set of predictable physics rooted in early psychological imprinting.</a:t>
            </a:r>
          </a:p>
          <a:p>
            <a:r>
              <a:rPr lang="en-US" dirty="0"/>
              <a:t>Over the course of this deck, we will examine four core pillars:</a:t>
            </a:r>
          </a:p>
          <a:p>
            <a:pPr marL="228600" indent="-228600">
              <a:buFont typeface="+mj-lt"/>
              <a:buAutoNum type="arabicPeriod"/>
            </a:pPr>
            <a:r>
              <a:rPr lang="en-US" dirty="0"/>
              <a:t>Origin: How outsider identity and refugee status create an abiding feeling that disaster is only ever one step away.</a:t>
            </a:r>
          </a:p>
          <a:p>
            <a:pPr marL="228600" indent="-228600">
              <a:buFont typeface="+mj-lt"/>
              <a:buAutoNum type="arabicPeriod"/>
            </a:pPr>
            <a:r>
              <a:rPr lang="en-US" dirty="0"/>
              <a:t>Catalyst: The critical "First 14 Years," where early encounters with parental expectations, shame, and survival mechanics permanently imprint character.</a:t>
            </a:r>
          </a:p>
          <a:p>
            <a:pPr marL="228600" indent="-228600">
              <a:buFont typeface="+mj-lt"/>
              <a:buAutoNum type="arabicPeriod"/>
            </a:pPr>
            <a:r>
              <a:rPr lang="en-US" dirty="0"/>
              <a:t>Engine: The role of radical monomania—a complete, blinding obsession that eliminates world distractions to execute world-shaping work.</a:t>
            </a:r>
          </a:p>
          <a:p>
            <a:pPr marL="228600" indent="-228600">
              <a:buFont typeface="+mj-lt"/>
              <a:buAutoNum type="arabicPeriod"/>
            </a:pPr>
            <a:r>
              <a:rPr lang="en-US" dirty="0"/>
              <a:t>Output: The creation of enduring institutions and historic figures, from Steve Jobs and Elon Musk to Lee Iacocca and Alex Ferguson.</a:t>
            </a:r>
          </a:p>
          <a:p>
            <a:r>
              <a:rPr lang="en-US" dirty="0"/>
              <a:t>As we move through these slides, remember that Moritz’s philosophy asks us to strip away polished resumes and outward metrics. To understand true impact, we must interrogate the subterranean inner life. </a:t>
            </a:r>
          </a:p>
          <a:p>
            <a:endParaRPr lang="en-US" dirty="0"/>
          </a:p>
          <a:p>
            <a:endParaRPr lang="en-US" dirty="0"/>
          </a:p>
          <a:p>
            <a:r>
              <a:rPr lang="en-US" dirty="0"/>
              <a:t>https://www.youtube.com/watch?v=mlWX7RltfDE</a:t>
            </a:r>
          </a:p>
        </p:txBody>
      </p:sp>
      <p:sp>
        <p:nvSpPr>
          <p:cNvPr id="4" name="Slide Number Placeholder 3"/>
          <p:cNvSpPr>
            <a:spLocks noGrp="1"/>
          </p:cNvSpPr>
          <p:nvPr>
            <p:ph type="sldNum" sz="quarter" idx="5"/>
          </p:nvPr>
        </p:nvSpPr>
        <p:spPr/>
        <p:txBody>
          <a:bodyPr/>
          <a:lstStyle/>
          <a:p>
            <a:fld id="{D0D7D5E6-CFEA-4E0F-BFDC-104CCC07BCDE}" type="slidenum">
              <a:rPr lang="en-US" smtClean="0"/>
              <a:t>1</a:t>
            </a:fld>
            <a:endParaRPr lang="en-US"/>
          </a:p>
        </p:txBody>
      </p:sp>
    </p:spTree>
    <p:extLst>
      <p:ext uri="{BB962C8B-B14F-4D97-AF65-F5344CB8AC3E}">
        <p14:creationId xmlns:p14="http://schemas.microsoft.com/office/powerpoint/2010/main" val="2274741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mn-cs"/>
              </a:rPr>
              <a:t>This pipeline illustrates the linear trajectory of outlier success. Let’s break down each stage: </a:t>
            </a:r>
            <a:endParaRPr lang="en-US" sz="1200" b="1"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 Origin (Marginalization):</a:t>
            </a:r>
            <a:r>
              <a:rPr lang="en-US" sz="1200" kern="1200" dirty="0">
                <a:solidFill>
                  <a:schemeClr val="tx1"/>
                </a:solidFill>
                <a:effectLst/>
                <a:latin typeface="+mn-lt"/>
                <a:ea typeface="+mn-ea"/>
                <a:cs typeface="+mn-cs"/>
              </a:rPr>
              <a:t> Outlier founders and leaders rarely begin from comfortable center-stage positions. Moritz emphasizes how growing up as a minority or refugee fosters an ingrained outsider identity. Even when someone becomes an established insider later in life, the subterranean mind still operates as an outsider living on the edge of a precipice.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 Catalyst (The First 14 Years):</a:t>
            </a:r>
            <a:r>
              <a:rPr lang="en-US" sz="1200" kern="1200" dirty="0">
                <a:solidFill>
                  <a:schemeClr val="tx1"/>
                </a:solidFill>
                <a:effectLst/>
                <a:latin typeface="+mn-lt"/>
                <a:ea typeface="+mn-ea"/>
                <a:cs typeface="+mn-cs"/>
              </a:rPr>
              <a:t> This is where Jung’s concept of the "unlived life of the parent" comes in. Children observe the risks their parents did or didn't take, absorbing both the angels and the demons of their household. Early shame, fear of parental disappointment, and survival mechanics become the fundamental bedrock of their drive.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 Engine (Monomania):</a:t>
            </a:r>
            <a:r>
              <a:rPr lang="en-US" sz="1200" kern="1200" dirty="0">
                <a:solidFill>
                  <a:schemeClr val="tx1"/>
                </a:solidFill>
                <a:effectLst/>
                <a:latin typeface="+mn-lt"/>
                <a:ea typeface="+mn-ea"/>
                <a:cs typeface="+mn-cs"/>
              </a:rPr>
              <a:t> Exceptional output requires total obsession. It means shutting out peripheral joy, family life, and societal norms to hone in on a single objective.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4: Output (The Great Person):</a:t>
            </a:r>
            <a:r>
              <a:rPr lang="en-US" sz="1200" kern="1200" dirty="0">
                <a:solidFill>
                  <a:schemeClr val="tx1"/>
                </a:solidFill>
                <a:effectLst/>
                <a:latin typeface="+mn-lt"/>
                <a:ea typeface="+mn-ea"/>
                <a:cs typeface="+mn-cs"/>
              </a:rPr>
              <a:t> The end product is history-shaping impact—building companies like Apple, Tesla, or Chrysler, and structuring institutions that outlast their creators. </a:t>
            </a: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Historical achievement isn't accidental; it is the inevitable outcome of early psychological imprinting combined with relentless focus.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2</a:t>
            </a:fld>
            <a:endParaRPr lang="en-US"/>
          </a:p>
        </p:txBody>
      </p:sp>
    </p:spTree>
    <p:extLst>
      <p:ext uri="{BB962C8B-B14F-4D97-AF65-F5344CB8AC3E}">
        <p14:creationId xmlns:p14="http://schemas.microsoft.com/office/powerpoint/2010/main" val="3866615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evaluating founders or leaders, standard venture capital and corporate recruiting focus heavily on "The Outward Pitch"—current metrics, polished resumes, and rehearsed narratives. Moritz argues that this surface layer tells you very little about how a person will perform when chaos strikes. </a:t>
            </a:r>
          </a:p>
          <a:p>
            <a:r>
              <a:rPr lang="en-US" sz="1200" kern="1200" dirty="0">
                <a:solidFill>
                  <a:schemeClr val="tx1"/>
                </a:solidFill>
                <a:effectLst/>
                <a:latin typeface="+mn-lt"/>
                <a:ea typeface="+mn-ea"/>
                <a:cs typeface="+mn-cs"/>
              </a:rPr>
              <a:t>To evaluate true resilience, you must excavate what happened before age 14 across three specific roots: </a:t>
            </a:r>
          </a:p>
          <a:p>
            <a:pPr marL="228600" lvl="0" indent="-228600">
              <a:buFont typeface="+mj-lt"/>
              <a:buAutoNum type="arabicPeriod"/>
            </a:pPr>
            <a:r>
              <a:rPr lang="en-US" sz="1200" b="1" kern="1200" dirty="0">
                <a:solidFill>
                  <a:schemeClr val="tx1"/>
                </a:solidFill>
                <a:effectLst/>
                <a:latin typeface="+mn-lt"/>
                <a:ea typeface="+mn-ea"/>
                <a:cs typeface="+mn-cs"/>
              </a:rPr>
              <a:t>Root 1: The Unlived Life of the Parent:</a:t>
            </a:r>
            <a:r>
              <a:rPr lang="en-US" sz="1200" kern="1200" dirty="0">
                <a:solidFill>
                  <a:schemeClr val="tx1"/>
                </a:solidFill>
                <a:effectLst/>
                <a:latin typeface="+mn-lt"/>
                <a:ea typeface="+mn-ea"/>
                <a:cs typeface="+mn-cs"/>
              </a:rPr>
              <a:t> Children frequently act out or pursue the unfulfilled dreams or untaken risks of their parents. </a:t>
            </a:r>
          </a:p>
          <a:p>
            <a:pPr marL="228600" lvl="0" indent="-228600">
              <a:buFont typeface="+mj-lt"/>
              <a:buAutoNum type="arabicPeriod"/>
            </a:pPr>
            <a:r>
              <a:rPr lang="en-US" sz="1200" b="1" kern="1200" dirty="0">
                <a:solidFill>
                  <a:schemeClr val="tx1"/>
                </a:solidFill>
                <a:effectLst/>
                <a:latin typeface="+mn-lt"/>
                <a:ea typeface="+mn-ea"/>
                <a:cs typeface="+mn-cs"/>
              </a:rPr>
              <a:t>Root 2: The Atmosphere of Doom:</a:t>
            </a:r>
            <a:r>
              <a:rPr lang="en-US" sz="1200" kern="1200" dirty="0">
                <a:solidFill>
                  <a:schemeClr val="tx1"/>
                </a:solidFill>
                <a:effectLst/>
                <a:latin typeface="+mn-lt"/>
                <a:ea typeface="+mn-ea"/>
                <a:cs typeface="+mn-cs"/>
              </a:rPr>
              <a:t> Moritz notes his mother was a perpetual predictor of doom, constantly anticipating disaster. Growing up in an environment where trouble is expected forces an individual to learn to live by their wits. </a:t>
            </a:r>
          </a:p>
          <a:p>
            <a:pPr marL="228600" lvl="0" indent="-228600">
              <a:buFont typeface="+mj-lt"/>
              <a:buAutoNum type="arabicPeriod"/>
            </a:pPr>
            <a:r>
              <a:rPr lang="en-US" sz="1200" b="1" kern="1200" dirty="0">
                <a:solidFill>
                  <a:schemeClr val="tx1"/>
                </a:solidFill>
                <a:effectLst/>
                <a:latin typeface="+mn-lt"/>
                <a:ea typeface="+mn-ea"/>
                <a:cs typeface="+mn-cs"/>
              </a:rPr>
              <a:t>Root 3: Reactions to Shame:</a:t>
            </a:r>
            <a:r>
              <a:rPr lang="en-US" sz="1200" kern="1200" dirty="0">
                <a:solidFill>
                  <a:schemeClr val="tx1"/>
                </a:solidFill>
                <a:effectLst/>
                <a:latin typeface="+mn-lt"/>
                <a:ea typeface="+mn-ea"/>
                <a:cs typeface="+mn-cs"/>
              </a:rPr>
              <a:t> How did the individual handle early failure or parental disappointment? </a:t>
            </a:r>
          </a:p>
          <a:p>
            <a:pPr marL="228600" indent="-228600">
              <a:buFont typeface="+mj-lt"/>
              <a:buAutoNum type="arabicPeriod"/>
            </a:pPr>
            <a:r>
              <a:rPr lang="en-US" sz="1200" kern="1200" dirty="0">
                <a:solidFill>
                  <a:schemeClr val="tx1"/>
                </a:solidFill>
                <a:effectLst/>
                <a:latin typeface="+mn-lt"/>
                <a:ea typeface="+mn-ea"/>
                <a:cs typeface="+mn-cs"/>
              </a:rPr>
              <a:t>Whatever conscious or unconscious imprints are absorbed during these formative years remain as the angels and demons a leader grapples with for life. Outward intensity might soften in maturity, but the subterranean drive remains permanently fixed.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3</a:t>
            </a:fld>
            <a:endParaRPr lang="en-US"/>
          </a:p>
        </p:txBody>
      </p:sp>
    </p:spTree>
    <p:extLst>
      <p:ext uri="{BB962C8B-B14F-4D97-AF65-F5344CB8AC3E}">
        <p14:creationId xmlns:p14="http://schemas.microsoft.com/office/powerpoint/2010/main" val="3141725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you actually extract these subterranean insights during an interview or evaluation? Moritz compares the diagnostic process to painting on a canvas. Instead of tracing a linear career path, you look for isolated dots—spontaneous, emotional responses to past events. </a:t>
            </a:r>
          </a:p>
          <a:p>
            <a:r>
              <a:rPr lang="en-US" sz="1200" kern="1200" dirty="0">
                <a:solidFill>
                  <a:schemeClr val="tx1"/>
                </a:solidFill>
                <a:effectLst/>
                <a:latin typeface="+mn-lt"/>
                <a:ea typeface="+mn-ea"/>
                <a:cs typeface="+mn-cs"/>
              </a:rPr>
              <a:t>The high-leverage question Moritz famously uses is: </a:t>
            </a:r>
            <a:r>
              <a:rPr lang="en-US" sz="1200" b="1" kern="1200" dirty="0">
                <a:solidFill>
                  <a:schemeClr val="tx1"/>
                </a:solidFill>
                <a:effectLst/>
                <a:latin typeface="+mn-lt"/>
                <a:ea typeface="+mn-ea"/>
                <a:cs typeface="+mn-cs"/>
              </a:rPr>
              <a:t>"If you had a chance to do one action differently in your life, what is it that you would do?"</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signal you are searching for is a deep, involuntary emotional reaction rather than a canned business regret (like "I wish I hadn't sold that stock"). Moritz recounts interviewing a candidate for Sequoia who burst into tears when asked this question. The candidate recalled stealing candy at age 12, causing his proud immigrant father severe humiliation. That intense shame formed a lifelong ethical and performance anchor.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4</a:t>
            </a:fld>
            <a:endParaRPr lang="en-US"/>
          </a:p>
        </p:txBody>
      </p:sp>
    </p:spTree>
    <p:extLst>
      <p:ext uri="{BB962C8B-B14F-4D97-AF65-F5344CB8AC3E}">
        <p14:creationId xmlns:p14="http://schemas.microsoft.com/office/powerpoint/2010/main" val="425972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highlights a contrast from Moritz's family history in 1930s Germany, illustrating how mindset dictates survival during systemic collapses.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Paternal Grandfather (The Civil Servant):</a:t>
            </a:r>
            <a:r>
              <a:rPr lang="en-US" sz="1200" kern="1200" dirty="0">
                <a:solidFill>
                  <a:schemeClr val="tx1"/>
                </a:solidFill>
                <a:effectLst/>
                <a:latin typeface="+mn-lt"/>
                <a:ea typeface="+mn-ea"/>
                <a:cs typeface="+mn-cs"/>
              </a:rPr>
              <a:t> A lower-level judge and WWI Iron Cross recipient. Conservative and trusting of institutional stability, he relied heavily on his state pension and believed the political storm would blow over. Tragically, by waiting too long, he and his wife were caught in bureaucratic exit traps and perished.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Maternal Grandfather (The Entrepreneur):</a:t>
            </a:r>
            <a:r>
              <a:rPr lang="en-US" sz="1200" kern="1200" dirty="0">
                <a:solidFill>
                  <a:schemeClr val="tx1"/>
                </a:solidFill>
                <a:effectLst/>
                <a:latin typeface="+mn-lt"/>
                <a:ea typeface="+mn-ea"/>
                <a:cs typeface="+mn-cs"/>
              </a:rPr>
              <a:t> A blind, marginalized cattle trader who was completely self-reliant. Unburdened by state safety nets and naturally paranoid, he lived strictly by his wits. Recognizing the danger, he moved immediately, escaping Germany with his wife just 72 hours before World War II erupted. </a:t>
            </a:r>
          </a:p>
          <a:p>
            <a:r>
              <a:rPr lang="en-US" sz="1200" b="1" kern="1200" dirty="0">
                <a:solidFill>
                  <a:schemeClr val="tx1"/>
                </a:solidFill>
                <a:effectLst/>
                <a:latin typeface="+mn-lt"/>
                <a:ea typeface="+mn-ea"/>
                <a:cs typeface="+mn-cs"/>
              </a:rPr>
              <a:t>Synthesis:</a:t>
            </a:r>
            <a:r>
              <a:rPr lang="en-US" sz="1200" kern="1200" dirty="0">
                <a:solidFill>
                  <a:schemeClr val="tx1"/>
                </a:solidFill>
                <a:effectLst/>
                <a:latin typeface="+mn-lt"/>
                <a:ea typeface="+mn-ea"/>
                <a:cs typeface="+mn-cs"/>
              </a:rPr>
              <a:t> Survival favors streetwise outsiders who carry no illusions about institutional promises. When the macro environment shifts violently, reliance on state or system stability becomes a fatal liability.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5</a:t>
            </a:fld>
            <a:endParaRPr lang="en-US"/>
          </a:p>
        </p:txBody>
      </p:sp>
    </p:spTree>
    <p:extLst>
      <p:ext uri="{BB962C8B-B14F-4D97-AF65-F5344CB8AC3E}">
        <p14:creationId xmlns:p14="http://schemas.microsoft.com/office/powerpoint/2010/main" val="195746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slide plots Catastrophic Tail Risk against Expected Societal Stability. Moritz points out that high-functioning outsiders never fully trust societal or economic calm. </a:t>
            </a:r>
          </a:p>
          <a:p>
            <a:r>
              <a:rPr lang="en-US" sz="1200" kern="1200" dirty="0">
                <a:solidFill>
                  <a:schemeClr val="tx1"/>
                </a:solidFill>
                <a:effectLst/>
                <a:latin typeface="+mn-lt"/>
                <a:ea typeface="+mn-ea"/>
                <a:cs typeface="+mn-cs"/>
              </a:rPr>
              <a:t>History demonstrates that even during periods of apparent economic prosperity, tens of millions of people who feel left behind can easily be whipped into authoritarian fury by skilled demagogues. Because civil stability can erode suddenly, true personal resilience requires having a "bolt-hole"—a literal or figurative escape hatch, encapsulated by the phrase: </a:t>
            </a:r>
            <a:r>
              <a:rPr lang="en-US" sz="1200" i="1" kern="1200" dirty="0">
                <a:solidFill>
                  <a:schemeClr val="tx1"/>
                </a:solidFill>
                <a:effectLst/>
                <a:latin typeface="+mn-lt"/>
                <a:ea typeface="+mn-ea"/>
                <a:cs typeface="+mn-cs"/>
              </a:rPr>
              <a:t>"You can never have enough passports."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Whether in business or geopolitics, relying entirely on a single environment or institution leaves you exposed to sudden tail risks.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6</a:t>
            </a:fld>
            <a:endParaRPr lang="en-US"/>
          </a:p>
        </p:txBody>
      </p:sp>
    </p:spTree>
    <p:extLst>
      <p:ext uri="{BB962C8B-B14F-4D97-AF65-F5344CB8AC3E}">
        <p14:creationId xmlns:p14="http://schemas.microsoft.com/office/powerpoint/2010/main" val="2381919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we examine the concept of monomania—the singular focus required to achieve monumental output. The trade-off is clear: Greatness demands a tax, and that tax is almost always paid in personal relationships and balance.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Frank Auerbach (The Painter):</a:t>
            </a:r>
            <a:r>
              <a:rPr lang="en-US" sz="1200" kern="1200" dirty="0">
                <a:solidFill>
                  <a:schemeClr val="tx1"/>
                </a:solidFill>
                <a:effectLst/>
                <a:latin typeface="+mn-lt"/>
                <a:ea typeface="+mn-ea"/>
                <a:cs typeface="+mn-cs"/>
              </a:rPr>
              <a:t> A complete obsessive who painted the exact same landscape day after day. He took only one day off a year (Christmas Day in Brighton) and never even visited his wife's seaside house.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Evelyn Waugh (The Author):</a:t>
            </a:r>
            <a:r>
              <a:rPr lang="en-US" sz="1200" kern="1200" dirty="0">
                <a:solidFill>
                  <a:schemeClr val="tx1"/>
                </a:solidFill>
                <a:effectLst/>
                <a:latin typeface="+mn-lt"/>
                <a:ea typeface="+mn-ea"/>
                <a:cs typeface="+mn-cs"/>
              </a:rPr>
              <a:t> Capable of writing 10,000 brilliant words a week, but lacked personal warmth, famously stating, </a:t>
            </a:r>
            <a:r>
              <a:rPr lang="en-US" sz="1200" i="1" kern="1200" dirty="0">
                <a:solidFill>
                  <a:schemeClr val="tx1"/>
                </a:solidFill>
                <a:effectLst/>
                <a:latin typeface="+mn-lt"/>
                <a:ea typeface="+mn-ea"/>
                <a:cs typeface="+mn-cs"/>
              </a:rPr>
              <a:t>"The greatest enemy to good art is the sight of the pram in the hallway."</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build an institution or create world-changing work, leaders lock out peripheral joys and eliminate all distractions. When evaluating category-defining founders, look for this level of singular, almost ruthlessly hyper-focused drive.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7</a:t>
            </a:fld>
            <a:endParaRPr lang="en-US"/>
          </a:p>
        </p:txBody>
      </p:sp>
    </p:spTree>
    <p:extLst>
      <p:ext uri="{BB962C8B-B14F-4D97-AF65-F5344CB8AC3E}">
        <p14:creationId xmlns:p14="http://schemas.microsoft.com/office/powerpoint/2010/main" val="781439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During the COVID-19 lockdowns, while conducting meetings on Zoom, Moritz applied a historical taxonomy to evaluate the people on screen. Extreme crisis environments do not alter human character; they strip away pretext and reveal pre-existing integrity. </a:t>
            </a:r>
          </a:p>
          <a:p>
            <a:r>
              <a:rPr lang="en-US" sz="1200" kern="1200" dirty="0">
                <a:solidFill>
                  <a:schemeClr val="tx1"/>
                </a:solidFill>
                <a:effectLst/>
                <a:latin typeface="+mn-lt"/>
                <a:ea typeface="+mn-ea"/>
                <a:cs typeface="+mn-cs"/>
              </a:rPr>
              <a:t>In any major crisis, human behavior splits into three categories: </a:t>
            </a:r>
          </a:p>
          <a:p>
            <a:pPr marL="228600" lvl="0" indent="-228600">
              <a:buFont typeface="+mj-lt"/>
              <a:buAutoNum type="arabicPeriod"/>
            </a:pPr>
            <a:r>
              <a:rPr lang="en-US" sz="1200" b="1" kern="1200" dirty="0">
                <a:solidFill>
                  <a:schemeClr val="tx1"/>
                </a:solidFill>
                <a:effectLst/>
                <a:latin typeface="+mn-lt"/>
                <a:ea typeface="+mn-ea"/>
                <a:cs typeface="+mn-cs"/>
              </a:rPr>
              <a:t>The Collaborators:</a:t>
            </a:r>
            <a:r>
              <a:rPr lang="en-US" sz="1200" kern="1200" dirty="0">
                <a:solidFill>
                  <a:schemeClr val="tx1"/>
                </a:solidFill>
                <a:effectLst/>
                <a:latin typeface="+mn-lt"/>
                <a:ea typeface="+mn-ea"/>
                <a:cs typeface="+mn-cs"/>
              </a:rPr>
              <a:t> Individuals who actively align with destructive forces for personal gain or career preservation. </a:t>
            </a:r>
          </a:p>
          <a:p>
            <a:pPr marL="228600" lvl="0" indent="-228600">
              <a:buFont typeface="+mj-lt"/>
              <a:buAutoNum type="arabicPeriod"/>
            </a:pPr>
            <a:r>
              <a:rPr lang="en-US" sz="1200" b="1" kern="1200" dirty="0">
                <a:solidFill>
                  <a:schemeClr val="tx1"/>
                </a:solidFill>
                <a:effectLst/>
                <a:latin typeface="+mn-lt"/>
                <a:ea typeface="+mn-ea"/>
                <a:cs typeface="+mn-cs"/>
              </a:rPr>
              <a:t>The Silent (The Majority):</a:t>
            </a:r>
            <a:r>
              <a:rPr lang="en-US" sz="1200" kern="1200" dirty="0">
                <a:solidFill>
                  <a:schemeClr val="tx1"/>
                </a:solidFill>
                <a:effectLst/>
                <a:latin typeface="+mn-lt"/>
                <a:ea typeface="+mn-ea"/>
                <a:cs typeface="+mn-cs"/>
              </a:rPr>
              <a:t> The baseline of human nature. Most people stay quiet to protect themselves, allowing threats or toxic cultures to proliferate. </a:t>
            </a:r>
          </a:p>
          <a:p>
            <a:pPr marL="228600" lvl="0" indent="-228600">
              <a:buFont typeface="+mj-lt"/>
              <a:buAutoNum type="arabicPeriod"/>
            </a:pPr>
            <a:r>
              <a:rPr lang="en-US" sz="1200" b="1" kern="1200" dirty="0">
                <a:solidFill>
                  <a:schemeClr val="tx1"/>
                </a:solidFill>
                <a:effectLst/>
                <a:latin typeface="+mn-lt"/>
                <a:ea typeface="+mn-ea"/>
                <a:cs typeface="+mn-cs"/>
              </a:rPr>
              <a:t>The Resistors (1%):</a:t>
            </a:r>
            <a:r>
              <a:rPr lang="en-US" sz="1200" kern="1200" dirty="0">
                <a:solidFill>
                  <a:schemeClr val="tx1"/>
                </a:solidFill>
                <a:effectLst/>
                <a:latin typeface="+mn-lt"/>
                <a:ea typeface="+mn-ea"/>
                <a:cs typeface="+mn-cs"/>
              </a:rPr>
              <a:t> Rare individuals possesses an unalterable internal ethical compass. Moritz references Anna, his family’s Catholic nanny in 1930s Bavaria, who risked everything to shelter his Jewish family despite severe social and legal threats. </a:t>
            </a:r>
          </a:p>
          <a:p>
            <a:r>
              <a:rPr lang="en-US" sz="1200" kern="1200" dirty="0">
                <a:solidFill>
                  <a:schemeClr val="tx1"/>
                </a:solidFill>
                <a:effectLst/>
                <a:latin typeface="+mn-lt"/>
                <a:ea typeface="+mn-ea"/>
                <a:cs typeface="+mn-cs"/>
              </a:rPr>
              <a:t>When building teams or investing, seek out the 1% who possess an unwavering backbone when pressure mounts.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8</a:t>
            </a:fld>
            <a:endParaRPr lang="en-US"/>
          </a:p>
        </p:txBody>
      </p:sp>
    </p:spTree>
    <p:extLst>
      <p:ext uri="{BB962C8B-B14F-4D97-AF65-F5344CB8AC3E}">
        <p14:creationId xmlns:p14="http://schemas.microsoft.com/office/powerpoint/2010/main" val="4137790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contrasts two distinct leadership frameworks that turn individual talent into institutional endurance:</a:t>
            </a:r>
          </a:p>
          <a:p>
            <a:pPr marL="171450" indent="-171450">
              <a:buFont typeface="Arial" panose="020B0604020202020204" pitchFamily="34" charset="0"/>
              <a:buChar char="•"/>
            </a:pPr>
            <a:r>
              <a:rPr lang="en-US" dirty="0"/>
              <a:t>The Alex Ferguson Model: Sir Alex Ferguson built decades of dominance at Manchester United not by seeking affection, but by gaining deep respect. Behind a fierce exterior lay intense psychological attunement. When David Beckham was vilified by the British press after the World Cup, Ferguson met him personally at the airport to offer quiet, out-of-sight support when he was feeling "lower than a snake's belly.“</a:t>
            </a:r>
          </a:p>
          <a:p>
            <a:pPr marL="171450" indent="-171450">
              <a:buFont typeface="Arial" panose="020B0604020202020204" pitchFamily="34" charset="0"/>
              <a:buChar char="•"/>
            </a:pPr>
            <a:r>
              <a:rPr lang="en-US" dirty="0"/>
              <a:t>The Don Valentine Model: Sequoia’s founder believed in throwing people into the deep end without formal training to see if they would swim or drown. He looked past traditional backgrounds, backing unconventional figures like Arthur Rock (a commercial banker) and Moritz himself (a journalist with zero engineering degree).</a:t>
            </a:r>
          </a:p>
          <a:p>
            <a:r>
              <a:rPr lang="en-US" dirty="0"/>
              <a:t>Both models show that successful leaders manage individuals according to their specific psychological needs rather than enforcing rigid, one-size-fits-all management. </a:t>
            </a:r>
          </a:p>
        </p:txBody>
      </p:sp>
      <p:sp>
        <p:nvSpPr>
          <p:cNvPr id="4" name="Slide Number Placeholder 3"/>
          <p:cNvSpPr>
            <a:spLocks noGrp="1"/>
          </p:cNvSpPr>
          <p:nvPr>
            <p:ph type="sldNum" sz="quarter" idx="5"/>
          </p:nvPr>
        </p:nvSpPr>
        <p:spPr/>
        <p:txBody>
          <a:bodyPr/>
          <a:lstStyle/>
          <a:p>
            <a:fld id="{192A0690-2E29-4B08-8192-EADB02DB408C}" type="slidenum">
              <a:rPr lang="en-US" smtClean="0"/>
              <a:t>9</a:t>
            </a:fld>
            <a:endParaRPr lang="en-US"/>
          </a:p>
        </p:txBody>
      </p:sp>
    </p:spTree>
    <p:extLst>
      <p:ext uri="{BB962C8B-B14F-4D97-AF65-F5344CB8AC3E}">
        <p14:creationId xmlns:p14="http://schemas.microsoft.com/office/powerpoint/2010/main" val="3641684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we evaluate how early-stage venture capital has evolved over the past four decades: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1985 (The Artisan Era):</a:t>
            </a:r>
            <a:r>
              <a:rPr lang="en-US" sz="1200" kern="1200" dirty="0">
                <a:solidFill>
                  <a:schemeClr val="tx1"/>
                </a:solidFill>
                <a:effectLst/>
                <a:latin typeface="+mn-lt"/>
                <a:ea typeface="+mn-ea"/>
                <a:cs typeface="+mn-cs"/>
              </a:rPr>
              <a:t> Information was imperfect and opaque. Success depended on physical proximity and direct, unmediated personal relationships. In this environment, a moderately intelligent, observant individual could succeed purely through intuition and direct network access.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Today (The Commoditized Era):</a:t>
            </a:r>
            <a:r>
              <a:rPr lang="en-US" sz="1200" kern="1200" dirty="0">
                <a:solidFill>
                  <a:schemeClr val="tx1"/>
                </a:solidFill>
                <a:effectLst/>
                <a:latin typeface="+mn-lt"/>
                <a:ea typeface="+mn-ea"/>
                <a:cs typeface="+mn-cs"/>
              </a:rPr>
              <a:t> Information is instantly democratized via the internet. Capital has become a commodity, flooded by mega-funds and non-traditional players. Intermediaries now separate investors from founders, making true relationship-building harder to maintain. </a:t>
            </a:r>
          </a:p>
          <a:p>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The structural advantages of early Silicon Valley are gone. Navigating today’s landscape requires distinct forms of leverage rather than relying on informational arbitrage.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10</a:t>
            </a:fld>
            <a:endParaRPr lang="en-US"/>
          </a:p>
        </p:txBody>
      </p:sp>
    </p:spTree>
    <p:extLst>
      <p:ext uri="{BB962C8B-B14F-4D97-AF65-F5344CB8AC3E}">
        <p14:creationId xmlns:p14="http://schemas.microsoft.com/office/powerpoint/2010/main" val="3385751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funnel represents the Information Compression Engine—a vital skill for modern leaders.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A vast vocabulary isn't about grandstanding or using complex jargon. It provides the necessary mental inventory to select the exact right word to make complex ideas simple. Moritz contrasts US Presidents to show how vocabulary size directly impacts a leader’s ability to articulate nuance and drive clarity.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Future Premium:</a:t>
            </a:r>
            <a:r>
              <a:rPr lang="en-US" sz="1200" kern="1200" dirty="0">
                <a:solidFill>
                  <a:schemeClr val="tx1"/>
                </a:solidFill>
                <a:effectLst/>
                <a:latin typeface="+mn-lt"/>
                <a:ea typeface="+mn-ea"/>
                <a:cs typeface="+mn-cs"/>
              </a:rPr>
              <a:t> As AI tools generate vast amounts of automated content, the world risks being flooded with generic output. Consequently, the premium on clear, deeply human distillation—where an author or leader cuts through the noise to deliver core truths—will rise significantly.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11</a:t>
            </a:fld>
            <a:endParaRPr lang="en-US"/>
          </a:p>
        </p:txBody>
      </p:sp>
    </p:spTree>
    <p:extLst>
      <p:ext uri="{BB962C8B-B14F-4D97-AF65-F5344CB8AC3E}">
        <p14:creationId xmlns:p14="http://schemas.microsoft.com/office/powerpoint/2010/main" val="1018744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centers on Joseph Campbell’s famous quote: </a:t>
            </a:r>
            <a:r>
              <a:rPr lang="en-US" sz="1200" i="1" kern="1200" dirty="0">
                <a:solidFill>
                  <a:schemeClr val="tx1"/>
                </a:solidFill>
                <a:effectLst/>
                <a:latin typeface="+mn-lt"/>
                <a:ea typeface="+mn-ea"/>
                <a:cs typeface="+mn-cs"/>
              </a:rPr>
              <a:t>"The privilege of a lifetime is becoming who you are."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Moritz notes that the central struggle for any leader or creator is staying attuned to their inner voice despite external expectations, societal noise, and critics. Stripping away ego means recognizing human insignificance while remaining focused on a single imperative: leaving institutions and structures slightly better than you found them. </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12</a:t>
            </a:fld>
            <a:endParaRPr lang="en-US"/>
          </a:p>
        </p:txBody>
      </p:sp>
    </p:spTree>
    <p:extLst>
      <p:ext uri="{BB962C8B-B14F-4D97-AF65-F5344CB8AC3E}">
        <p14:creationId xmlns:p14="http://schemas.microsoft.com/office/powerpoint/2010/main" val="1877128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presentation, Slide 13 synthesizes the strategic dossier: </a:t>
            </a:r>
          </a:p>
          <a:p>
            <a:pPr marL="228600" lvl="0" indent="-228600">
              <a:buFont typeface="+mj-lt"/>
              <a:buAutoNum type="arabicPeriod"/>
            </a:pPr>
            <a:r>
              <a:rPr lang="en-US" sz="1200" b="1" kern="1200" dirty="0">
                <a:solidFill>
                  <a:schemeClr val="tx1"/>
                </a:solidFill>
                <a:effectLst/>
                <a:latin typeface="+mn-lt"/>
                <a:ea typeface="+mn-ea"/>
                <a:cs typeface="+mn-cs"/>
              </a:rPr>
              <a:t>The 14-Year Imprint Window:</a:t>
            </a:r>
            <a:r>
              <a:rPr lang="en-US" sz="1200" kern="1200" dirty="0">
                <a:solidFill>
                  <a:schemeClr val="tx1"/>
                </a:solidFill>
                <a:effectLst/>
                <a:latin typeface="+mn-lt"/>
                <a:ea typeface="+mn-ea"/>
                <a:cs typeface="+mn-cs"/>
              </a:rPr>
              <a:t> Essential drive, ethical frameworks, and fears are established long before adulthood. </a:t>
            </a:r>
          </a:p>
          <a:p>
            <a:pPr marL="228600" lvl="0" indent="-228600">
              <a:buFont typeface="+mj-lt"/>
              <a:buAutoNum type="arabicPeriod"/>
            </a:pPr>
            <a:r>
              <a:rPr lang="en-US" sz="1200" b="1" kern="1200" dirty="0">
                <a:solidFill>
                  <a:schemeClr val="tx1"/>
                </a:solidFill>
                <a:effectLst/>
                <a:latin typeface="+mn-lt"/>
                <a:ea typeface="+mn-ea"/>
                <a:cs typeface="+mn-cs"/>
              </a:rPr>
              <a:t>The Outsider Advantage:</a:t>
            </a:r>
            <a:r>
              <a:rPr lang="en-US" sz="1200" kern="1200" dirty="0">
                <a:solidFill>
                  <a:schemeClr val="tx1"/>
                </a:solidFill>
                <a:effectLst/>
                <a:latin typeface="+mn-lt"/>
                <a:ea typeface="+mn-ea"/>
                <a:cs typeface="+mn-cs"/>
              </a:rPr>
              <a:t> An outsider or minority perspective instills grit and survival instincts that central insiders often lack. </a:t>
            </a:r>
          </a:p>
          <a:p>
            <a:pPr marL="228600" lvl="0" indent="-228600">
              <a:buFont typeface="+mj-lt"/>
              <a:buAutoNum type="arabicPeriod"/>
            </a:pPr>
            <a:r>
              <a:rPr lang="en-US" sz="1200" b="1" kern="1200" dirty="0">
                <a:solidFill>
                  <a:schemeClr val="tx1"/>
                </a:solidFill>
                <a:effectLst/>
                <a:latin typeface="+mn-lt"/>
                <a:ea typeface="+mn-ea"/>
                <a:cs typeface="+mn-cs"/>
              </a:rPr>
              <a:t>Interrogating the Past:</a:t>
            </a:r>
            <a:r>
              <a:rPr lang="en-US" sz="1200" kern="1200" dirty="0">
                <a:solidFill>
                  <a:schemeClr val="tx1"/>
                </a:solidFill>
                <a:effectLst/>
                <a:latin typeface="+mn-lt"/>
                <a:ea typeface="+mn-ea"/>
                <a:cs typeface="+mn-cs"/>
              </a:rPr>
              <a:t> To truly evaluate a leader, look past current pitches and examine their early roots and family background. </a:t>
            </a:r>
          </a:p>
          <a:p>
            <a:pPr marL="228600" lvl="0" indent="-228600">
              <a:buFont typeface="+mj-lt"/>
              <a:buAutoNum type="arabicPeriod"/>
            </a:pPr>
            <a:r>
              <a:rPr lang="en-US" sz="1200" b="1" kern="1200" dirty="0">
                <a:solidFill>
                  <a:schemeClr val="tx1"/>
                </a:solidFill>
                <a:effectLst/>
                <a:latin typeface="+mn-lt"/>
                <a:ea typeface="+mn-ea"/>
                <a:cs typeface="+mn-cs"/>
              </a:rPr>
              <a:t>Resistors vs. The Silent:</a:t>
            </a:r>
            <a:r>
              <a:rPr lang="en-US" sz="1200" kern="1200" dirty="0">
                <a:solidFill>
                  <a:schemeClr val="tx1"/>
                </a:solidFill>
                <a:effectLst/>
                <a:latin typeface="+mn-lt"/>
                <a:ea typeface="+mn-ea"/>
                <a:cs typeface="+mn-cs"/>
              </a:rPr>
              <a:t> True ethical backbone is rare; look for individuals who maintain integrity when systems fail. </a:t>
            </a:r>
          </a:p>
          <a:p>
            <a:pPr marL="228600" lvl="0" indent="-228600">
              <a:buFont typeface="+mj-lt"/>
              <a:buAutoNum type="arabicPeriod"/>
            </a:pPr>
            <a:r>
              <a:rPr lang="en-US" sz="1200" b="1" kern="1200" dirty="0">
                <a:solidFill>
                  <a:schemeClr val="tx1"/>
                </a:solidFill>
                <a:effectLst/>
                <a:latin typeface="+mn-lt"/>
                <a:ea typeface="+mn-ea"/>
                <a:cs typeface="+mn-cs"/>
              </a:rPr>
              <a:t>The Price of Monomania:</a:t>
            </a:r>
            <a:r>
              <a:rPr lang="en-US" sz="1200" kern="1200" dirty="0">
                <a:solidFill>
                  <a:schemeClr val="tx1"/>
                </a:solidFill>
                <a:effectLst/>
                <a:latin typeface="+mn-lt"/>
                <a:ea typeface="+mn-ea"/>
                <a:cs typeface="+mn-cs"/>
              </a:rPr>
              <a:t> Outstanding achievement requires deep focus, often at the cost of personal trade-offs. </a:t>
            </a:r>
          </a:p>
          <a:p>
            <a:pPr marL="228600" lvl="0" indent="-228600">
              <a:buFont typeface="+mj-lt"/>
              <a:buAutoNum type="arabicPeriod"/>
            </a:pPr>
            <a:r>
              <a:rPr lang="en-US" sz="1200" b="1" kern="1200" dirty="0">
                <a:solidFill>
                  <a:schemeClr val="tx1"/>
                </a:solidFill>
                <a:effectLst/>
                <a:latin typeface="+mn-lt"/>
                <a:ea typeface="+mn-ea"/>
                <a:cs typeface="+mn-cs"/>
              </a:rPr>
              <a:t>The Steward's Mindset:</a:t>
            </a:r>
            <a:r>
              <a:rPr lang="en-US" sz="1200" kern="1200" dirty="0">
                <a:solidFill>
                  <a:schemeClr val="tx1"/>
                </a:solidFill>
                <a:effectLst/>
                <a:latin typeface="+mn-lt"/>
                <a:ea typeface="+mn-ea"/>
                <a:cs typeface="+mn-cs"/>
              </a:rPr>
              <a:t> Ultimately, leadership is about honoring the mission, driving performance without resting on past accomplishments, and knowing when to hand over the reigns. </a:t>
            </a:r>
          </a:p>
          <a:p>
            <a:r>
              <a:rPr lang="en-US" sz="1200" kern="1200" dirty="0">
                <a:solidFill>
                  <a:schemeClr val="tx1"/>
                </a:solidFill>
                <a:effectLst/>
                <a:latin typeface="+mn-lt"/>
                <a:ea typeface="+mn-ea"/>
                <a:cs typeface="+mn-cs"/>
              </a:rPr>
              <a:t>Thank you. I am now happy to open the floor to any questions.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https://www.youtube.com/watch?v=mlWX7RltfDE</a:t>
            </a:r>
          </a:p>
          <a:p>
            <a:endParaRPr lang="en-US" dirty="0"/>
          </a:p>
        </p:txBody>
      </p:sp>
      <p:sp>
        <p:nvSpPr>
          <p:cNvPr id="4" name="Slide Number Placeholder 3"/>
          <p:cNvSpPr>
            <a:spLocks noGrp="1"/>
          </p:cNvSpPr>
          <p:nvPr>
            <p:ph type="sldNum" sz="quarter" idx="5"/>
          </p:nvPr>
        </p:nvSpPr>
        <p:spPr/>
        <p:txBody>
          <a:bodyPr/>
          <a:lstStyle/>
          <a:p>
            <a:fld id="{192A0690-2E29-4B08-8192-EADB02DB408C}" type="slidenum">
              <a:rPr lang="en-US" smtClean="0"/>
              <a:t>13</a:t>
            </a:fld>
            <a:endParaRPr lang="en-US"/>
          </a:p>
        </p:txBody>
      </p:sp>
    </p:spTree>
    <p:extLst>
      <p:ext uri="{BB962C8B-B14F-4D97-AF65-F5344CB8AC3E}">
        <p14:creationId xmlns:p14="http://schemas.microsoft.com/office/powerpoint/2010/main" val="2860405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16B9BA-91C6-5FD1-6AEC-E9D3161CCE63}"/>
              </a:ext>
            </a:extLst>
          </p:cNvPr>
          <p:cNvSpPr>
            <a:spLocks noGrp="1"/>
          </p:cNvSpPr>
          <p:nvPr>
            <p:ph type="dt" sz="half" idx="10"/>
          </p:nvPr>
        </p:nvSpPr>
        <p:spPr/>
        <p:txBody>
          <a:bodyPr/>
          <a:lstStyle/>
          <a:p>
            <a:fld id="{6AC4398D-6F8A-4336-BF26-D361FD8E0CC1}" type="datetimeFigureOut">
              <a:rPr lang="en-US" smtClean="0"/>
              <a:t>10/21/2026</a:t>
            </a:fld>
            <a:endParaRPr lang="en-US"/>
          </a:p>
        </p:txBody>
      </p:sp>
      <p:sp>
        <p:nvSpPr>
          <p:cNvPr id="3" name="Footer Placeholder 2">
            <a:extLst>
              <a:ext uri="{FF2B5EF4-FFF2-40B4-BE49-F238E27FC236}">
                <a16:creationId xmlns:a16="http://schemas.microsoft.com/office/drawing/2014/main" id="{CA21D813-FDFD-D293-C237-612E5745BA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DF9094-C7DD-0F65-BCEF-D8BD2B1C045C}"/>
              </a:ext>
            </a:extLst>
          </p:cNvPr>
          <p:cNvSpPr>
            <a:spLocks noGrp="1"/>
          </p:cNvSpPr>
          <p:nvPr>
            <p:ph type="sldNum" sz="quarter" idx="12"/>
          </p:nvPr>
        </p:nvSpPr>
        <p:spPr/>
        <p:txBody>
          <a:bodyPr/>
          <a:lstStyle/>
          <a:p>
            <a:fld id="{8F75B43A-01A1-47CF-AF55-76DF82A2418C}" type="slidenum">
              <a:rPr lang="en-US" smtClean="0"/>
              <a:t>‹#›</a:t>
            </a:fld>
            <a:endParaRPr lang="en-US"/>
          </a:p>
        </p:txBody>
      </p:sp>
    </p:spTree>
    <p:extLst>
      <p:ext uri="{BB962C8B-B14F-4D97-AF65-F5344CB8AC3E}">
        <p14:creationId xmlns:p14="http://schemas.microsoft.com/office/powerpoint/2010/main" val="93798553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D676CD-702D-2666-14F4-F64FB244F7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019CA5-5908-01D4-134A-3846F4D876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2E81F4-9359-AD45-E746-5E18D547BC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C4398D-6F8A-4336-BF26-D361FD8E0CC1}" type="datetimeFigureOut">
              <a:rPr lang="en-US" smtClean="0"/>
              <a:t>10/21/2026</a:t>
            </a:fld>
            <a:endParaRPr lang="en-US"/>
          </a:p>
        </p:txBody>
      </p:sp>
      <p:sp>
        <p:nvSpPr>
          <p:cNvPr id="5" name="Footer Placeholder 4">
            <a:extLst>
              <a:ext uri="{FF2B5EF4-FFF2-40B4-BE49-F238E27FC236}">
                <a16:creationId xmlns:a16="http://schemas.microsoft.com/office/drawing/2014/main" id="{B7835B29-9EB9-732D-714B-80AB303231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202F14-DF71-1987-296A-7FF442B7B0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75B43A-01A1-47CF-AF55-76DF82A2418C}" type="slidenum">
              <a:rPr lang="en-US" smtClean="0"/>
              <a:t>‹#›</a:t>
            </a:fld>
            <a:endParaRPr lang="en-US"/>
          </a:p>
        </p:txBody>
      </p:sp>
    </p:spTree>
    <p:extLst>
      <p:ext uri="{BB962C8B-B14F-4D97-AF65-F5344CB8AC3E}">
        <p14:creationId xmlns:p14="http://schemas.microsoft.com/office/powerpoint/2010/main" val="39475671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45D7C24-42B3-6672-270C-CF37647CF9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C2540-C7FE-9206-FE7B-0C02C6305F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8265E9-E1D4-C227-CB0D-3DDA9CA7DF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F40085-F3DD-1980-26E4-9F4BCBEADC9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284851-2FA2-B17C-3189-9CE1A7D068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8A14C8-C9F5-4CEB-B61B-D344D6BC79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A35725-6ABC-7F7C-D6F3-F4CA5729929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E7519E-E7BA-1A54-4400-E86733A0E64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EAAD75-0682-7E61-C9A3-4CB45BEA5D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1478BB-DD4B-0FB8-17AD-9A08CC233D3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70CF74-76D2-497A-3701-56F9EEA3D7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9E61E7-79DA-2592-93F3-39C96465E8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E21687-5C4E-C3BE-820D-3281972DA6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3198343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2084</Words>
  <Application>Microsoft Office PowerPoint</Application>
  <PresentationFormat>寬螢幕</PresentationFormat>
  <Paragraphs>80</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2026-09-17T23:38:14Z</dcterms:created>
  <dcterms:modified xsi:type="dcterms:W3CDTF">2026-10-21T02:42:47Z</dcterms:modified>
</cp:coreProperties>
</file>