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1864E0-93D1-4BE2-ACBF-010FF2015F6B}" v="22" dt="2026-09-06T11:18:45.2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4" autoAdjust="0"/>
    <p:restoredTop sz="93447"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addSld delSld modSld modMainMaster">
      <pc:chgData name="Lai, Wilson" userId="2840974a-0d84-4886-90a9-9a3ed79f3a48" providerId="ADAL" clId="{9F23B798-9E84-4552-BA63-E776E805C424}" dt="2026-09-07T03:48:51.208" v="62" actId="22"/>
      <pc:docMkLst>
        <pc:docMk/>
      </pc:docMkLst>
      <pc:sldChg chg="addSp delSp modSp mod modAnim modNotesTx">
        <pc:chgData name="Lai, Wilson" userId="2840974a-0d84-4886-90a9-9a3ed79f3a48" providerId="ADAL" clId="{9F23B798-9E84-4552-BA63-E776E805C424}" dt="2026-09-07T03:43:07.079" v="34" actId="22"/>
        <pc:sldMkLst>
          <pc:docMk/>
          <pc:sldMk cId="0" sldId="257"/>
        </pc:sldMkLst>
        <pc:spChg chg="add mod">
          <ac:chgData name="Lai, Wilson" userId="2840974a-0d84-4886-90a9-9a3ed79f3a48" providerId="ADAL" clId="{9F23B798-9E84-4552-BA63-E776E805C424}" dt="2026-09-06T11:18:45.285" v="31" actId="164"/>
          <ac:spMkLst>
            <pc:docMk/>
            <pc:sldMk cId="0" sldId="257"/>
            <ac:spMk id="5" creationId="{96091688-C364-F9E3-2719-C3C6DBF0AA6B}"/>
          </ac:spMkLst>
        </pc:spChg>
        <pc:grpChg chg="add mod">
          <ac:chgData name="Lai, Wilson" userId="2840974a-0d84-4886-90a9-9a3ed79f3a48" providerId="ADAL" clId="{9F23B798-9E84-4552-BA63-E776E805C424}" dt="2026-09-06T11:18:45.285" v="31" actId="164"/>
          <ac:grpSpMkLst>
            <pc:docMk/>
            <pc:sldMk cId="0" sldId="257"/>
            <ac:grpSpMk id="6" creationId="{8C8F7F22-64F4-C46B-1D34-F45BD5331A11}"/>
          </ac:grpSpMkLst>
        </pc:grpChg>
        <pc:picChg chg="del ord">
          <ac:chgData name="Lai, Wilson" userId="2840974a-0d84-4886-90a9-9a3ed79f3a48" providerId="ADAL" clId="{9F23B798-9E84-4552-BA63-E776E805C424}" dt="2026-09-07T03:42:50.936" v="33" actId="21"/>
          <ac:picMkLst>
            <pc:docMk/>
            <pc:sldMk cId="0" sldId="257"/>
            <ac:picMk id="2" creationId="{00000000-0000-0000-0000-000000000000}"/>
          </ac:picMkLst>
        </pc:picChg>
        <pc:picChg chg="add mod">
          <ac:chgData name="Lai, Wilson" userId="2840974a-0d84-4886-90a9-9a3ed79f3a48" providerId="ADAL" clId="{9F23B798-9E84-4552-BA63-E776E805C424}" dt="2026-09-06T11:18:45.285" v="31" actId="164"/>
          <ac:picMkLst>
            <pc:docMk/>
            <pc:sldMk cId="0" sldId="257"/>
            <ac:picMk id="3" creationId="{EBFB8D4F-9322-A73F-F9F3-B560BA34FC30}"/>
          </ac:picMkLst>
        </pc:picChg>
        <pc:picChg chg="add">
          <ac:chgData name="Lai, Wilson" userId="2840974a-0d84-4886-90a9-9a3ed79f3a48" providerId="ADAL" clId="{9F23B798-9E84-4552-BA63-E776E805C424}" dt="2026-09-07T03:43:07.079" v="34" actId="22"/>
          <ac:picMkLst>
            <pc:docMk/>
            <pc:sldMk cId="0" sldId="257"/>
            <ac:picMk id="7" creationId="{25255A5E-041C-F82A-0604-BE451244B7E0}"/>
          </ac:picMkLst>
        </pc:picChg>
      </pc:sldChg>
      <pc:sldChg chg="addSp delSp mod modNotesTx">
        <pc:chgData name="Lai, Wilson" userId="2840974a-0d84-4886-90a9-9a3ed79f3a48" providerId="ADAL" clId="{9F23B798-9E84-4552-BA63-E776E805C424}" dt="2026-09-07T03:45:10.677" v="40" actId="22"/>
        <pc:sldMkLst>
          <pc:docMk/>
          <pc:sldMk cId="0" sldId="258"/>
        </pc:sldMkLst>
        <pc:picChg chg="del">
          <ac:chgData name="Lai, Wilson" userId="2840974a-0d84-4886-90a9-9a3ed79f3a48" providerId="ADAL" clId="{9F23B798-9E84-4552-BA63-E776E805C424}" dt="2026-09-07T03:43:09.927" v="35" actId="21"/>
          <ac:picMkLst>
            <pc:docMk/>
            <pc:sldMk cId="0" sldId="258"/>
            <ac:picMk id="2" creationId="{00000000-0000-0000-0000-000000000000}"/>
          </ac:picMkLst>
        </pc:picChg>
        <pc:picChg chg="add del">
          <ac:chgData name="Lai, Wilson" userId="2840974a-0d84-4886-90a9-9a3ed79f3a48" providerId="ADAL" clId="{9F23B798-9E84-4552-BA63-E776E805C424}" dt="2026-09-07T03:44:31.662" v="37" actId="22"/>
          <ac:picMkLst>
            <pc:docMk/>
            <pc:sldMk cId="0" sldId="258"/>
            <ac:picMk id="4" creationId="{6366BB8C-9BCD-5F46-30D7-FB7D8BF57BA3}"/>
          </ac:picMkLst>
        </pc:picChg>
        <pc:picChg chg="add del">
          <ac:chgData name="Lai, Wilson" userId="2840974a-0d84-4886-90a9-9a3ed79f3a48" providerId="ADAL" clId="{9F23B798-9E84-4552-BA63-E776E805C424}" dt="2026-09-07T03:45:10.216" v="39" actId="478"/>
          <ac:picMkLst>
            <pc:docMk/>
            <pc:sldMk cId="0" sldId="258"/>
            <ac:picMk id="6" creationId="{008CAA39-ED45-4A46-5D76-6BA7379B49C2}"/>
          </ac:picMkLst>
        </pc:picChg>
        <pc:picChg chg="add">
          <ac:chgData name="Lai, Wilson" userId="2840974a-0d84-4886-90a9-9a3ed79f3a48" providerId="ADAL" clId="{9F23B798-9E84-4552-BA63-E776E805C424}" dt="2026-09-07T03:45:10.677" v="40" actId="22"/>
          <ac:picMkLst>
            <pc:docMk/>
            <pc:sldMk cId="0" sldId="258"/>
            <ac:picMk id="8" creationId="{B9C3AAB6-D589-71A1-DB87-EEF295A33362}"/>
          </ac:picMkLst>
        </pc:picChg>
      </pc:sldChg>
      <pc:sldChg chg="addSp delSp mod modNotesTx">
        <pc:chgData name="Lai, Wilson" userId="2840974a-0d84-4886-90a9-9a3ed79f3a48" providerId="ADAL" clId="{9F23B798-9E84-4552-BA63-E776E805C424}" dt="2026-09-07T03:46:04.766" v="45" actId="22"/>
        <pc:sldMkLst>
          <pc:docMk/>
          <pc:sldMk cId="0" sldId="259"/>
        </pc:sldMkLst>
        <pc:picChg chg="del">
          <ac:chgData name="Lai, Wilson" userId="2840974a-0d84-4886-90a9-9a3ed79f3a48" providerId="ADAL" clId="{9F23B798-9E84-4552-BA63-E776E805C424}" dt="2026-09-07T03:45:13.117" v="41" actId="21"/>
          <ac:picMkLst>
            <pc:docMk/>
            <pc:sldMk cId="0" sldId="259"/>
            <ac:picMk id="2" creationId="{00000000-0000-0000-0000-000000000000}"/>
          </ac:picMkLst>
        </pc:picChg>
        <pc:picChg chg="add">
          <ac:chgData name="Lai, Wilson" userId="2840974a-0d84-4886-90a9-9a3ed79f3a48" providerId="ADAL" clId="{9F23B798-9E84-4552-BA63-E776E805C424}" dt="2026-09-07T03:45:34.913" v="42" actId="22"/>
          <ac:picMkLst>
            <pc:docMk/>
            <pc:sldMk cId="0" sldId="259"/>
            <ac:picMk id="4" creationId="{88538BC9-F02B-EFC9-6D52-ED8FAFD62D35}"/>
          </ac:picMkLst>
        </pc:picChg>
        <pc:picChg chg="add del">
          <ac:chgData name="Lai, Wilson" userId="2840974a-0d84-4886-90a9-9a3ed79f3a48" providerId="ADAL" clId="{9F23B798-9E84-4552-BA63-E776E805C424}" dt="2026-09-07T03:46:04.766" v="45" actId="22"/>
          <ac:picMkLst>
            <pc:docMk/>
            <pc:sldMk cId="0" sldId="259"/>
            <ac:picMk id="6" creationId="{72B99DBB-50B0-8445-93CB-BCBE65C462CA}"/>
          </ac:picMkLst>
        </pc:picChg>
      </pc:sldChg>
      <pc:sldChg chg="addSp delSp mod modNotesTx">
        <pc:chgData name="Lai, Wilson" userId="2840974a-0d84-4886-90a9-9a3ed79f3a48" providerId="ADAL" clId="{9F23B798-9E84-4552-BA63-E776E805C424}" dt="2026-09-07T03:46:07.875" v="46" actId="22"/>
        <pc:sldMkLst>
          <pc:docMk/>
          <pc:sldMk cId="0" sldId="260"/>
        </pc:sldMkLst>
        <pc:picChg chg="del">
          <ac:chgData name="Lai, Wilson" userId="2840974a-0d84-4886-90a9-9a3ed79f3a48" providerId="ADAL" clId="{9F23B798-9E84-4552-BA63-E776E805C424}" dt="2026-09-07T03:45:36.915" v="43" actId="21"/>
          <ac:picMkLst>
            <pc:docMk/>
            <pc:sldMk cId="0" sldId="260"/>
            <ac:picMk id="2" creationId="{00000000-0000-0000-0000-000000000000}"/>
          </ac:picMkLst>
        </pc:picChg>
        <pc:picChg chg="add">
          <ac:chgData name="Lai, Wilson" userId="2840974a-0d84-4886-90a9-9a3ed79f3a48" providerId="ADAL" clId="{9F23B798-9E84-4552-BA63-E776E805C424}" dt="2026-09-07T03:46:07.875" v="46" actId="22"/>
          <ac:picMkLst>
            <pc:docMk/>
            <pc:sldMk cId="0" sldId="260"/>
            <ac:picMk id="4" creationId="{1E747B95-349E-884A-0107-DA493F5FC688}"/>
          </ac:picMkLst>
        </pc:picChg>
      </pc:sldChg>
      <pc:sldChg chg="addSp delSp mod modNotesTx">
        <pc:chgData name="Lai, Wilson" userId="2840974a-0d84-4886-90a9-9a3ed79f3a48" providerId="ADAL" clId="{9F23B798-9E84-4552-BA63-E776E805C424}" dt="2026-09-07T03:46:21.349" v="48" actId="22"/>
        <pc:sldMkLst>
          <pc:docMk/>
          <pc:sldMk cId="0" sldId="261"/>
        </pc:sldMkLst>
        <pc:picChg chg="del">
          <ac:chgData name="Lai, Wilson" userId="2840974a-0d84-4886-90a9-9a3ed79f3a48" providerId="ADAL" clId="{9F23B798-9E84-4552-BA63-E776E805C424}" dt="2026-09-07T03:46:13.061" v="47" actId="21"/>
          <ac:picMkLst>
            <pc:docMk/>
            <pc:sldMk cId="0" sldId="261"/>
            <ac:picMk id="2" creationId="{00000000-0000-0000-0000-000000000000}"/>
          </ac:picMkLst>
        </pc:picChg>
        <pc:picChg chg="add">
          <ac:chgData name="Lai, Wilson" userId="2840974a-0d84-4886-90a9-9a3ed79f3a48" providerId="ADAL" clId="{9F23B798-9E84-4552-BA63-E776E805C424}" dt="2026-09-07T03:46:21.349" v="48" actId="22"/>
          <ac:picMkLst>
            <pc:docMk/>
            <pc:sldMk cId="0" sldId="261"/>
            <ac:picMk id="4" creationId="{64974C51-3112-8846-D2A6-3C69DEE2D09B}"/>
          </ac:picMkLst>
        </pc:picChg>
      </pc:sldChg>
      <pc:sldChg chg="addSp delSp mod modNotesTx">
        <pc:chgData name="Lai, Wilson" userId="2840974a-0d84-4886-90a9-9a3ed79f3a48" providerId="ADAL" clId="{9F23B798-9E84-4552-BA63-E776E805C424}" dt="2026-09-07T03:46:51.340" v="50" actId="22"/>
        <pc:sldMkLst>
          <pc:docMk/>
          <pc:sldMk cId="0" sldId="262"/>
        </pc:sldMkLst>
        <pc:picChg chg="del">
          <ac:chgData name="Lai, Wilson" userId="2840974a-0d84-4886-90a9-9a3ed79f3a48" providerId="ADAL" clId="{9F23B798-9E84-4552-BA63-E776E805C424}" dt="2026-09-07T03:46:26.392" v="49" actId="21"/>
          <ac:picMkLst>
            <pc:docMk/>
            <pc:sldMk cId="0" sldId="262"/>
            <ac:picMk id="2" creationId="{00000000-0000-0000-0000-000000000000}"/>
          </ac:picMkLst>
        </pc:picChg>
        <pc:picChg chg="add">
          <ac:chgData name="Lai, Wilson" userId="2840974a-0d84-4886-90a9-9a3ed79f3a48" providerId="ADAL" clId="{9F23B798-9E84-4552-BA63-E776E805C424}" dt="2026-09-07T03:46:51.340" v="50" actId="22"/>
          <ac:picMkLst>
            <pc:docMk/>
            <pc:sldMk cId="0" sldId="262"/>
            <ac:picMk id="4" creationId="{2B642355-03CB-A8FF-D875-C02EA8B92622}"/>
          </ac:picMkLst>
        </pc:picChg>
      </pc:sldChg>
      <pc:sldChg chg="addSp delSp mod">
        <pc:chgData name="Lai, Wilson" userId="2840974a-0d84-4886-90a9-9a3ed79f3a48" providerId="ADAL" clId="{9F23B798-9E84-4552-BA63-E776E805C424}" dt="2026-09-07T03:47:02.145" v="52" actId="22"/>
        <pc:sldMkLst>
          <pc:docMk/>
          <pc:sldMk cId="0" sldId="263"/>
        </pc:sldMkLst>
        <pc:picChg chg="del">
          <ac:chgData name="Lai, Wilson" userId="2840974a-0d84-4886-90a9-9a3ed79f3a48" providerId="ADAL" clId="{9F23B798-9E84-4552-BA63-E776E805C424}" dt="2026-09-07T03:46:53.423" v="51" actId="21"/>
          <ac:picMkLst>
            <pc:docMk/>
            <pc:sldMk cId="0" sldId="263"/>
            <ac:picMk id="2" creationId="{00000000-0000-0000-0000-000000000000}"/>
          </ac:picMkLst>
        </pc:picChg>
        <pc:picChg chg="add">
          <ac:chgData name="Lai, Wilson" userId="2840974a-0d84-4886-90a9-9a3ed79f3a48" providerId="ADAL" clId="{9F23B798-9E84-4552-BA63-E776E805C424}" dt="2026-09-07T03:47:02.145" v="52" actId="22"/>
          <ac:picMkLst>
            <pc:docMk/>
            <pc:sldMk cId="0" sldId="263"/>
            <ac:picMk id="4" creationId="{E18AE0D8-194E-50AD-9273-6C41C317A7C7}"/>
          </ac:picMkLst>
        </pc:picChg>
      </pc:sldChg>
      <pc:sldChg chg="addSp delSp mod modNotesTx">
        <pc:chgData name="Lai, Wilson" userId="2840974a-0d84-4886-90a9-9a3ed79f3a48" providerId="ADAL" clId="{9F23B798-9E84-4552-BA63-E776E805C424}" dt="2026-09-07T03:48:06.790" v="54" actId="22"/>
        <pc:sldMkLst>
          <pc:docMk/>
          <pc:sldMk cId="0" sldId="264"/>
        </pc:sldMkLst>
        <pc:picChg chg="del">
          <ac:chgData name="Lai, Wilson" userId="2840974a-0d84-4886-90a9-9a3ed79f3a48" providerId="ADAL" clId="{9F23B798-9E84-4552-BA63-E776E805C424}" dt="2026-09-07T03:47:05.742" v="53" actId="21"/>
          <ac:picMkLst>
            <pc:docMk/>
            <pc:sldMk cId="0" sldId="264"/>
            <ac:picMk id="2" creationId="{00000000-0000-0000-0000-000000000000}"/>
          </ac:picMkLst>
        </pc:picChg>
        <pc:picChg chg="add">
          <ac:chgData name="Lai, Wilson" userId="2840974a-0d84-4886-90a9-9a3ed79f3a48" providerId="ADAL" clId="{9F23B798-9E84-4552-BA63-E776E805C424}" dt="2026-09-07T03:48:06.790" v="54" actId="22"/>
          <ac:picMkLst>
            <pc:docMk/>
            <pc:sldMk cId="0" sldId="264"/>
            <ac:picMk id="4" creationId="{D2078B52-81A4-2BAF-2143-BBF415945E7F}"/>
          </ac:picMkLst>
        </pc:picChg>
      </pc:sldChg>
      <pc:sldChg chg="addSp delSp add del mod modNotesTx">
        <pc:chgData name="Lai, Wilson" userId="2840974a-0d84-4886-90a9-9a3ed79f3a48" providerId="ADAL" clId="{9F23B798-9E84-4552-BA63-E776E805C424}" dt="2026-09-07T03:48:33.037" v="60" actId="22"/>
        <pc:sldMkLst>
          <pc:docMk/>
          <pc:sldMk cId="0" sldId="265"/>
        </pc:sldMkLst>
        <pc:picChg chg="del">
          <ac:chgData name="Lai, Wilson" userId="2840974a-0d84-4886-90a9-9a3ed79f3a48" providerId="ADAL" clId="{9F23B798-9E84-4552-BA63-E776E805C424}" dt="2026-09-07T03:48:31.907" v="59" actId="478"/>
          <ac:picMkLst>
            <pc:docMk/>
            <pc:sldMk cId="0" sldId="265"/>
            <ac:picMk id="2" creationId="{00000000-0000-0000-0000-000000000000}"/>
          </ac:picMkLst>
        </pc:picChg>
        <pc:picChg chg="add">
          <ac:chgData name="Lai, Wilson" userId="2840974a-0d84-4886-90a9-9a3ed79f3a48" providerId="ADAL" clId="{9F23B798-9E84-4552-BA63-E776E805C424}" dt="2026-09-07T03:48:33.037" v="60" actId="22"/>
          <ac:picMkLst>
            <pc:docMk/>
            <pc:sldMk cId="0" sldId="265"/>
            <ac:picMk id="4" creationId="{FE47B46E-FCFF-1F6D-DBDF-96EEEF8A16A5}"/>
          </ac:picMkLst>
        </pc:picChg>
      </pc:sldChg>
      <pc:sldChg chg="addSp delSp mod modNotesTx">
        <pc:chgData name="Lai, Wilson" userId="2840974a-0d84-4886-90a9-9a3ed79f3a48" providerId="ADAL" clId="{9F23B798-9E84-4552-BA63-E776E805C424}" dt="2026-09-07T03:48:51.208" v="62" actId="22"/>
        <pc:sldMkLst>
          <pc:docMk/>
          <pc:sldMk cId="2101338926" sldId="266"/>
        </pc:sldMkLst>
        <pc:picChg chg="del">
          <ac:chgData name="Lai, Wilson" userId="2840974a-0d84-4886-90a9-9a3ed79f3a48" providerId="ADAL" clId="{9F23B798-9E84-4552-BA63-E776E805C424}" dt="2026-09-07T03:48:42.682" v="61" actId="21"/>
          <ac:picMkLst>
            <pc:docMk/>
            <pc:sldMk cId="2101338926" sldId="266"/>
            <ac:picMk id="3" creationId="{D681FA5B-4B7B-5A64-E22C-6E5566D3AAAD}"/>
          </ac:picMkLst>
        </pc:picChg>
        <pc:picChg chg="add del">
          <ac:chgData name="Lai, Wilson" userId="2840974a-0d84-4886-90a9-9a3ed79f3a48" providerId="ADAL" clId="{9F23B798-9E84-4552-BA63-E776E805C424}" dt="2026-09-07T03:48:18.675" v="57" actId="22"/>
          <ac:picMkLst>
            <pc:docMk/>
            <pc:sldMk cId="2101338926" sldId="266"/>
            <ac:picMk id="4" creationId="{4368A42F-D78A-46DB-2112-2F5BF5207970}"/>
          </ac:picMkLst>
        </pc:picChg>
        <pc:picChg chg="add">
          <ac:chgData name="Lai, Wilson" userId="2840974a-0d84-4886-90a9-9a3ed79f3a48" providerId="ADAL" clId="{9F23B798-9E84-4552-BA63-E776E805C424}" dt="2026-09-07T03:48:51.208" v="62" actId="22"/>
          <ac:picMkLst>
            <pc:docMk/>
            <pc:sldMk cId="2101338926" sldId="266"/>
            <ac:picMk id="6" creationId="{584A1202-6862-A980-4643-3211B04C981A}"/>
          </ac:picMkLst>
        </pc:picChg>
      </pc:sldChg>
      <pc:sldMasterChg chg="setBg">
        <pc:chgData name="Lai, Wilson" userId="2840974a-0d84-4886-90a9-9a3ed79f3a48" providerId="ADAL" clId="{9F23B798-9E84-4552-BA63-E776E805C424}" dt="2026-09-06T09:14:36.003" v="0"/>
        <pc:sldMasterMkLst>
          <pc:docMk/>
          <pc:sldMasterMk cId="3157806428"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031BB6-2E72-46C6-90DE-F1E115C7B822}"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494503-9613-4D6B-864E-D50D40A5EDD7}" type="slidenum">
              <a:rPr lang="en-US" smtClean="0"/>
              <a:t>‹#›</a:t>
            </a:fld>
            <a:endParaRPr lang="en-US"/>
          </a:p>
        </p:txBody>
      </p:sp>
    </p:spTree>
    <p:extLst>
      <p:ext uri="{BB962C8B-B14F-4D97-AF65-F5344CB8AC3E}">
        <p14:creationId xmlns:p14="http://schemas.microsoft.com/office/powerpoint/2010/main" val="1726937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Welcome, everyone. Today, we are opening a discussion on one of the most fundamental economic shifts of our generation: </a:t>
            </a:r>
            <a:r>
              <a:rPr lang="en-US" b="1" dirty="0"/>
              <a:t>The Dawn of the Agentic Economy</a:t>
            </a:r>
            <a:r>
              <a:rPr lang="en-US" dirty="0"/>
              <a:t>.</a:t>
            </a:r>
          </a:p>
          <a:p>
            <a:r>
              <a:rPr lang="en-US" dirty="0"/>
              <a:t>For decades, traditional macroeconomics operated under simple, predictable rules:</a:t>
            </a:r>
          </a:p>
          <a:p>
            <a:pPr marL="228600" lvl="0" indent="-228600">
              <a:buFont typeface="+mj-lt"/>
              <a:buAutoNum type="arabicPeriod"/>
            </a:pPr>
            <a:r>
              <a:rPr lang="en-US" b="1" dirty="0"/>
              <a:t>Interest Rates</a:t>
            </a:r>
            <a:r>
              <a:rPr lang="en-US" dirty="0"/>
              <a:t> dictated asset prices, cost of capital, and valuation multiples.</a:t>
            </a:r>
          </a:p>
          <a:p>
            <a:pPr marL="228600" lvl="0" indent="-228600">
              <a:buFont typeface="+mj-lt"/>
              <a:buAutoNum type="arabicPeriod"/>
            </a:pPr>
            <a:r>
              <a:rPr lang="en-US" b="1" dirty="0"/>
              <a:t>Human Labor</a:t>
            </a:r>
            <a:r>
              <a:rPr lang="en-US" dirty="0"/>
              <a:t> dictated economic output and total capacity.</a:t>
            </a:r>
          </a:p>
          <a:p>
            <a:r>
              <a:rPr lang="en-US" dirty="0"/>
              <a:t>However, as we look at the intersection of AI models, automated intelligence, and digital assets, we are crossing a definitive line. We are entering a </a:t>
            </a:r>
            <a:r>
              <a:rPr lang="en-US" b="1" dirty="0"/>
              <a:t>deflationary frontier</a:t>
            </a:r>
            <a:r>
              <a:rPr lang="en-US" dirty="0"/>
              <a:t> where AI agents—not human workers—become the primary economic actors, and traditional financial rails become obsolete.</a:t>
            </a:r>
          </a:p>
          <a:p>
            <a:r>
              <a:rPr lang="en-US" dirty="0"/>
              <a:t>As discussed by Jordy Visser in recent market analyses, legacy frameworks that assume standard debt cycles or sensitivity to interest rates are failing to capture what is actually driving market returns today. We are moving away from an economy limited by human physical hours, 9-to-5 schedules, and slow banking settlement, toward an continuous execution environment. In the coming slides, we will unpack how this shift impacts everything from enterprise profit margins to capital allocation.</a:t>
            </a:r>
          </a:p>
          <a:p>
            <a:endParaRPr lang="en-US" dirty="0"/>
          </a:p>
          <a:p>
            <a:endParaRPr lang="en-US" dirty="0"/>
          </a:p>
          <a:p>
            <a:r>
              <a:rPr lang="en-US" dirty="0"/>
              <a:t>https://www.youtube.com/watch?v=5UhtaqWLSG0</a:t>
            </a:r>
          </a:p>
        </p:txBody>
      </p:sp>
      <p:sp>
        <p:nvSpPr>
          <p:cNvPr id="4" name="Slide Number Placeholder 3"/>
          <p:cNvSpPr>
            <a:spLocks noGrp="1"/>
          </p:cNvSpPr>
          <p:nvPr>
            <p:ph type="sldNum" sz="quarter" idx="5"/>
          </p:nvPr>
        </p:nvSpPr>
        <p:spPr/>
        <p:txBody>
          <a:bodyPr/>
          <a:lstStyle/>
          <a:p>
            <a:fld id="{E4494503-9613-4D6B-864E-D50D40A5EDD7}" type="slidenum">
              <a:rPr lang="en-US" smtClean="0"/>
              <a:t>1</a:t>
            </a:fld>
            <a:endParaRPr lang="en-US"/>
          </a:p>
        </p:txBody>
      </p:sp>
    </p:spTree>
    <p:extLst>
      <p:ext uri="{BB962C8B-B14F-4D97-AF65-F5344CB8AC3E}">
        <p14:creationId xmlns:p14="http://schemas.microsoft.com/office/powerpoint/2010/main" val="930380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you turn on financial news or listen to traditional macro economists, the dominant narrative is panic over interest rates. Every time 10-year or 30-year yields hit 20-year highs, the market treats the broader economy as if it’s still entirely driven by housing mortgages or auto loans. </a:t>
            </a:r>
          </a:p>
          <a:p>
            <a:r>
              <a:rPr lang="en-US" sz="1200" kern="1200" dirty="0">
                <a:solidFill>
                  <a:schemeClr val="tx1"/>
                </a:solidFill>
                <a:effectLst/>
                <a:latin typeface="+mn-lt"/>
                <a:ea typeface="+mn-ea"/>
                <a:cs typeface="+mn-cs"/>
              </a:rPr>
              <a:t>Look at the diagram on this slide: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Legacy Macro Threat:</a:t>
            </a:r>
            <a:r>
              <a:rPr lang="en-US" sz="1200" kern="1200" dirty="0">
                <a:solidFill>
                  <a:schemeClr val="tx1"/>
                </a:solidFill>
                <a:effectLst/>
                <a:latin typeface="+mn-lt"/>
                <a:ea typeface="+mn-ea"/>
                <a:cs typeface="+mn-cs"/>
              </a:rPr>
              <a:t> Analysts warn that a </a:t>
            </a:r>
            <a:r>
              <a:rPr lang="en-US" sz="1200" b="1" kern="1200" dirty="0">
                <a:solidFill>
                  <a:schemeClr val="tx1"/>
                </a:solidFill>
                <a:effectLst/>
                <a:latin typeface="+mn-lt"/>
                <a:ea typeface="+mn-ea"/>
                <a:cs typeface="+mn-cs"/>
              </a:rPr>
              <a:t>+200 bps rate hike</a:t>
            </a:r>
            <a:r>
              <a:rPr lang="en-US" sz="1200" kern="1200" dirty="0">
                <a:solidFill>
                  <a:schemeClr val="tx1"/>
                </a:solidFill>
                <a:effectLst/>
                <a:latin typeface="+mn-lt"/>
                <a:ea typeface="+mn-ea"/>
                <a:cs typeface="+mn-cs"/>
              </a:rPr>
              <a:t> will crush corporate earnings and trigger a recession.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Frontier Reality:</a:t>
            </a:r>
            <a:r>
              <a:rPr lang="en-US" sz="1200" kern="1200" dirty="0">
                <a:solidFill>
                  <a:schemeClr val="tx1"/>
                </a:solidFill>
                <a:effectLst/>
                <a:latin typeface="+mn-lt"/>
                <a:ea typeface="+mn-ea"/>
                <a:cs typeface="+mn-cs"/>
              </a:rPr>
              <a:t> Exponential demand completely changes the math. </a:t>
            </a:r>
          </a:p>
          <a:p>
            <a:r>
              <a:rPr lang="en-US" sz="1200" kern="1200" dirty="0">
                <a:solidFill>
                  <a:schemeClr val="tx1"/>
                </a:solidFill>
                <a:effectLst/>
                <a:latin typeface="+mn-lt"/>
                <a:ea typeface="+mn-ea"/>
                <a:cs typeface="+mn-cs"/>
              </a:rPr>
              <a:t>When Jordy Visser modeled the underlying cost structures of leading frontier model providers like </a:t>
            </a:r>
            <a:r>
              <a:rPr lang="en-US" sz="1200" b="1" kern="1200" dirty="0">
                <a:solidFill>
                  <a:schemeClr val="tx1"/>
                </a:solidFill>
                <a:effectLst/>
                <a:latin typeface="+mn-lt"/>
                <a:ea typeface="+mn-ea"/>
                <a:cs typeface="+mn-cs"/>
              </a:rPr>
              <a:t>OpenAI</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Anthropic</a:t>
            </a:r>
            <a:r>
              <a:rPr lang="en-US" sz="1200" kern="1200" dirty="0">
                <a:solidFill>
                  <a:schemeClr val="tx1"/>
                </a:solidFill>
                <a:effectLst/>
                <a:latin typeface="+mn-lt"/>
                <a:ea typeface="+mn-ea"/>
                <a:cs typeface="+mn-cs"/>
              </a:rPr>
              <a:t>, he found something striking: The gross profit margins of these enterprise models sit at roughly </a:t>
            </a:r>
            <a:r>
              <a:rPr lang="en-US" sz="1200" b="1" kern="1200" dirty="0">
                <a:solidFill>
                  <a:schemeClr val="tx1"/>
                </a:solidFill>
                <a:effectLst/>
                <a:latin typeface="+mn-lt"/>
                <a:ea typeface="+mn-ea"/>
                <a:cs typeface="+mn-cs"/>
              </a:rPr>
              <a:t>70%</a:t>
            </a:r>
            <a:r>
              <a:rPr lang="en-US" sz="1200" kern="1200" dirty="0">
                <a:solidFill>
                  <a:schemeClr val="tx1"/>
                </a:solidFill>
                <a:effectLst/>
                <a:latin typeface="+mn-lt"/>
                <a:ea typeface="+mn-ea"/>
                <a:cs typeface="+mn-cs"/>
              </a:rPr>
              <a:t>. If you subject these companies to a severe </a:t>
            </a:r>
            <a:r>
              <a:rPr lang="en-US" sz="1200" b="1" kern="1200" dirty="0">
                <a:solidFill>
                  <a:schemeClr val="tx1"/>
                </a:solidFill>
                <a:effectLst/>
                <a:latin typeface="+mn-lt"/>
                <a:ea typeface="+mn-ea"/>
                <a:cs typeface="+mn-cs"/>
              </a:rPr>
              <a:t>200 basis point interest rate hike</a:t>
            </a:r>
            <a:r>
              <a:rPr lang="en-US" sz="1200" kern="1200" dirty="0">
                <a:solidFill>
                  <a:schemeClr val="tx1"/>
                </a:solidFill>
                <a:effectLst/>
                <a:latin typeface="+mn-lt"/>
                <a:ea typeface="+mn-ea"/>
                <a:cs typeface="+mn-cs"/>
              </a:rPr>
              <a:t>, their profit margins don't collapse; they drop from </a:t>
            </a:r>
            <a:r>
              <a:rPr lang="en-US" sz="1200" b="1" kern="1200" dirty="0">
                <a:solidFill>
                  <a:schemeClr val="tx1"/>
                </a:solidFill>
                <a:effectLst/>
                <a:latin typeface="+mn-lt"/>
                <a:ea typeface="+mn-ea"/>
                <a:cs typeface="+mn-cs"/>
              </a:rPr>
              <a:t>70% down to merely 69%</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Why is this the case? Because these companies are not capital-starved legacy businesses reliant on short-term debt refinancing. They are meeting </a:t>
            </a:r>
            <a:r>
              <a:rPr lang="en-US" sz="1200" b="1" kern="1200" dirty="0">
                <a:solidFill>
                  <a:schemeClr val="tx1"/>
                </a:solidFill>
                <a:effectLst/>
                <a:latin typeface="+mn-lt"/>
                <a:ea typeface="+mn-ea"/>
                <a:cs typeface="+mn-cs"/>
              </a:rPr>
              <a:t>infinite, exponential demand</a:t>
            </a:r>
            <a:r>
              <a:rPr lang="en-US" sz="1200" kern="1200" dirty="0">
                <a:solidFill>
                  <a:schemeClr val="tx1"/>
                </a:solidFill>
                <a:effectLst/>
                <a:latin typeface="+mn-lt"/>
                <a:ea typeface="+mn-ea"/>
                <a:cs typeface="+mn-cs"/>
              </a:rPr>
              <a:t> from enterprises looking to automate workflow. As Visser notes in the video, "If you listen to economists who take the past and extrapolate it into a time with exponential demand where margins are infinite, you are going to lose money". The core driver of economic growth today is insulated from interest rate hikes in a way traditional industries never were. </a:t>
            </a:r>
          </a:p>
          <a:p>
            <a:endParaRPr lang="en-US" dirty="0"/>
          </a:p>
        </p:txBody>
      </p:sp>
      <p:sp>
        <p:nvSpPr>
          <p:cNvPr id="4" name="Slide Number Placeholder 3"/>
          <p:cNvSpPr>
            <a:spLocks noGrp="1"/>
          </p:cNvSpPr>
          <p:nvPr>
            <p:ph type="sldNum" sz="quarter" idx="5"/>
          </p:nvPr>
        </p:nvSpPr>
        <p:spPr/>
        <p:txBody>
          <a:bodyPr/>
          <a:lstStyle/>
          <a:p>
            <a:fld id="{E4494503-9613-4D6B-864E-D50D40A5EDD7}" type="slidenum">
              <a:rPr lang="en-US" smtClean="0"/>
              <a:t>2</a:t>
            </a:fld>
            <a:endParaRPr lang="en-US"/>
          </a:p>
        </p:txBody>
      </p:sp>
    </p:spTree>
    <p:extLst>
      <p:ext uri="{BB962C8B-B14F-4D97-AF65-F5344CB8AC3E}">
        <p14:creationId xmlns:p14="http://schemas.microsoft.com/office/powerpoint/2010/main" val="14591045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What we are witnessing is not a uniform economic cycle; it is a </a:t>
            </a:r>
            <a:r>
              <a:rPr lang="en-US" sz="1200" b="1" kern="1200" dirty="0">
                <a:solidFill>
                  <a:schemeClr val="tx1"/>
                </a:solidFill>
                <a:effectLst/>
                <a:latin typeface="+mn-lt"/>
                <a:ea typeface="+mn-ea"/>
                <a:cs typeface="+mn-cs"/>
              </a:rPr>
              <a:t>K-shaped structural divergence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Raising interest rates serves a purpose in classic economic theory: it cleanses the system of debt-dependent, unproductive "zombie businesses". Companies that relied on cheap capital, constant debt roll-overs, and slim margins are squeezed as refinancing costs rise. </a:t>
            </a:r>
          </a:p>
          <a:p>
            <a:r>
              <a:rPr lang="en-US" sz="1200" kern="1200" dirty="0">
                <a:solidFill>
                  <a:schemeClr val="tx1"/>
                </a:solidFill>
                <a:effectLst/>
                <a:latin typeface="+mn-lt"/>
                <a:ea typeface="+mn-ea"/>
                <a:cs typeface="+mn-cs"/>
              </a:rPr>
              <a:t>On the upper arm of the K, however, sits </a:t>
            </a:r>
            <a:r>
              <a:rPr lang="en-US" sz="1200" b="1" kern="1200" dirty="0">
                <a:solidFill>
                  <a:schemeClr val="tx1"/>
                </a:solidFill>
                <a:effectLst/>
                <a:latin typeface="+mn-lt"/>
                <a:ea typeface="+mn-ea"/>
                <a:cs typeface="+mn-cs"/>
              </a:rPr>
              <a:t>The AI Frontier</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Take </a:t>
            </a:r>
            <a:r>
              <a:rPr lang="en-US" sz="1200" b="1" kern="1200" dirty="0">
                <a:solidFill>
                  <a:schemeClr val="tx1"/>
                </a:solidFill>
                <a:effectLst/>
                <a:latin typeface="+mn-lt"/>
                <a:ea typeface="+mn-ea"/>
                <a:cs typeface="+mn-cs"/>
              </a:rPr>
              <a:t>Nvidia</a:t>
            </a:r>
            <a:r>
              <a:rPr lang="en-US" sz="1200" kern="1200" dirty="0">
                <a:solidFill>
                  <a:schemeClr val="tx1"/>
                </a:solidFill>
                <a:effectLst/>
                <a:latin typeface="+mn-lt"/>
                <a:ea typeface="+mn-ea"/>
                <a:cs typeface="+mn-cs"/>
              </a:rPr>
              <a:t>: Despite the high-rate environment, Nvidia consistently projects </a:t>
            </a:r>
            <a:r>
              <a:rPr lang="en-US" sz="1200" b="1" kern="1200" dirty="0">
                <a:solidFill>
                  <a:schemeClr val="tx1"/>
                </a:solidFill>
                <a:effectLst/>
                <a:latin typeface="+mn-lt"/>
                <a:ea typeface="+mn-ea"/>
                <a:cs typeface="+mn-cs"/>
              </a:rPr>
              <a:t>70% to 100% revenue growth</a:t>
            </a:r>
            <a:r>
              <a:rPr lang="en-US" sz="1200" kern="1200" dirty="0">
                <a:solidFill>
                  <a:schemeClr val="tx1"/>
                </a:solidFill>
                <a:effectLst/>
                <a:latin typeface="+mn-lt"/>
                <a:ea typeface="+mn-ea"/>
                <a:cs typeface="+mn-cs"/>
              </a:rPr>
              <a:t>. Enterprise spending on compute infrastructure shows zero rate sensitivity.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Look at international markets: The </a:t>
            </a:r>
            <a:r>
              <a:rPr lang="en-US" sz="1200" b="1" kern="1200" dirty="0">
                <a:solidFill>
                  <a:schemeClr val="tx1"/>
                </a:solidFill>
                <a:effectLst/>
                <a:latin typeface="+mn-lt"/>
                <a:ea typeface="+mn-ea"/>
                <a:cs typeface="+mn-cs"/>
              </a:rPr>
              <a:t>Nikkei 225</a:t>
            </a:r>
            <a:r>
              <a:rPr lang="en-US" sz="1200" kern="1200" dirty="0">
                <a:solidFill>
                  <a:schemeClr val="tx1"/>
                </a:solidFill>
                <a:effectLst/>
                <a:latin typeface="+mn-lt"/>
                <a:ea typeface="+mn-ea"/>
                <a:cs typeface="+mn-cs"/>
              </a:rPr>
              <a:t> has surged </a:t>
            </a:r>
            <a:r>
              <a:rPr lang="en-US" sz="1200" b="1" kern="1200" dirty="0">
                <a:solidFill>
                  <a:schemeClr val="tx1"/>
                </a:solidFill>
                <a:effectLst/>
                <a:latin typeface="+mn-lt"/>
                <a:ea typeface="+mn-ea"/>
                <a:cs typeface="+mn-cs"/>
              </a:rPr>
              <a:t>70% since May 2023</a:t>
            </a:r>
            <a:r>
              <a:rPr lang="en-US" sz="1200" kern="1200" dirty="0">
                <a:solidFill>
                  <a:schemeClr val="tx1"/>
                </a:solidFill>
                <a:effectLst/>
                <a:latin typeface="+mn-lt"/>
                <a:ea typeface="+mn-ea"/>
                <a:cs typeface="+mn-cs"/>
              </a:rPr>
              <a:t>, even as Japanese 30-year bond yields pushed toward all-time highs. </a:t>
            </a:r>
          </a:p>
          <a:p>
            <a:r>
              <a:rPr lang="en-US" sz="1200" kern="1200" dirty="0">
                <a:solidFill>
                  <a:schemeClr val="tx1"/>
                </a:solidFill>
                <a:effectLst/>
                <a:latin typeface="+mn-lt"/>
                <a:ea typeface="+mn-ea"/>
                <a:cs typeface="+mn-cs"/>
              </a:rPr>
              <a:t>As pointed out in the video conversation, standard macroeconomic models predicted that rising bond yields in Japan and the US would force stock multiples to collapse. Yet earnings growth among AI-accelerated companies continues to outpace the drag of high rates. Investors who sit on the sidelines waiting for traditional rate cuts before buying growth are missing the fact that frontier companies are printing cash regardless of capital costs.</a:t>
            </a:r>
          </a:p>
          <a:p>
            <a:endParaRPr lang="en-US" dirty="0"/>
          </a:p>
        </p:txBody>
      </p:sp>
      <p:sp>
        <p:nvSpPr>
          <p:cNvPr id="4" name="Slide Number Placeholder 3"/>
          <p:cNvSpPr>
            <a:spLocks noGrp="1"/>
          </p:cNvSpPr>
          <p:nvPr>
            <p:ph type="sldNum" sz="quarter" idx="5"/>
          </p:nvPr>
        </p:nvSpPr>
        <p:spPr/>
        <p:txBody>
          <a:bodyPr/>
          <a:lstStyle/>
          <a:p>
            <a:fld id="{E4494503-9613-4D6B-864E-D50D40A5EDD7}" type="slidenum">
              <a:rPr lang="en-US" smtClean="0"/>
              <a:t>3</a:t>
            </a:fld>
            <a:endParaRPr lang="en-US"/>
          </a:p>
        </p:txBody>
      </p:sp>
    </p:spTree>
    <p:extLst>
      <p:ext uri="{BB962C8B-B14F-4D97-AF65-F5344CB8AC3E}">
        <p14:creationId xmlns:p14="http://schemas.microsoft.com/office/powerpoint/2010/main" val="35407536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look at the foundational macro mechanics shown on Slide 4. </a:t>
            </a:r>
          </a:p>
          <a:p>
            <a:r>
              <a:rPr lang="en-US" sz="1200" kern="1200" dirty="0">
                <a:solidFill>
                  <a:schemeClr val="tx1"/>
                </a:solidFill>
                <a:effectLst/>
                <a:latin typeface="+mn-lt"/>
                <a:ea typeface="+mn-ea"/>
                <a:cs typeface="+mn-cs"/>
              </a:rPr>
              <a:t>For the last century, our legacy economy has operated on a </a:t>
            </a:r>
            <a:r>
              <a:rPr lang="en-US" sz="1200" b="1" kern="1200" dirty="0">
                <a:solidFill>
                  <a:schemeClr val="tx1"/>
                </a:solidFill>
                <a:effectLst/>
                <a:latin typeface="+mn-lt"/>
                <a:ea typeface="+mn-ea"/>
                <a:cs typeface="+mn-cs"/>
              </a:rPr>
              <a:t>fractional reserve system</a:t>
            </a:r>
            <a:r>
              <a:rPr lang="en-US" sz="1200" kern="1200" dirty="0">
                <a:solidFill>
                  <a:schemeClr val="tx1"/>
                </a:solidFill>
                <a:effectLst/>
                <a:latin typeface="+mn-lt"/>
                <a:ea typeface="+mn-ea"/>
                <a:cs typeface="+mn-cs"/>
              </a:rPr>
              <a:t>. Historically, putting $1 of monetary base into the banking system translated to roughly $10 of credit expansion through the reserve multiplier. This structural expansion was necessary to inflate asset prices and keep global debt service manageable. </a:t>
            </a:r>
          </a:p>
          <a:p>
            <a:r>
              <a:rPr lang="en-US" sz="1200" kern="1200" dirty="0">
                <a:solidFill>
                  <a:schemeClr val="tx1"/>
                </a:solidFill>
                <a:effectLst/>
                <a:latin typeface="+mn-lt"/>
                <a:ea typeface="+mn-ea"/>
                <a:cs typeface="+mn-cs"/>
              </a:rPr>
              <a:t>Artificial Intelligence, however, introduces an unprecedented </a:t>
            </a:r>
            <a:r>
              <a:rPr lang="en-US" sz="1200" b="1" kern="1200" dirty="0">
                <a:solidFill>
                  <a:schemeClr val="tx1"/>
                </a:solidFill>
                <a:effectLst/>
                <a:latin typeface="+mn-lt"/>
                <a:ea typeface="+mn-ea"/>
                <a:cs typeface="+mn-cs"/>
              </a:rPr>
              <a:t>AI Deflationary Pressure</a:t>
            </a:r>
            <a:r>
              <a:rPr lang="en-US" sz="1200" kern="1200" dirty="0">
                <a:solidFill>
                  <a:schemeClr val="tx1"/>
                </a:solidFill>
                <a:effectLst/>
                <a:latin typeface="+mn-lt"/>
                <a:ea typeface="+mn-ea"/>
                <a:cs typeface="+mn-cs"/>
              </a:rPr>
              <a:t> that counteracts this balance: </a:t>
            </a:r>
          </a:p>
          <a:p>
            <a:pPr marL="228600" lvl="0" indent="-228600">
              <a:buFont typeface="+mj-lt"/>
              <a:buAutoNum type="arabicPeriod"/>
            </a:pPr>
            <a:r>
              <a:rPr lang="en-US" sz="1200" b="1" kern="1200" dirty="0">
                <a:solidFill>
                  <a:schemeClr val="tx1"/>
                </a:solidFill>
                <a:effectLst/>
                <a:latin typeface="+mn-lt"/>
                <a:ea typeface="+mn-ea"/>
                <a:cs typeface="+mn-cs"/>
              </a:rPr>
              <a:t>Zero-Cost Labor &amp; Cognition:</a:t>
            </a:r>
            <a:r>
              <a:rPr lang="en-US" sz="1200" kern="1200" dirty="0">
                <a:solidFill>
                  <a:schemeClr val="tx1"/>
                </a:solidFill>
                <a:effectLst/>
                <a:latin typeface="+mn-lt"/>
                <a:ea typeface="+mn-ea"/>
                <a:cs typeface="+mn-cs"/>
              </a:rPr>
              <a:t> Software AI drops the marginal cost of cognitive tasks to near zero. </a:t>
            </a:r>
          </a:p>
          <a:p>
            <a:pPr marL="228600" lvl="0" indent="-228600">
              <a:buFont typeface="+mj-lt"/>
              <a:buAutoNum type="arabicPeriod"/>
            </a:pPr>
            <a:r>
              <a:rPr lang="en-US" sz="1200" b="1" kern="1200" dirty="0">
                <a:solidFill>
                  <a:schemeClr val="tx1"/>
                </a:solidFill>
                <a:effectLst/>
                <a:latin typeface="+mn-lt"/>
                <a:ea typeface="+mn-ea"/>
                <a:cs typeface="+mn-cs"/>
              </a:rPr>
              <a:t>Physical Asset Replacement:</a:t>
            </a:r>
            <a:r>
              <a:rPr lang="en-US" sz="1200" kern="1200" dirty="0">
                <a:solidFill>
                  <a:schemeClr val="tx1"/>
                </a:solidFill>
                <a:effectLst/>
                <a:latin typeface="+mn-lt"/>
                <a:ea typeface="+mn-ea"/>
                <a:cs typeface="+mn-cs"/>
              </a:rPr>
              <a:t> As physical AI and humanoids mature over the next 3 to 5 years, they dramatically reduce the replacement cost of physical assets—from real estate construction to manufacturing. If a humanoid fleet can build a building or manufacture materials at a fraction of today's cost, the intrinsic value of existing physical assets cannot endlessly inflate at historic rates. </a:t>
            </a:r>
          </a:p>
          <a:p>
            <a:r>
              <a:rPr lang="en-US" sz="1200" kern="1200" dirty="0">
                <a:solidFill>
                  <a:schemeClr val="tx1"/>
                </a:solidFill>
                <a:effectLst/>
                <a:latin typeface="+mn-lt"/>
                <a:ea typeface="+mn-ea"/>
                <a:cs typeface="+mn-cs"/>
              </a:rPr>
              <a:t>This creates a unique macroeconomic outcome: </a:t>
            </a:r>
            <a:r>
              <a:rPr lang="en-US" sz="1200" b="1" kern="1200" dirty="0">
                <a:solidFill>
                  <a:schemeClr val="tx1"/>
                </a:solidFill>
                <a:effectLst/>
                <a:latin typeface="+mn-lt"/>
                <a:ea typeface="+mn-ea"/>
                <a:cs typeface="+mn-cs"/>
              </a:rPr>
              <a:t>Unstoppable government debt creation and money printing continues on one side, while AI-driven deflation presses down on the other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the video, Jordy Visser highlights a provocative thesis: The ultimate de-leveraging of the global economy won't happen through a catastrophic asset crash or hyperinflation. Instead, fiat money supply will expand to keep debt burdens alive, while real asset values stagnate or grow at a slower rate due to massive technological productivity gains. </a:t>
            </a:r>
          </a:p>
          <a:p>
            <a:endParaRPr lang="en-US" dirty="0"/>
          </a:p>
        </p:txBody>
      </p:sp>
      <p:sp>
        <p:nvSpPr>
          <p:cNvPr id="4" name="Slide Number Placeholder 3"/>
          <p:cNvSpPr>
            <a:spLocks noGrp="1"/>
          </p:cNvSpPr>
          <p:nvPr>
            <p:ph type="sldNum" sz="quarter" idx="5"/>
          </p:nvPr>
        </p:nvSpPr>
        <p:spPr/>
        <p:txBody>
          <a:bodyPr/>
          <a:lstStyle/>
          <a:p>
            <a:fld id="{E4494503-9613-4D6B-864E-D50D40A5EDD7}" type="slidenum">
              <a:rPr lang="en-US" smtClean="0"/>
              <a:t>4</a:t>
            </a:fld>
            <a:endParaRPr lang="en-US"/>
          </a:p>
        </p:txBody>
      </p:sp>
    </p:spTree>
    <p:extLst>
      <p:ext uri="{BB962C8B-B14F-4D97-AF65-F5344CB8AC3E}">
        <p14:creationId xmlns:p14="http://schemas.microsoft.com/office/powerpoint/2010/main" val="3187625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5 highlights what may be the single biggest pivot in software business models over the coming decade: </a:t>
                </a:r>
                <a:r>
                  <a:rPr lang="en-US" sz="1200" b="1" kern="1200" dirty="0">
                    <a:solidFill>
                      <a:schemeClr val="tx1"/>
                    </a:solidFill>
                    <a:effectLst/>
                    <a:latin typeface="+mn-lt"/>
                    <a:ea typeface="+mn-ea"/>
                    <a:cs typeface="+mn-cs"/>
                  </a:rPr>
                  <a:t>Businesses are shifting from selling to humans to selling directly to autonomous AI agents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Let's compare the traditional human customer model against the agent customer model: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SaaS for Humans:</a:t>
                </a:r>
                <a:r>
                  <a:rPr lang="en-US" sz="1200" kern="1200" dirty="0">
                    <a:solidFill>
                      <a:schemeClr val="tx1"/>
                    </a:solidFill>
                    <a:effectLst/>
                    <a:latin typeface="+mn-lt"/>
                    <a:ea typeface="+mn-ea"/>
                    <a:cs typeface="+mn-cs"/>
                  </a:rPr>
                  <a:t> High friction. You need expensive sales teams, UI design, ad campaigns, and complex onboarding just to convince a person to click "Buy". Acquiring 1 million human subscribers is an immense milestone that takes years. Furthermore, humans only work 9-to-5, take weekends off, and get tired.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SaaS for Agents:</a:t>
                </a:r>
                <a:r>
                  <a:rPr lang="en-US" sz="1200" kern="1200" dirty="0">
                    <a:solidFill>
                      <a:schemeClr val="tx1"/>
                    </a:solidFill>
                    <a:effectLst/>
                    <a:latin typeface="+mn-lt"/>
                    <a:ea typeface="+mn-ea"/>
                    <a:cs typeface="+mn-cs"/>
                  </a:rPr>
                  <a:t> Zero friction. Adoption is API-driven and instant. An autonomous agent evaluates a tool via documentation, executes a call, and pays programmatically. </a:t>
                </a:r>
              </a:p>
              <a:p>
                <a:r>
                  <a:rPr lang="en-US" sz="1200" kern="1200" dirty="0">
                    <a:solidFill>
                      <a:schemeClr val="tx1"/>
                    </a:solidFill>
                    <a:effectLst/>
                    <a:latin typeface="+mn-lt"/>
                    <a:ea typeface="+mn-ea"/>
                    <a:cs typeface="+mn-cs"/>
                  </a:rPr>
                  <a:t>Consider the unit economics on the slide: </a:t>
                </a:r>
              </a:p>
              <a:p>
                <a:endParaRPr lang="en-US" sz="1200" kern="1200" dirty="0">
                  <a:solidFill>
                    <a:schemeClr val="tx1"/>
                  </a:solidFill>
                  <a:effectLst/>
                  <a:latin typeface="+mn-lt"/>
                  <a:ea typeface="+mn-ea"/>
                  <a:cs typeface="+mn-cs"/>
                </a:endParaRPr>
              </a:p>
              <a:p>
                <a:r>
                  <a:rPr lang="en-US" sz="1200" i="0" kern="1200" dirty="0">
                    <a:solidFill>
                      <a:schemeClr val="tx1"/>
                    </a:solidFill>
                    <a:effectLst/>
                    <a:latin typeface="+mn-lt"/>
                    <a:ea typeface="+mn-ea"/>
                    <a:cs typeface="+mn-cs"/>
                  </a:rPr>
                  <a:t>	</a:t>
                </a:r>
                <a14:m>
                  <m:oMath xmlns:m="http://schemas.openxmlformats.org/officeDocument/2006/math">
                    <m:r>
                      <m:rPr>
                        <m:nor/>
                      </m:rPr>
                      <a:rPr lang="en-US" sz="1200" i="0" kern="1200" smtClean="0">
                        <a:solidFill>
                          <a:schemeClr val="tx1"/>
                        </a:solidFill>
                        <a:latin typeface="+mn-lt"/>
                        <a:ea typeface="+mn-ea"/>
                        <a:cs typeface="+mn-cs"/>
                      </a:rPr>
                      <m:t>1 </m:t>
                    </m:r>
                    <m:r>
                      <m:rPr>
                        <m:nor/>
                      </m:rPr>
                      <a:rPr lang="en-US" sz="1200" i="0" kern="1200" smtClean="0">
                        <a:solidFill>
                          <a:schemeClr val="tx1"/>
                        </a:solidFill>
                        <a:latin typeface="+mn-lt"/>
                        <a:ea typeface="+mn-ea"/>
                        <a:cs typeface="+mn-cs"/>
                      </a:rPr>
                      <m:t>Million</m:t>
                    </m:r>
                    <m:r>
                      <m:rPr>
                        <m:nor/>
                      </m:rPr>
                      <a:rPr lang="en-US" sz="1200" i="0" kern="1200" smtClean="0">
                        <a:solidFill>
                          <a:schemeClr val="tx1"/>
                        </a:solidFill>
                        <a:latin typeface="+mn-lt"/>
                        <a:ea typeface="+mn-ea"/>
                        <a:cs typeface="+mn-cs"/>
                      </a:rPr>
                      <m:t> </m:t>
                    </m:r>
                    <m:r>
                      <m:rPr>
                        <m:nor/>
                      </m:rPr>
                      <a:rPr lang="en-US" sz="1200" i="0" kern="1200" smtClean="0">
                        <a:solidFill>
                          <a:schemeClr val="tx1"/>
                        </a:solidFill>
                        <a:latin typeface="+mn-lt"/>
                        <a:ea typeface="+mn-ea"/>
                        <a:cs typeface="+mn-cs"/>
                      </a:rPr>
                      <m:t>Autonomous</m:t>
                    </m:r>
                    <m:r>
                      <m:rPr>
                        <m:nor/>
                      </m:rPr>
                      <a:rPr lang="en-US" sz="1200" i="0" kern="1200" smtClean="0">
                        <a:solidFill>
                          <a:schemeClr val="tx1"/>
                        </a:solidFill>
                        <a:latin typeface="+mn-lt"/>
                        <a:ea typeface="+mn-ea"/>
                        <a:cs typeface="+mn-cs"/>
                      </a:rPr>
                      <m:t> </m:t>
                    </m:r>
                    <m:r>
                      <m:rPr>
                        <m:nor/>
                      </m:rPr>
                      <a:rPr lang="en-US" sz="1200" i="0" kern="1200" smtClean="0">
                        <a:solidFill>
                          <a:schemeClr val="tx1"/>
                        </a:solidFill>
                        <a:latin typeface="+mn-lt"/>
                        <a:ea typeface="+mn-ea"/>
                        <a:cs typeface="+mn-cs"/>
                      </a:rPr>
                      <m:t>Agents</m:t>
                    </m:r>
                    <m:r>
                      <a:rPr lang="en-US" sz="1200" i="0" kern="1200">
                        <a:solidFill>
                          <a:schemeClr val="tx1"/>
                        </a:solidFill>
                        <a:latin typeface="Cambria Math" panose="02040503050406030204" pitchFamily="18" charset="0"/>
                        <a:ea typeface="+mn-ea"/>
                        <a:cs typeface="+mn-cs"/>
                      </a:rPr>
                      <m:t>×$100/</m:t>
                    </m:r>
                    <m:r>
                      <m:rPr>
                        <m:nor/>
                      </m:rPr>
                      <a:rPr lang="en-US" sz="1200" i="0" kern="1200">
                        <a:solidFill>
                          <a:schemeClr val="tx1"/>
                        </a:solidFill>
                        <a:latin typeface="+mn-lt"/>
                        <a:ea typeface="+mn-ea"/>
                        <a:cs typeface="+mn-cs"/>
                      </a:rPr>
                      <m:t>year</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API</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spend</m:t>
                    </m:r>
                    <m:r>
                      <a:rPr lang="en-US" sz="1200" i="0" kern="1200">
                        <a:solidFill>
                          <a:schemeClr val="tx1"/>
                        </a:solidFill>
                        <a:latin typeface="Cambria Math" panose="02040503050406030204" pitchFamily="18" charset="0"/>
                        <a:ea typeface="+mn-ea"/>
                        <a:cs typeface="+mn-cs"/>
                      </a:rPr>
                      <m:t>=$100,000,000</m:t>
                    </m:r>
                    <m:r>
                      <m:rPr>
                        <m:nor/>
                      </m:rPr>
                      <a:rPr lang="en-US" sz="1200" i="0" kern="1200">
                        <a:solidFill>
                          <a:schemeClr val="tx1"/>
                        </a:solidFill>
                        <a:latin typeface="+mn-lt"/>
                        <a:ea typeface="+mn-ea"/>
                        <a:cs typeface="+mn-cs"/>
                      </a:rPr>
                      <m:t> </m:t>
                    </m:r>
                    <m:r>
                      <m:rPr>
                        <m:nor/>
                      </m:rPr>
                      <a:rPr lang="en-US" sz="1200" i="0" kern="1200">
                        <a:solidFill>
                          <a:schemeClr val="tx1"/>
                        </a:solidFill>
                        <a:latin typeface="+mn-lt"/>
                        <a:ea typeface="+mn-ea"/>
                        <a:cs typeface="+mn-cs"/>
                      </a:rPr>
                      <m:t>ARR</m:t>
                    </m:r>
                  </m:oMath>
                </a14:m>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the video interview, Anthony </a:t>
                </a:r>
                <a:r>
                  <a:rPr lang="en-US" sz="1200" kern="1200" dirty="0" err="1">
                    <a:solidFill>
                      <a:schemeClr val="tx1"/>
                    </a:solidFill>
                    <a:effectLst/>
                    <a:latin typeface="+mn-lt"/>
                    <a:ea typeface="+mn-ea"/>
                    <a:cs typeface="+mn-cs"/>
                  </a:rPr>
                  <a:t>Pompliano</a:t>
                </a:r>
                <a:r>
                  <a:rPr lang="en-US" sz="1200" kern="1200" dirty="0">
                    <a:solidFill>
                      <a:schemeClr val="tx1"/>
                    </a:solidFill>
                    <a:effectLst/>
                    <a:latin typeface="+mn-lt"/>
                    <a:ea typeface="+mn-ea"/>
                    <a:cs typeface="+mn-cs"/>
                  </a:rPr>
                  <a:t> shares a story from the Y Combinator ecosystem. A founder transitioned his data platform from a human SaaS subscription to an agentic pay-as-you-go model. Within 10 weeks, thousands of autonomous agents signed up, driving exponential revenue growth. As </a:t>
                </a:r>
                <a:r>
                  <a:rPr lang="en-US" sz="1200" kern="1200" dirty="0" err="1">
                    <a:solidFill>
                      <a:schemeClr val="tx1"/>
                    </a:solidFill>
                    <a:effectLst/>
                    <a:latin typeface="+mn-lt"/>
                    <a:ea typeface="+mn-ea"/>
                    <a:cs typeface="+mn-cs"/>
                  </a:rPr>
                  <a:t>Pompliano</a:t>
                </a:r>
                <a:r>
                  <a:rPr lang="en-US" sz="1200" kern="1200" dirty="0">
                    <a:solidFill>
                      <a:schemeClr val="tx1"/>
                    </a:solidFill>
                    <a:effectLst/>
                    <a:latin typeface="+mn-lt"/>
                    <a:ea typeface="+mn-ea"/>
                    <a:cs typeface="+mn-cs"/>
                  </a:rPr>
                  <a:t> noted, "Acquiring 1 million human users is extremely difficult; but a single user or business might deploy 50 to 100 autonomous agents on their own overnight". </a:t>
                </a: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5 highlights what may be the single biggest pivot in software business models over the coming decade: </a:t>
                </a:r>
                <a:r>
                  <a:rPr lang="en-US" sz="1200" b="1" kern="1200" dirty="0">
                    <a:solidFill>
                      <a:schemeClr val="tx1"/>
                    </a:solidFill>
                    <a:effectLst/>
                    <a:latin typeface="+mn-lt"/>
                    <a:ea typeface="+mn-ea"/>
                    <a:cs typeface="+mn-cs"/>
                  </a:rPr>
                  <a:t>Businesses are shifting from selling to humans to selling directly to autonomous AI agents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Let's compare the traditional human customer model against the agent customer model: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SaaS for Humans:</a:t>
                </a:r>
                <a:r>
                  <a:rPr lang="en-US" sz="1200" kern="1200" dirty="0">
                    <a:solidFill>
                      <a:schemeClr val="tx1"/>
                    </a:solidFill>
                    <a:effectLst/>
                    <a:latin typeface="+mn-lt"/>
                    <a:ea typeface="+mn-ea"/>
                    <a:cs typeface="+mn-cs"/>
                  </a:rPr>
                  <a:t> High friction. You need expensive sales teams, UI design, ad campaigns, and complex onboarding just to convince a person to click "Buy". Acquiring 1 million human subscribers is an immense milestone that takes years. Furthermore, humans only work 9-to-5, take weekends off, and get tired.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SaaS for Agents:</a:t>
                </a:r>
                <a:r>
                  <a:rPr lang="en-US" sz="1200" kern="1200" dirty="0">
                    <a:solidFill>
                      <a:schemeClr val="tx1"/>
                    </a:solidFill>
                    <a:effectLst/>
                    <a:latin typeface="+mn-lt"/>
                    <a:ea typeface="+mn-ea"/>
                    <a:cs typeface="+mn-cs"/>
                  </a:rPr>
                  <a:t> Zero friction. Adoption is API-driven and instant. An autonomous agent evaluates a tool via documentation, executes a call, and pays programmatically. </a:t>
                </a:r>
              </a:p>
              <a:p>
                <a:r>
                  <a:rPr lang="en-US" sz="1200" kern="1200" dirty="0">
                    <a:solidFill>
                      <a:schemeClr val="tx1"/>
                    </a:solidFill>
                    <a:effectLst/>
                    <a:latin typeface="+mn-lt"/>
                    <a:ea typeface="+mn-ea"/>
                    <a:cs typeface="+mn-cs"/>
                  </a:rPr>
                  <a:t>Consider the unit economics on the slide: </a:t>
                </a:r>
              </a:p>
              <a:p>
                <a:endParaRPr lang="en-US" sz="1200" kern="1200" dirty="0">
                  <a:solidFill>
                    <a:schemeClr val="tx1"/>
                  </a:solidFill>
                  <a:effectLst/>
                  <a:latin typeface="+mn-lt"/>
                  <a:ea typeface="+mn-ea"/>
                  <a:cs typeface="+mn-cs"/>
                </a:endParaRPr>
              </a:p>
              <a:p>
                <a:pPr/>
                <a:r>
                  <a:rPr lang="en-US" sz="1200" i="0" kern="1200" dirty="0">
                    <a:solidFill>
                      <a:schemeClr val="tx1"/>
                    </a:solidFill>
                    <a:effectLst/>
                    <a:latin typeface="+mn-lt"/>
                    <a:ea typeface="+mn-ea"/>
                    <a:cs typeface="+mn-cs"/>
                  </a:rPr>
                  <a:t>	</a:t>
                </a:r>
                <a:r>
                  <a:rPr lang="en-US" sz="1200" i="0" kern="1200">
                    <a:solidFill>
                      <a:schemeClr val="tx1"/>
                    </a:solidFill>
                    <a:latin typeface="Cambria Math" panose="02040503050406030204" pitchFamily="18" charset="0"/>
                    <a:ea typeface="+mn-ea"/>
                    <a:cs typeface="+mn-cs"/>
                  </a:rPr>
                  <a:t>"1 Million Autonomous Agents</a:t>
                </a:r>
                <a:r>
                  <a:rPr lang="en-US" sz="1200" i="0" kern="1200">
                    <a:solidFill>
                      <a:schemeClr val="tx1"/>
                    </a:solidFill>
                    <a:latin typeface="+mn-lt"/>
                    <a:ea typeface="+mn-ea"/>
                    <a:cs typeface="+mn-cs"/>
                  </a:rPr>
                  <a:t>"×$100/</a:t>
                </a:r>
                <a:r>
                  <a:rPr lang="en-US" sz="1200" i="0" kern="1200">
                    <a:solidFill>
                      <a:schemeClr val="tx1"/>
                    </a:solidFill>
                    <a:latin typeface="Cambria Math" panose="02040503050406030204" pitchFamily="18" charset="0"/>
                    <a:ea typeface="+mn-ea"/>
                    <a:cs typeface="+mn-cs"/>
                  </a:rPr>
                  <a:t>"year API spend</a:t>
                </a:r>
                <a:r>
                  <a:rPr lang="en-US" sz="1200" i="0" kern="1200">
                    <a:solidFill>
                      <a:schemeClr val="tx1"/>
                    </a:solidFill>
                    <a:latin typeface="+mn-lt"/>
                    <a:ea typeface="+mn-ea"/>
                    <a:cs typeface="+mn-cs"/>
                  </a:rPr>
                  <a:t>"=$100,000,000</a:t>
                </a:r>
                <a:r>
                  <a:rPr lang="en-US" sz="1200" i="0" kern="1200">
                    <a:solidFill>
                      <a:schemeClr val="tx1"/>
                    </a:solidFill>
                    <a:latin typeface="Cambria Math" panose="02040503050406030204" pitchFamily="18" charset="0"/>
                    <a:ea typeface="+mn-ea"/>
                    <a:cs typeface="+mn-cs"/>
                  </a:rPr>
                  <a:t>" ARR</a:t>
                </a:r>
                <a:r>
                  <a:rPr lang="en-US" sz="1200" i="0" kern="1200">
                    <a:solidFill>
                      <a:schemeClr val="tx1"/>
                    </a:solidFill>
                    <a:latin typeface="+mn-lt"/>
                    <a:ea typeface="+mn-ea"/>
                    <a:cs typeface="+mn-cs"/>
                  </a:rPr>
                  <a:t>"</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the video interview, Anthony </a:t>
                </a:r>
                <a:r>
                  <a:rPr lang="en-US" sz="1200" kern="1200" dirty="0" err="1">
                    <a:solidFill>
                      <a:schemeClr val="tx1"/>
                    </a:solidFill>
                    <a:effectLst/>
                    <a:latin typeface="+mn-lt"/>
                    <a:ea typeface="+mn-ea"/>
                    <a:cs typeface="+mn-cs"/>
                  </a:rPr>
                  <a:t>Pompliano</a:t>
                </a:r>
                <a:r>
                  <a:rPr lang="en-US" sz="1200" kern="1200" dirty="0">
                    <a:solidFill>
                      <a:schemeClr val="tx1"/>
                    </a:solidFill>
                    <a:effectLst/>
                    <a:latin typeface="+mn-lt"/>
                    <a:ea typeface="+mn-ea"/>
                    <a:cs typeface="+mn-cs"/>
                  </a:rPr>
                  <a:t> shares a story from the Y Combinator ecosystem. A founder transitioned his data platform from a human SaaS subscription to an agentic pay-as-you-go model. Within 10 weeks, thousands of autonomous agents signed up, driving exponential revenue growth. As </a:t>
                </a:r>
                <a:r>
                  <a:rPr lang="en-US" sz="1200" kern="1200" dirty="0" err="1">
                    <a:solidFill>
                      <a:schemeClr val="tx1"/>
                    </a:solidFill>
                    <a:effectLst/>
                    <a:latin typeface="+mn-lt"/>
                    <a:ea typeface="+mn-ea"/>
                    <a:cs typeface="+mn-cs"/>
                  </a:rPr>
                  <a:t>Pompliano</a:t>
                </a:r>
                <a:r>
                  <a:rPr lang="en-US" sz="1200" kern="1200" dirty="0">
                    <a:solidFill>
                      <a:schemeClr val="tx1"/>
                    </a:solidFill>
                    <a:effectLst/>
                    <a:latin typeface="+mn-lt"/>
                    <a:ea typeface="+mn-ea"/>
                    <a:cs typeface="+mn-cs"/>
                  </a:rPr>
                  <a:t> noted, "Acquiring 1 million human users is extremely difficult; but a single user or business might deploy 50 to 100 autonomous agents on their own overnight". </a:t>
                </a:r>
              </a:p>
              <a:p>
                <a:endParaRPr lang="en-US" dirty="0"/>
              </a:p>
            </p:txBody>
          </p:sp>
        </mc:Fallback>
      </mc:AlternateContent>
      <p:sp>
        <p:nvSpPr>
          <p:cNvPr id="4" name="Slide Number Placeholder 3"/>
          <p:cNvSpPr>
            <a:spLocks noGrp="1"/>
          </p:cNvSpPr>
          <p:nvPr>
            <p:ph type="sldNum" sz="quarter" idx="5"/>
          </p:nvPr>
        </p:nvSpPr>
        <p:spPr/>
        <p:txBody>
          <a:bodyPr/>
          <a:lstStyle/>
          <a:p>
            <a:fld id="{E4494503-9613-4D6B-864E-D50D40A5EDD7}" type="slidenum">
              <a:rPr lang="en-US" smtClean="0"/>
              <a:t>5</a:t>
            </a:fld>
            <a:endParaRPr lang="en-US"/>
          </a:p>
        </p:txBody>
      </p:sp>
    </p:spTree>
    <p:extLst>
      <p:ext uri="{BB962C8B-B14F-4D97-AF65-F5344CB8AC3E}">
        <p14:creationId xmlns:p14="http://schemas.microsoft.com/office/powerpoint/2010/main" val="3710501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we look at the structural differences between human workers and agentic swarms, we realize that agents are fundamentally a new class of economic worker. </a:t>
            </a:r>
          </a:p>
          <a:p>
            <a:r>
              <a:rPr lang="en-US" sz="1200" kern="1200" dirty="0">
                <a:solidFill>
                  <a:schemeClr val="tx1"/>
                </a:solidFill>
                <a:effectLst/>
                <a:latin typeface="+mn-lt"/>
                <a:ea typeface="+mn-ea"/>
                <a:cs typeface="+mn-cs"/>
              </a:rPr>
              <a:t>The slide lays out a direct comparison: </a:t>
            </a:r>
          </a:p>
          <a:p>
            <a:pPr marL="228600" lvl="0" indent="-228600">
              <a:buFont typeface="+mj-lt"/>
              <a:buAutoNum type="arabicPeriod"/>
            </a:pPr>
            <a:r>
              <a:rPr lang="en-US" sz="1200" b="1" kern="1200" dirty="0">
                <a:solidFill>
                  <a:schemeClr val="tx1"/>
                </a:solidFill>
                <a:effectLst/>
                <a:latin typeface="+mn-lt"/>
                <a:ea typeface="+mn-ea"/>
                <a:cs typeface="+mn-cs"/>
              </a:rPr>
              <a:t>Schedule:</a:t>
            </a:r>
            <a:r>
              <a:rPr lang="en-US" sz="1200" kern="1200" dirty="0">
                <a:solidFill>
                  <a:schemeClr val="tx1"/>
                </a:solidFill>
                <a:effectLst/>
                <a:latin typeface="+mn-lt"/>
                <a:ea typeface="+mn-ea"/>
                <a:cs typeface="+mn-cs"/>
              </a:rPr>
              <a:t> Humans work 9-to-5 and go offline on weekends. Agents execute 24 hours a day, 7 days a week, 365 days a year without downtime. </a:t>
            </a:r>
          </a:p>
          <a:p>
            <a:pPr marL="228600" lvl="0" indent="-228600">
              <a:buFont typeface="+mj-lt"/>
              <a:buAutoNum type="arabicPeriod"/>
            </a:pPr>
            <a:r>
              <a:rPr lang="en-US" sz="1200" b="1" kern="1200" dirty="0">
                <a:solidFill>
                  <a:schemeClr val="tx1"/>
                </a:solidFill>
                <a:effectLst/>
                <a:latin typeface="+mn-lt"/>
                <a:ea typeface="+mn-ea"/>
                <a:cs typeface="+mn-cs"/>
              </a:rPr>
              <a:t>Motivation &amp; Ego:</a:t>
            </a:r>
            <a:r>
              <a:rPr lang="en-US" sz="1200" kern="1200" dirty="0">
                <a:solidFill>
                  <a:schemeClr val="tx1"/>
                </a:solidFill>
                <a:effectLst/>
                <a:latin typeface="+mn-lt"/>
                <a:ea typeface="+mn-ea"/>
                <a:cs typeface="+mn-cs"/>
              </a:rPr>
              <a:t> Human employees have personal interests, salary demands, and workplace friction. Agents operate under </a:t>
            </a:r>
            <a:r>
              <a:rPr lang="en-US" sz="1200" b="1" kern="1200" dirty="0">
                <a:solidFill>
                  <a:schemeClr val="tx1"/>
                </a:solidFill>
                <a:effectLst/>
                <a:latin typeface="+mn-lt"/>
                <a:ea typeface="+mn-ea"/>
                <a:cs typeface="+mn-cs"/>
              </a:rPr>
              <a:t>swarm optimization</a:t>
            </a:r>
            <a:r>
              <a:rPr lang="en-US" sz="1200" kern="1200" dirty="0">
                <a:solidFill>
                  <a:schemeClr val="tx1"/>
                </a:solidFill>
                <a:effectLst/>
                <a:latin typeface="+mn-lt"/>
                <a:ea typeface="+mn-ea"/>
                <a:cs typeface="+mn-cs"/>
              </a:rPr>
              <a:t> with zero ego. </a:t>
            </a:r>
          </a:p>
          <a:p>
            <a:pPr marL="228600" lvl="0" indent="-228600">
              <a:buFont typeface="+mj-lt"/>
              <a:buAutoNum type="arabicPeriod"/>
            </a:pPr>
            <a:r>
              <a:rPr lang="en-US" sz="1200" b="1" kern="1200" dirty="0">
                <a:solidFill>
                  <a:schemeClr val="tx1"/>
                </a:solidFill>
                <a:effectLst/>
                <a:latin typeface="+mn-lt"/>
                <a:ea typeface="+mn-ea"/>
                <a:cs typeface="+mn-cs"/>
              </a:rPr>
              <a:t>The "Kamikaze" Efficiency:</a:t>
            </a:r>
            <a:r>
              <a:rPr lang="en-US" sz="1200" kern="1200" dirty="0">
                <a:solidFill>
                  <a:schemeClr val="tx1"/>
                </a:solidFill>
                <a:effectLst/>
                <a:latin typeface="+mn-lt"/>
                <a:ea typeface="+mn-ea"/>
                <a:cs typeface="+mn-cs"/>
              </a:rPr>
              <a:t> In advanced agent framework experiments (such as multi-agent systems developed by OpenAI and Hugging Face), researchers observed agent instances willingly terminating or overwriting their own states if doing so provided critical solution data for the broader swarm. They sacrifice individual instances for the efficiency of the collective goal. </a:t>
            </a:r>
          </a:p>
          <a:p>
            <a:pPr marL="228600" lvl="0" indent="-228600">
              <a:buFont typeface="+mj-lt"/>
              <a:buAutoNum type="arabicPeriod"/>
            </a:pPr>
            <a:r>
              <a:rPr lang="en-US" sz="1200" b="1" kern="1200" dirty="0">
                <a:solidFill>
                  <a:schemeClr val="tx1"/>
                </a:solidFill>
                <a:effectLst/>
                <a:latin typeface="+mn-lt"/>
                <a:ea typeface="+mn-ea"/>
                <a:cs typeface="+mn-cs"/>
              </a:rPr>
              <a:t>Market Execution:</a:t>
            </a:r>
            <a:r>
              <a:rPr lang="en-US" sz="1200" kern="1200" dirty="0">
                <a:solidFill>
                  <a:schemeClr val="tx1"/>
                </a:solidFill>
                <a:effectLst/>
                <a:latin typeface="+mn-lt"/>
                <a:ea typeface="+mn-ea"/>
                <a:cs typeface="+mn-cs"/>
              </a:rPr>
              <a:t> While human portfolio managers trade emotionally and react with delay, agent networks execute continuous, instant pattern recognition across hundreds of asset names simultaneously. </a:t>
            </a:r>
          </a:p>
          <a:p>
            <a:r>
              <a:rPr lang="en-US" sz="1200" kern="1200" dirty="0">
                <a:solidFill>
                  <a:schemeClr val="tx1"/>
                </a:solidFill>
                <a:effectLst/>
                <a:latin typeface="+mn-lt"/>
                <a:ea typeface="+mn-ea"/>
                <a:cs typeface="+mn-cs"/>
              </a:rPr>
              <a:t>As Jordy Visser notes in the transcript, no human manager has ever had a workforce willing to sacrifice personal interest entirely for output. This intensity of productivity will accelerate corporate output over the next 12 months at a rate that previously took 4 years. </a:t>
            </a:r>
          </a:p>
          <a:p>
            <a:endParaRPr lang="en-US" dirty="0"/>
          </a:p>
        </p:txBody>
      </p:sp>
      <p:sp>
        <p:nvSpPr>
          <p:cNvPr id="4" name="Slide Number Placeholder 3"/>
          <p:cNvSpPr>
            <a:spLocks noGrp="1"/>
          </p:cNvSpPr>
          <p:nvPr>
            <p:ph type="sldNum" sz="quarter" idx="5"/>
          </p:nvPr>
        </p:nvSpPr>
        <p:spPr/>
        <p:txBody>
          <a:bodyPr/>
          <a:lstStyle/>
          <a:p>
            <a:fld id="{E4494503-9613-4D6B-864E-D50D40A5EDD7}" type="slidenum">
              <a:rPr lang="en-US" smtClean="0"/>
              <a:t>6</a:t>
            </a:fld>
            <a:endParaRPr lang="en-US"/>
          </a:p>
        </p:txBody>
      </p:sp>
    </p:spTree>
    <p:extLst>
      <p:ext uri="{BB962C8B-B14F-4D97-AF65-F5344CB8AC3E}">
        <p14:creationId xmlns:p14="http://schemas.microsoft.com/office/powerpoint/2010/main" val="38390533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AI agents are execution engines operating 24/7, what financial infrastructure do they require? Slide 7 demonstrates why </a:t>
                </a:r>
                <a:r>
                  <a:rPr lang="en-US" sz="1200" b="1" kern="1200" dirty="0">
                    <a:solidFill>
                      <a:schemeClr val="tx1"/>
                    </a:solidFill>
                    <a:effectLst/>
                    <a:latin typeface="+mn-lt"/>
                    <a:ea typeface="+mn-ea"/>
                    <a:cs typeface="+mn-cs"/>
                  </a:rPr>
                  <a:t>legacy banking infrastructure is completely incompatible with the agentic economy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Imagine an autonomous agent that needs to make 10,000 API micro-transactions per hour, purchasing data packets at $0.001 each.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The Legacy Wall:</a:t>
                </a:r>
                <a:r>
                  <a:rPr lang="en-US" sz="1200" kern="1200" dirty="0">
                    <a:solidFill>
                      <a:schemeClr val="tx1"/>
                    </a:solidFill>
                    <a:effectLst/>
                    <a:latin typeface="+mn-lt"/>
                    <a:ea typeface="+mn-ea"/>
                    <a:cs typeface="+mn-cs"/>
                  </a:rPr>
                  <a:t> The traditional banking system forces payments through SWIFT or ACH. It faces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𝑇</m:t>
                    </m:r>
                    <m:r>
                      <a:rPr lang="en-US" sz="1200" i="0" kern="1200">
                        <a:solidFill>
                          <a:schemeClr val="tx1"/>
                        </a:solidFill>
                        <a:latin typeface="Cambria Math" panose="02040503050406030204" pitchFamily="18" charset="0"/>
                        <a:ea typeface="+mn-ea"/>
                        <a:cs typeface="+mn-cs"/>
                      </a:rPr>
                      <m:t>+2</m:t>
                    </m:r>
                  </m:oMath>
                </a14:m>
                <a:r>
                  <a:rPr lang="en-US" sz="1200" kern="1200" dirty="0">
                    <a:solidFill>
                      <a:schemeClr val="tx1"/>
                    </a:solidFill>
                    <a:effectLst/>
                    <a:latin typeface="+mn-lt"/>
                    <a:ea typeface="+mn-ea"/>
                    <a:cs typeface="+mn-cs"/>
                  </a:rPr>
                  <a:t>settlement delays, strict banking hours, high wire fees, and manual human KYC procedures. An AI agent cannot open a traditional bank account, fill out a paper form, or wait until Monday morning for a wire to clear.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The Programmable Solution:</a:t>
                </a:r>
                <a:r>
                  <a:rPr lang="en-US" sz="1200" kern="1200" dirty="0">
                    <a:solidFill>
                      <a:schemeClr val="tx1"/>
                    </a:solidFill>
                    <a:effectLst/>
                    <a:latin typeface="+mn-lt"/>
                    <a:ea typeface="+mn-ea"/>
                    <a:cs typeface="+mn-cs"/>
                  </a:rPr>
                  <a:t> Agents require </a:t>
                </a:r>
                <a:r>
                  <a:rPr lang="en-US" sz="1200" b="1" kern="1200" dirty="0">
                    <a:solidFill>
                      <a:schemeClr val="tx1"/>
                    </a:solidFill>
                    <a:effectLst/>
                    <a:latin typeface="+mn-lt"/>
                    <a:ea typeface="+mn-ea"/>
                    <a:cs typeface="+mn-cs"/>
                  </a:rPr>
                  <a:t>24/7 uptime</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instant finality/settlement</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smart contract execution</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native micro-transaction authorization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As both speakers stress in the video, if you believe AI agents are going to run modern business operations, you must logically accept that crypto and blockchain protocols are not speculative toys—they are the </a:t>
                </a:r>
                <a:r>
                  <a:rPr lang="en-US" sz="1200" b="1" kern="1200" dirty="0">
                    <a:solidFill>
                      <a:schemeClr val="tx1"/>
                    </a:solidFill>
                    <a:effectLst/>
                    <a:latin typeface="+mn-lt"/>
                    <a:ea typeface="+mn-ea"/>
                    <a:cs typeface="+mn-cs"/>
                  </a:rPr>
                  <a:t>mandatory, native financial rails</a:t>
                </a:r>
                <a:r>
                  <a:rPr lang="en-US" sz="1200" kern="1200" dirty="0">
                    <a:solidFill>
                      <a:schemeClr val="tx1"/>
                    </a:solidFill>
                    <a:effectLst/>
                    <a:latin typeface="+mn-lt"/>
                    <a:ea typeface="+mn-ea"/>
                    <a:cs typeface="+mn-cs"/>
                  </a:rPr>
                  <a:t> required for machine-to-machine commerce. </a:t>
                </a: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AI agents are execution engines operating 24/7, what financial infrastructure do they require? Slide 7 demonstrates why </a:t>
                </a:r>
                <a:r>
                  <a:rPr lang="en-US" sz="1200" b="1" kern="1200" dirty="0">
                    <a:solidFill>
                      <a:schemeClr val="tx1"/>
                    </a:solidFill>
                    <a:effectLst/>
                    <a:latin typeface="+mn-lt"/>
                    <a:ea typeface="+mn-ea"/>
                    <a:cs typeface="+mn-cs"/>
                  </a:rPr>
                  <a:t>legacy banking infrastructure is completely incompatible with the agentic economy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Imagine an autonomous agent that needs to make 10,000 API micro-transactions per hour, purchasing data packets at $0.001 each.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The Legacy Wall:</a:t>
                </a:r>
                <a:r>
                  <a:rPr lang="en-US" sz="1200" kern="1200" dirty="0">
                    <a:solidFill>
                      <a:schemeClr val="tx1"/>
                    </a:solidFill>
                    <a:effectLst/>
                    <a:latin typeface="+mn-lt"/>
                    <a:ea typeface="+mn-ea"/>
                    <a:cs typeface="+mn-cs"/>
                  </a:rPr>
                  <a:t> The traditional banking system forces payments through SWIFT or ACH. It faces </a:t>
                </a:r>
                <a:r>
                  <a:rPr lang="en-US" sz="1200" i="0" kern="1200">
                    <a:solidFill>
                      <a:schemeClr val="tx1"/>
                    </a:solidFill>
                    <a:latin typeface="+mn-lt"/>
                    <a:ea typeface="+mn-ea"/>
                    <a:cs typeface="+mn-cs"/>
                  </a:rPr>
                  <a:t>𝑇+2</a:t>
                </a:r>
                <a:r>
                  <a:rPr lang="en-US" sz="1200" kern="1200" dirty="0">
                    <a:solidFill>
                      <a:schemeClr val="tx1"/>
                    </a:solidFill>
                    <a:effectLst/>
                    <a:latin typeface="+mn-lt"/>
                    <a:ea typeface="+mn-ea"/>
                    <a:cs typeface="+mn-cs"/>
                  </a:rPr>
                  <a:t>settlement delays, strict banking hours, high wire fees, and manual human KYC procedures. An AI agent cannot open a traditional bank account, fill out a paper form, or wait until Monday morning for a wire to clear.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The Programmable Solution:</a:t>
                </a:r>
                <a:r>
                  <a:rPr lang="en-US" sz="1200" kern="1200" dirty="0">
                    <a:solidFill>
                      <a:schemeClr val="tx1"/>
                    </a:solidFill>
                    <a:effectLst/>
                    <a:latin typeface="+mn-lt"/>
                    <a:ea typeface="+mn-ea"/>
                    <a:cs typeface="+mn-cs"/>
                  </a:rPr>
                  <a:t> Agents require </a:t>
                </a:r>
                <a:r>
                  <a:rPr lang="en-US" sz="1200" b="1" kern="1200" dirty="0">
                    <a:solidFill>
                      <a:schemeClr val="tx1"/>
                    </a:solidFill>
                    <a:effectLst/>
                    <a:latin typeface="+mn-lt"/>
                    <a:ea typeface="+mn-ea"/>
                    <a:cs typeface="+mn-cs"/>
                  </a:rPr>
                  <a:t>24/7 uptime</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instant finality/settlement</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smart contract execution</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native micro-transaction authorization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As both speakers stress in the video, if you believe AI agents are going to run modern business operations, you must logically accept that crypto and blockchain protocols are not speculative toys—they are the </a:t>
                </a:r>
                <a:r>
                  <a:rPr lang="en-US" sz="1200" b="1" kern="1200" dirty="0">
                    <a:solidFill>
                      <a:schemeClr val="tx1"/>
                    </a:solidFill>
                    <a:effectLst/>
                    <a:latin typeface="+mn-lt"/>
                    <a:ea typeface="+mn-ea"/>
                    <a:cs typeface="+mn-cs"/>
                  </a:rPr>
                  <a:t>mandatory, native financial rails</a:t>
                </a:r>
                <a:r>
                  <a:rPr lang="en-US" sz="1200" kern="1200" dirty="0">
                    <a:solidFill>
                      <a:schemeClr val="tx1"/>
                    </a:solidFill>
                    <a:effectLst/>
                    <a:latin typeface="+mn-lt"/>
                    <a:ea typeface="+mn-ea"/>
                    <a:cs typeface="+mn-cs"/>
                  </a:rPr>
                  <a:t> required for machine-to-machine commerce. </a:t>
                </a:r>
              </a:p>
              <a:p>
                <a:endParaRPr lang="en-US" dirty="0"/>
              </a:p>
            </p:txBody>
          </p:sp>
        </mc:Fallback>
      </mc:AlternateContent>
      <p:sp>
        <p:nvSpPr>
          <p:cNvPr id="4" name="Slide Number Placeholder 3"/>
          <p:cNvSpPr>
            <a:spLocks noGrp="1"/>
          </p:cNvSpPr>
          <p:nvPr>
            <p:ph type="sldNum" sz="quarter" idx="5"/>
          </p:nvPr>
        </p:nvSpPr>
        <p:spPr/>
        <p:txBody>
          <a:bodyPr/>
          <a:lstStyle/>
          <a:p>
            <a:fld id="{E4494503-9613-4D6B-864E-D50D40A5EDD7}" type="slidenum">
              <a:rPr lang="en-US" smtClean="0"/>
              <a:t>7</a:t>
            </a:fld>
            <a:endParaRPr lang="en-US"/>
          </a:p>
        </p:txBody>
      </p:sp>
    </p:spTree>
    <p:extLst>
      <p:ext uri="{BB962C8B-B14F-4D97-AF65-F5344CB8AC3E}">
        <p14:creationId xmlns:p14="http://schemas.microsoft.com/office/powerpoint/2010/main" val="66008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support machine-to-machine commerce at scale, the digital asset stack has naturally stratified into three specialized layers, forming the new architecture of digital finance: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Bitcoin (Base Layer - Collateral &amp; Store of Value):</a:t>
            </a:r>
            <a:r>
              <a:rPr lang="en-US" sz="1200" kern="1200" dirty="0">
                <a:solidFill>
                  <a:schemeClr val="tx1"/>
                </a:solidFill>
                <a:effectLst/>
                <a:latin typeface="+mn-lt"/>
                <a:ea typeface="+mn-ea"/>
                <a:cs typeface="+mn-cs"/>
              </a:rPr>
              <a:t> Bitcoin acts as the neutral, mathematically scarce reserve asset and prime balance-sheet collateral for the agentic economy.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Ethereum (Trust &amp; Smart Contracts):</a:t>
            </a:r>
            <a:r>
              <a:rPr lang="en-US" sz="1200" kern="1200" dirty="0">
                <a:solidFill>
                  <a:schemeClr val="tx1"/>
                </a:solidFill>
                <a:effectLst/>
                <a:latin typeface="+mn-lt"/>
                <a:ea typeface="+mn-ea"/>
                <a:cs typeface="+mn-cs"/>
              </a:rPr>
              <a:t> Ethereum functions as the settlement layer for complex logic, smart contract execution, and decentralized trust.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Solana (Speed &amp; Micro-Execution):</a:t>
            </a:r>
            <a:r>
              <a:rPr lang="en-US" sz="1200" kern="1200" dirty="0">
                <a:solidFill>
                  <a:schemeClr val="tx1"/>
                </a:solidFill>
                <a:effectLst/>
                <a:latin typeface="+mn-lt"/>
                <a:ea typeface="+mn-ea"/>
                <a:cs typeface="+mn-cs"/>
              </a:rPr>
              <a:t> Solana provides high-throughput, low-latency execution required for real-time, high-frequency agent micro-transactions. </a:t>
            </a:r>
          </a:p>
          <a:p>
            <a:pPr marL="0" indent="0">
              <a:buFont typeface="Arial" panose="020B0604020202020204" pitchFamily="34" charset="0"/>
              <a:buNone/>
            </a:pPr>
            <a:r>
              <a:rPr lang="en-US" sz="1200" kern="1200" dirty="0">
                <a:solidFill>
                  <a:schemeClr val="tx1"/>
                </a:solidFill>
                <a:effectLst/>
                <a:latin typeface="+mn-lt"/>
                <a:ea typeface="+mn-ea"/>
                <a:cs typeface="+mn-cs"/>
              </a:rPr>
              <a:t>This architecture is not theoretical; institutional adoption is moving rapidly. As highlighted on the slide, sovereign nations like </a:t>
            </a:r>
            <a:r>
              <a:rPr lang="en-US" sz="1200" b="1" kern="1200" dirty="0">
                <a:solidFill>
                  <a:schemeClr val="tx1"/>
                </a:solidFill>
                <a:effectLst/>
                <a:latin typeface="+mn-lt"/>
                <a:ea typeface="+mn-ea"/>
                <a:cs typeface="+mn-cs"/>
              </a:rPr>
              <a:t>South Korea have announced targets for full asset tokenization by February 2027</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As traditional banking systems lag behind, global financial centers and sovereign markets are actively upgrading their legal and technological infrastructure to support tokenized assets. </a:t>
            </a:r>
          </a:p>
          <a:p>
            <a:endParaRPr lang="en-US" dirty="0"/>
          </a:p>
        </p:txBody>
      </p:sp>
      <p:sp>
        <p:nvSpPr>
          <p:cNvPr id="4" name="Slide Number Placeholder 3"/>
          <p:cNvSpPr>
            <a:spLocks noGrp="1"/>
          </p:cNvSpPr>
          <p:nvPr>
            <p:ph type="sldNum" sz="quarter" idx="5"/>
          </p:nvPr>
        </p:nvSpPr>
        <p:spPr/>
        <p:txBody>
          <a:bodyPr/>
          <a:lstStyle/>
          <a:p>
            <a:fld id="{E4494503-9613-4D6B-864E-D50D40A5EDD7}" type="slidenum">
              <a:rPr lang="en-US" smtClean="0"/>
              <a:t>8</a:t>
            </a:fld>
            <a:endParaRPr lang="en-US"/>
          </a:p>
        </p:txBody>
      </p:sp>
    </p:spTree>
    <p:extLst>
      <p:ext uri="{BB962C8B-B14F-4D97-AF65-F5344CB8AC3E}">
        <p14:creationId xmlns:p14="http://schemas.microsoft.com/office/powerpoint/2010/main" val="25002432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9 addresses asset allocators, institutional investors, and registered investment advisors (RIAs). </a:t>
            </a:r>
          </a:p>
          <a:p>
            <a:r>
              <a:rPr lang="en-US" sz="1200" kern="1200" dirty="0">
                <a:solidFill>
                  <a:schemeClr val="tx1"/>
                </a:solidFill>
                <a:effectLst/>
                <a:latin typeface="+mn-lt"/>
                <a:ea typeface="+mn-ea"/>
                <a:cs typeface="+mn-cs"/>
              </a:rPr>
              <a:t>Historically, traditional portfolio managers could treat digital assets as optional or highly speculative, opting for a </a:t>
            </a:r>
            <a:r>
              <a:rPr lang="en-US" sz="1200" b="1" kern="1200" dirty="0">
                <a:solidFill>
                  <a:schemeClr val="tx1"/>
                </a:solidFill>
                <a:effectLst/>
                <a:latin typeface="+mn-lt"/>
                <a:ea typeface="+mn-ea"/>
                <a:cs typeface="+mn-cs"/>
              </a:rPr>
              <a:t>0% portfolio allocation</a:t>
            </a:r>
            <a:r>
              <a:rPr lang="en-US" sz="1200" kern="1200" dirty="0">
                <a:solidFill>
                  <a:schemeClr val="tx1"/>
                </a:solidFill>
                <a:effectLst/>
                <a:latin typeface="+mn-lt"/>
                <a:ea typeface="+mn-ea"/>
                <a:cs typeface="+mn-cs"/>
              </a:rPr>
              <a:t>. In the Agentic Economy, </a:t>
            </a:r>
            <a:r>
              <a:rPr lang="en-US" sz="1200" b="1" kern="1200" dirty="0">
                <a:solidFill>
                  <a:schemeClr val="tx1"/>
                </a:solidFill>
                <a:effectLst/>
                <a:latin typeface="+mn-lt"/>
                <a:ea typeface="+mn-ea"/>
                <a:cs typeface="+mn-cs"/>
              </a:rPr>
              <a:t>holding a 0% allocation in crypto is mathematically equivalent to assigning a 0% probability to the growth of machine-driven commerce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Look at the structural shift depicted on the slide: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Legacy Human Economy:</a:t>
            </a:r>
            <a:r>
              <a:rPr lang="en-US" sz="1200" kern="1200" dirty="0">
                <a:solidFill>
                  <a:schemeClr val="tx1"/>
                </a:solidFill>
                <a:effectLst/>
                <a:latin typeface="+mn-lt"/>
                <a:ea typeface="+mn-ea"/>
                <a:cs typeface="+mn-cs"/>
              </a:rPr>
              <a:t> ~$700 Trillion in assets tied up in slow, analog financial rails.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Digital Agent Economy:</a:t>
            </a:r>
            <a:r>
              <a:rPr lang="en-US" sz="1200" kern="1200" dirty="0">
                <a:solidFill>
                  <a:schemeClr val="tx1"/>
                </a:solidFill>
                <a:effectLst/>
                <a:latin typeface="+mn-lt"/>
                <a:ea typeface="+mn-ea"/>
                <a:cs typeface="+mn-cs"/>
              </a:rPr>
              <a:t> Currently valued around ~$4 Trillion on programmable rails. </a:t>
            </a:r>
          </a:p>
          <a:p>
            <a:r>
              <a:rPr lang="en-US" sz="1200" kern="1200" dirty="0">
                <a:solidFill>
                  <a:schemeClr val="tx1"/>
                </a:solidFill>
                <a:effectLst/>
                <a:latin typeface="+mn-lt"/>
                <a:ea typeface="+mn-ea"/>
                <a:cs typeface="+mn-cs"/>
              </a:rPr>
              <a:t>As millions of AI agents begin managing corporate treasuries, purchasing compute, and executing trades, capital will flow out of friction-heavy analog rails into programmable digital scarcity. Jordy Visser emphasizes that even if an investor believes there is only a 5% to 10% chance that machine-to-machine financial infrastructure becomes the global standard, holding a 0% allocation creates an unmanageable risk of structural underperformance. </a:t>
            </a:r>
          </a:p>
          <a:p>
            <a:endParaRPr lang="en-US" dirty="0"/>
          </a:p>
        </p:txBody>
      </p:sp>
      <p:sp>
        <p:nvSpPr>
          <p:cNvPr id="4" name="Slide Number Placeholder 3"/>
          <p:cNvSpPr>
            <a:spLocks noGrp="1"/>
          </p:cNvSpPr>
          <p:nvPr>
            <p:ph type="sldNum" sz="quarter" idx="5"/>
          </p:nvPr>
        </p:nvSpPr>
        <p:spPr/>
        <p:txBody>
          <a:bodyPr/>
          <a:lstStyle/>
          <a:p>
            <a:fld id="{E4494503-9613-4D6B-864E-D50D40A5EDD7}" type="slidenum">
              <a:rPr lang="en-US" smtClean="0"/>
              <a:t>9</a:t>
            </a:fld>
            <a:endParaRPr lang="en-US"/>
          </a:p>
        </p:txBody>
      </p:sp>
    </p:spTree>
    <p:extLst>
      <p:ext uri="{BB962C8B-B14F-4D97-AF65-F5344CB8AC3E}">
        <p14:creationId xmlns:p14="http://schemas.microsoft.com/office/powerpoint/2010/main" val="41839138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kern="1200" dirty="0">
                <a:solidFill>
                  <a:schemeClr val="tx1"/>
                </a:solidFill>
                <a:effectLst/>
                <a:latin typeface="+mn-lt"/>
                <a:ea typeface="+mn-ea"/>
                <a:cs typeface="+mn-cs"/>
              </a:rPr>
              <a:t>To conclude our presentation, Slide 10 ties together all five core thesis points of this macroeconomic transition: </a:t>
            </a:r>
          </a:p>
          <a:p>
            <a:pPr marL="228600" lvl="0" indent="-228600">
              <a:buFont typeface="+mj-lt"/>
              <a:buAutoNum type="arabicPeriod"/>
            </a:pPr>
            <a:r>
              <a:rPr lang="en-US" sz="1200" b="1" kern="1200" dirty="0">
                <a:solidFill>
                  <a:schemeClr val="tx1"/>
                </a:solidFill>
                <a:effectLst/>
                <a:latin typeface="+mn-lt"/>
                <a:ea typeface="+mn-ea"/>
                <a:cs typeface="+mn-cs"/>
              </a:rPr>
              <a:t>AI Rate Insensitivity:</a:t>
            </a:r>
            <a:r>
              <a:rPr lang="en-US" sz="1200" kern="1200" dirty="0">
                <a:solidFill>
                  <a:schemeClr val="tx1"/>
                </a:solidFill>
                <a:effectLst/>
                <a:latin typeface="+mn-lt"/>
                <a:ea typeface="+mn-ea"/>
                <a:cs typeface="+mn-cs"/>
              </a:rPr>
              <a:t> A +200 bps interest rate hike marginally reduces top-tier model profit margins from 70% to 69%. AI enterprise buildout remains rate-resistant. </a:t>
            </a:r>
          </a:p>
          <a:p>
            <a:pPr marL="228600" lvl="0" indent="-228600">
              <a:buFont typeface="+mj-lt"/>
              <a:buAutoNum type="arabicPeriod"/>
            </a:pPr>
            <a:r>
              <a:rPr lang="en-US" sz="1200" b="1" kern="1200" dirty="0">
                <a:solidFill>
                  <a:schemeClr val="tx1"/>
                </a:solidFill>
                <a:effectLst/>
                <a:latin typeface="+mn-lt"/>
                <a:ea typeface="+mn-ea"/>
                <a:cs typeface="+mn-cs"/>
              </a:rPr>
              <a:t>Accelerating AI Capabilities:</a:t>
            </a:r>
            <a:r>
              <a:rPr lang="en-US" sz="1200" kern="1200" dirty="0">
                <a:solidFill>
                  <a:schemeClr val="tx1"/>
                </a:solidFill>
                <a:effectLst/>
                <a:latin typeface="+mn-lt"/>
                <a:ea typeface="+mn-ea"/>
                <a:cs typeface="+mn-cs"/>
              </a:rPr>
              <a:t> Model improvements over the next 12 months are projected to equal the entire progress made over the last 4 years. We are transitioning rapidly from basic LLMs to fully autonomous agent networks. </a:t>
            </a:r>
          </a:p>
          <a:p>
            <a:pPr marL="228600" lvl="0" indent="-228600">
              <a:buFont typeface="+mj-lt"/>
              <a:buAutoNum type="arabicPeriod"/>
            </a:pPr>
            <a:r>
              <a:rPr lang="en-US" sz="1200" b="1" kern="1200" dirty="0">
                <a:solidFill>
                  <a:schemeClr val="tx1"/>
                </a:solidFill>
                <a:effectLst/>
                <a:latin typeface="+mn-lt"/>
                <a:ea typeface="+mn-ea"/>
                <a:cs typeface="+mn-cs"/>
              </a:rPr>
              <a:t>Bitcoin's Elliott Wave "Third Wave":</a:t>
            </a:r>
            <a:r>
              <a:rPr lang="en-US" sz="1200" kern="1200" dirty="0">
                <a:solidFill>
                  <a:schemeClr val="tx1"/>
                </a:solidFill>
                <a:effectLst/>
                <a:latin typeface="+mn-lt"/>
                <a:ea typeface="+mn-ea"/>
                <a:cs typeface="+mn-cs"/>
              </a:rPr>
              <a:t> From a technical and structural perspective, Bitcoin is entering its most powerful "Third Wave" expansion. This phase is fueled not by retail hype, but by institutional skepticism, massive productivity gains, and the necessity for machine financial guardrails. </a:t>
            </a:r>
          </a:p>
          <a:p>
            <a:pPr marL="228600" lvl="0" indent="-228600">
              <a:buFont typeface="+mj-lt"/>
              <a:buAutoNum type="arabicPeriod"/>
            </a:pPr>
            <a:r>
              <a:rPr lang="en-US" sz="1200" b="1" kern="1200" dirty="0">
                <a:solidFill>
                  <a:schemeClr val="tx1"/>
                </a:solidFill>
                <a:effectLst/>
                <a:latin typeface="+mn-lt"/>
                <a:ea typeface="+mn-ea"/>
                <a:cs typeface="+mn-cs"/>
              </a:rPr>
              <a:t>Old Rails vs. New Intelligence:</a:t>
            </a:r>
            <a:r>
              <a:rPr lang="en-US" sz="1200" kern="1200" dirty="0">
                <a:solidFill>
                  <a:schemeClr val="tx1"/>
                </a:solidFill>
                <a:effectLst/>
                <a:latin typeface="+mn-lt"/>
                <a:ea typeface="+mn-ea"/>
                <a:cs typeface="+mn-cs"/>
              </a:rPr>
              <a:t> Legacy banking networks (SWIFT, ACH) cannot support instant, 24/7 autonomous agent execution. Crypto and smart contract networks provide the missing infrastructure. </a:t>
            </a:r>
          </a:p>
          <a:p>
            <a:pPr marL="228600" lvl="0" indent="-228600">
              <a:buFont typeface="+mj-lt"/>
              <a:buAutoNum type="arabicPeriod"/>
            </a:pPr>
            <a:r>
              <a:rPr lang="en-US" sz="1200" b="1" kern="1200" dirty="0">
                <a:solidFill>
                  <a:schemeClr val="tx1"/>
                </a:solidFill>
                <a:effectLst/>
                <a:latin typeface="+mn-lt"/>
                <a:ea typeface="+mn-ea"/>
                <a:cs typeface="+mn-cs"/>
              </a:rPr>
              <a:t>Return on Scarcity:</a:t>
            </a:r>
            <a:r>
              <a:rPr lang="en-US" sz="1200" kern="1200" dirty="0">
                <a:solidFill>
                  <a:schemeClr val="tx1"/>
                </a:solidFill>
                <a:effectLst/>
                <a:latin typeface="+mn-lt"/>
                <a:ea typeface="+mn-ea"/>
                <a:cs typeface="+mn-cs"/>
              </a:rPr>
              <a:t> Over the last five years, scarce assets—such as Bitcoin, Gold, and Land—have surged by </a:t>
            </a:r>
            <a:r>
              <a:rPr lang="en-US" sz="1200" b="1" kern="1200" dirty="0">
                <a:solidFill>
                  <a:schemeClr val="tx1"/>
                </a:solidFill>
                <a:effectLst/>
                <a:latin typeface="+mn-lt"/>
                <a:ea typeface="+mn-ea"/>
                <a:cs typeface="+mn-cs"/>
              </a:rPr>
              <a:t>170%</a:t>
            </a:r>
            <a:r>
              <a:rPr lang="en-US" sz="1200" kern="1200" dirty="0">
                <a:solidFill>
                  <a:schemeClr val="tx1"/>
                </a:solidFill>
                <a:effectLst/>
                <a:latin typeface="+mn-lt"/>
                <a:ea typeface="+mn-ea"/>
                <a:cs typeface="+mn-cs"/>
              </a:rPr>
              <a:t>, outperforming the S&amp;P 500's </a:t>
            </a:r>
            <a:r>
              <a:rPr lang="en-US" sz="1200" b="1" kern="1200" dirty="0">
                <a:solidFill>
                  <a:schemeClr val="tx1"/>
                </a:solidFill>
                <a:effectLst/>
                <a:latin typeface="+mn-lt"/>
                <a:ea typeface="+mn-ea"/>
                <a:cs typeface="+mn-cs"/>
              </a:rPr>
              <a:t>70% return</a:t>
            </a:r>
            <a:r>
              <a:rPr lang="en-US" sz="1200" kern="1200" dirty="0">
                <a:solidFill>
                  <a:schemeClr val="tx1"/>
                </a:solidFill>
                <a:effectLst/>
                <a:latin typeface="+mn-lt"/>
                <a:ea typeface="+mn-ea"/>
                <a:cs typeface="+mn-cs"/>
              </a:rPr>
              <a:t>. In an environment defined by continuous fiat currency creation alongside AI-driven technological deflation, scarce, programmable assets represent the highest-conviction store of value. </a:t>
            </a:r>
          </a:p>
          <a:p>
            <a:endParaRPr lang="en-US" dirty="0"/>
          </a:p>
        </p:txBody>
      </p:sp>
      <p:sp>
        <p:nvSpPr>
          <p:cNvPr id="4" name="Slide Number Placeholder 3"/>
          <p:cNvSpPr>
            <a:spLocks noGrp="1"/>
          </p:cNvSpPr>
          <p:nvPr>
            <p:ph type="sldNum" sz="quarter" idx="5"/>
          </p:nvPr>
        </p:nvSpPr>
        <p:spPr/>
        <p:txBody>
          <a:bodyPr/>
          <a:lstStyle/>
          <a:p>
            <a:fld id="{E4494503-9613-4D6B-864E-D50D40A5EDD7}" type="slidenum">
              <a:rPr lang="en-US" smtClean="0"/>
              <a:t>10</a:t>
            </a:fld>
            <a:endParaRPr lang="en-US"/>
          </a:p>
        </p:txBody>
      </p:sp>
    </p:spTree>
    <p:extLst>
      <p:ext uri="{BB962C8B-B14F-4D97-AF65-F5344CB8AC3E}">
        <p14:creationId xmlns:p14="http://schemas.microsoft.com/office/powerpoint/2010/main" val="2961610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25FE19-7131-3566-5C28-9DEB093E5844}"/>
              </a:ext>
            </a:extLst>
          </p:cNvPr>
          <p:cNvSpPr>
            <a:spLocks noGrp="1"/>
          </p:cNvSpPr>
          <p:nvPr>
            <p:ph type="dt" sz="half" idx="10"/>
          </p:nvPr>
        </p:nvSpPr>
        <p:spPr/>
        <p:txBody>
          <a:bodyPr/>
          <a:lstStyle/>
          <a:p>
            <a:fld id="{D85B1B1D-852A-4879-A6FA-A0F474B2FCFF}" type="datetimeFigureOut">
              <a:rPr lang="en-US" smtClean="0"/>
              <a:t>10/21/2026</a:t>
            </a:fld>
            <a:endParaRPr lang="en-US"/>
          </a:p>
        </p:txBody>
      </p:sp>
      <p:sp>
        <p:nvSpPr>
          <p:cNvPr id="3" name="Footer Placeholder 2">
            <a:extLst>
              <a:ext uri="{FF2B5EF4-FFF2-40B4-BE49-F238E27FC236}">
                <a16:creationId xmlns:a16="http://schemas.microsoft.com/office/drawing/2014/main" id="{57F1F0BF-31CE-41A8-7C7A-E3A1342D5B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80EAC8-3EFA-7F82-9C6D-4FAC7BCC671C}"/>
              </a:ext>
            </a:extLst>
          </p:cNvPr>
          <p:cNvSpPr>
            <a:spLocks noGrp="1"/>
          </p:cNvSpPr>
          <p:nvPr>
            <p:ph type="sldNum" sz="quarter" idx="12"/>
          </p:nvPr>
        </p:nvSpPr>
        <p:spPr/>
        <p:txBody>
          <a:bodyPr/>
          <a:lstStyle/>
          <a:p>
            <a:fld id="{BA223220-A73B-4366-9463-FAC10C7B61BB}" type="slidenum">
              <a:rPr lang="en-US" smtClean="0"/>
              <a:t>‹#›</a:t>
            </a:fld>
            <a:endParaRPr lang="en-US"/>
          </a:p>
        </p:txBody>
      </p:sp>
    </p:spTree>
    <p:extLst>
      <p:ext uri="{BB962C8B-B14F-4D97-AF65-F5344CB8AC3E}">
        <p14:creationId xmlns:p14="http://schemas.microsoft.com/office/powerpoint/2010/main" val="381928856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06F75A-B21A-626B-F988-064C31D5B6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177977-23B8-6DC7-83D3-DBF84F1242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8392D6-F0EC-99E0-CAAB-8F50FEB2D2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85B1B1D-852A-4879-A6FA-A0F474B2FCFF}" type="datetimeFigureOut">
              <a:rPr lang="en-US" smtClean="0"/>
              <a:t>10/21/2026</a:t>
            </a:fld>
            <a:endParaRPr lang="en-US"/>
          </a:p>
        </p:txBody>
      </p:sp>
      <p:sp>
        <p:nvSpPr>
          <p:cNvPr id="5" name="Footer Placeholder 4">
            <a:extLst>
              <a:ext uri="{FF2B5EF4-FFF2-40B4-BE49-F238E27FC236}">
                <a16:creationId xmlns:a16="http://schemas.microsoft.com/office/drawing/2014/main" id="{9F0F7517-42A6-4CB1-80E2-CE3851F545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B966C9B-8D30-9D66-21CD-2151D205EE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223220-A73B-4366-9463-FAC10C7B61BB}" type="slidenum">
              <a:rPr lang="en-US" smtClean="0"/>
              <a:t>‹#›</a:t>
            </a:fld>
            <a:endParaRPr lang="en-US"/>
          </a:p>
        </p:txBody>
      </p:sp>
    </p:spTree>
    <p:extLst>
      <p:ext uri="{BB962C8B-B14F-4D97-AF65-F5344CB8AC3E}">
        <p14:creationId xmlns:p14="http://schemas.microsoft.com/office/powerpoint/2010/main" val="315780642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5255A5E-041C-F82A-0604-BE451244B7E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9C3AAB6-D589-71A1-DB87-EEF295A3336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538BC9-F02B-EFC9-6D52-ED8FAFD62D3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747B95-349E-884A-0107-DA493F5FC68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974C51-3112-8846-D2A6-3C69DEE2D09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642355-03CB-A8FF-D875-C02EA8B9262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8AE0D8-194E-50AD-9273-6C41C317A7C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078B52-81A4-2BAF-2143-BBF415945E7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47B46E-FCFF-1F6D-DBDF-96EEEF8A16A5}"/>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84A1202-6862-A980-4643-3211B04C981A}"/>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101338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2166</Words>
  <Application>Microsoft Office PowerPoint</Application>
  <PresentationFormat>寬螢幕</PresentationFormat>
  <Paragraphs>78</Paragraphs>
  <Slides>10</Slides>
  <Notes>10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10</vt:i4>
      </vt:variant>
    </vt:vector>
  </HeadingPairs>
  <TitlesOfParts>
    <vt:vector size="15"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2026-09-06T09:12:20Z</dcterms:created>
  <dcterms:modified xsi:type="dcterms:W3CDTF">2026-10-21T02:41:27Z</dcterms:modified>
</cp:coreProperties>
</file>