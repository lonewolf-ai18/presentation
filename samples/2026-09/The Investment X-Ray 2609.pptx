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CE1295-4948-465F-9C15-3F732ACA48EE}" v="19" dt="2026-09-13T06:24:04.2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81624" autoAdjust="0"/>
  </p:normalViewPr>
  <p:slideViewPr>
    <p:cSldViewPr snapToGrid="0">
      <p:cViewPr varScale="1">
        <p:scale>
          <a:sx n="75" d="100"/>
          <a:sy n="75" d="100"/>
        </p:scale>
        <p:origin x="72" y="4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i, Wilson" userId="2840974a-0d84-4886-90a9-9a3ed79f3a48" providerId="ADAL" clId="{9F23B798-9E84-4552-BA63-E776E805C424}"/>
    <pc:docChg chg="modSld modMainMaster">
      <pc:chgData name="Lai, Wilson" userId="2840974a-0d84-4886-90a9-9a3ed79f3a48" providerId="ADAL" clId="{9F23B798-9E84-4552-BA63-E776E805C424}" dt="2026-09-13T06:24:05.866" v="82" actId="166"/>
      <pc:docMkLst>
        <pc:docMk/>
      </pc:docMkLst>
      <pc:sldChg chg="addSp modSp mod modAnim modNotesTx">
        <pc:chgData name="Lai, Wilson" userId="2840974a-0d84-4886-90a9-9a3ed79f3a48" providerId="ADAL" clId="{9F23B798-9E84-4552-BA63-E776E805C424}" dt="2026-09-13T06:24:05.866" v="82" actId="166"/>
        <pc:sldMkLst>
          <pc:docMk/>
          <pc:sldMk cId="0" sldId="257"/>
        </pc:sldMkLst>
        <pc:spChg chg="add mod">
          <ac:chgData name="Lai, Wilson" userId="2840974a-0d84-4886-90a9-9a3ed79f3a48" providerId="ADAL" clId="{9F23B798-9E84-4552-BA63-E776E805C424}" dt="2026-09-13T06:24:04.229" v="81" actId="164"/>
          <ac:spMkLst>
            <pc:docMk/>
            <pc:sldMk cId="0" sldId="257"/>
            <ac:spMk id="5" creationId="{C4A508F9-31B2-7BDC-D9FB-A82FA0E50DE9}"/>
          </ac:spMkLst>
        </pc:spChg>
        <pc:grpChg chg="add mod">
          <ac:chgData name="Lai, Wilson" userId="2840974a-0d84-4886-90a9-9a3ed79f3a48" providerId="ADAL" clId="{9F23B798-9E84-4552-BA63-E776E805C424}" dt="2026-09-13T06:24:04.229" v="81" actId="164"/>
          <ac:grpSpMkLst>
            <pc:docMk/>
            <pc:sldMk cId="0" sldId="257"/>
            <ac:grpSpMk id="6" creationId="{A7A16075-0F6A-DD58-550E-C85F4A58F864}"/>
          </ac:grpSpMkLst>
        </pc:grpChg>
        <pc:picChg chg="ord">
          <ac:chgData name="Lai, Wilson" userId="2840974a-0d84-4886-90a9-9a3ed79f3a48" providerId="ADAL" clId="{9F23B798-9E84-4552-BA63-E776E805C424}" dt="2026-09-13T06:24:05.866" v="82" actId="166"/>
          <ac:picMkLst>
            <pc:docMk/>
            <pc:sldMk cId="0" sldId="257"/>
            <ac:picMk id="2" creationId="{00000000-0000-0000-0000-000000000000}"/>
          </ac:picMkLst>
        </pc:picChg>
        <pc:picChg chg="add mod">
          <ac:chgData name="Lai, Wilson" userId="2840974a-0d84-4886-90a9-9a3ed79f3a48" providerId="ADAL" clId="{9F23B798-9E84-4552-BA63-E776E805C424}" dt="2026-09-13T06:24:04.229" v="81" actId="164"/>
          <ac:picMkLst>
            <pc:docMk/>
            <pc:sldMk cId="0" sldId="257"/>
            <ac:picMk id="3" creationId="{E113032A-1B1F-4076-1EF4-841E525074E3}"/>
          </ac:picMkLst>
        </pc:picChg>
      </pc:sldChg>
      <pc:sldChg chg="modNotesTx">
        <pc:chgData name="Lai, Wilson" userId="2840974a-0d84-4886-90a9-9a3ed79f3a48" providerId="ADAL" clId="{9F23B798-9E84-4552-BA63-E776E805C424}" dt="2026-09-13T06:23:11.812" v="72" actId="14"/>
        <pc:sldMkLst>
          <pc:docMk/>
          <pc:sldMk cId="0" sldId="258"/>
        </pc:sldMkLst>
      </pc:sldChg>
      <pc:sldChg chg="modNotesTx">
        <pc:chgData name="Lai, Wilson" userId="2840974a-0d84-4886-90a9-9a3ed79f3a48" providerId="ADAL" clId="{9F23B798-9E84-4552-BA63-E776E805C424}" dt="2026-09-13T06:22:50.540" v="64" actId="12"/>
        <pc:sldMkLst>
          <pc:docMk/>
          <pc:sldMk cId="0" sldId="259"/>
        </pc:sldMkLst>
      </pc:sldChg>
      <pc:sldChg chg="modNotesTx">
        <pc:chgData name="Lai, Wilson" userId="2840974a-0d84-4886-90a9-9a3ed79f3a48" providerId="ADAL" clId="{9F23B798-9E84-4552-BA63-E776E805C424}" dt="2026-09-13T06:22:42.396" v="60" actId="12"/>
        <pc:sldMkLst>
          <pc:docMk/>
          <pc:sldMk cId="0" sldId="260"/>
        </pc:sldMkLst>
      </pc:sldChg>
      <pc:sldChg chg="modNotesTx">
        <pc:chgData name="Lai, Wilson" userId="2840974a-0d84-4886-90a9-9a3ed79f3a48" providerId="ADAL" clId="{9F23B798-9E84-4552-BA63-E776E805C424}" dt="2026-09-13T06:22:29.083" v="54" actId="14"/>
        <pc:sldMkLst>
          <pc:docMk/>
          <pc:sldMk cId="0" sldId="261"/>
        </pc:sldMkLst>
      </pc:sldChg>
      <pc:sldChg chg="modNotesTx">
        <pc:chgData name="Lai, Wilson" userId="2840974a-0d84-4886-90a9-9a3ed79f3a48" providerId="ADAL" clId="{9F23B798-9E84-4552-BA63-E776E805C424}" dt="2026-09-13T06:22:06.712" v="44" actId="14"/>
        <pc:sldMkLst>
          <pc:docMk/>
          <pc:sldMk cId="0" sldId="262"/>
        </pc:sldMkLst>
      </pc:sldChg>
      <pc:sldChg chg="modNotesTx">
        <pc:chgData name="Lai, Wilson" userId="2840974a-0d84-4886-90a9-9a3ed79f3a48" providerId="ADAL" clId="{9F23B798-9E84-4552-BA63-E776E805C424}" dt="2026-09-13T06:19:40.542" v="13" actId="12"/>
        <pc:sldMkLst>
          <pc:docMk/>
          <pc:sldMk cId="0" sldId="263"/>
        </pc:sldMkLst>
      </pc:sldChg>
      <pc:sldChg chg="modNotesTx">
        <pc:chgData name="Lai, Wilson" userId="2840974a-0d84-4886-90a9-9a3ed79f3a48" providerId="ADAL" clId="{9F23B798-9E84-4552-BA63-E776E805C424}" dt="2026-09-13T06:19:52.470" v="15" actId="14"/>
        <pc:sldMkLst>
          <pc:docMk/>
          <pc:sldMk cId="0" sldId="264"/>
        </pc:sldMkLst>
      </pc:sldChg>
      <pc:sldChg chg="modNotesTx">
        <pc:chgData name="Lai, Wilson" userId="2840974a-0d84-4886-90a9-9a3ed79f3a48" providerId="ADAL" clId="{9F23B798-9E84-4552-BA63-E776E805C424}" dt="2026-09-13T06:20:05.317" v="16" actId="12"/>
        <pc:sldMkLst>
          <pc:docMk/>
          <pc:sldMk cId="0" sldId="265"/>
        </pc:sldMkLst>
      </pc:sldChg>
      <pc:sldChg chg="modNotesTx">
        <pc:chgData name="Lai, Wilson" userId="2840974a-0d84-4886-90a9-9a3ed79f3a48" providerId="ADAL" clId="{9F23B798-9E84-4552-BA63-E776E805C424}" dt="2026-09-13T06:20:26.936" v="23" actId="12"/>
        <pc:sldMkLst>
          <pc:docMk/>
          <pc:sldMk cId="0" sldId="266"/>
        </pc:sldMkLst>
      </pc:sldChg>
      <pc:sldChg chg="modNotesTx">
        <pc:chgData name="Lai, Wilson" userId="2840974a-0d84-4886-90a9-9a3ed79f3a48" providerId="ADAL" clId="{9F23B798-9E84-4552-BA63-E776E805C424}" dt="2026-09-13T06:21:50.907" v="40" actId="12"/>
        <pc:sldMkLst>
          <pc:docMk/>
          <pc:sldMk cId="0" sldId="267"/>
        </pc:sldMkLst>
      </pc:sldChg>
      <pc:sldChg chg="modNotesTx">
        <pc:chgData name="Lai, Wilson" userId="2840974a-0d84-4886-90a9-9a3ed79f3a48" providerId="ADAL" clId="{9F23B798-9E84-4552-BA63-E776E805C424}" dt="2026-09-13T06:21:41.282" v="36" actId="14"/>
        <pc:sldMkLst>
          <pc:docMk/>
          <pc:sldMk cId="0" sldId="268"/>
        </pc:sldMkLst>
      </pc:sldChg>
      <pc:sldChg chg="modNotesTx">
        <pc:chgData name="Lai, Wilson" userId="2840974a-0d84-4886-90a9-9a3ed79f3a48" providerId="ADAL" clId="{9F23B798-9E84-4552-BA63-E776E805C424}" dt="2026-09-13T06:21:36.731" v="34" actId="12"/>
        <pc:sldMkLst>
          <pc:docMk/>
          <pc:sldMk cId="0" sldId="269"/>
        </pc:sldMkLst>
      </pc:sldChg>
      <pc:sldChg chg="modNotesTx">
        <pc:chgData name="Lai, Wilson" userId="2840974a-0d84-4886-90a9-9a3ed79f3a48" providerId="ADAL" clId="{9F23B798-9E84-4552-BA63-E776E805C424}" dt="2026-09-13T06:21:08.365" v="25" actId="12"/>
        <pc:sldMkLst>
          <pc:docMk/>
          <pc:sldMk cId="0" sldId="270"/>
        </pc:sldMkLst>
      </pc:sldChg>
      <pc:sldChg chg="modNotesTx">
        <pc:chgData name="Lai, Wilson" userId="2840974a-0d84-4886-90a9-9a3ed79f3a48" providerId="ADAL" clId="{9F23B798-9E84-4552-BA63-E776E805C424}" dt="2026-09-13T06:21:21.111" v="26" actId="12"/>
        <pc:sldMkLst>
          <pc:docMk/>
          <pc:sldMk cId="626267243" sldId="271"/>
        </pc:sldMkLst>
      </pc:sldChg>
      <pc:sldMasterChg chg="setBg">
        <pc:chgData name="Lai, Wilson" userId="2840974a-0d84-4886-90a9-9a3ed79f3a48" providerId="ADAL" clId="{9F23B798-9E84-4552-BA63-E776E805C424}" dt="2026-09-12T23:13:55.996" v="0"/>
        <pc:sldMasterMkLst>
          <pc:docMk/>
          <pc:sldMasterMk cId="3274554281" sldId="2147483648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3CB25A-BE21-4D41-BFED-FF213F3B214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CA5CE3-0A97-4D1B-A504-7AC290926D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677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b="1" dirty="0"/>
              <a:t>Opening / Hook:</a:t>
            </a: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Welcome everyone. Today, we’re unpacking a system that I learned during my time on Wall Street at Goldman Sachs and Credit Suisse—a framework that I believe has made more millionaires than a Harvard MBA.</a:t>
            </a:r>
          </a:p>
          <a:p>
            <a:pPr lvl="0"/>
            <a:r>
              <a:rPr lang="en-US" b="1" dirty="0"/>
              <a:t>The Problem:</a:t>
            </a: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Most people were never taught how to make investment decisions. They make choices based on social media trends, headlines, or FOMO.</a:t>
            </a:r>
          </a:p>
          <a:p>
            <a:pPr lvl="0"/>
            <a:r>
              <a:rPr lang="en-US" b="1" dirty="0"/>
              <a:t>Personal Background &amp; Context:</a:t>
            </a: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Briefly introduce Sharran </a:t>
            </a:r>
            <a:r>
              <a:rPr lang="en-US" dirty="0" err="1"/>
              <a:t>Srivatsaa</a:t>
            </a:r>
            <a:r>
              <a:rPr lang="en-US" dirty="0"/>
              <a:t>: Built two billion-dollar companies, currently CEO at Acquisition.com alongside Alex and Leila Hormozi.</a:t>
            </a:r>
          </a:p>
          <a:p>
            <a:pPr lvl="0"/>
            <a:r>
              <a:rPr lang="en-US" dirty="0"/>
              <a:t>Share the backstory: A billionaire client at Goldman Sachs introduced this foundational four-part formula for evaluating any asset.</a:t>
            </a:r>
          </a:p>
          <a:p>
            <a:pPr lvl="0"/>
            <a:r>
              <a:rPr lang="en-US" b="1" dirty="0"/>
              <a:t>Objective of Today’s Session:</a:t>
            </a: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By the end of this presentation, you will have an institutional-grade rubric to interrogate any pitch, structure your cash flow, and build true financial independence.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https://www.youtube.com/watch?v=jGt4vbdZ1yo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CA5CE3-0A97-4D1B-A504-7AC290926D1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2198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Reality Check: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43% of Americans get their financial advice from social media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80% to 90% of that advice is flat-out wrong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Most influencers are not qualified advisers; they peddle hype, not frameworks.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Baseball Analogy &amp; Warren Buffett’s 10-Punch Card: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Imagine you graduate and are given a physical punch card with only 10 slots. Every investment you make in your lifetime consumes one punch.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baseball, you don't get called out for watching pitches go by. You can wait on the sidelines until you get the absolute perfect pitch right down the middle.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Takeaway: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Stop swinging at random tips, influencer posts, and peer pressure. Protect your capital by being ruthlessly selective.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CA5CE3-0A97-4D1B-A504-7AC290926D1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5803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Breaking Down the Spectrum: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Rich (High Income):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Making $400k a year, but spending $400k a year. High cash flow, zero leverage over time. You are still trapped trading time for money.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Wealthy (High Net Worth):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Assets vastly exceed liabilities on paper. Looks great on a balance sheet, but if those assets don't produce cash, you remain illiquid.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Independent (High Coverage):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True financial freedom. Your passive income streams exceed your monthly operating expenses.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Mindset Shift: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Society tells us to chase a massive net worth number (e.g., $55 million). But net worth is ego; coverage is freedom.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CA5CE3-0A97-4D1B-A504-7AC290926D1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4126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Crossover Equation: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Passive Income &gt; Monthly Expenses = Freedom.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Explaining "Mailbox Money":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Freedom occurs when your assets generate enough recurring cash flow ("mailbox money") to pay for your baseline lifestyle without you having to punch a clock.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Practical Example: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your monthly expenses are $9,000 and your passive assets generate $10,000/month, you are free. You can wake up every morning and ask, "What do I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do today?" rather than "What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do to survive?"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CA5CE3-0A97-4D1B-A504-7AC290926D1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235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Rung 1: Active Income &gt; Expenses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cannot build wealth without a baseline surplus. Step one is earning more than you spend.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Rung 2: Manage the Surplus ("The Money Factory")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Automate your cash routing so discipline isn't reliant on willpower. </a:t>
            </a:r>
          </a:p>
          <a:p>
            <a:pPr marL="0" lvl="0" indent="0">
              <a:buFont typeface="Arial" panose="020B0604020202020204" pitchFamily="34" charset="0"/>
              <a:buNone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Rung 3: Asset Location &amp; Allocation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Deploy capital efficiently while minimizing tax drag (e.g., entity structure, location advantages).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Rung 4: Generate Passive Income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Stack yielding assets until passive cash flow crosses over your monthly expenses.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CA5CE3-0A97-4D1B-A504-7AC290926D1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1904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Concept of the Quarterback Account: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incoming revenue enters a central checking account (The QB Account) whose sole job is to route funds systematically.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Three Output Channels: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Lifestyle Account: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Operating income to pay credit cards and personal overhead. Capped to prevent lifestyle creep.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Tax Account: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Withheld immediately to avoid tax-season surprises.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Surplus Account: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fuel that buys your freedom. Deployed into income-generating and growth assets.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CA5CE3-0A97-4D1B-A504-7AC290926D1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800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Introducing the 100-Point Rubric (4 Pillars x 25 Points):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Capital Preservation (0–25 pts):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What is the probability of this asset going to absolute zero? (Cash under a mattress = 100% preservation, zero return).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Tax Efficiency (0–25 pts):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Taxes are the #1 drag on wealth creation. Does this asset provide depreciation, cost segregation, or QSBS exemptions?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Yield / Cash Flow (0–25 pts):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Does this asset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pay you to own it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while you wait?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Growth (0–25 pts):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What is the upside multiplier on underlying principal?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CA5CE3-0A97-4D1B-A504-7AC290926D1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454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Comparing Asset Classes live through the rubric: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Bitcoin (40/100):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Low preservation (10), zero tax efficiency (0), minimal yield (5), high growth potential (25). (Note: Buy a small piece if you have FOMO, but recognize its risk profile).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Apple Stock (55/100):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Strong preservation (20), low tax efficiency (0), modest yield/dividend (10), high growth (25).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Startup Pitch (30/100):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High risk of total loss (0 preservation), speculative tax/growth, zero yield.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 Estate (70/100):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Balanced performance—strong preservation (20), excellent tax advantages (20), steady yield (15), solid growth (15).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 Principle: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Real Estate wins not because of explosive upside, but through all-around stability and tax efficiency.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CA5CE3-0A97-4D1B-A504-7AC290926D1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1473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 the X-Ray to Ask Better Questions: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Preservation Questions: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there capital lockups? How liquid is my cash if I need to exit?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Tax Questions: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there immediate tax benefits (e.g., depreciation) or are we relying solely on future capital gains?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Yield Questions: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Will I receive cash distributions during the hold period, or is this 100% an equity play?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Growth Questions: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What benchmarks are being targeted, and have peers in this sector achieved these multiples?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CA5CE3-0A97-4D1B-A504-7AC290926D1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7879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Lazy Employee Analogy: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Holding idle cash in a 0% checking account is like walking into your office and seeing 10 employees throwing paper airplanes.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Rule: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 single dollar needs a job. Inflation constantly erodes purchasing power.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Actionable Step: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Move excess operating cash out of primary checking into a structured Cash Management Portfolio so you get paid to wait for the next great investment.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CA5CE3-0A97-4D1B-A504-7AC290926D1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1505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Portfolio Structure Breakdown: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SGOV (Short-Term Treasuries):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High stability, state-tax benefits.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 (Treasuries):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Baseline risk-free yield.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TIP (Treasury Inflation-Protected Securities):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Directly defends against inflation drag.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SCHD (High-Quality Dividends):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3–4% yield, adding equity exposure.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Simplified Strategy: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zero beta risk, simplify to a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50/50 split of SGOV and TIP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CA5CE3-0A97-4D1B-A504-7AC290926D1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1150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vs. Private Markets: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Markets: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High transparency, strong investor protections, lower outsized alpha potential.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Private Equity / Real Estate: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Low public transparency, high potential alpha. Requires deep operator trust and rigorous diligence.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Angel Investing: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90%+ risk of total capital loss. Requires 30+ bets over years just to match baseline S&amp;P 500 performance.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Guidance: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Secure your passive income crossover before making speculative private bets. 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 13: Pu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CA5CE3-0A97-4D1B-A504-7AC290926D1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6744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Rejecting Deferred Life: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Society conditions us to work 40+ years and defer enjoyment until age 80.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Crossover Philosophy: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Monthly expenses are predictable. By generating passive income today, you shrink the timeline to financial freedom immediately. </a:t>
            </a:r>
          </a:p>
          <a:p>
            <a:pPr marL="0" lvl="0" indent="0">
              <a:buFont typeface="Arial" panose="020B0604020202020204" pitchFamily="34" charset="0"/>
              <a:buNone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Outcome: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Pulling the future forward allows you to spend your prime years doing what you love rather than trading time for a paycheck.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CA5CE3-0A97-4D1B-A504-7AC290926D1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98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Summary Checklist: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Define Freedom: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Focus on passive income crossover.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 the QB Account: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Automate your surplus.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 the X-Ray: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Interrogate pitches using Preservation, Tax, Yield, and Growth.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Eradicate Lazy Cash: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Put idle funds to work in a cash management portfolio.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CA5CE3-0A97-4D1B-A504-7AC290926D1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8868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Concluding Takeaway: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Summarize the core 100-point rubric and the ladder to financial freedom.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Remind the audience: Wealth isn't built by taking reckless swings at every hot tip—it's built by disciplined underwriting and systematic execution.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CA5CE3-0A97-4D1B-A504-7AC290926D1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02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C6B862-04A5-D8DE-23E8-345A3E133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23AF8-2A4E-443A-A71F-96F0A8C766BF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81B0B1-F16E-B7F9-94D8-E65CA53DA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813B77-9DC1-8F6A-E6BA-03D1D9CF8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EE0F6-9606-4370-91ED-6B7908BA6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705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6A2B7C-C7CD-816F-FB92-64D2ADA47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CF4BA0-E873-37CC-448F-8F61536B52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1C70F-137D-39F7-258B-99BF68F212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123AF8-2A4E-443A-A71F-96F0A8C766BF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69B97D-BA88-0B2B-A1D8-14264BD4AC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ECE8D0-AA93-091C-68E1-69F0772CE6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6EE0F6-9606-4370-91ED-6B7908BA6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554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8E48B7-402D-02BF-96FF-F01D49ACFA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267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1441</Words>
  <Application>Microsoft Office PowerPoint</Application>
  <PresentationFormat>寬螢幕</PresentationFormat>
  <Paragraphs>111</Paragraphs>
  <Slides>15</Slides>
  <Notes>15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Lai, Wilson</dc:creator>
  <cp:lastModifiedBy>Wilson Lai</cp:lastModifiedBy>
  <cp:revision>2</cp:revision>
  <dcterms:created xsi:type="dcterms:W3CDTF">2026-09-12T23:13:02Z</dcterms:created>
  <dcterms:modified xsi:type="dcterms:W3CDTF">2026-10-21T02:47:50Z</dcterms:modified>
</cp:coreProperties>
</file>