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52F623-422A-4819-B424-D1E5FBF9267E}" v="18" dt="2026-09-11T14:31:01.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11T14:31:35.861" v="75" actId="166"/>
      <pc:docMkLst>
        <pc:docMk/>
      </pc:docMkLst>
      <pc:sldChg chg="addSp delSp modSp mod modAnim modNotes modNotesTx">
        <pc:chgData name="Lai, Wilson" userId="2840974a-0d84-4886-90a9-9a3ed79f3a48" providerId="ADAL" clId="{9F23B798-9E84-4552-BA63-E776E805C424}" dt="2026-09-11T14:31:35.861" v="75" actId="166"/>
        <pc:sldMkLst>
          <pc:docMk/>
          <pc:sldMk cId="0" sldId="257"/>
        </pc:sldMkLst>
        <pc:spChg chg="add mod">
          <ac:chgData name="Lai, Wilson" userId="2840974a-0d84-4886-90a9-9a3ed79f3a48" providerId="ADAL" clId="{9F23B798-9E84-4552-BA63-E776E805C424}" dt="2026-09-09T02:42:55.383" v="11" actId="164"/>
          <ac:spMkLst>
            <pc:docMk/>
            <pc:sldMk cId="0" sldId="257"/>
            <ac:spMk id="5" creationId="{306D0370-720B-4F03-A3AC-6F72E7549871}"/>
          </ac:spMkLst>
        </pc:spChg>
        <pc:grpChg chg="add mod">
          <ac:chgData name="Lai, Wilson" userId="2840974a-0d84-4886-90a9-9a3ed79f3a48" providerId="ADAL" clId="{9F23B798-9E84-4552-BA63-E776E805C424}" dt="2026-09-09T02:42:55.383" v="11" actId="164"/>
          <ac:grpSpMkLst>
            <pc:docMk/>
            <pc:sldMk cId="0" sldId="257"/>
            <ac:grpSpMk id="6" creationId="{530AA4AE-EF6E-FE8C-61A9-04B54B8A4BAC}"/>
          </ac:grpSpMkLst>
        </pc:grpChg>
        <pc:picChg chg="del">
          <ac:chgData name="Lai, Wilson" userId="2840974a-0d84-4886-90a9-9a3ed79f3a48" providerId="ADAL" clId="{9F23B798-9E84-4552-BA63-E776E805C424}" dt="2026-09-11T07:52:14.031" v="12" actId="21"/>
          <ac:picMkLst>
            <pc:docMk/>
            <pc:sldMk cId="0" sldId="257"/>
            <ac:picMk id="2" creationId="{00000000-0000-0000-0000-000000000000}"/>
          </ac:picMkLst>
        </pc:picChg>
        <pc:picChg chg="add mod">
          <ac:chgData name="Lai, Wilson" userId="2840974a-0d84-4886-90a9-9a3ed79f3a48" providerId="ADAL" clId="{9F23B798-9E84-4552-BA63-E776E805C424}" dt="2026-09-09T02:42:55.383" v="11" actId="164"/>
          <ac:picMkLst>
            <pc:docMk/>
            <pc:sldMk cId="0" sldId="257"/>
            <ac:picMk id="3" creationId="{D024F337-CD6A-F408-456D-D2D83685BC5E}"/>
          </ac:picMkLst>
        </pc:picChg>
        <pc:picChg chg="add ord">
          <ac:chgData name="Lai, Wilson" userId="2840974a-0d84-4886-90a9-9a3ed79f3a48" providerId="ADAL" clId="{9F23B798-9E84-4552-BA63-E776E805C424}" dt="2026-09-11T14:31:35.861" v="75" actId="166"/>
          <ac:picMkLst>
            <pc:docMk/>
            <pc:sldMk cId="0" sldId="257"/>
            <ac:picMk id="7" creationId="{FDC9F3E3-60D0-6735-136C-566B47B8D7D1}"/>
          </ac:picMkLst>
        </pc:picChg>
      </pc:sldChg>
      <pc:sldChg chg="addSp delSp mod modNotes">
        <pc:chgData name="Lai, Wilson" userId="2840974a-0d84-4886-90a9-9a3ed79f3a48" providerId="ADAL" clId="{9F23B798-9E84-4552-BA63-E776E805C424}" dt="2026-09-11T14:31:01.817" v="73"/>
        <pc:sldMkLst>
          <pc:docMk/>
          <pc:sldMk cId="0" sldId="258"/>
        </pc:sldMkLst>
        <pc:picChg chg="del">
          <ac:chgData name="Lai, Wilson" userId="2840974a-0d84-4886-90a9-9a3ed79f3a48" providerId="ADAL" clId="{9F23B798-9E84-4552-BA63-E776E805C424}" dt="2026-09-11T07:53:51.098" v="15" actId="21"/>
          <ac:picMkLst>
            <pc:docMk/>
            <pc:sldMk cId="0" sldId="258"/>
            <ac:picMk id="2" creationId="{00000000-0000-0000-0000-000000000000}"/>
          </ac:picMkLst>
        </pc:picChg>
        <pc:picChg chg="add">
          <ac:chgData name="Lai, Wilson" userId="2840974a-0d84-4886-90a9-9a3ed79f3a48" providerId="ADAL" clId="{9F23B798-9E84-4552-BA63-E776E805C424}" dt="2026-09-11T07:54:11.020" v="16" actId="22"/>
          <ac:picMkLst>
            <pc:docMk/>
            <pc:sldMk cId="0" sldId="258"/>
            <ac:picMk id="4" creationId="{C0B48D72-2026-DD2D-DA13-90BD87605231}"/>
          </ac:picMkLst>
        </pc:picChg>
      </pc:sldChg>
      <pc:sldChg chg="addSp delSp mod modNotes modNotesTx">
        <pc:chgData name="Lai, Wilson" userId="2840974a-0d84-4886-90a9-9a3ed79f3a48" providerId="ADAL" clId="{9F23B798-9E84-4552-BA63-E776E805C424}" dt="2026-09-11T14:31:01.817" v="73"/>
        <pc:sldMkLst>
          <pc:docMk/>
          <pc:sldMk cId="0" sldId="259"/>
        </pc:sldMkLst>
        <pc:picChg chg="del">
          <ac:chgData name="Lai, Wilson" userId="2840974a-0d84-4886-90a9-9a3ed79f3a48" providerId="ADAL" clId="{9F23B798-9E84-4552-BA63-E776E805C424}" dt="2026-09-11T07:54:16.591" v="17" actId="21"/>
          <ac:picMkLst>
            <pc:docMk/>
            <pc:sldMk cId="0" sldId="259"/>
            <ac:picMk id="2" creationId="{00000000-0000-0000-0000-000000000000}"/>
          </ac:picMkLst>
        </pc:picChg>
        <pc:picChg chg="add">
          <ac:chgData name="Lai, Wilson" userId="2840974a-0d84-4886-90a9-9a3ed79f3a48" providerId="ADAL" clId="{9F23B798-9E84-4552-BA63-E776E805C424}" dt="2026-09-11T07:54:28.534" v="18" actId="22"/>
          <ac:picMkLst>
            <pc:docMk/>
            <pc:sldMk cId="0" sldId="259"/>
            <ac:picMk id="4" creationId="{F8FA7D87-B289-6C74-1073-907B4C1AA878}"/>
          </ac:picMkLst>
        </pc:picChg>
      </pc:sldChg>
      <pc:sldChg chg="addSp delSp mod modNotes modNotesTx">
        <pc:chgData name="Lai, Wilson" userId="2840974a-0d84-4886-90a9-9a3ed79f3a48" providerId="ADAL" clId="{9F23B798-9E84-4552-BA63-E776E805C424}" dt="2026-09-11T14:31:01.817" v="73"/>
        <pc:sldMkLst>
          <pc:docMk/>
          <pc:sldMk cId="0" sldId="260"/>
        </pc:sldMkLst>
        <pc:picChg chg="del">
          <ac:chgData name="Lai, Wilson" userId="2840974a-0d84-4886-90a9-9a3ed79f3a48" providerId="ADAL" clId="{9F23B798-9E84-4552-BA63-E776E805C424}" dt="2026-09-11T07:54:30.682" v="19" actId="21"/>
          <ac:picMkLst>
            <pc:docMk/>
            <pc:sldMk cId="0" sldId="260"/>
            <ac:picMk id="2" creationId="{00000000-0000-0000-0000-000000000000}"/>
          </ac:picMkLst>
        </pc:picChg>
        <pc:picChg chg="add">
          <ac:chgData name="Lai, Wilson" userId="2840974a-0d84-4886-90a9-9a3ed79f3a48" providerId="ADAL" clId="{9F23B798-9E84-4552-BA63-E776E805C424}" dt="2026-09-11T07:54:43.038" v="20" actId="22"/>
          <ac:picMkLst>
            <pc:docMk/>
            <pc:sldMk cId="0" sldId="260"/>
            <ac:picMk id="4" creationId="{719350A3-3912-1900-296F-25855D434860}"/>
          </ac:picMkLst>
        </pc:picChg>
      </pc:sldChg>
      <pc:sldChg chg="addSp delSp mod modNotes modNotesTx">
        <pc:chgData name="Lai, Wilson" userId="2840974a-0d84-4886-90a9-9a3ed79f3a48" providerId="ADAL" clId="{9F23B798-9E84-4552-BA63-E776E805C424}" dt="2026-09-11T14:31:01.817" v="73"/>
        <pc:sldMkLst>
          <pc:docMk/>
          <pc:sldMk cId="0" sldId="261"/>
        </pc:sldMkLst>
        <pc:picChg chg="del">
          <ac:chgData name="Lai, Wilson" userId="2840974a-0d84-4886-90a9-9a3ed79f3a48" providerId="ADAL" clId="{9F23B798-9E84-4552-BA63-E776E805C424}" dt="2026-09-11T07:57:40.531" v="42" actId="21"/>
          <ac:picMkLst>
            <pc:docMk/>
            <pc:sldMk cId="0" sldId="261"/>
            <ac:picMk id="2" creationId="{00000000-0000-0000-0000-000000000000}"/>
          </ac:picMkLst>
        </pc:picChg>
        <pc:picChg chg="add">
          <ac:chgData name="Lai, Wilson" userId="2840974a-0d84-4886-90a9-9a3ed79f3a48" providerId="ADAL" clId="{9F23B798-9E84-4552-BA63-E776E805C424}" dt="2026-09-11T07:57:48.430" v="43" actId="22"/>
          <ac:picMkLst>
            <pc:docMk/>
            <pc:sldMk cId="0" sldId="261"/>
            <ac:picMk id="4" creationId="{FFF262BB-A465-33A6-B68D-65E1E9F93FF1}"/>
          </ac:picMkLst>
        </pc:picChg>
      </pc:sldChg>
      <pc:sldChg chg="addSp delSp mod modNotes modNotesTx">
        <pc:chgData name="Lai, Wilson" userId="2840974a-0d84-4886-90a9-9a3ed79f3a48" providerId="ADAL" clId="{9F23B798-9E84-4552-BA63-E776E805C424}" dt="2026-09-11T14:31:01.817" v="73"/>
        <pc:sldMkLst>
          <pc:docMk/>
          <pc:sldMk cId="0" sldId="262"/>
        </pc:sldMkLst>
        <pc:picChg chg="del">
          <ac:chgData name="Lai, Wilson" userId="2840974a-0d84-4886-90a9-9a3ed79f3a48" providerId="ADAL" clId="{9F23B798-9E84-4552-BA63-E776E805C424}" dt="2026-09-11T07:57:50.124" v="44" actId="21"/>
          <ac:picMkLst>
            <pc:docMk/>
            <pc:sldMk cId="0" sldId="262"/>
            <ac:picMk id="2" creationId="{00000000-0000-0000-0000-000000000000}"/>
          </ac:picMkLst>
        </pc:picChg>
        <pc:picChg chg="add del">
          <ac:chgData name="Lai, Wilson" userId="2840974a-0d84-4886-90a9-9a3ed79f3a48" providerId="ADAL" clId="{9F23B798-9E84-4552-BA63-E776E805C424}" dt="2026-09-11T07:58:13.630" v="46" actId="21"/>
          <ac:picMkLst>
            <pc:docMk/>
            <pc:sldMk cId="0" sldId="262"/>
            <ac:picMk id="4" creationId="{9C418F57-1188-634C-66C9-1C500D266A9C}"/>
          </ac:picMkLst>
        </pc:picChg>
        <pc:picChg chg="add">
          <ac:chgData name="Lai, Wilson" userId="2840974a-0d84-4886-90a9-9a3ed79f3a48" providerId="ADAL" clId="{9F23B798-9E84-4552-BA63-E776E805C424}" dt="2026-09-11T07:58:24.545" v="47" actId="22"/>
          <ac:picMkLst>
            <pc:docMk/>
            <pc:sldMk cId="0" sldId="262"/>
            <ac:picMk id="6" creationId="{50AF51FA-49DF-EA83-7EB6-E10F00CE4960}"/>
          </ac:picMkLst>
        </pc:picChg>
      </pc:sldChg>
      <pc:sldChg chg="addSp delSp mod modNotes modNotesTx">
        <pc:chgData name="Lai, Wilson" userId="2840974a-0d84-4886-90a9-9a3ed79f3a48" providerId="ADAL" clId="{9F23B798-9E84-4552-BA63-E776E805C424}" dt="2026-09-11T14:31:01.817" v="73"/>
        <pc:sldMkLst>
          <pc:docMk/>
          <pc:sldMk cId="0" sldId="263"/>
        </pc:sldMkLst>
        <pc:picChg chg="del">
          <ac:chgData name="Lai, Wilson" userId="2840974a-0d84-4886-90a9-9a3ed79f3a48" providerId="ADAL" clId="{9F23B798-9E84-4552-BA63-E776E805C424}" dt="2026-09-11T07:54:46.195" v="21" actId="21"/>
          <ac:picMkLst>
            <pc:docMk/>
            <pc:sldMk cId="0" sldId="263"/>
            <ac:picMk id="2" creationId="{00000000-0000-0000-0000-000000000000}"/>
          </ac:picMkLst>
        </pc:picChg>
        <pc:picChg chg="add">
          <ac:chgData name="Lai, Wilson" userId="2840974a-0d84-4886-90a9-9a3ed79f3a48" providerId="ADAL" clId="{9F23B798-9E84-4552-BA63-E776E805C424}" dt="2026-09-11T07:54:55.727" v="22" actId="22"/>
          <ac:picMkLst>
            <pc:docMk/>
            <pc:sldMk cId="0" sldId="263"/>
            <ac:picMk id="4" creationId="{684E781A-D5B9-D8AB-7ABE-8034B4B5B9C3}"/>
          </ac:picMkLst>
        </pc:picChg>
      </pc:sldChg>
      <pc:sldChg chg="addSp delSp mod modNotes">
        <pc:chgData name="Lai, Wilson" userId="2840974a-0d84-4886-90a9-9a3ed79f3a48" providerId="ADAL" clId="{9F23B798-9E84-4552-BA63-E776E805C424}" dt="2026-09-11T14:31:01.817" v="73"/>
        <pc:sldMkLst>
          <pc:docMk/>
          <pc:sldMk cId="0" sldId="264"/>
        </pc:sldMkLst>
        <pc:picChg chg="del">
          <ac:chgData name="Lai, Wilson" userId="2840974a-0d84-4886-90a9-9a3ed79f3a48" providerId="ADAL" clId="{9F23B798-9E84-4552-BA63-E776E805C424}" dt="2026-09-11T07:55:01.252" v="23" actId="21"/>
          <ac:picMkLst>
            <pc:docMk/>
            <pc:sldMk cId="0" sldId="264"/>
            <ac:picMk id="2" creationId="{00000000-0000-0000-0000-000000000000}"/>
          </ac:picMkLst>
        </pc:picChg>
        <pc:picChg chg="add">
          <ac:chgData name="Lai, Wilson" userId="2840974a-0d84-4886-90a9-9a3ed79f3a48" providerId="ADAL" clId="{9F23B798-9E84-4552-BA63-E776E805C424}" dt="2026-09-11T07:55:22.143" v="24" actId="22"/>
          <ac:picMkLst>
            <pc:docMk/>
            <pc:sldMk cId="0" sldId="264"/>
            <ac:picMk id="4" creationId="{8E41EB29-CB68-A794-0D1D-8FA5A1E417D7}"/>
          </ac:picMkLst>
        </pc:picChg>
      </pc:sldChg>
      <pc:sldChg chg="addSp delSp mod modNotes modNotesTx">
        <pc:chgData name="Lai, Wilson" userId="2840974a-0d84-4886-90a9-9a3ed79f3a48" providerId="ADAL" clId="{9F23B798-9E84-4552-BA63-E776E805C424}" dt="2026-09-11T14:31:01.817" v="73"/>
        <pc:sldMkLst>
          <pc:docMk/>
          <pc:sldMk cId="0" sldId="265"/>
        </pc:sldMkLst>
        <pc:picChg chg="del">
          <ac:chgData name="Lai, Wilson" userId="2840974a-0d84-4886-90a9-9a3ed79f3a48" providerId="ADAL" clId="{9F23B798-9E84-4552-BA63-E776E805C424}" dt="2026-09-11T07:55:30.274" v="25" actId="21"/>
          <ac:picMkLst>
            <pc:docMk/>
            <pc:sldMk cId="0" sldId="265"/>
            <ac:picMk id="2" creationId="{00000000-0000-0000-0000-000000000000}"/>
          </ac:picMkLst>
        </pc:picChg>
        <pc:picChg chg="add">
          <ac:chgData name="Lai, Wilson" userId="2840974a-0d84-4886-90a9-9a3ed79f3a48" providerId="ADAL" clId="{9F23B798-9E84-4552-BA63-E776E805C424}" dt="2026-09-11T07:55:40.624" v="26" actId="22"/>
          <ac:picMkLst>
            <pc:docMk/>
            <pc:sldMk cId="0" sldId="265"/>
            <ac:picMk id="4" creationId="{955CEAD5-9628-047B-D5B5-5C9ED6286265}"/>
          </ac:picMkLst>
        </pc:picChg>
      </pc:sldChg>
      <pc:sldChg chg="addSp delSp mod modNotes modNotesTx">
        <pc:chgData name="Lai, Wilson" userId="2840974a-0d84-4886-90a9-9a3ed79f3a48" providerId="ADAL" clId="{9F23B798-9E84-4552-BA63-E776E805C424}" dt="2026-09-11T14:31:01.817" v="73"/>
        <pc:sldMkLst>
          <pc:docMk/>
          <pc:sldMk cId="0" sldId="266"/>
        </pc:sldMkLst>
        <pc:picChg chg="del">
          <ac:chgData name="Lai, Wilson" userId="2840974a-0d84-4886-90a9-9a3ed79f3a48" providerId="ADAL" clId="{9F23B798-9E84-4552-BA63-E776E805C424}" dt="2026-09-11T07:55:43.890" v="27" actId="21"/>
          <ac:picMkLst>
            <pc:docMk/>
            <pc:sldMk cId="0" sldId="266"/>
            <ac:picMk id="2" creationId="{00000000-0000-0000-0000-000000000000}"/>
          </ac:picMkLst>
        </pc:picChg>
        <pc:picChg chg="add">
          <ac:chgData name="Lai, Wilson" userId="2840974a-0d84-4886-90a9-9a3ed79f3a48" providerId="ADAL" clId="{9F23B798-9E84-4552-BA63-E776E805C424}" dt="2026-09-11T07:55:55.726" v="28" actId="22"/>
          <ac:picMkLst>
            <pc:docMk/>
            <pc:sldMk cId="0" sldId="266"/>
            <ac:picMk id="4" creationId="{7B4F8742-5A3A-B8FE-4CBA-D4AEDF5E745F}"/>
          </ac:picMkLst>
        </pc:picChg>
      </pc:sldChg>
      <pc:sldChg chg="addSp delSp mod modNotes modNotesTx">
        <pc:chgData name="Lai, Wilson" userId="2840974a-0d84-4886-90a9-9a3ed79f3a48" providerId="ADAL" clId="{9F23B798-9E84-4552-BA63-E776E805C424}" dt="2026-09-11T14:31:01.817" v="73"/>
        <pc:sldMkLst>
          <pc:docMk/>
          <pc:sldMk cId="0" sldId="267"/>
        </pc:sldMkLst>
        <pc:picChg chg="del">
          <ac:chgData name="Lai, Wilson" userId="2840974a-0d84-4886-90a9-9a3ed79f3a48" providerId="ADAL" clId="{9F23B798-9E84-4552-BA63-E776E805C424}" dt="2026-09-11T07:55:58.028" v="29" actId="21"/>
          <ac:picMkLst>
            <pc:docMk/>
            <pc:sldMk cId="0" sldId="267"/>
            <ac:picMk id="2" creationId="{00000000-0000-0000-0000-000000000000}"/>
          </ac:picMkLst>
        </pc:picChg>
        <pc:picChg chg="add">
          <ac:chgData name="Lai, Wilson" userId="2840974a-0d84-4886-90a9-9a3ed79f3a48" providerId="ADAL" clId="{9F23B798-9E84-4552-BA63-E776E805C424}" dt="2026-09-11T07:56:22.269" v="30" actId="22"/>
          <ac:picMkLst>
            <pc:docMk/>
            <pc:sldMk cId="0" sldId="267"/>
            <ac:picMk id="4" creationId="{E2F79A22-BA0F-59DE-4925-4D9970B01346}"/>
          </ac:picMkLst>
        </pc:picChg>
      </pc:sldChg>
      <pc:sldChg chg="addSp delSp modSp mod modNotes modNotesTx">
        <pc:chgData name="Lai, Wilson" userId="2840974a-0d84-4886-90a9-9a3ed79f3a48" providerId="ADAL" clId="{9F23B798-9E84-4552-BA63-E776E805C424}" dt="2026-09-11T14:31:01.817" v="73"/>
        <pc:sldMkLst>
          <pc:docMk/>
          <pc:sldMk cId="0" sldId="268"/>
        </pc:sldMkLst>
        <pc:picChg chg="del mod">
          <ac:chgData name="Lai, Wilson" userId="2840974a-0d84-4886-90a9-9a3ed79f3a48" providerId="ADAL" clId="{9F23B798-9E84-4552-BA63-E776E805C424}" dt="2026-09-11T07:56:26.337" v="32" actId="21"/>
          <ac:picMkLst>
            <pc:docMk/>
            <pc:sldMk cId="0" sldId="268"/>
            <ac:picMk id="2" creationId="{00000000-0000-0000-0000-000000000000}"/>
          </ac:picMkLst>
        </pc:picChg>
        <pc:picChg chg="add">
          <ac:chgData name="Lai, Wilson" userId="2840974a-0d84-4886-90a9-9a3ed79f3a48" providerId="ADAL" clId="{9F23B798-9E84-4552-BA63-E776E805C424}" dt="2026-09-11T07:56:40.815" v="33" actId="22"/>
          <ac:picMkLst>
            <pc:docMk/>
            <pc:sldMk cId="0" sldId="268"/>
            <ac:picMk id="4" creationId="{9DC37877-5F95-1E86-2787-D90B29A68C4C}"/>
          </ac:picMkLst>
        </pc:picChg>
      </pc:sldChg>
      <pc:sldChg chg="addSp delSp mod modNotes modNotesTx">
        <pc:chgData name="Lai, Wilson" userId="2840974a-0d84-4886-90a9-9a3ed79f3a48" providerId="ADAL" clId="{9F23B798-9E84-4552-BA63-E776E805C424}" dt="2026-09-11T14:31:01.817" v="73"/>
        <pc:sldMkLst>
          <pc:docMk/>
          <pc:sldMk cId="0" sldId="269"/>
        </pc:sldMkLst>
        <pc:picChg chg="del">
          <ac:chgData name="Lai, Wilson" userId="2840974a-0d84-4886-90a9-9a3ed79f3a48" providerId="ADAL" clId="{9F23B798-9E84-4552-BA63-E776E805C424}" dt="2026-09-11T07:56:45.581" v="34" actId="21"/>
          <ac:picMkLst>
            <pc:docMk/>
            <pc:sldMk cId="0" sldId="269"/>
            <ac:picMk id="2" creationId="{00000000-0000-0000-0000-000000000000}"/>
          </ac:picMkLst>
        </pc:picChg>
        <pc:picChg chg="add">
          <ac:chgData name="Lai, Wilson" userId="2840974a-0d84-4886-90a9-9a3ed79f3a48" providerId="ADAL" clId="{9F23B798-9E84-4552-BA63-E776E805C424}" dt="2026-09-11T07:56:53.339" v="35" actId="22"/>
          <ac:picMkLst>
            <pc:docMk/>
            <pc:sldMk cId="0" sldId="269"/>
            <ac:picMk id="4" creationId="{51CC026F-6758-382A-EAFA-E1A0982E680E}"/>
          </ac:picMkLst>
        </pc:picChg>
      </pc:sldChg>
      <pc:sldChg chg="addSp delSp mod modNotes modNotesTx">
        <pc:chgData name="Lai, Wilson" userId="2840974a-0d84-4886-90a9-9a3ed79f3a48" providerId="ADAL" clId="{9F23B798-9E84-4552-BA63-E776E805C424}" dt="2026-09-11T14:31:01.817" v="73"/>
        <pc:sldMkLst>
          <pc:docMk/>
          <pc:sldMk cId="0" sldId="270"/>
        </pc:sldMkLst>
        <pc:picChg chg="del">
          <ac:chgData name="Lai, Wilson" userId="2840974a-0d84-4886-90a9-9a3ed79f3a48" providerId="ADAL" clId="{9F23B798-9E84-4552-BA63-E776E805C424}" dt="2026-09-11T07:56:54.942" v="36" actId="21"/>
          <ac:picMkLst>
            <pc:docMk/>
            <pc:sldMk cId="0" sldId="270"/>
            <ac:picMk id="2" creationId="{00000000-0000-0000-0000-000000000000}"/>
          </ac:picMkLst>
        </pc:picChg>
        <pc:picChg chg="add">
          <ac:chgData name="Lai, Wilson" userId="2840974a-0d84-4886-90a9-9a3ed79f3a48" providerId="ADAL" clId="{9F23B798-9E84-4552-BA63-E776E805C424}" dt="2026-09-11T07:57:03.843" v="37" actId="22"/>
          <ac:picMkLst>
            <pc:docMk/>
            <pc:sldMk cId="0" sldId="270"/>
            <ac:picMk id="4" creationId="{94283773-B961-CBE0-FCBD-854F9A7BE140}"/>
          </ac:picMkLst>
        </pc:picChg>
      </pc:sldChg>
      <pc:sldChg chg="addSp delSp mod modNotes modNotesTx">
        <pc:chgData name="Lai, Wilson" userId="2840974a-0d84-4886-90a9-9a3ed79f3a48" providerId="ADAL" clId="{9F23B798-9E84-4552-BA63-E776E805C424}" dt="2026-09-11T14:31:01.817" v="73"/>
        <pc:sldMkLst>
          <pc:docMk/>
          <pc:sldMk cId="0" sldId="271"/>
        </pc:sldMkLst>
        <pc:picChg chg="del">
          <ac:chgData name="Lai, Wilson" userId="2840974a-0d84-4886-90a9-9a3ed79f3a48" providerId="ADAL" clId="{9F23B798-9E84-4552-BA63-E776E805C424}" dt="2026-09-11T07:57:06.337" v="38" actId="21"/>
          <ac:picMkLst>
            <pc:docMk/>
            <pc:sldMk cId="0" sldId="271"/>
            <ac:picMk id="2" creationId="{00000000-0000-0000-0000-000000000000}"/>
          </ac:picMkLst>
        </pc:picChg>
        <pc:picChg chg="add">
          <ac:chgData name="Lai, Wilson" userId="2840974a-0d84-4886-90a9-9a3ed79f3a48" providerId="ADAL" clId="{9F23B798-9E84-4552-BA63-E776E805C424}" dt="2026-09-11T07:57:15.988" v="39" actId="22"/>
          <ac:picMkLst>
            <pc:docMk/>
            <pc:sldMk cId="0" sldId="271"/>
            <ac:picMk id="4" creationId="{5AE50472-1502-5D79-5DC9-A19F5107C70D}"/>
          </ac:picMkLst>
        </pc:picChg>
      </pc:sldChg>
      <pc:sldChg chg="addSp delSp mod modNotes">
        <pc:chgData name="Lai, Wilson" userId="2840974a-0d84-4886-90a9-9a3ed79f3a48" providerId="ADAL" clId="{9F23B798-9E84-4552-BA63-E776E805C424}" dt="2026-09-11T14:31:01.817" v="73"/>
        <pc:sldMkLst>
          <pc:docMk/>
          <pc:sldMk cId="4132377078" sldId="272"/>
        </pc:sldMkLst>
        <pc:picChg chg="del">
          <ac:chgData name="Lai, Wilson" userId="2840974a-0d84-4886-90a9-9a3ed79f3a48" providerId="ADAL" clId="{9F23B798-9E84-4552-BA63-E776E805C424}" dt="2026-09-11T07:57:17.824" v="40" actId="21"/>
          <ac:picMkLst>
            <pc:docMk/>
            <pc:sldMk cId="4132377078" sldId="272"/>
            <ac:picMk id="3" creationId="{6EF6C522-95AD-06B4-9B5A-BC7399206EB7}"/>
          </ac:picMkLst>
        </pc:picChg>
        <pc:picChg chg="add">
          <ac:chgData name="Lai, Wilson" userId="2840974a-0d84-4886-90a9-9a3ed79f3a48" providerId="ADAL" clId="{9F23B798-9E84-4552-BA63-E776E805C424}" dt="2026-09-11T07:57:27.632" v="41" actId="22"/>
          <ac:picMkLst>
            <pc:docMk/>
            <pc:sldMk cId="4132377078" sldId="272"/>
            <ac:picMk id="4" creationId="{3817D6B1-95C1-2B4D-803E-377F71FB077F}"/>
          </ac:picMkLst>
        </pc:picChg>
      </pc:sldChg>
      <pc:sldMasterChg chg="setBg">
        <pc:chgData name="Lai, Wilson" userId="2840974a-0d84-4886-90a9-9a3ed79f3a48" providerId="ADAL" clId="{9F23B798-9E84-4552-BA63-E776E805C424}" dt="2026-09-11T07:53:05.611" v="14"/>
        <pc:sldMasterMkLst>
          <pc:docMk/>
          <pc:sldMasterMk cId="238977527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556A9-000E-4330-901B-0C8AA083B6A8}"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F17F2-E51A-4E65-8FC1-3739D389ACC4}" type="slidenum">
              <a:rPr lang="en-US" smtClean="0"/>
              <a:t>‹#›</a:t>
            </a:fld>
            <a:endParaRPr lang="en-US"/>
          </a:p>
        </p:txBody>
      </p:sp>
    </p:spTree>
    <p:extLst>
      <p:ext uri="{BB962C8B-B14F-4D97-AF65-F5344CB8AC3E}">
        <p14:creationId xmlns:p14="http://schemas.microsoft.com/office/powerpoint/2010/main" val="1614579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 are going to dive into a strategic framework called </a:t>
            </a:r>
            <a:r>
              <a:rPr lang="en-US" sz="1200" b="1" kern="1200" dirty="0">
                <a:solidFill>
                  <a:schemeClr val="tx1"/>
                </a:solidFill>
                <a:effectLst/>
                <a:latin typeface="+mn-lt"/>
                <a:ea typeface="+mn-ea"/>
                <a:cs typeface="+mn-cs"/>
              </a:rPr>
              <a:t>'The 3-2-1 Content Blueprint: Engineering Predictable Revenue in the AI Era.'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Now, if you look at the landscape of short-form video and content marketing today, most creators and business owners are playing a game designed around a massive lie: the idea that </a:t>
            </a:r>
            <a:r>
              <a:rPr lang="en-US" sz="1200" i="1" kern="1200" dirty="0">
                <a:solidFill>
                  <a:schemeClr val="tx1"/>
                </a:solidFill>
                <a:effectLst/>
                <a:latin typeface="+mn-lt"/>
                <a:ea typeface="+mn-ea"/>
                <a:cs typeface="+mn-cs"/>
              </a:rPr>
              <a:t>more views equals more money</a:t>
            </a:r>
            <a:r>
              <a:rPr lang="en-US" sz="1200" kern="1200" dirty="0">
                <a:solidFill>
                  <a:schemeClr val="tx1"/>
                </a:solidFill>
                <a:effectLst/>
                <a:latin typeface="+mn-lt"/>
                <a:ea typeface="+mn-ea"/>
                <a:cs typeface="+mn-cs"/>
              </a:rPr>
              <a:t>. We see people chasing viral hits, trying to go viral for the sake of going viral, and hoping that eventually, someone in that sea of millions of viewers will buy their product or hire their service. </a:t>
            </a:r>
          </a:p>
          <a:p>
            <a:pPr lvl="0"/>
            <a:r>
              <a:rPr lang="en-US" sz="1200" kern="1200" dirty="0">
                <a:solidFill>
                  <a:schemeClr val="tx1"/>
                </a:solidFill>
                <a:effectLst/>
                <a:latin typeface="+mn-lt"/>
                <a:ea typeface="+mn-ea"/>
                <a:cs typeface="+mn-cs"/>
              </a:rPr>
              <a:t>The reality is that chasing virality without a precise mechanism behind it is a trap. It results in what I call 'junk traffic'—an audience that watches, scrolls past, but never converts. </a:t>
            </a:r>
          </a:p>
          <a:p>
            <a:pPr lvl="0"/>
            <a:r>
              <a:rPr lang="en-US" sz="1200" kern="1200" dirty="0">
                <a:solidFill>
                  <a:schemeClr val="tx1"/>
                </a:solidFill>
                <a:effectLst/>
                <a:latin typeface="+mn-lt"/>
                <a:ea typeface="+mn-ea"/>
                <a:cs typeface="+mn-cs"/>
              </a:rPr>
              <a:t>In this presentation, we are stepping away from 'viral chasing' and moving toward precision-based audience engineering. Over the next 16 slides, I’m going to share with you the exact operating model—supported by modern AI workflow integrations—that allows you to build an audience that actually buys. We’ll cover how to define your offers, engineer your target audience using a 5-Ring Bullseye strategy, script content using data-backed AI leverage, and deploy the 3-2-1 weekly content distribution architecture. </a:t>
            </a:r>
          </a:p>
          <a:p>
            <a:pPr lvl="0"/>
            <a:r>
              <a:rPr lang="en-US" sz="1200" kern="1200" dirty="0">
                <a:solidFill>
                  <a:schemeClr val="tx1"/>
                </a:solidFill>
                <a:effectLst/>
                <a:latin typeface="+mn-lt"/>
                <a:ea typeface="+mn-ea"/>
                <a:cs typeface="+mn-cs"/>
              </a:rPr>
              <a:t>By the end of this session, you won't just have theoretical marketing ideas; you’ll have a structured, step-by-step playbook that you can execute in under 48 hours. Let’s get started. </a:t>
            </a:r>
          </a:p>
          <a:p>
            <a:endParaRPr lang="en-US" dirty="0"/>
          </a:p>
          <a:p>
            <a:endParaRPr lang="en-US" dirty="0"/>
          </a:p>
          <a:p>
            <a:endParaRPr lang="en-US" dirty="0"/>
          </a:p>
          <a:p>
            <a:r>
              <a:rPr lang="en-US" dirty="0"/>
              <a:t>https://www.youtube.com/watch?v=lZc30sUfx64</a:t>
            </a:r>
          </a:p>
        </p:txBody>
      </p:sp>
      <p:sp>
        <p:nvSpPr>
          <p:cNvPr id="4" name="Slide Number Placeholder 3"/>
          <p:cNvSpPr>
            <a:spLocks noGrp="1"/>
          </p:cNvSpPr>
          <p:nvPr>
            <p:ph type="sldNum" sz="quarter" idx="5"/>
          </p:nvPr>
        </p:nvSpPr>
        <p:spPr/>
        <p:txBody>
          <a:bodyPr/>
          <a:lstStyle/>
          <a:p>
            <a:fld id="{F80F17F2-E51A-4E65-8FC1-3739D389ACC4}" type="slidenum">
              <a:rPr lang="en-US" smtClean="0"/>
              <a:t>1</a:t>
            </a:fld>
            <a:endParaRPr lang="en-US"/>
          </a:p>
        </p:txBody>
      </p:sp>
    </p:spTree>
    <p:extLst>
      <p:ext uri="{BB962C8B-B14F-4D97-AF65-F5344CB8AC3E}">
        <p14:creationId xmlns:p14="http://schemas.microsoft.com/office/powerpoint/2010/main" val="283237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unpack </a:t>
            </a:r>
            <a:r>
              <a:rPr lang="en-US" sz="1200" b="1" kern="1200" dirty="0">
                <a:solidFill>
                  <a:schemeClr val="tx1"/>
                </a:solidFill>
                <a:effectLst/>
                <a:latin typeface="+mn-lt"/>
                <a:ea typeface="+mn-ea"/>
                <a:cs typeface="+mn-cs"/>
              </a:rPr>
              <a:t>Slide 2: The Viral Trap</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Look at the graphic on this slide: a broken funnel. That funnel represents what happens when you treat views as your primary business metric. The core myth we need to destroy right now is that </a:t>
            </a:r>
            <a:r>
              <a:rPr lang="en-US" sz="1200" i="1" kern="1200" dirty="0">
                <a:solidFill>
                  <a:schemeClr val="tx1"/>
                </a:solidFill>
                <a:effectLst/>
                <a:latin typeface="+mn-lt"/>
                <a:ea typeface="+mn-ea"/>
                <a:cs typeface="+mn-cs"/>
              </a:rPr>
              <a:t>'More views equals more dollars.'</a:t>
            </a:r>
            <a:r>
              <a:rPr lang="en-US" sz="1200" kern="1200" dirty="0">
                <a:solidFill>
                  <a:schemeClr val="tx1"/>
                </a:solidFill>
                <a:effectLst/>
                <a:latin typeface="+mn-lt"/>
                <a:ea typeface="+mn-ea"/>
                <a:cs typeface="+mn-cs"/>
              </a:rPr>
              <a:t> In practice, getting a million views on a generic reel or TikTok often brings zero dollars in scalable revenue. </a:t>
            </a:r>
          </a:p>
          <a:p>
            <a:pPr lvl="0"/>
            <a:r>
              <a:rPr lang="en-US" sz="1200" kern="1200" dirty="0">
                <a:solidFill>
                  <a:schemeClr val="tx1"/>
                </a:solidFill>
                <a:effectLst/>
                <a:latin typeface="+mn-lt"/>
                <a:ea typeface="+mn-ea"/>
                <a:cs typeface="+mn-cs"/>
              </a:rPr>
              <a:t>Why does this happen? First, when you play the viral game without a clear target system, you attract a fragmented, low-intent audience. You end up with 'junk traffic'—people who like a funny joke or a broad productivity tip, but have zero budget, zero authority, and zero interest in buying a high-ticket service or specialized product. </a:t>
            </a:r>
          </a:p>
          <a:p>
            <a:pPr lvl="0"/>
            <a:r>
              <a:rPr lang="en-US" sz="1200" kern="1200" dirty="0">
                <a:solidFill>
                  <a:schemeClr val="tx1"/>
                </a:solidFill>
                <a:effectLst/>
                <a:latin typeface="+mn-lt"/>
                <a:ea typeface="+mn-ea"/>
                <a:cs typeface="+mn-cs"/>
              </a:rPr>
              <a:t>Second, broad vanity metrics actually destroy your distribution on social algorithms. Modern algorithms on platforms like Instagram, TikTok, and YouTube Shorts rely heavily on audience data feedback loops. When your content attracts everyone, the algorithm gets confused. It doesn't know who your </a:t>
            </a:r>
            <a:r>
              <a:rPr lang="en-US" sz="1200" i="1" kern="1200" dirty="0">
                <a:solidFill>
                  <a:schemeClr val="tx1"/>
                </a:solidFill>
                <a:effectLst/>
                <a:latin typeface="+mn-lt"/>
                <a:ea typeface="+mn-ea"/>
                <a:cs typeface="+mn-cs"/>
              </a:rPr>
              <a:t>ideal customer</a:t>
            </a:r>
            <a:r>
              <a:rPr lang="en-US" sz="1200" kern="1200" dirty="0">
                <a:solidFill>
                  <a:schemeClr val="tx1"/>
                </a:solidFill>
                <a:effectLst/>
                <a:latin typeface="+mn-lt"/>
                <a:ea typeface="+mn-ea"/>
                <a:cs typeface="+mn-cs"/>
              </a:rPr>
              <a:t> is, so it stops serving your content to decision-makers. </a:t>
            </a:r>
          </a:p>
          <a:p>
            <a:pPr lvl="0"/>
            <a:r>
              <a:rPr lang="en-US" sz="1200" kern="1200" dirty="0">
                <a:solidFill>
                  <a:schemeClr val="tx1"/>
                </a:solidFill>
                <a:effectLst/>
                <a:latin typeface="+mn-lt"/>
                <a:ea typeface="+mn-ea"/>
                <a:cs typeface="+mn-cs"/>
              </a:rPr>
              <a:t>As you see at the bottom of the slide, the ultimate result of this trap is </a:t>
            </a:r>
            <a:r>
              <a:rPr lang="en-US" sz="1200" b="1" kern="1200" dirty="0">
                <a:solidFill>
                  <a:schemeClr val="tx1"/>
                </a:solidFill>
                <a:effectLst/>
                <a:latin typeface="+mn-lt"/>
                <a:ea typeface="+mn-ea"/>
                <a:cs typeface="+mn-cs"/>
              </a:rPr>
              <a:t>high views, zero trust accrual, zero revenue, and rapid creator burnout</a:t>
            </a:r>
            <a:r>
              <a:rPr lang="en-US" sz="1200" kern="1200" dirty="0">
                <a:solidFill>
                  <a:schemeClr val="tx1"/>
                </a:solidFill>
                <a:effectLst/>
                <a:latin typeface="+mn-lt"/>
                <a:ea typeface="+mn-ea"/>
                <a:cs typeface="+mn-cs"/>
              </a:rPr>
              <a:t>. You spend dozens of hours scripting and editing videos, hit 100k views, check your stripe account, and see $0. That is the cycle we are breaking today.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2</a:t>
            </a:fld>
            <a:endParaRPr lang="en-US"/>
          </a:p>
        </p:txBody>
      </p:sp>
    </p:spTree>
    <p:extLst>
      <p:ext uri="{BB962C8B-B14F-4D97-AF65-F5344CB8AC3E}">
        <p14:creationId xmlns:p14="http://schemas.microsoft.com/office/powerpoint/2010/main" val="3993181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build a predictable revenue engine, you have to decide which game you are playing. On </a:t>
            </a:r>
            <a:r>
              <a:rPr lang="en-US" sz="1200" b="1" kern="1200" dirty="0">
                <a:solidFill>
                  <a:schemeClr val="tx1"/>
                </a:solidFill>
                <a:effectLst/>
                <a:latin typeface="+mn-lt"/>
                <a:ea typeface="+mn-ea"/>
                <a:cs typeface="+mn-cs"/>
              </a:rPr>
              <a:t>Slide 3</a:t>
            </a:r>
            <a:r>
              <a:rPr lang="en-US" sz="1200" kern="1200" dirty="0">
                <a:solidFill>
                  <a:schemeClr val="tx1"/>
                </a:solidFill>
                <a:effectLst/>
                <a:latin typeface="+mn-lt"/>
                <a:ea typeface="+mn-ea"/>
                <a:cs typeface="+mn-cs"/>
              </a:rPr>
              <a:t>, we contrast the two arenas: </a:t>
            </a:r>
            <a:r>
              <a:rPr lang="en-US" sz="1200" b="1" kern="1200" dirty="0">
                <a:solidFill>
                  <a:schemeClr val="tx1"/>
                </a:solidFill>
                <a:effectLst/>
                <a:latin typeface="+mn-lt"/>
                <a:ea typeface="+mn-ea"/>
                <a:cs typeface="+mn-cs"/>
              </a:rPr>
              <a:t>The Brand Deal Game (Fame)</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The Conversion Game (Fortune)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Let's break down the differences across four main vectors:</a:t>
            </a:r>
          </a:p>
          <a:p>
            <a:pPr marL="228600" lvl="0" indent="-228600">
              <a:buFont typeface="+mj-lt"/>
              <a:buAutoNum type="arabicPeriod"/>
            </a:pPr>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The Brand Deal Game aims for home runs, massive reach, and general brand awareness. The Conversion Game aims for precision, trust, and predictable backend revenue. </a:t>
            </a:r>
          </a:p>
          <a:p>
            <a:pPr marL="228600" lvl="0" indent="-228600">
              <a:buFont typeface="+mj-lt"/>
              <a:buAutoNum type="arabicPeriod"/>
            </a:pPr>
            <a:r>
              <a:rPr lang="en-US" sz="1200" b="1" kern="1200" dirty="0">
                <a:solidFill>
                  <a:schemeClr val="tx1"/>
                </a:solidFill>
                <a:effectLst/>
                <a:latin typeface="+mn-lt"/>
                <a:ea typeface="+mn-ea"/>
                <a:cs typeface="+mn-cs"/>
              </a:rPr>
              <a:t>Target Audience</a:t>
            </a:r>
            <a:r>
              <a:rPr lang="en-US" sz="1200" kern="1200" dirty="0">
                <a:solidFill>
                  <a:schemeClr val="tx1"/>
                </a:solidFill>
                <a:effectLst/>
                <a:latin typeface="+mn-lt"/>
                <a:ea typeface="+mn-ea"/>
                <a:cs typeface="+mn-cs"/>
              </a:rPr>
              <a:t>: In the Fame game, you try to reach the widest total addressable market (TAM) possible. In the Conversion game, you focus on a hyper-specific avatar—a narrow group of people who share an exact pain point that your offer solves. </a:t>
            </a:r>
          </a:p>
          <a:p>
            <a:pPr marL="228600" lvl="0" indent="-228600">
              <a:buFont typeface="+mj-lt"/>
              <a:buAutoNum type="arabicPeriod"/>
            </a:pPr>
            <a:r>
              <a:rPr lang="en-US" sz="1200" b="1" kern="1200" dirty="0">
                <a:solidFill>
                  <a:schemeClr val="tx1"/>
                </a:solidFill>
                <a:effectLst/>
                <a:latin typeface="+mn-lt"/>
                <a:ea typeface="+mn-ea"/>
                <a:cs typeface="+mn-cs"/>
              </a:rPr>
              <a:t>Key Metric</a:t>
            </a:r>
            <a:r>
              <a:rPr lang="en-US" sz="1200" kern="1200" dirty="0">
                <a:solidFill>
                  <a:schemeClr val="tx1"/>
                </a:solidFill>
                <a:effectLst/>
                <a:latin typeface="+mn-lt"/>
                <a:ea typeface="+mn-ea"/>
                <a:cs typeface="+mn-cs"/>
              </a:rPr>
              <a:t>: The Brand Deal creator looks at view counts, impressions, and follower totals. The Conversion player tracks email opt-ins, booked calls, and high-intent lead captures. </a:t>
            </a:r>
          </a:p>
          <a:p>
            <a:pPr marL="228600" lvl="0" indent="-228600">
              <a:buFont typeface="+mj-lt"/>
              <a:buAutoNum type="arabicPeriod"/>
            </a:pPr>
            <a:r>
              <a:rPr lang="en-US" sz="1200" b="1" kern="1200" dirty="0">
                <a:solidFill>
                  <a:schemeClr val="tx1"/>
                </a:solidFill>
                <a:effectLst/>
                <a:latin typeface="+mn-lt"/>
                <a:ea typeface="+mn-ea"/>
                <a:cs typeface="+mn-cs"/>
              </a:rPr>
              <a:t>Result of Failure</a:t>
            </a:r>
            <a:r>
              <a:rPr lang="en-US" sz="1200" kern="1200" dirty="0">
                <a:solidFill>
                  <a:schemeClr val="tx1"/>
                </a:solidFill>
                <a:effectLst/>
                <a:latin typeface="+mn-lt"/>
                <a:ea typeface="+mn-ea"/>
                <a:cs typeface="+mn-cs"/>
              </a:rPr>
              <a:t>: If a viral creator fails, they waste production effort. If a conversion creator fails, they dilute their algorithm targeting data. </a:t>
            </a:r>
          </a:p>
          <a:p>
            <a:pPr lvl="0"/>
            <a:r>
              <a:rPr lang="en-US" sz="1200" kern="1200" dirty="0">
                <a:solidFill>
                  <a:schemeClr val="tx1"/>
                </a:solidFill>
                <a:effectLst/>
                <a:latin typeface="+mn-lt"/>
                <a:ea typeface="+mn-ea"/>
                <a:cs typeface="+mn-cs"/>
              </a:rPr>
              <a:t>If you are an enterprise founder, a service provider, or an expert, you do not need 1 million followers. You need 10,000 or 50,000 of the </a:t>
            </a:r>
            <a:r>
              <a:rPr lang="en-US" sz="1200" i="1" kern="1200" dirty="0">
                <a:solidFill>
                  <a:schemeClr val="tx1"/>
                </a:solidFill>
                <a:effectLst/>
                <a:latin typeface="+mn-lt"/>
                <a:ea typeface="+mn-ea"/>
                <a:cs typeface="+mn-cs"/>
              </a:rPr>
              <a:t>right</a:t>
            </a:r>
            <a:r>
              <a:rPr lang="en-US" sz="1200" kern="1200" dirty="0">
                <a:solidFill>
                  <a:schemeClr val="tx1"/>
                </a:solidFill>
                <a:effectLst/>
                <a:latin typeface="+mn-lt"/>
                <a:ea typeface="+mn-ea"/>
                <a:cs typeface="+mn-cs"/>
              </a:rPr>
              <a:t> followers who view you as the authority in your space. That is how you turn an audience into an engine that generates sustainable revenue.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3</a:t>
            </a:fld>
            <a:endParaRPr lang="en-US"/>
          </a:p>
        </p:txBody>
      </p:sp>
    </p:spTree>
    <p:extLst>
      <p:ext uri="{BB962C8B-B14F-4D97-AF65-F5344CB8AC3E}">
        <p14:creationId xmlns:p14="http://schemas.microsoft.com/office/powerpoint/2010/main" val="1612652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 me present the single biggest structural mistake people make when launching a content channel. Look at </a:t>
            </a:r>
            <a:r>
              <a:rPr lang="en-US" sz="1200" b="1" kern="1200" dirty="0">
                <a:solidFill>
                  <a:schemeClr val="tx1"/>
                </a:solidFill>
                <a:effectLst/>
                <a:latin typeface="+mn-lt"/>
                <a:ea typeface="+mn-ea"/>
                <a:cs typeface="+mn-cs"/>
              </a:rPr>
              <a:t>Slide 4: The Root Variables of Business</a:t>
            </a:r>
            <a:r>
              <a:rPr lang="en-US" sz="1200" kern="1200" dirty="0">
                <a:solidFill>
                  <a:schemeClr val="tx1"/>
                </a:solidFill>
                <a:effectLst/>
                <a:latin typeface="+mn-lt"/>
                <a:ea typeface="+mn-ea"/>
                <a:cs typeface="+mn-cs"/>
              </a:rPr>
              <a:t>. Most creators start on the far left: they start producing traffic (content) first, without ever establishing their funnel or their offer. </a:t>
            </a:r>
          </a:p>
          <a:p>
            <a:pPr lvl="0"/>
            <a:r>
              <a:rPr lang="en-US" sz="1200" kern="1200" dirty="0">
                <a:solidFill>
                  <a:schemeClr val="tx1"/>
                </a:solidFill>
                <a:effectLst/>
                <a:latin typeface="+mn-lt"/>
                <a:ea typeface="+mn-ea"/>
                <a:cs typeface="+mn-cs"/>
              </a:rPr>
              <a:t>Here is the reality: Content is just traffic. If you don't know what you are selling, traffic is completely useless. Sending 100,000 people to a broken page or an undefined product yields $0. </a:t>
            </a:r>
          </a:p>
          <a:p>
            <a:pPr lvl="0"/>
            <a:r>
              <a:rPr lang="en-US" sz="1200" kern="1200" dirty="0">
                <a:solidFill>
                  <a:schemeClr val="tx1"/>
                </a:solidFill>
                <a:effectLst/>
                <a:latin typeface="+mn-lt"/>
                <a:ea typeface="+mn-ea"/>
                <a:cs typeface="+mn-cs"/>
              </a:rPr>
              <a:t>You must build your content architecture from right to left: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Offers (Define First)</a:t>
            </a:r>
            <a:r>
              <a:rPr lang="en-US" sz="1200" kern="1200" dirty="0">
                <a:solidFill>
                  <a:schemeClr val="tx1"/>
                </a:solidFill>
                <a:effectLst/>
                <a:latin typeface="+mn-lt"/>
                <a:ea typeface="+mn-ea"/>
                <a:cs typeface="+mn-cs"/>
              </a:rPr>
              <a:t>: What are you selling? Is it a $10k/month done-for-you service? A specialized consulting package? An enterprise software? You must know the price point, the solution, and the exact buyer before writing a single script.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Funnels (Define Second)</a:t>
            </a:r>
            <a:r>
              <a:rPr lang="en-US" sz="1200" kern="1200" dirty="0">
                <a:solidFill>
                  <a:schemeClr val="tx1"/>
                </a:solidFill>
                <a:effectLst/>
                <a:latin typeface="+mn-lt"/>
                <a:ea typeface="+mn-ea"/>
                <a:cs typeface="+mn-cs"/>
              </a:rPr>
              <a:t>: How do people buy? What is the exact conversion mechanism? Is it a lead magnet that drives people to an email sequence? A direct link to a booking calendar? A direct-response sales page?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Traffic (Build Last)</a:t>
            </a:r>
            <a:r>
              <a:rPr lang="en-US" sz="1200" kern="1200" dirty="0">
                <a:solidFill>
                  <a:schemeClr val="tx1"/>
                </a:solidFill>
                <a:effectLst/>
                <a:latin typeface="+mn-lt"/>
                <a:ea typeface="+mn-ea"/>
                <a:cs typeface="+mn-cs"/>
              </a:rPr>
              <a:t>: Only after the offer and funnel are clear do you build the content engine. Your content's only job is to deliver precise attention into that pre-built funnel.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4</a:t>
            </a:fld>
            <a:endParaRPr lang="en-US"/>
          </a:p>
        </p:txBody>
      </p:sp>
    </p:spTree>
    <p:extLst>
      <p:ext uri="{BB962C8B-B14F-4D97-AF65-F5344CB8AC3E}">
        <p14:creationId xmlns:p14="http://schemas.microsoft.com/office/powerpoint/2010/main" val="2866632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Slide 5 shows </a:t>
            </a:r>
            <a:r>
              <a:rPr lang="en-US" sz="1200" b="1" kern="1200" dirty="0">
                <a:solidFill>
                  <a:schemeClr val="tx1"/>
                </a:solidFill>
                <a:effectLst/>
                <a:latin typeface="+mn-lt"/>
                <a:ea typeface="+mn-ea"/>
                <a:cs typeface="+mn-cs"/>
              </a:rPr>
              <a:t>The Audience Bullseye Builder</a:t>
            </a:r>
            <a:r>
              <a:rPr lang="en-US" sz="1200" kern="1200" dirty="0">
                <a:solidFill>
                  <a:schemeClr val="tx1"/>
                </a:solidFill>
                <a:effectLst/>
                <a:latin typeface="+mn-lt"/>
                <a:ea typeface="+mn-ea"/>
                <a:cs typeface="+mn-cs"/>
              </a:rPr>
              <a:t>—our framework for categorizing target audiences into 5 concentric rings. </a:t>
            </a:r>
          </a:p>
          <a:p>
            <a:pPr lvl="0"/>
            <a:r>
              <a:rPr lang="en-US" sz="1200" kern="1200" dirty="0">
                <a:solidFill>
                  <a:schemeClr val="tx1"/>
                </a:solidFill>
                <a:effectLst/>
                <a:latin typeface="+mn-lt"/>
                <a:ea typeface="+mn-ea"/>
                <a:cs typeface="+mn-cs"/>
              </a:rPr>
              <a:t>To build content that converts, you must map your topic relevance across these five layers: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Ring 5 (Danger Zone - Outer Edge)</a:t>
            </a:r>
            <a:r>
              <a:rPr lang="en-US" sz="1200" kern="1200" dirty="0">
                <a:solidFill>
                  <a:schemeClr val="tx1"/>
                </a:solidFill>
                <a:effectLst/>
                <a:latin typeface="+mn-lt"/>
                <a:ea typeface="+mn-ea"/>
                <a:cs typeface="+mn-cs"/>
              </a:rPr>
              <a:t>: General business or broad money advice (e.g., 'How to make money online'). </a:t>
            </a:r>
            <a:r>
              <a:rPr lang="en-US" sz="1200" i="1" kern="1200" dirty="0">
                <a:solidFill>
                  <a:schemeClr val="tx1"/>
                </a:solidFill>
                <a:effectLst/>
                <a:latin typeface="+mn-lt"/>
                <a:ea typeface="+mn-ea"/>
                <a:cs typeface="+mn-cs"/>
              </a:rPr>
              <a:t>Avoid this ring.</a:t>
            </a:r>
            <a:r>
              <a:rPr lang="en-US" sz="1200" kern="1200" dirty="0">
                <a:solidFill>
                  <a:schemeClr val="tx1"/>
                </a:solidFill>
                <a:effectLst/>
                <a:latin typeface="+mn-lt"/>
                <a:ea typeface="+mn-ea"/>
                <a:cs typeface="+mn-cs"/>
              </a:rPr>
              <a:t> It dilutes your algorithmic data and brings in low-intent, tire-kicker traffic.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Ring 4 (Broad)</a:t>
            </a:r>
            <a:r>
              <a:rPr lang="en-US" sz="1200" kern="1200" dirty="0">
                <a:solidFill>
                  <a:schemeClr val="tx1"/>
                </a:solidFill>
                <a:effectLst/>
                <a:latin typeface="+mn-lt"/>
                <a:ea typeface="+mn-ea"/>
                <a:cs typeface="+mn-cs"/>
              </a:rPr>
              <a:t>: General content creators or short-form video creators. Broad appeal within your industry, useful for top-of-funnel reach.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Ring 3 (Mid)</a:t>
            </a:r>
            <a:r>
              <a:rPr lang="en-US" sz="1200" kern="1200" dirty="0">
                <a:solidFill>
                  <a:schemeClr val="tx1"/>
                </a:solidFill>
                <a:effectLst/>
                <a:latin typeface="+mn-lt"/>
                <a:ea typeface="+mn-ea"/>
                <a:cs typeface="+mn-cs"/>
              </a:rPr>
              <a:t>: Anyone using short-form video or marketing to grow a business.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Ring 2 (Narrow)</a:t>
            </a:r>
            <a:r>
              <a:rPr lang="en-US" sz="1200" kern="1200" dirty="0">
                <a:solidFill>
                  <a:schemeClr val="tx1"/>
                </a:solidFill>
                <a:effectLst/>
                <a:latin typeface="+mn-lt"/>
                <a:ea typeface="+mn-ea"/>
                <a:cs typeface="+mn-cs"/>
              </a:rPr>
              <a:t>: Service business founders using content specifically to drive inbound growth.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Ring 1 (Core Bullseye)</a:t>
            </a:r>
            <a:r>
              <a:rPr lang="en-US" sz="1200" kern="1200" dirty="0">
                <a:solidFill>
                  <a:schemeClr val="tx1"/>
                </a:solidFill>
                <a:effectLst/>
                <a:latin typeface="+mn-lt"/>
                <a:ea typeface="+mn-ea"/>
                <a:cs typeface="+mn-cs"/>
              </a:rPr>
              <a:t>: Service founders making $50k/month who need predictable inbound leads right now. </a:t>
            </a:r>
          </a:p>
          <a:p>
            <a:pPr lvl="0"/>
            <a:r>
              <a:rPr lang="en-US" sz="1200" kern="1200" dirty="0">
                <a:solidFill>
                  <a:schemeClr val="tx1"/>
                </a:solidFill>
                <a:effectLst/>
                <a:latin typeface="+mn-lt"/>
                <a:ea typeface="+mn-ea"/>
                <a:cs typeface="+mn-cs"/>
              </a:rPr>
              <a:t>Notice how as you move inward from Ring 4 to Ring 1, your reach shrinks, but your lead quality and buying intent explode. Understanding these rings is essential for the 3-2-1 content architecture we are about to discuss.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5</a:t>
            </a:fld>
            <a:endParaRPr lang="en-US"/>
          </a:p>
        </p:txBody>
      </p:sp>
    </p:spTree>
    <p:extLst>
      <p:ext uri="{BB962C8B-B14F-4D97-AF65-F5344CB8AC3E}">
        <p14:creationId xmlns:p14="http://schemas.microsoft.com/office/powerpoint/2010/main" val="2102471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let's break down </a:t>
            </a:r>
            <a:r>
              <a:rPr lang="en-US" sz="1200" b="1" kern="1200" dirty="0">
                <a:solidFill>
                  <a:schemeClr val="tx1"/>
                </a:solidFill>
                <a:effectLst/>
                <a:latin typeface="+mn-lt"/>
                <a:ea typeface="+mn-ea"/>
                <a:cs typeface="+mn-cs"/>
              </a:rPr>
              <a:t>Slide 6: The 3-2-1 Content Architecture</a:t>
            </a:r>
            <a:r>
              <a:rPr lang="en-US" sz="1200" kern="1200" dirty="0">
                <a:solidFill>
                  <a:schemeClr val="tx1"/>
                </a:solidFill>
                <a:effectLst/>
                <a:latin typeface="+mn-lt"/>
                <a:ea typeface="+mn-ea"/>
                <a:cs typeface="+mn-cs"/>
              </a:rPr>
              <a:t>—the core framework of this presentation. </a:t>
            </a:r>
          </a:p>
          <a:p>
            <a:pPr lvl="0"/>
            <a:r>
              <a:rPr lang="en-US" sz="1200" kern="1200" dirty="0">
                <a:solidFill>
                  <a:schemeClr val="tx1"/>
                </a:solidFill>
                <a:effectLst/>
                <a:latin typeface="+mn-lt"/>
                <a:ea typeface="+mn-ea"/>
                <a:cs typeface="+mn-cs"/>
              </a:rPr>
              <a:t>To maintain momentum, capture new audience, and convert leads systematically, you publish </a:t>
            </a:r>
            <a:r>
              <a:rPr lang="en-US" sz="1200" b="1" kern="1200" dirty="0">
                <a:solidFill>
                  <a:schemeClr val="tx1"/>
                </a:solidFill>
                <a:effectLst/>
                <a:latin typeface="+mn-lt"/>
                <a:ea typeface="+mn-ea"/>
                <a:cs typeface="+mn-cs"/>
              </a:rPr>
              <a:t>7 videos per week</a:t>
            </a:r>
            <a:r>
              <a:rPr lang="en-US" sz="1200" kern="1200" dirty="0">
                <a:solidFill>
                  <a:schemeClr val="tx1"/>
                </a:solidFill>
                <a:effectLst/>
                <a:latin typeface="+mn-lt"/>
                <a:ea typeface="+mn-ea"/>
                <a:cs typeface="+mn-cs"/>
              </a:rPr>
              <a:t> divided into 3 distinct topic buckets: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 Broad Videos (Ring 4)</a:t>
            </a:r>
            <a:r>
              <a:rPr lang="en-US" sz="1200" kern="1200" dirty="0">
                <a:solidFill>
                  <a:schemeClr val="tx1"/>
                </a:solidFill>
                <a:effectLst/>
                <a:latin typeface="+mn-lt"/>
                <a:ea typeface="+mn-ea"/>
                <a:cs typeface="+mn-cs"/>
              </a:rPr>
              <a:t>: Drawn from your broader topic rings. These videos address common industry concepts designed for step-wise reach, follower growth, and algorithm momentum (targeting 50k–100k+ views).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 Narrow Videos (Rings 2 &amp; 3)</a:t>
            </a:r>
            <a:r>
              <a:rPr lang="en-US" sz="1200" kern="1200" dirty="0">
                <a:solidFill>
                  <a:schemeClr val="tx1"/>
                </a:solidFill>
                <a:effectLst/>
                <a:latin typeface="+mn-lt"/>
                <a:ea typeface="+mn-ea"/>
                <a:cs typeface="+mn-cs"/>
              </a:rPr>
              <a:t>: Deeply specific, technical, or tactical videos aimed directly at your core target avatar. While these may get fewer total views, they build high directional trust and drive the highest rate of lead conversions.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Chaos Agent</a:t>
            </a:r>
            <a:r>
              <a:rPr lang="en-US" sz="1200" kern="1200" dirty="0">
                <a:solidFill>
                  <a:schemeClr val="tx1"/>
                </a:solidFill>
                <a:effectLst/>
                <a:latin typeface="+mn-lt"/>
                <a:ea typeface="+mn-ea"/>
                <a:cs typeface="+mn-cs"/>
              </a:rPr>
              <a:t>: A creative wildcard video each week. This is where you test an unexpected hook, a new storytelling format, or an unproven angle. The Chaos Agent keeps your content from becoming stale and helps discover future high-performing topic buckets. </a:t>
            </a:r>
          </a:p>
          <a:p>
            <a:pPr lvl="0"/>
            <a:r>
              <a:rPr lang="en-US" sz="1200" kern="1200" dirty="0">
                <a:solidFill>
                  <a:schemeClr val="tx1"/>
                </a:solidFill>
                <a:effectLst/>
                <a:latin typeface="+mn-lt"/>
                <a:ea typeface="+mn-ea"/>
                <a:cs typeface="+mn-cs"/>
              </a:rPr>
              <a:t>This 3-2-1 ratio creates a balanced content engine that consistently feeds top-of-funnel discovery while converting bottom-of-funnel leads.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6</a:t>
            </a:fld>
            <a:endParaRPr lang="en-US"/>
          </a:p>
        </p:txBody>
      </p:sp>
    </p:spTree>
    <p:extLst>
      <p:ext uri="{BB962C8B-B14F-4D97-AF65-F5344CB8AC3E}">
        <p14:creationId xmlns:p14="http://schemas.microsoft.com/office/powerpoint/2010/main" val="3934161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objection is: </a:t>
            </a:r>
            <a:r>
              <a:rPr lang="en-US" sz="1200" i="1" kern="1200" dirty="0">
                <a:solidFill>
                  <a:schemeClr val="tx1"/>
                </a:solidFill>
                <a:effectLst/>
                <a:latin typeface="+mn-lt"/>
                <a:ea typeface="+mn-ea"/>
                <a:cs typeface="+mn-cs"/>
              </a:rPr>
              <a:t>'If my narrow videos get lower views, isn't that going to hurt my channel?'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Slide 7 illustrates </a:t>
            </a:r>
            <a:r>
              <a:rPr lang="en-US" sz="1200" b="1" kern="1200" dirty="0">
                <a:solidFill>
                  <a:schemeClr val="tx1"/>
                </a:solidFill>
                <a:effectLst/>
                <a:latin typeface="+mn-lt"/>
                <a:ea typeface="+mn-ea"/>
                <a:cs typeface="+mn-cs"/>
              </a:rPr>
              <a:t>The Catalog Halo Effect</a:t>
            </a:r>
            <a:r>
              <a:rPr lang="en-US" sz="1200" kern="1200" dirty="0">
                <a:solidFill>
                  <a:schemeClr val="tx1"/>
                </a:solidFill>
                <a:effectLst/>
                <a:latin typeface="+mn-lt"/>
                <a:ea typeface="+mn-ea"/>
                <a:cs typeface="+mn-cs"/>
              </a:rPr>
              <a:t>—the mechanism that turns low-view, high-value videos into revenue. You do not need every video to go viral. </a:t>
            </a:r>
          </a:p>
          <a:p>
            <a:pPr lvl="0"/>
            <a:r>
              <a:rPr lang="en-US" sz="1200" b="1" kern="1200" dirty="0">
                <a:solidFill>
                  <a:schemeClr val="tx1"/>
                </a:solidFill>
                <a:effectLst/>
                <a:latin typeface="+mn-lt"/>
                <a:ea typeface="+mn-ea"/>
                <a:cs typeface="+mn-cs"/>
              </a:rPr>
              <a:t>How it works: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kern="1200" dirty="0">
                <a:solidFill>
                  <a:schemeClr val="tx1"/>
                </a:solidFill>
                <a:effectLst/>
                <a:latin typeface="+mn-lt"/>
                <a:ea typeface="+mn-ea"/>
                <a:cs typeface="+mn-cs"/>
              </a:rPr>
              <a:t>When one of your </a:t>
            </a:r>
            <a:r>
              <a:rPr lang="en-US" sz="1200" b="1" kern="1200" dirty="0">
                <a:solidFill>
                  <a:schemeClr val="tx1"/>
                </a:solidFill>
                <a:effectLst/>
                <a:latin typeface="+mn-lt"/>
                <a:ea typeface="+mn-ea"/>
                <a:cs typeface="+mn-cs"/>
              </a:rPr>
              <a:t>Broad Videos</a:t>
            </a:r>
            <a:r>
              <a:rPr lang="en-US" sz="1200" kern="1200" dirty="0">
                <a:solidFill>
                  <a:schemeClr val="tx1"/>
                </a:solidFill>
                <a:effectLst/>
                <a:latin typeface="+mn-lt"/>
                <a:ea typeface="+mn-ea"/>
                <a:cs typeface="+mn-cs"/>
              </a:rPr>
              <a:t> hits and gets algorithmic traction (e.g., 50k+ views), the platform's algorithm begins recommending your profile and back-catalog to those new viewers. </a:t>
            </a:r>
          </a:p>
          <a:p>
            <a:pPr marL="228600" lvl="0" indent="-228600">
              <a:buFont typeface="+mj-lt"/>
              <a:buAutoNum type="arabicPeriod"/>
            </a:pPr>
            <a:r>
              <a:rPr lang="en-US" sz="1200" kern="1200" dirty="0">
                <a:solidFill>
                  <a:schemeClr val="tx1"/>
                </a:solidFill>
                <a:effectLst/>
                <a:latin typeface="+mn-lt"/>
                <a:ea typeface="+mn-ea"/>
                <a:cs typeface="+mn-cs"/>
              </a:rPr>
              <a:t>When high-intent prospects enter your profile, they don't just watch more broad content—they scroll through your </a:t>
            </a:r>
            <a:r>
              <a:rPr lang="en-US" sz="1200" b="1" kern="1200" dirty="0">
                <a:solidFill>
                  <a:schemeClr val="tx1"/>
                </a:solidFill>
                <a:effectLst/>
                <a:latin typeface="+mn-lt"/>
                <a:ea typeface="+mn-ea"/>
                <a:cs typeface="+mn-cs"/>
              </a:rPr>
              <a:t>Narrow Back-Catalog</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Watching 2 or 3 of your hyper-specific, narrow tactical videos builds immediate trust. They realize you possess deep expertise in solving their exact problem. </a:t>
            </a:r>
          </a:p>
          <a:p>
            <a:pPr lvl="0"/>
            <a:r>
              <a:rPr lang="en-US" sz="1200" kern="1200" dirty="0">
                <a:solidFill>
                  <a:schemeClr val="tx1"/>
                </a:solidFill>
                <a:effectLst/>
                <a:latin typeface="+mn-lt"/>
                <a:ea typeface="+mn-ea"/>
                <a:cs typeface="+mn-cs"/>
              </a:rPr>
              <a:t>The broad video gets them through the door; the narrow back-catalog converts them into high-ticket clients.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7</a:t>
            </a:fld>
            <a:endParaRPr lang="en-US"/>
          </a:p>
        </p:txBody>
      </p:sp>
    </p:spTree>
    <p:extLst>
      <p:ext uri="{BB962C8B-B14F-4D97-AF65-F5344CB8AC3E}">
        <p14:creationId xmlns:p14="http://schemas.microsoft.com/office/powerpoint/2010/main" val="1115403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Now let's discuss AI's role in this system. Look at </a:t>
            </a:r>
            <a:r>
              <a:rPr lang="en-US" sz="1200" b="1" kern="1200" dirty="0">
                <a:solidFill>
                  <a:schemeClr val="tx1"/>
                </a:solidFill>
                <a:effectLst/>
                <a:latin typeface="+mn-lt"/>
                <a:ea typeface="+mn-ea"/>
                <a:cs typeface="+mn-cs"/>
              </a:rPr>
              <a:t>Slide 8: AI is a Leverage Machine, Not an Artist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Reality / The Trap</a:t>
            </a:r>
            <a:r>
              <a:rPr lang="en-US" sz="1200" kern="1200" dirty="0">
                <a:solidFill>
                  <a:schemeClr val="tx1"/>
                </a:solidFill>
                <a:effectLst/>
                <a:latin typeface="+mn-lt"/>
                <a:ea typeface="+mn-ea"/>
                <a:cs typeface="+mn-cs"/>
              </a:rPr>
              <a:t>: Fully automated AI video pipelines—where AI generates the script, avatar, voiceover, and editing without human touch—yield 'automated slop.' These videos build zero trust and drive zero revenue. In high-ticket services and B2B sales, buyers purchase based on human authority, lived experience, and genuine opinions. </a:t>
            </a:r>
          </a:p>
          <a:p>
            <a:pPr lvl="0"/>
            <a:r>
              <a:rPr lang="en-US" sz="1200" b="1" kern="1200" dirty="0">
                <a:solidFill>
                  <a:schemeClr val="tx1"/>
                </a:solidFill>
                <a:effectLst/>
                <a:latin typeface="+mn-lt"/>
                <a:ea typeface="+mn-ea"/>
                <a:cs typeface="+mn-cs"/>
              </a:rPr>
              <a:t>The Unlock</a:t>
            </a:r>
            <a:r>
              <a:rPr lang="en-US" sz="1200" kern="1200" dirty="0">
                <a:solidFill>
                  <a:schemeClr val="tx1"/>
                </a:solidFill>
                <a:effectLst/>
                <a:latin typeface="+mn-lt"/>
                <a:ea typeface="+mn-ea"/>
                <a:cs typeface="+mn-cs"/>
              </a:rPr>
              <a:t>: Treat AI as a </a:t>
            </a:r>
            <a:r>
              <a:rPr lang="en-US" sz="1200" b="1" kern="1200" dirty="0">
                <a:solidFill>
                  <a:schemeClr val="tx1"/>
                </a:solidFill>
                <a:effectLst/>
                <a:latin typeface="+mn-lt"/>
                <a:ea typeface="+mn-ea"/>
                <a:cs typeface="+mn-cs"/>
              </a:rPr>
              <a:t>Leverage Machine</a:t>
            </a:r>
            <a:r>
              <a:rPr lang="en-US" sz="1200" kern="1200" dirty="0">
                <a:solidFill>
                  <a:schemeClr val="tx1"/>
                </a:solidFill>
                <a:effectLst/>
                <a:latin typeface="+mn-lt"/>
                <a:ea typeface="+mn-ea"/>
                <a:cs typeface="+mn-cs"/>
              </a:rPr>
              <a:t>. Use AI to unbundle manual tasks, analyze competitor datasets, identify structural hook patterns, and scale your strategic thinking. </a:t>
            </a:r>
          </a:p>
          <a:p>
            <a:pPr lvl="0"/>
            <a:r>
              <a:rPr lang="en-US" sz="1200" kern="1200" dirty="0">
                <a:solidFill>
                  <a:schemeClr val="tx1"/>
                </a:solidFill>
                <a:effectLst/>
                <a:latin typeface="+mn-lt"/>
                <a:ea typeface="+mn-ea"/>
                <a:cs typeface="+mn-cs"/>
              </a:rPr>
              <a:t>AI allows you to compress 10 hours of manual research and guessing into 5 minutes of data-backed execution, leaving you free to focus on authentic delivery.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8</a:t>
            </a:fld>
            <a:endParaRPr lang="en-US"/>
          </a:p>
        </p:txBody>
      </p:sp>
    </p:spTree>
    <p:extLst>
      <p:ext uri="{BB962C8B-B14F-4D97-AF65-F5344CB8AC3E}">
        <p14:creationId xmlns:p14="http://schemas.microsoft.com/office/powerpoint/2010/main" val="1227867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Instead of guessing what topics your audience cares about, use data. </a:t>
            </a:r>
            <a:r>
              <a:rPr lang="en-US" sz="1200" b="1" kern="1200" dirty="0">
                <a:solidFill>
                  <a:schemeClr val="tx1"/>
                </a:solidFill>
                <a:effectLst/>
                <a:latin typeface="+mn-lt"/>
                <a:ea typeface="+mn-ea"/>
                <a:cs typeface="+mn-cs"/>
              </a:rPr>
              <a:t>Slide 9</a:t>
            </a:r>
            <a:r>
              <a:rPr lang="en-US" sz="1200" kern="1200" dirty="0">
                <a:solidFill>
                  <a:schemeClr val="tx1"/>
                </a:solidFill>
                <a:effectLst/>
                <a:latin typeface="+mn-lt"/>
                <a:ea typeface="+mn-ea"/>
                <a:cs typeface="+mn-cs"/>
              </a:rPr>
              <a:t> outlines our 3-step workflow for defining content buckets using competitor analysis: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Watchlist</a:t>
            </a:r>
            <a:r>
              <a:rPr lang="en-US" sz="1200" kern="1200" dirty="0">
                <a:solidFill>
                  <a:schemeClr val="tx1"/>
                </a:solidFill>
                <a:effectLst/>
                <a:latin typeface="+mn-lt"/>
                <a:ea typeface="+mn-ea"/>
                <a:cs typeface="+mn-cs"/>
              </a:rPr>
              <a:t>: Identify 30 micro to medium creators in your exact market niche.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Filter</a:t>
            </a:r>
            <a:r>
              <a:rPr lang="en-US" sz="1200" kern="1200" dirty="0">
                <a:solidFill>
                  <a:schemeClr val="tx1"/>
                </a:solidFill>
                <a:effectLst/>
                <a:latin typeface="+mn-lt"/>
                <a:ea typeface="+mn-ea"/>
                <a:cs typeface="+mn-cs"/>
              </a:rPr>
              <a:t>: Extract their top 100 outlier videos from the last 90 days. Strictly filter out any video with under a </a:t>
            </a:r>
            <a:r>
              <a:rPr lang="en-US" sz="1200" b="1" kern="1200" dirty="0">
                <a:solidFill>
                  <a:schemeClr val="tx1"/>
                </a:solidFill>
                <a:effectLst/>
                <a:latin typeface="+mn-lt"/>
                <a:ea typeface="+mn-ea"/>
                <a:cs typeface="+mn-cs"/>
              </a:rPr>
              <a:t>2% engagement rate</a:t>
            </a:r>
            <a:r>
              <a:rPr lang="en-US" sz="1200" kern="1200" dirty="0">
                <a:solidFill>
                  <a:schemeClr val="tx1"/>
                </a:solidFill>
                <a:effectLst/>
                <a:latin typeface="+mn-lt"/>
                <a:ea typeface="+mn-ea"/>
                <a:cs typeface="+mn-cs"/>
              </a:rPr>
              <a:t> to eliminate bot traffic and artificial inflation.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Cluster</a:t>
            </a:r>
            <a:r>
              <a:rPr lang="en-US" sz="1200" kern="1200" dirty="0">
                <a:solidFill>
                  <a:schemeClr val="tx1"/>
                </a:solidFill>
                <a:effectLst/>
                <a:latin typeface="+mn-lt"/>
                <a:ea typeface="+mn-ea"/>
                <a:cs typeface="+mn-cs"/>
              </a:rPr>
              <a:t>: Export this video dataset into a CSV file and feed it into an LLM (like Claude or ChatGPT). Prompt the AI to group the highest-performing titles and transcripts into the </a:t>
            </a:r>
            <a:r>
              <a:rPr lang="en-US" sz="1200" b="1" kern="1200" dirty="0">
                <a:solidFill>
                  <a:schemeClr val="tx1"/>
                </a:solidFill>
                <a:effectLst/>
                <a:latin typeface="+mn-lt"/>
                <a:ea typeface="+mn-ea"/>
                <a:cs typeface="+mn-cs"/>
              </a:rPr>
              <a:t>top 3 recurring topic buckets</a:t>
            </a:r>
            <a:r>
              <a:rPr lang="en-US" sz="1200" kern="1200" dirty="0">
                <a:solidFill>
                  <a:schemeClr val="tx1"/>
                </a:solidFill>
                <a:effectLst/>
                <a:latin typeface="+mn-lt"/>
                <a:ea typeface="+mn-ea"/>
                <a:cs typeface="+mn-cs"/>
              </a:rPr>
              <a:t> driving real engagement. </a:t>
            </a:r>
          </a:p>
          <a:p>
            <a:pPr lvl="0"/>
            <a:r>
              <a:rPr lang="en-US" sz="1200" kern="1200" dirty="0">
                <a:solidFill>
                  <a:schemeClr val="tx1"/>
                </a:solidFill>
                <a:effectLst/>
                <a:latin typeface="+mn-lt"/>
                <a:ea typeface="+mn-ea"/>
                <a:cs typeface="+mn-cs"/>
              </a:rPr>
              <a:t>This process eliminates creative guesswork and grounds your strategy in proven market demand.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9</a:t>
            </a:fld>
            <a:endParaRPr lang="en-US"/>
          </a:p>
        </p:txBody>
      </p:sp>
    </p:spTree>
    <p:extLst>
      <p:ext uri="{BB962C8B-B14F-4D97-AF65-F5344CB8AC3E}">
        <p14:creationId xmlns:p14="http://schemas.microsoft.com/office/powerpoint/2010/main" val="154369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you are posting content regularly but failing to gain traction, don't guess what's wrong. Use </a:t>
            </a:r>
            <a:r>
              <a:rPr lang="en-US" sz="1200" b="1" kern="1200" dirty="0">
                <a:solidFill>
                  <a:schemeClr val="tx1"/>
                </a:solidFill>
                <a:effectLst/>
                <a:latin typeface="+mn-lt"/>
                <a:ea typeface="+mn-ea"/>
                <a:cs typeface="+mn-cs"/>
              </a:rPr>
              <a:t>Slide 10: The A vs. B Diagnostic Loop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Diagnostic Prompt</a:t>
            </a:r>
            <a:r>
              <a:rPr lang="en-US" sz="1200" kern="1200" dirty="0">
                <a:solidFill>
                  <a:schemeClr val="tx1"/>
                </a:solidFill>
                <a:effectLst/>
                <a:latin typeface="+mn-lt"/>
                <a:ea typeface="+mn-ea"/>
                <a:cs typeface="+mn-cs"/>
              </a:rPr>
              <a:t>: Take 10 transcripts from your underperforming videos and 10 transcripts from a competitor's top-performing outlier videos. Feed both sets into an LLM and ask: </a:t>
            </a:r>
            <a:r>
              <a:rPr lang="en-US" sz="1200" i="1" kern="1200" dirty="0">
                <a:solidFill>
                  <a:schemeClr val="tx1"/>
                </a:solidFill>
                <a:effectLst/>
                <a:latin typeface="+mn-lt"/>
                <a:ea typeface="+mn-ea"/>
                <a:cs typeface="+mn-cs"/>
              </a:rPr>
              <a:t>'Identify the hidden structural and phrasing differences between Group A (underperforming) and Group B (winning).' =</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Sample Output Insights</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might discover your scripts run over 120 seconds with slow intros, whereas winning videos establish their hook within the first 3 seconds.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might find competitors use specific power words or direct problem statements, while your scripts use passive or general language. </a:t>
            </a:r>
          </a:p>
          <a:p>
            <a:pPr lvl="0"/>
            <a:r>
              <a:rPr lang="en-US" sz="1200" kern="1200" dirty="0">
                <a:solidFill>
                  <a:schemeClr val="tx1"/>
                </a:solidFill>
                <a:effectLst/>
                <a:latin typeface="+mn-lt"/>
                <a:ea typeface="+mn-ea"/>
                <a:cs typeface="+mn-cs"/>
              </a:rPr>
              <a:t>This simple diagnostic loop gives you immediate, actionable feedback to fix your content.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10</a:t>
            </a:fld>
            <a:endParaRPr lang="en-US"/>
          </a:p>
        </p:txBody>
      </p:sp>
    </p:spTree>
    <p:extLst>
      <p:ext uri="{BB962C8B-B14F-4D97-AF65-F5344CB8AC3E}">
        <p14:creationId xmlns:p14="http://schemas.microsoft.com/office/powerpoint/2010/main" val="1347273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first 3 seconds of a short-form video determine whether a viewer stays or scrolls. </a:t>
            </a:r>
            <a:r>
              <a:rPr lang="en-US" sz="1200" b="1" kern="1200" dirty="0">
                <a:solidFill>
                  <a:schemeClr val="tx1"/>
                </a:solidFill>
                <a:effectLst/>
                <a:latin typeface="+mn-lt"/>
                <a:ea typeface="+mn-ea"/>
                <a:cs typeface="+mn-cs"/>
              </a:rPr>
              <a:t>Slide 11</a:t>
            </a:r>
            <a:r>
              <a:rPr lang="en-US" sz="1200" kern="1200" dirty="0">
                <a:solidFill>
                  <a:schemeClr val="tx1"/>
                </a:solidFill>
                <a:effectLst/>
                <a:latin typeface="+mn-lt"/>
                <a:ea typeface="+mn-ea"/>
                <a:cs typeface="+mn-cs"/>
              </a:rPr>
              <a:t> breaks down the </a:t>
            </a:r>
            <a:r>
              <a:rPr lang="en-US" sz="1200" b="1" kern="1200" dirty="0">
                <a:solidFill>
                  <a:schemeClr val="tx1"/>
                </a:solidFill>
                <a:effectLst/>
                <a:latin typeface="+mn-lt"/>
                <a:ea typeface="+mn-ea"/>
                <a:cs typeface="+mn-cs"/>
              </a:rPr>
              <a:t>3 Layers of an Engineered Hook</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1: The Text Hook (Visual Text)</a:t>
            </a:r>
            <a:r>
              <a:rPr lang="en-US" sz="1200" kern="1200" dirty="0">
                <a:solidFill>
                  <a:schemeClr val="tx1"/>
                </a:solidFill>
                <a:effectLst/>
                <a:latin typeface="+mn-lt"/>
                <a:ea typeface="+mn-ea"/>
                <a:cs typeface="+mn-cs"/>
              </a:rPr>
              <a:t>: This is where the viewer's eyes go first. On-screen text must be concise, punchy, and instantly readable. Misalignment between visual text and audio is a common reason viewers scroll away.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2: The Spoken Hook (Audio Script)</a:t>
            </a:r>
            <a:r>
              <a:rPr lang="en-US" sz="1200" kern="1200" dirty="0">
                <a:solidFill>
                  <a:schemeClr val="tx1"/>
                </a:solidFill>
                <a:effectLst/>
                <a:latin typeface="+mn-lt"/>
                <a:ea typeface="+mn-ea"/>
                <a:cs typeface="+mn-cs"/>
              </a:rPr>
              <a:t>: The opening sentence delivered verbally. It must immediately fulfill the promise made by the visual text hook.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3: The Visual Hook (On-Screen Action / Movement)</a:t>
            </a:r>
            <a:r>
              <a:rPr lang="en-US" sz="1200" kern="1200" dirty="0">
                <a:solidFill>
                  <a:schemeClr val="tx1"/>
                </a:solidFill>
                <a:effectLst/>
                <a:latin typeface="+mn-lt"/>
                <a:ea typeface="+mn-ea"/>
                <a:cs typeface="+mn-cs"/>
              </a:rPr>
              <a:t>: On-screen movement, direct eye contact, or relevant B-roll that resets viewer attention within the first second. </a:t>
            </a:r>
          </a:p>
          <a:p>
            <a:pPr lvl="0"/>
            <a:r>
              <a:rPr lang="en-US" sz="1200" kern="1200" dirty="0">
                <a:solidFill>
                  <a:schemeClr val="tx1"/>
                </a:solidFill>
                <a:effectLst/>
                <a:latin typeface="+mn-lt"/>
                <a:ea typeface="+mn-ea"/>
                <a:cs typeface="+mn-cs"/>
              </a:rPr>
              <a:t>When all three layers work together, you significantly increase your viewer retention rates. </a:t>
            </a:r>
          </a:p>
          <a:p>
            <a:r>
              <a:rPr lang="en-US" sz="1200" b="1" kern="1200" dirty="0">
                <a:solidFill>
                  <a:schemeClr val="tx1"/>
                </a:solidFill>
                <a:effectLst/>
                <a:latin typeface="+mn-lt"/>
                <a:ea typeface="+mn-ea"/>
                <a:cs typeface="+mn-cs"/>
              </a:rPr>
              <a:t>Slide 12: Hook Engineering &amp;</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11</a:t>
            </a:fld>
            <a:endParaRPr lang="en-US"/>
          </a:p>
        </p:txBody>
      </p:sp>
    </p:spTree>
    <p:extLst>
      <p:ext uri="{BB962C8B-B14F-4D97-AF65-F5344CB8AC3E}">
        <p14:creationId xmlns:p14="http://schemas.microsoft.com/office/powerpoint/2010/main" val="874690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Slide 12 illustrates the evolution of hook writing—from basic template copying to advanced AI power-word engineering: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1: Clunky Swapping</a:t>
            </a:r>
            <a:r>
              <a:rPr lang="en-US" sz="1200" kern="1200" dirty="0">
                <a:solidFill>
                  <a:schemeClr val="tx1"/>
                </a:solidFill>
                <a:effectLst/>
                <a:latin typeface="+mn-lt"/>
                <a:ea typeface="+mn-ea"/>
                <a:cs typeface="+mn-cs"/>
              </a:rPr>
              <a:t>: Taking generic templates (e.g., 'How to turn X into Y') and replacing words blindly. This often yields unnatural phrasing that performs poorly.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2: Power Words</a:t>
            </a:r>
            <a:r>
              <a:rPr lang="en-US" sz="1200" kern="1200" dirty="0">
                <a:solidFill>
                  <a:schemeClr val="tx1"/>
                </a:solidFill>
                <a:effectLst/>
                <a:latin typeface="+mn-lt"/>
                <a:ea typeface="+mn-ea"/>
                <a:cs typeface="+mn-cs"/>
              </a:rPr>
              <a:t>: Identifying psychological triggers specific to your niche (e.g., phrasing like </a:t>
            </a:r>
            <a:r>
              <a:rPr lang="en-US" sz="1200" i="1" kern="1200" dirty="0">
                <a:solidFill>
                  <a:schemeClr val="tx1"/>
                </a:solidFill>
                <a:effectLst/>
                <a:latin typeface="+mn-lt"/>
                <a:ea typeface="+mn-ea"/>
                <a:cs typeface="+mn-cs"/>
              </a:rPr>
              <a:t>'Scientifically impossible to skip'</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'Diabolical strategy'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3: AI Remixing</a:t>
            </a:r>
            <a:r>
              <a:rPr lang="en-US" sz="1200" kern="1200" dirty="0">
                <a:solidFill>
                  <a:schemeClr val="tx1"/>
                </a:solidFill>
                <a:effectLst/>
                <a:latin typeface="+mn-lt"/>
                <a:ea typeface="+mn-ea"/>
                <a:cs typeface="+mn-cs"/>
              </a:rPr>
              <a:t>: Extracting top competitor power words using an LLM and generating 10 unique, non-derivative variations tailored to your specific offers. </a:t>
            </a:r>
          </a:p>
          <a:p>
            <a:pPr lvl="0"/>
            <a:r>
              <a:rPr lang="en-US" sz="1200" kern="1200" dirty="0">
                <a:solidFill>
                  <a:schemeClr val="tx1"/>
                </a:solidFill>
                <a:effectLst/>
                <a:latin typeface="+mn-lt"/>
                <a:ea typeface="+mn-ea"/>
                <a:cs typeface="+mn-cs"/>
              </a:rPr>
              <a:t>Mastering Level 3 allows you to produce high-converting hooks quickly without sounding derivative.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12</a:t>
            </a:fld>
            <a:endParaRPr lang="en-US"/>
          </a:p>
        </p:txBody>
      </p:sp>
    </p:spTree>
    <p:extLst>
      <p:ext uri="{BB962C8B-B14F-4D97-AF65-F5344CB8AC3E}">
        <p14:creationId xmlns:p14="http://schemas.microsoft.com/office/powerpoint/2010/main" val="347729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ensure your content strategy stays on track, you must measure the right variables. </a:t>
            </a:r>
            <a:r>
              <a:rPr lang="en-US" sz="1200" b="1" kern="1200" dirty="0">
                <a:solidFill>
                  <a:schemeClr val="tx1"/>
                </a:solidFill>
                <a:effectLst/>
                <a:latin typeface="+mn-lt"/>
                <a:ea typeface="+mn-ea"/>
                <a:cs typeface="+mn-cs"/>
              </a:rPr>
              <a:t>Slide 13</a:t>
            </a:r>
            <a:r>
              <a:rPr lang="en-US" sz="1200" kern="1200" dirty="0">
                <a:solidFill>
                  <a:schemeClr val="tx1"/>
                </a:solidFill>
                <a:effectLst/>
                <a:latin typeface="+mn-lt"/>
                <a:ea typeface="+mn-ea"/>
                <a:cs typeface="+mn-cs"/>
              </a:rPr>
              <a:t> outlines our 3-Tier Metric Pyramid: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1: Views (Weak)</a:t>
            </a:r>
            <a:r>
              <a:rPr lang="en-US" sz="1200" kern="1200" dirty="0">
                <a:solidFill>
                  <a:schemeClr val="tx1"/>
                </a:solidFill>
                <a:effectLst/>
                <a:latin typeface="+mn-lt"/>
                <a:ea typeface="+mn-ea"/>
                <a:cs typeface="+mn-cs"/>
              </a:rPr>
              <a:t>: High view counts feel good, but they do not guarantee audience alignment or predictable revenue.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2: Followers Gained (Strong)</a:t>
            </a:r>
            <a:r>
              <a:rPr lang="en-US" sz="1200" kern="1200" dirty="0">
                <a:solidFill>
                  <a:schemeClr val="tx1"/>
                </a:solidFill>
                <a:effectLst/>
                <a:latin typeface="+mn-lt"/>
                <a:ea typeface="+mn-ea"/>
                <a:cs typeface="+mn-cs"/>
              </a:rPr>
              <a:t>: Tracking follower growth shows that your bio and profile act as an effective filter for your target avatar.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Tier 3: Conversions (Ultimate Metric)</a:t>
            </a:r>
            <a:r>
              <a:rPr lang="en-US" sz="1200" kern="1200" dirty="0">
                <a:solidFill>
                  <a:schemeClr val="tx1"/>
                </a:solidFill>
                <a:effectLst/>
                <a:latin typeface="+mn-lt"/>
                <a:ea typeface="+mn-ea"/>
                <a:cs typeface="+mn-cs"/>
              </a:rPr>
              <a:t>: The number of leads requesting your lead magnets, booking calls, or opting into your sales funnel. This confirms you are attracting buyers who want your core offer. </a:t>
            </a:r>
          </a:p>
          <a:p>
            <a:pPr lvl="0"/>
            <a:r>
              <a:rPr lang="en-US" sz="1200" kern="1200" dirty="0">
                <a:solidFill>
                  <a:schemeClr val="tx1"/>
                </a:solidFill>
                <a:effectLst/>
                <a:latin typeface="+mn-lt"/>
                <a:ea typeface="+mn-ea"/>
                <a:cs typeface="+mn-cs"/>
              </a:rPr>
              <a:t>Evaluate your content performance primarily against Tier 3 metrics.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13</a:t>
            </a:fld>
            <a:endParaRPr lang="en-US"/>
          </a:p>
        </p:txBody>
      </p:sp>
    </p:spTree>
    <p:extLst>
      <p:ext uri="{BB962C8B-B14F-4D97-AF65-F5344CB8AC3E}">
        <p14:creationId xmlns:p14="http://schemas.microsoft.com/office/powerpoint/2010/main" val="241954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social media bio functions as a landing page. If your bio is confusing or vague, your traffic engine won't convert. </a:t>
            </a:r>
            <a:r>
              <a:rPr lang="en-US" sz="1200" b="1" kern="1200" dirty="0">
                <a:solidFill>
                  <a:schemeClr val="tx1"/>
                </a:solidFill>
                <a:effectLst/>
                <a:latin typeface="+mn-lt"/>
                <a:ea typeface="+mn-ea"/>
                <a:cs typeface="+mn-cs"/>
              </a:rPr>
              <a:t>Slide 14</a:t>
            </a:r>
            <a:r>
              <a:rPr lang="en-US" sz="1200" kern="1200" dirty="0">
                <a:solidFill>
                  <a:schemeClr val="tx1"/>
                </a:solidFill>
                <a:effectLst/>
                <a:latin typeface="+mn-lt"/>
                <a:ea typeface="+mn-ea"/>
                <a:cs typeface="+mn-cs"/>
              </a:rPr>
              <a:t> presents </a:t>
            </a:r>
            <a:r>
              <a:rPr lang="en-US" sz="1200" b="1" kern="1200" dirty="0">
                <a:solidFill>
                  <a:schemeClr val="tx1"/>
                </a:solidFill>
                <a:effectLst/>
                <a:latin typeface="+mn-lt"/>
                <a:ea typeface="+mn-ea"/>
                <a:cs typeface="+mn-cs"/>
              </a:rPr>
              <a:t>The Golden Bio Formula</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Line 1 (Target Authority)</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 help [Avatar] achieve [Outcome] with [System].'</a:t>
            </a:r>
            <a:r>
              <a:rPr lang="en-US" sz="1200" kern="1200" dirty="0">
                <a:solidFill>
                  <a:schemeClr val="tx1"/>
                </a:solidFill>
                <a:effectLst/>
                <a:latin typeface="+mn-lt"/>
                <a:ea typeface="+mn-ea"/>
                <a:cs typeface="+mn-cs"/>
              </a:rPr>
              <a:t> State clearly who you help and how.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Line 2 (Credibility)</a:t>
            </a:r>
            <a:r>
              <a:rPr lang="en-US" sz="1200" kern="1200" dirty="0">
                <a:solidFill>
                  <a:schemeClr val="tx1"/>
                </a:solidFill>
                <a:effectLst/>
                <a:latin typeface="+mn-lt"/>
                <a:ea typeface="+mn-ea"/>
                <a:cs typeface="+mn-cs"/>
              </a:rPr>
              <a:t>: Provide a clear social proof point or achievement (e.g., </a:t>
            </a:r>
            <a:r>
              <a:rPr lang="en-US" sz="1200" i="1" kern="1200" dirty="0">
                <a:solidFill>
                  <a:schemeClr val="tx1"/>
                </a:solidFill>
                <a:effectLst/>
                <a:latin typeface="+mn-lt"/>
                <a:ea typeface="+mn-ea"/>
                <a:cs typeface="+mn-cs"/>
              </a:rPr>
              <a:t>'Generated $100M'</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'Built [Software]'</a:t>
            </a:r>
            <a:r>
              <a:rPr lang="en-US" sz="1200" kern="1200" dirty="0">
                <a:solidFill>
                  <a:schemeClr val="tx1"/>
                </a:solidFill>
                <a:effectLst/>
                <a:latin typeface="+mn-lt"/>
                <a:ea typeface="+mn-ea"/>
                <a:cs typeface="+mn-cs"/>
              </a:rPr>
              <a:t> ) to establish immediate authority.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Line 3 (Single Call to Action)</a:t>
            </a:r>
            <a:r>
              <a:rPr lang="en-US" sz="1200" kern="1200" dirty="0">
                <a:solidFill>
                  <a:schemeClr val="tx1"/>
                </a:solidFill>
                <a:effectLst/>
                <a:latin typeface="+mn-lt"/>
                <a:ea typeface="+mn-ea"/>
                <a:cs typeface="+mn-cs"/>
              </a:rPr>
              <a:t>: Provide a single link pointing directly to your primary lead magnet or sales funnel. Avoid multi-link trees, which create decision fatigue and lower conversion rates.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14</a:t>
            </a:fld>
            <a:endParaRPr lang="en-US"/>
          </a:p>
        </p:txBody>
      </p:sp>
    </p:spTree>
    <p:extLst>
      <p:ext uri="{BB962C8B-B14F-4D97-AF65-F5344CB8AC3E}">
        <p14:creationId xmlns:p14="http://schemas.microsoft.com/office/powerpoint/2010/main" val="3574920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your operational roadmap for the next 48 hours: </a:t>
            </a:r>
          </a:p>
          <a:p>
            <a:pPr marL="228600" lvl="0" indent="-228600">
              <a:buFont typeface="+mj-lt"/>
              <a:buAutoNum type="arabicPeriod"/>
            </a:pPr>
            <a:r>
              <a:rPr lang="en-US" sz="1200" b="1" kern="1200" dirty="0">
                <a:solidFill>
                  <a:schemeClr val="tx1"/>
                </a:solidFill>
                <a:effectLst/>
                <a:latin typeface="+mn-lt"/>
                <a:ea typeface="+mn-ea"/>
                <a:cs typeface="+mn-cs"/>
              </a:rPr>
              <a:t>Define The Root</a:t>
            </a:r>
            <a:r>
              <a:rPr lang="en-US" sz="1200" kern="1200" dirty="0">
                <a:solidFill>
                  <a:schemeClr val="tx1"/>
                </a:solidFill>
                <a:effectLst/>
                <a:latin typeface="+mn-lt"/>
                <a:ea typeface="+mn-ea"/>
                <a:cs typeface="+mn-cs"/>
              </a:rPr>
              <a:t>: Clarify your core offer and map out your 5-Ring Audience Bullseye. </a:t>
            </a:r>
          </a:p>
          <a:p>
            <a:pPr marL="228600" lvl="0" indent="-228600">
              <a:buFont typeface="+mj-lt"/>
              <a:buAutoNum type="arabicPeriod"/>
            </a:pPr>
            <a:r>
              <a:rPr lang="en-US" sz="1200" b="1" kern="1200" dirty="0">
                <a:solidFill>
                  <a:schemeClr val="tx1"/>
                </a:solidFill>
                <a:effectLst/>
                <a:latin typeface="+mn-lt"/>
                <a:ea typeface="+mn-ea"/>
                <a:cs typeface="+mn-cs"/>
              </a:rPr>
              <a:t>Gather The Data</a:t>
            </a:r>
            <a:r>
              <a:rPr lang="en-US" sz="1200" kern="1200" dirty="0">
                <a:solidFill>
                  <a:schemeClr val="tx1"/>
                </a:solidFill>
                <a:effectLst/>
                <a:latin typeface="+mn-lt"/>
                <a:ea typeface="+mn-ea"/>
                <a:cs typeface="+mn-cs"/>
              </a:rPr>
              <a:t>: Build a watchlist of top creators in your niche and export their top-performing video datasets. </a:t>
            </a:r>
          </a:p>
          <a:p>
            <a:pPr marL="228600" lvl="0" indent="-228600">
              <a:buFont typeface="+mj-lt"/>
              <a:buAutoNum type="arabicPeriod"/>
            </a:pPr>
            <a:r>
              <a:rPr lang="en-US" sz="1200" b="1" kern="1200" dirty="0">
                <a:solidFill>
                  <a:schemeClr val="tx1"/>
                </a:solidFill>
                <a:effectLst/>
                <a:latin typeface="+mn-lt"/>
                <a:ea typeface="+mn-ea"/>
                <a:cs typeface="+mn-cs"/>
              </a:rPr>
              <a:t>Extract The Logic</a:t>
            </a:r>
            <a:r>
              <a:rPr lang="en-US" sz="1200" kern="1200" dirty="0">
                <a:solidFill>
                  <a:schemeClr val="tx1"/>
                </a:solidFill>
                <a:effectLst/>
                <a:latin typeface="+mn-lt"/>
                <a:ea typeface="+mn-ea"/>
                <a:cs typeface="+mn-cs"/>
              </a:rPr>
              <a:t>: Use AI to analyze the data, identify your top 3 topic buckets, and extract proven power words. </a:t>
            </a:r>
          </a:p>
          <a:p>
            <a:pPr marL="228600" lvl="0" indent="-228600">
              <a:buFont typeface="+mj-lt"/>
              <a:buAutoNum type="arabicPeriod"/>
            </a:pPr>
            <a:r>
              <a:rPr lang="en-US" sz="1200" b="1" kern="1200" dirty="0">
                <a:solidFill>
                  <a:schemeClr val="tx1"/>
                </a:solidFill>
                <a:effectLst/>
                <a:latin typeface="+mn-lt"/>
                <a:ea typeface="+mn-ea"/>
                <a:cs typeface="+mn-cs"/>
              </a:rPr>
              <a:t>Execute The System</a:t>
            </a:r>
            <a:r>
              <a:rPr lang="en-US" sz="1200" kern="1200" dirty="0">
                <a:solidFill>
                  <a:schemeClr val="tx1"/>
                </a:solidFill>
                <a:effectLst/>
                <a:latin typeface="+mn-lt"/>
                <a:ea typeface="+mn-ea"/>
                <a:cs typeface="+mn-cs"/>
              </a:rPr>
              <a:t>: Script, record, and post your first 7 videos using the 3-2-1 distribution ratio, then let the performance data guide week two.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15</a:t>
            </a:fld>
            <a:endParaRPr lang="en-US"/>
          </a:p>
        </p:txBody>
      </p:sp>
    </p:spTree>
    <p:extLst>
      <p:ext uri="{BB962C8B-B14F-4D97-AF65-F5344CB8AC3E}">
        <p14:creationId xmlns:p14="http://schemas.microsoft.com/office/powerpoint/2010/main" val="1237426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wrap up, let's review the outcome of applying this framework on </a:t>
            </a:r>
            <a:r>
              <a:rPr lang="en-US" sz="1200" b="1" kern="1200" dirty="0">
                <a:solidFill>
                  <a:schemeClr val="tx1"/>
                </a:solidFill>
                <a:effectLst/>
                <a:latin typeface="+mn-lt"/>
                <a:ea typeface="+mn-ea"/>
                <a:cs typeface="+mn-cs"/>
              </a:rPr>
              <a:t>Slide 16</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By shifting from a broad reach strategy to precision AI-driven targeting, this framework generated </a:t>
            </a:r>
            <a:r>
              <a:rPr lang="en-US" sz="1200" b="1" kern="1200" dirty="0">
                <a:solidFill>
                  <a:schemeClr val="tx1"/>
                </a:solidFill>
                <a:effectLst/>
                <a:latin typeface="+mn-lt"/>
                <a:ea typeface="+mn-ea"/>
                <a:cs typeface="+mn-cs"/>
              </a:rPr>
              <a:t>$100,000 in 82 days</a:t>
            </a:r>
            <a:r>
              <a:rPr lang="en-US" sz="1200" kern="1200" dirty="0">
                <a:solidFill>
                  <a:schemeClr val="tx1"/>
                </a:solidFill>
                <a:effectLst/>
                <a:latin typeface="+mn-lt"/>
                <a:ea typeface="+mn-ea"/>
                <a:cs typeface="+mn-cs"/>
              </a:rPr>
              <a:t>. This was achieved through </a:t>
            </a:r>
            <a:r>
              <a:rPr lang="en-US" sz="1200" b="1" kern="1200" dirty="0">
                <a:solidFill>
                  <a:schemeClr val="tx1"/>
                </a:solidFill>
                <a:effectLst/>
                <a:latin typeface="+mn-lt"/>
                <a:ea typeface="+mn-ea"/>
                <a:cs typeface="+mn-cs"/>
              </a:rPr>
              <a:t>20,000 targeted email signups</a:t>
            </a:r>
            <a:r>
              <a:rPr lang="en-US" sz="1200" kern="1200" dirty="0">
                <a:solidFill>
                  <a:schemeClr val="tx1"/>
                </a:solidFill>
                <a:effectLst/>
                <a:latin typeface="+mn-lt"/>
                <a:ea typeface="+mn-ea"/>
                <a:cs typeface="+mn-cs"/>
              </a:rPr>
              <a:t>, despite having zero videos cross 1 million views. </a:t>
            </a:r>
          </a:p>
          <a:p>
            <a:pPr lvl="0"/>
            <a:r>
              <a:rPr lang="en-US" sz="1200" kern="1200" dirty="0">
                <a:solidFill>
                  <a:schemeClr val="tx1"/>
                </a:solidFill>
                <a:effectLst/>
                <a:latin typeface="+mn-lt"/>
                <a:ea typeface="+mn-ea"/>
                <a:cs typeface="+mn-cs"/>
              </a:rPr>
              <a:t>This outcome illustrates the difference between chasing general virality and building a structured conversion engine. Focus on audience precision, leverage AI for research and script optimization, and execute the 3-2-1 content framework consistently. </a:t>
            </a:r>
          </a:p>
          <a:p>
            <a:pPr lvl="0"/>
            <a:r>
              <a:rPr lang="en-US" sz="1200" kern="1200" dirty="0">
                <a:solidFill>
                  <a:schemeClr val="tx1"/>
                </a:solidFill>
                <a:effectLst/>
                <a:latin typeface="+mn-lt"/>
                <a:ea typeface="+mn-ea"/>
                <a:cs typeface="+mn-cs"/>
              </a:rPr>
              <a:t>Thank you for your time. Let's move into Q&amp;A. </a:t>
            </a:r>
          </a:p>
          <a:p>
            <a:endParaRPr lang="en-US" dirty="0"/>
          </a:p>
        </p:txBody>
      </p:sp>
      <p:sp>
        <p:nvSpPr>
          <p:cNvPr id="4" name="Slide Number Placeholder 3"/>
          <p:cNvSpPr>
            <a:spLocks noGrp="1"/>
          </p:cNvSpPr>
          <p:nvPr>
            <p:ph type="sldNum" sz="quarter" idx="5"/>
          </p:nvPr>
        </p:nvSpPr>
        <p:spPr/>
        <p:txBody>
          <a:bodyPr/>
          <a:lstStyle/>
          <a:p>
            <a:fld id="{F80F17F2-E51A-4E65-8FC1-3739D389ACC4}" type="slidenum">
              <a:rPr lang="en-US" smtClean="0"/>
              <a:t>16</a:t>
            </a:fld>
            <a:endParaRPr lang="en-US"/>
          </a:p>
        </p:txBody>
      </p:sp>
    </p:spTree>
    <p:extLst>
      <p:ext uri="{BB962C8B-B14F-4D97-AF65-F5344CB8AC3E}">
        <p14:creationId xmlns:p14="http://schemas.microsoft.com/office/powerpoint/2010/main" val="3587216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AEB881-EE42-9895-1451-74E902B84669}"/>
              </a:ext>
            </a:extLst>
          </p:cNvPr>
          <p:cNvSpPr>
            <a:spLocks noGrp="1"/>
          </p:cNvSpPr>
          <p:nvPr>
            <p:ph type="dt" sz="half" idx="10"/>
          </p:nvPr>
        </p:nvSpPr>
        <p:spPr/>
        <p:txBody>
          <a:bodyPr/>
          <a:lstStyle/>
          <a:p>
            <a:fld id="{0BC45085-1739-4266-83BB-1F8E93F2C7FB}" type="datetimeFigureOut">
              <a:rPr lang="en-US" smtClean="0"/>
              <a:t>10/21/2026</a:t>
            </a:fld>
            <a:endParaRPr lang="en-US"/>
          </a:p>
        </p:txBody>
      </p:sp>
      <p:sp>
        <p:nvSpPr>
          <p:cNvPr id="3" name="Footer Placeholder 2">
            <a:extLst>
              <a:ext uri="{FF2B5EF4-FFF2-40B4-BE49-F238E27FC236}">
                <a16:creationId xmlns:a16="http://schemas.microsoft.com/office/drawing/2014/main" id="{2A4986EE-B6FC-9E7B-C94D-61A3318D4C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2C33AA-9662-DAC7-7CFB-CEB9FDEC02B9}"/>
              </a:ext>
            </a:extLst>
          </p:cNvPr>
          <p:cNvSpPr>
            <a:spLocks noGrp="1"/>
          </p:cNvSpPr>
          <p:nvPr>
            <p:ph type="sldNum" sz="quarter" idx="12"/>
          </p:nvPr>
        </p:nvSpPr>
        <p:spPr/>
        <p:txBody>
          <a:bodyPr/>
          <a:lstStyle/>
          <a:p>
            <a:fld id="{F49249F0-7404-4904-8097-B4D0F19FC4E2}" type="slidenum">
              <a:rPr lang="en-US" smtClean="0"/>
              <a:t>‹#›</a:t>
            </a:fld>
            <a:endParaRPr lang="en-US"/>
          </a:p>
        </p:txBody>
      </p:sp>
    </p:spTree>
    <p:extLst>
      <p:ext uri="{BB962C8B-B14F-4D97-AF65-F5344CB8AC3E}">
        <p14:creationId xmlns:p14="http://schemas.microsoft.com/office/powerpoint/2010/main" val="27306611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31C27-556E-6804-631C-A86C49AA4B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9F340E-51AA-92B2-43C6-A716F0721C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DB6D8-D45A-88D9-653A-17660B42C9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C45085-1739-4266-83BB-1F8E93F2C7FB}" type="datetimeFigureOut">
              <a:rPr lang="en-US" smtClean="0"/>
              <a:t>10/21/2026</a:t>
            </a:fld>
            <a:endParaRPr lang="en-US"/>
          </a:p>
        </p:txBody>
      </p:sp>
      <p:sp>
        <p:nvSpPr>
          <p:cNvPr id="5" name="Footer Placeholder 4">
            <a:extLst>
              <a:ext uri="{FF2B5EF4-FFF2-40B4-BE49-F238E27FC236}">
                <a16:creationId xmlns:a16="http://schemas.microsoft.com/office/drawing/2014/main" id="{EA609E8C-242D-08A5-D934-2332DDF9BF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32622A-4711-EBE8-1CF7-391D66C0FA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9249F0-7404-4904-8097-B4D0F19FC4E2}" type="slidenum">
              <a:rPr lang="en-US" smtClean="0"/>
              <a:t>‹#›</a:t>
            </a:fld>
            <a:endParaRPr lang="en-US"/>
          </a:p>
        </p:txBody>
      </p:sp>
    </p:spTree>
    <p:extLst>
      <p:ext uri="{BB962C8B-B14F-4D97-AF65-F5344CB8AC3E}">
        <p14:creationId xmlns:p14="http://schemas.microsoft.com/office/powerpoint/2010/main" val="238977527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C9F3E3-60D0-6735-136C-566B47B8D7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B48D72-2026-DD2D-DA13-90BD876052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FA7D87-B289-6C74-1073-907B4C1AA87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9350A3-3912-1900-296F-25855D4348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F262BB-A465-33A6-B68D-65E1E9F93F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AF51FA-49DF-EA83-7EB6-E10F00CE49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4E781A-D5B9-D8AB-7ABE-8034B4B5B9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41EB29-CB68-A794-0D1D-8FA5A1E417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5CEAD5-9628-047B-D5B5-5C9ED62862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4F8742-5A3A-B8FE-4CBA-D4AEDF5E74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F79A22-BA0F-59DE-4925-4D9970B013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C37877-5F95-1E86-2787-D90B29A68C4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CC026F-6758-382A-EAFA-E1A0982E68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283773-B961-CBE0-FCBD-854F9A7BE1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E50472-1502-5D79-5DC9-A19F5107C7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17D6B1-95C1-2B4D-803E-377F71FB077F}"/>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132377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2773</Words>
  <Application>Microsoft Office PowerPoint</Application>
  <PresentationFormat>寬螢幕</PresentationFormat>
  <Paragraphs>108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2026-09-09T02:41:14Z</dcterms:created>
  <dcterms:modified xsi:type="dcterms:W3CDTF">2026-10-21T02:40:47Z</dcterms:modified>
</cp:coreProperties>
</file>