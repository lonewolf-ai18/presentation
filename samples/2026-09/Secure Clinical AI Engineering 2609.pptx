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3C905E-64B6-482E-BB23-7C8599DE3955}" v="18" dt="2026-09-20T14:02:53.0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68519" autoAdjust="0"/>
  </p:normalViewPr>
  <p:slideViewPr>
    <p:cSldViewPr snapToGrid="0">
      <p:cViewPr varScale="1">
        <p:scale>
          <a:sx n="75" d="100"/>
          <a:sy n="75" d="100"/>
        </p:scale>
        <p:origin x="72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Wilson" userId="2840974a-0d84-4886-90a9-9a3ed79f3a48" providerId="ADAL" clId="{9F23B798-9E84-4552-BA63-E776E805C424}"/>
    <pc:docChg chg="undo custSel modSld">
      <pc:chgData name="Lai, Wilson" userId="2840974a-0d84-4886-90a9-9a3ed79f3a48" providerId="ADAL" clId="{9F23B798-9E84-4552-BA63-E776E805C424}" dt="2026-09-20T14:07:49.466" v="123" actId="166"/>
      <pc:docMkLst>
        <pc:docMk/>
      </pc:docMkLst>
      <pc:sldChg chg="addSp delSp modSp mod modNotes modNotesTx">
        <pc:chgData name="Lai, Wilson" userId="2840974a-0d84-4886-90a9-9a3ed79f3a48" providerId="ADAL" clId="{9F23B798-9E84-4552-BA63-E776E805C424}" dt="2026-09-20T14:07:49.466" v="123" actId="166"/>
        <pc:sldMkLst>
          <pc:docMk/>
          <pc:sldMk cId="0" sldId="257"/>
        </pc:sldMkLst>
        <pc:picChg chg="del">
          <ac:chgData name="Lai, Wilson" userId="2840974a-0d84-4886-90a9-9a3ed79f3a48" providerId="ADAL" clId="{9F23B798-9E84-4552-BA63-E776E805C424}" dt="2026-09-20T13:43:09.160" v="0" actId="21"/>
          <ac:picMkLst>
            <pc:docMk/>
            <pc:sldMk cId="0" sldId="257"/>
            <ac:picMk id="2" creationId="{00000000-0000-0000-0000-000000000000}"/>
          </ac:picMkLst>
        </pc:picChg>
        <pc:picChg chg="add ord">
          <ac:chgData name="Lai, Wilson" userId="2840974a-0d84-4886-90a9-9a3ed79f3a48" providerId="ADAL" clId="{9F23B798-9E84-4552-BA63-E776E805C424}" dt="2026-09-20T14:07:49.466" v="123" actId="166"/>
          <ac:picMkLst>
            <pc:docMk/>
            <pc:sldMk cId="0" sldId="257"/>
            <ac:picMk id="7" creationId="{B465A27D-D72B-E54E-4C5A-A93609DF277B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0T14:04:24.285" v="49" actId="14"/>
        <pc:sldMkLst>
          <pc:docMk/>
          <pc:sldMk cId="0" sldId="258"/>
        </pc:sldMkLst>
        <pc:picChg chg="del">
          <ac:chgData name="Lai, Wilson" userId="2840974a-0d84-4886-90a9-9a3ed79f3a48" providerId="ADAL" clId="{9F23B798-9E84-4552-BA63-E776E805C424}" dt="2026-09-20T13:53:04.393" v="30" actId="21"/>
          <ac:picMkLst>
            <pc:docMk/>
            <pc:sldMk cId="0" sldId="25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0T13:53:14.760" v="31" actId="22"/>
          <ac:picMkLst>
            <pc:docMk/>
            <pc:sldMk cId="0" sldId="258"/>
            <ac:picMk id="4" creationId="{93D931B2-1A81-9180-6CE0-CB073CFD136E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0T14:04:38.057" v="57" actId="14"/>
        <pc:sldMkLst>
          <pc:docMk/>
          <pc:sldMk cId="0" sldId="259"/>
        </pc:sldMkLst>
        <pc:picChg chg="del">
          <ac:chgData name="Lai, Wilson" userId="2840974a-0d84-4886-90a9-9a3ed79f3a48" providerId="ADAL" clId="{9F23B798-9E84-4552-BA63-E776E805C424}" dt="2026-09-20T13:52:49.425" v="28" actId="21"/>
          <ac:picMkLst>
            <pc:docMk/>
            <pc:sldMk cId="0" sldId="25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0T13:53:00.259" v="29" actId="22"/>
          <ac:picMkLst>
            <pc:docMk/>
            <pc:sldMk cId="0" sldId="259"/>
            <ac:picMk id="4" creationId="{373F24E0-41F4-96F2-8730-1D39C6126DA0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0T14:04:46.927" v="61" actId="14"/>
        <pc:sldMkLst>
          <pc:docMk/>
          <pc:sldMk cId="0" sldId="260"/>
        </pc:sldMkLst>
        <pc:picChg chg="del">
          <ac:chgData name="Lai, Wilson" userId="2840974a-0d84-4886-90a9-9a3ed79f3a48" providerId="ADAL" clId="{9F23B798-9E84-4552-BA63-E776E805C424}" dt="2026-09-20T13:51:44.075" v="26" actId="21"/>
          <ac:picMkLst>
            <pc:docMk/>
            <pc:sldMk cId="0" sldId="26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0T13:52:44.966" v="27" actId="22"/>
          <ac:picMkLst>
            <pc:docMk/>
            <pc:sldMk cId="0" sldId="260"/>
            <ac:picMk id="4" creationId="{5E7F9E51-A78A-C354-FDAA-ABC08BF7298D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0T14:04:55.396" v="65" actId="14"/>
        <pc:sldMkLst>
          <pc:docMk/>
          <pc:sldMk cId="0" sldId="261"/>
        </pc:sldMkLst>
        <pc:picChg chg="del">
          <ac:chgData name="Lai, Wilson" userId="2840974a-0d84-4886-90a9-9a3ed79f3a48" providerId="ADAL" clId="{9F23B798-9E84-4552-BA63-E776E805C424}" dt="2026-09-20T13:50:45.756" v="24" actId="21"/>
          <ac:picMkLst>
            <pc:docMk/>
            <pc:sldMk cId="0" sldId="26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0T13:51:37.577" v="25" actId="22"/>
          <ac:picMkLst>
            <pc:docMk/>
            <pc:sldMk cId="0" sldId="261"/>
            <ac:picMk id="4" creationId="{C5E2520B-D20E-5632-EE51-79BC3A8FC5CC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0T14:05:06.480" v="71" actId="14"/>
        <pc:sldMkLst>
          <pc:docMk/>
          <pc:sldMk cId="0" sldId="262"/>
        </pc:sldMkLst>
        <pc:picChg chg="del">
          <ac:chgData name="Lai, Wilson" userId="2840974a-0d84-4886-90a9-9a3ed79f3a48" providerId="ADAL" clId="{9F23B798-9E84-4552-BA63-E776E805C424}" dt="2026-09-20T13:48:50.958" v="22" actId="21"/>
          <ac:picMkLst>
            <pc:docMk/>
            <pc:sldMk cId="0" sldId="262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0T13:50:42.537" v="23" actId="22"/>
          <ac:picMkLst>
            <pc:docMk/>
            <pc:sldMk cId="0" sldId="262"/>
            <ac:picMk id="4" creationId="{F63C6D2F-666F-D7A2-9BBB-CE21083444F6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0T14:05:22.258" v="77" actId="14"/>
        <pc:sldMkLst>
          <pc:docMk/>
          <pc:sldMk cId="0" sldId="263"/>
        </pc:sldMkLst>
        <pc:picChg chg="del">
          <ac:chgData name="Lai, Wilson" userId="2840974a-0d84-4886-90a9-9a3ed79f3a48" providerId="ADAL" clId="{9F23B798-9E84-4552-BA63-E776E805C424}" dt="2026-09-20T13:47:20.266" v="20" actId="21"/>
          <ac:picMkLst>
            <pc:docMk/>
            <pc:sldMk cId="0" sldId="263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0T13:48:46.695" v="21" actId="22"/>
          <ac:picMkLst>
            <pc:docMk/>
            <pc:sldMk cId="0" sldId="263"/>
            <ac:picMk id="4" creationId="{A617167C-57E2-1800-62F3-EACA95481B53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0T14:05:35.979" v="83" actId="14"/>
        <pc:sldMkLst>
          <pc:docMk/>
          <pc:sldMk cId="0" sldId="264"/>
        </pc:sldMkLst>
        <pc:picChg chg="del">
          <ac:chgData name="Lai, Wilson" userId="2840974a-0d84-4886-90a9-9a3ed79f3a48" providerId="ADAL" clId="{9F23B798-9E84-4552-BA63-E776E805C424}" dt="2026-09-20T13:46:44.244" v="18" actId="21"/>
          <ac:picMkLst>
            <pc:docMk/>
            <pc:sldMk cId="0" sldId="264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0T13:47:14.573" v="19" actId="22"/>
          <ac:picMkLst>
            <pc:docMk/>
            <pc:sldMk cId="0" sldId="264"/>
            <ac:picMk id="4" creationId="{48872AEC-B178-3812-13A9-AC2C4A470F0B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0T14:05:48.700" v="89" actId="14"/>
        <pc:sldMkLst>
          <pc:docMk/>
          <pc:sldMk cId="0" sldId="265"/>
        </pc:sldMkLst>
        <pc:picChg chg="del">
          <ac:chgData name="Lai, Wilson" userId="2840974a-0d84-4886-90a9-9a3ed79f3a48" providerId="ADAL" clId="{9F23B798-9E84-4552-BA63-E776E805C424}" dt="2026-09-20T13:46:32.644" v="16" actId="21"/>
          <ac:picMkLst>
            <pc:docMk/>
            <pc:sldMk cId="0" sldId="265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0T13:46:41.959" v="17" actId="22"/>
          <ac:picMkLst>
            <pc:docMk/>
            <pc:sldMk cId="0" sldId="265"/>
            <ac:picMk id="4" creationId="{CA885093-2472-C868-2AC1-343C580AF3D1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0T14:06:01.973" v="95" actId="14"/>
        <pc:sldMkLst>
          <pc:docMk/>
          <pc:sldMk cId="0" sldId="266"/>
        </pc:sldMkLst>
        <pc:picChg chg="del">
          <ac:chgData name="Lai, Wilson" userId="2840974a-0d84-4886-90a9-9a3ed79f3a48" providerId="ADAL" clId="{9F23B798-9E84-4552-BA63-E776E805C424}" dt="2026-09-20T13:46:18.323" v="14" actId="21"/>
          <ac:picMkLst>
            <pc:docMk/>
            <pc:sldMk cId="0" sldId="266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0T13:46:30.031" v="15" actId="22"/>
          <ac:picMkLst>
            <pc:docMk/>
            <pc:sldMk cId="0" sldId="266"/>
            <ac:picMk id="4" creationId="{3C0E8AEF-29F5-8000-0C00-18D8E0F22137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0T14:06:12.582" v="102" actId="14"/>
        <pc:sldMkLst>
          <pc:docMk/>
          <pc:sldMk cId="0" sldId="267"/>
        </pc:sldMkLst>
        <pc:picChg chg="del">
          <ac:chgData name="Lai, Wilson" userId="2840974a-0d84-4886-90a9-9a3ed79f3a48" providerId="ADAL" clId="{9F23B798-9E84-4552-BA63-E776E805C424}" dt="2026-09-20T13:46:07.335" v="12" actId="21"/>
          <ac:picMkLst>
            <pc:docMk/>
            <pc:sldMk cId="0" sldId="267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0T13:46:15.697" v="13" actId="22"/>
          <ac:picMkLst>
            <pc:docMk/>
            <pc:sldMk cId="0" sldId="267"/>
            <ac:picMk id="4" creationId="{9E3CD193-6934-1BD9-6D4D-4720B20F4C1C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0T14:06:26.591" v="108" actId="14"/>
        <pc:sldMkLst>
          <pc:docMk/>
          <pc:sldMk cId="0" sldId="268"/>
        </pc:sldMkLst>
        <pc:picChg chg="del">
          <ac:chgData name="Lai, Wilson" userId="2840974a-0d84-4886-90a9-9a3ed79f3a48" providerId="ADAL" clId="{9F23B798-9E84-4552-BA63-E776E805C424}" dt="2026-09-20T13:45:54.121" v="10" actId="21"/>
          <ac:picMkLst>
            <pc:docMk/>
            <pc:sldMk cId="0" sldId="26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0T13:46:05.020" v="11" actId="22"/>
          <ac:picMkLst>
            <pc:docMk/>
            <pc:sldMk cId="0" sldId="268"/>
            <ac:picMk id="4" creationId="{CFB0AB71-09EE-B648-A518-8D72E61867BA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0T14:06:38.144" v="113" actId="14"/>
        <pc:sldMkLst>
          <pc:docMk/>
          <pc:sldMk cId="0" sldId="269"/>
        </pc:sldMkLst>
        <pc:picChg chg="del">
          <ac:chgData name="Lai, Wilson" userId="2840974a-0d84-4886-90a9-9a3ed79f3a48" providerId="ADAL" clId="{9F23B798-9E84-4552-BA63-E776E805C424}" dt="2026-09-20T13:45:15.758" v="8" actId="21"/>
          <ac:picMkLst>
            <pc:docMk/>
            <pc:sldMk cId="0" sldId="26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0T13:45:46.407" v="9" actId="22"/>
          <ac:picMkLst>
            <pc:docMk/>
            <pc:sldMk cId="0" sldId="269"/>
            <ac:picMk id="4" creationId="{9F51695C-1DA8-8F3E-7A3F-1A7759C41D12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0T14:02:53.048" v="42"/>
        <pc:sldMkLst>
          <pc:docMk/>
          <pc:sldMk cId="0" sldId="270"/>
        </pc:sldMkLst>
        <pc:picChg chg="del">
          <ac:chgData name="Lai, Wilson" userId="2840974a-0d84-4886-90a9-9a3ed79f3a48" providerId="ADAL" clId="{9F23B798-9E84-4552-BA63-E776E805C424}" dt="2026-09-20T13:44:16.986" v="6" actId="21"/>
          <ac:picMkLst>
            <pc:docMk/>
            <pc:sldMk cId="0" sldId="27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0T13:45:07.020" v="7" actId="22"/>
          <ac:picMkLst>
            <pc:docMk/>
            <pc:sldMk cId="0" sldId="270"/>
            <ac:picMk id="4" creationId="{0D4AEBE8-9807-A1EC-522F-BA1094B6A522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0T14:06:51.931" v="117" actId="14"/>
        <pc:sldMkLst>
          <pc:docMk/>
          <pc:sldMk cId="0" sldId="271"/>
        </pc:sldMkLst>
        <pc:picChg chg="del">
          <ac:chgData name="Lai, Wilson" userId="2840974a-0d84-4886-90a9-9a3ed79f3a48" providerId="ADAL" clId="{9F23B798-9E84-4552-BA63-E776E805C424}" dt="2026-09-20T13:43:35.467" v="4" actId="21"/>
          <ac:picMkLst>
            <pc:docMk/>
            <pc:sldMk cId="0" sldId="27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0T13:44:12.498" v="5" actId="22"/>
          <ac:picMkLst>
            <pc:docMk/>
            <pc:sldMk cId="0" sldId="271"/>
            <ac:picMk id="4" creationId="{697FCA9E-A06E-7D86-3C39-1E061F745DF0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0T14:07:12.166" v="121" actId="14"/>
        <pc:sldMkLst>
          <pc:docMk/>
          <pc:sldMk cId="3076562388" sldId="272"/>
        </pc:sldMkLst>
        <pc:picChg chg="add del">
          <ac:chgData name="Lai, Wilson" userId="2840974a-0d84-4886-90a9-9a3ed79f3a48" providerId="ADAL" clId="{9F23B798-9E84-4552-BA63-E776E805C424}" dt="2026-09-20T13:43:32.929" v="3" actId="21"/>
          <ac:picMkLst>
            <pc:docMk/>
            <pc:sldMk cId="3076562388" sldId="272"/>
            <ac:picMk id="3" creationId="{CD8F07F0-FE91-A958-E0A4-26D35E452B1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12B57D-2F89-4573-99BB-9C8AB9A32098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17CA13-0238-48E2-9574-DB3493E055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643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&amp; Introduction: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Welcome everyone. Today, we are diving deep into building production-ready, secure clinical AI agents. Our focus is on bridging the gap between raw AI models and real-world enterprise requirements in healthcare.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Core Architecture: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you see on this slide, an enterprise clinical AI agent isn't just an API call to a Large Language Model.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involves four synchronized components: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Processing &amp; Model Logic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layer,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HIPAA-Compliant Processing Pipeline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 robust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Flow &amp; Database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structure, and strict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Security Warnings &amp; Compliance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controls.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High-Level Flow: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EHR data ingestion moves raw patient clinical data through an embedding and validation layer.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reaching any model reasoning engine, data goes through clinical validation and HIPAA output logic.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Behind the scenes, audit trails, access controls, and regulatory checks log every transaction.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Session Objective: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the end of this deck, you’ll understand how to engineer this system end-to-end—from cloud provisioning on AWS, database setup with vector capabilities, PHI sanitization, semantic guardrails, to containerized deployment.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https://www.youtube.com/watch?v=-4BrD23fQvU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FC0D0B-1AA5-43C6-9210-9F85CF2E288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028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Industry Need: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Healthcare professionals are overwhelmed by manual data entry and searching.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review a single patient's chart, doctors often scroll through thousands of lines of clinical notes, lab results, and historical diagnostic records.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Natural Language Processing (NLP) and LLM-driven query engines can save hours every day by extracting key insights instantly.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Risk &amp; Compliance Conflict: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passing raw Protected Health Information (PHI)—such as patient names, Social Security Numbers, or raw medical records—to third-party LLMs directly violates HIPAA regulations.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single data leak or non-compliant API call risks massive legal penalties, loss of license, and severe ethical breaches.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Mission: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engineering mission is clear: construct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Privacy-First Pipeline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must build a sanitization engine that sits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internal hospital systems and external reasoning models.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must be filtered, masked, de-identified, redacted, and tokenized so that only sanitized context reaches the reasoning engine.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CA13-0238-48E2-9574-DB3493E055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887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Traditional AI Engineer vs. Forward Deployed Engineer (FDE):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traditional settings, an AI engineer focuses primarily on model training, fine-tuning, evaluating metrics on static datasets, and handing model weights off to DevOps.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FDE Mandate: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a Forward Deployed Engineer (FDE), your scope expands significantly.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aren't just training models in isolated Jupyter notebooks; you are architecting end-to-end, client-ready, secure enterprise systems.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FDE Responsibilities: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Live Integration: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Integrating directly with live enterprise infrastructure (e.g., PostgreSQL databases).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Production Deployment: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Containerizing the whole stack with Docker and deploying to cloud infrastructure like AWS EC2.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Compliance &amp; Security Mapping: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Working directly with stakeholders to ensure strict adherence to domain regulations like HIPAA and PHI protection.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CA13-0238-48E2-9574-DB3493E0556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8171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Modern AI-Assisted Software Engineering: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advent of high-capability LLMs has fundamentally altered the Software Development Life Cycle (SDLC).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move away from writing every line of boilerplate code by hand toward orchestrating AI as a high-speed junior developer.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4-Step Cycle: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1 (AI PM):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 AI agents to brainstorm edge cases, generate project structure specifications, task lists, and empty directory hierarchies.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2 (AI Boilerplate):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Let AI generate environment setups, initial API routes, and baseline data ingestion scripts.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3 (Human Review):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FDE acts as the senior architect—validating code, enforcing system design patterns, and writing unit/integration tests.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4 (AI Security Checks):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Run automated reviews to detect potential secret leaks, hardcoded credentials, and compliance flaws.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CA13-0238-48E2-9574-DB3493E055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2882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Layer-by-Layer System Breakdown: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build this system securely, we organize our architecture into 5 distinct, decoupled layers.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 1 (Infrastructure):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AWS EC2 (Ubuntu Linux) acting as our cloud host, managed via Docker containers for environment isolation.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 2 (Database):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PostgreSQL enhanced with the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pgvector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extension, allowing us to perform both relational querying and vector similarity searches in a single database.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 3 (Security &amp; Compliance):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 Presidio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real-time data masking and PHI redaction.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NVIDIA 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NeMo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Guardrails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semantic rules and prompt enforcement.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 4 (AI Processing):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bioclinical-RoBERTa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generating high-precision medical embeddings, paired with DeepSeek API for clinical reasoning.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 5 (Frontend / API):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FastAPI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backend serving low-latency REST endpoints coupled with 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Streamlit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dashboard UI.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CA13-0238-48E2-9574-DB3493E0556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10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Provisioning Compute: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Implementation starts with provisioning an AWS EC2 instance (t2.medium, 4GB RAM, 20GB storage running Ubuntu).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 &amp; Security Groups: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Security starts at the network boundary.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configure EC2 Security Groups to open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essential ports: Port 22 for secure SSH admin access and Port 8501 for the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Streamlit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UI.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other inbound public traffic is strictly blocked by default.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Static Addressing &amp; Data Ingestion: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assign an Elastic IP to maintain static database endpoints across reboots.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Next, we initialize PostgreSQL 14 and load 230,000+ synthetic, anonymized patient records (MIMIC-IV format) into our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patient_encounters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table.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CA13-0238-48E2-9574-DB3493E0556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1498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Common Pitfall: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building RAG systems, developers often export raw enterprise data and send it to an external third-party vector database (e.g., Pinecone).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healthcare, this adds massive compliance overhead, dual-system synchronization problems, higher migration costs, and expanded data surface attack areas.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FDE Approach (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pgvector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 of moving data out, we bring vector search directly into the client's existing PostgreSQL instance using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pgvector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Strategic Benefits: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Zero Data Migration: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Relational tables and vector embeddings stay co-located in the same secure database enclave.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Unified Querying: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 can perform relational SQL filtering and cosine similarity searches within a single SQL statement.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CA13-0238-48E2-9574-DB3493E0556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2055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Embedding Problem: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Generic embedding models (like standard OpenAI or BERT models) fail on clinical text because they don't capture specialized medical terminology, acronyms, or drug relationships.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Domain-Specific Model Choice: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utilize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bioclinical-RoBERTa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BioClinical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-BERT), a transformer model pre-trained on clinical notes and biomedical literature.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converts unstructured clinical notes, lab tests, and admission details into dense 768-dimensional vector representations.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 in PostgreSQL: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generated 768D vectors are stored directly inside the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clinical_embeddings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column in PostgreSQL, enabled by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pgvector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CA13-0238-48E2-9574-DB3493E0556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1269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Scaling Challenges: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Performing raw cosine distance searches across 25+ million rows in a enterprise database is computationally expensive and slow.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Two-Step Hybrid Filter Strategy: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1 (Relational SQL Filter):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When a doctor selects a specific Patient ID in the dashboard UI, an initial SQL query isolates that exact patient's records.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instantly cuts the search space from millions of rows down to roughly ~100 records.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2 (Semantic Vector Search):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pgvector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performs cosine distance calculation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those pre-filtered 100 rows matching the clinician's query.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Absolute precision, sub-second latency, lower compute cost, and strict compliance isolation.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CA13-0238-48E2-9574-DB3493E0556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1166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Redaction Engine: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 with isolated search, retrieved context cannot be sent to an external LLM API if it contains Protected Health Information (PHI).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Tooling &amp; Customization: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implement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 Presidio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combining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spaCy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NLP model pipelines with tailored Regular Expressions (Regex).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Presidio automatically scans the retrieved text and replaces sensitive elements with sanitized tokens (e.g., [PERSON], [ORGANIZATION], [DATE], [US_SSN]).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FDE Engineering Customizations: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Generic NLP models miss local hospital names, unique doctor acronyms, or region-specific identifiers.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engineer custom deny-lists and fine-tune entity detection confidence thresholds to guarantee 100% anonymization before payload transmission.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CA13-0238-48E2-9574-DB3493E0556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5227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Preventing Medical Advice &amp; Liability: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AI agent in a clinical environment must act strictly as an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information retrieval assistant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never as a diagnostic or prescribing tool.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NVIDIA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NeMo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Guardrails: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integrate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NVIDIA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NeMo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Guardrails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(rails.co) directly into the pipeline.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Dual Execution Paths: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 A (Allowed - History Query):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What was the last recorded dosage of Furosemide? →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NeMo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classifies this as a valid historical retrieval request and routes sanitized context to the LLM.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 B (Blocked - Medical Advice):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Should I prescribe a higher dosage based on fluid retention? →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NeMo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flags this as a medical decision/advice request, triggers an immediate refusal protocol, and bypasses the LLM call entirely.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CA13-0238-48E2-9574-DB3493E0556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7173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Architecture &amp; Separation of Concerns: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maintain a strict separation between UI rendering and backend computation.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FastAPI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handles routing, database connections, vector search execution, and compliance checking, while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Streamlit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presents a clean, responsive UI.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 Management: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st.session_state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Streamlit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maintains conversation memory across multi-turn chats in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LangChain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-compatible message formats.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Payload Structure: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user request dynamically sends a payload containing the current prompt, selected Patient ID, and conversation history to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FastAPI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maintain full context continuity.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CA13-0238-48E2-9574-DB3493E0556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1156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Engineering Objective: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Eliminate 'it works on my machine' issues by packaging the application into lightweight, reproducible environments.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 Optimization: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configure strict .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dockerignore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rules to exclude massive local dataset dumps, virtual environments, and build caches, keeping image sizes small and deployment fast.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Multi-Container Orchestration: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configure Docker containers mapping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FastAPI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internal service ports (8000) and exposing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Streamlit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web ports (8501) onto our secure AWS virtual network.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CA13-0238-48E2-9574-DB3493E0556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9424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Step-by-Step Query Execution Flow: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 Selection: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doctor selects a Patient ID and types a specific clinical question into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Streamlit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Vector DB Filtering: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FastAPI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triggers hybrid search in PostgreSQL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pgvector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isolating the patient and retrieving relevant medical notes.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Presidio Redaction: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Microsoft Presidio strips all PHI (names, dates, SSNs) from the retrieved notes.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NeMo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Guardrails: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NeMo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checks the prompt intent to ensure no medical/diagnostic advice is requested.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DeepSeek API Reasoning: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sanitized context and approved prompt are sent to the LLM API for summarization.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 Output: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concise, sanitized clinical response is delivered back to the clinician dashboard.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CA13-0238-48E2-9574-DB3493E0556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374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https://www.youtube.com/watch?v=-4BrD23fQvU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Takeaways: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Real-world enterprise AI impact isn't created in isolated Jupyter notebooks.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 is realized when models are wrapped in secure, compliant, low-latency infrastructure.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Mastered Capabilities: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 infrastructure setup on AWS EC2.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Native vector search integration via PostgreSQL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pgvector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Programmatic PHI redaction and semantic security guardrails.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Decoupled API design and containerized deployment with Docker.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CA13-0238-48E2-9574-DB3493E0556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2948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 Architectural Recap: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Domain Embeddings: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BioClinical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-BERT /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bioclinical-RoBERTa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accurate medical terminology processing.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Localized Storage: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pgvector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keeps patient data within the hospital DB enclave.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Privacy: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Microsoft Presidio automates PHI masking prior to external API transmission.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Governance: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NVIDIA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NeMo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Guardrails restrict AI to historical retrieval only.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Deployment: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FastAPI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Streamlit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containerized with Docker on AWS EC2.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Closing Distinction: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traditional AI engineers focus on fine-tuning models and notebooks, Forward Deployed Engineers deliver production-grade, secure, HIPAA-compliant systems built to solve real enterprise challenges.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CA13-0238-48E2-9574-DB3493E0556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790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987F8C-520A-554B-C9F2-203E2C2B0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E5B32-FFD7-4960-B314-F6EA4B292EFE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CF36FD-1D76-0FFB-F1F6-189BC4D27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904C1-F9E5-39DA-6F4B-BE8BCDFF5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98EF3-BEFE-44FB-A228-4F1024D9C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57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9DBA38-BF61-5DFA-C09A-5ACBF5AF9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B460D-3187-42BF-FA76-869CAE0C0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4146D-DC22-813F-1734-1CF4A149A9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DE5B32-FFD7-4960-B314-F6EA4B292EFE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8E841-B454-164B-99A5-BAD7E10FA3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5C307-50FB-A403-51F1-D5A37186C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398EF3-BEFE-44FB-A228-4F1024D9C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798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465A27D-D72B-E54E-4C5A-A93609DF2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D931B2-1A81-9180-6CE0-CB073CFD1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3F24E0-41F4-96F2-8730-1D39C6126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7F9E51-A78A-C354-FDAA-ABC08BF72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E2520B-D20E-5632-EE51-79BC3A8FC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3C6D2F-666F-D7A2-9BBB-CE2108344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17167C-57E2-1800-62F3-EACA95481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872AEC-B178-3812-13A9-AC2C4A470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885093-2472-C868-2AC1-343C580AF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0E8AEF-29F5-8000-0C00-18D8E0F22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3CD193-6934-1BD9-6D4D-4720B20F4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B0AB71-09EE-B648-A518-8D72E6186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51695C-1DA8-8F3E-7A3F-1A7759C41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4AEBE8-9807-A1EC-522F-BA1094B6A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7FCA9E-A06E-7D86-3C39-1E061F745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8F07F0-FE91-A958-E0A4-26D35E452B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562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2005</Words>
  <Application>Microsoft Office PowerPoint</Application>
  <PresentationFormat>寬螢幕</PresentationFormat>
  <Paragraphs>150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Lai, Wilson</dc:creator>
  <cp:lastModifiedBy>Wilson Lai</cp:lastModifiedBy>
  <cp:revision>2</cp:revision>
  <dcterms:created xsi:type="dcterms:W3CDTF">2026-09-20T13:28:16Z</dcterms:created>
  <dcterms:modified xsi:type="dcterms:W3CDTF">2026-10-20T13:43:39Z</dcterms:modified>
</cp:coreProperties>
</file>