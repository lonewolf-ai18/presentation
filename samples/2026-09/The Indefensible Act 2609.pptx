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DF6393-DCC1-444F-9223-BFBB64F01F10}" v="16" dt="2026-09-22T03:27:25.5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8" autoAdjust="0"/>
    <p:restoredTop sz="77066" autoAdjust="0"/>
  </p:normalViewPr>
  <p:slideViewPr>
    <p:cSldViewPr snapToGrid="0">
      <p:cViewPr varScale="1">
        <p:scale>
          <a:sx n="72" d="100"/>
          <a:sy n="72" d="100"/>
        </p:scale>
        <p:origin x="84"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9-22T03:27:37.329" v="38" actId="166"/>
      <pc:docMkLst>
        <pc:docMk/>
      </pc:docMkLst>
      <pc:sldChg chg="addSp delSp modSp mod modNotes modNotesTx">
        <pc:chgData name="Lai, Wilson" userId="2840974a-0d84-4886-90a9-9a3ed79f3a48" providerId="ADAL" clId="{9F23B798-9E84-4552-BA63-E776E805C424}" dt="2026-09-22T03:27:37.329" v="38" actId="166"/>
        <pc:sldMkLst>
          <pc:docMk/>
          <pc:sldMk cId="0" sldId="257"/>
        </pc:sldMkLst>
        <pc:picChg chg="del">
          <ac:chgData name="Lai, Wilson" userId="2840974a-0d84-4886-90a9-9a3ed79f3a48" providerId="ADAL" clId="{9F23B798-9E84-4552-BA63-E776E805C424}" dt="2026-09-22T01:24:06.637" v="0" actId="21"/>
          <ac:picMkLst>
            <pc:docMk/>
            <pc:sldMk cId="0" sldId="257"/>
            <ac:picMk id="2" creationId="{00000000-0000-0000-0000-000000000000}"/>
          </ac:picMkLst>
        </pc:picChg>
        <pc:picChg chg="add ord">
          <ac:chgData name="Lai, Wilson" userId="2840974a-0d84-4886-90a9-9a3ed79f3a48" providerId="ADAL" clId="{9F23B798-9E84-4552-BA63-E776E805C424}" dt="2026-09-22T03:27:37.329" v="38" actId="166"/>
          <ac:picMkLst>
            <pc:docMk/>
            <pc:sldMk cId="0" sldId="257"/>
            <ac:picMk id="7" creationId="{22979F0F-5350-1B55-5798-8129185AB0BC}"/>
          </ac:picMkLst>
        </pc:picChg>
      </pc:sldChg>
      <pc:sldChg chg="addSp delSp mod modNotes modNotesTx">
        <pc:chgData name="Lai, Wilson" userId="2840974a-0d84-4886-90a9-9a3ed79f3a48" providerId="ADAL" clId="{9F23B798-9E84-4552-BA63-E776E805C424}" dt="2026-09-22T03:27:20.714" v="35"/>
        <pc:sldMkLst>
          <pc:docMk/>
          <pc:sldMk cId="0" sldId="258"/>
        </pc:sldMkLst>
        <pc:picChg chg="del">
          <ac:chgData name="Lai, Wilson" userId="2840974a-0d84-4886-90a9-9a3ed79f3a48" providerId="ADAL" clId="{9F23B798-9E84-4552-BA63-E776E805C424}" dt="2026-09-22T01:24:15.872" v="2" actId="21"/>
          <ac:picMkLst>
            <pc:docMk/>
            <pc:sldMk cId="0" sldId="258"/>
            <ac:picMk id="2" creationId="{00000000-0000-0000-0000-000000000000}"/>
          </ac:picMkLst>
        </pc:picChg>
        <pc:picChg chg="add">
          <ac:chgData name="Lai, Wilson" userId="2840974a-0d84-4886-90a9-9a3ed79f3a48" providerId="ADAL" clId="{9F23B798-9E84-4552-BA63-E776E805C424}" dt="2026-09-22T01:24:24.403" v="3" actId="22"/>
          <ac:picMkLst>
            <pc:docMk/>
            <pc:sldMk cId="0" sldId="258"/>
            <ac:picMk id="4" creationId="{A078AD49-3982-EF67-0EE6-C36536E32C57}"/>
          </ac:picMkLst>
        </pc:picChg>
      </pc:sldChg>
      <pc:sldChg chg="addSp delSp mod modNotes">
        <pc:chgData name="Lai, Wilson" userId="2840974a-0d84-4886-90a9-9a3ed79f3a48" providerId="ADAL" clId="{9F23B798-9E84-4552-BA63-E776E805C424}" dt="2026-09-22T03:27:20.714" v="35"/>
        <pc:sldMkLst>
          <pc:docMk/>
          <pc:sldMk cId="0" sldId="259"/>
        </pc:sldMkLst>
        <pc:picChg chg="del">
          <ac:chgData name="Lai, Wilson" userId="2840974a-0d84-4886-90a9-9a3ed79f3a48" providerId="ADAL" clId="{9F23B798-9E84-4552-BA63-E776E805C424}" dt="2026-09-22T01:24:27.029" v="4" actId="21"/>
          <ac:picMkLst>
            <pc:docMk/>
            <pc:sldMk cId="0" sldId="259"/>
            <ac:picMk id="2" creationId="{00000000-0000-0000-0000-000000000000}"/>
          </ac:picMkLst>
        </pc:picChg>
        <pc:picChg chg="add">
          <ac:chgData name="Lai, Wilson" userId="2840974a-0d84-4886-90a9-9a3ed79f3a48" providerId="ADAL" clId="{9F23B798-9E84-4552-BA63-E776E805C424}" dt="2026-09-22T01:24:34.998" v="5" actId="22"/>
          <ac:picMkLst>
            <pc:docMk/>
            <pc:sldMk cId="0" sldId="259"/>
            <ac:picMk id="4" creationId="{0D2622EC-535B-10FA-75E3-4A6FE5572C5D}"/>
          </ac:picMkLst>
        </pc:picChg>
      </pc:sldChg>
      <pc:sldChg chg="addSp delSp mod modNotes">
        <pc:chgData name="Lai, Wilson" userId="2840974a-0d84-4886-90a9-9a3ed79f3a48" providerId="ADAL" clId="{9F23B798-9E84-4552-BA63-E776E805C424}" dt="2026-09-22T03:27:25.582" v="36"/>
        <pc:sldMkLst>
          <pc:docMk/>
          <pc:sldMk cId="0" sldId="260"/>
        </pc:sldMkLst>
        <pc:picChg chg="del">
          <ac:chgData name="Lai, Wilson" userId="2840974a-0d84-4886-90a9-9a3ed79f3a48" providerId="ADAL" clId="{9F23B798-9E84-4552-BA63-E776E805C424}" dt="2026-09-22T01:24:38.402" v="6" actId="21"/>
          <ac:picMkLst>
            <pc:docMk/>
            <pc:sldMk cId="0" sldId="260"/>
            <ac:picMk id="2" creationId="{00000000-0000-0000-0000-000000000000}"/>
          </ac:picMkLst>
        </pc:picChg>
        <pc:picChg chg="add">
          <ac:chgData name="Lai, Wilson" userId="2840974a-0d84-4886-90a9-9a3ed79f3a48" providerId="ADAL" clId="{9F23B798-9E84-4552-BA63-E776E805C424}" dt="2026-09-22T01:24:58.143" v="7" actId="22"/>
          <ac:picMkLst>
            <pc:docMk/>
            <pc:sldMk cId="0" sldId="260"/>
            <ac:picMk id="4" creationId="{2D301F4B-5F2E-3D05-8901-8B6DEEB60492}"/>
          </ac:picMkLst>
        </pc:picChg>
      </pc:sldChg>
      <pc:sldChg chg="addSp delSp mod modNotes">
        <pc:chgData name="Lai, Wilson" userId="2840974a-0d84-4886-90a9-9a3ed79f3a48" providerId="ADAL" clId="{9F23B798-9E84-4552-BA63-E776E805C424}" dt="2026-09-22T03:27:03.179" v="34"/>
        <pc:sldMkLst>
          <pc:docMk/>
          <pc:sldMk cId="0" sldId="261"/>
        </pc:sldMkLst>
        <pc:picChg chg="del">
          <ac:chgData name="Lai, Wilson" userId="2840974a-0d84-4886-90a9-9a3ed79f3a48" providerId="ADAL" clId="{9F23B798-9E84-4552-BA63-E776E805C424}" dt="2026-09-22T01:24:59.830" v="8" actId="21"/>
          <ac:picMkLst>
            <pc:docMk/>
            <pc:sldMk cId="0" sldId="261"/>
            <ac:picMk id="2" creationId="{00000000-0000-0000-0000-000000000000}"/>
          </ac:picMkLst>
        </pc:picChg>
        <pc:picChg chg="add">
          <ac:chgData name="Lai, Wilson" userId="2840974a-0d84-4886-90a9-9a3ed79f3a48" providerId="ADAL" clId="{9F23B798-9E84-4552-BA63-E776E805C424}" dt="2026-09-22T01:25:09.623" v="9" actId="22"/>
          <ac:picMkLst>
            <pc:docMk/>
            <pc:sldMk cId="0" sldId="261"/>
            <ac:picMk id="4" creationId="{F46DEE69-9A24-C8E3-5369-9F3649A17400}"/>
          </ac:picMkLst>
        </pc:picChg>
      </pc:sldChg>
      <pc:sldChg chg="addSp delSp mod modNotes">
        <pc:chgData name="Lai, Wilson" userId="2840974a-0d84-4886-90a9-9a3ed79f3a48" providerId="ADAL" clId="{9F23B798-9E84-4552-BA63-E776E805C424}" dt="2026-09-22T03:27:03.179" v="34"/>
        <pc:sldMkLst>
          <pc:docMk/>
          <pc:sldMk cId="0" sldId="262"/>
        </pc:sldMkLst>
        <pc:picChg chg="del">
          <ac:chgData name="Lai, Wilson" userId="2840974a-0d84-4886-90a9-9a3ed79f3a48" providerId="ADAL" clId="{9F23B798-9E84-4552-BA63-E776E805C424}" dt="2026-09-22T01:25:11.331" v="10" actId="21"/>
          <ac:picMkLst>
            <pc:docMk/>
            <pc:sldMk cId="0" sldId="262"/>
            <ac:picMk id="2" creationId="{00000000-0000-0000-0000-000000000000}"/>
          </ac:picMkLst>
        </pc:picChg>
        <pc:picChg chg="add">
          <ac:chgData name="Lai, Wilson" userId="2840974a-0d84-4886-90a9-9a3ed79f3a48" providerId="ADAL" clId="{9F23B798-9E84-4552-BA63-E776E805C424}" dt="2026-09-22T01:25:19.114" v="11" actId="22"/>
          <ac:picMkLst>
            <pc:docMk/>
            <pc:sldMk cId="0" sldId="262"/>
            <ac:picMk id="4" creationId="{FF2F0AB4-66A0-2C8F-11D0-D09F479F896F}"/>
          </ac:picMkLst>
        </pc:picChg>
      </pc:sldChg>
      <pc:sldChg chg="addSp delSp mod modNotes">
        <pc:chgData name="Lai, Wilson" userId="2840974a-0d84-4886-90a9-9a3ed79f3a48" providerId="ADAL" clId="{9F23B798-9E84-4552-BA63-E776E805C424}" dt="2026-09-22T03:27:20.714" v="35"/>
        <pc:sldMkLst>
          <pc:docMk/>
          <pc:sldMk cId="0" sldId="263"/>
        </pc:sldMkLst>
        <pc:picChg chg="del">
          <ac:chgData name="Lai, Wilson" userId="2840974a-0d84-4886-90a9-9a3ed79f3a48" providerId="ADAL" clId="{9F23B798-9E84-4552-BA63-E776E805C424}" dt="2026-09-22T01:25:20.524" v="12" actId="21"/>
          <ac:picMkLst>
            <pc:docMk/>
            <pc:sldMk cId="0" sldId="263"/>
            <ac:picMk id="2" creationId="{00000000-0000-0000-0000-000000000000}"/>
          </ac:picMkLst>
        </pc:picChg>
        <pc:picChg chg="add">
          <ac:chgData name="Lai, Wilson" userId="2840974a-0d84-4886-90a9-9a3ed79f3a48" providerId="ADAL" clId="{9F23B798-9E84-4552-BA63-E776E805C424}" dt="2026-09-22T01:25:29.038" v="13" actId="22"/>
          <ac:picMkLst>
            <pc:docMk/>
            <pc:sldMk cId="0" sldId="263"/>
            <ac:picMk id="4" creationId="{1806D3EA-3293-509F-AA00-528199CD0B10}"/>
          </ac:picMkLst>
        </pc:picChg>
      </pc:sldChg>
      <pc:sldChg chg="addSp delSp mod modNotes">
        <pc:chgData name="Lai, Wilson" userId="2840974a-0d84-4886-90a9-9a3ed79f3a48" providerId="ADAL" clId="{9F23B798-9E84-4552-BA63-E776E805C424}" dt="2026-09-22T03:27:03.179" v="34"/>
        <pc:sldMkLst>
          <pc:docMk/>
          <pc:sldMk cId="0" sldId="264"/>
        </pc:sldMkLst>
        <pc:picChg chg="del">
          <ac:chgData name="Lai, Wilson" userId="2840974a-0d84-4886-90a9-9a3ed79f3a48" providerId="ADAL" clId="{9F23B798-9E84-4552-BA63-E776E805C424}" dt="2026-09-22T01:25:31.107" v="14" actId="21"/>
          <ac:picMkLst>
            <pc:docMk/>
            <pc:sldMk cId="0" sldId="264"/>
            <ac:picMk id="2" creationId="{00000000-0000-0000-0000-000000000000}"/>
          </ac:picMkLst>
        </pc:picChg>
        <pc:picChg chg="add">
          <ac:chgData name="Lai, Wilson" userId="2840974a-0d84-4886-90a9-9a3ed79f3a48" providerId="ADAL" clId="{9F23B798-9E84-4552-BA63-E776E805C424}" dt="2026-09-22T01:25:42.066" v="15" actId="22"/>
          <ac:picMkLst>
            <pc:docMk/>
            <pc:sldMk cId="0" sldId="264"/>
            <ac:picMk id="4" creationId="{E49995CC-1799-C1C4-8E2E-212E59E9B27B}"/>
          </ac:picMkLst>
        </pc:picChg>
      </pc:sldChg>
      <pc:sldChg chg="addSp delSp mod modNotes">
        <pc:chgData name="Lai, Wilson" userId="2840974a-0d84-4886-90a9-9a3ed79f3a48" providerId="ADAL" clId="{9F23B798-9E84-4552-BA63-E776E805C424}" dt="2026-09-22T03:27:20.714" v="35"/>
        <pc:sldMkLst>
          <pc:docMk/>
          <pc:sldMk cId="0" sldId="265"/>
        </pc:sldMkLst>
        <pc:picChg chg="del">
          <ac:chgData name="Lai, Wilson" userId="2840974a-0d84-4886-90a9-9a3ed79f3a48" providerId="ADAL" clId="{9F23B798-9E84-4552-BA63-E776E805C424}" dt="2026-09-22T01:25:44.395" v="16" actId="21"/>
          <ac:picMkLst>
            <pc:docMk/>
            <pc:sldMk cId="0" sldId="265"/>
            <ac:picMk id="2" creationId="{00000000-0000-0000-0000-000000000000}"/>
          </ac:picMkLst>
        </pc:picChg>
        <pc:picChg chg="add">
          <ac:chgData name="Lai, Wilson" userId="2840974a-0d84-4886-90a9-9a3ed79f3a48" providerId="ADAL" clId="{9F23B798-9E84-4552-BA63-E776E805C424}" dt="2026-09-22T01:25:55.675" v="17" actId="22"/>
          <ac:picMkLst>
            <pc:docMk/>
            <pc:sldMk cId="0" sldId="265"/>
            <ac:picMk id="4" creationId="{3FB0502B-37D0-A806-B15C-5C51FD6308D4}"/>
          </ac:picMkLst>
        </pc:picChg>
      </pc:sldChg>
      <pc:sldChg chg="addSp delSp mod modNotes">
        <pc:chgData name="Lai, Wilson" userId="2840974a-0d84-4886-90a9-9a3ed79f3a48" providerId="ADAL" clId="{9F23B798-9E84-4552-BA63-E776E805C424}" dt="2026-09-22T03:27:20.714" v="35"/>
        <pc:sldMkLst>
          <pc:docMk/>
          <pc:sldMk cId="0" sldId="266"/>
        </pc:sldMkLst>
        <pc:picChg chg="del">
          <ac:chgData name="Lai, Wilson" userId="2840974a-0d84-4886-90a9-9a3ed79f3a48" providerId="ADAL" clId="{9F23B798-9E84-4552-BA63-E776E805C424}" dt="2026-09-22T01:25:57.343" v="18" actId="21"/>
          <ac:picMkLst>
            <pc:docMk/>
            <pc:sldMk cId="0" sldId="266"/>
            <ac:picMk id="2" creationId="{00000000-0000-0000-0000-000000000000}"/>
          </ac:picMkLst>
        </pc:picChg>
        <pc:picChg chg="add">
          <ac:chgData name="Lai, Wilson" userId="2840974a-0d84-4886-90a9-9a3ed79f3a48" providerId="ADAL" clId="{9F23B798-9E84-4552-BA63-E776E805C424}" dt="2026-09-22T01:26:07.418" v="19" actId="22"/>
          <ac:picMkLst>
            <pc:docMk/>
            <pc:sldMk cId="0" sldId="266"/>
            <ac:picMk id="4" creationId="{9E2AAEA8-A0FC-4FDD-53A8-A9E7148E9D99}"/>
          </ac:picMkLst>
        </pc:picChg>
      </pc:sldChg>
      <pc:sldChg chg="addSp delSp mod modNotes">
        <pc:chgData name="Lai, Wilson" userId="2840974a-0d84-4886-90a9-9a3ed79f3a48" providerId="ADAL" clId="{9F23B798-9E84-4552-BA63-E776E805C424}" dt="2026-09-22T03:27:20.714" v="35"/>
        <pc:sldMkLst>
          <pc:docMk/>
          <pc:sldMk cId="0" sldId="267"/>
        </pc:sldMkLst>
        <pc:picChg chg="del">
          <ac:chgData name="Lai, Wilson" userId="2840974a-0d84-4886-90a9-9a3ed79f3a48" providerId="ADAL" clId="{9F23B798-9E84-4552-BA63-E776E805C424}" dt="2026-09-22T01:26:08.787" v="20" actId="21"/>
          <ac:picMkLst>
            <pc:docMk/>
            <pc:sldMk cId="0" sldId="267"/>
            <ac:picMk id="2" creationId="{00000000-0000-0000-0000-000000000000}"/>
          </ac:picMkLst>
        </pc:picChg>
        <pc:picChg chg="add">
          <ac:chgData name="Lai, Wilson" userId="2840974a-0d84-4886-90a9-9a3ed79f3a48" providerId="ADAL" clId="{9F23B798-9E84-4552-BA63-E776E805C424}" dt="2026-09-22T01:26:14.888" v="21" actId="22"/>
          <ac:picMkLst>
            <pc:docMk/>
            <pc:sldMk cId="0" sldId="267"/>
            <ac:picMk id="4" creationId="{F9780936-B809-7281-CA62-0B11CCC66A81}"/>
          </ac:picMkLst>
        </pc:picChg>
      </pc:sldChg>
      <pc:sldChg chg="addSp delSp mod modNotes">
        <pc:chgData name="Lai, Wilson" userId="2840974a-0d84-4886-90a9-9a3ed79f3a48" providerId="ADAL" clId="{9F23B798-9E84-4552-BA63-E776E805C424}" dt="2026-09-22T03:27:03.179" v="34"/>
        <pc:sldMkLst>
          <pc:docMk/>
          <pc:sldMk cId="0" sldId="268"/>
        </pc:sldMkLst>
        <pc:picChg chg="del">
          <ac:chgData name="Lai, Wilson" userId="2840974a-0d84-4886-90a9-9a3ed79f3a48" providerId="ADAL" clId="{9F23B798-9E84-4552-BA63-E776E805C424}" dt="2026-09-22T01:26:16.890" v="22" actId="21"/>
          <ac:picMkLst>
            <pc:docMk/>
            <pc:sldMk cId="0" sldId="268"/>
            <ac:picMk id="2" creationId="{00000000-0000-0000-0000-000000000000}"/>
          </ac:picMkLst>
        </pc:picChg>
        <pc:picChg chg="add">
          <ac:chgData name="Lai, Wilson" userId="2840974a-0d84-4886-90a9-9a3ed79f3a48" providerId="ADAL" clId="{9F23B798-9E84-4552-BA63-E776E805C424}" dt="2026-09-22T01:26:23.732" v="23" actId="22"/>
          <ac:picMkLst>
            <pc:docMk/>
            <pc:sldMk cId="0" sldId="268"/>
            <ac:picMk id="4" creationId="{667922BE-232E-1AC3-74DF-15460AD267F8}"/>
          </ac:picMkLst>
        </pc:picChg>
      </pc:sldChg>
      <pc:sldChg chg="modNotes modNotesTx">
        <pc:chgData name="Lai, Wilson" userId="2840974a-0d84-4886-90a9-9a3ed79f3a48" providerId="ADAL" clId="{9F23B798-9E84-4552-BA63-E776E805C424}" dt="2026-09-22T03:27:03.179" v="34"/>
        <pc:sldMkLst>
          <pc:docMk/>
          <pc:sldMk cId="3897721426" sldId="26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20CF8A-83EC-424F-B104-230467B75494}"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92B72E-017B-4EFB-9605-A0F1CF127228}" type="slidenum">
              <a:rPr lang="en-US" smtClean="0"/>
              <a:t>‹#›</a:t>
            </a:fld>
            <a:endParaRPr lang="en-US"/>
          </a:p>
        </p:txBody>
      </p:sp>
    </p:spTree>
    <p:extLst>
      <p:ext uri="{BB962C8B-B14F-4D97-AF65-F5344CB8AC3E}">
        <p14:creationId xmlns:p14="http://schemas.microsoft.com/office/powerpoint/2010/main" val="7433549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Welcome, everyone. Today, we’re looking at what it takes to produce truly timeless creative work in a world obsessed with short-term metrics. We’re drawing from Rick Rubin's playbook—a producer who has guided icons from Jay-Z and Kanye West to Johnny Cash and System of a Down over a 40-year career. </a:t>
            </a:r>
          </a:p>
          <a:p>
            <a:pPr lvl="0"/>
            <a:r>
              <a:rPr lang="en-US" sz="1200" kern="1200" dirty="0">
                <a:solidFill>
                  <a:schemeClr val="tx1"/>
                </a:solidFill>
                <a:effectLst/>
                <a:latin typeface="+mn-lt"/>
                <a:ea typeface="+mn-ea"/>
                <a:cs typeface="+mn-cs"/>
              </a:rPr>
              <a:t>To understand Rick’s mindset, we must first distinguish between two fundamentally different games: </a:t>
            </a:r>
            <a:r>
              <a:rPr lang="en-US" sz="1200" b="1" kern="1200" dirty="0">
                <a:solidFill>
                  <a:schemeClr val="tx1"/>
                </a:solidFill>
                <a:effectLst/>
                <a:latin typeface="+mn-lt"/>
                <a:ea typeface="+mn-ea"/>
                <a:cs typeface="+mn-cs"/>
              </a:rPr>
              <a:t>The Commerce Game</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The Art Game</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In the Commerce Game, the driving forces are near-term incentives, data, and algorithms. You start with the customer, work backward from their demands, and design your process to minimize risk and hit quarterly deliverables. It’s a game of incremental, predictable gains. </a:t>
            </a:r>
          </a:p>
          <a:p>
            <a:pPr lvl="0"/>
            <a:r>
              <a:rPr lang="en-US" sz="1200" kern="1200" dirty="0">
                <a:solidFill>
                  <a:schemeClr val="tx1"/>
                </a:solidFill>
                <a:effectLst/>
                <a:latin typeface="+mn-lt"/>
                <a:ea typeface="+mn-ea"/>
                <a:cs typeface="+mn-cs"/>
              </a:rPr>
              <a:t>In contrast, the Art Game operates on internal resonance. The target audience isn't a demographic or focus group—it’s yourself. Your primary goal is to please your own internal taste and treat the work as a diary entry. Instead of avoiding risk, you embrace extreme, 'indefensible' risk. The timeline isn't quarterly; it's eternal. </a:t>
            </a:r>
          </a:p>
          <a:p>
            <a:pPr lvl="0"/>
            <a:r>
              <a:rPr lang="en-US" sz="1200" kern="1200" dirty="0">
                <a:solidFill>
                  <a:schemeClr val="tx1"/>
                </a:solidFill>
                <a:effectLst/>
                <a:latin typeface="+mn-lt"/>
                <a:ea typeface="+mn-ea"/>
                <a:cs typeface="+mn-cs"/>
              </a:rPr>
              <a:t>As Rick Rubin points out: </a:t>
            </a:r>
            <a:r>
              <a:rPr lang="en-US" sz="1200" i="1" kern="1200" dirty="0">
                <a:solidFill>
                  <a:schemeClr val="tx1"/>
                </a:solidFill>
                <a:effectLst/>
                <a:latin typeface="+mn-lt"/>
                <a:ea typeface="+mn-ea"/>
                <a:cs typeface="+mn-cs"/>
              </a:rPr>
              <a:t>'The more numbers game is a shorter-term game. I've been making things for 40 years. I have never done it the way you're suggesting.'</a:t>
            </a:r>
            <a:r>
              <a:rPr lang="en-US" sz="1200" kern="1200" dirty="0">
                <a:solidFill>
                  <a:schemeClr val="tx1"/>
                </a:solidFill>
                <a:effectLst/>
                <a:latin typeface="+mn-lt"/>
                <a:ea typeface="+mn-ea"/>
                <a:cs typeface="+mn-cs"/>
              </a:rPr>
              <a:t> When you design purely for metrics, you trade cultural impact for short-term safety. </a:t>
            </a:r>
          </a:p>
          <a:p>
            <a:endParaRPr lang="en-US" dirty="0"/>
          </a:p>
          <a:p>
            <a:endParaRPr lang="en-US" dirty="0"/>
          </a:p>
          <a:p>
            <a:endParaRPr lang="en-US" dirty="0"/>
          </a:p>
          <a:p>
            <a:endParaRPr lang="en-US" dirty="0"/>
          </a:p>
          <a:p>
            <a:endParaRPr lang="en-US" dirty="0"/>
          </a:p>
          <a:p>
            <a:r>
              <a:rPr lang="en-US" dirty="0"/>
              <a:t>Rick Rubin: The Only Skill That Matters Now Is The One Thing AI Can Never Steal!</a:t>
            </a:r>
          </a:p>
          <a:p>
            <a:r>
              <a:rPr lang="en-US" dirty="0"/>
              <a:t>https://www.youtube.com/watch?v=a_GiFiHXJ6g</a:t>
            </a:r>
          </a:p>
          <a:p>
            <a:endParaRPr lang="en-US" dirty="0"/>
          </a:p>
        </p:txBody>
      </p:sp>
      <p:sp>
        <p:nvSpPr>
          <p:cNvPr id="4" name="Slide Number Placeholder 3"/>
          <p:cNvSpPr>
            <a:spLocks noGrp="1"/>
          </p:cNvSpPr>
          <p:nvPr>
            <p:ph type="sldNum" sz="quarter" idx="5"/>
          </p:nvPr>
        </p:nvSpPr>
        <p:spPr/>
        <p:txBody>
          <a:bodyPr/>
          <a:lstStyle/>
          <a:p>
            <a:fld id="{D792B72E-017B-4EFB-9605-A0F1CF127228}" type="slidenum">
              <a:rPr lang="en-US" smtClean="0"/>
              <a:t>1</a:t>
            </a:fld>
            <a:endParaRPr lang="en-US"/>
          </a:p>
        </p:txBody>
      </p:sp>
    </p:spTree>
    <p:extLst>
      <p:ext uri="{BB962C8B-B14F-4D97-AF65-F5344CB8AC3E}">
        <p14:creationId xmlns:p14="http://schemas.microsoft.com/office/powerpoint/2010/main" val="35922783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One of the greatest dangers to long-term creativity is what Rick calls the </a:t>
            </a:r>
            <a:r>
              <a:rPr lang="en-US" sz="1200" b="1" kern="1200" dirty="0">
                <a:solidFill>
                  <a:schemeClr val="tx1"/>
                </a:solidFill>
                <a:effectLst/>
                <a:latin typeface="+mn-lt"/>
                <a:ea typeface="+mn-ea"/>
                <a:cs typeface="+mn-cs"/>
              </a:rPr>
              <a:t>Identity Trap</a:t>
            </a:r>
            <a:r>
              <a:rPr lang="en-US" sz="1200" kern="1200" dirty="0">
                <a:solidFill>
                  <a:schemeClr val="tx1"/>
                </a:solidFill>
                <a:effectLst/>
                <a:latin typeface="+mn-lt"/>
                <a:ea typeface="+mn-ea"/>
                <a:cs typeface="+mn-cs"/>
              </a:rPr>
              <a:t>. Early in life or career, we adopt labels—'Lawyer,' 'Producer,' 'Executive,' or 'Father'. </a:t>
            </a:r>
          </a:p>
          <a:p>
            <a:pPr lvl="0"/>
            <a:r>
              <a:rPr lang="en-US" sz="1200" kern="1200" dirty="0">
                <a:solidFill>
                  <a:schemeClr val="tx1"/>
                </a:solidFill>
                <a:effectLst/>
                <a:latin typeface="+mn-lt"/>
                <a:ea typeface="+mn-ea"/>
                <a:cs typeface="+mn-cs"/>
              </a:rPr>
              <a:t>The trap is that we trade fundamental creative freedom for titles that look impressive at cocktail parties or on LinkedIn. But any label you accept narrows your perspective and makes your creative world smaller. </a:t>
            </a:r>
          </a:p>
          <a:p>
            <a:pPr lvl="0"/>
            <a:r>
              <a:rPr lang="en-US" sz="1200" kern="1200" dirty="0">
                <a:solidFill>
                  <a:schemeClr val="tx1"/>
                </a:solidFill>
                <a:effectLst/>
                <a:latin typeface="+mn-lt"/>
                <a:ea typeface="+mn-ea"/>
                <a:cs typeface="+mn-cs"/>
              </a:rPr>
              <a:t>Escaping this trap requires hitting the 'Reset Button'. It means allowing a career path, lifestyle, or static relationship to end or evolve. When you drop a label, you create a vacuum. While a vacuum feels terrifying, it is the only space where new, unexpected opportunities can enter. </a:t>
            </a:r>
          </a:p>
          <a:p>
            <a:pPr lvl="0"/>
            <a:r>
              <a:rPr lang="en-US" sz="1200" kern="1200" dirty="0">
                <a:solidFill>
                  <a:schemeClr val="tx1"/>
                </a:solidFill>
                <a:effectLst/>
                <a:latin typeface="+mn-lt"/>
                <a:ea typeface="+mn-ea"/>
                <a:cs typeface="+mn-cs"/>
              </a:rPr>
              <a:t>Look at Jay-Z. When the makers of Cristal champagne made derogatory comments toward the hip-hop community, Jay-Z didn't analyze the financial loss of cutting ties. He acted purely on principle and cut them off completely. </a:t>
            </a:r>
          </a:p>
          <a:p>
            <a:pPr lvl="0"/>
            <a:r>
              <a:rPr lang="en-US" sz="1200" kern="1200" dirty="0">
                <a:solidFill>
                  <a:schemeClr val="tx1"/>
                </a:solidFill>
                <a:effectLst/>
                <a:latin typeface="+mn-lt"/>
                <a:ea typeface="+mn-ea"/>
                <a:cs typeface="+mn-cs"/>
              </a:rPr>
              <a:t>That action created a massive vacuum in hip-hop luxury culture. The universe filled that gap with Ace of Spades (Armand de Brignac)—a brand Jay-Z built up and eventually sold a 50% stake in to LVMH at a $630M valuation. That level of breakthrough is impossible if you stay trapped inside your existing corporate label. </a:t>
            </a:r>
          </a:p>
        </p:txBody>
      </p:sp>
      <p:sp>
        <p:nvSpPr>
          <p:cNvPr id="4" name="Slide Number Placeholder 3"/>
          <p:cNvSpPr>
            <a:spLocks noGrp="1"/>
          </p:cNvSpPr>
          <p:nvPr>
            <p:ph type="sldNum" sz="quarter" idx="5"/>
          </p:nvPr>
        </p:nvSpPr>
        <p:spPr/>
        <p:txBody>
          <a:bodyPr/>
          <a:lstStyle/>
          <a:p>
            <a:fld id="{D792B72E-017B-4EFB-9605-A0F1CF127228}" type="slidenum">
              <a:rPr lang="en-US" smtClean="0"/>
              <a:t>2</a:t>
            </a:fld>
            <a:endParaRPr lang="en-US"/>
          </a:p>
        </p:txBody>
      </p:sp>
    </p:spTree>
    <p:extLst>
      <p:ext uri="{BB962C8B-B14F-4D97-AF65-F5344CB8AC3E}">
        <p14:creationId xmlns:p14="http://schemas.microsoft.com/office/powerpoint/2010/main" val="42123559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What does it mean for a creative choice to be 'indefensible'? </a:t>
            </a:r>
          </a:p>
          <a:p>
            <a:pPr lvl="0"/>
            <a:r>
              <a:rPr lang="en-US" sz="1200" kern="1200" dirty="0">
                <a:solidFill>
                  <a:schemeClr val="tx1"/>
                </a:solidFill>
                <a:effectLst/>
                <a:latin typeface="+mn-lt"/>
                <a:ea typeface="+mn-ea"/>
                <a:cs typeface="+mn-cs"/>
              </a:rPr>
              <a:t>If a choice is defensible, it can be justified through data, precedent, and consensus. Defensible choices lead to the </a:t>
            </a:r>
            <a:r>
              <a:rPr lang="en-US" sz="1200" b="1" kern="1200" dirty="0">
                <a:solidFill>
                  <a:schemeClr val="tx1"/>
                </a:solidFill>
                <a:effectLst/>
                <a:latin typeface="+mn-lt"/>
                <a:ea typeface="+mn-ea"/>
                <a:cs typeface="+mn-cs"/>
              </a:rPr>
              <a:t>Rational Path</a:t>
            </a:r>
            <a:r>
              <a:rPr lang="en-US" sz="1200" kern="1200" dirty="0">
                <a:solidFill>
                  <a:schemeClr val="tx1"/>
                </a:solidFill>
                <a:effectLst/>
                <a:latin typeface="+mn-lt"/>
                <a:ea typeface="+mn-ea"/>
                <a:cs typeface="+mn-cs"/>
              </a:rPr>
              <a:t>—predictable, safe, and ultimately low cultural impact. </a:t>
            </a:r>
          </a:p>
          <a:p>
            <a:pPr lvl="0"/>
            <a:r>
              <a:rPr lang="en-US" sz="1200" kern="1200" dirty="0">
                <a:solidFill>
                  <a:schemeClr val="tx1"/>
                </a:solidFill>
                <a:effectLst/>
                <a:latin typeface="+mn-lt"/>
                <a:ea typeface="+mn-ea"/>
                <a:cs typeface="+mn-cs"/>
              </a:rPr>
              <a:t>An 'indefensible' choice exists completely beyond conventional logic. It cannot be proved on a spreadsheet before it exists. It requires tuning into universal energy or an internal calling. </a:t>
            </a:r>
          </a:p>
          <a:p>
            <a:pPr lvl="0"/>
            <a:r>
              <a:rPr lang="en-US" sz="1200" kern="1200" dirty="0">
                <a:solidFill>
                  <a:schemeClr val="tx1"/>
                </a:solidFill>
                <a:effectLst/>
                <a:latin typeface="+mn-lt"/>
                <a:ea typeface="+mn-ea"/>
                <a:cs typeface="+mn-cs"/>
              </a:rPr>
              <a:t>The rule here is simple: </a:t>
            </a:r>
            <a:r>
              <a:rPr lang="en-US" sz="1200" b="1" kern="1200" dirty="0">
                <a:solidFill>
                  <a:schemeClr val="tx1"/>
                </a:solidFill>
                <a:effectLst/>
                <a:latin typeface="+mn-lt"/>
                <a:ea typeface="+mn-ea"/>
                <a:cs typeface="+mn-cs"/>
              </a:rPr>
              <a:t>Answer the invitation.</a:t>
            </a:r>
            <a:r>
              <a:rPr lang="en-US" sz="1200" kern="1200" dirty="0">
                <a:solidFill>
                  <a:schemeClr val="tx1"/>
                </a:solidFill>
                <a:effectLst/>
                <a:latin typeface="+mn-lt"/>
                <a:ea typeface="+mn-ea"/>
                <a:cs typeface="+mn-cs"/>
              </a:rPr>
              <a:t> When creative energy moves toward you, participate in the experiment, even if it defies your job description. </a:t>
            </a:r>
          </a:p>
          <a:p>
            <a:pPr lvl="0"/>
            <a:r>
              <a:rPr lang="en-US" sz="1200" kern="1200" dirty="0">
                <a:solidFill>
                  <a:schemeClr val="tx1"/>
                </a:solidFill>
                <a:effectLst/>
                <a:latin typeface="+mn-lt"/>
                <a:ea typeface="+mn-ea"/>
                <a:cs typeface="+mn-cs"/>
              </a:rPr>
              <a:t>Consider Rick Rubin’s recent experience with 'vibe coding'. He began receiving hundreds of memes and references about 'vibe coding'. Rationally, an iconic 60-plus-year-old music producer should ignore a trending tech topic. But he felt energy coming from all directions. </a:t>
            </a:r>
          </a:p>
          <a:p>
            <a:pPr lvl="0"/>
            <a:r>
              <a:rPr lang="en-US" sz="1200" kern="1200" dirty="0">
                <a:solidFill>
                  <a:schemeClr val="tx1"/>
                </a:solidFill>
                <a:effectLst/>
                <a:latin typeface="+mn-lt"/>
                <a:ea typeface="+mn-ea"/>
                <a:cs typeface="+mn-cs"/>
              </a:rPr>
              <a:t>He participated without overthinking: he posted a joke tweet that hit 1.5 million views. When that generated massive interest, he followed the next natural step: putting aside his standard professional commitments to write an entire book on a topic he initially didn't fully understand. That willingness to follow indefensible energy keeps a creative life vital. </a:t>
            </a:r>
          </a:p>
          <a:p>
            <a:endParaRPr lang="en-US" dirty="0"/>
          </a:p>
        </p:txBody>
      </p:sp>
      <p:sp>
        <p:nvSpPr>
          <p:cNvPr id="4" name="Slide Number Placeholder 3"/>
          <p:cNvSpPr>
            <a:spLocks noGrp="1"/>
          </p:cNvSpPr>
          <p:nvPr>
            <p:ph type="sldNum" sz="quarter" idx="5"/>
          </p:nvPr>
        </p:nvSpPr>
        <p:spPr/>
        <p:txBody>
          <a:bodyPr/>
          <a:lstStyle/>
          <a:p>
            <a:fld id="{D792B72E-017B-4EFB-9605-A0F1CF127228}" type="slidenum">
              <a:rPr lang="en-US" smtClean="0"/>
              <a:t>3</a:t>
            </a:fld>
            <a:endParaRPr lang="en-US"/>
          </a:p>
        </p:txBody>
      </p:sp>
    </p:spTree>
    <p:extLst>
      <p:ext uri="{BB962C8B-B14F-4D97-AF65-F5344CB8AC3E}">
        <p14:creationId xmlns:p14="http://schemas.microsoft.com/office/powerpoint/2010/main" val="6366120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There is a direct correlation between creative risk and cultural immortality. If everyone likes your work on the very first listen or view, it's too easy and predictable. </a:t>
            </a:r>
          </a:p>
          <a:p>
            <a:pPr lvl="0"/>
            <a:r>
              <a:rPr lang="en-US" sz="1200" kern="1200" dirty="0">
                <a:solidFill>
                  <a:schemeClr val="tx1"/>
                </a:solidFill>
                <a:effectLst/>
                <a:latin typeface="+mn-lt"/>
                <a:ea typeface="+mn-ea"/>
                <a:cs typeface="+mn-cs"/>
              </a:rPr>
              <a:t>Let's look at three trajectories on this spectrum: </a:t>
            </a:r>
          </a:p>
          <a:p>
            <a:pPr lvl="0"/>
            <a:r>
              <a:rPr lang="en-US" sz="1200" kern="1200" dirty="0">
                <a:solidFill>
                  <a:schemeClr val="tx1"/>
                </a:solidFill>
                <a:effectLst/>
                <a:latin typeface="+mn-lt"/>
                <a:ea typeface="+mn-ea"/>
                <a:cs typeface="+mn-cs"/>
              </a:rPr>
              <a:t>1. </a:t>
            </a:r>
            <a:r>
              <a:rPr lang="en-US" sz="1200" b="1" kern="1200" dirty="0">
                <a:solidFill>
                  <a:schemeClr val="tx1"/>
                </a:solidFill>
                <a:effectLst/>
                <a:latin typeface="+mn-lt"/>
                <a:ea typeface="+mn-ea"/>
                <a:cs typeface="+mn-cs"/>
              </a:rPr>
              <a:t>The Comfortable Death:</a:t>
            </a:r>
            <a:r>
              <a:rPr lang="en-US" sz="1200" kern="1200" dirty="0">
                <a:solidFill>
                  <a:schemeClr val="tx1"/>
                </a:solidFill>
                <a:effectLst/>
                <a:latin typeface="+mn-lt"/>
                <a:ea typeface="+mn-ea"/>
                <a:cs typeface="+mn-cs"/>
              </a:rPr>
              <a:t> Imagine a group like Linkin Park choosing to repeat their classic rap-rock sound indefinitely. You secure short-term guaranteed record sales, but over time, the genre stagnates and dies. </a:t>
            </a:r>
          </a:p>
          <a:p>
            <a:pPr lvl="0"/>
            <a:r>
              <a:rPr lang="en-US" sz="1200" kern="1200" dirty="0">
                <a:solidFill>
                  <a:schemeClr val="tx1"/>
                </a:solidFill>
                <a:effectLst/>
                <a:latin typeface="+mn-lt"/>
                <a:ea typeface="+mn-ea"/>
                <a:cs typeface="+mn-cs"/>
              </a:rPr>
              <a:t>2. </a:t>
            </a:r>
            <a:r>
              <a:rPr lang="en-US" sz="1200" b="1" kern="1200" dirty="0">
                <a:solidFill>
                  <a:schemeClr val="tx1"/>
                </a:solidFill>
                <a:effectLst/>
                <a:latin typeface="+mn-lt"/>
                <a:ea typeface="+mn-ea"/>
                <a:cs typeface="+mn-cs"/>
              </a:rPr>
              <a:t>The Alienating Shift:</a:t>
            </a:r>
            <a:r>
              <a:rPr lang="en-US" sz="1200" kern="1200" dirty="0">
                <a:solidFill>
                  <a:schemeClr val="tx1"/>
                </a:solidFill>
                <a:effectLst/>
                <a:latin typeface="+mn-lt"/>
                <a:ea typeface="+mn-ea"/>
                <a:cs typeface="+mn-cs"/>
              </a:rPr>
              <a:t> When Radiohead released </a:t>
            </a:r>
            <a:r>
              <a:rPr lang="en-US" sz="1200" i="1" kern="1200" dirty="0">
                <a:solidFill>
                  <a:schemeClr val="tx1"/>
                </a:solidFill>
                <a:effectLst/>
                <a:latin typeface="+mn-lt"/>
                <a:ea typeface="+mn-ea"/>
                <a:cs typeface="+mn-cs"/>
              </a:rPr>
              <a:t>Kid A</a:t>
            </a:r>
            <a:r>
              <a:rPr lang="en-US" sz="1200" kern="1200" dirty="0">
                <a:solidFill>
                  <a:schemeClr val="tx1"/>
                </a:solidFill>
                <a:effectLst/>
                <a:latin typeface="+mn-lt"/>
                <a:ea typeface="+mn-ea"/>
                <a:cs typeface="+mn-cs"/>
              </a:rPr>
              <a:t> following the massive success of </a:t>
            </a:r>
            <a:r>
              <a:rPr lang="en-US" sz="1200" i="1" kern="1200" dirty="0">
                <a:solidFill>
                  <a:schemeClr val="tx1"/>
                </a:solidFill>
                <a:effectLst/>
                <a:latin typeface="+mn-lt"/>
                <a:ea typeface="+mn-ea"/>
                <a:cs typeface="+mn-cs"/>
              </a:rPr>
              <a:t>OK Computer</a:t>
            </a:r>
            <a:r>
              <a:rPr lang="en-US" sz="1200" kern="1200" dirty="0">
                <a:solidFill>
                  <a:schemeClr val="tx1"/>
                </a:solidFill>
                <a:effectLst/>
                <a:latin typeface="+mn-lt"/>
                <a:ea typeface="+mn-ea"/>
                <a:cs typeface="+mn-cs"/>
              </a:rPr>
              <a:t>, or when Kanye West dropped </a:t>
            </a:r>
            <a:r>
              <a:rPr lang="en-US" sz="1200" i="1" kern="1200" dirty="0">
                <a:solidFill>
                  <a:schemeClr val="tx1"/>
                </a:solidFill>
                <a:effectLst/>
                <a:latin typeface="+mn-lt"/>
                <a:ea typeface="+mn-ea"/>
                <a:cs typeface="+mn-cs"/>
              </a:rPr>
              <a:t>Yeezus</a:t>
            </a:r>
            <a:r>
              <a:rPr lang="en-US" sz="1200" kern="1200" dirty="0">
                <a:solidFill>
                  <a:schemeClr val="tx1"/>
                </a:solidFill>
                <a:effectLst/>
                <a:latin typeface="+mn-lt"/>
                <a:ea typeface="+mn-ea"/>
                <a:cs typeface="+mn-cs"/>
              </a:rPr>
              <a:t>, listeners were confused and alienated. Rick Rubin notes that when he first heard </a:t>
            </a:r>
            <a:r>
              <a:rPr lang="en-US" sz="1200" i="1" kern="1200" dirty="0">
                <a:solidFill>
                  <a:schemeClr val="tx1"/>
                </a:solidFill>
                <a:effectLst/>
                <a:latin typeface="+mn-lt"/>
                <a:ea typeface="+mn-ea"/>
                <a:cs typeface="+mn-cs"/>
              </a:rPr>
              <a:t>Kid A</a:t>
            </a:r>
            <a:r>
              <a:rPr lang="en-US" sz="1200" kern="1200" dirty="0">
                <a:solidFill>
                  <a:schemeClr val="tx1"/>
                </a:solidFill>
                <a:effectLst/>
                <a:latin typeface="+mn-lt"/>
                <a:ea typeface="+mn-ea"/>
                <a:cs typeface="+mn-cs"/>
              </a:rPr>
              <a:t>, he disliked it because it didn't fit his expectations. Years later, it became his favorite Radiohead album. Polarizing choices reset the cultural paradigm and build long-term value. </a:t>
            </a:r>
          </a:p>
          <a:p>
            <a:pPr lvl="0"/>
            <a:r>
              <a:rPr lang="en-US" sz="1200" kern="1200" dirty="0">
                <a:solidFill>
                  <a:schemeClr val="tx1"/>
                </a:solidFill>
                <a:effectLst/>
                <a:latin typeface="+mn-lt"/>
                <a:ea typeface="+mn-ea"/>
                <a:cs typeface="+mn-cs"/>
              </a:rPr>
              <a:t>3. </a:t>
            </a:r>
            <a:r>
              <a:rPr lang="en-US" sz="1200" b="1" kern="1200" dirty="0">
                <a:solidFill>
                  <a:schemeClr val="tx1"/>
                </a:solidFill>
                <a:effectLst/>
                <a:latin typeface="+mn-lt"/>
                <a:ea typeface="+mn-ea"/>
                <a:cs typeface="+mn-cs"/>
              </a:rPr>
              <a:t>The Indefensible Breakthrough:</a:t>
            </a:r>
            <a:r>
              <a:rPr lang="en-US" sz="1200" kern="1200" dirty="0">
                <a:solidFill>
                  <a:schemeClr val="tx1"/>
                </a:solidFill>
                <a:effectLst/>
                <a:latin typeface="+mn-lt"/>
                <a:ea typeface="+mn-ea"/>
                <a:cs typeface="+mn-cs"/>
              </a:rPr>
              <a:t> Consider System of a Down. When Rick brought their early demo to KROQ—the premier rock station in California—the program director listened to the song 'Sugar' and said: </a:t>
            </a:r>
            <a:r>
              <a:rPr lang="en-US" sz="1200" i="1" kern="1200" dirty="0">
                <a:solidFill>
                  <a:schemeClr val="tx1"/>
                </a:solidFill>
                <a:effectLst/>
                <a:latin typeface="+mn-lt"/>
                <a:ea typeface="+mn-ea"/>
                <a:cs typeface="+mn-cs"/>
              </a:rPr>
              <a:t>'Not only will we not play this record, we will never play this band on our station.'</a:t>
            </a:r>
            <a:r>
              <a:rPr lang="en-US" sz="1200" kern="1200" dirty="0">
                <a:solidFill>
                  <a:schemeClr val="tx1"/>
                </a:solidFill>
                <a:effectLst/>
                <a:latin typeface="+mn-lt"/>
                <a:ea typeface="+mn-ea"/>
                <a:cs typeface="+mn-cs"/>
              </a:rPr>
              <a:t> It sounded insane compared to existing radio music. </a:t>
            </a:r>
          </a:p>
          <a:p>
            <a:pPr lvl="0"/>
            <a:r>
              <a:rPr lang="en-US" sz="1200" kern="1200" dirty="0">
                <a:solidFill>
                  <a:schemeClr val="tx1"/>
                </a:solidFill>
                <a:effectLst/>
                <a:latin typeface="+mn-lt"/>
                <a:ea typeface="+mn-ea"/>
                <a:cs typeface="+mn-cs"/>
              </a:rPr>
              <a:t>One year later, System of a Down was the #1 most requested band on that station. Decades later, they are selling out 80,000 stadium seats in Paris two nights in a row. True works arrive without preexisting context. Risk is the only path to legendary status. </a:t>
            </a:r>
          </a:p>
          <a:p>
            <a:endParaRPr lang="en-US" dirty="0"/>
          </a:p>
        </p:txBody>
      </p:sp>
      <p:sp>
        <p:nvSpPr>
          <p:cNvPr id="4" name="Slide Number Placeholder 3"/>
          <p:cNvSpPr>
            <a:spLocks noGrp="1"/>
          </p:cNvSpPr>
          <p:nvPr>
            <p:ph type="sldNum" sz="quarter" idx="5"/>
          </p:nvPr>
        </p:nvSpPr>
        <p:spPr/>
        <p:txBody>
          <a:bodyPr/>
          <a:lstStyle/>
          <a:p>
            <a:fld id="{D792B72E-017B-4EFB-9605-A0F1CF127228}" type="slidenum">
              <a:rPr lang="en-US" smtClean="0"/>
              <a:t>4</a:t>
            </a:fld>
            <a:endParaRPr lang="en-US"/>
          </a:p>
        </p:txBody>
      </p:sp>
    </p:spTree>
    <p:extLst>
      <p:ext uri="{BB962C8B-B14F-4D97-AF65-F5344CB8AC3E}">
        <p14:creationId xmlns:p14="http://schemas.microsoft.com/office/powerpoint/2010/main" val="19157291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How do we structure time for maximum artistic output? Most organizations apply deadlines at the beginning of a project. Rubin structures creation as a </a:t>
            </a:r>
            <a:r>
              <a:rPr lang="en-US" sz="1200" b="1" kern="1200" dirty="0">
                <a:solidFill>
                  <a:schemeClr val="tx1"/>
                </a:solidFill>
                <a:effectLst/>
                <a:latin typeface="+mn-lt"/>
                <a:ea typeface="+mn-ea"/>
                <a:cs typeface="+mn-cs"/>
              </a:rPr>
              <a:t>Timeline Funnel</a:t>
            </a:r>
            <a:r>
              <a:rPr lang="en-US" sz="1200" kern="1200" dirty="0">
                <a:solidFill>
                  <a:schemeClr val="tx1"/>
                </a:solidFill>
                <a:effectLst/>
                <a:latin typeface="+mn-lt"/>
                <a:ea typeface="+mn-ea"/>
                <a:cs typeface="+mn-cs"/>
              </a:rPr>
              <a:t> split into four distinct phases. </a:t>
            </a:r>
          </a:p>
          <a:p>
            <a:pPr lvl="0"/>
            <a:r>
              <a:rPr lang="en-US" sz="1200" b="1" kern="1200" dirty="0">
                <a:solidFill>
                  <a:schemeClr val="tx1"/>
                </a:solidFill>
                <a:effectLst/>
                <a:latin typeface="+mn-lt"/>
                <a:ea typeface="+mn-ea"/>
                <a:cs typeface="+mn-cs"/>
              </a:rPr>
              <a:t>Phase 1: Seed.</a:t>
            </a:r>
            <a:r>
              <a:rPr lang="en-US" sz="1200" kern="1200" dirty="0">
                <a:solidFill>
                  <a:schemeClr val="tx1"/>
                </a:solidFill>
                <a:effectLst/>
                <a:latin typeface="+mn-lt"/>
                <a:ea typeface="+mn-ea"/>
                <a:cs typeface="+mn-cs"/>
              </a:rPr>
              <a:t> Pure exploration, gathering inputs, and following curiosity with zero pressure or deadlines. </a:t>
            </a:r>
          </a:p>
          <a:p>
            <a:pPr lvl="0"/>
            <a:r>
              <a:rPr lang="en-US" sz="1200" b="1" kern="1200" dirty="0">
                <a:solidFill>
                  <a:schemeClr val="tx1"/>
                </a:solidFill>
                <a:effectLst/>
                <a:latin typeface="+mn-lt"/>
                <a:ea typeface="+mn-ea"/>
                <a:cs typeface="+mn-cs"/>
              </a:rPr>
              <a:t>Phase 2: Experimentation.</a:t>
            </a:r>
            <a:r>
              <a:rPr lang="en-US" sz="1200" kern="1200" dirty="0">
                <a:solidFill>
                  <a:schemeClr val="tx1"/>
                </a:solidFill>
                <a:effectLst/>
                <a:latin typeface="+mn-lt"/>
                <a:ea typeface="+mn-ea"/>
                <a:cs typeface="+mn-cs"/>
              </a:rPr>
              <a:t> Testing what the seeds want to become, following the material where it wants to go. </a:t>
            </a:r>
          </a:p>
          <a:p>
            <a:pPr lvl="0"/>
            <a:r>
              <a:rPr lang="en-US" sz="1200" b="1" kern="1200" dirty="0">
                <a:solidFill>
                  <a:schemeClr val="tx1"/>
                </a:solidFill>
                <a:effectLst/>
                <a:latin typeface="+mn-lt"/>
                <a:ea typeface="+mn-ea"/>
                <a:cs typeface="+mn-cs"/>
              </a:rPr>
              <a:t>Phase 3: Crafting.</a:t>
            </a:r>
            <a:r>
              <a:rPr lang="en-US" sz="1200" kern="1200" dirty="0">
                <a:solidFill>
                  <a:schemeClr val="tx1"/>
                </a:solidFill>
                <a:effectLst/>
                <a:latin typeface="+mn-lt"/>
                <a:ea typeface="+mn-ea"/>
                <a:cs typeface="+mn-cs"/>
              </a:rPr>
              <a:t> Trimming, shaping, and editing the raw material into a coherent structure. </a:t>
            </a:r>
          </a:p>
          <a:p>
            <a:pPr lvl="0"/>
            <a:r>
              <a:rPr lang="en-US" sz="1200" kern="1200" dirty="0">
                <a:solidFill>
                  <a:schemeClr val="tx1"/>
                </a:solidFill>
                <a:effectLst/>
                <a:latin typeface="+mn-lt"/>
                <a:ea typeface="+mn-ea"/>
                <a:cs typeface="+mn-cs"/>
              </a:rPr>
              <a:t>Notice that for Phases 1 through 3, </a:t>
            </a:r>
            <a:r>
              <a:rPr lang="en-US" sz="1200" b="1" kern="1200" dirty="0">
                <a:solidFill>
                  <a:schemeClr val="tx1"/>
                </a:solidFill>
                <a:effectLst/>
                <a:latin typeface="+mn-lt"/>
                <a:ea typeface="+mn-ea"/>
                <a:cs typeface="+mn-cs"/>
              </a:rPr>
              <a:t>NO TIMELINES ARE ALLOWED</a:t>
            </a:r>
            <a:r>
              <a:rPr lang="en-US" sz="1200" kern="1200" dirty="0">
                <a:solidFill>
                  <a:schemeClr val="tx1"/>
                </a:solidFill>
                <a:effectLst/>
                <a:latin typeface="+mn-lt"/>
                <a:ea typeface="+mn-ea"/>
                <a:cs typeface="+mn-cs"/>
              </a:rPr>
              <a:t>. If you impose a deadline during seeding or experimentation, you force standard, predictable solutions. </a:t>
            </a:r>
          </a:p>
          <a:p>
            <a:pPr lvl="0"/>
            <a:r>
              <a:rPr lang="en-US" sz="1200" b="1" kern="1200" dirty="0">
                <a:solidFill>
                  <a:schemeClr val="tx1"/>
                </a:solidFill>
                <a:effectLst/>
                <a:latin typeface="+mn-lt"/>
                <a:ea typeface="+mn-ea"/>
                <a:cs typeface="+mn-cs"/>
              </a:rPr>
              <a:t>Phase 4: Finishing (The Final 10%).</a:t>
            </a:r>
            <a:r>
              <a:rPr lang="en-US" sz="1200" kern="1200" dirty="0">
                <a:solidFill>
                  <a:schemeClr val="tx1"/>
                </a:solidFill>
                <a:effectLst/>
                <a:latin typeface="+mn-lt"/>
                <a:ea typeface="+mn-ea"/>
                <a:cs typeface="+mn-cs"/>
              </a:rPr>
              <a:t> Only when the vision is crystal clear and the core problem is solved do you introduce a strict deadline. In this final stretch, deadlines serve as an essential editorial tool to bring the work into the world. </a:t>
            </a:r>
          </a:p>
          <a:p>
            <a:endParaRPr lang="en-US" dirty="0"/>
          </a:p>
        </p:txBody>
      </p:sp>
      <p:sp>
        <p:nvSpPr>
          <p:cNvPr id="4" name="Slide Number Placeholder 3"/>
          <p:cNvSpPr>
            <a:spLocks noGrp="1"/>
          </p:cNvSpPr>
          <p:nvPr>
            <p:ph type="sldNum" sz="quarter" idx="5"/>
          </p:nvPr>
        </p:nvSpPr>
        <p:spPr/>
        <p:txBody>
          <a:bodyPr/>
          <a:lstStyle/>
          <a:p>
            <a:fld id="{D792B72E-017B-4EFB-9605-A0F1CF127228}" type="slidenum">
              <a:rPr lang="en-US" smtClean="0"/>
              <a:t>5</a:t>
            </a:fld>
            <a:endParaRPr lang="en-US"/>
          </a:p>
        </p:txBody>
      </p:sp>
    </p:spTree>
    <p:extLst>
      <p:ext uri="{BB962C8B-B14F-4D97-AF65-F5344CB8AC3E}">
        <p14:creationId xmlns:p14="http://schemas.microsoft.com/office/powerpoint/2010/main" val="18723666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When projects stall, leaders often label the delay as 'procrastination'. But we must accurately diagnose </a:t>
            </a:r>
            <a:r>
              <a:rPr lang="en-US" sz="1200" i="1" kern="1200" dirty="0">
                <a:solidFill>
                  <a:schemeClr val="tx1"/>
                </a:solidFill>
                <a:effectLst/>
                <a:latin typeface="+mn-lt"/>
                <a:ea typeface="+mn-ea"/>
                <a:cs typeface="+mn-cs"/>
              </a:rPr>
              <a:t>why</a:t>
            </a:r>
            <a:r>
              <a:rPr lang="en-US" sz="1200" kern="1200" dirty="0">
                <a:solidFill>
                  <a:schemeClr val="tx1"/>
                </a:solidFill>
                <a:effectLst/>
                <a:latin typeface="+mn-lt"/>
                <a:ea typeface="+mn-ea"/>
                <a:cs typeface="+mn-cs"/>
              </a:rPr>
              <a:t> a project is delayed. </a:t>
            </a:r>
          </a:p>
          <a:p>
            <a:pPr lvl="0"/>
            <a:r>
              <a:rPr lang="en-US" sz="1200" b="1" kern="1200" dirty="0">
                <a:solidFill>
                  <a:schemeClr val="tx1"/>
                </a:solidFill>
                <a:effectLst/>
                <a:latin typeface="+mn-lt"/>
                <a:ea typeface="+mn-ea"/>
                <a:cs typeface="+mn-cs"/>
              </a:rPr>
              <a:t>The Procrastinator (Fear-Driven):</a:t>
            </a:r>
            <a:r>
              <a:rPr lang="en-US" sz="1200" kern="1200" dirty="0">
                <a:solidFill>
                  <a:schemeClr val="tx1"/>
                </a:solidFill>
                <a:effectLst/>
                <a:latin typeface="+mn-lt"/>
                <a:ea typeface="+mn-ea"/>
                <a:cs typeface="+mn-cs"/>
              </a:rPr>
              <a:t> The root cause is terror of public judgment. Releasing work means confronting reality and potential failure. The creator avoids finishing because holding onto an unreleased project keeps the dream safe. The longer the delay, the heavier the emotional expectation becomes. </a:t>
            </a:r>
          </a:p>
          <a:p>
            <a:pPr lvl="0"/>
            <a:r>
              <a:rPr lang="en-US" sz="1200" b="1" kern="1200" dirty="0">
                <a:solidFill>
                  <a:schemeClr val="tx1"/>
                </a:solidFill>
                <a:effectLst/>
                <a:latin typeface="+mn-lt"/>
                <a:ea typeface="+mn-ea"/>
                <a:cs typeface="+mn-cs"/>
              </a:rPr>
              <a:t>The Perfectionist (Craft-Driven):</a:t>
            </a:r>
            <a:r>
              <a:rPr lang="en-US" sz="1200" kern="1200" dirty="0">
                <a:solidFill>
                  <a:schemeClr val="tx1"/>
                </a:solidFill>
                <a:effectLst/>
                <a:latin typeface="+mn-lt"/>
                <a:ea typeface="+mn-ea"/>
                <a:cs typeface="+mn-cs"/>
              </a:rPr>
              <a:t> This delay comes from an uncompromising commitment to taste. The creator isn't running away from judgment; they are showing up every single day to refine the work. </a:t>
            </a:r>
          </a:p>
          <a:p>
            <a:pPr lvl="0"/>
            <a:r>
              <a:rPr lang="en-US" sz="1200" kern="1200" dirty="0">
                <a:solidFill>
                  <a:schemeClr val="tx1"/>
                </a:solidFill>
                <a:effectLst/>
                <a:latin typeface="+mn-lt"/>
                <a:ea typeface="+mn-ea"/>
                <a:cs typeface="+mn-cs"/>
              </a:rPr>
              <a:t>Look at Tom Petty making his masterpiece album </a:t>
            </a:r>
            <a:r>
              <a:rPr lang="en-US" sz="1200" i="1" kern="1200" dirty="0">
                <a:solidFill>
                  <a:schemeClr val="tx1"/>
                </a:solidFill>
                <a:effectLst/>
                <a:latin typeface="+mn-lt"/>
                <a:ea typeface="+mn-ea"/>
                <a:cs typeface="+mn-cs"/>
              </a:rPr>
              <a:t>Wildflowers</a:t>
            </a:r>
            <a:r>
              <a:rPr lang="en-US" sz="1200" kern="1200" dirty="0">
                <a:solidFill>
                  <a:schemeClr val="tx1"/>
                </a:solidFill>
                <a:effectLst/>
                <a:latin typeface="+mn-lt"/>
                <a:ea typeface="+mn-ea"/>
                <a:cs typeface="+mn-cs"/>
              </a:rPr>
              <a:t>. He spent 2.5 years relentlessly polishing those songs. He wasn't hiding from the public out of fear; he stayed in the studio because every vocal line, tempo, and lyric had to meet his internal standard of perfection. </a:t>
            </a:r>
          </a:p>
          <a:p>
            <a:pPr lvl="0"/>
            <a:r>
              <a:rPr lang="en-US" sz="1200" kern="1200" dirty="0">
                <a:solidFill>
                  <a:schemeClr val="tx1"/>
                </a:solidFill>
                <a:effectLst/>
                <a:latin typeface="+mn-lt"/>
                <a:ea typeface="+mn-ea"/>
                <a:cs typeface="+mn-cs"/>
              </a:rPr>
              <a:t>As leaders and creators, know which delay you are dealing with: fear needs courage, but craft needs time. </a:t>
            </a:r>
          </a:p>
          <a:p>
            <a:endParaRPr lang="en-US" dirty="0"/>
          </a:p>
        </p:txBody>
      </p:sp>
      <p:sp>
        <p:nvSpPr>
          <p:cNvPr id="4" name="Slide Number Placeholder 3"/>
          <p:cNvSpPr>
            <a:spLocks noGrp="1"/>
          </p:cNvSpPr>
          <p:nvPr>
            <p:ph type="sldNum" sz="quarter" idx="5"/>
          </p:nvPr>
        </p:nvSpPr>
        <p:spPr/>
        <p:txBody>
          <a:bodyPr/>
          <a:lstStyle/>
          <a:p>
            <a:fld id="{D792B72E-017B-4EFB-9605-A0F1CF127228}" type="slidenum">
              <a:rPr lang="en-US" smtClean="0"/>
              <a:t>6</a:t>
            </a:fld>
            <a:endParaRPr lang="en-US"/>
          </a:p>
        </p:txBody>
      </p:sp>
    </p:spTree>
    <p:extLst>
      <p:ext uri="{BB962C8B-B14F-4D97-AF65-F5344CB8AC3E}">
        <p14:creationId xmlns:p14="http://schemas.microsoft.com/office/powerpoint/2010/main" val="1106450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We are all born naturally creative, but institutional systems teach us to follow rules, comply, and conform. Over time, we absorb the opinions of teachers, parents, bosses, and social media metrics until we lose trust in our internal taste. </a:t>
            </a:r>
          </a:p>
          <a:p>
            <a:pPr lvl="0"/>
            <a:r>
              <a:rPr lang="en-US" sz="1200" kern="1200" dirty="0">
                <a:solidFill>
                  <a:schemeClr val="tx1"/>
                </a:solidFill>
                <a:effectLst/>
                <a:latin typeface="+mn-lt"/>
                <a:ea typeface="+mn-ea"/>
                <a:cs typeface="+mn-cs"/>
              </a:rPr>
              <a:t>This slide illustrates </a:t>
            </a:r>
            <a:r>
              <a:rPr lang="en-US" sz="1200" b="1" kern="1200" dirty="0">
                <a:solidFill>
                  <a:schemeClr val="tx1"/>
                </a:solidFill>
                <a:effectLst/>
                <a:latin typeface="+mn-lt"/>
                <a:ea typeface="+mn-ea"/>
                <a:cs typeface="+mn-cs"/>
              </a:rPr>
              <a:t>Tuning the Internal Antenna</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Module 1 (The Problem):</a:t>
            </a:r>
            <a:r>
              <a:rPr lang="en-US" sz="1200" kern="1200" dirty="0">
                <a:solidFill>
                  <a:schemeClr val="tx1"/>
                </a:solidFill>
                <a:effectLst/>
                <a:latin typeface="+mn-lt"/>
                <a:ea typeface="+mn-ea"/>
                <a:cs typeface="+mn-cs"/>
              </a:rPr>
              <a:t> The top layer is 'The Surface / The Noise'—constant chatter, trends, feedback loops, and fear. </a:t>
            </a:r>
          </a:p>
          <a:p>
            <a:pPr lvl="0"/>
            <a:r>
              <a:rPr lang="en-US" sz="1200" b="1" kern="1200" dirty="0">
                <a:solidFill>
                  <a:schemeClr val="tx1"/>
                </a:solidFill>
                <a:effectLst/>
                <a:latin typeface="+mn-lt"/>
                <a:ea typeface="+mn-ea"/>
                <a:cs typeface="+mn-cs"/>
              </a:rPr>
              <a:t>Module 2 (The Catalyst):</a:t>
            </a:r>
            <a:r>
              <a:rPr lang="en-US" sz="1200" kern="1200" dirty="0">
                <a:solidFill>
                  <a:schemeClr val="tx1"/>
                </a:solidFill>
                <a:effectLst/>
                <a:latin typeface="+mn-lt"/>
                <a:ea typeface="+mn-ea"/>
                <a:cs typeface="+mn-cs"/>
              </a:rPr>
              <a:t> Rubin started practicing Transcendental Meditation (TM) at age 14. TM isn't just about relaxation; it's a biological and spiritual practice for building self-awareness. It quietens the surface noise so you can connect to 'The Depth / The Knowingness' below. </a:t>
            </a:r>
          </a:p>
          <a:p>
            <a:pPr lvl="0"/>
            <a:r>
              <a:rPr lang="en-US" sz="1200" b="1" kern="1200" dirty="0">
                <a:solidFill>
                  <a:schemeClr val="tx1"/>
                </a:solidFill>
                <a:effectLst/>
                <a:latin typeface="+mn-lt"/>
                <a:ea typeface="+mn-ea"/>
                <a:cs typeface="+mn-cs"/>
              </a:rPr>
              <a:t>Module 3 (The Test):</a:t>
            </a:r>
            <a:r>
              <a:rPr lang="en-US" sz="1200" kern="1200" dirty="0">
                <a:solidFill>
                  <a:schemeClr val="tx1"/>
                </a:solidFill>
                <a:effectLst/>
                <a:latin typeface="+mn-lt"/>
                <a:ea typeface="+mn-ea"/>
                <a:cs typeface="+mn-cs"/>
              </a:rPr>
              <a:t> How do you evaluate your work once you've tuned your antenna? Rubin uses a simple analogy: </a:t>
            </a:r>
            <a:r>
              <a:rPr lang="en-US" sz="1200" i="1" kern="1200" dirty="0">
                <a:solidFill>
                  <a:schemeClr val="tx1"/>
                </a:solidFill>
                <a:effectLst/>
                <a:latin typeface="+mn-lt"/>
                <a:ea typeface="+mn-ea"/>
                <a:cs typeface="+mn-cs"/>
              </a:rPr>
              <a:t>'Which piece of pizza tastes better to me?'</a:t>
            </a:r>
            <a:r>
              <a:rPr lang="en-US" sz="1200" kern="1200" dirty="0">
                <a:solidFill>
                  <a:schemeClr val="tx1"/>
                </a:solidFill>
                <a:effectLst/>
                <a:latin typeface="+mn-lt"/>
                <a:ea typeface="+mn-ea"/>
                <a:cs typeface="+mn-cs"/>
              </a:rPr>
              <a:t> You don't ask a focus group which slice of pizza you like—you eat it and know instantly. Your creative output should follow that same level of instinctive trust. </a:t>
            </a:r>
          </a:p>
          <a:p>
            <a:endParaRPr lang="en-US" dirty="0"/>
          </a:p>
        </p:txBody>
      </p:sp>
      <p:sp>
        <p:nvSpPr>
          <p:cNvPr id="4" name="Slide Number Placeholder 3"/>
          <p:cNvSpPr>
            <a:spLocks noGrp="1"/>
          </p:cNvSpPr>
          <p:nvPr>
            <p:ph type="sldNum" sz="quarter" idx="5"/>
          </p:nvPr>
        </p:nvSpPr>
        <p:spPr/>
        <p:txBody>
          <a:bodyPr/>
          <a:lstStyle/>
          <a:p>
            <a:fld id="{D792B72E-017B-4EFB-9605-A0F1CF127228}" type="slidenum">
              <a:rPr lang="en-US" smtClean="0"/>
              <a:t>7</a:t>
            </a:fld>
            <a:endParaRPr lang="en-US"/>
          </a:p>
        </p:txBody>
      </p:sp>
    </p:spTree>
    <p:extLst>
      <p:ext uri="{BB962C8B-B14F-4D97-AF65-F5344CB8AC3E}">
        <p14:creationId xmlns:p14="http://schemas.microsoft.com/office/powerpoint/2010/main" val="32624188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artificial intelligence reshapes creative industries, many worry that AI will render human creativity obsolete.   To understand why that isn't the case, we look at the Prompt vs. Execution Architecture:   Historically, execution was the highest hurdle. But history shows us that vision has always outranked technical execution. Andy Warhol didn't manually screen-print every piece; he gave instructions to assistants in his Factory. Alfred Hitchcock fully storyboarded his movies down to the frame before setting foot on set.   AI is the ultimate studio assistant. It can execute production tasks instantly. But AI lacks a unique Point of View. It has no personal taste, no human trauma, no joy, and no distinct lens on existence.   Because the barrier to execution has dropped to zero, execution itself is commoditized. The true value of art moves entirely to ideation, perspective, and human discernment. </a:t>
            </a:r>
          </a:p>
        </p:txBody>
      </p:sp>
      <p:sp>
        <p:nvSpPr>
          <p:cNvPr id="4" name="Slide Number Placeholder 3"/>
          <p:cNvSpPr>
            <a:spLocks noGrp="1"/>
          </p:cNvSpPr>
          <p:nvPr>
            <p:ph type="sldNum" sz="quarter" idx="5"/>
          </p:nvPr>
        </p:nvSpPr>
        <p:spPr/>
        <p:txBody>
          <a:bodyPr/>
          <a:lstStyle/>
          <a:p>
            <a:fld id="{D792B72E-017B-4EFB-9605-A0F1CF127228}" type="slidenum">
              <a:rPr lang="en-US" smtClean="0"/>
              <a:t>8</a:t>
            </a:fld>
            <a:endParaRPr lang="en-US"/>
          </a:p>
        </p:txBody>
      </p:sp>
    </p:spTree>
    <p:extLst>
      <p:ext uri="{BB962C8B-B14F-4D97-AF65-F5344CB8AC3E}">
        <p14:creationId xmlns:p14="http://schemas.microsoft.com/office/powerpoint/2010/main" val="41398958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There is a myth that 'real' creators follow a specific, rigid working method. The truth is that every great artist develops an internal mechanism tailored to their mind. </a:t>
            </a:r>
          </a:p>
          <a:p>
            <a:pPr lvl="0"/>
            <a:r>
              <a:rPr lang="en-US" sz="1200" kern="1200" dirty="0">
                <a:solidFill>
                  <a:schemeClr val="tx1"/>
                </a:solidFill>
                <a:effectLst/>
                <a:latin typeface="+mn-lt"/>
                <a:ea typeface="+mn-ea"/>
                <a:cs typeface="+mn-cs"/>
              </a:rPr>
              <a:t>Consider how Jay-Z recorded the classic track '99 Problems' with Rick Rubin:</a:t>
            </a:r>
          </a:p>
          <a:p>
            <a:pPr lvl="0"/>
            <a:r>
              <a:rPr lang="en-US" sz="1200" kern="1200" dirty="0">
                <a:solidFill>
                  <a:schemeClr val="tx1"/>
                </a:solidFill>
                <a:effectLst/>
                <a:latin typeface="+mn-lt"/>
                <a:ea typeface="+mn-ea"/>
                <a:cs typeface="+mn-cs"/>
              </a:rPr>
              <a:t>While most rappers filled notebooks with lyrics, Jay-Z didn't write down a single line. He asked Rick to loop the beat for 30 minutes straight. He sat quietly in the back of the studio, humming and mumbling. </a:t>
            </a:r>
          </a:p>
          <a:p>
            <a:pPr lvl="0"/>
            <a:r>
              <a:rPr lang="en-US" sz="1200" kern="1200" dirty="0">
                <a:solidFill>
                  <a:schemeClr val="tx1"/>
                </a:solidFill>
                <a:effectLst/>
                <a:latin typeface="+mn-lt"/>
                <a:ea typeface="+mn-ea"/>
                <a:cs typeface="+mn-cs"/>
              </a:rPr>
              <a:t>After 30 minutes, he stepped up to the microphone and delivered complete, intricate verses directly from memory, adjusting his cadence like a jazz musician.</a:t>
            </a:r>
          </a:p>
          <a:p>
            <a:pPr lvl="0"/>
            <a:r>
              <a:rPr lang="en-US" sz="1200" kern="1200" dirty="0">
                <a:solidFill>
                  <a:schemeClr val="tx1"/>
                </a:solidFill>
                <a:effectLst/>
                <a:latin typeface="+mn-lt"/>
                <a:ea typeface="+mn-ea"/>
                <a:cs typeface="+mn-cs"/>
              </a:rPr>
              <a:t>Compare that to Eminem, who writes constantly—filling stacks of notebooks with rhymes he may never use, just to sharpen his technique.</a:t>
            </a:r>
          </a:p>
          <a:p>
            <a:pPr lvl="0"/>
            <a:r>
              <a:rPr lang="en-US" sz="1200" kern="1200" dirty="0">
                <a:solidFill>
                  <a:schemeClr val="tx1"/>
                </a:solidFill>
                <a:effectLst/>
                <a:latin typeface="+mn-lt"/>
                <a:ea typeface="+mn-ea"/>
                <a:cs typeface="+mn-cs"/>
              </a:rPr>
              <a:t>Neither process is superior. The key is finding the exact workflow that allows you to bypass self-doubt and access your instincts. </a:t>
            </a:r>
          </a:p>
          <a:p>
            <a:endParaRPr lang="en-US" dirty="0"/>
          </a:p>
        </p:txBody>
      </p:sp>
      <p:sp>
        <p:nvSpPr>
          <p:cNvPr id="4" name="Slide Number Placeholder 3"/>
          <p:cNvSpPr>
            <a:spLocks noGrp="1"/>
          </p:cNvSpPr>
          <p:nvPr>
            <p:ph type="sldNum" sz="quarter" idx="5"/>
          </p:nvPr>
        </p:nvSpPr>
        <p:spPr/>
        <p:txBody>
          <a:bodyPr/>
          <a:lstStyle/>
          <a:p>
            <a:fld id="{D792B72E-017B-4EFB-9605-A0F1CF127228}" type="slidenum">
              <a:rPr lang="en-US" smtClean="0"/>
              <a:t>9</a:t>
            </a:fld>
            <a:endParaRPr lang="en-US"/>
          </a:p>
        </p:txBody>
      </p:sp>
    </p:spTree>
    <p:extLst>
      <p:ext uri="{BB962C8B-B14F-4D97-AF65-F5344CB8AC3E}">
        <p14:creationId xmlns:p14="http://schemas.microsoft.com/office/powerpoint/2010/main" val="27560489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Most commercial work operates on a horizontal axis: </a:t>
            </a:r>
            <a:r>
              <a:rPr lang="en-US" sz="1200" b="1" kern="1200" dirty="0">
                <a:solidFill>
                  <a:schemeClr val="tx1"/>
                </a:solidFill>
                <a:effectLst/>
                <a:latin typeface="+mn-lt"/>
                <a:ea typeface="+mn-ea"/>
                <a:cs typeface="+mn-cs"/>
              </a:rPr>
              <a:t>Creator to Consumer</a:t>
            </a:r>
            <a:r>
              <a:rPr lang="en-US" sz="1200" kern="1200" dirty="0">
                <a:solidFill>
                  <a:schemeClr val="tx1"/>
                </a:solidFill>
                <a:effectLst/>
                <a:latin typeface="+mn-lt"/>
                <a:ea typeface="+mn-ea"/>
                <a:cs typeface="+mn-cs"/>
              </a:rPr>
              <a:t>. You create a product to exchange for sales, likes, reviews, or market validation. </a:t>
            </a:r>
          </a:p>
          <a:p>
            <a:pPr lvl="0"/>
            <a:r>
              <a:rPr lang="en-US" sz="1200" kern="1200" dirty="0">
                <a:solidFill>
                  <a:schemeClr val="tx1"/>
                </a:solidFill>
                <a:effectLst/>
                <a:latin typeface="+mn-lt"/>
                <a:ea typeface="+mn-ea"/>
                <a:cs typeface="+mn-cs"/>
              </a:rPr>
              <a:t>Rubin advocates for </a:t>
            </a:r>
            <a:r>
              <a:rPr lang="en-US" sz="1200" b="1" kern="1200" dirty="0">
                <a:solidFill>
                  <a:schemeClr val="tx1"/>
                </a:solidFill>
                <a:effectLst/>
                <a:latin typeface="+mn-lt"/>
                <a:ea typeface="+mn-ea"/>
                <a:cs typeface="+mn-cs"/>
              </a:rPr>
              <a:t>The Epiphany Axis Shift</a:t>
            </a:r>
            <a:r>
              <a:rPr lang="en-US" sz="1200" kern="1200" dirty="0">
                <a:solidFill>
                  <a:schemeClr val="tx1"/>
                </a:solidFill>
                <a:effectLst/>
                <a:latin typeface="+mn-lt"/>
                <a:ea typeface="+mn-ea"/>
                <a:cs typeface="+mn-cs"/>
              </a:rPr>
              <a:t>—moving to a vertical axis: </a:t>
            </a:r>
            <a:r>
              <a:rPr lang="en-US" sz="1200" b="1" kern="1200" dirty="0">
                <a:solidFill>
                  <a:schemeClr val="tx1"/>
                </a:solidFill>
                <a:effectLst/>
                <a:latin typeface="+mn-lt"/>
                <a:ea typeface="+mn-ea"/>
                <a:cs typeface="+mn-cs"/>
              </a:rPr>
              <a:t>Creator to Higher Intelligence</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When you approach creation as a higher offering or a diary entry, your relationship to the work changes entirely. </a:t>
            </a:r>
          </a:p>
          <a:p>
            <a:pPr lvl="0"/>
            <a:r>
              <a:rPr lang="en-US" sz="1200" kern="1200" dirty="0">
                <a:solidFill>
                  <a:schemeClr val="tx1"/>
                </a:solidFill>
                <a:effectLst/>
                <a:latin typeface="+mn-lt"/>
                <a:ea typeface="+mn-ea"/>
                <a:cs typeface="+mn-cs"/>
              </a:rPr>
              <a:t>Rubin states: </a:t>
            </a:r>
            <a:r>
              <a:rPr lang="en-US" sz="1200" i="1" kern="1200" dirty="0">
                <a:solidFill>
                  <a:schemeClr val="tx1"/>
                </a:solidFill>
                <a:effectLst/>
                <a:latin typeface="+mn-lt"/>
                <a:ea typeface="+mn-ea"/>
                <a:cs typeface="+mn-cs"/>
              </a:rPr>
              <a:t>'I came to realize we're making it as an offering... I want to show you my best out of love and gratitude. There is no metric that competes with that.'</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Art is ultimate self-expression. Consciousness explores the world through individual experience. Your job is simply to say, </a:t>
            </a:r>
            <a:r>
              <a:rPr lang="en-US" sz="1200" i="1" kern="1200" dirty="0">
                <a:solidFill>
                  <a:schemeClr val="tx1"/>
                </a:solidFill>
                <a:effectLst/>
                <a:latin typeface="+mn-lt"/>
                <a:ea typeface="+mn-ea"/>
                <a:cs typeface="+mn-cs"/>
              </a:rPr>
              <a:t>'This is how I see the world,'</a:t>
            </a:r>
            <a:r>
              <a:rPr lang="en-US" sz="1200" kern="1200" dirty="0">
                <a:solidFill>
                  <a:schemeClr val="tx1"/>
                </a:solidFill>
                <a:effectLst/>
                <a:latin typeface="+mn-lt"/>
                <a:ea typeface="+mn-ea"/>
                <a:cs typeface="+mn-cs"/>
              </a:rPr>
              <a:t> and invite others to show who they are. When you frame your work as an offering rather than a transaction, you build something timeless. </a:t>
            </a:r>
          </a:p>
          <a:p>
            <a:endParaRPr lang="en-US" dirty="0"/>
          </a:p>
        </p:txBody>
      </p:sp>
      <p:sp>
        <p:nvSpPr>
          <p:cNvPr id="4" name="Slide Number Placeholder 3"/>
          <p:cNvSpPr>
            <a:spLocks noGrp="1"/>
          </p:cNvSpPr>
          <p:nvPr>
            <p:ph type="sldNum" sz="quarter" idx="5"/>
          </p:nvPr>
        </p:nvSpPr>
        <p:spPr/>
        <p:txBody>
          <a:bodyPr/>
          <a:lstStyle/>
          <a:p>
            <a:fld id="{D792B72E-017B-4EFB-9605-A0F1CF127228}" type="slidenum">
              <a:rPr lang="en-US" smtClean="0"/>
              <a:t>10</a:t>
            </a:fld>
            <a:endParaRPr lang="en-US"/>
          </a:p>
        </p:txBody>
      </p:sp>
    </p:spTree>
    <p:extLst>
      <p:ext uri="{BB962C8B-B14F-4D97-AF65-F5344CB8AC3E}">
        <p14:creationId xmlns:p14="http://schemas.microsoft.com/office/powerpoint/2010/main" val="19577778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As we look at this image of the human brain, let’s reflect on where we spend most of our working lives. </a:t>
            </a:r>
          </a:p>
          <a:p>
            <a:pPr lvl="0"/>
            <a:r>
              <a:rPr lang="en-US" sz="1200" kern="1200" dirty="0">
                <a:solidFill>
                  <a:schemeClr val="tx1"/>
                </a:solidFill>
                <a:effectLst/>
                <a:latin typeface="+mn-lt"/>
                <a:ea typeface="+mn-ea"/>
                <a:cs typeface="+mn-cs"/>
              </a:rPr>
              <a:t>We spend our days analyzing metrics, evaluating risk matrices, and optimizing for external approval. We train our logical left-brain to solve analytical problems. </a:t>
            </a:r>
          </a:p>
          <a:p>
            <a:pPr lvl="0"/>
            <a:r>
              <a:rPr lang="en-US" sz="1200" kern="1200" dirty="0">
                <a:solidFill>
                  <a:schemeClr val="tx1"/>
                </a:solidFill>
                <a:effectLst/>
                <a:latin typeface="+mn-lt"/>
                <a:ea typeface="+mn-ea"/>
                <a:cs typeface="+mn-cs"/>
              </a:rPr>
              <a:t>Intellectual analysis is valuable for execution, but it cannot generate original artistic vision. Pure logic only operates on what already exists. </a:t>
            </a:r>
          </a:p>
          <a:p>
            <a:pPr lvl="0"/>
            <a:r>
              <a:rPr lang="en-US" sz="1200" kern="1200" dirty="0">
                <a:solidFill>
                  <a:schemeClr val="tx1"/>
                </a:solidFill>
                <a:effectLst/>
                <a:latin typeface="+mn-lt"/>
                <a:ea typeface="+mn-ea"/>
                <a:cs typeface="+mn-cs"/>
              </a:rPr>
              <a:t>To make breakthrough discoveries, we must transcend analytical overthinking and tap into deep subconscious intuition.</a:t>
            </a:r>
          </a:p>
          <a:p>
            <a:endParaRPr lang="en-US" dirty="0"/>
          </a:p>
        </p:txBody>
      </p:sp>
      <p:sp>
        <p:nvSpPr>
          <p:cNvPr id="4" name="Slide Number Placeholder 3"/>
          <p:cNvSpPr>
            <a:spLocks noGrp="1"/>
          </p:cNvSpPr>
          <p:nvPr>
            <p:ph type="sldNum" sz="quarter" idx="5"/>
          </p:nvPr>
        </p:nvSpPr>
        <p:spPr/>
        <p:txBody>
          <a:bodyPr/>
          <a:lstStyle/>
          <a:p>
            <a:fld id="{D792B72E-017B-4EFB-9605-A0F1CF127228}" type="slidenum">
              <a:rPr lang="en-US" smtClean="0"/>
              <a:t>11</a:t>
            </a:fld>
            <a:endParaRPr lang="en-US"/>
          </a:p>
        </p:txBody>
      </p:sp>
    </p:spTree>
    <p:extLst>
      <p:ext uri="{BB962C8B-B14F-4D97-AF65-F5344CB8AC3E}">
        <p14:creationId xmlns:p14="http://schemas.microsoft.com/office/powerpoint/2010/main" val="5239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This image represents the moment a creator breaks free from constraints. </a:t>
            </a:r>
          </a:p>
          <a:p>
            <a:pPr lvl="0"/>
            <a:r>
              <a:rPr lang="en-US" sz="1200" kern="1200" dirty="0">
                <a:solidFill>
                  <a:schemeClr val="tx1"/>
                </a:solidFill>
                <a:effectLst/>
                <a:latin typeface="+mn-lt"/>
                <a:ea typeface="+mn-ea"/>
                <a:cs typeface="+mn-cs"/>
              </a:rPr>
              <a:t>The chains represent metric-driven thinking, the fear of public judgment, rigid job titles, and short-term expectations. </a:t>
            </a:r>
          </a:p>
          <a:p>
            <a:pPr lvl="0"/>
            <a:r>
              <a:rPr lang="en-US" sz="1200" kern="1200" dirty="0">
                <a:solidFill>
                  <a:schemeClr val="tx1"/>
                </a:solidFill>
                <a:effectLst/>
                <a:latin typeface="+mn-lt"/>
                <a:ea typeface="+mn-ea"/>
                <a:cs typeface="+mn-cs"/>
              </a:rPr>
              <a:t>When you step onto the indefensible path, you break those chains. You stop asking for permission to create. You step into authentic expression, fully accountable to your own taste and vision. </a:t>
            </a:r>
          </a:p>
          <a:p>
            <a:endParaRPr lang="en-US" dirty="0"/>
          </a:p>
        </p:txBody>
      </p:sp>
      <p:sp>
        <p:nvSpPr>
          <p:cNvPr id="4" name="Slide Number Placeholder 3"/>
          <p:cNvSpPr>
            <a:spLocks noGrp="1"/>
          </p:cNvSpPr>
          <p:nvPr>
            <p:ph type="sldNum" sz="quarter" idx="5"/>
          </p:nvPr>
        </p:nvSpPr>
        <p:spPr/>
        <p:txBody>
          <a:bodyPr/>
          <a:lstStyle/>
          <a:p>
            <a:fld id="{D792B72E-017B-4EFB-9605-A0F1CF127228}" type="slidenum">
              <a:rPr lang="en-US" smtClean="0"/>
              <a:t>12</a:t>
            </a:fld>
            <a:endParaRPr lang="en-US"/>
          </a:p>
        </p:txBody>
      </p:sp>
    </p:spTree>
    <p:extLst>
      <p:ext uri="{BB962C8B-B14F-4D97-AF65-F5344CB8AC3E}">
        <p14:creationId xmlns:p14="http://schemas.microsoft.com/office/powerpoint/2010/main" val="830175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close, let's review the six foundational principles of </a:t>
            </a:r>
            <a:r>
              <a:rPr lang="en-US" sz="1200" b="1" kern="1200" dirty="0">
                <a:solidFill>
                  <a:schemeClr val="tx1"/>
                </a:solidFill>
                <a:effectLst/>
                <a:latin typeface="+mn-lt"/>
                <a:ea typeface="+mn-ea"/>
                <a:cs typeface="+mn-cs"/>
              </a:rPr>
              <a:t>The Intuitive Mindset</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1. </a:t>
            </a:r>
            <a:r>
              <a:rPr lang="en-US" sz="1200" b="1" kern="1200" dirty="0">
                <a:solidFill>
                  <a:schemeClr val="tx1"/>
                </a:solidFill>
                <a:effectLst/>
                <a:latin typeface="+mn-lt"/>
                <a:ea typeface="+mn-ea"/>
                <a:cs typeface="+mn-cs"/>
              </a:rPr>
              <a:t>Embrace the 'Indefensible':</a:t>
            </a:r>
            <a:r>
              <a:rPr lang="en-US" sz="1200" kern="1200" dirty="0">
                <a:solidFill>
                  <a:schemeClr val="tx1"/>
                </a:solidFill>
                <a:effectLst/>
                <a:latin typeface="+mn-lt"/>
                <a:ea typeface="+mn-ea"/>
                <a:cs typeface="+mn-cs"/>
              </a:rPr>
              <a:t> Rational logic is only a small part of decision-making. Follow your intuition even when you cannot defend it on a spreadsheet. </a:t>
            </a:r>
          </a:p>
          <a:p>
            <a:pPr lvl="0"/>
            <a:r>
              <a:rPr lang="en-US" sz="1200" kern="1200" dirty="0">
                <a:solidFill>
                  <a:schemeClr val="tx1"/>
                </a:solidFill>
                <a:effectLst/>
                <a:latin typeface="+mn-lt"/>
                <a:ea typeface="+mn-ea"/>
                <a:cs typeface="+mn-cs"/>
              </a:rPr>
              <a:t>2. </a:t>
            </a:r>
            <a:r>
              <a:rPr lang="en-US" sz="1200" b="1" kern="1200" dirty="0">
                <a:solidFill>
                  <a:schemeClr val="tx1"/>
                </a:solidFill>
                <a:effectLst/>
                <a:latin typeface="+mn-lt"/>
                <a:ea typeface="+mn-ea"/>
                <a:cs typeface="+mn-cs"/>
              </a:rPr>
              <a:t>Risk is the Prerequisite for Greatness:</a:t>
            </a:r>
            <a:r>
              <a:rPr lang="en-US" sz="1200" kern="1200" dirty="0">
                <a:solidFill>
                  <a:schemeClr val="tx1"/>
                </a:solidFill>
                <a:effectLst/>
                <a:latin typeface="+mn-lt"/>
                <a:ea typeface="+mn-ea"/>
                <a:cs typeface="+mn-cs"/>
              </a:rPr>
              <a:t> Playing it safe leads to cultural obsolescence. True impact requires stepping into the unknown. </a:t>
            </a:r>
          </a:p>
          <a:p>
            <a:pPr lvl="0"/>
            <a:r>
              <a:rPr lang="en-US" sz="1200" kern="1200" dirty="0">
                <a:solidFill>
                  <a:schemeClr val="tx1"/>
                </a:solidFill>
                <a:effectLst/>
                <a:latin typeface="+mn-lt"/>
                <a:ea typeface="+mn-ea"/>
                <a:cs typeface="+mn-cs"/>
              </a:rPr>
              <a:t>3. </a:t>
            </a:r>
            <a:r>
              <a:rPr lang="en-US" sz="1200" b="1" kern="1200" dirty="0">
                <a:solidFill>
                  <a:schemeClr val="tx1"/>
                </a:solidFill>
                <a:effectLst/>
                <a:latin typeface="+mn-lt"/>
                <a:ea typeface="+mn-ea"/>
                <a:cs typeface="+mn-cs"/>
              </a:rPr>
              <a:t>Work as a Personal Offering:</a:t>
            </a:r>
            <a:r>
              <a:rPr lang="en-US" sz="1200" kern="1200" dirty="0">
                <a:solidFill>
                  <a:schemeClr val="tx1"/>
                </a:solidFill>
                <a:effectLst/>
                <a:latin typeface="+mn-lt"/>
                <a:ea typeface="+mn-ea"/>
                <a:cs typeface="+mn-cs"/>
              </a:rPr>
              <a:t> Treat your creation as a personal diary entry or an offering to a higher power, rather than a commodity optimized for metrics. </a:t>
            </a:r>
          </a:p>
          <a:p>
            <a:pPr lvl="0"/>
            <a:r>
              <a:rPr lang="en-US" sz="1200" kern="1200" dirty="0">
                <a:solidFill>
                  <a:schemeClr val="tx1"/>
                </a:solidFill>
                <a:effectLst/>
                <a:latin typeface="+mn-lt"/>
                <a:ea typeface="+mn-ea"/>
                <a:cs typeface="+mn-cs"/>
              </a:rPr>
              <a:t>4. </a:t>
            </a:r>
            <a:r>
              <a:rPr lang="en-US" sz="1200" b="1" kern="1200" dirty="0">
                <a:solidFill>
                  <a:schemeClr val="tx1"/>
                </a:solidFill>
                <a:effectLst/>
                <a:latin typeface="+mn-lt"/>
                <a:ea typeface="+mn-ea"/>
                <a:cs typeface="+mn-cs"/>
              </a:rPr>
              <a:t>Resist All Labels:</a:t>
            </a:r>
            <a:r>
              <a:rPr lang="en-US" sz="1200" kern="1200" dirty="0">
                <a:solidFill>
                  <a:schemeClr val="tx1"/>
                </a:solidFill>
                <a:effectLst/>
                <a:latin typeface="+mn-lt"/>
                <a:ea typeface="+mn-ea"/>
                <a:cs typeface="+mn-cs"/>
              </a:rPr>
              <a:t> Keep your identity flexible. Refuse labels that limit your creative exploration. </a:t>
            </a:r>
          </a:p>
          <a:p>
            <a:pPr lvl="0"/>
            <a:r>
              <a:rPr lang="en-US" sz="1200" kern="1200" dirty="0">
                <a:solidFill>
                  <a:schemeClr val="tx1"/>
                </a:solidFill>
                <a:effectLst/>
                <a:latin typeface="+mn-lt"/>
                <a:ea typeface="+mn-ea"/>
                <a:cs typeface="+mn-cs"/>
              </a:rPr>
              <a:t>5. </a:t>
            </a:r>
            <a:r>
              <a:rPr lang="en-US" sz="1200" b="1" kern="1200" dirty="0">
                <a:solidFill>
                  <a:schemeClr val="tx1"/>
                </a:solidFill>
                <a:effectLst/>
                <a:latin typeface="+mn-lt"/>
                <a:ea typeface="+mn-ea"/>
                <a:cs typeface="+mn-cs"/>
              </a:rPr>
              <a:t>Grounding via Meditation:</a:t>
            </a:r>
            <a:r>
              <a:rPr lang="en-US" sz="1200" kern="1200" dirty="0">
                <a:solidFill>
                  <a:schemeClr val="tx1"/>
                </a:solidFill>
                <a:effectLst/>
                <a:latin typeface="+mn-lt"/>
                <a:ea typeface="+mn-ea"/>
                <a:cs typeface="+mn-cs"/>
              </a:rPr>
              <a:t> Build daily practices to quiet surface noise and maintain direct connection to your internal knowingness. </a:t>
            </a:r>
          </a:p>
          <a:p>
            <a:pPr lvl="0"/>
            <a:r>
              <a:rPr lang="en-US" sz="1200" kern="1200" dirty="0">
                <a:solidFill>
                  <a:schemeClr val="tx1"/>
                </a:solidFill>
                <a:effectLst/>
                <a:latin typeface="+mn-lt"/>
                <a:ea typeface="+mn-ea"/>
                <a:cs typeface="+mn-cs"/>
              </a:rPr>
              <a:t>6. </a:t>
            </a:r>
            <a:r>
              <a:rPr lang="en-US" sz="1200" b="1" kern="1200" dirty="0">
                <a:solidFill>
                  <a:schemeClr val="tx1"/>
                </a:solidFill>
                <a:effectLst/>
                <a:latin typeface="+mn-lt"/>
                <a:ea typeface="+mn-ea"/>
                <a:cs typeface="+mn-cs"/>
              </a:rPr>
              <a:t>Honor the Four Phases:</a:t>
            </a:r>
            <a:r>
              <a:rPr lang="en-US" sz="1200" kern="1200" dirty="0">
                <a:solidFill>
                  <a:schemeClr val="tx1"/>
                </a:solidFill>
                <a:effectLst/>
                <a:latin typeface="+mn-lt"/>
                <a:ea typeface="+mn-ea"/>
                <a:cs typeface="+mn-cs"/>
              </a:rPr>
              <a:t> Protect your discovery process. Allow the Seed, Experimentation, and Crafting phases to unfold without premature deadlines, applying target dates only to the Finishing phase. </a:t>
            </a:r>
          </a:p>
          <a:p>
            <a:pPr lvl="0"/>
            <a:r>
              <a:rPr lang="en-US" sz="1200" kern="1200" dirty="0">
                <a:solidFill>
                  <a:schemeClr val="tx1"/>
                </a:solidFill>
                <a:effectLst/>
                <a:latin typeface="+mn-lt"/>
                <a:ea typeface="+mn-ea"/>
                <a:cs typeface="+mn-cs"/>
              </a:rPr>
              <a:t>By putting these principles into practice, we build work that stands the test of time.</a:t>
            </a:r>
          </a:p>
          <a:p>
            <a:endParaRPr lang="en-US" dirty="0"/>
          </a:p>
          <a:p>
            <a:endParaRPr lang="en-US" dirty="0"/>
          </a:p>
          <a:p>
            <a:endParaRPr lang="en-US" dirty="0"/>
          </a:p>
          <a:p>
            <a:endParaRPr lang="en-US" dirty="0"/>
          </a:p>
          <a:p>
            <a:r>
              <a:rPr lang="en-US" dirty="0"/>
              <a:t>Rick Rubin: The Only Skill That Matters Now Is The One Thing AI Can Never Steal!</a:t>
            </a:r>
          </a:p>
          <a:p>
            <a:r>
              <a:rPr lang="en-US" dirty="0"/>
              <a:t>https://www.youtube.com/watch?v=a_GiFiHXJ6g</a:t>
            </a:r>
          </a:p>
          <a:p>
            <a:endParaRPr lang="en-US" dirty="0"/>
          </a:p>
        </p:txBody>
      </p:sp>
      <p:sp>
        <p:nvSpPr>
          <p:cNvPr id="4" name="Slide Number Placeholder 3"/>
          <p:cNvSpPr>
            <a:spLocks noGrp="1"/>
          </p:cNvSpPr>
          <p:nvPr>
            <p:ph type="sldNum" sz="quarter" idx="5"/>
          </p:nvPr>
        </p:nvSpPr>
        <p:spPr/>
        <p:txBody>
          <a:bodyPr/>
          <a:lstStyle/>
          <a:p>
            <a:fld id="{D792B72E-017B-4EFB-9605-A0F1CF127228}" type="slidenum">
              <a:rPr lang="en-US" smtClean="0"/>
              <a:t>13</a:t>
            </a:fld>
            <a:endParaRPr lang="en-US"/>
          </a:p>
        </p:txBody>
      </p:sp>
    </p:spTree>
    <p:extLst>
      <p:ext uri="{BB962C8B-B14F-4D97-AF65-F5344CB8AC3E}">
        <p14:creationId xmlns:p14="http://schemas.microsoft.com/office/powerpoint/2010/main" val="31779176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AB5E7D-5E92-1844-319C-89EC54134394}"/>
              </a:ext>
            </a:extLst>
          </p:cNvPr>
          <p:cNvSpPr>
            <a:spLocks noGrp="1"/>
          </p:cNvSpPr>
          <p:nvPr>
            <p:ph type="dt" sz="half" idx="10"/>
          </p:nvPr>
        </p:nvSpPr>
        <p:spPr/>
        <p:txBody>
          <a:bodyPr/>
          <a:lstStyle/>
          <a:p>
            <a:fld id="{0BE26EA1-DEF6-4AD8-9FB0-D07AEC666524}" type="datetimeFigureOut">
              <a:rPr lang="en-US" smtClean="0"/>
              <a:t>10/21/2026</a:t>
            </a:fld>
            <a:endParaRPr lang="en-US"/>
          </a:p>
        </p:txBody>
      </p:sp>
      <p:sp>
        <p:nvSpPr>
          <p:cNvPr id="3" name="Footer Placeholder 2">
            <a:extLst>
              <a:ext uri="{FF2B5EF4-FFF2-40B4-BE49-F238E27FC236}">
                <a16:creationId xmlns:a16="http://schemas.microsoft.com/office/drawing/2014/main" id="{887180E5-81B4-89D6-713A-53E6C26BF4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80FD031-3C4C-F356-CF2B-4EAB0F6330DE}"/>
              </a:ext>
            </a:extLst>
          </p:cNvPr>
          <p:cNvSpPr>
            <a:spLocks noGrp="1"/>
          </p:cNvSpPr>
          <p:nvPr>
            <p:ph type="sldNum" sz="quarter" idx="12"/>
          </p:nvPr>
        </p:nvSpPr>
        <p:spPr/>
        <p:txBody>
          <a:bodyPr/>
          <a:lstStyle/>
          <a:p>
            <a:fld id="{C7164CE7-3EC2-4964-ADE7-033B51698030}" type="slidenum">
              <a:rPr lang="en-US" smtClean="0"/>
              <a:t>‹#›</a:t>
            </a:fld>
            <a:endParaRPr lang="en-US"/>
          </a:p>
        </p:txBody>
      </p:sp>
    </p:spTree>
    <p:extLst>
      <p:ext uri="{BB962C8B-B14F-4D97-AF65-F5344CB8AC3E}">
        <p14:creationId xmlns:p14="http://schemas.microsoft.com/office/powerpoint/2010/main" val="424517163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15704F-AB5C-53DA-DFE2-516EC5A4A3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8A81CE4-6409-CC19-F357-B684305B1C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2F5011-0198-D322-2A82-1454B7089D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BE26EA1-DEF6-4AD8-9FB0-D07AEC666524}" type="datetimeFigureOut">
              <a:rPr lang="en-US" smtClean="0"/>
              <a:t>10/21/2026</a:t>
            </a:fld>
            <a:endParaRPr lang="en-US"/>
          </a:p>
        </p:txBody>
      </p:sp>
      <p:sp>
        <p:nvSpPr>
          <p:cNvPr id="5" name="Footer Placeholder 4">
            <a:extLst>
              <a:ext uri="{FF2B5EF4-FFF2-40B4-BE49-F238E27FC236}">
                <a16:creationId xmlns:a16="http://schemas.microsoft.com/office/drawing/2014/main" id="{D2476BD8-CE19-8D6D-6E61-99D3EBBAA7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D29135D-783E-A71B-4D6C-12A17A2B94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164CE7-3EC2-4964-ADE7-033B51698030}" type="slidenum">
              <a:rPr lang="en-US" smtClean="0"/>
              <a:t>‹#›</a:t>
            </a:fld>
            <a:endParaRPr lang="en-US"/>
          </a:p>
        </p:txBody>
      </p:sp>
    </p:spTree>
    <p:extLst>
      <p:ext uri="{BB962C8B-B14F-4D97-AF65-F5344CB8AC3E}">
        <p14:creationId xmlns:p14="http://schemas.microsoft.com/office/powerpoint/2010/main" val="1557234610"/>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2979F0F-5350-1B55-5798-8129185AB0B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078AD49-3982-EF67-0EE6-C36536E32C5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2622EC-535B-10FA-75E3-4A6FE5572C5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D301F4B-5F2E-3D05-8901-8B6DEEB6049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46DEE69-9A24-C8E3-5369-9F3649A1740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2F0AB4-66A0-2C8F-11D0-D09F479F896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806D3EA-3293-509F-AA00-528199CD0B1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49995CC-1799-C1C4-8E2E-212E59E9B27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FB0502B-37D0-A806-B15C-5C51FD6308D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2AAEA8-A0FC-4FDD-53A8-A9E7148E9D9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9780936-B809-7281-CA62-0B11CCC66A8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7922BE-232E-1AC3-74DF-15460AD267F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8EF7920-18B3-7EA3-CD10-50528DADBF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38977214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2434</Words>
  <Application>Microsoft Office PowerPoint</Application>
  <PresentationFormat>寬螢幕</PresentationFormat>
  <Paragraphs>91</Paragraphs>
  <Slides>13</Slides>
  <Notes>13</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2026-09-22T01:03:13Z</dcterms:created>
  <dcterms:modified xsi:type="dcterms:W3CDTF">2026-10-21T02:47:34Z</dcterms:modified>
</cp:coreProperties>
</file>