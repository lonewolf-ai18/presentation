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E490A-A566-4EF3-BCB7-9E2C7D5B403A}" v="19" dt="2026-09-14T01:36:39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 modMainMaster">
      <pc:chgData name="Lai, Wilson" userId="2840974a-0d84-4886-90a9-9a3ed79f3a48" providerId="ADAL" clId="{9F23B798-9E84-4552-BA63-E776E805C424}" dt="2026-09-14T01:36:51.447" v="74" actId="166"/>
      <pc:docMkLst>
        <pc:docMk/>
      </pc:docMkLst>
      <pc:sldChg chg="addSp delSp modSp mod modAnim modNotes modNotesTx">
        <pc:chgData name="Lai, Wilson" userId="2840974a-0d84-4886-90a9-9a3ed79f3a48" providerId="ADAL" clId="{9F23B798-9E84-4552-BA63-E776E805C424}" dt="2026-09-14T01:36:51.447" v="74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13T14:43:27.194" v="9" actId="164"/>
          <ac:spMkLst>
            <pc:docMk/>
            <pc:sldMk cId="0" sldId="257"/>
            <ac:spMk id="5" creationId="{5231C1D2-C348-6B67-C1A0-8FC655305885}"/>
          </ac:spMkLst>
        </pc:spChg>
        <pc:grpChg chg="add mod">
          <ac:chgData name="Lai, Wilson" userId="2840974a-0d84-4886-90a9-9a3ed79f3a48" providerId="ADAL" clId="{9F23B798-9E84-4552-BA63-E776E805C424}" dt="2026-09-13T14:43:27.194" v="9" actId="164"/>
          <ac:grpSpMkLst>
            <pc:docMk/>
            <pc:sldMk cId="0" sldId="257"/>
            <ac:grpSpMk id="6" creationId="{E5408C08-858F-7690-8AE7-F67CD02CADDB}"/>
          </ac:grpSpMkLst>
        </pc:grpChg>
        <pc:picChg chg="del">
          <ac:chgData name="Lai, Wilson" userId="2840974a-0d84-4886-90a9-9a3ed79f3a48" providerId="ADAL" clId="{9F23B798-9E84-4552-BA63-E776E805C424}" dt="2026-09-14T01:04:25.949" v="10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13T14:43:27.194" v="9" actId="164"/>
          <ac:picMkLst>
            <pc:docMk/>
            <pc:sldMk cId="0" sldId="257"/>
            <ac:picMk id="3" creationId="{90A7F73B-5D23-9622-54F1-23313FE8DF64}"/>
          </ac:picMkLst>
        </pc:picChg>
        <pc:picChg chg="add ord">
          <ac:chgData name="Lai, Wilson" userId="2840974a-0d84-4886-90a9-9a3ed79f3a48" providerId="ADAL" clId="{9F23B798-9E84-4552-BA63-E776E805C424}" dt="2026-09-14T01:36:51.447" v="74" actId="166"/>
          <ac:picMkLst>
            <pc:docMk/>
            <pc:sldMk cId="0" sldId="257"/>
            <ac:picMk id="7" creationId="{CC3D051F-6510-1512-9D0E-07CCD162B345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14T01:04:49.413" v="12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5:07.962" v="13" actId="22"/>
          <ac:picMkLst>
            <pc:docMk/>
            <pc:sldMk cId="0" sldId="258"/>
            <ac:picMk id="4" creationId="{BE776C86-480D-F979-45C5-775BA6180D8D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14T01:11:18.301" v="36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11:26.675" v="37" actId="22"/>
          <ac:picMkLst>
            <pc:docMk/>
            <pc:sldMk cId="0" sldId="259"/>
            <ac:picMk id="4" creationId="{0655BA89-3225-CE71-2773-C1F1B67871E5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14T01:05:11.957" v="14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5:24.878" v="15" actId="22"/>
          <ac:picMkLst>
            <pc:docMk/>
            <pc:sldMk cId="0" sldId="260"/>
            <ac:picMk id="4" creationId="{54D7CDB8-5351-89F5-20FF-28C725AA5C67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4T01:36:39.475" v="7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14T01:05:26.678" v="16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5:35.265" v="17" actId="22"/>
          <ac:picMkLst>
            <pc:docMk/>
            <pc:sldMk cId="0" sldId="261"/>
            <ac:picMk id="4" creationId="{0D63449F-C6DF-7A23-E92B-C5234A23AECB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14T01:08:45.638" v="25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8:54.572" v="26" actId="22"/>
          <ac:picMkLst>
            <pc:docMk/>
            <pc:sldMk cId="0" sldId="262"/>
            <ac:picMk id="4" creationId="{6FEAB514-3D76-54D2-AB21-4335690E85FF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14T01:05:38.358" v="18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5:46.942" v="19" actId="22"/>
          <ac:picMkLst>
            <pc:docMk/>
            <pc:sldMk cId="0" sldId="263"/>
            <ac:picMk id="4" creationId="{3949F670-C8B3-32BE-A67F-D43CF8A1F9A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14T01:05:48.624" v="20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6:27.743" v="21" actId="22"/>
          <ac:picMkLst>
            <pc:docMk/>
            <pc:sldMk cId="0" sldId="264"/>
            <ac:picMk id="4" creationId="{0712A426-F6D8-D085-CB7C-E10ACD594579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4T01:36:39.475" v="7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14T01:06:29.517" v="22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7:23.739" v="23" actId="22"/>
          <ac:picMkLst>
            <pc:docMk/>
            <pc:sldMk cId="0" sldId="265"/>
            <ac:picMk id="4" creationId="{49149582-E726-B96D-1C5F-39A1BDE5990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14T01:07:26.052" v="24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09:31.844" v="27" actId="22"/>
          <ac:picMkLst>
            <pc:docMk/>
            <pc:sldMk cId="0" sldId="266"/>
            <ac:picMk id="4" creationId="{C9B94902-FB8E-EB56-12F4-0C5817671EF4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14T01:09:35.818" v="28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10:07.141" v="29" actId="22"/>
          <ac:picMkLst>
            <pc:docMk/>
            <pc:sldMk cId="0" sldId="267"/>
            <ac:picMk id="4" creationId="{84FFEC1A-F35C-0F41-B46F-1B01B9EEB558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14T01:10:17.322" v="30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10:27.275" v="31" actId="22"/>
          <ac:picMkLst>
            <pc:docMk/>
            <pc:sldMk cId="0" sldId="268"/>
            <ac:picMk id="4" creationId="{4F45B177-6B59-D9B0-9796-DE667715EA4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14T01:10:29.783" v="32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4T01:10:38.192" v="33" actId="22"/>
          <ac:picMkLst>
            <pc:docMk/>
            <pc:sldMk cId="0" sldId="269"/>
            <ac:picMk id="4" creationId="{34456C25-6BFA-F199-805E-CFF166AFFFEB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4T01:36:39.475" v="72"/>
        <pc:sldMkLst>
          <pc:docMk/>
          <pc:sldMk cId="357962940" sldId="270"/>
        </pc:sldMkLst>
        <pc:picChg chg="del">
          <ac:chgData name="Lai, Wilson" userId="2840974a-0d84-4886-90a9-9a3ed79f3a48" providerId="ADAL" clId="{9F23B798-9E84-4552-BA63-E776E805C424}" dt="2026-09-14T01:10:45.025" v="34" actId="21"/>
          <ac:picMkLst>
            <pc:docMk/>
            <pc:sldMk cId="357962940" sldId="270"/>
            <ac:picMk id="3" creationId="{3499FE9C-35CA-95C7-A232-F47391605507}"/>
          </ac:picMkLst>
        </pc:picChg>
        <pc:picChg chg="add">
          <ac:chgData name="Lai, Wilson" userId="2840974a-0d84-4886-90a9-9a3ed79f3a48" providerId="ADAL" clId="{9F23B798-9E84-4552-BA63-E776E805C424}" dt="2026-09-14T01:11:06.879" v="35" actId="22"/>
          <ac:picMkLst>
            <pc:docMk/>
            <pc:sldMk cId="357962940" sldId="270"/>
            <ac:picMk id="4" creationId="{A55B4901-251F-BB09-C5AF-081AEEA0426C}"/>
          </ac:picMkLst>
        </pc:picChg>
      </pc:sldChg>
      <pc:sldMasterChg chg="setBg">
        <pc:chgData name="Lai, Wilson" userId="2840974a-0d84-4886-90a9-9a3ed79f3a48" providerId="ADAL" clId="{9F23B798-9E84-4552-BA63-E776E805C424}" dt="2026-09-13T14:40:25.118" v="0"/>
        <pc:sldMasterMkLst>
          <pc:docMk/>
          <pc:sldMasterMk cId="836830955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6DB99-5755-488F-9A1F-D616AB9BB2A2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1BFD4-74A4-4A66-AC35-8613AE9C4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32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Welcome, everyone. Today, we are walking through a full system architecture blueprint for building a real-time, interactive AI avatar.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people hear 'AI Avatar,' they often picture simple text-to-speech rendering mapped to a lip-synced face. What we are showcasing today goes far beyond static video generation.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discussing an autonomous agent capable of visual context processing, continuous session memory, dynamic retrieval-augmented generation (RAG), and bidirectional REST API communications—all delivered in sub-second streaming latency directly inside the browser.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orchestrating real-time audio/video streaming via WebRTC with modern state-machine logic, we allow users to hold seamless, human-like voice conversations while the AI observes, diagnoses, and acts.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https://www.youtube.com/watch?v=CyMIar4TDhw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3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the architecture, let’s examine our live case study: an Autonomous Medical Screening Assistant running natively in a Next.js client.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scenario, a patient joins a secure WebRTC video room. On screen, the user interacts with 'Ren,' an AI avatar.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executes four core tasks sequentially: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Conversational Patient Intake: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Gathering patient identity and chief complaints via natural spoken conversation.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 Vision Diagnosis: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avatar inspects physical symptoms—such as facial swelling or a bruise under the eye—directly through the user’s webcam stream.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Transactional Database Writing: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Interacting with a PostgreSQL database via REST APIs to check available schedule slots and execute appointment bookings.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 RAG-Grounded QA: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Answering operational clinic questions using verified markdown documents.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the real-time telemetry: Opus audio streams, H.264 video streams, client-side TensorFlow.js vision inference, and server-side transaction logging.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74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core of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 sits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Engine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structured cleanly into central logic and peripheral capabilities.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Scenarios Hub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the 'Brain'. It controls node-based state flow, turn-taking, and decision boundaries.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Surrounding the Brain are five peripheral modules: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Developer Portal: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Holds authentication keys and secret variables to safeguard backend infrastructure.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 &amp; Logs: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full session playback, structured JSON interaction transcripts, and usage metrics.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 Base (Agent Memory):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Vector/Markdown RAG store containing domain facts.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Avatar Catalog (The Face):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Photorealistic visual representations mapped directly to audio output streams.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 (Backend Tools):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Webhooks and REST integrations connecting the LLM to external business logic.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8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common point of failure in conversational AI is using open-ended prompt loops. Unstructured prompts easily wander off-topic or execute actions out of order. 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solve this, we enforce 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Finite State Machine architecture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Conversation logic flows sequentially through explicit nodes: [Intro]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[Data Intake]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[Appointment Booking]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[QA]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[End]. 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rules governing node transitions: </a:t>
                </a:r>
              </a:p>
              <a:p>
                <a:pPr marL="171450" lvl="0" indent="-171450" algn="l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 agent cannot jump to booking until intake criteria are fulfilled. </a:t>
                </a:r>
              </a:p>
              <a:p>
                <a:pPr marL="171450" lvl="0" indent="-171450" algn="l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Transitions occur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only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when conditional tool triggers are explicitly called by the model. </a:t>
                </a:r>
              </a:p>
              <a:p>
                <a:pPr marL="171450" lvl="0" indent="-171450" algn="l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Tools are bound locally to specific nodes. For example, the Vision Tool is only accessible during [Data Intake], while RAG execution is restricted to [QA].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common point of failure in conversational AI is using open-ended prompt loops. Unstructured prompts easily wander off-topic or execute actions out of order. 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solve this, we enforce 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Finite State Machine architecture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Conversation logic flows sequentially through explicit nodes: [Intro]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[Data Intake]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[Appointment Booking]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[QA]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[End]. 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rules governing node transitions: </a:t>
                </a:r>
              </a:p>
              <a:p>
                <a:pPr marL="171450" lvl="0" indent="-171450" algn="l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 agent cannot jump to booking until intake criteria are fulfilled. </a:t>
                </a:r>
              </a:p>
              <a:p>
                <a:pPr marL="171450" lvl="0" indent="-171450" algn="l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Transitions occur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only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when conditional tool triggers are explicitly called by the model. </a:t>
                </a:r>
              </a:p>
              <a:p>
                <a:pPr marL="171450" lvl="0" indent="-171450" algn="l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Tools are bound locally to specific nodes. For example, the Vision Tool is only accessible during [Data Intake], while RAG execution is restricted to [QA].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6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maintain behavioral stability across multi-turn interactions, every node separates system directives into two prompt tiers: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Persistent Roles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 Tasks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 Instruction (Persistent):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at the top tier of the scenario. Defines identity, persona, tone, and speech conversion constraints (e.g.,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'You are a friendly medical assistant. Keep responses concise for text-to-speech output'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Instruction (Localized):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Unique to the active node. Defines the immediate operational target (e.g.,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'Collect full name, age, and chief complaint. Ask one question at a time'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Scoped Actions: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Binds executable tool functions directly to the active step.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21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Adding visual perception to an avatar transforms it from a voice-only bot into a true clinical assistant.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our architecture, visual processing is added as a native tool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view_camera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bound to the Data Intake node.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works in practice: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user visually references a physical issue (e.g.,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'Can you check this bruise under my eye?'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LLM identifies the intent and invokes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view_camera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frontend client captures the webcam frame, processes visual feature vectors, and feeds the image payload back into the model's active context window.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 immediately returns visual findings: identifying mild swelling and periorbital ecchymosis, offering care advice, and continuing intake without breaking conversational momentum.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6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building real-world AI applications, cloud engines must interact with enterprise API endpoints.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development, your API backend—such as our Python Flask server handling scheduling logic—runs on localhost:8080.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cloud platform webhooks require publicly accessible HTTPS URLs, we use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Ngrok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tunneling: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HTTP Tools issue webhook calls over public HTTPS.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Ngrok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routes traffic securely through tunnel port 8080 into our local Python server.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Flask app parses incoming JSON payloads, executes local database operations, and returns JSON back to the agent.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06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management in an AI system requires strict isolation between system credentials, session state, and dynamic model outputs.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implement a strict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Three-Tier Variable 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 Variables ({{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secret.token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Authentication tokens and API keys.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Restricted strictly to HTTP request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Never allowed in the request body, preventing leakage into conversation transcripts or client logs.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Variables ({{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runtime.patientID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 context injected programmatically by the client app at connection startup (e.g., patient IDs, current system date).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Variables ({{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llm.appointment_date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Dynamic arguments populated by the LLM during tool calls.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Must include formatted inline syntax constraints (e.g., 'Format YYYY-MM-DD') to enforce valid schema generation.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24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of the greatest liabilities in conversational systems is hallucinated advice—such as quoting incorrect clinic hours or lab result turnaround times.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Slide 9, we isolate knowledge access directly within our QA Node using target-bound Retrieval-Augmented Generation.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bloating base prompts with static facts, we upload external documentation (e.g., clinic_details.md) to a knowledge store.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enforce a negative constraint in the task prompt: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'Use the clinic RAG tool for all facility queries. Do NOT answer from internal base training memory.'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patient asks about lab turnaround times, the agent retrieves verified markdown entries (e.g., 2–4 days for routine labs) and summarizes them accurately.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30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examine what happens under the hood during connection initialization.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application leverages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Daily WebRTC infrastructure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real-time media transport. The initialization sequence follows 4 distinct steps: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 Request: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Next.js frontend initiates a request to start a conversation.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 Handshake: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application server calls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server client via secure API key.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Room Provisioning: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provisions a secure Daily WebRTC media room and generates an access token.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Dual-Agent Join: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returned room URL and token allow both the user client and the autonomous avatar bot to enter the video call room simultaneously as equal peer nodes.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73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Implementing real-time AI inside web applications is made simple using three dedicated SDK packages: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-react-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Provides pre-built React components, offering out-of-the-box video frames, live transcript views, and mic/camera controls.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-react: The core state engine, providing React providers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AapuluProvider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hooks to track conversation states, network health, and room activity.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-server: Running exclusively on node/server environments to securely manage secret API keys and handle token generation endpoints.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19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healthcare and enterprise deployments, full observability into AI behavior is non-negotiable.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completed session generates dual diagnostic artifacts: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Synchronized MP4 Recording: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Captures visual feed, synthetic avatar voice, and user audio streams for QA auditing.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JSON Telemetry Log: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 step-by-step state machine movements, precise timestamps, LLM payload parameters, and webhook call statuses.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an integration fails or an unexpected node transition occurs, developers can inspect exact JSON parameter states to diagnose issues immediately.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29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13 brings the complete architecture together into three synchronized operational tiers: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Client Tier (Next.js/React UI):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Handles local video rendering, webcam sampling, and client WebRTC streaming.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Brain Tier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Aapulu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Engine):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Orchestrates the state machine, routes prompts to multimodal LLMs, manages speech-to-text / text-to-speech pipelines, and serves as the WebRTC hub.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 Tier (Enterprise Backend):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custom databases, REST servers, and API systems running behind secure webhooks.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three systems communicate in real time, transforming static models into responsive visual agents.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25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wrap up our architecture presentation, let's review our master deployment workflow across two phases: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1: Designing the Brain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 conversation flows into state nodes.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 global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personas from node-bound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prompts.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Bind multi-modal tools—such as vision sampling and knowledge base RAG lookup—to specific conversation stages.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2: Technical Integration &amp; Deployment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 public REST endpoints and configure strict variable typing (secret, runtime,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 local backends using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Ngrok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tunnels during development before pushing to cloud servers.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 front-end interfaces using React UI SDK components.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time, and we look forward to seeing the autonomous agents you build with this architecture!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1BFD4-74A4-4A66-AC35-8613AE9C42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4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3E6EE9-87B8-44DC-BCF3-96C99A14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E8D11-13D6-4F84-9BCD-0CE8839AB3C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8663E-AC7A-5647-4782-2675547E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DE1BB-F8D2-A535-0D04-059617B3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657B-E479-4089-98A7-CB61F327F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1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7B4BB-71E2-33D7-520A-4001F09D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6747B-C9C8-3BE7-C84A-6DB4B0487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C237D-68CA-4D0C-A1C8-DE9C97225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E8D11-13D6-4F84-9BCD-0CE8839AB3C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725FB-EF7E-2A1F-A718-D85C76904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49E25-9A47-B778-E031-1206B5C47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F657B-E479-4089-98A7-CB61F327F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3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3D051F-6510-1512-9D0E-07CCD162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776C86-480D-F979-45C5-775BA6180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55BA89-3225-CE71-2773-C1F1B6787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D7CDB8-5351-89F5-20FF-28C725AA5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3449F-C6DF-7A23-E92B-C5234A23A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EAB514-3D76-54D2-AB21-4335690E8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49F670-C8B3-32BE-A67F-D43CF8A1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12A426-F6D8-D085-CB7C-E10ACD594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149582-E726-B96D-1C5F-39A1BDE59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94902-FB8E-EB56-12F4-0C5817671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FFEC1A-F35C-0F41-B46F-1B01B9EEB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45B177-6B59-D9B0-9796-DE667715E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456C25-6BFA-F199-805E-CFF166AFF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5B4901-251F-BB09-C5AF-081AEEA04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1726</Words>
  <Application>Microsoft Office PowerPoint</Application>
  <PresentationFormat>寬螢幕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2026-09-13T14:38:28Z</dcterms:created>
  <dcterms:modified xsi:type="dcterms:W3CDTF">2026-10-20T13:43:09Z</dcterms:modified>
</cp:coreProperties>
</file>