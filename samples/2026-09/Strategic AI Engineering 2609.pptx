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D452B4E-5A2A-4B15-9A0A-C87C8BCAD620}" v="20" dt="2026-09-18T03:05:10.4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3447"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18T03:05:18.135" v="103" actId="14"/>
      <pc:docMkLst>
        <pc:docMk/>
      </pc:docMkLst>
      <pc:sldChg chg="addSp delSp modSp mod modAnim modNotesTx">
        <pc:chgData name="Lai, Wilson" userId="2840974a-0d84-4886-90a9-9a3ed79f3a48" providerId="ADAL" clId="{9F23B798-9E84-4552-BA63-E776E805C424}" dt="2026-09-18T03:01:39.644" v="62" actId="20577"/>
        <pc:sldMkLst>
          <pc:docMk/>
          <pc:sldMk cId="0" sldId="257"/>
        </pc:sldMkLst>
        <pc:spChg chg="add mod">
          <ac:chgData name="Lai, Wilson" userId="2840974a-0d84-4886-90a9-9a3ed79f3a48" providerId="ADAL" clId="{9F23B798-9E84-4552-BA63-E776E805C424}" dt="2026-09-18T02:57:17.350" v="53" actId="1076"/>
          <ac:spMkLst>
            <pc:docMk/>
            <pc:sldMk cId="0" sldId="257"/>
            <ac:spMk id="5" creationId="{A67672BC-8F7E-4440-D6B1-5071BCF91940}"/>
          </ac:spMkLst>
        </pc:spChg>
        <pc:grpChg chg="add mod">
          <ac:chgData name="Lai, Wilson" userId="2840974a-0d84-4886-90a9-9a3ed79f3a48" providerId="ADAL" clId="{9F23B798-9E84-4552-BA63-E776E805C424}" dt="2026-09-18T02:57:23.954" v="54" actId="1076"/>
          <ac:grpSpMkLst>
            <pc:docMk/>
            <pc:sldMk cId="0" sldId="257"/>
            <ac:grpSpMk id="6" creationId="{7D89C07A-8153-43BD-AA41-C957DD7D9533}"/>
          </ac:grpSpMkLst>
        </pc:grpChg>
        <pc:picChg chg="del">
          <ac:chgData name="Lai, Wilson" userId="2840974a-0d84-4886-90a9-9a3ed79f3a48" providerId="ADAL" clId="{9F23B798-9E84-4552-BA63-E776E805C424}" dt="2026-09-18T02:45:55.935" v="0" actId="21"/>
          <ac:picMkLst>
            <pc:docMk/>
            <pc:sldMk cId="0" sldId="257"/>
            <ac:picMk id="2" creationId="{00000000-0000-0000-0000-000000000000}"/>
          </ac:picMkLst>
        </pc:picChg>
        <pc:picChg chg="add mod">
          <ac:chgData name="Lai, Wilson" userId="2840974a-0d84-4886-90a9-9a3ed79f3a48" providerId="ADAL" clId="{9F23B798-9E84-4552-BA63-E776E805C424}" dt="2026-09-18T02:57:10.643" v="51" actId="164"/>
          <ac:picMkLst>
            <pc:docMk/>
            <pc:sldMk cId="0" sldId="257"/>
            <ac:picMk id="2" creationId="{CD8E15FA-29F9-C415-0F4D-189E79A72681}"/>
          </ac:picMkLst>
        </pc:picChg>
        <pc:picChg chg="add ord">
          <ac:chgData name="Lai, Wilson" userId="2840974a-0d84-4886-90a9-9a3ed79f3a48" providerId="ADAL" clId="{9F23B798-9E84-4552-BA63-E776E805C424}" dt="2026-09-18T02:57:27.272" v="55" actId="166"/>
          <ac:picMkLst>
            <pc:docMk/>
            <pc:sldMk cId="0" sldId="257"/>
            <ac:picMk id="4" creationId="{DE4C4743-23D6-3F45-2F45-9457EF3A7C53}"/>
          </ac:picMkLst>
        </pc:picChg>
      </pc:sldChg>
      <pc:sldChg chg="addSp delSp mod modNotesTx">
        <pc:chgData name="Lai, Wilson" userId="2840974a-0d84-4886-90a9-9a3ed79f3a48" providerId="ADAL" clId="{9F23B798-9E84-4552-BA63-E776E805C424}" dt="2026-09-18T03:01:53.767" v="65" actId="14"/>
        <pc:sldMkLst>
          <pc:docMk/>
          <pc:sldMk cId="0" sldId="258"/>
        </pc:sldMkLst>
        <pc:picChg chg="del">
          <ac:chgData name="Lai, Wilson" userId="2840974a-0d84-4886-90a9-9a3ed79f3a48" providerId="ADAL" clId="{9F23B798-9E84-4552-BA63-E776E805C424}" dt="2026-09-18T02:46:22.057" v="2" actId="21"/>
          <ac:picMkLst>
            <pc:docMk/>
            <pc:sldMk cId="0" sldId="258"/>
            <ac:picMk id="2" creationId="{00000000-0000-0000-0000-000000000000}"/>
          </ac:picMkLst>
        </pc:picChg>
        <pc:picChg chg="add">
          <ac:chgData name="Lai, Wilson" userId="2840974a-0d84-4886-90a9-9a3ed79f3a48" providerId="ADAL" clId="{9F23B798-9E84-4552-BA63-E776E805C424}" dt="2026-09-18T02:46:32.312" v="3" actId="22"/>
          <ac:picMkLst>
            <pc:docMk/>
            <pc:sldMk cId="0" sldId="258"/>
            <ac:picMk id="4" creationId="{4A85E17D-1F3D-2B8F-D391-26A3C2EB6E8E}"/>
          </ac:picMkLst>
        </pc:picChg>
      </pc:sldChg>
      <pc:sldChg chg="addSp delSp mod modNotesTx">
        <pc:chgData name="Lai, Wilson" userId="2840974a-0d84-4886-90a9-9a3ed79f3a48" providerId="ADAL" clId="{9F23B798-9E84-4552-BA63-E776E805C424}" dt="2026-09-18T03:02:06.307" v="67" actId="14"/>
        <pc:sldMkLst>
          <pc:docMk/>
          <pc:sldMk cId="0" sldId="259"/>
        </pc:sldMkLst>
        <pc:picChg chg="del">
          <ac:chgData name="Lai, Wilson" userId="2840974a-0d84-4886-90a9-9a3ed79f3a48" providerId="ADAL" clId="{9F23B798-9E84-4552-BA63-E776E805C424}" dt="2026-09-18T02:46:35.529" v="4" actId="21"/>
          <ac:picMkLst>
            <pc:docMk/>
            <pc:sldMk cId="0" sldId="259"/>
            <ac:picMk id="2" creationId="{00000000-0000-0000-0000-000000000000}"/>
          </ac:picMkLst>
        </pc:picChg>
        <pc:picChg chg="add">
          <ac:chgData name="Lai, Wilson" userId="2840974a-0d84-4886-90a9-9a3ed79f3a48" providerId="ADAL" clId="{9F23B798-9E84-4552-BA63-E776E805C424}" dt="2026-09-18T02:46:52.960" v="5" actId="22"/>
          <ac:picMkLst>
            <pc:docMk/>
            <pc:sldMk cId="0" sldId="259"/>
            <ac:picMk id="4" creationId="{1AF723A6-435F-B466-D7D6-FA1ED4B5637D}"/>
          </ac:picMkLst>
        </pc:picChg>
      </pc:sldChg>
      <pc:sldChg chg="addSp delSp mod modNotesTx">
        <pc:chgData name="Lai, Wilson" userId="2840974a-0d84-4886-90a9-9a3ed79f3a48" providerId="ADAL" clId="{9F23B798-9E84-4552-BA63-E776E805C424}" dt="2026-09-18T03:02:17.644" v="69" actId="14"/>
        <pc:sldMkLst>
          <pc:docMk/>
          <pc:sldMk cId="0" sldId="260"/>
        </pc:sldMkLst>
        <pc:picChg chg="del">
          <ac:chgData name="Lai, Wilson" userId="2840974a-0d84-4886-90a9-9a3ed79f3a48" providerId="ADAL" clId="{9F23B798-9E84-4552-BA63-E776E805C424}" dt="2026-09-18T02:46:55.010" v="6" actId="21"/>
          <ac:picMkLst>
            <pc:docMk/>
            <pc:sldMk cId="0" sldId="260"/>
            <ac:picMk id="2" creationId="{00000000-0000-0000-0000-000000000000}"/>
          </ac:picMkLst>
        </pc:picChg>
        <pc:picChg chg="add">
          <ac:chgData name="Lai, Wilson" userId="2840974a-0d84-4886-90a9-9a3ed79f3a48" providerId="ADAL" clId="{9F23B798-9E84-4552-BA63-E776E805C424}" dt="2026-09-18T02:47:04.445" v="7" actId="22"/>
          <ac:picMkLst>
            <pc:docMk/>
            <pc:sldMk cId="0" sldId="260"/>
            <ac:picMk id="4" creationId="{0ED2A68E-434B-015A-D798-7B6D6F7873E6}"/>
          </ac:picMkLst>
        </pc:picChg>
      </pc:sldChg>
      <pc:sldChg chg="addSp delSp mod">
        <pc:chgData name="Lai, Wilson" userId="2840974a-0d84-4886-90a9-9a3ed79f3a48" providerId="ADAL" clId="{9F23B798-9E84-4552-BA63-E776E805C424}" dt="2026-09-18T02:47:16.533" v="9" actId="22"/>
        <pc:sldMkLst>
          <pc:docMk/>
          <pc:sldMk cId="0" sldId="261"/>
        </pc:sldMkLst>
        <pc:picChg chg="del">
          <ac:chgData name="Lai, Wilson" userId="2840974a-0d84-4886-90a9-9a3ed79f3a48" providerId="ADAL" clId="{9F23B798-9E84-4552-BA63-E776E805C424}" dt="2026-09-18T02:47:06.108" v="8" actId="21"/>
          <ac:picMkLst>
            <pc:docMk/>
            <pc:sldMk cId="0" sldId="261"/>
            <ac:picMk id="2" creationId="{00000000-0000-0000-0000-000000000000}"/>
          </ac:picMkLst>
        </pc:picChg>
        <pc:picChg chg="add">
          <ac:chgData name="Lai, Wilson" userId="2840974a-0d84-4886-90a9-9a3ed79f3a48" providerId="ADAL" clId="{9F23B798-9E84-4552-BA63-E776E805C424}" dt="2026-09-18T02:47:16.533" v="9" actId="22"/>
          <ac:picMkLst>
            <pc:docMk/>
            <pc:sldMk cId="0" sldId="261"/>
            <ac:picMk id="4" creationId="{F8F74F46-E84F-E3C3-4753-1010494DB4D1}"/>
          </ac:picMkLst>
        </pc:picChg>
      </pc:sldChg>
      <pc:sldChg chg="addSp delSp mod modNotesTx">
        <pc:chgData name="Lai, Wilson" userId="2840974a-0d84-4886-90a9-9a3ed79f3a48" providerId="ADAL" clId="{9F23B798-9E84-4552-BA63-E776E805C424}" dt="2026-09-18T03:02:49.636" v="85" actId="5793"/>
        <pc:sldMkLst>
          <pc:docMk/>
          <pc:sldMk cId="0" sldId="262"/>
        </pc:sldMkLst>
        <pc:picChg chg="del">
          <ac:chgData name="Lai, Wilson" userId="2840974a-0d84-4886-90a9-9a3ed79f3a48" providerId="ADAL" clId="{9F23B798-9E84-4552-BA63-E776E805C424}" dt="2026-09-18T02:47:18.169" v="10" actId="21"/>
          <ac:picMkLst>
            <pc:docMk/>
            <pc:sldMk cId="0" sldId="262"/>
            <ac:picMk id="2" creationId="{00000000-0000-0000-0000-000000000000}"/>
          </ac:picMkLst>
        </pc:picChg>
        <pc:picChg chg="add">
          <ac:chgData name="Lai, Wilson" userId="2840974a-0d84-4886-90a9-9a3ed79f3a48" providerId="ADAL" clId="{9F23B798-9E84-4552-BA63-E776E805C424}" dt="2026-09-18T02:47:32.489" v="11" actId="22"/>
          <ac:picMkLst>
            <pc:docMk/>
            <pc:sldMk cId="0" sldId="262"/>
            <ac:picMk id="4" creationId="{2B77AD35-92A3-6C85-8B99-1AE6A2594693}"/>
          </ac:picMkLst>
        </pc:picChg>
      </pc:sldChg>
      <pc:sldChg chg="addSp delSp mod">
        <pc:chgData name="Lai, Wilson" userId="2840974a-0d84-4886-90a9-9a3ed79f3a48" providerId="ADAL" clId="{9F23B798-9E84-4552-BA63-E776E805C424}" dt="2026-09-18T02:47:42.899" v="13" actId="22"/>
        <pc:sldMkLst>
          <pc:docMk/>
          <pc:sldMk cId="0" sldId="263"/>
        </pc:sldMkLst>
        <pc:picChg chg="del">
          <ac:chgData name="Lai, Wilson" userId="2840974a-0d84-4886-90a9-9a3ed79f3a48" providerId="ADAL" clId="{9F23B798-9E84-4552-BA63-E776E805C424}" dt="2026-09-18T02:47:34.228" v="12" actId="21"/>
          <ac:picMkLst>
            <pc:docMk/>
            <pc:sldMk cId="0" sldId="263"/>
            <ac:picMk id="2" creationId="{00000000-0000-0000-0000-000000000000}"/>
          </ac:picMkLst>
        </pc:picChg>
        <pc:picChg chg="add">
          <ac:chgData name="Lai, Wilson" userId="2840974a-0d84-4886-90a9-9a3ed79f3a48" providerId="ADAL" clId="{9F23B798-9E84-4552-BA63-E776E805C424}" dt="2026-09-18T02:47:42.899" v="13" actId="22"/>
          <ac:picMkLst>
            <pc:docMk/>
            <pc:sldMk cId="0" sldId="263"/>
            <ac:picMk id="4" creationId="{3DB077A5-983C-F8A8-707F-5EB1C21AB632}"/>
          </ac:picMkLst>
        </pc:picChg>
      </pc:sldChg>
      <pc:sldChg chg="addSp delSp mod modNotesTx">
        <pc:chgData name="Lai, Wilson" userId="2840974a-0d84-4886-90a9-9a3ed79f3a48" providerId="ADAL" clId="{9F23B798-9E84-4552-BA63-E776E805C424}" dt="2026-09-18T03:03:21.665" v="88" actId="12"/>
        <pc:sldMkLst>
          <pc:docMk/>
          <pc:sldMk cId="0" sldId="264"/>
        </pc:sldMkLst>
        <pc:picChg chg="del">
          <ac:chgData name="Lai, Wilson" userId="2840974a-0d84-4886-90a9-9a3ed79f3a48" providerId="ADAL" clId="{9F23B798-9E84-4552-BA63-E776E805C424}" dt="2026-09-18T02:47:44.479" v="14" actId="21"/>
          <ac:picMkLst>
            <pc:docMk/>
            <pc:sldMk cId="0" sldId="264"/>
            <ac:picMk id="2" creationId="{00000000-0000-0000-0000-000000000000}"/>
          </ac:picMkLst>
        </pc:picChg>
        <pc:picChg chg="add">
          <ac:chgData name="Lai, Wilson" userId="2840974a-0d84-4886-90a9-9a3ed79f3a48" providerId="ADAL" clId="{9F23B798-9E84-4552-BA63-E776E805C424}" dt="2026-09-18T02:47:52.698" v="15" actId="22"/>
          <ac:picMkLst>
            <pc:docMk/>
            <pc:sldMk cId="0" sldId="264"/>
            <ac:picMk id="4" creationId="{447E136E-3068-EDD4-97F1-903F2488D607}"/>
          </ac:picMkLst>
        </pc:picChg>
      </pc:sldChg>
      <pc:sldChg chg="addSp delSp mod modNotesTx">
        <pc:chgData name="Lai, Wilson" userId="2840974a-0d84-4886-90a9-9a3ed79f3a48" providerId="ADAL" clId="{9F23B798-9E84-4552-BA63-E776E805C424}" dt="2026-09-18T03:03:32.135" v="90" actId="14"/>
        <pc:sldMkLst>
          <pc:docMk/>
          <pc:sldMk cId="0" sldId="265"/>
        </pc:sldMkLst>
        <pc:picChg chg="del">
          <ac:chgData name="Lai, Wilson" userId="2840974a-0d84-4886-90a9-9a3ed79f3a48" providerId="ADAL" clId="{9F23B798-9E84-4552-BA63-E776E805C424}" dt="2026-09-18T02:47:54.579" v="16" actId="21"/>
          <ac:picMkLst>
            <pc:docMk/>
            <pc:sldMk cId="0" sldId="265"/>
            <ac:picMk id="2" creationId="{00000000-0000-0000-0000-000000000000}"/>
          </ac:picMkLst>
        </pc:picChg>
        <pc:picChg chg="add del">
          <ac:chgData name="Lai, Wilson" userId="2840974a-0d84-4886-90a9-9a3ed79f3a48" providerId="ADAL" clId="{9F23B798-9E84-4552-BA63-E776E805C424}" dt="2026-09-18T02:52:11.120" v="30" actId="478"/>
          <ac:picMkLst>
            <pc:docMk/>
            <pc:sldMk cId="0" sldId="265"/>
            <ac:picMk id="4" creationId="{D3A64F13-7743-4EEC-D2A9-35A3DC2986E8}"/>
          </ac:picMkLst>
        </pc:picChg>
        <pc:picChg chg="add">
          <ac:chgData name="Lai, Wilson" userId="2840974a-0d84-4886-90a9-9a3ed79f3a48" providerId="ADAL" clId="{9F23B798-9E84-4552-BA63-E776E805C424}" dt="2026-09-18T02:52:12.222" v="31" actId="22"/>
          <ac:picMkLst>
            <pc:docMk/>
            <pc:sldMk cId="0" sldId="265"/>
            <ac:picMk id="6" creationId="{98740098-AEB8-821F-1299-C9D09EA0AEFF}"/>
          </ac:picMkLst>
        </pc:picChg>
      </pc:sldChg>
      <pc:sldChg chg="addSp delSp mod">
        <pc:chgData name="Lai, Wilson" userId="2840974a-0d84-4886-90a9-9a3ed79f3a48" providerId="ADAL" clId="{9F23B798-9E84-4552-BA63-E776E805C424}" dt="2026-09-18T02:53:55.991" v="33" actId="22"/>
        <pc:sldMkLst>
          <pc:docMk/>
          <pc:sldMk cId="0" sldId="266"/>
        </pc:sldMkLst>
        <pc:picChg chg="del">
          <ac:chgData name="Lai, Wilson" userId="2840974a-0d84-4886-90a9-9a3ed79f3a48" providerId="ADAL" clId="{9F23B798-9E84-4552-BA63-E776E805C424}" dt="2026-09-18T02:48:22.946" v="18" actId="21"/>
          <ac:picMkLst>
            <pc:docMk/>
            <pc:sldMk cId="0" sldId="266"/>
            <ac:picMk id="2" creationId="{00000000-0000-0000-0000-000000000000}"/>
          </ac:picMkLst>
        </pc:picChg>
        <pc:picChg chg="add del">
          <ac:chgData name="Lai, Wilson" userId="2840974a-0d84-4886-90a9-9a3ed79f3a48" providerId="ADAL" clId="{9F23B798-9E84-4552-BA63-E776E805C424}" dt="2026-09-18T02:53:14.890" v="32" actId="21"/>
          <ac:picMkLst>
            <pc:docMk/>
            <pc:sldMk cId="0" sldId="266"/>
            <ac:picMk id="4" creationId="{E9918491-784D-8F83-AC13-E4C0C59ECF40}"/>
          </ac:picMkLst>
        </pc:picChg>
        <pc:picChg chg="add">
          <ac:chgData name="Lai, Wilson" userId="2840974a-0d84-4886-90a9-9a3ed79f3a48" providerId="ADAL" clId="{9F23B798-9E84-4552-BA63-E776E805C424}" dt="2026-09-18T02:53:55.991" v="33" actId="22"/>
          <ac:picMkLst>
            <pc:docMk/>
            <pc:sldMk cId="0" sldId="266"/>
            <ac:picMk id="6" creationId="{3D2CFDDC-84E6-6D58-7913-E8F6F241A4E8}"/>
          </ac:picMkLst>
        </pc:picChg>
      </pc:sldChg>
      <pc:sldChg chg="addSp delSp mod modNotesTx">
        <pc:chgData name="Lai, Wilson" userId="2840974a-0d84-4886-90a9-9a3ed79f3a48" providerId="ADAL" clId="{9F23B798-9E84-4552-BA63-E776E805C424}" dt="2026-09-18T03:03:54.732" v="92" actId="14"/>
        <pc:sldMkLst>
          <pc:docMk/>
          <pc:sldMk cId="0" sldId="267"/>
        </pc:sldMkLst>
        <pc:picChg chg="del">
          <ac:chgData name="Lai, Wilson" userId="2840974a-0d84-4886-90a9-9a3ed79f3a48" providerId="ADAL" clId="{9F23B798-9E84-4552-BA63-E776E805C424}" dt="2026-09-18T02:48:42.354" v="20" actId="21"/>
          <ac:picMkLst>
            <pc:docMk/>
            <pc:sldMk cId="0" sldId="267"/>
            <ac:picMk id="2" creationId="{00000000-0000-0000-0000-000000000000}"/>
          </ac:picMkLst>
        </pc:picChg>
        <pc:picChg chg="add del">
          <ac:chgData name="Lai, Wilson" userId="2840974a-0d84-4886-90a9-9a3ed79f3a48" providerId="ADAL" clId="{9F23B798-9E84-4552-BA63-E776E805C424}" dt="2026-09-18T02:53:58.276" v="34" actId="21"/>
          <ac:picMkLst>
            <pc:docMk/>
            <pc:sldMk cId="0" sldId="267"/>
            <ac:picMk id="4" creationId="{2BC50F30-98B6-B14A-BDEE-84FED724EC8E}"/>
          </ac:picMkLst>
        </pc:picChg>
        <pc:picChg chg="add">
          <ac:chgData name="Lai, Wilson" userId="2840974a-0d84-4886-90a9-9a3ed79f3a48" providerId="ADAL" clId="{9F23B798-9E84-4552-BA63-E776E805C424}" dt="2026-09-18T02:54:26.602" v="35" actId="22"/>
          <ac:picMkLst>
            <pc:docMk/>
            <pc:sldMk cId="0" sldId="267"/>
            <ac:picMk id="6" creationId="{FEEB25C8-D956-5F0B-29AB-BF3F50E047C4}"/>
          </ac:picMkLst>
        </pc:picChg>
      </pc:sldChg>
      <pc:sldChg chg="addSp delSp mod">
        <pc:chgData name="Lai, Wilson" userId="2840974a-0d84-4886-90a9-9a3ed79f3a48" providerId="ADAL" clId="{9F23B798-9E84-4552-BA63-E776E805C424}" dt="2026-09-18T02:55:16.552" v="37" actId="22"/>
        <pc:sldMkLst>
          <pc:docMk/>
          <pc:sldMk cId="0" sldId="268"/>
        </pc:sldMkLst>
        <pc:picChg chg="del">
          <ac:chgData name="Lai, Wilson" userId="2840974a-0d84-4886-90a9-9a3ed79f3a48" providerId="ADAL" clId="{9F23B798-9E84-4552-BA63-E776E805C424}" dt="2026-09-18T02:49:03.444" v="22" actId="21"/>
          <ac:picMkLst>
            <pc:docMk/>
            <pc:sldMk cId="0" sldId="268"/>
            <ac:picMk id="2" creationId="{00000000-0000-0000-0000-000000000000}"/>
          </ac:picMkLst>
        </pc:picChg>
        <pc:picChg chg="add del">
          <ac:chgData name="Lai, Wilson" userId="2840974a-0d84-4886-90a9-9a3ed79f3a48" providerId="ADAL" clId="{9F23B798-9E84-4552-BA63-E776E805C424}" dt="2026-09-18T02:54:29.279" v="36" actId="21"/>
          <ac:picMkLst>
            <pc:docMk/>
            <pc:sldMk cId="0" sldId="268"/>
            <ac:picMk id="4" creationId="{F3DC04A8-7227-27CA-5324-17D508C1DFAB}"/>
          </ac:picMkLst>
        </pc:picChg>
        <pc:picChg chg="add">
          <ac:chgData name="Lai, Wilson" userId="2840974a-0d84-4886-90a9-9a3ed79f3a48" providerId="ADAL" clId="{9F23B798-9E84-4552-BA63-E776E805C424}" dt="2026-09-18T02:55:16.552" v="37" actId="22"/>
          <ac:picMkLst>
            <pc:docMk/>
            <pc:sldMk cId="0" sldId="268"/>
            <ac:picMk id="6" creationId="{617A32F1-71DC-D736-E3BC-F4A5ADD26A3E}"/>
          </ac:picMkLst>
        </pc:picChg>
      </pc:sldChg>
      <pc:sldChg chg="addSp delSp mod modNotesTx">
        <pc:chgData name="Lai, Wilson" userId="2840974a-0d84-4886-90a9-9a3ed79f3a48" providerId="ADAL" clId="{9F23B798-9E84-4552-BA63-E776E805C424}" dt="2026-09-18T03:04:20.084" v="94" actId="14"/>
        <pc:sldMkLst>
          <pc:docMk/>
          <pc:sldMk cId="0" sldId="269"/>
        </pc:sldMkLst>
        <pc:picChg chg="del">
          <ac:chgData name="Lai, Wilson" userId="2840974a-0d84-4886-90a9-9a3ed79f3a48" providerId="ADAL" clId="{9F23B798-9E84-4552-BA63-E776E805C424}" dt="2026-09-18T02:49:17.305" v="24" actId="21"/>
          <ac:picMkLst>
            <pc:docMk/>
            <pc:sldMk cId="0" sldId="269"/>
            <ac:picMk id="2" creationId="{00000000-0000-0000-0000-000000000000}"/>
          </ac:picMkLst>
        </pc:picChg>
        <pc:picChg chg="add del">
          <ac:chgData name="Lai, Wilson" userId="2840974a-0d84-4886-90a9-9a3ed79f3a48" providerId="ADAL" clId="{9F23B798-9E84-4552-BA63-E776E805C424}" dt="2026-09-18T02:55:21.591" v="38" actId="21"/>
          <ac:picMkLst>
            <pc:docMk/>
            <pc:sldMk cId="0" sldId="269"/>
            <ac:picMk id="4" creationId="{96FE42CF-F350-52FC-6387-BF61EA0A8EFF}"/>
          </ac:picMkLst>
        </pc:picChg>
        <pc:picChg chg="add">
          <ac:chgData name="Lai, Wilson" userId="2840974a-0d84-4886-90a9-9a3ed79f3a48" providerId="ADAL" clId="{9F23B798-9E84-4552-BA63-E776E805C424}" dt="2026-09-18T02:55:49.052" v="39" actId="22"/>
          <ac:picMkLst>
            <pc:docMk/>
            <pc:sldMk cId="0" sldId="269"/>
            <ac:picMk id="6" creationId="{93F379B9-5AA2-CC2E-5F86-F295120446E0}"/>
          </ac:picMkLst>
        </pc:picChg>
      </pc:sldChg>
      <pc:sldChg chg="addSp delSp mod modNotesTx">
        <pc:chgData name="Lai, Wilson" userId="2840974a-0d84-4886-90a9-9a3ed79f3a48" providerId="ADAL" clId="{9F23B798-9E84-4552-BA63-E776E805C424}" dt="2026-09-18T03:04:37.790" v="96" actId="14"/>
        <pc:sldMkLst>
          <pc:docMk/>
          <pc:sldMk cId="0" sldId="270"/>
        </pc:sldMkLst>
        <pc:picChg chg="del">
          <ac:chgData name="Lai, Wilson" userId="2840974a-0d84-4886-90a9-9a3ed79f3a48" providerId="ADAL" clId="{9F23B798-9E84-4552-BA63-E776E805C424}" dt="2026-09-18T02:49:31.339" v="26" actId="21"/>
          <ac:picMkLst>
            <pc:docMk/>
            <pc:sldMk cId="0" sldId="270"/>
            <ac:picMk id="2" creationId="{00000000-0000-0000-0000-000000000000}"/>
          </ac:picMkLst>
        </pc:picChg>
        <pc:picChg chg="add">
          <ac:chgData name="Lai, Wilson" userId="2840974a-0d84-4886-90a9-9a3ed79f3a48" providerId="ADAL" clId="{9F23B798-9E84-4552-BA63-E776E805C424}" dt="2026-09-18T02:49:41.811" v="27" actId="22"/>
          <ac:picMkLst>
            <pc:docMk/>
            <pc:sldMk cId="0" sldId="270"/>
            <ac:picMk id="4" creationId="{CDEDBBA2-9126-C70B-9E17-A7E9A31EA429}"/>
          </ac:picMkLst>
        </pc:picChg>
      </pc:sldChg>
      <pc:sldChg chg="addSp delSp mod modNotesTx">
        <pc:chgData name="Lai, Wilson" userId="2840974a-0d84-4886-90a9-9a3ed79f3a48" providerId="ADAL" clId="{9F23B798-9E84-4552-BA63-E776E805C424}" dt="2026-09-18T03:04:49.504" v="98" actId="14"/>
        <pc:sldMkLst>
          <pc:docMk/>
          <pc:sldMk cId="0" sldId="271"/>
        </pc:sldMkLst>
        <pc:picChg chg="del">
          <ac:chgData name="Lai, Wilson" userId="2840974a-0d84-4886-90a9-9a3ed79f3a48" providerId="ADAL" clId="{9F23B798-9E84-4552-BA63-E776E805C424}" dt="2026-09-18T02:49:45.133" v="28" actId="21"/>
          <ac:picMkLst>
            <pc:docMk/>
            <pc:sldMk cId="0" sldId="271"/>
            <ac:picMk id="2" creationId="{00000000-0000-0000-0000-000000000000}"/>
          </ac:picMkLst>
        </pc:picChg>
        <pc:picChg chg="add">
          <ac:chgData name="Lai, Wilson" userId="2840974a-0d84-4886-90a9-9a3ed79f3a48" providerId="ADAL" clId="{9F23B798-9E84-4552-BA63-E776E805C424}" dt="2026-09-18T02:50:57.389" v="29" actId="22"/>
          <ac:picMkLst>
            <pc:docMk/>
            <pc:sldMk cId="0" sldId="271"/>
            <ac:picMk id="4" creationId="{4CE3530B-EB0B-FA8E-4ECE-6C0B603DCC4F}"/>
          </ac:picMkLst>
        </pc:picChg>
      </pc:sldChg>
      <pc:sldChg chg="modNotesTx">
        <pc:chgData name="Lai, Wilson" userId="2840974a-0d84-4886-90a9-9a3ed79f3a48" providerId="ADAL" clId="{9F23B798-9E84-4552-BA63-E776E805C424}" dt="2026-09-18T03:05:18.135" v="103" actId="14"/>
        <pc:sldMkLst>
          <pc:docMk/>
          <pc:sldMk cId="3906767926"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62FF31-8E50-4B9E-9979-5ED725154B54}"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1F440D-209B-4409-987D-F6343BCDC96B}" type="slidenum">
              <a:rPr lang="en-US" smtClean="0"/>
              <a:t>‹#›</a:t>
            </a:fld>
            <a:endParaRPr lang="en-US"/>
          </a:p>
        </p:txBody>
      </p:sp>
    </p:spTree>
    <p:extLst>
      <p:ext uri="{BB962C8B-B14F-4D97-AF65-F5344CB8AC3E}">
        <p14:creationId xmlns:p14="http://schemas.microsoft.com/office/powerpoint/2010/main" val="2006775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Welcome everyone. Today, we're talking about modern software engineering in the era of AI coding agents and LLMs. The title of this presentation is The Strategic Engineer in the Age of AI, and our primary focus is why 25-year-old classic software fundamentals are actually the most important key to mastering AI coding agents. </a:t>
            </a:r>
          </a:p>
          <a:p>
            <a:r>
              <a:rPr lang="en-US" dirty="0"/>
              <a:t>The Visual Context: On the left of this visual, you see a chaotic topology representing unstructured inputs, legacy systems, and unpredictable outputs. On the right, you see a structured architecture built on SOLID fundamentals, design patterns, deterministic logic, and AI agent integration.</a:t>
            </a:r>
          </a:p>
          <a:p>
            <a:r>
              <a:rPr lang="en-US" dirty="0"/>
              <a:t>Core Message: AI hasn't made fundamental engineering principles obsolete; in fact, it has elevated them. When you give an AI agent unstructured context and vague goals, you generate technical debt at unprecedented speeds. The strategic engineer uses classic architectural foundations to tame agentic workflows and deliver scalable, reliable software. </a:t>
            </a:r>
          </a:p>
          <a:p>
            <a:endParaRPr lang="en-US" dirty="0"/>
          </a:p>
          <a:p>
            <a:endParaRPr lang="en-US" dirty="0"/>
          </a:p>
          <a:p>
            <a:r>
              <a:rPr lang="en-US" dirty="0"/>
              <a:t>https://www.youtube.com/watch?v=4DhcSPkEbwI</a:t>
            </a:r>
          </a:p>
        </p:txBody>
      </p:sp>
      <p:sp>
        <p:nvSpPr>
          <p:cNvPr id="4" name="Slide Number Placeholder 3"/>
          <p:cNvSpPr>
            <a:spLocks noGrp="1"/>
          </p:cNvSpPr>
          <p:nvPr>
            <p:ph type="sldNum" sz="quarter" idx="5"/>
          </p:nvPr>
        </p:nvSpPr>
        <p:spPr/>
        <p:txBody>
          <a:bodyPr/>
          <a:lstStyle/>
          <a:p>
            <a:fld id="{FC1F440D-209B-4409-987D-F6343BCDC96B}" type="slidenum">
              <a:rPr lang="en-US" smtClean="0"/>
              <a:t>1</a:t>
            </a:fld>
            <a:endParaRPr lang="en-US"/>
          </a:p>
        </p:txBody>
      </p:sp>
    </p:spTree>
    <p:extLst>
      <p:ext uri="{BB962C8B-B14F-4D97-AF65-F5344CB8AC3E}">
        <p14:creationId xmlns:p14="http://schemas.microsoft.com/office/powerpoint/2010/main" val="1518243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Key Concept:</a:t>
            </a:r>
            <a:r>
              <a:rPr lang="en-US" sz="1200" kern="1200" dirty="0">
                <a:solidFill>
                  <a:schemeClr val="tx1"/>
                </a:solidFill>
                <a:effectLst/>
                <a:latin typeface="+mn-lt"/>
                <a:ea typeface="+mn-ea"/>
                <a:cs typeface="+mn-cs"/>
              </a:rPr>
              <a:t> We are witnessing a massive paradigm shift in where human value sits in the software lifecycle. Tactical programming—the "what" and the "syntax," such as writing boilerplate, syntax, unit test syntax, and routine functions—has effectively been commoditized by AI models. </a:t>
            </a:r>
          </a:p>
          <a:p>
            <a:pPr lvl="0"/>
            <a:r>
              <a:rPr lang="en-US" sz="1200" b="1" kern="1200" dirty="0">
                <a:solidFill>
                  <a:schemeClr val="tx1"/>
                </a:solidFill>
                <a:effectLst/>
                <a:latin typeface="+mn-lt"/>
                <a:ea typeface="+mn-ea"/>
                <a:cs typeface="+mn-cs"/>
              </a:rPr>
              <a:t>Matt Pocock Quote Reference:</a:t>
            </a:r>
            <a:r>
              <a:rPr lang="en-US" sz="1200" kern="1200" dirty="0">
                <a:solidFill>
                  <a:schemeClr val="tx1"/>
                </a:solidFill>
                <a:effectLst/>
                <a:latin typeface="+mn-lt"/>
                <a:ea typeface="+mn-ea"/>
                <a:cs typeface="+mn-cs"/>
              </a:rPr>
              <a:t> Matt Pocock described software architecture with a great analogy: </a:t>
            </a:r>
            <a:r>
              <a:rPr lang="en-US" sz="1200" i="1" kern="1200" dirty="0">
                <a:solidFill>
                  <a:schemeClr val="tx1"/>
                </a:solidFill>
                <a:effectLst/>
                <a:latin typeface="+mn-lt"/>
                <a:ea typeface="+mn-ea"/>
                <a:cs typeface="+mn-cs"/>
              </a:rPr>
              <a:t>"It's kind of like you're mixing some music but you can't hear what's wrong until 9 months later... until the mistakes come and get you."</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The Hand-Off Matrix:</a:t>
            </a:r>
            <a:endParaRPr lang="en-US" sz="1200" kern="1200" dirty="0">
              <a:solidFill>
                <a:schemeClr val="tx1"/>
              </a:solidFill>
              <a:effectLst/>
              <a:latin typeface="+mn-lt"/>
              <a:ea typeface="+mn-ea"/>
              <a:cs typeface="+mn-cs"/>
            </a:endParaRP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Tactical Programming:</a:t>
            </a:r>
            <a:r>
              <a:rPr lang="en-US" sz="1200" kern="1200" dirty="0">
                <a:solidFill>
                  <a:schemeClr val="tx1"/>
                </a:solidFill>
                <a:effectLst/>
                <a:latin typeface="+mn-lt"/>
                <a:ea typeface="+mn-ea"/>
                <a:cs typeface="+mn-cs"/>
              </a:rPr>
              <a:t> This is now the Agent's job. It focuses on syntax and immediate execution. Its standalone economic value is rapidly approaching zero. </a:t>
            </a:r>
          </a:p>
          <a:p>
            <a:pPr marL="171450" lvl="0" indent="-171450" algn="l">
              <a:buFont typeface="Arial" panose="020B0604020202020204" pitchFamily="34" charset="0"/>
              <a:buChar char="•"/>
            </a:pPr>
            <a:r>
              <a:rPr lang="en-US" sz="1200" b="1" kern="1200" dirty="0">
                <a:solidFill>
                  <a:schemeClr val="tx1"/>
                </a:solidFill>
                <a:effectLst/>
                <a:latin typeface="+mn-lt"/>
                <a:ea typeface="+mn-ea"/>
                <a:cs typeface="+mn-cs"/>
              </a:rPr>
              <a:t>Strategic Programming:</a:t>
            </a:r>
            <a:r>
              <a:rPr lang="en-US" sz="1200" kern="1200" dirty="0">
                <a:solidFill>
                  <a:schemeClr val="tx1"/>
                </a:solidFill>
                <a:effectLst/>
                <a:latin typeface="+mn-lt"/>
                <a:ea typeface="+mn-ea"/>
                <a:cs typeface="+mn-cs"/>
              </a:rPr>
              <a:t> This is the Human's job. It focuses on long-term architecture, data flow, system entropy, and feedback loops. Its value approaches infinity because strategic decisions determine whether your application survives 9 to 12 months down the line.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Your true leverage as a developer today comes from adjusting the architectural sliders, not from typing individual notes on the keyboard.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2</a:t>
            </a:fld>
            <a:endParaRPr lang="en-US"/>
          </a:p>
        </p:txBody>
      </p:sp>
    </p:spTree>
    <p:extLst>
      <p:ext uri="{BB962C8B-B14F-4D97-AF65-F5344CB8AC3E}">
        <p14:creationId xmlns:p14="http://schemas.microsoft.com/office/powerpoint/2010/main" val="8002222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Illusion:</a:t>
            </a:r>
            <a:r>
              <a:rPr lang="en-US" sz="1200" kern="1200" dirty="0">
                <a:solidFill>
                  <a:schemeClr val="tx1"/>
                </a:solidFill>
                <a:effectLst/>
                <a:latin typeface="+mn-lt"/>
                <a:ea typeface="+mn-ea"/>
                <a:cs typeface="+mn-cs"/>
              </a:rPr>
              <a:t> It is easy to throw a vague prompt at an AI model and get a working script ("YOLO Prompting"). But when you attempt this on enterprise-scale codebases, the strategy crumbles. </a:t>
            </a:r>
          </a:p>
          <a:p>
            <a:pPr lvl="0"/>
            <a:r>
              <a:rPr lang="en-US" sz="1200" b="1" kern="1200" dirty="0">
                <a:solidFill>
                  <a:schemeClr val="tx1"/>
                </a:solidFill>
                <a:effectLst/>
                <a:latin typeface="+mn-lt"/>
                <a:ea typeface="+mn-ea"/>
                <a:cs typeface="+mn-cs"/>
              </a:rPr>
              <a:t>Three Critical Failure Modes:</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The Communication Gap:</a:t>
            </a:r>
            <a:r>
              <a:rPr lang="en-US" sz="1200" kern="1200" dirty="0">
                <a:solidFill>
                  <a:schemeClr val="tx1"/>
                </a:solidFill>
                <a:effectLst/>
                <a:latin typeface="+mn-lt"/>
                <a:ea typeface="+mn-ea"/>
                <a:cs typeface="+mn-cs"/>
              </a:rPr>
              <a:t> AI agents cannot read your mind. They don't know your team's unwritten conventions, architectural preferences, or subtle edge-case requirements unless explicitly communicated. </a:t>
            </a:r>
          </a:p>
          <a:p>
            <a:pPr marL="228600" lvl="0" indent="-228600">
              <a:buFont typeface="+mj-lt"/>
              <a:buAutoNum type="arabicPeriod"/>
            </a:pPr>
            <a:r>
              <a:rPr lang="en-US" sz="1200" b="1" kern="1200" dirty="0">
                <a:solidFill>
                  <a:schemeClr val="tx1"/>
                </a:solidFill>
                <a:effectLst/>
                <a:latin typeface="+mn-lt"/>
                <a:ea typeface="+mn-ea"/>
                <a:cs typeface="+mn-cs"/>
              </a:rPr>
              <a:t>The Context Cliff:</a:t>
            </a:r>
            <a:r>
              <a:rPr lang="en-US" sz="1200" kern="1200" dirty="0">
                <a:solidFill>
                  <a:schemeClr val="tx1"/>
                </a:solidFill>
                <a:effectLst/>
                <a:latin typeface="+mn-lt"/>
                <a:ea typeface="+mn-ea"/>
                <a:cs typeface="+mn-cs"/>
              </a:rPr>
              <a:t> As context windows expand, people assume they can dump an entire repository into an agent. However, as the token count grows, attention degrades. The model struggles to prioritize "important voices" amidst the noise. </a:t>
            </a:r>
          </a:p>
          <a:p>
            <a:pPr marL="228600" lvl="0" indent="-228600">
              <a:buFont typeface="+mj-lt"/>
              <a:buAutoNum type="arabicPeriod"/>
            </a:pPr>
            <a:r>
              <a:rPr lang="en-US" sz="1200" b="1" kern="1200" dirty="0">
                <a:solidFill>
                  <a:schemeClr val="tx1"/>
                </a:solidFill>
                <a:effectLst/>
                <a:latin typeface="+mn-lt"/>
                <a:ea typeface="+mn-ea"/>
                <a:cs typeface="+mn-cs"/>
              </a:rPr>
              <a:t>The Amnesia Problem:</a:t>
            </a:r>
            <a:r>
              <a:rPr lang="en-US" sz="1200" kern="1200" dirty="0">
                <a:solidFill>
                  <a:schemeClr val="tx1"/>
                </a:solidFill>
                <a:effectLst/>
                <a:latin typeface="+mn-lt"/>
                <a:ea typeface="+mn-ea"/>
                <a:cs typeface="+mn-cs"/>
              </a:rPr>
              <a:t> Unlike human developers who build localized institutional memory over time, agents wake up every single session as a complete stranger to your codebase.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You cannot rely on unstructured prompts or agent intuition to build production-grade software at scale.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3</a:t>
            </a:fld>
            <a:endParaRPr lang="en-US"/>
          </a:p>
        </p:txBody>
      </p:sp>
    </p:spTree>
    <p:extLst>
      <p:ext uri="{BB962C8B-B14F-4D97-AF65-F5344CB8AC3E}">
        <p14:creationId xmlns:p14="http://schemas.microsoft.com/office/powerpoint/2010/main" val="365073350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Deep Dive into Model Performance:</a:t>
            </a:r>
            <a:r>
              <a:rPr lang="en-US" sz="1200" kern="1200" dirty="0">
                <a:solidFill>
                  <a:schemeClr val="tx1"/>
                </a:solidFill>
                <a:effectLst/>
                <a:latin typeface="+mn-lt"/>
                <a:ea typeface="+mn-ea"/>
                <a:cs typeface="+mn-cs"/>
              </a:rPr>
              <a:t> Even though modern frontier models advertise 1-million or 2-million token windows, their practical "Smart Zone" for complex reasoning is significantly narrower. </a:t>
            </a:r>
          </a:p>
          <a:p>
            <a:pPr lvl="0"/>
            <a:r>
              <a:rPr lang="en-US" sz="1200" b="1" kern="1200" dirty="0">
                <a:solidFill>
                  <a:schemeClr val="tx1"/>
                </a:solidFill>
                <a:effectLst/>
                <a:latin typeface="+mn-lt"/>
                <a:ea typeface="+mn-ea"/>
                <a:cs typeface="+mn-cs"/>
              </a:rPr>
              <a:t>The Graph Analysis:</a:t>
            </a:r>
            <a:r>
              <a:rPr lang="en-US" sz="1200" kern="1200" dirty="0">
                <a:solidFill>
                  <a:schemeClr val="tx1"/>
                </a:solidFill>
                <a:effectLst/>
                <a:latin typeface="+mn-lt"/>
                <a:ea typeface="+mn-ea"/>
                <a:cs typeface="+mn-cs"/>
              </a:rPr>
              <a:t> Look at the chart on this slide.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From </a:t>
            </a:r>
            <a:r>
              <a:rPr lang="en-US" sz="1200" b="1" kern="1200" dirty="0">
                <a:solidFill>
                  <a:schemeClr val="tx1"/>
                </a:solidFill>
                <a:effectLst/>
                <a:latin typeface="+mn-lt"/>
                <a:ea typeface="+mn-ea"/>
                <a:cs typeface="+mn-cs"/>
              </a:rPr>
              <a:t>0 to ~150,000 tokens</a:t>
            </a:r>
            <a:r>
              <a:rPr lang="en-US" sz="1200" kern="1200" dirty="0">
                <a:solidFill>
                  <a:schemeClr val="tx1"/>
                </a:solidFill>
                <a:effectLst/>
                <a:latin typeface="+mn-lt"/>
                <a:ea typeface="+mn-ea"/>
                <a:cs typeface="+mn-cs"/>
              </a:rPr>
              <a:t>, attention and reasoning accuracy remain high and reliable ("The Smart Zone").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Past </a:t>
            </a:r>
            <a:r>
              <a:rPr lang="en-US" sz="1200" b="1" kern="1200" dirty="0">
                <a:solidFill>
                  <a:schemeClr val="tx1"/>
                </a:solidFill>
                <a:effectLst/>
                <a:latin typeface="+mn-lt"/>
                <a:ea typeface="+mn-ea"/>
                <a:cs typeface="+mn-cs"/>
              </a:rPr>
              <a:t>150k tokens</a:t>
            </a:r>
            <a:r>
              <a:rPr lang="en-US" sz="1200" kern="1200" dirty="0">
                <a:solidFill>
                  <a:schemeClr val="tx1"/>
                </a:solidFill>
                <a:effectLst/>
                <a:latin typeface="+mn-lt"/>
                <a:ea typeface="+mn-ea"/>
                <a:cs typeface="+mn-cs"/>
              </a:rPr>
              <a:t>, signal degradation sets in rapidly. Every additional token competes for attention, leading to hallucinated context, lost relationships, and logical oversights. </a:t>
            </a:r>
          </a:p>
          <a:p>
            <a:pPr lvl="0"/>
            <a:r>
              <a:rPr lang="en-US" sz="1200" b="1" kern="1200" dirty="0">
                <a:solidFill>
                  <a:schemeClr val="tx1"/>
                </a:solidFill>
                <a:effectLst/>
                <a:latin typeface="+mn-lt"/>
                <a:ea typeface="+mn-ea"/>
                <a:cs typeface="+mn-cs"/>
              </a:rPr>
              <a:t>Actionable Rule:</a:t>
            </a:r>
            <a:r>
              <a:rPr lang="en-US" sz="1200" kern="1200" dirty="0">
                <a:solidFill>
                  <a:schemeClr val="tx1"/>
                </a:solidFill>
                <a:effectLst/>
                <a:latin typeface="+mn-lt"/>
                <a:ea typeface="+mn-ea"/>
                <a:cs typeface="+mn-cs"/>
              </a:rPr>
              <a:t> Never stretch an agent's context window to its theoretical limit. To keep agents operating strictly inside the ~150k Smart Zone, you must decompose large feature requests into tightly scoped, modular units of work.</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4</a:t>
            </a:fld>
            <a:endParaRPr lang="en-US"/>
          </a:p>
        </p:txBody>
      </p:sp>
    </p:spTree>
    <p:extLst>
      <p:ext uri="{BB962C8B-B14F-4D97-AF65-F5344CB8AC3E}">
        <p14:creationId xmlns:p14="http://schemas.microsoft.com/office/powerpoint/2010/main" val="27448423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Human vs. Agent Memory:</a:t>
            </a:r>
            <a:r>
              <a:rPr lang="en-US" sz="1200" kern="1200" dirty="0">
                <a:solidFill>
                  <a:schemeClr val="tx1"/>
                </a:solidFill>
                <a:effectLst/>
                <a:latin typeface="+mn-lt"/>
                <a:ea typeface="+mn-ea"/>
                <a:cs typeface="+mn-cs"/>
              </a:rPr>
              <a:t> Human engineers navigate bad codebases by relying on historical memory—we remember </a:t>
            </a:r>
            <a:r>
              <a:rPr lang="en-US" sz="1200" i="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a hacky workaround was written six months ago. AI agents do not have this luxury. They suffer from total amnesia on every run. </a:t>
            </a:r>
          </a:p>
          <a:p>
            <a:pPr lvl="0"/>
            <a:r>
              <a:rPr lang="en-US" sz="1200" b="1" kern="1200" dirty="0">
                <a:solidFill>
                  <a:schemeClr val="tx1"/>
                </a:solidFill>
                <a:effectLst/>
                <a:latin typeface="+mn-lt"/>
                <a:ea typeface="+mn-ea"/>
                <a:cs typeface="+mn-cs"/>
              </a:rPr>
              <a:t>Core Insight:</a:t>
            </a:r>
            <a:r>
              <a:rPr lang="en-US" sz="1200" kern="1200" dirty="0">
                <a:solidFill>
                  <a:schemeClr val="tx1"/>
                </a:solidFill>
                <a:effectLst/>
                <a:latin typeface="+mn-lt"/>
                <a:ea typeface="+mn-ea"/>
                <a:cs typeface="+mn-cs"/>
              </a:rPr>
              <a:t> You can no longer rely on implicit institutional knowledge to mask technical debt. Every single time you press 'Enter', the agent approaches your codebase like a brand-new junior developer on day one. </a:t>
            </a:r>
          </a:p>
          <a:p>
            <a:pPr lvl="0"/>
            <a:r>
              <a:rPr lang="en-US" sz="1200" b="1" kern="1200" dirty="0">
                <a:solidFill>
                  <a:schemeClr val="tx1"/>
                </a:solidFill>
                <a:effectLst/>
                <a:latin typeface="+mn-lt"/>
                <a:ea typeface="+mn-ea"/>
                <a:cs typeface="+mn-cs"/>
              </a:rPr>
              <a:t>Engineering Mandate:</a:t>
            </a:r>
            <a:r>
              <a:rPr lang="en-US" sz="1200" kern="1200" dirty="0">
                <a:solidFill>
                  <a:schemeClr val="tx1"/>
                </a:solidFill>
                <a:effectLst/>
                <a:latin typeface="+mn-lt"/>
                <a:ea typeface="+mn-ea"/>
                <a:cs typeface="+mn-cs"/>
              </a:rPr>
              <a:t> If your codebase is chaotic, poorly typed, or loosely structured, the amnesiac agent will struggle. You must optimize the codebase itself to be a self-describing, perfectly legible environment for an external observer.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5</a:t>
            </a:fld>
            <a:endParaRPr lang="en-US"/>
          </a:p>
        </p:txBody>
      </p:sp>
    </p:spTree>
    <p:extLst>
      <p:ext uri="{BB962C8B-B14F-4D97-AF65-F5344CB8AC3E}">
        <p14:creationId xmlns:p14="http://schemas.microsoft.com/office/powerpoint/2010/main" val="13835878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Moving Away from Chat-Box Coding:</a:t>
            </a:r>
            <a:r>
              <a:rPr lang="en-US" dirty="0"/>
              <a:t> To achieve predictable engineering outcomes, we must shift from ad-hoc chat interface interactions to a deterministic, finite-state machine pipeline. </a:t>
            </a:r>
          </a:p>
          <a:p>
            <a:pPr lvl="0"/>
            <a:r>
              <a:rPr lang="en-US" dirty="0">
                <a:effectLst/>
              </a:rPr>
              <a:t>PDF</a:t>
            </a:r>
            <a:endParaRPr lang="en-US" dirty="0"/>
          </a:p>
          <a:p>
            <a:pPr lvl="0"/>
            <a:r>
              <a:rPr lang="en-US" b="1" dirty="0"/>
              <a:t>The Three-Stage Workflow:</a:t>
            </a:r>
            <a:endParaRPr lang="en-US" dirty="0"/>
          </a:p>
          <a:p>
            <a:pPr marL="228600" lvl="0" indent="-228600">
              <a:buFont typeface="+mj-lt"/>
              <a:buAutoNum type="arabicPeriod"/>
            </a:pPr>
            <a:r>
              <a:rPr lang="en-US" b="1" dirty="0"/>
              <a:t>Stage 1: Alignment (Skill: Grill Me):</a:t>
            </a:r>
            <a:r>
              <a:rPr lang="en-US" dirty="0"/>
              <a:t> Before writing any code, we close the communication gap by forcing the agent to question our requirements. </a:t>
            </a:r>
          </a:p>
          <a:p>
            <a:pPr marL="228600" lvl="0" indent="-228600">
              <a:buFont typeface="+mj-lt"/>
              <a:buAutoNum type="arabicPeriod"/>
            </a:pPr>
            <a:r>
              <a:rPr lang="en-US" b="1" dirty="0"/>
              <a:t>Stage 2: Mapping (Skill: Wayfinder):</a:t>
            </a:r>
            <a:r>
              <a:rPr lang="en-US" dirty="0"/>
              <a:t> For large features that exceed the 150k token Smart Zone, we break down specifications into a persistent map of small, isolated tickets. </a:t>
            </a:r>
          </a:p>
          <a:p>
            <a:pPr marL="228600" lvl="0" indent="-228600">
              <a:buFont typeface="+mj-lt"/>
              <a:buAutoNum type="arabicPeriod"/>
            </a:pPr>
            <a:r>
              <a:rPr lang="en-US" b="1" dirty="0"/>
              <a:t>Stage 3: Execution (Skill: Spec-to-Tickets):</a:t>
            </a:r>
            <a:r>
              <a:rPr lang="en-US" dirty="0"/>
              <a:t> The agent executes tasks in single-session Smart Zones, clearing its context window after completing each node. </a:t>
            </a:r>
          </a:p>
          <a:p>
            <a:pPr marL="0" lvl="0" indent="0">
              <a:buFont typeface="+mj-lt"/>
              <a:buNone/>
            </a:pPr>
            <a:endParaRPr lang="en-US" dirty="0"/>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6</a:t>
            </a:fld>
            <a:endParaRPr lang="en-US"/>
          </a:p>
        </p:txBody>
      </p:sp>
    </p:spTree>
    <p:extLst>
      <p:ext uri="{BB962C8B-B14F-4D97-AF65-F5344CB8AC3E}">
        <p14:creationId xmlns:p14="http://schemas.microsoft.com/office/powerpoint/2010/main" val="10648440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Concept:</a:t>
            </a:r>
            <a:r>
              <a:rPr lang="en-US" sz="1200" kern="1200" dirty="0">
                <a:solidFill>
                  <a:schemeClr val="tx1"/>
                </a:solidFill>
                <a:effectLst/>
                <a:latin typeface="+mn-lt"/>
                <a:ea typeface="+mn-ea"/>
                <a:cs typeface="+mn-cs"/>
              </a:rPr>
              <a:t> Reverse the prompting dynamic. Instead of commanding the agent to </a:t>
            </a:r>
            <a:r>
              <a:rPr lang="en-US" sz="1200" i="1" kern="1200" dirty="0">
                <a:solidFill>
                  <a:schemeClr val="tx1"/>
                </a:solidFill>
                <a:effectLst/>
                <a:latin typeface="+mn-lt"/>
                <a:ea typeface="+mn-ea"/>
                <a:cs typeface="+mn-cs"/>
              </a:rPr>
              <a:t>"build X,"</a:t>
            </a:r>
            <a:r>
              <a:rPr lang="en-US" sz="1200" kern="1200" dirty="0">
                <a:solidFill>
                  <a:schemeClr val="tx1"/>
                </a:solidFill>
                <a:effectLst/>
                <a:latin typeface="+mn-lt"/>
                <a:ea typeface="+mn-ea"/>
                <a:cs typeface="+mn-cs"/>
              </a:rPr>
              <a:t> instruct the agent to relentlessly interrogate you about edge cases, authentication mechanisms, and system constraints before it touches a single line of code. </a:t>
            </a:r>
          </a:p>
          <a:p>
            <a:pPr lvl="0"/>
            <a:r>
              <a:rPr lang="en-US" sz="1200" b="1" kern="1200" dirty="0">
                <a:solidFill>
                  <a:schemeClr val="tx1"/>
                </a:solidFill>
                <a:effectLst/>
                <a:latin typeface="+mn-lt"/>
                <a:ea typeface="+mn-ea"/>
                <a:cs typeface="+mn-cs"/>
              </a:rPr>
              <a:t>Real-World Example:</a:t>
            </a:r>
            <a:r>
              <a:rPr lang="en-US" sz="1200" kern="1200" dirty="0">
                <a:solidFill>
                  <a:schemeClr val="tx1"/>
                </a:solidFill>
                <a:effectLst/>
                <a:latin typeface="+mn-lt"/>
                <a:ea typeface="+mn-ea"/>
                <a:cs typeface="+mn-cs"/>
              </a:rPr>
              <a:t> In the terminal example shown on screen, the agent pauses execution and asks three critical questions regarding Bearer vs JSON authentication, rate limiting behavior at 1000 requests/day, and database update concurrency. </a:t>
            </a:r>
          </a:p>
          <a:p>
            <a:pPr lvl="0"/>
            <a:r>
              <a:rPr lang="en-US" sz="1200" b="1" kern="1200" dirty="0">
                <a:solidFill>
                  <a:schemeClr val="tx1"/>
                </a:solidFill>
                <a:effectLst/>
                <a:latin typeface="+mn-lt"/>
                <a:ea typeface="+mn-ea"/>
                <a:cs typeface="+mn-cs"/>
              </a:rPr>
              <a:t>Podcast Insight:</a:t>
            </a:r>
            <a:r>
              <a:rPr lang="en-US" sz="1200" kern="1200" dirty="0">
                <a:solidFill>
                  <a:schemeClr val="tx1"/>
                </a:solidFill>
                <a:effectLst/>
                <a:latin typeface="+mn-lt"/>
                <a:ea typeface="+mn-ea"/>
                <a:cs typeface="+mn-cs"/>
              </a:rPr>
              <a:t> Matt Pocock noted on </a:t>
            </a:r>
            <a:r>
              <a:rPr lang="en-US" sz="1200" i="1" kern="1200" dirty="0">
                <a:solidFill>
                  <a:schemeClr val="tx1"/>
                </a:solidFill>
                <a:effectLst/>
                <a:latin typeface="+mn-lt"/>
                <a:ea typeface="+mn-ea"/>
                <a:cs typeface="+mn-cs"/>
              </a:rPr>
              <a:t>The Pragmatic Engineer</a:t>
            </a:r>
            <a:r>
              <a:rPr lang="en-US" sz="1200" kern="1200" dirty="0">
                <a:solidFill>
                  <a:schemeClr val="tx1"/>
                </a:solidFill>
                <a:effectLst/>
                <a:latin typeface="+mn-lt"/>
                <a:ea typeface="+mn-ea"/>
                <a:cs typeface="+mn-cs"/>
              </a:rPr>
              <a:t> podcast that when he ran grill-me while building a simple API endpoint, the agent asked him 35 detailed questions, forcing him to resolve architectural ambiguities up front. </a:t>
            </a:r>
          </a:p>
          <a:p>
            <a:pPr lvl="0"/>
            <a:r>
              <a:rPr lang="en-US" sz="1200" b="1" kern="1200" dirty="0">
                <a:solidFill>
                  <a:schemeClr val="tx1"/>
                </a:solidFill>
                <a:effectLst/>
                <a:latin typeface="+mn-lt"/>
                <a:ea typeface="+mn-ea"/>
                <a:cs typeface="+mn-cs"/>
              </a:rPr>
              <a:t>Impact:</a:t>
            </a:r>
            <a:r>
              <a:rPr lang="en-US" sz="1200" kern="1200" dirty="0">
                <a:solidFill>
                  <a:schemeClr val="tx1"/>
                </a:solidFill>
                <a:effectLst/>
                <a:latin typeface="+mn-lt"/>
                <a:ea typeface="+mn-ea"/>
                <a:cs typeface="+mn-cs"/>
              </a:rPr>
              <a:t> Grill Me eliminates agent guesswork, enforces security decisions, and forces human engineering discipline prior to execution.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7</a:t>
            </a:fld>
            <a:endParaRPr lang="en-US"/>
          </a:p>
        </p:txBody>
      </p:sp>
    </p:spTree>
    <p:extLst>
      <p:ext uri="{BB962C8B-B14F-4D97-AF65-F5344CB8AC3E}">
        <p14:creationId xmlns:p14="http://schemas.microsoft.com/office/powerpoint/2010/main" val="2222509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Concept:</a:t>
            </a:r>
            <a:r>
              <a:rPr lang="en-US" sz="1200" kern="1200" dirty="0">
                <a:solidFill>
                  <a:schemeClr val="tx1"/>
                </a:solidFill>
                <a:effectLst/>
                <a:latin typeface="+mn-lt"/>
                <a:ea typeface="+mn-ea"/>
                <a:cs typeface="+mn-cs"/>
              </a:rPr>
              <a:t> When features are too large to fit in a single 150k token context session, you build a persistent dependency graph—a "Map" of tickets. </a:t>
            </a:r>
          </a:p>
          <a:p>
            <a:pPr lvl="0"/>
            <a:r>
              <a:rPr lang="en-US" sz="1200" b="1" kern="1200" dirty="0">
                <a:solidFill>
                  <a:schemeClr val="tx1"/>
                </a:solidFill>
                <a:effectLst/>
                <a:latin typeface="+mn-lt"/>
                <a:ea typeface="+mn-ea"/>
                <a:cs typeface="+mn-cs"/>
              </a:rPr>
              <a:t>Execution Cycle:</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Load Map:</a:t>
            </a:r>
            <a:r>
              <a:rPr lang="en-US" sz="1200" kern="1200" dirty="0">
                <a:solidFill>
                  <a:schemeClr val="tx1"/>
                </a:solidFill>
                <a:effectLst/>
                <a:latin typeface="+mn-lt"/>
                <a:ea typeface="+mn-ea"/>
                <a:cs typeface="+mn-cs"/>
              </a:rPr>
              <a:t> Load the overarching ticket network into the agent. </a:t>
            </a:r>
          </a:p>
          <a:p>
            <a:pPr marL="228600" lvl="0" indent="-228600">
              <a:buFont typeface="+mj-lt"/>
              <a:buAutoNum type="arabicPeriod"/>
            </a:pPr>
            <a:r>
              <a:rPr lang="en-US" sz="1200" b="1" kern="1200" dirty="0">
                <a:solidFill>
                  <a:schemeClr val="tx1"/>
                </a:solidFill>
                <a:effectLst/>
                <a:latin typeface="+mn-lt"/>
                <a:ea typeface="+mn-ea"/>
                <a:cs typeface="+mn-cs"/>
              </a:rPr>
              <a:t>Select Node:</a:t>
            </a:r>
            <a:r>
              <a:rPr lang="en-US" sz="1200" kern="1200" dirty="0">
                <a:solidFill>
                  <a:schemeClr val="tx1"/>
                </a:solidFill>
                <a:effectLst/>
                <a:latin typeface="+mn-lt"/>
                <a:ea typeface="+mn-ea"/>
                <a:cs typeface="+mn-cs"/>
              </a:rPr>
              <a:t> The agent picks exactly </a:t>
            </a:r>
            <a:r>
              <a:rPr lang="en-US" sz="1200" b="1" kern="1200" dirty="0">
                <a:solidFill>
                  <a:schemeClr val="tx1"/>
                </a:solidFill>
                <a:effectLst/>
                <a:latin typeface="+mn-lt"/>
                <a:ea typeface="+mn-ea"/>
                <a:cs typeface="+mn-cs"/>
              </a:rPr>
              <a:t>ONE</a:t>
            </a:r>
            <a:r>
              <a:rPr lang="en-US" sz="1200" kern="1200" dirty="0">
                <a:solidFill>
                  <a:schemeClr val="tx1"/>
                </a:solidFill>
                <a:effectLst/>
                <a:latin typeface="+mn-lt"/>
                <a:ea typeface="+mn-ea"/>
                <a:cs typeface="+mn-cs"/>
              </a:rPr>
              <a:t> isolated task/node to execute. </a:t>
            </a:r>
          </a:p>
          <a:p>
            <a:pPr marL="228600" lvl="0" indent="-228600">
              <a:buFont typeface="+mj-lt"/>
              <a:buAutoNum type="arabicPeriod"/>
            </a:pPr>
            <a:r>
              <a:rPr lang="en-US" sz="1200" b="1" kern="1200" dirty="0">
                <a:solidFill>
                  <a:schemeClr val="tx1"/>
                </a:solidFill>
                <a:effectLst/>
                <a:latin typeface="+mn-lt"/>
                <a:ea typeface="+mn-ea"/>
                <a:cs typeface="+mn-cs"/>
              </a:rPr>
              <a:t>Execute:</a:t>
            </a:r>
            <a:r>
              <a:rPr lang="en-US" sz="1200" kern="1200" dirty="0">
                <a:solidFill>
                  <a:schemeClr val="tx1"/>
                </a:solidFill>
                <a:effectLst/>
                <a:latin typeface="+mn-lt"/>
                <a:ea typeface="+mn-ea"/>
                <a:cs typeface="+mn-cs"/>
              </a:rPr>
              <a:t> The task is executed inside the 150k Smart Zone. </a:t>
            </a:r>
          </a:p>
          <a:p>
            <a:pPr marL="228600" lvl="0" indent="-228600">
              <a:buFont typeface="+mj-lt"/>
              <a:buAutoNum type="arabicPeriod"/>
            </a:pPr>
            <a:r>
              <a:rPr lang="en-US" sz="1200" b="1" kern="1200" dirty="0">
                <a:solidFill>
                  <a:schemeClr val="tx1"/>
                </a:solidFill>
                <a:effectLst/>
                <a:latin typeface="+mn-lt"/>
                <a:ea typeface="+mn-ea"/>
                <a:cs typeface="+mn-cs"/>
              </a:rPr>
              <a:t>Update Map:</a:t>
            </a:r>
            <a:r>
              <a:rPr lang="en-US" sz="1200" kern="1200" dirty="0">
                <a:solidFill>
                  <a:schemeClr val="tx1"/>
                </a:solidFill>
                <a:effectLst/>
                <a:latin typeface="+mn-lt"/>
                <a:ea typeface="+mn-ea"/>
                <a:cs typeface="+mn-cs"/>
              </a:rPr>
              <a:t> Mark the node as complete, update dependent status, and output state. </a:t>
            </a:r>
          </a:p>
          <a:p>
            <a:pPr marL="228600" lvl="0" indent="-228600">
              <a:buFont typeface="+mj-lt"/>
              <a:buAutoNum type="arabicPeriod"/>
            </a:pPr>
            <a:r>
              <a:rPr lang="en-US" sz="1200" b="1" kern="1200" dirty="0">
                <a:solidFill>
                  <a:schemeClr val="tx1"/>
                </a:solidFill>
                <a:effectLst/>
                <a:latin typeface="+mn-lt"/>
                <a:ea typeface="+mn-ea"/>
                <a:cs typeface="+mn-cs"/>
              </a:rPr>
              <a:t>Flush Context:</a:t>
            </a:r>
            <a:r>
              <a:rPr lang="en-US" sz="1200" kern="1200" dirty="0">
                <a:solidFill>
                  <a:schemeClr val="tx1"/>
                </a:solidFill>
                <a:effectLst/>
                <a:latin typeface="+mn-lt"/>
                <a:ea typeface="+mn-ea"/>
                <a:cs typeface="+mn-cs"/>
              </a:rPr>
              <a:t> Forcefully wipe the agent's context memory clean. </a:t>
            </a:r>
          </a:p>
          <a:p>
            <a:pPr marL="228600" lvl="0" indent="-228600">
              <a:buFont typeface="+mj-lt"/>
              <a:buAutoNum type="arabicPeriod"/>
            </a:pPr>
            <a:r>
              <a:rPr lang="en-US" sz="1200" b="1" kern="1200" dirty="0">
                <a:solidFill>
                  <a:schemeClr val="tx1"/>
                </a:solidFill>
                <a:effectLst/>
                <a:latin typeface="+mn-lt"/>
                <a:ea typeface="+mn-ea"/>
                <a:cs typeface="+mn-cs"/>
              </a:rPr>
              <a:t>Repeat:</a:t>
            </a:r>
            <a:r>
              <a:rPr lang="en-US" sz="1200" kern="1200" dirty="0">
                <a:solidFill>
                  <a:schemeClr val="tx1"/>
                </a:solidFill>
                <a:effectLst/>
                <a:latin typeface="+mn-lt"/>
                <a:ea typeface="+mn-ea"/>
                <a:cs typeface="+mn-cs"/>
              </a:rPr>
              <a:t> Move to the next node with a fresh context window. </a:t>
            </a:r>
          </a:p>
          <a:p>
            <a:pPr lvl="0"/>
            <a:r>
              <a:rPr lang="en-US" sz="1200" b="1" kern="1200" dirty="0">
                <a:solidFill>
                  <a:schemeClr val="tx1"/>
                </a:solidFill>
                <a:effectLst/>
                <a:latin typeface="+mn-lt"/>
                <a:ea typeface="+mn-ea"/>
                <a:cs typeface="+mn-cs"/>
              </a:rPr>
              <a:t>Outcome:</a:t>
            </a:r>
            <a:r>
              <a:rPr lang="en-US" sz="1200" kern="1200" dirty="0">
                <a:solidFill>
                  <a:schemeClr val="tx1"/>
                </a:solidFill>
                <a:effectLst/>
                <a:latin typeface="+mn-lt"/>
                <a:ea typeface="+mn-ea"/>
                <a:cs typeface="+mn-cs"/>
              </a:rPr>
              <a:t> Prevents context degradation and keeps the agent operating at peak accuracy across multi-step projects.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8</a:t>
            </a:fld>
            <a:endParaRPr lang="en-US"/>
          </a:p>
        </p:txBody>
      </p:sp>
    </p:spTree>
    <p:extLst>
      <p:ext uri="{BB962C8B-B14F-4D97-AF65-F5344CB8AC3E}">
        <p14:creationId xmlns:p14="http://schemas.microsoft.com/office/powerpoint/2010/main" val="34260843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Core Insight:</a:t>
            </a:r>
            <a:r>
              <a:rPr lang="en-US" sz="1200" kern="1200" dirty="0">
                <a:solidFill>
                  <a:schemeClr val="tx1"/>
                </a:solidFill>
                <a:effectLst/>
                <a:latin typeface="+mn-lt"/>
                <a:ea typeface="+mn-ea"/>
                <a:cs typeface="+mn-cs"/>
              </a:rPr>
              <a:t> Don't waste time inventing vague new "English prompt engineering" frameworks. The ultimate cheat code for working with modern AI agents is leveraging classic software architecture books: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The Pragmatic Programmer</a:t>
            </a:r>
            <a:r>
              <a:rPr lang="en-US" sz="1200" kern="1200" dirty="0">
                <a:solidFill>
                  <a:schemeClr val="tx1"/>
                </a:solidFill>
                <a:effectLst/>
                <a:latin typeface="+mn-lt"/>
                <a:ea typeface="+mn-ea"/>
                <a:cs typeface="+mn-cs"/>
              </a:rPr>
              <a:t> (Hunt &amp; Thomas)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Domain-Driven Design</a:t>
            </a:r>
            <a:r>
              <a:rPr lang="en-US" sz="1200" kern="1200" dirty="0">
                <a:solidFill>
                  <a:schemeClr val="tx1"/>
                </a:solidFill>
                <a:effectLst/>
                <a:latin typeface="+mn-lt"/>
                <a:ea typeface="+mn-ea"/>
                <a:cs typeface="+mn-cs"/>
              </a:rPr>
              <a:t> (Eric Evans)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A Philosophy of Software Design</a:t>
            </a:r>
            <a:r>
              <a:rPr lang="en-US" sz="1200" kern="1200" dirty="0">
                <a:solidFill>
                  <a:schemeClr val="tx1"/>
                </a:solidFill>
                <a:effectLst/>
                <a:latin typeface="+mn-lt"/>
                <a:ea typeface="+mn-ea"/>
                <a:cs typeface="+mn-cs"/>
              </a:rPr>
              <a:t> (John Ousterhout) </a:t>
            </a:r>
          </a:p>
          <a:p>
            <a:pPr lvl="0"/>
            <a:r>
              <a:rPr lang="en-US" sz="1200" b="1" kern="1200" dirty="0">
                <a:solidFill>
                  <a:schemeClr val="tx1"/>
                </a:solidFill>
                <a:effectLst/>
                <a:latin typeface="+mn-lt"/>
                <a:ea typeface="+mn-ea"/>
                <a:cs typeface="+mn-cs"/>
              </a:rPr>
              <a:t>Why It Works:</a:t>
            </a:r>
            <a:r>
              <a:rPr lang="en-US" sz="1200" kern="1200" dirty="0">
                <a:solidFill>
                  <a:schemeClr val="tx1"/>
                </a:solidFill>
                <a:effectLst/>
                <a:latin typeface="+mn-lt"/>
                <a:ea typeface="+mn-ea"/>
                <a:cs typeface="+mn-cs"/>
              </a:rPr>
              <a:t> These foundational texts make up a significant portion of the high-quality training data for LLMs. When you invoke concepts from these books, you align the agent's latent space directly with decades of battle-tested engineering design principles.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9</a:t>
            </a:fld>
            <a:endParaRPr lang="en-US"/>
          </a:p>
        </p:txBody>
      </p:sp>
    </p:spTree>
    <p:extLst>
      <p:ext uri="{BB962C8B-B14F-4D97-AF65-F5344CB8AC3E}">
        <p14:creationId xmlns:p14="http://schemas.microsoft.com/office/powerpoint/2010/main" val="25035035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Bad Pattern (Horizontal Layering):</a:t>
            </a:r>
            <a:r>
              <a:rPr lang="en-US" sz="1200" kern="1200" dirty="0">
                <a:solidFill>
                  <a:schemeClr val="tx1"/>
                </a:solidFill>
                <a:effectLst/>
                <a:latin typeface="+mn-lt"/>
                <a:ea typeface="+mn-ea"/>
                <a:cs typeface="+mn-cs"/>
              </a:rPr>
              <a:t> Left to its own devices, an AI agent will build large horizontal layers in isolation—an entire UI layer, then an entire API layer, then a DB layer. When you finally assemble them, integration fails catastrophically. </a:t>
            </a:r>
          </a:p>
          <a:p>
            <a:pPr lvl="0"/>
            <a:r>
              <a:rPr lang="en-US" sz="1200" b="1" kern="1200" dirty="0">
                <a:solidFill>
                  <a:schemeClr val="tx1"/>
                </a:solidFill>
                <a:effectLst/>
                <a:latin typeface="+mn-lt"/>
                <a:ea typeface="+mn-ea"/>
                <a:cs typeface="+mn-cs"/>
              </a:rPr>
              <a:t>Good Pattern (Tracer Bullets):</a:t>
            </a:r>
            <a:r>
              <a:rPr lang="en-US" sz="1200" kern="1200" dirty="0">
                <a:solidFill>
                  <a:schemeClr val="tx1"/>
                </a:solidFill>
                <a:effectLst/>
                <a:latin typeface="+mn-lt"/>
                <a:ea typeface="+mn-ea"/>
                <a:cs typeface="+mn-cs"/>
              </a:rPr>
              <a:t> Borrowed directly from </a:t>
            </a:r>
            <a:r>
              <a:rPr lang="en-US" sz="1200" i="1" kern="1200" dirty="0">
                <a:solidFill>
                  <a:schemeClr val="tx1"/>
                </a:solidFill>
                <a:effectLst/>
                <a:latin typeface="+mn-lt"/>
                <a:ea typeface="+mn-ea"/>
                <a:cs typeface="+mn-cs"/>
              </a:rPr>
              <a:t>The Pragmatic Programmer</a:t>
            </a:r>
            <a:r>
              <a:rPr lang="en-US" sz="1200" kern="1200" dirty="0">
                <a:solidFill>
                  <a:schemeClr val="tx1"/>
                </a:solidFill>
                <a:effectLst/>
                <a:latin typeface="+mn-lt"/>
                <a:ea typeface="+mn-ea"/>
                <a:cs typeface="+mn-cs"/>
              </a:rPr>
              <a:t>, instruct the agent to build a </a:t>
            </a:r>
            <a:r>
              <a:rPr lang="en-US" sz="1200" b="1" kern="1200" dirty="0">
                <a:solidFill>
                  <a:schemeClr val="tx1"/>
                </a:solidFill>
                <a:effectLst/>
                <a:latin typeface="+mn-lt"/>
                <a:ea typeface="+mn-ea"/>
                <a:cs typeface="+mn-cs"/>
              </a:rPr>
              <a:t>Tracer Bullet</a:t>
            </a:r>
            <a:r>
              <a:rPr lang="en-US" sz="1200" kern="1200" dirty="0">
                <a:solidFill>
                  <a:schemeClr val="tx1"/>
                </a:solidFill>
                <a:effectLst/>
                <a:latin typeface="+mn-lt"/>
                <a:ea typeface="+mn-ea"/>
                <a:cs typeface="+mn-cs"/>
              </a:rPr>
              <a:t>—a thin, end-to-end vertical slice that connects UI, API, and DB layers instantly. </a:t>
            </a:r>
          </a:p>
          <a:p>
            <a:pPr lvl="0"/>
            <a:r>
              <a:rPr lang="en-US" sz="1200" b="1" kern="1200" dirty="0">
                <a:solidFill>
                  <a:schemeClr val="tx1"/>
                </a:solidFill>
                <a:effectLst/>
                <a:latin typeface="+mn-lt"/>
                <a:ea typeface="+mn-ea"/>
                <a:cs typeface="+mn-cs"/>
              </a:rPr>
              <a:t>Benefit:</a:t>
            </a:r>
            <a:r>
              <a:rPr lang="en-US" sz="1200" kern="1200" dirty="0">
                <a:solidFill>
                  <a:schemeClr val="tx1"/>
                </a:solidFill>
                <a:effectLst/>
                <a:latin typeface="+mn-lt"/>
                <a:ea typeface="+mn-ea"/>
                <a:cs typeface="+mn-cs"/>
              </a:rPr>
              <a:t> A tracer bullet creates an immediate feedback loop. It confirms that the system integration works end-to-end before you allow the agent to fill out the remaining features.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10</a:t>
            </a:fld>
            <a:endParaRPr lang="en-US"/>
          </a:p>
        </p:txBody>
      </p:sp>
    </p:spTree>
    <p:extLst>
      <p:ext uri="{BB962C8B-B14F-4D97-AF65-F5344CB8AC3E}">
        <p14:creationId xmlns:p14="http://schemas.microsoft.com/office/powerpoint/2010/main" val="11946818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Concept:</a:t>
            </a:r>
            <a:r>
              <a:rPr lang="en-US" sz="1200" kern="1200" dirty="0">
                <a:solidFill>
                  <a:schemeClr val="tx1"/>
                </a:solidFill>
                <a:effectLst/>
                <a:latin typeface="+mn-lt"/>
                <a:ea typeface="+mn-ea"/>
                <a:cs typeface="+mn-cs"/>
              </a:rPr>
              <a:t> Matt Pocock highlights the concept of </a:t>
            </a:r>
            <a:r>
              <a:rPr lang="en-US" sz="1200" b="1" kern="1200" dirty="0">
                <a:solidFill>
                  <a:schemeClr val="tx1"/>
                </a:solidFill>
                <a:effectLst/>
                <a:latin typeface="+mn-lt"/>
                <a:ea typeface="+mn-ea"/>
                <a:cs typeface="+mn-cs"/>
              </a:rPr>
              <a:t>"Leading Words"</a:t>
            </a:r>
            <a:r>
              <a:rPr lang="en-US" sz="1200" kern="1200" dirty="0">
                <a:solidFill>
                  <a:schemeClr val="tx1"/>
                </a:solidFill>
                <a:effectLst/>
                <a:latin typeface="+mn-lt"/>
                <a:ea typeface="+mn-ea"/>
                <a:cs typeface="+mn-cs"/>
              </a:rPr>
              <a:t>. Highly specific domain jargon acts as a precise key for the agent's latent space. </a:t>
            </a:r>
          </a:p>
          <a:p>
            <a:pPr lvl="0"/>
            <a:r>
              <a:rPr lang="en-US" sz="1200" b="1" kern="1200" dirty="0">
                <a:solidFill>
                  <a:schemeClr val="tx1"/>
                </a:solidFill>
                <a:effectLst/>
                <a:latin typeface="+mn-lt"/>
                <a:ea typeface="+mn-ea"/>
                <a:cs typeface="+mn-cs"/>
              </a:rPr>
              <a:t>Examples of Leading Words: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"Tracer Bullet"</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"Deep Modules"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"Materialization Cascade"</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"Ubiquitous Language"</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Dropping exact architectural jargon into prompts shifts the AI out of generic "junior dev mode" into expert alignment. Instead of writing three paragraphs of vague instructions, communicate complex architectural shifts using three precise, established terms.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11</a:t>
            </a:fld>
            <a:endParaRPr lang="en-US"/>
          </a:p>
        </p:txBody>
      </p:sp>
    </p:spTree>
    <p:extLst>
      <p:ext uri="{BB962C8B-B14F-4D97-AF65-F5344CB8AC3E}">
        <p14:creationId xmlns:p14="http://schemas.microsoft.com/office/powerpoint/2010/main" val="6813189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Reality of AI Code Generation:</a:t>
            </a:r>
            <a:r>
              <a:rPr lang="en-US" sz="1200" kern="1200" dirty="0">
                <a:solidFill>
                  <a:schemeClr val="tx1"/>
                </a:solidFill>
                <a:effectLst/>
                <a:latin typeface="+mn-lt"/>
                <a:ea typeface="+mn-ea"/>
                <a:cs typeface="+mn-cs"/>
              </a:rPr>
              <a:t> AI accelerates software entropy. Left unchecked, agents generate technical debt at unprecedented rates. </a:t>
            </a:r>
          </a:p>
          <a:p>
            <a:pPr lvl="0"/>
            <a:r>
              <a:rPr lang="en-US" sz="1200" b="1" kern="1200" dirty="0">
                <a:solidFill>
                  <a:schemeClr val="tx1"/>
                </a:solidFill>
                <a:effectLst/>
                <a:latin typeface="+mn-lt"/>
                <a:ea typeface="+mn-ea"/>
                <a:cs typeface="+mn-cs"/>
              </a:rPr>
              <a:t>The Impact on the Agent:</a:t>
            </a:r>
            <a:r>
              <a:rPr lang="en-US" sz="1200" kern="1200" dirty="0">
                <a:solidFill>
                  <a:schemeClr val="tx1"/>
                </a:solidFill>
                <a:effectLst/>
                <a:latin typeface="+mn-lt"/>
                <a:ea typeface="+mn-ea"/>
                <a:cs typeface="+mn-cs"/>
              </a:rPr>
              <a:t> Because an amnesiac agent relies entirely on the codebase for context, spaghetti code directly degrades the agent's ability to reason. Messy code creates a toxic environment for the AI. </a:t>
            </a:r>
          </a:p>
          <a:p>
            <a:pPr lvl="0"/>
            <a:r>
              <a:rPr lang="en-US" sz="1200" b="1" kern="1200" dirty="0">
                <a:solidFill>
                  <a:schemeClr val="tx1"/>
                </a:solidFill>
                <a:effectLst/>
                <a:latin typeface="+mn-lt"/>
                <a:ea typeface="+mn-ea"/>
                <a:cs typeface="+mn-cs"/>
              </a:rPr>
              <a:t>The Strategy (Automated Codebase Hygiene):</a:t>
            </a:r>
            <a:r>
              <a:rPr lang="en-US" sz="1200" kern="1200" dirty="0">
                <a:solidFill>
                  <a:schemeClr val="tx1"/>
                </a:solidFill>
                <a:effectLst/>
                <a:latin typeface="+mn-lt"/>
                <a:ea typeface="+mn-ea"/>
                <a:cs typeface="+mn-cs"/>
              </a:rPr>
              <a:t> Implement automated, scheduled maintenance tasks (e.g., nightly CI/CD skills) that prune dead code, resolve circular dependencies, enforce clean interfaces, and clean up test suites. Keep the context pristine so agents can operate effectively.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12</a:t>
            </a:fld>
            <a:endParaRPr lang="en-US"/>
          </a:p>
        </p:txBody>
      </p:sp>
    </p:spTree>
    <p:extLst>
      <p:ext uri="{BB962C8B-B14F-4D97-AF65-F5344CB8AC3E}">
        <p14:creationId xmlns:p14="http://schemas.microsoft.com/office/powerpoint/2010/main" val="21855273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Mindset Shift:</a:t>
            </a:r>
            <a:r>
              <a:rPr lang="en-US" sz="1200" kern="1200" dirty="0">
                <a:solidFill>
                  <a:schemeClr val="tx1"/>
                </a:solidFill>
                <a:effectLst/>
                <a:latin typeface="+mn-lt"/>
                <a:ea typeface="+mn-ea"/>
                <a:cs typeface="+mn-cs"/>
              </a:rPr>
              <a:t> The role of the software engineer is evolving from raw construction to curation and platform stewardship. </a:t>
            </a:r>
          </a:p>
          <a:p>
            <a:pPr lvl="0"/>
            <a:r>
              <a:rPr lang="en-US" sz="1200" b="1" kern="1200" dirty="0">
                <a:solidFill>
                  <a:schemeClr val="tx1"/>
                </a:solidFill>
                <a:effectLst/>
                <a:latin typeface="+mn-lt"/>
                <a:ea typeface="+mn-ea"/>
                <a:cs typeface="+mn-cs"/>
              </a:rPr>
              <a:t>Quote: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"Every team needs a gardener... tending the weeds that would otherwise engulf the garden."</a:t>
            </a:r>
            <a:endParaRPr lang="en-US" sz="1200" kern="1200" dirty="0">
              <a:solidFill>
                <a:schemeClr val="tx1"/>
              </a:solidFill>
              <a:effectLst/>
              <a:latin typeface="+mn-lt"/>
              <a:ea typeface="+mn-ea"/>
              <a:cs typeface="+mn-cs"/>
            </a:endParaRPr>
          </a:p>
          <a:p>
            <a:pPr lvl="0"/>
            <a:r>
              <a:rPr lang="en-US" sz="1200" b="1" kern="1200" dirty="0">
                <a:solidFill>
                  <a:schemeClr val="tx1"/>
                </a:solidFill>
                <a:effectLst/>
                <a:latin typeface="+mn-lt"/>
                <a:ea typeface="+mn-ea"/>
                <a:cs typeface="+mn-cs"/>
              </a:rPr>
              <a:t>Core Responsibilities:</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Data Structure Pruning:</a:t>
            </a:r>
            <a:r>
              <a:rPr lang="en-US" sz="1200" kern="1200" dirty="0">
                <a:solidFill>
                  <a:schemeClr val="tx1"/>
                </a:solidFill>
                <a:effectLst/>
                <a:latin typeface="+mn-lt"/>
                <a:ea typeface="+mn-ea"/>
                <a:cs typeface="+mn-cs"/>
              </a:rPr>
              <a:t> Cleaning up unused schemas and dead abstractions.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Ecosystem Maintenance:</a:t>
            </a:r>
            <a:r>
              <a:rPr lang="en-US" sz="1200" kern="1200" dirty="0">
                <a:solidFill>
                  <a:schemeClr val="tx1"/>
                </a:solidFill>
                <a:effectLst/>
                <a:latin typeface="+mn-lt"/>
                <a:ea typeface="+mn-ea"/>
                <a:cs typeface="+mn-cs"/>
              </a:rPr>
              <a:t> Ensuring agent tools, linting rules, and pipelines run smoothly.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Human-in-the-Loop Oversight:</a:t>
            </a:r>
            <a:r>
              <a:rPr lang="en-US" sz="1200" kern="1200" dirty="0">
                <a:solidFill>
                  <a:schemeClr val="tx1"/>
                </a:solidFill>
                <a:effectLst/>
                <a:latin typeface="+mn-lt"/>
                <a:ea typeface="+mn-ea"/>
                <a:cs typeface="+mn-cs"/>
              </a:rPr>
              <a:t> Providing high-level steering while letting agents perform execution.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13</a:t>
            </a:fld>
            <a:endParaRPr lang="en-US"/>
          </a:p>
        </p:txBody>
      </p:sp>
    </p:spTree>
    <p:extLst>
      <p:ext uri="{BB962C8B-B14F-4D97-AF65-F5344CB8AC3E}">
        <p14:creationId xmlns:p14="http://schemas.microsoft.com/office/powerpoint/2010/main" val="371401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Pyramid Hierarchy: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1 (The Roots - Fundamentals):</a:t>
            </a:r>
            <a:r>
              <a:rPr lang="en-US" sz="1200" kern="1200" dirty="0">
                <a:solidFill>
                  <a:schemeClr val="tx1"/>
                </a:solidFill>
                <a:effectLst/>
                <a:latin typeface="+mn-lt"/>
                <a:ea typeface="+mn-ea"/>
                <a:cs typeface="+mn-cs"/>
              </a:rPr>
              <a:t> Grounding in Classic SWE Fundamentals, </a:t>
            </a:r>
            <a:r>
              <a:rPr lang="en-US" sz="1200" i="1" kern="1200" dirty="0">
                <a:solidFill>
                  <a:schemeClr val="tx1"/>
                </a:solidFill>
                <a:effectLst/>
                <a:latin typeface="+mn-lt"/>
                <a:ea typeface="+mn-ea"/>
                <a:cs typeface="+mn-cs"/>
              </a:rPr>
              <a:t>The Pragmatic Programmer</a:t>
            </a:r>
            <a:r>
              <a:rPr lang="en-US" sz="1200" kern="1200" dirty="0">
                <a:solidFill>
                  <a:schemeClr val="tx1"/>
                </a:solidFill>
                <a:effectLst/>
                <a:latin typeface="+mn-lt"/>
                <a:ea typeface="+mn-ea"/>
                <a:cs typeface="+mn-cs"/>
              </a:rPr>
              <a:t>, and </a:t>
            </a:r>
            <a:r>
              <a:rPr lang="en-US" sz="1200" i="1" kern="1200" dirty="0">
                <a:solidFill>
                  <a:schemeClr val="tx1"/>
                </a:solidFill>
                <a:effectLst/>
                <a:latin typeface="+mn-lt"/>
                <a:ea typeface="+mn-ea"/>
                <a:cs typeface="+mn-cs"/>
              </a:rPr>
              <a:t>Domain-Driven Design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2 (The Trunk - Workflows):</a:t>
            </a:r>
            <a:r>
              <a:rPr lang="en-US" sz="1200" kern="1200" dirty="0">
                <a:solidFill>
                  <a:schemeClr val="tx1"/>
                </a:solidFill>
                <a:effectLst/>
                <a:latin typeface="+mn-lt"/>
                <a:ea typeface="+mn-ea"/>
                <a:cs typeface="+mn-cs"/>
              </a:rPr>
              <a:t> Practicing Alignment via Grill Me, enforcing the 150k Smart Zone, and Mapping via Wayfinder.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3 (The Branches - Execution):</a:t>
            </a:r>
            <a:r>
              <a:rPr lang="en-US" sz="1200" kern="1200" dirty="0">
                <a:solidFill>
                  <a:schemeClr val="tx1"/>
                </a:solidFill>
                <a:effectLst/>
                <a:latin typeface="+mn-lt"/>
                <a:ea typeface="+mn-ea"/>
                <a:cs typeface="+mn-cs"/>
              </a:rPr>
              <a:t> Clean Codebase Maintenance, Vertical Slices / Tracer Bullets, and Automated Feedback Loops.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Level 4 (The Canopy Apex):</a:t>
            </a:r>
            <a:r>
              <a:rPr lang="en-US" sz="1200" kern="1200" dirty="0">
                <a:solidFill>
                  <a:schemeClr val="tx1"/>
                </a:solidFill>
                <a:effectLst/>
                <a:latin typeface="+mn-lt"/>
                <a:ea typeface="+mn-ea"/>
                <a:cs typeface="+mn-cs"/>
              </a:rPr>
              <a:t> High-Leverage Strategic Output. </a:t>
            </a:r>
          </a:p>
          <a:p>
            <a:pPr lvl="0"/>
            <a:r>
              <a:rPr lang="en-US" sz="1200" b="1" kern="1200" dirty="0">
                <a:solidFill>
                  <a:schemeClr val="tx1"/>
                </a:solidFill>
                <a:effectLst/>
                <a:latin typeface="+mn-lt"/>
                <a:ea typeface="+mn-ea"/>
                <a:cs typeface="+mn-cs"/>
              </a:rPr>
              <a:t>Summary Quote: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"Tactical skills have a floor of zero. Strategic skills have a ceiling of infinity."</a:t>
            </a:r>
            <a:r>
              <a:rPr lang="en-US" sz="1200" kern="1200" dirty="0">
                <a:solidFill>
                  <a:schemeClr val="tx1"/>
                </a:solidFill>
                <a:effectLst/>
                <a:latin typeface="+mn-lt"/>
                <a:ea typeface="+mn-ea"/>
                <a:cs typeface="+mn-cs"/>
              </a:rPr>
              <a:t> Master your feedback loops, rely on proven software engineering texts, and garden your codebase.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14</a:t>
            </a:fld>
            <a:endParaRPr lang="en-US"/>
          </a:p>
        </p:txBody>
      </p:sp>
    </p:spTree>
    <p:extLst>
      <p:ext uri="{BB962C8B-B14F-4D97-AF65-F5344CB8AC3E}">
        <p14:creationId xmlns:p14="http://schemas.microsoft.com/office/powerpoint/2010/main" val="6146617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Slide Overview:</a:t>
            </a:r>
            <a:r>
              <a:rPr lang="en-US" sz="1200" kern="1200" dirty="0">
                <a:solidFill>
                  <a:schemeClr val="tx1"/>
                </a:solidFill>
                <a:effectLst/>
                <a:latin typeface="+mn-lt"/>
                <a:ea typeface="+mn-ea"/>
                <a:cs typeface="+mn-cs"/>
              </a:rPr>
              <a:t> This slide summarizes the main tension and transition in AI-era engineering. </a:t>
            </a:r>
          </a:p>
          <a:p>
            <a:pPr lvl="0"/>
            <a:r>
              <a:rPr lang="en-US" sz="1200" b="1" kern="1200" dirty="0">
                <a:solidFill>
                  <a:schemeClr val="tx1"/>
                </a:solidFill>
                <a:effectLst/>
                <a:latin typeface="+mn-lt"/>
                <a:ea typeface="+mn-ea"/>
                <a:cs typeface="+mn-cs"/>
              </a:rPr>
              <a:t>The Problem:</a:t>
            </a:r>
            <a:r>
              <a:rPr lang="en-US" sz="1200" kern="1200" dirty="0">
                <a:solidFill>
                  <a:schemeClr val="tx1"/>
                </a:solidFill>
                <a:effectLst/>
                <a:latin typeface="+mn-lt"/>
                <a:ea typeface="+mn-ea"/>
                <a:cs typeface="+mn-cs"/>
              </a:rPr>
              <a:t> AI handles syntax and boilerplate, but accelerates software entropy if left unguided. </a:t>
            </a:r>
          </a:p>
          <a:p>
            <a:pPr lvl="0"/>
            <a:r>
              <a:rPr lang="en-US" sz="1200" b="1" kern="1200" dirty="0">
                <a:solidFill>
                  <a:schemeClr val="tx1"/>
                </a:solidFill>
                <a:effectLst/>
                <a:latin typeface="+mn-lt"/>
                <a:ea typeface="+mn-ea"/>
                <a:cs typeface="+mn-cs"/>
              </a:rPr>
              <a:t>The Solution:</a:t>
            </a:r>
            <a:r>
              <a:rPr lang="en-US" sz="1200" kern="1200" dirty="0">
                <a:solidFill>
                  <a:schemeClr val="tx1"/>
                </a:solidFill>
                <a:effectLst/>
                <a:latin typeface="+mn-lt"/>
                <a:ea typeface="+mn-ea"/>
                <a:cs typeface="+mn-cs"/>
              </a:rPr>
              <a:t> Strategic engineering through structured questioning (Grill Me), precise domain language ("Leading Words"), and codebase maintenance. </a:t>
            </a:r>
          </a:p>
          <a:p>
            <a:pPr lvl="0"/>
            <a:r>
              <a:rPr lang="en-US" sz="1200" b="1" kern="1200" dirty="0">
                <a:solidFill>
                  <a:schemeClr val="tx1"/>
                </a:solidFill>
                <a:effectLst/>
                <a:latin typeface="+mn-lt"/>
                <a:ea typeface="+mn-ea"/>
                <a:cs typeface="+mn-cs"/>
              </a:rPr>
              <a:t>Comparison Summary:</a:t>
            </a:r>
            <a:endParaRPr lang="en-US" sz="1200" kern="1200" dirty="0">
              <a:solidFill>
                <a:schemeClr val="tx1"/>
              </a:solidFill>
              <a:effectLst/>
              <a:latin typeface="+mn-lt"/>
              <a:ea typeface="+mn-ea"/>
              <a:cs typeface="+mn-cs"/>
            </a:endParaRP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Tactical Tasks:</a:t>
            </a:r>
            <a:r>
              <a:rPr lang="en-US" sz="1200" kern="1200" dirty="0">
                <a:solidFill>
                  <a:schemeClr val="tx1"/>
                </a:solidFill>
                <a:effectLst/>
                <a:latin typeface="+mn-lt"/>
                <a:ea typeface="+mn-ea"/>
                <a:cs typeface="+mn-cs"/>
              </a:rPr>
              <a:t> High AI role, low human value, limited context utility. </a:t>
            </a:r>
          </a:p>
          <a:p>
            <a:pPr marL="171450" lvl="0" indent="-171450">
              <a:buFont typeface="Arial" panose="020B0604020202020204" pitchFamily="34" charset="0"/>
              <a:buChar char="•"/>
            </a:pPr>
            <a:r>
              <a:rPr lang="en-US" sz="1200" i="1" kern="1200" dirty="0">
                <a:solidFill>
                  <a:schemeClr val="tx1"/>
                </a:solidFill>
                <a:effectLst/>
                <a:latin typeface="+mn-lt"/>
                <a:ea typeface="+mn-ea"/>
                <a:cs typeface="+mn-cs"/>
              </a:rPr>
              <a:t>Strategic Tasks:</a:t>
            </a:r>
            <a:r>
              <a:rPr lang="en-US" sz="1200" kern="1200" dirty="0">
                <a:solidFill>
                  <a:schemeClr val="tx1"/>
                </a:solidFill>
                <a:effectLst/>
                <a:latin typeface="+mn-lt"/>
                <a:ea typeface="+mn-ea"/>
                <a:cs typeface="+mn-cs"/>
              </a:rPr>
              <a:t> High human value (architecture, design, scoping), infinite leverage. </a:t>
            </a:r>
          </a:p>
          <a:p>
            <a:endParaRPr lang="en-US" dirty="0"/>
          </a:p>
        </p:txBody>
      </p:sp>
      <p:sp>
        <p:nvSpPr>
          <p:cNvPr id="4" name="Slide Number Placeholder 3"/>
          <p:cNvSpPr>
            <a:spLocks noGrp="1"/>
          </p:cNvSpPr>
          <p:nvPr>
            <p:ph type="sldNum" sz="quarter" idx="5"/>
          </p:nvPr>
        </p:nvSpPr>
        <p:spPr/>
        <p:txBody>
          <a:bodyPr/>
          <a:lstStyle/>
          <a:p>
            <a:fld id="{FC1F440D-209B-4409-987D-F6343BCDC96B}" type="slidenum">
              <a:rPr lang="en-US" smtClean="0"/>
              <a:t>15</a:t>
            </a:fld>
            <a:endParaRPr lang="en-US"/>
          </a:p>
        </p:txBody>
      </p:sp>
    </p:spTree>
    <p:extLst>
      <p:ext uri="{BB962C8B-B14F-4D97-AF65-F5344CB8AC3E}">
        <p14:creationId xmlns:p14="http://schemas.microsoft.com/office/powerpoint/2010/main" val="8767758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Key Takeaways to Implement Today:</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Incorporate Grill Me:</a:t>
            </a:r>
            <a:r>
              <a:rPr lang="en-US" sz="1200" kern="1200" dirty="0">
                <a:solidFill>
                  <a:schemeClr val="tx1"/>
                </a:solidFill>
                <a:effectLst/>
                <a:latin typeface="+mn-lt"/>
                <a:ea typeface="+mn-ea"/>
                <a:cs typeface="+mn-cs"/>
              </a:rPr>
              <a:t> Never let an agent begin coding from an open-ended command. Require it to ask clarifying questions about edge cases, auth, and state first. </a:t>
            </a:r>
          </a:p>
          <a:p>
            <a:pPr marL="228600" lvl="0" indent="-228600">
              <a:buFont typeface="+mj-lt"/>
              <a:buAutoNum type="arabicPeriod"/>
            </a:pPr>
            <a:r>
              <a:rPr lang="en-US" sz="1200" b="1" kern="1200" dirty="0">
                <a:solidFill>
                  <a:schemeClr val="tx1"/>
                </a:solidFill>
                <a:effectLst/>
                <a:latin typeface="+mn-lt"/>
                <a:ea typeface="+mn-ea"/>
                <a:cs typeface="+mn-cs"/>
              </a:rPr>
              <a:t>Respect the 150k Token Limit:</a:t>
            </a:r>
            <a:r>
              <a:rPr lang="en-US" sz="1200" kern="1200" dirty="0">
                <a:solidFill>
                  <a:schemeClr val="tx1"/>
                </a:solidFill>
                <a:effectLst/>
                <a:latin typeface="+mn-lt"/>
                <a:ea typeface="+mn-ea"/>
                <a:cs typeface="+mn-cs"/>
              </a:rPr>
              <a:t> Break tasks down using persistent maps (Wayfinder) to maintain peak model accuracy. </a:t>
            </a:r>
          </a:p>
          <a:p>
            <a:pPr marL="228600" lvl="0" indent="-228600">
              <a:buFont typeface="+mj-lt"/>
              <a:buAutoNum type="arabicPeriod"/>
            </a:pPr>
            <a:r>
              <a:rPr lang="en-US" sz="1200" b="1" kern="1200" dirty="0">
                <a:solidFill>
                  <a:schemeClr val="tx1"/>
                </a:solidFill>
                <a:effectLst/>
                <a:latin typeface="+mn-lt"/>
                <a:ea typeface="+mn-ea"/>
                <a:cs typeface="+mn-cs"/>
              </a:rPr>
              <a:t>Leverage Leading Words:</a:t>
            </a:r>
            <a:r>
              <a:rPr lang="en-US" sz="1200" kern="1200" dirty="0">
                <a:solidFill>
                  <a:schemeClr val="tx1"/>
                </a:solidFill>
                <a:effectLst/>
                <a:latin typeface="+mn-lt"/>
                <a:ea typeface="+mn-ea"/>
                <a:cs typeface="+mn-cs"/>
              </a:rPr>
              <a:t> Use classic architectural terminology (</a:t>
            </a:r>
            <a:r>
              <a:rPr lang="en-US" sz="1200" i="1" kern="1200" dirty="0">
                <a:solidFill>
                  <a:schemeClr val="tx1"/>
                </a:solidFill>
                <a:effectLst/>
                <a:latin typeface="+mn-lt"/>
                <a:ea typeface="+mn-ea"/>
                <a:cs typeface="+mn-cs"/>
              </a:rPr>
              <a:t>Tracer Bullet</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Ubiquitous Language</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Vertical Slice</a:t>
            </a:r>
            <a:r>
              <a:rPr lang="en-US" sz="1200" kern="1200" dirty="0">
                <a:solidFill>
                  <a:schemeClr val="tx1"/>
                </a:solidFill>
                <a:effectLst/>
                <a:latin typeface="+mn-lt"/>
                <a:ea typeface="+mn-ea"/>
                <a:cs typeface="+mn-cs"/>
              </a:rPr>
              <a:t>) to trigger the model's training data. </a:t>
            </a:r>
          </a:p>
          <a:p>
            <a:pPr marL="228600" lvl="0" indent="-228600">
              <a:buFont typeface="+mj-lt"/>
              <a:buAutoNum type="arabicPeriod"/>
            </a:pPr>
            <a:r>
              <a:rPr lang="en-US" sz="1200" b="1" kern="1200" dirty="0">
                <a:solidFill>
                  <a:schemeClr val="tx1"/>
                </a:solidFill>
                <a:effectLst/>
                <a:latin typeface="+mn-lt"/>
                <a:ea typeface="+mn-ea"/>
                <a:cs typeface="+mn-cs"/>
              </a:rPr>
              <a:t>Maintain Your Codebase for Amnesiac Agents:</a:t>
            </a:r>
            <a:r>
              <a:rPr lang="en-US" sz="1200" kern="1200" dirty="0">
                <a:solidFill>
                  <a:schemeClr val="tx1"/>
                </a:solidFill>
                <a:effectLst/>
                <a:latin typeface="+mn-lt"/>
                <a:ea typeface="+mn-ea"/>
                <a:cs typeface="+mn-cs"/>
              </a:rPr>
              <a:t> Treat your code as the primary interface for your agents. A clean, well-typed, modular codebase produces reliable AI outputs. </a:t>
            </a:r>
          </a:p>
          <a:p>
            <a:pPr lvl="0"/>
            <a:r>
              <a:rPr lang="en-US" sz="1200" b="1" kern="1200" dirty="0">
                <a:solidFill>
                  <a:schemeClr val="tx1"/>
                </a:solidFill>
                <a:effectLst/>
                <a:latin typeface="+mn-lt"/>
                <a:ea typeface="+mn-ea"/>
                <a:cs typeface="+mn-cs"/>
              </a:rPr>
              <a:t>Closing Remark:</a:t>
            </a:r>
            <a:r>
              <a:rPr lang="en-US" sz="1200" kern="1200" dirty="0">
                <a:solidFill>
                  <a:schemeClr val="tx1"/>
                </a:solidFill>
                <a:effectLst/>
                <a:latin typeface="+mn-lt"/>
                <a:ea typeface="+mn-ea"/>
                <a:cs typeface="+mn-cs"/>
              </a:rPr>
              <a:t> Focus on strategic programming—setting the system sliders—and let AI manage the tactical code generation.</a:t>
            </a:r>
          </a:p>
          <a:p>
            <a:endParaRPr lang="en-US" dirty="0"/>
          </a:p>
          <a:p>
            <a:endParaRPr lang="en-US" dirty="0"/>
          </a:p>
          <a:p>
            <a:endParaRPr lang="en-US" dirty="0"/>
          </a:p>
          <a:p>
            <a:r>
              <a:rPr lang="en-US" dirty="0"/>
              <a:t>https://www.youtube.com/watch?v=4DhcSPkEbwI</a:t>
            </a:r>
          </a:p>
        </p:txBody>
      </p:sp>
      <p:sp>
        <p:nvSpPr>
          <p:cNvPr id="4" name="Slide Number Placeholder 3"/>
          <p:cNvSpPr>
            <a:spLocks noGrp="1"/>
          </p:cNvSpPr>
          <p:nvPr>
            <p:ph type="sldNum" sz="quarter" idx="5"/>
          </p:nvPr>
        </p:nvSpPr>
        <p:spPr/>
        <p:txBody>
          <a:bodyPr/>
          <a:lstStyle/>
          <a:p>
            <a:fld id="{FC1F440D-209B-4409-987D-F6343BCDC96B}" type="slidenum">
              <a:rPr lang="en-US" smtClean="0"/>
              <a:t>16</a:t>
            </a:fld>
            <a:endParaRPr lang="en-US"/>
          </a:p>
        </p:txBody>
      </p:sp>
    </p:spTree>
    <p:extLst>
      <p:ext uri="{BB962C8B-B14F-4D97-AF65-F5344CB8AC3E}">
        <p14:creationId xmlns:p14="http://schemas.microsoft.com/office/powerpoint/2010/main" val="3621654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FEE5F86-88BA-B66A-0712-326BD224C073}"/>
              </a:ext>
            </a:extLst>
          </p:cNvPr>
          <p:cNvSpPr>
            <a:spLocks noGrp="1"/>
          </p:cNvSpPr>
          <p:nvPr>
            <p:ph type="dt" sz="half" idx="10"/>
          </p:nvPr>
        </p:nvSpPr>
        <p:spPr/>
        <p:txBody>
          <a:bodyPr/>
          <a:lstStyle/>
          <a:p>
            <a:fld id="{0B6DD497-6F5D-45EB-BB67-BB7E5CC70B8D}" type="datetimeFigureOut">
              <a:rPr lang="en-US" smtClean="0"/>
              <a:t>10/21/2026</a:t>
            </a:fld>
            <a:endParaRPr lang="en-US"/>
          </a:p>
        </p:txBody>
      </p:sp>
      <p:sp>
        <p:nvSpPr>
          <p:cNvPr id="3" name="Footer Placeholder 2">
            <a:extLst>
              <a:ext uri="{FF2B5EF4-FFF2-40B4-BE49-F238E27FC236}">
                <a16:creationId xmlns:a16="http://schemas.microsoft.com/office/drawing/2014/main" id="{4884C19D-CF5D-27AA-7F77-3C160D8FE09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7B7B353-1BFE-346D-E923-7795773A86E1}"/>
              </a:ext>
            </a:extLst>
          </p:cNvPr>
          <p:cNvSpPr>
            <a:spLocks noGrp="1"/>
          </p:cNvSpPr>
          <p:nvPr>
            <p:ph type="sldNum" sz="quarter" idx="12"/>
          </p:nvPr>
        </p:nvSpPr>
        <p:spPr/>
        <p:txBody>
          <a:bodyPr/>
          <a:lstStyle/>
          <a:p>
            <a:fld id="{399D043D-FBEA-4B08-AB98-73DA3926D753}" type="slidenum">
              <a:rPr lang="en-US" smtClean="0"/>
              <a:t>‹#›</a:t>
            </a:fld>
            <a:endParaRPr lang="en-US"/>
          </a:p>
        </p:txBody>
      </p:sp>
    </p:spTree>
    <p:extLst>
      <p:ext uri="{BB962C8B-B14F-4D97-AF65-F5344CB8AC3E}">
        <p14:creationId xmlns:p14="http://schemas.microsoft.com/office/powerpoint/2010/main" val="341142849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7A5328-C3B4-8052-A513-296E83FCCC4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BE42326-F2FD-C64D-B46D-F7C5051425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FBF664-F474-0753-3AC3-BD8B2870E56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B6DD497-6F5D-45EB-BB67-BB7E5CC70B8D}" type="datetimeFigureOut">
              <a:rPr lang="en-US" smtClean="0"/>
              <a:t>10/21/2026</a:t>
            </a:fld>
            <a:endParaRPr lang="en-US"/>
          </a:p>
        </p:txBody>
      </p:sp>
      <p:sp>
        <p:nvSpPr>
          <p:cNvPr id="5" name="Footer Placeholder 4">
            <a:extLst>
              <a:ext uri="{FF2B5EF4-FFF2-40B4-BE49-F238E27FC236}">
                <a16:creationId xmlns:a16="http://schemas.microsoft.com/office/drawing/2014/main" id="{857FD333-3FD2-EECD-4020-8E5D427AE25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DEE4B56-D15F-CFF8-1B10-7C3703F9DF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99D043D-FBEA-4B08-AB98-73DA3926D753}" type="slidenum">
              <a:rPr lang="en-US" smtClean="0"/>
              <a:t>‹#›</a:t>
            </a:fld>
            <a:endParaRPr lang="en-US"/>
          </a:p>
        </p:txBody>
      </p:sp>
    </p:spTree>
    <p:extLst>
      <p:ext uri="{BB962C8B-B14F-4D97-AF65-F5344CB8AC3E}">
        <p14:creationId xmlns:p14="http://schemas.microsoft.com/office/powerpoint/2010/main" val="2045773845"/>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4C4743-23D6-3F45-2F45-9457EF3A7C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A85E17D-1F3D-2B8F-D391-26A3C2EB6E8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AF723A6-435F-B466-D7D6-FA1ED4B563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ED2A68E-434B-015A-D798-7B6D6F7873E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F74F46-E84F-E3C3-4753-1010494DB4D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B77AD35-92A3-6C85-8B99-1AE6A259469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B077A5-983C-F8A8-707F-5EB1C21AB63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47E136E-3068-EDD4-97F1-903F2488D6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8740098-AEB8-821F-1299-C9D09EA0AEF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D2CFDDC-84E6-6D58-7913-E8F6F241A4E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EEB25C8-D956-5F0B-29AB-BF3F50E047C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17A32F1-71DC-D736-E3BC-F4A5ADD26A3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3F379B9-5AA2-CC2E-5F86-F295120446E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DEDBBA2-9126-C70B-9E17-A7E9A31EA42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CE3530B-EB0B-FA8E-4ECE-6C0B603DCC4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808DE7-530E-D37E-C5CA-51906D2610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9067679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2079</Words>
  <Application>Microsoft Office PowerPoint</Application>
  <PresentationFormat>寬螢幕</PresentationFormat>
  <Paragraphs>107</Paragraphs>
  <Slides>16</Slides>
  <Notes>16</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16</vt:i4>
      </vt:variant>
    </vt:vector>
  </HeadingPairs>
  <TitlesOfParts>
    <vt:vector size="20"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2026-09-18T02:43:19Z</dcterms:created>
  <dcterms:modified xsi:type="dcterms:W3CDTF">2026-10-21T02:40:09Z</dcterms:modified>
</cp:coreProperties>
</file>