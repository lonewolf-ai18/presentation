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DAD350-E917-4F10-AB71-3891DA5CE5ED}" v="20" dt="2026-09-17T06:55:56.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79202"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7T06:56:14.217" v="64" actId="166"/>
      <pc:docMkLst>
        <pc:docMk/>
      </pc:docMkLst>
      <pc:sldChg chg="addSp delSp modSp mod modAnim modNotesTx">
        <pc:chgData name="Lai, Wilson" userId="2840974a-0d84-4886-90a9-9a3ed79f3a48" providerId="ADAL" clId="{9F23B798-9E84-4552-BA63-E776E805C424}" dt="2026-09-17T06:56:14.217" v="64" actId="166"/>
        <pc:sldMkLst>
          <pc:docMk/>
          <pc:sldMk cId="0" sldId="257"/>
        </pc:sldMkLst>
        <pc:spChg chg="add mod">
          <ac:chgData name="Lai, Wilson" userId="2840974a-0d84-4886-90a9-9a3ed79f3a48" providerId="ADAL" clId="{9F23B798-9E84-4552-BA63-E776E805C424}" dt="2026-09-17T05:21:45.950" v="40" actId="164"/>
          <ac:spMkLst>
            <pc:docMk/>
            <pc:sldMk cId="0" sldId="257"/>
            <ac:spMk id="5" creationId="{F15A7328-A32C-6BF0-15D8-5B9B64507810}"/>
          </ac:spMkLst>
        </pc:spChg>
        <pc:grpChg chg="add mod">
          <ac:chgData name="Lai, Wilson" userId="2840974a-0d84-4886-90a9-9a3ed79f3a48" providerId="ADAL" clId="{9F23B798-9E84-4552-BA63-E776E805C424}" dt="2026-09-17T05:21:45.950" v="40" actId="164"/>
          <ac:grpSpMkLst>
            <pc:docMk/>
            <pc:sldMk cId="0" sldId="257"/>
            <ac:grpSpMk id="6" creationId="{49A85507-CD53-22D7-7376-D5551B546D66}"/>
          </ac:grpSpMkLst>
        </pc:grpChg>
        <pc:picChg chg="del">
          <ac:chgData name="Lai, Wilson" userId="2840974a-0d84-4886-90a9-9a3ed79f3a48" providerId="ADAL" clId="{9F23B798-9E84-4552-BA63-E776E805C424}" dt="2026-09-17T05:02:11.093" v="0" actId="21"/>
          <ac:picMkLst>
            <pc:docMk/>
            <pc:sldMk cId="0" sldId="257"/>
            <ac:picMk id="2" creationId="{00000000-0000-0000-0000-000000000000}"/>
          </ac:picMkLst>
        </pc:picChg>
        <pc:picChg chg="add mod">
          <ac:chgData name="Lai, Wilson" userId="2840974a-0d84-4886-90a9-9a3ed79f3a48" providerId="ADAL" clId="{9F23B798-9E84-4552-BA63-E776E805C424}" dt="2026-09-17T05:21:45.950" v="40" actId="164"/>
          <ac:picMkLst>
            <pc:docMk/>
            <pc:sldMk cId="0" sldId="257"/>
            <ac:picMk id="2" creationId="{B7A30C39-AA43-C04C-DEA6-9517DA2298F7}"/>
          </ac:picMkLst>
        </pc:picChg>
        <pc:picChg chg="add ord">
          <ac:chgData name="Lai, Wilson" userId="2840974a-0d84-4886-90a9-9a3ed79f3a48" providerId="ADAL" clId="{9F23B798-9E84-4552-BA63-E776E805C424}" dt="2026-09-17T06:56:14.217" v="64" actId="166"/>
          <ac:picMkLst>
            <pc:docMk/>
            <pc:sldMk cId="0" sldId="257"/>
            <ac:picMk id="4" creationId="{E66C3718-B9C7-EF56-4193-A56EDF582EC3}"/>
          </ac:picMkLst>
        </pc:picChg>
      </pc:sldChg>
      <pc:sldChg chg="addSp delSp mod">
        <pc:chgData name="Lai, Wilson" userId="2840974a-0d84-4886-90a9-9a3ed79f3a48" providerId="ADAL" clId="{9F23B798-9E84-4552-BA63-E776E805C424}" dt="2026-09-17T05:02:32.219" v="3" actId="22"/>
        <pc:sldMkLst>
          <pc:docMk/>
          <pc:sldMk cId="0" sldId="258"/>
        </pc:sldMkLst>
        <pc:picChg chg="del">
          <ac:chgData name="Lai, Wilson" userId="2840974a-0d84-4886-90a9-9a3ed79f3a48" providerId="ADAL" clId="{9F23B798-9E84-4552-BA63-E776E805C424}" dt="2026-09-17T05:02:23.666" v="2" actId="21"/>
          <ac:picMkLst>
            <pc:docMk/>
            <pc:sldMk cId="0" sldId="258"/>
            <ac:picMk id="2" creationId="{00000000-0000-0000-0000-000000000000}"/>
          </ac:picMkLst>
        </pc:picChg>
        <pc:picChg chg="add">
          <ac:chgData name="Lai, Wilson" userId="2840974a-0d84-4886-90a9-9a3ed79f3a48" providerId="ADAL" clId="{9F23B798-9E84-4552-BA63-E776E805C424}" dt="2026-09-17T05:02:32.219" v="3" actId="22"/>
          <ac:picMkLst>
            <pc:docMk/>
            <pc:sldMk cId="0" sldId="258"/>
            <ac:picMk id="4" creationId="{7A2EC03E-9D18-4F70-C27C-D6CC83000A2C}"/>
          </ac:picMkLst>
        </pc:picChg>
      </pc:sldChg>
      <pc:sldChg chg="addSp delSp mod">
        <pc:chgData name="Lai, Wilson" userId="2840974a-0d84-4886-90a9-9a3ed79f3a48" providerId="ADAL" clId="{9F23B798-9E84-4552-BA63-E776E805C424}" dt="2026-09-17T05:02:43.197" v="5" actId="22"/>
        <pc:sldMkLst>
          <pc:docMk/>
          <pc:sldMk cId="0" sldId="259"/>
        </pc:sldMkLst>
        <pc:picChg chg="del">
          <ac:chgData name="Lai, Wilson" userId="2840974a-0d84-4886-90a9-9a3ed79f3a48" providerId="ADAL" clId="{9F23B798-9E84-4552-BA63-E776E805C424}" dt="2026-09-17T05:02:34.199" v="4" actId="21"/>
          <ac:picMkLst>
            <pc:docMk/>
            <pc:sldMk cId="0" sldId="259"/>
            <ac:picMk id="2" creationId="{00000000-0000-0000-0000-000000000000}"/>
          </ac:picMkLst>
        </pc:picChg>
        <pc:picChg chg="add">
          <ac:chgData name="Lai, Wilson" userId="2840974a-0d84-4886-90a9-9a3ed79f3a48" providerId="ADAL" clId="{9F23B798-9E84-4552-BA63-E776E805C424}" dt="2026-09-17T05:02:43.197" v="5" actId="22"/>
          <ac:picMkLst>
            <pc:docMk/>
            <pc:sldMk cId="0" sldId="259"/>
            <ac:picMk id="4" creationId="{9061443A-31BB-2622-05A2-11B6149E45A9}"/>
          </ac:picMkLst>
        </pc:picChg>
      </pc:sldChg>
      <pc:sldChg chg="addSp delSp mod modNotesTx">
        <pc:chgData name="Lai, Wilson" userId="2840974a-0d84-4886-90a9-9a3ed79f3a48" providerId="ADAL" clId="{9F23B798-9E84-4552-BA63-E776E805C424}" dt="2026-09-17T06:54:05.997" v="47" actId="14"/>
        <pc:sldMkLst>
          <pc:docMk/>
          <pc:sldMk cId="0" sldId="260"/>
        </pc:sldMkLst>
        <pc:picChg chg="del">
          <ac:chgData name="Lai, Wilson" userId="2840974a-0d84-4886-90a9-9a3ed79f3a48" providerId="ADAL" clId="{9F23B798-9E84-4552-BA63-E776E805C424}" dt="2026-09-17T05:02:45.921" v="6" actId="21"/>
          <ac:picMkLst>
            <pc:docMk/>
            <pc:sldMk cId="0" sldId="260"/>
            <ac:picMk id="2" creationId="{00000000-0000-0000-0000-000000000000}"/>
          </ac:picMkLst>
        </pc:picChg>
        <pc:picChg chg="add">
          <ac:chgData name="Lai, Wilson" userId="2840974a-0d84-4886-90a9-9a3ed79f3a48" providerId="ADAL" clId="{9F23B798-9E84-4552-BA63-E776E805C424}" dt="2026-09-17T05:03:02.341" v="7" actId="22"/>
          <ac:picMkLst>
            <pc:docMk/>
            <pc:sldMk cId="0" sldId="260"/>
            <ac:picMk id="4" creationId="{D8C27A4B-C129-A744-DA59-5C9CE36C8C8E}"/>
          </ac:picMkLst>
        </pc:picChg>
      </pc:sldChg>
      <pc:sldChg chg="addSp delSp mod modNotesTx">
        <pc:chgData name="Lai, Wilson" userId="2840974a-0d84-4886-90a9-9a3ed79f3a48" providerId="ADAL" clId="{9F23B798-9E84-4552-BA63-E776E805C424}" dt="2026-09-17T06:54:17.681" v="49" actId="14"/>
        <pc:sldMkLst>
          <pc:docMk/>
          <pc:sldMk cId="0" sldId="261"/>
        </pc:sldMkLst>
        <pc:picChg chg="del">
          <ac:chgData name="Lai, Wilson" userId="2840974a-0d84-4886-90a9-9a3ed79f3a48" providerId="ADAL" clId="{9F23B798-9E84-4552-BA63-E776E805C424}" dt="2026-09-17T05:03:04.495" v="8" actId="21"/>
          <ac:picMkLst>
            <pc:docMk/>
            <pc:sldMk cId="0" sldId="261"/>
            <ac:picMk id="2" creationId="{00000000-0000-0000-0000-000000000000}"/>
          </ac:picMkLst>
        </pc:picChg>
        <pc:picChg chg="add">
          <ac:chgData name="Lai, Wilson" userId="2840974a-0d84-4886-90a9-9a3ed79f3a48" providerId="ADAL" clId="{9F23B798-9E84-4552-BA63-E776E805C424}" dt="2026-09-17T05:03:13.448" v="9" actId="22"/>
          <ac:picMkLst>
            <pc:docMk/>
            <pc:sldMk cId="0" sldId="261"/>
            <ac:picMk id="4" creationId="{3164B089-5A6B-AFCE-2B3B-E65A982CA4C3}"/>
          </ac:picMkLst>
        </pc:picChg>
      </pc:sldChg>
      <pc:sldChg chg="addSp delSp mod">
        <pc:chgData name="Lai, Wilson" userId="2840974a-0d84-4886-90a9-9a3ed79f3a48" providerId="ADAL" clId="{9F23B798-9E84-4552-BA63-E776E805C424}" dt="2026-09-17T05:03:22.970" v="11" actId="22"/>
        <pc:sldMkLst>
          <pc:docMk/>
          <pc:sldMk cId="0" sldId="262"/>
        </pc:sldMkLst>
        <pc:picChg chg="del">
          <ac:chgData name="Lai, Wilson" userId="2840974a-0d84-4886-90a9-9a3ed79f3a48" providerId="ADAL" clId="{9F23B798-9E84-4552-BA63-E776E805C424}" dt="2026-09-17T05:03:15.503" v="10" actId="21"/>
          <ac:picMkLst>
            <pc:docMk/>
            <pc:sldMk cId="0" sldId="262"/>
            <ac:picMk id="2" creationId="{00000000-0000-0000-0000-000000000000}"/>
          </ac:picMkLst>
        </pc:picChg>
        <pc:picChg chg="add">
          <ac:chgData name="Lai, Wilson" userId="2840974a-0d84-4886-90a9-9a3ed79f3a48" providerId="ADAL" clId="{9F23B798-9E84-4552-BA63-E776E805C424}" dt="2026-09-17T05:03:22.970" v="11" actId="22"/>
          <ac:picMkLst>
            <pc:docMk/>
            <pc:sldMk cId="0" sldId="262"/>
            <ac:picMk id="4" creationId="{757C0F7D-1B5B-91E4-EA9A-33910647EF31}"/>
          </ac:picMkLst>
        </pc:picChg>
      </pc:sldChg>
      <pc:sldChg chg="addSp delSp mod modNotesTx">
        <pc:chgData name="Lai, Wilson" userId="2840974a-0d84-4886-90a9-9a3ed79f3a48" providerId="ADAL" clId="{9F23B798-9E84-4552-BA63-E776E805C424}" dt="2026-09-17T06:54:34.269" v="51" actId="14"/>
        <pc:sldMkLst>
          <pc:docMk/>
          <pc:sldMk cId="0" sldId="263"/>
        </pc:sldMkLst>
        <pc:picChg chg="del">
          <ac:chgData name="Lai, Wilson" userId="2840974a-0d84-4886-90a9-9a3ed79f3a48" providerId="ADAL" clId="{9F23B798-9E84-4552-BA63-E776E805C424}" dt="2026-09-17T05:03:24.578" v="12" actId="21"/>
          <ac:picMkLst>
            <pc:docMk/>
            <pc:sldMk cId="0" sldId="263"/>
            <ac:picMk id="2" creationId="{00000000-0000-0000-0000-000000000000}"/>
          </ac:picMkLst>
        </pc:picChg>
        <pc:picChg chg="add">
          <ac:chgData name="Lai, Wilson" userId="2840974a-0d84-4886-90a9-9a3ed79f3a48" providerId="ADAL" clId="{9F23B798-9E84-4552-BA63-E776E805C424}" dt="2026-09-17T05:03:32.260" v="13" actId="22"/>
          <ac:picMkLst>
            <pc:docMk/>
            <pc:sldMk cId="0" sldId="263"/>
            <ac:picMk id="4" creationId="{B99B1F83-93D3-7A75-88F8-1DFC55F7D0F7}"/>
          </ac:picMkLst>
        </pc:picChg>
      </pc:sldChg>
      <pc:sldChg chg="addSp delSp mod modNotesTx">
        <pc:chgData name="Lai, Wilson" userId="2840974a-0d84-4886-90a9-9a3ed79f3a48" providerId="ADAL" clId="{9F23B798-9E84-4552-BA63-E776E805C424}" dt="2026-09-17T06:54:45.439" v="53" actId="14"/>
        <pc:sldMkLst>
          <pc:docMk/>
          <pc:sldMk cId="0" sldId="264"/>
        </pc:sldMkLst>
        <pc:picChg chg="del">
          <ac:chgData name="Lai, Wilson" userId="2840974a-0d84-4886-90a9-9a3ed79f3a48" providerId="ADAL" clId="{9F23B798-9E84-4552-BA63-E776E805C424}" dt="2026-09-17T05:03:35.468" v="14" actId="21"/>
          <ac:picMkLst>
            <pc:docMk/>
            <pc:sldMk cId="0" sldId="264"/>
            <ac:picMk id="2" creationId="{00000000-0000-0000-0000-000000000000}"/>
          </ac:picMkLst>
        </pc:picChg>
        <pc:picChg chg="add">
          <ac:chgData name="Lai, Wilson" userId="2840974a-0d84-4886-90a9-9a3ed79f3a48" providerId="ADAL" clId="{9F23B798-9E84-4552-BA63-E776E805C424}" dt="2026-09-17T05:03:55.943" v="15" actId="22"/>
          <ac:picMkLst>
            <pc:docMk/>
            <pc:sldMk cId="0" sldId="264"/>
            <ac:picMk id="4" creationId="{DA9E2836-F912-CB8E-89EB-C414E54EEAB5}"/>
          </ac:picMkLst>
        </pc:picChg>
      </pc:sldChg>
      <pc:sldChg chg="addSp delSp mod">
        <pc:chgData name="Lai, Wilson" userId="2840974a-0d84-4886-90a9-9a3ed79f3a48" providerId="ADAL" clId="{9F23B798-9E84-4552-BA63-E776E805C424}" dt="2026-09-17T05:04:07.632" v="17" actId="22"/>
        <pc:sldMkLst>
          <pc:docMk/>
          <pc:sldMk cId="0" sldId="265"/>
        </pc:sldMkLst>
        <pc:picChg chg="del">
          <ac:chgData name="Lai, Wilson" userId="2840974a-0d84-4886-90a9-9a3ed79f3a48" providerId="ADAL" clId="{9F23B798-9E84-4552-BA63-E776E805C424}" dt="2026-09-17T05:03:58.233" v="16" actId="21"/>
          <ac:picMkLst>
            <pc:docMk/>
            <pc:sldMk cId="0" sldId="265"/>
            <ac:picMk id="2" creationId="{00000000-0000-0000-0000-000000000000}"/>
          </ac:picMkLst>
        </pc:picChg>
        <pc:picChg chg="add">
          <ac:chgData name="Lai, Wilson" userId="2840974a-0d84-4886-90a9-9a3ed79f3a48" providerId="ADAL" clId="{9F23B798-9E84-4552-BA63-E776E805C424}" dt="2026-09-17T05:04:07.632" v="17" actId="22"/>
          <ac:picMkLst>
            <pc:docMk/>
            <pc:sldMk cId="0" sldId="265"/>
            <ac:picMk id="4" creationId="{76C6A204-D143-6E23-1CE3-18A7899474A3}"/>
          </ac:picMkLst>
        </pc:picChg>
      </pc:sldChg>
      <pc:sldChg chg="addSp delSp mod">
        <pc:chgData name="Lai, Wilson" userId="2840974a-0d84-4886-90a9-9a3ed79f3a48" providerId="ADAL" clId="{9F23B798-9E84-4552-BA63-E776E805C424}" dt="2026-09-17T05:04:16.899" v="19" actId="22"/>
        <pc:sldMkLst>
          <pc:docMk/>
          <pc:sldMk cId="0" sldId="266"/>
        </pc:sldMkLst>
        <pc:picChg chg="del">
          <ac:chgData name="Lai, Wilson" userId="2840974a-0d84-4886-90a9-9a3ed79f3a48" providerId="ADAL" clId="{9F23B798-9E84-4552-BA63-E776E805C424}" dt="2026-09-17T05:04:09.627" v="18" actId="21"/>
          <ac:picMkLst>
            <pc:docMk/>
            <pc:sldMk cId="0" sldId="266"/>
            <ac:picMk id="2" creationId="{00000000-0000-0000-0000-000000000000}"/>
          </ac:picMkLst>
        </pc:picChg>
        <pc:picChg chg="add">
          <ac:chgData name="Lai, Wilson" userId="2840974a-0d84-4886-90a9-9a3ed79f3a48" providerId="ADAL" clId="{9F23B798-9E84-4552-BA63-E776E805C424}" dt="2026-09-17T05:04:16.899" v="19" actId="22"/>
          <ac:picMkLst>
            <pc:docMk/>
            <pc:sldMk cId="0" sldId="266"/>
            <ac:picMk id="4" creationId="{65AF8B17-054E-3CB5-C88D-BE8472DEEBCD}"/>
          </ac:picMkLst>
        </pc:picChg>
      </pc:sldChg>
      <pc:sldChg chg="addSp delSp mod modNotesTx">
        <pc:chgData name="Lai, Wilson" userId="2840974a-0d84-4886-90a9-9a3ed79f3a48" providerId="ADAL" clId="{9F23B798-9E84-4552-BA63-E776E805C424}" dt="2026-09-17T06:55:08.039" v="55" actId="14"/>
        <pc:sldMkLst>
          <pc:docMk/>
          <pc:sldMk cId="0" sldId="267"/>
        </pc:sldMkLst>
        <pc:picChg chg="del">
          <ac:chgData name="Lai, Wilson" userId="2840974a-0d84-4886-90a9-9a3ed79f3a48" providerId="ADAL" clId="{9F23B798-9E84-4552-BA63-E776E805C424}" dt="2026-09-17T05:04:18.411" v="20" actId="21"/>
          <ac:picMkLst>
            <pc:docMk/>
            <pc:sldMk cId="0" sldId="267"/>
            <ac:picMk id="2" creationId="{00000000-0000-0000-0000-000000000000}"/>
          </ac:picMkLst>
        </pc:picChg>
        <pc:picChg chg="add">
          <ac:chgData name="Lai, Wilson" userId="2840974a-0d84-4886-90a9-9a3ed79f3a48" providerId="ADAL" clId="{9F23B798-9E84-4552-BA63-E776E805C424}" dt="2026-09-17T05:04:26.999" v="21" actId="22"/>
          <ac:picMkLst>
            <pc:docMk/>
            <pc:sldMk cId="0" sldId="267"/>
            <ac:picMk id="4" creationId="{DFE64F5E-10A2-AD52-BA50-F7553C588DE9}"/>
          </ac:picMkLst>
        </pc:picChg>
      </pc:sldChg>
      <pc:sldChg chg="addSp delSp mod modNotesTx">
        <pc:chgData name="Lai, Wilson" userId="2840974a-0d84-4886-90a9-9a3ed79f3a48" providerId="ADAL" clId="{9F23B798-9E84-4552-BA63-E776E805C424}" dt="2026-09-17T06:55:23.494" v="56" actId="12"/>
        <pc:sldMkLst>
          <pc:docMk/>
          <pc:sldMk cId="0" sldId="268"/>
        </pc:sldMkLst>
        <pc:picChg chg="del">
          <ac:chgData name="Lai, Wilson" userId="2840974a-0d84-4886-90a9-9a3ed79f3a48" providerId="ADAL" clId="{9F23B798-9E84-4552-BA63-E776E805C424}" dt="2026-09-17T05:04:28.470" v="22" actId="21"/>
          <ac:picMkLst>
            <pc:docMk/>
            <pc:sldMk cId="0" sldId="268"/>
            <ac:picMk id="2" creationId="{00000000-0000-0000-0000-000000000000}"/>
          </ac:picMkLst>
        </pc:picChg>
        <pc:picChg chg="add">
          <ac:chgData name="Lai, Wilson" userId="2840974a-0d84-4886-90a9-9a3ed79f3a48" providerId="ADAL" clId="{9F23B798-9E84-4552-BA63-E776E805C424}" dt="2026-09-17T05:04:36.083" v="23" actId="22"/>
          <ac:picMkLst>
            <pc:docMk/>
            <pc:sldMk cId="0" sldId="268"/>
            <ac:picMk id="4" creationId="{4B3E97F9-3CE4-FE56-48A3-324DEFE58239}"/>
          </ac:picMkLst>
        </pc:picChg>
      </pc:sldChg>
      <pc:sldChg chg="addSp delSp mod modNotesTx">
        <pc:chgData name="Lai, Wilson" userId="2840974a-0d84-4886-90a9-9a3ed79f3a48" providerId="ADAL" clId="{9F23B798-9E84-4552-BA63-E776E805C424}" dt="2026-09-17T06:55:36.175" v="58" actId="14"/>
        <pc:sldMkLst>
          <pc:docMk/>
          <pc:sldMk cId="0" sldId="269"/>
        </pc:sldMkLst>
        <pc:picChg chg="del">
          <ac:chgData name="Lai, Wilson" userId="2840974a-0d84-4886-90a9-9a3ed79f3a48" providerId="ADAL" clId="{9F23B798-9E84-4552-BA63-E776E805C424}" dt="2026-09-17T05:04:37.623" v="24" actId="21"/>
          <ac:picMkLst>
            <pc:docMk/>
            <pc:sldMk cId="0" sldId="269"/>
            <ac:picMk id="2" creationId="{00000000-0000-0000-0000-000000000000}"/>
          </ac:picMkLst>
        </pc:picChg>
        <pc:picChg chg="add">
          <ac:chgData name="Lai, Wilson" userId="2840974a-0d84-4886-90a9-9a3ed79f3a48" providerId="ADAL" clId="{9F23B798-9E84-4552-BA63-E776E805C424}" dt="2026-09-17T05:04:45.031" v="25" actId="22"/>
          <ac:picMkLst>
            <pc:docMk/>
            <pc:sldMk cId="0" sldId="269"/>
            <ac:picMk id="4" creationId="{54A59544-410E-4D73-23BB-36D5F1339016}"/>
          </ac:picMkLst>
        </pc:picChg>
      </pc:sldChg>
      <pc:sldChg chg="addSp delSp mod modNotesTx">
        <pc:chgData name="Lai, Wilson" userId="2840974a-0d84-4886-90a9-9a3ed79f3a48" providerId="ADAL" clId="{9F23B798-9E84-4552-BA63-E776E805C424}" dt="2026-09-17T06:56:04.459" v="63" actId="20577"/>
        <pc:sldMkLst>
          <pc:docMk/>
          <pc:sldMk cId="1163776716" sldId="270"/>
        </pc:sldMkLst>
        <pc:picChg chg="del">
          <ac:chgData name="Lai, Wilson" userId="2840974a-0d84-4886-90a9-9a3ed79f3a48" providerId="ADAL" clId="{9F23B798-9E84-4552-BA63-E776E805C424}" dt="2026-09-17T05:04:48.802" v="26" actId="21"/>
          <ac:picMkLst>
            <pc:docMk/>
            <pc:sldMk cId="1163776716" sldId="270"/>
            <ac:picMk id="3" creationId="{55E3D230-2DBB-32DA-7E11-4F782565BF68}"/>
          </ac:picMkLst>
        </pc:picChg>
        <pc:picChg chg="add">
          <ac:chgData name="Lai, Wilson" userId="2840974a-0d84-4886-90a9-9a3ed79f3a48" providerId="ADAL" clId="{9F23B798-9E84-4552-BA63-E776E805C424}" dt="2026-09-17T05:05:02.955" v="27" actId="22"/>
          <ac:picMkLst>
            <pc:docMk/>
            <pc:sldMk cId="1163776716" sldId="270"/>
            <ac:picMk id="4" creationId="{CC2268BF-FEFD-BC86-3FEE-189E1289DDC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AA8FD-CE48-4234-B9FA-D6AD9FCD789E}"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DB901-B94D-4E4D-9FF1-DDF39878C8AA}" type="slidenum">
              <a:rPr lang="en-US" smtClean="0"/>
              <a:t>‹#›</a:t>
            </a:fld>
            <a:endParaRPr lang="en-US"/>
          </a:p>
        </p:txBody>
      </p:sp>
    </p:spTree>
    <p:extLst>
      <p:ext uri="{BB962C8B-B14F-4D97-AF65-F5344CB8AC3E}">
        <p14:creationId xmlns:p14="http://schemas.microsoft.com/office/powerpoint/2010/main" val="407054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 Hook:</a:t>
            </a:r>
            <a:r>
              <a:rPr lang="en-US" dirty="0"/>
              <a:t> Welcome, everyone. Over the past few months, if you’ve been following AI trends on Twitter or tech forums, you’ve likely noticed a specific job title popping up everywhere: </a:t>
            </a:r>
            <a:r>
              <a:rPr lang="en-US" i="1" dirty="0"/>
              <a:t>Forward Deployed Engineer</a:t>
            </a:r>
            <a:r>
              <a:rPr lang="en-US" dirty="0"/>
              <a:t>, or FDE. What sounds like a niche term is rapidly becoming the single most lucrative and high-impact role in the modern AI ecosystem.</a:t>
            </a:r>
          </a:p>
          <a:p>
            <a:pPr lvl="0"/>
            <a:r>
              <a:rPr lang="en-US" b="1" dirty="0"/>
              <a:t>The Premise:</a:t>
            </a:r>
            <a:r>
              <a:rPr lang="en-US" dirty="0"/>
              <a:t> We are witnessing compensation packages for elite Forward Deployed Engineers ranging anywhere from $150,000 base up to $1 million per year. Why? Because as AI models mature, companies are realizing that having access to raw intelligence is no longer enough to win.</a:t>
            </a:r>
          </a:p>
          <a:p>
            <a:pPr lvl="0"/>
            <a:r>
              <a:rPr lang="en-US" b="1" dirty="0"/>
              <a:t>Presentation Goals:</a:t>
            </a:r>
            <a:r>
              <a:rPr lang="en-US" dirty="0"/>
              <a:t> Today, we are walking through the complete operational blueprint for what an FDE actually is, why top enterprises are paying top dollar for them, and how you can go from zero to mastering FDE execution within a structured 30-day framework.</a:t>
            </a:r>
          </a:p>
          <a:p>
            <a:endParaRPr lang="en-US" dirty="0"/>
          </a:p>
          <a:p>
            <a:endParaRPr lang="en-US" dirty="0"/>
          </a:p>
          <a:p>
            <a:endParaRPr lang="en-US" dirty="0"/>
          </a:p>
          <a:p>
            <a:r>
              <a:rPr lang="en-US" dirty="0"/>
              <a:t>https://www.youtube.com/watch?v=zXysLUTLjw4</a:t>
            </a:r>
          </a:p>
        </p:txBody>
      </p:sp>
      <p:sp>
        <p:nvSpPr>
          <p:cNvPr id="4" name="Slide Number Placeholder 3"/>
          <p:cNvSpPr>
            <a:spLocks noGrp="1"/>
          </p:cNvSpPr>
          <p:nvPr>
            <p:ph type="sldNum" sz="quarter" idx="5"/>
          </p:nvPr>
        </p:nvSpPr>
        <p:spPr/>
        <p:txBody>
          <a:bodyPr/>
          <a:lstStyle/>
          <a:p>
            <a:fld id="{2A6DB901-B94D-4E4D-9FF1-DDF39878C8AA}" type="slidenum">
              <a:rPr lang="en-US" smtClean="0"/>
              <a:t>1</a:t>
            </a:fld>
            <a:endParaRPr lang="en-US"/>
          </a:p>
        </p:txBody>
      </p:sp>
    </p:spTree>
    <p:extLst>
      <p:ext uri="{BB962C8B-B14F-4D97-AF65-F5344CB8AC3E}">
        <p14:creationId xmlns:p14="http://schemas.microsoft.com/office/powerpoint/2010/main" val="1343071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Core Shift:</a:t>
            </a:r>
            <a:r>
              <a:rPr lang="en-US" sz="1200" kern="1200" dirty="0">
                <a:solidFill>
                  <a:schemeClr val="tx1"/>
                </a:solidFill>
                <a:effectLst/>
                <a:latin typeface="+mn-lt"/>
                <a:ea typeface="+mn-ea"/>
                <a:cs typeface="+mn-cs"/>
              </a:rPr>
              <a:t> Let's look at the graph on this slide. A year or two ago, having access to a frontier LLM was considered a significant technical edge. Today, intelligence has become a standardized commodity. </a:t>
            </a:r>
          </a:p>
          <a:p>
            <a:pPr lvl="0"/>
            <a:r>
              <a:rPr lang="en-US" sz="1200" b="1" kern="1200" dirty="0">
                <a:solidFill>
                  <a:schemeClr val="tx1"/>
                </a:solidFill>
                <a:effectLst/>
                <a:latin typeface="+mn-lt"/>
                <a:ea typeface="+mn-ea"/>
                <a:cs typeface="+mn-cs"/>
              </a:rPr>
              <a:t>Leveling the Playing Field:</a:t>
            </a:r>
            <a:r>
              <a:rPr lang="en-US" sz="1200" kern="1200" dirty="0">
                <a:solidFill>
                  <a:schemeClr val="tx1"/>
                </a:solidFill>
                <a:effectLst/>
                <a:latin typeface="+mn-lt"/>
                <a:ea typeface="+mn-ea"/>
                <a:cs typeface="+mn-cs"/>
              </a:rPr>
              <a:t> Whether you are a startup or a Fortune 500 firm, everyone can buy intelligence off the shelf. Enterprise engineering teams are using identical tooling—Cursor, GitHub Copilot, OpenAI, Anthropic, and Google Cloud infrastructure. When every player uses the same underlying intelligence stack, </a:t>
            </a:r>
            <a:r>
              <a:rPr lang="en-US" sz="1200" i="1" kern="1200" dirty="0">
                <a:solidFill>
                  <a:schemeClr val="tx1"/>
                </a:solidFill>
                <a:effectLst/>
                <a:latin typeface="+mn-lt"/>
                <a:ea typeface="+mn-ea"/>
                <a:cs typeface="+mn-cs"/>
              </a:rPr>
              <a:t>raw intelligence ceases to be your moat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Where the Moat Moves:</a:t>
            </a:r>
            <a:r>
              <a:rPr lang="en-US" sz="1200" kern="1200" dirty="0">
                <a:solidFill>
                  <a:schemeClr val="tx1"/>
                </a:solidFill>
                <a:effectLst/>
                <a:latin typeface="+mn-lt"/>
                <a:ea typeface="+mn-ea"/>
                <a:cs typeface="+mn-cs"/>
              </a:rPr>
              <a:t> Look at the blue curve on the diagram labeled </a:t>
            </a:r>
            <a:r>
              <a:rPr lang="en-US" sz="1200" i="1" kern="1200" dirty="0">
                <a:solidFill>
                  <a:schemeClr val="tx1"/>
                </a:solidFill>
                <a:effectLst/>
                <a:latin typeface="+mn-lt"/>
                <a:ea typeface="+mn-ea"/>
                <a:cs typeface="+mn-cs"/>
              </a:rPr>
              <a:t>Deployment Efficacy (The FDE Advantage)</a:t>
            </a:r>
            <a:r>
              <a:rPr lang="en-US" sz="1200" kern="1200" dirty="0">
                <a:solidFill>
                  <a:schemeClr val="tx1"/>
                </a:solidFill>
                <a:effectLst/>
                <a:latin typeface="+mn-lt"/>
                <a:ea typeface="+mn-ea"/>
                <a:cs typeface="+mn-cs"/>
              </a:rPr>
              <a:t>. As model performance plateaus across providers, competitive advantage shifts entirely to </a:t>
            </a:r>
            <a:r>
              <a:rPr lang="en-US" sz="1200" b="1" kern="1200" dirty="0">
                <a:solidFill>
                  <a:schemeClr val="tx1"/>
                </a:solidFill>
                <a:effectLst/>
                <a:latin typeface="+mn-lt"/>
                <a:ea typeface="+mn-ea"/>
                <a:cs typeface="+mn-cs"/>
              </a:rPr>
              <a:t>Deployment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where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that intelligence is integrated into specific company contexts. The real winner isn't who has the biggest model, but who builds the best bridge between general intelligence and custom business operations.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2</a:t>
            </a:fld>
            <a:endParaRPr lang="en-US"/>
          </a:p>
        </p:txBody>
      </p:sp>
    </p:spTree>
    <p:extLst>
      <p:ext uri="{BB962C8B-B14F-4D97-AF65-F5344CB8AC3E}">
        <p14:creationId xmlns:p14="http://schemas.microsoft.com/office/powerpoint/2010/main" val="335022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"Token Maxing" Mistake:</a:t>
            </a:r>
            <a:r>
              <a:rPr lang="en-US" sz="1200" kern="1200" dirty="0">
                <a:solidFill>
                  <a:schemeClr val="tx1"/>
                </a:solidFill>
                <a:effectLst/>
                <a:latin typeface="+mn-lt"/>
                <a:ea typeface="+mn-ea"/>
                <a:cs typeface="+mn-cs"/>
              </a:rPr>
              <a:t> When Generative AI first erupted, enterprise strategy defaulted to "Token Maxing"—slapping LLM API calls onto every existing business process without architectural thought. </a:t>
            </a:r>
          </a:p>
          <a:p>
            <a:pPr lvl="0"/>
            <a:r>
              <a:rPr lang="en-US" sz="1200" b="1" kern="1200" dirty="0">
                <a:solidFill>
                  <a:schemeClr val="tx1"/>
                </a:solidFill>
                <a:effectLst/>
                <a:latin typeface="+mn-lt"/>
                <a:ea typeface="+mn-ea"/>
                <a:cs typeface="+mn-cs"/>
              </a:rPr>
              <a:t>Real-World Failures:</a:t>
            </a:r>
            <a:r>
              <a:rPr lang="en-US" sz="1200" kern="1200" dirty="0">
                <a:solidFill>
                  <a:schemeClr val="tx1"/>
                </a:solidFill>
                <a:effectLst/>
                <a:latin typeface="+mn-lt"/>
                <a:ea typeface="+mn-ea"/>
                <a:cs typeface="+mn-cs"/>
              </a:rPr>
              <a:t> Executives threw massive budgets at raw tokens, expecting the LLM to figure out messy enterprise operations on its own. The result? Widespread hallucinations, skyrocketing API bills, and catastrophic failure rates. An MIT study recently highlighted that </a:t>
            </a:r>
            <a:r>
              <a:rPr lang="en-US" sz="1200" b="1" kern="1200" dirty="0">
                <a:solidFill>
                  <a:schemeClr val="tx1"/>
                </a:solidFill>
                <a:effectLst/>
                <a:latin typeface="+mn-lt"/>
                <a:ea typeface="+mn-ea"/>
                <a:cs typeface="+mn-cs"/>
              </a:rPr>
              <a:t>95% of Generative AI pilots fail to reach production</a:t>
            </a:r>
            <a:r>
              <a:rPr lang="en-US" sz="1200" kern="1200" dirty="0">
                <a:solidFill>
                  <a:schemeClr val="tx1"/>
                </a:solidFill>
                <a:effectLst/>
                <a:latin typeface="+mn-lt"/>
                <a:ea typeface="+mn-ea"/>
                <a:cs typeface="+mn-cs"/>
              </a:rPr>
              <a:t>. There are real cases of C-suite leaders burning through $10M cloud budgets in 3 months with zero measurable ROI. </a:t>
            </a:r>
          </a:p>
          <a:p>
            <a:pPr lvl="0"/>
            <a:r>
              <a:rPr lang="en-US" sz="1200" b="1" kern="1200" dirty="0">
                <a:solidFill>
                  <a:schemeClr val="tx1"/>
                </a:solidFill>
                <a:effectLst/>
                <a:latin typeface="+mn-lt"/>
                <a:ea typeface="+mn-ea"/>
                <a:cs typeface="+mn-cs"/>
              </a:rPr>
              <a:t>The FDE Architecture Solution:</a:t>
            </a:r>
            <a:r>
              <a:rPr lang="en-US" sz="1200" kern="1200" dirty="0">
                <a:solidFill>
                  <a:schemeClr val="tx1"/>
                </a:solidFill>
                <a:effectLst/>
                <a:latin typeface="+mn-lt"/>
                <a:ea typeface="+mn-ea"/>
                <a:cs typeface="+mn-cs"/>
              </a:rPr>
              <a:t> Look at the right-hand diagram. Real production utility requires </a:t>
            </a:r>
            <a:r>
              <a:rPr lang="en-US" sz="1200" b="1" kern="1200" dirty="0">
                <a:solidFill>
                  <a:schemeClr val="tx1"/>
                </a:solidFill>
                <a:effectLst/>
                <a:latin typeface="+mn-lt"/>
                <a:ea typeface="+mn-ea"/>
                <a:cs typeface="+mn-cs"/>
              </a:rPr>
              <a:t>FDE Architecture</a:t>
            </a:r>
            <a:r>
              <a:rPr lang="en-US" sz="1200" kern="1200" dirty="0">
                <a:solidFill>
                  <a:schemeClr val="tx1"/>
                </a:solidFill>
                <a:effectLst/>
                <a:latin typeface="+mn-lt"/>
                <a:ea typeface="+mn-ea"/>
                <a:cs typeface="+mn-cs"/>
              </a:rPr>
              <a:t>. Instead of dumping raw data into an LLM and hoping for the best, an FDE builds a deterministic pipeline around the LLM: wrapping it with business logic routing, automated evaluation guardrails, and enforcing structured JSON outputs.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3</a:t>
            </a:fld>
            <a:endParaRPr lang="en-US"/>
          </a:p>
        </p:txBody>
      </p:sp>
    </p:spTree>
    <p:extLst>
      <p:ext uri="{BB962C8B-B14F-4D97-AF65-F5344CB8AC3E}">
        <p14:creationId xmlns:p14="http://schemas.microsoft.com/office/powerpoint/2010/main" val="708973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Origin Story:</a:t>
            </a:r>
            <a:r>
              <a:rPr lang="en-US" sz="1200" kern="1200" dirty="0">
                <a:solidFill>
                  <a:schemeClr val="tx1"/>
                </a:solidFill>
                <a:effectLst/>
                <a:latin typeface="+mn-lt"/>
                <a:ea typeface="+mn-ea"/>
                <a:cs typeface="+mn-cs"/>
              </a:rPr>
              <a:t> The term </a:t>
            </a:r>
            <a:r>
              <a:rPr lang="en-US" sz="1200" i="1" kern="1200" dirty="0">
                <a:solidFill>
                  <a:schemeClr val="tx1"/>
                </a:solidFill>
                <a:effectLst/>
                <a:latin typeface="+mn-lt"/>
                <a:ea typeface="+mn-ea"/>
                <a:cs typeface="+mn-cs"/>
              </a:rPr>
              <a:t>Forward Deployed Engineer</a:t>
            </a:r>
            <a:r>
              <a:rPr lang="en-US" sz="1200" kern="1200" dirty="0">
                <a:solidFill>
                  <a:schemeClr val="tx1"/>
                </a:solidFill>
                <a:effectLst/>
                <a:latin typeface="+mn-lt"/>
                <a:ea typeface="+mn-ea"/>
                <a:cs typeface="+mn-cs"/>
              </a:rPr>
              <a:t> was originally pioneered and popularized by Palantir. Palantir sent technical teams on-site to government agencies and large corporations to embed deeply, understand complex datasets, and customize their software platform directly where the work happened. </a:t>
            </a:r>
          </a:p>
          <a:p>
            <a:pPr lvl="0"/>
            <a:r>
              <a:rPr lang="en-US" sz="1200" b="1" kern="1200" dirty="0">
                <a:solidFill>
                  <a:schemeClr val="tx1"/>
                </a:solidFill>
                <a:effectLst/>
                <a:latin typeface="+mn-lt"/>
                <a:ea typeface="+mn-ea"/>
                <a:cs typeface="+mn-cs"/>
              </a:rPr>
              <a:t>Scaling 100x in the AI Era:</a:t>
            </a:r>
            <a:r>
              <a:rPr lang="en-US" sz="1200" kern="1200" dirty="0">
                <a:solidFill>
                  <a:schemeClr val="tx1"/>
                </a:solidFill>
                <a:effectLst/>
                <a:latin typeface="+mn-lt"/>
                <a:ea typeface="+mn-ea"/>
                <a:cs typeface="+mn-cs"/>
              </a:rPr>
              <a:t> While Palantir solved the data unification problem, the AI age requires this exact same playbook at 100x scale. Every company now needs custom AI agents tailored to their unique environments. </a:t>
            </a:r>
          </a:p>
          <a:p>
            <a:pPr lvl="0"/>
            <a:r>
              <a:rPr lang="en-US" sz="1200" b="1" kern="1200" dirty="0">
                <a:solidFill>
                  <a:schemeClr val="tx1"/>
                </a:solidFill>
                <a:effectLst/>
                <a:latin typeface="+mn-lt"/>
                <a:ea typeface="+mn-ea"/>
                <a:cs typeface="+mn-cs"/>
              </a:rPr>
              <a:t>Bridging the Venn Diagram:</a:t>
            </a:r>
            <a:r>
              <a:rPr lang="en-US" sz="1200" kern="1200" dirty="0">
                <a:solidFill>
                  <a:schemeClr val="tx1"/>
                </a:solidFill>
                <a:effectLst/>
                <a:latin typeface="+mn-lt"/>
                <a:ea typeface="+mn-ea"/>
                <a:cs typeface="+mn-cs"/>
              </a:rPr>
              <a:t> As shown in the Venn diagram, an FDE stands at the exact intersection of </a:t>
            </a:r>
            <a:r>
              <a:rPr lang="en-US" sz="1200" b="1" kern="1200" dirty="0">
                <a:solidFill>
                  <a:schemeClr val="tx1"/>
                </a:solidFill>
                <a:effectLst/>
                <a:latin typeface="+mn-lt"/>
                <a:ea typeface="+mn-ea"/>
                <a:cs typeface="+mn-cs"/>
              </a:rPr>
              <a:t>Business Reality</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Software Engineering</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i="1" kern="1200" dirty="0">
                <a:solidFill>
                  <a:schemeClr val="tx1"/>
                </a:solidFill>
                <a:effectLst/>
                <a:latin typeface="+mn-lt"/>
                <a:ea typeface="+mn-ea"/>
                <a:cs typeface="+mn-cs"/>
              </a:rPr>
              <a:t>Business Reality:</a:t>
            </a:r>
            <a:r>
              <a:rPr lang="en-US" sz="1200" kern="1200" dirty="0">
                <a:solidFill>
                  <a:schemeClr val="tx1"/>
                </a:solidFill>
                <a:effectLst/>
                <a:latin typeface="+mn-lt"/>
                <a:ea typeface="+mn-ea"/>
                <a:cs typeface="+mn-cs"/>
              </a:rPr>
              <a:t> Uncovering undocumented workflows, understanding cost structures, navigating corporate politics, and identifying actual risk tolerances. </a:t>
            </a:r>
          </a:p>
          <a:p>
            <a:pPr marL="228600" lvl="0" indent="-228600">
              <a:buFont typeface="+mj-lt"/>
              <a:buAutoNum type="arabicPeriod"/>
            </a:pPr>
            <a:r>
              <a:rPr lang="en-US" sz="1200" i="1" kern="1200" dirty="0">
                <a:solidFill>
                  <a:schemeClr val="tx1"/>
                </a:solidFill>
                <a:effectLst/>
                <a:latin typeface="+mn-lt"/>
                <a:ea typeface="+mn-ea"/>
                <a:cs typeface="+mn-cs"/>
              </a:rPr>
              <a:t>Software Engineering:</a:t>
            </a:r>
            <a:r>
              <a:rPr lang="en-US" sz="1200" kern="1200" dirty="0">
                <a:solidFill>
                  <a:schemeClr val="tx1"/>
                </a:solidFill>
                <a:effectLst/>
                <a:latin typeface="+mn-lt"/>
                <a:ea typeface="+mn-ea"/>
                <a:cs typeface="+mn-cs"/>
              </a:rPr>
              <a:t> Systems architecture, API integration, code reliability, evaluation guardrails, and deterministic fallback mechanics.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4</a:t>
            </a:fld>
            <a:endParaRPr lang="en-US"/>
          </a:p>
        </p:txBody>
      </p:sp>
    </p:spTree>
    <p:extLst>
      <p:ext uri="{BB962C8B-B14F-4D97-AF65-F5344CB8AC3E}">
        <p14:creationId xmlns:p14="http://schemas.microsoft.com/office/powerpoint/2010/main" val="2908139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Why the Role is So Rare:</a:t>
            </a:r>
            <a:r>
              <a:rPr lang="en-US" sz="1200" kern="1200" dirty="0">
                <a:solidFill>
                  <a:schemeClr val="tx1"/>
                </a:solidFill>
                <a:effectLst/>
                <a:latin typeface="+mn-lt"/>
                <a:ea typeface="+mn-ea"/>
                <a:cs typeface="+mn-cs"/>
              </a:rPr>
              <a:t> Why do companies pay up to $1M for an FDE? Because traditional roles fall into distinct, isolated domain traps. </a:t>
            </a:r>
          </a:p>
          <a:p>
            <a:pPr lvl="0"/>
            <a:r>
              <a:rPr lang="en-US" sz="1200" b="1" kern="1200" dirty="0">
                <a:solidFill>
                  <a:schemeClr val="tx1"/>
                </a:solidFill>
                <a:effectLst/>
                <a:latin typeface="+mn-lt"/>
                <a:ea typeface="+mn-ea"/>
                <a:cs typeface="+mn-cs"/>
              </a:rPr>
              <a:t>Comparing the Profiles: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Traditional Software Engineers</a:t>
            </a:r>
            <a:r>
              <a:rPr lang="en-US" sz="1200" kern="1200" dirty="0">
                <a:solidFill>
                  <a:schemeClr val="tx1"/>
                </a:solidFill>
                <a:effectLst/>
                <a:latin typeface="+mn-lt"/>
                <a:ea typeface="+mn-ea"/>
                <a:cs typeface="+mn-cs"/>
              </a:rPr>
              <a:t> excel at code reliability and building infrastructure, but they often lack business context and ignore non-technical workflow nuances.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Management Consultants</a:t>
            </a:r>
            <a:r>
              <a:rPr lang="en-US" sz="1200" kern="1200" dirty="0">
                <a:solidFill>
                  <a:schemeClr val="tx1"/>
                </a:solidFill>
                <a:effectLst/>
                <a:latin typeface="+mn-lt"/>
                <a:ea typeface="+mn-ea"/>
                <a:cs typeface="+mn-cs"/>
              </a:rPr>
              <a:t> excel at navigating corporate politics and mapping high-level business goals, but their output stops at slide decks and process diagrams—they cannot write production code. </a:t>
            </a:r>
          </a:p>
          <a:p>
            <a:pPr lvl="0"/>
            <a:r>
              <a:rPr lang="en-US" sz="1200" b="1" kern="1200" dirty="0">
                <a:solidFill>
                  <a:schemeClr val="tx1"/>
                </a:solidFill>
                <a:effectLst/>
                <a:latin typeface="+mn-lt"/>
                <a:ea typeface="+mn-ea"/>
                <a:cs typeface="+mn-cs"/>
              </a:rPr>
              <a:t>The FDE Superpower:</a:t>
            </a:r>
            <a:r>
              <a:rPr lang="en-US" sz="1200" kern="1200" dirty="0">
                <a:solidFill>
                  <a:schemeClr val="tx1"/>
                </a:solidFill>
                <a:effectLst/>
                <a:latin typeface="+mn-lt"/>
                <a:ea typeface="+mn-ea"/>
                <a:cs typeface="+mn-cs"/>
              </a:rPr>
              <a:t> The FDE merges the analytical power of a consultant with the execution power of a senior systems engineer. They sit down with business stakeholders, extract undocumented operational truths, and immediately convert that reality into functional, production-ready AI software agents.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5</a:t>
            </a:fld>
            <a:endParaRPr lang="en-US"/>
          </a:p>
        </p:txBody>
      </p:sp>
    </p:spTree>
    <p:extLst>
      <p:ext uri="{BB962C8B-B14F-4D97-AF65-F5344CB8AC3E}">
        <p14:creationId xmlns:p14="http://schemas.microsoft.com/office/powerpoint/2010/main" val="558910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Systematic Framework:</a:t>
            </a:r>
            <a:r>
              <a:rPr lang="en-US" sz="1200" kern="1200" dirty="0">
                <a:solidFill>
                  <a:schemeClr val="tx1"/>
                </a:solidFill>
                <a:effectLst/>
                <a:latin typeface="+mn-lt"/>
                <a:ea typeface="+mn-ea"/>
                <a:cs typeface="+mn-cs"/>
              </a:rPr>
              <a:t> Successful deployment isn't random trial-and-error; it follows a strict 3-phase Operating System where each phase is an absolute prerequisite for the next. </a:t>
            </a:r>
          </a:p>
          <a:p>
            <a:pPr lvl="0"/>
            <a:r>
              <a:rPr lang="en-US" sz="1200" b="1" kern="1200" dirty="0">
                <a:solidFill>
                  <a:schemeClr val="tx1"/>
                </a:solidFill>
                <a:effectLst/>
                <a:latin typeface="+mn-lt"/>
                <a:ea typeface="+mn-ea"/>
                <a:cs typeface="+mn-cs"/>
              </a:rPr>
              <a:t>Phase 1: AUDIT:</a:t>
            </a:r>
            <a:r>
              <a:rPr lang="en-US" sz="1200" kern="1200" dirty="0">
                <a:solidFill>
                  <a:schemeClr val="tx1"/>
                </a:solidFill>
                <a:effectLst/>
                <a:latin typeface="+mn-lt"/>
                <a:ea typeface="+mn-ea"/>
                <a:cs typeface="+mn-cs"/>
              </a:rPr>
              <a:t> Before writing code, you must observe how work actually gets done on the ground. You extract undocumented realities and map out edge cases. </a:t>
            </a:r>
          </a:p>
          <a:p>
            <a:pPr lvl="0"/>
            <a:r>
              <a:rPr lang="en-US" sz="1200" b="1" kern="1200" dirty="0">
                <a:solidFill>
                  <a:schemeClr val="tx1"/>
                </a:solidFill>
                <a:effectLst/>
                <a:latin typeface="+mn-lt"/>
                <a:ea typeface="+mn-ea"/>
                <a:cs typeface="+mn-cs"/>
              </a:rPr>
              <a:t>Phase 2: EVAL:</a:t>
            </a:r>
            <a:r>
              <a:rPr lang="en-US" sz="1200" kern="1200" dirty="0">
                <a:solidFill>
                  <a:schemeClr val="tx1"/>
                </a:solidFill>
                <a:effectLst/>
                <a:latin typeface="+mn-lt"/>
                <a:ea typeface="+mn-ea"/>
                <a:cs typeface="+mn-cs"/>
              </a:rPr>
              <a:t> Apply technical judgment to design evaluative criteria. Prove the system behaves safely and consistently before giving it autonomy. </a:t>
            </a:r>
          </a:p>
          <a:p>
            <a:pPr lvl="0"/>
            <a:r>
              <a:rPr lang="en-US" sz="1200" b="1" kern="1200" dirty="0">
                <a:solidFill>
                  <a:schemeClr val="tx1"/>
                </a:solidFill>
                <a:effectLst/>
                <a:latin typeface="+mn-lt"/>
                <a:ea typeface="+mn-ea"/>
                <a:cs typeface="+mn-cs"/>
              </a:rPr>
              <a:t>Phase 3: DEPLOY:</a:t>
            </a:r>
            <a:r>
              <a:rPr lang="en-US" sz="1200" kern="1200" dirty="0">
                <a:solidFill>
                  <a:schemeClr val="tx1"/>
                </a:solidFill>
                <a:effectLst/>
                <a:latin typeface="+mn-lt"/>
                <a:ea typeface="+mn-ea"/>
                <a:cs typeface="+mn-cs"/>
              </a:rPr>
              <a:t> Seamlessly integrate the AI agent into legacy tech stacks without forcing disruptive software overhauls. </a:t>
            </a:r>
          </a:p>
          <a:p>
            <a:pPr lvl="0"/>
            <a:r>
              <a:rPr lang="en-US" sz="1200" b="1" kern="1200" dirty="0">
                <a:solidFill>
                  <a:schemeClr val="tx1"/>
                </a:solidFill>
                <a:effectLst/>
                <a:latin typeface="+mn-lt"/>
                <a:ea typeface="+mn-ea"/>
                <a:cs typeface="+mn-cs"/>
              </a:rPr>
              <a:t>Continuous Optimization:</a:t>
            </a:r>
            <a:r>
              <a:rPr lang="en-US" sz="1200" kern="1200" dirty="0">
                <a:solidFill>
                  <a:schemeClr val="tx1"/>
                </a:solidFill>
                <a:effectLst/>
                <a:latin typeface="+mn-lt"/>
                <a:ea typeface="+mn-ea"/>
                <a:cs typeface="+mn-cs"/>
              </a:rPr>
              <a:t> The core execution loop runs as long as ROI remains positive (while (ROI &gt; 0) { </a:t>
            </a:r>
            <a:r>
              <a:rPr lang="en-US" sz="1200" kern="1200" dirty="0" err="1">
                <a:solidFill>
                  <a:schemeClr val="tx1"/>
                </a:solidFill>
                <a:effectLst/>
                <a:latin typeface="+mn-lt"/>
                <a:ea typeface="+mn-ea"/>
                <a:cs typeface="+mn-cs"/>
              </a:rPr>
              <a:t>optimize_workflow</a:t>
            </a:r>
            <a:r>
              <a:rPr lang="en-US" sz="1200" kern="1200" dirty="0">
                <a:solidFill>
                  <a:schemeClr val="tx1"/>
                </a:solidFill>
                <a:effectLst/>
                <a:latin typeface="+mn-lt"/>
                <a:ea typeface="+mn-ea"/>
                <a:cs typeface="+mn-cs"/>
              </a:rPr>
              <a:t>(); }).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6</a:t>
            </a:fld>
            <a:endParaRPr lang="en-US"/>
          </a:p>
        </p:txBody>
      </p:sp>
    </p:spTree>
    <p:extLst>
      <p:ext uri="{BB962C8B-B14F-4D97-AF65-F5344CB8AC3E}">
        <p14:creationId xmlns:p14="http://schemas.microsoft.com/office/powerpoint/2010/main" val="1898323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Documented SOP vs. Real SOP:</a:t>
            </a:r>
            <a:r>
              <a:rPr lang="en-US" sz="1200" kern="1200" dirty="0">
                <a:solidFill>
                  <a:schemeClr val="tx1"/>
                </a:solidFill>
                <a:effectLst/>
                <a:latin typeface="+mn-lt"/>
                <a:ea typeface="+mn-ea"/>
                <a:cs typeface="+mn-cs"/>
              </a:rPr>
              <a:t> The biggest mistake junior engineers make is building AI based on official Standard Operating Procedures (SOPs). Official SOPs represent the "happy path"—e.g., "Email arrives -&gt; Log in CRM -&gt; Task done". </a:t>
            </a:r>
          </a:p>
          <a:p>
            <a:pPr lvl="0"/>
            <a:r>
              <a:rPr lang="en-US" sz="1200" b="1" kern="1200" dirty="0">
                <a:solidFill>
                  <a:schemeClr val="tx1"/>
                </a:solidFill>
                <a:effectLst/>
                <a:latin typeface="+mn-lt"/>
                <a:ea typeface="+mn-ea"/>
                <a:cs typeface="+mn-cs"/>
              </a:rPr>
              <a:t>The 1,500 Unhappy Paths:</a:t>
            </a:r>
            <a:r>
              <a:rPr lang="en-US" sz="1200" kern="1200" dirty="0">
                <a:solidFill>
                  <a:schemeClr val="tx1"/>
                </a:solidFill>
                <a:effectLst/>
                <a:latin typeface="+mn-lt"/>
                <a:ea typeface="+mn-ea"/>
                <a:cs typeface="+mn-cs"/>
              </a:rPr>
              <a:t> In real business environments, tasks break in thousands of ways. Look at the </a:t>
            </a:r>
            <a:r>
              <a:rPr lang="en-US" sz="1200" i="1" kern="1200" dirty="0">
                <a:solidFill>
                  <a:schemeClr val="tx1"/>
                </a:solidFill>
                <a:effectLst/>
                <a:latin typeface="+mn-lt"/>
                <a:ea typeface="+mn-ea"/>
                <a:cs typeface="+mn-cs"/>
              </a:rPr>
              <a:t>FDE Audit Map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Emails arrive from 40 different senders with inconsistent formatting.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PDF attachments are missing or text is buried in messy email threads.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Exception rules exist only in one key employee's head (e.g., "Sarah's unwritten VIP rule"). </a:t>
            </a:r>
          </a:p>
          <a:p>
            <a:pPr lvl="0"/>
            <a:r>
              <a:rPr lang="en-US" sz="1200" b="1" kern="1200" dirty="0">
                <a:solidFill>
                  <a:schemeClr val="tx1"/>
                </a:solidFill>
                <a:effectLst/>
                <a:latin typeface="+mn-lt"/>
                <a:ea typeface="+mn-ea"/>
                <a:cs typeface="+mn-cs"/>
              </a:rPr>
              <a:t>FDE Action:</a:t>
            </a:r>
            <a:r>
              <a:rPr lang="en-US" sz="1200" kern="1200" dirty="0">
                <a:solidFill>
                  <a:schemeClr val="tx1"/>
                </a:solidFill>
                <a:effectLst/>
                <a:latin typeface="+mn-lt"/>
                <a:ea typeface="+mn-ea"/>
                <a:cs typeface="+mn-cs"/>
              </a:rPr>
              <a:t> An FDE spends hours sitting side-by-side with operators to capture these hidden exceptions. If you build for the happy path, your deployment breaks on Day 1.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7</a:t>
            </a:fld>
            <a:endParaRPr lang="en-US"/>
          </a:p>
        </p:txBody>
      </p:sp>
    </p:spTree>
    <p:extLst>
      <p:ext uri="{BB962C8B-B14F-4D97-AF65-F5344CB8AC3E}">
        <p14:creationId xmlns:p14="http://schemas.microsoft.com/office/powerpoint/2010/main" val="115713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Knowing Where NOT to Use AI:</a:t>
            </a:r>
            <a:r>
              <a:rPr lang="en-US" sz="1200" kern="1200" dirty="0">
                <a:solidFill>
                  <a:schemeClr val="tx1"/>
                </a:solidFill>
                <a:effectLst/>
                <a:latin typeface="+mn-lt"/>
                <a:ea typeface="+mn-ea"/>
                <a:cs typeface="+mn-cs"/>
              </a:rPr>
              <a:t> Elite FDEs know that throwing LLMs at every sub-task is inefficient and dangerous. A production architecture must balance three distinct layers: </a:t>
            </a:r>
          </a:p>
          <a:p>
            <a:pPr marL="228600" lvl="0" indent="-228600">
              <a:buFont typeface="+mj-lt"/>
              <a:buAutoNum type="arabicPeriod"/>
            </a:pPr>
            <a:r>
              <a:rPr lang="en-US" sz="1200" i="1" kern="1200" dirty="0">
                <a:solidFill>
                  <a:schemeClr val="tx1"/>
                </a:solidFill>
                <a:effectLst/>
                <a:latin typeface="+mn-lt"/>
                <a:ea typeface="+mn-ea"/>
                <a:cs typeface="+mn-cs"/>
              </a:rPr>
              <a:t>Deterministic Software:</a:t>
            </a:r>
            <a:r>
              <a:rPr lang="en-US" sz="1200" kern="1200" dirty="0">
                <a:solidFill>
                  <a:schemeClr val="tx1"/>
                </a:solidFill>
                <a:effectLst/>
                <a:latin typeface="+mn-lt"/>
                <a:ea typeface="+mn-ea"/>
                <a:cs typeface="+mn-cs"/>
              </a:rPr>
              <a:t> Use traditional code (If/Then rules, rigid APIs) for predictable tasks like email routing by domain. </a:t>
            </a:r>
          </a:p>
          <a:p>
            <a:pPr marL="228600" lvl="0" indent="-228600">
              <a:buFont typeface="+mj-lt"/>
              <a:buAutoNum type="arabicPeriod"/>
            </a:pPr>
            <a:r>
              <a:rPr lang="en-US" sz="1200" i="1" kern="1200" dirty="0">
                <a:solidFill>
                  <a:schemeClr val="tx1"/>
                </a:solidFill>
                <a:effectLst/>
                <a:latin typeface="+mn-lt"/>
                <a:ea typeface="+mn-ea"/>
                <a:cs typeface="+mn-cs"/>
              </a:rPr>
              <a:t>Agentic AI / LLM Judgment:</a:t>
            </a:r>
            <a:r>
              <a:rPr lang="en-US" sz="1200" kern="1200" dirty="0">
                <a:solidFill>
                  <a:schemeClr val="tx1"/>
                </a:solidFill>
                <a:effectLst/>
                <a:latin typeface="+mn-lt"/>
                <a:ea typeface="+mn-ea"/>
                <a:cs typeface="+mn-cs"/>
              </a:rPr>
              <a:t> Reserve non-deterministic LLMs specifically for tasks requiring human-like judgment, such as categorizing unstructured support requests. </a:t>
            </a:r>
          </a:p>
          <a:p>
            <a:pPr marL="228600" lvl="0" indent="-228600">
              <a:buFont typeface="+mj-lt"/>
              <a:buAutoNum type="arabicPeriod"/>
            </a:pPr>
            <a:r>
              <a:rPr lang="en-US" sz="1200" i="1" kern="1200" dirty="0">
                <a:solidFill>
                  <a:schemeClr val="tx1"/>
                </a:solidFill>
                <a:effectLst/>
                <a:latin typeface="+mn-lt"/>
                <a:ea typeface="+mn-ea"/>
                <a:cs typeface="+mn-cs"/>
              </a:rPr>
              <a:t>Human-in-the-Loop (HITL):</a:t>
            </a:r>
            <a:r>
              <a:rPr lang="en-US" sz="1200" kern="1200" dirty="0">
                <a:solidFill>
                  <a:schemeClr val="tx1"/>
                </a:solidFill>
                <a:effectLst/>
                <a:latin typeface="+mn-lt"/>
                <a:ea typeface="+mn-ea"/>
                <a:cs typeface="+mn-cs"/>
              </a:rPr>
              <a:t> Mandate human sign-off for high-risk actions, such as releasing enterprise funds or signing contracts. </a:t>
            </a:r>
          </a:p>
          <a:p>
            <a:pPr lvl="0"/>
            <a:r>
              <a:rPr lang="en-US" sz="1200" b="1" kern="1200" dirty="0">
                <a:solidFill>
                  <a:schemeClr val="tx1"/>
                </a:solidFill>
                <a:effectLst/>
                <a:latin typeface="+mn-lt"/>
                <a:ea typeface="+mn-ea"/>
                <a:cs typeface="+mn-cs"/>
              </a:rPr>
              <a:t>Evaluation Suites:</a:t>
            </a:r>
            <a:r>
              <a:rPr lang="en-US" sz="1200" kern="1200" dirty="0">
                <a:solidFill>
                  <a:schemeClr val="tx1"/>
                </a:solidFill>
                <a:effectLst/>
                <a:latin typeface="+mn-lt"/>
                <a:ea typeface="+mn-ea"/>
                <a:cs typeface="+mn-cs"/>
              </a:rPr>
              <a:t> Evals transform non-deterministic LLM behavior into quantifiable metric evidence, ensuring accuracy benchmarks are hit before rollout.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8</a:t>
            </a:fld>
            <a:endParaRPr lang="en-US"/>
          </a:p>
        </p:txBody>
      </p:sp>
    </p:spTree>
    <p:extLst>
      <p:ext uri="{BB962C8B-B14F-4D97-AF65-F5344CB8AC3E}">
        <p14:creationId xmlns:p14="http://schemas.microsoft.com/office/powerpoint/2010/main" val="3829508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De-Risking Enterprise Adoption:</a:t>
            </a:r>
            <a:r>
              <a:rPr lang="en-US" sz="1200" kern="1200" dirty="0">
                <a:solidFill>
                  <a:schemeClr val="tx1"/>
                </a:solidFill>
                <a:effectLst/>
                <a:latin typeface="+mn-lt"/>
                <a:ea typeface="+mn-ea"/>
                <a:cs typeface="+mn-cs"/>
              </a:rPr>
              <a:t> Enterprise executives are naturally risk-averse. Proposing that a client replace their entire ERP software (like NetSuite or SAP) with a new AI system is an immediate deal-breaker.</a:t>
            </a:r>
          </a:p>
          <a:p>
            <a:pPr lvl="0"/>
            <a:r>
              <a:rPr lang="en-US" sz="1200" b="1" kern="1200" dirty="0">
                <a:solidFill>
                  <a:schemeClr val="tx1"/>
                </a:solidFill>
                <a:effectLst/>
                <a:latin typeface="+mn-lt"/>
                <a:ea typeface="+mn-ea"/>
                <a:cs typeface="+mn-cs"/>
              </a:rPr>
              <a:t>The Routing Layer Strategy:</a:t>
            </a:r>
            <a:r>
              <a:rPr lang="en-US" sz="1200" kern="1200" dirty="0">
                <a:solidFill>
                  <a:schemeClr val="tx1"/>
                </a:solidFill>
                <a:effectLst/>
                <a:latin typeface="+mn-lt"/>
                <a:ea typeface="+mn-ea"/>
                <a:cs typeface="+mn-cs"/>
              </a:rPr>
              <a:t> Instead of forcing migrations, an FDE builds an </a:t>
            </a:r>
            <a:r>
              <a:rPr lang="en-US" sz="1200" b="1" kern="1200" dirty="0">
                <a:solidFill>
                  <a:schemeClr val="tx1"/>
                </a:solidFill>
                <a:effectLst/>
                <a:latin typeface="+mn-lt"/>
                <a:ea typeface="+mn-ea"/>
                <a:cs typeface="+mn-cs"/>
              </a:rPr>
              <a:t>AI Routing Layer</a:t>
            </a:r>
            <a:r>
              <a:rPr lang="en-US" sz="1200" kern="1200" dirty="0">
                <a:solidFill>
                  <a:schemeClr val="tx1"/>
                </a:solidFill>
                <a:effectLst/>
                <a:latin typeface="+mn-lt"/>
                <a:ea typeface="+mn-ea"/>
                <a:cs typeface="+mn-cs"/>
              </a:rPr>
              <a:t> on top of existing legacy infrastructure. </a:t>
            </a:r>
          </a:p>
          <a:p>
            <a:pPr lvl="0"/>
            <a:r>
              <a:rPr lang="en-US" sz="1200" b="1" kern="1200" dirty="0">
                <a:solidFill>
                  <a:schemeClr val="tx1"/>
                </a:solidFill>
                <a:effectLst/>
                <a:latin typeface="+mn-lt"/>
                <a:ea typeface="+mn-ea"/>
                <a:cs typeface="+mn-cs"/>
              </a:rPr>
              <a:t>Unified Interface:</a:t>
            </a:r>
            <a:r>
              <a:rPr lang="en-US" sz="1200" kern="1200" dirty="0">
                <a:solidFill>
                  <a:schemeClr val="tx1"/>
                </a:solidFill>
                <a:effectLst/>
                <a:latin typeface="+mn-lt"/>
                <a:ea typeface="+mn-ea"/>
                <a:cs typeface="+mn-cs"/>
              </a:rPr>
              <a:t> The FDE connects NetSuite, Salesforce, Workday, and internal databases through a unified routing system. The client keeps their core tools, while the FDE's agentic logic makes the overall workflow 10x faster.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9</a:t>
            </a:fld>
            <a:endParaRPr lang="en-US"/>
          </a:p>
        </p:txBody>
      </p:sp>
    </p:spTree>
    <p:extLst>
      <p:ext uri="{BB962C8B-B14F-4D97-AF65-F5344CB8AC3E}">
        <p14:creationId xmlns:p14="http://schemas.microsoft.com/office/powerpoint/2010/main" val="4711140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Learning by Doing:</a:t>
            </a:r>
            <a:r>
              <a:rPr lang="en-US" sz="1200" kern="1200" dirty="0">
                <a:solidFill>
                  <a:schemeClr val="tx1"/>
                </a:solidFill>
                <a:effectLst/>
                <a:latin typeface="+mn-lt"/>
                <a:ea typeface="+mn-ea"/>
                <a:cs typeface="+mn-cs"/>
              </a:rPr>
              <a:t> You cannot become a Forward Deployed Engineer by reading textbooks or watching tutorials—you learn through practical execution. This slide presents a 4-week structured sprint to build FDE competency: </a:t>
            </a:r>
          </a:p>
          <a:p>
            <a:pPr lvl="0"/>
            <a:r>
              <a:rPr lang="en-US" sz="1200" b="1" kern="1200" dirty="0">
                <a:solidFill>
                  <a:schemeClr val="tx1"/>
                </a:solidFill>
                <a:effectLst/>
                <a:latin typeface="+mn-lt"/>
                <a:ea typeface="+mn-ea"/>
                <a:cs typeface="+mn-cs"/>
              </a:rPr>
              <a:t>Week 1 (Agentic Loops):</a:t>
            </a:r>
            <a:r>
              <a:rPr lang="en-US" sz="1200" kern="1200" dirty="0">
                <a:solidFill>
                  <a:schemeClr val="tx1"/>
                </a:solidFill>
                <a:effectLst/>
                <a:latin typeface="+mn-lt"/>
                <a:ea typeface="+mn-ea"/>
                <a:cs typeface="+mn-cs"/>
              </a:rPr>
              <a:t> Master agent tools, context windows, memory structures, and comprehensive audit logs. </a:t>
            </a:r>
          </a:p>
          <a:p>
            <a:pPr lvl="0"/>
            <a:r>
              <a:rPr lang="en-US" sz="1200" b="1" kern="1200" dirty="0">
                <a:solidFill>
                  <a:schemeClr val="tx1"/>
                </a:solidFill>
                <a:effectLst/>
                <a:latin typeface="+mn-lt"/>
                <a:ea typeface="+mn-ea"/>
                <a:cs typeface="+mn-cs"/>
              </a:rPr>
              <a:t>Week 2 (Failure Modes):</a:t>
            </a:r>
            <a:r>
              <a:rPr lang="en-US" sz="1200" kern="1200" dirty="0">
                <a:solidFill>
                  <a:schemeClr val="tx1"/>
                </a:solidFill>
                <a:effectLst/>
                <a:latin typeface="+mn-lt"/>
                <a:ea typeface="+mn-ea"/>
                <a:cs typeface="+mn-cs"/>
              </a:rPr>
              <a:t> Move beyond simple prompts. Engineer rigid JSON schemas, error handling, and automated fallbacks. </a:t>
            </a:r>
          </a:p>
          <a:p>
            <a:pPr lvl="0"/>
            <a:r>
              <a:rPr lang="en-US" sz="1200" b="1" kern="1200" dirty="0">
                <a:solidFill>
                  <a:schemeClr val="tx1"/>
                </a:solidFill>
                <a:effectLst/>
                <a:latin typeface="+mn-lt"/>
                <a:ea typeface="+mn-ea"/>
                <a:cs typeface="+mn-cs"/>
              </a:rPr>
              <a:t>Week 3 (Economics):</a:t>
            </a:r>
            <a:r>
              <a:rPr lang="en-US" sz="1200" kern="1200" dirty="0">
                <a:solidFill>
                  <a:schemeClr val="tx1"/>
                </a:solidFill>
                <a:effectLst/>
                <a:latin typeface="+mn-lt"/>
                <a:ea typeface="+mn-ea"/>
                <a:cs typeface="+mn-cs"/>
              </a:rPr>
              <a:t> Build evaluation suites, calculate token usage costs, swap sub-tasks to smaller models, and calculate net ROI. </a:t>
            </a:r>
          </a:p>
          <a:p>
            <a:pPr lvl="0"/>
            <a:r>
              <a:rPr lang="en-US" sz="1200" b="1" kern="1200" dirty="0">
                <a:solidFill>
                  <a:schemeClr val="tx1"/>
                </a:solidFill>
                <a:effectLst/>
                <a:latin typeface="+mn-lt"/>
                <a:ea typeface="+mn-ea"/>
                <a:cs typeface="+mn-cs"/>
              </a:rPr>
              <a:t>Week 4 (Defense):</a:t>
            </a:r>
            <a:r>
              <a:rPr lang="en-US" sz="1200" kern="1200" dirty="0">
                <a:solidFill>
                  <a:schemeClr val="tx1"/>
                </a:solidFill>
                <a:effectLst/>
                <a:latin typeface="+mn-lt"/>
                <a:ea typeface="+mn-ea"/>
                <a:cs typeface="+mn-cs"/>
              </a:rPr>
              <a:t> Rehearse system architecture defense as a lead engineer and pitch business metrics like a VP.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10</a:t>
            </a:fld>
            <a:endParaRPr lang="en-US"/>
          </a:p>
        </p:txBody>
      </p:sp>
    </p:spTree>
    <p:extLst>
      <p:ext uri="{BB962C8B-B14F-4D97-AF65-F5344CB8AC3E}">
        <p14:creationId xmlns:p14="http://schemas.microsoft.com/office/powerpoint/2010/main" val="1991392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Fragile vs. FDE Standard:</a:t>
            </a:r>
            <a:r>
              <a:rPr lang="en-US" sz="1200" kern="1200" dirty="0">
                <a:solidFill>
                  <a:schemeClr val="tx1"/>
                </a:solidFill>
                <a:effectLst/>
                <a:latin typeface="+mn-lt"/>
                <a:ea typeface="+mn-ea"/>
                <a:cs typeface="+mn-cs"/>
              </a:rPr>
              <a:t> Slide 11 contrasts weak prompt engineering with true FDE system design. </a:t>
            </a:r>
          </a:p>
          <a:p>
            <a:pPr lvl="0"/>
            <a:r>
              <a:rPr lang="en-US" sz="1200" b="1" kern="1200" dirty="0">
                <a:solidFill>
                  <a:schemeClr val="tx1"/>
                </a:solidFill>
                <a:effectLst/>
                <a:latin typeface="+mn-lt"/>
                <a:ea typeface="+mn-ea"/>
                <a:cs typeface="+mn-cs"/>
              </a:rPr>
              <a:t>The Fragile Prompt:</a:t>
            </a:r>
            <a:r>
              <a:rPr lang="en-US" sz="1200" kern="1200" dirty="0">
                <a:solidFill>
                  <a:schemeClr val="tx1"/>
                </a:solidFill>
                <a:effectLst/>
                <a:latin typeface="+mn-lt"/>
                <a:ea typeface="+mn-ea"/>
                <a:cs typeface="+mn-cs"/>
              </a:rPr>
              <a:t> Writing a generic system prompt like "You are a helpful assistant. Read the email and output the summary" fails instantly in enterprise environments when encountering unstructured or corrupted data. </a:t>
            </a:r>
          </a:p>
          <a:p>
            <a:pPr lvl="0"/>
            <a:r>
              <a:rPr lang="en-US" sz="1200" b="1" kern="1200" dirty="0">
                <a:solidFill>
                  <a:schemeClr val="tx1"/>
                </a:solidFill>
                <a:effectLst/>
                <a:latin typeface="+mn-lt"/>
                <a:ea typeface="+mn-ea"/>
                <a:cs typeface="+mn-cs"/>
              </a:rPr>
              <a:t>The FDE Standard:</a:t>
            </a:r>
            <a:r>
              <a:rPr lang="en-US" sz="1200" kern="1200" dirty="0">
                <a:solidFill>
                  <a:schemeClr val="tx1"/>
                </a:solidFill>
                <a:effectLst/>
                <a:latin typeface="+mn-lt"/>
                <a:ea typeface="+mn-ea"/>
                <a:cs typeface="+mn-cs"/>
              </a:rPr>
              <a:t> FDEs enforce strict typing using validation libraries (e.g., Zod schemas in TypeScript). Look at the code sample: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Outputs are forced into exact JSON formats (</a:t>
            </a:r>
            <a:r>
              <a:rPr lang="en-US" sz="1200" kern="1200" dirty="0" err="1">
                <a:solidFill>
                  <a:schemeClr val="tx1"/>
                </a:solidFill>
                <a:effectLst/>
                <a:latin typeface="+mn-lt"/>
                <a:ea typeface="+mn-ea"/>
                <a:cs typeface="+mn-cs"/>
              </a:rPr>
              <a:t>invoice_id</a:t>
            </a:r>
            <a:r>
              <a:rPr lang="en-US" sz="1200" kern="1200" dirty="0">
                <a:solidFill>
                  <a:schemeClr val="tx1"/>
                </a:solidFill>
                <a:effectLst/>
                <a:latin typeface="+mn-lt"/>
                <a:ea typeface="+mn-ea"/>
                <a:cs typeface="+mn-cs"/>
              </a:rPr>
              <a:t>, amount, </a:t>
            </a:r>
            <a:r>
              <a:rPr lang="en-US" sz="1200" kern="1200" dirty="0" err="1">
                <a:solidFill>
                  <a:schemeClr val="tx1"/>
                </a:solidFill>
                <a:effectLst/>
                <a:latin typeface="+mn-lt"/>
                <a:ea typeface="+mn-ea"/>
                <a:cs typeface="+mn-cs"/>
              </a:rPr>
              <a:t>exception_flag</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System exceptions are caught in code loops (try { ... } catch { </a:t>
            </a:r>
            <a:r>
              <a:rPr lang="en-US" sz="1200" kern="1200" dirty="0" err="1">
                <a:solidFill>
                  <a:schemeClr val="tx1"/>
                </a:solidFill>
                <a:effectLst/>
                <a:latin typeface="+mn-lt"/>
                <a:ea typeface="+mn-ea"/>
                <a:cs typeface="+mn-cs"/>
              </a:rPr>
              <a:t>route_to_human_in_loop</a:t>
            </a:r>
            <a:r>
              <a:rPr lang="en-US" sz="1200" kern="1200" dirty="0">
                <a:solidFill>
                  <a:schemeClr val="tx1"/>
                </a:solidFill>
                <a:effectLst/>
                <a:latin typeface="+mn-lt"/>
                <a:ea typeface="+mn-ea"/>
                <a:cs typeface="+mn-cs"/>
              </a:rPr>
              <a:t>(); }). </a:t>
            </a:r>
          </a:p>
          <a:p>
            <a:pPr lvl="0"/>
            <a:r>
              <a:rPr lang="en-US" sz="1200" b="1" kern="1200" dirty="0">
                <a:solidFill>
                  <a:schemeClr val="tx1"/>
                </a:solidFill>
                <a:effectLst/>
                <a:latin typeface="+mn-lt"/>
                <a:ea typeface="+mn-ea"/>
                <a:cs typeface="+mn-cs"/>
              </a:rPr>
              <a:t>Value Creation:</a:t>
            </a:r>
            <a:r>
              <a:rPr lang="en-US" sz="1200" kern="1200" dirty="0">
                <a:solidFill>
                  <a:schemeClr val="tx1"/>
                </a:solidFill>
                <a:effectLst/>
                <a:latin typeface="+mn-lt"/>
                <a:ea typeface="+mn-ea"/>
                <a:cs typeface="+mn-cs"/>
              </a:rPr>
              <a:t> By engineering explicitly for exceptions and bad inputs, you build systems that maintain audit trails and never crash silently.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11</a:t>
            </a:fld>
            <a:endParaRPr lang="en-US"/>
          </a:p>
        </p:txBody>
      </p:sp>
    </p:spTree>
    <p:extLst>
      <p:ext uri="{BB962C8B-B14F-4D97-AF65-F5344CB8AC3E}">
        <p14:creationId xmlns:p14="http://schemas.microsoft.com/office/powerpoint/2010/main" val="3790775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Speaking the Language of Business:</a:t>
            </a:r>
            <a:r>
              <a:rPr lang="en-US" sz="1200" kern="1200" dirty="0">
                <a:solidFill>
                  <a:schemeClr val="tx1"/>
                </a:solidFill>
                <a:effectLst/>
                <a:latin typeface="+mn-lt"/>
                <a:ea typeface="+mn-ea"/>
                <a:cs typeface="+mn-cs"/>
              </a:rPr>
              <a:t> At the end of the sprint, technical success must translate into clear business outcomes. Business executives care about three main levers: </a:t>
            </a:r>
          </a:p>
          <a:p>
            <a:pPr marL="228600" lvl="0" indent="-228600">
              <a:buFont typeface="+mj-lt"/>
              <a:buAutoNum type="arabicPeriod"/>
            </a:pPr>
            <a:r>
              <a:rPr lang="en-US" sz="1200" b="1" kern="1200" dirty="0">
                <a:solidFill>
                  <a:schemeClr val="tx1"/>
                </a:solidFill>
                <a:effectLst/>
                <a:latin typeface="+mn-lt"/>
                <a:ea typeface="+mn-ea"/>
                <a:cs typeface="+mn-cs"/>
              </a:rPr>
              <a:t>Revenue Uplift (+12%):</a:t>
            </a:r>
            <a:r>
              <a:rPr lang="en-US" sz="1200" kern="1200" dirty="0">
                <a:solidFill>
                  <a:schemeClr val="tx1"/>
                </a:solidFill>
                <a:effectLst/>
                <a:latin typeface="+mn-lt"/>
                <a:ea typeface="+mn-ea"/>
                <a:cs typeface="+mn-cs"/>
              </a:rPr>
              <a:t> Speeding up processing throughput allows businesses to take on more clients and generate more revenue faster. </a:t>
            </a:r>
          </a:p>
          <a:p>
            <a:pPr marL="228600" lvl="0" indent="-228600">
              <a:buFont typeface="+mj-lt"/>
              <a:buAutoNum type="arabicPeriod"/>
            </a:pPr>
            <a:r>
              <a:rPr lang="en-US" sz="1200" b="1" kern="1200" dirty="0">
                <a:solidFill>
                  <a:schemeClr val="tx1"/>
                </a:solidFill>
                <a:effectLst/>
                <a:latin typeface="+mn-lt"/>
                <a:ea typeface="+mn-ea"/>
                <a:cs typeface="+mn-cs"/>
              </a:rPr>
              <a:t>Risk Mitigation (85% -&gt; 99% / -99% Risk):</a:t>
            </a:r>
            <a:r>
              <a:rPr lang="en-US" sz="1200" kern="1200" dirty="0">
                <a:solidFill>
                  <a:schemeClr val="tx1"/>
                </a:solidFill>
                <a:effectLst/>
                <a:latin typeface="+mn-lt"/>
                <a:ea typeface="+mn-ea"/>
                <a:cs typeface="+mn-cs"/>
              </a:rPr>
              <a:t> Replacing manual, error-prone processes with verified automated audit trails reduces compliance risk. </a:t>
            </a:r>
          </a:p>
          <a:p>
            <a:pPr marL="228600" lvl="0" indent="-228600">
              <a:buFont typeface="+mj-lt"/>
              <a:buAutoNum type="arabicPeriod"/>
            </a:pPr>
            <a:r>
              <a:rPr lang="en-US" sz="1200" b="1" kern="1200" dirty="0">
                <a:solidFill>
                  <a:schemeClr val="tx1"/>
                </a:solidFill>
                <a:effectLst/>
                <a:latin typeface="+mn-lt"/>
                <a:ea typeface="+mn-ea"/>
                <a:cs typeface="+mn-cs"/>
              </a:rPr>
              <a:t>Cost Savings (-$40K):</a:t>
            </a:r>
            <a:r>
              <a:rPr lang="en-US" sz="1200" kern="1200" dirty="0">
                <a:solidFill>
                  <a:schemeClr val="tx1"/>
                </a:solidFill>
                <a:effectLst/>
                <a:latin typeface="+mn-lt"/>
                <a:ea typeface="+mn-ea"/>
                <a:cs typeface="+mn-cs"/>
              </a:rPr>
              <a:t> Optimizing model choices (e.g., swapping expensive frontier models for faster, lower-cost options like Gemini Flash for basic sub-tasks) slashes operating costs.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12</a:t>
            </a:fld>
            <a:endParaRPr lang="en-US"/>
          </a:p>
        </p:txBody>
      </p:sp>
    </p:spTree>
    <p:extLst>
      <p:ext uri="{BB962C8B-B14F-4D97-AF65-F5344CB8AC3E}">
        <p14:creationId xmlns:p14="http://schemas.microsoft.com/office/powerpoint/2010/main" val="3727015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Trillion-Dollar Opportunity:</a:t>
            </a:r>
            <a:r>
              <a:rPr lang="en-US" sz="1200" kern="1200" dirty="0">
                <a:solidFill>
                  <a:schemeClr val="tx1"/>
                </a:solidFill>
                <a:effectLst/>
                <a:latin typeface="+mn-lt"/>
                <a:ea typeface="+mn-ea"/>
                <a:cs typeface="+mn-cs"/>
              </a:rPr>
              <a:t> As summarized on the slide: </a:t>
            </a:r>
            <a:r>
              <a:rPr lang="en-US" sz="1200" i="1" kern="1200" dirty="0">
                <a:solidFill>
                  <a:schemeClr val="tx1"/>
                </a:solidFill>
                <a:effectLst/>
                <a:latin typeface="+mn-lt"/>
                <a:ea typeface="+mn-ea"/>
                <a:cs typeface="+mn-cs"/>
              </a:rPr>
              <a:t>"The trillion-dollar wealth transfer will not go to those who build the models, but to those who deploy them into the messy reality of the enterprise."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Recap of Core Pillars: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Phase 1 (Audit):</a:t>
            </a:r>
            <a:r>
              <a:rPr lang="en-US" sz="1200" kern="1200" dirty="0">
                <a:solidFill>
                  <a:schemeClr val="tx1"/>
                </a:solidFill>
                <a:effectLst/>
                <a:latin typeface="+mn-lt"/>
                <a:ea typeface="+mn-ea"/>
                <a:cs typeface="+mn-cs"/>
              </a:rPr>
              <a:t> Investigating messy manual workflows and unwritten operational steps.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Phase 2 (Technical Judgment):</a:t>
            </a:r>
            <a:r>
              <a:rPr lang="en-US" sz="1200" kern="1200" dirty="0">
                <a:solidFill>
                  <a:schemeClr val="tx1"/>
                </a:solidFill>
                <a:effectLst/>
                <a:latin typeface="+mn-lt"/>
                <a:ea typeface="+mn-ea"/>
                <a:cs typeface="+mn-cs"/>
              </a:rPr>
              <a:t> Choosing where AI adds leverage versus where deterministic code or human review belongs.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Phase 3 (Deployment):</a:t>
            </a:r>
            <a:r>
              <a:rPr lang="en-US" sz="1200" kern="1200" dirty="0">
                <a:solidFill>
                  <a:schemeClr val="tx1"/>
                </a:solidFill>
                <a:effectLst/>
                <a:latin typeface="+mn-lt"/>
                <a:ea typeface="+mn-ea"/>
                <a:cs typeface="+mn-cs"/>
              </a:rPr>
              <a:t> Building resilient agentic pipelines that plug directly into existing enterprise tech stacks. </a:t>
            </a:r>
          </a:p>
          <a:p>
            <a:endParaRPr lang="en-US" dirty="0"/>
          </a:p>
        </p:txBody>
      </p:sp>
      <p:sp>
        <p:nvSpPr>
          <p:cNvPr id="4" name="Slide Number Placeholder 3"/>
          <p:cNvSpPr>
            <a:spLocks noGrp="1"/>
          </p:cNvSpPr>
          <p:nvPr>
            <p:ph type="sldNum" sz="quarter" idx="5"/>
          </p:nvPr>
        </p:nvSpPr>
        <p:spPr/>
        <p:txBody>
          <a:bodyPr/>
          <a:lstStyle/>
          <a:p>
            <a:fld id="{2A6DB901-B94D-4E4D-9FF1-DDF39878C8AA}" type="slidenum">
              <a:rPr lang="en-US" smtClean="0"/>
              <a:t>13</a:t>
            </a:fld>
            <a:endParaRPr lang="en-US"/>
          </a:p>
        </p:txBody>
      </p:sp>
    </p:spTree>
    <p:extLst>
      <p:ext uri="{BB962C8B-B14F-4D97-AF65-F5344CB8AC3E}">
        <p14:creationId xmlns:p14="http://schemas.microsoft.com/office/powerpoint/2010/main" val="1838744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Final Synthesis:</a:t>
            </a:r>
            <a:r>
              <a:rPr lang="en-US" sz="1200" kern="1200" dirty="0">
                <a:solidFill>
                  <a:schemeClr val="tx1"/>
                </a:solidFill>
                <a:effectLst/>
                <a:latin typeface="+mn-lt"/>
                <a:ea typeface="+mn-ea"/>
                <a:cs typeface="+mn-cs"/>
              </a:rPr>
              <a:t> This closing visual pulls together the full end-to-end Forward Deployed Engineer blueprint. </a:t>
            </a:r>
          </a:p>
          <a:p>
            <a:pPr lvl="0"/>
            <a:r>
              <a:rPr lang="en-US" sz="1200" b="1" kern="1200" dirty="0">
                <a:solidFill>
                  <a:schemeClr val="tx1"/>
                </a:solidFill>
                <a:effectLst/>
                <a:latin typeface="+mn-lt"/>
                <a:ea typeface="+mn-ea"/>
                <a:cs typeface="+mn-cs"/>
              </a:rPr>
              <a:t>Left Side (The Input):</a:t>
            </a:r>
            <a:r>
              <a:rPr lang="en-US" sz="1200" kern="1200" dirty="0">
                <a:solidFill>
                  <a:schemeClr val="tx1"/>
                </a:solidFill>
                <a:effectLst/>
                <a:latin typeface="+mn-lt"/>
                <a:ea typeface="+mn-ea"/>
                <a:cs typeface="+mn-cs"/>
              </a:rPr>
              <a:t> General AI models are downloadable commodities. </a:t>
            </a:r>
          </a:p>
          <a:p>
            <a:pPr lvl="0"/>
            <a:r>
              <a:rPr lang="en-US" sz="1200" b="1" kern="1200" dirty="0">
                <a:solidFill>
                  <a:schemeClr val="tx1"/>
                </a:solidFill>
                <a:effectLst/>
                <a:latin typeface="+mn-lt"/>
                <a:ea typeface="+mn-ea"/>
                <a:cs typeface="+mn-cs"/>
              </a:rPr>
              <a:t>Right Side (The Output):</a:t>
            </a:r>
            <a:r>
              <a:rPr lang="en-US" sz="1200" kern="1200" dirty="0">
                <a:solidFill>
                  <a:schemeClr val="tx1"/>
                </a:solidFill>
                <a:effectLst/>
                <a:latin typeface="+mn-lt"/>
                <a:ea typeface="+mn-ea"/>
                <a:cs typeface="+mn-cs"/>
              </a:rPr>
              <a:t> Enterprises require deeply integrated, specific operational systems. </a:t>
            </a:r>
          </a:p>
          <a:p>
            <a:pPr lvl="0"/>
            <a:r>
              <a:rPr lang="en-US" sz="1200" b="1" kern="1200" dirty="0">
                <a:solidFill>
                  <a:schemeClr val="tx1"/>
                </a:solidFill>
                <a:effectLst/>
                <a:latin typeface="+mn-lt"/>
                <a:ea typeface="+mn-ea"/>
                <a:cs typeface="+mn-cs"/>
              </a:rPr>
              <a:t>Middle (The FDE Bridge):</a:t>
            </a:r>
            <a:r>
              <a:rPr lang="en-US" sz="1200" kern="1200" dirty="0">
                <a:solidFill>
                  <a:schemeClr val="tx1"/>
                </a:solidFill>
                <a:effectLst/>
                <a:latin typeface="+mn-lt"/>
                <a:ea typeface="+mn-ea"/>
                <a:cs typeface="+mn-cs"/>
              </a:rPr>
              <a:t> The FDE combines technical depth with strong consulting and communication abilities to translate raw model intelligence into production value. </a:t>
            </a:r>
          </a:p>
          <a:p>
            <a:pPr lvl="0"/>
            <a:r>
              <a:rPr lang="en-US" sz="1200" b="1" kern="1200" dirty="0">
                <a:solidFill>
                  <a:schemeClr val="tx1"/>
                </a:solidFill>
                <a:effectLst/>
                <a:latin typeface="+mn-lt"/>
                <a:ea typeface="+mn-ea"/>
                <a:cs typeface="+mn-cs"/>
              </a:rPr>
              <a:t>Call to Action:</a:t>
            </a:r>
            <a:r>
              <a:rPr lang="en-US" sz="1200" kern="1200" dirty="0">
                <a:solidFill>
                  <a:schemeClr val="tx1"/>
                </a:solidFill>
                <a:effectLst/>
                <a:latin typeface="+mn-lt"/>
                <a:ea typeface="+mn-ea"/>
                <a:cs typeface="+mn-cs"/>
              </a:rPr>
              <a:t> Whether you are looking to pivot your technical career or scale AI deployments inside your company, mastering this 30-day OS gives you a clear path to becoming a high-value Forward Deployed Engineer.</a:t>
            </a: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a:p>
            <a:r>
              <a:rPr lang="en-US" dirty="0"/>
              <a:t>https://www.youtube.com/watch?v=zXysLUTLjw4</a:t>
            </a:r>
          </a:p>
        </p:txBody>
      </p:sp>
      <p:sp>
        <p:nvSpPr>
          <p:cNvPr id="4" name="Slide Number Placeholder 3"/>
          <p:cNvSpPr>
            <a:spLocks noGrp="1"/>
          </p:cNvSpPr>
          <p:nvPr>
            <p:ph type="sldNum" sz="quarter" idx="5"/>
          </p:nvPr>
        </p:nvSpPr>
        <p:spPr/>
        <p:txBody>
          <a:bodyPr/>
          <a:lstStyle/>
          <a:p>
            <a:fld id="{2A6DB901-B94D-4E4D-9FF1-DDF39878C8AA}" type="slidenum">
              <a:rPr lang="en-US" smtClean="0"/>
              <a:t>14</a:t>
            </a:fld>
            <a:endParaRPr lang="en-US"/>
          </a:p>
        </p:txBody>
      </p:sp>
    </p:spTree>
    <p:extLst>
      <p:ext uri="{BB962C8B-B14F-4D97-AF65-F5344CB8AC3E}">
        <p14:creationId xmlns:p14="http://schemas.microsoft.com/office/powerpoint/2010/main" val="770914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1BDFC-AF4F-15B5-6B9C-16693E8F0A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001EC1-A4D8-B07D-1661-65A8162673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6F91C4-B3D3-5F2A-3811-007D93B518D9}"/>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5" name="Footer Placeholder 4">
            <a:extLst>
              <a:ext uri="{FF2B5EF4-FFF2-40B4-BE49-F238E27FC236}">
                <a16:creationId xmlns:a16="http://schemas.microsoft.com/office/drawing/2014/main" id="{9C6CC409-77C5-A38F-E0CE-0961E41F6B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746E54-2506-6BD1-7D9E-D3D898642097}"/>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4289344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85C0-D4A8-641E-C3EF-3A9CE7224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7CEC31-00DA-F569-D826-E1A493C7C4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89CB8A-0057-44CA-8347-19256BC9BC7F}"/>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5" name="Footer Placeholder 4">
            <a:extLst>
              <a:ext uri="{FF2B5EF4-FFF2-40B4-BE49-F238E27FC236}">
                <a16:creationId xmlns:a16="http://schemas.microsoft.com/office/drawing/2014/main" id="{E00C9083-55D2-4A76-2DB1-3DEA0BC15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79E35D-EC5E-A290-ED0E-755FEEC017B4}"/>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3247114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B3F6-22DC-D5F8-1838-931C8F917A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4B11F3-CE0D-61FF-3E30-F37A42E96B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F6A3C3-FCDA-286C-D238-2C5269081B45}"/>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5" name="Footer Placeholder 4">
            <a:extLst>
              <a:ext uri="{FF2B5EF4-FFF2-40B4-BE49-F238E27FC236}">
                <a16:creationId xmlns:a16="http://schemas.microsoft.com/office/drawing/2014/main" id="{58165B08-E95E-856F-9CC0-D3DF3AA5E6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87D73-DFDB-F4B1-19E0-EE8B5C1C9F86}"/>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558156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2CF7C-A6E4-5682-0714-9709C71A37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71332C-980B-2D7E-A506-6C3B982CE2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2C2369-AAAD-B9CB-7874-492CB49A16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158C28-91BF-FB21-3190-3392A612EC4B}"/>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6" name="Footer Placeholder 5">
            <a:extLst>
              <a:ext uri="{FF2B5EF4-FFF2-40B4-BE49-F238E27FC236}">
                <a16:creationId xmlns:a16="http://schemas.microsoft.com/office/drawing/2014/main" id="{F3CA1EA0-9DAF-1E92-8FC3-090631FB7C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049744-2547-DE48-4304-2E7078558B06}"/>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1224267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17E3F-5A35-1D0C-3AA9-C2BCE99E23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101DF3-0697-E0A2-3E4D-BB82A34A7B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753B4E-0B71-1E58-4B10-ACA4396BC3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88025E-E122-0CC9-A630-A3F23B15B6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077D36-76D2-1D5B-317D-1FB4DA1401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560164-8343-935E-C722-3B902182396B}"/>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8" name="Footer Placeholder 7">
            <a:extLst>
              <a:ext uri="{FF2B5EF4-FFF2-40B4-BE49-F238E27FC236}">
                <a16:creationId xmlns:a16="http://schemas.microsoft.com/office/drawing/2014/main" id="{D8800551-2DB4-AF6E-6C18-769CA27AB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3C2FEE-F84B-6DFE-9A33-A777339A41E4}"/>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173592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A8BE6-03BB-6E61-4E4D-1AB7AF79D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9C4ABF-E4BB-F448-31C4-D224074A2419}"/>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4" name="Footer Placeholder 3">
            <a:extLst>
              <a:ext uri="{FF2B5EF4-FFF2-40B4-BE49-F238E27FC236}">
                <a16:creationId xmlns:a16="http://schemas.microsoft.com/office/drawing/2014/main" id="{84F29994-2BAF-F7FB-E0F6-EA48799CEC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079524-670F-9D40-B7D8-AD9556D5295F}"/>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1979085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1D25CC-D8FA-325B-23B6-991A49A272B8}"/>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3" name="Footer Placeholder 2">
            <a:extLst>
              <a:ext uri="{FF2B5EF4-FFF2-40B4-BE49-F238E27FC236}">
                <a16:creationId xmlns:a16="http://schemas.microsoft.com/office/drawing/2014/main" id="{7BE43C2A-72F3-C27B-EF61-C7578C6AC8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456933-2B74-2B8B-9BA1-71DAA8456D2B}"/>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1164209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676F-1C41-162E-00BA-E37FF36F44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9F1837-2D68-235C-70EB-91EAFFAA77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CC6A38-1EC7-E5CF-D109-BB5BC1095D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697CA-D29E-3A0A-C295-3D7DDD37C72B}"/>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6" name="Footer Placeholder 5">
            <a:extLst>
              <a:ext uri="{FF2B5EF4-FFF2-40B4-BE49-F238E27FC236}">
                <a16:creationId xmlns:a16="http://schemas.microsoft.com/office/drawing/2014/main" id="{0CBC49F6-03B2-A167-5FFA-77D7B4E11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503DB-D559-E73D-82E8-5C99F462C5E9}"/>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173015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0669-389A-196D-D372-4639B94F5F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F0B617-4A6C-D351-D2D3-0A3C52590C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510371-A0C4-CD44-FA3D-73469414CF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B8946-6E59-4B51-15F4-295B1CAC745B}"/>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6" name="Footer Placeholder 5">
            <a:extLst>
              <a:ext uri="{FF2B5EF4-FFF2-40B4-BE49-F238E27FC236}">
                <a16:creationId xmlns:a16="http://schemas.microsoft.com/office/drawing/2014/main" id="{08AC60FB-8407-CB2D-90ED-8174B0A02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F9F45-27A1-4182-45F9-1E5C4F8B394B}"/>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43457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79B8A-A7D5-D68F-EE15-315572EC13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EA4165A-4ED1-592A-3D58-174A78B698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AE04E7-499F-5F32-6AC9-146946DC6425}"/>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5" name="Footer Placeholder 4">
            <a:extLst>
              <a:ext uri="{FF2B5EF4-FFF2-40B4-BE49-F238E27FC236}">
                <a16:creationId xmlns:a16="http://schemas.microsoft.com/office/drawing/2014/main" id="{C3AF5B96-6E2C-1382-7E6D-250C8654E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7B2E4E-DC8D-1C92-E128-5FB7F8BCAA61}"/>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4080984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4DAE36-D649-31B7-4667-37385D3A2B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C729EB-88A9-19E5-4264-1439A02CE6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1A9E88-6881-F104-1F6A-66555194D3FC}"/>
              </a:ext>
            </a:extLst>
          </p:cNvPr>
          <p:cNvSpPr>
            <a:spLocks noGrp="1"/>
          </p:cNvSpPr>
          <p:nvPr>
            <p:ph type="dt" sz="half" idx="10"/>
          </p:nvPr>
        </p:nvSpPr>
        <p:spPr/>
        <p:txBody>
          <a:bodyPr/>
          <a:lstStyle/>
          <a:p>
            <a:fld id="{685A0159-E2F9-4BA8-BA91-745508AC9140}" type="datetimeFigureOut">
              <a:rPr lang="en-US" smtClean="0"/>
              <a:t>10/21/2026</a:t>
            </a:fld>
            <a:endParaRPr lang="en-US"/>
          </a:p>
        </p:txBody>
      </p:sp>
      <p:sp>
        <p:nvSpPr>
          <p:cNvPr id="5" name="Footer Placeholder 4">
            <a:extLst>
              <a:ext uri="{FF2B5EF4-FFF2-40B4-BE49-F238E27FC236}">
                <a16:creationId xmlns:a16="http://schemas.microsoft.com/office/drawing/2014/main" id="{A60E9E0E-4D0E-2F1E-3BB7-DB917924A5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AC95F3-A341-4D37-B770-C5E454386D45}"/>
              </a:ext>
            </a:extLst>
          </p:cNvPr>
          <p:cNvSpPr>
            <a:spLocks noGrp="1"/>
          </p:cNvSpPr>
          <p:nvPr>
            <p:ph type="sldNum" sz="quarter" idx="12"/>
          </p:nvPr>
        </p:nvSpPr>
        <p:spPr/>
        <p:txBody>
          <a:bodyPr/>
          <a:lstStyle/>
          <a:p>
            <a:fld id="{B0FE85DB-BBBE-4E29-93EA-7F9A90A95490}" type="slidenum">
              <a:rPr lang="en-US" smtClean="0"/>
              <a:t>‹#›</a:t>
            </a:fld>
            <a:endParaRPr lang="en-US"/>
          </a:p>
        </p:txBody>
      </p:sp>
    </p:spTree>
    <p:extLst>
      <p:ext uri="{BB962C8B-B14F-4D97-AF65-F5344CB8AC3E}">
        <p14:creationId xmlns:p14="http://schemas.microsoft.com/office/powerpoint/2010/main" val="3969946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18D82C-3872-2F83-A2F2-C09E44D0CD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0B58B6-5F1D-E0AD-C202-D5F63DE0F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7AB2B0-656E-C654-C2E4-8A7631D054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5A0159-E2F9-4BA8-BA91-745508AC9140}" type="datetimeFigureOut">
              <a:rPr lang="en-US" smtClean="0"/>
              <a:t>10/21/2026</a:t>
            </a:fld>
            <a:endParaRPr lang="en-US"/>
          </a:p>
        </p:txBody>
      </p:sp>
      <p:sp>
        <p:nvSpPr>
          <p:cNvPr id="5" name="Footer Placeholder 4">
            <a:extLst>
              <a:ext uri="{FF2B5EF4-FFF2-40B4-BE49-F238E27FC236}">
                <a16:creationId xmlns:a16="http://schemas.microsoft.com/office/drawing/2014/main" id="{BAF5834A-69B3-91D8-CAC7-061852D51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215E13-711E-6A80-E2BA-8803D95AD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FE85DB-BBBE-4E29-93EA-7F9A90A95490}" type="slidenum">
              <a:rPr lang="en-US" smtClean="0"/>
              <a:t>‹#›</a:t>
            </a:fld>
            <a:endParaRPr lang="en-US"/>
          </a:p>
        </p:txBody>
      </p:sp>
    </p:spTree>
    <p:extLst>
      <p:ext uri="{BB962C8B-B14F-4D97-AF65-F5344CB8AC3E}">
        <p14:creationId xmlns:p14="http://schemas.microsoft.com/office/powerpoint/2010/main" val="4270430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6C3718-B9C7-EF56-4193-A56EDF582E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2EC03E-9D18-4F70-C27C-D6CC83000A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61443A-31BB-2622-05A2-11B6149E45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C27A4B-C129-A744-DA59-5C9CE36C8C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64B089-5A6B-AFCE-2B3B-E65A982CA4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7C0F7D-1B5B-91E4-EA9A-33910647EF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9B1F83-93D3-7A75-88F8-1DFC55F7D0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9E2836-F912-CB8E-89EB-C414E54EEA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C6A204-D143-6E23-1CE3-18A7899474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AF8B17-054E-3CB5-C88D-BE8472DEEB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E64F5E-10A2-AD52-BA50-F7553C588DE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3E97F9-3CE4-FE56-48A3-324DEFE582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A59544-410E-4D73-23BB-36D5F13390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2268BF-FEFD-BC86-3FEE-189E1289DDCF}"/>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163776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1926</Words>
  <Application>Microsoft Office PowerPoint</Application>
  <PresentationFormat>寬螢幕</PresentationFormat>
  <Paragraphs>86</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2026-09-17T04:57:13Z</dcterms:created>
  <dcterms:modified xsi:type="dcterms:W3CDTF">2026-10-21T02:48:57Z</dcterms:modified>
</cp:coreProperties>
</file>