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7AC441-F339-40CD-BF7D-88DCA9FB8FAC}" v="29" dt="2026-09-25T08:35:54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0" autoAdjust="0"/>
    <p:restoredTop sz="60060" autoAdjust="0"/>
  </p:normalViewPr>
  <p:slideViewPr>
    <p:cSldViewPr snapToGrid="0">
      <p:cViewPr varScale="1">
        <p:scale>
          <a:sx n="72" d="100"/>
          <a:sy n="72" d="100"/>
        </p:scale>
        <p:origin x="8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custSel modSld modMainMaster">
      <pc:chgData name="Lai, Wilson" userId="2840974a-0d84-4886-90a9-9a3ed79f3a48" providerId="ADAL" clId="{9F23B798-9E84-4552-BA63-E776E805C424}" dt="2026-09-25T08:36:19.133" v="159" actId="166"/>
      <pc:docMkLst>
        <pc:docMk/>
      </pc:docMkLst>
      <pc:sldChg chg="addSp delSp modSp mod modAnim modNotes modNotesTx">
        <pc:chgData name="Lai, Wilson" userId="2840974a-0d84-4886-90a9-9a3ed79f3a48" providerId="ADAL" clId="{9F23B798-9E84-4552-BA63-E776E805C424}" dt="2026-09-25T08:36:19.133" v="159" actId="166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9-25T08:35:54.662" v="153" actId="164"/>
          <ac:spMkLst>
            <pc:docMk/>
            <pc:sldMk cId="0" sldId="257"/>
            <ac:spMk id="5" creationId="{69EFE775-AC0B-F0B7-425F-DFB5307D8E7D}"/>
          </ac:spMkLst>
        </pc:spChg>
        <pc:grpChg chg="add mod">
          <ac:chgData name="Lai, Wilson" userId="2840974a-0d84-4886-90a9-9a3ed79f3a48" providerId="ADAL" clId="{9F23B798-9E84-4552-BA63-E776E805C424}" dt="2026-09-25T08:36:04.001" v="156" actId="1076"/>
          <ac:grpSpMkLst>
            <pc:docMk/>
            <pc:sldMk cId="0" sldId="257"/>
            <ac:grpSpMk id="6" creationId="{E917C590-1B81-C1AF-6B82-C0DCCFDF0295}"/>
          </ac:grpSpMkLst>
        </pc:grpChg>
        <pc:picChg chg="del">
          <ac:chgData name="Lai, Wilson" userId="2840974a-0d84-4886-90a9-9a3ed79f3a48" providerId="ADAL" clId="{9F23B798-9E84-4552-BA63-E776E805C424}" dt="2026-09-24T22:21:46.997" v="1" actId="21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9-25T08:35:54.662" v="153" actId="164"/>
          <ac:picMkLst>
            <pc:docMk/>
            <pc:sldMk cId="0" sldId="257"/>
            <ac:picMk id="2" creationId="{0309E6D0-4F52-0E8F-7216-AFEBCDD460B8}"/>
          </ac:picMkLst>
        </pc:picChg>
        <pc:picChg chg="add mod ord">
          <ac:chgData name="Lai, Wilson" userId="2840974a-0d84-4886-90a9-9a3ed79f3a48" providerId="ADAL" clId="{9F23B798-9E84-4552-BA63-E776E805C424}" dt="2026-09-25T08:36:19.133" v="159" actId="166"/>
          <ac:picMkLst>
            <pc:docMk/>
            <pc:sldMk cId="0" sldId="257"/>
            <ac:picMk id="4" creationId="{5AD1EEF6-E771-A11F-A947-53E428F3EB9A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5T02:03:58.883" v="74" actId="14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9-24T22:21:57.424" v="3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4T22:22:26.646" v="4" actId="22"/>
          <ac:picMkLst>
            <pc:docMk/>
            <pc:sldMk cId="0" sldId="258"/>
            <ac:picMk id="4" creationId="{F430BE67-70D2-830C-9322-209C3319DCFC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5T02:04:12.429" v="80" actId="14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9-24T22:22:31.196" v="5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4T22:23:09.877" v="6" actId="22"/>
          <ac:picMkLst>
            <pc:docMk/>
            <pc:sldMk cId="0" sldId="259"/>
            <ac:picMk id="4" creationId="{FED44967-D8B1-40A9-A681-3DDB376C33D9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5T02:04:29.957" v="86" actId="14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9-24T22:23:13.125" v="7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4T22:25:03.064" v="8" actId="22"/>
          <ac:picMkLst>
            <pc:docMk/>
            <pc:sldMk cId="0" sldId="260"/>
            <ac:picMk id="4" creationId="{7A8B72FC-AAFA-1C60-09E8-EE609C98750E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5T02:04:59.477" v="96" actId="14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9-24T22:25:33.982" v="9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4T22:26:45.037" v="10" actId="22"/>
          <ac:picMkLst>
            <pc:docMk/>
            <pc:sldMk cId="0" sldId="261"/>
            <ac:picMk id="4" creationId="{95A6A68B-4BE0-92FC-0ECE-9F2475B31AB7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5T02:05:14.317" v="104" actId="14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9-24T22:26:46.572" v="11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4T22:27:00.989" v="12" actId="22"/>
          <ac:picMkLst>
            <pc:docMk/>
            <pc:sldMk cId="0" sldId="262"/>
            <ac:picMk id="4" creationId="{7664C7D6-A420-52E4-BFB6-5A8854D569C5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5T02:05:24.363" v="108" actId="14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9-24T22:27:02.274" v="13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4T22:27:58.630" v="14" actId="22"/>
          <ac:picMkLst>
            <pc:docMk/>
            <pc:sldMk cId="0" sldId="263"/>
            <ac:picMk id="4" creationId="{A44D3062-9668-9862-F227-A880119D3B8C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5T02:05:34.586" v="114" actId="14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9-24T22:28:00.243" v="15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4T22:28:31.333" v="16" actId="22"/>
          <ac:picMkLst>
            <pc:docMk/>
            <pc:sldMk cId="0" sldId="264"/>
            <ac:picMk id="4" creationId="{B8BC4EC6-9CEC-8DE9-7C74-2C8417FC744A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5T02:05:44.641" v="120" actId="12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9-24T22:28:32.871" v="17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4T22:29:07.059" v="18" actId="22"/>
          <ac:picMkLst>
            <pc:docMk/>
            <pc:sldMk cId="0" sldId="265"/>
            <ac:picMk id="4" creationId="{73828E67-EA7B-3B20-A22E-24487723F738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25T02:01:39.123" v="51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9-24T22:29:08.902" v="19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4T22:29:30.647" v="20" actId="22"/>
          <ac:picMkLst>
            <pc:docMk/>
            <pc:sldMk cId="0" sldId="266"/>
            <ac:picMk id="4" creationId="{B5F33122-299D-38B9-A21F-5EAFCEB47282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5T02:02:11.707" v="54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9-24T22:29:32.339" v="21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4T22:29:50.308" v="22" actId="22"/>
          <ac:picMkLst>
            <pc:docMk/>
            <pc:sldMk cId="0" sldId="267"/>
            <ac:picMk id="4" creationId="{03BB0804-B6AB-6547-9B13-379C4E373B69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5T02:05:53.313" v="124" actId="14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9-24T22:29:51.798" v="23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4T22:30:11.582" v="24" actId="22"/>
          <ac:picMkLst>
            <pc:docMk/>
            <pc:sldMk cId="0" sldId="268"/>
            <ac:picMk id="4" creationId="{EC6AED48-D412-A667-3E6F-D32791F16A53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5T02:06:08.298" v="132" actId="12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9-24T22:30:13.366" v="25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4T22:30:36.081" v="26" actId="22"/>
          <ac:picMkLst>
            <pc:docMk/>
            <pc:sldMk cId="0" sldId="269"/>
            <ac:picMk id="4" creationId="{7C4F25FC-EFD7-44E0-E53C-D65F2283F303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5T02:06:17.853" v="136" actId="12"/>
        <pc:sldMkLst>
          <pc:docMk/>
          <pc:sldMk cId="0" sldId="270"/>
        </pc:sldMkLst>
        <pc:picChg chg="del">
          <ac:chgData name="Lai, Wilson" userId="2840974a-0d84-4886-90a9-9a3ed79f3a48" providerId="ADAL" clId="{9F23B798-9E84-4552-BA63-E776E805C424}" dt="2026-09-24T22:30:39.103" v="27" actId="21"/>
          <ac:picMkLst>
            <pc:docMk/>
            <pc:sldMk cId="0" sldId="27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4T22:30:55.496" v="28" actId="22"/>
          <ac:picMkLst>
            <pc:docMk/>
            <pc:sldMk cId="0" sldId="270"/>
            <ac:picMk id="4" creationId="{62142A6C-B0C5-6E25-F75B-2C3B81E7B522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5T02:06:31.099" v="142" actId="14"/>
        <pc:sldMkLst>
          <pc:docMk/>
          <pc:sldMk cId="0" sldId="271"/>
        </pc:sldMkLst>
        <pc:picChg chg="del">
          <ac:chgData name="Lai, Wilson" userId="2840974a-0d84-4886-90a9-9a3ed79f3a48" providerId="ADAL" clId="{9F23B798-9E84-4552-BA63-E776E805C424}" dt="2026-09-24T22:30:57.033" v="29" actId="21"/>
          <ac:picMkLst>
            <pc:docMk/>
            <pc:sldMk cId="0" sldId="27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4T22:31:13.814" v="30" actId="22"/>
          <ac:picMkLst>
            <pc:docMk/>
            <pc:sldMk cId="0" sldId="271"/>
            <ac:picMk id="4" creationId="{624508F1-CD58-34B7-D020-02DE20ADEE9B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5T02:06:40.889" v="143" actId="113"/>
        <pc:sldMkLst>
          <pc:docMk/>
          <pc:sldMk cId="1635177311" sldId="272"/>
        </pc:sldMkLst>
        <pc:picChg chg="del">
          <ac:chgData name="Lai, Wilson" userId="2840974a-0d84-4886-90a9-9a3ed79f3a48" providerId="ADAL" clId="{9F23B798-9E84-4552-BA63-E776E805C424}" dt="2026-09-24T22:31:18.433" v="31" actId="21"/>
          <ac:picMkLst>
            <pc:docMk/>
            <pc:sldMk cId="1635177311" sldId="272"/>
            <ac:picMk id="3" creationId="{C7305689-FDC6-11FD-7896-9219DCADC9C3}"/>
          </ac:picMkLst>
        </pc:picChg>
        <pc:picChg chg="add">
          <ac:chgData name="Lai, Wilson" userId="2840974a-0d84-4886-90a9-9a3ed79f3a48" providerId="ADAL" clId="{9F23B798-9E84-4552-BA63-E776E805C424}" dt="2026-09-24T22:31:27.117" v="32" actId="22"/>
          <ac:picMkLst>
            <pc:docMk/>
            <pc:sldMk cId="1635177311" sldId="272"/>
            <ac:picMk id="4" creationId="{7DCFBB5F-FF9A-8D83-262D-5A5605DB2D9D}"/>
          </ac:picMkLst>
        </pc:picChg>
      </pc:sldChg>
      <pc:sldMasterChg chg="setBg">
        <pc:chgData name="Lai, Wilson" userId="2840974a-0d84-4886-90a9-9a3ed79f3a48" providerId="ADAL" clId="{9F23B798-9E84-4552-BA63-E776E805C424}" dt="2026-09-24T22:16:15.500" v="0"/>
        <pc:sldMasterMkLst>
          <pc:docMk/>
          <pc:sldMasterMk cId="1019171727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42CF6-AB4F-47C7-A847-3295108D3C42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C74D78-6B5E-43AC-8A62-14FFA3AEC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2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&amp; Hook 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everyone. Today, we are breaking down a fundamental transformation in how Go-To-Market (GTM) and marketing teams operate.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traditional marketing playbook—relying on manual execution, fragmented software stacks, and bloated headcount—is rapidly becoming obsolete.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Paradigm Shift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Marketing is no longer just a creative or strategic function;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marketing is now code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modern workflow—whether it's generating ad creative, scraping social platforms, enriching lead lists, or running media campaigns—boils down to data, APIs, and execution loops.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your team is still clicking through SaaS dashboards manually, you are running at a massive velocity disadvantage.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 Purpose 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 the next 16 slides, we will cover the infrastructure, operating system, and key outbound/inbound plays required to build an AI-native GTM engine from scratch.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How we’d build an AI-native marketing team from scratch | Eric Siu &amp; Cody Schneider</a:t>
            </a:r>
          </a:p>
          <a:p>
            <a:r>
              <a:rPr lang="en-US" dirty="0"/>
              <a:t>https://www.youtube.com/watch?v=QKpRs-2EIiM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EB558E-24DD-472E-AC82-FD9C4F0648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3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Concept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start with a foundational truth: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is an intelligence amplifier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the slide points out: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you're smart, you're 100x smarter. If you're dumb, you're 100x dumber.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Divergent Paths in GTM 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doesn't magically solve bad strategy or lack of domain knowledge. If you feed an AI agent vague instructions or flawed logic, it will generate high-volume slop at lightning speed, accelerating your path to failure (the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Obsoletion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curve).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when paired with high-context domain expertise and automated systems, AI acts as a hyper-scalar unit. It unlocks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Infinite Scale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allowing a single marketer or small team to achieve the leverage of a massive department.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Takeaway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 is not to use AI to automate bad habits, but to build contextual systems that amplify high-leverage marketing actions.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74D78-6B5E-43AC-8A62-14FFA3AEC0F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37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Comparing the Old vs. New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Traditional Marketer: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Relies on manual middle-work, siloed web apps, gut-feeling iteration, and convoluted hog-wrestled Zapier/n8n workflows that break constantly. Historically, achieving enterprise-scale execution required a 25-person team.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GTM Engineer: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Operates using API-driven cloud workflows and code. Instead of clicking buttons in SaaS UIs, they write software and scripts deployed directly to the cloud.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Leverage &amp; Headcount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single GTM Engineer operating within a modern coding harness can achieve greater throughput and velocity than a traditional 25-person team.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Iteration is no longer driven by guesswork; it is algorithmic and powered by live data feedback loops.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 to Action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Marketers must transition from being manual operators to system architects who control the software running their marketing engine.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74D78-6B5E-43AC-8A62-14FFA3AEC0F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07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Deconstructing the Infrastructure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run autonomous marketing workflows reliably, local scripts aren't enough—you need cloud infrastructure.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walk through the core components shown in this dataflow diagram: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Pipeline &amp; Warehouse (e.g.,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Airbyte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Consolidates performance data across ad channels, payment processors, and CRMs.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 Server &amp; Cron Jobs: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Executes recurring jobs (daily/hourly scripts) without human intervention.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 Manager &amp; Deployment: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Ensures version control so multiple engineers/agents can collaborate safely.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Gateway (The Master Key):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Connects your coding agent directly to external tools, ad platforms, and scraping tools.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One Coding Agent Concept 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don't need 20 SaaS tools. You need one coding agent with access to this infrastructure.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an agent has programmatic access to your data warehouse and APIs, it can pull metrics, run SQL queries, make decisions, and execute actions end-to-end.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Wrap-Up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Setting up this cloud environment is the foundational step toward freeing your team from manual middle-work.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74D78-6B5E-43AC-8A62-14FFA3AEC0F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012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90/10 Rule 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modern marketer's primary workspace is changing. In the AI-native GTM model, marketers spend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90% of their time inside a coding harness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(e.g., Cursor, Claude Code, CLI).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 primary job is converting Standard Operating Procedures (SOPs) into deployable scripts.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Agent Orchestration Works 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 the harness, you orchestrate specialized agent workflows sequentially or in parallel: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01: Pulls raw data via API.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02–03: Validates and transforms JSON schemas.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04–06: Syncs to CRM, triggers personalized emails, and logs system events.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07–12: Generates reports, notifies Slack, handles errors, and deploys scripts to production.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Shift in Daily Work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performing the manual tasks yourself, you co-work with coding LLMs to build and refine the automated process, then deploy it to run continuously.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74D78-6B5E-43AC-8A62-14FFA3AEC0F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430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Strategy Overview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Parasite SEO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involves leveraging high-domain-authority third-party platforms (like LinkedIn Pulse, Medium, or target publications) to rank net-new AI-generated content on Page 1 of Google rapidly.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This Matters Today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 authority is extremely hard to build on a brand-new website. By publishing bottom-of-funnel conversion content on established host domains, Google trusts the site authority immediately.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Execution Velocity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executed correctly via AI pipelines, high-intent BOFU content can rank on Page 1 within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 minutes to under an hour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Objective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Capture immediate, high-intent search traffic for competitive bottom-of-funnel keywords without waiting months for traditional domain SEO to mature.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74D78-6B5E-43AC-8A62-14FFA3AEC0F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7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Step-by-Step Architecture 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Define high-intent target keywords (e.g.,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FB ads for kitchen remodeling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pet grooming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Scrape Page 1 Google results using tools like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Serper.dev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Firecrawl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Google is already signaling what structure it wants to see.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Synthesis: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Feed scraped search results and brand transcripts into LLMs (e.g., Claude) to craft optimized content matching search intent while preserving brand voice.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Programmatically publish the synthesized article to a high-authority host site (e.g., LinkedIn Pulse).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Indexing: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 drip-pinging tools (e.g., Prime Indexer) to force Google crawlers to index the new URL immediately.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CRITICAL WARNING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not drip-ping your core brand domain!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Aggressive pinging techniques can trigger search engine penalties. Use this tactic strictly on high-authority parasite domains.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74D78-6B5E-43AC-8A62-14FFA3AEC0F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73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Death of Spray-and-Pray 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Mass,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unpersonalized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cold email outreach is dead. Response rates are plummeting, domain deliverability is harder to maintain, and buyers ignore generic spam.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modern approach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Signal-Based Outbound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triggering outreach only when a prospect demonstrates clear buying intent or takes a trackable action.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Mapping TAM and Event Triggers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one is mapping your Total Addressable Market (TAM).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two is setting up automated event monitoring. Signals include job changes, engaging with competitor social posts, website visits, or tech stack updates.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Outcome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 conversion rates and stronger relevance because your message arrives precisely when the prospect is in an active buying or research window.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74D78-6B5E-43AC-8A62-14FFA3AEC0F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19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 Outbound Workflow 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Listen: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Continuously monitor competitor or influencer posts on platforms like LinkedIn/X for Ideal Customer Profile (ICP) engagement.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Scrape engagers and post URLs safely using proxy-managed scraping tools (e.g.,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Apify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API Maestro).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Enrich: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Pass extracted profiles through a waterfall email enrichment engine (e.g.,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GetLeads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LeadMagic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and verify deliverables via Million Verifier.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Push verified contacts automatically via API into cold outreach platforms (e.g., Instantly 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Hypertype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Economics &amp; Deliverability Protection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Account Protection: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Running scraping and outreach through proxy infrastructure and dedicated burner domains prevents your core company domain and primary LinkedIn accounts from being banned.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Unbeatable Unit Economics: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 isolated tenant infrastructure (like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Hypertide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/Inbox Kit) allows you to execute ~10,000 monthly sends for only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$125 in infrastructure costs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74D78-6B5E-43AC-8A62-14FFA3AEC0F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003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New Ad Paradigm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 ad targeting is dead—algorithms like Meta's Andromeda now handle audience distribution automatically based on ad creative content. 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Creative IS the new targeting.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visual style, script, and messaging of the ad dictate who the platform shows it to.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Volume as the Competitive Moat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top-performing DTC brands and mobile apps run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5,000+ active ads simultaneously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Humans cannot manually design, edit, write, and launch thousands of ads per month. High volume requires programmatic creative generation engines.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74D78-6B5E-43AC-8A62-14FFA3AEC0F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0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Step-by-Step Creative Stack 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Scrape Reddit, forums, and reviews via Exa AI to uncover authentic customer pain points and desired outcomes. 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Scripting: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Feed raw research into Claude/LLMs using structured hook frameworks designed for high engagement. 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Audio: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Pass scripts into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ElevenLabs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generate ultra-realistic voiceovers. 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Map the audio track to photorealistic AI Avatars (using tools like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Higgsfield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P0.studio) for as low as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$2.50 per video render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Push finished ad assets and copy directly into Facebook Ads Manager via API.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Takeaway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entire pipeline converts unstructured market research into fully deployed video ad campaigns without filming a single piece of raw footage.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74D78-6B5E-43AC-8A62-14FFA3AEC0F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9990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Generation vs. Unification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Generating thousands of ads is impressive, but generation alone is useless if you don't know what works.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ultimate unlock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Unification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—connecting creative generation directly to real-time sales performance data.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Loop Mechanism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Every generated ad's metadata (script, hook type, avatar used, visual style) is saved as structured JSON in the database.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conversion and pipeline data flow back into the data warehouse from CRMs and payment processors.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Autonomous Iteration: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agents cross-reference winning JSON configurations with high-converting ads, autonomously generating new iterations of what is actively driving revenue.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74D78-6B5E-43AC-8A62-14FFA3AEC0F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4579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Understanding Algorithmic Decay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ad creative and marketing plays suffer from fatigue. Audiences get bored, performance decays, and cost-per-acquisition (CPA) rises over time.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combat decay, systems must manage entropy using an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80/20 balance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80/20 Framework 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 Core: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agents continuously run and scale proven variations of high-performing, validated ad concepts.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20% Mutation: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Inject net-new creative DNA into the engine by constantly scraping trending viral organic social trends and testing radical new hooks.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Takeaway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20% mutation budget prevents creative fatigue and continuously discovers your next major winning baseline.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74D78-6B5E-43AC-8A62-14FFA3AEC0F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989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Real-World Case Studies &amp; Performance Data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Metric 1: Local Wellness Franchise (CPA Reduction)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CPA dropped from $70 down to $16 in just 4 weeks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(+437% efficiency gain) by running automated, high-velocity creative testing.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Metric 2: Prosumer Mobile App (Growth Scale)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Scaled from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to 20,000 signups in 30 days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 the full API-driven stack across paid ads, cold email, and SEO.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Metric 3: High-Velocity Creative Output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lean 6-person team shipped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11,000 distinct pieces of ad creative in a single month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(over 366 creatives per day).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results prove that API-first GTM operations aren't theoretical—they deliver radical efficiency and volume advantages today.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74D78-6B5E-43AC-8A62-14FFA3AEC0F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624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New Mindset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Humans must step out of the manual assembly line. If your day consists of copying data between spreadsheets, resizing images, or manually uploading ads, your job is at risk.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must elevate your skillset: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 or Out.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3 New Job Descriptions 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Manager: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Directing, monitoring, and delegating tasks to autonomous agent workflows.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Architect: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Designing the data pipelines, SOPs, and API connections that power the marketing engine.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Arbiter of Taste: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Setting high brand quality bars, evaluating creative outputs, and applying domain judgment where models fall short.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Closing Mantra 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Build. Measure. Iterate.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74D78-6B5E-43AC-8A62-14FFA3AEC0F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1456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Full-System Recap 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conclude, let's look at the unified blueprint of the AI-Native GTM Engine: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Coding Harness &amp; Cloud Stack: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core foundation where scripts turn manual SOPs into software connected to cloud databases and warehouses.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Unified API Gateway: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Unifies paid ad channels, CRMs, scrapers, and indexers into a single system.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Execution Nodes: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1,000+ Ads Monthly: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Automated AI avatars and voiceovers shipping creative at scale.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Parasite SEO: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Rapid Page 1 ranking within an hour via authority domains.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Signal-Based Outreach: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Scraping social engagers and executing waterfall-enriched cold outreach. 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Q&amp;A Transition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Building this engine isn't about replacing human creativity—it's about removing operational friction so small teams can compete with enterprise budgets.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open the floor to questions and discuss how you can begin implementing these workflows in your business today.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How we’d build an AI-native marketing team from scratch | Eric Siu &amp; Cody Schneider</a:t>
            </a:r>
          </a:p>
          <a:p>
            <a:r>
              <a:rPr lang="en-US" dirty="0"/>
              <a:t>https://www.youtube.com/watch?v=QKpRs-2EIiM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EB558E-24DD-472E-AC82-FD9C4F06486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444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B9BD19-CA0D-C352-9FDE-26A056665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AF2C5-43B0-4FA2-BB05-EF725808BDE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067717-6D6A-FA5E-A05F-349ACBAB9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1D190-58AC-3823-2634-A7FE3CB53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7782D-2179-44CF-9DD3-9CB05FDBF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44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4AD706-51A7-CD9F-87B1-43598FECE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89FC9-4975-CEDA-4322-2FAA1E82F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53C80-55FC-444F-6A5A-3C4443052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5AF2C5-43B0-4FA2-BB05-EF725808BDE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27735-BD08-AC93-59E4-FE1655AA74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68A62-FBE5-8EFF-8B27-8780984221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D7782D-2179-44CF-9DD3-9CB05FDBF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171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D1EEF6-E771-A11F-A947-53E428F3E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30BE67-70D2-830C-9322-209C3319D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D44967-D8B1-40A9-A681-3DDB376C3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B72FC-AAFA-1C60-09E8-EE609C987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A6A68B-4BE0-92FC-0ECE-9F2475B31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64C7D6-A420-52E4-BFB6-5A8854D56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4D3062-9668-9862-F227-A880119D3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BC4EC6-9CEC-8DE9-7C74-2C8417FC7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828E67-EA7B-3B20-A22E-24487723F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F33122-299D-38B9-A21F-5EAFCEB47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BB0804-B6AB-6547-9B13-379C4E373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6AED48-D412-A667-3E6F-D32791F16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4F25FC-EFD7-44E0-E53C-D65F2283F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142A6C-B0C5-6E25-F75B-2C3B81E7B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4508F1-CD58-34B7-D020-02DE20ADE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CFBB5F-FF9A-8D83-262D-5A5605DB2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177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2276</Words>
  <Application>Microsoft Office PowerPoint</Application>
  <PresentationFormat>寬螢幕</PresentationFormat>
  <Paragraphs>168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2026-09-24T22:15:33Z</dcterms:created>
  <dcterms:modified xsi:type="dcterms:W3CDTF">2026-10-20T13:31:15Z</dcterms:modified>
</cp:coreProperties>
</file>