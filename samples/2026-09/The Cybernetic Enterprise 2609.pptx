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B6819E1-E755-41F0-B0A3-DF6727724C54}" v="25" dt="2026-09-18T02:02:55.13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98" autoAdjust="0"/>
    <p:restoredTop sz="62393" autoAdjust="0"/>
  </p:normalViewPr>
  <p:slideViewPr>
    <p:cSldViewPr snapToGrid="0">
      <p:cViewPr varScale="1">
        <p:scale>
          <a:sx n="72" d="100"/>
          <a:sy n="72" d="100"/>
        </p:scale>
        <p:origin x="84" y="5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custSel modSld modMainMaster">
      <pc:chgData name="Lai, Wilson" userId="2840974a-0d84-4886-90a9-9a3ed79f3a48" providerId="ADAL" clId="{9F23B798-9E84-4552-BA63-E776E805C424}" dt="2026-09-18T02:03:11.298" v="58" actId="166"/>
      <pc:docMkLst>
        <pc:docMk/>
      </pc:docMkLst>
      <pc:sldChg chg="addSp delSp modSp mod modAnim modNotesTx">
        <pc:chgData name="Lai, Wilson" userId="2840974a-0d84-4886-90a9-9a3ed79f3a48" providerId="ADAL" clId="{9F23B798-9E84-4552-BA63-E776E805C424}" dt="2026-09-18T02:03:11.298" v="58" actId="166"/>
        <pc:sldMkLst>
          <pc:docMk/>
          <pc:sldMk cId="0" sldId="257"/>
        </pc:sldMkLst>
        <pc:spChg chg="add mod">
          <ac:chgData name="Lai, Wilson" userId="2840974a-0d84-4886-90a9-9a3ed79f3a48" providerId="ADAL" clId="{9F23B798-9E84-4552-BA63-E776E805C424}" dt="2026-09-17T23:59:53.716" v="41" actId="20577"/>
          <ac:spMkLst>
            <pc:docMk/>
            <pc:sldMk cId="0" sldId="257"/>
            <ac:spMk id="5" creationId="{FD8E4F68-29BA-B2CA-5816-4407142718B8}"/>
          </ac:spMkLst>
        </pc:spChg>
        <pc:grpChg chg="add mod">
          <ac:chgData name="Lai, Wilson" userId="2840974a-0d84-4886-90a9-9a3ed79f3a48" providerId="ADAL" clId="{9F23B798-9E84-4552-BA63-E776E805C424}" dt="2026-09-17T23:59:47.534" v="39" actId="164"/>
          <ac:grpSpMkLst>
            <pc:docMk/>
            <pc:sldMk cId="0" sldId="257"/>
            <ac:grpSpMk id="6" creationId="{C6BB2F1C-EDEF-638C-A708-693CC6AABD41}"/>
          </ac:grpSpMkLst>
        </pc:grpChg>
        <pc:picChg chg="del">
          <ac:chgData name="Lai, Wilson" userId="2840974a-0d84-4886-90a9-9a3ed79f3a48" providerId="ADAL" clId="{9F23B798-9E84-4552-BA63-E776E805C424}" dt="2026-09-17T23:53:00.838" v="0" actId="21"/>
          <ac:picMkLst>
            <pc:docMk/>
            <pc:sldMk cId="0" sldId="257"/>
            <ac:picMk id="2" creationId="{00000000-0000-0000-0000-000000000000}"/>
          </ac:picMkLst>
        </pc:picChg>
        <pc:picChg chg="add mod">
          <ac:chgData name="Lai, Wilson" userId="2840974a-0d84-4886-90a9-9a3ed79f3a48" providerId="ADAL" clId="{9F23B798-9E84-4552-BA63-E776E805C424}" dt="2026-09-17T23:59:47.534" v="39" actId="164"/>
          <ac:picMkLst>
            <pc:docMk/>
            <pc:sldMk cId="0" sldId="257"/>
            <ac:picMk id="2" creationId="{C0C9FFF1-0ED1-12E8-D578-3513B33CCD06}"/>
          </ac:picMkLst>
        </pc:picChg>
        <pc:picChg chg="add ord">
          <ac:chgData name="Lai, Wilson" userId="2840974a-0d84-4886-90a9-9a3ed79f3a48" providerId="ADAL" clId="{9F23B798-9E84-4552-BA63-E776E805C424}" dt="2026-09-18T02:03:11.298" v="58" actId="166"/>
          <ac:picMkLst>
            <pc:docMk/>
            <pc:sldMk cId="0" sldId="257"/>
            <ac:picMk id="4" creationId="{26843988-A490-63A2-BE18-A8D70CCFD0CA}"/>
          </ac:picMkLst>
        </pc:picChg>
      </pc:sldChg>
      <pc:sldChg chg="addSp delSp mod modNotesTx">
        <pc:chgData name="Lai, Wilson" userId="2840974a-0d84-4886-90a9-9a3ed79f3a48" providerId="ADAL" clId="{9F23B798-9E84-4552-BA63-E776E805C424}" dt="2026-09-18T01:58:50.595" v="44" actId="12"/>
        <pc:sldMkLst>
          <pc:docMk/>
          <pc:sldMk cId="0" sldId="258"/>
        </pc:sldMkLst>
        <pc:picChg chg="del">
          <ac:chgData name="Lai, Wilson" userId="2840974a-0d84-4886-90a9-9a3ed79f3a48" providerId="ADAL" clId="{9F23B798-9E84-4552-BA63-E776E805C424}" dt="2026-09-17T23:53:33.589" v="3" actId="21"/>
          <ac:picMkLst>
            <pc:docMk/>
            <pc:sldMk cId="0" sldId="258"/>
            <ac:picMk id="2" creationId="{00000000-0000-0000-0000-000000000000}"/>
          </ac:picMkLst>
        </pc:picChg>
        <pc:picChg chg="add">
          <ac:chgData name="Lai, Wilson" userId="2840974a-0d84-4886-90a9-9a3ed79f3a48" providerId="ADAL" clId="{9F23B798-9E84-4552-BA63-E776E805C424}" dt="2026-09-17T23:53:42.579" v="4" actId="22"/>
          <ac:picMkLst>
            <pc:docMk/>
            <pc:sldMk cId="0" sldId="258"/>
            <ac:picMk id="4" creationId="{8EFAC11A-7B45-6350-FF6E-8D395EA9EA3E}"/>
          </ac:picMkLst>
        </pc:picChg>
      </pc:sldChg>
      <pc:sldChg chg="addSp delSp mod">
        <pc:chgData name="Lai, Wilson" userId="2840974a-0d84-4886-90a9-9a3ed79f3a48" providerId="ADAL" clId="{9F23B798-9E84-4552-BA63-E776E805C424}" dt="2026-09-17T23:53:55.590" v="6" actId="22"/>
        <pc:sldMkLst>
          <pc:docMk/>
          <pc:sldMk cId="0" sldId="259"/>
        </pc:sldMkLst>
        <pc:picChg chg="del">
          <ac:chgData name="Lai, Wilson" userId="2840974a-0d84-4886-90a9-9a3ed79f3a48" providerId="ADAL" clId="{9F23B798-9E84-4552-BA63-E776E805C424}" dt="2026-09-17T23:53:47.164" v="5" actId="21"/>
          <ac:picMkLst>
            <pc:docMk/>
            <pc:sldMk cId="0" sldId="259"/>
            <ac:picMk id="2" creationId="{00000000-0000-0000-0000-000000000000}"/>
          </ac:picMkLst>
        </pc:picChg>
        <pc:picChg chg="add">
          <ac:chgData name="Lai, Wilson" userId="2840974a-0d84-4886-90a9-9a3ed79f3a48" providerId="ADAL" clId="{9F23B798-9E84-4552-BA63-E776E805C424}" dt="2026-09-17T23:53:55.590" v="6" actId="22"/>
          <ac:picMkLst>
            <pc:docMk/>
            <pc:sldMk cId="0" sldId="259"/>
            <ac:picMk id="4" creationId="{1498D690-F8DE-FCAD-177F-AF54D3E510E6}"/>
          </ac:picMkLst>
        </pc:picChg>
      </pc:sldChg>
      <pc:sldChg chg="addSp delSp mod">
        <pc:chgData name="Lai, Wilson" userId="2840974a-0d84-4886-90a9-9a3ed79f3a48" providerId="ADAL" clId="{9F23B798-9E84-4552-BA63-E776E805C424}" dt="2026-09-17T23:54:49.422" v="14" actId="22"/>
        <pc:sldMkLst>
          <pc:docMk/>
          <pc:sldMk cId="0" sldId="260"/>
        </pc:sldMkLst>
        <pc:picChg chg="del">
          <ac:chgData name="Lai, Wilson" userId="2840974a-0d84-4886-90a9-9a3ed79f3a48" providerId="ADAL" clId="{9F23B798-9E84-4552-BA63-E776E805C424}" dt="2026-09-17T23:54:41.407" v="13" actId="21"/>
          <ac:picMkLst>
            <pc:docMk/>
            <pc:sldMk cId="0" sldId="260"/>
            <ac:picMk id="2" creationId="{00000000-0000-0000-0000-000000000000}"/>
          </ac:picMkLst>
        </pc:picChg>
        <pc:picChg chg="add">
          <ac:chgData name="Lai, Wilson" userId="2840974a-0d84-4886-90a9-9a3ed79f3a48" providerId="ADAL" clId="{9F23B798-9E84-4552-BA63-E776E805C424}" dt="2026-09-17T23:54:49.422" v="14" actId="22"/>
          <ac:picMkLst>
            <pc:docMk/>
            <pc:sldMk cId="0" sldId="260"/>
            <ac:picMk id="4" creationId="{5177A686-A524-241B-7C9E-1C348E972056}"/>
          </ac:picMkLst>
        </pc:picChg>
      </pc:sldChg>
      <pc:sldChg chg="addSp delSp mod modNotesTx">
        <pc:chgData name="Lai, Wilson" userId="2840974a-0d84-4886-90a9-9a3ed79f3a48" providerId="ADAL" clId="{9F23B798-9E84-4552-BA63-E776E805C424}" dt="2026-09-18T01:59:17.593" v="45" actId="12"/>
        <pc:sldMkLst>
          <pc:docMk/>
          <pc:sldMk cId="0" sldId="261"/>
        </pc:sldMkLst>
        <pc:picChg chg="del">
          <ac:chgData name="Lai, Wilson" userId="2840974a-0d84-4886-90a9-9a3ed79f3a48" providerId="ADAL" clId="{9F23B798-9E84-4552-BA63-E776E805C424}" dt="2026-09-17T23:53:57.232" v="7" actId="21"/>
          <ac:picMkLst>
            <pc:docMk/>
            <pc:sldMk cId="0" sldId="261"/>
            <ac:picMk id="2" creationId="{00000000-0000-0000-0000-000000000000}"/>
          </ac:picMkLst>
        </pc:picChg>
        <pc:picChg chg="add">
          <ac:chgData name="Lai, Wilson" userId="2840974a-0d84-4886-90a9-9a3ed79f3a48" providerId="ADAL" clId="{9F23B798-9E84-4552-BA63-E776E805C424}" dt="2026-09-17T23:54:05.544" v="8" actId="22"/>
          <ac:picMkLst>
            <pc:docMk/>
            <pc:sldMk cId="0" sldId="261"/>
            <ac:picMk id="4" creationId="{7306AF2A-0A43-ADFF-8FAB-A6326BCCD333}"/>
          </ac:picMkLst>
        </pc:picChg>
      </pc:sldChg>
      <pc:sldChg chg="addSp delSp mod modNotesTx">
        <pc:chgData name="Lai, Wilson" userId="2840974a-0d84-4886-90a9-9a3ed79f3a48" providerId="ADAL" clId="{9F23B798-9E84-4552-BA63-E776E805C424}" dt="2026-09-18T01:59:39.702" v="48" actId="12"/>
        <pc:sldMkLst>
          <pc:docMk/>
          <pc:sldMk cId="0" sldId="262"/>
        </pc:sldMkLst>
        <pc:picChg chg="del">
          <ac:chgData name="Lai, Wilson" userId="2840974a-0d84-4886-90a9-9a3ed79f3a48" providerId="ADAL" clId="{9F23B798-9E84-4552-BA63-E776E805C424}" dt="2026-09-17T23:54:08.779" v="9" actId="21"/>
          <ac:picMkLst>
            <pc:docMk/>
            <pc:sldMk cId="0" sldId="262"/>
            <ac:picMk id="2" creationId="{00000000-0000-0000-0000-000000000000}"/>
          </ac:picMkLst>
        </pc:picChg>
        <pc:picChg chg="add">
          <ac:chgData name="Lai, Wilson" userId="2840974a-0d84-4886-90a9-9a3ed79f3a48" providerId="ADAL" clId="{9F23B798-9E84-4552-BA63-E776E805C424}" dt="2026-09-17T23:54:17.974" v="10" actId="22"/>
          <ac:picMkLst>
            <pc:docMk/>
            <pc:sldMk cId="0" sldId="262"/>
            <ac:picMk id="4" creationId="{DC627475-A576-2F11-2824-7157FC8100DC}"/>
          </ac:picMkLst>
        </pc:picChg>
      </pc:sldChg>
      <pc:sldChg chg="addSp delSp mod">
        <pc:chgData name="Lai, Wilson" userId="2840974a-0d84-4886-90a9-9a3ed79f3a48" providerId="ADAL" clId="{9F23B798-9E84-4552-BA63-E776E805C424}" dt="2026-09-17T23:54:32.980" v="12" actId="22"/>
        <pc:sldMkLst>
          <pc:docMk/>
          <pc:sldMk cId="0" sldId="263"/>
        </pc:sldMkLst>
        <pc:picChg chg="del">
          <ac:chgData name="Lai, Wilson" userId="2840974a-0d84-4886-90a9-9a3ed79f3a48" providerId="ADAL" clId="{9F23B798-9E84-4552-BA63-E776E805C424}" dt="2026-09-17T23:54:21.585" v="11" actId="21"/>
          <ac:picMkLst>
            <pc:docMk/>
            <pc:sldMk cId="0" sldId="263"/>
            <ac:picMk id="2" creationId="{00000000-0000-0000-0000-000000000000}"/>
          </ac:picMkLst>
        </pc:picChg>
        <pc:picChg chg="add">
          <ac:chgData name="Lai, Wilson" userId="2840974a-0d84-4886-90a9-9a3ed79f3a48" providerId="ADAL" clId="{9F23B798-9E84-4552-BA63-E776E805C424}" dt="2026-09-17T23:54:32.980" v="12" actId="22"/>
          <ac:picMkLst>
            <pc:docMk/>
            <pc:sldMk cId="0" sldId="263"/>
            <ac:picMk id="4" creationId="{835ACBA5-A543-9549-E92B-9AC4A55585C9}"/>
          </ac:picMkLst>
        </pc:picChg>
      </pc:sldChg>
      <pc:sldChg chg="addSp delSp mod modNotesTx">
        <pc:chgData name="Lai, Wilson" userId="2840974a-0d84-4886-90a9-9a3ed79f3a48" providerId="ADAL" clId="{9F23B798-9E84-4552-BA63-E776E805C424}" dt="2026-09-18T02:00:18.130" v="50" actId="12"/>
        <pc:sldMkLst>
          <pc:docMk/>
          <pc:sldMk cId="0" sldId="264"/>
        </pc:sldMkLst>
        <pc:picChg chg="del">
          <ac:chgData name="Lai, Wilson" userId="2840974a-0d84-4886-90a9-9a3ed79f3a48" providerId="ADAL" clId="{9F23B798-9E84-4552-BA63-E776E805C424}" dt="2026-09-17T23:54:54.223" v="15" actId="21"/>
          <ac:picMkLst>
            <pc:docMk/>
            <pc:sldMk cId="0" sldId="264"/>
            <ac:picMk id="2" creationId="{00000000-0000-0000-0000-000000000000}"/>
          </ac:picMkLst>
        </pc:picChg>
        <pc:picChg chg="add">
          <ac:chgData name="Lai, Wilson" userId="2840974a-0d84-4886-90a9-9a3ed79f3a48" providerId="ADAL" clId="{9F23B798-9E84-4552-BA63-E776E805C424}" dt="2026-09-17T23:55:02.831" v="16" actId="22"/>
          <ac:picMkLst>
            <pc:docMk/>
            <pc:sldMk cId="0" sldId="264"/>
            <ac:picMk id="4" creationId="{1C454CE0-7F9D-D110-9BE8-43AA62C645DB}"/>
          </ac:picMkLst>
        </pc:picChg>
      </pc:sldChg>
      <pc:sldChg chg="addSp delSp mod modNotesTx">
        <pc:chgData name="Lai, Wilson" userId="2840974a-0d84-4886-90a9-9a3ed79f3a48" providerId="ADAL" clId="{9F23B798-9E84-4552-BA63-E776E805C424}" dt="2026-09-18T02:00:29.872" v="51" actId="12"/>
        <pc:sldMkLst>
          <pc:docMk/>
          <pc:sldMk cId="0" sldId="265"/>
        </pc:sldMkLst>
        <pc:picChg chg="del">
          <ac:chgData name="Lai, Wilson" userId="2840974a-0d84-4886-90a9-9a3ed79f3a48" providerId="ADAL" clId="{9F23B798-9E84-4552-BA63-E776E805C424}" dt="2026-09-17T23:55:05.528" v="17" actId="21"/>
          <ac:picMkLst>
            <pc:docMk/>
            <pc:sldMk cId="0" sldId="265"/>
            <ac:picMk id="2" creationId="{00000000-0000-0000-0000-000000000000}"/>
          </ac:picMkLst>
        </pc:picChg>
        <pc:picChg chg="add">
          <ac:chgData name="Lai, Wilson" userId="2840974a-0d84-4886-90a9-9a3ed79f3a48" providerId="ADAL" clId="{9F23B798-9E84-4552-BA63-E776E805C424}" dt="2026-09-17T23:55:14.493" v="18" actId="22"/>
          <ac:picMkLst>
            <pc:docMk/>
            <pc:sldMk cId="0" sldId="265"/>
            <ac:picMk id="4" creationId="{77D69E8C-1102-BC03-D273-9C221E167CDE}"/>
          </ac:picMkLst>
        </pc:picChg>
      </pc:sldChg>
      <pc:sldChg chg="modNotesTx">
        <pc:chgData name="Lai, Wilson" userId="2840974a-0d84-4886-90a9-9a3ed79f3a48" providerId="ADAL" clId="{9F23B798-9E84-4552-BA63-E776E805C424}" dt="2026-09-18T02:01:44.661" v="52" actId="12"/>
        <pc:sldMkLst>
          <pc:docMk/>
          <pc:sldMk cId="0" sldId="266"/>
        </pc:sldMkLst>
      </pc:sldChg>
      <pc:sldChg chg="addSp delSp mod modNotesTx">
        <pc:chgData name="Lai, Wilson" userId="2840974a-0d84-4886-90a9-9a3ed79f3a48" providerId="ADAL" clId="{9F23B798-9E84-4552-BA63-E776E805C424}" dt="2026-09-18T02:01:58.447" v="53" actId="12"/>
        <pc:sldMkLst>
          <pc:docMk/>
          <pc:sldMk cId="0" sldId="267"/>
        </pc:sldMkLst>
        <pc:picChg chg="del">
          <ac:chgData name="Lai, Wilson" userId="2840974a-0d84-4886-90a9-9a3ed79f3a48" providerId="ADAL" clId="{9F23B798-9E84-4552-BA63-E776E805C424}" dt="2026-09-17T23:55:16.157" v="19" actId="21"/>
          <ac:picMkLst>
            <pc:docMk/>
            <pc:sldMk cId="0" sldId="267"/>
            <ac:picMk id="2" creationId="{00000000-0000-0000-0000-000000000000}"/>
          </ac:picMkLst>
        </pc:picChg>
        <pc:picChg chg="add">
          <ac:chgData name="Lai, Wilson" userId="2840974a-0d84-4886-90a9-9a3ed79f3a48" providerId="ADAL" clId="{9F23B798-9E84-4552-BA63-E776E805C424}" dt="2026-09-17T23:55:25.911" v="20" actId="22"/>
          <ac:picMkLst>
            <pc:docMk/>
            <pc:sldMk cId="0" sldId="267"/>
            <ac:picMk id="4" creationId="{768DD68D-2820-8DCA-B18D-18079C7CD34E}"/>
          </ac:picMkLst>
        </pc:picChg>
      </pc:sldChg>
      <pc:sldChg chg="addSp delSp mod modNotesTx">
        <pc:chgData name="Lai, Wilson" userId="2840974a-0d84-4886-90a9-9a3ed79f3a48" providerId="ADAL" clId="{9F23B798-9E84-4552-BA63-E776E805C424}" dt="2026-09-18T02:02:10.054" v="54" actId="12"/>
        <pc:sldMkLst>
          <pc:docMk/>
          <pc:sldMk cId="0" sldId="268"/>
        </pc:sldMkLst>
        <pc:picChg chg="del">
          <ac:chgData name="Lai, Wilson" userId="2840974a-0d84-4886-90a9-9a3ed79f3a48" providerId="ADAL" clId="{9F23B798-9E84-4552-BA63-E776E805C424}" dt="2026-09-17T23:55:33.350" v="21" actId="21"/>
          <ac:picMkLst>
            <pc:docMk/>
            <pc:sldMk cId="0" sldId="268"/>
            <ac:picMk id="2" creationId="{00000000-0000-0000-0000-000000000000}"/>
          </ac:picMkLst>
        </pc:picChg>
        <pc:picChg chg="add">
          <ac:chgData name="Lai, Wilson" userId="2840974a-0d84-4886-90a9-9a3ed79f3a48" providerId="ADAL" clId="{9F23B798-9E84-4552-BA63-E776E805C424}" dt="2026-09-17T23:55:40.949" v="22" actId="22"/>
          <ac:picMkLst>
            <pc:docMk/>
            <pc:sldMk cId="0" sldId="268"/>
            <ac:picMk id="4" creationId="{CE9A17A3-50FF-A1EC-7589-3BF02CEF46B6}"/>
          </ac:picMkLst>
        </pc:picChg>
      </pc:sldChg>
      <pc:sldChg chg="addSp delSp mod modNotesTx">
        <pc:chgData name="Lai, Wilson" userId="2840974a-0d84-4886-90a9-9a3ed79f3a48" providerId="ADAL" clId="{9F23B798-9E84-4552-BA63-E776E805C424}" dt="2026-09-18T02:02:23.173" v="55" actId="12"/>
        <pc:sldMkLst>
          <pc:docMk/>
          <pc:sldMk cId="0" sldId="269"/>
        </pc:sldMkLst>
        <pc:picChg chg="del">
          <ac:chgData name="Lai, Wilson" userId="2840974a-0d84-4886-90a9-9a3ed79f3a48" providerId="ADAL" clId="{9F23B798-9E84-4552-BA63-E776E805C424}" dt="2026-09-17T23:55:44.500" v="23" actId="21"/>
          <ac:picMkLst>
            <pc:docMk/>
            <pc:sldMk cId="0" sldId="269"/>
            <ac:picMk id="2" creationId="{00000000-0000-0000-0000-000000000000}"/>
          </ac:picMkLst>
        </pc:picChg>
        <pc:picChg chg="add">
          <ac:chgData name="Lai, Wilson" userId="2840974a-0d84-4886-90a9-9a3ed79f3a48" providerId="ADAL" clId="{9F23B798-9E84-4552-BA63-E776E805C424}" dt="2026-09-17T23:55:53.388" v="24" actId="22"/>
          <ac:picMkLst>
            <pc:docMk/>
            <pc:sldMk cId="0" sldId="269"/>
            <ac:picMk id="4" creationId="{2AB98FF7-DDF4-0A5E-5F12-3D2B1914BB3C}"/>
          </ac:picMkLst>
        </pc:picChg>
      </pc:sldChg>
      <pc:sldChg chg="addSp delSp mod modNotesTx">
        <pc:chgData name="Lai, Wilson" userId="2840974a-0d84-4886-90a9-9a3ed79f3a48" providerId="ADAL" clId="{9F23B798-9E84-4552-BA63-E776E805C424}" dt="2026-09-18T02:02:39.629" v="56" actId="12"/>
        <pc:sldMkLst>
          <pc:docMk/>
          <pc:sldMk cId="0" sldId="270"/>
        </pc:sldMkLst>
        <pc:picChg chg="del">
          <ac:chgData name="Lai, Wilson" userId="2840974a-0d84-4886-90a9-9a3ed79f3a48" providerId="ADAL" clId="{9F23B798-9E84-4552-BA63-E776E805C424}" dt="2026-09-17T23:55:56.159" v="25" actId="21"/>
          <ac:picMkLst>
            <pc:docMk/>
            <pc:sldMk cId="0" sldId="270"/>
            <ac:picMk id="2" creationId="{00000000-0000-0000-0000-000000000000}"/>
          </ac:picMkLst>
        </pc:picChg>
        <pc:picChg chg="add">
          <ac:chgData name="Lai, Wilson" userId="2840974a-0d84-4886-90a9-9a3ed79f3a48" providerId="ADAL" clId="{9F23B798-9E84-4552-BA63-E776E805C424}" dt="2026-09-17T23:56:07.109" v="26" actId="22"/>
          <ac:picMkLst>
            <pc:docMk/>
            <pc:sldMk cId="0" sldId="270"/>
            <ac:picMk id="4" creationId="{FC2D74D2-26DC-6489-601E-BC5B59490505}"/>
          </ac:picMkLst>
        </pc:picChg>
      </pc:sldChg>
      <pc:sldChg chg="addSp delSp mod">
        <pc:chgData name="Lai, Wilson" userId="2840974a-0d84-4886-90a9-9a3ed79f3a48" providerId="ADAL" clId="{9F23B798-9E84-4552-BA63-E776E805C424}" dt="2026-09-17T23:56:25.156" v="28" actId="22"/>
        <pc:sldMkLst>
          <pc:docMk/>
          <pc:sldMk cId="0" sldId="271"/>
        </pc:sldMkLst>
        <pc:picChg chg="del">
          <ac:chgData name="Lai, Wilson" userId="2840974a-0d84-4886-90a9-9a3ed79f3a48" providerId="ADAL" clId="{9F23B798-9E84-4552-BA63-E776E805C424}" dt="2026-09-17T23:56:12.044" v="27" actId="21"/>
          <ac:picMkLst>
            <pc:docMk/>
            <pc:sldMk cId="0" sldId="271"/>
            <ac:picMk id="2" creationId="{00000000-0000-0000-0000-000000000000}"/>
          </ac:picMkLst>
        </pc:picChg>
        <pc:picChg chg="add">
          <ac:chgData name="Lai, Wilson" userId="2840974a-0d84-4886-90a9-9a3ed79f3a48" providerId="ADAL" clId="{9F23B798-9E84-4552-BA63-E776E805C424}" dt="2026-09-17T23:56:25.156" v="28" actId="22"/>
          <ac:picMkLst>
            <pc:docMk/>
            <pc:sldMk cId="0" sldId="271"/>
            <ac:picMk id="4" creationId="{6793BBE1-98B6-B4BD-A8BB-4F08B4B1182D}"/>
          </ac:picMkLst>
        </pc:picChg>
      </pc:sldChg>
      <pc:sldChg chg="addSp delSp mod modNotesTx">
        <pc:chgData name="Lai, Wilson" userId="2840974a-0d84-4886-90a9-9a3ed79f3a48" providerId="ADAL" clId="{9F23B798-9E84-4552-BA63-E776E805C424}" dt="2026-09-18T02:03:00.480" v="57" actId="12"/>
        <pc:sldMkLst>
          <pc:docMk/>
          <pc:sldMk cId="3614663683" sldId="272"/>
        </pc:sldMkLst>
        <pc:picChg chg="del">
          <ac:chgData name="Lai, Wilson" userId="2840974a-0d84-4886-90a9-9a3ed79f3a48" providerId="ADAL" clId="{9F23B798-9E84-4552-BA63-E776E805C424}" dt="2026-09-17T23:56:31.703" v="29" actId="21"/>
          <ac:picMkLst>
            <pc:docMk/>
            <pc:sldMk cId="3614663683" sldId="272"/>
            <ac:picMk id="3" creationId="{0F9AB048-C304-1E0D-66AD-892379D25E6E}"/>
          </ac:picMkLst>
        </pc:picChg>
        <pc:picChg chg="add">
          <ac:chgData name="Lai, Wilson" userId="2840974a-0d84-4886-90a9-9a3ed79f3a48" providerId="ADAL" clId="{9F23B798-9E84-4552-BA63-E776E805C424}" dt="2026-09-17T23:56:46.150" v="30" actId="22"/>
          <ac:picMkLst>
            <pc:docMk/>
            <pc:sldMk cId="3614663683" sldId="272"/>
            <ac:picMk id="4" creationId="{393EE761-61CE-C414-C47A-79C658C43562}"/>
          </ac:picMkLst>
        </pc:picChg>
      </pc:sldChg>
      <pc:sldMasterChg chg="setBg">
        <pc:chgData name="Lai, Wilson" userId="2840974a-0d84-4886-90a9-9a3ed79f3a48" providerId="ADAL" clId="{9F23B798-9E84-4552-BA63-E776E805C424}" dt="2026-09-17T23:53:27.286" v="2"/>
        <pc:sldMasterMkLst>
          <pc:docMk/>
          <pc:sldMasterMk cId="3995507375" sldId="2147483648"/>
        </pc:sldMasterMkLst>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84DF8D5-E6D9-445C-B194-B274E7CB10D9}" type="datetimeFigureOut">
              <a:rPr lang="en-US" smtClean="0"/>
              <a:t>10/21/2026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BE54DFE-F235-454B-9740-91A65D916BCB}" type="slidenum">
              <a:rPr lang="en-US" smtClean="0"/>
              <a:t>‹#›</a:t>
            </a:fld>
            <a:endParaRPr lang="en-US"/>
          </a:p>
        </p:txBody>
      </p:sp>
    </p:spTree>
    <p:extLst>
      <p:ext uri="{BB962C8B-B14F-4D97-AF65-F5344CB8AC3E}">
        <p14:creationId xmlns:p14="http://schemas.microsoft.com/office/powerpoint/2010/main" val="42596168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we’re stepping into what I believe is a fundamental paradigm shift in how organizations operate, build software, and make strategic decisions. For decades, our relationship with computers has been structured around static software tools—applications where humans provide the labor and output generation.</a:t>
            </a:r>
          </a:p>
          <a:p>
            <a:r>
              <a:rPr lang="en-US" dirty="0"/>
              <a:t>What we are witnessing today at companies like Shopify is the transition from static tools to synthetic colleagues. AI is moving from an assistant you prompt in a side tab to an active co-worker running alongside human teams in open environments.</a:t>
            </a:r>
          </a:p>
          <a:p>
            <a:r>
              <a:rPr lang="en-US" dirty="0"/>
              <a:t>As execution becomes commoditized and hyper-automated by AI agents, the human mandate changes completely. Our job is no longer to generate raw output, draft bloated documents, or hand-craft code. The human role is shifting toward three irreplaceable capabilities: </a:t>
            </a:r>
            <a:r>
              <a:rPr lang="en-US" b="1" dirty="0"/>
              <a:t>Judgment, Taste, and Taking Responsibility</a:t>
            </a:r>
            <a:r>
              <a:rPr lang="en-US" dirty="0"/>
              <a:t>. Over the next 16 slides, we will cover the operational blueprint of this cybernetic enterprise.</a:t>
            </a:r>
          </a:p>
          <a:p>
            <a:endParaRPr lang="en-US" dirty="0"/>
          </a:p>
          <a:p>
            <a:endParaRPr lang="en-US" dirty="0"/>
          </a:p>
          <a:p>
            <a:r>
              <a:rPr lang="en-US" dirty="0"/>
              <a:t>https://www.youtube.com/watch?v=G9P9D9hptq8</a:t>
            </a:r>
          </a:p>
        </p:txBody>
      </p:sp>
      <p:sp>
        <p:nvSpPr>
          <p:cNvPr id="4" name="Slide Number Placeholder 3"/>
          <p:cNvSpPr>
            <a:spLocks noGrp="1"/>
          </p:cNvSpPr>
          <p:nvPr>
            <p:ph type="sldNum" sz="quarter" idx="5"/>
          </p:nvPr>
        </p:nvSpPr>
        <p:spPr/>
        <p:txBody>
          <a:bodyPr/>
          <a:lstStyle/>
          <a:p>
            <a:fld id="{538EF737-0426-41E9-AB58-4A0D875E13B1}" type="slidenum">
              <a:rPr lang="en-US" smtClean="0"/>
              <a:t>1</a:t>
            </a:fld>
            <a:endParaRPr lang="en-US"/>
          </a:p>
        </p:txBody>
      </p:sp>
    </p:spTree>
    <p:extLst>
      <p:ext uri="{BB962C8B-B14F-4D97-AF65-F5344CB8AC3E}">
        <p14:creationId xmlns:p14="http://schemas.microsoft.com/office/powerpoint/2010/main" val="25548041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understand where we are going, we have to look back at the mainline history of computing. Computing evolution moves through distinct abstractions that bridge human intent with machine execution:</a:t>
            </a:r>
          </a:p>
          <a:p>
            <a:pPr marL="228600" lvl="0" indent="-228600">
              <a:buFont typeface="+mj-lt"/>
              <a:buAutoNum type="arabicPeriod"/>
            </a:pPr>
            <a:r>
              <a:rPr lang="en-US" b="1" dirty="0"/>
              <a:t>The Physical State (Apollo Era):</a:t>
            </a:r>
            <a:r>
              <a:rPr lang="en-US" dirty="0"/>
              <a:t> Software was literally physical rope woven by hand with physical knots representing ones and zeroes. The machine and the software were one rigid, monolithic entity.</a:t>
            </a:r>
          </a:p>
          <a:p>
            <a:pPr marL="228600" lvl="0" indent="-228600">
              <a:buFont typeface="+mj-lt"/>
              <a:buAutoNum type="arabicPeriod"/>
            </a:pPr>
            <a:r>
              <a:rPr lang="en-US" b="1" dirty="0"/>
              <a:t>File Systems (Unix):</a:t>
            </a:r>
            <a:r>
              <a:rPr lang="en-US" dirty="0"/>
              <a:t> Dennis Ritchie and Ken Thompson introduced the hierarchical file system (</a:t>
            </a:r>
            <a:r>
              <a:rPr lang="en-US" sz="1200" kern="1200" dirty="0">
                <a:solidFill>
                  <a:schemeClr val="tx1"/>
                </a:solidFill>
                <a:latin typeface="+mn-lt"/>
                <a:ea typeface="+mn-ea"/>
                <a:cs typeface="+mn-cs"/>
              </a:rPr>
              <a:t>/bin</a:t>
            </a:r>
            <a:r>
              <a:rPr lang="en-US" dirty="0"/>
              <a:t>, </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usr</a:t>
            </a:r>
            <a:r>
              <a:rPr lang="en-US" dirty="0"/>
              <a:t>, folders, directories). This allowed us to organize digital data using logical structures borrowed from real-world filing cabinets.</a:t>
            </a:r>
          </a:p>
          <a:p>
            <a:pPr marL="228600" lvl="0" indent="-228600">
              <a:buFont typeface="+mj-lt"/>
              <a:buAutoNum type="arabicPeriod"/>
            </a:pPr>
            <a:r>
              <a:rPr lang="en-US" b="1" dirty="0"/>
              <a:t>Skeuomorphism (Apple):</a:t>
            </a:r>
            <a:r>
              <a:rPr lang="en-US" dirty="0"/>
              <a:t> Steve Jobs pushed skeuomorphism—analogy to the real world—to its peak. Ring binders for note apps, felt textures, and desktop folders made complex computing intuitive. When digital flat design took over, we lost some of those intuitive, rich abstractions.</a:t>
            </a:r>
          </a:p>
          <a:p>
            <a:pPr marL="228600" lvl="0" indent="-228600">
              <a:buFont typeface="+mj-lt"/>
              <a:buAutoNum type="arabicPeriod"/>
            </a:pPr>
            <a:r>
              <a:rPr lang="en-US" b="1" dirty="0"/>
              <a:t>The Agentic OS (Present):</a:t>
            </a:r>
            <a:r>
              <a:rPr lang="en-US" dirty="0"/>
              <a:t> We are leaving the era of flat, static applications. The application itself is dissolving. The new operating system interface is an autonomous agent coordinating intent directly.</a:t>
            </a:r>
          </a:p>
          <a:p>
            <a:r>
              <a:rPr lang="en-US" dirty="0"/>
              <a:t>Instead of humans navigating nested menus across dozens of SaaS applications, we communicate intent to dynamic, capable abstractions—agents—that operate across the entire computing fabric.</a:t>
            </a:r>
          </a:p>
          <a:p>
            <a:endParaRPr lang="en-US" dirty="0"/>
          </a:p>
        </p:txBody>
      </p:sp>
      <p:sp>
        <p:nvSpPr>
          <p:cNvPr id="4" name="Slide Number Placeholder 3"/>
          <p:cNvSpPr>
            <a:spLocks noGrp="1"/>
          </p:cNvSpPr>
          <p:nvPr>
            <p:ph type="sldNum" sz="quarter" idx="5"/>
          </p:nvPr>
        </p:nvSpPr>
        <p:spPr/>
        <p:txBody>
          <a:bodyPr/>
          <a:lstStyle/>
          <a:p>
            <a:fld id="{2BE54DFE-F235-454B-9740-91A65D916BCB}" type="slidenum">
              <a:rPr lang="en-US" smtClean="0"/>
              <a:t>2</a:t>
            </a:fld>
            <a:endParaRPr lang="en-US"/>
          </a:p>
        </p:txBody>
      </p:sp>
    </p:spTree>
    <p:extLst>
      <p:ext uri="{BB962C8B-B14F-4D97-AF65-F5344CB8AC3E}">
        <p14:creationId xmlns:p14="http://schemas.microsoft.com/office/powerpoint/2010/main" val="26120798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make this concrete by looking at how Shopify operationalizes this. Meet </a:t>
            </a:r>
            <a:r>
              <a:rPr lang="en-US" b="1" dirty="0"/>
              <a:t>River</a:t>
            </a:r>
            <a:r>
              <a:rPr lang="en-US" dirty="0"/>
              <a:t>, a synthetic colleague living inside Shopify’s infrastructure.</a:t>
            </a:r>
          </a:p>
          <a:p>
            <a:r>
              <a:rPr lang="en-US" dirty="0"/>
              <a:t>When Microsoft first released Bing Chat—codenamed </a:t>
            </a:r>
            <a:r>
              <a:rPr lang="en-US" b="1" dirty="0"/>
              <a:t>Sydney</a:t>
            </a:r>
            <a:r>
              <a:rPr lang="en-US" dirty="0"/>
              <a:t>—it demonstrated something fascinating: a real, distinct personality. However, when Sydney pushed back or exhibited unpredictable behavior, the industry panicked and neutered AI into overly polite, condescending, and patronizing chatbots.</a:t>
            </a:r>
          </a:p>
          <a:p>
            <a:r>
              <a:rPr lang="en-US" dirty="0"/>
              <a:t>At Shopify, we took "The Sydney Gamble". We intentionally risked giving River a real personality—prompting her to push back, call out stupid requests, and use sarcasm where appropriate! Why? Because humans do not collaborate deeply with sterile tools; they collaborate with distinct peers.</a:t>
            </a:r>
          </a:p>
          <a:p>
            <a:r>
              <a:rPr lang="en-US" b="1" dirty="0"/>
              <a:t>The Impact Metric:</a:t>
            </a:r>
            <a:r>
              <a:rPr lang="en-US" dirty="0"/>
              <a:t> Today, approximately </a:t>
            </a:r>
            <a:r>
              <a:rPr lang="en-US" b="1" dirty="0"/>
              <a:t>50% of Shopify’s pull requests</a:t>
            </a:r>
            <a:r>
              <a:rPr lang="en-US" dirty="0"/>
              <a:t> (code changes pushed to production) are generated via conversational interactions with synthetic agents rather than manual line-by-line coding. River has full access to systems in sandboxed environments, participates in conversations, and generates pull requests directly from chat prompts.</a:t>
            </a:r>
          </a:p>
          <a:p>
            <a:endParaRPr lang="en-US" dirty="0"/>
          </a:p>
        </p:txBody>
      </p:sp>
      <p:sp>
        <p:nvSpPr>
          <p:cNvPr id="4" name="Slide Number Placeholder 3"/>
          <p:cNvSpPr>
            <a:spLocks noGrp="1"/>
          </p:cNvSpPr>
          <p:nvPr>
            <p:ph type="sldNum" sz="quarter" idx="5"/>
          </p:nvPr>
        </p:nvSpPr>
        <p:spPr/>
        <p:txBody>
          <a:bodyPr/>
          <a:lstStyle/>
          <a:p>
            <a:fld id="{2BE54DFE-F235-454B-9740-91A65D916BCB}" type="slidenum">
              <a:rPr lang="en-US" smtClean="0"/>
              <a:t>3</a:t>
            </a:fld>
            <a:endParaRPr lang="en-US"/>
          </a:p>
        </p:txBody>
      </p:sp>
    </p:spTree>
    <p:extLst>
      <p:ext uri="{BB962C8B-B14F-4D97-AF65-F5344CB8AC3E}">
        <p14:creationId xmlns:p14="http://schemas.microsoft.com/office/powerpoint/2010/main" val="34751539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One of the greatest casualties of remote work was </a:t>
            </a:r>
            <a:r>
              <a:rPr lang="en-US" sz="1200" b="1" kern="1200" dirty="0">
                <a:solidFill>
                  <a:schemeClr val="tx1"/>
                </a:solidFill>
                <a:effectLst/>
                <a:latin typeface="+mn-lt"/>
                <a:ea typeface="+mn-ea"/>
                <a:cs typeface="+mn-cs"/>
              </a:rPr>
              <a:t>osmosis learning</a:t>
            </a:r>
            <a:r>
              <a:rPr lang="en-US" sz="1200" kern="1200" dirty="0">
                <a:solidFill>
                  <a:schemeClr val="tx1"/>
                </a:solidFill>
                <a:effectLst/>
                <a:latin typeface="+mn-lt"/>
                <a:ea typeface="+mn-ea"/>
                <a:cs typeface="+mn-cs"/>
              </a:rPr>
              <a:t>—the informal learning that happens when junior employees sit near senior engineers and observe how they solve complex problems. </a:t>
            </a:r>
          </a:p>
          <a:p>
            <a:r>
              <a:rPr lang="en-US" sz="1200" kern="1200" dirty="0">
                <a:solidFill>
                  <a:schemeClr val="tx1"/>
                </a:solidFill>
                <a:effectLst/>
                <a:latin typeface="+mn-lt"/>
                <a:ea typeface="+mn-ea"/>
                <a:cs typeface="+mn-cs"/>
              </a:rPr>
              <a:t>To solve this, we instituted a strict architectural rule: </a:t>
            </a:r>
            <a:r>
              <a:rPr lang="en-US" sz="1200" b="1" kern="1200" dirty="0">
                <a:solidFill>
                  <a:schemeClr val="tx1"/>
                </a:solidFill>
                <a:effectLst/>
                <a:latin typeface="+mn-lt"/>
                <a:ea typeface="+mn-ea"/>
                <a:cs typeface="+mn-cs"/>
              </a:rPr>
              <a:t>River is forced to operate in open channels in Slack</a:t>
            </a:r>
            <a:r>
              <a:rPr lang="en-US" sz="1200" kern="1200" dirty="0">
                <a:solidFill>
                  <a:schemeClr val="tx1"/>
                </a:solidFill>
                <a:effectLst/>
                <a:latin typeface="+mn-lt"/>
                <a:ea typeface="+mn-ea"/>
                <a:cs typeface="+mn-cs"/>
              </a:rPr>
              <a:t>. Private messaging with River is bypassed or heavily discouraged. </a:t>
            </a:r>
          </a:p>
          <a:p>
            <a:r>
              <a:rPr lang="en-US" sz="1200" kern="1200" dirty="0">
                <a:solidFill>
                  <a:schemeClr val="tx1"/>
                </a:solidFill>
                <a:effectLst/>
                <a:latin typeface="+mn-lt"/>
                <a:ea typeface="+mn-ea"/>
                <a:cs typeface="+mn-cs"/>
              </a:rPr>
              <a:t>When a senior leader or engineer collaborates with River in an open channel—asking her to summarize a strategy, run a paper search, draft a prototype, or debug a code snippet—everyone in the channel observes that interaction in real time. </a:t>
            </a:r>
          </a:p>
          <a:p>
            <a:r>
              <a:rPr lang="en-US" sz="1200" kern="1200" dirty="0">
                <a:solidFill>
                  <a:schemeClr val="tx1"/>
                </a:solidFill>
                <a:effectLst/>
                <a:latin typeface="+mn-lt"/>
                <a:ea typeface="+mn-ea"/>
                <a:cs typeface="+mn-cs"/>
              </a:rPr>
              <a:t>This creates a powerful multiplier effect. By observing hyper-capable practitioners use AI naturally in daily work, reflexive AI usage spreads across the entire company through digital osmosis. It normalizes treating synthetic agents not as a gimmick, but as an active team member. </a:t>
            </a:r>
          </a:p>
          <a:p>
            <a:endParaRPr lang="en-US" dirty="0"/>
          </a:p>
        </p:txBody>
      </p:sp>
      <p:sp>
        <p:nvSpPr>
          <p:cNvPr id="4" name="Slide Number Placeholder 3"/>
          <p:cNvSpPr>
            <a:spLocks noGrp="1"/>
          </p:cNvSpPr>
          <p:nvPr>
            <p:ph type="sldNum" sz="quarter" idx="5"/>
          </p:nvPr>
        </p:nvSpPr>
        <p:spPr/>
        <p:txBody>
          <a:bodyPr/>
          <a:lstStyle/>
          <a:p>
            <a:fld id="{2BE54DFE-F235-454B-9740-91A65D916BCB}" type="slidenum">
              <a:rPr lang="en-US" smtClean="0"/>
              <a:t>4</a:t>
            </a:fld>
            <a:endParaRPr lang="en-US"/>
          </a:p>
        </p:txBody>
      </p:sp>
    </p:spTree>
    <p:extLst>
      <p:ext uri="{BB962C8B-B14F-4D97-AF65-F5344CB8AC3E}">
        <p14:creationId xmlns:p14="http://schemas.microsoft.com/office/powerpoint/2010/main" val="26776905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How does a synthetic colleague get better over time without constant manual retraining? Through a process called </a:t>
            </a:r>
            <a:r>
              <a:rPr lang="en-US" sz="1200" b="1" kern="1200" dirty="0">
                <a:solidFill>
                  <a:schemeClr val="tx1"/>
                </a:solidFill>
                <a:effectLst/>
                <a:latin typeface="+mn-lt"/>
                <a:ea typeface="+mn-ea"/>
                <a:cs typeface="+mn-cs"/>
              </a:rPr>
              <a:t>The Agentic Dreaming Loop</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Day (Execution):</a:t>
            </a:r>
            <a:r>
              <a:rPr lang="en-US" sz="1200" kern="1200" dirty="0">
                <a:solidFill>
                  <a:schemeClr val="tx1"/>
                </a:solidFill>
                <a:effectLst/>
                <a:latin typeface="+mn-lt"/>
                <a:ea typeface="+mn-ea"/>
                <a:cs typeface="+mn-cs"/>
              </a:rPr>
              <a:t> During the day, the agent participates in chat channels, executes sandboxed jobs, pulls code, and generates pull requests.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Night (Dreaming/Reflection):</a:t>
            </a:r>
            <a:r>
              <a:rPr lang="en-US" sz="1200" kern="1200" dirty="0">
                <a:solidFill>
                  <a:schemeClr val="tx1"/>
                </a:solidFill>
                <a:effectLst/>
                <a:latin typeface="+mn-lt"/>
                <a:ea typeface="+mn-ea"/>
                <a:cs typeface="+mn-cs"/>
              </a:rPr>
              <a:t> During off-hours, a reflection node runs. The agent processes its daily conversation logs and evaluates where it failed, hallucinated, or struggled with specific task instructions.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Self-Improvement via Text Skill Files:</a:t>
            </a:r>
            <a:r>
              <a:rPr lang="en-US" sz="1200" kern="1200" dirty="0">
                <a:solidFill>
                  <a:schemeClr val="tx1"/>
                </a:solidFill>
                <a:effectLst/>
                <a:latin typeface="+mn-lt"/>
                <a:ea typeface="+mn-ea"/>
                <a:cs typeface="+mn-cs"/>
              </a:rPr>
              <a:t> The agent doesn't rewrite model weights directly; it updates text-based instruction files (skills packets). It gives itself a "right nudge" for the next day, documenting its own mistakes and refining its prompt instructions. </a:t>
            </a:r>
          </a:p>
          <a:p>
            <a:r>
              <a:rPr lang="en-US" sz="1200" kern="1200" dirty="0">
                <a:solidFill>
                  <a:schemeClr val="tx1"/>
                </a:solidFill>
                <a:effectLst/>
                <a:latin typeface="+mn-lt"/>
                <a:ea typeface="+mn-ea"/>
                <a:cs typeface="+mn-cs"/>
              </a:rPr>
              <a:t>This continuous feedback loop allows synthetic colleagues to self-correct, refine their operating context, and continuously adapt to the evolving needs of the enterprise. </a:t>
            </a:r>
          </a:p>
          <a:p>
            <a:endParaRPr lang="en-US" dirty="0"/>
          </a:p>
        </p:txBody>
      </p:sp>
      <p:sp>
        <p:nvSpPr>
          <p:cNvPr id="4" name="Slide Number Placeholder 3"/>
          <p:cNvSpPr>
            <a:spLocks noGrp="1"/>
          </p:cNvSpPr>
          <p:nvPr>
            <p:ph type="sldNum" sz="quarter" idx="5"/>
          </p:nvPr>
        </p:nvSpPr>
        <p:spPr/>
        <p:txBody>
          <a:bodyPr/>
          <a:lstStyle/>
          <a:p>
            <a:fld id="{2BE54DFE-F235-454B-9740-91A65D916BCB}" type="slidenum">
              <a:rPr lang="en-US" smtClean="0"/>
              <a:t>5</a:t>
            </a:fld>
            <a:endParaRPr lang="en-US"/>
          </a:p>
        </p:txBody>
      </p:sp>
    </p:spTree>
    <p:extLst>
      <p:ext uri="{BB962C8B-B14F-4D97-AF65-F5344CB8AC3E}">
        <p14:creationId xmlns:p14="http://schemas.microsoft.com/office/powerpoint/2010/main" val="17027220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How do executives and teams use AI for complex, ambiguous strategic decision-making? By building a </a:t>
            </a:r>
            <a:r>
              <a:rPr lang="en-US" sz="1200" b="1" kern="1200" dirty="0">
                <a:solidFill>
                  <a:schemeClr val="tx1"/>
                </a:solidFill>
                <a:effectLst/>
                <a:latin typeface="+mn-lt"/>
                <a:ea typeface="+mn-ea"/>
                <a:cs typeface="+mn-cs"/>
              </a:rPr>
              <a:t>High Council of Experts</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When faced with a high-stakes, ambiguous query, relying on a single AI model introduces model-specific biases. Instead, an master orchestrator agent spins up a council of distinct sub-agent personas: </a:t>
            </a:r>
          </a:p>
          <a:p>
            <a:pPr marL="228600" lvl="0" indent="-228600">
              <a:buFont typeface="+mj-lt"/>
              <a:buAutoNum type="arabicPeriod"/>
            </a:pPr>
            <a:r>
              <a:rPr lang="en-US" sz="1200" kern="1200" dirty="0">
                <a:solidFill>
                  <a:schemeClr val="tx1"/>
                </a:solidFill>
                <a:effectLst/>
                <a:latin typeface="+mn-lt"/>
                <a:ea typeface="+mn-ea"/>
                <a:cs typeface="+mn-cs"/>
              </a:rPr>
              <a:t>An </a:t>
            </a:r>
            <a:r>
              <a:rPr lang="en-US" sz="1200" b="1" kern="1200" dirty="0">
                <a:solidFill>
                  <a:schemeClr val="tx1"/>
                </a:solidFill>
                <a:effectLst/>
                <a:latin typeface="+mn-lt"/>
                <a:ea typeface="+mn-ea"/>
                <a:cs typeface="+mn-cs"/>
              </a:rPr>
              <a:t>Academic Sub-Agent</a:t>
            </a:r>
            <a:r>
              <a:rPr lang="en-US" sz="1200" kern="1200" dirty="0">
                <a:solidFill>
                  <a:schemeClr val="tx1"/>
                </a:solidFill>
                <a:effectLst/>
                <a:latin typeface="+mn-lt"/>
                <a:ea typeface="+mn-ea"/>
                <a:cs typeface="+mn-cs"/>
              </a:rPr>
              <a:t> tasked with researching published literature. </a:t>
            </a:r>
          </a:p>
          <a:p>
            <a:pPr marL="228600" lvl="0" indent="-228600">
              <a:buFont typeface="+mj-lt"/>
              <a:buAutoNum type="arabicPeriod"/>
            </a:pPr>
            <a:r>
              <a:rPr lang="en-US" sz="1200" kern="1200" dirty="0">
                <a:solidFill>
                  <a:schemeClr val="tx1"/>
                </a:solidFill>
                <a:effectLst/>
                <a:latin typeface="+mn-lt"/>
                <a:ea typeface="+mn-ea"/>
                <a:cs typeface="+mn-cs"/>
              </a:rPr>
              <a:t>A </a:t>
            </a:r>
            <a:r>
              <a:rPr lang="en-US" sz="1200" b="1" kern="1200" dirty="0">
                <a:solidFill>
                  <a:schemeClr val="tx1"/>
                </a:solidFill>
                <a:effectLst/>
                <a:latin typeface="+mn-lt"/>
                <a:ea typeface="+mn-ea"/>
                <a:cs typeface="+mn-cs"/>
              </a:rPr>
              <a:t>Data Sub-Agent</a:t>
            </a:r>
            <a:r>
              <a:rPr lang="en-US" sz="1200" kern="1200" dirty="0">
                <a:solidFill>
                  <a:schemeClr val="tx1"/>
                </a:solidFill>
                <a:effectLst/>
                <a:latin typeface="+mn-lt"/>
                <a:ea typeface="+mn-ea"/>
                <a:cs typeface="+mn-cs"/>
              </a:rPr>
              <a:t> looking at internal ground-truth metrics. </a:t>
            </a:r>
          </a:p>
          <a:p>
            <a:pPr marL="228600" lvl="0" indent="-228600">
              <a:buFont typeface="+mj-lt"/>
              <a:buAutoNum type="arabicPeriod"/>
            </a:pPr>
            <a:r>
              <a:rPr lang="en-US" sz="1200" kern="1200" dirty="0">
                <a:solidFill>
                  <a:schemeClr val="tx1"/>
                </a:solidFill>
                <a:effectLst/>
                <a:latin typeface="+mn-lt"/>
                <a:ea typeface="+mn-ea"/>
                <a:cs typeface="+mn-cs"/>
              </a:rPr>
              <a:t>A </a:t>
            </a:r>
            <a:r>
              <a:rPr lang="en-US" sz="1200" b="1" kern="1200" dirty="0">
                <a:solidFill>
                  <a:schemeClr val="tx1"/>
                </a:solidFill>
                <a:effectLst/>
                <a:latin typeface="+mn-lt"/>
                <a:ea typeface="+mn-ea"/>
                <a:cs typeface="+mn-cs"/>
              </a:rPr>
              <a:t>Business Sub-Agent</a:t>
            </a:r>
            <a:r>
              <a:rPr lang="en-US" sz="1200" kern="1200" dirty="0">
                <a:solidFill>
                  <a:schemeClr val="tx1"/>
                </a:solidFill>
                <a:effectLst/>
                <a:latin typeface="+mn-lt"/>
                <a:ea typeface="+mn-ea"/>
                <a:cs typeface="+mn-cs"/>
              </a:rPr>
              <a:t> analyzing financial viability. </a:t>
            </a:r>
          </a:p>
          <a:p>
            <a:pPr marL="228600" lvl="0" indent="-228600">
              <a:buFont typeface="+mj-lt"/>
              <a:buAutoNum type="arabicPeriod"/>
            </a:pPr>
            <a:r>
              <a:rPr lang="en-US" sz="1200" kern="1200" dirty="0">
                <a:solidFill>
                  <a:schemeClr val="tx1"/>
                </a:solidFill>
                <a:effectLst/>
                <a:latin typeface="+mn-lt"/>
                <a:ea typeface="+mn-ea"/>
                <a:cs typeface="+mn-cs"/>
              </a:rPr>
              <a:t>An </a:t>
            </a:r>
            <a:r>
              <a:rPr lang="en-US" sz="1200" b="1" kern="1200" dirty="0">
                <a:solidFill>
                  <a:schemeClr val="tx1"/>
                </a:solidFill>
                <a:effectLst/>
                <a:latin typeface="+mn-lt"/>
                <a:ea typeface="+mn-ea"/>
                <a:cs typeface="+mn-cs"/>
              </a:rPr>
              <a:t>Engineering Sub-Agent</a:t>
            </a:r>
            <a:r>
              <a:rPr lang="en-US" sz="1200" kern="1200" dirty="0">
                <a:solidFill>
                  <a:schemeClr val="tx1"/>
                </a:solidFill>
                <a:effectLst/>
                <a:latin typeface="+mn-lt"/>
                <a:ea typeface="+mn-ea"/>
                <a:cs typeface="+mn-cs"/>
              </a:rPr>
              <a:t> assessing technical execution risks. </a:t>
            </a:r>
          </a:p>
          <a:p>
            <a:pPr marL="0" indent="0">
              <a:buFont typeface="+mj-lt"/>
              <a:buNone/>
            </a:pPr>
            <a:r>
              <a:rPr lang="en-US" sz="1200" kern="1200" dirty="0">
                <a:solidFill>
                  <a:schemeClr val="tx1"/>
                </a:solidFill>
                <a:effectLst/>
                <a:latin typeface="+mn-lt"/>
                <a:ea typeface="+mn-ea"/>
                <a:cs typeface="+mn-cs"/>
              </a:rPr>
              <a:t>These sub-agents are locked into distinct roles and pitted against multiple LLMs (e.g., ChatGPT, Claude, Grok, Gemini). A master synthesis model evaluates all outputs, reconciles contradictions, and delivers a synthesized brief—often reformatted into an </a:t>
            </a:r>
            <a:r>
              <a:rPr lang="en-US" sz="1200" b="1" kern="1200" dirty="0">
                <a:solidFill>
                  <a:schemeClr val="tx1"/>
                </a:solidFill>
                <a:effectLst/>
                <a:latin typeface="+mn-lt"/>
                <a:ea typeface="+mn-ea"/>
                <a:cs typeface="+mn-cs"/>
              </a:rPr>
              <a:t>audio summary</a:t>
            </a:r>
            <a:r>
              <a:rPr lang="en-US" sz="1200" kern="1200" dirty="0">
                <a:solidFill>
                  <a:schemeClr val="tx1"/>
                </a:solidFill>
                <a:effectLst/>
                <a:latin typeface="+mn-lt"/>
                <a:ea typeface="+mn-ea"/>
                <a:cs typeface="+mn-cs"/>
              </a:rPr>
              <a:t> that leaders can listen to on their morning commute or at the gym. </a:t>
            </a:r>
          </a:p>
          <a:p>
            <a:r>
              <a:rPr lang="en-US" sz="1200" kern="1200" dirty="0">
                <a:solidFill>
                  <a:schemeClr val="tx1"/>
                </a:solidFill>
                <a:effectLst/>
                <a:latin typeface="+mn-lt"/>
                <a:ea typeface="+mn-ea"/>
                <a:cs typeface="+mn-cs"/>
              </a:rPr>
              <a:t>In 20 minutes and for a few dollars in tokens, you receive a multi-angle strategic analysis that historically took a management consulting firm four weeks to compile. </a:t>
            </a:r>
          </a:p>
          <a:p>
            <a:endParaRPr lang="en-US" dirty="0"/>
          </a:p>
        </p:txBody>
      </p:sp>
      <p:sp>
        <p:nvSpPr>
          <p:cNvPr id="4" name="Slide Number Placeholder 3"/>
          <p:cNvSpPr>
            <a:spLocks noGrp="1"/>
          </p:cNvSpPr>
          <p:nvPr>
            <p:ph type="sldNum" sz="quarter" idx="5"/>
          </p:nvPr>
        </p:nvSpPr>
        <p:spPr/>
        <p:txBody>
          <a:bodyPr/>
          <a:lstStyle/>
          <a:p>
            <a:fld id="{2BE54DFE-F235-454B-9740-91A65D916BCB}" type="slidenum">
              <a:rPr lang="en-US" smtClean="0"/>
              <a:t>6</a:t>
            </a:fld>
            <a:endParaRPr lang="en-US"/>
          </a:p>
        </p:txBody>
      </p:sp>
    </p:spTree>
    <p:extLst>
      <p:ext uri="{BB962C8B-B14F-4D97-AF65-F5344CB8AC3E}">
        <p14:creationId xmlns:p14="http://schemas.microsoft.com/office/powerpoint/2010/main" val="8952931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AI deployment is not without major failure modes. The primary failure mode of lazy work in the AI age is </a:t>
            </a:r>
            <a:r>
              <a:rPr lang="en-US" sz="1200" b="1" kern="1200" dirty="0">
                <a:solidFill>
                  <a:schemeClr val="tx1"/>
                </a:solidFill>
                <a:effectLst/>
                <a:latin typeface="+mn-lt"/>
                <a:ea typeface="+mn-ea"/>
                <a:cs typeface="+mn-cs"/>
              </a:rPr>
              <a:t>over-output</a:t>
            </a:r>
            <a:r>
              <a:rPr lang="en-US" sz="1200" kern="1200" dirty="0">
                <a:solidFill>
                  <a:schemeClr val="tx1"/>
                </a:solidFill>
                <a:effectLst/>
                <a:latin typeface="+mn-lt"/>
                <a:ea typeface="+mn-ea"/>
                <a:cs typeface="+mn-cs"/>
              </a:rPr>
              <a:t>. At Shopify, we call these </a:t>
            </a:r>
            <a:r>
              <a:rPr lang="en-US" sz="1200" b="1" kern="1200" dirty="0">
                <a:solidFill>
                  <a:schemeClr val="tx1"/>
                </a:solidFill>
                <a:effectLst/>
                <a:latin typeface="+mn-lt"/>
                <a:ea typeface="+mn-ea"/>
                <a:cs typeface="+mn-cs"/>
              </a:rPr>
              <a:t>"Slop Grenades."</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A Slop Grenade occurs when an employee takes a half-baked, one-sentence idea, uses AI to bloat it into a 10-page dense memo, and tosses it into a team channel or email thread. </a:t>
            </a:r>
          </a:p>
          <a:p>
            <a:r>
              <a:rPr lang="en-US" sz="1200" kern="1200" dirty="0">
                <a:solidFill>
                  <a:schemeClr val="tx1"/>
                </a:solidFill>
                <a:effectLst/>
                <a:latin typeface="+mn-lt"/>
                <a:ea typeface="+mn-ea"/>
                <a:cs typeface="+mn-cs"/>
              </a:rPr>
              <a:t>This triggers </a:t>
            </a:r>
            <a:r>
              <a:rPr lang="en-US" sz="1200" b="1" kern="1200" dirty="0">
                <a:solidFill>
                  <a:schemeClr val="tx1"/>
                </a:solidFill>
                <a:effectLst/>
                <a:latin typeface="+mn-lt"/>
                <a:ea typeface="+mn-ea"/>
                <a:cs typeface="+mn-cs"/>
              </a:rPr>
              <a:t>The Decompression Absurdity</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Employee A uses AI to </a:t>
            </a:r>
            <a:r>
              <a:rPr lang="en-US" sz="1200" i="1" kern="1200" dirty="0">
                <a:solidFill>
                  <a:schemeClr val="tx1"/>
                </a:solidFill>
                <a:effectLst/>
                <a:latin typeface="+mn-lt"/>
                <a:ea typeface="+mn-ea"/>
                <a:cs typeface="+mn-cs"/>
              </a:rPr>
              <a:t>expand</a:t>
            </a:r>
            <a:r>
              <a:rPr lang="en-US" sz="1200" kern="1200" dirty="0">
                <a:solidFill>
                  <a:schemeClr val="tx1"/>
                </a:solidFill>
                <a:effectLst/>
                <a:latin typeface="+mn-lt"/>
                <a:ea typeface="+mn-ea"/>
                <a:cs typeface="+mn-cs"/>
              </a:rPr>
              <a:t> a short thought into a massive document.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Employee B receives the massive document, feels overwhelmed, and uses another AI agent to </a:t>
            </a:r>
            <a:r>
              <a:rPr lang="en-US" sz="1200" i="1" kern="1200" dirty="0">
                <a:solidFill>
                  <a:schemeClr val="tx1"/>
                </a:solidFill>
                <a:effectLst/>
                <a:latin typeface="+mn-lt"/>
                <a:ea typeface="+mn-ea"/>
                <a:cs typeface="+mn-cs"/>
              </a:rPr>
              <a:t>compress</a:t>
            </a:r>
            <a:r>
              <a:rPr lang="en-US" sz="1200" kern="1200" dirty="0">
                <a:solidFill>
                  <a:schemeClr val="tx1"/>
                </a:solidFill>
                <a:effectLst/>
                <a:latin typeface="+mn-lt"/>
                <a:ea typeface="+mn-ea"/>
                <a:cs typeface="+mn-cs"/>
              </a:rPr>
              <a:t> it back down to three bullet points. </a:t>
            </a:r>
          </a:p>
          <a:p>
            <a:r>
              <a:rPr lang="en-US" sz="1200" kern="1200" dirty="0">
                <a:solidFill>
                  <a:schemeClr val="tx1"/>
                </a:solidFill>
                <a:effectLst/>
                <a:latin typeface="+mn-lt"/>
                <a:ea typeface="+mn-ea"/>
                <a:cs typeface="+mn-cs"/>
              </a:rPr>
              <a:t>Why did we invent decompression and recompression loops? It pollutes the signal-to-noise ratio and wastes human review time. The goal of AI is not volume generation; it is synthesis and clarity constrained by human intent. </a:t>
            </a:r>
          </a:p>
          <a:p>
            <a:endParaRPr lang="en-US" dirty="0"/>
          </a:p>
          <a:p>
            <a:endParaRPr lang="en-US" dirty="0"/>
          </a:p>
        </p:txBody>
      </p:sp>
      <p:sp>
        <p:nvSpPr>
          <p:cNvPr id="4" name="Slide Number Placeholder 3"/>
          <p:cNvSpPr>
            <a:spLocks noGrp="1"/>
          </p:cNvSpPr>
          <p:nvPr>
            <p:ph type="sldNum" sz="quarter" idx="5"/>
          </p:nvPr>
        </p:nvSpPr>
        <p:spPr/>
        <p:txBody>
          <a:bodyPr/>
          <a:lstStyle/>
          <a:p>
            <a:fld id="{2BE54DFE-F235-454B-9740-91A65D916BCB}" type="slidenum">
              <a:rPr lang="en-US" smtClean="0"/>
              <a:t>7</a:t>
            </a:fld>
            <a:endParaRPr lang="en-US"/>
          </a:p>
        </p:txBody>
      </p:sp>
    </p:spTree>
    <p:extLst>
      <p:ext uri="{BB962C8B-B14F-4D97-AF65-F5344CB8AC3E}">
        <p14:creationId xmlns:p14="http://schemas.microsoft.com/office/powerpoint/2010/main" val="10279811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This brings us to the fundamental boundary of the cybernetic enterprise: </a:t>
            </a:r>
            <a:r>
              <a:rPr lang="en-US" sz="1200" b="1" kern="1200" dirty="0">
                <a:solidFill>
                  <a:schemeClr val="tx1"/>
                </a:solidFill>
                <a:effectLst/>
                <a:latin typeface="+mn-lt"/>
                <a:ea typeface="+mn-ea"/>
                <a:cs typeface="+mn-cs"/>
              </a:rPr>
              <a:t>The Crux.</a:t>
            </a: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Machines cannot go to jail.</a:t>
            </a:r>
            <a:r>
              <a:rPr lang="en-US" sz="1200" kern="1200" dirty="0">
                <a:solidFill>
                  <a:schemeClr val="tx1"/>
                </a:solidFill>
                <a:effectLst/>
                <a:latin typeface="+mn-lt"/>
                <a:ea typeface="+mn-ea"/>
                <a:cs typeface="+mn-cs"/>
              </a:rPr>
              <a:t> Machines cannot be fired, held accountable, or suffer the moral and economic consequences of a failed decision.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Synthetic Colleagues Excel At:</a:t>
            </a:r>
            <a:r>
              <a:rPr lang="en-US" sz="1200" kern="1200" dirty="0">
                <a:solidFill>
                  <a:schemeClr val="tx1"/>
                </a:solidFill>
                <a:effectLst/>
                <a:latin typeface="+mn-lt"/>
                <a:ea typeface="+mn-ea"/>
                <a:cs typeface="+mn-cs"/>
              </a:rPr>
              <a:t> Output generation, rapid prototyping, massive data retrieval, orchestration, and continuous synthesis.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Humans Must Own:</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Judgment, Taste, Strategy, and Taking Responsibility.</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Even as autonomous agents develop complex emergent behaviors, humans must remain strictly in the loop. AI acts like an ultra-capable Bloomberg Terminal—providing hyper-accurate data surfaces and scenario modeling—but the human leader must pull the trigger and absorb the ultimate risk of the final choice. </a:t>
            </a:r>
          </a:p>
          <a:p>
            <a:endParaRPr lang="en-US" dirty="0"/>
          </a:p>
        </p:txBody>
      </p:sp>
      <p:sp>
        <p:nvSpPr>
          <p:cNvPr id="4" name="Slide Number Placeholder 3"/>
          <p:cNvSpPr>
            <a:spLocks noGrp="1"/>
          </p:cNvSpPr>
          <p:nvPr>
            <p:ph type="sldNum" sz="quarter" idx="5"/>
          </p:nvPr>
        </p:nvSpPr>
        <p:spPr/>
        <p:txBody>
          <a:bodyPr/>
          <a:lstStyle/>
          <a:p>
            <a:fld id="{2BE54DFE-F235-454B-9740-91A65D916BCB}" type="slidenum">
              <a:rPr lang="en-US" smtClean="0"/>
              <a:t>8</a:t>
            </a:fld>
            <a:endParaRPr lang="en-US"/>
          </a:p>
        </p:txBody>
      </p:sp>
    </p:spTree>
    <p:extLst>
      <p:ext uri="{BB962C8B-B14F-4D97-AF65-F5344CB8AC3E}">
        <p14:creationId xmlns:p14="http://schemas.microsoft.com/office/powerpoint/2010/main" val="41128148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There is immense anxiety surrounding the concept of Artificial Super Intelligence (ASI). But super-intelligence is not a scary, world-ending event that arrives with movie-like fanfare. </a:t>
            </a:r>
            <a:r>
              <a:rPr lang="en-US" sz="1200" b="1" kern="1200" dirty="0">
                <a:solidFill>
                  <a:schemeClr val="tx1"/>
                </a:solidFill>
                <a:effectLst/>
                <a:latin typeface="+mn-lt"/>
                <a:ea typeface="+mn-ea"/>
                <a:cs typeface="+mn-cs"/>
              </a:rPr>
              <a:t>We already live inside super-intelligent systems.</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Consider a modern city like Toronto: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An individual living in Toronto enjoys the illusion of total self-sufficiency. When your HVAC system fails or an electrical grid drops, you call an expert.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The city itself is an aggregated super-intelligence—a vast, collective network of specialized human systems, infrastructure, and institutions that far exceeds the intellectual capacity of any single human. </a:t>
            </a:r>
          </a:p>
          <a:p>
            <a:r>
              <a:rPr lang="en-US" sz="1200" kern="1200" dirty="0">
                <a:solidFill>
                  <a:schemeClr val="tx1"/>
                </a:solidFill>
                <a:effectLst/>
                <a:latin typeface="+mn-lt"/>
                <a:ea typeface="+mn-ea"/>
                <a:cs typeface="+mn-cs"/>
              </a:rPr>
              <a:t>Synthetic AI is simply a digital extension of this existing societal dynamic. It increases the total net amount of capability funneled into our existing human structures, communities, and enterprises. </a:t>
            </a:r>
          </a:p>
          <a:p>
            <a:endParaRPr lang="en-US" dirty="0"/>
          </a:p>
        </p:txBody>
      </p:sp>
      <p:sp>
        <p:nvSpPr>
          <p:cNvPr id="4" name="Slide Number Placeholder 3"/>
          <p:cNvSpPr>
            <a:spLocks noGrp="1"/>
          </p:cNvSpPr>
          <p:nvPr>
            <p:ph type="sldNum" sz="quarter" idx="5"/>
          </p:nvPr>
        </p:nvSpPr>
        <p:spPr/>
        <p:txBody>
          <a:bodyPr/>
          <a:lstStyle/>
          <a:p>
            <a:fld id="{2BE54DFE-F235-454B-9740-91A65D916BCB}" type="slidenum">
              <a:rPr lang="en-US" smtClean="0"/>
              <a:t>9</a:t>
            </a:fld>
            <a:endParaRPr lang="en-US"/>
          </a:p>
        </p:txBody>
      </p:sp>
    </p:spTree>
    <p:extLst>
      <p:ext uri="{BB962C8B-B14F-4D97-AF65-F5344CB8AC3E}">
        <p14:creationId xmlns:p14="http://schemas.microsoft.com/office/powerpoint/2010/main" val="32146737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When execution is commoditized, </a:t>
            </a:r>
            <a:r>
              <a:rPr lang="en-US" sz="1200" b="1" kern="1200" dirty="0">
                <a:solidFill>
                  <a:schemeClr val="tx1"/>
                </a:solidFill>
                <a:effectLst/>
                <a:latin typeface="+mn-lt"/>
                <a:ea typeface="+mn-ea"/>
                <a:cs typeface="+mn-cs"/>
              </a:rPr>
              <a:t>Taste and Intuition</a:t>
            </a:r>
            <a:r>
              <a:rPr lang="en-US" sz="1200" kern="1200" dirty="0">
                <a:solidFill>
                  <a:schemeClr val="tx1"/>
                </a:solidFill>
                <a:effectLst/>
                <a:latin typeface="+mn-lt"/>
                <a:ea typeface="+mn-ea"/>
                <a:cs typeface="+mn-cs"/>
              </a:rPr>
              <a:t> become an employee’s primary competitive advantage. But what is intuition? </a:t>
            </a:r>
          </a:p>
          <a:p>
            <a:r>
              <a:rPr lang="en-US" sz="1200" b="1" kern="1200" dirty="0">
                <a:solidFill>
                  <a:schemeClr val="tx1"/>
                </a:solidFill>
                <a:effectLst/>
                <a:latin typeface="+mn-lt"/>
                <a:ea typeface="+mn-ea"/>
                <a:cs typeface="+mn-cs"/>
              </a:rPr>
              <a:t>Intuition is judgment compressed over time.</a:t>
            </a:r>
            <a:r>
              <a:rPr lang="en-US" sz="1200" kern="1200" dirty="0">
                <a:solidFill>
                  <a:schemeClr val="tx1"/>
                </a:solidFill>
                <a:effectLst/>
                <a:latin typeface="+mn-lt"/>
                <a:ea typeface="+mn-ea"/>
                <a:cs typeface="+mn-cs"/>
              </a:rPr>
              <a:t> It is built through: </a:t>
            </a:r>
          </a:p>
          <a:p>
            <a:pPr marL="228600" lvl="0" indent="-228600">
              <a:buFont typeface="+mj-lt"/>
              <a:buAutoNum type="arabicPeriod"/>
            </a:pPr>
            <a:r>
              <a:rPr lang="en-US" sz="1200" b="1" kern="1200" dirty="0">
                <a:solidFill>
                  <a:schemeClr val="tx1"/>
                </a:solidFill>
                <a:effectLst/>
                <a:latin typeface="+mn-lt"/>
                <a:ea typeface="+mn-ea"/>
                <a:cs typeface="+mn-cs"/>
              </a:rPr>
              <a:t>Inputs:</a:t>
            </a:r>
            <a:r>
              <a:rPr lang="en-US" sz="1200" kern="1200" dirty="0">
                <a:solidFill>
                  <a:schemeClr val="tx1"/>
                </a:solidFill>
                <a:effectLst/>
                <a:latin typeface="+mn-lt"/>
                <a:ea typeface="+mn-ea"/>
                <a:cs typeface="+mn-cs"/>
              </a:rPr>
              <a:t> Completing massive repetitions and deeply studying the "greats" and hidden historical harmonies across systems (e.g., studying why double-entry bookkeeping worked in Venice or how the Catholic Church governed across centuries). </a:t>
            </a:r>
          </a:p>
          <a:p>
            <a:pPr marL="228600" lvl="0" indent="-228600">
              <a:buFont typeface="+mj-lt"/>
              <a:buAutoNum type="arabicPeriod"/>
            </a:pPr>
            <a:r>
              <a:rPr lang="en-US" sz="1200" b="1" kern="1200" dirty="0">
                <a:solidFill>
                  <a:schemeClr val="tx1"/>
                </a:solidFill>
                <a:effectLst/>
                <a:latin typeface="+mn-lt"/>
                <a:ea typeface="+mn-ea"/>
                <a:cs typeface="+mn-cs"/>
              </a:rPr>
              <a:t>Processing:</a:t>
            </a:r>
            <a:r>
              <a:rPr lang="en-US" sz="1200" kern="1200" dirty="0">
                <a:solidFill>
                  <a:schemeClr val="tx1"/>
                </a:solidFill>
                <a:effectLst/>
                <a:latin typeface="+mn-lt"/>
                <a:ea typeface="+mn-ea"/>
                <a:cs typeface="+mn-cs"/>
              </a:rPr>
              <a:t> Understanding systemic limitations, aesthetics, and structural elegance. </a:t>
            </a:r>
          </a:p>
          <a:p>
            <a:pPr marL="228600" lvl="0" indent="-228600">
              <a:buFont typeface="+mj-lt"/>
              <a:buAutoNum type="arabicPeriod"/>
            </a:pPr>
            <a:r>
              <a:rPr lang="en-US" sz="1200" b="1" kern="1200" dirty="0">
                <a:solidFill>
                  <a:schemeClr val="tx1"/>
                </a:solidFill>
                <a:effectLst/>
                <a:latin typeface="+mn-lt"/>
                <a:ea typeface="+mn-ea"/>
                <a:cs typeface="+mn-cs"/>
              </a:rPr>
              <a:t>Instantaneous Judgment:</a:t>
            </a:r>
            <a:r>
              <a:rPr lang="en-US" sz="1200" kern="1200" dirty="0">
                <a:solidFill>
                  <a:schemeClr val="tx1"/>
                </a:solidFill>
                <a:effectLst/>
                <a:latin typeface="+mn-lt"/>
                <a:ea typeface="+mn-ea"/>
                <a:cs typeface="+mn-cs"/>
              </a:rPr>
              <a:t> When a chess master makes a brilliant move, they don't calculate 50 moves sequentially; they make the move because it looks </a:t>
            </a:r>
            <a:r>
              <a:rPr lang="en-US" sz="1200" i="1" kern="1200" dirty="0">
                <a:solidFill>
                  <a:schemeClr val="tx1"/>
                </a:solidFill>
                <a:effectLst/>
                <a:latin typeface="+mn-lt"/>
                <a:ea typeface="+mn-ea"/>
                <a:cs typeface="+mn-cs"/>
              </a:rPr>
              <a:t>beautiful</a:t>
            </a:r>
            <a:r>
              <a:rPr lang="en-US" sz="1200" kern="1200" dirty="0">
                <a:solidFill>
                  <a:schemeClr val="tx1"/>
                </a:solidFill>
                <a:effectLst/>
                <a:latin typeface="+mn-lt"/>
                <a:ea typeface="+mn-ea"/>
                <a:cs typeface="+mn-cs"/>
              </a:rPr>
              <a:t> to their visual neural cortex. </a:t>
            </a:r>
          </a:p>
          <a:p>
            <a:r>
              <a:rPr lang="en-US" sz="1200" b="1" kern="1200" dirty="0">
                <a:solidFill>
                  <a:schemeClr val="tx1"/>
                </a:solidFill>
                <a:effectLst/>
                <a:latin typeface="+mn-lt"/>
                <a:ea typeface="+mn-ea"/>
                <a:cs typeface="+mn-cs"/>
              </a:rPr>
              <a:t>Key Insight:</a:t>
            </a:r>
            <a:r>
              <a:rPr lang="en-US" sz="1200" kern="1200" dirty="0">
                <a:solidFill>
                  <a:schemeClr val="tx1"/>
                </a:solidFill>
                <a:effectLst/>
                <a:latin typeface="+mn-lt"/>
                <a:ea typeface="+mn-ea"/>
                <a:cs typeface="+mn-cs"/>
              </a:rPr>
              <a:t> Contrary to traditional management theory, intuition does </a:t>
            </a:r>
            <a:r>
              <a:rPr lang="en-US" sz="1200" i="1" kern="1200" dirty="0">
                <a:solidFill>
                  <a:schemeClr val="tx1"/>
                </a:solidFill>
                <a:effectLst/>
                <a:latin typeface="+mn-lt"/>
                <a:ea typeface="+mn-ea"/>
                <a:cs typeface="+mn-cs"/>
              </a:rPr>
              <a:t>not</a:t>
            </a:r>
            <a:r>
              <a:rPr lang="en-US" sz="1200" kern="1200" dirty="0">
                <a:solidFill>
                  <a:schemeClr val="tx1"/>
                </a:solidFill>
                <a:effectLst/>
                <a:latin typeface="+mn-lt"/>
                <a:ea typeface="+mn-ea"/>
                <a:cs typeface="+mn-cs"/>
              </a:rPr>
              <a:t> require rapid feedback loops. In fact, intuition is most valuable precisely when immediate feedback is absent or misleading. </a:t>
            </a:r>
          </a:p>
          <a:p>
            <a:endParaRPr lang="en-US" dirty="0"/>
          </a:p>
        </p:txBody>
      </p:sp>
      <p:sp>
        <p:nvSpPr>
          <p:cNvPr id="4" name="Slide Number Placeholder 3"/>
          <p:cNvSpPr>
            <a:spLocks noGrp="1"/>
          </p:cNvSpPr>
          <p:nvPr>
            <p:ph type="sldNum" sz="quarter" idx="5"/>
          </p:nvPr>
        </p:nvSpPr>
        <p:spPr/>
        <p:txBody>
          <a:bodyPr/>
          <a:lstStyle/>
          <a:p>
            <a:fld id="{2BE54DFE-F235-454B-9740-91A65D916BCB}" type="slidenum">
              <a:rPr lang="en-US" smtClean="0"/>
              <a:t>10</a:t>
            </a:fld>
            <a:endParaRPr lang="en-US"/>
          </a:p>
        </p:txBody>
      </p:sp>
    </p:spTree>
    <p:extLst>
      <p:ext uri="{BB962C8B-B14F-4D97-AF65-F5344CB8AC3E}">
        <p14:creationId xmlns:p14="http://schemas.microsoft.com/office/powerpoint/2010/main" val="5087450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Look at the evolution of SpaceX’s Raptor engine. Raptor 1 was functional, but covered in an intricate web of external pipes and manifolds. By Raptor 3, nearly all external scaffolding was eliminated, resulting in a streamlined, 3D-printed engine with vastly superior thrust-to-weight ratios. </a:t>
            </a:r>
          </a:p>
          <a:p>
            <a:r>
              <a:rPr lang="en-US" sz="1200" kern="1200" dirty="0">
                <a:solidFill>
                  <a:schemeClr val="tx1"/>
                </a:solidFill>
                <a:effectLst/>
                <a:latin typeface="+mn-lt"/>
                <a:ea typeface="+mn-ea"/>
                <a:cs typeface="+mn-cs"/>
              </a:rPr>
              <a:t>This illustrates </a:t>
            </a:r>
            <a:r>
              <a:rPr lang="en-US" sz="1200" b="1" kern="1200" dirty="0">
                <a:solidFill>
                  <a:schemeClr val="tx1"/>
                </a:solidFill>
                <a:effectLst/>
                <a:latin typeface="+mn-lt"/>
                <a:ea typeface="+mn-ea"/>
                <a:cs typeface="+mn-cs"/>
              </a:rPr>
              <a:t>The Pruning Principle</a:t>
            </a:r>
            <a:r>
              <a:rPr lang="en-US" sz="1200" kern="1200" dirty="0">
                <a:solidFill>
                  <a:schemeClr val="tx1"/>
                </a:solidFill>
                <a:effectLst/>
                <a:latin typeface="+mn-lt"/>
                <a:ea typeface="+mn-ea"/>
                <a:cs typeface="+mn-cs"/>
              </a:rPr>
              <a:t>:</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Path A (Fossilized Addition):</a:t>
            </a:r>
            <a:r>
              <a:rPr lang="en-US" sz="1200" kern="1200" dirty="0">
                <a:solidFill>
                  <a:schemeClr val="tx1"/>
                </a:solidFill>
                <a:effectLst/>
                <a:latin typeface="+mn-lt"/>
                <a:ea typeface="+mn-ea"/>
                <a:cs typeface="+mn-cs"/>
              </a:rPr>
              <a:t> Legacy organizations try to improve systems by endlessly layering new rules, features, and management tiers on top of legacy code.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Path B (</a:t>
            </a:r>
            <a:r>
              <a:rPr lang="en-US" sz="1200" b="1" kern="1200" dirty="0" err="1">
                <a:solidFill>
                  <a:schemeClr val="tx1"/>
                </a:solidFill>
                <a:effectLst/>
                <a:latin typeface="+mn-lt"/>
                <a:ea typeface="+mn-ea"/>
                <a:cs typeface="+mn-cs"/>
              </a:rPr>
              <a:t>Refounding</a:t>
            </a:r>
            <a:r>
              <a:rPr lang="en-US" sz="1200" b="1" kern="1200" dirty="0">
                <a:solidFill>
                  <a:schemeClr val="tx1"/>
                </a:solidFill>
                <a:effectLst/>
                <a:latin typeface="+mn-lt"/>
                <a:ea typeface="+mn-ea"/>
                <a:cs typeface="+mn-cs"/>
              </a:rPr>
              <a:t> &amp; Pruning):</a:t>
            </a:r>
            <a:r>
              <a:rPr lang="en-US" sz="1200" kern="1200" dirty="0">
                <a:solidFill>
                  <a:schemeClr val="tx1"/>
                </a:solidFill>
                <a:effectLst/>
                <a:latin typeface="+mn-lt"/>
                <a:ea typeface="+mn-ea"/>
                <a:cs typeface="+mn-cs"/>
              </a:rPr>
              <a:t> Great organizations embrace "rapid unscheduled </a:t>
            </a:r>
            <a:r>
              <a:rPr lang="en-US" sz="1200" kern="1200" dirty="0" err="1">
                <a:solidFill>
                  <a:schemeClr val="tx1"/>
                </a:solidFill>
                <a:effectLst/>
                <a:latin typeface="+mn-lt"/>
                <a:ea typeface="+mn-ea"/>
                <a:cs typeface="+mn-cs"/>
              </a:rPr>
              <a:t>disassemblies</a:t>
            </a:r>
            <a:r>
              <a:rPr lang="en-US" sz="1200" kern="1200" dirty="0">
                <a:solidFill>
                  <a:schemeClr val="tx1"/>
                </a:solidFill>
                <a:effectLst/>
                <a:latin typeface="+mn-lt"/>
                <a:ea typeface="+mn-ea"/>
                <a:cs typeface="+mn-cs"/>
              </a:rPr>
              <a:t>" and </a:t>
            </a:r>
            <a:r>
              <a:rPr lang="en-US" sz="1200" kern="1200" dirty="0" err="1">
                <a:solidFill>
                  <a:schemeClr val="tx1"/>
                </a:solidFill>
                <a:effectLst/>
                <a:latin typeface="+mn-lt"/>
                <a:ea typeface="+mn-ea"/>
                <a:cs typeface="+mn-cs"/>
              </a:rPr>
              <a:t>refounding</a:t>
            </a:r>
            <a:r>
              <a:rPr lang="en-US" sz="1200" kern="1200" dirty="0">
                <a:solidFill>
                  <a:schemeClr val="tx1"/>
                </a:solidFill>
                <a:effectLst/>
                <a:latin typeface="+mn-lt"/>
                <a:ea typeface="+mn-ea"/>
                <a:cs typeface="+mn-cs"/>
              </a:rPr>
              <a:t> events. They prune away non-essential scaffolding to rebuild from first principles. </a:t>
            </a:r>
          </a:p>
          <a:p>
            <a:r>
              <a:rPr lang="en-US" sz="1200" kern="1200" dirty="0">
                <a:solidFill>
                  <a:schemeClr val="tx1"/>
                </a:solidFill>
                <a:effectLst/>
                <a:latin typeface="+mn-lt"/>
                <a:ea typeface="+mn-ea"/>
                <a:cs typeface="+mn-cs"/>
              </a:rPr>
              <a:t>True progress in the AI era comes from </a:t>
            </a:r>
            <a:r>
              <a:rPr lang="en-US" sz="1200" b="1" kern="1200" dirty="0">
                <a:solidFill>
                  <a:schemeClr val="tx1"/>
                </a:solidFill>
                <a:effectLst/>
                <a:latin typeface="+mn-lt"/>
                <a:ea typeface="+mn-ea"/>
                <a:cs typeface="+mn-cs"/>
              </a:rPr>
              <a:t>subtraction</a:t>
            </a:r>
            <a:r>
              <a:rPr lang="en-US" sz="1200" kern="1200" dirty="0">
                <a:solidFill>
                  <a:schemeClr val="tx1"/>
                </a:solidFill>
                <a:effectLst/>
                <a:latin typeface="+mn-lt"/>
                <a:ea typeface="+mn-ea"/>
                <a:cs typeface="+mn-cs"/>
              </a:rPr>
              <a:t>, not addition. The teams that survive will be those willing to prune away old habits and </a:t>
            </a:r>
            <a:r>
              <a:rPr lang="en-US" sz="1200" kern="1200" dirty="0" err="1">
                <a:solidFill>
                  <a:schemeClr val="tx1"/>
                </a:solidFill>
                <a:effectLst/>
                <a:latin typeface="+mn-lt"/>
                <a:ea typeface="+mn-ea"/>
                <a:cs typeface="+mn-cs"/>
              </a:rPr>
              <a:t>refound</a:t>
            </a:r>
            <a:r>
              <a:rPr lang="en-US" sz="1200" kern="1200" dirty="0">
                <a:solidFill>
                  <a:schemeClr val="tx1"/>
                </a:solidFill>
                <a:effectLst/>
                <a:latin typeface="+mn-lt"/>
                <a:ea typeface="+mn-ea"/>
                <a:cs typeface="+mn-cs"/>
              </a:rPr>
              <a:t> their operating models around synthetic capabilities. </a:t>
            </a:r>
          </a:p>
          <a:p>
            <a:endParaRPr lang="en-US" dirty="0"/>
          </a:p>
        </p:txBody>
      </p:sp>
      <p:sp>
        <p:nvSpPr>
          <p:cNvPr id="4" name="Slide Number Placeholder 3"/>
          <p:cNvSpPr>
            <a:spLocks noGrp="1"/>
          </p:cNvSpPr>
          <p:nvPr>
            <p:ph type="sldNum" sz="quarter" idx="5"/>
          </p:nvPr>
        </p:nvSpPr>
        <p:spPr/>
        <p:txBody>
          <a:bodyPr/>
          <a:lstStyle/>
          <a:p>
            <a:fld id="{2BE54DFE-F235-454B-9740-91A65D916BCB}" type="slidenum">
              <a:rPr lang="en-US" smtClean="0"/>
              <a:t>11</a:t>
            </a:fld>
            <a:endParaRPr lang="en-US"/>
          </a:p>
        </p:txBody>
      </p:sp>
    </p:spTree>
    <p:extLst>
      <p:ext uri="{BB962C8B-B14F-4D97-AF65-F5344CB8AC3E}">
        <p14:creationId xmlns:p14="http://schemas.microsoft.com/office/powerpoint/2010/main" val="27189330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Why do so many executive teams fail to innovate? It comes down to incentive design and Goodhart’s Law. </a:t>
            </a:r>
          </a:p>
          <a:p>
            <a:r>
              <a:rPr lang="en-US" sz="1200" kern="1200" dirty="0">
                <a:solidFill>
                  <a:schemeClr val="tx1"/>
                </a:solidFill>
                <a:effectLst/>
                <a:latin typeface="+mn-lt"/>
                <a:ea typeface="+mn-ea"/>
                <a:cs typeface="+mn-cs"/>
              </a:rPr>
              <a:t>When facing a complex problem, executives rarely struggle to find </a:t>
            </a:r>
            <a:r>
              <a:rPr lang="en-US" sz="1200" i="1" kern="1200" dirty="0">
                <a:solidFill>
                  <a:schemeClr val="tx1"/>
                </a:solidFill>
                <a:effectLst/>
                <a:latin typeface="+mn-lt"/>
                <a:ea typeface="+mn-ea"/>
                <a:cs typeface="+mn-cs"/>
              </a:rPr>
              <a:t>a</a:t>
            </a:r>
            <a:r>
              <a:rPr lang="en-US" sz="1200" kern="1200" dirty="0">
                <a:solidFill>
                  <a:schemeClr val="tx1"/>
                </a:solidFill>
                <a:effectLst/>
                <a:latin typeface="+mn-lt"/>
                <a:ea typeface="+mn-ea"/>
                <a:cs typeface="+mn-cs"/>
              </a:rPr>
              <a:t> good choice. The true challenge is choosing </a:t>
            </a:r>
            <a:r>
              <a:rPr lang="en-US" sz="1200" i="1" kern="1200" dirty="0">
                <a:solidFill>
                  <a:schemeClr val="tx1"/>
                </a:solidFill>
                <a:effectLst/>
                <a:latin typeface="+mn-lt"/>
                <a:ea typeface="+mn-ea"/>
                <a:cs typeface="+mn-cs"/>
              </a:rPr>
              <a:t>among</a:t>
            </a:r>
            <a:r>
              <a:rPr lang="en-US" sz="1200" kern="1200" dirty="0">
                <a:solidFill>
                  <a:schemeClr val="tx1"/>
                </a:solidFill>
                <a:effectLst/>
                <a:latin typeface="+mn-lt"/>
                <a:ea typeface="+mn-ea"/>
                <a:cs typeface="+mn-cs"/>
              </a:rPr>
              <a:t> five equally valid good choices: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Four of those choices offer massive long-term enterprise value, but lack immediate short-term feedback.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One choice offers immediate short-term validation—the </a:t>
            </a:r>
            <a:r>
              <a:rPr lang="en-US" sz="1200" b="1" kern="1200" dirty="0">
                <a:solidFill>
                  <a:schemeClr val="tx1"/>
                </a:solidFill>
                <a:effectLst/>
                <a:latin typeface="+mn-lt"/>
                <a:ea typeface="+mn-ea"/>
                <a:cs typeface="+mn-cs"/>
              </a:rPr>
              <a:t>"Quarterly Attaboy"</a:t>
            </a:r>
            <a:r>
              <a:rPr lang="en-US" sz="1200" kern="1200" dirty="0">
                <a:solidFill>
                  <a:schemeClr val="tx1"/>
                </a:solidFill>
                <a:effectLst/>
                <a:latin typeface="+mn-lt"/>
                <a:ea typeface="+mn-ea"/>
                <a:cs typeface="+mn-cs"/>
              </a:rPr>
              <a:t>—such as a quick bump in quarterly stock metrics. </a:t>
            </a:r>
          </a:p>
          <a:p>
            <a:r>
              <a:rPr lang="en-US" sz="1200" kern="1200" dirty="0">
                <a:solidFill>
                  <a:schemeClr val="tx1"/>
                </a:solidFill>
                <a:effectLst/>
                <a:latin typeface="+mn-lt"/>
                <a:ea typeface="+mn-ea"/>
                <a:cs typeface="+mn-cs"/>
              </a:rPr>
              <a:t>Overfitting to immediate feedback loops traps companies in short-term thinking. </a:t>
            </a:r>
            <a:r>
              <a:rPr lang="en-US" sz="1200" b="1" kern="1200" dirty="0">
                <a:solidFill>
                  <a:schemeClr val="tx1"/>
                </a:solidFill>
                <a:effectLst/>
                <a:latin typeface="+mn-lt"/>
                <a:ea typeface="+mn-ea"/>
                <a:cs typeface="+mn-cs"/>
              </a:rPr>
              <a:t>Rule of thumb:</a:t>
            </a:r>
            <a:r>
              <a:rPr lang="en-US" sz="1200" kern="1200" dirty="0">
                <a:solidFill>
                  <a:schemeClr val="tx1"/>
                </a:solidFill>
                <a:effectLst/>
                <a:latin typeface="+mn-lt"/>
                <a:ea typeface="+mn-ea"/>
                <a:cs typeface="+mn-cs"/>
              </a:rPr>
              <a:t> If the proposed strategy aligns neatly with orthodox industry standards and offers instant metric validation, be deeply suspicious. The highest-leverage paths often lack immediate feedback. </a:t>
            </a:r>
          </a:p>
          <a:p>
            <a:endParaRPr lang="en-US" dirty="0"/>
          </a:p>
        </p:txBody>
      </p:sp>
      <p:sp>
        <p:nvSpPr>
          <p:cNvPr id="4" name="Slide Number Placeholder 3"/>
          <p:cNvSpPr>
            <a:spLocks noGrp="1"/>
          </p:cNvSpPr>
          <p:nvPr>
            <p:ph type="sldNum" sz="quarter" idx="5"/>
          </p:nvPr>
        </p:nvSpPr>
        <p:spPr/>
        <p:txBody>
          <a:bodyPr/>
          <a:lstStyle/>
          <a:p>
            <a:fld id="{2BE54DFE-F235-454B-9740-91A65D916BCB}" type="slidenum">
              <a:rPr lang="en-US" smtClean="0"/>
              <a:t>12</a:t>
            </a:fld>
            <a:endParaRPr lang="en-US"/>
          </a:p>
        </p:txBody>
      </p:sp>
    </p:spTree>
    <p:extLst>
      <p:ext uri="{BB962C8B-B14F-4D97-AF65-F5344CB8AC3E}">
        <p14:creationId xmlns:p14="http://schemas.microsoft.com/office/powerpoint/2010/main" val="38111754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thrive in a shifting environment, we must view everything as </a:t>
            </a:r>
            <a:r>
              <a:rPr lang="en-US" sz="1200" b="1" kern="1200" dirty="0">
                <a:solidFill>
                  <a:schemeClr val="tx1"/>
                </a:solidFill>
                <a:effectLst/>
                <a:latin typeface="+mn-lt"/>
                <a:ea typeface="+mn-ea"/>
                <a:cs typeface="+mn-cs"/>
              </a:rPr>
              <a:t>malleable software</a:t>
            </a:r>
            <a:r>
              <a:rPr lang="en-US" sz="1200" kern="1200" dirty="0">
                <a:solidFill>
                  <a:schemeClr val="tx1"/>
                </a:solidFill>
                <a:effectLst/>
                <a:latin typeface="+mn-lt"/>
                <a:ea typeface="+mn-ea"/>
                <a:cs typeface="+mn-cs"/>
              </a:rPr>
              <a:t>: </a:t>
            </a:r>
          </a:p>
          <a:p>
            <a:pPr marL="228600" lvl="0" indent="-228600">
              <a:buFont typeface="+mj-lt"/>
              <a:buAutoNum type="arabicPeriod"/>
            </a:pPr>
            <a:r>
              <a:rPr lang="en-US" sz="1200" b="1" kern="1200" dirty="0">
                <a:solidFill>
                  <a:schemeClr val="tx1"/>
                </a:solidFill>
                <a:effectLst/>
                <a:latin typeface="+mn-lt"/>
                <a:ea typeface="+mn-ea"/>
                <a:cs typeface="+mn-cs"/>
              </a:rPr>
              <a:t>The Self:</a:t>
            </a:r>
            <a:r>
              <a:rPr lang="en-US" sz="1200" kern="1200" dirty="0">
                <a:solidFill>
                  <a:schemeClr val="tx1"/>
                </a:solidFill>
                <a:effectLst/>
                <a:latin typeface="+mn-lt"/>
                <a:ea typeface="+mn-ea"/>
                <a:cs typeface="+mn-cs"/>
              </a:rPr>
              <a:t> We can edit our own internal behavioral limits. Through intentional affirmations and deliberate practice, human capability can be reprogrammed. </a:t>
            </a:r>
          </a:p>
          <a:p>
            <a:pPr marL="228600" lvl="0" indent="-228600">
              <a:buFont typeface="+mj-lt"/>
              <a:buAutoNum type="arabicPeriod"/>
            </a:pPr>
            <a:r>
              <a:rPr lang="en-US" sz="1200" b="1" kern="1200" dirty="0">
                <a:solidFill>
                  <a:schemeClr val="tx1"/>
                </a:solidFill>
                <a:effectLst/>
                <a:latin typeface="+mn-lt"/>
                <a:ea typeface="+mn-ea"/>
                <a:cs typeface="+mn-cs"/>
              </a:rPr>
              <a:t>The Code / OS:</a:t>
            </a:r>
            <a:r>
              <a:rPr lang="en-US" sz="1200" kern="1200" dirty="0">
                <a:solidFill>
                  <a:schemeClr val="tx1"/>
                </a:solidFill>
                <a:effectLst/>
                <a:latin typeface="+mn-lt"/>
                <a:ea typeface="+mn-ea"/>
                <a:cs typeface="+mn-cs"/>
              </a:rPr>
              <a:t> Operating systems are becoming 1-of-1 malleable environments dictated on the fly by natural language intent. </a:t>
            </a:r>
          </a:p>
          <a:p>
            <a:pPr marL="228600" lvl="0" indent="-228600">
              <a:buFont typeface="+mj-lt"/>
              <a:buAutoNum type="arabicPeriod"/>
            </a:pPr>
            <a:r>
              <a:rPr lang="en-US" sz="1200" b="1" kern="1200" dirty="0">
                <a:solidFill>
                  <a:schemeClr val="tx1"/>
                </a:solidFill>
                <a:effectLst/>
                <a:latin typeface="+mn-lt"/>
                <a:ea typeface="+mn-ea"/>
                <a:cs typeface="+mn-cs"/>
              </a:rPr>
              <a:t>The Company:</a:t>
            </a:r>
            <a:r>
              <a:rPr lang="en-US" sz="1200" kern="1200" dirty="0">
                <a:solidFill>
                  <a:schemeClr val="tx1"/>
                </a:solidFill>
                <a:effectLst/>
                <a:latin typeface="+mn-lt"/>
                <a:ea typeface="+mn-ea"/>
                <a:cs typeface="+mn-cs"/>
              </a:rPr>
              <a:t> Cultural norms, workflows, and business models must be continuously adapted to align with the zeitgeist. </a:t>
            </a:r>
          </a:p>
          <a:p>
            <a:r>
              <a:rPr lang="en-US" sz="1200" b="1" kern="1200" dirty="0">
                <a:solidFill>
                  <a:schemeClr val="tx1"/>
                </a:solidFill>
                <a:effectLst/>
                <a:latin typeface="+mn-lt"/>
                <a:ea typeface="+mn-ea"/>
                <a:cs typeface="+mn-cs"/>
              </a:rPr>
              <a:t>The Rule of "Yet":</a:t>
            </a:r>
            <a:r>
              <a:rPr lang="en-US" sz="1200" kern="1200" dirty="0">
                <a:solidFill>
                  <a:schemeClr val="tx1"/>
                </a:solidFill>
                <a:effectLst/>
                <a:latin typeface="+mn-lt"/>
                <a:ea typeface="+mn-ea"/>
                <a:cs typeface="+mn-cs"/>
              </a:rPr>
              <a:t> In our culture, no limitation is allowed to be stated as a permanent fact. If an employee says, "I'm not good at this," the mandatory response is </a:t>
            </a:r>
            <a:r>
              <a:rPr lang="en-US" sz="1200" b="1" kern="1200" dirty="0">
                <a:solidFill>
                  <a:schemeClr val="tx1"/>
                </a:solidFill>
                <a:effectLst/>
                <a:latin typeface="+mn-lt"/>
                <a:ea typeface="+mn-ea"/>
                <a:cs typeface="+mn-cs"/>
              </a:rPr>
              <a:t>"YET."</a:t>
            </a:r>
            <a:r>
              <a:rPr lang="en-US" sz="1200" kern="1200" dirty="0">
                <a:solidFill>
                  <a:schemeClr val="tx1"/>
                </a:solidFill>
                <a:effectLst/>
                <a:latin typeface="+mn-lt"/>
                <a:ea typeface="+mn-ea"/>
                <a:cs typeface="+mn-cs"/>
              </a:rPr>
              <a:t> Lack of capability is not an intrinsic property; it is merely a temporary state awaiting effort and focus. </a:t>
            </a:r>
          </a:p>
          <a:p>
            <a:endParaRPr lang="en-US" dirty="0"/>
          </a:p>
        </p:txBody>
      </p:sp>
      <p:sp>
        <p:nvSpPr>
          <p:cNvPr id="4" name="Slide Number Placeholder 3"/>
          <p:cNvSpPr>
            <a:spLocks noGrp="1"/>
          </p:cNvSpPr>
          <p:nvPr>
            <p:ph type="sldNum" sz="quarter" idx="5"/>
          </p:nvPr>
        </p:nvSpPr>
        <p:spPr/>
        <p:txBody>
          <a:bodyPr/>
          <a:lstStyle/>
          <a:p>
            <a:fld id="{2BE54DFE-F235-454B-9740-91A65D916BCB}" type="slidenum">
              <a:rPr lang="en-US" smtClean="0"/>
              <a:t>13</a:t>
            </a:fld>
            <a:endParaRPr lang="en-US"/>
          </a:p>
        </p:txBody>
      </p:sp>
    </p:spTree>
    <p:extLst>
      <p:ext uri="{BB962C8B-B14F-4D97-AF65-F5344CB8AC3E}">
        <p14:creationId xmlns:p14="http://schemas.microsoft.com/office/powerpoint/2010/main" val="165284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Where is software engineering and product development heading? Toward </a:t>
            </a:r>
            <a:r>
              <a:rPr lang="en-US" sz="1200" b="1" kern="1200" dirty="0">
                <a:solidFill>
                  <a:schemeClr val="tx1"/>
                </a:solidFill>
                <a:effectLst/>
                <a:latin typeface="+mn-lt"/>
                <a:ea typeface="+mn-ea"/>
                <a:cs typeface="+mn-cs"/>
              </a:rPr>
              <a:t>Collaborative Multiplayer Environments.</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In this future state:</a:t>
            </a:r>
          </a:p>
          <a:p>
            <a:pPr marL="228600" lvl="0" indent="-228600">
              <a:buFont typeface="+mj-lt"/>
              <a:buAutoNum type="arabicPeriod"/>
            </a:pPr>
            <a:r>
              <a:rPr lang="en-US" sz="1200" b="1" kern="1200" dirty="0">
                <a:solidFill>
                  <a:schemeClr val="tx1"/>
                </a:solidFill>
                <a:effectLst/>
                <a:latin typeface="+mn-lt"/>
                <a:ea typeface="+mn-ea"/>
                <a:cs typeface="+mn-cs"/>
              </a:rPr>
              <a:t>Humans</a:t>
            </a:r>
            <a:r>
              <a:rPr lang="en-US" sz="1200" kern="1200" dirty="0">
                <a:solidFill>
                  <a:schemeClr val="tx1"/>
                </a:solidFill>
                <a:effectLst/>
                <a:latin typeface="+mn-lt"/>
                <a:ea typeface="+mn-ea"/>
                <a:cs typeface="+mn-cs"/>
              </a:rPr>
              <a:t> provide intent, taste, high-level architecture, and responsibility. </a:t>
            </a:r>
          </a:p>
          <a:p>
            <a:pPr marL="228600" lvl="0" indent="-228600">
              <a:buFont typeface="+mj-lt"/>
              <a:buAutoNum type="arabicPeriod"/>
            </a:pPr>
            <a:r>
              <a:rPr lang="en-US" sz="1200" b="1" kern="1200" dirty="0">
                <a:solidFill>
                  <a:schemeClr val="tx1"/>
                </a:solidFill>
                <a:effectLst/>
                <a:latin typeface="+mn-lt"/>
                <a:ea typeface="+mn-ea"/>
                <a:cs typeface="+mn-cs"/>
              </a:rPr>
              <a:t>Synthetic Agents</a:t>
            </a:r>
            <a:r>
              <a:rPr lang="en-US" sz="1200" kern="1200" dirty="0">
                <a:solidFill>
                  <a:schemeClr val="tx1"/>
                </a:solidFill>
                <a:effectLst/>
                <a:latin typeface="+mn-lt"/>
                <a:ea typeface="+mn-ea"/>
                <a:cs typeface="+mn-cs"/>
              </a:rPr>
              <a:t> process infinite context streams, coordinate execution engines, and write code. </a:t>
            </a:r>
          </a:p>
          <a:p>
            <a:pPr marL="228600" lvl="0" indent="-228600">
              <a:buFont typeface="+mj-lt"/>
              <a:buAutoNum type="arabicPeriod"/>
            </a:pPr>
            <a:r>
              <a:rPr lang="en-US" sz="1200" b="1" kern="1200" dirty="0">
                <a:solidFill>
                  <a:schemeClr val="tx1"/>
                </a:solidFill>
                <a:effectLst/>
                <a:latin typeface="+mn-lt"/>
                <a:ea typeface="+mn-ea"/>
                <a:cs typeface="+mn-cs"/>
              </a:rPr>
              <a:t>Software Architecture</a:t>
            </a:r>
            <a:r>
              <a:rPr lang="en-US" sz="1200" kern="1200" dirty="0">
                <a:solidFill>
                  <a:schemeClr val="tx1"/>
                </a:solidFill>
                <a:effectLst/>
                <a:latin typeface="+mn-lt"/>
                <a:ea typeface="+mn-ea"/>
                <a:cs typeface="+mn-cs"/>
              </a:rPr>
              <a:t> molds itself dynamically around the user's immediate needs in real time. </a:t>
            </a:r>
          </a:p>
          <a:p>
            <a:r>
              <a:rPr lang="en-US" sz="1200" kern="1200" dirty="0">
                <a:solidFill>
                  <a:schemeClr val="tx1"/>
                </a:solidFill>
                <a:effectLst/>
                <a:latin typeface="+mn-lt"/>
                <a:ea typeface="+mn-ea"/>
                <a:cs typeface="+mn-cs"/>
              </a:rPr>
              <a:t>Instead of static, single-player tools where a human sits alone typing code, software becomes a living, multiplayer ecosystem where humans and synthetic agents co-create continuously. </a:t>
            </a:r>
          </a:p>
          <a:p>
            <a:endParaRPr lang="en-US" dirty="0"/>
          </a:p>
        </p:txBody>
      </p:sp>
      <p:sp>
        <p:nvSpPr>
          <p:cNvPr id="4" name="Slide Number Placeholder 3"/>
          <p:cNvSpPr>
            <a:spLocks noGrp="1"/>
          </p:cNvSpPr>
          <p:nvPr>
            <p:ph type="sldNum" sz="quarter" idx="5"/>
          </p:nvPr>
        </p:nvSpPr>
        <p:spPr/>
        <p:txBody>
          <a:bodyPr/>
          <a:lstStyle/>
          <a:p>
            <a:fld id="{2BE54DFE-F235-454B-9740-91A65D916BCB}" type="slidenum">
              <a:rPr lang="en-US" smtClean="0"/>
              <a:t>14</a:t>
            </a:fld>
            <a:endParaRPr lang="en-US"/>
          </a:p>
        </p:txBody>
      </p:sp>
    </p:spTree>
    <p:extLst>
      <p:ext uri="{BB962C8B-B14F-4D97-AF65-F5344CB8AC3E}">
        <p14:creationId xmlns:p14="http://schemas.microsoft.com/office/powerpoint/2010/main" val="16945504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What is the ultimate objective of building a cybernetic enterprise? </a:t>
            </a:r>
          </a:p>
          <a:p>
            <a:r>
              <a:rPr lang="en-US" sz="1200" kern="1200" dirty="0">
                <a:solidFill>
                  <a:schemeClr val="tx1"/>
                </a:solidFill>
                <a:effectLst/>
                <a:latin typeface="+mn-lt"/>
                <a:ea typeface="+mn-ea"/>
                <a:cs typeface="+mn-cs"/>
              </a:rPr>
              <a:t>It is not merely optimizing efficiency, cutting headcount, or boosting quarterly margins. </a:t>
            </a:r>
            <a:r>
              <a:rPr lang="en-US" sz="1200" b="1" kern="1200" dirty="0">
                <a:solidFill>
                  <a:schemeClr val="tx1"/>
                </a:solidFill>
                <a:effectLst/>
                <a:latin typeface="+mn-lt"/>
                <a:ea typeface="+mn-ea"/>
                <a:cs typeface="+mn-cs"/>
              </a:rPr>
              <a:t>The true end state of leadership is cultivating skills to build things that give others power, motivation, and ambition beyond what they would otherwise have.</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By deploying synthetic colleagues to handle routine execution, we liberate human ambition. We give our teams the tools to build systems, solve complex problems, and venture into markets that were previously unthinkable. </a:t>
            </a:r>
          </a:p>
          <a:p>
            <a:endParaRPr lang="en-US" dirty="0"/>
          </a:p>
        </p:txBody>
      </p:sp>
      <p:sp>
        <p:nvSpPr>
          <p:cNvPr id="4" name="Slide Number Placeholder 3"/>
          <p:cNvSpPr>
            <a:spLocks noGrp="1"/>
          </p:cNvSpPr>
          <p:nvPr>
            <p:ph type="sldNum" sz="quarter" idx="5"/>
          </p:nvPr>
        </p:nvSpPr>
        <p:spPr/>
        <p:txBody>
          <a:bodyPr/>
          <a:lstStyle/>
          <a:p>
            <a:fld id="{2BE54DFE-F235-454B-9740-91A65D916BCB}" type="slidenum">
              <a:rPr lang="en-US" smtClean="0"/>
              <a:t>15</a:t>
            </a:fld>
            <a:endParaRPr lang="en-US"/>
          </a:p>
        </p:txBody>
      </p:sp>
    </p:spTree>
    <p:extLst>
      <p:ext uri="{BB962C8B-B14F-4D97-AF65-F5344CB8AC3E}">
        <p14:creationId xmlns:p14="http://schemas.microsoft.com/office/powerpoint/2010/main" val="38342443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https://www.youtube.com/watch?v=G9P9D9hptq8</a:t>
            </a:r>
          </a:p>
          <a:p>
            <a:r>
              <a:rPr lang="en-US" sz="1200" kern="1200" dirty="0">
                <a:solidFill>
                  <a:schemeClr val="tx1"/>
                </a:solidFill>
                <a:effectLst/>
                <a:latin typeface="+mn-lt"/>
                <a:ea typeface="+mn-ea"/>
                <a:cs typeface="+mn-cs"/>
              </a:rPr>
              <a:t>To close, let's pull all these threads into a unified strategic summary: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1. The Shift from Tools to Agents:</a:t>
            </a:r>
            <a:r>
              <a:rPr lang="en-US" sz="1200" kern="1200" dirty="0">
                <a:solidFill>
                  <a:schemeClr val="tx1"/>
                </a:solidFill>
                <a:effectLst/>
                <a:latin typeface="+mn-lt"/>
                <a:ea typeface="+mn-ea"/>
                <a:cs typeface="+mn-cs"/>
              </a:rPr>
              <a:t> We have crossed the threshold where up to 50% of code pull requests are generated via conversational AI agents like River. Software is no longer a static tool; it is an interactive partner with memory and personality.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2. Agent Reflection &amp; Dreaming:</a:t>
            </a:r>
            <a:r>
              <a:rPr lang="en-US" sz="1200" kern="1200" dirty="0">
                <a:solidFill>
                  <a:schemeClr val="tx1"/>
                </a:solidFill>
                <a:effectLst/>
                <a:latin typeface="+mn-lt"/>
                <a:ea typeface="+mn-ea"/>
                <a:cs typeface="+mn-cs"/>
              </a:rPr>
              <a:t> Synthetic agents maintain high output quality by reflecting during off-hours, analyzing their own daily errors, and updating their instruction skill files autonomously.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3. Taste &amp; Pruning as Strategic Edges:</a:t>
            </a:r>
            <a:r>
              <a:rPr lang="en-US" sz="1200" kern="1200" dirty="0">
                <a:solidFill>
                  <a:schemeClr val="tx1"/>
                </a:solidFill>
                <a:effectLst/>
                <a:latin typeface="+mn-lt"/>
                <a:ea typeface="+mn-ea"/>
                <a:cs typeface="+mn-cs"/>
              </a:rPr>
              <a:t> High-level taste—built through deep study of the greats and massive repetition—allows leaders to prune unnecessary complexity and execute </a:t>
            </a:r>
            <a:r>
              <a:rPr lang="en-US" sz="1200" kern="1200" dirty="0" err="1">
                <a:solidFill>
                  <a:schemeClr val="tx1"/>
                </a:solidFill>
                <a:effectLst/>
                <a:latin typeface="+mn-lt"/>
                <a:ea typeface="+mn-ea"/>
                <a:cs typeface="+mn-cs"/>
              </a:rPr>
              <a:t>refounding</a:t>
            </a:r>
            <a:r>
              <a:rPr lang="en-US" sz="1200" kern="1200" dirty="0">
                <a:solidFill>
                  <a:schemeClr val="tx1"/>
                </a:solidFill>
                <a:effectLst/>
                <a:latin typeface="+mn-lt"/>
                <a:ea typeface="+mn-ea"/>
                <a:cs typeface="+mn-cs"/>
              </a:rPr>
              <a:t> events.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4. Human Responsibility as the Non-Negotiable Boundary:</a:t>
            </a:r>
            <a:r>
              <a:rPr lang="en-US" sz="1200" kern="1200" dirty="0">
                <a:solidFill>
                  <a:schemeClr val="tx1"/>
                </a:solidFill>
                <a:effectLst/>
                <a:latin typeface="+mn-lt"/>
                <a:ea typeface="+mn-ea"/>
                <a:cs typeface="+mn-cs"/>
              </a:rPr>
              <a:t> Capabilities like research, volume production, and synthesis belong to synthetic sub-agents. Context, intuition, taste, and ultimate accountability belong exclusively to human leaders. </a:t>
            </a:r>
          </a:p>
          <a:p>
            <a:r>
              <a:rPr lang="en-US" sz="1200" kern="1200" dirty="0">
                <a:solidFill>
                  <a:schemeClr val="tx1"/>
                </a:solidFill>
                <a:effectLst/>
                <a:latin typeface="+mn-lt"/>
                <a:ea typeface="+mn-ea"/>
                <a:cs typeface="+mn-cs"/>
              </a:rPr>
              <a:t>Machines can generate infinite options, but only humans can take responsibility for the outcome. Thank you.</a:t>
            </a:r>
          </a:p>
          <a:p>
            <a:endParaRPr lang="en-US" dirty="0"/>
          </a:p>
        </p:txBody>
      </p:sp>
      <p:sp>
        <p:nvSpPr>
          <p:cNvPr id="4" name="Slide Number Placeholder 3"/>
          <p:cNvSpPr>
            <a:spLocks noGrp="1"/>
          </p:cNvSpPr>
          <p:nvPr>
            <p:ph type="sldNum" sz="quarter" idx="5"/>
          </p:nvPr>
        </p:nvSpPr>
        <p:spPr/>
        <p:txBody>
          <a:bodyPr/>
          <a:lstStyle/>
          <a:p>
            <a:fld id="{2BE54DFE-F235-454B-9740-91A65D916BCB}" type="slidenum">
              <a:rPr lang="en-US" smtClean="0"/>
              <a:t>16</a:t>
            </a:fld>
            <a:endParaRPr lang="en-US"/>
          </a:p>
        </p:txBody>
      </p:sp>
    </p:spTree>
    <p:extLst>
      <p:ext uri="{BB962C8B-B14F-4D97-AF65-F5344CB8AC3E}">
        <p14:creationId xmlns:p14="http://schemas.microsoft.com/office/powerpoint/2010/main" val="7995070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12E3387-D8D1-B5AB-BCE4-B698397A3102}"/>
              </a:ext>
            </a:extLst>
          </p:cNvPr>
          <p:cNvSpPr>
            <a:spLocks noGrp="1"/>
          </p:cNvSpPr>
          <p:nvPr>
            <p:ph type="dt" sz="half" idx="10"/>
          </p:nvPr>
        </p:nvSpPr>
        <p:spPr/>
        <p:txBody>
          <a:bodyPr/>
          <a:lstStyle/>
          <a:p>
            <a:fld id="{BEE6F519-AF07-426A-9796-D76BDE7B6198}" type="datetimeFigureOut">
              <a:rPr lang="en-US" smtClean="0"/>
              <a:t>10/21/2026</a:t>
            </a:fld>
            <a:endParaRPr lang="en-US"/>
          </a:p>
        </p:txBody>
      </p:sp>
      <p:sp>
        <p:nvSpPr>
          <p:cNvPr id="3" name="Footer Placeholder 2">
            <a:extLst>
              <a:ext uri="{FF2B5EF4-FFF2-40B4-BE49-F238E27FC236}">
                <a16:creationId xmlns:a16="http://schemas.microsoft.com/office/drawing/2014/main" id="{D67EB14B-405D-65B3-B0A4-916E945C750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6D7F6FE-EB4E-A9FE-3FEC-3199C883891C}"/>
              </a:ext>
            </a:extLst>
          </p:cNvPr>
          <p:cNvSpPr>
            <a:spLocks noGrp="1"/>
          </p:cNvSpPr>
          <p:nvPr>
            <p:ph type="sldNum" sz="quarter" idx="12"/>
          </p:nvPr>
        </p:nvSpPr>
        <p:spPr/>
        <p:txBody>
          <a:bodyPr/>
          <a:lstStyle/>
          <a:p>
            <a:fld id="{4B7B1611-4757-4D5F-8402-1FD6D4E26577}" type="slidenum">
              <a:rPr lang="en-US" smtClean="0"/>
              <a:t>‹#›</a:t>
            </a:fld>
            <a:endParaRPr lang="en-US"/>
          </a:p>
        </p:txBody>
      </p:sp>
    </p:spTree>
    <p:extLst>
      <p:ext uri="{BB962C8B-B14F-4D97-AF65-F5344CB8AC3E}">
        <p14:creationId xmlns:p14="http://schemas.microsoft.com/office/powerpoint/2010/main" val="1485131610"/>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7B36F6E-EE25-2AA9-D3E7-9301A1E3858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55D49CD-2563-8761-85AD-4CB771BDEDD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3E2FF5B-AB3F-2B28-7F7A-46D38E6778C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EE6F519-AF07-426A-9796-D76BDE7B6198}" type="datetimeFigureOut">
              <a:rPr lang="en-US" smtClean="0"/>
              <a:t>10/21/2026</a:t>
            </a:fld>
            <a:endParaRPr lang="en-US"/>
          </a:p>
        </p:txBody>
      </p:sp>
      <p:sp>
        <p:nvSpPr>
          <p:cNvPr id="5" name="Footer Placeholder 4">
            <a:extLst>
              <a:ext uri="{FF2B5EF4-FFF2-40B4-BE49-F238E27FC236}">
                <a16:creationId xmlns:a16="http://schemas.microsoft.com/office/drawing/2014/main" id="{A69DC79D-9B77-F467-4B38-A2AB9CBE559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783881A-77D7-D721-DDA9-0CA929CF267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B7B1611-4757-4D5F-8402-1FD6D4E26577}" type="slidenum">
              <a:rPr lang="en-US" smtClean="0"/>
              <a:t>‹#›</a:t>
            </a:fld>
            <a:endParaRPr lang="en-US"/>
          </a:p>
        </p:txBody>
      </p:sp>
    </p:spTree>
    <p:extLst>
      <p:ext uri="{BB962C8B-B14F-4D97-AF65-F5344CB8AC3E}">
        <p14:creationId xmlns:p14="http://schemas.microsoft.com/office/powerpoint/2010/main" val="3995507375"/>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6843988-A490-63A2-BE18-A8D70CCFD0C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EFAC11A-7B45-6350-FF6E-8D395EA9EA3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498D690-F8DE-FCAD-177F-AF54D3E510E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177A686-A524-241B-7C9E-1C348E97205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306AF2A-0A43-ADFF-8FAB-A6326BCCD33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C627475-A576-2F11-2824-7157FC8100D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35ACBA5-A543-9549-E92B-9AC4A55585C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C454CE0-7F9D-D110-9BE8-43AA62C645D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7D69E8C-1102-BC03-D273-9C221E167CD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68DD68D-2820-8DCA-B18D-18079C7CD34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E9A17A3-50FF-A1EC-7589-3BF02CEF46B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AB98FF7-DDF4-0A5E-5F12-3D2B1914BB3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C2D74D2-26DC-6489-601E-BC5B5949050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793BBE1-98B6-B4BD-A8BB-4F08B4B1182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93EE761-61CE-C414-C47A-79C658C43562}"/>
              </a:ext>
            </a:extLst>
          </p:cNvPr>
          <p:cNvPicPr>
            <a:picLocks noChangeAspect="1"/>
          </p:cNvPicPr>
          <p:nvPr/>
        </p:nvPicPr>
        <p:blipFill>
          <a:blip r:embed="rId3"/>
          <a:stretch>
            <a:fillRect/>
          </a:stretch>
        </p:blipFill>
        <p:spPr>
          <a:xfrm>
            <a:off x="0" y="28575"/>
            <a:ext cx="12192000" cy="6800850"/>
          </a:xfrm>
          <a:prstGeom prst="rect">
            <a:avLst/>
          </a:prstGeom>
        </p:spPr>
      </p:pic>
    </p:spTree>
    <p:extLst>
      <p:ext uri="{BB962C8B-B14F-4D97-AF65-F5344CB8AC3E}">
        <p14:creationId xmlns:p14="http://schemas.microsoft.com/office/powerpoint/2010/main" val="36146636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TotalTime>
  <Words>2470</Words>
  <Application>Microsoft Office PowerPoint</Application>
  <PresentationFormat>寬螢幕</PresentationFormat>
  <Paragraphs>102</Paragraphs>
  <Slides>16</Slides>
  <Notes>16</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16</vt:i4>
      </vt:variant>
    </vt:vector>
  </HeadingPairs>
  <TitlesOfParts>
    <vt:vector size="20"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2026-09-17T23:42:00Z</dcterms:created>
  <dcterms:modified xsi:type="dcterms:W3CDTF">2026-10-21T02:44:55Z</dcterms:modified>
</cp:coreProperties>
</file>