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2195F2-8090-48FF-B4DE-6F8803BD1F59}" v="41" dt="2026-09-28T09:22:22.2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9" autoAdjust="0"/>
    <p:restoredTop sz="79345" autoAdjust="0"/>
  </p:normalViewPr>
  <p:slideViewPr>
    <p:cSldViewPr snapToGrid="0">
      <p:cViewPr varScale="1">
        <p:scale>
          <a:sx n="72" d="100"/>
          <a:sy n="72" d="100"/>
        </p:scale>
        <p:origin x="8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modMainMaster">
      <pc:chgData name="Lai, Wilson" userId="2840974a-0d84-4886-90a9-9a3ed79f3a48" providerId="ADAL" clId="{9F23B798-9E84-4552-BA63-E776E805C424}" dt="2026-09-28T09:26:14.150" v="125" actId="22"/>
      <pc:docMkLst>
        <pc:docMk/>
      </pc:docMkLst>
      <pc:sldChg chg="addSp delSp modSp mod modAnim modNotes modNotesTx">
        <pc:chgData name="Lai, Wilson" userId="2840974a-0d84-4886-90a9-9a3ed79f3a48" providerId="ADAL" clId="{9F23B798-9E84-4552-BA63-E776E805C424}" dt="2026-09-28T09:22:08.140" v="93" actId="22"/>
        <pc:sldMkLst>
          <pc:docMk/>
          <pc:sldMk cId="0" sldId="257"/>
        </pc:sldMkLst>
        <pc:spChg chg="add mod">
          <ac:chgData name="Lai, Wilson" userId="2840974a-0d84-4886-90a9-9a3ed79f3a48" providerId="ADAL" clId="{9F23B798-9E84-4552-BA63-E776E805C424}" dt="2026-09-28T08:54:15.677" v="12" actId="164"/>
          <ac:spMkLst>
            <pc:docMk/>
            <pc:sldMk cId="0" sldId="257"/>
            <ac:spMk id="5" creationId="{6715E146-5354-4105-CFC3-DE43EF0CC287}"/>
          </ac:spMkLst>
        </pc:spChg>
        <pc:grpChg chg="add mod">
          <ac:chgData name="Lai, Wilson" userId="2840974a-0d84-4886-90a9-9a3ed79f3a48" providerId="ADAL" clId="{9F23B798-9E84-4552-BA63-E776E805C424}" dt="2026-09-28T08:54:15.677" v="12" actId="164"/>
          <ac:grpSpMkLst>
            <pc:docMk/>
            <pc:sldMk cId="0" sldId="257"/>
            <ac:grpSpMk id="6" creationId="{B46D0CCF-D1FC-F1A5-ED6E-69752D6D3C38}"/>
          </ac:grpSpMkLst>
        </pc:grpChg>
        <pc:picChg chg="del ord">
          <ac:chgData name="Lai, Wilson" userId="2840974a-0d84-4886-90a9-9a3ed79f3a48" providerId="ADAL" clId="{9F23B798-9E84-4552-BA63-E776E805C424}" dt="2026-09-28T09:21:58.666" v="92" actId="21"/>
          <ac:picMkLst>
            <pc:docMk/>
            <pc:sldMk cId="0" sldId="257"/>
            <ac:picMk id="2" creationId="{00000000-0000-0000-0000-000000000000}"/>
          </ac:picMkLst>
        </pc:picChg>
        <pc:picChg chg="add mod">
          <ac:chgData name="Lai, Wilson" userId="2840974a-0d84-4886-90a9-9a3ed79f3a48" providerId="ADAL" clId="{9F23B798-9E84-4552-BA63-E776E805C424}" dt="2026-09-28T08:54:15.677" v="12" actId="164"/>
          <ac:picMkLst>
            <pc:docMk/>
            <pc:sldMk cId="0" sldId="257"/>
            <ac:picMk id="3" creationId="{A46F6616-4A06-2469-82F8-A3231DB7C5B2}"/>
          </ac:picMkLst>
        </pc:picChg>
        <pc:picChg chg="add">
          <ac:chgData name="Lai, Wilson" userId="2840974a-0d84-4886-90a9-9a3ed79f3a48" providerId="ADAL" clId="{9F23B798-9E84-4552-BA63-E776E805C424}" dt="2026-09-28T09:22:08.140" v="93" actId="22"/>
          <ac:picMkLst>
            <pc:docMk/>
            <pc:sldMk cId="0" sldId="257"/>
            <ac:picMk id="7" creationId="{2B894E44-0D2D-4ED2-D2D0-EBEB5E1A4A58}"/>
          </ac:picMkLst>
        </pc:picChg>
      </pc:sldChg>
      <pc:sldChg chg="addSp delSp mod modNotes">
        <pc:chgData name="Lai, Wilson" userId="2840974a-0d84-4886-90a9-9a3ed79f3a48" providerId="ADAL" clId="{9F23B798-9E84-4552-BA63-E776E805C424}" dt="2026-09-28T09:22:43.342" v="96" actId="22"/>
        <pc:sldMkLst>
          <pc:docMk/>
          <pc:sldMk cId="0" sldId="258"/>
        </pc:sldMkLst>
        <pc:picChg chg="del">
          <ac:chgData name="Lai, Wilson" userId="2840974a-0d84-4886-90a9-9a3ed79f3a48" providerId="ADAL" clId="{9F23B798-9E84-4552-BA63-E776E805C424}" dt="2026-09-28T09:22:32.422" v="95" actId="21"/>
          <ac:picMkLst>
            <pc:docMk/>
            <pc:sldMk cId="0" sldId="258"/>
            <ac:picMk id="2" creationId="{00000000-0000-0000-0000-000000000000}"/>
          </ac:picMkLst>
        </pc:picChg>
        <pc:picChg chg="add">
          <ac:chgData name="Lai, Wilson" userId="2840974a-0d84-4886-90a9-9a3ed79f3a48" providerId="ADAL" clId="{9F23B798-9E84-4552-BA63-E776E805C424}" dt="2026-09-28T09:22:43.342" v="96" actId="22"/>
          <ac:picMkLst>
            <pc:docMk/>
            <pc:sldMk cId="0" sldId="258"/>
            <ac:picMk id="4" creationId="{2D343F62-7E1D-00D3-D20D-AA7D51CD65F1}"/>
          </ac:picMkLst>
        </pc:picChg>
      </pc:sldChg>
      <pc:sldChg chg="addSp delSp mod modNotes modNotesTx">
        <pc:chgData name="Lai, Wilson" userId="2840974a-0d84-4886-90a9-9a3ed79f3a48" providerId="ADAL" clId="{9F23B798-9E84-4552-BA63-E776E805C424}" dt="2026-09-28T09:22:57.770" v="98" actId="22"/>
        <pc:sldMkLst>
          <pc:docMk/>
          <pc:sldMk cId="0" sldId="259"/>
        </pc:sldMkLst>
        <pc:picChg chg="del">
          <ac:chgData name="Lai, Wilson" userId="2840974a-0d84-4886-90a9-9a3ed79f3a48" providerId="ADAL" clId="{9F23B798-9E84-4552-BA63-E776E805C424}" dt="2026-09-28T09:22:45.005" v="97" actId="21"/>
          <ac:picMkLst>
            <pc:docMk/>
            <pc:sldMk cId="0" sldId="259"/>
            <ac:picMk id="2" creationId="{00000000-0000-0000-0000-000000000000}"/>
          </ac:picMkLst>
        </pc:picChg>
        <pc:picChg chg="add">
          <ac:chgData name="Lai, Wilson" userId="2840974a-0d84-4886-90a9-9a3ed79f3a48" providerId="ADAL" clId="{9F23B798-9E84-4552-BA63-E776E805C424}" dt="2026-09-28T09:22:57.770" v="98" actId="22"/>
          <ac:picMkLst>
            <pc:docMk/>
            <pc:sldMk cId="0" sldId="259"/>
            <ac:picMk id="4" creationId="{F42F2177-3E03-5635-400B-172D5365CCD6}"/>
          </ac:picMkLst>
        </pc:picChg>
      </pc:sldChg>
      <pc:sldChg chg="addSp delSp mod modNotes modNotesTx">
        <pc:chgData name="Lai, Wilson" userId="2840974a-0d84-4886-90a9-9a3ed79f3a48" providerId="ADAL" clId="{9F23B798-9E84-4552-BA63-E776E805C424}" dt="2026-09-28T09:23:13.756" v="100" actId="22"/>
        <pc:sldMkLst>
          <pc:docMk/>
          <pc:sldMk cId="0" sldId="260"/>
        </pc:sldMkLst>
        <pc:picChg chg="del">
          <ac:chgData name="Lai, Wilson" userId="2840974a-0d84-4886-90a9-9a3ed79f3a48" providerId="ADAL" clId="{9F23B798-9E84-4552-BA63-E776E805C424}" dt="2026-09-28T09:23:00.319" v="99" actId="21"/>
          <ac:picMkLst>
            <pc:docMk/>
            <pc:sldMk cId="0" sldId="260"/>
            <ac:picMk id="2" creationId="{00000000-0000-0000-0000-000000000000}"/>
          </ac:picMkLst>
        </pc:picChg>
        <pc:picChg chg="add">
          <ac:chgData name="Lai, Wilson" userId="2840974a-0d84-4886-90a9-9a3ed79f3a48" providerId="ADAL" clId="{9F23B798-9E84-4552-BA63-E776E805C424}" dt="2026-09-28T09:23:13.756" v="100" actId="22"/>
          <ac:picMkLst>
            <pc:docMk/>
            <pc:sldMk cId="0" sldId="260"/>
            <ac:picMk id="4" creationId="{04218522-5529-55EF-E24B-E25DCFDF9DF6}"/>
          </ac:picMkLst>
        </pc:picChg>
      </pc:sldChg>
      <pc:sldChg chg="addSp delSp mod modNotes modNotesTx">
        <pc:chgData name="Lai, Wilson" userId="2840974a-0d84-4886-90a9-9a3ed79f3a48" providerId="ADAL" clId="{9F23B798-9E84-4552-BA63-E776E805C424}" dt="2026-09-28T09:23:27.050" v="102" actId="22"/>
        <pc:sldMkLst>
          <pc:docMk/>
          <pc:sldMk cId="0" sldId="261"/>
        </pc:sldMkLst>
        <pc:picChg chg="del">
          <ac:chgData name="Lai, Wilson" userId="2840974a-0d84-4886-90a9-9a3ed79f3a48" providerId="ADAL" clId="{9F23B798-9E84-4552-BA63-E776E805C424}" dt="2026-09-28T09:23:15.356" v="101" actId="21"/>
          <ac:picMkLst>
            <pc:docMk/>
            <pc:sldMk cId="0" sldId="261"/>
            <ac:picMk id="2" creationId="{00000000-0000-0000-0000-000000000000}"/>
          </ac:picMkLst>
        </pc:picChg>
        <pc:picChg chg="add">
          <ac:chgData name="Lai, Wilson" userId="2840974a-0d84-4886-90a9-9a3ed79f3a48" providerId="ADAL" clId="{9F23B798-9E84-4552-BA63-E776E805C424}" dt="2026-09-28T09:23:27.050" v="102" actId="22"/>
          <ac:picMkLst>
            <pc:docMk/>
            <pc:sldMk cId="0" sldId="261"/>
            <ac:picMk id="4" creationId="{358F59B0-8DF5-C37D-171F-154785B36C95}"/>
          </ac:picMkLst>
        </pc:picChg>
      </pc:sldChg>
      <pc:sldChg chg="addSp delSp mod modNotes modNotesTx">
        <pc:chgData name="Lai, Wilson" userId="2840974a-0d84-4886-90a9-9a3ed79f3a48" providerId="ADAL" clId="{9F23B798-9E84-4552-BA63-E776E805C424}" dt="2026-09-28T09:23:36.950" v="104" actId="22"/>
        <pc:sldMkLst>
          <pc:docMk/>
          <pc:sldMk cId="0" sldId="262"/>
        </pc:sldMkLst>
        <pc:picChg chg="del">
          <ac:chgData name="Lai, Wilson" userId="2840974a-0d84-4886-90a9-9a3ed79f3a48" providerId="ADAL" clId="{9F23B798-9E84-4552-BA63-E776E805C424}" dt="2026-09-28T09:23:29.327" v="103" actId="21"/>
          <ac:picMkLst>
            <pc:docMk/>
            <pc:sldMk cId="0" sldId="262"/>
            <ac:picMk id="2" creationId="{00000000-0000-0000-0000-000000000000}"/>
          </ac:picMkLst>
        </pc:picChg>
        <pc:picChg chg="add">
          <ac:chgData name="Lai, Wilson" userId="2840974a-0d84-4886-90a9-9a3ed79f3a48" providerId="ADAL" clId="{9F23B798-9E84-4552-BA63-E776E805C424}" dt="2026-09-28T09:23:36.950" v="104" actId="22"/>
          <ac:picMkLst>
            <pc:docMk/>
            <pc:sldMk cId="0" sldId="262"/>
            <ac:picMk id="4" creationId="{2565DFE7-05F8-DF87-31D0-1307331C54CC}"/>
          </ac:picMkLst>
        </pc:picChg>
      </pc:sldChg>
      <pc:sldChg chg="addSp delSp mod modNotes modNotesTx">
        <pc:chgData name="Lai, Wilson" userId="2840974a-0d84-4886-90a9-9a3ed79f3a48" providerId="ADAL" clId="{9F23B798-9E84-4552-BA63-E776E805C424}" dt="2026-09-28T09:23:46.730" v="106" actId="22"/>
        <pc:sldMkLst>
          <pc:docMk/>
          <pc:sldMk cId="0" sldId="263"/>
        </pc:sldMkLst>
        <pc:picChg chg="del">
          <ac:chgData name="Lai, Wilson" userId="2840974a-0d84-4886-90a9-9a3ed79f3a48" providerId="ADAL" clId="{9F23B798-9E84-4552-BA63-E776E805C424}" dt="2026-09-28T09:23:38.468" v="105" actId="21"/>
          <ac:picMkLst>
            <pc:docMk/>
            <pc:sldMk cId="0" sldId="263"/>
            <ac:picMk id="2" creationId="{00000000-0000-0000-0000-000000000000}"/>
          </ac:picMkLst>
        </pc:picChg>
        <pc:picChg chg="add">
          <ac:chgData name="Lai, Wilson" userId="2840974a-0d84-4886-90a9-9a3ed79f3a48" providerId="ADAL" clId="{9F23B798-9E84-4552-BA63-E776E805C424}" dt="2026-09-28T09:23:46.730" v="106" actId="22"/>
          <ac:picMkLst>
            <pc:docMk/>
            <pc:sldMk cId="0" sldId="263"/>
            <ac:picMk id="4" creationId="{4F12EC10-B567-36AD-DC9A-49CDAC0B3860}"/>
          </ac:picMkLst>
        </pc:picChg>
      </pc:sldChg>
      <pc:sldChg chg="addSp delSp mod modNotes modNotesTx">
        <pc:chgData name="Lai, Wilson" userId="2840974a-0d84-4886-90a9-9a3ed79f3a48" providerId="ADAL" clId="{9F23B798-9E84-4552-BA63-E776E805C424}" dt="2026-09-28T09:26:14.150" v="125" actId="22"/>
        <pc:sldMkLst>
          <pc:docMk/>
          <pc:sldMk cId="0" sldId="264"/>
        </pc:sldMkLst>
        <pc:picChg chg="del">
          <ac:chgData name="Lai, Wilson" userId="2840974a-0d84-4886-90a9-9a3ed79f3a48" providerId="ADAL" clId="{9F23B798-9E84-4552-BA63-E776E805C424}" dt="2026-09-28T09:26:02.292" v="124" actId="21"/>
          <ac:picMkLst>
            <pc:docMk/>
            <pc:sldMk cId="0" sldId="264"/>
            <ac:picMk id="2" creationId="{00000000-0000-0000-0000-000000000000}"/>
          </ac:picMkLst>
        </pc:picChg>
        <pc:picChg chg="add">
          <ac:chgData name="Lai, Wilson" userId="2840974a-0d84-4886-90a9-9a3ed79f3a48" providerId="ADAL" clId="{9F23B798-9E84-4552-BA63-E776E805C424}" dt="2026-09-28T09:26:14.150" v="125" actId="22"/>
          <ac:picMkLst>
            <pc:docMk/>
            <pc:sldMk cId="0" sldId="264"/>
            <ac:picMk id="4" creationId="{C10053E6-FFE7-7FD8-A3C6-8A8E24ADC639}"/>
          </ac:picMkLst>
        </pc:picChg>
      </pc:sldChg>
      <pc:sldChg chg="addSp delSp mod modNotes modNotesTx">
        <pc:chgData name="Lai, Wilson" userId="2840974a-0d84-4886-90a9-9a3ed79f3a48" providerId="ADAL" clId="{9F23B798-9E84-4552-BA63-E776E805C424}" dt="2026-09-28T09:23:56.608" v="108" actId="22"/>
        <pc:sldMkLst>
          <pc:docMk/>
          <pc:sldMk cId="0" sldId="265"/>
        </pc:sldMkLst>
        <pc:picChg chg="del">
          <ac:chgData name="Lai, Wilson" userId="2840974a-0d84-4886-90a9-9a3ed79f3a48" providerId="ADAL" clId="{9F23B798-9E84-4552-BA63-E776E805C424}" dt="2026-09-28T09:23:48.733" v="107" actId="21"/>
          <ac:picMkLst>
            <pc:docMk/>
            <pc:sldMk cId="0" sldId="265"/>
            <ac:picMk id="2" creationId="{00000000-0000-0000-0000-000000000000}"/>
          </ac:picMkLst>
        </pc:picChg>
        <pc:picChg chg="add">
          <ac:chgData name="Lai, Wilson" userId="2840974a-0d84-4886-90a9-9a3ed79f3a48" providerId="ADAL" clId="{9F23B798-9E84-4552-BA63-E776E805C424}" dt="2026-09-28T09:23:56.608" v="108" actId="22"/>
          <ac:picMkLst>
            <pc:docMk/>
            <pc:sldMk cId="0" sldId="265"/>
            <ac:picMk id="4" creationId="{C0F2A3C6-EDC5-1F80-8984-97D4EB0F3B1B}"/>
          </ac:picMkLst>
        </pc:picChg>
      </pc:sldChg>
      <pc:sldChg chg="addSp delSp mod modNotes modNotesTx">
        <pc:chgData name="Lai, Wilson" userId="2840974a-0d84-4886-90a9-9a3ed79f3a48" providerId="ADAL" clId="{9F23B798-9E84-4552-BA63-E776E805C424}" dt="2026-09-28T09:24:12.660" v="110" actId="22"/>
        <pc:sldMkLst>
          <pc:docMk/>
          <pc:sldMk cId="0" sldId="266"/>
        </pc:sldMkLst>
        <pc:picChg chg="del">
          <ac:chgData name="Lai, Wilson" userId="2840974a-0d84-4886-90a9-9a3ed79f3a48" providerId="ADAL" clId="{9F23B798-9E84-4552-BA63-E776E805C424}" dt="2026-09-28T09:23:58.269" v="109" actId="21"/>
          <ac:picMkLst>
            <pc:docMk/>
            <pc:sldMk cId="0" sldId="266"/>
            <ac:picMk id="2" creationId="{00000000-0000-0000-0000-000000000000}"/>
          </ac:picMkLst>
        </pc:picChg>
        <pc:picChg chg="add">
          <ac:chgData name="Lai, Wilson" userId="2840974a-0d84-4886-90a9-9a3ed79f3a48" providerId="ADAL" clId="{9F23B798-9E84-4552-BA63-E776E805C424}" dt="2026-09-28T09:24:12.660" v="110" actId="22"/>
          <ac:picMkLst>
            <pc:docMk/>
            <pc:sldMk cId="0" sldId="266"/>
            <ac:picMk id="4" creationId="{2147FD4B-0BD2-C2B0-C36E-BC68D0D6BCA1}"/>
          </ac:picMkLst>
        </pc:picChg>
      </pc:sldChg>
      <pc:sldChg chg="addSp delSp mod modNotes modNotesTx">
        <pc:chgData name="Lai, Wilson" userId="2840974a-0d84-4886-90a9-9a3ed79f3a48" providerId="ADAL" clId="{9F23B798-9E84-4552-BA63-E776E805C424}" dt="2026-09-28T09:24:31.332" v="112" actId="22"/>
        <pc:sldMkLst>
          <pc:docMk/>
          <pc:sldMk cId="0" sldId="267"/>
        </pc:sldMkLst>
        <pc:picChg chg="del">
          <ac:chgData name="Lai, Wilson" userId="2840974a-0d84-4886-90a9-9a3ed79f3a48" providerId="ADAL" clId="{9F23B798-9E84-4552-BA63-E776E805C424}" dt="2026-09-28T09:24:16.923" v="111" actId="21"/>
          <ac:picMkLst>
            <pc:docMk/>
            <pc:sldMk cId="0" sldId="267"/>
            <ac:picMk id="2" creationId="{00000000-0000-0000-0000-000000000000}"/>
          </ac:picMkLst>
        </pc:picChg>
        <pc:picChg chg="add">
          <ac:chgData name="Lai, Wilson" userId="2840974a-0d84-4886-90a9-9a3ed79f3a48" providerId="ADAL" clId="{9F23B798-9E84-4552-BA63-E776E805C424}" dt="2026-09-28T09:24:31.332" v="112" actId="22"/>
          <ac:picMkLst>
            <pc:docMk/>
            <pc:sldMk cId="0" sldId="267"/>
            <ac:picMk id="4" creationId="{2BC7B372-2BB7-65F8-70BF-28E82945A7C2}"/>
          </ac:picMkLst>
        </pc:picChg>
      </pc:sldChg>
      <pc:sldChg chg="addSp delSp modSp mod modNotes modNotesTx">
        <pc:chgData name="Lai, Wilson" userId="2840974a-0d84-4886-90a9-9a3ed79f3a48" providerId="ADAL" clId="{9F23B798-9E84-4552-BA63-E776E805C424}" dt="2026-09-28T09:24:40.564" v="115" actId="22"/>
        <pc:sldMkLst>
          <pc:docMk/>
          <pc:sldMk cId="0" sldId="268"/>
        </pc:sldMkLst>
        <pc:picChg chg="del mod">
          <ac:chgData name="Lai, Wilson" userId="2840974a-0d84-4886-90a9-9a3ed79f3a48" providerId="ADAL" clId="{9F23B798-9E84-4552-BA63-E776E805C424}" dt="2026-09-28T09:24:33.256" v="114" actId="21"/>
          <ac:picMkLst>
            <pc:docMk/>
            <pc:sldMk cId="0" sldId="268"/>
            <ac:picMk id="2" creationId="{00000000-0000-0000-0000-000000000000}"/>
          </ac:picMkLst>
        </pc:picChg>
        <pc:picChg chg="add">
          <ac:chgData name="Lai, Wilson" userId="2840974a-0d84-4886-90a9-9a3ed79f3a48" providerId="ADAL" clId="{9F23B798-9E84-4552-BA63-E776E805C424}" dt="2026-09-28T09:24:40.564" v="115" actId="22"/>
          <ac:picMkLst>
            <pc:docMk/>
            <pc:sldMk cId="0" sldId="268"/>
            <ac:picMk id="4" creationId="{D6EDDEF7-7CF1-70A1-463F-F62B37A6C887}"/>
          </ac:picMkLst>
        </pc:picChg>
      </pc:sldChg>
      <pc:sldChg chg="addSp delSp mod modNotes modNotesTx">
        <pc:chgData name="Lai, Wilson" userId="2840974a-0d84-4886-90a9-9a3ed79f3a48" providerId="ADAL" clId="{9F23B798-9E84-4552-BA63-E776E805C424}" dt="2026-09-28T09:24:50.303" v="117" actId="22"/>
        <pc:sldMkLst>
          <pc:docMk/>
          <pc:sldMk cId="0" sldId="269"/>
        </pc:sldMkLst>
        <pc:picChg chg="del">
          <ac:chgData name="Lai, Wilson" userId="2840974a-0d84-4886-90a9-9a3ed79f3a48" providerId="ADAL" clId="{9F23B798-9E84-4552-BA63-E776E805C424}" dt="2026-09-28T09:24:42.524" v="116" actId="21"/>
          <ac:picMkLst>
            <pc:docMk/>
            <pc:sldMk cId="0" sldId="269"/>
            <ac:picMk id="2" creationId="{00000000-0000-0000-0000-000000000000}"/>
          </ac:picMkLst>
        </pc:picChg>
        <pc:picChg chg="add">
          <ac:chgData name="Lai, Wilson" userId="2840974a-0d84-4886-90a9-9a3ed79f3a48" providerId="ADAL" clId="{9F23B798-9E84-4552-BA63-E776E805C424}" dt="2026-09-28T09:24:50.303" v="117" actId="22"/>
          <ac:picMkLst>
            <pc:docMk/>
            <pc:sldMk cId="0" sldId="269"/>
            <ac:picMk id="4" creationId="{AE3EB89E-1491-CC84-B710-C3FD85808AC3}"/>
          </ac:picMkLst>
        </pc:picChg>
      </pc:sldChg>
      <pc:sldChg chg="addSp delSp mod modNotes modNotesTx">
        <pc:chgData name="Lai, Wilson" userId="2840974a-0d84-4886-90a9-9a3ed79f3a48" providerId="ADAL" clId="{9F23B798-9E84-4552-BA63-E776E805C424}" dt="2026-09-28T09:24:58.979" v="119" actId="22"/>
        <pc:sldMkLst>
          <pc:docMk/>
          <pc:sldMk cId="0" sldId="270"/>
        </pc:sldMkLst>
        <pc:picChg chg="del">
          <ac:chgData name="Lai, Wilson" userId="2840974a-0d84-4886-90a9-9a3ed79f3a48" providerId="ADAL" clId="{9F23B798-9E84-4552-BA63-E776E805C424}" dt="2026-09-28T09:24:51.914" v="118" actId="21"/>
          <ac:picMkLst>
            <pc:docMk/>
            <pc:sldMk cId="0" sldId="270"/>
            <ac:picMk id="2" creationId="{00000000-0000-0000-0000-000000000000}"/>
          </ac:picMkLst>
        </pc:picChg>
        <pc:picChg chg="add">
          <ac:chgData name="Lai, Wilson" userId="2840974a-0d84-4886-90a9-9a3ed79f3a48" providerId="ADAL" clId="{9F23B798-9E84-4552-BA63-E776E805C424}" dt="2026-09-28T09:24:58.979" v="119" actId="22"/>
          <ac:picMkLst>
            <pc:docMk/>
            <pc:sldMk cId="0" sldId="270"/>
            <ac:picMk id="4" creationId="{993DDA33-F496-9582-7222-E2FC42D6FBA4}"/>
          </ac:picMkLst>
        </pc:picChg>
      </pc:sldChg>
      <pc:sldChg chg="addSp delSp mod modNotes modNotesTx">
        <pc:chgData name="Lai, Wilson" userId="2840974a-0d84-4886-90a9-9a3ed79f3a48" providerId="ADAL" clId="{9F23B798-9E84-4552-BA63-E776E805C424}" dt="2026-09-28T09:25:13.427" v="121" actId="22"/>
        <pc:sldMkLst>
          <pc:docMk/>
          <pc:sldMk cId="0" sldId="271"/>
        </pc:sldMkLst>
        <pc:picChg chg="del">
          <ac:chgData name="Lai, Wilson" userId="2840974a-0d84-4886-90a9-9a3ed79f3a48" providerId="ADAL" clId="{9F23B798-9E84-4552-BA63-E776E805C424}" dt="2026-09-28T09:25:02.347" v="120" actId="21"/>
          <ac:picMkLst>
            <pc:docMk/>
            <pc:sldMk cId="0" sldId="271"/>
            <ac:picMk id="2" creationId="{00000000-0000-0000-0000-000000000000}"/>
          </ac:picMkLst>
        </pc:picChg>
        <pc:picChg chg="add">
          <ac:chgData name="Lai, Wilson" userId="2840974a-0d84-4886-90a9-9a3ed79f3a48" providerId="ADAL" clId="{9F23B798-9E84-4552-BA63-E776E805C424}" dt="2026-09-28T09:25:13.427" v="121" actId="22"/>
          <ac:picMkLst>
            <pc:docMk/>
            <pc:sldMk cId="0" sldId="271"/>
            <ac:picMk id="4" creationId="{F1E2DBFE-4FEC-7C0B-4626-9A9CC80DCF47}"/>
          </ac:picMkLst>
        </pc:picChg>
      </pc:sldChg>
      <pc:sldChg chg="addSp delSp mod modNotes modNotesTx">
        <pc:chgData name="Lai, Wilson" userId="2840974a-0d84-4886-90a9-9a3ed79f3a48" providerId="ADAL" clId="{9F23B798-9E84-4552-BA63-E776E805C424}" dt="2026-09-28T09:25:25.309" v="123" actId="22"/>
        <pc:sldMkLst>
          <pc:docMk/>
          <pc:sldMk cId="483150965" sldId="272"/>
        </pc:sldMkLst>
        <pc:picChg chg="del">
          <ac:chgData name="Lai, Wilson" userId="2840974a-0d84-4886-90a9-9a3ed79f3a48" providerId="ADAL" clId="{9F23B798-9E84-4552-BA63-E776E805C424}" dt="2026-09-28T09:25:15.998" v="122" actId="21"/>
          <ac:picMkLst>
            <pc:docMk/>
            <pc:sldMk cId="483150965" sldId="272"/>
            <ac:picMk id="3" creationId="{B208981F-0B21-5064-398D-161FD27B782D}"/>
          </ac:picMkLst>
        </pc:picChg>
        <pc:picChg chg="add">
          <ac:chgData name="Lai, Wilson" userId="2840974a-0d84-4886-90a9-9a3ed79f3a48" providerId="ADAL" clId="{9F23B798-9E84-4552-BA63-E776E805C424}" dt="2026-09-28T09:25:25.309" v="123" actId="22"/>
          <ac:picMkLst>
            <pc:docMk/>
            <pc:sldMk cId="483150965" sldId="272"/>
            <ac:picMk id="4" creationId="{C325093D-234F-A1FF-F9D5-E067BA305B3D}"/>
          </ac:picMkLst>
        </pc:picChg>
      </pc:sldChg>
      <pc:sldMasterChg chg="setBg">
        <pc:chgData name="Lai, Wilson" userId="2840974a-0d84-4886-90a9-9a3ed79f3a48" providerId="ADAL" clId="{9F23B798-9E84-4552-BA63-E776E805C424}" dt="2026-09-28T09:22:22.285" v="94"/>
        <pc:sldMasterMkLst>
          <pc:docMk/>
          <pc:sldMasterMk cId="2436311998"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71963E-E39A-4EB9-9390-94AEF07C8634}"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0791E9-21CD-49F9-81A3-B9892B64551A}" type="slidenum">
              <a:rPr lang="en-US" smtClean="0"/>
              <a:t>‹#›</a:t>
            </a:fld>
            <a:endParaRPr lang="en-US"/>
          </a:p>
        </p:txBody>
      </p:sp>
    </p:spTree>
    <p:extLst>
      <p:ext uri="{BB962C8B-B14F-4D97-AF65-F5344CB8AC3E}">
        <p14:creationId xmlns:p14="http://schemas.microsoft.com/office/powerpoint/2010/main" val="444659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youtube.com/watch?v=LglWwQRNhoI&amp;t=2461&amp;utm_source=gemini"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Good morning, good afternoon, and good evening, everyone. Welcome to our session on </a:t>
            </a:r>
            <a:r>
              <a:rPr lang="en-US" sz="1200" i="1" kern="1200" dirty="0">
                <a:solidFill>
                  <a:schemeClr val="tx1"/>
                </a:solidFill>
                <a:effectLst/>
                <a:latin typeface="+mn-lt"/>
                <a:ea typeface="+mn-ea"/>
                <a:cs typeface="+mn-cs"/>
              </a:rPr>
              <a:t>Trustworthy AI Observability</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Over the past two years, enterprise AI has moved past initial experimentation. Organizations have deployed Large Language Models and intelligent agents into core workflows—from HR ticketing to financial processing and supply chain management. </a:t>
            </a:r>
          </a:p>
          <a:p>
            <a:pPr lvl="0"/>
            <a:r>
              <a:rPr lang="en-US" sz="1200" kern="1200" dirty="0">
                <a:solidFill>
                  <a:schemeClr val="tx1"/>
                </a:solidFill>
                <a:effectLst/>
                <a:latin typeface="+mn-lt"/>
                <a:ea typeface="+mn-ea"/>
                <a:cs typeface="+mn-cs"/>
              </a:rPr>
              <a:t>However, as AI touches mission-critical transactions, a fundamental issue emerges: </a:t>
            </a:r>
            <a:r>
              <a:rPr lang="en-US" sz="1200" b="1" kern="1200" dirty="0">
                <a:solidFill>
                  <a:schemeClr val="tx1"/>
                </a:solidFill>
                <a:effectLst/>
                <a:latin typeface="+mn-lt"/>
                <a:ea typeface="+mn-ea"/>
                <a:cs typeface="+mn-cs"/>
              </a:rPr>
              <a:t>How do we trust an autonomous system when we cannot see how it arrives at its decisions?</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Today, we present a strategic playbook for transitioning AI from isolated pilots to scalable production environments without compromising governance, security, or accuracy.</a:t>
            </a:r>
          </a:p>
          <a:p>
            <a:pPr lvl="0"/>
            <a:r>
              <a:rPr lang="en-US" sz="1200" kern="1200" dirty="0">
                <a:solidFill>
                  <a:schemeClr val="tx1"/>
                </a:solidFill>
                <a:effectLst/>
                <a:latin typeface="+mn-lt"/>
                <a:ea typeface="+mn-ea"/>
                <a:cs typeface="+mn-cs"/>
              </a:rPr>
              <a:t>Our central thesis throughout this deck is simple: </a:t>
            </a:r>
            <a:r>
              <a:rPr lang="en-US" sz="1200" b="1" kern="1200" dirty="0">
                <a:solidFill>
                  <a:schemeClr val="tx1"/>
                </a:solidFill>
                <a:effectLst/>
                <a:latin typeface="+mn-lt"/>
                <a:ea typeface="+mn-ea"/>
                <a:cs typeface="+mn-cs"/>
              </a:rPr>
              <a:t>Trustworthy AI starts with visibility. You cannot trust what you cannot see.</a:t>
            </a:r>
            <a:r>
              <a:rPr lang="en-US" sz="1200" kern="1200" dirty="0">
                <a:solidFill>
                  <a:schemeClr val="tx1"/>
                </a:solidFill>
                <a:effectLst/>
                <a:latin typeface="+mn-lt"/>
                <a:ea typeface="+mn-ea"/>
                <a:cs typeface="+mn-cs"/>
              </a:rPr>
              <a:t> </a:t>
            </a:r>
          </a:p>
          <a:p>
            <a:endParaRPr lang="en-US" dirty="0"/>
          </a:p>
          <a:p>
            <a:endParaRPr lang="en-US" dirty="0"/>
          </a:p>
          <a:p>
            <a:endParaRPr lang="en-US" dirty="0"/>
          </a:p>
          <a:p>
            <a:endParaRPr lang="en-US" dirty="0"/>
          </a:p>
          <a:p>
            <a:endParaRPr lang="en-US" dirty="0"/>
          </a:p>
          <a:p>
            <a:r>
              <a:rPr lang="en-US" b="1" dirty="0"/>
              <a:t>Seeing Is Believing: AI Observability &amp; Trustworthy AI with SAP &amp; Dynatrace | Webinar Replay</a:t>
            </a:r>
          </a:p>
          <a:p>
            <a:r>
              <a:rPr lang="en-US" dirty="0"/>
              <a:t>https://www.youtube.com/watch?v=LglWwQRNhoI</a:t>
            </a:r>
          </a:p>
          <a:p>
            <a:endParaRPr lang="en-US" dirty="0"/>
          </a:p>
          <a:p>
            <a:endParaRPr lang="en-US" dirty="0"/>
          </a:p>
        </p:txBody>
      </p:sp>
      <p:sp>
        <p:nvSpPr>
          <p:cNvPr id="4" name="Slide Number Placeholder 3"/>
          <p:cNvSpPr>
            <a:spLocks noGrp="1"/>
          </p:cNvSpPr>
          <p:nvPr>
            <p:ph type="sldNum" sz="quarter" idx="5"/>
          </p:nvPr>
        </p:nvSpPr>
        <p:spPr/>
        <p:txBody>
          <a:bodyPr/>
          <a:lstStyle/>
          <a:p>
            <a:fld id="{E00791E9-21CD-49F9-81A3-B9892B64551A}" type="slidenum">
              <a:rPr lang="en-US" smtClean="0"/>
              <a:t>1</a:t>
            </a:fld>
            <a:endParaRPr lang="en-US"/>
          </a:p>
        </p:txBody>
      </p:sp>
    </p:spTree>
    <p:extLst>
      <p:ext uri="{BB962C8B-B14F-4D97-AF65-F5344CB8AC3E}">
        <p14:creationId xmlns:p14="http://schemas.microsoft.com/office/powerpoint/2010/main" val="36326372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begin, let’s reflect on a powerful quote from Shubham Trivedi at SAP: </a:t>
            </a:r>
            <a:r>
              <a:rPr lang="en-US" sz="1200" i="1" kern="1200" dirty="0">
                <a:solidFill>
                  <a:schemeClr val="tx1"/>
                </a:solidFill>
                <a:effectLst/>
                <a:latin typeface="+mn-lt"/>
                <a:ea typeface="+mn-ea"/>
                <a:cs typeface="+mn-cs"/>
              </a:rPr>
              <a:t>'If you can't trace the decision to the data that produced it, you technically don't have an AI in production. You are having a confident guess.'</a:t>
            </a:r>
            <a:r>
              <a:rPr lang="en-US" sz="1200"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hlinkClick r:id="rId3"/>
              </a:rPr>
              <a:t>41:01</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In traditional software, execution is deterministic—a function takes an input and produces an expected output based on fixed code. </a:t>
            </a:r>
          </a:p>
          <a:p>
            <a:pPr lvl="0"/>
            <a:r>
              <a:rPr lang="en-US" sz="1200" kern="1200" dirty="0">
                <a:solidFill>
                  <a:schemeClr val="tx1"/>
                </a:solidFill>
                <a:effectLst/>
                <a:latin typeface="+mn-lt"/>
                <a:ea typeface="+mn-ea"/>
                <a:cs typeface="+mn-cs"/>
              </a:rPr>
              <a:t>In Generative AI and agentic systems, outputs are probabilistic. A model can present inaccurate or completely fabricated information with high linguistic confidence. </a:t>
            </a:r>
          </a:p>
          <a:p>
            <a:pPr lvl="0"/>
            <a:r>
              <a:rPr lang="en-US" sz="1200" kern="1200" dirty="0">
                <a:solidFill>
                  <a:schemeClr val="tx1"/>
                </a:solidFill>
                <a:effectLst/>
                <a:latin typeface="+mn-lt"/>
                <a:ea typeface="+mn-ea"/>
                <a:cs typeface="+mn-cs"/>
              </a:rPr>
              <a:t>If your organization relies on AI to approve financial transactions, adjust procurement orders, or draft policy responses, unobserved AI represents an unquantified liability. </a:t>
            </a:r>
          </a:p>
          <a:p>
            <a:pPr lvl="0"/>
            <a:r>
              <a:rPr lang="en-US" sz="1200" kern="1200" dirty="0">
                <a:solidFill>
                  <a:schemeClr val="tx1"/>
                </a:solidFill>
                <a:effectLst/>
                <a:latin typeface="+mn-lt"/>
                <a:ea typeface="+mn-ea"/>
                <a:cs typeface="+mn-cs"/>
              </a:rPr>
              <a:t>Without a clear link connecting the final answer back to the exact system prompt, vector database lookup, and raw input data, your team is operating on hope rather than governance.</a:t>
            </a:r>
          </a:p>
        </p:txBody>
      </p:sp>
      <p:sp>
        <p:nvSpPr>
          <p:cNvPr id="4" name="Slide Number Placeholder 3"/>
          <p:cNvSpPr>
            <a:spLocks noGrp="1"/>
          </p:cNvSpPr>
          <p:nvPr>
            <p:ph type="sldNum" sz="quarter" idx="5"/>
          </p:nvPr>
        </p:nvSpPr>
        <p:spPr/>
        <p:txBody>
          <a:bodyPr/>
          <a:lstStyle/>
          <a:p>
            <a:fld id="{E00791E9-21CD-49F9-81A3-B9892B64551A}" type="slidenum">
              <a:rPr lang="en-US" smtClean="0"/>
              <a:t>2</a:t>
            </a:fld>
            <a:endParaRPr lang="en-US"/>
          </a:p>
        </p:txBody>
      </p:sp>
    </p:spTree>
    <p:extLst>
      <p:ext uri="{BB962C8B-B14F-4D97-AF65-F5344CB8AC3E}">
        <p14:creationId xmlns:p14="http://schemas.microsoft.com/office/powerpoint/2010/main" val="2199506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For decades, IT operations evaluated system health using a straightforward question: </a:t>
            </a:r>
            <a:r>
              <a:rPr lang="en-US" sz="1200" b="1" kern="1200" dirty="0">
                <a:solidFill>
                  <a:schemeClr val="tx1"/>
                </a:solidFill>
                <a:effectLst/>
                <a:latin typeface="+mn-lt"/>
                <a:ea typeface="+mn-ea"/>
                <a:cs typeface="+mn-cs"/>
              </a:rPr>
              <a:t>Is it running?</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If your application returns an HTTP 200 response code, responds in 150 milliseconds, and maintains 99.99% uptime, standard APM tools flag the system as 'green'. </a:t>
            </a:r>
          </a:p>
          <a:p>
            <a:pPr lvl="0"/>
            <a:r>
              <a:rPr lang="en-US" sz="1200" kern="1200" dirty="0">
                <a:solidFill>
                  <a:schemeClr val="tx1"/>
                </a:solidFill>
                <a:effectLst/>
                <a:latin typeface="+mn-lt"/>
                <a:ea typeface="+mn-ea"/>
                <a:cs typeface="+mn-cs"/>
              </a:rPr>
              <a:t>In the AI era, this metric framework breaks down. An LLM endpoint can return an HTTP 200 response code in milliseconds, yet deliver a severe hallucination that breaches compliance or misinforms a customer. </a:t>
            </a:r>
          </a:p>
          <a:p>
            <a:pPr lvl="0"/>
            <a:r>
              <a:rPr lang="en-US" sz="1200" kern="1200" dirty="0">
                <a:solidFill>
                  <a:schemeClr val="tx1"/>
                </a:solidFill>
                <a:effectLst/>
                <a:latin typeface="+mn-lt"/>
                <a:ea typeface="+mn-ea"/>
                <a:cs typeface="+mn-cs"/>
              </a:rPr>
              <a:t>This introduces a much harder fundamental question: </a:t>
            </a:r>
            <a:r>
              <a:rPr lang="en-US" sz="1200" b="1" kern="1200" dirty="0">
                <a:solidFill>
                  <a:schemeClr val="tx1"/>
                </a:solidFill>
                <a:effectLst/>
                <a:latin typeface="+mn-lt"/>
                <a:ea typeface="+mn-ea"/>
                <a:cs typeface="+mn-cs"/>
              </a:rPr>
              <a:t>Is it right?</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Let's review the key differences outlined on this slide: </a:t>
            </a:r>
          </a:p>
          <a:p>
            <a:pPr marL="228600" lvl="0" indent="-228600">
              <a:buFont typeface="Arial" panose="020B0604020202020204" pitchFamily="34" charset="0"/>
              <a:buChar char="•"/>
            </a:pPr>
            <a:r>
              <a:rPr lang="en-US" sz="1200" b="1" kern="1200" dirty="0">
                <a:solidFill>
                  <a:schemeClr val="tx1"/>
                </a:solidFill>
                <a:effectLst/>
                <a:latin typeface="+mn-lt"/>
                <a:ea typeface="+mn-ea"/>
                <a:cs typeface="+mn-cs"/>
              </a:rPr>
              <a:t>Core Question:</a:t>
            </a:r>
            <a:r>
              <a:rPr lang="en-US" sz="1200" kern="1200" dirty="0">
                <a:solidFill>
                  <a:schemeClr val="tx1"/>
                </a:solidFill>
                <a:effectLst/>
                <a:latin typeface="+mn-lt"/>
                <a:ea typeface="+mn-ea"/>
                <a:cs typeface="+mn-cs"/>
              </a:rPr>
              <a:t> Shift from system availability (</a:t>
            </a:r>
            <a:r>
              <a:rPr lang="en-US" sz="1200" i="1" kern="1200" dirty="0">
                <a:solidFill>
                  <a:schemeClr val="tx1"/>
                </a:solidFill>
                <a:effectLst/>
                <a:latin typeface="+mn-lt"/>
                <a:ea typeface="+mn-ea"/>
                <a:cs typeface="+mn-cs"/>
              </a:rPr>
              <a:t>Is it running?</a:t>
            </a:r>
            <a:r>
              <a:rPr lang="en-US" sz="1200" kern="1200" dirty="0">
                <a:solidFill>
                  <a:schemeClr val="tx1"/>
                </a:solidFill>
                <a:effectLst/>
                <a:latin typeface="+mn-lt"/>
                <a:ea typeface="+mn-ea"/>
                <a:cs typeface="+mn-cs"/>
              </a:rPr>
              <a:t>) to output validity (</a:t>
            </a:r>
            <a:r>
              <a:rPr lang="en-US" sz="1200" i="1" kern="1200" dirty="0">
                <a:solidFill>
                  <a:schemeClr val="tx1"/>
                </a:solidFill>
                <a:effectLst/>
                <a:latin typeface="+mn-lt"/>
                <a:ea typeface="+mn-ea"/>
                <a:cs typeface="+mn-cs"/>
              </a:rPr>
              <a:t>Is it right?</a:t>
            </a:r>
            <a:r>
              <a:rPr lang="en-US" sz="1200" kern="1200" dirty="0">
                <a:solidFill>
                  <a:schemeClr val="tx1"/>
                </a:solidFill>
                <a:effectLst/>
                <a:latin typeface="+mn-lt"/>
                <a:ea typeface="+mn-ea"/>
                <a:cs typeface="+mn-cs"/>
              </a:rPr>
              <a:t>). </a:t>
            </a:r>
          </a:p>
          <a:p>
            <a:pPr marL="228600" lvl="0" indent="-228600">
              <a:buFont typeface="Arial" panose="020B0604020202020204" pitchFamily="34" charset="0"/>
              <a:buChar char="•"/>
            </a:pPr>
            <a:r>
              <a:rPr lang="en-US" sz="1200" b="1" kern="1200" dirty="0">
                <a:solidFill>
                  <a:schemeClr val="tx1"/>
                </a:solidFill>
                <a:effectLst/>
                <a:latin typeface="+mn-lt"/>
                <a:ea typeface="+mn-ea"/>
                <a:cs typeface="+mn-cs"/>
              </a:rPr>
              <a:t>Pass/Fail Criteria:</a:t>
            </a:r>
            <a:r>
              <a:rPr lang="en-US" sz="1200" kern="1200" dirty="0">
                <a:solidFill>
                  <a:schemeClr val="tx1"/>
                </a:solidFill>
                <a:effectLst/>
                <a:latin typeface="+mn-lt"/>
                <a:ea typeface="+mn-ea"/>
                <a:cs typeface="+mn-cs"/>
              </a:rPr>
              <a:t> Shift from deterministic pass/fail code paths to continuous non-deterministic evaluation. </a:t>
            </a:r>
          </a:p>
          <a:p>
            <a:pPr marL="228600" lvl="0" indent="-228600">
              <a:buFont typeface="Arial" panose="020B0604020202020204" pitchFamily="34" charset="0"/>
              <a:buChar char="•"/>
            </a:pPr>
            <a:r>
              <a:rPr lang="en-US" sz="1200" b="1" kern="1200" dirty="0">
                <a:solidFill>
                  <a:schemeClr val="tx1"/>
                </a:solidFill>
                <a:effectLst/>
                <a:latin typeface="+mn-lt"/>
                <a:ea typeface="+mn-ea"/>
                <a:cs typeface="+mn-cs"/>
              </a:rPr>
              <a:t>Metric Focus:</a:t>
            </a:r>
            <a:r>
              <a:rPr lang="en-US" sz="1200" kern="1200" dirty="0">
                <a:solidFill>
                  <a:schemeClr val="tx1"/>
                </a:solidFill>
                <a:effectLst/>
                <a:latin typeface="+mn-lt"/>
                <a:ea typeface="+mn-ea"/>
                <a:cs typeface="+mn-cs"/>
              </a:rPr>
              <a:t> Expand beyond latency and uptime to measure </a:t>
            </a:r>
            <a:r>
              <a:rPr lang="en-US" sz="1200" kern="1200" dirty="0" err="1">
                <a:solidFill>
                  <a:schemeClr val="tx1"/>
                </a:solidFill>
                <a:effectLst/>
                <a:latin typeface="+mn-lt"/>
                <a:ea typeface="+mn-ea"/>
                <a:cs typeface="+mn-cs"/>
              </a:rPr>
              <a:t>groundedness</a:t>
            </a:r>
            <a:r>
              <a:rPr lang="en-US" sz="1200" kern="1200" dirty="0">
                <a:solidFill>
                  <a:schemeClr val="tx1"/>
                </a:solidFill>
                <a:effectLst/>
                <a:latin typeface="+mn-lt"/>
                <a:ea typeface="+mn-ea"/>
                <a:cs typeface="+mn-cs"/>
              </a:rPr>
              <a:t>, hallucination rates, and token cost-per-task. </a:t>
            </a:r>
          </a:p>
          <a:p>
            <a:pPr marL="228600" lvl="0" indent="-228600">
              <a:buFont typeface="Arial" panose="020B0604020202020204" pitchFamily="34" charset="0"/>
              <a:buChar char="•"/>
            </a:pPr>
            <a:r>
              <a:rPr lang="en-US" sz="1200" b="1" kern="1200" dirty="0">
                <a:solidFill>
                  <a:schemeClr val="tx1"/>
                </a:solidFill>
                <a:effectLst/>
                <a:latin typeface="+mn-lt"/>
                <a:ea typeface="+mn-ea"/>
                <a:cs typeface="+mn-cs"/>
              </a:rPr>
              <a:t>Resolution:</a:t>
            </a:r>
            <a:r>
              <a:rPr lang="en-US" sz="1200" kern="1200" dirty="0">
                <a:solidFill>
                  <a:schemeClr val="tx1"/>
                </a:solidFill>
                <a:effectLst/>
                <a:latin typeface="+mn-lt"/>
                <a:ea typeface="+mn-ea"/>
                <a:cs typeface="+mn-cs"/>
              </a:rPr>
              <a:t> Upgrade from automated service restarts to human-in-the-loop reviews, prompt rollbacks, and dynamic routing.</a:t>
            </a:r>
          </a:p>
        </p:txBody>
      </p:sp>
      <p:sp>
        <p:nvSpPr>
          <p:cNvPr id="4" name="Slide Number Placeholder 3"/>
          <p:cNvSpPr>
            <a:spLocks noGrp="1"/>
          </p:cNvSpPr>
          <p:nvPr>
            <p:ph type="sldNum" sz="quarter" idx="5"/>
          </p:nvPr>
        </p:nvSpPr>
        <p:spPr/>
        <p:txBody>
          <a:bodyPr/>
          <a:lstStyle/>
          <a:p>
            <a:fld id="{E00791E9-21CD-49F9-81A3-B9892B64551A}" type="slidenum">
              <a:rPr lang="en-US" smtClean="0"/>
              <a:t>3</a:t>
            </a:fld>
            <a:endParaRPr lang="en-US"/>
          </a:p>
        </p:txBody>
      </p:sp>
    </p:spTree>
    <p:extLst>
      <p:ext uri="{BB962C8B-B14F-4D97-AF65-F5344CB8AC3E}">
        <p14:creationId xmlns:p14="http://schemas.microsoft.com/office/powerpoint/2010/main" val="12674249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When evaluation teams evaluate AI models, they often over-index on raw accuracy or standardized benchmark scores. </a:t>
            </a:r>
          </a:p>
          <a:p>
            <a:pPr lvl="0"/>
            <a:r>
              <a:rPr lang="en-US" sz="1200" kern="1200" dirty="0">
                <a:solidFill>
                  <a:schemeClr val="tx1"/>
                </a:solidFill>
                <a:effectLst/>
                <a:latin typeface="+mn-lt"/>
                <a:ea typeface="+mn-ea"/>
                <a:cs typeface="+mn-cs"/>
              </a:rPr>
              <a:t>However, high test accuracy in a lab environment rarely guarantees trust in enterprise production. As discussed during our panel, true operational trust requires evaluating three additional critical signals: </a:t>
            </a:r>
          </a:p>
          <a:p>
            <a:pPr lvl="0"/>
            <a:r>
              <a:rPr lang="en-US" sz="1200" kern="1200" dirty="0">
                <a:solidFill>
                  <a:schemeClr val="tx1"/>
                </a:solidFill>
                <a:effectLst/>
                <a:latin typeface="+mn-lt"/>
                <a:ea typeface="+mn-ea"/>
                <a:cs typeface="+mn-cs"/>
              </a:rPr>
              <a:t>1. </a:t>
            </a:r>
            <a:r>
              <a:rPr lang="en-US" sz="1200" b="1" kern="1200" dirty="0" err="1">
                <a:solidFill>
                  <a:schemeClr val="tx1"/>
                </a:solidFill>
                <a:effectLst/>
                <a:latin typeface="+mn-lt"/>
                <a:ea typeface="+mn-ea"/>
                <a:cs typeface="+mn-cs"/>
              </a:rPr>
              <a:t>Groundedness</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Can the output be traced directly back to a verifiable, authoritative internal dataset? If an HR assistant answers a leave policy question, did it retrieve that answer directly from the active enterprise policy document? [</a:t>
            </a:r>
          </a:p>
          <a:p>
            <a:pPr lvl="0"/>
            <a:r>
              <a:rPr lang="en-US" sz="1200" kern="1200" dirty="0">
                <a:solidFill>
                  <a:schemeClr val="tx1"/>
                </a:solidFill>
                <a:effectLst/>
                <a:latin typeface="+mn-lt"/>
                <a:ea typeface="+mn-ea"/>
                <a:cs typeface="+mn-cs"/>
              </a:rPr>
              <a:t>2. </a:t>
            </a:r>
            <a:r>
              <a:rPr lang="en-US" sz="1200" b="1" kern="1200" dirty="0">
                <a:solidFill>
                  <a:schemeClr val="tx1"/>
                </a:solidFill>
                <a:effectLst/>
                <a:latin typeface="+mn-lt"/>
                <a:ea typeface="+mn-ea"/>
                <a:cs typeface="+mn-cs"/>
              </a:rPr>
              <a:t>Consistency:</a:t>
            </a:r>
            <a:r>
              <a:rPr lang="en-US" sz="1200" kern="1200" dirty="0">
                <a:solidFill>
                  <a:schemeClr val="tx1"/>
                </a:solidFill>
                <a:effectLst/>
                <a:latin typeface="+mn-lt"/>
                <a:ea typeface="+mn-ea"/>
                <a:cs typeface="+mn-cs"/>
              </a:rPr>
              <a:t> Does the model deliver a stable, reliable response across varying time zones, user personas, or repeated queries? </a:t>
            </a:r>
          </a:p>
          <a:p>
            <a:pPr lvl="0"/>
            <a:r>
              <a:rPr lang="en-US" sz="1200" kern="1200" dirty="0">
                <a:solidFill>
                  <a:schemeClr val="tx1"/>
                </a:solidFill>
                <a:effectLst/>
                <a:latin typeface="+mn-lt"/>
                <a:ea typeface="+mn-ea"/>
                <a:cs typeface="+mn-cs"/>
              </a:rPr>
              <a:t>3. </a:t>
            </a:r>
            <a:r>
              <a:rPr lang="en-US" sz="1200" b="1" kern="1200" dirty="0">
                <a:solidFill>
                  <a:schemeClr val="tx1"/>
                </a:solidFill>
                <a:effectLst/>
                <a:latin typeface="+mn-lt"/>
                <a:ea typeface="+mn-ea"/>
                <a:cs typeface="+mn-cs"/>
              </a:rPr>
              <a:t>Rejection Rate:</a:t>
            </a:r>
            <a:r>
              <a:rPr lang="en-US" sz="1200" kern="1200" dirty="0">
                <a:solidFill>
                  <a:schemeClr val="tx1"/>
                </a:solidFill>
                <a:effectLst/>
                <a:latin typeface="+mn-lt"/>
                <a:ea typeface="+mn-ea"/>
                <a:cs typeface="+mn-cs"/>
              </a:rPr>
              <a:t> Tracking human overrides. As Shubham noted, when a human employee or end-user actively rejects or overrides an AI suggestion, that is the most honest and brutal signal of real-world model failure. </a:t>
            </a:r>
          </a:p>
        </p:txBody>
      </p:sp>
      <p:sp>
        <p:nvSpPr>
          <p:cNvPr id="4" name="Slide Number Placeholder 3"/>
          <p:cNvSpPr>
            <a:spLocks noGrp="1"/>
          </p:cNvSpPr>
          <p:nvPr>
            <p:ph type="sldNum" sz="quarter" idx="5"/>
          </p:nvPr>
        </p:nvSpPr>
        <p:spPr/>
        <p:txBody>
          <a:bodyPr/>
          <a:lstStyle/>
          <a:p>
            <a:fld id="{E00791E9-21CD-49F9-81A3-B9892B64551A}" type="slidenum">
              <a:rPr lang="en-US" smtClean="0"/>
              <a:t>4</a:t>
            </a:fld>
            <a:endParaRPr lang="en-US"/>
          </a:p>
        </p:txBody>
      </p:sp>
    </p:spTree>
    <p:extLst>
      <p:ext uri="{BB962C8B-B14F-4D97-AF65-F5344CB8AC3E}">
        <p14:creationId xmlns:p14="http://schemas.microsoft.com/office/powerpoint/2010/main" val="33789850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Because Generative AI outputs are non-deterministic, static, one-time unit tests are obsolete. </a:t>
            </a:r>
          </a:p>
          <a:p>
            <a:pPr lvl="0"/>
            <a:r>
              <a:rPr lang="en-US" sz="1200" kern="1200" dirty="0">
                <a:solidFill>
                  <a:schemeClr val="tx1"/>
                </a:solidFill>
                <a:effectLst/>
                <a:latin typeface="+mn-lt"/>
                <a:ea typeface="+mn-ea"/>
                <a:cs typeface="+mn-cs"/>
              </a:rPr>
              <a:t>To ensure output safety, enterprise engineering teams must adopt continuous </a:t>
            </a:r>
            <a:r>
              <a:rPr lang="en-US" sz="1200" b="1" kern="1200" dirty="0">
                <a:solidFill>
                  <a:schemeClr val="tx1"/>
                </a:solidFill>
                <a:effectLst/>
                <a:latin typeface="+mn-lt"/>
                <a:ea typeface="+mn-ea"/>
                <a:cs typeface="+mn-cs"/>
              </a:rPr>
              <a:t>'Evaluations as Code'</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This spider diagram illustrates a balanced 5-point evaluation radar for production AI: </a:t>
            </a:r>
          </a:p>
          <a:p>
            <a:pPr marL="228600" lvl="0" indent="-228600">
              <a:buFont typeface="+mj-lt"/>
              <a:buAutoNum type="arabicPeriod"/>
            </a:pPr>
            <a:r>
              <a:rPr lang="en-US" sz="1200" b="1" kern="1200" dirty="0">
                <a:solidFill>
                  <a:schemeClr val="tx1"/>
                </a:solidFill>
                <a:effectLst/>
                <a:latin typeface="+mn-lt"/>
                <a:ea typeface="+mn-ea"/>
                <a:cs typeface="+mn-cs"/>
              </a:rPr>
              <a:t>Completeness:</a:t>
            </a:r>
            <a:r>
              <a:rPr lang="en-US" sz="1200" kern="1200" dirty="0">
                <a:solidFill>
                  <a:schemeClr val="tx1"/>
                </a:solidFill>
                <a:effectLst/>
                <a:latin typeface="+mn-lt"/>
                <a:ea typeface="+mn-ea"/>
                <a:cs typeface="+mn-cs"/>
              </a:rPr>
              <a:t> Did the response address every component of the user's prompt? </a:t>
            </a:r>
          </a:p>
          <a:p>
            <a:pPr marL="228600" lvl="0" indent="-228600">
              <a:buFont typeface="+mj-lt"/>
              <a:buAutoNum type="arabicPeriod"/>
            </a:pPr>
            <a:r>
              <a:rPr lang="en-US" sz="1200" b="1" kern="1200" dirty="0" err="1">
                <a:solidFill>
                  <a:schemeClr val="tx1"/>
                </a:solidFill>
                <a:effectLst/>
                <a:latin typeface="+mn-lt"/>
                <a:ea typeface="+mn-ea"/>
                <a:cs typeface="+mn-cs"/>
              </a:rPr>
              <a:t>Groundedness</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Is every claim supported by retrieved enterprise data? </a:t>
            </a:r>
          </a:p>
          <a:p>
            <a:pPr marL="228600" lvl="0" indent="-228600">
              <a:buFont typeface="+mj-lt"/>
              <a:buAutoNum type="arabicPeriod"/>
            </a:pPr>
            <a:r>
              <a:rPr lang="en-US" sz="1200" b="1" kern="1200" dirty="0">
                <a:solidFill>
                  <a:schemeClr val="tx1"/>
                </a:solidFill>
                <a:effectLst/>
                <a:latin typeface="+mn-lt"/>
                <a:ea typeface="+mn-ea"/>
                <a:cs typeface="+mn-cs"/>
              </a:rPr>
              <a:t>Safety:</a:t>
            </a:r>
            <a:r>
              <a:rPr lang="en-US" sz="1200" kern="1200" dirty="0">
                <a:solidFill>
                  <a:schemeClr val="tx1"/>
                </a:solidFill>
                <a:effectLst/>
                <a:latin typeface="+mn-lt"/>
                <a:ea typeface="+mn-ea"/>
                <a:cs typeface="+mn-cs"/>
              </a:rPr>
              <a:t> Did the output adhere to corporate safety, privacy, and PII guardrails?</a:t>
            </a:r>
          </a:p>
          <a:p>
            <a:pPr marL="228600" lvl="0" indent="-228600">
              <a:buFont typeface="+mj-lt"/>
              <a:buAutoNum type="arabicPeriod"/>
            </a:pPr>
            <a:r>
              <a:rPr lang="en-US" sz="1200" b="1" kern="1200" dirty="0">
                <a:solidFill>
                  <a:schemeClr val="tx1"/>
                </a:solidFill>
                <a:effectLst/>
                <a:latin typeface="+mn-lt"/>
                <a:ea typeface="+mn-ea"/>
                <a:cs typeface="+mn-cs"/>
              </a:rPr>
              <a:t>Output Quality:</a:t>
            </a:r>
            <a:r>
              <a:rPr lang="en-US" sz="1200" kern="1200" dirty="0">
                <a:solidFill>
                  <a:schemeClr val="tx1"/>
                </a:solidFill>
                <a:effectLst/>
                <a:latin typeface="+mn-lt"/>
                <a:ea typeface="+mn-ea"/>
                <a:cs typeface="+mn-cs"/>
              </a:rPr>
              <a:t> Is the response clear, coherent, and appropriately formatted?</a:t>
            </a:r>
          </a:p>
          <a:p>
            <a:pPr marL="228600" lvl="0" indent="-228600">
              <a:buFont typeface="+mj-lt"/>
              <a:buAutoNum type="arabicPeriod"/>
            </a:pPr>
            <a:r>
              <a:rPr lang="en-US" sz="1200" b="1" kern="1200" dirty="0">
                <a:solidFill>
                  <a:schemeClr val="tx1"/>
                </a:solidFill>
                <a:effectLst/>
                <a:latin typeface="+mn-lt"/>
                <a:ea typeface="+mn-ea"/>
                <a:cs typeface="+mn-cs"/>
              </a:rPr>
              <a:t>Business Outcome:</a:t>
            </a:r>
            <a:r>
              <a:rPr lang="en-US" sz="1200" kern="1200" dirty="0">
                <a:solidFill>
                  <a:schemeClr val="tx1"/>
                </a:solidFill>
                <a:effectLst/>
                <a:latin typeface="+mn-lt"/>
                <a:ea typeface="+mn-ea"/>
                <a:cs typeface="+mn-cs"/>
              </a:rPr>
              <a:t> Did the interaction successfully resolve the user's intent? </a:t>
            </a:r>
          </a:p>
          <a:p>
            <a:pPr lvl="0"/>
            <a:r>
              <a:rPr lang="en-US" sz="1200" kern="1200" dirty="0">
                <a:solidFill>
                  <a:schemeClr val="tx1"/>
                </a:solidFill>
                <a:effectLst/>
                <a:latin typeface="+mn-lt"/>
                <a:ea typeface="+mn-ea"/>
                <a:cs typeface="+mn-cs"/>
              </a:rPr>
              <a:t>Takeaway: </a:t>
            </a:r>
            <a:r>
              <a:rPr lang="en-US" sz="1200" b="1" kern="1200" dirty="0">
                <a:solidFill>
                  <a:schemeClr val="tx1"/>
                </a:solidFill>
                <a:effectLst/>
                <a:latin typeface="+mn-lt"/>
                <a:ea typeface="+mn-ea"/>
                <a:cs typeface="+mn-cs"/>
              </a:rPr>
              <a:t>A response can be safe, complete, and hallucination-free—but if it fails to drive the intended business outcome, the AI model is failing.</a:t>
            </a:r>
            <a:r>
              <a:rPr lang="en-US"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5"/>
          </p:nvPr>
        </p:nvSpPr>
        <p:spPr/>
        <p:txBody>
          <a:bodyPr/>
          <a:lstStyle/>
          <a:p>
            <a:fld id="{E00791E9-21CD-49F9-81A3-B9892B64551A}" type="slidenum">
              <a:rPr lang="en-US" smtClean="0"/>
              <a:t>5</a:t>
            </a:fld>
            <a:endParaRPr lang="en-US"/>
          </a:p>
        </p:txBody>
      </p:sp>
    </p:spTree>
    <p:extLst>
      <p:ext uri="{BB962C8B-B14F-4D97-AF65-F5344CB8AC3E}">
        <p14:creationId xmlns:p14="http://schemas.microsoft.com/office/powerpoint/2010/main" val="14783109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As organizations scale AI beyond initial pilots, financial controls become a mandatory pillar of observability. </a:t>
            </a:r>
          </a:p>
          <a:p>
            <a:pPr lvl="0"/>
            <a:r>
              <a:rPr lang="en-US" sz="1200" kern="1200" dirty="0">
                <a:solidFill>
                  <a:schemeClr val="tx1"/>
                </a:solidFill>
                <a:effectLst/>
                <a:latin typeface="+mn-lt"/>
                <a:ea typeface="+mn-ea"/>
                <a:cs typeface="+mn-cs"/>
              </a:rPr>
              <a:t>During early proof-of-concept phases, token consumption is minimal. But when thousands of employees or automated workflows execute high-frequency queries, costs scale rapidly. </a:t>
            </a:r>
          </a:p>
          <a:p>
            <a:pPr lvl="0"/>
            <a:r>
              <a:rPr lang="en-US" sz="1200" kern="1200" dirty="0">
                <a:solidFill>
                  <a:schemeClr val="tx1"/>
                </a:solidFill>
                <a:effectLst/>
                <a:latin typeface="+mn-lt"/>
                <a:ea typeface="+mn-ea"/>
                <a:cs typeface="+mn-cs"/>
              </a:rPr>
              <a:t>To manage this, we apply three FinOps principles to AI workloads: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Track:</a:t>
            </a:r>
            <a:r>
              <a:rPr lang="en-US" sz="1200" kern="1200" dirty="0">
                <a:solidFill>
                  <a:schemeClr val="tx1"/>
                </a:solidFill>
                <a:effectLst/>
                <a:latin typeface="+mn-lt"/>
                <a:ea typeface="+mn-ea"/>
                <a:cs typeface="+mn-cs"/>
              </a:rPr>
              <a:t> Monitor input and output tokens with the same granularity as compute latency.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Detect Anomalies:</a:t>
            </a:r>
            <a:r>
              <a:rPr lang="en-US" sz="1200" kern="1200" dirty="0">
                <a:solidFill>
                  <a:schemeClr val="tx1"/>
                </a:solidFill>
                <a:effectLst/>
                <a:latin typeface="+mn-lt"/>
                <a:ea typeface="+mn-ea"/>
                <a:cs typeface="+mn-cs"/>
              </a:rPr>
              <a:t> Set up automated alerts for sudden token usage spikes. A sharp increase in token volume often indicates systemic issues—such as an unoptimized system prompt, a bad model version deployment, or an agent caught in an infinite retry loop.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Allocate:</a:t>
            </a:r>
            <a:r>
              <a:rPr lang="en-US" sz="1200" kern="1200" dirty="0">
                <a:solidFill>
                  <a:schemeClr val="tx1"/>
                </a:solidFill>
                <a:effectLst/>
                <a:latin typeface="+mn-lt"/>
                <a:ea typeface="+mn-ea"/>
                <a:cs typeface="+mn-cs"/>
              </a:rPr>
              <a:t> Attribute token expenses directly back to specific AI agents, individual workflows, and business departments. </a:t>
            </a:r>
          </a:p>
        </p:txBody>
      </p:sp>
      <p:sp>
        <p:nvSpPr>
          <p:cNvPr id="4" name="Slide Number Placeholder 3"/>
          <p:cNvSpPr>
            <a:spLocks noGrp="1"/>
          </p:cNvSpPr>
          <p:nvPr>
            <p:ph type="sldNum" sz="quarter" idx="5"/>
          </p:nvPr>
        </p:nvSpPr>
        <p:spPr/>
        <p:txBody>
          <a:bodyPr/>
          <a:lstStyle/>
          <a:p>
            <a:fld id="{E00791E9-21CD-49F9-81A3-B9892B64551A}" type="slidenum">
              <a:rPr lang="en-US" smtClean="0"/>
              <a:t>6</a:t>
            </a:fld>
            <a:endParaRPr lang="en-US"/>
          </a:p>
        </p:txBody>
      </p:sp>
    </p:spTree>
    <p:extLst>
      <p:ext uri="{BB962C8B-B14F-4D97-AF65-F5344CB8AC3E}">
        <p14:creationId xmlns:p14="http://schemas.microsoft.com/office/powerpoint/2010/main" val="17794958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 common mistake in AI monitoring is measuring input and data drift against flat, static statistical thresholds. </a:t>
            </a:r>
          </a:p>
          <a:p>
            <a:pPr lvl="0"/>
            <a:r>
              <a:rPr lang="en-US" sz="1200" kern="1200" dirty="0">
                <a:solidFill>
                  <a:schemeClr val="tx1"/>
                </a:solidFill>
                <a:effectLst/>
                <a:latin typeface="+mn-lt"/>
                <a:ea typeface="+mn-ea"/>
                <a:cs typeface="+mn-cs"/>
              </a:rPr>
              <a:t>In enterprise environments, user prompt patterns and transaction volumes naturally fluctuate according to the company's calendar. </a:t>
            </a:r>
          </a:p>
          <a:p>
            <a:pPr lvl="0"/>
            <a:r>
              <a:rPr lang="en-US" sz="1200" kern="1200" dirty="0">
                <a:solidFill>
                  <a:schemeClr val="tx1"/>
                </a:solidFill>
                <a:effectLst/>
                <a:latin typeface="+mn-lt"/>
                <a:ea typeface="+mn-ea"/>
                <a:cs typeface="+mn-cs"/>
              </a:rPr>
              <a:t>For example, during a </a:t>
            </a:r>
            <a:r>
              <a:rPr lang="en-US" sz="1200" b="1" kern="1200" dirty="0">
                <a:solidFill>
                  <a:schemeClr val="tx1"/>
                </a:solidFill>
                <a:effectLst/>
                <a:latin typeface="+mn-lt"/>
                <a:ea typeface="+mn-ea"/>
                <a:cs typeface="+mn-cs"/>
              </a:rPr>
              <a:t>Year-End Close</a:t>
            </a:r>
            <a:r>
              <a:rPr lang="en-US" sz="1200" kern="1200" dirty="0">
                <a:solidFill>
                  <a:schemeClr val="tx1"/>
                </a:solidFill>
                <a:effectLst/>
                <a:latin typeface="+mn-lt"/>
                <a:ea typeface="+mn-ea"/>
                <a:cs typeface="+mn-cs"/>
              </a:rPr>
              <a:t> or quarterly financial reporting period, query volume, vocabulary, and financial transaction stress change dramatically. A statistical anomaly during year-end close might represent normal, high-volume business activity rather than model degradation. </a:t>
            </a:r>
          </a:p>
          <a:p>
            <a:pPr lvl="0"/>
            <a:r>
              <a:rPr lang="en-US" sz="1200" kern="1200" dirty="0">
                <a:solidFill>
                  <a:schemeClr val="tx1"/>
                </a:solidFill>
                <a:effectLst/>
                <a:latin typeface="+mn-lt"/>
                <a:ea typeface="+mn-ea"/>
                <a:cs typeface="+mn-cs"/>
              </a:rPr>
              <a:t>Strategic Imperative: </a:t>
            </a:r>
            <a:r>
              <a:rPr lang="en-US" sz="1200" b="1" kern="1200" dirty="0">
                <a:solidFill>
                  <a:schemeClr val="tx1"/>
                </a:solidFill>
                <a:effectLst/>
                <a:latin typeface="+mn-lt"/>
                <a:ea typeface="+mn-ea"/>
                <a:cs typeface="+mn-cs"/>
              </a:rPr>
              <a:t>Do not test or observe AI models in temporal isolation. Continuous observability allows you to understand how a model adapts to recurring, real-world business stress.</a:t>
            </a:r>
            <a:r>
              <a:rPr lang="en-US"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5"/>
          </p:nvPr>
        </p:nvSpPr>
        <p:spPr/>
        <p:txBody>
          <a:bodyPr/>
          <a:lstStyle/>
          <a:p>
            <a:fld id="{E00791E9-21CD-49F9-81A3-B9892B64551A}" type="slidenum">
              <a:rPr lang="en-US" smtClean="0"/>
              <a:t>7</a:t>
            </a:fld>
            <a:endParaRPr lang="en-US"/>
          </a:p>
        </p:txBody>
      </p:sp>
    </p:spTree>
    <p:extLst>
      <p:ext uri="{BB962C8B-B14F-4D97-AF65-F5344CB8AC3E}">
        <p14:creationId xmlns:p14="http://schemas.microsoft.com/office/powerpoint/2010/main" val="8237438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How do you safely deploy a new or updated AI agent into a live, high-risk production environment? </a:t>
            </a:r>
          </a:p>
          <a:p>
            <a:pPr lvl="0"/>
            <a:r>
              <a:rPr lang="en-US" sz="1200" kern="1200" dirty="0">
                <a:solidFill>
                  <a:schemeClr val="tx1"/>
                </a:solidFill>
                <a:effectLst/>
                <a:latin typeface="+mn-lt"/>
                <a:ea typeface="+mn-ea"/>
                <a:cs typeface="+mn-cs"/>
              </a:rPr>
              <a:t>The answer is </a:t>
            </a:r>
            <a:r>
              <a:rPr lang="en-US" sz="1200" b="1" kern="1200" dirty="0">
                <a:solidFill>
                  <a:schemeClr val="tx1"/>
                </a:solidFill>
                <a:effectLst/>
                <a:latin typeface="+mn-lt"/>
                <a:ea typeface="+mn-ea"/>
                <a:cs typeface="+mn-cs"/>
              </a:rPr>
              <a:t>Shadow Mode Deployment</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As shown in this architecture diagram: </a:t>
            </a:r>
          </a:p>
          <a:p>
            <a:pPr marL="228600" lvl="0" indent="-228600">
              <a:buFont typeface="+mj-lt"/>
              <a:buAutoNum type="arabicPeriod"/>
            </a:pPr>
            <a:r>
              <a:rPr lang="en-US" sz="1200" kern="1200" dirty="0">
                <a:solidFill>
                  <a:schemeClr val="tx1"/>
                </a:solidFill>
                <a:effectLst/>
                <a:latin typeface="+mn-lt"/>
                <a:ea typeface="+mn-ea"/>
                <a:cs typeface="+mn-cs"/>
              </a:rPr>
              <a:t>A </a:t>
            </a:r>
            <a:r>
              <a:rPr lang="en-US" sz="1200" b="1" kern="1200" dirty="0">
                <a:solidFill>
                  <a:schemeClr val="tx1"/>
                </a:solidFill>
                <a:effectLst/>
                <a:latin typeface="+mn-lt"/>
                <a:ea typeface="+mn-ea"/>
                <a:cs typeface="+mn-cs"/>
              </a:rPr>
              <a:t>User Request</a:t>
            </a:r>
            <a:r>
              <a:rPr lang="en-US" sz="1200" kern="1200" dirty="0">
                <a:solidFill>
                  <a:schemeClr val="tx1"/>
                </a:solidFill>
                <a:effectLst/>
                <a:latin typeface="+mn-lt"/>
                <a:ea typeface="+mn-ea"/>
                <a:cs typeface="+mn-cs"/>
              </a:rPr>
              <a:t> comes into the environment. </a:t>
            </a:r>
          </a:p>
          <a:p>
            <a:pPr marL="228600" lvl="0" indent="-228600">
              <a:buFont typeface="+mj-lt"/>
              <a:buAutoNum type="arabicPeriod"/>
            </a:pPr>
            <a:r>
              <a:rPr lang="en-US" sz="1200" kern="1200" dirty="0">
                <a:solidFill>
                  <a:schemeClr val="tx1"/>
                </a:solidFill>
                <a:effectLst/>
                <a:latin typeface="+mn-lt"/>
                <a:ea typeface="+mn-ea"/>
                <a:cs typeface="+mn-cs"/>
              </a:rPr>
              <a:t>The request routes directly through the existing, verified process (e.g., a Traditional HR Ticketing System handled by human resolution).</a:t>
            </a:r>
          </a:p>
          <a:p>
            <a:pPr marL="228600" lvl="0" indent="-228600">
              <a:buFont typeface="+mj-lt"/>
              <a:buAutoNum type="arabicPeriod"/>
            </a:pPr>
            <a:r>
              <a:rPr lang="en-US" sz="1200" kern="1200" dirty="0">
                <a:solidFill>
                  <a:schemeClr val="tx1"/>
                </a:solidFill>
                <a:effectLst/>
                <a:latin typeface="+mn-lt"/>
                <a:ea typeface="+mn-ea"/>
                <a:cs typeface="+mn-cs"/>
              </a:rPr>
              <a:t>Simultaneously, a parallel request feeds into the new </a:t>
            </a:r>
            <a:r>
              <a:rPr lang="en-US" sz="1200" b="1" kern="1200" dirty="0">
                <a:solidFill>
                  <a:schemeClr val="tx1"/>
                </a:solidFill>
                <a:effectLst/>
                <a:latin typeface="+mn-lt"/>
                <a:ea typeface="+mn-ea"/>
                <a:cs typeface="+mn-cs"/>
              </a:rPr>
              <a:t>AI Agent</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kern="1200" dirty="0">
                <a:solidFill>
                  <a:schemeClr val="tx1"/>
                </a:solidFill>
                <a:effectLst/>
                <a:latin typeface="+mn-lt"/>
                <a:ea typeface="+mn-ea"/>
                <a:cs typeface="+mn-cs"/>
              </a:rPr>
              <a:t>The AI Agent's output remains hidden from the end user. </a:t>
            </a:r>
          </a:p>
          <a:p>
            <a:pPr marL="228600" lvl="0" indent="-228600">
              <a:buFont typeface="+mj-lt"/>
              <a:buAutoNum type="arabicPeriod"/>
            </a:pPr>
            <a:r>
              <a:rPr lang="en-US" sz="1200" kern="1200" dirty="0">
                <a:solidFill>
                  <a:schemeClr val="tx1"/>
                </a:solidFill>
                <a:effectLst/>
                <a:latin typeface="+mn-lt"/>
                <a:ea typeface="+mn-ea"/>
                <a:cs typeface="+mn-cs"/>
              </a:rPr>
              <a:t>Both outputs flow into a </a:t>
            </a:r>
            <a:r>
              <a:rPr lang="en-US" sz="1200" b="1" kern="1200" dirty="0">
                <a:solidFill>
                  <a:schemeClr val="tx1"/>
                </a:solidFill>
                <a:effectLst/>
                <a:latin typeface="+mn-lt"/>
                <a:ea typeface="+mn-ea"/>
                <a:cs typeface="+mn-cs"/>
              </a:rPr>
              <a:t>Silent Evaluation Node</a:t>
            </a:r>
            <a:r>
              <a:rPr lang="en-US" sz="1200" kern="1200" dirty="0">
                <a:solidFill>
                  <a:schemeClr val="tx1"/>
                </a:solidFill>
                <a:effectLst/>
                <a:latin typeface="+mn-lt"/>
                <a:ea typeface="+mn-ea"/>
                <a:cs typeface="+mn-cs"/>
              </a:rPr>
              <a:t>, which compares the AI's proposal against the human's actual resolution in real time. </a:t>
            </a:r>
          </a:p>
          <a:p>
            <a:pPr lvl="0"/>
            <a:r>
              <a:rPr lang="en-US" sz="1200" kern="1200" dirty="0">
                <a:solidFill>
                  <a:schemeClr val="tx1"/>
                </a:solidFill>
                <a:effectLst/>
                <a:latin typeface="+mn-lt"/>
                <a:ea typeface="+mn-ea"/>
                <a:cs typeface="+mn-cs"/>
              </a:rPr>
              <a:t>Shadow deployments allow engineering teams to identify edge cases, refine prompts, and eliminate silent failures before making a live system cutover. </a:t>
            </a:r>
          </a:p>
        </p:txBody>
      </p:sp>
      <p:sp>
        <p:nvSpPr>
          <p:cNvPr id="4" name="Slide Number Placeholder 3"/>
          <p:cNvSpPr>
            <a:spLocks noGrp="1"/>
          </p:cNvSpPr>
          <p:nvPr>
            <p:ph type="sldNum" sz="quarter" idx="5"/>
          </p:nvPr>
        </p:nvSpPr>
        <p:spPr/>
        <p:txBody>
          <a:bodyPr/>
          <a:lstStyle/>
          <a:p>
            <a:fld id="{E00791E9-21CD-49F9-81A3-B9892B64551A}" type="slidenum">
              <a:rPr lang="en-US" smtClean="0"/>
              <a:t>8</a:t>
            </a:fld>
            <a:endParaRPr lang="en-US"/>
          </a:p>
        </p:txBody>
      </p:sp>
    </p:spTree>
    <p:extLst>
      <p:ext uri="{BB962C8B-B14F-4D97-AF65-F5344CB8AC3E}">
        <p14:creationId xmlns:p14="http://schemas.microsoft.com/office/powerpoint/2010/main" val="31775522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When an AI model experiences quality degradation or low confidence, rolling back the entire application is often too disruptive. </a:t>
            </a:r>
          </a:p>
          <a:p>
            <a:pPr lvl="0"/>
            <a:r>
              <a:rPr lang="en-US" sz="1200" kern="1200" dirty="0">
                <a:solidFill>
                  <a:schemeClr val="tx1"/>
                </a:solidFill>
                <a:effectLst/>
                <a:latin typeface="+mn-lt"/>
                <a:ea typeface="+mn-ea"/>
                <a:cs typeface="+mn-cs"/>
              </a:rPr>
              <a:t>A more mature approach is </a:t>
            </a:r>
            <a:r>
              <a:rPr lang="en-US" sz="1200" b="1" kern="1200" dirty="0">
                <a:solidFill>
                  <a:schemeClr val="tx1"/>
                </a:solidFill>
                <a:effectLst/>
                <a:latin typeface="+mn-lt"/>
                <a:ea typeface="+mn-ea"/>
                <a:cs typeface="+mn-cs"/>
              </a:rPr>
              <a:t>Automated Escalation with Targeted Human-in-the-Loop Routing</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Consider this workflow for document processing:</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AI Agent Output</a:t>
            </a:r>
            <a:r>
              <a:rPr lang="en-US" sz="1200" kern="1200" dirty="0">
                <a:solidFill>
                  <a:schemeClr val="tx1"/>
                </a:solidFill>
                <a:effectLst/>
                <a:latin typeface="+mn-lt"/>
                <a:ea typeface="+mn-ea"/>
                <a:cs typeface="+mn-cs"/>
              </a:rPr>
              <a:t> is evaluated in real time using an </a:t>
            </a:r>
            <a:r>
              <a:rPr lang="en-US" sz="1200" b="1" kern="1200" dirty="0">
                <a:solidFill>
                  <a:schemeClr val="tx1"/>
                </a:solidFill>
                <a:effectLst/>
                <a:latin typeface="+mn-lt"/>
                <a:ea typeface="+mn-ea"/>
                <a:cs typeface="+mn-cs"/>
              </a:rPr>
              <a:t>LLM-as-a-Judge</a:t>
            </a:r>
            <a:r>
              <a:rPr lang="en-US" sz="1200" kern="1200" dirty="0">
                <a:solidFill>
                  <a:schemeClr val="tx1"/>
                </a:solidFill>
                <a:effectLst/>
                <a:latin typeface="+mn-lt"/>
                <a:ea typeface="+mn-ea"/>
                <a:cs typeface="+mn-cs"/>
              </a:rPr>
              <a:t> node to measure </a:t>
            </a:r>
            <a:r>
              <a:rPr lang="en-US" sz="1200" kern="1200" dirty="0" err="1">
                <a:solidFill>
                  <a:schemeClr val="tx1"/>
                </a:solidFill>
                <a:effectLst/>
                <a:latin typeface="+mn-lt"/>
                <a:ea typeface="+mn-ea"/>
                <a:cs typeface="+mn-cs"/>
              </a:rPr>
              <a:t>groundedness</a:t>
            </a:r>
            <a:r>
              <a:rPr lang="en-US" sz="1200" kern="1200" dirty="0">
                <a:solidFill>
                  <a:schemeClr val="tx1"/>
                </a:solidFill>
                <a:effectLst/>
                <a:latin typeface="+mn-lt"/>
                <a:ea typeface="+mn-ea"/>
                <a:cs typeface="+mn-cs"/>
              </a:rPr>
              <a:t> and completeness.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If the confidence score is high (e.g., </a:t>
            </a:r>
            <a:r>
              <a:rPr lang="en-US" sz="1200" b="1" kern="1200" dirty="0">
                <a:solidFill>
                  <a:schemeClr val="tx1"/>
                </a:solidFill>
                <a:effectLst/>
                <a:latin typeface="+mn-lt"/>
                <a:ea typeface="+mn-ea"/>
                <a:cs typeface="+mn-cs"/>
              </a:rPr>
              <a:t>&gt; 90%</a:t>
            </a:r>
            <a:r>
              <a:rPr lang="en-US" sz="1200" kern="1200" dirty="0">
                <a:solidFill>
                  <a:schemeClr val="tx1"/>
                </a:solidFill>
                <a:effectLst/>
                <a:latin typeface="+mn-lt"/>
                <a:ea typeface="+mn-ea"/>
                <a:cs typeface="+mn-cs"/>
              </a:rPr>
              <a:t>), the transaction proceeds automatically through downstream business systems.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If the confidence score drops (e.g., </a:t>
            </a:r>
            <a:r>
              <a:rPr lang="en-US" sz="1200" b="1" kern="1200" dirty="0">
                <a:solidFill>
                  <a:schemeClr val="tx1"/>
                </a:solidFill>
                <a:effectLst/>
                <a:latin typeface="+mn-lt"/>
                <a:ea typeface="+mn-ea"/>
                <a:cs typeface="+mn-cs"/>
              </a:rPr>
              <a:t>&lt; 90%</a:t>
            </a:r>
            <a:r>
              <a:rPr lang="en-US" sz="1200" kern="1200" dirty="0">
                <a:solidFill>
                  <a:schemeClr val="tx1"/>
                </a:solidFill>
                <a:effectLst/>
                <a:latin typeface="+mn-lt"/>
                <a:ea typeface="+mn-ea"/>
                <a:cs typeface="+mn-cs"/>
              </a:rPr>
              <a:t>), the specific document is flagged and routed directly to a human reviewer. </a:t>
            </a:r>
          </a:p>
          <a:p>
            <a:pPr lvl="0"/>
            <a:r>
              <a:rPr lang="en-US" sz="1200" kern="1200" dirty="0">
                <a:solidFill>
                  <a:schemeClr val="tx1"/>
                </a:solidFill>
                <a:effectLst/>
                <a:latin typeface="+mn-lt"/>
                <a:ea typeface="+mn-ea"/>
                <a:cs typeface="+mn-cs"/>
              </a:rPr>
              <a:t>This design prevents low-confidence decisions from impacting operations while capturing granular failure data to fine-tune the model.</a:t>
            </a:r>
          </a:p>
        </p:txBody>
      </p:sp>
      <p:sp>
        <p:nvSpPr>
          <p:cNvPr id="4" name="Slide Number Placeholder 3"/>
          <p:cNvSpPr>
            <a:spLocks noGrp="1"/>
          </p:cNvSpPr>
          <p:nvPr>
            <p:ph type="sldNum" sz="quarter" idx="5"/>
          </p:nvPr>
        </p:nvSpPr>
        <p:spPr/>
        <p:txBody>
          <a:bodyPr/>
          <a:lstStyle/>
          <a:p>
            <a:fld id="{E00791E9-21CD-49F9-81A3-B9892B64551A}" type="slidenum">
              <a:rPr lang="en-US" smtClean="0"/>
              <a:t>9</a:t>
            </a:fld>
            <a:endParaRPr lang="en-US"/>
          </a:p>
        </p:txBody>
      </p:sp>
    </p:spTree>
    <p:extLst>
      <p:ext uri="{BB962C8B-B14F-4D97-AF65-F5344CB8AC3E}">
        <p14:creationId xmlns:p14="http://schemas.microsoft.com/office/powerpoint/2010/main" val="5762205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Detecting that an AI model generated an output is only the first step. The true governance challenge is auditing everything that decision touched downstream. </a:t>
                </a:r>
              </a:p>
              <a:p>
                <a:pPr lvl="0"/>
                <a:r>
                  <a:rPr lang="en-US" sz="1200" kern="1200" dirty="0">
                    <a:solidFill>
                      <a:schemeClr val="tx1"/>
                    </a:solidFill>
                    <a:effectLst/>
                    <a:latin typeface="+mn-lt"/>
                    <a:ea typeface="+mn-ea"/>
                    <a:cs typeface="+mn-cs"/>
                  </a:rPr>
                  <a:t>As an AI agent takes action, it triggers a chain reaction: </a:t>
                </a:r>
              </a:p>
              <a:p>
                <a:pPr lvl="1"/>
                <a:r>
                  <a:rPr lang="en-US" sz="1200" b="1" kern="1200" dirty="0">
                    <a:solidFill>
                      <a:schemeClr val="tx1"/>
                    </a:solidFill>
                    <a:effectLst/>
                    <a:latin typeface="+mn-lt"/>
                    <a:ea typeface="+mn-ea"/>
                    <a:cs typeface="+mn-cs"/>
                  </a:rPr>
                  <a:t>AI Decision Made</a:t>
                </a:r>
                <a:r>
                  <a:rPr lang="en-US" sz="1200" kern="1200" dirty="0">
                    <a:solidFill>
                      <a:schemeClr val="tx1"/>
                    </a:solidFill>
                    <a:effectLst/>
                    <a:latin typeface="+mn-lt"/>
                    <a:ea typeface="+mn-ea"/>
                    <a:cs typeface="+mn-cs"/>
                  </a:rPr>
                  <a:t>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b="1" kern="1200" dirty="0">
                    <a:solidFill>
                      <a:schemeClr val="tx1"/>
                    </a:solidFill>
                    <a:effectLst/>
                    <a:latin typeface="+mn-lt"/>
                    <a:ea typeface="+mn-ea"/>
                    <a:cs typeface="+mn-cs"/>
                  </a:rPr>
                  <a:t>Transaction Triggered</a:t>
                </a:r>
                <a:r>
                  <a:rPr lang="en-US" sz="1200" kern="1200" dirty="0">
                    <a:solidFill>
                      <a:schemeClr val="tx1"/>
                    </a:solidFill>
                    <a:effectLst/>
                    <a:latin typeface="+mn-lt"/>
                    <a:ea typeface="+mn-ea"/>
                    <a:cs typeface="+mn-cs"/>
                  </a:rPr>
                  <a:t>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b="1" kern="1200" dirty="0">
                    <a:solidFill>
                      <a:schemeClr val="tx1"/>
                    </a:solidFill>
                    <a:effectLst/>
                    <a:latin typeface="+mn-lt"/>
                    <a:ea typeface="+mn-ea"/>
                    <a:cs typeface="+mn-cs"/>
                  </a:rPr>
                  <a:t>Workflow Altered</a:t>
                </a:r>
                <a:r>
                  <a:rPr lang="en-US" sz="1200" kern="1200" dirty="0">
                    <a:solidFill>
                      <a:schemeClr val="tx1"/>
                    </a:solidFill>
                    <a:effectLst/>
                    <a:latin typeface="+mn-lt"/>
                    <a:ea typeface="+mn-ea"/>
                    <a:cs typeface="+mn-cs"/>
                  </a:rPr>
                  <a:t> </a:t>
                </a:r>
                <a14:m>
                  <m:oMath xmlns:m="http://schemas.openxmlformats.org/officeDocument/2006/math">
                    <m:r>
                      <a:rPr lang="en-US" sz="1200" kern="1200" smtClean="0">
                        <a:solidFill>
                          <a:schemeClr val="tx1"/>
                        </a:solidFill>
                        <a:latin typeface="Cambria Math" panose="02040503050406030204" pitchFamily="18" charset="0"/>
                        <a:ea typeface="+mn-ea"/>
                        <a:cs typeface="+mn-cs"/>
                      </a:rPr>
                      <m:t>→</m:t>
                    </m:r>
                  </m:oMath>
                </a14:m>
                <a:r>
                  <a:rPr lang="en-US" sz="1200" b="1" kern="1200" dirty="0">
                    <a:solidFill>
                      <a:schemeClr val="tx1"/>
                    </a:solidFill>
                    <a:effectLst/>
                    <a:latin typeface="+mn-lt"/>
                    <a:ea typeface="+mn-ea"/>
                    <a:cs typeface="+mn-cs"/>
                  </a:rPr>
                  <a:t>Customer Experience Reached</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If an AI-driven pricing agent incorrectly grants a billing discount, that decision impacts ERP records, financial ledgers, fulfillment systems, and customer receipts. </a:t>
                </a:r>
              </a:p>
              <a:p>
                <a:pPr lvl="0"/>
                <a:r>
                  <a:rPr lang="en-US" sz="1200" kern="1200" dirty="0">
                    <a:solidFill>
                      <a:schemeClr val="tx1"/>
                    </a:solidFill>
                    <a:effectLst/>
                    <a:latin typeface="+mn-lt"/>
                    <a:ea typeface="+mn-ea"/>
                    <a:cs typeface="+mn-cs"/>
                  </a:rPr>
                  <a:t>To ensure auditability, metadata—including model version, prompt parameters, confidence score, and timestamp—must attach directly to the transaction as it traverses your enterprise systems of record. </a:t>
                </a:r>
              </a:p>
            </p:txBody>
          </p:sp>
        </mc:Choice>
        <mc:Fallback xmlns="">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Detecting that an AI model generated an output is only the first step. The true governance challenge is auditing everything that decision touched downstream. </a:t>
                </a:r>
              </a:p>
              <a:p>
                <a:pPr lvl="0"/>
                <a:r>
                  <a:rPr lang="en-US" sz="1200" kern="1200" dirty="0">
                    <a:solidFill>
                      <a:schemeClr val="tx1"/>
                    </a:solidFill>
                    <a:effectLst/>
                    <a:latin typeface="+mn-lt"/>
                    <a:ea typeface="+mn-ea"/>
                    <a:cs typeface="+mn-cs"/>
                  </a:rPr>
                  <a:t>As an AI agent takes action, it triggers a chain reaction: </a:t>
                </a:r>
              </a:p>
              <a:p>
                <a:pPr lvl="1"/>
                <a:r>
                  <a:rPr lang="en-US" sz="1200" b="1" kern="1200" dirty="0">
                    <a:solidFill>
                      <a:schemeClr val="tx1"/>
                    </a:solidFill>
                    <a:effectLst/>
                    <a:latin typeface="+mn-lt"/>
                    <a:ea typeface="+mn-ea"/>
                    <a:cs typeface="+mn-cs"/>
                  </a:rPr>
                  <a:t>AI Decision Made</a:t>
                </a:r>
                <a:r>
                  <a:rPr lang="en-US" sz="1200" kern="1200" dirty="0">
                    <a:solidFill>
                      <a:schemeClr val="tx1"/>
                    </a:solidFill>
                    <a:effectLst/>
                    <a:latin typeface="+mn-lt"/>
                    <a:ea typeface="+mn-ea"/>
                    <a:cs typeface="+mn-cs"/>
                  </a:rPr>
                  <a:t> </a:t>
                </a:r>
                <a:r>
                  <a:rPr lang="en-US" sz="1200" i="0" kern="1200">
                    <a:solidFill>
                      <a:schemeClr val="tx1"/>
                    </a:solidFill>
                    <a:latin typeface="+mn-lt"/>
                    <a:ea typeface="+mn-ea"/>
                    <a:cs typeface="+mn-cs"/>
                  </a:rPr>
                  <a:t>→</a:t>
                </a:r>
                <a:r>
                  <a:rPr lang="en-US" sz="1200" b="1" kern="1200" dirty="0">
                    <a:solidFill>
                      <a:schemeClr val="tx1"/>
                    </a:solidFill>
                    <a:effectLst/>
                    <a:latin typeface="+mn-lt"/>
                    <a:ea typeface="+mn-ea"/>
                    <a:cs typeface="+mn-cs"/>
                  </a:rPr>
                  <a:t>Transaction Triggered</a:t>
                </a:r>
                <a:r>
                  <a:rPr lang="en-US" sz="1200" kern="1200" dirty="0">
                    <a:solidFill>
                      <a:schemeClr val="tx1"/>
                    </a:solidFill>
                    <a:effectLst/>
                    <a:latin typeface="+mn-lt"/>
                    <a:ea typeface="+mn-ea"/>
                    <a:cs typeface="+mn-cs"/>
                  </a:rPr>
                  <a:t> </a:t>
                </a:r>
                <a:r>
                  <a:rPr lang="en-US" sz="1200" i="0" kern="1200">
                    <a:solidFill>
                      <a:schemeClr val="tx1"/>
                    </a:solidFill>
                    <a:latin typeface="+mn-lt"/>
                    <a:ea typeface="+mn-ea"/>
                    <a:cs typeface="+mn-cs"/>
                  </a:rPr>
                  <a:t>→</a:t>
                </a:r>
                <a:r>
                  <a:rPr lang="en-US" sz="1200" b="1" kern="1200" dirty="0">
                    <a:solidFill>
                      <a:schemeClr val="tx1"/>
                    </a:solidFill>
                    <a:effectLst/>
                    <a:latin typeface="+mn-lt"/>
                    <a:ea typeface="+mn-ea"/>
                    <a:cs typeface="+mn-cs"/>
                  </a:rPr>
                  <a:t>Workflow Altered</a:t>
                </a:r>
                <a:r>
                  <a:rPr lang="en-US" sz="1200" kern="1200" dirty="0">
                    <a:solidFill>
                      <a:schemeClr val="tx1"/>
                    </a:solidFill>
                    <a:effectLst/>
                    <a:latin typeface="+mn-lt"/>
                    <a:ea typeface="+mn-ea"/>
                    <a:cs typeface="+mn-cs"/>
                  </a:rPr>
                  <a:t> </a:t>
                </a:r>
                <a:r>
                  <a:rPr lang="en-US" sz="1200" i="0" kern="1200">
                    <a:solidFill>
                      <a:schemeClr val="tx1"/>
                    </a:solidFill>
                    <a:latin typeface="+mn-lt"/>
                    <a:ea typeface="+mn-ea"/>
                    <a:cs typeface="+mn-cs"/>
                  </a:rPr>
                  <a:t>→</a:t>
                </a:r>
                <a:r>
                  <a:rPr lang="en-US" sz="1200" b="1" kern="1200" dirty="0">
                    <a:solidFill>
                      <a:schemeClr val="tx1"/>
                    </a:solidFill>
                    <a:effectLst/>
                    <a:latin typeface="+mn-lt"/>
                    <a:ea typeface="+mn-ea"/>
                    <a:cs typeface="+mn-cs"/>
                  </a:rPr>
                  <a:t>Customer Experience Reached</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If an AI-driven pricing agent incorrectly grants a billing discount, that decision impacts ERP records, financial ledgers, fulfillment systems, and customer receipts. </a:t>
                </a:r>
              </a:p>
              <a:p>
                <a:pPr lvl="0"/>
                <a:r>
                  <a:rPr lang="en-US" sz="1200" kern="1200" dirty="0">
                    <a:solidFill>
                      <a:schemeClr val="tx1"/>
                    </a:solidFill>
                    <a:effectLst/>
                    <a:latin typeface="+mn-lt"/>
                    <a:ea typeface="+mn-ea"/>
                    <a:cs typeface="+mn-cs"/>
                  </a:rPr>
                  <a:t>To ensure auditability, metadata—including model version, prompt parameters, confidence score, and timestamp—must attach directly to the transaction as it traverses your enterprise systems of record. </a:t>
                </a:r>
              </a:p>
            </p:txBody>
          </p:sp>
        </mc:Fallback>
      </mc:AlternateContent>
      <p:sp>
        <p:nvSpPr>
          <p:cNvPr id="4" name="Slide Number Placeholder 3"/>
          <p:cNvSpPr>
            <a:spLocks noGrp="1"/>
          </p:cNvSpPr>
          <p:nvPr>
            <p:ph type="sldNum" sz="quarter" idx="5"/>
          </p:nvPr>
        </p:nvSpPr>
        <p:spPr/>
        <p:txBody>
          <a:bodyPr/>
          <a:lstStyle/>
          <a:p>
            <a:fld id="{E00791E9-21CD-49F9-81A3-B9892B64551A}" type="slidenum">
              <a:rPr lang="en-US" smtClean="0"/>
              <a:t>10</a:t>
            </a:fld>
            <a:endParaRPr lang="en-US"/>
          </a:p>
        </p:txBody>
      </p:sp>
    </p:spTree>
    <p:extLst>
      <p:ext uri="{BB962C8B-B14F-4D97-AF65-F5344CB8AC3E}">
        <p14:creationId xmlns:p14="http://schemas.microsoft.com/office/powerpoint/2010/main" val="1930826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implement end-to-end auditability across disparate technologies, enterprises must avoid proprietary lock-in and adopt open standards.</a:t>
            </a:r>
          </a:p>
          <a:p>
            <a:pPr lvl="0"/>
            <a:r>
              <a:rPr lang="en-US" sz="1200" b="1" kern="1200" dirty="0" err="1">
                <a:solidFill>
                  <a:schemeClr val="tx1"/>
                </a:solidFill>
                <a:effectLst/>
                <a:latin typeface="+mn-lt"/>
                <a:ea typeface="+mn-ea"/>
                <a:cs typeface="+mn-cs"/>
              </a:rPr>
              <a:t>OpenTelemetry</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OTel</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has emerged as the industry standard for AI and application telemetry. </a:t>
            </a:r>
          </a:p>
          <a:p>
            <a:pPr lvl="0"/>
            <a:r>
              <a:rPr lang="en-US" sz="1200" kern="1200" dirty="0" err="1">
                <a:solidFill>
                  <a:schemeClr val="tx1"/>
                </a:solidFill>
                <a:effectLst/>
                <a:latin typeface="+mn-lt"/>
                <a:ea typeface="+mn-ea"/>
                <a:cs typeface="+mn-cs"/>
              </a:rPr>
              <a:t>OpenTelemetry</a:t>
            </a:r>
            <a:r>
              <a:rPr lang="en-US" sz="1200" kern="1200" dirty="0">
                <a:solidFill>
                  <a:schemeClr val="tx1"/>
                </a:solidFill>
                <a:effectLst/>
                <a:latin typeface="+mn-lt"/>
                <a:ea typeface="+mn-ea"/>
                <a:cs typeface="+mn-cs"/>
              </a:rPr>
              <a:t> provides three foundational capabilities for AI observability: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End-to-End Tracing:</a:t>
            </a:r>
            <a:r>
              <a:rPr lang="en-US" sz="1200" kern="1200" dirty="0">
                <a:solidFill>
                  <a:schemeClr val="tx1"/>
                </a:solidFill>
                <a:effectLst/>
                <a:latin typeface="+mn-lt"/>
                <a:ea typeface="+mn-ea"/>
                <a:cs typeface="+mn-cs"/>
              </a:rPr>
              <a:t> Trace a single transaction starting from the front-end user interface, through the prompt construction, to vector database (RAG) lookups, tool calls, LLM execution, and final UI rendering.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Standardized Metadata:</a:t>
            </a:r>
            <a:r>
              <a:rPr lang="en-US" sz="1200" kern="1200" dirty="0">
                <a:solidFill>
                  <a:schemeClr val="tx1"/>
                </a:solidFill>
                <a:effectLst/>
                <a:latin typeface="+mn-lt"/>
                <a:ea typeface="+mn-ea"/>
                <a:cs typeface="+mn-cs"/>
              </a:rPr>
              <a:t> Enforce consistent semantic conventions across all teams for capturing input/output tokens, model identifiers, and system prompts.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Explainability &amp; Auditability:</a:t>
            </a:r>
            <a:r>
              <a:rPr lang="en-US" sz="1200" kern="1200" dirty="0">
                <a:solidFill>
                  <a:schemeClr val="tx1"/>
                </a:solidFill>
                <a:effectLst/>
                <a:latin typeface="+mn-lt"/>
                <a:ea typeface="+mn-ea"/>
                <a:cs typeface="+mn-cs"/>
              </a:rPr>
              <a:t> Secure an immutable audit trail to reconstruct events, analyze decision paths, and verify guardrail compliance during regulatory reviews. </a:t>
            </a:r>
          </a:p>
        </p:txBody>
      </p:sp>
      <p:sp>
        <p:nvSpPr>
          <p:cNvPr id="4" name="Slide Number Placeholder 3"/>
          <p:cNvSpPr>
            <a:spLocks noGrp="1"/>
          </p:cNvSpPr>
          <p:nvPr>
            <p:ph type="sldNum" sz="quarter" idx="5"/>
          </p:nvPr>
        </p:nvSpPr>
        <p:spPr/>
        <p:txBody>
          <a:bodyPr/>
          <a:lstStyle/>
          <a:p>
            <a:fld id="{E00791E9-21CD-49F9-81A3-B9892B64551A}" type="slidenum">
              <a:rPr lang="en-US" smtClean="0"/>
              <a:t>11</a:t>
            </a:fld>
            <a:endParaRPr lang="en-US"/>
          </a:p>
        </p:txBody>
      </p:sp>
    </p:spTree>
    <p:extLst>
      <p:ext uri="{BB962C8B-B14F-4D97-AF65-F5344CB8AC3E}">
        <p14:creationId xmlns:p14="http://schemas.microsoft.com/office/powerpoint/2010/main" val="5893202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 common obstacle when deploying enterprise SaaS or out-of-the-box AI builders (such as Microsoft Copilot Studio) is platform opacity. </a:t>
            </a:r>
          </a:p>
          <a:p>
            <a:pPr lvl="0"/>
            <a:r>
              <a:rPr lang="en-US" sz="1200" kern="1200" dirty="0">
                <a:solidFill>
                  <a:schemeClr val="tx1"/>
                </a:solidFill>
                <a:effectLst/>
                <a:latin typeface="+mn-lt"/>
                <a:ea typeface="+mn-ea"/>
                <a:cs typeface="+mn-cs"/>
              </a:rPr>
              <a:t>Many built-in administrative portals show basic usage metrics and user counts, but hide the internal reasoning, prompt context, and intermediate tool calls. </a:t>
            </a:r>
          </a:p>
          <a:p>
            <a:pPr lvl="0"/>
            <a:r>
              <a:rPr lang="en-US" sz="1200" kern="1200" dirty="0">
                <a:solidFill>
                  <a:schemeClr val="tx1"/>
                </a:solidFill>
                <a:effectLst/>
                <a:latin typeface="+mn-lt"/>
                <a:ea typeface="+mn-ea"/>
                <a:cs typeface="+mn-cs"/>
              </a:rPr>
              <a:t>To gain full visibility, organizations can implement three architectural patterns: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Gateway Logging:</a:t>
            </a:r>
            <a:r>
              <a:rPr lang="en-US" sz="1200" kern="1200" dirty="0">
                <a:solidFill>
                  <a:schemeClr val="tx1"/>
                </a:solidFill>
                <a:effectLst/>
                <a:latin typeface="+mn-lt"/>
                <a:ea typeface="+mn-ea"/>
                <a:cs typeface="+mn-cs"/>
              </a:rPr>
              <a:t> Route agent traffic through a controlled API gateway to independently log inputs, responses, and latency outside the SaaS platform.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Custom Telemetry:</a:t>
            </a:r>
            <a:r>
              <a:rPr lang="en-US" sz="1200" kern="1200" dirty="0">
                <a:solidFill>
                  <a:schemeClr val="tx1"/>
                </a:solidFill>
                <a:effectLst/>
                <a:latin typeface="+mn-lt"/>
                <a:ea typeface="+mn-ea"/>
                <a:cs typeface="+mn-cs"/>
              </a:rPr>
              <a:t> Embed custom telemetry SDKs directly within bespoke agent code bases to capture internal decision logic.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Third-Party Integration:</a:t>
            </a:r>
            <a:r>
              <a:rPr lang="en-US" sz="1200" kern="1200" dirty="0">
                <a:solidFill>
                  <a:schemeClr val="tx1"/>
                </a:solidFill>
                <a:effectLst/>
                <a:latin typeface="+mn-lt"/>
                <a:ea typeface="+mn-ea"/>
                <a:cs typeface="+mn-cs"/>
              </a:rPr>
              <a:t> Stream standardized </a:t>
            </a:r>
            <a:r>
              <a:rPr lang="en-US" sz="1200" kern="1200" dirty="0" err="1">
                <a:solidFill>
                  <a:schemeClr val="tx1"/>
                </a:solidFill>
                <a:effectLst/>
                <a:latin typeface="+mn-lt"/>
                <a:ea typeface="+mn-ea"/>
                <a:cs typeface="+mn-cs"/>
              </a:rPr>
              <a:t>OpenTelemetry</a:t>
            </a:r>
            <a:r>
              <a:rPr lang="en-US" sz="1200" kern="1200" dirty="0">
                <a:solidFill>
                  <a:schemeClr val="tx1"/>
                </a:solidFill>
                <a:effectLst/>
                <a:latin typeface="+mn-lt"/>
                <a:ea typeface="+mn-ea"/>
                <a:cs typeface="+mn-cs"/>
              </a:rPr>
              <a:t> data into enterprise observability backends (such as Dynatrace) to stitch AI telemetry directly to underlying application infrastructure. </a:t>
            </a:r>
          </a:p>
        </p:txBody>
      </p:sp>
      <p:sp>
        <p:nvSpPr>
          <p:cNvPr id="4" name="Slide Number Placeholder 3"/>
          <p:cNvSpPr>
            <a:spLocks noGrp="1"/>
          </p:cNvSpPr>
          <p:nvPr>
            <p:ph type="sldNum" sz="quarter" idx="5"/>
          </p:nvPr>
        </p:nvSpPr>
        <p:spPr/>
        <p:txBody>
          <a:bodyPr/>
          <a:lstStyle/>
          <a:p>
            <a:fld id="{E00791E9-21CD-49F9-81A3-B9892B64551A}" type="slidenum">
              <a:rPr lang="en-US" smtClean="0"/>
              <a:t>12</a:t>
            </a:fld>
            <a:endParaRPr lang="en-US"/>
          </a:p>
        </p:txBody>
      </p:sp>
    </p:spTree>
    <p:extLst>
      <p:ext uri="{BB962C8B-B14F-4D97-AF65-F5344CB8AC3E}">
        <p14:creationId xmlns:p14="http://schemas.microsoft.com/office/powerpoint/2010/main" val="36472757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There is a frequent disconnect between executive governance policies and technical execution. </a:t>
            </a:r>
          </a:p>
          <a:p>
            <a:pPr lvl="0"/>
            <a:r>
              <a:rPr lang="en-US" sz="1200" kern="1200" dirty="0">
                <a:solidFill>
                  <a:schemeClr val="tx1"/>
                </a:solidFill>
                <a:effectLst/>
                <a:latin typeface="+mn-lt"/>
                <a:ea typeface="+mn-ea"/>
                <a:cs typeface="+mn-cs"/>
              </a:rPr>
              <a:t>Governance frameworks rarely fail because their principles are wrong; they fail because monitoring is not connected to compliance requirements. </a:t>
            </a:r>
          </a:p>
          <a:p>
            <a:pPr lvl="0"/>
            <a:r>
              <a:rPr lang="en-US" sz="1200" kern="1200" dirty="0">
                <a:solidFill>
                  <a:schemeClr val="tx1"/>
                </a:solidFill>
                <a:effectLst/>
                <a:latin typeface="+mn-lt"/>
                <a:ea typeface="+mn-ea"/>
                <a:cs typeface="+mn-cs"/>
              </a:rPr>
              <a:t>You cannot audit an autonomous agent, respond to a security incident, or satisfy regulatory bodies using static policy documents or manual spreadsheets. </a:t>
            </a:r>
          </a:p>
          <a:p>
            <a:pPr lvl="0"/>
            <a:r>
              <a:rPr lang="en-US" sz="1200" kern="1200" dirty="0">
                <a:solidFill>
                  <a:schemeClr val="tx1"/>
                </a:solidFill>
                <a:effectLst/>
                <a:latin typeface="+mn-lt"/>
                <a:ea typeface="+mn-ea"/>
                <a:cs typeface="+mn-cs"/>
              </a:rPr>
              <a:t>Compliance must be backed by live, traced telemetry that proves what the AI evaluated, what decisions it made, and which safety guardrails were executed at every step. </a:t>
            </a:r>
          </a:p>
        </p:txBody>
      </p:sp>
      <p:sp>
        <p:nvSpPr>
          <p:cNvPr id="4" name="Slide Number Placeholder 3"/>
          <p:cNvSpPr>
            <a:spLocks noGrp="1"/>
          </p:cNvSpPr>
          <p:nvPr>
            <p:ph type="sldNum" sz="quarter" idx="5"/>
          </p:nvPr>
        </p:nvSpPr>
        <p:spPr/>
        <p:txBody>
          <a:bodyPr/>
          <a:lstStyle/>
          <a:p>
            <a:fld id="{E00791E9-21CD-49F9-81A3-B9892B64551A}" type="slidenum">
              <a:rPr lang="en-US" smtClean="0"/>
              <a:t>13</a:t>
            </a:fld>
            <a:endParaRPr lang="en-US"/>
          </a:p>
        </p:txBody>
      </p:sp>
    </p:spTree>
    <p:extLst>
      <p:ext uri="{BB962C8B-B14F-4D97-AF65-F5344CB8AC3E}">
        <p14:creationId xmlns:p14="http://schemas.microsoft.com/office/powerpoint/2010/main" val="34867035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As multiple business units build their own AI tools, a major operational challenge arises: </a:t>
            </a:r>
            <a:r>
              <a:rPr lang="en-US" sz="1200" b="1" kern="1200" dirty="0">
                <a:solidFill>
                  <a:schemeClr val="tx1"/>
                </a:solidFill>
                <a:effectLst/>
                <a:latin typeface="+mn-lt"/>
                <a:ea typeface="+mn-ea"/>
                <a:cs typeface="+mn-cs"/>
              </a:rPr>
              <a:t>fragmentation</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If every team builds custom dashboards, metric definitions, and safety rules, enterprise governance becomes unmanageable.</a:t>
            </a:r>
          </a:p>
          <a:p>
            <a:pPr lvl="0"/>
            <a:r>
              <a:rPr lang="en-US" sz="1200" kern="1200" dirty="0">
                <a:solidFill>
                  <a:schemeClr val="tx1"/>
                </a:solidFill>
                <a:effectLst/>
                <a:latin typeface="+mn-lt"/>
                <a:ea typeface="+mn-ea"/>
                <a:cs typeface="+mn-cs"/>
              </a:rPr>
              <a:t>To </a:t>
            </a:r>
            <a:r>
              <a:rPr lang="en-US" sz="1200" kern="1200" dirty="0" err="1">
                <a:solidFill>
                  <a:schemeClr val="tx1"/>
                </a:solidFill>
                <a:effectLst/>
                <a:latin typeface="+mn-lt"/>
                <a:ea typeface="+mn-ea"/>
                <a:cs typeface="+mn-cs"/>
              </a:rPr>
              <a:t>slve</a:t>
            </a:r>
            <a:r>
              <a:rPr lang="en-US" sz="1200" kern="1200" dirty="0">
                <a:solidFill>
                  <a:schemeClr val="tx1"/>
                </a:solidFill>
                <a:effectLst/>
                <a:latin typeface="+mn-lt"/>
                <a:ea typeface="+mn-ea"/>
                <a:cs typeface="+mn-cs"/>
              </a:rPr>
              <a:t> this, organizations should deploy </a:t>
            </a:r>
            <a:r>
              <a:rPr lang="en-US" sz="1200" b="1" kern="1200" dirty="0">
                <a:solidFill>
                  <a:schemeClr val="tx1"/>
                </a:solidFill>
                <a:effectLst/>
                <a:latin typeface="+mn-lt"/>
                <a:ea typeface="+mn-ea"/>
                <a:cs typeface="+mn-cs"/>
              </a:rPr>
              <a:t>Guardrails as a Service</a:t>
            </a:r>
            <a:r>
              <a:rPr lang="en-US" sz="1200" kern="1200" dirty="0">
                <a:solidFill>
                  <a:schemeClr val="tx1"/>
                </a:solidFill>
                <a:effectLst/>
                <a:latin typeface="+mn-lt"/>
                <a:ea typeface="+mn-ea"/>
                <a:cs typeface="+mn-cs"/>
              </a:rPr>
              <a:t> across three structured tiers: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Organizational Tier:</a:t>
            </a:r>
            <a:r>
              <a:rPr lang="en-US" sz="1200" kern="1200" dirty="0">
                <a:solidFill>
                  <a:schemeClr val="tx1"/>
                </a:solidFill>
                <a:effectLst/>
                <a:latin typeface="+mn-lt"/>
                <a:ea typeface="+mn-ea"/>
                <a:cs typeface="+mn-cs"/>
              </a:rPr>
              <a:t> Define shared enterprise metrics, taxonomy, and governance frameworks across all business units.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Operational Tier:</a:t>
            </a:r>
            <a:r>
              <a:rPr lang="en-US" sz="1200" kern="1200" dirty="0">
                <a:solidFill>
                  <a:schemeClr val="tx1"/>
                </a:solidFill>
                <a:effectLst/>
                <a:latin typeface="+mn-lt"/>
                <a:ea typeface="+mn-ea"/>
                <a:cs typeface="+mn-cs"/>
              </a:rPr>
              <a:t> Establish centralized hallucination thresholds, safety boundaries, and human escalation workflows.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Technical Tier:</a:t>
            </a:r>
            <a:r>
              <a:rPr lang="en-US" sz="1200" kern="1200" dirty="0">
                <a:solidFill>
                  <a:schemeClr val="tx1"/>
                </a:solidFill>
                <a:effectLst/>
                <a:latin typeface="+mn-lt"/>
                <a:ea typeface="+mn-ea"/>
                <a:cs typeface="+mn-cs"/>
              </a:rPr>
              <a:t> Provide standardized logging schemas, </a:t>
            </a:r>
            <a:r>
              <a:rPr lang="en-US" sz="1200" kern="1200" dirty="0" err="1">
                <a:solidFill>
                  <a:schemeClr val="tx1"/>
                </a:solidFill>
                <a:effectLst/>
                <a:latin typeface="+mn-lt"/>
                <a:ea typeface="+mn-ea"/>
                <a:cs typeface="+mn-cs"/>
              </a:rPr>
              <a:t>OpenTelemetry</a:t>
            </a:r>
            <a:r>
              <a:rPr lang="en-US" sz="1200" kern="1200" dirty="0">
                <a:solidFill>
                  <a:schemeClr val="tx1"/>
                </a:solidFill>
                <a:effectLst/>
                <a:latin typeface="+mn-lt"/>
                <a:ea typeface="+mn-ea"/>
                <a:cs typeface="+mn-cs"/>
              </a:rPr>
              <a:t> libraries, and CI/CD pipeline integrations for engineering teams. </a:t>
            </a:r>
          </a:p>
        </p:txBody>
      </p:sp>
      <p:sp>
        <p:nvSpPr>
          <p:cNvPr id="4" name="Slide Number Placeholder 3"/>
          <p:cNvSpPr>
            <a:spLocks noGrp="1"/>
          </p:cNvSpPr>
          <p:nvPr>
            <p:ph type="sldNum" sz="quarter" idx="5"/>
          </p:nvPr>
        </p:nvSpPr>
        <p:spPr/>
        <p:txBody>
          <a:bodyPr/>
          <a:lstStyle/>
          <a:p>
            <a:fld id="{E00791E9-21CD-49F9-81A3-B9892B64551A}" type="slidenum">
              <a:rPr lang="en-US" smtClean="0"/>
              <a:t>14</a:t>
            </a:fld>
            <a:endParaRPr lang="en-US"/>
          </a:p>
        </p:txBody>
      </p:sp>
    </p:spTree>
    <p:extLst>
      <p:ext uri="{BB962C8B-B14F-4D97-AF65-F5344CB8AC3E}">
        <p14:creationId xmlns:p14="http://schemas.microsoft.com/office/powerpoint/2010/main" val="38707204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Looking ahead over the next 12 to 18 months, enterprise AI architecture will shift from single model prompts to complex, multi-agent systems.  </a:t>
            </a:r>
          </a:p>
          <a:p>
            <a:pPr lvl="0"/>
            <a:r>
              <a:rPr lang="en-US" sz="1200" kern="1200" dirty="0">
                <a:solidFill>
                  <a:schemeClr val="tx1"/>
                </a:solidFill>
                <a:effectLst/>
                <a:latin typeface="+mn-lt"/>
                <a:ea typeface="+mn-ea"/>
                <a:cs typeface="+mn-cs"/>
              </a:rPr>
              <a:t>In these environments, independent AI agents will coordinate autonomously to execute multi-step business operations.</a:t>
            </a:r>
          </a:p>
          <a:p>
            <a:pPr lvl="0"/>
            <a:r>
              <a:rPr lang="en-US" sz="1200" kern="1200" dirty="0">
                <a:solidFill>
                  <a:schemeClr val="tx1"/>
                </a:solidFill>
                <a:effectLst/>
                <a:latin typeface="+mn-lt"/>
                <a:ea typeface="+mn-ea"/>
                <a:cs typeface="+mn-cs"/>
              </a:rPr>
              <a:t>Observability must evolve beyond tracking individual LLM calls to tracing </a:t>
            </a:r>
            <a:r>
              <a:rPr lang="en-US" sz="1200" b="1" kern="1200" dirty="0">
                <a:solidFill>
                  <a:schemeClr val="tx1"/>
                </a:solidFill>
                <a:effectLst/>
                <a:latin typeface="+mn-lt"/>
                <a:ea typeface="+mn-ea"/>
                <a:cs typeface="+mn-cs"/>
              </a:rPr>
              <a:t>Agent-to-Agent interactions, tool handoffs, and distributed consensus</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Closing Principle: </a:t>
            </a:r>
            <a:r>
              <a:rPr lang="en-US" sz="1200" b="1" kern="1200" dirty="0">
                <a:solidFill>
                  <a:schemeClr val="tx1"/>
                </a:solidFill>
                <a:effectLst/>
                <a:latin typeface="+mn-lt"/>
                <a:ea typeface="+mn-ea"/>
                <a:cs typeface="+mn-cs"/>
              </a:rPr>
              <a:t>Trustworthy AI starts with visibility and grows from there. You cannot trust what you cannot see.</a:t>
            </a:r>
            <a:r>
              <a:rPr lang="en-US"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5"/>
          </p:nvPr>
        </p:nvSpPr>
        <p:spPr/>
        <p:txBody>
          <a:bodyPr/>
          <a:lstStyle/>
          <a:p>
            <a:fld id="{E00791E9-21CD-49F9-81A3-B9892B64551A}" type="slidenum">
              <a:rPr lang="en-US" smtClean="0"/>
              <a:t>15</a:t>
            </a:fld>
            <a:endParaRPr lang="en-US"/>
          </a:p>
        </p:txBody>
      </p:sp>
    </p:spTree>
    <p:extLst>
      <p:ext uri="{BB962C8B-B14F-4D97-AF65-F5344CB8AC3E}">
        <p14:creationId xmlns:p14="http://schemas.microsoft.com/office/powerpoint/2010/main" val="29297574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To summarize our session, this final playbook slide highlights the four pillars required to operationalize trust across enterprise AI:</a:t>
            </a:r>
          </a:p>
          <a:p>
            <a:pPr lvl="0"/>
            <a:r>
              <a:rPr lang="en-US" dirty="0"/>
              <a:t>1. </a:t>
            </a:r>
            <a:r>
              <a:rPr lang="en-US" b="1" dirty="0"/>
              <a:t>Shift the Question:</a:t>
            </a:r>
            <a:r>
              <a:rPr lang="en-US" dirty="0"/>
              <a:t> Balance traditional APM metrics (</a:t>
            </a:r>
            <a:r>
              <a:rPr lang="en-US" i="1" dirty="0"/>
              <a:t>Is it running?</a:t>
            </a:r>
            <a:r>
              <a:rPr lang="en-US" dirty="0"/>
              <a:t>) with continuous quality evaluations (</a:t>
            </a:r>
            <a:r>
              <a:rPr lang="en-US" i="1" dirty="0"/>
              <a:t>Is it right?</a:t>
            </a:r>
            <a:r>
              <a:rPr lang="en-US" dirty="0"/>
              <a:t>).</a:t>
            </a:r>
          </a:p>
          <a:p>
            <a:pPr lvl="0"/>
            <a:r>
              <a:rPr lang="en-US" dirty="0"/>
              <a:t>2. </a:t>
            </a:r>
            <a:r>
              <a:rPr lang="en-US" b="1" dirty="0"/>
              <a:t>Measure the Triple Crown of Metrics:</a:t>
            </a:r>
            <a:r>
              <a:rPr lang="en-US" dirty="0"/>
              <a:t> Continuously monitor </a:t>
            </a:r>
            <a:r>
              <a:rPr lang="en-US" b="1" dirty="0" err="1"/>
              <a:t>Groundedness</a:t>
            </a:r>
            <a:r>
              <a:rPr lang="en-US" dirty="0"/>
              <a:t> (verifiable data sources), </a:t>
            </a:r>
            <a:r>
              <a:rPr lang="en-US" b="1" dirty="0"/>
              <a:t>Completeness</a:t>
            </a:r>
            <a:r>
              <a:rPr lang="en-US" dirty="0"/>
              <a:t> (prompt coverage), and </a:t>
            </a:r>
            <a:r>
              <a:rPr lang="en-US" b="1" dirty="0"/>
              <a:t>Rejection Rate</a:t>
            </a:r>
            <a:r>
              <a:rPr lang="en-US" dirty="0"/>
              <a:t> (human overrides).</a:t>
            </a:r>
          </a:p>
          <a:p>
            <a:pPr lvl="0"/>
            <a:r>
              <a:rPr lang="en-US" dirty="0"/>
              <a:t>3. </a:t>
            </a:r>
            <a:r>
              <a:rPr lang="en-US" b="1" dirty="0"/>
              <a:t>Implement Safe Deployment Practices:</a:t>
            </a:r>
            <a:r>
              <a:rPr lang="en-US" dirty="0"/>
              <a:t> Utilize </a:t>
            </a:r>
            <a:r>
              <a:rPr lang="en-US" b="1" dirty="0"/>
              <a:t>Shadow Mode Deployments</a:t>
            </a:r>
            <a:r>
              <a:rPr lang="en-US" dirty="0"/>
              <a:t> to evaluate new models quietly against production baselines, and configure </a:t>
            </a:r>
            <a:r>
              <a:rPr lang="en-US" b="1" dirty="0"/>
              <a:t>Human-in-the-Loop Routing</a:t>
            </a:r>
            <a:r>
              <a:rPr lang="en-US" dirty="0"/>
              <a:t> when confidence scores drop.</a:t>
            </a:r>
          </a:p>
          <a:p>
            <a:pPr lvl="0"/>
            <a:r>
              <a:rPr lang="en-US" dirty="0"/>
              <a:t>4. </a:t>
            </a:r>
            <a:r>
              <a:rPr lang="en-US" b="1" dirty="0"/>
              <a:t>Enforce Financial and Technical Audit Trails:</a:t>
            </a:r>
            <a:r>
              <a:rPr lang="en-US" dirty="0"/>
              <a:t> Standardize on </a:t>
            </a:r>
            <a:r>
              <a:rPr lang="en-US" b="1" dirty="0" err="1"/>
              <a:t>OpenTelemetry</a:t>
            </a:r>
            <a:r>
              <a:rPr lang="en-US" dirty="0"/>
              <a:t> to maintain end-to-end decision lineage from prompt to downstream system impact, while managing token consumption through FinOps allocation.</a:t>
            </a:r>
          </a:p>
          <a:p>
            <a:pPr lvl="0"/>
            <a:r>
              <a:rPr lang="en-US" dirty="0"/>
              <a:t>By grounding your AI strategy in end-to-end observability, your organization can move AI out of sandbox pilots and confidently scale trustworthy systems into production.</a:t>
            </a:r>
          </a:p>
          <a:p>
            <a:endParaRPr lang="en-US" dirty="0"/>
          </a:p>
          <a:p>
            <a:endParaRPr lang="en-US" dirty="0"/>
          </a:p>
          <a:p>
            <a:endParaRPr lang="en-US" dirty="0"/>
          </a:p>
          <a:p>
            <a:r>
              <a:rPr lang="en-US" dirty="0"/>
              <a:t>Seeing Is Believing: AI Observability &amp; Trustworthy AI with SAP &amp; Dynatrace | Webinar Replay</a:t>
            </a:r>
          </a:p>
          <a:p>
            <a:r>
              <a:rPr lang="en-US" dirty="0"/>
              <a:t>https://www.youtube.com/watch?v=LglWwQRNhoI</a:t>
            </a:r>
          </a:p>
          <a:p>
            <a:endParaRPr lang="en-US" dirty="0"/>
          </a:p>
          <a:p>
            <a:endParaRPr lang="en-US" dirty="0"/>
          </a:p>
        </p:txBody>
      </p:sp>
      <p:sp>
        <p:nvSpPr>
          <p:cNvPr id="4" name="Slide Number Placeholder 3"/>
          <p:cNvSpPr>
            <a:spLocks noGrp="1"/>
          </p:cNvSpPr>
          <p:nvPr>
            <p:ph type="sldNum" sz="quarter" idx="5"/>
          </p:nvPr>
        </p:nvSpPr>
        <p:spPr/>
        <p:txBody>
          <a:bodyPr/>
          <a:lstStyle/>
          <a:p>
            <a:fld id="{E00791E9-21CD-49F9-81A3-B9892B64551A}" type="slidenum">
              <a:rPr lang="en-US" smtClean="0"/>
              <a:t>16</a:t>
            </a:fld>
            <a:endParaRPr lang="en-US"/>
          </a:p>
        </p:txBody>
      </p:sp>
    </p:spTree>
    <p:extLst>
      <p:ext uri="{BB962C8B-B14F-4D97-AF65-F5344CB8AC3E}">
        <p14:creationId xmlns:p14="http://schemas.microsoft.com/office/powerpoint/2010/main" val="12362735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7C0047-2CFD-59C8-FDA3-23B0170ABF9F}"/>
              </a:ext>
            </a:extLst>
          </p:cNvPr>
          <p:cNvSpPr>
            <a:spLocks noGrp="1"/>
          </p:cNvSpPr>
          <p:nvPr>
            <p:ph type="dt" sz="half" idx="10"/>
          </p:nvPr>
        </p:nvSpPr>
        <p:spPr/>
        <p:txBody>
          <a:bodyPr/>
          <a:lstStyle/>
          <a:p>
            <a:fld id="{484DD058-0C5B-4A29-A201-2E7A0DCF2253}" type="datetimeFigureOut">
              <a:rPr lang="en-US" smtClean="0"/>
              <a:t>10/21/2026</a:t>
            </a:fld>
            <a:endParaRPr lang="en-US"/>
          </a:p>
        </p:txBody>
      </p:sp>
      <p:sp>
        <p:nvSpPr>
          <p:cNvPr id="3" name="Footer Placeholder 2">
            <a:extLst>
              <a:ext uri="{FF2B5EF4-FFF2-40B4-BE49-F238E27FC236}">
                <a16:creationId xmlns:a16="http://schemas.microsoft.com/office/drawing/2014/main" id="{D1AEC30C-7AD5-3264-E21B-D7662D5444C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EC7D401-ACEE-CCCD-9249-B775C2871F31}"/>
              </a:ext>
            </a:extLst>
          </p:cNvPr>
          <p:cNvSpPr>
            <a:spLocks noGrp="1"/>
          </p:cNvSpPr>
          <p:nvPr>
            <p:ph type="sldNum" sz="quarter" idx="12"/>
          </p:nvPr>
        </p:nvSpPr>
        <p:spPr/>
        <p:txBody>
          <a:bodyPr/>
          <a:lstStyle/>
          <a:p>
            <a:fld id="{565A2A3A-B6D4-4076-8690-5E99592F330E}" type="slidenum">
              <a:rPr lang="en-US" smtClean="0"/>
              <a:t>‹#›</a:t>
            </a:fld>
            <a:endParaRPr lang="en-US"/>
          </a:p>
        </p:txBody>
      </p:sp>
    </p:spTree>
    <p:extLst>
      <p:ext uri="{BB962C8B-B14F-4D97-AF65-F5344CB8AC3E}">
        <p14:creationId xmlns:p14="http://schemas.microsoft.com/office/powerpoint/2010/main" val="331399186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5E48D6-8F59-0AE5-DEC8-5D9D196AE5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BA8B00C-9187-0496-779E-4D8556471E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D78643-BADD-E7B3-BBF8-56AA974E74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84DD058-0C5B-4A29-A201-2E7A0DCF2253}" type="datetimeFigureOut">
              <a:rPr lang="en-US" smtClean="0"/>
              <a:t>10/21/2026</a:t>
            </a:fld>
            <a:endParaRPr lang="en-US"/>
          </a:p>
        </p:txBody>
      </p:sp>
      <p:sp>
        <p:nvSpPr>
          <p:cNvPr id="5" name="Footer Placeholder 4">
            <a:extLst>
              <a:ext uri="{FF2B5EF4-FFF2-40B4-BE49-F238E27FC236}">
                <a16:creationId xmlns:a16="http://schemas.microsoft.com/office/drawing/2014/main" id="{35DB9B12-6162-6B80-0B09-20757F5822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F9DDD25-6964-AA80-E060-1F76908E8E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65A2A3A-B6D4-4076-8690-5E99592F330E}" type="slidenum">
              <a:rPr lang="en-US" smtClean="0"/>
              <a:t>‹#›</a:t>
            </a:fld>
            <a:endParaRPr lang="en-US"/>
          </a:p>
        </p:txBody>
      </p:sp>
    </p:spTree>
    <p:extLst>
      <p:ext uri="{BB962C8B-B14F-4D97-AF65-F5344CB8AC3E}">
        <p14:creationId xmlns:p14="http://schemas.microsoft.com/office/powerpoint/2010/main" val="2436311998"/>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B894E44-0D2D-4ED2-D2D0-EBEB5E1A4A5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D343F62-7E1D-00D3-D20D-AA7D51CD65F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42F2177-3E03-5635-400B-172D5365CCD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218522-5529-55EF-E24B-E25DCFDF9DF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58F59B0-8DF5-C37D-171F-154785B36C9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565DFE7-05F8-DF87-31D0-1307331C54C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F12EC10-B567-36AD-DC9A-49CDAC0B386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0053E6-FFE7-7FD8-A3C6-8A8E24ADC63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F2A3C6-EDC5-1F80-8984-97D4EB0F3B1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147FD4B-0BD2-C2B0-C36E-BC68D0D6BCA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C7B372-2BB7-65F8-70BF-28E82945A7C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6EDDEF7-7CF1-70A1-463F-F62B37A6C88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3EB89E-1491-CC84-B710-C3FD85808AC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3DDA33-F496-9582-7222-E2FC42D6FBA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E2DBFE-4FEC-7C0B-4626-9A9CC80DCF4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325093D-234F-A1FF-F9D5-E067BA305B3D}"/>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4831509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2172</Words>
  <Application>Microsoft Office PowerPoint</Application>
  <PresentationFormat>寬螢幕</PresentationFormat>
  <Paragraphs>124</Paragraphs>
  <Slides>16</Slides>
  <Notes>16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2026-09-28T08:50:01Z</dcterms:created>
  <dcterms:modified xsi:type="dcterms:W3CDTF">2026-10-21T02:52:17Z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9f47bb8-b38e-408b-b78b-bb41e7d66ecb_Enabled">
    <vt:lpwstr>true</vt:lpwstr>
  </property>
  <property fmtid="{D5CDD505-2E9C-101B-9397-08002B2CF9AE}" pid="3" name="MSIP_Label_d9f47bb8-b38e-408b-b78b-bb41e7d66ecb_SetDate">
    <vt:lpwstr>2026-09-29T03:00:49Z</vt:lpwstr>
  </property>
  <property fmtid="{D5CDD505-2E9C-101B-9397-08002B2CF9AE}" pid="4" name="MSIP_Label_d9f47bb8-b38e-408b-b78b-bb41e7d66ecb_Method">
    <vt:lpwstr>Standard</vt:lpwstr>
  </property>
  <property fmtid="{D5CDD505-2E9C-101B-9397-08002B2CF9AE}" pid="5" name="MSIP_Label_d9f47bb8-b38e-408b-b78b-bb41e7d66ecb_Name">
    <vt:lpwstr>Public</vt:lpwstr>
  </property>
  <property fmtid="{D5CDD505-2E9C-101B-9397-08002B2CF9AE}" pid="6" name="MSIP_Label_d9f47bb8-b38e-408b-b78b-bb41e7d66ecb_SiteId">
    <vt:lpwstr>70ebe3a3-5b30-435d-9d67-7716d74ca190</vt:lpwstr>
  </property>
  <property fmtid="{D5CDD505-2E9C-101B-9397-08002B2CF9AE}" pid="7" name="MSIP_Label_d9f47bb8-b38e-408b-b78b-bb41e7d66ecb_ActionId">
    <vt:lpwstr>e167025e-c5ca-4446-8d7a-8e798914a802</vt:lpwstr>
  </property>
  <property fmtid="{D5CDD505-2E9C-101B-9397-08002B2CF9AE}" pid="8" name="MSIP_Label_d9f47bb8-b38e-408b-b78b-bb41e7d66ecb_Provider">
    <vt:lpwstr>Varonis.Labeling</vt:lpwstr>
  </property>
  <property fmtid="{D5CDD505-2E9C-101B-9397-08002B2CF9AE}" pid="9" name="MSIP_Label_d9f47bb8-b38e-408b-b78b-bb41e7d66ecb_ContentBits">
    <vt:lpwstr>0</vt:lpwstr>
  </property>
</Properties>
</file>