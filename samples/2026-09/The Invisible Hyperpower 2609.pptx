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3199E6-CC2C-4F2E-81BF-1CA79E0E1B4A}" v="14" dt="2026-09-15T01:44:04.2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450"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15T01:50:42.216" v="43" actId="166"/>
      <pc:docMkLst>
        <pc:docMk/>
      </pc:docMkLst>
      <pc:sldChg chg="addSp delSp modSp mod modAnim modNotesTx">
        <pc:chgData name="Lai, Wilson" userId="2840974a-0d84-4886-90a9-9a3ed79f3a48" providerId="ADAL" clId="{9F23B798-9E84-4552-BA63-E776E805C424}" dt="2026-09-15T01:50:42.216" v="43" actId="166"/>
        <pc:sldMkLst>
          <pc:docMk/>
          <pc:sldMk cId="0" sldId="257"/>
        </pc:sldMkLst>
        <pc:spChg chg="add mod">
          <ac:chgData name="Lai, Wilson" userId="2840974a-0d84-4886-90a9-9a3ed79f3a48" providerId="ADAL" clId="{9F23B798-9E84-4552-BA63-E776E805C424}" dt="2026-09-14T14:12:54.382" v="8" actId="164"/>
          <ac:spMkLst>
            <pc:docMk/>
            <pc:sldMk cId="0" sldId="257"/>
            <ac:spMk id="5" creationId="{0F79149B-38A0-6B05-895E-ADB1338D7F2E}"/>
          </ac:spMkLst>
        </pc:spChg>
        <pc:grpChg chg="add mod">
          <ac:chgData name="Lai, Wilson" userId="2840974a-0d84-4886-90a9-9a3ed79f3a48" providerId="ADAL" clId="{9F23B798-9E84-4552-BA63-E776E805C424}" dt="2026-09-14T14:12:54.382" v="8" actId="164"/>
          <ac:grpSpMkLst>
            <pc:docMk/>
            <pc:sldMk cId="0" sldId="257"/>
            <ac:grpSpMk id="6" creationId="{7035A1DD-112D-0816-80E3-5A2042CCD48C}"/>
          </ac:grpSpMkLst>
        </pc:grpChg>
        <pc:picChg chg="del">
          <ac:chgData name="Lai, Wilson" userId="2840974a-0d84-4886-90a9-9a3ed79f3a48" providerId="ADAL" clId="{9F23B798-9E84-4552-BA63-E776E805C424}" dt="2026-09-14T14:34:36.539" v="9" actId="21"/>
          <ac:picMkLst>
            <pc:docMk/>
            <pc:sldMk cId="0" sldId="257"/>
            <ac:picMk id="2" creationId="{00000000-0000-0000-0000-000000000000}"/>
          </ac:picMkLst>
        </pc:picChg>
        <pc:picChg chg="add mod">
          <ac:chgData name="Lai, Wilson" userId="2840974a-0d84-4886-90a9-9a3ed79f3a48" providerId="ADAL" clId="{9F23B798-9E84-4552-BA63-E776E805C424}" dt="2026-09-14T14:12:54.382" v="8" actId="164"/>
          <ac:picMkLst>
            <pc:docMk/>
            <pc:sldMk cId="0" sldId="257"/>
            <ac:picMk id="3" creationId="{2BFBA2CE-B078-8F19-380C-CE4A87E07ED4}"/>
          </ac:picMkLst>
        </pc:picChg>
        <pc:picChg chg="add ord">
          <ac:chgData name="Lai, Wilson" userId="2840974a-0d84-4886-90a9-9a3ed79f3a48" providerId="ADAL" clId="{9F23B798-9E84-4552-BA63-E776E805C424}" dt="2026-09-15T01:50:42.216" v="43" actId="166"/>
          <ac:picMkLst>
            <pc:docMk/>
            <pc:sldMk cId="0" sldId="257"/>
            <ac:picMk id="7" creationId="{D1CEE58D-A684-BF15-DAFA-6C3AC0D92C72}"/>
          </ac:picMkLst>
        </pc:picChg>
      </pc:sldChg>
      <pc:sldChg chg="addSp delSp mod">
        <pc:chgData name="Lai, Wilson" userId="2840974a-0d84-4886-90a9-9a3ed79f3a48" providerId="ADAL" clId="{9F23B798-9E84-4552-BA63-E776E805C424}" dt="2026-09-14T14:35:19.247" v="12" actId="22"/>
        <pc:sldMkLst>
          <pc:docMk/>
          <pc:sldMk cId="0" sldId="258"/>
        </pc:sldMkLst>
        <pc:picChg chg="del">
          <ac:chgData name="Lai, Wilson" userId="2840974a-0d84-4886-90a9-9a3ed79f3a48" providerId="ADAL" clId="{9F23B798-9E84-4552-BA63-E776E805C424}" dt="2026-09-14T14:35:10.910" v="11" actId="21"/>
          <ac:picMkLst>
            <pc:docMk/>
            <pc:sldMk cId="0" sldId="258"/>
            <ac:picMk id="2" creationId="{00000000-0000-0000-0000-000000000000}"/>
          </ac:picMkLst>
        </pc:picChg>
        <pc:picChg chg="add">
          <ac:chgData name="Lai, Wilson" userId="2840974a-0d84-4886-90a9-9a3ed79f3a48" providerId="ADAL" clId="{9F23B798-9E84-4552-BA63-E776E805C424}" dt="2026-09-14T14:35:19.247" v="12" actId="22"/>
          <ac:picMkLst>
            <pc:docMk/>
            <pc:sldMk cId="0" sldId="258"/>
            <ac:picMk id="4" creationId="{FAAB40A6-D897-73E0-B1A8-0F7D09AB9C39}"/>
          </ac:picMkLst>
        </pc:picChg>
      </pc:sldChg>
      <pc:sldChg chg="addSp delSp mod">
        <pc:chgData name="Lai, Wilson" userId="2840974a-0d84-4886-90a9-9a3ed79f3a48" providerId="ADAL" clId="{9F23B798-9E84-4552-BA63-E776E805C424}" dt="2026-09-14T14:35:30.356" v="14" actId="22"/>
        <pc:sldMkLst>
          <pc:docMk/>
          <pc:sldMk cId="0" sldId="259"/>
        </pc:sldMkLst>
        <pc:picChg chg="del">
          <ac:chgData name="Lai, Wilson" userId="2840974a-0d84-4886-90a9-9a3ed79f3a48" providerId="ADAL" clId="{9F23B798-9E84-4552-BA63-E776E805C424}" dt="2026-09-14T14:35:21.568" v="13" actId="21"/>
          <ac:picMkLst>
            <pc:docMk/>
            <pc:sldMk cId="0" sldId="259"/>
            <ac:picMk id="2" creationId="{00000000-0000-0000-0000-000000000000}"/>
          </ac:picMkLst>
        </pc:picChg>
        <pc:picChg chg="add">
          <ac:chgData name="Lai, Wilson" userId="2840974a-0d84-4886-90a9-9a3ed79f3a48" providerId="ADAL" clId="{9F23B798-9E84-4552-BA63-E776E805C424}" dt="2026-09-14T14:35:30.356" v="14" actId="22"/>
          <ac:picMkLst>
            <pc:docMk/>
            <pc:sldMk cId="0" sldId="259"/>
            <ac:picMk id="4" creationId="{AC6EFBF1-5E78-0E55-A8F7-E3A29D0D48E8}"/>
          </ac:picMkLst>
        </pc:picChg>
      </pc:sldChg>
      <pc:sldChg chg="addSp delSp mod">
        <pc:chgData name="Lai, Wilson" userId="2840974a-0d84-4886-90a9-9a3ed79f3a48" providerId="ADAL" clId="{9F23B798-9E84-4552-BA63-E776E805C424}" dt="2026-09-14T14:35:43.780" v="16" actId="22"/>
        <pc:sldMkLst>
          <pc:docMk/>
          <pc:sldMk cId="0" sldId="260"/>
        </pc:sldMkLst>
        <pc:picChg chg="del">
          <ac:chgData name="Lai, Wilson" userId="2840974a-0d84-4886-90a9-9a3ed79f3a48" providerId="ADAL" clId="{9F23B798-9E84-4552-BA63-E776E805C424}" dt="2026-09-14T14:35:32.306" v="15" actId="21"/>
          <ac:picMkLst>
            <pc:docMk/>
            <pc:sldMk cId="0" sldId="260"/>
            <ac:picMk id="2" creationId="{00000000-0000-0000-0000-000000000000}"/>
          </ac:picMkLst>
        </pc:picChg>
        <pc:picChg chg="add">
          <ac:chgData name="Lai, Wilson" userId="2840974a-0d84-4886-90a9-9a3ed79f3a48" providerId="ADAL" clId="{9F23B798-9E84-4552-BA63-E776E805C424}" dt="2026-09-14T14:35:43.780" v="16" actId="22"/>
          <ac:picMkLst>
            <pc:docMk/>
            <pc:sldMk cId="0" sldId="260"/>
            <ac:picMk id="4" creationId="{4414FB38-D67D-79C4-9C44-A093B24B665D}"/>
          </ac:picMkLst>
        </pc:picChg>
      </pc:sldChg>
      <pc:sldChg chg="addSp delSp mod modNotesTx">
        <pc:chgData name="Lai, Wilson" userId="2840974a-0d84-4886-90a9-9a3ed79f3a48" providerId="ADAL" clId="{9F23B798-9E84-4552-BA63-E776E805C424}" dt="2026-09-15T01:42:57.399" v="36" actId="20577"/>
        <pc:sldMkLst>
          <pc:docMk/>
          <pc:sldMk cId="0" sldId="261"/>
        </pc:sldMkLst>
        <pc:picChg chg="del">
          <ac:chgData name="Lai, Wilson" userId="2840974a-0d84-4886-90a9-9a3ed79f3a48" providerId="ADAL" clId="{9F23B798-9E84-4552-BA63-E776E805C424}" dt="2026-09-14T14:35:45.732" v="17" actId="21"/>
          <ac:picMkLst>
            <pc:docMk/>
            <pc:sldMk cId="0" sldId="261"/>
            <ac:picMk id="2" creationId="{00000000-0000-0000-0000-000000000000}"/>
          </ac:picMkLst>
        </pc:picChg>
        <pc:picChg chg="add">
          <ac:chgData name="Lai, Wilson" userId="2840974a-0d84-4886-90a9-9a3ed79f3a48" providerId="ADAL" clId="{9F23B798-9E84-4552-BA63-E776E805C424}" dt="2026-09-14T14:35:57.294" v="18" actId="22"/>
          <ac:picMkLst>
            <pc:docMk/>
            <pc:sldMk cId="0" sldId="261"/>
            <ac:picMk id="4" creationId="{9B6F5018-7190-8A98-BB1F-6E2F8107D856}"/>
          </ac:picMkLst>
        </pc:picChg>
      </pc:sldChg>
      <pc:sldChg chg="addSp delSp mod">
        <pc:chgData name="Lai, Wilson" userId="2840974a-0d84-4886-90a9-9a3ed79f3a48" providerId="ADAL" clId="{9F23B798-9E84-4552-BA63-E776E805C424}" dt="2026-09-14T14:36:08.495" v="20" actId="22"/>
        <pc:sldMkLst>
          <pc:docMk/>
          <pc:sldMk cId="0" sldId="262"/>
        </pc:sldMkLst>
        <pc:picChg chg="del">
          <ac:chgData name="Lai, Wilson" userId="2840974a-0d84-4886-90a9-9a3ed79f3a48" providerId="ADAL" clId="{9F23B798-9E84-4552-BA63-E776E805C424}" dt="2026-09-14T14:35:59.226" v="19" actId="21"/>
          <ac:picMkLst>
            <pc:docMk/>
            <pc:sldMk cId="0" sldId="262"/>
            <ac:picMk id="2" creationId="{00000000-0000-0000-0000-000000000000}"/>
          </ac:picMkLst>
        </pc:picChg>
        <pc:picChg chg="add">
          <ac:chgData name="Lai, Wilson" userId="2840974a-0d84-4886-90a9-9a3ed79f3a48" providerId="ADAL" clId="{9F23B798-9E84-4552-BA63-E776E805C424}" dt="2026-09-14T14:36:08.495" v="20" actId="22"/>
          <ac:picMkLst>
            <pc:docMk/>
            <pc:sldMk cId="0" sldId="262"/>
            <ac:picMk id="4" creationId="{058A5D71-A671-FCC6-52F9-5FC06DC8FCE5}"/>
          </ac:picMkLst>
        </pc:picChg>
      </pc:sldChg>
      <pc:sldChg chg="addSp delSp mod">
        <pc:chgData name="Lai, Wilson" userId="2840974a-0d84-4886-90a9-9a3ed79f3a48" providerId="ADAL" clId="{9F23B798-9E84-4552-BA63-E776E805C424}" dt="2026-09-14T14:36:20.901" v="22" actId="22"/>
        <pc:sldMkLst>
          <pc:docMk/>
          <pc:sldMk cId="0" sldId="263"/>
        </pc:sldMkLst>
        <pc:picChg chg="del">
          <ac:chgData name="Lai, Wilson" userId="2840974a-0d84-4886-90a9-9a3ed79f3a48" providerId="ADAL" clId="{9F23B798-9E84-4552-BA63-E776E805C424}" dt="2026-09-14T14:36:10.661" v="21" actId="21"/>
          <ac:picMkLst>
            <pc:docMk/>
            <pc:sldMk cId="0" sldId="263"/>
            <ac:picMk id="2" creationId="{00000000-0000-0000-0000-000000000000}"/>
          </ac:picMkLst>
        </pc:picChg>
        <pc:picChg chg="add">
          <ac:chgData name="Lai, Wilson" userId="2840974a-0d84-4886-90a9-9a3ed79f3a48" providerId="ADAL" clId="{9F23B798-9E84-4552-BA63-E776E805C424}" dt="2026-09-14T14:36:20.901" v="22" actId="22"/>
          <ac:picMkLst>
            <pc:docMk/>
            <pc:sldMk cId="0" sldId="263"/>
            <ac:picMk id="4" creationId="{9779820A-027E-AB65-E812-FD226B0CD565}"/>
          </ac:picMkLst>
        </pc:picChg>
      </pc:sldChg>
      <pc:sldChg chg="addSp delSp mod">
        <pc:chgData name="Lai, Wilson" userId="2840974a-0d84-4886-90a9-9a3ed79f3a48" providerId="ADAL" clId="{9F23B798-9E84-4552-BA63-E776E805C424}" dt="2026-09-14T14:36:32.525" v="24" actId="22"/>
        <pc:sldMkLst>
          <pc:docMk/>
          <pc:sldMk cId="0" sldId="264"/>
        </pc:sldMkLst>
        <pc:picChg chg="del">
          <ac:chgData name="Lai, Wilson" userId="2840974a-0d84-4886-90a9-9a3ed79f3a48" providerId="ADAL" clId="{9F23B798-9E84-4552-BA63-E776E805C424}" dt="2026-09-14T14:36:22.769" v="23" actId="21"/>
          <ac:picMkLst>
            <pc:docMk/>
            <pc:sldMk cId="0" sldId="264"/>
            <ac:picMk id="2" creationId="{00000000-0000-0000-0000-000000000000}"/>
          </ac:picMkLst>
        </pc:picChg>
        <pc:picChg chg="add">
          <ac:chgData name="Lai, Wilson" userId="2840974a-0d84-4886-90a9-9a3ed79f3a48" providerId="ADAL" clId="{9F23B798-9E84-4552-BA63-E776E805C424}" dt="2026-09-14T14:36:32.525" v="24" actId="22"/>
          <ac:picMkLst>
            <pc:docMk/>
            <pc:sldMk cId="0" sldId="264"/>
            <ac:picMk id="4" creationId="{CB74DB2C-DE84-A2C5-979D-54D5EC4AD5B4}"/>
          </ac:picMkLst>
        </pc:picChg>
      </pc:sldChg>
      <pc:sldChg chg="addSp delSp mod modNotesTx">
        <pc:chgData name="Lai, Wilson" userId="2840974a-0d84-4886-90a9-9a3ed79f3a48" providerId="ADAL" clId="{9F23B798-9E84-4552-BA63-E776E805C424}" dt="2026-09-15T01:43:38.841" v="40" actId="14"/>
        <pc:sldMkLst>
          <pc:docMk/>
          <pc:sldMk cId="0" sldId="265"/>
        </pc:sldMkLst>
        <pc:picChg chg="del">
          <ac:chgData name="Lai, Wilson" userId="2840974a-0d84-4886-90a9-9a3ed79f3a48" providerId="ADAL" clId="{9F23B798-9E84-4552-BA63-E776E805C424}" dt="2026-09-14T14:36:34.417" v="25" actId="21"/>
          <ac:picMkLst>
            <pc:docMk/>
            <pc:sldMk cId="0" sldId="265"/>
            <ac:picMk id="2" creationId="{00000000-0000-0000-0000-000000000000}"/>
          </ac:picMkLst>
        </pc:picChg>
        <pc:picChg chg="add">
          <ac:chgData name="Lai, Wilson" userId="2840974a-0d84-4886-90a9-9a3ed79f3a48" providerId="ADAL" clId="{9F23B798-9E84-4552-BA63-E776E805C424}" dt="2026-09-14T14:36:42.638" v="26" actId="22"/>
          <ac:picMkLst>
            <pc:docMk/>
            <pc:sldMk cId="0" sldId="265"/>
            <ac:picMk id="4" creationId="{C515D838-033F-E470-9697-B7D33787C2D5}"/>
          </ac:picMkLst>
        </pc:picChg>
      </pc:sldChg>
      <pc:sldChg chg="addSp delSp modSp mod">
        <pc:chgData name="Lai, Wilson" userId="2840974a-0d84-4886-90a9-9a3ed79f3a48" providerId="ADAL" clId="{9F23B798-9E84-4552-BA63-E776E805C424}" dt="2026-09-14T14:36:55.612" v="29" actId="22"/>
        <pc:sldMkLst>
          <pc:docMk/>
          <pc:sldMk cId="0" sldId="266"/>
        </pc:sldMkLst>
        <pc:picChg chg="del mod">
          <ac:chgData name="Lai, Wilson" userId="2840974a-0d84-4886-90a9-9a3ed79f3a48" providerId="ADAL" clId="{9F23B798-9E84-4552-BA63-E776E805C424}" dt="2026-09-14T14:36:44.294" v="28" actId="21"/>
          <ac:picMkLst>
            <pc:docMk/>
            <pc:sldMk cId="0" sldId="266"/>
            <ac:picMk id="2" creationId="{00000000-0000-0000-0000-000000000000}"/>
          </ac:picMkLst>
        </pc:picChg>
        <pc:picChg chg="add">
          <ac:chgData name="Lai, Wilson" userId="2840974a-0d84-4886-90a9-9a3ed79f3a48" providerId="ADAL" clId="{9F23B798-9E84-4552-BA63-E776E805C424}" dt="2026-09-14T14:36:55.612" v="29" actId="22"/>
          <ac:picMkLst>
            <pc:docMk/>
            <pc:sldMk cId="0" sldId="266"/>
            <ac:picMk id="4" creationId="{7884CF2B-4959-B631-1162-221E1E353650}"/>
          </ac:picMkLst>
        </pc:picChg>
      </pc:sldChg>
      <pc:sldChg chg="addSp delSp mod">
        <pc:chgData name="Lai, Wilson" userId="2840974a-0d84-4886-90a9-9a3ed79f3a48" providerId="ADAL" clId="{9F23B798-9E84-4552-BA63-E776E805C424}" dt="2026-09-14T14:37:05.057" v="31" actId="22"/>
        <pc:sldMkLst>
          <pc:docMk/>
          <pc:sldMk cId="0" sldId="267"/>
        </pc:sldMkLst>
        <pc:picChg chg="del">
          <ac:chgData name="Lai, Wilson" userId="2840974a-0d84-4886-90a9-9a3ed79f3a48" providerId="ADAL" clId="{9F23B798-9E84-4552-BA63-E776E805C424}" dt="2026-09-14T14:36:57.221" v="30" actId="21"/>
          <ac:picMkLst>
            <pc:docMk/>
            <pc:sldMk cId="0" sldId="267"/>
            <ac:picMk id="2" creationId="{00000000-0000-0000-0000-000000000000}"/>
          </ac:picMkLst>
        </pc:picChg>
        <pc:picChg chg="add">
          <ac:chgData name="Lai, Wilson" userId="2840974a-0d84-4886-90a9-9a3ed79f3a48" providerId="ADAL" clId="{9F23B798-9E84-4552-BA63-E776E805C424}" dt="2026-09-14T14:37:05.057" v="31" actId="22"/>
          <ac:picMkLst>
            <pc:docMk/>
            <pc:sldMk cId="0" sldId="267"/>
            <ac:picMk id="4" creationId="{5D4A8F89-CB17-15B7-5DBF-6DB4D6D63988}"/>
          </ac:picMkLst>
        </pc:picChg>
      </pc:sldChg>
      <pc:sldChg chg="modNotesTx">
        <pc:chgData name="Lai, Wilson" userId="2840974a-0d84-4886-90a9-9a3ed79f3a48" providerId="ADAL" clId="{9F23B798-9E84-4552-BA63-E776E805C424}" dt="2026-09-15T01:44:07.864" v="42" actId="14"/>
        <pc:sldMkLst>
          <pc:docMk/>
          <pc:sldMk cId="3806391134"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0DE924-697D-4DE1-A113-BD71152D81A8}"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B106AD-0CD8-4D93-866A-E9877FCCC8B3}" type="slidenum">
              <a:rPr lang="en-US" smtClean="0"/>
              <a:t>‹#›</a:t>
            </a:fld>
            <a:endParaRPr lang="en-US"/>
          </a:p>
        </p:txBody>
      </p:sp>
    </p:spTree>
    <p:extLst>
      <p:ext uri="{BB962C8B-B14F-4D97-AF65-F5344CB8AC3E}">
        <p14:creationId xmlns:p14="http://schemas.microsoft.com/office/powerpoint/2010/main" val="1513162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Opening Hook:</a:t>
            </a:r>
            <a:r>
              <a:rPr lang="en-US" dirty="0"/>
              <a:t> Good morning/afternoon, everyone. When we turn on financial news or check our phones, the stock market steals all the spotlight. We see tickers for the S&amp;P 500, the Dow Jones, or big tech stocks every single day. But today, we’re going to talk about the asset class that quietly dictates the price of everything else in the global economy: the </a:t>
            </a:r>
            <a:r>
              <a:rPr lang="en-US" b="1" dirty="0"/>
              <a:t>Bond Market</a:t>
            </a:r>
            <a:r>
              <a:rPr lang="en-US" dirty="0"/>
              <a:t>.</a:t>
            </a:r>
          </a:p>
          <a:p>
            <a:pPr lvl="0"/>
            <a:r>
              <a:rPr lang="en-US" b="1" dirty="0"/>
              <a:t>Setting the Scene:</a:t>
            </a:r>
            <a:r>
              <a:rPr lang="en-US" dirty="0"/>
              <a:t> Financial Times editor Robin Wigglesworth calls the bond market the "invisible hyperpower". Over the next 45 to 60 minutes, we are going to explore a 1,000-year historical journey—from 12th-century Venice to modern Wall Street—to understand why governments, sovereign empires, and central bankers fear the bond market far more than they fear political rivals or equity crashes.</a:t>
            </a:r>
          </a:p>
          <a:p>
            <a:pPr lvl="0"/>
            <a:r>
              <a:rPr lang="en-US" b="1" dirty="0"/>
              <a:t>Key Takeaway:</a:t>
            </a:r>
            <a:r>
              <a:rPr lang="en-US" dirty="0"/>
              <a:t> Bonds are often perceived as the boring, sleepy corner of finance—the place you go to hide when things are on fire elsewhere. But as we’ll see today, bonds are actually the bedrock of global capitalism, the mechanism that built modern nation-states, and the ultimate arbiter of political power.</a:t>
            </a:r>
          </a:p>
          <a:p>
            <a:endParaRPr lang="en-US" dirty="0"/>
          </a:p>
          <a:p>
            <a:endParaRPr lang="en-US" dirty="0"/>
          </a:p>
          <a:p>
            <a:r>
              <a:rPr lang="en-US" dirty="0"/>
              <a:t>https://www.youtube.com/watch?v=b6K7Pe8zohk</a:t>
            </a:r>
          </a:p>
        </p:txBody>
      </p:sp>
      <p:sp>
        <p:nvSpPr>
          <p:cNvPr id="4" name="Slide Number Placeholder 3"/>
          <p:cNvSpPr>
            <a:spLocks noGrp="1"/>
          </p:cNvSpPr>
          <p:nvPr>
            <p:ph type="sldNum" sz="quarter" idx="5"/>
          </p:nvPr>
        </p:nvSpPr>
        <p:spPr/>
        <p:txBody>
          <a:bodyPr/>
          <a:lstStyle/>
          <a:p>
            <a:fld id="{C9B106AD-0CD8-4D93-866A-E9877FCCC8B3}" type="slidenum">
              <a:rPr lang="en-US" smtClean="0"/>
              <a:t>1</a:t>
            </a:fld>
            <a:endParaRPr lang="en-US"/>
          </a:p>
        </p:txBody>
      </p:sp>
    </p:spTree>
    <p:extLst>
      <p:ext uri="{BB962C8B-B14F-4D97-AF65-F5344CB8AC3E}">
        <p14:creationId xmlns:p14="http://schemas.microsoft.com/office/powerpoint/2010/main" val="2223083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Visual Contrast:</a:t>
            </a:r>
            <a:r>
              <a:rPr lang="en-US" dirty="0"/>
              <a:t> Let’s look at the stark contrast between how the public views finance versus how the financial system actually works.</a:t>
            </a:r>
          </a:p>
          <a:p>
            <a:pPr lvl="0"/>
            <a:r>
              <a:rPr lang="en-US" b="1" dirty="0"/>
              <a:t>The Glamour of Equities:</a:t>
            </a:r>
            <a:r>
              <a:rPr lang="en-US" dirty="0"/>
              <a:t> Equities dominate headlines because they represent companies we interact with every day—Apple, Tesla, Amazon. They are volatile, media-friendly, and perceived as the real-time pulse of the economy.</a:t>
            </a:r>
          </a:p>
          <a:p>
            <a:pPr lvl="0"/>
            <a:r>
              <a:rPr lang="en-US" b="1" dirty="0"/>
              <a:t>The Reality of Fixed Income:</a:t>
            </a:r>
            <a:r>
              <a:rPr lang="en-US" dirty="0"/>
              <a:t> But in reality, the global sovereign and corporate bond market totals well </a:t>
            </a:r>
            <a:r>
              <a:rPr lang="en-US" b="1" dirty="0"/>
              <a:t>over $100 Trillion</a:t>
            </a:r>
            <a:r>
              <a:rPr lang="en-US" dirty="0"/>
              <a:t>. It vastly dwarfs global equities.</a:t>
            </a:r>
          </a:p>
          <a:p>
            <a:pPr lvl="0"/>
            <a:r>
              <a:rPr lang="en-US" b="1" dirty="0"/>
              <a:t>"The Price of Money":</a:t>
            </a:r>
            <a:r>
              <a:rPr lang="en-US" dirty="0"/>
              <a:t> As Robin Wigglesworth points out, </a:t>
            </a:r>
            <a:r>
              <a:rPr lang="en-US" b="1" dirty="0"/>
              <a:t>the price of bonds is effectively the price of money itself</a:t>
            </a:r>
            <a:r>
              <a:rPr lang="en-US" dirty="0"/>
              <a:t>. Risk-free government bond yields set the discount rate for every asset on Earth—from corporate loans and mortgages to tech valuations and venture capital.</a:t>
            </a:r>
          </a:p>
          <a:p>
            <a:pPr lvl="0"/>
            <a:r>
              <a:rPr lang="en-US" b="1" dirty="0"/>
              <a:t>The Iconic Quote:</a:t>
            </a:r>
            <a:r>
              <a:rPr lang="en-US" dirty="0"/>
              <a:t> Clinton strategist James Carville famously captured this raw authority in 1993. After watching the bond market force President Clinton to abandon key economic campaign promises, Carville remarked: </a:t>
            </a:r>
            <a:r>
              <a:rPr lang="en-US" i="1" dirty="0"/>
              <a:t>"I used to think if there was reincarnation I wanted to come back as the president or the pope... but now I want to come back as the bond market. You can intimidate everybody."</a:t>
            </a:r>
            <a:endParaRPr lang="en-US" dirty="0"/>
          </a:p>
          <a:p>
            <a:pPr lvl="0"/>
            <a:r>
              <a:rPr lang="en-US" b="1" dirty="0"/>
              <a:t>Transition:</a:t>
            </a:r>
            <a:r>
              <a:rPr lang="en-US" dirty="0"/>
              <a:t> Today we’ll look at how this market acquired that level of intimidation and structural dominance.</a:t>
            </a:r>
          </a:p>
          <a:p>
            <a:endParaRPr lang="en-US" dirty="0"/>
          </a:p>
        </p:txBody>
      </p:sp>
      <p:sp>
        <p:nvSpPr>
          <p:cNvPr id="4" name="Slide Number Placeholder 3"/>
          <p:cNvSpPr>
            <a:spLocks noGrp="1"/>
          </p:cNvSpPr>
          <p:nvPr>
            <p:ph type="sldNum" sz="quarter" idx="5"/>
          </p:nvPr>
        </p:nvSpPr>
        <p:spPr/>
        <p:txBody>
          <a:bodyPr/>
          <a:lstStyle/>
          <a:p>
            <a:fld id="{C9B106AD-0CD8-4D93-866A-E9877FCCC8B3}" type="slidenum">
              <a:rPr lang="en-US" smtClean="0"/>
              <a:t>2</a:t>
            </a:fld>
            <a:endParaRPr lang="en-US"/>
          </a:p>
        </p:txBody>
      </p:sp>
    </p:spTree>
    <p:extLst>
      <p:ext uri="{BB962C8B-B14F-4D97-AF65-F5344CB8AC3E}">
        <p14:creationId xmlns:p14="http://schemas.microsoft.com/office/powerpoint/2010/main" val="942820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Context:</a:t>
            </a:r>
            <a:r>
              <a:rPr lang="en-US" sz="1200" kern="1200" dirty="0">
                <a:solidFill>
                  <a:schemeClr val="tx1"/>
                </a:solidFill>
                <a:effectLst/>
                <a:latin typeface="+mn-lt"/>
                <a:ea typeface="+mn-ea"/>
                <a:cs typeface="+mn-cs"/>
              </a:rPr>
              <a:t> To understand modern fixed income, we have to recognize that bonds were not created by economists in a boardroom; they were forged in war, crisis, and existential nation-building. </a:t>
            </a:r>
          </a:p>
          <a:p>
            <a:pPr lvl="0"/>
            <a:r>
              <a:rPr lang="en-US" sz="1200" b="1" kern="1200" dirty="0">
                <a:solidFill>
                  <a:schemeClr val="tx1"/>
                </a:solidFill>
                <a:effectLst/>
                <a:latin typeface="+mn-lt"/>
                <a:ea typeface="+mn-ea"/>
                <a:cs typeface="+mn-cs"/>
              </a:rPr>
              <a:t>1171 Venice (The OG Market):</a:t>
            </a:r>
            <a:r>
              <a:rPr lang="en-US" sz="1200" kern="1200" dirty="0">
                <a:solidFill>
                  <a:schemeClr val="tx1"/>
                </a:solidFill>
                <a:effectLst/>
                <a:latin typeface="+mn-lt"/>
                <a:ea typeface="+mn-ea"/>
                <a:cs typeface="+mn-cs"/>
              </a:rPr>
              <a:t> The birth of tradable debt happened in 12th-century Venice. Faced with conflict against the Byzantine Empire, the Doge of Venice imposed a proportional war levy on citizens. Instead of taking it as a pure tax, Venice promised a 5% annual payout and allowed these receipts to be bought and sold in the Rialto Square. This created the world's first tradable national debt. </a:t>
            </a:r>
          </a:p>
          <a:p>
            <a:pPr lvl="0"/>
            <a:r>
              <a:rPr lang="en-US" sz="1200" b="1" kern="1200" dirty="0">
                <a:solidFill>
                  <a:schemeClr val="tx1"/>
                </a:solidFill>
                <a:effectLst/>
                <a:latin typeface="+mn-lt"/>
                <a:ea typeface="+mn-ea"/>
                <a:cs typeface="+mn-cs"/>
              </a:rPr>
              <a:t>15th Century Dutch Republic:</a:t>
            </a:r>
            <a:r>
              <a:rPr lang="en-US" sz="1200" kern="1200" dirty="0">
                <a:solidFill>
                  <a:schemeClr val="tx1"/>
                </a:solidFill>
                <a:effectLst/>
                <a:latin typeface="+mn-lt"/>
                <a:ea typeface="+mn-ea"/>
                <a:cs typeface="+mn-cs"/>
              </a:rPr>
              <a:t> The Dutch took this technology further. They issued municipal and corporate debt to build intricate dike systems to reclaim land from the sea, and later used that same capital engine to fund a 100-year war of independence against the Spanish Empire—the hyperpower of the era. </a:t>
            </a:r>
          </a:p>
          <a:p>
            <a:pPr lvl="0"/>
            <a:r>
              <a:rPr lang="en-US" sz="1200" b="1" kern="1200" dirty="0">
                <a:solidFill>
                  <a:schemeClr val="tx1"/>
                </a:solidFill>
                <a:effectLst/>
                <a:latin typeface="+mn-lt"/>
                <a:ea typeface="+mn-ea"/>
                <a:cs typeface="+mn-cs"/>
              </a:rPr>
              <a:t>19th Century Britain:</a:t>
            </a:r>
            <a:r>
              <a:rPr lang="en-US" sz="1200" kern="1200" dirty="0">
                <a:solidFill>
                  <a:schemeClr val="tx1"/>
                </a:solidFill>
                <a:effectLst/>
                <a:latin typeface="+mn-lt"/>
                <a:ea typeface="+mn-ea"/>
                <a:cs typeface="+mn-cs"/>
              </a:rPr>
              <a:t> During the Napoleonic Wars, it wasn’t just naval brilliance or army tactics that defeated Napoleon; it was Britain’s ability to fund an infinite stream of 3% "Consols" (Consolidated Annuities). Britain out-borrowed and out-lasted France, whose credit rating was atrocious. </a:t>
            </a:r>
          </a:p>
          <a:p>
            <a:pPr lvl="0"/>
            <a:r>
              <a:rPr lang="en-US" sz="1200" b="1" kern="1200" dirty="0">
                <a:solidFill>
                  <a:schemeClr val="tx1"/>
                </a:solidFill>
                <a:effectLst/>
                <a:latin typeface="+mn-lt"/>
                <a:ea typeface="+mn-ea"/>
                <a:cs typeface="+mn-cs"/>
              </a:rPr>
              <a:t>19th Century USA:</a:t>
            </a:r>
            <a:r>
              <a:rPr lang="en-US" sz="1200" kern="1200" dirty="0">
                <a:solidFill>
                  <a:schemeClr val="tx1"/>
                </a:solidFill>
                <a:effectLst/>
                <a:latin typeface="+mn-lt"/>
                <a:ea typeface="+mn-ea"/>
                <a:cs typeface="+mn-cs"/>
              </a:rPr>
              <a:t> Alexander Hamilton explicitly assumed state debts to bind the former colonies into a cohesive federal union, and salesman Jay Cooke later sold Union war bonds directly to the public to bankroll victory in the Civil War. </a:t>
            </a:r>
          </a:p>
          <a:p>
            <a:endParaRPr lang="en-US" dirty="0"/>
          </a:p>
        </p:txBody>
      </p:sp>
      <p:sp>
        <p:nvSpPr>
          <p:cNvPr id="4" name="Slide Number Placeholder 3"/>
          <p:cNvSpPr>
            <a:spLocks noGrp="1"/>
          </p:cNvSpPr>
          <p:nvPr>
            <p:ph type="sldNum" sz="quarter" idx="5"/>
          </p:nvPr>
        </p:nvSpPr>
        <p:spPr/>
        <p:txBody>
          <a:bodyPr/>
          <a:lstStyle/>
          <a:p>
            <a:fld id="{C9B106AD-0CD8-4D93-866A-E9877FCCC8B3}" type="slidenum">
              <a:rPr lang="en-US" smtClean="0"/>
              <a:t>3</a:t>
            </a:fld>
            <a:endParaRPr lang="en-US"/>
          </a:p>
        </p:txBody>
      </p:sp>
    </p:spTree>
    <p:extLst>
      <p:ext uri="{BB962C8B-B14F-4D97-AF65-F5344CB8AC3E}">
        <p14:creationId xmlns:p14="http://schemas.microsoft.com/office/powerpoint/2010/main" val="2016027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Modern Political Reality:</a:t>
            </a:r>
            <a:r>
              <a:rPr lang="en-US" sz="1200" kern="1200" dirty="0">
                <a:solidFill>
                  <a:schemeClr val="tx1"/>
                </a:solidFill>
                <a:effectLst/>
                <a:latin typeface="+mn-lt"/>
                <a:ea typeface="+mn-ea"/>
                <a:cs typeface="+mn-cs"/>
              </a:rPr>
              <a:t> We often think "bond vigilantes" only discipline small, developing emerging markets. But recent history shows that even G7 superpowers are at the mercy of bond yields. </a:t>
            </a:r>
          </a:p>
          <a:p>
            <a:pPr lvl="0"/>
            <a:r>
              <a:rPr lang="en-US" sz="1200" b="1" kern="1200" dirty="0">
                <a:solidFill>
                  <a:schemeClr val="tx1"/>
                </a:solidFill>
                <a:effectLst/>
                <a:latin typeface="+mn-lt"/>
                <a:ea typeface="+mn-ea"/>
                <a:cs typeface="+mn-cs"/>
              </a:rPr>
              <a:t>Case Study 1: The US "Yips" (Trump Administration):</a:t>
            </a:r>
            <a:r>
              <a:rPr lang="en-US" sz="1200" kern="1200" dirty="0">
                <a:solidFill>
                  <a:schemeClr val="tx1"/>
                </a:solidFill>
                <a:effectLst/>
                <a:latin typeface="+mn-lt"/>
                <a:ea typeface="+mn-ea"/>
                <a:cs typeface="+mn-cs"/>
              </a:rPr>
              <a:t> During trade tensions, the S&amp;P 500 dropped nearly 20% without forcing an immediate policy retreat from Washington. However, when the 10-year Treasury yield rapidly spiked from 3.8% to 4.5%, the administration paused its trade war escalation. President Trump himself noted that the bond market was getting "yippy". Equity drops can be ignored; bond market spikes cannot. </a:t>
            </a:r>
          </a:p>
          <a:p>
            <a:pPr lvl="0"/>
            <a:r>
              <a:rPr lang="en-US" sz="1200" b="1" kern="1200" dirty="0">
                <a:solidFill>
                  <a:schemeClr val="tx1"/>
                </a:solidFill>
                <a:effectLst/>
                <a:latin typeface="+mn-lt"/>
                <a:ea typeface="+mn-ea"/>
                <a:cs typeface="+mn-cs"/>
              </a:rPr>
              <a:t>Case Study 2: The UK Policy Assassination (2022):</a:t>
            </a:r>
            <a:r>
              <a:rPr lang="en-US" sz="1200" kern="1200" dirty="0">
                <a:solidFill>
                  <a:schemeClr val="tx1"/>
                </a:solidFill>
                <a:effectLst/>
                <a:latin typeface="+mn-lt"/>
                <a:ea typeface="+mn-ea"/>
                <a:cs typeface="+mn-cs"/>
              </a:rPr>
              <a:t> In 2022, UK Prime Minister Liz Truss introduced a mini-budget with sweeping unfunded tax cuts amid high inflation. The bond market revolted almost instantly. British Gilt prices collapsed, yields spiked, and Truss was forced out of office in just 50 days—making her the shortest-tenured Prime Minister in British history.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The bond market acts as an unyielding, non-partisan referee. When government fiscal policy strays too far from reality, the yield curve will execute a veto that politicians cannot override. </a:t>
            </a:r>
          </a:p>
          <a:p>
            <a:endParaRPr lang="en-US" dirty="0"/>
          </a:p>
        </p:txBody>
      </p:sp>
      <p:sp>
        <p:nvSpPr>
          <p:cNvPr id="4" name="Slide Number Placeholder 3"/>
          <p:cNvSpPr>
            <a:spLocks noGrp="1"/>
          </p:cNvSpPr>
          <p:nvPr>
            <p:ph type="sldNum" sz="quarter" idx="5"/>
          </p:nvPr>
        </p:nvSpPr>
        <p:spPr/>
        <p:txBody>
          <a:bodyPr/>
          <a:lstStyle/>
          <a:p>
            <a:fld id="{C9B106AD-0CD8-4D93-866A-E9877FCCC8B3}" type="slidenum">
              <a:rPr lang="en-US" smtClean="0"/>
              <a:t>4</a:t>
            </a:fld>
            <a:endParaRPr lang="en-US"/>
          </a:p>
        </p:txBody>
      </p:sp>
    </p:spTree>
    <p:extLst>
      <p:ext uri="{BB962C8B-B14F-4D97-AF65-F5344CB8AC3E}">
        <p14:creationId xmlns:p14="http://schemas.microsoft.com/office/powerpoint/2010/main" val="3631085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Deconstructing the UK Crisis:</a:t>
            </a:r>
            <a:r>
              <a:rPr lang="en-US" sz="1200" kern="1200" dirty="0">
                <a:solidFill>
                  <a:schemeClr val="tx1"/>
                </a:solidFill>
                <a:effectLst/>
                <a:latin typeface="+mn-lt"/>
                <a:ea typeface="+mn-ea"/>
                <a:cs typeface="+mn-cs"/>
              </a:rPr>
              <a:t> Slide 5 walks step-by-step through the mechanics of the 2022 UK Gilt crisis—a textbook example of hidden structural leverage meeting a fiscal catalyst. </a:t>
            </a:r>
          </a:p>
          <a:p>
            <a:pPr lvl="0"/>
            <a:r>
              <a:rPr lang="en-US" sz="1200" b="1" kern="1200" dirty="0">
                <a:solidFill>
                  <a:schemeClr val="tx1"/>
                </a:solidFill>
                <a:effectLst/>
                <a:latin typeface="+mn-lt"/>
                <a:ea typeface="+mn-ea"/>
                <a:cs typeface="+mn-cs"/>
              </a:rPr>
              <a:t>Step 1 (The Trigger):</a:t>
            </a:r>
            <a:r>
              <a:rPr lang="en-US" sz="1200" kern="1200" dirty="0">
                <a:solidFill>
                  <a:schemeClr val="tx1"/>
                </a:solidFill>
                <a:effectLst/>
                <a:latin typeface="+mn-lt"/>
                <a:ea typeface="+mn-ea"/>
                <a:cs typeface="+mn-cs"/>
              </a:rPr>
              <a:t> Liz Truss announces large, unfunded tax cuts while inflation is running high. </a:t>
            </a:r>
          </a:p>
          <a:p>
            <a:pPr lvl="0"/>
            <a:r>
              <a:rPr lang="en-US" sz="1200" b="1" kern="1200" dirty="0">
                <a:solidFill>
                  <a:schemeClr val="tx1"/>
                </a:solidFill>
                <a:effectLst/>
                <a:latin typeface="+mn-lt"/>
                <a:ea typeface="+mn-ea"/>
                <a:cs typeface="+mn-cs"/>
              </a:rPr>
              <a:t>Step 2 (The Puke):</a:t>
            </a:r>
            <a:r>
              <a:rPr lang="en-US" sz="1200" kern="1200" dirty="0">
                <a:solidFill>
                  <a:schemeClr val="tx1"/>
                </a:solidFill>
                <a:effectLst/>
                <a:latin typeface="+mn-lt"/>
                <a:ea typeface="+mn-ea"/>
                <a:cs typeface="+mn-cs"/>
              </a:rPr>
              <a:t> Bond investors aggressively sell off British Gilts. Prices plummet and yields surge. </a:t>
            </a:r>
          </a:p>
          <a:p>
            <a:pPr lvl="0"/>
            <a:r>
              <a:rPr lang="en-US" sz="1200" b="1" kern="1200" dirty="0">
                <a:solidFill>
                  <a:schemeClr val="tx1"/>
                </a:solidFill>
                <a:effectLst/>
                <a:latin typeface="+mn-lt"/>
                <a:ea typeface="+mn-ea"/>
                <a:cs typeface="+mn-cs"/>
              </a:rPr>
              <a:t>Step 3 (The Hidden Kindling):</a:t>
            </a:r>
            <a:r>
              <a:rPr lang="en-US" sz="1200" kern="1200" dirty="0">
                <a:solidFill>
                  <a:schemeClr val="tx1"/>
                </a:solidFill>
                <a:effectLst/>
                <a:latin typeface="+mn-lt"/>
                <a:ea typeface="+mn-ea"/>
                <a:cs typeface="+mn-cs"/>
              </a:rPr>
              <a:t> What politicians didn't realize was that UK pension funds had widely adopted </a:t>
            </a:r>
            <a:r>
              <a:rPr lang="en-US" sz="1200" b="1" kern="1200" dirty="0">
                <a:solidFill>
                  <a:schemeClr val="tx1"/>
                </a:solidFill>
                <a:effectLst/>
                <a:latin typeface="+mn-lt"/>
                <a:ea typeface="+mn-ea"/>
                <a:cs typeface="+mn-cs"/>
              </a:rPr>
              <a:t>LDI (Liability-Driven Investment)</a:t>
            </a:r>
            <a:r>
              <a:rPr lang="en-US" sz="1200" kern="1200" dirty="0">
                <a:solidFill>
                  <a:schemeClr val="tx1"/>
                </a:solidFill>
                <a:effectLst/>
                <a:latin typeface="+mn-lt"/>
                <a:ea typeface="+mn-ea"/>
                <a:cs typeface="+mn-cs"/>
              </a:rPr>
              <a:t> strategies. To match long-term pension liabilities, these funds used leverage via Gilt futures and derivatives. </a:t>
            </a:r>
          </a:p>
          <a:p>
            <a:pPr lvl="0"/>
            <a:r>
              <a:rPr lang="en-US" sz="1200" b="1" kern="1200" dirty="0">
                <a:solidFill>
                  <a:schemeClr val="tx1"/>
                </a:solidFill>
                <a:effectLst/>
                <a:latin typeface="+mn-lt"/>
                <a:ea typeface="+mn-ea"/>
                <a:cs typeface="+mn-cs"/>
              </a:rPr>
              <a:t>Step 4 (The Doom Loop):</a:t>
            </a:r>
            <a:r>
              <a:rPr lang="en-US" sz="1200" kern="1200" dirty="0">
                <a:solidFill>
                  <a:schemeClr val="tx1"/>
                </a:solidFill>
                <a:effectLst/>
                <a:latin typeface="+mn-lt"/>
                <a:ea typeface="+mn-ea"/>
                <a:cs typeface="+mn-cs"/>
              </a:rPr>
              <a:t> As Gilt prices fell, pension funds received massive, unexpected margin calls. To raise cash to meet these margin calls, they were forced to fire-sell more Gilts into an illiquid market. This pushed prices down further, triggering </a:t>
            </a:r>
            <a:r>
              <a:rPr lang="en-US" sz="1200" i="1" kern="1200" dirty="0">
                <a:solidFill>
                  <a:schemeClr val="tx1"/>
                </a:solidFill>
                <a:effectLst/>
                <a:latin typeface="+mn-lt"/>
                <a:ea typeface="+mn-ea"/>
                <a:cs typeface="+mn-cs"/>
              </a:rPr>
              <a:t>more</a:t>
            </a:r>
            <a:r>
              <a:rPr lang="en-US" sz="1200" kern="1200" dirty="0">
                <a:solidFill>
                  <a:schemeClr val="tx1"/>
                </a:solidFill>
                <a:effectLst/>
                <a:latin typeface="+mn-lt"/>
                <a:ea typeface="+mn-ea"/>
                <a:cs typeface="+mn-cs"/>
              </a:rPr>
              <a:t> margin calls in a self-reinforcing death spiral. </a:t>
            </a:r>
          </a:p>
          <a:p>
            <a:pPr lvl="0"/>
            <a:r>
              <a:rPr lang="en-US" sz="1200" b="1" kern="1200" dirty="0">
                <a:solidFill>
                  <a:schemeClr val="tx1"/>
                </a:solidFill>
                <a:effectLst/>
                <a:latin typeface="+mn-lt"/>
                <a:ea typeface="+mn-ea"/>
                <a:cs typeface="+mn-cs"/>
              </a:rPr>
              <a:t>Step 5 (The Capitulation):</a:t>
            </a:r>
            <a:r>
              <a:rPr lang="en-US" sz="1200" kern="1200" dirty="0">
                <a:solidFill>
                  <a:schemeClr val="tx1"/>
                </a:solidFill>
                <a:effectLst/>
                <a:latin typeface="+mn-lt"/>
                <a:ea typeface="+mn-ea"/>
                <a:cs typeface="+mn-cs"/>
              </a:rPr>
              <a:t> The Bank of England was forced to intervene with emergency bond-buying operations to prevent widespread pension insolvency. The political fallout was immediate: Liz Truss resigned shortly after. </a:t>
            </a:r>
          </a:p>
          <a:p>
            <a:endParaRPr lang="en-US" dirty="0"/>
          </a:p>
        </p:txBody>
      </p:sp>
      <p:sp>
        <p:nvSpPr>
          <p:cNvPr id="4" name="Slide Number Placeholder 3"/>
          <p:cNvSpPr>
            <a:spLocks noGrp="1"/>
          </p:cNvSpPr>
          <p:nvPr>
            <p:ph type="sldNum" sz="quarter" idx="5"/>
          </p:nvPr>
        </p:nvSpPr>
        <p:spPr/>
        <p:txBody>
          <a:bodyPr/>
          <a:lstStyle/>
          <a:p>
            <a:fld id="{C9B106AD-0CD8-4D93-866A-E9877FCCC8B3}" type="slidenum">
              <a:rPr lang="en-US" smtClean="0"/>
              <a:t>5</a:t>
            </a:fld>
            <a:endParaRPr lang="en-US"/>
          </a:p>
        </p:txBody>
      </p:sp>
    </p:spTree>
    <p:extLst>
      <p:ext uri="{BB962C8B-B14F-4D97-AF65-F5344CB8AC3E}">
        <p14:creationId xmlns:p14="http://schemas.microsoft.com/office/powerpoint/2010/main" val="984460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Challenging Assumptions:</a:t>
            </a:r>
            <a:r>
              <a:rPr lang="en-US" sz="1200" kern="1200" dirty="0">
                <a:solidFill>
                  <a:schemeClr val="tx1"/>
                </a:solidFill>
                <a:effectLst/>
                <a:latin typeface="+mn-lt"/>
                <a:ea typeface="+mn-ea"/>
                <a:cs typeface="+mn-cs"/>
              </a:rPr>
              <a:t> In traditional finance, we are taught that sovereign bonds from developed nations are "risk-free" while emerging market debt is volatile and dangerous. Robin Wigglesworth highlights a fascinating counter-example from recent years that turns this assumption on its head. </a:t>
            </a:r>
          </a:p>
          <a:p>
            <a:pPr lvl="0"/>
            <a:r>
              <a:rPr lang="en-US" sz="1200" b="1" kern="1200" dirty="0">
                <a:solidFill>
                  <a:schemeClr val="tx1"/>
                </a:solidFill>
                <a:effectLst/>
                <a:latin typeface="+mn-lt"/>
                <a:ea typeface="+mn-ea"/>
                <a:cs typeface="+mn-cs"/>
              </a:rPr>
              <a:t>Austria’s 100-Year Bond (Issued ~2021):</a:t>
            </a:r>
            <a:r>
              <a:rPr lang="en-US" sz="1200" kern="1200" dirty="0">
                <a:solidFill>
                  <a:schemeClr val="tx1"/>
                </a:solidFill>
                <a:effectLst/>
                <a:latin typeface="+mn-lt"/>
                <a:ea typeface="+mn-ea"/>
                <a:cs typeface="+mn-cs"/>
              </a:rPr>
              <a:t> Austria is a pristine Eurozone credit that has never defaulted. During the ultra-low interest rate era, Austria issued a 100-year bond with a microscopic coupon yield. When interest rates normalized globally in 2022–2023, extreme </a:t>
            </a:r>
            <a:r>
              <a:rPr lang="en-US" sz="1200" b="1" kern="1200" dirty="0">
                <a:solidFill>
                  <a:schemeClr val="tx1"/>
                </a:solidFill>
                <a:effectLst/>
                <a:latin typeface="+mn-lt"/>
                <a:ea typeface="+mn-ea"/>
                <a:cs typeface="+mn-cs"/>
              </a:rPr>
              <a:t>duration risk</a:t>
            </a:r>
            <a:r>
              <a:rPr lang="en-US" sz="1200" kern="1200" dirty="0">
                <a:solidFill>
                  <a:schemeClr val="tx1"/>
                </a:solidFill>
                <a:effectLst/>
                <a:latin typeface="+mn-lt"/>
                <a:ea typeface="+mn-ea"/>
                <a:cs typeface="+mn-cs"/>
              </a:rPr>
              <a:t> devastated the bond. Investors holding this pristine, "safe" asset saw its market value crash by nearly 80%. </a:t>
            </a:r>
          </a:p>
          <a:p>
            <a:pPr lvl="0"/>
            <a:r>
              <a:rPr lang="en-US" sz="1200" b="1" kern="1200" dirty="0">
                <a:solidFill>
                  <a:schemeClr val="tx1"/>
                </a:solidFill>
                <a:effectLst/>
                <a:latin typeface="+mn-lt"/>
                <a:ea typeface="+mn-ea"/>
                <a:cs typeface="+mn-cs"/>
              </a:rPr>
              <a:t>Argentina’s 100-Year Bond (Issued ~2017):</a:t>
            </a:r>
            <a:r>
              <a:rPr lang="en-US" sz="1200" kern="1200" dirty="0">
                <a:solidFill>
                  <a:schemeClr val="tx1"/>
                </a:solidFill>
                <a:effectLst/>
                <a:latin typeface="+mn-lt"/>
                <a:ea typeface="+mn-ea"/>
                <a:cs typeface="+mn-cs"/>
              </a:rPr>
              <a:t> Conversely, Argentina—a serial default state—issued a 100-year bond paying a sky-high coupon yield. Predictably, Argentina defaulted just 3 years later. But because investors received high coupon payouts prior to the default, they ultimately lost </a:t>
            </a:r>
            <a:r>
              <a:rPr lang="en-US" sz="1200" i="1" kern="1200" dirty="0">
                <a:solidFill>
                  <a:schemeClr val="tx1"/>
                </a:solidFill>
                <a:effectLst/>
                <a:latin typeface="+mn-lt"/>
                <a:ea typeface="+mn-ea"/>
                <a:cs typeface="+mn-cs"/>
              </a:rPr>
              <a:t>less</a:t>
            </a:r>
            <a:r>
              <a:rPr lang="en-US" sz="1200" kern="1200" dirty="0">
                <a:solidFill>
                  <a:schemeClr val="tx1"/>
                </a:solidFill>
                <a:effectLst/>
                <a:latin typeface="+mn-lt"/>
                <a:ea typeface="+mn-ea"/>
                <a:cs typeface="+mn-cs"/>
              </a:rPr>
              <a:t> money than those holding the "safe" 100-year Austrian bond. </a:t>
            </a:r>
          </a:p>
          <a:p>
            <a:pPr lvl="0"/>
            <a:r>
              <a:rPr lang="en-US" sz="1200" b="1" kern="1200" dirty="0">
                <a:solidFill>
                  <a:schemeClr val="tx1"/>
                </a:solidFill>
                <a:effectLst/>
                <a:latin typeface="+mn-lt"/>
                <a:ea typeface="+mn-ea"/>
                <a:cs typeface="+mn-cs"/>
              </a:rPr>
              <a:t>Lesson:</a:t>
            </a:r>
            <a:r>
              <a:rPr lang="en-US" sz="1200" kern="1200" dirty="0">
                <a:solidFill>
                  <a:schemeClr val="tx1"/>
                </a:solidFill>
                <a:effectLst/>
                <a:latin typeface="+mn-lt"/>
                <a:ea typeface="+mn-ea"/>
                <a:cs typeface="+mn-cs"/>
              </a:rPr>
              <a:t> "Safe" credit ratings do not insulate an investor from structural duration risk. Mathematical interest rate sensitivity can inflict worse losses than credit default. </a:t>
            </a:r>
          </a:p>
          <a:p>
            <a:endParaRPr lang="en-US" dirty="0"/>
          </a:p>
        </p:txBody>
      </p:sp>
      <p:sp>
        <p:nvSpPr>
          <p:cNvPr id="4" name="Slide Number Placeholder 3"/>
          <p:cNvSpPr>
            <a:spLocks noGrp="1"/>
          </p:cNvSpPr>
          <p:nvPr>
            <p:ph type="sldNum" sz="quarter" idx="5"/>
          </p:nvPr>
        </p:nvSpPr>
        <p:spPr/>
        <p:txBody>
          <a:bodyPr/>
          <a:lstStyle/>
          <a:p>
            <a:fld id="{C9B106AD-0CD8-4D93-866A-E9877FCCC8B3}" type="slidenum">
              <a:rPr lang="en-US" smtClean="0"/>
              <a:t>6</a:t>
            </a:fld>
            <a:endParaRPr lang="en-US"/>
          </a:p>
        </p:txBody>
      </p:sp>
    </p:spTree>
    <p:extLst>
      <p:ext uri="{BB962C8B-B14F-4D97-AF65-F5344CB8AC3E}">
        <p14:creationId xmlns:p14="http://schemas.microsoft.com/office/powerpoint/2010/main" val="1745916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What is the Repo Market?</a:t>
            </a:r>
            <a:r>
              <a:rPr lang="en-US" sz="1200" kern="1200" dirty="0">
                <a:solidFill>
                  <a:schemeClr val="tx1"/>
                </a:solidFill>
                <a:effectLst/>
                <a:latin typeface="+mn-lt"/>
                <a:ea typeface="+mn-ea"/>
                <a:cs typeface="+mn-cs"/>
              </a:rPr>
              <a:t> Repurchase Agreements (Repos) were born during World War I to help commercial banks finance government bond purchases. Today, the US Repo market is a massive </a:t>
            </a:r>
            <a:r>
              <a:rPr lang="en-US" sz="1200" b="1" kern="1200" dirty="0">
                <a:solidFill>
                  <a:schemeClr val="tx1"/>
                </a:solidFill>
                <a:effectLst/>
                <a:latin typeface="+mn-lt"/>
                <a:ea typeface="+mn-ea"/>
                <a:cs typeface="+mn-cs"/>
              </a:rPr>
              <a:t>$12 Trillion collateral engine</a:t>
            </a:r>
            <a:r>
              <a:rPr lang="en-US" sz="1200" kern="1200" dirty="0">
                <a:solidFill>
                  <a:schemeClr val="tx1"/>
                </a:solidFill>
                <a:effectLst/>
                <a:latin typeface="+mn-lt"/>
                <a:ea typeface="+mn-ea"/>
                <a:cs typeface="+mn-cs"/>
              </a:rPr>
              <a:t>. Wigglesworth compares it to the "dark matter of finance"—invisible to everyday observers, yet dictating the motion of the entire financial universe. </a:t>
            </a:r>
          </a:p>
          <a:p>
            <a:pPr lvl="0"/>
            <a:r>
              <a:rPr lang="en-US" sz="1200" b="1" kern="1200" dirty="0">
                <a:solidFill>
                  <a:schemeClr val="tx1"/>
                </a:solidFill>
                <a:effectLst/>
                <a:latin typeface="+mn-lt"/>
                <a:ea typeface="+mn-ea"/>
                <a:cs typeface="+mn-cs"/>
              </a:rPr>
              <a:t>The Basis Trade &amp; Leverage:</a:t>
            </a:r>
            <a:r>
              <a:rPr lang="en-US" sz="1200" kern="1200" dirty="0">
                <a:solidFill>
                  <a:schemeClr val="tx1"/>
                </a:solidFill>
                <a:effectLst/>
                <a:latin typeface="+mn-lt"/>
                <a:ea typeface="+mn-ea"/>
                <a:cs typeface="+mn-cs"/>
              </a:rPr>
              <a:t> A substantial portion of US Treasuries is held not by long-term buy-and-hold investors, but by hedge funds engaging in the "basis trade". They exploit microscopic price discrepancies between Treasury bonds and futures contracts. Because these spreads are tiny, funds apply </a:t>
            </a:r>
            <a:r>
              <a:rPr lang="en-US" sz="1200" b="1" kern="1200" dirty="0">
                <a:solidFill>
                  <a:schemeClr val="tx1"/>
                </a:solidFill>
                <a:effectLst/>
                <a:latin typeface="+mn-lt"/>
                <a:ea typeface="+mn-ea"/>
                <a:cs typeface="+mn-cs"/>
              </a:rPr>
              <a:t>50x to 100x leverage</a:t>
            </a:r>
            <a:r>
              <a:rPr lang="en-US" sz="1200" kern="1200" dirty="0">
                <a:solidFill>
                  <a:schemeClr val="tx1"/>
                </a:solidFill>
                <a:effectLst/>
                <a:latin typeface="+mn-lt"/>
                <a:ea typeface="+mn-ea"/>
                <a:cs typeface="+mn-cs"/>
              </a:rPr>
              <a:t> using overnight Repos. </a:t>
            </a:r>
          </a:p>
          <a:p>
            <a:pPr lvl="0"/>
            <a:r>
              <a:rPr lang="en-US" sz="1200" b="1" kern="1200" dirty="0">
                <a:solidFill>
                  <a:schemeClr val="tx1"/>
                </a:solidFill>
                <a:effectLst/>
                <a:latin typeface="+mn-lt"/>
                <a:ea typeface="+mn-ea"/>
                <a:cs typeface="+mn-cs"/>
              </a:rPr>
              <a:t>Structural Fragility:</a:t>
            </a:r>
            <a:r>
              <a:rPr lang="en-US" sz="1200" kern="1200" dirty="0">
                <a:solidFill>
                  <a:schemeClr val="tx1"/>
                </a:solidFill>
                <a:effectLst/>
                <a:latin typeface="+mn-lt"/>
                <a:ea typeface="+mn-ea"/>
                <a:cs typeface="+mn-cs"/>
              </a:rPr>
              <a:t> This means pristine Treasury bonds are held by highly leveraged "weak hands". When liquidity dries up or repo rates spike, these positions face rapid liquidation. </a:t>
            </a:r>
          </a:p>
          <a:p>
            <a:pPr lvl="0"/>
            <a:r>
              <a:rPr lang="en-US" sz="1200" b="1" kern="1200" dirty="0">
                <a:solidFill>
                  <a:schemeClr val="tx1"/>
                </a:solidFill>
                <a:effectLst/>
                <a:latin typeface="+mn-lt"/>
                <a:ea typeface="+mn-ea"/>
                <a:cs typeface="+mn-cs"/>
              </a:rPr>
              <a:t>Historical Context:</a:t>
            </a:r>
            <a:r>
              <a:rPr lang="en-US" sz="1200" kern="1200" dirty="0">
                <a:solidFill>
                  <a:schemeClr val="tx1"/>
                </a:solidFill>
                <a:effectLst/>
                <a:latin typeface="+mn-lt"/>
                <a:ea typeface="+mn-ea"/>
                <a:cs typeface="+mn-cs"/>
              </a:rPr>
              <a:t> It’s worth remembering that the 2008 collapses of Bear Stearns and Lehman Brothers were not standard retail bank runs; they were overnight Repo runs. </a:t>
            </a:r>
          </a:p>
          <a:p>
            <a:endParaRPr lang="en-US" dirty="0"/>
          </a:p>
        </p:txBody>
      </p:sp>
      <p:sp>
        <p:nvSpPr>
          <p:cNvPr id="4" name="Slide Number Placeholder 3"/>
          <p:cNvSpPr>
            <a:spLocks noGrp="1"/>
          </p:cNvSpPr>
          <p:nvPr>
            <p:ph type="sldNum" sz="quarter" idx="5"/>
          </p:nvPr>
        </p:nvSpPr>
        <p:spPr/>
        <p:txBody>
          <a:bodyPr/>
          <a:lstStyle/>
          <a:p>
            <a:fld id="{C9B106AD-0CD8-4D93-866A-E9877FCCC8B3}" type="slidenum">
              <a:rPr lang="en-US" smtClean="0"/>
              <a:t>7</a:t>
            </a:fld>
            <a:endParaRPr lang="en-US"/>
          </a:p>
        </p:txBody>
      </p:sp>
    </p:spTree>
    <p:extLst>
      <p:ext uri="{BB962C8B-B14F-4D97-AF65-F5344CB8AC3E}">
        <p14:creationId xmlns:p14="http://schemas.microsoft.com/office/powerpoint/2010/main" val="3195284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Cycle of Innovation:</a:t>
            </a:r>
            <a:r>
              <a:rPr lang="en-US" sz="1200" kern="1200" dirty="0">
                <a:solidFill>
                  <a:schemeClr val="tx1"/>
                </a:solidFill>
                <a:effectLst/>
                <a:latin typeface="+mn-lt"/>
                <a:ea typeface="+mn-ea"/>
                <a:cs typeface="+mn-cs"/>
              </a:rPr>
              <a:t> Financial history follows a recurring pattern: human ingenuity creates new instruments, market euphoria drives them to extreme froth, a crash wipes out the bad actors/frauds, and the underlying structural tool survives to become essential market infrastructure. </a:t>
            </a:r>
          </a:p>
          <a:p>
            <a:pPr lvl="0"/>
            <a:r>
              <a:rPr lang="en-US" sz="1200" b="1" kern="1200" dirty="0">
                <a:solidFill>
                  <a:schemeClr val="tx1"/>
                </a:solidFill>
                <a:effectLst/>
                <a:latin typeface="+mn-lt"/>
                <a:ea typeface="+mn-ea"/>
                <a:cs typeface="+mn-cs"/>
              </a:rPr>
              <a:t>1820s Poyais Fraud:</a:t>
            </a:r>
            <a:r>
              <a:rPr lang="en-US" sz="1200" kern="1200" dirty="0">
                <a:solidFill>
                  <a:schemeClr val="tx1"/>
                </a:solidFill>
                <a:effectLst/>
                <a:latin typeface="+mn-lt"/>
                <a:ea typeface="+mn-ea"/>
                <a:cs typeface="+mn-cs"/>
              </a:rPr>
              <a:t> Gregor MacGregor invented a completely fake Central American country called "Poyais," complete with fake guidebooks and land grants, and issued sovereign bonds in London. Settlers sailed out only to find a barren jungle, and hundreds died. It was the ultimate demonstration of early fixed-income speculative froth. </a:t>
            </a:r>
          </a:p>
          <a:p>
            <a:pPr lvl="0"/>
            <a:r>
              <a:rPr lang="en-US" sz="1200" b="1" kern="1200" dirty="0">
                <a:solidFill>
                  <a:schemeClr val="tx1"/>
                </a:solidFill>
                <a:effectLst/>
                <a:latin typeface="+mn-lt"/>
                <a:ea typeface="+mn-ea"/>
                <a:cs typeface="+mn-cs"/>
              </a:rPr>
              <a:t>Junk Bonds (1980s):</a:t>
            </a:r>
            <a:r>
              <a:rPr lang="en-US" sz="1200" kern="1200" dirty="0">
                <a:solidFill>
                  <a:schemeClr val="tx1"/>
                </a:solidFill>
                <a:effectLst/>
                <a:latin typeface="+mn-lt"/>
                <a:ea typeface="+mn-ea"/>
                <a:cs typeface="+mn-cs"/>
              </a:rPr>
              <a:t> Mike Milken transformed high-yield "junk bonds" from a niche market into a major corporate funding mechanism. Despite the scandal and collapse of Drexel Burnham Lambert, high-yield debt survived to become a $5 Trillion market supporting corporate growth globally. </a:t>
            </a:r>
          </a:p>
          <a:p>
            <a:pPr lvl="0"/>
            <a:r>
              <a:rPr lang="en-US" sz="1200" b="1" kern="1200" dirty="0">
                <a:solidFill>
                  <a:schemeClr val="tx1"/>
                </a:solidFill>
                <a:effectLst/>
                <a:latin typeface="+mn-lt"/>
                <a:ea typeface="+mn-ea"/>
                <a:cs typeface="+mn-cs"/>
              </a:rPr>
              <a:t>Securitization (2000s to Present):</a:t>
            </a:r>
            <a:r>
              <a:rPr lang="en-US" sz="1200" kern="1200" dirty="0">
                <a:solidFill>
                  <a:schemeClr val="tx1"/>
                </a:solidFill>
                <a:effectLst/>
                <a:latin typeface="+mn-lt"/>
                <a:ea typeface="+mn-ea"/>
                <a:cs typeface="+mn-cs"/>
              </a:rPr>
              <a:t> Securitization and Mortgage-Backed Securities were vilified after the 2008 global financial crisis. Yet today, European policymakers actively envy the US securitization market as a highly efficient capital allocation mechanism. </a:t>
            </a:r>
          </a:p>
          <a:p>
            <a:endParaRPr lang="en-US" dirty="0"/>
          </a:p>
        </p:txBody>
      </p:sp>
      <p:sp>
        <p:nvSpPr>
          <p:cNvPr id="4" name="Slide Number Placeholder 3"/>
          <p:cNvSpPr>
            <a:spLocks noGrp="1"/>
          </p:cNvSpPr>
          <p:nvPr>
            <p:ph type="sldNum" sz="quarter" idx="5"/>
          </p:nvPr>
        </p:nvSpPr>
        <p:spPr/>
        <p:txBody>
          <a:bodyPr/>
          <a:lstStyle/>
          <a:p>
            <a:fld id="{C9B106AD-0CD8-4D93-866A-E9877FCCC8B3}" type="slidenum">
              <a:rPr lang="en-US" smtClean="0"/>
              <a:t>8</a:t>
            </a:fld>
            <a:endParaRPr lang="en-US"/>
          </a:p>
        </p:txBody>
      </p:sp>
    </p:spTree>
    <p:extLst>
      <p:ext uri="{BB962C8B-B14F-4D97-AF65-F5344CB8AC3E}">
        <p14:creationId xmlns:p14="http://schemas.microsoft.com/office/powerpoint/2010/main" val="4235181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Modern Evolution:</a:t>
            </a:r>
            <a:r>
              <a:rPr lang="en-US" sz="1200" kern="1200" dirty="0">
                <a:solidFill>
                  <a:schemeClr val="tx1"/>
                </a:solidFill>
                <a:effectLst/>
                <a:latin typeface="+mn-lt"/>
                <a:ea typeface="+mn-ea"/>
                <a:cs typeface="+mn-cs"/>
              </a:rPr>
              <a:t> Fixed income is undergoing a rapid modernization driven by two major market structure shifts. </a:t>
            </a:r>
          </a:p>
          <a:p>
            <a:pPr lvl="0"/>
            <a:r>
              <a:rPr lang="en-US" sz="1200" b="1" kern="1200" dirty="0">
                <a:solidFill>
                  <a:schemeClr val="tx1"/>
                </a:solidFill>
                <a:effectLst/>
                <a:latin typeface="+mn-lt"/>
                <a:ea typeface="+mn-ea"/>
                <a:cs typeface="+mn-cs"/>
              </a:rPr>
              <a:t>1. Fixed Income ETFs: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Fear:</a:t>
            </a:r>
            <a:r>
              <a:rPr lang="en-US" sz="1200" kern="1200" dirty="0">
                <a:solidFill>
                  <a:schemeClr val="tx1"/>
                </a:solidFill>
                <a:effectLst/>
                <a:latin typeface="+mn-lt"/>
                <a:ea typeface="+mn-ea"/>
                <a:cs typeface="+mn-cs"/>
              </a:rPr>
              <a:t> Early critics (including prominent hedge fund managers) warned that putting illiquid corporate bonds into daily-liquid ETF vehicles would lead to severe liquidity mismatches during a downturn.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Reality:</a:t>
            </a:r>
            <a:r>
              <a:rPr lang="en-US" sz="1200" kern="1200" dirty="0">
                <a:solidFill>
                  <a:schemeClr val="tx1"/>
                </a:solidFill>
                <a:effectLst/>
                <a:latin typeface="+mn-lt"/>
                <a:ea typeface="+mn-ea"/>
                <a:cs typeface="+mn-cs"/>
              </a:rPr>
              <a:t> Fixed income ETFs have acted as a flywheel. They accelerated electronic portfolio trading, increased market transparency, and made corporate credit trade more smoothly like equity markets. </a:t>
            </a:r>
          </a:p>
          <a:p>
            <a:pPr lvl="0"/>
            <a:r>
              <a:rPr lang="en-US" sz="1200" b="1" kern="1200" dirty="0">
                <a:solidFill>
                  <a:schemeClr val="tx1"/>
                </a:solidFill>
                <a:effectLst/>
                <a:latin typeface="+mn-lt"/>
                <a:ea typeface="+mn-ea"/>
                <a:cs typeface="+mn-cs"/>
              </a:rPr>
              <a:t>2. The Private Credit Boom:</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Fear:</a:t>
            </a:r>
            <a:r>
              <a:rPr lang="en-US" sz="1200" kern="1200" dirty="0">
                <a:solidFill>
                  <a:schemeClr val="tx1"/>
                </a:solidFill>
                <a:effectLst/>
                <a:latin typeface="+mn-lt"/>
                <a:ea typeface="+mn-ea"/>
                <a:cs typeface="+mn-cs"/>
              </a:rPr>
              <a:t> Fast-growing private credit markets are becoming frothy, with relaxed underwriting standards and increasing use of Payment-in-Kind (PIK) notes.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Reality:</a:t>
            </a:r>
            <a:r>
              <a:rPr lang="en-US" sz="1200" kern="1200" dirty="0">
                <a:solidFill>
                  <a:schemeClr val="tx1"/>
                </a:solidFill>
                <a:effectLst/>
                <a:latin typeface="+mn-lt"/>
                <a:ea typeface="+mn-ea"/>
                <a:cs typeface="+mn-cs"/>
              </a:rPr>
              <a:t> While individual private credit managers will face losses during credit cycles, the overall shift is non-systemic. Moving corporate lending out of fractional-reserve commercial banks and into locked-up, un-leveraged investment funds actually reduces systemic banking risk. </a:t>
            </a:r>
          </a:p>
          <a:p>
            <a:endParaRPr lang="en-US" dirty="0"/>
          </a:p>
        </p:txBody>
      </p:sp>
      <p:sp>
        <p:nvSpPr>
          <p:cNvPr id="4" name="Slide Number Placeholder 3"/>
          <p:cNvSpPr>
            <a:spLocks noGrp="1"/>
          </p:cNvSpPr>
          <p:nvPr>
            <p:ph type="sldNum" sz="quarter" idx="5"/>
          </p:nvPr>
        </p:nvSpPr>
        <p:spPr/>
        <p:txBody>
          <a:bodyPr/>
          <a:lstStyle/>
          <a:p>
            <a:fld id="{C9B106AD-0CD8-4D93-866A-E9877FCCC8B3}" type="slidenum">
              <a:rPr lang="en-US" smtClean="0"/>
              <a:t>9</a:t>
            </a:fld>
            <a:endParaRPr lang="en-US"/>
          </a:p>
        </p:txBody>
      </p:sp>
    </p:spTree>
    <p:extLst>
      <p:ext uri="{BB962C8B-B14F-4D97-AF65-F5344CB8AC3E}">
        <p14:creationId xmlns:p14="http://schemas.microsoft.com/office/powerpoint/2010/main" val="1483177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Sovereign Debt Realities:</a:t>
            </a:r>
            <a:r>
              <a:rPr lang="en-US" sz="1200" kern="1200" dirty="0">
                <a:solidFill>
                  <a:schemeClr val="tx1"/>
                </a:solidFill>
                <a:effectLst/>
                <a:latin typeface="+mn-lt"/>
                <a:ea typeface="+mn-ea"/>
                <a:cs typeface="+mn-cs"/>
              </a:rPr>
              <a:t> Global government debt has reached historic heights, but how concerned should we be? </a:t>
            </a:r>
          </a:p>
          <a:p>
            <a:pPr lvl="0"/>
            <a:r>
              <a:rPr lang="en-US" sz="1200" b="1" kern="1200" dirty="0">
                <a:solidFill>
                  <a:schemeClr val="tx1"/>
                </a:solidFill>
                <a:effectLst/>
                <a:latin typeface="+mn-lt"/>
                <a:ea typeface="+mn-ea"/>
                <a:cs typeface="+mn-cs"/>
              </a:rPr>
              <a:t>The 1990s Contrast:</a:t>
            </a:r>
            <a:r>
              <a:rPr lang="en-US" sz="1200" kern="1200" dirty="0">
                <a:solidFill>
                  <a:schemeClr val="tx1"/>
                </a:solidFill>
                <a:effectLst/>
                <a:latin typeface="+mn-lt"/>
                <a:ea typeface="+mn-ea"/>
                <a:cs typeface="+mn-cs"/>
              </a:rPr>
              <a:t> In the late 1990s, the US government ran budget surpluses. Financial markets actually began worrying about a "Treasury shortage"—wondering how global markets could price risk if US national debt was paid off completely. </a:t>
            </a:r>
          </a:p>
          <a:p>
            <a:pPr lvl="0"/>
            <a:r>
              <a:rPr lang="en-US" sz="1200" b="1" kern="1200" dirty="0">
                <a:solidFill>
                  <a:schemeClr val="tx1"/>
                </a:solidFill>
                <a:effectLst/>
                <a:latin typeface="+mn-lt"/>
                <a:ea typeface="+mn-ea"/>
                <a:cs typeface="+mn-cs"/>
              </a:rPr>
              <a:t>Today’s Environment:</a:t>
            </a:r>
            <a:r>
              <a:rPr lang="en-US" sz="1200" kern="1200" dirty="0">
                <a:solidFill>
                  <a:schemeClr val="tx1"/>
                </a:solidFill>
                <a:effectLst/>
                <a:latin typeface="+mn-lt"/>
                <a:ea typeface="+mn-ea"/>
                <a:cs typeface="+mn-cs"/>
              </a:rPr>
              <a:t> Today, developed nations maintain persistent deficit spending comparable to wartime eras, even during periods of economic expansion. </a:t>
            </a:r>
          </a:p>
          <a:p>
            <a:pPr lvl="0"/>
            <a:r>
              <a:rPr lang="en-US" sz="1200" b="1" kern="1200" dirty="0">
                <a:solidFill>
                  <a:schemeClr val="tx1"/>
                </a:solidFill>
                <a:effectLst/>
                <a:latin typeface="+mn-lt"/>
                <a:ea typeface="+mn-ea"/>
                <a:cs typeface="+mn-cs"/>
              </a:rPr>
              <a:t>Jerome Powell’s Insight:</a:t>
            </a:r>
            <a:r>
              <a:rPr lang="en-US" sz="1200" kern="1200" dirty="0">
                <a:solidFill>
                  <a:schemeClr val="tx1"/>
                </a:solidFill>
                <a:effectLst/>
                <a:latin typeface="+mn-lt"/>
                <a:ea typeface="+mn-ea"/>
                <a:cs typeface="+mn-cs"/>
              </a:rPr>
              <a:t> Fed Chair Jerome Powell clearly articulated the distinction between </a:t>
            </a:r>
            <a:r>
              <a:rPr lang="en-US" sz="1200" i="1" kern="1200" dirty="0">
                <a:solidFill>
                  <a:schemeClr val="tx1"/>
                </a:solidFill>
                <a:effectLst/>
                <a:latin typeface="+mn-lt"/>
                <a:ea typeface="+mn-ea"/>
                <a:cs typeface="+mn-cs"/>
              </a:rPr>
              <a:t>debt level</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debt trajectory</a:t>
            </a:r>
            <a:r>
              <a:rPr lang="en-US" sz="1200" kern="1200" dirty="0">
                <a:solidFill>
                  <a:schemeClr val="tx1"/>
                </a:solidFill>
                <a:effectLst/>
                <a:latin typeface="+mn-lt"/>
                <a:ea typeface="+mn-ea"/>
                <a:cs typeface="+mn-cs"/>
              </a:rPr>
              <a:t>: The absolute level of US debt is not currently unsustainable because the US economy remains dynamic. However, the current growth </a:t>
            </a:r>
            <a:r>
              <a:rPr lang="en-US" sz="1200" i="1" kern="1200" dirty="0">
                <a:solidFill>
                  <a:schemeClr val="tx1"/>
                </a:solidFill>
                <a:effectLst/>
                <a:latin typeface="+mn-lt"/>
                <a:ea typeface="+mn-ea"/>
                <a:cs typeface="+mn-cs"/>
              </a:rPr>
              <a:t>trajectory</a:t>
            </a:r>
            <a:r>
              <a:rPr lang="en-US" sz="1200" kern="1200" dirty="0">
                <a:solidFill>
                  <a:schemeClr val="tx1"/>
                </a:solidFill>
                <a:effectLst/>
                <a:latin typeface="+mn-lt"/>
                <a:ea typeface="+mn-ea"/>
                <a:cs typeface="+mn-cs"/>
              </a:rPr>
              <a:t> of debt outstripping economic growth is mathematically unsustainable over the long term. </a:t>
            </a:r>
          </a:p>
          <a:p>
            <a:pPr lvl="0"/>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Sovereign debt sustainability is an ongoing structural challenge that requires proactive fiscal adjustment before the bond market enforces its own correction. </a:t>
            </a:r>
          </a:p>
          <a:p>
            <a:endParaRPr lang="en-US" dirty="0"/>
          </a:p>
        </p:txBody>
      </p:sp>
      <p:sp>
        <p:nvSpPr>
          <p:cNvPr id="4" name="Slide Number Placeholder 3"/>
          <p:cNvSpPr>
            <a:spLocks noGrp="1"/>
          </p:cNvSpPr>
          <p:nvPr>
            <p:ph type="sldNum" sz="quarter" idx="5"/>
          </p:nvPr>
        </p:nvSpPr>
        <p:spPr/>
        <p:txBody>
          <a:bodyPr/>
          <a:lstStyle/>
          <a:p>
            <a:fld id="{C9B106AD-0CD8-4D93-866A-E9877FCCC8B3}" type="slidenum">
              <a:rPr lang="en-US" smtClean="0"/>
              <a:t>10</a:t>
            </a:fld>
            <a:endParaRPr lang="en-US"/>
          </a:p>
        </p:txBody>
      </p:sp>
    </p:spTree>
    <p:extLst>
      <p:ext uri="{BB962C8B-B14F-4D97-AF65-F5344CB8AC3E}">
        <p14:creationId xmlns:p14="http://schemas.microsoft.com/office/powerpoint/2010/main" val="306154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Core Theme 1: Bonds Dictate Political Reality.</a:t>
            </a:r>
            <a:r>
              <a:rPr lang="en-US" sz="1200" kern="1200" dirty="0">
                <a:solidFill>
                  <a:schemeClr val="tx1"/>
                </a:solidFill>
                <a:effectLst/>
                <a:latin typeface="+mn-lt"/>
                <a:ea typeface="+mn-ea"/>
                <a:cs typeface="+mn-cs"/>
              </a:rPr>
              <a:t> Politicians make campaign promises, but the bond market determines what is fiscally achievable. It serves as the ultimate veto power over unsustainable policy. </a:t>
            </a:r>
          </a:p>
          <a:p>
            <a:pPr lvl="0"/>
            <a:r>
              <a:rPr lang="en-US" sz="1200" b="1" kern="1200" dirty="0">
                <a:solidFill>
                  <a:schemeClr val="tx1"/>
                </a:solidFill>
                <a:effectLst/>
                <a:latin typeface="+mn-lt"/>
                <a:ea typeface="+mn-ea"/>
                <a:cs typeface="+mn-cs"/>
              </a:rPr>
              <a:t>Core Theme 2: "Safe" is an Illusion.</a:t>
            </a:r>
            <a:r>
              <a:rPr lang="en-US" sz="1200" kern="1200" dirty="0">
                <a:solidFill>
                  <a:schemeClr val="tx1"/>
                </a:solidFill>
                <a:effectLst/>
                <a:latin typeface="+mn-lt"/>
                <a:ea typeface="+mn-ea"/>
                <a:cs typeface="+mn-cs"/>
              </a:rPr>
              <a:t> Structural duration risk (as seen in 100-year century bonds) and extreme leverage (as seen in the $12 Trillion Repo market) can turn supposedly "boring" fixed income assets into sources of sharp volatility. </a:t>
            </a:r>
          </a:p>
          <a:p>
            <a:pPr lvl="0"/>
            <a:r>
              <a:rPr lang="en-US" sz="1200" b="1" kern="1200" dirty="0">
                <a:solidFill>
                  <a:schemeClr val="tx1"/>
                </a:solidFill>
                <a:effectLst/>
                <a:latin typeface="+mn-lt"/>
                <a:ea typeface="+mn-ea"/>
                <a:cs typeface="+mn-cs"/>
              </a:rPr>
              <a:t>Core Theme 3: Structure is Destiny.</a:t>
            </a:r>
            <a:r>
              <a:rPr lang="en-US" sz="1200" kern="1200" dirty="0">
                <a:solidFill>
                  <a:schemeClr val="tx1"/>
                </a:solidFill>
                <a:effectLst/>
                <a:latin typeface="+mn-lt"/>
                <a:ea typeface="+mn-ea"/>
                <a:cs typeface="+mn-cs"/>
              </a:rPr>
              <a:t> From 12th-century Venetian war loans to modern private credit and ETF infrastructure, the mechanics of how debt is structured and traded dictate economic growth and global power. </a:t>
            </a:r>
          </a:p>
          <a:p>
            <a:endParaRPr lang="en-US" dirty="0"/>
          </a:p>
        </p:txBody>
      </p:sp>
      <p:sp>
        <p:nvSpPr>
          <p:cNvPr id="4" name="Slide Number Placeholder 3"/>
          <p:cNvSpPr>
            <a:spLocks noGrp="1"/>
          </p:cNvSpPr>
          <p:nvPr>
            <p:ph type="sldNum" sz="quarter" idx="5"/>
          </p:nvPr>
        </p:nvSpPr>
        <p:spPr/>
        <p:txBody>
          <a:bodyPr/>
          <a:lstStyle/>
          <a:p>
            <a:fld id="{C9B106AD-0CD8-4D93-866A-E9877FCCC8B3}" type="slidenum">
              <a:rPr lang="en-US" smtClean="0"/>
              <a:t>11</a:t>
            </a:fld>
            <a:endParaRPr lang="en-US"/>
          </a:p>
        </p:txBody>
      </p:sp>
    </p:spTree>
    <p:extLst>
      <p:ext uri="{BB962C8B-B14F-4D97-AF65-F5344CB8AC3E}">
        <p14:creationId xmlns:p14="http://schemas.microsoft.com/office/powerpoint/2010/main" val="1988292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Concluding Review:</a:t>
            </a:r>
            <a:r>
              <a:rPr lang="en-US" sz="1200" kern="1200" dirty="0">
                <a:solidFill>
                  <a:schemeClr val="tx1"/>
                </a:solidFill>
                <a:effectLst/>
                <a:latin typeface="+mn-lt"/>
                <a:ea typeface="+mn-ea"/>
                <a:cs typeface="+mn-cs"/>
              </a:rPr>
              <a:t> To tie our narrative together, Slide 12 provides an infographic overview of the key themes discussed: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1171 Venice:</a:t>
            </a:r>
            <a:r>
              <a:rPr lang="en-US" sz="1200" kern="1200" dirty="0">
                <a:solidFill>
                  <a:schemeClr val="tx1"/>
                </a:solidFill>
                <a:effectLst/>
                <a:latin typeface="+mn-lt"/>
                <a:ea typeface="+mn-ea"/>
                <a:cs typeface="+mn-cs"/>
              </a:rPr>
              <a:t> Invented tradable debt as a temporary war measure, inadvertently creating modern fixed income.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Consols vs. Napoleon:</a:t>
            </a:r>
            <a:r>
              <a:rPr lang="en-US" sz="1200" kern="1200" dirty="0">
                <a:solidFill>
                  <a:schemeClr val="tx1"/>
                </a:solidFill>
                <a:effectLst/>
                <a:latin typeface="+mn-lt"/>
                <a:ea typeface="+mn-ea"/>
                <a:cs typeface="+mn-cs"/>
              </a:rPr>
              <a:t> British 3% Consols provided the financial endurance to defeat France.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Hamiltonian Debt:</a:t>
            </a:r>
            <a:r>
              <a:rPr lang="en-US" sz="1200" kern="1200" dirty="0">
                <a:solidFill>
                  <a:schemeClr val="tx1"/>
                </a:solidFill>
                <a:effectLst/>
                <a:latin typeface="+mn-lt"/>
                <a:ea typeface="+mn-ea"/>
                <a:cs typeface="+mn-cs"/>
              </a:rPr>
              <a:t> Federal assumption of debt unified the American states into a single economic power.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$100+ Trillion Market:</a:t>
            </a:r>
            <a:r>
              <a:rPr lang="en-US" sz="1200" kern="1200" dirty="0">
                <a:solidFill>
                  <a:schemeClr val="tx1"/>
                </a:solidFill>
                <a:effectLst/>
                <a:latin typeface="+mn-lt"/>
                <a:ea typeface="+mn-ea"/>
                <a:cs typeface="+mn-cs"/>
              </a:rPr>
              <a:t> Fixed income remains the primary benchmark for global capital.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$12 Trillion Repo Engine:</a:t>
            </a:r>
            <a:r>
              <a:rPr lang="en-US" sz="1200" kern="1200" dirty="0">
                <a:solidFill>
                  <a:schemeClr val="tx1"/>
                </a:solidFill>
                <a:effectLst/>
                <a:latin typeface="+mn-lt"/>
                <a:ea typeface="+mn-ea"/>
                <a:cs typeface="+mn-cs"/>
              </a:rPr>
              <a:t> The unseen collateral system powering modern market liquidity. </a:t>
            </a:r>
          </a:p>
          <a:p>
            <a:pPr lvl="0"/>
            <a:r>
              <a:rPr lang="en-US" sz="1200" b="1" kern="1200" dirty="0">
                <a:solidFill>
                  <a:schemeClr val="tx1"/>
                </a:solidFill>
                <a:effectLst/>
                <a:latin typeface="+mn-lt"/>
                <a:ea typeface="+mn-ea"/>
                <a:cs typeface="+mn-cs"/>
              </a:rPr>
              <a:t>Final Closing:</a:t>
            </a:r>
            <a:r>
              <a:rPr lang="en-US" sz="1200" kern="1200" dirty="0">
                <a:solidFill>
                  <a:schemeClr val="tx1"/>
                </a:solidFill>
                <a:effectLst/>
                <a:latin typeface="+mn-lt"/>
                <a:ea typeface="+mn-ea"/>
                <a:cs typeface="+mn-cs"/>
              </a:rPr>
              <a:t> Thank you for your time. I am happy to open the floor to any questions or discussion.</a:t>
            </a:r>
          </a:p>
          <a:p>
            <a:endParaRPr lang="en-US" dirty="0"/>
          </a:p>
        </p:txBody>
      </p:sp>
      <p:sp>
        <p:nvSpPr>
          <p:cNvPr id="4" name="Slide Number Placeholder 3"/>
          <p:cNvSpPr>
            <a:spLocks noGrp="1"/>
          </p:cNvSpPr>
          <p:nvPr>
            <p:ph type="sldNum" sz="quarter" idx="5"/>
          </p:nvPr>
        </p:nvSpPr>
        <p:spPr/>
        <p:txBody>
          <a:bodyPr/>
          <a:lstStyle/>
          <a:p>
            <a:fld id="{C9B106AD-0CD8-4D93-866A-E9877FCCC8B3}" type="slidenum">
              <a:rPr lang="en-US" smtClean="0"/>
              <a:t>12</a:t>
            </a:fld>
            <a:endParaRPr lang="en-US"/>
          </a:p>
        </p:txBody>
      </p:sp>
    </p:spTree>
    <p:extLst>
      <p:ext uri="{BB962C8B-B14F-4D97-AF65-F5344CB8AC3E}">
        <p14:creationId xmlns:p14="http://schemas.microsoft.com/office/powerpoint/2010/main" val="1093615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B58796-18EE-D713-9B87-704E399E62BA}"/>
              </a:ext>
            </a:extLst>
          </p:cNvPr>
          <p:cNvSpPr>
            <a:spLocks noGrp="1"/>
          </p:cNvSpPr>
          <p:nvPr>
            <p:ph type="dt" sz="half" idx="10"/>
          </p:nvPr>
        </p:nvSpPr>
        <p:spPr/>
        <p:txBody>
          <a:bodyPr/>
          <a:lstStyle/>
          <a:p>
            <a:fld id="{54215CDE-84FE-40C7-A255-353E315BE773}" type="datetimeFigureOut">
              <a:rPr lang="en-US" smtClean="0"/>
              <a:t>10/21/2026</a:t>
            </a:fld>
            <a:endParaRPr lang="en-US"/>
          </a:p>
        </p:txBody>
      </p:sp>
      <p:sp>
        <p:nvSpPr>
          <p:cNvPr id="3" name="Footer Placeholder 2">
            <a:extLst>
              <a:ext uri="{FF2B5EF4-FFF2-40B4-BE49-F238E27FC236}">
                <a16:creationId xmlns:a16="http://schemas.microsoft.com/office/drawing/2014/main" id="{5B92DAD7-D9DF-36C3-4B54-483E46FE8B5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955E3B-A268-2272-9D72-4D6900FE5187}"/>
              </a:ext>
            </a:extLst>
          </p:cNvPr>
          <p:cNvSpPr>
            <a:spLocks noGrp="1"/>
          </p:cNvSpPr>
          <p:nvPr>
            <p:ph type="sldNum" sz="quarter" idx="12"/>
          </p:nvPr>
        </p:nvSpPr>
        <p:spPr/>
        <p:txBody>
          <a:bodyPr/>
          <a:lstStyle/>
          <a:p>
            <a:fld id="{6862F04A-4CF6-4343-895A-F4FBB22283A9}" type="slidenum">
              <a:rPr lang="en-US" smtClean="0"/>
              <a:t>‹#›</a:t>
            </a:fld>
            <a:endParaRPr lang="en-US"/>
          </a:p>
        </p:txBody>
      </p:sp>
    </p:spTree>
    <p:extLst>
      <p:ext uri="{BB962C8B-B14F-4D97-AF65-F5344CB8AC3E}">
        <p14:creationId xmlns:p14="http://schemas.microsoft.com/office/powerpoint/2010/main" val="356086923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DE734B-70BE-E3CC-F608-D14E06D51C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C6149F-FED3-78A2-4575-C97FFD1EE0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CD2629-9FFE-FECF-561A-F7FD1AF1D4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215CDE-84FE-40C7-A255-353E315BE773}" type="datetimeFigureOut">
              <a:rPr lang="en-US" smtClean="0"/>
              <a:t>10/21/2026</a:t>
            </a:fld>
            <a:endParaRPr lang="en-US"/>
          </a:p>
        </p:txBody>
      </p:sp>
      <p:sp>
        <p:nvSpPr>
          <p:cNvPr id="5" name="Footer Placeholder 4">
            <a:extLst>
              <a:ext uri="{FF2B5EF4-FFF2-40B4-BE49-F238E27FC236}">
                <a16:creationId xmlns:a16="http://schemas.microsoft.com/office/drawing/2014/main" id="{51D94DFE-C65C-D47E-E15D-935DAADBD0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D7FC29D-DEB4-A67B-E5E6-A7F617C3AA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62F04A-4CF6-4343-895A-F4FBB22283A9}" type="slidenum">
              <a:rPr lang="en-US" smtClean="0"/>
              <a:t>‹#›</a:t>
            </a:fld>
            <a:endParaRPr lang="en-US"/>
          </a:p>
        </p:txBody>
      </p:sp>
    </p:spTree>
    <p:extLst>
      <p:ext uri="{BB962C8B-B14F-4D97-AF65-F5344CB8AC3E}">
        <p14:creationId xmlns:p14="http://schemas.microsoft.com/office/powerpoint/2010/main" val="287037617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1CEE58D-A684-BF15-DAFA-6C3AC0D92C7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AB40A6-D897-73E0-B1A8-0F7D09AB9C3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6EFBF1-5E78-0E55-A8F7-E3A29D0D48E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14FB38-D67D-79C4-9C44-A093B24B665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6F5018-7190-8A98-BB1F-6E2F8107D85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8A5D71-A671-FCC6-52F9-5FC06DC8FCE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79820A-027E-AB65-E812-FD226B0CD56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74DB2C-DE84-A2C5-979D-54D5EC4AD5B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15D838-033F-E470-9697-B7D33787C2D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84CF2B-4959-B631-1162-221E1E35365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4A8F89-CB17-15B7-5DBF-6DB4D6D6398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AFEE21-75B1-FAEA-740E-E57DBB7F47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806391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2321</Words>
  <Application>Microsoft Office PowerPoint</Application>
  <PresentationFormat>寬螢幕</PresentationFormat>
  <Paragraphs>73</Paragraphs>
  <Slides>12</Slides>
  <Notes>12</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12</vt:i4>
      </vt:variant>
    </vt:vector>
  </HeadingPairs>
  <TitlesOfParts>
    <vt:vector size="16"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2026-09-14T13:54:21Z</dcterms:created>
  <dcterms:modified xsi:type="dcterms:W3CDTF">2026-10-21T02:48:00Z</dcterms:modified>
</cp:coreProperties>
</file>