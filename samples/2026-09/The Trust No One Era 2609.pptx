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D65063-6462-446A-B0CF-3B907936BB3D}" v="2" dt="2026-09-02T09:15:53.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75926"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02T09:15:56.396" v="56" actId="166"/>
      <pc:docMkLst>
        <pc:docMk/>
      </pc:docMkLst>
      <pc:sldChg chg="addSp modSp mod modAnim modNotesTx">
        <pc:chgData name="Lai, Wilson" userId="2840974a-0d84-4886-90a9-9a3ed79f3a48" providerId="ADAL" clId="{9F23B798-9E84-4552-BA63-E776E805C424}" dt="2026-09-02T09:15:56.396" v="56" actId="166"/>
        <pc:sldMkLst>
          <pc:docMk/>
          <pc:sldMk cId="0" sldId="257"/>
        </pc:sldMkLst>
        <pc:spChg chg="add mod">
          <ac:chgData name="Lai, Wilson" userId="2840974a-0d84-4886-90a9-9a3ed79f3a48" providerId="ADAL" clId="{9F23B798-9E84-4552-BA63-E776E805C424}" dt="2026-09-02T09:15:53.482" v="55" actId="164"/>
          <ac:spMkLst>
            <pc:docMk/>
            <pc:sldMk cId="0" sldId="257"/>
            <ac:spMk id="5" creationId="{BE5B3668-FCBC-1768-AD96-555C3BBB9CB0}"/>
          </ac:spMkLst>
        </pc:spChg>
        <pc:grpChg chg="add mod">
          <ac:chgData name="Lai, Wilson" userId="2840974a-0d84-4886-90a9-9a3ed79f3a48" providerId="ADAL" clId="{9F23B798-9E84-4552-BA63-E776E805C424}" dt="2026-09-02T09:15:53.482" v="55" actId="164"/>
          <ac:grpSpMkLst>
            <pc:docMk/>
            <pc:sldMk cId="0" sldId="257"/>
            <ac:grpSpMk id="6" creationId="{8E7C3D52-5A70-A2EB-DBA0-457CFFD32615}"/>
          </ac:grpSpMkLst>
        </pc:grpChg>
        <pc:picChg chg="add mod">
          <ac:chgData name="Lai, Wilson" userId="2840974a-0d84-4886-90a9-9a3ed79f3a48" providerId="ADAL" clId="{9F23B798-9E84-4552-BA63-E776E805C424}" dt="2026-09-02T09:15:53.482" v="55" actId="164"/>
          <ac:picMkLst>
            <pc:docMk/>
            <pc:sldMk cId="0" sldId="257"/>
            <ac:picMk id="2" creationId="{5D119BAA-09E4-1F6F-7B0D-DC56DA04C984}"/>
          </ac:picMkLst>
        </pc:picChg>
        <pc:picChg chg="ord">
          <ac:chgData name="Lai, Wilson" userId="2840974a-0d84-4886-90a9-9a3ed79f3a48" providerId="ADAL" clId="{9F23B798-9E84-4552-BA63-E776E805C424}" dt="2026-09-02T09:15:56.396" v="56" actId="166"/>
          <ac:picMkLst>
            <pc:docMk/>
            <pc:sldMk cId="0" sldId="257"/>
            <ac:picMk id="4" creationId="{C674C4CC-0C09-2356-A3FF-F9B5698E0649}"/>
          </ac:picMkLst>
        </pc:picChg>
      </pc:sldChg>
      <pc:sldChg chg="addSp delSp mod">
        <pc:chgData name="Lai, Wilson" userId="2840974a-0d84-4886-90a9-9a3ed79f3a48" providerId="ADAL" clId="{9F23B798-9E84-4552-BA63-E776E805C424}" dt="2026-09-02T09:09:57.664" v="11" actId="22"/>
        <pc:sldMkLst>
          <pc:docMk/>
          <pc:sldMk cId="0" sldId="258"/>
        </pc:sldMkLst>
        <pc:picChg chg="del">
          <ac:chgData name="Lai, Wilson" userId="2840974a-0d84-4886-90a9-9a3ed79f3a48" providerId="ADAL" clId="{9F23B798-9E84-4552-BA63-E776E805C424}" dt="2026-09-02T09:07:12.411" v="10" actId="21"/>
          <ac:picMkLst>
            <pc:docMk/>
            <pc:sldMk cId="0" sldId="258"/>
            <ac:picMk id="2" creationId="{00000000-0000-0000-0000-000000000000}"/>
          </ac:picMkLst>
        </pc:picChg>
        <pc:picChg chg="add">
          <ac:chgData name="Lai, Wilson" userId="2840974a-0d84-4886-90a9-9a3ed79f3a48" providerId="ADAL" clId="{9F23B798-9E84-4552-BA63-E776E805C424}" dt="2026-09-02T09:09:57.664" v="11" actId="22"/>
          <ac:picMkLst>
            <pc:docMk/>
            <pc:sldMk cId="0" sldId="258"/>
            <ac:picMk id="4" creationId="{6A1564F8-7E3E-7FA8-0434-9E37C34B3566}"/>
          </ac:picMkLst>
        </pc:picChg>
      </pc:sldChg>
      <pc:sldChg chg="addSp delSp mod">
        <pc:chgData name="Lai, Wilson" userId="2840974a-0d84-4886-90a9-9a3ed79f3a48" providerId="ADAL" clId="{9F23B798-9E84-4552-BA63-E776E805C424}" dt="2026-09-02T09:11:03.460" v="13" actId="22"/>
        <pc:sldMkLst>
          <pc:docMk/>
          <pc:sldMk cId="0" sldId="259"/>
        </pc:sldMkLst>
        <pc:picChg chg="del">
          <ac:chgData name="Lai, Wilson" userId="2840974a-0d84-4886-90a9-9a3ed79f3a48" providerId="ADAL" clId="{9F23B798-9E84-4552-BA63-E776E805C424}" dt="2026-09-02T09:10:02.328" v="12" actId="21"/>
          <ac:picMkLst>
            <pc:docMk/>
            <pc:sldMk cId="0" sldId="259"/>
            <ac:picMk id="2" creationId="{00000000-0000-0000-0000-000000000000}"/>
          </ac:picMkLst>
        </pc:picChg>
        <pc:picChg chg="add">
          <ac:chgData name="Lai, Wilson" userId="2840974a-0d84-4886-90a9-9a3ed79f3a48" providerId="ADAL" clId="{9F23B798-9E84-4552-BA63-E776E805C424}" dt="2026-09-02T09:11:03.460" v="13" actId="22"/>
          <ac:picMkLst>
            <pc:docMk/>
            <pc:sldMk cId="0" sldId="259"/>
            <ac:picMk id="4" creationId="{2E82EAD6-58D8-2208-B925-49FACAC25D29}"/>
          </ac:picMkLst>
        </pc:picChg>
      </pc:sldChg>
      <pc:sldChg chg="addSp delSp mod">
        <pc:chgData name="Lai, Wilson" userId="2840974a-0d84-4886-90a9-9a3ed79f3a48" providerId="ADAL" clId="{9F23B798-9E84-4552-BA63-E776E805C424}" dt="2026-09-02T09:11:14.375" v="15" actId="22"/>
        <pc:sldMkLst>
          <pc:docMk/>
          <pc:sldMk cId="0" sldId="260"/>
        </pc:sldMkLst>
        <pc:picChg chg="del">
          <ac:chgData name="Lai, Wilson" userId="2840974a-0d84-4886-90a9-9a3ed79f3a48" providerId="ADAL" clId="{9F23B798-9E84-4552-BA63-E776E805C424}" dt="2026-09-02T09:11:06.683" v="14" actId="21"/>
          <ac:picMkLst>
            <pc:docMk/>
            <pc:sldMk cId="0" sldId="260"/>
            <ac:picMk id="2" creationId="{00000000-0000-0000-0000-000000000000}"/>
          </ac:picMkLst>
        </pc:picChg>
        <pc:picChg chg="add">
          <ac:chgData name="Lai, Wilson" userId="2840974a-0d84-4886-90a9-9a3ed79f3a48" providerId="ADAL" clId="{9F23B798-9E84-4552-BA63-E776E805C424}" dt="2026-09-02T09:11:14.375" v="15" actId="22"/>
          <ac:picMkLst>
            <pc:docMk/>
            <pc:sldMk cId="0" sldId="260"/>
            <ac:picMk id="4" creationId="{169C4772-8551-6714-9BBB-ED685FB1B509}"/>
          </ac:picMkLst>
        </pc:picChg>
      </pc:sldChg>
      <pc:sldChg chg="addSp delSp mod modNotesTx">
        <pc:chgData name="Lai, Wilson" userId="2840974a-0d84-4886-90a9-9a3ed79f3a48" providerId="ADAL" clId="{9F23B798-9E84-4552-BA63-E776E805C424}" dt="2026-09-02T09:11:26.252" v="17" actId="22"/>
        <pc:sldMkLst>
          <pc:docMk/>
          <pc:sldMk cId="0" sldId="261"/>
        </pc:sldMkLst>
        <pc:picChg chg="del">
          <ac:chgData name="Lai, Wilson" userId="2840974a-0d84-4886-90a9-9a3ed79f3a48" providerId="ADAL" clId="{9F23B798-9E84-4552-BA63-E776E805C424}" dt="2026-09-02T09:11:16.034" v="16" actId="21"/>
          <ac:picMkLst>
            <pc:docMk/>
            <pc:sldMk cId="0" sldId="261"/>
            <ac:picMk id="2" creationId="{00000000-0000-0000-0000-000000000000}"/>
          </ac:picMkLst>
        </pc:picChg>
        <pc:picChg chg="add">
          <ac:chgData name="Lai, Wilson" userId="2840974a-0d84-4886-90a9-9a3ed79f3a48" providerId="ADAL" clId="{9F23B798-9E84-4552-BA63-E776E805C424}" dt="2026-09-02T09:11:26.252" v="17" actId="22"/>
          <ac:picMkLst>
            <pc:docMk/>
            <pc:sldMk cId="0" sldId="261"/>
            <ac:picMk id="4" creationId="{78093EFF-4D23-7FD6-25BE-9EE6C0EF8CC6}"/>
          </ac:picMkLst>
        </pc:picChg>
      </pc:sldChg>
      <pc:sldChg chg="addSp delSp mod">
        <pc:chgData name="Lai, Wilson" userId="2840974a-0d84-4886-90a9-9a3ed79f3a48" providerId="ADAL" clId="{9F23B798-9E84-4552-BA63-E776E805C424}" dt="2026-09-02T09:11:35.377" v="19" actId="22"/>
        <pc:sldMkLst>
          <pc:docMk/>
          <pc:sldMk cId="0" sldId="262"/>
        </pc:sldMkLst>
        <pc:picChg chg="del">
          <ac:chgData name="Lai, Wilson" userId="2840974a-0d84-4886-90a9-9a3ed79f3a48" providerId="ADAL" clId="{9F23B798-9E84-4552-BA63-E776E805C424}" dt="2026-09-02T09:11:27.875" v="18" actId="21"/>
          <ac:picMkLst>
            <pc:docMk/>
            <pc:sldMk cId="0" sldId="262"/>
            <ac:picMk id="2" creationId="{00000000-0000-0000-0000-000000000000}"/>
          </ac:picMkLst>
        </pc:picChg>
        <pc:picChg chg="add">
          <ac:chgData name="Lai, Wilson" userId="2840974a-0d84-4886-90a9-9a3ed79f3a48" providerId="ADAL" clId="{9F23B798-9E84-4552-BA63-E776E805C424}" dt="2026-09-02T09:11:35.377" v="19" actId="22"/>
          <ac:picMkLst>
            <pc:docMk/>
            <pc:sldMk cId="0" sldId="262"/>
            <ac:picMk id="4" creationId="{EC813E59-4ED2-7DB1-2686-68D788E446B5}"/>
          </ac:picMkLst>
        </pc:picChg>
      </pc:sldChg>
      <pc:sldChg chg="addSp delSp mod modNotesTx">
        <pc:chgData name="Lai, Wilson" userId="2840974a-0d84-4886-90a9-9a3ed79f3a48" providerId="ADAL" clId="{9F23B798-9E84-4552-BA63-E776E805C424}" dt="2026-09-02T09:11:45.368" v="21" actId="22"/>
        <pc:sldMkLst>
          <pc:docMk/>
          <pc:sldMk cId="0" sldId="263"/>
        </pc:sldMkLst>
        <pc:picChg chg="del">
          <ac:chgData name="Lai, Wilson" userId="2840974a-0d84-4886-90a9-9a3ed79f3a48" providerId="ADAL" clId="{9F23B798-9E84-4552-BA63-E776E805C424}" dt="2026-09-02T09:11:37.056" v="20" actId="21"/>
          <ac:picMkLst>
            <pc:docMk/>
            <pc:sldMk cId="0" sldId="263"/>
            <ac:picMk id="2" creationId="{00000000-0000-0000-0000-000000000000}"/>
          </ac:picMkLst>
        </pc:picChg>
        <pc:picChg chg="add">
          <ac:chgData name="Lai, Wilson" userId="2840974a-0d84-4886-90a9-9a3ed79f3a48" providerId="ADAL" clId="{9F23B798-9E84-4552-BA63-E776E805C424}" dt="2026-09-02T09:11:45.368" v="21" actId="22"/>
          <ac:picMkLst>
            <pc:docMk/>
            <pc:sldMk cId="0" sldId="263"/>
            <ac:picMk id="4" creationId="{687EBF83-633B-E975-A5C7-E810BB1EF248}"/>
          </ac:picMkLst>
        </pc:picChg>
      </pc:sldChg>
      <pc:sldChg chg="addSp delSp mod">
        <pc:chgData name="Lai, Wilson" userId="2840974a-0d84-4886-90a9-9a3ed79f3a48" providerId="ADAL" clId="{9F23B798-9E84-4552-BA63-E776E805C424}" dt="2026-09-02T09:11:55.389" v="23" actId="22"/>
        <pc:sldMkLst>
          <pc:docMk/>
          <pc:sldMk cId="0" sldId="264"/>
        </pc:sldMkLst>
        <pc:picChg chg="del">
          <ac:chgData name="Lai, Wilson" userId="2840974a-0d84-4886-90a9-9a3ed79f3a48" providerId="ADAL" clId="{9F23B798-9E84-4552-BA63-E776E805C424}" dt="2026-09-02T09:11:46.859" v="22" actId="21"/>
          <ac:picMkLst>
            <pc:docMk/>
            <pc:sldMk cId="0" sldId="264"/>
            <ac:picMk id="2" creationId="{00000000-0000-0000-0000-000000000000}"/>
          </ac:picMkLst>
        </pc:picChg>
        <pc:picChg chg="add">
          <ac:chgData name="Lai, Wilson" userId="2840974a-0d84-4886-90a9-9a3ed79f3a48" providerId="ADAL" clId="{9F23B798-9E84-4552-BA63-E776E805C424}" dt="2026-09-02T09:11:55.389" v="23" actId="22"/>
          <ac:picMkLst>
            <pc:docMk/>
            <pc:sldMk cId="0" sldId="264"/>
            <ac:picMk id="4" creationId="{3B65D52F-40BA-CEA5-B1D3-73E2C51C8DFD}"/>
          </ac:picMkLst>
        </pc:picChg>
      </pc:sldChg>
      <pc:sldChg chg="addSp delSp modSp mod">
        <pc:chgData name="Lai, Wilson" userId="2840974a-0d84-4886-90a9-9a3ed79f3a48" providerId="ADAL" clId="{9F23B798-9E84-4552-BA63-E776E805C424}" dt="2026-09-02T09:12:11.991" v="26" actId="22"/>
        <pc:sldMkLst>
          <pc:docMk/>
          <pc:sldMk cId="0" sldId="265"/>
        </pc:sldMkLst>
        <pc:picChg chg="del mod">
          <ac:chgData name="Lai, Wilson" userId="2840974a-0d84-4886-90a9-9a3ed79f3a48" providerId="ADAL" clId="{9F23B798-9E84-4552-BA63-E776E805C424}" dt="2026-09-02T09:11:57.017" v="25" actId="21"/>
          <ac:picMkLst>
            <pc:docMk/>
            <pc:sldMk cId="0" sldId="265"/>
            <ac:picMk id="2" creationId="{00000000-0000-0000-0000-000000000000}"/>
          </ac:picMkLst>
        </pc:picChg>
        <pc:picChg chg="add">
          <ac:chgData name="Lai, Wilson" userId="2840974a-0d84-4886-90a9-9a3ed79f3a48" providerId="ADAL" clId="{9F23B798-9E84-4552-BA63-E776E805C424}" dt="2026-09-02T09:12:11.991" v="26" actId="22"/>
          <ac:picMkLst>
            <pc:docMk/>
            <pc:sldMk cId="0" sldId="265"/>
            <ac:picMk id="4" creationId="{70D82AEC-5C40-EEC3-AAB1-9CDA07FC9BEB}"/>
          </ac:picMkLst>
        </pc:picChg>
      </pc:sldChg>
      <pc:sldChg chg="addSp delSp modSp mod setBg">
        <pc:chgData name="Lai, Wilson" userId="2840974a-0d84-4886-90a9-9a3ed79f3a48" providerId="ADAL" clId="{9F23B798-9E84-4552-BA63-E776E805C424}" dt="2026-09-02T09:12:26.622" v="30" actId="26606"/>
        <pc:sldMkLst>
          <pc:docMk/>
          <pc:sldMk cId="0" sldId="266"/>
        </pc:sldMkLst>
        <pc:spChg chg="add del">
          <ac:chgData name="Lai, Wilson" userId="2840974a-0d84-4886-90a9-9a3ed79f3a48" providerId="ADAL" clId="{9F23B798-9E84-4552-BA63-E776E805C424}" dt="2026-09-02T09:12:26.622" v="30" actId="26606"/>
          <ac:spMkLst>
            <pc:docMk/>
            <pc:sldMk cId="0" sldId="266"/>
            <ac:spMk id="9" creationId="{AB8C311F-7253-4AED-9701-7FC0708C41C7}"/>
          </ac:spMkLst>
        </pc:spChg>
        <pc:spChg chg="add del">
          <ac:chgData name="Lai, Wilson" userId="2840974a-0d84-4886-90a9-9a3ed79f3a48" providerId="ADAL" clId="{9F23B798-9E84-4552-BA63-E776E805C424}" dt="2026-09-02T09:12:26.622" v="30" actId="26606"/>
          <ac:spMkLst>
            <pc:docMk/>
            <pc:sldMk cId="0" sldId="266"/>
            <ac:spMk id="11" creationId="{E2384209-CB15-4CDF-9D31-C44FD9A3F20D}"/>
          </ac:spMkLst>
        </pc:spChg>
        <pc:spChg chg="add del">
          <ac:chgData name="Lai, Wilson" userId="2840974a-0d84-4886-90a9-9a3ed79f3a48" providerId="ADAL" clId="{9F23B798-9E84-4552-BA63-E776E805C424}" dt="2026-09-02T09:12:26.622" v="30" actId="26606"/>
          <ac:spMkLst>
            <pc:docMk/>
            <pc:sldMk cId="0" sldId="266"/>
            <ac:spMk id="13" creationId="{2633B3B5-CC90-43F0-8714-D31D1F3F0209}"/>
          </ac:spMkLst>
        </pc:spChg>
        <pc:spChg chg="add del">
          <ac:chgData name="Lai, Wilson" userId="2840974a-0d84-4886-90a9-9a3ed79f3a48" providerId="ADAL" clId="{9F23B798-9E84-4552-BA63-E776E805C424}" dt="2026-09-02T09:12:26.622" v="30" actId="26606"/>
          <ac:spMkLst>
            <pc:docMk/>
            <pc:sldMk cId="0" sldId="266"/>
            <ac:spMk id="15" creationId="{A8D57A06-A426-446D-B02C-A2DC6B62E45E}"/>
          </ac:spMkLst>
        </pc:spChg>
        <pc:picChg chg="del">
          <ac:chgData name="Lai, Wilson" userId="2840974a-0d84-4886-90a9-9a3ed79f3a48" providerId="ADAL" clId="{9F23B798-9E84-4552-BA63-E776E805C424}" dt="2026-09-02T09:12:14.002" v="27" actId="21"/>
          <ac:picMkLst>
            <pc:docMk/>
            <pc:sldMk cId="0" sldId="266"/>
            <ac:picMk id="2" creationId="{00000000-0000-0000-0000-000000000000}"/>
          </ac:picMkLst>
        </pc:picChg>
        <pc:picChg chg="add mod">
          <ac:chgData name="Lai, Wilson" userId="2840974a-0d84-4886-90a9-9a3ed79f3a48" providerId="ADAL" clId="{9F23B798-9E84-4552-BA63-E776E805C424}" dt="2026-09-02T09:12:26.622" v="30" actId="26606"/>
          <ac:picMkLst>
            <pc:docMk/>
            <pc:sldMk cId="0" sldId="266"/>
            <ac:picMk id="4" creationId="{73BA08D6-D41B-2163-8AC1-47FF7DB01F62}"/>
          </ac:picMkLst>
        </pc:picChg>
      </pc:sldChg>
      <pc:sldChg chg="addSp delSp mod">
        <pc:chgData name="Lai, Wilson" userId="2840974a-0d84-4886-90a9-9a3ed79f3a48" providerId="ADAL" clId="{9F23B798-9E84-4552-BA63-E776E805C424}" dt="2026-09-02T09:12:41.784" v="32" actId="22"/>
        <pc:sldMkLst>
          <pc:docMk/>
          <pc:sldMk cId="0" sldId="267"/>
        </pc:sldMkLst>
        <pc:picChg chg="del">
          <ac:chgData name="Lai, Wilson" userId="2840974a-0d84-4886-90a9-9a3ed79f3a48" providerId="ADAL" clId="{9F23B798-9E84-4552-BA63-E776E805C424}" dt="2026-09-02T09:12:30.045" v="31" actId="21"/>
          <ac:picMkLst>
            <pc:docMk/>
            <pc:sldMk cId="0" sldId="267"/>
            <ac:picMk id="2" creationId="{00000000-0000-0000-0000-000000000000}"/>
          </ac:picMkLst>
        </pc:picChg>
        <pc:picChg chg="add">
          <ac:chgData name="Lai, Wilson" userId="2840974a-0d84-4886-90a9-9a3ed79f3a48" providerId="ADAL" clId="{9F23B798-9E84-4552-BA63-E776E805C424}" dt="2026-09-02T09:12:41.784" v="32" actId="22"/>
          <ac:picMkLst>
            <pc:docMk/>
            <pc:sldMk cId="0" sldId="267"/>
            <ac:picMk id="4" creationId="{D03832B5-4CC1-2CB2-AC4D-54CDE4CF7EC6}"/>
          </ac:picMkLst>
        </pc:picChg>
      </pc:sldChg>
      <pc:sldChg chg="addSp delSp mod">
        <pc:chgData name="Lai, Wilson" userId="2840974a-0d84-4886-90a9-9a3ed79f3a48" providerId="ADAL" clId="{9F23B798-9E84-4552-BA63-E776E805C424}" dt="2026-09-02T09:12:53.026" v="34" actId="22"/>
        <pc:sldMkLst>
          <pc:docMk/>
          <pc:sldMk cId="0" sldId="268"/>
        </pc:sldMkLst>
        <pc:picChg chg="del">
          <ac:chgData name="Lai, Wilson" userId="2840974a-0d84-4886-90a9-9a3ed79f3a48" providerId="ADAL" clId="{9F23B798-9E84-4552-BA63-E776E805C424}" dt="2026-09-02T09:12:44.068" v="33" actId="21"/>
          <ac:picMkLst>
            <pc:docMk/>
            <pc:sldMk cId="0" sldId="268"/>
            <ac:picMk id="2" creationId="{00000000-0000-0000-0000-000000000000}"/>
          </ac:picMkLst>
        </pc:picChg>
        <pc:picChg chg="add">
          <ac:chgData name="Lai, Wilson" userId="2840974a-0d84-4886-90a9-9a3ed79f3a48" providerId="ADAL" clId="{9F23B798-9E84-4552-BA63-E776E805C424}" dt="2026-09-02T09:12:53.026" v="34" actId="22"/>
          <ac:picMkLst>
            <pc:docMk/>
            <pc:sldMk cId="0" sldId="268"/>
            <ac:picMk id="4" creationId="{ED449B76-F3C1-94F8-5E3A-FCBC7736769F}"/>
          </ac:picMkLst>
        </pc:picChg>
      </pc:sldChg>
      <pc:sldChg chg="addSp delSp mod">
        <pc:chgData name="Lai, Wilson" userId="2840974a-0d84-4886-90a9-9a3ed79f3a48" providerId="ADAL" clId="{9F23B798-9E84-4552-BA63-E776E805C424}" dt="2026-09-02T09:14:06.836" v="42" actId="22"/>
        <pc:sldMkLst>
          <pc:docMk/>
          <pc:sldMk cId="0" sldId="269"/>
        </pc:sldMkLst>
        <pc:picChg chg="del">
          <ac:chgData name="Lai, Wilson" userId="2840974a-0d84-4886-90a9-9a3ed79f3a48" providerId="ADAL" clId="{9F23B798-9E84-4552-BA63-E776E805C424}" dt="2026-09-02T09:13:55.524" v="41" actId="21"/>
          <ac:picMkLst>
            <pc:docMk/>
            <pc:sldMk cId="0" sldId="269"/>
            <ac:picMk id="2" creationId="{00000000-0000-0000-0000-000000000000}"/>
          </ac:picMkLst>
        </pc:picChg>
        <pc:picChg chg="add">
          <ac:chgData name="Lai, Wilson" userId="2840974a-0d84-4886-90a9-9a3ed79f3a48" providerId="ADAL" clId="{9F23B798-9E84-4552-BA63-E776E805C424}" dt="2026-09-02T09:14:06.836" v="42" actId="22"/>
          <ac:picMkLst>
            <pc:docMk/>
            <pc:sldMk cId="0" sldId="269"/>
            <ac:picMk id="4" creationId="{603DEF17-B85F-12D5-07EE-EA692161FD5C}"/>
          </ac:picMkLst>
        </pc:picChg>
      </pc:sldChg>
      <pc:sldChg chg="addSp delSp mod">
        <pc:chgData name="Lai, Wilson" userId="2840974a-0d84-4886-90a9-9a3ed79f3a48" providerId="ADAL" clId="{9F23B798-9E84-4552-BA63-E776E805C424}" dt="2026-09-02T09:13:04.277" v="36" actId="22"/>
        <pc:sldMkLst>
          <pc:docMk/>
          <pc:sldMk cId="0" sldId="270"/>
        </pc:sldMkLst>
        <pc:picChg chg="del">
          <ac:chgData name="Lai, Wilson" userId="2840974a-0d84-4886-90a9-9a3ed79f3a48" providerId="ADAL" clId="{9F23B798-9E84-4552-BA63-E776E805C424}" dt="2026-09-02T09:12:56.109" v="35" actId="21"/>
          <ac:picMkLst>
            <pc:docMk/>
            <pc:sldMk cId="0" sldId="270"/>
            <ac:picMk id="2" creationId="{00000000-0000-0000-0000-000000000000}"/>
          </ac:picMkLst>
        </pc:picChg>
        <pc:picChg chg="add">
          <ac:chgData name="Lai, Wilson" userId="2840974a-0d84-4886-90a9-9a3ed79f3a48" providerId="ADAL" clId="{9F23B798-9E84-4552-BA63-E776E805C424}" dt="2026-09-02T09:13:04.277" v="36" actId="22"/>
          <ac:picMkLst>
            <pc:docMk/>
            <pc:sldMk cId="0" sldId="270"/>
            <ac:picMk id="4" creationId="{B55936E8-77F5-8154-EB7E-848DE06BF8D1}"/>
          </ac:picMkLst>
        </pc:picChg>
      </pc:sldChg>
      <pc:sldChg chg="addSp delSp mod modNotesTx">
        <pc:chgData name="Lai, Wilson" userId="2840974a-0d84-4886-90a9-9a3ed79f3a48" providerId="ADAL" clId="{9F23B798-9E84-4552-BA63-E776E805C424}" dt="2026-09-02T09:13:12.847" v="38" actId="22"/>
        <pc:sldMkLst>
          <pc:docMk/>
          <pc:sldMk cId="0" sldId="271"/>
        </pc:sldMkLst>
        <pc:picChg chg="del">
          <ac:chgData name="Lai, Wilson" userId="2840974a-0d84-4886-90a9-9a3ed79f3a48" providerId="ADAL" clId="{9F23B798-9E84-4552-BA63-E776E805C424}" dt="2026-09-02T09:13:06.046" v="37" actId="21"/>
          <ac:picMkLst>
            <pc:docMk/>
            <pc:sldMk cId="0" sldId="271"/>
            <ac:picMk id="2" creationId="{00000000-0000-0000-0000-000000000000}"/>
          </ac:picMkLst>
        </pc:picChg>
        <pc:picChg chg="add">
          <ac:chgData name="Lai, Wilson" userId="2840974a-0d84-4886-90a9-9a3ed79f3a48" providerId="ADAL" clId="{9F23B798-9E84-4552-BA63-E776E805C424}" dt="2026-09-02T09:13:12.847" v="38" actId="22"/>
          <ac:picMkLst>
            <pc:docMk/>
            <pc:sldMk cId="0" sldId="271"/>
            <ac:picMk id="4" creationId="{4B295DA7-67F3-2D4D-2FD4-568257B29379}"/>
          </ac:picMkLst>
        </pc:picChg>
      </pc:sldChg>
      <pc:sldChg chg="addSp delSp mod modNotesTx">
        <pc:chgData name="Lai, Wilson" userId="2840974a-0d84-4886-90a9-9a3ed79f3a48" providerId="ADAL" clId="{9F23B798-9E84-4552-BA63-E776E805C424}" dt="2026-09-02T09:13:27.034" v="40" actId="22"/>
        <pc:sldMkLst>
          <pc:docMk/>
          <pc:sldMk cId="2246133978" sldId="272"/>
        </pc:sldMkLst>
        <pc:picChg chg="del">
          <ac:chgData name="Lai, Wilson" userId="2840974a-0d84-4886-90a9-9a3ed79f3a48" providerId="ADAL" clId="{9F23B798-9E84-4552-BA63-E776E805C424}" dt="2026-09-02T09:13:15.228" v="39" actId="21"/>
          <ac:picMkLst>
            <pc:docMk/>
            <pc:sldMk cId="2246133978" sldId="272"/>
            <ac:picMk id="3" creationId="{6642D537-F6C6-2DFC-033F-70E0B1366793}"/>
          </ac:picMkLst>
        </pc:picChg>
        <pc:picChg chg="add">
          <ac:chgData name="Lai, Wilson" userId="2840974a-0d84-4886-90a9-9a3ed79f3a48" providerId="ADAL" clId="{9F23B798-9E84-4552-BA63-E776E805C424}" dt="2026-09-02T09:13:27.034" v="40" actId="22"/>
          <ac:picMkLst>
            <pc:docMk/>
            <pc:sldMk cId="2246133978" sldId="272"/>
            <ac:picMk id="4" creationId="{0856B45B-EF44-26B3-1A75-FA341075684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9C31E5-3C57-4488-BE4B-CB9DF79B1153}"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609DBB-2BC5-4D88-9426-5BD8DF6347D9}" type="slidenum">
              <a:rPr lang="en-US" smtClean="0"/>
              <a:t>‹#›</a:t>
            </a:fld>
            <a:endParaRPr lang="en-US"/>
          </a:p>
        </p:txBody>
      </p:sp>
    </p:spTree>
    <p:extLst>
      <p:ext uri="{BB962C8B-B14F-4D97-AF65-F5344CB8AC3E}">
        <p14:creationId xmlns:p14="http://schemas.microsoft.com/office/powerpoint/2010/main" val="1637480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&amp; Context:</a:t>
            </a:r>
            <a:r>
              <a:rPr lang="en-US" sz="1200" kern="1200" dirty="0">
                <a:solidFill>
                  <a:schemeClr val="tx1"/>
                </a:solidFill>
                <a:effectLst/>
                <a:latin typeface="+mn-lt"/>
                <a:ea typeface="+mn-ea"/>
                <a:cs typeface="+mn-cs"/>
              </a:rPr>
              <a:t> Welcome everyone. Today, we are discussing a critical shift in the digital landscape—what cyber-intelligence experts describe as the transition into the "Trust No One Era." For decades, organizations operated under the assumption that seeing or hearing someone digitally was a reliable form of authentication. That era is officially over. </a:t>
            </a:r>
          </a:p>
          <a:p>
            <a:pPr lvl="0"/>
            <a:r>
              <a:rPr lang="en-US" sz="1200" b="1" kern="1200" dirty="0">
                <a:solidFill>
                  <a:schemeClr val="tx1"/>
                </a:solidFill>
                <a:effectLst/>
                <a:latin typeface="+mn-lt"/>
                <a:ea typeface="+mn-ea"/>
                <a:cs typeface="+mn-cs"/>
              </a:rPr>
              <a:t>The Core Issue:</a:t>
            </a:r>
            <a:r>
              <a:rPr lang="en-US" sz="1200" kern="1200" dirty="0">
                <a:solidFill>
                  <a:schemeClr val="tx1"/>
                </a:solidFill>
                <a:effectLst/>
                <a:latin typeface="+mn-lt"/>
                <a:ea typeface="+mn-ea"/>
                <a:cs typeface="+mn-cs"/>
              </a:rPr>
              <a:t> We have entered a paradigm where generative AI has democratized deception at scale. Synthetic media, real-time face swaps, and voice cloning have progressed from novelty novelties to active, highly efficient enterprise threat vectors.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As we walk through this briefing, the core theme to keep in mind is this: </a:t>
            </a:r>
            <a:r>
              <a:rPr lang="en-US" sz="1200" b="1" kern="1200" dirty="0">
                <a:solidFill>
                  <a:schemeClr val="tx1"/>
                </a:solidFill>
                <a:effectLst/>
                <a:latin typeface="+mn-lt"/>
                <a:ea typeface="+mn-ea"/>
                <a:cs typeface="+mn-cs"/>
              </a:rPr>
              <a:t>Digital trust can no longer be assumed; it must be architected.</a:t>
            </a:r>
            <a:r>
              <a:rPr lang="en-US" sz="1200" kern="1200" dirty="0">
                <a:solidFill>
                  <a:schemeClr val="tx1"/>
                </a:solidFill>
                <a:effectLst/>
                <a:latin typeface="+mn-lt"/>
                <a:ea typeface="+mn-ea"/>
                <a:cs typeface="+mn-cs"/>
              </a:rPr>
              <a:t> We are going to explore how this threat evolved, where traditional defenses fail, and how C-suite leadership must adapt. </a:t>
            </a:r>
          </a:p>
          <a:p>
            <a:endParaRPr lang="en-US" dirty="0"/>
          </a:p>
          <a:p>
            <a:endParaRPr lang="en-US" dirty="0"/>
          </a:p>
          <a:p>
            <a:endParaRPr lang="en-US" dirty="0"/>
          </a:p>
          <a:p>
            <a:r>
              <a:rPr lang="en-US" dirty="0"/>
              <a:t>https://www.youtube.com/watch?v=0GcO9TIrHYw </a:t>
            </a:r>
          </a:p>
        </p:txBody>
      </p:sp>
      <p:sp>
        <p:nvSpPr>
          <p:cNvPr id="4" name="Slide Number Placeholder 3"/>
          <p:cNvSpPr>
            <a:spLocks noGrp="1"/>
          </p:cNvSpPr>
          <p:nvPr>
            <p:ph type="sldNum" sz="quarter" idx="5"/>
          </p:nvPr>
        </p:nvSpPr>
        <p:spPr/>
        <p:txBody>
          <a:bodyPr/>
          <a:lstStyle/>
          <a:p>
            <a:fld id="{32718E1B-9B2D-42B4-B19C-800C78C5C385}" type="slidenum">
              <a:rPr lang="en-US" smtClean="0"/>
              <a:t>1</a:t>
            </a:fld>
            <a:endParaRPr lang="en-US"/>
          </a:p>
        </p:txBody>
      </p:sp>
    </p:spTree>
    <p:extLst>
      <p:ext uri="{BB962C8B-B14F-4D97-AF65-F5344CB8AC3E}">
        <p14:creationId xmlns:p14="http://schemas.microsoft.com/office/powerpoint/2010/main" val="1295632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Stage 1 (The Foundation):</a:t>
            </a:r>
            <a:r>
              <a:rPr lang="en-US" sz="1200" kern="1200" dirty="0">
                <a:solidFill>
                  <a:schemeClr val="tx1"/>
                </a:solidFill>
                <a:effectLst/>
                <a:latin typeface="+mn-lt"/>
                <a:ea typeface="+mn-ea"/>
                <a:cs typeface="+mn-cs"/>
              </a:rPr>
              <a:t> It is important to emphasize that AI didn't create the truth problem online—it accelerated it. The foundation was built by social media platforms optimizing purely for </a:t>
            </a:r>
            <a:r>
              <a:rPr lang="en-US" sz="1200" b="1" kern="1200" dirty="0">
                <a:solidFill>
                  <a:schemeClr val="tx1"/>
                </a:solidFill>
                <a:effectLst/>
                <a:latin typeface="+mn-lt"/>
                <a:ea typeface="+mn-ea"/>
                <a:cs typeface="+mn-cs"/>
              </a:rPr>
              <a:t>engagement over truth</a:t>
            </a:r>
            <a:r>
              <a:rPr lang="en-US" sz="1200" kern="1200" dirty="0">
                <a:solidFill>
                  <a:schemeClr val="tx1"/>
                </a:solidFill>
                <a:effectLst/>
                <a:latin typeface="+mn-lt"/>
                <a:ea typeface="+mn-ea"/>
                <a:cs typeface="+mn-cs"/>
              </a:rPr>
              <a:t>. Algorithms were engineered to prioritize content that sparks high emotional outrage, tapping into the lowest common denominator of human behavior. </a:t>
            </a:r>
          </a:p>
          <a:p>
            <a:pPr lvl="0"/>
            <a:r>
              <a:rPr lang="en-US" sz="1200" b="1" kern="1200" dirty="0">
                <a:solidFill>
                  <a:schemeClr val="tx1"/>
                </a:solidFill>
                <a:effectLst/>
                <a:latin typeface="+mn-lt"/>
                <a:ea typeface="+mn-ea"/>
                <a:cs typeface="+mn-cs"/>
              </a:rPr>
              <a:t>Stage 2 (The Accelerant):</a:t>
            </a:r>
            <a:r>
              <a:rPr lang="en-US" sz="1200" kern="1200" dirty="0">
                <a:solidFill>
                  <a:schemeClr val="tx1"/>
                </a:solidFill>
                <a:effectLst/>
                <a:latin typeface="+mn-lt"/>
                <a:ea typeface="+mn-ea"/>
                <a:cs typeface="+mn-cs"/>
              </a:rPr>
              <a:t> Generative AI acted as the accelerant. Previously, high-end media manipulation required state-level resources or specialized visual effects teams. Generative models fully democratized access, putting elite-level manipulation technology in the hands of any actor with a laptop. </a:t>
            </a:r>
          </a:p>
          <a:p>
            <a:pPr lvl="0"/>
            <a:r>
              <a:rPr lang="en-US" sz="1200" b="1" kern="1200" dirty="0">
                <a:solidFill>
                  <a:schemeClr val="tx1"/>
                </a:solidFill>
                <a:effectLst/>
                <a:latin typeface="+mn-lt"/>
                <a:ea typeface="+mn-ea"/>
                <a:cs typeface="+mn-cs"/>
              </a:rPr>
              <a:t>Stage 3 (The Loop):</a:t>
            </a:r>
            <a:r>
              <a:rPr lang="en-US" sz="1200" kern="1200" dirty="0">
                <a:solidFill>
                  <a:schemeClr val="tx1"/>
                </a:solidFill>
                <a:effectLst/>
                <a:latin typeface="+mn-lt"/>
                <a:ea typeface="+mn-ea"/>
                <a:cs typeface="+mn-cs"/>
              </a:rPr>
              <a:t> The most dangerous component today is automated agent loops. AI agents can now deploy, continuous A/B test fake content 24/7 without human fatigue. They instantly learn which synthetic variants drive engagement and bypass automated filters.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2</a:t>
            </a:fld>
            <a:endParaRPr lang="en-US"/>
          </a:p>
        </p:txBody>
      </p:sp>
    </p:spTree>
    <p:extLst>
      <p:ext uri="{BB962C8B-B14F-4D97-AF65-F5344CB8AC3E}">
        <p14:creationId xmlns:p14="http://schemas.microsoft.com/office/powerpoint/2010/main" val="4004433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Core Statistic:</a:t>
            </a:r>
            <a:r>
              <a:rPr lang="en-US" sz="1200" kern="1200" dirty="0">
                <a:solidFill>
                  <a:schemeClr val="tx1"/>
                </a:solidFill>
                <a:effectLst/>
                <a:latin typeface="+mn-lt"/>
                <a:ea typeface="+mn-ea"/>
                <a:cs typeface="+mn-cs"/>
              </a:rPr>
              <a:t> If you examine the content driving high engagement online—the media receiving millions of views—</a:t>
            </a:r>
            <a:r>
              <a:rPr lang="en-US" sz="1200" b="1" kern="1200" dirty="0">
                <a:solidFill>
                  <a:schemeClr val="tx1"/>
                </a:solidFill>
                <a:effectLst/>
                <a:latin typeface="+mn-lt"/>
                <a:ea typeface="+mn-ea"/>
                <a:cs typeface="+mn-cs"/>
              </a:rPr>
              <a:t>upwards of 50% is now fake, manipulated, or synthetically generated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Platform </a:t>
            </a:r>
            <a:r>
              <a:rPr lang="en-US" sz="1200" b="1" kern="1200" dirty="0" err="1">
                <a:solidFill>
                  <a:schemeClr val="tx1"/>
                </a:solidFill>
                <a:effectLst/>
                <a:latin typeface="+mn-lt"/>
                <a:ea typeface="+mn-ea"/>
                <a:cs typeface="+mn-cs"/>
              </a:rPr>
              <a:t>blindspot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Platforms like Meta, TikTok, and YouTube cannot accurately quantify or control this due to the sheer volume and speed of synthetic media production. While platforms periodically take down hundreds of thousands of "AI slop" channels, it is a game of scale they are currently losing. </a:t>
            </a:r>
          </a:p>
          <a:p>
            <a:pPr lvl="0"/>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The internet’s original promise was the democratization of good information. The reality today is that it has democratized the </a:t>
            </a:r>
            <a:r>
              <a:rPr lang="en-US" sz="1200" b="1" kern="1200" dirty="0">
                <a:solidFill>
                  <a:schemeClr val="tx1"/>
                </a:solidFill>
                <a:effectLst/>
                <a:latin typeface="+mn-lt"/>
                <a:ea typeface="+mn-ea"/>
                <a:cs typeface="+mn-cs"/>
              </a:rPr>
              <a:t>illusion of reality</a:t>
            </a:r>
            <a:r>
              <a:rPr lang="en-US" sz="1200" kern="1200" dirty="0">
                <a:solidFill>
                  <a:schemeClr val="tx1"/>
                </a:solidFill>
                <a:effectLst/>
                <a:latin typeface="+mn-lt"/>
                <a:ea typeface="+mn-ea"/>
                <a:cs typeface="+mn-cs"/>
              </a:rPr>
              <a:t>. When individuals consume information via unvetted social feeds, they are effectively entering customized, synthetic echo chambers.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3</a:t>
            </a:fld>
            <a:endParaRPr lang="en-US"/>
          </a:p>
        </p:txBody>
      </p:sp>
    </p:spTree>
    <p:extLst>
      <p:ext uri="{BB962C8B-B14F-4D97-AF65-F5344CB8AC3E}">
        <p14:creationId xmlns:p14="http://schemas.microsoft.com/office/powerpoint/2010/main" val="2941839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Navigating the Threat Matrix:</a:t>
            </a:r>
            <a:r>
              <a:rPr lang="en-US" sz="1200" kern="1200" dirty="0">
                <a:solidFill>
                  <a:schemeClr val="tx1"/>
                </a:solidFill>
                <a:effectLst/>
                <a:latin typeface="+mn-lt"/>
                <a:ea typeface="+mn-ea"/>
                <a:cs typeface="+mn-cs"/>
              </a:rPr>
              <a:t> To defend our organizations, we must map </a:t>
            </a:r>
            <a:r>
              <a:rPr lang="en-US" sz="1200" i="1" kern="1200" dirty="0">
                <a:solidFill>
                  <a:schemeClr val="tx1"/>
                </a:solidFill>
                <a:effectLst/>
                <a:latin typeface="+mn-lt"/>
                <a:ea typeface="+mn-ea"/>
                <a:cs typeface="+mn-cs"/>
              </a:rPr>
              <a:t>who</a:t>
            </a:r>
            <a:r>
              <a:rPr lang="en-US" sz="1200" kern="1200" dirty="0">
                <a:solidFill>
                  <a:schemeClr val="tx1"/>
                </a:solidFill>
                <a:effectLst/>
                <a:latin typeface="+mn-lt"/>
                <a:ea typeface="+mn-ea"/>
                <a:cs typeface="+mn-cs"/>
              </a:rPr>
              <a:t> is manipulating information and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Big Tech Algorithms:</a:t>
            </a:r>
            <a:r>
              <a:rPr lang="en-US" sz="1200" kern="1200" dirty="0">
                <a:solidFill>
                  <a:schemeClr val="tx1"/>
                </a:solidFill>
                <a:effectLst/>
                <a:latin typeface="+mn-lt"/>
                <a:ea typeface="+mn-ea"/>
                <a:cs typeface="+mn-cs"/>
              </a:rPr>
              <a:t> Their primary driver is ad revenue within the trillion-dollar attention economy. The impact is algorithmic friction that feeds users whatever content keeps them scrolling, completely indifferent to accuracy. </a:t>
            </a:r>
          </a:p>
          <a:p>
            <a:pPr lvl="0"/>
            <a:r>
              <a:rPr lang="en-US" sz="1200" b="1" kern="1200" dirty="0">
                <a:solidFill>
                  <a:schemeClr val="tx1"/>
                </a:solidFill>
                <a:effectLst/>
                <a:latin typeface="+mn-lt"/>
                <a:ea typeface="+mn-ea"/>
                <a:cs typeface="+mn-cs"/>
              </a:rPr>
              <a:t>State-Sponsored Actors (Russia, China, North Korea, Iran):</a:t>
            </a:r>
            <a:r>
              <a:rPr lang="en-US" sz="1200" kern="1200" dirty="0">
                <a:solidFill>
                  <a:schemeClr val="tx1"/>
                </a:solidFill>
                <a:effectLst/>
                <a:latin typeface="+mn-lt"/>
                <a:ea typeface="+mn-ea"/>
                <a:cs typeface="+mn-cs"/>
              </a:rPr>
              <a:t> Their motivation is geopolitical destabilization. They deploy coordinated deepfakes and botnets to sow civil unrest, erode trust in democratic systems, and weaken adversary resilience. </a:t>
            </a:r>
          </a:p>
          <a:p>
            <a:pPr lvl="0"/>
            <a:r>
              <a:rPr lang="en-US" sz="1200" b="1" kern="1200" dirty="0">
                <a:solidFill>
                  <a:schemeClr val="tx1"/>
                </a:solidFill>
                <a:effectLst/>
                <a:latin typeface="+mn-lt"/>
                <a:ea typeface="+mn-ea"/>
                <a:cs typeface="+mn-cs"/>
              </a:rPr>
              <a:t>Cyber Criminals:</a:t>
            </a:r>
            <a:r>
              <a:rPr lang="en-US" sz="1200" kern="1200" dirty="0">
                <a:solidFill>
                  <a:schemeClr val="tx1"/>
                </a:solidFill>
                <a:effectLst/>
                <a:latin typeface="+mn-lt"/>
                <a:ea typeface="+mn-ea"/>
                <a:cs typeface="+mn-cs"/>
              </a:rPr>
              <a:t> Motivated purely by extortion and monetary gain. They use deepfakes for CEO fraud, voice-cloned wire transfer authorizations, and ransomware/extortion schemes. </a:t>
            </a:r>
          </a:p>
          <a:p>
            <a:pPr lvl="0"/>
            <a:r>
              <a:rPr lang="en-US" sz="1200" b="1" kern="1200" dirty="0">
                <a:solidFill>
                  <a:schemeClr val="tx1"/>
                </a:solidFill>
                <a:effectLst/>
                <a:latin typeface="+mn-lt"/>
                <a:ea typeface="+mn-ea"/>
                <a:cs typeface="+mn-cs"/>
              </a:rPr>
              <a:t>Ideologues &amp; Monetizers:</a:t>
            </a:r>
            <a:r>
              <a:rPr lang="en-US" sz="1200" kern="1200" dirty="0">
                <a:solidFill>
                  <a:schemeClr val="tx1"/>
                </a:solidFill>
                <a:effectLst/>
                <a:latin typeface="+mn-lt"/>
                <a:ea typeface="+mn-ea"/>
                <a:cs typeface="+mn-cs"/>
              </a:rPr>
              <a:t> Ranging from bad-faith actors pushing specific agendas to individuals deploying "AI slop" channels purely to siphon programmatic ad revenue.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4</a:t>
            </a:fld>
            <a:endParaRPr lang="en-US"/>
          </a:p>
        </p:txBody>
      </p:sp>
    </p:spTree>
    <p:extLst>
      <p:ext uri="{BB962C8B-B14F-4D97-AF65-F5344CB8AC3E}">
        <p14:creationId xmlns:p14="http://schemas.microsoft.com/office/powerpoint/2010/main" val="1610057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Vector Shift:</a:t>
            </a:r>
            <a:r>
              <a:rPr lang="en-US" sz="1200" kern="1200" dirty="0">
                <a:solidFill>
                  <a:schemeClr val="tx1"/>
                </a:solidFill>
                <a:effectLst/>
                <a:latin typeface="+mn-lt"/>
                <a:ea typeface="+mn-ea"/>
                <a:cs typeface="+mn-cs"/>
              </a:rPr>
              <a:t> Threat actors are no longer relying solely on hacking through traditional network firewalls. They are infiltrating organizations through Human Resources and remote onboarding processes. </a:t>
            </a:r>
          </a:p>
          <a:p>
            <a:pPr lvl="0"/>
            <a:r>
              <a:rPr lang="en-US" sz="1200" b="1" kern="1200" dirty="0">
                <a:solidFill>
                  <a:schemeClr val="tx1"/>
                </a:solidFill>
                <a:effectLst/>
                <a:latin typeface="+mn-lt"/>
                <a:ea typeface="+mn-ea"/>
                <a:cs typeface="+mn-cs"/>
              </a:rPr>
              <a:t>Real-World Case Study:</a:t>
            </a:r>
            <a:r>
              <a:rPr lang="en-US" sz="1200" kern="1200" dirty="0">
                <a:solidFill>
                  <a:schemeClr val="tx1"/>
                </a:solidFill>
                <a:effectLst/>
                <a:latin typeface="+mn-lt"/>
                <a:ea typeface="+mn-ea"/>
                <a:cs typeface="+mn-cs"/>
              </a:rPr>
              <a:t> Dr. Hany Farid highlights a case involving one of the world's largest employers that detected and caught </a:t>
            </a:r>
            <a:r>
              <a:rPr lang="en-US" sz="1200" b="1" kern="1200" dirty="0">
                <a:solidFill>
                  <a:schemeClr val="tx1"/>
                </a:solidFill>
                <a:effectLst/>
                <a:latin typeface="+mn-lt"/>
                <a:ea typeface="+mn-ea"/>
                <a:cs typeface="+mn-cs"/>
              </a:rPr>
              <a:t>1,800 potential North Korean IT operatives</a:t>
            </a:r>
            <a:r>
              <a:rPr lang="en-US" sz="1200" kern="1200" dirty="0">
                <a:solidFill>
                  <a:schemeClr val="tx1"/>
                </a:solidFill>
                <a:effectLst/>
                <a:latin typeface="+mn-lt"/>
                <a:ea typeface="+mn-ea"/>
                <a:cs typeface="+mn-cs"/>
              </a:rPr>
              <a:t> attempting to infiltrate their organization using stolen identities and deepfakes. Another U.S. defense contractor discovered five active North Korean operatives embedded within their systems. </a:t>
            </a:r>
          </a:p>
          <a:p>
            <a:pPr lvl="0"/>
            <a:r>
              <a:rPr lang="en-US" sz="1200" b="1" kern="1200" dirty="0">
                <a:solidFill>
                  <a:schemeClr val="tx1"/>
                </a:solidFill>
                <a:effectLst/>
                <a:latin typeface="+mn-lt"/>
                <a:ea typeface="+mn-ea"/>
                <a:cs typeface="+mn-cs"/>
              </a:rPr>
              <a:t>The Four-Step Infiltration:</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kern="1200" dirty="0">
                <a:solidFill>
                  <a:schemeClr val="tx1"/>
                </a:solidFill>
                <a:effectLst/>
                <a:latin typeface="+mn-lt"/>
                <a:ea typeface="+mn-ea"/>
                <a:cs typeface="+mn-cs"/>
              </a:rPr>
              <a:t>Operatives apply for remote technical roles using stolen identities. </a:t>
            </a:r>
          </a:p>
          <a:p>
            <a:pPr marL="228600" lvl="0" indent="-228600">
              <a:buFont typeface="+mj-lt"/>
              <a:buAutoNum type="arabicPeriod"/>
            </a:pPr>
            <a:r>
              <a:rPr lang="en-US" sz="1200" kern="1200" dirty="0">
                <a:solidFill>
                  <a:schemeClr val="tx1"/>
                </a:solidFill>
                <a:effectLst/>
                <a:latin typeface="+mn-lt"/>
                <a:ea typeface="+mn-ea"/>
                <a:cs typeface="+mn-cs"/>
              </a:rPr>
              <a:t>During video interviews, they use real-time face-swapping software or proxy interviewees to pass technical evaluations. </a:t>
            </a:r>
          </a:p>
          <a:p>
            <a:pPr marL="228600" lvl="0" indent="-228600">
              <a:buFont typeface="+mj-lt"/>
              <a:buAutoNum type="arabicPeriod"/>
            </a:pPr>
            <a:r>
              <a:rPr lang="en-US" sz="1200" kern="1200" dirty="0">
                <a:solidFill>
                  <a:schemeClr val="tx1"/>
                </a:solidFill>
                <a:effectLst/>
                <a:latin typeface="+mn-lt"/>
                <a:ea typeface="+mn-ea"/>
                <a:cs typeface="+mn-cs"/>
              </a:rPr>
              <a:t>Once onboarded, a completely different individual assumes the position. </a:t>
            </a:r>
          </a:p>
          <a:p>
            <a:pPr marL="228600" lvl="0" indent="-228600">
              <a:buFont typeface="+mj-lt"/>
              <a:buAutoNum type="arabicPeriod"/>
            </a:pPr>
            <a:r>
              <a:rPr lang="en-US" sz="1200" kern="1200" dirty="0">
                <a:solidFill>
                  <a:schemeClr val="tx1"/>
                </a:solidFill>
                <a:effectLst/>
                <a:latin typeface="+mn-lt"/>
                <a:ea typeface="+mn-ea"/>
                <a:cs typeface="+mn-cs"/>
              </a:rPr>
              <a:t>Embedded bad actors exfiltrate intellectual property, funnel salary funds to foreign regimes, or plant internal network vulnerabilities.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5</a:t>
            </a:fld>
            <a:endParaRPr lang="en-US"/>
          </a:p>
        </p:txBody>
      </p:sp>
    </p:spTree>
    <p:extLst>
      <p:ext uri="{BB962C8B-B14F-4D97-AF65-F5344CB8AC3E}">
        <p14:creationId xmlns:p14="http://schemas.microsoft.com/office/powerpoint/2010/main" val="2698700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Bypassing Biometrics:</a:t>
            </a:r>
            <a:r>
              <a:rPr lang="en-US" sz="1200" kern="1200" dirty="0">
                <a:solidFill>
                  <a:schemeClr val="tx1"/>
                </a:solidFill>
                <a:effectLst/>
                <a:latin typeface="+mn-lt"/>
                <a:ea typeface="+mn-ea"/>
                <a:cs typeface="+mn-cs"/>
              </a:rPr>
              <a:t> Traditional authentication models are failing. For example, voice biometrics like "my voice is my password" are compromised. Attackers require as little as 10 to 15 seconds of scraped audio to clone an executive or customer's voice and pass voice-verification checks. </a:t>
            </a:r>
          </a:p>
          <a:p>
            <a:pPr lvl="0"/>
            <a:r>
              <a:rPr lang="en-US" sz="1200" b="1" kern="1200" dirty="0">
                <a:solidFill>
                  <a:schemeClr val="tx1"/>
                </a:solidFill>
                <a:effectLst/>
                <a:latin typeface="+mn-lt"/>
                <a:ea typeface="+mn-ea"/>
                <a:cs typeface="+mn-cs"/>
              </a:rPr>
              <a:t>Insurance Fraud at Scale:</a:t>
            </a:r>
            <a:r>
              <a:rPr lang="en-US" sz="1200" kern="1200" dirty="0">
                <a:solidFill>
                  <a:schemeClr val="tx1"/>
                </a:solidFill>
                <a:effectLst/>
                <a:latin typeface="+mn-lt"/>
                <a:ea typeface="+mn-ea"/>
                <a:cs typeface="+mn-cs"/>
              </a:rPr>
              <a:t> Visual verification systems are easily bypassed using synthetic media. Claimants submit fully AI-generated collision videos or damaged property imagery, successfully extracting payouts from automated claim systems. </a:t>
            </a:r>
          </a:p>
          <a:p>
            <a:pPr lvl="0"/>
            <a:r>
              <a:rPr lang="en-US" sz="1200" b="1" kern="1200" dirty="0">
                <a:solidFill>
                  <a:schemeClr val="tx1"/>
                </a:solidFill>
                <a:effectLst/>
                <a:latin typeface="+mn-lt"/>
                <a:ea typeface="+mn-ea"/>
                <a:cs typeface="+mn-cs"/>
              </a:rPr>
              <a:t>Instant Brand Destruction:</a:t>
            </a:r>
            <a:r>
              <a:rPr lang="en-US" sz="1200" kern="1200" dirty="0">
                <a:solidFill>
                  <a:schemeClr val="tx1"/>
                </a:solidFill>
                <a:effectLst/>
                <a:latin typeface="+mn-lt"/>
                <a:ea typeface="+mn-ea"/>
                <a:cs typeface="+mn-cs"/>
              </a:rPr>
              <a:t> A fabricated video showing a CEO making illegal statements or announcing false financial distress can circulate online, wiping out billions in market capitalization before communications teams can issue a statement.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6</a:t>
            </a:fld>
            <a:endParaRPr lang="en-US"/>
          </a:p>
        </p:txBody>
      </p:sp>
    </p:spTree>
    <p:extLst>
      <p:ext uri="{BB962C8B-B14F-4D97-AF65-F5344CB8AC3E}">
        <p14:creationId xmlns:p14="http://schemas.microsoft.com/office/powerpoint/2010/main" val="4171090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Detection Fallacy:</a:t>
            </a:r>
            <a:r>
              <a:rPr lang="en-US" sz="1200" kern="1200" dirty="0">
                <a:solidFill>
                  <a:schemeClr val="tx1"/>
                </a:solidFill>
                <a:effectLst/>
                <a:latin typeface="+mn-lt"/>
                <a:ea typeface="+mn-ea"/>
                <a:cs typeface="+mn-cs"/>
              </a:rPr>
              <a:t> A dangerous enterprise vulnerability is the belief that employees or executives can "spot" a deepfake using visual intuition. </a:t>
            </a:r>
          </a:p>
          <a:p>
            <a:pPr lvl="0"/>
            <a:r>
              <a:rPr lang="en-US" sz="1200" b="1" kern="1200" dirty="0">
                <a:solidFill>
                  <a:schemeClr val="tx1"/>
                </a:solidFill>
                <a:effectLst/>
                <a:latin typeface="+mn-lt"/>
                <a:ea typeface="+mn-ea"/>
                <a:cs typeface="+mn-cs"/>
              </a:rPr>
              <a:t>Lab Data vs. Reality: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 Controlled Labs:</a:t>
            </a:r>
            <a:r>
              <a:rPr lang="en-US" sz="1200" kern="1200" dirty="0">
                <a:solidFill>
                  <a:schemeClr val="tx1"/>
                </a:solidFill>
                <a:effectLst/>
                <a:latin typeface="+mn-lt"/>
                <a:ea typeface="+mn-ea"/>
                <a:cs typeface="+mn-cs"/>
              </a:rPr>
              <a:t> When subjects are explicitly alerted that media may be fake and are placed in an unemotional testing environment, detection accuracy is barely above a 50/50 coin toss.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 the Wild ("The Doom Scroll"):</a:t>
            </a:r>
            <a:r>
              <a:rPr lang="en-US" sz="1200" kern="1200" dirty="0">
                <a:solidFill>
                  <a:schemeClr val="tx1"/>
                </a:solidFill>
                <a:effectLst/>
                <a:latin typeface="+mn-lt"/>
                <a:ea typeface="+mn-ea"/>
                <a:cs typeface="+mn-cs"/>
              </a:rPr>
              <a:t> On mobile devices, under time pressure, or during emotionally charged business interactions, human detection accuracy drops to zero. </a:t>
            </a:r>
          </a:p>
          <a:p>
            <a:pPr lvl="0"/>
            <a:r>
              <a:rPr lang="en-US" sz="1200" b="1" kern="1200" dirty="0">
                <a:solidFill>
                  <a:schemeClr val="tx1"/>
                </a:solidFill>
                <a:effectLst/>
                <a:latin typeface="+mn-lt"/>
                <a:ea typeface="+mn-ea"/>
                <a:cs typeface="+mn-cs"/>
              </a:rPr>
              <a:t>The "Arrogance-Ignorance" Problem:</a:t>
            </a:r>
            <a:r>
              <a:rPr lang="en-US" sz="1200" kern="1200" dirty="0">
                <a:solidFill>
                  <a:schemeClr val="tx1"/>
                </a:solidFill>
                <a:effectLst/>
                <a:latin typeface="+mn-lt"/>
                <a:ea typeface="+mn-ea"/>
                <a:cs typeface="+mn-cs"/>
              </a:rPr>
              <a:t> Believing your visual or auditory systems are reliable defenses makes your personnel prime targets for social engineering.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7</a:t>
            </a:fld>
            <a:endParaRPr lang="en-US"/>
          </a:p>
        </p:txBody>
      </p:sp>
    </p:spTree>
    <p:extLst>
      <p:ext uri="{BB962C8B-B14F-4D97-AF65-F5344CB8AC3E}">
        <p14:creationId xmlns:p14="http://schemas.microsoft.com/office/powerpoint/2010/main" val="3447999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Consumer Myth:</a:t>
            </a:r>
            <a:r>
              <a:rPr lang="en-US" sz="1200" kern="1200" dirty="0">
                <a:solidFill>
                  <a:schemeClr val="tx1"/>
                </a:solidFill>
                <a:effectLst/>
                <a:latin typeface="+mn-lt"/>
                <a:ea typeface="+mn-ea"/>
                <a:cs typeface="+mn-cs"/>
              </a:rPr>
              <a:t> Many organizations attempt to solve the deepfake challenge by subscribing to web portals promising "99% AI Detection Accuracy." Dr. Farid's research indicates that many of these commercial web detectors act as little more than random number generators designed to harvest user data. </a:t>
            </a:r>
          </a:p>
          <a:p>
            <a:pPr lvl="0"/>
            <a:r>
              <a:rPr lang="en-US" sz="1200" b="1" kern="1200" dirty="0">
                <a:solidFill>
                  <a:schemeClr val="tx1"/>
                </a:solidFill>
                <a:effectLst/>
                <a:latin typeface="+mn-lt"/>
                <a:ea typeface="+mn-ea"/>
                <a:cs typeface="+mn-cs"/>
              </a:rPr>
              <a:t>The Black-Box Problem:</a:t>
            </a:r>
            <a:r>
              <a:rPr lang="en-US" sz="1200" kern="1200" dirty="0">
                <a:solidFill>
                  <a:schemeClr val="tx1"/>
                </a:solidFill>
                <a:effectLst/>
                <a:latin typeface="+mn-lt"/>
                <a:ea typeface="+mn-ea"/>
                <a:cs typeface="+mn-cs"/>
              </a:rPr>
              <a:t> You cannot reliably solve an unexplainable AI problem with an unexplainable AI detection model. Black-box neural network detectors fail frequently and give no verifiable explanation of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media is flagged. </a:t>
            </a:r>
          </a:p>
          <a:p>
            <a:pPr lvl="0"/>
            <a:r>
              <a:rPr lang="en-US" sz="1200" b="1" kern="1200" dirty="0">
                <a:solidFill>
                  <a:schemeClr val="tx1"/>
                </a:solidFill>
                <a:effectLst/>
                <a:latin typeface="+mn-lt"/>
                <a:ea typeface="+mn-ea"/>
                <a:cs typeface="+mn-cs"/>
              </a:rPr>
              <a:t>The Legal Trap:</a:t>
            </a:r>
            <a:r>
              <a:rPr lang="en-US" sz="1200" kern="1200" dirty="0">
                <a:solidFill>
                  <a:schemeClr val="tx1"/>
                </a:solidFill>
                <a:effectLst/>
                <a:latin typeface="+mn-lt"/>
                <a:ea typeface="+mn-ea"/>
                <a:cs typeface="+mn-cs"/>
              </a:rPr>
              <a:t> In corporate discipline or legal proceedings, stating "the computer detector told us it was fake" is legally unsupportable. True forensic verification requires explainable, physical proof.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8</a:t>
            </a:fld>
            <a:endParaRPr lang="en-US"/>
          </a:p>
        </p:txBody>
      </p:sp>
    </p:spTree>
    <p:extLst>
      <p:ext uri="{BB962C8B-B14F-4D97-AF65-F5344CB8AC3E}">
        <p14:creationId xmlns:p14="http://schemas.microsoft.com/office/powerpoint/2010/main" val="2660950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Explainable Forensics:</a:t>
            </a:r>
            <a:r>
              <a:rPr lang="en-US" sz="1200" kern="1200" dirty="0">
                <a:solidFill>
                  <a:schemeClr val="tx1"/>
                </a:solidFill>
                <a:effectLst/>
                <a:latin typeface="+mn-lt"/>
                <a:ea typeface="+mn-ea"/>
                <a:cs typeface="+mn-cs"/>
              </a:rPr>
              <a:t> Rather than relying on black-box neural networks, elite forensic science relies on physical, geometric, and statistical proofs. </a:t>
            </a:r>
          </a:p>
          <a:p>
            <a:pPr lvl="0"/>
            <a:r>
              <a:rPr lang="en-US" sz="1200" b="1" kern="1200" dirty="0">
                <a:solidFill>
                  <a:schemeClr val="tx1"/>
                </a:solidFill>
                <a:effectLst/>
                <a:latin typeface="+mn-lt"/>
                <a:ea typeface="+mn-ea"/>
                <a:cs typeface="+mn-cs"/>
              </a:rPr>
              <a:t>Geometric Warping:</a:t>
            </a:r>
            <a:r>
              <a:rPr lang="en-US" sz="1200" kern="1200" dirty="0">
                <a:solidFill>
                  <a:schemeClr val="tx1"/>
                </a:solidFill>
                <a:effectLst/>
                <a:latin typeface="+mn-lt"/>
                <a:ea typeface="+mn-ea"/>
                <a:cs typeface="+mn-cs"/>
              </a:rPr>
              <a:t> Real-time face swaps act like a digital mask conforming to a live target. Forensic tools measure pixel-level mathematical warping and boundary inconsistencies introduced around facial perimeters, eyes, and mouth movements. </a:t>
            </a:r>
          </a:p>
          <a:p>
            <a:pPr lvl="0"/>
            <a:r>
              <a:rPr lang="en-US" sz="1200" b="1" kern="1200" dirty="0">
                <a:solidFill>
                  <a:schemeClr val="tx1"/>
                </a:solidFill>
                <a:effectLst/>
                <a:latin typeface="+mn-lt"/>
                <a:ea typeface="+mn-ea"/>
                <a:cs typeface="+mn-cs"/>
              </a:rPr>
              <a:t>Physics-Based Lighting:</a:t>
            </a:r>
            <a:r>
              <a:rPr lang="en-US" sz="1200" kern="1200" dirty="0">
                <a:solidFill>
                  <a:schemeClr val="tx1"/>
                </a:solidFill>
                <a:effectLst/>
                <a:latin typeface="+mn-lt"/>
                <a:ea typeface="+mn-ea"/>
                <a:cs typeface="+mn-cs"/>
              </a:rPr>
              <a:t> In physical space, light sources (such as the sun or office lighting) obey strict geometric properties. Forensics map shadows, surface reflections, and illumination vectors across a video frame. Generative models routinely fail to align light geometry across multiple physical objects in a scene.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9</a:t>
            </a:fld>
            <a:endParaRPr lang="en-US"/>
          </a:p>
        </p:txBody>
      </p:sp>
    </p:spTree>
    <p:extLst>
      <p:ext uri="{BB962C8B-B14F-4D97-AF65-F5344CB8AC3E}">
        <p14:creationId xmlns:p14="http://schemas.microsoft.com/office/powerpoint/2010/main" val="2061510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Product Liability Discrepancy:</a:t>
            </a:r>
            <a:r>
              <a:rPr lang="en-US" sz="1200" kern="1200" dirty="0">
                <a:solidFill>
                  <a:schemeClr val="tx1"/>
                </a:solidFill>
                <a:effectLst/>
                <a:latin typeface="+mn-lt"/>
                <a:ea typeface="+mn-ea"/>
                <a:cs typeface="+mn-cs"/>
              </a:rPr>
              <a:t> In physical industries (automotive, pharmaceuticals, aviation), strict product liability forces manufacturers to internalize safety risks. If a car manufacturer releases an unsafe vehicle, legal liability incentivizes strict safety engineering. </a:t>
            </a:r>
          </a:p>
          <a:p>
            <a:pPr lvl="0"/>
            <a:r>
              <a:rPr lang="en-US" sz="1200" b="1" kern="1200" dirty="0">
                <a:solidFill>
                  <a:schemeClr val="tx1"/>
                </a:solidFill>
                <a:effectLst/>
                <a:latin typeface="+mn-lt"/>
                <a:ea typeface="+mn-ea"/>
                <a:cs typeface="+mn-cs"/>
              </a:rPr>
              <a:t>The Digital Shield:</a:t>
            </a:r>
            <a:r>
              <a:rPr lang="en-US" sz="1200" kern="1200" dirty="0">
                <a:solidFill>
                  <a:schemeClr val="tx1"/>
                </a:solidFill>
                <a:effectLst/>
                <a:latin typeface="+mn-lt"/>
                <a:ea typeface="+mn-ea"/>
                <a:cs typeface="+mn-cs"/>
              </a:rPr>
              <a:t> Tech platforms have operated for 25 years under a liability shield ("move fast and break things"). They internalize vast profits while externalizing risks, harm, and fraud onto society and enterprises. </a:t>
            </a:r>
          </a:p>
          <a:p>
            <a:pPr lvl="0"/>
            <a:r>
              <a:rPr lang="en-US" sz="1200" b="1" kern="1200" dirty="0">
                <a:solidFill>
                  <a:schemeClr val="tx1"/>
                </a:solidFill>
                <a:effectLst/>
                <a:latin typeface="+mn-lt"/>
                <a:ea typeface="+mn-ea"/>
                <a:cs typeface="+mn-cs"/>
              </a:rPr>
              <a:t>The Key Metric:</a:t>
            </a:r>
            <a:r>
              <a:rPr lang="en-US" sz="1200" kern="1200" dirty="0">
                <a:solidFill>
                  <a:schemeClr val="tx1"/>
                </a:solidFill>
                <a:effectLst/>
                <a:latin typeface="+mn-lt"/>
                <a:ea typeface="+mn-ea"/>
                <a:cs typeface="+mn-cs"/>
              </a:rPr>
              <a:t> An estimated 10% of Meta’s overall profits originate directly from ad revenue associated with frauds and scams. If a commercial bank operated under similar risk-to-profit metrics, regulatory authorities would shut it down immediately.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10</a:t>
            </a:fld>
            <a:endParaRPr lang="en-US"/>
          </a:p>
        </p:txBody>
      </p:sp>
    </p:spTree>
    <p:extLst>
      <p:ext uri="{BB962C8B-B14F-4D97-AF65-F5344CB8AC3E}">
        <p14:creationId xmlns:p14="http://schemas.microsoft.com/office/powerpoint/2010/main" val="4224509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Macro Defenses:</a:t>
            </a:r>
            <a:r>
              <a:rPr lang="en-US" sz="1200" kern="1200" dirty="0">
                <a:solidFill>
                  <a:schemeClr val="tx1"/>
                </a:solidFill>
                <a:effectLst/>
                <a:latin typeface="+mn-lt"/>
                <a:ea typeface="+mn-ea"/>
                <a:cs typeface="+mn-cs"/>
              </a:rPr>
              <a:t> Addressing this issue requires structural policy changes at the regulatory and industry levels. </a:t>
            </a:r>
          </a:p>
          <a:p>
            <a:pPr lvl="0"/>
            <a:r>
              <a:rPr lang="en-US" sz="1200" b="1" kern="1200" dirty="0">
                <a:solidFill>
                  <a:schemeClr val="tx1"/>
                </a:solidFill>
                <a:effectLst/>
                <a:latin typeface="+mn-lt"/>
                <a:ea typeface="+mn-ea"/>
                <a:cs typeface="+mn-cs"/>
              </a:rPr>
              <a:t>1. Forcing Safety via Legal Liability:</a:t>
            </a:r>
            <a:r>
              <a:rPr lang="en-US" sz="1200" kern="1200" dirty="0">
                <a:solidFill>
                  <a:schemeClr val="tx1"/>
                </a:solidFill>
                <a:effectLst/>
                <a:latin typeface="+mn-lt"/>
                <a:ea typeface="+mn-ea"/>
                <a:cs typeface="+mn-cs"/>
              </a:rPr>
              <a:t> Stripping tech platforms of total liability protection forces tech companies to engineer safety directly into their products. Facing substantial legal settlements, companies will allocate capital toward trust and safety engineering. </a:t>
            </a:r>
          </a:p>
          <a:p>
            <a:pPr lvl="0"/>
            <a:r>
              <a:rPr lang="en-US" sz="1200" b="1" kern="1200" dirty="0">
                <a:solidFill>
                  <a:schemeClr val="tx1"/>
                </a:solidFill>
                <a:effectLst/>
                <a:latin typeface="+mn-lt"/>
                <a:ea typeface="+mn-ea"/>
                <a:cs typeface="+mn-cs"/>
              </a:rPr>
              <a:t>2. Ethically Trained Open-Source Infrastructure:</a:t>
            </a:r>
            <a:r>
              <a:rPr lang="en-US" sz="1200" kern="1200" dirty="0">
                <a:solidFill>
                  <a:schemeClr val="tx1"/>
                </a:solidFill>
                <a:effectLst/>
                <a:latin typeface="+mn-lt"/>
                <a:ea typeface="+mn-ea"/>
                <a:cs typeface="+mn-cs"/>
              </a:rPr>
              <a:t> To prevent an information monopoly where a handful of executives control information flows, governments must back ethically trained, open-source LLM weights. Open base models provide transparent, accessible foundations for safe innovation.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11</a:t>
            </a:fld>
            <a:endParaRPr lang="en-US"/>
          </a:p>
        </p:txBody>
      </p:sp>
    </p:spTree>
    <p:extLst>
      <p:ext uri="{BB962C8B-B14F-4D97-AF65-F5344CB8AC3E}">
        <p14:creationId xmlns:p14="http://schemas.microsoft.com/office/powerpoint/2010/main" val="1100798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Enterprise Defense Triad:</a:t>
            </a:r>
            <a:r>
              <a:rPr lang="en-US" sz="1200" kern="1200" dirty="0">
                <a:solidFill>
                  <a:schemeClr val="tx1"/>
                </a:solidFill>
                <a:effectLst/>
                <a:latin typeface="+mn-lt"/>
                <a:ea typeface="+mn-ea"/>
                <a:cs typeface="+mn-cs"/>
              </a:rPr>
              <a:t> For corporate leadership, defending the organization requires three synchronized pillars: </a:t>
            </a:r>
          </a:p>
          <a:p>
            <a:pPr lvl="0"/>
            <a:r>
              <a:rPr lang="en-US" sz="1200" b="1" kern="1200" dirty="0">
                <a:solidFill>
                  <a:schemeClr val="tx1"/>
                </a:solidFill>
                <a:effectLst/>
                <a:latin typeface="+mn-lt"/>
                <a:ea typeface="+mn-ea"/>
                <a:cs typeface="+mn-cs"/>
              </a:rPr>
              <a:t>1. Awareness (Human Perimeter):</a:t>
            </a:r>
            <a:r>
              <a:rPr lang="en-US" sz="1200" kern="1200" dirty="0">
                <a:solidFill>
                  <a:schemeClr val="tx1"/>
                </a:solidFill>
                <a:effectLst/>
                <a:latin typeface="+mn-lt"/>
                <a:ea typeface="+mn-ea"/>
                <a:cs typeface="+mn-cs"/>
              </a:rPr>
              <a:t> Education must move beyond static phishing modules. Employees in HR, Procurement, and Finance must be trained on real-time video/audio deepfake capabilities. </a:t>
            </a:r>
          </a:p>
          <a:p>
            <a:pPr lvl="0"/>
            <a:r>
              <a:rPr lang="en-US" sz="1200" b="1" kern="1200" dirty="0">
                <a:solidFill>
                  <a:schemeClr val="tx1"/>
                </a:solidFill>
                <a:effectLst/>
                <a:latin typeface="+mn-lt"/>
                <a:ea typeface="+mn-ea"/>
                <a:cs typeface="+mn-cs"/>
              </a:rPr>
              <a:t>2. Policy (Operational Friction):</a:t>
            </a:r>
            <a:r>
              <a:rPr lang="en-US" sz="1200" kern="1200" dirty="0">
                <a:solidFill>
                  <a:schemeClr val="tx1"/>
                </a:solidFill>
                <a:effectLst/>
                <a:latin typeface="+mn-lt"/>
                <a:ea typeface="+mn-ea"/>
                <a:cs typeface="+mn-cs"/>
              </a:rPr>
              <a:t> Reintroduce necessary friction into operations. Enforce strict video call protocols: mandatory cameras for interviewees, verified identities, and an absolute ban on unvetted, "black-box" phone numbers joining internal executive meetings.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12</a:t>
            </a:fld>
            <a:endParaRPr lang="en-US"/>
          </a:p>
        </p:txBody>
      </p:sp>
    </p:spTree>
    <p:extLst>
      <p:ext uri="{BB962C8B-B14F-4D97-AF65-F5344CB8AC3E}">
        <p14:creationId xmlns:p14="http://schemas.microsoft.com/office/powerpoint/2010/main" val="2897495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Personal Defense:</a:t>
            </a:r>
            <a:r>
              <a:rPr lang="en-US" sz="1200" kern="1200" dirty="0">
                <a:solidFill>
                  <a:schemeClr val="tx1"/>
                </a:solidFill>
                <a:effectLst/>
                <a:latin typeface="+mn-lt"/>
                <a:ea typeface="+mn-ea"/>
                <a:cs typeface="+mn-cs"/>
              </a:rPr>
              <a:t> Beyond enterprise policy, executive leadership and employees must safeguard their individual cognitive bandwidth. </a:t>
            </a:r>
          </a:p>
          <a:p>
            <a:pPr lvl="0"/>
            <a:r>
              <a:rPr lang="en-US" sz="1200" b="1" kern="1200" dirty="0">
                <a:solidFill>
                  <a:schemeClr val="tx1"/>
                </a:solidFill>
                <a:effectLst/>
                <a:latin typeface="+mn-lt"/>
                <a:ea typeface="+mn-ea"/>
                <a:cs typeface="+mn-cs"/>
              </a:rPr>
              <a:t>The Tactical Action:</a:t>
            </a:r>
            <a:r>
              <a:rPr lang="en-US" sz="1200" kern="1200" dirty="0">
                <a:solidFill>
                  <a:schemeClr val="tx1"/>
                </a:solidFill>
                <a:effectLst/>
                <a:latin typeface="+mn-lt"/>
                <a:ea typeface="+mn-ea"/>
                <a:cs typeface="+mn-cs"/>
              </a:rPr>
              <a:t> Delete social media applications directly from your mobile device. </a:t>
            </a:r>
          </a:p>
          <a:p>
            <a:pPr lvl="0"/>
            <a:r>
              <a:rPr lang="en-US" sz="1200" b="1" kern="1200" dirty="0">
                <a:solidFill>
                  <a:schemeClr val="tx1"/>
                </a:solidFill>
                <a:effectLst/>
                <a:latin typeface="+mn-lt"/>
                <a:ea typeface="+mn-ea"/>
                <a:cs typeface="+mn-cs"/>
              </a:rPr>
              <a:t>The Compromise:</a:t>
            </a:r>
            <a:r>
              <a:rPr lang="en-US" sz="1200" kern="1200" dirty="0">
                <a:solidFill>
                  <a:schemeClr val="tx1"/>
                </a:solidFill>
                <a:effectLst/>
                <a:latin typeface="+mn-lt"/>
                <a:ea typeface="+mn-ea"/>
                <a:cs typeface="+mn-cs"/>
              </a:rPr>
              <a:t> If social media management is necessary for business, restrict access strictly to desktop web browsers. </a:t>
            </a:r>
          </a:p>
          <a:p>
            <a:pPr lvl="0"/>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Removing these applications from your phone breaks the algorithmic dopamine feedback loop. It prevents continuous exposure to customized synthetic media feeds and restores cognitive clarity.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13</a:t>
            </a:fld>
            <a:endParaRPr lang="en-US"/>
          </a:p>
        </p:txBody>
      </p:sp>
    </p:spTree>
    <p:extLst>
      <p:ext uri="{BB962C8B-B14F-4D97-AF65-F5344CB8AC3E}">
        <p14:creationId xmlns:p14="http://schemas.microsoft.com/office/powerpoint/2010/main" val="3196035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Reframing the Narrative:</a:t>
            </a:r>
            <a:r>
              <a:rPr lang="en-US" sz="1200" kern="1200" dirty="0">
                <a:solidFill>
                  <a:schemeClr val="tx1"/>
                </a:solidFill>
                <a:effectLst/>
                <a:latin typeface="+mn-lt"/>
                <a:ea typeface="+mn-ea"/>
                <a:cs typeface="+mn-cs"/>
              </a:rPr>
              <a:t> Demanding digital safety is not anti-AI. AI is one of the most powerful enabling technologies of our era, solving complex mathematical theorems and compressing software prototyping cycles from months to hours. </a:t>
            </a:r>
          </a:p>
          <a:p>
            <a:pPr lvl="0"/>
            <a:r>
              <a:rPr lang="en-US" sz="1200" b="1" kern="1200" dirty="0">
                <a:solidFill>
                  <a:schemeClr val="tx1"/>
                </a:solidFill>
                <a:effectLst/>
                <a:latin typeface="+mn-lt"/>
                <a:ea typeface="+mn-ea"/>
                <a:cs typeface="+mn-cs"/>
              </a:rPr>
              <a:t>Rejecting the False Dichotomy:</a:t>
            </a:r>
            <a:r>
              <a:rPr lang="en-US" sz="1200" kern="1200" dirty="0">
                <a:solidFill>
                  <a:schemeClr val="tx1"/>
                </a:solidFill>
                <a:effectLst/>
                <a:latin typeface="+mn-lt"/>
                <a:ea typeface="+mn-ea"/>
                <a:cs typeface="+mn-cs"/>
              </a:rPr>
              <a:t> Big Tech frequently argues that regulation or safety mandates will stifle innovation and hand advantages to foreign adversaries. We must reject this narrative. </a:t>
            </a:r>
          </a:p>
          <a:p>
            <a:pPr lvl="0"/>
            <a:r>
              <a:rPr lang="en-US" sz="1200" b="1" kern="1200" dirty="0">
                <a:solidFill>
                  <a:schemeClr val="tx1"/>
                </a:solidFill>
                <a:effectLst/>
                <a:latin typeface="+mn-lt"/>
                <a:ea typeface="+mn-ea"/>
                <a:cs typeface="+mn-cs"/>
              </a:rPr>
              <a:t>Historical Precedent:</a:t>
            </a:r>
            <a:r>
              <a:rPr lang="en-US" sz="1200" kern="1200" dirty="0">
                <a:solidFill>
                  <a:schemeClr val="tx1"/>
                </a:solidFill>
                <a:effectLst/>
                <a:latin typeface="+mn-lt"/>
                <a:ea typeface="+mn-ea"/>
                <a:cs typeface="+mn-cs"/>
              </a:rPr>
              <a:t> The safest industries—commercial aviation, medicine, and automotive engineering—achieved massive advancements precisely because safety was strictly mandated alongside speed. Enterprise security and technological progress must coexist.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14</a:t>
            </a:fld>
            <a:endParaRPr lang="en-US"/>
          </a:p>
        </p:txBody>
      </p:sp>
    </p:spTree>
    <p:extLst>
      <p:ext uri="{BB962C8B-B14F-4D97-AF65-F5344CB8AC3E}">
        <p14:creationId xmlns:p14="http://schemas.microsoft.com/office/powerpoint/2010/main" val="2968155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Concluding Summary:</a:t>
            </a:r>
            <a:r>
              <a:rPr lang="en-US" sz="1200" kern="1200" dirty="0">
                <a:solidFill>
                  <a:schemeClr val="tx1"/>
                </a:solidFill>
                <a:effectLst/>
                <a:latin typeface="+mn-lt"/>
                <a:ea typeface="+mn-ea"/>
                <a:cs typeface="+mn-cs"/>
              </a:rPr>
              <a:t> To summarize our directive in this threat environment: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can no longer lower operational security standards in the pursuit of pure speed or friction-free interactions.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Digital security now requires active verification of physical and biometric realities across all communication channels.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"Trust No One Era,"</a:t>
            </a:r>
            <a:r>
              <a:rPr lang="en-US" sz="1200" kern="1200" dirty="0">
                <a:solidFill>
                  <a:schemeClr val="tx1"/>
                </a:solidFill>
                <a:effectLst/>
                <a:latin typeface="+mn-lt"/>
                <a:ea typeface="+mn-ea"/>
                <a:cs typeface="+mn-cs"/>
              </a:rPr>
              <a:t> organizations that architect verifiable, resilient trust structures will secure a distinct competitive advantage. </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15</a:t>
            </a:fld>
            <a:endParaRPr lang="en-US"/>
          </a:p>
        </p:txBody>
      </p:sp>
    </p:spTree>
    <p:extLst>
      <p:ext uri="{BB962C8B-B14F-4D97-AF65-F5344CB8AC3E}">
        <p14:creationId xmlns:p14="http://schemas.microsoft.com/office/powerpoint/2010/main" val="4140475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Executive Recap:</a:t>
            </a:r>
            <a:r>
              <a:rPr lang="en-US" sz="1200" kern="1200" dirty="0">
                <a:solidFill>
                  <a:schemeClr val="tx1"/>
                </a:solidFill>
                <a:effectLst/>
                <a:latin typeface="+mn-lt"/>
                <a:ea typeface="+mn-ea"/>
                <a:cs typeface="+mn-cs"/>
              </a:rPr>
              <a:t> This final slide serves as an executive leave-behind summarizing the core briefing metrics: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Landscape:</a:t>
            </a:r>
            <a:r>
              <a:rPr lang="en-US" sz="1200" kern="1200" dirty="0">
                <a:solidFill>
                  <a:schemeClr val="tx1"/>
                </a:solidFill>
                <a:effectLst/>
                <a:latin typeface="+mn-lt"/>
                <a:ea typeface="+mn-ea"/>
                <a:cs typeface="+mn-cs"/>
              </a:rPr>
              <a:t> Upwards of 50% of high-engagement online content is synthetic or manipulated.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Enterprise Threat:</a:t>
            </a:r>
            <a:r>
              <a:rPr lang="en-US" sz="1200" kern="1200" dirty="0">
                <a:solidFill>
                  <a:schemeClr val="tx1"/>
                </a:solidFill>
                <a:effectLst/>
                <a:latin typeface="+mn-lt"/>
                <a:ea typeface="+mn-ea"/>
                <a:cs typeface="+mn-cs"/>
              </a:rPr>
              <a:t> Over 1,800 North Korean threat actors were identified targeting a single global enterprise via deepfake video interviews.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Action Matrix:</a:t>
            </a:r>
            <a:r>
              <a:rPr lang="en-US" sz="1200" kern="1200" dirty="0">
                <a:solidFill>
                  <a:schemeClr val="tx1"/>
                </a:solidFill>
                <a:effectLst/>
                <a:latin typeface="+mn-lt"/>
                <a:ea typeface="+mn-ea"/>
                <a:cs typeface="+mn-cs"/>
              </a:rPr>
              <a:t> Rebuilding enterprise trust requires:</a:t>
            </a:r>
          </a:p>
          <a:p>
            <a:pPr marL="685800" lvl="1" indent="-228600">
              <a:buFont typeface="+mj-lt"/>
              <a:buAutoNum type="arabicPeriod"/>
            </a:pPr>
            <a:r>
              <a:rPr lang="en-US" sz="1200" b="1" kern="1200" dirty="0">
                <a:solidFill>
                  <a:schemeClr val="tx1"/>
                </a:solidFill>
                <a:effectLst/>
                <a:latin typeface="+mn-lt"/>
                <a:ea typeface="+mn-ea"/>
                <a:cs typeface="+mn-cs"/>
              </a:rPr>
              <a:t>Eliminating cavalier connectivity</a:t>
            </a:r>
            <a:r>
              <a:rPr lang="en-US" sz="1200" kern="1200" dirty="0">
                <a:solidFill>
                  <a:schemeClr val="tx1"/>
                </a:solidFill>
                <a:effectLst/>
                <a:latin typeface="+mn-lt"/>
                <a:ea typeface="+mn-ea"/>
                <a:cs typeface="+mn-cs"/>
              </a:rPr>
              <a:t> (enforcing camera usage, banning anonymous call-ins). </a:t>
            </a:r>
          </a:p>
          <a:p>
            <a:pPr marL="685800" lvl="1" indent="-228600">
              <a:buFont typeface="+mj-lt"/>
              <a:buAutoNum type="arabicPeriod"/>
            </a:pPr>
            <a:r>
              <a:rPr lang="en-US" sz="1200" b="1" kern="1200" dirty="0">
                <a:solidFill>
                  <a:schemeClr val="tx1"/>
                </a:solidFill>
                <a:effectLst/>
                <a:latin typeface="+mn-lt"/>
                <a:ea typeface="+mn-ea"/>
                <a:cs typeface="+mn-cs"/>
              </a:rPr>
              <a:t>Deploying Trust Advisors</a:t>
            </a:r>
            <a:r>
              <a:rPr lang="en-US" sz="1200" kern="1200" dirty="0">
                <a:solidFill>
                  <a:schemeClr val="tx1"/>
                </a:solidFill>
                <a:effectLst/>
                <a:latin typeface="+mn-lt"/>
                <a:ea typeface="+mn-ea"/>
                <a:cs typeface="+mn-cs"/>
              </a:rPr>
              <a:t> for real-time biometric and frame-rate analysis. </a:t>
            </a:r>
          </a:p>
          <a:p>
            <a:pPr marL="685800" lvl="1" indent="-228600">
              <a:buFont typeface="+mj-lt"/>
              <a:buAutoNum type="arabicPeriod"/>
            </a:pPr>
            <a:r>
              <a:rPr lang="en-US" sz="1200" b="1" kern="1200" dirty="0">
                <a:solidFill>
                  <a:schemeClr val="tx1"/>
                </a:solidFill>
                <a:effectLst/>
                <a:latin typeface="+mn-lt"/>
                <a:ea typeface="+mn-ea"/>
                <a:cs typeface="+mn-cs"/>
              </a:rPr>
              <a:t>Advocating for product liability</a:t>
            </a:r>
            <a:r>
              <a:rPr lang="en-US" sz="1200" kern="1200" dirty="0">
                <a:solidFill>
                  <a:schemeClr val="tx1"/>
                </a:solidFill>
                <a:effectLst/>
                <a:latin typeface="+mn-lt"/>
                <a:ea typeface="+mn-ea"/>
                <a:cs typeface="+mn-cs"/>
              </a:rPr>
              <a:t> to align digital technology standards with physical product safety.</a:t>
            </a:r>
          </a:p>
          <a:p>
            <a:endParaRPr lang="en-US" dirty="0"/>
          </a:p>
        </p:txBody>
      </p:sp>
      <p:sp>
        <p:nvSpPr>
          <p:cNvPr id="4" name="Slide Number Placeholder 3"/>
          <p:cNvSpPr>
            <a:spLocks noGrp="1"/>
          </p:cNvSpPr>
          <p:nvPr>
            <p:ph type="sldNum" sz="quarter" idx="5"/>
          </p:nvPr>
        </p:nvSpPr>
        <p:spPr/>
        <p:txBody>
          <a:bodyPr/>
          <a:lstStyle/>
          <a:p>
            <a:fld id="{52609DBB-2BC5-4D88-9426-5BD8DF6347D9}" type="slidenum">
              <a:rPr lang="en-US" smtClean="0"/>
              <a:t>16</a:t>
            </a:fld>
            <a:endParaRPr lang="en-US"/>
          </a:p>
        </p:txBody>
      </p:sp>
    </p:spTree>
    <p:extLst>
      <p:ext uri="{BB962C8B-B14F-4D97-AF65-F5344CB8AC3E}">
        <p14:creationId xmlns:p14="http://schemas.microsoft.com/office/powerpoint/2010/main" val="1681557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53B909-0B4E-41F0-DF15-504D5A4054E4}"/>
              </a:ext>
            </a:extLst>
          </p:cNvPr>
          <p:cNvSpPr>
            <a:spLocks noGrp="1"/>
          </p:cNvSpPr>
          <p:nvPr>
            <p:ph type="dt" sz="half" idx="10"/>
          </p:nvPr>
        </p:nvSpPr>
        <p:spPr/>
        <p:txBody>
          <a:bodyPr/>
          <a:lstStyle/>
          <a:p>
            <a:fld id="{EE21B88E-8771-4239-B18D-0DF9B917165B}" type="datetimeFigureOut">
              <a:rPr lang="en-US" smtClean="0"/>
              <a:t>10/21/2026</a:t>
            </a:fld>
            <a:endParaRPr lang="en-US"/>
          </a:p>
        </p:txBody>
      </p:sp>
      <p:sp>
        <p:nvSpPr>
          <p:cNvPr id="3" name="Footer Placeholder 2">
            <a:extLst>
              <a:ext uri="{FF2B5EF4-FFF2-40B4-BE49-F238E27FC236}">
                <a16:creationId xmlns:a16="http://schemas.microsoft.com/office/drawing/2014/main" id="{279FFF2B-B915-0764-BBA0-18C4BA96F1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DE603A-7640-C318-E763-632DA1E48723}"/>
              </a:ext>
            </a:extLst>
          </p:cNvPr>
          <p:cNvSpPr>
            <a:spLocks noGrp="1"/>
          </p:cNvSpPr>
          <p:nvPr>
            <p:ph type="sldNum" sz="quarter" idx="12"/>
          </p:nvPr>
        </p:nvSpPr>
        <p:spPr/>
        <p:txBody>
          <a:bodyPr/>
          <a:lstStyle/>
          <a:p>
            <a:fld id="{840D79B0-2DD0-4A8F-ACAE-C8A950C90758}" type="slidenum">
              <a:rPr lang="en-US" smtClean="0"/>
              <a:t>‹#›</a:t>
            </a:fld>
            <a:endParaRPr lang="en-US"/>
          </a:p>
        </p:txBody>
      </p:sp>
    </p:spTree>
    <p:extLst>
      <p:ext uri="{BB962C8B-B14F-4D97-AF65-F5344CB8AC3E}">
        <p14:creationId xmlns:p14="http://schemas.microsoft.com/office/powerpoint/2010/main" val="24758916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7535F4-73EE-24D3-AE8F-4C9A8A6B2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7EF704-DC94-0F37-4940-BDD2698224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4A42D7-7F2F-1FB2-6956-2E1291301B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21B88E-8771-4239-B18D-0DF9B917165B}" type="datetimeFigureOut">
              <a:rPr lang="en-US" smtClean="0"/>
              <a:t>10/21/2026</a:t>
            </a:fld>
            <a:endParaRPr lang="en-US"/>
          </a:p>
        </p:txBody>
      </p:sp>
      <p:sp>
        <p:nvSpPr>
          <p:cNvPr id="5" name="Footer Placeholder 4">
            <a:extLst>
              <a:ext uri="{FF2B5EF4-FFF2-40B4-BE49-F238E27FC236}">
                <a16:creationId xmlns:a16="http://schemas.microsoft.com/office/drawing/2014/main" id="{6F3C773E-38BC-B58C-1FAC-BED1ABBFDB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04F30C-714E-E140-046C-6CA8046EBA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0D79B0-2DD0-4A8F-ACAE-C8A950C90758}" type="slidenum">
              <a:rPr lang="en-US" smtClean="0"/>
              <a:t>‹#›</a:t>
            </a:fld>
            <a:endParaRPr lang="en-US"/>
          </a:p>
        </p:txBody>
      </p:sp>
    </p:spTree>
    <p:extLst>
      <p:ext uri="{BB962C8B-B14F-4D97-AF65-F5344CB8AC3E}">
        <p14:creationId xmlns:p14="http://schemas.microsoft.com/office/powerpoint/2010/main" val="89152939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74C4CC-0C09-2356-A3FF-F9B5698E0649}"/>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1564F8-7E3E-7FA8-0434-9E37C34B35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82EAD6-58D8-2208-B925-49FACAC25D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9C4772-8551-6714-9BBB-ED685FB1B5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093EFF-4D23-7FD6-25BE-9EE6C0EF8C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813E59-4ED2-7DB1-2686-68D788E446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7EBF83-633B-E975-A5C7-E810BB1EF2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65D52F-40BA-CEA5-B1D3-73E2C51C8D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D82AEC-5C40-EEC3-AAB1-9CDA07FC9B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BA08D6-D41B-2163-8AC1-47FF7DB01F6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3832B5-4CC1-2CB2-AC4D-54CDE4CF7E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49B76-F3C1-94F8-5E3A-FCBC773676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3DEF17-B85F-12D5-07EE-EA692161FD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5936E8-77F5-8154-EB7E-848DE06BF8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295DA7-67F3-2D4D-2FD4-568257B293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56B45B-EF44-26B3-1A75-FA341075684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246133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1921</Words>
  <Application>Microsoft Office PowerPoint</Application>
  <PresentationFormat>寬螢幕</PresentationFormat>
  <Paragraphs>82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2026-09-01T01:05:59Z</dcterms:created>
  <dcterms:modified xsi:type="dcterms:W3CDTF">2026-10-21T02:51:56Z</dcterms:modified>
</cp:coreProperties>
</file>