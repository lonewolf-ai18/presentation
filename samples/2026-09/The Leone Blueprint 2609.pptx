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AD8E03-B1AA-4D5D-89FA-213C6E7D531E}" v="44" dt="2026-09-04T10:15:33.6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04T10:16:23.329" v="81" actId="166"/>
      <pc:docMkLst>
        <pc:docMk/>
      </pc:docMkLst>
      <pc:sldChg chg="addSp delSp modSp mod modAnim modNotesTx">
        <pc:chgData name="Lai, Wilson" userId="2840974a-0d84-4886-90a9-9a3ed79f3a48" providerId="ADAL" clId="{9F23B798-9E84-4552-BA63-E776E805C424}" dt="2026-09-04T10:16:23.329" v="81" actId="166"/>
        <pc:sldMkLst>
          <pc:docMk/>
          <pc:sldMk cId="0" sldId="257"/>
        </pc:sldMkLst>
        <pc:spChg chg="add mod">
          <ac:chgData name="Lai, Wilson" userId="2840974a-0d84-4886-90a9-9a3ed79f3a48" providerId="ADAL" clId="{9F23B798-9E84-4552-BA63-E776E805C424}" dt="2026-09-04T08:29:58.514" v="11" actId="164"/>
          <ac:spMkLst>
            <pc:docMk/>
            <pc:sldMk cId="0" sldId="257"/>
            <ac:spMk id="5" creationId="{0799C75F-9105-427C-36FC-84C37A4446DA}"/>
          </ac:spMkLst>
        </pc:spChg>
        <pc:grpChg chg="add mod">
          <ac:chgData name="Lai, Wilson" userId="2840974a-0d84-4886-90a9-9a3ed79f3a48" providerId="ADAL" clId="{9F23B798-9E84-4552-BA63-E776E805C424}" dt="2026-09-04T08:29:58.514" v="11" actId="164"/>
          <ac:grpSpMkLst>
            <pc:docMk/>
            <pc:sldMk cId="0" sldId="257"/>
            <ac:grpSpMk id="6" creationId="{27605410-34E3-6620-2E9B-12722006F63F}"/>
          </ac:grpSpMkLst>
        </pc:grpChg>
        <pc:picChg chg="del">
          <ac:chgData name="Lai, Wilson" userId="2840974a-0d84-4886-90a9-9a3ed79f3a48" providerId="ADAL" clId="{9F23B798-9E84-4552-BA63-E776E805C424}" dt="2026-09-04T08:37:23.158" v="12" actId="21"/>
          <ac:picMkLst>
            <pc:docMk/>
            <pc:sldMk cId="0" sldId="257"/>
            <ac:picMk id="2" creationId="{00000000-0000-0000-0000-000000000000}"/>
          </ac:picMkLst>
        </pc:picChg>
        <pc:picChg chg="add mod">
          <ac:chgData name="Lai, Wilson" userId="2840974a-0d84-4886-90a9-9a3ed79f3a48" providerId="ADAL" clId="{9F23B798-9E84-4552-BA63-E776E805C424}" dt="2026-09-04T08:29:58.514" v="11" actId="164"/>
          <ac:picMkLst>
            <pc:docMk/>
            <pc:sldMk cId="0" sldId="257"/>
            <ac:picMk id="3" creationId="{5FBB77F0-7B0E-A271-45E7-233DE82660FB}"/>
          </ac:picMkLst>
        </pc:picChg>
        <pc:picChg chg="add ord">
          <ac:chgData name="Lai, Wilson" userId="2840974a-0d84-4886-90a9-9a3ed79f3a48" providerId="ADAL" clId="{9F23B798-9E84-4552-BA63-E776E805C424}" dt="2026-09-04T10:16:23.329" v="81" actId="166"/>
          <ac:picMkLst>
            <pc:docMk/>
            <pc:sldMk cId="0" sldId="257"/>
            <ac:picMk id="7" creationId="{416D347D-9FDE-84EC-3D04-C388154F09FA}"/>
          </ac:picMkLst>
        </pc:picChg>
      </pc:sldChg>
      <pc:sldChg chg="addSp delSp mod">
        <pc:chgData name="Lai, Wilson" userId="2840974a-0d84-4886-90a9-9a3ed79f3a48" providerId="ADAL" clId="{9F23B798-9E84-4552-BA63-E776E805C424}" dt="2026-09-04T08:37:51.641" v="15" actId="22"/>
        <pc:sldMkLst>
          <pc:docMk/>
          <pc:sldMk cId="0" sldId="258"/>
        </pc:sldMkLst>
        <pc:picChg chg="del">
          <ac:chgData name="Lai, Wilson" userId="2840974a-0d84-4886-90a9-9a3ed79f3a48" providerId="ADAL" clId="{9F23B798-9E84-4552-BA63-E776E805C424}" dt="2026-09-04T08:37:41.647" v="14" actId="21"/>
          <ac:picMkLst>
            <pc:docMk/>
            <pc:sldMk cId="0" sldId="258"/>
            <ac:picMk id="2" creationId="{00000000-0000-0000-0000-000000000000}"/>
          </ac:picMkLst>
        </pc:picChg>
        <pc:picChg chg="add">
          <ac:chgData name="Lai, Wilson" userId="2840974a-0d84-4886-90a9-9a3ed79f3a48" providerId="ADAL" clId="{9F23B798-9E84-4552-BA63-E776E805C424}" dt="2026-09-04T08:37:51.641" v="15" actId="22"/>
          <ac:picMkLst>
            <pc:docMk/>
            <pc:sldMk cId="0" sldId="258"/>
            <ac:picMk id="4" creationId="{5252EBE6-5C5A-19A2-09BB-E611FB6BDECC}"/>
          </ac:picMkLst>
        </pc:picChg>
      </pc:sldChg>
      <pc:sldChg chg="addSp delSp mod">
        <pc:chgData name="Lai, Wilson" userId="2840974a-0d84-4886-90a9-9a3ed79f3a48" providerId="ADAL" clId="{9F23B798-9E84-4552-BA63-E776E805C424}" dt="2026-09-04T08:38:18.490" v="17" actId="22"/>
        <pc:sldMkLst>
          <pc:docMk/>
          <pc:sldMk cId="0" sldId="259"/>
        </pc:sldMkLst>
        <pc:picChg chg="del">
          <ac:chgData name="Lai, Wilson" userId="2840974a-0d84-4886-90a9-9a3ed79f3a48" providerId="ADAL" clId="{9F23B798-9E84-4552-BA63-E776E805C424}" dt="2026-09-04T08:37:53.670" v="16" actId="21"/>
          <ac:picMkLst>
            <pc:docMk/>
            <pc:sldMk cId="0" sldId="259"/>
            <ac:picMk id="2" creationId="{00000000-0000-0000-0000-000000000000}"/>
          </ac:picMkLst>
        </pc:picChg>
        <pc:picChg chg="add">
          <ac:chgData name="Lai, Wilson" userId="2840974a-0d84-4886-90a9-9a3ed79f3a48" providerId="ADAL" clId="{9F23B798-9E84-4552-BA63-E776E805C424}" dt="2026-09-04T08:38:18.490" v="17" actId="22"/>
          <ac:picMkLst>
            <pc:docMk/>
            <pc:sldMk cId="0" sldId="259"/>
            <ac:picMk id="4" creationId="{3139FD3B-6421-651D-A890-3D9F37138AAF}"/>
          </ac:picMkLst>
        </pc:picChg>
      </pc:sldChg>
      <pc:sldChg chg="addSp delSp mod">
        <pc:chgData name="Lai, Wilson" userId="2840974a-0d84-4886-90a9-9a3ed79f3a48" providerId="ADAL" clId="{9F23B798-9E84-4552-BA63-E776E805C424}" dt="2026-09-04T08:38:29.380" v="19" actId="22"/>
        <pc:sldMkLst>
          <pc:docMk/>
          <pc:sldMk cId="0" sldId="260"/>
        </pc:sldMkLst>
        <pc:picChg chg="del">
          <ac:chgData name="Lai, Wilson" userId="2840974a-0d84-4886-90a9-9a3ed79f3a48" providerId="ADAL" clId="{9F23B798-9E84-4552-BA63-E776E805C424}" dt="2026-09-04T08:38:20.177" v="18" actId="21"/>
          <ac:picMkLst>
            <pc:docMk/>
            <pc:sldMk cId="0" sldId="260"/>
            <ac:picMk id="2" creationId="{00000000-0000-0000-0000-000000000000}"/>
          </ac:picMkLst>
        </pc:picChg>
        <pc:picChg chg="add">
          <ac:chgData name="Lai, Wilson" userId="2840974a-0d84-4886-90a9-9a3ed79f3a48" providerId="ADAL" clId="{9F23B798-9E84-4552-BA63-E776E805C424}" dt="2026-09-04T08:38:29.380" v="19" actId="22"/>
          <ac:picMkLst>
            <pc:docMk/>
            <pc:sldMk cId="0" sldId="260"/>
            <ac:picMk id="4" creationId="{40ADBCF6-8202-01F9-270B-DCB39AC00664}"/>
          </ac:picMkLst>
        </pc:picChg>
      </pc:sldChg>
      <pc:sldChg chg="addSp delSp mod modNotesTx">
        <pc:chgData name="Lai, Wilson" userId="2840974a-0d84-4886-90a9-9a3ed79f3a48" providerId="ADAL" clId="{9F23B798-9E84-4552-BA63-E776E805C424}" dt="2026-09-04T10:13:17.952" v="65" actId="14"/>
        <pc:sldMkLst>
          <pc:docMk/>
          <pc:sldMk cId="0" sldId="261"/>
        </pc:sldMkLst>
        <pc:picChg chg="del">
          <ac:chgData name="Lai, Wilson" userId="2840974a-0d84-4886-90a9-9a3ed79f3a48" providerId="ADAL" clId="{9F23B798-9E84-4552-BA63-E776E805C424}" dt="2026-09-04T08:38:31.188" v="20" actId="21"/>
          <ac:picMkLst>
            <pc:docMk/>
            <pc:sldMk cId="0" sldId="261"/>
            <ac:picMk id="2" creationId="{00000000-0000-0000-0000-000000000000}"/>
          </ac:picMkLst>
        </pc:picChg>
        <pc:picChg chg="add">
          <ac:chgData name="Lai, Wilson" userId="2840974a-0d84-4886-90a9-9a3ed79f3a48" providerId="ADAL" clId="{9F23B798-9E84-4552-BA63-E776E805C424}" dt="2026-09-04T08:38:40.296" v="21" actId="22"/>
          <ac:picMkLst>
            <pc:docMk/>
            <pc:sldMk cId="0" sldId="261"/>
            <ac:picMk id="4" creationId="{E27D140B-F2CE-703A-B7C8-32261F30D71A}"/>
          </ac:picMkLst>
        </pc:picChg>
      </pc:sldChg>
      <pc:sldChg chg="addSp delSp mod modNotesTx">
        <pc:chgData name="Lai, Wilson" userId="2840974a-0d84-4886-90a9-9a3ed79f3a48" providerId="ADAL" clId="{9F23B798-9E84-4552-BA63-E776E805C424}" dt="2026-09-04T10:13:35.385" v="67" actId="14"/>
        <pc:sldMkLst>
          <pc:docMk/>
          <pc:sldMk cId="0" sldId="262"/>
        </pc:sldMkLst>
        <pc:picChg chg="del">
          <ac:chgData name="Lai, Wilson" userId="2840974a-0d84-4886-90a9-9a3ed79f3a48" providerId="ADAL" clId="{9F23B798-9E84-4552-BA63-E776E805C424}" dt="2026-09-04T08:38:41.923" v="22" actId="21"/>
          <ac:picMkLst>
            <pc:docMk/>
            <pc:sldMk cId="0" sldId="262"/>
            <ac:picMk id="2" creationId="{00000000-0000-0000-0000-000000000000}"/>
          </ac:picMkLst>
        </pc:picChg>
        <pc:picChg chg="add">
          <ac:chgData name="Lai, Wilson" userId="2840974a-0d84-4886-90a9-9a3ed79f3a48" providerId="ADAL" clId="{9F23B798-9E84-4552-BA63-E776E805C424}" dt="2026-09-04T08:38:51.514" v="23" actId="22"/>
          <ac:picMkLst>
            <pc:docMk/>
            <pc:sldMk cId="0" sldId="262"/>
            <ac:picMk id="4" creationId="{0AB79483-32AE-9D37-CCF0-1A0511D2CF8F}"/>
          </ac:picMkLst>
        </pc:picChg>
      </pc:sldChg>
      <pc:sldChg chg="addSp delSp mod modNotesTx">
        <pc:chgData name="Lai, Wilson" userId="2840974a-0d84-4886-90a9-9a3ed79f3a48" providerId="ADAL" clId="{9F23B798-9E84-4552-BA63-E776E805C424}" dt="2026-09-04T10:13:47.776" v="69" actId="14"/>
        <pc:sldMkLst>
          <pc:docMk/>
          <pc:sldMk cId="0" sldId="263"/>
        </pc:sldMkLst>
        <pc:picChg chg="del">
          <ac:chgData name="Lai, Wilson" userId="2840974a-0d84-4886-90a9-9a3ed79f3a48" providerId="ADAL" clId="{9F23B798-9E84-4552-BA63-E776E805C424}" dt="2026-09-04T08:38:54.657" v="24" actId="21"/>
          <ac:picMkLst>
            <pc:docMk/>
            <pc:sldMk cId="0" sldId="263"/>
            <ac:picMk id="2" creationId="{00000000-0000-0000-0000-000000000000}"/>
          </ac:picMkLst>
        </pc:picChg>
        <pc:picChg chg="add">
          <ac:chgData name="Lai, Wilson" userId="2840974a-0d84-4886-90a9-9a3ed79f3a48" providerId="ADAL" clId="{9F23B798-9E84-4552-BA63-E776E805C424}" dt="2026-09-04T08:39:03.235" v="25" actId="22"/>
          <ac:picMkLst>
            <pc:docMk/>
            <pc:sldMk cId="0" sldId="263"/>
            <ac:picMk id="4" creationId="{ADA88470-8896-4BEF-515C-F58ECD349236}"/>
          </ac:picMkLst>
        </pc:picChg>
      </pc:sldChg>
      <pc:sldChg chg="addSp delSp mod">
        <pc:chgData name="Lai, Wilson" userId="2840974a-0d84-4886-90a9-9a3ed79f3a48" providerId="ADAL" clId="{9F23B798-9E84-4552-BA63-E776E805C424}" dt="2026-09-04T08:39:16.161" v="27" actId="22"/>
        <pc:sldMkLst>
          <pc:docMk/>
          <pc:sldMk cId="0" sldId="264"/>
        </pc:sldMkLst>
        <pc:picChg chg="del">
          <ac:chgData name="Lai, Wilson" userId="2840974a-0d84-4886-90a9-9a3ed79f3a48" providerId="ADAL" clId="{9F23B798-9E84-4552-BA63-E776E805C424}" dt="2026-09-04T08:39:04.728" v="26" actId="21"/>
          <ac:picMkLst>
            <pc:docMk/>
            <pc:sldMk cId="0" sldId="264"/>
            <ac:picMk id="2" creationId="{00000000-0000-0000-0000-000000000000}"/>
          </ac:picMkLst>
        </pc:picChg>
        <pc:picChg chg="add">
          <ac:chgData name="Lai, Wilson" userId="2840974a-0d84-4886-90a9-9a3ed79f3a48" providerId="ADAL" clId="{9F23B798-9E84-4552-BA63-E776E805C424}" dt="2026-09-04T08:39:16.161" v="27" actId="22"/>
          <ac:picMkLst>
            <pc:docMk/>
            <pc:sldMk cId="0" sldId="264"/>
            <ac:picMk id="4" creationId="{1201156F-1C59-0870-4473-4FEECF39E746}"/>
          </ac:picMkLst>
        </pc:picChg>
      </pc:sldChg>
      <pc:sldChg chg="addSp delSp mod modNotesTx">
        <pc:chgData name="Lai, Wilson" userId="2840974a-0d84-4886-90a9-9a3ed79f3a48" providerId="ADAL" clId="{9F23B798-9E84-4552-BA63-E776E805C424}" dt="2026-09-04T10:14:10.912" v="71" actId="14"/>
        <pc:sldMkLst>
          <pc:docMk/>
          <pc:sldMk cId="0" sldId="265"/>
        </pc:sldMkLst>
        <pc:picChg chg="del">
          <ac:chgData name="Lai, Wilson" userId="2840974a-0d84-4886-90a9-9a3ed79f3a48" providerId="ADAL" clId="{9F23B798-9E84-4552-BA63-E776E805C424}" dt="2026-09-04T08:39:19.297" v="28" actId="21"/>
          <ac:picMkLst>
            <pc:docMk/>
            <pc:sldMk cId="0" sldId="265"/>
            <ac:picMk id="2" creationId="{00000000-0000-0000-0000-000000000000}"/>
          </ac:picMkLst>
        </pc:picChg>
        <pc:picChg chg="add">
          <ac:chgData name="Lai, Wilson" userId="2840974a-0d84-4886-90a9-9a3ed79f3a48" providerId="ADAL" clId="{9F23B798-9E84-4552-BA63-E776E805C424}" dt="2026-09-04T08:39:27.641" v="29" actId="22"/>
          <ac:picMkLst>
            <pc:docMk/>
            <pc:sldMk cId="0" sldId="265"/>
            <ac:picMk id="4" creationId="{EEB48D98-2356-015F-0126-4AC6F836B9C9}"/>
          </ac:picMkLst>
        </pc:picChg>
      </pc:sldChg>
      <pc:sldChg chg="addSp delSp mod modNotesTx">
        <pc:chgData name="Lai, Wilson" userId="2840974a-0d84-4886-90a9-9a3ed79f3a48" providerId="ADAL" clId="{9F23B798-9E84-4552-BA63-E776E805C424}" dt="2026-09-04T10:14:27.901" v="73" actId="14"/>
        <pc:sldMkLst>
          <pc:docMk/>
          <pc:sldMk cId="0" sldId="266"/>
        </pc:sldMkLst>
        <pc:picChg chg="del">
          <ac:chgData name="Lai, Wilson" userId="2840974a-0d84-4886-90a9-9a3ed79f3a48" providerId="ADAL" clId="{9F23B798-9E84-4552-BA63-E776E805C424}" dt="2026-09-04T08:39:29.143" v="30" actId="21"/>
          <ac:picMkLst>
            <pc:docMk/>
            <pc:sldMk cId="0" sldId="266"/>
            <ac:picMk id="2" creationId="{00000000-0000-0000-0000-000000000000}"/>
          </ac:picMkLst>
        </pc:picChg>
        <pc:picChg chg="add">
          <ac:chgData name="Lai, Wilson" userId="2840974a-0d84-4886-90a9-9a3ed79f3a48" providerId="ADAL" clId="{9F23B798-9E84-4552-BA63-E776E805C424}" dt="2026-09-04T08:39:42.078" v="31" actId="22"/>
          <ac:picMkLst>
            <pc:docMk/>
            <pc:sldMk cId="0" sldId="266"/>
            <ac:picMk id="4" creationId="{A1EE9518-AE80-B2AE-9489-C252861AA1DD}"/>
          </ac:picMkLst>
        </pc:picChg>
      </pc:sldChg>
      <pc:sldChg chg="addSp delSp mod modNotesTx">
        <pc:chgData name="Lai, Wilson" userId="2840974a-0d84-4886-90a9-9a3ed79f3a48" providerId="ADAL" clId="{9F23B798-9E84-4552-BA63-E776E805C424}" dt="2026-09-04T10:14:48.173" v="75" actId="14"/>
        <pc:sldMkLst>
          <pc:docMk/>
          <pc:sldMk cId="0" sldId="267"/>
        </pc:sldMkLst>
        <pc:picChg chg="del">
          <ac:chgData name="Lai, Wilson" userId="2840974a-0d84-4886-90a9-9a3ed79f3a48" providerId="ADAL" clId="{9F23B798-9E84-4552-BA63-E776E805C424}" dt="2026-09-04T08:39:44.029" v="32" actId="21"/>
          <ac:picMkLst>
            <pc:docMk/>
            <pc:sldMk cId="0" sldId="267"/>
            <ac:picMk id="2" creationId="{00000000-0000-0000-0000-000000000000}"/>
          </ac:picMkLst>
        </pc:picChg>
        <pc:picChg chg="add">
          <ac:chgData name="Lai, Wilson" userId="2840974a-0d84-4886-90a9-9a3ed79f3a48" providerId="ADAL" clId="{9F23B798-9E84-4552-BA63-E776E805C424}" dt="2026-09-04T08:39:59.353" v="33" actId="22"/>
          <ac:picMkLst>
            <pc:docMk/>
            <pc:sldMk cId="0" sldId="267"/>
            <ac:picMk id="4" creationId="{BC6A5C57-4136-DF10-2187-7F23CB2BC214}"/>
          </ac:picMkLst>
        </pc:picChg>
      </pc:sldChg>
      <pc:sldChg chg="modNotesTx">
        <pc:chgData name="Lai, Wilson" userId="2840974a-0d84-4886-90a9-9a3ed79f3a48" providerId="ADAL" clId="{9F23B798-9E84-4552-BA63-E776E805C424}" dt="2026-09-04T10:15:00.549" v="77" actId="14"/>
        <pc:sldMkLst>
          <pc:docMk/>
          <pc:sldMk cId="0" sldId="268"/>
        </pc:sldMkLst>
      </pc:sldChg>
      <pc:sldChg chg="addSp delSp mod">
        <pc:chgData name="Lai, Wilson" userId="2840974a-0d84-4886-90a9-9a3ed79f3a48" providerId="ADAL" clId="{9F23B798-9E84-4552-BA63-E776E805C424}" dt="2026-09-04T08:40:20.596" v="35" actId="22"/>
        <pc:sldMkLst>
          <pc:docMk/>
          <pc:sldMk cId="0" sldId="269"/>
        </pc:sldMkLst>
        <pc:picChg chg="del">
          <ac:chgData name="Lai, Wilson" userId="2840974a-0d84-4886-90a9-9a3ed79f3a48" providerId="ADAL" clId="{9F23B798-9E84-4552-BA63-E776E805C424}" dt="2026-09-04T08:40:02.149" v="34" actId="21"/>
          <ac:picMkLst>
            <pc:docMk/>
            <pc:sldMk cId="0" sldId="269"/>
            <ac:picMk id="2" creationId="{00000000-0000-0000-0000-000000000000}"/>
          </ac:picMkLst>
        </pc:picChg>
        <pc:picChg chg="add">
          <ac:chgData name="Lai, Wilson" userId="2840974a-0d84-4886-90a9-9a3ed79f3a48" providerId="ADAL" clId="{9F23B798-9E84-4552-BA63-E776E805C424}" dt="2026-09-04T08:40:20.596" v="35" actId="22"/>
          <ac:picMkLst>
            <pc:docMk/>
            <pc:sldMk cId="0" sldId="269"/>
            <ac:picMk id="4" creationId="{20315F1D-EF51-9207-B3E4-5FEC9DE7A688}"/>
          </ac:picMkLst>
        </pc:picChg>
      </pc:sldChg>
      <pc:sldChg chg="addSp delSp mod">
        <pc:chgData name="Lai, Wilson" userId="2840974a-0d84-4886-90a9-9a3ed79f3a48" providerId="ADAL" clId="{9F23B798-9E84-4552-BA63-E776E805C424}" dt="2026-09-04T08:40:31.745" v="37" actId="22"/>
        <pc:sldMkLst>
          <pc:docMk/>
          <pc:sldMk cId="0" sldId="270"/>
        </pc:sldMkLst>
        <pc:picChg chg="del">
          <ac:chgData name="Lai, Wilson" userId="2840974a-0d84-4886-90a9-9a3ed79f3a48" providerId="ADAL" clId="{9F23B798-9E84-4552-BA63-E776E805C424}" dt="2026-09-04T08:40:22.705" v="36" actId="21"/>
          <ac:picMkLst>
            <pc:docMk/>
            <pc:sldMk cId="0" sldId="270"/>
            <ac:picMk id="2" creationId="{00000000-0000-0000-0000-000000000000}"/>
          </ac:picMkLst>
        </pc:picChg>
        <pc:picChg chg="add">
          <ac:chgData name="Lai, Wilson" userId="2840974a-0d84-4886-90a9-9a3ed79f3a48" providerId="ADAL" clId="{9F23B798-9E84-4552-BA63-E776E805C424}" dt="2026-09-04T08:40:31.745" v="37" actId="22"/>
          <ac:picMkLst>
            <pc:docMk/>
            <pc:sldMk cId="0" sldId="270"/>
            <ac:picMk id="4" creationId="{87EF058F-6FD4-EA0D-A77C-29015B8C8EC7}"/>
          </ac:picMkLst>
        </pc:picChg>
      </pc:sldChg>
      <pc:sldChg chg="addSp delSp mod">
        <pc:chgData name="Lai, Wilson" userId="2840974a-0d84-4886-90a9-9a3ed79f3a48" providerId="ADAL" clId="{9F23B798-9E84-4552-BA63-E776E805C424}" dt="2026-09-04T08:40:41.566" v="39" actId="22"/>
        <pc:sldMkLst>
          <pc:docMk/>
          <pc:sldMk cId="0" sldId="271"/>
        </pc:sldMkLst>
        <pc:picChg chg="del">
          <ac:chgData name="Lai, Wilson" userId="2840974a-0d84-4886-90a9-9a3ed79f3a48" providerId="ADAL" clId="{9F23B798-9E84-4552-BA63-E776E805C424}" dt="2026-09-04T08:40:33.362" v="38" actId="21"/>
          <ac:picMkLst>
            <pc:docMk/>
            <pc:sldMk cId="0" sldId="271"/>
            <ac:picMk id="2" creationId="{00000000-0000-0000-0000-000000000000}"/>
          </ac:picMkLst>
        </pc:picChg>
        <pc:picChg chg="add">
          <ac:chgData name="Lai, Wilson" userId="2840974a-0d84-4886-90a9-9a3ed79f3a48" providerId="ADAL" clId="{9F23B798-9E84-4552-BA63-E776E805C424}" dt="2026-09-04T08:40:41.566" v="39" actId="22"/>
          <ac:picMkLst>
            <pc:docMk/>
            <pc:sldMk cId="0" sldId="271"/>
            <ac:picMk id="4" creationId="{35E8C8D7-80D1-3E60-D777-0785BC801D2E}"/>
          </ac:picMkLst>
        </pc:picChg>
      </pc:sldChg>
      <pc:sldChg chg="modNotesTx">
        <pc:chgData name="Lai, Wilson" userId="2840974a-0d84-4886-90a9-9a3ed79f3a48" providerId="ADAL" clId="{9F23B798-9E84-4552-BA63-E776E805C424}" dt="2026-09-04T10:15:37.764" v="79" actId="14"/>
        <pc:sldMkLst>
          <pc:docMk/>
          <pc:sldMk cId="1007985846"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0060FC-3772-43C0-ABED-049B95E540F5}"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752513-CC0B-4CBC-A2D9-F9BAABB35336}" type="slidenum">
              <a:rPr lang="en-US" smtClean="0"/>
              <a:t>‹#›</a:t>
            </a:fld>
            <a:endParaRPr lang="en-US"/>
          </a:p>
        </p:txBody>
      </p:sp>
    </p:spTree>
    <p:extLst>
      <p:ext uri="{BB962C8B-B14F-4D97-AF65-F5344CB8AC3E}">
        <p14:creationId xmlns:p14="http://schemas.microsoft.com/office/powerpoint/2010/main" val="3371418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Most business literature tells you to mitigate fear or view it as a barrier. Doug Leone turns fear on its head: he uses it as immediate propulsion. Whenever he feels fear—whether it's public speaking, heights, or market shifts—he treats it as an absolute challenge to confront head-on. </a:t>
            </a:r>
          </a:p>
          <a:p>
            <a:pPr lvl="0"/>
            <a:r>
              <a:rPr lang="en-US" sz="1200" kern="1200" dirty="0">
                <a:solidFill>
                  <a:schemeClr val="tx1"/>
                </a:solidFill>
                <a:effectLst/>
                <a:latin typeface="+mn-lt"/>
                <a:ea typeface="+mn-ea"/>
                <a:cs typeface="+mn-cs"/>
              </a:rPr>
              <a:t>Consider </a:t>
            </a:r>
            <a:r>
              <a:rPr lang="en-US" sz="1200" b="1" kern="1200" dirty="0">
                <a:solidFill>
                  <a:schemeClr val="tx1"/>
                </a:solidFill>
                <a:effectLst/>
                <a:latin typeface="+mn-lt"/>
                <a:ea typeface="+mn-ea"/>
                <a:cs typeface="+mn-cs"/>
              </a:rPr>
              <a:t>"The Dentist Test"</a:t>
            </a:r>
            <a:r>
              <a:rPr lang="en-US" sz="1200" kern="1200" dirty="0">
                <a:solidFill>
                  <a:schemeClr val="tx1"/>
                </a:solidFill>
                <a:effectLst/>
                <a:latin typeface="+mn-lt"/>
                <a:ea typeface="+mn-ea"/>
                <a:cs typeface="+mn-cs"/>
              </a:rPr>
              <a:t>: Early in his Sequoia career, Doug had to go directly from a root canal to a high-stakes board/partner meeting. He instructed his dentist to drill </a:t>
            </a:r>
            <a:r>
              <a:rPr lang="en-US" sz="1200" i="1" kern="1200" dirty="0">
                <a:solidFill>
                  <a:schemeClr val="tx1"/>
                </a:solidFill>
                <a:effectLst/>
                <a:latin typeface="+mn-lt"/>
                <a:ea typeface="+mn-ea"/>
                <a:cs typeface="+mn-cs"/>
              </a:rPr>
              <a:t>without </a:t>
            </a:r>
            <a:r>
              <a:rPr lang="en-US" sz="1200" i="1" kern="1200" dirty="0" err="1">
                <a:solidFill>
                  <a:schemeClr val="tx1"/>
                </a:solidFill>
                <a:effectLst/>
                <a:latin typeface="+mn-lt"/>
                <a:ea typeface="+mn-ea"/>
                <a:cs typeface="+mn-cs"/>
              </a:rPr>
              <a:t>Novocaine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Why? He wanted to test if he was a "fake badass" on the outside or a real badass on the inside. To push through the severe pain, he used a mental frame: </a:t>
            </a:r>
            <a:r>
              <a:rPr lang="en-US" sz="1200" i="1" kern="1200" dirty="0">
                <a:solidFill>
                  <a:schemeClr val="tx1"/>
                </a:solidFill>
                <a:effectLst/>
                <a:latin typeface="+mn-lt"/>
                <a:ea typeface="+mn-ea"/>
                <a:cs typeface="+mn-cs"/>
              </a:rPr>
              <a:t>"This is just nerve endings going to my spine. Soldiers go to war and lose limbs—that's pain with consequences. Mine is severe pain with zero long-term consequence.</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A9752513-CC0B-4CBC-A2D9-F9BAABB35336}" type="slidenum">
              <a:rPr lang="en-US" smtClean="0"/>
              <a:t>1</a:t>
            </a:fld>
            <a:endParaRPr lang="en-US"/>
          </a:p>
        </p:txBody>
      </p:sp>
    </p:spTree>
    <p:extLst>
      <p:ext uri="{BB962C8B-B14F-4D97-AF65-F5344CB8AC3E}">
        <p14:creationId xmlns:p14="http://schemas.microsoft.com/office/powerpoint/2010/main" val="2045589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Most people view fear as a stop sign or a headwind. Doug Leone treats fear as rocket fuel. At 69, returning to active duty at Sequoia, his driver isn't vision or legacy—it’s the genuine terror of becoming out-of-date and irrelevant. When you feel fear, the directive is immediate: don't hesitate, step directly into it.</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A9752513-CC0B-4CBC-A2D9-F9BAABB35336}" type="slidenum">
              <a:rPr lang="en-US" smtClean="0"/>
              <a:t>2</a:t>
            </a:fld>
            <a:endParaRPr lang="en-US"/>
          </a:p>
        </p:txBody>
      </p:sp>
    </p:spTree>
    <p:extLst>
      <p:ext uri="{BB962C8B-B14F-4D97-AF65-F5344CB8AC3E}">
        <p14:creationId xmlns:p14="http://schemas.microsoft.com/office/powerpoint/2010/main" val="384528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Where does true drive come from? Doug argues it is almost always born from early hardship, chips on shoulders, or feeling like an outsider. </a:t>
            </a:r>
          </a:p>
          <a:p>
            <a:pPr lvl="0"/>
            <a:r>
              <a:rPr lang="en-US" sz="1200" kern="1200" dirty="0">
                <a:solidFill>
                  <a:schemeClr val="tx1"/>
                </a:solidFill>
                <a:effectLst/>
                <a:latin typeface="+mn-lt"/>
                <a:ea typeface="+mn-ea"/>
                <a:cs typeface="+mn-cs"/>
              </a:rPr>
              <a:t>As an immigrant kid from Italy who was mocked for not speaking English, Doug worked summer jobs crawling through sailboats, running electrical wiring in the sweltering heat. Across the water at the country club, wealthy kids were lounging by the pool. Doug looked over and thought: </a:t>
            </a:r>
            <a:r>
              <a:rPr lang="en-US" sz="1200" i="1" kern="1200" dirty="0">
                <a:solidFill>
                  <a:schemeClr val="tx1"/>
                </a:solidFill>
                <a:effectLst/>
                <a:latin typeface="+mn-lt"/>
                <a:ea typeface="+mn-ea"/>
                <a:cs typeface="+mn-cs"/>
              </a:rPr>
              <a:t>"I’m going to get those fuckers later."</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Success, wealth, and comfort naturally strip away that raw hunger. </a:t>
            </a:r>
          </a:p>
          <a:p>
            <a:pPr lvl="0"/>
            <a:r>
              <a:rPr lang="en-US" sz="1200" b="1" kern="1200" dirty="0">
                <a:solidFill>
                  <a:schemeClr val="tx1"/>
                </a:solidFill>
                <a:effectLst/>
                <a:latin typeface="+mn-lt"/>
                <a:ea typeface="+mn-ea"/>
                <a:cs typeface="+mn-cs"/>
              </a:rPr>
              <a:t>The Solution:</a:t>
            </a:r>
            <a:r>
              <a:rPr lang="en-US" sz="1200" kern="1200" dirty="0">
                <a:solidFill>
                  <a:schemeClr val="tx1"/>
                </a:solidFill>
                <a:effectLst/>
                <a:latin typeface="+mn-lt"/>
                <a:ea typeface="+mn-ea"/>
                <a:cs typeface="+mn-cs"/>
              </a:rPr>
              <a:t> To achieve longevity, you must reject comfort and embrace David Ogilvy’s concept of </a:t>
            </a:r>
            <a:r>
              <a:rPr lang="en-US" sz="1200" b="1" kern="1200" dirty="0">
                <a:solidFill>
                  <a:schemeClr val="tx1"/>
                </a:solidFill>
                <a:effectLst/>
                <a:latin typeface="+mn-lt"/>
                <a:ea typeface="+mn-ea"/>
                <a:cs typeface="+mn-cs"/>
              </a:rPr>
              <a:t>"Divine Discontent"</a:t>
            </a:r>
            <a:r>
              <a:rPr lang="en-US" sz="1200" kern="1200" dirty="0">
                <a:solidFill>
                  <a:schemeClr val="tx1"/>
                </a:solidFill>
                <a:effectLst/>
                <a:latin typeface="+mn-lt"/>
                <a:ea typeface="+mn-ea"/>
                <a:cs typeface="+mn-cs"/>
              </a:rPr>
              <a:t>. You must artificially inject "misery" or extreme challenges back into your life/system to keep the hunger alive before the market forces it upon you</a:t>
            </a:r>
          </a:p>
        </p:txBody>
      </p:sp>
      <p:sp>
        <p:nvSpPr>
          <p:cNvPr id="4" name="Slide Number Placeholder 3"/>
          <p:cNvSpPr>
            <a:spLocks noGrp="1"/>
          </p:cNvSpPr>
          <p:nvPr>
            <p:ph type="sldNum" sz="quarter" idx="5"/>
          </p:nvPr>
        </p:nvSpPr>
        <p:spPr/>
        <p:txBody>
          <a:bodyPr/>
          <a:lstStyle/>
          <a:p>
            <a:fld id="{A9752513-CC0B-4CBC-A2D9-F9BAABB35336}" type="slidenum">
              <a:rPr lang="en-US" smtClean="0"/>
              <a:t>3</a:t>
            </a:fld>
            <a:endParaRPr lang="en-US"/>
          </a:p>
        </p:txBody>
      </p:sp>
    </p:spTree>
    <p:extLst>
      <p:ext uri="{BB962C8B-B14F-4D97-AF65-F5344CB8AC3E}">
        <p14:creationId xmlns:p14="http://schemas.microsoft.com/office/powerpoint/2010/main" val="901504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Venture capital requires radical humility regarding your actual role. VCs are strictly in the </a:t>
            </a:r>
            <a:r>
              <a:rPr lang="en-US" sz="1200" b="1" kern="1200" dirty="0">
                <a:solidFill>
                  <a:schemeClr val="tx1"/>
                </a:solidFill>
                <a:effectLst/>
                <a:latin typeface="+mn-lt"/>
                <a:ea typeface="+mn-ea"/>
                <a:cs typeface="+mn-cs"/>
              </a:rPr>
              <a:t>service business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The founder holds the "0-to-1 Black Magic"—the product vision, domain magic, and the core soul of the company. </a:t>
            </a:r>
          </a:p>
          <a:p>
            <a:pPr lvl="0"/>
            <a:r>
              <a:rPr lang="en-US" sz="1200" kern="1200" dirty="0">
                <a:solidFill>
                  <a:schemeClr val="tx1"/>
                </a:solidFill>
                <a:effectLst/>
                <a:latin typeface="+mn-lt"/>
                <a:ea typeface="+mn-ea"/>
                <a:cs typeface="+mn-cs"/>
              </a:rPr>
              <a:t>Doug is explicit: </a:t>
            </a:r>
            <a:r>
              <a:rPr lang="en-US" sz="1200" i="1" kern="1200" dirty="0">
                <a:solidFill>
                  <a:schemeClr val="tx1"/>
                </a:solidFill>
                <a:effectLst/>
                <a:latin typeface="+mn-lt"/>
                <a:ea typeface="+mn-ea"/>
                <a:cs typeface="+mn-cs"/>
              </a:rPr>
              <a:t>"If a founder relies on me to shape 10% to 20% of their product, we are in deep fucking trouble."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 great VC provides </a:t>
            </a:r>
            <a:r>
              <a:rPr lang="en-US" sz="1200" b="1" kern="1200" dirty="0">
                <a:solidFill>
                  <a:schemeClr val="tx1"/>
                </a:solidFill>
                <a:effectLst/>
                <a:latin typeface="+mn-lt"/>
                <a:ea typeface="+mn-ea"/>
                <a:cs typeface="+mn-cs"/>
              </a:rPr>
              <a:t>Business Scaffolding</a:t>
            </a:r>
            <a:r>
              <a:rPr lang="en-US" sz="1200" kern="1200" dirty="0">
                <a:solidFill>
                  <a:schemeClr val="tx1"/>
                </a:solidFill>
                <a:effectLst/>
                <a:latin typeface="+mn-lt"/>
                <a:ea typeface="+mn-ea"/>
                <a:cs typeface="+mn-cs"/>
              </a:rPr>
              <a:t>: how to sell shares instead of just products, demand generation, GTM scaling, accounting, and helping recruit the first 10 mission-critical engineers. </a:t>
            </a:r>
          </a:p>
          <a:p>
            <a:pPr lvl="0"/>
            <a:r>
              <a:rPr lang="en-US" sz="1200" kern="1200" dirty="0">
                <a:solidFill>
                  <a:schemeClr val="tx1"/>
                </a:solidFill>
                <a:effectLst/>
                <a:latin typeface="+mn-lt"/>
                <a:ea typeface="+mn-ea"/>
                <a:cs typeface="+mn-cs"/>
              </a:rPr>
              <a:t>Learn your lane: preserve the founder as the soul of the business, while you build the surrounding organizational muscle. </a:t>
            </a:r>
          </a:p>
        </p:txBody>
      </p:sp>
      <p:sp>
        <p:nvSpPr>
          <p:cNvPr id="4" name="Slide Number Placeholder 3"/>
          <p:cNvSpPr>
            <a:spLocks noGrp="1"/>
          </p:cNvSpPr>
          <p:nvPr>
            <p:ph type="sldNum" sz="quarter" idx="5"/>
          </p:nvPr>
        </p:nvSpPr>
        <p:spPr/>
        <p:txBody>
          <a:bodyPr/>
          <a:lstStyle/>
          <a:p>
            <a:fld id="{A9752513-CC0B-4CBC-A2D9-F9BAABB35336}" type="slidenum">
              <a:rPr lang="en-US" smtClean="0"/>
              <a:t>4</a:t>
            </a:fld>
            <a:endParaRPr lang="en-US"/>
          </a:p>
        </p:txBody>
      </p:sp>
    </p:spTree>
    <p:extLst>
      <p:ext uri="{BB962C8B-B14F-4D97-AF65-F5344CB8AC3E}">
        <p14:creationId xmlns:p14="http://schemas.microsoft.com/office/powerpoint/2010/main" val="912073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Doug spent decades sitting on cybersecurity and fintech boards despite having zero technical background in those fields. His unfair advantage is what he calls </a:t>
            </a:r>
            <a:r>
              <a:rPr lang="en-US" sz="1200" b="1" kern="1200" dirty="0">
                <a:solidFill>
                  <a:schemeClr val="tx1"/>
                </a:solidFill>
                <a:effectLst/>
                <a:latin typeface="+mn-lt"/>
                <a:ea typeface="+mn-ea"/>
                <a:cs typeface="+mn-cs"/>
              </a:rPr>
              <a:t>"The Sniffer"</a:t>
            </a:r>
            <a:r>
              <a:rPr lang="en-US" sz="1200" kern="1200" dirty="0">
                <a:solidFill>
                  <a:schemeClr val="tx1"/>
                </a:solidFill>
                <a:effectLst/>
                <a:latin typeface="+mn-lt"/>
                <a:ea typeface="+mn-ea"/>
                <a:cs typeface="+mn-cs"/>
              </a:rPr>
              <a:t>—a hyper-attuned emotional intelligence (EQ) for human dynamics. </a:t>
            </a:r>
          </a:p>
          <a:p>
            <a:pPr lvl="0"/>
            <a:r>
              <a:rPr lang="en-US" sz="1200" kern="1200" dirty="0">
                <a:solidFill>
                  <a:schemeClr val="tx1"/>
                </a:solidFill>
                <a:effectLst/>
                <a:latin typeface="+mn-lt"/>
                <a:ea typeface="+mn-ea"/>
                <a:cs typeface="+mn-cs"/>
              </a:rPr>
              <a:t>Three Key Signals of The Sniffer: </a:t>
            </a:r>
          </a:p>
          <a:p>
            <a:pPr marL="228600" lvl="0" indent="-228600">
              <a:buFont typeface="+mj-lt"/>
              <a:buAutoNum type="arabicPeriod"/>
            </a:pPr>
            <a:r>
              <a:rPr lang="en-US" sz="1200" b="1" kern="1200" dirty="0">
                <a:solidFill>
                  <a:schemeClr val="tx1"/>
                </a:solidFill>
                <a:effectLst/>
                <a:latin typeface="+mn-lt"/>
                <a:ea typeface="+mn-ea"/>
                <a:cs typeface="+mn-cs"/>
              </a:rPr>
              <a:t>"I vs. We" Adjectives:</a:t>
            </a:r>
            <a:r>
              <a:rPr lang="en-US" sz="1200" kern="1200" dirty="0">
                <a:solidFill>
                  <a:schemeClr val="tx1"/>
                </a:solidFill>
                <a:effectLst/>
                <a:latin typeface="+mn-lt"/>
                <a:ea typeface="+mn-ea"/>
                <a:cs typeface="+mn-cs"/>
              </a:rPr>
              <a:t> Listening closely to language. Does the founder say "I built this, I sold this" (egocentric) or "We achieved this"? </a:t>
            </a:r>
          </a:p>
          <a:p>
            <a:pPr marL="228600" lvl="0" indent="-228600">
              <a:buFont typeface="+mj-lt"/>
              <a:buAutoNum type="arabicPeriod"/>
            </a:pPr>
            <a:r>
              <a:rPr lang="en-US" sz="1200" b="1" kern="1200" dirty="0">
                <a:solidFill>
                  <a:schemeClr val="tx1"/>
                </a:solidFill>
                <a:effectLst/>
                <a:latin typeface="+mn-lt"/>
                <a:ea typeface="+mn-ea"/>
                <a:cs typeface="+mn-cs"/>
              </a:rPr>
              <a:t>"To/From" Framing:</a:t>
            </a:r>
            <a:r>
              <a:rPr lang="en-US" sz="1200" kern="1200" dirty="0">
                <a:solidFill>
                  <a:schemeClr val="tx1"/>
                </a:solidFill>
                <a:effectLst/>
                <a:latin typeface="+mn-lt"/>
                <a:ea typeface="+mn-ea"/>
                <a:cs typeface="+mn-cs"/>
              </a:rPr>
              <a:t> A lesson learned from Michael Moritz. Memos written as </a:t>
            </a:r>
            <a:r>
              <a:rPr lang="en-US" sz="1200" i="1" kern="1200" dirty="0">
                <a:solidFill>
                  <a:schemeClr val="tx1"/>
                </a:solidFill>
                <a:effectLst/>
                <a:latin typeface="+mn-lt"/>
                <a:ea typeface="+mn-ea"/>
                <a:cs typeface="+mn-cs"/>
              </a:rPr>
              <a:t>To / From</a:t>
            </a:r>
            <a:r>
              <a:rPr lang="en-US" sz="1200" kern="1200" dirty="0">
                <a:solidFill>
                  <a:schemeClr val="tx1"/>
                </a:solidFill>
                <a:effectLst/>
                <a:latin typeface="+mn-lt"/>
                <a:ea typeface="+mn-ea"/>
                <a:cs typeface="+mn-cs"/>
              </a:rPr>
              <a:t> rather than </a:t>
            </a:r>
            <a:r>
              <a:rPr lang="en-US" sz="1200" i="1" kern="1200" dirty="0">
                <a:solidFill>
                  <a:schemeClr val="tx1"/>
                </a:solidFill>
                <a:effectLst/>
                <a:latin typeface="+mn-lt"/>
                <a:ea typeface="+mn-ea"/>
                <a:cs typeface="+mn-cs"/>
              </a:rPr>
              <a:t>From / To</a:t>
            </a:r>
            <a:r>
              <a:rPr lang="en-US" sz="1200" kern="1200" dirty="0">
                <a:solidFill>
                  <a:schemeClr val="tx1"/>
                </a:solidFill>
                <a:effectLst/>
                <a:latin typeface="+mn-lt"/>
                <a:ea typeface="+mn-ea"/>
                <a:cs typeface="+mn-cs"/>
              </a:rPr>
              <a:t> put the recipient first, signaling humility and customer/team focus. </a:t>
            </a:r>
          </a:p>
          <a:p>
            <a:pPr marL="228600" lvl="0" indent="-228600">
              <a:buFont typeface="+mj-lt"/>
              <a:buAutoNum type="arabicPeriod"/>
            </a:pPr>
            <a:r>
              <a:rPr lang="en-US" sz="1200" b="1" kern="1200" dirty="0">
                <a:solidFill>
                  <a:schemeClr val="tx1"/>
                </a:solidFill>
                <a:effectLst/>
                <a:latin typeface="+mn-lt"/>
                <a:ea typeface="+mn-ea"/>
                <a:cs typeface="+mn-cs"/>
              </a:rPr>
              <a:t>Artificial Charm / Opportunism:</a:t>
            </a:r>
            <a:r>
              <a:rPr lang="en-US" sz="1200" kern="1200" dirty="0">
                <a:solidFill>
                  <a:schemeClr val="tx1"/>
                </a:solidFill>
                <a:effectLst/>
                <a:latin typeface="+mn-lt"/>
                <a:ea typeface="+mn-ea"/>
                <a:cs typeface="+mn-cs"/>
              </a:rPr>
              <a:t> Instantly filtering out "chameleons" who shift their opinions based on the last person they spoke to.</a:t>
            </a:r>
          </a:p>
        </p:txBody>
      </p:sp>
      <p:sp>
        <p:nvSpPr>
          <p:cNvPr id="4" name="Slide Number Placeholder 3"/>
          <p:cNvSpPr>
            <a:spLocks noGrp="1"/>
          </p:cNvSpPr>
          <p:nvPr>
            <p:ph type="sldNum" sz="quarter" idx="5"/>
          </p:nvPr>
        </p:nvSpPr>
        <p:spPr/>
        <p:txBody>
          <a:bodyPr/>
          <a:lstStyle/>
          <a:p>
            <a:fld id="{A9752513-CC0B-4CBC-A2D9-F9BAABB35336}" type="slidenum">
              <a:rPr lang="en-US" smtClean="0"/>
              <a:t>5</a:t>
            </a:fld>
            <a:endParaRPr lang="en-US"/>
          </a:p>
        </p:txBody>
      </p:sp>
    </p:spTree>
    <p:extLst>
      <p:ext uri="{BB962C8B-B14F-4D97-AF65-F5344CB8AC3E}">
        <p14:creationId xmlns:p14="http://schemas.microsoft.com/office/powerpoint/2010/main" val="690371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What makes an outlier founder? Sequoia looks for traits that standard corporate environments view negatively: irreverent, stubborn, obsessed "shitheads" who wake up at 3 AM with crystal clarity on a problem. </a:t>
            </a:r>
          </a:p>
          <a:p>
            <a:pPr lvl="0"/>
            <a:r>
              <a:rPr lang="en-US" sz="1200" kern="1200" dirty="0">
                <a:solidFill>
                  <a:schemeClr val="tx1"/>
                </a:solidFill>
                <a:effectLst/>
                <a:latin typeface="+mn-lt"/>
                <a:ea typeface="+mn-ea"/>
                <a:cs typeface="+mn-cs"/>
              </a:rPr>
              <a:t>The Profile Triangle: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Hyper-Competitive:</a:t>
            </a:r>
            <a:r>
              <a:rPr lang="en-US" sz="1200" kern="1200" dirty="0">
                <a:solidFill>
                  <a:schemeClr val="tx1"/>
                </a:solidFill>
                <a:effectLst/>
                <a:latin typeface="+mn-lt"/>
                <a:ea typeface="+mn-ea"/>
                <a:cs typeface="+mn-cs"/>
              </a:rPr>
              <a:t> Willing to walk through walls to win.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Irreverent Outlier:</a:t>
            </a:r>
            <a:r>
              <a:rPr lang="en-US" sz="1200" kern="1200" dirty="0">
                <a:solidFill>
                  <a:schemeClr val="tx1"/>
                </a:solidFill>
                <a:effectLst/>
                <a:latin typeface="+mn-lt"/>
                <a:ea typeface="+mn-ea"/>
                <a:cs typeface="+mn-cs"/>
              </a:rPr>
              <a:t> Ignores conventional wisdom and refuses to bend to consensus.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Heart of Gold &amp; Heart of Lion:</a:t>
            </a:r>
            <a:r>
              <a:rPr lang="en-US" sz="1200" kern="1200" dirty="0">
                <a:solidFill>
                  <a:schemeClr val="tx1"/>
                </a:solidFill>
                <a:effectLst/>
                <a:latin typeface="+mn-lt"/>
                <a:ea typeface="+mn-ea"/>
                <a:cs typeface="+mn-cs"/>
              </a:rPr>
              <a:t> Deeply ethical—especially when doing the right thing is highly inconvenient—combined with ruthless determination. </a:t>
            </a:r>
          </a:p>
          <a:p>
            <a:pPr lvl="0"/>
            <a:r>
              <a:rPr lang="en-US" sz="1200" b="1" kern="1200" dirty="0">
                <a:solidFill>
                  <a:schemeClr val="tx1"/>
                </a:solidFill>
                <a:effectLst/>
                <a:latin typeface="+mn-lt"/>
                <a:ea typeface="+mn-ea"/>
                <a:cs typeface="+mn-cs"/>
              </a:rPr>
              <a:t>Case Study (David Vélez - </a:t>
            </a:r>
            <a:r>
              <a:rPr lang="en-US" sz="1200" b="1" kern="1200" dirty="0" err="1">
                <a:solidFill>
                  <a:schemeClr val="tx1"/>
                </a:solidFill>
                <a:effectLst/>
                <a:latin typeface="+mn-lt"/>
                <a:ea typeface="+mn-ea"/>
                <a:cs typeface="+mn-cs"/>
              </a:rPr>
              <a:t>Nubank</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David was a young Sequoia associate with zero financial services experience and not native to Brazil. Yet he had the heart of a lion and gold. Sequoia seeded him with $1M; </a:t>
            </a:r>
            <a:r>
              <a:rPr lang="en-US" sz="1200" kern="1200" dirty="0" err="1">
                <a:solidFill>
                  <a:schemeClr val="tx1"/>
                </a:solidFill>
                <a:effectLst/>
                <a:latin typeface="+mn-lt"/>
                <a:ea typeface="+mn-ea"/>
                <a:cs typeface="+mn-cs"/>
              </a:rPr>
              <a:t>Nubank</a:t>
            </a:r>
            <a:r>
              <a:rPr lang="en-US" sz="1200" kern="1200" dirty="0">
                <a:solidFill>
                  <a:schemeClr val="tx1"/>
                </a:solidFill>
                <a:effectLst/>
                <a:latin typeface="+mn-lt"/>
                <a:ea typeface="+mn-ea"/>
                <a:cs typeface="+mn-cs"/>
              </a:rPr>
              <a:t> grew into a $60B+ public powerhouse.</a:t>
            </a:r>
          </a:p>
        </p:txBody>
      </p:sp>
      <p:sp>
        <p:nvSpPr>
          <p:cNvPr id="4" name="Slide Number Placeholder 3"/>
          <p:cNvSpPr>
            <a:spLocks noGrp="1"/>
          </p:cNvSpPr>
          <p:nvPr>
            <p:ph type="sldNum" sz="quarter" idx="5"/>
          </p:nvPr>
        </p:nvSpPr>
        <p:spPr/>
        <p:txBody>
          <a:bodyPr/>
          <a:lstStyle/>
          <a:p>
            <a:fld id="{A9752513-CC0B-4CBC-A2D9-F9BAABB35336}" type="slidenum">
              <a:rPr lang="en-US" smtClean="0"/>
              <a:t>6</a:t>
            </a:fld>
            <a:endParaRPr lang="en-US"/>
          </a:p>
        </p:txBody>
      </p:sp>
    </p:spTree>
    <p:extLst>
      <p:ext uri="{BB962C8B-B14F-4D97-AF65-F5344CB8AC3E}">
        <p14:creationId xmlns:p14="http://schemas.microsoft.com/office/powerpoint/2010/main" val="2340348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Early in venture, you evaluate hundreds of decent businesses that can return 2x or 3x. Doug filters those out entirely. The goal of top-tier VC is solely finding 100x structural outliers. </a:t>
            </a:r>
          </a:p>
          <a:p>
            <a:pPr lvl="0"/>
            <a:r>
              <a:rPr lang="en-US" sz="1200" kern="1200" dirty="0">
                <a:solidFill>
                  <a:schemeClr val="tx1"/>
                </a:solidFill>
                <a:effectLst/>
                <a:latin typeface="+mn-lt"/>
                <a:ea typeface="+mn-ea"/>
                <a:cs typeface="+mn-cs"/>
              </a:rPr>
              <a:t>The 3-Step Heuristic Filter: </a:t>
            </a:r>
          </a:p>
          <a:p>
            <a:pPr marL="228600" lvl="0" indent="-228600">
              <a:buFont typeface="+mj-lt"/>
              <a:buAutoNum type="arabicPeriod"/>
            </a:pPr>
            <a:r>
              <a:rPr lang="en-US" sz="1200" b="1" kern="1200" dirty="0">
                <a:solidFill>
                  <a:schemeClr val="tx1"/>
                </a:solidFill>
                <a:effectLst/>
                <a:latin typeface="+mn-lt"/>
                <a:ea typeface="+mn-ea"/>
                <a:cs typeface="+mn-cs"/>
              </a:rPr>
              <a:t>The Quality Test: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"Would I put my own kids' money into this?"</a:t>
            </a:r>
            <a:r>
              <a:rPr lang="en-US" sz="1200" kern="1200" dirty="0">
                <a:solidFill>
                  <a:schemeClr val="tx1"/>
                </a:solidFill>
                <a:effectLst/>
                <a:latin typeface="+mn-lt"/>
                <a:ea typeface="+mn-ea"/>
                <a:cs typeface="+mn-cs"/>
              </a:rPr>
              <a:t> (Evaluates core business quality/integrity). </a:t>
            </a:r>
          </a:p>
          <a:p>
            <a:pPr marL="228600" lvl="0" indent="-228600">
              <a:buFont typeface="+mj-lt"/>
              <a:buAutoNum type="arabicPeriod"/>
            </a:pPr>
            <a:r>
              <a:rPr lang="en-US" sz="1200" b="1" kern="1200" dirty="0">
                <a:solidFill>
                  <a:schemeClr val="tx1"/>
                </a:solidFill>
                <a:effectLst/>
                <a:latin typeface="+mn-lt"/>
                <a:ea typeface="+mn-ea"/>
                <a:cs typeface="+mn-cs"/>
              </a:rPr>
              <a:t>The Scarcity Test: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"If I only get to make 20 investments in my entire lifetime, is this one of them?"</a:t>
            </a:r>
            <a:r>
              <a:rPr lang="en-US" sz="1200" kern="1200" dirty="0">
                <a:solidFill>
                  <a:schemeClr val="tx1"/>
                </a:solidFill>
                <a:effectLst/>
                <a:latin typeface="+mn-lt"/>
                <a:ea typeface="+mn-ea"/>
                <a:cs typeface="+mn-cs"/>
              </a:rPr>
              <a:t> (Raises the bar of selectivity). </a:t>
            </a:r>
          </a:p>
          <a:p>
            <a:pPr marL="228600" lvl="0" indent="-228600">
              <a:buFont typeface="+mj-lt"/>
              <a:buAutoNum type="arabicPeriod"/>
            </a:pPr>
            <a:r>
              <a:rPr lang="en-US" sz="1200" b="1" kern="1200" dirty="0">
                <a:solidFill>
                  <a:schemeClr val="tx1"/>
                </a:solidFill>
                <a:effectLst/>
                <a:latin typeface="+mn-lt"/>
                <a:ea typeface="+mn-ea"/>
                <a:cs typeface="+mn-cs"/>
              </a:rPr>
              <a:t>The Scale Test: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"Can this single investment return the entire fund?"</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an opportunity fails any single layer, walk away. </a:t>
            </a:r>
          </a:p>
        </p:txBody>
      </p:sp>
      <p:sp>
        <p:nvSpPr>
          <p:cNvPr id="4" name="Slide Number Placeholder 3"/>
          <p:cNvSpPr>
            <a:spLocks noGrp="1"/>
          </p:cNvSpPr>
          <p:nvPr>
            <p:ph type="sldNum" sz="quarter" idx="5"/>
          </p:nvPr>
        </p:nvSpPr>
        <p:spPr/>
        <p:txBody>
          <a:bodyPr/>
          <a:lstStyle/>
          <a:p>
            <a:fld id="{A9752513-CC0B-4CBC-A2D9-F9BAABB35336}" type="slidenum">
              <a:rPr lang="en-US" smtClean="0"/>
              <a:t>7</a:t>
            </a:fld>
            <a:endParaRPr lang="en-US"/>
          </a:p>
        </p:txBody>
      </p:sp>
    </p:spTree>
    <p:extLst>
      <p:ext uri="{BB962C8B-B14F-4D97-AF65-F5344CB8AC3E}">
        <p14:creationId xmlns:p14="http://schemas.microsoft.com/office/powerpoint/2010/main" val="2994620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Doug admits that virtually every elite venture capitalist makes the exact same catastrophic mistake: </a:t>
            </a:r>
            <a:r>
              <a:rPr lang="en-US" sz="1200" b="1" kern="1200" dirty="0">
                <a:solidFill>
                  <a:schemeClr val="tx1"/>
                </a:solidFill>
                <a:effectLst/>
                <a:latin typeface="+mn-lt"/>
                <a:ea typeface="+mn-ea"/>
                <a:cs typeface="+mn-cs"/>
              </a:rPr>
              <a:t>selling winners prematurely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Math of the Hold:</a:t>
            </a:r>
            <a:r>
              <a:rPr lang="en-US" sz="1200" kern="1200" dirty="0">
                <a:solidFill>
                  <a:schemeClr val="tx1"/>
                </a:solidFill>
                <a:effectLst/>
                <a:latin typeface="+mn-lt"/>
                <a:ea typeface="+mn-ea"/>
                <a:cs typeface="+mn-cs"/>
              </a:rPr>
              <a:t> Category-defining companies compound exponentially post-IPO. A $5B gain allowed to compound across 15–20 years turns into $50B+. </a:t>
            </a:r>
          </a:p>
          <a:p>
            <a:pPr lvl="0"/>
            <a:r>
              <a:rPr lang="en-US" sz="1200" kern="1200" dirty="0">
                <a:solidFill>
                  <a:schemeClr val="tx1"/>
                </a:solidFill>
                <a:effectLst/>
                <a:latin typeface="+mn-lt"/>
                <a:ea typeface="+mn-ea"/>
                <a:cs typeface="+mn-cs"/>
              </a:rPr>
              <a:t>The Graveyard of Missed Billions: Sequoia sold its 25% stake in Cisco Systems for $90M cash—a stake later worth $100B+. They distributed ServiceNow early, leaving 10x upside on the table. </a:t>
            </a:r>
          </a:p>
          <a:p>
            <a:pPr lvl="0"/>
            <a:r>
              <a:rPr lang="en-US" sz="1200" b="1" kern="1200" dirty="0">
                <a:solidFill>
                  <a:schemeClr val="tx1"/>
                </a:solidFill>
                <a:effectLst/>
                <a:latin typeface="+mn-lt"/>
                <a:ea typeface="+mn-ea"/>
                <a:cs typeface="+mn-cs"/>
              </a:rPr>
              <a:t>The Core Rule:</a:t>
            </a:r>
            <a:r>
              <a:rPr lang="en-US" sz="1200" kern="1200" dirty="0">
                <a:solidFill>
                  <a:schemeClr val="tx1"/>
                </a:solidFill>
                <a:effectLst/>
                <a:latin typeface="+mn-lt"/>
                <a:ea typeface="+mn-ea"/>
                <a:cs typeface="+mn-cs"/>
              </a:rPr>
              <a:t> If a company possesses a truly </a:t>
            </a:r>
            <a:r>
              <a:rPr lang="en-US" sz="1200" i="1" kern="1200" dirty="0">
                <a:solidFill>
                  <a:schemeClr val="tx1"/>
                </a:solidFill>
                <a:effectLst/>
                <a:latin typeface="+mn-lt"/>
                <a:ea typeface="+mn-ea"/>
                <a:cs typeface="+mn-cs"/>
              </a:rPr>
              <a:t>unbounded market</a:t>
            </a:r>
            <a:r>
              <a:rPr lang="en-US" sz="1200" kern="1200" dirty="0">
                <a:solidFill>
                  <a:schemeClr val="tx1"/>
                </a:solidFill>
                <a:effectLst/>
                <a:latin typeface="+mn-lt"/>
                <a:ea typeface="+mn-ea"/>
                <a:cs typeface="+mn-cs"/>
              </a:rPr>
              <a:t> and a </a:t>
            </a:r>
            <a:r>
              <a:rPr lang="en-US" sz="1200" kern="1200" dirty="0" err="1">
                <a:solidFill>
                  <a:schemeClr val="tx1"/>
                </a:solidFill>
                <a:effectLst/>
                <a:latin typeface="+mn-lt"/>
                <a:ea typeface="+mn-ea"/>
                <a:cs typeface="+mn-cs"/>
              </a:rPr>
              <a:t>refounding</a:t>
            </a:r>
            <a:r>
              <a:rPr lang="en-US" sz="1200" kern="1200" dirty="0">
                <a:solidFill>
                  <a:schemeClr val="tx1"/>
                </a:solidFill>
                <a:effectLst/>
                <a:latin typeface="+mn-lt"/>
                <a:ea typeface="+mn-ea"/>
                <a:cs typeface="+mn-cs"/>
              </a:rPr>
              <a:t> mindset, </a:t>
            </a:r>
            <a:r>
              <a:rPr lang="en-US" sz="1200" b="1" kern="1200" dirty="0">
                <a:solidFill>
                  <a:schemeClr val="tx1"/>
                </a:solidFill>
                <a:effectLst/>
                <a:latin typeface="+mn-lt"/>
                <a:ea typeface="+mn-ea"/>
                <a:cs typeface="+mn-cs"/>
              </a:rPr>
              <a:t>never sell a single share</a:t>
            </a:r>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A9752513-CC0B-4CBC-A2D9-F9BAABB35336}" type="slidenum">
              <a:rPr lang="en-US" smtClean="0"/>
              <a:t>8</a:t>
            </a:fld>
            <a:endParaRPr lang="en-US"/>
          </a:p>
        </p:txBody>
      </p:sp>
    </p:spTree>
    <p:extLst>
      <p:ext uri="{BB962C8B-B14F-4D97-AF65-F5344CB8AC3E}">
        <p14:creationId xmlns:p14="http://schemas.microsoft.com/office/powerpoint/2010/main" val="2399239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Board construction is often treated casually, yet a board is like a lifelong marriage. </a:t>
            </a:r>
          </a:p>
          <a:p>
            <a:pPr lvl="0"/>
            <a:r>
              <a:rPr lang="en-US" sz="1200" kern="1200" dirty="0">
                <a:solidFill>
                  <a:schemeClr val="tx1"/>
                </a:solidFill>
                <a:effectLst/>
                <a:latin typeface="+mn-lt"/>
                <a:ea typeface="+mn-ea"/>
                <a:cs typeface="+mn-cs"/>
              </a:rPr>
              <a:t>Doug breaks down the venture board ecosystem across two axes: </a:t>
            </a:r>
            <a:r>
              <a:rPr lang="en-US" sz="1200" b="1" kern="1200" dirty="0">
                <a:solidFill>
                  <a:schemeClr val="tx1"/>
                </a:solidFill>
                <a:effectLst/>
                <a:latin typeface="+mn-lt"/>
                <a:ea typeface="+mn-ea"/>
                <a:cs typeface="+mn-cs"/>
              </a:rPr>
              <a:t>Competence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Independence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30% Incompetent:</a:t>
            </a:r>
            <a:r>
              <a:rPr lang="en-US" sz="1200" kern="1200" dirty="0">
                <a:solidFill>
                  <a:schemeClr val="tx1"/>
                </a:solidFill>
                <a:effectLst/>
                <a:latin typeface="+mn-lt"/>
                <a:ea typeface="+mn-ea"/>
                <a:cs typeface="+mn-cs"/>
              </a:rPr>
              <a:t> Completely clueless operators who do direct, active damage.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40% "No-Ops" / </a:t>
            </a:r>
            <a:r>
              <a:rPr lang="en-US" sz="1200" b="1" kern="1200" dirty="0" err="1">
                <a:solidFill>
                  <a:schemeClr val="tx1"/>
                </a:solidFill>
                <a:effectLst/>
                <a:latin typeface="+mn-lt"/>
                <a:ea typeface="+mn-ea"/>
                <a:cs typeface="+mn-cs"/>
              </a:rPr>
              <a:t>Nodders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They do no immediate damage, but add zero value. They sit on the board as "shadows" just trying to cover their ass with their VC firm partnership.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20–30% Friction-Makers / Value-Add:</a:t>
            </a:r>
            <a:r>
              <a:rPr lang="en-US" sz="1200" kern="1200" dirty="0">
                <a:solidFill>
                  <a:schemeClr val="tx1"/>
                </a:solidFill>
                <a:effectLst/>
                <a:latin typeface="+mn-lt"/>
                <a:ea typeface="+mn-ea"/>
                <a:cs typeface="+mn-cs"/>
              </a:rPr>
              <a:t> The rare operators with deep domain expertise who move the needle through direct, uncomfortable truth-telling. </a:t>
            </a:r>
          </a:p>
          <a:p>
            <a:pPr lvl="0"/>
            <a:r>
              <a:rPr lang="en-US" sz="1200" b="1" kern="1200" dirty="0">
                <a:solidFill>
                  <a:schemeClr val="tx1"/>
                </a:solidFill>
                <a:effectLst/>
                <a:latin typeface="+mn-lt"/>
                <a:ea typeface="+mn-ea"/>
                <a:cs typeface="+mn-cs"/>
              </a:rPr>
              <a:t>Rule of Thumb:</a:t>
            </a:r>
            <a:r>
              <a:rPr lang="en-US" sz="1200" kern="1200" dirty="0">
                <a:solidFill>
                  <a:schemeClr val="tx1"/>
                </a:solidFill>
                <a:effectLst/>
                <a:latin typeface="+mn-lt"/>
                <a:ea typeface="+mn-ea"/>
                <a:cs typeface="+mn-cs"/>
              </a:rPr>
              <a:t> Prioritize complementary, slightly uncomfortable domain expertise over yes-men who just echo your background. </a:t>
            </a:r>
          </a:p>
        </p:txBody>
      </p:sp>
      <p:sp>
        <p:nvSpPr>
          <p:cNvPr id="4" name="Slide Number Placeholder 3"/>
          <p:cNvSpPr>
            <a:spLocks noGrp="1"/>
          </p:cNvSpPr>
          <p:nvPr>
            <p:ph type="sldNum" sz="quarter" idx="5"/>
          </p:nvPr>
        </p:nvSpPr>
        <p:spPr/>
        <p:txBody>
          <a:bodyPr/>
          <a:lstStyle/>
          <a:p>
            <a:fld id="{A9752513-CC0B-4CBC-A2D9-F9BAABB35336}" type="slidenum">
              <a:rPr lang="en-US" smtClean="0"/>
              <a:t>9</a:t>
            </a:fld>
            <a:endParaRPr lang="en-US"/>
          </a:p>
        </p:txBody>
      </p:sp>
    </p:spTree>
    <p:extLst>
      <p:ext uri="{BB962C8B-B14F-4D97-AF65-F5344CB8AC3E}">
        <p14:creationId xmlns:p14="http://schemas.microsoft.com/office/powerpoint/2010/main" val="1228708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Great partnerships and boardrooms are not echo chambers. High performance demands forceful, unvarnished truth. </a:t>
            </a:r>
          </a:p>
          <a:p>
            <a:pPr lvl="0"/>
            <a:r>
              <a:rPr lang="en-US" sz="1200" kern="1200" dirty="0">
                <a:solidFill>
                  <a:schemeClr val="tx1"/>
                </a:solidFill>
                <a:effectLst/>
                <a:latin typeface="+mn-lt"/>
                <a:ea typeface="+mn-ea"/>
                <a:cs typeface="+mn-cs"/>
              </a:rPr>
              <a:t>The Sequoia De-escalation Protocol: </a:t>
            </a:r>
          </a:p>
          <a:p>
            <a:pPr marL="228600" lvl="0" indent="-228600">
              <a:buFont typeface="+mj-lt"/>
              <a:buAutoNum type="arabicPeriod"/>
            </a:pPr>
            <a:r>
              <a:rPr lang="en-US" sz="1200" b="1" kern="1200" dirty="0">
                <a:solidFill>
                  <a:schemeClr val="tx1"/>
                </a:solidFill>
                <a:effectLst/>
                <a:latin typeface="+mn-lt"/>
                <a:ea typeface="+mn-ea"/>
                <a:cs typeface="+mn-cs"/>
              </a:rPr>
              <a:t>Argue Forcefully:</a:t>
            </a:r>
            <a:r>
              <a:rPr lang="en-US" sz="1200" kern="1200" dirty="0">
                <a:solidFill>
                  <a:schemeClr val="tx1"/>
                </a:solidFill>
                <a:effectLst/>
                <a:latin typeface="+mn-lt"/>
                <a:ea typeface="+mn-ea"/>
                <a:cs typeface="+mn-cs"/>
              </a:rPr>
              <a:t> Put real, uncomfortable issues on the table. No sugarcoating or corporate diplomacy. </a:t>
            </a:r>
          </a:p>
          <a:p>
            <a:pPr marL="228600" lvl="0" indent="-228600">
              <a:buFont typeface="+mj-lt"/>
              <a:buAutoNum type="arabicPeriod"/>
            </a:pPr>
            <a:r>
              <a:rPr lang="en-US" sz="1200" b="1" kern="1200" dirty="0">
                <a:solidFill>
                  <a:schemeClr val="tx1"/>
                </a:solidFill>
                <a:effectLst/>
                <a:latin typeface="+mn-lt"/>
                <a:ea typeface="+mn-ea"/>
                <a:cs typeface="+mn-cs"/>
              </a:rPr>
              <a:t>The 10-Minute Walk:</a:t>
            </a:r>
            <a:r>
              <a:rPr lang="en-US" sz="1200" kern="1200" dirty="0">
                <a:solidFill>
                  <a:schemeClr val="tx1"/>
                </a:solidFill>
                <a:effectLst/>
                <a:latin typeface="+mn-lt"/>
                <a:ea typeface="+mn-ea"/>
                <a:cs typeface="+mn-cs"/>
              </a:rPr>
              <a:t> When arguments overheat, pause the room. Everyone steps outside for 5–10 minutes. </a:t>
            </a:r>
          </a:p>
          <a:p>
            <a:pPr marL="228600" lvl="0" indent="-228600">
              <a:buFont typeface="+mj-lt"/>
              <a:buAutoNum type="arabicPeriod"/>
            </a:pPr>
            <a:r>
              <a:rPr lang="en-US" sz="1200" b="1" kern="1200" dirty="0">
                <a:solidFill>
                  <a:schemeClr val="tx1"/>
                </a:solidFill>
                <a:effectLst/>
                <a:latin typeface="+mn-lt"/>
                <a:ea typeface="+mn-ea"/>
                <a:cs typeface="+mn-cs"/>
              </a:rPr>
              <a:t>Cooling by 10 Degrees:</a:t>
            </a:r>
            <a:r>
              <a:rPr lang="en-US" sz="1200" kern="1200" dirty="0">
                <a:solidFill>
                  <a:schemeClr val="tx1"/>
                </a:solidFill>
                <a:effectLst/>
                <a:latin typeface="+mn-lt"/>
                <a:ea typeface="+mn-ea"/>
                <a:cs typeface="+mn-cs"/>
              </a:rPr>
              <a:t> Let emotional heat dissipate. Re-enter the room focused strictly on logic. </a:t>
            </a:r>
          </a:p>
          <a:p>
            <a:pPr marL="228600" lvl="0" indent="-228600">
              <a:buFont typeface="+mj-lt"/>
              <a:buAutoNum type="arabicPeriod"/>
            </a:pPr>
            <a:r>
              <a:rPr lang="en-US" sz="1200" b="1" kern="1200" dirty="0">
                <a:solidFill>
                  <a:schemeClr val="tx1"/>
                </a:solidFill>
                <a:effectLst/>
                <a:latin typeface="+mn-lt"/>
                <a:ea typeface="+mn-ea"/>
                <a:cs typeface="+mn-cs"/>
              </a:rPr>
              <a:t>Decide &amp; Unify:</a:t>
            </a:r>
            <a:r>
              <a:rPr lang="en-US" sz="1200" kern="1200" dirty="0">
                <a:solidFill>
                  <a:schemeClr val="tx1"/>
                </a:solidFill>
                <a:effectLst/>
                <a:latin typeface="+mn-lt"/>
                <a:ea typeface="+mn-ea"/>
                <a:cs typeface="+mn-cs"/>
              </a:rPr>
              <a:t> Make the firm call. Once you walk out that door, everyone is 100% unified with zero lingering resentment. </a:t>
            </a:r>
          </a:p>
        </p:txBody>
      </p:sp>
      <p:sp>
        <p:nvSpPr>
          <p:cNvPr id="4" name="Slide Number Placeholder 3"/>
          <p:cNvSpPr>
            <a:spLocks noGrp="1"/>
          </p:cNvSpPr>
          <p:nvPr>
            <p:ph type="sldNum" sz="quarter" idx="5"/>
          </p:nvPr>
        </p:nvSpPr>
        <p:spPr/>
        <p:txBody>
          <a:bodyPr/>
          <a:lstStyle/>
          <a:p>
            <a:fld id="{A9752513-CC0B-4CBC-A2D9-F9BAABB35336}" type="slidenum">
              <a:rPr lang="en-US" smtClean="0"/>
              <a:t>10</a:t>
            </a:fld>
            <a:endParaRPr lang="en-US"/>
          </a:p>
        </p:txBody>
      </p:sp>
    </p:spTree>
    <p:extLst>
      <p:ext uri="{BB962C8B-B14F-4D97-AF65-F5344CB8AC3E}">
        <p14:creationId xmlns:p14="http://schemas.microsoft.com/office/powerpoint/2010/main" val="2265236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Doug wrote Sequoia’s institutional tenets, he put Performance as #1 and Teamwork as #2. He later realized he forgot the "Zeroth Tenet": </a:t>
            </a:r>
            <a:r>
              <a:rPr lang="en-US" sz="1200" b="1" kern="1200" dirty="0">
                <a:solidFill>
                  <a:schemeClr val="tx1"/>
                </a:solidFill>
                <a:effectLst/>
                <a:latin typeface="+mn-lt"/>
                <a:ea typeface="+mn-ea"/>
                <a:cs typeface="+mn-cs"/>
              </a:rPr>
              <a:t>TRUST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Trust acts as the ultimate economic accelerant—it is the "grease" that allows organizations to make moves at lightspeed. </a:t>
            </a:r>
          </a:p>
          <a:p>
            <a:pPr lvl="0"/>
            <a:r>
              <a:rPr lang="en-US" sz="1200" kern="1200" dirty="0">
                <a:solidFill>
                  <a:schemeClr val="tx1"/>
                </a:solidFill>
                <a:effectLst/>
                <a:latin typeface="+mn-lt"/>
                <a:ea typeface="+mn-ea"/>
                <a:cs typeface="+mn-cs"/>
              </a:rPr>
              <a:t>The Trust Equation: Trust requires </a:t>
            </a:r>
            <a:r>
              <a:rPr lang="en-US" sz="1200" i="1" kern="1200" dirty="0">
                <a:solidFill>
                  <a:schemeClr val="tx1"/>
                </a:solidFill>
                <a:effectLst/>
                <a:latin typeface="+mn-lt"/>
                <a:ea typeface="+mn-ea"/>
                <a:cs typeface="+mn-cs"/>
              </a:rPr>
              <a:t>both</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Intent/Ethics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Skill/Knowledge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you trust someone’s ethics but think they lack skill, you can’t trust their execution.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you respect their skill but distrust their intent, you run away immediately. </a:t>
            </a:r>
          </a:p>
          <a:p>
            <a:pPr lvl="0"/>
            <a:r>
              <a:rPr lang="en-US" sz="1200" kern="1200" dirty="0">
                <a:solidFill>
                  <a:schemeClr val="tx1"/>
                </a:solidFill>
                <a:effectLst/>
                <a:latin typeface="+mn-lt"/>
                <a:ea typeface="+mn-ea"/>
                <a:cs typeface="+mn-cs"/>
              </a:rPr>
              <a:t>Absolute trust enables seamless, hand-shake-level execution without bureaucracy. </a:t>
            </a:r>
          </a:p>
        </p:txBody>
      </p:sp>
      <p:sp>
        <p:nvSpPr>
          <p:cNvPr id="4" name="Slide Number Placeholder 3"/>
          <p:cNvSpPr>
            <a:spLocks noGrp="1"/>
          </p:cNvSpPr>
          <p:nvPr>
            <p:ph type="sldNum" sz="quarter" idx="5"/>
          </p:nvPr>
        </p:nvSpPr>
        <p:spPr/>
        <p:txBody>
          <a:bodyPr/>
          <a:lstStyle/>
          <a:p>
            <a:fld id="{A9752513-CC0B-4CBC-A2D9-F9BAABB35336}" type="slidenum">
              <a:rPr lang="en-US" smtClean="0"/>
              <a:t>11</a:t>
            </a:fld>
            <a:endParaRPr lang="en-US"/>
          </a:p>
        </p:txBody>
      </p:sp>
    </p:spTree>
    <p:extLst>
      <p:ext uri="{BB962C8B-B14F-4D97-AF65-F5344CB8AC3E}">
        <p14:creationId xmlns:p14="http://schemas.microsoft.com/office/powerpoint/2010/main" val="1693540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For 26 years leading Sequoia, Doug flipped the traditional leadership model upside down. He repeatedly told his partners: </a:t>
            </a:r>
            <a:r>
              <a:rPr lang="en-US" sz="1200" i="1" kern="1200" dirty="0">
                <a:solidFill>
                  <a:schemeClr val="tx1"/>
                </a:solidFill>
                <a:effectLst/>
                <a:latin typeface="+mn-lt"/>
                <a:ea typeface="+mn-ea"/>
                <a:cs typeface="+mn-cs"/>
              </a:rPr>
              <a:t>"You don't work for me. I work for you."</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The Stakeholder Hierarchy: </a:t>
            </a:r>
          </a:p>
          <a:p>
            <a:pPr marL="228600" lvl="0" indent="-228600">
              <a:buFont typeface="+mj-lt"/>
              <a:buAutoNum type="arabicPeriod"/>
            </a:pPr>
            <a:r>
              <a:rPr lang="en-US" sz="1200" b="1" kern="1200" dirty="0">
                <a:solidFill>
                  <a:schemeClr val="tx1"/>
                </a:solidFill>
                <a:effectLst/>
                <a:latin typeface="+mn-lt"/>
                <a:ea typeface="+mn-ea"/>
                <a:cs typeface="+mn-cs"/>
              </a:rPr>
              <a:t>Founders First:</a:t>
            </a:r>
            <a:r>
              <a:rPr lang="en-US" sz="1200" kern="1200" dirty="0">
                <a:solidFill>
                  <a:schemeClr val="tx1"/>
                </a:solidFill>
                <a:effectLst/>
                <a:latin typeface="+mn-lt"/>
                <a:ea typeface="+mn-ea"/>
                <a:cs typeface="+mn-cs"/>
              </a:rPr>
              <a:t> They are the core engine and soul. </a:t>
            </a:r>
          </a:p>
          <a:p>
            <a:pPr marL="228600" lvl="0" indent="-228600">
              <a:buFont typeface="+mj-lt"/>
              <a:buAutoNum type="arabicPeriod"/>
            </a:pPr>
            <a:r>
              <a:rPr lang="en-US" sz="1200" b="1" kern="1200" dirty="0">
                <a:solidFill>
                  <a:schemeClr val="tx1"/>
                </a:solidFill>
                <a:effectLst/>
                <a:latin typeface="+mn-lt"/>
                <a:ea typeface="+mn-ea"/>
                <a:cs typeface="+mn-cs"/>
              </a:rPr>
              <a:t>LPs (Limited Partners) Second:</a:t>
            </a:r>
            <a:r>
              <a:rPr lang="en-US" sz="1200" kern="1200" dirty="0">
                <a:solidFill>
                  <a:schemeClr val="tx1"/>
                </a:solidFill>
                <a:effectLst/>
                <a:latin typeface="+mn-lt"/>
                <a:ea typeface="+mn-ea"/>
                <a:cs typeface="+mn-cs"/>
              </a:rPr>
              <a:t> 70%+ of Sequoia’s capital comes from non-profits, universities, and charities. </a:t>
            </a:r>
          </a:p>
          <a:p>
            <a:pPr marL="228600" lvl="0" indent="-228600">
              <a:buFont typeface="+mj-lt"/>
              <a:buAutoNum type="arabicPeriod"/>
            </a:pPr>
            <a:r>
              <a:rPr lang="en-US" sz="1200" b="1" kern="1200" dirty="0">
                <a:solidFill>
                  <a:schemeClr val="tx1"/>
                </a:solidFill>
                <a:effectLst/>
                <a:latin typeface="+mn-lt"/>
                <a:ea typeface="+mn-ea"/>
                <a:cs typeface="+mn-cs"/>
              </a:rPr>
              <a:t>The Partnership Third:</a:t>
            </a:r>
            <a:r>
              <a:rPr lang="en-US" sz="1200" kern="1200" dirty="0">
                <a:solidFill>
                  <a:schemeClr val="tx1"/>
                </a:solidFill>
                <a:effectLst/>
                <a:latin typeface="+mn-lt"/>
                <a:ea typeface="+mn-ea"/>
                <a:cs typeface="+mn-cs"/>
              </a:rPr>
              <a:t> Self-interest comes last. </a:t>
            </a:r>
          </a:p>
          <a:p>
            <a:pPr lvl="0"/>
            <a:r>
              <a:rPr lang="en-US" sz="1200" kern="1200" dirty="0">
                <a:solidFill>
                  <a:schemeClr val="tx1"/>
                </a:solidFill>
                <a:effectLst/>
                <a:latin typeface="+mn-lt"/>
                <a:ea typeface="+mn-ea"/>
                <a:cs typeface="+mn-cs"/>
              </a:rPr>
              <a:t>Doing right by founders and honoring your word—even turning down higher buyout offers after signing a term sheet—builds a legendary, generational culture. </a:t>
            </a:r>
          </a:p>
          <a:p>
            <a:endParaRPr lang="en-US" dirty="0"/>
          </a:p>
        </p:txBody>
      </p:sp>
      <p:sp>
        <p:nvSpPr>
          <p:cNvPr id="4" name="Slide Number Placeholder 3"/>
          <p:cNvSpPr>
            <a:spLocks noGrp="1"/>
          </p:cNvSpPr>
          <p:nvPr>
            <p:ph type="sldNum" sz="quarter" idx="5"/>
          </p:nvPr>
        </p:nvSpPr>
        <p:spPr/>
        <p:txBody>
          <a:bodyPr/>
          <a:lstStyle/>
          <a:p>
            <a:fld id="{A9752513-CC0B-4CBC-A2D9-F9BAABB35336}" type="slidenum">
              <a:rPr lang="en-US" smtClean="0"/>
              <a:t>12</a:t>
            </a:fld>
            <a:endParaRPr lang="en-US"/>
          </a:p>
        </p:txBody>
      </p:sp>
    </p:spTree>
    <p:extLst>
      <p:ext uri="{BB962C8B-B14F-4D97-AF65-F5344CB8AC3E}">
        <p14:creationId xmlns:p14="http://schemas.microsoft.com/office/powerpoint/2010/main" val="1573021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Upon returning to Sequoia at age 69, Doug attended a weekly Monday "MIT" (Most Important Thing) meeting. While others reported ongoing tasks, Doug stated plainly: </a:t>
            </a:r>
            <a:r>
              <a:rPr lang="en-US" sz="1200" i="1" kern="1200" dirty="0">
                <a:solidFill>
                  <a:schemeClr val="tx1"/>
                </a:solidFill>
                <a:effectLst/>
                <a:latin typeface="+mn-lt"/>
                <a:ea typeface="+mn-ea"/>
                <a:cs typeface="+mn-cs"/>
              </a:rPr>
              <a:t>"I have zero going on. My MIT is to scrounge for deals."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"Scrounging" means dialing every contact, networking aggressively, and hunting for outlier founders. </a:t>
            </a:r>
          </a:p>
          <a:p>
            <a:pPr lvl="0"/>
            <a:r>
              <a:rPr lang="en-US" sz="1200" b="1" kern="1200" dirty="0">
                <a:solidFill>
                  <a:schemeClr val="tx1"/>
                </a:solidFill>
                <a:effectLst/>
                <a:latin typeface="+mn-lt"/>
                <a:ea typeface="+mn-ea"/>
                <a:cs typeface="+mn-cs"/>
              </a:rPr>
              <a:t>The Challenge:</a:t>
            </a:r>
            <a:r>
              <a:rPr lang="en-US" sz="1200" kern="1200" dirty="0">
                <a:solidFill>
                  <a:schemeClr val="tx1"/>
                </a:solidFill>
                <a:effectLst/>
                <a:latin typeface="+mn-lt"/>
                <a:ea typeface="+mn-ea"/>
                <a:cs typeface="+mn-cs"/>
              </a:rPr>
              <a:t> At 69, Doug’s legacy network isn't naturally full of 23-year-old AI founders. Longevity demands stepping outside comfortable peer groups and hustling with raw, unpretentious energy. </a:t>
            </a:r>
          </a:p>
          <a:p>
            <a:endParaRPr lang="en-US" dirty="0"/>
          </a:p>
        </p:txBody>
      </p:sp>
      <p:sp>
        <p:nvSpPr>
          <p:cNvPr id="4" name="Slide Number Placeholder 3"/>
          <p:cNvSpPr>
            <a:spLocks noGrp="1"/>
          </p:cNvSpPr>
          <p:nvPr>
            <p:ph type="sldNum" sz="quarter" idx="5"/>
          </p:nvPr>
        </p:nvSpPr>
        <p:spPr/>
        <p:txBody>
          <a:bodyPr/>
          <a:lstStyle/>
          <a:p>
            <a:fld id="{A9752513-CC0B-4CBC-A2D9-F9BAABB35336}" type="slidenum">
              <a:rPr lang="en-US" smtClean="0"/>
              <a:t>13</a:t>
            </a:fld>
            <a:endParaRPr lang="en-US"/>
          </a:p>
        </p:txBody>
      </p:sp>
    </p:spTree>
    <p:extLst>
      <p:ext uri="{BB962C8B-B14F-4D97-AF65-F5344CB8AC3E}">
        <p14:creationId xmlns:p14="http://schemas.microsoft.com/office/powerpoint/2010/main" val="4038759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Citing music producer Jimmy Iovine, Doug highlights that every legendary creator or operator has a </a:t>
            </a:r>
            <a:r>
              <a:rPr lang="en-US" sz="1200" b="1" kern="1200" dirty="0">
                <a:solidFill>
                  <a:schemeClr val="tx1"/>
                </a:solidFill>
                <a:effectLst/>
                <a:latin typeface="+mn-lt"/>
                <a:ea typeface="+mn-ea"/>
                <a:cs typeface="+mn-cs"/>
              </a:rPr>
              <a:t>"bend in the pipe"</a:t>
            </a:r>
            <a:r>
              <a:rPr lang="en-US" sz="1200" kern="1200" dirty="0">
                <a:solidFill>
                  <a:schemeClr val="tx1"/>
                </a:solidFill>
                <a:effectLst/>
                <a:latin typeface="+mn-lt"/>
                <a:ea typeface="+mn-ea"/>
                <a:cs typeface="+mn-cs"/>
              </a:rPr>
              <a:t>—a core internal flaw or obsession that drives both their genius and their dysfunction. </a:t>
            </a:r>
          </a:p>
          <a:p>
            <a:pPr lvl="0"/>
            <a:r>
              <a:rPr lang="en-US" sz="1200" kern="1200" dirty="0">
                <a:solidFill>
                  <a:schemeClr val="tx1"/>
                </a:solidFill>
                <a:effectLst/>
                <a:latin typeface="+mn-lt"/>
                <a:ea typeface="+mn-ea"/>
                <a:cs typeface="+mn-cs"/>
              </a:rPr>
              <a:t>Elite founders aren't well-rounded, easygoing people; they are single-mindedly driven, often tortured internally into greatness. </a:t>
            </a:r>
          </a:p>
          <a:p>
            <a:pPr lvl="0"/>
            <a:r>
              <a:rPr lang="en-US" sz="1200" kern="1200" dirty="0">
                <a:solidFill>
                  <a:schemeClr val="tx1"/>
                </a:solidFill>
                <a:effectLst/>
                <a:latin typeface="+mn-lt"/>
                <a:ea typeface="+mn-ea"/>
                <a:cs typeface="+mn-cs"/>
              </a:rPr>
              <a:t>If you look in the mirror every morning and demand more, your team will follow you into the trenches to achieve the impossible.</a:t>
            </a:r>
          </a:p>
          <a:p>
            <a:endParaRPr lang="en-US" dirty="0"/>
          </a:p>
        </p:txBody>
      </p:sp>
      <p:sp>
        <p:nvSpPr>
          <p:cNvPr id="4" name="Slide Number Placeholder 3"/>
          <p:cNvSpPr>
            <a:spLocks noGrp="1"/>
          </p:cNvSpPr>
          <p:nvPr>
            <p:ph type="sldNum" sz="quarter" idx="5"/>
          </p:nvPr>
        </p:nvSpPr>
        <p:spPr/>
        <p:txBody>
          <a:bodyPr/>
          <a:lstStyle/>
          <a:p>
            <a:fld id="{A9752513-CC0B-4CBC-A2D9-F9BAABB35336}" type="slidenum">
              <a:rPr lang="en-US" smtClean="0"/>
              <a:t>14</a:t>
            </a:fld>
            <a:endParaRPr lang="en-US"/>
          </a:p>
        </p:txBody>
      </p:sp>
    </p:spTree>
    <p:extLst>
      <p:ext uri="{BB962C8B-B14F-4D97-AF65-F5344CB8AC3E}">
        <p14:creationId xmlns:p14="http://schemas.microsoft.com/office/powerpoint/2010/main" val="1128786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Speed of execution relies on radical directness. </a:t>
            </a:r>
          </a:p>
          <a:p>
            <a:pPr lvl="0"/>
            <a:r>
              <a:rPr lang="en-US" sz="1200" kern="1200" dirty="0">
                <a:solidFill>
                  <a:schemeClr val="tx1"/>
                </a:solidFill>
                <a:effectLst/>
                <a:latin typeface="+mn-lt"/>
                <a:ea typeface="+mn-ea"/>
                <a:cs typeface="+mn-cs"/>
              </a:rPr>
              <a:t>Doug contrasts Silicon Valley chatter with his direct style: While average managers spend 20–30 minutes in polite preamble on phone calls, Doug’s calls last </a:t>
            </a:r>
            <a:r>
              <a:rPr lang="en-US" sz="1200" b="1" kern="1200" dirty="0">
                <a:solidFill>
                  <a:schemeClr val="tx1"/>
                </a:solidFill>
                <a:effectLst/>
                <a:latin typeface="+mn-lt"/>
                <a:ea typeface="+mn-ea"/>
                <a:cs typeface="+mn-cs"/>
              </a:rPr>
              <a:t>less than 3 minutes</a:t>
            </a:r>
            <a:r>
              <a:rPr lang="en-US" sz="1200" kern="1200" dirty="0">
                <a:solidFill>
                  <a:schemeClr val="tx1"/>
                </a:solidFill>
                <a:effectLst/>
                <a:latin typeface="+mn-lt"/>
                <a:ea typeface="+mn-ea"/>
                <a:cs typeface="+mn-cs"/>
              </a:rPr>
              <a:t>. </a:t>
            </a:r>
          </a:p>
          <a:p>
            <a:pPr lvl="0"/>
            <a:r>
              <a:rPr lang="en-US" sz="1200" i="1" kern="1200" dirty="0">
                <a:solidFill>
                  <a:schemeClr val="tx1"/>
                </a:solidFill>
                <a:effectLst/>
                <a:latin typeface="+mn-lt"/>
                <a:ea typeface="+mn-ea"/>
                <a:cs typeface="+mn-cs"/>
              </a:rPr>
              <a:t>"Hi. What do you need? Got it. Here’s the decision. Done."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Respecting time, cutting administrative fluff, and delivering direct truth accelerates every loop across the company. </a:t>
            </a:r>
          </a:p>
          <a:p>
            <a:endParaRPr lang="en-US" dirty="0"/>
          </a:p>
        </p:txBody>
      </p:sp>
      <p:sp>
        <p:nvSpPr>
          <p:cNvPr id="4" name="Slide Number Placeholder 3"/>
          <p:cNvSpPr>
            <a:spLocks noGrp="1"/>
          </p:cNvSpPr>
          <p:nvPr>
            <p:ph type="sldNum" sz="quarter" idx="5"/>
          </p:nvPr>
        </p:nvSpPr>
        <p:spPr/>
        <p:txBody>
          <a:bodyPr/>
          <a:lstStyle/>
          <a:p>
            <a:fld id="{A9752513-CC0B-4CBC-A2D9-F9BAABB35336}" type="slidenum">
              <a:rPr lang="en-US" smtClean="0"/>
              <a:t>15</a:t>
            </a:fld>
            <a:endParaRPr lang="en-US"/>
          </a:p>
        </p:txBody>
      </p:sp>
    </p:spTree>
    <p:extLst>
      <p:ext uri="{BB962C8B-B14F-4D97-AF65-F5344CB8AC3E}">
        <p14:creationId xmlns:p14="http://schemas.microsoft.com/office/powerpoint/2010/main" val="1961960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summarize the core tenets of </a:t>
            </a:r>
            <a:r>
              <a:rPr lang="en-US" sz="1200" b="1" kern="1200" dirty="0">
                <a:solidFill>
                  <a:schemeClr val="tx1"/>
                </a:solidFill>
                <a:effectLst/>
                <a:latin typeface="+mn-lt"/>
                <a:ea typeface="+mn-ea"/>
                <a:cs typeface="+mn-cs"/>
              </a:rPr>
              <a:t>The Leone Blueprint</a:t>
            </a:r>
            <a:r>
              <a:rPr lang="en-US" sz="1200" kern="1200" dirty="0">
                <a:solidFill>
                  <a:schemeClr val="tx1"/>
                </a:solidFill>
                <a:effectLst/>
                <a:latin typeface="+mn-lt"/>
                <a:ea typeface="+mn-ea"/>
                <a:cs typeface="+mn-cs"/>
              </a:rPr>
              <a:t> for building decades of dominance: </a:t>
            </a:r>
          </a:p>
          <a:p>
            <a:pPr marL="228600" lvl="0" indent="-228600">
              <a:buFont typeface="+mj-lt"/>
              <a:buAutoNum type="arabicPeriod"/>
            </a:pPr>
            <a:r>
              <a:rPr lang="en-US" sz="1200" b="1" kern="1200" dirty="0">
                <a:solidFill>
                  <a:schemeClr val="tx1"/>
                </a:solidFill>
                <a:effectLst/>
                <a:latin typeface="+mn-lt"/>
                <a:ea typeface="+mn-ea"/>
                <a:cs typeface="+mn-cs"/>
              </a:rPr>
              <a:t>Fear as Propulsion:</a:t>
            </a:r>
            <a:r>
              <a:rPr lang="en-US" sz="1200" kern="1200" dirty="0">
                <a:solidFill>
                  <a:schemeClr val="tx1"/>
                </a:solidFill>
                <a:effectLst/>
                <a:latin typeface="+mn-lt"/>
                <a:ea typeface="+mn-ea"/>
                <a:cs typeface="+mn-cs"/>
              </a:rPr>
              <a:t> Don't avoid fear; face it head-on as a challenge. </a:t>
            </a:r>
          </a:p>
          <a:p>
            <a:pPr marL="228600" lvl="0" indent="-228600">
              <a:buFont typeface="+mj-lt"/>
              <a:buAutoNum type="arabicPeriod"/>
            </a:pPr>
            <a:r>
              <a:rPr lang="en-US" sz="1200" b="1" kern="1200" dirty="0">
                <a:solidFill>
                  <a:schemeClr val="tx1"/>
                </a:solidFill>
                <a:effectLst/>
                <a:latin typeface="+mn-lt"/>
                <a:ea typeface="+mn-ea"/>
                <a:cs typeface="+mn-cs"/>
              </a:rPr>
              <a:t>Maintain Divine Discontent:</a:t>
            </a:r>
            <a:r>
              <a:rPr lang="en-US" sz="1200" kern="1200" dirty="0">
                <a:solidFill>
                  <a:schemeClr val="tx1"/>
                </a:solidFill>
                <a:effectLst/>
                <a:latin typeface="+mn-lt"/>
                <a:ea typeface="+mn-ea"/>
                <a:cs typeface="+mn-cs"/>
              </a:rPr>
              <a:t> Guard against the complacency of success. </a:t>
            </a:r>
          </a:p>
          <a:p>
            <a:pPr marL="228600" lvl="0" indent="-228600">
              <a:buFont typeface="+mj-lt"/>
              <a:buAutoNum type="arabicPeriod"/>
            </a:pPr>
            <a:r>
              <a:rPr lang="en-US" sz="1200" b="1" kern="1200" dirty="0">
                <a:solidFill>
                  <a:schemeClr val="tx1"/>
                </a:solidFill>
                <a:effectLst/>
                <a:latin typeface="+mn-lt"/>
                <a:ea typeface="+mn-ea"/>
                <a:cs typeface="+mn-cs"/>
              </a:rPr>
              <a:t>Protect Founder Soul:</a:t>
            </a:r>
            <a:r>
              <a:rPr lang="en-US" sz="1200" kern="1200" dirty="0">
                <a:solidFill>
                  <a:schemeClr val="tx1"/>
                </a:solidFill>
                <a:effectLst/>
                <a:latin typeface="+mn-lt"/>
                <a:ea typeface="+mn-ea"/>
                <a:cs typeface="+mn-cs"/>
              </a:rPr>
              <a:t> VCs build scaffolding; founders supply the 0-to-1 black magic. </a:t>
            </a:r>
          </a:p>
          <a:p>
            <a:pPr marL="228600" lvl="0" indent="-228600">
              <a:buFont typeface="+mj-lt"/>
              <a:buAutoNum type="arabicPeriod"/>
            </a:pPr>
            <a:r>
              <a:rPr lang="en-US" sz="1200" b="1" kern="1200" dirty="0">
                <a:solidFill>
                  <a:schemeClr val="tx1"/>
                </a:solidFill>
                <a:effectLst/>
                <a:latin typeface="+mn-lt"/>
                <a:ea typeface="+mn-ea"/>
                <a:cs typeface="+mn-cs"/>
              </a:rPr>
              <a:t>Apply the 100x Filter:</a:t>
            </a:r>
            <a:r>
              <a:rPr lang="en-US" sz="1200" kern="1200" dirty="0">
                <a:solidFill>
                  <a:schemeClr val="tx1"/>
                </a:solidFill>
                <a:effectLst/>
                <a:latin typeface="+mn-lt"/>
                <a:ea typeface="+mn-ea"/>
                <a:cs typeface="+mn-cs"/>
              </a:rPr>
              <a:t> Hold strictly for structural outliers; never sell unbounded category winners early. </a:t>
            </a:r>
          </a:p>
          <a:p>
            <a:pPr marL="228600" lvl="0" indent="-228600">
              <a:buFont typeface="+mj-lt"/>
              <a:buAutoNum type="arabicPeriod"/>
            </a:pPr>
            <a:r>
              <a:rPr lang="en-US" sz="1200" b="1" kern="1200" dirty="0">
                <a:solidFill>
                  <a:schemeClr val="tx1"/>
                </a:solidFill>
                <a:effectLst/>
                <a:latin typeface="+mn-lt"/>
                <a:ea typeface="+mn-ea"/>
                <a:cs typeface="+mn-cs"/>
              </a:rPr>
              <a:t>Operate on Absolute Trust:</a:t>
            </a:r>
            <a:r>
              <a:rPr lang="en-US" sz="1200" kern="1200" dirty="0">
                <a:solidFill>
                  <a:schemeClr val="tx1"/>
                </a:solidFill>
                <a:effectLst/>
                <a:latin typeface="+mn-lt"/>
                <a:ea typeface="+mn-ea"/>
                <a:cs typeface="+mn-cs"/>
              </a:rPr>
              <a:t> Trust is the grease of high-speed execution. </a:t>
            </a:r>
          </a:p>
          <a:p>
            <a:pPr lvl="0"/>
            <a:r>
              <a:rPr lang="en-US" sz="1200" kern="1200" dirty="0">
                <a:solidFill>
                  <a:schemeClr val="tx1"/>
                </a:solidFill>
                <a:effectLst/>
                <a:latin typeface="+mn-lt"/>
                <a:ea typeface="+mn-ea"/>
                <a:cs typeface="+mn-cs"/>
              </a:rPr>
              <a:t>Thank you. Let's open the floor to Q&amp;A.</a:t>
            </a:r>
          </a:p>
          <a:p>
            <a:endParaRPr lang="en-US" dirty="0"/>
          </a:p>
        </p:txBody>
      </p:sp>
      <p:sp>
        <p:nvSpPr>
          <p:cNvPr id="4" name="Slide Number Placeholder 3"/>
          <p:cNvSpPr>
            <a:spLocks noGrp="1"/>
          </p:cNvSpPr>
          <p:nvPr>
            <p:ph type="sldNum" sz="quarter" idx="5"/>
          </p:nvPr>
        </p:nvSpPr>
        <p:spPr/>
        <p:txBody>
          <a:bodyPr/>
          <a:lstStyle/>
          <a:p>
            <a:fld id="{A9752513-CC0B-4CBC-A2D9-F9BAABB35336}" type="slidenum">
              <a:rPr lang="en-US" smtClean="0"/>
              <a:t>16</a:t>
            </a:fld>
            <a:endParaRPr lang="en-US"/>
          </a:p>
        </p:txBody>
      </p:sp>
    </p:spTree>
    <p:extLst>
      <p:ext uri="{BB962C8B-B14F-4D97-AF65-F5344CB8AC3E}">
        <p14:creationId xmlns:p14="http://schemas.microsoft.com/office/powerpoint/2010/main" val="4278050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567C78-A811-3681-9064-6E99870A5734}"/>
              </a:ext>
            </a:extLst>
          </p:cNvPr>
          <p:cNvSpPr>
            <a:spLocks noGrp="1"/>
          </p:cNvSpPr>
          <p:nvPr>
            <p:ph type="dt" sz="half" idx="10"/>
          </p:nvPr>
        </p:nvSpPr>
        <p:spPr/>
        <p:txBody>
          <a:bodyPr/>
          <a:lstStyle/>
          <a:p>
            <a:fld id="{EE9794BA-5FE0-49EE-828D-461712B79C4B}" type="datetimeFigureOut">
              <a:rPr lang="en-US" smtClean="0"/>
              <a:t>10/21/2026</a:t>
            </a:fld>
            <a:endParaRPr lang="en-US"/>
          </a:p>
        </p:txBody>
      </p:sp>
      <p:sp>
        <p:nvSpPr>
          <p:cNvPr id="3" name="Footer Placeholder 2">
            <a:extLst>
              <a:ext uri="{FF2B5EF4-FFF2-40B4-BE49-F238E27FC236}">
                <a16:creationId xmlns:a16="http://schemas.microsoft.com/office/drawing/2014/main" id="{6779FED4-2330-6DCF-B122-ED224B4132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DD38CC-C0F7-CE9C-EE3A-A35588B68E51}"/>
              </a:ext>
            </a:extLst>
          </p:cNvPr>
          <p:cNvSpPr>
            <a:spLocks noGrp="1"/>
          </p:cNvSpPr>
          <p:nvPr>
            <p:ph type="sldNum" sz="quarter" idx="12"/>
          </p:nvPr>
        </p:nvSpPr>
        <p:spPr/>
        <p:txBody>
          <a:bodyPr/>
          <a:lstStyle/>
          <a:p>
            <a:fld id="{3C4018FB-02F1-46CC-A453-4740C2E17F0E}" type="slidenum">
              <a:rPr lang="en-US" smtClean="0"/>
              <a:t>‹#›</a:t>
            </a:fld>
            <a:endParaRPr lang="en-US"/>
          </a:p>
        </p:txBody>
      </p:sp>
    </p:spTree>
    <p:extLst>
      <p:ext uri="{BB962C8B-B14F-4D97-AF65-F5344CB8AC3E}">
        <p14:creationId xmlns:p14="http://schemas.microsoft.com/office/powerpoint/2010/main" val="166100963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8A82EC-0C57-4EAA-8A24-03D7DECDE5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5B35D3-B12D-0131-564C-BB5E068C3A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0324D5-A784-E1D3-75FD-09C73C88CE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9794BA-5FE0-49EE-828D-461712B79C4B}" type="datetimeFigureOut">
              <a:rPr lang="en-US" smtClean="0"/>
              <a:t>10/21/2026</a:t>
            </a:fld>
            <a:endParaRPr lang="en-US"/>
          </a:p>
        </p:txBody>
      </p:sp>
      <p:sp>
        <p:nvSpPr>
          <p:cNvPr id="5" name="Footer Placeholder 4">
            <a:extLst>
              <a:ext uri="{FF2B5EF4-FFF2-40B4-BE49-F238E27FC236}">
                <a16:creationId xmlns:a16="http://schemas.microsoft.com/office/drawing/2014/main" id="{616BC3E4-BCE4-1674-6DA6-E0C8834949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EADC4CE-2C39-6B31-88CB-847237FEF5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4018FB-02F1-46CC-A453-4740C2E17F0E}" type="slidenum">
              <a:rPr lang="en-US" smtClean="0"/>
              <a:t>‹#›</a:t>
            </a:fld>
            <a:endParaRPr lang="en-US"/>
          </a:p>
        </p:txBody>
      </p:sp>
    </p:spTree>
    <p:extLst>
      <p:ext uri="{BB962C8B-B14F-4D97-AF65-F5344CB8AC3E}">
        <p14:creationId xmlns:p14="http://schemas.microsoft.com/office/powerpoint/2010/main" val="288538072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16D347D-9FDE-84EC-3D04-C388154F09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52EBE6-5C5A-19A2-09BB-E611FB6BDE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39FD3B-6421-651D-A890-3D9F37138AA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ADBCF6-8202-01F9-270B-DCB39AC0066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7D140B-F2CE-703A-B7C8-32261F30D7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B79483-32AE-9D37-CCF0-1A0511D2CF8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A88470-8896-4BEF-515C-F58ECD34923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01156F-1C59-0870-4473-4FEECF39E7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B48D98-2356-015F-0126-4AC6F836B9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EE9518-AE80-B2AE-9489-C252861AA1D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6A5C57-4136-DF10-2187-7F23CB2BC2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315F1D-EF51-9207-B3E4-5FEC9DE7A6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EF058F-6FD4-EA0D-A77C-29015B8C8EC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E8C8D7-80D1-3E60-D777-0785BC801D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49298A-97B3-B8EA-7A6E-F72D9E3777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007985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1840</Words>
  <Application>Microsoft Office PowerPoint</Application>
  <PresentationFormat>寬螢幕</PresentationFormat>
  <Paragraphs>91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2026-09-04T08:27:00Z</dcterms:created>
  <dcterms:modified xsi:type="dcterms:W3CDTF">2026-10-21T02:48:34Z</dcterms:modified>
</cp:coreProperties>
</file>