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25BF3-F0C9-40DB-A6F2-11885D428733}" v="20" dt="2026-09-04T09:35:30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7464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">
      <pc:chgData name="Lai, Wilson" userId="2840974a-0d84-4886-90a9-9a3ed79f3a48" providerId="ADAL" clId="{9F23B798-9E84-4552-BA63-E776E805C424}" dt="2026-09-04T09:36:18.387" v="91" actId="166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9-04T09:36:18.387" v="91" actId="16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9-04T09:20:06.050" v="51" actId="1076"/>
          <ac:spMkLst>
            <pc:docMk/>
            <pc:sldMk cId="0" sldId="257"/>
            <ac:spMk id="5" creationId="{B9E8107E-D65F-2582-8803-1E9950631725}"/>
          </ac:spMkLst>
        </pc:spChg>
        <pc:grpChg chg="add mod">
          <ac:chgData name="Lai, Wilson" userId="2840974a-0d84-4886-90a9-9a3ed79f3a48" providerId="ADAL" clId="{9F23B798-9E84-4552-BA63-E776E805C424}" dt="2026-09-04T09:20:18.426" v="54" actId="1076"/>
          <ac:grpSpMkLst>
            <pc:docMk/>
            <pc:sldMk cId="0" sldId="257"/>
            <ac:grpSpMk id="6" creationId="{98091883-A26A-2605-81DD-DE37A6E5B262}"/>
          </ac:grpSpMkLst>
        </pc:grpChg>
        <pc:picChg chg="del">
          <ac:chgData name="Lai, Wilson" userId="2840974a-0d84-4886-90a9-9a3ed79f3a48" providerId="ADAL" clId="{9F23B798-9E84-4552-BA63-E776E805C424}" dt="2026-09-04T00:59:00.303" v="0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9-04T09:19:56.886" v="48" actId="164"/>
          <ac:picMkLst>
            <pc:docMk/>
            <pc:sldMk cId="0" sldId="257"/>
            <ac:picMk id="2" creationId="{5D151B67-6388-134D-F8B9-DFDBD12F3252}"/>
          </ac:picMkLst>
        </pc:picChg>
        <pc:picChg chg="add mod ord">
          <ac:chgData name="Lai, Wilson" userId="2840974a-0d84-4886-90a9-9a3ed79f3a48" providerId="ADAL" clId="{9F23B798-9E84-4552-BA63-E776E805C424}" dt="2026-09-04T09:36:18.387" v="91" actId="166"/>
          <ac:picMkLst>
            <pc:docMk/>
            <pc:sldMk cId="0" sldId="257"/>
            <ac:picMk id="4" creationId="{A948E361-A819-E51F-FF67-0E4499653219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4T09:32:10.872" v="60" actId="1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04T00:59:12.754" v="2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0:59:20.775" v="3" actId="22"/>
          <ac:picMkLst>
            <pc:docMk/>
            <pc:sldMk cId="0" sldId="258"/>
            <ac:picMk id="4" creationId="{211D6178-32B1-105B-4653-E204B4B9213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4T09:32:21.934" v="62" actId="14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04T00:59:22.908" v="4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0:59:31.006" v="5" actId="22"/>
          <ac:picMkLst>
            <pc:docMk/>
            <pc:sldMk cId="0" sldId="259"/>
            <ac:picMk id="4" creationId="{183ACCDB-0136-E7F5-5ADA-025BFB5F481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4T09:33:00.521" v="66" actId="14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04T00:59:33.012" v="6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1:05:14.632" v="7" actId="22"/>
          <ac:picMkLst>
            <pc:docMk/>
            <pc:sldMk cId="0" sldId="260"/>
            <ac:picMk id="4" creationId="{25E56B9E-C3FC-2957-0A22-4743B5B8470D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4T09:33:15.935" v="68" actId="14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04T01:05:19.195" v="8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1:05:26.539" v="9" actId="22"/>
          <ac:picMkLst>
            <pc:docMk/>
            <pc:sldMk cId="0" sldId="261"/>
            <ac:picMk id="4" creationId="{0105CE58-A86D-BDE9-684B-CD5B3F83F7D7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4T09:33:33.388" v="70" actId="14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04T01:05:28.181" v="10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1:05:35.541" v="11" actId="22"/>
          <ac:picMkLst>
            <pc:docMk/>
            <pc:sldMk cId="0" sldId="262"/>
            <ac:picMk id="4" creationId="{4CA3CBAC-A7F3-E3C8-AE91-CB88F0BD25A9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4T09:33:43.775" v="72" actId="14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04T01:05:37.142" v="12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1:06:25.833" v="13" actId="22"/>
          <ac:picMkLst>
            <pc:docMk/>
            <pc:sldMk cId="0" sldId="263"/>
            <ac:picMk id="4" creationId="{9EF2F1E3-3074-C98C-13C6-933D9752FDC6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4T09:33:55.745" v="74" actId="14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04T01:06:27.607" v="14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1:06:55.311" v="15" actId="22"/>
          <ac:picMkLst>
            <pc:docMk/>
            <pc:sldMk cId="0" sldId="264"/>
            <ac:picMk id="4" creationId="{F8484DCE-31AF-21EC-3F71-1F704E025A13}"/>
          </ac:picMkLst>
        </pc:picChg>
      </pc:sldChg>
      <pc:sldChg chg="addSp delSp modSp mod modNotesTx">
        <pc:chgData name="Lai, Wilson" userId="2840974a-0d84-4886-90a9-9a3ed79f3a48" providerId="ADAL" clId="{9F23B798-9E84-4552-BA63-E776E805C424}" dt="2026-09-04T09:34:09.808" v="79" actId="14"/>
        <pc:sldMkLst>
          <pc:docMk/>
          <pc:sldMk cId="0" sldId="265"/>
        </pc:sldMkLst>
        <pc:spChg chg="add del">
          <ac:chgData name="Lai, Wilson" userId="2840974a-0d84-4886-90a9-9a3ed79f3a48" providerId="ADAL" clId="{9F23B798-9E84-4552-BA63-E776E805C424}" dt="2026-09-04T09:34:06.474" v="77" actId="22"/>
          <ac:spMkLst>
            <pc:docMk/>
            <pc:sldMk cId="0" sldId="265"/>
            <ac:spMk id="3" creationId="{4E8BCBBC-8378-1964-B6C8-BCF6BAB00671}"/>
          </ac:spMkLst>
        </pc:spChg>
        <pc:picChg chg="del">
          <ac:chgData name="Lai, Wilson" userId="2840974a-0d84-4886-90a9-9a3ed79f3a48" providerId="ADAL" clId="{9F23B798-9E84-4552-BA63-E776E805C424}" dt="2026-09-04T01:06:58.532" v="16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1:07:20.123" v="17" actId="22"/>
          <ac:picMkLst>
            <pc:docMk/>
            <pc:sldMk cId="0" sldId="265"/>
            <ac:picMk id="4" creationId="{A16FA3D3-C5F3-98B5-7228-2B59B664A2E9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4T09:34:20.962" v="81" actId="14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04T01:07:22.772" v="18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1:08:02.919" v="19" actId="22"/>
          <ac:picMkLst>
            <pc:docMk/>
            <pc:sldMk cId="0" sldId="266"/>
            <ac:picMk id="4" creationId="{A88FE911-F104-3523-376B-01BFCA991AD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4T09:34:31.446" v="83" actId="14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04T01:08:06.497" v="20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1:08:26.104" v="21" actId="22"/>
          <ac:picMkLst>
            <pc:docMk/>
            <pc:sldMk cId="0" sldId="267"/>
            <ac:picMk id="4" creationId="{CD046604-A15E-511C-03D1-68776700CF37}"/>
          </ac:picMkLst>
        </pc:picChg>
      </pc:sldChg>
      <pc:sldChg chg="addSp delSp mod">
        <pc:chgData name="Lai, Wilson" userId="2840974a-0d84-4886-90a9-9a3ed79f3a48" providerId="ADAL" clId="{9F23B798-9E84-4552-BA63-E776E805C424}" dt="2026-09-04T01:08:49.087" v="23" actId="2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04T01:08:28.125" v="22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1:08:49.087" v="23" actId="22"/>
          <ac:picMkLst>
            <pc:docMk/>
            <pc:sldMk cId="0" sldId="268"/>
            <ac:picMk id="4" creationId="{FC931E40-B77A-780B-8F40-5742F1A95F10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4T09:34:48.014" v="85" actId="14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9-04T01:08:52.266" v="24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1:09:08.261" v="25" actId="22"/>
          <ac:picMkLst>
            <pc:docMk/>
            <pc:sldMk cId="0" sldId="269"/>
            <ac:picMk id="4" creationId="{806AF11F-798F-AE45-2543-390D4495004F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4T09:35:01.833" v="86" actId="1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9-04T01:09:11.871" v="26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1:09:21.980" v="27" actId="22"/>
          <ac:picMkLst>
            <pc:docMk/>
            <pc:sldMk cId="0" sldId="270"/>
            <ac:picMk id="4" creationId="{D1041C6F-18CB-6FCE-8820-834BEDCEB325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4T09:35:15.110" v="88" actId="14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9-04T01:09:24.559" v="28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4T01:10:06.660" v="29" actId="22"/>
          <ac:picMkLst>
            <pc:docMk/>
            <pc:sldMk cId="0" sldId="271"/>
            <ac:picMk id="4" creationId="{F551CB31-4B8F-2D0B-E523-6C0526A50491}"/>
          </ac:picMkLst>
        </pc:picChg>
      </pc:sldChg>
      <pc:sldChg chg="modNotesTx">
        <pc:chgData name="Lai, Wilson" userId="2840974a-0d84-4886-90a9-9a3ed79f3a48" providerId="ADAL" clId="{9F23B798-9E84-4552-BA63-E776E805C424}" dt="2026-09-04T09:35:33.674" v="89" actId="12"/>
        <pc:sldMkLst>
          <pc:docMk/>
          <pc:sldMk cId="616691071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5AD7B-46B7-4E6F-9E88-251E1A805AC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BC974-1DF7-422E-A8B8-576D89CAF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everyone. Today we are diving into our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Macro-Threat Dossier for Q3/Q4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focusing on what we identify as an imminent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Systemic Reset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current system status is marked as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FRAGILE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We are witnessing a convergence of three major structural forces: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AI Bubble: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Unprecedented capital expenditure and valuation expansion lacking end-user revenue backing.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Demographic Stagnation: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Global demographic drag across major powerhouses like China, Europe, and the US.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Credit Crisis: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unraveling of shadow banking and private credit markets.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Macro researcher Edward Dowd compares this setup to a fragile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"Jenga Tower"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When a market relies heavily on leverage and continuously rising asset valuations, even a subtle deceleration in growth can bring down the entire structure.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https://www.youtube.com/watch?v=lQxDsu7L4jQ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04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 to our high-level diagnostic overview, we track four core pillars across our warning metrics: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CapEx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Trap (92% Criticality):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Infrastructure valuations are soaring at over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200% YoY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while actual end-user adoption is lagging under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15% YoY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second derivative of growth is officially stalling.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Shadow Banking Cracks (86% Criticality):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Private credit—the primary engine of recent credit creation—is entering its first major default cycle. The practice of internal, non-public mark-to-market pricing is starting to unravel.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Frozen Markets / US Housing (95% Criticality):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residential real estate is in a demographic deadlock. Prices remain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~30% overvalued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multifamily construction permits have rolled over.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Deflation Engine / China (96% Criticality):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China has passed its prime demographic peak. Facing internal consumption collapse, it is dumping deflationary excess capacity into global markets.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68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where we are, we must look at Hyman Minsky’s classic framework of the credit cycle: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 (Cash Flow Finance):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Highly stable. Borrowers cover both principal and interest from ongoing operational cash flows.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2 (Speculative Finance):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Cash flows cover interest payments, but principal must be continuously rolled over/refinanced.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3 (Ponzi Finance - Our Current State):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Cash flows cover neither principal nor interest. Debt servicing relies entirely on the assumption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continuously rising asset valuations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 Warning: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Phase 3, you do not need negative growth or a collapse in fundamentals for the system to break.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a slowing in the rate of valuation growth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 second derivative slowdown.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Dowd notes, when valuations slow, the leverage required to fund these structures evaporates, leading to systemic structural breaks.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65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analyze the mechanics of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CapEx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Spectacle vs. The Reality: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Spectacle: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Hyped valuations, massive infrastructure spending, and skyrocketing revenues for chipmaker pick-and-shovel plays like Nvidia.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Slower-than-expected end-user adoption, lack of measurable enterprise ROI, and physical constraints like power grid capacity.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infrastructure buildouts are currently financed by money flowing from investors betting on future growth rather than actual revenues generated from paying end-users.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Furthermore, AI models are rapidly becoming commoditized with free open-source alternatives driving pricing down. Coupled with power grid limits, capital spend is hitting a physical and financial ceiling.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45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history doesn't repeat identically, but it rhymes. Compare today’s AI buildout to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2000 Dot-Com Bubble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2000 Build: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Dark Fiber &amp; Telecom Networks (Cisco/Intel peak in March 2000).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 Build: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Centers &amp; LLM Training (Nvidia &amp; Semiconductors).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Timeline Lesson: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2000, the NASDAQ peaked in March, but the S&amp;P 500 traded sideways for 9 months. The bad fundamentals didn’t show up in headlines until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September 2000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when Intel reported its first earnings miss.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Adoption Lag: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Broadband was built out in 2000, but consumer utility and mobile ecosystems took years to catch up. Similarly, today’s data center infrastructure is being built out at a pace that far outstrips enterprise monetization.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45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chart on this slide represents the classic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S-Curve adoption profile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The dotted line marks our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Crash Trigger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—the inflection point where acceleration turns into deceleration.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Key Evidence of Flattening: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228600" lvl="0" indent="-228600">
                  <a:buFont typeface="+mj-lt"/>
                  <a:buAutoNum type="arabicPeriod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Industry leaders like Sam Altman openly acknowledging that enterprise AI adoption is moving slower than initial hype projected. </a:t>
                </a:r>
              </a:p>
              <a:p>
                <a:pPr marL="228600" lvl="0" indent="-228600">
                  <a:buFont typeface="+mj-lt"/>
                  <a:buAutoNum type="arabicPeriod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Enterprise tech firms delaying planned developer layoffs because AI integration isn't ready to handle full operational workloads. </a:t>
                </a:r>
              </a:p>
              <a:p>
                <a:pPr marL="228600" lvl="0" indent="-228600">
                  <a:buFont typeface="+mj-lt"/>
                  <a:buAutoNum type="arabicPeriod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Executive flight across prominent AI startups ahead of delayed IPO timelines.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Core Insight: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Bubbles do not pop because growth turns negative; they pop the moment exponential growth flattens into linear growth.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chart on this slide represents the classic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S-Curve adoption profile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The dotted line marks our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Crash Trigger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𝑡_𝑐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—the inflection point where acceleration turns into deceleration.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Key Evidence of Flattening: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228600" lvl="0" indent="-228600">
                  <a:buFont typeface="+mj-lt"/>
                  <a:buAutoNum type="arabicPeriod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Industry leaders like Sam Altman openly acknowledging that enterprise AI adoption is moving slower than initial hype projected. </a:t>
                </a:r>
              </a:p>
              <a:p>
                <a:pPr marL="228600" lvl="0" indent="-228600">
                  <a:buFont typeface="+mj-lt"/>
                  <a:buAutoNum type="arabicPeriod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Enterprise tech firms delaying planned developer layoffs because AI integration isn't ready to handle full operational workloads. </a:t>
                </a:r>
              </a:p>
              <a:p>
                <a:pPr marL="228600" lvl="0" indent="-228600">
                  <a:buFont typeface="+mj-lt"/>
                  <a:buAutoNum type="arabicPeriod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Executive flight across prominent AI startups ahead of delayed IPO timelines.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Core Insight: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Bubbles do not pop because growth turns negative; they pop the moment exponential growth flattens into linear growth.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45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public markets present a sunny spectacle—S&amp;P and NASDAQ near highs with low high-yield spreads—the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 Reality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beneath the waterline is alarming: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Engine: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Private credit accounted for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&gt;85%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incremental new credit creation in 2024/2025.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Cracks: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are seeing the first major default cycles in private credit issuers (e.g., First Brands, Tricolor Auto), with default rates projected to exceed 4%.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Contagion: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Private equity firms have increasingly offloaded unlisted, fictional mark-to-market debt into affiliated life insurance and annuity portfolios (over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$158B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estimated).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private credit is opaque and marked internally rather than on public exchanges, these losses remain unpriced until liquidity redemption demands force a fire sale.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75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US housing market is in a state of critical paralysis: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 &amp; Demand: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Both inventory volume and demand volume are at historic lows.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Cause: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Home prices are roughly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 overvalued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relative to incomes. Baby Boomers refuse to give up locked-in low mortgage rates (3%), while Millennials are completely priced out by 7%+ rates.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Leading Indicator: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Multifamily housing construction—which drove the recent housing cycle—has completely rolled over. New building permits peaked in 2022 and are accelerating downward.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Frozen markets eventually move, and when forced liquidations or economic slowdowns occur, prices adjust downward to meet consumer reality.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4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cannot analyze the US in a vacuum;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China's economic engine is stalling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 Demographics: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China hit its prime working-age demographic peak in 2020.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Overbuilt Infrastructure: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Housing inventory is overbuilt by 20 to 30 years.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Negative Net Fixed Investment: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 fixed investment declined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-9.8% YoY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—its first negative multi-quarter contraction in 30 years.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GDP Contraction in USD: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China's GDP priced in USD dropped from 80% of US GDP in 2020 down to ~60% today.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Impact: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Unable to stimulate internal consumption, China is dumping subsidized excess capacity (EVs, solar, batteries) into global trade channels, triggering tariffs, trade friction, and exporting deflationary pressure worldwide.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64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 banks and fiscal authorities are playing an unsustainable game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Whack-A-Mole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Intervention 1: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Slow-walking deportations or managing border flows to artificially sustain multifamily rental demand and baseline consumption.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Intervention 2: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Treasury buyback programs aiming to suppress long-end yield spikes.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Intervention 3: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Desperate Yen interventions by the Bank of Japan to manage currency volatility and carry-trade unwinds.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Policy interventions do not change economic physics; they merely delay the resolution, accumulating market leverage and making the ultimate correction more severe.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47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Institutional "Smart Money" is not waiting for a formal technical breakdown; they are quietly building defense: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Warren Buffett (Berkshire Hathaway):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Cash reserves raised to record levels near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waiting for a true "fat pitch" valuation.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David Tepper (Appaloosa Management):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Shifted fund allocation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40% Cash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prior to summer market highs.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Corporate Insiders: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High-profile departures from major AI entities (e.g., OpenAI leadership) ahead of projected liquidity/IPO events.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smart money raises cash, it isn't out of panic; it is a strategic maneuver to preserve capital for post-crash distress opportunities.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72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 deflationary scare takes hold, we see a key asymmetric trade: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Long-Term US Treasuries (20/30-Year Bonds)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Setup: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Asset allocators are heavily overweight equities and underweight bonds after a brutal 5-year bear market in fixed income.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Catalyst: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Long-term yields are governed by long-term growth and inflation expectations. When recessionary reality hits, inflation expectations plunge, forcing long-end yields down and bond prices sharply higher.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Edge: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Equity dividend yields are currently below risk-free treasury yields. As equity valuations reprice, institutional capital flight into long-duration bonds will be swift and aggressive.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114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Gold has entered a structural paradigm shift: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Tier 1 Asset Status: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Gold was reclassified as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Tier 1 Asset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commercial bank reserves. It is no longer viewed simply as a commodity, but as reserve money without counterparty risk.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Sovereign Debt Crisis: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Escalating fiscal deficits and global currency debasement are forcing central banks to aggressively accumulate physical gold.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fiat systems undergo recalibration, gold is targeting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$10,000/oz by 2030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5–10% portfolio allocation serves as a necessary structural hedge against sovereign debt and monetary reset risks.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85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our strategic capital allocation matrix leading into and through the reset: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Cash [Low Risk]: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Maintain high cash balances now for capital preservation. Deploy post-crash for generational buying opportunities.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Long-Term Bonds [Med Risk]: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asymmetric upside as yields plunge during the growth shock.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Gold [Low Risk]: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Core sovereign default hedge.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Equities / AI [Extreme Risk]: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Underweight/Sell. Wait for valuation/PE resets and bankruptcy clearances before re-entering.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Bitcoin [High Risk]: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Treat as high-beta risk asset in the short term; deploy aggressively once liquidity injection and monetary debasement resume post-crash.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82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Phoenix Strategy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outlines our 3-phase roadmap to navigate the coming wealth transfer: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1: The Deflationary Scare: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Equity markets reprice, private credit implodes, and AI hype resets to core utility.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Preserve capital and hold cash/bonds.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2: The Liquidity Panic: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Central banks cut rates to zero and initiate emergency liquidity programs to save shadow banking.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deployment lists.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3: The Generational Buy: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Deploy capital into single-family real estate, post-bubble tech/AI winners, and Bitcoin as monetary debasement accelerates.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Bottom Line: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Execute patience and wait for the fat pitch.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18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conclude, Slide 16 summarizes Edward Dowd’s overarching macro thesis: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AI Ponzi Loop: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CapEx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currently sustained by rising valuations rather than end-user revenues.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Credit &amp; Real Estate Paralysis: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Private credit default cycles are emerging, while 30% overvalued real estate keeps transaction volumes locked.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Asset Positioning Summary: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NASDAQ/AI: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Parabolic bubble prone to valuation reset.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Bitcoin: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Short-term correlation with risk assets, followed by pro-cyclical surge during monetary response.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Accumulate as Tier 1 reserve asset.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Bonds: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Unprecedented rally potential as growth/inflation expectations fall.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Cash (The Buffett Approach):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Maintain 40%+ liquidity to capture post-selloff opportunities.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C974-1DF7-422E-A8B8-576D89CAF50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49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F7B48F-DC3C-E944-25AA-6340C5F25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153C4-0162-423A-8E7C-B61AE26E50E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D4B8A-3863-8F89-22AC-7CA227F5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70594-CAF9-EDAC-78C9-49D25CC1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EA42-4DE2-4977-A3C2-4FF3C7148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8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52BB47-24D3-C197-A066-3A8F306C4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DA4C5-F787-DE8A-39E8-E90901012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B7708-F867-AD3E-EFCE-A6FF2ADD7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E153C4-0162-423A-8E7C-B61AE26E50E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C1615-984B-CB19-10C5-49429931F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8876F-752C-AEA0-B612-AB9D2A695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68EA42-4DE2-4977-A3C2-4FF3C7148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5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48E361-A819-E51F-FF67-0E4499653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D6178-32B1-105B-4653-E204B4B92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3ACCDB-0136-E7F5-5ADA-025BFB5F4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E56B9E-C3FC-2957-0A22-4743B5B84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05CE58-A86D-BDE9-684B-CD5B3F83F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A3CBAC-A7F3-E3C8-AE91-CB88F0BD2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F2F1E3-3074-C98C-13C6-933D9752F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484DCE-31AF-21EC-3F71-1F704E025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FA3D3-C5F3-98B5-7228-2B59B664A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8FE911-F104-3523-376B-01BFCA991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046604-A15E-511C-03D1-68776700C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931E40-B77A-780B-8F40-5742F1A95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6AF11F-798F-AE45-2543-390D44950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041C6F-18CB-6FCE-8820-834BEDCEB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51CB31-4B8F-2D0B-E523-6C0526A50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C437AF-BFCD-59F7-CD98-740C2F8F91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91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1989</Words>
  <Application>Microsoft Office PowerPoint</Application>
  <PresentationFormat>寬螢幕</PresentationFormat>
  <Paragraphs>108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2026-09-04T00:56:45Z</dcterms:created>
  <dcterms:modified xsi:type="dcterms:W3CDTF">2026-10-21T02:40:18Z</dcterms:modified>
</cp:coreProperties>
</file>