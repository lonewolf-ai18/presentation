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C25672-0772-408A-918E-44FA302C1B63}" v="16" dt="2026-09-15T02:37:48.4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4" autoAdjust="0"/>
    <p:restoredTop sz="84330" autoAdjust="0"/>
  </p:normalViewPr>
  <p:slideViewPr>
    <p:cSldViewPr snapToGrid="0">
      <p:cViewPr varScale="1">
        <p:scale>
          <a:sx n="60" d="100"/>
          <a:sy n="60" d="100"/>
        </p:scale>
        <p:origin x="8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15T02:37:48.412" v="68"/>
      <pc:docMkLst>
        <pc:docMk/>
      </pc:docMkLst>
      <pc:sldChg chg="addSp delSp modSp mod modNotes modNotesTx">
        <pc:chgData name="Lai, Wilson" userId="2840974a-0d84-4886-90a9-9a3ed79f3a48" providerId="ADAL" clId="{9F23B798-9E84-4552-BA63-E776E805C424}" dt="2026-09-15T02:37:48.412" v="68"/>
        <pc:sldMkLst>
          <pc:docMk/>
          <pc:sldMk cId="0" sldId="257"/>
        </pc:sldMkLst>
        <pc:picChg chg="del">
          <ac:chgData name="Lai, Wilson" userId="2840974a-0d84-4886-90a9-9a3ed79f3a48" providerId="ADAL" clId="{9F23B798-9E84-4552-BA63-E776E805C424}" dt="2026-09-15T01:23:30.775" v="0" actId="21"/>
          <ac:picMkLst>
            <pc:docMk/>
            <pc:sldMk cId="0" sldId="257"/>
            <ac:picMk id="2" creationId="{00000000-0000-0000-0000-000000000000}"/>
          </ac:picMkLst>
        </pc:picChg>
        <pc:picChg chg="add mod">
          <ac:chgData name="Lai, Wilson" userId="2840974a-0d84-4886-90a9-9a3ed79f3a48" providerId="ADAL" clId="{9F23B798-9E84-4552-BA63-E776E805C424}" dt="2026-09-15T02:34:10.634" v="21" actId="1076"/>
          <ac:picMkLst>
            <pc:docMk/>
            <pc:sldMk cId="0" sldId="257"/>
            <ac:picMk id="4" creationId="{98FA1D9A-16A8-016F-A2FD-AADAFAB989DE}"/>
          </ac:picMkLst>
        </pc:picChg>
      </pc:sldChg>
      <pc:sldChg chg="addSp delSp modSp mod modNotes modNotesTx">
        <pc:chgData name="Lai, Wilson" userId="2840974a-0d84-4886-90a9-9a3ed79f3a48" providerId="ADAL" clId="{9F23B798-9E84-4552-BA63-E776E805C424}" dt="2026-09-15T02:37:48.412" v="68"/>
        <pc:sldMkLst>
          <pc:docMk/>
          <pc:sldMk cId="0" sldId="258"/>
        </pc:sldMkLst>
        <pc:picChg chg="del">
          <ac:chgData name="Lai, Wilson" userId="2840974a-0d84-4886-90a9-9a3ed79f3a48" providerId="ADAL" clId="{9F23B798-9E84-4552-BA63-E776E805C424}" dt="2026-09-15T01:23:56.003" v="2" actId="21"/>
          <ac:picMkLst>
            <pc:docMk/>
            <pc:sldMk cId="0" sldId="258"/>
            <ac:picMk id="2" creationId="{00000000-0000-0000-0000-000000000000}"/>
          </ac:picMkLst>
        </pc:picChg>
        <pc:picChg chg="add mod">
          <ac:chgData name="Lai, Wilson" userId="2840974a-0d84-4886-90a9-9a3ed79f3a48" providerId="ADAL" clId="{9F23B798-9E84-4552-BA63-E776E805C424}" dt="2026-09-15T01:37:55.867" v="20" actId="1366"/>
          <ac:picMkLst>
            <pc:docMk/>
            <pc:sldMk cId="0" sldId="258"/>
            <ac:picMk id="4" creationId="{022C8183-8323-D8F4-E413-1EEDFC5B996E}"/>
          </ac:picMkLst>
        </pc:picChg>
      </pc:sldChg>
      <pc:sldChg chg="addSp delSp mod modNotes modNotesTx">
        <pc:chgData name="Lai, Wilson" userId="2840974a-0d84-4886-90a9-9a3ed79f3a48" providerId="ADAL" clId="{9F23B798-9E84-4552-BA63-E776E805C424}" dt="2026-09-15T02:37:48.412" v="68"/>
        <pc:sldMkLst>
          <pc:docMk/>
          <pc:sldMk cId="0" sldId="259"/>
        </pc:sldMkLst>
        <pc:picChg chg="del">
          <ac:chgData name="Lai, Wilson" userId="2840974a-0d84-4886-90a9-9a3ed79f3a48" providerId="ADAL" clId="{9F23B798-9E84-4552-BA63-E776E805C424}" dt="2026-09-15T01:24:52.232" v="4" actId="21"/>
          <ac:picMkLst>
            <pc:docMk/>
            <pc:sldMk cId="0" sldId="259"/>
            <ac:picMk id="2" creationId="{00000000-0000-0000-0000-000000000000}"/>
          </ac:picMkLst>
        </pc:picChg>
        <pc:picChg chg="add">
          <ac:chgData name="Lai, Wilson" userId="2840974a-0d84-4886-90a9-9a3ed79f3a48" providerId="ADAL" clId="{9F23B798-9E84-4552-BA63-E776E805C424}" dt="2026-09-15T01:25:17.894" v="5" actId="22"/>
          <ac:picMkLst>
            <pc:docMk/>
            <pc:sldMk cId="0" sldId="259"/>
            <ac:picMk id="4" creationId="{3A9D454A-0065-A8BE-89D3-15B7A00C7CCA}"/>
          </ac:picMkLst>
        </pc:picChg>
      </pc:sldChg>
      <pc:sldChg chg="addSp delSp mod modNotes modNotesTx">
        <pc:chgData name="Lai, Wilson" userId="2840974a-0d84-4886-90a9-9a3ed79f3a48" providerId="ADAL" clId="{9F23B798-9E84-4552-BA63-E776E805C424}" dt="2026-09-15T02:37:48.412" v="68"/>
        <pc:sldMkLst>
          <pc:docMk/>
          <pc:sldMk cId="0" sldId="260"/>
        </pc:sldMkLst>
        <pc:picChg chg="del">
          <ac:chgData name="Lai, Wilson" userId="2840974a-0d84-4886-90a9-9a3ed79f3a48" providerId="ADAL" clId="{9F23B798-9E84-4552-BA63-E776E805C424}" dt="2026-09-15T01:25:20.069" v="6" actId="21"/>
          <ac:picMkLst>
            <pc:docMk/>
            <pc:sldMk cId="0" sldId="260"/>
            <ac:picMk id="2" creationId="{00000000-0000-0000-0000-000000000000}"/>
          </ac:picMkLst>
        </pc:picChg>
        <pc:picChg chg="add">
          <ac:chgData name="Lai, Wilson" userId="2840974a-0d84-4886-90a9-9a3ed79f3a48" providerId="ADAL" clId="{9F23B798-9E84-4552-BA63-E776E805C424}" dt="2026-09-15T01:25:31.993" v="7" actId="22"/>
          <ac:picMkLst>
            <pc:docMk/>
            <pc:sldMk cId="0" sldId="260"/>
            <ac:picMk id="4" creationId="{55CD4DE3-14C3-AEF1-9EA8-1671CBC3E151}"/>
          </ac:picMkLst>
        </pc:picChg>
      </pc:sldChg>
      <pc:sldChg chg="addSp delSp mod modNotes modNotesTx">
        <pc:chgData name="Lai, Wilson" userId="2840974a-0d84-4886-90a9-9a3ed79f3a48" providerId="ADAL" clId="{9F23B798-9E84-4552-BA63-E776E805C424}" dt="2026-09-15T02:37:48.412" v="68"/>
        <pc:sldMkLst>
          <pc:docMk/>
          <pc:sldMk cId="0" sldId="261"/>
        </pc:sldMkLst>
        <pc:picChg chg="del">
          <ac:chgData name="Lai, Wilson" userId="2840974a-0d84-4886-90a9-9a3ed79f3a48" providerId="ADAL" clId="{9F23B798-9E84-4552-BA63-E776E805C424}" dt="2026-09-15T01:25:35.106" v="8" actId="21"/>
          <ac:picMkLst>
            <pc:docMk/>
            <pc:sldMk cId="0" sldId="261"/>
            <ac:picMk id="2" creationId="{00000000-0000-0000-0000-000000000000}"/>
          </ac:picMkLst>
        </pc:picChg>
        <pc:picChg chg="add">
          <ac:chgData name="Lai, Wilson" userId="2840974a-0d84-4886-90a9-9a3ed79f3a48" providerId="ADAL" clId="{9F23B798-9E84-4552-BA63-E776E805C424}" dt="2026-09-15T01:26:22.594" v="9" actId="22"/>
          <ac:picMkLst>
            <pc:docMk/>
            <pc:sldMk cId="0" sldId="261"/>
            <ac:picMk id="4" creationId="{5F0DDDD5-8E75-C511-4E78-109E923534B9}"/>
          </ac:picMkLst>
        </pc:picChg>
      </pc:sldChg>
      <pc:sldChg chg="addSp delSp mod modNotes modNotesTx">
        <pc:chgData name="Lai, Wilson" userId="2840974a-0d84-4886-90a9-9a3ed79f3a48" providerId="ADAL" clId="{9F23B798-9E84-4552-BA63-E776E805C424}" dt="2026-09-15T02:37:48.412" v="68"/>
        <pc:sldMkLst>
          <pc:docMk/>
          <pc:sldMk cId="0" sldId="262"/>
        </pc:sldMkLst>
        <pc:picChg chg="del">
          <ac:chgData name="Lai, Wilson" userId="2840974a-0d84-4886-90a9-9a3ed79f3a48" providerId="ADAL" clId="{9F23B798-9E84-4552-BA63-E776E805C424}" dt="2026-09-15T01:26:27.900" v="10" actId="21"/>
          <ac:picMkLst>
            <pc:docMk/>
            <pc:sldMk cId="0" sldId="262"/>
            <ac:picMk id="2" creationId="{00000000-0000-0000-0000-000000000000}"/>
          </ac:picMkLst>
        </pc:picChg>
        <pc:picChg chg="add">
          <ac:chgData name="Lai, Wilson" userId="2840974a-0d84-4886-90a9-9a3ed79f3a48" providerId="ADAL" clId="{9F23B798-9E84-4552-BA63-E776E805C424}" dt="2026-09-15T01:26:40.510" v="11" actId="22"/>
          <ac:picMkLst>
            <pc:docMk/>
            <pc:sldMk cId="0" sldId="262"/>
            <ac:picMk id="4" creationId="{A6FD7F7B-0004-B7C3-433E-105828426CD8}"/>
          </ac:picMkLst>
        </pc:picChg>
      </pc:sldChg>
      <pc:sldChg chg="addSp delSp mod modNotes modNotesTx">
        <pc:chgData name="Lai, Wilson" userId="2840974a-0d84-4886-90a9-9a3ed79f3a48" providerId="ADAL" clId="{9F23B798-9E84-4552-BA63-E776E805C424}" dt="2026-09-15T02:37:48.412" v="68"/>
        <pc:sldMkLst>
          <pc:docMk/>
          <pc:sldMk cId="0" sldId="263"/>
        </pc:sldMkLst>
        <pc:picChg chg="del">
          <ac:chgData name="Lai, Wilson" userId="2840974a-0d84-4886-90a9-9a3ed79f3a48" providerId="ADAL" clId="{9F23B798-9E84-4552-BA63-E776E805C424}" dt="2026-09-15T01:26:42.453" v="12" actId="21"/>
          <ac:picMkLst>
            <pc:docMk/>
            <pc:sldMk cId="0" sldId="263"/>
            <ac:picMk id="2" creationId="{00000000-0000-0000-0000-000000000000}"/>
          </ac:picMkLst>
        </pc:picChg>
        <pc:picChg chg="add">
          <ac:chgData name="Lai, Wilson" userId="2840974a-0d84-4886-90a9-9a3ed79f3a48" providerId="ADAL" clId="{9F23B798-9E84-4552-BA63-E776E805C424}" dt="2026-09-15T01:27:57.771" v="13" actId="22"/>
          <ac:picMkLst>
            <pc:docMk/>
            <pc:sldMk cId="0" sldId="263"/>
            <ac:picMk id="4" creationId="{FB7CA998-4E82-B4DA-393D-4ADB312094C9}"/>
          </ac:picMkLst>
        </pc:picChg>
      </pc:sldChg>
      <pc:sldChg chg="modNotes modNotesTx">
        <pc:chgData name="Lai, Wilson" userId="2840974a-0d84-4886-90a9-9a3ed79f3a48" providerId="ADAL" clId="{9F23B798-9E84-4552-BA63-E776E805C424}" dt="2026-09-15T02:37:48.412" v="68"/>
        <pc:sldMkLst>
          <pc:docMk/>
          <pc:sldMk cId="0" sldId="264"/>
        </pc:sldMkLst>
      </pc:sldChg>
      <pc:sldChg chg="addSp delSp mod modNotes modNotesTx">
        <pc:chgData name="Lai, Wilson" userId="2840974a-0d84-4886-90a9-9a3ed79f3a48" providerId="ADAL" clId="{9F23B798-9E84-4552-BA63-E776E805C424}" dt="2026-09-15T02:37:48.412" v="68"/>
        <pc:sldMkLst>
          <pc:docMk/>
          <pc:sldMk cId="0" sldId="265"/>
        </pc:sldMkLst>
        <pc:picChg chg="del">
          <ac:chgData name="Lai, Wilson" userId="2840974a-0d84-4886-90a9-9a3ed79f3a48" providerId="ADAL" clId="{9F23B798-9E84-4552-BA63-E776E805C424}" dt="2026-09-15T01:28:00.774" v="14" actId="21"/>
          <ac:picMkLst>
            <pc:docMk/>
            <pc:sldMk cId="0" sldId="265"/>
            <ac:picMk id="2" creationId="{00000000-0000-0000-0000-000000000000}"/>
          </ac:picMkLst>
        </pc:picChg>
        <pc:picChg chg="add">
          <ac:chgData name="Lai, Wilson" userId="2840974a-0d84-4886-90a9-9a3ed79f3a48" providerId="ADAL" clId="{9F23B798-9E84-4552-BA63-E776E805C424}" dt="2026-09-15T01:28:24.099" v="15" actId="22"/>
          <ac:picMkLst>
            <pc:docMk/>
            <pc:sldMk cId="0" sldId="265"/>
            <ac:picMk id="4" creationId="{196D2CBE-4162-83E2-178C-11F9BCF868D9}"/>
          </ac:picMkLst>
        </pc:picChg>
      </pc:sldChg>
      <pc:sldChg chg="addSp delSp mod modNotes modNotesTx">
        <pc:chgData name="Lai, Wilson" userId="2840974a-0d84-4886-90a9-9a3ed79f3a48" providerId="ADAL" clId="{9F23B798-9E84-4552-BA63-E776E805C424}" dt="2026-09-15T02:37:48.412" v="68"/>
        <pc:sldMkLst>
          <pc:docMk/>
          <pc:sldMk cId="0" sldId="266"/>
        </pc:sldMkLst>
        <pc:picChg chg="del">
          <ac:chgData name="Lai, Wilson" userId="2840974a-0d84-4886-90a9-9a3ed79f3a48" providerId="ADAL" clId="{9F23B798-9E84-4552-BA63-E776E805C424}" dt="2026-09-15T01:28:27.430" v="16" actId="21"/>
          <ac:picMkLst>
            <pc:docMk/>
            <pc:sldMk cId="0" sldId="266"/>
            <ac:picMk id="2" creationId="{00000000-0000-0000-0000-000000000000}"/>
          </ac:picMkLst>
        </pc:picChg>
        <pc:picChg chg="add">
          <ac:chgData name="Lai, Wilson" userId="2840974a-0d84-4886-90a9-9a3ed79f3a48" providerId="ADAL" clId="{9F23B798-9E84-4552-BA63-E776E805C424}" dt="2026-09-15T01:28:37.847" v="17" actId="22"/>
          <ac:picMkLst>
            <pc:docMk/>
            <pc:sldMk cId="0" sldId="266"/>
            <ac:picMk id="4" creationId="{28EE1BE0-8BBB-EBE2-1D5E-7546709BE7EB}"/>
          </ac:picMkLst>
        </pc:picChg>
      </pc:sldChg>
      <pc:sldChg chg="addSp delSp mod modNotes modNotesTx">
        <pc:chgData name="Lai, Wilson" userId="2840974a-0d84-4886-90a9-9a3ed79f3a48" providerId="ADAL" clId="{9F23B798-9E84-4552-BA63-E776E805C424}" dt="2026-09-15T02:37:48.412" v="68"/>
        <pc:sldMkLst>
          <pc:docMk/>
          <pc:sldMk cId="0" sldId="267"/>
        </pc:sldMkLst>
        <pc:picChg chg="del">
          <ac:chgData name="Lai, Wilson" userId="2840974a-0d84-4886-90a9-9a3ed79f3a48" providerId="ADAL" clId="{9F23B798-9E84-4552-BA63-E776E805C424}" dt="2026-09-15T01:28:40.580" v="18" actId="21"/>
          <ac:picMkLst>
            <pc:docMk/>
            <pc:sldMk cId="0" sldId="267"/>
            <ac:picMk id="2" creationId="{00000000-0000-0000-0000-000000000000}"/>
          </ac:picMkLst>
        </pc:picChg>
        <pc:picChg chg="add">
          <ac:chgData name="Lai, Wilson" userId="2840974a-0d84-4886-90a9-9a3ed79f3a48" providerId="ADAL" clId="{9F23B798-9E84-4552-BA63-E776E805C424}" dt="2026-09-15T01:28:58.087" v="19" actId="22"/>
          <ac:picMkLst>
            <pc:docMk/>
            <pc:sldMk cId="0" sldId="267"/>
            <ac:picMk id="4" creationId="{98072DA0-5D38-C38D-C26A-DF0692C94D06}"/>
          </ac:picMkLst>
        </pc:picChg>
      </pc:sldChg>
      <pc:sldChg chg="modNotes modNotesTx">
        <pc:chgData name="Lai, Wilson" userId="2840974a-0d84-4886-90a9-9a3ed79f3a48" providerId="ADAL" clId="{9F23B798-9E84-4552-BA63-E776E805C424}" dt="2026-09-15T02:37:48.412" v="68"/>
        <pc:sldMkLst>
          <pc:docMk/>
          <pc:sldMk cId="1386524309"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627AB5-02E2-4E19-A02A-768B52823450}" type="datetimeFigureOut">
              <a:rPr lang="en-US" smtClean="0"/>
              <a:t>9/15/2026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B148A32-4998-45FC-A9A1-F3B5778A9B54}" type="slidenum">
              <a:rPr lang="en-US" smtClean="0"/>
              <a:t>‹#›</a:t>
            </a:fld>
            <a:endParaRPr lang="en-US"/>
          </a:p>
        </p:txBody>
      </p:sp>
    </p:spTree>
    <p:extLst>
      <p:ext uri="{BB962C8B-B14F-4D97-AF65-F5344CB8AC3E}">
        <p14:creationId xmlns:p14="http://schemas.microsoft.com/office/powerpoint/2010/main" val="2422869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and welcome. Today, we’re going to dive into the architecture and engineering required to build a full-duplex, real-time conversational AI avatar—one that doesn't just listen and talk back, but actively sees through a camera, executes real-world backend actions, and queries grounded knowledge bases in real time.</a:t>
            </a:r>
          </a:p>
          <a:p>
            <a:r>
              <a:rPr lang="en-US" dirty="0"/>
              <a:t>If you look at the system architecture schematic on this slide, you’ll see the primary components of what we call a 'conversational agent that sees, hears, and acts':</a:t>
            </a:r>
          </a:p>
          <a:p>
            <a:pPr marL="228600" lvl="0" indent="-228600">
              <a:buFont typeface="+mj-lt"/>
              <a:buAutoNum type="arabicPeriod"/>
            </a:pPr>
            <a:r>
              <a:rPr lang="en-US" b="1" dirty="0"/>
              <a:t>Vision API / Interface:</a:t>
            </a:r>
            <a:r>
              <a:rPr lang="en-US" dirty="0"/>
              <a:t> For processing live video frames directly from the user's camera feed.</a:t>
            </a:r>
          </a:p>
          <a:p>
            <a:pPr marL="228600" lvl="0" indent="-228600">
              <a:buFont typeface="+mj-lt"/>
              <a:buAutoNum type="arabicPeriod"/>
            </a:pPr>
            <a:r>
              <a:rPr lang="en-US" b="1" dirty="0"/>
              <a:t>Audio Processing Core:</a:t>
            </a:r>
            <a:r>
              <a:rPr lang="en-US" dirty="0"/>
              <a:t> Handling real-time speech-to-text (STT) transcription and streaming text-to-speech (TTS) synthesis.</a:t>
            </a:r>
          </a:p>
          <a:p>
            <a:pPr marL="228600" lvl="0" indent="-228600">
              <a:buFont typeface="+mj-lt"/>
              <a:buAutoNum type="arabicPeriod"/>
            </a:pPr>
            <a:r>
              <a:rPr lang="en-US" b="1" dirty="0"/>
              <a:t>Neural Net / Emotion Engine:</a:t>
            </a:r>
            <a:r>
              <a:rPr lang="en-US" dirty="0"/>
              <a:t> Managing language generation, sentiment tracking, and controlling the visual avatar's facial actuation and lip-syncing in real time.</a:t>
            </a:r>
          </a:p>
          <a:p>
            <a:pPr marL="228600" lvl="0" indent="-228600">
              <a:buFont typeface="+mj-lt"/>
              <a:buAutoNum type="arabicPeriod"/>
            </a:pPr>
            <a:r>
              <a:rPr lang="en-US" b="1" dirty="0"/>
              <a:t>Actuation &amp; Backend Gateway:</a:t>
            </a:r>
            <a:r>
              <a:rPr lang="en-US" dirty="0"/>
              <a:t> Interfacing directly with HTTP endpoints and local application databases to execute side effects.</a:t>
            </a:r>
          </a:p>
          <a:p>
            <a:pPr marL="228600" indent="-228600">
              <a:buFont typeface="+mj-lt"/>
              <a:buAutoNum type="arabicPeriod"/>
            </a:pPr>
            <a:r>
              <a:rPr lang="en-US" dirty="0"/>
              <a:t>Traditionally, building a system like this meant stitching together four or five separate APIs—a speech model, a large language model, a vision pipeline, and a visual rendering engine—causing high latency, broken lip-sync, and state synchronization headaches. Today, we'll demonstrate how to unify these components using a modern agentic framework (</a:t>
            </a:r>
            <a:r>
              <a:rPr lang="en-US" dirty="0" err="1"/>
              <a:t>Aapulu</a:t>
            </a:r>
            <a:r>
              <a:rPr lang="en-US" dirty="0"/>
              <a:t> Labs).</a:t>
            </a:r>
          </a:p>
          <a:p>
            <a:endParaRPr lang="en-US" dirty="0"/>
          </a:p>
          <a:p>
            <a:endParaRPr lang="en-US" dirty="0"/>
          </a:p>
          <a:p>
            <a:endParaRPr lang="en-US" dirty="0"/>
          </a:p>
          <a:p>
            <a:r>
              <a:rPr lang="en-US" dirty="0"/>
              <a:t>https://www.youtube.com/watch?v=CyMIar4TDhw</a:t>
            </a:r>
          </a:p>
        </p:txBody>
      </p:sp>
      <p:sp>
        <p:nvSpPr>
          <p:cNvPr id="4" name="Slide Number Placeholder 3"/>
          <p:cNvSpPr>
            <a:spLocks noGrp="1"/>
          </p:cNvSpPr>
          <p:nvPr>
            <p:ph type="sldNum" sz="quarter" idx="5"/>
          </p:nvPr>
        </p:nvSpPr>
        <p:spPr/>
        <p:txBody>
          <a:bodyPr/>
          <a:lstStyle/>
          <a:p>
            <a:fld id="{FB148A32-4998-45FC-A9A1-F3B5778A9B54}" type="slidenum">
              <a:rPr lang="en-US" smtClean="0"/>
              <a:t>1</a:t>
            </a:fld>
            <a:endParaRPr lang="en-US"/>
          </a:p>
        </p:txBody>
      </p:sp>
    </p:spTree>
    <p:extLst>
      <p:ext uri="{BB962C8B-B14F-4D97-AF65-F5344CB8AC3E}">
        <p14:creationId xmlns:p14="http://schemas.microsoft.com/office/powerpoint/2010/main" val="2548436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how our avatar operates during a live interaction, let's break down its architectural subsystems into four core metaphors:</a:t>
            </a:r>
          </a:p>
          <a:p>
            <a:pPr marL="228600" lvl="0" indent="-228600">
              <a:buFont typeface="+mj-lt"/>
              <a:buAutoNum type="arabicPeriod"/>
            </a:pPr>
            <a:r>
              <a:rPr lang="en-US" b="1" dirty="0"/>
              <a:t>The Brain (Scenario Nodes &amp; State Machines):</a:t>
            </a:r>
            <a:r>
              <a:rPr lang="en-US" dirty="0"/>
              <a:t> Instead of handing a large model a single wall of prompt instructions, we structure the conversation into a deterministic </a:t>
            </a:r>
            <a:r>
              <a:rPr lang="en-US" b="1" dirty="0"/>
              <a:t>finite state machine (FSM)</a:t>
            </a:r>
            <a:r>
              <a:rPr lang="en-US" dirty="0"/>
              <a:t>. Each node represents a distinct phase—such as greeting, intake, or scheduling. The brain determines </a:t>
            </a:r>
            <a:r>
              <a:rPr lang="en-US" i="1" dirty="0"/>
              <a:t>what task</a:t>
            </a:r>
            <a:r>
              <a:rPr lang="en-US" dirty="0"/>
              <a:t> the AI performs at any given second.</a:t>
            </a:r>
          </a:p>
          <a:p>
            <a:pPr marL="228600" lvl="0" indent="-228600">
              <a:buFont typeface="+mj-lt"/>
              <a:buAutoNum type="arabicPeriod"/>
            </a:pPr>
            <a:r>
              <a:rPr lang="en-US" b="1" dirty="0"/>
              <a:t>The Hands (HTTP Endpoints &amp; Tool Interfacing):</a:t>
            </a:r>
            <a:r>
              <a:rPr lang="en-US" dirty="0"/>
              <a:t> An agent that can only talk is just a chatbot. 'The Hands' allow the agent to reach into the real world. Through HTTP endpoints, the AI makes authenticated POST requests to backend servers (like local Flask or Node services) to query database availability or confirm bookings.</a:t>
            </a:r>
          </a:p>
          <a:p>
            <a:pPr marL="228600" lvl="0" indent="-228600">
              <a:buFont typeface="+mj-lt"/>
              <a:buAutoNum type="arabicPeriod"/>
            </a:pPr>
            <a:r>
              <a:rPr lang="en-US" b="1" dirty="0"/>
              <a:t>The Senses &amp; Memory (Vision &amp; RAG):</a:t>
            </a:r>
            <a:r>
              <a:rPr lang="en-US" dirty="0"/>
              <a:t> The agent accesses visual data via camera frame grabs and uses </a:t>
            </a:r>
            <a:r>
              <a:rPr lang="en-US" b="1" dirty="0"/>
              <a:t>Retrieval-Augmented Generation (RAG)</a:t>
            </a:r>
            <a:r>
              <a:rPr lang="en-US" dirty="0"/>
              <a:t> to retrieve grounded facts from external files (e.g., Markdown or PDF manuals), preventing hallucinations.</a:t>
            </a:r>
          </a:p>
          <a:p>
            <a:pPr marL="228600" lvl="0" indent="-228600">
              <a:buFont typeface="+mj-lt"/>
              <a:buAutoNum type="arabicPeriod"/>
            </a:pPr>
            <a:r>
              <a:rPr lang="en-US" b="1" dirty="0"/>
              <a:t>The Body (The Web SDK &amp; UI Container):</a:t>
            </a:r>
            <a:r>
              <a:rPr lang="en-US" dirty="0"/>
              <a:t> This is where the user interacts with the system. Built on React and WebRTC, the Web SDK handles low-latency media delivery, browser mic/camera permissions, and real-time state synchronization.</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2</a:t>
            </a:fld>
            <a:endParaRPr lang="en-US"/>
          </a:p>
        </p:txBody>
      </p:sp>
    </p:spTree>
    <p:extLst>
      <p:ext uri="{BB962C8B-B14F-4D97-AF65-F5344CB8AC3E}">
        <p14:creationId xmlns:p14="http://schemas.microsoft.com/office/powerpoint/2010/main" val="2608111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trace a concrete end-to-end medical screening flow across its 5 finite conversation nodes:</a:t>
            </a:r>
          </a:p>
          <a:p>
            <a:pPr marL="171450" lvl="0" indent="-171450">
              <a:buFont typeface="Arial" panose="020B0604020202020204" pitchFamily="34" charset="0"/>
              <a:buChar char="•"/>
            </a:pPr>
            <a:r>
              <a:rPr lang="en-US" b="1" dirty="0"/>
              <a:t>Node 1: Intro:</a:t>
            </a:r>
            <a:r>
              <a:rPr lang="en-US" dirty="0"/>
              <a:t> The avatar introduces itself as a medical assistant, explains the screening process, and requests user consent.</a:t>
            </a:r>
          </a:p>
          <a:p>
            <a:pPr marL="171450" lvl="0" indent="-171450">
              <a:buFont typeface="Arial" panose="020B0604020202020204" pitchFamily="34" charset="0"/>
              <a:buChar char="•"/>
            </a:pPr>
            <a:r>
              <a:rPr lang="en-US" b="1" dirty="0"/>
              <a:t>Node 2: Data Intake:</a:t>
            </a:r>
            <a:r>
              <a:rPr lang="en-US" dirty="0"/>
              <a:t> Once consent is given, the avatar transitions to gathering basic details (Name, Age, Primary Reason for Visit). If the user holds something up to the screen (e.g., a bruise under the eye), the agent triggers its </a:t>
            </a:r>
            <a:r>
              <a:rPr lang="en-US" b="1" dirty="0"/>
              <a:t>Vision Tool</a:t>
            </a:r>
            <a:r>
              <a:rPr lang="en-US" dirty="0"/>
              <a:t> to analyze the video frame.</a:t>
            </a:r>
          </a:p>
          <a:p>
            <a:pPr marL="171450" lvl="0" indent="-171450">
              <a:buFont typeface="Arial" panose="020B0604020202020204" pitchFamily="34" charset="0"/>
              <a:buChar char="•"/>
            </a:pPr>
            <a:r>
              <a:rPr lang="en-US" b="1" dirty="0"/>
              <a:t>Node 3: Appointment Booking:</a:t>
            </a:r>
            <a:r>
              <a:rPr lang="en-US" dirty="0"/>
              <a:t> The agent transitions to scheduling. It requests preferred dates, calls a backend tool (</a:t>
            </a:r>
            <a:r>
              <a:rPr lang="en-US" sz="1200" kern="1200" dirty="0" err="1">
                <a:solidFill>
                  <a:schemeClr val="tx1"/>
                </a:solidFill>
                <a:latin typeface="+mn-lt"/>
                <a:ea typeface="+mn-ea"/>
                <a:cs typeface="+mn-cs"/>
              </a:rPr>
              <a:t>get_availability</a:t>
            </a:r>
            <a:r>
              <a:rPr lang="en-US" dirty="0"/>
              <a:t>) to fetch open slots, and confirms the choice via </a:t>
            </a:r>
            <a:r>
              <a:rPr lang="en-US" sz="1200" kern="1200" dirty="0" err="1">
                <a:solidFill>
                  <a:schemeClr val="tx1"/>
                </a:solidFill>
                <a:latin typeface="+mn-lt"/>
                <a:ea typeface="+mn-ea"/>
                <a:cs typeface="+mn-cs"/>
              </a:rPr>
              <a:t>book_appointment</a:t>
            </a:r>
            <a:r>
              <a:rPr lang="en-US" dirty="0"/>
              <a:t>.</a:t>
            </a:r>
          </a:p>
          <a:p>
            <a:pPr marL="171450" lvl="0" indent="-171450">
              <a:buFont typeface="Arial" panose="020B0604020202020204" pitchFamily="34" charset="0"/>
              <a:buChar char="•"/>
            </a:pPr>
            <a:r>
              <a:rPr lang="en-US" b="1" dirty="0"/>
              <a:t>Node 4: Q&amp;A:</a:t>
            </a:r>
            <a:r>
              <a:rPr lang="en-US" dirty="0"/>
              <a:t> The user asks general clinic questions. The agent routes these queries to a RAG document repository (</a:t>
            </a:r>
            <a:r>
              <a:rPr lang="en-US" sz="1200" kern="1200" dirty="0">
                <a:solidFill>
                  <a:schemeClr val="tx1"/>
                </a:solidFill>
                <a:latin typeface="+mn-lt"/>
                <a:ea typeface="+mn-ea"/>
                <a:cs typeface="+mn-cs"/>
              </a:rPr>
              <a:t>clinic_details.md</a:t>
            </a:r>
            <a:r>
              <a:rPr lang="en-US" dirty="0"/>
              <a:t>).</a:t>
            </a:r>
          </a:p>
          <a:p>
            <a:pPr marL="171450" lvl="0" indent="-171450">
              <a:buFont typeface="Arial" panose="020B0604020202020204" pitchFamily="34" charset="0"/>
              <a:buChar char="•"/>
            </a:pPr>
            <a:r>
              <a:rPr lang="en-US" b="1" dirty="0"/>
              <a:t>Node 5: End Screening:</a:t>
            </a:r>
            <a:r>
              <a:rPr lang="en-US" dirty="0"/>
              <a:t> The agent summarizes the session, outlines next steps, and cleanly terminates the WebRTC session.</a:t>
            </a:r>
          </a:p>
          <a:p>
            <a:pPr marL="0" indent="0">
              <a:buFont typeface="Arial" panose="020B0604020202020204" pitchFamily="34" charset="0"/>
              <a:buNone/>
            </a:pPr>
            <a:r>
              <a:rPr lang="en-US" b="1" dirty="0"/>
              <a:t>Key Architectural Insight:</a:t>
            </a:r>
            <a:r>
              <a:rPr lang="en-US" dirty="0"/>
              <a:t> Nodes define the specific Task (what the AI is doing now), while the persistent Role (Friendly Medical Assistant) remains anchored across the entire conversation flow.</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3</a:t>
            </a:fld>
            <a:endParaRPr lang="en-US"/>
          </a:p>
        </p:txBody>
      </p:sp>
    </p:spTree>
    <p:extLst>
      <p:ext uri="{BB962C8B-B14F-4D97-AF65-F5344CB8AC3E}">
        <p14:creationId xmlns:p14="http://schemas.microsoft.com/office/powerpoint/2010/main" val="7280664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node transitions and real-world interactions execution-safe, we categorize tool functions into a structured matrix:</a:t>
            </a:r>
          </a:p>
          <a:p>
            <a:pPr marL="171450" lvl="0" indent="-171450">
              <a:buFont typeface="Arial" panose="020B0604020202020204" pitchFamily="34" charset="0"/>
              <a:buChar char="•"/>
            </a:pPr>
            <a:r>
              <a:rPr lang="en-US" b="1" dirty="0"/>
              <a:t>Transition Tools:</a:t>
            </a:r>
            <a:r>
              <a:rPr lang="en-US" dirty="0"/>
              <a:t> Handled internally by the state machine. Triggered by user intent (e.g., 'Let's move forward') to move the active focus from Node A to Node B.</a:t>
            </a:r>
          </a:p>
          <a:p>
            <a:pPr marL="171450" lvl="0" indent="-171450">
              <a:buFont typeface="Arial" panose="020B0604020202020204" pitchFamily="34" charset="0"/>
              <a:buChar char="•"/>
            </a:pPr>
            <a:r>
              <a:rPr lang="en-US" b="1" dirty="0"/>
              <a:t>Vision Tools:</a:t>
            </a:r>
            <a:r>
              <a:rPr lang="en-US" dirty="0"/>
              <a:t> Enables on-demand multi-modal analysis. Triggered when a user says, 'Can you look at this bruise?' It captures a frame from the user's video stream and feeds it into the LLM vision decoder.</a:t>
            </a:r>
          </a:p>
          <a:p>
            <a:pPr marL="171450" lvl="0" indent="-171450">
              <a:buFont typeface="Arial" panose="020B0604020202020204" pitchFamily="34" charset="0"/>
              <a:buChar char="•"/>
            </a:pPr>
            <a:r>
              <a:rPr lang="en-US" b="1" dirty="0"/>
              <a:t>HTTP Endpoints:</a:t>
            </a:r>
            <a:r>
              <a:rPr lang="en-US" dirty="0"/>
              <a:t> External API hooks. Used for backend transactions, such as executing a POST request to check open calendar slots.</a:t>
            </a:r>
          </a:p>
          <a:p>
            <a:pPr marL="171450" lvl="0" indent="-171450">
              <a:buFont typeface="Arial" panose="020B0604020202020204" pitchFamily="34" charset="0"/>
              <a:buChar char="•"/>
            </a:pPr>
            <a:r>
              <a:rPr lang="en-US" b="1" dirty="0"/>
              <a:t>RAG Tools:</a:t>
            </a:r>
            <a:r>
              <a:rPr lang="en-US" dirty="0"/>
              <a:t> Vector or document search functions. Triggered by domain-specific user queries ('What are your clinic hours?'), searching files like </a:t>
            </a:r>
            <a:r>
              <a:rPr lang="en-US" sz="1200" kern="1200" dirty="0">
                <a:solidFill>
                  <a:schemeClr val="tx1"/>
                </a:solidFill>
                <a:latin typeface="+mn-lt"/>
                <a:ea typeface="+mn-ea"/>
                <a:cs typeface="+mn-cs"/>
              </a:rPr>
              <a:t>clinic_details.md</a:t>
            </a:r>
            <a:r>
              <a:rPr lang="en-US" dirty="0"/>
              <a:t>.</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4</a:t>
            </a:fld>
            <a:endParaRPr lang="en-US"/>
          </a:p>
        </p:txBody>
      </p:sp>
    </p:spTree>
    <p:extLst>
      <p:ext uri="{BB962C8B-B14F-4D97-AF65-F5344CB8AC3E}">
        <p14:creationId xmlns:p14="http://schemas.microsoft.com/office/powerpoint/2010/main" val="1773374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Hallucinations in domain-specific conversational AI (especially healthcare or finance) are unacceptable. To guarantee accuracy, we deploy a strict RAG Information Funnel.</a:t>
            </a:r>
          </a:p>
          <a:p>
            <a:r>
              <a:rPr lang="en-US" dirty="0"/>
              <a:t>When a user asks a factual question (e.g., 'What are the typical turnaround times for lab results?'), the system routes the query away from general parametric LLM memory. Instead, it passes through a Knowledge Base Filter containing uploaded source documentation (</a:t>
            </a:r>
            <a:r>
              <a:rPr lang="en-US" sz="1200" kern="1200" dirty="0">
                <a:solidFill>
                  <a:schemeClr val="tx1"/>
                </a:solidFill>
                <a:latin typeface="+mn-lt"/>
                <a:ea typeface="+mn-ea"/>
                <a:cs typeface="+mn-cs"/>
              </a:rPr>
              <a:t>clinic_details.md</a:t>
            </a:r>
            <a:r>
              <a:rPr lang="en-US" dirty="0"/>
              <a:t>).</a:t>
            </a:r>
          </a:p>
          <a:p>
            <a:endParaRPr lang="en-US" b="1" dirty="0"/>
          </a:p>
          <a:p>
            <a:r>
              <a:rPr lang="en-US" b="1" dirty="0"/>
              <a:t>The System Prompt Rule:</a:t>
            </a:r>
          </a:p>
          <a:p>
            <a:r>
              <a:rPr lang="en-US" sz="1200" kern="1200" dirty="0">
                <a:solidFill>
                  <a:schemeClr val="tx1"/>
                </a:solidFill>
                <a:latin typeface="+mn-lt"/>
                <a:ea typeface="+mn-ea"/>
                <a:cs typeface="+mn-cs"/>
              </a:rPr>
              <a:t>'For any question about the clinic, use this tool; don't answer from memory.’</a:t>
            </a:r>
            <a:endParaRPr lang="en-US" dirty="0"/>
          </a:p>
          <a:p>
            <a:endParaRPr lang="en-US" dirty="0"/>
          </a:p>
          <a:p>
            <a:r>
              <a:rPr lang="en-US" dirty="0"/>
              <a:t>This simple prompt enforcement forces the model to fetch grounded information—returning precise facts (e.g., 'Routine tests take 2-4 business days')—and prevents speculative, ungrounded responses.</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5</a:t>
            </a:fld>
            <a:endParaRPr lang="en-US"/>
          </a:p>
        </p:txBody>
      </p:sp>
    </p:spTree>
    <p:extLst>
      <p:ext uri="{BB962C8B-B14F-4D97-AF65-F5344CB8AC3E}">
        <p14:creationId xmlns:p14="http://schemas.microsoft.com/office/powerpoint/2010/main" val="976273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configuring agent tools and headers, we distinguish between three distinct classes of variables:</a:t>
            </a:r>
          </a:p>
          <a:p>
            <a:r>
              <a:rPr lang="en-US" b="1" dirty="0"/>
              <a:t>1. Secret Variables (</a:t>
            </a:r>
            <a:r>
              <a:rPr lang="en-US" sz="1200" b="1" kern="1200" dirty="0">
                <a:solidFill>
                  <a:schemeClr val="tx1"/>
                </a:solidFill>
                <a:latin typeface="+mn-lt"/>
                <a:ea typeface="+mn-ea"/>
                <a:cs typeface="+mn-cs"/>
              </a:rPr>
              <a:t>{{</a:t>
            </a:r>
            <a:r>
              <a:rPr lang="en-US" sz="1200" b="1" kern="1200" dirty="0" err="1">
                <a:solidFill>
                  <a:schemeClr val="tx1"/>
                </a:solidFill>
                <a:latin typeface="+mn-lt"/>
                <a:ea typeface="+mn-ea"/>
                <a:cs typeface="+mn-cs"/>
              </a:rPr>
              <a:t>secret.webhook_token</a:t>
            </a:r>
            <a:r>
              <a:rPr lang="en-US" sz="1200" b="1" kern="1200" dirty="0">
                <a:solidFill>
                  <a:schemeClr val="tx1"/>
                </a:solidFill>
                <a:latin typeface="+mn-lt"/>
                <a:ea typeface="+mn-ea"/>
                <a:cs typeface="+mn-cs"/>
              </a:rPr>
              <a:t>}}</a:t>
            </a:r>
            <a:r>
              <a:rPr lang="en-US" b="1" dirty="0"/>
              <a:t>):</a:t>
            </a:r>
            <a:endParaRPr lang="en-US" dirty="0"/>
          </a:p>
          <a:p>
            <a:pPr marL="228600" lvl="0" indent="-228600">
              <a:buFont typeface="Arial" panose="020B0604020202020204" pitchFamily="34" charset="0"/>
              <a:buChar char="•"/>
            </a:pPr>
            <a:r>
              <a:rPr lang="en-US" i="1" dirty="0"/>
              <a:t>Location:</a:t>
            </a:r>
            <a:r>
              <a:rPr lang="en-US" dirty="0"/>
              <a:t> </a:t>
            </a:r>
            <a:r>
              <a:rPr lang="en-US" b="1" dirty="0"/>
              <a:t>Headers Only</a:t>
            </a:r>
            <a:r>
              <a:rPr lang="en-US" dirty="0"/>
              <a:t>.</a:t>
            </a:r>
          </a:p>
          <a:p>
            <a:pPr marL="228600" lvl="0" indent="-228600">
              <a:buFont typeface="Arial" panose="020B0604020202020204" pitchFamily="34" charset="0"/>
              <a:buChar char="•"/>
            </a:pPr>
            <a:r>
              <a:rPr lang="en-US" i="1" dirty="0"/>
              <a:t>Purpose:</a:t>
            </a:r>
            <a:r>
              <a:rPr lang="en-US" dirty="0"/>
              <a:t> Sensitive API keys or webhook tokens. Because request bodies are often logged in call transcripts or client-side logs, secret variables must </a:t>
            </a:r>
            <a:r>
              <a:rPr lang="en-US" b="1" dirty="0"/>
              <a:t>never</a:t>
            </a:r>
            <a:r>
              <a:rPr lang="en-US" dirty="0"/>
              <a:t> be placed in the body or prompt.</a:t>
            </a:r>
          </a:p>
          <a:p>
            <a:pPr marL="0" lvl="0" indent="0">
              <a:buFont typeface="+mj-lt"/>
              <a:buNone/>
            </a:pPr>
            <a:r>
              <a:rPr lang="en-US" b="1" dirty="0"/>
              <a:t>2. Runtime Variables (</a:t>
            </a:r>
            <a:r>
              <a:rPr lang="en-US" sz="1200" b="1" kern="1200" dirty="0">
                <a:solidFill>
                  <a:schemeClr val="tx1"/>
                </a:solidFill>
                <a:latin typeface="+mn-lt"/>
                <a:ea typeface="+mn-ea"/>
                <a:cs typeface="+mn-cs"/>
              </a:rPr>
              <a:t>{{</a:t>
            </a:r>
            <a:r>
              <a:rPr lang="en-US" sz="1200" b="1" kern="1200" dirty="0" err="1">
                <a:solidFill>
                  <a:schemeClr val="tx1"/>
                </a:solidFill>
                <a:latin typeface="+mn-lt"/>
                <a:ea typeface="+mn-ea"/>
                <a:cs typeface="+mn-cs"/>
              </a:rPr>
              <a:t>runtime.patient_id</a:t>
            </a:r>
            <a:r>
              <a:rPr lang="en-US" sz="1200" b="1" kern="1200" dirty="0">
                <a:solidFill>
                  <a:schemeClr val="tx1"/>
                </a:solidFill>
                <a:latin typeface="+mn-lt"/>
                <a:ea typeface="+mn-ea"/>
                <a:cs typeface="+mn-cs"/>
              </a:rPr>
              <a:t>}}</a:t>
            </a:r>
            <a:r>
              <a:rPr lang="en-US" b="1" dirty="0"/>
              <a:t>):</a:t>
            </a:r>
            <a:endParaRPr lang="en-US" dirty="0"/>
          </a:p>
          <a:p>
            <a:pPr marL="228600" lvl="0" indent="-228600">
              <a:buFont typeface="Arial" panose="020B0604020202020204" pitchFamily="34" charset="0"/>
              <a:buChar char="•"/>
            </a:pPr>
            <a:r>
              <a:rPr lang="en-US" i="1" dirty="0"/>
              <a:t>Location:</a:t>
            </a:r>
            <a:r>
              <a:rPr lang="en-US" dirty="0"/>
              <a:t> Headers, Body, or Prompts.</a:t>
            </a:r>
          </a:p>
          <a:p>
            <a:pPr marL="228600" lvl="0" indent="-228600">
              <a:buFont typeface="Arial" panose="020B0604020202020204" pitchFamily="34" charset="0"/>
              <a:buChar char="•"/>
            </a:pPr>
            <a:r>
              <a:rPr lang="en-US" i="1" dirty="0"/>
              <a:t>Purpose:</a:t>
            </a:r>
            <a:r>
              <a:rPr lang="en-US" dirty="0"/>
              <a:t> Per-session contextual data injected by the parent web application at session connection time (e.g., logged-in User ID or today's date).</a:t>
            </a:r>
          </a:p>
          <a:p>
            <a:pPr marL="0" lvl="0" indent="0">
              <a:buFont typeface="+mj-lt"/>
              <a:buNone/>
            </a:pPr>
            <a:r>
              <a:rPr lang="en-US" b="1" dirty="0"/>
              <a:t>3. LLM Variables (</a:t>
            </a:r>
            <a:r>
              <a:rPr lang="en-US" sz="1200" b="1" kern="1200" dirty="0">
                <a:solidFill>
                  <a:schemeClr val="tx1"/>
                </a:solidFill>
                <a:latin typeface="+mn-lt"/>
                <a:ea typeface="+mn-ea"/>
                <a:cs typeface="+mn-cs"/>
              </a:rPr>
              <a:t>{{</a:t>
            </a:r>
            <a:r>
              <a:rPr lang="en-US" sz="1200" b="1" kern="1200" dirty="0" err="1">
                <a:solidFill>
                  <a:schemeClr val="tx1"/>
                </a:solidFill>
                <a:latin typeface="+mn-lt"/>
                <a:ea typeface="+mn-ea"/>
                <a:cs typeface="+mn-cs"/>
              </a:rPr>
              <a:t>llm.appointment_date</a:t>
            </a:r>
            <a:r>
              <a:rPr lang="en-US" sz="1200" b="1" kern="1200" dirty="0">
                <a:solidFill>
                  <a:schemeClr val="tx1"/>
                </a:solidFill>
                <a:latin typeface="+mn-lt"/>
                <a:ea typeface="+mn-ea"/>
                <a:cs typeface="+mn-cs"/>
              </a:rPr>
              <a:t>: Format YYYY-MM-DD}}</a:t>
            </a:r>
            <a:r>
              <a:rPr lang="en-US" b="1" dirty="0"/>
              <a:t>):</a:t>
            </a:r>
            <a:endParaRPr lang="en-US" dirty="0"/>
          </a:p>
          <a:p>
            <a:pPr marL="228600" lvl="0" indent="-228600">
              <a:buFont typeface="Arial" panose="020B0604020202020204" pitchFamily="34" charset="0"/>
              <a:buChar char="•"/>
            </a:pPr>
            <a:r>
              <a:rPr lang="en-US" i="1" dirty="0"/>
              <a:t>Location:</a:t>
            </a:r>
            <a:r>
              <a:rPr lang="en-US" dirty="0"/>
              <a:t> Request Body.</a:t>
            </a:r>
          </a:p>
          <a:p>
            <a:pPr marL="228600" lvl="0" indent="-228600">
              <a:buFont typeface="Arial" panose="020B0604020202020204" pitchFamily="34" charset="0"/>
              <a:buChar char="•"/>
            </a:pPr>
            <a:r>
              <a:rPr lang="en-US" i="1" dirty="0"/>
              <a:t>Purpose:</a:t>
            </a:r>
            <a:r>
              <a:rPr lang="en-US" dirty="0"/>
              <a:t> Dynamic parameters generated and extracted by the LLM during live dialogue (e.g., parsing 'Next Friday at 1:30' into </a:t>
            </a:r>
            <a:r>
              <a:rPr lang="en-US" sz="1200" kern="1200" dirty="0">
                <a:solidFill>
                  <a:schemeClr val="tx1"/>
                </a:solidFill>
                <a:latin typeface="+mn-lt"/>
                <a:ea typeface="+mn-ea"/>
                <a:cs typeface="+mn-cs"/>
              </a:rPr>
              <a:t>2026-06-26</a:t>
            </a:r>
            <a:r>
              <a:rPr lang="en-US" dirty="0"/>
              <a:t>).</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6</a:t>
            </a:fld>
            <a:endParaRPr lang="en-US"/>
          </a:p>
        </p:txBody>
      </p:sp>
    </p:spTree>
    <p:extLst>
      <p:ext uri="{BB962C8B-B14F-4D97-AF65-F5344CB8AC3E}">
        <p14:creationId xmlns:p14="http://schemas.microsoft.com/office/powerpoint/2010/main" val="38816306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or hybrid edge-cloud deployments, your avatar engine runs in the cloud, while your business logic and backend services may run on localhost or private subnets.</a:t>
            </a:r>
          </a:p>
          <a:p>
            <a:pPr marL="171450" lvl="0" indent="-171450">
              <a:buFont typeface="Arial" panose="020B0604020202020204" pitchFamily="34" charset="0"/>
              <a:buChar char="•"/>
            </a:pPr>
            <a:r>
              <a:rPr lang="en-US" b="1" dirty="0"/>
              <a:t>The Cloud Layer:</a:t>
            </a:r>
            <a:r>
              <a:rPr lang="en-US" dirty="0"/>
              <a:t> The avatar platform executes prompt logic, lip-sync rendering, and speech processing.</a:t>
            </a:r>
          </a:p>
          <a:p>
            <a:pPr marL="171450" lvl="0" indent="-171450">
              <a:buFont typeface="Arial" panose="020B0604020202020204" pitchFamily="34" charset="0"/>
              <a:buChar char="•"/>
            </a:pPr>
            <a:r>
              <a:rPr lang="en-US" b="1" dirty="0"/>
              <a:t>The Conduit:</a:t>
            </a:r>
            <a:r>
              <a:rPr lang="en-US" dirty="0"/>
              <a:t> When the agent needs to call an HTTP tool (e.g.,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get_availability</a:t>
            </a:r>
            <a:r>
              <a:rPr lang="en-US" dirty="0"/>
              <a:t>), it issues an HTTP POST over the public internet.</a:t>
            </a:r>
          </a:p>
          <a:p>
            <a:pPr marL="171450" lvl="0" indent="-171450">
              <a:buFont typeface="Arial" panose="020B0604020202020204" pitchFamily="34" charset="0"/>
              <a:buChar char="•"/>
            </a:pPr>
            <a:r>
              <a:rPr lang="en-US" b="1" dirty="0" err="1"/>
              <a:t>Ngrok</a:t>
            </a:r>
            <a:r>
              <a:rPr lang="en-US" b="1" dirty="0"/>
              <a:t> Tunneling:</a:t>
            </a:r>
            <a:r>
              <a:rPr lang="en-US" dirty="0"/>
              <a:t> To route this request back to a local Flask server running on </a:t>
            </a:r>
            <a:r>
              <a:rPr lang="en-US" sz="1200" kern="1200" dirty="0">
                <a:solidFill>
                  <a:schemeClr val="tx1"/>
                </a:solidFill>
                <a:latin typeface="+mn-lt"/>
                <a:ea typeface="+mn-ea"/>
                <a:cs typeface="+mn-cs"/>
              </a:rPr>
              <a:t>localhost:8080</a:t>
            </a:r>
            <a:r>
              <a:rPr lang="en-US" dirty="0"/>
              <a:t>, we establish a secure </a:t>
            </a:r>
            <a:r>
              <a:rPr lang="en-US" dirty="0" err="1"/>
              <a:t>ngrok</a:t>
            </a:r>
            <a:r>
              <a:rPr lang="en-US" dirty="0"/>
              <a:t> tunnel (</a:t>
            </a:r>
            <a:r>
              <a:rPr lang="en-US" sz="1200" kern="1200" dirty="0">
                <a:solidFill>
                  <a:schemeClr val="tx1"/>
                </a:solidFill>
                <a:latin typeface="+mn-lt"/>
                <a:ea typeface="+mn-ea"/>
                <a:cs typeface="+mn-cs"/>
              </a:rPr>
              <a:t>https://&lt;hash&gt;.ngrok-free.app</a:t>
            </a:r>
            <a:r>
              <a:rPr lang="en-US" dirty="0"/>
              <a:t>).</a:t>
            </a:r>
          </a:p>
          <a:p>
            <a:pPr marL="171450" lvl="0" indent="-171450">
              <a:buFont typeface="Arial" panose="020B0604020202020204" pitchFamily="34" charset="0"/>
              <a:buChar char="•"/>
            </a:pPr>
            <a:r>
              <a:rPr lang="en-US" b="1" dirty="0"/>
              <a:t>Local Processing:</a:t>
            </a:r>
            <a:r>
              <a:rPr lang="en-US" dirty="0"/>
              <a:t> Flask receives the request, processes the local database transaction, and returns the JSON payload back through the conduit to the cloud agent.</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7</a:t>
            </a:fld>
            <a:endParaRPr lang="en-US"/>
          </a:p>
        </p:txBody>
      </p:sp>
    </p:spTree>
    <p:extLst>
      <p:ext uri="{BB962C8B-B14F-4D97-AF65-F5344CB8AC3E}">
        <p14:creationId xmlns:p14="http://schemas.microsoft.com/office/powerpoint/2010/main" val="1609985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must be built into real-time voice architectures from day one. Slide 8 details how incoming HTTP requests from the avatar agent are verified at your API gateway.</a:t>
            </a:r>
          </a:p>
          <a:p>
            <a:r>
              <a:rPr lang="en-US" dirty="0"/>
              <a:t>When the AI agent triggers an HTTP endpoint, it attaches an </a:t>
            </a:r>
            <a:r>
              <a:rPr lang="en-US" sz="1200" kern="1200" dirty="0">
                <a:solidFill>
                  <a:schemeClr val="tx1"/>
                </a:solidFill>
                <a:latin typeface="+mn-lt"/>
                <a:ea typeface="+mn-ea"/>
                <a:cs typeface="+mn-cs"/>
              </a:rPr>
              <a:t>Authorization</a:t>
            </a:r>
            <a:r>
              <a:rPr lang="en-US" dirty="0"/>
              <a:t> header populated with your secret variable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secret.webhook_token</a:t>
            </a:r>
            <a:r>
              <a:rPr lang="en-US" sz="1200" kern="1200" dirty="0">
                <a:solidFill>
                  <a:schemeClr val="tx1"/>
                </a:solidFill>
                <a:latin typeface="+mn-lt"/>
                <a:ea typeface="+mn-ea"/>
                <a:cs typeface="+mn-cs"/>
              </a:rPr>
              <a:t>}}</a:t>
            </a:r>
            <a:r>
              <a:rPr lang="en-US" dirty="0"/>
              <a:t>).</a:t>
            </a:r>
          </a:p>
          <a:p>
            <a:pPr marL="171450" lvl="0" indent="-171450">
              <a:buFont typeface="Arial" panose="020B0604020202020204" pitchFamily="34" charset="0"/>
              <a:buChar char="•"/>
            </a:pPr>
            <a:r>
              <a:rPr lang="en-US" b="1" dirty="0"/>
              <a:t>Header Validation:</a:t>
            </a:r>
            <a:r>
              <a:rPr lang="en-US" dirty="0"/>
              <a:t> The backend Flask/Node gateway inspects the incoming request header for </a:t>
            </a:r>
            <a:r>
              <a:rPr lang="en-US" sz="1200" kern="1200" dirty="0">
                <a:solidFill>
                  <a:schemeClr val="tx1"/>
                </a:solidFill>
                <a:latin typeface="+mn-lt"/>
                <a:ea typeface="+mn-ea"/>
                <a:cs typeface="+mn-cs"/>
              </a:rPr>
              <a:t>webhook_sec_123</a:t>
            </a:r>
            <a:r>
              <a:rPr lang="en-US" dirty="0"/>
              <a:t>.</a:t>
            </a:r>
          </a:p>
          <a:p>
            <a:pPr marL="171450" lvl="0" indent="-171450">
              <a:buFont typeface="Arial" panose="020B0604020202020204" pitchFamily="34" charset="0"/>
              <a:buChar char="•"/>
            </a:pPr>
            <a:r>
              <a:rPr lang="en-US" b="1" dirty="0"/>
              <a:t>Body Isolation:</a:t>
            </a:r>
            <a:r>
              <a:rPr lang="en-US" dirty="0"/>
              <a:t> Contextual data like </a:t>
            </a:r>
            <a:r>
              <a:rPr lang="en-US" sz="1200" kern="1200" dirty="0" err="1">
                <a:solidFill>
                  <a:schemeClr val="tx1"/>
                </a:solidFill>
                <a:latin typeface="+mn-lt"/>
                <a:ea typeface="+mn-ea"/>
                <a:cs typeface="+mn-cs"/>
              </a:rPr>
              <a:t>patient_id</a:t>
            </a:r>
            <a:r>
              <a:rPr lang="en-US" dirty="0"/>
              <a:t> sits inside the JSON payload body in the protected zone.</a:t>
            </a:r>
          </a:p>
          <a:p>
            <a:pPr marL="171450" lvl="0" indent="-171450">
              <a:buFont typeface="Arial" panose="020B0604020202020204" pitchFamily="34" charset="0"/>
              <a:buChar char="•"/>
            </a:pPr>
            <a:r>
              <a:rPr lang="en-US" b="1" dirty="0"/>
              <a:t>Audit Safety:</a:t>
            </a:r>
            <a:r>
              <a:rPr lang="en-US" dirty="0"/>
              <a:t> Because raw request bodies are saved into conversation logs and debug transcripts, isolating authentication keys in the HTTP Header guarantees that API credentials never leak into transcripts or database logs.</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8</a:t>
            </a:fld>
            <a:endParaRPr lang="en-US"/>
          </a:p>
        </p:txBody>
      </p:sp>
    </p:spTree>
    <p:extLst>
      <p:ext uri="{BB962C8B-B14F-4D97-AF65-F5344CB8AC3E}">
        <p14:creationId xmlns:p14="http://schemas.microsoft.com/office/powerpoint/2010/main" val="31171574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Client-side integration is modularized across three NPM packages within the </a:t>
            </a:r>
            <a:r>
              <a:rPr lang="en-US" sz="1200" kern="1200" dirty="0">
                <a:solidFill>
                  <a:schemeClr val="tx1"/>
                </a:solidFill>
                <a:latin typeface="+mn-lt"/>
                <a:ea typeface="+mn-ea"/>
                <a:cs typeface="+mn-cs"/>
              </a:rPr>
              <a:t>@aapulu</a:t>
            </a:r>
            <a:r>
              <a:rPr lang="en-US" dirty="0"/>
              <a:t> ecosystem:</a:t>
            </a:r>
          </a:p>
          <a:p>
            <a:pPr marL="228600" lvl="0" indent="-228600">
              <a:buFont typeface="+mj-lt"/>
              <a:buAutoNum type="arabicPeriod"/>
            </a:pPr>
            <a:r>
              <a:rPr lang="en-US" sz="1200" b="1" kern="1200" dirty="0">
                <a:solidFill>
                  <a:schemeClr val="tx1"/>
                </a:solidFill>
                <a:latin typeface="+mn-lt"/>
                <a:ea typeface="+mn-ea"/>
                <a:cs typeface="+mn-cs"/>
              </a:rPr>
              <a:t>@aapulu/server</a:t>
            </a:r>
            <a:r>
              <a:rPr lang="en-US" b="1" dirty="0"/>
              <a:t> (Backend Client):</a:t>
            </a:r>
            <a:r>
              <a:rPr lang="en-US" dirty="0"/>
              <a:t> Runs on your secure backend (Node/Next.js API routes). It uses your primary API key to authenticate session connection requests without exposing API keys to the client browser.</a:t>
            </a:r>
          </a:p>
          <a:p>
            <a:pPr marL="228600" lvl="0" indent="-228600">
              <a:buFont typeface="+mj-lt"/>
              <a:buAutoNum type="arabicPeriod"/>
            </a:pPr>
            <a:r>
              <a:rPr lang="en-US" sz="1200" b="1" kern="1200" dirty="0">
                <a:solidFill>
                  <a:schemeClr val="tx1"/>
                </a:solidFill>
                <a:latin typeface="+mn-lt"/>
                <a:ea typeface="+mn-ea"/>
                <a:cs typeface="+mn-cs"/>
              </a:rPr>
              <a:t>@aapulu/react</a:t>
            </a:r>
            <a:r>
              <a:rPr lang="en-US" b="1" dirty="0"/>
              <a:t> (Core Provider &amp; Hooks):</a:t>
            </a:r>
            <a:r>
              <a:rPr lang="en-US" dirty="0"/>
              <a:t> Provides state management hooks, manages media devices (microphone/camera), and handles incoming WebRTC event listeners.</a:t>
            </a:r>
          </a:p>
          <a:p>
            <a:pPr marL="228600" lvl="0" indent="-228600">
              <a:buFont typeface="+mj-lt"/>
              <a:buAutoNum type="arabicPeriod"/>
            </a:pPr>
            <a:r>
              <a:rPr lang="en-US" sz="1200" b="1" kern="1200" dirty="0">
                <a:solidFill>
                  <a:schemeClr val="tx1"/>
                </a:solidFill>
                <a:latin typeface="+mn-lt"/>
                <a:ea typeface="+mn-ea"/>
                <a:cs typeface="+mn-cs"/>
              </a:rPr>
              <a:t>@aapulu/react-ui</a:t>
            </a:r>
            <a:r>
              <a:rPr lang="en-US" b="1" dirty="0"/>
              <a:t> (Presentation Layer):</a:t>
            </a:r>
            <a:r>
              <a:rPr lang="en-US" dirty="0"/>
              <a:t> Pre-built, customizable UI components (e.g., </a:t>
            </a:r>
            <a:r>
              <a:rPr lang="en-US" sz="1200" kern="1200" dirty="0">
                <a:solidFill>
                  <a:schemeClr val="tx1"/>
                </a:solidFill>
                <a:latin typeface="+mn-lt"/>
                <a:ea typeface="+mn-ea"/>
                <a:cs typeface="+mn-cs"/>
              </a:rPr>
              <a:t>&lt;</a:t>
            </a:r>
            <a:r>
              <a:rPr lang="en-US" sz="1200" kern="1200" dirty="0" err="1">
                <a:solidFill>
                  <a:schemeClr val="tx1"/>
                </a:solidFill>
                <a:latin typeface="+mn-lt"/>
                <a:ea typeface="+mn-ea"/>
                <a:cs typeface="+mn-cs"/>
              </a:rPr>
              <a:t>AapuluConversation</a:t>
            </a:r>
            <a:r>
              <a:rPr lang="en-US" sz="1200" kern="1200" dirty="0">
                <a:solidFill>
                  <a:schemeClr val="tx1"/>
                </a:solidFill>
                <a:latin typeface="+mn-lt"/>
                <a:ea typeface="+mn-ea"/>
                <a:cs typeface="+mn-cs"/>
              </a:rPr>
              <a:t>/&gt;</a:t>
            </a:r>
            <a:r>
              <a:rPr lang="en-US" dirty="0"/>
              <a:t>). This component automatically renders video containers, live transcript overlays, and mute/camera controls with slot-level CSS styling.</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9</a:t>
            </a:fld>
            <a:endParaRPr lang="en-US"/>
          </a:p>
        </p:txBody>
      </p:sp>
    </p:spTree>
    <p:extLst>
      <p:ext uri="{BB962C8B-B14F-4D97-AF65-F5344CB8AC3E}">
        <p14:creationId xmlns:p14="http://schemas.microsoft.com/office/powerpoint/2010/main" val="23779249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walk through the 4-stage technical lifecycle that occurs when a user initiates a call:</a:t>
            </a:r>
          </a:p>
          <a:p>
            <a:pPr marL="228600" lvl="0" indent="-228600">
              <a:buFont typeface="+mj-lt"/>
              <a:buAutoNum type="arabicPeriod"/>
            </a:pPr>
            <a:r>
              <a:rPr lang="en-US" b="1" dirty="0"/>
              <a:t>Step 1: The Trigger:</a:t>
            </a:r>
            <a:r>
              <a:rPr lang="en-US" dirty="0"/>
              <a:t> The user clicks 'Start Call' on the front-end UI. The frontend issues a POST request containing the </a:t>
            </a:r>
            <a:r>
              <a:rPr lang="en-US" sz="1200" kern="1200" dirty="0" err="1">
                <a:solidFill>
                  <a:schemeClr val="tx1"/>
                </a:solidFill>
                <a:latin typeface="+mn-lt"/>
                <a:ea typeface="+mn-ea"/>
                <a:cs typeface="+mn-cs"/>
              </a:rPr>
              <a:t>scenario_id</a:t>
            </a:r>
            <a:r>
              <a:rPr lang="en-US" dirty="0"/>
              <a:t> and selected </a:t>
            </a:r>
            <a:r>
              <a:rPr lang="en-US" sz="1200" kern="1200" dirty="0" err="1">
                <a:solidFill>
                  <a:schemeClr val="tx1"/>
                </a:solidFill>
                <a:latin typeface="+mn-lt"/>
                <a:ea typeface="+mn-ea"/>
                <a:cs typeface="+mn-cs"/>
              </a:rPr>
              <a:t>avatar_id</a:t>
            </a:r>
            <a:r>
              <a:rPr lang="en-US" dirty="0"/>
              <a:t> to the local backend route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api</a:t>
            </a:r>
            <a:r>
              <a:rPr lang="en-US" sz="1200" kern="1200" dirty="0">
                <a:solidFill>
                  <a:schemeClr val="tx1"/>
                </a:solidFill>
                <a:latin typeface="+mn-lt"/>
                <a:ea typeface="+mn-ea"/>
                <a:cs typeface="+mn-cs"/>
              </a:rPr>
              <a:t>/connect</a:t>
            </a:r>
            <a:r>
              <a:rPr lang="en-US" dirty="0"/>
              <a:t>).</a:t>
            </a:r>
          </a:p>
          <a:p>
            <a:pPr marL="228600" lvl="0" indent="-228600">
              <a:buFont typeface="+mj-lt"/>
              <a:buAutoNum type="arabicPeriod"/>
            </a:pPr>
            <a:r>
              <a:rPr lang="en-US" b="1" dirty="0"/>
              <a:t>Step 2: Room Setup:</a:t>
            </a:r>
            <a:r>
              <a:rPr lang="en-US" dirty="0"/>
              <a:t> The backend server calls the platform API. A low-latency WebRTC transport room (powered by Daily infrastructure) is provisioned on the fly.</a:t>
            </a:r>
          </a:p>
          <a:p>
            <a:pPr marL="228600" lvl="0" indent="-228600">
              <a:buFont typeface="+mj-lt"/>
              <a:buAutoNum type="arabicPeriod"/>
            </a:pPr>
            <a:r>
              <a:rPr lang="en-US" b="1" dirty="0"/>
              <a:t>Step 3: The Handoff:</a:t>
            </a:r>
            <a:r>
              <a:rPr lang="en-US" dirty="0"/>
              <a:t> The platform returns a secure WebRTC room URL and access token back to the browser, allowing the user's client to enter the room.</a:t>
            </a:r>
          </a:p>
          <a:p>
            <a:pPr marL="228600" lvl="0" indent="-228600">
              <a:buFont typeface="+mj-lt"/>
              <a:buAutoNum type="arabicPeriod"/>
            </a:pPr>
            <a:r>
              <a:rPr lang="en-US" b="1" dirty="0"/>
              <a:t>Step 4: The Agent Awakening:</a:t>
            </a:r>
            <a:r>
              <a:rPr lang="en-US" dirty="0"/>
              <a:t> Simultaneously, the platform spins up the specified Avatar Agent instance, injects runtime variables, and connects the bot as a second participant into the WebRTC room.</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10</a:t>
            </a:fld>
            <a:endParaRPr lang="en-US"/>
          </a:p>
        </p:txBody>
      </p:sp>
    </p:spTree>
    <p:extLst>
      <p:ext uri="{BB962C8B-B14F-4D97-AF65-F5344CB8AC3E}">
        <p14:creationId xmlns:p14="http://schemas.microsoft.com/office/powerpoint/2010/main" val="8868653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completed avatar session produces a comprehensive set of diagnostic and compliance records, which we refer to as 'Digital Exhaust':</a:t>
            </a:r>
          </a:p>
          <a:p>
            <a:pPr lvl="0"/>
            <a:r>
              <a:rPr lang="en-US" b="1" dirty="0"/>
              <a:t>Full Session Recording:</a:t>
            </a:r>
            <a:r>
              <a:rPr lang="en-US" dirty="0"/>
              <a:t> High-definition MP4 video/audio files capturing both user and avatar media streams for quality assurance and training.</a:t>
            </a:r>
          </a:p>
          <a:p>
            <a:pPr marL="171450" lvl="0" indent="-171450">
              <a:buFont typeface="Arial" panose="020B0604020202020204" pitchFamily="34" charset="0"/>
              <a:buChar char="•"/>
            </a:pPr>
            <a:r>
              <a:rPr lang="en-US" b="1" dirty="0"/>
              <a:t>Structured Transcripts:</a:t>
            </a:r>
            <a:r>
              <a:rPr lang="en-US" dirty="0"/>
              <a:t> Timed JSON logs detailing exact user speech, agent audio responses, tool executions (e.g., </a:t>
            </a:r>
            <a:r>
              <a:rPr lang="en-US" sz="1200" kern="1200" dirty="0" err="1">
                <a:solidFill>
                  <a:schemeClr val="tx1"/>
                </a:solidFill>
                <a:latin typeface="+mn-lt"/>
                <a:ea typeface="+mn-ea"/>
                <a:cs typeface="+mn-cs"/>
              </a:rPr>
              <a:t>view_camera</a:t>
            </a:r>
            <a:r>
              <a:rPr lang="en-US" dirty="0"/>
              <a:t> returning </a:t>
            </a:r>
            <a:r>
              <a:rPr lang="en-US" sz="1200" kern="1200" dirty="0">
                <a:solidFill>
                  <a:schemeClr val="tx1"/>
                </a:solidFill>
                <a:latin typeface="+mn-lt"/>
                <a:ea typeface="+mn-ea"/>
                <a:cs typeface="+mn-cs"/>
              </a:rPr>
              <a:t>bruise detected</a:t>
            </a:r>
            <a:r>
              <a:rPr lang="en-US" dirty="0"/>
              <a:t> with a confidence score of </a:t>
            </a:r>
            <a:r>
              <a:rPr lang="en-US" sz="1200" kern="1200" dirty="0">
                <a:solidFill>
                  <a:schemeClr val="tx1"/>
                </a:solidFill>
                <a:latin typeface="+mn-lt"/>
                <a:ea typeface="+mn-ea"/>
                <a:cs typeface="+mn-cs"/>
              </a:rPr>
              <a:t>0.98</a:t>
            </a:r>
            <a:r>
              <a:rPr lang="en-US" dirty="0"/>
              <a:t>), and node transition events.</a:t>
            </a:r>
          </a:p>
          <a:p>
            <a:pPr marL="171450" lvl="0" indent="-171450">
              <a:buFont typeface="Arial" panose="020B0604020202020204" pitchFamily="34" charset="0"/>
              <a:buChar char="•"/>
            </a:pPr>
            <a:r>
              <a:rPr lang="en-US" b="1" dirty="0"/>
              <a:t>Session Metadata:</a:t>
            </a:r>
            <a:r>
              <a:rPr lang="en-US" dirty="0"/>
              <a:t> Tracked attributes including </a:t>
            </a:r>
            <a:r>
              <a:rPr lang="en-US" sz="1200" kern="1200" dirty="0" err="1">
                <a:solidFill>
                  <a:schemeClr val="tx1"/>
                </a:solidFill>
                <a:latin typeface="+mn-lt"/>
                <a:ea typeface="+mn-ea"/>
                <a:cs typeface="+mn-cs"/>
              </a:rPr>
              <a:t>Avatar_ID</a:t>
            </a:r>
            <a:r>
              <a:rPr lang="en-US" dirty="0"/>
              <a:t>, </a:t>
            </a:r>
            <a:r>
              <a:rPr lang="en-US" sz="1200" kern="1200" dirty="0" err="1">
                <a:solidFill>
                  <a:schemeClr val="tx1"/>
                </a:solidFill>
                <a:latin typeface="+mn-lt"/>
                <a:ea typeface="+mn-ea"/>
                <a:cs typeface="+mn-cs"/>
              </a:rPr>
              <a:t>Scenario_ID</a:t>
            </a:r>
            <a:r>
              <a:rPr lang="en-US" dirty="0"/>
              <a:t>, call duration, and billable compute usage.</a:t>
            </a:r>
          </a:p>
          <a:p>
            <a:pPr marL="171450" indent="-171450">
              <a:buFont typeface="Arial" panose="020B0604020202020204" pitchFamily="34" charset="0"/>
              <a:buChar char="•"/>
            </a:pPr>
            <a:r>
              <a:rPr lang="en-US" dirty="0"/>
              <a:t>This audit trail ensures enterprise traceability across automated decisions and backend actions.</a:t>
            </a:r>
          </a:p>
          <a:p>
            <a:r>
              <a:rPr lang="en-US" b="1" dirty="0"/>
              <a:t>Slide 12: End-to-End System Architecture Blueprint</a:t>
            </a:r>
          </a:p>
          <a:p>
            <a:endParaRPr lang="en-US" dirty="0"/>
          </a:p>
        </p:txBody>
      </p:sp>
      <p:sp>
        <p:nvSpPr>
          <p:cNvPr id="4" name="Slide Number Placeholder 3"/>
          <p:cNvSpPr>
            <a:spLocks noGrp="1"/>
          </p:cNvSpPr>
          <p:nvPr>
            <p:ph type="sldNum" sz="quarter" idx="5"/>
          </p:nvPr>
        </p:nvSpPr>
        <p:spPr/>
        <p:txBody>
          <a:bodyPr/>
          <a:lstStyle/>
          <a:p>
            <a:fld id="{FB148A32-4998-45FC-A9A1-F3B5778A9B54}" type="slidenum">
              <a:rPr lang="en-US" smtClean="0"/>
              <a:t>11</a:t>
            </a:fld>
            <a:endParaRPr lang="en-US"/>
          </a:p>
        </p:txBody>
      </p:sp>
    </p:spTree>
    <p:extLst>
      <p:ext uri="{BB962C8B-B14F-4D97-AF65-F5344CB8AC3E}">
        <p14:creationId xmlns:p14="http://schemas.microsoft.com/office/powerpoint/2010/main" val="18586442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our architecture overview, Slide 12 synthesizes all the components into a single system design map:</a:t>
            </a:r>
          </a:p>
          <a:p>
            <a:pPr marL="171450" lvl="0" indent="-171450">
              <a:buFont typeface="Arial" panose="020B0604020202020204" pitchFamily="34" charset="0"/>
              <a:buChar char="•"/>
            </a:pPr>
            <a:r>
              <a:rPr lang="en-US" b="1" dirty="0"/>
              <a:t>The AI Brain:</a:t>
            </a:r>
            <a:r>
              <a:rPr lang="en-US" dirty="0"/>
              <a:t> Defined by Node-Based Conversation Flows with clear separations between node-level Task Instructions and global Role Instructions.</a:t>
            </a:r>
          </a:p>
          <a:p>
            <a:pPr marL="171450" lvl="0" indent="-171450">
              <a:buFont typeface="Arial" panose="020B0604020202020204" pitchFamily="34" charset="0"/>
              <a:buChar char="•"/>
            </a:pPr>
            <a:r>
              <a:rPr lang="en-US" b="1" dirty="0"/>
              <a:t>Functional Integration:</a:t>
            </a:r>
            <a:r>
              <a:rPr lang="en-US" dirty="0"/>
              <a:t> Embedded tools spanning Vision analysis, RAG retrieval, and secure HTTP endpoints.</a:t>
            </a:r>
          </a:p>
          <a:p>
            <a:pPr marL="171450" lvl="0" indent="-171450">
              <a:buFont typeface="Arial" panose="020B0604020202020204" pitchFamily="34" charset="0"/>
              <a:buChar char="•"/>
            </a:pPr>
            <a:r>
              <a:rPr lang="en-US" b="1" dirty="0"/>
              <a:t>Dynamic Scoping:</a:t>
            </a:r>
            <a:r>
              <a:rPr lang="en-US" dirty="0"/>
              <a:t> Controlled variable resolution split across Secrets, Session Runtimes, and LLM extraction.</a:t>
            </a:r>
          </a:p>
          <a:p>
            <a:pPr marL="171450" lvl="0" indent="-171450">
              <a:buFont typeface="Arial" panose="020B0604020202020204" pitchFamily="34" charset="0"/>
              <a:buChar char="•"/>
            </a:pPr>
            <a:r>
              <a:rPr lang="en-US" b="1" dirty="0"/>
              <a:t>SDK Layer:</a:t>
            </a:r>
            <a:r>
              <a:rPr lang="en-US" dirty="0"/>
              <a:t> Clean abstraction between server authentication (</a:t>
            </a:r>
            <a:r>
              <a:rPr lang="en-US" sz="1200" kern="1200" dirty="0">
                <a:solidFill>
                  <a:schemeClr val="tx1"/>
                </a:solidFill>
                <a:latin typeface="+mn-lt"/>
                <a:ea typeface="+mn-ea"/>
                <a:cs typeface="+mn-cs"/>
              </a:rPr>
              <a:t>@aapulu/server</a:t>
            </a:r>
            <a:r>
              <a:rPr lang="en-US" dirty="0"/>
              <a:t>), state management (</a:t>
            </a:r>
            <a:r>
              <a:rPr lang="en-US" sz="1200" kern="1200" dirty="0">
                <a:solidFill>
                  <a:schemeClr val="tx1"/>
                </a:solidFill>
                <a:latin typeface="+mn-lt"/>
                <a:ea typeface="+mn-ea"/>
                <a:cs typeface="+mn-cs"/>
              </a:rPr>
              <a:t>@aapulu/react</a:t>
            </a:r>
            <a:r>
              <a:rPr lang="en-US" dirty="0"/>
              <a:t>), and UI elements (</a:t>
            </a:r>
            <a:r>
              <a:rPr lang="en-US" sz="1200" kern="1200" dirty="0">
                <a:solidFill>
                  <a:schemeClr val="tx1"/>
                </a:solidFill>
                <a:latin typeface="+mn-lt"/>
                <a:ea typeface="+mn-ea"/>
                <a:cs typeface="+mn-cs"/>
              </a:rPr>
              <a:t>@aapulu/react-ui</a:t>
            </a:r>
            <a:r>
              <a:rPr lang="en-US" dirty="0"/>
              <a:t>).</a:t>
            </a:r>
          </a:p>
          <a:p>
            <a:pPr marL="171450" lvl="0" indent="-171450">
              <a:buFont typeface="Arial" panose="020B0604020202020204" pitchFamily="34" charset="0"/>
              <a:buChar char="•"/>
            </a:pPr>
            <a:r>
              <a:rPr lang="en-US" b="1" dirty="0"/>
              <a:t>Automated Telemetry:</a:t>
            </a:r>
            <a:r>
              <a:rPr lang="en-US" dirty="0"/>
              <a:t> Native capture of MP4 recordings and JSON transcript payloads.</a:t>
            </a:r>
          </a:p>
          <a:p>
            <a:r>
              <a:rPr lang="en-US" dirty="0"/>
              <a:t>With this blueprint in place, you have a complete blueprint for deploying production-grade, real-time avatar agents. Thank you!</a:t>
            </a:r>
          </a:p>
          <a:p>
            <a:endParaRPr lang="en-US" dirty="0"/>
          </a:p>
          <a:p>
            <a:endParaRPr lang="en-US" dirty="0"/>
          </a:p>
          <a:p>
            <a:endParaRPr lang="en-US" dirty="0"/>
          </a:p>
          <a:p>
            <a:r>
              <a:rPr lang="en-US" dirty="0"/>
              <a:t>https://www.youtube.com/watch?v=CyMIar4TDhw</a:t>
            </a:r>
          </a:p>
        </p:txBody>
      </p:sp>
      <p:sp>
        <p:nvSpPr>
          <p:cNvPr id="4" name="Slide Number Placeholder 3"/>
          <p:cNvSpPr>
            <a:spLocks noGrp="1"/>
          </p:cNvSpPr>
          <p:nvPr>
            <p:ph type="sldNum" sz="quarter" idx="5"/>
          </p:nvPr>
        </p:nvSpPr>
        <p:spPr/>
        <p:txBody>
          <a:bodyPr/>
          <a:lstStyle/>
          <a:p>
            <a:fld id="{FB148A32-4998-45FC-A9A1-F3B5778A9B54}" type="slidenum">
              <a:rPr lang="en-US" smtClean="0"/>
              <a:t>12</a:t>
            </a:fld>
            <a:endParaRPr lang="en-US"/>
          </a:p>
        </p:txBody>
      </p:sp>
    </p:spTree>
    <p:extLst>
      <p:ext uri="{BB962C8B-B14F-4D97-AF65-F5344CB8AC3E}">
        <p14:creationId xmlns:p14="http://schemas.microsoft.com/office/powerpoint/2010/main" val="23277306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BB2428-1E60-B0ED-B3E8-09E2E90F0DCE}"/>
              </a:ext>
            </a:extLst>
          </p:cNvPr>
          <p:cNvSpPr>
            <a:spLocks noGrp="1"/>
          </p:cNvSpPr>
          <p:nvPr>
            <p:ph type="dt" sz="half" idx="10"/>
          </p:nvPr>
        </p:nvSpPr>
        <p:spPr/>
        <p:txBody>
          <a:bodyPr/>
          <a:lstStyle/>
          <a:p>
            <a:fld id="{ACA5DD7D-461B-4548-BA17-5FA190A9F40F}" type="datetimeFigureOut">
              <a:rPr lang="en-US" smtClean="0"/>
              <a:t>9/15/2026</a:t>
            </a:fld>
            <a:endParaRPr lang="en-US"/>
          </a:p>
        </p:txBody>
      </p:sp>
      <p:sp>
        <p:nvSpPr>
          <p:cNvPr id="3" name="Footer Placeholder 2">
            <a:extLst>
              <a:ext uri="{FF2B5EF4-FFF2-40B4-BE49-F238E27FC236}">
                <a16:creationId xmlns:a16="http://schemas.microsoft.com/office/drawing/2014/main" id="{DAFF81CB-844E-FFBC-AF8A-ABDE076DF5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B97ED66-68C8-8997-4642-A1BE7246A98C}"/>
              </a:ext>
            </a:extLst>
          </p:cNvPr>
          <p:cNvSpPr>
            <a:spLocks noGrp="1"/>
          </p:cNvSpPr>
          <p:nvPr>
            <p:ph type="sldNum" sz="quarter" idx="12"/>
          </p:nvPr>
        </p:nvSpPr>
        <p:spPr/>
        <p:txBody>
          <a:bodyPr/>
          <a:lstStyle/>
          <a:p>
            <a:fld id="{EC05BA1F-64EA-43C9-9C83-AB7C0E84BA05}" type="slidenum">
              <a:rPr lang="en-US" smtClean="0"/>
              <a:t>‹#›</a:t>
            </a:fld>
            <a:endParaRPr lang="en-US"/>
          </a:p>
        </p:txBody>
      </p:sp>
    </p:spTree>
    <p:extLst>
      <p:ext uri="{BB962C8B-B14F-4D97-AF65-F5344CB8AC3E}">
        <p14:creationId xmlns:p14="http://schemas.microsoft.com/office/powerpoint/2010/main" val="178866366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53BE00-8FC1-53B2-E765-5F5338CBF9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63738BF-E338-E05C-13A4-FB66268C14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66A569-12BB-96DB-BAA0-516A25BD13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CA5DD7D-461B-4548-BA17-5FA190A9F40F}" type="datetimeFigureOut">
              <a:rPr lang="en-US" smtClean="0"/>
              <a:t>9/15/2026</a:t>
            </a:fld>
            <a:endParaRPr lang="en-US"/>
          </a:p>
        </p:txBody>
      </p:sp>
      <p:sp>
        <p:nvSpPr>
          <p:cNvPr id="5" name="Footer Placeholder 4">
            <a:extLst>
              <a:ext uri="{FF2B5EF4-FFF2-40B4-BE49-F238E27FC236}">
                <a16:creationId xmlns:a16="http://schemas.microsoft.com/office/drawing/2014/main" id="{3FB529C2-0836-71E1-9DF6-F757ACF1C9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B9CA33-A90A-8779-8349-C07DEC3E5A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C05BA1F-64EA-43C9-9C83-AB7C0E84BA05}" type="slidenum">
              <a:rPr lang="en-US" smtClean="0"/>
              <a:t>‹#›</a:t>
            </a:fld>
            <a:endParaRPr lang="en-US"/>
          </a:p>
        </p:txBody>
      </p:sp>
    </p:spTree>
    <p:extLst>
      <p:ext uri="{BB962C8B-B14F-4D97-AF65-F5344CB8AC3E}">
        <p14:creationId xmlns:p14="http://schemas.microsoft.com/office/powerpoint/2010/main" val="346010419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FA1D9A-16A8-016F-A2FD-AADAFAB989DE}"/>
              </a:ext>
            </a:extLst>
          </p:cNvPr>
          <p:cNvPicPr>
            <a:picLocks noChangeAspect="1"/>
          </p:cNvPicPr>
          <p:nvPr/>
        </p:nvPicPr>
        <p:blipFill>
          <a:blip r:embed="rId3"/>
          <a:stretch>
            <a:fillRect/>
          </a:stretch>
        </p:blipFill>
        <p:spPr>
          <a:xfrm>
            <a:off x="0" y="0"/>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2C8183-8323-D8F4-E413-1EEDFC5B996E}"/>
              </a:ext>
            </a:extLst>
          </p:cNvPr>
          <p:cNvPicPr>
            <a:picLocks noChangeAspect="1"/>
          </p:cNvPicPr>
          <p:nvPr/>
        </p:nvPicPr>
        <p:blipFill>
          <a:blip r:embed="rId3">
            <a:grayscl/>
          </a:blip>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9D454A-0065-A8BE-89D3-15B7A00C7C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5CD4DE3-14C3-AEF1-9EA8-1671CBC3E15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F0DDDD5-8E75-C511-4E78-109E923534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6FD7F7B-0004-B7C3-433E-105828426CD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B7CA998-4E82-B4DA-393D-4ADB312094C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96D2CBE-4162-83E2-178C-11F9BCF868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EE1BE0-8BBB-EBE2-1D5E-7546709BE7E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072DA0-5D38-C38D-C26A-DF0692C94D0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E820A9E-50D0-5EC1-CE3C-867725FFF2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3865243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2005</Words>
  <Application>Microsoft Office PowerPoint</Application>
  <PresentationFormat>Widescreen</PresentationFormat>
  <Paragraphs>93</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Lai, Wilson</dc:creator>
  <cp:lastModifiedBy>Lai, Wilson</cp:lastModifiedBy>
  <cp:revision>1</cp:revision>
  <dcterms:created xsi:type="dcterms:W3CDTF">2026-09-15T01:14:24Z</dcterms:created>
  <dcterms:modified xsi:type="dcterms:W3CDTF">2026-09-15T02:37:53Z</dcterms:modified>
</cp:coreProperties>
</file>