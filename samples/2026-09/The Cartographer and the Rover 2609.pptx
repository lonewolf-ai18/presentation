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F1730B-324D-45F7-B80D-35272FFF37F3}" v="25" dt="2026-09-29T03:19:48.3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09" autoAdjust="0"/>
    <p:restoredTop sz="94404" autoAdjust="0"/>
  </p:normalViewPr>
  <p:slideViewPr>
    <p:cSldViewPr snapToGrid="0">
      <p:cViewPr varScale="1">
        <p:scale>
          <a:sx n="72" d="100"/>
          <a:sy n="72" d="100"/>
        </p:scale>
        <p:origin x="84" y="5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modMainMaster">
      <pc:chgData name="Lai, Wilson" userId="2840974a-0d84-4886-90a9-9a3ed79f3a48" providerId="ADAL" clId="{9F23B798-9E84-4552-BA63-E776E805C424}" dt="2026-09-29T03:55:26.975" v="74" actId="166"/>
      <pc:docMkLst>
        <pc:docMk/>
      </pc:docMkLst>
      <pc:sldChg chg="addSp delSp modSp mod modAnim modNotes modNotesTx">
        <pc:chgData name="Lai, Wilson" userId="2840974a-0d84-4886-90a9-9a3ed79f3a48" providerId="ADAL" clId="{9F23B798-9E84-4552-BA63-E776E805C424}" dt="2026-09-29T03:55:26.975" v="74" actId="166"/>
        <pc:sldMkLst>
          <pc:docMk/>
          <pc:sldMk cId="0" sldId="257"/>
        </pc:sldMkLst>
        <pc:spChg chg="add mod">
          <ac:chgData name="Lai, Wilson" userId="2840974a-0d84-4886-90a9-9a3ed79f3a48" providerId="ADAL" clId="{9F23B798-9E84-4552-BA63-E776E805C424}" dt="2026-09-29T02:50:03.009" v="8" actId="164"/>
          <ac:spMkLst>
            <pc:docMk/>
            <pc:sldMk cId="0" sldId="257"/>
            <ac:spMk id="5" creationId="{E94D4DD7-8651-6848-58A8-210405F3C750}"/>
          </ac:spMkLst>
        </pc:spChg>
        <pc:grpChg chg="add mod">
          <ac:chgData name="Lai, Wilson" userId="2840974a-0d84-4886-90a9-9a3ed79f3a48" providerId="ADAL" clId="{9F23B798-9E84-4552-BA63-E776E805C424}" dt="2026-09-29T02:50:07.668" v="9" actId="1076"/>
          <ac:grpSpMkLst>
            <pc:docMk/>
            <pc:sldMk cId="0" sldId="257"/>
            <ac:grpSpMk id="6" creationId="{95BA1119-8769-E9C8-B430-CB5208B5ED93}"/>
          </ac:grpSpMkLst>
        </pc:grpChg>
        <pc:picChg chg="del">
          <ac:chgData name="Lai, Wilson" userId="2840974a-0d84-4886-90a9-9a3ed79f3a48" providerId="ADAL" clId="{9F23B798-9E84-4552-BA63-E776E805C424}" dt="2026-09-29T02:57:28.086" v="11" actId="21"/>
          <ac:picMkLst>
            <pc:docMk/>
            <pc:sldMk cId="0" sldId="257"/>
            <ac:picMk id="2" creationId="{00000000-0000-0000-0000-000000000000}"/>
          </ac:picMkLst>
        </pc:picChg>
        <pc:picChg chg="add mod">
          <ac:chgData name="Lai, Wilson" userId="2840974a-0d84-4886-90a9-9a3ed79f3a48" providerId="ADAL" clId="{9F23B798-9E84-4552-BA63-E776E805C424}" dt="2026-09-29T02:50:03.009" v="8" actId="164"/>
          <ac:picMkLst>
            <pc:docMk/>
            <pc:sldMk cId="0" sldId="257"/>
            <ac:picMk id="3" creationId="{F9C99FEC-50BE-2202-8764-C47718EBB296}"/>
          </ac:picMkLst>
        </pc:picChg>
        <pc:picChg chg="add ord">
          <ac:chgData name="Lai, Wilson" userId="2840974a-0d84-4886-90a9-9a3ed79f3a48" providerId="ADAL" clId="{9F23B798-9E84-4552-BA63-E776E805C424}" dt="2026-09-29T03:55:26.975" v="74" actId="166"/>
          <ac:picMkLst>
            <pc:docMk/>
            <pc:sldMk cId="0" sldId="257"/>
            <ac:picMk id="7" creationId="{13066F36-CF7B-4809-2CEC-6E77B40061E2}"/>
          </ac:picMkLst>
        </pc:picChg>
      </pc:sldChg>
      <pc:sldChg chg="addSp delSp mod modNotes">
        <pc:chgData name="Lai, Wilson" userId="2840974a-0d84-4886-90a9-9a3ed79f3a48" providerId="ADAL" clId="{9F23B798-9E84-4552-BA63-E776E805C424}" dt="2026-09-29T03:19:23.171" v="67"/>
        <pc:sldMkLst>
          <pc:docMk/>
          <pc:sldMk cId="0" sldId="258"/>
        </pc:sldMkLst>
        <pc:picChg chg="del">
          <ac:chgData name="Lai, Wilson" userId="2840974a-0d84-4886-90a9-9a3ed79f3a48" providerId="ADAL" clId="{9F23B798-9E84-4552-BA63-E776E805C424}" dt="2026-09-29T02:57:40.272" v="13" actId="21"/>
          <ac:picMkLst>
            <pc:docMk/>
            <pc:sldMk cId="0" sldId="258"/>
            <ac:picMk id="2" creationId="{00000000-0000-0000-0000-000000000000}"/>
          </ac:picMkLst>
        </pc:picChg>
        <pc:picChg chg="add">
          <ac:chgData name="Lai, Wilson" userId="2840974a-0d84-4886-90a9-9a3ed79f3a48" providerId="ADAL" clId="{9F23B798-9E84-4552-BA63-E776E805C424}" dt="2026-09-29T02:57:47.769" v="14" actId="22"/>
          <ac:picMkLst>
            <pc:docMk/>
            <pc:sldMk cId="0" sldId="258"/>
            <ac:picMk id="4" creationId="{A5AAD06C-29DD-3CE0-FD4B-5B8D49BE896C}"/>
          </ac:picMkLst>
        </pc:picChg>
      </pc:sldChg>
      <pc:sldChg chg="addSp delSp mod modNotes">
        <pc:chgData name="Lai, Wilson" userId="2840974a-0d84-4886-90a9-9a3ed79f3a48" providerId="ADAL" clId="{9F23B798-9E84-4552-BA63-E776E805C424}" dt="2026-09-29T03:19:23.171" v="67"/>
        <pc:sldMkLst>
          <pc:docMk/>
          <pc:sldMk cId="0" sldId="259"/>
        </pc:sldMkLst>
        <pc:picChg chg="del">
          <ac:chgData name="Lai, Wilson" userId="2840974a-0d84-4886-90a9-9a3ed79f3a48" providerId="ADAL" clId="{9F23B798-9E84-4552-BA63-E776E805C424}" dt="2026-09-29T02:57:49.239" v="15" actId="21"/>
          <ac:picMkLst>
            <pc:docMk/>
            <pc:sldMk cId="0" sldId="259"/>
            <ac:picMk id="2" creationId="{00000000-0000-0000-0000-000000000000}"/>
          </ac:picMkLst>
        </pc:picChg>
        <pc:picChg chg="add">
          <ac:chgData name="Lai, Wilson" userId="2840974a-0d84-4886-90a9-9a3ed79f3a48" providerId="ADAL" clId="{9F23B798-9E84-4552-BA63-E776E805C424}" dt="2026-09-29T02:57:57.106" v="16" actId="22"/>
          <ac:picMkLst>
            <pc:docMk/>
            <pc:sldMk cId="0" sldId="259"/>
            <ac:picMk id="4" creationId="{42D61953-6B0B-5A1A-F048-A78DF52AAA41}"/>
          </ac:picMkLst>
        </pc:picChg>
      </pc:sldChg>
      <pc:sldChg chg="addSp delSp mod modNotes">
        <pc:chgData name="Lai, Wilson" userId="2840974a-0d84-4886-90a9-9a3ed79f3a48" providerId="ADAL" clId="{9F23B798-9E84-4552-BA63-E776E805C424}" dt="2026-09-29T03:19:23.171" v="67"/>
        <pc:sldMkLst>
          <pc:docMk/>
          <pc:sldMk cId="0" sldId="260"/>
        </pc:sldMkLst>
        <pc:picChg chg="del">
          <ac:chgData name="Lai, Wilson" userId="2840974a-0d84-4886-90a9-9a3ed79f3a48" providerId="ADAL" clId="{9F23B798-9E84-4552-BA63-E776E805C424}" dt="2026-09-29T02:57:58.223" v="17" actId="21"/>
          <ac:picMkLst>
            <pc:docMk/>
            <pc:sldMk cId="0" sldId="260"/>
            <ac:picMk id="2" creationId="{00000000-0000-0000-0000-000000000000}"/>
          </ac:picMkLst>
        </pc:picChg>
        <pc:picChg chg="add">
          <ac:chgData name="Lai, Wilson" userId="2840974a-0d84-4886-90a9-9a3ed79f3a48" providerId="ADAL" clId="{9F23B798-9E84-4552-BA63-E776E805C424}" dt="2026-09-29T02:58:06.956" v="18" actId="22"/>
          <ac:picMkLst>
            <pc:docMk/>
            <pc:sldMk cId="0" sldId="260"/>
            <ac:picMk id="4" creationId="{12945D1F-3B97-22C8-474D-F99770FE4674}"/>
          </ac:picMkLst>
        </pc:picChg>
      </pc:sldChg>
      <pc:sldChg chg="addSp delSp mod modNotes modNotesTx">
        <pc:chgData name="Lai, Wilson" userId="2840974a-0d84-4886-90a9-9a3ed79f3a48" providerId="ADAL" clId="{9F23B798-9E84-4552-BA63-E776E805C424}" dt="2026-09-29T03:19:18.027" v="66"/>
        <pc:sldMkLst>
          <pc:docMk/>
          <pc:sldMk cId="0" sldId="261"/>
        </pc:sldMkLst>
        <pc:picChg chg="del">
          <ac:chgData name="Lai, Wilson" userId="2840974a-0d84-4886-90a9-9a3ed79f3a48" providerId="ADAL" clId="{9F23B798-9E84-4552-BA63-E776E805C424}" dt="2026-09-29T02:58:08.853" v="19" actId="21"/>
          <ac:picMkLst>
            <pc:docMk/>
            <pc:sldMk cId="0" sldId="261"/>
            <ac:picMk id="2" creationId="{00000000-0000-0000-0000-000000000000}"/>
          </ac:picMkLst>
        </pc:picChg>
        <pc:picChg chg="add">
          <ac:chgData name="Lai, Wilson" userId="2840974a-0d84-4886-90a9-9a3ed79f3a48" providerId="ADAL" clId="{9F23B798-9E84-4552-BA63-E776E805C424}" dt="2026-09-29T02:58:17.702" v="20" actId="22"/>
          <ac:picMkLst>
            <pc:docMk/>
            <pc:sldMk cId="0" sldId="261"/>
            <ac:picMk id="4" creationId="{FC07CF51-27E8-8CEF-5B91-AEDF51785D04}"/>
          </ac:picMkLst>
        </pc:picChg>
      </pc:sldChg>
      <pc:sldChg chg="addSp delSp mod modNotes">
        <pc:chgData name="Lai, Wilson" userId="2840974a-0d84-4886-90a9-9a3ed79f3a48" providerId="ADAL" clId="{9F23B798-9E84-4552-BA63-E776E805C424}" dt="2026-09-29T03:19:23.171" v="67"/>
        <pc:sldMkLst>
          <pc:docMk/>
          <pc:sldMk cId="0" sldId="262"/>
        </pc:sldMkLst>
        <pc:picChg chg="del">
          <ac:chgData name="Lai, Wilson" userId="2840974a-0d84-4886-90a9-9a3ed79f3a48" providerId="ADAL" clId="{9F23B798-9E84-4552-BA63-E776E805C424}" dt="2026-09-29T02:58:19.251" v="21" actId="21"/>
          <ac:picMkLst>
            <pc:docMk/>
            <pc:sldMk cId="0" sldId="262"/>
            <ac:picMk id="2" creationId="{00000000-0000-0000-0000-000000000000}"/>
          </ac:picMkLst>
        </pc:picChg>
        <pc:picChg chg="add">
          <ac:chgData name="Lai, Wilson" userId="2840974a-0d84-4886-90a9-9a3ed79f3a48" providerId="ADAL" clId="{9F23B798-9E84-4552-BA63-E776E805C424}" dt="2026-09-29T02:58:26.566" v="22" actId="22"/>
          <ac:picMkLst>
            <pc:docMk/>
            <pc:sldMk cId="0" sldId="262"/>
            <ac:picMk id="4" creationId="{446288C4-672C-B127-D940-A47B2CDDEB0C}"/>
          </ac:picMkLst>
        </pc:picChg>
      </pc:sldChg>
      <pc:sldChg chg="addSp delSp mod modNotes modNotesTx">
        <pc:chgData name="Lai, Wilson" userId="2840974a-0d84-4886-90a9-9a3ed79f3a48" providerId="ADAL" clId="{9F23B798-9E84-4552-BA63-E776E805C424}" dt="2026-09-29T03:19:18.027" v="66"/>
        <pc:sldMkLst>
          <pc:docMk/>
          <pc:sldMk cId="0" sldId="263"/>
        </pc:sldMkLst>
        <pc:picChg chg="del">
          <ac:chgData name="Lai, Wilson" userId="2840974a-0d84-4886-90a9-9a3ed79f3a48" providerId="ADAL" clId="{9F23B798-9E84-4552-BA63-E776E805C424}" dt="2026-09-29T02:58:27.910" v="23" actId="21"/>
          <ac:picMkLst>
            <pc:docMk/>
            <pc:sldMk cId="0" sldId="263"/>
            <ac:picMk id="2" creationId="{00000000-0000-0000-0000-000000000000}"/>
          </ac:picMkLst>
        </pc:picChg>
        <pc:picChg chg="add">
          <ac:chgData name="Lai, Wilson" userId="2840974a-0d84-4886-90a9-9a3ed79f3a48" providerId="ADAL" clId="{9F23B798-9E84-4552-BA63-E776E805C424}" dt="2026-09-29T02:58:34.936" v="24" actId="22"/>
          <ac:picMkLst>
            <pc:docMk/>
            <pc:sldMk cId="0" sldId="263"/>
            <ac:picMk id="4" creationId="{C9607E0C-94D4-DFF8-7304-137107CB53A1}"/>
          </ac:picMkLst>
        </pc:picChg>
      </pc:sldChg>
      <pc:sldChg chg="addSp delSp mod modNotes modNotesTx">
        <pc:chgData name="Lai, Wilson" userId="2840974a-0d84-4886-90a9-9a3ed79f3a48" providerId="ADAL" clId="{9F23B798-9E84-4552-BA63-E776E805C424}" dt="2026-09-29T03:19:23.171" v="67"/>
        <pc:sldMkLst>
          <pc:docMk/>
          <pc:sldMk cId="0" sldId="264"/>
        </pc:sldMkLst>
        <pc:picChg chg="del">
          <ac:chgData name="Lai, Wilson" userId="2840974a-0d84-4886-90a9-9a3ed79f3a48" providerId="ADAL" clId="{9F23B798-9E84-4552-BA63-E776E805C424}" dt="2026-09-29T02:58:36.089" v="25" actId="21"/>
          <ac:picMkLst>
            <pc:docMk/>
            <pc:sldMk cId="0" sldId="264"/>
            <ac:picMk id="2" creationId="{00000000-0000-0000-0000-000000000000}"/>
          </ac:picMkLst>
        </pc:picChg>
        <pc:picChg chg="add">
          <ac:chgData name="Lai, Wilson" userId="2840974a-0d84-4886-90a9-9a3ed79f3a48" providerId="ADAL" clId="{9F23B798-9E84-4552-BA63-E776E805C424}" dt="2026-09-29T02:58:43.614" v="26" actId="22"/>
          <ac:picMkLst>
            <pc:docMk/>
            <pc:sldMk cId="0" sldId="264"/>
            <ac:picMk id="4" creationId="{835704C2-2BE2-3840-4916-E14764D80348}"/>
          </ac:picMkLst>
        </pc:picChg>
      </pc:sldChg>
      <pc:sldChg chg="addSp delSp mod modNotes modNotesTx">
        <pc:chgData name="Lai, Wilson" userId="2840974a-0d84-4886-90a9-9a3ed79f3a48" providerId="ADAL" clId="{9F23B798-9E84-4552-BA63-E776E805C424}" dt="2026-09-29T03:19:23.171" v="67"/>
        <pc:sldMkLst>
          <pc:docMk/>
          <pc:sldMk cId="0" sldId="265"/>
        </pc:sldMkLst>
        <pc:picChg chg="del">
          <ac:chgData name="Lai, Wilson" userId="2840974a-0d84-4886-90a9-9a3ed79f3a48" providerId="ADAL" clId="{9F23B798-9E84-4552-BA63-E776E805C424}" dt="2026-09-29T02:58:45.214" v="27" actId="21"/>
          <ac:picMkLst>
            <pc:docMk/>
            <pc:sldMk cId="0" sldId="265"/>
            <ac:picMk id="2" creationId="{00000000-0000-0000-0000-000000000000}"/>
          </ac:picMkLst>
        </pc:picChg>
        <pc:picChg chg="add">
          <ac:chgData name="Lai, Wilson" userId="2840974a-0d84-4886-90a9-9a3ed79f3a48" providerId="ADAL" clId="{9F23B798-9E84-4552-BA63-E776E805C424}" dt="2026-09-29T02:58:56.955" v="28" actId="22"/>
          <ac:picMkLst>
            <pc:docMk/>
            <pc:sldMk cId="0" sldId="265"/>
            <ac:picMk id="4" creationId="{1DC36D0D-31B5-636A-4A87-E59FEDDF0C32}"/>
          </ac:picMkLst>
        </pc:picChg>
      </pc:sldChg>
      <pc:sldChg chg="addSp delSp mod modNotes modNotesTx">
        <pc:chgData name="Lai, Wilson" userId="2840974a-0d84-4886-90a9-9a3ed79f3a48" providerId="ADAL" clId="{9F23B798-9E84-4552-BA63-E776E805C424}" dt="2026-09-29T03:19:23.171" v="67"/>
        <pc:sldMkLst>
          <pc:docMk/>
          <pc:sldMk cId="0" sldId="266"/>
        </pc:sldMkLst>
        <pc:picChg chg="del">
          <ac:chgData name="Lai, Wilson" userId="2840974a-0d84-4886-90a9-9a3ed79f3a48" providerId="ADAL" clId="{9F23B798-9E84-4552-BA63-E776E805C424}" dt="2026-09-29T02:58:58.118" v="29" actId="21"/>
          <ac:picMkLst>
            <pc:docMk/>
            <pc:sldMk cId="0" sldId="266"/>
            <ac:picMk id="2" creationId="{00000000-0000-0000-0000-000000000000}"/>
          </ac:picMkLst>
        </pc:picChg>
        <pc:picChg chg="add">
          <ac:chgData name="Lai, Wilson" userId="2840974a-0d84-4886-90a9-9a3ed79f3a48" providerId="ADAL" clId="{9F23B798-9E84-4552-BA63-E776E805C424}" dt="2026-09-29T02:59:16.593" v="30" actId="22"/>
          <ac:picMkLst>
            <pc:docMk/>
            <pc:sldMk cId="0" sldId="266"/>
            <ac:picMk id="4" creationId="{1508BC17-5090-282C-FCD4-26C74B5C9A3B}"/>
          </ac:picMkLst>
        </pc:picChg>
      </pc:sldChg>
      <pc:sldChg chg="addSp delSp mod modNotes modNotesTx">
        <pc:chgData name="Lai, Wilson" userId="2840974a-0d84-4886-90a9-9a3ed79f3a48" providerId="ADAL" clId="{9F23B798-9E84-4552-BA63-E776E805C424}" dt="2026-09-29T03:19:23.171" v="67"/>
        <pc:sldMkLst>
          <pc:docMk/>
          <pc:sldMk cId="0" sldId="267"/>
        </pc:sldMkLst>
        <pc:picChg chg="del">
          <ac:chgData name="Lai, Wilson" userId="2840974a-0d84-4886-90a9-9a3ed79f3a48" providerId="ADAL" clId="{9F23B798-9E84-4552-BA63-E776E805C424}" dt="2026-09-29T02:59:17.886" v="31" actId="21"/>
          <ac:picMkLst>
            <pc:docMk/>
            <pc:sldMk cId="0" sldId="267"/>
            <ac:picMk id="2" creationId="{00000000-0000-0000-0000-000000000000}"/>
          </ac:picMkLst>
        </pc:picChg>
        <pc:picChg chg="add">
          <ac:chgData name="Lai, Wilson" userId="2840974a-0d84-4886-90a9-9a3ed79f3a48" providerId="ADAL" clId="{9F23B798-9E84-4552-BA63-E776E805C424}" dt="2026-09-29T02:59:43.569" v="32" actId="22"/>
          <ac:picMkLst>
            <pc:docMk/>
            <pc:sldMk cId="0" sldId="267"/>
            <ac:picMk id="4" creationId="{CCCAE340-49D6-FC0A-1BEE-622CFCA1C8D7}"/>
          </ac:picMkLst>
        </pc:picChg>
      </pc:sldChg>
      <pc:sldChg chg="addSp delSp mod modNotes modNotesTx">
        <pc:chgData name="Lai, Wilson" userId="2840974a-0d84-4886-90a9-9a3ed79f3a48" providerId="ADAL" clId="{9F23B798-9E84-4552-BA63-E776E805C424}" dt="2026-09-29T03:19:18.027" v="66"/>
        <pc:sldMkLst>
          <pc:docMk/>
          <pc:sldMk cId="0" sldId="268"/>
        </pc:sldMkLst>
        <pc:picChg chg="del">
          <ac:chgData name="Lai, Wilson" userId="2840974a-0d84-4886-90a9-9a3ed79f3a48" providerId="ADAL" clId="{9F23B798-9E84-4552-BA63-E776E805C424}" dt="2026-09-29T02:59:45.355" v="33" actId="21"/>
          <ac:picMkLst>
            <pc:docMk/>
            <pc:sldMk cId="0" sldId="268"/>
            <ac:picMk id="2" creationId="{00000000-0000-0000-0000-000000000000}"/>
          </ac:picMkLst>
        </pc:picChg>
        <pc:picChg chg="add">
          <ac:chgData name="Lai, Wilson" userId="2840974a-0d84-4886-90a9-9a3ed79f3a48" providerId="ADAL" clId="{9F23B798-9E84-4552-BA63-E776E805C424}" dt="2026-09-29T02:59:51.772" v="34" actId="22"/>
          <ac:picMkLst>
            <pc:docMk/>
            <pc:sldMk cId="0" sldId="268"/>
            <ac:picMk id="4" creationId="{510484BD-FF90-8F30-0CFA-300932F79B3A}"/>
          </ac:picMkLst>
        </pc:picChg>
      </pc:sldChg>
      <pc:sldChg chg="addSp delSp mod modNotes">
        <pc:chgData name="Lai, Wilson" userId="2840974a-0d84-4886-90a9-9a3ed79f3a48" providerId="ADAL" clId="{9F23B798-9E84-4552-BA63-E776E805C424}" dt="2026-09-29T03:19:23.171" v="67"/>
        <pc:sldMkLst>
          <pc:docMk/>
          <pc:sldMk cId="0" sldId="269"/>
        </pc:sldMkLst>
        <pc:picChg chg="del">
          <ac:chgData name="Lai, Wilson" userId="2840974a-0d84-4886-90a9-9a3ed79f3a48" providerId="ADAL" clId="{9F23B798-9E84-4552-BA63-E776E805C424}" dt="2026-09-29T02:59:54.123" v="35" actId="21"/>
          <ac:picMkLst>
            <pc:docMk/>
            <pc:sldMk cId="0" sldId="269"/>
            <ac:picMk id="2" creationId="{00000000-0000-0000-0000-000000000000}"/>
          </ac:picMkLst>
        </pc:picChg>
        <pc:picChg chg="add">
          <ac:chgData name="Lai, Wilson" userId="2840974a-0d84-4886-90a9-9a3ed79f3a48" providerId="ADAL" clId="{9F23B798-9E84-4552-BA63-E776E805C424}" dt="2026-09-29T03:00:02.992" v="36" actId="22"/>
          <ac:picMkLst>
            <pc:docMk/>
            <pc:sldMk cId="0" sldId="269"/>
            <ac:picMk id="4" creationId="{69939D60-767D-673C-3E0C-C98768CFEE06}"/>
          </ac:picMkLst>
        </pc:picChg>
      </pc:sldChg>
      <pc:sldChg chg="addSp delSp mod modNotes">
        <pc:chgData name="Lai, Wilson" userId="2840974a-0d84-4886-90a9-9a3ed79f3a48" providerId="ADAL" clId="{9F23B798-9E84-4552-BA63-E776E805C424}" dt="2026-09-29T03:19:23.171" v="67"/>
        <pc:sldMkLst>
          <pc:docMk/>
          <pc:sldMk cId="0" sldId="270"/>
        </pc:sldMkLst>
        <pc:picChg chg="del">
          <ac:chgData name="Lai, Wilson" userId="2840974a-0d84-4886-90a9-9a3ed79f3a48" providerId="ADAL" clId="{9F23B798-9E84-4552-BA63-E776E805C424}" dt="2026-09-29T03:00:04.533" v="37" actId="21"/>
          <ac:picMkLst>
            <pc:docMk/>
            <pc:sldMk cId="0" sldId="270"/>
            <ac:picMk id="2" creationId="{00000000-0000-0000-0000-000000000000}"/>
          </ac:picMkLst>
        </pc:picChg>
        <pc:picChg chg="add">
          <ac:chgData name="Lai, Wilson" userId="2840974a-0d84-4886-90a9-9a3ed79f3a48" providerId="ADAL" clId="{9F23B798-9E84-4552-BA63-E776E805C424}" dt="2026-09-29T03:00:10.349" v="38" actId="22"/>
          <ac:picMkLst>
            <pc:docMk/>
            <pc:sldMk cId="0" sldId="270"/>
            <ac:picMk id="4" creationId="{32B6F86A-469D-A7AC-DE8F-3259EA324DD3}"/>
          </ac:picMkLst>
        </pc:picChg>
      </pc:sldChg>
      <pc:sldChg chg="addSp delSp mod modNotes modNotesTx">
        <pc:chgData name="Lai, Wilson" userId="2840974a-0d84-4886-90a9-9a3ed79f3a48" providerId="ADAL" clId="{9F23B798-9E84-4552-BA63-E776E805C424}" dt="2026-09-29T03:19:18.027" v="66"/>
        <pc:sldMkLst>
          <pc:docMk/>
          <pc:sldMk cId="0" sldId="271"/>
        </pc:sldMkLst>
        <pc:picChg chg="del">
          <ac:chgData name="Lai, Wilson" userId="2840974a-0d84-4886-90a9-9a3ed79f3a48" providerId="ADAL" clId="{9F23B798-9E84-4552-BA63-E776E805C424}" dt="2026-09-29T03:00:13.603" v="39" actId="21"/>
          <ac:picMkLst>
            <pc:docMk/>
            <pc:sldMk cId="0" sldId="271"/>
            <ac:picMk id="2" creationId="{00000000-0000-0000-0000-000000000000}"/>
          </ac:picMkLst>
        </pc:picChg>
        <pc:picChg chg="add">
          <ac:chgData name="Lai, Wilson" userId="2840974a-0d84-4886-90a9-9a3ed79f3a48" providerId="ADAL" clId="{9F23B798-9E84-4552-BA63-E776E805C424}" dt="2026-09-29T03:00:21.586" v="40" actId="22"/>
          <ac:picMkLst>
            <pc:docMk/>
            <pc:sldMk cId="0" sldId="271"/>
            <ac:picMk id="4" creationId="{6DE3997F-3EE3-5E22-57DE-742874C96024}"/>
          </ac:picMkLst>
        </pc:picChg>
      </pc:sldChg>
      <pc:sldChg chg="addSp delSp mod modNotes modNotesTx">
        <pc:chgData name="Lai, Wilson" userId="2840974a-0d84-4886-90a9-9a3ed79f3a48" providerId="ADAL" clId="{9F23B798-9E84-4552-BA63-E776E805C424}" dt="2026-09-29T03:19:18.027" v="66"/>
        <pc:sldMkLst>
          <pc:docMk/>
          <pc:sldMk cId="2818766525" sldId="272"/>
        </pc:sldMkLst>
        <pc:picChg chg="del">
          <ac:chgData name="Lai, Wilson" userId="2840974a-0d84-4886-90a9-9a3ed79f3a48" providerId="ADAL" clId="{9F23B798-9E84-4552-BA63-E776E805C424}" dt="2026-09-29T03:00:25.178" v="41" actId="21"/>
          <ac:picMkLst>
            <pc:docMk/>
            <pc:sldMk cId="2818766525" sldId="272"/>
            <ac:picMk id="3" creationId="{A11BEF38-C79F-170C-0B68-9CFA293EE6C5}"/>
          </ac:picMkLst>
        </pc:picChg>
        <pc:picChg chg="add">
          <ac:chgData name="Lai, Wilson" userId="2840974a-0d84-4886-90a9-9a3ed79f3a48" providerId="ADAL" clId="{9F23B798-9E84-4552-BA63-E776E805C424}" dt="2026-09-29T03:00:33.362" v="42" actId="22"/>
          <ac:picMkLst>
            <pc:docMk/>
            <pc:sldMk cId="2818766525" sldId="272"/>
            <ac:picMk id="4" creationId="{DB4EB2A9-04F0-204E-8D52-6C7956BC9883}"/>
          </ac:picMkLst>
        </pc:picChg>
      </pc:sldChg>
      <pc:sldMasterChg chg="setBg">
        <pc:chgData name="Lai, Wilson" userId="2840974a-0d84-4886-90a9-9a3ed79f3a48" providerId="ADAL" clId="{9F23B798-9E84-4552-BA63-E776E805C424}" dt="2026-09-29T02:50:23.244" v="10"/>
        <pc:sldMasterMkLst>
          <pc:docMk/>
          <pc:sldMasterMk cId="3269538284"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D2EE87-0E0A-4E0A-BEE7-524BAD075B4A}"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E6E46F-E0B2-4455-A413-733E84E7B9DB}" type="slidenum">
              <a:rPr lang="en-US" smtClean="0"/>
              <a:t>‹#›</a:t>
            </a:fld>
            <a:endParaRPr lang="en-US"/>
          </a:p>
        </p:txBody>
      </p:sp>
    </p:spTree>
    <p:extLst>
      <p:ext uri="{BB962C8B-B14F-4D97-AF65-F5344CB8AC3E}">
        <p14:creationId xmlns:p14="http://schemas.microsoft.com/office/powerpoint/2010/main" val="26790140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Welcome, everyone. Today we are exploring a landmark moment at the intersection of theoretical physics and artificial intelligence. </a:t>
                </a:r>
              </a:p>
              <a:p>
                <a:r>
                  <a:rPr lang="en-US" sz="1200" kern="1200" dirty="0">
                    <a:solidFill>
                      <a:schemeClr val="tx1"/>
                    </a:solidFill>
                    <a:effectLst/>
                    <a:latin typeface="+mn-lt"/>
                    <a:ea typeface="+mn-ea"/>
                    <a:cs typeface="+mn-cs"/>
                  </a:rPr>
                  <a:t>On August 7th, 2026, a theoretical physicist named Matt von Hippel issued a public challenge to AI labs. He had been watching the rapidly escalating claims about AI performing higher-level mathematics and scientific reasoning. But von Hippel wanted to design a test from a domain he knew intimately. He wasn't interested in an standardized exam question, an internet benchmark, or a textbook problem where the answer was already sitting somewhere on a public web page. He wanted a genuine, unsolved frontier research calculation. </a:t>
                </a:r>
              </a:p>
              <a:p>
                <a:r>
                  <a:rPr lang="en-US" sz="1200" kern="1200" dirty="0">
                    <a:solidFill>
                      <a:schemeClr val="tx1"/>
                    </a:solidFill>
                    <a:effectLst/>
                    <a:latin typeface="+mn-lt"/>
                    <a:ea typeface="+mn-ea"/>
                    <a:cs typeface="+mn-cs"/>
                  </a:rPr>
                  <a:t>His challenge was stated plainly: Take the six-particle scattering amplitude in planar </a:t>
                </a:r>
                <a14:m>
                  <m:oMath xmlns:m="http://schemas.openxmlformats.org/officeDocument/2006/math">
                    <m:r>
                      <a:rPr lang="en-US" sz="1200" kern="1200" smtClean="0">
                        <a:solidFill>
                          <a:schemeClr val="tx1"/>
                        </a:solidFill>
                        <a:latin typeface="Cambria Math" panose="02040503050406030204" pitchFamily="18" charset="0"/>
                        <a:ea typeface="+mn-ea"/>
                        <a:cs typeface="+mn-cs"/>
                      </a:rPr>
                      <m:t>𝒩</m:t>
                    </m:r>
                    <m:r>
                      <a:rPr lang="en-US" sz="1200" i="0" kern="1200">
                        <a:solidFill>
                          <a:schemeClr val="tx1"/>
                        </a:solidFill>
                        <a:latin typeface="Cambria Math" panose="02040503050406030204" pitchFamily="18" charset="0"/>
                        <a:ea typeface="+mn-ea"/>
                        <a:cs typeface="+mn-cs"/>
                      </a:rPr>
                      <m:t>=4</m:t>
                    </m:r>
                  </m:oMath>
                </a14:m>
                <a:r>
                  <a:rPr lang="en-US" sz="1200" kern="1200" dirty="0">
                    <a:solidFill>
                      <a:schemeClr val="tx1"/>
                    </a:solidFill>
                    <a:effectLst/>
                    <a:latin typeface="+mn-lt"/>
                    <a:ea typeface="+mn-ea"/>
                    <a:cs typeface="+mn-cs"/>
                  </a:rPr>
                  <a:t> super Yang-Mills theory and push it from eight loops to nine loops. </a:t>
                </a:r>
              </a:p>
              <a:p>
                <a:r>
                  <a:rPr lang="en-US" sz="1200" kern="1200" dirty="0">
                    <a:solidFill>
                      <a:schemeClr val="tx1"/>
                    </a:solidFill>
                    <a:effectLst/>
                    <a:latin typeface="+mn-lt"/>
                    <a:ea typeface="+mn-ea"/>
                    <a:cs typeface="+mn-cs"/>
                  </a:rPr>
                  <a:t>Now, at the time, eight loops represented the absolute published edge of human capability—achieved in 2023 by leading physicists using advanced mathematical techniques. Nine loops was widely considered a computational brick wall. </a:t>
                </a:r>
              </a:p>
              <a:p>
                <a:r>
                  <a:rPr lang="en-US" sz="1200" kern="1200" dirty="0">
                    <a:solidFill>
                      <a:schemeClr val="tx1"/>
                    </a:solidFill>
                    <a:effectLst/>
                    <a:latin typeface="+mn-lt"/>
                    <a:ea typeface="+mn-ea"/>
                    <a:cs typeface="+mn-cs"/>
                  </a:rPr>
                  <a:t>Barely a month later, researchers at Anthropic, using the Claude model inside a long-running agentic environment, delivered the verified nine-loop answer. </a:t>
                </a:r>
              </a:p>
              <a:p>
                <a:r>
                  <a:rPr lang="en-US" sz="1200" kern="1200" dirty="0">
                    <a:solidFill>
                      <a:schemeClr val="tx1"/>
                    </a:solidFill>
                    <a:effectLst/>
                    <a:latin typeface="+mn-lt"/>
                    <a:ea typeface="+mn-ea"/>
                    <a:cs typeface="+mn-cs"/>
                  </a:rPr>
                  <a:t>Over the course of this talk, we’re going to look past the hype. We will examine what was actually calculated, why nine loops was so notoriously difficult, how the AI managed to execute the workflow, and what this tells us about the future of scientific discovery.</a:t>
                </a:r>
              </a:p>
              <a:p>
                <a:endParaRPr lang="en-US" dirty="0"/>
              </a:p>
              <a:p>
                <a:endParaRPr lang="en-US" dirty="0"/>
              </a:p>
              <a:p>
                <a:endParaRPr lang="en-US" dirty="0"/>
              </a:p>
              <a:p>
                <a:endParaRPr lang="en-US" dirty="0"/>
              </a:p>
              <a:p>
                <a:r>
                  <a:rPr lang="en-US" b="1" dirty="0" err="1"/>
                  <a:t>Anthropic’s</a:t>
                </a:r>
                <a:r>
                  <a:rPr lang="en-US" b="1" dirty="0"/>
                  <a:t> Claude Just Solved a 9-Loop Physics Problem — Here’s What It Means</a:t>
                </a:r>
              </a:p>
              <a:p>
                <a:r>
                  <a:rPr lang="en-US" dirty="0"/>
                  <a:t>https://www.youtube.com/watch?v=QI3v6cU6dGc</a:t>
                </a:r>
              </a:p>
            </p:txBody>
          </p:sp>
        </mc:Choice>
        <mc:Fallback xmlns="">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Welcome, everyone. Today we are exploring a landmark moment at the intersection of theoretical physics and artificial intelligence. </a:t>
                </a:r>
              </a:p>
              <a:p>
                <a:r>
                  <a:rPr lang="en-US" sz="1200" kern="1200" dirty="0">
                    <a:solidFill>
                      <a:schemeClr val="tx1"/>
                    </a:solidFill>
                    <a:effectLst/>
                    <a:latin typeface="+mn-lt"/>
                    <a:ea typeface="+mn-ea"/>
                    <a:cs typeface="+mn-cs"/>
                  </a:rPr>
                  <a:t>On August 7th, 2026, a theoretical physicist named Matt von Hippel issued a public challenge to AI labs. He had been watching the rapidly escalating claims about AI performing higher-level mathematics and scientific reasoning. But von Hippel wanted to design a test from a domain he knew intimately. He wasn't interested in an standardized exam question, an internet benchmark, or a textbook problem where the answer was already sitting somewhere on a public web page. He wanted a genuine, unsolved frontier research calculation. </a:t>
                </a:r>
              </a:p>
              <a:p>
                <a:r>
                  <a:rPr lang="en-US" sz="1200" kern="1200" dirty="0">
                    <a:solidFill>
                      <a:schemeClr val="tx1"/>
                    </a:solidFill>
                    <a:effectLst/>
                    <a:latin typeface="+mn-lt"/>
                    <a:ea typeface="+mn-ea"/>
                    <a:cs typeface="+mn-cs"/>
                  </a:rPr>
                  <a:t>His challenge was stated plainly: Take the six-particle scattering amplitude in planar </a:t>
                </a:r>
                <a:r>
                  <a:rPr lang="en-US" sz="1200" i="0" kern="1200">
                    <a:solidFill>
                      <a:schemeClr val="tx1"/>
                    </a:solidFill>
                    <a:latin typeface="+mn-lt"/>
                    <a:ea typeface="+mn-ea"/>
                    <a:cs typeface="+mn-cs"/>
                  </a:rPr>
                  <a:t>𝒩=4</a:t>
                </a:r>
                <a:r>
                  <a:rPr lang="en-US" sz="1200" kern="1200" dirty="0">
                    <a:solidFill>
                      <a:schemeClr val="tx1"/>
                    </a:solidFill>
                    <a:effectLst/>
                    <a:latin typeface="+mn-lt"/>
                    <a:ea typeface="+mn-ea"/>
                    <a:cs typeface="+mn-cs"/>
                  </a:rPr>
                  <a:t> super Yang-Mills theory and push it from eight loops to nine loops. </a:t>
                </a:r>
              </a:p>
              <a:p>
                <a:r>
                  <a:rPr lang="en-US" sz="1200" kern="1200" dirty="0">
                    <a:solidFill>
                      <a:schemeClr val="tx1"/>
                    </a:solidFill>
                    <a:effectLst/>
                    <a:latin typeface="+mn-lt"/>
                    <a:ea typeface="+mn-ea"/>
                    <a:cs typeface="+mn-cs"/>
                  </a:rPr>
                  <a:t>Now, at the time, eight loops represented the absolute published edge of human capability—achieved in 2023 by leading physicists using advanced mathematical techniques. Nine loops was widely considered a computational brick wall. </a:t>
                </a:r>
              </a:p>
              <a:p>
                <a:r>
                  <a:rPr lang="en-US" sz="1200" kern="1200" dirty="0">
                    <a:solidFill>
                      <a:schemeClr val="tx1"/>
                    </a:solidFill>
                    <a:effectLst/>
                    <a:latin typeface="+mn-lt"/>
                    <a:ea typeface="+mn-ea"/>
                    <a:cs typeface="+mn-cs"/>
                  </a:rPr>
                  <a:t>Barely a month later, researchers at Anthropic, using the Claude model inside a long-running agentic environment, delivered the verified nine-loop answer. </a:t>
                </a:r>
              </a:p>
              <a:p>
                <a:r>
                  <a:rPr lang="en-US" sz="1200" kern="1200" dirty="0">
                    <a:solidFill>
                      <a:schemeClr val="tx1"/>
                    </a:solidFill>
                    <a:effectLst/>
                    <a:latin typeface="+mn-lt"/>
                    <a:ea typeface="+mn-ea"/>
                    <a:cs typeface="+mn-cs"/>
                  </a:rPr>
                  <a:t>Over the course of this talk, we’re going to look past the hype. We will examine what was actually calculated, why nine loops was so notoriously difficult, how the AI managed to execute the workflow, and what this tells us about the future of scientific discovery.</a:t>
                </a:r>
              </a:p>
              <a:p>
                <a:endParaRPr lang="en-US" dirty="0"/>
              </a:p>
              <a:p>
                <a:endParaRPr lang="en-US" dirty="0"/>
              </a:p>
              <a:p>
                <a:endParaRPr lang="en-US" dirty="0"/>
              </a:p>
              <a:p>
                <a:endParaRPr lang="en-US" dirty="0"/>
              </a:p>
              <a:p>
                <a:r>
                  <a:rPr lang="en-US" b="1" dirty="0" err="1"/>
                  <a:t>Anthropic’s</a:t>
                </a:r>
                <a:r>
                  <a:rPr lang="en-US" b="1" dirty="0"/>
                  <a:t> Claude Just Solved a 9-Loop Physics Problem — Here’s What It Means</a:t>
                </a:r>
              </a:p>
              <a:p>
                <a:r>
                  <a:rPr lang="en-US" dirty="0"/>
                  <a:t>https://www.youtube.com/watch?v=QI3v6cU6dGc</a:t>
                </a:r>
              </a:p>
            </p:txBody>
          </p:sp>
        </mc:Fallback>
      </mc:AlternateContent>
      <p:sp>
        <p:nvSpPr>
          <p:cNvPr id="4" name="Slide Number Placeholder 3"/>
          <p:cNvSpPr>
            <a:spLocks noGrp="1"/>
          </p:cNvSpPr>
          <p:nvPr>
            <p:ph type="sldNum" sz="quarter" idx="5"/>
          </p:nvPr>
        </p:nvSpPr>
        <p:spPr/>
        <p:txBody>
          <a:bodyPr/>
          <a:lstStyle/>
          <a:p>
            <a:fld id="{15E6E46F-E0B2-4455-A413-733E84E7B9DB}" type="slidenum">
              <a:rPr lang="en-US" smtClean="0"/>
              <a:t>1</a:t>
            </a:fld>
            <a:endParaRPr lang="en-US"/>
          </a:p>
        </p:txBody>
      </p:sp>
    </p:spTree>
    <p:extLst>
      <p:ext uri="{BB962C8B-B14F-4D97-AF65-F5344CB8AC3E}">
        <p14:creationId xmlns:p14="http://schemas.microsoft.com/office/powerpoint/2010/main" val="28067795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Before we unpack the AI execution, let's establish the physical core of what we are calculating. </a:t>
            </a:r>
          </a:p>
          <a:p>
            <a:r>
              <a:rPr lang="en-US" sz="1200" kern="1200" dirty="0">
                <a:solidFill>
                  <a:schemeClr val="tx1"/>
                </a:solidFill>
                <a:effectLst/>
                <a:latin typeface="+mn-lt"/>
                <a:ea typeface="+mn-ea"/>
                <a:cs typeface="+mn-cs"/>
              </a:rPr>
              <a:t>Imagine two subatomic particles racing toward each other at relativistic speeds. They collide, and in a fraction of a second, a spray of new particles shoots outward. If you freeze that exact moment and ask: </a:t>
            </a:r>
            <a:r>
              <a:rPr lang="en-US" sz="1200" i="1" kern="1200" dirty="0">
                <a:solidFill>
                  <a:schemeClr val="tx1"/>
                </a:solidFill>
                <a:effectLst/>
                <a:latin typeface="+mn-lt"/>
                <a:ea typeface="+mn-ea"/>
                <a:cs typeface="+mn-cs"/>
              </a:rPr>
              <a:t>'What does quantum mechanics predict will happen?'</a:t>
            </a:r>
            <a:r>
              <a:rPr lang="en-US" sz="1200" kern="1200" dirty="0">
                <a:solidFill>
                  <a:schemeClr val="tx1"/>
                </a:solidFill>
                <a:effectLst/>
                <a:latin typeface="+mn-lt"/>
                <a:ea typeface="+mn-ea"/>
                <a:cs typeface="+mn-cs"/>
              </a:rPr>
              <a:t>, you find the first fundamental surprise of quantum physics. </a:t>
            </a:r>
          </a:p>
          <a:p>
            <a:r>
              <a:rPr lang="en-US" sz="1200" kern="1200" dirty="0">
                <a:solidFill>
                  <a:schemeClr val="tx1"/>
                </a:solidFill>
                <a:effectLst/>
                <a:latin typeface="+mn-lt"/>
                <a:ea typeface="+mn-ea"/>
                <a:cs typeface="+mn-cs"/>
              </a:rPr>
              <a:t>Quantum mechanics never predicts a single, deterministic outcome. It does not say 'Particle A will hit Particle B and shoot out at a 45-degree angle.' Instead, it yields a cloud of possibilities—a distribution of probabilities over many different potential outcomes. </a:t>
            </a:r>
          </a:p>
          <a:p>
            <a:r>
              <a:rPr lang="en-US" sz="1200" kern="1200" dirty="0">
                <a:solidFill>
                  <a:schemeClr val="tx1"/>
                </a:solidFill>
                <a:effectLst/>
                <a:latin typeface="+mn-lt"/>
                <a:ea typeface="+mn-ea"/>
                <a:cs typeface="+mn-cs"/>
              </a:rPr>
              <a:t>To calculate these probabilities, theoretical physicists rely on the central object of quantum field theory: the </a:t>
            </a:r>
            <a:r>
              <a:rPr lang="en-US" sz="1200" b="1" kern="1200" dirty="0">
                <a:solidFill>
                  <a:schemeClr val="tx1"/>
                </a:solidFill>
                <a:effectLst/>
                <a:latin typeface="+mn-lt"/>
                <a:ea typeface="+mn-ea"/>
                <a:cs typeface="+mn-cs"/>
              </a:rPr>
              <a:t>Scattering Amplitude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Crucially, the scattering amplitude itself is not a probability; it is a complex number. It is a rich mathematical structure that holds the phase and interference information—the hidden mechanics of the collision. By taking the square of its magnitude, physicists derive the actual probabilities observed in real-world detector experiments. </a:t>
            </a:r>
          </a:p>
          <a:p>
            <a:r>
              <a:rPr lang="en-US" sz="1200" kern="1200" dirty="0">
                <a:solidFill>
                  <a:schemeClr val="tx1"/>
                </a:solidFill>
                <a:effectLst/>
                <a:latin typeface="+mn-lt"/>
                <a:ea typeface="+mn-ea"/>
                <a:cs typeface="+mn-cs"/>
              </a:rPr>
              <a:t>Keep this 'black box' in mind: </a:t>
            </a:r>
            <a:r>
              <a:rPr lang="en-US" sz="1200" b="1" kern="1200" dirty="0">
                <a:solidFill>
                  <a:schemeClr val="tx1"/>
                </a:solidFill>
                <a:effectLst/>
                <a:latin typeface="+mn-lt"/>
                <a:ea typeface="+mn-ea"/>
                <a:cs typeface="+mn-cs"/>
              </a:rPr>
              <a:t>Particles go in, probabilities come out, and the scattering amplitude tells us how</a:t>
            </a:r>
            <a:r>
              <a:rPr lang="en-US" sz="1200" kern="1200" dirty="0">
                <a:solidFill>
                  <a:schemeClr val="tx1"/>
                </a:solidFill>
                <a:effectLst/>
                <a:latin typeface="+mn-lt"/>
                <a:ea typeface="+mn-ea"/>
                <a:cs typeface="+mn-cs"/>
              </a:rPr>
              <a:t>. Everything in this entire story is about calculating just one of these objects.</a:t>
            </a:r>
          </a:p>
          <a:p>
            <a:endParaRPr lang="en-US" dirty="0"/>
          </a:p>
        </p:txBody>
      </p:sp>
      <p:sp>
        <p:nvSpPr>
          <p:cNvPr id="4" name="Slide Number Placeholder 3"/>
          <p:cNvSpPr>
            <a:spLocks noGrp="1"/>
          </p:cNvSpPr>
          <p:nvPr>
            <p:ph type="sldNum" sz="quarter" idx="5"/>
          </p:nvPr>
        </p:nvSpPr>
        <p:spPr/>
        <p:txBody>
          <a:bodyPr/>
          <a:lstStyle/>
          <a:p>
            <a:fld id="{15E6E46F-E0B2-4455-A413-733E84E7B9DB}" type="slidenum">
              <a:rPr lang="en-US" smtClean="0"/>
              <a:t>2</a:t>
            </a:fld>
            <a:endParaRPr lang="en-US"/>
          </a:p>
        </p:txBody>
      </p:sp>
    </p:spTree>
    <p:extLst>
      <p:ext uri="{BB962C8B-B14F-4D97-AF65-F5344CB8AC3E}">
        <p14:creationId xmlns:p14="http://schemas.microsoft.com/office/powerpoint/2010/main" val="13564679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you might ask: </a:t>
                </a:r>
                <a:r>
                  <a:rPr lang="en-US" sz="1200" i="1" kern="1200" dirty="0">
                    <a:solidFill>
                      <a:schemeClr val="tx1"/>
                    </a:solidFill>
                    <a:effectLst/>
                    <a:latin typeface="+mn-lt"/>
                    <a:ea typeface="+mn-ea"/>
                    <a:cs typeface="+mn-cs"/>
                  </a:rPr>
                  <a:t>'Which universe are we calculating this for?'</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If you try to perform higher-order quantum calculations directly inside the real world—say, real-world Quantum Chromodynamics at the Large Hadron Collider—you immediately run into extreme complexity. The real universe is like an aircraft flying through turbulent weather: filled with gusts, eddies, and non-perturbative noise that obscure the underlying mathematics. </a:t>
                </a:r>
              </a:p>
              <a:p>
                <a:r>
                  <a:rPr lang="en-US" sz="1200" kern="1200" dirty="0">
                    <a:solidFill>
                      <a:schemeClr val="tx1"/>
                    </a:solidFill>
                    <a:effectLst/>
                    <a:latin typeface="+mn-lt"/>
                    <a:ea typeface="+mn-ea"/>
                    <a:cs typeface="+mn-cs"/>
                  </a:rPr>
                  <a:t>To overcome this, theoretical physicists retreat to a special theoretical model called </a:t>
                </a:r>
                <a:r>
                  <a:rPr lang="en-US" sz="1200" b="1" kern="1200" dirty="0">
                    <a:solidFill>
                      <a:schemeClr val="tx1"/>
                    </a:solidFill>
                    <a:effectLst/>
                    <a:latin typeface="+mn-lt"/>
                    <a:ea typeface="+mn-ea"/>
                    <a:cs typeface="+mn-cs"/>
                  </a:rPr>
                  <a:t>Planar </a:t>
                </a:r>
                <a14:m>
                  <m:oMath xmlns:m="http://schemas.openxmlformats.org/officeDocument/2006/math">
                    <m:r>
                      <a:rPr lang="en-US" sz="1200" kern="1200" smtClean="0">
                        <a:solidFill>
                          <a:schemeClr val="tx1"/>
                        </a:solidFill>
                        <a:latin typeface="Cambria Math" panose="02040503050406030204" pitchFamily="18" charset="0"/>
                        <a:ea typeface="+mn-ea"/>
                        <a:cs typeface="+mn-cs"/>
                      </a:rPr>
                      <m:t>𝒩</m:t>
                    </m:r>
                    <m:r>
                      <a:rPr lang="en-US" sz="1200" i="0" kern="1200">
                        <a:solidFill>
                          <a:schemeClr val="tx1"/>
                        </a:solidFill>
                        <a:latin typeface="Cambria Math" panose="02040503050406030204" pitchFamily="18" charset="0"/>
                        <a:ea typeface="+mn-ea"/>
                        <a:cs typeface="+mn-cs"/>
                      </a:rPr>
                      <m:t>=4</m:t>
                    </m:r>
                  </m:oMath>
                </a14:m>
                <a:r>
                  <a:rPr lang="en-US" sz="1200" b="1" kern="1200" dirty="0">
                    <a:solidFill>
                      <a:schemeClr val="tx1"/>
                    </a:solidFill>
                    <a:effectLst/>
                    <a:latin typeface="+mn-lt"/>
                    <a:ea typeface="+mn-ea"/>
                    <a:cs typeface="+mn-cs"/>
                  </a:rPr>
                  <a:t>Super Yang-Mills theory</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Let's be explicit: Planar </a:t>
                </a:r>
                <a14:m>
                  <m:oMath xmlns:m="http://schemas.openxmlformats.org/officeDocument/2006/math">
                    <m:r>
                      <a:rPr lang="en-US" sz="1200" kern="1200" smtClean="0">
                        <a:solidFill>
                          <a:schemeClr val="tx1"/>
                        </a:solidFill>
                        <a:latin typeface="Cambria Math" panose="02040503050406030204" pitchFamily="18" charset="0"/>
                        <a:ea typeface="+mn-ea"/>
                        <a:cs typeface="+mn-cs"/>
                      </a:rPr>
                      <m:t>𝒩</m:t>
                    </m:r>
                    <m:r>
                      <a:rPr lang="en-US" sz="1200" i="0" kern="1200">
                        <a:solidFill>
                          <a:schemeClr val="tx1"/>
                        </a:solidFill>
                        <a:latin typeface="Cambria Math" panose="02040503050406030204" pitchFamily="18" charset="0"/>
                        <a:ea typeface="+mn-ea"/>
                        <a:cs typeface="+mn-cs"/>
                      </a:rPr>
                      <m:t>=4</m:t>
                    </m:r>
                  </m:oMath>
                </a14:m>
                <a:r>
                  <a:rPr lang="en-US" sz="1200" kern="1200" dirty="0">
                    <a:solidFill>
                      <a:schemeClr val="tx1"/>
                    </a:solidFill>
                    <a:effectLst/>
                    <a:latin typeface="+mn-lt"/>
                    <a:ea typeface="+mn-ea"/>
                    <a:cs typeface="+mn-cs"/>
                  </a:rPr>
                  <a:t>SYM is </a:t>
                </a:r>
                <a:r>
                  <a:rPr lang="en-US" sz="1200" i="1" kern="1200" dirty="0">
                    <a:solidFill>
                      <a:schemeClr val="tx1"/>
                    </a:solidFill>
                    <a:effectLst/>
                    <a:latin typeface="+mn-lt"/>
                    <a:ea typeface="+mn-ea"/>
                    <a:cs typeface="+mn-cs"/>
                  </a:rPr>
                  <a:t>not</a:t>
                </a:r>
                <a:r>
                  <a:rPr lang="en-US" sz="1200" kern="1200" dirty="0">
                    <a:solidFill>
                      <a:schemeClr val="tx1"/>
                    </a:solidFill>
                    <a:effectLst/>
                    <a:latin typeface="+mn-lt"/>
                    <a:ea typeface="+mn-ea"/>
                    <a:cs typeface="+mn-cs"/>
                  </a:rPr>
                  <a:t> a theory of real particles in our physical universe. It does not prove supersymmetry exists, nor is it a new prediction for CERN. Think of it as a </a:t>
                </a:r>
                <a:r>
                  <a:rPr lang="en-US" sz="1200" b="1" kern="1200" dirty="0">
                    <a:solidFill>
                      <a:schemeClr val="tx1"/>
                    </a:solidFill>
                    <a:effectLst/>
                    <a:latin typeface="+mn-lt"/>
                    <a:ea typeface="+mn-ea"/>
                    <a:cs typeface="+mn-cs"/>
                  </a:rPr>
                  <a:t>Quantum Wind Tunnel</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When aeronautical engineers want to study airflows around a wing, they don't fly a plane into a thunderstorm; they place a scaled wing inside a wind tunnel where conditions are fixed and air streams smoothly. Planar </a:t>
                </a:r>
                <a14:m>
                  <m:oMath xmlns:m="http://schemas.openxmlformats.org/officeDocument/2006/math">
                    <m:r>
                      <a:rPr lang="en-US" sz="1200" kern="1200" smtClean="0">
                        <a:solidFill>
                          <a:schemeClr val="tx1"/>
                        </a:solidFill>
                        <a:latin typeface="Cambria Math" panose="02040503050406030204" pitchFamily="18" charset="0"/>
                        <a:ea typeface="+mn-ea"/>
                        <a:cs typeface="+mn-cs"/>
                      </a:rPr>
                      <m:t>𝒩</m:t>
                    </m:r>
                    <m:r>
                      <a:rPr lang="en-US" sz="1200" i="0" kern="1200">
                        <a:solidFill>
                          <a:schemeClr val="tx1"/>
                        </a:solidFill>
                        <a:latin typeface="Cambria Math" panose="02040503050406030204" pitchFamily="18" charset="0"/>
                        <a:ea typeface="+mn-ea"/>
                        <a:cs typeface="+mn-cs"/>
                      </a:rPr>
                      <m:t>=4</m:t>
                    </m:r>
                  </m:oMath>
                </a14:m>
                <a:r>
                  <a:rPr lang="en-US" sz="1200" kern="1200" dirty="0">
                    <a:solidFill>
                      <a:schemeClr val="tx1"/>
                    </a:solidFill>
                    <a:effectLst/>
                    <a:latin typeface="+mn-lt"/>
                    <a:ea typeface="+mn-ea"/>
                    <a:cs typeface="+mn-cs"/>
                  </a:rPr>
                  <a:t>SYM provides an maximally symmetric laboratory. It turns off real-world clutter so physicists can expose the pure, pristine mathematical architecture of quantum field theory. </a:t>
                </a:r>
              </a:p>
              <a:p>
                <a:r>
                  <a:rPr lang="en-US" sz="1200" kern="1200" dirty="0">
                    <a:solidFill>
                      <a:schemeClr val="tx1"/>
                    </a:solidFill>
                    <a:effectLst/>
                    <a:latin typeface="+mn-lt"/>
                    <a:ea typeface="+mn-ea"/>
                    <a:cs typeface="+mn-cs"/>
                  </a:rPr>
                  <a:t>The specific object of our story is the </a:t>
                </a:r>
                <a:r>
                  <a:rPr lang="en-US" sz="1200" b="1" kern="1200" dirty="0">
                    <a:solidFill>
                      <a:schemeClr val="tx1"/>
                    </a:solidFill>
                    <a:effectLst/>
                    <a:latin typeface="+mn-lt"/>
                    <a:ea typeface="+mn-ea"/>
                    <a:cs typeface="+mn-cs"/>
                  </a:rPr>
                  <a:t>Six-Particle MHV Amplitude</a:t>
                </a:r>
                <a:r>
                  <a:rPr lang="en-US" sz="1200" kern="1200" dirty="0">
                    <a:solidFill>
                      <a:schemeClr val="tx1"/>
                    </a:solidFill>
                    <a:effectLst/>
                    <a:latin typeface="+mn-lt"/>
                    <a:ea typeface="+mn-ea"/>
                    <a:cs typeface="+mn-cs"/>
                  </a:rPr>
                  <a:t>—often called the </a:t>
                </a:r>
                <a:r>
                  <a:rPr lang="en-US" sz="1200" b="1" kern="1200" dirty="0">
                    <a:solidFill>
                      <a:schemeClr val="tx1"/>
                    </a:solidFill>
                    <a:effectLst/>
                    <a:latin typeface="+mn-lt"/>
                    <a:ea typeface="+mn-ea"/>
                    <a:cs typeface="+mn-cs"/>
                  </a:rPr>
                  <a:t>Hexagon Amplitude</a:t>
                </a:r>
                <a:r>
                  <a:rPr lang="en-US" sz="1200" kern="1200" dirty="0">
                    <a:solidFill>
                      <a:schemeClr val="tx1"/>
                    </a:solidFill>
                    <a:effectLst/>
                    <a:latin typeface="+mn-lt"/>
                    <a:ea typeface="+mn-ea"/>
                    <a:cs typeface="+mn-cs"/>
                  </a:rPr>
                  <a:t> because we can visualize the six colliding particles arranged around a regular hexagon.</a:t>
                </a:r>
              </a:p>
              <a:p>
                <a:endParaRPr lang="en-US" dirty="0"/>
              </a:p>
            </p:txBody>
          </p:sp>
        </mc:Choice>
        <mc:Fallback xmlns="">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you might ask: </a:t>
                </a:r>
                <a:r>
                  <a:rPr lang="en-US" sz="1200" i="1" kern="1200" dirty="0">
                    <a:solidFill>
                      <a:schemeClr val="tx1"/>
                    </a:solidFill>
                    <a:effectLst/>
                    <a:latin typeface="+mn-lt"/>
                    <a:ea typeface="+mn-ea"/>
                    <a:cs typeface="+mn-cs"/>
                  </a:rPr>
                  <a:t>'Which universe are we calculating this for?'</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If you try to perform higher-order quantum calculations directly inside the real world—say, real-world Quantum Chromodynamics at the Large Hadron Collider—you immediately run into extreme complexity. The real universe is like an aircraft flying through turbulent weather: filled with gusts, eddies, and non-perturbative noise that obscure the underlying mathematics. </a:t>
                </a:r>
              </a:p>
              <a:p>
                <a:r>
                  <a:rPr lang="en-US" sz="1200" kern="1200" dirty="0">
                    <a:solidFill>
                      <a:schemeClr val="tx1"/>
                    </a:solidFill>
                    <a:effectLst/>
                    <a:latin typeface="+mn-lt"/>
                    <a:ea typeface="+mn-ea"/>
                    <a:cs typeface="+mn-cs"/>
                  </a:rPr>
                  <a:t>To overcome this, theoretical physicists retreat to a special theoretical model called </a:t>
                </a:r>
                <a:r>
                  <a:rPr lang="en-US" sz="1200" b="1" kern="1200" dirty="0">
                    <a:solidFill>
                      <a:schemeClr val="tx1"/>
                    </a:solidFill>
                    <a:effectLst/>
                    <a:latin typeface="+mn-lt"/>
                    <a:ea typeface="+mn-ea"/>
                    <a:cs typeface="+mn-cs"/>
                  </a:rPr>
                  <a:t>Planar </a:t>
                </a:r>
                <a:r>
                  <a:rPr lang="en-US" sz="1200" i="0" kern="1200">
                    <a:solidFill>
                      <a:schemeClr val="tx1"/>
                    </a:solidFill>
                    <a:latin typeface="+mn-lt"/>
                    <a:ea typeface="+mn-ea"/>
                    <a:cs typeface="+mn-cs"/>
                  </a:rPr>
                  <a:t>𝒩=4</a:t>
                </a:r>
                <a:r>
                  <a:rPr lang="en-US" sz="1200" b="1" kern="1200" dirty="0">
                    <a:solidFill>
                      <a:schemeClr val="tx1"/>
                    </a:solidFill>
                    <a:effectLst/>
                    <a:latin typeface="+mn-lt"/>
                    <a:ea typeface="+mn-ea"/>
                    <a:cs typeface="+mn-cs"/>
                  </a:rPr>
                  <a:t>Super Yang-Mills theory</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Let's be explicit: Planar </a:t>
                </a:r>
                <a:r>
                  <a:rPr lang="en-US" sz="1200" i="0" kern="1200">
                    <a:solidFill>
                      <a:schemeClr val="tx1"/>
                    </a:solidFill>
                    <a:latin typeface="+mn-lt"/>
                    <a:ea typeface="+mn-ea"/>
                    <a:cs typeface="+mn-cs"/>
                  </a:rPr>
                  <a:t>𝒩=4</a:t>
                </a:r>
                <a:r>
                  <a:rPr lang="en-US" sz="1200" kern="1200" dirty="0">
                    <a:solidFill>
                      <a:schemeClr val="tx1"/>
                    </a:solidFill>
                    <a:effectLst/>
                    <a:latin typeface="+mn-lt"/>
                    <a:ea typeface="+mn-ea"/>
                    <a:cs typeface="+mn-cs"/>
                  </a:rPr>
                  <a:t>SYM is </a:t>
                </a:r>
                <a:r>
                  <a:rPr lang="en-US" sz="1200" i="1" kern="1200" dirty="0">
                    <a:solidFill>
                      <a:schemeClr val="tx1"/>
                    </a:solidFill>
                    <a:effectLst/>
                    <a:latin typeface="+mn-lt"/>
                    <a:ea typeface="+mn-ea"/>
                    <a:cs typeface="+mn-cs"/>
                  </a:rPr>
                  <a:t>not</a:t>
                </a:r>
                <a:r>
                  <a:rPr lang="en-US" sz="1200" kern="1200" dirty="0">
                    <a:solidFill>
                      <a:schemeClr val="tx1"/>
                    </a:solidFill>
                    <a:effectLst/>
                    <a:latin typeface="+mn-lt"/>
                    <a:ea typeface="+mn-ea"/>
                    <a:cs typeface="+mn-cs"/>
                  </a:rPr>
                  <a:t> a theory of real particles in our physical universe. It does not prove supersymmetry exists, nor is it a new prediction for CERN. Think of it as a </a:t>
                </a:r>
                <a:r>
                  <a:rPr lang="en-US" sz="1200" b="1" kern="1200" dirty="0">
                    <a:solidFill>
                      <a:schemeClr val="tx1"/>
                    </a:solidFill>
                    <a:effectLst/>
                    <a:latin typeface="+mn-lt"/>
                    <a:ea typeface="+mn-ea"/>
                    <a:cs typeface="+mn-cs"/>
                  </a:rPr>
                  <a:t>Quantum Wind Tunnel</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When aeronautical engineers want to study airflows around a wing, they don't fly a plane into a thunderstorm; they place a scaled wing inside a wind tunnel where conditions are fixed and air streams smoothly. Planar </a:t>
                </a:r>
                <a:r>
                  <a:rPr lang="en-US" sz="1200" i="0" kern="1200">
                    <a:solidFill>
                      <a:schemeClr val="tx1"/>
                    </a:solidFill>
                    <a:latin typeface="+mn-lt"/>
                    <a:ea typeface="+mn-ea"/>
                    <a:cs typeface="+mn-cs"/>
                  </a:rPr>
                  <a:t>𝒩=4</a:t>
                </a:r>
                <a:r>
                  <a:rPr lang="en-US" sz="1200" kern="1200" dirty="0">
                    <a:solidFill>
                      <a:schemeClr val="tx1"/>
                    </a:solidFill>
                    <a:effectLst/>
                    <a:latin typeface="+mn-lt"/>
                    <a:ea typeface="+mn-ea"/>
                    <a:cs typeface="+mn-cs"/>
                  </a:rPr>
                  <a:t>SYM provides an maximally symmetric laboratory. It turns off real-world clutter so physicists can expose the pure, pristine mathematical architecture of quantum field theory. </a:t>
                </a:r>
              </a:p>
              <a:p>
                <a:r>
                  <a:rPr lang="en-US" sz="1200" kern="1200" dirty="0">
                    <a:solidFill>
                      <a:schemeClr val="tx1"/>
                    </a:solidFill>
                    <a:effectLst/>
                    <a:latin typeface="+mn-lt"/>
                    <a:ea typeface="+mn-ea"/>
                    <a:cs typeface="+mn-cs"/>
                  </a:rPr>
                  <a:t>The specific object of our story is the </a:t>
                </a:r>
                <a:r>
                  <a:rPr lang="en-US" sz="1200" b="1" kern="1200" dirty="0">
                    <a:solidFill>
                      <a:schemeClr val="tx1"/>
                    </a:solidFill>
                    <a:effectLst/>
                    <a:latin typeface="+mn-lt"/>
                    <a:ea typeface="+mn-ea"/>
                    <a:cs typeface="+mn-cs"/>
                  </a:rPr>
                  <a:t>Six-Particle MHV Amplitude</a:t>
                </a:r>
                <a:r>
                  <a:rPr lang="en-US" sz="1200" kern="1200" dirty="0">
                    <a:solidFill>
                      <a:schemeClr val="tx1"/>
                    </a:solidFill>
                    <a:effectLst/>
                    <a:latin typeface="+mn-lt"/>
                    <a:ea typeface="+mn-ea"/>
                    <a:cs typeface="+mn-cs"/>
                  </a:rPr>
                  <a:t>—often called the </a:t>
                </a:r>
                <a:r>
                  <a:rPr lang="en-US" sz="1200" b="1" kern="1200" dirty="0">
                    <a:solidFill>
                      <a:schemeClr val="tx1"/>
                    </a:solidFill>
                    <a:effectLst/>
                    <a:latin typeface="+mn-lt"/>
                    <a:ea typeface="+mn-ea"/>
                    <a:cs typeface="+mn-cs"/>
                  </a:rPr>
                  <a:t>Hexagon Amplitude</a:t>
                </a:r>
                <a:r>
                  <a:rPr lang="en-US" sz="1200" kern="1200" dirty="0">
                    <a:solidFill>
                      <a:schemeClr val="tx1"/>
                    </a:solidFill>
                    <a:effectLst/>
                    <a:latin typeface="+mn-lt"/>
                    <a:ea typeface="+mn-ea"/>
                    <a:cs typeface="+mn-cs"/>
                  </a:rPr>
                  <a:t> because we can visualize the six colliding particles arranged around a regular hexagon.</a:t>
                </a:r>
              </a:p>
              <a:p>
                <a:endParaRPr lang="en-US" dirty="0"/>
              </a:p>
            </p:txBody>
          </p:sp>
        </mc:Fallback>
      </mc:AlternateContent>
      <p:sp>
        <p:nvSpPr>
          <p:cNvPr id="4" name="Slide Number Placeholder 3"/>
          <p:cNvSpPr>
            <a:spLocks noGrp="1"/>
          </p:cNvSpPr>
          <p:nvPr>
            <p:ph type="sldNum" sz="quarter" idx="5"/>
          </p:nvPr>
        </p:nvSpPr>
        <p:spPr/>
        <p:txBody>
          <a:bodyPr/>
          <a:lstStyle/>
          <a:p>
            <a:fld id="{15E6E46F-E0B2-4455-A413-733E84E7B9DB}" type="slidenum">
              <a:rPr lang="en-US" smtClean="0"/>
              <a:t>3</a:t>
            </a:fld>
            <a:endParaRPr lang="en-US"/>
          </a:p>
        </p:txBody>
      </p:sp>
    </p:spTree>
    <p:extLst>
      <p:ext uri="{BB962C8B-B14F-4D97-AF65-F5344CB8AC3E}">
        <p14:creationId xmlns:p14="http://schemas.microsoft.com/office/powerpoint/2010/main" val="35553526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physicists calculate amplitudes, they do so perturbatively—building the answer term by term in a series expansion. </a:t>
            </a:r>
          </a:p>
          <a:p>
            <a:r>
              <a:rPr lang="en-US" sz="1200" kern="1200" dirty="0">
                <a:solidFill>
                  <a:schemeClr val="tx1"/>
                </a:solidFill>
                <a:effectLst/>
                <a:latin typeface="+mn-lt"/>
                <a:ea typeface="+mn-ea"/>
                <a:cs typeface="+mn-cs"/>
              </a:rPr>
              <a:t>The basic tree-level process has zero closed loops. The first correction adds one quantum loop, the next adds two, and so on. But 'loop order' is not just drawing little circles on paper; each loop represents an additional power of the coupling constant and an integration over quantum fluctuations. </a:t>
            </a:r>
          </a:p>
          <a:p>
            <a:r>
              <a:rPr lang="en-US" sz="1200" kern="1200" dirty="0">
                <a:solidFill>
                  <a:schemeClr val="tx1"/>
                </a:solidFill>
                <a:effectLst/>
                <a:latin typeface="+mn-lt"/>
                <a:ea typeface="+mn-ea"/>
                <a:cs typeface="+mn-cs"/>
              </a:rPr>
              <a:t>At 1 and 2 loops, the space of possible mathematical structures is relatively modest. At 3 loops, the ground begins to shift as the space doubles and redoubles. By the time you push through 4, 5, 6, 7, and 8 loops, the growth is neither linear nor polynomial—it is utterly brutal. </a:t>
            </a:r>
          </a:p>
          <a:p>
            <a:r>
              <a:rPr lang="en-US" sz="1200" kern="1200" dirty="0">
                <a:solidFill>
                  <a:schemeClr val="tx1"/>
                </a:solidFill>
                <a:effectLst/>
                <a:latin typeface="+mn-lt"/>
                <a:ea typeface="+mn-ea"/>
                <a:cs typeface="+mn-cs"/>
              </a:rPr>
              <a:t>When we reach </a:t>
            </a:r>
            <a:r>
              <a:rPr lang="en-US" sz="1200" b="1" kern="1200" dirty="0">
                <a:solidFill>
                  <a:schemeClr val="tx1"/>
                </a:solidFill>
                <a:effectLst/>
                <a:latin typeface="+mn-lt"/>
                <a:ea typeface="+mn-ea"/>
                <a:cs typeface="+mn-cs"/>
              </a:rPr>
              <a:t>Loop 9</a:t>
            </a:r>
            <a:r>
              <a:rPr lang="en-US" sz="1200" kern="1200" dirty="0">
                <a:solidFill>
                  <a:schemeClr val="tx1"/>
                </a:solidFill>
                <a:effectLst/>
                <a:latin typeface="+mn-lt"/>
                <a:ea typeface="+mn-ea"/>
                <a:cs typeface="+mn-cs"/>
              </a:rPr>
              <a:t>, we enter a realm of mind-boggling complexity. </a:t>
            </a:r>
          </a:p>
          <a:p>
            <a:r>
              <a:rPr lang="en-US" sz="1200" kern="1200" dirty="0">
                <a:solidFill>
                  <a:schemeClr val="tx1"/>
                </a:solidFill>
                <a:effectLst/>
                <a:latin typeface="+mn-lt"/>
                <a:ea typeface="+mn-ea"/>
                <a:cs typeface="+mn-cs"/>
              </a:rPr>
              <a:t>Expand the 9-loop hexagon symbol into its simplest representation, and you get </a:t>
            </a:r>
            <a:r>
              <a:rPr lang="en-US" sz="1200" b="1" kern="1200" dirty="0">
                <a:solidFill>
                  <a:schemeClr val="tx1"/>
                </a:solidFill>
                <a:effectLst/>
                <a:latin typeface="+mn-lt"/>
                <a:ea typeface="+mn-ea"/>
                <a:cs typeface="+mn-cs"/>
              </a:rPr>
              <a:t>30,024,320,034 non-zero terms</a:t>
            </a:r>
            <a:r>
              <a:rPr lang="en-US" sz="1200" kern="1200" dirty="0">
                <a:solidFill>
                  <a:schemeClr val="tx1"/>
                </a:solidFill>
                <a:effectLst/>
                <a:latin typeface="+mn-lt"/>
                <a:ea typeface="+mn-ea"/>
                <a:cs typeface="+mn-cs"/>
              </a:rPr>
              <a:t>. That’s over thirty billion mathematical terms defining a </a:t>
            </a:r>
            <a:r>
              <a:rPr lang="en-US" sz="1200" i="1" kern="1200" dirty="0">
                <a:solidFill>
                  <a:schemeClr val="tx1"/>
                </a:solidFill>
                <a:effectLst/>
                <a:latin typeface="+mn-lt"/>
                <a:ea typeface="+mn-ea"/>
                <a:cs typeface="+mn-cs"/>
              </a:rPr>
              <a:t>single</a:t>
            </a:r>
            <a:r>
              <a:rPr lang="en-US" sz="1200" kern="1200" dirty="0">
                <a:solidFill>
                  <a:schemeClr val="tx1"/>
                </a:solidFill>
                <a:effectLst/>
                <a:latin typeface="+mn-lt"/>
                <a:ea typeface="+mn-ea"/>
                <a:cs typeface="+mn-cs"/>
              </a:rPr>
              <a:t> function! If a human were to sit down and read those terms aloud at one term per second without sleeping, it would take nearly </a:t>
            </a:r>
            <a:r>
              <a:rPr lang="en-US" sz="1200" b="1" kern="1200" dirty="0">
                <a:solidFill>
                  <a:schemeClr val="tx1"/>
                </a:solidFill>
                <a:effectLst/>
                <a:latin typeface="+mn-lt"/>
                <a:ea typeface="+mn-ea"/>
                <a:cs typeface="+mn-cs"/>
              </a:rPr>
              <a:t>1,000 years</a:t>
            </a:r>
            <a:r>
              <a:rPr lang="en-US" sz="1200" kern="1200" dirty="0">
                <a:solidFill>
                  <a:schemeClr val="tx1"/>
                </a:solidFill>
                <a:effectLst/>
                <a:latin typeface="+mn-lt"/>
                <a:ea typeface="+mn-ea"/>
                <a:cs typeface="+mn-cs"/>
              </a:rPr>
              <a:t> to finish. </a:t>
            </a:r>
          </a:p>
          <a:p>
            <a:r>
              <a:rPr lang="en-US" sz="1200" kern="1200" dirty="0">
                <a:solidFill>
                  <a:schemeClr val="tx1"/>
                </a:solidFill>
                <a:effectLst/>
                <a:latin typeface="+mn-lt"/>
                <a:ea typeface="+mn-ea"/>
                <a:cs typeface="+mn-cs"/>
              </a:rPr>
              <a:t>I must emphasize: these 30 billion terms are </a:t>
            </a:r>
            <a:r>
              <a:rPr lang="en-US" sz="1200" i="1" kern="1200" dirty="0">
                <a:solidFill>
                  <a:schemeClr val="tx1"/>
                </a:solidFill>
                <a:effectLst/>
                <a:latin typeface="+mn-lt"/>
                <a:ea typeface="+mn-ea"/>
                <a:cs typeface="+mn-cs"/>
              </a:rPr>
              <a:t>not</a:t>
            </a:r>
            <a:r>
              <a:rPr lang="en-US" sz="1200" kern="1200" dirty="0">
                <a:solidFill>
                  <a:schemeClr val="tx1"/>
                </a:solidFill>
                <a:effectLst/>
                <a:latin typeface="+mn-lt"/>
                <a:ea typeface="+mn-ea"/>
                <a:cs typeface="+mn-cs"/>
              </a:rPr>
              <a:t> 30 billion Feynman diagrams. Physicists stopped drawing individual diagrams long ago because the diagram counts exploded into the trillions. This is 30 billion terms defining one unified mathematical object.</a:t>
            </a:r>
          </a:p>
          <a:p>
            <a:endParaRPr lang="en-US" dirty="0"/>
          </a:p>
        </p:txBody>
      </p:sp>
      <p:sp>
        <p:nvSpPr>
          <p:cNvPr id="4" name="Slide Number Placeholder 3"/>
          <p:cNvSpPr>
            <a:spLocks noGrp="1"/>
          </p:cNvSpPr>
          <p:nvPr>
            <p:ph type="sldNum" sz="quarter" idx="5"/>
          </p:nvPr>
        </p:nvSpPr>
        <p:spPr/>
        <p:txBody>
          <a:bodyPr/>
          <a:lstStyle/>
          <a:p>
            <a:fld id="{15E6E46F-E0B2-4455-A413-733E84E7B9DB}" type="slidenum">
              <a:rPr lang="en-US" smtClean="0"/>
              <a:t>4</a:t>
            </a:fld>
            <a:endParaRPr lang="en-US"/>
          </a:p>
        </p:txBody>
      </p:sp>
    </p:spTree>
    <p:extLst>
      <p:ext uri="{BB962C8B-B14F-4D97-AF65-F5344CB8AC3E}">
        <p14:creationId xmlns:p14="http://schemas.microsoft.com/office/powerpoint/2010/main" val="24127559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So how did human physicists ever reach 8 loops in the first place if direct calculation is impossible? </a:t>
            </a:r>
          </a:p>
          <a:p>
            <a:r>
              <a:rPr lang="en-US" sz="1200" kern="1200" dirty="0">
                <a:solidFill>
                  <a:schemeClr val="tx1"/>
                </a:solidFill>
                <a:effectLst/>
                <a:latin typeface="+mn-lt"/>
                <a:ea typeface="+mn-ea"/>
                <a:cs typeface="+mn-cs"/>
              </a:rPr>
              <a:t>They stopped trying to derive the answer from scratch. Instead, they invented a technique called </a:t>
            </a:r>
            <a:r>
              <a:rPr lang="en-US" sz="1200" b="1" kern="1200" dirty="0">
                <a:solidFill>
                  <a:schemeClr val="tx1"/>
                </a:solidFill>
                <a:effectLst/>
                <a:latin typeface="+mn-lt"/>
                <a:ea typeface="+mn-ea"/>
                <a:cs typeface="+mn-cs"/>
              </a:rPr>
              <a:t>The Bootstrap</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Think of the bootstrap like playing a cosmic game of </a:t>
            </a:r>
            <a:r>
              <a:rPr lang="en-US" sz="1200" b="1" kern="1200" dirty="0">
                <a:solidFill>
                  <a:schemeClr val="tx1"/>
                </a:solidFill>
                <a:effectLst/>
                <a:latin typeface="+mn-lt"/>
                <a:ea typeface="+mn-ea"/>
                <a:cs typeface="+mn-cs"/>
              </a:rPr>
              <a:t>Sudoku</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Instead of calculating how every particle moves, you ask: </a:t>
            </a:r>
            <a:r>
              <a:rPr lang="en-US" sz="1200" i="1" kern="1200" dirty="0">
                <a:solidFill>
                  <a:schemeClr val="tx1"/>
                </a:solidFill>
                <a:effectLst/>
                <a:latin typeface="+mn-lt"/>
                <a:ea typeface="+mn-ea"/>
                <a:cs typeface="+mn-cs"/>
              </a:rPr>
              <a:t>'What properties MUST the final answer satisfy?'</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You start with a massive 'Cloud of Candidates'—a space containing every possible mathematical function that could theoretically exist at this order. Then, you apply physical laws as rigid constraints: </a:t>
            </a:r>
          </a:p>
          <a:p>
            <a:pPr marL="228600" lvl="0" indent="-228600">
              <a:buFont typeface="+mj-lt"/>
              <a:buAutoNum type="arabicPeriod"/>
            </a:pPr>
            <a:r>
              <a:rPr lang="en-US" sz="1200" b="1" kern="1200" dirty="0">
                <a:solidFill>
                  <a:schemeClr val="tx1"/>
                </a:solidFill>
                <a:effectLst/>
                <a:latin typeface="+mn-lt"/>
                <a:ea typeface="+mn-ea"/>
                <a:cs typeface="+mn-cs"/>
              </a:rPr>
              <a:t>Symmetry:</a:t>
            </a:r>
            <a:r>
              <a:rPr lang="en-US" sz="1200" kern="1200" dirty="0">
                <a:solidFill>
                  <a:schemeClr val="tx1"/>
                </a:solidFill>
                <a:effectLst/>
                <a:latin typeface="+mn-lt"/>
                <a:ea typeface="+mn-ea"/>
                <a:cs typeface="+mn-cs"/>
              </a:rPr>
              <a:t> The function must respect the dual conformal symmetries of the theory. Thousands of candidates instantly vanish. </a:t>
            </a:r>
          </a:p>
          <a:p>
            <a:pPr marL="228600" lvl="0" indent="-228600">
              <a:buFont typeface="+mj-lt"/>
              <a:buAutoNum type="arabicPeriod"/>
            </a:pPr>
            <a:r>
              <a:rPr lang="en-US" sz="1200" b="1" kern="1200" dirty="0">
                <a:solidFill>
                  <a:schemeClr val="tx1"/>
                </a:solidFill>
                <a:effectLst/>
                <a:latin typeface="+mn-lt"/>
                <a:ea typeface="+mn-ea"/>
                <a:cs typeface="+mn-cs"/>
              </a:rPr>
              <a:t>Allowed Singularities:</a:t>
            </a:r>
            <a:r>
              <a:rPr lang="en-US" sz="1200" kern="1200" dirty="0">
                <a:solidFill>
                  <a:schemeClr val="tx1"/>
                </a:solidFill>
                <a:effectLst/>
                <a:latin typeface="+mn-lt"/>
                <a:ea typeface="+mn-ea"/>
                <a:cs typeface="+mn-cs"/>
              </a:rPr>
              <a:t> The function can only blow up or become infinite at physically permitted kinematic boundaries. More candidate terms are struck out. </a:t>
            </a:r>
          </a:p>
          <a:p>
            <a:pPr marL="228600" lvl="0" indent="-228600">
              <a:buFont typeface="+mj-lt"/>
              <a:buAutoNum type="arabicPeriod"/>
            </a:pPr>
            <a:r>
              <a:rPr lang="en-US" sz="1200" b="1" kern="1200" dirty="0">
                <a:solidFill>
                  <a:schemeClr val="tx1"/>
                </a:solidFill>
                <a:effectLst/>
                <a:latin typeface="+mn-lt"/>
                <a:ea typeface="+mn-ea"/>
                <a:cs typeface="+mn-cs"/>
              </a:rPr>
              <a:t>Analytic Structure &amp; OPE:</a:t>
            </a:r>
            <a:r>
              <a:rPr lang="en-US" sz="1200" kern="1200" dirty="0">
                <a:solidFill>
                  <a:schemeClr val="tx1"/>
                </a:solidFill>
                <a:effectLst/>
                <a:latin typeface="+mn-lt"/>
                <a:ea typeface="+mn-ea"/>
                <a:cs typeface="+mn-cs"/>
              </a:rPr>
              <a:t> The function must match known limits when particles become collinear or obey the Operator Product Expansion. </a:t>
            </a:r>
          </a:p>
          <a:p>
            <a:r>
              <a:rPr lang="en-US" sz="1200" kern="1200" dirty="0">
                <a:solidFill>
                  <a:schemeClr val="tx1"/>
                </a:solidFill>
                <a:effectLst/>
                <a:latin typeface="+mn-lt"/>
                <a:ea typeface="+mn-ea"/>
                <a:cs typeface="+mn-cs"/>
              </a:rPr>
              <a:t>Just like a Sudoku puzzle where applying constraints slowly forces every empty cell to lock into its only valid number, the cloud of candidate functions collapses down to a single point. </a:t>
            </a:r>
            <a:r>
              <a:rPr lang="en-US" sz="1200" b="1" kern="1200" dirty="0">
                <a:solidFill>
                  <a:schemeClr val="tx1"/>
                </a:solidFill>
                <a:effectLst/>
                <a:latin typeface="+mn-lt"/>
                <a:ea typeface="+mn-ea"/>
                <a:cs typeface="+mn-cs"/>
              </a:rPr>
              <a:t>The bootstrap turns calculation into elimination</a:t>
            </a:r>
            <a:r>
              <a:rPr lang="en-US"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5"/>
          </p:nvPr>
        </p:nvSpPr>
        <p:spPr/>
        <p:txBody>
          <a:bodyPr/>
          <a:lstStyle/>
          <a:p>
            <a:fld id="{15E6E46F-E0B2-4455-A413-733E84E7B9DB}" type="slidenum">
              <a:rPr lang="en-US" smtClean="0"/>
              <a:t>5</a:t>
            </a:fld>
            <a:endParaRPr lang="en-US"/>
          </a:p>
        </p:txBody>
      </p:sp>
    </p:spTree>
    <p:extLst>
      <p:ext uri="{BB962C8B-B14F-4D97-AF65-F5344CB8AC3E}">
        <p14:creationId xmlns:p14="http://schemas.microsoft.com/office/powerpoint/2010/main" val="27040281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make these functions readable to computers, physicists translate complex generalized polylogarithms into an algebraic structure called a </a:t>
                </a:r>
                <a:r>
                  <a:rPr lang="en-US" sz="1200" b="1" kern="1200" dirty="0">
                    <a:solidFill>
                      <a:schemeClr val="tx1"/>
                    </a:solidFill>
                    <a:effectLst/>
                    <a:latin typeface="+mn-lt"/>
                    <a:ea typeface="+mn-ea"/>
                    <a:cs typeface="+mn-cs"/>
                  </a:rPr>
                  <a:t>Symbol</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You can think of the symbol as the 'Alphabet of the Universe'.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Letters:</a:t>
                </a:r>
                <a:r>
                  <a:rPr lang="en-US" sz="1200" kern="1200" dirty="0">
                    <a:solidFill>
                      <a:schemeClr val="tx1"/>
                    </a:solidFill>
                    <a:effectLst/>
                    <a:latin typeface="+mn-lt"/>
                    <a:ea typeface="+mn-ea"/>
                    <a:cs typeface="+mn-cs"/>
                  </a:rPr>
                  <a:t> We have letters—labelled </a:t>
                </a:r>
                <a14:m>
                  <m:oMath xmlns:m="http://schemas.openxmlformats.org/officeDocument/2006/math">
                    <m:r>
                      <a:rPr lang="en-US" sz="1200" i="1" kern="1200" smtClean="0">
                        <a:solidFill>
                          <a:schemeClr val="tx1"/>
                        </a:solidFill>
                        <a:latin typeface="Cambria Math" panose="02040503050406030204" pitchFamily="18" charset="0"/>
                        <a:ea typeface="+mn-ea"/>
                        <a:cs typeface="+mn-cs"/>
                      </a:rPr>
                      <m:t>𝐴</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𝐵</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𝐶</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𝐷</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𝐸</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𝐹</m:t>
                    </m:r>
                  </m:oMath>
                </a14:m>
                <a:r>
                  <a:rPr lang="en-US" sz="1200" kern="1200" dirty="0">
                    <a:solidFill>
                      <a:schemeClr val="tx1"/>
                    </a:solidFill>
                    <a:effectLst/>
                    <a:latin typeface="+mn-lt"/>
                    <a:ea typeface="+mn-ea"/>
                    <a:cs typeface="+mn-cs"/>
                  </a:rPr>
                  <a:t>, and so on. Each letter represents a specific kinematic expression formed by the energies and momentum vectors of our six particles.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Grammar:</a:t>
                </a:r>
                <a:r>
                  <a:rPr lang="en-US" sz="1200" kern="1200" dirty="0">
                    <a:solidFill>
                      <a:schemeClr val="tx1"/>
                    </a:solidFill>
                    <a:effectLst/>
                    <a:latin typeface="+mn-lt"/>
                    <a:ea typeface="+mn-ea"/>
                    <a:cs typeface="+mn-cs"/>
                  </a:rPr>
                  <a:t> Physics dictates strict grammatical rules. You cannot just string letters together randomly. Certain sequences represent unphysical branch cuts. If a candidate word breaks the grammar of locality or causality, it dissolves.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Word Length (Weight):</a:t>
                </a:r>
                <a:r>
                  <a:rPr lang="en-US" sz="1200" kern="1200" dirty="0">
                    <a:solidFill>
                      <a:schemeClr val="tx1"/>
                    </a:solidFill>
                    <a:effectLst/>
                    <a:latin typeface="+mn-lt"/>
                    <a:ea typeface="+mn-ea"/>
                    <a:cs typeface="+mn-cs"/>
                  </a:rPr>
                  <a:t> A fundamental theorem of these functions states that at loop order </a:t>
                </a:r>
                <a14:m>
                  <m:oMath xmlns:m="http://schemas.openxmlformats.org/officeDocument/2006/math">
                    <m:r>
                      <a:rPr lang="en-US" sz="1200" i="1" kern="1200" smtClean="0">
                        <a:solidFill>
                          <a:schemeClr val="tx1"/>
                        </a:solidFill>
                        <a:latin typeface="Cambria Math" panose="02040503050406030204" pitchFamily="18" charset="0"/>
                        <a:ea typeface="+mn-ea"/>
                        <a:cs typeface="+mn-cs"/>
                      </a:rPr>
                      <m:t>𝐿</m:t>
                    </m:r>
                  </m:oMath>
                </a14:m>
                <a:r>
                  <a:rPr lang="en-US" sz="1200" kern="1200" dirty="0">
                    <a:solidFill>
                      <a:schemeClr val="tx1"/>
                    </a:solidFill>
                    <a:effectLst/>
                    <a:latin typeface="+mn-lt"/>
                    <a:ea typeface="+mn-ea"/>
                    <a:cs typeface="+mn-cs"/>
                  </a:rPr>
                  <a:t>, every term in the symbol has a length, or transcendental weight, of </a:t>
                </a:r>
                <a14:m>
                  <m:oMath xmlns:m="http://schemas.openxmlformats.org/officeDocument/2006/math">
                    <m:r>
                      <a:rPr lang="en-US" sz="1200" kern="1200" smtClean="0">
                        <a:solidFill>
                          <a:schemeClr val="tx1"/>
                        </a:solidFill>
                        <a:latin typeface="Cambria Math" panose="02040503050406030204" pitchFamily="18" charset="0"/>
                        <a:ea typeface="+mn-ea"/>
                        <a:cs typeface="+mn-cs"/>
                      </a:rPr>
                      <m:t>2</m:t>
                    </m:r>
                    <m:r>
                      <a:rPr lang="en-US" sz="1200" i="1" kern="1200">
                        <a:solidFill>
                          <a:schemeClr val="tx1"/>
                        </a:solidFill>
                        <a:latin typeface="Cambria Math" panose="02040503050406030204" pitchFamily="18" charset="0"/>
                        <a:ea typeface="+mn-ea"/>
                        <a:cs typeface="+mn-cs"/>
                      </a:rPr>
                      <m:t>𝐿</m:t>
                    </m:r>
                  </m:oMath>
                </a14:m>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For 9 loops (</a:t>
                </a:r>
                <a14:m>
                  <m:oMath xmlns:m="http://schemas.openxmlformats.org/officeDocument/2006/math">
                    <m:r>
                      <a:rPr lang="en-US" sz="1200" i="1" kern="1200" smtClean="0">
                        <a:solidFill>
                          <a:schemeClr val="tx1"/>
                        </a:solidFill>
                        <a:latin typeface="Cambria Math" panose="02040503050406030204" pitchFamily="18" charset="0"/>
                        <a:ea typeface="+mn-ea"/>
                        <a:cs typeface="+mn-cs"/>
                      </a:rPr>
                      <m:t>𝐿</m:t>
                    </m:r>
                    <m:r>
                      <a:rPr lang="en-US" sz="1200" i="0" kern="1200">
                        <a:solidFill>
                          <a:schemeClr val="tx1"/>
                        </a:solidFill>
                        <a:latin typeface="Cambria Math" panose="02040503050406030204" pitchFamily="18" charset="0"/>
                        <a:ea typeface="+mn-ea"/>
                        <a:cs typeface="+mn-cs"/>
                      </a:rPr>
                      <m:t>=9</m:t>
                    </m:r>
                  </m:oMath>
                </a14:m>
                <a:r>
                  <a:rPr lang="en-US" sz="1200" kern="1200" dirty="0">
                    <a:solidFill>
                      <a:schemeClr val="tx1"/>
                    </a:solidFill>
                    <a:effectLst/>
                    <a:latin typeface="+mn-lt"/>
                    <a:ea typeface="+mn-ea"/>
                    <a:cs typeface="+mn-cs"/>
                  </a:rPr>
                  <a:t>), </a:t>
                </a:r>
                <a14:m>
                  <m:oMath xmlns:m="http://schemas.openxmlformats.org/officeDocument/2006/math">
                    <m:r>
                      <a:rPr lang="en-US" sz="1200" kern="1200" smtClean="0">
                        <a:solidFill>
                          <a:schemeClr val="tx1"/>
                        </a:solidFill>
                        <a:latin typeface="Cambria Math" panose="02040503050406030204" pitchFamily="18" charset="0"/>
                        <a:ea typeface="+mn-ea"/>
                        <a:cs typeface="+mn-cs"/>
                      </a:rPr>
                      <m:t>2</m:t>
                    </m:r>
                    <m:r>
                      <a:rPr lang="en-US" sz="1200" i="0" kern="1200">
                        <a:solidFill>
                          <a:schemeClr val="tx1"/>
                        </a:solidFill>
                        <a:latin typeface="Cambria Math" panose="02040503050406030204" pitchFamily="18" charset="0"/>
                        <a:ea typeface="+mn-ea"/>
                        <a:cs typeface="+mn-cs"/>
                      </a:rPr>
                      <m:t>×9=18</m:t>
                    </m:r>
                  </m:oMath>
                </a14:m>
                <a:r>
                  <a:rPr lang="en-US" sz="1200" kern="1200" dirty="0">
                    <a:solidFill>
                      <a:schemeClr val="tx1"/>
                    </a:solidFill>
                    <a:effectLst/>
                    <a:latin typeface="+mn-lt"/>
                    <a:ea typeface="+mn-ea"/>
                    <a:cs typeface="+mn-cs"/>
                  </a:rPr>
                  <a:t>. That means the entire nine-loop hexagon amplitude is written as a linear combination of words that are </a:t>
                </a:r>
                <a:r>
                  <a:rPr lang="en-US" sz="1200" b="1" kern="1200" dirty="0">
                    <a:solidFill>
                      <a:schemeClr val="tx1"/>
                    </a:solidFill>
                    <a:effectLst/>
                    <a:latin typeface="+mn-lt"/>
                    <a:ea typeface="+mn-ea"/>
                    <a:cs typeface="+mn-cs"/>
                  </a:rPr>
                  <a:t>exactly 18 letters long</a:t>
                </a:r>
                <a:r>
                  <a:rPr lang="en-US" sz="1200" kern="1200" dirty="0">
                    <a:solidFill>
                      <a:schemeClr val="tx1"/>
                    </a:solidFill>
                    <a:effectLst/>
                    <a:latin typeface="+mn-lt"/>
                    <a:ea typeface="+mn-ea"/>
                    <a:cs typeface="+mn-cs"/>
                  </a:rPr>
                  <a:t>, wrapped around our six-particle geometry." </a:t>
                </a:r>
              </a:p>
              <a:p>
                <a:endParaRPr lang="en-US" dirty="0"/>
              </a:p>
            </p:txBody>
          </p:sp>
        </mc:Choice>
        <mc:Fallback xmlns="">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make these functions readable to computers, physicists translate complex generalized polylogarithms into an algebraic structure called a </a:t>
                </a:r>
                <a:r>
                  <a:rPr lang="en-US" sz="1200" b="1" kern="1200" dirty="0">
                    <a:solidFill>
                      <a:schemeClr val="tx1"/>
                    </a:solidFill>
                    <a:effectLst/>
                    <a:latin typeface="+mn-lt"/>
                    <a:ea typeface="+mn-ea"/>
                    <a:cs typeface="+mn-cs"/>
                  </a:rPr>
                  <a:t>Symbol</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You can think of the symbol as the 'Alphabet of the Universe'.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Letters:</a:t>
                </a:r>
                <a:r>
                  <a:rPr lang="en-US" sz="1200" kern="1200" dirty="0">
                    <a:solidFill>
                      <a:schemeClr val="tx1"/>
                    </a:solidFill>
                    <a:effectLst/>
                    <a:latin typeface="+mn-lt"/>
                    <a:ea typeface="+mn-ea"/>
                    <a:cs typeface="+mn-cs"/>
                  </a:rPr>
                  <a:t> We have letters—labelled </a:t>
                </a:r>
                <a:r>
                  <a:rPr lang="en-US" sz="1200" i="0" kern="1200">
                    <a:solidFill>
                      <a:schemeClr val="tx1"/>
                    </a:solidFill>
                    <a:latin typeface="+mn-lt"/>
                    <a:ea typeface="+mn-ea"/>
                    <a:cs typeface="+mn-cs"/>
                  </a:rPr>
                  <a:t>𝐴,𝐵,𝐶,𝐷,𝐸,𝐹</a:t>
                </a:r>
                <a:r>
                  <a:rPr lang="en-US" sz="1200" kern="1200" dirty="0">
                    <a:solidFill>
                      <a:schemeClr val="tx1"/>
                    </a:solidFill>
                    <a:effectLst/>
                    <a:latin typeface="+mn-lt"/>
                    <a:ea typeface="+mn-ea"/>
                    <a:cs typeface="+mn-cs"/>
                  </a:rPr>
                  <a:t>, and so on. Each letter represents a specific kinematic expression formed by the energies and momentum vectors of our six particles.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Grammar:</a:t>
                </a:r>
                <a:r>
                  <a:rPr lang="en-US" sz="1200" kern="1200" dirty="0">
                    <a:solidFill>
                      <a:schemeClr val="tx1"/>
                    </a:solidFill>
                    <a:effectLst/>
                    <a:latin typeface="+mn-lt"/>
                    <a:ea typeface="+mn-ea"/>
                    <a:cs typeface="+mn-cs"/>
                  </a:rPr>
                  <a:t> Physics dictates strict grammatical rules. You cannot just string letters together randomly. Certain sequences represent unphysical branch cuts. If a candidate word breaks the grammar of locality or causality, it dissolves.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Word Length (Weight):</a:t>
                </a:r>
                <a:r>
                  <a:rPr lang="en-US" sz="1200" kern="1200" dirty="0">
                    <a:solidFill>
                      <a:schemeClr val="tx1"/>
                    </a:solidFill>
                    <a:effectLst/>
                    <a:latin typeface="+mn-lt"/>
                    <a:ea typeface="+mn-ea"/>
                    <a:cs typeface="+mn-cs"/>
                  </a:rPr>
                  <a:t> A fundamental theorem of these functions states that at loop order </a:t>
                </a:r>
                <a:r>
                  <a:rPr lang="en-US" sz="1200" i="0" kern="1200">
                    <a:solidFill>
                      <a:schemeClr val="tx1"/>
                    </a:solidFill>
                    <a:latin typeface="+mn-lt"/>
                    <a:ea typeface="+mn-ea"/>
                    <a:cs typeface="+mn-cs"/>
                  </a:rPr>
                  <a:t>𝐿</a:t>
                </a:r>
                <a:r>
                  <a:rPr lang="en-US" sz="1200" kern="1200" dirty="0">
                    <a:solidFill>
                      <a:schemeClr val="tx1"/>
                    </a:solidFill>
                    <a:effectLst/>
                    <a:latin typeface="+mn-lt"/>
                    <a:ea typeface="+mn-ea"/>
                    <a:cs typeface="+mn-cs"/>
                  </a:rPr>
                  <a:t>, every term in the symbol has a length, or transcendental weight, of </a:t>
                </a:r>
                <a:r>
                  <a:rPr lang="en-US" sz="1200" i="0" kern="1200">
                    <a:solidFill>
                      <a:schemeClr val="tx1"/>
                    </a:solidFill>
                    <a:latin typeface="+mn-lt"/>
                    <a:ea typeface="+mn-ea"/>
                    <a:cs typeface="+mn-cs"/>
                  </a:rPr>
                  <a:t>2𝐿</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For 9 loops (</a:t>
                </a:r>
                <a:r>
                  <a:rPr lang="en-US" sz="1200" i="0" kern="1200">
                    <a:solidFill>
                      <a:schemeClr val="tx1"/>
                    </a:solidFill>
                    <a:latin typeface="+mn-lt"/>
                    <a:ea typeface="+mn-ea"/>
                    <a:cs typeface="+mn-cs"/>
                  </a:rPr>
                  <a:t>𝐿=9</a:t>
                </a:r>
                <a:r>
                  <a:rPr lang="en-US" sz="1200" kern="1200" dirty="0">
                    <a:solidFill>
                      <a:schemeClr val="tx1"/>
                    </a:solidFill>
                    <a:effectLst/>
                    <a:latin typeface="+mn-lt"/>
                    <a:ea typeface="+mn-ea"/>
                    <a:cs typeface="+mn-cs"/>
                  </a:rPr>
                  <a:t>), </a:t>
                </a:r>
                <a:r>
                  <a:rPr lang="en-US" sz="1200" i="0" kern="1200">
                    <a:solidFill>
                      <a:schemeClr val="tx1"/>
                    </a:solidFill>
                    <a:latin typeface="+mn-lt"/>
                    <a:ea typeface="+mn-ea"/>
                    <a:cs typeface="+mn-cs"/>
                  </a:rPr>
                  <a:t>2×9=18</a:t>
                </a:r>
                <a:r>
                  <a:rPr lang="en-US" sz="1200" kern="1200" dirty="0">
                    <a:solidFill>
                      <a:schemeClr val="tx1"/>
                    </a:solidFill>
                    <a:effectLst/>
                    <a:latin typeface="+mn-lt"/>
                    <a:ea typeface="+mn-ea"/>
                    <a:cs typeface="+mn-cs"/>
                  </a:rPr>
                  <a:t>. That means the entire nine-loop hexagon amplitude is written as a linear combination of words that are </a:t>
                </a:r>
                <a:r>
                  <a:rPr lang="en-US" sz="1200" b="1" kern="1200" dirty="0">
                    <a:solidFill>
                      <a:schemeClr val="tx1"/>
                    </a:solidFill>
                    <a:effectLst/>
                    <a:latin typeface="+mn-lt"/>
                    <a:ea typeface="+mn-ea"/>
                    <a:cs typeface="+mn-cs"/>
                  </a:rPr>
                  <a:t>exactly 18 letters long</a:t>
                </a:r>
                <a:r>
                  <a:rPr lang="en-US" sz="1200" kern="1200" dirty="0">
                    <a:solidFill>
                      <a:schemeClr val="tx1"/>
                    </a:solidFill>
                    <a:effectLst/>
                    <a:latin typeface="+mn-lt"/>
                    <a:ea typeface="+mn-ea"/>
                    <a:cs typeface="+mn-cs"/>
                  </a:rPr>
                  <a:t>, wrapped around our six-particle geometry." </a:t>
                </a:r>
              </a:p>
              <a:p>
                <a:endParaRPr lang="en-US" dirty="0"/>
              </a:p>
            </p:txBody>
          </p:sp>
        </mc:Fallback>
      </mc:AlternateContent>
      <p:sp>
        <p:nvSpPr>
          <p:cNvPr id="4" name="Slide Number Placeholder 3"/>
          <p:cNvSpPr>
            <a:spLocks noGrp="1"/>
          </p:cNvSpPr>
          <p:nvPr>
            <p:ph type="sldNum" sz="quarter" idx="5"/>
          </p:nvPr>
        </p:nvSpPr>
        <p:spPr/>
        <p:txBody>
          <a:bodyPr/>
          <a:lstStyle/>
          <a:p>
            <a:fld id="{15E6E46F-E0B2-4455-A413-733E84E7B9DB}" type="slidenum">
              <a:rPr lang="en-US" smtClean="0"/>
              <a:t>6</a:t>
            </a:fld>
            <a:endParaRPr lang="en-US"/>
          </a:p>
        </p:txBody>
      </p:sp>
    </p:spTree>
    <p:extLst>
      <p:ext uri="{BB962C8B-B14F-4D97-AF65-F5344CB8AC3E}">
        <p14:creationId xmlns:p14="http://schemas.microsoft.com/office/powerpoint/2010/main" val="10957735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let's examine how Claude actually solved this challenge. </a:t>
            </a:r>
          </a:p>
          <a:p>
            <a:r>
              <a:rPr lang="en-US" sz="1200" kern="1200" dirty="0">
                <a:solidFill>
                  <a:schemeClr val="tx1"/>
                </a:solidFill>
                <a:effectLst/>
                <a:latin typeface="+mn-lt"/>
                <a:ea typeface="+mn-ea"/>
                <a:cs typeface="+mn-cs"/>
              </a:rPr>
              <a:t>Public perception of AI often leans toward a myth: people picture a flash of super-intelligent AGI genius where you type a prompt and a magical insight pops out. The reality was very different—and much more instructive. </a:t>
            </a:r>
          </a:p>
          <a:p>
            <a:r>
              <a:rPr lang="en-US" sz="1200" kern="1200" dirty="0">
                <a:solidFill>
                  <a:schemeClr val="tx1"/>
                </a:solidFill>
                <a:effectLst/>
                <a:latin typeface="+mn-lt"/>
                <a:ea typeface="+mn-ea"/>
                <a:cs typeface="+mn-cs"/>
              </a:rPr>
              <a:t>The reality was a </a:t>
            </a:r>
            <a:r>
              <a:rPr lang="en-US" sz="1200" b="1" kern="1200" dirty="0">
                <a:solidFill>
                  <a:schemeClr val="tx1"/>
                </a:solidFill>
                <a:effectLst/>
                <a:latin typeface="+mn-lt"/>
                <a:ea typeface="+mn-ea"/>
                <a:cs typeface="+mn-cs"/>
              </a:rPr>
              <a:t>workshop that never closes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Anthropic researchers Liam Fitzpatrick and Siddharth Mishra-Sharma provided the macro-level human division of labor. They picked the challenge, provided the compute environment, and set the high-level objectives. But Claude executed the relentless, day-to-day microscopic workflow over an extended context window. </a:t>
            </a:r>
          </a:p>
          <a:p>
            <a:r>
              <a:rPr lang="en-US" sz="1200" kern="1200" dirty="0">
                <a:solidFill>
                  <a:schemeClr val="tx1"/>
                </a:solidFill>
                <a:effectLst/>
                <a:latin typeface="+mn-lt"/>
                <a:ea typeface="+mn-ea"/>
                <a:cs typeface="+mn-cs"/>
              </a:rPr>
              <a:t>Claude operated in an continuous agentic feedback loop: </a:t>
            </a:r>
          </a:p>
          <a:p>
            <a:pPr marL="228600" lvl="0" indent="-228600">
              <a:buFont typeface="+mj-lt"/>
              <a:buAutoNum type="arabicPeriod"/>
            </a:pPr>
            <a:r>
              <a:rPr lang="en-US" sz="1200" b="1" kern="1200" dirty="0">
                <a:solidFill>
                  <a:schemeClr val="tx1"/>
                </a:solidFill>
                <a:effectLst/>
                <a:latin typeface="+mn-lt"/>
                <a:ea typeface="+mn-ea"/>
                <a:cs typeface="+mn-cs"/>
              </a:rPr>
              <a:t>Read &amp; Absorb:</a:t>
            </a:r>
            <a:r>
              <a:rPr lang="en-US" sz="1200" kern="1200" dirty="0">
                <a:solidFill>
                  <a:schemeClr val="tx1"/>
                </a:solidFill>
                <a:effectLst/>
                <a:latin typeface="+mn-lt"/>
                <a:ea typeface="+mn-ea"/>
                <a:cs typeface="+mn-cs"/>
              </a:rPr>
              <a:t> Ingesting dense physics papers and mathematical definitions into its context window. </a:t>
            </a:r>
          </a:p>
          <a:p>
            <a:pPr marL="228600" lvl="0" indent="-228600">
              <a:buFont typeface="+mj-lt"/>
              <a:buAutoNum type="arabicPeriod"/>
            </a:pPr>
            <a:r>
              <a:rPr lang="en-US" sz="1200" b="1" kern="1200" dirty="0">
                <a:solidFill>
                  <a:schemeClr val="tx1"/>
                </a:solidFill>
                <a:effectLst/>
                <a:latin typeface="+mn-lt"/>
                <a:ea typeface="+mn-ea"/>
                <a:cs typeface="+mn-cs"/>
              </a:rPr>
              <a:t>Extract &amp; Code:</a:t>
            </a:r>
            <a:r>
              <a:rPr lang="en-US" sz="1200" kern="1200" dirty="0">
                <a:solidFill>
                  <a:schemeClr val="tx1"/>
                </a:solidFill>
                <a:effectLst/>
                <a:latin typeface="+mn-lt"/>
                <a:ea typeface="+mn-ea"/>
                <a:cs typeface="+mn-cs"/>
              </a:rPr>
              <a:t> Translating raw equations into functional C++ and Python code line-by-line. </a:t>
            </a:r>
          </a:p>
          <a:p>
            <a:pPr marL="228600" lvl="0" indent="-228600">
              <a:buFont typeface="+mj-lt"/>
              <a:buAutoNum type="arabicPeriod"/>
            </a:pPr>
            <a:r>
              <a:rPr lang="en-US" sz="1200" b="1" kern="1200" dirty="0">
                <a:solidFill>
                  <a:schemeClr val="tx1"/>
                </a:solidFill>
                <a:effectLst/>
                <a:latin typeface="+mn-lt"/>
                <a:ea typeface="+mn-ea"/>
                <a:cs typeface="+mn-cs"/>
              </a:rPr>
              <a:t>Run &amp; Fail:</a:t>
            </a:r>
            <a:r>
              <a:rPr lang="en-US" sz="1200" kern="1200" dirty="0">
                <a:solidFill>
                  <a:schemeClr val="tx1"/>
                </a:solidFill>
                <a:effectLst/>
                <a:latin typeface="+mn-lt"/>
                <a:ea typeface="+mn-ea"/>
                <a:cs typeface="+mn-cs"/>
              </a:rPr>
              <a:t> Launching execution jobs on conventional compute where code crashed or tests failed. </a:t>
            </a:r>
          </a:p>
          <a:p>
            <a:pPr marL="228600" lvl="0" indent="-228600">
              <a:buFont typeface="+mj-lt"/>
              <a:buAutoNum type="arabicPeriod"/>
            </a:pPr>
            <a:r>
              <a:rPr lang="en-US" sz="1200" b="1" kern="1200" dirty="0">
                <a:solidFill>
                  <a:schemeClr val="tx1"/>
                </a:solidFill>
                <a:effectLst/>
                <a:latin typeface="+mn-lt"/>
                <a:ea typeface="+mn-ea"/>
                <a:cs typeface="+mn-cs"/>
              </a:rPr>
              <a:t>Debug &amp; Rewrite:</a:t>
            </a:r>
            <a:r>
              <a:rPr lang="en-US" sz="1200" kern="1200" dirty="0">
                <a:solidFill>
                  <a:schemeClr val="tx1"/>
                </a:solidFill>
                <a:effectLst/>
                <a:latin typeface="+mn-lt"/>
                <a:ea typeface="+mn-ea"/>
                <a:cs typeface="+mn-cs"/>
              </a:rPr>
              <a:t> Reading error traces, consulting literature to identify edge cases, fixing code, and re-running. </a:t>
            </a:r>
          </a:p>
          <a:p>
            <a:r>
              <a:rPr lang="en-US" sz="1200" kern="1200" dirty="0">
                <a:solidFill>
                  <a:schemeClr val="tx1"/>
                </a:solidFill>
                <a:effectLst/>
                <a:latin typeface="+mn-lt"/>
                <a:ea typeface="+mn-ea"/>
                <a:cs typeface="+mn-cs"/>
              </a:rPr>
              <a:t>The breakthrough wasn't a single magical stroke of genius; it was </a:t>
            </a:r>
            <a:r>
              <a:rPr lang="en-US" sz="1200" b="1" kern="1200" dirty="0">
                <a:solidFill>
                  <a:schemeClr val="tx1"/>
                </a:solidFill>
                <a:effectLst/>
                <a:latin typeface="+mn-lt"/>
                <a:ea typeface="+mn-ea"/>
                <a:cs typeface="+mn-cs"/>
              </a:rPr>
              <a:t>long-horizon persistence</a:t>
            </a:r>
            <a:r>
              <a:rPr lang="en-US" sz="1200" kern="1200" dirty="0">
                <a:solidFill>
                  <a:schemeClr val="tx1"/>
                </a:solidFill>
                <a:effectLst/>
                <a:latin typeface="+mn-lt"/>
                <a:ea typeface="+mn-ea"/>
                <a:cs typeface="+mn-cs"/>
              </a:rPr>
              <a:t>. Claude survived thousands of opportunities for execution failure without losing coherence across weeks of research." </a:t>
            </a:r>
          </a:p>
          <a:p>
            <a:endParaRPr lang="en-US" dirty="0"/>
          </a:p>
        </p:txBody>
      </p:sp>
      <p:sp>
        <p:nvSpPr>
          <p:cNvPr id="4" name="Slide Number Placeholder 3"/>
          <p:cNvSpPr>
            <a:spLocks noGrp="1"/>
          </p:cNvSpPr>
          <p:nvPr>
            <p:ph type="sldNum" sz="quarter" idx="5"/>
          </p:nvPr>
        </p:nvSpPr>
        <p:spPr/>
        <p:txBody>
          <a:bodyPr/>
          <a:lstStyle/>
          <a:p>
            <a:fld id="{15E6E46F-E0B2-4455-A413-733E84E7B9DB}" type="slidenum">
              <a:rPr lang="en-US" smtClean="0"/>
              <a:t>7</a:t>
            </a:fld>
            <a:endParaRPr lang="en-US"/>
          </a:p>
        </p:txBody>
      </p:sp>
    </p:spTree>
    <p:extLst>
      <p:ext uri="{BB962C8B-B14F-4D97-AF65-F5344CB8AC3E}">
        <p14:creationId xmlns:p14="http://schemas.microsoft.com/office/powerpoint/2010/main" val="2225571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ensure the answer wasn't a hallucination or an artifact of code bugs, the researchers had Claude attack the problem along </a:t>
                </a:r>
                <a:r>
                  <a:rPr lang="en-US" sz="1200" b="1" kern="1200" dirty="0">
                    <a:solidFill>
                      <a:schemeClr val="tx1"/>
                    </a:solidFill>
                    <a:effectLst/>
                    <a:latin typeface="+mn-lt"/>
                    <a:ea typeface="+mn-ea"/>
                    <a:cs typeface="+mn-cs"/>
                  </a:rPr>
                  <a:t>two entirely different mathematical routes</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Route A is the Direct Bootstrap.</a:t>
                </a:r>
                <a:r>
                  <a:rPr lang="en-US" sz="1200" kern="1200" dirty="0">
                    <a:solidFill>
                      <a:schemeClr val="tx1"/>
                    </a:solidFill>
                    <a:effectLst/>
                    <a:latin typeface="+mn-lt"/>
                    <a:ea typeface="+mn-ea"/>
                    <a:cs typeface="+mn-cs"/>
                  </a:rPr>
                  <a:t> Claude set up the candidate space of hexagon functions, applied all known physical symmetry and singularity constraints, and set up a massive linear algebra problem to solve directly for the amplitude coefficients.</a:t>
                </a:r>
              </a:p>
              <a:p>
                <a:r>
                  <a:rPr lang="en-US" sz="1200" b="1" kern="1200" dirty="0">
                    <a:solidFill>
                      <a:schemeClr val="tx1"/>
                    </a:solidFill>
                    <a:effectLst/>
                    <a:latin typeface="+mn-lt"/>
                    <a:ea typeface="+mn-ea"/>
                    <a:cs typeface="+mn-cs"/>
                  </a:rPr>
                  <a:t>Route B takes a dramatic detour through a physical concept called Antipodal Duality.</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2021–2023, human physicists discovered a remarkable mirror symmetry in quantum field theory: if you take a different physical object called a </a:t>
                </a:r>
                <a:r>
                  <a:rPr lang="en-US" sz="1200" b="1" kern="1200" dirty="0">
                    <a:solidFill>
                      <a:schemeClr val="tx1"/>
                    </a:solidFill>
                    <a:effectLst/>
                    <a:latin typeface="+mn-lt"/>
                    <a:ea typeface="+mn-ea"/>
                    <a:cs typeface="+mn-cs"/>
                  </a:rPr>
                  <a:t>Form Factor</a:t>
                </a:r>
                <a:r>
                  <a:rPr lang="en-US" sz="1200" kern="1200" dirty="0">
                    <a:solidFill>
                      <a:schemeClr val="tx1"/>
                    </a:solidFill>
                    <a:effectLst/>
                    <a:latin typeface="+mn-lt"/>
                    <a:ea typeface="+mn-ea"/>
                    <a:cs typeface="+mn-cs"/>
                  </a:rPr>
                  <a:t>, compute its symbol, and reverse the order of its letters (reading the word backwards), you map directly onto the Scattering Amplitude on a restricted kinematic boundary known as the </a:t>
                </a:r>
                <a14:m>
                  <m:oMath xmlns:m="http://schemas.openxmlformats.org/officeDocument/2006/math">
                    <m:r>
                      <a:rPr lang="en-US" sz="1200" i="1" kern="1200" smtClean="0">
                        <a:solidFill>
                          <a:schemeClr val="tx1"/>
                        </a:solidFill>
                        <a:latin typeface="Cambria Math" panose="02040503050406030204" pitchFamily="18" charset="0"/>
                        <a:ea typeface="+mn-ea"/>
                        <a:cs typeface="+mn-cs"/>
                      </a:rPr>
                      <m:t>𝛿</m:t>
                    </m:r>
                    <m:r>
                      <a:rPr lang="en-US" sz="1200" i="0" kern="1200">
                        <a:solidFill>
                          <a:schemeClr val="tx1"/>
                        </a:solidFill>
                        <a:latin typeface="Cambria Math" panose="02040503050406030204" pitchFamily="18" charset="0"/>
                        <a:ea typeface="+mn-ea"/>
                        <a:cs typeface="+mn-cs"/>
                      </a:rPr>
                      <m:t>=0</m:t>
                    </m:r>
                  </m:oMath>
                </a14:m>
                <a:r>
                  <a:rPr lang="en-US" sz="1200" kern="1200" dirty="0">
                    <a:solidFill>
                      <a:schemeClr val="tx1"/>
                    </a:solidFill>
                    <a:effectLst/>
                    <a:latin typeface="+mn-lt"/>
                    <a:ea typeface="+mn-ea"/>
                    <a:cs typeface="+mn-cs"/>
                  </a:rPr>
                  <a:t>surface.</a:t>
                </a:r>
              </a:p>
              <a:p>
                <a:r>
                  <a:rPr lang="en-US" sz="1200" kern="1200" dirty="0">
                    <a:solidFill>
                      <a:schemeClr val="tx1"/>
                    </a:solidFill>
                    <a:effectLst/>
                    <a:latin typeface="+mn-lt"/>
                    <a:ea typeface="+mn-ea"/>
                    <a:cs typeface="+mn-cs"/>
                  </a:rPr>
                  <a:t>So in Route B, Claude first computed the 9-loop Form Factor, passed it through this mathematical mirror, reconstructed the amplitude on the </a:t>
                </a:r>
                <a14:m>
                  <m:oMath xmlns:m="http://schemas.openxmlformats.org/officeDocument/2006/math">
                    <m:r>
                      <a:rPr lang="en-US" sz="1200" i="1" kern="1200" smtClean="0">
                        <a:solidFill>
                          <a:schemeClr val="tx1"/>
                        </a:solidFill>
                        <a:latin typeface="Cambria Math" panose="02040503050406030204" pitchFamily="18" charset="0"/>
                        <a:ea typeface="+mn-ea"/>
                        <a:cs typeface="+mn-cs"/>
                      </a:rPr>
                      <m:t>𝛿</m:t>
                    </m:r>
                    <m:r>
                      <a:rPr lang="en-US" sz="1200" i="0" kern="1200">
                        <a:solidFill>
                          <a:schemeClr val="tx1"/>
                        </a:solidFill>
                        <a:latin typeface="Cambria Math" panose="02040503050406030204" pitchFamily="18" charset="0"/>
                        <a:ea typeface="+mn-ea"/>
                        <a:cs typeface="+mn-cs"/>
                      </a:rPr>
                      <m:t>=0</m:t>
                    </m:r>
                  </m:oMath>
                </a14:m>
                <a:r>
                  <a:rPr lang="en-US" sz="1200" kern="1200" dirty="0">
                    <a:solidFill>
                      <a:schemeClr val="tx1"/>
                    </a:solidFill>
                    <a:effectLst/>
                    <a:latin typeface="+mn-lt"/>
                    <a:ea typeface="+mn-ea"/>
                    <a:cs typeface="+mn-cs"/>
                  </a:rPr>
                  <a:t>surface, and then lifted it back into full kinematic space. </a:t>
                </a:r>
              </a:p>
              <a:p>
                <a:r>
                  <a:rPr lang="en-US" sz="1200" kern="1200" dirty="0">
                    <a:solidFill>
                      <a:schemeClr val="tx1"/>
                    </a:solidFill>
                    <a:effectLst/>
                    <a:latin typeface="+mn-lt"/>
                    <a:ea typeface="+mn-ea"/>
                    <a:cs typeface="+mn-cs"/>
                  </a:rPr>
                  <a:t>Here is the mandate: </a:t>
                </a:r>
                <a:r>
                  <a:rPr lang="en-US" sz="1200" b="1" kern="1200" dirty="0">
                    <a:solidFill>
                      <a:schemeClr val="tx1"/>
                    </a:solidFill>
                    <a:effectLst/>
                    <a:latin typeface="+mn-lt"/>
                    <a:ea typeface="+mn-ea"/>
                    <a:cs typeface="+mn-cs"/>
                  </a:rPr>
                  <a:t>Route A and Route B use completely different equations, intermediate code, and mathematical functions. If both are right, they MUST arrive at the exact same destination.</a:t>
                </a:r>
                <a:endParaRPr lang="en-US" sz="1200" kern="1200" dirty="0">
                  <a:solidFill>
                    <a:schemeClr val="tx1"/>
                  </a:solidFill>
                  <a:effectLst/>
                  <a:latin typeface="+mn-lt"/>
                  <a:ea typeface="+mn-ea"/>
                  <a:cs typeface="+mn-cs"/>
                </a:endParaRPr>
              </a:p>
              <a:p>
                <a:endParaRPr lang="en-US" dirty="0"/>
              </a:p>
            </p:txBody>
          </p:sp>
        </mc:Choice>
        <mc:Fallback xmlns="">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ensure the answer wasn't a hallucination or an artifact of code bugs, the researchers had Claude attack the problem along </a:t>
                </a:r>
                <a:r>
                  <a:rPr lang="en-US" sz="1200" b="1" kern="1200" dirty="0">
                    <a:solidFill>
                      <a:schemeClr val="tx1"/>
                    </a:solidFill>
                    <a:effectLst/>
                    <a:latin typeface="+mn-lt"/>
                    <a:ea typeface="+mn-ea"/>
                    <a:cs typeface="+mn-cs"/>
                  </a:rPr>
                  <a:t>two entirely different mathematical routes</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Route A is the Direct Bootstrap.</a:t>
                </a:r>
                <a:r>
                  <a:rPr lang="en-US" sz="1200" kern="1200" dirty="0">
                    <a:solidFill>
                      <a:schemeClr val="tx1"/>
                    </a:solidFill>
                    <a:effectLst/>
                    <a:latin typeface="+mn-lt"/>
                    <a:ea typeface="+mn-ea"/>
                    <a:cs typeface="+mn-cs"/>
                  </a:rPr>
                  <a:t> Claude set up the candidate space of hexagon functions, applied all known physical symmetry and singularity constraints, and set up a massive linear algebra problem to solve directly for the amplitude coefficients.</a:t>
                </a:r>
              </a:p>
              <a:p>
                <a:r>
                  <a:rPr lang="en-US" sz="1200" b="1" kern="1200" dirty="0">
                    <a:solidFill>
                      <a:schemeClr val="tx1"/>
                    </a:solidFill>
                    <a:effectLst/>
                    <a:latin typeface="+mn-lt"/>
                    <a:ea typeface="+mn-ea"/>
                    <a:cs typeface="+mn-cs"/>
                  </a:rPr>
                  <a:t>Route B takes a dramatic detour through a physical concept called Antipodal Duality.</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2021–2023, human physicists discovered a remarkable mirror symmetry in quantum field theory: if you take a different physical object called a </a:t>
                </a:r>
                <a:r>
                  <a:rPr lang="en-US" sz="1200" b="1" kern="1200" dirty="0">
                    <a:solidFill>
                      <a:schemeClr val="tx1"/>
                    </a:solidFill>
                    <a:effectLst/>
                    <a:latin typeface="+mn-lt"/>
                    <a:ea typeface="+mn-ea"/>
                    <a:cs typeface="+mn-cs"/>
                  </a:rPr>
                  <a:t>Form Factor</a:t>
                </a:r>
                <a:r>
                  <a:rPr lang="en-US" sz="1200" kern="1200" dirty="0">
                    <a:solidFill>
                      <a:schemeClr val="tx1"/>
                    </a:solidFill>
                    <a:effectLst/>
                    <a:latin typeface="+mn-lt"/>
                    <a:ea typeface="+mn-ea"/>
                    <a:cs typeface="+mn-cs"/>
                  </a:rPr>
                  <a:t>, compute its symbol, and reverse the order of its letters (reading the word backwards), you map directly onto the Scattering Amplitude on a restricted kinematic boundary known as the </a:t>
                </a:r>
                <a:r>
                  <a:rPr lang="en-US" sz="1200" i="0" kern="1200">
                    <a:solidFill>
                      <a:schemeClr val="tx1"/>
                    </a:solidFill>
                    <a:latin typeface="+mn-lt"/>
                    <a:ea typeface="+mn-ea"/>
                    <a:cs typeface="+mn-cs"/>
                  </a:rPr>
                  <a:t>𝛿=0</a:t>
                </a:r>
                <a:r>
                  <a:rPr lang="en-US" sz="1200" kern="1200" dirty="0">
                    <a:solidFill>
                      <a:schemeClr val="tx1"/>
                    </a:solidFill>
                    <a:effectLst/>
                    <a:latin typeface="+mn-lt"/>
                    <a:ea typeface="+mn-ea"/>
                    <a:cs typeface="+mn-cs"/>
                  </a:rPr>
                  <a:t>surface.</a:t>
                </a:r>
              </a:p>
              <a:p>
                <a:r>
                  <a:rPr lang="en-US" sz="1200" kern="1200" dirty="0">
                    <a:solidFill>
                      <a:schemeClr val="tx1"/>
                    </a:solidFill>
                    <a:effectLst/>
                    <a:latin typeface="+mn-lt"/>
                    <a:ea typeface="+mn-ea"/>
                    <a:cs typeface="+mn-cs"/>
                  </a:rPr>
                  <a:t>So in Route B, Claude first computed the 9-loop Form Factor, passed it through this mathematical mirror, reconstructed the amplitude on the </a:t>
                </a:r>
                <a:r>
                  <a:rPr lang="en-US" sz="1200" i="0" kern="1200">
                    <a:solidFill>
                      <a:schemeClr val="tx1"/>
                    </a:solidFill>
                    <a:latin typeface="+mn-lt"/>
                    <a:ea typeface="+mn-ea"/>
                    <a:cs typeface="+mn-cs"/>
                  </a:rPr>
                  <a:t>𝛿=0</a:t>
                </a:r>
                <a:r>
                  <a:rPr lang="en-US" sz="1200" kern="1200" dirty="0">
                    <a:solidFill>
                      <a:schemeClr val="tx1"/>
                    </a:solidFill>
                    <a:effectLst/>
                    <a:latin typeface="+mn-lt"/>
                    <a:ea typeface="+mn-ea"/>
                    <a:cs typeface="+mn-cs"/>
                  </a:rPr>
                  <a:t>surface, and then lifted it back into full kinematic space. </a:t>
                </a:r>
              </a:p>
              <a:p>
                <a:r>
                  <a:rPr lang="en-US" sz="1200" kern="1200" dirty="0">
                    <a:solidFill>
                      <a:schemeClr val="tx1"/>
                    </a:solidFill>
                    <a:effectLst/>
                    <a:latin typeface="+mn-lt"/>
                    <a:ea typeface="+mn-ea"/>
                    <a:cs typeface="+mn-cs"/>
                  </a:rPr>
                  <a:t>Here is the mandate: </a:t>
                </a:r>
                <a:r>
                  <a:rPr lang="en-US" sz="1200" b="1" kern="1200" dirty="0">
                    <a:solidFill>
                      <a:schemeClr val="tx1"/>
                    </a:solidFill>
                    <a:effectLst/>
                    <a:latin typeface="+mn-lt"/>
                    <a:ea typeface="+mn-ea"/>
                    <a:cs typeface="+mn-cs"/>
                  </a:rPr>
                  <a:t>Route A and Route B use completely different equations, intermediate code, and mathematical functions. If both are right, they MUST arrive at the exact same destination.</a:t>
                </a:r>
                <a:endParaRPr lang="en-US" sz="1200" kern="1200" dirty="0">
                  <a:solidFill>
                    <a:schemeClr val="tx1"/>
                  </a:solidFill>
                  <a:effectLst/>
                  <a:latin typeface="+mn-lt"/>
                  <a:ea typeface="+mn-ea"/>
                  <a:cs typeface="+mn-cs"/>
                </a:endParaRPr>
              </a:p>
              <a:p>
                <a:endParaRPr lang="en-US" dirty="0"/>
              </a:p>
            </p:txBody>
          </p:sp>
        </mc:Fallback>
      </mc:AlternateContent>
      <p:sp>
        <p:nvSpPr>
          <p:cNvPr id="4" name="Slide Number Placeholder 3"/>
          <p:cNvSpPr>
            <a:spLocks noGrp="1"/>
          </p:cNvSpPr>
          <p:nvPr>
            <p:ph type="sldNum" sz="quarter" idx="5"/>
          </p:nvPr>
        </p:nvSpPr>
        <p:spPr/>
        <p:txBody>
          <a:bodyPr/>
          <a:lstStyle/>
          <a:p>
            <a:fld id="{15E6E46F-E0B2-4455-A413-733E84E7B9DB}" type="slidenum">
              <a:rPr lang="en-US" smtClean="0"/>
              <a:t>8</a:t>
            </a:fld>
            <a:endParaRPr lang="en-US"/>
          </a:p>
        </p:txBody>
      </p:sp>
    </p:spTree>
    <p:extLst>
      <p:ext uri="{BB962C8B-B14F-4D97-AF65-F5344CB8AC3E}">
        <p14:creationId xmlns:p14="http://schemas.microsoft.com/office/powerpoint/2010/main" val="19273410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you line up the results from Route A and Route B, how well do they match? </a:t>
            </a:r>
          </a:p>
          <a:p>
            <a:pPr marL="228600" lvl="0" indent="-228600">
              <a:buFont typeface="+mj-lt"/>
              <a:buAutoNum type="arabicPeriod"/>
            </a:pPr>
            <a:r>
              <a:rPr lang="en-US" sz="1200" b="1" kern="1200" dirty="0">
                <a:solidFill>
                  <a:schemeClr val="tx1"/>
                </a:solidFill>
                <a:effectLst/>
                <a:latin typeface="+mn-lt"/>
                <a:ea typeface="+mn-ea"/>
                <a:cs typeface="+mn-cs"/>
              </a:rPr>
              <a:t>The Match:</a:t>
            </a:r>
            <a:r>
              <a:rPr lang="en-US" sz="1200" kern="1200" dirty="0">
                <a:solidFill>
                  <a:schemeClr val="tx1"/>
                </a:solidFill>
                <a:effectLst/>
                <a:latin typeface="+mn-lt"/>
                <a:ea typeface="+mn-ea"/>
                <a:cs typeface="+mn-cs"/>
              </a:rPr>
              <a:t> There are </a:t>
            </a:r>
            <a:r>
              <a:rPr lang="en-US" sz="1200" b="1" kern="1200" dirty="0">
                <a:solidFill>
                  <a:schemeClr val="tx1"/>
                </a:solidFill>
                <a:effectLst/>
                <a:latin typeface="+mn-lt"/>
                <a:ea typeface="+mn-ea"/>
                <a:cs typeface="+mn-cs"/>
              </a:rPr>
              <a:t>107,053 non-zero determining coefficients</a:t>
            </a:r>
            <a:r>
              <a:rPr lang="en-US" sz="1200" kern="1200" dirty="0">
                <a:solidFill>
                  <a:schemeClr val="tx1"/>
                </a:solidFill>
                <a:effectLst/>
                <a:latin typeface="+mn-lt"/>
                <a:ea typeface="+mn-ea"/>
                <a:cs typeface="+mn-cs"/>
              </a:rPr>
              <a:t> that uniquely fix the symbol. When the results from Route A and Route B were compared coefficient by coefficient, all 107,053 matched with 100% perfection. </a:t>
            </a:r>
          </a:p>
          <a:p>
            <a:pPr marL="228600" lvl="0" indent="-228600">
              <a:buFont typeface="+mj-lt"/>
              <a:buAutoNum type="arabicPeriod"/>
            </a:pPr>
            <a:r>
              <a:rPr lang="en-US" sz="1200" b="1" kern="1200" dirty="0">
                <a:solidFill>
                  <a:schemeClr val="tx1"/>
                </a:solidFill>
                <a:effectLst/>
                <a:latin typeface="+mn-lt"/>
                <a:ea typeface="+mn-ea"/>
                <a:cs typeface="+mn-cs"/>
              </a:rPr>
              <a:t>The Control:</a:t>
            </a:r>
            <a:r>
              <a:rPr lang="en-US" sz="1200" kern="1200" dirty="0">
                <a:solidFill>
                  <a:schemeClr val="tx1"/>
                </a:solidFill>
                <a:effectLst/>
                <a:latin typeface="+mn-lt"/>
                <a:ea typeface="+mn-ea"/>
                <a:cs typeface="+mn-cs"/>
              </a:rPr>
              <a:t> To test the machinery for systematic errors, the team pointed the exact same automated AI workflow at the known 8-loop amplitude. They sampled 1,000 random symbol words from the published literature. The AI's pipeline reproduced the published coefficients </a:t>
            </a:r>
            <a:r>
              <a:rPr lang="en-US" sz="1200" b="1" kern="1200" dirty="0">
                <a:solidFill>
                  <a:schemeClr val="tx1"/>
                </a:solidFill>
                <a:effectLst/>
                <a:latin typeface="+mn-lt"/>
                <a:ea typeface="+mn-ea"/>
                <a:cs typeface="+mn-cs"/>
              </a:rPr>
              <a:t>1,000 out of 1,000 times</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Human Validation:</a:t>
            </a:r>
            <a:r>
              <a:rPr lang="en-US" sz="1200" kern="1200" dirty="0">
                <a:solidFill>
                  <a:schemeClr val="tx1"/>
                </a:solidFill>
                <a:effectLst/>
                <a:latin typeface="+mn-lt"/>
                <a:ea typeface="+mn-ea"/>
                <a:cs typeface="+mn-cs"/>
              </a:rPr>
              <a:t> The results were submitted to Professor Lance Dixon of SLAC/Stanford—one of the world's leading experts who computed the original 8-loop frontier. Dixon independently evaluated the output and confirmed its mathematical validity. </a:t>
            </a:r>
          </a:p>
          <a:p>
            <a:r>
              <a:rPr lang="en-US" sz="1200" kern="1200" dirty="0">
                <a:solidFill>
                  <a:schemeClr val="tx1"/>
                </a:solidFill>
                <a:effectLst/>
                <a:latin typeface="+mn-lt"/>
                <a:ea typeface="+mn-ea"/>
                <a:cs typeface="+mn-cs"/>
              </a:rPr>
              <a:t>We should note one honest caveat: while the </a:t>
            </a:r>
            <a:r>
              <a:rPr lang="en-US" sz="1200" b="1" kern="1200" dirty="0">
                <a:solidFill>
                  <a:schemeClr val="tx1"/>
                </a:solidFill>
                <a:effectLst/>
                <a:latin typeface="+mn-lt"/>
                <a:ea typeface="+mn-ea"/>
                <a:cs typeface="+mn-cs"/>
              </a:rPr>
              <a:t>symbol level</a:t>
            </a:r>
            <a:r>
              <a:rPr lang="en-US" sz="1200" kern="1200" dirty="0">
                <a:solidFill>
                  <a:schemeClr val="tx1"/>
                </a:solidFill>
                <a:effectLst/>
                <a:latin typeface="+mn-lt"/>
                <a:ea typeface="+mn-ea"/>
                <a:cs typeface="+mn-cs"/>
              </a:rPr>
              <a:t> cross-checks are ironclad, the full integrated weight-18 function relies on one additional stated mathematical assumption that sits below the symbol level. But at the symbol level, the proof is watertight." </a:t>
            </a:r>
          </a:p>
          <a:p>
            <a:endParaRPr lang="en-US" dirty="0"/>
          </a:p>
        </p:txBody>
      </p:sp>
      <p:sp>
        <p:nvSpPr>
          <p:cNvPr id="4" name="Slide Number Placeholder 3"/>
          <p:cNvSpPr>
            <a:spLocks noGrp="1"/>
          </p:cNvSpPr>
          <p:nvPr>
            <p:ph type="sldNum" sz="quarter" idx="5"/>
          </p:nvPr>
        </p:nvSpPr>
        <p:spPr/>
        <p:txBody>
          <a:bodyPr/>
          <a:lstStyle/>
          <a:p>
            <a:fld id="{15E6E46F-E0B2-4455-A413-733E84E7B9DB}" type="slidenum">
              <a:rPr lang="en-US" smtClean="0"/>
              <a:t>9</a:t>
            </a:fld>
            <a:endParaRPr lang="en-US"/>
          </a:p>
        </p:txBody>
      </p:sp>
    </p:spTree>
    <p:extLst>
      <p:ext uri="{BB962C8B-B14F-4D97-AF65-F5344CB8AC3E}">
        <p14:creationId xmlns:p14="http://schemas.microsoft.com/office/powerpoint/2010/main" val="17060566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people hear that an AI solved a theoretical physics problem that was stuck for years, they assume it took a multi-million-dollar supercomputer or row upon row of burning GPU server racks. </a:t>
            </a:r>
          </a:p>
          <a:p>
            <a:r>
              <a:rPr lang="en-US" sz="1200" kern="1200" dirty="0">
                <a:solidFill>
                  <a:schemeClr val="tx1"/>
                </a:solidFill>
                <a:effectLst/>
                <a:latin typeface="+mn-lt"/>
                <a:ea typeface="+mn-ea"/>
                <a:cs typeface="+mn-cs"/>
              </a:rPr>
              <a:t>The actual financial accounting is shocking: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estimated end-user API cost to run the Claude research agent over the multi-week project was between </a:t>
            </a:r>
            <a:r>
              <a:rPr lang="en-US" sz="1200" b="1" kern="1200" dirty="0">
                <a:solidFill>
                  <a:schemeClr val="tx1"/>
                </a:solidFill>
                <a:effectLst/>
                <a:latin typeface="+mn-lt"/>
                <a:ea typeface="+mn-ea"/>
                <a:cs typeface="+mn-cs"/>
              </a:rPr>
              <a:t>$1,000 and $2,000</a:t>
            </a:r>
            <a:r>
              <a:rPr lang="en-US" sz="1200" kern="1200" dirty="0">
                <a:solidFill>
                  <a:schemeClr val="tx1"/>
                </a:solidFill>
                <a:effectLst/>
                <a:latin typeface="+mn-lt"/>
                <a:ea typeface="+mn-ea"/>
                <a:cs typeface="+mn-cs"/>
              </a:rPr>
              <a:t>. Most of this cost was simply keeping the model reasoning, writing code, and debugging in a long context loop.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actual conventional CPU compute—running the 107,000-variable linear algebra solvers across 96 CPUs for about one week—cost roughly </a:t>
            </a:r>
            <a:r>
              <a:rPr lang="en-US" sz="1200" b="1" kern="1200" dirty="0">
                <a:solidFill>
                  <a:schemeClr val="tx1"/>
                </a:solidFill>
                <a:effectLst/>
                <a:latin typeface="+mn-lt"/>
                <a:ea typeface="+mn-ea"/>
                <a:cs typeface="+mn-cs"/>
              </a:rPr>
              <a:t>$100</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Let's be completely clear: the entire research project did not cost $100 in total; $100 was just the raw CPU compute bill for Route A. </a:t>
            </a:r>
          </a:p>
          <a:p>
            <a:r>
              <a:rPr lang="en-US" sz="1200" kern="1200" dirty="0">
                <a:solidFill>
                  <a:schemeClr val="tx1"/>
                </a:solidFill>
                <a:effectLst/>
                <a:latin typeface="+mn-lt"/>
                <a:ea typeface="+mn-ea"/>
                <a:cs typeface="+mn-cs"/>
              </a:rPr>
              <a:t>But the striking takeaway remains: </a:t>
            </a:r>
            <a:r>
              <a:rPr lang="en-US" sz="1200" b="1" kern="1200" dirty="0">
                <a:solidFill>
                  <a:schemeClr val="tx1"/>
                </a:solidFill>
                <a:effectLst/>
                <a:latin typeface="+mn-lt"/>
                <a:ea typeface="+mn-ea"/>
                <a:cs typeface="+mn-cs"/>
              </a:rPr>
              <a:t>the computational barrier to reaching the 9-loop frontier was orders of magnitude smaller than anyone anticipated.</a:t>
            </a:r>
            <a:r>
              <a:rPr lang="en-US" sz="1200" kern="1200" dirty="0">
                <a:solidFill>
                  <a:schemeClr val="tx1"/>
                </a:solidFill>
                <a:effectLst/>
                <a:latin typeface="+mn-lt"/>
                <a:ea typeface="+mn-ea"/>
                <a:cs typeface="+mn-cs"/>
              </a:rPr>
              <a:t> The barrier wasn't expensive hardware; it was the sheer difficulty of writing, debugging, and executing error-free pipelines." </a:t>
            </a:r>
          </a:p>
          <a:p>
            <a:endParaRPr lang="en-US" dirty="0"/>
          </a:p>
        </p:txBody>
      </p:sp>
      <p:sp>
        <p:nvSpPr>
          <p:cNvPr id="4" name="Slide Number Placeholder 3"/>
          <p:cNvSpPr>
            <a:spLocks noGrp="1"/>
          </p:cNvSpPr>
          <p:nvPr>
            <p:ph type="sldNum" sz="quarter" idx="5"/>
          </p:nvPr>
        </p:nvSpPr>
        <p:spPr/>
        <p:txBody>
          <a:bodyPr/>
          <a:lstStyle/>
          <a:p>
            <a:fld id="{15E6E46F-E0B2-4455-A413-733E84E7B9DB}" type="slidenum">
              <a:rPr lang="en-US" smtClean="0"/>
              <a:t>10</a:t>
            </a:fld>
            <a:endParaRPr lang="en-US"/>
          </a:p>
        </p:txBody>
      </p:sp>
    </p:spTree>
    <p:extLst>
      <p:ext uri="{BB962C8B-B14F-4D97-AF65-F5344CB8AC3E}">
        <p14:creationId xmlns:p14="http://schemas.microsoft.com/office/powerpoint/2010/main" val="30550265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"Here is one of the most fascinating aspects of this story. </a:t>
            </a:r>
          </a:p>
          <a:p>
            <a:r>
              <a:rPr lang="en-US" sz="1200" kern="1200" dirty="0">
                <a:solidFill>
                  <a:schemeClr val="tx1"/>
                </a:solidFill>
                <a:effectLst/>
                <a:latin typeface="+mn-lt"/>
                <a:ea typeface="+mn-ea"/>
                <a:cs typeface="+mn-cs"/>
              </a:rPr>
              <a:t>It is easy to view this as a narrative where an AI surpassed human capabilities. But at the exact same time Anthropic was finalizing their 9-loop result, an independent group of theoretical physicists—</a:t>
            </a:r>
            <a:r>
              <a:rPr lang="en-US" sz="1200" b="1" kern="1200" dirty="0">
                <a:solidFill>
                  <a:schemeClr val="tx1"/>
                </a:solidFill>
                <a:effectLst/>
                <a:latin typeface="+mn-lt"/>
                <a:ea typeface="+mn-ea"/>
                <a:cs typeface="+mn-cs"/>
              </a:rPr>
              <a:t>Sanghi, Jing, and Lee</a:t>
            </a:r>
            <a:r>
              <a:rPr lang="en-US" sz="1200" kern="1200" dirty="0">
                <a:solidFill>
                  <a:schemeClr val="tx1"/>
                </a:solidFill>
                <a:effectLst/>
                <a:latin typeface="+mn-lt"/>
                <a:ea typeface="+mn-ea"/>
                <a:cs typeface="+mn-cs"/>
              </a:rPr>
              <a:t>—reached the exact same 9-loop symbol! </a:t>
            </a:r>
          </a:p>
          <a:p>
            <a:r>
              <a:rPr lang="en-US" sz="1200" kern="1200" dirty="0">
                <a:solidFill>
                  <a:schemeClr val="tx1"/>
                </a:solidFill>
                <a:effectLst/>
                <a:latin typeface="+mn-lt"/>
                <a:ea typeface="+mn-ea"/>
                <a:cs typeface="+mn-cs"/>
              </a:rPr>
              <a:t>Look at how the two teams climbed the same mountain: </a:t>
            </a:r>
          </a:p>
          <a:p>
            <a:pPr marL="171450" lvl="0" indent="-171450">
              <a:buFont typeface="Arial" panose="020B0604020202020204" pitchFamily="34" charset="0"/>
              <a:buChar char="•"/>
            </a:pPr>
            <a:r>
              <a:rPr lang="en-US" sz="1200" b="1" kern="1200" dirty="0" err="1">
                <a:solidFill>
                  <a:schemeClr val="tx1"/>
                </a:solidFill>
                <a:effectLst/>
                <a:latin typeface="+mn-lt"/>
                <a:ea typeface="+mn-ea"/>
                <a:cs typeface="+mn-cs"/>
              </a:rPr>
              <a:t>Anthropic's</a:t>
            </a:r>
            <a:r>
              <a:rPr lang="en-US" sz="1200" b="1" kern="1200" dirty="0">
                <a:solidFill>
                  <a:schemeClr val="tx1"/>
                </a:solidFill>
                <a:effectLst/>
                <a:latin typeface="+mn-lt"/>
                <a:ea typeface="+mn-ea"/>
                <a:cs typeface="+mn-cs"/>
              </a:rPr>
              <a:t> Path:</a:t>
            </a:r>
            <a:r>
              <a:rPr lang="en-US" sz="1200" kern="1200" dirty="0">
                <a:solidFill>
                  <a:schemeClr val="tx1"/>
                </a:solidFill>
                <a:effectLst/>
                <a:latin typeface="+mn-lt"/>
                <a:ea typeface="+mn-ea"/>
                <a:cs typeface="+mn-cs"/>
              </a:rPr>
              <a:t> An AI-heavy, highly autonomous agentic workflow where Claude handled code creation, execution, and error recovery with sparse supervision.</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Sanghi, Jing, &amp; Lee's Path:</a:t>
            </a:r>
            <a:r>
              <a:rPr lang="en-US" sz="1200" kern="1200" dirty="0">
                <a:solidFill>
                  <a:schemeClr val="tx1"/>
                </a:solidFill>
                <a:effectLst/>
                <a:latin typeface="+mn-lt"/>
                <a:ea typeface="+mn-ea"/>
                <a:cs typeface="+mn-cs"/>
              </a:rPr>
              <a:t> A human-led, AI-assisted workflow where human physicists designed the framework and used GPT models to accelerate specific constraint derivations. </a:t>
            </a:r>
          </a:p>
          <a:p>
            <a:r>
              <a:rPr lang="en-US" sz="1200" kern="1200" dirty="0">
                <a:solidFill>
                  <a:schemeClr val="tx1"/>
                </a:solidFill>
                <a:effectLst/>
                <a:latin typeface="+mn-lt"/>
                <a:ea typeface="+mn-ea"/>
                <a:cs typeface="+mn-cs"/>
              </a:rPr>
              <a:t>This is crucial: </a:t>
            </a:r>
            <a:r>
              <a:rPr lang="en-US" sz="1200" b="1" kern="1200" dirty="0">
                <a:solidFill>
                  <a:schemeClr val="tx1"/>
                </a:solidFill>
                <a:effectLst/>
                <a:latin typeface="+mn-lt"/>
                <a:ea typeface="+mn-ea"/>
                <a:cs typeface="+mn-cs"/>
              </a:rPr>
              <a:t>This is not a story about AI beating physicists.</a:t>
            </a:r>
            <a:r>
              <a:rPr lang="en-US" sz="1200" kern="1200" dirty="0">
                <a:solidFill>
                  <a:schemeClr val="tx1"/>
                </a:solidFill>
                <a:effectLst/>
                <a:latin typeface="+mn-lt"/>
                <a:ea typeface="+mn-ea"/>
                <a:cs typeface="+mn-cs"/>
              </a:rPr>
              <a:t> It is proof that a calculation previously deemed prohibitively expensive suddenly became tractable across </a:t>
            </a:r>
            <a:r>
              <a:rPr lang="en-US" sz="1200" i="1" kern="1200" dirty="0">
                <a:solidFill>
                  <a:schemeClr val="tx1"/>
                </a:solidFill>
                <a:effectLst/>
                <a:latin typeface="+mn-lt"/>
                <a:ea typeface="+mn-ea"/>
                <a:cs typeface="+mn-cs"/>
              </a:rPr>
              <a:t>multiple</a:t>
            </a:r>
            <a:r>
              <a:rPr lang="en-US" sz="1200" kern="1200" dirty="0">
                <a:solidFill>
                  <a:schemeClr val="tx1"/>
                </a:solidFill>
                <a:effectLst/>
                <a:latin typeface="+mn-lt"/>
                <a:ea typeface="+mn-ea"/>
                <a:cs typeface="+mn-cs"/>
              </a:rPr>
              <a:t> AI-assisted methodologies at the exact same time. </a:t>
            </a:r>
            <a:r>
              <a:rPr lang="en-US" sz="1200" b="1" kern="1200" dirty="0">
                <a:solidFill>
                  <a:schemeClr val="tx1"/>
                </a:solidFill>
                <a:effectLst/>
                <a:latin typeface="+mn-lt"/>
                <a:ea typeface="+mn-ea"/>
                <a:cs typeface="+mn-cs"/>
              </a:rPr>
              <a:t>The frontier itself moved.</a:t>
            </a:r>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15E6E46F-E0B2-4455-A413-733E84E7B9DB}" type="slidenum">
              <a:rPr lang="en-US" smtClean="0"/>
              <a:t>11</a:t>
            </a:fld>
            <a:endParaRPr lang="en-US"/>
          </a:p>
        </p:txBody>
      </p:sp>
    </p:spTree>
    <p:extLst>
      <p:ext uri="{BB962C8B-B14F-4D97-AF65-F5344CB8AC3E}">
        <p14:creationId xmlns:p14="http://schemas.microsoft.com/office/powerpoint/2010/main" val="9525351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maintain scientific rigor, we must clearly separate myth from reality. </a:t>
                </a:r>
              </a:p>
              <a:p>
                <a:r>
                  <a:rPr lang="en-US" sz="1200" kern="1200" dirty="0">
                    <a:solidFill>
                      <a:schemeClr val="tx1"/>
                    </a:solidFill>
                    <a:effectLst/>
                    <a:latin typeface="+mn-lt"/>
                    <a:ea typeface="+mn-ea"/>
                    <a:cs typeface="+mn-cs"/>
                  </a:rPr>
                  <a:t>Let's look at what Claude </a:t>
                </a:r>
                <a:r>
                  <a:rPr lang="en-US" sz="1200" b="1" kern="1200" dirty="0">
                    <a:solidFill>
                      <a:schemeClr val="tx1"/>
                    </a:solidFill>
                    <a:effectLst/>
                    <a:latin typeface="+mn-lt"/>
                    <a:ea typeface="+mn-ea"/>
                    <a:cs typeface="+mn-cs"/>
                  </a:rPr>
                  <a:t>did NOT</a:t>
                </a:r>
                <a:r>
                  <a:rPr lang="en-US" sz="1200" kern="1200" dirty="0">
                    <a:solidFill>
                      <a:schemeClr val="tx1"/>
                    </a:solidFill>
                    <a:effectLst/>
                    <a:latin typeface="+mn-lt"/>
                    <a:ea typeface="+mn-ea"/>
                    <a:cs typeface="+mn-cs"/>
                  </a:rPr>
                  <a:t> do: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It did not discover a new fundamental particle or force.</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It did not invent Planar </a:t>
                </a:r>
                <a14:m>
                  <m:oMath xmlns:m="http://schemas.openxmlformats.org/officeDocument/2006/math">
                    <m:r>
                      <a:rPr lang="en-US" sz="1200" kern="1200" smtClean="0">
                        <a:solidFill>
                          <a:schemeClr val="tx1"/>
                        </a:solidFill>
                        <a:latin typeface="Cambria Math" panose="02040503050406030204" pitchFamily="18" charset="0"/>
                        <a:ea typeface="+mn-ea"/>
                        <a:cs typeface="+mn-cs"/>
                      </a:rPr>
                      <m:t>𝒩</m:t>
                    </m:r>
                    <m:r>
                      <a:rPr lang="en-US" sz="1200" i="0" kern="1200">
                        <a:solidFill>
                          <a:schemeClr val="tx1"/>
                        </a:solidFill>
                        <a:latin typeface="Cambria Math" panose="02040503050406030204" pitchFamily="18" charset="0"/>
                        <a:ea typeface="+mn-ea"/>
                        <a:cs typeface="+mn-cs"/>
                      </a:rPr>
                      <m:t>=4</m:t>
                    </m:r>
                  </m:oMath>
                </a14:m>
                <a:r>
                  <a:rPr lang="en-US" sz="1200" kern="1200" dirty="0">
                    <a:solidFill>
                      <a:schemeClr val="tx1"/>
                    </a:solidFill>
                    <a:effectLst/>
                    <a:latin typeface="+mn-lt"/>
                    <a:ea typeface="+mn-ea"/>
                    <a:cs typeface="+mn-cs"/>
                  </a:rPr>
                  <a:t>Super Yang-Mills theory.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It did not invent the Bootstrap method, the Symbol alphabet, or Antipodal Duality.</a:t>
                </a:r>
              </a:p>
              <a:p>
                <a:pPr lvl="0"/>
                <a:r>
                  <a:rPr lang="en-US" sz="1200" kern="1200" dirty="0">
                    <a:solidFill>
                      <a:schemeClr val="tx1"/>
                    </a:solidFill>
                    <a:effectLst/>
                    <a:latin typeface="+mn-lt"/>
                    <a:ea typeface="+mn-ea"/>
                    <a:cs typeface="+mn-cs"/>
                  </a:rPr>
                  <a:t>All of those profound theoretical concepts were constructed over decades by brilliant human minds. </a:t>
                </a:r>
              </a:p>
              <a:p>
                <a:r>
                  <a:rPr lang="en-US" sz="1200" kern="1200" dirty="0">
                    <a:solidFill>
                      <a:schemeClr val="tx1"/>
                    </a:solidFill>
                    <a:effectLst/>
                    <a:latin typeface="+mn-lt"/>
                    <a:ea typeface="+mn-ea"/>
                    <a:cs typeface="+mn-cs"/>
                  </a:rPr>
                  <a:t>What Claude </a:t>
                </a:r>
                <a:r>
                  <a:rPr lang="en-US" sz="1200" b="1" kern="1200" dirty="0">
                    <a:solidFill>
                      <a:schemeClr val="tx1"/>
                    </a:solidFill>
                    <a:effectLst/>
                    <a:latin typeface="+mn-lt"/>
                    <a:ea typeface="+mn-ea"/>
                    <a:cs typeface="+mn-cs"/>
                  </a:rPr>
                  <a:t>DID</a:t>
                </a:r>
                <a:r>
                  <a:rPr lang="en-US" sz="1200" kern="1200" dirty="0">
                    <a:solidFill>
                      <a:schemeClr val="tx1"/>
                    </a:solidFill>
                    <a:effectLst/>
                    <a:latin typeface="+mn-lt"/>
                    <a:ea typeface="+mn-ea"/>
                    <a:cs typeface="+mn-cs"/>
                  </a:rPr>
                  <a:t> provide was an extraordinary execution engine: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Advanced reasoning to translate theoretical papers into executable code.</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Continuous, autonomous debugging when scripts failed or memory limits were hit.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Long-horizon persistence—maintaining focus across thousands of code executions without draining attention. </a:t>
                </a:r>
              </a:p>
              <a:p>
                <a:r>
                  <a:rPr lang="en-US" sz="1200" b="1" kern="1200" dirty="0">
                    <a:solidFill>
                      <a:schemeClr val="tx1"/>
                    </a:solidFill>
                    <a:effectLst/>
                    <a:latin typeface="+mn-lt"/>
                    <a:ea typeface="+mn-ea"/>
                    <a:cs typeface="+mn-cs"/>
                  </a:rPr>
                  <a:t>Humans created the map; Claude took the wheel and drove further down the road than any human project had previously reached.</a:t>
                </a:r>
                <a:r>
                  <a:rPr lang="en-US" sz="1200" kern="1200" dirty="0">
                    <a:solidFill>
                      <a:schemeClr val="tx1"/>
                    </a:solidFill>
                    <a:effectLst/>
                    <a:latin typeface="+mn-lt"/>
                    <a:ea typeface="+mn-ea"/>
                    <a:cs typeface="+mn-cs"/>
                  </a:rPr>
                  <a:t>"</a:t>
                </a:r>
              </a:p>
              <a:p>
                <a:endParaRPr lang="en-US" dirty="0"/>
              </a:p>
            </p:txBody>
          </p:sp>
        </mc:Choice>
        <mc:Fallback xmlns="">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maintain scientific rigor, we must clearly separate myth from reality. </a:t>
                </a:r>
              </a:p>
              <a:p>
                <a:r>
                  <a:rPr lang="en-US" sz="1200" kern="1200" dirty="0">
                    <a:solidFill>
                      <a:schemeClr val="tx1"/>
                    </a:solidFill>
                    <a:effectLst/>
                    <a:latin typeface="+mn-lt"/>
                    <a:ea typeface="+mn-ea"/>
                    <a:cs typeface="+mn-cs"/>
                  </a:rPr>
                  <a:t>Let's look at what Claude </a:t>
                </a:r>
                <a:r>
                  <a:rPr lang="en-US" sz="1200" b="1" kern="1200" dirty="0">
                    <a:solidFill>
                      <a:schemeClr val="tx1"/>
                    </a:solidFill>
                    <a:effectLst/>
                    <a:latin typeface="+mn-lt"/>
                    <a:ea typeface="+mn-ea"/>
                    <a:cs typeface="+mn-cs"/>
                  </a:rPr>
                  <a:t>did NOT</a:t>
                </a:r>
                <a:r>
                  <a:rPr lang="en-US" sz="1200" kern="1200" dirty="0">
                    <a:solidFill>
                      <a:schemeClr val="tx1"/>
                    </a:solidFill>
                    <a:effectLst/>
                    <a:latin typeface="+mn-lt"/>
                    <a:ea typeface="+mn-ea"/>
                    <a:cs typeface="+mn-cs"/>
                  </a:rPr>
                  <a:t> do: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It did not discover a new fundamental particle or force.</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It did not invent Planar </a:t>
                </a:r>
                <a:r>
                  <a:rPr lang="en-US" sz="1200" i="0" kern="1200">
                    <a:solidFill>
                      <a:schemeClr val="tx1"/>
                    </a:solidFill>
                    <a:latin typeface="+mn-lt"/>
                    <a:ea typeface="+mn-ea"/>
                    <a:cs typeface="+mn-cs"/>
                  </a:rPr>
                  <a:t>𝒩=4</a:t>
                </a:r>
                <a:r>
                  <a:rPr lang="en-US" sz="1200" kern="1200" dirty="0">
                    <a:solidFill>
                      <a:schemeClr val="tx1"/>
                    </a:solidFill>
                    <a:effectLst/>
                    <a:latin typeface="+mn-lt"/>
                    <a:ea typeface="+mn-ea"/>
                    <a:cs typeface="+mn-cs"/>
                  </a:rPr>
                  <a:t>Super Yang-Mills theory.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It did not invent the Bootstrap method, the Symbol alphabet, or Antipodal Duality.</a:t>
                </a:r>
              </a:p>
              <a:p>
                <a:pPr lvl="0"/>
                <a:r>
                  <a:rPr lang="en-US" sz="1200" kern="1200" dirty="0">
                    <a:solidFill>
                      <a:schemeClr val="tx1"/>
                    </a:solidFill>
                    <a:effectLst/>
                    <a:latin typeface="+mn-lt"/>
                    <a:ea typeface="+mn-ea"/>
                    <a:cs typeface="+mn-cs"/>
                  </a:rPr>
                  <a:t>All of those profound theoretical concepts were constructed over decades by brilliant human minds. </a:t>
                </a:r>
              </a:p>
              <a:p>
                <a:r>
                  <a:rPr lang="en-US" sz="1200" kern="1200" dirty="0">
                    <a:solidFill>
                      <a:schemeClr val="tx1"/>
                    </a:solidFill>
                    <a:effectLst/>
                    <a:latin typeface="+mn-lt"/>
                    <a:ea typeface="+mn-ea"/>
                    <a:cs typeface="+mn-cs"/>
                  </a:rPr>
                  <a:t>What Claude </a:t>
                </a:r>
                <a:r>
                  <a:rPr lang="en-US" sz="1200" b="1" kern="1200" dirty="0">
                    <a:solidFill>
                      <a:schemeClr val="tx1"/>
                    </a:solidFill>
                    <a:effectLst/>
                    <a:latin typeface="+mn-lt"/>
                    <a:ea typeface="+mn-ea"/>
                    <a:cs typeface="+mn-cs"/>
                  </a:rPr>
                  <a:t>DID</a:t>
                </a:r>
                <a:r>
                  <a:rPr lang="en-US" sz="1200" kern="1200" dirty="0">
                    <a:solidFill>
                      <a:schemeClr val="tx1"/>
                    </a:solidFill>
                    <a:effectLst/>
                    <a:latin typeface="+mn-lt"/>
                    <a:ea typeface="+mn-ea"/>
                    <a:cs typeface="+mn-cs"/>
                  </a:rPr>
                  <a:t> provide was an extraordinary execution engine: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Advanced reasoning to translate theoretical papers into executable code.</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Continuous, autonomous debugging when scripts failed or memory limits were hit.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Long-horizon persistence—maintaining focus across thousands of code executions without draining attention. </a:t>
                </a:r>
              </a:p>
              <a:p>
                <a:r>
                  <a:rPr lang="en-US" sz="1200" b="1" kern="1200" dirty="0">
                    <a:solidFill>
                      <a:schemeClr val="tx1"/>
                    </a:solidFill>
                    <a:effectLst/>
                    <a:latin typeface="+mn-lt"/>
                    <a:ea typeface="+mn-ea"/>
                    <a:cs typeface="+mn-cs"/>
                  </a:rPr>
                  <a:t>Humans created the map; Claude took the wheel and drove further down the road than any human project had previously reached.</a:t>
                </a:r>
                <a:r>
                  <a:rPr lang="en-US" sz="1200" kern="1200" dirty="0">
                    <a:solidFill>
                      <a:schemeClr val="tx1"/>
                    </a:solidFill>
                    <a:effectLst/>
                    <a:latin typeface="+mn-lt"/>
                    <a:ea typeface="+mn-ea"/>
                    <a:cs typeface="+mn-cs"/>
                  </a:rPr>
                  <a:t>"</a:t>
                </a:r>
              </a:p>
              <a:p>
                <a:endParaRPr lang="en-US" dirty="0"/>
              </a:p>
            </p:txBody>
          </p:sp>
        </mc:Fallback>
      </mc:AlternateContent>
      <p:sp>
        <p:nvSpPr>
          <p:cNvPr id="4" name="Slide Number Placeholder 3"/>
          <p:cNvSpPr>
            <a:spLocks noGrp="1"/>
          </p:cNvSpPr>
          <p:nvPr>
            <p:ph type="sldNum" sz="quarter" idx="5"/>
          </p:nvPr>
        </p:nvSpPr>
        <p:spPr/>
        <p:txBody>
          <a:bodyPr/>
          <a:lstStyle/>
          <a:p>
            <a:fld id="{15E6E46F-E0B2-4455-A413-733E84E7B9DB}" type="slidenum">
              <a:rPr lang="en-US" smtClean="0"/>
              <a:t>12</a:t>
            </a:fld>
            <a:endParaRPr lang="en-US"/>
          </a:p>
        </p:txBody>
      </p:sp>
    </p:spTree>
    <p:extLst>
      <p:ext uri="{BB962C8B-B14F-4D97-AF65-F5344CB8AC3E}">
        <p14:creationId xmlns:p14="http://schemas.microsoft.com/office/powerpoint/2010/main" val="11640790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result forces us to reconsider how scientific progress is bottlenecked. </a:t>
                </a:r>
              </a:p>
              <a:p>
                <a:r>
                  <a:rPr lang="en-US" sz="1200" kern="1200" dirty="0">
                    <a:solidFill>
                      <a:schemeClr val="tx1"/>
                    </a:solidFill>
                    <a:effectLst/>
                    <a:latin typeface="+mn-lt"/>
                    <a:ea typeface="+mn-ea"/>
                    <a:cs typeface="+mn-cs"/>
                  </a:rPr>
                  <a:t>Historically, we assume science is blocked by </a:t>
                </a:r>
                <a:r>
                  <a:rPr lang="en-US" sz="1200" b="1" kern="1200" dirty="0">
                    <a:solidFill>
                      <a:schemeClr val="tx1"/>
                    </a:solidFill>
                    <a:effectLst/>
                    <a:latin typeface="+mn-lt"/>
                    <a:ea typeface="+mn-ea"/>
                    <a:cs typeface="+mn-cs"/>
                  </a:rPr>
                  <a:t>Barriers of Principle</a:t>
                </a:r>
                <a:r>
                  <a:rPr lang="en-US" sz="1200" kern="1200" dirty="0">
                    <a:solidFill>
                      <a:schemeClr val="tx1"/>
                    </a:solidFill>
                    <a:effectLst/>
                    <a:latin typeface="+mn-lt"/>
                    <a:ea typeface="+mn-ea"/>
                    <a:cs typeface="+mn-cs"/>
                  </a:rPr>
                  <a:t>: we think we need a new Einstein to invent a radical concept, or a $10-billion particle collider to gather new data. </a:t>
                </a:r>
              </a:p>
              <a:p>
                <a:r>
                  <a:rPr lang="en-US" sz="1200" kern="1200" dirty="0">
                    <a:solidFill>
                      <a:schemeClr val="tx1"/>
                    </a:solidFill>
                    <a:effectLst/>
                    <a:latin typeface="+mn-lt"/>
                    <a:ea typeface="+mn-ea"/>
                    <a:cs typeface="+mn-cs"/>
                  </a:rPr>
                  <a:t>But this 9-loop breakthrough reveals a massive, unrecognized category of scientific problems bounded by </a:t>
                </a:r>
                <a:r>
                  <a:rPr lang="en-US" sz="1200" b="1" kern="1200" dirty="0">
                    <a:solidFill>
                      <a:schemeClr val="tx1"/>
                    </a:solidFill>
                    <a:effectLst/>
                    <a:latin typeface="+mn-lt"/>
                    <a:ea typeface="+mn-ea"/>
                    <a:cs typeface="+mn-cs"/>
                  </a:rPr>
                  <a:t>Barriers of Patience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Think about a human researcher at a desk: papers accumulate, custom C++ code crashes, debugging takes weeks, and human attention naturally drains toward teaching, grant applications, or new projects. The project stalls not because it's impossible, but because human attention is finite and expensive. </a:t>
                </a:r>
              </a:p>
              <a:p>
                <a:r>
                  <a:rPr lang="en-US" sz="1200" kern="1200" dirty="0">
                    <a:solidFill>
                      <a:schemeClr val="tx1"/>
                    </a:solidFill>
                    <a:effectLst/>
                    <a:latin typeface="+mn-lt"/>
                    <a:ea typeface="+mn-ea"/>
                    <a:cs typeface="+mn-cs"/>
                  </a:rPr>
                  <a:t>An AI research agent doesn't suffer from attention fatigue. It operates in an unbroken loop: </a:t>
                </a:r>
                <a:r>
                  <a:rPr lang="en-US" sz="1200" i="1" kern="1200" dirty="0">
                    <a:solidFill>
                      <a:schemeClr val="tx1"/>
                    </a:solidFill>
                    <a:effectLst/>
                    <a:latin typeface="+mn-lt"/>
                    <a:ea typeface="+mn-ea"/>
                    <a:cs typeface="+mn-cs"/>
                  </a:rPr>
                  <a:t>Read </a:t>
                </a:r>
                <a14:m>
                  <m:oMath xmlns:m="http://schemas.openxmlformats.org/officeDocument/2006/math">
                    <m:r>
                      <a:rPr lang="en-US" sz="1200" kern="1200" smtClean="0">
                        <a:solidFill>
                          <a:schemeClr val="tx1"/>
                        </a:solidFill>
                        <a:latin typeface="Cambria Math" panose="02040503050406030204" pitchFamily="18" charset="0"/>
                        <a:ea typeface="+mn-ea"/>
                        <a:cs typeface="+mn-cs"/>
                      </a:rPr>
                      <m:t>→</m:t>
                    </m:r>
                  </m:oMath>
                </a14:m>
                <a:r>
                  <a:rPr lang="en-US" sz="1200" i="1" kern="1200" dirty="0">
                    <a:solidFill>
                      <a:schemeClr val="tx1"/>
                    </a:solidFill>
                    <a:effectLst/>
                    <a:latin typeface="+mn-lt"/>
                    <a:ea typeface="+mn-ea"/>
                    <a:cs typeface="+mn-cs"/>
                  </a:rPr>
                  <a:t>Implement </a:t>
                </a:r>
                <a14:m>
                  <m:oMath xmlns:m="http://schemas.openxmlformats.org/officeDocument/2006/math">
                    <m:r>
                      <a:rPr lang="en-US" sz="1200" kern="1200" smtClean="0">
                        <a:solidFill>
                          <a:schemeClr val="tx1"/>
                        </a:solidFill>
                        <a:latin typeface="Cambria Math" panose="02040503050406030204" pitchFamily="18" charset="0"/>
                        <a:ea typeface="+mn-ea"/>
                        <a:cs typeface="+mn-cs"/>
                      </a:rPr>
                      <m:t>→</m:t>
                    </m:r>
                  </m:oMath>
                </a14:m>
                <a:r>
                  <a:rPr lang="en-US" sz="1200" i="1" kern="1200" dirty="0">
                    <a:solidFill>
                      <a:schemeClr val="tx1"/>
                    </a:solidFill>
                    <a:effectLst/>
                    <a:latin typeface="+mn-lt"/>
                    <a:ea typeface="+mn-ea"/>
                    <a:cs typeface="+mn-cs"/>
                  </a:rPr>
                  <a:t>Test </a:t>
                </a:r>
                <a14:m>
                  <m:oMath xmlns:m="http://schemas.openxmlformats.org/officeDocument/2006/math">
                    <m:r>
                      <a:rPr lang="en-US" sz="1200" kern="1200" smtClean="0">
                        <a:solidFill>
                          <a:schemeClr val="tx1"/>
                        </a:solidFill>
                        <a:latin typeface="Cambria Math" panose="02040503050406030204" pitchFamily="18" charset="0"/>
                        <a:ea typeface="+mn-ea"/>
                        <a:cs typeface="+mn-cs"/>
                      </a:rPr>
                      <m:t>→</m:t>
                    </m:r>
                  </m:oMath>
                </a14:m>
                <a:r>
                  <a:rPr lang="en-US" sz="1200" i="1" kern="1200" dirty="0">
                    <a:solidFill>
                      <a:schemeClr val="tx1"/>
                    </a:solidFill>
                    <a:effectLst/>
                    <a:latin typeface="+mn-lt"/>
                    <a:ea typeface="+mn-ea"/>
                    <a:cs typeface="+mn-cs"/>
                  </a:rPr>
                  <a:t>Fail </a:t>
                </a:r>
                <a14:m>
                  <m:oMath xmlns:m="http://schemas.openxmlformats.org/officeDocument/2006/math">
                    <m:r>
                      <a:rPr lang="en-US" sz="1200" kern="1200" smtClean="0">
                        <a:solidFill>
                          <a:schemeClr val="tx1"/>
                        </a:solidFill>
                        <a:latin typeface="Cambria Math" panose="02040503050406030204" pitchFamily="18" charset="0"/>
                        <a:ea typeface="+mn-ea"/>
                        <a:cs typeface="+mn-cs"/>
                      </a:rPr>
                      <m:t>→</m:t>
                    </m:r>
                  </m:oMath>
                </a14:m>
                <a:r>
                  <a:rPr lang="en-US" sz="1200" i="1" kern="1200" dirty="0">
                    <a:solidFill>
                      <a:schemeClr val="tx1"/>
                    </a:solidFill>
                    <a:effectLst/>
                    <a:latin typeface="+mn-lt"/>
                    <a:ea typeface="+mn-ea"/>
                    <a:cs typeface="+mn-cs"/>
                  </a:rPr>
                  <a:t>Debug </a:t>
                </a:r>
                <a14:m>
                  <m:oMath xmlns:m="http://schemas.openxmlformats.org/officeDocument/2006/math">
                    <m:r>
                      <a:rPr lang="en-US" sz="1200" kern="1200" smtClean="0">
                        <a:solidFill>
                          <a:schemeClr val="tx1"/>
                        </a:solidFill>
                        <a:latin typeface="Cambria Math" panose="02040503050406030204" pitchFamily="18" charset="0"/>
                        <a:ea typeface="+mn-ea"/>
                        <a:cs typeface="+mn-cs"/>
                      </a:rPr>
                      <m:t>→</m:t>
                    </m:r>
                  </m:oMath>
                </a14:m>
                <a:r>
                  <a:rPr lang="en-US" sz="1200" i="1" kern="1200" dirty="0">
                    <a:solidFill>
                      <a:schemeClr val="tx1"/>
                    </a:solidFill>
                    <a:effectLst/>
                    <a:latin typeface="+mn-lt"/>
                    <a:ea typeface="+mn-ea"/>
                    <a:cs typeface="+mn-cs"/>
                  </a:rPr>
                  <a:t>Repeat</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How many scientific breakthroughs in chemistry, materials science, or astrophysics are currently sitting idle, waiting behind barriers of patience rather than barriers of principle?</a:t>
                </a:r>
                <a:r>
                  <a:rPr lang="en-US" sz="1200" kern="1200" dirty="0">
                    <a:solidFill>
                      <a:schemeClr val="tx1"/>
                    </a:solidFill>
                    <a:effectLst/>
                    <a:latin typeface="+mn-lt"/>
                    <a:ea typeface="+mn-ea"/>
                    <a:cs typeface="+mn-cs"/>
                  </a:rPr>
                  <a:t>" </a:t>
                </a:r>
              </a:p>
              <a:p>
                <a:endParaRPr lang="en-US" dirty="0"/>
              </a:p>
            </p:txBody>
          </p:sp>
        </mc:Choice>
        <mc:Fallback xmlns="">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result forces us to reconsider how scientific progress is bottlenecked. </a:t>
                </a:r>
              </a:p>
              <a:p>
                <a:r>
                  <a:rPr lang="en-US" sz="1200" kern="1200" dirty="0">
                    <a:solidFill>
                      <a:schemeClr val="tx1"/>
                    </a:solidFill>
                    <a:effectLst/>
                    <a:latin typeface="+mn-lt"/>
                    <a:ea typeface="+mn-ea"/>
                    <a:cs typeface="+mn-cs"/>
                  </a:rPr>
                  <a:t>Historically, we assume science is blocked by </a:t>
                </a:r>
                <a:r>
                  <a:rPr lang="en-US" sz="1200" b="1" kern="1200" dirty="0">
                    <a:solidFill>
                      <a:schemeClr val="tx1"/>
                    </a:solidFill>
                    <a:effectLst/>
                    <a:latin typeface="+mn-lt"/>
                    <a:ea typeface="+mn-ea"/>
                    <a:cs typeface="+mn-cs"/>
                  </a:rPr>
                  <a:t>Barriers of Principle</a:t>
                </a:r>
                <a:r>
                  <a:rPr lang="en-US" sz="1200" kern="1200" dirty="0">
                    <a:solidFill>
                      <a:schemeClr val="tx1"/>
                    </a:solidFill>
                    <a:effectLst/>
                    <a:latin typeface="+mn-lt"/>
                    <a:ea typeface="+mn-ea"/>
                    <a:cs typeface="+mn-cs"/>
                  </a:rPr>
                  <a:t>: we think we need a new Einstein to invent a radical concept, or a $10-billion particle collider to gather new data. </a:t>
                </a:r>
              </a:p>
              <a:p>
                <a:r>
                  <a:rPr lang="en-US" sz="1200" kern="1200" dirty="0">
                    <a:solidFill>
                      <a:schemeClr val="tx1"/>
                    </a:solidFill>
                    <a:effectLst/>
                    <a:latin typeface="+mn-lt"/>
                    <a:ea typeface="+mn-ea"/>
                    <a:cs typeface="+mn-cs"/>
                  </a:rPr>
                  <a:t>But this 9-loop breakthrough reveals a massive, unrecognized category of scientific problems bounded by </a:t>
                </a:r>
                <a:r>
                  <a:rPr lang="en-US" sz="1200" b="1" kern="1200" dirty="0">
                    <a:solidFill>
                      <a:schemeClr val="tx1"/>
                    </a:solidFill>
                    <a:effectLst/>
                    <a:latin typeface="+mn-lt"/>
                    <a:ea typeface="+mn-ea"/>
                    <a:cs typeface="+mn-cs"/>
                  </a:rPr>
                  <a:t>Barriers of Patience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Think about a human researcher at a desk: papers accumulate, custom C++ code crashes, debugging takes weeks, and human attention naturally drains toward teaching, grant applications, or new projects. The project stalls not because it's impossible, but because human attention is finite and expensive. </a:t>
                </a:r>
              </a:p>
              <a:p>
                <a:r>
                  <a:rPr lang="en-US" sz="1200" kern="1200" dirty="0">
                    <a:solidFill>
                      <a:schemeClr val="tx1"/>
                    </a:solidFill>
                    <a:effectLst/>
                    <a:latin typeface="+mn-lt"/>
                    <a:ea typeface="+mn-ea"/>
                    <a:cs typeface="+mn-cs"/>
                  </a:rPr>
                  <a:t>An AI research agent doesn't suffer from attention fatigue. It operates in an unbroken loop: </a:t>
                </a:r>
                <a:r>
                  <a:rPr lang="en-US" sz="1200" i="1" kern="1200" dirty="0">
                    <a:solidFill>
                      <a:schemeClr val="tx1"/>
                    </a:solidFill>
                    <a:effectLst/>
                    <a:latin typeface="+mn-lt"/>
                    <a:ea typeface="+mn-ea"/>
                    <a:cs typeface="+mn-cs"/>
                  </a:rPr>
                  <a:t>Read </a:t>
                </a:r>
                <a:r>
                  <a:rPr lang="en-US" sz="1200" i="0" kern="1200">
                    <a:solidFill>
                      <a:schemeClr val="tx1"/>
                    </a:solidFill>
                    <a:latin typeface="+mn-lt"/>
                    <a:ea typeface="+mn-ea"/>
                    <a:cs typeface="+mn-cs"/>
                  </a:rPr>
                  <a:t>→</a:t>
                </a:r>
                <a:r>
                  <a:rPr lang="en-US" sz="1200" i="1" kern="1200" dirty="0">
                    <a:solidFill>
                      <a:schemeClr val="tx1"/>
                    </a:solidFill>
                    <a:effectLst/>
                    <a:latin typeface="+mn-lt"/>
                    <a:ea typeface="+mn-ea"/>
                    <a:cs typeface="+mn-cs"/>
                  </a:rPr>
                  <a:t>Implement </a:t>
                </a:r>
                <a:r>
                  <a:rPr lang="en-US" sz="1200" i="0" kern="1200">
                    <a:solidFill>
                      <a:schemeClr val="tx1"/>
                    </a:solidFill>
                    <a:latin typeface="+mn-lt"/>
                    <a:ea typeface="+mn-ea"/>
                    <a:cs typeface="+mn-cs"/>
                  </a:rPr>
                  <a:t>→</a:t>
                </a:r>
                <a:r>
                  <a:rPr lang="en-US" sz="1200" i="1" kern="1200" dirty="0">
                    <a:solidFill>
                      <a:schemeClr val="tx1"/>
                    </a:solidFill>
                    <a:effectLst/>
                    <a:latin typeface="+mn-lt"/>
                    <a:ea typeface="+mn-ea"/>
                    <a:cs typeface="+mn-cs"/>
                  </a:rPr>
                  <a:t>Test </a:t>
                </a:r>
                <a:r>
                  <a:rPr lang="en-US" sz="1200" i="0" kern="1200">
                    <a:solidFill>
                      <a:schemeClr val="tx1"/>
                    </a:solidFill>
                    <a:latin typeface="+mn-lt"/>
                    <a:ea typeface="+mn-ea"/>
                    <a:cs typeface="+mn-cs"/>
                  </a:rPr>
                  <a:t>→</a:t>
                </a:r>
                <a:r>
                  <a:rPr lang="en-US" sz="1200" i="1" kern="1200" dirty="0">
                    <a:solidFill>
                      <a:schemeClr val="tx1"/>
                    </a:solidFill>
                    <a:effectLst/>
                    <a:latin typeface="+mn-lt"/>
                    <a:ea typeface="+mn-ea"/>
                    <a:cs typeface="+mn-cs"/>
                  </a:rPr>
                  <a:t>Fail </a:t>
                </a:r>
                <a:r>
                  <a:rPr lang="en-US" sz="1200" i="0" kern="1200">
                    <a:solidFill>
                      <a:schemeClr val="tx1"/>
                    </a:solidFill>
                    <a:latin typeface="+mn-lt"/>
                    <a:ea typeface="+mn-ea"/>
                    <a:cs typeface="+mn-cs"/>
                  </a:rPr>
                  <a:t>→</a:t>
                </a:r>
                <a:r>
                  <a:rPr lang="en-US" sz="1200" i="1" kern="1200" dirty="0">
                    <a:solidFill>
                      <a:schemeClr val="tx1"/>
                    </a:solidFill>
                    <a:effectLst/>
                    <a:latin typeface="+mn-lt"/>
                    <a:ea typeface="+mn-ea"/>
                    <a:cs typeface="+mn-cs"/>
                  </a:rPr>
                  <a:t>Debug </a:t>
                </a:r>
                <a:r>
                  <a:rPr lang="en-US" sz="1200" i="0" kern="1200">
                    <a:solidFill>
                      <a:schemeClr val="tx1"/>
                    </a:solidFill>
                    <a:latin typeface="+mn-lt"/>
                    <a:ea typeface="+mn-ea"/>
                    <a:cs typeface="+mn-cs"/>
                  </a:rPr>
                  <a:t>→</a:t>
                </a:r>
                <a:r>
                  <a:rPr lang="en-US" sz="1200" i="1" kern="1200" dirty="0">
                    <a:solidFill>
                      <a:schemeClr val="tx1"/>
                    </a:solidFill>
                    <a:effectLst/>
                    <a:latin typeface="+mn-lt"/>
                    <a:ea typeface="+mn-ea"/>
                    <a:cs typeface="+mn-cs"/>
                  </a:rPr>
                  <a:t>Repeat</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How many scientific breakthroughs in chemistry, materials science, or astrophysics are currently sitting idle, waiting behind barriers of patience rather than barriers of principle?</a:t>
                </a:r>
                <a:r>
                  <a:rPr lang="en-US" sz="1200" kern="1200" dirty="0">
                    <a:solidFill>
                      <a:schemeClr val="tx1"/>
                    </a:solidFill>
                    <a:effectLst/>
                    <a:latin typeface="+mn-lt"/>
                    <a:ea typeface="+mn-ea"/>
                    <a:cs typeface="+mn-cs"/>
                  </a:rPr>
                  <a:t>" </a:t>
                </a:r>
              </a:p>
              <a:p>
                <a:endParaRPr lang="en-US" dirty="0"/>
              </a:p>
            </p:txBody>
          </p:sp>
        </mc:Fallback>
      </mc:AlternateContent>
      <p:sp>
        <p:nvSpPr>
          <p:cNvPr id="4" name="Slide Number Placeholder 3"/>
          <p:cNvSpPr>
            <a:spLocks noGrp="1"/>
          </p:cNvSpPr>
          <p:nvPr>
            <p:ph type="sldNum" sz="quarter" idx="5"/>
          </p:nvPr>
        </p:nvSpPr>
        <p:spPr/>
        <p:txBody>
          <a:bodyPr/>
          <a:lstStyle/>
          <a:p>
            <a:fld id="{15E6E46F-E0B2-4455-A413-733E84E7B9DB}" type="slidenum">
              <a:rPr lang="en-US" smtClean="0"/>
              <a:t>13</a:t>
            </a:fld>
            <a:endParaRPr lang="en-US"/>
          </a:p>
        </p:txBody>
      </p:sp>
    </p:spTree>
    <p:extLst>
      <p:ext uri="{BB962C8B-B14F-4D97-AF65-F5344CB8AC3E}">
        <p14:creationId xmlns:p14="http://schemas.microsoft.com/office/powerpoint/2010/main" val="8828914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brings us to the core metaphor of our presentation: </a:t>
            </a:r>
            <a:r>
              <a:rPr lang="en-US" sz="1200" b="1" kern="1200" dirty="0">
                <a:solidFill>
                  <a:schemeClr val="tx1"/>
                </a:solidFill>
                <a:effectLst/>
                <a:latin typeface="+mn-lt"/>
                <a:ea typeface="+mn-ea"/>
                <a:cs typeface="+mn-cs"/>
              </a:rPr>
              <a:t>The Cartographer and the Rover</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Humanity is the Cartographer.</a:t>
            </a:r>
            <a:r>
              <a:rPr lang="en-US" sz="1200" kern="1200" dirty="0">
                <a:solidFill>
                  <a:schemeClr val="tx1"/>
                </a:solidFill>
                <a:effectLst/>
                <a:latin typeface="+mn-lt"/>
                <a:ea typeface="+mn-ea"/>
                <a:cs typeface="+mn-cs"/>
              </a:rPr>
              <a:t> Human physicists surveyed the mathematical landscape, discovered the bootstrap, proved antipodal duality, and defined the symbol grammar. We drew the map and established the rules of the terrain. </a:t>
            </a:r>
          </a:p>
          <a:p>
            <a:r>
              <a:rPr lang="en-US" sz="1200" b="1" kern="1200" dirty="0">
                <a:solidFill>
                  <a:schemeClr val="tx1"/>
                </a:solidFill>
                <a:effectLst/>
                <a:latin typeface="+mn-lt"/>
                <a:ea typeface="+mn-ea"/>
                <a:cs typeface="+mn-cs"/>
              </a:rPr>
              <a:t>Claude is the Rover.</a:t>
            </a:r>
            <a:r>
              <a:rPr lang="en-US" sz="1200" kern="1200" dirty="0">
                <a:solidFill>
                  <a:schemeClr val="tx1"/>
                </a:solidFill>
                <a:effectLst/>
                <a:latin typeface="+mn-lt"/>
                <a:ea typeface="+mn-ea"/>
                <a:cs typeface="+mn-cs"/>
              </a:rPr>
              <a:t> The rover didn't design the highway; it took the map we built and drove further into the dark than human patience previously allowed.</a:t>
            </a:r>
          </a:p>
          <a:p>
            <a:r>
              <a:rPr lang="en-US" sz="1200" kern="1200" dirty="0">
                <a:solidFill>
                  <a:schemeClr val="tx1"/>
                </a:solidFill>
                <a:effectLst/>
                <a:latin typeface="+mn-lt"/>
                <a:ea typeface="+mn-ea"/>
                <a:cs typeface="+mn-cs"/>
              </a:rPr>
              <a:t>But what happens when the map runs out? </a:t>
            </a:r>
          </a:p>
          <a:p>
            <a:r>
              <a:rPr lang="en-US" sz="1200" kern="1200" dirty="0">
                <a:solidFill>
                  <a:schemeClr val="tx1"/>
                </a:solidFill>
                <a:effectLst/>
                <a:latin typeface="+mn-lt"/>
                <a:ea typeface="+mn-ea"/>
                <a:cs typeface="+mn-cs"/>
              </a:rPr>
              <a:t>Look at Loop 10. Beyond 9 loops lies a mathematical space that no human has mapped. At 10 loops, we don't know if the symbol alphabet requires new letters, elliptic functions, or entirely new mathematical structures. Claude walked to the very edge of the human blueprint. To cross into Loop 10, a Rover cannot just drive—it needs a Cartographer to draw new theoretical roads. </a:t>
            </a:r>
          </a:p>
          <a:p>
            <a:r>
              <a:rPr lang="en-US" sz="1200" b="1" kern="1200" dirty="0">
                <a:solidFill>
                  <a:schemeClr val="tx1"/>
                </a:solidFill>
                <a:effectLst/>
                <a:latin typeface="+mn-lt"/>
                <a:ea typeface="+mn-ea"/>
                <a:cs typeface="+mn-cs"/>
              </a:rPr>
              <a:t>The first major impact of AI in science isn't replacing human intuition; it is giving human intuition vastly more room to run.</a:t>
            </a:r>
            <a:r>
              <a:rPr lang="en-US"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5"/>
          </p:nvPr>
        </p:nvSpPr>
        <p:spPr/>
        <p:txBody>
          <a:bodyPr/>
          <a:lstStyle/>
          <a:p>
            <a:fld id="{15E6E46F-E0B2-4455-A413-733E84E7B9DB}" type="slidenum">
              <a:rPr lang="en-US" smtClean="0"/>
              <a:t>14</a:t>
            </a:fld>
            <a:endParaRPr lang="en-US"/>
          </a:p>
        </p:txBody>
      </p:sp>
    </p:spTree>
    <p:extLst>
      <p:ext uri="{BB962C8B-B14F-4D97-AF65-F5344CB8AC3E}">
        <p14:creationId xmlns:p14="http://schemas.microsoft.com/office/powerpoint/2010/main" val="30085841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synthesize the technical architecture that made this breakthrough possible. </a:t>
                </a:r>
              </a:p>
              <a:p>
                <a:r>
                  <a:rPr lang="en-US" sz="1200" kern="1200" dirty="0">
                    <a:solidFill>
                      <a:schemeClr val="tx1"/>
                    </a:solidFill>
                    <a:effectLst/>
                    <a:latin typeface="+mn-lt"/>
                    <a:ea typeface="+mn-ea"/>
                    <a:cs typeface="+mn-cs"/>
                  </a:rPr>
                  <a:t>On the left, you see the </a:t>
                </a:r>
                <a:r>
                  <a:rPr lang="en-US" sz="1200" b="1" kern="1200" dirty="0">
                    <a:solidFill>
                      <a:schemeClr val="tx1"/>
                    </a:solidFill>
                    <a:effectLst/>
                    <a:latin typeface="+mn-lt"/>
                    <a:ea typeface="+mn-ea"/>
                    <a:cs typeface="+mn-cs"/>
                  </a:rPr>
                  <a:t>8-Loop Barrier</a:t>
                </a:r>
                <a:r>
                  <a:rPr lang="en-US" sz="1200" kern="1200" dirty="0">
                    <a:solidFill>
                      <a:schemeClr val="tx1"/>
                    </a:solidFill>
                    <a:effectLst/>
                    <a:latin typeface="+mn-lt"/>
                    <a:ea typeface="+mn-ea"/>
                    <a:cs typeface="+mn-cs"/>
                  </a:rPr>
                  <a:t> that defined the theoretical physics frontier prior to 2026. Breaking through required managing a symbol space containing </a:t>
                </a:r>
                <a:r>
                  <a:rPr lang="en-US" sz="1200" b="1" kern="1200" dirty="0">
                    <a:solidFill>
                      <a:schemeClr val="tx1"/>
                    </a:solidFill>
                    <a:effectLst/>
                    <a:latin typeface="+mn-lt"/>
                    <a:ea typeface="+mn-ea"/>
                    <a:cs typeface="+mn-cs"/>
                  </a:rPr>
                  <a:t>30 billion non-zero terms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Claude's contribution was acting as an agentic bridge between high-level physics literature and low-level code execution. </a:t>
                </a:r>
              </a:p>
              <a:p>
                <a:pPr marL="228600" lvl="0" indent="-228600">
                  <a:buFont typeface="Arial" panose="020B0604020202020204" pitchFamily="34" charset="0"/>
                  <a:buChar char="•"/>
                </a:pPr>
                <a:r>
                  <a:rPr lang="en-US" sz="1200" kern="1200" dirty="0">
                    <a:solidFill>
                      <a:schemeClr val="tx1"/>
                    </a:solidFill>
                    <a:effectLst/>
                    <a:latin typeface="+mn-lt"/>
                    <a:ea typeface="+mn-ea"/>
                    <a:cs typeface="+mn-cs"/>
                  </a:rPr>
                  <a:t>It set up </a:t>
                </a:r>
                <a:r>
                  <a:rPr lang="en-US" sz="1200" b="1" kern="1200" dirty="0">
                    <a:solidFill>
                      <a:schemeClr val="tx1"/>
                    </a:solidFill>
                    <a:effectLst/>
                    <a:latin typeface="+mn-lt"/>
                    <a:ea typeface="+mn-ea"/>
                    <a:cs typeface="+mn-cs"/>
                  </a:rPr>
                  <a:t>Route 1</a:t>
                </a:r>
                <a:r>
                  <a:rPr lang="en-US" sz="1200" kern="1200" dirty="0">
                    <a:solidFill>
                      <a:schemeClr val="tx1"/>
                    </a:solidFill>
                    <a:effectLst/>
                    <a:latin typeface="+mn-lt"/>
                    <a:ea typeface="+mn-ea"/>
                    <a:cs typeface="+mn-cs"/>
                  </a:rPr>
                  <a:t>, generating linear systems directly inside the hexagon function space. </a:t>
                </a:r>
              </a:p>
              <a:p>
                <a:pPr marL="228600" lvl="0" indent="-228600">
                  <a:buFont typeface="Arial" panose="020B0604020202020204" pitchFamily="34" charset="0"/>
                  <a:buChar char="•"/>
                </a:pPr>
                <a:r>
                  <a:rPr lang="en-US" sz="1200" kern="1200" dirty="0">
                    <a:solidFill>
                      <a:schemeClr val="tx1"/>
                    </a:solidFill>
                    <a:effectLst/>
                    <a:latin typeface="+mn-lt"/>
                    <a:ea typeface="+mn-ea"/>
                    <a:cs typeface="+mn-cs"/>
                  </a:rPr>
                  <a:t>Simultaneously, it set up </a:t>
                </a:r>
                <a:r>
                  <a:rPr lang="en-US" sz="1200" b="1" kern="1200" dirty="0">
                    <a:solidFill>
                      <a:schemeClr val="tx1"/>
                    </a:solidFill>
                    <a:effectLst/>
                    <a:latin typeface="+mn-lt"/>
                    <a:ea typeface="+mn-ea"/>
                    <a:cs typeface="+mn-cs"/>
                  </a:rPr>
                  <a:t>Route 2</a:t>
                </a:r>
                <a:r>
                  <a:rPr lang="en-US" sz="1200" kern="1200" dirty="0">
                    <a:solidFill>
                      <a:schemeClr val="tx1"/>
                    </a:solidFill>
                    <a:effectLst/>
                    <a:latin typeface="+mn-lt"/>
                    <a:ea typeface="+mn-ea"/>
                    <a:cs typeface="+mn-cs"/>
                  </a:rPr>
                  <a:t>, computing form factor symbols, applying the antipodal duality letter-reversal mirror, and projecting onto the </a:t>
                </a:r>
                <a14:m>
                  <m:oMath xmlns:m="http://schemas.openxmlformats.org/officeDocument/2006/math">
                    <m:r>
                      <a:rPr lang="en-US" sz="1200" i="1" kern="1200" smtClean="0">
                        <a:solidFill>
                          <a:schemeClr val="tx1"/>
                        </a:solidFill>
                        <a:latin typeface="Cambria Math" panose="02040503050406030204" pitchFamily="18" charset="0"/>
                        <a:ea typeface="+mn-ea"/>
                        <a:cs typeface="+mn-cs"/>
                      </a:rPr>
                      <m:t>𝛿</m:t>
                    </m:r>
                    <m:r>
                      <a:rPr lang="en-US" sz="1200" i="0" kern="1200">
                        <a:solidFill>
                          <a:schemeClr val="tx1"/>
                        </a:solidFill>
                        <a:latin typeface="Cambria Math" panose="02040503050406030204" pitchFamily="18" charset="0"/>
                        <a:ea typeface="+mn-ea"/>
                        <a:cs typeface="+mn-cs"/>
                      </a:rPr>
                      <m:t>=0</m:t>
                    </m:r>
                  </m:oMath>
                </a14:m>
                <a:r>
                  <a:rPr lang="en-US" sz="1200" kern="1200" dirty="0">
                    <a:solidFill>
                      <a:schemeClr val="tx1"/>
                    </a:solidFill>
                    <a:effectLst/>
                    <a:latin typeface="+mn-lt"/>
                    <a:ea typeface="+mn-ea"/>
                    <a:cs typeface="+mn-cs"/>
                  </a:rPr>
                  <a:t>kinematic plane. </a:t>
                </a:r>
              </a:p>
              <a:p>
                <a:r>
                  <a:rPr lang="en-US" sz="1200" kern="1200" dirty="0">
                    <a:solidFill>
                      <a:schemeClr val="tx1"/>
                    </a:solidFill>
                    <a:effectLst/>
                    <a:latin typeface="+mn-lt"/>
                    <a:ea typeface="+mn-ea"/>
                    <a:cs typeface="+mn-cs"/>
                  </a:rPr>
                  <a:t>When both routes finished, the system achieved </a:t>
                </a:r>
                <a:r>
                  <a:rPr lang="en-US" sz="1200" b="1" kern="1200" dirty="0">
                    <a:solidFill>
                      <a:schemeClr val="tx1"/>
                    </a:solidFill>
                    <a:effectLst/>
                    <a:latin typeface="+mn-lt"/>
                    <a:ea typeface="+mn-ea"/>
                    <a:cs typeface="+mn-cs"/>
                  </a:rPr>
                  <a:t>100% agreement across all 107,053 determining coefficients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All of this was accomplished for roughly $100 in traditional CPU compute and $1,000 to $2,000 in agentic LLM reasoning calls. This proves that long-horizon agentic workflows can execute multi-step scientific research at a fraction of the expected financial and computational cost." </a:t>
                </a:r>
              </a:p>
              <a:p>
                <a:endParaRPr lang="en-US" dirty="0"/>
              </a:p>
            </p:txBody>
          </p:sp>
        </mc:Choice>
        <mc:Fallback xmlns="">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synthesize the technical architecture that made this breakthrough possible. </a:t>
                </a:r>
              </a:p>
              <a:p>
                <a:r>
                  <a:rPr lang="en-US" sz="1200" kern="1200" dirty="0">
                    <a:solidFill>
                      <a:schemeClr val="tx1"/>
                    </a:solidFill>
                    <a:effectLst/>
                    <a:latin typeface="+mn-lt"/>
                    <a:ea typeface="+mn-ea"/>
                    <a:cs typeface="+mn-cs"/>
                  </a:rPr>
                  <a:t>On the left, you see the </a:t>
                </a:r>
                <a:r>
                  <a:rPr lang="en-US" sz="1200" b="1" kern="1200" dirty="0">
                    <a:solidFill>
                      <a:schemeClr val="tx1"/>
                    </a:solidFill>
                    <a:effectLst/>
                    <a:latin typeface="+mn-lt"/>
                    <a:ea typeface="+mn-ea"/>
                    <a:cs typeface="+mn-cs"/>
                  </a:rPr>
                  <a:t>8-Loop Barrier</a:t>
                </a:r>
                <a:r>
                  <a:rPr lang="en-US" sz="1200" kern="1200" dirty="0">
                    <a:solidFill>
                      <a:schemeClr val="tx1"/>
                    </a:solidFill>
                    <a:effectLst/>
                    <a:latin typeface="+mn-lt"/>
                    <a:ea typeface="+mn-ea"/>
                    <a:cs typeface="+mn-cs"/>
                  </a:rPr>
                  <a:t> that defined the theoretical physics frontier prior to 2026. Breaking through required managing a symbol space containing </a:t>
                </a:r>
                <a:r>
                  <a:rPr lang="en-US" sz="1200" b="1" kern="1200" dirty="0">
                    <a:solidFill>
                      <a:schemeClr val="tx1"/>
                    </a:solidFill>
                    <a:effectLst/>
                    <a:latin typeface="+mn-lt"/>
                    <a:ea typeface="+mn-ea"/>
                    <a:cs typeface="+mn-cs"/>
                  </a:rPr>
                  <a:t>30 billion non-zero terms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Claude's contribution was acting as an agentic bridge between high-level physics literature and low-level code execution. </a:t>
                </a:r>
              </a:p>
              <a:p>
                <a:pPr marL="228600" lvl="0" indent="-228600">
                  <a:buFont typeface="Arial" panose="020B0604020202020204" pitchFamily="34" charset="0"/>
                  <a:buChar char="•"/>
                </a:pPr>
                <a:r>
                  <a:rPr lang="en-US" sz="1200" kern="1200" dirty="0">
                    <a:solidFill>
                      <a:schemeClr val="tx1"/>
                    </a:solidFill>
                    <a:effectLst/>
                    <a:latin typeface="+mn-lt"/>
                    <a:ea typeface="+mn-ea"/>
                    <a:cs typeface="+mn-cs"/>
                  </a:rPr>
                  <a:t>It set up </a:t>
                </a:r>
                <a:r>
                  <a:rPr lang="en-US" sz="1200" b="1" kern="1200" dirty="0">
                    <a:solidFill>
                      <a:schemeClr val="tx1"/>
                    </a:solidFill>
                    <a:effectLst/>
                    <a:latin typeface="+mn-lt"/>
                    <a:ea typeface="+mn-ea"/>
                    <a:cs typeface="+mn-cs"/>
                  </a:rPr>
                  <a:t>Route 1</a:t>
                </a:r>
                <a:r>
                  <a:rPr lang="en-US" sz="1200" kern="1200" dirty="0">
                    <a:solidFill>
                      <a:schemeClr val="tx1"/>
                    </a:solidFill>
                    <a:effectLst/>
                    <a:latin typeface="+mn-lt"/>
                    <a:ea typeface="+mn-ea"/>
                    <a:cs typeface="+mn-cs"/>
                  </a:rPr>
                  <a:t>, generating linear systems directly inside the hexagon function space. </a:t>
                </a:r>
              </a:p>
              <a:p>
                <a:pPr marL="228600" lvl="0" indent="-228600">
                  <a:buFont typeface="Arial" panose="020B0604020202020204" pitchFamily="34" charset="0"/>
                  <a:buChar char="•"/>
                </a:pPr>
                <a:r>
                  <a:rPr lang="en-US" sz="1200" kern="1200" dirty="0">
                    <a:solidFill>
                      <a:schemeClr val="tx1"/>
                    </a:solidFill>
                    <a:effectLst/>
                    <a:latin typeface="+mn-lt"/>
                    <a:ea typeface="+mn-ea"/>
                    <a:cs typeface="+mn-cs"/>
                  </a:rPr>
                  <a:t>Simultaneously, it set up </a:t>
                </a:r>
                <a:r>
                  <a:rPr lang="en-US" sz="1200" b="1" kern="1200" dirty="0">
                    <a:solidFill>
                      <a:schemeClr val="tx1"/>
                    </a:solidFill>
                    <a:effectLst/>
                    <a:latin typeface="+mn-lt"/>
                    <a:ea typeface="+mn-ea"/>
                    <a:cs typeface="+mn-cs"/>
                  </a:rPr>
                  <a:t>Route 2</a:t>
                </a:r>
                <a:r>
                  <a:rPr lang="en-US" sz="1200" kern="1200" dirty="0">
                    <a:solidFill>
                      <a:schemeClr val="tx1"/>
                    </a:solidFill>
                    <a:effectLst/>
                    <a:latin typeface="+mn-lt"/>
                    <a:ea typeface="+mn-ea"/>
                    <a:cs typeface="+mn-cs"/>
                  </a:rPr>
                  <a:t>, computing form factor symbols, applying the antipodal duality letter-reversal mirror, and projecting onto the </a:t>
                </a:r>
                <a:r>
                  <a:rPr lang="en-US" sz="1200" i="0" kern="1200">
                    <a:solidFill>
                      <a:schemeClr val="tx1"/>
                    </a:solidFill>
                    <a:latin typeface="+mn-lt"/>
                    <a:ea typeface="+mn-ea"/>
                    <a:cs typeface="+mn-cs"/>
                  </a:rPr>
                  <a:t>𝛿=0</a:t>
                </a:r>
                <a:r>
                  <a:rPr lang="en-US" sz="1200" kern="1200" dirty="0">
                    <a:solidFill>
                      <a:schemeClr val="tx1"/>
                    </a:solidFill>
                    <a:effectLst/>
                    <a:latin typeface="+mn-lt"/>
                    <a:ea typeface="+mn-ea"/>
                    <a:cs typeface="+mn-cs"/>
                  </a:rPr>
                  <a:t>kinematic plane. </a:t>
                </a:r>
              </a:p>
              <a:p>
                <a:r>
                  <a:rPr lang="en-US" sz="1200" kern="1200" dirty="0">
                    <a:solidFill>
                      <a:schemeClr val="tx1"/>
                    </a:solidFill>
                    <a:effectLst/>
                    <a:latin typeface="+mn-lt"/>
                    <a:ea typeface="+mn-ea"/>
                    <a:cs typeface="+mn-cs"/>
                  </a:rPr>
                  <a:t>When both routes finished, the system achieved </a:t>
                </a:r>
                <a:r>
                  <a:rPr lang="en-US" sz="1200" b="1" kern="1200" dirty="0">
                    <a:solidFill>
                      <a:schemeClr val="tx1"/>
                    </a:solidFill>
                    <a:effectLst/>
                    <a:latin typeface="+mn-lt"/>
                    <a:ea typeface="+mn-ea"/>
                    <a:cs typeface="+mn-cs"/>
                  </a:rPr>
                  <a:t>100% agreement across all 107,053 determining coefficients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All of this was accomplished for roughly $100 in traditional CPU compute and $1,000 to $2,000 in agentic LLM reasoning calls. This proves that long-horizon agentic workflows can execute multi-step scientific research at a fraction of the expected financial and computational cost." </a:t>
                </a:r>
              </a:p>
              <a:p>
                <a:endParaRPr lang="en-US" dirty="0"/>
              </a:p>
            </p:txBody>
          </p:sp>
        </mc:Fallback>
      </mc:AlternateContent>
      <p:sp>
        <p:nvSpPr>
          <p:cNvPr id="4" name="Slide Number Placeholder 3"/>
          <p:cNvSpPr>
            <a:spLocks noGrp="1"/>
          </p:cNvSpPr>
          <p:nvPr>
            <p:ph type="sldNum" sz="quarter" idx="5"/>
          </p:nvPr>
        </p:nvSpPr>
        <p:spPr/>
        <p:txBody>
          <a:bodyPr/>
          <a:lstStyle/>
          <a:p>
            <a:fld id="{15E6E46F-E0B2-4455-A413-733E84E7B9DB}" type="slidenum">
              <a:rPr lang="en-US" smtClean="0"/>
              <a:t>15</a:t>
            </a:fld>
            <a:endParaRPr lang="en-US"/>
          </a:p>
        </p:txBody>
      </p:sp>
    </p:spTree>
    <p:extLst>
      <p:ext uri="{BB962C8B-B14F-4D97-AF65-F5344CB8AC3E}">
        <p14:creationId xmlns:p14="http://schemas.microsoft.com/office/powerpoint/2010/main" val="886945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conclude, let me summarize what this breakthrough represents—and what comes next. </a:t>
            </a:r>
          </a:p>
          <a:p>
            <a:r>
              <a:rPr lang="en-US" sz="1200" kern="1200" dirty="0" err="1">
                <a:solidFill>
                  <a:schemeClr val="tx1"/>
                </a:solidFill>
                <a:effectLst/>
                <a:latin typeface="+mn-lt"/>
                <a:ea typeface="+mn-ea"/>
                <a:cs typeface="+mn-cs"/>
              </a:rPr>
              <a:t>Anthropic’s</a:t>
            </a:r>
            <a:r>
              <a:rPr lang="en-US" sz="1200" kern="1200" dirty="0">
                <a:solidFill>
                  <a:schemeClr val="tx1"/>
                </a:solidFill>
                <a:effectLst/>
                <a:latin typeface="+mn-lt"/>
                <a:ea typeface="+mn-ea"/>
                <a:cs typeface="+mn-cs"/>
              </a:rPr>
              <a:t> Claude did not discover a new law of nature, invent a new particle, or replace theoretical physicists. What it did was demonstrate that modern AI research agents can stand on top of human theoretical frameworks, take over complex coding and debugging workflows, and push frontier research calculations past longstanding attention bottlenecks. </a:t>
            </a:r>
          </a:p>
          <a:p>
            <a:r>
              <a:rPr lang="en-US" sz="1200" kern="1200" dirty="0">
                <a:solidFill>
                  <a:schemeClr val="tx1"/>
                </a:solidFill>
                <a:effectLst/>
                <a:latin typeface="+mn-lt"/>
                <a:ea typeface="+mn-ea"/>
                <a:cs typeface="+mn-cs"/>
              </a:rPr>
              <a:t>We have entered an era where the boundary of scientific progress is no longer defined solely by how many hours a human scientist can spend debugging C++ code or checking algebraic constraints. </a:t>
            </a:r>
          </a:p>
          <a:p>
            <a:r>
              <a:rPr lang="en-US" sz="1200" kern="1200" dirty="0">
                <a:solidFill>
                  <a:schemeClr val="tx1"/>
                </a:solidFill>
                <a:effectLst/>
                <a:latin typeface="+mn-lt"/>
                <a:ea typeface="+mn-ea"/>
                <a:cs typeface="+mn-cs"/>
              </a:rPr>
              <a:t>As we look ahead, the exciting question is not just how many 'patience barriers' we can collapse using AI rovers, but what happens when AI agents begin assisting humans in drawing the map itself. </a:t>
            </a:r>
          </a:p>
          <a:p>
            <a:r>
              <a:rPr lang="en-US" sz="1200" kern="1200" dirty="0">
                <a:solidFill>
                  <a:schemeClr val="tx1"/>
                </a:solidFill>
                <a:effectLst/>
                <a:latin typeface="+mn-lt"/>
                <a:ea typeface="+mn-ea"/>
                <a:cs typeface="+mn-cs"/>
              </a:rPr>
              <a:t>Thank you very much. I am now happy to open the floor to any questions." </a:t>
            </a:r>
          </a:p>
          <a:p>
            <a:endParaRPr lang="en-US" dirty="0"/>
          </a:p>
          <a:p>
            <a:endParaRPr lang="en-US" dirty="0"/>
          </a:p>
          <a:p>
            <a:endParaRPr lang="en-US" dirty="0"/>
          </a:p>
          <a:p>
            <a:endParaRPr lang="en-US" dirty="0"/>
          </a:p>
          <a:p>
            <a:endParaRPr lang="en-US" dirty="0"/>
          </a:p>
          <a:p>
            <a:r>
              <a:rPr lang="en-US" b="1" dirty="0" err="1"/>
              <a:t>Anthropic’s</a:t>
            </a:r>
            <a:r>
              <a:rPr lang="en-US" b="1" dirty="0"/>
              <a:t> Claude Just Solved a 9-Loop Physics Problem — Here’s What It Means</a:t>
            </a:r>
          </a:p>
          <a:p>
            <a:r>
              <a:rPr lang="en-US" dirty="0"/>
              <a:t>https://www.youtube.com/watch?v=QI3v6cU6dGc</a:t>
            </a:r>
          </a:p>
        </p:txBody>
      </p:sp>
      <p:sp>
        <p:nvSpPr>
          <p:cNvPr id="4" name="Slide Number Placeholder 3"/>
          <p:cNvSpPr>
            <a:spLocks noGrp="1"/>
          </p:cNvSpPr>
          <p:nvPr>
            <p:ph type="sldNum" sz="quarter" idx="5"/>
          </p:nvPr>
        </p:nvSpPr>
        <p:spPr/>
        <p:txBody>
          <a:bodyPr/>
          <a:lstStyle/>
          <a:p>
            <a:fld id="{15E6E46F-E0B2-4455-A413-733E84E7B9DB}" type="slidenum">
              <a:rPr lang="en-US" smtClean="0"/>
              <a:t>16</a:t>
            </a:fld>
            <a:endParaRPr lang="en-US"/>
          </a:p>
        </p:txBody>
      </p:sp>
    </p:spTree>
    <p:extLst>
      <p:ext uri="{BB962C8B-B14F-4D97-AF65-F5344CB8AC3E}">
        <p14:creationId xmlns:p14="http://schemas.microsoft.com/office/powerpoint/2010/main" val="10512252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8C455C-B8AA-8B6D-181A-753252E53610}"/>
              </a:ext>
            </a:extLst>
          </p:cNvPr>
          <p:cNvSpPr>
            <a:spLocks noGrp="1"/>
          </p:cNvSpPr>
          <p:nvPr>
            <p:ph type="dt" sz="half" idx="10"/>
          </p:nvPr>
        </p:nvSpPr>
        <p:spPr/>
        <p:txBody>
          <a:bodyPr/>
          <a:lstStyle/>
          <a:p>
            <a:fld id="{C0F5631E-906F-4EE4-A06D-FB949EA86AB5}" type="datetimeFigureOut">
              <a:rPr lang="en-US" smtClean="0"/>
              <a:t>10/21/2026</a:t>
            </a:fld>
            <a:endParaRPr lang="en-US"/>
          </a:p>
        </p:txBody>
      </p:sp>
      <p:sp>
        <p:nvSpPr>
          <p:cNvPr id="3" name="Footer Placeholder 2">
            <a:extLst>
              <a:ext uri="{FF2B5EF4-FFF2-40B4-BE49-F238E27FC236}">
                <a16:creationId xmlns:a16="http://schemas.microsoft.com/office/drawing/2014/main" id="{E7642C0C-931A-2C1D-7F61-1B8EA65CCE8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A357CFB-15E4-A383-5F18-788D1CBD8355}"/>
              </a:ext>
            </a:extLst>
          </p:cNvPr>
          <p:cNvSpPr>
            <a:spLocks noGrp="1"/>
          </p:cNvSpPr>
          <p:nvPr>
            <p:ph type="sldNum" sz="quarter" idx="12"/>
          </p:nvPr>
        </p:nvSpPr>
        <p:spPr/>
        <p:txBody>
          <a:bodyPr/>
          <a:lstStyle/>
          <a:p>
            <a:fld id="{6EC05F8C-5DF0-42F4-B56E-FB475D63C6BF}" type="slidenum">
              <a:rPr lang="en-US" smtClean="0"/>
              <a:t>‹#›</a:t>
            </a:fld>
            <a:endParaRPr lang="en-US"/>
          </a:p>
        </p:txBody>
      </p:sp>
    </p:spTree>
    <p:extLst>
      <p:ext uri="{BB962C8B-B14F-4D97-AF65-F5344CB8AC3E}">
        <p14:creationId xmlns:p14="http://schemas.microsoft.com/office/powerpoint/2010/main" val="139245604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27FE10-3F52-8988-E623-AEFDFBC754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9413952-8A5C-AD5B-2A48-C63856B53D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C43CD8-2151-4026-3837-C64146E33D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0F5631E-906F-4EE4-A06D-FB949EA86AB5}" type="datetimeFigureOut">
              <a:rPr lang="en-US" smtClean="0"/>
              <a:t>10/21/2026</a:t>
            </a:fld>
            <a:endParaRPr lang="en-US"/>
          </a:p>
        </p:txBody>
      </p:sp>
      <p:sp>
        <p:nvSpPr>
          <p:cNvPr id="5" name="Footer Placeholder 4">
            <a:extLst>
              <a:ext uri="{FF2B5EF4-FFF2-40B4-BE49-F238E27FC236}">
                <a16:creationId xmlns:a16="http://schemas.microsoft.com/office/drawing/2014/main" id="{7C1C76CC-A86C-596D-7219-EB721DD6DF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35CF6EB-4EB8-F6B7-E529-B3287B237CC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C05F8C-5DF0-42F4-B56E-FB475D63C6BF}" type="slidenum">
              <a:rPr lang="en-US" smtClean="0"/>
              <a:t>‹#›</a:t>
            </a:fld>
            <a:endParaRPr lang="en-US"/>
          </a:p>
        </p:txBody>
      </p:sp>
    </p:spTree>
    <p:extLst>
      <p:ext uri="{BB962C8B-B14F-4D97-AF65-F5344CB8AC3E}">
        <p14:creationId xmlns:p14="http://schemas.microsoft.com/office/powerpoint/2010/main" val="3269538284"/>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3066F36-CF7B-4809-2CEC-6E77B40061E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5AAD06C-29DD-3CE0-FD4B-5B8D49BE896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2D61953-6B0B-5A1A-F048-A78DF52AAA4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2945D1F-3B97-22C8-474D-F99770FE467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C07CF51-27E8-8CEF-5B91-AEDF51785D0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46288C4-672C-B127-D940-A47B2CDDEB0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607E0C-94D4-DFF8-7304-137107CB53A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5704C2-2BE2-3840-4916-E14764D8034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DC36D0D-31B5-636A-4A87-E59FEDDF0C3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508BC17-5090-282C-FCD4-26C74B5C9A3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CCAE340-49D6-FC0A-1BEE-622CFCA1C8D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10484BD-FF90-8F30-0CFA-300932F79B3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9939D60-767D-673C-3E0C-C98768CFEE0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2B6F86A-469D-A7AC-DE8F-3259EA324DD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DE3997F-3EE3-5E22-57DE-742874C9602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B4EB2A9-04F0-204E-8D52-6C7956BC9883}"/>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28187665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3298</Words>
  <Application>Microsoft Office PowerPoint</Application>
  <PresentationFormat>寬螢幕</PresentationFormat>
  <Paragraphs>136</Paragraphs>
  <Slides>16</Slides>
  <Notes>16</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16</vt:i4>
      </vt:variant>
    </vt:vector>
  </HeadingPairs>
  <TitlesOfParts>
    <vt:vector size="21" baseType="lpstr">
      <vt:lpstr>Aptos</vt:lpstr>
      <vt:lpstr>Aptos Display</vt:lpstr>
      <vt:lpstr>Arial</vt:lpstr>
      <vt:lpstr>Cambria Math</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2026-09-29T02:48:20Z</dcterms:created>
  <dcterms:modified xsi:type="dcterms:W3CDTF">2026-10-21T02:44:17Z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9f47bb8-b38e-408b-b78b-bb41e7d66ecb_Enabled">
    <vt:lpwstr>true</vt:lpwstr>
  </property>
  <property fmtid="{D5CDD505-2E9C-101B-9397-08002B2CF9AE}" pid="3" name="MSIP_Label_d9f47bb8-b38e-408b-b78b-bb41e7d66ecb_SetDate">
    <vt:lpwstr>2026-09-29T11:41:00Z</vt:lpwstr>
  </property>
  <property fmtid="{D5CDD505-2E9C-101B-9397-08002B2CF9AE}" pid="4" name="MSIP_Label_d9f47bb8-b38e-408b-b78b-bb41e7d66ecb_Method">
    <vt:lpwstr>Standard</vt:lpwstr>
  </property>
  <property fmtid="{D5CDD505-2E9C-101B-9397-08002B2CF9AE}" pid="5" name="MSIP_Label_d9f47bb8-b38e-408b-b78b-bb41e7d66ecb_Name">
    <vt:lpwstr>Public</vt:lpwstr>
  </property>
  <property fmtid="{D5CDD505-2E9C-101B-9397-08002B2CF9AE}" pid="6" name="MSIP_Label_d9f47bb8-b38e-408b-b78b-bb41e7d66ecb_SiteId">
    <vt:lpwstr>70ebe3a3-5b30-435d-9d67-7716d74ca190</vt:lpwstr>
  </property>
  <property fmtid="{D5CDD505-2E9C-101B-9397-08002B2CF9AE}" pid="7" name="MSIP_Label_d9f47bb8-b38e-408b-b78b-bb41e7d66ecb_ActionId">
    <vt:lpwstr>d13c8161-f829-43d5-b9cb-738f0b48c9d7</vt:lpwstr>
  </property>
  <property fmtid="{D5CDD505-2E9C-101B-9397-08002B2CF9AE}" pid="8" name="MSIP_Label_d9f47bb8-b38e-408b-b78b-bb41e7d66ecb_Provider">
    <vt:lpwstr>Varonis.Labeling</vt:lpwstr>
  </property>
  <property fmtid="{D5CDD505-2E9C-101B-9397-08002B2CF9AE}" pid="9" name="MSIP_Label_d9f47bb8-b38e-408b-b78b-bb41e7d66ecb_ContentBits">
    <vt:lpwstr>0</vt:lpwstr>
  </property>
</Properties>
</file>