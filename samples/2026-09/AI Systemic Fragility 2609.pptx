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3BA787-3AD3-4B80-91B6-A415532E6E54}" v="23" dt="2026-09-23T03:29:33.3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6182"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23T03:30:08.829" v="68" actId="166"/>
      <pc:docMkLst>
        <pc:docMk/>
      </pc:docMkLst>
      <pc:sldChg chg="addSp delSp modSp mod modAnim modNotes modNotesTx">
        <pc:chgData name="Lai, Wilson" userId="2840974a-0d84-4886-90a9-9a3ed79f3a48" providerId="ADAL" clId="{9F23B798-9E84-4552-BA63-E776E805C424}" dt="2026-09-23T03:30:08.829" v="68" actId="166"/>
        <pc:sldMkLst>
          <pc:docMk/>
          <pc:sldMk cId="0" sldId="258"/>
        </pc:sldMkLst>
        <pc:spChg chg="add mod">
          <ac:chgData name="Lai, Wilson" userId="2840974a-0d84-4886-90a9-9a3ed79f3a48" providerId="ADAL" clId="{9F23B798-9E84-4552-BA63-E776E805C424}" dt="2026-09-22T14:07:05.433" v="12" actId="164"/>
          <ac:spMkLst>
            <pc:docMk/>
            <pc:sldMk cId="0" sldId="258"/>
            <ac:spMk id="5" creationId="{C03E7F35-2DEB-BA3A-1D63-6CF108C293BE}"/>
          </ac:spMkLst>
        </pc:spChg>
        <pc:grpChg chg="add mod">
          <ac:chgData name="Lai, Wilson" userId="2840974a-0d84-4886-90a9-9a3ed79f3a48" providerId="ADAL" clId="{9F23B798-9E84-4552-BA63-E776E805C424}" dt="2026-09-22T14:07:15.002" v="17" actId="1076"/>
          <ac:grpSpMkLst>
            <pc:docMk/>
            <pc:sldMk cId="0" sldId="258"/>
            <ac:grpSpMk id="6" creationId="{3170A4BB-62DA-BCA2-0168-F2430C9878F6}"/>
          </ac:grpSpMkLst>
        </pc:grpChg>
        <pc:picChg chg="del mod">
          <ac:chgData name="Lai, Wilson" userId="2840974a-0d84-4886-90a9-9a3ed79f3a48" providerId="ADAL" clId="{9F23B798-9E84-4552-BA63-E776E805C424}" dt="2026-09-22T14:08:56.400" v="18" actId="21"/>
          <ac:picMkLst>
            <pc:docMk/>
            <pc:sldMk cId="0" sldId="258"/>
            <ac:picMk id="2" creationId="{00000000-0000-0000-0000-000000000000}"/>
          </ac:picMkLst>
        </pc:picChg>
        <pc:picChg chg="add mod">
          <ac:chgData name="Lai, Wilson" userId="2840974a-0d84-4886-90a9-9a3ed79f3a48" providerId="ADAL" clId="{9F23B798-9E84-4552-BA63-E776E805C424}" dt="2026-09-22T14:07:05.433" v="12" actId="164"/>
          <ac:picMkLst>
            <pc:docMk/>
            <pc:sldMk cId="0" sldId="258"/>
            <ac:picMk id="3" creationId="{89898EAF-8455-E302-3065-B73493FC8976}"/>
          </ac:picMkLst>
        </pc:picChg>
        <pc:picChg chg="add ord">
          <ac:chgData name="Lai, Wilson" userId="2840974a-0d84-4886-90a9-9a3ed79f3a48" providerId="ADAL" clId="{9F23B798-9E84-4552-BA63-E776E805C424}" dt="2026-09-23T03:30:08.829" v="68" actId="166"/>
          <ac:picMkLst>
            <pc:docMk/>
            <pc:sldMk cId="0" sldId="258"/>
            <ac:picMk id="7" creationId="{6294BD4B-FEAC-D75F-18F9-A1FDF7B217F4}"/>
          </ac:picMkLst>
        </pc:picChg>
      </pc:sldChg>
      <pc:sldChg chg="addSp delSp mod modNotes">
        <pc:chgData name="Lai, Wilson" userId="2840974a-0d84-4886-90a9-9a3ed79f3a48" providerId="ADAL" clId="{9F23B798-9E84-4552-BA63-E776E805C424}" dt="2026-09-23T03:29:33.313" v="65"/>
        <pc:sldMkLst>
          <pc:docMk/>
          <pc:sldMk cId="0" sldId="259"/>
        </pc:sldMkLst>
        <pc:picChg chg="del">
          <ac:chgData name="Lai, Wilson" userId="2840974a-0d84-4886-90a9-9a3ed79f3a48" providerId="ADAL" clId="{9F23B798-9E84-4552-BA63-E776E805C424}" dt="2026-09-22T14:09:10.404" v="20" actId="21"/>
          <ac:picMkLst>
            <pc:docMk/>
            <pc:sldMk cId="0" sldId="259"/>
            <ac:picMk id="2" creationId="{00000000-0000-0000-0000-000000000000}"/>
          </ac:picMkLst>
        </pc:picChg>
        <pc:picChg chg="add">
          <ac:chgData name="Lai, Wilson" userId="2840974a-0d84-4886-90a9-9a3ed79f3a48" providerId="ADAL" clId="{9F23B798-9E84-4552-BA63-E776E805C424}" dt="2026-09-22T14:09:22.323" v="21" actId="22"/>
          <ac:picMkLst>
            <pc:docMk/>
            <pc:sldMk cId="0" sldId="259"/>
            <ac:picMk id="4" creationId="{F6CF44AA-9D79-A3A6-5F27-2A28F7D47310}"/>
          </ac:picMkLst>
        </pc:picChg>
      </pc:sldChg>
      <pc:sldChg chg="addSp delSp mod modNotes">
        <pc:chgData name="Lai, Wilson" userId="2840974a-0d84-4886-90a9-9a3ed79f3a48" providerId="ADAL" clId="{9F23B798-9E84-4552-BA63-E776E805C424}" dt="2026-09-23T03:29:33.313" v="65"/>
        <pc:sldMkLst>
          <pc:docMk/>
          <pc:sldMk cId="0" sldId="260"/>
        </pc:sldMkLst>
        <pc:picChg chg="del">
          <ac:chgData name="Lai, Wilson" userId="2840974a-0d84-4886-90a9-9a3ed79f3a48" providerId="ADAL" clId="{9F23B798-9E84-4552-BA63-E776E805C424}" dt="2026-09-22T14:09:23.638" v="22" actId="21"/>
          <ac:picMkLst>
            <pc:docMk/>
            <pc:sldMk cId="0" sldId="260"/>
            <ac:picMk id="2" creationId="{00000000-0000-0000-0000-000000000000}"/>
          </ac:picMkLst>
        </pc:picChg>
        <pc:picChg chg="add">
          <ac:chgData name="Lai, Wilson" userId="2840974a-0d84-4886-90a9-9a3ed79f3a48" providerId="ADAL" clId="{9F23B798-9E84-4552-BA63-E776E805C424}" dt="2026-09-22T14:09:32.976" v="23" actId="22"/>
          <ac:picMkLst>
            <pc:docMk/>
            <pc:sldMk cId="0" sldId="260"/>
            <ac:picMk id="4" creationId="{65FC9925-4A84-668B-20D3-88C9D23EBB6A}"/>
          </ac:picMkLst>
        </pc:picChg>
      </pc:sldChg>
      <pc:sldChg chg="addSp delSp mod modNotes">
        <pc:chgData name="Lai, Wilson" userId="2840974a-0d84-4886-90a9-9a3ed79f3a48" providerId="ADAL" clId="{9F23B798-9E84-4552-BA63-E776E805C424}" dt="2026-09-23T03:29:33.313" v="65"/>
        <pc:sldMkLst>
          <pc:docMk/>
          <pc:sldMk cId="0" sldId="261"/>
        </pc:sldMkLst>
        <pc:picChg chg="del">
          <ac:chgData name="Lai, Wilson" userId="2840974a-0d84-4886-90a9-9a3ed79f3a48" providerId="ADAL" clId="{9F23B798-9E84-4552-BA63-E776E805C424}" dt="2026-09-22T14:09:34.479" v="24" actId="21"/>
          <ac:picMkLst>
            <pc:docMk/>
            <pc:sldMk cId="0" sldId="261"/>
            <ac:picMk id="2" creationId="{00000000-0000-0000-0000-000000000000}"/>
          </ac:picMkLst>
        </pc:picChg>
        <pc:picChg chg="add">
          <ac:chgData name="Lai, Wilson" userId="2840974a-0d84-4886-90a9-9a3ed79f3a48" providerId="ADAL" clId="{9F23B798-9E84-4552-BA63-E776E805C424}" dt="2026-09-22T14:10:29.888" v="25" actId="22"/>
          <ac:picMkLst>
            <pc:docMk/>
            <pc:sldMk cId="0" sldId="261"/>
            <ac:picMk id="4" creationId="{CBD7E473-F2DB-617B-C4C5-69E916251FDA}"/>
          </ac:picMkLst>
        </pc:picChg>
      </pc:sldChg>
      <pc:sldChg chg="addSp delSp mod modNotes modNotesTx">
        <pc:chgData name="Lai, Wilson" userId="2840974a-0d84-4886-90a9-9a3ed79f3a48" providerId="ADAL" clId="{9F23B798-9E84-4552-BA63-E776E805C424}" dt="2026-09-23T03:29:33.313" v="65"/>
        <pc:sldMkLst>
          <pc:docMk/>
          <pc:sldMk cId="0" sldId="262"/>
        </pc:sldMkLst>
        <pc:picChg chg="del">
          <ac:chgData name="Lai, Wilson" userId="2840974a-0d84-4886-90a9-9a3ed79f3a48" providerId="ADAL" clId="{9F23B798-9E84-4552-BA63-E776E805C424}" dt="2026-09-22T14:10:31.825" v="26" actId="21"/>
          <ac:picMkLst>
            <pc:docMk/>
            <pc:sldMk cId="0" sldId="262"/>
            <ac:picMk id="2" creationId="{00000000-0000-0000-0000-000000000000}"/>
          </ac:picMkLst>
        </pc:picChg>
        <pc:picChg chg="add">
          <ac:chgData name="Lai, Wilson" userId="2840974a-0d84-4886-90a9-9a3ed79f3a48" providerId="ADAL" clId="{9F23B798-9E84-4552-BA63-E776E805C424}" dt="2026-09-22T14:10:39.800" v="27" actId="22"/>
          <ac:picMkLst>
            <pc:docMk/>
            <pc:sldMk cId="0" sldId="262"/>
            <ac:picMk id="4" creationId="{1D209541-B23F-5E80-044B-E6BD849F0569}"/>
          </ac:picMkLst>
        </pc:picChg>
      </pc:sldChg>
      <pc:sldChg chg="addSp delSp mod modNotes">
        <pc:chgData name="Lai, Wilson" userId="2840974a-0d84-4886-90a9-9a3ed79f3a48" providerId="ADAL" clId="{9F23B798-9E84-4552-BA63-E776E805C424}" dt="2026-09-23T03:29:33.313" v="65"/>
        <pc:sldMkLst>
          <pc:docMk/>
          <pc:sldMk cId="0" sldId="263"/>
        </pc:sldMkLst>
        <pc:picChg chg="del">
          <ac:chgData name="Lai, Wilson" userId="2840974a-0d84-4886-90a9-9a3ed79f3a48" providerId="ADAL" clId="{9F23B798-9E84-4552-BA63-E776E805C424}" dt="2026-09-22T14:10:41.431" v="28" actId="21"/>
          <ac:picMkLst>
            <pc:docMk/>
            <pc:sldMk cId="0" sldId="263"/>
            <ac:picMk id="2" creationId="{00000000-0000-0000-0000-000000000000}"/>
          </ac:picMkLst>
        </pc:picChg>
        <pc:picChg chg="add">
          <ac:chgData name="Lai, Wilson" userId="2840974a-0d84-4886-90a9-9a3ed79f3a48" providerId="ADAL" clId="{9F23B798-9E84-4552-BA63-E776E805C424}" dt="2026-09-22T14:11:02.887" v="29" actId="22"/>
          <ac:picMkLst>
            <pc:docMk/>
            <pc:sldMk cId="0" sldId="263"/>
            <ac:picMk id="4" creationId="{EB59E168-6583-9221-9476-74DBD06AFE73}"/>
          </ac:picMkLst>
        </pc:picChg>
      </pc:sldChg>
      <pc:sldChg chg="addSp delSp mod modNotes">
        <pc:chgData name="Lai, Wilson" userId="2840974a-0d84-4886-90a9-9a3ed79f3a48" providerId="ADAL" clId="{9F23B798-9E84-4552-BA63-E776E805C424}" dt="2026-09-23T03:29:33.313" v="65"/>
        <pc:sldMkLst>
          <pc:docMk/>
          <pc:sldMk cId="0" sldId="264"/>
        </pc:sldMkLst>
        <pc:picChg chg="del">
          <ac:chgData name="Lai, Wilson" userId="2840974a-0d84-4886-90a9-9a3ed79f3a48" providerId="ADAL" clId="{9F23B798-9E84-4552-BA63-E776E805C424}" dt="2026-09-22T14:11:04.119" v="30" actId="21"/>
          <ac:picMkLst>
            <pc:docMk/>
            <pc:sldMk cId="0" sldId="264"/>
            <ac:picMk id="2" creationId="{00000000-0000-0000-0000-000000000000}"/>
          </ac:picMkLst>
        </pc:picChg>
        <pc:picChg chg="add">
          <ac:chgData name="Lai, Wilson" userId="2840974a-0d84-4886-90a9-9a3ed79f3a48" providerId="ADAL" clId="{9F23B798-9E84-4552-BA63-E776E805C424}" dt="2026-09-22T14:11:11.174" v="31" actId="22"/>
          <ac:picMkLst>
            <pc:docMk/>
            <pc:sldMk cId="0" sldId="264"/>
            <ac:picMk id="4" creationId="{67C5CDBD-9C37-A5A1-B833-F90FC40535E0}"/>
          </ac:picMkLst>
        </pc:picChg>
      </pc:sldChg>
      <pc:sldChg chg="addSp delSp mod modNotes">
        <pc:chgData name="Lai, Wilson" userId="2840974a-0d84-4886-90a9-9a3ed79f3a48" providerId="ADAL" clId="{9F23B798-9E84-4552-BA63-E776E805C424}" dt="2026-09-23T03:29:33.313" v="65"/>
        <pc:sldMkLst>
          <pc:docMk/>
          <pc:sldMk cId="0" sldId="265"/>
        </pc:sldMkLst>
        <pc:picChg chg="del">
          <ac:chgData name="Lai, Wilson" userId="2840974a-0d84-4886-90a9-9a3ed79f3a48" providerId="ADAL" clId="{9F23B798-9E84-4552-BA63-E776E805C424}" dt="2026-09-22T14:11:12.504" v="32" actId="21"/>
          <ac:picMkLst>
            <pc:docMk/>
            <pc:sldMk cId="0" sldId="265"/>
            <ac:picMk id="2" creationId="{00000000-0000-0000-0000-000000000000}"/>
          </ac:picMkLst>
        </pc:picChg>
        <pc:picChg chg="add">
          <ac:chgData name="Lai, Wilson" userId="2840974a-0d84-4886-90a9-9a3ed79f3a48" providerId="ADAL" clId="{9F23B798-9E84-4552-BA63-E776E805C424}" dt="2026-09-22T14:11:19.031" v="33" actId="22"/>
          <ac:picMkLst>
            <pc:docMk/>
            <pc:sldMk cId="0" sldId="265"/>
            <ac:picMk id="4" creationId="{1E2E18B6-217D-7A8A-AC3E-E79265D7EEE2}"/>
          </ac:picMkLst>
        </pc:picChg>
      </pc:sldChg>
      <pc:sldChg chg="addSp delSp mod modNotes modNotesTx">
        <pc:chgData name="Lai, Wilson" userId="2840974a-0d84-4886-90a9-9a3ed79f3a48" providerId="ADAL" clId="{9F23B798-9E84-4552-BA63-E776E805C424}" dt="2026-09-23T03:29:33.313" v="65"/>
        <pc:sldMkLst>
          <pc:docMk/>
          <pc:sldMk cId="0" sldId="266"/>
        </pc:sldMkLst>
        <pc:picChg chg="del">
          <ac:chgData name="Lai, Wilson" userId="2840974a-0d84-4886-90a9-9a3ed79f3a48" providerId="ADAL" clId="{9F23B798-9E84-4552-BA63-E776E805C424}" dt="2026-09-22T14:11:20.280" v="34" actId="21"/>
          <ac:picMkLst>
            <pc:docMk/>
            <pc:sldMk cId="0" sldId="266"/>
            <ac:picMk id="2" creationId="{00000000-0000-0000-0000-000000000000}"/>
          </ac:picMkLst>
        </pc:picChg>
        <pc:picChg chg="add">
          <ac:chgData name="Lai, Wilson" userId="2840974a-0d84-4886-90a9-9a3ed79f3a48" providerId="ADAL" clId="{9F23B798-9E84-4552-BA63-E776E805C424}" dt="2026-09-22T14:11:26.904" v="35" actId="22"/>
          <ac:picMkLst>
            <pc:docMk/>
            <pc:sldMk cId="0" sldId="266"/>
            <ac:picMk id="4" creationId="{569AD845-B067-EBB8-70A1-4424A5DA1FBE}"/>
          </ac:picMkLst>
        </pc:picChg>
      </pc:sldChg>
      <pc:sldChg chg="addSp delSp mod modNotes">
        <pc:chgData name="Lai, Wilson" userId="2840974a-0d84-4886-90a9-9a3ed79f3a48" providerId="ADAL" clId="{9F23B798-9E84-4552-BA63-E776E805C424}" dt="2026-09-23T03:29:33.313" v="65"/>
        <pc:sldMkLst>
          <pc:docMk/>
          <pc:sldMk cId="0" sldId="267"/>
        </pc:sldMkLst>
        <pc:picChg chg="del">
          <ac:chgData name="Lai, Wilson" userId="2840974a-0d84-4886-90a9-9a3ed79f3a48" providerId="ADAL" clId="{9F23B798-9E84-4552-BA63-E776E805C424}" dt="2026-09-22T14:11:28.065" v="36" actId="21"/>
          <ac:picMkLst>
            <pc:docMk/>
            <pc:sldMk cId="0" sldId="267"/>
            <ac:picMk id="2" creationId="{00000000-0000-0000-0000-000000000000}"/>
          </ac:picMkLst>
        </pc:picChg>
        <pc:picChg chg="add">
          <ac:chgData name="Lai, Wilson" userId="2840974a-0d84-4886-90a9-9a3ed79f3a48" providerId="ADAL" clId="{9F23B798-9E84-4552-BA63-E776E805C424}" dt="2026-09-22T14:11:36.799" v="37" actId="22"/>
          <ac:picMkLst>
            <pc:docMk/>
            <pc:sldMk cId="0" sldId="267"/>
            <ac:picMk id="4" creationId="{C3874145-34BE-42CB-0A85-4D7E34C5438C}"/>
          </ac:picMkLst>
        </pc:picChg>
      </pc:sldChg>
      <pc:sldChg chg="addSp delSp mod modNotes">
        <pc:chgData name="Lai, Wilson" userId="2840974a-0d84-4886-90a9-9a3ed79f3a48" providerId="ADAL" clId="{9F23B798-9E84-4552-BA63-E776E805C424}" dt="2026-09-23T03:29:33.313" v="65"/>
        <pc:sldMkLst>
          <pc:docMk/>
          <pc:sldMk cId="0" sldId="268"/>
        </pc:sldMkLst>
        <pc:picChg chg="del">
          <ac:chgData name="Lai, Wilson" userId="2840974a-0d84-4886-90a9-9a3ed79f3a48" providerId="ADAL" clId="{9F23B798-9E84-4552-BA63-E776E805C424}" dt="2026-09-22T14:11:38.094" v="38" actId="21"/>
          <ac:picMkLst>
            <pc:docMk/>
            <pc:sldMk cId="0" sldId="268"/>
            <ac:picMk id="2" creationId="{00000000-0000-0000-0000-000000000000}"/>
          </ac:picMkLst>
        </pc:picChg>
        <pc:picChg chg="add">
          <ac:chgData name="Lai, Wilson" userId="2840974a-0d84-4886-90a9-9a3ed79f3a48" providerId="ADAL" clId="{9F23B798-9E84-4552-BA63-E776E805C424}" dt="2026-09-22T14:11:50.020" v="39" actId="22"/>
          <ac:picMkLst>
            <pc:docMk/>
            <pc:sldMk cId="0" sldId="268"/>
            <ac:picMk id="4" creationId="{C7DD70D5-5B2C-8ED9-65B1-CEEA1FE3A665}"/>
          </ac:picMkLst>
        </pc:picChg>
      </pc:sldChg>
      <pc:sldChg chg="addSp delSp mod modNotes modNotesTx">
        <pc:chgData name="Lai, Wilson" userId="2840974a-0d84-4886-90a9-9a3ed79f3a48" providerId="ADAL" clId="{9F23B798-9E84-4552-BA63-E776E805C424}" dt="2026-09-23T03:29:33.313" v="65"/>
        <pc:sldMkLst>
          <pc:docMk/>
          <pc:sldMk cId="0" sldId="269"/>
        </pc:sldMkLst>
        <pc:picChg chg="del">
          <ac:chgData name="Lai, Wilson" userId="2840974a-0d84-4886-90a9-9a3ed79f3a48" providerId="ADAL" clId="{9F23B798-9E84-4552-BA63-E776E805C424}" dt="2026-09-22T14:11:51.199" v="40" actId="21"/>
          <ac:picMkLst>
            <pc:docMk/>
            <pc:sldMk cId="0" sldId="269"/>
            <ac:picMk id="2" creationId="{00000000-0000-0000-0000-000000000000}"/>
          </ac:picMkLst>
        </pc:picChg>
        <pc:picChg chg="add">
          <ac:chgData name="Lai, Wilson" userId="2840974a-0d84-4886-90a9-9a3ed79f3a48" providerId="ADAL" clId="{9F23B798-9E84-4552-BA63-E776E805C424}" dt="2026-09-22T14:12:02.808" v="41" actId="22"/>
          <ac:picMkLst>
            <pc:docMk/>
            <pc:sldMk cId="0" sldId="269"/>
            <ac:picMk id="4" creationId="{81F4F082-9D93-A699-09DA-501F25CCCB12}"/>
          </ac:picMkLst>
        </pc:picChg>
      </pc:sldChg>
      <pc:sldChg chg="addSp delSp mod modNotes">
        <pc:chgData name="Lai, Wilson" userId="2840974a-0d84-4886-90a9-9a3ed79f3a48" providerId="ADAL" clId="{9F23B798-9E84-4552-BA63-E776E805C424}" dt="2026-09-23T03:29:33.313" v="65"/>
        <pc:sldMkLst>
          <pc:docMk/>
          <pc:sldMk cId="0" sldId="270"/>
        </pc:sldMkLst>
        <pc:picChg chg="del">
          <ac:chgData name="Lai, Wilson" userId="2840974a-0d84-4886-90a9-9a3ed79f3a48" providerId="ADAL" clId="{9F23B798-9E84-4552-BA63-E776E805C424}" dt="2026-09-22T14:12:05.558" v="42" actId="21"/>
          <ac:picMkLst>
            <pc:docMk/>
            <pc:sldMk cId="0" sldId="270"/>
            <ac:picMk id="2" creationId="{00000000-0000-0000-0000-000000000000}"/>
          </ac:picMkLst>
        </pc:picChg>
        <pc:picChg chg="add">
          <ac:chgData name="Lai, Wilson" userId="2840974a-0d84-4886-90a9-9a3ed79f3a48" providerId="ADAL" clId="{9F23B798-9E84-4552-BA63-E776E805C424}" dt="2026-09-22T14:12:15.690" v="43" actId="22"/>
          <ac:picMkLst>
            <pc:docMk/>
            <pc:sldMk cId="0" sldId="270"/>
            <ac:picMk id="4" creationId="{599A71BE-6037-74EE-CE84-9D2849FC6F0C}"/>
          </ac:picMkLst>
        </pc:picChg>
      </pc:sldChg>
      <pc:sldChg chg="addSp delSp mod modNotes">
        <pc:chgData name="Lai, Wilson" userId="2840974a-0d84-4886-90a9-9a3ed79f3a48" providerId="ADAL" clId="{9F23B798-9E84-4552-BA63-E776E805C424}" dt="2026-09-23T03:29:33.313" v="65"/>
        <pc:sldMkLst>
          <pc:docMk/>
          <pc:sldMk cId="0" sldId="271"/>
        </pc:sldMkLst>
        <pc:picChg chg="del">
          <ac:chgData name="Lai, Wilson" userId="2840974a-0d84-4886-90a9-9a3ed79f3a48" providerId="ADAL" clId="{9F23B798-9E84-4552-BA63-E776E805C424}" dt="2026-09-22T14:12:17.022" v="44" actId="21"/>
          <ac:picMkLst>
            <pc:docMk/>
            <pc:sldMk cId="0" sldId="271"/>
            <ac:picMk id="2" creationId="{00000000-0000-0000-0000-000000000000}"/>
          </ac:picMkLst>
        </pc:picChg>
        <pc:picChg chg="add">
          <ac:chgData name="Lai, Wilson" userId="2840974a-0d84-4886-90a9-9a3ed79f3a48" providerId="ADAL" clId="{9F23B798-9E84-4552-BA63-E776E805C424}" dt="2026-09-22T14:12:23.761" v="45" actId="22"/>
          <ac:picMkLst>
            <pc:docMk/>
            <pc:sldMk cId="0" sldId="271"/>
            <ac:picMk id="4" creationId="{3242BEA3-A422-18B5-1F29-07E4B7276A14}"/>
          </ac:picMkLst>
        </pc:picChg>
      </pc:sldChg>
      <pc:sldChg chg="addSp delSp mod modNotes modNotesTx">
        <pc:chgData name="Lai, Wilson" userId="2840974a-0d84-4886-90a9-9a3ed79f3a48" providerId="ADAL" clId="{9F23B798-9E84-4552-BA63-E776E805C424}" dt="2026-09-23T03:29:55.533" v="66" actId="113"/>
        <pc:sldMkLst>
          <pc:docMk/>
          <pc:sldMk cId="743418526" sldId="272"/>
        </pc:sldMkLst>
        <pc:picChg chg="del">
          <ac:chgData name="Lai, Wilson" userId="2840974a-0d84-4886-90a9-9a3ed79f3a48" providerId="ADAL" clId="{9F23B798-9E84-4552-BA63-E776E805C424}" dt="2026-09-22T14:12:26.124" v="46" actId="21"/>
          <ac:picMkLst>
            <pc:docMk/>
            <pc:sldMk cId="743418526" sldId="272"/>
            <ac:picMk id="3" creationId="{7FBDE1BF-44BD-F79D-5335-2600E9D58055}"/>
          </ac:picMkLst>
        </pc:picChg>
        <pc:picChg chg="add">
          <ac:chgData name="Lai, Wilson" userId="2840974a-0d84-4886-90a9-9a3ed79f3a48" providerId="ADAL" clId="{9F23B798-9E84-4552-BA63-E776E805C424}" dt="2026-09-22T14:12:33.619" v="47" actId="22"/>
          <ac:picMkLst>
            <pc:docMk/>
            <pc:sldMk cId="743418526" sldId="272"/>
            <ac:picMk id="4" creationId="{C44A2469-B660-7397-289C-92EDD98E912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C0A8D8-E0F6-4BD8-AE8A-D53D585F7D8F}"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CC96B4-DFC8-452F-85FD-2EBC8E64B843}" type="slidenum">
              <a:rPr lang="en-US" smtClean="0"/>
              <a:t>‹#›</a:t>
            </a:fld>
            <a:endParaRPr lang="en-US"/>
          </a:p>
        </p:txBody>
      </p:sp>
    </p:spTree>
    <p:extLst>
      <p:ext uri="{BB962C8B-B14F-4D97-AF65-F5344CB8AC3E}">
        <p14:creationId xmlns:p14="http://schemas.microsoft.com/office/powerpoint/2010/main" val="3978811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we’re stepping past the hyperbole and marketing surrounding Artificial Intelligence to examine its underlying structural mechanics. </a:t>
            </a:r>
          </a:p>
          <a:p>
            <a:r>
              <a:rPr lang="en-US" sz="1200" kern="1200" dirty="0">
                <a:solidFill>
                  <a:schemeClr val="tx1"/>
                </a:solidFill>
                <a:effectLst/>
                <a:latin typeface="+mn-lt"/>
                <a:ea typeface="+mn-ea"/>
                <a:cs typeface="+mn-cs"/>
              </a:rPr>
              <a:t>On paper, the promise of Artificial Intelligence is nothing short of utopian. We are promised unprecedented economic productivity, miraculous medical breakthroughs, and lives that are longer, wealthier, and radically easier. </a:t>
            </a:r>
          </a:p>
          <a:p>
            <a:r>
              <a:rPr lang="en-US" sz="1200" kern="1200" dirty="0">
                <a:solidFill>
                  <a:schemeClr val="tx1"/>
                </a:solidFill>
                <a:effectLst/>
                <a:latin typeface="+mn-lt"/>
                <a:ea typeface="+mn-ea"/>
                <a:cs typeface="+mn-cs"/>
              </a:rPr>
              <a:t>However, as journalist and author Andrew Ross Sorkin pointed out in his interview on </a:t>
            </a:r>
            <a:r>
              <a:rPr lang="en-US" sz="1200" i="1" kern="1200" dirty="0">
                <a:solidFill>
                  <a:schemeClr val="tx1"/>
                </a:solidFill>
                <a:effectLst/>
                <a:latin typeface="+mn-lt"/>
                <a:ea typeface="+mn-ea"/>
                <a:cs typeface="+mn-cs"/>
              </a:rPr>
              <a:t>Titans on Tomorrow</a:t>
            </a:r>
            <a:r>
              <a:rPr lang="en-US" sz="1200" kern="1200" dirty="0">
                <a:solidFill>
                  <a:schemeClr val="tx1"/>
                </a:solidFill>
                <a:effectLst/>
                <a:latin typeface="+mn-lt"/>
                <a:ea typeface="+mn-ea"/>
                <a:cs typeface="+mn-cs"/>
              </a:rPr>
              <a:t>, whenever a transformational technology promises to break all traditional rules, we must closely examine who is building it, how it’s being financed, and what systemic risks are being transferred onto the public. </a:t>
            </a:r>
          </a:p>
          <a:p>
            <a:r>
              <a:rPr lang="en-US" sz="1200" kern="1200" dirty="0">
                <a:solidFill>
                  <a:schemeClr val="tx1"/>
                </a:solidFill>
                <a:effectLst/>
                <a:latin typeface="+mn-lt"/>
                <a:ea typeface="+mn-ea"/>
                <a:cs typeface="+mn-cs"/>
              </a:rPr>
              <a:t>The race toward Artificial General Intelligence (AGI) isn't just an engineering challenge; it is a massive collision of capital, political power, and misaligned economic incentives. Today, we’ll analyze why the current AI landscape is fundamentally fragile and how market, regulatory, and geopolitical dynamics are setting up an inevitable reckoning. </a:t>
            </a:r>
          </a:p>
          <a:p>
            <a:endParaRPr lang="en-US" dirty="0"/>
          </a:p>
          <a:p>
            <a:endParaRPr lang="en-US" b="1" dirty="0"/>
          </a:p>
          <a:p>
            <a:r>
              <a:rPr lang="en-US" b="1" dirty="0"/>
              <a:t>This Is How the AI Bubble Ends</a:t>
            </a:r>
          </a:p>
          <a:p>
            <a:r>
              <a:rPr lang="en-US" dirty="0"/>
              <a:t>https://www.youtube.com/watch?v=TWnkNyW78Nk</a:t>
            </a:r>
          </a:p>
        </p:txBody>
      </p:sp>
      <p:sp>
        <p:nvSpPr>
          <p:cNvPr id="4" name="Slide Number Placeholder 3"/>
          <p:cNvSpPr>
            <a:spLocks noGrp="1"/>
          </p:cNvSpPr>
          <p:nvPr>
            <p:ph type="sldNum" sz="quarter" idx="5"/>
          </p:nvPr>
        </p:nvSpPr>
        <p:spPr/>
        <p:txBody>
          <a:bodyPr/>
          <a:lstStyle/>
          <a:p>
            <a:fld id="{C5CC96B4-DFC8-452F-85FD-2EBC8E64B843}" type="slidenum">
              <a:rPr lang="en-US" smtClean="0"/>
              <a:t>1</a:t>
            </a:fld>
            <a:endParaRPr lang="en-US"/>
          </a:p>
        </p:txBody>
      </p:sp>
    </p:spTree>
    <p:extLst>
      <p:ext uri="{BB962C8B-B14F-4D97-AF65-F5344CB8AC3E}">
        <p14:creationId xmlns:p14="http://schemas.microsoft.com/office/powerpoint/2010/main" val="2644982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begin by addressing a striking paradox at the absolute front line of AI development. </a:t>
            </a:r>
          </a:p>
          <a:p>
            <a:r>
              <a:rPr lang="en-US" sz="1200" kern="1200" dirty="0">
                <a:solidFill>
                  <a:schemeClr val="tx1"/>
                </a:solidFill>
                <a:effectLst/>
                <a:latin typeface="+mn-lt"/>
                <a:ea typeface="+mn-ea"/>
                <a:cs typeface="+mn-cs"/>
              </a:rPr>
              <a:t>Consider the prominent leaders in this space—Dario Amodei of Anthropic and Sam Altman of OpenAI. Recently, Dario published his paper calling to 'pace the frontier,' urging synchronized slowdowns. Hours later, Sam Altman voiced agreement, actively lobbying Washington to intervene and regulate the field. </a:t>
            </a:r>
          </a:p>
          <a:p>
            <a:r>
              <a:rPr lang="en-US" sz="1200" kern="1200" dirty="0">
                <a:solidFill>
                  <a:schemeClr val="tx1"/>
                </a:solidFill>
                <a:effectLst/>
                <a:latin typeface="+mn-lt"/>
                <a:ea typeface="+mn-ea"/>
                <a:cs typeface="+mn-cs"/>
              </a:rPr>
              <a:t>Here lies the paradox: The exact same individuals driving fastest toward AGI are actively begging federal regulators to put up speed bumps. </a:t>
            </a:r>
          </a:p>
          <a:p>
            <a:r>
              <a:rPr lang="en-US" sz="1200" kern="1200" dirty="0">
                <a:solidFill>
                  <a:schemeClr val="tx1"/>
                </a:solidFill>
                <a:effectLst/>
                <a:latin typeface="+mn-lt"/>
                <a:ea typeface="+mn-ea"/>
                <a:cs typeface="+mn-cs"/>
              </a:rPr>
              <a:t>Why would the fiercest market competitors demand government intervention? Is this driven purely by altruistic concern over existential risk—the fear of AGI 'escaping the box'? Or is there a calculated corporate playbook unfolding underneath the public narrative? </a:t>
            </a:r>
          </a:p>
          <a:p>
            <a:endParaRPr lang="en-US" dirty="0"/>
          </a:p>
        </p:txBody>
      </p:sp>
      <p:sp>
        <p:nvSpPr>
          <p:cNvPr id="4" name="Slide Number Placeholder 3"/>
          <p:cNvSpPr>
            <a:spLocks noGrp="1"/>
          </p:cNvSpPr>
          <p:nvPr>
            <p:ph type="sldNum" sz="quarter" idx="5"/>
          </p:nvPr>
        </p:nvSpPr>
        <p:spPr/>
        <p:txBody>
          <a:bodyPr/>
          <a:lstStyle/>
          <a:p>
            <a:fld id="{C5CC96B4-DFC8-452F-85FD-2EBC8E64B843}" type="slidenum">
              <a:rPr lang="en-US" smtClean="0"/>
              <a:t>2</a:t>
            </a:fld>
            <a:endParaRPr lang="en-US"/>
          </a:p>
        </p:txBody>
      </p:sp>
    </p:spTree>
    <p:extLst>
      <p:ext uri="{BB962C8B-B14F-4D97-AF65-F5344CB8AC3E}">
        <p14:creationId xmlns:p14="http://schemas.microsoft.com/office/powerpoint/2010/main" val="2543642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what's really going on, we have to contrast the public narrative with corporate reality. </a:t>
            </a:r>
          </a:p>
          <a:p>
            <a:r>
              <a:rPr lang="en-US" sz="1200" b="1" kern="1200" dirty="0">
                <a:solidFill>
                  <a:schemeClr val="tx1"/>
                </a:solidFill>
                <a:effectLst/>
                <a:latin typeface="+mn-lt"/>
                <a:ea typeface="+mn-ea"/>
                <a:cs typeface="+mn-cs"/>
              </a:rPr>
              <a:t>The Stated Intent:</a:t>
            </a:r>
            <a:r>
              <a:rPr lang="en-US" sz="1200" kern="1200" dirty="0">
                <a:solidFill>
                  <a:schemeClr val="tx1"/>
                </a:solidFill>
                <a:effectLst/>
                <a:latin typeface="+mn-lt"/>
                <a:ea typeface="+mn-ea"/>
                <a:cs typeface="+mn-cs"/>
              </a:rPr>
              <a:t> The public narrative centers on preventing existential risk. Tech leaders argue that without federal oversight, rogue models could generate bioweapons, launch cyberattacks, or operate beyond human control. </a:t>
            </a:r>
          </a:p>
          <a:p>
            <a:r>
              <a:rPr lang="en-US" sz="1200" b="1" kern="1200" dirty="0">
                <a:solidFill>
                  <a:schemeClr val="tx1"/>
                </a:solidFill>
                <a:effectLst/>
                <a:latin typeface="+mn-lt"/>
                <a:ea typeface="+mn-ea"/>
                <a:cs typeface="+mn-cs"/>
              </a:rPr>
              <a:t>The Strategic Byproduct:</a:t>
            </a:r>
            <a:r>
              <a:rPr lang="en-US" sz="1200" kern="1200" dirty="0">
                <a:solidFill>
                  <a:schemeClr val="tx1"/>
                </a:solidFill>
                <a:effectLst/>
                <a:latin typeface="+mn-lt"/>
                <a:ea typeface="+mn-ea"/>
                <a:cs typeface="+mn-cs"/>
              </a:rPr>
              <a:t> Look at the corporate incentives. First, </a:t>
            </a:r>
            <a:r>
              <a:rPr lang="en-US" sz="1200" b="1" kern="1200" dirty="0">
                <a:solidFill>
                  <a:schemeClr val="tx1"/>
                </a:solidFill>
                <a:effectLst/>
                <a:latin typeface="+mn-lt"/>
                <a:ea typeface="+mn-ea"/>
                <a:cs typeface="+mn-cs"/>
              </a:rPr>
              <a:t>Regulatory Capture</a:t>
            </a:r>
            <a:r>
              <a:rPr lang="en-US" sz="1200" kern="1200" dirty="0">
                <a:solidFill>
                  <a:schemeClr val="tx1"/>
                </a:solidFill>
                <a:effectLst/>
                <a:latin typeface="+mn-lt"/>
                <a:ea typeface="+mn-ea"/>
                <a:cs typeface="+mn-cs"/>
              </a:rPr>
              <a:t>. By forcing strict compliance standards on model developers, incumbents erect immense financial moats around their closed systems. Small startups and open-source developers simply cannot afford the army of lawyers and compliance officers needed to satisfy government mandates. </a:t>
            </a:r>
          </a:p>
          <a:p>
            <a:r>
              <a:rPr lang="en-US" sz="1200" kern="1200" dirty="0">
                <a:solidFill>
                  <a:schemeClr val="tx1"/>
                </a:solidFill>
                <a:effectLst/>
                <a:latin typeface="+mn-lt"/>
                <a:ea typeface="+mn-ea"/>
                <a:cs typeface="+mn-cs"/>
              </a:rPr>
              <a:t>Second, </a:t>
            </a:r>
            <a:r>
              <a:rPr lang="en-US" sz="1200" b="1" kern="1200" dirty="0">
                <a:solidFill>
                  <a:schemeClr val="tx1"/>
                </a:solidFill>
                <a:effectLst/>
                <a:latin typeface="+mn-lt"/>
                <a:ea typeface="+mn-ea"/>
                <a:cs typeface="+mn-cs"/>
              </a:rPr>
              <a:t>Legal Collusion</a:t>
            </a:r>
            <a:r>
              <a:rPr lang="en-US" sz="1200" kern="1200" dirty="0">
                <a:solidFill>
                  <a:schemeClr val="tx1"/>
                </a:solidFill>
                <a:effectLst/>
                <a:latin typeface="+mn-lt"/>
                <a:ea typeface="+mn-ea"/>
                <a:cs typeface="+mn-cs"/>
              </a:rPr>
              <a:t>. As Sorkin noted, in traditional industries, Coca-Cola and Pepsi aren't allowed to sit in a room together to discuss pricing or supply chains—that’s illegal price-fixing. But under the umbrella of 'AI Safety Councils,' competitors get sanctioned approval to coordinate, align, and share data. </a:t>
            </a:r>
          </a:p>
          <a:p>
            <a:r>
              <a:rPr lang="en-US" sz="1200" kern="1200" dirty="0">
                <a:solidFill>
                  <a:schemeClr val="tx1"/>
                </a:solidFill>
                <a:effectLst/>
                <a:latin typeface="+mn-lt"/>
                <a:ea typeface="+mn-ea"/>
                <a:cs typeface="+mn-cs"/>
              </a:rPr>
              <a:t>We must ask: Is AI safety a genuine safeguard, or is it a corporate moat built out of federal regulation? </a:t>
            </a:r>
          </a:p>
          <a:p>
            <a:endParaRPr lang="en-US" dirty="0"/>
          </a:p>
        </p:txBody>
      </p:sp>
      <p:sp>
        <p:nvSpPr>
          <p:cNvPr id="4" name="Slide Number Placeholder 3"/>
          <p:cNvSpPr>
            <a:spLocks noGrp="1"/>
          </p:cNvSpPr>
          <p:nvPr>
            <p:ph type="sldNum" sz="quarter" idx="5"/>
          </p:nvPr>
        </p:nvSpPr>
        <p:spPr/>
        <p:txBody>
          <a:bodyPr/>
          <a:lstStyle/>
          <a:p>
            <a:fld id="{C5CC96B4-DFC8-452F-85FD-2EBC8E64B843}" type="slidenum">
              <a:rPr lang="en-US" smtClean="0"/>
              <a:t>3</a:t>
            </a:fld>
            <a:endParaRPr lang="en-US"/>
          </a:p>
        </p:txBody>
      </p:sp>
    </p:spTree>
    <p:extLst>
      <p:ext uri="{BB962C8B-B14F-4D97-AF65-F5344CB8AC3E}">
        <p14:creationId xmlns:p14="http://schemas.microsoft.com/office/powerpoint/2010/main" val="20947599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the rift between open-source models and closed models like ChatGPT and Claude, we have to follow the liability trail. </a:t>
            </a:r>
          </a:p>
          <a:p>
            <a:r>
              <a:rPr lang="en-US" sz="1200" kern="1200" dirty="0">
                <a:solidFill>
                  <a:schemeClr val="tx1"/>
                </a:solidFill>
                <a:effectLst/>
                <a:latin typeface="+mn-lt"/>
                <a:ea typeface="+mn-ea"/>
                <a:cs typeface="+mn-cs"/>
              </a:rPr>
              <a:t>In an </a:t>
            </a:r>
            <a:r>
              <a:rPr lang="en-US" sz="1200" b="1" kern="1200" dirty="0">
                <a:solidFill>
                  <a:schemeClr val="tx1"/>
                </a:solidFill>
                <a:effectLst/>
                <a:latin typeface="+mn-lt"/>
                <a:ea typeface="+mn-ea"/>
                <a:cs typeface="+mn-cs"/>
              </a:rPr>
              <a:t>Open Model architecture</a:t>
            </a:r>
            <a:r>
              <a:rPr lang="en-US" sz="1200" kern="1200" dirty="0">
                <a:solidFill>
                  <a:schemeClr val="tx1"/>
                </a:solidFill>
                <a:effectLst/>
                <a:latin typeface="+mn-lt"/>
                <a:ea typeface="+mn-ea"/>
                <a:cs typeface="+mn-cs"/>
              </a:rPr>
              <a:t>, liability is distributed. If a user takes an open-weights model, modifies it, and uses it maliciously, responsibility legally falls on the end-user. </a:t>
            </a:r>
          </a:p>
          <a:p>
            <a:r>
              <a:rPr lang="en-US" sz="1200" kern="1200" dirty="0">
                <a:solidFill>
                  <a:schemeClr val="tx1"/>
                </a:solidFill>
                <a:effectLst/>
                <a:latin typeface="+mn-lt"/>
                <a:ea typeface="+mn-ea"/>
                <a:cs typeface="+mn-cs"/>
              </a:rPr>
              <a:t>In a </a:t>
            </a:r>
            <a:r>
              <a:rPr lang="en-US" sz="1200" b="1" kern="1200" dirty="0">
                <a:solidFill>
                  <a:schemeClr val="tx1"/>
                </a:solidFill>
                <a:effectLst/>
                <a:latin typeface="+mn-lt"/>
                <a:ea typeface="+mn-ea"/>
                <a:cs typeface="+mn-cs"/>
              </a:rPr>
              <a:t>Closed Model architecture</a:t>
            </a:r>
            <a:r>
              <a:rPr lang="en-US" sz="1200" kern="1200" dirty="0">
                <a:solidFill>
                  <a:schemeClr val="tx1"/>
                </a:solidFill>
                <a:effectLst/>
                <a:latin typeface="+mn-lt"/>
                <a:ea typeface="+mn-ea"/>
                <a:cs typeface="+mn-cs"/>
              </a:rPr>
              <a:t>, liability is heavily concentrated. If Claude or ChatGPT suffers a major breach or causes systemic harm, the parent company faces catastrophic legal fallout. </a:t>
            </a:r>
          </a:p>
          <a:p>
            <a:r>
              <a:rPr lang="en-US" sz="1200" kern="1200" dirty="0">
                <a:solidFill>
                  <a:schemeClr val="tx1"/>
                </a:solidFill>
                <a:effectLst/>
                <a:latin typeface="+mn-lt"/>
                <a:ea typeface="+mn-ea"/>
                <a:cs typeface="+mn-cs"/>
              </a:rPr>
              <a:t>This brings us to White House AI Czar David Sacks’ sharp critique: </a:t>
            </a:r>
            <a:r>
              <a:rPr lang="en-US" sz="1200" i="1" kern="1200" dirty="0">
                <a:solidFill>
                  <a:schemeClr val="tx1"/>
                </a:solidFill>
                <a:effectLst/>
                <a:latin typeface="+mn-lt"/>
                <a:ea typeface="+mn-ea"/>
                <a:cs typeface="+mn-cs"/>
              </a:rPr>
              <a:t>'If you are truly responsible, just tap the brakes yourself. Demanding government intervention is a tactic to absorb product liability and secure Section 230-style legal shields.'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Closed-model companies know they cannot completely control these complex systems. Securing early government regulation gives them a legal shield—effectively shifting liability risks from their corporate balance sheets onto the public. </a:t>
            </a:r>
          </a:p>
          <a:p>
            <a:endParaRPr lang="en-US" dirty="0"/>
          </a:p>
        </p:txBody>
      </p:sp>
      <p:sp>
        <p:nvSpPr>
          <p:cNvPr id="4" name="Slide Number Placeholder 3"/>
          <p:cNvSpPr>
            <a:spLocks noGrp="1"/>
          </p:cNvSpPr>
          <p:nvPr>
            <p:ph type="sldNum" sz="quarter" idx="5"/>
          </p:nvPr>
        </p:nvSpPr>
        <p:spPr/>
        <p:txBody>
          <a:bodyPr/>
          <a:lstStyle/>
          <a:p>
            <a:fld id="{C5CC96B4-DFC8-452F-85FD-2EBC8E64B843}" type="slidenum">
              <a:rPr lang="en-US" smtClean="0"/>
              <a:t>4</a:t>
            </a:fld>
            <a:endParaRPr lang="en-US"/>
          </a:p>
        </p:txBody>
      </p:sp>
    </p:spTree>
    <p:extLst>
      <p:ext uri="{BB962C8B-B14F-4D97-AF65-F5344CB8AC3E}">
        <p14:creationId xmlns:p14="http://schemas.microsoft.com/office/powerpoint/2010/main" val="2267649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Even if US regulators and tech CEOs agreed to slow down AI development, they hit a geopolitical wall: The Geopolitical Prisoner's Dilemma. </a:t>
            </a:r>
          </a:p>
          <a:p>
            <a:pPr marL="228600" lvl="0" indent="-228600">
              <a:buFont typeface="+mj-lt"/>
              <a:buAutoNum type="arabicPeriod"/>
            </a:pPr>
            <a:r>
              <a:rPr lang="en-US" sz="1200" kern="1200" dirty="0">
                <a:solidFill>
                  <a:schemeClr val="tx1"/>
                </a:solidFill>
                <a:effectLst/>
                <a:latin typeface="+mn-lt"/>
                <a:ea typeface="+mn-ea"/>
                <a:cs typeface="+mn-cs"/>
              </a:rPr>
              <a:t>If the US unilaterally imposes strict AI regulations or pauses development, </a:t>
            </a:r>
          </a:p>
          <a:p>
            <a:pPr marL="228600" lvl="0" indent="-228600">
              <a:buFont typeface="+mj-lt"/>
              <a:buAutoNum type="arabicPeriod"/>
            </a:pPr>
            <a:r>
              <a:rPr lang="en-US" sz="1200" kern="1200" dirty="0">
                <a:solidFill>
                  <a:schemeClr val="tx1"/>
                </a:solidFill>
                <a:effectLst/>
                <a:latin typeface="+mn-lt"/>
                <a:ea typeface="+mn-ea"/>
                <a:cs typeface="+mn-cs"/>
              </a:rPr>
              <a:t>China will ignore international consensus—just as historically demonstrated with carbon emissions, IP rights, and WTO mandates. </a:t>
            </a:r>
          </a:p>
          <a:p>
            <a:pPr marL="228600" lvl="0" indent="-228600">
              <a:buFont typeface="+mj-lt"/>
              <a:buAutoNum type="arabicPeriod"/>
            </a:pPr>
            <a:r>
              <a:rPr lang="en-US" sz="1200" kern="1200" dirty="0">
                <a:solidFill>
                  <a:schemeClr val="tx1"/>
                </a:solidFill>
                <a:effectLst/>
                <a:latin typeface="+mn-lt"/>
                <a:ea typeface="+mn-ea"/>
                <a:cs typeface="+mn-cs"/>
              </a:rPr>
              <a:t>China rapidly overtakes the global technological frontier, giving Beijing absolute dominance over AGI. </a:t>
            </a:r>
          </a:p>
          <a:p>
            <a:pPr marL="0" indent="0">
              <a:buFont typeface="+mj-lt"/>
              <a:buNone/>
            </a:pPr>
            <a:r>
              <a:rPr lang="en-US" sz="1200" kern="1200" dirty="0">
                <a:solidFill>
                  <a:schemeClr val="tx1"/>
                </a:solidFill>
                <a:effectLst/>
                <a:latin typeface="+mn-lt"/>
                <a:ea typeface="+mn-ea"/>
                <a:cs typeface="+mn-cs"/>
              </a:rPr>
              <a:t>As Sorkin highlights, this forms the 'undefeatable argument' against domestic pauses. US policymakers simply cannot afford to freeze domestic innovation while a major strategic adversary races forward without restraint. </a:t>
            </a:r>
          </a:p>
          <a:p>
            <a:r>
              <a:rPr lang="en-US" sz="1200" kern="1200" dirty="0">
                <a:solidFill>
                  <a:schemeClr val="tx1"/>
                </a:solidFill>
                <a:effectLst/>
                <a:latin typeface="+mn-lt"/>
                <a:ea typeface="+mn-ea"/>
                <a:cs typeface="+mn-cs"/>
              </a:rPr>
              <a:t>The threat of Beijing capturing technological supremacy forces the US into a mandatory, high-speed march forward. </a:t>
            </a:r>
          </a:p>
          <a:p>
            <a:endParaRPr lang="en-US" dirty="0"/>
          </a:p>
        </p:txBody>
      </p:sp>
      <p:sp>
        <p:nvSpPr>
          <p:cNvPr id="4" name="Slide Number Placeholder 3"/>
          <p:cNvSpPr>
            <a:spLocks noGrp="1"/>
          </p:cNvSpPr>
          <p:nvPr>
            <p:ph type="sldNum" sz="quarter" idx="5"/>
          </p:nvPr>
        </p:nvSpPr>
        <p:spPr/>
        <p:txBody>
          <a:bodyPr/>
          <a:lstStyle/>
          <a:p>
            <a:fld id="{C5CC96B4-DFC8-452F-85FD-2EBC8E64B843}" type="slidenum">
              <a:rPr lang="en-US" smtClean="0"/>
              <a:t>5</a:t>
            </a:fld>
            <a:endParaRPr lang="en-US"/>
          </a:p>
        </p:txBody>
      </p:sp>
    </p:spTree>
    <p:extLst>
      <p:ext uri="{BB962C8B-B14F-4D97-AF65-F5344CB8AC3E}">
        <p14:creationId xmlns:p14="http://schemas.microsoft.com/office/powerpoint/2010/main" val="1024937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does the US-China competition actually play out across the stack? </a:t>
            </a:r>
          </a:p>
          <a:p>
            <a:r>
              <a:rPr lang="en-US" sz="1200" b="1" kern="1200" dirty="0">
                <a:solidFill>
                  <a:schemeClr val="tx1"/>
                </a:solidFill>
                <a:effectLst/>
                <a:latin typeface="+mn-lt"/>
                <a:ea typeface="+mn-ea"/>
                <a:cs typeface="+mn-cs"/>
              </a:rPr>
              <a:t>The US Advantage:</a:t>
            </a:r>
            <a:r>
              <a:rPr lang="en-US" sz="1200" kern="1200" dirty="0">
                <a:solidFill>
                  <a:schemeClr val="tx1"/>
                </a:solidFill>
                <a:effectLst/>
                <a:latin typeface="+mn-lt"/>
                <a:ea typeface="+mn-ea"/>
                <a:cs typeface="+mn-cs"/>
              </a:rPr>
              <a:t> The US currently holds an estimated 2-year lead in fundamental AGI research and frontier model design. </a:t>
            </a:r>
          </a:p>
          <a:p>
            <a:r>
              <a:rPr lang="en-US" sz="1200" b="1" kern="1200" dirty="0">
                <a:solidFill>
                  <a:schemeClr val="tx1"/>
                </a:solidFill>
                <a:effectLst/>
                <a:latin typeface="+mn-lt"/>
                <a:ea typeface="+mn-ea"/>
                <a:cs typeface="+mn-cs"/>
              </a:rPr>
              <a:t>Chinese Acceleration:</a:t>
            </a:r>
            <a:r>
              <a:rPr lang="en-US" sz="1200" kern="1200" dirty="0">
                <a:solidFill>
                  <a:schemeClr val="tx1"/>
                </a:solidFill>
                <a:effectLst/>
                <a:latin typeface="+mn-lt"/>
                <a:ea typeface="+mn-ea"/>
                <a:cs typeface="+mn-cs"/>
              </a:rPr>
              <a:t> However, Chinese labs accelerate rapidly using 'distillation'—stripping, repurposing, and extracting outputs from US frontier models to train their own systems at a fraction of the cost. </a:t>
            </a:r>
          </a:p>
          <a:p>
            <a:r>
              <a:rPr lang="en-US" sz="1200" b="1" kern="1200" dirty="0">
                <a:solidFill>
                  <a:schemeClr val="tx1"/>
                </a:solidFill>
                <a:effectLst/>
                <a:latin typeface="+mn-lt"/>
                <a:ea typeface="+mn-ea"/>
                <a:cs typeface="+mn-cs"/>
              </a:rPr>
              <a:t>The Hardware Supply Chain:</a:t>
            </a:r>
            <a:r>
              <a:rPr lang="en-US" sz="1200" kern="1200" dirty="0">
                <a:solidFill>
                  <a:schemeClr val="tx1"/>
                </a:solidFill>
                <a:effectLst/>
                <a:latin typeface="+mn-lt"/>
                <a:ea typeface="+mn-ea"/>
                <a:cs typeface="+mn-cs"/>
              </a:rPr>
              <a:t> Software ideas are cheap, but execution and compute are immensely expensive. The true governor on Chinese acceleration isn't international treaties or regulatory agreements—it is physical hardware. Access to cutting-edge Nvidia GPUs, advanced memory chips, and semiconductor manufacturing equipment remains the ultimate bottleneck determining who stays ahead. </a:t>
            </a:r>
          </a:p>
          <a:p>
            <a:endParaRPr lang="en-US" dirty="0"/>
          </a:p>
        </p:txBody>
      </p:sp>
      <p:sp>
        <p:nvSpPr>
          <p:cNvPr id="4" name="Slide Number Placeholder 3"/>
          <p:cNvSpPr>
            <a:spLocks noGrp="1"/>
          </p:cNvSpPr>
          <p:nvPr>
            <p:ph type="sldNum" sz="quarter" idx="5"/>
          </p:nvPr>
        </p:nvSpPr>
        <p:spPr/>
        <p:txBody>
          <a:bodyPr/>
          <a:lstStyle/>
          <a:p>
            <a:fld id="{C5CC96B4-DFC8-452F-85FD-2EBC8E64B843}" type="slidenum">
              <a:rPr lang="en-US" smtClean="0"/>
              <a:t>6</a:t>
            </a:fld>
            <a:endParaRPr lang="en-US"/>
          </a:p>
        </p:txBody>
      </p:sp>
    </p:spTree>
    <p:extLst>
      <p:ext uri="{BB962C8B-B14F-4D97-AF65-F5344CB8AC3E}">
        <p14:creationId xmlns:p14="http://schemas.microsoft.com/office/powerpoint/2010/main" val="42357556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examine the domestic macroeconomic picture. Why is Washington so eager to back the AI boom despite the obvious systemic risks? </a:t>
            </a:r>
          </a:p>
          <a:p>
            <a:r>
              <a:rPr lang="en-US" sz="1200" b="1" kern="1200" dirty="0">
                <a:solidFill>
                  <a:schemeClr val="tx1"/>
                </a:solidFill>
                <a:effectLst/>
                <a:latin typeface="+mn-lt"/>
                <a:ea typeface="+mn-ea"/>
                <a:cs typeface="+mn-cs"/>
              </a:rPr>
              <a:t>The Fiscal Reality:</a:t>
            </a:r>
            <a:r>
              <a:rPr lang="en-US" sz="1200" kern="1200" dirty="0">
                <a:solidFill>
                  <a:schemeClr val="tx1"/>
                </a:solidFill>
                <a:effectLst/>
                <a:latin typeface="+mn-lt"/>
                <a:ea typeface="+mn-ea"/>
                <a:cs typeface="+mn-cs"/>
              </a:rPr>
              <a:t> The US national debt has crossed $40 trillion. Treasury bond markets are under severe pressure, yields are spiking, and neither political party has the appetite to cut entitlement spending or raise baseline tax rates on middle-class voters. </a:t>
            </a:r>
          </a:p>
          <a:p>
            <a:r>
              <a:rPr lang="en-US" sz="1200" b="1" kern="1200" dirty="0">
                <a:solidFill>
                  <a:schemeClr val="tx1"/>
                </a:solidFill>
                <a:effectLst/>
                <a:latin typeface="+mn-lt"/>
                <a:ea typeface="+mn-ea"/>
                <a:cs typeface="+mn-cs"/>
              </a:rPr>
              <a:t>The Macro Economic Logic:</a:t>
            </a:r>
            <a:r>
              <a:rPr lang="en-US" sz="1200" kern="1200" dirty="0">
                <a:solidFill>
                  <a:schemeClr val="tx1"/>
                </a:solidFill>
                <a:effectLst/>
                <a:latin typeface="+mn-lt"/>
                <a:ea typeface="+mn-ea"/>
                <a:cs typeface="+mn-cs"/>
              </a:rPr>
              <a:t> There is only one political escape hatch left: outgrowing the debt through an unprecedented, AI-driven hyper-productivity boom. </a:t>
            </a:r>
          </a:p>
          <a:p>
            <a:r>
              <a:rPr lang="en-US" sz="1200" kern="1200" dirty="0">
                <a:solidFill>
                  <a:schemeClr val="tx1"/>
                </a:solidFill>
                <a:effectLst/>
                <a:latin typeface="+mn-lt"/>
                <a:ea typeface="+mn-ea"/>
                <a:cs typeface="+mn-cs"/>
              </a:rPr>
              <a:t>Both political parties are relying on AI productivity as a macroeconomic savior. If AI can deliver massive efficiency gains across logistics, legal, medical, and administrative sectors, GDP growth could theoretically outpace national debt accumulation. Washington isn't just permitting the AI boom—it </a:t>
            </a:r>
            <a:r>
              <a:rPr lang="en-US" sz="1200" i="1" kern="1200" dirty="0">
                <a:solidFill>
                  <a:schemeClr val="tx1"/>
                </a:solidFill>
                <a:effectLst/>
                <a:latin typeface="+mn-lt"/>
                <a:ea typeface="+mn-ea"/>
                <a:cs typeface="+mn-cs"/>
              </a:rPr>
              <a:t>needs</a:t>
            </a:r>
            <a:r>
              <a:rPr lang="en-US" sz="1200" kern="1200" dirty="0">
                <a:solidFill>
                  <a:schemeClr val="tx1"/>
                </a:solidFill>
                <a:effectLst/>
                <a:latin typeface="+mn-lt"/>
                <a:ea typeface="+mn-ea"/>
                <a:cs typeface="+mn-cs"/>
              </a:rPr>
              <a:t> it to prevent a sovereign debt crisis. </a:t>
            </a:r>
          </a:p>
          <a:p>
            <a:endParaRPr lang="en-US" dirty="0"/>
          </a:p>
        </p:txBody>
      </p:sp>
      <p:sp>
        <p:nvSpPr>
          <p:cNvPr id="4" name="Slide Number Placeholder 3"/>
          <p:cNvSpPr>
            <a:spLocks noGrp="1"/>
          </p:cNvSpPr>
          <p:nvPr>
            <p:ph type="sldNum" sz="quarter" idx="5"/>
          </p:nvPr>
        </p:nvSpPr>
        <p:spPr/>
        <p:txBody>
          <a:bodyPr/>
          <a:lstStyle/>
          <a:p>
            <a:fld id="{C5CC96B4-DFC8-452F-85FD-2EBC8E64B843}" type="slidenum">
              <a:rPr lang="en-US" smtClean="0"/>
              <a:t>7</a:t>
            </a:fld>
            <a:endParaRPr lang="en-US"/>
          </a:p>
        </p:txBody>
      </p:sp>
    </p:spTree>
    <p:extLst>
      <p:ext uri="{BB962C8B-B14F-4D97-AF65-F5344CB8AC3E}">
        <p14:creationId xmlns:p14="http://schemas.microsoft.com/office/powerpoint/2010/main" val="20481485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While economists paint a grand picture of AI productivity, the actual transition phase will be economically brutal. </a:t>
            </a:r>
          </a:p>
          <a:p>
            <a:r>
              <a:rPr lang="en-US" sz="1200" b="1" kern="1200" dirty="0">
                <a:solidFill>
                  <a:schemeClr val="tx1"/>
                </a:solidFill>
                <a:effectLst/>
                <a:latin typeface="+mn-lt"/>
                <a:ea typeface="+mn-ea"/>
                <a:cs typeface="+mn-cs"/>
              </a:rPr>
              <a:t>The Painful Transition:</a:t>
            </a:r>
            <a:r>
              <a:rPr lang="en-US" sz="1200" kern="1200" dirty="0">
                <a:solidFill>
                  <a:schemeClr val="tx1"/>
                </a:solidFill>
                <a:effectLst/>
                <a:latin typeface="+mn-lt"/>
                <a:ea typeface="+mn-ea"/>
                <a:cs typeface="+mn-cs"/>
              </a:rPr>
              <a:t> Before we achieve long-term equilibrium, we will see widespread job displacement. Autonomous transport, customer support automation, and white-collar data processing will disrupt millions of workers long before replacement industries absorb them. </a:t>
            </a:r>
          </a:p>
          <a:p>
            <a:r>
              <a:rPr lang="en-US" sz="1200" kern="1200" dirty="0">
                <a:solidFill>
                  <a:schemeClr val="tx1"/>
                </a:solidFill>
                <a:effectLst/>
                <a:latin typeface="+mn-lt"/>
                <a:ea typeface="+mn-ea"/>
                <a:cs typeface="+mn-cs"/>
              </a:rPr>
              <a:t>As Sorkin warns, think about college graduates carrying massive student debt entering a labor market where entry-level white-collar jobs have been automated away. This creates fertile ground for radicalized youth and populist backlash on both the left and the right. </a:t>
            </a:r>
          </a:p>
          <a:p>
            <a:r>
              <a:rPr lang="en-US" sz="1200" b="1" kern="1200" dirty="0">
                <a:solidFill>
                  <a:schemeClr val="tx1"/>
                </a:solidFill>
                <a:effectLst/>
                <a:latin typeface="+mn-lt"/>
                <a:ea typeface="+mn-ea"/>
                <a:cs typeface="+mn-cs"/>
              </a:rPr>
              <a:t>Capital Efficiency:</a:t>
            </a:r>
            <a:r>
              <a:rPr lang="en-US" sz="1200" kern="1200" dirty="0">
                <a:solidFill>
                  <a:schemeClr val="tx1"/>
                </a:solidFill>
                <a:effectLst/>
                <a:latin typeface="+mn-lt"/>
                <a:ea typeface="+mn-ea"/>
                <a:cs typeface="+mn-cs"/>
              </a:rPr>
              <a:t> Long term, the integration of humanoid robotics and autonomous infrastructure will decouple labor from economic output. But society will not jump seamlessly from a 40-hour workweek to a utopian 20-hour workweek without crossing a severe economic desert first. </a:t>
            </a:r>
          </a:p>
          <a:p>
            <a:endParaRPr lang="en-US" dirty="0"/>
          </a:p>
        </p:txBody>
      </p:sp>
      <p:sp>
        <p:nvSpPr>
          <p:cNvPr id="4" name="Slide Number Placeholder 3"/>
          <p:cNvSpPr>
            <a:spLocks noGrp="1"/>
          </p:cNvSpPr>
          <p:nvPr>
            <p:ph type="sldNum" sz="quarter" idx="5"/>
          </p:nvPr>
        </p:nvSpPr>
        <p:spPr/>
        <p:txBody>
          <a:bodyPr/>
          <a:lstStyle/>
          <a:p>
            <a:fld id="{C5CC96B4-DFC8-452F-85FD-2EBC8E64B843}" type="slidenum">
              <a:rPr lang="en-US" smtClean="0"/>
              <a:t>8</a:t>
            </a:fld>
            <a:endParaRPr lang="en-US"/>
          </a:p>
        </p:txBody>
      </p:sp>
    </p:spTree>
    <p:extLst>
      <p:ext uri="{BB962C8B-B14F-4D97-AF65-F5344CB8AC3E}">
        <p14:creationId xmlns:p14="http://schemas.microsoft.com/office/powerpoint/2010/main" val="2630468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examine the financial plumbing powering the AI boom. This is where the structural fragility becomes dangerous. </a:t>
            </a:r>
          </a:p>
          <a:p>
            <a:r>
              <a:rPr lang="en-US" sz="1200" kern="1200" dirty="0">
                <a:solidFill>
                  <a:schemeClr val="tx1"/>
                </a:solidFill>
                <a:effectLst/>
                <a:latin typeface="+mn-lt"/>
                <a:ea typeface="+mn-ea"/>
                <a:cs typeface="+mn-cs"/>
              </a:rPr>
              <a:t>Look at the circular loop of capital: </a:t>
            </a:r>
          </a:p>
          <a:p>
            <a:pPr marL="228600" lvl="0" indent="-228600">
              <a:buFont typeface="+mj-lt"/>
              <a:buAutoNum type="arabicPeriod"/>
            </a:pPr>
            <a:r>
              <a:rPr lang="en-US" sz="1200" b="1"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(Microsoft, Amazon, Google) invest billions into </a:t>
            </a:r>
            <a:r>
              <a:rPr lang="en-US" sz="1200" b="1" kern="1200" dirty="0">
                <a:solidFill>
                  <a:schemeClr val="tx1"/>
                </a:solidFill>
                <a:effectLst/>
                <a:latin typeface="+mn-lt"/>
                <a:ea typeface="+mn-ea"/>
                <a:cs typeface="+mn-cs"/>
              </a:rPr>
              <a:t>AI Labs</a:t>
            </a:r>
            <a:r>
              <a:rPr lang="en-US" sz="1200" kern="1200" dirty="0">
                <a:solidFill>
                  <a:schemeClr val="tx1"/>
                </a:solidFill>
                <a:effectLst/>
                <a:latin typeface="+mn-lt"/>
                <a:ea typeface="+mn-ea"/>
                <a:cs typeface="+mn-cs"/>
              </a:rPr>
              <a:t> (OpenAI, Anthropic). </a:t>
            </a:r>
          </a:p>
          <a:p>
            <a:pPr marL="228600" lvl="0" indent="-228600">
              <a:buFont typeface="+mj-lt"/>
              <a:buAutoNum type="arabicPeriod"/>
            </a:pPr>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AI Labs</a:t>
            </a:r>
            <a:r>
              <a:rPr lang="en-US" sz="1200" kern="1200" dirty="0">
                <a:solidFill>
                  <a:schemeClr val="tx1"/>
                </a:solidFill>
                <a:effectLst/>
                <a:latin typeface="+mn-lt"/>
                <a:ea typeface="+mn-ea"/>
                <a:cs typeface="+mn-cs"/>
              </a:rPr>
              <a:t> are required to spend those billions buying compute capacity back from the </a:t>
            </a:r>
            <a:r>
              <a:rPr lang="en-US" sz="1200" b="1" kern="1200" dirty="0" err="1">
                <a:solidFill>
                  <a:schemeClr val="tx1"/>
                </a:solidFill>
                <a:effectLst/>
                <a:latin typeface="+mn-lt"/>
                <a:ea typeface="+mn-ea"/>
                <a:cs typeface="+mn-cs"/>
              </a:rPr>
              <a:t>Hyperscalers</a:t>
            </a:r>
            <a:r>
              <a:rPr lang="en-US" sz="1200" b="1" kern="1200" dirty="0">
                <a:solidFill>
                  <a:schemeClr val="tx1"/>
                </a:solidFill>
                <a:effectLst/>
                <a:latin typeface="+mn-lt"/>
                <a:ea typeface="+mn-ea"/>
                <a:cs typeface="+mn-cs"/>
              </a:rPr>
              <a:t>' Data Centers</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kern="1200" dirty="0">
                <a:solidFill>
                  <a:schemeClr val="tx1"/>
                </a:solidFill>
                <a:effectLst/>
                <a:latin typeface="+mn-lt"/>
                <a:ea typeface="+mn-ea"/>
                <a:cs typeface="+mn-cs"/>
              </a:rPr>
              <a:t>To build those data centers, </a:t>
            </a:r>
            <a:r>
              <a:rPr lang="en-US" sz="1200" b="1"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buy hundreds of thousands of chips from </a:t>
            </a:r>
            <a:r>
              <a:rPr lang="en-US" sz="1200" b="1" kern="1200" dirty="0">
                <a:solidFill>
                  <a:schemeClr val="tx1"/>
                </a:solidFill>
                <a:effectLst/>
                <a:latin typeface="+mn-lt"/>
                <a:ea typeface="+mn-ea"/>
                <a:cs typeface="+mn-cs"/>
              </a:rPr>
              <a:t>Hardware Manufacturers</a:t>
            </a:r>
            <a:r>
              <a:rPr lang="en-US" sz="1200" kern="1200" dirty="0">
                <a:solidFill>
                  <a:schemeClr val="tx1"/>
                </a:solidFill>
                <a:effectLst/>
                <a:latin typeface="+mn-lt"/>
                <a:ea typeface="+mn-ea"/>
                <a:cs typeface="+mn-cs"/>
              </a:rPr>
              <a:t> like Nvidia. </a:t>
            </a:r>
          </a:p>
          <a:p>
            <a:pPr marL="228600" lvl="0" indent="-228600">
              <a:buFont typeface="+mj-lt"/>
              <a:buAutoNum type="arabicPeriod"/>
            </a:pPr>
            <a:r>
              <a:rPr lang="en-US" sz="1200" b="1" kern="1200" dirty="0">
                <a:solidFill>
                  <a:schemeClr val="tx1"/>
                </a:solidFill>
                <a:effectLst/>
                <a:latin typeface="+mn-lt"/>
                <a:ea typeface="+mn-ea"/>
                <a:cs typeface="+mn-cs"/>
              </a:rPr>
              <a:t>Nvidia</a:t>
            </a:r>
            <a:r>
              <a:rPr lang="en-US" sz="1200" kern="1200" dirty="0">
                <a:solidFill>
                  <a:schemeClr val="tx1"/>
                </a:solidFill>
                <a:effectLst/>
                <a:latin typeface="+mn-lt"/>
                <a:ea typeface="+mn-ea"/>
                <a:cs typeface="+mn-cs"/>
              </a:rPr>
              <a:t>, flush with cash, turns around and invests capital back into the </a:t>
            </a:r>
            <a:r>
              <a:rPr lang="en-US" sz="1200" b="1" kern="1200" dirty="0">
                <a:solidFill>
                  <a:schemeClr val="tx1"/>
                </a:solidFill>
                <a:effectLst/>
                <a:latin typeface="+mn-lt"/>
                <a:ea typeface="+mn-ea"/>
                <a:cs typeface="+mn-cs"/>
              </a:rPr>
              <a:t>AI Labs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This is classic </a:t>
            </a:r>
            <a:r>
              <a:rPr lang="en-US" sz="1200" b="1" kern="1200" dirty="0">
                <a:solidFill>
                  <a:schemeClr val="tx1"/>
                </a:solidFill>
                <a:effectLst/>
                <a:latin typeface="+mn-lt"/>
                <a:ea typeface="+mn-ea"/>
                <a:cs typeface="+mn-cs"/>
              </a:rPr>
              <a:t>Vendor Financing 2.0</a:t>
            </a:r>
            <a:r>
              <a:rPr lang="en-US" sz="1200" kern="1200" dirty="0">
                <a:solidFill>
                  <a:schemeClr val="tx1"/>
                </a:solidFill>
                <a:effectLst/>
                <a:latin typeface="+mn-lt"/>
                <a:ea typeface="+mn-ea"/>
                <a:cs typeface="+mn-cs"/>
              </a:rPr>
              <a:t>. Sorkin draws a direct parallel to the late 1920s, when General Motors financed its own customers to buy GM cars to artificially boost sales numbers. </a:t>
            </a:r>
          </a:p>
          <a:p>
            <a:r>
              <a:rPr lang="en-US" sz="1200" kern="1200" dirty="0">
                <a:solidFill>
                  <a:schemeClr val="tx1"/>
                </a:solidFill>
                <a:effectLst/>
                <a:latin typeface="+mn-lt"/>
                <a:ea typeface="+mn-ea"/>
                <a:cs typeface="+mn-cs"/>
              </a:rPr>
              <a:t>Capital is flowing in a tight circle, inflating revenue metrics and valuations at every stop. If end-user revenue fails to validate these valuations, this closed loop begins to collapse. </a:t>
            </a:r>
          </a:p>
          <a:p>
            <a:endParaRPr lang="en-US" dirty="0"/>
          </a:p>
        </p:txBody>
      </p:sp>
      <p:sp>
        <p:nvSpPr>
          <p:cNvPr id="4" name="Slide Number Placeholder 3"/>
          <p:cNvSpPr>
            <a:spLocks noGrp="1"/>
          </p:cNvSpPr>
          <p:nvPr>
            <p:ph type="sldNum" sz="quarter" idx="5"/>
          </p:nvPr>
        </p:nvSpPr>
        <p:spPr/>
        <p:txBody>
          <a:bodyPr/>
          <a:lstStyle/>
          <a:p>
            <a:fld id="{C5CC96B4-DFC8-452F-85FD-2EBC8E64B843}" type="slidenum">
              <a:rPr lang="en-US" smtClean="0"/>
              <a:t>9</a:t>
            </a:fld>
            <a:endParaRPr lang="en-US"/>
          </a:p>
        </p:txBody>
      </p:sp>
    </p:spTree>
    <p:extLst>
      <p:ext uri="{BB962C8B-B14F-4D97-AF65-F5344CB8AC3E}">
        <p14:creationId xmlns:p14="http://schemas.microsoft.com/office/powerpoint/2010/main" val="15561245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entire AI capital structure is sprinting toward a critical juncture: </a:t>
            </a:r>
            <a:r>
              <a:rPr lang="en-US" sz="1200" b="1" kern="1200" dirty="0">
                <a:solidFill>
                  <a:schemeClr val="tx1"/>
                </a:solidFill>
                <a:effectLst/>
                <a:latin typeface="+mn-lt"/>
                <a:ea typeface="+mn-ea"/>
                <a:cs typeface="+mn-cs"/>
              </a:rPr>
              <a:t>The 2027 Liquidity Bottleneck</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Track 1 (The Labs):</a:t>
            </a:r>
            <a:r>
              <a:rPr lang="en-US" sz="1200" kern="1200" dirty="0">
                <a:solidFill>
                  <a:schemeClr val="tx1"/>
                </a:solidFill>
                <a:effectLst/>
                <a:latin typeface="+mn-lt"/>
                <a:ea typeface="+mn-ea"/>
                <a:cs typeface="+mn-cs"/>
              </a:rPr>
              <a:t> OpenAI and Anthropic are burning billions in cash annually, aiming for public market IPOs around 2027 to satisfy early investors and secure fresh capital. </a:t>
            </a:r>
          </a:p>
          <a:p>
            <a:r>
              <a:rPr lang="en-US" sz="1200" b="1" kern="1200" dirty="0">
                <a:solidFill>
                  <a:schemeClr val="tx1"/>
                </a:solidFill>
                <a:effectLst/>
                <a:latin typeface="+mn-lt"/>
                <a:ea typeface="+mn-ea"/>
                <a:cs typeface="+mn-cs"/>
              </a:rPr>
              <a:t>Track 2 (The Mag 7):</a:t>
            </a:r>
            <a:r>
              <a:rPr lang="en-US" sz="1200" kern="1200" dirty="0">
                <a:solidFill>
                  <a:schemeClr val="tx1"/>
                </a:solidFill>
                <a:effectLst/>
                <a:latin typeface="+mn-lt"/>
                <a:ea typeface="+mn-ea"/>
                <a:cs typeface="+mn-cs"/>
              </a:rPr>
              <a:t> Tech giants like Microsoft, Amazon, Google, and Nvidia have priced their current stock valuations based on the success and monetizability of these AI labs. </a:t>
            </a:r>
          </a:p>
          <a:p>
            <a:r>
              <a:rPr lang="en-US" sz="1200" b="1" kern="1200" dirty="0">
                <a:solidFill>
                  <a:schemeClr val="tx1"/>
                </a:solidFill>
                <a:effectLst/>
                <a:latin typeface="+mn-lt"/>
                <a:ea typeface="+mn-ea"/>
                <a:cs typeface="+mn-cs"/>
              </a:rPr>
              <a:t>Track 3 (The S&amp;P 500):</a:t>
            </a:r>
            <a:r>
              <a:rPr lang="en-US" sz="1200" kern="1200" dirty="0">
                <a:solidFill>
                  <a:schemeClr val="tx1"/>
                </a:solidFill>
                <a:effectLst/>
                <a:latin typeface="+mn-lt"/>
                <a:ea typeface="+mn-ea"/>
                <a:cs typeface="+mn-cs"/>
              </a:rPr>
              <a:t> Because the Magnificent 7 make up an unprecedented percentage of index weightings, the entire S&amp;P 500 is heavily exposed. </a:t>
            </a:r>
          </a:p>
          <a:p>
            <a:r>
              <a:rPr lang="en-US" sz="1200" kern="1200" dirty="0">
                <a:solidFill>
                  <a:schemeClr val="tx1"/>
                </a:solidFill>
                <a:effectLst/>
                <a:latin typeface="+mn-lt"/>
                <a:ea typeface="+mn-ea"/>
                <a:cs typeface="+mn-cs"/>
              </a:rPr>
              <a:t>If an OpenAI or Anthropic IPO stumbles, fails to show a clear path to profitability, or pulls back, the fallout won't remain isolated. The valuation shock will instantly reverberate through the Mag 7 and drag down broader index funds held in retirement accounts across the country. </a:t>
            </a:r>
          </a:p>
          <a:p>
            <a:endParaRPr lang="en-US" dirty="0"/>
          </a:p>
        </p:txBody>
      </p:sp>
      <p:sp>
        <p:nvSpPr>
          <p:cNvPr id="4" name="Slide Number Placeholder 3"/>
          <p:cNvSpPr>
            <a:spLocks noGrp="1"/>
          </p:cNvSpPr>
          <p:nvPr>
            <p:ph type="sldNum" sz="quarter" idx="5"/>
          </p:nvPr>
        </p:nvSpPr>
        <p:spPr/>
        <p:txBody>
          <a:bodyPr/>
          <a:lstStyle/>
          <a:p>
            <a:fld id="{C5CC96B4-DFC8-452F-85FD-2EBC8E64B843}" type="slidenum">
              <a:rPr lang="en-US" smtClean="0"/>
              <a:t>10</a:t>
            </a:fld>
            <a:endParaRPr lang="en-US"/>
          </a:p>
        </p:txBody>
      </p:sp>
    </p:spTree>
    <p:extLst>
      <p:ext uri="{BB962C8B-B14F-4D97-AF65-F5344CB8AC3E}">
        <p14:creationId xmlns:p14="http://schemas.microsoft.com/office/powerpoint/2010/main" val="3566093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2008, the phrase 'Too Big to Fail' belonged exclusively to Wall Street megabanks whose collapse threatened the global financial system. </a:t>
            </a:r>
          </a:p>
          <a:p>
            <a:r>
              <a:rPr lang="en-US" sz="1200" kern="1200" dirty="0">
                <a:solidFill>
                  <a:schemeClr val="tx1"/>
                </a:solidFill>
                <a:effectLst/>
                <a:latin typeface="+mn-lt"/>
                <a:ea typeface="+mn-ea"/>
                <a:cs typeface="+mn-cs"/>
              </a:rPr>
              <a:t>Today, that implicit government safety net has shifted to </a:t>
            </a:r>
            <a:r>
              <a:rPr lang="en-US" sz="1200" b="1" kern="1200" dirty="0">
                <a:solidFill>
                  <a:schemeClr val="tx1"/>
                </a:solidFill>
                <a:effectLst/>
                <a:latin typeface="+mn-lt"/>
                <a:ea typeface="+mn-ea"/>
                <a:cs typeface="+mn-cs"/>
              </a:rPr>
              <a:t>Technology Infrastructure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Because American geopolitical dominance, equity market stability, and future tax revenue are now anchored to the AI infrastructure, an </a:t>
            </a:r>
            <a:r>
              <a:rPr lang="en-US" sz="1200" b="1" kern="1200" dirty="0">
                <a:solidFill>
                  <a:schemeClr val="tx1"/>
                </a:solidFill>
                <a:effectLst/>
                <a:latin typeface="+mn-lt"/>
                <a:ea typeface="+mn-ea"/>
                <a:cs typeface="+mn-cs"/>
              </a:rPr>
              <a:t>implicit taxpayer put</a:t>
            </a:r>
            <a:r>
              <a:rPr lang="en-US" sz="1200" kern="1200" dirty="0">
                <a:solidFill>
                  <a:schemeClr val="tx1"/>
                </a:solidFill>
                <a:effectLst/>
                <a:latin typeface="+mn-lt"/>
                <a:ea typeface="+mn-ea"/>
                <a:cs typeface="+mn-cs"/>
              </a:rPr>
              <a:t> exists. </a:t>
            </a:r>
          </a:p>
          <a:p>
            <a:r>
              <a:rPr lang="en-US" sz="1200" kern="1200" dirty="0">
                <a:solidFill>
                  <a:schemeClr val="tx1"/>
                </a:solidFill>
                <a:effectLst/>
                <a:latin typeface="+mn-lt"/>
                <a:ea typeface="+mn-ea"/>
                <a:cs typeface="+mn-cs"/>
              </a:rPr>
              <a:t>Just as Washington bailed out General Motors in 2008 or stepped in to backstop Intel, if a major frontier lab like OpenAI faces catastrophic financial collapse or insolvency, the US government will almost certainly step in to stabilize or nationalize aspects of the infrastructure. Taxpayers are effectively underwriting the speculative risk of private AI ventures. </a:t>
            </a:r>
          </a:p>
          <a:p>
            <a:endParaRPr lang="en-US" dirty="0"/>
          </a:p>
        </p:txBody>
      </p:sp>
      <p:sp>
        <p:nvSpPr>
          <p:cNvPr id="4" name="Slide Number Placeholder 3"/>
          <p:cNvSpPr>
            <a:spLocks noGrp="1"/>
          </p:cNvSpPr>
          <p:nvPr>
            <p:ph type="sldNum" sz="quarter" idx="5"/>
          </p:nvPr>
        </p:nvSpPr>
        <p:spPr/>
        <p:txBody>
          <a:bodyPr/>
          <a:lstStyle/>
          <a:p>
            <a:fld id="{C5CC96B4-DFC8-452F-85FD-2EBC8E64B843}" type="slidenum">
              <a:rPr lang="en-US" smtClean="0"/>
              <a:t>11</a:t>
            </a:fld>
            <a:endParaRPr lang="en-US"/>
          </a:p>
        </p:txBody>
      </p:sp>
    </p:spTree>
    <p:extLst>
      <p:ext uri="{BB962C8B-B14F-4D97-AF65-F5344CB8AC3E}">
        <p14:creationId xmlns:p14="http://schemas.microsoft.com/office/powerpoint/2010/main" val="3738918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summarize the four interconnected pillars driving this system: </a:t>
            </a:r>
          </a:p>
          <a:p>
            <a:pPr marL="228600" lvl="0" indent="-228600">
              <a:buFont typeface="+mj-lt"/>
              <a:buAutoNum type="arabicPeriod"/>
            </a:pPr>
            <a:r>
              <a:rPr lang="en-US" sz="1200" b="1" kern="1200" dirty="0">
                <a:solidFill>
                  <a:schemeClr val="tx1"/>
                </a:solidFill>
                <a:effectLst/>
                <a:latin typeface="+mn-lt"/>
                <a:ea typeface="+mn-ea"/>
                <a:cs typeface="+mn-cs"/>
              </a:rPr>
              <a:t>Regulatory Capture:</a:t>
            </a:r>
            <a:r>
              <a:rPr lang="en-US" sz="1200" kern="1200" dirty="0">
                <a:solidFill>
                  <a:schemeClr val="tx1"/>
                </a:solidFill>
                <a:effectLst/>
                <a:latin typeface="+mn-lt"/>
                <a:ea typeface="+mn-ea"/>
                <a:cs typeface="+mn-cs"/>
              </a:rPr>
              <a:t> Incumbents leveraging safety narratives to build moats, limit liability, and choke off open-source alternatives. </a:t>
            </a:r>
          </a:p>
          <a:p>
            <a:pPr marL="228600" lvl="0" indent="-228600">
              <a:buFont typeface="+mj-lt"/>
              <a:buAutoNum type="arabicPeriod"/>
            </a:pPr>
            <a:r>
              <a:rPr lang="en-US" sz="1200" b="1" kern="1200" dirty="0">
                <a:solidFill>
                  <a:schemeClr val="tx1"/>
                </a:solidFill>
                <a:effectLst/>
                <a:latin typeface="+mn-lt"/>
                <a:ea typeface="+mn-ea"/>
                <a:cs typeface="+mn-cs"/>
              </a:rPr>
              <a:t>Geopolitical Race:</a:t>
            </a:r>
            <a:r>
              <a:rPr lang="en-US" sz="1200" kern="1200" dirty="0">
                <a:solidFill>
                  <a:schemeClr val="tx1"/>
                </a:solidFill>
                <a:effectLst/>
                <a:latin typeface="+mn-lt"/>
                <a:ea typeface="+mn-ea"/>
                <a:cs typeface="+mn-cs"/>
              </a:rPr>
              <a:t> The inability to pause or slow down due to the military and economic threat of China. </a:t>
            </a:r>
          </a:p>
          <a:p>
            <a:pPr marL="228600" lvl="0" indent="-228600">
              <a:buFont typeface="+mj-lt"/>
              <a:buAutoNum type="arabicPeriod"/>
            </a:pPr>
            <a:r>
              <a:rPr lang="en-US" sz="1200" b="1" kern="1200" dirty="0">
                <a:solidFill>
                  <a:schemeClr val="tx1"/>
                </a:solidFill>
                <a:effectLst/>
                <a:latin typeface="+mn-lt"/>
                <a:ea typeface="+mn-ea"/>
                <a:cs typeface="+mn-cs"/>
              </a:rPr>
              <a:t>Debt Salvation:</a:t>
            </a:r>
            <a:r>
              <a:rPr lang="en-US" sz="1200" kern="1200" dirty="0">
                <a:solidFill>
                  <a:schemeClr val="tx1"/>
                </a:solidFill>
                <a:effectLst/>
                <a:latin typeface="+mn-lt"/>
                <a:ea typeface="+mn-ea"/>
                <a:cs typeface="+mn-cs"/>
              </a:rPr>
              <a:t> Washington's desperate macroeconomic bet on hyper-productivity to service $40 trillion in national debt. </a:t>
            </a:r>
          </a:p>
          <a:p>
            <a:pPr marL="228600" lvl="0" indent="-228600">
              <a:buFont typeface="+mj-lt"/>
              <a:buAutoNum type="arabicPeriod"/>
            </a:pPr>
            <a:r>
              <a:rPr lang="en-US" sz="1200" b="1" kern="1200" dirty="0">
                <a:solidFill>
                  <a:schemeClr val="tx1"/>
                </a:solidFill>
                <a:effectLst/>
                <a:latin typeface="+mn-lt"/>
                <a:ea typeface="+mn-ea"/>
                <a:cs typeface="+mn-cs"/>
              </a:rPr>
              <a:t>Vendor Financing:</a:t>
            </a:r>
            <a:r>
              <a:rPr lang="en-US" sz="1200" kern="1200" dirty="0">
                <a:solidFill>
                  <a:schemeClr val="tx1"/>
                </a:solidFill>
                <a:effectLst/>
                <a:latin typeface="+mn-lt"/>
                <a:ea typeface="+mn-ea"/>
                <a:cs typeface="+mn-cs"/>
              </a:rPr>
              <a:t> Circular financial relationships and concentrated equity exposure dependent on a 2027 liquidity exit. </a:t>
            </a:r>
          </a:p>
          <a:p>
            <a:r>
              <a:rPr lang="en-US" sz="1200" kern="1200" dirty="0">
                <a:solidFill>
                  <a:schemeClr val="tx1"/>
                </a:solidFill>
                <a:effectLst/>
                <a:latin typeface="+mn-lt"/>
                <a:ea typeface="+mn-ea"/>
                <a:cs typeface="+mn-cs"/>
              </a:rPr>
              <a:t>As Andrew Ross Sorkin noted, this AI expansion is far more than a technological leap. It is a forced macroeconomic necessity built on deeply interconnected, fragile financial plumbing. </a:t>
            </a:r>
          </a:p>
          <a:p>
            <a:endParaRPr lang="en-US" dirty="0"/>
          </a:p>
        </p:txBody>
      </p:sp>
      <p:sp>
        <p:nvSpPr>
          <p:cNvPr id="4" name="Slide Number Placeholder 3"/>
          <p:cNvSpPr>
            <a:spLocks noGrp="1"/>
          </p:cNvSpPr>
          <p:nvPr>
            <p:ph type="sldNum" sz="quarter" idx="5"/>
          </p:nvPr>
        </p:nvSpPr>
        <p:spPr/>
        <p:txBody>
          <a:bodyPr/>
          <a:lstStyle/>
          <a:p>
            <a:fld id="{C5CC96B4-DFC8-452F-85FD-2EBC8E64B843}" type="slidenum">
              <a:rPr lang="en-US" smtClean="0"/>
              <a:t>12</a:t>
            </a:fld>
            <a:endParaRPr lang="en-US"/>
          </a:p>
        </p:txBody>
      </p:sp>
    </p:spTree>
    <p:extLst>
      <p:ext uri="{BB962C8B-B14F-4D97-AF65-F5344CB8AC3E}">
        <p14:creationId xmlns:p14="http://schemas.microsoft.com/office/powerpoint/2010/main" val="14773468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Given these structural realities, how should capital be positioned? </a:t>
            </a:r>
          </a:p>
          <a:p>
            <a:r>
              <a:rPr lang="en-US" sz="1200" b="1" kern="1200" dirty="0">
                <a:solidFill>
                  <a:schemeClr val="tx1"/>
                </a:solidFill>
                <a:effectLst/>
                <a:latin typeface="+mn-lt"/>
                <a:ea typeface="+mn-ea"/>
                <a:cs typeface="+mn-cs"/>
              </a:rPr>
              <a:t>1. The Safe Haven (Hardware Stack):</a:t>
            </a:r>
            <a:r>
              <a:rPr lang="en-US" sz="1200" kern="1200" dirty="0">
                <a:solidFill>
                  <a:schemeClr val="tx1"/>
                </a:solidFill>
                <a:effectLst/>
                <a:latin typeface="+mn-lt"/>
                <a:ea typeface="+mn-ea"/>
                <a:cs typeface="+mn-cs"/>
              </a:rPr>
              <a:t> Software applications and model layers face high volatility, low moats, and IPO risks. However, the physical hardware stack—chips, high-bandwidth memory, energy producers, and data center infrastructure—remains the most resilient capital deployment in the short term. Compute demand remains absolute. </a:t>
            </a:r>
          </a:p>
          <a:p>
            <a:r>
              <a:rPr lang="en-US" sz="1200" b="1" kern="1200" dirty="0">
                <a:solidFill>
                  <a:schemeClr val="tx1"/>
                </a:solidFill>
                <a:effectLst/>
                <a:latin typeface="+mn-lt"/>
                <a:ea typeface="+mn-ea"/>
                <a:cs typeface="+mn-cs"/>
              </a:rPr>
              <a:t>2. The Fiscal Reality:</a:t>
            </a:r>
            <a:r>
              <a:rPr lang="en-US" sz="1200" kern="1200" dirty="0">
                <a:solidFill>
                  <a:schemeClr val="tx1"/>
                </a:solidFill>
                <a:effectLst/>
                <a:latin typeface="+mn-lt"/>
                <a:ea typeface="+mn-ea"/>
                <a:cs typeface="+mn-cs"/>
              </a:rPr>
              <a:t> Realize that AI productivity alone cannot solve federal debt. Structural austerity, entitlement adjustments, or tax restructurings—potentially shifting higher tax burdens onto capital over labor—will eventually become unavoidable. </a:t>
            </a:r>
          </a:p>
          <a:p>
            <a:r>
              <a:rPr lang="en-US" sz="1200" b="1" kern="1200" dirty="0">
                <a:solidFill>
                  <a:schemeClr val="tx1"/>
                </a:solidFill>
                <a:effectLst/>
                <a:latin typeface="+mn-lt"/>
                <a:ea typeface="+mn-ea"/>
                <a:cs typeface="+mn-cs"/>
              </a:rPr>
              <a:t>3. The Forced March:</a:t>
            </a:r>
            <a:r>
              <a:rPr lang="en-US" sz="1200" kern="1200" dirty="0">
                <a:solidFill>
                  <a:schemeClr val="tx1"/>
                </a:solidFill>
                <a:effectLst/>
                <a:latin typeface="+mn-lt"/>
                <a:ea typeface="+mn-ea"/>
                <a:cs typeface="+mn-cs"/>
              </a:rPr>
              <a:t> There is no opting out. Nationally and economically, the US must push forward for geopolitical survival. Investors must participate, but they must build portfolios resilient enough to withstand severe structural shocks along the way. </a:t>
            </a:r>
          </a:p>
          <a:p>
            <a:endParaRPr lang="en-US" dirty="0"/>
          </a:p>
        </p:txBody>
      </p:sp>
      <p:sp>
        <p:nvSpPr>
          <p:cNvPr id="4" name="Slide Number Placeholder 3"/>
          <p:cNvSpPr>
            <a:spLocks noGrp="1"/>
          </p:cNvSpPr>
          <p:nvPr>
            <p:ph type="sldNum" sz="quarter" idx="5"/>
          </p:nvPr>
        </p:nvSpPr>
        <p:spPr/>
        <p:txBody>
          <a:bodyPr/>
          <a:lstStyle/>
          <a:p>
            <a:fld id="{C5CC96B4-DFC8-452F-85FD-2EBC8E64B843}" type="slidenum">
              <a:rPr lang="en-US" smtClean="0"/>
              <a:t>13</a:t>
            </a:fld>
            <a:endParaRPr lang="en-US"/>
          </a:p>
        </p:txBody>
      </p:sp>
    </p:spTree>
    <p:extLst>
      <p:ext uri="{BB962C8B-B14F-4D97-AF65-F5344CB8AC3E}">
        <p14:creationId xmlns:p14="http://schemas.microsoft.com/office/powerpoint/2010/main" val="3128327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close, I want to leave you with a quote from Andrew Ross Sorkin that accurately captures our current moment:</a:t>
            </a:r>
          </a:p>
          <a:p>
            <a:r>
              <a:rPr lang="en-US" sz="1200" i="1" kern="1200" dirty="0">
                <a:solidFill>
                  <a:schemeClr val="tx1"/>
                </a:solidFill>
                <a:effectLst/>
                <a:latin typeface="+mn-lt"/>
                <a:ea typeface="+mn-ea"/>
                <a:cs typeface="+mn-cs"/>
              </a:rPr>
              <a:t>'The people building the future are making a very big bet—and you are in on it, whether you signed up or not.'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We are all stakeholders in this transition—as investors, workers, taxpayers, and citizens. Understanding the underlying financial and regulatory mechanics allows us to navigate the coming shifts rather than being caught off guard by them. </a:t>
            </a:r>
          </a:p>
          <a:p>
            <a:r>
              <a:rPr lang="en-US" sz="1200" kern="1200" dirty="0">
                <a:solidFill>
                  <a:schemeClr val="tx1"/>
                </a:solidFill>
                <a:effectLst/>
                <a:latin typeface="+mn-lt"/>
                <a:ea typeface="+mn-ea"/>
                <a:cs typeface="+mn-cs"/>
              </a:rPr>
              <a:t>Thank you, and I look forward to taking your questions.</a:t>
            </a:r>
          </a:p>
          <a:p>
            <a:endParaRPr lang="en-US" dirty="0"/>
          </a:p>
        </p:txBody>
      </p:sp>
      <p:sp>
        <p:nvSpPr>
          <p:cNvPr id="4" name="Slide Number Placeholder 3"/>
          <p:cNvSpPr>
            <a:spLocks noGrp="1"/>
          </p:cNvSpPr>
          <p:nvPr>
            <p:ph type="sldNum" sz="quarter" idx="5"/>
          </p:nvPr>
        </p:nvSpPr>
        <p:spPr/>
        <p:txBody>
          <a:bodyPr/>
          <a:lstStyle/>
          <a:p>
            <a:fld id="{C5CC96B4-DFC8-452F-85FD-2EBC8E64B843}" type="slidenum">
              <a:rPr lang="en-US" smtClean="0"/>
              <a:t>14</a:t>
            </a:fld>
            <a:endParaRPr lang="en-US"/>
          </a:p>
        </p:txBody>
      </p:sp>
    </p:spTree>
    <p:extLst>
      <p:ext uri="{BB962C8B-B14F-4D97-AF65-F5344CB8AC3E}">
        <p14:creationId xmlns:p14="http://schemas.microsoft.com/office/powerpoint/2010/main" val="40846762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our deck analysis, let's look at the full matrix of potential outcomes across three core dimensions: </a:t>
            </a:r>
            <a:r>
              <a:rPr lang="en-US" sz="1200" b="1" kern="1200" dirty="0">
                <a:solidFill>
                  <a:schemeClr val="tx1"/>
                </a:solidFill>
                <a:effectLst/>
                <a:latin typeface="+mn-lt"/>
                <a:ea typeface="+mn-ea"/>
                <a:cs typeface="+mn-cs"/>
              </a:rPr>
              <a:t>Labor</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Global Power</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Market Stability</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1. Labor:</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Optimistic View:</a:t>
            </a:r>
            <a:r>
              <a:rPr lang="en-US" sz="1200" kern="1200" dirty="0">
                <a:solidFill>
                  <a:schemeClr val="tx1"/>
                </a:solidFill>
                <a:effectLst/>
                <a:latin typeface="+mn-lt"/>
                <a:ea typeface="+mn-ea"/>
                <a:cs typeface="+mn-cs"/>
              </a:rPr>
              <a:t> AI delivers hyper-productivity, delegating routine tasks to machines and leading to prosperous 20-hour workweeks with higher living standards.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Pessimistic View:</a:t>
            </a:r>
            <a:r>
              <a:rPr lang="en-US" sz="1200" kern="1200" dirty="0">
                <a:solidFill>
                  <a:schemeClr val="tx1"/>
                </a:solidFill>
                <a:effectLst/>
                <a:latin typeface="+mn-lt"/>
                <a:ea typeface="+mn-ea"/>
                <a:cs typeface="+mn-cs"/>
              </a:rPr>
              <a:t> Widespread job displacement occurs faster than society can adapt, leading to loss of human dignity, structural unemployment, and social unrest. </a:t>
            </a:r>
          </a:p>
          <a:p>
            <a:r>
              <a:rPr lang="en-US" sz="1200" b="1" kern="1200" dirty="0">
                <a:solidFill>
                  <a:schemeClr val="tx1"/>
                </a:solidFill>
                <a:effectLst/>
                <a:latin typeface="+mn-lt"/>
                <a:ea typeface="+mn-ea"/>
                <a:cs typeface="+mn-cs"/>
              </a:rPr>
              <a:t>2. Global Power:</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Optimistic View:</a:t>
            </a:r>
            <a:r>
              <a:rPr lang="en-US" sz="1200" kern="1200" dirty="0">
                <a:solidFill>
                  <a:schemeClr val="tx1"/>
                </a:solidFill>
                <a:effectLst/>
                <a:latin typeface="+mn-lt"/>
                <a:ea typeface="+mn-ea"/>
                <a:cs typeface="+mn-cs"/>
              </a:rPr>
              <a:t> The US maintains its 2-year lead in frontier AGI research, preserving Western technological hegemony and democratic norms globally.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Pessimistic View:</a:t>
            </a:r>
            <a:r>
              <a:rPr lang="en-US" sz="1200" kern="1200" dirty="0">
                <a:solidFill>
                  <a:schemeClr val="tx1"/>
                </a:solidFill>
                <a:effectLst/>
                <a:latin typeface="+mn-lt"/>
                <a:ea typeface="+mn-ea"/>
                <a:cs typeface="+mn-cs"/>
              </a:rPr>
              <a:t> Unrestricted deployment and rapid distillation allow China to outcompete the US, establishing authoritarian dominance over the global tech stack. </a:t>
            </a:r>
          </a:p>
          <a:p>
            <a:r>
              <a:rPr lang="en-US" sz="1200" b="1" kern="1200" dirty="0">
                <a:solidFill>
                  <a:schemeClr val="tx1"/>
                </a:solidFill>
                <a:effectLst/>
                <a:latin typeface="+mn-lt"/>
                <a:ea typeface="+mn-ea"/>
                <a:cs typeface="+mn-cs"/>
              </a:rPr>
              <a:t>3. Market Stability: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Optimistic View:</a:t>
            </a:r>
            <a:r>
              <a:rPr lang="en-US" sz="1200" kern="1200" dirty="0">
                <a:solidFill>
                  <a:schemeClr val="tx1"/>
                </a:solidFill>
                <a:effectLst/>
                <a:latin typeface="+mn-lt"/>
                <a:ea typeface="+mn-ea"/>
                <a:cs typeface="+mn-cs"/>
              </a:rPr>
              <a:t> AI-driven GDP growth expands the tax base and generates enough productivity to successfully service the $40 trillion national debt.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Pessimistic View:</a:t>
            </a:r>
            <a:r>
              <a:rPr lang="en-US" sz="1200" kern="1200" dirty="0">
                <a:solidFill>
                  <a:schemeClr val="tx1"/>
                </a:solidFill>
                <a:effectLst/>
                <a:latin typeface="+mn-lt"/>
                <a:ea typeface="+mn-ea"/>
                <a:cs typeface="+mn-cs"/>
              </a:rPr>
              <a:t> The circular 'vendor financing' loop collapses, triggering a liquidity freeze in the 2027 IPO window that drags down the Mag 7 and crashes the S&amp;P 500. </a:t>
            </a:r>
          </a:p>
          <a:p>
            <a:r>
              <a:rPr lang="en-US" sz="1200" kern="1200" dirty="0">
                <a:solidFill>
                  <a:schemeClr val="tx1"/>
                </a:solidFill>
                <a:effectLst/>
                <a:latin typeface="+mn-lt"/>
                <a:ea typeface="+mn-ea"/>
                <a:cs typeface="+mn-cs"/>
              </a:rPr>
              <a:t>Balancing these outcomes requires looking beyond tech hype to manage the underlying financial and structural risks. </a:t>
            </a:r>
          </a:p>
          <a:p>
            <a:endParaRPr lang="en-US" dirty="0"/>
          </a:p>
          <a:p>
            <a:endParaRPr lang="en-US" dirty="0"/>
          </a:p>
          <a:p>
            <a:r>
              <a:rPr lang="en-US" b="1" dirty="0"/>
              <a:t>This Is How the AI Bubble Ends</a:t>
            </a:r>
          </a:p>
          <a:p>
            <a:r>
              <a:rPr lang="en-US" dirty="0"/>
              <a:t>https://www.youtube.com/watch?v=TWnkNyW78Nk</a:t>
            </a:r>
          </a:p>
          <a:p>
            <a:endParaRPr lang="en-US" dirty="0"/>
          </a:p>
        </p:txBody>
      </p:sp>
      <p:sp>
        <p:nvSpPr>
          <p:cNvPr id="4" name="Slide Number Placeholder 3"/>
          <p:cNvSpPr>
            <a:spLocks noGrp="1"/>
          </p:cNvSpPr>
          <p:nvPr>
            <p:ph type="sldNum" sz="quarter" idx="5"/>
          </p:nvPr>
        </p:nvSpPr>
        <p:spPr/>
        <p:txBody>
          <a:bodyPr/>
          <a:lstStyle/>
          <a:p>
            <a:fld id="{C5CC96B4-DFC8-452F-85FD-2EBC8E64B843}" type="slidenum">
              <a:rPr lang="en-US" smtClean="0"/>
              <a:t>15</a:t>
            </a:fld>
            <a:endParaRPr lang="en-US"/>
          </a:p>
        </p:txBody>
      </p:sp>
    </p:spTree>
    <p:extLst>
      <p:ext uri="{BB962C8B-B14F-4D97-AF65-F5344CB8AC3E}">
        <p14:creationId xmlns:p14="http://schemas.microsoft.com/office/powerpoint/2010/main" val="2265713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42A231-058C-4CD5-9D9F-7178F899F59E}"/>
              </a:ext>
            </a:extLst>
          </p:cNvPr>
          <p:cNvSpPr>
            <a:spLocks noGrp="1"/>
          </p:cNvSpPr>
          <p:nvPr>
            <p:ph type="dt" sz="half" idx="10"/>
          </p:nvPr>
        </p:nvSpPr>
        <p:spPr/>
        <p:txBody>
          <a:bodyPr/>
          <a:lstStyle/>
          <a:p>
            <a:fld id="{8DEBC814-530F-4E56-BA7C-E2F9414B9934}" type="datetimeFigureOut">
              <a:rPr lang="en-US" smtClean="0"/>
              <a:t>10/20/2026</a:t>
            </a:fld>
            <a:endParaRPr lang="en-US"/>
          </a:p>
        </p:txBody>
      </p:sp>
      <p:sp>
        <p:nvSpPr>
          <p:cNvPr id="3" name="Footer Placeholder 2">
            <a:extLst>
              <a:ext uri="{FF2B5EF4-FFF2-40B4-BE49-F238E27FC236}">
                <a16:creationId xmlns:a16="http://schemas.microsoft.com/office/drawing/2014/main" id="{8C1EB0C9-6922-3806-8E58-DC28E23EF6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D4A911-E697-6157-4615-35653B88ECD6}"/>
              </a:ext>
            </a:extLst>
          </p:cNvPr>
          <p:cNvSpPr>
            <a:spLocks noGrp="1"/>
          </p:cNvSpPr>
          <p:nvPr>
            <p:ph type="sldNum" sz="quarter" idx="12"/>
          </p:nvPr>
        </p:nvSpPr>
        <p:spPr/>
        <p:txBody>
          <a:bodyPr/>
          <a:lstStyle/>
          <a:p>
            <a:fld id="{A87988BD-2F74-40A8-A2A2-4ED5E6E8F693}" type="slidenum">
              <a:rPr lang="en-US" smtClean="0"/>
              <a:t>‹#›</a:t>
            </a:fld>
            <a:endParaRPr lang="en-US"/>
          </a:p>
        </p:txBody>
      </p:sp>
    </p:spTree>
    <p:extLst>
      <p:ext uri="{BB962C8B-B14F-4D97-AF65-F5344CB8AC3E}">
        <p14:creationId xmlns:p14="http://schemas.microsoft.com/office/powerpoint/2010/main" val="105053338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15C414-46F3-B53C-4C98-8386CC813D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7ADC0B4-4AB7-3899-9130-C21057E486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2B15F2-6D8A-267D-B5C6-C867346439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DEBC814-530F-4E56-BA7C-E2F9414B9934}" type="datetimeFigureOut">
              <a:rPr lang="en-US" smtClean="0"/>
              <a:t>10/20/2026</a:t>
            </a:fld>
            <a:endParaRPr lang="en-US"/>
          </a:p>
        </p:txBody>
      </p:sp>
      <p:sp>
        <p:nvSpPr>
          <p:cNvPr id="5" name="Footer Placeholder 4">
            <a:extLst>
              <a:ext uri="{FF2B5EF4-FFF2-40B4-BE49-F238E27FC236}">
                <a16:creationId xmlns:a16="http://schemas.microsoft.com/office/drawing/2014/main" id="{76D4CA7B-177C-903E-6165-0487F76D45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F9C9C2-CFC3-F203-1814-67A350924D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7988BD-2F74-40A8-A2A2-4ED5E6E8F693}" type="slidenum">
              <a:rPr lang="en-US" smtClean="0"/>
              <a:t>‹#›</a:t>
            </a:fld>
            <a:endParaRPr lang="en-US"/>
          </a:p>
        </p:txBody>
      </p:sp>
    </p:spTree>
    <p:extLst>
      <p:ext uri="{BB962C8B-B14F-4D97-AF65-F5344CB8AC3E}">
        <p14:creationId xmlns:p14="http://schemas.microsoft.com/office/powerpoint/2010/main" val="2073693574"/>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294BD4B-FEAC-D75F-18F9-A1FDF7B217F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CF44AA-9D79-A3A6-5F27-2A28F7D4731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FC9925-4A84-668B-20D3-88C9D23EBB6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BD7E473-F2DB-617B-C4C5-69E916251FD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D209541-B23F-5E80-044B-E6BD849F056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B59E168-6583-9221-9476-74DBD06AFE7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C5CDBD-9C37-A5A1-B833-F90FC40535E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E2E18B6-217D-7A8A-AC3E-E79265D7EEE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69AD845-B067-EBB8-70A1-4424A5DA1FB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3874145-34BE-42CB-0A85-4D7E34C5438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DD70D5-5B2C-8ED9-65B1-CEEA1FE3A66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1F4F082-9D93-A699-09DA-501F25CCCB1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99A71BE-6037-74EE-CE84-9D2849FC6F0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242BEA3-A422-18B5-1F29-07E4B7276A1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44A2469-B660-7397-289C-92EDD98E9128}"/>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7434185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2317</Words>
  <Application>Microsoft Office PowerPoint</Application>
  <PresentationFormat>寬螢幕</PresentationFormat>
  <Paragraphs>101</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2026-09-22T13:36:34Z</dcterms:created>
  <dcterms:modified xsi:type="dcterms:W3CDTF">2026-10-20T13:27:07Z</dcterms:modified>
</cp:coreProperties>
</file>