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093F70-328D-40A0-836F-78EA96E784A4}" v="19" dt="2026-09-27T00:09:41.3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9" autoAdjust="0"/>
    <p:restoredTop sz="76068"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7T00:10:13.546" v="133" actId="166"/>
      <pc:docMkLst>
        <pc:docMk/>
      </pc:docMkLst>
      <pc:sldChg chg="addSp delSp modSp mod modAnim modNotesTx">
        <pc:chgData name="Lai, Wilson" userId="2840974a-0d84-4886-90a9-9a3ed79f3a48" providerId="ADAL" clId="{9F23B798-9E84-4552-BA63-E776E805C424}" dt="2026-09-27T00:10:13.546" v="133" actId="166"/>
        <pc:sldMkLst>
          <pc:docMk/>
          <pc:sldMk cId="0" sldId="257"/>
        </pc:sldMkLst>
        <pc:spChg chg="add mod">
          <ac:chgData name="Lai, Wilson" userId="2840974a-0d84-4886-90a9-9a3ed79f3a48" providerId="ADAL" clId="{9F23B798-9E84-4552-BA63-E776E805C424}" dt="2026-09-26T23:17:18.451" v="38" actId="1076"/>
          <ac:spMkLst>
            <pc:docMk/>
            <pc:sldMk cId="0" sldId="257"/>
            <ac:spMk id="5" creationId="{8170C8A2-2EA8-2751-D225-6A1F46D4D3C4}"/>
          </ac:spMkLst>
        </pc:spChg>
        <pc:grpChg chg="add mod">
          <ac:chgData name="Lai, Wilson" userId="2840974a-0d84-4886-90a9-9a3ed79f3a48" providerId="ADAL" clId="{9F23B798-9E84-4552-BA63-E776E805C424}" dt="2026-09-26T23:17:15.024" v="37" actId="164"/>
          <ac:grpSpMkLst>
            <pc:docMk/>
            <pc:sldMk cId="0" sldId="257"/>
            <ac:grpSpMk id="6" creationId="{2C34EE12-B166-D77F-4CB3-CD239C8B7CD4}"/>
          </ac:grpSpMkLst>
        </pc:grpChg>
        <pc:picChg chg="del">
          <ac:chgData name="Lai, Wilson" userId="2840974a-0d84-4886-90a9-9a3ed79f3a48" providerId="ADAL" clId="{9F23B798-9E84-4552-BA63-E776E805C424}" dt="2026-09-26T22:48:35.239" v="0" actId="21"/>
          <ac:picMkLst>
            <pc:docMk/>
            <pc:sldMk cId="0" sldId="257"/>
            <ac:picMk id="2" creationId="{00000000-0000-0000-0000-000000000000}"/>
          </ac:picMkLst>
        </pc:picChg>
        <pc:picChg chg="add mod">
          <ac:chgData name="Lai, Wilson" userId="2840974a-0d84-4886-90a9-9a3ed79f3a48" providerId="ADAL" clId="{9F23B798-9E84-4552-BA63-E776E805C424}" dt="2026-09-26T23:17:15.024" v="37" actId="164"/>
          <ac:picMkLst>
            <pc:docMk/>
            <pc:sldMk cId="0" sldId="257"/>
            <ac:picMk id="2" creationId="{09AB648B-46F1-4C64-E821-39F4CF2D3C72}"/>
          </ac:picMkLst>
        </pc:picChg>
        <pc:picChg chg="add mod ord">
          <ac:chgData name="Lai, Wilson" userId="2840974a-0d84-4886-90a9-9a3ed79f3a48" providerId="ADAL" clId="{9F23B798-9E84-4552-BA63-E776E805C424}" dt="2026-09-27T00:10:13.546" v="133" actId="166"/>
          <ac:picMkLst>
            <pc:docMk/>
            <pc:sldMk cId="0" sldId="257"/>
            <ac:picMk id="4" creationId="{8DF64CBA-29A9-B5F3-4983-B16DAC2BA71F}"/>
          </ac:picMkLst>
        </pc:picChg>
      </pc:sldChg>
      <pc:sldChg chg="addSp delSp mod modNotesTx">
        <pc:chgData name="Lai, Wilson" userId="2840974a-0d84-4886-90a9-9a3ed79f3a48" providerId="ADAL" clId="{9F23B798-9E84-4552-BA63-E776E805C424}" dt="2026-09-26T23:59:31.876" v="52" actId="12"/>
        <pc:sldMkLst>
          <pc:docMk/>
          <pc:sldMk cId="0" sldId="258"/>
        </pc:sldMkLst>
        <pc:picChg chg="del">
          <ac:chgData name="Lai, Wilson" userId="2840974a-0d84-4886-90a9-9a3ed79f3a48" providerId="ADAL" clId="{9F23B798-9E84-4552-BA63-E776E805C424}" dt="2026-09-26T22:48:52.991" v="2" actId="21"/>
          <ac:picMkLst>
            <pc:docMk/>
            <pc:sldMk cId="0" sldId="258"/>
            <ac:picMk id="2" creationId="{00000000-0000-0000-0000-000000000000}"/>
          </ac:picMkLst>
        </pc:picChg>
        <pc:picChg chg="add">
          <ac:chgData name="Lai, Wilson" userId="2840974a-0d84-4886-90a9-9a3ed79f3a48" providerId="ADAL" clId="{9F23B798-9E84-4552-BA63-E776E805C424}" dt="2026-09-26T22:49:01.994" v="3" actId="22"/>
          <ac:picMkLst>
            <pc:docMk/>
            <pc:sldMk cId="0" sldId="258"/>
            <ac:picMk id="4" creationId="{66F09040-4629-6F9A-4F8F-8F4255DC8F1C}"/>
          </ac:picMkLst>
        </pc:picChg>
      </pc:sldChg>
      <pc:sldChg chg="addSp delSp mod modNotesTx">
        <pc:chgData name="Lai, Wilson" userId="2840974a-0d84-4886-90a9-9a3ed79f3a48" providerId="ADAL" clId="{9F23B798-9E84-4552-BA63-E776E805C424}" dt="2026-09-26T23:59:49.148" v="53" actId="12"/>
        <pc:sldMkLst>
          <pc:docMk/>
          <pc:sldMk cId="0" sldId="259"/>
        </pc:sldMkLst>
        <pc:picChg chg="del">
          <ac:chgData name="Lai, Wilson" userId="2840974a-0d84-4886-90a9-9a3ed79f3a48" providerId="ADAL" clId="{9F23B798-9E84-4552-BA63-E776E805C424}" dt="2026-09-26T22:49:03.936" v="4" actId="21"/>
          <ac:picMkLst>
            <pc:docMk/>
            <pc:sldMk cId="0" sldId="259"/>
            <ac:picMk id="2" creationId="{00000000-0000-0000-0000-000000000000}"/>
          </ac:picMkLst>
        </pc:picChg>
        <pc:picChg chg="add">
          <ac:chgData name="Lai, Wilson" userId="2840974a-0d84-4886-90a9-9a3ed79f3a48" providerId="ADAL" clId="{9F23B798-9E84-4552-BA63-E776E805C424}" dt="2026-09-26T22:49:19.156" v="5" actId="22"/>
          <ac:picMkLst>
            <pc:docMk/>
            <pc:sldMk cId="0" sldId="259"/>
            <ac:picMk id="4" creationId="{AD7870C5-FE33-1E8D-4B62-2157B9472061}"/>
          </ac:picMkLst>
        </pc:picChg>
      </pc:sldChg>
      <pc:sldChg chg="addSp delSp mod modNotesTx">
        <pc:chgData name="Lai, Wilson" userId="2840974a-0d84-4886-90a9-9a3ed79f3a48" providerId="ADAL" clId="{9F23B798-9E84-4552-BA63-E776E805C424}" dt="2026-09-27T00:00:33.372" v="59" actId="12"/>
        <pc:sldMkLst>
          <pc:docMk/>
          <pc:sldMk cId="0" sldId="260"/>
        </pc:sldMkLst>
        <pc:picChg chg="del">
          <ac:chgData name="Lai, Wilson" userId="2840974a-0d84-4886-90a9-9a3ed79f3a48" providerId="ADAL" clId="{9F23B798-9E84-4552-BA63-E776E805C424}" dt="2026-09-26T22:49:21.001" v="6" actId="21"/>
          <ac:picMkLst>
            <pc:docMk/>
            <pc:sldMk cId="0" sldId="260"/>
            <ac:picMk id="2" creationId="{00000000-0000-0000-0000-000000000000}"/>
          </ac:picMkLst>
        </pc:picChg>
        <pc:picChg chg="add">
          <ac:chgData name="Lai, Wilson" userId="2840974a-0d84-4886-90a9-9a3ed79f3a48" providerId="ADAL" clId="{9F23B798-9E84-4552-BA63-E776E805C424}" dt="2026-09-26T22:49:36.192" v="7" actId="22"/>
          <ac:picMkLst>
            <pc:docMk/>
            <pc:sldMk cId="0" sldId="260"/>
            <ac:picMk id="4" creationId="{113F2F9C-2685-5D1B-F1A3-24C75AEFA700}"/>
          </ac:picMkLst>
        </pc:picChg>
      </pc:sldChg>
      <pc:sldChg chg="addSp delSp mod modNotesTx">
        <pc:chgData name="Lai, Wilson" userId="2840974a-0d84-4886-90a9-9a3ed79f3a48" providerId="ADAL" clId="{9F23B798-9E84-4552-BA63-E776E805C424}" dt="2026-09-27T00:02:03.446" v="92" actId="12"/>
        <pc:sldMkLst>
          <pc:docMk/>
          <pc:sldMk cId="0" sldId="261"/>
        </pc:sldMkLst>
        <pc:picChg chg="del">
          <ac:chgData name="Lai, Wilson" userId="2840974a-0d84-4886-90a9-9a3ed79f3a48" providerId="ADAL" clId="{9F23B798-9E84-4552-BA63-E776E805C424}" dt="2026-09-26T22:49:37.995" v="8" actId="21"/>
          <ac:picMkLst>
            <pc:docMk/>
            <pc:sldMk cId="0" sldId="261"/>
            <ac:picMk id="2" creationId="{00000000-0000-0000-0000-000000000000}"/>
          </ac:picMkLst>
        </pc:picChg>
        <pc:picChg chg="add">
          <ac:chgData name="Lai, Wilson" userId="2840974a-0d84-4886-90a9-9a3ed79f3a48" providerId="ADAL" clId="{9F23B798-9E84-4552-BA63-E776E805C424}" dt="2026-09-26T22:49:47.756" v="9" actId="22"/>
          <ac:picMkLst>
            <pc:docMk/>
            <pc:sldMk cId="0" sldId="261"/>
            <ac:picMk id="4" creationId="{61A1BFBB-98EB-43EF-E358-8A04C468ED5A}"/>
          </ac:picMkLst>
        </pc:picChg>
      </pc:sldChg>
      <pc:sldChg chg="addSp delSp mod modNotesTx">
        <pc:chgData name="Lai, Wilson" userId="2840974a-0d84-4886-90a9-9a3ed79f3a48" providerId="ADAL" clId="{9F23B798-9E84-4552-BA63-E776E805C424}" dt="2026-09-27T00:02:15.884" v="93" actId="12"/>
        <pc:sldMkLst>
          <pc:docMk/>
          <pc:sldMk cId="0" sldId="262"/>
        </pc:sldMkLst>
        <pc:picChg chg="del">
          <ac:chgData name="Lai, Wilson" userId="2840974a-0d84-4886-90a9-9a3ed79f3a48" providerId="ADAL" clId="{9F23B798-9E84-4552-BA63-E776E805C424}" dt="2026-09-26T22:49:49.562" v="10" actId="21"/>
          <ac:picMkLst>
            <pc:docMk/>
            <pc:sldMk cId="0" sldId="262"/>
            <ac:picMk id="2" creationId="{00000000-0000-0000-0000-000000000000}"/>
          </ac:picMkLst>
        </pc:picChg>
        <pc:picChg chg="add">
          <ac:chgData name="Lai, Wilson" userId="2840974a-0d84-4886-90a9-9a3ed79f3a48" providerId="ADAL" clId="{9F23B798-9E84-4552-BA63-E776E805C424}" dt="2026-09-26T22:49:57.266" v="11" actId="22"/>
          <ac:picMkLst>
            <pc:docMk/>
            <pc:sldMk cId="0" sldId="262"/>
            <ac:picMk id="4" creationId="{D064F1DD-A095-1B98-6BC4-74872153E315}"/>
          </ac:picMkLst>
        </pc:picChg>
      </pc:sldChg>
      <pc:sldChg chg="addSp delSp mod modNotesTx">
        <pc:chgData name="Lai, Wilson" userId="2840974a-0d84-4886-90a9-9a3ed79f3a48" providerId="ADAL" clId="{9F23B798-9E84-4552-BA63-E776E805C424}" dt="2026-09-27T00:02:52.439" v="97" actId="12"/>
        <pc:sldMkLst>
          <pc:docMk/>
          <pc:sldMk cId="0" sldId="263"/>
        </pc:sldMkLst>
        <pc:picChg chg="del">
          <ac:chgData name="Lai, Wilson" userId="2840974a-0d84-4886-90a9-9a3ed79f3a48" providerId="ADAL" clId="{9F23B798-9E84-4552-BA63-E776E805C424}" dt="2026-09-26T22:49:58.648" v="12" actId="21"/>
          <ac:picMkLst>
            <pc:docMk/>
            <pc:sldMk cId="0" sldId="263"/>
            <ac:picMk id="2" creationId="{00000000-0000-0000-0000-000000000000}"/>
          </ac:picMkLst>
        </pc:picChg>
        <pc:picChg chg="add">
          <ac:chgData name="Lai, Wilson" userId="2840974a-0d84-4886-90a9-9a3ed79f3a48" providerId="ADAL" clId="{9F23B798-9E84-4552-BA63-E776E805C424}" dt="2026-09-26T22:50:07.771" v="13" actId="22"/>
          <ac:picMkLst>
            <pc:docMk/>
            <pc:sldMk cId="0" sldId="263"/>
            <ac:picMk id="4" creationId="{3DF254FD-BD9B-A7EA-737A-E47B93A9871B}"/>
          </ac:picMkLst>
        </pc:picChg>
      </pc:sldChg>
      <pc:sldChg chg="addSp delSp mod modNotesTx">
        <pc:chgData name="Lai, Wilson" userId="2840974a-0d84-4886-90a9-9a3ed79f3a48" providerId="ADAL" clId="{9F23B798-9E84-4552-BA63-E776E805C424}" dt="2026-09-27T00:03:22.459" v="101" actId="12"/>
        <pc:sldMkLst>
          <pc:docMk/>
          <pc:sldMk cId="0" sldId="264"/>
        </pc:sldMkLst>
        <pc:picChg chg="del">
          <ac:chgData name="Lai, Wilson" userId="2840974a-0d84-4886-90a9-9a3ed79f3a48" providerId="ADAL" clId="{9F23B798-9E84-4552-BA63-E776E805C424}" dt="2026-09-26T22:50:09.275" v="14" actId="21"/>
          <ac:picMkLst>
            <pc:docMk/>
            <pc:sldMk cId="0" sldId="264"/>
            <ac:picMk id="2" creationId="{00000000-0000-0000-0000-000000000000}"/>
          </ac:picMkLst>
        </pc:picChg>
        <pc:picChg chg="add">
          <ac:chgData name="Lai, Wilson" userId="2840974a-0d84-4886-90a9-9a3ed79f3a48" providerId="ADAL" clId="{9F23B798-9E84-4552-BA63-E776E805C424}" dt="2026-09-26T22:50:17.990" v="15" actId="22"/>
          <ac:picMkLst>
            <pc:docMk/>
            <pc:sldMk cId="0" sldId="264"/>
            <ac:picMk id="4" creationId="{1B863340-9880-5740-6AC2-BA544D6D5AE0}"/>
          </ac:picMkLst>
        </pc:picChg>
      </pc:sldChg>
      <pc:sldChg chg="addSp delSp mod">
        <pc:chgData name="Lai, Wilson" userId="2840974a-0d84-4886-90a9-9a3ed79f3a48" providerId="ADAL" clId="{9F23B798-9E84-4552-BA63-E776E805C424}" dt="2026-09-26T22:50:27.286" v="17" actId="22"/>
        <pc:sldMkLst>
          <pc:docMk/>
          <pc:sldMk cId="0" sldId="265"/>
        </pc:sldMkLst>
        <pc:picChg chg="del">
          <ac:chgData name="Lai, Wilson" userId="2840974a-0d84-4886-90a9-9a3ed79f3a48" providerId="ADAL" clId="{9F23B798-9E84-4552-BA63-E776E805C424}" dt="2026-09-26T22:50:19.950" v="16" actId="21"/>
          <ac:picMkLst>
            <pc:docMk/>
            <pc:sldMk cId="0" sldId="265"/>
            <ac:picMk id="2" creationId="{00000000-0000-0000-0000-000000000000}"/>
          </ac:picMkLst>
        </pc:picChg>
        <pc:picChg chg="add">
          <ac:chgData name="Lai, Wilson" userId="2840974a-0d84-4886-90a9-9a3ed79f3a48" providerId="ADAL" clId="{9F23B798-9E84-4552-BA63-E776E805C424}" dt="2026-09-26T22:50:27.286" v="17" actId="22"/>
          <ac:picMkLst>
            <pc:docMk/>
            <pc:sldMk cId="0" sldId="265"/>
            <ac:picMk id="4" creationId="{25F22C32-1EC2-060F-AE18-88B8FFEDB132}"/>
          </ac:picMkLst>
        </pc:picChg>
      </pc:sldChg>
      <pc:sldChg chg="addSp delSp mod modNotesTx">
        <pc:chgData name="Lai, Wilson" userId="2840974a-0d84-4886-90a9-9a3ed79f3a48" providerId="ADAL" clId="{9F23B798-9E84-4552-BA63-E776E805C424}" dt="2026-09-27T00:07:20.610" v="105" actId="12"/>
        <pc:sldMkLst>
          <pc:docMk/>
          <pc:sldMk cId="0" sldId="266"/>
        </pc:sldMkLst>
        <pc:picChg chg="del">
          <ac:chgData name="Lai, Wilson" userId="2840974a-0d84-4886-90a9-9a3ed79f3a48" providerId="ADAL" clId="{9F23B798-9E84-4552-BA63-E776E805C424}" dt="2026-09-26T22:50:28.716" v="18" actId="21"/>
          <ac:picMkLst>
            <pc:docMk/>
            <pc:sldMk cId="0" sldId="266"/>
            <ac:picMk id="2" creationId="{00000000-0000-0000-0000-000000000000}"/>
          </ac:picMkLst>
        </pc:picChg>
        <pc:picChg chg="add">
          <ac:chgData name="Lai, Wilson" userId="2840974a-0d84-4886-90a9-9a3ed79f3a48" providerId="ADAL" clId="{9F23B798-9E84-4552-BA63-E776E805C424}" dt="2026-09-26T22:50:59.236" v="19" actId="22"/>
          <ac:picMkLst>
            <pc:docMk/>
            <pc:sldMk cId="0" sldId="266"/>
            <ac:picMk id="4" creationId="{0E340574-187B-D431-F55D-0E317EF61E80}"/>
          </ac:picMkLst>
        </pc:picChg>
      </pc:sldChg>
      <pc:sldChg chg="addSp delSp mod modNotesTx">
        <pc:chgData name="Lai, Wilson" userId="2840974a-0d84-4886-90a9-9a3ed79f3a48" providerId="ADAL" clId="{9F23B798-9E84-4552-BA63-E776E805C424}" dt="2026-09-27T00:07:50.350" v="108" actId="12"/>
        <pc:sldMkLst>
          <pc:docMk/>
          <pc:sldMk cId="0" sldId="267"/>
        </pc:sldMkLst>
        <pc:picChg chg="del">
          <ac:chgData name="Lai, Wilson" userId="2840974a-0d84-4886-90a9-9a3ed79f3a48" providerId="ADAL" clId="{9F23B798-9E84-4552-BA63-E776E805C424}" dt="2026-09-26T22:51:03.151" v="20" actId="21"/>
          <ac:picMkLst>
            <pc:docMk/>
            <pc:sldMk cId="0" sldId="267"/>
            <ac:picMk id="2" creationId="{00000000-0000-0000-0000-000000000000}"/>
          </ac:picMkLst>
        </pc:picChg>
        <pc:picChg chg="add">
          <ac:chgData name="Lai, Wilson" userId="2840974a-0d84-4886-90a9-9a3ed79f3a48" providerId="ADAL" clId="{9F23B798-9E84-4552-BA63-E776E805C424}" dt="2026-09-26T22:52:01.870" v="21" actId="22"/>
          <ac:picMkLst>
            <pc:docMk/>
            <pc:sldMk cId="0" sldId="267"/>
            <ac:picMk id="4" creationId="{81AA9A95-5A03-6BA1-95BD-D69537666069}"/>
          </ac:picMkLst>
        </pc:picChg>
      </pc:sldChg>
      <pc:sldChg chg="addSp delSp mod modNotesTx">
        <pc:chgData name="Lai, Wilson" userId="2840974a-0d84-4886-90a9-9a3ed79f3a48" providerId="ADAL" clId="{9F23B798-9E84-4552-BA63-E776E805C424}" dt="2026-09-27T00:08:18.026" v="112" actId="12"/>
        <pc:sldMkLst>
          <pc:docMk/>
          <pc:sldMk cId="0" sldId="268"/>
        </pc:sldMkLst>
        <pc:picChg chg="del">
          <ac:chgData name="Lai, Wilson" userId="2840974a-0d84-4886-90a9-9a3ed79f3a48" providerId="ADAL" clId="{9F23B798-9E84-4552-BA63-E776E805C424}" dt="2026-09-26T22:52:04.229" v="22" actId="21"/>
          <ac:picMkLst>
            <pc:docMk/>
            <pc:sldMk cId="0" sldId="268"/>
            <ac:picMk id="2" creationId="{00000000-0000-0000-0000-000000000000}"/>
          </ac:picMkLst>
        </pc:picChg>
        <pc:picChg chg="add">
          <ac:chgData name="Lai, Wilson" userId="2840974a-0d84-4886-90a9-9a3ed79f3a48" providerId="ADAL" clId="{9F23B798-9E84-4552-BA63-E776E805C424}" dt="2026-09-26T22:52:14.204" v="23" actId="22"/>
          <ac:picMkLst>
            <pc:docMk/>
            <pc:sldMk cId="0" sldId="268"/>
            <ac:picMk id="4" creationId="{BB193C45-6292-FA0B-4E66-0FA2E3F50F88}"/>
          </ac:picMkLst>
        </pc:picChg>
      </pc:sldChg>
      <pc:sldChg chg="addSp delSp mod modNotesTx">
        <pc:chgData name="Lai, Wilson" userId="2840974a-0d84-4886-90a9-9a3ed79f3a48" providerId="ADAL" clId="{9F23B798-9E84-4552-BA63-E776E805C424}" dt="2026-09-27T00:09:00.452" v="119" actId="12"/>
        <pc:sldMkLst>
          <pc:docMk/>
          <pc:sldMk cId="0" sldId="269"/>
        </pc:sldMkLst>
        <pc:picChg chg="del">
          <ac:chgData name="Lai, Wilson" userId="2840974a-0d84-4886-90a9-9a3ed79f3a48" providerId="ADAL" clId="{9F23B798-9E84-4552-BA63-E776E805C424}" dt="2026-09-26T22:52:16.402" v="24" actId="21"/>
          <ac:picMkLst>
            <pc:docMk/>
            <pc:sldMk cId="0" sldId="269"/>
            <ac:picMk id="2" creationId="{00000000-0000-0000-0000-000000000000}"/>
          </ac:picMkLst>
        </pc:picChg>
        <pc:picChg chg="add">
          <ac:chgData name="Lai, Wilson" userId="2840974a-0d84-4886-90a9-9a3ed79f3a48" providerId="ADAL" clId="{9F23B798-9E84-4552-BA63-E776E805C424}" dt="2026-09-26T22:52:29.768" v="25" actId="22"/>
          <ac:picMkLst>
            <pc:docMk/>
            <pc:sldMk cId="0" sldId="269"/>
            <ac:picMk id="4" creationId="{CCD80F9C-41C9-D5F9-B414-66940DDBA67E}"/>
          </ac:picMkLst>
        </pc:picChg>
      </pc:sldChg>
      <pc:sldChg chg="addSp delSp mod modNotesTx">
        <pc:chgData name="Lai, Wilson" userId="2840974a-0d84-4886-90a9-9a3ed79f3a48" providerId="ADAL" clId="{9F23B798-9E84-4552-BA63-E776E805C424}" dt="2026-09-27T00:09:18.773" v="120" actId="12"/>
        <pc:sldMkLst>
          <pc:docMk/>
          <pc:sldMk cId="0" sldId="270"/>
        </pc:sldMkLst>
        <pc:picChg chg="del">
          <ac:chgData name="Lai, Wilson" userId="2840974a-0d84-4886-90a9-9a3ed79f3a48" providerId="ADAL" clId="{9F23B798-9E84-4552-BA63-E776E805C424}" dt="2026-09-26T22:52:32.040" v="26" actId="21"/>
          <ac:picMkLst>
            <pc:docMk/>
            <pc:sldMk cId="0" sldId="270"/>
            <ac:picMk id="2" creationId="{00000000-0000-0000-0000-000000000000}"/>
          </ac:picMkLst>
        </pc:picChg>
        <pc:picChg chg="add">
          <ac:chgData name="Lai, Wilson" userId="2840974a-0d84-4886-90a9-9a3ed79f3a48" providerId="ADAL" clId="{9F23B798-9E84-4552-BA63-E776E805C424}" dt="2026-09-26T22:53:48.213" v="27" actId="22"/>
          <ac:picMkLst>
            <pc:docMk/>
            <pc:sldMk cId="0" sldId="270"/>
            <ac:picMk id="4" creationId="{8E4C9B43-82CA-413B-227A-C81DB15CBFC4}"/>
          </ac:picMkLst>
        </pc:picChg>
      </pc:sldChg>
      <pc:sldChg chg="modNotesTx">
        <pc:chgData name="Lai, Wilson" userId="2840974a-0d84-4886-90a9-9a3ed79f3a48" providerId="ADAL" clId="{9F23B798-9E84-4552-BA63-E776E805C424}" dt="2026-09-27T00:10:04.041" v="132" actId="12"/>
        <pc:sldMkLst>
          <pc:docMk/>
          <pc:sldMk cId="501321713"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2833A4-D73C-451B-9227-34BD018BF38B}"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97C2C4-BE08-45F9-A3D9-54AEE743C0D1}" type="slidenum">
              <a:rPr lang="en-US" smtClean="0"/>
              <a:t>‹#›</a:t>
            </a:fld>
            <a:endParaRPr lang="en-US"/>
          </a:p>
        </p:txBody>
      </p:sp>
    </p:spTree>
    <p:extLst>
      <p:ext uri="{BB962C8B-B14F-4D97-AF65-F5344CB8AC3E}">
        <p14:creationId xmlns:p14="http://schemas.microsoft.com/office/powerpoint/2010/main" val="1815936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opening a conversation on what I believe is the single most important structural transition in economic history. The title of this presentation is </a:t>
            </a:r>
            <a:r>
              <a:rPr lang="en-US" sz="1200" i="1" kern="1200" dirty="0">
                <a:solidFill>
                  <a:schemeClr val="tx1"/>
                </a:solidFill>
                <a:effectLst/>
                <a:latin typeface="+mn-lt"/>
                <a:ea typeface="+mn-ea"/>
                <a:cs typeface="+mn-cs"/>
              </a:rPr>
              <a:t>“The Next Crisis is Never Coming,”</a:t>
            </a:r>
            <a:r>
              <a:rPr lang="en-US" sz="1200" kern="1200" dirty="0">
                <a:solidFill>
                  <a:schemeClr val="tx1"/>
                </a:solidFill>
                <a:effectLst/>
                <a:latin typeface="+mn-lt"/>
                <a:ea typeface="+mn-ea"/>
                <a:cs typeface="+mn-cs"/>
              </a:rPr>
              <a:t> but to understand why, we first have to look at the massive paradigm shift currently unfolding right beneath our feet. </a:t>
            </a:r>
          </a:p>
          <a:p>
            <a:r>
              <a:rPr lang="en-US" sz="1200" kern="1200" dirty="0">
                <a:solidFill>
                  <a:schemeClr val="tx1"/>
                </a:solidFill>
                <a:effectLst/>
                <a:latin typeface="+mn-lt"/>
                <a:ea typeface="+mn-ea"/>
                <a:cs typeface="+mn-cs"/>
              </a:rPr>
              <a:t>For decades, market participants, institutional investors, and retail traders have been conditioned to wait for the next shoe to drop. We look at traditional market cycles, debt bubbles, and macroeconomic fragility, expecting a systemic collapse that forces central banks back to the drawing board. But what if the next crisis isn't a market crash? What if the legacy system itself is simply bypassed and re-architected before it ever gets the chance to implode? </a:t>
            </a:r>
          </a:p>
          <a:p>
            <a:r>
              <a:rPr lang="en-US" sz="1200" kern="1200" dirty="0">
                <a:solidFill>
                  <a:schemeClr val="tx1"/>
                </a:solidFill>
                <a:effectLst/>
                <a:latin typeface="+mn-lt"/>
                <a:ea typeface="+mn-ea"/>
                <a:cs typeface="+mn-cs"/>
              </a:rPr>
              <a:t>That brings us to our core thesis today: How AI Agents, Crypto Infrastructure, and Real-World Tokenization are converging to completely re-architect the global economy.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Convergence:</a:t>
            </a:r>
            <a:r>
              <a:rPr lang="en-US" sz="1200" kern="1200" dirty="0">
                <a:solidFill>
                  <a:schemeClr val="tx1"/>
                </a:solidFill>
                <a:effectLst/>
                <a:latin typeface="+mn-lt"/>
                <a:ea typeface="+mn-ea"/>
                <a:cs typeface="+mn-cs"/>
              </a:rPr>
              <a:t> We are not looking at these three technologies in isolation. Historically, Silicon Valley viewed AI as a software productivity booster, crypto as an alternative asset class, and tokenization as a niche financial vehicle. In reality, they are pieces of the exact same puzzle.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Problem:</a:t>
            </a:r>
            <a:r>
              <a:rPr lang="en-US" sz="1200" kern="1200" dirty="0">
                <a:solidFill>
                  <a:schemeClr val="tx1"/>
                </a:solidFill>
                <a:effectLst/>
                <a:latin typeface="+mn-lt"/>
                <a:ea typeface="+mn-ea"/>
                <a:cs typeface="+mn-cs"/>
              </a:rPr>
              <a:t> The current global economy is shackled by legacy fiat friction—slow settlement times, manual intermediaries, regulatory gatekeepers, and physical boundaries.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Outcome:</a:t>
            </a:r>
            <a:r>
              <a:rPr lang="en-US" sz="1200" kern="1200" dirty="0">
                <a:solidFill>
                  <a:schemeClr val="tx1"/>
                </a:solidFill>
                <a:effectLst/>
                <a:latin typeface="+mn-lt"/>
                <a:ea typeface="+mn-ea"/>
                <a:cs typeface="+mn-cs"/>
              </a:rPr>
              <a:t> By combining autonomous AI agents (the digital labor and consumers of the future), crypto L2 rails (the programmable financial layer), and real-world tokenization (the liquidity driver), we eliminate legacy friction and unlock an unprecedented era of economic speed and abundance. </a:t>
            </a:r>
          </a:p>
          <a:p>
            <a:r>
              <a:rPr lang="en-US" sz="1200" kern="1200" dirty="0">
                <a:solidFill>
                  <a:schemeClr val="tx1"/>
                </a:solidFill>
                <a:effectLst/>
                <a:latin typeface="+mn-lt"/>
                <a:ea typeface="+mn-ea"/>
                <a:cs typeface="+mn-cs"/>
              </a:rPr>
              <a:t>As we move through these slides, I invite you to set aside traditional valuation frameworks and legacy macro playbooks. We are moving from a human-speed, fiat-bound economy to an agent-speed, cryptographically settled economy. Let’s dive into how this plays out. </a:t>
            </a:r>
          </a:p>
          <a:p>
            <a:endParaRPr lang="en-US" b="1" dirty="0"/>
          </a:p>
          <a:p>
            <a:endParaRPr lang="en-US" dirty="0"/>
          </a:p>
          <a:p>
            <a:endParaRPr lang="en-US" dirty="0"/>
          </a:p>
          <a:p>
            <a:endParaRPr lang="en-US" dirty="0"/>
          </a:p>
          <a:p>
            <a:endParaRPr lang="en-US" dirty="0"/>
          </a:p>
          <a:p>
            <a:r>
              <a:rPr lang="en-US" b="1" dirty="0"/>
              <a:t>The $900 Trillion Trigger That Sends Bitcoin Parabolic | Jordi Visser</a:t>
            </a:r>
          </a:p>
          <a:p>
            <a:r>
              <a:rPr lang="en-US" dirty="0"/>
              <a:t>https://www.youtube.com/watch?v=VkDpGZ_KsrY</a:t>
            </a:r>
          </a:p>
        </p:txBody>
      </p:sp>
      <p:sp>
        <p:nvSpPr>
          <p:cNvPr id="4" name="Slide Number Placeholder 3"/>
          <p:cNvSpPr>
            <a:spLocks noGrp="1"/>
          </p:cNvSpPr>
          <p:nvPr>
            <p:ph type="sldNum" sz="quarter" idx="5"/>
          </p:nvPr>
        </p:nvSpPr>
        <p:spPr/>
        <p:txBody>
          <a:bodyPr/>
          <a:lstStyle/>
          <a:p>
            <a:fld id="{8C97C2C4-BE08-45F9-A3D9-54AEE743C0D1}" type="slidenum">
              <a:rPr lang="en-US" smtClean="0"/>
              <a:t>1</a:t>
            </a:fld>
            <a:endParaRPr lang="en-US"/>
          </a:p>
        </p:txBody>
      </p:sp>
    </p:spTree>
    <p:extLst>
      <p:ext uri="{BB962C8B-B14F-4D97-AF65-F5344CB8AC3E}">
        <p14:creationId xmlns:p14="http://schemas.microsoft.com/office/powerpoint/2010/main" val="2431590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the future belongs to tokenized assets and programmatic rails, we must first confront the deep structural fragility of the current legacy fiat financial architecture. On this slide, we outline what I call the </a:t>
            </a:r>
            <a:r>
              <a:rPr lang="en-US" sz="1200" b="1" kern="1200" dirty="0">
                <a:solidFill>
                  <a:schemeClr val="tx1"/>
                </a:solidFill>
                <a:effectLst/>
                <a:latin typeface="+mn-lt"/>
                <a:ea typeface="+mn-ea"/>
                <a:cs typeface="+mn-cs"/>
              </a:rPr>
              <a:t>$900 Trillion Illusion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these two numbers side by side: </a:t>
            </a:r>
            <a:r>
              <a:rPr lang="en-US" sz="1200" b="1" kern="1200" dirty="0">
                <a:solidFill>
                  <a:schemeClr val="tx1"/>
                </a:solidFill>
                <a:effectLst/>
                <a:latin typeface="+mn-lt"/>
                <a:ea typeface="+mn-ea"/>
                <a:cs typeface="+mn-cs"/>
              </a:rPr>
              <a:t>$900 Trillion</a:t>
            </a:r>
            <a:r>
              <a:rPr lang="en-US" sz="1200" kern="1200" dirty="0">
                <a:solidFill>
                  <a:schemeClr val="tx1"/>
                </a:solidFill>
                <a:effectLst/>
                <a:latin typeface="+mn-lt"/>
                <a:ea typeface="+mn-ea"/>
                <a:cs typeface="+mn-cs"/>
              </a:rPr>
              <a:t> versus </a:t>
            </a:r>
            <a:r>
              <a:rPr lang="en-US" sz="1200" b="1" kern="1200" dirty="0">
                <a:solidFill>
                  <a:schemeClr val="tx1"/>
                </a:solidFill>
                <a:effectLst/>
                <a:latin typeface="+mn-lt"/>
                <a:ea typeface="+mn-ea"/>
                <a:cs typeface="+mn-cs"/>
              </a:rPr>
              <a:t>$120 Trillion</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The $900 Trillion Illusion:</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The total wealth of the global economy—encompassing commercial real estate, private equity, debt instruments, land, and infrastructure—is valued at roughly $900 trillion.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The structural flaw? Virtually all of these assets are completely trapped and illiquid. If you own a $50 million commercial building or $10 million in private equity, you cannot instantly convert 1% of that asset into liquid capital to make a payment today. It takes months of bank approvals, title checks, legal documentation, and localized counterparty matching. </a:t>
            </a:r>
          </a:p>
          <a:p>
            <a:pPr marL="228600" lvl="0" indent="-228600">
              <a:buFont typeface="+mj-lt"/>
              <a:buAutoNum type="arabicPeriod"/>
            </a:pPr>
            <a:r>
              <a:rPr lang="en-US" sz="1200" b="1" kern="1200" dirty="0">
                <a:solidFill>
                  <a:schemeClr val="tx1"/>
                </a:solidFill>
                <a:effectLst/>
                <a:latin typeface="+mn-lt"/>
                <a:ea typeface="+mn-ea"/>
                <a:cs typeface="+mn-cs"/>
              </a:rPr>
              <a:t>The Fragile Fulcrum ($120 Trillion M2):</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Supporting this towering $900 trillion stack of illiquid assets is a tiny, fragile base of just $120 trillion in physical, hard currency and liquid money supply (M2).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Think about that ratio. We have built a massive, top-heavy economic inverted pyramid where $900 trillion of value relies on $120 trillion of actual liquid money to maintain system solvency. </a:t>
            </a:r>
          </a:p>
          <a:p>
            <a:pPr marL="228600" lvl="0" indent="-228600">
              <a:buFont typeface="+mj-lt"/>
              <a:buAutoNum type="arabicPeriod"/>
            </a:pPr>
            <a:r>
              <a:rPr lang="en-US" sz="1200" b="1" kern="1200" dirty="0">
                <a:solidFill>
                  <a:schemeClr val="tx1"/>
                </a:solidFill>
                <a:effectLst/>
                <a:latin typeface="+mn-lt"/>
                <a:ea typeface="+mn-ea"/>
                <a:cs typeface="+mn-cs"/>
              </a:rPr>
              <a:t>The Central Bank Panic Engine:</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Because of this imbalance, whenever a liquidity shock occurs—whether it’s a banking panic, geopolitical event, or interest rate surge—investors rush for the exit simultaneously. They need M2 cash to service debt.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Because the assets are illiquid and cannot be sold instantly, asset prices crash. To prevent systemic default, central banks are forced to step in and print massive quantities of M2 out of thin air to </a:t>
            </a:r>
            <a:r>
              <a:rPr lang="en-US" sz="1200" kern="1200" dirty="0" err="1">
                <a:solidFill>
                  <a:schemeClr val="tx1"/>
                </a:solidFill>
                <a:effectLst/>
                <a:latin typeface="+mn-lt"/>
                <a:ea typeface="+mn-ea"/>
                <a:cs typeface="+mn-cs"/>
              </a:rPr>
              <a:t>reliquify</a:t>
            </a:r>
            <a:r>
              <a:rPr lang="en-US" sz="1200" kern="1200" dirty="0">
                <a:solidFill>
                  <a:schemeClr val="tx1"/>
                </a:solidFill>
                <a:effectLst/>
                <a:latin typeface="+mn-lt"/>
                <a:ea typeface="+mn-ea"/>
                <a:cs typeface="+mn-cs"/>
              </a:rPr>
              <a:t> the system.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This creates a perpetual, inflationary debt spiral—a structural Ponzi scheme where central banks </a:t>
            </a:r>
            <a:r>
              <a:rPr lang="en-US" sz="1200" i="1" kern="1200" dirty="0">
                <a:solidFill>
                  <a:schemeClr val="tx1"/>
                </a:solidFill>
                <a:effectLst/>
                <a:latin typeface="+mn-lt"/>
                <a:ea typeface="+mn-ea"/>
                <a:cs typeface="+mn-cs"/>
              </a:rPr>
              <a:t>must</a:t>
            </a:r>
            <a:r>
              <a:rPr lang="en-US" sz="1200" kern="1200" dirty="0">
                <a:solidFill>
                  <a:schemeClr val="tx1"/>
                </a:solidFill>
                <a:effectLst/>
                <a:latin typeface="+mn-lt"/>
                <a:ea typeface="+mn-ea"/>
                <a:cs typeface="+mn-cs"/>
              </a:rPr>
              <a:t> dilute fiat currencies repeatedly just to keep illiquid assets afloat. </a:t>
            </a:r>
          </a:p>
          <a:p>
            <a:r>
              <a:rPr lang="en-US" sz="1200" kern="1200" dirty="0">
                <a:solidFill>
                  <a:schemeClr val="tx1"/>
                </a:solidFill>
                <a:effectLst/>
                <a:latin typeface="+mn-lt"/>
                <a:ea typeface="+mn-ea"/>
                <a:cs typeface="+mn-cs"/>
              </a:rPr>
              <a:t>The core message here is simple: </a:t>
            </a:r>
            <a:r>
              <a:rPr lang="en-US" sz="1200" b="1" kern="1200" dirty="0">
                <a:solidFill>
                  <a:schemeClr val="tx1"/>
                </a:solidFill>
                <a:effectLst/>
                <a:latin typeface="+mn-lt"/>
                <a:ea typeface="+mn-ea"/>
                <a:cs typeface="+mn-cs"/>
              </a:rPr>
              <a:t>The fiat system is a precarious, highly levered trap.</a:t>
            </a:r>
            <a:r>
              <a:rPr lang="en-US" sz="1200" kern="1200" dirty="0">
                <a:solidFill>
                  <a:schemeClr val="tx1"/>
                </a:solidFill>
                <a:effectLst/>
                <a:latin typeface="+mn-lt"/>
                <a:ea typeface="+mn-ea"/>
                <a:cs typeface="+mn-cs"/>
              </a:rPr>
              <a:t> But as we will see, tokenization fixes the inverted pyramid at its root.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2</a:t>
            </a:fld>
            <a:endParaRPr lang="en-US"/>
          </a:p>
        </p:txBody>
      </p:sp>
    </p:spTree>
    <p:extLst>
      <p:ext uri="{BB962C8B-B14F-4D97-AF65-F5344CB8AC3E}">
        <p14:creationId xmlns:p14="http://schemas.microsoft.com/office/powerpoint/2010/main" val="965630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are traditional financial markets missing this massive structural shift? It comes down to basic human behavioral psychology and what market analysts call the </a:t>
            </a:r>
            <a:r>
              <a:rPr lang="en-US" sz="1200" b="1" kern="1200" dirty="0">
                <a:solidFill>
                  <a:schemeClr val="tx1"/>
                </a:solidFill>
                <a:effectLst/>
                <a:latin typeface="+mn-lt"/>
                <a:ea typeface="+mn-ea"/>
                <a:cs typeface="+mn-cs"/>
              </a:rPr>
              <a:t>'Wall of Worry.'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you speak to institutional risk managers today, the dominant narrative is paralyzed by fear. Consensus attention is hyper-focused on tail-risk scenarios. Let’s examine this probability distribution: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10% Probability: The Tail Risk (Consensus Obsession):</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media and consensus </a:t>
            </a:r>
            <a:r>
              <a:rPr lang="en-US" sz="1200" kern="1200" dirty="0" err="1">
                <a:solidFill>
                  <a:schemeClr val="tx1"/>
                </a:solidFill>
                <a:effectLst/>
                <a:latin typeface="+mn-lt"/>
                <a:ea typeface="+mn-ea"/>
                <a:cs typeface="+mn-cs"/>
              </a:rPr>
              <a:t>consensus</a:t>
            </a:r>
            <a:r>
              <a:rPr lang="en-US" sz="1200" kern="1200" dirty="0">
                <a:solidFill>
                  <a:schemeClr val="tx1"/>
                </a:solidFill>
                <a:effectLst/>
                <a:latin typeface="+mn-lt"/>
                <a:ea typeface="+mn-ea"/>
                <a:cs typeface="+mn-cs"/>
              </a:rPr>
              <a:t> narratives spend 90% of their energy worrying about the 10% tail risk.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They fret over systemic financial failure, sovereign debt defaults, AI hype bubbles bursting, regulatory crackdowns on crypto, or economic stagnation.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Because of this obsession, vast amounts of capital are currently sitting on the sidelines in cash or low-yield short-term Treasuries, waiting for "the big crash."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90% Probability: The Exponential Horizon (Mathematical Reality):</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While the consensus stares at the 10% risk, an unstoppable, mathematical progression toward massive, deflationary abundance is unfolding right behind them.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Technology does not care about macroeconomic sentiment. The compute capacity is doubling, AI algorithms are advancing autonomously, and blockchain networks are scaling transaction throughput exponentially every year.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Cost of Waiting:</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Here is the mathematical reality for asset allocators: </a:t>
            </a:r>
            <a:r>
              <a:rPr lang="en-US" sz="1200" b="1" kern="1200" dirty="0">
                <a:solidFill>
                  <a:schemeClr val="tx1"/>
                </a:solidFill>
                <a:effectLst/>
                <a:latin typeface="+mn-lt"/>
                <a:ea typeface="+mn-ea"/>
                <a:cs typeface="+mn-cs"/>
              </a:rPr>
              <a:t>The Expected Value (EV) equation is wildly asymmetric.</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By sitting in cash and waiting to buy the bottom of a crash that may never materialize, sidelined capital is missing the single highest expected-value structural transition in economic history.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In the next decade, speed, automation, and real-time liquidity will compound so fast that legacy market cycles will be completely rewritten. Waiting on the sidelines is no longer a "safe" strategy—it is a guaranteed yield drag.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3</a:t>
            </a:fld>
            <a:endParaRPr lang="en-US"/>
          </a:p>
        </p:txBody>
      </p:sp>
    </p:spTree>
    <p:extLst>
      <p:ext uri="{BB962C8B-B14F-4D97-AF65-F5344CB8AC3E}">
        <p14:creationId xmlns:p14="http://schemas.microsoft.com/office/powerpoint/2010/main" val="3510566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zoom in on the engine driving this transformation: </a:t>
            </a:r>
            <a:r>
              <a:rPr lang="en-US" sz="1200" b="1" kern="1200" dirty="0">
                <a:solidFill>
                  <a:schemeClr val="tx1"/>
                </a:solidFill>
                <a:effectLst/>
                <a:latin typeface="+mn-lt"/>
                <a:ea typeface="+mn-ea"/>
                <a:cs typeface="+mn-cs"/>
              </a:rPr>
              <a:t>AI Consumer Agents.</a:t>
            </a:r>
            <a:r>
              <a:rPr lang="en-US" sz="1200" kern="1200" dirty="0">
                <a:solidFill>
                  <a:schemeClr val="tx1"/>
                </a:solidFill>
                <a:effectLst/>
                <a:latin typeface="+mn-lt"/>
                <a:ea typeface="+mn-ea"/>
                <a:cs typeface="+mn-cs"/>
              </a:rPr>
              <a:t> To understand why transaction velocity is about to explode, we need to trace the evolution of human-computer interaction over the past two years. </a:t>
            </a:r>
          </a:p>
          <a:p>
            <a:pPr marL="228600" lvl="0" indent="-228600">
              <a:buFont typeface="+mj-lt"/>
              <a:buAutoNum type="arabicPeriod"/>
            </a:pPr>
            <a:r>
              <a:rPr lang="en-US" sz="1200" b="1" kern="1200" dirty="0">
                <a:solidFill>
                  <a:schemeClr val="tx1"/>
                </a:solidFill>
                <a:effectLst/>
                <a:latin typeface="+mn-lt"/>
                <a:ea typeface="+mn-ea"/>
                <a:cs typeface="+mn-cs"/>
              </a:rPr>
              <a:t>Phase 1: Human-to-LLM (Prompting):</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This was the ChatGPT era. A human sits in front of a screen, types a prompt, and the AI outputs text, code, or an image.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While powerful, this model suffers from a hard bottleneck: </a:t>
            </a:r>
            <a:r>
              <a:rPr lang="en-US" sz="1200" b="1" kern="1200" dirty="0">
                <a:solidFill>
                  <a:schemeClr val="tx1"/>
                </a:solidFill>
                <a:effectLst/>
                <a:latin typeface="+mn-lt"/>
                <a:ea typeface="+mn-ea"/>
                <a:cs typeface="+mn-cs"/>
              </a:rPr>
              <a:t>Human latency.</a:t>
            </a:r>
            <a:r>
              <a:rPr lang="en-US" sz="1200" kern="1200" dirty="0">
                <a:solidFill>
                  <a:schemeClr val="tx1"/>
                </a:solidFill>
                <a:effectLst/>
                <a:latin typeface="+mn-lt"/>
                <a:ea typeface="+mn-ea"/>
                <a:cs typeface="+mn-cs"/>
              </a:rPr>
              <a:t> Growth in Phase 1 is fundamentally linear because it relies on human fingers typing on keyboards and human eyes reading outputs. Humans sleep, get tired, and transact at a sluggish, manual pace. </a:t>
            </a:r>
          </a:p>
          <a:p>
            <a:pPr marL="228600" lvl="0" indent="-228600">
              <a:buFont typeface="+mj-lt"/>
              <a:buAutoNum type="arabicPeriod"/>
            </a:pPr>
            <a:r>
              <a:rPr lang="en-US" sz="1200" b="1" kern="1200" dirty="0">
                <a:solidFill>
                  <a:schemeClr val="tx1"/>
                </a:solidFill>
                <a:effectLst/>
                <a:latin typeface="+mn-lt"/>
                <a:ea typeface="+mn-ea"/>
                <a:cs typeface="+mn-cs"/>
              </a:rPr>
              <a:t>Phase 2: Agent-to-Agent (Autonomous Velocity):</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We have officially entered Phase 2. We are moving from passive LLM chat interfaces to active </a:t>
            </a:r>
            <a:r>
              <a:rPr lang="en-US" sz="1200" b="1" kern="1200" dirty="0">
                <a:solidFill>
                  <a:schemeClr val="tx1"/>
                </a:solidFill>
                <a:effectLst/>
                <a:latin typeface="+mn-lt"/>
                <a:ea typeface="+mn-ea"/>
                <a:cs typeface="+mn-cs"/>
              </a:rPr>
              <a:t>Autonomous Agents</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In Phase 2, AI agents talk to other AI agents. An agent representing a consumer negotiates directly with an agent representing an airline, a merchant, or an energy grid.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Here, token and API usage goes </a:t>
            </a:r>
            <a:r>
              <a:rPr lang="en-US" sz="1200" b="1" kern="1200" dirty="0">
                <a:solidFill>
                  <a:schemeClr val="tx1"/>
                </a:solidFill>
                <a:effectLst/>
                <a:latin typeface="+mn-lt"/>
                <a:ea typeface="+mn-ea"/>
                <a:cs typeface="+mn-cs"/>
              </a:rPr>
              <a:t>exponential</a:t>
            </a:r>
            <a:r>
              <a:rPr lang="en-US" sz="1200" kern="1200" dirty="0">
                <a:solidFill>
                  <a:schemeClr val="tx1"/>
                </a:solidFill>
                <a:effectLst/>
                <a:latin typeface="+mn-lt"/>
                <a:ea typeface="+mn-ea"/>
                <a:cs typeface="+mn-cs"/>
              </a:rPr>
              <a:t>. Machines don't sleep, they don't take breaks, and they can execute thousands of micro-</a:t>
            </a:r>
            <a:r>
              <a:rPr lang="en-US" sz="1200" kern="1200" dirty="0" err="1">
                <a:solidFill>
                  <a:schemeClr val="tx1"/>
                </a:solidFill>
                <a:effectLst/>
                <a:latin typeface="+mn-lt"/>
                <a:ea typeface="+mn-ea"/>
                <a:cs typeface="+mn-cs"/>
              </a:rPr>
              <a:t>coordinations</a:t>
            </a:r>
            <a:r>
              <a:rPr lang="en-US" sz="1200" kern="1200" dirty="0">
                <a:solidFill>
                  <a:schemeClr val="tx1"/>
                </a:solidFill>
                <a:effectLst/>
                <a:latin typeface="+mn-lt"/>
                <a:ea typeface="+mn-ea"/>
                <a:cs typeface="+mn-cs"/>
              </a:rPr>
              <a:t> per second. </a:t>
            </a:r>
          </a:p>
          <a:p>
            <a:pPr marL="228600" lvl="0" indent="-228600">
              <a:buFont typeface="+mj-lt"/>
              <a:buAutoNum type="arabicPeriod"/>
            </a:pPr>
            <a:r>
              <a:rPr lang="en-US" sz="1200" b="1" kern="1200" dirty="0">
                <a:solidFill>
                  <a:schemeClr val="tx1"/>
                </a:solidFill>
                <a:effectLst/>
                <a:latin typeface="+mn-lt"/>
                <a:ea typeface="+mn-ea"/>
                <a:cs typeface="+mn-cs"/>
              </a:rPr>
              <a:t>Real-World Utility (The Muse Example):</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This is not theoretical. Look at practical consumer agent applications like </a:t>
            </a:r>
            <a:r>
              <a:rPr lang="en-US" sz="1200" b="1" kern="1200" dirty="0">
                <a:solidFill>
                  <a:schemeClr val="tx1"/>
                </a:solidFill>
                <a:effectLst/>
                <a:latin typeface="+mn-lt"/>
                <a:ea typeface="+mn-ea"/>
                <a:cs typeface="+mn-cs"/>
              </a:rPr>
              <a:t>Muse</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Muse continuously monitors background data like flight cancellations. When a flight is delayed, the consumer doesn't wait in line for three hours at customer service. The agent autonomously navigates airline API bureaucracy, files claims, and secures an instant $250 refund directly to the user's account without human intervention. </a:t>
            </a:r>
          </a:p>
          <a:p>
            <a:pPr marL="228600" lvl="0" indent="-228600">
              <a:buFont typeface="+mj-lt"/>
              <a:buAutoNum type="arabicPeriod"/>
            </a:pPr>
            <a:r>
              <a:rPr lang="en-US" sz="1200" b="1" kern="1200" dirty="0">
                <a:solidFill>
                  <a:schemeClr val="tx1"/>
                </a:solidFill>
                <a:effectLst/>
                <a:latin typeface="+mn-lt"/>
                <a:ea typeface="+mn-ea"/>
                <a:cs typeface="+mn-cs"/>
              </a:rPr>
              <a:t>The Deflationary Engine:</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Imagine millions—and eventually billions—of these 24/7 autonomous software workers running continuously in the background.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They pick up every single "penny left on the ground" in consumer and enterprise workflows. They eliminate administrative waste, cut middleman markups, and exert extreme downward, deflationary pressure on legacy service industries.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4</a:t>
            </a:fld>
            <a:endParaRPr lang="en-US"/>
          </a:p>
        </p:txBody>
      </p:sp>
    </p:spTree>
    <p:extLst>
      <p:ext uri="{BB962C8B-B14F-4D97-AF65-F5344CB8AC3E}">
        <p14:creationId xmlns:p14="http://schemas.microsoft.com/office/powerpoint/2010/main" val="2451245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AI agents take over economic activity, they immediately run into a brick wall: </a:t>
            </a:r>
            <a:r>
              <a:rPr lang="en-US" sz="1200" b="1" kern="1200" dirty="0">
                <a:solidFill>
                  <a:schemeClr val="tx1"/>
                </a:solidFill>
                <a:effectLst/>
                <a:latin typeface="+mn-lt"/>
                <a:ea typeface="+mn-ea"/>
                <a:cs typeface="+mn-cs"/>
              </a:rPr>
              <a:t>Legacy Financial Infrastructure.</a:t>
            </a:r>
            <a:r>
              <a:rPr lang="en-US" sz="1200" kern="1200" dirty="0">
                <a:solidFill>
                  <a:schemeClr val="tx1"/>
                </a:solidFill>
                <a:effectLst/>
                <a:latin typeface="+mn-lt"/>
                <a:ea typeface="+mn-ea"/>
                <a:cs typeface="+mn-cs"/>
              </a:rPr>
              <a:t> Slide 5 illustrates why traditional banking rails are fundamentally incompatible with machine-driven transaction velocity.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Let's do a direct head-to-head comparison between </a:t>
            </a:r>
            <a:r>
              <a:rPr lang="en-US" sz="1200" b="1" kern="1200" dirty="0">
                <a:solidFill>
                  <a:schemeClr val="tx1"/>
                </a:solidFill>
                <a:effectLst/>
                <a:latin typeface="+mn-lt"/>
                <a:ea typeface="+mn-ea"/>
                <a:cs typeface="+mn-cs"/>
              </a:rPr>
              <a:t>The Friction Economy (Fiat)</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The Speed Economy (Crypto)</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Metric		The Friction Economy (Fiat) 			The Speed Economy (Crypto)</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Primary Users		</a:t>
            </a:r>
            <a:r>
              <a:rPr lang="en-US" sz="1200" kern="1200" dirty="0">
                <a:solidFill>
                  <a:schemeClr val="tx1"/>
                </a:solidFill>
                <a:effectLst/>
                <a:latin typeface="+mn-lt"/>
                <a:ea typeface="+mn-ea"/>
                <a:cs typeface="+mn-cs"/>
              </a:rPr>
              <a:t>Humans with physical IDs, passports, and bank accounts. 		Trillions of autonomous AI agents and automated micro-services. </a:t>
            </a:r>
          </a:p>
          <a:p>
            <a:r>
              <a:rPr lang="en-US" sz="1200" b="1" kern="1200" dirty="0">
                <a:solidFill>
                  <a:schemeClr val="tx1"/>
                </a:solidFill>
                <a:effectLst/>
                <a:latin typeface="+mn-lt"/>
                <a:ea typeface="+mn-ea"/>
                <a:cs typeface="+mn-cs"/>
              </a:rPr>
              <a:t>Infrastructure		</a:t>
            </a:r>
            <a:r>
              <a:rPr lang="en-US" sz="1200" kern="1200" dirty="0">
                <a:solidFill>
                  <a:schemeClr val="tx1"/>
                </a:solidFill>
                <a:effectLst/>
                <a:latin typeface="+mn-lt"/>
                <a:ea typeface="+mn-ea"/>
                <a:cs typeface="+mn-cs"/>
              </a:rPr>
              <a:t>Legacy </a:t>
            </a:r>
            <a:r>
              <a:rPr lang="en-US" sz="1200" kern="1200" dirty="0" err="1">
                <a:solidFill>
                  <a:schemeClr val="tx1"/>
                </a:solidFill>
                <a:effectLst/>
                <a:latin typeface="+mn-lt"/>
                <a:ea typeface="+mn-ea"/>
                <a:cs typeface="+mn-cs"/>
              </a:rPr>
              <a:t>legacy</a:t>
            </a:r>
            <a:r>
              <a:rPr lang="en-US" sz="1200" kern="1200" dirty="0">
                <a:solidFill>
                  <a:schemeClr val="tx1"/>
                </a:solidFill>
                <a:effectLst/>
                <a:latin typeface="+mn-lt"/>
                <a:ea typeface="+mn-ea"/>
                <a:cs typeface="+mn-cs"/>
              </a:rPr>
              <a:t> networks: SWIFT, Visa, Mastercard, </a:t>
            </a:r>
            <a:r>
              <a:rPr lang="en-US" sz="1200" kern="1200" dirty="0" err="1">
                <a:solidFill>
                  <a:schemeClr val="tx1"/>
                </a:solidFill>
                <a:effectLst/>
                <a:latin typeface="+mn-lt"/>
                <a:ea typeface="+mn-ea"/>
                <a:cs typeface="+mn-cs"/>
              </a:rPr>
              <a:t>FedWire</a:t>
            </a:r>
            <a:r>
              <a:rPr lang="en-US" sz="1200" kern="1200" dirty="0">
                <a:solidFill>
                  <a:schemeClr val="tx1"/>
                </a:solidFill>
                <a:effectLst/>
                <a:latin typeface="+mn-lt"/>
                <a:ea typeface="+mn-ea"/>
                <a:cs typeface="+mn-cs"/>
              </a:rPr>
              <a:t>. 		Layer-2s, Stablecoins, Smart Contracts, Programmable Money. </a:t>
            </a:r>
          </a:p>
          <a:p>
            <a:r>
              <a:rPr lang="en-US" sz="1200" b="1" kern="1200" dirty="0">
                <a:solidFill>
                  <a:schemeClr val="tx1"/>
                </a:solidFill>
                <a:effectLst/>
                <a:latin typeface="+mn-lt"/>
                <a:ea typeface="+mn-ea"/>
                <a:cs typeface="+mn-cs"/>
              </a:rPr>
              <a:t>Settlement Speed	</a:t>
            </a:r>
            <a:r>
              <a:rPr lang="en-US" sz="1200" kern="1200" dirty="0">
                <a:solidFill>
                  <a:schemeClr val="tx1"/>
                </a:solidFill>
                <a:effectLst/>
                <a:latin typeface="+mn-lt"/>
                <a:ea typeface="+mn-ea"/>
                <a:cs typeface="+mn-cs"/>
              </a:rPr>
              <a:t>Days to weeks (T+1, T+2, ACH delays, international wire holds). 	Milliseconds (instant finality on-chain). </a:t>
            </a:r>
          </a:p>
          <a:p>
            <a:r>
              <a:rPr lang="en-US" sz="1200" b="1" kern="1200" dirty="0">
                <a:solidFill>
                  <a:schemeClr val="tx1"/>
                </a:solidFill>
                <a:effectLst/>
                <a:latin typeface="+mn-lt"/>
                <a:ea typeface="+mn-ea"/>
                <a:cs typeface="+mn-cs"/>
              </a:rPr>
              <a:t>Structure		</a:t>
            </a:r>
            <a:r>
              <a:rPr lang="en-US" sz="1200" kern="1200" dirty="0">
                <a:solidFill>
                  <a:schemeClr val="tx1"/>
                </a:solidFill>
                <a:effectLst/>
                <a:latin typeface="+mn-lt"/>
                <a:ea typeface="+mn-ea"/>
                <a:cs typeface="+mn-cs"/>
              </a:rPr>
              <a:t>Monopolistic, walled gardens heavily reliant on manual intermediaries. 	Cryptographically secured, permissionless, frictionless routing.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Why Legacy Rails Fail AI Agents: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 AI agent cannot walk into a bank branch, show a driver’s license, and open a Chase bank account.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 AI agent executing 500 micro-transactions per minute for API compute or data querying cannot pay a $0.30 + 3% credit card fee on a $0.001 transaction. Visa and Mastercard would freeze the account instantly for "suspicious activity."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AI agents </a:t>
            </a:r>
            <a:r>
              <a:rPr lang="en-US" sz="1200" i="1" kern="1200" dirty="0">
                <a:solidFill>
                  <a:schemeClr val="tx1"/>
                </a:solidFill>
                <a:effectLst/>
                <a:latin typeface="+mn-lt"/>
                <a:ea typeface="+mn-ea"/>
                <a:cs typeface="+mn-cs"/>
              </a:rPr>
              <a:t>require</a:t>
            </a:r>
            <a:r>
              <a:rPr lang="en-US" sz="1200" kern="1200" dirty="0">
                <a:solidFill>
                  <a:schemeClr val="tx1"/>
                </a:solidFill>
                <a:effectLst/>
                <a:latin typeface="+mn-lt"/>
                <a:ea typeface="+mn-ea"/>
                <a:cs typeface="+mn-cs"/>
              </a:rPr>
              <a:t> native, permissionless, programmable money. They need stablecoins on fast Layer-2 blockchains where transactions settle in milliseconds for fractions of a cent. Legacy fiat rails will collapse under the sheer weight and frequency of machine-driven velocity.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5</a:t>
            </a:fld>
            <a:endParaRPr lang="en-US"/>
          </a:p>
        </p:txBody>
      </p:sp>
    </p:spTree>
    <p:extLst>
      <p:ext uri="{BB962C8B-B14F-4D97-AF65-F5344CB8AC3E}">
        <p14:creationId xmlns:p14="http://schemas.microsoft.com/office/powerpoint/2010/main" val="2017266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brings us to a compelling visual metaphor for where we are in the crypto and technology adoption curve. </a:t>
            </a:r>
          </a:p>
          <a:p>
            <a:r>
              <a:rPr lang="en-US" sz="1200" kern="1200" dirty="0">
                <a:solidFill>
                  <a:schemeClr val="tx1"/>
                </a:solidFill>
                <a:effectLst/>
                <a:latin typeface="+mn-lt"/>
                <a:ea typeface="+mn-ea"/>
                <a:cs typeface="+mn-cs"/>
              </a:rPr>
              <a:t>Take a look at the two images on this slide: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left, we see </a:t>
            </a:r>
            <a:r>
              <a:rPr lang="en-US" sz="1200" b="1" kern="1200" dirty="0">
                <a:solidFill>
                  <a:schemeClr val="tx1"/>
                </a:solidFill>
                <a:effectLst/>
                <a:latin typeface="+mn-lt"/>
                <a:ea typeface="+mn-ea"/>
                <a:cs typeface="+mn-cs"/>
              </a:rPr>
              <a:t>"The Ghost City."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right, we see </a:t>
            </a:r>
            <a:r>
              <a:rPr lang="en-US" sz="1200" b="1" kern="1200" dirty="0">
                <a:solidFill>
                  <a:schemeClr val="tx1"/>
                </a:solidFill>
                <a:effectLst/>
                <a:latin typeface="+mn-lt"/>
                <a:ea typeface="+mn-ea"/>
                <a:cs typeface="+mn-cs"/>
              </a:rPr>
              <a:t>"The Activated City."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the last decade, crypto skeptics have looked at blockchain networks and said: </a:t>
            </a:r>
            <a:r>
              <a:rPr lang="en-US" sz="1200" i="1" kern="1200" dirty="0">
                <a:solidFill>
                  <a:schemeClr val="tx1"/>
                </a:solidFill>
                <a:effectLst/>
                <a:latin typeface="+mn-lt"/>
                <a:ea typeface="+mn-ea"/>
                <a:cs typeface="+mn-cs"/>
              </a:rPr>
              <a:t>"You built these incredible high-speed highways, secure cryptography, and smart contracts, but nobody is using them except speculators."</a:t>
            </a:r>
            <a:r>
              <a:rPr lang="en-US" sz="1200" kern="1200" dirty="0">
                <a:solidFill>
                  <a:schemeClr val="tx1"/>
                </a:solidFill>
                <a:effectLst/>
                <a:latin typeface="+mn-lt"/>
                <a:ea typeface="+mn-ea"/>
                <a:cs typeface="+mn-cs"/>
              </a:rPr>
              <a:t> And to a degree, they were right. Crypto was a digital infrastructure built for a citizen that didn't exist yet. </a:t>
            </a:r>
          </a:p>
          <a:p>
            <a:r>
              <a:rPr lang="en-US" sz="1200" kern="1200" dirty="0">
                <a:solidFill>
                  <a:schemeClr val="tx1"/>
                </a:solidFill>
                <a:effectLst/>
                <a:latin typeface="+mn-lt"/>
                <a:ea typeface="+mn-ea"/>
                <a:cs typeface="+mn-cs"/>
              </a:rPr>
              <a:t>What we are witnessing right now in real-time is the transition from the left picture to the right picture. The city lights are turning on. The highways are filling up. </a:t>
            </a:r>
          </a:p>
          <a:p>
            <a:r>
              <a:rPr lang="en-US" sz="1200" kern="1200" dirty="0">
                <a:solidFill>
                  <a:schemeClr val="tx1"/>
                </a:solidFill>
                <a:effectLst/>
                <a:latin typeface="+mn-lt"/>
                <a:ea typeface="+mn-ea"/>
                <a:cs typeface="+mn-cs"/>
              </a:rPr>
              <a:t>In the next slide, we’ll unpack why AI agents are the exact "native citizens" this digital city was built for all along.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6</a:t>
            </a:fld>
            <a:endParaRPr lang="en-US"/>
          </a:p>
        </p:txBody>
      </p:sp>
    </p:spTree>
    <p:extLst>
      <p:ext uri="{BB962C8B-B14F-4D97-AF65-F5344CB8AC3E}">
        <p14:creationId xmlns:p14="http://schemas.microsoft.com/office/powerpoint/2010/main" val="4011404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dive deeper into the "Ghost City" metaphor we just introduced. </a:t>
            </a:r>
            <a:r>
              <a:rPr lang="en-US" sz="1200" b="1" kern="1200" dirty="0">
                <a:solidFill>
                  <a:schemeClr val="tx1"/>
                </a:solidFill>
                <a:effectLst/>
                <a:latin typeface="+mn-lt"/>
                <a:ea typeface="+mn-ea"/>
                <a:cs typeface="+mn-cs"/>
              </a:rPr>
              <a:t>The trillion-dollar crypto ghost city finally has its native citizens.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The Empty Guardrails:</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For over ten years, blockchain developers built hyper-secure, scalable, programmable rails. We created decentralized wallets, smart contract standards, zero-knowledge proofs, and Layer-2 scaling solutions.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However, human end-users found it cumbersome. Managing seed phrases, signing hex-data transactions, approving gas fees, and navigating complex interfaces created immense UX friction for human beings. Humans preferred the seamless experience of Web2 apps, even if it meant sacrificing sovereignty and paying high fees. </a:t>
            </a:r>
          </a:p>
          <a:p>
            <a:pPr marL="228600" lvl="0" indent="-228600">
              <a:buFont typeface="+mj-lt"/>
              <a:buAutoNum type="arabicPeriod"/>
            </a:pPr>
            <a:r>
              <a:rPr lang="en-US" sz="1200" b="1" kern="1200" dirty="0">
                <a:solidFill>
                  <a:schemeClr val="tx1"/>
                </a:solidFill>
                <a:effectLst/>
                <a:latin typeface="+mn-lt"/>
                <a:ea typeface="+mn-ea"/>
                <a:cs typeface="+mn-cs"/>
              </a:rPr>
              <a:t>The Missing Link:</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Why was human adoption so clunky? Because wallets, private keys, and smart contracts were </a:t>
            </a:r>
            <a:r>
              <a:rPr lang="en-US" sz="1200" b="1" kern="1200" dirty="0">
                <a:solidFill>
                  <a:schemeClr val="tx1"/>
                </a:solidFill>
                <a:effectLst/>
                <a:latin typeface="+mn-lt"/>
                <a:ea typeface="+mn-ea"/>
                <a:cs typeface="+mn-cs"/>
              </a:rPr>
              <a:t>never meant for human interfaces in the first place</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They are native interfaces designed for </a:t>
            </a:r>
            <a:r>
              <a:rPr lang="en-US" sz="1200" b="1" kern="1200" dirty="0">
                <a:solidFill>
                  <a:schemeClr val="tx1"/>
                </a:solidFill>
                <a:effectLst/>
                <a:latin typeface="+mn-lt"/>
                <a:ea typeface="+mn-ea"/>
                <a:cs typeface="+mn-cs"/>
              </a:rPr>
              <a:t>software machines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The Activation:</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Enter AI agents. AI agents do not care about sleek graphic UI designs. They don't care about remembering seed phrases or typing passwords.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Agents operate purely on </a:t>
            </a:r>
            <a:r>
              <a:rPr lang="en-US" sz="1200" b="1" kern="1200" dirty="0">
                <a:solidFill>
                  <a:schemeClr val="tx1"/>
                </a:solidFill>
                <a:effectLst/>
                <a:latin typeface="+mn-lt"/>
                <a:ea typeface="+mn-ea"/>
                <a:cs typeface="+mn-cs"/>
              </a:rPr>
              <a:t>cost, speed, programmatic reliability, and cryptographic trust</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An AI agent can read a smart contract's raw code instantly, verify the execution logic, sign a cryptographic transaction with a private key, and settle value in 10 milliseconds. </a:t>
            </a:r>
          </a:p>
          <a:p>
            <a:r>
              <a:rPr lang="en-US" sz="1200" kern="1200" dirty="0">
                <a:solidFill>
                  <a:schemeClr val="tx1"/>
                </a:solidFill>
                <a:effectLst/>
                <a:latin typeface="+mn-lt"/>
                <a:ea typeface="+mn-ea"/>
                <a:cs typeface="+mn-cs"/>
              </a:rPr>
              <a:t>AI agents are the ultimate power consumers of </a:t>
            </a:r>
            <a:r>
              <a:rPr lang="en-US" sz="1200" kern="1200" dirty="0" err="1">
                <a:solidFill>
                  <a:schemeClr val="tx1"/>
                </a:solidFill>
                <a:effectLst/>
                <a:latin typeface="+mn-lt"/>
                <a:ea typeface="+mn-ea"/>
                <a:cs typeface="+mn-cs"/>
              </a:rPr>
              <a:t>blockspace</a:t>
            </a:r>
            <a:r>
              <a:rPr lang="en-US" sz="1200" kern="1200" dirty="0">
                <a:solidFill>
                  <a:schemeClr val="tx1"/>
                </a:solidFill>
                <a:effectLst/>
                <a:latin typeface="+mn-lt"/>
                <a:ea typeface="+mn-ea"/>
                <a:cs typeface="+mn-cs"/>
              </a:rPr>
              <a:t>. They are populating the ghost city, turning empty cryptographic infrastructure into a thriving, high-velocity digital economy.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7</a:t>
            </a:fld>
            <a:endParaRPr lang="en-US"/>
          </a:p>
        </p:txBody>
      </p:sp>
    </p:spTree>
    <p:extLst>
      <p:ext uri="{BB962C8B-B14F-4D97-AF65-F5344CB8AC3E}">
        <p14:creationId xmlns:p14="http://schemas.microsoft.com/office/powerpoint/2010/main" val="3944907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want to know where the future is going, don't listen to what traditional financial executives say in media interviews—watch where they are deploying capital. </a:t>
            </a:r>
            <a:r>
              <a:rPr lang="en-US" sz="1200" b="1" kern="1200" dirty="0">
                <a:solidFill>
                  <a:schemeClr val="tx1"/>
                </a:solidFill>
                <a:effectLst/>
                <a:latin typeface="+mn-lt"/>
                <a:ea typeface="+mn-ea"/>
                <a:cs typeface="+mn-cs"/>
              </a:rPr>
              <a:t>Traditional finance is quietly capitulating to this new transaction layer.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Slide 8 highlights three massive market signals that prove this pivot is happening today: </a:t>
            </a:r>
          </a:p>
          <a:p>
            <a:pPr marL="228600" lvl="0" indent="-228600">
              <a:buFont typeface="+mj-lt"/>
              <a:buAutoNum type="arabicPeriod"/>
            </a:pPr>
            <a:r>
              <a:rPr lang="en-US" sz="1200" b="1" kern="1200" dirty="0">
                <a:solidFill>
                  <a:schemeClr val="tx1"/>
                </a:solidFill>
                <a:effectLst/>
                <a:latin typeface="+mn-lt"/>
                <a:ea typeface="+mn-ea"/>
                <a:cs typeface="+mn-cs"/>
              </a:rPr>
              <a:t>The Incumbent Pivot:</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Legacy payment processors like Visa, Mastercard, and PayPal realize that if they do not aggressively integrate programmable money into their stacks, they face long-term technological obsolescence.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They are actively moving from closed, legacy networks to hosting and issuing stablecoins on public blockchains. </a:t>
            </a:r>
          </a:p>
          <a:p>
            <a:pPr marL="228600" lvl="0" indent="-228600">
              <a:buFont typeface="+mj-lt"/>
              <a:buAutoNum type="arabicPeriod"/>
            </a:pPr>
            <a:r>
              <a:rPr lang="en-US" sz="1200" b="1" kern="1200" dirty="0">
                <a:solidFill>
                  <a:schemeClr val="tx1"/>
                </a:solidFill>
                <a:effectLst/>
                <a:latin typeface="+mn-lt"/>
                <a:ea typeface="+mn-ea"/>
                <a:cs typeface="+mn-cs"/>
              </a:rPr>
              <a:t>The $1 Billion Signal (Stripe Acquisition of Bridge):</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Look at one of the most prominent fintech moves in recent history: </a:t>
            </a:r>
            <a:r>
              <a:rPr lang="en-US" sz="1200" b="1" kern="1200" dirty="0">
                <a:solidFill>
                  <a:schemeClr val="tx1"/>
                </a:solidFill>
                <a:effectLst/>
                <a:latin typeface="+mn-lt"/>
                <a:ea typeface="+mn-ea"/>
                <a:cs typeface="+mn-cs"/>
              </a:rPr>
              <a:t>Stripe acquiring Bridge for $1 Billion</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At the time of the acquisition, Bridge was generating around $10 million in revenue. Why would a hyper-rational, tier-1 company like Stripe pay a 100x revenue multiple for a stablecoin infrastructure startup?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Because Stripe recognizes that stablecoins are not just a crypto trade—they are the </a:t>
            </a:r>
            <a:r>
              <a:rPr lang="en-US" sz="1200" b="1" kern="1200" dirty="0">
                <a:solidFill>
                  <a:schemeClr val="tx1"/>
                </a:solidFill>
                <a:effectLst/>
                <a:latin typeface="+mn-lt"/>
                <a:ea typeface="+mn-ea"/>
                <a:cs typeface="+mn-cs"/>
              </a:rPr>
              <a:t>foundational settlement layer for the entire agentic internet</a:t>
            </a:r>
            <a:r>
              <a:rPr lang="en-US" sz="1200" kern="1200" dirty="0">
                <a:solidFill>
                  <a:schemeClr val="tx1"/>
                </a:solidFill>
                <a:effectLst/>
                <a:latin typeface="+mn-lt"/>
                <a:ea typeface="+mn-ea"/>
                <a:cs typeface="+mn-cs"/>
              </a:rPr>
              <a:t>. Acquiring Bridge gives Stripe the core pipeline to handle programmatic machine payments globally. </a:t>
            </a:r>
          </a:p>
          <a:p>
            <a:pPr marL="228600" lvl="0" indent="-228600">
              <a:buFont typeface="+mj-lt"/>
              <a:buAutoNum type="arabicPeriod"/>
            </a:pPr>
            <a:r>
              <a:rPr lang="en-US" sz="1200" b="1" kern="1200" dirty="0">
                <a:solidFill>
                  <a:schemeClr val="tx1"/>
                </a:solidFill>
                <a:effectLst/>
                <a:latin typeface="+mn-lt"/>
                <a:ea typeface="+mn-ea"/>
                <a:cs typeface="+mn-cs"/>
              </a:rPr>
              <a:t>Robinhood &amp; Tokenized Chains:</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Major consumer retail platforms like Robinhood are actively exploring and building proprietary Layer-2 chains.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Why? To capture the massive incoming volume of tokenized asset velocity. They know that stock trading during limited 9-to-5 exchange hours is dead. The future is 24/7, global, tokenized asset trading on-chain.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8</a:t>
            </a:fld>
            <a:endParaRPr lang="en-US"/>
          </a:p>
        </p:txBody>
      </p:sp>
    </p:spTree>
    <p:extLst>
      <p:ext uri="{BB962C8B-B14F-4D97-AF65-F5344CB8AC3E}">
        <p14:creationId xmlns:p14="http://schemas.microsoft.com/office/powerpoint/2010/main" val="2838310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on Slide 9, we have a visual representation of what happens when we bridge real-world physical assets with on-chain cryptographic liquidity. </a:t>
            </a:r>
          </a:p>
          <a:p>
            <a:r>
              <a:rPr lang="en-US" sz="1200" kern="1200" dirty="0">
                <a:solidFill>
                  <a:schemeClr val="tx1"/>
                </a:solidFill>
                <a:effectLst/>
                <a:latin typeface="+mn-lt"/>
                <a:ea typeface="+mn-ea"/>
                <a:cs typeface="+mn-cs"/>
              </a:rPr>
              <a:t>On the left image, you see a traditional, massive physical property locked onto an isolated piece of rock—heavy, immobile, encased in digital lines, completely isolated from global liquidity flow. </a:t>
            </a:r>
          </a:p>
          <a:p>
            <a:r>
              <a:rPr lang="en-US" sz="1200" kern="1200" dirty="0">
                <a:solidFill>
                  <a:schemeClr val="tx1"/>
                </a:solidFill>
                <a:effectLst/>
                <a:latin typeface="+mn-lt"/>
                <a:ea typeface="+mn-ea"/>
                <a:cs typeface="+mn-cs"/>
              </a:rPr>
              <a:t>On the right image, that static structure shatters into hyper-connected, glowing digital data nodes that instantly wire into a global, borderless financial network. </a:t>
            </a:r>
          </a:p>
          <a:p>
            <a:r>
              <a:rPr lang="en-US" sz="1200" kern="1200" dirty="0">
                <a:solidFill>
                  <a:schemeClr val="tx1"/>
                </a:solidFill>
                <a:effectLst/>
                <a:latin typeface="+mn-lt"/>
                <a:ea typeface="+mn-ea"/>
                <a:cs typeface="+mn-cs"/>
              </a:rPr>
              <a:t>This visual represents </a:t>
            </a:r>
            <a:r>
              <a:rPr lang="en-US" sz="1200" b="1" kern="1200" dirty="0">
                <a:solidFill>
                  <a:schemeClr val="tx1"/>
                </a:solidFill>
                <a:effectLst/>
                <a:latin typeface="+mn-lt"/>
                <a:ea typeface="+mn-ea"/>
                <a:cs typeface="+mn-cs"/>
              </a:rPr>
              <a:t>Tokenization</a:t>
            </a:r>
            <a:r>
              <a:rPr lang="en-US" sz="1200" kern="1200" dirty="0">
                <a:solidFill>
                  <a:schemeClr val="tx1"/>
                </a:solidFill>
                <a:effectLst/>
                <a:latin typeface="+mn-lt"/>
                <a:ea typeface="+mn-ea"/>
                <a:cs typeface="+mn-cs"/>
              </a:rPr>
              <a:t>. It is the process of taking locked, physical real-world assets (RWA) and shattering their illiquidity, allowing them to flow across global networks at the speed of light. Let's unpack the numbers behind this on Slide 10.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9</a:t>
            </a:fld>
            <a:endParaRPr lang="en-US"/>
          </a:p>
        </p:txBody>
      </p:sp>
    </p:spTree>
    <p:extLst>
      <p:ext uri="{BB962C8B-B14F-4D97-AF65-F5344CB8AC3E}">
        <p14:creationId xmlns:p14="http://schemas.microsoft.com/office/powerpoint/2010/main" val="2831764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talk about the single largest TAM (Total Addressable Market) in economic history: </a:t>
            </a:r>
            <a:r>
              <a:rPr lang="en-US" sz="1200" b="1" kern="1200" dirty="0">
                <a:solidFill>
                  <a:schemeClr val="tx1"/>
                </a:solidFill>
                <a:effectLst/>
                <a:latin typeface="+mn-lt"/>
                <a:ea typeface="+mn-ea"/>
                <a:cs typeface="+mn-cs"/>
              </a:rPr>
              <a:t>Tokenizing the $900 Trillion Real-World Asset market.</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The Liquidity Constraint Today:</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In the legacy economy, physical assets lock up capital equity. If you own real estate, private equity, physical machinery, or debt instruments, that value is trapped.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If an asset owner needs access to capital, they have to navigate months of painful friction, pay middleman bank fees, complete endless paperwork, and deal with localized buyer pools. </a:t>
            </a:r>
          </a:p>
          <a:p>
            <a:pPr marL="228600" lvl="0" indent="-228600">
              <a:buFont typeface="+mj-lt"/>
              <a:buAutoNum type="arabicPeriod"/>
            </a:pPr>
            <a:r>
              <a:rPr lang="en-US" sz="1200" b="1" kern="1200" dirty="0">
                <a:solidFill>
                  <a:schemeClr val="tx1"/>
                </a:solidFill>
                <a:effectLst/>
                <a:latin typeface="+mn-lt"/>
                <a:ea typeface="+mn-ea"/>
                <a:cs typeface="+mn-cs"/>
              </a:rPr>
              <a:t>The Global Unlock:</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Tokenization strips away these legacy intermediaries. By wrapping physical real-world assets into smart contracts on-chain, we convert illiquid physical property into fractionalized, programmable, digital units.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A $100 million building is no longer an indivisible chunk of brick and mortar; it becomes 100 million digital security tokens that can be traded, fractionalized, and transferred automatically. </a:t>
            </a:r>
          </a:p>
          <a:p>
            <a:pPr marL="228600" lvl="0" indent="-228600">
              <a:buFont typeface="+mj-lt"/>
              <a:buAutoNum type="arabicPeriod"/>
            </a:pPr>
            <a:r>
              <a:rPr lang="en-US" sz="1200" b="1" kern="1200" dirty="0">
                <a:solidFill>
                  <a:schemeClr val="tx1"/>
                </a:solidFill>
                <a:effectLst/>
                <a:latin typeface="+mn-lt"/>
                <a:ea typeface="+mn-ea"/>
                <a:cs typeface="+mn-cs"/>
              </a:rPr>
              <a:t>Instant Global Access:</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Once an asset is tokenized on-chain, its potential buyer pool expands instantly.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Instead of relying on a local bank or local buyers, that equity can be instantly sold, traded, or used as collateral across a global pool of </a:t>
            </a:r>
            <a:r>
              <a:rPr lang="en-US" sz="1200" b="1" kern="1200" dirty="0">
                <a:solidFill>
                  <a:schemeClr val="tx1"/>
                </a:solidFill>
                <a:effectLst/>
                <a:latin typeface="+mn-lt"/>
                <a:ea typeface="+mn-ea"/>
                <a:cs typeface="+mn-cs"/>
              </a:rPr>
              <a:t>8 billion humans and trillions of AI agents</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This is not just "crypto financial innovation"—this is the systematic liquidation and mobilization of the entire world's trapped wealth.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10</a:t>
            </a:fld>
            <a:endParaRPr lang="en-US"/>
          </a:p>
        </p:txBody>
      </p:sp>
    </p:spTree>
    <p:extLst>
      <p:ext uri="{BB962C8B-B14F-4D97-AF65-F5344CB8AC3E}">
        <p14:creationId xmlns:p14="http://schemas.microsoft.com/office/powerpoint/2010/main" val="4234441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brings us to one of the most profound macroeconomic implications of this entire deck: </a:t>
            </a:r>
            <a:r>
              <a:rPr lang="en-US" sz="1200" b="1" kern="1200" dirty="0">
                <a:solidFill>
                  <a:schemeClr val="tx1"/>
                </a:solidFill>
                <a:effectLst/>
                <a:latin typeface="+mn-lt"/>
                <a:ea typeface="+mn-ea"/>
                <a:cs typeface="+mn-cs"/>
              </a:rPr>
              <a:t>How programmable assets permanently alter the global liquidity cycle.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Look at the </a:t>
            </a:r>
            <a:r>
              <a:rPr lang="en-US" sz="1200" b="1" kern="1200" dirty="0">
                <a:solidFill>
                  <a:schemeClr val="tx1"/>
                </a:solidFill>
                <a:effectLst/>
                <a:latin typeface="+mn-lt"/>
                <a:ea typeface="+mn-ea"/>
                <a:cs typeface="+mn-cs"/>
              </a:rPr>
              <a:t>Activation Curve</a:t>
            </a:r>
            <a:r>
              <a:rPr lang="en-US" sz="1200" kern="1200" dirty="0">
                <a:solidFill>
                  <a:schemeClr val="tx1"/>
                </a:solidFill>
                <a:effectLst/>
                <a:latin typeface="+mn-lt"/>
                <a:ea typeface="+mn-ea"/>
                <a:cs typeface="+mn-cs"/>
              </a:rPr>
              <a:t> chart displayed on the slide. Notice how volatility flattens into a smooth, continuous upward trajectory once activation takes place. Here is the mechanism behind that chart: </a:t>
            </a:r>
          </a:p>
          <a:p>
            <a:pPr marL="228600" lvl="0" indent="-228600">
              <a:buFont typeface="+mj-lt"/>
              <a:buAutoNum type="arabicPeriod"/>
            </a:pPr>
            <a:r>
              <a:rPr lang="en-US" sz="1200" b="1" kern="1200" dirty="0">
                <a:solidFill>
                  <a:schemeClr val="tx1"/>
                </a:solidFill>
                <a:effectLst/>
                <a:latin typeface="+mn-lt"/>
                <a:ea typeface="+mn-ea"/>
                <a:cs typeface="+mn-cs"/>
              </a:rPr>
              <a:t>The M2 Replacement Mechanism:</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As we established on Slide 2, central banks traditionally have to print fiat M2 to save illiquid asset markets from crashing during a panic.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Tokenization fundamentally replaces this central bank printing press.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When real-world assets are tokenized, </a:t>
            </a:r>
            <a:r>
              <a:rPr lang="en-US" sz="1200" b="1" kern="1200" dirty="0">
                <a:solidFill>
                  <a:schemeClr val="tx1"/>
                </a:solidFill>
                <a:effectLst/>
                <a:latin typeface="+mn-lt"/>
                <a:ea typeface="+mn-ea"/>
                <a:cs typeface="+mn-cs"/>
              </a:rPr>
              <a:t>the assets themselves effectively become M2 money</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Ending the Central Bank Panic Engine:</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Consider this scenario: If a $5 million commercial building is tokenized and fractionally tradable on-chain in real-time, it possesses near-instant liquidity.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If the owner needs cash instantly to settle a debt or buy an asset, they don't need a bank loan or a bailout. A smart contract automatically liquidates 0.05% of the property's tokenized equity in milliseconds to settle the transaction.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When every asset class—from real estate to private debt—can instantly buy a cup of coffee via algorithmic smart-contract routing, </a:t>
            </a:r>
            <a:r>
              <a:rPr lang="en-US" sz="1200" b="1" kern="1200" dirty="0">
                <a:solidFill>
                  <a:schemeClr val="tx1"/>
                </a:solidFill>
                <a:effectLst/>
                <a:latin typeface="+mn-lt"/>
                <a:ea typeface="+mn-ea"/>
                <a:cs typeface="+mn-cs"/>
              </a:rPr>
              <a:t>the necessity for panic-selling and central bank money printing evaporates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Tokenization cures the liquidity mismatch that has plagued fractional-reserve fiat banking for over a century. It transitions global finance from central-bank-dependent stability to native, programmatic liquidity.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11</a:t>
            </a:fld>
            <a:endParaRPr lang="en-US"/>
          </a:p>
        </p:txBody>
      </p:sp>
    </p:spTree>
    <p:extLst>
      <p:ext uri="{BB962C8B-B14F-4D97-AF65-F5344CB8AC3E}">
        <p14:creationId xmlns:p14="http://schemas.microsoft.com/office/powerpoint/2010/main" val="1286779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AI agents make innovation hyper-fast, and tokenization makes assets hyper-liquid, what happens to company valuations and equity markets? Slide 12 addresses the ultimate destination for capital in a world of hyper-velocity. </a:t>
            </a:r>
          </a:p>
          <a:p>
            <a:pPr marL="228600" lvl="0" indent="-228600">
              <a:buFont typeface="+mj-lt"/>
              <a:buAutoNum type="arabicPeriod"/>
            </a:pPr>
            <a:r>
              <a:rPr lang="en-US" sz="1200" b="1" kern="1200" dirty="0">
                <a:solidFill>
                  <a:schemeClr val="tx1"/>
                </a:solidFill>
                <a:effectLst/>
                <a:latin typeface="+mn-lt"/>
                <a:ea typeface="+mn-ea"/>
                <a:cs typeface="+mn-cs"/>
              </a:rPr>
              <a:t>The Death of the Corporate Moat:</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In a legacy economy, a successful software or service company could enjoy a competitive "moat" for decades.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In a world dominated by super-intelligent AI agents and autonomous digital entrepreneurs, </a:t>
            </a:r>
            <a:r>
              <a:rPr lang="en-US" sz="1200" b="1" kern="1200" dirty="0">
                <a:solidFill>
                  <a:schemeClr val="tx1"/>
                </a:solidFill>
                <a:effectLst/>
                <a:latin typeface="+mn-lt"/>
                <a:ea typeface="+mn-ea"/>
                <a:cs typeface="+mn-cs"/>
              </a:rPr>
              <a:t>Schumpeterian "Creative Destruction" happens almost instantaneously</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If a SaaS company builds a profitable product today, autonomous AI agents can clone, optimize, and distribute a better, cheaper version within months. Corporate moats evaporate overnight, compressing long-term growth cycles for equity investments. </a:t>
            </a:r>
          </a:p>
          <a:p>
            <a:pPr marL="228600" lvl="0" indent="-228600">
              <a:buFont typeface="+mj-lt"/>
              <a:buAutoNum type="arabicPeriod"/>
            </a:pPr>
            <a:r>
              <a:rPr lang="en-US" sz="1200" b="1" kern="1200" dirty="0">
                <a:solidFill>
                  <a:schemeClr val="tx1"/>
                </a:solidFill>
                <a:effectLst/>
                <a:latin typeface="+mn-lt"/>
                <a:ea typeface="+mn-ea"/>
                <a:cs typeface="+mn-cs"/>
              </a:rPr>
              <a:t>The Flight to Safety:</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When technological innovation erodes the long-term defensibility of corporate equities, where does capital go to preserve its value over decades?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Capital flees away from software assets that can be out-engineered and searches for an unchangeable, immutable base layer that </a:t>
            </a:r>
            <a:r>
              <a:rPr lang="en-US" sz="1200" b="1" kern="1200" dirty="0">
                <a:solidFill>
                  <a:schemeClr val="tx1"/>
                </a:solidFill>
                <a:effectLst/>
                <a:latin typeface="+mn-lt"/>
                <a:ea typeface="+mn-ea"/>
                <a:cs typeface="+mn-cs"/>
              </a:rPr>
              <a:t>cannot be out-engineered or diluted</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Bitcoin as the Terminal Asset:</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This makes Bitcoin the ultimate terminal store of value.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While AI agents destroy margins in equity markets and out-compete traditional software, Bitcoin’s monetary policy is fixed in code. It cannot be copied, diluted, or disrupted by an algorithm.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As technological acceleration decays the long-term terminal value of legacy equities, Bitcoin stands as the absolute, neutral bedrock asset for human and machine capital alike.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12</a:t>
            </a:fld>
            <a:endParaRPr lang="en-US"/>
          </a:p>
        </p:txBody>
      </p:sp>
    </p:spTree>
    <p:extLst>
      <p:ext uri="{BB962C8B-B14F-4D97-AF65-F5344CB8AC3E}">
        <p14:creationId xmlns:p14="http://schemas.microsoft.com/office/powerpoint/2010/main" val="2142614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examine the physical backbone required to power these trillions of digital workers: </a:t>
            </a:r>
            <a:r>
              <a:rPr lang="en-US" sz="1200" b="1" kern="1200" dirty="0">
                <a:solidFill>
                  <a:schemeClr val="tx1"/>
                </a:solidFill>
                <a:effectLst/>
                <a:latin typeface="+mn-lt"/>
                <a:ea typeface="+mn-ea"/>
                <a:cs typeface="+mn-cs"/>
              </a:rPr>
              <a:t>Energy and Compute.</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The Evolution of Economic Scale:</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b="1" kern="1200" dirty="0">
                <a:solidFill>
                  <a:schemeClr val="tx1"/>
                </a:solidFill>
                <a:effectLst/>
                <a:latin typeface="+mn-lt"/>
                <a:ea typeface="+mn-ea"/>
                <a:cs typeface="+mn-cs"/>
              </a:rPr>
              <a:t>Agrarian Economy:</a:t>
            </a:r>
            <a:r>
              <a:rPr lang="en-US" sz="1200" kern="1200" dirty="0">
                <a:solidFill>
                  <a:schemeClr val="tx1"/>
                </a:solidFill>
                <a:effectLst/>
                <a:latin typeface="+mn-lt"/>
                <a:ea typeface="+mn-ea"/>
                <a:cs typeface="+mn-cs"/>
              </a:rPr>
              <a:t> Scaled energy to feed localized human communities. </a:t>
            </a:r>
          </a:p>
          <a:p>
            <a:pPr marL="685800" lvl="1" indent="-228600">
              <a:buFont typeface="Arial" panose="020B0604020202020204" pitchFamily="34" charset="0"/>
              <a:buChar char="•"/>
            </a:pPr>
            <a:r>
              <a:rPr lang="en-US" sz="1200" b="1" kern="1200" dirty="0">
                <a:solidFill>
                  <a:schemeClr val="tx1"/>
                </a:solidFill>
                <a:effectLst/>
                <a:latin typeface="+mn-lt"/>
                <a:ea typeface="+mn-ea"/>
                <a:cs typeface="+mn-cs"/>
              </a:rPr>
              <a:t>Industrial Economy:</a:t>
            </a:r>
            <a:r>
              <a:rPr lang="en-US" sz="1200" kern="1200" dirty="0">
                <a:solidFill>
                  <a:schemeClr val="tx1"/>
                </a:solidFill>
                <a:effectLst/>
                <a:latin typeface="+mn-lt"/>
                <a:ea typeface="+mn-ea"/>
                <a:cs typeface="+mn-cs"/>
              </a:rPr>
              <a:t> Scaled power to feed millions of urban factory workers. </a:t>
            </a:r>
          </a:p>
          <a:p>
            <a:pPr marL="685800" lvl="1" indent="-228600">
              <a:buFont typeface="Arial" panose="020B0604020202020204" pitchFamily="34" charset="0"/>
              <a:buChar char="•"/>
            </a:pPr>
            <a:r>
              <a:rPr lang="en-US" sz="1200" b="1" kern="1200" dirty="0">
                <a:solidFill>
                  <a:schemeClr val="tx1"/>
                </a:solidFill>
                <a:effectLst/>
                <a:latin typeface="+mn-lt"/>
                <a:ea typeface="+mn-ea"/>
                <a:cs typeface="+mn-cs"/>
              </a:rPr>
              <a:t>Agentic Economy:</a:t>
            </a:r>
            <a:r>
              <a:rPr lang="en-US" sz="1200" kern="1200" dirty="0">
                <a:solidFill>
                  <a:schemeClr val="tx1"/>
                </a:solidFill>
                <a:effectLst/>
                <a:latin typeface="+mn-lt"/>
                <a:ea typeface="+mn-ea"/>
                <a:cs typeface="+mn-cs"/>
              </a:rPr>
              <a:t> Must scale compute to feed </a:t>
            </a:r>
            <a:r>
              <a:rPr lang="en-US" sz="1200" b="1" kern="1200" dirty="0">
                <a:solidFill>
                  <a:schemeClr val="tx1"/>
                </a:solidFill>
                <a:effectLst/>
                <a:latin typeface="+mn-lt"/>
                <a:ea typeface="+mn-ea"/>
                <a:cs typeface="+mn-cs"/>
              </a:rPr>
              <a:t>trillions of autonomous entities</a:t>
            </a:r>
            <a:r>
              <a:rPr lang="en-US" sz="1200" kern="1200" dirty="0">
                <a:solidFill>
                  <a:schemeClr val="tx1"/>
                </a:solidFill>
                <a:effectLst/>
                <a:latin typeface="+mn-lt"/>
                <a:ea typeface="+mn-ea"/>
                <a:cs typeface="+mn-cs"/>
              </a:rPr>
              <a:t>—including Consumer Agents, Enterprise Code Agents, Physical Humanoids, and Full Self-Driving (FSD) vision networks. </a:t>
            </a:r>
          </a:p>
          <a:p>
            <a:pPr marL="228600" lvl="0" indent="-228600">
              <a:buFont typeface="+mj-lt"/>
              <a:buAutoNum type="arabicPeriod"/>
            </a:pPr>
            <a:r>
              <a:rPr lang="en-US" sz="1200" b="1" kern="1200" dirty="0">
                <a:solidFill>
                  <a:schemeClr val="tx1"/>
                </a:solidFill>
                <a:effectLst/>
                <a:latin typeface="+mn-lt"/>
                <a:ea typeface="+mn-ea"/>
                <a:cs typeface="+mn-cs"/>
              </a:rPr>
              <a:t>The Insatiable Demand for Compute:</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Every single autonomous thought, smart contract execution, and AI model inference requires raw kilowatt-hours of power.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We are only in the very first inning of this trend. Compute is no longer just a tech commodity—it is the foundational staple calorie of the next century. </a:t>
            </a:r>
          </a:p>
          <a:p>
            <a:pPr marL="228600" lvl="0" indent="-228600">
              <a:buFont typeface="+mj-lt"/>
              <a:buAutoNum type="arabicPeriod"/>
            </a:pPr>
            <a:r>
              <a:rPr lang="en-US" sz="1200" b="1" kern="1200" dirty="0">
                <a:solidFill>
                  <a:schemeClr val="tx1"/>
                </a:solidFill>
                <a:effectLst/>
                <a:latin typeface="+mn-lt"/>
                <a:ea typeface="+mn-ea"/>
                <a:cs typeface="+mn-cs"/>
              </a:rPr>
              <a:t>AI &amp; Bitcoin Mining: Forging a Self-Stabilizing Energy Grid:</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How do we power this without collapsing electrical grids? Through the convergence of AI grid management and Bitcoin mining. </a:t>
            </a:r>
          </a:p>
          <a:p>
            <a:pPr marL="685800" lvl="1" indent="-228600">
              <a:buFont typeface="Arial" panose="020B0604020202020204" pitchFamily="34" charset="0"/>
              <a:buChar char="•"/>
            </a:pPr>
            <a:r>
              <a:rPr lang="en-US" sz="1200" b="1" kern="1200" dirty="0">
                <a:solidFill>
                  <a:schemeClr val="tx1"/>
                </a:solidFill>
                <a:effectLst/>
                <a:latin typeface="+mn-lt"/>
                <a:ea typeface="+mn-ea"/>
                <a:cs typeface="+mn-cs"/>
              </a:rPr>
              <a:t>The Efficiency Gap:</a:t>
            </a:r>
            <a:r>
              <a:rPr lang="en-US" sz="1200" kern="1200" dirty="0">
                <a:solidFill>
                  <a:schemeClr val="tx1"/>
                </a:solidFill>
                <a:effectLst/>
                <a:latin typeface="+mn-lt"/>
                <a:ea typeface="+mn-ea"/>
                <a:cs typeface="+mn-cs"/>
              </a:rPr>
              <a:t> The world doesn't lack total energy generation; we suffer from inefficient grid routing and energy storage bottlenecks. Advanced AI models (solving complex physics like Navier-Stokes fluid dynamics) are rapidly optimizing energy distribution and battery chemistry. </a:t>
            </a:r>
          </a:p>
          <a:p>
            <a:pPr marL="685800" lvl="1" indent="-228600">
              <a:buFont typeface="Arial" panose="020B0604020202020204" pitchFamily="34" charset="0"/>
              <a:buChar char="•"/>
            </a:pPr>
            <a:r>
              <a:rPr lang="en-US" sz="1200" b="1" kern="1200" dirty="0">
                <a:solidFill>
                  <a:schemeClr val="tx1"/>
                </a:solidFill>
                <a:effectLst/>
                <a:latin typeface="+mn-lt"/>
                <a:ea typeface="+mn-ea"/>
                <a:cs typeface="+mn-cs"/>
              </a:rPr>
              <a:t>The Synthetic Battery:</a:t>
            </a:r>
            <a:r>
              <a:rPr lang="en-US" sz="1200" kern="1200" dirty="0">
                <a:solidFill>
                  <a:schemeClr val="tx1"/>
                </a:solidFill>
                <a:effectLst/>
                <a:latin typeface="+mn-lt"/>
                <a:ea typeface="+mn-ea"/>
                <a:cs typeface="+mn-cs"/>
              </a:rPr>
              <a:t> Bitcoin miners act as the ultimate flexible load. Operating 'behind the meter,' they absorb excess, wasted energy from remote renewable sources. When human or AI grid demand surges, Bitcoin miners instantly power down in milliseconds, acting as a hyper-efficient demand-response buffer. </a:t>
            </a:r>
          </a:p>
          <a:p>
            <a:pPr marL="0" indent="0">
              <a:buFont typeface="Arial" panose="020B0604020202020204" pitchFamily="34" charset="0"/>
              <a:buNone/>
            </a:pPr>
            <a:r>
              <a:rPr lang="en-US" sz="1200" kern="1200" dirty="0">
                <a:solidFill>
                  <a:schemeClr val="tx1"/>
                </a:solidFill>
                <a:effectLst/>
                <a:latin typeface="+mn-lt"/>
                <a:ea typeface="+mn-ea"/>
                <a:cs typeface="+mn-cs"/>
              </a:rPr>
              <a:t>Together, AI optimization and Bitcoin energy loads turn fragile power grids into highly resilient, self-stabilizing energy engines.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13</a:t>
            </a:fld>
            <a:endParaRPr lang="en-US"/>
          </a:p>
        </p:txBody>
      </p:sp>
    </p:spTree>
    <p:extLst>
      <p:ext uri="{BB962C8B-B14F-4D97-AF65-F5344CB8AC3E}">
        <p14:creationId xmlns:p14="http://schemas.microsoft.com/office/powerpoint/2010/main" val="1288395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14 brings every single thread of this deck together into one unified framework: </a:t>
            </a:r>
            <a:r>
              <a:rPr lang="en-US" sz="1200" b="1" kern="1200" dirty="0">
                <a:solidFill>
                  <a:schemeClr val="tx1"/>
                </a:solidFill>
                <a:effectLst/>
                <a:latin typeface="+mn-lt"/>
                <a:ea typeface="+mn-ea"/>
                <a:cs typeface="+mn-cs"/>
              </a:rPr>
              <a:t>The Convergence Engine.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Look at the central Gyroscope visual on this slide. It illustrates how these four pillars lock together to unlock the Age of Abundance: </a:t>
            </a:r>
          </a:p>
          <a:p>
            <a:pPr marL="228600" lvl="0" indent="-228600">
              <a:buFont typeface="+mj-lt"/>
              <a:buAutoNum type="arabicPeriod"/>
            </a:pPr>
            <a:r>
              <a:rPr lang="en-US" sz="1200" b="1" kern="1200" dirty="0">
                <a:solidFill>
                  <a:schemeClr val="tx1"/>
                </a:solidFill>
                <a:effectLst/>
                <a:latin typeface="+mn-lt"/>
                <a:ea typeface="+mn-ea"/>
                <a:cs typeface="+mn-cs"/>
              </a:rPr>
              <a:t>Macro Debt &amp; Tokenization:</a:t>
            </a:r>
            <a:r>
              <a:rPr lang="en-US" sz="1200" kern="1200" dirty="0">
                <a:solidFill>
                  <a:schemeClr val="tx1"/>
                </a:solidFill>
                <a:effectLst/>
                <a:latin typeface="+mn-lt"/>
                <a:ea typeface="+mn-ea"/>
                <a:cs typeface="+mn-cs"/>
              </a:rPr>
              <a:t> Solves the legacy macroeconomic debt trap by liquefying $900 trillion in trapped assets, creating organic, non-inflationary global liquidity. </a:t>
            </a:r>
          </a:p>
          <a:p>
            <a:pPr marL="228600" lvl="0" indent="-228600">
              <a:buFont typeface="+mj-lt"/>
              <a:buAutoNum type="arabicPeriod"/>
            </a:pPr>
            <a:r>
              <a:rPr lang="en-US" sz="1200" b="1" kern="1200" dirty="0">
                <a:solidFill>
                  <a:schemeClr val="tx1"/>
                </a:solidFill>
                <a:effectLst/>
                <a:latin typeface="+mn-lt"/>
                <a:ea typeface="+mn-ea"/>
                <a:cs typeface="+mn-cs"/>
              </a:rPr>
              <a:t>AI Agents:</a:t>
            </a:r>
            <a:r>
              <a:rPr lang="en-US" sz="1200" kern="1200" dirty="0">
                <a:solidFill>
                  <a:schemeClr val="tx1"/>
                </a:solidFill>
                <a:effectLst/>
                <a:latin typeface="+mn-lt"/>
                <a:ea typeface="+mn-ea"/>
                <a:cs typeface="+mn-cs"/>
              </a:rPr>
              <a:t> Provide the autonomous labor force, transaction velocity, and continuous intelligence needed to operationalize and trade these tokenized assets 24/7. </a:t>
            </a:r>
          </a:p>
          <a:p>
            <a:pPr marL="228600" lvl="0" indent="-228600">
              <a:buFont typeface="+mj-lt"/>
              <a:buAutoNum type="arabicPeriod"/>
            </a:pPr>
            <a:r>
              <a:rPr lang="en-US" sz="1200" b="1" kern="1200" dirty="0">
                <a:solidFill>
                  <a:schemeClr val="tx1"/>
                </a:solidFill>
                <a:effectLst/>
                <a:latin typeface="+mn-lt"/>
                <a:ea typeface="+mn-ea"/>
                <a:cs typeface="+mn-cs"/>
              </a:rPr>
              <a:t>Crypto &amp; L2 Rails:</a:t>
            </a:r>
            <a:r>
              <a:rPr lang="en-US" sz="1200" kern="1200" dirty="0">
                <a:solidFill>
                  <a:schemeClr val="tx1"/>
                </a:solidFill>
                <a:effectLst/>
                <a:latin typeface="+mn-lt"/>
                <a:ea typeface="+mn-ea"/>
                <a:cs typeface="+mn-cs"/>
              </a:rPr>
              <a:t> Provide the permissionless, cryptographic, instant-settlement rails that give AI agents their native financial system. </a:t>
            </a:r>
          </a:p>
          <a:p>
            <a:pPr marL="228600" lvl="0" indent="-228600">
              <a:buFont typeface="+mj-lt"/>
              <a:buAutoNum type="arabicPeriod"/>
            </a:pPr>
            <a:r>
              <a:rPr lang="en-US" sz="1200" b="1" kern="1200" dirty="0">
                <a:solidFill>
                  <a:schemeClr val="tx1"/>
                </a:solidFill>
                <a:effectLst/>
                <a:latin typeface="+mn-lt"/>
                <a:ea typeface="+mn-ea"/>
                <a:cs typeface="+mn-cs"/>
              </a:rPr>
              <a:t>Compute &amp; Energy:</a:t>
            </a:r>
            <a:r>
              <a:rPr lang="en-US" sz="1200" kern="1200" dirty="0">
                <a:solidFill>
                  <a:schemeClr val="tx1"/>
                </a:solidFill>
                <a:effectLst/>
                <a:latin typeface="+mn-lt"/>
                <a:ea typeface="+mn-ea"/>
                <a:cs typeface="+mn-cs"/>
              </a:rPr>
              <a:t> Serves as the physical fuel for the entire engine, stabilized by AI-driven grid optimization and Bitcoin mining demand-response economics. </a:t>
            </a:r>
          </a:p>
          <a:p>
            <a:r>
              <a:rPr lang="en-US" sz="1200" kern="1200" dirty="0">
                <a:solidFill>
                  <a:schemeClr val="tx1"/>
                </a:solidFill>
                <a:effectLst/>
                <a:latin typeface="+mn-lt"/>
                <a:ea typeface="+mn-ea"/>
                <a:cs typeface="+mn-cs"/>
              </a:rPr>
              <a:t>Remove any one of these four pillars, and the engine stalls. Together, they form an interconnected, self-reinforcing flywheel that moves humanity out of legacy fiat friction and into an era of unprecedented speed, productivity, and abundance. </a:t>
            </a:r>
          </a:p>
          <a:p>
            <a:endParaRPr lang="en-US" dirty="0"/>
          </a:p>
        </p:txBody>
      </p:sp>
      <p:sp>
        <p:nvSpPr>
          <p:cNvPr id="4" name="Slide Number Placeholder 3"/>
          <p:cNvSpPr>
            <a:spLocks noGrp="1"/>
          </p:cNvSpPr>
          <p:nvPr>
            <p:ph type="sldNum" sz="quarter" idx="5"/>
          </p:nvPr>
        </p:nvSpPr>
        <p:spPr/>
        <p:txBody>
          <a:bodyPr/>
          <a:lstStyle/>
          <a:p>
            <a:fld id="{8C97C2C4-BE08-45F9-A3D9-54AEE743C0D1}" type="slidenum">
              <a:rPr lang="en-US" smtClean="0"/>
              <a:t>14</a:t>
            </a:fld>
            <a:endParaRPr lang="en-US"/>
          </a:p>
        </p:txBody>
      </p:sp>
    </p:spTree>
    <p:extLst>
      <p:ext uri="{BB962C8B-B14F-4D97-AF65-F5344CB8AC3E}">
        <p14:creationId xmlns:p14="http://schemas.microsoft.com/office/powerpoint/2010/main" val="3109385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presentation, let’s talk about actionability. What is the ultimate investment and strategic verdict of this paradigm shift? </a:t>
            </a:r>
          </a:p>
          <a:p>
            <a:r>
              <a:rPr lang="en-US" sz="1200" kern="1200" dirty="0">
                <a:solidFill>
                  <a:schemeClr val="tx1"/>
                </a:solidFill>
                <a:effectLst/>
                <a:latin typeface="+mn-lt"/>
                <a:ea typeface="+mn-ea"/>
                <a:cs typeface="+mn-cs"/>
              </a:rPr>
              <a:t>It comes down to a simple four-word rule: </a:t>
            </a:r>
            <a:r>
              <a:rPr lang="en-US" sz="1200" b="1" kern="1200" dirty="0">
                <a:solidFill>
                  <a:schemeClr val="tx1"/>
                </a:solidFill>
                <a:effectLst/>
                <a:latin typeface="+mn-lt"/>
                <a:ea typeface="+mn-ea"/>
                <a:cs typeface="+mn-cs"/>
              </a:rPr>
              <a:t>Avoid Friction. Long Speed.</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What to Avoid (Short Friction):</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Steer clear of legacy public equities and financial intermediaries that rely on physical geography, manual processes, 9-to-5 operating hours, and closed walled gardens.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Businesses built on extracting fees from slow settlement, administrative delays, and regulatory moats will see their profit margins relentlessly eroded by autonomous AI competition. Their terminal value is trending toward zero. </a:t>
            </a:r>
          </a:p>
          <a:p>
            <a:pPr marL="228600" lvl="0" indent="-228600">
              <a:buFont typeface="+mj-lt"/>
              <a:buAutoNum type="arabicPeriod"/>
            </a:pPr>
            <a:r>
              <a:rPr lang="en-US" sz="1200" b="1" kern="1200" dirty="0">
                <a:solidFill>
                  <a:schemeClr val="tx1"/>
                </a:solidFill>
                <a:effectLst/>
                <a:latin typeface="+mn-lt"/>
                <a:ea typeface="+mn-ea"/>
                <a:cs typeface="+mn-cs"/>
              </a:rPr>
              <a:t>What to Allocate To (Long Speed):</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Deploy capital directly into the physical and digital infrastructure powering exponential velocity.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This means </a:t>
            </a:r>
            <a:r>
              <a:rPr lang="en-US" sz="1200" b="1" kern="1200" dirty="0">
                <a:solidFill>
                  <a:schemeClr val="tx1"/>
                </a:solidFill>
                <a:effectLst/>
                <a:latin typeface="+mn-lt"/>
                <a:ea typeface="+mn-ea"/>
                <a:cs typeface="+mn-cs"/>
              </a:rPr>
              <a:t>Compute and Energy infrastructure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scalable Crypto rails</a:t>
            </a:r>
            <a:r>
              <a:rPr lang="en-US" sz="1200" kern="1200" dirty="0">
                <a:solidFill>
                  <a:schemeClr val="tx1"/>
                </a:solidFill>
                <a:effectLst/>
                <a:latin typeface="+mn-lt"/>
                <a:ea typeface="+mn-ea"/>
                <a:cs typeface="+mn-cs"/>
              </a:rPr>
              <a:t> (Layer-2 networks, stablecoin issuers, privacy protocols), and </a:t>
            </a:r>
            <a:r>
              <a:rPr lang="en-US" sz="1200" b="1" kern="1200" dirty="0">
                <a:solidFill>
                  <a:schemeClr val="tx1"/>
                </a:solidFill>
                <a:effectLst/>
                <a:latin typeface="+mn-lt"/>
                <a:ea typeface="+mn-ea"/>
                <a:cs typeface="+mn-cs"/>
              </a:rPr>
              <a:t>Agentic software networks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The Final Verdict:</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Look at the graphic on the slide: the rocket of technological speed shattering the old pillars of legacy financial institutions. </a:t>
            </a:r>
          </a:p>
          <a:p>
            <a:pPr marL="685800" lvl="1" indent="-228600">
              <a:buFont typeface="Arial" panose="020B0604020202020204" pitchFamily="34" charset="0"/>
              <a:buChar char="•"/>
            </a:pPr>
            <a:r>
              <a:rPr lang="en-US" sz="1200" b="1" kern="1200" dirty="0">
                <a:solidFill>
                  <a:schemeClr val="tx1"/>
                </a:solidFill>
                <a:effectLst/>
                <a:latin typeface="+mn-lt"/>
                <a:ea typeface="+mn-ea"/>
                <a:cs typeface="+mn-cs"/>
              </a:rPr>
              <a:t>Do not short the infrastructure of the future.</a:t>
            </a:r>
            <a:r>
              <a:rPr lang="en-US" sz="1200" kern="1200" dirty="0">
                <a:solidFill>
                  <a:schemeClr val="tx1"/>
                </a:solidFill>
                <a:effectLst/>
                <a:latin typeface="+mn-lt"/>
                <a:ea typeface="+mn-ea"/>
                <a:cs typeface="+mn-cs"/>
              </a:rPr>
              <a:t> Investors waiting on the sidelines for a traditional macroeconomic crash to clear the deck are fundamentally misinterpreting the landscape. The opportunity cost of waiting for a crash that is never coming is absolute. </a:t>
            </a:r>
          </a:p>
          <a:p>
            <a:r>
              <a:rPr lang="en-US" sz="1200" kern="1200" dirty="0">
                <a:solidFill>
                  <a:schemeClr val="tx1"/>
                </a:solidFill>
                <a:effectLst/>
                <a:latin typeface="+mn-lt"/>
                <a:ea typeface="+mn-ea"/>
                <a:cs typeface="+mn-cs"/>
              </a:rPr>
              <a:t>Thank you very much. I am now open to taking your questions.</a:t>
            </a:r>
          </a:p>
          <a:p>
            <a:endParaRPr lang="en-US" dirty="0"/>
          </a:p>
          <a:p>
            <a:endParaRPr lang="en-US" dirty="0"/>
          </a:p>
          <a:p>
            <a:endParaRPr lang="en-US" dirty="0"/>
          </a:p>
          <a:p>
            <a:endParaRPr lang="en-US" dirty="0"/>
          </a:p>
          <a:p>
            <a:endParaRPr lang="en-US" dirty="0"/>
          </a:p>
          <a:p>
            <a:r>
              <a:rPr lang="en-US" b="1" dirty="0"/>
              <a:t>The $900 Trillion Trigger That Sends Bitcoin Parabolic | Jordi Visser</a:t>
            </a:r>
          </a:p>
          <a:p>
            <a:r>
              <a:rPr lang="en-US" dirty="0"/>
              <a:t>https://www.youtube.com/watch?v=VkDpGZ_KsrY</a:t>
            </a:r>
          </a:p>
        </p:txBody>
      </p:sp>
      <p:sp>
        <p:nvSpPr>
          <p:cNvPr id="4" name="Slide Number Placeholder 3"/>
          <p:cNvSpPr>
            <a:spLocks noGrp="1"/>
          </p:cNvSpPr>
          <p:nvPr>
            <p:ph type="sldNum" sz="quarter" idx="5"/>
          </p:nvPr>
        </p:nvSpPr>
        <p:spPr/>
        <p:txBody>
          <a:bodyPr/>
          <a:lstStyle/>
          <a:p>
            <a:fld id="{8C97C2C4-BE08-45F9-A3D9-54AEE743C0D1}" type="slidenum">
              <a:rPr lang="en-US" smtClean="0"/>
              <a:t>15</a:t>
            </a:fld>
            <a:endParaRPr lang="en-US"/>
          </a:p>
        </p:txBody>
      </p:sp>
    </p:spTree>
    <p:extLst>
      <p:ext uri="{BB962C8B-B14F-4D97-AF65-F5344CB8AC3E}">
        <p14:creationId xmlns:p14="http://schemas.microsoft.com/office/powerpoint/2010/main" val="1655800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C095CC-13DF-D3E7-92DB-DFA4AAFDC72D}"/>
              </a:ext>
            </a:extLst>
          </p:cNvPr>
          <p:cNvSpPr>
            <a:spLocks noGrp="1"/>
          </p:cNvSpPr>
          <p:nvPr>
            <p:ph type="dt" sz="half" idx="10"/>
          </p:nvPr>
        </p:nvSpPr>
        <p:spPr/>
        <p:txBody>
          <a:bodyPr/>
          <a:lstStyle/>
          <a:p>
            <a:fld id="{853E11FB-443F-4F5F-BAFF-51613F1ADDC5}" type="datetimeFigureOut">
              <a:rPr lang="en-US" smtClean="0"/>
              <a:t>10/21/2026</a:t>
            </a:fld>
            <a:endParaRPr lang="en-US"/>
          </a:p>
        </p:txBody>
      </p:sp>
      <p:sp>
        <p:nvSpPr>
          <p:cNvPr id="3" name="Footer Placeholder 2">
            <a:extLst>
              <a:ext uri="{FF2B5EF4-FFF2-40B4-BE49-F238E27FC236}">
                <a16:creationId xmlns:a16="http://schemas.microsoft.com/office/drawing/2014/main" id="{4DBFE763-F44A-443B-D44B-863571978F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CA164F-133A-28F5-1494-27D3F7652E6E}"/>
              </a:ext>
            </a:extLst>
          </p:cNvPr>
          <p:cNvSpPr>
            <a:spLocks noGrp="1"/>
          </p:cNvSpPr>
          <p:nvPr>
            <p:ph type="sldNum" sz="quarter" idx="12"/>
          </p:nvPr>
        </p:nvSpPr>
        <p:spPr/>
        <p:txBody>
          <a:bodyPr/>
          <a:lstStyle/>
          <a:p>
            <a:fld id="{CBA6B6E2-2C05-4853-B7CA-ABD991CAE1E3}" type="slidenum">
              <a:rPr lang="en-US" smtClean="0"/>
              <a:t>‹#›</a:t>
            </a:fld>
            <a:endParaRPr lang="en-US"/>
          </a:p>
        </p:txBody>
      </p:sp>
    </p:spTree>
    <p:extLst>
      <p:ext uri="{BB962C8B-B14F-4D97-AF65-F5344CB8AC3E}">
        <p14:creationId xmlns:p14="http://schemas.microsoft.com/office/powerpoint/2010/main" val="25279244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E7ABD0-4BEB-54EE-7AEB-599B80E57E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A04E58-EEB1-352B-7964-1B49379C70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8CF8B6-B820-BB4A-46D0-7DAAE57398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3E11FB-443F-4F5F-BAFF-51613F1ADDC5}" type="datetimeFigureOut">
              <a:rPr lang="en-US" smtClean="0"/>
              <a:t>10/21/2026</a:t>
            </a:fld>
            <a:endParaRPr lang="en-US"/>
          </a:p>
        </p:txBody>
      </p:sp>
      <p:sp>
        <p:nvSpPr>
          <p:cNvPr id="5" name="Footer Placeholder 4">
            <a:extLst>
              <a:ext uri="{FF2B5EF4-FFF2-40B4-BE49-F238E27FC236}">
                <a16:creationId xmlns:a16="http://schemas.microsoft.com/office/drawing/2014/main" id="{E58C196F-771F-88B7-4350-CC6719CB0E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BEA6D1-5330-B83B-8F55-5A52C3ED4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A6B6E2-2C05-4853-B7CA-ABD991CAE1E3}" type="slidenum">
              <a:rPr lang="en-US" smtClean="0"/>
              <a:t>‹#›</a:t>
            </a:fld>
            <a:endParaRPr lang="en-US"/>
          </a:p>
        </p:txBody>
      </p:sp>
    </p:spTree>
    <p:extLst>
      <p:ext uri="{BB962C8B-B14F-4D97-AF65-F5344CB8AC3E}">
        <p14:creationId xmlns:p14="http://schemas.microsoft.com/office/powerpoint/2010/main" val="95535837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F64CBA-29A9-B5F3-4983-B16DAC2BA7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F09040-4629-6F9A-4F8F-8F4255DC8F1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7870C5-FE33-1E8D-4B62-2157B94720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3F2F9C-2685-5D1B-F1A3-24C75AEFA7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A1BFBB-98EB-43EF-E358-8A04C468ED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64F1DD-A095-1B98-6BC4-74872153E31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F254FD-BD9B-A7EA-737A-E47B93A9871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863340-9880-5740-6AC2-BA544D6D5A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F22C32-1EC2-060F-AE18-88B8FFEDB1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340574-187B-D431-F55D-0E317EF61E8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AA9A95-5A03-6BA1-95BD-D6953766606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193C45-6292-FA0B-4E66-0FA2E3F50F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D80F9C-41C9-D5F9-B414-66940DDBA67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4C9B43-82CA-413B-227A-C81DB15CBF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1968DE-A015-384F-A77A-7138AF64F4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501321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4087</Words>
  <Application>Microsoft Office PowerPoint</Application>
  <PresentationFormat>寬螢幕</PresentationFormat>
  <Paragraphs>190</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2026-09-26T22:33:04Z</dcterms:created>
  <dcterms:modified xsi:type="dcterms:W3CDTF">2026-10-21T02:49:41Z</dcterms:modified>
</cp:coreProperties>
</file>