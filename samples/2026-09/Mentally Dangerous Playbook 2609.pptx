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61C6B02-17C9-49AC-AE13-7A1B73E9BE37}" v="18" dt="2026-09-12T14:12:52.51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4" autoAdjust="0"/>
    <p:restoredTop sz="89031" autoAdjust="0"/>
  </p:normalViewPr>
  <p:slideViewPr>
    <p:cSldViewPr snapToGrid="0">
      <p:cViewPr varScale="1">
        <p:scale>
          <a:sx n="73" d="100"/>
          <a:sy n="73" d="100"/>
        </p:scale>
        <p:origin x="84" y="5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sldOrd">
      <pc:chgData name="Lai, Wilson" userId="2840974a-0d84-4886-90a9-9a3ed79f3a48" providerId="ADAL" clId="{9F23B798-9E84-4552-BA63-E776E805C424}" dt="2026-09-12T14:12:39.811" v="46" actId="12"/>
      <pc:docMkLst>
        <pc:docMk/>
      </pc:docMkLst>
      <pc:sldChg chg="addSp delSp mod ord modNotesTx">
        <pc:chgData name="Lai, Wilson" userId="2840974a-0d84-4886-90a9-9a3ed79f3a48" providerId="ADAL" clId="{9F23B798-9E84-4552-BA63-E776E805C424}" dt="2026-09-12T14:08:35.949" v="38" actId="20577"/>
        <pc:sldMkLst>
          <pc:docMk/>
          <pc:sldMk cId="0" sldId="257"/>
        </pc:sldMkLst>
        <pc:picChg chg="del">
          <ac:chgData name="Lai, Wilson" userId="2840974a-0d84-4886-90a9-9a3ed79f3a48" providerId="ADAL" clId="{9F23B798-9E84-4552-BA63-E776E805C424}" dt="2026-09-12T13:41:26.465" v="2" actId="21"/>
          <ac:picMkLst>
            <pc:docMk/>
            <pc:sldMk cId="0" sldId="257"/>
            <ac:picMk id="2" creationId="{00000000-0000-0000-0000-000000000000}"/>
          </ac:picMkLst>
        </pc:picChg>
        <pc:picChg chg="add">
          <ac:chgData name="Lai, Wilson" userId="2840974a-0d84-4886-90a9-9a3ed79f3a48" providerId="ADAL" clId="{9F23B798-9E84-4552-BA63-E776E805C424}" dt="2026-09-12T13:41:38.490" v="3" actId="22"/>
          <ac:picMkLst>
            <pc:docMk/>
            <pc:sldMk cId="0" sldId="257"/>
            <ac:picMk id="7" creationId="{509B1E1A-E5EF-1581-9788-6612AD950B9A}"/>
          </ac:picMkLst>
        </pc:picChg>
      </pc:sldChg>
      <pc:sldChg chg="addSp delSp mod">
        <pc:chgData name="Lai, Wilson" userId="2840974a-0d84-4886-90a9-9a3ed79f3a48" providerId="ADAL" clId="{9F23B798-9E84-4552-BA63-E776E805C424}" dt="2026-09-12T13:41:47.355" v="5" actId="22"/>
        <pc:sldMkLst>
          <pc:docMk/>
          <pc:sldMk cId="0" sldId="258"/>
        </pc:sldMkLst>
        <pc:picChg chg="del">
          <ac:chgData name="Lai, Wilson" userId="2840974a-0d84-4886-90a9-9a3ed79f3a48" providerId="ADAL" clId="{9F23B798-9E84-4552-BA63-E776E805C424}" dt="2026-09-12T13:41:40.213" v="4" actId="21"/>
          <ac:picMkLst>
            <pc:docMk/>
            <pc:sldMk cId="0" sldId="258"/>
            <ac:picMk id="2" creationId="{00000000-0000-0000-0000-000000000000}"/>
          </ac:picMkLst>
        </pc:picChg>
        <pc:picChg chg="add">
          <ac:chgData name="Lai, Wilson" userId="2840974a-0d84-4886-90a9-9a3ed79f3a48" providerId="ADAL" clId="{9F23B798-9E84-4552-BA63-E776E805C424}" dt="2026-09-12T13:41:47.355" v="5" actId="22"/>
          <ac:picMkLst>
            <pc:docMk/>
            <pc:sldMk cId="0" sldId="258"/>
            <ac:picMk id="4" creationId="{E07E3997-396A-16BD-D6E0-C46B4837B7D6}"/>
          </ac:picMkLst>
        </pc:picChg>
      </pc:sldChg>
      <pc:sldChg chg="addSp delSp mod modNotesTx">
        <pc:chgData name="Lai, Wilson" userId="2840974a-0d84-4886-90a9-9a3ed79f3a48" providerId="ADAL" clId="{9F23B798-9E84-4552-BA63-E776E805C424}" dt="2026-09-12T14:09:03.152" v="39" actId="12"/>
        <pc:sldMkLst>
          <pc:docMk/>
          <pc:sldMk cId="0" sldId="259"/>
        </pc:sldMkLst>
        <pc:picChg chg="del">
          <ac:chgData name="Lai, Wilson" userId="2840974a-0d84-4886-90a9-9a3ed79f3a48" providerId="ADAL" clId="{9F23B798-9E84-4552-BA63-E776E805C424}" dt="2026-09-12T13:41:49.949" v="6" actId="21"/>
          <ac:picMkLst>
            <pc:docMk/>
            <pc:sldMk cId="0" sldId="259"/>
            <ac:picMk id="2" creationId="{00000000-0000-0000-0000-000000000000}"/>
          </ac:picMkLst>
        </pc:picChg>
        <pc:picChg chg="add">
          <ac:chgData name="Lai, Wilson" userId="2840974a-0d84-4886-90a9-9a3ed79f3a48" providerId="ADAL" clId="{9F23B798-9E84-4552-BA63-E776E805C424}" dt="2026-09-12T13:42:01.420" v="7" actId="22"/>
          <ac:picMkLst>
            <pc:docMk/>
            <pc:sldMk cId="0" sldId="259"/>
            <ac:picMk id="4" creationId="{4D49CFEE-8A4D-593F-FD12-A80626B61D1D}"/>
          </ac:picMkLst>
        </pc:picChg>
      </pc:sldChg>
      <pc:sldChg chg="addSp delSp mod modNotesTx">
        <pc:chgData name="Lai, Wilson" userId="2840974a-0d84-4886-90a9-9a3ed79f3a48" providerId="ADAL" clId="{9F23B798-9E84-4552-BA63-E776E805C424}" dt="2026-09-12T14:09:20.771" v="40" actId="12"/>
        <pc:sldMkLst>
          <pc:docMk/>
          <pc:sldMk cId="0" sldId="260"/>
        </pc:sldMkLst>
        <pc:picChg chg="del">
          <ac:chgData name="Lai, Wilson" userId="2840974a-0d84-4886-90a9-9a3ed79f3a48" providerId="ADAL" clId="{9F23B798-9E84-4552-BA63-E776E805C424}" dt="2026-09-12T13:42:02.700" v="8" actId="21"/>
          <ac:picMkLst>
            <pc:docMk/>
            <pc:sldMk cId="0" sldId="260"/>
            <ac:picMk id="2" creationId="{00000000-0000-0000-0000-000000000000}"/>
          </ac:picMkLst>
        </pc:picChg>
        <pc:picChg chg="add">
          <ac:chgData name="Lai, Wilson" userId="2840974a-0d84-4886-90a9-9a3ed79f3a48" providerId="ADAL" clId="{9F23B798-9E84-4552-BA63-E776E805C424}" dt="2026-09-12T13:42:10.264" v="9" actId="22"/>
          <ac:picMkLst>
            <pc:docMk/>
            <pc:sldMk cId="0" sldId="260"/>
            <ac:picMk id="4" creationId="{A978AD65-559A-6971-0D14-3BCFADFB0A8F}"/>
          </ac:picMkLst>
        </pc:picChg>
      </pc:sldChg>
      <pc:sldChg chg="addSp delSp mod">
        <pc:chgData name="Lai, Wilson" userId="2840974a-0d84-4886-90a9-9a3ed79f3a48" providerId="ADAL" clId="{9F23B798-9E84-4552-BA63-E776E805C424}" dt="2026-09-12T13:42:27.101" v="11" actId="22"/>
        <pc:sldMkLst>
          <pc:docMk/>
          <pc:sldMk cId="0" sldId="261"/>
        </pc:sldMkLst>
        <pc:picChg chg="del">
          <ac:chgData name="Lai, Wilson" userId="2840974a-0d84-4886-90a9-9a3ed79f3a48" providerId="ADAL" clId="{9F23B798-9E84-4552-BA63-E776E805C424}" dt="2026-09-12T13:42:13.327" v="10" actId="21"/>
          <ac:picMkLst>
            <pc:docMk/>
            <pc:sldMk cId="0" sldId="261"/>
            <ac:picMk id="2" creationId="{00000000-0000-0000-0000-000000000000}"/>
          </ac:picMkLst>
        </pc:picChg>
        <pc:picChg chg="add">
          <ac:chgData name="Lai, Wilson" userId="2840974a-0d84-4886-90a9-9a3ed79f3a48" providerId="ADAL" clId="{9F23B798-9E84-4552-BA63-E776E805C424}" dt="2026-09-12T13:42:27.101" v="11" actId="22"/>
          <ac:picMkLst>
            <pc:docMk/>
            <pc:sldMk cId="0" sldId="261"/>
            <ac:picMk id="4" creationId="{D4967F26-7DD3-A1AF-15E0-E658E426FCDF}"/>
          </ac:picMkLst>
        </pc:picChg>
      </pc:sldChg>
      <pc:sldChg chg="addSp delSp mod modNotesTx">
        <pc:chgData name="Lai, Wilson" userId="2840974a-0d84-4886-90a9-9a3ed79f3a48" providerId="ADAL" clId="{9F23B798-9E84-4552-BA63-E776E805C424}" dt="2026-09-12T14:10:12.297" v="42" actId="12"/>
        <pc:sldMkLst>
          <pc:docMk/>
          <pc:sldMk cId="0" sldId="262"/>
        </pc:sldMkLst>
        <pc:picChg chg="del">
          <ac:chgData name="Lai, Wilson" userId="2840974a-0d84-4886-90a9-9a3ed79f3a48" providerId="ADAL" clId="{9F23B798-9E84-4552-BA63-E776E805C424}" dt="2026-09-12T13:42:28.482" v="12" actId="21"/>
          <ac:picMkLst>
            <pc:docMk/>
            <pc:sldMk cId="0" sldId="262"/>
            <ac:picMk id="2" creationId="{00000000-0000-0000-0000-000000000000}"/>
          </ac:picMkLst>
        </pc:picChg>
        <pc:picChg chg="add">
          <ac:chgData name="Lai, Wilson" userId="2840974a-0d84-4886-90a9-9a3ed79f3a48" providerId="ADAL" clId="{9F23B798-9E84-4552-BA63-E776E805C424}" dt="2026-09-12T13:42:38.399" v="13" actId="22"/>
          <ac:picMkLst>
            <pc:docMk/>
            <pc:sldMk cId="0" sldId="262"/>
            <ac:picMk id="4" creationId="{803C346A-FF4C-42D5-A1FB-63668040C92C}"/>
          </ac:picMkLst>
        </pc:picChg>
      </pc:sldChg>
      <pc:sldChg chg="addSp delSp mod modNotesTx">
        <pc:chgData name="Lai, Wilson" userId="2840974a-0d84-4886-90a9-9a3ed79f3a48" providerId="ADAL" clId="{9F23B798-9E84-4552-BA63-E776E805C424}" dt="2026-09-12T14:10:26.911" v="43" actId="12"/>
        <pc:sldMkLst>
          <pc:docMk/>
          <pc:sldMk cId="0" sldId="263"/>
        </pc:sldMkLst>
        <pc:picChg chg="del">
          <ac:chgData name="Lai, Wilson" userId="2840974a-0d84-4886-90a9-9a3ed79f3a48" providerId="ADAL" clId="{9F23B798-9E84-4552-BA63-E776E805C424}" dt="2026-09-12T13:42:42.268" v="14" actId="21"/>
          <ac:picMkLst>
            <pc:docMk/>
            <pc:sldMk cId="0" sldId="263"/>
            <ac:picMk id="2" creationId="{00000000-0000-0000-0000-000000000000}"/>
          </ac:picMkLst>
        </pc:picChg>
        <pc:picChg chg="add">
          <ac:chgData name="Lai, Wilson" userId="2840974a-0d84-4886-90a9-9a3ed79f3a48" providerId="ADAL" clId="{9F23B798-9E84-4552-BA63-E776E805C424}" dt="2026-09-12T13:42:49.893" v="15" actId="22"/>
          <ac:picMkLst>
            <pc:docMk/>
            <pc:sldMk cId="0" sldId="263"/>
            <ac:picMk id="4" creationId="{06A97263-FD2C-F1D2-8658-45FFF170E2DC}"/>
          </ac:picMkLst>
        </pc:picChg>
      </pc:sldChg>
      <pc:sldChg chg="addSp delSp mod">
        <pc:chgData name="Lai, Wilson" userId="2840974a-0d84-4886-90a9-9a3ed79f3a48" providerId="ADAL" clId="{9F23B798-9E84-4552-BA63-E776E805C424}" dt="2026-09-12T13:43:07.416" v="17" actId="22"/>
        <pc:sldMkLst>
          <pc:docMk/>
          <pc:sldMk cId="0" sldId="264"/>
        </pc:sldMkLst>
        <pc:picChg chg="del">
          <ac:chgData name="Lai, Wilson" userId="2840974a-0d84-4886-90a9-9a3ed79f3a48" providerId="ADAL" clId="{9F23B798-9E84-4552-BA63-E776E805C424}" dt="2026-09-12T13:42:52.036" v="16" actId="21"/>
          <ac:picMkLst>
            <pc:docMk/>
            <pc:sldMk cId="0" sldId="264"/>
            <ac:picMk id="2" creationId="{00000000-0000-0000-0000-000000000000}"/>
          </ac:picMkLst>
        </pc:picChg>
        <pc:picChg chg="add">
          <ac:chgData name="Lai, Wilson" userId="2840974a-0d84-4886-90a9-9a3ed79f3a48" providerId="ADAL" clId="{9F23B798-9E84-4552-BA63-E776E805C424}" dt="2026-09-12T13:43:07.416" v="17" actId="22"/>
          <ac:picMkLst>
            <pc:docMk/>
            <pc:sldMk cId="0" sldId="264"/>
            <ac:picMk id="4" creationId="{1CE579D2-7599-9001-8169-E871F543C76B}"/>
          </ac:picMkLst>
        </pc:picChg>
      </pc:sldChg>
      <pc:sldChg chg="addSp delSp mod modNotesTx">
        <pc:chgData name="Lai, Wilson" userId="2840974a-0d84-4886-90a9-9a3ed79f3a48" providerId="ADAL" clId="{9F23B798-9E84-4552-BA63-E776E805C424}" dt="2026-09-12T14:10:59.587" v="44" actId="12"/>
        <pc:sldMkLst>
          <pc:docMk/>
          <pc:sldMk cId="0" sldId="265"/>
        </pc:sldMkLst>
        <pc:picChg chg="del">
          <ac:chgData name="Lai, Wilson" userId="2840974a-0d84-4886-90a9-9a3ed79f3a48" providerId="ADAL" clId="{9F23B798-9E84-4552-BA63-E776E805C424}" dt="2026-09-12T13:43:12.263" v="18" actId="21"/>
          <ac:picMkLst>
            <pc:docMk/>
            <pc:sldMk cId="0" sldId="265"/>
            <ac:picMk id="2" creationId="{00000000-0000-0000-0000-000000000000}"/>
          </ac:picMkLst>
        </pc:picChg>
        <pc:picChg chg="add">
          <ac:chgData name="Lai, Wilson" userId="2840974a-0d84-4886-90a9-9a3ed79f3a48" providerId="ADAL" clId="{9F23B798-9E84-4552-BA63-E776E805C424}" dt="2026-09-12T13:43:21.965" v="19" actId="22"/>
          <ac:picMkLst>
            <pc:docMk/>
            <pc:sldMk cId="0" sldId="265"/>
            <ac:picMk id="4" creationId="{30F963AB-7A2B-5AEA-A35E-D48F240A7549}"/>
          </ac:picMkLst>
        </pc:picChg>
      </pc:sldChg>
      <pc:sldChg chg="addSp delSp mod">
        <pc:chgData name="Lai, Wilson" userId="2840974a-0d84-4886-90a9-9a3ed79f3a48" providerId="ADAL" clId="{9F23B798-9E84-4552-BA63-E776E805C424}" dt="2026-09-12T13:43:30.676" v="21" actId="22"/>
        <pc:sldMkLst>
          <pc:docMk/>
          <pc:sldMk cId="0" sldId="266"/>
        </pc:sldMkLst>
        <pc:picChg chg="del">
          <ac:chgData name="Lai, Wilson" userId="2840974a-0d84-4886-90a9-9a3ed79f3a48" providerId="ADAL" clId="{9F23B798-9E84-4552-BA63-E776E805C424}" dt="2026-09-12T13:43:23.505" v="20" actId="21"/>
          <ac:picMkLst>
            <pc:docMk/>
            <pc:sldMk cId="0" sldId="266"/>
            <ac:picMk id="2" creationId="{00000000-0000-0000-0000-000000000000}"/>
          </ac:picMkLst>
        </pc:picChg>
        <pc:picChg chg="add">
          <ac:chgData name="Lai, Wilson" userId="2840974a-0d84-4886-90a9-9a3ed79f3a48" providerId="ADAL" clId="{9F23B798-9E84-4552-BA63-E776E805C424}" dt="2026-09-12T13:43:30.676" v="21" actId="22"/>
          <ac:picMkLst>
            <pc:docMk/>
            <pc:sldMk cId="0" sldId="266"/>
            <ac:picMk id="4" creationId="{1E2803B9-68AE-DAB6-76D1-FAD65FC0D392}"/>
          </ac:picMkLst>
        </pc:picChg>
      </pc:sldChg>
      <pc:sldChg chg="addSp delSp mod">
        <pc:chgData name="Lai, Wilson" userId="2840974a-0d84-4886-90a9-9a3ed79f3a48" providerId="ADAL" clId="{9F23B798-9E84-4552-BA63-E776E805C424}" dt="2026-09-12T13:43:44.694" v="23" actId="22"/>
        <pc:sldMkLst>
          <pc:docMk/>
          <pc:sldMk cId="0" sldId="267"/>
        </pc:sldMkLst>
        <pc:picChg chg="del">
          <ac:chgData name="Lai, Wilson" userId="2840974a-0d84-4886-90a9-9a3ed79f3a48" providerId="ADAL" clId="{9F23B798-9E84-4552-BA63-E776E805C424}" dt="2026-09-12T13:43:35.563" v="22" actId="21"/>
          <ac:picMkLst>
            <pc:docMk/>
            <pc:sldMk cId="0" sldId="267"/>
            <ac:picMk id="2" creationId="{00000000-0000-0000-0000-000000000000}"/>
          </ac:picMkLst>
        </pc:picChg>
        <pc:picChg chg="add">
          <ac:chgData name="Lai, Wilson" userId="2840974a-0d84-4886-90a9-9a3ed79f3a48" providerId="ADAL" clId="{9F23B798-9E84-4552-BA63-E776E805C424}" dt="2026-09-12T13:43:44.694" v="23" actId="22"/>
          <ac:picMkLst>
            <pc:docMk/>
            <pc:sldMk cId="0" sldId="267"/>
            <ac:picMk id="4" creationId="{AAD3E927-A161-061B-ADAE-99DCB13F131D}"/>
          </ac:picMkLst>
        </pc:picChg>
      </pc:sldChg>
      <pc:sldChg chg="addSp delSp mod modNotesTx">
        <pc:chgData name="Lai, Wilson" userId="2840974a-0d84-4886-90a9-9a3ed79f3a48" providerId="ADAL" clId="{9F23B798-9E84-4552-BA63-E776E805C424}" dt="2026-09-12T14:11:50.402" v="45" actId="12"/>
        <pc:sldMkLst>
          <pc:docMk/>
          <pc:sldMk cId="0" sldId="268"/>
        </pc:sldMkLst>
        <pc:picChg chg="del">
          <ac:chgData name="Lai, Wilson" userId="2840974a-0d84-4886-90a9-9a3ed79f3a48" providerId="ADAL" clId="{9F23B798-9E84-4552-BA63-E776E805C424}" dt="2026-09-12T13:43:46.560" v="24" actId="21"/>
          <ac:picMkLst>
            <pc:docMk/>
            <pc:sldMk cId="0" sldId="268"/>
            <ac:picMk id="2" creationId="{00000000-0000-0000-0000-000000000000}"/>
          </ac:picMkLst>
        </pc:picChg>
        <pc:picChg chg="add">
          <ac:chgData name="Lai, Wilson" userId="2840974a-0d84-4886-90a9-9a3ed79f3a48" providerId="ADAL" clId="{9F23B798-9E84-4552-BA63-E776E805C424}" dt="2026-09-12T13:43:56.073" v="25" actId="22"/>
          <ac:picMkLst>
            <pc:docMk/>
            <pc:sldMk cId="0" sldId="268"/>
            <ac:picMk id="4" creationId="{42082D9A-D0B1-BBF6-F7A5-D20F2C219AD0}"/>
          </ac:picMkLst>
        </pc:picChg>
      </pc:sldChg>
      <pc:sldChg chg="addSp delSp mod">
        <pc:chgData name="Lai, Wilson" userId="2840974a-0d84-4886-90a9-9a3ed79f3a48" providerId="ADAL" clId="{9F23B798-9E84-4552-BA63-E776E805C424}" dt="2026-09-12T13:44:05.454" v="27" actId="22"/>
        <pc:sldMkLst>
          <pc:docMk/>
          <pc:sldMk cId="0" sldId="269"/>
        </pc:sldMkLst>
        <pc:picChg chg="del">
          <ac:chgData name="Lai, Wilson" userId="2840974a-0d84-4886-90a9-9a3ed79f3a48" providerId="ADAL" clId="{9F23B798-9E84-4552-BA63-E776E805C424}" dt="2026-09-12T13:43:57.711" v="26" actId="21"/>
          <ac:picMkLst>
            <pc:docMk/>
            <pc:sldMk cId="0" sldId="269"/>
            <ac:picMk id="2" creationId="{00000000-0000-0000-0000-000000000000}"/>
          </ac:picMkLst>
        </pc:picChg>
        <pc:picChg chg="add">
          <ac:chgData name="Lai, Wilson" userId="2840974a-0d84-4886-90a9-9a3ed79f3a48" providerId="ADAL" clId="{9F23B798-9E84-4552-BA63-E776E805C424}" dt="2026-09-12T13:44:05.454" v="27" actId="22"/>
          <ac:picMkLst>
            <pc:docMk/>
            <pc:sldMk cId="0" sldId="269"/>
            <ac:picMk id="4" creationId="{3029AAA6-8B11-A2C5-F1E9-CCE2A3F03092}"/>
          </ac:picMkLst>
        </pc:picChg>
      </pc:sldChg>
      <pc:sldChg chg="addSp delSp mod">
        <pc:chgData name="Lai, Wilson" userId="2840974a-0d84-4886-90a9-9a3ed79f3a48" providerId="ADAL" clId="{9F23B798-9E84-4552-BA63-E776E805C424}" dt="2026-09-12T13:44:18.688" v="29" actId="22"/>
        <pc:sldMkLst>
          <pc:docMk/>
          <pc:sldMk cId="0" sldId="270"/>
        </pc:sldMkLst>
        <pc:picChg chg="del">
          <ac:chgData name="Lai, Wilson" userId="2840974a-0d84-4886-90a9-9a3ed79f3a48" providerId="ADAL" clId="{9F23B798-9E84-4552-BA63-E776E805C424}" dt="2026-09-12T13:44:06.785" v="28" actId="21"/>
          <ac:picMkLst>
            <pc:docMk/>
            <pc:sldMk cId="0" sldId="270"/>
            <ac:picMk id="2" creationId="{00000000-0000-0000-0000-000000000000}"/>
          </ac:picMkLst>
        </pc:picChg>
        <pc:picChg chg="add">
          <ac:chgData name="Lai, Wilson" userId="2840974a-0d84-4886-90a9-9a3ed79f3a48" providerId="ADAL" clId="{9F23B798-9E84-4552-BA63-E776E805C424}" dt="2026-09-12T13:44:18.688" v="29" actId="22"/>
          <ac:picMkLst>
            <pc:docMk/>
            <pc:sldMk cId="0" sldId="270"/>
            <ac:picMk id="4" creationId="{01E071EA-5107-7B3D-AAE1-D5617792108E}"/>
          </ac:picMkLst>
        </pc:picChg>
      </pc:sldChg>
      <pc:sldChg chg="addSp delSp mod modNotesTx">
        <pc:chgData name="Lai, Wilson" userId="2840974a-0d84-4886-90a9-9a3ed79f3a48" providerId="ADAL" clId="{9F23B798-9E84-4552-BA63-E776E805C424}" dt="2026-09-12T14:12:39.811" v="46" actId="12"/>
        <pc:sldMkLst>
          <pc:docMk/>
          <pc:sldMk cId="0" sldId="271"/>
        </pc:sldMkLst>
        <pc:picChg chg="del">
          <ac:chgData name="Lai, Wilson" userId="2840974a-0d84-4886-90a9-9a3ed79f3a48" providerId="ADAL" clId="{9F23B798-9E84-4552-BA63-E776E805C424}" dt="2026-09-12T13:44:21.581" v="30" actId="21"/>
          <ac:picMkLst>
            <pc:docMk/>
            <pc:sldMk cId="0" sldId="271"/>
            <ac:picMk id="2" creationId="{00000000-0000-0000-0000-000000000000}"/>
          </ac:picMkLst>
        </pc:picChg>
        <pc:picChg chg="add">
          <ac:chgData name="Lai, Wilson" userId="2840974a-0d84-4886-90a9-9a3ed79f3a48" providerId="ADAL" clId="{9F23B798-9E84-4552-BA63-E776E805C424}" dt="2026-09-12T13:44:30.602" v="31" actId="22"/>
          <ac:picMkLst>
            <pc:docMk/>
            <pc:sldMk cId="0" sldId="271"/>
            <ac:picMk id="4" creationId="{B1B8293E-CB89-D7A0-0D79-66EEECE7083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6568A2B-DB9E-4CD8-AFB7-A3B2B8E281EB}" type="datetimeFigureOut">
              <a:rPr lang="en-US" smtClean="0"/>
              <a:t>10/20/2026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905737B-E786-4AC4-932B-96E414BB9EA8}" type="slidenum">
              <a:rPr lang="en-US" smtClean="0"/>
              <a:t>‹#›</a:t>
            </a:fld>
            <a:endParaRPr lang="en-US"/>
          </a:p>
        </p:txBody>
      </p:sp>
    </p:spTree>
    <p:extLst>
      <p:ext uri="{BB962C8B-B14F-4D97-AF65-F5344CB8AC3E}">
        <p14:creationId xmlns:p14="http://schemas.microsoft.com/office/powerpoint/2010/main" val="38656061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Welcome, everyone. Today, we are diving deep into </a:t>
            </a:r>
            <a:r>
              <a:rPr lang="en-US" sz="1200" i="1" kern="1200" dirty="0">
                <a:solidFill>
                  <a:schemeClr val="tx1"/>
                </a:solidFill>
                <a:effectLst/>
                <a:latin typeface="+mn-lt"/>
                <a:ea typeface="+mn-ea"/>
                <a:cs typeface="+mn-cs"/>
              </a:rPr>
              <a:t>"The Mentally Dangerous Playbook: Daily Habits &amp; Neuroscience for Elite Resilience,"</a:t>
            </a:r>
            <a:r>
              <a:rPr lang="en-US" sz="1200" kern="1200" dirty="0">
                <a:solidFill>
                  <a:schemeClr val="tx1"/>
                </a:solidFill>
                <a:effectLst/>
                <a:latin typeface="+mn-lt"/>
                <a:ea typeface="+mn-ea"/>
                <a:cs typeface="+mn-cs"/>
              </a:rPr>
              <a:t> derived from the masterclass given by Dr. Andrew Huberman, Professor of Neurobiology at Stanford School of Medicine. </a:t>
            </a:r>
          </a:p>
          <a:p>
            <a:r>
              <a:rPr lang="en-US" sz="1200" kern="1200" dirty="0">
                <a:solidFill>
                  <a:schemeClr val="tx1"/>
                </a:solidFill>
                <a:effectLst/>
                <a:latin typeface="+mn-lt"/>
                <a:ea typeface="+mn-ea"/>
                <a:cs typeface="+mn-cs"/>
              </a:rPr>
              <a:t>Before we begin, let’s define what we mean by "mentally dangerous." In popular culture, being dangerous often carries a negative connotation. But in the context of high performance, cognitive science, and human potential, being "mentally dangerous" means possessing an unbreakable, unshakeable mindset. It describes an individual who does not collapse under high pressure, who can execute high-stakes decisions without freezing, and who can consciously navigate extreme stress without losing control of their biology. </a:t>
            </a:r>
          </a:p>
          <a:p>
            <a:r>
              <a:rPr lang="en-US" sz="1200" kern="1200" dirty="0">
                <a:solidFill>
                  <a:schemeClr val="tx1"/>
                </a:solidFill>
                <a:effectLst/>
                <a:latin typeface="+mn-lt"/>
                <a:ea typeface="+mn-ea"/>
                <a:cs typeface="+mn-cs"/>
              </a:rPr>
              <a:t>Many people believe that elite resilience is an innate genetic gift—that you are either born with an iron will or you aren't. Neuroscience proves the exact opposite. Resilience is not a vague psychological trait; it is a mechanical, biological state that can be trained, tuned, and optimized using daily protocols. </a:t>
            </a:r>
          </a:p>
          <a:p>
            <a:r>
              <a:rPr lang="en-US" sz="1200" kern="1200" dirty="0">
                <a:solidFill>
                  <a:schemeClr val="tx1"/>
                </a:solidFill>
                <a:effectLst/>
                <a:latin typeface="+mn-lt"/>
                <a:ea typeface="+mn-ea"/>
                <a:cs typeface="+mn-cs"/>
              </a:rPr>
              <a:t>Throughout this 16-slide masterclass, we will strip away generic motivation and replace it with hard neurobiology. We will explore how to manipulate your 24-hour endocrine cycle, how to override autonomic panic responses, how to trigger rapid neuroplasticity through deliberate friction, and how to master the art of deliberate recovery. </a:t>
            </a:r>
          </a:p>
          <a:p>
            <a:r>
              <a:rPr lang="en-US" sz="1200" kern="1200" dirty="0">
                <a:solidFill>
                  <a:schemeClr val="tx1"/>
                </a:solidFill>
                <a:effectLst/>
                <a:latin typeface="+mn-lt"/>
                <a:ea typeface="+mn-ea"/>
                <a:cs typeface="+mn-cs"/>
              </a:rPr>
              <a:t>Whether you are an executive managing high stakes, an athlete pursuing peak performance, or an entrepreneur navigating uncertainty, these protocols are designed to make you sharper, stronger, and harder to stop. Let's begin by exposing the fundamental myth of modern productivity: hustle culture. </a:t>
            </a:r>
          </a:p>
          <a:p>
            <a:endParaRPr lang="en-US" dirty="0"/>
          </a:p>
          <a:p>
            <a:endParaRPr lang="en-US" dirty="0"/>
          </a:p>
          <a:p>
            <a:endParaRPr lang="en-US" dirty="0"/>
          </a:p>
          <a:p>
            <a:endParaRPr lang="en-US" dirty="0"/>
          </a:p>
          <a:p>
            <a:r>
              <a:rPr lang="en-US" dirty="0"/>
              <a:t>https://www.youtube.com/watch?v=Y566_T-YlNQ</a:t>
            </a:r>
          </a:p>
        </p:txBody>
      </p:sp>
      <p:sp>
        <p:nvSpPr>
          <p:cNvPr id="4" name="Slide Number Placeholder 3"/>
          <p:cNvSpPr>
            <a:spLocks noGrp="1"/>
          </p:cNvSpPr>
          <p:nvPr>
            <p:ph type="sldNum" sz="quarter" idx="5"/>
          </p:nvPr>
        </p:nvSpPr>
        <p:spPr/>
        <p:txBody>
          <a:bodyPr/>
          <a:lstStyle/>
          <a:p>
            <a:fld id="{B905737B-E786-4AC4-932B-96E414BB9EA8}" type="slidenum">
              <a:rPr lang="en-US" smtClean="0"/>
              <a:t>1</a:t>
            </a:fld>
            <a:endParaRPr lang="en-US"/>
          </a:p>
        </p:txBody>
      </p:sp>
    </p:spTree>
    <p:extLst>
      <p:ext uri="{BB962C8B-B14F-4D97-AF65-F5344CB8AC3E}">
        <p14:creationId xmlns:p14="http://schemas.microsoft.com/office/powerpoint/2010/main" val="12991861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look at Slide 2, where we contrast the </a:t>
            </a:r>
            <a:r>
              <a:rPr lang="en-US" sz="1200" b="1" kern="1200" dirty="0">
                <a:solidFill>
                  <a:schemeClr val="tx1"/>
                </a:solidFill>
                <a:effectLst/>
                <a:latin typeface="+mn-lt"/>
                <a:ea typeface="+mn-ea"/>
                <a:cs typeface="+mn-cs"/>
              </a:rPr>
              <a:t>Hustle Culture Illusion</a:t>
            </a:r>
            <a:r>
              <a:rPr lang="en-US" sz="1200" kern="1200" dirty="0">
                <a:solidFill>
                  <a:schemeClr val="tx1"/>
                </a:solidFill>
                <a:effectLst/>
                <a:latin typeface="+mn-lt"/>
                <a:ea typeface="+mn-ea"/>
                <a:cs typeface="+mn-cs"/>
              </a:rPr>
              <a:t> with the </a:t>
            </a:r>
            <a:r>
              <a:rPr lang="en-US" sz="1200" b="1" kern="1200" dirty="0">
                <a:solidFill>
                  <a:schemeClr val="tx1"/>
                </a:solidFill>
                <a:effectLst/>
                <a:latin typeface="+mn-lt"/>
                <a:ea typeface="+mn-ea"/>
                <a:cs typeface="+mn-cs"/>
              </a:rPr>
              <a:t>Mentally Dangerous Reality</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For the past decade, internet culture has promoted a toxic, biologically illiterate version of success: work 20 hours a day, sleep when you're dead, rely on constant caffeine spikes, ignore your body's strain signals, and run your engine at maximum RPM indefinitely. </a:t>
            </a:r>
          </a:p>
          <a:p>
            <a:r>
              <a:rPr lang="en-US" sz="1200" kern="1200" dirty="0">
                <a:solidFill>
                  <a:schemeClr val="tx1"/>
                </a:solidFill>
                <a:effectLst/>
                <a:latin typeface="+mn-lt"/>
                <a:ea typeface="+mn-ea"/>
                <a:cs typeface="+mn-cs"/>
              </a:rPr>
              <a:t>What is the biological result of this hustle illusion? It leads to chronic cortisol elevation, disrupted sleep architecture, autoimmune issues, decision fatigue, and eventual burnout. You end up running on fumes—a broken battery attempting to power a high-performance machine. </a:t>
            </a:r>
          </a:p>
          <a:p>
            <a:r>
              <a:rPr lang="en-US" sz="1200" kern="1200" dirty="0">
                <a:solidFill>
                  <a:schemeClr val="tx1"/>
                </a:solidFill>
                <a:effectLst/>
                <a:latin typeface="+mn-lt"/>
                <a:ea typeface="+mn-ea"/>
                <a:cs typeface="+mn-cs"/>
              </a:rPr>
              <a:t>Now, contrast that with the </a:t>
            </a:r>
            <a:r>
              <a:rPr lang="en-US" sz="1200" b="1" kern="1200" dirty="0">
                <a:solidFill>
                  <a:schemeClr val="tx1"/>
                </a:solidFill>
                <a:effectLst/>
                <a:latin typeface="+mn-lt"/>
                <a:ea typeface="+mn-ea"/>
                <a:cs typeface="+mn-cs"/>
              </a:rPr>
              <a:t>Mentally Dangerous Reality</a:t>
            </a:r>
            <a:r>
              <a:rPr lang="en-US" sz="1200" kern="1200" dirty="0">
                <a:solidFill>
                  <a:schemeClr val="tx1"/>
                </a:solidFill>
                <a:effectLst/>
                <a:latin typeface="+mn-lt"/>
                <a:ea typeface="+mn-ea"/>
                <a:cs typeface="+mn-cs"/>
              </a:rPr>
              <a:t> grounded in neuroscience. </a:t>
            </a:r>
          </a:p>
          <a:p>
            <a:r>
              <a:rPr lang="en-US" sz="1200" kern="1200" dirty="0">
                <a:solidFill>
                  <a:schemeClr val="tx1"/>
                </a:solidFill>
                <a:effectLst/>
                <a:latin typeface="+mn-lt"/>
                <a:ea typeface="+mn-ea"/>
                <a:cs typeface="+mn-cs"/>
              </a:rPr>
              <a:t>True elite performers—whether SEAL team operators, Stanford neurosurgeons, or elite founders—do not treat their nervous system like a disposable resource. They understand that high performance requires equal mastery over two opposing systems: </a:t>
            </a:r>
            <a:r>
              <a:rPr lang="en-US" sz="1200" b="1" kern="1200" dirty="0">
                <a:solidFill>
                  <a:schemeClr val="tx1"/>
                </a:solidFill>
                <a:effectLst/>
                <a:latin typeface="+mn-lt"/>
                <a:ea typeface="+mn-ea"/>
                <a:cs typeface="+mn-cs"/>
              </a:rPr>
              <a:t>Activation</a:t>
            </a:r>
            <a:r>
              <a:rPr lang="en-US" sz="1200" kern="1200" dirty="0">
                <a:solidFill>
                  <a:schemeClr val="tx1"/>
                </a:solidFill>
                <a:effectLst/>
                <a:latin typeface="+mn-lt"/>
                <a:ea typeface="+mn-ea"/>
                <a:cs typeface="+mn-cs"/>
              </a:rPr>
              <a:t> and </a:t>
            </a:r>
            <a:r>
              <a:rPr lang="en-US" sz="1200" b="1" kern="1200" dirty="0">
                <a:solidFill>
                  <a:schemeClr val="tx1"/>
                </a:solidFill>
                <a:effectLst/>
                <a:latin typeface="+mn-lt"/>
                <a:ea typeface="+mn-ea"/>
                <a:cs typeface="+mn-cs"/>
              </a:rPr>
              <a:t>Deactivation</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As Dr. Huberman emphasizes, if two equal competitors are locked in high-stakes competition, the individual who can consciously shut their brain off, drop their cortisol at night, and get deep biological recovery will win every single time. </a:t>
            </a:r>
          </a:p>
          <a:p>
            <a:r>
              <a:rPr lang="en-US" sz="1200" kern="1200" dirty="0">
                <a:solidFill>
                  <a:schemeClr val="tx1"/>
                </a:solidFill>
                <a:effectLst/>
                <a:latin typeface="+mn-lt"/>
                <a:ea typeface="+mn-ea"/>
                <a:cs typeface="+mn-cs"/>
              </a:rPr>
              <a:t>Being mentally dangerous isn't about pushing yourself until you collapse; it's about building an engine capable of generating massive, focused output on demand, and then deliberately gearing that engine down to achieve deep recovery. It is precision biological engineering over brute force. </a:t>
            </a:r>
          </a:p>
          <a:p>
            <a:r>
              <a:rPr lang="en-US" sz="1200" kern="1200" dirty="0">
                <a:solidFill>
                  <a:schemeClr val="tx1"/>
                </a:solidFill>
                <a:effectLst/>
                <a:latin typeface="+mn-lt"/>
                <a:ea typeface="+mn-ea"/>
                <a:cs typeface="+mn-cs"/>
              </a:rPr>
              <a:t>Let's look at the foundational hormone cycle that dictates this entire mechanism. </a:t>
            </a:r>
          </a:p>
          <a:p>
            <a:endParaRPr lang="en-US" dirty="0"/>
          </a:p>
        </p:txBody>
      </p:sp>
      <p:sp>
        <p:nvSpPr>
          <p:cNvPr id="4" name="Slide Number Placeholder 3"/>
          <p:cNvSpPr>
            <a:spLocks noGrp="1"/>
          </p:cNvSpPr>
          <p:nvPr>
            <p:ph type="sldNum" sz="quarter" idx="5"/>
          </p:nvPr>
        </p:nvSpPr>
        <p:spPr/>
        <p:txBody>
          <a:bodyPr/>
          <a:lstStyle/>
          <a:p>
            <a:fld id="{B905737B-E786-4AC4-932B-96E414BB9EA8}" type="slidenum">
              <a:rPr lang="en-US" smtClean="0"/>
              <a:t>2</a:t>
            </a:fld>
            <a:endParaRPr lang="en-US"/>
          </a:p>
        </p:txBody>
      </p:sp>
    </p:spTree>
    <p:extLst>
      <p:ext uri="{BB962C8B-B14F-4D97-AF65-F5344CB8AC3E}">
        <p14:creationId xmlns:p14="http://schemas.microsoft.com/office/powerpoint/2010/main" val="35297167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3 illustrates the foundational mechanism of human energy, focus, and resilience: </a:t>
            </a:r>
            <a:r>
              <a:rPr lang="en-US" sz="1200" b="1" kern="1200" dirty="0">
                <a:solidFill>
                  <a:schemeClr val="tx1"/>
                </a:solidFill>
                <a:effectLst/>
                <a:latin typeface="+mn-lt"/>
                <a:ea typeface="+mn-ea"/>
                <a:cs typeface="+mn-cs"/>
              </a:rPr>
              <a:t>The Hormonal Seesaw</a:t>
            </a:r>
            <a:r>
              <a:rPr lang="en-US" sz="1200" kern="1200" dirty="0">
                <a:solidFill>
                  <a:schemeClr val="tx1"/>
                </a:solidFill>
                <a:effectLst/>
                <a:latin typeface="+mn-lt"/>
                <a:ea typeface="+mn-ea"/>
                <a:cs typeface="+mn-cs"/>
              </a:rPr>
              <a:t> between Cortisol and Melatonin. </a:t>
            </a:r>
          </a:p>
          <a:p>
            <a:r>
              <a:rPr lang="en-US" sz="1200" kern="1200" dirty="0">
                <a:solidFill>
                  <a:schemeClr val="tx1"/>
                </a:solidFill>
                <a:effectLst/>
                <a:latin typeface="+mn-lt"/>
                <a:ea typeface="+mn-ea"/>
                <a:cs typeface="+mn-cs"/>
              </a:rPr>
              <a:t>In popular culture, cortisol is vilified as the "stress hormone." You see articles claiming you should minimize cortisol at all costs. This is a fundamental misunderstanding of human physiology. </a:t>
            </a:r>
          </a:p>
          <a:p>
            <a:r>
              <a:rPr lang="en-US" sz="1200" kern="1200" dirty="0">
                <a:solidFill>
                  <a:schemeClr val="tx1"/>
                </a:solidFill>
                <a:effectLst/>
                <a:latin typeface="+mn-lt"/>
                <a:ea typeface="+mn-ea"/>
                <a:cs typeface="+mn-cs"/>
              </a:rPr>
              <a:t>Cortisol is not inherently bad; cortisol is an energy-deploying hormone. Its primary biological duty is to mobilize glucose and lipids from storage organs into the bloodstream to power your brain, muscles, and immune system for action. Without a strong cortisol release, you cannot feel alert, focused, or motivated. </a:t>
            </a:r>
          </a:p>
          <a:p>
            <a:r>
              <a:rPr lang="en-US" sz="1200" kern="1200" dirty="0">
                <a:solidFill>
                  <a:schemeClr val="tx1"/>
                </a:solidFill>
                <a:effectLst/>
                <a:latin typeface="+mn-lt"/>
                <a:ea typeface="+mn-ea"/>
                <a:cs typeface="+mn-cs"/>
              </a:rPr>
              <a:t>The critical biological rule shown on this graph is timing: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In the Morning:</a:t>
            </a:r>
            <a:r>
              <a:rPr lang="en-US" sz="1200" kern="1200" dirty="0">
                <a:solidFill>
                  <a:schemeClr val="tx1"/>
                </a:solidFill>
                <a:effectLst/>
                <a:latin typeface="+mn-lt"/>
                <a:ea typeface="+mn-ea"/>
                <a:cs typeface="+mn-cs"/>
              </a:rPr>
              <a:t> You want a steep, rapid spike in cortisol. A high morning cortisol peak sets your circadian clock, elevates daytime body temperature, sharpens cognitive focus, and initiates a timer for melatonin release ~14 to 16 hours later.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At Night:</a:t>
            </a:r>
            <a:r>
              <a:rPr lang="en-US" sz="1200" kern="1200" dirty="0">
                <a:solidFill>
                  <a:schemeClr val="tx1"/>
                </a:solidFill>
                <a:effectLst/>
                <a:latin typeface="+mn-lt"/>
                <a:ea typeface="+mn-ea"/>
                <a:cs typeface="+mn-cs"/>
              </a:rPr>
              <a:t> You want cortisol to drop to baseline so that </a:t>
            </a:r>
            <a:r>
              <a:rPr lang="en-US" sz="1200" b="1" kern="1200" dirty="0">
                <a:solidFill>
                  <a:schemeClr val="tx1"/>
                </a:solidFill>
                <a:effectLst/>
                <a:latin typeface="+mn-lt"/>
                <a:ea typeface="+mn-ea"/>
                <a:cs typeface="+mn-cs"/>
              </a:rPr>
              <a:t>melatonin</a:t>
            </a:r>
            <a:r>
              <a:rPr lang="en-US" sz="1200" kern="1200" dirty="0">
                <a:solidFill>
                  <a:schemeClr val="tx1"/>
                </a:solidFill>
                <a:effectLst/>
                <a:latin typeface="+mn-lt"/>
                <a:ea typeface="+mn-ea"/>
                <a:cs typeface="+mn-cs"/>
              </a:rPr>
              <a:t>—the hormone of sleepiness and tissue repair—can rise unimpeded. </a:t>
            </a:r>
          </a:p>
          <a:p>
            <a:r>
              <a:rPr lang="en-US" sz="1200" kern="1200" dirty="0">
                <a:solidFill>
                  <a:schemeClr val="tx1"/>
                </a:solidFill>
                <a:effectLst/>
                <a:latin typeface="+mn-lt"/>
                <a:ea typeface="+mn-ea"/>
                <a:cs typeface="+mn-cs"/>
              </a:rPr>
              <a:t>Cortisol and melatonin operate like a biological seesaw: when cortisol is high, melatonin is suppressed. When cortisol stays elevated into the evening due to late-night emails, artificial light, or late caffeine, melatonin cannot rise. The result is fragmented sleep, elevated baseline anxiety, and diminished stress buffering the following day. </a:t>
            </a:r>
          </a:p>
          <a:p>
            <a:r>
              <a:rPr lang="en-US" sz="1200" kern="1200" dirty="0">
                <a:solidFill>
                  <a:schemeClr val="tx1"/>
                </a:solidFill>
                <a:effectLst/>
                <a:latin typeface="+mn-lt"/>
                <a:ea typeface="+mn-ea"/>
                <a:cs typeface="+mn-cs"/>
              </a:rPr>
              <a:t>Mastering your resilience begins by mastering this seesaw: driving cortisol sky-high in the morning and forcing it to baseline at night. Let's look at the exact protocol to achieve that morning spike. </a:t>
            </a:r>
          </a:p>
          <a:p>
            <a:endParaRPr lang="en-US" dirty="0"/>
          </a:p>
        </p:txBody>
      </p:sp>
      <p:sp>
        <p:nvSpPr>
          <p:cNvPr id="4" name="Slide Number Placeholder 3"/>
          <p:cNvSpPr>
            <a:spLocks noGrp="1"/>
          </p:cNvSpPr>
          <p:nvPr>
            <p:ph type="sldNum" sz="quarter" idx="5"/>
          </p:nvPr>
        </p:nvSpPr>
        <p:spPr/>
        <p:txBody>
          <a:bodyPr/>
          <a:lstStyle/>
          <a:p>
            <a:fld id="{B905737B-E786-4AC4-932B-96E414BB9EA8}" type="slidenum">
              <a:rPr lang="en-US" smtClean="0"/>
              <a:t>3</a:t>
            </a:fld>
            <a:endParaRPr lang="en-US"/>
          </a:p>
        </p:txBody>
      </p:sp>
    </p:spTree>
    <p:extLst>
      <p:ext uri="{BB962C8B-B14F-4D97-AF65-F5344CB8AC3E}">
        <p14:creationId xmlns:p14="http://schemas.microsoft.com/office/powerpoint/2010/main" val="42062265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4 details the exact three-part protocol to boost your morning cortisol peak by up to </a:t>
            </a:r>
            <a:r>
              <a:rPr lang="en-US" sz="1200" b="1" kern="1200" dirty="0">
                <a:solidFill>
                  <a:schemeClr val="tx1"/>
                </a:solidFill>
                <a:effectLst/>
                <a:latin typeface="+mn-lt"/>
                <a:ea typeface="+mn-ea"/>
                <a:cs typeface="+mn-cs"/>
              </a:rPr>
              <a:t>50% within the first 30 to 60 minutes of waking</a:t>
            </a:r>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1. Light (The Primary Catalyst):</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single most powerful signal for your brain’s master clock—the suprachiasmatic nucleus—is photons hitting specialized neurons in your eyes called intrinsically photosensitive retinal ganglion cells. Viewing 5 to 10 minutes of direct outdoor sunlight shortly after waking triggers an immediate, healthy spike in morning cortisol. </a:t>
            </a:r>
          </a:p>
          <a:p>
            <a:pPr lvl="0"/>
            <a:r>
              <a:rPr lang="en-US" sz="1200" i="1" kern="1200" dirty="0">
                <a:solidFill>
                  <a:schemeClr val="tx1"/>
                </a:solidFill>
                <a:effectLst/>
                <a:latin typeface="+mn-lt"/>
                <a:ea typeface="+mn-ea"/>
                <a:cs typeface="+mn-cs"/>
              </a:rPr>
              <a:t>Crucial Rule:</a:t>
            </a:r>
            <a:r>
              <a:rPr lang="en-US" sz="1200" kern="1200" dirty="0">
                <a:solidFill>
                  <a:schemeClr val="tx1"/>
                </a:solidFill>
                <a:effectLst/>
                <a:latin typeface="+mn-lt"/>
                <a:ea typeface="+mn-ea"/>
                <a:cs typeface="+mn-cs"/>
              </a:rPr>
              <a:t> Looking at sunlight through a window pane or glass screen takes 50 times longer to achieve the same neural activation because glass filters out key light wavelengths. Go outside. On overcast or rainy days, you need </a:t>
            </a:r>
            <a:r>
              <a:rPr lang="en-US" sz="1200" i="1" kern="1200" dirty="0">
                <a:solidFill>
                  <a:schemeClr val="tx1"/>
                </a:solidFill>
                <a:effectLst/>
                <a:latin typeface="+mn-lt"/>
                <a:ea typeface="+mn-ea"/>
                <a:cs typeface="+mn-cs"/>
              </a:rPr>
              <a:t>more</a:t>
            </a:r>
            <a:r>
              <a:rPr lang="en-US" sz="1200" kern="1200" dirty="0">
                <a:solidFill>
                  <a:schemeClr val="tx1"/>
                </a:solidFill>
                <a:effectLst/>
                <a:latin typeface="+mn-lt"/>
                <a:ea typeface="+mn-ea"/>
                <a:cs typeface="+mn-cs"/>
              </a:rPr>
              <a:t> time outside (15–20 minutes), not less, because ambient outdoor light on a cloudy day is still far brighter than indoor lighting. </a:t>
            </a:r>
          </a:p>
          <a:p>
            <a:pPr lvl="0"/>
            <a:r>
              <a:rPr lang="en-US" sz="1200" i="1" kern="1200" dirty="0">
                <a:solidFill>
                  <a:schemeClr val="tx1"/>
                </a:solidFill>
                <a:effectLst/>
                <a:latin typeface="+mn-lt"/>
                <a:ea typeface="+mn-ea"/>
                <a:cs typeface="+mn-cs"/>
              </a:rPr>
              <a:t>Mistake to Avoid:</a:t>
            </a:r>
            <a:r>
              <a:rPr lang="en-US" sz="1200" kern="1200" dirty="0">
                <a:solidFill>
                  <a:schemeClr val="tx1"/>
                </a:solidFill>
                <a:effectLst/>
                <a:latin typeface="+mn-lt"/>
                <a:ea typeface="+mn-ea"/>
                <a:cs typeface="+mn-cs"/>
              </a:rPr>
              <a:t> Do not lie in bed scrolling on a smartphone in the dark. This sends confused, low-lux photons to the brain, stalling your circadian alignment. </a:t>
            </a:r>
          </a:p>
          <a:p>
            <a:r>
              <a:rPr lang="en-US" sz="1200" b="1" kern="1200" dirty="0">
                <a:solidFill>
                  <a:schemeClr val="tx1"/>
                </a:solidFill>
                <a:effectLst/>
                <a:latin typeface="+mn-lt"/>
                <a:ea typeface="+mn-ea"/>
                <a:cs typeface="+mn-cs"/>
              </a:rPr>
              <a:t>2. Ingestion (Hydration + Strategic Caffeine):</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When you wake up, you are naturally dehydrated, which elevates resting heart rate and strain. Hydrating immediately with water and electrolytes, paired with caffeine (ideally delayed 60–90 minutes after waking or taken strategically), reinforces the circadian cortisol wavefront. </a:t>
            </a:r>
          </a:p>
          <a:p>
            <a:r>
              <a:rPr lang="en-US" sz="1200" b="1" kern="1200" dirty="0">
                <a:solidFill>
                  <a:schemeClr val="tx1"/>
                </a:solidFill>
                <a:effectLst/>
                <a:latin typeface="+mn-lt"/>
                <a:ea typeface="+mn-ea"/>
                <a:cs typeface="+mn-cs"/>
              </a:rPr>
              <a:t>3. Movement (Physical Friction):</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Engaging in light cardiovascular movement, jumping jacks, or resistance work in that first hour introduces physical friction that further amplifies the early cortisol curve. </a:t>
            </a:r>
          </a:p>
          <a:p>
            <a:r>
              <a:rPr lang="en-US" sz="1200" kern="1200" dirty="0">
                <a:solidFill>
                  <a:schemeClr val="tx1"/>
                </a:solidFill>
                <a:effectLst/>
                <a:latin typeface="+mn-lt"/>
                <a:ea typeface="+mn-ea"/>
                <a:cs typeface="+mn-cs"/>
              </a:rPr>
              <a:t>When you execute this morning protocol consistently, you "entrain" your nervous system. Your brain anticipates the peak, giving you sustainable energy throughout the day without early afternoon crashes. Now, let's look at the opposite side of the seesaw: bringing cortisol down at night. </a:t>
            </a:r>
          </a:p>
        </p:txBody>
      </p:sp>
      <p:sp>
        <p:nvSpPr>
          <p:cNvPr id="4" name="Slide Number Placeholder 3"/>
          <p:cNvSpPr>
            <a:spLocks noGrp="1"/>
          </p:cNvSpPr>
          <p:nvPr>
            <p:ph type="sldNum" sz="quarter" idx="5"/>
          </p:nvPr>
        </p:nvSpPr>
        <p:spPr/>
        <p:txBody>
          <a:bodyPr/>
          <a:lstStyle/>
          <a:p>
            <a:fld id="{B905737B-E786-4AC4-932B-96E414BB9EA8}" type="slidenum">
              <a:rPr lang="en-US" smtClean="0"/>
              <a:t>4</a:t>
            </a:fld>
            <a:endParaRPr lang="en-US"/>
          </a:p>
        </p:txBody>
      </p:sp>
    </p:spTree>
    <p:extLst>
      <p:ext uri="{BB962C8B-B14F-4D97-AF65-F5344CB8AC3E}">
        <p14:creationId xmlns:p14="http://schemas.microsoft.com/office/powerpoint/2010/main" val="14175877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5 outlines the protocol for mechanically bringing evening cortisol down to baseline, unlocking the deep melatonin wave required for restorative sleep. </a:t>
            </a:r>
          </a:p>
          <a:p>
            <a:r>
              <a:rPr lang="en-US" sz="1200" kern="1200" dirty="0">
                <a:solidFill>
                  <a:schemeClr val="tx1"/>
                </a:solidFill>
                <a:effectLst/>
                <a:latin typeface="+mn-lt"/>
                <a:ea typeface="+mn-ea"/>
                <a:cs typeface="+mn-cs"/>
              </a:rPr>
              <a:t>You cannot simply demand that a high-strung mind "relax" through willpower alone. You must use mechanical leverage on your autonomic nervous system. Here are the three steps: </a:t>
            </a:r>
          </a:p>
          <a:p>
            <a:r>
              <a:rPr lang="en-US" sz="1200" b="1" kern="1200" dirty="0">
                <a:solidFill>
                  <a:schemeClr val="tx1"/>
                </a:solidFill>
                <a:effectLst/>
                <a:latin typeface="+mn-lt"/>
                <a:ea typeface="+mn-ea"/>
                <a:cs typeface="+mn-cs"/>
              </a:rPr>
              <a:t>Step 1: Dim the Environment</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In the final 1 to 2 hours before bed, dim bright overhead lights. Overhead artificial lights mimic the position of the noon sun, striking the bottom retina and instantly signaling the brain to suppress melatonin. Shift to low-level, low-lux floor lamps or warm lighting. </a:t>
            </a:r>
          </a:p>
          <a:p>
            <a:r>
              <a:rPr lang="en-US" sz="1200" b="1" kern="1200" dirty="0">
                <a:solidFill>
                  <a:schemeClr val="tx1"/>
                </a:solidFill>
                <a:effectLst/>
                <a:latin typeface="+mn-lt"/>
                <a:ea typeface="+mn-ea"/>
                <a:cs typeface="+mn-cs"/>
              </a:rPr>
              <a:t>Step 2: Autonomic Braking (Extended Exhales)</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To manually trigger the parasympathetic (rest-and-digest) nervous system, use extended exhales. When you inhale, your diaphragm moves down, your heart expands, blood flow slows down, and your brain signals the heart to speed up. When you </a:t>
            </a:r>
            <a:r>
              <a:rPr lang="en-US" sz="1200" i="1" kern="1200" dirty="0">
                <a:solidFill>
                  <a:schemeClr val="tx1"/>
                </a:solidFill>
                <a:effectLst/>
                <a:latin typeface="+mn-lt"/>
                <a:ea typeface="+mn-ea"/>
                <a:cs typeface="+mn-cs"/>
              </a:rPr>
              <a:t>exhale</a:t>
            </a:r>
            <a:r>
              <a:rPr lang="en-US" sz="1200" kern="1200" dirty="0">
                <a:solidFill>
                  <a:schemeClr val="tx1"/>
                </a:solidFill>
                <a:effectLst/>
                <a:latin typeface="+mn-lt"/>
                <a:ea typeface="+mn-ea"/>
                <a:cs typeface="+mn-cs"/>
              </a:rPr>
              <a:t>, your diaphragm moves up, heart volume contracts, and the </a:t>
            </a:r>
            <a:r>
              <a:rPr lang="en-US" sz="1200" kern="1200" dirty="0" err="1">
                <a:solidFill>
                  <a:schemeClr val="tx1"/>
                </a:solidFill>
                <a:effectLst/>
                <a:latin typeface="+mn-lt"/>
                <a:ea typeface="+mn-ea"/>
                <a:cs typeface="+mn-cs"/>
              </a:rPr>
              <a:t>vagus</a:t>
            </a:r>
            <a:r>
              <a:rPr lang="en-US" sz="1200" kern="1200" dirty="0">
                <a:solidFill>
                  <a:schemeClr val="tx1"/>
                </a:solidFill>
                <a:effectLst/>
                <a:latin typeface="+mn-lt"/>
                <a:ea typeface="+mn-ea"/>
                <a:cs typeface="+mn-cs"/>
              </a:rPr>
              <a:t> nerve releases acetylcholine to slow your heart rate down. Taking 1 to 5 slow, deep breaths with exhales longer than inhales acts as a mechanical brake on heart rate and stress. </a:t>
            </a:r>
          </a:p>
          <a:p>
            <a:r>
              <a:rPr lang="en-US" sz="1200" b="1" kern="1200" dirty="0">
                <a:solidFill>
                  <a:schemeClr val="tx1"/>
                </a:solidFill>
                <a:effectLst/>
                <a:latin typeface="+mn-lt"/>
                <a:ea typeface="+mn-ea"/>
                <a:cs typeface="+mn-cs"/>
              </a:rPr>
              <a:t>Step 3: NSDR / Yoga Nidra (Non-Sleep Deep Rest)</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Engaging in a 10 to 30-minute Non-Sleep Deep Rest (NSDR) or Yoga Nidra session shifts the brain out of active planning, calculation, and beta-wave thinking into alpha and theta brainwave states. It forces the prefrontal cortex to disengage, guiding the mind into pure sensory awareness. </a:t>
            </a:r>
          </a:p>
          <a:p>
            <a:r>
              <a:rPr lang="en-US" sz="1200" kern="1200" dirty="0">
                <a:solidFill>
                  <a:schemeClr val="tx1"/>
                </a:solidFill>
                <a:effectLst/>
                <a:latin typeface="+mn-lt"/>
                <a:ea typeface="+mn-ea"/>
                <a:cs typeface="+mn-cs"/>
              </a:rPr>
              <a:t>Mastering these steps allows you to reliably turn off your internal engine when the workday ends. But what happens when anxiety hits in the middle of the night? Let's look at Slide 6. </a:t>
            </a:r>
          </a:p>
          <a:p>
            <a:endParaRPr lang="en-US" dirty="0"/>
          </a:p>
        </p:txBody>
      </p:sp>
      <p:sp>
        <p:nvSpPr>
          <p:cNvPr id="4" name="Slide Number Placeholder 3"/>
          <p:cNvSpPr>
            <a:spLocks noGrp="1"/>
          </p:cNvSpPr>
          <p:nvPr>
            <p:ph type="sldNum" sz="quarter" idx="5"/>
          </p:nvPr>
        </p:nvSpPr>
        <p:spPr/>
        <p:txBody>
          <a:bodyPr/>
          <a:lstStyle/>
          <a:p>
            <a:fld id="{B905737B-E786-4AC4-932B-96E414BB9EA8}" type="slidenum">
              <a:rPr lang="en-US" smtClean="0"/>
              <a:t>5</a:t>
            </a:fld>
            <a:endParaRPr lang="en-US"/>
          </a:p>
        </p:txBody>
      </p:sp>
    </p:spTree>
    <p:extLst>
      <p:ext uri="{BB962C8B-B14F-4D97-AF65-F5344CB8AC3E}">
        <p14:creationId xmlns:p14="http://schemas.microsoft.com/office/powerpoint/2010/main" val="8156309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We have all experienced waking up at 3:00 AM with a racing mind, playing out scenarios, re-reading emails in our head, and feeling unable to fall back asleep. </a:t>
            </a:r>
          </a:p>
          <a:p>
            <a:r>
              <a:rPr lang="en-US" sz="1200" kern="1200" dirty="0">
                <a:solidFill>
                  <a:schemeClr val="tx1"/>
                </a:solidFill>
                <a:effectLst/>
                <a:latin typeface="+mn-lt"/>
                <a:ea typeface="+mn-ea"/>
                <a:cs typeface="+mn-cs"/>
              </a:rPr>
              <a:t>On Slide 6, Dr. Huberman reveals a ground-breaking neurological hack that he rarely discusses publicly: </a:t>
            </a:r>
            <a:r>
              <a:rPr lang="en-US" sz="1200" b="1" kern="1200" dirty="0">
                <a:solidFill>
                  <a:schemeClr val="tx1"/>
                </a:solidFill>
                <a:effectLst/>
                <a:latin typeface="+mn-lt"/>
                <a:ea typeface="+mn-ea"/>
                <a:cs typeface="+mn-cs"/>
              </a:rPr>
              <a:t>The Proprioceptive Eye Sequence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To understand why this works, we must understand </a:t>
            </a:r>
            <a:r>
              <a:rPr lang="en-US" sz="1200" b="1" kern="1200" dirty="0">
                <a:solidFill>
                  <a:schemeClr val="tx1"/>
                </a:solidFill>
                <a:effectLst/>
                <a:latin typeface="+mn-lt"/>
                <a:ea typeface="+mn-ea"/>
                <a:cs typeface="+mn-cs"/>
              </a:rPr>
              <a:t>proprioception</a:t>
            </a:r>
            <a:r>
              <a:rPr lang="en-US" sz="1200" kern="1200" dirty="0">
                <a:solidFill>
                  <a:schemeClr val="tx1"/>
                </a:solidFill>
                <a:effectLst/>
                <a:latin typeface="+mn-lt"/>
                <a:ea typeface="+mn-ea"/>
                <a:cs typeface="+mn-cs"/>
              </a:rPr>
              <a:t>. Proprioception is your brain’s continuous awareness of where your body and limbs are positioned in space, managed largely by the cerebellum and parietal cortex. </a:t>
            </a:r>
          </a:p>
          <a:p>
            <a:r>
              <a:rPr lang="en-US" sz="1200" kern="1200" dirty="0">
                <a:solidFill>
                  <a:schemeClr val="tx1"/>
                </a:solidFill>
                <a:effectLst/>
                <a:latin typeface="+mn-lt"/>
                <a:ea typeface="+mn-ea"/>
                <a:cs typeface="+mn-cs"/>
              </a:rPr>
              <a:t>Here is the key insight: To fall asleep, the brain must mechanically forget where the physical body is located in space. As long as your brain is actively tracking limb position and spatial orientation, it remains locked in a subtle state of motor readiness. </a:t>
            </a:r>
          </a:p>
          <a:p>
            <a:r>
              <a:rPr lang="en-US" sz="1200" kern="1200" dirty="0">
                <a:solidFill>
                  <a:schemeClr val="tx1"/>
                </a:solidFill>
                <a:effectLst/>
                <a:latin typeface="+mn-lt"/>
                <a:ea typeface="+mn-ea"/>
                <a:cs typeface="+mn-cs"/>
              </a:rPr>
              <a:t>When you wake up at 3 AM with a racing mind, execute this precise eye movement protocol with your eyelids closed: </a:t>
            </a:r>
          </a:p>
          <a:p>
            <a:pPr marL="228600" lvl="0" indent="-228600">
              <a:buFont typeface="+mj-lt"/>
              <a:buAutoNum type="arabicPeriod"/>
            </a:pPr>
            <a:r>
              <a:rPr lang="en-US" sz="1200" kern="1200" dirty="0">
                <a:solidFill>
                  <a:schemeClr val="tx1"/>
                </a:solidFill>
                <a:effectLst/>
                <a:latin typeface="+mn-lt"/>
                <a:ea typeface="+mn-ea"/>
                <a:cs typeface="+mn-cs"/>
              </a:rPr>
              <a:t>Slowly move your eyes all the way </a:t>
            </a:r>
            <a:r>
              <a:rPr lang="en-US" sz="1200" b="1" kern="1200" dirty="0">
                <a:solidFill>
                  <a:schemeClr val="tx1"/>
                </a:solidFill>
                <a:effectLst/>
                <a:latin typeface="+mn-lt"/>
                <a:ea typeface="+mn-ea"/>
                <a:cs typeface="+mn-cs"/>
              </a:rPr>
              <a:t>Left to Right</a:t>
            </a:r>
            <a:r>
              <a:rPr lang="en-US" sz="1200" kern="1200" dirty="0">
                <a:solidFill>
                  <a:schemeClr val="tx1"/>
                </a:solidFill>
                <a:effectLst/>
                <a:latin typeface="+mn-lt"/>
                <a:ea typeface="+mn-ea"/>
                <a:cs typeface="+mn-cs"/>
              </a:rPr>
              <a:t>. </a:t>
            </a:r>
          </a:p>
          <a:p>
            <a:pPr marL="228600" lvl="0" indent="-228600">
              <a:buFont typeface="+mj-lt"/>
              <a:buAutoNum type="arabicPeriod"/>
            </a:pPr>
            <a:r>
              <a:rPr lang="en-US" sz="1200" kern="1200" dirty="0">
                <a:solidFill>
                  <a:schemeClr val="tx1"/>
                </a:solidFill>
                <a:effectLst/>
                <a:latin typeface="+mn-lt"/>
                <a:ea typeface="+mn-ea"/>
                <a:cs typeface="+mn-cs"/>
              </a:rPr>
              <a:t>Rotate your eyes in a slow </a:t>
            </a:r>
            <a:r>
              <a:rPr lang="en-US" sz="1200" b="1" kern="1200" dirty="0">
                <a:solidFill>
                  <a:schemeClr val="tx1"/>
                </a:solidFill>
                <a:effectLst/>
                <a:latin typeface="+mn-lt"/>
                <a:ea typeface="+mn-ea"/>
                <a:cs typeface="+mn-cs"/>
              </a:rPr>
              <a:t>Counter-Clockwise</a:t>
            </a:r>
            <a:r>
              <a:rPr lang="en-US" sz="1200" kern="1200" dirty="0">
                <a:solidFill>
                  <a:schemeClr val="tx1"/>
                </a:solidFill>
                <a:effectLst/>
                <a:latin typeface="+mn-lt"/>
                <a:ea typeface="+mn-ea"/>
                <a:cs typeface="+mn-cs"/>
              </a:rPr>
              <a:t> circle. </a:t>
            </a:r>
          </a:p>
          <a:p>
            <a:pPr marL="228600" lvl="0" indent="-228600">
              <a:buFont typeface="+mj-lt"/>
              <a:buAutoNum type="arabicPeriod"/>
            </a:pPr>
            <a:r>
              <a:rPr lang="en-US" sz="1200" kern="1200" dirty="0">
                <a:solidFill>
                  <a:schemeClr val="tx1"/>
                </a:solidFill>
                <a:effectLst/>
                <a:latin typeface="+mn-lt"/>
                <a:ea typeface="+mn-ea"/>
                <a:cs typeface="+mn-cs"/>
              </a:rPr>
              <a:t>Rotate your eyes in a slow </a:t>
            </a:r>
            <a:r>
              <a:rPr lang="en-US" sz="1200" b="1" kern="1200" dirty="0">
                <a:solidFill>
                  <a:schemeClr val="tx1"/>
                </a:solidFill>
                <a:effectLst/>
                <a:latin typeface="+mn-lt"/>
                <a:ea typeface="+mn-ea"/>
                <a:cs typeface="+mn-cs"/>
              </a:rPr>
              <a:t>Clockwise</a:t>
            </a:r>
            <a:r>
              <a:rPr lang="en-US" sz="1200" kern="1200" dirty="0">
                <a:solidFill>
                  <a:schemeClr val="tx1"/>
                </a:solidFill>
                <a:effectLst/>
                <a:latin typeface="+mn-lt"/>
                <a:ea typeface="+mn-ea"/>
                <a:cs typeface="+mn-cs"/>
              </a:rPr>
              <a:t> circle. </a:t>
            </a:r>
          </a:p>
          <a:p>
            <a:pPr marL="228600" lvl="0" indent="-228600">
              <a:buFont typeface="+mj-lt"/>
              <a:buAutoNum type="arabicPeriod"/>
            </a:pPr>
            <a:r>
              <a:rPr lang="en-US" sz="1200" kern="1200" dirty="0">
                <a:solidFill>
                  <a:schemeClr val="tx1"/>
                </a:solidFill>
                <a:effectLst/>
                <a:latin typeface="+mn-lt"/>
                <a:ea typeface="+mn-ea"/>
                <a:cs typeface="+mn-cs"/>
              </a:rPr>
              <a:t>Gently point your eyes toward the </a:t>
            </a:r>
            <a:r>
              <a:rPr lang="en-US" sz="1200" b="1" kern="1200" dirty="0">
                <a:solidFill>
                  <a:schemeClr val="tx1"/>
                </a:solidFill>
                <a:effectLst/>
                <a:latin typeface="+mn-lt"/>
                <a:ea typeface="+mn-ea"/>
                <a:cs typeface="+mn-cs"/>
              </a:rPr>
              <a:t>tip of your nose</a:t>
            </a:r>
            <a:r>
              <a:rPr lang="en-US" sz="1200" kern="1200" dirty="0">
                <a:solidFill>
                  <a:schemeClr val="tx1"/>
                </a:solidFill>
                <a:effectLst/>
                <a:latin typeface="+mn-lt"/>
                <a:ea typeface="+mn-ea"/>
                <a:cs typeface="+mn-cs"/>
              </a:rPr>
              <a:t> without straining, and release a long exhale. </a:t>
            </a:r>
          </a:p>
          <a:p>
            <a:r>
              <a:rPr lang="en-US" sz="1200" i="1" kern="1200" dirty="0">
                <a:solidFill>
                  <a:schemeClr val="tx1"/>
                </a:solidFill>
                <a:effectLst/>
                <a:latin typeface="+mn-lt"/>
                <a:ea typeface="+mn-ea"/>
                <a:cs typeface="+mn-cs"/>
              </a:rPr>
              <a:t>Why does this work?</a:t>
            </a:r>
            <a:r>
              <a:rPr lang="en-US" sz="1200" kern="1200" dirty="0">
                <a:solidFill>
                  <a:schemeClr val="tx1"/>
                </a:solidFill>
                <a:effectLst/>
                <a:latin typeface="+mn-lt"/>
                <a:ea typeface="+mn-ea"/>
                <a:cs typeface="+mn-cs"/>
              </a:rPr>
              <a:t> This specific lateral and rotational tracking sequence temporarily disrupts proprioceptive feedback loops in the brainstem and cerebellum. It breaks the spatial tracking loop, tricking the brain into believing the physical body has disengaged, which allows the sleep-onset cascade to initiate immediately. </a:t>
            </a:r>
          </a:p>
          <a:p>
            <a:r>
              <a:rPr lang="en-US" sz="1200" kern="1200" dirty="0">
                <a:solidFill>
                  <a:schemeClr val="tx1"/>
                </a:solidFill>
                <a:effectLst/>
                <a:latin typeface="+mn-lt"/>
                <a:ea typeface="+mn-ea"/>
                <a:cs typeface="+mn-cs"/>
              </a:rPr>
              <a:t>This is a biological tool you can use anytime night anxiety threatens your recovery. Now let's examine cognitive frameworks for managing daytime stress. </a:t>
            </a:r>
          </a:p>
          <a:p>
            <a:endParaRPr lang="en-US" dirty="0"/>
          </a:p>
        </p:txBody>
      </p:sp>
      <p:sp>
        <p:nvSpPr>
          <p:cNvPr id="4" name="Slide Number Placeholder 3"/>
          <p:cNvSpPr>
            <a:spLocks noGrp="1"/>
          </p:cNvSpPr>
          <p:nvPr>
            <p:ph type="sldNum" sz="quarter" idx="5"/>
          </p:nvPr>
        </p:nvSpPr>
        <p:spPr/>
        <p:txBody>
          <a:bodyPr/>
          <a:lstStyle/>
          <a:p>
            <a:fld id="{B905737B-E786-4AC4-932B-96E414BB9EA8}" type="slidenum">
              <a:rPr lang="en-US" smtClean="0"/>
              <a:t>6</a:t>
            </a:fld>
            <a:endParaRPr lang="en-US"/>
          </a:p>
        </p:txBody>
      </p:sp>
    </p:spTree>
    <p:extLst>
      <p:ext uri="{BB962C8B-B14F-4D97-AF65-F5344CB8AC3E}">
        <p14:creationId xmlns:p14="http://schemas.microsoft.com/office/powerpoint/2010/main" val="40814828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7 presents a diagnostic exercise shared by Dr. Huberman to maintain absolute cognitive control under high stress: </a:t>
            </a:r>
            <a:r>
              <a:rPr lang="en-US" sz="1200" b="1" kern="1200" dirty="0">
                <a:solidFill>
                  <a:schemeClr val="tx1"/>
                </a:solidFill>
                <a:effectLst/>
                <a:latin typeface="+mn-lt"/>
                <a:ea typeface="+mn-ea"/>
                <a:cs typeface="+mn-cs"/>
              </a:rPr>
              <a:t>The Left vs. Right Column Framework</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Unmanaged stress occurs when the human brain spends excessive energy trying to solve problems over which it has zero mechanical control. When you worry about macro-economic shifts, internet noise, flight delays, or what someone thinks of you, your brain triggers a physiological stress response without any venue for physical action. This creates motor frustration and anxiety. </a:t>
            </a:r>
          </a:p>
          <a:p>
            <a:r>
              <a:rPr lang="en-US" sz="1200" kern="1200" dirty="0">
                <a:solidFill>
                  <a:schemeClr val="tx1"/>
                </a:solidFill>
                <a:effectLst/>
                <a:latin typeface="+mn-lt"/>
                <a:ea typeface="+mn-ea"/>
                <a:cs typeface="+mn-cs"/>
              </a:rPr>
              <a:t>To fix this, perform this exercise monthly: Take a blank sheet of paper and draw a line down the middle.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Left Column (CANNOT CONTROL):</a:t>
            </a:r>
            <a:r>
              <a:rPr lang="en-US" sz="1200" kern="1200" dirty="0">
                <a:solidFill>
                  <a:schemeClr val="tx1"/>
                </a:solidFill>
                <a:effectLst/>
                <a:latin typeface="+mn-lt"/>
                <a:ea typeface="+mn-ea"/>
                <a:cs typeface="+mn-cs"/>
              </a:rPr>
              <a:t> Write down every external stressor currently cluttering your mind—market conditions, logistics, delayed flights, public opinion, and the actions of others.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Right Column (CAN CONTROL):</a:t>
            </a:r>
            <a:r>
              <a:rPr lang="en-US" sz="1200" kern="1200" dirty="0">
                <a:solidFill>
                  <a:schemeClr val="tx1"/>
                </a:solidFill>
                <a:effectLst/>
                <a:latin typeface="+mn-lt"/>
                <a:ea typeface="+mn-ea"/>
                <a:cs typeface="+mn-cs"/>
              </a:rPr>
              <a:t> Write down actions you can physically execute right now—your hydration, your breathing patterns, your morning light exposure, your work output, and where you direct your immediate attention. </a:t>
            </a:r>
          </a:p>
          <a:p>
            <a:r>
              <a:rPr lang="en-US" sz="1200" b="1" kern="1200" dirty="0">
                <a:solidFill>
                  <a:schemeClr val="tx1"/>
                </a:solidFill>
                <a:effectLst/>
                <a:latin typeface="+mn-lt"/>
                <a:ea typeface="+mn-ea"/>
                <a:cs typeface="+mn-cs"/>
              </a:rPr>
              <a:t>The Operational Rule:</a:t>
            </a:r>
            <a:r>
              <a:rPr lang="en-US" sz="1200" kern="1200" dirty="0">
                <a:solidFill>
                  <a:schemeClr val="tx1"/>
                </a:solidFill>
                <a:effectLst/>
                <a:latin typeface="+mn-lt"/>
                <a:ea typeface="+mn-ea"/>
                <a:cs typeface="+mn-cs"/>
              </a:rPr>
              <a:t> Whenever you notice your attention drifting into the Left Column, do not try to argue with your thoughts mentally. Instead, use immediate physical sensation to pull your mind back into the Right Column. Take a sip of cold water, focus on the physical temperature of your hands, or execute 3 long-exhale breaths. </a:t>
            </a:r>
          </a:p>
          <a:p>
            <a:r>
              <a:rPr lang="en-US" sz="1200" kern="1200" dirty="0">
                <a:solidFill>
                  <a:schemeClr val="tx1"/>
                </a:solidFill>
                <a:effectLst/>
                <a:latin typeface="+mn-lt"/>
                <a:ea typeface="+mn-ea"/>
                <a:cs typeface="+mn-cs"/>
              </a:rPr>
              <a:t>By anchoring yourself exclusively in the Right Column, you eliminate wasted neural bandwidth and channel your energy into actionable output. Let's look at how elite performers process hardship when it strikes. </a:t>
            </a:r>
          </a:p>
          <a:p>
            <a:endParaRPr lang="en-US" dirty="0"/>
          </a:p>
        </p:txBody>
      </p:sp>
      <p:sp>
        <p:nvSpPr>
          <p:cNvPr id="4" name="Slide Number Placeholder 3"/>
          <p:cNvSpPr>
            <a:spLocks noGrp="1"/>
          </p:cNvSpPr>
          <p:nvPr>
            <p:ph type="sldNum" sz="quarter" idx="5"/>
          </p:nvPr>
        </p:nvSpPr>
        <p:spPr/>
        <p:txBody>
          <a:bodyPr/>
          <a:lstStyle/>
          <a:p>
            <a:fld id="{B905737B-E786-4AC4-932B-96E414BB9EA8}" type="slidenum">
              <a:rPr lang="en-US" smtClean="0"/>
              <a:t>7</a:t>
            </a:fld>
            <a:endParaRPr lang="en-US"/>
          </a:p>
        </p:txBody>
      </p:sp>
    </p:spTree>
    <p:extLst>
      <p:ext uri="{BB962C8B-B14F-4D97-AF65-F5344CB8AC3E}">
        <p14:creationId xmlns:p14="http://schemas.microsoft.com/office/powerpoint/2010/main" val="35364775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8 illustrates the fundamental difference between how fragile nervous systems and elite nervous systems process hardship and negative events. </a:t>
            </a:r>
          </a:p>
          <a:p>
            <a:r>
              <a:rPr lang="en-US" sz="1200" kern="1200" dirty="0">
                <a:solidFill>
                  <a:schemeClr val="tx1"/>
                </a:solidFill>
                <a:effectLst/>
                <a:latin typeface="+mn-lt"/>
                <a:ea typeface="+mn-ea"/>
                <a:cs typeface="+mn-cs"/>
              </a:rPr>
              <a:t>Notice that the initial input—a negative event, business setback, betrayal, or injury—is identical for both individuals. Hardship is neutral; its biological impact is determined entirely by how the nervous system processes the internal friction. </a:t>
            </a:r>
          </a:p>
          <a:p>
            <a:r>
              <a:rPr lang="en-US" sz="1200" kern="1200" dirty="0">
                <a:solidFill>
                  <a:schemeClr val="tx1"/>
                </a:solidFill>
                <a:effectLst/>
                <a:latin typeface="+mn-lt"/>
                <a:ea typeface="+mn-ea"/>
                <a:cs typeface="+mn-cs"/>
              </a:rPr>
              <a:t>Look at </a:t>
            </a:r>
            <a:r>
              <a:rPr lang="en-US" sz="1200" b="1" kern="1200" dirty="0">
                <a:solidFill>
                  <a:schemeClr val="tx1"/>
                </a:solidFill>
                <a:effectLst/>
                <a:latin typeface="+mn-lt"/>
                <a:ea typeface="+mn-ea"/>
                <a:cs typeface="+mn-cs"/>
              </a:rPr>
              <a:t>The Loser Mentality Processing Path</a:t>
            </a:r>
            <a:r>
              <a:rPr lang="en-US" sz="1200" kern="1200" dirty="0">
                <a:solidFill>
                  <a:schemeClr val="tx1"/>
                </a:solidFill>
                <a:effectLst/>
                <a:latin typeface="+mn-lt"/>
                <a:ea typeface="+mn-ea"/>
                <a:cs typeface="+mn-cs"/>
              </a:rPr>
              <a:t>: When negative friction hits, this system fixates on unfairness, external blame, and helplessness. Because energy cannot be destroyed—only transformed—this unchanneled internal friction turns inward, manifesting as self-destructive behavior, substance abuse, chronic cynicism, or quitting entirely. </a:t>
            </a:r>
          </a:p>
          <a:p>
            <a:r>
              <a:rPr lang="en-US" sz="1200" kern="1200" dirty="0">
                <a:solidFill>
                  <a:schemeClr val="tx1"/>
                </a:solidFill>
                <a:effectLst/>
                <a:latin typeface="+mn-lt"/>
                <a:ea typeface="+mn-ea"/>
                <a:cs typeface="+mn-cs"/>
              </a:rPr>
              <a:t>Now, look at </a:t>
            </a:r>
            <a:r>
              <a:rPr lang="en-US" sz="1200" b="1" kern="1200" dirty="0">
                <a:solidFill>
                  <a:schemeClr val="tx1"/>
                </a:solidFill>
                <a:effectLst/>
                <a:latin typeface="+mn-lt"/>
                <a:ea typeface="+mn-ea"/>
                <a:cs typeface="+mn-cs"/>
              </a:rPr>
              <a:t>The Winner Mentality Processing Path</a:t>
            </a:r>
            <a:r>
              <a:rPr lang="en-US" sz="1200" kern="1200" dirty="0">
                <a:solidFill>
                  <a:schemeClr val="tx1"/>
                </a:solidFill>
                <a:effectLst/>
                <a:latin typeface="+mn-lt"/>
                <a:ea typeface="+mn-ea"/>
                <a:cs typeface="+mn-cs"/>
              </a:rPr>
              <a:t>: When identical friction hits, the elite nervous system acknowledges the pain without denial, but immediately re-frames the internal adrenaline spike as </a:t>
            </a:r>
            <a:r>
              <a:rPr lang="en-US" sz="1200" b="1" kern="1200" dirty="0">
                <a:solidFill>
                  <a:schemeClr val="tx1"/>
                </a:solidFill>
                <a:effectLst/>
                <a:latin typeface="+mn-lt"/>
                <a:ea typeface="+mn-ea"/>
                <a:cs typeface="+mn-cs"/>
              </a:rPr>
              <a:t>usable energy</a:t>
            </a:r>
            <a:r>
              <a:rPr lang="en-US" sz="1200" kern="1200" dirty="0">
                <a:solidFill>
                  <a:schemeClr val="tx1"/>
                </a:solidFill>
                <a:effectLst/>
                <a:latin typeface="+mn-lt"/>
                <a:ea typeface="+mn-ea"/>
                <a:cs typeface="+mn-cs"/>
              </a:rPr>
              <a:t>. It applies intense internal focus to transmute that adrenaline into generative action—channeling the friction into intense work, learning, building, and serving others. </a:t>
            </a:r>
          </a:p>
          <a:p>
            <a:r>
              <a:rPr lang="en-US" sz="1200" kern="1200" dirty="0">
                <a:solidFill>
                  <a:schemeClr val="tx1"/>
                </a:solidFill>
                <a:effectLst/>
                <a:latin typeface="+mn-lt"/>
                <a:ea typeface="+mn-ea"/>
                <a:cs typeface="+mn-cs"/>
              </a:rPr>
              <a:t>Adrenaline and cortisol are neutral biochemical energy sources. They are fuel molecules designed to drive physical motion. When hardship strikes, a mentally dangerous individual does not ask, </a:t>
            </a:r>
            <a:r>
              <a:rPr lang="en-US" sz="1200" i="1" kern="1200" dirty="0">
                <a:solidFill>
                  <a:schemeClr val="tx1"/>
                </a:solidFill>
                <a:effectLst/>
                <a:latin typeface="+mn-lt"/>
                <a:ea typeface="+mn-ea"/>
                <a:cs typeface="+mn-cs"/>
              </a:rPr>
              <a:t>"Why is this happening to me?"</a:t>
            </a:r>
            <a:r>
              <a:rPr lang="en-US" sz="1200" kern="1200" dirty="0">
                <a:solidFill>
                  <a:schemeClr val="tx1"/>
                </a:solidFill>
                <a:effectLst/>
                <a:latin typeface="+mn-lt"/>
                <a:ea typeface="+mn-ea"/>
                <a:cs typeface="+mn-cs"/>
              </a:rPr>
              <a:t> They ask, </a:t>
            </a:r>
            <a:r>
              <a:rPr lang="en-US" sz="1200" i="1" kern="1200" dirty="0">
                <a:solidFill>
                  <a:schemeClr val="tx1"/>
                </a:solidFill>
                <a:effectLst/>
                <a:latin typeface="+mn-lt"/>
                <a:ea typeface="+mn-ea"/>
                <a:cs typeface="+mn-cs"/>
              </a:rPr>
              <a:t>"How do I direct this adrenaline into high-value execution?"</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Let's look at what happens when the stakes get extremely high and how to prevent choking under pressure. </a:t>
            </a:r>
          </a:p>
          <a:p>
            <a:endParaRPr lang="en-US" dirty="0"/>
          </a:p>
        </p:txBody>
      </p:sp>
      <p:sp>
        <p:nvSpPr>
          <p:cNvPr id="4" name="Slide Number Placeholder 3"/>
          <p:cNvSpPr>
            <a:spLocks noGrp="1"/>
          </p:cNvSpPr>
          <p:nvPr>
            <p:ph type="sldNum" sz="quarter" idx="5"/>
          </p:nvPr>
        </p:nvSpPr>
        <p:spPr/>
        <p:txBody>
          <a:bodyPr/>
          <a:lstStyle/>
          <a:p>
            <a:fld id="{B905737B-E786-4AC4-932B-96E414BB9EA8}" type="slidenum">
              <a:rPr lang="en-US" smtClean="0"/>
              <a:t>8</a:t>
            </a:fld>
            <a:endParaRPr lang="en-US"/>
          </a:p>
        </p:txBody>
      </p:sp>
    </p:spTree>
    <p:extLst>
      <p:ext uri="{BB962C8B-B14F-4D97-AF65-F5344CB8AC3E}">
        <p14:creationId xmlns:p14="http://schemas.microsoft.com/office/powerpoint/2010/main" val="16971771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We have all seen brilliant individuals—athletes, speakers, executives—freeze or choke when placed in high-stakes environments. On Slide 9, we examine the precise neurobiology of choking and how to override it. </a:t>
            </a:r>
          </a:p>
          <a:p>
            <a:r>
              <a:rPr lang="en-US" sz="1200" kern="1200" dirty="0">
                <a:solidFill>
                  <a:schemeClr val="tx1"/>
                </a:solidFill>
                <a:effectLst/>
                <a:latin typeface="+mn-lt"/>
                <a:ea typeface="+mn-ea"/>
                <a:cs typeface="+mn-cs"/>
              </a:rPr>
              <a:t>Common sense tells us that people choke because they panic or imagine catastrophic failure. But neuroscience reveals something counterintuitive: Choking often occurs because the brain is over-imagining how incredible success will be. </a:t>
            </a:r>
          </a:p>
          <a:p>
            <a:r>
              <a:rPr lang="en-US" sz="1200" kern="1200" dirty="0">
                <a:solidFill>
                  <a:schemeClr val="tx1"/>
                </a:solidFill>
                <a:effectLst/>
                <a:latin typeface="+mn-lt"/>
                <a:ea typeface="+mn-ea"/>
                <a:cs typeface="+mn-cs"/>
              </a:rPr>
              <a:t>When the stakes are exceptionally high—a multi-million dollar pitch, a championship match, a public address—the brain focuses on the massive magnitude of the outcome. This causes an </a:t>
            </a:r>
            <a:r>
              <a:rPr lang="en-US" sz="1200" b="1" kern="1200" dirty="0">
                <a:solidFill>
                  <a:schemeClr val="tx1"/>
                </a:solidFill>
                <a:effectLst/>
                <a:latin typeface="+mn-lt"/>
                <a:ea typeface="+mn-ea"/>
                <a:cs typeface="+mn-cs"/>
              </a:rPr>
              <a:t>over-recruitment of neurons across the motor cortex and prefrontal cortex</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Instead of allowing automated, smooth motor programs to run fluidly, the brain over-analyzes every micro-movement. The neural system short-circuits under hyper-arousal, causing the individual to freeze or blunder. </a:t>
            </a:r>
          </a:p>
          <a:p>
            <a:r>
              <a:rPr lang="en-US" sz="1200" b="1" kern="1200" dirty="0">
                <a:solidFill>
                  <a:schemeClr val="tx1"/>
                </a:solidFill>
                <a:effectLst/>
                <a:latin typeface="+mn-lt"/>
                <a:ea typeface="+mn-ea"/>
                <a:cs typeface="+mn-cs"/>
              </a:rPr>
              <a:t>The Fix: "Chop Wood, Carry Water"</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To prevent or break a choke state, you must immediately lower the perceived stakes by shrinking your time horizon: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Do not focus on the 3-year outcome or the grand result.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Shrink your time horizon from 3 years to </a:t>
            </a:r>
            <a:r>
              <a:rPr lang="en-US" sz="1200" b="1" kern="1200" dirty="0">
                <a:solidFill>
                  <a:schemeClr val="tx1"/>
                </a:solidFill>
                <a:effectLst/>
                <a:latin typeface="+mn-lt"/>
                <a:ea typeface="+mn-ea"/>
                <a:cs typeface="+mn-cs"/>
              </a:rPr>
              <a:t>3 minutes</a:t>
            </a:r>
            <a:r>
              <a:rPr lang="en-US" sz="1200" kern="1200" dirty="0">
                <a:solidFill>
                  <a:schemeClr val="tx1"/>
                </a:solidFill>
                <a:effectLst/>
                <a:latin typeface="+mn-lt"/>
                <a:ea typeface="+mn-ea"/>
                <a:cs typeface="+mn-cs"/>
              </a:rPr>
              <a:t>, or even </a:t>
            </a:r>
            <a:r>
              <a:rPr lang="en-US" sz="1200" b="1" kern="1200" dirty="0">
                <a:solidFill>
                  <a:schemeClr val="tx1"/>
                </a:solidFill>
                <a:effectLst/>
                <a:latin typeface="+mn-lt"/>
                <a:ea typeface="+mn-ea"/>
                <a:cs typeface="+mn-cs"/>
              </a:rPr>
              <a:t>3 seconds</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Focus entirely on the immediate, mundane mechanical action in front of you—your next breath, the next slide, the next line of code, or hitting the next ball. </a:t>
            </a:r>
          </a:p>
          <a:p>
            <a:r>
              <a:rPr lang="en-US" sz="1200" kern="1200" dirty="0">
                <a:solidFill>
                  <a:schemeClr val="tx1"/>
                </a:solidFill>
                <a:effectLst/>
                <a:latin typeface="+mn-lt"/>
                <a:ea typeface="+mn-ea"/>
                <a:cs typeface="+mn-cs"/>
              </a:rPr>
              <a:t>By reducing the task to simple mechanical execution, you reduce cortical over-recruitment, allowing your trained skill set to execute automatically. </a:t>
            </a:r>
          </a:p>
          <a:p>
            <a:r>
              <a:rPr lang="en-US" sz="1200" kern="1200" dirty="0">
                <a:solidFill>
                  <a:schemeClr val="tx1"/>
                </a:solidFill>
                <a:effectLst/>
                <a:latin typeface="+mn-lt"/>
                <a:ea typeface="+mn-ea"/>
                <a:cs typeface="+mn-cs"/>
              </a:rPr>
              <a:t>Now, let's address a major cultural misconception regarding where true biological growth happens: Clutch vs. Flow. </a:t>
            </a:r>
          </a:p>
          <a:p>
            <a:endParaRPr lang="en-US" dirty="0"/>
          </a:p>
        </p:txBody>
      </p:sp>
      <p:sp>
        <p:nvSpPr>
          <p:cNvPr id="4" name="Slide Number Placeholder 3"/>
          <p:cNvSpPr>
            <a:spLocks noGrp="1"/>
          </p:cNvSpPr>
          <p:nvPr>
            <p:ph type="sldNum" sz="quarter" idx="5"/>
          </p:nvPr>
        </p:nvSpPr>
        <p:spPr/>
        <p:txBody>
          <a:bodyPr/>
          <a:lstStyle/>
          <a:p>
            <a:fld id="{B905737B-E786-4AC4-932B-96E414BB9EA8}" type="slidenum">
              <a:rPr lang="en-US" smtClean="0"/>
              <a:t>9</a:t>
            </a:fld>
            <a:endParaRPr lang="en-US"/>
          </a:p>
        </p:txBody>
      </p:sp>
    </p:spTree>
    <p:extLst>
      <p:ext uri="{BB962C8B-B14F-4D97-AF65-F5344CB8AC3E}">
        <p14:creationId xmlns:p14="http://schemas.microsoft.com/office/powerpoint/2010/main" val="8278431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10 clarifies a massive misconception in performance psychology regarding </a:t>
            </a:r>
            <a:r>
              <a:rPr lang="en-US" sz="1200" b="1" kern="1200" dirty="0">
                <a:solidFill>
                  <a:schemeClr val="tx1"/>
                </a:solidFill>
                <a:effectLst/>
                <a:latin typeface="+mn-lt"/>
                <a:ea typeface="+mn-ea"/>
                <a:cs typeface="+mn-cs"/>
              </a:rPr>
              <a:t>The Clutch State</a:t>
            </a:r>
            <a:r>
              <a:rPr lang="en-US" sz="1200" kern="1200" dirty="0">
                <a:solidFill>
                  <a:schemeClr val="tx1"/>
                </a:solidFill>
                <a:effectLst/>
                <a:latin typeface="+mn-lt"/>
                <a:ea typeface="+mn-ea"/>
                <a:cs typeface="+mn-cs"/>
              </a:rPr>
              <a:t> versus </a:t>
            </a:r>
            <a:r>
              <a:rPr lang="en-US" sz="1200" b="1" kern="1200" dirty="0">
                <a:solidFill>
                  <a:schemeClr val="tx1"/>
                </a:solidFill>
                <a:effectLst/>
                <a:latin typeface="+mn-lt"/>
                <a:ea typeface="+mn-ea"/>
                <a:cs typeface="+mn-cs"/>
              </a:rPr>
              <a:t>The Flow State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Modern self-help culture is obsessed with "Flow." We are told that elite performance should feel effortless, harmonious, and pleasant. But here is the biological truth: Flow state generates zero new neuroplasticity. </a:t>
            </a:r>
          </a:p>
          <a:p>
            <a:r>
              <a:rPr lang="en-US" sz="1200" kern="1200" dirty="0">
                <a:solidFill>
                  <a:schemeClr val="tx1"/>
                </a:solidFill>
                <a:effectLst/>
                <a:latin typeface="+mn-lt"/>
                <a:ea typeface="+mn-ea"/>
                <a:cs typeface="+mn-cs"/>
              </a:rPr>
              <a:t>Let's look at the distinction:</a:t>
            </a:r>
          </a:p>
          <a:p>
            <a:r>
              <a:rPr lang="en-US" sz="1200" b="1" kern="1200" dirty="0">
                <a:solidFill>
                  <a:schemeClr val="tx1"/>
                </a:solidFill>
                <a:effectLst/>
                <a:latin typeface="+mn-lt"/>
                <a:ea typeface="+mn-ea"/>
                <a:cs typeface="+mn-cs"/>
              </a:rPr>
              <a:t>1. The Flow State:</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Flow is the effortless expression of </a:t>
            </a:r>
            <a:r>
              <a:rPr lang="en-US" sz="1200" i="1" kern="1200" dirty="0">
                <a:solidFill>
                  <a:schemeClr val="tx1"/>
                </a:solidFill>
                <a:effectLst/>
                <a:latin typeface="+mn-lt"/>
                <a:ea typeface="+mn-ea"/>
                <a:cs typeface="+mn-cs"/>
              </a:rPr>
              <a:t>past</a:t>
            </a:r>
            <a:r>
              <a:rPr lang="en-US" sz="1200" kern="1200" dirty="0">
                <a:solidFill>
                  <a:schemeClr val="tx1"/>
                </a:solidFill>
                <a:effectLst/>
                <a:latin typeface="+mn-lt"/>
                <a:ea typeface="+mn-ea"/>
                <a:cs typeface="+mn-cs"/>
              </a:rPr>
              <a:t> mastery. It occurs when you perform a task you have already mastered. It feels incredible and requires minimal conscious effort. However, because there is no friction or frustration, the brain releases no norepinephrine or acetylcholine—meaning no neural pathways are modified. You are not learning or growing when you are in Flow. </a:t>
            </a:r>
          </a:p>
          <a:p>
            <a:r>
              <a:rPr lang="en-US" sz="1200" b="1" kern="1200" dirty="0">
                <a:solidFill>
                  <a:schemeClr val="tx1"/>
                </a:solidFill>
                <a:effectLst/>
                <a:latin typeface="+mn-lt"/>
                <a:ea typeface="+mn-ea"/>
                <a:cs typeface="+mn-cs"/>
              </a:rPr>
              <a:t>2. The Clutch State:</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Clutch state is where true neuroplasticity occurs. It is characterized by forced friction, deliberate effort, intense agitation, and making errors. When you attempt something at the absolute limit of your capability and make mistakes, your brain releases </a:t>
            </a:r>
            <a:r>
              <a:rPr lang="en-US" sz="1200" b="1" kern="1200" dirty="0">
                <a:solidFill>
                  <a:schemeClr val="tx1"/>
                </a:solidFill>
                <a:effectLst/>
                <a:latin typeface="+mn-lt"/>
                <a:ea typeface="+mn-ea"/>
                <a:cs typeface="+mn-cs"/>
              </a:rPr>
              <a:t>norepinephrine</a:t>
            </a:r>
            <a:r>
              <a:rPr lang="en-US" sz="1200" kern="1200" dirty="0">
                <a:solidFill>
                  <a:schemeClr val="tx1"/>
                </a:solidFill>
                <a:effectLst/>
                <a:latin typeface="+mn-lt"/>
                <a:ea typeface="+mn-ea"/>
                <a:cs typeface="+mn-cs"/>
              </a:rPr>
              <a:t> (for alertness) and </a:t>
            </a:r>
            <a:r>
              <a:rPr lang="en-US" sz="1200" b="1" kern="1200" dirty="0">
                <a:solidFill>
                  <a:schemeClr val="tx1"/>
                </a:solidFill>
                <a:effectLst/>
                <a:latin typeface="+mn-lt"/>
                <a:ea typeface="+mn-ea"/>
                <a:cs typeface="+mn-cs"/>
              </a:rPr>
              <a:t>acetylcholine</a:t>
            </a:r>
            <a:r>
              <a:rPr lang="en-US" sz="1200" kern="1200" dirty="0">
                <a:solidFill>
                  <a:schemeClr val="tx1"/>
                </a:solidFill>
                <a:effectLst/>
                <a:latin typeface="+mn-lt"/>
                <a:ea typeface="+mn-ea"/>
                <a:cs typeface="+mn-cs"/>
              </a:rPr>
              <a:t> (to mark specific neural synapses). That feeling of mental frustration and agitation is the literal chemical signal that your nervous system is rewiring itself for growth. </a:t>
            </a:r>
          </a:p>
          <a:p>
            <a:r>
              <a:rPr lang="en-US" sz="1200" kern="1200" dirty="0">
                <a:solidFill>
                  <a:schemeClr val="tx1"/>
                </a:solidFill>
                <a:effectLst/>
                <a:latin typeface="+mn-lt"/>
                <a:ea typeface="+mn-ea"/>
                <a:cs typeface="+mn-cs"/>
              </a:rPr>
              <a:t>High performers spend </a:t>
            </a:r>
            <a:r>
              <a:rPr lang="en-US" sz="1200" b="1" kern="1200" dirty="0">
                <a:solidFill>
                  <a:schemeClr val="tx1"/>
                </a:solidFill>
                <a:effectLst/>
                <a:latin typeface="+mn-lt"/>
                <a:ea typeface="+mn-ea"/>
                <a:cs typeface="+mn-cs"/>
              </a:rPr>
              <a:t>90% of their waking life operating in the Clutch state</a:t>
            </a:r>
            <a:r>
              <a:rPr lang="en-US" sz="1200" kern="1200" dirty="0">
                <a:solidFill>
                  <a:schemeClr val="tx1"/>
                </a:solidFill>
                <a:effectLst/>
                <a:latin typeface="+mn-lt"/>
                <a:ea typeface="+mn-ea"/>
                <a:cs typeface="+mn-cs"/>
              </a:rPr>
              <a:t>—embracing friction and error—so that they can effortlessly execute in Flow during the critical 10%. </a:t>
            </a:r>
          </a:p>
          <a:p>
            <a:r>
              <a:rPr lang="en-US" sz="1200" kern="1200" dirty="0">
                <a:solidFill>
                  <a:schemeClr val="tx1"/>
                </a:solidFill>
                <a:effectLst/>
                <a:latin typeface="+mn-lt"/>
                <a:ea typeface="+mn-ea"/>
                <a:cs typeface="+mn-cs"/>
              </a:rPr>
              <a:t>If you want to build an unbreakable mind, stop avoiding agitation. Agitation is the biological gateway to growth. </a:t>
            </a:r>
          </a:p>
          <a:p>
            <a:endParaRPr lang="en-US" dirty="0"/>
          </a:p>
        </p:txBody>
      </p:sp>
      <p:sp>
        <p:nvSpPr>
          <p:cNvPr id="4" name="Slide Number Placeholder 3"/>
          <p:cNvSpPr>
            <a:spLocks noGrp="1"/>
          </p:cNvSpPr>
          <p:nvPr>
            <p:ph type="sldNum" sz="quarter" idx="5"/>
          </p:nvPr>
        </p:nvSpPr>
        <p:spPr/>
        <p:txBody>
          <a:bodyPr/>
          <a:lstStyle/>
          <a:p>
            <a:fld id="{B905737B-E786-4AC4-932B-96E414BB9EA8}" type="slidenum">
              <a:rPr lang="en-US" smtClean="0"/>
              <a:t>10</a:t>
            </a:fld>
            <a:endParaRPr lang="en-US"/>
          </a:p>
        </p:txBody>
      </p:sp>
    </p:spTree>
    <p:extLst>
      <p:ext uri="{BB962C8B-B14F-4D97-AF65-F5344CB8AC3E}">
        <p14:creationId xmlns:p14="http://schemas.microsoft.com/office/powerpoint/2010/main" val="26653711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11 examines the biological danger of comfort and why elite performers deliberately preserve what Dr. Huberman calls </a:t>
            </a:r>
            <a:r>
              <a:rPr lang="en-US" sz="1200" b="1" kern="1200" dirty="0">
                <a:solidFill>
                  <a:schemeClr val="tx1"/>
                </a:solidFill>
                <a:effectLst/>
                <a:latin typeface="+mn-lt"/>
                <a:ea typeface="+mn-ea"/>
                <a:cs typeface="+mn-cs"/>
              </a:rPr>
              <a:t>The Immigrant Mentality</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The human brain is an efficiency engine governed by </a:t>
            </a:r>
            <a:r>
              <a:rPr lang="en-US" sz="1200" b="1" kern="1200" dirty="0">
                <a:solidFill>
                  <a:schemeClr val="tx1"/>
                </a:solidFill>
                <a:effectLst/>
                <a:latin typeface="+mn-lt"/>
                <a:ea typeface="+mn-ea"/>
                <a:cs typeface="+mn-cs"/>
              </a:rPr>
              <a:t>habituation</a:t>
            </a:r>
            <a:r>
              <a:rPr lang="en-US" sz="1200" kern="1200" dirty="0">
                <a:solidFill>
                  <a:schemeClr val="tx1"/>
                </a:solidFill>
                <a:effectLst/>
                <a:latin typeface="+mn-lt"/>
                <a:ea typeface="+mn-ea"/>
                <a:cs typeface="+mn-cs"/>
              </a:rPr>
              <a:t>. When an environment becomes comfortable, safe, predictable, and abundant, the brain naturally attenuates its dopamine and baseline drive. Without friction, baseline drive drops, capability stagnates, and the nervous system goes soft. You see this pattern constantly: individuals achieve success, settle into comfort, and lose the drive that made them successful in the first place. </a:t>
            </a:r>
          </a:p>
          <a:p>
            <a:r>
              <a:rPr lang="en-US" sz="1200" kern="1200" dirty="0">
                <a:solidFill>
                  <a:schemeClr val="tx1"/>
                </a:solidFill>
                <a:effectLst/>
                <a:latin typeface="+mn-lt"/>
                <a:ea typeface="+mn-ea"/>
                <a:cs typeface="+mn-cs"/>
              </a:rPr>
              <a:t>Look at the graph on Slide 11: as comfort increases, baseline drive and capability naturally decline unless actively counteracted. </a:t>
            </a:r>
          </a:p>
          <a:p>
            <a:r>
              <a:rPr lang="en-US" sz="1200" b="1" kern="1200" dirty="0">
                <a:solidFill>
                  <a:schemeClr val="tx1"/>
                </a:solidFill>
                <a:effectLst/>
                <a:latin typeface="+mn-lt"/>
                <a:ea typeface="+mn-ea"/>
                <a:cs typeface="+mn-cs"/>
              </a:rPr>
              <a:t>The Antidote: Self-Imposed Friction</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To prevent biological habituation, you must deliberately inject voluntary friction into your daily life—emulating "The Immigrant Mentality." </a:t>
            </a:r>
          </a:p>
          <a:p>
            <a:r>
              <a:rPr lang="en-US" sz="1200" kern="1200" dirty="0">
                <a:solidFill>
                  <a:schemeClr val="tx1"/>
                </a:solidFill>
                <a:effectLst/>
                <a:latin typeface="+mn-lt"/>
                <a:ea typeface="+mn-ea"/>
                <a:cs typeface="+mn-cs"/>
              </a:rPr>
              <a:t>This mentality is characterized by a neurological state of constant scanning for opportunity, coupled with an relentless willingness to do hard things. </a:t>
            </a:r>
          </a:p>
          <a:p>
            <a:r>
              <a:rPr lang="en-US" sz="1200" kern="1200" dirty="0">
                <a:solidFill>
                  <a:schemeClr val="tx1"/>
                </a:solidFill>
                <a:effectLst/>
                <a:latin typeface="+mn-lt"/>
                <a:ea typeface="+mn-ea"/>
                <a:cs typeface="+mn-cs"/>
              </a:rPr>
              <a:t>How do you cultivate this mechanically? </a:t>
            </a:r>
          </a:p>
          <a:p>
            <a:pPr lvl="0"/>
            <a:r>
              <a:rPr lang="en-US" sz="1200" kern="1200" dirty="0">
                <a:solidFill>
                  <a:schemeClr val="tx1"/>
                </a:solidFill>
                <a:effectLst/>
                <a:latin typeface="+mn-lt"/>
                <a:ea typeface="+mn-ea"/>
                <a:cs typeface="+mn-cs"/>
              </a:rPr>
              <a:t>Choose the harder path in small daily tasks. </a:t>
            </a:r>
          </a:p>
          <a:p>
            <a:pPr lvl="0"/>
            <a:r>
              <a:rPr lang="en-US" sz="1200" kern="1200" dirty="0">
                <a:solidFill>
                  <a:schemeClr val="tx1"/>
                </a:solidFill>
                <a:effectLst/>
                <a:latin typeface="+mn-lt"/>
                <a:ea typeface="+mn-ea"/>
                <a:cs typeface="+mn-cs"/>
              </a:rPr>
              <a:t>Drive in silence instead of listening to distracting podcasts or music. </a:t>
            </a:r>
          </a:p>
          <a:p>
            <a:pPr lvl="0"/>
            <a:r>
              <a:rPr lang="en-US" sz="1200" kern="1200" dirty="0">
                <a:solidFill>
                  <a:schemeClr val="tx1"/>
                </a:solidFill>
                <a:effectLst/>
                <a:latin typeface="+mn-lt"/>
                <a:ea typeface="+mn-ea"/>
                <a:cs typeface="+mn-cs"/>
              </a:rPr>
              <a:t>Take cold showers or engage in intense physical exertion when you don't feel like it. </a:t>
            </a:r>
          </a:p>
          <a:p>
            <a:pPr lvl="0"/>
            <a:r>
              <a:rPr lang="en-US" sz="1200" kern="1200" dirty="0">
                <a:solidFill>
                  <a:schemeClr val="tx1"/>
                </a:solidFill>
                <a:effectLst/>
                <a:latin typeface="+mn-lt"/>
                <a:ea typeface="+mn-ea"/>
                <a:cs typeface="+mn-cs"/>
              </a:rPr>
              <a:t>Deliberately seek out environments where you are the least experienced person in the room. </a:t>
            </a:r>
          </a:p>
          <a:p>
            <a:r>
              <a:rPr lang="en-US" sz="1200" kern="1200" dirty="0">
                <a:solidFill>
                  <a:schemeClr val="tx1"/>
                </a:solidFill>
                <a:effectLst/>
                <a:latin typeface="+mn-lt"/>
                <a:ea typeface="+mn-ea"/>
                <a:cs typeface="+mn-cs"/>
              </a:rPr>
              <a:t>By deliberately introducing voluntary friction, you keep your neural circuits primed, sharp, and hungry regardless of your level of external success. Let's look at a concrete physical protocol to train this exact circuit. </a:t>
            </a:r>
          </a:p>
          <a:p>
            <a:endParaRPr lang="en-US" dirty="0"/>
          </a:p>
        </p:txBody>
      </p:sp>
      <p:sp>
        <p:nvSpPr>
          <p:cNvPr id="4" name="Slide Number Placeholder 3"/>
          <p:cNvSpPr>
            <a:spLocks noGrp="1"/>
          </p:cNvSpPr>
          <p:nvPr>
            <p:ph type="sldNum" sz="quarter" idx="5"/>
          </p:nvPr>
        </p:nvSpPr>
        <p:spPr/>
        <p:txBody>
          <a:bodyPr/>
          <a:lstStyle/>
          <a:p>
            <a:fld id="{B905737B-E786-4AC4-932B-96E414BB9EA8}" type="slidenum">
              <a:rPr lang="en-US" smtClean="0"/>
              <a:t>11</a:t>
            </a:fld>
            <a:endParaRPr lang="en-US"/>
          </a:p>
        </p:txBody>
      </p:sp>
    </p:spTree>
    <p:extLst>
      <p:ext uri="{BB962C8B-B14F-4D97-AF65-F5344CB8AC3E}">
        <p14:creationId xmlns:p14="http://schemas.microsoft.com/office/powerpoint/2010/main" val="7388943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12 details how to use deliberate cold exposure not for muscle recovery, but as a direct neurobiological gym for building </a:t>
            </a:r>
            <a:r>
              <a:rPr lang="en-US" sz="1200" b="1" kern="1200" dirty="0">
                <a:solidFill>
                  <a:schemeClr val="tx1"/>
                </a:solidFill>
                <a:effectLst/>
                <a:latin typeface="+mn-lt"/>
                <a:ea typeface="+mn-ea"/>
                <a:cs typeface="+mn-cs"/>
              </a:rPr>
              <a:t>unshakable courage and stress resilience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When most people do cold plunges, they focus on physical duration—staying in for 2 minutes or 5 minutes while staring at a timer. This misses the entire psychological benefit. </a:t>
            </a:r>
          </a:p>
          <a:p>
            <a:r>
              <a:rPr lang="en-US" sz="1200" kern="1200" dirty="0">
                <a:solidFill>
                  <a:schemeClr val="tx1"/>
                </a:solidFill>
                <a:effectLst/>
                <a:latin typeface="+mn-lt"/>
                <a:ea typeface="+mn-ea"/>
                <a:cs typeface="+mn-cs"/>
              </a:rPr>
              <a:t>Courage is not built by enduring time; courage is built by deliberately overriding walls of adrenaline. </a:t>
            </a:r>
          </a:p>
          <a:p>
            <a:r>
              <a:rPr lang="en-US" sz="1200" kern="1200" dirty="0">
                <a:solidFill>
                  <a:schemeClr val="tx1"/>
                </a:solidFill>
                <a:effectLst/>
                <a:latin typeface="+mn-lt"/>
                <a:ea typeface="+mn-ea"/>
                <a:cs typeface="+mn-cs"/>
              </a:rPr>
              <a:t>When you step into freezing water, your sympathetic nervous system experiences three distinct biological walls: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Wall 1 (The Hesitation Barrier):</a:t>
            </a:r>
            <a:r>
              <a:rPr lang="en-US" sz="1200" kern="1200" dirty="0">
                <a:solidFill>
                  <a:schemeClr val="tx1"/>
                </a:solidFill>
                <a:effectLst/>
                <a:latin typeface="+mn-lt"/>
                <a:ea typeface="+mn-ea"/>
                <a:cs typeface="+mn-cs"/>
              </a:rPr>
              <a:t> The initial physical friction and mental resistance before entering the water. Pushing past Wall 1 trains the prefrontal cortex to override top-down hesitation.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Wall 2 (The Shock Phase):</a:t>
            </a:r>
            <a:r>
              <a:rPr lang="en-US" sz="1200" kern="1200" dirty="0">
                <a:solidFill>
                  <a:schemeClr val="tx1"/>
                </a:solidFill>
                <a:effectLst/>
                <a:latin typeface="+mn-lt"/>
                <a:ea typeface="+mn-ea"/>
                <a:cs typeface="+mn-cs"/>
              </a:rPr>
              <a:t> Hitting the intense physiological gasp reflex and the urge to panic, quit, and jump out. Choosing to stay calm, control your exhale, and ride out Wall 2 teaches your brain that </a:t>
            </a:r>
            <a:r>
              <a:rPr lang="en-US" sz="1200" i="1" kern="1200" dirty="0">
                <a:solidFill>
                  <a:schemeClr val="tx1"/>
                </a:solidFill>
                <a:effectLst/>
                <a:latin typeface="+mn-lt"/>
                <a:ea typeface="+mn-ea"/>
                <a:cs typeface="+mn-cs"/>
              </a:rPr>
              <a:t>agitation is just a sensation, not an emergency</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Wall 3 (The Second Surge):</a:t>
            </a:r>
            <a:r>
              <a:rPr lang="en-US" sz="1200" kern="1200" dirty="0">
                <a:solidFill>
                  <a:schemeClr val="tx1"/>
                </a:solidFill>
                <a:effectLst/>
                <a:latin typeface="+mn-lt"/>
                <a:ea typeface="+mn-ea"/>
                <a:cs typeface="+mn-cs"/>
              </a:rPr>
              <a:t> Waiting for the second wave of adrenaline to hit 60 seconds later, and choosing to stay for just one moment longer. </a:t>
            </a:r>
          </a:p>
          <a:p>
            <a:r>
              <a:rPr lang="en-US" sz="1200" b="1" kern="1200" dirty="0">
                <a:solidFill>
                  <a:schemeClr val="tx1"/>
                </a:solidFill>
                <a:effectLst/>
                <a:latin typeface="+mn-lt"/>
                <a:ea typeface="+mn-ea"/>
                <a:cs typeface="+mn-cs"/>
              </a:rPr>
              <a:t>The Key Output:</a:t>
            </a:r>
            <a:r>
              <a:rPr lang="en-US" sz="1200" kern="1200" dirty="0">
                <a:solidFill>
                  <a:schemeClr val="tx1"/>
                </a:solidFill>
                <a:effectLst/>
                <a:latin typeface="+mn-lt"/>
                <a:ea typeface="+mn-ea"/>
                <a:cs typeface="+mn-cs"/>
              </a:rPr>
              <a:t> Stop counting time in the cold. Start counting </a:t>
            </a:r>
            <a:r>
              <a:rPr lang="en-US" sz="1200" b="1" kern="1200" dirty="0">
                <a:solidFill>
                  <a:schemeClr val="tx1"/>
                </a:solidFill>
                <a:effectLst/>
                <a:latin typeface="+mn-lt"/>
                <a:ea typeface="+mn-ea"/>
                <a:cs typeface="+mn-cs"/>
              </a:rPr>
              <a:t>"Walls of Adrenaline."</a:t>
            </a:r>
            <a:r>
              <a:rPr lang="en-US" sz="1200" kern="1200" dirty="0">
                <a:solidFill>
                  <a:schemeClr val="tx1"/>
                </a:solidFill>
                <a:effectLst/>
                <a:latin typeface="+mn-lt"/>
                <a:ea typeface="+mn-ea"/>
                <a:cs typeface="+mn-cs"/>
              </a:rPr>
              <a:t> Every time you consciously override a impulse to flee, you expand the size and density of your anterior mid-cingulate cortex (</a:t>
            </a:r>
            <a:r>
              <a:rPr lang="en-US" sz="1200" kern="1200" dirty="0" err="1">
                <a:solidFill>
                  <a:schemeClr val="tx1"/>
                </a:solidFill>
                <a:effectLst/>
                <a:latin typeface="+mn-lt"/>
                <a:ea typeface="+mn-ea"/>
                <a:cs typeface="+mn-cs"/>
              </a:rPr>
              <a:t>aMCC</a:t>
            </a:r>
            <a:r>
              <a:rPr lang="en-US" sz="1200" kern="1200" dirty="0">
                <a:solidFill>
                  <a:schemeClr val="tx1"/>
                </a:solidFill>
                <a:effectLst/>
                <a:latin typeface="+mn-lt"/>
                <a:ea typeface="+mn-ea"/>
                <a:cs typeface="+mn-cs"/>
              </a:rPr>
              <a:t>)—the brain structure responsible for willpower, tenacity, and the drive to live. </a:t>
            </a:r>
          </a:p>
          <a:p>
            <a:r>
              <a:rPr lang="en-US" sz="1200" kern="1200" dirty="0">
                <a:solidFill>
                  <a:schemeClr val="tx1"/>
                </a:solidFill>
                <a:effectLst/>
                <a:latin typeface="+mn-lt"/>
                <a:ea typeface="+mn-ea"/>
                <a:cs typeface="+mn-cs"/>
              </a:rPr>
              <a:t>Now, let's zoom out and look at how to sustain this level of performance across a 10-year decade. </a:t>
            </a:r>
          </a:p>
          <a:p>
            <a:endParaRPr lang="en-US" dirty="0"/>
          </a:p>
        </p:txBody>
      </p:sp>
      <p:sp>
        <p:nvSpPr>
          <p:cNvPr id="4" name="Slide Number Placeholder 3"/>
          <p:cNvSpPr>
            <a:spLocks noGrp="1"/>
          </p:cNvSpPr>
          <p:nvPr>
            <p:ph type="sldNum" sz="quarter" idx="5"/>
          </p:nvPr>
        </p:nvSpPr>
        <p:spPr/>
        <p:txBody>
          <a:bodyPr/>
          <a:lstStyle/>
          <a:p>
            <a:fld id="{B905737B-E786-4AC4-932B-96E414BB9EA8}" type="slidenum">
              <a:rPr lang="en-US" smtClean="0"/>
              <a:t>12</a:t>
            </a:fld>
            <a:endParaRPr lang="en-US"/>
          </a:p>
        </p:txBody>
      </p:sp>
    </p:spTree>
    <p:extLst>
      <p:ext uri="{BB962C8B-B14F-4D97-AF65-F5344CB8AC3E}">
        <p14:creationId xmlns:p14="http://schemas.microsoft.com/office/powerpoint/2010/main" val="24205600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13 outlines the macro timeline required to sustain elite performance across a decade without suffering biological burnout or autoimmune collapse. </a:t>
            </a:r>
          </a:p>
          <a:p>
            <a:r>
              <a:rPr lang="en-US" sz="1200" kern="1200" dirty="0">
                <a:solidFill>
                  <a:schemeClr val="tx1"/>
                </a:solidFill>
                <a:effectLst/>
                <a:latin typeface="+mn-lt"/>
                <a:ea typeface="+mn-ea"/>
                <a:cs typeface="+mn-cs"/>
              </a:rPr>
              <a:t>High performance is a multi-year career trajectory. Dr. Huberman breaks down a 10-year mastery trajectory into three distinct phases: </a:t>
            </a:r>
          </a:p>
          <a:p>
            <a:r>
              <a:rPr lang="en-US" sz="1200" b="1" kern="1200" dirty="0">
                <a:solidFill>
                  <a:schemeClr val="tx1"/>
                </a:solidFill>
                <a:effectLst/>
                <a:latin typeface="+mn-lt"/>
                <a:ea typeface="+mn-ea"/>
                <a:cs typeface="+mn-cs"/>
              </a:rPr>
              <a:t>Years 1–3: The Gas Pedal (Finding the Bound):</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In the early stage of any career or pursuit, your primary goal is to find your absolute biological edge. Work output should be intense, near maximum capacity. The goal here is to discover your ultimate capacity for work and stress tolerance without breaking your health. You learn where your physical wall is located. </a:t>
            </a:r>
          </a:p>
          <a:p>
            <a:r>
              <a:rPr lang="en-US" sz="1200" b="1" kern="1200" dirty="0">
                <a:solidFill>
                  <a:schemeClr val="tx1"/>
                </a:solidFill>
                <a:effectLst/>
                <a:latin typeface="+mn-lt"/>
                <a:ea typeface="+mn-ea"/>
                <a:cs typeface="+mn-cs"/>
              </a:rPr>
              <a:t>Years 4–6: Dynamic Regulation (Establishing Balance):</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Once you know where your wall is, you transition to dynamic regulation. You cannot keep the gas pedal pinned indefinitely without burning out. In this phase, you prioritize sleep architecture, build unshakeable circadian rhythms, prevent chronic inflammation, and master recovery protocols. You learn how to modulate your effort like a seasoned endurance athlete. </a:t>
            </a:r>
          </a:p>
          <a:p>
            <a:r>
              <a:rPr lang="en-US" sz="1200" b="1" kern="1200" dirty="0">
                <a:solidFill>
                  <a:schemeClr val="tx1"/>
                </a:solidFill>
                <a:effectLst/>
                <a:latin typeface="+mn-lt"/>
                <a:ea typeface="+mn-ea"/>
                <a:cs typeface="+mn-cs"/>
              </a:rPr>
              <a:t>Years 7+: The Pro (Mastery + Playfulness):</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In Year 7 and beyond, you achieve total mastery. You operate with extreme efficiency, deep physiological security, and the re-introduction of playfulness and joy into your work. High stakes no longer threaten your identity because your underlying biological foundation is unshakeable. </a:t>
            </a:r>
          </a:p>
          <a:p>
            <a:r>
              <a:rPr lang="en-US" sz="1200" kern="1200" dirty="0">
                <a:solidFill>
                  <a:schemeClr val="tx1"/>
                </a:solidFill>
                <a:effectLst/>
                <a:latin typeface="+mn-lt"/>
                <a:ea typeface="+mn-ea"/>
                <a:cs typeface="+mn-cs"/>
              </a:rPr>
              <a:t>To play the long game, you must respect the timeline and transition consciously through each phase. </a:t>
            </a:r>
          </a:p>
          <a:p>
            <a:endParaRPr lang="en-US" dirty="0"/>
          </a:p>
        </p:txBody>
      </p:sp>
      <p:sp>
        <p:nvSpPr>
          <p:cNvPr id="4" name="Slide Number Placeholder 3"/>
          <p:cNvSpPr>
            <a:spLocks noGrp="1"/>
          </p:cNvSpPr>
          <p:nvPr>
            <p:ph type="sldNum" sz="quarter" idx="5"/>
          </p:nvPr>
        </p:nvSpPr>
        <p:spPr/>
        <p:txBody>
          <a:bodyPr/>
          <a:lstStyle/>
          <a:p>
            <a:fld id="{B905737B-E786-4AC4-932B-96E414BB9EA8}" type="slidenum">
              <a:rPr lang="en-US" smtClean="0"/>
              <a:t>13</a:t>
            </a:fld>
            <a:endParaRPr lang="en-US"/>
          </a:p>
        </p:txBody>
      </p:sp>
    </p:spTree>
    <p:extLst>
      <p:ext uri="{BB962C8B-B14F-4D97-AF65-F5344CB8AC3E}">
        <p14:creationId xmlns:p14="http://schemas.microsoft.com/office/powerpoint/2010/main" val="13316138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14 synthesizes the entire masterclass into a single, unified framework: </a:t>
            </a:r>
            <a:r>
              <a:rPr lang="en-US" sz="1200" b="1" kern="1200" dirty="0">
                <a:solidFill>
                  <a:schemeClr val="tx1"/>
                </a:solidFill>
                <a:effectLst/>
                <a:latin typeface="+mn-lt"/>
                <a:ea typeface="+mn-ea"/>
                <a:cs typeface="+mn-cs"/>
              </a:rPr>
              <a:t>The Dual Engine of Elite Performance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Look at the infinity loop on this slide. You cannot win the long game by operating on only one side of this equation: </a:t>
            </a:r>
          </a:p>
          <a:p>
            <a:pPr lvl="0"/>
            <a:r>
              <a:rPr lang="en-US" sz="1200" b="1" kern="1200" dirty="0">
                <a:solidFill>
                  <a:schemeClr val="tx1"/>
                </a:solidFill>
                <a:effectLst/>
                <a:latin typeface="+mn-lt"/>
                <a:ea typeface="+mn-ea"/>
                <a:cs typeface="+mn-cs"/>
              </a:rPr>
              <a:t>Engine 1: THE CLUTCH (High Activation):</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This is intense, deliberate, friction-heavy output. It involves seeking out errors, pushing beyond comfort zones, deploying high morning cortisol, and driving hard toward goals. This engine generates progress, skill acquisition, and market dominance. </a:t>
            </a:r>
          </a:p>
          <a:p>
            <a:pPr lvl="0"/>
            <a:r>
              <a:rPr lang="en-US" sz="1200" b="1" kern="1200" dirty="0">
                <a:solidFill>
                  <a:schemeClr val="tx1"/>
                </a:solidFill>
                <a:effectLst/>
                <a:latin typeface="+mn-lt"/>
                <a:ea typeface="+mn-ea"/>
                <a:cs typeface="+mn-cs"/>
              </a:rPr>
              <a:t>Engine 2: THE REST (Profound Deactivation):</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This is ruthless, dedicated biological rest. It involves NSDR protocols, 10-breath autonomic braking, dimming evening lights, and achieving deep REM and slow-wave sleep. This engine restores cellular health, consolidates memory, and rebuilds neurotransmitters. </a:t>
            </a:r>
          </a:p>
          <a:p>
            <a:r>
              <a:rPr lang="en-US" sz="1200" b="1" kern="1200" dirty="0">
                <a:solidFill>
                  <a:schemeClr val="tx1"/>
                </a:solidFill>
                <a:effectLst/>
                <a:latin typeface="+mn-lt"/>
                <a:ea typeface="+mn-ea"/>
                <a:cs typeface="+mn-cs"/>
              </a:rPr>
              <a:t>The Core Takeaway:</a:t>
            </a:r>
            <a:r>
              <a:rPr lang="en-US" sz="1200" kern="1200" dirty="0">
                <a:solidFill>
                  <a:schemeClr val="tx1"/>
                </a:solidFill>
                <a:effectLst/>
                <a:latin typeface="+mn-lt"/>
                <a:ea typeface="+mn-ea"/>
                <a:cs typeface="+mn-cs"/>
              </a:rPr>
              <a:t> As you become more competent and successful in your field, your work creates a deeper inroad into your biological energy reserves. You are building a bigger, more powerful engine. </a:t>
            </a:r>
          </a:p>
          <a:p>
            <a:r>
              <a:rPr lang="en-US" sz="1200" kern="1200" dirty="0">
                <a:solidFill>
                  <a:schemeClr val="tx1"/>
                </a:solidFill>
                <a:effectLst/>
                <a:latin typeface="+mn-lt"/>
                <a:ea typeface="+mn-ea"/>
                <a:cs typeface="+mn-cs"/>
              </a:rPr>
              <a:t>If you take yourself seriously as a professional, you must take yourself seriously enough to learn how to turn your engine OFF completely. </a:t>
            </a:r>
          </a:p>
          <a:p>
            <a:r>
              <a:rPr lang="en-US" sz="1200" kern="1200" dirty="0">
                <a:solidFill>
                  <a:schemeClr val="tx1"/>
                </a:solidFill>
                <a:effectLst/>
                <a:latin typeface="+mn-lt"/>
                <a:ea typeface="+mn-ea"/>
                <a:cs typeface="+mn-cs"/>
              </a:rPr>
              <a:t>Mastering activation without mastering deactivation is a recipe for burn-out. Mastering deactivation without activation is a recipe for stagnation. Elite resilience is the seamless, daily oscillation between both. </a:t>
            </a:r>
          </a:p>
          <a:p>
            <a:endParaRPr lang="en-US" dirty="0"/>
          </a:p>
        </p:txBody>
      </p:sp>
      <p:sp>
        <p:nvSpPr>
          <p:cNvPr id="4" name="Slide Number Placeholder 3"/>
          <p:cNvSpPr>
            <a:spLocks noGrp="1"/>
          </p:cNvSpPr>
          <p:nvPr>
            <p:ph type="sldNum" sz="quarter" idx="5"/>
          </p:nvPr>
        </p:nvSpPr>
        <p:spPr/>
        <p:txBody>
          <a:bodyPr/>
          <a:lstStyle/>
          <a:p>
            <a:fld id="{B905737B-E786-4AC4-932B-96E414BB9EA8}" type="slidenum">
              <a:rPr lang="en-US" smtClean="0"/>
              <a:t>14</a:t>
            </a:fld>
            <a:endParaRPr lang="en-US"/>
          </a:p>
        </p:txBody>
      </p:sp>
    </p:spTree>
    <p:extLst>
      <p:ext uri="{BB962C8B-B14F-4D97-AF65-F5344CB8AC3E}">
        <p14:creationId xmlns:p14="http://schemas.microsoft.com/office/powerpoint/2010/main" val="42858486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15 serves as your operational blueprint—a quick-reference action summary of the core daily protocols covered in this playbook. </a:t>
            </a:r>
          </a:p>
          <a:p>
            <a:r>
              <a:rPr lang="en-US" sz="1200" kern="1200" dirty="0">
                <a:solidFill>
                  <a:schemeClr val="tx1"/>
                </a:solidFill>
                <a:effectLst/>
                <a:latin typeface="+mn-lt"/>
                <a:ea typeface="+mn-ea"/>
                <a:cs typeface="+mn-cs"/>
              </a:rPr>
              <a:t>Let's review the daily rhythm: </a:t>
            </a:r>
          </a:p>
          <a:p>
            <a:pPr marL="228600" lvl="0" indent="-228600">
              <a:buFont typeface="+mj-lt"/>
              <a:buAutoNum type="arabicPeriod"/>
            </a:pPr>
            <a:r>
              <a:rPr lang="en-US" sz="1200" b="1" kern="1200" dirty="0">
                <a:solidFill>
                  <a:schemeClr val="tx1"/>
                </a:solidFill>
                <a:effectLst/>
                <a:latin typeface="+mn-lt"/>
                <a:ea typeface="+mn-ea"/>
                <a:cs typeface="+mn-cs"/>
              </a:rPr>
              <a:t>Morning Light (First 30–60 Min):</a:t>
            </a:r>
            <a:r>
              <a:rPr lang="en-US" sz="1200" kern="1200" dirty="0">
                <a:solidFill>
                  <a:schemeClr val="tx1"/>
                </a:solidFill>
                <a:effectLst/>
                <a:latin typeface="+mn-lt"/>
                <a:ea typeface="+mn-ea"/>
                <a:cs typeface="+mn-cs"/>
              </a:rPr>
              <a:t> Get 5 to 10 minutes of direct outdoor sunlight to spike morning cortisol by up to 50%, setting your alertness, mood, and circadian clock for the day. </a:t>
            </a:r>
          </a:p>
          <a:p>
            <a:pPr marL="228600" lvl="0" indent="-228600">
              <a:buFont typeface="+mj-lt"/>
              <a:buAutoNum type="arabicPeriod"/>
            </a:pPr>
            <a:r>
              <a:rPr lang="en-US" sz="1200" b="1" kern="1200" dirty="0">
                <a:solidFill>
                  <a:schemeClr val="tx1"/>
                </a:solidFill>
                <a:effectLst/>
                <a:latin typeface="+mn-lt"/>
                <a:ea typeface="+mn-ea"/>
                <a:cs typeface="+mn-cs"/>
              </a:rPr>
              <a:t>Evening Light Control:</a:t>
            </a:r>
            <a:r>
              <a:rPr lang="en-US" sz="1200" kern="1200" dirty="0">
                <a:solidFill>
                  <a:schemeClr val="tx1"/>
                </a:solidFill>
                <a:effectLst/>
                <a:latin typeface="+mn-lt"/>
                <a:ea typeface="+mn-ea"/>
                <a:cs typeface="+mn-cs"/>
              </a:rPr>
              <a:t> In the final hour before bed, dim all overhead lights to keep cortisol low and allow melatonin to surge naturally. </a:t>
            </a:r>
          </a:p>
          <a:p>
            <a:pPr marL="228600" lvl="0" indent="-228600">
              <a:buFont typeface="+mj-lt"/>
              <a:buAutoNum type="arabicPeriod"/>
            </a:pPr>
            <a:r>
              <a:rPr lang="en-US" sz="1200" b="1" kern="1200" dirty="0">
                <a:solidFill>
                  <a:schemeClr val="tx1"/>
                </a:solidFill>
                <a:effectLst/>
                <a:latin typeface="+mn-lt"/>
                <a:ea typeface="+mn-ea"/>
                <a:cs typeface="+mn-cs"/>
              </a:rPr>
              <a:t>Master the Clutch State:</a:t>
            </a:r>
            <a:r>
              <a:rPr lang="en-US" sz="1200" kern="1200" dirty="0">
                <a:solidFill>
                  <a:schemeClr val="tx1"/>
                </a:solidFill>
                <a:effectLst/>
                <a:latin typeface="+mn-lt"/>
                <a:ea typeface="+mn-ea"/>
                <a:cs typeface="+mn-cs"/>
              </a:rPr>
              <a:t> Embrace daily cognitive friction and agitation as the required chemical signal for neuroplasticity and growth. </a:t>
            </a:r>
          </a:p>
          <a:p>
            <a:pPr marL="228600" lvl="0" indent="-228600">
              <a:buFont typeface="+mj-lt"/>
              <a:buAutoNum type="arabicPeriod"/>
            </a:pPr>
            <a:r>
              <a:rPr lang="en-US" sz="1200" b="1" kern="1200" dirty="0">
                <a:solidFill>
                  <a:schemeClr val="tx1"/>
                </a:solidFill>
                <a:effectLst/>
                <a:latin typeface="+mn-lt"/>
                <a:ea typeface="+mn-ea"/>
                <a:cs typeface="+mn-cs"/>
              </a:rPr>
              <a:t>Midday Reset (NSDR):</a:t>
            </a:r>
            <a:r>
              <a:rPr lang="en-US" sz="1200" kern="1200" dirty="0">
                <a:solidFill>
                  <a:schemeClr val="tx1"/>
                </a:solidFill>
                <a:effectLst/>
                <a:latin typeface="+mn-lt"/>
                <a:ea typeface="+mn-ea"/>
                <a:cs typeface="+mn-cs"/>
              </a:rPr>
              <a:t> Practice 10 to 30 minutes of Non-Sleep Deep Rest to disengage the prefrontal cortex, reduce strain, and restore cognitive energy. </a:t>
            </a:r>
          </a:p>
          <a:p>
            <a:pPr marL="228600" lvl="0" indent="-228600">
              <a:buFont typeface="+mj-lt"/>
              <a:buAutoNum type="arabicPeriod"/>
            </a:pPr>
            <a:r>
              <a:rPr lang="en-US" sz="1200" b="1" kern="1200" dirty="0">
                <a:solidFill>
                  <a:schemeClr val="tx1"/>
                </a:solidFill>
                <a:effectLst/>
                <a:latin typeface="+mn-lt"/>
                <a:ea typeface="+mn-ea"/>
                <a:cs typeface="+mn-cs"/>
              </a:rPr>
              <a:t>Nighttime Sleep Hack:</a:t>
            </a:r>
            <a:r>
              <a:rPr lang="en-US" sz="1200" kern="1200" dirty="0">
                <a:solidFill>
                  <a:schemeClr val="tx1"/>
                </a:solidFill>
                <a:effectLst/>
                <a:latin typeface="+mn-lt"/>
                <a:ea typeface="+mn-ea"/>
                <a:cs typeface="+mn-cs"/>
              </a:rPr>
              <a:t> If waking at 3 AM with a racing mind, execute the proprioceptive eye tracking sequence (Left-Right, Counter-Clockwise, Clockwise, Nose Focus) to disrupt spatial tracking and fall back asleep rapidly. </a:t>
            </a:r>
          </a:p>
          <a:p>
            <a:r>
              <a:rPr lang="en-US" sz="1200" kern="1200" dirty="0">
                <a:solidFill>
                  <a:schemeClr val="tx1"/>
                </a:solidFill>
                <a:effectLst/>
                <a:latin typeface="+mn-lt"/>
                <a:ea typeface="+mn-ea"/>
                <a:cs typeface="+mn-cs"/>
              </a:rPr>
              <a:t>Print this reference sheet, place it where you see it daily, and turn these science-backed behaviors into automatic habits. </a:t>
            </a:r>
          </a:p>
          <a:p>
            <a:endParaRPr lang="en-US" dirty="0"/>
          </a:p>
        </p:txBody>
      </p:sp>
      <p:sp>
        <p:nvSpPr>
          <p:cNvPr id="4" name="Slide Number Placeholder 3"/>
          <p:cNvSpPr>
            <a:spLocks noGrp="1"/>
          </p:cNvSpPr>
          <p:nvPr>
            <p:ph type="sldNum" sz="quarter" idx="5"/>
          </p:nvPr>
        </p:nvSpPr>
        <p:spPr/>
        <p:txBody>
          <a:bodyPr/>
          <a:lstStyle/>
          <a:p>
            <a:fld id="{B905737B-E786-4AC4-932B-96E414BB9EA8}" type="slidenum">
              <a:rPr lang="en-US" smtClean="0"/>
              <a:t>15</a:t>
            </a:fld>
            <a:endParaRPr lang="en-US"/>
          </a:p>
        </p:txBody>
      </p:sp>
    </p:spTree>
    <p:extLst>
      <p:ext uri="{BB962C8B-B14F-4D97-AF65-F5344CB8AC3E}">
        <p14:creationId xmlns:p14="http://schemas.microsoft.com/office/powerpoint/2010/main" val="22328291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Speaker Notes:</a:t>
            </a:r>
            <a:r>
              <a:rPr lang="en-US" sz="1200" kern="1200" dirty="0">
                <a:solidFill>
                  <a:schemeClr val="tx1"/>
                </a:solidFill>
                <a:effectLst/>
                <a:latin typeface="+mn-lt"/>
                <a:ea typeface="+mn-ea"/>
                <a:cs typeface="+mn-cs"/>
              </a:rPr>
              <a:t> To conclude our masterclass today, let's review the overarching message of Dr. Andrew Huberman's resilience framework. </a:t>
            </a:r>
          </a:p>
          <a:p>
            <a:r>
              <a:rPr lang="en-US" sz="1200" kern="1200" dirty="0">
                <a:solidFill>
                  <a:schemeClr val="tx1"/>
                </a:solidFill>
                <a:effectLst/>
                <a:latin typeface="+mn-lt"/>
                <a:ea typeface="+mn-ea"/>
                <a:cs typeface="+mn-cs"/>
              </a:rPr>
              <a:t>Mindset is not an abstract concept that you read about in a book or chant in a affirmation. Your mindset is the downstream reflection of your underlying neurobiology, hormone timing, and autonomic state. </a:t>
            </a:r>
          </a:p>
          <a:p>
            <a:r>
              <a:rPr lang="en-US" sz="1200" kern="1200" dirty="0">
                <a:solidFill>
                  <a:schemeClr val="tx1"/>
                </a:solidFill>
                <a:effectLst/>
                <a:latin typeface="+mn-lt"/>
                <a:ea typeface="+mn-ea"/>
                <a:cs typeface="+mn-cs"/>
              </a:rPr>
              <a:t>When you master your morning light, respect your evening dimming, embrace friction in the Clutch state, and enforce complete deactivation through deliberate rest, you stop being at the mercy of stress. Stress becomes fuel. Agitation becomes growth. Hardship becomes generative action. </a:t>
            </a:r>
          </a:p>
          <a:p>
            <a:r>
              <a:rPr lang="en-US" sz="1200" kern="1200" dirty="0">
                <a:solidFill>
                  <a:schemeClr val="tx1"/>
                </a:solidFill>
                <a:effectLst/>
                <a:latin typeface="+mn-lt"/>
                <a:ea typeface="+mn-ea"/>
                <a:cs typeface="+mn-cs"/>
              </a:rPr>
              <a:t>You become adaptable, unshakeable, and impossible to stop—in short, you become </a:t>
            </a:r>
            <a:r>
              <a:rPr lang="en-US" sz="1200" b="1" kern="1200" dirty="0">
                <a:solidFill>
                  <a:schemeClr val="tx1"/>
                </a:solidFill>
                <a:effectLst/>
                <a:latin typeface="+mn-lt"/>
                <a:ea typeface="+mn-ea"/>
                <a:cs typeface="+mn-cs"/>
              </a:rPr>
              <a:t>mentally dangerous</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Take these protocols, test them in your daily life, measure your results, and share this playbook with those in your network who are striving for elite performance. </a:t>
            </a:r>
          </a:p>
          <a:p>
            <a:r>
              <a:rPr lang="en-US" sz="1200" kern="1200" dirty="0">
                <a:solidFill>
                  <a:schemeClr val="tx1"/>
                </a:solidFill>
                <a:effectLst/>
                <a:latin typeface="+mn-lt"/>
                <a:ea typeface="+mn-ea"/>
                <a:cs typeface="+mn-cs"/>
              </a:rPr>
              <a:t>Thank you for your time and focus today. I am happy to open the floor to any questions.</a:t>
            </a:r>
          </a:p>
          <a:p>
            <a:endParaRPr lang="en-US" dirty="0"/>
          </a:p>
        </p:txBody>
      </p:sp>
      <p:sp>
        <p:nvSpPr>
          <p:cNvPr id="4" name="Slide Number Placeholder 3"/>
          <p:cNvSpPr>
            <a:spLocks noGrp="1"/>
          </p:cNvSpPr>
          <p:nvPr>
            <p:ph type="sldNum" sz="quarter" idx="5"/>
          </p:nvPr>
        </p:nvSpPr>
        <p:spPr/>
        <p:txBody>
          <a:bodyPr/>
          <a:lstStyle/>
          <a:p>
            <a:fld id="{B905737B-E786-4AC4-932B-96E414BB9EA8}" type="slidenum">
              <a:rPr lang="en-US" smtClean="0"/>
              <a:t>16</a:t>
            </a:fld>
            <a:endParaRPr lang="en-US"/>
          </a:p>
        </p:txBody>
      </p:sp>
    </p:spTree>
    <p:extLst>
      <p:ext uri="{BB962C8B-B14F-4D97-AF65-F5344CB8AC3E}">
        <p14:creationId xmlns:p14="http://schemas.microsoft.com/office/powerpoint/2010/main" val="27852801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2A4B4-0E90-537A-6959-0EE259355CB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25087C4-7EF4-A82D-6035-FE758C82F13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6CA880B-94A7-94EE-A70A-C3DAB19F1175}"/>
              </a:ext>
            </a:extLst>
          </p:cNvPr>
          <p:cNvSpPr>
            <a:spLocks noGrp="1"/>
          </p:cNvSpPr>
          <p:nvPr>
            <p:ph type="dt" sz="half" idx="10"/>
          </p:nvPr>
        </p:nvSpPr>
        <p:spPr/>
        <p:txBody>
          <a:bodyPr/>
          <a:lstStyle/>
          <a:p>
            <a:fld id="{33E9C334-0460-410D-ABA5-61CF74229248}" type="datetimeFigureOut">
              <a:rPr lang="en-US" smtClean="0"/>
              <a:t>10/20/2026</a:t>
            </a:fld>
            <a:endParaRPr lang="en-US"/>
          </a:p>
        </p:txBody>
      </p:sp>
      <p:sp>
        <p:nvSpPr>
          <p:cNvPr id="5" name="Footer Placeholder 4">
            <a:extLst>
              <a:ext uri="{FF2B5EF4-FFF2-40B4-BE49-F238E27FC236}">
                <a16:creationId xmlns:a16="http://schemas.microsoft.com/office/drawing/2014/main" id="{2A046E2D-5122-D264-AB8A-1AD7CB6CA7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C32C88-EBBE-4C79-1367-35D84B9A3588}"/>
              </a:ext>
            </a:extLst>
          </p:cNvPr>
          <p:cNvSpPr>
            <a:spLocks noGrp="1"/>
          </p:cNvSpPr>
          <p:nvPr>
            <p:ph type="sldNum" sz="quarter" idx="12"/>
          </p:nvPr>
        </p:nvSpPr>
        <p:spPr/>
        <p:txBody>
          <a:bodyPr/>
          <a:lstStyle/>
          <a:p>
            <a:fld id="{B197AEDB-8A3A-438B-B785-E74C9E0DA158}" type="slidenum">
              <a:rPr lang="en-US" smtClean="0"/>
              <a:t>‹#›</a:t>
            </a:fld>
            <a:endParaRPr lang="en-US"/>
          </a:p>
        </p:txBody>
      </p:sp>
    </p:spTree>
    <p:extLst>
      <p:ext uri="{BB962C8B-B14F-4D97-AF65-F5344CB8AC3E}">
        <p14:creationId xmlns:p14="http://schemas.microsoft.com/office/powerpoint/2010/main" val="10673416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A4576-8A24-F3EA-050A-C907E32C76C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85EB249-F93A-8A6E-8F81-16B308C4747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819383-D5E4-54EE-3FC2-BEB7EFF4EA25}"/>
              </a:ext>
            </a:extLst>
          </p:cNvPr>
          <p:cNvSpPr>
            <a:spLocks noGrp="1"/>
          </p:cNvSpPr>
          <p:nvPr>
            <p:ph type="dt" sz="half" idx="10"/>
          </p:nvPr>
        </p:nvSpPr>
        <p:spPr/>
        <p:txBody>
          <a:bodyPr/>
          <a:lstStyle/>
          <a:p>
            <a:fld id="{33E9C334-0460-410D-ABA5-61CF74229248}" type="datetimeFigureOut">
              <a:rPr lang="en-US" smtClean="0"/>
              <a:t>10/20/2026</a:t>
            </a:fld>
            <a:endParaRPr lang="en-US"/>
          </a:p>
        </p:txBody>
      </p:sp>
      <p:sp>
        <p:nvSpPr>
          <p:cNvPr id="5" name="Footer Placeholder 4">
            <a:extLst>
              <a:ext uri="{FF2B5EF4-FFF2-40B4-BE49-F238E27FC236}">
                <a16:creationId xmlns:a16="http://schemas.microsoft.com/office/drawing/2014/main" id="{12A62F3A-BD13-DC5E-3127-5603DA9D48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C3A6C-C841-34AD-8516-455F7B8C4E04}"/>
              </a:ext>
            </a:extLst>
          </p:cNvPr>
          <p:cNvSpPr>
            <a:spLocks noGrp="1"/>
          </p:cNvSpPr>
          <p:nvPr>
            <p:ph type="sldNum" sz="quarter" idx="12"/>
          </p:nvPr>
        </p:nvSpPr>
        <p:spPr/>
        <p:txBody>
          <a:bodyPr/>
          <a:lstStyle/>
          <a:p>
            <a:fld id="{B197AEDB-8A3A-438B-B785-E74C9E0DA158}" type="slidenum">
              <a:rPr lang="en-US" smtClean="0"/>
              <a:t>‹#›</a:t>
            </a:fld>
            <a:endParaRPr lang="en-US"/>
          </a:p>
        </p:txBody>
      </p:sp>
    </p:spTree>
    <p:extLst>
      <p:ext uri="{BB962C8B-B14F-4D97-AF65-F5344CB8AC3E}">
        <p14:creationId xmlns:p14="http://schemas.microsoft.com/office/powerpoint/2010/main" val="38415317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68BBF-656A-71B7-840E-42904835376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AB91570-6C90-CC7D-00F6-5EC1A42EAD6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FEBACA9-FB9A-1B03-DE00-551BC2534FF6}"/>
              </a:ext>
            </a:extLst>
          </p:cNvPr>
          <p:cNvSpPr>
            <a:spLocks noGrp="1"/>
          </p:cNvSpPr>
          <p:nvPr>
            <p:ph type="dt" sz="half" idx="10"/>
          </p:nvPr>
        </p:nvSpPr>
        <p:spPr/>
        <p:txBody>
          <a:bodyPr/>
          <a:lstStyle/>
          <a:p>
            <a:fld id="{33E9C334-0460-410D-ABA5-61CF74229248}" type="datetimeFigureOut">
              <a:rPr lang="en-US" smtClean="0"/>
              <a:t>10/20/2026</a:t>
            </a:fld>
            <a:endParaRPr lang="en-US"/>
          </a:p>
        </p:txBody>
      </p:sp>
      <p:sp>
        <p:nvSpPr>
          <p:cNvPr id="5" name="Footer Placeholder 4">
            <a:extLst>
              <a:ext uri="{FF2B5EF4-FFF2-40B4-BE49-F238E27FC236}">
                <a16:creationId xmlns:a16="http://schemas.microsoft.com/office/drawing/2014/main" id="{22FFB5F1-361E-0A89-7C8C-5447EAF6AF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0BD5F0-94A8-EE08-E968-174F77753381}"/>
              </a:ext>
            </a:extLst>
          </p:cNvPr>
          <p:cNvSpPr>
            <a:spLocks noGrp="1"/>
          </p:cNvSpPr>
          <p:nvPr>
            <p:ph type="sldNum" sz="quarter" idx="12"/>
          </p:nvPr>
        </p:nvSpPr>
        <p:spPr/>
        <p:txBody>
          <a:bodyPr/>
          <a:lstStyle/>
          <a:p>
            <a:fld id="{B197AEDB-8A3A-438B-B785-E74C9E0DA158}" type="slidenum">
              <a:rPr lang="en-US" smtClean="0"/>
              <a:t>‹#›</a:t>
            </a:fld>
            <a:endParaRPr lang="en-US"/>
          </a:p>
        </p:txBody>
      </p:sp>
    </p:spTree>
    <p:extLst>
      <p:ext uri="{BB962C8B-B14F-4D97-AF65-F5344CB8AC3E}">
        <p14:creationId xmlns:p14="http://schemas.microsoft.com/office/powerpoint/2010/main" val="2526422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50271-445F-D969-88AF-FF9990364E9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A6F836F-E3B4-D3A0-1B93-B46770ADBA2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DCB8A0-7EE8-B411-5E81-70BE6B69086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A2578BC-0D35-5AEA-73FC-67D60EF15D5A}"/>
              </a:ext>
            </a:extLst>
          </p:cNvPr>
          <p:cNvSpPr>
            <a:spLocks noGrp="1"/>
          </p:cNvSpPr>
          <p:nvPr>
            <p:ph type="dt" sz="half" idx="10"/>
          </p:nvPr>
        </p:nvSpPr>
        <p:spPr/>
        <p:txBody>
          <a:bodyPr/>
          <a:lstStyle/>
          <a:p>
            <a:fld id="{33E9C334-0460-410D-ABA5-61CF74229248}" type="datetimeFigureOut">
              <a:rPr lang="en-US" smtClean="0"/>
              <a:t>10/20/2026</a:t>
            </a:fld>
            <a:endParaRPr lang="en-US"/>
          </a:p>
        </p:txBody>
      </p:sp>
      <p:sp>
        <p:nvSpPr>
          <p:cNvPr id="6" name="Footer Placeholder 5">
            <a:extLst>
              <a:ext uri="{FF2B5EF4-FFF2-40B4-BE49-F238E27FC236}">
                <a16:creationId xmlns:a16="http://schemas.microsoft.com/office/drawing/2014/main" id="{58B0046C-3F23-9AFF-66A1-0D3A0F24E35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90D13F4-4C36-9940-AD03-2D4E558DBFF7}"/>
              </a:ext>
            </a:extLst>
          </p:cNvPr>
          <p:cNvSpPr>
            <a:spLocks noGrp="1"/>
          </p:cNvSpPr>
          <p:nvPr>
            <p:ph type="sldNum" sz="quarter" idx="12"/>
          </p:nvPr>
        </p:nvSpPr>
        <p:spPr/>
        <p:txBody>
          <a:bodyPr/>
          <a:lstStyle/>
          <a:p>
            <a:fld id="{B197AEDB-8A3A-438B-B785-E74C9E0DA158}" type="slidenum">
              <a:rPr lang="en-US" smtClean="0"/>
              <a:t>‹#›</a:t>
            </a:fld>
            <a:endParaRPr lang="en-US"/>
          </a:p>
        </p:txBody>
      </p:sp>
    </p:spTree>
    <p:extLst>
      <p:ext uri="{BB962C8B-B14F-4D97-AF65-F5344CB8AC3E}">
        <p14:creationId xmlns:p14="http://schemas.microsoft.com/office/powerpoint/2010/main" val="38113478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E1ACA-F00C-4622-7908-988F6C71F7D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26ED0D5-FC92-8017-ADBD-7C1609EED9F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13D4BF-B94F-ADC4-1134-E5FED845477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B156560-9E17-9AD2-DA1D-CD69D58C1AB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49BC3A4-3A6B-852E-C76B-B9367E582F7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524F7D8-850C-0BB5-BF89-7B5363EBF921}"/>
              </a:ext>
            </a:extLst>
          </p:cNvPr>
          <p:cNvSpPr>
            <a:spLocks noGrp="1"/>
          </p:cNvSpPr>
          <p:nvPr>
            <p:ph type="dt" sz="half" idx="10"/>
          </p:nvPr>
        </p:nvSpPr>
        <p:spPr/>
        <p:txBody>
          <a:bodyPr/>
          <a:lstStyle/>
          <a:p>
            <a:fld id="{33E9C334-0460-410D-ABA5-61CF74229248}" type="datetimeFigureOut">
              <a:rPr lang="en-US" smtClean="0"/>
              <a:t>10/20/2026</a:t>
            </a:fld>
            <a:endParaRPr lang="en-US"/>
          </a:p>
        </p:txBody>
      </p:sp>
      <p:sp>
        <p:nvSpPr>
          <p:cNvPr id="8" name="Footer Placeholder 7">
            <a:extLst>
              <a:ext uri="{FF2B5EF4-FFF2-40B4-BE49-F238E27FC236}">
                <a16:creationId xmlns:a16="http://schemas.microsoft.com/office/drawing/2014/main" id="{C04ED987-0464-B234-2A15-D285F8291FD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F90213E-A09A-7F5E-0A29-254CC3A69A15}"/>
              </a:ext>
            </a:extLst>
          </p:cNvPr>
          <p:cNvSpPr>
            <a:spLocks noGrp="1"/>
          </p:cNvSpPr>
          <p:nvPr>
            <p:ph type="sldNum" sz="quarter" idx="12"/>
          </p:nvPr>
        </p:nvSpPr>
        <p:spPr/>
        <p:txBody>
          <a:bodyPr/>
          <a:lstStyle/>
          <a:p>
            <a:fld id="{B197AEDB-8A3A-438B-B785-E74C9E0DA158}" type="slidenum">
              <a:rPr lang="en-US" smtClean="0"/>
              <a:t>‹#›</a:t>
            </a:fld>
            <a:endParaRPr lang="en-US"/>
          </a:p>
        </p:txBody>
      </p:sp>
    </p:spTree>
    <p:extLst>
      <p:ext uri="{BB962C8B-B14F-4D97-AF65-F5344CB8AC3E}">
        <p14:creationId xmlns:p14="http://schemas.microsoft.com/office/powerpoint/2010/main" val="7808212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C386D-904A-BCB5-644E-480B4C6DF50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3A85394-E95E-0F2A-7709-0A089B479D34}"/>
              </a:ext>
            </a:extLst>
          </p:cNvPr>
          <p:cNvSpPr>
            <a:spLocks noGrp="1"/>
          </p:cNvSpPr>
          <p:nvPr>
            <p:ph type="dt" sz="half" idx="10"/>
          </p:nvPr>
        </p:nvSpPr>
        <p:spPr/>
        <p:txBody>
          <a:bodyPr/>
          <a:lstStyle/>
          <a:p>
            <a:fld id="{33E9C334-0460-410D-ABA5-61CF74229248}" type="datetimeFigureOut">
              <a:rPr lang="en-US" smtClean="0"/>
              <a:t>10/20/2026</a:t>
            </a:fld>
            <a:endParaRPr lang="en-US"/>
          </a:p>
        </p:txBody>
      </p:sp>
      <p:sp>
        <p:nvSpPr>
          <p:cNvPr id="4" name="Footer Placeholder 3">
            <a:extLst>
              <a:ext uri="{FF2B5EF4-FFF2-40B4-BE49-F238E27FC236}">
                <a16:creationId xmlns:a16="http://schemas.microsoft.com/office/drawing/2014/main" id="{3A3C937C-6A8C-21CE-B370-E52BE0E2AB0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5D025D0-6DEB-7FE2-AF38-F3ADD24829EC}"/>
              </a:ext>
            </a:extLst>
          </p:cNvPr>
          <p:cNvSpPr>
            <a:spLocks noGrp="1"/>
          </p:cNvSpPr>
          <p:nvPr>
            <p:ph type="sldNum" sz="quarter" idx="12"/>
          </p:nvPr>
        </p:nvSpPr>
        <p:spPr/>
        <p:txBody>
          <a:bodyPr/>
          <a:lstStyle/>
          <a:p>
            <a:fld id="{B197AEDB-8A3A-438B-B785-E74C9E0DA158}" type="slidenum">
              <a:rPr lang="en-US" smtClean="0"/>
              <a:t>‹#›</a:t>
            </a:fld>
            <a:endParaRPr lang="en-US"/>
          </a:p>
        </p:txBody>
      </p:sp>
    </p:spTree>
    <p:extLst>
      <p:ext uri="{BB962C8B-B14F-4D97-AF65-F5344CB8AC3E}">
        <p14:creationId xmlns:p14="http://schemas.microsoft.com/office/powerpoint/2010/main" val="36357616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85622A-51BF-DBF9-2E00-984EB39DFB21}"/>
              </a:ext>
            </a:extLst>
          </p:cNvPr>
          <p:cNvSpPr>
            <a:spLocks noGrp="1"/>
          </p:cNvSpPr>
          <p:nvPr>
            <p:ph type="dt" sz="half" idx="10"/>
          </p:nvPr>
        </p:nvSpPr>
        <p:spPr/>
        <p:txBody>
          <a:bodyPr/>
          <a:lstStyle/>
          <a:p>
            <a:fld id="{33E9C334-0460-410D-ABA5-61CF74229248}" type="datetimeFigureOut">
              <a:rPr lang="en-US" smtClean="0"/>
              <a:t>10/20/2026</a:t>
            </a:fld>
            <a:endParaRPr lang="en-US"/>
          </a:p>
        </p:txBody>
      </p:sp>
      <p:sp>
        <p:nvSpPr>
          <p:cNvPr id="3" name="Footer Placeholder 2">
            <a:extLst>
              <a:ext uri="{FF2B5EF4-FFF2-40B4-BE49-F238E27FC236}">
                <a16:creationId xmlns:a16="http://schemas.microsoft.com/office/drawing/2014/main" id="{F6C3DE26-145A-AC0C-94CD-535FC07E531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CF34470-CE07-C42B-CB44-85CFA9B0EC18}"/>
              </a:ext>
            </a:extLst>
          </p:cNvPr>
          <p:cNvSpPr>
            <a:spLocks noGrp="1"/>
          </p:cNvSpPr>
          <p:nvPr>
            <p:ph type="sldNum" sz="quarter" idx="12"/>
          </p:nvPr>
        </p:nvSpPr>
        <p:spPr/>
        <p:txBody>
          <a:bodyPr/>
          <a:lstStyle/>
          <a:p>
            <a:fld id="{B197AEDB-8A3A-438B-B785-E74C9E0DA158}" type="slidenum">
              <a:rPr lang="en-US" smtClean="0"/>
              <a:t>‹#›</a:t>
            </a:fld>
            <a:endParaRPr lang="en-US"/>
          </a:p>
        </p:txBody>
      </p:sp>
    </p:spTree>
    <p:extLst>
      <p:ext uri="{BB962C8B-B14F-4D97-AF65-F5344CB8AC3E}">
        <p14:creationId xmlns:p14="http://schemas.microsoft.com/office/powerpoint/2010/main" val="16196491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F20EE-FE5C-94BB-789F-1C0B10637D4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6C48A06-7246-5D15-63C9-A0AF3EC5E26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861F5C8-3B48-FDB3-BA8D-0AFBDED49E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DCE391-F114-A2B1-CA3D-A420B7091159}"/>
              </a:ext>
            </a:extLst>
          </p:cNvPr>
          <p:cNvSpPr>
            <a:spLocks noGrp="1"/>
          </p:cNvSpPr>
          <p:nvPr>
            <p:ph type="dt" sz="half" idx="10"/>
          </p:nvPr>
        </p:nvSpPr>
        <p:spPr/>
        <p:txBody>
          <a:bodyPr/>
          <a:lstStyle/>
          <a:p>
            <a:fld id="{33E9C334-0460-410D-ABA5-61CF74229248}" type="datetimeFigureOut">
              <a:rPr lang="en-US" smtClean="0"/>
              <a:t>10/20/2026</a:t>
            </a:fld>
            <a:endParaRPr lang="en-US"/>
          </a:p>
        </p:txBody>
      </p:sp>
      <p:sp>
        <p:nvSpPr>
          <p:cNvPr id="6" name="Footer Placeholder 5">
            <a:extLst>
              <a:ext uri="{FF2B5EF4-FFF2-40B4-BE49-F238E27FC236}">
                <a16:creationId xmlns:a16="http://schemas.microsoft.com/office/drawing/2014/main" id="{31247E40-DD3E-1095-17D1-5CD418D742C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65C58B-CC81-F9C7-A10A-DA949FDC9957}"/>
              </a:ext>
            </a:extLst>
          </p:cNvPr>
          <p:cNvSpPr>
            <a:spLocks noGrp="1"/>
          </p:cNvSpPr>
          <p:nvPr>
            <p:ph type="sldNum" sz="quarter" idx="12"/>
          </p:nvPr>
        </p:nvSpPr>
        <p:spPr/>
        <p:txBody>
          <a:bodyPr/>
          <a:lstStyle/>
          <a:p>
            <a:fld id="{B197AEDB-8A3A-438B-B785-E74C9E0DA158}" type="slidenum">
              <a:rPr lang="en-US" smtClean="0"/>
              <a:t>‹#›</a:t>
            </a:fld>
            <a:endParaRPr lang="en-US"/>
          </a:p>
        </p:txBody>
      </p:sp>
    </p:spTree>
    <p:extLst>
      <p:ext uri="{BB962C8B-B14F-4D97-AF65-F5344CB8AC3E}">
        <p14:creationId xmlns:p14="http://schemas.microsoft.com/office/powerpoint/2010/main" val="21028997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7218C-21FA-3D29-DB6C-A4D8544E45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B315EFD-C639-13E3-E2C6-B5EF147DE45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E8A46B4-D094-1295-DF7E-DD090B3FA4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96E664-ADEC-E128-240E-C184147A4B82}"/>
              </a:ext>
            </a:extLst>
          </p:cNvPr>
          <p:cNvSpPr>
            <a:spLocks noGrp="1"/>
          </p:cNvSpPr>
          <p:nvPr>
            <p:ph type="dt" sz="half" idx="10"/>
          </p:nvPr>
        </p:nvSpPr>
        <p:spPr/>
        <p:txBody>
          <a:bodyPr/>
          <a:lstStyle/>
          <a:p>
            <a:fld id="{33E9C334-0460-410D-ABA5-61CF74229248}" type="datetimeFigureOut">
              <a:rPr lang="en-US" smtClean="0"/>
              <a:t>10/20/2026</a:t>
            </a:fld>
            <a:endParaRPr lang="en-US"/>
          </a:p>
        </p:txBody>
      </p:sp>
      <p:sp>
        <p:nvSpPr>
          <p:cNvPr id="6" name="Footer Placeholder 5">
            <a:extLst>
              <a:ext uri="{FF2B5EF4-FFF2-40B4-BE49-F238E27FC236}">
                <a16:creationId xmlns:a16="http://schemas.microsoft.com/office/drawing/2014/main" id="{E7C7A638-9E01-87F0-61D1-5385ECA80F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14DA6C2-D177-6A85-F4F7-B48D0A7CCF05}"/>
              </a:ext>
            </a:extLst>
          </p:cNvPr>
          <p:cNvSpPr>
            <a:spLocks noGrp="1"/>
          </p:cNvSpPr>
          <p:nvPr>
            <p:ph type="sldNum" sz="quarter" idx="12"/>
          </p:nvPr>
        </p:nvSpPr>
        <p:spPr/>
        <p:txBody>
          <a:bodyPr/>
          <a:lstStyle/>
          <a:p>
            <a:fld id="{B197AEDB-8A3A-438B-B785-E74C9E0DA158}" type="slidenum">
              <a:rPr lang="en-US" smtClean="0"/>
              <a:t>‹#›</a:t>
            </a:fld>
            <a:endParaRPr lang="en-US"/>
          </a:p>
        </p:txBody>
      </p:sp>
    </p:spTree>
    <p:extLst>
      <p:ext uri="{BB962C8B-B14F-4D97-AF65-F5344CB8AC3E}">
        <p14:creationId xmlns:p14="http://schemas.microsoft.com/office/powerpoint/2010/main" val="28009281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FD957-67C2-7DF2-B8EC-FFE86F6D1F1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756250F-9501-91B6-B6EC-C6D0469FE61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15426A-3877-35D8-81B7-B81026AD5363}"/>
              </a:ext>
            </a:extLst>
          </p:cNvPr>
          <p:cNvSpPr>
            <a:spLocks noGrp="1"/>
          </p:cNvSpPr>
          <p:nvPr>
            <p:ph type="dt" sz="half" idx="10"/>
          </p:nvPr>
        </p:nvSpPr>
        <p:spPr/>
        <p:txBody>
          <a:bodyPr/>
          <a:lstStyle/>
          <a:p>
            <a:fld id="{33E9C334-0460-410D-ABA5-61CF74229248}" type="datetimeFigureOut">
              <a:rPr lang="en-US" smtClean="0"/>
              <a:t>10/20/2026</a:t>
            </a:fld>
            <a:endParaRPr lang="en-US"/>
          </a:p>
        </p:txBody>
      </p:sp>
      <p:sp>
        <p:nvSpPr>
          <p:cNvPr id="5" name="Footer Placeholder 4">
            <a:extLst>
              <a:ext uri="{FF2B5EF4-FFF2-40B4-BE49-F238E27FC236}">
                <a16:creationId xmlns:a16="http://schemas.microsoft.com/office/drawing/2014/main" id="{87CDFC52-FE54-EF86-5576-707311104A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A1012F-D7B7-194F-35B5-A8C217A9CDE4}"/>
              </a:ext>
            </a:extLst>
          </p:cNvPr>
          <p:cNvSpPr>
            <a:spLocks noGrp="1"/>
          </p:cNvSpPr>
          <p:nvPr>
            <p:ph type="sldNum" sz="quarter" idx="12"/>
          </p:nvPr>
        </p:nvSpPr>
        <p:spPr/>
        <p:txBody>
          <a:bodyPr/>
          <a:lstStyle/>
          <a:p>
            <a:fld id="{B197AEDB-8A3A-438B-B785-E74C9E0DA158}" type="slidenum">
              <a:rPr lang="en-US" smtClean="0"/>
              <a:t>‹#›</a:t>
            </a:fld>
            <a:endParaRPr lang="en-US"/>
          </a:p>
        </p:txBody>
      </p:sp>
    </p:spTree>
    <p:extLst>
      <p:ext uri="{BB962C8B-B14F-4D97-AF65-F5344CB8AC3E}">
        <p14:creationId xmlns:p14="http://schemas.microsoft.com/office/powerpoint/2010/main" val="17413094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71F9DDB-0A6D-77C1-6341-134E9D65961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711F741-BACA-8B26-B61C-33D45733D85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A4CE85E-B96C-26E5-3694-EEA101E426EE}"/>
              </a:ext>
            </a:extLst>
          </p:cNvPr>
          <p:cNvSpPr>
            <a:spLocks noGrp="1"/>
          </p:cNvSpPr>
          <p:nvPr>
            <p:ph type="dt" sz="half" idx="10"/>
          </p:nvPr>
        </p:nvSpPr>
        <p:spPr/>
        <p:txBody>
          <a:bodyPr/>
          <a:lstStyle/>
          <a:p>
            <a:fld id="{33E9C334-0460-410D-ABA5-61CF74229248}" type="datetimeFigureOut">
              <a:rPr lang="en-US" smtClean="0"/>
              <a:t>10/20/2026</a:t>
            </a:fld>
            <a:endParaRPr lang="en-US"/>
          </a:p>
        </p:txBody>
      </p:sp>
      <p:sp>
        <p:nvSpPr>
          <p:cNvPr id="5" name="Footer Placeholder 4">
            <a:extLst>
              <a:ext uri="{FF2B5EF4-FFF2-40B4-BE49-F238E27FC236}">
                <a16:creationId xmlns:a16="http://schemas.microsoft.com/office/drawing/2014/main" id="{482C0AEE-C11A-292E-0139-55972F80C8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9AD5DA-FD8E-235B-9C48-32B7031F8FCA}"/>
              </a:ext>
            </a:extLst>
          </p:cNvPr>
          <p:cNvSpPr>
            <a:spLocks noGrp="1"/>
          </p:cNvSpPr>
          <p:nvPr>
            <p:ph type="sldNum" sz="quarter" idx="12"/>
          </p:nvPr>
        </p:nvSpPr>
        <p:spPr/>
        <p:txBody>
          <a:bodyPr/>
          <a:lstStyle/>
          <a:p>
            <a:fld id="{B197AEDB-8A3A-438B-B785-E74C9E0DA158}" type="slidenum">
              <a:rPr lang="en-US" smtClean="0"/>
              <a:t>‹#›</a:t>
            </a:fld>
            <a:endParaRPr lang="en-US"/>
          </a:p>
        </p:txBody>
      </p:sp>
    </p:spTree>
    <p:extLst>
      <p:ext uri="{BB962C8B-B14F-4D97-AF65-F5344CB8AC3E}">
        <p14:creationId xmlns:p14="http://schemas.microsoft.com/office/powerpoint/2010/main" val="703768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C69EF8-B6BD-8578-BE94-AB6A241F554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36167DD-E318-8E0E-B503-444C47A73DB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3208E0-93A5-BF6D-1514-CA6B209832C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3E9C334-0460-410D-ABA5-61CF74229248}" type="datetimeFigureOut">
              <a:rPr lang="en-US" smtClean="0"/>
              <a:t>10/20/2026</a:t>
            </a:fld>
            <a:endParaRPr lang="en-US"/>
          </a:p>
        </p:txBody>
      </p:sp>
      <p:sp>
        <p:nvSpPr>
          <p:cNvPr id="5" name="Footer Placeholder 4">
            <a:extLst>
              <a:ext uri="{FF2B5EF4-FFF2-40B4-BE49-F238E27FC236}">
                <a16:creationId xmlns:a16="http://schemas.microsoft.com/office/drawing/2014/main" id="{E7E13EE7-25FD-58F5-3867-93C5ECB9234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615C530-568A-5717-1173-D2DB709F75A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197AEDB-8A3A-438B-B785-E74C9E0DA158}" type="slidenum">
              <a:rPr lang="en-US" smtClean="0"/>
              <a:t>‹#›</a:t>
            </a:fld>
            <a:endParaRPr lang="en-US"/>
          </a:p>
        </p:txBody>
      </p:sp>
    </p:spTree>
    <p:extLst>
      <p:ext uri="{BB962C8B-B14F-4D97-AF65-F5344CB8AC3E}">
        <p14:creationId xmlns:p14="http://schemas.microsoft.com/office/powerpoint/2010/main" val="32321214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09B1E1A-E5EF-1581-9788-6612AD950B9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07E3997-396A-16BD-D6E0-C46B4837B7D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D49CFEE-8A4D-593F-FD12-A80626B61D1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978AD65-559A-6971-0D14-3BCFADFB0A8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4967F26-7DD3-A1AF-15E0-E658E426FCD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03C346A-FF4C-42D5-A1FB-63668040C92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6A97263-FD2C-F1D2-8658-45FFF170E2D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CE579D2-7599-9001-8169-E871F543C76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0F963AB-7A2B-5AEA-A35E-D48F240A754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E2803B9-68AE-DAB6-76D1-FAD65FC0D39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AD3E927-A161-061B-ADAE-99DCB13F131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2082D9A-D0B1-BBF6-F7A5-D20F2C219AD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029AAA6-8B11-A2C5-F1E9-CCE2A3F0309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1E071EA-5107-7B3D-AAE1-D5617792108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1B8293E-CB89-D7A0-0D79-66EEECE7083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E119C91-58CF-497C-D37D-07C247B910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581"/>
            <a:ext cx="12192000" cy="6804837"/>
          </a:xfrm>
          <a:prstGeom prst="rect">
            <a:avLst/>
          </a:prstGeom>
        </p:spPr>
      </p:pic>
    </p:spTree>
    <p:extLst>
      <p:ext uri="{BB962C8B-B14F-4D97-AF65-F5344CB8AC3E}">
        <p14:creationId xmlns:p14="http://schemas.microsoft.com/office/powerpoint/2010/main" val="4524383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4376</Words>
  <Application>Microsoft Office PowerPoint</Application>
  <PresentationFormat>寬螢幕</PresentationFormat>
  <Paragraphs>158</Paragraphs>
  <Slides>16</Slides>
  <Notes>16</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16</vt:i4>
      </vt:variant>
    </vt:vector>
  </HeadingPairs>
  <TitlesOfParts>
    <vt:vector size="20"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2026-09-12T13:24:53Z</dcterms:created>
  <dcterms:modified xsi:type="dcterms:W3CDTF">2026-10-20T13:31:41Z</dcterms:modified>
</cp:coreProperties>
</file>