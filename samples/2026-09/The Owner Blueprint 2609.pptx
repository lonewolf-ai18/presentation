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15666F-AE69-455E-88DE-A0E2EAC276EA}" v="19" dt="2026-09-11T14:37:37.7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4" autoAdjust="0"/>
    <p:restoredTop sz="90741" autoAdjust="0"/>
  </p:normalViewPr>
  <p:slideViewPr>
    <p:cSldViewPr snapToGrid="0">
      <p:cViewPr varScale="1">
        <p:scale>
          <a:sx n="73" d="100"/>
          <a:sy n="73" d="100"/>
        </p:scale>
        <p:origin x="84"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9-11T14:37:49.886" v="49" actId="166"/>
      <pc:docMkLst>
        <pc:docMk/>
      </pc:docMkLst>
      <pc:sldChg chg="addSp delSp modSp mod modNotesTx">
        <pc:chgData name="Lai, Wilson" userId="2840974a-0d84-4886-90a9-9a3ed79f3a48" providerId="ADAL" clId="{9F23B798-9E84-4552-BA63-E776E805C424}" dt="2026-09-11T14:37:49.886" v="49" actId="166"/>
        <pc:sldMkLst>
          <pc:docMk/>
          <pc:sldMk cId="0" sldId="257"/>
        </pc:sldMkLst>
        <pc:picChg chg="del">
          <ac:chgData name="Lai, Wilson" userId="2840974a-0d84-4886-90a9-9a3ed79f3a48" providerId="ADAL" clId="{9F23B798-9E84-4552-BA63-E776E805C424}" dt="2026-09-11T07:59:40.660" v="0" actId="21"/>
          <ac:picMkLst>
            <pc:docMk/>
            <pc:sldMk cId="0" sldId="257"/>
            <ac:picMk id="2" creationId="{00000000-0000-0000-0000-000000000000}"/>
          </ac:picMkLst>
        </pc:picChg>
        <pc:picChg chg="add ord">
          <ac:chgData name="Lai, Wilson" userId="2840974a-0d84-4886-90a9-9a3ed79f3a48" providerId="ADAL" clId="{9F23B798-9E84-4552-BA63-E776E805C424}" dt="2026-09-11T14:37:49.886" v="49" actId="166"/>
          <ac:picMkLst>
            <pc:docMk/>
            <pc:sldMk cId="0" sldId="257"/>
            <ac:picMk id="7" creationId="{7CD2D475-3FFF-610E-A644-0A29BF14C086}"/>
          </ac:picMkLst>
        </pc:picChg>
      </pc:sldChg>
      <pc:sldChg chg="addSp delSp mod modNotesTx">
        <pc:chgData name="Lai, Wilson" userId="2840974a-0d84-4886-90a9-9a3ed79f3a48" providerId="ADAL" clId="{9F23B798-9E84-4552-BA63-E776E805C424}" dt="2026-09-11T14:34:49.402" v="36" actId="14"/>
        <pc:sldMkLst>
          <pc:docMk/>
          <pc:sldMk cId="0" sldId="258"/>
        </pc:sldMkLst>
        <pc:picChg chg="del">
          <ac:chgData name="Lai, Wilson" userId="2840974a-0d84-4886-90a9-9a3ed79f3a48" providerId="ADAL" clId="{9F23B798-9E84-4552-BA63-E776E805C424}" dt="2026-09-11T08:00:03.529" v="2" actId="21"/>
          <ac:picMkLst>
            <pc:docMk/>
            <pc:sldMk cId="0" sldId="258"/>
            <ac:picMk id="2" creationId="{00000000-0000-0000-0000-000000000000}"/>
          </ac:picMkLst>
        </pc:picChg>
        <pc:picChg chg="add">
          <ac:chgData name="Lai, Wilson" userId="2840974a-0d84-4886-90a9-9a3ed79f3a48" providerId="ADAL" clId="{9F23B798-9E84-4552-BA63-E776E805C424}" dt="2026-09-11T08:00:15.060" v="3" actId="22"/>
          <ac:picMkLst>
            <pc:docMk/>
            <pc:sldMk cId="0" sldId="258"/>
            <ac:picMk id="4" creationId="{579B514D-E22B-7E9A-732F-CBB6C0BF6E7C}"/>
          </ac:picMkLst>
        </pc:picChg>
      </pc:sldChg>
      <pc:sldChg chg="addSp delSp mod modNotes modNotesTx">
        <pc:chgData name="Lai, Wilson" userId="2840974a-0d84-4886-90a9-9a3ed79f3a48" providerId="ADAL" clId="{9F23B798-9E84-4552-BA63-E776E805C424}" dt="2026-09-11T14:37:37.787" v="47"/>
        <pc:sldMkLst>
          <pc:docMk/>
          <pc:sldMk cId="0" sldId="259"/>
        </pc:sldMkLst>
        <pc:picChg chg="del">
          <ac:chgData name="Lai, Wilson" userId="2840974a-0d84-4886-90a9-9a3ed79f3a48" providerId="ADAL" clId="{9F23B798-9E84-4552-BA63-E776E805C424}" dt="2026-09-11T08:00:16.779" v="4" actId="21"/>
          <ac:picMkLst>
            <pc:docMk/>
            <pc:sldMk cId="0" sldId="259"/>
            <ac:picMk id="2" creationId="{00000000-0000-0000-0000-000000000000}"/>
          </ac:picMkLst>
        </pc:picChg>
        <pc:picChg chg="add">
          <ac:chgData name="Lai, Wilson" userId="2840974a-0d84-4886-90a9-9a3ed79f3a48" providerId="ADAL" clId="{9F23B798-9E84-4552-BA63-E776E805C424}" dt="2026-09-11T08:00:25.974" v="5" actId="22"/>
          <ac:picMkLst>
            <pc:docMk/>
            <pc:sldMk cId="0" sldId="259"/>
            <ac:picMk id="4" creationId="{84551DCE-B3A5-5D8A-F9F9-7CBBACE4AF94}"/>
          </ac:picMkLst>
        </pc:picChg>
      </pc:sldChg>
      <pc:sldChg chg="addSp delSp mod modNotes">
        <pc:chgData name="Lai, Wilson" userId="2840974a-0d84-4886-90a9-9a3ed79f3a48" providerId="ADAL" clId="{9F23B798-9E84-4552-BA63-E776E805C424}" dt="2026-09-11T14:37:37.787" v="47"/>
        <pc:sldMkLst>
          <pc:docMk/>
          <pc:sldMk cId="0" sldId="260"/>
        </pc:sldMkLst>
        <pc:picChg chg="del">
          <ac:chgData name="Lai, Wilson" userId="2840974a-0d84-4886-90a9-9a3ed79f3a48" providerId="ADAL" clId="{9F23B798-9E84-4552-BA63-E776E805C424}" dt="2026-09-11T08:00:27.599" v="6" actId="21"/>
          <ac:picMkLst>
            <pc:docMk/>
            <pc:sldMk cId="0" sldId="260"/>
            <ac:picMk id="2" creationId="{00000000-0000-0000-0000-000000000000}"/>
          </ac:picMkLst>
        </pc:picChg>
        <pc:picChg chg="add">
          <ac:chgData name="Lai, Wilson" userId="2840974a-0d84-4886-90a9-9a3ed79f3a48" providerId="ADAL" clId="{9F23B798-9E84-4552-BA63-E776E805C424}" dt="2026-09-11T08:00:35.039" v="7" actId="22"/>
          <ac:picMkLst>
            <pc:docMk/>
            <pc:sldMk cId="0" sldId="260"/>
            <ac:picMk id="4" creationId="{ACF3F66A-48ED-CCC1-CBBC-3985D66FE540}"/>
          </ac:picMkLst>
        </pc:picChg>
      </pc:sldChg>
      <pc:sldChg chg="addSp delSp mod modNotes">
        <pc:chgData name="Lai, Wilson" userId="2840974a-0d84-4886-90a9-9a3ed79f3a48" providerId="ADAL" clId="{9F23B798-9E84-4552-BA63-E776E805C424}" dt="2026-09-11T14:37:37.787" v="47"/>
        <pc:sldMkLst>
          <pc:docMk/>
          <pc:sldMk cId="0" sldId="261"/>
        </pc:sldMkLst>
        <pc:picChg chg="del">
          <ac:chgData name="Lai, Wilson" userId="2840974a-0d84-4886-90a9-9a3ed79f3a48" providerId="ADAL" clId="{9F23B798-9E84-4552-BA63-E776E805C424}" dt="2026-09-11T08:00:36.552" v="8" actId="21"/>
          <ac:picMkLst>
            <pc:docMk/>
            <pc:sldMk cId="0" sldId="261"/>
            <ac:picMk id="2" creationId="{00000000-0000-0000-0000-000000000000}"/>
          </ac:picMkLst>
        </pc:picChg>
        <pc:picChg chg="add">
          <ac:chgData name="Lai, Wilson" userId="2840974a-0d84-4886-90a9-9a3ed79f3a48" providerId="ADAL" clId="{9F23B798-9E84-4552-BA63-E776E805C424}" dt="2026-09-11T08:00:44.332" v="9" actId="22"/>
          <ac:picMkLst>
            <pc:docMk/>
            <pc:sldMk cId="0" sldId="261"/>
            <ac:picMk id="4" creationId="{1D42CEAA-51E1-B111-F7A4-F89170BA86B5}"/>
          </ac:picMkLst>
        </pc:picChg>
      </pc:sldChg>
      <pc:sldChg chg="addSp delSp mod modNotes modNotesTx">
        <pc:chgData name="Lai, Wilson" userId="2840974a-0d84-4886-90a9-9a3ed79f3a48" providerId="ADAL" clId="{9F23B798-9E84-4552-BA63-E776E805C424}" dt="2026-09-11T14:37:37.787" v="47"/>
        <pc:sldMkLst>
          <pc:docMk/>
          <pc:sldMk cId="0" sldId="262"/>
        </pc:sldMkLst>
        <pc:picChg chg="del">
          <ac:chgData name="Lai, Wilson" userId="2840974a-0d84-4886-90a9-9a3ed79f3a48" providerId="ADAL" clId="{9F23B798-9E84-4552-BA63-E776E805C424}" dt="2026-09-11T08:00:46.300" v="10" actId="21"/>
          <ac:picMkLst>
            <pc:docMk/>
            <pc:sldMk cId="0" sldId="262"/>
            <ac:picMk id="2" creationId="{00000000-0000-0000-0000-000000000000}"/>
          </ac:picMkLst>
        </pc:picChg>
        <pc:picChg chg="add">
          <ac:chgData name="Lai, Wilson" userId="2840974a-0d84-4886-90a9-9a3ed79f3a48" providerId="ADAL" clId="{9F23B798-9E84-4552-BA63-E776E805C424}" dt="2026-09-11T08:00:54.458" v="11" actId="22"/>
          <ac:picMkLst>
            <pc:docMk/>
            <pc:sldMk cId="0" sldId="262"/>
            <ac:picMk id="4" creationId="{20F57D2C-A180-029F-FC69-4FF672AA2A10}"/>
          </ac:picMkLst>
        </pc:picChg>
      </pc:sldChg>
      <pc:sldChg chg="addSp delSp mod modNotes">
        <pc:chgData name="Lai, Wilson" userId="2840974a-0d84-4886-90a9-9a3ed79f3a48" providerId="ADAL" clId="{9F23B798-9E84-4552-BA63-E776E805C424}" dt="2026-09-11T14:37:37.787" v="47"/>
        <pc:sldMkLst>
          <pc:docMk/>
          <pc:sldMk cId="0" sldId="263"/>
        </pc:sldMkLst>
        <pc:picChg chg="del">
          <ac:chgData name="Lai, Wilson" userId="2840974a-0d84-4886-90a9-9a3ed79f3a48" providerId="ADAL" clId="{9F23B798-9E84-4552-BA63-E776E805C424}" dt="2026-09-11T08:00:55.988" v="12" actId="21"/>
          <ac:picMkLst>
            <pc:docMk/>
            <pc:sldMk cId="0" sldId="263"/>
            <ac:picMk id="2" creationId="{00000000-0000-0000-0000-000000000000}"/>
          </ac:picMkLst>
        </pc:picChg>
        <pc:picChg chg="add">
          <ac:chgData name="Lai, Wilson" userId="2840974a-0d84-4886-90a9-9a3ed79f3a48" providerId="ADAL" clId="{9F23B798-9E84-4552-BA63-E776E805C424}" dt="2026-09-11T08:01:06.692" v="13" actId="22"/>
          <ac:picMkLst>
            <pc:docMk/>
            <pc:sldMk cId="0" sldId="263"/>
            <ac:picMk id="4" creationId="{549806F2-2EC7-814C-41EE-018B18E419AC}"/>
          </ac:picMkLst>
        </pc:picChg>
      </pc:sldChg>
      <pc:sldChg chg="addSp delSp mod modNotesTx">
        <pc:chgData name="Lai, Wilson" userId="2840974a-0d84-4886-90a9-9a3ed79f3a48" providerId="ADAL" clId="{9F23B798-9E84-4552-BA63-E776E805C424}" dt="2026-09-11T14:36:03.314" v="44" actId="14"/>
        <pc:sldMkLst>
          <pc:docMk/>
          <pc:sldMk cId="0" sldId="264"/>
        </pc:sldMkLst>
        <pc:picChg chg="del">
          <ac:chgData name="Lai, Wilson" userId="2840974a-0d84-4886-90a9-9a3ed79f3a48" providerId="ADAL" clId="{9F23B798-9E84-4552-BA63-E776E805C424}" dt="2026-09-11T08:01:08.663" v="14" actId="21"/>
          <ac:picMkLst>
            <pc:docMk/>
            <pc:sldMk cId="0" sldId="264"/>
            <ac:picMk id="2" creationId="{00000000-0000-0000-0000-000000000000}"/>
          </ac:picMkLst>
        </pc:picChg>
        <pc:picChg chg="add">
          <ac:chgData name="Lai, Wilson" userId="2840974a-0d84-4886-90a9-9a3ed79f3a48" providerId="ADAL" clId="{9F23B798-9E84-4552-BA63-E776E805C424}" dt="2026-09-11T08:01:19.802" v="15" actId="22"/>
          <ac:picMkLst>
            <pc:docMk/>
            <pc:sldMk cId="0" sldId="264"/>
            <ac:picMk id="4" creationId="{47277132-1683-6757-0F97-552C35414E89}"/>
          </ac:picMkLst>
        </pc:picChg>
      </pc:sldChg>
      <pc:sldChg chg="addSp delSp mod">
        <pc:chgData name="Lai, Wilson" userId="2840974a-0d84-4886-90a9-9a3ed79f3a48" providerId="ADAL" clId="{9F23B798-9E84-4552-BA63-E776E805C424}" dt="2026-09-11T08:01:55.749" v="17" actId="22"/>
        <pc:sldMkLst>
          <pc:docMk/>
          <pc:sldMk cId="0" sldId="265"/>
        </pc:sldMkLst>
        <pc:picChg chg="del">
          <ac:chgData name="Lai, Wilson" userId="2840974a-0d84-4886-90a9-9a3ed79f3a48" providerId="ADAL" clId="{9F23B798-9E84-4552-BA63-E776E805C424}" dt="2026-09-11T08:01:28.347" v="16" actId="21"/>
          <ac:picMkLst>
            <pc:docMk/>
            <pc:sldMk cId="0" sldId="265"/>
            <ac:picMk id="2" creationId="{00000000-0000-0000-0000-000000000000}"/>
          </ac:picMkLst>
        </pc:picChg>
        <pc:picChg chg="add">
          <ac:chgData name="Lai, Wilson" userId="2840974a-0d84-4886-90a9-9a3ed79f3a48" providerId="ADAL" clId="{9F23B798-9E84-4552-BA63-E776E805C424}" dt="2026-09-11T08:01:55.749" v="17" actId="22"/>
          <ac:picMkLst>
            <pc:docMk/>
            <pc:sldMk cId="0" sldId="265"/>
            <ac:picMk id="4" creationId="{62B1FE64-BBB5-0987-892D-D7F5278A16B5}"/>
          </ac:picMkLst>
        </pc:picChg>
      </pc:sldChg>
      <pc:sldChg chg="addSp delSp mod">
        <pc:chgData name="Lai, Wilson" userId="2840974a-0d84-4886-90a9-9a3ed79f3a48" providerId="ADAL" clId="{9F23B798-9E84-4552-BA63-E776E805C424}" dt="2026-09-11T08:02:08.533" v="19" actId="22"/>
        <pc:sldMkLst>
          <pc:docMk/>
          <pc:sldMk cId="0" sldId="266"/>
        </pc:sldMkLst>
        <pc:picChg chg="del">
          <ac:chgData name="Lai, Wilson" userId="2840974a-0d84-4886-90a9-9a3ed79f3a48" providerId="ADAL" clId="{9F23B798-9E84-4552-BA63-E776E805C424}" dt="2026-09-11T08:01:59.827" v="18" actId="21"/>
          <ac:picMkLst>
            <pc:docMk/>
            <pc:sldMk cId="0" sldId="266"/>
            <ac:picMk id="2" creationId="{00000000-0000-0000-0000-000000000000}"/>
          </ac:picMkLst>
        </pc:picChg>
        <pc:picChg chg="add">
          <ac:chgData name="Lai, Wilson" userId="2840974a-0d84-4886-90a9-9a3ed79f3a48" providerId="ADAL" clId="{9F23B798-9E84-4552-BA63-E776E805C424}" dt="2026-09-11T08:02:08.533" v="19" actId="22"/>
          <ac:picMkLst>
            <pc:docMk/>
            <pc:sldMk cId="0" sldId="266"/>
            <ac:picMk id="4" creationId="{73C28AD6-B4C7-2A3B-98ED-B497DBEBE4CA}"/>
          </ac:picMkLst>
        </pc:picChg>
      </pc:sldChg>
      <pc:sldChg chg="addSp delSp mod modNotes">
        <pc:chgData name="Lai, Wilson" userId="2840974a-0d84-4886-90a9-9a3ed79f3a48" providerId="ADAL" clId="{9F23B798-9E84-4552-BA63-E776E805C424}" dt="2026-09-11T14:37:37.787" v="47"/>
        <pc:sldMkLst>
          <pc:docMk/>
          <pc:sldMk cId="0" sldId="267"/>
        </pc:sldMkLst>
        <pc:picChg chg="del">
          <ac:chgData name="Lai, Wilson" userId="2840974a-0d84-4886-90a9-9a3ed79f3a48" providerId="ADAL" clId="{9F23B798-9E84-4552-BA63-E776E805C424}" dt="2026-09-11T08:02:10.204" v="20" actId="21"/>
          <ac:picMkLst>
            <pc:docMk/>
            <pc:sldMk cId="0" sldId="267"/>
            <ac:picMk id="2" creationId="{00000000-0000-0000-0000-000000000000}"/>
          </ac:picMkLst>
        </pc:picChg>
        <pc:picChg chg="add">
          <ac:chgData name="Lai, Wilson" userId="2840974a-0d84-4886-90a9-9a3ed79f3a48" providerId="ADAL" clId="{9F23B798-9E84-4552-BA63-E776E805C424}" dt="2026-09-11T08:02:24.777" v="21" actId="22"/>
          <ac:picMkLst>
            <pc:docMk/>
            <pc:sldMk cId="0" sldId="267"/>
            <ac:picMk id="4" creationId="{49200412-9111-D4A2-05C9-E46CB36A5D22}"/>
          </ac:picMkLst>
        </pc:picChg>
      </pc:sldChg>
      <pc:sldChg chg="addSp delSp mod">
        <pc:chgData name="Lai, Wilson" userId="2840974a-0d84-4886-90a9-9a3ed79f3a48" providerId="ADAL" clId="{9F23B798-9E84-4552-BA63-E776E805C424}" dt="2026-09-11T08:02:38.618" v="23" actId="22"/>
        <pc:sldMkLst>
          <pc:docMk/>
          <pc:sldMk cId="0" sldId="268"/>
        </pc:sldMkLst>
        <pc:picChg chg="del">
          <ac:chgData name="Lai, Wilson" userId="2840974a-0d84-4886-90a9-9a3ed79f3a48" providerId="ADAL" clId="{9F23B798-9E84-4552-BA63-E776E805C424}" dt="2026-09-11T08:02:26.470" v="22" actId="21"/>
          <ac:picMkLst>
            <pc:docMk/>
            <pc:sldMk cId="0" sldId="268"/>
            <ac:picMk id="2" creationId="{00000000-0000-0000-0000-000000000000}"/>
          </ac:picMkLst>
        </pc:picChg>
        <pc:picChg chg="add">
          <ac:chgData name="Lai, Wilson" userId="2840974a-0d84-4886-90a9-9a3ed79f3a48" providerId="ADAL" clId="{9F23B798-9E84-4552-BA63-E776E805C424}" dt="2026-09-11T08:02:38.618" v="23" actId="22"/>
          <ac:picMkLst>
            <pc:docMk/>
            <pc:sldMk cId="0" sldId="268"/>
            <ac:picMk id="4" creationId="{8CBCB2D2-F811-FBAB-86D0-6AEF04981353}"/>
          </ac:picMkLst>
        </pc:picChg>
      </pc:sldChg>
      <pc:sldChg chg="addSp delSp mod modNotes">
        <pc:chgData name="Lai, Wilson" userId="2840974a-0d84-4886-90a9-9a3ed79f3a48" providerId="ADAL" clId="{9F23B798-9E84-4552-BA63-E776E805C424}" dt="2026-09-11T14:37:37.787" v="47"/>
        <pc:sldMkLst>
          <pc:docMk/>
          <pc:sldMk cId="0" sldId="269"/>
        </pc:sldMkLst>
        <pc:picChg chg="del">
          <ac:chgData name="Lai, Wilson" userId="2840974a-0d84-4886-90a9-9a3ed79f3a48" providerId="ADAL" clId="{9F23B798-9E84-4552-BA63-E776E805C424}" dt="2026-09-11T08:02:43.196" v="24" actId="21"/>
          <ac:picMkLst>
            <pc:docMk/>
            <pc:sldMk cId="0" sldId="269"/>
            <ac:picMk id="2" creationId="{00000000-0000-0000-0000-000000000000}"/>
          </ac:picMkLst>
        </pc:picChg>
        <pc:picChg chg="add">
          <ac:chgData name="Lai, Wilson" userId="2840974a-0d84-4886-90a9-9a3ed79f3a48" providerId="ADAL" clId="{9F23B798-9E84-4552-BA63-E776E805C424}" dt="2026-09-11T08:02:54.799" v="25" actId="22"/>
          <ac:picMkLst>
            <pc:docMk/>
            <pc:sldMk cId="0" sldId="269"/>
            <ac:picMk id="4" creationId="{098E1086-98C3-E733-AC17-3DFD53854197}"/>
          </ac:picMkLst>
        </pc:picChg>
      </pc:sldChg>
      <pc:sldChg chg="addSp delSp mod">
        <pc:chgData name="Lai, Wilson" userId="2840974a-0d84-4886-90a9-9a3ed79f3a48" providerId="ADAL" clId="{9F23B798-9E84-4552-BA63-E776E805C424}" dt="2026-09-11T08:03:08.216" v="27" actId="22"/>
        <pc:sldMkLst>
          <pc:docMk/>
          <pc:sldMk cId="0" sldId="270"/>
        </pc:sldMkLst>
        <pc:picChg chg="del">
          <ac:chgData name="Lai, Wilson" userId="2840974a-0d84-4886-90a9-9a3ed79f3a48" providerId="ADAL" clId="{9F23B798-9E84-4552-BA63-E776E805C424}" dt="2026-09-11T08:02:59.844" v="26" actId="21"/>
          <ac:picMkLst>
            <pc:docMk/>
            <pc:sldMk cId="0" sldId="270"/>
            <ac:picMk id="2" creationId="{00000000-0000-0000-0000-000000000000}"/>
          </ac:picMkLst>
        </pc:picChg>
        <pc:picChg chg="add">
          <ac:chgData name="Lai, Wilson" userId="2840974a-0d84-4886-90a9-9a3ed79f3a48" providerId="ADAL" clId="{9F23B798-9E84-4552-BA63-E776E805C424}" dt="2026-09-11T08:03:08.216" v="27" actId="22"/>
          <ac:picMkLst>
            <pc:docMk/>
            <pc:sldMk cId="0" sldId="270"/>
            <ac:picMk id="4" creationId="{9804E5F9-FF88-DCEF-5490-89721983766F}"/>
          </ac:picMkLst>
        </pc:picChg>
      </pc:sldChg>
      <pc:sldChg chg="addSp delSp mod">
        <pc:chgData name="Lai, Wilson" userId="2840974a-0d84-4886-90a9-9a3ed79f3a48" providerId="ADAL" clId="{9F23B798-9E84-4552-BA63-E776E805C424}" dt="2026-09-11T08:03:20.214" v="29" actId="22"/>
        <pc:sldMkLst>
          <pc:docMk/>
          <pc:sldMk cId="0" sldId="271"/>
        </pc:sldMkLst>
        <pc:picChg chg="del">
          <ac:chgData name="Lai, Wilson" userId="2840974a-0d84-4886-90a9-9a3ed79f3a48" providerId="ADAL" clId="{9F23B798-9E84-4552-BA63-E776E805C424}" dt="2026-09-11T08:03:11.340" v="28" actId="21"/>
          <ac:picMkLst>
            <pc:docMk/>
            <pc:sldMk cId="0" sldId="271"/>
            <ac:picMk id="2" creationId="{00000000-0000-0000-0000-000000000000}"/>
          </ac:picMkLst>
        </pc:picChg>
        <pc:picChg chg="add">
          <ac:chgData name="Lai, Wilson" userId="2840974a-0d84-4886-90a9-9a3ed79f3a48" providerId="ADAL" clId="{9F23B798-9E84-4552-BA63-E776E805C424}" dt="2026-09-11T08:03:20.214" v="29" actId="22"/>
          <ac:picMkLst>
            <pc:docMk/>
            <pc:sldMk cId="0" sldId="271"/>
            <ac:picMk id="4" creationId="{999AB1F2-09F2-B245-FCF1-4477C23F4EB0}"/>
          </ac:picMkLst>
        </pc:picChg>
      </pc:sldChg>
      <pc:sldChg chg="addSp delSp mod modNotesTx">
        <pc:chgData name="Lai, Wilson" userId="2840974a-0d84-4886-90a9-9a3ed79f3a48" providerId="ADAL" clId="{9F23B798-9E84-4552-BA63-E776E805C424}" dt="2026-09-11T14:37:25.409" v="46" actId="14"/>
        <pc:sldMkLst>
          <pc:docMk/>
          <pc:sldMk cId="2927712362" sldId="272"/>
        </pc:sldMkLst>
        <pc:picChg chg="del">
          <ac:chgData name="Lai, Wilson" userId="2840974a-0d84-4886-90a9-9a3ed79f3a48" providerId="ADAL" clId="{9F23B798-9E84-4552-BA63-E776E805C424}" dt="2026-09-11T08:03:23.984" v="30" actId="21"/>
          <ac:picMkLst>
            <pc:docMk/>
            <pc:sldMk cId="2927712362" sldId="272"/>
            <ac:picMk id="3" creationId="{A3B04DD5-8406-03D5-AE2B-04AE53C42817}"/>
          </ac:picMkLst>
        </pc:picChg>
        <pc:picChg chg="add">
          <ac:chgData name="Lai, Wilson" userId="2840974a-0d84-4886-90a9-9a3ed79f3a48" providerId="ADAL" clId="{9F23B798-9E84-4552-BA63-E776E805C424}" dt="2026-09-11T08:05:22.144" v="31" actId="22"/>
          <ac:picMkLst>
            <pc:docMk/>
            <pc:sldMk cId="2927712362" sldId="272"/>
            <ac:picMk id="4" creationId="{2121A3E1-51C2-F457-ACBF-12C59D70DC9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E1111A-5622-45F2-9952-FC747E7F5FF2}"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8BAF61-70CD-4E90-8D94-4B71DC6A574E}" type="slidenum">
              <a:rPr lang="en-US" smtClean="0"/>
              <a:t>‹#›</a:t>
            </a:fld>
            <a:endParaRPr lang="en-US"/>
          </a:p>
        </p:txBody>
      </p:sp>
    </p:spTree>
    <p:extLst>
      <p:ext uri="{BB962C8B-B14F-4D97-AF65-F5344CB8AC3E}">
        <p14:creationId xmlns:p14="http://schemas.microsoft.com/office/powerpoint/2010/main" val="219312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Introduction:</a:t>
            </a:r>
            <a:r>
              <a:rPr lang="en-US" sz="1200" kern="1200" dirty="0">
                <a:solidFill>
                  <a:schemeClr val="tx1"/>
                </a:solidFill>
                <a:effectLst/>
                <a:latin typeface="+mn-lt"/>
                <a:ea typeface="+mn-ea"/>
                <a:cs typeface="+mn-cs"/>
              </a:rPr>
              <a:t> Welcome everyone. Today we are addressing the fundamental bottleneck that stops most businesses from scaling: the transition from being a overworked founder to a true business owner. </a:t>
            </a:r>
          </a:p>
          <a:p>
            <a:pPr lvl="0"/>
            <a:r>
              <a:rPr lang="en-US" sz="1200" b="1" kern="1200" dirty="0">
                <a:solidFill>
                  <a:schemeClr val="tx1"/>
                </a:solidFill>
                <a:effectLst/>
                <a:latin typeface="+mn-lt"/>
                <a:ea typeface="+mn-ea"/>
                <a:cs typeface="+mn-cs"/>
              </a:rPr>
              <a:t>The Core Thesis:</a:t>
            </a:r>
            <a:r>
              <a:rPr lang="en-US" sz="1200" kern="1200" dirty="0">
                <a:solidFill>
                  <a:schemeClr val="tx1"/>
                </a:solidFill>
                <a:effectLst/>
                <a:latin typeface="+mn-lt"/>
                <a:ea typeface="+mn-ea"/>
                <a:cs typeface="+mn-cs"/>
              </a:rPr>
              <a:t> Working harder will not make you rich. If hard work alone produced wealth, every small business owner working 80-hour weeks would be a multimillionaire. True wealth and scale come from systems and leverage. </a:t>
            </a:r>
          </a:p>
          <a:p>
            <a:pPr lvl="0"/>
            <a:r>
              <a:rPr lang="en-US" sz="1200" b="1" kern="1200" dirty="0">
                <a:solidFill>
                  <a:schemeClr val="tx1"/>
                </a:solidFill>
                <a:effectLst/>
                <a:latin typeface="+mn-lt"/>
                <a:ea typeface="+mn-ea"/>
                <a:cs typeface="+mn-cs"/>
              </a:rPr>
              <a:t>Objective:</a:t>
            </a:r>
            <a:r>
              <a:rPr lang="en-US" sz="1200" kern="1200" dirty="0">
                <a:solidFill>
                  <a:schemeClr val="tx1"/>
                </a:solidFill>
                <a:effectLst/>
                <a:latin typeface="+mn-lt"/>
                <a:ea typeface="+mn-ea"/>
                <a:cs typeface="+mn-cs"/>
              </a:rPr>
              <a:t> This session is a diagnostic playbook based on the operating principles of Codie Sanchez. We will dissect why founders get trapped in the day-to-day operations and provide a concrete framework to build a business that operates independently of your manual labor. </a:t>
            </a:r>
          </a:p>
          <a:p>
            <a:endParaRPr lang="en-US" dirty="0"/>
          </a:p>
          <a:p>
            <a:endParaRPr lang="en-US" dirty="0"/>
          </a:p>
          <a:p>
            <a:endParaRPr lang="en-US" dirty="0"/>
          </a:p>
          <a:p>
            <a:r>
              <a:rPr lang="en-US" dirty="0"/>
              <a:t>https://www.youtube.com/watch?v=2d4u80LmRQ8</a:t>
            </a:r>
          </a:p>
        </p:txBody>
      </p:sp>
      <p:sp>
        <p:nvSpPr>
          <p:cNvPr id="4" name="Slide Number Placeholder 3"/>
          <p:cNvSpPr>
            <a:spLocks noGrp="1"/>
          </p:cNvSpPr>
          <p:nvPr>
            <p:ph type="sldNum" sz="quarter" idx="5"/>
          </p:nvPr>
        </p:nvSpPr>
        <p:spPr/>
        <p:txBody>
          <a:bodyPr/>
          <a:lstStyle/>
          <a:p>
            <a:fld id="{3D8BAF61-70CD-4E90-8D94-4B71DC6A574E}" type="slidenum">
              <a:rPr lang="en-US" smtClean="0"/>
              <a:t>1</a:t>
            </a:fld>
            <a:endParaRPr lang="en-US"/>
          </a:p>
        </p:txBody>
      </p:sp>
    </p:spTree>
    <p:extLst>
      <p:ext uri="{BB962C8B-B14F-4D97-AF65-F5344CB8AC3E}">
        <p14:creationId xmlns:p14="http://schemas.microsoft.com/office/powerpoint/2010/main" val="27259863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Trap:</a:t>
            </a:r>
            <a:r>
              <a:rPr lang="en-US" sz="1200" kern="1200" dirty="0">
                <a:solidFill>
                  <a:schemeClr val="tx1"/>
                </a:solidFill>
                <a:effectLst/>
                <a:latin typeface="+mn-lt"/>
                <a:ea typeface="+mn-ea"/>
                <a:cs typeface="+mn-cs"/>
              </a:rPr>
              <a:t> Most people enter business seeking freedom, but mathematically, entrepreneurship is a silent trap. </a:t>
            </a:r>
          </a:p>
          <a:p>
            <a:pPr lvl="0"/>
            <a:r>
              <a:rPr lang="en-US" sz="1200" b="1" kern="1200" dirty="0">
                <a:solidFill>
                  <a:schemeClr val="tx1"/>
                </a:solidFill>
                <a:effectLst/>
                <a:latin typeface="+mn-lt"/>
                <a:ea typeface="+mn-ea"/>
                <a:cs typeface="+mn-cs"/>
              </a:rPr>
              <a:t>Data Breakdown: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46%</a:t>
            </a:r>
            <a:r>
              <a:rPr lang="en-US" sz="1200" kern="1200" dirty="0">
                <a:solidFill>
                  <a:schemeClr val="tx1"/>
                </a:solidFill>
                <a:effectLst/>
                <a:latin typeface="+mn-lt"/>
                <a:ea typeface="+mn-ea"/>
                <a:cs typeface="+mn-cs"/>
              </a:rPr>
              <a:t> of business owners are never profitable.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64%</a:t>
            </a:r>
            <a:r>
              <a:rPr lang="en-US" sz="1200" kern="1200" dirty="0">
                <a:solidFill>
                  <a:schemeClr val="tx1"/>
                </a:solidFill>
                <a:effectLst/>
                <a:latin typeface="+mn-lt"/>
                <a:ea typeface="+mn-ea"/>
                <a:cs typeface="+mn-cs"/>
              </a:rPr>
              <a:t> of profitable owners make less than minimum wage (roughly $75k–$78k in high-cost states). They are taking on 100% of the risk for less compensation than a mid-level corporate employee.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13%</a:t>
            </a:r>
            <a:r>
              <a:rPr lang="en-US" sz="1200" kern="1200" dirty="0">
                <a:solidFill>
                  <a:schemeClr val="tx1"/>
                </a:solidFill>
                <a:effectLst/>
                <a:latin typeface="+mn-lt"/>
                <a:ea typeface="+mn-ea"/>
                <a:cs typeface="+mn-cs"/>
              </a:rPr>
              <a:t> of SBA-backed businesses fail annually, and </a:t>
            </a:r>
            <a:r>
              <a:rPr lang="en-US" sz="1200" b="1" kern="1200" dirty="0">
                <a:solidFill>
                  <a:schemeClr val="tx1"/>
                </a:solidFill>
                <a:effectLst/>
                <a:latin typeface="+mn-lt"/>
                <a:ea typeface="+mn-ea"/>
                <a:cs typeface="+mn-cs"/>
              </a:rPr>
              <a:t>90%</a:t>
            </a:r>
            <a:r>
              <a:rPr lang="en-US" sz="1200" kern="1200" dirty="0">
                <a:solidFill>
                  <a:schemeClr val="tx1"/>
                </a:solidFill>
                <a:effectLst/>
                <a:latin typeface="+mn-lt"/>
                <a:ea typeface="+mn-ea"/>
                <a:cs typeface="+mn-cs"/>
              </a:rPr>
              <a:t> of traditional startups fail within 5 to 10 years. </a:t>
            </a:r>
          </a:p>
          <a:p>
            <a:pPr lvl="0"/>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If your business is currently making money, you are already in the top 10%. However, survival is not freedom. Survival without systems just buys you a grueling, high-stress job where you are your own worst boss. </a:t>
            </a:r>
          </a:p>
          <a:p>
            <a:endParaRPr lang="en-US" dirty="0"/>
          </a:p>
        </p:txBody>
      </p:sp>
      <p:sp>
        <p:nvSpPr>
          <p:cNvPr id="4" name="Slide Number Placeholder 3"/>
          <p:cNvSpPr>
            <a:spLocks noGrp="1"/>
          </p:cNvSpPr>
          <p:nvPr>
            <p:ph type="sldNum" sz="quarter" idx="5"/>
          </p:nvPr>
        </p:nvSpPr>
        <p:spPr/>
        <p:txBody>
          <a:bodyPr/>
          <a:lstStyle/>
          <a:p>
            <a:fld id="{3D8BAF61-70CD-4E90-8D94-4B71DC6A574E}" type="slidenum">
              <a:rPr lang="en-US" smtClean="0"/>
              <a:t>2</a:t>
            </a:fld>
            <a:endParaRPr lang="en-US"/>
          </a:p>
        </p:txBody>
      </p:sp>
    </p:spTree>
    <p:extLst>
      <p:ext uri="{BB962C8B-B14F-4D97-AF65-F5344CB8AC3E}">
        <p14:creationId xmlns:p14="http://schemas.microsoft.com/office/powerpoint/2010/main" val="3433004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Paradox:</a:t>
            </a:r>
            <a:r>
              <a:rPr lang="en-US" sz="1200" kern="1200" dirty="0">
                <a:solidFill>
                  <a:schemeClr val="tx1"/>
                </a:solidFill>
                <a:effectLst/>
                <a:latin typeface="+mn-lt"/>
                <a:ea typeface="+mn-ea"/>
                <a:cs typeface="+mn-cs"/>
              </a:rPr>
              <a:t> The exact psychological traits that allow you to bring a company into existence are the very traits that will eventually kill its ability to scale. </a:t>
            </a:r>
          </a:p>
          <a:p>
            <a:pPr lvl="0"/>
            <a:r>
              <a:rPr lang="en-US" sz="1200" kern="1200" dirty="0">
                <a:solidFill>
                  <a:schemeClr val="tx1"/>
                </a:solidFill>
                <a:effectLst/>
                <a:latin typeface="+mn-lt"/>
                <a:ea typeface="+mn-ea"/>
                <a:cs typeface="+mn-cs"/>
              </a:rPr>
              <a:t>Three Archetypes: </a:t>
            </a:r>
          </a:p>
          <a:p>
            <a:pPr marL="228600" lvl="0" indent="-228600">
              <a:buFont typeface="+mj-lt"/>
              <a:buAutoNum type="arabicPeriod"/>
            </a:pPr>
            <a:r>
              <a:rPr lang="en-US" sz="1200" kern="1200" dirty="0">
                <a:solidFill>
                  <a:schemeClr val="tx1"/>
                </a:solidFill>
                <a:effectLst/>
                <a:latin typeface="+mn-lt"/>
                <a:ea typeface="+mn-ea"/>
                <a:cs typeface="+mn-cs"/>
              </a:rPr>
              <a:t>The Closer: Highly skilled at sales. They can sell anything to anyone, but because they are the sole revenue driver, the sales team maxes out at a capacity of one. </a:t>
            </a:r>
          </a:p>
          <a:p>
            <a:pPr marL="228600" lvl="0" indent="-228600">
              <a:buFont typeface="+mj-lt"/>
              <a:buAutoNum type="arabicPeriod"/>
            </a:pPr>
            <a:r>
              <a:rPr lang="en-US" sz="1200" kern="1200" dirty="0">
                <a:solidFill>
                  <a:schemeClr val="tx1"/>
                </a:solidFill>
                <a:effectLst/>
                <a:latin typeface="+mn-lt"/>
                <a:ea typeface="+mn-ea"/>
                <a:cs typeface="+mn-cs"/>
              </a:rPr>
              <a:t>The Founder / Ball Hog: Wills products into existence through sheer grit. However, they insist on controlling every operational nuance because nobody else can do it right. </a:t>
            </a:r>
          </a:p>
          <a:p>
            <a:pPr marL="228600" lvl="0" indent="-228600">
              <a:buFont typeface="+mj-lt"/>
              <a:buAutoNum type="arabicPeriod"/>
            </a:pPr>
            <a:r>
              <a:rPr lang="en-US" sz="1200" kern="1200" dirty="0">
                <a:solidFill>
                  <a:schemeClr val="tx1"/>
                </a:solidFill>
                <a:effectLst/>
                <a:latin typeface="+mn-lt"/>
                <a:ea typeface="+mn-ea"/>
                <a:cs typeface="+mn-cs"/>
              </a:rPr>
              <a:t>The Visionary: Sells massive, inspiring dreams to investors and clients but lacks the operational discipline and systems to execute consistently. </a:t>
            </a:r>
          </a:p>
          <a:p>
            <a:pPr lvl="0"/>
            <a:r>
              <a:rPr lang="en-US" sz="1200" b="1" kern="1200" dirty="0">
                <a:solidFill>
                  <a:schemeClr val="tx1"/>
                </a:solidFill>
                <a:effectLst/>
                <a:latin typeface="+mn-lt"/>
                <a:ea typeface="+mn-ea"/>
                <a:cs typeface="+mn-cs"/>
              </a:rPr>
              <a:t>The Warning:</a:t>
            </a:r>
            <a:r>
              <a:rPr lang="en-US" sz="1200" kern="1200" dirty="0">
                <a:solidFill>
                  <a:schemeClr val="tx1"/>
                </a:solidFill>
                <a:effectLst/>
                <a:latin typeface="+mn-lt"/>
                <a:ea typeface="+mn-ea"/>
                <a:cs typeface="+mn-cs"/>
              </a:rPr>
              <a:t> As Codie Sanchez notes, Being the hero is taking heroin. It's an addiction to your business. Being indispensable isn't a badge of honor—it's an operational failure. </a:t>
            </a:r>
          </a:p>
          <a:p>
            <a:endParaRPr lang="en-US" dirty="0"/>
          </a:p>
        </p:txBody>
      </p:sp>
      <p:sp>
        <p:nvSpPr>
          <p:cNvPr id="4" name="Slide Number Placeholder 3"/>
          <p:cNvSpPr>
            <a:spLocks noGrp="1"/>
          </p:cNvSpPr>
          <p:nvPr>
            <p:ph type="sldNum" sz="quarter" idx="5"/>
          </p:nvPr>
        </p:nvSpPr>
        <p:spPr/>
        <p:txBody>
          <a:bodyPr/>
          <a:lstStyle/>
          <a:p>
            <a:fld id="{3D8BAF61-70CD-4E90-8D94-4B71DC6A574E}" type="slidenum">
              <a:rPr lang="en-US" smtClean="0"/>
              <a:t>3</a:t>
            </a:fld>
            <a:endParaRPr lang="en-US"/>
          </a:p>
        </p:txBody>
      </p:sp>
    </p:spTree>
    <p:extLst>
      <p:ext uri="{BB962C8B-B14F-4D97-AF65-F5344CB8AC3E}">
        <p14:creationId xmlns:p14="http://schemas.microsoft.com/office/powerpoint/2010/main" val="10891177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Transition Hierarchy:</a:t>
            </a:r>
            <a:r>
              <a:rPr lang="en-US" sz="1200" kern="1200" dirty="0">
                <a:solidFill>
                  <a:schemeClr val="tx1"/>
                </a:solidFill>
                <a:effectLst/>
                <a:latin typeface="+mn-lt"/>
                <a:ea typeface="+mn-ea"/>
                <a:cs typeface="+mn-cs"/>
              </a:rPr>
              <a:t> To escape the trap, you must understand your position on the evolution curve. </a:t>
            </a:r>
          </a:p>
          <a:p>
            <a:pPr lvl="0"/>
            <a:r>
              <a:rPr lang="en-US" sz="1200" kern="1200" dirty="0">
                <a:solidFill>
                  <a:schemeClr val="tx1"/>
                </a:solidFill>
                <a:effectLst/>
                <a:latin typeface="+mn-lt"/>
                <a:ea typeface="+mn-ea"/>
                <a:cs typeface="+mn-cs"/>
              </a:rPr>
              <a:t>The Doer (Bottom Tier): I do everything. High friction, maximum personal effort, zero leverage. Impossible to scale. </a:t>
            </a:r>
          </a:p>
          <a:p>
            <a:pPr lvl="0"/>
            <a:r>
              <a:rPr lang="en-US" sz="1200" kern="1200" dirty="0">
                <a:solidFill>
                  <a:schemeClr val="tx1"/>
                </a:solidFill>
                <a:effectLst/>
                <a:latin typeface="+mn-lt"/>
                <a:ea typeface="+mn-ea"/>
                <a:cs typeface="+mn-cs"/>
              </a:rPr>
              <a:t>The Manager (Middle Tier): They do things, I micromanage. You hire hands, but because you lack trust or clear systems, you spend all day managing inputs rather than outcomes. High stress, medium scale. </a:t>
            </a:r>
          </a:p>
          <a:p>
            <a:pPr lvl="0"/>
            <a:r>
              <a:rPr lang="en-US" sz="1200" kern="1200" dirty="0">
                <a:solidFill>
                  <a:schemeClr val="tx1"/>
                </a:solidFill>
                <a:effectLst/>
                <a:latin typeface="+mn-lt"/>
                <a:ea typeface="+mn-ea"/>
                <a:cs typeface="+mn-cs"/>
              </a:rPr>
              <a:t>The CEO / Owner (Top Tier): I do very few strategic things; the team and systems execute everything else. Low personal friction, high financial leverage. </a:t>
            </a:r>
          </a:p>
          <a:p>
            <a:pPr lvl="0"/>
            <a:r>
              <a:rPr lang="en-US" sz="1200" b="1" kern="1200" dirty="0">
                <a:solidFill>
                  <a:schemeClr val="tx1"/>
                </a:solidFill>
                <a:effectLst/>
                <a:latin typeface="+mn-lt"/>
                <a:ea typeface="+mn-ea"/>
                <a:cs typeface="+mn-cs"/>
              </a:rPr>
              <a:t>Goal:</a:t>
            </a:r>
            <a:r>
              <a:rPr lang="en-US" sz="1200" kern="1200" dirty="0">
                <a:solidFill>
                  <a:schemeClr val="tx1"/>
                </a:solidFill>
                <a:effectLst/>
                <a:latin typeface="+mn-lt"/>
                <a:ea typeface="+mn-ea"/>
                <a:cs typeface="+mn-cs"/>
              </a:rPr>
              <a:t> Your ultimate goal is to decouple your revenue completely from your personal hourly output. </a:t>
            </a:r>
          </a:p>
          <a:p>
            <a:endParaRPr lang="en-US" dirty="0"/>
          </a:p>
        </p:txBody>
      </p:sp>
      <p:sp>
        <p:nvSpPr>
          <p:cNvPr id="4" name="Slide Number Placeholder 3"/>
          <p:cNvSpPr>
            <a:spLocks noGrp="1"/>
          </p:cNvSpPr>
          <p:nvPr>
            <p:ph type="sldNum" sz="quarter" idx="5"/>
          </p:nvPr>
        </p:nvSpPr>
        <p:spPr/>
        <p:txBody>
          <a:bodyPr/>
          <a:lstStyle/>
          <a:p>
            <a:fld id="{3D8BAF61-70CD-4E90-8D94-4B71DC6A574E}" type="slidenum">
              <a:rPr lang="en-US" smtClean="0"/>
              <a:t>4</a:t>
            </a:fld>
            <a:endParaRPr lang="en-US"/>
          </a:p>
        </p:txBody>
      </p:sp>
    </p:spTree>
    <p:extLst>
      <p:ext uri="{BB962C8B-B14F-4D97-AF65-F5344CB8AC3E}">
        <p14:creationId xmlns:p14="http://schemas.microsoft.com/office/powerpoint/2010/main" val="6935256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Self-Audit:</a:t>
            </a:r>
            <a:r>
              <a:rPr lang="en-US" sz="1200" kern="1200" dirty="0">
                <a:solidFill>
                  <a:schemeClr val="tx1"/>
                </a:solidFill>
                <a:effectLst/>
                <a:latin typeface="+mn-lt"/>
                <a:ea typeface="+mn-ea"/>
                <a:cs typeface="+mn-cs"/>
              </a:rPr>
              <a:t> Let's run a quick diagnostic across four core operational pillars. </a:t>
            </a:r>
          </a:p>
          <a:p>
            <a:pPr lvl="0"/>
            <a:r>
              <a:rPr lang="en-US" sz="1200" b="1" kern="1200" dirty="0">
                <a:solidFill>
                  <a:schemeClr val="tx1"/>
                </a:solidFill>
                <a:effectLst/>
                <a:latin typeface="+mn-lt"/>
                <a:ea typeface="+mn-ea"/>
                <a:cs typeface="+mn-cs"/>
              </a:rPr>
              <a:t>1. Fulfillment:</a:t>
            </a:r>
            <a:r>
              <a:rPr lang="en-US" sz="1200" kern="1200" dirty="0">
                <a:solidFill>
                  <a:schemeClr val="tx1"/>
                </a:solidFill>
                <a:effectLst/>
                <a:latin typeface="+mn-lt"/>
                <a:ea typeface="+mn-ea"/>
                <a:cs typeface="+mn-cs"/>
              </a:rPr>
              <a:t> Are you hands-on in delivering the service/product (Self-Employed), or is fulfillment completely delegated to specialized operators using standard SOPs (Owner)? </a:t>
            </a:r>
          </a:p>
          <a:p>
            <a:pPr lvl="0"/>
            <a:r>
              <a:rPr lang="en-US" sz="1200" b="1" kern="1200" dirty="0">
                <a:solidFill>
                  <a:schemeClr val="tx1"/>
                </a:solidFill>
                <a:effectLst/>
                <a:latin typeface="+mn-lt"/>
                <a:ea typeface="+mn-ea"/>
                <a:cs typeface="+mn-cs"/>
              </a:rPr>
              <a:t>2. Sales &amp; Distribution:</a:t>
            </a:r>
            <a:r>
              <a:rPr lang="en-US" sz="1200" kern="1200" dirty="0">
                <a:solidFill>
                  <a:schemeClr val="tx1"/>
                </a:solidFill>
                <a:effectLst/>
                <a:latin typeface="+mn-lt"/>
                <a:ea typeface="+mn-ea"/>
                <a:cs typeface="+mn-cs"/>
              </a:rPr>
              <a:t> Does revenue generation rely on your personal ability to close deals, or do you have automated systems and dedicated sales teams closing revenue? </a:t>
            </a:r>
          </a:p>
          <a:p>
            <a:pPr lvl="0"/>
            <a:r>
              <a:rPr lang="en-US" sz="1200" b="1" kern="1200" dirty="0">
                <a:solidFill>
                  <a:schemeClr val="tx1"/>
                </a:solidFill>
                <a:effectLst/>
                <a:latin typeface="+mn-lt"/>
                <a:ea typeface="+mn-ea"/>
                <a:cs typeface="+mn-cs"/>
              </a:rPr>
              <a:t>3. Visibility:</a:t>
            </a:r>
            <a:r>
              <a:rPr lang="en-US" sz="1200" kern="1200" dirty="0">
                <a:solidFill>
                  <a:schemeClr val="tx1"/>
                </a:solidFill>
                <a:effectLst/>
                <a:latin typeface="+mn-lt"/>
                <a:ea typeface="+mn-ea"/>
                <a:cs typeface="+mn-cs"/>
              </a:rPr>
              <a:t> Are you flying blind based on vibes and bank account balances, or are you managing the company daily via a structured metrics dashboard? </a:t>
            </a:r>
          </a:p>
          <a:p>
            <a:pPr lvl="0"/>
            <a:r>
              <a:rPr lang="en-US" sz="1200" b="1" kern="1200" dirty="0">
                <a:solidFill>
                  <a:schemeClr val="tx1"/>
                </a:solidFill>
                <a:effectLst/>
                <a:latin typeface="+mn-lt"/>
                <a:ea typeface="+mn-ea"/>
                <a:cs typeface="+mn-cs"/>
              </a:rPr>
              <a:t>4. Communication:</a:t>
            </a:r>
            <a:r>
              <a:rPr lang="en-US" sz="1200" kern="1200" dirty="0">
                <a:solidFill>
                  <a:schemeClr val="tx1"/>
                </a:solidFill>
                <a:effectLst/>
                <a:latin typeface="+mn-lt"/>
                <a:ea typeface="+mn-ea"/>
                <a:cs typeface="+mn-cs"/>
              </a:rPr>
              <a:t> Are you interrupted constantly by immediate Slack pings and fire-fighting, or do you operate on scheduled, asynchronous operational reviews? </a:t>
            </a:r>
          </a:p>
          <a:p>
            <a:endParaRPr lang="en-US" dirty="0"/>
          </a:p>
        </p:txBody>
      </p:sp>
      <p:sp>
        <p:nvSpPr>
          <p:cNvPr id="4" name="Slide Number Placeholder 3"/>
          <p:cNvSpPr>
            <a:spLocks noGrp="1"/>
          </p:cNvSpPr>
          <p:nvPr>
            <p:ph type="sldNum" sz="quarter" idx="5"/>
          </p:nvPr>
        </p:nvSpPr>
        <p:spPr/>
        <p:txBody>
          <a:bodyPr/>
          <a:lstStyle/>
          <a:p>
            <a:fld id="{3D8BAF61-70CD-4E90-8D94-4B71DC6A574E}" type="slidenum">
              <a:rPr lang="en-US" smtClean="0"/>
              <a:t>5</a:t>
            </a:fld>
            <a:endParaRPr lang="en-US"/>
          </a:p>
        </p:txBody>
      </p:sp>
    </p:spTree>
    <p:extLst>
      <p:ext uri="{BB962C8B-B14F-4D97-AF65-F5344CB8AC3E}">
        <p14:creationId xmlns:p14="http://schemas.microsoft.com/office/powerpoint/2010/main" val="5971315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Operational Dashboard:</a:t>
            </a:r>
            <a:r>
              <a:rPr lang="en-US" sz="1200" kern="1200" dirty="0">
                <a:solidFill>
                  <a:schemeClr val="tx1"/>
                </a:solidFill>
                <a:effectLst/>
                <a:latin typeface="+mn-lt"/>
                <a:ea typeface="+mn-ea"/>
                <a:cs typeface="+mn-cs"/>
              </a:rPr>
              <a:t> Most founders manage by intuition until a crisis occurs. Do not simply hire great people and get out of their way without visibility. You need a transparent operational instrument panel. </a:t>
            </a:r>
          </a:p>
          <a:p>
            <a:pPr lvl="0"/>
            <a:r>
              <a:rPr lang="en-US" sz="1200" b="1" kern="1200" dirty="0">
                <a:solidFill>
                  <a:schemeClr val="tx1"/>
                </a:solidFill>
                <a:effectLst/>
                <a:latin typeface="+mn-lt"/>
                <a:ea typeface="+mn-ea"/>
                <a:cs typeface="+mn-cs"/>
              </a:rPr>
              <a:t>Dual Scorecards: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Activity-Based Scorecard (Leading Indicators): Metrics under your team’s direct control—cold calls made, outreach emails sent, client touchpoints completed, meetings booked.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Outcome-Based Scorecard (Lagging Indicators): Financial and performance results—revenue closed, customer acquisition cost (CAC), close rates, and retention/churn. </a:t>
            </a:r>
          </a:p>
          <a:p>
            <a:pPr lvl="0"/>
            <a:r>
              <a:rPr lang="en-US" sz="1200" kern="1200" dirty="0">
                <a:solidFill>
                  <a:schemeClr val="tx1"/>
                </a:solidFill>
                <a:effectLst/>
                <a:latin typeface="+mn-lt"/>
                <a:ea typeface="+mn-ea"/>
                <a:cs typeface="+mn-cs"/>
              </a:rPr>
              <a:t>Managing activity ensures predictable outcomes before lagging indicators show a drop in revenue. </a:t>
            </a:r>
          </a:p>
          <a:p>
            <a:endParaRPr lang="en-US" dirty="0"/>
          </a:p>
        </p:txBody>
      </p:sp>
      <p:sp>
        <p:nvSpPr>
          <p:cNvPr id="4" name="Slide Number Placeholder 3"/>
          <p:cNvSpPr>
            <a:spLocks noGrp="1"/>
          </p:cNvSpPr>
          <p:nvPr>
            <p:ph type="sldNum" sz="quarter" idx="5"/>
          </p:nvPr>
        </p:nvSpPr>
        <p:spPr/>
        <p:txBody>
          <a:bodyPr/>
          <a:lstStyle/>
          <a:p>
            <a:fld id="{3D8BAF61-70CD-4E90-8D94-4B71DC6A574E}" type="slidenum">
              <a:rPr lang="en-US" smtClean="0"/>
              <a:t>6</a:t>
            </a:fld>
            <a:endParaRPr lang="en-US"/>
          </a:p>
        </p:txBody>
      </p:sp>
    </p:spTree>
    <p:extLst>
      <p:ext uri="{BB962C8B-B14F-4D97-AF65-F5344CB8AC3E}">
        <p14:creationId xmlns:p14="http://schemas.microsoft.com/office/powerpoint/2010/main" val="41612149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Single North Star Trap:</a:t>
            </a:r>
            <a:r>
              <a:rPr lang="en-US" sz="1200" kern="1200" dirty="0">
                <a:solidFill>
                  <a:schemeClr val="tx1"/>
                </a:solidFill>
                <a:effectLst/>
                <a:latin typeface="+mn-lt"/>
                <a:ea typeface="+mn-ea"/>
                <a:cs typeface="+mn-cs"/>
              </a:rPr>
              <a:t> A common piece of advice is to focus on a single North Star metric. In practice, single-metric focus creates operational whiplash. If you tell a team to focus solely on lead volume, quality collapses. If you tell them to focus solely on profitability, growth stalls. </a:t>
            </a:r>
          </a:p>
          <a:p>
            <a:pPr lvl="0"/>
            <a:r>
              <a:rPr lang="en-US" sz="1200" b="1" kern="1200" dirty="0">
                <a:solidFill>
                  <a:schemeClr val="tx1"/>
                </a:solidFill>
                <a:effectLst/>
                <a:latin typeface="+mn-lt"/>
                <a:ea typeface="+mn-ea"/>
                <a:cs typeface="+mn-cs"/>
              </a:rPr>
              <a:t>The Two-Oar Solution:</a:t>
            </a:r>
            <a:r>
              <a:rPr lang="en-US" sz="1200" kern="1200" dirty="0">
                <a:solidFill>
                  <a:schemeClr val="tx1"/>
                </a:solidFill>
                <a:effectLst/>
                <a:latin typeface="+mn-lt"/>
                <a:ea typeface="+mn-ea"/>
                <a:cs typeface="+mn-cs"/>
              </a:rPr>
              <a:t> Every department and business unit must be governed by two balancing metrics. </a:t>
            </a:r>
          </a:p>
          <a:p>
            <a:pPr lvl="0"/>
            <a:r>
              <a:rPr lang="en-US" sz="1200" b="1" kern="1200" dirty="0">
                <a:solidFill>
                  <a:schemeClr val="tx1"/>
                </a:solidFill>
                <a:effectLst/>
                <a:latin typeface="+mn-lt"/>
                <a:ea typeface="+mn-ea"/>
                <a:cs typeface="+mn-cs"/>
              </a:rPr>
              <a:t>Analogy:</a:t>
            </a:r>
            <a:r>
              <a:rPr lang="en-US" sz="1200" kern="1200" dirty="0">
                <a:solidFill>
                  <a:schemeClr val="tx1"/>
                </a:solidFill>
                <a:effectLst/>
                <a:latin typeface="+mn-lt"/>
                <a:ea typeface="+mn-ea"/>
                <a:cs typeface="+mn-cs"/>
              </a:rPr>
              <a:t> Pulling one oar spins the boat in circles. Pulling two balanced oars drives the business straight forward. </a:t>
            </a:r>
          </a:p>
          <a:p>
            <a:pPr lvl="0"/>
            <a:r>
              <a:rPr lang="en-US" sz="1200" b="1" kern="1200" dirty="0">
                <a:solidFill>
                  <a:schemeClr val="tx1"/>
                </a:solidFill>
                <a:effectLst/>
                <a:latin typeface="+mn-lt"/>
                <a:ea typeface="+mn-ea"/>
                <a:cs typeface="+mn-cs"/>
              </a:rPr>
              <a:t>Example:</a:t>
            </a:r>
            <a:r>
              <a:rPr lang="en-US" sz="1200" kern="1200" dirty="0">
                <a:solidFill>
                  <a:schemeClr val="tx1"/>
                </a:solidFill>
                <a:effectLst/>
                <a:latin typeface="+mn-lt"/>
                <a:ea typeface="+mn-ea"/>
                <a:cs typeface="+mn-cs"/>
              </a:rPr>
              <a:t> Pair </a:t>
            </a:r>
            <a:r>
              <a:rPr lang="en-US" sz="1200" b="1" kern="1200" dirty="0">
                <a:solidFill>
                  <a:schemeClr val="tx1"/>
                </a:solidFill>
                <a:effectLst/>
                <a:latin typeface="+mn-lt"/>
                <a:ea typeface="+mn-ea"/>
                <a:cs typeface="+mn-cs"/>
              </a:rPr>
              <a:t>Top-of-Funnel Lead Generation</a:t>
            </a:r>
            <a:r>
              <a:rPr lang="en-US" sz="1200" kern="1200" dirty="0">
                <a:solidFill>
                  <a:schemeClr val="tx1"/>
                </a:solidFill>
                <a:effectLst/>
                <a:latin typeface="+mn-lt"/>
                <a:ea typeface="+mn-ea"/>
                <a:cs typeface="+mn-cs"/>
              </a:rPr>
              <a:t> with </a:t>
            </a:r>
            <a:r>
              <a:rPr lang="en-US" sz="1200" b="1" kern="1200" dirty="0">
                <a:solidFill>
                  <a:schemeClr val="tx1"/>
                </a:solidFill>
                <a:effectLst/>
                <a:latin typeface="+mn-lt"/>
                <a:ea typeface="+mn-ea"/>
                <a:cs typeface="+mn-cs"/>
              </a:rPr>
              <a:t>Average Order Value / Lead Quality</a:t>
            </a:r>
            <a:r>
              <a:rPr lang="en-US" sz="1200" kern="1200" dirty="0">
                <a:solidFill>
                  <a:schemeClr val="tx1"/>
                </a:solidFill>
                <a:effectLst/>
                <a:latin typeface="+mn-lt"/>
                <a:ea typeface="+mn-ea"/>
                <a:cs typeface="+mn-cs"/>
              </a:rPr>
              <a:t>. Balance </a:t>
            </a:r>
            <a:r>
              <a:rPr lang="en-US" sz="1200" b="1" kern="1200" dirty="0">
                <a:solidFill>
                  <a:schemeClr val="tx1"/>
                </a:solidFill>
                <a:effectLst/>
                <a:latin typeface="+mn-lt"/>
                <a:ea typeface="+mn-ea"/>
                <a:cs typeface="+mn-cs"/>
              </a:rPr>
              <a:t>Speed of Service</a:t>
            </a:r>
            <a:r>
              <a:rPr lang="en-US" sz="1200" kern="1200" dirty="0">
                <a:solidFill>
                  <a:schemeClr val="tx1"/>
                </a:solidFill>
                <a:effectLst/>
                <a:latin typeface="+mn-lt"/>
                <a:ea typeface="+mn-ea"/>
                <a:cs typeface="+mn-cs"/>
              </a:rPr>
              <a:t> with </a:t>
            </a:r>
            <a:r>
              <a:rPr lang="en-US" sz="1200" b="1" kern="1200" dirty="0">
                <a:solidFill>
                  <a:schemeClr val="tx1"/>
                </a:solidFill>
                <a:effectLst/>
                <a:latin typeface="+mn-lt"/>
                <a:ea typeface="+mn-ea"/>
                <a:cs typeface="+mn-cs"/>
              </a:rPr>
              <a:t>Customer Retention Rate</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5"/>
          </p:nvPr>
        </p:nvSpPr>
        <p:spPr/>
        <p:txBody>
          <a:bodyPr/>
          <a:lstStyle/>
          <a:p>
            <a:fld id="{3D8BAF61-70CD-4E90-8D94-4B71DC6A574E}" type="slidenum">
              <a:rPr lang="en-US" smtClean="0"/>
              <a:t>7</a:t>
            </a:fld>
            <a:endParaRPr lang="en-US"/>
          </a:p>
        </p:txBody>
      </p:sp>
    </p:spTree>
    <p:extLst>
      <p:ext uri="{BB962C8B-B14F-4D97-AF65-F5344CB8AC3E}">
        <p14:creationId xmlns:p14="http://schemas.microsoft.com/office/powerpoint/2010/main" val="13451402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Alignment Problem:</a:t>
            </a:r>
            <a:r>
              <a:rPr lang="en-US" sz="1200" kern="1200" dirty="0">
                <a:solidFill>
                  <a:schemeClr val="tx1"/>
                </a:solidFill>
                <a:effectLst/>
                <a:latin typeface="+mn-lt"/>
                <a:ea typeface="+mn-ea"/>
                <a:cs typeface="+mn-cs"/>
              </a:rPr>
              <a:t> A major mistake founders make is assuming employees want what the founder wants (usually cash upside or equity). If you put a creative designer on a pure commission sales plan, they will burn out and quit. </a:t>
            </a:r>
          </a:p>
          <a:p>
            <a:pPr lvl="0"/>
            <a:r>
              <a:rPr lang="en-US" sz="1200" kern="1200" dirty="0">
                <a:solidFill>
                  <a:schemeClr val="tx1"/>
                </a:solidFill>
                <a:effectLst/>
                <a:latin typeface="+mn-lt"/>
                <a:ea typeface="+mn-ea"/>
                <a:cs typeface="+mn-cs"/>
              </a:rPr>
              <a:t>The 5 Human Incentive Levers: </a:t>
            </a:r>
          </a:p>
          <a:p>
            <a:pPr marL="228600" lvl="0" indent="-228600">
              <a:buFont typeface="+mj-lt"/>
              <a:buAutoNum type="arabicPeriod"/>
            </a:pPr>
            <a:r>
              <a:rPr lang="en-US" sz="1200" b="1" kern="1200" dirty="0">
                <a:solidFill>
                  <a:schemeClr val="tx1"/>
                </a:solidFill>
                <a:effectLst/>
                <a:latin typeface="+mn-lt"/>
                <a:ea typeface="+mn-ea"/>
                <a:cs typeface="+mn-cs"/>
              </a:rPr>
              <a:t>Money:</a:t>
            </a:r>
            <a:r>
              <a:rPr lang="en-US" sz="1200" kern="1200" dirty="0">
                <a:solidFill>
                  <a:schemeClr val="tx1"/>
                </a:solidFill>
                <a:effectLst/>
                <a:latin typeface="+mn-lt"/>
                <a:ea typeface="+mn-ea"/>
                <a:cs typeface="+mn-cs"/>
              </a:rPr>
              <a:t> Direct monetary upside, aggressive bonuses, commission structures. </a:t>
            </a:r>
          </a:p>
          <a:p>
            <a:pPr marL="228600" lvl="0" indent="-228600">
              <a:buFont typeface="+mj-lt"/>
              <a:buAutoNum type="arabicPeriod"/>
            </a:pPr>
            <a:r>
              <a:rPr lang="en-US" sz="1200" b="1" kern="1200" dirty="0">
                <a:solidFill>
                  <a:schemeClr val="tx1"/>
                </a:solidFill>
                <a:effectLst/>
                <a:latin typeface="+mn-lt"/>
                <a:ea typeface="+mn-ea"/>
                <a:cs typeface="+mn-cs"/>
              </a:rPr>
              <a:t>Relevance / Impact:</a:t>
            </a:r>
            <a:r>
              <a:rPr lang="en-US" sz="1200" kern="1200" dirty="0">
                <a:solidFill>
                  <a:schemeClr val="tx1"/>
                </a:solidFill>
                <a:effectLst/>
                <a:latin typeface="+mn-lt"/>
                <a:ea typeface="+mn-ea"/>
                <a:cs typeface="+mn-cs"/>
              </a:rPr>
              <a:t> Knowing their work meaningfully changes client or company outcomes. </a:t>
            </a:r>
          </a:p>
          <a:p>
            <a:pPr marL="228600" lvl="0" indent="-228600">
              <a:buFont typeface="+mj-lt"/>
              <a:buAutoNum type="arabicPeriod"/>
            </a:pPr>
            <a:r>
              <a:rPr lang="en-US" sz="1200" b="1" kern="1200" dirty="0">
                <a:solidFill>
                  <a:schemeClr val="tx1"/>
                </a:solidFill>
                <a:effectLst/>
                <a:latin typeface="+mn-lt"/>
                <a:ea typeface="+mn-ea"/>
                <a:cs typeface="+mn-cs"/>
              </a:rPr>
              <a:t>Leadership:</a:t>
            </a:r>
            <a:r>
              <a:rPr lang="en-US" sz="1200" kern="1200" dirty="0">
                <a:solidFill>
                  <a:schemeClr val="tx1"/>
                </a:solidFill>
                <a:effectLst/>
                <a:latin typeface="+mn-lt"/>
                <a:ea typeface="+mn-ea"/>
                <a:cs typeface="+mn-cs"/>
              </a:rPr>
              <a:t> Autonomy to build, manage, and scale a division or team. </a:t>
            </a:r>
          </a:p>
          <a:p>
            <a:pPr marL="228600" lvl="0" indent="-228600">
              <a:buFont typeface="+mj-lt"/>
              <a:buAutoNum type="arabicPeriod"/>
            </a:pPr>
            <a:r>
              <a:rPr lang="en-US" sz="1200" b="1" kern="1200" dirty="0">
                <a:solidFill>
                  <a:schemeClr val="tx1"/>
                </a:solidFill>
                <a:effectLst/>
                <a:latin typeface="+mn-lt"/>
                <a:ea typeface="+mn-ea"/>
                <a:cs typeface="+mn-cs"/>
              </a:rPr>
              <a:t>Significance:</a:t>
            </a:r>
            <a:r>
              <a:rPr lang="en-US" sz="1200" kern="1200" dirty="0">
                <a:solidFill>
                  <a:schemeClr val="tx1"/>
                </a:solidFill>
                <a:effectLst/>
                <a:latin typeface="+mn-lt"/>
                <a:ea typeface="+mn-ea"/>
                <a:cs typeface="+mn-cs"/>
              </a:rPr>
              <a:t> Status, titles, prestige, and recognized standing. </a:t>
            </a:r>
          </a:p>
          <a:p>
            <a:pPr marL="228600" lvl="0" indent="-228600">
              <a:buFont typeface="+mj-lt"/>
              <a:buAutoNum type="arabicPeriod"/>
            </a:pPr>
            <a:r>
              <a:rPr lang="en-US" sz="1200" b="1" kern="1200" dirty="0">
                <a:solidFill>
                  <a:schemeClr val="tx1"/>
                </a:solidFill>
                <a:effectLst/>
                <a:latin typeface="+mn-lt"/>
                <a:ea typeface="+mn-ea"/>
                <a:cs typeface="+mn-cs"/>
              </a:rPr>
              <a:t>Freedom:</a:t>
            </a:r>
            <a:r>
              <a:rPr lang="en-US" sz="1200" kern="1200" dirty="0">
                <a:solidFill>
                  <a:schemeClr val="tx1"/>
                </a:solidFill>
                <a:effectLst/>
                <a:latin typeface="+mn-lt"/>
                <a:ea typeface="+mn-ea"/>
                <a:cs typeface="+mn-cs"/>
              </a:rPr>
              <a:t> Flexibility, work-life balance, remote options, results-oriented culture. </a:t>
            </a:r>
          </a:p>
          <a:p>
            <a:pPr lvl="0"/>
            <a:r>
              <a:rPr lang="en-US" sz="1200" b="1" kern="1200" dirty="0">
                <a:solidFill>
                  <a:schemeClr val="tx1"/>
                </a:solidFill>
                <a:effectLst/>
                <a:latin typeface="+mn-lt"/>
                <a:ea typeface="+mn-ea"/>
                <a:cs typeface="+mn-cs"/>
              </a:rPr>
              <a:t>Action:</a:t>
            </a:r>
            <a:r>
              <a:rPr lang="en-US" sz="1200" kern="1200" dirty="0">
                <a:solidFill>
                  <a:schemeClr val="tx1"/>
                </a:solidFill>
                <a:effectLst/>
                <a:latin typeface="+mn-lt"/>
                <a:ea typeface="+mn-ea"/>
                <a:cs typeface="+mn-cs"/>
              </a:rPr>
              <a:t> Profile key hires using personality/incentive mapping and tailor compensation to their dominant driver. </a:t>
            </a:r>
          </a:p>
          <a:p>
            <a:endParaRPr lang="en-US" dirty="0"/>
          </a:p>
        </p:txBody>
      </p:sp>
      <p:sp>
        <p:nvSpPr>
          <p:cNvPr id="4" name="Slide Number Placeholder 3"/>
          <p:cNvSpPr>
            <a:spLocks noGrp="1"/>
          </p:cNvSpPr>
          <p:nvPr>
            <p:ph type="sldNum" sz="quarter" idx="5"/>
          </p:nvPr>
        </p:nvSpPr>
        <p:spPr/>
        <p:txBody>
          <a:bodyPr/>
          <a:lstStyle/>
          <a:p>
            <a:fld id="{3D8BAF61-70CD-4E90-8D94-4B71DC6A574E}" type="slidenum">
              <a:rPr lang="en-US" smtClean="0"/>
              <a:t>8</a:t>
            </a:fld>
            <a:endParaRPr lang="en-US"/>
          </a:p>
        </p:txBody>
      </p:sp>
    </p:spTree>
    <p:extLst>
      <p:ext uri="{BB962C8B-B14F-4D97-AF65-F5344CB8AC3E}">
        <p14:creationId xmlns:p14="http://schemas.microsoft.com/office/powerpoint/2010/main" val="36429127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De-Risking Hiring:</a:t>
            </a:r>
            <a:r>
              <a:rPr lang="en-US" sz="1200" kern="1200" dirty="0">
                <a:solidFill>
                  <a:schemeClr val="tx1"/>
                </a:solidFill>
                <a:effectLst/>
                <a:latin typeface="+mn-lt"/>
                <a:ea typeface="+mn-ea"/>
                <a:cs typeface="+mn-cs"/>
              </a:rPr>
              <a:t> Hiring by gut feeling leads to costly mismatches. Use a structured 20-point scorecard (5 points per quadrant) to evaluate candidates objectively. </a:t>
            </a:r>
          </a:p>
          <a:p>
            <a:pPr lvl="0"/>
            <a:r>
              <a:rPr lang="en-US" sz="1200" kern="1200" dirty="0">
                <a:solidFill>
                  <a:schemeClr val="tx1"/>
                </a:solidFill>
                <a:effectLst/>
                <a:latin typeface="+mn-lt"/>
                <a:ea typeface="+mn-ea"/>
                <a:cs typeface="+mn-cs"/>
              </a:rPr>
              <a:t>1. Proven Experience (5 Pts): Have they solved this exact operational problem before? </a:t>
            </a:r>
          </a:p>
          <a:p>
            <a:pPr lvl="0"/>
            <a:r>
              <a:rPr lang="en-US" sz="1200" kern="1200" dirty="0">
                <a:solidFill>
                  <a:schemeClr val="tx1"/>
                </a:solidFill>
                <a:effectLst/>
                <a:latin typeface="+mn-lt"/>
                <a:ea typeface="+mn-ea"/>
                <a:cs typeface="+mn-cs"/>
              </a:rPr>
              <a:t>2. Sector Experience (5 Pts): Do they intimately understand the dynamics and nuances of your specific industry? </a:t>
            </a:r>
          </a:p>
          <a:p>
            <a:pPr lvl="0"/>
            <a:r>
              <a:rPr lang="en-US" sz="1200" kern="1200" dirty="0">
                <a:solidFill>
                  <a:schemeClr val="tx1"/>
                </a:solidFill>
                <a:effectLst/>
                <a:latin typeface="+mn-lt"/>
                <a:ea typeface="+mn-ea"/>
                <a:cs typeface="+mn-cs"/>
              </a:rPr>
              <a:t>3. Size Match (5 Pts): Have they operated at your current revenue scale? (An executive from a $100M corporation will often fail in a scrappy $2M business). </a:t>
            </a:r>
          </a:p>
          <a:p>
            <a:pPr lvl="0"/>
            <a:r>
              <a:rPr lang="en-US" sz="1200" kern="1200" dirty="0">
                <a:solidFill>
                  <a:schemeClr val="tx1"/>
                </a:solidFill>
                <a:effectLst/>
                <a:latin typeface="+mn-lt"/>
                <a:ea typeface="+mn-ea"/>
                <a:cs typeface="+mn-cs"/>
              </a:rPr>
              <a:t>4. Network Reference (5 Pts): Can trusted leaders in your network vouch directly for their execution? </a:t>
            </a:r>
          </a:p>
          <a:p>
            <a:endParaRPr lang="en-US" dirty="0"/>
          </a:p>
        </p:txBody>
      </p:sp>
      <p:sp>
        <p:nvSpPr>
          <p:cNvPr id="4" name="Slide Number Placeholder 3"/>
          <p:cNvSpPr>
            <a:spLocks noGrp="1"/>
          </p:cNvSpPr>
          <p:nvPr>
            <p:ph type="sldNum" sz="quarter" idx="5"/>
          </p:nvPr>
        </p:nvSpPr>
        <p:spPr/>
        <p:txBody>
          <a:bodyPr/>
          <a:lstStyle/>
          <a:p>
            <a:fld id="{3D8BAF61-70CD-4E90-8D94-4B71DC6A574E}" type="slidenum">
              <a:rPr lang="en-US" smtClean="0"/>
              <a:t>9</a:t>
            </a:fld>
            <a:endParaRPr lang="en-US"/>
          </a:p>
        </p:txBody>
      </p:sp>
    </p:spTree>
    <p:extLst>
      <p:ext uri="{BB962C8B-B14F-4D97-AF65-F5344CB8AC3E}">
        <p14:creationId xmlns:p14="http://schemas.microsoft.com/office/powerpoint/2010/main" val="2601818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Ecosystem Dynamics:</a:t>
            </a:r>
            <a:r>
              <a:rPr lang="en-US" sz="1200" kern="1200" dirty="0">
                <a:solidFill>
                  <a:schemeClr val="tx1"/>
                </a:solidFill>
                <a:effectLst/>
                <a:latin typeface="+mn-lt"/>
                <a:ea typeface="+mn-ea"/>
                <a:cs typeface="+mn-cs"/>
              </a:rPr>
              <a:t> A functional business requires two distinct categories of talent. </a:t>
            </a:r>
          </a:p>
          <a:p>
            <a:pPr lvl="0"/>
            <a:r>
              <a:rPr lang="en-US" sz="1200" kern="1200" dirty="0">
                <a:solidFill>
                  <a:schemeClr val="tx1"/>
                </a:solidFill>
                <a:effectLst/>
                <a:latin typeface="+mn-lt"/>
                <a:ea typeface="+mn-ea"/>
                <a:cs typeface="+mn-cs"/>
              </a:rPr>
              <a:t>The House Cats: Reliable 9-to-5 performers. They thrive on routine, stability, and process. They keep the baseline operational lights on and execute repeatable processes smoothly. </a:t>
            </a:r>
          </a:p>
          <a:p>
            <a:pPr lvl="0"/>
            <a:r>
              <a:rPr lang="en-US" sz="1200" kern="1200" dirty="0">
                <a:solidFill>
                  <a:schemeClr val="tx1"/>
                </a:solidFill>
                <a:effectLst/>
                <a:latin typeface="+mn-lt"/>
                <a:ea typeface="+mn-ea"/>
                <a:cs typeface="+mn-cs"/>
              </a:rPr>
              <a:t>The Cheetahs (A-Players / Divas): The 20% who drive 80% of outsized growth. They are intense, demanding, high-maintenance, and often difficult to manage. </a:t>
            </a:r>
          </a:p>
          <a:p>
            <a:pPr lvl="0"/>
            <a:r>
              <a:rPr lang="en-US" sz="1200" b="1" kern="1200" dirty="0">
                <a:solidFill>
                  <a:schemeClr val="tx1"/>
                </a:solidFill>
                <a:effectLst/>
                <a:latin typeface="+mn-lt"/>
                <a:ea typeface="+mn-ea"/>
                <a:cs typeface="+mn-cs"/>
              </a:rPr>
              <a:t>The Rule:</a:t>
            </a:r>
            <a:r>
              <a:rPr lang="en-US" sz="1200" kern="1200" dirty="0">
                <a:solidFill>
                  <a:schemeClr val="tx1"/>
                </a:solidFill>
                <a:effectLst/>
                <a:latin typeface="+mn-lt"/>
                <a:ea typeface="+mn-ea"/>
                <a:cs typeface="+mn-cs"/>
              </a:rPr>
              <a:t> Hire Cheetahs whenever you need rapid growth. Manage the friction they bring because their performance drives the company forward. Balance them with House Cats to maintain operational stability. </a:t>
            </a:r>
          </a:p>
          <a:p>
            <a:endParaRPr lang="en-US" dirty="0"/>
          </a:p>
        </p:txBody>
      </p:sp>
      <p:sp>
        <p:nvSpPr>
          <p:cNvPr id="4" name="Slide Number Placeholder 3"/>
          <p:cNvSpPr>
            <a:spLocks noGrp="1"/>
          </p:cNvSpPr>
          <p:nvPr>
            <p:ph type="sldNum" sz="quarter" idx="5"/>
          </p:nvPr>
        </p:nvSpPr>
        <p:spPr/>
        <p:txBody>
          <a:bodyPr/>
          <a:lstStyle/>
          <a:p>
            <a:fld id="{3D8BAF61-70CD-4E90-8D94-4B71DC6A574E}" type="slidenum">
              <a:rPr lang="en-US" smtClean="0"/>
              <a:t>10</a:t>
            </a:fld>
            <a:endParaRPr lang="en-US"/>
          </a:p>
        </p:txBody>
      </p:sp>
    </p:spTree>
    <p:extLst>
      <p:ext uri="{BB962C8B-B14F-4D97-AF65-F5344CB8AC3E}">
        <p14:creationId xmlns:p14="http://schemas.microsoft.com/office/powerpoint/2010/main" val="39021432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Attracting the Right Talent:</a:t>
            </a:r>
            <a:r>
              <a:rPr lang="en-US" sz="1200" kern="1200" dirty="0">
                <a:solidFill>
                  <a:schemeClr val="tx1"/>
                </a:solidFill>
                <a:effectLst/>
                <a:latin typeface="+mn-lt"/>
                <a:ea typeface="+mn-ea"/>
                <a:cs typeface="+mn-cs"/>
              </a:rPr>
              <a:t> Generic, sanitized corporate job descriptions attract passive, low-intensity candidates. </a:t>
            </a:r>
          </a:p>
          <a:p>
            <a:pPr lvl="0"/>
            <a:r>
              <a:rPr lang="en-US" sz="1200" b="1" kern="1200" dirty="0">
                <a:solidFill>
                  <a:schemeClr val="tx1"/>
                </a:solidFill>
                <a:effectLst/>
                <a:latin typeface="+mn-lt"/>
                <a:ea typeface="+mn-ea"/>
                <a:cs typeface="+mn-cs"/>
              </a:rPr>
              <a:t>The Strategy:</a:t>
            </a:r>
            <a:r>
              <a:rPr lang="en-US" sz="1200" kern="1200" dirty="0">
                <a:solidFill>
                  <a:schemeClr val="tx1"/>
                </a:solidFill>
                <a:effectLst/>
                <a:latin typeface="+mn-lt"/>
                <a:ea typeface="+mn-ea"/>
                <a:cs typeface="+mn-cs"/>
              </a:rPr>
              <a:t> Deploy an anti-sale or a recruiting filter designed to intentionally repel low-performers and attract hyper-driven obsessives. </a:t>
            </a:r>
          </a:p>
          <a:p>
            <a:pPr lvl="0"/>
            <a:r>
              <a:rPr lang="en-US" sz="1200" b="1" kern="1200" dirty="0">
                <a:solidFill>
                  <a:schemeClr val="tx1"/>
                </a:solidFill>
                <a:effectLst/>
                <a:latin typeface="+mn-lt"/>
                <a:ea typeface="+mn-ea"/>
                <a:cs typeface="+mn-cs"/>
              </a:rPr>
              <a:t>Example Positioning:</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Do not join this company if you do not love hard problems that demand your absolute best. We operate on the bleeding edge, and expectations are relentless.</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Outcome:</a:t>
            </a:r>
            <a:r>
              <a:rPr lang="en-US" sz="1200" kern="1200" dirty="0">
                <a:solidFill>
                  <a:schemeClr val="tx1"/>
                </a:solidFill>
                <a:effectLst/>
                <a:latin typeface="+mn-lt"/>
                <a:ea typeface="+mn-ea"/>
                <a:cs typeface="+mn-cs"/>
              </a:rPr>
              <a:t> Filter for candidates who thrive on high accountability and intensity early in the hiring pipeline. </a:t>
            </a:r>
          </a:p>
          <a:p>
            <a:endParaRPr lang="en-US" dirty="0"/>
          </a:p>
        </p:txBody>
      </p:sp>
      <p:sp>
        <p:nvSpPr>
          <p:cNvPr id="4" name="Slide Number Placeholder 3"/>
          <p:cNvSpPr>
            <a:spLocks noGrp="1"/>
          </p:cNvSpPr>
          <p:nvPr>
            <p:ph type="sldNum" sz="quarter" idx="5"/>
          </p:nvPr>
        </p:nvSpPr>
        <p:spPr/>
        <p:txBody>
          <a:bodyPr/>
          <a:lstStyle/>
          <a:p>
            <a:fld id="{3D8BAF61-70CD-4E90-8D94-4B71DC6A574E}" type="slidenum">
              <a:rPr lang="en-US" smtClean="0"/>
              <a:t>11</a:t>
            </a:fld>
            <a:endParaRPr lang="en-US"/>
          </a:p>
        </p:txBody>
      </p:sp>
    </p:spTree>
    <p:extLst>
      <p:ext uri="{BB962C8B-B14F-4D97-AF65-F5344CB8AC3E}">
        <p14:creationId xmlns:p14="http://schemas.microsoft.com/office/powerpoint/2010/main" val="8187003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Pricing Trap:</a:t>
            </a:r>
            <a:r>
              <a:rPr lang="en-US" sz="1200" kern="1200" dirty="0">
                <a:solidFill>
                  <a:schemeClr val="tx1"/>
                </a:solidFill>
                <a:effectLst/>
                <a:latin typeface="+mn-lt"/>
                <a:ea typeface="+mn-ea"/>
                <a:cs typeface="+mn-cs"/>
              </a:rPr>
              <a:t> Founders frequently underprice their offerings because they anchor prices to their personal bank accounts or spending habits. </a:t>
            </a:r>
          </a:p>
          <a:p>
            <a:pPr lvl="0"/>
            <a:r>
              <a:rPr lang="en-US" sz="1200" b="1" kern="1200" dirty="0">
                <a:solidFill>
                  <a:schemeClr val="tx1"/>
                </a:solidFill>
                <a:effectLst/>
                <a:latin typeface="+mn-lt"/>
                <a:ea typeface="+mn-ea"/>
                <a:cs typeface="+mn-cs"/>
              </a:rPr>
              <a:t>Data:</a:t>
            </a:r>
            <a:r>
              <a:rPr lang="en-US" sz="1200" kern="1200" dirty="0">
                <a:solidFill>
                  <a:schemeClr val="tx1"/>
                </a:solidFill>
                <a:effectLst/>
                <a:latin typeface="+mn-lt"/>
                <a:ea typeface="+mn-ea"/>
                <a:cs typeface="+mn-cs"/>
              </a:rPr>
              <a:t> Professional pricing studies show executives routinely underprice by 15% due to personal bias. Lower-level employees will price services up to 30% lower if left unchecked. </a:t>
            </a:r>
          </a:p>
          <a:p>
            <a:pPr lvl="0"/>
            <a:r>
              <a:rPr lang="en-US" sz="1200" b="1" kern="1200" dirty="0">
                <a:solidFill>
                  <a:schemeClr val="tx1"/>
                </a:solidFill>
                <a:effectLst/>
                <a:latin typeface="+mn-lt"/>
                <a:ea typeface="+mn-ea"/>
                <a:cs typeface="+mn-cs"/>
              </a:rPr>
              <a:t>Value-Based Pricing:</a:t>
            </a:r>
            <a:r>
              <a:rPr lang="en-US" sz="1200" kern="1200" dirty="0">
                <a:solidFill>
                  <a:schemeClr val="tx1"/>
                </a:solidFill>
                <a:effectLst/>
                <a:latin typeface="+mn-lt"/>
                <a:ea typeface="+mn-ea"/>
                <a:cs typeface="+mn-cs"/>
              </a:rPr>
              <a:t> Shift from cost-plus pricing to value-captured pricing. Calculate the exact financial value or savings created for the client, and price to capture 10% to 30% of that total value. Disconnect pricing decisions from personal affordability. </a:t>
            </a:r>
          </a:p>
          <a:p>
            <a:endParaRPr lang="en-US" dirty="0"/>
          </a:p>
        </p:txBody>
      </p:sp>
      <p:sp>
        <p:nvSpPr>
          <p:cNvPr id="4" name="Slide Number Placeholder 3"/>
          <p:cNvSpPr>
            <a:spLocks noGrp="1"/>
          </p:cNvSpPr>
          <p:nvPr>
            <p:ph type="sldNum" sz="quarter" idx="5"/>
          </p:nvPr>
        </p:nvSpPr>
        <p:spPr/>
        <p:txBody>
          <a:bodyPr/>
          <a:lstStyle/>
          <a:p>
            <a:fld id="{3D8BAF61-70CD-4E90-8D94-4B71DC6A574E}" type="slidenum">
              <a:rPr lang="en-US" smtClean="0"/>
              <a:t>12</a:t>
            </a:fld>
            <a:endParaRPr lang="en-US"/>
          </a:p>
        </p:txBody>
      </p:sp>
    </p:spTree>
    <p:extLst>
      <p:ext uri="{BB962C8B-B14F-4D97-AF65-F5344CB8AC3E}">
        <p14:creationId xmlns:p14="http://schemas.microsoft.com/office/powerpoint/2010/main" val="28570492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Reclaiming Time:</a:t>
            </a:r>
            <a:r>
              <a:rPr lang="en-US" sz="1200" kern="1200" dirty="0">
                <a:solidFill>
                  <a:schemeClr val="tx1"/>
                </a:solidFill>
                <a:effectLst/>
                <a:latin typeface="+mn-lt"/>
                <a:ea typeface="+mn-ea"/>
                <a:cs typeface="+mn-cs"/>
              </a:rPr>
              <a:t> Scaling requires systematically eliminating low-leverage tasks. </a:t>
            </a:r>
          </a:p>
          <a:p>
            <a:pPr lvl="0"/>
            <a:r>
              <a:rPr lang="en-US" sz="1200" b="1" kern="1200" dirty="0">
                <a:solidFill>
                  <a:schemeClr val="tx1"/>
                </a:solidFill>
                <a:effectLst/>
                <a:latin typeface="+mn-lt"/>
                <a:ea typeface="+mn-ea"/>
                <a:cs typeface="+mn-cs"/>
              </a:rPr>
              <a:t>1. Administrative Inbox Management:</a:t>
            </a:r>
            <a:r>
              <a:rPr lang="en-US" sz="1200" kern="1200" dirty="0">
                <a:solidFill>
                  <a:schemeClr val="tx1"/>
                </a:solidFill>
                <a:effectLst/>
                <a:latin typeface="+mn-lt"/>
                <a:ea typeface="+mn-ea"/>
                <a:cs typeface="+mn-cs"/>
              </a:rPr>
              <a:t> Delegate email screening completely to an assistant or automated routing. </a:t>
            </a:r>
          </a:p>
          <a:p>
            <a:pPr lvl="0"/>
            <a:r>
              <a:rPr lang="en-US" sz="1200" b="1" kern="1200" dirty="0">
                <a:solidFill>
                  <a:schemeClr val="tx1"/>
                </a:solidFill>
                <a:effectLst/>
                <a:latin typeface="+mn-lt"/>
                <a:ea typeface="+mn-ea"/>
                <a:cs typeface="+mn-cs"/>
              </a:rPr>
              <a:t>2. Micro-Invoice Approvals:</a:t>
            </a:r>
            <a:r>
              <a:rPr lang="en-US" sz="1200" kern="1200" dirty="0">
                <a:solidFill>
                  <a:schemeClr val="tx1"/>
                </a:solidFill>
                <a:effectLst/>
                <a:latin typeface="+mn-lt"/>
                <a:ea typeface="+mn-ea"/>
                <a:cs typeface="+mn-cs"/>
              </a:rPr>
              <a:t> Stop approving minor expenses. Set clear budget thresholds (e.g., department heads approve anything under 1–10% of revenue). </a:t>
            </a:r>
          </a:p>
          <a:p>
            <a:pPr lvl="0"/>
            <a:r>
              <a:rPr lang="en-US" sz="1200" b="1" kern="1200" dirty="0">
                <a:solidFill>
                  <a:schemeClr val="tx1"/>
                </a:solidFill>
                <a:effectLst/>
                <a:latin typeface="+mn-lt"/>
                <a:ea typeface="+mn-ea"/>
                <a:cs typeface="+mn-cs"/>
              </a:rPr>
              <a:t>3. Manual Data Pulls:</a:t>
            </a:r>
            <a:r>
              <a:rPr lang="en-US" sz="1200" kern="1200" dirty="0">
                <a:solidFill>
                  <a:schemeClr val="tx1"/>
                </a:solidFill>
                <a:effectLst/>
                <a:latin typeface="+mn-lt"/>
                <a:ea typeface="+mn-ea"/>
                <a:cs typeface="+mn-cs"/>
              </a:rPr>
              <a:t> Automate reporting so metrics populate live on your central dashboard. </a:t>
            </a:r>
          </a:p>
          <a:p>
            <a:pPr lvl="0"/>
            <a:r>
              <a:rPr lang="en-US" sz="1200" b="1" kern="1200" dirty="0">
                <a:solidFill>
                  <a:schemeClr val="tx1"/>
                </a:solidFill>
                <a:effectLst/>
                <a:latin typeface="+mn-lt"/>
                <a:ea typeface="+mn-ea"/>
                <a:cs typeface="+mn-cs"/>
              </a:rPr>
              <a:t>4. Eliminating the Open-Door Policy:</a:t>
            </a:r>
            <a:r>
              <a:rPr lang="en-US" sz="1200" kern="1200" dirty="0">
                <a:solidFill>
                  <a:schemeClr val="tx1"/>
                </a:solidFill>
                <a:effectLst/>
                <a:latin typeface="+mn-lt"/>
                <a:ea typeface="+mn-ea"/>
                <a:cs typeface="+mn-cs"/>
              </a:rPr>
              <a:t> Replace unstructured interruptions with the </a:t>
            </a:r>
            <a:r>
              <a:rPr lang="en-US" sz="1200" b="1" kern="1200" dirty="0">
                <a:solidFill>
                  <a:schemeClr val="tx1"/>
                </a:solidFill>
                <a:effectLst/>
                <a:latin typeface="+mn-lt"/>
                <a:ea typeface="+mn-ea"/>
                <a:cs typeface="+mn-cs"/>
              </a:rPr>
              <a:t>Three Things Protocol</a:t>
            </a:r>
            <a:r>
              <a:rPr lang="en-US" sz="1200" kern="1200" dirty="0">
                <a:solidFill>
                  <a:schemeClr val="tx1"/>
                </a:solidFill>
                <a:effectLst/>
                <a:latin typeface="+mn-lt"/>
                <a:ea typeface="+mn-ea"/>
                <a:cs typeface="+mn-cs"/>
              </a:rPr>
              <a:t> (When bringing an issue, staff must present: The Problem, The Proposed Solution, and Potential Risks). </a:t>
            </a:r>
          </a:p>
          <a:p>
            <a:endParaRPr lang="en-US" dirty="0"/>
          </a:p>
        </p:txBody>
      </p:sp>
      <p:sp>
        <p:nvSpPr>
          <p:cNvPr id="4" name="Slide Number Placeholder 3"/>
          <p:cNvSpPr>
            <a:spLocks noGrp="1"/>
          </p:cNvSpPr>
          <p:nvPr>
            <p:ph type="sldNum" sz="quarter" idx="5"/>
          </p:nvPr>
        </p:nvSpPr>
        <p:spPr/>
        <p:txBody>
          <a:bodyPr/>
          <a:lstStyle/>
          <a:p>
            <a:fld id="{3D8BAF61-70CD-4E90-8D94-4B71DC6A574E}" type="slidenum">
              <a:rPr lang="en-US" smtClean="0"/>
              <a:t>13</a:t>
            </a:fld>
            <a:endParaRPr lang="en-US"/>
          </a:p>
        </p:txBody>
      </p:sp>
    </p:spTree>
    <p:extLst>
      <p:ext uri="{BB962C8B-B14F-4D97-AF65-F5344CB8AC3E}">
        <p14:creationId xmlns:p14="http://schemas.microsoft.com/office/powerpoint/2010/main" val="36905092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Key Hire:</a:t>
            </a:r>
            <a:r>
              <a:rPr lang="en-US" sz="1200" kern="1200" dirty="0">
                <a:solidFill>
                  <a:schemeClr val="tx1"/>
                </a:solidFill>
                <a:effectLst/>
                <a:latin typeface="+mn-lt"/>
                <a:ea typeface="+mn-ea"/>
                <a:cs typeface="+mn-cs"/>
              </a:rPr>
              <a:t> For a seven-figure business, the highest-leverage addition is a high-agency Chief of Staff (Number 2). </a:t>
            </a:r>
          </a:p>
          <a:p>
            <a:pPr lvl="0"/>
            <a:r>
              <a:rPr lang="en-US" sz="1200" b="1" kern="1200" dirty="0">
                <a:solidFill>
                  <a:schemeClr val="tx1"/>
                </a:solidFill>
                <a:effectLst/>
                <a:latin typeface="+mn-lt"/>
                <a:ea typeface="+mn-ea"/>
                <a:cs typeface="+mn-cs"/>
              </a:rPr>
              <a:t>Candidate Profile:</a:t>
            </a:r>
            <a:r>
              <a:rPr lang="en-US" sz="1200" kern="1200" dirty="0">
                <a:solidFill>
                  <a:schemeClr val="tx1"/>
                </a:solidFill>
                <a:effectLst/>
                <a:latin typeface="+mn-lt"/>
                <a:ea typeface="+mn-ea"/>
                <a:cs typeface="+mn-cs"/>
              </a:rPr>
              <a:t> Look for hungry, high-execution individuals with immense grit who desire direct proximity to business leadership. </a:t>
            </a:r>
          </a:p>
          <a:p>
            <a:pPr lvl="0"/>
            <a:r>
              <a:rPr lang="en-US" sz="1200" b="1" kern="1200" dirty="0">
                <a:solidFill>
                  <a:schemeClr val="tx1"/>
                </a:solidFill>
                <a:effectLst/>
                <a:latin typeface="+mn-lt"/>
                <a:ea typeface="+mn-ea"/>
                <a:cs typeface="+mn-cs"/>
              </a:rPr>
              <a:t>Function:</a:t>
            </a:r>
            <a:r>
              <a:rPr lang="en-US" sz="1200" kern="1200" dirty="0">
                <a:solidFill>
                  <a:schemeClr val="tx1"/>
                </a:solidFill>
                <a:effectLst/>
                <a:latin typeface="+mn-lt"/>
                <a:ea typeface="+mn-ea"/>
                <a:cs typeface="+mn-cs"/>
              </a:rPr>
              <a:t> They bridge the gap between visionary strategy and operational execution. They structure chaotic ideas into actionable projects, act as an operational gatekeeper, and enforce accountability across Operations, Sales, and Marketing before issues reach the owner. </a:t>
            </a:r>
          </a:p>
          <a:p>
            <a:endParaRPr lang="en-US" dirty="0"/>
          </a:p>
        </p:txBody>
      </p:sp>
      <p:sp>
        <p:nvSpPr>
          <p:cNvPr id="4" name="Slide Number Placeholder 3"/>
          <p:cNvSpPr>
            <a:spLocks noGrp="1"/>
          </p:cNvSpPr>
          <p:nvPr>
            <p:ph type="sldNum" sz="quarter" idx="5"/>
          </p:nvPr>
        </p:nvSpPr>
        <p:spPr/>
        <p:txBody>
          <a:bodyPr/>
          <a:lstStyle/>
          <a:p>
            <a:fld id="{3D8BAF61-70CD-4E90-8D94-4B71DC6A574E}" type="slidenum">
              <a:rPr lang="en-US" smtClean="0"/>
              <a:t>14</a:t>
            </a:fld>
            <a:endParaRPr lang="en-US"/>
          </a:p>
        </p:txBody>
      </p:sp>
    </p:spTree>
    <p:extLst>
      <p:ext uri="{BB962C8B-B14F-4D97-AF65-F5344CB8AC3E}">
        <p14:creationId xmlns:p14="http://schemas.microsoft.com/office/powerpoint/2010/main" val="19284671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Psychological Shift:</a:t>
            </a:r>
            <a:r>
              <a:rPr lang="en-US" sz="1200" kern="1200" dirty="0">
                <a:solidFill>
                  <a:schemeClr val="tx1"/>
                </a:solidFill>
                <a:effectLst/>
                <a:latin typeface="+mn-lt"/>
                <a:ea typeface="+mn-ea"/>
                <a:cs typeface="+mn-cs"/>
              </a:rPr>
              <a:t> The primary hurdle to achieving true ownership is ego. Founders often tie their personal identity to being needed daily. </a:t>
            </a:r>
          </a:p>
          <a:p>
            <a:pPr lvl="0"/>
            <a:r>
              <a:rPr lang="en-US" sz="1200" b="1" kern="1200" dirty="0">
                <a:solidFill>
                  <a:schemeClr val="tx1"/>
                </a:solidFill>
                <a:effectLst/>
                <a:latin typeface="+mn-lt"/>
                <a:ea typeface="+mn-ea"/>
                <a:cs typeface="+mn-cs"/>
              </a:rPr>
              <a:t>The Acid Test:</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If nobody knew you owned or founded this business, would you still want to own it purely as an asset?</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Synthesis:</a:t>
            </a:r>
            <a:r>
              <a:rPr lang="en-US" sz="1200" kern="1200" dirty="0">
                <a:solidFill>
                  <a:schemeClr val="tx1"/>
                </a:solidFill>
                <a:effectLst/>
                <a:latin typeface="+mn-lt"/>
                <a:ea typeface="+mn-ea"/>
                <a:cs typeface="+mn-cs"/>
              </a:rPr>
              <a:t> Business is an engine designed to deploy capital and talent to generate returns with maximum leverage. </a:t>
            </a:r>
          </a:p>
          <a:p>
            <a:pPr lvl="0"/>
            <a:r>
              <a:rPr lang="en-US" sz="1200" b="1" kern="1200" dirty="0">
                <a:solidFill>
                  <a:schemeClr val="tx1"/>
                </a:solidFill>
                <a:effectLst/>
                <a:latin typeface="+mn-lt"/>
                <a:ea typeface="+mn-ea"/>
                <a:cs typeface="+mn-cs"/>
              </a:rPr>
              <a:t>Final Directive:</a:t>
            </a:r>
            <a:r>
              <a:rPr lang="en-US" sz="1200" kern="1200" dirty="0">
                <a:solidFill>
                  <a:schemeClr val="tx1"/>
                </a:solidFill>
                <a:effectLst/>
                <a:latin typeface="+mn-lt"/>
                <a:ea typeface="+mn-ea"/>
                <a:cs typeface="+mn-cs"/>
              </a:rPr>
              <a:t> Kill the hero complex. The true measure of business success is an enterprise that scales seamlessly in your absence. </a:t>
            </a:r>
          </a:p>
          <a:p>
            <a:endParaRPr lang="en-US" dirty="0"/>
          </a:p>
        </p:txBody>
      </p:sp>
      <p:sp>
        <p:nvSpPr>
          <p:cNvPr id="4" name="Slide Number Placeholder 3"/>
          <p:cNvSpPr>
            <a:spLocks noGrp="1"/>
          </p:cNvSpPr>
          <p:nvPr>
            <p:ph type="sldNum" sz="quarter" idx="5"/>
          </p:nvPr>
        </p:nvSpPr>
        <p:spPr/>
        <p:txBody>
          <a:bodyPr/>
          <a:lstStyle/>
          <a:p>
            <a:fld id="{3D8BAF61-70CD-4E90-8D94-4B71DC6A574E}" type="slidenum">
              <a:rPr lang="en-US" smtClean="0"/>
              <a:t>15</a:t>
            </a:fld>
            <a:endParaRPr lang="en-US"/>
          </a:p>
        </p:txBody>
      </p:sp>
    </p:spTree>
    <p:extLst>
      <p:ext uri="{BB962C8B-B14F-4D97-AF65-F5344CB8AC3E}">
        <p14:creationId xmlns:p14="http://schemas.microsoft.com/office/powerpoint/2010/main" val="30670404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Core Contrasts: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Income Reality:</a:t>
            </a:r>
            <a:r>
              <a:rPr lang="en-US" sz="1200" kern="1200" dirty="0">
                <a:solidFill>
                  <a:schemeClr val="tx1"/>
                </a:solidFill>
                <a:effectLst/>
                <a:latin typeface="+mn-lt"/>
                <a:ea typeface="+mn-ea"/>
                <a:cs typeface="+mn-cs"/>
              </a:rPr>
              <a:t> 64% of owners earn less than standard employee wages by remaining trapped in low-leverage execution.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Indispensability:</a:t>
            </a:r>
            <a:r>
              <a:rPr lang="en-US" sz="1200" kern="1200" dirty="0">
                <a:solidFill>
                  <a:schemeClr val="tx1"/>
                </a:solidFill>
                <a:effectLst/>
                <a:latin typeface="+mn-lt"/>
                <a:ea typeface="+mn-ea"/>
                <a:cs typeface="+mn-cs"/>
              </a:rPr>
              <a:t> Being essential to daily operations is an architecture flaw, not an achievement.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Acquisitions vs. Startups:</a:t>
            </a:r>
            <a:r>
              <a:rPr lang="en-US" sz="1200" kern="1200" dirty="0">
                <a:solidFill>
                  <a:schemeClr val="tx1"/>
                </a:solidFill>
                <a:effectLst/>
                <a:latin typeface="+mn-lt"/>
                <a:ea typeface="+mn-ea"/>
                <a:cs typeface="+mn-cs"/>
              </a:rPr>
              <a:t> SBA-backed business acquisitions carry a ~13% failure rate versus ~90% for early-stage startups. </a:t>
            </a:r>
          </a:p>
          <a:p>
            <a:pPr lvl="0"/>
            <a:r>
              <a:rPr lang="en-US" sz="1200" b="1" kern="1200" dirty="0">
                <a:solidFill>
                  <a:schemeClr val="tx1"/>
                </a:solidFill>
                <a:effectLst/>
                <a:latin typeface="+mn-lt"/>
                <a:ea typeface="+mn-ea"/>
                <a:cs typeface="+mn-cs"/>
              </a:rPr>
              <a:t>Closing Action Items:</a:t>
            </a:r>
            <a:r>
              <a:rPr lang="en-US" sz="1200" kern="1200" dirty="0">
                <a:solidFill>
                  <a:schemeClr val="tx1"/>
                </a:solidFill>
                <a:effectLst/>
                <a:latin typeface="+mn-lt"/>
                <a:ea typeface="+mn-ea"/>
                <a:cs typeface="+mn-cs"/>
              </a:rPr>
              <a:t> Align employee incentives across the 5 levers, install dual-metric dashboards, hire an operational Number 2, and transition your role from active worker to strategic owner.</a:t>
            </a:r>
          </a:p>
          <a:p>
            <a:endParaRPr lang="en-US" dirty="0"/>
          </a:p>
        </p:txBody>
      </p:sp>
      <p:sp>
        <p:nvSpPr>
          <p:cNvPr id="4" name="Slide Number Placeholder 3"/>
          <p:cNvSpPr>
            <a:spLocks noGrp="1"/>
          </p:cNvSpPr>
          <p:nvPr>
            <p:ph type="sldNum" sz="quarter" idx="5"/>
          </p:nvPr>
        </p:nvSpPr>
        <p:spPr/>
        <p:txBody>
          <a:bodyPr/>
          <a:lstStyle/>
          <a:p>
            <a:fld id="{3D8BAF61-70CD-4E90-8D94-4B71DC6A574E}" type="slidenum">
              <a:rPr lang="en-US" smtClean="0"/>
              <a:t>16</a:t>
            </a:fld>
            <a:endParaRPr lang="en-US"/>
          </a:p>
        </p:txBody>
      </p:sp>
    </p:spTree>
    <p:extLst>
      <p:ext uri="{BB962C8B-B14F-4D97-AF65-F5344CB8AC3E}">
        <p14:creationId xmlns:p14="http://schemas.microsoft.com/office/powerpoint/2010/main" val="15905007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9FB1DE-727B-F393-F059-449066F97209}"/>
              </a:ext>
            </a:extLst>
          </p:cNvPr>
          <p:cNvSpPr>
            <a:spLocks noGrp="1"/>
          </p:cNvSpPr>
          <p:nvPr>
            <p:ph type="dt" sz="half" idx="10"/>
          </p:nvPr>
        </p:nvSpPr>
        <p:spPr/>
        <p:txBody>
          <a:bodyPr/>
          <a:lstStyle/>
          <a:p>
            <a:fld id="{717B2F8C-8C48-49C4-8FA1-1C287A874685}" type="datetimeFigureOut">
              <a:rPr lang="en-US" smtClean="0"/>
              <a:t>10/21/2026</a:t>
            </a:fld>
            <a:endParaRPr lang="en-US"/>
          </a:p>
        </p:txBody>
      </p:sp>
      <p:sp>
        <p:nvSpPr>
          <p:cNvPr id="3" name="Footer Placeholder 2">
            <a:extLst>
              <a:ext uri="{FF2B5EF4-FFF2-40B4-BE49-F238E27FC236}">
                <a16:creationId xmlns:a16="http://schemas.microsoft.com/office/drawing/2014/main" id="{59E965FF-4253-F954-79AB-34F73BB63F8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3396491-9A3C-7243-98BD-6CE8C9CCC655}"/>
              </a:ext>
            </a:extLst>
          </p:cNvPr>
          <p:cNvSpPr>
            <a:spLocks noGrp="1"/>
          </p:cNvSpPr>
          <p:nvPr>
            <p:ph type="sldNum" sz="quarter" idx="12"/>
          </p:nvPr>
        </p:nvSpPr>
        <p:spPr/>
        <p:txBody>
          <a:bodyPr/>
          <a:lstStyle/>
          <a:p>
            <a:fld id="{CEFEEE3F-6538-47D6-BE95-743BCFEBD45E}" type="slidenum">
              <a:rPr lang="en-US" smtClean="0"/>
              <a:t>‹#›</a:t>
            </a:fld>
            <a:endParaRPr lang="en-US"/>
          </a:p>
        </p:txBody>
      </p:sp>
    </p:spTree>
    <p:extLst>
      <p:ext uri="{BB962C8B-B14F-4D97-AF65-F5344CB8AC3E}">
        <p14:creationId xmlns:p14="http://schemas.microsoft.com/office/powerpoint/2010/main" val="8943849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E87D64-73D2-C528-D448-785097832F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02FAE09-070F-0B97-2E49-48D965F228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9B7430-530C-E87A-6840-4849C3FA38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17B2F8C-8C48-49C4-8FA1-1C287A874685}" type="datetimeFigureOut">
              <a:rPr lang="en-US" smtClean="0"/>
              <a:t>10/21/2026</a:t>
            </a:fld>
            <a:endParaRPr lang="en-US"/>
          </a:p>
        </p:txBody>
      </p:sp>
      <p:sp>
        <p:nvSpPr>
          <p:cNvPr id="5" name="Footer Placeholder 4">
            <a:extLst>
              <a:ext uri="{FF2B5EF4-FFF2-40B4-BE49-F238E27FC236}">
                <a16:creationId xmlns:a16="http://schemas.microsoft.com/office/drawing/2014/main" id="{EFC038BA-C5EB-267B-EE54-D688D8FD68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436942E-6314-ED06-A039-C2A7756824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EFEEE3F-6538-47D6-BE95-743BCFEBD45E}" type="slidenum">
              <a:rPr lang="en-US" smtClean="0"/>
              <a:t>‹#›</a:t>
            </a:fld>
            <a:endParaRPr lang="en-US"/>
          </a:p>
        </p:txBody>
      </p:sp>
    </p:spTree>
    <p:extLst>
      <p:ext uri="{BB962C8B-B14F-4D97-AF65-F5344CB8AC3E}">
        <p14:creationId xmlns:p14="http://schemas.microsoft.com/office/powerpoint/2010/main" val="3905908046"/>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CD2D475-3FFF-610E-A644-0A29BF14C08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79B514D-E22B-7E9A-732F-CBB6C0BF6E7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4551DCE-B3A5-5D8A-F9F9-7CBBACE4AF9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F3F66A-48ED-CCC1-CBBC-3985D66FE54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D42CEAA-51E1-B111-F7A4-F89170BA86B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0F57D2C-A180-029F-FC69-4FF672AA2A1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49806F2-2EC7-814C-41EE-018B18E419A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7277132-1683-6757-0F97-552C35414E8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2B1FE64-BBB5-0987-892D-D7F5278A16B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C28AD6-B4C7-2A3B-98ED-B497DBEBE4C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9200412-9111-D4A2-05C9-E46CB36A5D2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CBCB2D2-F811-FBAB-86D0-6AEF0498135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8E1086-98C3-E733-AC17-3DFD5385419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04E5F9-FF88-DCEF-5490-89721983766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9AB1F2-09F2-B245-FCF1-4477C23F4EB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121A3E1-51C2-F457-ACBF-12C59D70DC90}"/>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29277123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1861</Words>
  <Application>Microsoft Office PowerPoint</Application>
  <PresentationFormat>寬螢幕</PresentationFormat>
  <Paragraphs>95</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2026-09-09T03:23:36Z</dcterms:created>
  <dcterms:modified xsi:type="dcterms:W3CDTF">2026-10-21T02:50:25Z</dcterms:modified>
</cp:coreProperties>
</file>