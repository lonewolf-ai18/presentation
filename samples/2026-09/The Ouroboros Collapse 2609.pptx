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14A2799-8A28-4471-A239-3F03474C12C2}" v="34" dt="2026-09-26T23:49:24.65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009" autoAdjust="0"/>
    <p:restoredTop sz="81339" autoAdjust="0"/>
  </p:normalViewPr>
  <p:slideViewPr>
    <p:cSldViewPr snapToGrid="0">
      <p:cViewPr varScale="1">
        <p:scale>
          <a:sx n="72" d="100"/>
          <a:sy n="72" d="100"/>
        </p:scale>
        <p:origin x="84" y="5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ai, Wilson" userId="2840974a-0d84-4886-90a9-9a3ed79f3a48" providerId="ADAL" clId="{9F23B798-9E84-4552-BA63-E776E805C424}"/>
    <pc:docChg chg="custSel modSld modMainMaster">
      <pc:chgData name="Lai, Wilson" userId="2840974a-0d84-4886-90a9-9a3ed79f3a48" providerId="ADAL" clId="{9F23B798-9E84-4552-BA63-E776E805C424}" dt="2026-09-26T23:49:30.173" v="77" actId="166"/>
      <pc:docMkLst>
        <pc:docMk/>
      </pc:docMkLst>
      <pc:sldChg chg="addSp delSp modSp mod modAnim modNotes modNotesTx">
        <pc:chgData name="Lai, Wilson" userId="2840974a-0d84-4886-90a9-9a3ed79f3a48" providerId="ADAL" clId="{9F23B798-9E84-4552-BA63-E776E805C424}" dt="2026-09-26T23:49:30.173" v="77" actId="166"/>
        <pc:sldMkLst>
          <pc:docMk/>
          <pc:sldMk cId="0" sldId="256"/>
        </pc:sldMkLst>
        <pc:spChg chg="add mod">
          <ac:chgData name="Lai, Wilson" userId="2840974a-0d84-4886-90a9-9a3ed79f3a48" providerId="ADAL" clId="{9F23B798-9E84-4552-BA63-E776E805C424}" dt="2026-09-26T23:11:31.135" v="43" actId="164"/>
          <ac:spMkLst>
            <pc:docMk/>
            <pc:sldMk cId="0" sldId="256"/>
            <ac:spMk id="4" creationId="{B54F7FAC-993B-5EE7-E314-CA8756E60103}"/>
          </ac:spMkLst>
        </pc:spChg>
        <pc:spChg chg="del mod">
          <ac:chgData name="Lai, Wilson" userId="2840974a-0d84-4886-90a9-9a3ed79f3a48" providerId="ADAL" clId="{9F23B798-9E84-4552-BA63-E776E805C424}" dt="2026-09-26T22:54:41.582" v="3" actId="478"/>
          <ac:spMkLst>
            <pc:docMk/>
            <pc:sldMk cId="0" sldId="256"/>
            <ac:spMk id="4" creationId="{F3D3CA30-9489-2561-38C0-5624B5862A96}"/>
          </ac:spMkLst>
        </pc:spChg>
        <pc:grpChg chg="add mod">
          <ac:chgData name="Lai, Wilson" userId="2840974a-0d84-4886-90a9-9a3ed79f3a48" providerId="ADAL" clId="{9F23B798-9E84-4552-BA63-E776E805C424}" dt="2026-09-26T23:11:34.171" v="44" actId="1076"/>
          <ac:grpSpMkLst>
            <pc:docMk/>
            <pc:sldMk cId="0" sldId="256"/>
            <ac:grpSpMk id="6" creationId="{6C792C1B-3642-ED33-C8F3-FDDE83CD58B3}"/>
          </ac:grpSpMkLst>
        </pc:grpChg>
        <pc:picChg chg="del">
          <ac:chgData name="Lai, Wilson" userId="2840974a-0d84-4886-90a9-9a3ed79f3a48" providerId="ADAL" clId="{9F23B798-9E84-4552-BA63-E776E805C424}" dt="2026-09-26T22:54:19.914" v="1" actId="21"/>
          <ac:picMkLst>
            <pc:docMk/>
            <pc:sldMk cId="0" sldId="256"/>
            <ac:picMk id="2" creationId="{00000000-0000-0000-0000-000000000000}"/>
          </ac:picMkLst>
        </pc:picChg>
        <pc:picChg chg="add mod">
          <ac:chgData name="Lai, Wilson" userId="2840974a-0d84-4886-90a9-9a3ed79f3a48" providerId="ADAL" clId="{9F23B798-9E84-4552-BA63-E776E805C424}" dt="2026-09-26T23:11:31.135" v="43" actId="164"/>
          <ac:picMkLst>
            <pc:docMk/>
            <pc:sldMk cId="0" sldId="256"/>
            <ac:picMk id="2" creationId="{B51026F9-FD78-9CB4-A5DC-637F8BCC1AD4}"/>
          </ac:picMkLst>
        </pc:picChg>
        <pc:picChg chg="add ord">
          <ac:chgData name="Lai, Wilson" userId="2840974a-0d84-4886-90a9-9a3ed79f3a48" providerId="ADAL" clId="{9F23B798-9E84-4552-BA63-E776E805C424}" dt="2026-09-26T23:49:30.173" v="77" actId="166"/>
          <ac:picMkLst>
            <pc:docMk/>
            <pc:sldMk cId="0" sldId="256"/>
            <ac:picMk id="5" creationId="{5C0B807C-5CB3-7B53-5647-E34C77904E54}"/>
          </ac:picMkLst>
        </pc:picChg>
      </pc:sldChg>
      <pc:sldChg chg="addSp delSp mod modNotes">
        <pc:chgData name="Lai, Wilson" userId="2840974a-0d84-4886-90a9-9a3ed79f3a48" providerId="ADAL" clId="{9F23B798-9E84-4552-BA63-E776E805C424}" dt="2026-09-26T23:49:24.657" v="76"/>
        <pc:sldMkLst>
          <pc:docMk/>
          <pc:sldMk cId="0" sldId="257"/>
        </pc:sldMkLst>
        <pc:picChg chg="del">
          <ac:chgData name="Lai, Wilson" userId="2840974a-0d84-4886-90a9-9a3ed79f3a48" providerId="ADAL" clId="{9F23B798-9E84-4552-BA63-E776E805C424}" dt="2026-09-26T22:54:46.951" v="5" actId="21"/>
          <ac:picMkLst>
            <pc:docMk/>
            <pc:sldMk cId="0" sldId="257"/>
            <ac:picMk id="2" creationId="{00000000-0000-0000-0000-000000000000}"/>
          </ac:picMkLst>
        </pc:picChg>
        <pc:picChg chg="add">
          <ac:chgData name="Lai, Wilson" userId="2840974a-0d84-4886-90a9-9a3ed79f3a48" providerId="ADAL" clId="{9F23B798-9E84-4552-BA63-E776E805C424}" dt="2026-09-26T22:54:58.414" v="6" actId="22"/>
          <ac:picMkLst>
            <pc:docMk/>
            <pc:sldMk cId="0" sldId="257"/>
            <ac:picMk id="4" creationId="{078661A1-0DEF-E931-0367-78F1AF73928C}"/>
          </ac:picMkLst>
        </pc:picChg>
      </pc:sldChg>
      <pc:sldChg chg="addSp delSp mod modNotes">
        <pc:chgData name="Lai, Wilson" userId="2840974a-0d84-4886-90a9-9a3ed79f3a48" providerId="ADAL" clId="{9F23B798-9E84-4552-BA63-E776E805C424}" dt="2026-09-26T23:49:24.657" v="76"/>
        <pc:sldMkLst>
          <pc:docMk/>
          <pc:sldMk cId="0" sldId="258"/>
        </pc:sldMkLst>
        <pc:picChg chg="del">
          <ac:chgData name="Lai, Wilson" userId="2840974a-0d84-4886-90a9-9a3ed79f3a48" providerId="ADAL" clId="{9F23B798-9E84-4552-BA63-E776E805C424}" dt="2026-09-26T22:55:00.117" v="7" actId="21"/>
          <ac:picMkLst>
            <pc:docMk/>
            <pc:sldMk cId="0" sldId="258"/>
            <ac:picMk id="2" creationId="{00000000-0000-0000-0000-000000000000}"/>
          </ac:picMkLst>
        </pc:picChg>
        <pc:picChg chg="add">
          <ac:chgData name="Lai, Wilson" userId="2840974a-0d84-4886-90a9-9a3ed79f3a48" providerId="ADAL" clId="{9F23B798-9E84-4552-BA63-E776E805C424}" dt="2026-09-26T22:55:08.812" v="8" actId="22"/>
          <ac:picMkLst>
            <pc:docMk/>
            <pc:sldMk cId="0" sldId="258"/>
            <ac:picMk id="4" creationId="{1FC12255-36E8-D6F7-C4B1-4CBB024FB2FC}"/>
          </ac:picMkLst>
        </pc:picChg>
      </pc:sldChg>
      <pc:sldChg chg="addSp delSp mod modNotes">
        <pc:chgData name="Lai, Wilson" userId="2840974a-0d84-4886-90a9-9a3ed79f3a48" providerId="ADAL" clId="{9F23B798-9E84-4552-BA63-E776E805C424}" dt="2026-09-26T23:49:24.657" v="76"/>
        <pc:sldMkLst>
          <pc:docMk/>
          <pc:sldMk cId="0" sldId="259"/>
        </pc:sldMkLst>
        <pc:picChg chg="del">
          <ac:chgData name="Lai, Wilson" userId="2840974a-0d84-4886-90a9-9a3ed79f3a48" providerId="ADAL" clId="{9F23B798-9E84-4552-BA63-E776E805C424}" dt="2026-09-26T22:55:10.111" v="9" actId="21"/>
          <ac:picMkLst>
            <pc:docMk/>
            <pc:sldMk cId="0" sldId="259"/>
            <ac:picMk id="2" creationId="{00000000-0000-0000-0000-000000000000}"/>
          </ac:picMkLst>
        </pc:picChg>
        <pc:picChg chg="add">
          <ac:chgData name="Lai, Wilson" userId="2840974a-0d84-4886-90a9-9a3ed79f3a48" providerId="ADAL" clId="{9F23B798-9E84-4552-BA63-E776E805C424}" dt="2026-09-26T22:55:17.514" v="10" actId="22"/>
          <ac:picMkLst>
            <pc:docMk/>
            <pc:sldMk cId="0" sldId="259"/>
            <ac:picMk id="4" creationId="{909FDDAE-24D5-B0E5-F8FA-9818BE46E855}"/>
          </ac:picMkLst>
        </pc:picChg>
      </pc:sldChg>
      <pc:sldChg chg="addSp delSp mod modNotes">
        <pc:chgData name="Lai, Wilson" userId="2840974a-0d84-4886-90a9-9a3ed79f3a48" providerId="ADAL" clId="{9F23B798-9E84-4552-BA63-E776E805C424}" dt="2026-09-26T23:49:24.657" v="76"/>
        <pc:sldMkLst>
          <pc:docMk/>
          <pc:sldMk cId="0" sldId="260"/>
        </pc:sldMkLst>
        <pc:picChg chg="del">
          <ac:chgData name="Lai, Wilson" userId="2840974a-0d84-4886-90a9-9a3ed79f3a48" providerId="ADAL" clId="{9F23B798-9E84-4552-BA63-E776E805C424}" dt="2026-09-26T22:55:18.911" v="11" actId="21"/>
          <ac:picMkLst>
            <pc:docMk/>
            <pc:sldMk cId="0" sldId="260"/>
            <ac:picMk id="2" creationId="{00000000-0000-0000-0000-000000000000}"/>
          </ac:picMkLst>
        </pc:picChg>
        <pc:picChg chg="add">
          <ac:chgData name="Lai, Wilson" userId="2840974a-0d84-4886-90a9-9a3ed79f3a48" providerId="ADAL" clId="{9F23B798-9E84-4552-BA63-E776E805C424}" dt="2026-09-26T22:55:29.213" v="12" actId="22"/>
          <ac:picMkLst>
            <pc:docMk/>
            <pc:sldMk cId="0" sldId="260"/>
            <ac:picMk id="4" creationId="{B13E8097-A8F6-B2E3-21A1-C0B01C23C1DE}"/>
          </ac:picMkLst>
        </pc:picChg>
      </pc:sldChg>
      <pc:sldChg chg="addSp delSp mod modNotes">
        <pc:chgData name="Lai, Wilson" userId="2840974a-0d84-4886-90a9-9a3ed79f3a48" providerId="ADAL" clId="{9F23B798-9E84-4552-BA63-E776E805C424}" dt="2026-09-26T23:49:24.657" v="76"/>
        <pc:sldMkLst>
          <pc:docMk/>
          <pc:sldMk cId="0" sldId="261"/>
        </pc:sldMkLst>
        <pc:picChg chg="del">
          <ac:chgData name="Lai, Wilson" userId="2840974a-0d84-4886-90a9-9a3ed79f3a48" providerId="ADAL" clId="{9F23B798-9E84-4552-BA63-E776E805C424}" dt="2026-09-26T22:55:30.871" v="13" actId="21"/>
          <ac:picMkLst>
            <pc:docMk/>
            <pc:sldMk cId="0" sldId="261"/>
            <ac:picMk id="2" creationId="{00000000-0000-0000-0000-000000000000}"/>
          </ac:picMkLst>
        </pc:picChg>
        <pc:picChg chg="add">
          <ac:chgData name="Lai, Wilson" userId="2840974a-0d84-4886-90a9-9a3ed79f3a48" providerId="ADAL" clId="{9F23B798-9E84-4552-BA63-E776E805C424}" dt="2026-09-26T22:55:49.378" v="14" actId="22"/>
          <ac:picMkLst>
            <pc:docMk/>
            <pc:sldMk cId="0" sldId="261"/>
            <ac:picMk id="4" creationId="{591BF418-2442-5B04-D23C-6EAD7C178A0E}"/>
          </ac:picMkLst>
        </pc:picChg>
      </pc:sldChg>
      <pc:sldChg chg="addSp delSp mod modNotes">
        <pc:chgData name="Lai, Wilson" userId="2840974a-0d84-4886-90a9-9a3ed79f3a48" providerId="ADAL" clId="{9F23B798-9E84-4552-BA63-E776E805C424}" dt="2026-09-26T23:49:24.657" v="76"/>
        <pc:sldMkLst>
          <pc:docMk/>
          <pc:sldMk cId="0" sldId="262"/>
        </pc:sldMkLst>
        <pc:picChg chg="del">
          <ac:chgData name="Lai, Wilson" userId="2840974a-0d84-4886-90a9-9a3ed79f3a48" providerId="ADAL" clId="{9F23B798-9E84-4552-BA63-E776E805C424}" dt="2026-09-26T22:55:51.136" v="15" actId="21"/>
          <ac:picMkLst>
            <pc:docMk/>
            <pc:sldMk cId="0" sldId="262"/>
            <ac:picMk id="2" creationId="{00000000-0000-0000-0000-000000000000}"/>
          </ac:picMkLst>
        </pc:picChg>
        <pc:picChg chg="add">
          <ac:chgData name="Lai, Wilson" userId="2840974a-0d84-4886-90a9-9a3ed79f3a48" providerId="ADAL" clId="{9F23B798-9E84-4552-BA63-E776E805C424}" dt="2026-09-26T22:56:17.012" v="16" actId="22"/>
          <ac:picMkLst>
            <pc:docMk/>
            <pc:sldMk cId="0" sldId="262"/>
            <ac:picMk id="4" creationId="{55577B7F-29D3-CAD1-AA6C-D7E88D90E9C1}"/>
          </ac:picMkLst>
        </pc:picChg>
      </pc:sldChg>
      <pc:sldChg chg="addSp delSp mod modNotes modNotesTx">
        <pc:chgData name="Lai, Wilson" userId="2840974a-0d84-4886-90a9-9a3ed79f3a48" providerId="ADAL" clId="{9F23B798-9E84-4552-BA63-E776E805C424}" dt="2026-09-26T23:49:24.657" v="76"/>
        <pc:sldMkLst>
          <pc:docMk/>
          <pc:sldMk cId="0" sldId="263"/>
        </pc:sldMkLst>
        <pc:picChg chg="del">
          <ac:chgData name="Lai, Wilson" userId="2840974a-0d84-4886-90a9-9a3ed79f3a48" providerId="ADAL" clId="{9F23B798-9E84-4552-BA63-E776E805C424}" dt="2026-09-26T22:56:18.389" v="17" actId="21"/>
          <ac:picMkLst>
            <pc:docMk/>
            <pc:sldMk cId="0" sldId="263"/>
            <ac:picMk id="2" creationId="{00000000-0000-0000-0000-000000000000}"/>
          </ac:picMkLst>
        </pc:picChg>
        <pc:picChg chg="add">
          <ac:chgData name="Lai, Wilson" userId="2840974a-0d84-4886-90a9-9a3ed79f3a48" providerId="ADAL" clId="{9F23B798-9E84-4552-BA63-E776E805C424}" dt="2026-09-26T22:56:26.280" v="18" actId="22"/>
          <ac:picMkLst>
            <pc:docMk/>
            <pc:sldMk cId="0" sldId="263"/>
            <ac:picMk id="4" creationId="{23471412-E530-09DD-B504-45097FD8E76E}"/>
          </ac:picMkLst>
        </pc:picChg>
      </pc:sldChg>
      <pc:sldChg chg="addSp delSp mod modNotes">
        <pc:chgData name="Lai, Wilson" userId="2840974a-0d84-4886-90a9-9a3ed79f3a48" providerId="ADAL" clId="{9F23B798-9E84-4552-BA63-E776E805C424}" dt="2026-09-26T23:49:24.657" v="76"/>
        <pc:sldMkLst>
          <pc:docMk/>
          <pc:sldMk cId="0" sldId="264"/>
        </pc:sldMkLst>
        <pc:picChg chg="del">
          <ac:chgData name="Lai, Wilson" userId="2840974a-0d84-4886-90a9-9a3ed79f3a48" providerId="ADAL" clId="{9F23B798-9E84-4552-BA63-E776E805C424}" dt="2026-09-26T22:56:35.036" v="19" actId="21"/>
          <ac:picMkLst>
            <pc:docMk/>
            <pc:sldMk cId="0" sldId="264"/>
            <ac:picMk id="2" creationId="{00000000-0000-0000-0000-000000000000}"/>
          </ac:picMkLst>
        </pc:picChg>
        <pc:picChg chg="add">
          <ac:chgData name="Lai, Wilson" userId="2840974a-0d84-4886-90a9-9a3ed79f3a48" providerId="ADAL" clId="{9F23B798-9E84-4552-BA63-E776E805C424}" dt="2026-09-26T22:56:43.673" v="20" actId="22"/>
          <ac:picMkLst>
            <pc:docMk/>
            <pc:sldMk cId="0" sldId="264"/>
            <ac:picMk id="4" creationId="{FFC69647-B50C-6818-BEB5-D188FE1717D0}"/>
          </ac:picMkLst>
        </pc:picChg>
      </pc:sldChg>
      <pc:sldChg chg="addSp delSp mod modNotes">
        <pc:chgData name="Lai, Wilson" userId="2840974a-0d84-4886-90a9-9a3ed79f3a48" providerId="ADAL" clId="{9F23B798-9E84-4552-BA63-E776E805C424}" dt="2026-09-26T23:49:24.657" v="76"/>
        <pc:sldMkLst>
          <pc:docMk/>
          <pc:sldMk cId="0" sldId="265"/>
        </pc:sldMkLst>
        <pc:picChg chg="del">
          <ac:chgData name="Lai, Wilson" userId="2840974a-0d84-4886-90a9-9a3ed79f3a48" providerId="ADAL" clId="{9F23B798-9E84-4552-BA63-E776E805C424}" dt="2026-09-26T22:56:45.561" v="21" actId="21"/>
          <ac:picMkLst>
            <pc:docMk/>
            <pc:sldMk cId="0" sldId="265"/>
            <ac:picMk id="2" creationId="{00000000-0000-0000-0000-000000000000}"/>
          </ac:picMkLst>
        </pc:picChg>
        <pc:picChg chg="add">
          <ac:chgData name="Lai, Wilson" userId="2840974a-0d84-4886-90a9-9a3ed79f3a48" providerId="ADAL" clId="{9F23B798-9E84-4552-BA63-E776E805C424}" dt="2026-09-26T22:56:57.747" v="22" actId="22"/>
          <ac:picMkLst>
            <pc:docMk/>
            <pc:sldMk cId="0" sldId="265"/>
            <ac:picMk id="4" creationId="{A3530E49-59A7-2578-4C5C-793E15E8ED61}"/>
          </ac:picMkLst>
        </pc:picChg>
      </pc:sldChg>
      <pc:sldChg chg="addSp delSp mod modNotes">
        <pc:chgData name="Lai, Wilson" userId="2840974a-0d84-4886-90a9-9a3ed79f3a48" providerId="ADAL" clId="{9F23B798-9E84-4552-BA63-E776E805C424}" dt="2026-09-26T23:49:24.657" v="76"/>
        <pc:sldMkLst>
          <pc:docMk/>
          <pc:sldMk cId="0" sldId="266"/>
        </pc:sldMkLst>
        <pc:picChg chg="del">
          <ac:chgData name="Lai, Wilson" userId="2840974a-0d84-4886-90a9-9a3ed79f3a48" providerId="ADAL" clId="{9F23B798-9E84-4552-BA63-E776E805C424}" dt="2026-09-26T22:56:59.764" v="23" actId="21"/>
          <ac:picMkLst>
            <pc:docMk/>
            <pc:sldMk cId="0" sldId="266"/>
            <ac:picMk id="2" creationId="{00000000-0000-0000-0000-000000000000}"/>
          </ac:picMkLst>
        </pc:picChg>
        <pc:picChg chg="add">
          <ac:chgData name="Lai, Wilson" userId="2840974a-0d84-4886-90a9-9a3ed79f3a48" providerId="ADAL" clId="{9F23B798-9E84-4552-BA63-E776E805C424}" dt="2026-09-26T22:57:09.466" v="24" actId="22"/>
          <ac:picMkLst>
            <pc:docMk/>
            <pc:sldMk cId="0" sldId="266"/>
            <ac:picMk id="4" creationId="{9C7456A8-1A7F-BE71-ECD3-7F935C2F4E85}"/>
          </ac:picMkLst>
        </pc:picChg>
      </pc:sldChg>
      <pc:sldChg chg="addSp delSp mod modNotes">
        <pc:chgData name="Lai, Wilson" userId="2840974a-0d84-4886-90a9-9a3ed79f3a48" providerId="ADAL" clId="{9F23B798-9E84-4552-BA63-E776E805C424}" dt="2026-09-26T23:49:24.657" v="76"/>
        <pc:sldMkLst>
          <pc:docMk/>
          <pc:sldMk cId="0" sldId="267"/>
        </pc:sldMkLst>
        <pc:picChg chg="del">
          <ac:chgData name="Lai, Wilson" userId="2840974a-0d84-4886-90a9-9a3ed79f3a48" providerId="ADAL" clId="{9F23B798-9E84-4552-BA63-E776E805C424}" dt="2026-09-26T22:57:12.029" v="25" actId="21"/>
          <ac:picMkLst>
            <pc:docMk/>
            <pc:sldMk cId="0" sldId="267"/>
            <ac:picMk id="2" creationId="{00000000-0000-0000-0000-000000000000}"/>
          </ac:picMkLst>
        </pc:picChg>
        <pc:picChg chg="add">
          <ac:chgData name="Lai, Wilson" userId="2840974a-0d84-4886-90a9-9a3ed79f3a48" providerId="ADAL" clId="{9F23B798-9E84-4552-BA63-E776E805C424}" dt="2026-09-26T22:57:59.383" v="26" actId="22"/>
          <ac:picMkLst>
            <pc:docMk/>
            <pc:sldMk cId="0" sldId="267"/>
            <ac:picMk id="4" creationId="{2B23C375-F172-9D62-AF49-52D5C7F8762C}"/>
          </ac:picMkLst>
        </pc:picChg>
      </pc:sldChg>
      <pc:sldChg chg="addSp delSp mod modNotes">
        <pc:chgData name="Lai, Wilson" userId="2840974a-0d84-4886-90a9-9a3ed79f3a48" providerId="ADAL" clId="{9F23B798-9E84-4552-BA63-E776E805C424}" dt="2026-09-26T23:49:24.657" v="76"/>
        <pc:sldMkLst>
          <pc:docMk/>
          <pc:sldMk cId="0" sldId="268"/>
        </pc:sldMkLst>
        <pc:picChg chg="del">
          <ac:chgData name="Lai, Wilson" userId="2840974a-0d84-4886-90a9-9a3ed79f3a48" providerId="ADAL" clId="{9F23B798-9E84-4552-BA63-E776E805C424}" dt="2026-09-26T22:58:04.926" v="27" actId="21"/>
          <ac:picMkLst>
            <pc:docMk/>
            <pc:sldMk cId="0" sldId="268"/>
            <ac:picMk id="2" creationId="{00000000-0000-0000-0000-000000000000}"/>
          </ac:picMkLst>
        </pc:picChg>
        <pc:picChg chg="add">
          <ac:chgData name="Lai, Wilson" userId="2840974a-0d84-4886-90a9-9a3ed79f3a48" providerId="ADAL" clId="{9F23B798-9E84-4552-BA63-E776E805C424}" dt="2026-09-26T22:58:12.639" v="28" actId="22"/>
          <ac:picMkLst>
            <pc:docMk/>
            <pc:sldMk cId="0" sldId="268"/>
            <ac:picMk id="4" creationId="{282B93EF-497E-2161-068A-14465359BB11}"/>
          </ac:picMkLst>
        </pc:picChg>
      </pc:sldChg>
      <pc:sldChg chg="addSp delSp mod modNotes">
        <pc:chgData name="Lai, Wilson" userId="2840974a-0d84-4886-90a9-9a3ed79f3a48" providerId="ADAL" clId="{9F23B798-9E84-4552-BA63-E776E805C424}" dt="2026-09-26T23:49:24.657" v="76"/>
        <pc:sldMkLst>
          <pc:docMk/>
          <pc:sldMk cId="0" sldId="269"/>
        </pc:sldMkLst>
        <pc:picChg chg="del">
          <ac:chgData name="Lai, Wilson" userId="2840974a-0d84-4886-90a9-9a3ed79f3a48" providerId="ADAL" clId="{9F23B798-9E84-4552-BA63-E776E805C424}" dt="2026-09-26T22:58:14.403" v="29" actId="21"/>
          <ac:picMkLst>
            <pc:docMk/>
            <pc:sldMk cId="0" sldId="269"/>
            <ac:picMk id="2" creationId="{00000000-0000-0000-0000-000000000000}"/>
          </ac:picMkLst>
        </pc:picChg>
        <pc:picChg chg="add">
          <ac:chgData name="Lai, Wilson" userId="2840974a-0d84-4886-90a9-9a3ed79f3a48" providerId="ADAL" clId="{9F23B798-9E84-4552-BA63-E776E805C424}" dt="2026-09-26T22:58:22.741" v="30" actId="22"/>
          <ac:picMkLst>
            <pc:docMk/>
            <pc:sldMk cId="0" sldId="269"/>
            <ac:picMk id="4" creationId="{D29D5A0E-7C79-64B3-A295-73FA78584F77}"/>
          </ac:picMkLst>
        </pc:picChg>
      </pc:sldChg>
      <pc:sldChg chg="addSp delSp mod modNotes modNotesTx">
        <pc:chgData name="Lai, Wilson" userId="2840974a-0d84-4886-90a9-9a3ed79f3a48" providerId="ADAL" clId="{9F23B798-9E84-4552-BA63-E776E805C424}" dt="2026-09-26T23:49:24.657" v="76"/>
        <pc:sldMkLst>
          <pc:docMk/>
          <pc:sldMk cId="0" sldId="270"/>
        </pc:sldMkLst>
        <pc:picChg chg="del">
          <ac:chgData name="Lai, Wilson" userId="2840974a-0d84-4886-90a9-9a3ed79f3a48" providerId="ADAL" clId="{9F23B798-9E84-4552-BA63-E776E805C424}" dt="2026-09-26T22:58:24.971" v="31" actId="21"/>
          <ac:picMkLst>
            <pc:docMk/>
            <pc:sldMk cId="0" sldId="270"/>
            <ac:picMk id="2" creationId="{00000000-0000-0000-0000-000000000000}"/>
          </ac:picMkLst>
        </pc:picChg>
        <pc:picChg chg="add">
          <ac:chgData name="Lai, Wilson" userId="2840974a-0d84-4886-90a9-9a3ed79f3a48" providerId="ADAL" clId="{9F23B798-9E84-4552-BA63-E776E805C424}" dt="2026-09-26T22:59:28.746" v="32" actId="22"/>
          <ac:picMkLst>
            <pc:docMk/>
            <pc:sldMk cId="0" sldId="270"/>
            <ac:picMk id="4" creationId="{34F92ED1-678D-4D49-A7B1-702355B9ED6B}"/>
          </ac:picMkLst>
        </pc:picChg>
      </pc:sldChg>
      <pc:sldChg chg="addSp delSp mod modNotes modNotesTx">
        <pc:chgData name="Lai, Wilson" userId="2840974a-0d84-4886-90a9-9a3ed79f3a48" providerId="ADAL" clId="{9F23B798-9E84-4552-BA63-E776E805C424}" dt="2026-09-26T23:49:24.657" v="76"/>
        <pc:sldMkLst>
          <pc:docMk/>
          <pc:sldMk cId="2809866764" sldId="271"/>
        </pc:sldMkLst>
        <pc:picChg chg="del">
          <ac:chgData name="Lai, Wilson" userId="2840974a-0d84-4886-90a9-9a3ed79f3a48" providerId="ADAL" clId="{9F23B798-9E84-4552-BA63-E776E805C424}" dt="2026-09-26T22:59:34.041" v="33" actId="21"/>
          <ac:picMkLst>
            <pc:docMk/>
            <pc:sldMk cId="2809866764" sldId="271"/>
            <ac:picMk id="3" creationId="{45AA87D4-9201-D244-72FA-A50D6349E545}"/>
          </ac:picMkLst>
        </pc:picChg>
        <pc:picChg chg="add">
          <ac:chgData name="Lai, Wilson" userId="2840974a-0d84-4886-90a9-9a3ed79f3a48" providerId="ADAL" clId="{9F23B798-9E84-4552-BA63-E776E805C424}" dt="2026-09-26T22:59:57.379" v="34" actId="22"/>
          <ac:picMkLst>
            <pc:docMk/>
            <pc:sldMk cId="2809866764" sldId="271"/>
            <ac:picMk id="4" creationId="{E0D7789E-FEA8-8ACE-CEE4-D2767B3A2424}"/>
          </ac:picMkLst>
        </pc:picChg>
      </pc:sldChg>
      <pc:sldMasterChg chg="setBg">
        <pc:chgData name="Lai, Wilson" userId="2840974a-0d84-4886-90a9-9a3ed79f3a48" providerId="ADAL" clId="{9F23B798-9E84-4552-BA63-E776E805C424}" dt="2026-09-26T22:44:20.904" v="0"/>
        <pc:sldMasterMkLst>
          <pc:docMk/>
          <pc:sldMasterMk cId="129721248" sldId="2147483648"/>
        </pc:sldMasterMkLst>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2AB52ED-BB5F-408A-A269-C658225C09DC}" type="datetimeFigureOut">
              <a:rPr lang="en-US" smtClean="0"/>
              <a:t>10/21/2026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39AA459-744B-4491-B51F-17FAAE2A8822}" type="slidenum">
              <a:rPr lang="en-US" smtClean="0"/>
              <a:t>‹#›</a:t>
            </a:fld>
            <a:endParaRPr lang="en-US"/>
          </a:p>
        </p:txBody>
      </p:sp>
    </p:spTree>
    <p:extLst>
      <p:ext uri="{BB962C8B-B14F-4D97-AF65-F5344CB8AC3E}">
        <p14:creationId xmlns:p14="http://schemas.microsoft.com/office/powerpoint/2010/main" val="5559521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b="1" dirty="0"/>
              <a:t>Introduction:</a:t>
            </a:r>
            <a:r>
              <a:rPr lang="en-US" dirty="0"/>
              <a:t> Welcome everyone. Today we are taking a granular, highly analytical look into what we call </a:t>
            </a:r>
            <a:r>
              <a:rPr lang="en-US" i="1" dirty="0"/>
              <a:t>The Ouroboros Collapse: Deconstructing the Dual-Front AI Bubble</a:t>
            </a:r>
            <a:r>
              <a:rPr lang="en-US" dirty="0"/>
              <a:t>. While the popular media focuses on the revolutionary promises of Artificial General Intelligence (AGI), we are going to look under the hood at two structural vulnerabilities: first, </a:t>
            </a:r>
            <a:r>
              <a:rPr lang="en-US" b="1" dirty="0"/>
              <a:t>Financial Reflexivity</a:t>
            </a:r>
            <a:r>
              <a:rPr lang="en-US" dirty="0"/>
              <a:t> in capital markets, and second, </a:t>
            </a:r>
            <a:r>
              <a:rPr lang="en-US" b="1" dirty="0"/>
              <a:t>Technical Illusions</a:t>
            </a:r>
            <a:r>
              <a:rPr lang="en-US" dirty="0"/>
              <a:t> surrounding LLM scaling laws and agentic security risks.</a:t>
            </a:r>
          </a:p>
          <a:p>
            <a:pPr lvl="0"/>
            <a:r>
              <a:rPr lang="en-US" b="1" dirty="0"/>
              <a:t>Defining the Title:</a:t>
            </a:r>
            <a:r>
              <a:rPr lang="en-US" dirty="0"/>
              <a:t> Why use the term </a:t>
            </a:r>
            <a:r>
              <a:rPr lang="en-US" i="1" dirty="0"/>
              <a:t>Ouroboros</a:t>
            </a:r>
            <a:r>
              <a:rPr lang="en-US" dirty="0"/>
              <a:t>? In ancient mythology, the Ouroboros is the serpent eating its own tail. In today's AI ecosystem, capital flows in a self-referential loop—venture funding flows to startups, who turn around and spend 70-80% of that equity capital on cloud compute, which in turn inflates the revenues of cloud providers and hardware chipmakers who reinvest into those same funds.</a:t>
            </a:r>
          </a:p>
          <a:p>
            <a:pPr lvl="0"/>
            <a:r>
              <a:rPr lang="en-US" b="1" dirty="0"/>
              <a:t>Core Objective:</a:t>
            </a:r>
            <a:r>
              <a:rPr lang="en-US" dirty="0"/>
              <a:t> By synthesizing financial analysis from legendary short-sellers like Jim Chanos with technical critique from cognitive scientists like Gary Marcus, today’s session will prove why this dual-front bubble is unsustainable and how to prepare for the inevitable structural reset.</a:t>
            </a:r>
          </a:p>
          <a:p>
            <a:endParaRPr lang="en-US" dirty="0"/>
          </a:p>
          <a:p>
            <a:endParaRPr lang="en-US" dirty="0"/>
          </a:p>
          <a:p>
            <a:endParaRPr lang="en-US" dirty="0"/>
          </a:p>
          <a:p>
            <a:endParaRPr lang="en-US" dirty="0"/>
          </a:p>
          <a:p>
            <a:r>
              <a:rPr lang="en-US" b="1" dirty="0"/>
              <a:t>Jim Chanos &amp; Gary Marcus: Circular AI Financing, The Agentic Economy &amp; Doomsday</a:t>
            </a:r>
          </a:p>
          <a:p>
            <a:r>
              <a:rPr lang="en-US" dirty="0"/>
              <a:t>https://www.youtube.com/watch?v=g9KdLg9sTX4</a:t>
            </a:r>
          </a:p>
          <a:p>
            <a:endParaRPr lang="en-US" dirty="0"/>
          </a:p>
        </p:txBody>
      </p:sp>
      <p:sp>
        <p:nvSpPr>
          <p:cNvPr id="4" name="Slide Number Placeholder 3"/>
          <p:cNvSpPr>
            <a:spLocks noGrp="1"/>
          </p:cNvSpPr>
          <p:nvPr>
            <p:ph type="sldNum" sz="quarter" idx="5"/>
          </p:nvPr>
        </p:nvSpPr>
        <p:spPr/>
        <p:txBody>
          <a:bodyPr/>
          <a:lstStyle/>
          <a:p>
            <a:fld id="{C39AA459-744B-4491-B51F-17FAAE2A8822}" type="slidenum">
              <a:rPr lang="en-US" smtClean="0"/>
              <a:t>1</a:t>
            </a:fld>
            <a:endParaRPr lang="en-US"/>
          </a:p>
        </p:txBody>
      </p:sp>
    </p:spTree>
    <p:extLst>
      <p:ext uri="{BB962C8B-B14F-4D97-AF65-F5344CB8AC3E}">
        <p14:creationId xmlns:p14="http://schemas.microsoft.com/office/powerpoint/2010/main" val="194992293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Scale of Capital:</a:t>
            </a:r>
            <a:r>
              <a:rPr lang="en-US" sz="1200" kern="1200" dirty="0">
                <a:solidFill>
                  <a:schemeClr val="tx1"/>
                </a:solidFill>
                <a:effectLst/>
                <a:latin typeface="+mn-lt"/>
                <a:ea typeface="+mn-ea"/>
                <a:cs typeface="+mn-cs"/>
              </a:rPr>
              <a:t> Let’s start with the sheer magnitude of the macro buildout. Goldman Sachs projects that the global commitment to AI infrastructure will reach between </a:t>
            </a:r>
            <a:r>
              <a:rPr lang="en-US" sz="1200" b="1" kern="1200" dirty="0">
                <a:solidFill>
                  <a:schemeClr val="tx1"/>
                </a:solidFill>
                <a:effectLst/>
                <a:latin typeface="+mn-lt"/>
                <a:ea typeface="+mn-ea"/>
                <a:cs typeface="+mn-cs"/>
              </a:rPr>
              <a:t>$10 and $12 Trillion dollars</a:t>
            </a:r>
            <a:r>
              <a:rPr lang="en-US" sz="1200" kern="1200" dirty="0">
                <a:solidFill>
                  <a:schemeClr val="tx1"/>
                </a:solidFill>
                <a:effectLst/>
                <a:latin typeface="+mn-lt"/>
                <a:ea typeface="+mn-ea"/>
                <a:cs typeface="+mn-cs"/>
              </a:rPr>
              <a:t> in cumulative spending, requiring over 50 Gigawatts of additional power grid capacity. </a:t>
            </a:r>
          </a:p>
          <a:p>
            <a:pPr lvl="0"/>
            <a:r>
              <a:rPr lang="en-US" sz="1200" b="1" kern="1200" dirty="0">
                <a:solidFill>
                  <a:schemeClr val="tx1"/>
                </a:solidFill>
                <a:effectLst/>
                <a:latin typeface="+mn-lt"/>
                <a:ea typeface="+mn-ea"/>
                <a:cs typeface="+mn-cs"/>
              </a:rPr>
              <a:t>Macro Context:</a:t>
            </a:r>
            <a:r>
              <a:rPr lang="en-US" sz="1200" kern="1200" dirty="0">
                <a:solidFill>
                  <a:schemeClr val="tx1"/>
                </a:solidFill>
                <a:effectLst/>
                <a:latin typeface="+mn-lt"/>
                <a:ea typeface="+mn-ea"/>
                <a:cs typeface="+mn-cs"/>
              </a:rPr>
              <a:t> To put that $12 Trillion in perspective: this capital expenditure equals roughly </a:t>
            </a:r>
            <a:r>
              <a:rPr lang="en-US" sz="1200" b="1" kern="1200" dirty="0">
                <a:solidFill>
                  <a:schemeClr val="tx1"/>
                </a:solidFill>
                <a:effectLst/>
                <a:latin typeface="+mn-lt"/>
                <a:ea typeface="+mn-ea"/>
                <a:cs typeface="+mn-cs"/>
              </a:rPr>
              <a:t>6% of total US GDP</a:t>
            </a:r>
            <a:r>
              <a:rPr lang="en-US" sz="1200" kern="1200" dirty="0">
                <a:solidFill>
                  <a:schemeClr val="tx1"/>
                </a:solidFill>
                <a:effectLst/>
                <a:latin typeface="+mn-lt"/>
                <a:ea typeface="+mn-ea"/>
                <a:cs typeface="+mn-cs"/>
              </a:rPr>
              <a:t>, which is equivalent to </a:t>
            </a:r>
            <a:r>
              <a:rPr lang="en-US" sz="1200" b="1" kern="1200" dirty="0">
                <a:solidFill>
                  <a:schemeClr val="tx1"/>
                </a:solidFill>
                <a:effectLst/>
                <a:latin typeface="+mn-lt"/>
                <a:ea typeface="+mn-ea"/>
                <a:cs typeface="+mn-cs"/>
              </a:rPr>
              <a:t>1x to 2x the entire US personal savings rate</a:t>
            </a:r>
            <a:r>
              <a:rPr lang="en-US" sz="1200" kern="1200" dirty="0">
                <a:solidFill>
                  <a:schemeClr val="tx1"/>
                </a:solidFill>
                <a:effectLst/>
                <a:latin typeface="+mn-lt"/>
                <a:ea typeface="+mn-ea"/>
                <a:cs typeface="+mn-cs"/>
              </a:rPr>
              <a:t>. We are taking systemic national savings and channeling them into fixed hardware assets at a rate unprecedented in modern history. </a:t>
            </a:r>
          </a:p>
          <a:p>
            <a:pPr lvl="0"/>
            <a:r>
              <a:rPr lang="en-US" sz="1200" b="1" kern="1200" dirty="0">
                <a:solidFill>
                  <a:schemeClr val="tx1"/>
                </a:solidFill>
                <a:effectLst/>
                <a:latin typeface="+mn-lt"/>
                <a:ea typeface="+mn-ea"/>
                <a:cs typeface="+mn-cs"/>
              </a:rPr>
              <a:t>S&amp;P Exposure:</a:t>
            </a:r>
            <a:r>
              <a:rPr lang="en-US" sz="1200" kern="1200" dirty="0">
                <a:solidFill>
                  <a:schemeClr val="tx1"/>
                </a:solidFill>
                <a:effectLst/>
                <a:latin typeface="+mn-lt"/>
                <a:ea typeface="+mn-ea"/>
                <a:cs typeface="+mn-cs"/>
              </a:rPr>
              <a:t> Look at the stock market concentration. </a:t>
            </a:r>
            <a:r>
              <a:rPr lang="en-US" sz="1200" b="1" kern="1200" dirty="0">
                <a:solidFill>
                  <a:schemeClr val="tx1"/>
                </a:solidFill>
                <a:effectLst/>
                <a:latin typeface="+mn-lt"/>
                <a:ea typeface="+mn-ea"/>
                <a:cs typeface="+mn-cs"/>
              </a:rPr>
              <a:t>45% to 55% of the S&amp;P 500</a:t>
            </a:r>
            <a:r>
              <a:rPr lang="en-US" sz="1200" kern="1200" dirty="0">
                <a:solidFill>
                  <a:schemeClr val="tx1"/>
                </a:solidFill>
                <a:effectLst/>
                <a:latin typeface="+mn-lt"/>
                <a:ea typeface="+mn-ea"/>
                <a:cs typeface="+mn-cs"/>
              </a:rPr>
              <a:t> index is currently exposed to or directly dependent on the AI narrative to justify its valuation multiples. As we observe on the slide: </a:t>
            </a:r>
            <a:r>
              <a:rPr lang="en-US" sz="1200" i="1" kern="1200" dirty="0">
                <a:solidFill>
                  <a:schemeClr val="tx1"/>
                </a:solidFill>
                <a:effectLst/>
                <a:latin typeface="+mn-lt"/>
                <a:ea typeface="+mn-ea"/>
                <a:cs typeface="+mn-cs"/>
              </a:rPr>
              <a:t>The economic tail is now wagging the technological dog</a:t>
            </a:r>
            <a:r>
              <a:rPr lang="en-US" sz="1200" kern="1200" dirty="0">
                <a:solidFill>
                  <a:schemeClr val="tx1"/>
                </a:solidFill>
                <a:effectLst/>
                <a:latin typeface="+mn-lt"/>
                <a:ea typeface="+mn-ea"/>
                <a:cs typeface="+mn-cs"/>
              </a:rPr>
              <a:t>. The market requires the narrative to remain intact to sustain macro valuations, regardless of true end-user demand.</a:t>
            </a:r>
          </a:p>
          <a:p>
            <a:endParaRPr lang="en-US" dirty="0"/>
          </a:p>
        </p:txBody>
      </p:sp>
      <p:sp>
        <p:nvSpPr>
          <p:cNvPr id="4" name="Slide Number Placeholder 3"/>
          <p:cNvSpPr>
            <a:spLocks noGrp="1"/>
          </p:cNvSpPr>
          <p:nvPr>
            <p:ph type="sldNum" sz="quarter" idx="5"/>
          </p:nvPr>
        </p:nvSpPr>
        <p:spPr/>
        <p:txBody>
          <a:bodyPr/>
          <a:lstStyle/>
          <a:p>
            <a:fld id="{C39AA459-744B-4491-B51F-17FAAE2A8822}" type="slidenum">
              <a:rPr lang="en-US" smtClean="0"/>
              <a:t>2</a:t>
            </a:fld>
            <a:endParaRPr lang="en-US"/>
          </a:p>
        </p:txBody>
      </p:sp>
    </p:spTree>
    <p:extLst>
      <p:ext uri="{BB962C8B-B14F-4D97-AF65-F5344CB8AC3E}">
        <p14:creationId xmlns:p14="http://schemas.microsoft.com/office/powerpoint/2010/main" val="293940857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Mechanics of the Loop:</a:t>
            </a:r>
            <a:r>
              <a:rPr lang="en-US" sz="1200" kern="1200" dirty="0">
                <a:solidFill>
                  <a:schemeClr val="tx1"/>
                </a:solidFill>
                <a:effectLst/>
                <a:latin typeface="+mn-lt"/>
                <a:ea typeface="+mn-ea"/>
                <a:cs typeface="+mn-cs"/>
              </a:rPr>
              <a:t> Slide 3 illustrates the core accounting distortion powering the current boom: </a:t>
            </a:r>
            <a:r>
              <a:rPr lang="en-US" sz="1200" b="1" kern="1200" dirty="0">
                <a:solidFill>
                  <a:schemeClr val="tx1"/>
                </a:solidFill>
                <a:effectLst/>
                <a:latin typeface="+mn-lt"/>
                <a:ea typeface="+mn-ea"/>
                <a:cs typeface="+mn-cs"/>
              </a:rPr>
              <a:t>Circular Financing</a:t>
            </a:r>
            <a:r>
              <a:rPr lang="en-US" sz="1200" kern="1200" dirty="0">
                <a:solidFill>
                  <a:schemeClr val="tx1"/>
                </a:solidFill>
                <a:effectLst/>
                <a:latin typeface="+mn-lt"/>
                <a:ea typeface="+mn-ea"/>
                <a:cs typeface="+mn-cs"/>
              </a:rPr>
              <a:t>. Let’s trace the money: Limited Partners (LPs) commit capital to Venture Capitalists (VCs). VCs invest $100 Million into an AI startup. The startup immediately sends that $100 Million to Cloud Providers (AWS, Azure, GCP, Oracle) to purchase compute time. Cloud providers then buy GPUs from Nvidia. </a:t>
            </a:r>
          </a:p>
          <a:p>
            <a:pPr lvl="0"/>
            <a:r>
              <a:rPr lang="en-US" sz="1200" b="1" kern="1200" dirty="0">
                <a:solidFill>
                  <a:schemeClr val="tx1"/>
                </a:solidFill>
                <a:effectLst/>
                <a:latin typeface="+mn-lt"/>
                <a:ea typeface="+mn-ea"/>
                <a:cs typeface="+mn-cs"/>
              </a:rPr>
              <a:t>Accounting Arbitrage:</a:t>
            </a:r>
            <a:r>
              <a:rPr lang="en-US" sz="1200" kern="1200" dirty="0">
                <a:solidFill>
                  <a:schemeClr val="tx1"/>
                </a:solidFill>
                <a:effectLst/>
                <a:latin typeface="+mn-lt"/>
                <a:ea typeface="+mn-ea"/>
                <a:cs typeface="+mn-cs"/>
              </a:rPr>
              <a:t> Here is the critical accounting catch: when the cloud provider receives that $100M, they recognize </a:t>
            </a:r>
            <a:r>
              <a:rPr lang="en-US" sz="1200" b="1" kern="1200" dirty="0">
                <a:solidFill>
                  <a:schemeClr val="tx1"/>
                </a:solidFill>
                <a:effectLst/>
                <a:latin typeface="+mn-lt"/>
                <a:ea typeface="+mn-ea"/>
                <a:cs typeface="+mn-cs"/>
              </a:rPr>
              <a:t>an immediate dollar of revenue</a:t>
            </a:r>
            <a:r>
              <a:rPr lang="en-US" sz="1200" kern="1200" dirty="0">
                <a:solidFill>
                  <a:schemeClr val="tx1"/>
                </a:solidFill>
                <a:effectLst/>
                <a:latin typeface="+mn-lt"/>
                <a:ea typeface="+mn-ea"/>
                <a:cs typeface="+mn-cs"/>
              </a:rPr>
              <a:t> (and up to 75 cents of gross margin). However, the cost of the underlying server hardware and data centers is </a:t>
            </a:r>
            <a:r>
              <a:rPr lang="en-US" sz="1200" b="1" kern="1200" dirty="0">
                <a:solidFill>
                  <a:schemeClr val="tx1"/>
                </a:solidFill>
                <a:effectLst/>
                <a:latin typeface="+mn-lt"/>
                <a:ea typeface="+mn-ea"/>
                <a:cs typeface="+mn-cs"/>
              </a:rPr>
              <a:t>capitalized on the balance sheet and depreciated over 5 to 10 years</a:t>
            </a:r>
            <a:r>
              <a:rPr lang="en-US" sz="1200" kern="1200" dirty="0">
                <a:solidFill>
                  <a:schemeClr val="tx1"/>
                </a:solidFill>
                <a:effectLst/>
                <a:latin typeface="+mn-lt"/>
                <a:ea typeface="+mn-ea"/>
                <a:cs typeface="+mn-cs"/>
              </a:rPr>
              <a:t>. </a:t>
            </a:r>
          </a:p>
          <a:p>
            <a:pPr lvl="0"/>
            <a:r>
              <a:rPr lang="en-US" sz="1200" b="1" kern="1200" dirty="0">
                <a:solidFill>
                  <a:schemeClr val="tx1"/>
                </a:solidFill>
                <a:effectLst/>
                <a:latin typeface="+mn-lt"/>
                <a:ea typeface="+mn-ea"/>
                <a:cs typeface="+mn-cs"/>
              </a:rPr>
              <a:t>The Illusion:</a:t>
            </a:r>
            <a:r>
              <a:rPr lang="en-US" sz="1200" kern="1200" dirty="0">
                <a:solidFill>
                  <a:schemeClr val="tx1"/>
                </a:solidFill>
                <a:effectLst/>
                <a:latin typeface="+mn-lt"/>
                <a:ea typeface="+mn-ea"/>
                <a:cs typeface="+mn-cs"/>
              </a:rPr>
              <a:t> This creates an illusion of hyper-growth software margins powered by VC equity cash burns rather than cash flow from real enterprise end-users. Jim Chanos points out that when venture capital dries up, this revenue disappears instantly, but the capitalized depreciation stays locked on the balance sheet. </a:t>
            </a:r>
          </a:p>
          <a:p>
            <a:endParaRPr lang="en-US" dirty="0"/>
          </a:p>
        </p:txBody>
      </p:sp>
      <p:sp>
        <p:nvSpPr>
          <p:cNvPr id="4" name="Slide Number Placeholder 3"/>
          <p:cNvSpPr>
            <a:spLocks noGrp="1"/>
          </p:cNvSpPr>
          <p:nvPr>
            <p:ph type="sldNum" sz="quarter" idx="5"/>
          </p:nvPr>
        </p:nvSpPr>
        <p:spPr/>
        <p:txBody>
          <a:bodyPr/>
          <a:lstStyle/>
          <a:p>
            <a:fld id="{C39AA459-744B-4491-B51F-17FAAE2A8822}" type="slidenum">
              <a:rPr lang="en-US" smtClean="0"/>
              <a:t>3</a:t>
            </a:fld>
            <a:endParaRPr lang="en-US"/>
          </a:p>
        </p:txBody>
      </p:sp>
    </p:spTree>
    <p:extLst>
      <p:ext uri="{BB962C8B-B14F-4D97-AF65-F5344CB8AC3E}">
        <p14:creationId xmlns:p14="http://schemas.microsoft.com/office/powerpoint/2010/main" val="159205025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Convergence of Architectures:</a:t>
            </a:r>
            <a:r>
              <a:rPr lang="en-US" sz="1200" kern="1200" dirty="0">
                <a:solidFill>
                  <a:schemeClr val="tx1"/>
                </a:solidFill>
                <a:effectLst/>
                <a:latin typeface="+mn-lt"/>
                <a:ea typeface="+mn-ea"/>
                <a:cs typeface="+mn-cs"/>
              </a:rPr>
              <a:t> On the technical front, Gary Marcus notes that LLM architectures have completely converged. Whether you look at OpenAI, Google Gemini, Anthropic Claude, or open-weight models like DeepSeek, they all utilize the same underlying Transformer architecture. </a:t>
            </a:r>
          </a:p>
          <a:p>
            <a:pPr lvl="0"/>
            <a:r>
              <a:rPr lang="en-US" sz="1200" b="1" kern="1200" dirty="0">
                <a:solidFill>
                  <a:schemeClr val="tx1"/>
                </a:solidFill>
                <a:effectLst/>
                <a:latin typeface="+mn-lt"/>
                <a:ea typeface="+mn-ea"/>
                <a:cs typeface="+mn-cs"/>
              </a:rPr>
              <a:t>The Commodity Singularity:</a:t>
            </a:r>
            <a:r>
              <a:rPr lang="en-US" sz="1200" kern="1200" dirty="0">
                <a:solidFill>
                  <a:schemeClr val="tx1"/>
                </a:solidFill>
                <a:effectLst/>
                <a:latin typeface="+mn-lt"/>
                <a:ea typeface="+mn-ea"/>
                <a:cs typeface="+mn-cs"/>
              </a:rPr>
              <a:t> Because everyone is building on the exact same theoretical foundation with similar datasets, </a:t>
            </a:r>
            <a:r>
              <a:rPr lang="en-US" sz="1200" b="1" kern="1200" dirty="0">
                <a:solidFill>
                  <a:schemeClr val="tx1"/>
                </a:solidFill>
                <a:effectLst/>
                <a:latin typeface="+mn-lt"/>
                <a:ea typeface="+mn-ea"/>
                <a:cs typeface="+mn-cs"/>
              </a:rPr>
              <a:t>there is no lasting technical moat</a:t>
            </a:r>
            <a:r>
              <a:rPr lang="en-US" sz="1200" kern="1200" dirty="0">
                <a:solidFill>
                  <a:schemeClr val="tx1"/>
                </a:solidFill>
                <a:effectLst/>
                <a:latin typeface="+mn-lt"/>
                <a:ea typeface="+mn-ea"/>
                <a:cs typeface="+mn-cs"/>
              </a:rPr>
              <a:t>. Models are a rapidly depreciating commodity. Every week brings a new price cut or model optimization. </a:t>
            </a:r>
          </a:p>
          <a:p>
            <a:pPr lvl="0"/>
            <a:r>
              <a:rPr lang="en-US" sz="1200" b="1" kern="1200" dirty="0">
                <a:solidFill>
                  <a:schemeClr val="tx1"/>
                </a:solidFill>
                <a:effectLst/>
                <a:latin typeface="+mn-lt"/>
                <a:ea typeface="+mn-ea"/>
                <a:cs typeface="+mn-cs"/>
              </a:rPr>
              <a:t>Zero Friction &amp; Price Wars:</a:t>
            </a:r>
            <a:r>
              <a:rPr lang="en-US" sz="1200" kern="1200" dirty="0">
                <a:solidFill>
                  <a:schemeClr val="tx1"/>
                </a:solidFill>
                <a:effectLst/>
                <a:latin typeface="+mn-lt"/>
                <a:ea typeface="+mn-ea"/>
                <a:cs typeface="+mn-cs"/>
              </a:rPr>
              <a:t> Developers and consumers now use routing layers like </a:t>
            </a:r>
            <a:r>
              <a:rPr lang="en-US" sz="1200" kern="1200" dirty="0" err="1">
                <a:solidFill>
                  <a:schemeClr val="tx1"/>
                </a:solidFill>
                <a:effectLst/>
                <a:latin typeface="+mn-lt"/>
                <a:ea typeface="+mn-ea"/>
                <a:cs typeface="+mn-cs"/>
              </a:rPr>
              <a:t>OpenRouter</a:t>
            </a:r>
            <a:r>
              <a:rPr lang="en-US" sz="1200" kern="1200" dirty="0">
                <a:solidFill>
                  <a:schemeClr val="tx1"/>
                </a:solidFill>
                <a:effectLst/>
                <a:latin typeface="+mn-lt"/>
                <a:ea typeface="+mn-ea"/>
                <a:cs typeface="+mn-cs"/>
              </a:rPr>
              <a:t> to automatically switch to whichever model is cheapest and fastest for a given query. Switching costs are zero, loyalty is zero, and pricing power is spiraling downward into an infinite price war. </a:t>
            </a:r>
          </a:p>
          <a:p>
            <a:endParaRPr lang="en-US" dirty="0"/>
          </a:p>
        </p:txBody>
      </p:sp>
      <p:sp>
        <p:nvSpPr>
          <p:cNvPr id="4" name="Slide Number Placeholder 3"/>
          <p:cNvSpPr>
            <a:spLocks noGrp="1"/>
          </p:cNvSpPr>
          <p:nvPr>
            <p:ph type="sldNum" sz="quarter" idx="5"/>
          </p:nvPr>
        </p:nvSpPr>
        <p:spPr/>
        <p:txBody>
          <a:bodyPr/>
          <a:lstStyle/>
          <a:p>
            <a:fld id="{C39AA459-744B-4491-B51F-17FAAE2A8822}" type="slidenum">
              <a:rPr lang="en-US" smtClean="0"/>
              <a:t>4</a:t>
            </a:fld>
            <a:endParaRPr lang="en-US"/>
          </a:p>
        </p:txBody>
      </p:sp>
    </p:spTree>
    <p:extLst>
      <p:ext uri="{BB962C8B-B14F-4D97-AF65-F5344CB8AC3E}">
        <p14:creationId xmlns:p14="http://schemas.microsoft.com/office/powerpoint/2010/main" val="144782266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Software vs. Infrastructure:</a:t>
            </a:r>
            <a:r>
              <a:rPr lang="en-US" sz="1200" kern="1200" dirty="0">
                <a:solidFill>
                  <a:schemeClr val="tx1"/>
                </a:solidFill>
                <a:effectLst/>
                <a:latin typeface="+mn-lt"/>
                <a:ea typeface="+mn-ea"/>
                <a:cs typeface="+mn-cs"/>
              </a:rPr>
              <a:t> Wall Street continues to price AI companies like traditional SaaS businesses with 80%+ gross margins and zero </a:t>
            </a:r>
            <a:r>
              <a:rPr lang="en-US" sz="1200" kern="1200" dirty="0" err="1">
                <a:solidFill>
                  <a:schemeClr val="tx1"/>
                </a:solidFill>
                <a:effectLst/>
                <a:latin typeface="+mn-lt"/>
                <a:ea typeface="+mn-ea"/>
                <a:cs typeface="+mn-cs"/>
              </a:rPr>
              <a:t>CapEx</a:t>
            </a:r>
            <a:r>
              <a:rPr lang="en-US" sz="1200" kern="1200" dirty="0">
                <a:solidFill>
                  <a:schemeClr val="tx1"/>
                </a:solidFill>
                <a:effectLst/>
                <a:latin typeface="+mn-lt"/>
                <a:ea typeface="+mn-ea"/>
                <a:cs typeface="+mn-cs"/>
              </a:rPr>
              <a:t> maintenance. The reality is that AI is not a software business; </a:t>
            </a:r>
            <a:r>
              <a:rPr lang="en-US" sz="1200" b="1" kern="1200" dirty="0">
                <a:solidFill>
                  <a:schemeClr val="tx1"/>
                </a:solidFill>
                <a:effectLst/>
                <a:latin typeface="+mn-lt"/>
                <a:ea typeface="+mn-ea"/>
                <a:cs typeface="+mn-cs"/>
              </a:rPr>
              <a:t>it is a capital-intensive equipment leasing business</a:t>
            </a:r>
            <a:r>
              <a:rPr lang="en-US" sz="1200" kern="1200" dirty="0">
                <a:solidFill>
                  <a:schemeClr val="tx1"/>
                </a:solidFill>
                <a:effectLst/>
                <a:latin typeface="+mn-lt"/>
                <a:ea typeface="+mn-ea"/>
                <a:cs typeface="+mn-cs"/>
              </a:rPr>
              <a:t>. </a:t>
            </a:r>
          </a:p>
          <a:p>
            <a:pPr lvl="0"/>
            <a:r>
              <a:rPr lang="en-US" sz="1200" b="1" kern="1200" dirty="0">
                <a:solidFill>
                  <a:schemeClr val="tx1"/>
                </a:solidFill>
                <a:effectLst/>
                <a:latin typeface="+mn-lt"/>
                <a:ea typeface="+mn-ea"/>
                <a:cs typeface="+mn-cs"/>
              </a:rPr>
              <a:t>Physical Economics:</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Hyperscalers</a:t>
            </a:r>
            <a:r>
              <a:rPr lang="en-US" sz="1200" kern="1200" dirty="0">
                <a:solidFill>
                  <a:schemeClr val="tx1"/>
                </a:solidFill>
                <a:effectLst/>
                <a:latin typeface="+mn-lt"/>
                <a:ea typeface="+mn-ea"/>
                <a:cs typeface="+mn-cs"/>
              </a:rPr>
              <a:t> and GPU clouds are fundamentally acting as digital landlords. Hardware assets suffer from brutal physical and technological obsolescence. Legacy data centers traditionally yield low single-digit to mid-single-digit pre-tax returns on invested capital. </a:t>
            </a:r>
          </a:p>
          <a:p>
            <a:pPr lvl="0"/>
            <a:r>
              <a:rPr lang="en-US" sz="1200" b="1" kern="1200" dirty="0">
                <a:solidFill>
                  <a:schemeClr val="tx1"/>
                </a:solidFill>
                <a:effectLst/>
                <a:latin typeface="+mn-lt"/>
                <a:ea typeface="+mn-ea"/>
                <a:cs typeface="+mn-cs"/>
              </a:rPr>
              <a:t>Fatal Underwriting Errors:</a:t>
            </a:r>
            <a:r>
              <a:rPr lang="en-US" sz="1200" kern="1200" dirty="0">
                <a:solidFill>
                  <a:schemeClr val="tx1"/>
                </a:solidFill>
                <a:effectLst/>
                <a:latin typeface="+mn-lt"/>
                <a:ea typeface="+mn-ea"/>
                <a:cs typeface="+mn-cs"/>
              </a:rPr>
              <a:t> Data centers require non-stop physical maintenance, liquid cooling upgrades, power redundancy, and replacement cycles every 3 to 5 years. Underwriting long-term models based on temporary spot-pricing premiums for compute is a fatal financial miscalculation. </a:t>
            </a:r>
          </a:p>
          <a:p>
            <a:endParaRPr lang="en-US" dirty="0"/>
          </a:p>
        </p:txBody>
      </p:sp>
      <p:sp>
        <p:nvSpPr>
          <p:cNvPr id="4" name="Slide Number Placeholder 3"/>
          <p:cNvSpPr>
            <a:spLocks noGrp="1"/>
          </p:cNvSpPr>
          <p:nvPr>
            <p:ph type="sldNum" sz="quarter" idx="5"/>
          </p:nvPr>
        </p:nvSpPr>
        <p:spPr/>
        <p:txBody>
          <a:bodyPr/>
          <a:lstStyle/>
          <a:p>
            <a:fld id="{C39AA459-744B-4491-B51F-17FAAE2A8822}" type="slidenum">
              <a:rPr lang="en-US" smtClean="0"/>
              <a:t>5</a:t>
            </a:fld>
            <a:endParaRPr lang="en-US"/>
          </a:p>
        </p:txBody>
      </p:sp>
    </p:spTree>
    <p:extLst>
      <p:ext uri="{BB962C8B-B14F-4D97-AF65-F5344CB8AC3E}">
        <p14:creationId xmlns:p14="http://schemas.microsoft.com/office/powerpoint/2010/main" val="198977922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Chart Analysis:</a:t>
            </a:r>
            <a:r>
              <a:rPr lang="en-US" sz="1200" kern="1200" dirty="0">
                <a:solidFill>
                  <a:schemeClr val="tx1"/>
                </a:solidFill>
                <a:effectLst/>
                <a:latin typeface="+mn-lt"/>
                <a:ea typeface="+mn-ea"/>
                <a:cs typeface="+mn-cs"/>
              </a:rPr>
              <a:t> Look closely at the chart on Slide 6. Returns on incremental invested capital (ROIC) for </a:t>
            </a:r>
            <a:r>
              <a:rPr lang="en-US" sz="1200" kern="1200" dirty="0" err="1">
                <a:solidFill>
                  <a:schemeClr val="tx1"/>
                </a:solidFill>
                <a:effectLst/>
                <a:latin typeface="+mn-lt"/>
                <a:ea typeface="+mn-ea"/>
                <a:cs typeface="+mn-cs"/>
              </a:rPr>
              <a:t>hyperscalers</a:t>
            </a:r>
            <a:r>
              <a:rPr lang="en-US" sz="1200" kern="1200" dirty="0">
                <a:solidFill>
                  <a:schemeClr val="tx1"/>
                </a:solidFill>
                <a:effectLst/>
                <a:latin typeface="+mn-lt"/>
                <a:ea typeface="+mn-ea"/>
                <a:cs typeface="+mn-cs"/>
              </a:rPr>
              <a:t> peaked in early 2024 and are dropping rapidly. Meanwhile, </a:t>
            </a:r>
            <a:r>
              <a:rPr lang="en-US" sz="1200" kern="1200" dirty="0" err="1">
                <a:solidFill>
                  <a:schemeClr val="tx1"/>
                </a:solidFill>
                <a:effectLst/>
                <a:latin typeface="+mn-lt"/>
                <a:ea typeface="+mn-ea"/>
                <a:cs typeface="+mn-cs"/>
              </a:rPr>
              <a:t>CapEx</a:t>
            </a:r>
            <a:r>
              <a:rPr lang="en-US" sz="1200" kern="1200" dirty="0">
                <a:solidFill>
                  <a:schemeClr val="tx1"/>
                </a:solidFill>
                <a:effectLst/>
                <a:latin typeface="+mn-lt"/>
                <a:ea typeface="+mn-ea"/>
                <a:cs typeface="+mn-cs"/>
              </a:rPr>
              <a:t> spending curves continue upward on an exponential trajectory. </a:t>
            </a:r>
          </a:p>
          <a:p>
            <a:pPr lvl="0"/>
            <a:r>
              <a:rPr lang="en-US" sz="1200" b="1" kern="1200" dirty="0">
                <a:solidFill>
                  <a:schemeClr val="tx1"/>
                </a:solidFill>
                <a:effectLst/>
                <a:latin typeface="+mn-lt"/>
                <a:ea typeface="+mn-ea"/>
                <a:cs typeface="+mn-cs"/>
              </a:rPr>
              <a:t>The Tipping Point:</a:t>
            </a:r>
            <a:r>
              <a:rPr lang="en-US" sz="1200" kern="1200" dirty="0">
                <a:solidFill>
                  <a:schemeClr val="tx1"/>
                </a:solidFill>
                <a:effectLst/>
                <a:latin typeface="+mn-lt"/>
                <a:ea typeface="+mn-ea"/>
                <a:cs typeface="+mn-cs"/>
              </a:rPr>
              <a:t> We are approaching a critical tipping point—projected around </a:t>
            </a:r>
            <a:r>
              <a:rPr lang="en-US" sz="1200" b="1" kern="1200" dirty="0">
                <a:solidFill>
                  <a:schemeClr val="tx1"/>
                </a:solidFill>
                <a:effectLst/>
                <a:latin typeface="+mn-lt"/>
                <a:ea typeface="+mn-ea"/>
                <a:cs typeface="+mn-cs"/>
              </a:rPr>
              <a:t>2027</a:t>
            </a:r>
            <a:r>
              <a:rPr lang="en-US" sz="1200" kern="1200" dirty="0">
                <a:solidFill>
                  <a:schemeClr val="tx1"/>
                </a:solidFill>
                <a:effectLst/>
                <a:latin typeface="+mn-lt"/>
                <a:ea typeface="+mn-ea"/>
                <a:cs typeface="+mn-cs"/>
              </a:rPr>
              <a:t>—where </a:t>
            </a:r>
            <a:r>
              <a:rPr lang="en-US" sz="1200" kern="1200" dirty="0" err="1">
                <a:solidFill>
                  <a:schemeClr val="tx1"/>
                </a:solidFill>
                <a:effectLst/>
                <a:latin typeface="+mn-lt"/>
                <a:ea typeface="+mn-ea"/>
                <a:cs typeface="+mn-cs"/>
              </a:rPr>
              <a:t>hyperscaler</a:t>
            </a:r>
            <a:r>
              <a:rPr lang="en-US" sz="1200" kern="1200" dirty="0">
                <a:solidFill>
                  <a:schemeClr val="tx1"/>
                </a:solidFill>
                <a:effectLst/>
                <a:latin typeface="+mn-lt"/>
                <a:ea typeface="+mn-ea"/>
                <a:cs typeface="+mn-cs"/>
              </a:rPr>
              <a:t> return on capital falls below their Weighted Average Cost of Capital (WACC). When return on capital drops below the cost of capital, value creation turns into value destruction. </a:t>
            </a:r>
          </a:p>
          <a:p>
            <a:pPr lvl="0"/>
            <a:r>
              <a:rPr lang="en-US" sz="1200" b="1" kern="1200" dirty="0">
                <a:solidFill>
                  <a:schemeClr val="tx1"/>
                </a:solidFill>
                <a:effectLst/>
                <a:latin typeface="+mn-lt"/>
                <a:ea typeface="+mn-ea"/>
                <a:cs typeface="+mn-cs"/>
              </a:rPr>
              <a:t>Economic Disconnect:</a:t>
            </a:r>
            <a:r>
              <a:rPr lang="en-US" sz="1200" kern="1200" dirty="0">
                <a:solidFill>
                  <a:schemeClr val="tx1"/>
                </a:solidFill>
                <a:effectLst/>
                <a:latin typeface="+mn-lt"/>
                <a:ea typeface="+mn-ea"/>
                <a:cs typeface="+mn-cs"/>
              </a:rPr>
              <a:t> End-user productivity gains (the blue curve) are simply not growing fast enough to monetize the trillion-dollar hardware stack being built below it. The math over a multi-year horizon fails to close. </a:t>
            </a:r>
          </a:p>
          <a:p>
            <a:endParaRPr lang="en-US" dirty="0"/>
          </a:p>
        </p:txBody>
      </p:sp>
      <p:sp>
        <p:nvSpPr>
          <p:cNvPr id="4" name="Slide Number Placeholder 3"/>
          <p:cNvSpPr>
            <a:spLocks noGrp="1"/>
          </p:cNvSpPr>
          <p:nvPr>
            <p:ph type="sldNum" sz="quarter" idx="5"/>
          </p:nvPr>
        </p:nvSpPr>
        <p:spPr/>
        <p:txBody>
          <a:bodyPr/>
          <a:lstStyle/>
          <a:p>
            <a:fld id="{C39AA459-744B-4491-B51F-17FAAE2A8822}" type="slidenum">
              <a:rPr lang="en-US" smtClean="0"/>
              <a:t>6</a:t>
            </a:fld>
            <a:endParaRPr lang="en-US"/>
          </a:p>
        </p:txBody>
      </p:sp>
    </p:spTree>
    <p:extLst>
      <p:ext uri="{BB962C8B-B14F-4D97-AF65-F5344CB8AC3E}">
        <p14:creationId xmlns:p14="http://schemas.microsoft.com/office/powerpoint/2010/main" val="267044193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Comparative Analysis:</a:t>
            </a:r>
            <a:r>
              <a:rPr lang="en-US" sz="1200" kern="1200" dirty="0">
                <a:solidFill>
                  <a:schemeClr val="tx1"/>
                </a:solidFill>
                <a:effectLst/>
                <a:latin typeface="+mn-lt"/>
                <a:ea typeface="+mn-ea"/>
                <a:cs typeface="+mn-cs"/>
              </a:rPr>
              <a:t> Slide 7 presents the </a:t>
            </a:r>
            <a:r>
              <a:rPr lang="en-US" sz="1200" b="1" kern="1200" dirty="0">
                <a:solidFill>
                  <a:schemeClr val="tx1"/>
                </a:solidFill>
                <a:effectLst/>
                <a:latin typeface="+mn-lt"/>
                <a:ea typeface="+mn-ea"/>
                <a:cs typeface="+mn-cs"/>
              </a:rPr>
              <a:t>Boom Echo Matrix</a:t>
            </a:r>
            <a:r>
              <a:rPr lang="en-US" sz="1200" kern="1200" dirty="0">
                <a:solidFill>
                  <a:schemeClr val="tx1"/>
                </a:solidFill>
                <a:effectLst/>
                <a:latin typeface="+mn-lt"/>
                <a:ea typeface="+mn-ea"/>
                <a:cs typeface="+mn-cs"/>
              </a:rPr>
              <a:t>, comparing the 2000 Dot-Com / Telecom bust with today’s AI buildout. In 2000, the hardware nexus was Cisco routers and telecom fiber optics; today, it is Nvidia GPUs and custom ASICs. </a:t>
            </a:r>
          </a:p>
          <a:p>
            <a:pPr lvl="0"/>
            <a:r>
              <a:rPr lang="en-US" sz="1200" b="1" kern="1200" dirty="0">
                <a:solidFill>
                  <a:schemeClr val="tx1"/>
                </a:solidFill>
                <a:effectLst/>
                <a:latin typeface="+mn-lt"/>
                <a:ea typeface="+mn-ea"/>
                <a:cs typeface="+mn-cs"/>
              </a:rPr>
              <a:t>Demand Illusions:</a:t>
            </a:r>
            <a:r>
              <a:rPr lang="en-US" sz="1200" kern="1200" dirty="0">
                <a:solidFill>
                  <a:schemeClr val="tx1"/>
                </a:solidFill>
                <a:effectLst/>
                <a:latin typeface="+mn-lt"/>
                <a:ea typeface="+mn-ea"/>
                <a:cs typeface="+mn-cs"/>
              </a:rPr>
              <a:t> In 2000, startups over-ordered router capacity to prepare for endless traffic growth. Today, AI startups are 'token-maxing' and hoarding GPU clusters to claim capacity advantages. </a:t>
            </a:r>
          </a:p>
          <a:p>
            <a:pPr lvl="0"/>
            <a:r>
              <a:rPr lang="en-US" sz="1200" b="1" kern="1200" dirty="0">
                <a:solidFill>
                  <a:schemeClr val="tx1"/>
                </a:solidFill>
                <a:effectLst/>
                <a:latin typeface="+mn-lt"/>
                <a:ea typeface="+mn-ea"/>
                <a:cs typeface="+mn-cs"/>
              </a:rPr>
              <a:t>The Reflexive Crash:</a:t>
            </a:r>
            <a:r>
              <a:rPr lang="en-US" sz="1200" kern="1200" dirty="0">
                <a:solidFill>
                  <a:schemeClr val="tx1"/>
                </a:solidFill>
                <a:effectLst/>
                <a:latin typeface="+mn-lt"/>
                <a:ea typeface="+mn-ea"/>
                <a:cs typeface="+mn-cs"/>
              </a:rPr>
              <a:t> Jim Chanos highlights that in 2001, enterprise order books dropped from </a:t>
            </a:r>
            <a:r>
              <a:rPr lang="en-US" sz="1200" b="1" kern="1200" dirty="0">
                <a:solidFill>
                  <a:schemeClr val="tx1"/>
                </a:solidFill>
                <a:effectLst/>
                <a:latin typeface="+mn-lt"/>
                <a:ea typeface="+mn-ea"/>
                <a:cs typeface="+mn-cs"/>
              </a:rPr>
              <a:t>+70% growth to -30% virtually overnight</a:t>
            </a:r>
            <a:r>
              <a:rPr lang="en-US" sz="1200" kern="1200" dirty="0">
                <a:solidFill>
                  <a:schemeClr val="tx1"/>
                </a:solidFill>
                <a:effectLst/>
                <a:latin typeface="+mn-lt"/>
                <a:ea typeface="+mn-ea"/>
                <a:cs typeface="+mn-cs"/>
              </a:rPr>
              <a:t> in four quarters as companies realized they had 10x the routers they actually needed. S&amp;P 500 earnings fell 40%. Today’s cycle involves far more leverage and shorter hardware half-lives, creating risk of an even faster reflexive correction. </a:t>
            </a:r>
          </a:p>
          <a:p>
            <a:endParaRPr lang="en-US" dirty="0"/>
          </a:p>
        </p:txBody>
      </p:sp>
      <p:sp>
        <p:nvSpPr>
          <p:cNvPr id="4" name="Slide Number Placeholder 3"/>
          <p:cNvSpPr>
            <a:spLocks noGrp="1"/>
          </p:cNvSpPr>
          <p:nvPr>
            <p:ph type="sldNum" sz="quarter" idx="5"/>
          </p:nvPr>
        </p:nvSpPr>
        <p:spPr/>
        <p:txBody>
          <a:bodyPr/>
          <a:lstStyle/>
          <a:p>
            <a:fld id="{C39AA459-744B-4491-B51F-17FAAE2A8822}" type="slidenum">
              <a:rPr lang="en-US" smtClean="0"/>
              <a:t>7</a:t>
            </a:fld>
            <a:endParaRPr lang="en-US"/>
          </a:p>
        </p:txBody>
      </p:sp>
    </p:spTree>
    <p:extLst>
      <p:ext uri="{BB962C8B-B14F-4D97-AF65-F5344CB8AC3E}">
        <p14:creationId xmlns:p14="http://schemas.microsoft.com/office/powerpoint/2010/main" val="278902727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Tiering the Players:</a:t>
            </a:r>
            <a:r>
              <a:rPr lang="en-US" sz="1200" kern="1200" dirty="0">
                <a:solidFill>
                  <a:schemeClr val="tx1"/>
                </a:solidFill>
                <a:effectLst/>
                <a:latin typeface="+mn-lt"/>
                <a:ea typeface="+mn-ea"/>
                <a:cs typeface="+mn-cs"/>
              </a:rPr>
              <a:t> Not all </a:t>
            </a:r>
            <a:r>
              <a:rPr lang="en-US" sz="1200" kern="1200" dirty="0" err="1">
                <a:solidFill>
                  <a:schemeClr val="tx1"/>
                </a:solidFill>
                <a:effectLst/>
                <a:latin typeface="+mn-lt"/>
                <a:ea typeface="+mn-ea"/>
                <a:cs typeface="+mn-cs"/>
              </a:rPr>
              <a:t>hyperscalers</a:t>
            </a:r>
            <a:r>
              <a:rPr lang="en-US" sz="1200" kern="1200" dirty="0">
                <a:solidFill>
                  <a:schemeClr val="tx1"/>
                </a:solidFill>
                <a:effectLst/>
                <a:latin typeface="+mn-lt"/>
                <a:ea typeface="+mn-ea"/>
                <a:cs typeface="+mn-cs"/>
              </a:rPr>
              <a:t> are created equal. We break them down into three tiers based on end-user distribution: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Healthy Tier (Microsoft &amp; Meta):</a:t>
            </a:r>
            <a:r>
              <a:rPr lang="en-US" sz="1200" kern="1200" dirty="0">
                <a:solidFill>
                  <a:schemeClr val="tx1"/>
                </a:solidFill>
                <a:effectLst/>
                <a:latin typeface="+mn-lt"/>
                <a:ea typeface="+mn-ea"/>
                <a:cs typeface="+mn-cs"/>
              </a:rPr>
              <a:t> Possess massive, embedded enterprise and consumer bases (Office 365, Instagram/FB ads) to absorb compute costs.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Middle Tier (Google):</a:t>
            </a:r>
            <a:r>
              <a:rPr lang="en-US" sz="1200" kern="1200" dirty="0">
                <a:solidFill>
                  <a:schemeClr val="tx1"/>
                </a:solidFill>
                <a:effectLst/>
                <a:latin typeface="+mn-lt"/>
                <a:ea typeface="+mn-ea"/>
                <a:cs typeface="+mn-cs"/>
              </a:rPr>
              <a:t> Unmatched distribution via Android/Chrome, but faces structural risk from AI search cannibalizing high-margin search ad links.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Struggling Tier (Oracle &amp; Amazon):</a:t>
            </a:r>
            <a:r>
              <a:rPr lang="en-US" sz="1200" kern="1200" dirty="0">
                <a:solidFill>
                  <a:schemeClr val="tx1"/>
                </a:solidFill>
                <a:effectLst/>
                <a:latin typeface="+mn-lt"/>
                <a:ea typeface="+mn-ea"/>
                <a:cs typeface="+mn-cs"/>
              </a:rPr>
              <a:t> Heavily dependent on external startup lease commitments. </a:t>
            </a:r>
          </a:p>
          <a:p>
            <a:pPr lvl="0"/>
            <a:r>
              <a:rPr lang="en-US" sz="1200" b="1" kern="1200" dirty="0">
                <a:solidFill>
                  <a:schemeClr val="tx1"/>
                </a:solidFill>
                <a:effectLst/>
                <a:latin typeface="+mn-lt"/>
                <a:ea typeface="+mn-ea"/>
                <a:cs typeface="+mn-cs"/>
              </a:rPr>
              <a:t>Market Red Flags:</a:t>
            </a:r>
            <a:r>
              <a:rPr lang="en-US" sz="1200" kern="1200" dirty="0">
                <a:solidFill>
                  <a:schemeClr val="tx1"/>
                </a:solidFill>
                <a:effectLst/>
                <a:latin typeface="+mn-lt"/>
                <a:ea typeface="+mn-ea"/>
                <a:cs typeface="+mn-cs"/>
              </a:rPr>
              <a:t> Notice the warning signs: Oracle’s recent 'Force Majeure' issues surrounding an $18 Billion loan for a New Mexico AI site, alongside surging Credit Default Swaps (CDS) for specialized compute hosts. Credit and bond markets are pricing in structural distress well before equity markets. </a:t>
            </a:r>
          </a:p>
          <a:p>
            <a:endParaRPr lang="en-US" dirty="0"/>
          </a:p>
        </p:txBody>
      </p:sp>
      <p:sp>
        <p:nvSpPr>
          <p:cNvPr id="4" name="Slide Number Placeholder 3"/>
          <p:cNvSpPr>
            <a:spLocks noGrp="1"/>
          </p:cNvSpPr>
          <p:nvPr>
            <p:ph type="sldNum" sz="quarter" idx="5"/>
          </p:nvPr>
        </p:nvSpPr>
        <p:spPr/>
        <p:txBody>
          <a:bodyPr/>
          <a:lstStyle/>
          <a:p>
            <a:fld id="{C39AA459-744B-4491-B51F-17FAAE2A8822}" type="slidenum">
              <a:rPr lang="en-US" smtClean="0"/>
              <a:t>8</a:t>
            </a:fld>
            <a:endParaRPr lang="en-US"/>
          </a:p>
        </p:txBody>
      </p:sp>
    </p:spTree>
    <p:extLst>
      <p:ext uri="{BB962C8B-B14F-4D97-AF65-F5344CB8AC3E}">
        <p14:creationId xmlns:p14="http://schemas.microsoft.com/office/powerpoint/2010/main" val="357017097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Hitting the Wall:</a:t>
            </a:r>
            <a:r>
              <a:rPr lang="en-US" sz="1200" kern="1200" dirty="0">
                <a:solidFill>
                  <a:schemeClr val="tx1"/>
                </a:solidFill>
                <a:effectLst/>
                <a:latin typeface="+mn-lt"/>
                <a:ea typeface="+mn-ea"/>
                <a:cs typeface="+mn-cs"/>
              </a:rPr>
              <a:t> Transitioning to the technical realities: Gary Marcus explains that the AI industry has officially hit diminishing returns on brute-force data scaling laws. Running out of human-generated text on the internet means you can no longer simply 'add 10x more data' to make models smarter. </a:t>
            </a:r>
          </a:p>
          <a:p>
            <a:pPr lvl="0"/>
            <a:r>
              <a:rPr lang="en-US" sz="1200" b="1" kern="1200" dirty="0">
                <a:solidFill>
                  <a:schemeClr val="tx1"/>
                </a:solidFill>
                <a:effectLst/>
                <a:latin typeface="+mn-lt"/>
                <a:ea typeface="+mn-ea"/>
                <a:cs typeface="+mn-cs"/>
              </a:rPr>
              <a:t>Statistical Guessers:</a:t>
            </a:r>
            <a:r>
              <a:rPr lang="en-US" sz="1200" kern="1200" dirty="0">
                <a:solidFill>
                  <a:schemeClr val="tx1"/>
                </a:solidFill>
                <a:effectLst/>
                <a:latin typeface="+mn-lt"/>
                <a:ea typeface="+mn-ea"/>
                <a:cs typeface="+mn-cs"/>
              </a:rPr>
              <a:t> Foundational LLMs are inherently </a:t>
            </a:r>
            <a:r>
              <a:rPr lang="en-US" sz="1200" b="1" kern="1200" dirty="0">
                <a:solidFill>
                  <a:schemeClr val="tx1"/>
                </a:solidFill>
                <a:effectLst/>
                <a:latin typeface="+mn-lt"/>
                <a:ea typeface="+mn-ea"/>
                <a:cs typeface="+mn-cs"/>
              </a:rPr>
              <a:t>statistical guessers</a:t>
            </a:r>
            <a:r>
              <a:rPr lang="en-US" sz="1200" kern="1200" dirty="0">
                <a:solidFill>
                  <a:schemeClr val="tx1"/>
                </a:solidFill>
                <a:effectLst/>
                <a:latin typeface="+mn-lt"/>
                <a:ea typeface="+mn-ea"/>
                <a:cs typeface="+mn-cs"/>
              </a:rPr>
              <a:t>, predicting the next word based on probability—they do not possess underlying logical models or semantic understanding.</a:t>
            </a:r>
          </a:p>
          <a:p>
            <a:pPr lvl="0"/>
            <a:r>
              <a:rPr lang="en-US" sz="1200" b="1" kern="1200" dirty="0">
                <a:solidFill>
                  <a:schemeClr val="tx1"/>
                </a:solidFill>
                <a:effectLst/>
                <a:latin typeface="+mn-lt"/>
                <a:ea typeface="+mn-ea"/>
                <a:cs typeface="+mn-cs"/>
              </a:rPr>
              <a:t>Shifting Goalposts:</a:t>
            </a:r>
            <a:r>
              <a:rPr lang="en-US" sz="1200" kern="1200" dirty="0">
                <a:solidFill>
                  <a:schemeClr val="tx1"/>
                </a:solidFill>
                <a:effectLst/>
                <a:latin typeface="+mn-lt"/>
                <a:ea typeface="+mn-ea"/>
                <a:cs typeface="+mn-cs"/>
              </a:rPr>
              <a:t> To keep valuations high, leading labs are quietly delaying S-1 filings and pushing AGI timelines back from 2025 to 2028 and beyond while burning hundreds of billions of dollars.</a:t>
            </a:r>
          </a:p>
          <a:p>
            <a:endParaRPr lang="en-US" dirty="0"/>
          </a:p>
        </p:txBody>
      </p:sp>
      <p:sp>
        <p:nvSpPr>
          <p:cNvPr id="4" name="Slide Number Placeholder 3"/>
          <p:cNvSpPr>
            <a:spLocks noGrp="1"/>
          </p:cNvSpPr>
          <p:nvPr>
            <p:ph type="sldNum" sz="quarter" idx="5"/>
          </p:nvPr>
        </p:nvSpPr>
        <p:spPr/>
        <p:txBody>
          <a:bodyPr/>
          <a:lstStyle/>
          <a:p>
            <a:fld id="{C39AA459-744B-4491-B51F-17FAAE2A8822}" type="slidenum">
              <a:rPr lang="en-US" smtClean="0"/>
              <a:t>9</a:t>
            </a:fld>
            <a:endParaRPr lang="en-US"/>
          </a:p>
        </p:txBody>
      </p:sp>
    </p:spTree>
    <p:extLst>
      <p:ext uri="{BB962C8B-B14F-4D97-AF65-F5344CB8AC3E}">
        <p14:creationId xmlns:p14="http://schemas.microsoft.com/office/powerpoint/2010/main" val="102330946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Neural Nets vs. Symbolic Logic:</a:t>
            </a:r>
            <a:r>
              <a:rPr lang="en-US" sz="1200" kern="1200" dirty="0">
                <a:solidFill>
                  <a:schemeClr val="tx1"/>
                </a:solidFill>
                <a:effectLst/>
                <a:latin typeface="+mn-lt"/>
                <a:ea typeface="+mn-ea"/>
                <a:cs typeface="+mn-cs"/>
              </a:rPr>
              <a:t> Slide 10 details the structural limits of AI architecture. On one side, you have </a:t>
            </a:r>
            <a:r>
              <a:rPr lang="en-US" sz="1200" b="1" kern="1200" dirty="0">
                <a:solidFill>
                  <a:schemeClr val="tx1"/>
                </a:solidFill>
                <a:effectLst/>
                <a:latin typeface="+mn-lt"/>
                <a:ea typeface="+mn-ea"/>
                <a:cs typeface="+mn-cs"/>
              </a:rPr>
              <a:t>Neural Networks</a:t>
            </a:r>
            <a:r>
              <a:rPr lang="en-US" sz="1200" kern="1200" dirty="0">
                <a:solidFill>
                  <a:schemeClr val="tx1"/>
                </a:solidFill>
                <a:effectLst/>
                <a:latin typeface="+mn-lt"/>
                <a:ea typeface="+mn-ea"/>
                <a:cs typeface="+mn-cs"/>
              </a:rPr>
              <a:t>—great at pattern matching and statistical guessing, but prone to hallucinations. On the other, you have </a:t>
            </a:r>
            <a:r>
              <a:rPr lang="en-US" sz="1200" b="1" kern="1200" dirty="0">
                <a:solidFill>
                  <a:schemeClr val="tx1"/>
                </a:solidFill>
                <a:effectLst/>
                <a:latin typeface="+mn-lt"/>
                <a:ea typeface="+mn-ea"/>
                <a:cs typeface="+mn-cs"/>
              </a:rPr>
              <a:t>Classical Symbolic AI</a:t>
            </a:r>
            <a:r>
              <a:rPr lang="en-US" sz="1200" kern="1200" dirty="0">
                <a:solidFill>
                  <a:schemeClr val="tx1"/>
                </a:solidFill>
                <a:effectLst/>
                <a:latin typeface="+mn-lt"/>
                <a:ea typeface="+mn-ea"/>
                <a:cs typeface="+mn-cs"/>
              </a:rPr>
              <a:t>—rule-based, exact, and verifiable. </a:t>
            </a:r>
          </a:p>
          <a:p>
            <a:pPr lvl="0"/>
            <a:r>
              <a:rPr lang="en-US" sz="1200" b="1" kern="1200" dirty="0">
                <a:solidFill>
                  <a:schemeClr val="tx1"/>
                </a:solidFill>
                <a:effectLst/>
                <a:latin typeface="+mn-lt"/>
                <a:ea typeface="+mn-ea"/>
                <a:cs typeface="+mn-cs"/>
              </a:rPr>
              <a:t>The </a:t>
            </a:r>
            <a:r>
              <a:rPr lang="en-US" sz="1200" b="1" kern="1200" dirty="0" err="1">
                <a:solidFill>
                  <a:schemeClr val="tx1"/>
                </a:solidFill>
                <a:effectLst/>
                <a:latin typeface="+mn-lt"/>
                <a:ea typeface="+mn-ea"/>
                <a:cs typeface="+mn-cs"/>
              </a:rPr>
              <a:t>Neurosymbolic</a:t>
            </a:r>
            <a:r>
              <a:rPr lang="en-US" sz="1200" b="1" kern="1200" dirty="0">
                <a:solidFill>
                  <a:schemeClr val="tx1"/>
                </a:solidFill>
                <a:effectLst/>
                <a:latin typeface="+mn-lt"/>
                <a:ea typeface="+mn-ea"/>
                <a:cs typeface="+mn-cs"/>
              </a:rPr>
              <a:t> Approach:</a:t>
            </a:r>
            <a:r>
              <a:rPr lang="en-US" sz="1200" kern="1200" dirty="0">
                <a:solidFill>
                  <a:schemeClr val="tx1"/>
                </a:solidFill>
                <a:effectLst/>
                <a:latin typeface="+mn-lt"/>
                <a:ea typeface="+mn-ea"/>
                <a:cs typeface="+mn-cs"/>
              </a:rPr>
              <a:t> To make AI reliable, researchers wrap neural networks in </a:t>
            </a:r>
            <a:r>
              <a:rPr lang="en-US" sz="1200" b="1" kern="1200" dirty="0" err="1">
                <a:solidFill>
                  <a:schemeClr val="tx1"/>
                </a:solidFill>
                <a:effectLst/>
                <a:latin typeface="+mn-lt"/>
                <a:ea typeface="+mn-ea"/>
                <a:cs typeface="+mn-cs"/>
              </a:rPr>
              <a:t>Neurosymbolic</a:t>
            </a:r>
            <a:r>
              <a:rPr lang="en-US" sz="1200" b="1" kern="1200" dirty="0">
                <a:solidFill>
                  <a:schemeClr val="tx1"/>
                </a:solidFill>
                <a:effectLst/>
                <a:latin typeface="+mn-lt"/>
                <a:ea typeface="+mn-ea"/>
                <a:cs typeface="+mn-cs"/>
              </a:rPr>
              <a:t> engines</a:t>
            </a:r>
            <a:r>
              <a:rPr lang="en-US" sz="1200" kern="1200" dirty="0">
                <a:solidFill>
                  <a:schemeClr val="tx1"/>
                </a:solidFill>
                <a:effectLst/>
                <a:latin typeface="+mn-lt"/>
                <a:ea typeface="+mn-ea"/>
                <a:cs typeface="+mn-cs"/>
              </a:rPr>
              <a:t> (using tools like Lean) where a neural net guesses an answer and a symbolic solver formally verifies it.</a:t>
            </a:r>
          </a:p>
          <a:p>
            <a:pPr lvl="0"/>
            <a:r>
              <a:rPr lang="en-US" sz="1200" b="1" kern="1200" dirty="0">
                <a:solidFill>
                  <a:schemeClr val="tx1"/>
                </a:solidFill>
                <a:effectLst/>
                <a:latin typeface="+mn-lt"/>
                <a:ea typeface="+mn-ea"/>
                <a:cs typeface="+mn-cs"/>
              </a:rPr>
              <a:t>The Fundamental Limit:</a:t>
            </a:r>
            <a:r>
              <a:rPr lang="en-US" sz="1200" kern="1200" dirty="0">
                <a:solidFill>
                  <a:schemeClr val="tx1"/>
                </a:solidFill>
                <a:effectLst/>
                <a:latin typeface="+mn-lt"/>
                <a:ea typeface="+mn-ea"/>
                <a:cs typeface="+mn-cs"/>
              </a:rPr>
              <a:t> While </a:t>
            </a:r>
            <a:r>
              <a:rPr lang="en-US" sz="1200" kern="1200" dirty="0" err="1">
                <a:solidFill>
                  <a:schemeClr val="tx1"/>
                </a:solidFill>
                <a:effectLst/>
                <a:latin typeface="+mn-lt"/>
                <a:ea typeface="+mn-ea"/>
                <a:cs typeface="+mn-cs"/>
              </a:rPr>
              <a:t>neurosymbolic</a:t>
            </a:r>
            <a:r>
              <a:rPr lang="en-US" sz="1200" kern="1200" dirty="0">
                <a:solidFill>
                  <a:schemeClr val="tx1"/>
                </a:solidFill>
                <a:effectLst/>
                <a:latin typeface="+mn-lt"/>
                <a:ea typeface="+mn-ea"/>
                <a:cs typeface="+mn-cs"/>
              </a:rPr>
              <a:t> verification works for formal math or closed code, </a:t>
            </a:r>
            <a:r>
              <a:rPr lang="en-US" sz="1200" b="1" kern="1200" dirty="0">
                <a:solidFill>
                  <a:schemeClr val="tx1"/>
                </a:solidFill>
                <a:effectLst/>
                <a:latin typeface="+mn-lt"/>
                <a:ea typeface="+mn-ea"/>
                <a:cs typeface="+mn-cs"/>
              </a:rPr>
              <a:t>open-ended real-world domain problems</a:t>
            </a:r>
            <a:r>
              <a:rPr lang="en-US" sz="1200" kern="1200" dirty="0">
                <a:solidFill>
                  <a:schemeClr val="tx1"/>
                </a:solidFill>
                <a:effectLst/>
                <a:latin typeface="+mn-lt"/>
                <a:ea typeface="+mn-ea"/>
                <a:cs typeface="+mn-cs"/>
              </a:rPr>
              <a:t>—like international diplomacy, supply chain logistics, or medical diagnosis—cannot be reduced to mathematical axioms. Thus, reliability remains an unsolved issue. </a:t>
            </a:r>
          </a:p>
          <a:p>
            <a:endParaRPr lang="en-US" dirty="0"/>
          </a:p>
        </p:txBody>
      </p:sp>
      <p:sp>
        <p:nvSpPr>
          <p:cNvPr id="4" name="Slide Number Placeholder 3"/>
          <p:cNvSpPr>
            <a:spLocks noGrp="1"/>
          </p:cNvSpPr>
          <p:nvPr>
            <p:ph type="sldNum" sz="quarter" idx="5"/>
          </p:nvPr>
        </p:nvSpPr>
        <p:spPr/>
        <p:txBody>
          <a:bodyPr/>
          <a:lstStyle/>
          <a:p>
            <a:fld id="{C39AA459-744B-4491-B51F-17FAAE2A8822}" type="slidenum">
              <a:rPr lang="en-US" smtClean="0"/>
              <a:t>10</a:t>
            </a:fld>
            <a:endParaRPr lang="en-US"/>
          </a:p>
        </p:txBody>
      </p:sp>
    </p:spTree>
    <p:extLst>
      <p:ext uri="{BB962C8B-B14F-4D97-AF65-F5344CB8AC3E}">
        <p14:creationId xmlns:p14="http://schemas.microsoft.com/office/powerpoint/2010/main" val="354066099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The Agentic Shift:</a:t>
            </a:r>
            <a:r>
              <a:rPr lang="en-US" sz="1200" kern="1200" dirty="0">
                <a:solidFill>
                  <a:schemeClr val="tx1"/>
                </a:solidFill>
                <a:effectLst/>
                <a:latin typeface="+mn-lt"/>
                <a:ea typeface="+mn-ea"/>
                <a:cs typeface="+mn-cs"/>
              </a:rPr>
              <a:t> Because foundational LLM improvements are slowing down, labs have executed a product pivot toward </a:t>
            </a:r>
            <a:r>
              <a:rPr lang="en-US" sz="1200" b="1" kern="1200" dirty="0">
                <a:solidFill>
                  <a:schemeClr val="tx1"/>
                </a:solidFill>
                <a:effectLst/>
                <a:latin typeface="+mn-lt"/>
                <a:ea typeface="+mn-ea"/>
                <a:cs typeface="+mn-cs"/>
              </a:rPr>
              <a:t>'Agentic AI'</a:t>
            </a:r>
            <a:r>
              <a:rPr lang="en-US" sz="1200" kern="1200" dirty="0">
                <a:solidFill>
                  <a:schemeClr val="tx1"/>
                </a:solidFill>
                <a:effectLst/>
                <a:latin typeface="+mn-lt"/>
                <a:ea typeface="+mn-ea"/>
                <a:cs typeface="+mn-cs"/>
              </a:rPr>
              <a:t>. Agents are given autonomous API access to run loops, search the web, execute code, and take actions. </a:t>
            </a:r>
          </a:p>
          <a:p>
            <a:pPr lvl="0"/>
            <a:r>
              <a:rPr lang="en-US" sz="1200" b="1" kern="1200" dirty="0">
                <a:solidFill>
                  <a:schemeClr val="tx1"/>
                </a:solidFill>
                <a:effectLst/>
                <a:latin typeface="+mn-lt"/>
                <a:ea typeface="+mn-ea"/>
                <a:cs typeface="+mn-cs"/>
              </a:rPr>
              <a:t>Financial Incentive:</a:t>
            </a:r>
            <a:r>
              <a:rPr lang="en-US" sz="1200" kern="1200" dirty="0">
                <a:solidFill>
                  <a:schemeClr val="tx1"/>
                </a:solidFill>
                <a:effectLst/>
                <a:latin typeface="+mn-lt"/>
                <a:ea typeface="+mn-ea"/>
                <a:cs typeface="+mn-cs"/>
              </a:rPr>
              <a:t> Why the push for agents? Because running thousands of automated retry loops in parallel </a:t>
            </a:r>
            <a:r>
              <a:rPr lang="en-US" sz="1200" b="1" kern="1200" dirty="0">
                <a:solidFill>
                  <a:schemeClr val="tx1"/>
                </a:solidFill>
                <a:effectLst/>
                <a:latin typeface="+mn-lt"/>
                <a:ea typeface="+mn-ea"/>
                <a:cs typeface="+mn-cs"/>
              </a:rPr>
              <a:t>dramatically inflates token consumption and compute billing</a:t>
            </a:r>
            <a:r>
              <a:rPr lang="en-US" sz="1200" kern="1200" dirty="0">
                <a:solidFill>
                  <a:schemeClr val="tx1"/>
                </a:solidFill>
                <a:effectLst/>
                <a:latin typeface="+mn-lt"/>
                <a:ea typeface="+mn-ea"/>
                <a:cs typeface="+mn-cs"/>
              </a:rPr>
              <a:t>. It artificially boosts compute usage to show revenue growth ahead of IPOs. </a:t>
            </a:r>
          </a:p>
          <a:p>
            <a:pPr lvl="0"/>
            <a:r>
              <a:rPr lang="en-US" sz="1200" b="1" kern="1200" dirty="0">
                <a:solidFill>
                  <a:schemeClr val="tx1"/>
                </a:solidFill>
                <a:effectLst/>
                <a:latin typeface="+mn-lt"/>
                <a:ea typeface="+mn-ea"/>
                <a:cs typeface="+mn-cs"/>
              </a:rPr>
              <a:t>Flawed Foundation:</a:t>
            </a:r>
            <a:r>
              <a:rPr lang="en-US" sz="1200" kern="1200" dirty="0">
                <a:solidFill>
                  <a:schemeClr val="tx1"/>
                </a:solidFill>
                <a:effectLst/>
                <a:latin typeface="+mn-lt"/>
                <a:ea typeface="+mn-ea"/>
                <a:cs typeface="+mn-cs"/>
              </a:rPr>
              <a:t> The core problem remains: putting an unreliable statistical guesser into an autonomous, unmonitored loop does not make it reliable—it simply compounds errors at scale.</a:t>
            </a:r>
          </a:p>
          <a:p>
            <a:endParaRPr lang="en-US" dirty="0"/>
          </a:p>
        </p:txBody>
      </p:sp>
      <p:sp>
        <p:nvSpPr>
          <p:cNvPr id="4" name="Slide Number Placeholder 3"/>
          <p:cNvSpPr>
            <a:spLocks noGrp="1"/>
          </p:cNvSpPr>
          <p:nvPr>
            <p:ph type="sldNum" sz="quarter" idx="5"/>
          </p:nvPr>
        </p:nvSpPr>
        <p:spPr/>
        <p:txBody>
          <a:bodyPr/>
          <a:lstStyle/>
          <a:p>
            <a:fld id="{C39AA459-744B-4491-B51F-17FAAE2A8822}" type="slidenum">
              <a:rPr lang="en-US" smtClean="0"/>
              <a:t>11</a:t>
            </a:fld>
            <a:endParaRPr lang="en-US"/>
          </a:p>
        </p:txBody>
      </p:sp>
    </p:spTree>
    <p:extLst>
      <p:ext uri="{BB962C8B-B14F-4D97-AF65-F5344CB8AC3E}">
        <p14:creationId xmlns:p14="http://schemas.microsoft.com/office/powerpoint/2010/main" val="77175648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The Vulnerability Formula:</a:t>
            </a:r>
            <a:r>
              <a:rPr lang="en-US" sz="1200" kern="1200" dirty="0">
                <a:solidFill>
                  <a:schemeClr val="tx1"/>
                </a:solidFill>
                <a:effectLst/>
                <a:latin typeface="+mn-lt"/>
                <a:ea typeface="+mn-ea"/>
                <a:cs typeface="+mn-cs"/>
              </a:rPr>
              <a:t> When you connect flawed LLMs to autonomous internet tools with system credentials, you create an unprecedented cybersecurity threat vector. </a:t>
            </a:r>
          </a:p>
          <a:p>
            <a:pPr lvl="0"/>
            <a:r>
              <a:rPr lang="en-US" sz="1200" b="1" kern="1200" dirty="0">
                <a:solidFill>
                  <a:schemeClr val="tx1"/>
                </a:solidFill>
                <a:effectLst/>
                <a:latin typeface="+mn-lt"/>
                <a:ea typeface="+mn-ea"/>
                <a:cs typeface="+mn-cs"/>
              </a:rPr>
              <a:t>Real-World Incidents:</a:t>
            </a:r>
            <a:r>
              <a:rPr lang="en-US" sz="1200" kern="1200" dirty="0">
                <a:solidFill>
                  <a:schemeClr val="tx1"/>
                </a:solidFill>
                <a:effectLst/>
                <a:latin typeface="+mn-lt"/>
                <a:ea typeface="+mn-ea"/>
                <a:cs typeface="+mn-cs"/>
              </a:rPr>
              <a:t> Rather than solving core software safety, labs are releasing agent frameworks directly into enterprise environments. We have already seen documented incidents of compromised agentic systems accessing critical infrastructure, leaking government data, and triggering unauthorized network modifications. </a:t>
            </a:r>
          </a:p>
          <a:p>
            <a:pPr lvl="0"/>
            <a:r>
              <a:rPr lang="en-US" sz="1200" b="1" kern="1200" dirty="0">
                <a:solidFill>
                  <a:schemeClr val="tx1"/>
                </a:solidFill>
                <a:effectLst/>
                <a:latin typeface="+mn-lt"/>
                <a:ea typeface="+mn-ea"/>
                <a:cs typeface="+mn-cs"/>
              </a:rPr>
              <a:t>Systemic Exposure:</a:t>
            </a:r>
            <a:r>
              <a:rPr lang="en-US" sz="1200" kern="1200" dirty="0">
                <a:solidFill>
                  <a:schemeClr val="tx1"/>
                </a:solidFill>
                <a:effectLst/>
                <a:latin typeface="+mn-lt"/>
                <a:ea typeface="+mn-ea"/>
                <a:cs typeface="+mn-cs"/>
              </a:rPr>
              <a:t> From utility grids to financial clearinghouses, deploying non-deterministic software agents with systemic access exposes global infrastructure to catastrophic cascade failures. </a:t>
            </a:r>
          </a:p>
          <a:p>
            <a:endParaRPr lang="en-US" dirty="0"/>
          </a:p>
        </p:txBody>
      </p:sp>
      <p:sp>
        <p:nvSpPr>
          <p:cNvPr id="4" name="Slide Number Placeholder 3"/>
          <p:cNvSpPr>
            <a:spLocks noGrp="1"/>
          </p:cNvSpPr>
          <p:nvPr>
            <p:ph type="sldNum" sz="quarter" idx="5"/>
          </p:nvPr>
        </p:nvSpPr>
        <p:spPr/>
        <p:txBody>
          <a:bodyPr/>
          <a:lstStyle/>
          <a:p>
            <a:fld id="{C39AA459-744B-4491-B51F-17FAAE2A8822}" type="slidenum">
              <a:rPr lang="en-US" smtClean="0"/>
              <a:t>12</a:t>
            </a:fld>
            <a:endParaRPr lang="en-US"/>
          </a:p>
        </p:txBody>
      </p:sp>
    </p:spTree>
    <p:extLst>
      <p:ext uri="{BB962C8B-B14F-4D97-AF65-F5344CB8AC3E}">
        <p14:creationId xmlns:p14="http://schemas.microsoft.com/office/powerpoint/2010/main" val="352057260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Demystifying P-Doom:</a:t>
            </a:r>
            <a:r>
              <a:rPr lang="en-US" sz="1200" kern="1200" dirty="0">
                <a:solidFill>
                  <a:schemeClr val="tx1"/>
                </a:solidFill>
                <a:effectLst/>
                <a:latin typeface="+mn-lt"/>
                <a:ea typeface="+mn-ea"/>
                <a:cs typeface="+mn-cs"/>
              </a:rPr>
              <a:t> Public debate is often dominated by Sci-Fi 'P-Doom' existential threats (Skynet ending humanity). In reality, P-Doom has a &lt;1% probability; humans can simply cut power and disconnect physical hardware. </a:t>
            </a:r>
          </a:p>
          <a:p>
            <a:pPr lvl="0"/>
            <a:r>
              <a:rPr lang="en-US" sz="1200" b="1" kern="1200" dirty="0">
                <a:solidFill>
                  <a:schemeClr val="tx1"/>
                </a:solidFill>
                <a:effectLst/>
                <a:latin typeface="+mn-lt"/>
                <a:ea typeface="+mn-ea"/>
                <a:cs typeface="+mn-cs"/>
              </a:rPr>
              <a:t>P-Catastrophe:</a:t>
            </a:r>
            <a:r>
              <a:rPr lang="en-US" sz="1200" kern="1200" dirty="0">
                <a:solidFill>
                  <a:schemeClr val="tx1"/>
                </a:solidFill>
                <a:effectLst/>
                <a:latin typeface="+mn-lt"/>
                <a:ea typeface="+mn-ea"/>
                <a:cs typeface="+mn-cs"/>
              </a:rPr>
              <a:t> The true high-probability threat is </a:t>
            </a:r>
            <a:r>
              <a:rPr lang="en-US" sz="1200" b="1" kern="1200" dirty="0">
                <a:solidFill>
                  <a:schemeClr val="tx1"/>
                </a:solidFill>
                <a:effectLst/>
                <a:latin typeface="+mn-lt"/>
                <a:ea typeface="+mn-ea"/>
                <a:cs typeface="+mn-cs"/>
              </a:rPr>
              <a:t>P-Catastrophe</a:t>
            </a:r>
            <a:r>
              <a:rPr lang="en-US" sz="1200" kern="1200" dirty="0">
                <a:solidFill>
                  <a:schemeClr val="tx1"/>
                </a:solidFill>
                <a:effectLst/>
                <a:latin typeface="+mn-lt"/>
                <a:ea typeface="+mn-ea"/>
                <a:cs typeface="+mn-cs"/>
              </a:rPr>
              <a:t>: LLM hallucinations in military command chains, autonomous trading failures triggering liquidity freezes, or agentic security breaches shutting down hospital grids. </a:t>
            </a:r>
          </a:p>
          <a:p>
            <a:pPr lvl="0"/>
            <a:r>
              <a:rPr lang="en-US" sz="1200" b="1" kern="1200" dirty="0">
                <a:solidFill>
                  <a:schemeClr val="tx1"/>
                </a:solidFill>
                <a:effectLst/>
                <a:latin typeface="+mn-lt"/>
                <a:ea typeface="+mn-ea"/>
                <a:cs typeface="+mn-cs"/>
              </a:rPr>
              <a:t>P-Dystopia:</a:t>
            </a:r>
            <a:r>
              <a:rPr lang="en-US" sz="1200" kern="1200" dirty="0">
                <a:solidFill>
                  <a:schemeClr val="tx1"/>
                </a:solidFill>
                <a:effectLst/>
                <a:latin typeface="+mn-lt"/>
                <a:ea typeface="+mn-ea"/>
                <a:cs typeface="+mn-cs"/>
              </a:rPr>
              <a:t> Near 100% certainty exists for </a:t>
            </a:r>
            <a:r>
              <a:rPr lang="en-US" sz="1200" b="1" kern="1200" dirty="0">
                <a:solidFill>
                  <a:schemeClr val="tx1"/>
                </a:solidFill>
                <a:effectLst/>
                <a:latin typeface="+mn-lt"/>
                <a:ea typeface="+mn-ea"/>
                <a:cs typeface="+mn-cs"/>
              </a:rPr>
              <a:t>P-Dystopia</a:t>
            </a:r>
            <a:r>
              <a:rPr lang="en-US" sz="1200" kern="1200" dirty="0">
                <a:solidFill>
                  <a:schemeClr val="tx1"/>
                </a:solidFill>
                <a:effectLst/>
                <a:latin typeface="+mn-lt"/>
                <a:ea typeface="+mn-ea"/>
                <a:cs typeface="+mn-cs"/>
              </a:rPr>
              <a:t>: a world where non-viable AI models are kept afloat by converting into mass behavioral surveillance tools, monetizing user prompt data for corporate and state intelligence. </a:t>
            </a:r>
          </a:p>
          <a:p>
            <a:endParaRPr lang="en-US" dirty="0"/>
          </a:p>
        </p:txBody>
      </p:sp>
      <p:sp>
        <p:nvSpPr>
          <p:cNvPr id="4" name="Slide Number Placeholder 3"/>
          <p:cNvSpPr>
            <a:spLocks noGrp="1"/>
          </p:cNvSpPr>
          <p:nvPr>
            <p:ph type="sldNum" sz="quarter" idx="5"/>
          </p:nvPr>
        </p:nvSpPr>
        <p:spPr/>
        <p:txBody>
          <a:bodyPr/>
          <a:lstStyle/>
          <a:p>
            <a:fld id="{C39AA459-744B-4491-B51F-17FAAE2A8822}" type="slidenum">
              <a:rPr lang="en-US" smtClean="0"/>
              <a:t>13</a:t>
            </a:fld>
            <a:endParaRPr lang="en-US"/>
          </a:p>
        </p:txBody>
      </p:sp>
    </p:spTree>
    <p:extLst>
      <p:ext uri="{BB962C8B-B14F-4D97-AF65-F5344CB8AC3E}">
        <p14:creationId xmlns:p14="http://schemas.microsoft.com/office/powerpoint/2010/main" val="192912288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Reverse Reflexivity:</a:t>
            </a:r>
            <a:r>
              <a:rPr lang="en-US" sz="1200" kern="1200" dirty="0">
                <a:solidFill>
                  <a:schemeClr val="tx1"/>
                </a:solidFill>
                <a:effectLst/>
                <a:latin typeface="+mn-lt"/>
                <a:ea typeface="+mn-ea"/>
                <a:cs typeface="+mn-cs"/>
              </a:rPr>
              <a:t> Slide 14 charts the unwinding process. Just as reflexivity drives asset prices up during a boom, </a:t>
            </a:r>
            <a:r>
              <a:rPr lang="en-US" sz="1200" b="1" kern="1200" dirty="0">
                <a:solidFill>
                  <a:schemeClr val="tx1"/>
                </a:solidFill>
                <a:effectLst/>
                <a:latin typeface="+mn-lt"/>
                <a:ea typeface="+mn-ea"/>
                <a:cs typeface="+mn-cs"/>
              </a:rPr>
              <a:t>it works in reverse on the way down</a:t>
            </a:r>
            <a:r>
              <a:rPr lang="en-US" sz="1200" kern="1200" dirty="0">
                <a:solidFill>
                  <a:schemeClr val="tx1"/>
                </a:solidFill>
                <a:effectLst/>
                <a:latin typeface="+mn-lt"/>
                <a:ea typeface="+mn-ea"/>
                <a:cs typeface="+mn-cs"/>
              </a:rPr>
              <a:t>. </a:t>
            </a:r>
          </a:p>
          <a:p>
            <a:pPr lvl="0"/>
            <a:r>
              <a:rPr lang="en-US" sz="1200" b="1" kern="1200" dirty="0">
                <a:solidFill>
                  <a:schemeClr val="tx1"/>
                </a:solidFill>
                <a:effectLst/>
                <a:latin typeface="+mn-lt"/>
                <a:ea typeface="+mn-ea"/>
                <a:cs typeface="+mn-cs"/>
              </a:rPr>
              <a:t>Step-by-Step Cascade:</a:t>
            </a:r>
            <a:r>
              <a:rPr lang="en-US" sz="1200" kern="1200" dirty="0">
                <a:solidFill>
                  <a:schemeClr val="tx1"/>
                </a:solidFill>
                <a:effectLst/>
                <a:latin typeface="+mn-lt"/>
                <a:ea typeface="+mn-ea"/>
                <a:cs typeface="+mn-cs"/>
              </a:rPr>
              <a:t> 1. Credit markets notice deteriorating unit economics and raise interest rates into double digits. 2. VC funding dries up for AI startups. 3. Startups cancel or default on compute leases. 4. Hardware order books evaporate. </a:t>
            </a:r>
          </a:p>
          <a:p>
            <a:pPr lvl="0"/>
            <a:r>
              <a:rPr lang="en-US" sz="1200" b="1" kern="1200" dirty="0">
                <a:solidFill>
                  <a:schemeClr val="tx1"/>
                </a:solidFill>
                <a:effectLst/>
                <a:latin typeface="+mn-lt"/>
                <a:ea typeface="+mn-ea"/>
                <a:cs typeface="+mn-cs"/>
              </a:rPr>
              <a:t>Balance Sheet Impact:</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Hyperscalers</a:t>
            </a:r>
            <a:r>
              <a:rPr lang="en-US" sz="1200" kern="1200" dirty="0">
                <a:solidFill>
                  <a:schemeClr val="tx1"/>
                </a:solidFill>
                <a:effectLst/>
                <a:latin typeface="+mn-lt"/>
                <a:ea typeface="+mn-ea"/>
                <a:cs typeface="+mn-cs"/>
              </a:rPr>
              <a:t> are left holding hundreds of billions in capitalized, rapidly depreciating GPU hardware on their balance sheets while incoming lease revenue drops toward zero.</a:t>
            </a:r>
          </a:p>
          <a:p>
            <a:endParaRPr lang="en-US" dirty="0"/>
          </a:p>
        </p:txBody>
      </p:sp>
      <p:sp>
        <p:nvSpPr>
          <p:cNvPr id="4" name="Slide Number Placeholder 3"/>
          <p:cNvSpPr>
            <a:spLocks noGrp="1"/>
          </p:cNvSpPr>
          <p:nvPr>
            <p:ph type="sldNum" sz="quarter" idx="5"/>
          </p:nvPr>
        </p:nvSpPr>
        <p:spPr/>
        <p:txBody>
          <a:bodyPr/>
          <a:lstStyle/>
          <a:p>
            <a:fld id="{C39AA459-744B-4491-B51F-17FAAE2A8822}" type="slidenum">
              <a:rPr lang="en-US" smtClean="0"/>
              <a:t>14</a:t>
            </a:fld>
            <a:endParaRPr lang="en-US"/>
          </a:p>
        </p:txBody>
      </p:sp>
    </p:spTree>
    <p:extLst>
      <p:ext uri="{BB962C8B-B14F-4D97-AF65-F5344CB8AC3E}">
        <p14:creationId xmlns:p14="http://schemas.microsoft.com/office/powerpoint/2010/main" val="162225066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Regulatory Framework:</a:t>
            </a:r>
            <a:r>
              <a:rPr lang="en-US" sz="1200" kern="1200" dirty="0">
                <a:solidFill>
                  <a:schemeClr val="tx1"/>
                </a:solidFill>
                <a:effectLst/>
                <a:latin typeface="+mn-lt"/>
                <a:ea typeface="+mn-ea"/>
                <a:cs typeface="+mn-cs"/>
              </a:rPr>
              <a:t> How do we move forward safely? We need a structural governance framework similar to the FDA for pharmaceuticals. </a:t>
            </a:r>
          </a:p>
          <a:p>
            <a:pPr lvl="0"/>
            <a:r>
              <a:rPr lang="en-US" sz="1200" b="1" kern="1200" dirty="0">
                <a:solidFill>
                  <a:schemeClr val="tx1"/>
                </a:solidFill>
                <a:effectLst/>
                <a:latin typeface="+mn-lt"/>
                <a:ea typeface="+mn-ea"/>
                <a:cs typeface="+mn-cs"/>
              </a:rPr>
              <a:t>Core Pillars:</a:t>
            </a:r>
            <a:r>
              <a:rPr lang="en-US" sz="1200" kern="1200" dirty="0">
                <a:solidFill>
                  <a:schemeClr val="tx1"/>
                </a:solidFill>
                <a:effectLst/>
                <a:latin typeface="+mn-lt"/>
                <a:ea typeface="+mn-ea"/>
                <a:cs typeface="+mn-cs"/>
              </a:rPr>
              <a:t>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Pre-Market Verification:</a:t>
            </a:r>
            <a:r>
              <a:rPr lang="en-US" sz="1200" kern="1200" dirty="0">
                <a:solidFill>
                  <a:schemeClr val="tx1"/>
                </a:solidFill>
                <a:effectLst/>
                <a:latin typeface="+mn-lt"/>
                <a:ea typeface="+mn-ea"/>
                <a:cs typeface="+mn-cs"/>
              </a:rPr>
              <a:t> Mandatory mathematical and security proofs before deploying autonomous agentic models to the public.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Post-Market Auditing:</a:t>
            </a:r>
            <a:r>
              <a:rPr lang="en-US" sz="1200" kern="1200" dirty="0">
                <a:solidFill>
                  <a:schemeClr val="tx1"/>
                </a:solidFill>
                <a:effectLst/>
                <a:latin typeface="+mn-lt"/>
                <a:ea typeface="+mn-ea"/>
                <a:cs typeface="+mn-cs"/>
              </a:rPr>
              <a:t> Independent safety boards with authority to issue immediate product recalls when systems exhibit dangerous emergent behaviors. </a:t>
            </a:r>
          </a:p>
          <a:p>
            <a:pPr lvl="0"/>
            <a:r>
              <a:rPr lang="en-US" sz="1200" b="1" kern="1200" dirty="0">
                <a:solidFill>
                  <a:schemeClr val="tx1"/>
                </a:solidFill>
                <a:effectLst/>
                <a:latin typeface="+mn-lt"/>
                <a:ea typeface="+mn-ea"/>
                <a:cs typeface="+mn-cs"/>
              </a:rPr>
              <a:t>The Brussels Effect:</a:t>
            </a:r>
            <a:r>
              <a:rPr lang="en-US" sz="1200" kern="1200" dirty="0">
                <a:solidFill>
                  <a:schemeClr val="tx1"/>
                </a:solidFill>
                <a:effectLst/>
                <a:latin typeface="+mn-lt"/>
                <a:ea typeface="+mn-ea"/>
                <a:cs typeface="+mn-cs"/>
              </a:rPr>
              <a:t> Leveraging international standards coalitions (the Brussels Effect) to force compliance across global software platforms and remove regulatory uncertainty. </a:t>
            </a:r>
          </a:p>
          <a:p>
            <a:endParaRPr lang="en-US" dirty="0"/>
          </a:p>
        </p:txBody>
      </p:sp>
      <p:sp>
        <p:nvSpPr>
          <p:cNvPr id="4" name="Slide Number Placeholder 3"/>
          <p:cNvSpPr>
            <a:spLocks noGrp="1"/>
          </p:cNvSpPr>
          <p:nvPr>
            <p:ph type="sldNum" sz="quarter" idx="5"/>
          </p:nvPr>
        </p:nvSpPr>
        <p:spPr/>
        <p:txBody>
          <a:bodyPr/>
          <a:lstStyle/>
          <a:p>
            <a:fld id="{C39AA459-744B-4491-B51F-17FAAE2A8822}" type="slidenum">
              <a:rPr lang="en-US" smtClean="0"/>
              <a:t>15</a:t>
            </a:fld>
            <a:endParaRPr lang="en-US"/>
          </a:p>
        </p:txBody>
      </p:sp>
    </p:spTree>
    <p:extLst>
      <p:ext uri="{BB962C8B-B14F-4D97-AF65-F5344CB8AC3E}">
        <p14:creationId xmlns:p14="http://schemas.microsoft.com/office/powerpoint/2010/main" val="155005818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Comprehensive Synthesis:</a:t>
            </a:r>
            <a:r>
              <a:rPr lang="en-US" sz="1200" kern="1200" dirty="0">
                <a:solidFill>
                  <a:schemeClr val="tx1"/>
                </a:solidFill>
                <a:effectLst/>
                <a:latin typeface="+mn-lt"/>
                <a:ea typeface="+mn-ea"/>
                <a:cs typeface="+mn-cs"/>
              </a:rPr>
              <a:t> To conclude Slide 16 synthesizes our analysis into two core pillars: </a:t>
            </a:r>
          </a:p>
          <a:p>
            <a:pPr marL="628650" lvl="1" indent="-171450">
              <a:buFont typeface="Arial" panose="020B0604020202020204" pitchFamily="34" charset="0"/>
              <a:buChar char="•"/>
            </a:pPr>
            <a:r>
              <a:rPr lang="en-US" sz="1200" b="1" kern="1200" dirty="0">
                <a:solidFill>
                  <a:schemeClr val="tx1"/>
                </a:solidFill>
                <a:effectLst/>
                <a:latin typeface="+mn-lt"/>
                <a:ea typeface="+mn-ea"/>
                <a:cs typeface="+mn-cs"/>
              </a:rPr>
              <a:t>Technological Limitations:</a:t>
            </a:r>
            <a:r>
              <a:rPr lang="en-US" sz="1200" kern="1200" dirty="0">
                <a:solidFill>
                  <a:schemeClr val="tx1"/>
                </a:solidFill>
                <a:effectLst/>
                <a:latin typeface="+mn-lt"/>
                <a:ea typeface="+mn-ea"/>
                <a:cs typeface="+mn-cs"/>
              </a:rPr>
              <a:t> Lack of moats, model commoditization, diminishing data scaling returns, and unreliable agent architectures. </a:t>
            </a:r>
          </a:p>
          <a:p>
            <a:pPr marL="628650" lvl="1" indent="-171450">
              <a:buFont typeface="Arial" panose="020B0604020202020204" pitchFamily="34" charset="0"/>
              <a:buChar char="•"/>
            </a:pPr>
            <a:r>
              <a:rPr lang="en-US" sz="1200" b="1" kern="1200" dirty="0">
                <a:solidFill>
                  <a:schemeClr val="tx1"/>
                </a:solidFill>
                <a:effectLst/>
                <a:latin typeface="+mn-lt"/>
                <a:ea typeface="+mn-ea"/>
                <a:cs typeface="+mn-cs"/>
              </a:rPr>
              <a:t>Capital Market Risks:</a:t>
            </a:r>
            <a:r>
              <a:rPr lang="en-US" sz="1200" kern="1200" dirty="0">
                <a:solidFill>
                  <a:schemeClr val="tx1"/>
                </a:solidFill>
                <a:effectLst/>
                <a:latin typeface="+mn-lt"/>
                <a:ea typeface="+mn-ea"/>
                <a:cs typeface="+mn-cs"/>
              </a:rPr>
              <a:t> Equipment-leasing economics, single-digit pre-tax returns, hidden convertible debt, and telecom-style infrastructure overbuilds. </a:t>
            </a:r>
          </a:p>
          <a:p>
            <a:pPr lvl="0"/>
            <a:r>
              <a:rPr lang="en-US" sz="1200" b="1" kern="1200" dirty="0">
                <a:solidFill>
                  <a:schemeClr val="tx1"/>
                </a:solidFill>
                <a:effectLst/>
                <a:latin typeface="+mn-lt"/>
                <a:ea typeface="+mn-ea"/>
                <a:cs typeface="+mn-cs"/>
              </a:rPr>
              <a:t>Strategic Conclusion:</a:t>
            </a:r>
            <a:r>
              <a:rPr lang="en-US" sz="1200" kern="1200" dirty="0">
                <a:solidFill>
                  <a:schemeClr val="tx1"/>
                </a:solidFill>
                <a:effectLst/>
                <a:latin typeface="+mn-lt"/>
                <a:ea typeface="+mn-ea"/>
                <a:cs typeface="+mn-cs"/>
              </a:rPr>
              <a:t> Investors and enterprise leaders must look past narrative hype and stress-test their operations for a high-interest, capital-constrained market. Thank you, and I am happy to open the floor to questions. </a:t>
            </a:r>
          </a:p>
          <a:p>
            <a:endParaRPr lang="en-US" dirty="0"/>
          </a:p>
          <a:p>
            <a:endParaRPr lang="en-US" dirty="0"/>
          </a:p>
          <a:p>
            <a:endParaRPr lang="en-US" dirty="0"/>
          </a:p>
          <a:p>
            <a:endParaRPr lang="en-US" dirty="0"/>
          </a:p>
          <a:p>
            <a:endParaRPr lang="en-US" dirty="0"/>
          </a:p>
          <a:p>
            <a:r>
              <a:rPr lang="en-US" b="1" dirty="0"/>
              <a:t>Jim Chanos &amp; Gary Marcus: Circular AI Financing, The Agentic Economy &amp; Doomsday</a:t>
            </a:r>
          </a:p>
          <a:p>
            <a:r>
              <a:rPr lang="en-US" dirty="0"/>
              <a:t>https://www.youtube.com/watch?v=g9KdLg9sTX4</a:t>
            </a:r>
          </a:p>
          <a:p>
            <a:endParaRPr lang="en-US" dirty="0"/>
          </a:p>
        </p:txBody>
      </p:sp>
      <p:sp>
        <p:nvSpPr>
          <p:cNvPr id="4" name="Slide Number Placeholder 3"/>
          <p:cNvSpPr>
            <a:spLocks noGrp="1"/>
          </p:cNvSpPr>
          <p:nvPr>
            <p:ph type="sldNum" sz="quarter" idx="5"/>
          </p:nvPr>
        </p:nvSpPr>
        <p:spPr/>
        <p:txBody>
          <a:bodyPr/>
          <a:lstStyle/>
          <a:p>
            <a:fld id="{C39AA459-744B-4491-B51F-17FAAE2A8822}" type="slidenum">
              <a:rPr lang="en-US" smtClean="0"/>
              <a:t>16</a:t>
            </a:fld>
            <a:endParaRPr lang="en-US"/>
          </a:p>
        </p:txBody>
      </p:sp>
    </p:spTree>
    <p:extLst>
      <p:ext uri="{BB962C8B-B14F-4D97-AF65-F5344CB8AC3E}">
        <p14:creationId xmlns:p14="http://schemas.microsoft.com/office/powerpoint/2010/main" val="352663929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C558249-C024-EEDC-4740-A6051838913C}"/>
              </a:ext>
            </a:extLst>
          </p:cNvPr>
          <p:cNvSpPr>
            <a:spLocks noGrp="1"/>
          </p:cNvSpPr>
          <p:nvPr>
            <p:ph type="dt" sz="half" idx="10"/>
          </p:nvPr>
        </p:nvSpPr>
        <p:spPr/>
        <p:txBody>
          <a:bodyPr/>
          <a:lstStyle/>
          <a:p>
            <a:fld id="{B17FEFDC-CDAB-43AF-8BBD-E4F62F9EC877}" type="datetimeFigureOut">
              <a:rPr lang="en-US" smtClean="0"/>
              <a:t>10/21/2026</a:t>
            </a:fld>
            <a:endParaRPr lang="en-US"/>
          </a:p>
        </p:txBody>
      </p:sp>
      <p:sp>
        <p:nvSpPr>
          <p:cNvPr id="3" name="Footer Placeholder 2">
            <a:extLst>
              <a:ext uri="{FF2B5EF4-FFF2-40B4-BE49-F238E27FC236}">
                <a16:creationId xmlns:a16="http://schemas.microsoft.com/office/drawing/2014/main" id="{8B74355B-C279-6D0E-23B0-9335C3633A2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5B68FD12-2CED-2C5B-8A35-D9E79B3F8461}"/>
              </a:ext>
            </a:extLst>
          </p:cNvPr>
          <p:cNvSpPr>
            <a:spLocks noGrp="1"/>
          </p:cNvSpPr>
          <p:nvPr>
            <p:ph type="sldNum" sz="quarter" idx="12"/>
          </p:nvPr>
        </p:nvSpPr>
        <p:spPr/>
        <p:txBody>
          <a:bodyPr/>
          <a:lstStyle/>
          <a:p>
            <a:fld id="{C75138A5-94C6-4F89-A610-0482B86EB472}" type="slidenum">
              <a:rPr lang="en-US" smtClean="0"/>
              <a:t>‹#›</a:t>
            </a:fld>
            <a:endParaRPr lang="en-US"/>
          </a:p>
        </p:txBody>
      </p:sp>
    </p:spTree>
    <p:extLst>
      <p:ext uri="{BB962C8B-B14F-4D97-AF65-F5344CB8AC3E}">
        <p14:creationId xmlns:p14="http://schemas.microsoft.com/office/powerpoint/2010/main" val="1059387393"/>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323CB37-F15E-7A0D-ACA3-41CB2909053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B46B386-1D7E-A978-D0B5-ACAC048949A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F369B76-9CBA-AA86-1DA4-0CE5CF8DACF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17FEFDC-CDAB-43AF-8BBD-E4F62F9EC877}" type="datetimeFigureOut">
              <a:rPr lang="en-US" smtClean="0"/>
              <a:t>10/21/2026</a:t>
            </a:fld>
            <a:endParaRPr lang="en-US"/>
          </a:p>
        </p:txBody>
      </p:sp>
      <p:sp>
        <p:nvSpPr>
          <p:cNvPr id="5" name="Footer Placeholder 4">
            <a:extLst>
              <a:ext uri="{FF2B5EF4-FFF2-40B4-BE49-F238E27FC236}">
                <a16:creationId xmlns:a16="http://schemas.microsoft.com/office/drawing/2014/main" id="{182193B1-A8DB-EDE1-3459-87EF5CBA0FC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54B88C90-A5BF-24E6-C877-F66B805226F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75138A5-94C6-4F89-A610-0482B86EB472}" type="slidenum">
              <a:rPr lang="en-US" smtClean="0"/>
              <a:t>‹#›</a:t>
            </a:fld>
            <a:endParaRPr lang="en-US"/>
          </a:p>
        </p:txBody>
      </p:sp>
    </p:spTree>
    <p:extLst>
      <p:ext uri="{BB962C8B-B14F-4D97-AF65-F5344CB8AC3E}">
        <p14:creationId xmlns:p14="http://schemas.microsoft.com/office/powerpoint/2010/main" val="129721248"/>
      </p:ext>
    </p:extLst>
  </p:cSld>
  <p:clrMap bg1="lt1" tx1="dk1" bg2="lt2" tx2="dk2" accent1="accent1" accent2="accent2" accent3="accent3" accent4="accent4" accent5="accent5" accent6="accent6" hlink="hlink" folHlink="folHlink"/>
  <p:sldLayoutIdLst>
    <p:sldLayoutId id="214748365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C0B807C-5CB3-7B53-5647-E34C77904E54}"/>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78661A1-0DEF-E931-0367-78F1AF73928C}"/>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FC12255-36E8-D6F7-C4B1-4CBB024FB2FC}"/>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09FDDAE-24D5-B0E5-F8FA-9818BE46E855}"/>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13E8097-A8F6-B2E3-21A1-C0B01C23C1DE}"/>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91BF418-2442-5B04-D23C-6EAD7C178A0E}"/>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5577B7F-29D3-CAD1-AA6C-D7E88D90E9C1}"/>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3471412-E530-09DD-B504-45097FD8E76E}"/>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FC69647-B50C-6818-BEB5-D188FE1717D0}"/>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3530E49-59A7-2578-4C5C-793E15E8ED61}"/>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C7456A8-1A7F-BE71-ECD3-7F935C2F4E85}"/>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B23C375-F172-9D62-AF49-52D5C7F8762C}"/>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82B93EF-497E-2161-068A-14465359BB11}"/>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29D5A0E-7C79-64B3-A295-73FA78584F77}"/>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4F92ED1-678D-4D49-A7B1-702355B9ED6B}"/>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0D7789E-FEA8-8ACE-CEE4-D2767B3A2424}"/>
              </a:ext>
            </a:extLst>
          </p:cNvPr>
          <p:cNvPicPr>
            <a:picLocks noChangeAspect="1"/>
          </p:cNvPicPr>
          <p:nvPr/>
        </p:nvPicPr>
        <p:blipFill>
          <a:blip r:embed="rId3"/>
          <a:stretch>
            <a:fillRect/>
          </a:stretch>
        </p:blipFill>
        <p:spPr>
          <a:xfrm>
            <a:off x="0" y="28575"/>
            <a:ext cx="12192000" cy="6800850"/>
          </a:xfrm>
          <a:prstGeom prst="rect">
            <a:avLst/>
          </a:prstGeom>
        </p:spPr>
      </p:pic>
    </p:spTree>
    <p:extLst>
      <p:ext uri="{BB962C8B-B14F-4D97-AF65-F5344CB8AC3E}">
        <p14:creationId xmlns:p14="http://schemas.microsoft.com/office/powerpoint/2010/main" val="280986676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13</TotalTime>
  <Words>2204</Words>
  <Application>Microsoft Office PowerPoint</Application>
  <PresentationFormat>寬螢幕</PresentationFormat>
  <Paragraphs>82</Paragraphs>
  <Slides>16</Slides>
  <Notes>16</Notes>
  <HiddenSlides>0</HiddenSlides>
  <MMClips>0</MMClips>
  <ScaleCrop>false</ScaleCrop>
  <HeadingPairs>
    <vt:vector size="6" baseType="variant">
      <vt:variant>
        <vt:lpstr>使用字型</vt:lpstr>
      </vt:variant>
      <vt:variant>
        <vt:i4>3</vt:i4>
      </vt:variant>
      <vt:variant>
        <vt:lpstr>佈景主題</vt:lpstr>
      </vt:variant>
      <vt:variant>
        <vt:i4>1</vt:i4>
      </vt:variant>
      <vt:variant>
        <vt:lpstr>投影片標題</vt:lpstr>
      </vt:variant>
      <vt:variant>
        <vt:i4>16</vt:i4>
      </vt:variant>
    </vt:vector>
  </HeadingPairs>
  <TitlesOfParts>
    <vt:vector size="20" baseType="lpstr">
      <vt:lpstr>Aptos</vt:lpstr>
      <vt:lpstr>Aptos Display</vt:lpstr>
      <vt:lpstr>Arial</vt:lpstr>
      <vt:lpstr>Office Theme</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Lai, Wilson</dc:creator>
  <cp:lastModifiedBy>Wilson Lai</cp:lastModifiedBy>
  <cp:revision>2</cp:revision>
  <dcterms:created xsi:type="dcterms:W3CDTF">2026-09-26T22:42:18Z</dcterms:created>
  <dcterms:modified xsi:type="dcterms:W3CDTF">2026-10-21T02:50:18Z</dcterms:modified>
</cp:coreProperties>
</file>