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DE153-2335-4BDE-963E-684D20E0A1E8}" v="19" dt="2026-09-06T20:32:1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583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modMainMaster">
      <pc:chgData name="Lai, Wilson" userId="2840974a-0d84-4886-90a9-9a3ed79f3a48" providerId="ADAL" clId="{9F23B798-9E84-4552-BA63-E776E805C424}" dt="2026-09-06T22:18:59.930" v="70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9-06T22:18:59.930" v="70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06T20:32:10.513" v="40" actId="164"/>
          <ac:spMkLst>
            <pc:docMk/>
            <pc:sldMk cId="0" sldId="257"/>
            <ac:spMk id="5" creationId="{85E93B2B-EAC4-4585-E1B9-FCD1019C52DC}"/>
          </ac:spMkLst>
        </pc:spChg>
        <pc:grpChg chg="add mod">
          <ac:chgData name="Lai, Wilson" userId="2840974a-0d84-4886-90a9-9a3ed79f3a48" providerId="ADAL" clId="{9F23B798-9E84-4552-BA63-E776E805C424}" dt="2026-09-06T20:32:10.513" v="40" actId="164"/>
          <ac:grpSpMkLst>
            <pc:docMk/>
            <pc:sldMk cId="0" sldId="257"/>
            <ac:grpSpMk id="6" creationId="{A42C0E8C-488E-76D6-08A3-75719775A35A}"/>
          </ac:grpSpMkLst>
        </pc:grpChg>
        <pc:picChg chg="del mod ord">
          <ac:chgData name="Lai, Wilson" userId="2840974a-0d84-4886-90a9-9a3ed79f3a48" providerId="ADAL" clId="{9F23B798-9E84-4552-BA63-E776E805C424}" dt="2026-09-06T22:16:29.570" v="43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06T20:32:10.513" v="40" actId="164"/>
          <ac:picMkLst>
            <pc:docMk/>
            <pc:sldMk cId="0" sldId="257"/>
            <ac:picMk id="3" creationId="{0A3E36C6-88C0-FE1A-AE87-D388F1F08DBD}"/>
          </ac:picMkLst>
        </pc:picChg>
        <pc:picChg chg="add ord">
          <ac:chgData name="Lai, Wilson" userId="2840974a-0d84-4886-90a9-9a3ed79f3a48" providerId="ADAL" clId="{9F23B798-9E84-4552-BA63-E776E805C424}" dt="2026-09-06T22:18:59.930" v="70" actId="166"/>
          <ac:picMkLst>
            <pc:docMk/>
            <pc:sldMk cId="0" sldId="257"/>
            <ac:picMk id="7" creationId="{E3639246-F4F3-5D3A-E23A-6488CE0ED18C}"/>
          </ac:picMkLst>
        </pc:picChg>
      </pc:sldChg>
      <pc:sldChg chg="addSp delSp modSp mod modNotes">
        <pc:chgData name="Lai, Wilson" userId="2840974a-0d84-4886-90a9-9a3ed79f3a48" providerId="ADAL" clId="{9F23B798-9E84-4552-BA63-E776E805C424}" dt="2026-09-06T22:16:53.445" v="46" actId="22"/>
        <pc:sldMkLst>
          <pc:docMk/>
          <pc:sldMk cId="0" sldId="258"/>
        </pc:sldMkLst>
        <pc:spChg chg="add del">
          <ac:chgData name="Lai, Wilson" userId="2840974a-0d84-4886-90a9-9a3ed79f3a48" providerId="ADAL" clId="{9F23B798-9E84-4552-BA63-E776E805C424}" dt="2026-09-06T20:27:14.102" v="6" actId="22"/>
          <ac:spMkLst>
            <pc:docMk/>
            <pc:sldMk cId="0" sldId="258"/>
            <ac:spMk id="4" creationId="{872D3006-2874-E8D0-8DEF-CBF973E7FC71}"/>
          </ac:spMkLst>
        </pc:spChg>
        <pc:picChg chg="del">
          <ac:chgData name="Lai, Wilson" userId="2840974a-0d84-4886-90a9-9a3ed79f3a48" providerId="ADAL" clId="{9F23B798-9E84-4552-BA63-E776E805C424}" dt="2026-09-06T22:16:44.513" v="45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6:53.445" v="46" actId="22"/>
          <ac:picMkLst>
            <pc:docMk/>
            <pc:sldMk cId="0" sldId="258"/>
            <ac:picMk id="4" creationId="{4140BC59-168C-8B6D-A992-3AF6F3713DF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7:02.258" v="48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06T22:16:54.708" v="47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02.258" v="48" actId="22"/>
          <ac:picMkLst>
            <pc:docMk/>
            <pc:sldMk cId="0" sldId="259"/>
            <ac:picMk id="4" creationId="{E49ECA04-C898-047B-E600-0C12C429767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7:11.328" v="50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06T22:17:03.668" v="49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11.328" v="50" actId="22"/>
          <ac:picMkLst>
            <pc:docMk/>
            <pc:sldMk cId="0" sldId="260"/>
            <ac:picMk id="4" creationId="{8CA4B0D4-83B2-F105-1B85-9CDB1B985ED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22:17:24.056" v="52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06T22:17:16.336" v="51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24.056" v="52" actId="22"/>
          <ac:picMkLst>
            <pc:docMk/>
            <pc:sldMk cId="0" sldId="261"/>
            <ac:picMk id="4" creationId="{A9C14412-6EAA-2EFB-4DA7-EFD6A0CDD59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7:33.782" v="54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06T22:17:25.643" v="53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33.782" v="54" actId="22"/>
          <ac:picMkLst>
            <pc:docMk/>
            <pc:sldMk cId="0" sldId="262"/>
            <ac:picMk id="4" creationId="{69654C7C-F617-39B7-EADF-4912544F378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22:17:43.421" v="56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06T22:17:35.377" v="55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43.421" v="56" actId="22"/>
          <ac:picMkLst>
            <pc:docMk/>
            <pc:sldMk cId="0" sldId="263"/>
            <ac:picMk id="4" creationId="{CD157FDF-321D-7533-ED8E-519751F63168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06T22:17:53.792" v="58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06T22:17:45.146" v="57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7:53.792" v="58" actId="22"/>
          <ac:picMkLst>
            <pc:docMk/>
            <pc:sldMk cId="0" sldId="264"/>
            <ac:picMk id="4" creationId="{7CD9CA14-6490-8783-FDDA-ADB7B7F78CD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8:04.344" v="60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06T22:17:55.664" v="59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8:04.344" v="60" actId="22"/>
          <ac:picMkLst>
            <pc:docMk/>
            <pc:sldMk cId="0" sldId="265"/>
            <ac:picMk id="4" creationId="{29665D64-C2DF-2C39-B9C4-C2EE95BFE6B1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22:18:14.494" v="62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06T22:18:06.549" v="61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8:14.494" v="62" actId="22"/>
          <ac:picMkLst>
            <pc:docMk/>
            <pc:sldMk cId="0" sldId="266"/>
            <ac:picMk id="4" creationId="{BF484BD6-9C74-7BBE-3ED9-8FEB51EEE51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8:24.397" v="64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06T22:18:16.134" v="63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8:24.397" v="64" actId="22"/>
          <ac:picMkLst>
            <pc:docMk/>
            <pc:sldMk cId="0" sldId="267"/>
            <ac:picMk id="4" creationId="{03D11F3E-5607-6A5C-4C3F-5CACADACBAC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9-06T22:18:35.390" v="66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06T22:18:25.789" v="65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8:35.390" v="66" actId="22"/>
          <ac:picMkLst>
            <pc:docMk/>
            <pc:sldMk cId="0" sldId="268"/>
            <ac:picMk id="4" creationId="{8E18315D-A901-6BC6-C0A2-2E968C724831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06T22:18:47.951" v="68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06T22:18:36.858" v="67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06T22:18:47.951" v="68" actId="22"/>
          <ac:picMkLst>
            <pc:docMk/>
            <pc:sldMk cId="0" sldId="269"/>
            <ac:picMk id="4" creationId="{41050328-4107-8871-B3DA-77CB9A4C18AC}"/>
          </ac:picMkLst>
        </pc:picChg>
      </pc:sldChg>
      <pc:sldChg chg="modNotesTx">
        <pc:chgData name="Lai, Wilson" userId="2840974a-0d84-4886-90a9-9a3ed79f3a48" providerId="ADAL" clId="{9F23B798-9E84-4552-BA63-E776E805C424}" dt="2026-09-06T20:30:01.158" v="26" actId="14"/>
        <pc:sldMkLst>
          <pc:docMk/>
          <pc:sldMk cId="456252760" sldId="270"/>
        </pc:sldMkLst>
      </pc:sldChg>
      <pc:sldMasterChg chg="setBg">
        <pc:chgData name="Lai, Wilson" userId="2840974a-0d84-4886-90a9-9a3ed79f3a48" providerId="ADAL" clId="{9F23B798-9E84-4552-BA63-E776E805C424}" dt="2026-09-06T20:22:34.266" v="0"/>
        <pc:sldMasterMkLst>
          <pc:docMk/>
          <pc:sldMasterMk cId="305252188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2D5FF-4696-4E87-83F7-8E3D31480AC0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63949-9F69-4E0E-B069-4CFE19826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1068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1125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xQkR78msHRU&amp;t=1019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2621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xQkR78msHRU&amp;t=639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490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586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youtube.com/watch?v=xQkR78msHRU&amp;t=613" TargetMode="External"/><Relationship Id="rId4" Type="http://schemas.openxmlformats.org/officeDocument/2006/relationships/hyperlink" Target="https://www.youtube.com/watch?v=xQkR78msHRU&amp;t=2694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814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xQkR78msHRU&amp;t=354" TargetMode="External"/><Relationship Id="rId5" Type="http://schemas.openxmlformats.org/officeDocument/2006/relationships/hyperlink" Target="https://www.youtube.com/watch?v=xQkR78msHRU&amp;t=854" TargetMode="External"/><Relationship Id="rId4" Type="http://schemas.openxmlformats.org/officeDocument/2006/relationships/hyperlink" Target="https://www.youtube.com/watch?v=xQkR78msHRU&amp;t=823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942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xQkR78msHRU&amp;t=964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1594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youtube.com/watch?v=xQkR78msHRU&amp;t=2309" TargetMode="External"/><Relationship Id="rId4" Type="http://schemas.openxmlformats.org/officeDocument/2006/relationships/hyperlink" Target="https://www.youtube.com/watch?v=xQkR78msHRU&amp;t=964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180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xQkR78msHRU&amp;t=288" TargetMode="External"/><Relationship Id="rId5" Type="http://schemas.openxmlformats.org/officeDocument/2006/relationships/hyperlink" Target="https://www.youtube.com/watch?v=xQkR78msHRU&amp;t=262" TargetMode="External"/><Relationship Id="rId4" Type="http://schemas.openxmlformats.org/officeDocument/2006/relationships/hyperlink" Target="https://www.youtube.com/watch?v=xQkR78msHRU&amp;t=186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2403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xQkR78msHRU&amp;t=2451" TargetMode="External"/><Relationship Id="rId5" Type="http://schemas.openxmlformats.org/officeDocument/2006/relationships/hyperlink" Target="https://www.youtube.com/watch?v=xQkR78msHRU&amp;t=2491" TargetMode="External"/><Relationship Id="rId4" Type="http://schemas.openxmlformats.org/officeDocument/2006/relationships/hyperlink" Target="https://www.youtube.com/watch?v=xQkR78msHRU&amp;t=2481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656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354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xQkR78msHRU&amp;t=3071" TargetMode="External"/><Relationship Id="rId5" Type="http://schemas.openxmlformats.org/officeDocument/2006/relationships/hyperlink" Target="https://www.youtube.com/watch?v=xQkR78msHRU&amp;t=1594" TargetMode="External"/><Relationship Id="rId4" Type="http://schemas.openxmlformats.org/officeDocument/2006/relationships/hyperlink" Target="https://www.youtube.com/watch?v=xQkR78msHRU&amp;t=360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kR78msHRU&amp;t=1125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 &amp; Hook: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Welcome, everyone. Today, we are discussing a fundamental shift in how go-to-market (GTM) organizations operate. For the last two decades, software companies scaled sales by dividing up roles into extreme micro-specializations: SDRs, AEs, AMs, and CSMs. Today, we are declaring that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hyper-specialized sales team model is officially broken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giving rise 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Agent-Empowered Full-Cycle Seller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&amp; Background: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insights are synthesized from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Science of Scaling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podcast featuring host Mark Roberge and guest Christopher O'Donnell, founder of Day AI and former Chief Product Officer at HubSpot. Having witnessed the previous generation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MarTech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sales automation, they have spent the last several years re-architecting how revenue organizations will operate in the post-AI era.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isn't about giving your sales reps a prompt to generate faster cold emails. It’s about leveraging AI agents and a unified customer memory layer to strip away administrative bloat, eliminate broken pipeline handoffs, and empower a single seller to manage the entire customer life cycle end-to-end.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https://www.youtube.com/watch?v=xQkR78msHRU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Problem / Current State: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this distribution graph. Right now, most companies are trapped in what we call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Productivity Illusion.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Executive leadership goes into boardrooms boasting about how AI-native their teams are simply because reps use ChatGPT or LLMs to autocomplete emails.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Bimodal Reality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17:48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Autocomplete Trapped Majority (-15% Efficiency):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Research shows that reps who manually use LLMs to write emails or perform simple prompt-response tasks are actually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 less productive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Why? Because context-switching, prompt tweaking, and copy-pasting take more time than writing the email manually.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Agentic Workflow Cohort (2x–10x Output):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right side of the curve, true AI-native organizations hand entire functional processes over to autonomous digital workers. They aren't typing prompts; they are orchestrating workflows.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Speaker Script / Anecdote: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AI strategy consists of reps asking ChatGPT to summarize a doc or write a follow-up email, you aren't AI-native—you're just playing with toys. True productivity gains only occur when we shift from point-solution prompts to agentic systems that run in the background.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4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 Legacy vs. AI-Native Metrics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18:45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evaluate whether an organization is genuinely AI-native, we look at four key metrics comparing Legacy GTM (2023) against AI-Native GTM (2026):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Selling Time (25% → 75%):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Historically, sellers spent only 25% of their week actually talking to buyers or closing deals. AI agents assume administrative, CRM entry, and meeting preparation work, tripling active selling time.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Rep-to-Manager Ratio (7:1 → 14:1):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Sales managers spend an immense amount of time listening to calls and conducting pipeline reviews. AI coaches evaluate 100% of calls and deliver hyper-personalized coaching based on seller receptivity, allowing manager spans to double.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Quota Attainment ($250k → $500k/quarter):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Reps transition from barely hitting baseline targets to producing double the revenue output through automated research and pipeline execution.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Output Parallel (2.5 → 5–20 Pull Requests/week)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16:59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average engineer historically pushes 2.5 pull requests per week. AI-native engineering teams achieve 2x to 8x output. Sales organizations must demand the exact same step-function increase.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1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Evolutionary Timeline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43:41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1995 (The Generalist Era):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salesperson managed prospecting, pitching, closing, and account maintenance.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2010s (Predictable Revenue Era):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Driven by Aaron Ross's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Predictable Revenue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framework, sales split into extreme hyper-specialization: SDRs for outreach, AEs for closing, AMs for upsells, and CSMs for onboarding.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2026+ (The Agentic Era):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pendulum swings back. Roles collapse back into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AI-Empowered Full-Cycle Seller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with Specialization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10:39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Hyper-specialization was necessary because human cognitive limits prevented one person from mastering every step of the funnel. However, it introduced severe costs: local maximum optimization, broken handoffs between reps, and a fragmented customer experience.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32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Concept &amp; Shift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08:10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buyers have to endure six different handoffs when evaluating software? Not because they want to, but because our organizational models demanded it. Specialization was a human patch for cognitive limits. AI eliminates that bandwidth ceiling.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Anatomy of the Super-Generalist: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four separate people handling a account,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Super-Generalist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manages the entire buyer relationship. Surrounding this generalist is a team of specialized AI agents: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Prospecting Agent: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Continuously discovers ideal customer patterns and drafts warm outreach.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 Agent: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Automates scheduling, follow-ups, and CRM updates.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Review Agent: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Analyzes deal health and alerts the seller to missing buying signals.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Renewal Tracking Agent: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Tracks customer usage trends and identifies expansion opportunities.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customer experiences a seamless, single-point-of-contact relationship from discovery to expansion.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5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Parallel Between Sales and Engineering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09:46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role collapse is not isolated to sales; it is a universal law taking place across R&amp;D as well.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R&amp;D Transformation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44:54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R&amp;D, roles expanded into Product Managers, Designers, Front-End, Back-End, Data Scientists, and QA. Today, the cost of translating a clear spec into functional code is asymptotically approaching zero. Product Managers now ship production-ready code via agentic coding tools like Claude Code without opening a traditional code editor.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GTM Transformation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10:13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Sales, the cost of personalized outreach, preliminary research, and data retrieval is asymptotically approaching zero. As a result, SDR, AE, and CSM roles are collapsing into the Full-Cycle Seller.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50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Prompts to Digital Employees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13:34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 thinking about AI as prompt engineering. In the Agentic Era,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 not write prompts—you hire digital employees.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Components of an AI Agent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13:43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deploy an effective AI agent (whether a User Researcher, Data Analyst, or Copywriter), you must define three core artifacts: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Description: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clear scope of responsibilities and goals.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Skills &amp; Workflows: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Executable commands, slash triggers, and data permissions.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Soul / Perspective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14:14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documented worldview, brand tone, identity, and set of operating opinions that dictate how the agent makes decisions.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Advice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05:54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your current role, split off 1 to 5 task areas you dislike doing, write clear job descriptions for them, and hand them to autonomous AI agents.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10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CRM Limit (The Goldfish Memory)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15:42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 CRMs are structured relational databases (tables, rows, and columns) designed for manual human data entry. Because human data entry is sparse and inconsistent, CRMs act like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goldfish with a 5-second memory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Today's AI SDR tools fail not because the models lack intelligence, but because they lack unstructured historical context.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AI-Native Solution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16:04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agents cannot operate on rigid CRM fields alone. They require the actual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unstructured customer truth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—capturing every raw Slack message, email thread, meeting transcript, and document instantly.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2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Architecture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26:34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power autonomous agent actions, companies must replace or augment traditional CRMs with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Memory Layer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built on Vector Databases and Property Graphs.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Functions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16:04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Ingests ambient data streams from Slack, Gong, Zoom, and Email in real-time.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&amp; 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Captures every spoken and written word, identifying who said it, the emotional context, and why it matters.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Retrieval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38:29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AI agents with instantaneous, full-context retrieval before executing actions (e.g., generating tailored pipeline outreach or preparing meeting briefing docs).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60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Human Pillars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03:00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AI handles prospecting, admin, data synthesis, and routine communication, what is the role of the human seller?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Taste &amp; Design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03:06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Meticulous attention to detail, brand voice, deciding the strategic why, and ensuring absolute quality across customer touchpoints.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Creativity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04:22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Generating truly novel ideas. As Mark Roberge noted: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 Ed Sheeran or Taylor Swift in a room against AI, and they will still write best-selling hits.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Trust &amp; Human-in-the-Loop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04:48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a buyer makes a million-dollar decision, they require human accountability. Just as patients want a human surgeon in the room alongside an AI diagnostic tool, high-stakes enterprise software buyers need a trusted human seller to look them in the eye and guarantee delivery.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09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Incumbent Trap vs. The Startup Exploit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40:03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Incumbent Trap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41:21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 giants with 1,000-person sales organizations are trapped trying to retrofit AI into highly specialized functional silos (SDR teams, AE teams, CSM teams). Restructuring requires costly retraining or mass layoffs.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Startup Exploit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41:31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Startups have a massive structural advantage. They can hire directly into the AI-native, full-cycle model on Day 1.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40:51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just AI your software product—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your organizational structure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Org design is the most underutilized lever to out-pace established incumbents.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46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End-State Operating Model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10:56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12 brings all the concepts together into a clean, modern organizational blueprint: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Full-Cycle Generalist focused purely on High-Taste, Trust-building, and Discovery.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Agent Workforce executing automated workflows (prospecting, account reviews, renewal tracking).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Bottom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Fluid Customer Memory Layer capturing real-time unstructured data streams.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Principles: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Super-Generalists &gt; Hyper-Specialized Silos.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Fluid Memory Layer &gt; Rigid Relational CRM.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10x increase in work product quality and speed.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25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Three-Step Actionable Roadmap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05:54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01: Splinter Your Role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06:00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every team member write 1 to 5 job descriptions for the administrative or repetitive tasks they want to offload, and assign those roles directly to AI agents.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02: Build Memory, Not Databases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26:34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buying generic AI point-solution wrappers. Invest in an infrastructure that streams raw ambient communication (Gong, Slack, email) into a unified Customer Memory Layer.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03: Stop Hiring Specialists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51:11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Freeze traditional SDR and CSM hires immediately. Your next hire should be an AI-curious generalist—an Agent Engineer—who can leverage autonomous workflows and comfortably span the full sales lifecycle.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32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Summary &amp; Wrap-Up: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wrap up, AI is collapsing specialized sales silos into a single, high-productivity role: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Full-Cycle Athlete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Metrics Table [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18:45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Selling Time: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Increases from 25%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work week.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Span: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Increases from 7:1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14:1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2X to 5X total work product output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person.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Closing Statement: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combining high-taste human relationship building with autonomous AI agents and a deep Customer Memory Layer, sales teams can stop drowning in admin work and return to what matters most: human connection, customer trust, and closing deals.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63949-9F69-4E0E-B069-4CFE19826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8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E1C3BE-2914-444E-57A0-1A71DDA4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63A5-C609-4C50-ADCC-B4998FE7E712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BA0AC-25E9-6E62-9A44-8EAD14F6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5706D-8BEA-F929-FD13-9FB89691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ECF78-A495-4599-8626-2C498D16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8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CF7D4-D1CB-F677-ADF2-BD13B6CF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FF543-F21B-DA3B-CAF0-7B742DA4C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6BFAD-3D9A-381E-BB7E-192A3E3AE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463A5-C609-4C50-ADCC-B4998FE7E712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477BD-9A1F-0CCA-31E6-D10609BFC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EDA7-A58B-8D64-F01A-247F60F57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ECF78-A495-4599-8626-2C498D16C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639246-F4F3-5D3A-E23A-6488CE0ED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0BC59-168C-8B6D-A992-3AF6F3713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9ECA04-C898-047B-E600-0C12C4297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A4B0D4-83B2-F105-1B85-9CDB1B98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C14412-6EAA-2EFB-4DA7-EFD6A0CDD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654C7C-F617-39B7-EADF-4912544F3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157FDF-321D-7533-ED8E-519751F63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9CA14-6490-8783-FDDA-ADB7B7F7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665D64-C2DF-2C39-B9C4-C2EE95BF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484BD6-9C74-7BBE-3ED9-8FEB51EEE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11F3E-5607-6A5C-4C3F-5CACADAC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18315D-A901-6BC6-C0A2-2E968C724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050328-4107-8871-B3DA-77CB9A4C1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A0372-0507-2EA4-4D2E-CE360E18D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5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2023</Words>
  <Application>Microsoft Office PowerPoint</Application>
  <PresentationFormat>寬螢幕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2026-09-06T20:20:56Z</dcterms:created>
  <dcterms:modified xsi:type="dcterms:W3CDTF">2026-10-19T14:23:46Z</dcterms:modified>
</cp:coreProperties>
</file>