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EE0DC0-FA18-4475-89ED-3B8BA05E9CCC}" v="15" dt="2026-09-06T10:35:20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4" autoAdjust="0"/>
    <p:restoredTop sz="91453" autoAdjust="0"/>
  </p:normalViewPr>
  <p:slideViewPr>
    <p:cSldViewPr snapToGrid="0">
      <p:cViewPr varScale="1">
        <p:scale>
          <a:sx n="73" d="100"/>
          <a:sy n="73" d="100"/>
        </p:scale>
        <p:origin x="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 modMainMaster">
      <pc:chgData name="Lai, Wilson" userId="2840974a-0d84-4886-90a9-9a3ed79f3a48" providerId="ADAL" clId="{9F23B798-9E84-4552-BA63-E776E805C424}" dt="2026-09-06T14:48:50.580" v="110" actId="22"/>
      <pc:docMkLst>
        <pc:docMk/>
      </pc:docMkLst>
      <pc:sldChg chg="addSp delSp modSp mod modNotes modNotesTx">
        <pc:chgData name="Lai, Wilson" userId="2840974a-0d84-4886-90a9-9a3ed79f3a48" providerId="ADAL" clId="{9F23B798-9E84-4552-BA63-E776E805C424}" dt="2026-09-06T14:46:05.191" v="88" actId="22"/>
        <pc:sldMkLst>
          <pc:docMk/>
          <pc:sldMk cId="0" sldId="257"/>
        </pc:sldMkLst>
        <pc:picChg chg="del ord">
          <ac:chgData name="Lai, Wilson" userId="2840974a-0d84-4886-90a9-9a3ed79f3a48" providerId="ADAL" clId="{9F23B798-9E84-4552-BA63-E776E805C424}" dt="2026-09-06T14:45:46.680" v="87" actId="21"/>
          <ac:picMkLst>
            <pc:docMk/>
            <pc:sldMk cId="0" sldId="25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14:46:05.191" v="88" actId="22"/>
          <ac:picMkLst>
            <pc:docMk/>
            <pc:sldMk cId="0" sldId="257"/>
            <ac:picMk id="6" creationId="{DC2A312E-A6E4-C88B-A5E2-6F95526AD5A9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14:46:17.049" v="90" actId="2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06T14:46:07.899" v="89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14:46:17.049" v="90" actId="22"/>
          <ac:picMkLst>
            <pc:docMk/>
            <pc:sldMk cId="0" sldId="258"/>
            <ac:picMk id="4" creationId="{01E18F5D-D3C9-8098-E7BB-267F65F5EAE2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14:46:33.703" v="92" actId="2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06T14:46:23.367" v="91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14:46:33.703" v="92" actId="22"/>
          <ac:picMkLst>
            <pc:docMk/>
            <pc:sldMk cId="0" sldId="259"/>
            <ac:picMk id="4" creationId="{BA1BB150-3E16-E5A4-063B-C39253E23223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14:46:44.900" v="94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06T14:46:35.536" v="93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14:46:44.900" v="94" actId="22"/>
          <ac:picMkLst>
            <pc:docMk/>
            <pc:sldMk cId="0" sldId="260"/>
            <ac:picMk id="4" creationId="{28550919-1998-F2C6-6561-213556061C7E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14:46:57.198" v="96" actId="2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06T14:46:48.584" v="95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14:46:57.198" v="96" actId="22"/>
          <ac:picMkLst>
            <pc:docMk/>
            <pc:sldMk cId="0" sldId="261"/>
            <ac:picMk id="4" creationId="{4767FA30-AFA1-3775-02D8-B56A6E37DF10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14:47:11.237" v="98" actId="2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06T14:46:59.169" v="97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14:47:11.237" v="98" actId="22"/>
          <ac:picMkLst>
            <pc:docMk/>
            <pc:sldMk cId="0" sldId="262"/>
            <ac:picMk id="4" creationId="{9457DF72-73A4-9D05-F0D2-FD8FA013A1BF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14:47:28.508" v="100" actId="2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06T14:47:19.612" v="99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14:47:28.508" v="100" actId="22"/>
          <ac:picMkLst>
            <pc:docMk/>
            <pc:sldMk cId="0" sldId="263"/>
            <ac:picMk id="4" creationId="{137944EB-8331-5BCB-A0F3-0E6443B1F666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14:47:47.642" v="102" actId="2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06T14:47:30.638" v="101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14:47:47.642" v="102" actId="22"/>
          <ac:picMkLst>
            <pc:docMk/>
            <pc:sldMk cId="0" sldId="264"/>
            <ac:picMk id="4" creationId="{2743D939-F8D4-F67E-5008-598410C78FD0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14:47:58.886" v="104" actId="2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06T14:47:49.878" v="103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14:47:58.886" v="104" actId="22"/>
          <ac:picMkLst>
            <pc:docMk/>
            <pc:sldMk cId="0" sldId="265"/>
            <ac:picMk id="4" creationId="{F8D766D2-B90F-C692-3D92-8C634C7B1843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14:48:10.359" v="106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06T14:48:01.348" v="105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14:48:10.359" v="106" actId="22"/>
          <ac:picMkLst>
            <pc:docMk/>
            <pc:sldMk cId="0" sldId="266"/>
            <ac:picMk id="4" creationId="{2021B81E-8E71-6F01-C46F-E43170CFBE8F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14:48:34.537" v="108" actId="2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06T14:48:13.282" v="107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14:48:34.537" v="108" actId="22"/>
          <ac:picMkLst>
            <pc:docMk/>
            <pc:sldMk cId="0" sldId="267"/>
            <ac:picMk id="4" creationId="{1E1011BD-A36E-0E9B-6037-D39E53EE8957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14:48:50.580" v="110" actId="22"/>
        <pc:sldMkLst>
          <pc:docMk/>
          <pc:sldMk cId="1009338987" sldId="268"/>
        </pc:sldMkLst>
        <pc:picChg chg="del">
          <ac:chgData name="Lai, Wilson" userId="2840974a-0d84-4886-90a9-9a3ed79f3a48" providerId="ADAL" clId="{9F23B798-9E84-4552-BA63-E776E805C424}" dt="2026-09-06T14:48:38.136" v="109" actId="21"/>
          <ac:picMkLst>
            <pc:docMk/>
            <pc:sldMk cId="1009338987" sldId="268"/>
            <ac:picMk id="3" creationId="{653AF18F-E06D-1F91-FC5D-3EB6DD83BAA7}"/>
          </ac:picMkLst>
        </pc:picChg>
        <pc:picChg chg="add">
          <ac:chgData name="Lai, Wilson" userId="2840974a-0d84-4886-90a9-9a3ed79f3a48" providerId="ADAL" clId="{9F23B798-9E84-4552-BA63-E776E805C424}" dt="2026-09-06T14:48:50.580" v="110" actId="22"/>
          <ac:picMkLst>
            <pc:docMk/>
            <pc:sldMk cId="1009338987" sldId="268"/>
            <ac:picMk id="4" creationId="{32F235F2-38F2-02C1-698C-E0C34625DF97}"/>
          </ac:picMkLst>
        </pc:picChg>
      </pc:sldChg>
      <pc:sldMasterChg chg="setBg">
        <pc:chgData name="Lai, Wilson" userId="2840974a-0d84-4886-90a9-9a3ed79f3a48" providerId="ADAL" clId="{9F23B798-9E84-4552-BA63-E776E805C424}" dt="2026-09-06T09:13:39.713" v="0"/>
        <pc:sldMasterMkLst>
          <pc:docMk/>
          <pc:sldMasterMk cId="563183254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90961-0651-4D3C-8E15-82F65ED7FA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66180-430D-4A26-BEAE-16C76402D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51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&amp; Introduction: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Welcome, everyone. Today we are walking through the strategic lessons from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ClickHouse’s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rapid expansion to over $500M in Annual Recurring Revenue (ARR) and examining the broader structural shift occurring across the software ecosystem.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synthesis combines operational playbooks from Aaron Katz (CEO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former Salesforce and Elastic executive, with primary insights shared during his 20VC Masterclass session.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Contextualizing the Shift: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currently living through an infrastructure paradigm shift. Previous waves—such as Cloud, Mobile, and SaaS—unfolded gradually over decade-long cycles. What we are seeing today in the agentic software era is accelerating at an unprecedented pace.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Presentation Objectives: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 the next 12 slides, we’ll analyze how infrastructure requirements change when software transitions from serving human operators to supporting autonomous AI agents.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We’ll cover architectural shifts, autonomous procurement, GTM strategy, distributed global hiring, risk management, and the long-term outlook on public vs. private capital.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https://www.youtube.com/watch?v=Wna2Ds4dt50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00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Revenue Progression: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examine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ClickHouse's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growth trajectory. The business scaled from $0 to $12M, then $50M, $200M, and is currently tracking past $350M+ ARR. We project finishing the year north of $500M ARR.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Aaron Katz highlighted, 'We haven't seen revenue growth like this in our lifetime'—especially within enterprise infrastructure, where database evaluation and enterprise sales cycles historically took years.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Targeting $1B ARR: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the consensus target for reaching $1 Billion ARR was set for December 2027, internal momentum indicates taking the 'under' on that timeframe.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Efficiency &amp; Retention Metrics: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critical operational metrics underline this expansion: </a:t>
            </a:r>
          </a:p>
          <a:p>
            <a:pPr marL="685800" lvl="1" indent="-228600" algn="l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&gt;200% Net Dollar Retention (NDR):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Traditional enterprise software standards sit around 120%–130%. Achieving &gt;200% NDR proves that once customers deploy 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their usage expands dramatically across additional workloads (analytics, observability, vector search). </a:t>
            </a:r>
          </a:p>
          <a:p>
            <a:pPr marL="685800" lvl="1" indent="-228600" algn="l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&gt;99% Gross Retention: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Customer churn is practically non-existent, illustrating the immense switching costs inherent to core data infrastructure.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Base: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serves over 4,000 production customers with an average enterprise spend hovering around $100k, ranging from growth-stage startups to multi-million-dollar deployments.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23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Human-Centric Paradigm: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why database architecture must change, we must compare human interaction models with agentic interaction models.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Historically, enterprise systems (CRMs, Observability platforms, Data Warehouses) were built for human personas—a financial analyst, a DevOps engineer, or a sales manager.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 query patterns are structured and predictable. A user opens a dashboard once an hour or runs a batch report at end-of-month. Humans tolerate mild latency (2–5 seconds) without breaking the application experience.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Agent-Centric Paradigm: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agents do not possess defined personas or predictable schedules. They execute simultaneously, firing off dozens of complex SQL queries across isolated databases in parallel.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agent's workflow is exploratory. It retrieves data, reasons over it, queries another database, and validates results—all in real-time.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Low-Latency Moat: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an agentic chain, the user experience is strictly bounded by the slowest link. If an agent makes 20 sub-queries to complete a single task, a 500ms delay per query degrades the system to an unusable state.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hyper-low latency and high-concurrency ingestion (e.g., Tesla ingesting 1B events/sec into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become the ultimate defensible moat.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31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3-Step Procurement Progression: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 (Present):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operates as a copilot or advisor. Engineers ask models like Claude or ChatGPT for stack recommendations. In fact, when Anthropic evaluated database options, Claude directly recommended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 (Near Future):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agents transition from suggesting tools to building full functional applications end-to-end based on high-level prompts.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 (3–5 Year Horizon):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Fully autonomous agents select, provision, configure, and manage underlying infrastructure stacks without human intervention.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Technological Requirements for Full Autonomy: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agents to act as buyers and system integrators, three critical foundational elements must mature: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Identity: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Unique, cryptographically secure non-human authentication protocols.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Budgets: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Automated financial authorization limits (e.g., dedicated token and API corporate cards).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 &amp; Controls: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Enterprise guardrails that monitor agent consumption to prevent infinite recursive loop billing and unauthorized data access.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43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Demystifying Enterprise AI Preferences: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widespread misconception that enterprises prefer open-weight models over closed systems due to data privacy fears. Operationally, the opposite is true.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Comparing the Stack: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Source Infrastructure (e.g.,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Highly verifiable, deployable on-premise or within VPCs, backed by standard software licenses, offering absolute trust for mission-critical production systems.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Frontier Models (e.g., Anthropic, OpenAI):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Closed ecosystems accessed via APIs. Crucially, they offer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enforceable legal indemnification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strict Zero Data Retention (ZDR) agreements. Enterprise legal teams demand these legal protections before deploying AI on proprietary data.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Open-Weight Models (Foreign &amp; Domestic):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While flexible, they generally lack robust corporate indemnification and raise output inference safety and backdoor concerns. Consequently, enterprise usage is often restricted to non-production tasks like internal code reviews.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Takeaway: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Legal indemnification and enterprise-grade compliance remain the primary criteria for enterprise model adoption.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14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Layer — Product-Led Growth (PLG):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Modeled after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DataDog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playbook. Developers can test, deploy, and scale self-serve instances without speaking to a salesperson. This creates frictionless, bottom-up developer adoption.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Multiplier Layer — Hyper-Efficient Enterprise Sales: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Combining PLG with top-down sales. Rather than hiring armies of 2,000+ reps like legacy data warehouse vendors,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operates with approximately 100 quota-carrying sellers.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rep manages high productivity across ~10 distinct use cases, utilizing PLG signals to target expand-ready accounts.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Halo Layer — Bold Brand Awareness: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Inspired by Marc Benioff’s Salesforce playbook: create brand awareness that punches above your current size.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 include hosting The Chainsmokers at AWS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re:Invent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securing front-of-shirt sponsorship with Premier League team Fulham FC.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Conversion Mechanism: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Brand investments are directly tied to revenue. For example, the Fulham sponsorship provides Michelin-grade matchday hospitality at Craven Cottage for 20 C-level enterprise buyers per match, converting top-of-funnel brand halo straight into qualified enterprise pipeline.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39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Footprint: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operates with employees distributed across 27 countries, expanding toward 16–20 global offices within the next 18 months.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Rationale: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Bypassing Compensation Wars: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Avoids hyper-inflated Silicon Valley AI talent wars by sourcing specialized distributed systems engineers globally.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International Revenue Alignment: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50%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ClickHouse’s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revenue is generated outside North America (40% in EMEA, 10% in APAC).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Coverage: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Managing data across 36 cloud regions globally requires native language capabilities and localized support teams in matching time zones.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 Moat: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distributed strategy yields single-digit employee attrition rates, keeping key talent aligned over long-term product roadmaps.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9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Paradox of Market Dominance: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serves as the core data engine for leading AI-native companies—including OpenAI, Anthropic, Harvey, Sierra, Decagon, and Weights &amp; Biases.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Sector Exposure Cap: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Despite powering almost the entire top tier of AI startups, the AI sector as a whole accounts for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 than 12% of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ClickHouse’s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total ARR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88% of revenue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comes from traditional enterprise sectors (Financial Services, Telecom, Retail, Logistics, Cyber Security).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 Management Principle: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early-stage markets, individual AI application providers face churn risk and rapid vendor displacement.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enforcing a strict ceiling on sector concentration (&lt;10–12%), infrastructure platforms insulate themselves against market corrections. If AI consolidation occurs, overall volume shifts to surviving winners without threatening core business stability.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33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Market Realities: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software markets currently exhibit high volatility. A minor quarterly earnings miss can result in a 30%–40% drop in market value, creating unnecessary friction for long-term execution and damaging team morale.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Market Advantages: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Remaining private lets management focus on building durable systems designed for multi-decade horizons.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status preserves team culture from short-term market noise.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equity currency can still execute large-scale M&amp;A (e.g., Stripe acquiring Bridge/PayPal assets).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Solving Liquidity: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Historically, companies went public to provide liquidity for early employees and investors. Structured secondary tenders now allow private companies to offer regular liquidity without public market overhead.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over $1B in balance sheet cash, an IPO becomes an optional milestone rather than a financial necessity.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46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Law 1: Latency is the Ultimate Moat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workflows depend on the slowest step in a multi-query chain. Sub-second, high-concurrency performance is mandatory.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Law 2: Durability Trumps Margin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 initial gross margins are acceptable if offset by high switching costs, near-zero churn (&gt;99% gross retention), and multi-use-case expansion (&gt;200% NDR).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Law 3: Cap 10% Sector Exposure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Diversify customer segments early so no single industry sector accounts for more than 10–12% of total revenue.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Law 4: Compound GTM Motions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 frictionless, developer-led PLG adoption with an efficient enterprise sales layer to scale efficiently past $500M ARR.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Law 5: Optimize for Decades, Not IPOs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Leverage private capital balance sheets to protect culture, execute M&amp;A, and build durable, multi-generational market platforms.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80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Quote: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'You can overestimate what you can achieve in one year, and underestimate what you can achieve in five.' — Marc Benioff.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evaluating the software landscape today, short-term AI noise often obscures multi-year transformations.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ClickHouse’s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trajectory shows that combining open-source community, low-latency performance, disciplined GTM efficiency, and clear risk management lays the foundation for long-term data infrastructure leadership.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49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Executive Summary Overview: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synthesizes the core metrics and takeaways from our discussion: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 Review: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Growth &amp; Retention: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Scaling rapidly toward $500M+ ARR while maintaining &gt;200% NDR.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 vs. Application Moats: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switching costs in core infrastructure provide revenue durability that application-layer tools rarely achieve.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Native Standard: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Serving as the underlying analytics engine for OpenAI, Anthropic, and leading enterprise platforms worldwide.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Q&amp;A Transition: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you. We will now open the floor for questions and discussion.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6180-430D-4A26-BEAE-16C76402DB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9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70769-FCDE-9094-D65F-1CA4CB307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8F3C-E9F4-4D19-8C56-564DDEFEAEA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7204FF-846B-1827-81F0-C935419F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FAB89-E4A4-E334-0586-22441D32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C3D01-46F2-4630-9756-57E9E4E56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0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2E3C3F-84CF-C020-0798-A534F9D22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CE249-EACC-B240-31F1-26EF9B02C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EE30C-EEDA-AFF0-9C67-499E33BEA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58F3C-E9F4-4D19-8C56-564DDEFEAEA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ECA11-4821-ACDE-1BAA-334416A66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FF8F5-745C-C851-1805-0AC6BADC3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C3D01-46F2-4630-9756-57E9E4E56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8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2A312E-A6E4-C88B-A5E2-6F95526AD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E18F5D-D3C9-8098-E7BB-267F65F5E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1BB150-3E16-E5A4-063B-C39253E23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550919-1998-F2C6-6561-213556061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67FA30-AFA1-3775-02D8-B56A6E37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57DF72-73A4-9D05-F0D2-FD8FA013A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7944EB-8331-5BCB-A0F3-0E6443B1F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43D939-F8D4-F67E-5008-598410C78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D766D2-B90F-C692-3D92-8C634C7B1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21B81E-8E71-6F01-C46F-E43170CFB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1011BD-A36E-0E9B-6037-D39E53EE8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F235F2-38F2-02C1-698C-E0C34625D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38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1893</Words>
  <Application>Microsoft Office PowerPoint</Application>
  <PresentationFormat>寬螢幕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2026-09-06T09:08:07Z</dcterms:created>
  <dcterms:modified xsi:type="dcterms:W3CDTF">2026-10-20T13:26:37Z</dcterms:modified>
</cp:coreProperties>
</file>