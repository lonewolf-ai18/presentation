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7A6EAA-8944-45BE-BDEC-CB8FCD910330}" v="20" dt="2026-09-04T14:30:39.3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89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04T14:31:00.086" v="47" actId="166"/>
      <pc:docMkLst>
        <pc:docMk/>
      </pc:docMkLst>
      <pc:sldChg chg="addSp delSp modSp mod modNotes modNotesTx">
        <pc:chgData name="Lai, Wilson" userId="2840974a-0d84-4886-90a9-9a3ed79f3a48" providerId="ADAL" clId="{9F23B798-9E84-4552-BA63-E776E805C424}" dt="2026-09-04T14:31:00.086" v="47" actId="166"/>
        <pc:sldMkLst>
          <pc:docMk/>
          <pc:sldMk cId="0" sldId="257"/>
        </pc:sldMkLst>
        <pc:picChg chg="del">
          <ac:chgData name="Lai, Wilson" userId="2840974a-0d84-4886-90a9-9a3ed79f3a48" providerId="ADAL" clId="{9F23B798-9E84-4552-BA63-E776E805C424}" dt="2026-09-04T11:35:31.834" v="3" actId="478"/>
          <ac:picMkLst>
            <pc:docMk/>
            <pc:sldMk cId="0" sldId="257"/>
            <ac:picMk id="2" creationId="{00000000-0000-0000-0000-000000000000}"/>
          </ac:picMkLst>
        </pc:picChg>
        <pc:picChg chg="add del mod">
          <ac:chgData name="Lai, Wilson" userId="2840974a-0d84-4886-90a9-9a3ed79f3a48" providerId="ADAL" clId="{9F23B798-9E84-4552-BA63-E776E805C424}" dt="2026-09-04T11:35:31.130" v="2" actId="478"/>
          <ac:picMkLst>
            <pc:docMk/>
            <pc:sldMk cId="0" sldId="257"/>
            <ac:picMk id="7" creationId="{2B09B652-0C44-F552-2C12-2CCC276DC04B}"/>
          </ac:picMkLst>
        </pc:picChg>
        <pc:picChg chg="add ord">
          <ac:chgData name="Lai, Wilson" userId="2840974a-0d84-4886-90a9-9a3ed79f3a48" providerId="ADAL" clId="{9F23B798-9E84-4552-BA63-E776E805C424}" dt="2026-09-04T14:31:00.086" v="47" actId="166"/>
          <ac:picMkLst>
            <pc:docMk/>
            <pc:sldMk cId="0" sldId="257"/>
            <ac:picMk id="9" creationId="{7D02AC40-132B-FD92-4791-36DD8705661E}"/>
          </ac:picMkLst>
        </pc:picChg>
      </pc:sldChg>
      <pc:sldChg chg="addSp delSp mod modNotes">
        <pc:chgData name="Lai, Wilson" userId="2840974a-0d84-4886-90a9-9a3ed79f3a48" providerId="ADAL" clId="{9F23B798-9E84-4552-BA63-E776E805C424}" dt="2026-09-04T14:30:39.367" v="45"/>
        <pc:sldMkLst>
          <pc:docMk/>
          <pc:sldMk cId="0" sldId="258"/>
        </pc:sldMkLst>
        <pc:picChg chg="del">
          <ac:chgData name="Lai, Wilson" userId="2840974a-0d84-4886-90a9-9a3ed79f3a48" providerId="ADAL" clId="{9F23B798-9E84-4552-BA63-E776E805C424}" dt="2026-09-04T11:35:37.921" v="5" actId="21"/>
          <ac:picMkLst>
            <pc:docMk/>
            <pc:sldMk cId="0" sldId="258"/>
            <ac:picMk id="2" creationId="{00000000-0000-0000-0000-000000000000}"/>
          </ac:picMkLst>
        </pc:picChg>
        <pc:picChg chg="add">
          <ac:chgData name="Lai, Wilson" userId="2840974a-0d84-4886-90a9-9a3ed79f3a48" providerId="ADAL" clId="{9F23B798-9E84-4552-BA63-E776E805C424}" dt="2026-09-04T11:36:05.715" v="6" actId="22"/>
          <ac:picMkLst>
            <pc:docMk/>
            <pc:sldMk cId="0" sldId="258"/>
            <ac:picMk id="4" creationId="{91479A5B-5CAB-EAC8-44A0-ED767D381079}"/>
          </ac:picMkLst>
        </pc:picChg>
      </pc:sldChg>
      <pc:sldChg chg="addSp delSp mod modNotes">
        <pc:chgData name="Lai, Wilson" userId="2840974a-0d84-4886-90a9-9a3ed79f3a48" providerId="ADAL" clId="{9F23B798-9E84-4552-BA63-E776E805C424}" dt="2026-09-04T14:30:39.367" v="45"/>
        <pc:sldMkLst>
          <pc:docMk/>
          <pc:sldMk cId="0" sldId="259"/>
        </pc:sldMkLst>
        <pc:picChg chg="del">
          <ac:chgData name="Lai, Wilson" userId="2840974a-0d84-4886-90a9-9a3ed79f3a48" providerId="ADAL" clId="{9F23B798-9E84-4552-BA63-E776E805C424}" dt="2026-09-04T11:36:08.669" v="7" actId="21"/>
          <ac:picMkLst>
            <pc:docMk/>
            <pc:sldMk cId="0" sldId="259"/>
            <ac:picMk id="2" creationId="{00000000-0000-0000-0000-000000000000}"/>
          </ac:picMkLst>
        </pc:picChg>
        <pc:picChg chg="add">
          <ac:chgData name="Lai, Wilson" userId="2840974a-0d84-4886-90a9-9a3ed79f3a48" providerId="ADAL" clId="{9F23B798-9E84-4552-BA63-E776E805C424}" dt="2026-09-04T11:36:18.573" v="8" actId="22"/>
          <ac:picMkLst>
            <pc:docMk/>
            <pc:sldMk cId="0" sldId="259"/>
            <ac:picMk id="4" creationId="{B7640D99-2F31-B4E6-EE3C-10BCD2D5AF25}"/>
          </ac:picMkLst>
        </pc:picChg>
      </pc:sldChg>
      <pc:sldChg chg="addSp delSp mod modNotes modNotesTx">
        <pc:chgData name="Lai, Wilson" userId="2840974a-0d84-4886-90a9-9a3ed79f3a48" providerId="ADAL" clId="{9F23B798-9E84-4552-BA63-E776E805C424}" dt="2026-09-04T14:30:39.367" v="45"/>
        <pc:sldMkLst>
          <pc:docMk/>
          <pc:sldMk cId="0" sldId="260"/>
        </pc:sldMkLst>
        <pc:picChg chg="del">
          <ac:chgData name="Lai, Wilson" userId="2840974a-0d84-4886-90a9-9a3ed79f3a48" providerId="ADAL" clId="{9F23B798-9E84-4552-BA63-E776E805C424}" dt="2026-09-04T11:36:20.440" v="9" actId="21"/>
          <ac:picMkLst>
            <pc:docMk/>
            <pc:sldMk cId="0" sldId="260"/>
            <ac:picMk id="2" creationId="{00000000-0000-0000-0000-000000000000}"/>
          </ac:picMkLst>
        </pc:picChg>
        <pc:picChg chg="add">
          <ac:chgData name="Lai, Wilson" userId="2840974a-0d84-4886-90a9-9a3ed79f3a48" providerId="ADAL" clId="{9F23B798-9E84-4552-BA63-E776E805C424}" dt="2026-09-04T11:36:28.460" v="10" actId="22"/>
          <ac:picMkLst>
            <pc:docMk/>
            <pc:sldMk cId="0" sldId="260"/>
            <ac:picMk id="4" creationId="{14CBE47E-C5C9-9261-B1B0-B10DC3956B92}"/>
          </ac:picMkLst>
        </pc:picChg>
      </pc:sldChg>
      <pc:sldChg chg="addSp delSp mod modNotes">
        <pc:chgData name="Lai, Wilson" userId="2840974a-0d84-4886-90a9-9a3ed79f3a48" providerId="ADAL" clId="{9F23B798-9E84-4552-BA63-E776E805C424}" dt="2026-09-04T14:30:39.367" v="45"/>
        <pc:sldMkLst>
          <pc:docMk/>
          <pc:sldMk cId="0" sldId="261"/>
        </pc:sldMkLst>
        <pc:picChg chg="del">
          <ac:chgData name="Lai, Wilson" userId="2840974a-0d84-4886-90a9-9a3ed79f3a48" providerId="ADAL" clId="{9F23B798-9E84-4552-BA63-E776E805C424}" dt="2026-09-04T11:36:30.679" v="11" actId="21"/>
          <ac:picMkLst>
            <pc:docMk/>
            <pc:sldMk cId="0" sldId="261"/>
            <ac:picMk id="2" creationId="{00000000-0000-0000-0000-000000000000}"/>
          </ac:picMkLst>
        </pc:picChg>
        <pc:picChg chg="add">
          <ac:chgData name="Lai, Wilson" userId="2840974a-0d84-4886-90a9-9a3ed79f3a48" providerId="ADAL" clId="{9F23B798-9E84-4552-BA63-E776E805C424}" dt="2026-09-04T11:36:41.109" v="12" actId="22"/>
          <ac:picMkLst>
            <pc:docMk/>
            <pc:sldMk cId="0" sldId="261"/>
            <ac:picMk id="4" creationId="{B0F8F60D-174B-AC96-D0EA-B46FC9D85653}"/>
          </ac:picMkLst>
        </pc:picChg>
      </pc:sldChg>
      <pc:sldChg chg="addSp delSp mod modNotes">
        <pc:chgData name="Lai, Wilson" userId="2840974a-0d84-4886-90a9-9a3ed79f3a48" providerId="ADAL" clId="{9F23B798-9E84-4552-BA63-E776E805C424}" dt="2026-09-04T14:30:39.367" v="45"/>
        <pc:sldMkLst>
          <pc:docMk/>
          <pc:sldMk cId="0" sldId="262"/>
        </pc:sldMkLst>
        <pc:picChg chg="del">
          <ac:chgData name="Lai, Wilson" userId="2840974a-0d84-4886-90a9-9a3ed79f3a48" providerId="ADAL" clId="{9F23B798-9E84-4552-BA63-E776E805C424}" dt="2026-09-04T11:36:42.964" v="13" actId="21"/>
          <ac:picMkLst>
            <pc:docMk/>
            <pc:sldMk cId="0" sldId="262"/>
            <ac:picMk id="2" creationId="{00000000-0000-0000-0000-000000000000}"/>
          </ac:picMkLst>
        </pc:picChg>
        <pc:picChg chg="add">
          <ac:chgData name="Lai, Wilson" userId="2840974a-0d84-4886-90a9-9a3ed79f3a48" providerId="ADAL" clId="{9F23B798-9E84-4552-BA63-E776E805C424}" dt="2026-09-04T11:36:52.912" v="14" actId="22"/>
          <ac:picMkLst>
            <pc:docMk/>
            <pc:sldMk cId="0" sldId="262"/>
            <ac:picMk id="4" creationId="{81A6F9E8-3DD0-7C3C-9027-B5367ECBD1B0}"/>
          </ac:picMkLst>
        </pc:picChg>
      </pc:sldChg>
      <pc:sldChg chg="addSp delSp mod modNotes">
        <pc:chgData name="Lai, Wilson" userId="2840974a-0d84-4886-90a9-9a3ed79f3a48" providerId="ADAL" clId="{9F23B798-9E84-4552-BA63-E776E805C424}" dt="2026-09-04T14:30:39.367" v="45"/>
        <pc:sldMkLst>
          <pc:docMk/>
          <pc:sldMk cId="0" sldId="263"/>
        </pc:sldMkLst>
        <pc:picChg chg="del">
          <ac:chgData name="Lai, Wilson" userId="2840974a-0d84-4886-90a9-9a3ed79f3a48" providerId="ADAL" clId="{9F23B798-9E84-4552-BA63-E776E805C424}" dt="2026-09-04T11:36:54.655" v="15" actId="21"/>
          <ac:picMkLst>
            <pc:docMk/>
            <pc:sldMk cId="0" sldId="263"/>
            <ac:picMk id="2" creationId="{00000000-0000-0000-0000-000000000000}"/>
          </ac:picMkLst>
        </pc:picChg>
        <pc:picChg chg="add">
          <ac:chgData name="Lai, Wilson" userId="2840974a-0d84-4886-90a9-9a3ed79f3a48" providerId="ADAL" clId="{9F23B798-9E84-4552-BA63-E776E805C424}" dt="2026-09-04T11:37:01.740" v="16" actId="22"/>
          <ac:picMkLst>
            <pc:docMk/>
            <pc:sldMk cId="0" sldId="263"/>
            <ac:picMk id="4" creationId="{7AAE085B-F1BC-A02E-C2F9-6A981C125497}"/>
          </ac:picMkLst>
        </pc:picChg>
      </pc:sldChg>
      <pc:sldChg chg="addSp delSp mod modNotes">
        <pc:chgData name="Lai, Wilson" userId="2840974a-0d84-4886-90a9-9a3ed79f3a48" providerId="ADAL" clId="{9F23B798-9E84-4552-BA63-E776E805C424}" dt="2026-09-04T14:30:39.367" v="45"/>
        <pc:sldMkLst>
          <pc:docMk/>
          <pc:sldMk cId="0" sldId="264"/>
        </pc:sldMkLst>
        <pc:picChg chg="del">
          <ac:chgData name="Lai, Wilson" userId="2840974a-0d84-4886-90a9-9a3ed79f3a48" providerId="ADAL" clId="{9F23B798-9E84-4552-BA63-E776E805C424}" dt="2026-09-04T11:37:03.697" v="17" actId="21"/>
          <ac:picMkLst>
            <pc:docMk/>
            <pc:sldMk cId="0" sldId="264"/>
            <ac:picMk id="2" creationId="{00000000-0000-0000-0000-000000000000}"/>
          </ac:picMkLst>
        </pc:picChg>
        <pc:picChg chg="add">
          <ac:chgData name="Lai, Wilson" userId="2840974a-0d84-4886-90a9-9a3ed79f3a48" providerId="ADAL" clId="{9F23B798-9E84-4552-BA63-E776E805C424}" dt="2026-09-04T11:37:11.573" v="18" actId="22"/>
          <ac:picMkLst>
            <pc:docMk/>
            <pc:sldMk cId="0" sldId="264"/>
            <ac:picMk id="4" creationId="{CA26689D-76DA-B5FA-AD75-150FAAFADC90}"/>
          </ac:picMkLst>
        </pc:picChg>
      </pc:sldChg>
      <pc:sldChg chg="addSp delSp mod modNotes">
        <pc:chgData name="Lai, Wilson" userId="2840974a-0d84-4886-90a9-9a3ed79f3a48" providerId="ADAL" clId="{9F23B798-9E84-4552-BA63-E776E805C424}" dt="2026-09-04T14:30:39.367" v="45"/>
        <pc:sldMkLst>
          <pc:docMk/>
          <pc:sldMk cId="0" sldId="265"/>
        </pc:sldMkLst>
        <pc:picChg chg="del">
          <ac:chgData name="Lai, Wilson" userId="2840974a-0d84-4886-90a9-9a3ed79f3a48" providerId="ADAL" clId="{9F23B798-9E84-4552-BA63-E776E805C424}" dt="2026-09-04T11:37:13.832" v="19" actId="21"/>
          <ac:picMkLst>
            <pc:docMk/>
            <pc:sldMk cId="0" sldId="265"/>
            <ac:picMk id="2" creationId="{00000000-0000-0000-0000-000000000000}"/>
          </ac:picMkLst>
        </pc:picChg>
        <pc:picChg chg="add">
          <ac:chgData name="Lai, Wilson" userId="2840974a-0d84-4886-90a9-9a3ed79f3a48" providerId="ADAL" clId="{9F23B798-9E84-4552-BA63-E776E805C424}" dt="2026-09-04T11:37:23.789" v="20" actId="22"/>
          <ac:picMkLst>
            <pc:docMk/>
            <pc:sldMk cId="0" sldId="265"/>
            <ac:picMk id="4" creationId="{A2270CE2-0507-5BAC-1114-8D73A7C4670C}"/>
          </ac:picMkLst>
        </pc:picChg>
      </pc:sldChg>
      <pc:sldChg chg="addSp delSp mod modNotes">
        <pc:chgData name="Lai, Wilson" userId="2840974a-0d84-4886-90a9-9a3ed79f3a48" providerId="ADAL" clId="{9F23B798-9E84-4552-BA63-E776E805C424}" dt="2026-09-04T14:30:39.367" v="45"/>
        <pc:sldMkLst>
          <pc:docMk/>
          <pc:sldMk cId="0" sldId="266"/>
        </pc:sldMkLst>
        <pc:picChg chg="del">
          <ac:chgData name="Lai, Wilson" userId="2840974a-0d84-4886-90a9-9a3ed79f3a48" providerId="ADAL" clId="{9F23B798-9E84-4552-BA63-E776E805C424}" dt="2026-09-04T11:37:25.170" v="21" actId="21"/>
          <ac:picMkLst>
            <pc:docMk/>
            <pc:sldMk cId="0" sldId="266"/>
            <ac:picMk id="2" creationId="{00000000-0000-0000-0000-000000000000}"/>
          </ac:picMkLst>
        </pc:picChg>
        <pc:picChg chg="add">
          <ac:chgData name="Lai, Wilson" userId="2840974a-0d84-4886-90a9-9a3ed79f3a48" providerId="ADAL" clId="{9F23B798-9E84-4552-BA63-E776E805C424}" dt="2026-09-04T11:37:32.517" v="22" actId="22"/>
          <ac:picMkLst>
            <pc:docMk/>
            <pc:sldMk cId="0" sldId="266"/>
            <ac:picMk id="4" creationId="{68CD7EFA-BFC8-AF6C-E4E4-0BC57943BA57}"/>
          </ac:picMkLst>
        </pc:picChg>
      </pc:sldChg>
      <pc:sldChg chg="addSp delSp mod modNotes">
        <pc:chgData name="Lai, Wilson" userId="2840974a-0d84-4886-90a9-9a3ed79f3a48" providerId="ADAL" clId="{9F23B798-9E84-4552-BA63-E776E805C424}" dt="2026-09-04T14:30:39.367" v="45"/>
        <pc:sldMkLst>
          <pc:docMk/>
          <pc:sldMk cId="0" sldId="267"/>
        </pc:sldMkLst>
        <pc:picChg chg="del">
          <ac:chgData name="Lai, Wilson" userId="2840974a-0d84-4886-90a9-9a3ed79f3a48" providerId="ADAL" clId="{9F23B798-9E84-4552-BA63-E776E805C424}" dt="2026-09-04T11:37:33.885" v="23" actId="21"/>
          <ac:picMkLst>
            <pc:docMk/>
            <pc:sldMk cId="0" sldId="267"/>
            <ac:picMk id="2" creationId="{00000000-0000-0000-0000-000000000000}"/>
          </ac:picMkLst>
        </pc:picChg>
        <pc:picChg chg="add">
          <ac:chgData name="Lai, Wilson" userId="2840974a-0d84-4886-90a9-9a3ed79f3a48" providerId="ADAL" clId="{9F23B798-9E84-4552-BA63-E776E805C424}" dt="2026-09-04T11:37:43.481" v="24" actId="22"/>
          <ac:picMkLst>
            <pc:docMk/>
            <pc:sldMk cId="0" sldId="267"/>
            <ac:picMk id="4" creationId="{07F73243-A837-0EFE-D8AF-A5DC9D4476D3}"/>
          </ac:picMkLst>
        </pc:picChg>
      </pc:sldChg>
      <pc:sldChg chg="addSp delSp mod modNotes">
        <pc:chgData name="Lai, Wilson" userId="2840974a-0d84-4886-90a9-9a3ed79f3a48" providerId="ADAL" clId="{9F23B798-9E84-4552-BA63-E776E805C424}" dt="2026-09-04T14:30:39.367" v="45"/>
        <pc:sldMkLst>
          <pc:docMk/>
          <pc:sldMk cId="0" sldId="268"/>
        </pc:sldMkLst>
        <pc:picChg chg="del">
          <ac:chgData name="Lai, Wilson" userId="2840974a-0d84-4886-90a9-9a3ed79f3a48" providerId="ADAL" clId="{9F23B798-9E84-4552-BA63-E776E805C424}" dt="2026-09-04T11:37:45.577" v="25" actId="21"/>
          <ac:picMkLst>
            <pc:docMk/>
            <pc:sldMk cId="0" sldId="268"/>
            <ac:picMk id="2" creationId="{00000000-0000-0000-0000-000000000000}"/>
          </ac:picMkLst>
        </pc:picChg>
        <pc:picChg chg="add">
          <ac:chgData name="Lai, Wilson" userId="2840974a-0d84-4886-90a9-9a3ed79f3a48" providerId="ADAL" clId="{9F23B798-9E84-4552-BA63-E776E805C424}" dt="2026-09-04T11:37:57.920" v="26" actId="22"/>
          <ac:picMkLst>
            <pc:docMk/>
            <pc:sldMk cId="0" sldId="268"/>
            <ac:picMk id="4" creationId="{44EFF229-A7B7-D01B-231B-003103DE1C1D}"/>
          </ac:picMkLst>
        </pc:picChg>
      </pc:sldChg>
      <pc:sldChg chg="addSp delSp modSp mod modNotes">
        <pc:chgData name="Lai, Wilson" userId="2840974a-0d84-4886-90a9-9a3ed79f3a48" providerId="ADAL" clId="{9F23B798-9E84-4552-BA63-E776E805C424}" dt="2026-09-04T14:30:39.367" v="45"/>
        <pc:sldMkLst>
          <pc:docMk/>
          <pc:sldMk cId="0" sldId="269"/>
        </pc:sldMkLst>
        <pc:spChg chg="add del">
          <ac:chgData name="Lai, Wilson" userId="2840974a-0d84-4886-90a9-9a3ed79f3a48" providerId="ADAL" clId="{9F23B798-9E84-4552-BA63-E776E805C424}" dt="2026-09-04T14:30:07.326" v="43" actId="22"/>
          <ac:spMkLst>
            <pc:docMk/>
            <pc:sldMk cId="0" sldId="269"/>
            <ac:spMk id="3" creationId="{6C105B07-AEB6-BA3A-570F-049A5F541DF1}"/>
          </ac:spMkLst>
        </pc:spChg>
        <pc:picChg chg="del">
          <ac:chgData name="Lai, Wilson" userId="2840974a-0d84-4886-90a9-9a3ed79f3a48" providerId="ADAL" clId="{9F23B798-9E84-4552-BA63-E776E805C424}" dt="2026-09-04T11:37:59.602" v="27" actId="21"/>
          <ac:picMkLst>
            <pc:docMk/>
            <pc:sldMk cId="0" sldId="269"/>
            <ac:picMk id="2" creationId="{00000000-0000-0000-0000-000000000000}"/>
          </ac:picMkLst>
        </pc:picChg>
        <pc:picChg chg="add">
          <ac:chgData name="Lai, Wilson" userId="2840974a-0d84-4886-90a9-9a3ed79f3a48" providerId="ADAL" clId="{9F23B798-9E84-4552-BA63-E776E805C424}" dt="2026-09-04T11:38:07.192" v="28" actId="22"/>
          <ac:picMkLst>
            <pc:docMk/>
            <pc:sldMk cId="0" sldId="269"/>
            <ac:picMk id="4" creationId="{A0E3C1B0-BABA-39FB-EBC0-F7682D35E488}"/>
          </ac:picMkLst>
        </pc:picChg>
      </pc:sldChg>
      <pc:sldChg chg="addSp delSp mod modNotes">
        <pc:chgData name="Lai, Wilson" userId="2840974a-0d84-4886-90a9-9a3ed79f3a48" providerId="ADAL" clId="{9F23B798-9E84-4552-BA63-E776E805C424}" dt="2026-09-04T14:30:39.367" v="45"/>
        <pc:sldMkLst>
          <pc:docMk/>
          <pc:sldMk cId="0" sldId="270"/>
        </pc:sldMkLst>
        <pc:picChg chg="del">
          <ac:chgData name="Lai, Wilson" userId="2840974a-0d84-4886-90a9-9a3ed79f3a48" providerId="ADAL" clId="{9F23B798-9E84-4552-BA63-E776E805C424}" dt="2026-09-04T11:38:09.530" v="29" actId="21"/>
          <ac:picMkLst>
            <pc:docMk/>
            <pc:sldMk cId="0" sldId="270"/>
            <ac:picMk id="2" creationId="{00000000-0000-0000-0000-000000000000}"/>
          </ac:picMkLst>
        </pc:picChg>
        <pc:picChg chg="add del">
          <ac:chgData name="Lai, Wilson" userId="2840974a-0d84-4886-90a9-9a3ed79f3a48" providerId="ADAL" clId="{9F23B798-9E84-4552-BA63-E776E805C424}" dt="2026-09-04T11:38:14.293" v="31" actId="22"/>
          <ac:picMkLst>
            <pc:docMk/>
            <pc:sldMk cId="0" sldId="270"/>
            <ac:picMk id="4" creationId="{55F02455-1603-B53F-0E3C-9C65737C9BAF}"/>
          </ac:picMkLst>
        </pc:picChg>
        <pc:picChg chg="add">
          <ac:chgData name="Lai, Wilson" userId="2840974a-0d84-4886-90a9-9a3ed79f3a48" providerId="ADAL" clId="{9F23B798-9E84-4552-BA63-E776E805C424}" dt="2026-09-04T11:38:26.449" v="32" actId="22"/>
          <ac:picMkLst>
            <pc:docMk/>
            <pc:sldMk cId="0" sldId="270"/>
            <ac:picMk id="6" creationId="{7CCEA8E3-97AE-A069-DE30-7C006842B424}"/>
          </ac:picMkLst>
        </pc:picChg>
      </pc:sldChg>
      <pc:sldChg chg="addSp delSp mod modNotes modNotesTx">
        <pc:chgData name="Lai, Wilson" userId="2840974a-0d84-4886-90a9-9a3ed79f3a48" providerId="ADAL" clId="{9F23B798-9E84-4552-BA63-E776E805C424}" dt="2026-09-04T14:30:39.367" v="45"/>
        <pc:sldMkLst>
          <pc:docMk/>
          <pc:sldMk cId="0" sldId="271"/>
        </pc:sldMkLst>
        <pc:picChg chg="del">
          <ac:chgData name="Lai, Wilson" userId="2840974a-0d84-4886-90a9-9a3ed79f3a48" providerId="ADAL" clId="{9F23B798-9E84-4552-BA63-E776E805C424}" dt="2026-09-04T11:38:28.700" v="33" actId="21"/>
          <ac:picMkLst>
            <pc:docMk/>
            <pc:sldMk cId="0" sldId="271"/>
            <ac:picMk id="2" creationId="{00000000-0000-0000-0000-000000000000}"/>
          </ac:picMkLst>
        </pc:picChg>
        <pc:picChg chg="add">
          <ac:chgData name="Lai, Wilson" userId="2840974a-0d84-4886-90a9-9a3ed79f3a48" providerId="ADAL" clId="{9F23B798-9E84-4552-BA63-E776E805C424}" dt="2026-09-04T11:38:36.631" v="34" actId="22"/>
          <ac:picMkLst>
            <pc:docMk/>
            <pc:sldMk cId="0" sldId="271"/>
            <ac:picMk id="4" creationId="{7FBB237E-5058-ED25-448A-A0CE8E58C9B6}"/>
          </ac:picMkLst>
        </pc:picChg>
      </pc:sldChg>
      <pc:sldChg chg="modNotes">
        <pc:chgData name="Lai, Wilson" userId="2840974a-0d84-4886-90a9-9a3ed79f3a48" providerId="ADAL" clId="{9F23B798-9E84-4552-BA63-E776E805C424}" dt="2026-09-04T14:30:39.367" v="45"/>
        <pc:sldMkLst>
          <pc:docMk/>
          <pc:sldMk cId="728366783"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A32EE4-1B8D-4CCA-9937-D7815141FD98}"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F5EBCC-8BE8-4348-9D84-806195D98B07}" type="slidenum">
              <a:rPr lang="en-US" smtClean="0"/>
              <a:t>‹#›</a:t>
            </a:fld>
            <a:endParaRPr lang="en-US"/>
          </a:p>
        </p:txBody>
      </p:sp>
    </p:spTree>
    <p:extLst>
      <p:ext uri="{BB962C8B-B14F-4D97-AF65-F5344CB8AC3E}">
        <p14:creationId xmlns:p14="http://schemas.microsoft.com/office/powerpoint/2010/main" val="3098502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a:t>
            </a:r>
            <a:r>
              <a:rPr lang="en-US" dirty="0"/>
              <a:t> Welcome everyone. Today, we’re unpacking a core, fundamental shift in how e-commerce operators build, scale, and extract value from their businesses.</a:t>
            </a:r>
          </a:p>
          <a:p>
            <a:pPr lvl="0"/>
            <a:r>
              <a:rPr lang="en-US" b="1" dirty="0"/>
              <a:t>The Thesis:</a:t>
            </a:r>
            <a:r>
              <a:rPr lang="en-US" dirty="0"/>
              <a:t> Most e-commerce founders fall into a trap: they scale top-line revenue, reinvest every dollar back into inventory, and pray for a massive exit down the line. But what if you never have to sell your business to realize multi-million-dollar wealth?</a:t>
            </a:r>
          </a:p>
          <a:p>
            <a:pPr lvl="0"/>
            <a:r>
              <a:rPr lang="en-US" b="1" dirty="0"/>
              <a:t>Core Focus:</a:t>
            </a:r>
            <a:r>
              <a:rPr lang="en-US" dirty="0"/>
              <a:t> Over the course of this deck, we'll walk through a 4-pillar playbook designed to engineer your supply chain, unlock cash flow through payment terms, scale growth systematically, and run private-equity style monthly wealth extraction.</a:t>
            </a:r>
          </a:p>
          <a:p>
            <a:pPr lvl="0"/>
            <a:r>
              <a:rPr lang="en-US" b="1" dirty="0"/>
              <a:t>Key Takeaway:</a:t>
            </a:r>
            <a:r>
              <a:rPr lang="en-US" dirty="0"/>
              <a:t> By the end of this session, you’ll see how to transform your supply chain into a working capital engine—turning your business into a true cash cow that serves </a:t>
            </a:r>
            <a:r>
              <a:rPr lang="en-US" i="1" dirty="0"/>
              <a:t>you</a:t>
            </a:r>
            <a:r>
              <a:rPr lang="en-US" dirty="0"/>
              <a:t>, rather than you serving </a:t>
            </a:r>
            <a:r>
              <a:rPr lang="en-US" i="1" dirty="0"/>
              <a:t>it</a:t>
            </a:r>
            <a:r>
              <a:rPr lang="en-US" dirty="0"/>
              <a:t>.</a:t>
            </a:r>
          </a:p>
          <a:p>
            <a:endParaRPr lang="en-US" dirty="0"/>
          </a:p>
          <a:p>
            <a:endParaRPr lang="en-US" dirty="0"/>
          </a:p>
          <a:p>
            <a:r>
              <a:rPr lang="en-US" dirty="0"/>
              <a:t>https://www.youtube.com/watch?v=SCJ9XYOQ-ho</a:t>
            </a:r>
          </a:p>
        </p:txBody>
      </p:sp>
      <p:sp>
        <p:nvSpPr>
          <p:cNvPr id="4" name="Slide Number Placeholder 3"/>
          <p:cNvSpPr>
            <a:spLocks noGrp="1"/>
          </p:cNvSpPr>
          <p:nvPr>
            <p:ph type="sldNum" sz="quarter" idx="5"/>
          </p:nvPr>
        </p:nvSpPr>
        <p:spPr/>
        <p:txBody>
          <a:bodyPr/>
          <a:lstStyle/>
          <a:p>
            <a:fld id="{19F5EBCC-8BE8-4348-9D84-806195D98B07}" type="slidenum">
              <a:rPr lang="en-US" smtClean="0"/>
              <a:t>1</a:t>
            </a:fld>
            <a:endParaRPr lang="en-US"/>
          </a:p>
        </p:txBody>
      </p:sp>
    </p:spTree>
    <p:extLst>
      <p:ext uri="{BB962C8B-B14F-4D97-AF65-F5344CB8AC3E}">
        <p14:creationId xmlns:p14="http://schemas.microsoft.com/office/powerpoint/2010/main" val="7252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Founder's Trap:</a:t>
            </a:r>
            <a:r>
              <a:rPr lang="en-US" sz="1200" kern="1200" dirty="0">
                <a:solidFill>
                  <a:schemeClr val="tx1"/>
                </a:solidFill>
                <a:effectLst/>
                <a:latin typeface="+mn-lt"/>
                <a:ea typeface="+mn-ea"/>
                <a:cs typeface="+mn-cs"/>
              </a:rPr>
              <a:t> Let's look at the left column. Most founders operate under the mindset of </a:t>
            </a:r>
            <a:r>
              <a:rPr lang="en-US" sz="1200" i="1" kern="1200" dirty="0">
                <a:solidFill>
                  <a:schemeClr val="tx1"/>
                </a:solidFill>
                <a:effectLst/>
                <a:latin typeface="+mn-lt"/>
                <a:ea typeface="+mn-ea"/>
                <a:cs typeface="+mn-cs"/>
              </a:rPr>
              <a:t>'I work for the business.'</a:t>
            </a:r>
            <a:r>
              <a:rPr lang="en-US" sz="1200" kern="1200" dirty="0">
                <a:solidFill>
                  <a:schemeClr val="tx1"/>
                </a:solidFill>
                <a:effectLst/>
                <a:latin typeface="+mn-lt"/>
                <a:ea typeface="+mn-ea"/>
                <a:cs typeface="+mn-cs"/>
              </a:rPr>
              <a:t> They focus strictly on top-line revenue, paying upfront for inventory, creating negative cash float. The reality? Many multi-million dollar brands have founders sitting at a negative net worth on paper because their cash is trapped in unsold stock or tied up in personal guarantees. </a:t>
            </a:r>
          </a:p>
          <a:p>
            <a:pPr lvl="0"/>
            <a:r>
              <a:rPr lang="en-US" sz="1200" b="1" kern="1200" dirty="0">
                <a:solidFill>
                  <a:schemeClr val="tx1"/>
                </a:solidFill>
                <a:effectLst/>
                <a:latin typeface="+mn-lt"/>
                <a:ea typeface="+mn-ea"/>
                <a:cs typeface="+mn-cs"/>
              </a:rPr>
              <a:t>The Cash Engine Mindset:</a:t>
            </a:r>
            <a:r>
              <a:rPr lang="en-US" sz="1200" kern="1200" dirty="0">
                <a:solidFill>
                  <a:schemeClr val="tx1"/>
                </a:solidFill>
                <a:effectLst/>
                <a:latin typeface="+mn-lt"/>
                <a:ea typeface="+mn-ea"/>
                <a:cs typeface="+mn-cs"/>
              </a:rPr>
              <a:t> Now look at the right column. The shift is simple: </a:t>
            </a:r>
            <a:r>
              <a:rPr lang="en-US" sz="1200" i="1" kern="1200" dirty="0">
                <a:solidFill>
                  <a:schemeClr val="tx1"/>
                </a:solidFill>
                <a:effectLst/>
                <a:latin typeface="+mn-lt"/>
                <a:ea typeface="+mn-ea"/>
                <a:cs typeface="+mn-cs"/>
              </a:rPr>
              <a:t>'The business works for me.'</a:t>
            </a:r>
            <a:r>
              <a:rPr lang="en-US" sz="1200" kern="1200" dirty="0">
                <a:solidFill>
                  <a:schemeClr val="tx1"/>
                </a:solidFill>
                <a:effectLst/>
                <a:latin typeface="+mn-lt"/>
                <a:ea typeface="+mn-ea"/>
                <a:cs typeface="+mn-cs"/>
              </a:rPr>
              <a:t> Instead of chasing top-line revenue at all costs, the target is repeatable free cash flow and cash distributions. </a:t>
            </a:r>
          </a:p>
          <a:p>
            <a:pPr lvl="0"/>
            <a:r>
              <a:rPr lang="en-US" sz="1200" b="1" kern="1200" dirty="0">
                <a:solidFill>
                  <a:schemeClr val="tx1"/>
                </a:solidFill>
                <a:effectLst/>
                <a:latin typeface="+mn-lt"/>
                <a:ea typeface="+mn-ea"/>
                <a:cs typeface="+mn-cs"/>
              </a:rPr>
              <a:t>Ferrari Float:</a:t>
            </a:r>
            <a:r>
              <a:rPr lang="en-US" sz="1200" kern="1200" dirty="0">
                <a:solidFill>
                  <a:schemeClr val="tx1"/>
                </a:solidFill>
                <a:effectLst/>
                <a:latin typeface="+mn-lt"/>
                <a:ea typeface="+mn-ea"/>
                <a:cs typeface="+mn-cs"/>
              </a:rPr>
              <a:t> By negotiating favorable terms with suppliers—what we call the 'Ferrari Float'—suppliers essentially act as your bank. You sell goods before paying for them, driving cash directly into your personal vault without ever needing an exit.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2</a:t>
            </a:fld>
            <a:endParaRPr lang="en-US"/>
          </a:p>
        </p:txBody>
      </p:sp>
    </p:spTree>
    <p:extLst>
      <p:ext uri="{BB962C8B-B14F-4D97-AF65-F5344CB8AC3E}">
        <p14:creationId xmlns:p14="http://schemas.microsoft.com/office/powerpoint/2010/main" val="3826702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 of the 4 Pillars:</a:t>
            </a:r>
            <a:r>
              <a:rPr lang="en-US" sz="1200" kern="1200" dirty="0">
                <a:solidFill>
                  <a:schemeClr val="tx1"/>
                </a:solidFill>
                <a:effectLst/>
                <a:latin typeface="+mn-lt"/>
                <a:ea typeface="+mn-ea"/>
                <a:cs typeface="+mn-cs"/>
              </a:rPr>
              <a:t> To achieve consistent distributions, we execute across four interconnected pillars: Margin, Float, Growth, and Wealth Extraction. </a:t>
            </a:r>
          </a:p>
          <a:p>
            <a:pPr lvl="0"/>
            <a:r>
              <a:rPr lang="en-US" sz="1200" b="1" kern="1200" dirty="0">
                <a:solidFill>
                  <a:schemeClr val="tx1"/>
                </a:solidFill>
                <a:effectLst/>
                <a:latin typeface="+mn-lt"/>
                <a:ea typeface="+mn-ea"/>
                <a:cs typeface="+mn-cs"/>
              </a:rPr>
              <a:t>Pillar 1 - Margin Engineering:</a:t>
            </a:r>
            <a:r>
              <a:rPr lang="en-US" sz="1200" kern="1200" dirty="0">
                <a:solidFill>
                  <a:schemeClr val="tx1"/>
                </a:solidFill>
                <a:effectLst/>
                <a:latin typeface="+mn-lt"/>
                <a:ea typeface="+mn-ea"/>
                <a:cs typeface="+mn-cs"/>
              </a:rPr>
              <a:t> Deconstructing your Bill of Materials (BOM) down to first principles—raw materials, sub-vendors, and assembly costs. </a:t>
            </a:r>
          </a:p>
          <a:p>
            <a:pPr lvl="0"/>
            <a:r>
              <a:rPr lang="en-US" sz="1200" b="1" kern="1200" dirty="0">
                <a:solidFill>
                  <a:schemeClr val="tx1"/>
                </a:solidFill>
                <a:effectLst/>
                <a:latin typeface="+mn-lt"/>
                <a:ea typeface="+mn-ea"/>
                <a:cs typeface="+mn-cs"/>
              </a:rPr>
              <a:t>Pillar 2 - Float Engineering:</a:t>
            </a:r>
            <a:r>
              <a:rPr lang="en-US" sz="1200" kern="1200" dirty="0">
                <a:solidFill>
                  <a:schemeClr val="tx1"/>
                </a:solidFill>
                <a:effectLst/>
                <a:latin typeface="+mn-lt"/>
                <a:ea typeface="+mn-ea"/>
                <a:cs typeface="+mn-cs"/>
              </a:rPr>
              <a:t> Turning suppliers into financing entities by using credit insurance and supply chain factoring to secure 90+ day terms. </a:t>
            </a:r>
          </a:p>
          <a:p>
            <a:pPr lvl="0"/>
            <a:r>
              <a:rPr lang="en-US" sz="1200" b="1" kern="1200" dirty="0">
                <a:solidFill>
                  <a:schemeClr val="tx1"/>
                </a:solidFill>
                <a:effectLst/>
                <a:latin typeface="+mn-lt"/>
                <a:ea typeface="+mn-ea"/>
                <a:cs typeface="+mn-cs"/>
              </a:rPr>
              <a:t>Pillar 3 - Growth Engineering:</a:t>
            </a:r>
            <a:r>
              <a:rPr lang="en-US" sz="1200" kern="1200" dirty="0">
                <a:solidFill>
                  <a:schemeClr val="tx1"/>
                </a:solidFill>
                <a:effectLst/>
                <a:latin typeface="+mn-lt"/>
                <a:ea typeface="+mn-ea"/>
                <a:cs typeface="+mn-cs"/>
              </a:rPr>
              <a:t> Deploying capital into aggressive offers, novel hooks, and ad-to-landing-page alignment to maintain acquisition efficiency. </a:t>
            </a:r>
          </a:p>
          <a:p>
            <a:pPr lvl="0"/>
            <a:r>
              <a:rPr lang="en-US" sz="1200" b="1" kern="1200" dirty="0">
                <a:solidFill>
                  <a:schemeClr val="tx1"/>
                </a:solidFill>
                <a:effectLst/>
                <a:latin typeface="+mn-lt"/>
                <a:ea typeface="+mn-ea"/>
                <a:cs typeface="+mn-cs"/>
              </a:rPr>
              <a:t>Pillar 4 - Wealth Extraction:</a:t>
            </a:r>
            <a:r>
              <a:rPr lang="en-US" sz="1200" kern="1200" dirty="0">
                <a:solidFill>
                  <a:schemeClr val="tx1"/>
                </a:solidFill>
                <a:effectLst/>
                <a:latin typeface="+mn-lt"/>
                <a:ea typeface="+mn-ea"/>
                <a:cs typeface="+mn-cs"/>
              </a:rPr>
              <a:t> Systematizing monthly dividend wires on the 15th of every month and leveraging dividend recapitalizations. </a:t>
            </a:r>
          </a:p>
          <a:p>
            <a:pPr lvl="0"/>
            <a:r>
              <a:rPr lang="en-US" sz="1200" b="1" kern="1200" dirty="0">
                <a:solidFill>
                  <a:schemeClr val="tx1"/>
                </a:solidFill>
                <a:effectLst/>
                <a:latin typeface="+mn-lt"/>
                <a:ea typeface="+mn-ea"/>
                <a:cs typeface="+mn-cs"/>
              </a:rPr>
              <a:t>The Flywheel:</a:t>
            </a:r>
            <a:r>
              <a:rPr lang="en-US" sz="1200" kern="1200" dirty="0">
                <a:solidFill>
                  <a:schemeClr val="tx1"/>
                </a:solidFill>
                <a:effectLst/>
                <a:latin typeface="+mn-lt"/>
                <a:ea typeface="+mn-ea"/>
                <a:cs typeface="+mn-cs"/>
              </a:rPr>
              <a:t> Remember: Every dollar saved in Margin expands your Float, which fuels profitable Growth, maximizing your monthly Extraction.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3</a:t>
            </a:fld>
            <a:endParaRPr lang="en-US"/>
          </a:p>
        </p:txBody>
      </p:sp>
    </p:spTree>
    <p:extLst>
      <p:ext uri="{BB962C8B-B14F-4D97-AF65-F5344CB8AC3E}">
        <p14:creationId xmlns:p14="http://schemas.microsoft.com/office/powerpoint/2010/main" val="1896268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Problem with Generic COGS:</a:t>
            </a:r>
            <a:r>
              <a:rPr lang="en-US" sz="1200" kern="1200" dirty="0">
                <a:solidFill>
                  <a:schemeClr val="tx1"/>
                </a:solidFill>
                <a:effectLst/>
                <a:latin typeface="+mn-lt"/>
                <a:ea typeface="+mn-ea"/>
                <a:cs typeface="+mn-cs"/>
              </a:rPr>
              <a:t> 99% of DTC founders look at Cost of Goods Sold as a single, static figure given by a supplier. That is flying blind. </a:t>
            </a:r>
          </a:p>
          <a:p>
            <a:pPr lvl="0"/>
            <a:r>
              <a:rPr lang="en-US" sz="1200" b="1" kern="1200" dirty="0">
                <a:solidFill>
                  <a:schemeClr val="tx1"/>
                </a:solidFill>
                <a:effectLst/>
                <a:latin typeface="+mn-lt"/>
                <a:ea typeface="+mn-ea"/>
                <a:cs typeface="+mn-cs"/>
              </a:rPr>
              <a:t>First Principles Breakdown:</a:t>
            </a:r>
            <a:r>
              <a:rPr lang="en-US" sz="1200" kern="1200" dirty="0">
                <a:solidFill>
                  <a:schemeClr val="tx1"/>
                </a:solidFill>
                <a:effectLst/>
                <a:latin typeface="+mn-lt"/>
                <a:ea typeface="+mn-ea"/>
                <a:cs typeface="+mn-cs"/>
              </a:rPr>
              <a:t> True operators map every component down to the sub-vendor level. Take this ring as an example: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Component 1:</a:t>
            </a:r>
            <a:r>
              <a:rPr lang="en-US" sz="1200" kern="1200" dirty="0">
                <a:solidFill>
                  <a:schemeClr val="tx1"/>
                </a:solidFill>
                <a:effectLst/>
                <a:latin typeface="+mn-lt"/>
                <a:ea typeface="+mn-ea"/>
                <a:cs typeface="+mn-cs"/>
              </a:rPr>
              <a:t> Lab-grown diamond tracked to specific sub-vendors and price-checked monthly.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Component 2:</a:t>
            </a:r>
            <a:r>
              <a:rPr lang="en-US" sz="1200" kern="1200" dirty="0">
                <a:solidFill>
                  <a:schemeClr val="tx1"/>
                </a:solidFill>
                <a:effectLst/>
                <a:latin typeface="+mn-lt"/>
                <a:ea typeface="+mn-ea"/>
                <a:cs typeface="+mn-cs"/>
              </a:rPr>
              <a:t> 14k Solid Gold priced intraday based on spot markets.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Component 3:</a:t>
            </a:r>
            <a:r>
              <a:rPr lang="en-US" sz="1200" kern="1200" dirty="0">
                <a:solidFill>
                  <a:schemeClr val="tx1"/>
                </a:solidFill>
                <a:effectLst/>
                <a:latin typeface="+mn-lt"/>
                <a:ea typeface="+mn-ea"/>
                <a:cs typeface="+mn-cs"/>
              </a:rPr>
              <a:t> Fixed labor costs ($42 for setting and polishing).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Component 4:</a:t>
            </a:r>
            <a:r>
              <a:rPr lang="en-US" sz="1200" kern="1200" dirty="0">
                <a:solidFill>
                  <a:schemeClr val="tx1"/>
                </a:solidFill>
                <a:effectLst/>
                <a:latin typeface="+mn-lt"/>
                <a:ea typeface="+mn-ea"/>
                <a:cs typeface="+mn-cs"/>
              </a:rPr>
              <a:t> Factory Overhead &amp; Margin, transparently capped at 5–9% EBITDA for the assembler. </a:t>
            </a:r>
          </a:p>
          <a:p>
            <a:pPr lvl="0"/>
            <a:r>
              <a:rPr lang="en-US" sz="1200" b="1" kern="1200" dirty="0">
                <a:solidFill>
                  <a:schemeClr val="tx1"/>
                </a:solidFill>
                <a:effectLst/>
                <a:latin typeface="+mn-lt"/>
                <a:ea typeface="+mn-ea"/>
                <a:cs typeface="+mn-cs"/>
              </a:rPr>
              <a:t>Actionable Insight:</a:t>
            </a:r>
            <a:r>
              <a:rPr lang="en-US" sz="1200" kern="1200" dirty="0">
                <a:solidFill>
                  <a:schemeClr val="tx1"/>
                </a:solidFill>
                <a:effectLst/>
                <a:latin typeface="+mn-lt"/>
                <a:ea typeface="+mn-ea"/>
                <a:cs typeface="+mn-cs"/>
              </a:rPr>
              <a:t> When you know the line-item costs better than the assembly plant, you can negotiate directly with component sources, protecting your margin when market rates shift.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4</a:t>
            </a:fld>
            <a:endParaRPr lang="en-US"/>
          </a:p>
        </p:txBody>
      </p:sp>
    </p:spTree>
    <p:extLst>
      <p:ext uri="{BB962C8B-B14F-4D97-AF65-F5344CB8AC3E}">
        <p14:creationId xmlns:p14="http://schemas.microsoft.com/office/powerpoint/2010/main" val="2351035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Phase 1 (Open Book P&amp;L):</a:t>
            </a:r>
            <a:r>
              <a:rPr lang="en-US" sz="1200" kern="1200" dirty="0">
                <a:solidFill>
                  <a:schemeClr val="tx1"/>
                </a:solidFill>
                <a:effectLst/>
                <a:latin typeface="+mn-lt"/>
                <a:ea typeface="+mn-ea"/>
                <a:cs typeface="+mn-cs"/>
              </a:rPr>
              <a:t> Building leverage starts with radical transparency. Show your primary supplier your P&amp;L and 3-to-5-year volume targets. Align them as a long-term growth partner rather than a vendor. </a:t>
            </a:r>
          </a:p>
          <a:p>
            <a:pPr lvl="0"/>
            <a:r>
              <a:rPr lang="en-US" sz="1200" b="1" kern="1200" dirty="0">
                <a:solidFill>
                  <a:schemeClr val="tx1"/>
                </a:solidFill>
                <a:effectLst/>
                <a:latin typeface="+mn-lt"/>
                <a:ea typeface="+mn-ea"/>
                <a:cs typeface="+mn-cs"/>
              </a:rPr>
              <a:t>Phase 2 (Sub-Vendor Volume):</a:t>
            </a:r>
            <a:r>
              <a:rPr lang="en-US" sz="1200" kern="1200" dirty="0">
                <a:solidFill>
                  <a:schemeClr val="tx1"/>
                </a:solidFill>
                <a:effectLst/>
                <a:latin typeface="+mn-lt"/>
                <a:ea typeface="+mn-ea"/>
                <a:cs typeface="+mn-cs"/>
              </a:rPr>
              <a:t> Ask the assembler: </a:t>
            </a:r>
            <a:r>
              <a:rPr lang="en-US" sz="1200" i="1" kern="1200" dirty="0">
                <a:solidFill>
                  <a:schemeClr val="tx1"/>
                </a:solidFill>
                <a:effectLst/>
                <a:latin typeface="+mn-lt"/>
                <a:ea typeface="+mn-ea"/>
                <a:cs typeface="+mn-cs"/>
              </a:rPr>
              <a:t>'At what volume tier does your raw material vendor drop price breaks?'</a:t>
            </a:r>
            <a:r>
              <a:rPr lang="en-US" sz="1200" kern="1200" dirty="0">
                <a:solidFill>
                  <a:schemeClr val="tx1"/>
                </a:solidFill>
                <a:effectLst/>
                <a:latin typeface="+mn-lt"/>
                <a:ea typeface="+mn-ea"/>
                <a:cs typeface="+mn-cs"/>
              </a:rPr>
              <a:t> Identify those inflection points. </a:t>
            </a:r>
          </a:p>
          <a:p>
            <a:pPr lvl="0"/>
            <a:r>
              <a:rPr lang="en-US" sz="1200" b="1" kern="1200" dirty="0">
                <a:solidFill>
                  <a:schemeClr val="tx1"/>
                </a:solidFill>
                <a:effectLst/>
                <a:latin typeface="+mn-lt"/>
                <a:ea typeface="+mn-ea"/>
                <a:cs typeface="+mn-cs"/>
              </a:rPr>
              <a:t>Phase 3 (Securing Price Breaks):</a:t>
            </a:r>
            <a:r>
              <a:rPr lang="en-US" sz="1200" kern="1200" dirty="0">
                <a:solidFill>
                  <a:schemeClr val="tx1"/>
                </a:solidFill>
                <a:effectLst/>
                <a:latin typeface="+mn-lt"/>
                <a:ea typeface="+mn-ea"/>
                <a:cs typeface="+mn-cs"/>
              </a:rPr>
              <a:t> Work directly with sub-tier suppliers to secure raw material price breaks. The assembly factory keeps their target 5–9% operational margin, while your total unit cost plummets. </a:t>
            </a:r>
          </a:p>
          <a:p>
            <a:pPr lvl="0"/>
            <a:r>
              <a:rPr lang="en-US" sz="1200" b="1" kern="1200" dirty="0">
                <a:solidFill>
                  <a:schemeClr val="tx1"/>
                </a:solidFill>
                <a:effectLst/>
                <a:latin typeface="+mn-lt"/>
                <a:ea typeface="+mn-ea"/>
                <a:cs typeface="+mn-cs"/>
              </a:rPr>
              <a:t>Strategic Advantage:</a:t>
            </a:r>
            <a:r>
              <a:rPr lang="en-US" sz="1200" kern="1200" dirty="0">
                <a:solidFill>
                  <a:schemeClr val="tx1"/>
                </a:solidFill>
                <a:effectLst/>
                <a:latin typeface="+mn-lt"/>
                <a:ea typeface="+mn-ea"/>
                <a:cs typeface="+mn-cs"/>
              </a:rPr>
              <a:t> Internalizing procurement and tracking raw material market rates allows you to maintain margin stability even if sales volume temporarily flattens.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5</a:t>
            </a:fld>
            <a:endParaRPr lang="en-US"/>
          </a:p>
        </p:txBody>
      </p:sp>
    </p:spTree>
    <p:extLst>
      <p:ext uri="{BB962C8B-B14F-4D97-AF65-F5344CB8AC3E}">
        <p14:creationId xmlns:p14="http://schemas.microsoft.com/office/powerpoint/2010/main" val="1628845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Formula:</a:t>
            </a:r>
            <a:r>
              <a:rPr lang="en-US" sz="1200" kern="1200" dirty="0">
                <a:solidFill>
                  <a:schemeClr val="tx1"/>
                </a:solidFill>
                <a:effectLst/>
                <a:latin typeface="+mn-lt"/>
                <a:ea typeface="+mn-ea"/>
                <a:cs typeface="+mn-cs"/>
              </a:rPr>
              <a:t> Cash Float = Payment Terms – Production/Delivery Lead Time. </a:t>
            </a:r>
          </a:p>
          <a:p>
            <a:pPr lvl="0"/>
            <a:r>
              <a:rPr lang="en-US" sz="1200" b="1" kern="1200" dirty="0">
                <a:solidFill>
                  <a:schemeClr val="tx1"/>
                </a:solidFill>
                <a:effectLst/>
                <a:latin typeface="+mn-lt"/>
                <a:ea typeface="+mn-ea"/>
                <a:cs typeface="+mn-cs"/>
              </a:rPr>
              <a:t>The Cash Trap (Top Bar):</a:t>
            </a:r>
            <a:r>
              <a:rPr lang="en-US" sz="1200" kern="1200" dirty="0">
                <a:solidFill>
                  <a:schemeClr val="tx1"/>
                </a:solidFill>
                <a:effectLst/>
                <a:latin typeface="+mn-lt"/>
                <a:ea typeface="+mn-ea"/>
                <a:cs typeface="+mn-cs"/>
              </a:rPr>
              <a:t> If you pay 100% upfront on Day 0, and goods take 45 days to arrive and 45 days to sell, you spend 90 days in negative float. You are essentially funding the factory’s balance sheet with your own capital. </a:t>
            </a:r>
          </a:p>
          <a:p>
            <a:pPr lvl="0"/>
            <a:r>
              <a:rPr lang="en-US" sz="1200" b="1" kern="1200" dirty="0">
                <a:solidFill>
                  <a:schemeClr val="tx1"/>
                </a:solidFill>
                <a:effectLst/>
                <a:latin typeface="+mn-lt"/>
                <a:ea typeface="+mn-ea"/>
                <a:cs typeface="+mn-cs"/>
              </a:rPr>
              <a:t>The Ferrari Float (Bottom Bar):</a:t>
            </a:r>
            <a:r>
              <a:rPr lang="en-US" sz="1200" kern="1200" dirty="0">
                <a:solidFill>
                  <a:schemeClr val="tx1"/>
                </a:solidFill>
                <a:effectLst/>
                <a:latin typeface="+mn-lt"/>
                <a:ea typeface="+mn-ea"/>
                <a:cs typeface="+mn-cs"/>
              </a:rPr>
              <a:t> Now imagine placing the order on Day 0 with Net 90 payment terms. Goods arrive at Day 45, and you sell through them by Day 90. The invoice is due on Day 90, meaning you operated for 45 days with positive free cash flow. </a:t>
            </a:r>
          </a:p>
          <a:p>
            <a:pPr lvl="0"/>
            <a:r>
              <a:rPr lang="en-US" sz="1200" b="1" kern="1200" dirty="0">
                <a:solidFill>
                  <a:schemeClr val="tx1"/>
                </a:solidFill>
                <a:effectLst/>
                <a:latin typeface="+mn-lt"/>
                <a:ea typeface="+mn-ea"/>
                <a:cs typeface="+mn-cs"/>
              </a:rPr>
              <a:t>Core Impact:</a:t>
            </a:r>
            <a:r>
              <a:rPr lang="en-US" sz="1200" kern="1200" dirty="0">
                <a:solidFill>
                  <a:schemeClr val="tx1"/>
                </a:solidFill>
                <a:effectLst/>
                <a:latin typeface="+mn-lt"/>
                <a:ea typeface="+mn-ea"/>
                <a:cs typeface="+mn-cs"/>
              </a:rPr>
              <a:t> In the Ferrari Float scenario, your sales fund your working capital before the supplier ever gets paid. The factory becomes your primary lender.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6</a:t>
            </a:fld>
            <a:endParaRPr lang="en-US"/>
          </a:p>
        </p:txBody>
      </p:sp>
    </p:spTree>
    <p:extLst>
      <p:ext uri="{BB962C8B-B14F-4D97-AF65-F5344CB8AC3E}">
        <p14:creationId xmlns:p14="http://schemas.microsoft.com/office/powerpoint/2010/main" val="606198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Step 1 (</a:t>
            </a:r>
            <a:r>
              <a:rPr lang="en-US" sz="1200" b="1" kern="1200" dirty="0" err="1">
                <a:solidFill>
                  <a:schemeClr val="tx1"/>
                </a:solidFill>
                <a:effectLst/>
                <a:latin typeface="+mn-lt"/>
                <a:ea typeface="+mn-ea"/>
                <a:cs typeface="+mn-cs"/>
              </a:rPr>
              <a:t>Sinosure</a:t>
            </a:r>
            <a:r>
              <a:rPr lang="en-US" sz="1200" b="1" kern="1200" dirty="0">
                <a:solidFill>
                  <a:schemeClr val="tx1"/>
                </a:solidFill>
                <a:effectLst/>
                <a:latin typeface="+mn-lt"/>
                <a:ea typeface="+mn-ea"/>
                <a:cs typeface="+mn-cs"/>
              </a:rPr>
              <a:t> Audit):</a:t>
            </a:r>
            <a:r>
              <a:rPr lang="en-US" sz="1200" kern="1200" dirty="0">
                <a:solidFill>
                  <a:schemeClr val="tx1"/>
                </a:solidFill>
                <a:effectLst/>
                <a:latin typeface="+mn-lt"/>
                <a:ea typeface="+mn-ea"/>
                <a:cs typeface="+mn-cs"/>
              </a:rPr>
              <a:t> Overseas credit agencies like </a:t>
            </a:r>
            <a:r>
              <a:rPr lang="en-US" sz="1200" kern="1200" dirty="0" err="1">
                <a:solidFill>
                  <a:schemeClr val="tx1"/>
                </a:solidFill>
                <a:effectLst/>
                <a:latin typeface="+mn-lt"/>
                <a:ea typeface="+mn-ea"/>
                <a:cs typeface="+mn-cs"/>
              </a:rPr>
              <a:t>Sinosure</a:t>
            </a:r>
            <a:r>
              <a:rPr lang="en-US" sz="1200" kern="1200" dirty="0">
                <a:solidFill>
                  <a:schemeClr val="tx1"/>
                </a:solidFill>
                <a:effectLst/>
                <a:latin typeface="+mn-lt"/>
                <a:ea typeface="+mn-ea"/>
                <a:cs typeface="+mn-cs"/>
              </a:rPr>
              <a:t> audit your business finances to grant you a credit rating (A/B/C). </a:t>
            </a:r>
          </a:p>
          <a:p>
            <a:pPr lvl="0"/>
            <a:r>
              <a:rPr lang="en-US" sz="1200" b="1" kern="1200" dirty="0">
                <a:solidFill>
                  <a:schemeClr val="tx1"/>
                </a:solidFill>
                <a:effectLst/>
                <a:latin typeface="+mn-lt"/>
                <a:ea typeface="+mn-ea"/>
                <a:cs typeface="+mn-cs"/>
              </a:rPr>
              <a:t>Step 2 (Factoring the PO):</a:t>
            </a:r>
            <a:r>
              <a:rPr lang="en-US" sz="1200" kern="1200" dirty="0">
                <a:solidFill>
                  <a:schemeClr val="tx1"/>
                </a:solidFill>
                <a:effectLst/>
                <a:latin typeface="+mn-lt"/>
                <a:ea typeface="+mn-ea"/>
                <a:cs typeface="+mn-cs"/>
              </a:rPr>
              <a:t> Once rated, you issue an insured Purchase Order. Your factory takes this PO to a commercial bank. </a:t>
            </a:r>
          </a:p>
          <a:p>
            <a:pPr lvl="0"/>
            <a:r>
              <a:rPr lang="en-US" sz="1200" b="1" kern="1200" dirty="0">
                <a:solidFill>
                  <a:schemeClr val="tx1"/>
                </a:solidFill>
                <a:effectLst/>
                <a:latin typeface="+mn-lt"/>
                <a:ea typeface="+mn-ea"/>
                <a:cs typeface="+mn-cs"/>
              </a:rPr>
              <a:t>Step 3 (99 Cents on the Dollar):</a:t>
            </a:r>
            <a:r>
              <a:rPr lang="en-US" sz="1200" kern="1200" dirty="0">
                <a:solidFill>
                  <a:schemeClr val="tx1"/>
                </a:solidFill>
                <a:effectLst/>
                <a:latin typeface="+mn-lt"/>
                <a:ea typeface="+mn-ea"/>
                <a:cs typeface="+mn-cs"/>
              </a:rPr>
              <a:t> The bank factors the invoice, immediately paying the factory ~99% of the cash upfront, removing default risk for the supplier. </a:t>
            </a:r>
          </a:p>
          <a:p>
            <a:pPr lvl="0"/>
            <a:r>
              <a:rPr lang="en-US" sz="1200" b="1" kern="1200" dirty="0">
                <a:solidFill>
                  <a:schemeClr val="tx1"/>
                </a:solidFill>
                <a:effectLst/>
                <a:latin typeface="+mn-lt"/>
                <a:ea typeface="+mn-ea"/>
                <a:cs typeface="+mn-cs"/>
              </a:rPr>
              <a:t>Step 4 (The 6% Arbitrage):</a:t>
            </a:r>
            <a:r>
              <a:rPr lang="en-US" sz="1200" kern="1200" dirty="0">
                <a:solidFill>
                  <a:schemeClr val="tx1"/>
                </a:solidFill>
                <a:effectLst/>
                <a:latin typeface="+mn-lt"/>
                <a:ea typeface="+mn-ea"/>
                <a:cs typeface="+mn-cs"/>
              </a:rPr>
              <a:t> The bank extends Net 90 or Net 180 terms to you. The annual financing fee is roughly 5–6%, which is often split between you and the factory. </a:t>
            </a:r>
          </a:p>
          <a:p>
            <a:pPr lvl="0"/>
            <a:r>
              <a:rPr lang="en-US" sz="1200" b="1" kern="1200" dirty="0">
                <a:solidFill>
                  <a:schemeClr val="tx1"/>
                </a:solidFill>
                <a:effectLst/>
                <a:latin typeface="+mn-lt"/>
                <a:ea typeface="+mn-ea"/>
                <a:cs typeface="+mn-cs"/>
              </a:rPr>
              <a:t>Bottom Line:</a:t>
            </a:r>
            <a:r>
              <a:rPr lang="en-US" sz="1200" kern="1200" dirty="0">
                <a:solidFill>
                  <a:schemeClr val="tx1"/>
                </a:solidFill>
                <a:effectLst/>
                <a:latin typeface="+mn-lt"/>
                <a:ea typeface="+mn-ea"/>
                <a:cs typeface="+mn-cs"/>
              </a:rPr>
              <a:t> You get extended payment terms without taking on expensive equity dilutive capital or high-interest short-term debt.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7</a:t>
            </a:fld>
            <a:endParaRPr lang="en-US"/>
          </a:p>
        </p:txBody>
      </p:sp>
    </p:spTree>
    <p:extLst>
      <p:ext uri="{BB962C8B-B14F-4D97-AF65-F5344CB8AC3E}">
        <p14:creationId xmlns:p14="http://schemas.microsoft.com/office/powerpoint/2010/main" val="2242114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Pillar 1 (Offer Aggressiveness):</a:t>
            </a:r>
            <a:r>
              <a:rPr lang="en-US" sz="1200" kern="1200" dirty="0">
                <a:solidFill>
                  <a:schemeClr val="tx1"/>
                </a:solidFill>
                <a:effectLst/>
                <a:latin typeface="+mn-lt"/>
                <a:ea typeface="+mn-ea"/>
                <a:cs typeface="+mn-cs"/>
              </a:rPr>
              <a:t> To drive velocity, structure aggressive mechanical offers (e.g., Buy 2 Get 3) mapped precisely against your shipping and fulfillment margins. </a:t>
            </a:r>
          </a:p>
          <a:p>
            <a:pPr lvl="0"/>
            <a:r>
              <a:rPr lang="en-US" sz="1200" b="1" kern="1200" dirty="0">
                <a:solidFill>
                  <a:schemeClr val="tx1"/>
                </a:solidFill>
                <a:effectLst/>
                <a:latin typeface="+mn-lt"/>
                <a:ea typeface="+mn-ea"/>
                <a:cs typeface="+mn-cs"/>
              </a:rPr>
              <a:t>Pillar 2 (Novel Hooks):</a:t>
            </a:r>
            <a:r>
              <a:rPr lang="en-US" sz="1200" kern="1200" dirty="0">
                <a:solidFill>
                  <a:schemeClr val="tx1"/>
                </a:solidFill>
                <a:effectLst/>
                <a:latin typeface="+mn-lt"/>
                <a:ea typeface="+mn-ea"/>
                <a:cs typeface="+mn-cs"/>
              </a:rPr>
              <a:t> Combat creative fatigue by constantly rotating diverse, human-led ad formats—such as Partnership Ads or creator whitelist campaigns. </a:t>
            </a:r>
          </a:p>
          <a:p>
            <a:pPr lvl="0"/>
            <a:r>
              <a:rPr lang="en-US" sz="1200" b="1" kern="1200" dirty="0">
                <a:solidFill>
                  <a:schemeClr val="tx1"/>
                </a:solidFill>
                <a:effectLst/>
                <a:latin typeface="+mn-lt"/>
                <a:ea typeface="+mn-ea"/>
                <a:cs typeface="+mn-cs"/>
              </a:rPr>
              <a:t>Pillar 3 (Merchandising Alignment):</a:t>
            </a:r>
            <a:r>
              <a:rPr lang="en-US" sz="1200" kern="1200" dirty="0">
                <a:solidFill>
                  <a:schemeClr val="tx1"/>
                </a:solidFill>
                <a:effectLst/>
                <a:latin typeface="+mn-lt"/>
                <a:ea typeface="+mn-ea"/>
                <a:cs typeface="+mn-cs"/>
              </a:rPr>
              <a:t> Ensure strict visual congruence. The exact visual sequence shown in the top-performing ad must immediately match the landing page hierarchy. </a:t>
            </a:r>
          </a:p>
          <a:p>
            <a:pPr lvl="0"/>
            <a:r>
              <a:rPr lang="en-US" sz="1200" b="1" kern="1200" dirty="0">
                <a:solidFill>
                  <a:schemeClr val="tx1"/>
                </a:solidFill>
                <a:effectLst/>
                <a:latin typeface="+mn-lt"/>
                <a:ea typeface="+mn-ea"/>
                <a:cs typeface="+mn-cs"/>
              </a:rPr>
              <a:t>Result:</a:t>
            </a:r>
            <a:r>
              <a:rPr lang="en-US" sz="1200" kern="1200" dirty="0">
                <a:solidFill>
                  <a:schemeClr val="tx1"/>
                </a:solidFill>
                <a:effectLst/>
                <a:latin typeface="+mn-lt"/>
                <a:ea typeface="+mn-ea"/>
                <a:cs typeface="+mn-cs"/>
              </a:rPr>
              <a:t> Matching visual context between the creative hook and the landing page routinely yields a 30%+ lift in conversion efficiency.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8</a:t>
            </a:fld>
            <a:endParaRPr lang="en-US"/>
          </a:p>
        </p:txBody>
      </p:sp>
    </p:spTree>
    <p:extLst>
      <p:ext uri="{BB962C8B-B14F-4D97-AF65-F5344CB8AC3E}">
        <p14:creationId xmlns:p14="http://schemas.microsoft.com/office/powerpoint/2010/main" val="2446878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Step 1 (Ignore In-Platform Attribution):</a:t>
            </a:r>
            <a:r>
              <a:rPr lang="en-US" sz="1200" kern="1200" dirty="0">
                <a:solidFill>
                  <a:schemeClr val="tx1"/>
                </a:solidFill>
                <a:effectLst/>
                <a:latin typeface="+mn-lt"/>
                <a:ea typeface="+mn-ea"/>
                <a:cs typeface="+mn-cs"/>
              </a:rPr>
              <a:t> Platform-reported attribution models can be misleading and noisy. </a:t>
            </a:r>
          </a:p>
          <a:p>
            <a:pPr lvl="0"/>
            <a:r>
              <a:rPr lang="en-US" sz="1200" b="1" kern="1200" dirty="0">
                <a:solidFill>
                  <a:schemeClr val="tx1"/>
                </a:solidFill>
                <a:effectLst/>
                <a:latin typeface="+mn-lt"/>
                <a:ea typeface="+mn-ea"/>
                <a:cs typeface="+mn-cs"/>
              </a:rPr>
              <a:t>Step 2 (Post-Purchase Survey Baseline):</a:t>
            </a:r>
            <a:r>
              <a:rPr lang="en-US" sz="1200" kern="1200" dirty="0">
                <a:solidFill>
                  <a:schemeClr val="tx1"/>
                </a:solidFill>
                <a:effectLst/>
                <a:latin typeface="+mn-lt"/>
                <a:ea typeface="+mn-ea"/>
                <a:cs typeface="+mn-cs"/>
              </a:rPr>
              <a:t> Use post-purchase zero-party data to establish your true Day-1 conversion baseline (e.g., discovering that 20% of total cohort LTV occurs on Day 1). </a:t>
            </a:r>
          </a:p>
          <a:p>
            <a:pPr lvl="0"/>
            <a:r>
              <a:rPr lang="en-US" sz="1200" b="1" kern="1200" dirty="0">
                <a:solidFill>
                  <a:schemeClr val="tx1"/>
                </a:solidFill>
                <a:effectLst/>
                <a:latin typeface="+mn-lt"/>
                <a:ea typeface="+mn-ea"/>
                <a:cs typeface="+mn-cs"/>
              </a:rPr>
              <a:t>Step 3 (Mathematical Guarantee):</a:t>
            </a:r>
            <a:r>
              <a:rPr lang="en-US" sz="1200" kern="1200" dirty="0">
                <a:solidFill>
                  <a:schemeClr val="tx1"/>
                </a:solidFill>
                <a:effectLst/>
                <a:latin typeface="+mn-lt"/>
                <a:ea typeface="+mn-ea"/>
                <a:cs typeface="+mn-cs"/>
              </a:rPr>
              <a:t> Once your cohort maturation curves are proven, hitting a targeted </a:t>
            </a:r>
            <a:r>
              <a:rPr lang="en-US" sz="1200" b="1" kern="1200" dirty="0">
                <a:solidFill>
                  <a:schemeClr val="tx1"/>
                </a:solidFill>
                <a:effectLst/>
                <a:latin typeface="+mn-lt"/>
                <a:ea typeface="+mn-ea"/>
                <a:cs typeface="+mn-cs"/>
              </a:rPr>
              <a:t>0.5x 1-Day Click ROAS</a:t>
            </a:r>
            <a:r>
              <a:rPr lang="en-US" sz="1200" kern="1200" dirty="0">
                <a:solidFill>
                  <a:schemeClr val="tx1"/>
                </a:solidFill>
                <a:effectLst/>
                <a:latin typeface="+mn-lt"/>
                <a:ea typeface="+mn-ea"/>
                <a:cs typeface="+mn-cs"/>
              </a:rPr>
              <a:t> mathematically guarantees a profitable </a:t>
            </a:r>
            <a:r>
              <a:rPr lang="en-US" sz="1200" b="1" kern="1200" dirty="0">
                <a:solidFill>
                  <a:schemeClr val="tx1"/>
                </a:solidFill>
                <a:effectLst/>
                <a:latin typeface="+mn-lt"/>
                <a:ea typeface="+mn-ea"/>
                <a:cs typeface="+mn-cs"/>
              </a:rPr>
              <a:t>&gt;2.0x LTV</a:t>
            </a:r>
            <a:r>
              <a:rPr lang="en-US" sz="1200" kern="1200" dirty="0">
                <a:solidFill>
                  <a:schemeClr val="tx1"/>
                </a:solidFill>
                <a:effectLst/>
                <a:latin typeface="+mn-lt"/>
                <a:ea typeface="+mn-ea"/>
                <a:cs typeface="+mn-cs"/>
              </a:rPr>
              <a:t> by Day 60.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This gives media buyers an objective daily target without waiting weeks for attribution windows to clear.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9</a:t>
            </a:fld>
            <a:endParaRPr lang="en-US"/>
          </a:p>
        </p:txBody>
      </p:sp>
    </p:spTree>
    <p:extLst>
      <p:ext uri="{BB962C8B-B14F-4D97-AF65-F5344CB8AC3E}">
        <p14:creationId xmlns:p14="http://schemas.microsoft.com/office/powerpoint/2010/main" val="3186366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Daily P&amp;L Digest:</a:t>
            </a:r>
            <a:r>
              <a:rPr lang="en-US" sz="1200" kern="1200" dirty="0">
                <a:solidFill>
                  <a:schemeClr val="tx1"/>
                </a:solidFill>
                <a:effectLst/>
                <a:latin typeface="+mn-lt"/>
                <a:ea typeface="+mn-ea"/>
                <a:cs typeface="+mn-cs"/>
              </a:rPr>
              <a:t> Every morning, publish a full P&amp;L dashboard across company channels showing real-time performance vs targets: Revenue, Ad Spend, ROAS, and Repeat Customer Rate. </a:t>
            </a:r>
          </a:p>
          <a:p>
            <a:pPr lvl="0"/>
            <a:r>
              <a:rPr lang="en-US" sz="1200" b="1" kern="1200" dirty="0">
                <a:solidFill>
                  <a:schemeClr val="tx1"/>
                </a:solidFill>
                <a:effectLst/>
                <a:latin typeface="+mn-lt"/>
                <a:ea typeface="+mn-ea"/>
                <a:cs typeface="+mn-cs"/>
              </a:rPr>
              <a:t>The Core Rule:</a:t>
            </a:r>
            <a:r>
              <a:rPr lang="en-US" sz="1200" kern="1200" dirty="0">
                <a:solidFill>
                  <a:schemeClr val="tx1"/>
                </a:solidFill>
                <a:effectLst/>
                <a:latin typeface="+mn-lt"/>
                <a:ea typeface="+mn-ea"/>
                <a:cs typeface="+mn-cs"/>
              </a:rPr>
              <a:t> If any department misses a daily key metric, the respective team lead must post a public explanation and corrective action plan in the thread. </a:t>
            </a:r>
          </a:p>
          <a:p>
            <a:pPr lvl="0"/>
            <a:r>
              <a:rPr lang="en-US" sz="1200" b="1" kern="1200" dirty="0">
                <a:solidFill>
                  <a:schemeClr val="tx1"/>
                </a:solidFill>
                <a:effectLst/>
                <a:latin typeface="+mn-lt"/>
                <a:ea typeface="+mn-ea"/>
                <a:cs typeface="+mn-cs"/>
              </a:rPr>
              <a:t>Cultural Shift:</a:t>
            </a:r>
            <a:r>
              <a:rPr lang="en-US" sz="1200" kern="1200" dirty="0">
                <a:solidFill>
                  <a:schemeClr val="tx1"/>
                </a:solidFill>
                <a:effectLst/>
                <a:latin typeface="+mn-lt"/>
                <a:ea typeface="+mn-ea"/>
                <a:cs typeface="+mn-cs"/>
              </a:rPr>
              <a:t> This eliminates passive management. Compounding small 0.1% daily adjustments drives far greater performance than quarterly post-mortems.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10</a:t>
            </a:fld>
            <a:endParaRPr lang="en-US"/>
          </a:p>
        </p:txBody>
      </p:sp>
    </p:spTree>
    <p:extLst>
      <p:ext uri="{BB962C8B-B14F-4D97-AF65-F5344CB8AC3E}">
        <p14:creationId xmlns:p14="http://schemas.microsoft.com/office/powerpoint/2010/main" val="1205795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Stage 1 (Scorecard):</a:t>
            </a:r>
            <a:r>
              <a:rPr lang="en-US" sz="1200" kern="1200" dirty="0">
                <a:solidFill>
                  <a:schemeClr val="tx1"/>
                </a:solidFill>
                <a:effectLst/>
                <a:latin typeface="+mn-lt"/>
                <a:ea typeface="+mn-ea"/>
                <a:cs typeface="+mn-cs"/>
              </a:rPr>
              <a:t> Define exact measurable outcomes and attributes for the role rather than generic skill descriptions. </a:t>
            </a:r>
          </a:p>
          <a:p>
            <a:pPr lvl="0"/>
            <a:r>
              <a:rPr lang="en-US" sz="1200" b="1" kern="1200" dirty="0">
                <a:solidFill>
                  <a:schemeClr val="tx1"/>
                </a:solidFill>
                <a:effectLst/>
                <a:latin typeface="+mn-lt"/>
                <a:ea typeface="+mn-ea"/>
                <a:cs typeface="+mn-cs"/>
              </a:rPr>
              <a:t>Stage 2 (Screening):</a:t>
            </a:r>
            <a:r>
              <a:rPr lang="en-US" sz="1200" kern="1200" dirty="0">
                <a:solidFill>
                  <a:schemeClr val="tx1"/>
                </a:solidFill>
                <a:effectLst/>
                <a:latin typeface="+mn-lt"/>
                <a:ea typeface="+mn-ea"/>
                <a:cs typeface="+mn-cs"/>
              </a:rPr>
              <a:t> Conduct 15-minute macro screens. Ask: </a:t>
            </a:r>
            <a:r>
              <a:rPr lang="en-US" sz="1200" i="1" kern="1200" dirty="0">
                <a:solidFill>
                  <a:schemeClr val="tx1"/>
                </a:solidFill>
                <a:effectLst/>
                <a:latin typeface="+mn-lt"/>
                <a:ea typeface="+mn-ea"/>
                <a:cs typeface="+mn-cs"/>
              </a:rPr>
              <a:t>'If I call your current manager, how will they rate your performance 1-10?'</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Stage 3 (Top Grading):</a:t>
            </a:r>
            <a:r>
              <a:rPr lang="en-US" sz="1200" kern="1200" dirty="0">
                <a:solidFill>
                  <a:schemeClr val="tx1"/>
                </a:solidFill>
                <a:effectLst/>
                <a:latin typeface="+mn-lt"/>
                <a:ea typeface="+mn-ea"/>
                <a:cs typeface="+mn-cs"/>
              </a:rPr>
              <a:t> A 60-minute deep dive across their career history to identify patterns of performance. </a:t>
            </a:r>
          </a:p>
          <a:p>
            <a:pPr lvl="0"/>
            <a:r>
              <a:rPr lang="en-US" sz="1200" b="1" kern="1200" dirty="0">
                <a:solidFill>
                  <a:schemeClr val="tx1"/>
                </a:solidFill>
                <a:effectLst/>
                <a:latin typeface="+mn-lt"/>
                <a:ea typeface="+mn-ea"/>
                <a:cs typeface="+mn-cs"/>
              </a:rPr>
              <a:t>Stage 4 (Competency Study):</a:t>
            </a:r>
            <a:r>
              <a:rPr lang="en-US" sz="1200" kern="1200" dirty="0">
                <a:solidFill>
                  <a:schemeClr val="tx1"/>
                </a:solidFill>
                <a:effectLst/>
                <a:latin typeface="+mn-lt"/>
                <a:ea typeface="+mn-ea"/>
                <a:cs typeface="+mn-cs"/>
              </a:rPr>
              <a:t> Pay top 5 candidates to complete real-world, dummy-data case studies to verify execution skills. </a:t>
            </a:r>
          </a:p>
          <a:p>
            <a:pPr lvl="0"/>
            <a:r>
              <a:rPr lang="en-US" sz="1200" b="1" kern="1200" dirty="0">
                <a:solidFill>
                  <a:schemeClr val="tx1"/>
                </a:solidFill>
                <a:effectLst/>
                <a:latin typeface="+mn-lt"/>
                <a:ea typeface="+mn-ea"/>
                <a:cs typeface="+mn-cs"/>
              </a:rPr>
              <a:t>Stage 5 (Reference Traps):</a:t>
            </a:r>
            <a:r>
              <a:rPr lang="en-US" sz="1200" kern="1200" dirty="0">
                <a:solidFill>
                  <a:schemeClr val="tx1"/>
                </a:solidFill>
                <a:effectLst/>
                <a:latin typeface="+mn-lt"/>
                <a:ea typeface="+mn-ea"/>
                <a:cs typeface="+mn-cs"/>
              </a:rPr>
              <a:t> Execute reference calls with past supervisors to validate the scores given during Stage 2.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11</a:t>
            </a:fld>
            <a:endParaRPr lang="en-US"/>
          </a:p>
        </p:txBody>
      </p:sp>
    </p:spTree>
    <p:extLst>
      <p:ext uri="{BB962C8B-B14F-4D97-AF65-F5344CB8AC3E}">
        <p14:creationId xmlns:p14="http://schemas.microsoft.com/office/powerpoint/2010/main" val="392948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Step 1 (Strict Monthly Close):</a:t>
            </a:r>
            <a:r>
              <a:rPr lang="en-US" sz="1200" kern="1200" dirty="0">
                <a:solidFill>
                  <a:schemeClr val="tx1"/>
                </a:solidFill>
                <a:effectLst/>
                <a:latin typeface="+mn-lt"/>
                <a:ea typeface="+mn-ea"/>
                <a:cs typeface="+mn-cs"/>
              </a:rPr>
              <a:t> Mandate that your financial books are fully closed by the 15th of every month. </a:t>
            </a:r>
          </a:p>
          <a:p>
            <a:pPr lvl="0"/>
            <a:r>
              <a:rPr lang="en-US" sz="1200" b="1" kern="1200" dirty="0">
                <a:solidFill>
                  <a:schemeClr val="tx1"/>
                </a:solidFill>
                <a:effectLst/>
                <a:latin typeface="+mn-lt"/>
                <a:ea typeface="+mn-ea"/>
                <a:cs typeface="+mn-cs"/>
              </a:rPr>
              <a:t>Step 2 (Free Cash Flow Calculation):</a:t>
            </a:r>
            <a:r>
              <a:rPr lang="en-US" sz="1200" kern="1200" dirty="0">
                <a:solidFill>
                  <a:schemeClr val="tx1"/>
                </a:solidFill>
                <a:effectLst/>
                <a:latin typeface="+mn-lt"/>
                <a:ea typeface="+mn-ea"/>
                <a:cs typeface="+mn-cs"/>
              </a:rPr>
              <a:t> Calculate true Free Cash Flow—not just accrued accounting EBITDA. </a:t>
            </a:r>
          </a:p>
          <a:p>
            <a:pPr lvl="0"/>
            <a:r>
              <a:rPr lang="en-US" sz="1200" b="1" kern="1200" dirty="0">
                <a:solidFill>
                  <a:schemeClr val="tx1"/>
                </a:solidFill>
                <a:effectLst/>
                <a:latin typeface="+mn-lt"/>
                <a:ea typeface="+mn-ea"/>
                <a:cs typeface="+mn-cs"/>
              </a:rPr>
              <a:t>Step 3 (Working Capital Holdback):</a:t>
            </a:r>
            <a:r>
              <a:rPr lang="en-US" sz="1200" kern="1200" dirty="0">
                <a:solidFill>
                  <a:schemeClr val="tx1"/>
                </a:solidFill>
                <a:effectLst/>
                <a:latin typeface="+mn-lt"/>
                <a:ea typeface="+mn-ea"/>
                <a:cs typeface="+mn-cs"/>
              </a:rPr>
              <a:t> Subtract necessary working capital reserves (which should be minimal if Float engineering was executed). </a:t>
            </a:r>
          </a:p>
          <a:p>
            <a:pPr lvl="0"/>
            <a:r>
              <a:rPr lang="en-US" sz="1200" b="1" kern="1200" dirty="0">
                <a:solidFill>
                  <a:schemeClr val="tx1"/>
                </a:solidFill>
                <a:effectLst/>
                <a:latin typeface="+mn-lt"/>
                <a:ea typeface="+mn-ea"/>
                <a:cs typeface="+mn-cs"/>
              </a:rPr>
              <a:t>Step 4 (Owner Wire):</a:t>
            </a:r>
            <a:r>
              <a:rPr lang="en-US" sz="1200" kern="1200" dirty="0">
                <a:solidFill>
                  <a:schemeClr val="tx1"/>
                </a:solidFill>
                <a:effectLst/>
                <a:latin typeface="+mn-lt"/>
                <a:ea typeface="+mn-ea"/>
                <a:cs typeface="+mn-cs"/>
              </a:rPr>
              <a:t> Wire 65–75% of remaining cash directly out of the business into the founder’s personal vault.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12</a:t>
            </a:fld>
            <a:endParaRPr lang="en-US"/>
          </a:p>
        </p:txBody>
      </p:sp>
    </p:spTree>
    <p:extLst>
      <p:ext uri="{BB962C8B-B14F-4D97-AF65-F5344CB8AC3E}">
        <p14:creationId xmlns:p14="http://schemas.microsoft.com/office/powerpoint/2010/main" val="2100815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How It Works:</a:t>
            </a:r>
            <a:r>
              <a:rPr lang="en-US" sz="1200" kern="1200" dirty="0">
                <a:solidFill>
                  <a:schemeClr val="tx1"/>
                </a:solidFill>
                <a:effectLst/>
                <a:latin typeface="+mn-lt"/>
                <a:ea typeface="+mn-ea"/>
                <a:cs typeface="+mn-cs"/>
              </a:rPr>
              <a:t> Once the company achieves 3 years of audited financials and &gt;$2M EBITDA, leverage a senior commercial bank loan (typically 3x EBITDA at 10–12%). </a:t>
            </a:r>
          </a:p>
          <a:p>
            <a:pPr lvl="0"/>
            <a:r>
              <a:rPr lang="en-US" sz="1200" b="1" kern="1200" dirty="0">
                <a:solidFill>
                  <a:schemeClr val="tx1"/>
                </a:solidFill>
                <a:effectLst/>
                <a:latin typeface="+mn-lt"/>
                <a:ea typeface="+mn-ea"/>
                <a:cs typeface="+mn-cs"/>
              </a:rPr>
              <a:t>Tax-Free Distribution:</a:t>
            </a:r>
            <a:r>
              <a:rPr lang="en-US" sz="1200" kern="1200" dirty="0">
                <a:solidFill>
                  <a:schemeClr val="tx1"/>
                </a:solidFill>
                <a:effectLst/>
                <a:latin typeface="+mn-lt"/>
                <a:ea typeface="+mn-ea"/>
                <a:cs typeface="+mn-cs"/>
              </a:rPr>
              <a:t> Distribute the loan proceeds directly to the founder as a tax-free capital return/dividend recapitalization. </a:t>
            </a:r>
          </a:p>
          <a:p>
            <a:pPr lvl="0"/>
            <a:r>
              <a:rPr lang="en-US" sz="1200" b="1" kern="1200" dirty="0">
                <a:solidFill>
                  <a:schemeClr val="tx1"/>
                </a:solidFill>
                <a:effectLst/>
                <a:latin typeface="+mn-lt"/>
                <a:ea typeface="+mn-ea"/>
                <a:cs typeface="+mn-cs"/>
              </a:rPr>
              <a:t>Corporate Tax Advantage:</a:t>
            </a:r>
            <a:r>
              <a:rPr lang="en-US" sz="1200" kern="1200" dirty="0">
                <a:solidFill>
                  <a:schemeClr val="tx1"/>
                </a:solidFill>
                <a:effectLst/>
                <a:latin typeface="+mn-lt"/>
                <a:ea typeface="+mn-ea"/>
                <a:cs typeface="+mn-cs"/>
              </a:rPr>
              <a:t> Interest payments on the bank loan act as a tax-deductible expense for the operating company, effectively lowering corporate tax exposure and reducing the net cost of debt to ~6–8%. </a:t>
            </a:r>
          </a:p>
          <a:p>
            <a:pPr lvl="0"/>
            <a:r>
              <a:rPr lang="en-US" sz="1200" b="1" kern="1200" dirty="0">
                <a:solidFill>
                  <a:schemeClr val="tx1"/>
                </a:solidFill>
                <a:effectLst/>
                <a:latin typeface="+mn-lt"/>
                <a:ea typeface="+mn-ea"/>
                <a:cs typeface="+mn-cs"/>
              </a:rPr>
              <a:t>Personal Protection:</a:t>
            </a:r>
            <a:r>
              <a:rPr lang="en-US" sz="1200" kern="1200" dirty="0">
                <a:solidFill>
                  <a:schemeClr val="tx1"/>
                </a:solidFill>
                <a:effectLst/>
                <a:latin typeface="+mn-lt"/>
                <a:ea typeface="+mn-ea"/>
                <a:cs typeface="+mn-cs"/>
              </a:rPr>
              <a:t> Executed properly at scale, these commercial facilities require zero personal guarantees.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13</a:t>
            </a:fld>
            <a:endParaRPr lang="en-US"/>
          </a:p>
        </p:txBody>
      </p:sp>
    </p:spTree>
    <p:extLst>
      <p:ext uri="{BB962C8B-B14F-4D97-AF65-F5344CB8AC3E}">
        <p14:creationId xmlns:p14="http://schemas.microsoft.com/office/powerpoint/2010/main" val="9612255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Strategy:</a:t>
            </a:r>
            <a:r>
              <a:rPr lang="en-US" sz="1200" kern="1200" dirty="0">
                <a:solidFill>
                  <a:schemeClr val="tx1"/>
                </a:solidFill>
                <a:effectLst/>
                <a:latin typeface="+mn-lt"/>
                <a:ea typeface="+mn-ea"/>
                <a:cs typeface="+mn-cs"/>
              </a:rPr>
              <a:t> Extracted wealth should never be reinvested back into inventory or risky operational bets. Use systematic Dollar-Cost Averaging (DCA) into broad index funds to decouple personal net worth from e-commerce operational risk. </a:t>
            </a:r>
          </a:p>
          <a:p>
            <a:pPr lvl="0"/>
            <a:r>
              <a:rPr lang="en-US" sz="1200" b="1" kern="1200" dirty="0">
                <a:solidFill>
                  <a:schemeClr val="tx1"/>
                </a:solidFill>
                <a:effectLst/>
                <a:latin typeface="+mn-lt"/>
                <a:ea typeface="+mn-ea"/>
                <a:cs typeface="+mn-cs"/>
              </a:rPr>
              <a:t>The Math:</a:t>
            </a:r>
            <a:r>
              <a:rPr lang="en-US" sz="1200" kern="1200" dirty="0">
                <a:solidFill>
                  <a:schemeClr val="tx1"/>
                </a:solidFill>
                <a:effectLst/>
                <a:latin typeface="+mn-lt"/>
                <a:ea typeface="+mn-ea"/>
                <a:cs typeface="+mn-cs"/>
              </a:rPr>
              <a:t> Extracting $50k/month into index funds over 10 years equals $6M invested, compounding into ~$12M of liquid, personal wealth independent of your business. </a:t>
            </a:r>
          </a:p>
          <a:p>
            <a:pPr lvl="0"/>
            <a:r>
              <a:rPr lang="en-US" sz="1200" b="1" kern="1200" dirty="0">
                <a:solidFill>
                  <a:schemeClr val="tx1"/>
                </a:solidFill>
                <a:effectLst/>
                <a:latin typeface="+mn-lt"/>
                <a:ea typeface="+mn-ea"/>
                <a:cs typeface="+mn-cs"/>
              </a:rPr>
              <a:t>Principle:</a:t>
            </a:r>
            <a:r>
              <a:rPr lang="en-US" sz="1200" kern="1200" dirty="0">
                <a:solidFill>
                  <a:schemeClr val="tx1"/>
                </a:solidFill>
                <a:effectLst/>
                <a:latin typeface="+mn-lt"/>
                <a:ea typeface="+mn-ea"/>
                <a:cs typeface="+mn-cs"/>
              </a:rPr>
              <a:t> The business exists to fund your life—not consume your personal net worth.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14</a:t>
            </a:fld>
            <a:endParaRPr lang="en-US"/>
          </a:p>
        </p:txBody>
      </p:sp>
    </p:spTree>
    <p:extLst>
      <p:ext uri="{BB962C8B-B14F-4D97-AF65-F5344CB8AC3E}">
        <p14:creationId xmlns:p14="http://schemas.microsoft.com/office/powerpoint/2010/main" val="26801243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Summary of Actions:</a:t>
            </a:r>
            <a:r>
              <a:rPr lang="en-US" sz="1200" kern="1200" dirty="0">
                <a:solidFill>
                  <a:schemeClr val="tx1"/>
                </a:solidFill>
                <a:effectLst/>
                <a:latin typeface="+mn-lt"/>
                <a:ea typeface="+mn-ea"/>
                <a:cs typeface="+mn-cs"/>
              </a:rPr>
              <a:t> To recap our execution roadmap: </a:t>
            </a:r>
          </a:p>
          <a:p>
            <a:pPr marL="228600" lvl="0" indent="-228600">
              <a:buFont typeface="+mj-lt"/>
              <a:buAutoNum type="arabicPeriod"/>
            </a:pPr>
            <a:r>
              <a:rPr lang="en-US" sz="1200" i="1" kern="1200" dirty="0">
                <a:solidFill>
                  <a:schemeClr val="tx1"/>
                </a:solidFill>
                <a:effectLst/>
                <a:latin typeface="+mn-lt"/>
                <a:ea typeface="+mn-ea"/>
                <a:cs typeface="+mn-cs"/>
              </a:rPr>
              <a:t>BOM:</a:t>
            </a:r>
            <a:r>
              <a:rPr lang="en-US" sz="1200" kern="1200" dirty="0">
                <a:solidFill>
                  <a:schemeClr val="tx1"/>
                </a:solidFill>
                <a:effectLst/>
                <a:latin typeface="+mn-lt"/>
                <a:ea typeface="+mn-ea"/>
                <a:cs typeface="+mn-cs"/>
              </a:rPr>
              <a:t> Map every SKU down to raw materials and sub-vendors. </a:t>
            </a:r>
          </a:p>
          <a:p>
            <a:pPr marL="228600" lvl="0" indent="-228600">
              <a:buFont typeface="+mj-lt"/>
              <a:buAutoNum type="arabicPeriod"/>
            </a:pPr>
            <a:r>
              <a:rPr lang="en-US" sz="1200" i="1" kern="1200" dirty="0">
                <a:solidFill>
                  <a:schemeClr val="tx1"/>
                </a:solidFill>
                <a:effectLst/>
                <a:latin typeface="+mn-lt"/>
                <a:ea typeface="+mn-ea"/>
                <a:cs typeface="+mn-cs"/>
              </a:rPr>
              <a:t>Float:</a:t>
            </a:r>
            <a:r>
              <a:rPr lang="en-US" sz="1200" kern="1200" dirty="0">
                <a:solidFill>
                  <a:schemeClr val="tx1"/>
                </a:solidFill>
                <a:effectLst/>
                <a:latin typeface="+mn-lt"/>
                <a:ea typeface="+mn-ea"/>
                <a:cs typeface="+mn-cs"/>
              </a:rPr>
              <a:t> Obtain </a:t>
            </a:r>
            <a:r>
              <a:rPr lang="en-US" sz="1200" kern="1200" dirty="0" err="1">
                <a:solidFill>
                  <a:schemeClr val="tx1"/>
                </a:solidFill>
                <a:effectLst/>
                <a:latin typeface="+mn-lt"/>
                <a:ea typeface="+mn-ea"/>
                <a:cs typeface="+mn-cs"/>
              </a:rPr>
              <a:t>Sinosure</a:t>
            </a:r>
            <a:r>
              <a:rPr lang="en-US" sz="1200" kern="1200" dirty="0">
                <a:solidFill>
                  <a:schemeClr val="tx1"/>
                </a:solidFill>
                <a:effectLst/>
                <a:latin typeface="+mn-lt"/>
                <a:ea typeface="+mn-ea"/>
                <a:cs typeface="+mn-cs"/>
              </a:rPr>
              <a:t> credit audits and target 90+ day terms. </a:t>
            </a:r>
          </a:p>
          <a:p>
            <a:pPr marL="228600" lvl="0" indent="-228600">
              <a:buFont typeface="+mj-lt"/>
              <a:buAutoNum type="arabicPeriod"/>
            </a:pPr>
            <a:r>
              <a:rPr lang="en-US" sz="1200" i="1" kern="1200" dirty="0">
                <a:solidFill>
                  <a:schemeClr val="tx1"/>
                </a:solidFill>
                <a:effectLst/>
                <a:latin typeface="+mn-lt"/>
                <a:ea typeface="+mn-ea"/>
                <a:cs typeface="+mn-cs"/>
              </a:rPr>
              <a:t>Growth:</a:t>
            </a:r>
            <a:r>
              <a:rPr lang="en-US" sz="1200" kern="1200" dirty="0">
                <a:solidFill>
                  <a:schemeClr val="tx1"/>
                </a:solidFill>
                <a:effectLst/>
                <a:latin typeface="+mn-lt"/>
                <a:ea typeface="+mn-ea"/>
                <a:cs typeface="+mn-cs"/>
              </a:rPr>
              <a:t> Match high-performing ad sequences visually to custom landing pages. </a:t>
            </a:r>
          </a:p>
          <a:p>
            <a:pPr marL="228600" lvl="0" indent="-228600">
              <a:buFont typeface="+mj-lt"/>
              <a:buAutoNum type="arabicPeriod"/>
            </a:pPr>
            <a:r>
              <a:rPr lang="en-US" sz="1200" i="1" kern="1200" dirty="0">
                <a:solidFill>
                  <a:schemeClr val="tx1"/>
                </a:solidFill>
                <a:effectLst/>
                <a:latin typeface="+mn-lt"/>
                <a:ea typeface="+mn-ea"/>
                <a:cs typeface="+mn-cs"/>
              </a:rPr>
              <a:t>Operations:</a:t>
            </a:r>
            <a:r>
              <a:rPr lang="en-US" sz="1200" kern="1200" dirty="0">
                <a:solidFill>
                  <a:schemeClr val="tx1"/>
                </a:solidFill>
                <a:effectLst/>
                <a:latin typeface="+mn-lt"/>
                <a:ea typeface="+mn-ea"/>
                <a:cs typeface="+mn-cs"/>
              </a:rPr>
              <a:t> Enforce daily P&amp;L transparency and public variance explanations. </a:t>
            </a:r>
          </a:p>
          <a:p>
            <a:pPr marL="228600" lvl="0" indent="-228600">
              <a:buFont typeface="+mj-lt"/>
              <a:buAutoNum type="arabicPeriod"/>
            </a:pPr>
            <a:r>
              <a:rPr lang="en-US" sz="1200" i="1" kern="1200" dirty="0">
                <a:solidFill>
                  <a:schemeClr val="tx1"/>
                </a:solidFill>
                <a:effectLst/>
                <a:latin typeface="+mn-lt"/>
                <a:ea typeface="+mn-ea"/>
                <a:cs typeface="+mn-cs"/>
              </a:rPr>
              <a:t>Wealth:</a:t>
            </a:r>
            <a:r>
              <a:rPr lang="en-US" sz="1200" kern="1200" dirty="0">
                <a:solidFill>
                  <a:schemeClr val="tx1"/>
                </a:solidFill>
                <a:effectLst/>
                <a:latin typeface="+mn-lt"/>
                <a:ea typeface="+mn-ea"/>
                <a:cs typeface="+mn-cs"/>
              </a:rPr>
              <a:t> Close books by the 15th and wire 70% of Free Cash Flow to your personal accounts. </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15</a:t>
            </a:fld>
            <a:endParaRPr lang="en-US"/>
          </a:p>
        </p:txBody>
      </p:sp>
    </p:spTree>
    <p:extLst>
      <p:ext uri="{BB962C8B-B14F-4D97-AF65-F5344CB8AC3E}">
        <p14:creationId xmlns:p14="http://schemas.microsoft.com/office/powerpoint/2010/main" val="41171268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Final Synthesis:</a:t>
            </a:r>
            <a:r>
              <a:rPr lang="en-US" sz="1200" kern="1200" dirty="0">
                <a:solidFill>
                  <a:schemeClr val="tx1"/>
                </a:solidFill>
                <a:effectLst/>
                <a:latin typeface="+mn-lt"/>
                <a:ea typeface="+mn-ea"/>
                <a:cs typeface="+mn-cs"/>
              </a:rPr>
              <a:t> This summary graphic ties together everything we discussed today. </a:t>
            </a:r>
          </a:p>
          <a:p>
            <a:pPr lvl="0"/>
            <a:r>
              <a:rPr lang="en-US" sz="1200" b="1" kern="1200" dirty="0">
                <a:solidFill>
                  <a:schemeClr val="tx1"/>
                </a:solidFill>
                <a:effectLst/>
                <a:latin typeface="+mn-lt"/>
                <a:ea typeface="+mn-ea"/>
                <a:cs typeface="+mn-cs"/>
              </a:rPr>
              <a:t>Key Takeaway 1:</a:t>
            </a:r>
            <a:r>
              <a:rPr lang="en-US" sz="1200" kern="1200" dirty="0">
                <a:solidFill>
                  <a:schemeClr val="tx1"/>
                </a:solidFill>
                <a:effectLst/>
                <a:latin typeface="+mn-lt"/>
                <a:ea typeface="+mn-ea"/>
                <a:cs typeface="+mn-cs"/>
              </a:rPr>
              <a:t> Master the Bill of Materials to unlock true margin visibility and negotiate volume breaks directly with sub-suppliers. </a:t>
            </a:r>
          </a:p>
          <a:p>
            <a:pPr lvl="0"/>
            <a:r>
              <a:rPr lang="en-US" sz="1200" b="1" kern="1200" dirty="0">
                <a:solidFill>
                  <a:schemeClr val="tx1"/>
                </a:solidFill>
                <a:effectLst/>
                <a:latin typeface="+mn-lt"/>
                <a:ea typeface="+mn-ea"/>
                <a:cs typeface="+mn-cs"/>
              </a:rPr>
              <a:t>Key Takeaway 2:</a:t>
            </a:r>
            <a:r>
              <a:rPr lang="en-US" sz="1200" kern="1200" dirty="0">
                <a:solidFill>
                  <a:schemeClr val="tx1"/>
                </a:solidFill>
                <a:effectLst/>
                <a:latin typeface="+mn-lt"/>
                <a:ea typeface="+mn-ea"/>
                <a:cs typeface="+mn-cs"/>
              </a:rPr>
              <a:t> Engineer a 60-day positive cash float so that production finishes and sales occur before supplier invoices come due. </a:t>
            </a:r>
          </a:p>
          <a:p>
            <a:pPr lvl="0"/>
            <a:r>
              <a:rPr lang="en-US" sz="1200" b="1" kern="1200" dirty="0">
                <a:solidFill>
                  <a:schemeClr val="tx1"/>
                </a:solidFill>
                <a:effectLst/>
                <a:latin typeface="+mn-lt"/>
                <a:ea typeface="+mn-ea"/>
                <a:cs typeface="+mn-cs"/>
              </a:rPr>
              <a:t>Key Takeaway 3:</a:t>
            </a:r>
            <a:r>
              <a:rPr lang="en-US" sz="1200" kern="1200" dirty="0">
                <a:solidFill>
                  <a:schemeClr val="tx1"/>
                </a:solidFill>
                <a:effectLst/>
                <a:latin typeface="+mn-lt"/>
                <a:ea typeface="+mn-ea"/>
                <a:cs typeface="+mn-cs"/>
              </a:rPr>
              <a:t> Operate with a distribution-first mentality: systematically extract 65–75% of monthly free cash flow by the 15th of every month. </a:t>
            </a:r>
          </a:p>
          <a:p>
            <a:pPr lvl="0"/>
            <a:r>
              <a:rPr lang="en-US" sz="1200" b="1" kern="1200" dirty="0">
                <a:solidFill>
                  <a:schemeClr val="tx1"/>
                </a:solidFill>
                <a:effectLst/>
                <a:latin typeface="+mn-lt"/>
                <a:ea typeface="+mn-ea"/>
                <a:cs typeface="+mn-cs"/>
              </a:rPr>
              <a:t>Closing Quote:</a:t>
            </a:r>
            <a:r>
              <a:rPr lang="en-US" sz="1200" kern="1200" dirty="0">
                <a:solidFill>
                  <a:schemeClr val="tx1"/>
                </a:solidFill>
                <a:effectLst/>
                <a:latin typeface="+mn-lt"/>
                <a:ea typeface="+mn-ea"/>
                <a:cs typeface="+mn-cs"/>
              </a:rPr>
              <a:t> Remember Roman Khan’s core principle: Transform your supply chain into a high-cash-flow vehicle, turn your suppliers into your bank, and build true wealth without ever having to sell your company.</a:t>
            </a:r>
          </a:p>
          <a:p>
            <a:endParaRPr lang="en-US" dirty="0"/>
          </a:p>
        </p:txBody>
      </p:sp>
      <p:sp>
        <p:nvSpPr>
          <p:cNvPr id="4" name="Slide Number Placeholder 3"/>
          <p:cNvSpPr>
            <a:spLocks noGrp="1"/>
          </p:cNvSpPr>
          <p:nvPr>
            <p:ph type="sldNum" sz="quarter" idx="5"/>
          </p:nvPr>
        </p:nvSpPr>
        <p:spPr/>
        <p:txBody>
          <a:bodyPr/>
          <a:lstStyle/>
          <a:p>
            <a:fld id="{19F5EBCC-8BE8-4348-9D84-806195D98B07}" type="slidenum">
              <a:rPr lang="en-US" smtClean="0"/>
              <a:t>16</a:t>
            </a:fld>
            <a:endParaRPr lang="en-US"/>
          </a:p>
        </p:txBody>
      </p:sp>
    </p:spTree>
    <p:extLst>
      <p:ext uri="{BB962C8B-B14F-4D97-AF65-F5344CB8AC3E}">
        <p14:creationId xmlns:p14="http://schemas.microsoft.com/office/powerpoint/2010/main" val="3913836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2AE68D-44E5-CA79-3027-17FCD19B9C2E}"/>
              </a:ext>
            </a:extLst>
          </p:cNvPr>
          <p:cNvSpPr>
            <a:spLocks noGrp="1"/>
          </p:cNvSpPr>
          <p:nvPr>
            <p:ph type="dt" sz="half" idx="10"/>
          </p:nvPr>
        </p:nvSpPr>
        <p:spPr/>
        <p:txBody>
          <a:bodyPr/>
          <a:lstStyle/>
          <a:p>
            <a:fld id="{0C773EC3-0E63-47F5-AA50-43F9EFA3433A}" type="datetimeFigureOut">
              <a:rPr lang="en-US" smtClean="0"/>
              <a:t>10/21/2026</a:t>
            </a:fld>
            <a:endParaRPr lang="en-US"/>
          </a:p>
        </p:txBody>
      </p:sp>
      <p:sp>
        <p:nvSpPr>
          <p:cNvPr id="3" name="Footer Placeholder 2">
            <a:extLst>
              <a:ext uri="{FF2B5EF4-FFF2-40B4-BE49-F238E27FC236}">
                <a16:creationId xmlns:a16="http://schemas.microsoft.com/office/drawing/2014/main" id="{7AF796A4-FF45-70AE-874B-B7AC128BB3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1E445A-FA9F-99E0-2755-915B56B1C33D}"/>
              </a:ext>
            </a:extLst>
          </p:cNvPr>
          <p:cNvSpPr>
            <a:spLocks noGrp="1"/>
          </p:cNvSpPr>
          <p:nvPr>
            <p:ph type="sldNum" sz="quarter" idx="12"/>
          </p:nvPr>
        </p:nvSpPr>
        <p:spPr/>
        <p:txBody>
          <a:bodyPr/>
          <a:lstStyle/>
          <a:p>
            <a:fld id="{94CA8843-EC56-4824-B17F-63512B74A804}" type="slidenum">
              <a:rPr lang="en-US" smtClean="0"/>
              <a:t>‹#›</a:t>
            </a:fld>
            <a:endParaRPr lang="en-US"/>
          </a:p>
        </p:txBody>
      </p:sp>
    </p:spTree>
    <p:extLst>
      <p:ext uri="{BB962C8B-B14F-4D97-AF65-F5344CB8AC3E}">
        <p14:creationId xmlns:p14="http://schemas.microsoft.com/office/powerpoint/2010/main" val="4493930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BE65BB-3BA5-49DF-7167-A7C6BBE39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C1A6D-AD21-B953-DF11-1BD4D76F99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4CBF09-F0BA-CE4D-EE17-172B05716E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773EC3-0E63-47F5-AA50-43F9EFA3433A}" type="datetimeFigureOut">
              <a:rPr lang="en-US" smtClean="0"/>
              <a:t>10/21/2026</a:t>
            </a:fld>
            <a:endParaRPr lang="en-US"/>
          </a:p>
        </p:txBody>
      </p:sp>
      <p:sp>
        <p:nvSpPr>
          <p:cNvPr id="5" name="Footer Placeholder 4">
            <a:extLst>
              <a:ext uri="{FF2B5EF4-FFF2-40B4-BE49-F238E27FC236}">
                <a16:creationId xmlns:a16="http://schemas.microsoft.com/office/drawing/2014/main" id="{88E3199A-E236-CD3D-CA55-483AEEF7B4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0F0A74-F589-26E7-050D-D397FF4435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CA8843-EC56-4824-B17F-63512B74A804}" type="slidenum">
              <a:rPr lang="en-US" smtClean="0"/>
              <a:t>‹#›</a:t>
            </a:fld>
            <a:endParaRPr lang="en-US"/>
          </a:p>
        </p:txBody>
      </p:sp>
    </p:spTree>
    <p:extLst>
      <p:ext uri="{BB962C8B-B14F-4D97-AF65-F5344CB8AC3E}">
        <p14:creationId xmlns:p14="http://schemas.microsoft.com/office/powerpoint/2010/main" val="332723814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D02AC40-132B-FD92-4791-36DD8705661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479A5B-5CAB-EAC8-44A0-ED767D3810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640D99-2F31-B4E6-EE3C-10BCD2D5AF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CBE47E-C5C9-9261-B1B0-B10DC3956B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F8F60D-174B-AC96-D0EA-B46FC9D856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A6F9E8-3DD0-7C3C-9027-B5367ECBD1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AE085B-F1BC-A02E-C2F9-6A981C1254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26689D-76DA-B5FA-AD75-150FAAFADC9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270CE2-0507-5BAC-1114-8D73A7C467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CD7EFA-BFC8-AF6C-E4E4-0BC57943BA5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F73243-A837-0EFE-D8AF-A5DC9D4476D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EFF229-A7B7-D01B-231B-003103DE1C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E3C1B0-BABA-39FB-EBC0-F7682D35E4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CEA8E3-97AE-A069-DE30-7C006842B4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BB237E-5058-ED25-448A-A0CE8E58C9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6B4B7F-A577-FFDB-D51D-4E5DA32E2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728366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1965</Words>
  <Application>Microsoft Office PowerPoint</Application>
  <PresentationFormat>寬螢幕</PresentationFormat>
  <Paragraphs>90</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2026-09-04T10:30:04Z</dcterms:created>
  <dcterms:modified xsi:type="dcterms:W3CDTF">2026-10-21T02:45:14Z</dcterms:modified>
</cp:coreProperties>
</file>