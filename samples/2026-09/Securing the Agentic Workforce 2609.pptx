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00181-9DC7-44D0-9CDF-6D0D090894E0}" v="18" dt="2026-09-05T04:54:43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9-05T06:33:31.649" v="57" actId="22"/>
      <pc:docMkLst>
        <pc:docMk/>
      </pc:docMkLst>
      <pc:sldChg chg="addSp delSp modSp mod modNotes modNotesTx">
        <pc:chgData name="Lai, Wilson" userId="2840974a-0d84-4886-90a9-9a3ed79f3a48" providerId="ADAL" clId="{9F23B798-9E84-4552-BA63-E776E805C424}" dt="2026-09-05T06:29:55.670" v="29" actId="22"/>
        <pc:sldMkLst>
          <pc:docMk/>
          <pc:sldMk cId="0" sldId="257"/>
        </pc:sldMkLst>
        <pc:spChg chg="mod">
          <ac:chgData name="Lai, Wilson" userId="2840974a-0d84-4886-90a9-9a3ed79f3a48" providerId="ADAL" clId="{9F23B798-9E84-4552-BA63-E776E805C424}" dt="2026-09-05T04:55:28.886" v="26" actId="20577"/>
          <ac:spMkLst>
            <pc:docMk/>
            <pc:sldMk cId="0" sldId="257"/>
            <ac:spMk id="5" creationId="{B0229B54-485E-D970-B6BE-3B6F33FBD7A4}"/>
          </ac:spMkLst>
        </pc:spChg>
        <pc:grpChg chg="mod">
          <ac:chgData name="Lai, Wilson" userId="2840974a-0d84-4886-90a9-9a3ed79f3a48" providerId="ADAL" clId="{9F23B798-9E84-4552-BA63-E776E805C424}" dt="2026-09-05T04:55:11.491" v="25" actId="1076"/>
          <ac:grpSpMkLst>
            <pc:docMk/>
            <pc:sldMk cId="0" sldId="257"/>
            <ac:grpSpMk id="6" creationId="{1EF45211-E369-BC9F-3C81-8BBD9671E335}"/>
          </ac:grpSpMkLst>
        </pc:grpChg>
        <pc:picChg chg="del mod">
          <ac:chgData name="Lai, Wilson" userId="2840974a-0d84-4886-90a9-9a3ed79f3a48" providerId="ADAL" clId="{9F23B798-9E84-4552-BA63-E776E805C424}" dt="2026-09-05T06:27:19.461" v="28" actId="21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Lai, Wilson" userId="2840974a-0d84-4886-90a9-9a3ed79f3a48" providerId="ADAL" clId="{9F23B798-9E84-4552-BA63-E776E805C424}" dt="2026-09-05T04:55:33.528" v="27" actId="1076"/>
          <ac:picMkLst>
            <pc:docMk/>
            <pc:sldMk cId="0" sldId="257"/>
            <ac:picMk id="3" creationId="{A5D9BDBF-16FA-5D1E-ABD7-9F937811A6F9}"/>
          </ac:picMkLst>
        </pc:picChg>
        <pc:picChg chg="add">
          <ac:chgData name="Lai, Wilson" userId="2840974a-0d84-4886-90a9-9a3ed79f3a48" providerId="ADAL" clId="{9F23B798-9E84-4552-BA63-E776E805C424}" dt="2026-09-05T06:29:55.670" v="29" actId="22"/>
          <ac:picMkLst>
            <pc:docMk/>
            <pc:sldMk cId="0" sldId="257"/>
            <ac:picMk id="7" creationId="{399F01A8-7F57-6F3D-4D3B-3D40E21FE2C8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0:10.845" v="31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05T06:30:00.896" v="30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0:10.845" v="31" actId="22"/>
          <ac:picMkLst>
            <pc:docMk/>
            <pc:sldMk cId="0" sldId="258"/>
            <ac:picMk id="4" creationId="{E867D58D-0299-07E5-B8FB-55B0ADD11171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0:22.546" v="33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5T06:30:13.011" v="32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0:22.546" v="33" actId="22"/>
          <ac:picMkLst>
            <pc:docMk/>
            <pc:sldMk cId="0" sldId="259"/>
            <ac:picMk id="4" creationId="{259293E2-59E9-1509-3DFA-C0815B70D169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0:49.524" v="35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05T06:30:24.529" v="34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0:49.524" v="35" actId="22"/>
          <ac:picMkLst>
            <pc:docMk/>
            <pc:sldMk cId="0" sldId="260"/>
            <ac:picMk id="4" creationId="{499B65A6-73D3-1FEE-20C1-16C933A7C8EB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1:14.159" v="37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5T06:31:04.061" v="36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1:14.159" v="37" actId="22"/>
          <ac:picMkLst>
            <pc:docMk/>
            <pc:sldMk cId="0" sldId="261"/>
            <ac:picMk id="4" creationId="{461CB1F5-64EF-8B71-FD5B-F2002909B474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5T06:31:36.668" v="39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5T06:31:26.875" v="38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1:36.668" v="39" actId="22"/>
          <ac:picMkLst>
            <pc:docMk/>
            <pc:sldMk cId="0" sldId="262"/>
            <ac:picMk id="4" creationId="{804560A3-46E0-A045-C9F1-C7C25A19B29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5T06:32:10.301" v="41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5T06:32:02.645" v="40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2:10.301" v="41" actId="22"/>
          <ac:picMkLst>
            <pc:docMk/>
            <pc:sldMk cId="0" sldId="263"/>
            <ac:picMk id="4" creationId="{5320E33D-3101-BA9B-0E43-8E3F980FA0A0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5T06:32:19.284" v="43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5T06:32:11.843" v="42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2:19.284" v="43" actId="22"/>
          <ac:picMkLst>
            <pc:docMk/>
            <pc:sldMk cId="0" sldId="264"/>
            <ac:picMk id="4" creationId="{D5E0F500-FA8C-C59D-E49A-F60189177579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2:28.492" v="45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05T06:32:21.183" v="44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2:28.492" v="45" actId="22"/>
          <ac:picMkLst>
            <pc:docMk/>
            <pc:sldMk cId="0" sldId="265"/>
            <ac:picMk id="4" creationId="{A8D5FD95-9934-2315-E733-8358816A4075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2:38.991" v="47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5T06:32:31.994" v="46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2:38.991" v="47" actId="22"/>
          <ac:picMkLst>
            <pc:docMk/>
            <pc:sldMk cId="0" sldId="266"/>
            <ac:picMk id="4" creationId="{5C155A6F-A542-3C0E-1841-4D0D891AA4A4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5T06:32:47.924" v="49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5T06:32:40.985" v="48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2:47.924" v="49" actId="22"/>
          <ac:picMkLst>
            <pc:docMk/>
            <pc:sldMk cId="0" sldId="267"/>
            <ac:picMk id="4" creationId="{490D13A5-143F-B854-47E3-7E6550ACE5A0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3:00.230" v="51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05T06:32:51.222" v="50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3:00.230" v="51" actId="22"/>
          <ac:picMkLst>
            <pc:docMk/>
            <pc:sldMk cId="0" sldId="268"/>
            <ac:picMk id="4" creationId="{6A115855-2695-521C-205A-CC5641E40BC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5T06:33:11.442" v="53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05T06:33:02.895" v="52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3:11.442" v="53" actId="22"/>
          <ac:picMkLst>
            <pc:docMk/>
            <pc:sldMk cId="0" sldId="269"/>
            <ac:picMk id="4" creationId="{769D31F6-BA4A-8304-32AB-59FF558030A9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3:21.669" v="55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05T06:33:13.040" v="54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3:21.669" v="55" actId="22"/>
          <ac:picMkLst>
            <pc:docMk/>
            <pc:sldMk cId="0" sldId="270"/>
            <ac:picMk id="4" creationId="{75F1431E-2C3F-E476-BFA3-8EFDC41329B4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5T06:33:31.649" v="57" actId="2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05T06:33:23.681" v="56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6:33:31.649" v="57" actId="22"/>
          <ac:picMkLst>
            <pc:docMk/>
            <pc:sldMk cId="0" sldId="271"/>
            <ac:picMk id="4" creationId="{9ED1F478-86B1-1C95-7159-779E7DBAFFB4}"/>
          </ac:picMkLst>
        </pc:picChg>
      </pc:sldChg>
      <pc:sldChg chg="modNotes modNotesTx">
        <pc:chgData name="Lai, Wilson" userId="2840974a-0d84-4886-90a9-9a3ed79f3a48" providerId="ADAL" clId="{9F23B798-9E84-4552-BA63-E776E805C424}" dt="2026-09-05T04:54:43.628" v="20"/>
        <pc:sldMkLst>
          <pc:docMk/>
          <pc:sldMk cId="54509553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2CEAD-0C01-4A41-A950-1BCA5EC80F3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E9FA7-CBCD-45A5-A2BD-CF166CCD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7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Opening / Hook:</a:t>
            </a:r>
            <a:r>
              <a:rPr lang="en-US" dirty="0"/>
              <a:t> Good morning, everyone. Today, we are standing at the threshold of one of the largest structural shifts in cybersecurity and enterprise operations over the past decade.</a:t>
            </a:r>
          </a:p>
          <a:p>
            <a:pPr lvl="0"/>
            <a:r>
              <a:rPr lang="en-US" b="1" dirty="0"/>
              <a:t>Core Concept:</a:t>
            </a:r>
            <a:r>
              <a:rPr lang="en-US" dirty="0"/>
              <a:t> As shown on the slide, the AI market isn't just about buildout and model training anymore—it represents a </a:t>
            </a:r>
            <a:r>
              <a:rPr lang="en-US" b="1" dirty="0"/>
              <a:t>$33 Billion AI Security Opportunity</a:t>
            </a:r>
            <a:r>
              <a:rPr lang="en-US" dirty="0"/>
              <a:t>. The fundamental shift taking place is moving from </a:t>
            </a:r>
            <a:r>
              <a:rPr lang="en-US" i="1" dirty="0"/>
              <a:t>managing security tools</a:t>
            </a:r>
            <a:r>
              <a:rPr lang="en-US" dirty="0"/>
              <a:t> to </a:t>
            </a:r>
            <a:r>
              <a:rPr lang="en-US" i="1" dirty="0"/>
              <a:t>governing an entire autonomous digital workforce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Current vs. Future State: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i="1" dirty="0"/>
              <a:t>Current State:</a:t>
            </a:r>
            <a:r>
              <a:rPr lang="en-US" dirty="0"/>
              <a:t> We operate with siloed security software, reactive responses, and fragmented controls.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i="1" dirty="0"/>
              <a:t>Future State:</a:t>
            </a:r>
            <a:r>
              <a:rPr lang="en-US" dirty="0"/>
              <a:t> We are migrating toward a </a:t>
            </a:r>
            <a:r>
              <a:rPr lang="en-US" b="1" dirty="0"/>
              <a:t>unified, proactive governance framework</a:t>
            </a:r>
            <a:r>
              <a:rPr lang="en-US" dirty="0"/>
              <a:t> built around autonomous agents, standard AI collaboration, and strategic risk management.</a:t>
            </a:r>
          </a:p>
          <a:p>
            <a:pPr lvl="0"/>
            <a:r>
              <a:rPr lang="en-US" b="1" dirty="0"/>
              <a:t>Strategic Value Drivers:</a:t>
            </a:r>
            <a:r>
              <a:rPr lang="en-US" dirty="0"/>
              <a:t> Notice the table on the right. Moving to proactive AI security drives three tangible outcomes: proactive threat defense, automated compliance, and secure AI deployment. The risk reduction isn't marginal—it dramatically minimizes data breach exposure, lowers regulatory penalties, and mitigates model poisoning.</a:t>
            </a:r>
          </a:p>
          <a:p>
            <a:pPr lvl="0"/>
            <a:r>
              <a:rPr lang="en-US" b="1" dirty="0"/>
              <a:t>Transition to Slide 2:</a:t>
            </a:r>
            <a:r>
              <a:rPr lang="en-US" dirty="0"/>
              <a:t> To understand why this security market is exploding, let’s first look at how the role of AI inside our enterprises has fundamentally transformed.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https://www.youtube.com/watch?v=pWlfN0_fVmg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40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Talking Points:</a:t>
            </a:r>
            <a:r>
              <a:rPr lang="en-US" dirty="0"/>
              <a:t> Up until recently, our interaction with AI has been tool-centric. We asked AI tools to perform narrow tasks: summarize documents, analyze structured datasets, or take notes during video conferences.</a:t>
            </a:r>
          </a:p>
          <a:p>
            <a:pPr lvl="0"/>
            <a:r>
              <a:rPr lang="en-US" b="1" dirty="0"/>
              <a:t>The Paradigm Shift:</a:t>
            </a:r>
            <a:r>
              <a:rPr lang="en-US" dirty="0"/>
              <a:t> However, we are now entering the era of </a:t>
            </a:r>
            <a:r>
              <a:rPr lang="en-US" b="1" dirty="0"/>
              <a:t>Agentic AI</a:t>
            </a:r>
            <a:r>
              <a:rPr lang="en-US" dirty="0"/>
              <a:t>. AI tools are transitioning into a </a:t>
            </a:r>
            <a:r>
              <a:rPr lang="en-US" i="1" dirty="0"/>
              <a:t>Digital Workforce</a:t>
            </a:r>
            <a:r>
              <a:rPr lang="en-US" dirty="0"/>
              <a:t>. They operate autonomously and act directly on our behalf across various corporate applications.</a:t>
            </a:r>
          </a:p>
          <a:p>
            <a:pPr lvl="0"/>
            <a:r>
              <a:rPr lang="en-US" b="1" dirty="0"/>
              <a:t>Key Takeaway:</a:t>
            </a:r>
            <a:r>
              <a:rPr lang="en-US" dirty="0"/>
              <a:t> As emphasized in the bottom callout: </a:t>
            </a:r>
            <a:r>
              <a:rPr lang="en-US" b="1" dirty="0"/>
              <a:t>The security challenge has fundamentally shifted from answering questions to executing actions.</a:t>
            </a:r>
            <a:r>
              <a:rPr lang="en-US" dirty="0"/>
              <a:t> When a system shifts from passively generating text to triggering API calls, executing workflows, and modifying databases, standard 'tool management' security models completely fall apart.</a:t>
            </a:r>
          </a:p>
          <a:p>
            <a:pPr lvl="0"/>
            <a:r>
              <a:rPr lang="en-US" b="1" dirty="0"/>
              <a:t>Transition to Slide 3:</a:t>
            </a:r>
            <a:r>
              <a:rPr lang="en-US" dirty="0"/>
              <a:t> To grasp the sheer scale of this challenge, let's examine the mathematical explosion of identities entering our network environments.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72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Data Point Analysis:</a:t>
            </a:r>
            <a:r>
              <a:rPr lang="en-US" dirty="0"/>
              <a:t> Look at the visual ratio on this slide. For every single </a:t>
            </a:r>
            <a:r>
              <a:rPr lang="en-US" b="1" dirty="0"/>
              <a:t>1 Human Employee</a:t>
            </a:r>
            <a:r>
              <a:rPr lang="en-US" dirty="0"/>
              <a:t> added to an enterprise today, security architectures will soon have to manage </a:t>
            </a:r>
            <a:r>
              <a:rPr lang="en-US" b="1" dirty="0"/>
              <a:t>188 Non-Human Machine/AI Identities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Breakdown:</a:t>
            </a:r>
            <a:r>
              <a:rPr lang="en-US" dirty="0"/>
              <a:t> That ratio consists of </a:t>
            </a:r>
            <a:r>
              <a:rPr lang="en-US" b="1" dirty="0"/>
              <a:t>79 Autonomous AI Agents</a:t>
            </a:r>
            <a:r>
              <a:rPr lang="en-US" dirty="0"/>
              <a:t> and </a:t>
            </a:r>
            <a:r>
              <a:rPr lang="en-US" b="1" dirty="0"/>
              <a:t>109 Machine Identities</a:t>
            </a:r>
            <a:r>
              <a:rPr lang="en-US" dirty="0"/>
              <a:t> per human worker.</a:t>
            </a:r>
          </a:p>
          <a:p>
            <a:pPr lvl="0"/>
            <a:r>
              <a:rPr lang="en-US" b="1" dirty="0"/>
              <a:t>Contextual Framing:</a:t>
            </a:r>
            <a:r>
              <a:rPr lang="en-US" dirty="0"/>
              <a:t> Historically, identity management was built around the human headcount—onboarding, offboarding, and role-based privilege checks. Now, identity volume is scaling by nearly </a:t>
            </a:r>
            <a:r>
              <a:rPr lang="en-US" b="1" dirty="0"/>
              <a:t>200x per human employee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Speaker Caution:</a:t>
            </a:r>
            <a:r>
              <a:rPr lang="en-US" dirty="0"/>
              <a:t> Imagine a company with 10,000 employees. You are no longer managing 10,000 identities; you are governing nearly 2 million active, non-human actors moving through your infrastructure every single day.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Transition to Slide 4:</a:t>
            </a:r>
            <a:r>
              <a:rPr lang="en-US" dirty="0"/>
              <a:t> Before we even introduce these autonomous agents, let's look at the baseline vulnerability of our current identity defenses.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93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Industry Data &amp; Risk Assessment:</a:t>
            </a:r>
            <a:r>
              <a:rPr lang="en-US" dirty="0"/>
              <a:t> We must be brutally honest about the current security environment: </a:t>
            </a:r>
            <a:r>
              <a:rPr lang="en-US" b="1" dirty="0"/>
              <a:t>Our identity baseline is already deeply fragile.</a:t>
            </a:r>
            <a:endParaRPr lang="en-US" dirty="0"/>
          </a:p>
          <a:p>
            <a:pPr lvl="0"/>
            <a:r>
              <a:rPr lang="en-US" b="1" dirty="0"/>
              <a:t>Key Metrics:</a:t>
            </a:r>
            <a:endParaRPr lang="en-US" dirty="0"/>
          </a:p>
          <a:p>
            <a:pPr lvl="1"/>
            <a:r>
              <a:rPr lang="en-US" b="1" dirty="0"/>
              <a:t>80%</a:t>
            </a:r>
            <a:r>
              <a:rPr lang="en-US" dirty="0"/>
              <a:t> of all data breaches in enterprise environments today involve stolen or misused credentials.</a:t>
            </a:r>
          </a:p>
          <a:p>
            <a:pPr lvl="1"/>
            <a:r>
              <a:rPr lang="en-US" b="1" dirty="0"/>
              <a:t>9 out of 10</a:t>
            </a:r>
            <a:r>
              <a:rPr lang="en-US" dirty="0"/>
              <a:t> organizations experienced at least one identity-related breach over the past 12 months.</a:t>
            </a:r>
          </a:p>
          <a:p>
            <a:pPr lvl="1"/>
            <a:r>
              <a:rPr lang="en-US" b="1" dirty="0"/>
              <a:t>83%</a:t>
            </a:r>
            <a:r>
              <a:rPr lang="en-US" dirty="0"/>
              <a:t> of organizations experienced </a:t>
            </a:r>
            <a:r>
              <a:rPr lang="en-US" i="1" dirty="0"/>
              <a:t>two or more</a:t>
            </a:r>
            <a:r>
              <a:rPr lang="en-US" dirty="0"/>
              <a:t> breaches in the same period.</a:t>
            </a:r>
          </a:p>
          <a:p>
            <a:pPr lvl="0"/>
            <a:r>
              <a:rPr lang="en-US" b="1" dirty="0"/>
              <a:t>Core Conclusion:</a:t>
            </a:r>
            <a:r>
              <a:rPr lang="en-US" dirty="0"/>
              <a:t> Existing identity security architectures are struggling to defend basic human login credentials. Injecting millions of high-velocity AI agents into a system that is already failing 90% of the time creates an existential operational risk.</a:t>
            </a:r>
          </a:p>
          <a:p>
            <a:pPr lvl="0"/>
            <a:r>
              <a:rPr lang="en-US" b="1" dirty="0"/>
              <a:t>Transition to Slide 5:</a:t>
            </a:r>
            <a:r>
              <a:rPr lang="en-US" dirty="0"/>
              <a:t> When you combine this fragile baseline with autonomous agents operating at scale, you get what we call the AI Vulnerability Multiplier.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39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Mathematical Formula Breakdown: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This slide summarizes the core threat formula every CISOs and CIO must understand: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Current</m:t>
                      </m:r>
                      <m:r>
                        <m:rPr>
                          <m:nor/>
                        </m:rPr>
                        <a:rPr lang="en-US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Identity</m:t>
                      </m:r>
                      <m:r>
                        <m:rPr>
                          <m:nor/>
                        </m:rPr>
                        <a:rPr lang="en-US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Fragility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Hundreds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AI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Identities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Continuous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Machine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Speed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Unprecedented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Attack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Surface</m:t>
                      </m:r>
                    </m:oMath>
                  </m:oMathPara>
                </a14:m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In-Depth Explanation: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If you take a fragile identity setup and multiply it by hundreds of non-human identities operating continuously at sub-second machine speeds, human-speed governance breaks down entirely.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Warning: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Applying human-speed security protocols to machine-speed AI agents will mathematically break enterprise defenses.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 cannot rely on manual approvals, weekly audit logs, or human SOC analysts to monitor actions happening in milliseconds.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Transition to Slide 6: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Let's contrast traditional identity models with what agentic identity actually requires.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Mathematical Formula Breakdown: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This slide summarizes the core threat formula every CISOs and CIO must understand: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"Current Identity Fragility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"×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"Hundreds of AI Identities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"×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"Continuous Machine Speed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"Unprecedented Attack Surface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In-Depth Explanation: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If you take a fragile identity setup and multiply it by hundreds of non-human identities operating continuously at sub-second machine speeds, human-speed governance breaks down entirely.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Warning: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Applying human-speed security protocols to machine-speed AI agents will mathematically break enterprise defenses.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 cannot rely on manual approvals, weekly audit logs, or human SOC analysts to monitor actions happening in milliseconds.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Transition to Slide 6: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Let's contrast traditional identity models with what agentic identity actually requires.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63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The Badge Metaphor:</a:t>
            </a:r>
            <a:r>
              <a:rPr lang="en-US" dirty="0"/>
              <a:t> Think of traditional identity security like an office ID badge. It answers two static questions: </a:t>
            </a:r>
            <a:r>
              <a:rPr lang="en-US" i="1" dirty="0"/>
              <a:t>'Who are you?'</a:t>
            </a:r>
            <a:r>
              <a:rPr lang="en-US" dirty="0"/>
              <a:t> and </a:t>
            </a:r>
            <a:r>
              <a:rPr lang="en-US" i="1" dirty="0"/>
              <a:t>'What doors can you open?'</a:t>
            </a:r>
            <a:r>
              <a:rPr lang="en-US" dirty="0"/>
              <a:t> Once you pass the turnstile, you have implicit trust inside that area.</a:t>
            </a:r>
          </a:p>
          <a:p>
            <a:pPr lvl="0"/>
            <a:r>
              <a:rPr lang="en-US" b="1" dirty="0"/>
              <a:t>The Agentic Reality:</a:t>
            </a:r>
            <a:r>
              <a:rPr lang="en-US" dirty="0"/>
              <a:t> An AI Agent is an </a:t>
            </a:r>
            <a:r>
              <a:rPr lang="en-US" b="1" dirty="0"/>
              <a:t>Autonomous Operator</a:t>
            </a:r>
            <a:r>
              <a:rPr lang="en-US" dirty="0"/>
              <a:t>. It doesn't stand at a door; it moves across disparate databases, calls external APIs, and interacts dynamically with other agents without direct human oversight.</a:t>
            </a:r>
          </a:p>
          <a:p>
            <a:pPr lvl="0"/>
            <a:r>
              <a:rPr lang="en-US" b="1" dirty="0"/>
              <a:t>New Security Questions:</a:t>
            </a:r>
            <a:r>
              <a:rPr lang="en-US" dirty="0"/>
              <a:t> Agentic identity requires answering four completely new questions: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i="1" dirty="0"/>
              <a:t>What is the exact target?</a:t>
            </a: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i="1" dirty="0"/>
              <a:t>Why do you need it right now (Intent)?</a:t>
            </a: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i="1" dirty="0"/>
              <a:t>For how long (Duration)?</a:t>
            </a: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i="1" dirty="0"/>
              <a:t>What did you actually do while you had access (Audit)?</a:t>
            </a:r>
            <a:endParaRPr lang="en-US" dirty="0"/>
          </a:p>
          <a:p>
            <a:pPr lvl="0"/>
            <a:r>
              <a:rPr lang="en-US" b="1" dirty="0"/>
              <a:t>Transition to Slide 7:</a:t>
            </a:r>
            <a:r>
              <a:rPr lang="en-US" dirty="0"/>
              <a:t> These four questions form the foundation of our next framework: The 4 Pillars of Governing Agentic Identity.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49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Framework Walkthrough:</a:t>
            </a:r>
            <a:r>
              <a:rPr lang="en-US" dirty="0"/>
              <a:t> To govern autonomous agents effectively, enterprise security must center around four core pillars: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Target:</a:t>
            </a:r>
            <a:r>
              <a:rPr lang="en-US" dirty="0"/>
              <a:t> What specific application, database, or API endpoint is the agent attempting to access?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Intent:</a:t>
            </a:r>
            <a:r>
              <a:rPr lang="en-US" dirty="0"/>
              <a:t> Why does the agent require this access right now? What is the business context?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Duration:</a:t>
            </a:r>
            <a:r>
              <a:rPr lang="en-US" dirty="0"/>
              <a:t> Exactly how long is this permission valid? Minutes? Seconds?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Audit:</a:t>
            </a:r>
            <a:r>
              <a:rPr lang="en-US" dirty="0"/>
              <a:t> What actions did the agent </a:t>
            </a:r>
            <a:r>
              <a:rPr lang="en-US" i="1" dirty="0"/>
              <a:t>actually</a:t>
            </a:r>
            <a:r>
              <a:rPr lang="en-US" dirty="0"/>
              <a:t> execute during its session?</a:t>
            </a:r>
          </a:p>
          <a:p>
            <a:pPr lvl="0"/>
            <a:r>
              <a:rPr lang="en-US" b="1" dirty="0"/>
              <a:t>Strategic Shift:</a:t>
            </a:r>
            <a:r>
              <a:rPr lang="en-US" dirty="0"/>
              <a:t> Enterprises must transition from static, access-control lists to continuous, context-aware runtime governance. If an agent's task changes mid-execution, its access scope must automatically adjust.</a:t>
            </a:r>
          </a:p>
          <a:p>
            <a:pPr lvl="0"/>
            <a:r>
              <a:rPr lang="en-US" b="1" dirty="0"/>
              <a:t>Transition to Slide 8:</a:t>
            </a:r>
            <a:r>
              <a:rPr lang="en-US" dirty="0"/>
              <a:t> How do we enforce this technically? Through an architectural model called Zero Standing Privilege.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1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Concept Explanation:</a:t>
            </a:r>
            <a:r>
              <a:rPr lang="en-US" dirty="0"/>
              <a:t> In traditional IT, admins and service accounts are granted 'standing privileges'—permanent access rights that persist indefinitely. In an agentic world, standing privilege is a major security hazard.</a:t>
            </a:r>
          </a:p>
          <a:p>
            <a:pPr lvl="0"/>
            <a:r>
              <a:rPr lang="en-US" b="1" dirty="0"/>
              <a:t>Workflow Breakdown: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Step 1 (Task Initiated):</a:t>
            </a:r>
            <a:r>
              <a:rPr lang="en-US" dirty="0"/>
              <a:t> An agent requests permission to perform a specific action.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Step 2 (Just-In-Time Access):</a:t>
            </a:r>
            <a:r>
              <a:rPr lang="en-US" dirty="0"/>
              <a:t> Permission is granted </a:t>
            </a:r>
            <a:r>
              <a:rPr lang="en-US" i="1" dirty="0"/>
              <a:t>only</a:t>
            </a:r>
            <a:r>
              <a:rPr lang="en-US" dirty="0"/>
              <a:t> for that micro-task and for a strictly bounded timeframe.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Step 3 (Immediate Revocation):</a:t>
            </a:r>
            <a:r>
              <a:rPr lang="en-US" dirty="0"/>
              <a:t> The instant the objective is completed, access is completely revoked.</a:t>
            </a:r>
          </a:p>
          <a:p>
            <a:pPr lvl="0"/>
            <a:r>
              <a:rPr lang="en-US" b="1" dirty="0"/>
              <a:t>Core Principle:</a:t>
            </a:r>
            <a:r>
              <a:rPr lang="en-US" dirty="0"/>
              <a:t> Instead of permanent network access, agents operate on temporary, strictly enforced leases. If an agent is compromised, the attacker gains no persistent access.</a:t>
            </a:r>
          </a:p>
          <a:p>
            <a:pPr lvl="0"/>
            <a:r>
              <a:rPr lang="en-US" b="1" dirty="0"/>
              <a:t>Transition to Slide 9:</a:t>
            </a:r>
            <a:r>
              <a:rPr lang="en-US" dirty="0"/>
              <a:t> While Zero Standing Privilege is the ideal solution, there is a major implementation gap in today's enterprise environments.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9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The Reality Check:</a:t>
            </a:r>
            <a:r>
              <a:rPr lang="en-US" dirty="0"/>
              <a:t> Despite the clear security benefits of Zero Standing Privilege (ZSP), </a:t>
            </a:r>
            <a:r>
              <a:rPr lang="en-US" b="1" dirty="0"/>
              <a:t>only 39% of privileged access is managed through Just-In-Time or ZSP architecture today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Identifying the Bottleneck:</a:t>
            </a:r>
            <a:r>
              <a:rPr lang="en-US" dirty="0"/>
              <a:t> Why is adoption at only 39%? Because existing ZSP workflows often rely on human approval chains (e.g., submitting a ticket, manager sign-off).</a:t>
            </a:r>
          </a:p>
          <a:p>
            <a:pPr lvl="0"/>
            <a:r>
              <a:rPr lang="en-US" b="1" dirty="0"/>
              <a:t>The Speed Mismatch:</a:t>
            </a:r>
            <a:r>
              <a:rPr lang="en-US" dirty="0"/>
              <a:t> Human administrators physically cannot process or approve thousands of incoming agent requests occurring at sub-second machine speed. Human review becomes a massive operational bottleneck.</a:t>
            </a:r>
          </a:p>
          <a:p>
            <a:pPr lvl="0"/>
            <a:r>
              <a:rPr lang="en-US" b="1" dirty="0"/>
              <a:t>Transition to Slide 10:</a:t>
            </a:r>
            <a:r>
              <a:rPr lang="en-US" dirty="0"/>
              <a:t> To solve this bottleneck, security decision-making must be automated through Runtime Governance.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06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Solution Architecture:</a:t>
            </a:r>
            <a:r>
              <a:rPr lang="en-US" dirty="0"/>
              <a:t> This slide demonstrates how runtime governance resolves the human bottleneck. High-volume, high-velocity AI requests enter a </a:t>
            </a:r>
            <a:r>
              <a:rPr lang="en-US" b="1" dirty="0"/>
              <a:t>Runtime Governance Engine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Automated Decision-Making:</a:t>
            </a:r>
            <a:r>
              <a:rPr lang="en-US" dirty="0"/>
              <a:t> The engine evaluates policy, intent, target, and risk in real-time, instantly outputting approved, governed actions without human intervention.</a:t>
            </a:r>
          </a:p>
          <a:p>
            <a:pPr lvl="0"/>
            <a:r>
              <a:rPr lang="en-US" b="1" dirty="0"/>
              <a:t>Core Takeaway:</a:t>
            </a:r>
            <a:r>
              <a:rPr lang="en-US" dirty="0"/>
              <a:t> </a:t>
            </a:r>
            <a:r>
              <a:rPr lang="en-US" b="1" dirty="0"/>
              <a:t>Security infrastructure must operate at the exact same speed as the autonomous agents themselves.</a:t>
            </a:r>
            <a:r>
              <a:rPr lang="en-US" dirty="0"/>
              <a:t> If agents run in milliseconds, policy enforcement and access revocation must also execute in milliseconds.</a:t>
            </a:r>
          </a:p>
          <a:p>
            <a:pPr lvl="0"/>
            <a:r>
              <a:rPr lang="en-US" b="1" dirty="0"/>
              <a:t>Transition to Slide 11:</a:t>
            </a:r>
            <a:r>
              <a:rPr lang="en-US" dirty="0"/>
              <a:t> However, automated runtime governance faces another obstacle: system fragmentation.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93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Data Point Highlights: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85%</a:t>
            </a:r>
            <a:r>
              <a:rPr lang="en-US" dirty="0"/>
              <a:t> of organizations state that fragmented identity systems significantly delay their response to identity threats.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12 Hours:</a:t>
            </a:r>
            <a:r>
              <a:rPr lang="en-US" dirty="0"/>
              <a:t> The average time required to respond to a single security incident due to siloed identity data.</a:t>
            </a:r>
          </a:p>
          <a:p>
            <a:pPr lvl="0"/>
            <a:r>
              <a:rPr lang="en-US" b="1" dirty="0"/>
              <a:t>Analysis:</a:t>
            </a:r>
            <a:r>
              <a:rPr lang="en-US" dirty="0"/>
              <a:t> If your identity data is scattered across separate HR tools, cloud IAM providers, PAM solutions, and machine-key vaults, responding to an incident takes half a day.</a:t>
            </a:r>
          </a:p>
          <a:p>
            <a:pPr lvl="0"/>
            <a:r>
              <a:rPr lang="en-US" b="1" dirty="0"/>
              <a:t>Bottom Line:</a:t>
            </a:r>
            <a:r>
              <a:rPr lang="en-US" dirty="0"/>
              <a:t> A 12-hour response window against an autonomous agent operating at machine speed means the attacker has already completed their objective before your team finishes investigating. Fragmented identity platforms are unsustainable.</a:t>
            </a:r>
          </a:p>
          <a:p>
            <a:pPr lvl="0"/>
            <a:r>
              <a:rPr lang="en-US" b="1" dirty="0"/>
              <a:t>Transition to Slide 12:</a:t>
            </a:r>
            <a:r>
              <a:rPr lang="en-US" dirty="0"/>
              <a:t> This friction is driving a major wave of platform consolidation across the security landscape.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4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Strategic Outlook:</a:t>
            </a:r>
            <a:r>
              <a:rPr lang="en-US" dirty="0"/>
              <a:t> Managing human identities and machine identities in separate silos guarantees operational failure. The sheer scale of AI deployment forces convergence into a </a:t>
            </a:r>
            <a:r>
              <a:rPr lang="en-US" b="1" dirty="0"/>
              <a:t>Unified Identity Platform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Unified Visibility:</a:t>
            </a:r>
            <a:r>
              <a:rPr lang="en-US" dirty="0"/>
              <a:t> A unified platform provides holistic visibility, governing human employees, non-human service accounts, and autonomous AI agents under a single policy engine.</a:t>
            </a:r>
          </a:p>
          <a:p>
            <a:pPr lvl="0"/>
            <a:r>
              <a:rPr lang="en-US" b="1" dirty="0"/>
              <a:t>Market Winner:</a:t>
            </a:r>
            <a:r>
              <a:rPr lang="en-US" dirty="0"/>
              <a:t> </a:t>
            </a:r>
            <a:r>
              <a:rPr lang="en-US" b="1" dirty="0"/>
              <a:t>The ultimate winners in cybersecurity will be unified, cross-identity platforms</a:t>
            </a:r>
            <a:r>
              <a:rPr lang="en-US" dirty="0"/>
              <a:t> capable of evaluating contextual risk and making automated access decisions dynamically.</a:t>
            </a:r>
          </a:p>
          <a:p>
            <a:pPr lvl="0"/>
            <a:r>
              <a:rPr lang="en-US" b="1" dirty="0"/>
              <a:t>Transition to Slide 13:</a:t>
            </a:r>
            <a:r>
              <a:rPr lang="en-US" dirty="0"/>
              <a:t> Now, let's look at what this convergence means from a market sizing perspective.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1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Market Expansion Sizing:</a:t>
            </a:r>
            <a:r>
              <a:rPr lang="en-US" dirty="0"/>
              <a:t> According to Morgan Stanley's cyber research, securing agentic identities represents a massive, net-new expansion of the Total Addressable Market (TAM).</a:t>
            </a:r>
          </a:p>
          <a:p>
            <a:pPr lvl="0"/>
            <a:r>
              <a:rPr lang="en-US" b="1" dirty="0"/>
              <a:t>Financial Breakdown: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Traditional Identity Market Base.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+$33 Billion</a:t>
            </a:r>
            <a:r>
              <a:rPr lang="en-US" dirty="0"/>
              <a:t> net-new Agentic Identity TAM expansion.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&gt;$60 Billion</a:t>
            </a:r>
            <a:r>
              <a:rPr lang="en-US" dirty="0"/>
              <a:t> Total Global Identity Opportunity in the coming years.</a:t>
            </a:r>
          </a:p>
          <a:p>
            <a:pPr lvl="0"/>
            <a:r>
              <a:rPr lang="en-US" b="1" dirty="0"/>
              <a:t>Investor/Executive Perspective:</a:t>
            </a:r>
            <a:r>
              <a:rPr lang="en-US" dirty="0"/>
              <a:t> Agentic identity isn't cannibalizing traditional identity budgets—it is expanding the total addressable market as organizations fund defenses for their non-human workforce.</a:t>
            </a:r>
          </a:p>
          <a:p>
            <a:pPr lvl="0"/>
            <a:r>
              <a:rPr lang="en-US" b="1" dirty="0"/>
              <a:t>Transition to Slide 14:</a:t>
            </a:r>
            <a:r>
              <a:rPr lang="en-US" dirty="0"/>
              <a:t> When will this spend materialize on enterprise balance sheets? Let's review the deployment timeline.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06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Phase 1 (Now – Experimentation):</a:t>
            </a:r>
            <a:r>
              <a:rPr lang="en-US" dirty="0"/>
              <a:t> Right now, enterprises are experimenting with AI agents in isolated sandboxes. Spending on agent security is currently minimal as these projects remain in proof-of-concept stages.</a:t>
            </a:r>
          </a:p>
          <a:p>
            <a:pPr lvl="0"/>
            <a:r>
              <a:rPr lang="en-US" b="1" dirty="0"/>
              <a:t>Phase 2 (2027 – Broad Deployment Catalyst):</a:t>
            </a:r>
            <a:r>
              <a:rPr lang="en-US" dirty="0"/>
              <a:t> By 2027, enterprises will move from isolated sandboxes to broad, cross-functional agent deployments. At that point, securing these agents becomes mandatory for compliance and risk management.</a:t>
            </a:r>
          </a:p>
          <a:p>
            <a:pPr lvl="0"/>
            <a:r>
              <a:rPr lang="en-US" b="1" dirty="0"/>
              <a:t>Growth Trajectory:</a:t>
            </a:r>
            <a:r>
              <a:rPr lang="en-US" dirty="0"/>
              <a:t> Expect a meaningful growth tailwind for identity security providers peaking around 2027 as production deployments ramp up.</a:t>
            </a:r>
          </a:p>
          <a:p>
            <a:pPr lvl="0"/>
            <a:r>
              <a:rPr lang="en-US" b="1" dirty="0"/>
              <a:t>Transition to Slide 15:</a:t>
            </a:r>
            <a:r>
              <a:rPr lang="en-US" dirty="0"/>
              <a:t> This brings us to our core strategic conclusion.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82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Core Message:</a:t>
            </a:r>
            <a:r>
              <a:rPr lang="en-US" dirty="0"/>
              <a:t> Organizations cannot scale what they cannot secure. </a:t>
            </a:r>
            <a:r>
              <a:rPr lang="en-US" b="1" dirty="0"/>
              <a:t>Security is not a bottleneck to AI adoption; it is the ultimate enabler.</a:t>
            </a:r>
            <a:endParaRPr lang="en-US" dirty="0"/>
          </a:p>
          <a:p>
            <a:pPr lvl="0"/>
            <a:r>
              <a:rPr lang="en-US" b="1" dirty="0"/>
              <a:t>Strategic Alignment:</a:t>
            </a:r>
            <a:r>
              <a:rPr lang="en-US" dirty="0"/>
              <a:t> Business leaders want to deploy autonomous agents to drive efficiency, but risk officers will halt rollouts without adequate control. More agents with higher autonomy require stricter, automated controls.</a:t>
            </a:r>
          </a:p>
          <a:p>
            <a:pPr lvl="0"/>
            <a:r>
              <a:rPr lang="en-US" b="1" dirty="0"/>
              <a:t>Final Strategic Takeaway:</a:t>
            </a:r>
            <a:r>
              <a:rPr lang="en-US" dirty="0"/>
              <a:t> Identity security is the foundational key to scaling AI safely across the enterprise.</a:t>
            </a:r>
          </a:p>
          <a:p>
            <a:pPr lvl="0"/>
            <a:r>
              <a:rPr lang="en-US" b="1" dirty="0"/>
              <a:t>Transition to Slide 16:</a:t>
            </a:r>
            <a:r>
              <a:rPr lang="en-US" dirty="0"/>
              <a:t> Let's summarize our entire discussion onto a single executive dashboard.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22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Comprehensive Recap:</a:t>
            </a:r>
            <a:r>
              <a:rPr lang="en-US" dirty="0"/>
              <a:t> To close, let me leave you with three critical pillars that summarize the </a:t>
            </a:r>
            <a:r>
              <a:rPr lang="en-US" b="1" dirty="0"/>
              <a:t>$33 Billion Agentic Identity Opportunity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The Scaling Security Risk: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79 AI Agents &amp; 109 Machine IDs</a:t>
            </a:r>
            <a:r>
              <a:rPr lang="en-US" dirty="0"/>
              <a:t> per human worker.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80%</a:t>
            </a:r>
            <a:r>
              <a:rPr lang="en-US" dirty="0"/>
              <a:t> of breaches stem from credential misuse; </a:t>
            </a:r>
            <a:r>
              <a:rPr lang="en-US" b="1" dirty="0"/>
              <a:t>90%</a:t>
            </a:r>
            <a:r>
              <a:rPr lang="en-US" dirty="0"/>
              <a:t> of organizations experienced an identity breach last year.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Legacy, fragmented systems take </a:t>
            </a:r>
            <a:r>
              <a:rPr lang="en-US" b="1" dirty="0"/>
              <a:t>12 hours</a:t>
            </a:r>
            <a:r>
              <a:rPr lang="en-US" dirty="0"/>
              <a:t> to respond—a rate that fails against machine-speed threats.</a:t>
            </a:r>
          </a:p>
          <a:p>
            <a:pPr lvl="0"/>
            <a:r>
              <a:rPr lang="en-US" b="1" dirty="0"/>
              <a:t>The Future Architecture: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Transition from permanent access to </a:t>
            </a:r>
            <a:r>
              <a:rPr lang="en-US" b="1" dirty="0"/>
              <a:t>Zero Standing Privilege (ZSP)</a:t>
            </a:r>
            <a:r>
              <a:rPr lang="en-US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Shift from manual approvals to </a:t>
            </a:r>
            <a:r>
              <a:rPr lang="en-US" b="1" dirty="0"/>
              <a:t>Automated Runtime Governance</a:t>
            </a:r>
            <a:r>
              <a:rPr lang="en-US" dirty="0"/>
              <a:t> operating at sub-second speeds.</a:t>
            </a:r>
          </a:p>
          <a:p>
            <a:pPr lvl="0"/>
            <a:r>
              <a:rPr lang="en-US" b="1" dirty="0"/>
              <a:t>Strategic Vector Shift: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Move focus from </a:t>
            </a:r>
            <a:r>
              <a:rPr lang="en-US" i="1" dirty="0"/>
              <a:t>Human Employees</a:t>
            </a:r>
            <a:r>
              <a:rPr lang="en-US" dirty="0"/>
              <a:t> to </a:t>
            </a:r>
            <a:r>
              <a:rPr lang="en-US" i="1" dirty="0"/>
              <a:t>AI Agents &amp; Machine IDs</a:t>
            </a:r>
            <a:r>
              <a:rPr lang="en-US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Replace </a:t>
            </a:r>
            <a:r>
              <a:rPr lang="en-US" i="1" dirty="0"/>
              <a:t>Permanent Permissions</a:t>
            </a:r>
            <a:r>
              <a:rPr lang="en-US" dirty="0"/>
              <a:t> with </a:t>
            </a:r>
            <a:r>
              <a:rPr lang="en-US" i="1" dirty="0"/>
              <a:t>Zero Standing Privilege</a:t>
            </a:r>
            <a:r>
              <a:rPr lang="en-US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Consolidate </a:t>
            </a:r>
            <a:r>
              <a:rPr lang="en-US" i="1" dirty="0"/>
              <a:t>Fragmented Systems</a:t>
            </a:r>
            <a:r>
              <a:rPr lang="en-US" dirty="0"/>
              <a:t> into </a:t>
            </a:r>
            <a:r>
              <a:rPr lang="en-US" i="1" dirty="0"/>
              <a:t>Unified Platforms</a:t>
            </a:r>
            <a:r>
              <a:rPr lang="en-US" dirty="0"/>
              <a:t> driving a </a:t>
            </a:r>
            <a:r>
              <a:rPr lang="en-US" b="1" dirty="0"/>
              <a:t>$60B+ global market opportunity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Q&amp;A Transition:</a:t>
            </a:r>
            <a:r>
              <a:rPr lang="en-US" dirty="0"/>
              <a:t> Thank you for your time. I am now happy to open the floor to any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9FA7-CBCD-45A5-A2BD-CF166CCD2A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69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DC689-1645-8596-EF56-6BA24683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9F6D-91F2-4076-A133-3AC9F9DB070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22A2C-CD83-FE92-5A89-641D2130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D5DE5-6584-D77D-FDBF-D8F02525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DFE8-FC3F-4CC4-8906-67FFEAC03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4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2C8A3-CEEF-21FE-2F85-DF9D9903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EF2B5-CBF6-74B2-B07F-238E52EA3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E3235-80B3-92E4-86F1-400A08564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49F6D-91F2-4076-A133-3AC9F9DB070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5F334-2BB6-ED24-5243-E2E51A51F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4DF83-30DD-2F0A-C2A8-C4A27EAB0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2DFE8-FC3F-4CC4-8906-67FFEAC03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9F01A8-7F57-6F3D-4D3B-3D40E21F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67D58D-0299-07E5-B8FB-55B0ADD11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9293E2-59E9-1509-3DFA-C0815B70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9B65A6-73D3-1FEE-20C1-16C933A7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1CB1F5-64EF-8B71-FD5B-F2002909B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4560A3-46E0-A045-C9F1-C7C25A19B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20E33D-3101-BA9B-0E43-8E3F980FA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E0F500-FA8C-C59D-E49A-F6018917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D5FD95-9934-2315-E733-8358816A4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55A6F-A542-3C0E-1841-4D0D891A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0D13A5-143F-B854-47E3-7E6550AC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115855-2695-521C-205A-CC5641E40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9D31F6-BA4A-8304-32AB-59FF55803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F1431E-2C3F-E476-BFA3-8EFDC4132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D1F478-86B1-1C95-7159-779E7DBAF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997D03-ADC4-EDAA-D4DC-AB7D85A90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9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2194</Words>
  <Application>Microsoft Office PowerPoint</Application>
  <PresentationFormat>寬螢幕</PresentationFormat>
  <Paragraphs>115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2026-09-05T04:29:04Z</dcterms:created>
  <dcterms:modified xsi:type="dcterms:W3CDTF">2026-10-21T02:39:27Z</dcterms:modified>
</cp:coreProperties>
</file>