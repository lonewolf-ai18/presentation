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ACC515-48AF-4088-B4EE-3E5164E9C3D4}" v="27" dt="2026-09-24T04:17:32.9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70" autoAdjust="0"/>
    <p:restoredTop sz="90313" autoAdjust="0"/>
  </p:normalViewPr>
  <p:slideViewPr>
    <p:cSldViewPr snapToGrid="0">
      <p:cViewPr varScale="1">
        <p:scale>
          <a:sx n="71" d="100"/>
          <a:sy n="71" d="100"/>
        </p:scale>
        <p:origin x="90" y="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4T04:18:06.177" v="55" actId="166"/>
      <pc:docMkLst>
        <pc:docMk/>
      </pc:docMkLst>
      <pc:sldChg chg="addSp delSp modSp mod modAnim modNotes modNotesTx">
        <pc:chgData name="Lai, Wilson" userId="2840974a-0d84-4886-90a9-9a3ed79f3a48" providerId="ADAL" clId="{9F23B798-9E84-4552-BA63-E776E805C424}" dt="2026-09-24T04:18:06.177" v="55" actId="166"/>
        <pc:sldMkLst>
          <pc:docMk/>
          <pc:sldMk cId="0" sldId="257"/>
        </pc:sldMkLst>
        <pc:spChg chg="add del">
          <ac:chgData name="Lai, Wilson" userId="2840974a-0d84-4886-90a9-9a3ed79f3a48" providerId="ADAL" clId="{9F23B798-9E84-4552-BA63-E776E805C424}" dt="2026-09-24T02:20:30.344" v="1" actId="22"/>
          <ac:spMkLst>
            <pc:docMk/>
            <pc:sldMk cId="0" sldId="257"/>
            <ac:spMk id="4" creationId="{718B3C2A-B9EA-E0AF-E91F-50596E8F2EE9}"/>
          </ac:spMkLst>
        </pc:spChg>
        <pc:spChg chg="add mod">
          <ac:chgData name="Lai, Wilson" userId="2840974a-0d84-4886-90a9-9a3ed79f3a48" providerId="ADAL" clId="{9F23B798-9E84-4552-BA63-E776E805C424}" dt="2026-09-24T02:21:20.693" v="10" actId="164"/>
          <ac:spMkLst>
            <pc:docMk/>
            <pc:sldMk cId="0" sldId="257"/>
            <ac:spMk id="7" creationId="{3BB60676-C5C4-589D-7F15-DD26DB2117DD}"/>
          </ac:spMkLst>
        </pc:spChg>
        <pc:grpChg chg="add mod">
          <ac:chgData name="Lai, Wilson" userId="2840974a-0d84-4886-90a9-9a3ed79f3a48" providerId="ADAL" clId="{9F23B798-9E84-4552-BA63-E776E805C424}" dt="2026-09-24T02:21:20.693" v="10" actId="164"/>
          <ac:grpSpMkLst>
            <pc:docMk/>
            <pc:sldMk cId="0" sldId="257"/>
            <ac:grpSpMk id="8" creationId="{CCA7E0BD-3D53-67ED-7FDE-7591E42B830B}"/>
          </ac:grpSpMkLst>
        </pc:grpChg>
        <pc:picChg chg="del">
          <ac:chgData name="Lai, Wilson" userId="2840974a-0d84-4886-90a9-9a3ed79f3a48" providerId="ADAL" clId="{9F23B798-9E84-4552-BA63-E776E805C424}" dt="2026-09-24T03:31:11.855" v="11" actId="21"/>
          <ac:picMkLst>
            <pc:docMk/>
            <pc:sldMk cId="0" sldId="257"/>
            <ac:picMk id="2" creationId="{00000000-0000-0000-0000-000000000000}"/>
          </ac:picMkLst>
        </pc:picChg>
        <pc:picChg chg="add ord">
          <ac:chgData name="Lai, Wilson" userId="2840974a-0d84-4886-90a9-9a3ed79f3a48" providerId="ADAL" clId="{9F23B798-9E84-4552-BA63-E776E805C424}" dt="2026-09-24T04:18:06.177" v="55" actId="166"/>
          <ac:picMkLst>
            <pc:docMk/>
            <pc:sldMk cId="0" sldId="257"/>
            <ac:picMk id="4" creationId="{CED6F5C5-2BBE-73BA-ECA9-E760CA30CF70}"/>
          </ac:picMkLst>
        </pc:picChg>
        <pc:picChg chg="add mod">
          <ac:chgData name="Lai, Wilson" userId="2840974a-0d84-4886-90a9-9a3ed79f3a48" providerId="ADAL" clId="{9F23B798-9E84-4552-BA63-E776E805C424}" dt="2026-09-24T02:21:20.693" v="10" actId="164"/>
          <ac:picMkLst>
            <pc:docMk/>
            <pc:sldMk cId="0" sldId="257"/>
            <ac:picMk id="5" creationId="{7634E59B-7C67-60B9-B2D6-BFFCB8E83B7C}"/>
          </ac:picMkLst>
        </pc:picChg>
      </pc:sldChg>
      <pc:sldChg chg="addSp delSp mod modNotes">
        <pc:chgData name="Lai, Wilson" userId="2840974a-0d84-4886-90a9-9a3ed79f3a48" providerId="ADAL" clId="{9F23B798-9E84-4552-BA63-E776E805C424}" dt="2026-09-24T04:17:32.941" v="54"/>
        <pc:sldMkLst>
          <pc:docMk/>
          <pc:sldMk cId="0" sldId="258"/>
        </pc:sldMkLst>
        <pc:picChg chg="del">
          <ac:chgData name="Lai, Wilson" userId="2840974a-0d84-4886-90a9-9a3ed79f3a48" providerId="ADAL" clId="{9F23B798-9E84-4552-BA63-E776E805C424}" dt="2026-09-24T03:31:19.697" v="13" actId="21"/>
          <ac:picMkLst>
            <pc:docMk/>
            <pc:sldMk cId="0" sldId="258"/>
            <ac:picMk id="2" creationId="{00000000-0000-0000-0000-000000000000}"/>
          </ac:picMkLst>
        </pc:picChg>
        <pc:picChg chg="add">
          <ac:chgData name="Lai, Wilson" userId="2840974a-0d84-4886-90a9-9a3ed79f3a48" providerId="ADAL" clId="{9F23B798-9E84-4552-BA63-E776E805C424}" dt="2026-09-24T03:31:26.106" v="14" actId="22"/>
          <ac:picMkLst>
            <pc:docMk/>
            <pc:sldMk cId="0" sldId="258"/>
            <ac:picMk id="4" creationId="{4BFBF44D-7813-FAEE-8CAF-922B93240FD1}"/>
          </ac:picMkLst>
        </pc:picChg>
      </pc:sldChg>
      <pc:sldChg chg="addSp delSp mod modNotes">
        <pc:chgData name="Lai, Wilson" userId="2840974a-0d84-4886-90a9-9a3ed79f3a48" providerId="ADAL" clId="{9F23B798-9E84-4552-BA63-E776E805C424}" dt="2026-09-24T04:17:32.941" v="54"/>
        <pc:sldMkLst>
          <pc:docMk/>
          <pc:sldMk cId="0" sldId="259"/>
        </pc:sldMkLst>
        <pc:picChg chg="del">
          <ac:chgData name="Lai, Wilson" userId="2840974a-0d84-4886-90a9-9a3ed79f3a48" providerId="ADAL" clId="{9F23B798-9E84-4552-BA63-E776E805C424}" dt="2026-09-24T03:31:28.334" v="15" actId="21"/>
          <ac:picMkLst>
            <pc:docMk/>
            <pc:sldMk cId="0" sldId="259"/>
            <ac:picMk id="2" creationId="{00000000-0000-0000-0000-000000000000}"/>
          </ac:picMkLst>
        </pc:picChg>
        <pc:picChg chg="add">
          <ac:chgData name="Lai, Wilson" userId="2840974a-0d84-4886-90a9-9a3ed79f3a48" providerId="ADAL" clId="{9F23B798-9E84-4552-BA63-E776E805C424}" dt="2026-09-24T03:31:34.846" v="16" actId="22"/>
          <ac:picMkLst>
            <pc:docMk/>
            <pc:sldMk cId="0" sldId="259"/>
            <ac:picMk id="4" creationId="{B79FBD93-5707-F1D9-7D3B-11413A46398C}"/>
          </ac:picMkLst>
        </pc:picChg>
      </pc:sldChg>
      <pc:sldChg chg="addSp delSp mod modNotes">
        <pc:chgData name="Lai, Wilson" userId="2840974a-0d84-4886-90a9-9a3ed79f3a48" providerId="ADAL" clId="{9F23B798-9E84-4552-BA63-E776E805C424}" dt="2026-09-24T04:17:32.941" v="54"/>
        <pc:sldMkLst>
          <pc:docMk/>
          <pc:sldMk cId="0" sldId="260"/>
        </pc:sldMkLst>
        <pc:picChg chg="del">
          <ac:chgData name="Lai, Wilson" userId="2840974a-0d84-4886-90a9-9a3ed79f3a48" providerId="ADAL" clId="{9F23B798-9E84-4552-BA63-E776E805C424}" dt="2026-09-24T03:31:36.551" v="17" actId="21"/>
          <ac:picMkLst>
            <pc:docMk/>
            <pc:sldMk cId="0" sldId="260"/>
            <ac:picMk id="2" creationId="{00000000-0000-0000-0000-000000000000}"/>
          </ac:picMkLst>
        </pc:picChg>
        <pc:picChg chg="add">
          <ac:chgData name="Lai, Wilson" userId="2840974a-0d84-4886-90a9-9a3ed79f3a48" providerId="ADAL" clId="{9F23B798-9E84-4552-BA63-E776E805C424}" dt="2026-09-24T03:31:42.442" v="18" actId="22"/>
          <ac:picMkLst>
            <pc:docMk/>
            <pc:sldMk cId="0" sldId="260"/>
            <ac:picMk id="4" creationId="{C2DF9FDC-D5BA-E3EE-5689-E7A5DE7A0154}"/>
          </ac:picMkLst>
        </pc:picChg>
      </pc:sldChg>
      <pc:sldChg chg="addSp delSp mod modNotes">
        <pc:chgData name="Lai, Wilson" userId="2840974a-0d84-4886-90a9-9a3ed79f3a48" providerId="ADAL" clId="{9F23B798-9E84-4552-BA63-E776E805C424}" dt="2026-09-24T04:17:32.941" v="54"/>
        <pc:sldMkLst>
          <pc:docMk/>
          <pc:sldMk cId="0" sldId="261"/>
        </pc:sldMkLst>
        <pc:picChg chg="del">
          <ac:chgData name="Lai, Wilson" userId="2840974a-0d84-4886-90a9-9a3ed79f3a48" providerId="ADAL" clId="{9F23B798-9E84-4552-BA63-E776E805C424}" dt="2026-09-24T03:31:43.654" v="19" actId="21"/>
          <ac:picMkLst>
            <pc:docMk/>
            <pc:sldMk cId="0" sldId="261"/>
            <ac:picMk id="2" creationId="{00000000-0000-0000-0000-000000000000}"/>
          </ac:picMkLst>
        </pc:picChg>
        <pc:picChg chg="add">
          <ac:chgData name="Lai, Wilson" userId="2840974a-0d84-4886-90a9-9a3ed79f3a48" providerId="ADAL" clId="{9F23B798-9E84-4552-BA63-E776E805C424}" dt="2026-09-24T03:32:19.067" v="20" actId="22"/>
          <ac:picMkLst>
            <pc:docMk/>
            <pc:sldMk cId="0" sldId="261"/>
            <ac:picMk id="4" creationId="{9D25387F-04B6-0963-FB8B-C1612EACED7A}"/>
          </ac:picMkLst>
        </pc:picChg>
      </pc:sldChg>
      <pc:sldChg chg="addSp delSp mod modNotes">
        <pc:chgData name="Lai, Wilson" userId="2840974a-0d84-4886-90a9-9a3ed79f3a48" providerId="ADAL" clId="{9F23B798-9E84-4552-BA63-E776E805C424}" dt="2026-09-24T04:17:32.941" v="54"/>
        <pc:sldMkLst>
          <pc:docMk/>
          <pc:sldMk cId="0" sldId="262"/>
        </pc:sldMkLst>
        <pc:picChg chg="del">
          <ac:chgData name="Lai, Wilson" userId="2840974a-0d84-4886-90a9-9a3ed79f3a48" providerId="ADAL" clId="{9F23B798-9E84-4552-BA63-E776E805C424}" dt="2026-09-24T03:32:20.572" v="21" actId="21"/>
          <ac:picMkLst>
            <pc:docMk/>
            <pc:sldMk cId="0" sldId="262"/>
            <ac:picMk id="2" creationId="{00000000-0000-0000-0000-000000000000}"/>
          </ac:picMkLst>
        </pc:picChg>
        <pc:picChg chg="add">
          <ac:chgData name="Lai, Wilson" userId="2840974a-0d84-4886-90a9-9a3ed79f3a48" providerId="ADAL" clId="{9F23B798-9E84-4552-BA63-E776E805C424}" dt="2026-09-24T03:32:30.471" v="22" actId="22"/>
          <ac:picMkLst>
            <pc:docMk/>
            <pc:sldMk cId="0" sldId="262"/>
            <ac:picMk id="4" creationId="{CAB54ED7-B151-69F2-A990-A4A31EF9BC6D}"/>
          </ac:picMkLst>
        </pc:picChg>
      </pc:sldChg>
      <pc:sldChg chg="modNotes">
        <pc:chgData name="Lai, Wilson" userId="2840974a-0d84-4886-90a9-9a3ed79f3a48" providerId="ADAL" clId="{9F23B798-9E84-4552-BA63-E776E805C424}" dt="2026-09-24T04:17:32.941" v="54"/>
        <pc:sldMkLst>
          <pc:docMk/>
          <pc:sldMk cId="0" sldId="263"/>
        </pc:sldMkLst>
      </pc:sldChg>
      <pc:sldChg chg="addSp delSp mod modNotes">
        <pc:chgData name="Lai, Wilson" userId="2840974a-0d84-4886-90a9-9a3ed79f3a48" providerId="ADAL" clId="{9F23B798-9E84-4552-BA63-E776E805C424}" dt="2026-09-24T04:17:32.941" v="54"/>
        <pc:sldMkLst>
          <pc:docMk/>
          <pc:sldMk cId="0" sldId="264"/>
        </pc:sldMkLst>
        <pc:picChg chg="del">
          <ac:chgData name="Lai, Wilson" userId="2840974a-0d84-4886-90a9-9a3ed79f3a48" providerId="ADAL" clId="{9F23B798-9E84-4552-BA63-E776E805C424}" dt="2026-09-24T03:32:32.712" v="23" actId="21"/>
          <ac:picMkLst>
            <pc:docMk/>
            <pc:sldMk cId="0" sldId="264"/>
            <ac:picMk id="2" creationId="{00000000-0000-0000-0000-000000000000}"/>
          </ac:picMkLst>
        </pc:picChg>
        <pc:picChg chg="add">
          <ac:chgData name="Lai, Wilson" userId="2840974a-0d84-4886-90a9-9a3ed79f3a48" providerId="ADAL" clId="{9F23B798-9E84-4552-BA63-E776E805C424}" dt="2026-09-24T03:32:39.003" v="24" actId="22"/>
          <ac:picMkLst>
            <pc:docMk/>
            <pc:sldMk cId="0" sldId="264"/>
            <ac:picMk id="4" creationId="{F6A90826-37DF-529C-ECB4-EE2F17ECEA73}"/>
          </ac:picMkLst>
        </pc:picChg>
      </pc:sldChg>
      <pc:sldChg chg="addSp delSp mod modNotes">
        <pc:chgData name="Lai, Wilson" userId="2840974a-0d84-4886-90a9-9a3ed79f3a48" providerId="ADAL" clId="{9F23B798-9E84-4552-BA63-E776E805C424}" dt="2026-09-24T04:17:32.941" v="54"/>
        <pc:sldMkLst>
          <pc:docMk/>
          <pc:sldMk cId="0" sldId="265"/>
        </pc:sldMkLst>
        <pc:picChg chg="del">
          <ac:chgData name="Lai, Wilson" userId="2840974a-0d84-4886-90a9-9a3ed79f3a48" providerId="ADAL" clId="{9F23B798-9E84-4552-BA63-E776E805C424}" dt="2026-09-24T03:32:40.674" v="25" actId="21"/>
          <ac:picMkLst>
            <pc:docMk/>
            <pc:sldMk cId="0" sldId="265"/>
            <ac:picMk id="2" creationId="{00000000-0000-0000-0000-000000000000}"/>
          </ac:picMkLst>
        </pc:picChg>
        <pc:picChg chg="add">
          <ac:chgData name="Lai, Wilson" userId="2840974a-0d84-4886-90a9-9a3ed79f3a48" providerId="ADAL" clId="{9F23B798-9E84-4552-BA63-E776E805C424}" dt="2026-09-24T03:33:18.856" v="26" actId="22"/>
          <ac:picMkLst>
            <pc:docMk/>
            <pc:sldMk cId="0" sldId="265"/>
            <ac:picMk id="4" creationId="{1DFB47D8-C598-A529-ACA2-E34BEE351A79}"/>
          </ac:picMkLst>
        </pc:picChg>
      </pc:sldChg>
      <pc:sldChg chg="addSp delSp mod modNotes modNotesTx">
        <pc:chgData name="Lai, Wilson" userId="2840974a-0d84-4886-90a9-9a3ed79f3a48" providerId="ADAL" clId="{9F23B798-9E84-4552-BA63-E776E805C424}" dt="2026-09-24T04:17:32.941" v="54"/>
        <pc:sldMkLst>
          <pc:docMk/>
          <pc:sldMk cId="0" sldId="266"/>
        </pc:sldMkLst>
        <pc:picChg chg="del">
          <ac:chgData name="Lai, Wilson" userId="2840974a-0d84-4886-90a9-9a3ed79f3a48" providerId="ADAL" clId="{9F23B798-9E84-4552-BA63-E776E805C424}" dt="2026-09-24T03:33:22.706" v="27" actId="21"/>
          <ac:picMkLst>
            <pc:docMk/>
            <pc:sldMk cId="0" sldId="266"/>
            <ac:picMk id="2" creationId="{00000000-0000-0000-0000-000000000000}"/>
          </ac:picMkLst>
        </pc:picChg>
        <pc:picChg chg="add">
          <ac:chgData name="Lai, Wilson" userId="2840974a-0d84-4886-90a9-9a3ed79f3a48" providerId="ADAL" clId="{9F23B798-9E84-4552-BA63-E776E805C424}" dt="2026-09-24T03:33:41.791" v="28" actId="22"/>
          <ac:picMkLst>
            <pc:docMk/>
            <pc:sldMk cId="0" sldId="266"/>
            <ac:picMk id="4" creationId="{E2EB5B4A-E230-30C9-33F3-DD4D020006AB}"/>
          </ac:picMkLst>
        </pc:picChg>
      </pc:sldChg>
      <pc:sldChg chg="addSp delSp mod modNotes">
        <pc:chgData name="Lai, Wilson" userId="2840974a-0d84-4886-90a9-9a3ed79f3a48" providerId="ADAL" clId="{9F23B798-9E84-4552-BA63-E776E805C424}" dt="2026-09-24T04:17:32.941" v="54"/>
        <pc:sldMkLst>
          <pc:docMk/>
          <pc:sldMk cId="0" sldId="267"/>
        </pc:sldMkLst>
        <pc:picChg chg="del">
          <ac:chgData name="Lai, Wilson" userId="2840974a-0d84-4886-90a9-9a3ed79f3a48" providerId="ADAL" clId="{9F23B798-9E84-4552-BA63-E776E805C424}" dt="2026-09-24T03:33:43.200" v="29" actId="21"/>
          <ac:picMkLst>
            <pc:docMk/>
            <pc:sldMk cId="0" sldId="267"/>
            <ac:picMk id="2" creationId="{00000000-0000-0000-0000-000000000000}"/>
          </ac:picMkLst>
        </pc:picChg>
        <pc:picChg chg="add">
          <ac:chgData name="Lai, Wilson" userId="2840974a-0d84-4886-90a9-9a3ed79f3a48" providerId="ADAL" clId="{9F23B798-9E84-4552-BA63-E776E805C424}" dt="2026-09-24T03:33:50.969" v="30" actId="22"/>
          <ac:picMkLst>
            <pc:docMk/>
            <pc:sldMk cId="0" sldId="267"/>
            <ac:picMk id="4" creationId="{7C07A0DF-6FB9-5B11-320D-AF5C045F10AD}"/>
          </ac:picMkLst>
        </pc:picChg>
      </pc:sldChg>
      <pc:sldChg chg="addSp delSp mod modNotes">
        <pc:chgData name="Lai, Wilson" userId="2840974a-0d84-4886-90a9-9a3ed79f3a48" providerId="ADAL" clId="{9F23B798-9E84-4552-BA63-E776E805C424}" dt="2026-09-24T04:17:32.941" v="54"/>
        <pc:sldMkLst>
          <pc:docMk/>
          <pc:sldMk cId="0" sldId="268"/>
        </pc:sldMkLst>
        <pc:picChg chg="del">
          <ac:chgData name="Lai, Wilson" userId="2840974a-0d84-4886-90a9-9a3ed79f3a48" providerId="ADAL" clId="{9F23B798-9E84-4552-BA63-E776E805C424}" dt="2026-09-24T03:33:52.412" v="31" actId="21"/>
          <ac:picMkLst>
            <pc:docMk/>
            <pc:sldMk cId="0" sldId="268"/>
            <ac:picMk id="2" creationId="{00000000-0000-0000-0000-000000000000}"/>
          </ac:picMkLst>
        </pc:picChg>
        <pc:picChg chg="add">
          <ac:chgData name="Lai, Wilson" userId="2840974a-0d84-4886-90a9-9a3ed79f3a48" providerId="ADAL" clId="{9F23B798-9E84-4552-BA63-E776E805C424}" dt="2026-09-24T03:34:02.717" v="32" actId="22"/>
          <ac:picMkLst>
            <pc:docMk/>
            <pc:sldMk cId="0" sldId="268"/>
            <ac:picMk id="4" creationId="{08F4396B-91C8-0B45-89DC-FA0F52A69513}"/>
          </ac:picMkLst>
        </pc:picChg>
      </pc:sldChg>
      <pc:sldChg chg="addSp delSp mod modNotes">
        <pc:chgData name="Lai, Wilson" userId="2840974a-0d84-4886-90a9-9a3ed79f3a48" providerId="ADAL" clId="{9F23B798-9E84-4552-BA63-E776E805C424}" dt="2026-09-24T04:17:32.941" v="54"/>
        <pc:sldMkLst>
          <pc:docMk/>
          <pc:sldMk cId="0" sldId="269"/>
        </pc:sldMkLst>
        <pc:picChg chg="del">
          <ac:chgData name="Lai, Wilson" userId="2840974a-0d84-4886-90a9-9a3ed79f3a48" providerId="ADAL" clId="{9F23B798-9E84-4552-BA63-E776E805C424}" dt="2026-09-24T03:34:04.570" v="33" actId="21"/>
          <ac:picMkLst>
            <pc:docMk/>
            <pc:sldMk cId="0" sldId="269"/>
            <ac:picMk id="2" creationId="{00000000-0000-0000-0000-000000000000}"/>
          </ac:picMkLst>
        </pc:picChg>
        <pc:picChg chg="add">
          <ac:chgData name="Lai, Wilson" userId="2840974a-0d84-4886-90a9-9a3ed79f3a48" providerId="ADAL" clId="{9F23B798-9E84-4552-BA63-E776E805C424}" dt="2026-09-24T03:34:14.781" v="34" actId="22"/>
          <ac:picMkLst>
            <pc:docMk/>
            <pc:sldMk cId="0" sldId="269"/>
            <ac:picMk id="4" creationId="{1CB3933F-3008-D806-348F-A1A1D8511028}"/>
          </ac:picMkLst>
        </pc:picChg>
      </pc:sldChg>
      <pc:sldChg chg="addSp delSp mod modNotes">
        <pc:chgData name="Lai, Wilson" userId="2840974a-0d84-4886-90a9-9a3ed79f3a48" providerId="ADAL" clId="{9F23B798-9E84-4552-BA63-E776E805C424}" dt="2026-09-24T04:17:32.941" v="54"/>
        <pc:sldMkLst>
          <pc:docMk/>
          <pc:sldMk cId="0" sldId="270"/>
        </pc:sldMkLst>
        <pc:picChg chg="del">
          <ac:chgData name="Lai, Wilson" userId="2840974a-0d84-4886-90a9-9a3ed79f3a48" providerId="ADAL" clId="{9F23B798-9E84-4552-BA63-E776E805C424}" dt="2026-09-24T03:34:16.781" v="35" actId="21"/>
          <ac:picMkLst>
            <pc:docMk/>
            <pc:sldMk cId="0" sldId="270"/>
            <ac:picMk id="2" creationId="{00000000-0000-0000-0000-000000000000}"/>
          </ac:picMkLst>
        </pc:picChg>
        <pc:picChg chg="add">
          <ac:chgData name="Lai, Wilson" userId="2840974a-0d84-4886-90a9-9a3ed79f3a48" providerId="ADAL" clId="{9F23B798-9E84-4552-BA63-E776E805C424}" dt="2026-09-24T03:34:25.505" v="36" actId="22"/>
          <ac:picMkLst>
            <pc:docMk/>
            <pc:sldMk cId="0" sldId="270"/>
            <ac:picMk id="4" creationId="{087FE250-B623-22CB-737A-7F127ECC16F9}"/>
          </ac:picMkLst>
        </pc:picChg>
      </pc:sldChg>
      <pc:sldChg chg="addSp delSp mod modNotes modNotesTx">
        <pc:chgData name="Lai, Wilson" userId="2840974a-0d84-4886-90a9-9a3ed79f3a48" providerId="ADAL" clId="{9F23B798-9E84-4552-BA63-E776E805C424}" dt="2026-09-24T04:17:32.941" v="54"/>
        <pc:sldMkLst>
          <pc:docMk/>
          <pc:sldMk cId="4027312434" sldId="271"/>
        </pc:sldMkLst>
        <pc:picChg chg="del">
          <ac:chgData name="Lai, Wilson" userId="2840974a-0d84-4886-90a9-9a3ed79f3a48" providerId="ADAL" clId="{9F23B798-9E84-4552-BA63-E776E805C424}" dt="2026-09-24T03:34:27.399" v="37" actId="21"/>
          <ac:picMkLst>
            <pc:docMk/>
            <pc:sldMk cId="4027312434" sldId="271"/>
            <ac:picMk id="3" creationId="{21959A99-5D30-7D05-87E9-0B91699CC227}"/>
          </ac:picMkLst>
        </pc:picChg>
        <pc:picChg chg="add">
          <ac:chgData name="Lai, Wilson" userId="2840974a-0d84-4886-90a9-9a3ed79f3a48" providerId="ADAL" clId="{9F23B798-9E84-4552-BA63-E776E805C424}" dt="2026-09-24T03:34:41.019" v="38" actId="22"/>
          <ac:picMkLst>
            <pc:docMk/>
            <pc:sldMk cId="4027312434" sldId="271"/>
            <ac:picMk id="4" creationId="{1F22782A-72EA-6E1F-B494-FD673C5E5A7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793019-0904-42DD-A92F-F1884B91E97C}"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93BCFF-4565-4EE8-A39A-8DBB8C748FCB}" type="slidenum">
              <a:rPr lang="en-US" smtClean="0"/>
              <a:t>‹#›</a:t>
            </a:fld>
            <a:endParaRPr lang="en-US"/>
          </a:p>
        </p:txBody>
      </p:sp>
    </p:spTree>
    <p:extLst>
      <p:ext uri="{BB962C8B-B14F-4D97-AF65-F5344CB8AC3E}">
        <p14:creationId xmlns:p14="http://schemas.microsoft.com/office/powerpoint/2010/main" val="220939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Welcome, everyone. Today we are diving into a case study that sits at the exact intersection of financial strategy, human psychology, and legacy engineering. Title: 'The $35M Pivot From Software Empire to a 150-Acre Farm.'</a:t>
            </a:r>
          </a:p>
          <a:p>
            <a:pPr lvl="0"/>
            <a:r>
              <a:rPr lang="en-US" dirty="0"/>
              <a:t>This presentation is modeled directly after Ryan Levesque's interview on the Moneywise podcast. Ryan built a enterprise software empire generating well over $100 million in cumulative sales, only to walk away and completely redesign his life around a 150-acre homestead.</a:t>
            </a:r>
          </a:p>
          <a:p>
            <a:pPr lvl="0"/>
            <a:r>
              <a:rPr lang="en-US" dirty="0"/>
              <a:t>Over the next 15 slides, we aren't just going to look at the narrative of a founder leaving tech; we are going to break down the exact mathematics of net worth, the psychological traps high earners fall into, the mechanics of M&amp;A deals collapsing, and the financial architecture required to fund intentional capital deployment. Let's jump in.</a:t>
            </a:r>
          </a:p>
          <a:p>
            <a:endParaRPr lang="en-US" dirty="0"/>
          </a:p>
          <a:p>
            <a:endParaRPr lang="en-US" dirty="0"/>
          </a:p>
          <a:p>
            <a:endParaRPr lang="en-US" dirty="0"/>
          </a:p>
          <a:p>
            <a:endParaRPr lang="en-US" dirty="0"/>
          </a:p>
          <a:p>
            <a:endParaRPr lang="en-US" dirty="0"/>
          </a:p>
          <a:p>
            <a:r>
              <a:rPr lang="en-US" b="1" dirty="0"/>
              <a:t>$35M Net Worth. Then He Traded It All for a 150-Acre Farm</a:t>
            </a:r>
          </a:p>
          <a:p>
            <a:r>
              <a:rPr lang="en-US" dirty="0"/>
              <a:t>https://www.youtube.com/watch?v=TZdwufg842Y</a:t>
            </a:r>
          </a:p>
        </p:txBody>
      </p:sp>
      <p:sp>
        <p:nvSpPr>
          <p:cNvPr id="4" name="Slide Number Placeholder 3"/>
          <p:cNvSpPr>
            <a:spLocks noGrp="1"/>
          </p:cNvSpPr>
          <p:nvPr>
            <p:ph type="sldNum" sz="quarter" idx="5"/>
          </p:nvPr>
        </p:nvSpPr>
        <p:spPr/>
        <p:txBody>
          <a:bodyPr/>
          <a:lstStyle/>
          <a:p>
            <a:fld id="{0193BCFF-4565-4EE8-A39A-8DBB8C748FCB}" type="slidenum">
              <a:rPr lang="en-US" smtClean="0"/>
              <a:t>1</a:t>
            </a:fld>
            <a:endParaRPr lang="en-US"/>
          </a:p>
        </p:txBody>
      </p:sp>
    </p:spTree>
    <p:extLst>
      <p:ext uri="{BB962C8B-B14F-4D97-AF65-F5344CB8AC3E}">
        <p14:creationId xmlns:p14="http://schemas.microsoft.com/office/powerpoint/2010/main" val="1957748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Look at the chart on this slide. The solid line represents 'Actual Wealth,' and the dotted line above it represents 'Desired Wealth.' Notice how they never intersect.</a:t>
            </a:r>
          </a:p>
          <a:p>
            <a:pPr lvl="0"/>
            <a:r>
              <a:rPr lang="en-US" dirty="0"/>
              <a:t>Why is that? Because of a psychological phenomenon known as the </a:t>
            </a:r>
            <a:r>
              <a:rPr lang="en-US" b="1" dirty="0"/>
              <a:t>2x Rule</a:t>
            </a:r>
            <a:r>
              <a:rPr lang="en-US" dirty="0"/>
              <a:t>. Empirical studies across ultra-high-net-worth individuals demonstrate that regardless of whether someone’s net worth sits at $200,000 or $20 million, their internal 'safety number'—the figure where they believe they can finally relax—is almost always double their current net worth.</a:t>
            </a:r>
          </a:p>
          <a:p>
            <a:pPr lvl="0"/>
            <a:r>
              <a:rPr lang="en-US" dirty="0"/>
              <a:t>This isn't just financial ambition; it's a </a:t>
            </a:r>
            <a:r>
              <a:rPr lang="en-US" b="1" dirty="0"/>
              <a:t>Biological Trap</a:t>
            </a:r>
            <a:r>
              <a:rPr lang="en-US" dirty="0"/>
              <a:t>. Our brains evolved in environments of scarcity. We are hardwired like squirrels amassing acorns for a winter that never ends. Rationalizing that you have 'enough' requires actively fighting your evolutionary neurochemistry every single day. Without explicit intervention, the target number dynamically shifts upward, ensuring the chase never mathematically finishes.</a:t>
            </a:r>
          </a:p>
          <a:p>
            <a:endParaRPr lang="en-US" dirty="0"/>
          </a:p>
        </p:txBody>
      </p:sp>
      <p:sp>
        <p:nvSpPr>
          <p:cNvPr id="4" name="Slide Number Placeholder 3"/>
          <p:cNvSpPr>
            <a:spLocks noGrp="1"/>
          </p:cNvSpPr>
          <p:nvPr>
            <p:ph type="sldNum" sz="quarter" idx="5"/>
          </p:nvPr>
        </p:nvSpPr>
        <p:spPr/>
        <p:txBody>
          <a:bodyPr/>
          <a:lstStyle/>
          <a:p>
            <a:fld id="{0193BCFF-4565-4EE8-A39A-8DBB8C748FCB}" type="slidenum">
              <a:rPr lang="en-US" smtClean="0"/>
              <a:t>2</a:t>
            </a:fld>
            <a:endParaRPr lang="en-US"/>
          </a:p>
        </p:txBody>
      </p:sp>
    </p:spTree>
    <p:extLst>
      <p:ext uri="{BB962C8B-B14F-4D97-AF65-F5344CB8AC3E}">
        <p14:creationId xmlns:p14="http://schemas.microsoft.com/office/powerpoint/2010/main" val="399933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Before we examine how Ryan broke out of this cycle, I want to anchor our perspective on this specific focal point. </a:t>
            </a:r>
          </a:p>
          <a:p>
            <a:pPr lvl="0"/>
            <a:r>
              <a:rPr lang="en-US" sz="1200" kern="1200" dirty="0">
                <a:solidFill>
                  <a:schemeClr val="tx1"/>
                </a:solidFill>
                <a:effectLst/>
                <a:latin typeface="+mn-lt"/>
                <a:ea typeface="+mn-ea"/>
                <a:cs typeface="+mn-cs"/>
              </a:rPr>
              <a:t>In business, we are conditioned to constantly zoom out—looking at macro trends, market TAM, and multi-year scale. But breaking the 'more' cycle requires zooming in on the single inflection point where strategy meets personal reality. </a:t>
            </a:r>
          </a:p>
          <a:p>
            <a:pPr lvl="0"/>
            <a:r>
              <a:rPr lang="en-US" sz="1200" kern="1200" dirty="0">
                <a:solidFill>
                  <a:schemeClr val="tx1"/>
                </a:solidFill>
                <a:effectLst/>
                <a:latin typeface="+mn-lt"/>
                <a:ea typeface="+mn-ea"/>
                <a:cs typeface="+mn-cs"/>
              </a:rPr>
              <a:t>Let's look at how Ryan built the foundation that made his pivot possible, starting with his early career trajectory. </a:t>
            </a:r>
          </a:p>
          <a:p>
            <a:endParaRPr lang="en-US" dirty="0"/>
          </a:p>
        </p:txBody>
      </p:sp>
      <p:sp>
        <p:nvSpPr>
          <p:cNvPr id="4" name="Slide Number Placeholder 3"/>
          <p:cNvSpPr>
            <a:spLocks noGrp="1"/>
          </p:cNvSpPr>
          <p:nvPr>
            <p:ph type="sldNum" sz="quarter" idx="5"/>
          </p:nvPr>
        </p:nvSpPr>
        <p:spPr/>
        <p:txBody>
          <a:bodyPr/>
          <a:lstStyle/>
          <a:p>
            <a:fld id="{0193BCFF-4565-4EE8-A39A-8DBB8C748FCB}" type="slidenum">
              <a:rPr lang="en-US" smtClean="0"/>
              <a:t>3</a:t>
            </a:fld>
            <a:endParaRPr lang="en-US"/>
          </a:p>
        </p:txBody>
      </p:sp>
    </p:spTree>
    <p:extLst>
      <p:ext uri="{BB962C8B-B14F-4D97-AF65-F5344CB8AC3E}">
        <p14:creationId xmlns:p14="http://schemas.microsoft.com/office/powerpoint/2010/main" val="3362544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Ryan didn't start with a high-flying tech company. His path was calculated using a framework called 'Emulate before you innovate.' </a:t>
            </a:r>
          </a:p>
          <a:p>
            <a:pPr lvl="0"/>
            <a:r>
              <a:rPr lang="en-US" sz="1200" b="1" kern="1200" dirty="0">
                <a:solidFill>
                  <a:schemeClr val="tx1"/>
                </a:solidFill>
                <a:effectLst/>
                <a:latin typeface="+mn-lt"/>
                <a:ea typeface="+mn-ea"/>
                <a:cs typeface="+mn-cs"/>
              </a:rPr>
              <a:t>2008 &amp; Phase 1:</a:t>
            </a:r>
            <a:r>
              <a:rPr lang="en-US" sz="1200" kern="1200" dirty="0">
                <a:solidFill>
                  <a:schemeClr val="tx1"/>
                </a:solidFill>
                <a:effectLst/>
                <a:latin typeface="+mn-lt"/>
                <a:ea typeface="+mn-ea"/>
                <a:cs typeface="+mn-cs"/>
              </a:rPr>
              <a:t> During the collapse of AIG while working in China, Ryan resigned and launched a business selling Scrabble tile jewelry tutorials. He didn't invent the market; he reverse-engineered daily sales on Etsy, saw where existing guides failed, and built a superior product. </a:t>
            </a:r>
          </a:p>
          <a:p>
            <a:pPr lvl="0"/>
            <a:r>
              <a:rPr lang="en-US" sz="1200" b="1" kern="1200" dirty="0">
                <a:solidFill>
                  <a:schemeClr val="tx1"/>
                </a:solidFill>
                <a:effectLst/>
                <a:latin typeface="+mn-lt"/>
                <a:ea typeface="+mn-ea"/>
                <a:cs typeface="+mn-cs"/>
              </a:rPr>
              <a:t>Phase 2:</a:t>
            </a:r>
            <a:r>
              <a:rPr lang="en-US" sz="1200" kern="1200" dirty="0">
                <a:solidFill>
                  <a:schemeClr val="tx1"/>
                </a:solidFill>
                <a:effectLst/>
                <a:latin typeface="+mn-lt"/>
                <a:ea typeface="+mn-ea"/>
                <a:cs typeface="+mn-cs"/>
              </a:rPr>
              <a:t> He replicated this exact playbook across 23 distinct micro-businesses in evergreen niches ranging from orchid care to memory improvement. </a:t>
            </a:r>
          </a:p>
          <a:p>
            <a:pPr lvl="0"/>
            <a:r>
              <a:rPr lang="en-US" sz="1200" b="1" kern="1200" dirty="0">
                <a:solidFill>
                  <a:schemeClr val="tx1"/>
                </a:solidFill>
                <a:effectLst/>
                <a:latin typeface="+mn-lt"/>
                <a:ea typeface="+mn-ea"/>
                <a:cs typeface="+mn-cs"/>
              </a:rPr>
              <a:t>Phase 3:</a:t>
            </a:r>
            <a:r>
              <a:rPr lang="en-US" sz="1200" kern="1200" dirty="0">
                <a:solidFill>
                  <a:schemeClr val="tx1"/>
                </a:solidFill>
                <a:effectLst/>
                <a:latin typeface="+mn-lt"/>
                <a:ea typeface="+mn-ea"/>
                <a:cs typeface="+mn-cs"/>
              </a:rPr>
              <a:t> This culminated in </a:t>
            </a:r>
            <a:r>
              <a:rPr lang="en-US" sz="1200" b="1" kern="1200" dirty="0">
                <a:solidFill>
                  <a:schemeClr val="tx1"/>
                </a:solidFill>
                <a:effectLst/>
                <a:latin typeface="+mn-lt"/>
                <a:ea typeface="+mn-ea"/>
                <a:cs typeface="+mn-cs"/>
              </a:rPr>
              <a:t>The Ask Method Company</a:t>
            </a:r>
            <a:r>
              <a:rPr lang="en-US" sz="1200" kern="1200" dirty="0">
                <a:solidFill>
                  <a:schemeClr val="tx1"/>
                </a:solidFill>
                <a:effectLst/>
                <a:latin typeface="+mn-lt"/>
                <a:ea typeface="+mn-ea"/>
                <a:cs typeface="+mn-cs"/>
              </a:rPr>
              <a:t> and its flagship software, generating over $100 million in cumulative revenue and landing on the Inc. 5000 list 7 times. </a:t>
            </a:r>
          </a:p>
          <a:p>
            <a:pPr lvl="0"/>
            <a:r>
              <a:rPr lang="en-US" sz="1200" b="1" kern="1200" dirty="0">
                <a:solidFill>
                  <a:schemeClr val="tx1"/>
                </a:solidFill>
                <a:effectLst/>
                <a:latin typeface="+mn-lt"/>
                <a:ea typeface="+mn-ea"/>
                <a:cs typeface="+mn-cs"/>
              </a:rPr>
              <a:t>The Core Insight:</a:t>
            </a:r>
            <a:r>
              <a:rPr lang="en-US" sz="1200" kern="1200" dirty="0">
                <a:solidFill>
                  <a:schemeClr val="tx1"/>
                </a:solidFill>
                <a:effectLst/>
                <a:latin typeface="+mn-lt"/>
                <a:ea typeface="+mn-ea"/>
                <a:cs typeface="+mn-cs"/>
              </a:rPr>
              <a:t> Behind this success was extreme operational friction. Building this empire demanded 100-hour work weeks, taking customer calls during rare family vacations, and essentially treating his physical body like a distressed asset to power the growth engine. </a:t>
            </a:r>
          </a:p>
          <a:p>
            <a:endParaRPr lang="en-US" dirty="0"/>
          </a:p>
        </p:txBody>
      </p:sp>
      <p:sp>
        <p:nvSpPr>
          <p:cNvPr id="4" name="Slide Number Placeholder 3"/>
          <p:cNvSpPr>
            <a:spLocks noGrp="1"/>
          </p:cNvSpPr>
          <p:nvPr>
            <p:ph type="sldNum" sz="quarter" idx="5"/>
          </p:nvPr>
        </p:nvSpPr>
        <p:spPr/>
        <p:txBody>
          <a:bodyPr/>
          <a:lstStyle/>
          <a:p>
            <a:fld id="{0193BCFF-4565-4EE8-A39A-8DBB8C748FCB}" type="slidenum">
              <a:rPr lang="en-US" smtClean="0"/>
              <a:t>4</a:t>
            </a:fld>
            <a:endParaRPr lang="en-US"/>
          </a:p>
        </p:txBody>
      </p:sp>
    </p:spTree>
    <p:extLst>
      <p:ext uri="{BB962C8B-B14F-4D97-AF65-F5344CB8AC3E}">
        <p14:creationId xmlns:p14="http://schemas.microsoft.com/office/powerpoint/2010/main" val="1999854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At age 30, while running 23 micro-businesses, Ryan was a new father to a 6-month-old. He was suffering from chronic exhaustion, severe weight loss, and unquenchable thirst. He wrote it off as the 'Texas heat' and kept pushing through. </a:t>
            </a:r>
          </a:p>
          <a:p>
            <a:pPr lvl="0"/>
            <a:r>
              <a:rPr lang="en-US" sz="1200" kern="1200" dirty="0">
                <a:solidFill>
                  <a:schemeClr val="tx1"/>
                </a:solidFill>
                <a:effectLst/>
                <a:latin typeface="+mn-lt"/>
                <a:ea typeface="+mn-ea"/>
                <a:cs typeface="+mn-cs"/>
              </a:rPr>
              <a:t>His wife eventually insisted he apply for life insurance. During the routine physical exam, his lab results caused a medical panic. He was denied coverage and rushed directly to the ICU. </a:t>
            </a:r>
          </a:p>
          <a:p>
            <a:pPr lvl="0"/>
            <a:r>
              <a:rPr lang="en-US" sz="1200" kern="1200" dirty="0">
                <a:solidFill>
                  <a:schemeClr val="tx1"/>
                </a:solidFill>
                <a:effectLst/>
                <a:latin typeface="+mn-lt"/>
                <a:ea typeface="+mn-ea"/>
                <a:cs typeface="+mn-cs"/>
              </a:rPr>
              <a:t>Ryan was in severe </a:t>
            </a:r>
            <a:r>
              <a:rPr lang="en-US" sz="1200" b="1" kern="1200" dirty="0">
                <a:solidFill>
                  <a:schemeClr val="tx1"/>
                </a:solidFill>
                <a:effectLst/>
                <a:latin typeface="+mn-lt"/>
                <a:ea typeface="+mn-ea"/>
                <a:cs typeface="+mn-cs"/>
              </a:rPr>
              <a:t>Diabetic Ketoacidosis (DKA)</a:t>
            </a:r>
            <a:r>
              <a:rPr lang="en-US" sz="1200" kern="1200" dirty="0">
                <a:solidFill>
                  <a:schemeClr val="tx1"/>
                </a:solidFill>
                <a:effectLst/>
                <a:latin typeface="+mn-lt"/>
                <a:ea typeface="+mn-ea"/>
                <a:cs typeface="+mn-cs"/>
              </a:rPr>
              <a:t>. His pancreas had stopped producing insulin, and his kidneys were actively failing. The attending doctor looked at him and said, 'You shouldn't be standing; you should be in a coma.' </a:t>
            </a:r>
          </a:p>
          <a:p>
            <a:pPr lvl="0"/>
            <a:r>
              <a:rPr lang="en-US" sz="1200" kern="1200" dirty="0">
                <a:solidFill>
                  <a:schemeClr val="tx1"/>
                </a:solidFill>
                <a:effectLst/>
                <a:latin typeface="+mn-lt"/>
                <a:ea typeface="+mn-ea"/>
                <a:cs typeface="+mn-cs"/>
              </a:rPr>
              <a:t>Had his wife not forced that life insurance application, Ryan would have continued operating on pure adrenaline until his body shut down completely. This was his first major wake-up call that financial growth built on physical destruction is unsustainable. </a:t>
            </a:r>
          </a:p>
          <a:p>
            <a:endParaRPr lang="en-US" dirty="0"/>
          </a:p>
        </p:txBody>
      </p:sp>
      <p:sp>
        <p:nvSpPr>
          <p:cNvPr id="4" name="Slide Number Placeholder 3"/>
          <p:cNvSpPr>
            <a:spLocks noGrp="1"/>
          </p:cNvSpPr>
          <p:nvPr>
            <p:ph type="sldNum" sz="quarter" idx="5"/>
          </p:nvPr>
        </p:nvSpPr>
        <p:spPr/>
        <p:txBody>
          <a:bodyPr/>
          <a:lstStyle/>
          <a:p>
            <a:fld id="{0193BCFF-4565-4EE8-A39A-8DBB8C748FCB}" type="slidenum">
              <a:rPr lang="en-US" smtClean="0"/>
              <a:t>5</a:t>
            </a:fld>
            <a:endParaRPr lang="en-US"/>
          </a:p>
        </p:txBody>
      </p:sp>
    </p:spTree>
    <p:extLst>
      <p:ext uri="{BB962C8B-B14F-4D97-AF65-F5344CB8AC3E}">
        <p14:creationId xmlns:p14="http://schemas.microsoft.com/office/powerpoint/2010/main" val="1041138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Even after adjusting his operational pace, Ryan faced another harsh reality of entrepreneurship: the fragility of M&amp;A. </a:t>
            </a:r>
          </a:p>
          <a:p>
            <a:pPr lvl="0"/>
            <a:r>
              <a:rPr lang="en-US" sz="1200" b="1" kern="1200" dirty="0">
                <a:solidFill>
                  <a:schemeClr val="tx1"/>
                </a:solidFill>
                <a:effectLst/>
                <a:latin typeface="+mn-lt"/>
                <a:ea typeface="+mn-ea"/>
                <a:cs typeface="+mn-cs"/>
              </a:rPr>
              <a:t>Branch 1 (2021):</a:t>
            </a:r>
            <a:r>
              <a:rPr lang="en-US" sz="1200" kern="1200" dirty="0">
                <a:solidFill>
                  <a:schemeClr val="tx1"/>
                </a:solidFill>
                <a:effectLst/>
                <a:latin typeface="+mn-lt"/>
                <a:ea typeface="+mn-ea"/>
                <a:cs typeface="+mn-cs"/>
              </a:rPr>
              <a:t> A private equity firm offered a $42.5 million majority recapitalization. At the 11th hour, the PE firm restructured the deal into a minority recap. The gross payout dropped to $17 million, which translated to less than $10 million net after taxes and equity partners. Ryan walked away rather than give up control for an unfavorable deal structure. </a:t>
            </a:r>
          </a:p>
          <a:p>
            <a:pPr lvl="0"/>
            <a:r>
              <a:rPr lang="en-US" sz="1200" b="1" kern="1200" dirty="0">
                <a:solidFill>
                  <a:schemeClr val="tx1"/>
                </a:solidFill>
                <a:effectLst/>
                <a:latin typeface="+mn-lt"/>
                <a:ea typeface="+mn-ea"/>
                <a:cs typeface="+mn-cs"/>
              </a:rPr>
              <a:t>Branch 2 (2022):</a:t>
            </a:r>
            <a:r>
              <a:rPr lang="en-US" sz="1200" kern="1200" dirty="0">
                <a:solidFill>
                  <a:schemeClr val="tx1"/>
                </a:solidFill>
                <a:effectLst/>
                <a:latin typeface="+mn-lt"/>
                <a:ea typeface="+mn-ea"/>
                <a:cs typeface="+mn-cs"/>
              </a:rPr>
              <a:t> Following an intensive investment banking auction, the company received a $70 million acquisition offer. By February 2022, the deal was on the '1-yard line.' Then, Russia invaded Ukraine, global credit markets froze, and the buyer pulled all private equity transactions worldwide. </a:t>
            </a:r>
          </a:p>
          <a:p>
            <a:pPr lvl="0"/>
            <a:r>
              <a:rPr lang="en-US" sz="1200" b="1" kern="1200" dirty="0">
                <a:solidFill>
                  <a:schemeClr val="tx1"/>
                </a:solidFill>
                <a:effectLst/>
                <a:latin typeface="+mn-lt"/>
                <a:ea typeface="+mn-ea"/>
                <a:cs typeface="+mn-cs"/>
              </a:rPr>
              <a:t>The Takeaway:</a:t>
            </a:r>
            <a:r>
              <a:rPr lang="en-US" sz="1200" kern="1200" dirty="0">
                <a:solidFill>
                  <a:schemeClr val="tx1"/>
                </a:solidFill>
                <a:effectLst/>
                <a:latin typeface="+mn-lt"/>
                <a:ea typeface="+mn-ea"/>
                <a:cs typeface="+mn-cs"/>
              </a:rPr>
              <a:t> As a founder, you can build a flawless asset, but you have zero control over macro-economic timing. These two 'ghost exits' left him exhausted and forced him to reevaluate his entire timeline. </a:t>
            </a:r>
          </a:p>
          <a:p>
            <a:endParaRPr lang="en-US" dirty="0"/>
          </a:p>
        </p:txBody>
      </p:sp>
      <p:sp>
        <p:nvSpPr>
          <p:cNvPr id="4" name="Slide Number Placeholder 3"/>
          <p:cNvSpPr>
            <a:spLocks noGrp="1"/>
          </p:cNvSpPr>
          <p:nvPr>
            <p:ph type="sldNum" sz="quarter" idx="5"/>
          </p:nvPr>
        </p:nvSpPr>
        <p:spPr/>
        <p:txBody>
          <a:bodyPr/>
          <a:lstStyle/>
          <a:p>
            <a:fld id="{0193BCFF-4565-4EE8-A39A-8DBB8C748FCB}" type="slidenum">
              <a:rPr lang="en-US" smtClean="0"/>
              <a:t>6</a:t>
            </a:fld>
            <a:endParaRPr lang="en-US"/>
          </a:p>
        </p:txBody>
      </p:sp>
    </p:spTree>
    <p:extLst>
      <p:ext uri="{BB962C8B-B14F-4D97-AF65-F5344CB8AC3E}">
        <p14:creationId xmlns:p14="http://schemas.microsoft.com/office/powerpoint/2010/main" val="35484258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After the $70 million deal fell apart, Ryan sat down to do a thought experiment. </a:t>
            </a:r>
          </a:p>
          <a:p>
            <a:pPr lvl="0"/>
            <a:r>
              <a:rPr lang="en-US" sz="1200" b="1" kern="1200" dirty="0">
                <a:solidFill>
                  <a:schemeClr val="tx1"/>
                </a:solidFill>
                <a:effectLst/>
                <a:latin typeface="+mn-lt"/>
                <a:ea typeface="+mn-ea"/>
                <a:cs typeface="+mn-cs"/>
              </a:rPr>
              <a:t>The Premise:</a:t>
            </a:r>
            <a:r>
              <a:rPr lang="en-US" sz="1200" kern="1200" dirty="0">
                <a:solidFill>
                  <a:schemeClr val="tx1"/>
                </a:solidFill>
                <a:effectLst/>
                <a:latin typeface="+mn-lt"/>
                <a:ea typeface="+mn-ea"/>
                <a:cs typeface="+mn-cs"/>
              </a:rPr>
              <a:t> 'If that $70 million deal had gone through, I would have walked away with roughly $35 million liquid after taxes, fees, and distributions.' </a:t>
            </a:r>
          </a:p>
          <a:p>
            <a:pPr lvl="0"/>
            <a:r>
              <a:rPr lang="en-US" sz="1200" b="1" kern="1200" dirty="0">
                <a:solidFill>
                  <a:schemeClr val="tx1"/>
                </a:solidFill>
                <a:effectLst/>
                <a:latin typeface="+mn-lt"/>
                <a:ea typeface="+mn-ea"/>
                <a:cs typeface="+mn-cs"/>
              </a:rPr>
              <a:t>The Epiphany:</a:t>
            </a:r>
            <a:r>
              <a:rPr lang="en-US" sz="1200" kern="1200" dirty="0">
                <a:solidFill>
                  <a:schemeClr val="tx1"/>
                </a:solidFill>
                <a:effectLst/>
                <a:latin typeface="+mn-lt"/>
                <a:ea typeface="+mn-ea"/>
                <a:cs typeface="+mn-cs"/>
              </a:rPr>
              <a:t> 'What would I actually do with that $35 million?' His answer was simple: Move his family out of the suburban grind, immerse them in nature, and start a self-sustaining farm. </a:t>
            </a:r>
          </a:p>
          <a:p>
            <a:pPr lvl="0"/>
            <a:r>
              <a:rPr lang="en-US" sz="1200" b="1" kern="1200" dirty="0">
                <a:solidFill>
                  <a:schemeClr val="tx1"/>
                </a:solidFill>
                <a:effectLst/>
                <a:latin typeface="+mn-lt"/>
                <a:ea typeface="+mn-ea"/>
                <a:cs typeface="+mn-cs"/>
              </a:rPr>
              <a:t>The Realization:</a:t>
            </a:r>
            <a:r>
              <a:rPr lang="en-US" sz="1200" kern="1200" dirty="0">
                <a:solidFill>
                  <a:schemeClr val="tx1"/>
                </a:solidFill>
                <a:effectLst/>
                <a:latin typeface="+mn-lt"/>
                <a:ea typeface="+mn-ea"/>
                <a:cs typeface="+mn-cs"/>
              </a:rPr>
              <a:t> When he audited his existing liquid holdings from prior software dividends, exits, and real estate investments, he realized he already had access to the capital required to fund that lifestyle. He didn't need the $70M exit to unlock his post-exit life. He was holding himself hostage to a 'number' he didn't actually need. </a:t>
            </a:r>
          </a:p>
          <a:p>
            <a:endParaRPr lang="en-US" dirty="0"/>
          </a:p>
        </p:txBody>
      </p:sp>
      <p:sp>
        <p:nvSpPr>
          <p:cNvPr id="4" name="Slide Number Placeholder 3"/>
          <p:cNvSpPr>
            <a:spLocks noGrp="1"/>
          </p:cNvSpPr>
          <p:nvPr>
            <p:ph type="sldNum" sz="quarter" idx="5"/>
          </p:nvPr>
        </p:nvSpPr>
        <p:spPr/>
        <p:txBody>
          <a:bodyPr/>
          <a:lstStyle/>
          <a:p>
            <a:fld id="{0193BCFF-4565-4EE8-A39A-8DBB8C748FCB}" type="slidenum">
              <a:rPr lang="en-US" smtClean="0"/>
              <a:t>7</a:t>
            </a:fld>
            <a:endParaRPr lang="en-US"/>
          </a:p>
        </p:txBody>
      </p:sp>
    </p:spTree>
    <p:extLst>
      <p:ext uri="{BB962C8B-B14F-4D97-AF65-F5344CB8AC3E}">
        <p14:creationId xmlns:p14="http://schemas.microsoft.com/office/powerpoint/2010/main" val="2745792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This table contrasts two fundamental frameworks for viewing capital: </a:t>
            </a:r>
          </a:p>
          <a:p>
            <a:pPr lvl="0"/>
            <a:r>
              <a:rPr lang="en-US" sz="1200" b="1" kern="1200" dirty="0">
                <a:solidFill>
                  <a:schemeClr val="tx1"/>
                </a:solidFill>
                <a:effectLst/>
                <a:latin typeface="+mn-lt"/>
                <a:ea typeface="+mn-ea"/>
                <a:cs typeface="+mn-cs"/>
              </a:rPr>
              <a:t>1. Primary KPI:</a:t>
            </a:r>
            <a:r>
              <a:rPr lang="en-US" sz="1200" kern="1200" dirty="0">
                <a:solidFill>
                  <a:schemeClr val="tx1"/>
                </a:solidFill>
                <a:effectLst/>
                <a:latin typeface="+mn-lt"/>
                <a:ea typeface="+mn-ea"/>
                <a:cs typeface="+mn-cs"/>
              </a:rPr>
              <a:t> The Maximizer Engine focuses strictly on net worth growth. The Meaning Engine focuses on extracting maximum value—'sucking the marrow'—out of the present season of life. </a:t>
            </a:r>
          </a:p>
          <a:p>
            <a:pPr lvl="0"/>
            <a:r>
              <a:rPr lang="en-US" sz="1200" b="1" kern="1200" dirty="0">
                <a:solidFill>
                  <a:schemeClr val="tx1"/>
                </a:solidFill>
                <a:effectLst/>
                <a:latin typeface="+mn-lt"/>
                <a:ea typeface="+mn-ea"/>
                <a:cs typeface="+mn-cs"/>
              </a:rPr>
              <a:t>2. Time Horizon:</a:t>
            </a:r>
            <a:r>
              <a:rPr lang="en-US" sz="1200" kern="1200" dirty="0">
                <a:solidFill>
                  <a:schemeClr val="tx1"/>
                </a:solidFill>
                <a:effectLst/>
                <a:latin typeface="+mn-lt"/>
                <a:ea typeface="+mn-ea"/>
                <a:cs typeface="+mn-cs"/>
              </a:rPr>
              <a:t> The Maximizer plans around quarters and exit windows. The Meaning Engine plans around the narrow window between when kids are young children and when they become teenagers. </a:t>
            </a:r>
          </a:p>
          <a:p>
            <a:pPr lvl="0"/>
            <a:r>
              <a:rPr lang="en-US" sz="1200" b="1" kern="1200" dirty="0">
                <a:solidFill>
                  <a:schemeClr val="tx1"/>
                </a:solidFill>
                <a:effectLst/>
                <a:latin typeface="+mn-lt"/>
                <a:ea typeface="+mn-ea"/>
                <a:cs typeface="+mn-cs"/>
              </a:rPr>
              <a:t>3. Definition of Success:</a:t>
            </a:r>
            <a:r>
              <a:rPr lang="en-US" sz="1200" kern="1200" dirty="0">
                <a:solidFill>
                  <a:schemeClr val="tx1"/>
                </a:solidFill>
                <a:effectLst/>
                <a:latin typeface="+mn-lt"/>
                <a:ea typeface="+mn-ea"/>
                <a:cs typeface="+mn-cs"/>
              </a:rPr>
              <a:t> Corporate valuation versus 100% self-sustained protein, sweeteners, and essential fats produced directly on-site. </a:t>
            </a:r>
          </a:p>
          <a:p>
            <a:pPr lvl="0"/>
            <a:r>
              <a:rPr lang="en-US" sz="1200" b="1" kern="1200" dirty="0">
                <a:solidFill>
                  <a:schemeClr val="tx1"/>
                </a:solidFill>
                <a:effectLst/>
                <a:latin typeface="+mn-lt"/>
                <a:ea typeface="+mn-ea"/>
                <a:cs typeface="+mn-cs"/>
              </a:rPr>
              <a:t>4. Default State:</a:t>
            </a:r>
            <a:r>
              <a:rPr lang="en-US" sz="1200" kern="1200" dirty="0">
                <a:solidFill>
                  <a:schemeClr val="tx1"/>
                </a:solidFill>
                <a:effectLst/>
                <a:latin typeface="+mn-lt"/>
                <a:ea typeface="+mn-ea"/>
                <a:cs typeface="+mn-cs"/>
              </a:rPr>
              <a:t> Urgency and scale versus intentionality, observation, and legacy. Ryan shifted his operating system entirely to the right-hand column. </a:t>
            </a:r>
          </a:p>
          <a:p>
            <a:endParaRPr lang="en-US" dirty="0"/>
          </a:p>
        </p:txBody>
      </p:sp>
      <p:sp>
        <p:nvSpPr>
          <p:cNvPr id="4" name="Slide Number Placeholder 3"/>
          <p:cNvSpPr>
            <a:spLocks noGrp="1"/>
          </p:cNvSpPr>
          <p:nvPr>
            <p:ph type="sldNum" sz="quarter" idx="5"/>
          </p:nvPr>
        </p:nvSpPr>
        <p:spPr/>
        <p:txBody>
          <a:bodyPr/>
          <a:lstStyle/>
          <a:p>
            <a:fld id="{0193BCFF-4565-4EE8-A39A-8DBB8C748FCB}" type="slidenum">
              <a:rPr lang="en-US" smtClean="0"/>
              <a:t>8</a:t>
            </a:fld>
            <a:endParaRPr lang="en-US"/>
          </a:p>
        </p:txBody>
      </p:sp>
    </p:spTree>
    <p:extLst>
      <p:ext uri="{BB962C8B-B14F-4D97-AF65-F5344CB8AC3E}">
        <p14:creationId xmlns:p14="http://schemas.microsoft.com/office/powerpoint/2010/main" val="3041289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When Ryan decided to execute this transition, he didn't view the farm as a passive hobby. He approached land acquisition with the same systematic engineering he applied to software development. </a:t>
            </a:r>
          </a:p>
          <a:p>
            <a:pPr lvl="0"/>
            <a:r>
              <a:rPr lang="en-US" sz="1200" kern="1200" dirty="0">
                <a:solidFill>
                  <a:schemeClr val="tx1"/>
                </a:solidFill>
                <a:effectLst/>
                <a:latin typeface="+mn-lt"/>
                <a:ea typeface="+mn-ea"/>
                <a:cs typeface="+mn-cs"/>
              </a:rPr>
              <a:t>This layout represents the intentional zoning of his 150-acre property in Vermont. Every zone—from water sources to maple groves, orchards, and pastures—was designed to operate as an integrated system. Let's examine the criteria used to select this specific asset. </a:t>
            </a:r>
          </a:p>
          <a:p>
            <a:endParaRPr lang="en-US" dirty="0"/>
          </a:p>
        </p:txBody>
      </p:sp>
      <p:sp>
        <p:nvSpPr>
          <p:cNvPr id="4" name="Slide Number Placeholder 3"/>
          <p:cNvSpPr>
            <a:spLocks noGrp="1"/>
          </p:cNvSpPr>
          <p:nvPr>
            <p:ph type="sldNum" sz="quarter" idx="5"/>
          </p:nvPr>
        </p:nvSpPr>
        <p:spPr/>
        <p:txBody>
          <a:bodyPr/>
          <a:lstStyle/>
          <a:p>
            <a:fld id="{0193BCFF-4565-4EE8-A39A-8DBB8C748FCB}" type="slidenum">
              <a:rPr lang="en-US" smtClean="0"/>
              <a:t>9</a:t>
            </a:fld>
            <a:endParaRPr lang="en-US"/>
          </a:p>
        </p:txBody>
      </p:sp>
    </p:spTree>
    <p:extLst>
      <p:ext uri="{BB962C8B-B14F-4D97-AF65-F5344CB8AC3E}">
        <p14:creationId xmlns:p14="http://schemas.microsoft.com/office/powerpoint/2010/main" val="923038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find the right property, Ryan spent 12 months searching while living out of </a:t>
            </a:r>
            <a:r>
              <a:rPr lang="en-US" sz="1200" kern="1200" dirty="0" err="1">
                <a:solidFill>
                  <a:schemeClr val="tx1"/>
                </a:solidFill>
                <a:effectLst/>
                <a:latin typeface="+mn-lt"/>
                <a:ea typeface="+mn-ea"/>
                <a:cs typeface="+mn-cs"/>
              </a:rPr>
              <a:t>Airbnbs</a:t>
            </a:r>
            <a:r>
              <a:rPr lang="en-US" sz="1200" kern="1200" dirty="0">
                <a:solidFill>
                  <a:schemeClr val="tx1"/>
                </a:solidFill>
                <a:effectLst/>
                <a:latin typeface="+mn-lt"/>
                <a:ea typeface="+mn-ea"/>
                <a:cs typeface="+mn-cs"/>
              </a:rPr>
              <a:t>, applying strict criteria: </a:t>
            </a:r>
          </a:p>
          <a:p>
            <a:pPr lvl="0"/>
            <a:r>
              <a:rPr lang="en-US" sz="1200" b="1" i="1" kern="1200" dirty="0">
                <a:solidFill>
                  <a:schemeClr val="tx1"/>
                </a:solidFill>
                <a:effectLst/>
                <a:latin typeface="+mn-lt"/>
                <a:ea typeface="+mn-ea"/>
                <a:cs typeface="+mn-cs"/>
              </a:rPr>
              <a:t>Search Criteria:</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Top of Watershed:</a:t>
            </a:r>
            <a:r>
              <a:rPr lang="en-US" sz="1200" kern="1200" dirty="0">
                <a:solidFill>
                  <a:schemeClr val="tx1"/>
                </a:solidFill>
                <a:effectLst/>
                <a:latin typeface="+mn-lt"/>
                <a:ea typeface="+mn-ea"/>
                <a:cs typeface="+mn-cs"/>
              </a:rPr>
              <a:t> No upstream neighbors who could pollute the water supply.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Chemical-Free History:</a:t>
            </a:r>
            <a:r>
              <a:rPr lang="en-US" sz="1200" kern="1200" dirty="0">
                <a:solidFill>
                  <a:schemeClr val="tx1"/>
                </a:solidFill>
                <a:effectLst/>
                <a:latin typeface="+mn-lt"/>
                <a:ea typeface="+mn-ea"/>
                <a:cs typeface="+mn-cs"/>
              </a:rPr>
              <a:t> Land that had zero commercial agriculture or synthetic pesticide exposure for over 100 years.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Community:</a:t>
            </a:r>
            <a:r>
              <a:rPr lang="en-US" sz="1200" kern="1200" dirty="0">
                <a:solidFill>
                  <a:schemeClr val="tx1"/>
                </a:solidFill>
                <a:effectLst/>
                <a:latin typeface="+mn-lt"/>
                <a:ea typeface="+mn-ea"/>
                <a:cs typeface="+mn-cs"/>
              </a:rPr>
              <a:t> Proximity to top-tier local schools for his children. </a:t>
            </a:r>
          </a:p>
          <a:p>
            <a:pPr lvl="0"/>
            <a:r>
              <a:rPr lang="en-US" sz="1200" b="1" kern="1200" dirty="0">
                <a:solidFill>
                  <a:schemeClr val="tx1"/>
                </a:solidFill>
                <a:effectLst/>
                <a:latin typeface="+mn-lt"/>
                <a:ea typeface="+mn-ea"/>
                <a:cs typeface="+mn-cs"/>
              </a:rPr>
              <a:t>Output Metrics:</a:t>
            </a:r>
            <a:r>
              <a:rPr lang="en-US" sz="1200" kern="1200" dirty="0">
                <a:solidFill>
                  <a:schemeClr val="tx1"/>
                </a:solidFill>
                <a:effectLst/>
                <a:latin typeface="+mn-lt"/>
                <a:ea typeface="+mn-ea"/>
                <a:cs typeface="+mn-cs"/>
              </a:rPr>
              <a:t> The resulting farm is highly productive: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48 active beehives.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1,000 maple syrup taps.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500 planted fruit and nut trees.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7 full freezers of home-raised protein. </a:t>
            </a:r>
          </a:p>
          <a:p>
            <a:endParaRPr lang="en-US" dirty="0"/>
          </a:p>
        </p:txBody>
      </p:sp>
      <p:sp>
        <p:nvSpPr>
          <p:cNvPr id="4" name="Slide Number Placeholder 3"/>
          <p:cNvSpPr>
            <a:spLocks noGrp="1"/>
          </p:cNvSpPr>
          <p:nvPr>
            <p:ph type="sldNum" sz="quarter" idx="5"/>
          </p:nvPr>
        </p:nvSpPr>
        <p:spPr/>
        <p:txBody>
          <a:bodyPr/>
          <a:lstStyle/>
          <a:p>
            <a:fld id="{0193BCFF-4565-4EE8-A39A-8DBB8C748FCB}" type="slidenum">
              <a:rPr lang="en-US" smtClean="0"/>
              <a:t>10</a:t>
            </a:fld>
            <a:endParaRPr lang="en-US"/>
          </a:p>
        </p:txBody>
      </p:sp>
    </p:spTree>
    <p:extLst>
      <p:ext uri="{BB962C8B-B14F-4D97-AF65-F5344CB8AC3E}">
        <p14:creationId xmlns:p14="http://schemas.microsoft.com/office/powerpoint/2010/main" val="37983247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Now, let's address the question most financial analysts and founders ask when looking at a setup like this: 'What are the actual economics of building a self-sustaining farm?' </a:t>
            </a:r>
          </a:p>
          <a:p>
            <a:pPr lvl="0"/>
            <a:r>
              <a:rPr lang="en-US" sz="1200" kern="1200" dirty="0">
                <a:solidFill>
                  <a:schemeClr val="tx1"/>
                </a:solidFill>
                <a:effectLst/>
                <a:latin typeface="+mn-lt"/>
                <a:ea typeface="+mn-ea"/>
                <a:cs typeface="+mn-cs"/>
              </a:rPr>
              <a:t>As we will see on the next slide, the term 'free food' is a total misnomer. </a:t>
            </a:r>
          </a:p>
          <a:p>
            <a:endParaRPr lang="en-US" dirty="0"/>
          </a:p>
        </p:txBody>
      </p:sp>
      <p:sp>
        <p:nvSpPr>
          <p:cNvPr id="4" name="Slide Number Placeholder 3"/>
          <p:cNvSpPr>
            <a:spLocks noGrp="1"/>
          </p:cNvSpPr>
          <p:nvPr>
            <p:ph type="sldNum" sz="quarter" idx="5"/>
          </p:nvPr>
        </p:nvSpPr>
        <p:spPr/>
        <p:txBody>
          <a:bodyPr/>
          <a:lstStyle/>
          <a:p>
            <a:fld id="{0193BCFF-4565-4EE8-A39A-8DBB8C748FCB}" type="slidenum">
              <a:rPr lang="en-US" smtClean="0"/>
              <a:t>11</a:t>
            </a:fld>
            <a:endParaRPr lang="en-US"/>
          </a:p>
        </p:txBody>
      </p:sp>
    </p:spTree>
    <p:extLst>
      <p:ext uri="{BB962C8B-B14F-4D97-AF65-F5344CB8AC3E}">
        <p14:creationId xmlns:p14="http://schemas.microsoft.com/office/powerpoint/2010/main" val="2727489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Operating a self-sustaining luxury homestead is an expensive endeavor. Here is the exact financial breakdown: </a:t>
            </a:r>
          </a:p>
          <a:p>
            <a:pPr lvl="0"/>
            <a:r>
              <a:rPr lang="en-US" sz="1200" b="1" kern="1200" dirty="0">
                <a:solidFill>
                  <a:schemeClr val="tx1"/>
                </a:solidFill>
                <a:effectLst/>
                <a:latin typeface="+mn-lt"/>
                <a:ea typeface="+mn-ea"/>
                <a:cs typeface="+mn-cs"/>
              </a:rPr>
              <a:t>Asset Cost:</a:t>
            </a:r>
            <a:r>
              <a:rPr lang="en-US" sz="1200" kern="1200" dirty="0">
                <a:solidFill>
                  <a:schemeClr val="tx1"/>
                </a:solidFill>
                <a:effectLst/>
                <a:latin typeface="+mn-lt"/>
                <a:ea typeface="+mn-ea"/>
                <a:cs typeface="+mn-cs"/>
              </a:rPr>
              <a:t> $5.0 million total purchase price. </a:t>
            </a:r>
          </a:p>
          <a:p>
            <a:pPr lvl="0"/>
            <a:r>
              <a:rPr lang="en-US" sz="1200" b="1" kern="1200" dirty="0">
                <a:solidFill>
                  <a:schemeClr val="tx1"/>
                </a:solidFill>
                <a:effectLst/>
                <a:latin typeface="+mn-lt"/>
                <a:ea typeface="+mn-ea"/>
                <a:cs typeface="+mn-cs"/>
              </a:rPr>
              <a:t>Leverage Strategy:</a:t>
            </a:r>
            <a:r>
              <a:rPr lang="en-US" sz="1200" kern="1200" dirty="0">
                <a:solidFill>
                  <a:schemeClr val="tx1"/>
                </a:solidFill>
                <a:effectLst/>
                <a:latin typeface="+mn-lt"/>
                <a:ea typeface="+mn-ea"/>
                <a:cs typeface="+mn-cs"/>
              </a:rPr>
              <a:t> Rather than paying 100% cash, Ryan took out a $2.0 million mortgage at 6.5% interest. Why? To maintain liquidity and preserve asset-level liability protection. </a:t>
            </a:r>
          </a:p>
          <a:p>
            <a:pPr lvl="0"/>
            <a:r>
              <a:rPr lang="en-US" sz="1200" b="1" kern="1200" dirty="0">
                <a:solidFill>
                  <a:schemeClr val="tx1"/>
                </a:solidFill>
                <a:effectLst/>
                <a:latin typeface="+mn-lt"/>
                <a:ea typeface="+mn-ea"/>
                <a:cs typeface="+mn-cs"/>
              </a:rPr>
              <a:t>Base Carry Cost:</a:t>
            </a:r>
            <a:r>
              <a:rPr lang="en-US" sz="1200" kern="1200" dirty="0">
                <a:solidFill>
                  <a:schemeClr val="tx1"/>
                </a:solidFill>
                <a:effectLst/>
                <a:latin typeface="+mn-lt"/>
                <a:ea typeface="+mn-ea"/>
                <a:cs typeface="+mn-cs"/>
              </a:rPr>
              <a:t> ~$220,000/year, covering debt service and $50,000 in discounted agricultural property taxes. </a:t>
            </a:r>
          </a:p>
          <a:p>
            <a:pPr lvl="0"/>
            <a:r>
              <a:rPr lang="en-US" sz="1200" b="1" kern="1200" dirty="0">
                <a:solidFill>
                  <a:schemeClr val="tx1"/>
                </a:solidFill>
                <a:effectLst/>
                <a:latin typeface="+mn-lt"/>
                <a:ea typeface="+mn-ea"/>
                <a:cs typeface="+mn-cs"/>
              </a:rPr>
              <a:t>Operational Burn:</a:t>
            </a:r>
            <a:r>
              <a:rPr lang="en-US" sz="1200" kern="1200" dirty="0">
                <a:solidFill>
                  <a:schemeClr val="tx1"/>
                </a:solidFill>
                <a:effectLst/>
                <a:latin typeface="+mn-lt"/>
                <a:ea typeface="+mn-ea"/>
                <a:cs typeface="+mn-cs"/>
              </a:rPr>
              <a:t> ~$175,000 to $260,000/year for equipment, livestock, fencing, and farm labor. </a:t>
            </a:r>
          </a:p>
          <a:p>
            <a:pPr lvl="0"/>
            <a:r>
              <a:rPr lang="en-US" sz="1200" b="1" kern="1200" dirty="0">
                <a:solidFill>
                  <a:schemeClr val="tx1"/>
                </a:solidFill>
                <a:effectLst/>
                <a:latin typeface="+mn-lt"/>
                <a:ea typeface="+mn-ea"/>
                <a:cs typeface="+mn-cs"/>
              </a:rPr>
              <a:t>Total Annual Carrying Cost:</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$400,000 to $550,000 per year</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Core Takeaway:</a:t>
            </a:r>
            <a:r>
              <a:rPr lang="en-US" sz="1200" kern="1200" dirty="0">
                <a:solidFill>
                  <a:schemeClr val="tx1"/>
                </a:solidFill>
                <a:effectLst/>
                <a:latin typeface="+mn-lt"/>
                <a:ea typeface="+mn-ea"/>
                <a:cs typeface="+mn-cs"/>
              </a:rPr>
              <a:t> The farm is not an income-generating asset. It is a half-million-dollar annual investment designed to teach self-reliance, work ethic, and operational resilience to his children. </a:t>
            </a:r>
          </a:p>
          <a:p>
            <a:endParaRPr lang="en-US" dirty="0"/>
          </a:p>
        </p:txBody>
      </p:sp>
      <p:sp>
        <p:nvSpPr>
          <p:cNvPr id="4" name="Slide Number Placeholder 3"/>
          <p:cNvSpPr>
            <a:spLocks noGrp="1"/>
          </p:cNvSpPr>
          <p:nvPr>
            <p:ph type="sldNum" sz="quarter" idx="5"/>
          </p:nvPr>
        </p:nvSpPr>
        <p:spPr/>
        <p:txBody>
          <a:bodyPr/>
          <a:lstStyle/>
          <a:p>
            <a:fld id="{0193BCFF-4565-4EE8-A39A-8DBB8C748FCB}" type="slidenum">
              <a:rPr lang="en-US" smtClean="0"/>
              <a:t>12</a:t>
            </a:fld>
            <a:endParaRPr lang="en-US"/>
          </a:p>
        </p:txBody>
      </p:sp>
    </p:spTree>
    <p:extLst>
      <p:ext uri="{BB962C8B-B14F-4D97-AF65-F5344CB8AC3E}">
        <p14:creationId xmlns:p14="http://schemas.microsoft.com/office/powerpoint/2010/main" val="12769509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How does Ryan turn that annual investment into human capital for his kids? Through a structured 4-step framework: </a:t>
            </a:r>
          </a:p>
          <a:p>
            <a:pPr lvl="0"/>
            <a:r>
              <a:rPr lang="en-US" sz="1200" b="1" kern="1200" dirty="0">
                <a:solidFill>
                  <a:schemeClr val="tx1"/>
                </a:solidFill>
                <a:effectLst/>
                <a:latin typeface="+mn-lt"/>
                <a:ea typeface="+mn-ea"/>
                <a:cs typeface="+mn-cs"/>
              </a:rPr>
              <a:t>Step 1: Labor &amp; Literacy:</a:t>
            </a:r>
            <a:r>
              <a:rPr lang="en-US" sz="1200" kern="1200" dirty="0">
                <a:solidFill>
                  <a:schemeClr val="tx1"/>
                </a:solidFill>
                <a:effectLst/>
                <a:latin typeface="+mn-lt"/>
                <a:ea typeface="+mn-ea"/>
                <a:cs typeface="+mn-cs"/>
              </a:rPr>
              <a:t> Mandatory 6:00 AM farm chores (milking cows, managing stalls) combined with reading financial classics like </a:t>
            </a:r>
            <a:r>
              <a:rPr lang="en-US" sz="1200" i="1" kern="1200" dirty="0">
                <a:solidFill>
                  <a:schemeClr val="tx1"/>
                </a:solidFill>
                <a:effectLst/>
                <a:latin typeface="+mn-lt"/>
                <a:ea typeface="+mn-ea"/>
                <a:cs typeface="+mn-cs"/>
              </a:rPr>
              <a:t>Rich Dad Poor Dad</a:t>
            </a:r>
            <a:r>
              <a:rPr lang="en-US" sz="1200" kern="1200" dirty="0">
                <a:solidFill>
                  <a:schemeClr val="tx1"/>
                </a:solidFill>
                <a:effectLst/>
                <a:latin typeface="+mn-lt"/>
                <a:ea typeface="+mn-ea"/>
                <a:cs typeface="+mn-cs"/>
              </a:rPr>
              <a:t> aloud as a family. </a:t>
            </a:r>
          </a:p>
          <a:p>
            <a:pPr lvl="0"/>
            <a:r>
              <a:rPr lang="en-US" sz="1200" b="1" kern="1200" dirty="0">
                <a:solidFill>
                  <a:schemeClr val="tx1"/>
                </a:solidFill>
                <a:effectLst/>
                <a:latin typeface="+mn-lt"/>
                <a:ea typeface="+mn-ea"/>
                <a:cs typeface="+mn-cs"/>
              </a:rPr>
              <a:t>Step 2: Gamification:</a:t>
            </a:r>
            <a:r>
              <a:rPr lang="en-US" sz="1200" kern="1200" dirty="0">
                <a:solidFill>
                  <a:schemeClr val="tx1"/>
                </a:solidFill>
                <a:effectLst/>
                <a:latin typeface="+mn-lt"/>
                <a:ea typeface="+mn-ea"/>
                <a:cs typeface="+mn-cs"/>
              </a:rPr>
              <a:t> Playing the </a:t>
            </a:r>
            <a:r>
              <a:rPr lang="en-US" sz="1200" i="1" kern="1200" dirty="0">
                <a:solidFill>
                  <a:schemeClr val="tx1"/>
                </a:solidFill>
                <a:effectLst/>
                <a:latin typeface="+mn-lt"/>
                <a:ea typeface="+mn-ea"/>
                <a:cs typeface="+mn-cs"/>
              </a:rPr>
              <a:t>Cashflow Quadrant</a:t>
            </a:r>
            <a:r>
              <a:rPr lang="en-US" sz="1200" kern="1200" dirty="0">
                <a:solidFill>
                  <a:schemeClr val="tx1"/>
                </a:solidFill>
                <a:effectLst/>
                <a:latin typeface="+mn-lt"/>
                <a:ea typeface="+mn-ea"/>
                <a:cs typeface="+mn-cs"/>
              </a:rPr>
              <a:t> board game together, moving from the kids' version to the full adult version to build financial intuition. </a:t>
            </a:r>
          </a:p>
          <a:p>
            <a:pPr lvl="0"/>
            <a:r>
              <a:rPr lang="en-US" sz="1200" b="1" kern="1200" dirty="0">
                <a:solidFill>
                  <a:schemeClr val="tx1"/>
                </a:solidFill>
                <a:effectLst/>
                <a:latin typeface="+mn-lt"/>
                <a:ea typeface="+mn-ea"/>
                <a:cs typeface="+mn-cs"/>
              </a:rPr>
              <a:t>Step 3: Equity &amp; Markets:</a:t>
            </a:r>
            <a:r>
              <a:rPr lang="en-US" sz="1200" kern="1200" dirty="0">
                <a:solidFill>
                  <a:schemeClr val="tx1"/>
                </a:solidFill>
                <a:effectLst/>
                <a:latin typeface="+mn-lt"/>
                <a:ea typeface="+mn-ea"/>
                <a:cs typeface="+mn-cs"/>
              </a:rPr>
              <a:t> Earned farm wages cannot simply be spent. A fixed percentage must be allocated to stock market index funds via the Greenlight app. </a:t>
            </a:r>
          </a:p>
          <a:p>
            <a:pPr lvl="0"/>
            <a:r>
              <a:rPr lang="en-US" sz="1200" b="1" kern="1200" dirty="0">
                <a:solidFill>
                  <a:schemeClr val="tx1"/>
                </a:solidFill>
                <a:effectLst/>
                <a:latin typeface="+mn-lt"/>
                <a:ea typeface="+mn-ea"/>
                <a:cs typeface="+mn-cs"/>
              </a:rPr>
              <a:t>Step 4: Passive Income:</a:t>
            </a:r>
            <a:r>
              <a:rPr lang="en-US" sz="1200" kern="1200" dirty="0">
                <a:solidFill>
                  <a:schemeClr val="tx1"/>
                </a:solidFill>
                <a:effectLst/>
                <a:latin typeface="+mn-lt"/>
                <a:ea typeface="+mn-ea"/>
                <a:cs typeface="+mn-cs"/>
              </a:rPr>
              <a:t> Once capital is built up, farm profits and saved wages are pooled into private real estate syndications. The kids currently generate $300–$400/month in passive cash flow, which is automatically reinvested. </a:t>
            </a:r>
          </a:p>
          <a:p>
            <a:pPr lvl="0"/>
            <a:r>
              <a:rPr lang="en-US" sz="1200" kern="1200" dirty="0">
                <a:solidFill>
                  <a:schemeClr val="tx1"/>
                </a:solidFill>
                <a:effectLst/>
                <a:latin typeface="+mn-lt"/>
                <a:ea typeface="+mn-ea"/>
                <a:cs typeface="+mn-cs"/>
              </a:rPr>
              <a:t>The objective isn't to remove life's friction, but to equip them to navigate both corporate and practical environments. </a:t>
            </a:r>
          </a:p>
          <a:p>
            <a:endParaRPr lang="en-US" dirty="0"/>
          </a:p>
        </p:txBody>
      </p:sp>
      <p:sp>
        <p:nvSpPr>
          <p:cNvPr id="4" name="Slide Number Placeholder 3"/>
          <p:cNvSpPr>
            <a:spLocks noGrp="1"/>
          </p:cNvSpPr>
          <p:nvPr>
            <p:ph type="sldNum" sz="quarter" idx="5"/>
          </p:nvPr>
        </p:nvSpPr>
        <p:spPr/>
        <p:txBody>
          <a:bodyPr/>
          <a:lstStyle/>
          <a:p>
            <a:fld id="{0193BCFF-4565-4EE8-A39A-8DBB8C748FCB}" type="slidenum">
              <a:rPr lang="en-US" smtClean="0"/>
              <a:t>13</a:t>
            </a:fld>
            <a:endParaRPr lang="en-US"/>
          </a:p>
        </p:txBody>
      </p:sp>
    </p:spTree>
    <p:extLst>
      <p:ext uri="{BB962C8B-B14F-4D97-AF65-F5344CB8AC3E}">
        <p14:creationId xmlns:p14="http://schemas.microsoft.com/office/powerpoint/2010/main" val="22801146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We've covered the personal transition and the farm's operating model. </a:t>
            </a:r>
          </a:p>
          <a:p>
            <a:pPr lvl="0"/>
            <a:r>
              <a:rPr lang="en-US" sz="1200" kern="1200" dirty="0">
                <a:solidFill>
                  <a:schemeClr val="tx1"/>
                </a:solidFill>
                <a:effectLst/>
                <a:latin typeface="+mn-lt"/>
                <a:ea typeface="+mn-ea"/>
                <a:cs typeface="+mn-cs"/>
              </a:rPr>
              <a:t>Now, let's look at how Ryan ultimately solved his original business problem: exiting his software enterprise. </a:t>
            </a:r>
          </a:p>
          <a:p>
            <a:pPr lvl="0"/>
            <a:r>
              <a:rPr lang="en-US" sz="1200" kern="1200" dirty="0">
                <a:solidFill>
                  <a:schemeClr val="tx1"/>
                </a:solidFill>
                <a:effectLst/>
                <a:latin typeface="+mn-lt"/>
                <a:ea typeface="+mn-ea"/>
                <a:cs typeface="+mn-cs"/>
              </a:rPr>
              <a:t>Curiously, the solution didn't come from an investment banker; it came from observing nature on his farm. </a:t>
            </a:r>
          </a:p>
          <a:p>
            <a:endParaRPr lang="en-US" dirty="0"/>
          </a:p>
        </p:txBody>
      </p:sp>
      <p:sp>
        <p:nvSpPr>
          <p:cNvPr id="4" name="Slide Number Placeholder 3"/>
          <p:cNvSpPr>
            <a:spLocks noGrp="1"/>
          </p:cNvSpPr>
          <p:nvPr>
            <p:ph type="sldNum" sz="quarter" idx="5"/>
          </p:nvPr>
        </p:nvSpPr>
        <p:spPr/>
        <p:txBody>
          <a:bodyPr/>
          <a:lstStyle/>
          <a:p>
            <a:fld id="{0193BCFF-4565-4EE8-A39A-8DBB8C748FCB}" type="slidenum">
              <a:rPr lang="en-US" smtClean="0"/>
              <a:t>14</a:t>
            </a:fld>
            <a:endParaRPr lang="en-US"/>
          </a:p>
        </p:txBody>
      </p:sp>
    </p:spTree>
    <p:extLst>
      <p:ext uri="{BB962C8B-B14F-4D97-AF65-F5344CB8AC3E}">
        <p14:creationId xmlns:p14="http://schemas.microsoft.com/office/powerpoint/2010/main" val="21529611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While watching honeybees on his land, Ryan noticed something unique. Goldenrod (bright yellow) and Aster (bright purple) frequently grow side-by-side. </a:t>
            </a:r>
          </a:p>
          <a:p>
            <a:pPr lvl="0"/>
            <a:r>
              <a:rPr lang="en-US" sz="1200" kern="1200" dirty="0">
                <a:solidFill>
                  <a:schemeClr val="tx1"/>
                </a:solidFill>
                <a:effectLst/>
                <a:latin typeface="+mn-lt"/>
                <a:ea typeface="+mn-ea"/>
                <a:cs typeface="+mn-cs"/>
              </a:rPr>
              <a:t>In plant biology, these two competing species co-evolved. The high contrast between yellow and purple activates bee photoreceptors far more effectively together than either flower can alone. By growing side-by-side, both species attract more pollinators and ensure mutual survival. </a:t>
            </a:r>
          </a:p>
          <a:p>
            <a:pPr lvl="0"/>
            <a:r>
              <a:rPr lang="en-US" sz="1200" b="1" kern="1200" dirty="0">
                <a:solidFill>
                  <a:schemeClr val="tx1"/>
                </a:solidFill>
                <a:effectLst/>
                <a:latin typeface="+mn-lt"/>
                <a:ea typeface="+mn-ea"/>
                <a:cs typeface="+mn-cs"/>
              </a:rPr>
              <a:t>The Business Application:</a:t>
            </a:r>
            <a:r>
              <a:rPr lang="en-US" sz="1200" kern="1200" dirty="0">
                <a:solidFill>
                  <a:schemeClr val="tx1"/>
                </a:solidFill>
                <a:effectLst/>
                <a:latin typeface="+mn-lt"/>
                <a:ea typeface="+mn-ea"/>
                <a:cs typeface="+mn-cs"/>
              </a:rPr>
              <a:t> Ryan realized that direct corporate competitors don't always need to fight for market share; they can combine forces. </a:t>
            </a:r>
          </a:p>
          <a:p>
            <a:pPr lvl="0"/>
            <a:r>
              <a:rPr lang="en-US" sz="1200" kern="1200" dirty="0">
                <a:solidFill>
                  <a:schemeClr val="tx1"/>
                </a:solidFill>
                <a:effectLst/>
                <a:latin typeface="+mn-lt"/>
                <a:ea typeface="+mn-ea"/>
                <a:cs typeface="+mn-cs"/>
              </a:rPr>
              <a:t>He sent a WhatsApp voice memo to his main global competitor, Daniel Priestley (based in the UK). </a:t>
            </a:r>
          </a:p>
          <a:p>
            <a:pPr lvl="0"/>
            <a:r>
              <a:rPr lang="en-US" sz="1200" b="1" kern="1200" dirty="0">
                <a:solidFill>
                  <a:schemeClr val="tx1"/>
                </a:solidFill>
                <a:effectLst/>
                <a:latin typeface="+mn-lt"/>
                <a:ea typeface="+mn-ea"/>
                <a:cs typeface="+mn-cs"/>
              </a:rPr>
              <a:t>The Outcome:</a:t>
            </a:r>
            <a:r>
              <a:rPr lang="en-US" sz="1200" kern="1200" dirty="0">
                <a:solidFill>
                  <a:schemeClr val="tx1"/>
                </a:solidFill>
                <a:effectLst/>
                <a:latin typeface="+mn-lt"/>
                <a:ea typeface="+mn-ea"/>
                <a:cs typeface="+mn-cs"/>
              </a:rPr>
              <a:t> Three months later, Ryan flew to London and signed a strategic deal to merge and sell his company. The exit wasn't engineered in a traditional M&amp;A boardroom—it was conceived by observing patterns in a pasture.</a:t>
            </a:r>
          </a:p>
          <a:p>
            <a:endParaRPr lang="en-US" dirty="0"/>
          </a:p>
          <a:p>
            <a:endParaRPr lang="en-US" dirty="0"/>
          </a:p>
          <a:p>
            <a:endParaRPr lang="en-US" dirty="0"/>
          </a:p>
          <a:p>
            <a:endParaRPr lang="en-US" dirty="0"/>
          </a:p>
          <a:p>
            <a:endParaRPr lang="en-US" dirty="0"/>
          </a:p>
          <a:p>
            <a:r>
              <a:rPr lang="en-US" dirty="0"/>
              <a:t>$35M Net Worth. Then He Traded It All for a 150-Acre Farm</a:t>
            </a:r>
          </a:p>
          <a:p>
            <a:r>
              <a:rPr lang="en-US" dirty="0"/>
              <a:t>https://www.youtube.com/watch?v=TZdwufg842Y</a:t>
            </a:r>
          </a:p>
        </p:txBody>
      </p:sp>
      <p:sp>
        <p:nvSpPr>
          <p:cNvPr id="4" name="Slide Number Placeholder 3"/>
          <p:cNvSpPr>
            <a:spLocks noGrp="1"/>
          </p:cNvSpPr>
          <p:nvPr>
            <p:ph type="sldNum" sz="quarter" idx="5"/>
          </p:nvPr>
        </p:nvSpPr>
        <p:spPr/>
        <p:txBody>
          <a:bodyPr/>
          <a:lstStyle/>
          <a:p>
            <a:fld id="{0193BCFF-4565-4EE8-A39A-8DBB8C748FCB}" type="slidenum">
              <a:rPr lang="en-US" smtClean="0"/>
              <a:t>15</a:t>
            </a:fld>
            <a:endParaRPr lang="en-US"/>
          </a:p>
        </p:txBody>
      </p:sp>
    </p:spTree>
    <p:extLst>
      <p:ext uri="{BB962C8B-B14F-4D97-AF65-F5344CB8AC3E}">
        <p14:creationId xmlns:p14="http://schemas.microsoft.com/office/powerpoint/2010/main" val="1369853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AF38D2-5664-F065-8C82-94A2822B866C}"/>
              </a:ext>
            </a:extLst>
          </p:cNvPr>
          <p:cNvSpPr>
            <a:spLocks noGrp="1"/>
          </p:cNvSpPr>
          <p:nvPr>
            <p:ph type="dt" sz="half" idx="10"/>
          </p:nvPr>
        </p:nvSpPr>
        <p:spPr/>
        <p:txBody>
          <a:bodyPr/>
          <a:lstStyle/>
          <a:p>
            <a:fld id="{3660315F-9AC9-427B-8D2B-20F290A936BC}" type="datetimeFigureOut">
              <a:rPr lang="en-US" smtClean="0"/>
              <a:t>10/21/2026</a:t>
            </a:fld>
            <a:endParaRPr lang="en-US"/>
          </a:p>
        </p:txBody>
      </p:sp>
      <p:sp>
        <p:nvSpPr>
          <p:cNvPr id="3" name="Footer Placeholder 2">
            <a:extLst>
              <a:ext uri="{FF2B5EF4-FFF2-40B4-BE49-F238E27FC236}">
                <a16:creationId xmlns:a16="http://schemas.microsoft.com/office/drawing/2014/main" id="{15194A4B-D17F-B4CF-1E70-9BD2D8B11A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F48864-45A7-969A-2E77-2ABED3ABB1A7}"/>
              </a:ext>
            </a:extLst>
          </p:cNvPr>
          <p:cNvSpPr>
            <a:spLocks noGrp="1"/>
          </p:cNvSpPr>
          <p:nvPr>
            <p:ph type="sldNum" sz="quarter" idx="12"/>
          </p:nvPr>
        </p:nvSpPr>
        <p:spPr/>
        <p:txBody>
          <a:bodyPr/>
          <a:lstStyle/>
          <a:p>
            <a:fld id="{129466DC-1689-4004-BC0E-9E8567514469}" type="slidenum">
              <a:rPr lang="en-US" smtClean="0"/>
              <a:t>‹#›</a:t>
            </a:fld>
            <a:endParaRPr lang="en-US"/>
          </a:p>
        </p:txBody>
      </p:sp>
    </p:spTree>
    <p:extLst>
      <p:ext uri="{BB962C8B-B14F-4D97-AF65-F5344CB8AC3E}">
        <p14:creationId xmlns:p14="http://schemas.microsoft.com/office/powerpoint/2010/main" val="241820132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25F109-0163-E592-64BF-074D8E6861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C94329-B96B-FB7C-F461-17423BE2C7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C9FE39-57C7-A0FC-EB73-E667A5662C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60315F-9AC9-427B-8D2B-20F290A936BC}" type="datetimeFigureOut">
              <a:rPr lang="en-US" smtClean="0"/>
              <a:t>10/21/2026</a:t>
            </a:fld>
            <a:endParaRPr lang="en-US"/>
          </a:p>
        </p:txBody>
      </p:sp>
      <p:sp>
        <p:nvSpPr>
          <p:cNvPr id="5" name="Footer Placeholder 4">
            <a:extLst>
              <a:ext uri="{FF2B5EF4-FFF2-40B4-BE49-F238E27FC236}">
                <a16:creationId xmlns:a16="http://schemas.microsoft.com/office/drawing/2014/main" id="{33F319F9-23BF-D649-0CFE-2D38C0A48C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60981D7-A7E2-77AA-7A16-E689F84C8F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9466DC-1689-4004-BC0E-9E8567514469}" type="slidenum">
              <a:rPr lang="en-US" smtClean="0"/>
              <a:t>‹#›</a:t>
            </a:fld>
            <a:endParaRPr lang="en-US"/>
          </a:p>
        </p:txBody>
      </p:sp>
    </p:spTree>
    <p:extLst>
      <p:ext uri="{BB962C8B-B14F-4D97-AF65-F5344CB8AC3E}">
        <p14:creationId xmlns:p14="http://schemas.microsoft.com/office/powerpoint/2010/main" val="216810004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D6F5C5-2BBE-73BA-ECA9-E760CA30CF7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FBF44D-7813-FAEE-8CAF-922B93240FD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9FBD93-5707-F1D9-7D3B-11413A46398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DF9FDC-D5BA-E3EE-5689-E7A5DE7A015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25387F-04B6-0963-FB8B-C1612EACED7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B54ED7-B151-69F2-A990-A4A31EF9BC6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A90826-37DF-529C-ECB4-EE2F17ECEA7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FB47D8-C598-A529-ACA2-E34BEE351A7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EB5B4A-E230-30C9-33F3-DD4D020006A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07A0DF-6FB9-5B11-320D-AF5C045F10A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F4396B-91C8-0B45-89DC-FA0F52A6951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B3933F-3008-D806-348F-A1A1D851102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7FE250-B623-22CB-737A-7F127ECC16F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22782A-72EA-6E1F-B494-FD673C5E5A79}"/>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40273124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2051</Words>
  <Application>Microsoft Office PowerPoint</Application>
  <PresentationFormat>寬螢幕</PresentationFormat>
  <Paragraphs>95</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2026-09-24T01:23:41Z</dcterms:created>
  <dcterms:modified xsi:type="dcterms:W3CDTF">2026-10-21T02:50:53Z</dcterms:modified>
</cp:coreProperties>
</file>