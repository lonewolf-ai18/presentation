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857403-BB9F-41C0-8F37-ED45B22BA79F}" v="39" dt="2026-09-28T01:33:50.5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9" autoAdjust="0"/>
    <p:restoredTop sz="80342" autoAdjust="0"/>
  </p:normalViewPr>
  <p:slideViewPr>
    <p:cSldViewPr snapToGrid="0">
      <p:cViewPr varScale="1">
        <p:scale>
          <a:sx n="72" d="100"/>
          <a:sy n="72" d="100"/>
        </p:scale>
        <p:origin x="8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addSld delSld modSld sldOrd">
      <pc:chgData name="Lai, Wilson" userId="2840974a-0d84-4886-90a9-9a3ed79f3a48" providerId="ADAL" clId="{9F23B798-9E84-4552-BA63-E776E805C424}" dt="2026-09-28T01:37:28.848" v="146" actId="166"/>
      <pc:docMkLst>
        <pc:docMk/>
      </pc:docMkLst>
      <pc:sldChg chg="addSp delSp modSp mod modAnim modNotes modNotesTx">
        <pc:chgData name="Lai, Wilson" userId="2840974a-0d84-4886-90a9-9a3ed79f3a48" providerId="ADAL" clId="{9F23B798-9E84-4552-BA63-E776E805C424}" dt="2026-09-28T01:37:28.848" v="146" actId="166"/>
        <pc:sldMkLst>
          <pc:docMk/>
          <pc:sldMk cId="0" sldId="257"/>
        </pc:sldMkLst>
        <pc:spChg chg="add mod">
          <ac:chgData name="Lai, Wilson" userId="2840974a-0d84-4886-90a9-9a3ed79f3a48" providerId="ADAL" clId="{9F23B798-9E84-4552-BA63-E776E805C424}" dt="2026-09-27T13:19:00.484" v="8" actId="164"/>
          <ac:spMkLst>
            <pc:docMk/>
            <pc:sldMk cId="0" sldId="257"/>
            <ac:spMk id="5" creationId="{017FFEC9-1310-BC2D-5D62-6B63A279302E}"/>
          </ac:spMkLst>
        </pc:spChg>
        <pc:grpChg chg="add mod">
          <ac:chgData name="Lai, Wilson" userId="2840974a-0d84-4886-90a9-9a3ed79f3a48" providerId="ADAL" clId="{9F23B798-9E84-4552-BA63-E776E805C424}" dt="2026-09-27T13:19:00.484" v="8" actId="164"/>
          <ac:grpSpMkLst>
            <pc:docMk/>
            <pc:sldMk cId="0" sldId="257"/>
            <ac:grpSpMk id="6" creationId="{292394D7-DCEF-90AB-CF7D-F7F8C013F80E}"/>
          </ac:grpSpMkLst>
        </pc:grpChg>
        <pc:picChg chg="del ord">
          <ac:chgData name="Lai, Wilson" userId="2840974a-0d84-4886-90a9-9a3ed79f3a48" providerId="ADAL" clId="{9F23B798-9E84-4552-BA63-E776E805C424}" dt="2026-09-27T13:58:36.586" v="10" actId="21"/>
          <ac:picMkLst>
            <pc:docMk/>
            <pc:sldMk cId="0" sldId="257"/>
            <ac:picMk id="2" creationId="{00000000-0000-0000-0000-000000000000}"/>
          </ac:picMkLst>
        </pc:picChg>
        <pc:picChg chg="add mod">
          <ac:chgData name="Lai, Wilson" userId="2840974a-0d84-4886-90a9-9a3ed79f3a48" providerId="ADAL" clId="{9F23B798-9E84-4552-BA63-E776E805C424}" dt="2026-09-27T13:19:00.484" v="8" actId="164"/>
          <ac:picMkLst>
            <pc:docMk/>
            <pc:sldMk cId="0" sldId="257"/>
            <ac:picMk id="3" creationId="{3B1FD304-C45D-8C83-F012-7F9F27CD92A6}"/>
          </ac:picMkLst>
        </pc:picChg>
        <pc:picChg chg="add ord">
          <ac:chgData name="Lai, Wilson" userId="2840974a-0d84-4886-90a9-9a3ed79f3a48" providerId="ADAL" clId="{9F23B798-9E84-4552-BA63-E776E805C424}" dt="2026-09-28T01:37:28.848" v="146" actId="166"/>
          <ac:picMkLst>
            <pc:docMk/>
            <pc:sldMk cId="0" sldId="257"/>
            <ac:picMk id="7" creationId="{DA8C39E3-ECE1-2B5D-EDB7-9942969F816E}"/>
          </ac:picMkLst>
        </pc:picChg>
      </pc:sldChg>
      <pc:sldChg chg="addSp delSp mod modNotes modNotesTx">
        <pc:chgData name="Lai, Wilson" userId="2840974a-0d84-4886-90a9-9a3ed79f3a48" providerId="ADAL" clId="{9F23B798-9E84-4552-BA63-E776E805C424}" dt="2026-09-28T01:34:10.745" v="59" actId="14"/>
        <pc:sldMkLst>
          <pc:docMk/>
          <pc:sldMk cId="0" sldId="258"/>
        </pc:sldMkLst>
        <pc:picChg chg="del">
          <ac:chgData name="Lai, Wilson" userId="2840974a-0d84-4886-90a9-9a3ed79f3a48" providerId="ADAL" clId="{9F23B798-9E84-4552-BA63-E776E805C424}" dt="2026-09-27T13:59:08.503" v="12" actId="21"/>
          <ac:picMkLst>
            <pc:docMk/>
            <pc:sldMk cId="0" sldId="258"/>
            <ac:picMk id="2" creationId="{00000000-0000-0000-0000-000000000000}"/>
          </ac:picMkLst>
        </pc:picChg>
        <pc:picChg chg="add">
          <ac:chgData name="Lai, Wilson" userId="2840974a-0d84-4886-90a9-9a3ed79f3a48" providerId="ADAL" clId="{9F23B798-9E84-4552-BA63-E776E805C424}" dt="2026-09-27T13:59:18.097" v="13" actId="22"/>
          <ac:picMkLst>
            <pc:docMk/>
            <pc:sldMk cId="0" sldId="258"/>
            <ac:picMk id="4" creationId="{43782E03-94E5-F29C-C615-465D5D596245}"/>
          </ac:picMkLst>
        </pc:picChg>
      </pc:sldChg>
      <pc:sldChg chg="addSp delSp mod modNotes modNotesTx">
        <pc:chgData name="Lai, Wilson" userId="2840974a-0d84-4886-90a9-9a3ed79f3a48" providerId="ADAL" clId="{9F23B798-9E84-4552-BA63-E776E805C424}" dt="2026-09-28T01:34:26.697" v="65" actId="14"/>
        <pc:sldMkLst>
          <pc:docMk/>
          <pc:sldMk cId="0" sldId="259"/>
        </pc:sldMkLst>
        <pc:picChg chg="del">
          <ac:chgData name="Lai, Wilson" userId="2840974a-0d84-4886-90a9-9a3ed79f3a48" providerId="ADAL" clId="{9F23B798-9E84-4552-BA63-E776E805C424}" dt="2026-09-27T13:59:20.813" v="14" actId="21"/>
          <ac:picMkLst>
            <pc:docMk/>
            <pc:sldMk cId="0" sldId="259"/>
            <ac:picMk id="2" creationId="{00000000-0000-0000-0000-000000000000}"/>
          </ac:picMkLst>
        </pc:picChg>
        <pc:picChg chg="add">
          <ac:chgData name="Lai, Wilson" userId="2840974a-0d84-4886-90a9-9a3ed79f3a48" providerId="ADAL" clId="{9F23B798-9E84-4552-BA63-E776E805C424}" dt="2026-09-27T13:59:31.948" v="15" actId="22"/>
          <ac:picMkLst>
            <pc:docMk/>
            <pc:sldMk cId="0" sldId="259"/>
            <ac:picMk id="4" creationId="{893806BF-17E9-0895-3ED6-72A9B89F738B}"/>
          </ac:picMkLst>
        </pc:picChg>
      </pc:sldChg>
      <pc:sldChg chg="addSp delSp mod modNotes modNotesTx">
        <pc:chgData name="Lai, Wilson" userId="2840974a-0d84-4886-90a9-9a3ed79f3a48" providerId="ADAL" clId="{9F23B798-9E84-4552-BA63-E776E805C424}" dt="2026-09-28T01:34:38.838" v="71" actId="12"/>
        <pc:sldMkLst>
          <pc:docMk/>
          <pc:sldMk cId="0" sldId="260"/>
        </pc:sldMkLst>
        <pc:picChg chg="del">
          <ac:chgData name="Lai, Wilson" userId="2840974a-0d84-4886-90a9-9a3ed79f3a48" providerId="ADAL" clId="{9F23B798-9E84-4552-BA63-E776E805C424}" dt="2026-09-27T13:59:33.648" v="16" actId="21"/>
          <ac:picMkLst>
            <pc:docMk/>
            <pc:sldMk cId="0" sldId="260"/>
            <ac:picMk id="2" creationId="{00000000-0000-0000-0000-000000000000}"/>
          </ac:picMkLst>
        </pc:picChg>
        <pc:picChg chg="add">
          <ac:chgData name="Lai, Wilson" userId="2840974a-0d84-4886-90a9-9a3ed79f3a48" providerId="ADAL" clId="{9F23B798-9E84-4552-BA63-E776E805C424}" dt="2026-09-27T13:59:47.426" v="17" actId="22"/>
          <ac:picMkLst>
            <pc:docMk/>
            <pc:sldMk cId="0" sldId="260"/>
            <ac:picMk id="4" creationId="{AAD9AF9E-7C5D-0EA3-4C12-3AE015D30D72}"/>
          </ac:picMkLst>
        </pc:picChg>
      </pc:sldChg>
      <pc:sldChg chg="addSp delSp mod modNotes modNotesTx">
        <pc:chgData name="Lai, Wilson" userId="2840974a-0d84-4886-90a9-9a3ed79f3a48" providerId="ADAL" clId="{9F23B798-9E84-4552-BA63-E776E805C424}" dt="2026-09-28T01:34:51.523" v="77" actId="14"/>
        <pc:sldMkLst>
          <pc:docMk/>
          <pc:sldMk cId="0" sldId="261"/>
        </pc:sldMkLst>
        <pc:picChg chg="del">
          <ac:chgData name="Lai, Wilson" userId="2840974a-0d84-4886-90a9-9a3ed79f3a48" providerId="ADAL" clId="{9F23B798-9E84-4552-BA63-E776E805C424}" dt="2026-09-27T13:59:52.004" v="18" actId="21"/>
          <ac:picMkLst>
            <pc:docMk/>
            <pc:sldMk cId="0" sldId="261"/>
            <ac:picMk id="2" creationId="{00000000-0000-0000-0000-000000000000}"/>
          </ac:picMkLst>
        </pc:picChg>
        <pc:picChg chg="add">
          <ac:chgData name="Lai, Wilson" userId="2840974a-0d84-4886-90a9-9a3ed79f3a48" providerId="ADAL" clId="{9F23B798-9E84-4552-BA63-E776E805C424}" dt="2026-09-27T14:00:04.817" v="19" actId="22"/>
          <ac:picMkLst>
            <pc:docMk/>
            <pc:sldMk cId="0" sldId="261"/>
            <ac:picMk id="4" creationId="{BE608A98-8709-848B-E4AD-347CA7B52C53}"/>
          </ac:picMkLst>
        </pc:picChg>
      </pc:sldChg>
      <pc:sldChg chg="addSp delSp mod modNotes modNotesTx">
        <pc:chgData name="Lai, Wilson" userId="2840974a-0d84-4886-90a9-9a3ed79f3a48" providerId="ADAL" clId="{9F23B798-9E84-4552-BA63-E776E805C424}" dt="2026-09-28T01:35:05.284" v="83" actId="14"/>
        <pc:sldMkLst>
          <pc:docMk/>
          <pc:sldMk cId="0" sldId="262"/>
        </pc:sldMkLst>
        <pc:picChg chg="del">
          <ac:chgData name="Lai, Wilson" userId="2840974a-0d84-4886-90a9-9a3ed79f3a48" providerId="ADAL" clId="{9F23B798-9E84-4552-BA63-E776E805C424}" dt="2026-09-27T14:00:06.602" v="20" actId="21"/>
          <ac:picMkLst>
            <pc:docMk/>
            <pc:sldMk cId="0" sldId="262"/>
            <ac:picMk id="2" creationId="{00000000-0000-0000-0000-000000000000}"/>
          </ac:picMkLst>
        </pc:picChg>
        <pc:picChg chg="add">
          <ac:chgData name="Lai, Wilson" userId="2840974a-0d84-4886-90a9-9a3ed79f3a48" providerId="ADAL" clId="{9F23B798-9E84-4552-BA63-E776E805C424}" dt="2026-09-27T14:00:29.172" v="21" actId="22"/>
          <ac:picMkLst>
            <pc:docMk/>
            <pc:sldMk cId="0" sldId="262"/>
            <ac:picMk id="4" creationId="{03DE434A-5812-470A-3D6E-240717AAC334}"/>
          </ac:picMkLst>
        </pc:picChg>
      </pc:sldChg>
      <pc:sldChg chg="addSp delSp mod modNotes modNotesTx">
        <pc:chgData name="Lai, Wilson" userId="2840974a-0d84-4886-90a9-9a3ed79f3a48" providerId="ADAL" clId="{9F23B798-9E84-4552-BA63-E776E805C424}" dt="2026-09-28T01:35:22.392" v="89" actId="14"/>
        <pc:sldMkLst>
          <pc:docMk/>
          <pc:sldMk cId="0" sldId="263"/>
        </pc:sldMkLst>
        <pc:picChg chg="del">
          <ac:chgData name="Lai, Wilson" userId="2840974a-0d84-4886-90a9-9a3ed79f3a48" providerId="ADAL" clId="{9F23B798-9E84-4552-BA63-E776E805C424}" dt="2026-09-27T14:00:31.269" v="22" actId="21"/>
          <ac:picMkLst>
            <pc:docMk/>
            <pc:sldMk cId="0" sldId="263"/>
            <ac:picMk id="2" creationId="{00000000-0000-0000-0000-000000000000}"/>
          </ac:picMkLst>
        </pc:picChg>
        <pc:picChg chg="add">
          <ac:chgData name="Lai, Wilson" userId="2840974a-0d84-4886-90a9-9a3ed79f3a48" providerId="ADAL" clId="{9F23B798-9E84-4552-BA63-E776E805C424}" dt="2026-09-27T14:00:46.524" v="23" actId="22"/>
          <ac:picMkLst>
            <pc:docMk/>
            <pc:sldMk cId="0" sldId="263"/>
            <ac:picMk id="4" creationId="{E39A5595-2315-0101-2C52-135FC51B1B28}"/>
          </ac:picMkLst>
        </pc:picChg>
      </pc:sldChg>
      <pc:sldChg chg="addSp delSp add del mod modNotes modNotesTx">
        <pc:chgData name="Lai, Wilson" userId="2840974a-0d84-4886-90a9-9a3ed79f3a48" providerId="ADAL" clId="{9F23B798-9E84-4552-BA63-E776E805C424}" dt="2026-09-28T01:35:36.727" v="95" actId="14"/>
        <pc:sldMkLst>
          <pc:docMk/>
          <pc:sldMk cId="0" sldId="264"/>
        </pc:sldMkLst>
        <pc:picChg chg="del">
          <ac:chgData name="Lai, Wilson" userId="2840974a-0d84-4886-90a9-9a3ed79f3a48" providerId="ADAL" clId="{9F23B798-9E84-4552-BA63-E776E805C424}" dt="2026-09-27T14:00:53.938" v="26" actId="21"/>
          <ac:picMkLst>
            <pc:docMk/>
            <pc:sldMk cId="0" sldId="264"/>
            <ac:picMk id="2" creationId="{00000000-0000-0000-0000-000000000000}"/>
          </ac:picMkLst>
        </pc:picChg>
        <pc:picChg chg="add">
          <ac:chgData name="Lai, Wilson" userId="2840974a-0d84-4886-90a9-9a3ed79f3a48" providerId="ADAL" clId="{9F23B798-9E84-4552-BA63-E776E805C424}" dt="2026-09-27T14:01:10.022" v="27" actId="22"/>
          <ac:picMkLst>
            <pc:docMk/>
            <pc:sldMk cId="0" sldId="264"/>
            <ac:picMk id="4" creationId="{B88A2ABF-7E57-0410-9FE6-7B64AB2818F8}"/>
          </ac:picMkLst>
        </pc:picChg>
      </pc:sldChg>
      <pc:sldChg chg="addSp delSp mod modNotes modNotesTx">
        <pc:chgData name="Lai, Wilson" userId="2840974a-0d84-4886-90a9-9a3ed79f3a48" providerId="ADAL" clId="{9F23B798-9E84-4552-BA63-E776E805C424}" dt="2026-09-28T01:35:55.798" v="103" actId="14"/>
        <pc:sldMkLst>
          <pc:docMk/>
          <pc:sldMk cId="0" sldId="265"/>
        </pc:sldMkLst>
        <pc:picChg chg="del">
          <ac:chgData name="Lai, Wilson" userId="2840974a-0d84-4886-90a9-9a3ed79f3a48" providerId="ADAL" clId="{9F23B798-9E84-4552-BA63-E776E805C424}" dt="2026-09-27T14:01:11.513" v="28" actId="21"/>
          <ac:picMkLst>
            <pc:docMk/>
            <pc:sldMk cId="0" sldId="265"/>
            <ac:picMk id="2" creationId="{00000000-0000-0000-0000-000000000000}"/>
          </ac:picMkLst>
        </pc:picChg>
        <pc:picChg chg="add">
          <ac:chgData name="Lai, Wilson" userId="2840974a-0d84-4886-90a9-9a3ed79f3a48" providerId="ADAL" clId="{9F23B798-9E84-4552-BA63-E776E805C424}" dt="2026-09-27T14:01:20.709" v="29" actId="22"/>
          <ac:picMkLst>
            <pc:docMk/>
            <pc:sldMk cId="0" sldId="265"/>
            <ac:picMk id="4" creationId="{A7B1BF46-F0BC-8B82-5C53-C191A9D622CD}"/>
          </ac:picMkLst>
        </pc:picChg>
      </pc:sldChg>
      <pc:sldChg chg="addSp delSp mod modNotes modNotesTx">
        <pc:chgData name="Lai, Wilson" userId="2840974a-0d84-4886-90a9-9a3ed79f3a48" providerId="ADAL" clId="{9F23B798-9E84-4552-BA63-E776E805C424}" dt="2026-09-28T01:36:07.248" v="109" actId="14"/>
        <pc:sldMkLst>
          <pc:docMk/>
          <pc:sldMk cId="0" sldId="266"/>
        </pc:sldMkLst>
        <pc:picChg chg="del">
          <ac:chgData name="Lai, Wilson" userId="2840974a-0d84-4886-90a9-9a3ed79f3a48" providerId="ADAL" clId="{9F23B798-9E84-4552-BA63-E776E805C424}" dt="2026-09-27T14:01:23.582" v="30" actId="21"/>
          <ac:picMkLst>
            <pc:docMk/>
            <pc:sldMk cId="0" sldId="266"/>
            <ac:picMk id="2" creationId="{00000000-0000-0000-0000-000000000000}"/>
          </ac:picMkLst>
        </pc:picChg>
        <pc:picChg chg="add">
          <ac:chgData name="Lai, Wilson" userId="2840974a-0d84-4886-90a9-9a3ed79f3a48" providerId="ADAL" clId="{9F23B798-9E84-4552-BA63-E776E805C424}" dt="2026-09-27T14:01:32.641" v="31" actId="22"/>
          <ac:picMkLst>
            <pc:docMk/>
            <pc:sldMk cId="0" sldId="266"/>
            <ac:picMk id="4" creationId="{99509A7A-9362-6DCA-5FF9-4E46F26DC521}"/>
          </ac:picMkLst>
        </pc:picChg>
      </pc:sldChg>
      <pc:sldChg chg="addSp delSp mod modNotes modNotesTx">
        <pc:chgData name="Lai, Wilson" userId="2840974a-0d84-4886-90a9-9a3ed79f3a48" providerId="ADAL" clId="{9F23B798-9E84-4552-BA63-E776E805C424}" dt="2026-09-28T01:36:21.292" v="115" actId="14"/>
        <pc:sldMkLst>
          <pc:docMk/>
          <pc:sldMk cId="0" sldId="267"/>
        </pc:sldMkLst>
        <pc:picChg chg="del">
          <ac:chgData name="Lai, Wilson" userId="2840974a-0d84-4886-90a9-9a3ed79f3a48" providerId="ADAL" clId="{9F23B798-9E84-4552-BA63-E776E805C424}" dt="2026-09-27T14:01:34.247" v="32" actId="21"/>
          <ac:picMkLst>
            <pc:docMk/>
            <pc:sldMk cId="0" sldId="267"/>
            <ac:picMk id="2" creationId="{00000000-0000-0000-0000-000000000000}"/>
          </ac:picMkLst>
        </pc:picChg>
        <pc:picChg chg="add">
          <ac:chgData name="Lai, Wilson" userId="2840974a-0d84-4886-90a9-9a3ed79f3a48" providerId="ADAL" clId="{9F23B798-9E84-4552-BA63-E776E805C424}" dt="2026-09-27T14:01:43.794" v="33" actId="22"/>
          <ac:picMkLst>
            <pc:docMk/>
            <pc:sldMk cId="0" sldId="267"/>
            <ac:picMk id="4" creationId="{0830FD13-D3D5-7910-CC91-B173A77F2425}"/>
          </ac:picMkLst>
        </pc:picChg>
      </pc:sldChg>
      <pc:sldChg chg="addSp delSp mod modNotes modNotesTx">
        <pc:chgData name="Lai, Wilson" userId="2840974a-0d84-4886-90a9-9a3ed79f3a48" providerId="ADAL" clId="{9F23B798-9E84-4552-BA63-E776E805C424}" dt="2026-09-28T01:36:38.667" v="124" actId="14"/>
        <pc:sldMkLst>
          <pc:docMk/>
          <pc:sldMk cId="0" sldId="268"/>
        </pc:sldMkLst>
        <pc:picChg chg="del">
          <ac:chgData name="Lai, Wilson" userId="2840974a-0d84-4886-90a9-9a3ed79f3a48" providerId="ADAL" clId="{9F23B798-9E84-4552-BA63-E776E805C424}" dt="2026-09-27T14:01:46.361" v="34" actId="21"/>
          <ac:picMkLst>
            <pc:docMk/>
            <pc:sldMk cId="0" sldId="268"/>
            <ac:picMk id="2" creationId="{00000000-0000-0000-0000-000000000000}"/>
          </ac:picMkLst>
        </pc:picChg>
        <pc:picChg chg="add">
          <ac:chgData name="Lai, Wilson" userId="2840974a-0d84-4886-90a9-9a3ed79f3a48" providerId="ADAL" clId="{9F23B798-9E84-4552-BA63-E776E805C424}" dt="2026-09-27T14:02:11.496" v="35" actId="22"/>
          <ac:picMkLst>
            <pc:docMk/>
            <pc:sldMk cId="0" sldId="268"/>
            <ac:picMk id="4" creationId="{787B2C73-985F-D7FD-D310-6F5ACEF6E7C5}"/>
          </ac:picMkLst>
        </pc:picChg>
      </pc:sldChg>
      <pc:sldChg chg="addSp delSp mod modNotes modNotesTx">
        <pc:chgData name="Lai, Wilson" userId="2840974a-0d84-4886-90a9-9a3ed79f3a48" providerId="ADAL" clId="{9F23B798-9E84-4552-BA63-E776E805C424}" dt="2026-09-28T01:36:50.577" v="129" actId="14"/>
        <pc:sldMkLst>
          <pc:docMk/>
          <pc:sldMk cId="0" sldId="269"/>
        </pc:sldMkLst>
        <pc:picChg chg="del">
          <ac:chgData name="Lai, Wilson" userId="2840974a-0d84-4886-90a9-9a3ed79f3a48" providerId="ADAL" clId="{9F23B798-9E84-4552-BA63-E776E805C424}" dt="2026-09-27T14:02:13.691" v="36" actId="21"/>
          <ac:picMkLst>
            <pc:docMk/>
            <pc:sldMk cId="0" sldId="269"/>
            <ac:picMk id="2" creationId="{00000000-0000-0000-0000-000000000000}"/>
          </ac:picMkLst>
        </pc:picChg>
        <pc:picChg chg="add">
          <ac:chgData name="Lai, Wilson" userId="2840974a-0d84-4886-90a9-9a3ed79f3a48" providerId="ADAL" clId="{9F23B798-9E84-4552-BA63-E776E805C424}" dt="2026-09-27T14:02:22.724" v="37" actId="22"/>
          <ac:picMkLst>
            <pc:docMk/>
            <pc:sldMk cId="0" sldId="269"/>
            <ac:picMk id="4" creationId="{33A563C2-8C80-64C7-72C1-05C73D5D536C}"/>
          </ac:picMkLst>
        </pc:picChg>
      </pc:sldChg>
      <pc:sldChg chg="addSp delSp mod modNotes modNotesTx">
        <pc:chgData name="Lai, Wilson" userId="2840974a-0d84-4886-90a9-9a3ed79f3a48" providerId="ADAL" clId="{9F23B798-9E84-4552-BA63-E776E805C424}" dt="2026-09-28T01:37:00.696" v="135" actId="14"/>
        <pc:sldMkLst>
          <pc:docMk/>
          <pc:sldMk cId="0" sldId="270"/>
        </pc:sldMkLst>
        <pc:picChg chg="del">
          <ac:chgData name="Lai, Wilson" userId="2840974a-0d84-4886-90a9-9a3ed79f3a48" providerId="ADAL" clId="{9F23B798-9E84-4552-BA63-E776E805C424}" dt="2026-09-27T14:02:28.051" v="38" actId="21"/>
          <ac:picMkLst>
            <pc:docMk/>
            <pc:sldMk cId="0" sldId="270"/>
            <ac:picMk id="2" creationId="{00000000-0000-0000-0000-000000000000}"/>
          </ac:picMkLst>
        </pc:picChg>
        <pc:picChg chg="add">
          <ac:chgData name="Lai, Wilson" userId="2840974a-0d84-4886-90a9-9a3ed79f3a48" providerId="ADAL" clId="{9F23B798-9E84-4552-BA63-E776E805C424}" dt="2026-09-27T14:02:37.526" v="39" actId="22"/>
          <ac:picMkLst>
            <pc:docMk/>
            <pc:sldMk cId="0" sldId="270"/>
            <ac:picMk id="4" creationId="{A1A7917A-5CCC-E2FC-E12A-0350A0BB3B92}"/>
          </ac:picMkLst>
        </pc:picChg>
      </pc:sldChg>
      <pc:sldChg chg="addSp delSp mod ord modNotes modNotesTx">
        <pc:chgData name="Lai, Wilson" userId="2840974a-0d84-4886-90a9-9a3ed79f3a48" providerId="ADAL" clId="{9F23B798-9E84-4552-BA63-E776E805C424}" dt="2026-09-28T01:37:10.245" v="141" actId="14"/>
        <pc:sldMkLst>
          <pc:docMk/>
          <pc:sldMk cId="0" sldId="271"/>
        </pc:sldMkLst>
        <pc:picChg chg="del">
          <ac:chgData name="Lai, Wilson" userId="2840974a-0d84-4886-90a9-9a3ed79f3a48" providerId="ADAL" clId="{9F23B798-9E84-4552-BA63-E776E805C424}" dt="2026-09-27T14:02:45.129" v="40" actId="21"/>
          <ac:picMkLst>
            <pc:docMk/>
            <pc:sldMk cId="0" sldId="271"/>
            <ac:picMk id="2" creationId="{00000000-0000-0000-0000-000000000000}"/>
          </ac:picMkLst>
        </pc:picChg>
        <pc:picChg chg="add">
          <ac:chgData name="Lai, Wilson" userId="2840974a-0d84-4886-90a9-9a3ed79f3a48" providerId="ADAL" clId="{9F23B798-9E84-4552-BA63-E776E805C424}" dt="2026-09-27T14:03:00.750" v="41" actId="22"/>
          <ac:picMkLst>
            <pc:docMk/>
            <pc:sldMk cId="0" sldId="271"/>
            <ac:picMk id="4" creationId="{F667B3C2-5399-6817-1F0E-53CEF012CA96}"/>
          </ac:picMkLst>
        </pc:picChg>
      </pc:sldChg>
      <pc:sldChg chg="addSp delSp mod modNotes modNotesTx">
        <pc:chgData name="Lai, Wilson" userId="2840974a-0d84-4886-90a9-9a3ed79f3a48" providerId="ADAL" clId="{9F23B798-9E84-4552-BA63-E776E805C424}" dt="2026-09-28T01:37:18.516" v="145" actId="14"/>
        <pc:sldMkLst>
          <pc:docMk/>
          <pc:sldMk cId="3142446841" sldId="272"/>
        </pc:sldMkLst>
        <pc:picChg chg="del">
          <ac:chgData name="Lai, Wilson" userId="2840974a-0d84-4886-90a9-9a3ed79f3a48" providerId="ADAL" clId="{9F23B798-9E84-4552-BA63-E776E805C424}" dt="2026-09-27T14:03:02.869" v="42" actId="21"/>
          <ac:picMkLst>
            <pc:docMk/>
            <pc:sldMk cId="3142446841" sldId="272"/>
            <ac:picMk id="3" creationId="{8B83F69E-C936-78A9-0E39-5F9B35FF3333}"/>
          </ac:picMkLst>
        </pc:picChg>
        <pc:picChg chg="add">
          <ac:chgData name="Lai, Wilson" userId="2840974a-0d84-4886-90a9-9a3ed79f3a48" providerId="ADAL" clId="{9F23B798-9E84-4552-BA63-E776E805C424}" dt="2026-09-27T14:03:17.853" v="43" actId="22"/>
          <ac:picMkLst>
            <pc:docMk/>
            <pc:sldMk cId="3142446841" sldId="272"/>
            <ac:picMk id="4" creationId="{A9DE5843-F0FD-FA58-05F0-D21AB254C60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3154E1-C3A0-4C66-8DE3-951485BD1B1E}"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305F41-F9B2-4648-9C06-C0351E0D8B7A}" type="slidenum">
              <a:rPr lang="en-US" smtClean="0"/>
              <a:t>‹#›</a:t>
            </a:fld>
            <a:endParaRPr lang="en-US"/>
          </a:p>
        </p:txBody>
      </p:sp>
    </p:spTree>
    <p:extLst>
      <p:ext uri="{BB962C8B-B14F-4D97-AF65-F5344CB8AC3E}">
        <p14:creationId xmlns:p14="http://schemas.microsoft.com/office/powerpoint/2010/main" val="2310579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Introduction:</a:t>
            </a:r>
            <a:r>
              <a:rPr lang="en-US" sz="1200" kern="1200" dirty="0">
                <a:solidFill>
                  <a:schemeClr val="tx1"/>
                </a:solidFill>
                <a:effectLst/>
                <a:latin typeface="+mn-lt"/>
                <a:ea typeface="+mn-ea"/>
                <a:cs typeface="+mn-cs"/>
              </a:rPr>
              <a:t> Welcome everyone. Today, we are taking a deep dive into "The Four Pillars of Real-World Investing," drawing directly from the insights and empirical philosophy of Dr. William Bernstein—a practicing neurologist turned investment advisor and author of seminal texts like </a:t>
            </a:r>
            <a:r>
              <a:rPr lang="en-US" sz="1200" i="1" kern="1200" dirty="0">
                <a:solidFill>
                  <a:schemeClr val="tx1"/>
                </a:solidFill>
                <a:effectLst/>
                <a:latin typeface="+mn-lt"/>
                <a:ea typeface="+mn-ea"/>
                <a:cs typeface="+mn-cs"/>
              </a:rPr>
              <a:t>The Four Pillars of Investing</a:t>
            </a:r>
            <a:r>
              <a:rPr lang="en-US" sz="1200" kern="1200" dirty="0">
                <a:solidFill>
                  <a:schemeClr val="tx1"/>
                </a:solidFill>
                <a:effectLst/>
                <a:latin typeface="+mn-lt"/>
                <a:ea typeface="+mn-ea"/>
                <a:cs typeface="+mn-cs"/>
              </a:rPr>
              <a:t> and </a:t>
            </a:r>
            <a:r>
              <a:rPr lang="en-US" sz="1200" i="1" kern="1200" dirty="0">
                <a:solidFill>
                  <a:schemeClr val="tx1"/>
                </a:solidFill>
                <a:effectLst/>
                <a:latin typeface="+mn-lt"/>
                <a:ea typeface="+mn-ea"/>
                <a:cs typeface="+mn-cs"/>
              </a:rPr>
              <a:t>The Intelligent Asset Allocator</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Context:</a:t>
            </a:r>
            <a:r>
              <a:rPr lang="en-US" sz="1200" kern="1200" dirty="0">
                <a:solidFill>
                  <a:schemeClr val="tx1"/>
                </a:solidFill>
                <a:effectLst/>
                <a:latin typeface="+mn-lt"/>
                <a:ea typeface="+mn-ea"/>
                <a:cs typeface="+mn-cs"/>
              </a:rPr>
              <a:t> In today's market climate, retail and institutional investors alike are constantly bombarded with noise, technological hype, short-term economic forecasts, and dynamic wall-street products. </a:t>
            </a:r>
          </a:p>
          <a:p>
            <a:pPr lvl="0"/>
            <a:r>
              <a:rPr lang="en-US" sz="1200" b="1" kern="1200" dirty="0">
                <a:solidFill>
                  <a:schemeClr val="tx1"/>
                </a:solidFill>
                <a:effectLst/>
                <a:latin typeface="+mn-lt"/>
                <a:ea typeface="+mn-ea"/>
                <a:cs typeface="+mn-cs"/>
              </a:rPr>
              <a:t>Core Thesis:</a:t>
            </a:r>
            <a:r>
              <a:rPr lang="en-US" sz="1200" kern="1200" dirty="0">
                <a:solidFill>
                  <a:schemeClr val="tx1"/>
                </a:solidFill>
                <a:effectLst/>
                <a:latin typeface="+mn-lt"/>
                <a:ea typeface="+mn-ea"/>
                <a:cs typeface="+mn-cs"/>
              </a:rPr>
              <a:t> The central message of this masterclass is simple yet profound: Real-world investing is not about solving complex partial differential equations or outsmarting the market on short-term trades. It rests on three critical foundations: </a:t>
            </a:r>
          </a:p>
          <a:p>
            <a:pPr marL="228600" lvl="0" indent="-228600">
              <a:buFont typeface="+mj-lt"/>
              <a:buAutoNum type="arabicPeriod"/>
            </a:pPr>
            <a:r>
              <a:rPr lang="en-US" sz="1200" b="1" kern="1200" dirty="0">
                <a:solidFill>
                  <a:schemeClr val="tx1"/>
                </a:solidFill>
                <a:effectLst/>
                <a:latin typeface="+mn-lt"/>
                <a:ea typeface="+mn-ea"/>
                <a:cs typeface="+mn-cs"/>
              </a:rPr>
              <a:t>Market Reality:</a:t>
            </a:r>
            <a:r>
              <a:rPr lang="en-US" sz="1200" kern="1200" dirty="0">
                <a:solidFill>
                  <a:schemeClr val="tx1"/>
                </a:solidFill>
                <a:effectLst/>
                <a:latin typeface="+mn-lt"/>
                <a:ea typeface="+mn-ea"/>
                <a:cs typeface="+mn-cs"/>
              </a:rPr>
              <a:t> Recognizing valuation extremes and market history without falling for dangerous predictions. </a:t>
            </a:r>
          </a:p>
          <a:p>
            <a:pPr marL="228600" lvl="0" indent="-228600">
              <a:buFont typeface="+mj-lt"/>
              <a:buAutoNum type="arabicPeriod"/>
            </a:pPr>
            <a:r>
              <a:rPr lang="en-US" sz="1200" b="1" kern="1200" dirty="0">
                <a:solidFill>
                  <a:schemeClr val="tx1"/>
                </a:solidFill>
                <a:effectLst/>
                <a:latin typeface="+mn-lt"/>
                <a:ea typeface="+mn-ea"/>
                <a:cs typeface="+mn-cs"/>
              </a:rPr>
              <a:t>Mechanical Defense:</a:t>
            </a:r>
            <a:r>
              <a:rPr lang="en-US" sz="1200" kern="1200" dirty="0">
                <a:solidFill>
                  <a:schemeClr val="tx1"/>
                </a:solidFill>
                <a:effectLst/>
                <a:latin typeface="+mn-lt"/>
                <a:ea typeface="+mn-ea"/>
                <a:cs typeface="+mn-cs"/>
              </a:rPr>
              <a:t> Building anti-fragile, structurally sound income engines (like TIPS ladders) to guarantee your basic financial survival. </a:t>
            </a:r>
          </a:p>
          <a:p>
            <a:pPr marL="228600" lvl="0" indent="-228600">
              <a:buFont typeface="+mj-lt"/>
              <a:buAutoNum type="arabicPeriod"/>
            </a:pPr>
            <a:r>
              <a:rPr lang="en-US" sz="1200" b="1" kern="1200" dirty="0">
                <a:solidFill>
                  <a:schemeClr val="tx1"/>
                </a:solidFill>
                <a:effectLst/>
                <a:latin typeface="+mn-lt"/>
                <a:ea typeface="+mn-ea"/>
                <a:cs typeface="+mn-cs"/>
              </a:rPr>
              <a:t>Behavioral Discipline:</a:t>
            </a:r>
            <a:r>
              <a:rPr lang="en-US" sz="1200" kern="1200" dirty="0">
                <a:solidFill>
                  <a:schemeClr val="tx1"/>
                </a:solidFill>
                <a:effectLst/>
                <a:latin typeface="+mn-lt"/>
                <a:ea typeface="+mn-ea"/>
                <a:cs typeface="+mn-cs"/>
              </a:rPr>
              <a:t> Controlling your own limbic system and evolutionary psychology when panic inevitably hits. </a:t>
            </a:r>
          </a:p>
          <a:p>
            <a:pPr lvl="0"/>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As Dr. Bernstein frequently reminds us: The primary goal of investing is not to maximize upside return, but to structurally and behaviorally eliminate catastrophic downside risk. </a:t>
            </a:r>
          </a:p>
        </p:txBody>
      </p:sp>
      <p:sp>
        <p:nvSpPr>
          <p:cNvPr id="4" name="Slide Number Placeholder 3"/>
          <p:cNvSpPr>
            <a:spLocks noGrp="1"/>
          </p:cNvSpPr>
          <p:nvPr>
            <p:ph type="sldNum" sz="quarter" idx="5"/>
          </p:nvPr>
        </p:nvSpPr>
        <p:spPr/>
        <p:txBody>
          <a:bodyPr/>
          <a:lstStyle/>
          <a:p>
            <a:fld id="{4D305F41-F9B2-4648-9C06-C0351E0D8B7A}" type="slidenum">
              <a:rPr lang="en-US" smtClean="0"/>
              <a:t>1</a:t>
            </a:fld>
            <a:endParaRPr lang="en-US"/>
          </a:p>
        </p:txBody>
      </p:sp>
    </p:spTree>
    <p:extLst>
      <p:ext uri="{BB962C8B-B14F-4D97-AF65-F5344CB8AC3E}">
        <p14:creationId xmlns:p14="http://schemas.microsoft.com/office/powerpoint/2010/main" val="10970088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Overview:</a:t>
            </a:r>
            <a:r>
              <a:rPr lang="en-US" sz="1200" kern="1200" dirty="0">
                <a:solidFill>
                  <a:schemeClr val="tx1"/>
                </a:solidFill>
                <a:effectLst/>
                <a:latin typeface="+mn-lt"/>
                <a:ea typeface="+mn-ea"/>
                <a:cs typeface="+mn-cs"/>
              </a:rPr>
              <a:t> Slide 2 sets the stage by placing our current market environment in historical context, comparing the dot-com era of 1999 with the market climate driven by AI technology today. </a:t>
            </a:r>
          </a:p>
          <a:p>
            <a:pPr lvl="0"/>
            <a:r>
              <a:rPr lang="en-US" sz="1200" b="1" kern="1200" dirty="0">
                <a:solidFill>
                  <a:schemeClr val="tx1"/>
                </a:solidFill>
                <a:effectLst/>
                <a:latin typeface="+mn-lt"/>
                <a:ea typeface="+mn-ea"/>
                <a:cs typeface="+mn-cs"/>
              </a:rPr>
              <a:t>The 1999 Reflection: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During the late 1990s, the Shiller CAPE (Cyclically Adjusted Price-to-Earnings) ratio reached unprecedented heights around 41.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Investor sentiment was wildly euphoric. People openly bragged about holding 100% equity portfolios and dismissed fixed-income assets, claiming "bonds are for dummies". </a:t>
            </a:r>
          </a:p>
          <a:p>
            <a:pPr lvl="0"/>
            <a:r>
              <a:rPr lang="en-US" sz="1200" b="1" kern="1200" dirty="0">
                <a:solidFill>
                  <a:schemeClr val="tx1"/>
                </a:solidFill>
                <a:effectLst/>
                <a:latin typeface="+mn-lt"/>
                <a:ea typeface="+mn-ea"/>
                <a:cs typeface="+mn-cs"/>
              </a:rPr>
              <a:t>The Present Reality:</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Today, we see a striking structural parallel: enthusiasm surrounding a novel technology—Artificial Intelligence—is driving extreme projections for future capital expenditure and productivity growth.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We hear the exact same cultural echo: retail investors bragging about pure stock portfolios and completely discarding defensive fixed income. </a:t>
            </a:r>
          </a:p>
          <a:p>
            <a:pPr lvl="0"/>
            <a:r>
              <a:rPr lang="en-US" sz="1200" b="1" kern="1200" dirty="0">
                <a:solidFill>
                  <a:schemeClr val="tx1"/>
                </a:solidFill>
                <a:effectLst/>
                <a:latin typeface="+mn-lt"/>
                <a:ea typeface="+mn-ea"/>
                <a:cs typeface="+mn-cs"/>
              </a:rPr>
              <a:t>Dr. Bernstein’s Assessment:</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an asset market walks like a duck, quacks like a duck, and sounds like a duck, you must treat it with appropriate caution.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Dr. Bernstein notes there is a real 20% to 30% probability that we are currently inside a genuine dot-com style bubble. </a:t>
            </a:r>
          </a:p>
          <a:p>
            <a:pPr lvl="0"/>
            <a:r>
              <a:rPr lang="en-US" sz="1200" b="1" kern="1200" dirty="0">
                <a:solidFill>
                  <a:schemeClr val="tx1"/>
                </a:solidFill>
                <a:effectLst/>
                <a:latin typeface="+mn-lt"/>
                <a:ea typeface="+mn-ea"/>
                <a:cs typeface="+mn-cs"/>
              </a:rPr>
              <a:t>Actionable Insight:</a:t>
            </a:r>
            <a:r>
              <a:rPr lang="en-US" sz="1200" kern="1200" dirty="0">
                <a:solidFill>
                  <a:schemeClr val="tx1"/>
                </a:solidFill>
                <a:effectLst/>
                <a:latin typeface="+mn-lt"/>
                <a:ea typeface="+mn-ea"/>
                <a:cs typeface="+mn-cs"/>
              </a:rPr>
              <a:t> However, this does not mean you should panic-sell your equities tomorrow. History shows that market timing based on CAPE ratios can leave you stranded on the sidelines for decades (as would have happened if you exited stocks based on valuations in 1990). Instead, it means recognizing market exuberance and ensuring your portfolio is defensively built to survive a major draw-down. </a:t>
            </a:r>
          </a:p>
        </p:txBody>
      </p:sp>
      <p:sp>
        <p:nvSpPr>
          <p:cNvPr id="4" name="Slide Number Placeholder 3"/>
          <p:cNvSpPr>
            <a:spLocks noGrp="1"/>
          </p:cNvSpPr>
          <p:nvPr>
            <p:ph type="sldNum" sz="quarter" idx="5"/>
          </p:nvPr>
        </p:nvSpPr>
        <p:spPr/>
        <p:txBody>
          <a:bodyPr/>
          <a:lstStyle/>
          <a:p>
            <a:fld id="{4D305F41-F9B2-4648-9C06-C0351E0D8B7A}" type="slidenum">
              <a:rPr lang="en-US" smtClean="0"/>
              <a:t>2</a:t>
            </a:fld>
            <a:endParaRPr lang="en-US"/>
          </a:p>
        </p:txBody>
      </p:sp>
    </p:spTree>
    <p:extLst>
      <p:ext uri="{BB962C8B-B14F-4D97-AF65-F5344CB8AC3E}">
        <p14:creationId xmlns:p14="http://schemas.microsoft.com/office/powerpoint/2010/main" val="532461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Overview:</a:t>
            </a:r>
            <a:r>
              <a:rPr lang="en-US" sz="1200" kern="1200" dirty="0">
                <a:solidFill>
                  <a:schemeClr val="tx1"/>
                </a:solidFill>
                <a:effectLst/>
                <a:latin typeface="+mn-lt"/>
                <a:ea typeface="+mn-ea"/>
                <a:cs typeface="+mn-cs"/>
              </a:rPr>
              <a:t> On Slide 3, we address one of the most critical conceptual errors made in modern finance: confusing a </a:t>
            </a:r>
            <a:r>
              <a:rPr lang="en-US" sz="1200" i="1" kern="1200" dirty="0">
                <a:solidFill>
                  <a:schemeClr val="tx1"/>
                </a:solidFill>
                <a:effectLst/>
                <a:latin typeface="+mn-lt"/>
                <a:ea typeface="+mn-ea"/>
                <a:cs typeface="+mn-cs"/>
              </a:rPr>
              <a:t>prediction</a:t>
            </a:r>
            <a:r>
              <a:rPr lang="en-US" sz="1200" kern="1200" dirty="0">
                <a:solidFill>
                  <a:schemeClr val="tx1"/>
                </a:solidFill>
                <a:effectLst/>
                <a:latin typeface="+mn-lt"/>
                <a:ea typeface="+mn-ea"/>
                <a:cs typeface="+mn-cs"/>
              </a:rPr>
              <a:t> with a </a:t>
            </a:r>
            <a:r>
              <a:rPr lang="en-US" sz="1200" i="1" kern="1200" dirty="0">
                <a:solidFill>
                  <a:schemeClr val="tx1"/>
                </a:solidFill>
                <a:effectLst/>
                <a:latin typeface="+mn-lt"/>
                <a:ea typeface="+mn-ea"/>
                <a:cs typeface="+mn-cs"/>
              </a:rPr>
              <a:t>forecast</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Incident (Vanguard’s Model):</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Take Vanguard’s 10-year Capital Market Model (VCMM). Within a span of roughly six months, their projected 10-year annualized market return shifted dramatically from 1% to 6%, driven largely by revised capital buildout expectations around AI.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prominent institutions make such rapid multi-percentage-point adjustments based on technological enthusiasm, investors must pause and evaluate what those numbers actually mean. </a:t>
            </a:r>
          </a:p>
          <a:p>
            <a:pPr lvl="0"/>
            <a:r>
              <a:rPr lang="en-US" sz="1200" b="1" kern="1200" dirty="0">
                <a:solidFill>
                  <a:schemeClr val="tx1"/>
                </a:solidFill>
                <a:effectLst/>
                <a:latin typeface="+mn-lt"/>
                <a:ea typeface="+mn-ea"/>
                <a:cs typeface="+mn-cs"/>
              </a:rPr>
              <a:t>The Fallacy of Point Predictions: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Most market participants fixate on a single point estimate—a "prediction" that the market will return 6% nominal.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reality, no model can pinpoint exact long-term point returns. Treating a central estimate as a certainty leads to dangerous overconfidence. </a:t>
            </a:r>
          </a:p>
          <a:p>
            <a:pPr lvl="0"/>
            <a:r>
              <a:rPr lang="en-US" sz="1200" b="1" kern="1200" dirty="0">
                <a:solidFill>
                  <a:schemeClr val="tx1"/>
                </a:solidFill>
                <a:effectLst/>
                <a:latin typeface="+mn-lt"/>
                <a:ea typeface="+mn-ea"/>
                <a:cs typeface="+mn-cs"/>
              </a:rPr>
              <a:t>The Gaussian Reality (Tail Risks):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 true financial forecast is a full Gaussian probability distribution range.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While the central estimate may sit at 6% nominal, the 95% confidence interval stretches from a severe -3% annualized return on the left tail to an optimistic +12% return on the right tail. </a:t>
            </a:r>
          </a:p>
          <a:p>
            <a:pPr lvl="0"/>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Real investment risk is defined by the </a:t>
            </a:r>
            <a:r>
              <a:rPr lang="en-US" sz="1200" i="1" kern="1200" dirty="0">
                <a:solidFill>
                  <a:schemeClr val="tx1"/>
                </a:solidFill>
                <a:effectLst/>
                <a:latin typeface="+mn-lt"/>
                <a:ea typeface="+mn-ea"/>
                <a:cs typeface="+mn-cs"/>
              </a:rPr>
              <a:t>width</a:t>
            </a:r>
            <a:r>
              <a:rPr lang="en-US" sz="1200" kern="1200" dirty="0">
                <a:solidFill>
                  <a:schemeClr val="tx1"/>
                </a:solidFill>
                <a:effectLst/>
                <a:latin typeface="+mn-lt"/>
                <a:ea typeface="+mn-ea"/>
                <a:cs typeface="+mn-cs"/>
              </a:rPr>
              <a:t> of that curve. Your financial plan cannot rely solely on the central 6% estimate; it must be resilient enough to survive the -3% left-tail outcome over a 10-year horizon. </a:t>
            </a:r>
          </a:p>
        </p:txBody>
      </p:sp>
      <p:sp>
        <p:nvSpPr>
          <p:cNvPr id="4" name="Slide Number Placeholder 3"/>
          <p:cNvSpPr>
            <a:spLocks noGrp="1"/>
          </p:cNvSpPr>
          <p:nvPr>
            <p:ph type="sldNum" sz="quarter" idx="5"/>
          </p:nvPr>
        </p:nvSpPr>
        <p:spPr/>
        <p:txBody>
          <a:bodyPr/>
          <a:lstStyle/>
          <a:p>
            <a:fld id="{4D305F41-F9B2-4648-9C06-C0351E0D8B7A}" type="slidenum">
              <a:rPr lang="en-US" smtClean="0"/>
              <a:t>3</a:t>
            </a:fld>
            <a:endParaRPr lang="en-US"/>
          </a:p>
        </p:txBody>
      </p:sp>
    </p:spTree>
    <p:extLst>
      <p:ext uri="{BB962C8B-B14F-4D97-AF65-F5344CB8AC3E}">
        <p14:creationId xmlns:p14="http://schemas.microsoft.com/office/powerpoint/2010/main" val="15577723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Overview:</a:t>
            </a:r>
            <a:r>
              <a:rPr lang="en-US" sz="1200" kern="1200" dirty="0">
                <a:solidFill>
                  <a:schemeClr val="tx1"/>
                </a:solidFill>
                <a:effectLst/>
                <a:latin typeface="+mn-lt"/>
                <a:ea typeface="+mn-ea"/>
                <a:cs typeface="+mn-cs"/>
              </a:rPr>
              <a:t> Slide 4 dismantles a widespread myth regarding upcoming mega-tech IPOs (like SpaceX, Anthropic, or OpenAI) and their immediate impact on broad market index funds. </a:t>
            </a:r>
          </a:p>
          <a:p>
            <a:pPr lvl="0"/>
            <a:r>
              <a:rPr lang="en-US" sz="1200" b="1" kern="1200" dirty="0">
                <a:solidFill>
                  <a:schemeClr val="tx1"/>
                </a:solidFill>
                <a:effectLst/>
                <a:latin typeface="+mn-lt"/>
                <a:ea typeface="+mn-ea"/>
                <a:cs typeface="+mn-cs"/>
              </a:rPr>
              <a:t>The Concern: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Investors often look at massive private valuations—such as SpaceX estimated at $1.5 to $2 trillion—and worry that when these giants go public, they will suddenly overwhelm broad index funds (like S&amp;P 500 or Total Stock Market indexes) or introduce concentrated risk. </a:t>
            </a:r>
          </a:p>
          <a:p>
            <a:pPr lvl="0"/>
            <a:r>
              <a:rPr lang="en-US" sz="1200" b="1" kern="1200" dirty="0">
                <a:solidFill>
                  <a:schemeClr val="tx1"/>
                </a:solidFill>
                <a:effectLst/>
                <a:latin typeface="+mn-lt"/>
                <a:ea typeface="+mn-ea"/>
                <a:cs typeface="+mn-cs"/>
              </a:rPr>
              <a:t>The Core Mechanism — Public Float vs. Total Market Cap:</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broad index funds, you do not own the company's entire market cap; you only own its </a:t>
            </a:r>
            <a:r>
              <a:rPr lang="en-US" sz="1200" b="1" kern="1200" dirty="0">
                <a:solidFill>
                  <a:schemeClr val="tx1"/>
                </a:solidFill>
                <a:effectLst/>
                <a:latin typeface="+mn-lt"/>
                <a:ea typeface="+mn-ea"/>
                <a:cs typeface="+mn-cs"/>
              </a:rPr>
              <a:t>public float</a:t>
            </a:r>
            <a:r>
              <a:rPr lang="en-US" sz="1200" kern="1200" dirty="0">
                <a:solidFill>
                  <a:schemeClr val="tx1"/>
                </a:solidFill>
                <a:effectLst/>
                <a:latin typeface="+mn-lt"/>
                <a:ea typeface="+mn-ea"/>
                <a:cs typeface="+mn-cs"/>
              </a:rPr>
              <a:t>—the portion of shares actively traded on public exchanges.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For instance, even with a multi-trillion-dollar company like SpaceX, if only 3% to 4% of its shares are publicly issued, that public float represents a fraction of a percent (e.g., around 0.1%) of the total S&amp;P 500 index weight. </a:t>
            </a:r>
          </a:p>
          <a:p>
            <a:pPr lvl="0"/>
            <a:r>
              <a:rPr lang="en-US" sz="1200" b="1" kern="1200" dirty="0">
                <a:solidFill>
                  <a:schemeClr val="tx1"/>
                </a:solidFill>
                <a:effectLst/>
                <a:latin typeface="+mn-lt"/>
                <a:ea typeface="+mn-ea"/>
                <a:cs typeface="+mn-cs"/>
              </a:rPr>
              <a:t>Underwater Reality:</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massive bulk of private tech valuations remains held underwater by private insiders, venture capital, and institutional founders—completely isolated from public index fund holders. </a:t>
            </a:r>
          </a:p>
          <a:p>
            <a:pPr lvl="0"/>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Index fund investors do not need to fear private mega-cap IPO additions. The mechanical structure of market-cap float weighting automatically prevents a newly listed entity from distorting your index portfolio balance. </a:t>
            </a:r>
          </a:p>
        </p:txBody>
      </p:sp>
      <p:sp>
        <p:nvSpPr>
          <p:cNvPr id="4" name="Slide Number Placeholder 3"/>
          <p:cNvSpPr>
            <a:spLocks noGrp="1"/>
          </p:cNvSpPr>
          <p:nvPr>
            <p:ph type="sldNum" sz="quarter" idx="5"/>
          </p:nvPr>
        </p:nvSpPr>
        <p:spPr/>
        <p:txBody>
          <a:bodyPr/>
          <a:lstStyle/>
          <a:p>
            <a:fld id="{4D305F41-F9B2-4648-9C06-C0351E0D8B7A}" type="slidenum">
              <a:rPr lang="en-US" smtClean="0"/>
              <a:t>4</a:t>
            </a:fld>
            <a:endParaRPr lang="en-US"/>
          </a:p>
        </p:txBody>
      </p:sp>
    </p:spTree>
    <p:extLst>
      <p:ext uri="{BB962C8B-B14F-4D97-AF65-F5344CB8AC3E}">
        <p14:creationId xmlns:p14="http://schemas.microsoft.com/office/powerpoint/2010/main" val="19127902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Overview:</a:t>
            </a:r>
            <a:r>
              <a:rPr lang="en-US" sz="1200" kern="1200" dirty="0">
                <a:solidFill>
                  <a:schemeClr val="tx1"/>
                </a:solidFill>
                <a:effectLst/>
                <a:latin typeface="+mn-lt"/>
                <a:ea typeface="+mn-ea"/>
                <a:cs typeface="+mn-cs"/>
              </a:rPr>
              <a:t> Slide 5 transitions from market mechanics into neuropsychology, examining why human biology is fundamentally wired to make terrible financial decisions. </a:t>
            </a:r>
          </a:p>
          <a:p>
            <a:pPr lvl="0"/>
            <a:r>
              <a:rPr lang="en-US" sz="1200" b="1" kern="1200" dirty="0">
                <a:solidFill>
                  <a:schemeClr val="tx1"/>
                </a:solidFill>
                <a:effectLst/>
                <a:latin typeface="+mn-lt"/>
                <a:ea typeface="+mn-ea"/>
                <a:cs typeface="+mn-cs"/>
              </a:rPr>
              <a:t>The Evolutionary Biological Wiring:</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Our brains evolved over hundreds of thousands of years on the plains of the Serengeti in East Africa.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Survival depended on immediate, involuntary fight-or-flight reactions. When peripheral vision detected yellow and black stripes in the brush or the sound of a hiss, the limbic system instantly triggered an adrenaline spike. </a:t>
            </a:r>
          </a:p>
          <a:p>
            <a:pPr lvl="0"/>
            <a:r>
              <a:rPr lang="en-US" sz="1200" b="1" kern="1200" dirty="0">
                <a:solidFill>
                  <a:schemeClr val="tx1"/>
                </a:solidFill>
                <a:effectLst/>
                <a:latin typeface="+mn-lt"/>
                <a:ea typeface="+mn-ea"/>
                <a:cs typeface="+mn-cs"/>
              </a:rPr>
              <a:t>The Modern Biological Misfire: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modern financial markets, we experience a 20% portfolio drop or sudden market volatility with that exact same biological, visceral panic.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Our limbic system reacts to a falling stock chart as if it were a physical predator in the room, driving an overwhelming impulse to sell everything and flee to safety. </a:t>
            </a:r>
          </a:p>
          <a:p>
            <a:pPr lvl="0"/>
            <a:r>
              <a:rPr lang="en-US" sz="1200" b="1" kern="1200" dirty="0">
                <a:solidFill>
                  <a:schemeClr val="tx1"/>
                </a:solidFill>
                <a:effectLst/>
                <a:latin typeface="+mn-lt"/>
                <a:ea typeface="+mn-ea"/>
                <a:cs typeface="+mn-cs"/>
              </a:rPr>
              <a:t>The Core Problem:</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Short-term market drops are not physical threats. Reacting to short-term volatility with split-second biological panic forces investors to buy high during periods of euphoria and sell low during crashes. </a:t>
            </a:r>
          </a:p>
          <a:p>
            <a:pPr lvl="0"/>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To succeed in investing, you must recognize that your immediate emotional instincts are evolutionary misfires. Real long-term financial success requires mastering your limbic system through rigid, automated behavioral protocols. </a:t>
            </a:r>
          </a:p>
        </p:txBody>
      </p:sp>
      <p:sp>
        <p:nvSpPr>
          <p:cNvPr id="4" name="Slide Number Placeholder 3"/>
          <p:cNvSpPr>
            <a:spLocks noGrp="1"/>
          </p:cNvSpPr>
          <p:nvPr>
            <p:ph type="sldNum" sz="quarter" idx="5"/>
          </p:nvPr>
        </p:nvSpPr>
        <p:spPr/>
        <p:txBody>
          <a:bodyPr/>
          <a:lstStyle/>
          <a:p>
            <a:fld id="{4D305F41-F9B2-4648-9C06-C0351E0D8B7A}" type="slidenum">
              <a:rPr lang="en-US" smtClean="0"/>
              <a:t>5</a:t>
            </a:fld>
            <a:endParaRPr lang="en-US"/>
          </a:p>
        </p:txBody>
      </p:sp>
    </p:spTree>
    <p:extLst>
      <p:ext uri="{BB962C8B-B14F-4D97-AF65-F5344CB8AC3E}">
        <p14:creationId xmlns:p14="http://schemas.microsoft.com/office/powerpoint/2010/main" val="748327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Overview:</a:t>
            </a:r>
            <a:r>
              <a:rPr lang="en-US" sz="1200" kern="1200" dirty="0">
                <a:solidFill>
                  <a:schemeClr val="tx1"/>
                </a:solidFill>
                <a:effectLst/>
                <a:latin typeface="+mn-lt"/>
                <a:ea typeface="+mn-ea"/>
                <a:cs typeface="+mn-cs"/>
              </a:rPr>
              <a:t> Slide 6 contrasts the theoretical definition of risk taught in finance literature with the actual, lived reality of risk for individual human beings. </a:t>
            </a:r>
          </a:p>
          <a:p>
            <a:pPr lvl="0"/>
            <a:r>
              <a:rPr lang="en-US" sz="1200" b="1" kern="1200" dirty="0">
                <a:solidFill>
                  <a:schemeClr val="tx1"/>
                </a:solidFill>
                <a:effectLst/>
                <a:latin typeface="+mn-lt"/>
                <a:ea typeface="+mn-ea"/>
                <a:cs typeface="+mn-cs"/>
              </a:rPr>
              <a:t>Academic Risk (Theory):</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Academia measures risk using </a:t>
            </a:r>
            <a:r>
              <a:rPr lang="en-US" sz="1200" b="1" kern="1200" dirty="0">
                <a:solidFill>
                  <a:schemeClr val="tx1"/>
                </a:solidFill>
                <a:effectLst/>
                <a:latin typeface="+mn-lt"/>
                <a:ea typeface="+mn-ea"/>
                <a:cs typeface="+mn-cs"/>
              </a:rPr>
              <a:t>Standard Deviation</a:t>
            </a:r>
            <a:r>
              <a:rPr lang="en-US" sz="1200" kern="1200" dirty="0">
                <a:solidFill>
                  <a:schemeClr val="tx1"/>
                </a:solidFill>
                <a:effectLst/>
                <a:latin typeface="+mn-lt"/>
                <a:ea typeface="+mn-ea"/>
                <a:cs typeface="+mn-cs"/>
              </a:rPr>
              <a:t> and volatility.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Its time horizon is second-to-second, month-to-month, or year-to-year price movement.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academia, "failure" is defined as underperforming a benchmark or suffering short-term tracking error. </a:t>
            </a:r>
          </a:p>
          <a:p>
            <a:pPr lvl="0"/>
            <a:r>
              <a:rPr lang="en-US" sz="1200" b="1" kern="1200" dirty="0">
                <a:solidFill>
                  <a:schemeClr val="tx1"/>
                </a:solidFill>
                <a:effectLst/>
                <a:latin typeface="+mn-lt"/>
                <a:ea typeface="+mn-ea"/>
                <a:cs typeface="+mn-cs"/>
              </a:rPr>
              <a:t>Real-World Risk (Reality):</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the real world, volatility is not risk. Real-world risk is measured across </a:t>
            </a:r>
            <a:r>
              <a:rPr lang="en-US" sz="1200" b="1" kern="1200" dirty="0">
                <a:solidFill>
                  <a:schemeClr val="tx1"/>
                </a:solidFill>
                <a:effectLst/>
                <a:latin typeface="+mn-lt"/>
                <a:ea typeface="+mn-ea"/>
                <a:cs typeface="+mn-cs"/>
              </a:rPr>
              <a:t>decades and entire lifespans</a:t>
            </a:r>
            <a:r>
              <a:rPr lang="en-US" sz="1200" kern="1200" dirty="0">
                <a:solidFill>
                  <a:schemeClr val="tx1"/>
                </a:solidFill>
                <a:effectLst/>
                <a:latin typeface="+mn-lt"/>
                <a:ea typeface="+mn-ea"/>
                <a:cs typeface="+mn-cs"/>
              </a:rPr>
              <a:t> (30 to 40 years).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physical response to academic risk is short-term adrenaline and panic. The real-world consequence of bad risk management is slow, creeping poverty in old age.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Ultimate failure in real-world investing is not failing to beat the S&amp;P 500 by 50 basis points; </a:t>
            </a:r>
            <a:r>
              <a:rPr lang="en-US" sz="1200" b="1" kern="1200" dirty="0">
                <a:solidFill>
                  <a:schemeClr val="tx1"/>
                </a:solidFill>
                <a:effectLst/>
                <a:latin typeface="+mn-lt"/>
                <a:ea typeface="+mn-ea"/>
                <a:cs typeface="+mn-cs"/>
              </a:rPr>
              <a:t>ultimate failure is living under a bridge at age 70 because you ran out of money.</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Two Paths to Disaster:</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Dr. Bernstein emphasizes that you can wind up "under a bridge" in two opposite ways: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Investing too aggressively</a:t>
            </a:r>
            <a:r>
              <a:rPr lang="en-US" sz="1200" kern="1200" dirty="0">
                <a:solidFill>
                  <a:schemeClr val="tx1"/>
                </a:solidFill>
                <a:effectLst/>
                <a:latin typeface="+mn-lt"/>
                <a:ea typeface="+mn-ea"/>
                <a:cs typeface="+mn-cs"/>
              </a:rPr>
              <a:t> right before retirement, suffering a severe market drop, and exhausting your principal.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Investing too conservatively</a:t>
            </a:r>
            <a:r>
              <a:rPr lang="en-US" sz="1200" kern="1200" dirty="0">
                <a:solidFill>
                  <a:schemeClr val="tx1"/>
                </a:solidFill>
                <a:effectLst/>
                <a:latin typeface="+mn-lt"/>
                <a:ea typeface="+mn-ea"/>
                <a:cs typeface="+mn-cs"/>
              </a:rPr>
              <a:t> in T-bills your entire life out of fear, letting inflation quietly erode your purchasing power. </a:t>
            </a:r>
          </a:p>
          <a:p>
            <a:pPr lvl="0"/>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Risk is not what the market does tomorrow. Risk is outliving your money. </a:t>
            </a:r>
          </a:p>
        </p:txBody>
      </p:sp>
      <p:sp>
        <p:nvSpPr>
          <p:cNvPr id="4" name="Slide Number Placeholder 3"/>
          <p:cNvSpPr>
            <a:spLocks noGrp="1"/>
          </p:cNvSpPr>
          <p:nvPr>
            <p:ph type="sldNum" sz="quarter" idx="5"/>
          </p:nvPr>
        </p:nvSpPr>
        <p:spPr/>
        <p:txBody>
          <a:bodyPr/>
          <a:lstStyle/>
          <a:p>
            <a:fld id="{4D305F41-F9B2-4648-9C06-C0351E0D8B7A}" type="slidenum">
              <a:rPr lang="en-US" smtClean="0"/>
              <a:t>6</a:t>
            </a:fld>
            <a:endParaRPr lang="en-US"/>
          </a:p>
        </p:txBody>
      </p:sp>
    </p:spTree>
    <p:extLst>
      <p:ext uri="{BB962C8B-B14F-4D97-AF65-F5344CB8AC3E}">
        <p14:creationId xmlns:p14="http://schemas.microsoft.com/office/powerpoint/2010/main" val="24127058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Overview:</a:t>
            </a:r>
            <a:r>
              <a:rPr lang="en-US" sz="1200" kern="1200" dirty="0">
                <a:solidFill>
                  <a:schemeClr val="tx1"/>
                </a:solidFill>
                <a:effectLst/>
                <a:latin typeface="+mn-lt"/>
                <a:ea typeface="+mn-ea"/>
                <a:cs typeface="+mn-cs"/>
              </a:rPr>
              <a:t> Slide 7 warns against the "Academic Trap"—the danger of over-relying on elegant mathematical models in an domain governed by human behavior. </a:t>
            </a:r>
          </a:p>
          <a:p>
            <a:pPr lvl="0"/>
            <a:r>
              <a:rPr lang="en-US" sz="1200" b="1" kern="1200" dirty="0">
                <a:solidFill>
                  <a:schemeClr val="tx1"/>
                </a:solidFill>
                <a:effectLst/>
                <a:latin typeface="+mn-lt"/>
                <a:ea typeface="+mn-ea"/>
                <a:cs typeface="+mn-cs"/>
              </a:rPr>
              <a:t>The Academic Trap:</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financial academia, highly intelligent quantitative minds plot mean-variance graphs, optimize expected returns, locate the "tangent point" on the efficient frontier (often a 60/40 mix), and theorize leveraging that portfolio to maximize returns.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They treat market dynamics like physics equations—assuming stable statistical distributions and rational actors. </a:t>
            </a:r>
          </a:p>
          <a:p>
            <a:pPr lvl="0"/>
            <a:r>
              <a:rPr lang="en-US" sz="1200" b="1" kern="1200" dirty="0">
                <a:solidFill>
                  <a:schemeClr val="tx1"/>
                </a:solidFill>
                <a:effectLst/>
                <a:latin typeface="+mn-lt"/>
                <a:ea typeface="+mn-ea"/>
                <a:cs typeface="+mn-cs"/>
              </a:rPr>
              <a:t>The Real-World Catastrophe: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Finance is not physics; market participants are driven by psychology, fear, and liquidity crunches.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 prime historical lesson is </a:t>
            </a:r>
            <a:r>
              <a:rPr lang="en-US" sz="1200" b="1" kern="1200" dirty="0">
                <a:solidFill>
                  <a:schemeClr val="tx1"/>
                </a:solidFill>
                <a:effectLst/>
                <a:latin typeface="+mn-lt"/>
                <a:ea typeface="+mn-ea"/>
                <a:cs typeface="+mn-cs"/>
              </a:rPr>
              <a:t>Long-Term Capital Management (LTCM)</a:t>
            </a:r>
            <a:r>
              <a:rPr lang="en-US" sz="1200" kern="1200" dirty="0">
                <a:solidFill>
                  <a:schemeClr val="tx1"/>
                </a:solidFill>
                <a:effectLst/>
                <a:latin typeface="+mn-lt"/>
                <a:ea typeface="+mn-ea"/>
                <a:cs typeface="+mn-cs"/>
              </a:rPr>
              <a:t> in 1998. Run by Nobel laureates and mathematical geniuses, LTCM created mathematically optimal models. Yet when real-world market correlations broke down during the Russian debt default, their extreme leverage nearly collapsed the entire global financial system. </a:t>
            </a:r>
          </a:p>
          <a:p>
            <a:pPr lvl="0"/>
            <a:r>
              <a:rPr lang="en-US" sz="1200" b="1" kern="1200" dirty="0">
                <a:solidFill>
                  <a:schemeClr val="tx1"/>
                </a:solidFill>
                <a:effectLst/>
                <a:latin typeface="+mn-lt"/>
                <a:ea typeface="+mn-ea"/>
                <a:cs typeface="+mn-cs"/>
              </a:rPr>
              <a:t>The Rule: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Historical optimization is a terrible way to design a forward-looking portfolio.</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Optimizing a portfolio based on past data tells you what would have worked in the last cycle, but rarely what will survive the next unpredictable shock. </a:t>
            </a:r>
          </a:p>
        </p:txBody>
      </p:sp>
      <p:sp>
        <p:nvSpPr>
          <p:cNvPr id="4" name="Slide Number Placeholder 3"/>
          <p:cNvSpPr>
            <a:spLocks noGrp="1"/>
          </p:cNvSpPr>
          <p:nvPr>
            <p:ph type="sldNum" sz="quarter" idx="5"/>
          </p:nvPr>
        </p:nvSpPr>
        <p:spPr/>
        <p:txBody>
          <a:bodyPr/>
          <a:lstStyle/>
          <a:p>
            <a:fld id="{4D305F41-F9B2-4648-9C06-C0351E0D8B7A}" type="slidenum">
              <a:rPr lang="en-US" smtClean="0"/>
              <a:t>7</a:t>
            </a:fld>
            <a:endParaRPr lang="en-US"/>
          </a:p>
        </p:txBody>
      </p:sp>
    </p:spTree>
    <p:extLst>
      <p:ext uri="{BB962C8B-B14F-4D97-AF65-F5344CB8AC3E}">
        <p14:creationId xmlns:p14="http://schemas.microsoft.com/office/powerpoint/2010/main" val="18455255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Overview:</a:t>
                </a:r>
                <a:r>
                  <a:rPr lang="en-US" sz="1200" kern="1200" dirty="0">
                    <a:solidFill>
                      <a:schemeClr val="tx1"/>
                    </a:solidFill>
                    <a:effectLst/>
                    <a:latin typeface="+mn-lt"/>
                    <a:ea typeface="+mn-ea"/>
                    <a:cs typeface="+mn-cs"/>
                  </a:rPr>
                  <a:t> Slide 8 introduces one of Dr. Bernstein’s most famous principles: "If you've won the game, stop playing". </a:t>
                </a:r>
              </a:p>
              <a:p>
                <a:pPr lvl="0"/>
                <a:r>
                  <a:rPr lang="en-US" sz="1200" b="1" kern="1200" dirty="0">
                    <a:solidFill>
                      <a:schemeClr val="tx1"/>
                    </a:solidFill>
                    <a:effectLst/>
                    <a:latin typeface="+mn-lt"/>
                    <a:ea typeface="+mn-ea"/>
                    <a:cs typeface="+mn-cs"/>
                  </a:rPr>
                  <a:t>Reframing the Objective: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Investing is not a video game where the person with the highest balance wins. The goal of investing is to secure your real-world living standards for the rest of your life. </a:t>
                </a:r>
              </a:p>
              <a:p>
                <a:pPr lvl="0"/>
                <a:r>
                  <a:rPr lang="en-US" sz="1200" b="1" kern="1200" dirty="0">
                    <a:solidFill>
                      <a:schemeClr val="tx1"/>
                    </a:solidFill>
                    <a:effectLst/>
                    <a:latin typeface="+mn-lt"/>
                    <a:ea typeface="+mn-ea"/>
                    <a:cs typeface="+mn-cs"/>
                  </a:rPr>
                  <a:t>The </a:t>
                </a:r>
                <a:r>
                  <a:rPr lang="en-US" sz="1200" b="1" kern="1200" dirty="0" err="1">
                    <a:solidFill>
                      <a:schemeClr val="tx1"/>
                    </a:solidFill>
                    <a:effectLst/>
                    <a:latin typeface="+mn-lt"/>
                    <a:ea typeface="+mn-ea"/>
                    <a:cs typeface="+mn-cs"/>
                  </a:rPr>
                  <a:t>Defeasement</a:t>
                </a:r>
                <a:r>
                  <a:rPr lang="en-US" sz="1200" b="1" kern="1200" dirty="0">
                    <a:solidFill>
                      <a:schemeClr val="tx1"/>
                    </a:solidFill>
                    <a:effectLst/>
                    <a:latin typeface="+mn-lt"/>
                    <a:ea typeface="+mn-ea"/>
                    <a:cs typeface="+mn-cs"/>
                  </a:rPr>
                  <a:t> Formula:</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operationalize this, you calculate your annual </a:t>
                </a:r>
                <a:r>
                  <a:rPr lang="en-US" sz="1200" b="1" kern="1200" dirty="0">
                    <a:solidFill>
                      <a:schemeClr val="tx1"/>
                    </a:solidFill>
                    <a:effectLst/>
                    <a:latin typeface="+mn-lt"/>
                    <a:ea typeface="+mn-ea"/>
                    <a:cs typeface="+mn-cs"/>
                  </a:rPr>
                  <a:t>Residual Spending Need</a:t>
                </a:r>
                <a:r>
                  <a:rPr lang="en-US" sz="1200" kern="1200" dirty="0">
                    <a:solidFill>
                      <a:schemeClr val="tx1"/>
                    </a:solidFill>
                    <a:effectLst/>
                    <a:latin typeface="+mn-lt"/>
                    <a:ea typeface="+mn-ea"/>
                    <a:cs typeface="+mn-cs"/>
                  </a:rPr>
                  <a:t>: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Suppose your base living expenses in retirement are </a:t>
                </a:r>
                <a:r>
                  <a:rPr lang="en-US" sz="1200" b="1" kern="1200" dirty="0">
                    <a:solidFill>
                      <a:schemeClr val="tx1"/>
                    </a:solidFill>
                    <a:effectLst/>
                    <a:latin typeface="+mn-lt"/>
                    <a:ea typeface="+mn-ea"/>
                    <a:cs typeface="+mn-cs"/>
                  </a:rPr>
                  <a:t>$70,000/year</a:t>
                </a:r>
                <a:r>
                  <a:rPr lang="en-US" sz="1200" kern="1200" dirty="0">
                    <a:solidFill>
                      <a:schemeClr val="tx1"/>
                    </a:solidFill>
                    <a:effectLst/>
                    <a:latin typeface="+mn-lt"/>
                    <a:ea typeface="+mn-ea"/>
                    <a:cs typeface="+mn-cs"/>
                  </a:rPr>
                  <a:t>.</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You expect </a:t>
                </a:r>
                <a:r>
                  <a:rPr lang="en-US" sz="1200" b="1" kern="1200" dirty="0">
                    <a:solidFill>
                      <a:schemeClr val="tx1"/>
                    </a:solidFill>
                    <a:effectLst/>
                    <a:latin typeface="+mn-lt"/>
                    <a:ea typeface="+mn-ea"/>
                    <a:cs typeface="+mn-cs"/>
                  </a:rPr>
                  <a:t>$30,000/year</a:t>
                </a:r>
                <a:r>
                  <a:rPr lang="en-US" sz="1200" kern="1200" dirty="0">
                    <a:solidFill>
                      <a:schemeClr val="tx1"/>
                    </a:solidFill>
                    <a:effectLst/>
                    <a:latin typeface="+mn-lt"/>
                    <a:ea typeface="+mn-ea"/>
                    <a:cs typeface="+mn-cs"/>
                  </a:rPr>
                  <a:t> from Social Security (or guaranteed pension).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Your residual gap is </a:t>
                </a:r>
                <a:r>
                  <a:rPr lang="en-US" sz="1200" b="1" kern="1200" dirty="0">
                    <a:solidFill>
                      <a:schemeClr val="tx1"/>
                    </a:solidFill>
                    <a:effectLst/>
                    <a:latin typeface="+mn-lt"/>
                    <a:ea typeface="+mn-ea"/>
                    <a:cs typeface="+mn-cs"/>
                  </a:rPr>
                  <a:t>$40,000/year</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a:t>
                </a:r>
                <a:r>
                  <a:rPr lang="en-US" sz="1200" kern="1200" dirty="0" err="1">
                    <a:solidFill>
                      <a:schemeClr val="tx1"/>
                    </a:solidFill>
                    <a:effectLst/>
                    <a:latin typeface="+mn-lt"/>
                    <a:ea typeface="+mn-ea"/>
                    <a:cs typeface="+mn-cs"/>
                  </a:rPr>
                  <a:t>defease</a:t>
                </a:r>
                <a:r>
                  <a:rPr lang="en-US" sz="1200" kern="1200" dirty="0">
                    <a:solidFill>
                      <a:schemeClr val="tx1"/>
                    </a:solidFill>
                    <a:effectLst/>
                    <a:latin typeface="+mn-lt"/>
                    <a:ea typeface="+mn-ea"/>
                    <a:cs typeface="+mn-cs"/>
                  </a:rPr>
                  <a:t> (guarantee) 25 years of essential spending: </a:t>
                </a:r>
              </a:p>
              <a:p>
                <a:pPr lvl="1"/>
                <a14:m>
                  <m:oMathPara xmlns:m="http://schemas.openxmlformats.org/officeDocument/2006/math">
                    <m:oMathParaPr>
                      <m:jc m:val="centerGroup"/>
                    </m:oMathParaPr>
                    <m:oMath xmlns:m="http://schemas.openxmlformats.org/officeDocument/2006/math">
                      <m:r>
                        <a:rPr lang="en-US" sz="1200" kern="1200" smtClean="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40,000×25</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years</m:t>
                      </m:r>
                      <m:r>
                        <a:rPr lang="en-US" sz="1200" i="0" kern="1200">
                          <a:solidFill>
                            <a:schemeClr val="tx1"/>
                          </a:solidFill>
                          <a:latin typeface="Cambria Math" panose="02040503050406030204" pitchFamily="18" charset="0"/>
                          <a:ea typeface="+mn-ea"/>
                          <a:cs typeface="+mn-cs"/>
                        </a:rPr>
                        <m:t>=$1,000,000</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Target</m:t>
                      </m:r>
                    </m:oMath>
                  </m:oMathPara>
                </a14:m>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Core Insight: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Once you have accumulated the $1,000,000 required to fund your basic residual needs, </a:t>
                </a:r>
                <a:r>
                  <a:rPr lang="en-US" sz="1200" b="1" kern="1200" dirty="0">
                    <a:solidFill>
                      <a:schemeClr val="tx1"/>
                    </a:solidFill>
                    <a:effectLst/>
                    <a:latin typeface="+mn-lt"/>
                    <a:ea typeface="+mn-ea"/>
                    <a:cs typeface="+mn-cs"/>
                  </a:rPr>
                  <a:t>take that money off the table</a:t>
                </a:r>
                <a:r>
                  <a:rPr lang="en-US" sz="1200" kern="1200" dirty="0">
                    <a:solidFill>
                      <a:schemeClr val="tx1"/>
                    </a:solidFill>
                    <a:effectLst/>
                    <a:latin typeface="+mn-lt"/>
                    <a:ea typeface="+mn-ea"/>
                    <a:cs typeface="+mn-cs"/>
                  </a:rPr>
                  <a:t> and lock it into mechanically risk-free, inflation-protected assets.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Do not keep taking equity risk with money required for basic food and shelter just to see your wealth number grow higher. Secure your base, and only play for upside with true surplus capital. </a:t>
                </a:r>
              </a:p>
            </p:txBody>
          </p:sp>
        </mc:Choice>
        <mc:Fallback xmlns="">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Overview:</a:t>
                </a:r>
                <a:r>
                  <a:rPr lang="en-US" sz="1200" kern="1200" dirty="0">
                    <a:solidFill>
                      <a:schemeClr val="tx1"/>
                    </a:solidFill>
                    <a:effectLst/>
                    <a:latin typeface="+mn-lt"/>
                    <a:ea typeface="+mn-ea"/>
                    <a:cs typeface="+mn-cs"/>
                  </a:rPr>
                  <a:t> Slide 8 introduces one of Dr. Bernstein’s most famous principles: "If you've won the game, stop playing". </a:t>
                </a:r>
              </a:p>
              <a:p>
                <a:pPr lvl="0"/>
                <a:r>
                  <a:rPr lang="en-US" sz="1200" b="1" kern="1200" dirty="0">
                    <a:solidFill>
                      <a:schemeClr val="tx1"/>
                    </a:solidFill>
                    <a:effectLst/>
                    <a:latin typeface="+mn-lt"/>
                    <a:ea typeface="+mn-ea"/>
                    <a:cs typeface="+mn-cs"/>
                  </a:rPr>
                  <a:t>Reframing the Objective: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Investing is not a video game where the person with the highest balance wins. The goal of investing is to secure your real-world living standards for the rest of your life. </a:t>
                </a:r>
              </a:p>
              <a:p>
                <a:pPr lvl="0"/>
                <a:r>
                  <a:rPr lang="en-US" sz="1200" b="1" kern="1200" dirty="0">
                    <a:solidFill>
                      <a:schemeClr val="tx1"/>
                    </a:solidFill>
                    <a:effectLst/>
                    <a:latin typeface="+mn-lt"/>
                    <a:ea typeface="+mn-ea"/>
                    <a:cs typeface="+mn-cs"/>
                  </a:rPr>
                  <a:t>The </a:t>
                </a:r>
                <a:r>
                  <a:rPr lang="en-US" sz="1200" b="1" kern="1200" dirty="0" err="1">
                    <a:solidFill>
                      <a:schemeClr val="tx1"/>
                    </a:solidFill>
                    <a:effectLst/>
                    <a:latin typeface="+mn-lt"/>
                    <a:ea typeface="+mn-ea"/>
                    <a:cs typeface="+mn-cs"/>
                  </a:rPr>
                  <a:t>Defeasement</a:t>
                </a:r>
                <a:r>
                  <a:rPr lang="en-US" sz="1200" b="1" kern="1200" dirty="0">
                    <a:solidFill>
                      <a:schemeClr val="tx1"/>
                    </a:solidFill>
                    <a:effectLst/>
                    <a:latin typeface="+mn-lt"/>
                    <a:ea typeface="+mn-ea"/>
                    <a:cs typeface="+mn-cs"/>
                  </a:rPr>
                  <a:t> Formula:</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operationalize this, you calculate your annual </a:t>
                </a:r>
                <a:r>
                  <a:rPr lang="en-US" sz="1200" b="1" kern="1200" dirty="0">
                    <a:solidFill>
                      <a:schemeClr val="tx1"/>
                    </a:solidFill>
                    <a:effectLst/>
                    <a:latin typeface="+mn-lt"/>
                    <a:ea typeface="+mn-ea"/>
                    <a:cs typeface="+mn-cs"/>
                  </a:rPr>
                  <a:t>Residual Spending Need</a:t>
                </a:r>
                <a:r>
                  <a:rPr lang="en-US" sz="1200" kern="1200" dirty="0">
                    <a:solidFill>
                      <a:schemeClr val="tx1"/>
                    </a:solidFill>
                    <a:effectLst/>
                    <a:latin typeface="+mn-lt"/>
                    <a:ea typeface="+mn-ea"/>
                    <a:cs typeface="+mn-cs"/>
                  </a:rPr>
                  <a:t>: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Suppose your base living expenses in retirement are </a:t>
                </a:r>
                <a:r>
                  <a:rPr lang="en-US" sz="1200" b="1" kern="1200" dirty="0">
                    <a:solidFill>
                      <a:schemeClr val="tx1"/>
                    </a:solidFill>
                    <a:effectLst/>
                    <a:latin typeface="+mn-lt"/>
                    <a:ea typeface="+mn-ea"/>
                    <a:cs typeface="+mn-cs"/>
                  </a:rPr>
                  <a:t>$70,000/year</a:t>
                </a:r>
                <a:r>
                  <a:rPr lang="en-US" sz="1200" kern="1200" dirty="0">
                    <a:solidFill>
                      <a:schemeClr val="tx1"/>
                    </a:solidFill>
                    <a:effectLst/>
                    <a:latin typeface="+mn-lt"/>
                    <a:ea typeface="+mn-ea"/>
                    <a:cs typeface="+mn-cs"/>
                  </a:rPr>
                  <a:t>.</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You expect </a:t>
                </a:r>
                <a:r>
                  <a:rPr lang="en-US" sz="1200" b="1" kern="1200" dirty="0">
                    <a:solidFill>
                      <a:schemeClr val="tx1"/>
                    </a:solidFill>
                    <a:effectLst/>
                    <a:latin typeface="+mn-lt"/>
                    <a:ea typeface="+mn-ea"/>
                    <a:cs typeface="+mn-cs"/>
                  </a:rPr>
                  <a:t>$30,000/year</a:t>
                </a:r>
                <a:r>
                  <a:rPr lang="en-US" sz="1200" kern="1200" dirty="0">
                    <a:solidFill>
                      <a:schemeClr val="tx1"/>
                    </a:solidFill>
                    <a:effectLst/>
                    <a:latin typeface="+mn-lt"/>
                    <a:ea typeface="+mn-ea"/>
                    <a:cs typeface="+mn-cs"/>
                  </a:rPr>
                  <a:t> from Social Security (or guaranteed pension).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Your residual gap is </a:t>
                </a:r>
                <a:r>
                  <a:rPr lang="en-US" sz="1200" b="1" kern="1200" dirty="0">
                    <a:solidFill>
                      <a:schemeClr val="tx1"/>
                    </a:solidFill>
                    <a:effectLst/>
                    <a:latin typeface="+mn-lt"/>
                    <a:ea typeface="+mn-ea"/>
                    <a:cs typeface="+mn-cs"/>
                  </a:rPr>
                  <a:t>$40,000/year</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a:t>
                </a:r>
                <a:r>
                  <a:rPr lang="en-US" sz="1200" kern="1200" dirty="0" err="1">
                    <a:solidFill>
                      <a:schemeClr val="tx1"/>
                    </a:solidFill>
                    <a:effectLst/>
                    <a:latin typeface="+mn-lt"/>
                    <a:ea typeface="+mn-ea"/>
                    <a:cs typeface="+mn-cs"/>
                  </a:rPr>
                  <a:t>defease</a:t>
                </a:r>
                <a:r>
                  <a:rPr lang="en-US" sz="1200" kern="1200" dirty="0">
                    <a:solidFill>
                      <a:schemeClr val="tx1"/>
                    </a:solidFill>
                    <a:effectLst/>
                    <a:latin typeface="+mn-lt"/>
                    <a:ea typeface="+mn-ea"/>
                    <a:cs typeface="+mn-cs"/>
                  </a:rPr>
                  <a:t> (guarantee) 25 years of essential spending: </a:t>
                </a:r>
              </a:p>
              <a:p>
                <a:pPr lvl="1"/>
                <a:r>
                  <a:rPr lang="en-US" sz="1200" i="0" kern="1200">
                    <a:solidFill>
                      <a:schemeClr val="tx1"/>
                    </a:solidFill>
                    <a:latin typeface="+mn-lt"/>
                    <a:ea typeface="+mn-ea"/>
                    <a:cs typeface="+mn-cs"/>
                  </a:rPr>
                  <a:t>$40,000×25</a:t>
                </a:r>
                <a:r>
                  <a:rPr lang="en-US" sz="1200" i="0" kern="1200">
                    <a:solidFill>
                      <a:schemeClr val="tx1"/>
                    </a:solidFill>
                    <a:latin typeface="Cambria Math" panose="02040503050406030204" pitchFamily="18" charset="0"/>
                    <a:ea typeface="+mn-ea"/>
                    <a:cs typeface="+mn-cs"/>
                  </a:rPr>
                  <a:t>" years</a:t>
                </a:r>
                <a:r>
                  <a:rPr lang="en-US" sz="1200" i="0" kern="1200">
                    <a:solidFill>
                      <a:schemeClr val="tx1"/>
                    </a:solidFill>
                    <a:latin typeface="+mn-lt"/>
                    <a:ea typeface="+mn-ea"/>
                    <a:cs typeface="+mn-cs"/>
                  </a:rPr>
                  <a:t>"=$1,000,000</a:t>
                </a:r>
                <a:r>
                  <a:rPr lang="en-US" sz="1200" i="0" kern="1200">
                    <a:solidFill>
                      <a:schemeClr val="tx1"/>
                    </a:solidFill>
                    <a:latin typeface="Cambria Math" panose="02040503050406030204" pitchFamily="18" charset="0"/>
                    <a:ea typeface="+mn-ea"/>
                    <a:cs typeface="+mn-cs"/>
                  </a:rPr>
                  <a:t>" Target</a:t>
                </a:r>
                <a:r>
                  <a:rPr lang="en-US" sz="1200" i="0" kern="1200">
                    <a:solidFill>
                      <a:schemeClr val="tx1"/>
                    </a:solidFill>
                    <a:latin typeface="+mn-lt"/>
                    <a:ea typeface="+mn-ea"/>
                    <a:cs typeface="+mn-cs"/>
                  </a:rPr>
                  <a:t>"</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Core Insight: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Once you have accumulated the $1,000,000 required to fund your basic residual needs, </a:t>
                </a:r>
                <a:r>
                  <a:rPr lang="en-US" sz="1200" b="1" kern="1200" dirty="0">
                    <a:solidFill>
                      <a:schemeClr val="tx1"/>
                    </a:solidFill>
                    <a:effectLst/>
                    <a:latin typeface="+mn-lt"/>
                    <a:ea typeface="+mn-ea"/>
                    <a:cs typeface="+mn-cs"/>
                  </a:rPr>
                  <a:t>take that money off the table</a:t>
                </a:r>
                <a:r>
                  <a:rPr lang="en-US" sz="1200" kern="1200" dirty="0">
                    <a:solidFill>
                      <a:schemeClr val="tx1"/>
                    </a:solidFill>
                    <a:effectLst/>
                    <a:latin typeface="+mn-lt"/>
                    <a:ea typeface="+mn-ea"/>
                    <a:cs typeface="+mn-cs"/>
                  </a:rPr>
                  <a:t> and lock it into mechanically risk-free, inflation-protected assets.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Do not keep taking equity risk with money required for basic food and shelter just to see your wealth number grow higher. Secure your base, and only play for upside with true surplus capital. </a:t>
                </a:r>
              </a:p>
            </p:txBody>
          </p:sp>
        </mc:Fallback>
      </mc:AlternateContent>
      <p:sp>
        <p:nvSpPr>
          <p:cNvPr id="4" name="Slide Number Placeholder 3"/>
          <p:cNvSpPr>
            <a:spLocks noGrp="1"/>
          </p:cNvSpPr>
          <p:nvPr>
            <p:ph type="sldNum" sz="quarter" idx="5"/>
          </p:nvPr>
        </p:nvSpPr>
        <p:spPr/>
        <p:txBody>
          <a:bodyPr/>
          <a:lstStyle/>
          <a:p>
            <a:fld id="{4D305F41-F9B2-4648-9C06-C0351E0D8B7A}" type="slidenum">
              <a:rPr lang="en-US" smtClean="0"/>
              <a:t>8</a:t>
            </a:fld>
            <a:endParaRPr lang="en-US"/>
          </a:p>
        </p:txBody>
      </p:sp>
    </p:spTree>
    <p:extLst>
      <p:ext uri="{BB962C8B-B14F-4D97-AF65-F5344CB8AC3E}">
        <p14:creationId xmlns:p14="http://schemas.microsoft.com/office/powerpoint/2010/main" val="12356161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Overview:</a:t>
            </a:r>
            <a:r>
              <a:rPr lang="en-US" sz="1200" kern="1200" dirty="0">
                <a:solidFill>
                  <a:schemeClr val="tx1"/>
                </a:solidFill>
                <a:effectLst/>
                <a:latin typeface="+mn-lt"/>
                <a:ea typeface="+mn-ea"/>
                <a:cs typeface="+mn-cs"/>
              </a:rPr>
              <a:t> Slide 9 details the primary mechanical tool recommended for </a:t>
            </a:r>
            <a:r>
              <a:rPr lang="en-US" sz="1200" kern="1200" dirty="0" err="1">
                <a:solidFill>
                  <a:schemeClr val="tx1"/>
                </a:solidFill>
                <a:effectLst/>
                <a:latin typeface="+mn-lt"/>
                <a:ea typeface="+mn-ea"/>
                <a:cs typeface="+mn-cs"/>
              </a:rPr>
              <a:t>defeasing</a:t>
            </a:r>
            <a:r>
              <a:rPr lang="en-US" sz="1200" kern="1200" dirty="0">
                <a:solidFill>
                  <a:schemeClr val="tx1"/>
                </a:solidFill>
                <a:effectLst/>
                <a:latin typeface="+mn-lt"/>
                <a:ea typeface="+mn-ea"/>
                <a:cs typeface="+mn-cs"/>
              </a:rPr>
              <a:t> retirement expenses: individual Treasury Inflation-Protected Securities (TIPS) ladders. </a:t>
            </a:r>
          </a:p>
          <a:p>
            <a:pPr lvl="0"/>
            <a:r>
              <a:rPr lang="en-US" sz="1200" b="1" kern="1200" dirty="0">
                <a:solidFill>
                  <a:schemeClr val="tx1"/>
                </a:solidFill>
                <a:effectLst/>
                <a:latin typeface="+mn-lt"/>
                <a:ea typeface="+mn-ea"/>
                <a:cs typeface="+mn-cs"/>
              </a:rPr>
              <a:t>What is a TIPS Ladder?</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 TIPS ladder involves purchasing individual TIPS bonds on the secondary market structured so that one bond matures in each consecutive year of your retirement (e.g., 2027, 2028, 2029...).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As each rung matures, it delivers guaranteed cash flow adjusted directly for CPI inflation to cover your baseline rent, utilities, and groceries. </a:t>
            </a:r>
          </a:p>
          <a:p>
            <a:pPr lvl="0"/>
            <a:r>
              <a:rPr lang="en-US" sz="1200" b="1" kern="1200" dirty="0">
                <a:solidFill>
                  <a:schemeClr val="tx1"/>
                </a:solidFill>
                <a:effectLst/>
                <a:latin typeface="+mn-lt"/>
                <a:ea typeface="+mn-ea"/>
                <a:cs typeface="+mn-cs"/>
              </a:rPr>
              <a:t>Understanding Secondary Market Pricing &amp; The Inflation Factor:</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Buying individual bonds on the secondary market can confuse investors because two mechanisms work in opposite directions: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Market Discount:</a:t>
            </a:r>
            <a:r>
              <a:rPr lang="en-US" sz="1200" kern="1200" dirty="0">
                <a:solidFill>
                  <a:schemeClr val="tx1"/>
                </a:solidFill>
                <a:effectLst/>
                <a:latin typeface="+mn-lt"/>
                <a:ea typeface="+mn-ea"/>
                <a:cs typeface="+mn-cs"/>
              </a:rPr>
              <a:t> Due to rate hikes in recent years, a bond might quote at a discount (e.g., 90 cents on the dollar).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Inflation Index Ratio:</a:t>
            </a:r>
            <a:r>
              <a:rPr lang="en-US" sz="1200" kern="1200" dirty="0">
                <a:solidFill>
                  <a:schemeClr val="tx1"/>
                </a:solidFill>
                <a:effectLst/>
                <a:latin typeface="+mn-lt"/>
                <a:ea typeface="+mn-ea"/>
                <a:cs typeface="+mn-cs"/>
              </a:rPr>
              <a:t> If a 30-year bond was issued 15 years ago, its principal has accumulated 15 years of inflation adjustments (e.g., an inflation multiplier of 1.6).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The Net Price:</a:t>
            </a:r>
            <a:r>
              <a:rPr lang="en-US" sz="1200" kern="1200" dirty="0">
                <a:solidFill>
                  <a:schemeClr val="tx1"/>
                </a:solidFill>
                <a:effectLst/>
                <a:latin typeface="+mn-lt"/>
                <a:ea typeface="+mn-ea"/>
                <a:cs typeface="+mn-cs"/>
              </a:rPr>
              <a:t> A $1,000 face value bond selling at 90 cents might actually cost you ~$1,440 ($1,000 × 0.90 × 1.6). Investors must account for the inflation index ratio when purchasing. </a:t>
            </a:r>
          </a:p>
          <a:p>
            <a:pPr lvl="0"/>
            <a:r>
              <a:rPr lang="en-US" sz="1200" b="1" kern="1200" dirty="0">
                <a:solidFill>
                  <a:schemeClr val="tx1"/>
                </a:solidFill>
                <a:effectLst/>
                <a:latin typeface="+mn-lt"/>
                <a:ea typeface="+mn-ea"/>
                <a:cs typeface="+mn-cs"/>
              </a:rPr>
              <a:t>The Structural Gap:</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Note that the U.S. Treasury currently has a gap in TIPS issuances maturing in years 37 to 39. Those missing rungs must be covered using short-term cash/T-bills or cash buffers. </a:t>
            </a:r>
          </a:p>
          <a:p>
            <a:pPr lvl="0"/>
            <a:r>
              <a:rPr lang="en-US" sz="1200" b="1" kern="1200" dirty="0">
                <a:solidFill>
                  <a:schemeClr val="tx1"/>
                </a:solidFill>
                <a:effectLst/>
                <a:latin typeface="+mn-lt"/>
                <a:ea typeface="+mn-ea"/>
                <a:cs typeface="+mn-cs"/>
              </a:rPr>
              <a:t>Practical Execution: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 helpful resource for modeling individual bond structures is tipsladder.com. Dr. Bernstein advises investors intimidated by secondary bond markets to simply buy a single $1,000 TIPS bond in an IRA to see how the mechanics settle. </a:t>
            </a:r>
          </a:p>
        </p:txBody>
      </p:sp>
      <p:sp>
        <p:nvSpPr>
          <p:cNvPr id="4" name="Slide Number Placeholder 3"/>
          <p:cNvSpPr>
            <a:spLocks noGrp="1"/>
          </p:cNvSpPr>
          <p:nvPr>
            <p:ph type="sldNum" sz="quarter" idx="5"/>
          </p:nvPr>
        </p:nvSpPr>
        <p:spPr/>
        <p:txBody>
          <a:bodyPr/>
          <a:lstStyle/>
          <a:p>
            <a:fld id="{4D305F41-F9B2-4648-9C06-C0351E0D8B7A}" type="slidenum">
              <a:rPr lang="en-US" smtClean="0"/>
              <a:t>9</a:t>
            </a:fld>
            <a:endParaRPr lang="en-US"/>
          </a:p>
        </p:txBody>
      </p:sp>
    </p:spTree>
    <p:extLst>
      <p:ext uri="{BB962C8B-B14F-4D97-AF65-F5344CB8AC3E}">
        <p14:creationId xmlns:p14="http://schemas.microsoft.com/office/powerpoint/2010/main" val="4098751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Overview:</a:t>
            </a:r>
            <a:r>
              <a:rPr lang="en-US" sz="1200" kern="1200" dirty="0">
                <a:solidFill>
                  <a:schemeClr val="tx1"/>
                </a:solidFill>
                <a:effectLst/>
                <a:latin typeface="+mn-lt"/>
                <a:ea typeface="+mn-ea"/>
                <a:cs typeface="+mn-cs"/>
              </a:rPr>
              <a:t> Slide 10 focuses on short-term liquidity management and warns against taking hidden risks in pursuit of minor tax savings. </a:t>
            </a:r>
          </a:p>
          <a:p>
            <a:pPr lvl="0"/>
            <a:r>
              <a:rPr lang="en-US" sz="1200" b="1" kern="1200" dirty="0">
                <a:solidFill>
                  <a:schemeClr val="tx1"/>
                </a:solidFill>
                <a:effectLst/>
                <a:latin typeface="+mn-lt"/>
                <a:ea typeface="+mn-ea"/>
                <a:cs typeface="+mn-cs"/>
              </a:rPr>
              <a:t>Treasury Bills (The Gold Standard for Emergency Cash):</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For short-term cash reserves and 6-to-12-month emergency funds, T-Bills are unmatched. They provide instant liquidity, carry zero credit risk, and are state-tax exempt.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Brokerage Execution:</a:t>
            </a:r>
            <a:r>
              <a:rPr lang="en-US" sz="1200" kern="1200" dirty="0">
                <a:solidFill>
                  <a:schemeClr val="tx1"/>
                </a:solidFill>
                <a:effectLst/>
                <a:latin typeface="+mn-lt"/>
                <a:ea typeface="+mn-ea"/>
                <a:cs typeface="+mn-cs"/>
              </a:rPr>
              <a:t> Brokerages like Fidelity offer an "Auto-Roll" feature for 1-, 3-, or 6-month T-Bills. This creates a zero-expense-ratio money market alternative, avoiding the 6-basis-point fees charged by short-term Treasury ETFs. </a:t>
            </a:r>
          </a:p>
          <a:p>
            <a:pPr lvl="0"/>
            <a:r>
              <a:rPr lang="en-US" sz="1200" b="1" kern="1200" dirty="0">
                <a:solidFill>
                  <a:schemeClr val="tx1"/>
                </a:solidFill>
                <a:effectLst/>
                <a:latin typeface="+mn-lt"/>
                <a:ea typeface="+mn-ea"/>
                <a:cs typeface="+mn-cs"/>
              </a:rPr>
              <a:t>Municipal Bonds (The Municipal Trap):</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High earners often flock to California or New York municipal bond funds to avoid state and federal income tax.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Hidden Danger:</a:t>
            </a:r>
            <a:r>
              <a:rPr lang="en-US" sz="1200" kern="1200" dirty="0">
                <a:solidFill>
                  <a:schemeClr val="tx1"/>
                </a:solidFill>
                <a:effectLst/>
                <a:latin typeface="+mn-lt"/>
                <a:ea typeface="+mn-ea"/>
                <a:cs typeface="+mn-cs"/>
              </a:rPr>
              <a:t> In pursuit of a slight tax-adjusted yield gain, investors take on underlying credit and market liquidity risk. During major financial crises (like 2008), municipal bond prices can fall dramatically, forcing 10% to 20% haircuts if sold in a panic. </a:t>
            </a:r>
          </a:p>
          <a:p>
            <a:pPr lvl="0"/>
            <a:r>
              <a:rPr lang="en-US" sz="1200" b="1" kern="1200" dirty="0">
                <a:solidFill>
                  <a:schemeClr val="tx1"/>
                </a:solidFill>
                <a:effectLst/>
                <a:latin typeface="+mn-lt"/>
                <a:ea typeface="+mn-ea"/>
                <a:cs typeface="+mn-cs"/>
              </a:rPr>
              <a:t>The Golden Rule: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Never put money you might need tomorrow into municipal bonds.</a:t>
            </a:r>
            <a:r>
              <a:rPr lang="en-US" sz="1200" kern="1200" dirty="0">
                <a:solidFill>
                  <a:schemeClr val="tx1"/>
                </a:solidFill>
                <a:effectLst/>
                <a:latin typeface="+mn-lt"/>
                <a:ea typeface="+mn-ea"/>
                <a:cs typeface="+mn-cs"/>
              </a:rPr>
              <a:t> Keep emergency reserves strictly in risk-free U.S. Treasury Bills. </a:t>
            </a:r>
          </a:p>
        </p:txBody>
      </p:sp>
      <p:sp>
        <p:nvSpPr>
          <p:cNvPr id="4" name="Slide Number Placeholder 3"/>
          <p:cNvSpPr>
            <a:spLocks noGrp="1"/>
          </p:cNvSpPr>
          <p:nvPr>
            <p:ph type="sldNum" sz="quarter" idx="5"/>
          </p:nvPr>
        </p:nvSpPr>
        <p:spPr/>
        <p:txBody>
          <a:bodyPr/>
          <a:lstStyle/>
          <a:p>
            <a:fld id="{4D305F41-F9B2-4648-9C06-C0351E0D8B7A}" type="slidenum">
              <a:rPr lang="en-US" smtClean="0"/>
              <a:t>10</a:t>
            </a:fld>
            <a:endParaRPr lang="en-US"/>
          </a:p>
        </p:txBody>
      </p:sp>
    </p:spTree>
    <p:extLst>
      <p:ext uri="{BB962C8B-B14F-4D97-AF65-F5344CB8AC3E}">
        <p14:creationId xmlns:p14="http://schemas.microsoft.com/office/powerpoint/2010/main" val="34195247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Overview:</a:t>
            </a:r>
            <a:r>
              <a:rPr lang="en-US" sz="1200" kern="1200" dirty="0">
                <a:solidFill>
                  <a:schemeClr val="tx1"/>
                </a:solidFill>
                <a:effectLst/>
                <a:latin typeface="+mn-lt"/>
                <a:ea typeface="+mn-ea"/>
                <a:cs typeface="+mn-cs"/>
              </a:rPr>
              <a:t> Slide 11 conducts a pragmatic "reality check" on popular niche strategies: Commodity Futures, Factor/Value Investing, and Momentum Investing. </a:t>
            </a:r>
          </a:p>
          <a:p>
            <a:pPr lvl="0"/>
            <a:r>
              <a:rPr lang="en-US" sz="1200" b="1" kern="1200" dirty="0">
                <a:solidFill>
                  <a:schemeClr val="tx1"/>
                </a:solidFill>
                <a:effectLst/>
                <a:latin typeface="+mn-lt"/>
                <a:ea typeface="+mn-ea"/>
                <a:cs typeface="+mn-cs"/>
              </a:rPr>
              <a:t>1. Commodity Futures: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Theory:</a:t>
            </a:r>
            <a:r>
              <a:rPr lang="en-US" sz="1200" kern="1200" dirty="0">
                <a:solidFill>
                  <a:schemeClr val="tx1"/>
                </a:solidFill>
                <a:effectLst/>
                <a:latin typeface="+mn-lt"/>
                <a:ea typeface="+mn-ea"/>
                <a:cs typeface="+mn-cs"/>
              </a:rPr>
              <a:t> Acts as an inflation hedge.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Reality:</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 mug's game.</a:t>
            </a:r>
            <a:r>
              <a:rPr lang="en-US" sz="1200" kern="1200" dirty="0">
                <a:solidFill>
                  <a:schemeClr val="tx1"/>
                </a:solidFill>
                <a:effectLst/>
                <a:latin typeface="+mn-lt"/>
                <a:ea typeface="+mn-ea"/>
                <a:cs typeface="+mn-cs"/>
              </a:rPr>
              <a:t> Buying futures contracts exposes you to a negative "roll return" when rolling maturing contracts in contango markets. Futures funds historically lose around 5% per year relative to spot prices. If you want commodity exposure, buy the physical producers (e.g., oil companies, gold/base metal miners) rather than futures contracts. </a:t>
            </a:r>
          </a:p>
          <a:p>
            <a:pPr lvl="0"/>
            <a:r>
              <a:rPr lang="en-US" sz="1200" b="1" kern="1200" dirty="0">
                <a:solidFill>
                  <a:schemeClr val="tx1"/>
                </a:solidFill>
                <a:effectLst/>
                <a:latin typeface="+mn-lt"/>
                <a:ea typeface="+mn-ea"/>
                <a:cs typeface="+mn-cs"/>
              </a:rPr>
              <a:t>2. Factor Investing (Small/Value):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Theory:</a:t>
            </a:r>
            <a:r>
              <a:rPr lang="en-US" sz="1200" kern="1200" dirty="0">
                <a:solidFill>
                  <a:schemeClr val="tx1"/>
                </a:solidFill>
                <a:effectLst/>
                <a:latin typeface="+mn-lt"/>
                <a:ea typeface="+mn-ea"/>
                <a:cs typeface="+mn-cs"/>
              </a:rPr>
              <a:t> Value and small-cap stocks carry higher risk and offer higher long-term expected returns.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Reality:</a:t>
            </a:r>
            <a:r>
              <a:rPr lang="en-US" sz="1200" kern="1200" dirty="0">
                <a:solidFill>
                  <a:schemeClr val="tx1"/>
                </a:solidFill>
                <a:effectLst/>
                <a:latin typeface="+mn-lt"/>
                <a:ea typeface="+mn-ea"/>
                <a:cs typeface="+mn-cs"/>
              </a:rPr>
              <a:t> A "55/45 bet". Because factor premiums are widely known and heavily traded, the value premium has experienced long periods of underperformance over the last 15 years. It requires extreme patience and a strong stomach to stick with factor tilting when it underperforms broad market indexes. </a:t>
            </a:r>
          </a:p>
          <a:p>
            <a:pPr lvl="0"/>
            <a:r>
              <a:rPr lang="en-US" sz="1200" b="1" kern="1200" dirty="0">
                <a:solidFill>
                  <a:schemeClr val="tx1"/>
                </a:solidFill>
                <a:effectLst/>
                <a:latin typeface="+mn-lt"/>
                <a:ea typeface="+mn-ea"/>
                <a:cs typeface="+mn-cs"/>
              </a:rPr>
              <a:t>3. Momentum Investing:</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Theory:</a:t>
            </a:r>
            <a:r>
              <a:rPr lang="en-US" sz="1200" kern="1200" dirty="0">
                <a:solidFill>
                  <a:schemeClr val="tx1"/>
                </a:solidFill>
                <a:effectLst/>
                <a:latin typeface="+mn-lt"/>
                <a:ea typeface="+mn-ea"/>
                <a:cs typeface="+mn-cs"/>
              </a:rPr>
              <a:t> Buy recent winners, sell recent losers.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Reality:</a:t>
            </a:r>
            <a:r>
              <a:rPr lang="en-US" sz="1200" kern="1200" dirty="0">
                <a:solidFill>
                  <a:schemeClr val="tx1"/>
                </a:solidFill>
                <a:effectLst/>
                <a:latin typeface="+mn-lt"/>
                <a:ea typeface="+mn-ea"/>
                <a:cs typeface="+mn-cs"/>
              </a:rPr>
              <a:t> High portfolio turnover generates heavy drag, implementation costs, and tax inefficiencies. </a:t>
            </a:r>
            <a:r>
              <a:rPr lang="en-US" sz="1200" b="1" kern="1200" dirty="0">
                <a:solidFill>
                  <a:schemeClr val="tx1"/>
                </a:solidFill>
                <a:effectLst/>
                <a:latin typeface="+mn-lt"/>
                <a:ea typeface="+mn-ea"/>
                <a:cs typeface="+mn-cs"/>
              </a:rPr>
              <a:t>Do not try this at home on a laptop.</a:t>
            </a:r>
            <a:r>
              <a:rPr lang="en-US"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5"/>
          </p:nvPr>
        </p:nvSpPr>
        <p:spPr/>
        <p:txBody>
          <a:bodyPr/>
          <a:lstStyle/>
          <a:p>
            <a:fld id="{4D305F41-F9B2-4648-9C06-C0351E0D8B7A}" type="slidenum">
              <a:rPr lang="en-US" smtClean="0"/>
              <a:t>11</a:t>
            </a:fld>
            <a:endParaRPr lang="en-US"/>
          </a:p>
        </p:txBody>
      </p:sp>
    </p:spTree>
    <p:extLst>
      <p:ext uri="{BB962C8B-B14F-4D97-AF65-F5344CB8AC3E}">
        <p14:creationId xmlns:p14="http://schemas.microsoft.com/office/powerpoint/2010/main" val="36183641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Overview:</a:t>
            </a:r>
            <a:r>
              <a:rPr lang="en-US" sz="1200" kern="1200" dirty="0">
                <a:solidFill>
                  <a:schemeClr val="tx1"/>
                </a:solidFill>
                <a:effectLst/>
                <a:latin typeface="+mn-lt"/>
                <a:ea typeface="+mn-ea"/>
                <a:cs typeface="+mn-cs"/>
              </a:rPr>
              <a:t> Slide 12 addresses structural shifts in Social Security and why younger generations (Millennials and Gen Z) must build independent financial defense plans. </a:t>
            </a:r>
          </a:p>
          <a:p>
            <a:pPr lvl="0"/>
            <a:r>
              <a:rPr lang="en-US" sz="1200" b="1" kern="1200" dirty="0">
                <a:solidFill>
                  <a:schemeClr val="tx1"/>
                </a:solidFill>
                <a:effectLst/>
                <a:latin typeface="+mn-lt"/>
                <a:ea typeface="+mn-ea"/>
                <a:cs typeface="+mn-cs"/>
              </a:rPr>
              <a:t>The Boomer Reality:</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Baby Boomers benefited from a uniquely favorable economic tailwind: starting careers when asset valuations were historically low and enjoying uninhibited fee structures and un-depleted entitlement benefits. </a:t>
            </a:r>
          </a:p>
          <a:p>
            <a:pPr lvl="0"/>
            <a:r>
              <a:rPr lang="en-US" sz="1200" b="1" kern="1200" dirty="0">
                <a:solidFill>
                  <a:schemeClr val="tx1"/>
                </a:solidFill>
                <a:effectLst/>
                <a:latin typeface="+mn-lt"/>
                <a:ea typeface="+mn-ea"/>
                <a:cs typeface="+mn-cs"/>
              </a:rPr>
              <a:t>The Millennial/Gen Z Future: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Millennials sit on the cusp of significant fiscal adjustments. While Social Security will not disappear entirely, high-earning professionals (such as physicians, engineers, and executives) must prepare for aggressive </a:t>
            </a:r>
            <a:r>
              <a:rPr lang="en-US" sz="1200" b="1" kern="1200" dirty="0">
                <a:solidFill>
                  <a:schemeClr val="tx1"/>
                </a:solidFill>
                <a:effectLst/>
                <a:latin typeface="+mn-lt"/>
                <a:ea typeface="+mn-ea"/>
                <a:cs typeface="+mn-cs"/>
              </a:rPr>
              <a:t>means-testing</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Income Replacement Realities:</a:t>
            </a:r>
            <a:r>
              <a:rPr lang="en-US" sz="1200" kern="1200" dirty="0">
                <a:solidFill>
                  <a:schemeClr val="tx1"/>
                </a:solidFill>
                <a:effectLst/>
                <a:latin typeface="+mn-lt"/>
                <a:ea typeface="+mn-ea"/>
                <a:cs typeface="+mn-cs"/>
              </a:rPr>
              <a:t> </a:t>
            </a: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Low-income workers receive nearly a 90% salary replacement rate from Social Security. High earners currently receive around 15% to 20%.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the future, high earners may see their baseline Social Security replacement rates compressed to 10–15%. </a:t>
            </a:r>
          </a:p>
          <a:p>
            <a:pPr lvl="0"/>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High earners cannot rely on state safety nets to preserve their lifestyle. You must build your own mechanical TIPS </a:t>
            </a:r>
            <a:r>
              <a:rPr lang="en-US" sz="1200" kern="1200" dirty="0" err="1">
                <a:solidFill>
                  <a:schemeClr val="tx1"/>
                </a:solidFill>
                <a:effectLst/>
                <a:latin typeface="+mn-lt"/>
                <a:ea typeface="+mn-ea"/>
                <a:cs typeface="+mn-cs"/>
              </a:rPr>
              <a:t>defeasement</a:t>
            </a:r>
            <a:r>
              <a:rPr lang="en-US" sz="1200" kern="1200" dirty="0">
                <a:solidFill>
                  <a:schemeClr val="tx1"/>
                </a:solidFill>
                <a:effectLst/>
                <a:latin typeface="+mn-lt"/>
                <a:ea typeface="+mn-ea"/>
                <a:cs typeface="+mn-cs"/>
              </a:rPr>
              <a:t> ladder and personal capital reserves to guarantee retirement independence. </a:t>
            </a:r>
          </a:p>
        </p:txBody>
      </p:sp>
      <p:sp>
        <p:nvSpPr>
          <p:cNvPr id="4" name="Slide Number Placeholder 3"/>
          <p:cNvSpPr>
            <a:spLocks noGrp="1"/>
          </p:cNvSpPr>
          <p:nvPr>
            <p:ph type="sldNum" sz="quarter" idx="5"/>
          </p:nvPr>
        </p:nvSpPr>
        <p:spPr/>
        <p:txBody>
          <a:bodyPr/>
          <a:lstStyle/>
          <a:p>
            <a:fld id="{4D305F41-F9B2-4648-9C06-C0351E0D8B7A}" type="slidenum">
              <a:rPr lang="en-US" smtClean="0"/>
              <a:t>12</a:t>
            </a:fld>
            <a:endParaRPr lang="en-US"/>
          </a:p>
        </p:txBody>
      </p:sp>
    </p:spTree>
    <p:extLst>
      <p:ext uri="{BB962C8B-B14F-4D97-AF65-F5344CB8AC3E}">
        <p14:creationId xmlns:p14="http://schemas.microsoft.com/office/powerpoint/2010/main" val="8308429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Overview:</a:t>
            </a:r>
            <a:r>
              <a:rPr lang="en-US" sz="1200" kern="1200" dirty="0">
                <a:solidFill>
                  <a:schemeClr val="tx1"/>
                </a:solidFill>
                <a:effectLst/>
                <a:latin typeface="+mn-lt"/>
                <a:ea typeface="+mn-ea"/>
                <a:cs typeface="+mn-cs"/>
              </a:rPr>
              <a:t> Slide 13 presents Dr. Bernstein's core warning on financial education and outlines the 4-part curriculum required to become a competent investor. </a:t>
            </a:r>
          </a:p>
          <a:p>
            <a:pPr lvl="0"/>
            <a:r>
              <a:rPr lang="en-US" sz="1200" b="1" kern="1200" dirty="0">
                <a:solidFill>
                  <a:schemeClr val="tx1"/>
                </a:solidFill>
                <a:effectLst/>
                <a:latin typeface="+mn-lt"/>
                <a:ea typeface="+mn-ea"/>
                <a:cs typeface="+mn-cs"/>
              </a:rPr>
              <a:t>The Core Warning:</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"Doing finance from USA Today or Money Magazine is like doing neurosurgery from a pop magazine."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You would never treat a medical patient without studying peer-reviewed science, yet people routinely risk their entire life savings based on media headlines and casual blog posts.</a:t>
            </a:r>
          </a:p>
          <a:p>
            <a:pPr lvl="0"/>
            <a:r>
              <a:rPr lang="en-US" sz="1200" b="1" kern="1200" dirty="0">
                <a:solidFill>
                  <a:schemeClr val="tx1"/>
                </a:solidFill>
                <a:effectLst/>
                <a:latin typeface="+mn-lt"/>
                <a:ea typeface="+mn-ea"/>
                <a:cs typeface="+mn-cs"/>
              </a:rPr>
              <a:t>The 4 Essential Pillars of Financial Education:</a:t>
            </a:r>
            <a:r>
              <a:rPr lang="en-US" sz="1200" kern="1200" dirty="0">
                <a:solidFill>
                  <a:schemeClr val="tx1"/>
                </a:solidFill>
                <a:effectLst/>
                <a:latin typeface="+mn-lt"/>
                <a:ea typeface="+mn-ea"/>
                <a:cs typeface="+mn-cs"/>
              </a:rPr>
              <a:t> </a:t>
            </a:r>
          </a:p>
          <a:p>
            <a:pPr marL="171450" lvl="0" indent="-171450" algn="l">
              <a:buFont typeface="Arial" panose="020B0604020202020204" pitchFamily="34" charset="0"/>
              <a:buChar char="•"/>
            </a:pPr>
            <a:r>
              <a:rPr lang="en-US" sz="1200" b="1" kern="1200" dirty="0">
                <a:solidFill>
                  <a:schemeClr val="tx1"/>
                </a:solidFill>
                <a:effectLst/>
                <a:latin typeface="+mn-lt"/>
                <a:ea typeface="+mn-ea"/>
                <a:cs typeface="+mn-cs"/>
              </a:rPr>
              <a:t>Financial History:</a:t>
            </a:r>
            <a:r>
              <a:rPr lang="en-US" sz="1200" kern="1200" dirty="0">
                <a:solidFill>
                  <a:schemeClr val="tx1"/>
                </a:solidFill>
                <a:effectLst/>
                <a:latin typeface="+mn-lt"/>
                <a:ea typeface="+mn-ea"/>
                <a:cs typeface="+mn-cs"/>
              </a:rPr>
              <a:t> Study historical bubbles, panics, and manias (from the South Sea Bubble to 1999 and 2008) so you recognize market exuberance and panic when it happens. </a:t>
            </a:r>
          </a:p>
          <a:p>
            <a:pPr marL="171450" lvl="0" indent="-171450" algn="l">
              <a:buFont typeface="Arial" panose="020B0604020202020204" pitchFamily="34" charset="0"/>
              <a:buChar char="•"/>
            </a:pPr>
            <a:r>
              <a:rPr lang="en-US" sz="1200" b="1" kern="1200" dirty="0">
                <a:solidFill>
                  <a:schemeClr val="tx1"/>
                </a:solidFill>
                <a:effectLst/>
                <a:latin typeface="+mn-lt"/>
                <a:ea typeface="+mn-ea"/>
                <a:cs typeface="+mn-cs"/>
              </a:rPr>
              <a:t>Finance Theory:</a:t>
            </a:r>
            <a:r>
              <a:rPr lang="en-US" sz="1200" kern="1200" dirty="0">
                <a:solidFill>
                  <a:schemeClr val="tx1"/>
                </a:solidFill>
                <a:effectLst/>
                <a:latin typeface="+mn-lt"/>
                <a:ea typeface="+mn-ea"/>
                <a:cs typeface="+mn-cs"/>
              </a:rPr>
              <a:t> Master Finance 101—understand discounted cash flow models, bond duration, real yields, and asset allocation baselines. </a:t>
            </a:r>
          </a:p>
          <a:p>
            <a:pPr marL="171450" lvl="0" indent="-171450" algn="l">
              <a:buFont typeface="Arial" panose="020B0604020202020204" pitchFamily="34" charset="0"/>
              <a:buChar char="•"/>
            </a:pPr>
            <a:r>
              <a:rPr lang="en-US" sz="1200" b="1" kern="1200" dirty="0">
                <a:solidFill>
                  <a:schemeClr val="tx1"/>
                </a:solidFill>
                <a:effectLst/>
                <a:latin typeface="+mn-lt"/>
                <a:ea typeface="+mn-ea"/>
                <a:cs typeface="+mn-cs"/>
              </a:rPr>
              <a:t>Neuropsychology:</a:t>
            </a:r>
            <a:r>
              <a:rPr lang="en-US" sz="1200" kern="1200" dirty="0">
                <a:solidFill>
                  <a:schemeClr val="tx1"/>
                </a:solidFill>
                <a:effectLst/>
                <a:latin typeface="+mn-lt"/>
                <a:ea typeface="+mn-ea"/>
                <a:cs typeface="+mn-cs"/>
              </a:rPr>
              <a:t> Study behavioral finance. Understand your limbic triggers, loss aversion, and evolutionary biases so you don't sell during market crashes. </a:t>
            </a:r>
          </a:p>
          <a:p>
            <a:pPr marL="171450" lvl="0" indent="-171450" algn="l">
              <a:buFont typeface="Arial" panose="020B0604020202020204" pitchFamily="34" charset="0"/>
              <a:buChar char="•"/>
            </a:pPr>
            <a:r>
              <a:rPr lang="en-US" sz="1200" b="1" kern="1200" dirty="0">
                <a:solidFill>
                  <a:schemeClr val="tx1"/>
                </a:solidFill>
                <a:effectLst/>
                <a:latin typeface="+mn-lt"/>
                <a:ea typeface="+mn-ea"/>
                <a:cs typeface="+mn-cs"/>
              </a:rPr>
              <a:t>The Financial Industry (Business):</a:t>
            </a:r>
            <a:r>
              <a:rPr lang="en-US" sz="1200" kern="1200" dirty="0">
                <a:solidFill>
                  <a:schemeClr val="tx1"/>
                </a:solidFill>
                <a:effectLst/>
                <a:latin typeface="+mn-lt"/>
                <a:ea typeface="+mn-ea"/>
                <a:cs typeface="+mn-cs"/>
              </a:rPr>
              <a:t> Crawl under the rock of the financial industry to understand its extractive nature. Recognize how high fees, complex products, and sales incentives are designed to transfer wealth from your pocket to Wall Street. </a:t>
            </a:r>
          </a:p>
        </p:txBody>
      </p:sp>
      <p:sp>
        <p:nvSpPr>
          <p:cNvPr id="4" name="Slide Number Placeholder 3"/>
          <p:cNvSpPr>
            <a:spLocks noGrp="1"/>
          </p:cNvSpPr>
          <p:nvPr>
            <p:ph type="sldNum" sz="quarter" idx="5"/>
          </p:nvPr>
        </p:nvSpPr>
        <p:spPr/>
        <p:txBody>
          <a:bodyPr/>
          <a:lstStyle/>
          <a:p>
            <a:fld id="{4D305F41-F9B2-4648-9C06-C0351E0D8B7A}" type="slidenum">
              <a:rPr lang="en-US" smtClean="0"/>
              <a:t>13</a:t>
            </a:fld>
            <a:endParaRPr lang="en-US"/>
          </a:p>
        </p:txBody>
      </p:sp>
    </p:spTree>
    <p:extLst>
      <p:ext uri="{BB962C8B-B14F-4D97-AF65-F5344CB8AC3E}">
        <p14:creationId xmlns:p14="http://schemas.microsoft.com/office/powerpoint/2010/main" val="1456749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Overview:</a:t>
            </a:r>
            <a:r>
              <a:rPr lang="en-US" sz="1200" kern="1200" dirty="0">
                <a:solidFill>
                  <a:schemeClr val="tx1"/>
                </a:solidFill>
                <a:effectLst/>
                <a:latin typeface="+mn-lt"/>
                <a:ea typeface="+mn-ea"/>
                <a:cs typeface="+mn-cs"/>
              </a:rPr>
              <a:t> Slide 14 brings our journey back to the single most decisive factor in investor success: personal temperament and behavioral discipline. </a:t>
            </a:r>
          </a:p>
          <a:p>
            <a:pPr lvl="0"/>
            <a:r>
              <a:rPr lang="en-US" sz="1200" b="1" kern="1200" dirty="0">
                <a:solidFill>
                  <a:schemeClr val="tx1"/>
                </a:solidFill>
                <a:effectLst/>
                <a:latin typeface="+mn-lt"/>
                <a:ea typeface="+mn-ea"/>
                <a:cs typeface="+mn-cs"/>
              </a:rPr>
              <a:t>The Limits of Intelligence: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Academic models fail when market conditions shift, historical bubbles repeat, and mechanical rules fall apart if you lack the emotional fortitude to execute them. </a:t>
            </a:r>
          </a:p>
          <a:p>
            <a:pPr lvl="0"/>
            <a:r>
              <a:rPr lang="en-US" sz="1200" b="1" kern="1200" dirty="0">
                <a:solidFill>
                  <a:schemeClr val="tx1"/>
                </a:solidFill>
                <a:effectLst/>
                <a:latin typeface="+mn-lt"/>
                <a:ea typeface="+mn-ea"/>
                <a:cs typeface="+mn-cs"/>
              </a:rPr>
              <a:t>Buffett’s Rule: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As Warren Buffett famously noted: </a:t>
            </a:r>
            <a:r>
              <a:rPr lang="en-US" sz="1200" i="1" kern="1200" dirty="0">
                <a:solidFill>
                  <a:schemeClr val="tx1"/>
                </a:solidFill>
                <a:effectLst/>
                <a:latin typeface="+mn-lt"/>
                <a:ea typeface="+mn-ea"/>
                <a:cs typeface="+mn-cs"/>
              </a:rPr>
              <a:t>"Finance isn't a game where the person with an IQ of 160 beats the person with an IQ of 130."</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Real Benchmark:</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ultimate winner in real-world investing is simply the individual with the discipline to stay the course.</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Success is measured entirely by your ability to suppress your limbic system during moments of severe market panic.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It is easy to commit to a 60/40 rebalancing plan on a spreadsheet; it is extraordinarily difficult to execute when your portfolio is down 35% and financial news channels are predicting global collapse. Your emotional control under stress determines your ultimate financial survival. </a:t>
            </a:r>
          </a:p>
          <a:p>
            <a:endParaRPr lang="en-US" dirty="0"/>
          </a:p>
        </p:txBody>
      </p:sp>
      <p:sp>
        <p:nvSpPr>
          <p:cNvPr id="4" name="Slide Number Placeholder 3"/>
          <p:cNvSpPr>
            <a:spLocks noGrp="1"/>
          </p:cNvSpPr>
          <p:nvPr>
            <p:ph type="sldNum" sz="quarter" idx="5"/>
          </p:nvPr>
        </p:nvSpPr>
        <p:spPr/>
        <p:txBody>
          <a:bodyPr/>
          <a:lstStyle/>
          <a:p>
            <a:fld id="{4D305F41-F9B2-4648-9C06-C0351E0D8B7A}" type="slidenum">
              <a:rPr lang="en-US" smtClean="0"/>
              <a:t>14</a:t>
            </a:fld>
            <a:endParaRPr lang="en-US"/>
          </a:p>
        </p:txBody>
      </p:sp>
    </p:spTree>
    <p:extLst>
      <p:ext uri="{BB962C8B-B14F-4D97-AF65-F5344CB8AC3E}">
        <p14:creationId xmlns:p14="http://schemas.microsoft.com/office/powerpoint/2010/main" val="11501053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Overview:</a:t>
            </a:r>
            <a:r>
              <a:rPr lang="en-US" sz="1200" kern="1200" dirty="0">
                <a:solidFill>
                  <a:schemeClr val="tx1"/>
                </a:solidFill>
                <a:effectLst/>
                <a:latin typeface="+mn-lt"/>
                <a:ea typeface="+mn-ea"/>
                <a:cs typeface="+mn-cs"/>
              </a:rPr>
              <a:t> Slide 15 synthesizes the core mandate of real-world investing into a single guiding principle. </a:t>
            </a:r>
          </a:p>
          <a:p>
            <a:pPr lvl="0"/>
            <a:r>
              <a:rPr lang="en-US" sz="1200" b="1" kern="1200" dirty="0">
                <a:solidFill>
                  <a:schemeClr val="tx1"/>
                </a:solidFill>
                <a:effectLst/>
                <a:latin typeface="+mn-lt"/>
                <a:ea typeface="+mn-ea"/>
                <a:cs typeface="+mn-cs"/>
              </a:rPr>
              <a:t>The Common Misconception: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Most investors approach the market asking: "How can I maximize my upside return?" They chase high-flying tech sectors, dynamic factor timing, and aggressive predictions. </a:t>
            </a:r>
          </a:p>
          <a:p>
            <a:pPr lvl="0"/>
            <a:r>
              <a:rPr lang="en-US" sz="1200" b="1" kern="1200" dirty="0">
                <a:solidFill>
                  <a:schemeClr val="tx1"/>
                </a:solidFill>
                <a:effectLst/>
                <a:latin typeface="+mn-lt"/>
                <a:ea typeface="+mn-ea"/>
                <a:cs typeface="+mn-cs"/>
              </a:rPr>
              <a:t>The Real-World Mandate: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goal of real-world investing is not maximizing upside.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goal is structurally, mechanically, and behaviorally eliminating catastrophic downside risk.</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Summary of Defense: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Structurally:</a:t>
            </a:r>
            <a:r>
              <a:rPr lang="en-US" sz="1200" kern="1200" dirty="0">
                <a:solidFill>
                  <a:schemeClr val="tx1"/>
                </a:solidFill>
                <a:effectLst/>
                <a:latin typeface="+mn-lt"/>
                <a:ea typeface="+mn-ea"/>
                <a:cs typeface="+mn-cs"/>
              </a:rPr>
              <a:t> Avoid extreme leverage and speculative bubbles.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Mechanically:</a:t>
            </a:r>
            <a:r>
              <a:rPr lang="en-US" sz="1200" kern="1200" dirty="0">
                <a:solidFill>
                  <a:schemeClr val="tx1"/>
                </a:solidFill>
                <a:effectLst/>
                <a:latin typeface="+mn-lt"/>
                <a:ea typeface="+mn-ea"/>
                <a:cs typeface="+mn-cs"/>
              </a:rPr>
              <a:t> Build a TIPS ladder to </a:t>
            </a:r>
            <a:r>
              <a:rPr lang="en-US" sz="1200" kern="1200" dirty="0" err="1">
                <a:solidFill>
                  <a:schemeClr val="tx1"/>
                </a:solidFill>
                <a:effectLst/>
                <a:latin typeface="+mn-lt"/>
                <a:ea typeface="+mn-ea"/>
                <a:cs typeface="+mn-cs"/>
              </a:rPr>
              <a:t>defease</a:t>
            </a:r>
            <a:r>
              <a:rPr lang="en-US" sz="1200" kern="1200" dirty="0">
                <a:solidFill>
                  <a:schemeClr val="tx1"/>
                </a:solidFill>
                <a:effectLst/>
                <a:latin typeface="+mn-lt"/>
                <a:ea typeface="+mn-ea"/>
                <a:cs typeface="+mn-cs"/>
              </a:rPr>
              <a:t> essential living expenses once you have 'won the game'.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Behaviorally:</a:t>
            </a:r>
            <a:r>
              <a:rPr lang="en-US" sz="1200" kern="1200" dirty="0">
                <a:solidFill>
                  <a:schemeClr val="tx1"/>
                </a:solidFill>
                <a:effectLst/>
                <a:latin typeface="+mn-lt"/>
                <a:ea typeface="+mn-ea"/>
                <a:cs typeface="+mn-cs"/>
              </a:rPr>
              <a:t> Maintain strict emotional control, ignore short-term volatility, and respect the width of historical uncertainty. </a:t>
            </a:r>
          </a:p>
          <a:p>
            <a:endParaRPr lang="en-US" dirty="0"/>
          </a:p>
        </p:txBody>
      </p:sp>
      <p:sp>
        <p:nvSpPr>
          <p:cNvPr id="4" name="Slide Number Placeholder 3"/>
          <p:cNvSpPr>
            <a:spLocks noGrp="1"/>
          </p:cNvSpPr>
          <p:nvPr>
            <p:ph type="sldNum" sz="quarter" idx="5"/>
          </p:nvPr>
        </p:nvSpPr>
        <p:spPr/>
        <p:txBody>
          <a:bodyPr/>
          <a:lstStyle/>
          <a:p>
            <a:fld id="{4D305F41-F9B2-4648-9C06-C0351E0D8B7A}" type="slidenum">
              <a:rPr lang="en-US" smtClean="0"/>
              <a:t>15</a:t>
            </a:fld>
            <a:endParaRPr lang="en-US"/>
          </a:p>
        </p:txBody>
      </p:sp>
    </p:spTree>
    <p:extLst>
      <p:ext uri="{BB962C8B-B14F-4D97-AF65-F5344CB8AC3E}">
        <p14:creationId xmlns:p14="http://schemas.microsoft.com/office/powerpoint/2010/main" val="36176979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Overview:</a:t>
            </a:r>
            <a:r>
              <a:rPr lang="en-US" sz="1200" kern="1200" dirty="0">
                <a:solidFill>
                  <a:schemeClr val="tx1"/>
                </a:solidFill>
                <a:effectLst/>
                <a:latin typeface="+mn-lt"/>
                <a:ea typeface="+mn-ea"/>
                <a:cs typeface="+mn-cs"/>
              </a:rPr>
              <a:t> Slide 16 serves as a visual executive summary, wrapping up the presentation’s main pillars for quick review. </a:t>
            </a:r>
          </a:p>
          <a:p>
            <a:pPr lvl="0"/>
            <a:r>
              <a:rPr lang="en-US" sz="1200" b="1" kern="1200" dirty="0">
                <a:solidFill>
                  <a:schemeClr val="tx1"/>
                </a:solidFill>
                <a:effectLst/>
                <a:latin typeface="+mn-lt"/>
                <a:ea typeface="+mn-ea"/>
                <a:cs typeface="+mn-cs"/>
              </a:rPr>
              <a:t>1. Identifying the Problem (Market Hype &amp; Risk):</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High valuations driven by novel AI excitement strongly resemble the 1990s dot-com era. Shiller CAPE ratios near 41 warn us that future equity returns relative to risk-free assets may be compressed.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Remember that true risk is not short-term market drops (volatility), but permanent capital loss leading to poverty in retirement. </a:t>
            </a:r>
          </a:p>
          <a:p>
            <a:pPr lvl="0"/>
            <a:r>
              <a:rPr lang="en-US" sz="1200" b="1" kern="1200" dirty="0">
                <a:solidFill>
                  <a:schemeClr val="tx1"/>
                </a:solidFill>
                <a:effectLst/>
                <a:latin typeface="+mn-lt"/>
                <a:ea typeface="+mn-ea"/>
                <a:cs typeface="+mn-cs"/>
              </a:rPr>
              <a:t>2. Executing the Solution (Winning the Game):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Stop Playing:</a:t>
            </a:r>
            <a:r>
              <a:rPr lang="en-US" sz="1200" kern="1200" dirty="0">
                <a:solidFill>
                  <a:schemeClr val="tx1"/>
                </a:solidFill>
                <a:effectLst/>
                <a:latin typeface="+mn-lt"/>
                <a:ea typeface="+mn-ea"/>
                <a:cs typeface="+mn-cs"/>
              </a:rPr>
              <a:t> Once you have accumulated enough capital to cover core retirement liabilities, lock in those expenses.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Build a TIPS Ladder:</a:t>
            </a:r>
            <a:r>
              <a:rPr lang="en-US" sz="1200" kern="1200" dirty="0">
                <a:solidFill>
                  <a:schemeClr val="tx1"/>
                </a:solidFill>
                <a:effectLst/>
                <a:latin typeface="+mn-lt"/>
                <a:ea typeface="+mn-ea"/>
                <a:cs typeface="+mn-cs"/>
              </a:rPr>
              <a:t> Leverage real yields (~3%) to create a inflation-adjusted, risk-free stream of income for essential spending.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Prioritize Discipline:</a:t>
            </a:r>
            <a:r>
              <a:rPr lang="en-US" sz="1200" kern="1200" dirty="0">
                <a:solidFill>
                  <a:schemeClr val="tx1"/>
                </a:solidFill>
                <a:effectLst/>
                <a:latin typeface="+mn-lt"/>
                <a:ea typeface="+mn-ea"/>
                <a:cs typeface="+mn-cs"/>
              </a:rPr>
              <a:t> Recognize that emotional regulation and adherence to basic financial principles will always outperform high IQ and complex financial engineering. </a:t>
            </a:r>
          </a:p>
          <a:p>
            <a:pPr lvl="0"/>
            <a:r>
              <a:rPr lang="en-US" sz="1200" b="1" kern="1200" dirty="0">
                <a:solidFill>
                  <a:schemeClr val="tx1"/>
                </a:solidFill>
                <a:effectLst/>
                <a:latin typeface="+mn-lt"/>
                <a:ea typeface="+mn-ea"/>
                <a:cs typeface="+mn-cs"/>
              </a:rPr>
              <a:t>Closing Statement:</a:t>
            </a:r>
            <a:r>
              <a:rPr lang="en-US" sz="1200" kern="1200" dirty="0">
                <a:solidFill>
                  <a:schemeClr val="tx1"/>
                </a:solidFill>
                <a:effectLst/>
                <a:latin typeface="+mn-lt"/>
                <a:ea typeface="+mn-ea"/>
                <a:cs typeface="+mn-cs"/>
              </a:rPr>
              <a:t> Thank you all for your time. Focus on building an anti-fragile portfolio, master your behavioral responses, and protect your baseline for life. </a:t>
            </a:r>
          </a:p>
          <a:p>
            <a:endParaRPr lang="en-US" dirty="0"/>
          </a:p>
          <a:p>
            <a:endParaRPr lang="en-US" dirty="0"/>
          </a:p>
          <a:p>
            <a:r>
              <a:rPr lang="en-US" b="1" dirty="0"/>
              <a:t>I’ve Seen This Market Before — William Bernstein</a:t>
            </a:r>
          </a:p>
          <a:p>
            <a:r>
              <a:rPr lang="en-US" dirty="0"/>
              <a:t>https://www.youtube.com/watch?v=Eu_NV9nR1uY</a:t>
            </a:r>
          </a:p>
          <a:p>
            <a:endParaRPr lang="en-US" dirty="0"/>
          </a:p>
        </p:txBody>
      </p:sp>
      <p:sp>
        <p:nvSpPr>
          <p:cNvPr id="4" name="Slide Number Placeholder 3"/>
          <p:cNvSpPr>
            <a:spLocks noGrp="1"/>
          </p:cNvSpPr>
          <p:nvPr>
            <p:ph type="sldNum" sz="quarter" idx="5"/>
          </p:nvPr>
        </p:nvSpPr>
        <p:spPr/>
        <p:txBody>
          <a:bodyPr/>
          <a:lstStyle/>
          <a:p>
            <a:fld id="{4D305F41-F9B2-4648-9C06-C0351E0D8B7A}" type="slidenum">
              <a:rPr lang="en-US" smtClean="0"/>
              <a:t>16</a:t>
            </a:fld>
            <a:endParaRPr lang="en-US"/>
          </a:p>
        </p:txBody>
      </p:sp>
    </p:spTree>
    <p:extLst>
      <p:ext uri="{BB962C8B-B14F-4D97-AF65-F5344CB8AC3E}">
        <p14:creationId xmlns:p14="http://schemas.microsoft.com/office/powerpoint/2010/main" val="19658920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06196B-5DB6-0A6E-8901-66206D2C6898}"/>
              </a:ext>
            </a:extLst>
          </p:cNvPr>
          <p:cNvSpPr>
            <a:spLocks noGrp="1"/>
          </p:cNvSpPr>
          <p:nvPr>
            <p:ph type="dt" sz="half" idx="10"/>
          </p:nvPr>
        </p:nvSpPr>
        <p:spPr/>
        <p:txBody>
          <a:bodyPr/>
          <a:lstStyle/>
          <a:p>
            <a:fld id="{51A1A56C-A5A9-4C65-B9E3-35D3D1809A9F}" type="datetimeFigureOut">
              <a:rPr lang="en-US" smtClean="0"/>
              <a:t>10/21/2026</a:t>
            </a:fld>
            <a:endParaRPr lang="en-US"/>
          </a:p>
        </p:txBody>
      </p:sp>
      <p:sp>
        <p:nvSpPr>
          <p:cNvPr id="3" name="Footer Placeholder 2">
            <a:extLst>
              <a:ext uri="{FF2B5EF4-FFF2-40B4-BE49-F238E27FC236}">
                <a16:creationId xmlns:a16="http://schemas.microsoft.com/office/drawing/2014/main" id="{87459CA5-9798-B56A-8ABB-C9E8054587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09390CC-FC5B-CA38-F09C-B6CC8E8B653F}"/>
              </a:ext>
            </a:extLst>
          </p:cNvPr>
          <p:cNvSpPr>
            <a:spLocks noGrp="1"/>
          </p:cNvSpPr>
          <p:nvPr>
            <p:ph type="sldNum" sz="quarter" idx="12"/>
          </p:nvPr>
        </p:nvSpPr>
        <p:spPr/>
        <p:txBody>
          <a:bodyPr/>
          <a:lstStyle/>
          <a:p>
            <a:fld id="{4685FCCC-70B4-4E2A-A4B1-195C2ED1AE25}" type="slidenum">
              <a:rPr lang="en-US" smtClean="0"/>
              <a:t>‹#›</a:t>
            </a:fld>
            <a:endParaRPr lang="en-US"/>
          </a:p>
        </p:txBody>
      </p:sp>
    </p:spTree>
    <p:extLst>
      <p:ext uri="{BB962C8B-B14F-4D97-AF65-F5344CB8AC3E}">
        <p14:creationId xmlns:p14="http://schemas.microsoft.com/office/powerpoint/2010/main" val="106888756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DAEC4E-DBD1-24FC-01B1-2DEDA726DB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B482216-39EC-727B-FBF3-A534FA1997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F3DD67-CEB7-A6C7-C472-E2E3B63A1E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1A1A56C-A5A9-4C65-B9E3-35D3D1809A9F}" type="datetimeFigureOut">
              <a:rPr lang="en-US" smtClean="0"/>
              <a:t>10/21/2026</a:t>
            </a:fld>
            <a:endParaRPr lang="en-US"/>
          </a:p>
        </p:txBody>
      </p:sp>
      <p:sp>
        <p:nvSpPr>
          <p:cNvPr id="5" name="Footer Placeholder 4">
            <a:extLst>
              <a:ext uri="{FF2B5EF4-FFF2-40B4-BE49-F238E27FC236}">
                <a16:creationId xmlns:a16="http://schemas.microsoft.com/office/drawing/2014/main" id="{F2FC272E-D184-23FC-0C0E-5DA2666684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55D8930-E9D5-A40F-7818-E35020F3E8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685FCCC-70B4-4E2A-A4B1-195C2ED1AE25}" type="slidenum">
              <a:rPr lang="en-US" smtClean="0"/>
              <a:t>‹#›</a:t>
            </a:fld>
            <a:endParaRPr lang="en-US"/>
          </a:p>
        </p:txBody>
      </p:sp>
    </p:spTree>
    <p:extLst>
      <p:ext uri="{BB962C8B-B14F-4D97-AF65-F5344CB8AC3E}">
        <p14:creationId xmlns:p14="http://schemas.microsoft.com/office/powerpoint/2010/main" val="1420102236"/>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A8C39E3-ECE1-2B5D-EDB7-9942969F816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3782E03-94E5-F29C-C615-465D5D59624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3806BF-17E9-0895-3ED6-72A9B89F738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AD9AF9E-7C5D-0EA3-4C12-3AE015D30D7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608A98-8709-848B-E4AD-347CA7B52C5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DE434A-5812-470A-3D6E-240717AAC33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39A5595-2315-0101-2C52-135FC51B1B2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88A2ABF-7E57-0410-9FE6-7B64AB2818F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B1BF46-F0BC-8B82-5C53-C191A9D622C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509A7A-9362-6DCA-5FF9-4E46F26DC52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30FD13-D3D5-7910-CC91-B173A77F242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7B2C73-985F-D7FD-D310-6F5ACEF6E7C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A563C2-8C80-64C7-72C1-05C73D5D536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A7917A-5CCC-E2FC-E12A-0350A0BB3B9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667B3C2-5399-6817-1F0E-53CEF012CA9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DE5843-F0FD-FA58-05F0-D21AB254C603}"/>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31424468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3526</Words>
  <Application>Microsoft Office PowerPoint</Application>
  <PresentationFormat>寬螢幕</PresentationFormat>
  <Paragraphs>183</Paragraphs>
  <Slides>16</Slides>
  <Notes>16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2026-09-27T13:16:32Z</dcterms:created>
  <dcterms:modified xsi:type="dcterms:W3CDTF">2026-10-21T02:46:34Z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9f47bb8-b38e-408b-b78b-bb41e7d66ecb_Enabled">
    <vt:lpwstr>true</vt:lpwstr>
  </property>
  <property fmtid="{D5CDD505-2E9C-101B-9397-08002B2CF9AE}" pid="3" name="MSIP_Label_d9f47bb8-b38e-408b-b78b-bb41e7d66ecb_SetDate">
    <vt:lpwstr>2026-09-29T03:00:32Z</vt:lpwstr>
  </property>
  <property fmtid="{D5CDD505-2E9C-101B-9397-08002B2CF9AE}" pid="4" name="MSIP_Label_d9f47bb8-b38e-408b-b78b-bb41e7d66ecb_Method">
    <vt:lpwstr>Standard</vt:lpwstr>
  </property>
  <property fmtid="{D5CDD505-2E9C-101B-9397-08002B2CF9AE}" pid="5" name="MSIP_Label_d9f47bb8-b38e-408b-b78b-bb41e7d66ecb_Name">
    <vt:lpwstr>Public</vt:lpwstr>
  </property>
  <property fmtid="{D5CDD505-2E9C-101B-9397-08002B2CF9AE}" pid="6" name="MSIP_Label_d9f47bb8-b38e-408b-b78b-bb41e7d66ecb_SiteId">
    <vt:lpwstr>70ebe3a3-5b30-435d-9d67-7716d74ca190</vt:lpwstr>
  </property>
  <property fmtid="{D5CDD505-2E9C-101B-9397-08002B2CF9AE}" pid="7" name="MSIP_Label_d9f47bb8-b38e-408b-b78b-bb41e7d66ecb_ActionId">
    <vt:lpwstr>0b76c9f8-470f-47b5-9ae8-5b9090462983</vt:lpwstr>
  </property>
  <property fmtid="{D5CDD505-2E9C-101B-9397-08002B2CF9AE}" pid="8" name="MSIP_Label_d9f47bb8-b38e-408b-b78b-bb41e7d66ecb_Provider">
    <vt:lpwstr>Varonis.Labeling</vt:lpwstr>
  </property>
  <property fmtid="{D5CDD505-2E9C-101B-9397-08002B2CF9AE}" pid="9" name="MSIP_Label_d9f47bb8-b38e-408b-b78b-bb41e7d66ecb_ContentBits">
    <vt:lpwstr>0</vt:lpwstr>
  </property>
</Properties>
</file>