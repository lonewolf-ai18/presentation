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1EA8227-2951-4D00-B15C-9B7D02CB8F77}" v="3" dt="2026-09-28T07:59:12.590"/>
    <p1510:client id="{EF04E436-B3EA-4ECA-A171-04CDC02E684A}" v="40" dt="2026-09-28T08:35:09.2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81909"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addSld modSld modMainMaster">
      <pc:chgData name="Lai, Wilson" userId="2840974a-0d84-4886-90a9-9a3ed79f3a48" providerId="ADAL" clId="{9F23B798-9E84-4552-BA63-E776E805C424}" dt="2026-09-28T08:40:18.758" v="118" actId="22"/>
      <pc:docMkLst>
        <pc:docMk/>
      </pc:docMkLst>
      <pc:sldChg chg="addSp delSp modSp mod modAnim modNotes modNotesTx">
        <pc:chgData name="Lai, Wilson" userId="2840974a-0d84-4886-90a9-9a3ed79f3a48" providerId="ADAL" clId="{9F23B798-9E84-4552-BA63-E776E805C424}" dt="2026-09-28T08:36:16.314" v="89" actId="22"/>
        <pc:sldMkLst>
          <pc:docMk/>
          <pc:sldMk cId="0" sldId="257"/>
        </pc:sldMkLst>
        <pc:spChg chg="add del mod">
          <ac:chgData name="Lai, Wilson" userId="2840974a-0d84-4886-90a9-9a3ed79f3a48" providerId="ADAL" clId="{9F23B798-9E84-4552-BA63-E776E805C424}" dt="2026-09-28T08:18:45.729" v="24" actId="478"/>
          <ac:spMkLst>
            <pc:docMk/>
            <pc:sldMk cId="0" sldId="257"/>
            <ac:spMk id="5" creationId="{A36C5D09-627D-3366-D8F7-343A556FB482}"/>
          </ac:spMkLst>
        </pc:spChg>
        <pc:spChg chg="add mod">
          <ac:chgData name="Lai, Wilson" userId="2840974a-0d84-4886-90a9-9a3ed79f3a48" providerId="ADAL" clId="{9F23B798-9E84-4552-BA63-E776E805C424}" dt="2026-09-28T08:19:29.059" v="35" actId="164"/>
          <ac:spMkLst>
            <pc:docMk/>
            <pc:sldMk cId="0" sldId="257"/>
            <ac:spMk id="7" creationId="{998DE055-FC59-7205-3E22-53CACDFC8C98}"/>
          </ac:spMkLst>
        </pc:spChg>
        <pc:spChg chg="add del">
          <ac:chgData name="Lai, Wilson" userId="2840974a-0d84-4886-90a9-9a3ed79f3a48" providerId="ADAL" clId="{9F23B798-9E84-4552-BA63-E776E805C424}" dt="2026-09-28T08:28:28.802" v="70" actId="22"/>
          <ac:spMkLst>
            <pc:docMk/>
            <pc:sldMk cId="0" sldId="257"/>
            <ac:spMk id="10" creationId="{8D63DEAA-D75C-C875-9D75-1CFC36F5E833}"/>
          </ac:spMkLst>
        </pc:spChg>
        <pc:grpChg chg="add mod">
          <ac:chgData name="Lai, Wilson" userId="2840974a-0d84-4886-90a9-9a3ed79f3a48" providerId="ADAL" clId="{9F23B798-9E84-4552-BA63-E776E805C424}" dt="2026-09-28T08:19:29.059" v="35" actId="164"/>
          <ac:grpSpMkLst>
            <pc:docMk/>
            <pc:sldMk cId="0" sldId="257"/>
            <ac:grpSpMk id="8" creationId="{040D5182-B7AF-1B82-79A1-DF4D4A119C87}"/>
          </ac:grpSpMkLst>
        </pc:grpChg>
        <pc:picChg chg="del mod ord">
          <ac:chgData name="Lai, Wilson" userId="2840974a-0d84-4886-90a9-9a3ed79f3a48" providerId="ADAL" clId="{9F23B798-9E84-4552-BA63-E776E805C424}" dt="2026-09-28T08:36:00.433" v="88" actId="21"/>
          <ac:picMkLst>
            <pc:docMk/>
            <pc:sldMk cId="0" sldId="257"/>
            <ac:picMk id="2" creationId="{00000000-0000-0000-0000-000000000000}"/>
          </ac:picMkLst>
        </pc:picChg>
        <pc:picChg chg="add mod">
          <ac:chgData name="Lai, Wilson" userId="2840974a-0d84-4886-90a9-9a3ed79f3a48" providerId="ADAL" clId="{9F23B798-9E84-4552-BA63-E776E805C424}" dt="2026-09-28T08:19:29.059" v="35" actId="164"/>
          <ac:picMkLst>
            <pc:docMk/>
            <pc:sldMk cId="0" sldId="257"/>
            <ac:picMk id="3" creationId="{38CB4875-44FC-26E0-F47C-0B80F0D6E243}"/>
          </ac:picMkLst>
        </pc:picChg>
        <pc:picChg chg="add">
          <ac:chgData name="Lai, Wilson" userId="2840974a-0d84-4886-90a9-9a3ed79f3a48" providerId="ADAL" clId="{9F23B798-9E84-4552-BA63-E776E805C424}" dt="2026-09-28T08:36:16.314" v="89" actId="22"/>
          <ac:picMkLst>
            <pc:docMk/>
            <pc:sldMk cId="0" sldId="257"/>
            <ac:picMk id="5" creationId="{6C1EBF16-54D7-755B-BED6-074AB7426234}"/>
          </ac:picMkLst>
        </pc:picChg>
      </pc:sldChg>
      <pc:sldChg chg="addSp delSp mod modNotes">
        <pc:chgData name="Lai, Wilson" userId="2840974a-0d84-4886-90a9-9a3ed79f3a48" providerId="ADAL" clId="{9F23B798-9E84-4552-BA63-E776E805C424}" dt="2026-09-28T08:36:26.924" v="91" actId="22"/>
        <pc:sldMkLst>
          <pc:docMk/>
          <pc:sldMk cId="0" sldId="258"/>
        </pc:sldMkLst>
        <pc:picChg chg="del">
          <ac:chgData name="Lai, Wilson" userId="2840974a-0d84-4886-90a9-9a3ed79f3a48" providerId="ADAL" clId="{9F23B798-9E84-4552-BA63-E776E805C424}" dt="2026-09-28T08:36:18.169" v="90" actId="21"/>
          <ac:picMkLst>
            <pc:docMk/>
            <pc:sldMk cId="0" sldId="258"/>
            <ac:picMk id="2" creationId="{00000000-0000-0000-0000-000000000000}"/>
          </ac:picMkLst>
        </pc:picChg>
        <pc:picChg chg="add">
          <ac:chgData name="Lai, Wilson" userId="2840974a-0d84-4886-90a9-9a3ed79f3a48" providerId="ADAL" clId="{9F23B798-9E84-4552-BA63-E776E805C424}" dt="2026-09-28T08:36:26.924" v="91" actId="22"/>
          <ac:picMkLst>
            <pc:docMk/>
            <pc:sldMk cId="0" sldId="258"/>
            <ac:picMk id="4" creationId="{7C05CCF4-6F3D-25F4-EE74-23C90439E142}"/>
          </ac:picMkLst>
        </pc:picChg>
      </pc:sldChg>
      <pc:sldChg chg="addSp delSp mod modNotes modNotesTx">
        <pc:chgData name="Lai, Wilson" userId="2840974a-0d84-4886-90a9-9a3ed79f3a48" providerId="ADAL" clId="{9F23B798-9E84-4552-BA63-E776E805C424}" dt="2026-09-28T08:36:40.456" v="93" actId="22"/>
        <pc:sldMkLst>
          <pc:docMk/>
          <pc:sldMk cId="0" sldId="259"/>
        </pc:sldMkLst>
        <pc:picChg chg="del">
          <ac:chgData name="Lai, Wilson" userId="2840974a-0d84-4886-90a9-9a3ed79f3a48" providerId="ADAL" clId="{9F23B798-9E84-4552-BA63-E776E805C424}" dt="2026-09-28T08:36:31.747" v="92" actId="21"/>
          <ac:picMkLst>
            <pc:docMk/>
            <pc:sldMk cId="0" sldId="259"/>
            <ac:picMk id="2" creationId="{00000000-0000-0000-0000-000000000000}"/>
          </ac:picMkLst>
        </pc:picChg>
        <pc:picChg chg="add">
          <ac:chgData name="Lai, Wilson" userId="2840974a-0d84-4886-90a9-9a3ed79f3a48" providerId="ADAL" clId="{9F23B798-9E84-4552-BA63-E776E805C424}" dt="2026-09-28T08:36:40.456" v="93" actId="22"/>
          <ac:picMkLst>
            <pc:docMk/>
            <pc:sldMk cId="0" sldId="259"/>
            <ac:picMk id="4" creationId="{6D91C1F8-3095-248F-C7DD-4B99C32915CD}"/>
          </ac:picMkLst>
        </pc:picChg>
      </pc:sldChg>
      <pc:sldChg chg="addSp delSp mod modNotes">
        <pc:chgData name="Lai, Wilson" userId="2840974a-0d84-4886-90a9-9a3ed79f3a48" providerId="ADAL" clId="{9F23B798-9E84-4552-BA63-E776E805C424}" dt="2026-09-28T08:36:52.507" v="95" actId="22"/>
        <pc:sldMkLst>
          <pc:docMk/>
          <pc:sldMk cId="0" sldId="260"/>
        </pc:sldMkLst>
        <pc:picChg chg="del">
          <ac:chgData name="Lai, Wilson" userId="2840974a-0d84-4886-90a9-9a3ed79f3a48" providerId="ADAL" clId="{9F23B798-9E84-4552-BA63-E776E805C424}" dt="2026-09-28T08:36:42.600" v="94" actId="21"/>
          <ac:picMkLst>
            <pc:docMk/>
            <pc:sldMk cId="0" sldId="260"/>
            <ac:picMk id="2" creationId="{00000000-0000-0000-0000-000000000000}"/>
          </ac:picMkLst>
        </pc:picChg>
        <pc:picChg chg="add">
          <ac:chgData name="Lai, Wilson" userId="2840974a-0d84-4886-90a9-9a3ed79f3a48" providerId="ADAL" clId="{9F23B798-9E84-4552-BA63-E776E805C424}" dt="2026-09-28T08:36:52.507" v="95" actId="22"/>
          <ac:picMkLst>
            <pc:docMk/>
            <pc:sldMk cId="0" sldId="260"/>
            <ac:picMk id="4" creationId="{EA41F1CD-5A44-D8CC-541D-B181839F4E15}"/>
          </ac:picMkLst>
        </pc:picChg>
      </pc:sldChg>
      <pc:sldChg chg="addSp delSp mod modNotes modNotesTx">
        <pc:chgData name="Lai, Wilson" userId="2840974a-0d84-4886-90a9-9a3ed79f3a48" providerId="ADAL" clId="{9F23B798-9E84-4552-BA63-E776E805C424}" dt="2026-09-28T08:37:03.702" v="97" actId="22"/>
        <pc:sldMkLst>
          <pc:docMk/>
          <pc:sldMk cId="0" sldId="261"/>
        </pc:sldMkLst>
        <pc:picChg chg="del">
          <ac:chgData name="Lai, Wilson" userId="2840974a-0d84-4886-90a9-9a3ed79f3a48" providerId="ADAL" clId="{9F23B798-9E84-4552-BA63-E776E805C424}" dt="2026-09-28T08:36:54.026" v="96" actId="21"/>
          <ac:picMkLst>
            <pc:docMk/>
            <pc:sldMk cId="0" sldId="261"/>
            <ac:picMk id="2" creationId="{00000000-0000-0000-0000-000000000000}"/>
          </ac:picMkLst>
        </pc:picChg>
        <pc:picChg chg="add">
          <ac:chgData name="Lai, Wilson" userId="2840974a-0d84-4886-90a9-9a3ed79f3a48" providerId="ADAL" clId="{9F23B798-9E84-4552-BA63-E776E805C424}" dt="2026-09-28T08:37:03.702" v="97" actId="22"/>
          <ac:picMkLst>
            <pc:docMk/>
            <pc:sldMk cId="0" sldId="261"/>
            <ac:picMk id="4" creationId="{27773FC2-04D2-8790-96AB-9BF09DD28293}"/>
          </ac:picMkLst>
        </pc:picChg>
      </pc:sldChg>
      <pc:sldChg chg="addSp delSp mod modNotes">
        <pc:chgData name="Lai, Wilson" userId="2840974a-0d84-4886-90a9-9a3ed79f3a48" providerId="ADAL" clId="{9F23B798-9E84-4552-BA63-E776E805C424}" dt="2026-09-28T08:37:54.639" v="99" actId="22"/>
        <pc:sldMkLst>
          <pc:docMk/>
          <pc:sldMk cId="0" sldId="262"/>
        </pc:sldMkLst>
        <pc:picChg chg="del">
          <ac:chgData name="Lai, Wilson" userId="2840974a-0d84-4886-90a9-9a3ed79f3a48" providerId="ADAL" clId="{9F23B798-9E84-4552-BA63-E776E805C424}" dt="2026-09-28T08:37:05.416" v="98" actId="21"/>
          <ac:picMkLst>
            <pc:docMk/>
            <pc:sldMk cId="0" sldId="262"/>
            <ac:picMk id="2" creationId="{00000000-0000-0000-0000-000000000000}"/>
          </ac:picMkLst>
        </pc:picChg>
        <pc:picChg chg="add">
          <ac:chgData name="Lai, Wilson" userId="2840974a-0d84-4886-90a9-9a3ed79f3a48" providerId="ADAL" clId="{9F23B798-9E84-4552-BA63-E776E805C424}" dt="2026-09-28T08:37:54.639" v="99" actId="22"/>
          <ac:picMkLst>
            <pc:docMk/>
            <pc:sldMk cId="0" sldId="262"/>
            <ac:picMk id="4" creationId="{90E50F5A-3CBC-6BBA-8331-342861BBD82E}"/>
          </ac:picMkLst>
        </pc:picChg>
      </pc:sldChg>
      <pc:sldChg chg="addSp delSp modSp mod modNotes modNotesTx">
        <pc:chgData name="Lai, Wilson" userId="2840974a-0d84-4886-90a9-9a3ed79f3a48" providerId="ADAL" clId="{9F23B798-9E84-4552-BA63-E776E805C424}" dt="2026-09-28T08:38:09.808" v="102" actId="22"/>
        <pc:sldMkLst>
          <pc:docMk/>
          <pc:sldMk cId="0" sldId="263"/>
        </pc:sldMkLst>
        <pc:picChg chg="del mod">
          <ac:chgData name="Lai, Wilson" userId="2840974a-0d84-4886-90a9-9a3ed79f3a48" providerId="ADAL" clId="{9F23B798-9E84-4552-BA63-E776E805C424}" dt="2026-09-28T08:38:01.376" v="101" actId="21"/>
          <ac:picMkLst>
            <pc:docMk/>
            <pc:sldMk cId="0" sldId="263"/>
            <ac:picMk id="2" creationId="{00000000-0000-0000-0000-000000000000}"/>
          </ac:picMkLst>
        </pc:picChg>
        <pc:picChg chg="add">
          <ac:chgData name="Lai, Wilson" userId="2840974a-0d84-4886-90a9-9a3ed79f3a48" providerId="ADAL" clId="{9F23B798-9E84-4552-BA63-E776E805C424}" dt="2026-09-28T08:38:09.808" v="102" actId="22"/>
          <ac:picMkLst>
            <pc:docMk/>
            <pc:sldMk cId="0" sldId="263"/>
            <ac:picMk id="4" creationId="{C70597D0-B712-163F-B264-002DE6539F46}"/>
          </ac:picMkLst>
        </pc:picChg>
      </pc:sldChg>
      <pc:sldChg chg="addSp delSp mod modNotes modNotesTx">
        <pc:chgData name="Lai, Wilson" userId="2840974a-0d84-4886-90a9-9a3ed79f3a48" providerId="ADAL" clId="{9F23B798-9E84-4552-BA63-E776E805C424}" dt="2026-09-28T08:38:22.080" v="104" actId="22"/>
        <pc:sldMkLst>
          <pc:docMk/>
          <pc:sldMk cId="0" sldId="264"/>
        </pc:sldMkLst>
        <pc:picChg chg="del">
          <ac:chgData name="Lai, Wilson" userId="2840974a-0d84-4886-90a9-9a3ed79f3a48" providerId="ADAL" clId="{9F23B798-9E84-4552-BA63-E776E805C424}" dt="2026-09-28T08:38:11.598" v="103" actId="21"/>
          <ac:picMkLst>
            <pc:docMk/>
            <pc:sldMk cId="0" sldId="264"/>
            <ac:picMk id="2" creationId="{00000000-0000-0000-0000-000000000000}"/>
          </ac:picMkLst>
        </pc:picChg>
        <pc:picChg chg="add">
          <ac:chgData name="Lai, Wilson" userId="2840974a-0d84-4886-90a9-9a3ed79f3a48" providerId="ADAL" clId="{9F23B798-9E84-4552-BA63-E776E805C424}" dt="2026-09-28T08:38:22.080" v="104" actId="22"/>
          <ac:picMkLst>
            <pc:docMk/>
            <pc:sldMk cId="0" sldId="264"/>
            <ac:picMk id="4" creationId="{B411090C-4348-56DD-86E5-FF8921ACF172}"/>
          </ac:picMkLst>
        </pc:picChg>
      </pc:sldChg>
      <pc:sldChg chg="addSp delSp mod modNotes modNotesTx">
        <pc:chgData name="Lai, Wilson" userId="2840974a-0d84-4886-90a9-9a3ed79f3a48" providerId="ADAL" clId="{9F23B798-9E84-4552-BA63-E776E805C424}" dt="2026-09-28T08:38:43.189" v="106" actId="22"/>
        <pc:sldMkLst>
          <pc:docMk/>
          <pc:sldMk cId="0" sldId="265"/>
        </pc:sldMkLst>
        <pc:picChg chg="del">
          <ac:chgData name="Lai, Wilson" userId="2840974a-0d84-4886-90a9-9a3ed79f3a48" providerId="ADAL" clId="{9F23B798-9E84-4552-BA63-E776E805C424}" dt="2026-09-28T08:38:29.346" v="105" actId="21"/>
          <ac:picMkLst>
            <pc:docMk/>
            <pc:sldMk cId="0" sldId="265"/>
            <ac:picMk id="2" creationId="{00000000-0000-0000-0000-000000000000}"/>
          </ac:picMkLst>
        </pc:picChg>
        <pc:picChg chg="add">
          <ac:chgData name="Lai, Wilson" userId="2840974a-0d84-4886-90a9-9a3ed79f3a48" providerId="ADAL" clId="{9F23B798-9E84-4552-BA63-E776E805C424}" dt="2026-09-28T08:38:43.189" v="106" actId="22"/>
          <ac:picMkLst>
            <pc:docMk/>
            <pc:sldMk cId="0" sldId="265"/>
            <ac:picMk id="4" creationId="{C47FAF59-8094-7B40-D23E-33B1D6C71FCF}"/>
          </ac:picMkLst>
        </pc:picChg>
      </pc:sldChg>
      <pc:sldChg chg="addSp delSp mod modNotes modNotesTx">
        <pc:chgData name="Lai, Wilson" userId="2840974a-0d84-4886-90a9-9a3ed79f3a48" providerId="ADAL" clId="{9F23B798-9E84-4552-BA63-E776E805C424}" dt="2026-09-28T08:39:07.456" v="108" actId="22"/>
        <pc:sldMkLst>
          <pc:docMk/>
          <pc:sldMk cId="0" sldId="266"/>
        </pc:sldMkLst>
        <pc:picChg chg="del">
          <ac:chgData name="Lai, Wilson" userId="2840974a-0d84-4886-90a9-9a3ed79f3a48" providerId="ADAL" clId="{9F23B798-9E84-4552-BA63-E776E805C424}" dt="2026-09-28T08:38:44.884" v="107" actId="21"/>
          <ac:picMkLst>
            <pc:docMk/>
            <pc:sldMk cId="0" sldId="266"/>
            <ac:picMk id="2" creationId="{00000000-0000-0000-0000-000000000000}"/>
          </ac:picMkLst>
        </pc:picChg>
        <pc:picChg chg="add">
          <ac:chgData name="Lai, Wilson" userId="2840974a-0d84-4886-90a9-9a3ed79f3a48" providerId="ADAL" clId="{9F23B798-9E84-4552-BA63-E776E805C424}" dt="2026-09-28T08:39:07.456" v="108" actId="22"/>
          <ac:picMkLst>
            <pc:docMk/>
            <pc:sldMk cId="0" sldId="266"/>
            <ac:picMk id="4" creationId="{A88EA2D7-6EFB-12A0-01E6-C3323856B6D9}"/>
          </ac:picMkLst>
        </pc:picChg>
      </pc:sldChg>
      <pc:sldChg chg="addSp delSp mod modNotes">
        <pc:chgData name="Lai, Wilson" userId="2840974a-0d84-4886-90a9-9a3ed79f3a48" providerId="ADAL" clId="{9F23B798-9E84-4552-BA63-E776E805C424}" dt="2026-09-28T08:39:17.722" v="110" actId="22"/>
        <pc:sldMkLst>
          <pc:docMk/>
          <pc:sldMk cId="0" sldId="267"/>
        </pc:sldMkLst>
        <pc:picChg chg="del">
          <ac:chgData name="Lai, Wilson" userId="2840974a-0d84-4886-90a9-9a3ed79f3a48" providerId="ADAL" clId="{9F23B798-9E84-4552-BA63-E776E805C424}" dt="2026-09-28T08:39:09.534" v="109" actId="21"/>
          <ac:picMkLst>
            <pc:docMk/>
            <pc:sldMk cId="0" sldId="267"/>
            <ac:picMk id="2" creationId="{00000000-0000-0000-0000-000000000000}"/>
          </ac:picMkLst>
        </pc:picChg>
        <pc:picChg chg="add">
          <ac:chgData name="Lai, Wilson" userId="2840974a-0d84-4886-90a9-9a3ed79f3a48" providerId="ADAL" clId="{9F23B798-9E84-4552-BA63-E776E805C424}" dt="2026-09-28T08:39:17.722" v="110" actId="22"/>
          <ac:picMkLst>
            <pc:docMk/>
            <pc:sldMk cId="0" sldId="267"/>
            <ac:picMk id="4" creationId="{DA009DBB-CE7D-C89F-F498-30D484F30D3B}"/>
          </ac:picMkLst>
        </pc:picChg>
      </pc:sldChg>
      <pc:sldChg chg="addSp delSp mod modNotes modNotesTx">
        <pc:chgData name="Lai, Wilson" userId="2840974a-0d84-4886-90a9-9a3ed79f3a48" providerId="ADAL" clId="{9F23B798-9E84-4552-BA63-E776E805C424}" dt="2026-09-28T08:39:36.450" v="112" actId="22"/>
        <pc:sldMkLst>
          <pc:docMk/>
          <pc:sldMk cId="0" sldId="268"/>
        </pc:sldMkLst>
        <pc:picChg chg="del">
          <ac:chgData name="Lai, Wilson" userId="2840974a-0d84-4886-90a9-9a3ed79f3a48" providerId="ADAL" clId="{9F23B798-9E84-4552-BA63-E776E805C424}" dt="2026-09-28T08:39:21.755" v="111" actId="21"/>
          <ac:picMkLst>
            <pc:docMk/>
            <pc:sldMk cId="0" sldId="268"/>
            <ac:picMk id="2" creationId="{00000000-0000-0000-0000-000000000000}"/>
          </ac:picMkLst>
        </pc:picChg>
        <pc:picChg chg="add">
          <ac:chgData name="Lai, Wilson" userId="2840974a-0d84-4886-90a9-9a3ed79f3a48" providerId="ADAL" clId="{9F23B798-9E84-4552-BA63-E776E805C424}" dt="2026-09-28T08:39:36.450" v="112" actId="22"/>
          <ac:picMkLst>
            <pc:docMk/>
            <pc:sldMk cId="0" sldId="268"/>
            <ac:picMk id="4" creationId="{0FFB2FDB-C283-CB94-A70A-2B61E0C14E70}"/>
          </ac:picMkLst>
        </pc:picChg>
      </pc:sldChg>
      <pc:sldChg chg="addSp delSp modSp new mod modNotes modNotesTx">
        <pc:chgData name="Lai, Wilson" userId="2840974a-0d84-4886-90a9-9a3ed79f3a48" providerId="ADAL" clId="{9F23B798-9E84-4552-BA63-E776E805C424}" dt="2026-09-28T08:40:18.758" v="118" actId="22"/>
        <pc:sldMkLst>
          <pc:docMk/>
          <pc:sldMk cId="4250199871" sldId="269"/>
        </pc:sldMkLst>
        <pc:picChg chg="add del mod">
          <ac:chgData name="Lai, Wilson" userId="2840974a-0d84-4886-90a9-9a3ed79f3a48" providerId="ADAL" clId="{9F23B798-9E84-4552-BA63-E776E805C424}" dt="2026-09-28T08:40:04.701" v="117" actId="21"/>
          <ac:picMkLst>
            <pc:docMk/>
            <pc:sldMk cId="4250199871" sldId="269"/>
            <ac:picMk id="3" creationId="{0F6F8B4B-50BA-BA84-2D23-E9562BC9BCD0}"/>
          </ac:picMkLst>
        </pc:picChg>
        <pc:picChg chg="add del">
          <ac:chgData name="Lai, Wilson" userId="2840974a-0d84-4886-90a9-9a3ed79f3a48" providerId="ADAL" clId="{9F23B798-9E84-4552-BA63-E776E805C424}" dt="2026-09-28T08:39:51.137" v="115" actId="22"/>
          <ac:picMkLst>
            <pc:docMk/>
            <pc:sldMk cId="4250199871" sldId="269"/>
            <ac:picMk id="4" creationId="{B1220B0B-AC9A-0AEF-4DB4-6E696D80478D}"/>
          </ac:picMkLst>
        </pc:picChg>
        <pc:picChg chg="add">
          <ac:chgData name="Lai, Wilson" userId="2840974a-0d84-4886-90a9-9a3ed79f3a48" providerId="ADAL" clId="{9F23B798-9E84-4552-BA63-E776E805C424}" dt="2026-09-28T08:40:18.758" v="118" actId="22"/>
          <ac:picMkLst>
            <pc:docMk/>
            <pc:sldMk cId="4250199871" sldId="269"/>
            <ac:picMk id="6" creationId="{B81E2B2D-08C6-354A-10CA-1B6B3D2B5D19}"/>
          </ac:picMkLst>
        </pc:picChg>
      </pc:sldChg>
      <pc:sldMasterChg chg="setBg">
        <pc:chgData name="Lai, Wilson" userId="2840974a-0d84-4886-90a9-9a3ed79f3a48" providerId="ADAL" clId="{9F23B798-9E84-4552-BA63-E776E805C424}" dt="2026-09-28T07:58:35.835" v="3"/>
        <pc:sldMasterMkLst>
          <pc:docMk/>
          <pc:sldMasterMk cId="4151991508"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2D08D7-3914-4801-8011-332354940E2F}" type="datetimeFigureOut">
              <a:rPr lang="en-US" smtClean="0"/>
              <a:t>10/20/2026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53E689-BB88-478C-BF9D-236BC0148800}" type="slidenum">
              <a:rPr lang="en-US" smtClean="0"/>
              <a:t>‹#›</a:t>
            </a:fld>
            <a:endParaRPr lang="en-US"/>
          </a:p>
        </p:txBody>
      </p:sp>
    </p:spTree>
    <p:extLst>
      <p:ext uri="{BB962C8B-B14F-4D97-AF65-F5344CB8AC3E}">
        <p14:creationId xmlns:p14="http://schemas.microsoft.com/office/powerpoint/2010/main" val="6084564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Good evening, everyone. Today, we are discussing one of the most persistent hurdles in modern enterprise IT: managing telemetry logs effectively across fragmented environments. </a:t>
            </a:r>
          </a:p>
          <a:p>
            <a:pPr lvl="0"/>
            <a:r>
              <a:rPr lang="en-US" sz="1200" kern="1200" dirty="0">
                <a:solidFill>
                  <a:schemeClr val="tx1"/>
                </a:solidFill>
                <a:effectLst/>
                <a:latin typeface="+mn-lt"/>
                <a:ea typeface="+mn-ea"/>
                <a:cs typeface="+mn-cs"/>
              </a:rPr>
              <a:t>Logs continue to live in disjointed silos—security teams use dedicated SIEMs, operations teams use APM platforms, and compliance teams rely on distinct audit stores.</a:t>
            </a:r>
          </a:p>
          <a:p>
            <a:pPr lvl="0"/>
            <a:r>
              <a:rPr lang="en-US" sz="1200" kern="1200" dirty="0">
                <a:solidFill>
                  <a:schemeClr val="tx1"/>
                </a:solidFill>
                <a:effectLst/>
                <a:latin typeface="+mn-lt"/>
                <a:ea typeface="+mn-ea"/>
                <a:cs typeface="+mn-cs"/>
              </a:rPr>
              <a:t>As organizations transition toward AI-first operating models, this fragmentation creates massive friction. You cannot run effective AI models over isolated data pools. </a:t>
            </a:r>
          </a:p>
          <a:p>
            <a:pPr lvl="0"/>
            <a:r>
              <a:rPr lang="en-US" sz="1200" kern="1200" dirty="0">
                <a:solidFill>
                  <a:schemeClr val="tx1"/>
                </a:solidFill>
                <a:effectLst/>
                <a:latin typeface="+mn-lt"/>
                <a:ea typeface="+mn-ea"/>
                <a:cs typeface="+mn-cs"/>
              </a:rPr>
              <a:t>In this presentation, we will examine how unifying log collection through vendor-agnostic pipelines—specifically leveraging </a:t>
            </a:r>
            <a:r>
              <a:rPr lang="en-US" sz="1200" b="1" kern="1200" dirty="0" err="1">
                <a:solidFill>
                  <a:schemeClr val="tx1"/>
                </a:solidFill>
                <a:effectLst/>
                <a:latin typeface="+mn-lt"/>
                <a:ea typeface="+mn-ea"/>
                <a:cs typeface="+mn-cs"/>
              </a:rPr>
              <a:t>Bindplane</a:t>
            </a:r>
            <a:r>
              <a:rPr lang="en-US" sz="1200" kern="1200" dirty="0">
                <a:solidFill>
                  <a:schemeClr val="tx1"/>
                </a:solidFill>
                <a:effectLst/>
                <a:latin typeface="+mn-lt"/>
                <a:ea typeface="+mn-ea"/>
                <a:cs typeface="+mn-cs"/>
              </a:rPr>
              <a:t> alongside </a:t>
            </a:r>
            <a:r>
              <a:rPr lang="en-US" sz="1200" b="1" kern="1200" dirty="0">
                <a:solidFill>
                  <a:schemeClr val="tx1"/>
                </a:solidFill>
                <a:effectLst/>
                <a:latin typeface="+mn-lt"/>
                <a:ea typeface="+mn-ea"/>
                <a:cs typeface="+mn-cs"/>
              </a:rPr>
              <a:t>Dynatrace</a:t>
            </a:r>
            <a:r>
              <a:rPr lang="en-US" sz="1200" kern="1200" dirty="0">
                <a:solidFill>
                  <a:schemeClr val="tx1"/>
                </a:solidFill>
                <a:effectLst/>
                <a:latin typeface="+mn-lt"/>
                <a:ea typeface="+mn-ea"/>
                <a:cs typeface="+mn-cs"/>
              </a:rPr>
              <a:t>—allows us to eliminate data silos, centralize pipeline routing, and execute deterministic AI correlation across complex application landscapes.</a:t>
            </a:r>
          </a:p>
          <a:p>
            <a:endParaRPr lang="en-US" dirty="0"/>
          </a:p>
          <a:p>
            <a:endParaRPr lang="en-US" dirty="0"/>
          </a:p>
          <a:p>
            <a:endParaRPr lang="en-US" dirty="0"/>
          </a:p>
          <a:p>
            <a:r>
              <a:rPr lang="en-US" b="1" dirty="0"/>
              <a:t>Dynatrace x </a:t>
            </a:r>
            <a:r>
              <a:rPr lang="en-US" b="1" dirty="0" err="1"/>
              <a:t>Bindplane</a:t>
            </a:r>
            <a:r>
              <a:rPr lang="en-US" b="1" dirty="0"/>
              <a:t> - One Source Many Destinations with AI Analysis</a:t>
            </a:r>
          </a:p>
          <a:p>
            <a:r>
              <a:rPr lang="en-US" dirty="0"/>
              <a:t>https://www.youtube.com/watch?v=QSUPYC_ydas</a:t>
            </a:r>
          </a:p>
          <a:p>
            <a:endParaRPr lang="en-US" dirty="0"/>
          </a:p>
        </p:txBody>
      </p:sp>
      <p:sp>
        <p:nvSpPr>
          <p:cNvPr id="4" name="Slide Number Placeholder 3"/>
          <p:cNvSpPr>
            <a:spLocks noGrp="1"/>
          </p:cNvSpPr>
          <p:nvPr>
            <p:ph type="sldNum" sz="quarter" idx="5"/>
          </p:nvPr>
        </p:nvSpPr>
        <p:spPr/>
        <p:txBody>
          <a:bodyPr/>
          <a:lstStyle/>
          <a:p>
            <a:fld id="{7353E689-BB88-478C-BF9D-236BC0148800}" type="slidenum">
              <a:rPr lang="en-US" smtClean="0"/>
              <a:t>1</a:t>
            </a:fld>
            <a:endParaRPr lang="en-US"/>
          </a:p>
        </p:txBody>
      </p:sp>
    </p:spTree>
    <p:extLst>
      <p:ext uri="{BB962C8B-B14F-4D97-AF65-F5344CB8AC3E}">
        <p14:creationId xmlns:p14="http://schemas.microsoft.com/office/powerpoint/2010/main" val="2733363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Let's take a closer look at the actual state of modern log management in enterprise ecosystems. </a:t>
            </a:r>
          </a:p>
          <a:p>
            <a:pPr lvl="0"/>
            <a:r>
              <a:rPr lang="en-US" sz="1200" kern="1200" dirty="0">
                <a:solidFill>
                  <a:schemeClr val="tx1"/>
                </a:solidFill>
                <a:effectLst/>
                <a:latin typeface="+mn-lt"/>
                <a:ea typeface="+mn-ea"/>
                <a:cs typeface="+mn-cs"/>
              </a:rPr>
              <a:t>A single business transaction rarely lives inside a single microservice or server. It traverses multiple architectural layers: front-end client web applications, back-end APIs, authentication services, database layers, and third-party gateways. </a:t>
            </a:r>
          </a:p>
          <a:p>
            <a:pPr lvl="0"/>
            <a:r>
              <a:rPr lang="en-US" sz="1200" kern="1200" dirty="0">
                <a:solidFill>
                  <a:schemeClr val="tx1"/>
                </a:solidFill>
                <a:effectLst/>
                <a:latin typeface="+mn-lt"/>
                <a:ea typeface="+mn-ea"/>
                <a:cs typeface="+mn-cs"/>
              </a:rPr>
              <a:t>Because teams deploy siloed tooling—Security Logs into a SIEM, Application Logs into APM, and Audit Logs into separate storage—context is systematically destroyed as data crosses these disjointed boundaries.</a:t>
            </a:r>
          </a:p>
          <a:p>
            <a:pPr lvl="0"/>
            <a:r>
              <a:rPr lang="en-US" sz="1200" kern="1200" dirty="0">
                <a:solidFill>
                  <a:schemeClr val="tx1"/>
                </a:solidFill>
                <a:effectLst/>
                <a:latin typeface="+mn-lt"/>
                <a:ea typeface="+mn-ea"/>
                <a:cs typeface="+mn-cs"/>
              </a:rPr>
              <a:t>When an incident occurs or a transaction fails, engineers are forced into manual correlation. They manually query different systems using disparate query languages, attempting to piece together the lifecycle of a single request across multiple tool interfaces. </a:t>
            </a:r>
          </a:p>
          <a:p>
            <a:pPr lvl="0"/>
            <a:r>
              <a:rPr lang="en-US" sz="1200" kern="1200" dirty="0">
                <a:solidFill>
                  <a:schemeClr val="tx1"/>
                </a:solidFill>
                <a:effectLst/>
                <a:latin typeface="+mn-lt"/>
                <a:ea typeface="+mn-ea"/>
                <a:cs typeface="+mn-cs"/>
              </a:rPr>
              <a:t>This manual process inflates Mean Time to Resolution (MTTR) from minutes to hours.</a:t>
            </a:r>
          </a:p>
        </p:txBody>
      </p:sp>
      <p:sp>
        <p:nvSpPr>
          <p:cNvPr id="4" name="Slide Number Placeholder 3"/>
          <p:cNvSpPr>
            <a:spLocks noGrp="1"/>
          </p:cNvSpPr>
          <p:nvPr>
            <p:ph type="sldNum" sz="quarter" idx="5"/>
          </p:nvPr>
        </p:nvSpPr>
        <p:spPr/>
        <p:txBody>
          <a:bodyPr/>
          <a:lstStyle/>
          <a:p>
            <a:fld id="{7353E689-BB88-478C-BF9D-236BC0148800}" type="slidenum">
              <a:rPr lang="en-US" smtClean="0"/>
              <a:t>2</a:t>
            </a:fld>
            <a:endParaRPr lang="en-US"/>
          </a:p>
        </p:txBody>
      </p:sp>
    </p:spTree>
    <p:extLst>
      <p:ext uri="{BB962C8B-B14F-4D97-AF65-F5344CB8AC3E}">
        <p14:creationId xmlns:p14="http://schemas.microsoft.com/office/powerpoint/2010/main" val="28113778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A critical concept in moving to an AI-first architecture is understanding that </a:t>
            </a:r>
            <a:r>
              <a:rPr lang="en-US" sz="1200" b="1" kern="1200" dirty="0">
                <a:solidFill>
                  <a:schemeClr val="tx1"/>
                </a:solidFill>
                <a:effectLst/>
                <a:latin typeface="+mn-lt"/>
                <a:ea typeface="+mn-ea"/>
                <a:cs typeface="+mn-cs"/>
              </a:rPr>
              <a:t>more data does not equal better AI</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In fact, feeding raw, </a:t>
            </a:r>
            <a:r>
              <a:rPr lang="en-US" sz="1200" kern="1200" dirty="0" err="1">
                <a:solidFill>
                  <a:schemeClr val="tx1"/>
                </a:solidFill>
                <a:effectLst/>
                <a:latin typeface="+mn-lt"/>
                <a:ea typeface="+mn-ea"/>
                <a:cs typeface="+mn-cs"/>
              </a:rPr>
              <a:t>uncurated</a:t>
            </a:r>
            <a:r>
              <a:rPr lang="en-US" sz="1200" kern="1200" dirty="0">
                <a:solidFill>
                  <a:schemeClr val="tx1"/>
                </a:solidFill>
                <a:effectLst/>
                <a:latin typeface="+mn-lt"/>
                <a:ea typeface="+mn-ea"/>
                <a:cs typeface="+mn-cs"/>
              </a:rPr>
              <a:t>, high-volume telemetry directly into AI engines leads to noise, delayed analysis, and unnecessary ingestion costs.</a:t>
            </a:r>
          </a:p>
          <a:p>
            <a:pPr lvl="0"/>
            <a:r>
              <a:rPr lang="en-US" sz="1200" kern="1200" dirty="0">
                <a:solidFill>
                  <a:schemeClr val="tx1"/>
                </a:solidFill>
                <a:effectLst/>
                <a:latin typeface="+mn-lt"/>
                <a:ea typeface="+mn-ea"/>
                <a:cs typeface="+mn-cs"/>
              </a:rPr>
              <a:t>As noted in our discussions on AI efficiency: </a:t>
            </a:r>
            <a:r>
              <a:rPr lang="en-US" sz="1200" i="1" kern="1200" dirty="0">
                <a:solidFill>
                  <a:schemeClr val="tx1"/>
                </a:solidFill>
                <a:effectLst/>
                <a:latin typeface="+mn-lt"/>
                <a:ea typeface="+mn-ea"/>
                <a:cs typeface="+mn-cs"/>
              </a:rPr>
              <a:t>'Garbage in is garbage out.'</a:t>
            </a:r>
            <a:r>
              <a:rPr lang="en-US" sz="1200" kern="1200" dirty="0">
                <a:solidFill>
                  <a:schemeClr val="tx1"/>
                </a:solidFill>
                <a:effectLst/>
                <a:latin typeface="+mn-lt"/>
                <a:ea typeface="+mn-ea"/>
                <a:cs typeface="+mn-cs"/>
              </a:rPr>
              <a:t> AI systems depend heavily on high-fidelity context. </a:t>
            </a:r>
          </a:p>
          <a:p>
            <a:pPr lvl="0"/>
            <a:r>
              <a:rPr lang="en-US" sz="1200" kern="1200" dirty="0">
                <a:solidFill>
                  <a:schemeClr val="tx1"/>
                </a:solidFill>
                <a:effectLst/>
                <a:latin typeface="+mn-lt"/>
                <a:ea typeface="+mn-ea"/>
                <a:cs typeface="+mn-cs"/>
              </a:rPr>
              <a:t>This slide illustrates the </a:t>
            </a:r>
            <a:r>
              <a:rPr lang="en-US" sz="1200" b="1" kern="1200" dirty="0">
                <a:solidFill>
                  <a:schemeClr val="tx1"/>
                </a:solidFill>
                <a:effectLst/>
                <a:latin typeface="+mn-lt"/>
                <a:ea typeface="+mn-ea"/>
                <a:cs typeface="+mn-cs"/>
              </a:rPr>
              <a:t>AI Data Readiness Filter</a:t>
            </a:r>
            <a:r>
              <a:rPr lang="en-US" sz="1200" kern="1200" dirty="0">
                <a:solidFill>
                  <a:schemeClr val="tx1"/>
                </a:solidFill>
                <a:effectLst/>
                <a:latin typeface="+mn-lt"/>
                <a:ea typeface="+mn-ea"/>
                <a:cs typeface="+mn-cs"/>
              </a:rPr>
              <a:t> pipeline: </a:t>
            </a:r>
          </a:p>
          <a:p>
            <a:pPr marL="228600" lvl="0" indent="-228600">
              <a:buFont typeface="+mj-lt"/>
              <a:buAutoNum type="arabicPeriod"/>
            </a:pPr>
            <a:r>
              <a:rPr lang="en-US" sz="1200" b="1" kern="1200" dirty="0">
                <a:solidFill>
                  <a:schemeClr val="tx1"/>
                </a:solidFill>
                <a:effectLst/>
                <a:latin typeface="+mn-lt"/>
                <a:ea typeface="+mn-ea"/>
                <a:cs typeface="+mn-cs"/>
              </a:rPr>
              <a:t>Unfiltered Ingestion:</a:t>
            </a:r>
            <a:r>
              <a:rPr lang="en-US" sz="1200" kern="1200" dirty="0">
                <a:solidFill>
                  <a:schemeClr val="tx1"/>
                </a:solidFill>
                <a:effectLst/>
                <a:latin typeface="+mn-lt"/>
                <a:ea typeface="+mn-ea"/>
                <a:cs typeface="+mn-cs"/>
              </a:rPr>
              <a:t> Capturing raw log events at the edge. </a:t>
            </a:r>
          </a:p>
          <a:p>
            <a:pPr marL="228600" lvl="0" indent="-228600">
              <a:buFont typeface="+mj-lt"/>
              <a:buAutoNum type="arabicPeriod"/>
            </a:pPr>
            <a:r>
              <a:rPr lang="en-US" sz="1200" b="1" kern="1200" dirty="0">
                <a:solidFill>
                  <a:schemeClr val="tx1"/>
                </a:solidFill>
                <a:effectLst/>
                <a:latin typeface="+mn-lt"/>
                <a:ea typeface="+mn-ea"/>
                <a:cs typeface="+mn-cs"/>
              </a:rPr>
              <a:t>Trimming the Garbage:</a:t>
            </a:r>
            <a:r>
              <a:rPr lang="en-US" sz="1200" kern="1200" dirty="0">
                <a:solidFill>
                  <a:schemeClr val="tx1"/>
                </a:solidFill>
                <a:effectLst/>
                <a:latin typeface="+mn-lt"/>
                <a:ea typeface="+mn-ea"/>
                <a:cs typeface="+mn-cs"/>
              </a:rPr>
              <a:t> Filtering out debug noise, routine health checks, and redundant events at the gateway layer before reaching storage. </a:t>
            </a:r>
          </a:p>
          <a:p>
            <a:pPr marL="228600" lvl="0" indent="-228600">
              <a:buFont typeface="+mj-lt"/>
              <a:buAutoNum type="arabicPeriod"/>
            </a:pPr>
            <a:r>
              <a:rPr lang="en-US" sz="1200" b="1" kern="1200" dirty="0">
                <a:solidFill>
                  <a:schemeClr val="tx1"/>
                </a:solidFill>
                <a:effectLst/>
                <a:latin typeface="+mn-lt"/>
                <a:ea typeface="+mn-ea"/>
                <a:cs typeface="+mn-cs"/>
              </a:rPr>
              <a:t>AI-Ready Data:</a:t>
            </a:r>
            <a:r>
              <a:rPr lang="en-US" sz="1200" kern="1200" dirty="0">
                <a:solidFill>
                  <a:schemeClr val="tx1"/>
                </a:solidFill>
                <a:effectLst/>
                <a:latin typeface="+mn-lt"/>
                <a:ea typeface="+mn-ea"/>
                <a:cs typeface="+mn-cs"/>
              </a:rPr>
              <a:t> Streaming structured, clean, context-rich telemetry into the AI analytical layer. </a:t>
            </a:r>
          </a:p>
          <a:p>
            <a:pPr lvl="0"/>
            <a:r>
              <a:rPr lang="en-US" sz="1200" kern="1200" dirty="0">
                <a:solidFill>
                  <a:schemeClr val="tx1"/>
                </a:solidFill>
                <a:effectLst/>
                <a:latin typeface="+mn-lt"/>
                <a:ea typeface="+mn-ea"/>
                <a:cs typeface="+mn-cs"/>
              </a:rPr>
              <a:t>By prioritizing data hygiene over pure volume, we ensure that AI tools like Dynatrace Assist process highly relevant context, yielding precise dependencies without performance bottlenecks.</a:t>
            </a:r>
          </a:p>
        </p:txBody>
      </p:sp>
      <p:sp>
        <p:nvSpPr>
          <p:cNvPr id="4" name="Slide Number Placeholder 3"/>
          <p:cNvSpPr>
            <a:spLocks noGrp="1"/>
          </p:cNvSpPr>
          <p:nvPr>
            <p:ph type="sldNum" sz="quarter" idx="5"/>
          </p:nvPr>
        </p:nvSpPr>
        <p:spPr/>
        <p:txBody>
          <a:bodyPr/>
          <a:lstStyle/>
          <a:p>
            <a:fld id="{7353E689-BB88-478C-BF9D-236BC0148800}" type="slidenum">
              <a:rPr lang="en-US" smtClean="0"/>
              <a:t>3</a:t>
            </a:fld>
            <a:endParaRPr lang="en-US"/>
          </a:p>
        </p:txBody>
      </p:sp>
    </p:spTree>
    <p:extLst>
      <p:ext uri="{BB962C8B-B14F-4D97-AF65-F5344CB8AC3E}">
        <p14:creationId xmlns:p14="http://schemas.microsoft.com/office/powerpoint/2010/main" val="7437571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To fix log fragmentation, we must redefine the architectural foundation. Let's compare traditional log setups against our modernized </a:t>
            </a:r>
            <a:r>
              <a:rPr lang="en-US" sz="1200" b="1" kern="1200" dirty="0" err="1">
                <a:solidFill>
                  <a:schemeClr val="tx1"/>
                </a:solidFill>
                <a:effectLst/>
                <a:latin typeface="+mn-lt"/>
                <a:ea typeface="+mn-ea"/>
                <a:cs typeface="+mn-cs"/>
              </a:rPr>
              <a:t>Bindplane</a:t>
            </a:r>
            <a:r>
              <a:rPr lang="en-US" sz="1200" b="1" kern="1200" dirty="0">
                <a:solidFill>
                  <a:schemeClr val="tx1"/>
                </a:solidFill>
                <a:effectLst/>
                <a:latin typeface="+mn-lt"/>
                <a:ea typeface="+mn-ea"/>
                <a:cs typeface="+mn-cs"/>
              </a:rPr>
              <a:t> + Dynatrace</a:t>
            </a:r>
            <a:r>
              <a:rPr lang="en-US" sz="1200" kern="1200" dirty="0">
                <a:solidFill>
                  <a:schemeClr val="tx1"/>
                </a:solidFill>
                <a:effectLst/>
                <a:latin typeface="+mn-lt"/>
                <a:ea typeface="+mn-ea"/>
                <a:cs typeface="+mn-cs"/>
              </a:rPr>
              <a:t> framework across four core dimensions: </a:t>
            </a:r>
          </a:p>
          <a:p>
            <a:pPr lvl="0"/>
            <a:r>
              <a:rPr lang="en-US" sz="1200" kern="1200" dirty="0">
                <a:solidFill>
                  <a:schemeClr val="tx1"/>
                </a:solidFill>
                <a:effectLst/>
                <a:latin typeface="+mn-lt"/>
                <a:ea typeface="+mn-ea"/>
                <a:cs typeface="+mn-cs"/>
              </a:rPr>
              <a:t>1. </a:t>
            </a:r>
            <a:r>
              <a:rPr lang="en-US" sz="1200" b="1" kern="1200" dirty="0">
                <a:solidFill>
                  <a:schemeClr val="tx1"/>
                </a:solidFill>
                <a:effectLst/>
                <a:latin typeface="+mn-lt"/>
                <a:ea typeface="+mn-ea"/>
                <a:cs typeface="+mn-cs"/>
              </a:rPr>
              <a:t>Data Routing:</a:t>
            </a:r>
            <a:r>
              <a:rPr lang="en-US" sz="1200" kern="1200" dirty="0">
                <a:solidFill>
                  <a:schemeClr val="tx1"/>
                </a:solidFill>
                <a:effectLst/>
                <a:latin typeface="+mn-lt"/>
                <a:ea typeface="+mn-ea"/>
                <a:cs typeface="+mn-cs"/>
              </a:rPr>
              <a:t> Traditional pipelines lock you into vendor-proprietary agents and paths. With </a:t>
            </a:r>
            <a:r>
              <a:rPr lang="en-US" sz="1200" kern="1200" dirty="0" err="1">
                <a:solidFill>
                  <a:schemeClr val="tx1"/>
                </a:solidFill>
                <a:effectLst/>
                <a:latin typeface="+mn-lt"/>
                <a:ea typeface="+mn-ea"/>
                <a:cs typeface="+mn-cs"/>
              </a:rPr>
              <a:t>Bindplane</a:t>
            </a:r>
            <a:r>
              <a:rPr lang="en-US" sz="1200" kern="1200" dirty="0">
                <a:solidFill>
                  <a:schemeClr val="tx1"/>
                </a:solidFill>
                <a:effectLst/>
                <a:latin typeface="+mn-lt"/>
                <a:ea typeface="+mn-ea"/>
                <a:cs typeface="+mn-cs"/>
              </a:rPr>
              <a:t>, ingestion becomes vendor-agnostic, capable of routing telemetry to infinite destinations simultaneously. </a:t>
            </a:r>
          </a:p>
          <a:p>
            <a:pPr lvl="0"/>
            <a:r>
              <a:rPr lang="en-US" sz="1200" kern="1200" dirty="0">
                <a:solidFill>
                  <a:schemeClr val="tx1"/>
                </a:solidFill>
                <a:effectLst/>
                <a:latin typeface="+mn-lt"/>
                <a:ea typeface="+mn-ea"/>
                <a:cs typeface="+mn-cs"/>
              </a:rPr>
              <a:t>2. </a:t>
            </a:r>
            <a:r>
              <a:rPr lang="en-US" sz="1200" b="1" kern="1200" dirty="0">
                <a:solidFill>
                  <a:schemeClr val="tx1"/>
                </a:solidFill>
                <a:effectLst/>
                <a:latin typeface="+mn-lt"/>
                <a:ea typeface="+mn-ea"/>
                <a:cs typeface="+mn-cs"/>
              </a:rPr>
              <a:t>Architectural Overhead:</a:t>
            </a:r>
            <a:r>
              <a:rPr lang="en-US" sz="1200" kern="1200" dirty="0">
                <a:solidFill>
                  <a:schemeClr val="tx1"/>
                </a:solidFill>
                <a:effectLst/>
                <a:latin typeface="+mn-lt"/>
                <a:ea typeface="+mn-ea"/>
                <a:cs typeface="+mn-cs"/>
              </a:rPr>
              <a:t> Legacy setups often run multiple heavy edge agents duplicating raw data directly on client host servers. We move duplication off application nodes and handle it centrally at the gateway level. </a:t>
            </a:r>
          </a:p>
          <a:p>
            <a:pPr lvl="0"/>
            <a:r>
              <a:rPr lang="en-US" sz="1200" kern="1200" dirty="0">
                <a:solidFill>
                  <a:schemeClr val="tx1"/>
                </a:solidFill>
                <a:effectLst/>
                <a:latin typeface="+mn-lt"/>
                <a:ea typeface="+mn-ea"/>
                <a:cs typeface="+mn-cs"/>
              </a:rPr>
              <a:t>3. </a:t>
            </a:r>
            <a:r>
              <a:rPr lang="en-US" sz="1200" b="1" kern="1200" dirty="0">
                <a:solidFill>
                  <a:schemeClr val="tx1"/>
                </a:solidFill>
                <a:effectLst/>
                <a:latin typeface="+mn-lt"/>
                <a:ea typeface="+mn-ea"/>
                <a:cs typeface="+mn-cs"/>
              </a:rPr>
              <a:t>Transaction Stitching:</a:t>
            </a:r>
            <a:r>
              <a:rPr lang="en-US" sz="1200" kern="1200" dirty="0">
                <a:solidFill>
                  <a:schemeClr val="tx1"/>
                </a:solidFill>
                <a:effectLst/>
                <a:latin typeface="+mn-lt"/>
                <a:ea typeface="+mn-ea"/>
                <a:cs typeface="+mn-cs"/>
              </a:rPr>
              <a:t> Instead of writing complex manual queries (like DQL) across siloed systems, we enforce automated alignment via standardized </a:t>
            </a:r>
            <a:r>
              <a:rPr lang="en-US" sz="1200" b="1" kern="1200" dirty="0" err="1">
                <a:solidFill>
                  <a:schemeClr val="tx1"/>
                </a:solidFill>
                <a:effectLst/>
                <a:latin typeface="+mn-lt"/>
                <a:ea typeface="+mn-ea"/>
                <a:cs typeface="+mn-cs"/>
              </a:rPr>
              <a:t>OpenTelemetry</a:t>
            </a:r>
            <a:r>
              <a:rPr lang="en-US" sz="1200" b="1" kern="1200" dirty="0">
                <a:solidFill>
                  <a:schemeClr val="tx1"/>
                </a:solidFill>
                <a:effectLst/>
                <a:latin typeface="+mn-lt"/>
                <a:ea typeface="+mn-ea"/>
                <a:cs typeface="+mn-cs"/>
              </a:rPr>
              <a:t> Trace IDs</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4. </a:t>
            </a:r>
            <a:r>
              <a:rPr lang="en-US" sz="1200" b="1" kern="1200" dirty="0">
                <a:solidFill>
                  <a:schemeClr val="tx1"/>
                </a:solidFill>
                <a:effectLst/>
                <a:latin typeface="+mn-lt"/>
                <a:ea typeface="+mn-ea"/>
                <a:cs typeface="+mn-cs"/>
              </a:rPr>
              <a:t>Analytical Engine:</a:t>
            </a:r>
            <a:r>
              <a:rPr lang="en-US" sz="1200" kern="1200" dirty="0">
                <a:solidFill>
                  <a:schemeClr val="tx1"/>
                </a:solidFill>
                <a:effectLst/>
                <a:latin typeface="+mn-lt"/>
                <a:ea typeface="+mn-ea"/>
                <a:cs typeface="+mn-cs"/>
              </a:rPr>
              <a:t> Traditional AI features rely on probabilistic models trained on generic public datasets, which risks hallucinations. Dynatrace Assist operates deterministically within tenant-specific boundaries, evaluating actual system dependencies. </a:t>
            </a:r>
          </a:p>
        </p:txBody>
      </p:sp>
      <p:sp>
        <p:nvSpPr>
          <p:cNvPr id="4" name="Slide Number Placeholder 3"/>
          <p:cNvSpPr>
            <a:spLocks noGrp="1"/>
          </p:cNvSpPr>
          <p:nvPr>
            <p:ph type="sldNum" sz="quarter" idx="5"/>
          </p:nvPr>
        </p:nvSpPr>
        <p:spPr/>
        <p:txBody>
          <a:bodyPr/>
          <a:lstStyle/>
          <a:p>
            <a:fld id="{7353E689-BB88-478C-BF9D-236BC0148800}" type="slidenum">
              <a:rPr lang="en-US" smtClean="0"/>
              <a:t>4</a:t>
            </a:fld>
            <a:endParaRPr lang="en-US"/>
          </a:p>
        </p:txBody>
      </p:sp>
    </p:spTree>
    <p:extLst>
      <p:ext uri="{BB962C8B-B14F-4D97-AF65-F5344CB8AC3E}">
        <p14:creationId xmlns:p14="http://schemas.microsoft.com/office/powerpoint/2010/main" val="30741318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Here we examine the dual-component model of this architecture: </a:t>
            </a:r>
            <a:r>
              <a:rPr lang="en-US" sz="1200" b="1" kern="1200" dirty="0">
                <a:solidFill>
                  <a:schemeClr val="tx1"/>
                </a:solidFill>
                <a:effectLst/>
                <a:latin typeface="+mn-lt"/>
                <a:ea typeface="+mn-ea"/>
                <a:cs typeface="+mn-cs"/>
              </a:rPr>
              <a:t>The Vendor-Neutral Pipeline (</a:t>
            </a:r>
            <a:r>
              <a:rPr lang="en-US" sz="1200" b="1" kern="1200" dirty="0" err="1">
                <a:solidFill>
                  <a:schemeClr val="tx1"/>
                </a:solidFill>
                <a:effectLst/>
                <a:latin typeface="+mn-lt"/>
                <a:ea typeface="+mn-ea"/>
                <a:cs typeface="+mn-cs"/>
              </a:rPr>
              <a:t>Bindplane</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and </a:t>
            </a:r>
            <a:r>
              <a:rPr lang="en-US" sz="1200" b="1" kern="1200" dirty="0">
                <a:solidFill>
                  <a:schemeClr val="tx1"/>
                </a:solidFill>
                <a:effectLst/>
                <a:latin typeface="+mn-lt"/>
                <a:ea typeface="+mn-ea"/>
                <a:cs typeface="+mn-cs"/>
              </a:rPr>
              <a:t>The Deterministic AI Engine (Dynatrace Assist)</a:t>
            </a:r>
            <a:r>
              <a:rPr lang="en-US" sz="1200" kern="1200" dirty="0">
                <a:solidFill>
                  <a:schemeClr val="tx1"/>
                </a:solidFill>
                <a:effectLst/>
                <a:latin typeface="+mn-lt"/>
                <a:ea typeface="+mn-ea"/>
                <a:cs typeface="+mn-cs"/>
              </a:rPr>
              <a:t>. </a:t>
            </a:r>
          </a:p>
          <a:p>
            <a:pPr lvl="0"/>
            <a:r>
              <a:rPr lang="en-US" sz="1200" b="1" kern="1200" dirty="0" err="1">
                <a:solidFill>
                  <a:schemeClr val="tx1"/>
                </a:solidFill>
                <a:effectLst/>
                <a:latin typeface="+mn-lt"/>
                <a:ea typeface="+mn-ea"/>
                <a:cs typeface="+mn-cs"/>
              </a:rPr>
              <a:t>Bindplane</a:t>
            </a:r>
            <a:r>
              <a:rPr lang="en-US" sz="1200" kern="1200" dirty="0">
                <a:solidFill>
                  <a:schemeClr val="tx1"/>
                </a:solidFill>
                <a:effectLst/>
                <a:latin typeface="+mn-lt"/>
                <a:ea typeface="+mn-ea"/>
                <a:cs typeface="+mn-cs"/>
              </a:rPr>
              <a:t> acts as the ingestion workhorse. It collects telemetry from any log source or system agent using hundreds of out-of-the-box connectors or custom APIs. It then processes and streams those logs into multiple targets concurrently—for example, sending operational metrics to Dynatrace, cold compliance logs to an AWS S3 bucket, and security events to a SIEM. </a:t>
            </a:r>
          </a:p>
          <a:p>
            <a:pPr lvl="0"/>
            <a:r>
              <a:rPr lang="en-US" sz="1200" b="1" kern="1200" dirty="0">
                <a:solidFill>
                  <a:schemeClr val="tx1"/>
                </a:solidFill>
                <a:effectLst/>
                <a:latin typeface="+mn-lt"/>
                <a:ea typeface="+mn-ea"/>
                <a:cs typeface="+mn-cs"/>
              </a:rPr>
              <a:t>Dynatrace Assist</a:t>
            </a:r>
            <a:r>
              <a:rPr lang="en-US" sz="1200" kern="1200" dirty="0">
                <a:solidFill>
                  <a:schemeClr val="tx1"/>
                </a:solidFill>
                <a:effectLst/>
                <a:latin typeface="+mn-lt"/>
                <a:ea typeface="+mn-ea"/>
                <a:cs typeface="+mn-cs"/>
              </a:rPr>
              <a:t> overlays this unified, curated telemetry. Because the incoming telemetry is structured and clean, the AI automatically maps dependency relationships across services and stitches full transaction narratives without making probabilistic guesses. </a:t>
            </a:r>
          </a:p>
        </p:txBody>
      </p:sp>
      <p:sp>
        <p:nvSpPr>
          <p:cNvPr id="4" name="Slide Number Placeholder 3"/>
          <p:cNvSpPr>
            <a:spLocks noGrp="1"/>
          </p:cNvSpPr>
          <p:nvPr>
            <p:ph type="sldNum" sz="quarter" idx="5"/>
          </p:nvPr>
        </p:nvSpPr>
        <p:spPr/>
        <p:txBody>
          <a:bodyPr/>
          <a:lstStyle/>
          <a:p>
            <a:fld id="{7353E689-BB88-478C-BF9D-236BC0148800}" type="slidenum">
              <a:rPr lang="en-US" smtClean="0"/>
              <a:t>5</a:t>
            </a:fld>
            <a:endParaRPr lang="en-US"/>
          </a:p>
        </p:txBody>
      </p:sp>
    </p:spTree>
    <p:extLst>
      <p:ext uri="{BB962C8B-B14F-4D97-AF65-F5344CB8AC3E}">
        <p14:creationId xmlns:p14="http://schemas.microsoft.com/office/powerpoint/2010/main" val="11271862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Architecturally, how do we handle duplicating log data to multiple systems without overwhelming host servers? </a:t>
            </a:r>
          </a:p>
          <a:p>
            <a:pPr lvl="0"/>
            <a:r>
              <a:rPr lang="en-US" sz="1200" kern="1200" dirty="0">
                <a:solidFill>
                  <a:schemeClr val="tx1"/>
                </a:solidFill>
                <a:effectLst/>
                <a:latin typeface="+mn-lt"/>
                <a:ea typeface="+mn-ea"/>
                <a:cs typeface="+mn-cs"/>
              </a:rPr>
              <a:t>Look at </a:t>
            </a:r>
            <a:r>
              <a:rPr lang="en-US" sz="1200" b="1" kern="1200" dirty="0">
                <a:solidFill>
                  <a:schemeClr val="tx1"/>
                </a:solidFill>
                <a:effectLst/>
                <a:latin typeface="+mn-lt"/>
                <a:ea typeface="+mn-ea"/>
                <a:cs typeface="+mn-cs"/>
              </a:rPr>
              <a:t>Schematic A (Edge Collector Model)</a:t>
            </a:r>
            <a:r>
              <a:rPr lang="en-US" sz="1200" kern="1200" dirty="0">
                <a:solidFill>
                  <a:schemeClr val="tx1"/>
                </a:solidFill>
                <a:effectLst/>
                <a:latin typeface="+mn-lt"/>
                <a:ea typeface="+mn-ea"/>
                <a:cs typeface="+mn-cs"/>
              </a:rPr>
              <a:t>. If an agent on an application server (e.g., a Linux host) is tasked with formatting and sending identical data streams to Dynatrace, S3, and a SIEM simultaneously, network bandwidth and CPU/memory consumption double or triple on that production box. </a:t>
            </a:r>
          </a:p>
          <a:p>
            <a:pPr lvl="0"/>
            <a:r>
              <a:rPr lang="en-US" sz="1200" kern="1200" dirty="0">
                <a:solidFill>
                  <a:schemeClr val="tx1"/>
                </a:solidFill>
                <a:effectLst/>
                <a:latin typeface="+mn-lt"/>
                <a:ea typeface="+mn-ea"/>
                <a:cs typeface="+mn-cs"/>
              </a:rPr>
              <a:t>Now review </a:t>
            </a:r>
            <a:r>
              <a:rPr lang="en-US" sz="1200" b="1" kern="1200" dirty="0">
                <a:solidFill>
                  <a:schemeClr val="tx1"/>
                </a:solidFill>
                <a:effectLst/>
                <a:latin typeface="+mn-lt"/>
                <a:ea typeface="+mn-ea"/>
                <a:cs typeface="+mn-cs"/>
              </a:rPr>
              <a:t>Schematic B (Gateway Model)</a:t>
            </a:r>
            <a:r>
              <a:rPr lang="en-US" sz="1200" kern="1200" dirty="0">
                <a:solidFill>
                  <a:schemeClr val="tx1"/>
                </a:solidFill>
                <a:effectLst/>
                <a:latin typeface="+mn-lt"/>
                <a:ea typeface="+mn-ea"/>
                <a:cs typeface="+mn-cs"/>
              </a:rPr>
              <a:t>. The edge collector running on the application server sends a single, lightweight stream to a </a:t>
            </a:r>
            <a:r>
              <a:rPr lang="en-US" sz="1200" b="1" kern="1200" dirty="0" err="1">
                <a:solidFill>
                  <a:schemeClr val="tx1"/>
                </a:solidFill>
                <a:effectLst/>
                <a:latin typeface="+mn-lt"/>
                <a:ea typeface="+mn-ea"/>
                <a:cs typeface="+mn-cs"/>
              </a:rPr>
              <a:t>Bindplane</a:t>
            </a:r>
            <a:r>
              <a:rPr lang="en-US" sz="1200" b="1" kern="1200" dirty="0">
                <a:solidFill>
                  <a:schemeClr val="tx1"/>
                </a:solidFill>
                <a:effectLst/>
                <a:latin typeface="+mn-lt"/>
                <a:ea typeface="+mn-ea"/>
                <a:cs typeface="+mn-cs"/>
              </a:rPr>
              <a:t> Gateway</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The Gateway handles all parsing, transformation, filtering, and fan-out duplication to Dynatrace, S3, and SIEM tools. This offloads compute overhead entirely from production application nodes, simplifying maintenance and improving edge performance. </a:t>
            </a:r>
          </a:p>
        </p:txBody>
      </p:sp>
      <p:sp>
        <p:nvSpPr>
          <p:cNvPr id="4" name="Slide Number Placeholder 3"/>
          <p:cNvSpPr>
            <a:spLocks noGrp="1"/>
          </p:cNvSpPr>
          <p:nvPr>
            <p:ph type="sldNum" sz="quarter" idx="5"/>
          </p:nvPr>
        </p:nvSpPr>
        <p:spPr/>
        <p:txBody>
          <a:bodyPr/>
          <a:lstStyle/>
          <a:p>
            <a:fld id="{7353E689-BB88-478C-BF9D-236BC0148800}" type="slidenum">
              <a:rPr lang="en-US" smtClean="0"/>
              <a:t>6</a:t>
            </a:fld>
            <a:endParaRPr lang="en-US"/>
          </a:p>
        </p:txBody>
      </p:sp>
    </p:spTree>
    <p:extLst>
      <p:ext uri="{BB962C8B-B14F-4D97-AF65-F5344CB8AC3E}">
        <p14:creationId xmlns:p14="http://schemas.microsoft.com/office/powerpoint/2010/main" val="17147321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A common architectural challenge is correlating front-end user actions with multi-tier back-end trace events. </a:t>
            </a:r>
          </a:p>
          <a:p>
            <a:pPr lvl="0"/>
            <a:r>
              <a:rPr lang="en-US" sz="1200" kern="1200" dirty="0">
                <a:solidFill>
                  <a:schemeClr val="tx1"/>
                </a:solidFill>
                <a:effectLst/>
                <a:latin typeface="+mn-lt"/>
                <a:ea typeface="+mn-ea"/>
                <a:cs typeface="+mn-cs"/>
              </a:rPr>
              <a:t>Consider a scenario where the front end uses Real User Monitoring (RUM) via Dynatrace JavaScript tags, while the microservice back end uses vendor-agnostic </a:t>
            </a:r>
            <a:r>
              <a:rPr lang="en-US" sz="1200" kern="1200" dirty="0" err="1">
                <a:solidFill>
                  <a:schemeClr val="tx1"/>
                </a:solidFill>
                <a:effectLst/>
                <a:latin typeface="+mn-lt"/>
                <a:ea typeface="+mn-ea"/>
                <a:cs typeface="+mn-cs"/>
              </a:rPr>
              <a:t>OpenTelemetry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OTel</a:t>
            </a:r>
            <a:r>
              <a:rPr lang="en-US" sz="1200" kern="1200" dirty="0">
                <a:solidFill>
                  <a:schemeClr val="tx1"/>
                </a:solidFill>
                <a:effectLst/>
                <a:latin typeface="+mn-lt"/>
                <a:ea typeface="+mn-ea"/>
                <a:cs typeface="+mn-cs"/>
              </a:rPr>
              <a:t>) collectors.</a:t>
            </a:r>
          </a:p>
          <a:p>
            <a:pPr lvl="0"/>
            <a:r>
              <a:rPr lang="en-US" sz="1200" kern="1200" dirty="0">
                <a:solidFill>
                  <a:schemeClr val="tx1"/>
                </a:solidFill>
                <a:effectLst/>
                <a:latin typeface="+mn-lt"/>
                <a:ea typeface="+mn-ea"/>
                <a:cs typeface="+mn-cs"/>
              </a:rPr>
              <a:t>Dynatrace natively supports </a:t>
            </a:r>
            <a:r>
              <a:rPr lang="en-US" sz="1200" kern="1200" dirty="0" err="1">
                <a:solidFill>
                  <a:schemeClr val="tx1"/>
                </a:solidFill>
                <a:effectLst/>
                <a:latin typeface="+mn-lt"/>
                <a:ea typeface="+mn-ea"/>
                <a:cs typeface="+mn-cs"/>
              </a:rPr>
              <a:t>OpenTelemetry</a:t>
            </a:r>
            <a:r>
              <a:rPr lang="en-US" sz="1200" kern="1200" dirty="0">
                <a:solidFill>
                  <a:schemeClr val="tx1"/>
                </a:solidFill>
                <a:effectLst/>
                <a:latin typeface="+mn-lt"/>
                <a:ea typeface="+mn-ea"/>
                <a:cs typeface="+mn-cs"/>
              </a:rPr>
              <a:t> log, metric, and trace ingestion alongside digital experience monitoring tags.</a:t>
            </a:r>
          </a:p>
          <a:p>
            <a:pPr lvl="0"/>
            <a:r>
              <a:rPr lang="en-US" sz="1200" kern="1200" dirty="0">
                <a:solidFill>
                  <a:schemeClr val="tx1"/>
                </a:solidFill>
                <a:effectLst/>
                <a:latin typeface="+mn-lt"/>
                <a:ea typeface="+mn-ea"/>
                <a:cs typeface="+mn-cs"/>
              </a:rPr>
              <a:t>By propagating standardized Correlation / Trace IDs from the JavaScript client request headers down through back-end </a:t>
            </a:r>
            <a:r>
              <a:rPr lang="en-US" sz="1200" kern="1200" dirty="0" err="1">
                <a:solidFill>
                  <a:schemeClr val="tx1"/>
                </a:solidFill>
                <a:effectLst/>
                <a:latin typeface="+mn-lt"/>
                <a:ea typeface="+mn-ea"/>
                <a:cs typeface="+mn-cs"/>
              </a:rPr>
              <a:t>OpenTelemetry</a:t>
            </a:r>
            <a:r>
              <a:rPr lang="en-US" sz="1200" kern="1200" dirty="0">
                <a:solidFill>
                  <a:schemeClr val="tx1"/>
                </a:solidFill>
                <a:effectLst/>
                <a:latin typeface="+mn-lt"/>
                <a:ea typeface="+mn-ea"/>
                <a:cs typeface="+mn-cs"/>
              </a:rPr>
              <a:t> layers, every hop preserves context.</a:t>
            </a:r>
          </a:p>
          <a:p>
            <a:pPr lvl="0"/>
            <a:r>
              <a:rPr lang="en-US" sz="1200" kern="1200" dirty="0">
                <a:solidFill>
                  <a:schemeClr val="tx1"/>
                </a:solidFill>
                <a:effectLst/>
                <a:latin typeface="+mn-lt"/>
                <a:ea typeface="+mn-ea"/>
                <a:cs typeface="+mn-cs"/>
              </a:rPr>
              <a:t>This seamless bridge allows front-end user sessions to be directly linked with back-end execution traces and log streams automatically.</a:t>
            </a:r>
          </a:p>
        </p:txBody>
      </p:sp>
      <p:sp>
        <p:nvSpPr>
          <p:cNvPr id="4" name="Slide Number Placeholder 3"/>
          <p:cNvSpPr>
            <a:spLocks noGrp="1"/>
          </p:cNvSpPr>
          <p:nvPr>
            <p:ph type="sldNum" sz="quarter" idx="5"/>
          </p:nvPr>
        </p:nvSpPr>
        <p:spPr/>
        <p:txBody>
          <a:bodyPr/>
          <a:lstStyle/>
          <a:p>
            <a:fld id="{7353E689-BB88-478C-BF9D-236BC0148800}" type="slidenum">
              <a:rPr lang="en-US" smtClean="0"/>
              <a:t>7</a:t>
            </a:fld>
            <a:endParaRPr lang="en-US"/>
          </a:p>
        </p:txBody>
      </p:sp>
    </p:spTree>
    <p:extLst>
      <p:ext uri="{BB962C8B-B14F-4D97-AF65-F5344CB8AC3E}">
        <p14:creationId xmlns:p14="http://schemas.microsoft.com/office/powerpoint/2010/main" val="32760229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Let's walk through an end-to-end multi-step transaction from the demo insurance application. </a:t>
            </a:r>
          </a:p>
          <a:p>
            <a:pPr lvl="0"/>
            <a:r>
              <a:rPr lang="en-US" sz="1200" kern="1200" dirty="0">
                <a:solidFill>
                  <a:schemeClr val="tx1"/>
                </a:solidFill>
                <a:effectLst/>
                <a:latin typeface="+mn-lt"/>
                <a:ea typeface="+mn-ea"/>
                <a:cs typeface="+mn-cs"/>
              </a:rPr>
              <a:t>The business transaction spans seven distinct stages:</a:t>
            </a:r>
          </a:p>
          <a:p>
            <a:pPr marL="228600" lvl="0" indent="-228600">
              <a:buFont typeface="+mj-lt"/>
              <a:buAutoNum type="arabicPeriod"/>
            </a:pPr>
            <a:r>
              <a:rPr lang="en-US" sz="1200" kern="1200" dirty="0">
                <a:solidFill>
                  <a:schemeClr val="tx1"/>
                </a:solidFill>
                <a:effectLst/>
                <a:latin typeface="+mn-lt"/>
                <a:ea typeface="+mn-ea"/>
                <a:cs typeface="+mn-cs"/>
              </a:rPr>
              <a:t>Proposal Submission </a:t>
            </a:r>
          </a:p>
          <a:p>
            <a:pPr marL="228600" lvl="0" indent="-228600">
              <a:buFont typeface="+mj-lt"/>
              <a:buAutoNum type="arabicPeriod"/>
            </a:pPr>
            <a:r>
              <a:rPr lang="en-US" sz="1200" kern="1200" dirty="0">
                <a:solidFill>
                  <a:schemeClr val="tx1"/>
                </a:solidFill>
                <a:effectLst/>
                <a:latin typeface="+mn-lt"/>
                <a:ea typeface="+mn-ea"/>
                <a:cs typeface="+mn-cs"/>
              </a:rPr>
              <a:t>KYC Verification </a:t>
            </a:r>
          </a:p>
          <a:p>
            <a:pPr marL="228600" lvl="0" indent="-228600">
              <a:buFont typeface="+mj-lt"/>
              <a:buAutoNum type="arabicPeriod"/>
            </a:pPr>
            <a:r>
              <a:rPr lang="en-US" sz="1200" kern="1200" dirty="0">
                <a:solidFill>
                  <a:schemeClr val="tx1"/>
                </a:solidFill>
                <a:effectLst/>
                <a:latin typeface="+mn-lt"/>
                <a:ea typeface="+mn-ea"/>
                <a:cs typeface="+mn-cs"/>
              </a:rPr>
              <a:t>Risk Assessment </a:t>
            </a:r>
          </a:p>
          <a:p>
            <a:pPr marL="228600" lvl="0" indent="-228600">
              <a:buFont typeface="+mj-lt"/>
              <a:buAutoNum type="arabicPeriod"/>
            </a:pPr>
            <a:r>
              <a:rPr lang="en-US" sz="1200" kern="1200" dirty="0">
                <a:solidFill>
                  <a:schemeClr val="tx1"/>
                </a:solidFill>
                <a:effectLst/>
                <a:latin typeface="+mn-lt"/>
                <a:ea typeface="+mn-ea"/>
                <a:cs typeface="+mn-cs"/>
              </a:rPr>
              <a:t>Underwriting Approval </a:t>
            </a:r>
          </a:p>
          <a:p>
            <a:pPr marL="228600" lvl="0" indent="-228600">
              <a:buFont typeface="+mj-lt"/>
              <a:buAutoNum type="arabicPeriod"/>
            </a:pPr>
            <a:r>
              <a:rPr lang="en-US" sz="1200" kern="1200" dirty="0">
                <a:solidFill>
                  <a:schemeClr val="tx1"/>
                </a:solidFill>
                <a:effectLst/>
                <a:latin typeface="+mn-lt"/>
                <a:ea typeface="+mn-ea"/>
                <a:cs typeface="+mn-cs"/>
              </a:rPr>
              <a:t>Policy Issuance </a:t>
            </a:r>
          </a:p>
          <a:p>
            <a:pPr marL="228600" lvl="0" indent="-228600">
              <a:buFont typeface="+mj-lt"/>
              <a:buAutoNum type="arabicPeriod"/>
            </a:pPr>
            <a:r>
              <a:rPr lang="en-US" sz="1200" kern="1200" dirty="0">
                <a:solidFill>
                  <a:schemeClr val="tx1"/>
                </a:solidFill>
                <a:effectLst/>
                <a:latin typeface="+mn-lt"/>
                <a:ea typeface="+mn-ea"/>
                <a:cs typeface="+mn-cs"/>
              </a:rPr>
              <a:t>Payment Processing / System Confirmation </a:t>
            </a:r>
          </a:p>
          <a:p>
            <a:pPr marL="228600" lvl="0" indent="-228600">
              <a:buFont typeface="+mj-lt"/>
              <a:buAutoNum type="arabicPeriod"/>
            </a:pPr>
            <a:r>
              <a:rPr lang="en-US" sz="1200" kern="1200" dirty="0">
                <a:solidFill>
                  <a:schemeClr val="tx1"/>
                </a:solidFill>
                <a:effectLst/>
                <a:latin typeface="+mn-lt"/>
                <a:ea typeface="+mn-ea"/>
                <a:cs typeface="+mn-cs"/>
              </a:rPr>
              <a:t>SMS Notification Delivery </a:t>
            </a:r>
          </a:p>
          <a:p>
            <a:pPr lvl="0"/>
            <a:r>
              <a:rPr lang="en-US" sz="1200" kern="1200" dirty="0">
                <a:solidFill>
                  <a:schemeClr val="tx1"/>
                </a:solidFill>
                <a:effectLst/>
                <a:latin typeface="+mn-lt"/>
                <a:ea typeface="+mn-ea"/>
                <a:cs typeface="+mn-cs"/>
              </a:rPr>
              <a:t>The entire end-to-end flow executes in roughly 1.5 seconds. However, each step generates logs across distinct application services and databases. </a:t>
            </a:r>
          </a:p>
          <a:p>
            <a:pPr lvl="0"/>
            <a:r>
              <a:rPr lang="en-US" sz="1200" kern="1200" dirty="0">
                <a:solidFill>
                  <a:schemeClr val="tx1"/>
                </a:solidFill>
                <a:effectLst/>
                <a:latin typeface="+mn-lt"/>
                <a:ea typeface="+mn-ea"/>
                <a:cs typeface="+mn-cs"/>
              </a:rPr>
              <a:t>By assigning a unique </a:t>
            </a:r>
            <a:r>
              <a:rPr lang="en-US" sz="1200" b="1" kern="1200" dirty="0">
                <a:solidFill>
                  <a:schemeClr val="tx1"/>
                </a:solidFill>
                <a:effectLst/>
                <a:latin typeface="+mn-lt"/>
                <a:ea typeface="+mn-ea"/>
                <a:cs typeface="+mn-cs"/>
              </a:rPr>
              <a:t>Trace ID</a:t>
            </a:r>
            <a:r>
              <a:rPr lang="en-US" sz="1200" kern="1200" dirty="0">
                <a:solidFill>
                  <a:schemeClr val="tx1"/>
                </a:solidFill>
                <a:effectLst/>
                <a:latin typeface="+mn-lt"/>
                <a:ea typeface="+mn-ea"/>
                <a:cs typeface="+mn-cs"/>
              </a:rPr>
              <a:t> (7a8c99f2b4e10d33a1f8c5b9e2d4a6c8) across every hop during execution, we maintain a clear common thread through all seven stages. </a:t>
            </a:r>
          </a:p>
        </p:txBody>
      </p:sp>
      <p:sp>
        <p:nvSpPr>
          <p:cNvPr id="4" name="Slide Number Placeholder 3"/>
          <p:cNvSpPr>
            <a:spLocks noGrp="1"/>
          </p:cNvSpPr>
          <p:nvPr>
            <p:ph type="sldNum" sz="quarter" idx="5"/>
          </p:nvPr>
        </p:nvSpPr>
        <p:spPr/>
        <p:txBody>
          <a:bodyPr/>
          <a:lstStyle/>
          <a:p>
            <a:fld id="{7353E689-BB88-478C-BF9D-236BC0148800}" type="slidenum">
              <a:rPr lang="en-US" smtClean="0"/>
              <a:t>8</a:t>
            </a:fld>
            <a:endParaRPr lang="en-US"/>
          </a:p>
        </p:txBody>
      </p:sp>
    </p:spTree>
    <p:extLst>
      <p:ext uri="{BB962C8B-B14F-4D97-AF65-F5344CB8AC3E}">
        <p14:creationId xmlns:p14="http://schemas.microsoft.com/office/powerpoint/2010/main" val="14284952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On this slide, we contrast </a:t>
            </a:r>
            <a:r>
              <a:rPr lang="en-US" sz="1200" b="1" kern="1200" dirty="0">
                <a:solidFill>
                  <a:schemeClr val="tx1"/>
                </a:solidFill>
                <a:effectLst/>
                <a:latin typeface="+mn-lt"/>
                <a:ea typeface="+mn-ea"/>
                <a:cs typeface="+mn-cs"/>
              </a:rPr>
              <a:t>Pre-Stitched</a:t>
            </a:r>
            <a:r>
              <a:rPr lang="en-US" sz="1200" kern="1200" dirty="0">
                <a:solidFill>
                  <a:schemeClr val="tx1"/>
                </a:solidFill>
                <a:effectLst/>
                <a:latin typeface="+mn-lt"/>
                <a:ea typeface="+mn-ea"/>
                <a:cs typeface="+mn-cs"/>
              </a:rPr>
              <a:t> vs. </a:t>
            </a:r>
            <a:r>
              <a:rPr lang="en-US" sz="1200" b="1" kern="1200" dirty="0">
                <a:solidFill>
                  <a:schemeClr val="tx1"/>
                </a:solidFill>
                <a:effectLst/>
                <a:latin typeface="+mn-lt"/>
                <a:ea typeface="+mn-ea"/>
                <a:cs typeface="+mn-cs"/>
              </a:rPr>
              <a:t>Post-Stitched</a:t>
            </a:r>
            <a:r>
              <a:rPr lang="en-US" sz="1200" kern="1200" dirty="0">
                <a:solidFill>
                  <a:schemeClr val="tx1"/>
                </a:solidFill>
                <a:effectLst/>
                <a:latin typeface="+mn-lt"/>
                <a:ea typeface="+mn-ea"/>
                <a:cs typeface="+mn-cs"/>
              </a:rPr>
              <a:t> log views. </a:t>
            </a:r>
          </a:p>
          <a:p>
            <a:pPr lvl="0"/>
            <a:r>
              <a:rPr lang="en-US" sz="1200" b="1" kern="1200" dirty="0">
                <a:solidFill>
                  <a:schemeClr val="tx1"/>
                </a:solidFill>
                <a:effectLst/>
                <a:latin typeface="+mn-lt"/>
                <a:ea typeface="+mn-ea"/>
                <a:cs typeface="+mn-cs"/>
              </a:rPr>
              <a:t>Pre-Stitched:</a:t>
            </a:r>
            <a:r>
              <a:rPr lang="en-US" sz="1200" kern="1200" dirty="0">
                <a:solidFill>
                  <a:schemeClr val="tx1"/>
                </a:solidFill>
                <a:effectLst/>
                <a:latin typeface="+mn-lt"/>
                <a:ea typeface="+mn-ea"/>
                <a:cs typeface="+mn-cs"/>
              </a:rPr>
              <a:t> Before correlation, Audit Logs, Application Logs, and Security Logs sit disjointed. They appear as separate, unrelated time-series events in different tools. </a:t>
            </a:r>
          </a:p>
          <a:p>
            <a:pPr lvl="0"/>
            <a:r>
              <a:rPr lang="en-US" sz="1200" b="1" kern="1200" dirty="0">
                <a:solidFill>
                  <a:schemeClr val="tx1"/>
                </a:solidFill>
                <a:effectLst/>
                <a:latin typeface="+mn-lt"/>
                <a:ea typeface="+mn-ea"/>
                <a:cs typeface="+mn-cs"/>
              </a:rPr>
              <a:t>Trace ID Correlation:</a:t>
            </a:r>
            <a:r>
              <a:rPr lang="en-US" sz="1200" kern="1200" dirty="0">
                <a:solidFill>
                  <a:schemeClr val="tx1"/>
                </a:solidFill>
                <a:effectLst/>
                <a:latin typeface="+mn-lt"/>
                <a:ea typeface="+mn-ea"/>
                <a:cs typeface="+mn-cs"/>
              </a:rPr>
              <a:t> When </a:t>
            </a:r>
            <a:r>
              <a:rPr lang="en-US" sz="1200" kern="1200" dirty="0" err="1">
                <a:solidFill>
                  <a:schemeClr val="tx1"/>
                </a:solidFill>
                <a:effectLst/>
                <a:latin typeface="+mn-lt"/>
                <a:ea typeface="+mn-ea"/>
                <a:cs typeface="+mn-cs"/>
              </a:rPr>
              <a:t>Bindplane</a:t>
            </a:r>
            <a:r>
              <a:rPr lang="en-US" sz="1200" kern="1200" dirty="0">
                <a:solidFill>
                  <a:schemeClr val="tx1"/>
                </a:solidFill>
                <a:effectLst/>
                <a:latin typeface="+mn-lt"/>
                <a:ea typeface="+mn-ea"/>
                <a:cs typeface="+mn-cs"/>
              </a:rPr>
              <a:t> routes these logs into Dynatrace with consistent </a:t>
            </a:r>
            <a:r>
              <a:rPr lang="en-US" sz="1200" kern="1200" dirty="0" err="1">
                <a:solidFill>
                  <a:schemeClr val="tx1"/>
                </a:solidFill>
                <a:effectLst/>
                <a:latin typeface="+mn-lt"/>
                <a:ea typeface="+mn-ea"/>
                <a:cs typeface="+mn-cs"/>
              </a:rPr>
              <a:t>OpenTelemetry</a:t>
            </a:r>
            <a:r>
              <a:rPr lang="en-US" sz="1200" kern="1200" dirty="0">
                <a:solidFill>
                  <a:schemeClr val="tx1"/>
                </a:solidFill>
                <a:effectLst/>
                <a:latin typeface="+mn-lt"/>
                <a:ea typeface="+mn-ea"/>
                <a:cs typeface="+mn-cs"/>
              </a:rPr>
              <a:t> Trace IDs, Dynatrace Assist maps them along a single contextual spine.</a:t>
            </a:r>
          </a:p>
          <a:p>
            <a:pPr lvl="0"/>
            <a:r>
              <a:rPr lang="en-US" sz="1200" b="1" kern="1200" dirty="0">
                <a:solidFill>
                  <a:schemeClr val="tx1"/>
                </a:solidFill>
                <a:effectLst/>
                <a:latin typeface="+mn-lt"/>
                <a:ea typeface="+mn-ea"/>
                <a:cs typeface="+mn-cs"/>
              </a:rPr>
              <a:t>Post-Stitched:</a:t>
            </a:r>
            <a:r>
              <a:rPr lang="en-US" sz="1200" kern="1200" dirty="0">
                <a:solidFill>
                  <a:schemeClr val="tx1"/>
                </a:solidFill>
                <a:effectLst/>
                <a:latin typeface="+mn-lt"/>
                <a:ea typeface="+mn-ea"/>
                <a:cs typeface="+mn-cs"/>
              </a:rPr>
              <a:t> The AI engine automatically queries underlying log tables, arranging Audit, Application, and Security logs into a clean, sequential dependency tree. Engineers can immediately see the complete life cycle of the request across all system boundaries. </a:t>
            </a:r>
          </a:p>
        </p:txBody>
      </p:sp>
      <p:sp>
        <p:nvSpPr>
          <p:cNvPr id="4" name="Slide Number Placeholder 3"/>
          <p:cNvSpPr>
            <a:spLocks noGrp="1"/>
          </p:cNvSpPr>
          <p:nvPr>
            <p:ph type="sldNum" sz="quarter" idx="5"/>
          </p:nvPr>
        </p:nvSpPr>
        <p:spPr/>
        <p:txBody>
          <a:bodyPr/>
          <a:lstStyle/>
          <a:p>
            <a:fld id="{7353E689-BB88-478C-BF9D-236BC0148800}" type="slidenum">
              <a:rPr lang="en-US" smtClean="0"/>
              <a:t>9</a:t>
            </a:fld>
            <a:endParaRPr lang="en-US"/>
          </a:p>
        </p:txBody>
      </p:sp>
    </p:spTree>
    <p:extLst>
      <p:ext uri="{BB962C8B-B14F-4D97-AF65-F5344CB8AC3E}">
        <p14:creationId xmlns:p14="http://schemas.microsoft.com/office/powerpoint/2010/main" val="1273262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A major concern with generative AI tools in enterprise operations is the risk of </a:t>
            </a:r>
            <a:r>
              <a:rPr lang="en-US" sz="1200" b="1" kern="1200" dirty="0">
                <a:solidFill>
                  <a:schemeClr val="tx1"/>
                </a:solidFill>
                <a:effectLst/>
                <a:latin typeface="+mn-lt"/>
                <a:ea typeface="+mn-ea"/>
                <a:cs typeface="+mn-cs"/>
              </a:rPr>
              <a:t>hallucinations</a:t>
            </a:r>
            <a:r>
              <a:rPr lang="en-US" sz="1200" kern="1200" dirty="0">
                <a:solidFill>
                  <a:schemeClr val="tx1"/>
                </a:solidFill>
                <a:effectLst/>
                <a:latin typeface="+mn-lt"/>
                <a:ea typeface="+mn-ea"/>
                <a:cs typeface="+mn-cs"/>
              </a:rPr>
              <a:t> or inaccurate inferences. </a:t>
            </a:r>
          </a:p>
          <a:p>
            <a:pPr lvl="0"/>
            <a:r>
              <a:rPr lang="en-US" sz="1200" kern="1200" dirty="0">
                <a:solidFill>
                  <a:schemeClr val="tx1"/>
                </a:solidFill>
                <a:effectLst/>
                <a:latin typeface="+mn-lt"/>
                <a:ea typeface="+mn-ea"/>
                <a:cs typeface="+mn-cs"/>
              </a:rPr>
              <a:t>Dynatrace Assist addresses this by using </a:t>
            </a:r>
            <a:r>
              <a:rPr lang="en-US" sz="1200" b="1" kern="1200" dirty="0">
                <a:solidFill>
                  <a:schemeClr val="tx1"/>
                </a:solidFill>
                <a:effectLst/>
                <a:latin typeface="+mn-lt"/>
                <a:ea typeface="+mn-ea"/>
                <a:cs typeface="+mn-cs"/>
              </a:rPr>
              <a:t>deterministic analysis bounded within your specific tenant data environment</a:t>
            </a:r>
            <a:r>
              <a:rPr lang="en-US" sz="1200" kern="1200" dirty="0">
                <a:solidFill>
                  <a:schemeClr val="tx1"/>
                </a:solidFill>
                <a:effectLst/>
                <a:latin typeface="+mn-lt"/>
                <a:ea typeface="+mn-ea"/>
                <a:cs typeface="+mn-cs"/>
              </a:rPr>
              <a:t>.</a:t>
            </a:r>
          </a:p>
          <a:p>
            <a:pPr lvl="0"/>
            <a:r>
              <a:rPr lang="en-US" sz="1200" kern="1200" dirty="0">
                <a:solidFill>
                  <a:schemeClr val="tx1"/>
                </a:solidFill>
                <a:effectLst/>
                <a:latin typeface="+mn-lt"/>
                <a:ea typeface="+mn-ea"/>
                <a:cs typeface="+mn-cs"/>
              </a:rPr>
              <a:t>Key architectural safeguards include:</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No Generic Training Data Outputs:</a:t>
            </a:r>
            <a:r>
              <a:rPr lang="en-US" sz="1200" kern="1200" dirty="0">
                <a:solidFill>
                  <a:schemeClr val="tx1"/>
                </a:solidFill>
                <a:effectLst/>
                <a:latin typeface="+mn-lt"/>
                <a:ea typeface="+mn-ea"/>
                <a:cs typeface="+mn-cs"/>
              </a:rPr>
              <a:t> Answers are not generated from public LLMs trained on external web data.</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Tenant-Specific Context:</a:t>
            </a:r>
            <a:r>
              <a:rPr lang="en-US" sz="1200" kern="1200" dirty="0">
                <a:solidFill>
                  <a:schemeClr val="tx1"/>
                </a:solidFill>
                <a:effectLst/>
                <a:latin typeface="+mn-lt"/>
                <a:ea typeface="+mn-ea"/>
                <a:cs typeface="+mn-cs"/>
              </a:rPr>
              <a:t> The AI skills are specifically built to query the actual telemetry data present inside your tenant's datastore.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High-Fidelity Dependency Graphing:</a:t>
            </a:r>
            <a:r>
              <a:rPr lang="en-US" sz="1200" kern="1200" dirty="0">
                <a:solidFill>
                  <a:schemeClr val="tx1"/>
                </a:solidFill>
                <a:effectLst/>
                <a:latin typeface="+mn-lt"/>
                <a:ea typeface="+mn-ea"/>
                <a:cs typeface="+mn-cs"/>
              </a:rPr>
              <a:t> Because the AI restricts its analysis to real system topologies and verified Trace IDs, dependency analysis remains accurate and reliable. </a:t>
            </a:r>
          </a:p>
        </p:txBody>
      </p:sp>
      <p:sp>
        <p:nvSpPr>
          <p:cNvPr id="4" name="Slide Number Placeholder 3"/>
          <p:cNvSpPr>
            <a:spLocks noGrp="1"/>
          </p:cNvSpPr>
          <p:nvPr>
            <p:ph type="sldNum" sz="quarter" idx="5"/>
          </p:nvPr>
        </p:nvSpPr>
        <p:spPr/>
        <p:txBody>
          <a:bodyPr/>
          <a:lstStyle/>
          <a:p>
            <a:fld id="{7353E689-BB88-478C-BF9D-236BC0148800}" type="slidenum">
              <a:rPr lang="en-US" smtClean="0"/>
              <a:t>10</a:t>
            </a:fld>
            <a:endParaRPr lang="en-US"/>
          </a:p>
        </p:txBody>
      </p:sp>
    </p:spTree>
    <p:extLst>
      <p:ext uri="{BB962C8B-B14F-4D97-AF65-F5344CB8AC3E}">
        <p14:creationId xmlns:p14="http://schemas.microsoft.com/office/powerpoint/2010/main" val="15468635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How does this modern setup change day-to-day operations? Let's walk through a real operational incident. </a:t>
            </a:r>
          </a:p>
          <a:p>
            <a:pPr lvl="0"/>
            <a:r>
              <a:rPr lang="en-US" sz="1200" b="1" kern="1200" dirty="0">
                <a:solidFill>
                  <a:schemeClr val="tx1"/>
                </a:solidFill>
                <a:effectLst/>
                <a:latin typeface="+mn-lt"/>
                <a:ea typeface="+mn-ea"/>
                <a:cs typeface="+mn-cs"/>
              </a:rPr>
              <a:t>The Scenario:</a:t>
            </a:r>
            <a:r>
              <a:rPr lang="en-US" sz="1200" kern="1200" dirty="0">
                <a:solidFill>
                  <a:schemeClr val="tx1"/>
                </a:solidFill>
                <a:effectLst/>
                <a:latin typeface="+mn-lt"/>
                <a:ea typeface="+mn-ea"/>
                <a:cs typeface="+mn-cs"/>
              </a:rPr>
              <a:t> A customer calls front-desk support stating that their policy generation failed. In a traditional environment, the support representative escalates the ticket to L2/L3 engineering teams, who spend hours running complex database and log queries. </a:t>
            </a:r>
          </a:p>
          <a:p>
            <a:pPr lvl="0"/>
            <a:r>
              <a:rPr lang="en-US" sz="1200" b="1" kern="1200" dirty="0">
                <a:solidFill>
                  <a:schemeClr val="tx1"/>
                </a:solidFill>
                <a:effectLst/>
                <a:latin typeface="+mn-lt"/>
                <a:ea typeface="+mn-ea"/>
                <a:cs typeface="+mn-cs"/>
              </a:rPr>
              <a:t>The Modern Workflow:</a:t>
            </a:r>
            <a:r>
              <a:rPr lang="en-US" sz="1200" kern="1200" dirty="0">
                <a:solidFill>
                  <a:schemeClr val="tx1"/>
                </a:solidFill>
                <a:effectLst/>
                <a:latin typeface="+mn-lt"/>
                <a:ea typeface="+mn-ea"/>
                <a:cs typeface="+mn-cs"/>
              </a:rPr>
              <a:t> The support representative simply inputs the transaction ID into Dynatrace Assist with a plain text prompt: </a:t>
            </a:r>
            <a:r>
              <a:rPr lang="en-US" sz="1200" i="1" kern="1200" dirty="0">
                <a:solidFill>
                  <a:schemeClr val="tx1"/>
                </a:solidFill>
                <a:effectLst/>
                <a:latin typeface="+mn-lt"/>
                <a:ea typeface="+mn-ea"/>
                <a:cs typeface="+mn-cs"/>
              </a:rPr>
              <a:t>'Stitch this transaction [ID] through all steps and showcase the flow.'</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The Result:</a:t>
            </a:r>
            <a:r>
              <a:rPr lang="en-US" sz="1200" kern="1200" dirty="0">
                <a:solidFill>
                  <a:schemeClr val="tx1"/>
                </a:solidFill>
                <a:effectLst/>
                <a:latin typeface="+mn-lt"/>
                <a:ea typeface="+mn-ea"/>
                <a:cs typeface="+mn-cs"/>
              </a:rPr>
              <a:t> Within </a:t>
            </a:r>
            <a:r>
              <a:rPr lang="en-US" sz="1200" b="1" kern="1200" dirty="0">
                <a:solidFill>
                  <a:schemeClr val="tx1"/>
                </a:solidFill>
                <a:effectLst/>
                <a:latin typeface="+mn-lt"/>
                <a:ea typeface="+mn-ea"/>
                <a:cs typeface="+mn-cs"/>
              </a:rPr>
              <a:t>30 seconds</a:t>
            </a:r>
            <a:r>
              <a:rPr lang="en-US" sz="1200" kern="1200" dirty="0">
                <a:solidFill>
                  <a:schemeClr val="tx1"/>
                </a:solidFill>
                <a:effectLst/>
                <a:latin typeface="+mn-lt"/>
                <a:ea typeface="+mn-ea"/>
                <a:cs typeface="+mn-cs"/>
              </a:rPr>
              <a:t>, Dynatrace Assist reconstructs all 7 steps, pinpoints the failure (e.g., Payment Processing Failed: Timeout), and displays the exact step where the process broke. Resolution time drops from hours to seconds. </a:t>
            </a:r>
          </a:p>
        </p:txBody>
      </p:sp>
      <p:sp>
        <p:nvSpPr>
          <p:cNvPr id="4" name="Slide Number Placeholder 3"/>
          <p:cNvSpPr>
            <a:spLocks noGrp="1"/>
          </p:cNvSpPr>
          <p:nvPr>
            <p:ph type="sldNum" sz="quarter" idx="5"/>
          </p:nvPr>
        </p:nvSpPr>
        <p:spPr/>
        <p:txBody>
          <a:bodyPr/>
          <a:lstStyle/>
          <a:p>
            <a:fld id="{7353E689-BB88-478C-BF9D-236BC0148800}" type="slidenum">
              <a:rPr lang="en-US" smtClean="0"/>
              <a:t>11</a:t>
            </a:fld>
            <a:endParaRPr lang="en-US"/>
          </a:p>
        </p:txBody>
      </p:sp>
    </p:spTree>
    <p:extLst>
      <p:ext uri="{BB962C8B-B14F-4D97-AF65-F5344CB8AC3E}">
        <p14:creationId xmlns:p14="http://schemas.microsoft.com/office/powerpoint/2010/main" val="19588801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To summarize our architectural journey, we condense the transition to AI-first observability into three core pillars: </a:t>
            </a:r>
          </a:p>
          <a:p>
            <a:pPr marL="228600" lvl="0" indent="-228600">
              <a:buFont typeface="+mj-lt"/>
              <a:buAutoNum type="arabicPeriod"/>
            </a:pPr>
            <a:r>
              <a:rPr lang="en-US" sz="1200" b="1" kern="1200" dirty="0">
                <a:solidFill>
                  <a:schemeClr val="tx1"/>
                </a:solidFill>
                <a:effectLst/>
                <a:latin typeface="+mn-lt"/>
                <a:ea typeface="+mn-ea"/>
                <a:cs typeface="+mn-cs"/>
              </a:rPr>
              <a:t>Unify:</a:t>
            </a:r>
            <a:r>
              <a:rPr lang="en-US" sz="1200" kern="1200" dirty="0">
                <a:solidFill>
                  <a:schemeClr val="tx1"/>
                </a:solidFill>
                <a:effectLst/>
                <a:latin typeface="+mn-lt"/>
                <a:ea typeface="+mn-ea"/>
                <a:cs typeface="+mn-cs"/>
              </a:rPr>
              <a:t> Centralize disparate logs and route telemetry dynamically via </a:t>
            </a:r>
            <a:r>
              <a:rPr lang="en-US" sz="1200" kern="1200" dirty="0" err="1">
                <a:solidFill>
                  <a:schemeClr val="tx1"/>
                </a:solidFill>
                <a:effectLst/>
                <a:latin typeface="+mn-lt"/>
                <a:ea typeface="+mn-ea"/>
                <a:cs typeface="+mn-cs"/>
              </a:rPr>
              <a:t>Bindplane</a:t>
            </a:r>
            <a:r>
              <a:rPr lang="en-US" sz="1200" kern="1200" dirty="0">
                <a:solidFill>
                  <a:schemeClr val="tx1"/>
                </a:solidFill>
                <a:effectLst/>
                <a:latin typeface="+mn-lt"/>
                <a:ea typeface="+mn-ea"/>
                <a:cs typeface="+mn-cs"/>
              </a:rPr>
              <a:t>, breaking down tool silos. </a:t>
            </a:r>
          </a:p>
          <a:p>
            <a:pPr marL="228600" lvl="0" indent="-228600">
              <a:buFont typeface="+mj-lt"/>
              <a:buAutoNum type="arabicPeriod"/>
            </a:pPr>
            <a:r>
              <a:rPr lang="en-US" sz="1200" b="1" kern="1200" dirty="0">
                <a:solidFill>
                  <a:schemeClr val="tx1"/>
                </a:solidFill>
                <a:effectLst/>
                <a:latin typeface="+mn-lt"/>
                <a:ea typeface="+mn-ea"/>
                <a:cs typeface="+mn-cs"/>
              </a:rPr>
              <a:t>Curate:</a:t>
            </a:r>
            <a:r>
              <a:rPr lang="en-US" sz="1200" kern="1200" dirty="0">
                <a:solidFill>
                  <a:schemeClr val="tx1"/>
                </a:solidFill>
                <a:effectLst/>
                <a:latin typeface="+mn-lt"/>
                <a:ea typeface="+mn-ea"/>
                <a:cs typeface="+mn-cs"/>
              </a:rPr>
              <a:t> Filter out low-value garbage data at the gateway layer to feed AI tools clean, high-fidelity context. </a:t>
            </a:r>
          </a:p>
          <a:p>
            <a:pPr marL="228600" lvl="0" indent="-228600">
              <a:buFont typeface="+mj-lt"/>
              <a:buAutoNum type="arabicPeriod"/>
            </a:pPr>
            <a:r>
              <a:rPr lang="en-US" sz="1200" b="1" kern="1200" dirty="0">
                <a:solidFill>
                  <a:schemeClr val="tx1"/>
                </a:solidFill>
                <a:effectLst/>
                <a:latin typeface="+mn-lt"/>
                <a:ea typeface="+mn-ea"/>
                <a:cs typeface="+mn-cs"/>
              </a:rPr>
              <a:t>Resolve:</a:t>
            </a:r>
            <a:r>
              <a:rPr lang="en-US" sz="1200" kern="1200" dirty="0">
                <a:solidFill>
                  <a:schemeClr val="tx1"/>
                </a:solidFill>
                <a:effectLst/>
                <a:latin typeface="+mn-lt"/>
                <a:ea typeface="+mn-ea"/>
                <a:cs typeface="+mn-cs"/>
              </a:rPr>
              <a:t> Utilize deterministic AI (Dynatrace Assist) to stitch transaction flows instantly and eliminate long investigation cycles. </a:t>
            </a:r>
          </a:p>
          <a:p>
            <a:pPr lvl="0"/>
            <a:r>
              <a:rPr lang="en-US" sz="1200" kern="1200" dirty="0">
                <a:solidFill>
                  <a:schemeClr val="tx1"/>
                </a:solidFill>
                <a:effectLst/>
                <a:latin typeface="+mn-lt"/>
                <a:ea typeface="+mn-ea"/>
                <a:cs typeface="+mn-cs"/>
              </a:rPr>
              <a:t>Ultimately, technical observability serves a core business objective: delivering fast, transparent, and reliable customer experiences.</a:t>
            </a:r>
          </a:p>
        </p:txBody>
      </p:sp>
      <p:sp>
        <p:nvSpPr>
          <p:cNvPr id="4" name="Slide Number Placeholder 3"/>
          <p:cNvSpPr>
            <a:spLocks noGrp="1"/>
          </p:cNvSpPr>
          <p:nvPr>
            <p:ph type="sldNum" sz="quarter" idx="5"/>
          </p:nvPr>
        </p:nvSpPr>
        <p:spPr/>
        <p:txBody>
          <a:bodyPr/>
          <a:lstStyle/>
          <a:p>
            <a:fld id="{7353E689-BB88-478C-BF9D-236BC0148800}" type="slidenum">
              <a:rPr lang="en-US" smtClean="0"/>
              <a:t>12</a:t>
            </a:fld>
            <a:endParaRPr lang="en-US"/>
          </a:p>
        </p:txBody>
      </p:sp>
    </p:spTree>
    <p:extLst>
      <p:ext uri="{BB962C8B-B14F-4D97-AF65-F5344CB8AC3E}">
        <p14:creationId xmlns:p14="http://schemas.microsoft.com/office/powerpoint/2010/main" val="40742647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To wrap up our deck, this executive summary slide highlights the core capabilities of the integrated </a:t>
            </a:r>
            <a:r>
              <a:rPr lang="en-US" sz="1200" b="1" kern="1200" dirty="0">
                <a:solidFill>
                  <a:schemeClr val="tx1"/>
                </a:solidFill>
                <a:effectLst/>
                <a:latin typeface="+mn-lt"/>
                <a:ea typeface="+mn-ea"/>
                <a:cs typeface="+mn-cs"/>
              </a:rPr>
              <a:t>Dynatrace x </a:t>
            </a:r>
            <a:r>
              <a:rPr lang="en-US" sz="1200" b="1" kern="1200" dirty="0" err="1">
                <a:solidFill>
                  <a:schemeClr val="tx1"/>
                </a:solidFill>
                <a:effectLst/>
                <a:latin typeface="+mn-lt"/>
                <a:ea typeface="+mn-ea"/>
                <a:cs typeface="+mn-cs"/>
              </a:rPr>
              <a:t>Bindplane</a:t>
            </a:r>
            <a:r>
              <a:rPr lang="en-US" sz="1200" kern="1200" dirty="0">
                <a:solidFill>
                  <a:schemeClr val="tx1"/>
                </a:solidFill>
                <a:effectLst/>
                <a:latin typeface="+mn-lt"/>
                <a:ea typeface="+mn-ea"/>
                <a:cs typeface="+mn-cs"/>
              </a:rPr>
              <a:t> architecture: </a:t>
            </a:r>
          </a:p>
          <a:p>
            <a:pPr lvl="0"/>
            <a:r>
              <a:rPr lang="en-US" sz="1200" b="1" kern="1200" dirty="0">
                <a:solidFill>
                  <a:schemeClr val="tx1"/>
                </a:solidFill>
                <a:effectLst/>
                <a:latin typeface="+mn-lt"/>
                <a:ea typeface="+mn-ea"/>
                <a:cs typeface="+mn-cs"/>
              </a:rPr>
              <a:t>Vendor-Agnostic Multi-Destination Ingestion:</a:t>
            </a:r>
            <a:r>
              <a:rPr lang="en-US" sz="1200" kern="1200" dirty="0">
                <a:solidFill>
                  <a:schemeClr val="tx1"/>
                </a:solidFill>
                <a:effectLst/>
                <a:latin typeface="+mn-lt"/>
                <a:ea typeface="+mn-ea"/>
                <a:cs typeface="+mn-cs"/>
              </a:rPr>
              <a:t> Ingest logs once from any source, duplicate at the gateway without client host overhead, and route concurrently to Dynatrace, S3, or SIEM tools.</a:t>
            </a:r>
          </a:p>
          <a:p>
            <a:pPr lvl="0"/>
            <a:r>
              <a:rPr lang="en-US" sz="1200" b="1" kern="1200" dirty="0">
                <a:solidFill>
                  <a:schemeClr val="tx1"/>
                </a:solidFill>
                <a:effectLst/>
                <a:latin typeface="+mn-lt"/>
                <a:ea typeface="+mn-ea"/>
                <a:cs typeface="+mn-cs"/>
              </a:rPr>
              <a:t>30-Second Transaction Flow Reconstruction:</a:t>
            </a:r>
            <a:r>
              <a:rPr lang="en-US" sz="1200" kern="1200" dirty="0">
                <a:solidFill>
                  <a:schemeClr val="tx1"/>
                </a:solidFill>
                <a:effectLst/>
                <a:latin typeface="+mn-lt"/>
                <a:ea typeface="+mn-ea"/>
                <a:cs typeface="+mn-cs"/>
              </a:rPr>
              <a:t> Replace tedious manual correlation with rapid natural language prompts powered by Dynatrace Assist.</a:t>
            </a:r>
          </a:p>
          <a:p>
            <a:pPr lvl="0"/>
            <a:r>
              <a:rPr lang="en-US" sz="1200" b="1" kern="1200" dirty="0">
                <a:solidFill>
                  <a:schemeClr val="tx1"/>
                </a:solidFill>
                <a:effectLst/>
                <a:latin typeface="+mn-lt"/>
                <a:ea typeface="+mn-ea"/>
                <a:cs typeface="+mn-cs"/>
              </a:rPr>
              <a:t>High-Quality AI Insights via Clean Ingestion:</a:t>
            </a:r>
            <a:r>
              <a:rPr lang="en-US" sz="1200" kern="1200" dirty="0">
                <a:solidFill>
                  <a:schemeClr val="tx1"/>
                </a:solidFill>
                <a:effectLst/>
                <a:latin typeface="+mn-lt"/>
                <a:ea typeface="+mn-ea"/>
                <a:cs typeface="+mn-cs"/>
              </a:rPr>
              <a:t> Ensure high AI accuracy by removing noisy log data prior to storage.</a:t>
            </a:r>
          </a:p>
          <a:p>
            <a:pPr lvl="0"/>
            <a:r>
              <a:rPr lang="en-US" sz="1200" kern="1200" dirty="0">
                <a:solidFill>
                  <a:schemeClr val="tx1"/>
                </a:solidFill>
                <a:effectLst/>
                <a:latin typeface="+mn-lt"/>
                <a:ea typeface="+mn-ea"/>
                <a:cs typeface="+mn-cs"/>
              </a:rPr>
              <a:t>By unifying ingestion pipelines and leveraging deterministic AI analysis, organizations can scale their telemetry infrastructure efficiently while supporting an AI-first operational model.</a:t>
            </a:r>
          </a:p>
          <a:p>
            <a:endParaRPr lang="en-US" dirty="0"/>
          </a:p>
          <a:p>
            <a:endParaRPr lang="en-US" dirty="0"/>
          </a:p>
          <a:p>
            <a:endParaRPr lang="en-US" dirty="0"/>
          </a:p>
          <a:p>
            <a:r>
              <a:rPr lang="en-US" b="1" dirty="0"/>
              <a:t>Dynatrace x </a:t>
            </a:r>
            <a:r>
              <a:rPr lang="en-US" b="1" dirty="0" err="1"/>
              <a:t>Bindplane</a:t>
            </a:r>
            <a:r>
              <a:rPr lang="en-US" b="1" dirty="0"/>
              <a:t> - One Source Many Destinations with AI Analysis</a:t>
            </a:r>
          </a:p>
          <a:p>
            <a:r>
              <a:rPr lang="en-US" dirty="0"/>
              <a:t>https://www.youtube.com/watch?v=QSUPYC_ydas</a:t>
            </a:r>
          </a:p>
          <a:p>
            <a:pPr lvl="0"/>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7353E689-BB88-478C-BF9D-236BC0148800}" type="slidenum">
              <a:rPr lang="en-US" smtClean="0"/>
              <a:t>13</a:t>
            </a:fld>
            <a:endParaRPr lang="en-US"/>
          </a:p>
        </p:txBody>
      </p:sp>
    </p:spTree>
    <p:extLst>
      <p:ext uri="{BB962C8B-B14F-4D97-AF65-F5344CB8AC3E}">
        <p14:creationId xmlns:p14="http://schemas.microsoft.com/office/powerpoint/2010/main" val="24994293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F291843-80FE-E97D-E788-6233290FB8FE}"/>
              </a:ext>
            </a:extLst>
          </p:cNvPr>
          <p:cNvSpPr>
            <a:spLocks noGrp="1"/>
          </p:cNvSpPr>
          <p:nvPr>
            <p:ph type="dt" sz="half" idx="10"/>
          </p:nvPr>
        </p:nvSpPr>
        <p:spPr/>
        <p:txBody>
          <a:bodyPr/>
          <a:lstStyle/>
          <a:p>
            <a:fld id="{B9EE4339-7E8C-4EC7-835C-DB788DDA49A0}" type="datetimeFigureOut">
              <a:rPr lang="en-US" smtClean="0"/>
              <a:t>10/20/2026</a:t>
            </a:fld>
            <a:endParaRPr lang="en-US"/>
          </a:p>
        </p:txBody>
      </p:sp>
      <p:sp>
        <p:nvSpPr>
          <p:cNvPr id="3" name="Footer Placeholder 2">
            <a:extLst>
              <a:ext uri="{FF2B5EF4-FFF2-40B4-BE49-F238E27FC236}">
                <a16:creationId xmlns:a16="http://schemas.microsoft.com/office/drawing/2014/main" id="{79CFA7E9-D557-5171-49DA-EB1AB71FFE8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CA9862C-21B3-C6BE-77CC-E30D94242FD0}"/>
              </a:ext>
            </a:extLst>
          </p:cNvPr>
          <p:cNvSpPr>
            <a:spLocks noGrp="1"/>
          </p:cNvSpPr>
          <p:nvPr>
            <p:ph type="sldNum" sz="quarter" idx="12"/>
          </p:nvPr>
        </p:nvSpPr>
        <p:spPr/>
        <p:txBody>
          <a:bodyPr/>
          <a:lstStyle/>
          <a:p>
            <a:fld id="{B371D851-2006-4089-8232-1AAB137A781E}" type="slidenum">
              <a:rPr lang="en-US" smtClean="0"/>
              <a:t>‹#›</a:t>
            </a:fld>
            <a:endParaRPr lang="en-US"/>
          </a:p>
        </p:txBody>
      </p:sp>
    </p:spTree>
    <p:extLst>
      <p:ext uri="{BB962C8B-B14F-4D97-AF65-F5344CB8AC3E}">
        <p14:creationId xmlns:p14="http://schemas.microsoft.com/office/powerpoint/2010/main" val="4015288121"/>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EA963F2-F241-8CEF-5CCB-BB4D2C73AB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5AC9C8E-59C2-8E09-9DDA-C3351A9B31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8F1DC2-BE52-8FD2-6253-29F7AED2D9F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9EE4339-7E8C-4EC7-835C-DB788DDA49A0}" type="datetimeFigureOut">
              <a:rPr lang="en-US" smtClean="0"/>
              <a:t>10/20/2026</a:t>
            </a:fld>
            <a:endParaRPr lang="en-US"/>
          </a:p>
        </p:txBody>
      </p:sp>
      <p:sp>
        <p:nvSpPr>
          <p:cNvPr id="5" name="Footer Placeholder 4">
            <a:extLst>
              <a:ext uri="{FF2B5EF4-FFF2-40B4-BE49-F238E27FC236}">
                <a16:creationId xmlns:a16="http://schemas.microsoft.com/office/drawing/2014/main" id="{E68A925D-074B-43AF-7B53-646FE510B91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F30D564-3EE6-BDF0-C887-EE4367CAEDA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371D851-2006-4089-8232-1AAB137A781E}" type="slidenum">
              <a:rPr lang="en-US" smtClean="0"/>
              <a:t>‹#›</a:t>
            </a:fld>
            <a:endParaRPr lang="en-US"/>
          </a:p>
        </p:txBody>
      </p:sp>
    </p:spTree>
    <p:extLst>
      <p:ext uri="{BB962C8B-B14F-4D97-AF65-F5344CB8AC3E}">
        <p14:creationId xmlns:p14="http://schemas.microsoft.com/office/powerpoint/2010/main" val="4151991508"/>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C1EBF16-54D7-755B-BED6-074AB742623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C05CCF4-6F3D-25F4-EE74-23C90439E14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D91C1F8-3095-248F-C7DD-4B99C32915C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A41F1CD-5A44-D8CC-541D-B181839F4E1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7773FC2-04D2-8790-96AB-9BF09DD2829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0E50F5A-3CBC-6BBA-8331-342861BBD82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70597D0-B712-163F-B264-002DE6539F4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411090C-4348-56DD-86E5-FF8921ACF17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47FAF59-8094-7B40-D23E-33B1D6C71FC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88EA2D7-6EFB-12A0-01E6-C3323856B6D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A009DBB-CE7D-C89F-F498-30D484F30D3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FFB2FDB-C283-CB94-A70A-2B61E0C14E7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81E2B2D-08C6-354A-10CA-1B6B3D2B5D19}"/>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42501998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TotalTime>
  <Words>1688</Words>
  <Application>Microsoft Office PowerPoint</Application>
  <PresentationFormat>寬螢幕</PresentationFormat>
  <Paragraphs>92</Paragraphs>
  <Slides>13</Slides>
  <Notes>13</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13</vt:i4>
      </vt:variant>
    </vt:vector>
  </HeadingPairs>
  <TitlesOfParts>
    <vt:vector size="17"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2026-09-28T07:55:35Z</dcterms:created>
  <dcterms:modified xsi:type="dcterms:W3CDTF">2026-10-20T13:27:16Z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9f47bb8-b38e-408b-b78b-bb41e7d66ecb_Enabled">
    <vt:lpwstr>true</vt:lpwstr>
  </property>
  <property fmtid="{D5CDD505-2E9C-101B-9397-08002B2CF9AE}" pid="3" name="MSIP_Label_d9f47bb8-b38e-408b-b78b-bb41e7d66ecb_SetDate">
    <vt:lpwstr>2026-09-29T03:00:21Z</vt:lpwstr>
  </property>
  <property fmtid="{D5CDD505-2E9C-101B-9397-08002B2CF9AE}" pid="4" name="MSIP_Label_d9f47bb8-b38e-408b-b78b-bb41e7d66ecb_Method">
    <vt:lpwstr>Standard</vt:lpwstr>
  </property>
  <property fmtid="{D5CDD505-2E9C-101B-9397-08002B2CF9AE}" pid="5" name="MSIP_Label_d9f47bb8-b38e-408b-b78b-bb41e7d66ecb_Name">
    <vt:lpwstr>Public</vt:lpwstr>
  </property>
  <property fmtid="{D5CDD505-2E9C-101B-9397-08002B2CF9AE}" pid="6" name="MSIP_Label_d9f47bb8-b38e-408b-b78b-bb41e7d66ecb_SiteId">
    <vt:lpwstr>70ebe3a3-5b30-435d-9d67-7716d74ca190</vt:lpwstr>
  </property>
  <property fmtid="{D5CDD505-2E9C-101B-9397-08002B2CF9AE}" pid="7" name="MSIP_Label_d9f47bb8-b38e-408b-b78b-bb41e7d66ecb_ActionId">
    <vt:lpwstr>82c3ee36-acf3-408c-b6d2-8090bffde56c</vt:lpwstr>
  </property>
  <property fmtid="{D5CDD505-2E9C-101B-9397-08002B2CF9AE}" pid="8" name="MSIP_Label_d9f47bb8-b38e-408b-b78b-bb41e7d66ecb_Provider">
    <vt:lpwstr>Varonis.Labeling</vt:lpwstr>
  </property>
  <property fmtid="{D5CDD505-2E9C-101B-9397-08002B2CF9AE}" pid="9" name="MSIP_Label_d9f47bb8-b38e-408b-b78b-bb41e7d66ecb_ContentBits">
    <vt:lpwstr>0</vt:lpwstr>
  </property>
</Properties>
</file>