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0D0CE36-926E-4906-8A5F-A0CCDEDD1F07}" v="19" dt="2026-09-19T14:44:58.27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1168" autoAdjust="0"/>
  </p:normalViewPr>
  <p:slideViewPr>
    <p:cSldViewPr snapToGrid="0">
      <p:cViewPr varScale="1">
        <p:scale>
          <a:sx n="75" d="100"/>
          <a:sy n="75" d="100"/>
        </p:scale>
        <p:origin x="72" y="48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Lai, Wilson" userId="2840974a-0d84-4886-90a9-9a3ed79f3a48" providerId="ADAL" clId="{9F23B798-9E84-4552-BA63-E776E805C424}"/>
    <pc:docChg chg="undo custSel modSld">
      <pc:chgData name="Lai, Wilson" userId="2840974a-0d84-4886-90a9-9a3ed79f3a48" providerId="ADAL" clId="{9F23B798-9E84-4552-BA63-E776E805C424}" dt="2026-09-19T14:45:14.575" v="61" actId="166"/>
      <pc:docMkLst>
        <pc:docMk/>
      </pc:docMkLst>
      <pc:sldChg chg="addSp delSp modSp mod modAnim modNotes modNotesTx">
        <pc:chgData name="Lai, Wilson" userId="2840974a-0d84-4886-90a9-9a3ed79f3a48" providerId="ADAL" clId="{9F23B798-9E84-4552-BA63-E776E805C424}" dt="2026-09-19T14:45:14.575" v="61" actId="166"/>
        <pc:sldMkLst>
          <pc:docMk/>
          <pc:sldMk cId="0" sldId="257"/>
        </pc:sldMkLst>
        <pc:spChg chg="add mod">
          <ac:chgData name="Lai, Wilson" userId="2840974a-0d84-4886-90a9-9a3ed79f3a48" providerId="ADAL" clId="{9F23B798-9E84-4552-BA63-E776E805C424}" dt="2026-09-19T06:07:19.506" v="33" actId="164"/>
          <ac:spMkLst>
            <pc:docMk/>
            <pc:sldMk cId="0" sldId="257"/>
            <ac:spMk id="5" creationId="{3C6EFB02-1200-9CB6-327E-80CDB28E58A0}"/>
          </ac:spMkLst>
        </pc:spChg>
        <pc:grpChg chg="add mod">
          <ac:chgData name="Lai, Wilson" userId="2840974a-0d84-4886-90a9-9a3ed79f3a48" providerId="ADAL" clId="{9F23B798-9E84-4552-BA63-E776E805C424}" dt="2026-09-19T06:07:19.506" v="33" actId="164"/>
          <ac:grpSpMkLst>
            <pc:docMk/>
            <pc:sldMk cId="0" sldId="257"/>
            <ac:grpSpMk id="6" creationId="{5C259AF6-C710-87D1-B4C7-C6415878957E}"/>
          </ac:grpSpMkLst>
        </pc:grpChg>
        <pc:picChg chg="del">
          <ac:chgData name="Lai, Wilson" userId="2840974a-0d84-4886-90a9-9a3ed79f3a48" providerId="ADAL" clId="{9F23B798-9E84-4552-BA63-E776E805C424}" dt="2026-09-19T05:54:16.704" v="0" actId="21"/>
          <ac:picMkLst>
            <pc:docMk/>
            <pc:sldMk cId="0" sldId="257"/>
            <ac:picMk id="2" creationId="{00000000-0000-0000-0000-000000000000}"/>
          </ac:picMkLst>
        </pc:picChg>
        <pc:picChg chg="add mod">
          <ac:chgData name="Lai, Wilson" userId="2840974a-0d84-4886-90a9-9a3ed79f3a48" providerId="ADAL" clId="{9F23B798-9E84-4552-BA63-E776E805C424}" dt="2026-09-19T06:07:19.506" v="33" actId="164"/>
          <ac:picMkLst>
            <pc:docMk/>
            <pc:sldMk cId="0" sldId="257"/>
            <ac:picMk id="2" creationId="{B59E906E-2D13-C8EC-88D3-D76AFF2B877C}"/>
          </ac:picMkLst>
        </pc:picChg>
        <pc:picChg chg="add ord">
          <ac:chgData name="Lai, Wilson" userId="2840974a-0d84-4886-90a9-9a3ed79f3a48" providerId="ADAL" clId="{9F23B798-9E84-4552-BA63-E776E805C424}" dt="2026-09-19T14:45:14.575" v="61" actId="166"/>
          <ac:picMkLst>
            <pc:docMk/>
            <pc:sldMk cId="0" sldId="257"/>
            <ac:picMk id="4" creationId="{A9851716-895D-8864-116A-3A7EA89916D2}"/>
          </ac:picMkLst>
        </pc:picChg>
      </pc:sldChg>
      <pc:sldChg chg="addSp delSp mod modNotes">
        <pc:chgData name="Lai, Wilson" userId="2840974a-0d84-4886-90a9-9a3ed79f3a48" providerId="ADAL" clId="{9F23B798-9E84-4552-BA63-E776E805C424}" dt="2026-09-19T14:44:58.273" v="60"/>
        <pc:sldMkLst>
          <pc:docMk/>
          <pc:sldMk cId="0" sldId="258"/>
        </pc:sldMkLst>
        <pc:picChg chg="del">
          <ac:chgData name="Lai, Wilson" userId="2840974a-0d84-4886-90a9-9a3ed79f3a48" providerId="ADAL" clId="{9F23B798-9E84-4552-BA63-E776E805C424}" dt="2026-09-19T05:54:37.601" v="2" actId="21"/>
          <ac:picMkLst>
            <pc:docMk/>
            <pc:sldMk cId="0" sldId="258"/>
            <ac:picMk id="2" creationId="{00000000-0000-0000-0000-000000000000}"/>
          </ac:picMkLst>
        </pc:picChg>
        <pc:picChg chg="add">
          <ac:chgData name="Lai, Wilson" userId="2840974a-0d84-4886-90a9-9a3ed79f3a48" providerId="ADAL" clId="{9F23B798-9E84-4552-BA63-E776E805C424}" dt="2026-09-19T05:54:46.307" v="3" actId="22"/>
          <ac:picMkLst>
            <pc:docMk/>
            <pc:sldMk cId="0" sldId="258"/>
            <ac:picMk id="4" creationId="{BC671B51-EDCB-9128-A06D-9C564E8228F2}"/>
          </ac:picMkLst>
        </pc:picChg>
      </pc:sldChg>
      <pc:sldChg chg="addSp delSp mod modNotes">
        <pc:chgData name="Lai, Wilson" userId="2840974a-0d84-4886-90a9-9a3ed79f3a48" providerId="ADAL" clId="{9F23B798-9E84-4552-BA63-E776E805C424}" dt="2026-09-19T14:44:58.273" v="60"/>
        <pc:sldMkLst>
          <pc:docMk/>
          <pc:sldMk cId="0" sldId="259"/>
        </pc:sldMkLst>
        <pc:picChg chg="del">
          <ac:chgData name="Lai, Wilson" userId="2840974a-0d84-4886-90a9-9a3ed79f3a48" providerId="ADAL" clId="{9F23B798-9E84-4552-BA63-E776E805C424}" dt="2026-09-19T05:54:47.457" v="4" actId="21"/>
          <ac:picMkLst>
            <pc:docMk/>
            <pc:sldMk cId="0" sldId="259"/>
            <ac:picMk id="2" creationId="{00000000-0000-0000-0000-000000000000}"/>
          </ac:picMkLst>
        </pc:picChg>
        <pc:picChg chg="add">
          <ac:chgData name="Lai, Wilson" userId="2840974a-0d84-4886-90a9-9a3ed79f3a48" providerId="ADAL" clId="{9F23B798-9E84-4552-BA63-E776E805C424}" dt="2026-09-19T05:54:56.371" v="5" actId="22"/>
          <ac:picMkLst>
            <pc:docMk/>
            <pc:sldMk cId="0" sldId="259"/>
            <ac:picMk id="4" creationId="{C0091721-942F-AE33-71B6-D3E677DD5CA8}"/>
          </ac:picMkLst>
        </pc:picChg>
      </pc:sldChg>
      <pc:sldChg chg="addSp delSp mod modNotes">
        <pc:chgData name="Lai, Wilson" userId="2840974a-0d84-4886-90a9-9a3ed79f3a48" providerId="ADAL" clId="{9F23B798-9E84-4552-BA63-E776E805C424}" dt="2026-09-19T14:44:58.273" v="60"/>
        <pc:sldMkLst>
          <pc:docMk/>
          <pc:sldMk cId="0" sldId="260"/>
        </pc:sldMkLst>
        <pc:picChg chg="del">
          <ac:chgData name="Lai, Wilson" userId="2840974a-0d84-4886-90a9-9a3ed79f3a48" providerId="ADAL" clId="{9F23B798-9E84-4552-BA63-E776E805C424}" dt="2026-09-19T05:54:58.614" v="6" actId="21"/>
          <ac:picMkLst>
            <pc:docMk/>
            <pc:sldMk cId="0" sldId="260"/>
            <ac:picMk id="2" creationId="{00000000-0000-0000-0000-000000000000}"/>
          </ac:picMkLst>
        </pc:picChg>
        <pc:picChg chg="add">
          <ac:chgData name="Lai, Wilson" userId="2840974a-0d84-4886-90a9-9a3ed79f3a48" providerId="ADAL" clId="{9F23B798-9E84-4552-BA63-E776E805C424}" dt="2026-09-19T05:55:13.609" v="7" actId="22"/>
          <ac:picMkLst>
            <pc:docMk/>
            <pc:sldMk cId="0" sldId="260"/>
            <ac:picMk id="4" creationId="{67EFC27D-DEFE-40CE-FB9C-7D8CE33A84B9}"/>
          </ac:picMkLst>
        </pc:picChg>
      </pc:sldChg>
      <pc:sldChg chg="addSp delSp modSp mod modNotes modNotesTx">
        <pc:chgData name="Lai, Wilson" userId="2840974a-0d84-4886-90a9-9a3ed79f3a48" providerId="ADAL" clId="{9F23B798-9E84-4552-BA63-E776E805C424}" dt="2026-09-19T14:44:42.223" v="59"/>
        <pc:sldMkLst>
          <pc:docMk/>
          <pc:sldMk cId="0" sldId="261"/>
        </pc:sldMkLst>
        <pc:spChg chg="add del">
          <ac:chgData name="Lai, Wilson" userId="2840974a-0d84-4886-90a9-9a3ed79f3a48" providerId="ADAL" clId="{9F23B798-9E84-4552-BA63-E776E805C424}" dt="2026-09-19T14:42:29.496" v="40" actId="22"/>
          <ac:spMkLst>
            <pc:docMk/>
            <pc:sldMk cId="0" sldId="261"/>
            <ac:spMk id="3" creationId="{0E0EC237-36AA-C83C-EC8C-7F1836568B34}"/>
          </ac:spMkLst>
        </pc:spChg>
        <pc:picChg chg="del">
          <ac:chgData name="Lai, Wilson" userId="2840974a-0d84-4886-90a9-9a3ed79f3a48" providerId="ADAL" clId="{9F23B798-9E84-4552-BA63-E776E805C424}" dt="2026-09-19T05:55:15.075" v="8" actId="21"/>
          <ac:picMkLst>
            <pc:docMk/>
            <pc:sldMk cId="0" sldId="261"/>
            <ac:picMk id="2" creationId="{00000000-0000-0000-0000-000000000000}"/>
          </ac:picMkLst>
        </pc:picChg>
        <pc:picChg chg="add">
          <ac:chgData name="Lai, Wilson" userId="2840974a-0d84-4886-90a9-9a3ed79f3a48" providerId="ADAL" clId="{9F23B798-9E84-4552-BA63-E776E805C424}" dt="2026-09-19T05:55:23.370" v="9" actId="22"/>
          <ac:picMkLst>
            <pc:docMk/>
            <pc:sldMk cId="0" sldId="261"/>
            <ac:picMk id="4" creationId="{54A50EE7-D1EE-C90D-A7B5-BCE276F45C66}"/>
          </ac:picMkLst>
        </pc:picChg>
      </pc:sldChg>
      <pc:sldChg chg="addSp delSp mod modNotes modNotesTx">
        <pc:chgData name="Lai, Wilson" userId="2840974a-0d84-4886-90a9-9a3ed79f3a48" providerId="ADAL" clId="{9F23B798-9E84-4552-BA63-E776E805C424}" dt="2026-09-19T14:44:58.273" v="60"/>
        <pc:sldMkLst>
          <pc:docMk/>
          <pc:sldMk cId="0" sldId="262"/>
        </pc:sldMkLst>
        <pc:picChg chg="del">
          <ac:chgData name="Lai, Wilson" userId="2840974a-0d84-4886-90a9-9a3ed79f3a48" providerId="ADAL" clId="{9F23B798-9E84-4552-BA63-E776E805C424}" dt="2026-09-19T05:55:24.606" v="10" actId="21"/>
          <ac:picMkLst>
            <pc:docMk/>
            <pc:sldMk cId="0" sldId="262"/>
            <ac:picMk id="2" creationId="{00000000-0000-0000-0000-000000000000}"/>
          </ac:picMkLst>
        </pc:picChg>
        <pc:picChg chg="add">
          <ac:chgData name="Lai, Wilson" userId="2840974a-0d84-4886-90a9-9a3ed79f3a48" providerId="ADAL" clId="{9F23B798-9E84-4552-BA63-E776E805C424}" dt="2026-09-19T05:55:33.634" v="11" actId="22"/>
          <ac:picMkLst>
            <pc:docMk/>
            <pc:sldMk cId="0" sldId="262"/>
            <ac:picMk id="4" creationId="{D4997695-E900-7EC7-3AE1-BF08ACC35C7D}"/>
          </ac:picMkLst>
        </pc:picChg>
      </pc:sldChg>
      <pc:sldChg chg="addSp delSp mod modNotes">
        <pc:chgData name="Lai, Wilson" userId="2840974a-0d84-4886-90a9-9a3ed79f3a48" providerId="ADAL" clId="{9F23B798-9E84-4552-BA63-E776E805C424}" dt="2026-09-19T14:44:42.223" v="59"/>
        <pc:sldMkLst>
          <pc:docMk/>
          <pc:sldMk cId="0" sldId="263"/>
        </pc:sldMkLst>
        <pc:picChg chg="del">
          <ac:chgData name="Lai, Wilson" userId="2840974a-0d84-4886-90a9-9a3ed79f3a48" providerId="ADAL" clId="{9F23B798-9E84-4552-BA63-E776E805C424}" dt="2026-09-19T05:55:36.088" v="12" actId="21"/>
          <ac:picMkLst>
            <pc:docMk/>
            <pc:sldMk cId="0" sldId="263"/>
            <ac:picMk id="2" creationId="{00000000-0000-0000-0000-000000000000}"/>
          </ac:picMkLst>
        </pc:picChg>
        <pc:picChg chg="add">
          <ac:chgData name="Lai, Wilson" userId="2840974a-0d84-4886-90a9-9a3ed79f3a48" providerId="ADAL" clId="{9F23B798-9E84-4552-BA63-E776E805C424}" dt="2026-09-19T05:56:11.169" v="13" actId="22"/>
          <ac:picMkLst>
            <pc:docMk/>
            <pc:sldMk cId="0" sldId="263"/>
            <ac:picMk id="4" creationId="{8B1E824A-ACF8-97DC-89BA-1B5F4FE2C85A}"/>
          </ac:picMkLst>
        </pc:picChg>
      </pc:sldChg>
      <pc:sldChg chg="addSp delSp mod modNotes modNotesTx">
        <pc:chgData name="Lai, Wilson" userId="2840974a-0d84-4886-90a9-9a3ed79f3a48" providerId="ADAL" clId="{9F23B798-9E84-4552-BA63-E776E805C424}" dt="2026-09-19T14:44:58.273" v="60"/>
        <pc:sldMkLst>
          <pc:docMk/>
          <pc:sldMk cId="0" sldId="264"/>
        </pc:sldMkLst>
        <pc:picChg chg="del">
          <ac:chgData name="Lai, Wilson" userId="2840974a-0d84-4886-90a9-9a3ed79f3a48" providerId="ADAL" clId="{9F23B798-9E84-4552-BA63-E776E805C424}" dt="2026-09-19T05:56:16.265" v="14" actId="21"/>
          <ac:picMkLst>
            <pc:docMk/>
            <pc:sldMk cId="0" sldId="264"/>
            <ac:picMk id="2" creationId="{00000000-0000-0000-0000-000000000000}"/>
          </ac:picMkLst>
        </pc:picChg>
        <pc:picChg chg="add">
          <ac:chgData name="Lai, Wilson" userId="2840974a-0d84-4886-90a9-9a3ed79f3a48" providerId="ADAL" clId="{9F23B798-9E84-4552-BA63-E776E805C424}" dt="2026-09-19T05:56:24.816" v="15" actId="22"/>
          <ac:picMkLst>
            <pc:docMk/>
            <pc:sldMk cId="0" sldId="264"/>
            <ac:picMk id="4" creationId="{1EADA869-BCD5-E99E-3FCB-377B2722A0CA}"/>
          </ac:picMkLst>
        </pc:picChg>
      </pc:sldChg>
      <pc:sldChg chg="addSp delSp mod modNotes modNotesTx">
        <pc:chgData name="Lai, Wilson" userId="2840974a-0d84-4886-90a9-9a3ed79f3a48" providerId="ADAL" clId="{9F23B798-9E84-4552-BA63-E776E805C424}" dt="2026-09-19T14:44:58.273" v="60"/>
        <pc:sldMkLst>
          <pc:docMk/>
          <pc:sldMk cId="0" sldId="265"/>
        </pc:sldMkLst>
        <pc:picChg chg="del">
          <ac:chgData name="Lai, Wilson" userId="2840974a-0d84-4886-90a9-9a3ed79f3a48" providerId="ADAL" clId="{9F23B798-9E84-4552-BA63-E776E805C424}" dt="2026-09-19T05:56:26.904" v="16" actId="21"/>
          <ac:picMkLst>
            <pc:docMk/>
            <pc:sldMk cId="0" sldId="265"/>
            <ac:picMk id="2" creationId="{00000000-0000-0000-0000-000000000000}"/>
          </ac:picMkLst>
        </pc:picChg>
        <pc:picChg chg="add">
          <ac:chgData name="Lai, Wilson" userId="2840974a-0d84-4886-90a9-9a3ed79f3a48" providerId="ADAL" clId="{9F23B798-9E84-4552-BA63-E776E805C424}" dt="2026-09-19T05:56:34.784" v="17" actId="22"/>
          <ac:picMkLst>
            <pc:docMk/>
            <pc:sldMk cId="0" sldId="265"/>
            <ac:picMk id="4" creationId="{D8F7BF0B-5119-70D5-38E5-006F45CA00CE}"/>
          </ac:picMkLst>
        </pc:picChg>
      </pc:sldChg>
      <pc:sldChg chg="addSp delSp mod modNotes modNotesTx">
        <pc:chgData name="Lai, Wilson" userId="2840974a-0d84-4886-90a9-9a3ed79f3a48" providerId="ADAL" clId="{9F23B798-9E84-4552-BA63-E776E805C424}" dt="2026-09-19T14:44:42.223" v="59"/>
        <pc:sldMkLst>
          <pc:docMk/>
          <pc:sldMk cId="0" sldId="266"/>
        </pc:sldMkLst>
        <pc:picChg chg="del">
          <ac:chgData name="Lai, Wilson" userId="2840974a-0d84-4886-90a9-9a3ed79f3a48" providerId="ADAL" clId="{9F23B798-9E84-4552-BA63-E776E805C424}" dt="2026-09-19T05:56:36.096" v="18" actId="21"/>
          <ac:picMkLst>
            <pc:docMk/>
            <pc:sldMk cId="0" sldId="266"/>
            <ac:picMk id="2" creationId="{00000000-0000-0000-0000-000000000000}"/>
          </ac:picMkLst>
        </pc:picChg>
        <pc:picChg chg="add">
          <ac:chgData name="Lai, Wilson" userId="2840974a-0d84-4886-90a9-9a3ed79f3a48" providerId="ADAL" clId="{9F23B798-9E84-4552-BA63-E776E805C424}" dt="2026-09-19T05:56:46.308" v="19" actId="22"/>
          <ac:picMkLst>
            <pc:docMk/>
            <pc:sldMk cId="0" sldId="266"/>
            <ac:picMk id="4" creationId="{DB525952-99AA-5127-E83B-502EDB0243D5}"/>
          </ac:picMkLst>
        </pc:picChg>
      </pc:sldChg>
      <pc:sldChg chg="addSp delSp mod modNotes">
        <pc:chgData name="Lai, Wilson" userId="2840974a-0d84-4886-90a9-9a3ed79f3a48" providerId="ADAL" clId="{9F23B798-9E84-4552-BA63-E776E805C424}" dt="2026-09-19T14:44:25.286" v="58"/>
        <pc:sldMkLst>
          <pc:docMk/>
          <pc:sldMk cId="0" sldId="267"/>
        </pc:sldMkLst>
        <pc:picChg chg="del">
          <ac:chgData name="Lai, Wilson" userId="2840974a-0d84-4886-90a9-9a3ed79f3a48" providerId="ADAL" clId="{9F23B798-9E84-4552-BA63-E776E805C424}" dt="2026-09-19T05:56:49.598" v="20" actId="21"/>
          <ac:picMkLst>
            <pc:docMk/>
            <pc:sldMk cId="0" sldId="267"/>
            <ac:picMk id="2" creationId="{00000000-0000-0000-0000-000000000000}"/>
          </ac:picMkLst>
        </pc:picChg>
        <pc:picChg chg="add">
          <ac:chgData name="Lai, Wilson" userId="2840974a-0d84-4886-90a9-9a3ed79f3a48" providerId="ADAL" clId="{9F23B798-9E84-4552-BA63-E776E805C424}" dt="2026-09-19T05:57:40.700" v="21" actId="22"/>
          <ac:picMkLst>
            <pc:docMk/>
            <pc:sldMk cId="0" sldId="267"/>
            <ac:picMk id="4" creationId="{5711C506-5F57-5C15-6A76-F3CF6526E1CC}"/>
          </ac:picMkLst>
        </pc:picChg>
      </pc:sldChg>
      <pc:sldChg chg="modNotes modNotesTx">
        <pc:chgData name="Lai, Wilson" userId="2840974a-0d84-4886-90a9-9a3ed79f3a48" providerId="ADAL" clId="{9F23B798-9E84-4552-BA63-E776E805C424}" dt="2026-09-19T14:44:25.286" v="58"/>
        <pc:sldMkLst>
          <pc:docMk/>
          <pc:sldMk cId="3541904300" sldId="26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372B961-67FB-46C7-A3A0-7026DF203314}" type="datetimeFigureOut">
              <a:rPr lang="en-US" smtClean="0"/>
              <a:t>10/21/2026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03961C-2AB0-4FC8-9707-1314660664F8}" type="slidenum">
              <a:rPr lang="en-US" smtClean="0"/>
              <a:t>‹#›</a:t>
            </a:fld>
            <a:endParaRPr lang="en-US"/>
          </a:p>
        </p:txBody>
      </p:sp>
    </p:spTree>
    <p:extLst>
      <p:ext uri="{BB962C8B-B14F-4D97-AF65-F5344CB8AC3E}">
        <p14:creationId xmlns:p14="http://schemas.microsoft.com/office/powerpoint/2010/main" val="338452303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Welcome, everyone. Today, we’re going to discuss how to scale AI agents within engineering organizations effectively—without falling into common traps that plague modern software teams. </a:t>
            </a:r>
          </a:p>
          <a:p>
            <a:pPr lvl="0"/>
            <a:r>
              <a:rPr lang="en-US" sz="1200" kern="1200" dirty="0">
                <a:solidFill>
                  <a:schemeClr val="tx1"/>
                </a:solidFill>
                <a:effectLst/>
                <a:latin typeface="+mn-lt"/>
                <a:ea typeface="+mn-ea"/>
                <a:cs typeface="+mn-cs"/>
              </a:rPr>
              <a:t>There is a massive industry shift happening right now: organizations are rushing to equip developers with generative AI coding tools, assuming that giving a '10x engineer' an AI assistant will automatically yield 10x output. </a:t>
            </a:r>
          </a:p>
          <a:p>
            <a:pPr lvl="0"/>
            <a:r>
              <a:rPr lang="en-US" sz="1200" kern="1200" dirty="0">
                <a:solidFill>
                  <a:schemeClr val="tx1"/>
                </a:solidFill>
                <a:effectLst/>
                <a:latin typeface="+mn-lt"/>
                <a:ea typeface="+mn-ea"/>
                <a:cs typeface="+mn-cs"/>
              </a:rPr>
              <a:t>However, what we’ve discovered through our internal development journey at Dynatrace is that elite engineers equipped with high-powered AI tools cannot scale effectively if they are forced to deploy onto broken, fragmented infrastructure.</a:t>
            </a:r>
          </a:p>
          <a:p>
            <a:pPr lvl="0"/>
            <a:r>
              <a:rPr lang="en-US" sz="1200" kern="1200" dirty="0">
                <a:solidFill>
                  <a:schemeClr val="tx1"/>
                </a:solidFill>
                <a:effectLst/>
                <a:latin typeface="+mn-lt"/>
                <a:ea typeface="+mn-ea"/>
                <a:cs typeface="+mn-cs"/>
              </a:rPr>
              <a:t>To genuinely scale agentic engineering across 2,000+ developers, you must build a 10x Internal Developer Platform (IDP) anchored on a </a:t>
            </a:r>
            <a:r>
              <a:rPr lang="en-US" sz="1200" b="1" kern="1200" dirty="0">
                <a:solidFill>
                  <a:schemeClr val="tx1"/>
                </a:solidFill>
                <a:effectLst/>
                <a:latin typeface="+mn-lt"/>
                <a:ea typeface="+mn-ea"/>
                <a:cs typeface="+mn-cs"/>
              </a:rPr>
              <a:t>Robust Data Foundation</a:t>
            </a:r>
            <a:r>
              <a:rPr lang="en-US" sz="1200" kern="1200" dirty="0">
                <a:solidFill>
                  <a:schemeClr val="tx1"/>
                </a:solidFill>
                <a:effectLst/>
                <a:latin typeface="+mn-lt"/>
                <a:ea typeface="+mn-ea"/>
                <a:cs typeface="+mn-cs"/>
              </a:rPr>
              <a:t> that elevates the engineer from tactical repetitive coding to high-value architectural oversight.</a:t>
            </a:r>
          </a:p>
          <a:p>
            <a:endParaRPr lang="en-US" dirty="0"/>
          </a:p>
          <a:p>
            <a:endParaRPr lang="en-US" dirty="0"/>
          </a:p>
          <a:p>
            <a:endParaRPr lang="en-US" dirty="0"/>
          </a:p>
          <a:p>
            <a:r>
              <a:rPr lang="en-US" dirty="0"/>
              <a:t>https://www.youtube.com/watch?v=3jT_iUHvf_M</a:t>
            </a:r>
          </a:p>
        </p:txBody>
      </p:sp>
      <p:sp>
        <p:nvSpPr>
          <p:cNvPr id="4" name="Slide Number Placeholder 3"/>
          <p:cNvSpPr>
            <a:spLocks noGrp="1"/>
          </p:cNvSpPr>
          <p:nvPr>
            <p:ph type="sldNum" sz="quarter" idx="5"/>
          </p:nvPr>
        </p:nvSpPr>
        <p:spPr/>
        <p:txBody>
          <a:bodyPr/>
          <a:lstStyle/>
          <a:p>
            <a:fld id="{8203961C-2AB0-4FC8-9707-1314660664F8}" type="slidenum">
              <a:rPr lang="en-US" smtClean="0"/>
              <a:t>1</a:t>
            </a:fld>
            <a:endParaRPr lang="en-US"/>
          </a:p>
        </p:txBody>
      </p:sp>
    </p:spTree>
    <p:extLst>
      <p:ext uri="{BB962C8B-B14F-4D97-AF65-F5344CB8AC3E}">
        <p14:creationId xmlns:p14="http://schemas.microsoft.com/office/powerpoint/2010/main" val="37927762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Let’s start with a reality check that defines our entire engineering philosophy: </a:t>
            </a:r>
            <a:r>
              <a:rPr lang="en-US" sz="1200" b="1" kern="1200" dirty="0">
                <a:solidFill>
                  <a:schemeClr val="tx1"/>
                </a:solidFill>
                <a:effectLst/>
                <a:latin typeface="+mn-lt"/>
                <a:ea typeface="+mn-ea"/>
                <a:cs typeface="+mn-cs"/>
              </a:rPr>
              <a:t>A 10x engineer sitting on a 0.1x platform is still just a 1x engineer</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When AI coding assistants were first introduced, the initial reaction across many teams was, 'How can we use AI to write code faster?' </a:t>
            </a:r>
          </a:p>
          <a:p>
            <a:pPr lvl="0"/>
            <a:r>
              <a:rPr lang="en-US" sz="1200" kern="1200" dirty="0">
                <a:solidFill>
                  <a:schemeClr val="tx1"/>
                </a:solidFill>
                <a:effectLst/>
                <a:latin typeface="+mn-lt"/>
                <a:ea typeface="+mn-ea"/>
                <a:cs typeface="+mn-cs"/>
              </a:rPr>
              <a:t>Writing raw code is rarely the primary bottleneck in enterprise software development. The real friction lies in everything surrounding the code: provisioned environments, CI/CD pipelines, compliance checks, security policies, and fragmented cloud tech. </a:t>
            </a:r>
          </a:p>
          <a:p>
            <a:pPr lvl="0"/>
            <a:r>
              <a:rPr lang="en-US" sz="1200" kern="1200" dirty="0">
                <a:solidFill>
                  <a:schemeClr val="tx1"/>
                </a:solidFill>
                <a:effectLst/>
                <a:latin typeface="+mn-lt"/>
                <a:ea typeface="+mn-ea"/>
                <a:cs typeface="+mn-cs"/>
              </a:rPr>
              <a:t>If an AI agent generates a pull request in 30 seconds, but it takes three days for the team to navigate internal red tape, figure out deployment configurations, and manually fix broken pipelines, you haven't accelerated delivery—you've simply amplified the queue.</a:t>
            </a:r>
          </a:p>
          <a:p>
            <a:endParaRPr lang="en-US" dirty="0"/>
          </a:p>
        </p:txBody>
      </p:sp>
      <p:sp>
        <p:nvSpPr>
          <p:cNvPr id="4" name="Slide Number Placeholder 3"/>
          <p:cNvSpPr>
            <a:spLocks noGrp="1"/>
          </p:cNvSpPr>
          <p:nvPr>
            <p:ph type="sldNum" sz="quarter" idx="5"/>
          </p:nvPr>
        </p:nvSpPr>
        <p:spPr/>
        <p:txBody>
          <a:bodyPr/>
          <a:lstStyle/>
          <a:p>
            <a:fld id="{8203961C-2AB0-4FC8-9707-1314660664F8}" type="slidenum">
              <a:rPr lang="en-US" smtClean="0"/>
              <a:t>2</a:t>
            </a:fld>
            <a:endParaRPr lang="en-US"/>
          </a:p>
        </p:txBody>
      </p:sp>
    </p:spTree>
    <p:extLst>
      <p:ext uri="{BB962C8B-B14F-4D97-AF65-F5344CB8AC3E}">
        <p14:creationId xmlns:p14="http://schemas.microsoft.com/office/powerpoint/2010/main" val="28018799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organizations grow to 2,000+ engineers, the primary operational challenge becomes a </a:t>
            </a:r>
            <a:r>
              <a:rPr lang="en-US" sz="1200" b="1" kern="1200" dirty="0">
                <a:solidFill>
                  <a:schemeClr val="tx1"/>
                </a:solidFill>
                <a:effectLst/>
                <a:latin typeface="+mn-lt"/>
                <a:ea typeface="+mn-ea"/>
                <a:cs typeface="+mn-cs"/>
              </a:rPr>
              <a:t>knowledge and context problem</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Engineers are continuously bombarded with fragmented sources of information: complex CI/CD stacks, disparate multi-cloud configurations, stale SharePoint documents, and outdated Confluence pages that haven't been updated in years.</a:t>
            </a:r>
          </a:p>
          <a:p>
            <a:pPr lvl="0"/>
            <a:r>
              <a:rPr lang="en-US" sz="1200" kern="1200" dirty="0">
                <a:solidFill>
                  <a:schemeClr val="tx1"/>
                </a:solidFill>
                <a:effectLst/>
                <a:latin typeface="+mn-lt"/>
                <a:ea typeface="+mn-ea"/>
                <a:cs typeface="+mn-cs"/>
              </a:rPr>
              <a:t>Historically, platform engineering attempted to solve this by building user interfaces (UIs) or written runbooks to abstract this complexity away.</a:t>
            </a:r>
          </a:p>
          <a:p>
            <a:pPr lvl="0"/>
            <a:r>
              <a:rPr lang="en-US" sz="1200" kern="1200" dirty="0">
                <a:solidFill>
                  <a:schemeClr val="tx1"/>
                </a:solidFill>
                <a:effectLst/>
                <a:latin typeface="+mn-lt"/>
                <a:ea typeface="+mn-ea"/>
                <a:cs typeface="+mn-cs"/>
              </a:rPr>
              <a:t>However, human engineers spend an enormous amount of time searching across these disconnected systems just to figure out simple things—like who owns a service, which API to invoke, or what quality gates are required for production.</a:t>
            </a:r>
          </a:p>
          <a:p>
            <a:pPr lvl="0"/>
            <a:r>
              <a:rPr lang="en-US" sz="1200" kern="1200" dirty="0">
                <a:solidFill>
                  <a:schemeClr val="tx1"/>
                </a:solidFill>
                <a:effectLst/>
                <a:latin typeface="+mn-lt"/>
                <a:ea typeface="+mn-ea"/>
                <a:cs typeface="+mn-cs"/>
              </a:rPr>
              <a:t>When you introduce AI agents into this chaotic environment without structured knowledge, the agents fail for the exact same reasons humans do: lack of accurate, up-to-date context.</a:t>
            </a:r>
          </a:p>
          <a:p>
            <a:endParaRPr lang="en-US" dirty="0"/>
          </a:p>
        </p:txBody>
      </p:sp>
      <p:sp>
        <p:nvSpPr>
          <p:cNvPr id="4" name="Slide Number Placeholder 3"/>
          <p:cNvSpPr>
            <a:spLocks noGrp="1"/>
          </p:cNvSpPr>
          <p:nvPr>
            <p:ph type="sldNum" sz="quarter" idx="5"/>
          </p:nvPr>
        </p:nvSpPr>
        <p:spPr/>
        <p:txBody>
          <a:bodyPr/>
          <a:lstStyle/>
          <a:p>
            <a:fld id="{8203961C-2AB0-4FC8-9707-1314660664F8}" type="slidenum">
              <a:rPr lang="en-US" smtClean="0"/>
              <a:t>3</a:t>
            </a:fld>
            <a:endParaRPr lang="en-US"/>
          </a:p>
        </p:txBody>
      </p:sp>
    </p:spTree>
    <p:extLst>
      <p:ext uri="{BB962C8B-B14F-4D97-AF65-F5344CB8AC3E}">
        <p14:creationId xmlns:p14="http://schemas.microsoft.com/office/powerpoint/2010/main" val="35514559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This brings us to a major epiphany we had when scaling agentic workflows. </a:t>
            </a:r>
          </a:p>
          <a:p>
            <a:pPr lvl="0"/>
            <a:r>
              <a:rPr lang="en-US" sz="1200" kern="1200" dirty="0">
                <a:solidFill>
                  <a:schemeClr val="tx1"/>
                </a:solidFill>
                <a:effectLst/>
                <a:latin typeface="+mn-lt"/>
                <a:ea typeface="+mn-ea"/>
                <a:cs typeface="+mn-cs"/>
              </a:rPr>
              <a:t>Early on, there was a widespread </a:t>
            </a:r>
            <a:r>
              <a:rPr lang="en-US" sz="1200" b="1" kern="1200" dirty="0">
                <a:solidFill>
                  <a:schemeClr val="tx1"/>
                </a:solidFill>
                <a:effectLst/>
                <a:latin typeface="+mn-lt"/>
                <a:ea typeface="+mn-ea"/>
                <a:cs typeface="+mn-cs"/>
              </a:rPr>
              <a:t>myth</a:t>
            </a:r>
            <a:r>
              <a:rPr lang="en-US" sz="1200" kern="1200" dirty="0">
                <a:solidFill>
                  <a:schemeClr val="tx1"/>
                </a:solidFill>
                <a:effectLst/>
                <a:latin typeface="+mn-lt"/>
                <a:ea typeface="+mn-ea"/>
                <a:cs typeface="+mn-cs"/>
              </a:rPr>
              <a:t>: 'Since AI agents are intelligent, we can bypass complex platform structures and let agents figure out infrastructure, environments, and raw Kubernetes natively on their own'.</a:t>
            </a:r>
          </a:p>
          <a:p>
            <a:pPr lvl="0"/>
            <a:r>
              <a:rPr lang="en-US" sz="1200" kern="1200" dirty="0">
                <a:solidFill>
                  <a:schemeClr val="tx1"/>
                </a:solidFill>
                <a:effectLst/>
                <a:latin typeface="+mn-lt"/>
                <a:ea typeface="+mn-ea"/>
                <a:cs typeface="+mn-cs"/>
              </a:rPr>
              <a:t>That assumption leads directly to structural breaches, connection failures, and data path obstructions. </a:t>
            </a:r>
          </a:p>
          <a:p>
            <a:pPr lvl="0"/>
            <a:r>
              <a:rPr lang="en-US" sz="1200" kern="1200" dirty="0">
                <a:solidFill>
                  <a:schemeClr val="tx1"/>
                </a:solidFill>
                <a:effectLst/>
                <a:latin typeface="+mn-lt"/>
                <a:ea typeface="+mn-ea"/>
                <a:cs typeface="+mn-cs"/>
              </a:rPr>
              <a:t>The </a:t>
            </a:r>
            <a:r>
              <a:rPr lang="en-US" sz="1200" b="1" kern="1200" dirty="0">
                <a:solidFill>
                  <a:schemeClr val="tx1"/>
                </a:solidFill>
                <a:effectLst/>
                <a:latin typeface="+mn-lt"/>
                <a:ea typeface="+mn-ea"/>
                <a:cs typeface="+mn-cs"/>
              </a:rPr>
              <a:t>reality</a:t>
            </a:r>
            <a:r>
              <a:rPr lang="en-US" sz="1200" kern="1200" dirty="0">
                <a:solidFill>
                  <a:schemeClr val="tx1"/>
                </a:solidFill>
                <a:effectLst/>
                <a:latin typeface="+mn-lt"/>
                <a:ea typeface="+mn-ea"/>
                <a:cs typeface="+mn-cs"/>
              </a:rPr>
              <a:t> is that AI agents do not possess magical intuition. In fact, AI agents rely on the exact same clear API abstractions, metadata registries, service catalogs, and standard protocols that human developers need. </a:t>
            </a:r>
          </a:p>
          <a:p>
            <a:pPr lvl="0"/>
            <a:r>
              <a:rPr lang="en-US" sz="1200" kern="1200" dirty="0">
                <a:solidFill>
                  <a:schemeClr val="tx1"/>
                </a:solidFill>
                <a:effectLst/>
                <a:latin typeface="+mn-lt"/>
                <a:ea typeface="+mn-ea"/>
                <a:cs typeface="+mn-cs"/>
              </a:rPr>
              <a:t>Agents require structured, deterministic platforms to function safely and reliably. Rather than replacing the platform, agentic AI makes a well-architected platform more essential than ever before. </a:t>
            </a:r>
          </a:p>
          <a:p>
            <a:endParaRPr lang="en-US" dirty="0"/>
          </a:p>
        </p:txBody>
      </p:sp>
      <p:sp>
        <p:nvSpPr>
          <p:cNvPr id="4" name="Slide Number Placeholder 3"/>
          <p:cNvSpPr>
            <a:spLocks noGrp="1"/>
          </p:cNvSpPr>
          <p:nvPr>
            <p:ph type="sldNum" sz="quarter" idx="5"/>
          </p:nvPr>
        </p:nvSpPr>
        <p:spPr/>
        <p:txBody>
          <a:bodyPr/>
          <a:lstStyle/>
          <a:p>
            <a:fld id="{8203961C-2AB0-4FC8-9707-1314660664F8}" type="slidenum">
              <a:rPr lang="en-US" smtClean="0"/>
              <a:t>4</a:t>
            </a:fld>
            <a:endParaRPr lang="en-US"/>
          </a:p>
        </p:txBody>
      </p:sp>
    </p:spTree>
    <p:extLst>
      <p:ext uri="{BB962C8B-B14F-4D97-AF65-F5344CB8AC3E}">
        <p14:creationId xmlns:p14="http://schemas.microsoft.com/office/powerpoint/2010/main" val="42229194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To solve this knowledge and abstraction problem at Dynatrace, we engineered </a:t>
            </a:r>
            <a:r>
              <a:rPr lang="en-US" sz="1200" b="1" kern="1200" dirty="0">
                <a:solidFill>
                  <a:schemeClr val="tx1"/>
                </a:solidFill>
                <a:effectLst/>
                <a:latin typeface="+mn-lt"/>
                <a:ea typeface="+mn-ea"/>
                <a:cs typeface="+mn-cs"/>
              </a:rPr>
              <a:t>Juno</a:t>
            </a:r>
            <a:r>
              <a:rPr lang="en-US" sz="1200" kern="1200" dirty="0">
                <a:solidFill>
                  <a:schemeClr val="tx1"/>
                </a:solidFill>
                <a:effectLst/>
                <a:latin typeface="+mn-lt"/>
                <a:ea typeface="+mn-ea"/>
                <a:cs typeface="+mn-cs"/>
              </a:rPr>
              <a:t>, our internal developer platform. </a:t>
            </a:r>
          </a:p>
          <a:p>
            <a:pPr lvl="0"/>
            <a:r>
              <a:rPr lang="en-US" sz="1200" kern="1200" dirty="0">
                <a:solidFill>
                  <a:schemeClr val="tx1"/>
                </a:solidFill>
                <a:effectLst/>
                <a:latin typeface="+mn-lt"/>
                <a:ea typeface="+mn-ea"/>
                <a:cs typeface="+mn-cs"/>
              </a:rPr>
              <a:t>Juno is structured into three foundational layers: </a:t>
            </a:r>
          </a:p>
          <a:p>
            <a:pPr marL="228600" lvl="0" indent="-228600">
              <a:buFont typeface="+mj-lt"/>
              <a:buAutoNum type="arabicPeriod"/>
            </a:pPr>
            <a:r>
              <a:rPr lang="en-US" sz="1200" b="1" kern="1200" dirty="0">
                <a:solidFill>
                  <a:schemeClr val="tx1"/>
                </a:solidFill>
                <a:effectLst/>
                <a:latin typeface="+mn-lt"/>
                <a:ea typeface="+mn-ea"/>
                <a:cs typeface="+mn-cs"/>
              </a:rPr>
              <a:t>The Software Catalog (Foundation):</a:t>
            </a:r>
            <a:r>
              <a:rPr lang="en-US" sz="1200" kern="1200" dirty="0">
                <a:solidFill>
                  <a:schemeClr val="tx1"/>
                </a:solidFill>
                <a:effectLst/>
                <a:latin typeface="+mn-lt"/>
                <a:ea typeface="+mn-ea"/>
                <a:cs typeface="+mn-cs"/>
              </a:rPr>
              <a:t> Curated, highly structured metadata defining software components, explicit ownership, dependencies, and deterministic operational data. </a:t>
            </a:r>
          </a:p>
          <a:p>
            <a:pPr marL="228600" lvl="0" indent="-228600">
              <a:buFont typeface="+mj-lt"/>
              <a:buAutoNum type="arabicPeriod"/>
            </a:pPr>
            <a:r>
              <a:rPr lang="en-US" sz="1200" b="1" kern="1200" dirty="0">
                <a:solidFill>
                  <a:schemeClr val="tx1"/>
                </a:solidFill>
                <a:effectLst/>
                <a:latin typeface="+mn-lt"/>
                <a:ea typeface="+mn-ea"/>
                <a:cs typeface="+mn-cs"/>
              </a:rPr>
              <a:t>The Connective Tissue:</a:t>
            </a:r>
            <a:r>
              <a:rPr lang="en-US" sz="1200" kern="1200" dirty="0">
                <a:solidFill>
                  <a:schemeClr val="tx1"/>
                </a:solidFill>
                <a:effectLst/>
                <a:latin typeface="+mn-lt"/>
                <a:ea typeface="+mn-ea"/>
                <a:cs typeface="+mn-cs"/>
              </a:rPr>
              <a:t> A dedicated Retrieval-Augmented Generation (RAG) pipeline combined with a </a:t>
            </a:r>
            <a:r>
              <a:rPr lang="en-US" sz="1200" b="1" kern="1200" dirty="0">
                <a:solidFill>
                  <a:schemeClr val="tx1"/>
                </a:solidFill>
                <a:effectLst/>
                <a:latin typeface="+mn-lt"/>
                <a:ea typeface="+mn-ea"/>
                <a:cs typeface="+mn-cs"/>
              </a:rPr>
              <a:t>Model Context Protocol (MCP) Server</a:t>
            </a:r>
            <a:r>
              <a:rPr lang="en-US" sz="1200" kern="1200" dirty="0">
                <a:solidFill>
                  <a:schemeClr val="tx1"/>
                </a:solidFill>
                <a:effectLst/>
                <a:latin typeface="+mn-lt"/>
                <a:ea typeface="+mn-ea"/>
                <a:cs typeface="+mn-cs"/>
              </a:rPr>
              <a:t>. This acts as the bridge, ensuring both human developers and AI agents query the exact same grounded context. </a:t>
            </a:r>
          </a:p>
          <a:p>
            <a:pPr marL="228600" lvl="0" indent="-228600">
              <a:buFont typeface="+mj-lt"/>
              <a:buAutoNum type="arabicPeriod"/>
            </a:pPr>
            <a:r>
              <a:rPr lang="en-US" sz="1200" b="1" kern="1200" dirty="0">
                <a:solidFill>
                  <a:schemeClr val="tx1"/>
                </a:solidFill>
                <a:effectLst/>
                <a:latin typeface="+mn-lt"/>
                <a:ea typeface="+mn-ea"/>
                <a:cs typeface="+mn-cs"/>
              </a:rPr>
              <a:t>Universal Interfaces:</a:t>
            </a:r>
            <a:r>
              <a:rPr lang="en-US" sz="1200" kern="1200" dirty="0">
                <a:solidFill>
                  <a:schemeClr val="tx1"/>
                </a:solidFill>
                <a:effectLst/>
                <a:latin typeface="+mn-lt"/>
                <a:ea typeface="+mn-ea"/>
                <a:cs typeface="+mn-cs"/>
              </a:rPr>
              <a:t> Flexible access points catering to different modes of work—the </a:t>
            </a:r>
            <a:r>
              <a:rPr lang="en-US" sz="1200" b="1" kern="1200" dirty="0">
                <a:solidFill>
                  <a:schemeClr val="tx1"/>
                </a:solidFill>
                <a:effectLst/>
                <a:latin typeface="+mn-lt"/>
                <a:ea typeface="+mn-ea"/>
                <a:cs typeface="+mn-cs"/>
              </a:rPr>
              <a:t>Juno Portal</a:t>
            </a:r>
            <a:r>
              <a:rPr lang="en-US" sz="1200" kern="1200" dirty="0">
                <a:solidFill>
                  <a:schemeClr val="tx1"/>
                </a:solidFill>
                <a:effectLst/>
                <a:latin typeface="+mn-lt"/>
                <a:ea typeface="+mn-ea"/>
                <a:cs typeface="+mn-cs"/>
              </a:rPr>
              <a:t> for visual exploration, the </a:t>
            </a:r>
            <a:r>
              <a:rPr lang="en-US" sz="1200" b="1" kern="1200" dirty="0">
                <a:solidFill>
                  <a:schemeClr val="tx1"/>
                </a:solidFill>
                <a:effectLst/>
                <a:latin typeface="+mn-lt"/>
                <a:ea typeface="+mn-ea"/>
                <a:cs typeface="+mn-cs"/>
              </a:rPr>
              <a:t>Agentic Workspace</a:t>
            </a:r>
            <a:r>
              <a:rPr lang="en-US" sz="1200" kern="1200" dirty="0">
                <a:solidFill>
                  <a:schemeClr val="tx1"/>
                </a:solidFill>
                <a:effectLst/>
                <a:latin typeface="+mn-lt"/>
                <a:ea typeface="+mn-ea"/>
                <a:cs typeface="+mn-cs"/>
              </a:rPr>
              <a:t> for local development, and </a:t>
            </a:r>
            <a:r>
              <a:rPr lang="en-US" sz="1200" b="1" kern="1200" dirty="0">
                <a:solidFill>
                  <a:schemeClr val="tx1"/>
                </a:solidFill>
                <a:effectLst/>
                <a:latin typeface="+mn-lt"/>
                <a:ea typeface="+mn-ea"/>
                <a:cs typeface="+mn-cs"/>
              </a:rPr>
              <a:t>Automated Triggers</a:t>
            </a:r>
            <a:r>
              <a:rPr lang="en-US" sz="1200" kern="1200" dirty="0">
                <a:solidFill>
                  <a:schemeClr val="tx1"/>
                </a:solidFill>
                <a:effectLst/>
                <a:latin typeface="+mn-lt"/>
                <a:ea typeface="+mn-ea"/>
                <a:cs typeface="+mn-cs"/>
              </a:rPr>
              <a:t> integrated into GitHub pull requests and CI/CD pipelines. </a:t>
            </a:r>
          </a:p>
          <a:p>
            <a:pPr lvl="0"/>
            <a:r>
              <a:rPr lang="en-US" sz="1200" kern="1200" dirty="0">
                <a:solidFill>
                  <a:schemeClr val="tx1"/>
                </a:solidFill>
                <a:effectLst/>
                <a:latin typeface="+mn-lt"/>
                <a:ea typeface="+mn-ea"/>
                <a:cs typeface="+mn-cs"/>
              </a:rPr>
              <a:t>Because the catalog provides explicit relationships rather than probabilistic guesses, AI agents hooked into Juno receive verified context, eliminating hallucinations.</a:t>
            </a:r>
          </a:p>
          <a:p>
            <a:endParaRPr lang="en-US" dirty="0"/>
          </a:p>
        </p:txBody>
      </p:sp>
      <p:sp>
        <p:nvSpPr>
          <p:cNvPr id="4" name="Slide Number Placeholder 3"/>
          <p:cNvSpPr>
            <a:spLocks noGrp="1"/>
          </p:cNvSpPr>
          <p:nvPr>
            <p:ph type="sldNum" sz="quarter" idx="5"/>
          </p:nvPr>
        </p:nvSpPr>
        <p:spPr/>
        <p:txBody>
          <a:bodyPr/>
          <a:lstStyle/>
          <a:p>
            <a:fld id="{8203961C-2AB0-4FC8-9707-1314660664F8}" type="slidenum">
              <a:rPr lang="en-US" smtClean="0"/>
              <a:t>5</a:t>
            </a:fld>
            <a:endParaRPr lang="en-US"/>
          </a:p>
        </p:txBody>
      </p:sp>
    </p:spTree>
    <p:extLst>
      <p:ext uri="{BB962C8B-B14F-4D97-AF65-F5344CB8AC3E}">
        <p14:creationId xmlns:p14="http://schemas.microsoft.com/office/powerpoint/2010/main" val="39785021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One of the most critical principles in an agentic platform is enforcing a clear boundary: </a:t>
            </a:r>
            <a:r>
              <a:rPr lang="en-US" sz="1200" b="1" kern="1200" dirty="0">
                <a:solidFill>
                  <a:schemeClr val="tx1"/>
                </a:solidFill>
                <a:effectLst/>
                <a:latin typeface="+mn-lt"/>
                <a:ea typeface="+mn-ea"/>
                <a:cs typeface="+mn-cs"/>
              </a:rPr>
              <a:t>Never use probabilistic LLM evaluations to gate production releases</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Production readiness must be governed by hard, deterministic metrics.</a:t>
            </a:r>
          </a:p>
          <a:p>
            <a:pPr lvl="0"/>
            <a:r>
              <a:rPr lang="en-US" sz="1200" kern="1200" dirty="0">
                <a:solidFill>
                  <a:schemeClr val="tx1"/>
                </a:solidFill>
                <a:effectLst/>
                <a:latin typeface="+mn-lt"/>
                <a:ea typeface="+mn-ea"/>
                <a:cs typeface="+mn-cs"/>
              </a:rPr>
              <a:t>In Juno, we encoded our engineering standards into automated </a:t>
            </a:r>
            <a:r>
              <a:rPr lang="en-US" sz="1200" b="1" kern="1200" dirty="0">
                <a:solidFill>
                  <a:schemeClr val="tx1"/>
                </a:solidFill>
                <a:effectLst/>
                <a:latin typeface="+mn-lt"/>
                <a:ea typeface="+mn-ea"/>
                <a:cs typeface="+mn-cs"/>
              </a:rPr>
              <a:t>Scorecards</a:t>
            </a:r>
            <a:r>
              <a:rPr lang="en-US" sz="1200" kern="1200" dirty="0">
                <a:solidFill>
                  <a:schemeClr val="tx1"/>
                </a:solidFill>
                <a:effectLst/>
                <a:latin typeface="+mn-lt"/>
                <a:ea typeface="+mn-ea"/>
                <a:cs typeface="+mn-cs"/>
              </a:rPr>
              <a:t>. When an AI coding agent or a human engineer prepares a deployment, the system executes a deterministic API query to evaluate quality signals against strictly defined parameters: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API Schema Validation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Latency Thresholds (&lt;50ms) &amp; Error Rates (&lt;0.1%)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Security Compliance &amp; Dependency Health </a:t>
            </a:r>
          </a:p>
          <a:p>
            <a:pPr marL="171450" lvl="0" indent="-171450">
              <a:buFont typeface="Arial" panose="020B0604020202020204" pitchFamily="34" charset="0"/>
              <a:buChar char="•"/>
            </a:pPr>
            <a:r>
              <a:rPr lang="en-US" sz="1200" kern="1200" dirty="0">
                <a:solidFill>
                  <a:schemeClr val="tx1"/>
                </a:solidFill>
                <a:effectLst/>
                <a:latin typeface="+mn-lt"/>
                <a:ea typeface="+mn-ea"/>
                <a:cs typeface="+mn-cs"/>
              </a:rPr>
              <a:t>Metadata Integrity </a:t>
            </a:r>
          </a:p>
          <a:p>
            <a:pPr lvl="0"/>
            <a:r>
              <a:rPr lang="en-US" sz="1200" kern="1200" dirty="0">
                <a:solidFill>
                  <a:schemeClr val="tx1"/>
                </a:solidFill>
                <a:effectLst/>
                <a:latin typeface="+mn-lt"/>
                <a:ea typeface="+mn-ea"/>
                <a:cs typeface="+mn-cs"/>
              </a:rPr>
              <a:t>This creates a definitive Pass/Fail gate. The agent can use the scorecard feedback loop to fix bugs autonomously before requesting human review. </a:t>
            </a:r>
          </a:p>
          <a:p>
            <a:endParaRPr lang="en-US" dirty="0"/>
          </a:p>
        </p:txBody>
      </p:sp>
      <p:sp>
        <p:nvSpPr>
          <p:cNvPr id="4" name="Slide Number Placeholder 3"/>
          <p:cNvSpPr>
            <a:spLocks noGrp="1"/>
          </p:cNvSpPr>
          <p:nvPr>
            <p:ph type="sldNum" sz="quarter" idx="5"/>
          </p:nvPr>
        </p:nvSpPr>
        <p:spPr/>
        <p:txBody>
          <a:bodyPr/>
          <a:lstStyle/>
          <a:p>
            <a:fld id="{8203961C-2AB0-4FC8-9707-1314660664F8}" type="slidenum">
              <a:rPr lang="en-US" smtClean="0"/>
              <a:t>6</a:t>
            </a:fld>
            <a:endParaRPr lang="en-US"/>
          </a:p>
        </p:txBody>
      </p:sp>
    </p:spTree>
    <p:extLst>
      <p:ext uri="{BB962C8B-B14F-4D97-AF65-F5344CB8AC3E}">
        <p14:creationId xmlns:p14="http://schemas.microsoft.com/office/powerpoint/2010/main" val="276944665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we expanded Juno, we examined the interplay between Graphical UIs and Agentic Chat. </a:t>
            </a:r>
          </a:p>
          <a:p>
            <a:pPr lvl="0"/>
            <a:r>
              <a:rPr lang="en-US" sz="1200" kern="1200" dirty="0">
                <a:solidFill>
                  <a:schemeClr val="tx1"/>
                </a:solidFill>
                <a:effectLst/>
                <a:latin typeface="+mn-lt"/>
                <a:ea typeface="+mn-ea"/>
                <a:cs typeface="+mn-cs"/>
              </a:rPr>
              <a:t>Agentic Chat excels at execution speed, multi-step workflow abstraction, and querying dynamic context. However, Graphical UIs remain essential for high-density visual data (charts, telemetry) and building human trust through intuitive exploration. </a:t>
            </a:r>
          </a:p>
          <a:p>
            <a:pPr lvl="0"/>
            <a:r>
              <a:rPr lang="en-US" sz="1200" kern="1200" dirty="0">
                <a:solidFill>
                  <a:schemeClr val="tx1"/>
                </a:solidFill>
                <a:effectLst/>
                <a:latin typeface="+mn-lt"/>
                <a:ea typeface="+mn-ea"/>
                <a:cs typeface="+mn-cs"/>
              </a:rPr>
              <a:t>To handle internal innovation without creating chaos, we established the </a:t>
            </a:r>
            <a:r>
              <a:rPr lang="en-US" sz="1200" b="1" kern="1200" dirty="0">
                <a:solidFill>
                  <a:schemeClr val="tx1"/>
                </a:solidFill>
                <a:effectLst/>
                <a:latin typeface="+mn-lt"/>
                <a:ea typeface="+mn-ea"/>
                <a:cs typeface="+mn-cs"/>
              </a:rPr>
              <a:t>Skill Marketplace Lifecycle</a:t>
            </a:r>
            <a:r>
              <a:rPr lang="en-US" sz="1200" kern="1200" dirty="0">
                <a:solidFill>
                  <a:schemeClr val="tx1"/>
                </a:solidFill>
                <a:effectLst/>
                <a:latin typeface="+mn-lt"/>
                <a:ea typeface="+mn-ea"/>
                <a:cs typeface="+mn-cs"/>
              </a:rPr>
              <a:t>:</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Open Contribution:</a:t>
            </a:r>
            <a:r>
              <a:rPr lang="en-US" sz="1200" kern="1200" dirty="0">
                <a:solidFill>
                  <a:schemeClr val="tx1"/>
                </a:solidFill>
                <a:effectLst/>
                <a:latin typeface="+mn-lt"/>
                <a:ea typeface="+mn-ea"/>
                <a:cs typeface="+mn-cs"/>
              </a:rPr>
              <a:t> Engineers created over 200 raw internal skills/tools for their agents.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Curation Filter:</a:t>
            </a:r>
            <a:r>
              <a:rPr lang="en-US" sz="1200" kern="1200" dirty="0">
                <a:solidFill>
                  <a:schemeClr val="tx1"/>
                </a:solidFill>
                <a:effectLst/>
                <a:latin typeface="+mn-lt"/>
                <a:ea typeface="+mn-ea"/>
                <a:cs typeface="+mn-cs"/>
              </a:rPr>
              <a:t> Platform teams deduplicate, run standard checks, and review submitted capabilities.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Official Ecosystem:</a:t>
            </a:r>
            <a:r>
              <a:rPr lang="en-US" sz="1200" kern="1200" dirty="0">
                <a:solidFill>
                  <a:schemeClr val="tx1"/>
                </a:solidFill>
                <a:effectLst/>
                <a:latin typeface="+mn-lt"/>
                <a:ea typeface="+mn-ea"/>
                <a:cs typeface="+mn-cs"/>
              </a:rPr>
              <a:t> Vetted, high-quality skills are promoted to official Juno Platform Assets, accessible across the organization. </a:t>
            </a:r>
          </a:p>
          <a:p>
            <a:endParaRPr lang="en-US" dirty="0"/>
          </a:p>
          <a:p>
            <a:endParaRPr lang="en-US" dirty="0"/>
          </a:p>
        </p:txBody>
      </p:sp>
      <p:sp>
        <p:nvSpPr>
          <p:cNvPr id="4" name="Slide Number Placeholder 3"/>
          <p:cNvSpPr>
            <a:spLocks noGrp="1"/>
          </p:cNvSpPr>
          <p:nvPr>
            <p:ph type="sldNum" sz="quarter" idx="5"/>
          </p:nvPr>
        </p:nvSpPr>
        <p:spPr/>
        <p:txBody>
          <a:bodyPr/>
          <a:lstStyle/>
          <a:p>
            <a:fld id="{8203961C-2AB0-4FC8-9707-1314660664F8}" type="slidenum">
              <a:rPr lang="en-US" smtClean="0"/>
              <a:t>7</a:t>
            </a:fld>
            <a:endParaRPr lang="en-US"/>
          </a:p>
        </p:txBody>
      </p:sp>
    </p:spTree>
    <p:extLst>
      <p:ext uri="{BB962C8B-B14F-4D97-AF65-F5344CB8AC3E}">
        <p14:creationId xmlns:p14="http://schemas.microsoft.com/office/powerpoint/2010/main" val="425423614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If you cannot measure your agentic ecosystem, you cannot manage or justify it. We leveraged </a:t>
            </a:r>
            <a:r>
              <a:rPr lang="en-US" sz="1200" b="1"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to instrument every single agentic interaction. </a:t>
            </a:r>
          </a:p>
          <a:p>
            <a:pPr lvl="0"/>
            <a:r>
              <a:rPr lang="en-US" sz="1200" kern="1200" dirty="0">
                <a:solidFill>
                  <a:schemeClr val="tx1"/>
                </a:solidFill>
                <a:effectLst/>
                <a:latin typeface="+mn-lt"/>
                <a:ea typeface="+mn-ea"/>
                <a:cs typeface="+mn-cs"/>
              </a:rPr>
              <a:t>We track three major dimensions: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User Adoption:</a:t>
            </a:r>
            <a:r>
              <a:rPr lang="en-US" sz="1200" kern="1200" dirty="0">
                <a:solidFill>
                  <a:schemeClr val="tx1"/>
                </a:solidFill>
                <a:effectLst/>
                <a:latin typeface="+mn-lt"/>
                <a:ea typeface="+mn-ea"/>
                <a:cs typeface="+mn-cs"/>
              </a:rPr>
              <a:t> Monitoring active adoption trends scaling toward our full 2,000+ R&amp;D engineering organization.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Agentic Telemetry:</a:t>
            </a:r>
            <a:r>
              <a:rPr lang="en-US" sz="1200" kern="1200" dirty="0">
                <a:solidFill>
                  <a:schemeClr val="tx1"/>
                </a:solidFill>
                <a:effectLst/>
                <a:latin typeface="+mn-lt"/>
                <a:ea typeface="+mn-ea"/>
                <a:cs typeface="+mn-cs"/>
              </a:rPr>
              <a:t> Capturing prompt inputs, context retrieval latency, LLM model execution, tool invocation, and token logging.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Business Impact &amp; DORA Metrics:</a:t>
            </a:r>
            <a:r>
              <a:rPr lang="en-US" sz="1200" kern="1200" dirty="0">
                <a:solidFill>
                  <a:schemeClr val="tx1"/>
                </a:solidFill>
                <a:effectLst/>
                <a:latin typeface="+mn-lt"/>
                <a:ea typeface="+mn-ea"/>
                <a:cs typeface="+mn-cs"/>
              </a:rPr>
              <a:t> Demonstrating tangible ROI. As shown in our deployment data, average deployment times dropped from </a:t>
            </a:r>
            <a:r>
              <a:rPr lang="en-US" sz="1200" b="1" kern="1200" dirty="0">
                <a:solidFill>
                  <a:schemeClr val="tx1"/>
                </a:solidFill>
                <a:effectLst/>
                <a:latin typeface="+mn-lt"/>
                <a:ea typeface="+mn-ea"/>
                <a:cs typeface="+mn-cs"/>
              </a:rPr>
              <a:t>60 minutes</a:t>
            </a:r>
            <a:r>
              <a:rPr lang="en-US" sz="1200" kern="1200" dirty="0">
                <a:solidFill>
                  <a:schemeClr val="tx1"/>
                </a:solidFill>
                <a:effectLst/>
                <a:latin typeface="+mn-lt"/>
                <a:ea typeface="+mn-ea"/>
                <a:cs typeface="+mn-cs"/>
              </a:rPr>
              <a:t> pre-agentic, down to </a:t>
            </a:r>
            <a:r>
              <a:rPr lang="en-US" sz="1200" b="1" kern="1200" dirty="0">
                <a:solidFill>
                  <a:schemeClr val="tx1"/>
                </a:solidFill>
                <a:effectLst/>
                <a:latin typeface="+mn-lt"/>
                <a:ea typeface="+mn-ea"/>
                <a:cs typeface="+mn-cs"/>
              </a:rPr>
              <a:t>30 minutes</a:t>
            </a:r>
            <a:r>
              <a:rPr lang="en-US" sz="1200" kern="1200" dirty="0">
                <a:solidFill>
                  <a:schemeClr val="tx1"/>
                </a:solidFill>
                <a:effectLst/>
                <a:latin typeface="+mn-lt"/>
                <a:ea typeface="+mn-ea"/>
                <a:cs typeface="+mn-cs"/>
              </a:rPr>
              <a:t> in pilot, and ultimately to </a:t>
            </a:r>
            <a:r>
              <a:rPr lang="en-US" sz="1200" b="1" kern="1200" dirty="0">
                <a:solidFill>
                  <a:schemeClr val="tx1"/>
                </a:solidFill>
                <a:effectLst/>
                <a:latin typeface="+mn-lt"/>
                <a:ea typeface="+mn-ea"/>
                <a:cs typeface="+mn-cs"/>
              </a:rPr>
              <a:t>10 minutes</a:t>
            </a:r>
            <a:r>
              <a:rPr lang="en-US" sz="1200" kern="1200" dirty="0">
                <a:solidFill>
                  <a:schemeClr val="tx1"/>
                </a:solidFill>
                <a:effectLst/>
                <a:latin typeface="+mn-lt"/>
                <a:ea typeface="+mn-ea"/>
                <a:cs typeface="+mn-cs"/>
              </a:rPr>
              <a:t> upon full rollout. </a:t>
            </a:r>
          </a:p>
          <a:p>
            <a:endParaRPr lang="en-US" dirty="0"/>
          </a:p>
        </p:txBody>
      </p:sp>
      <p:sp>
        <p:nvSpPr>
          <p:cNvPr id="4" name="Slide Number Placeholder 3"/>
          <p:cNvSpPr>
            <a:spLocks noGrp="1"/>
          </p:cNvSpPr>
          <p:nvPr>
            <p:ph type="sldNum" sz="quarter" idx="5"/>
          </p:nvPr>
        </p:nvSpPr>
        <p:spPr/>
        <p:txBody>
          <a:bodyPr/>
          <a:lstStyle/>
          <a:p>
            <a:fld id="{8203961C-2AB0-4FC8-9707-1314660664F8}" type="slidenum">
              <a:rPr lang="en-US" smtClean="0"/>
              <a:t>8</a:t>
            </a:fld>
            <a:endParaRPr lang="en-US"/>
          </a:p>
        </p:txBody>
      </p:sp>
    </p:spTree>
    <p:extLst>
      <p:ext uri="{BB962C8B-B14F-4D97-AF65-F5344CB8AC3E}">
        <p14:creationId xmlns:p14="http://schemas.microsoft.com/office/powerpoint/2010/main" val="14376097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Building a great platform is only half the battle; ensuring adoption requires treated internal developer platforms as real products. </a:t>
            </a:r>
          </a:p>
          <a:p>
            <a:pPr lvl="0"/>
            <a:r>
              <a:rPr lang="en-US" sz="1200" kern="1200" dirty="0">
                <a:solidFill>
                  <a:schemeClr val="tx1"/>
                </a:solidFill>
                <a:effectLst/>
                <a:latin typeface="+mn-lt"/>
                <a:ea typeface="+mn-ea"/>
                <a:cs typeface="+mn-cs"/>
              </a:rPr>
              <a:t>If engineers don't know a platform capability or skill exists, they will waste time rebuilding a duplicate solution.</a:t>
            </a:r>
          </a:p>
          <a:p>
            <a:pPr lvl="0"/>
            <a:r>
              <a:rPr lang="en-US" sz="1200" kern="1200" dirty="0">
                <a:solidFill>
                  <a:schemeClr val="tx1"/>
                </a:solidFill>
                <a:effectLst/>
                <a:latin typeface="+mn-lt"/>
                <a:ea typeface="+mn-ea"/>
                <a:cs typeface="+mn-cs"/>
              </a:rPr>
              <a:t>This is why Dynatrace invested dedicated resources into </a:t>
            </a:r>
            <a:r>
              <a:rPr lang="en-US" sz="1200" b="1" kern="1200" dirty="0">
                <a:solidFill>
                  <a:schemeClr val="tx1"/>
                </a:solidFill>
                <a:effectLst/>
                <a:latin typeface="+mn-lt"/>
                <a:ea typeface="+mn-ea"/>
                <a:cs typeface="+mn-cs"/>
              </a:rPr>
              <a:t>Internal Developer Relations (DevRel)</a:t>
            </a:r>
            <a:r>
              <a:rPr lang="en-US" sz="1200" kern="1200" dirty="0">
                <a:solidFill>
                  <a:schemeClr val="tx1"/>
                </a:solidFill>
                <a:effectLst/>
                <a:latin typeface="+mn-lt"/>
                <a:ea typeface="+mn-ea"/>
                <a:cs typeface="+mn-cs"/>
              </a:rPr>
              <a:t>. Internal DevRel serves as the connective hub between the centralized Platform Team and decentralized Engineering Squads: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Broadcasting Roadmaps:</a:t>
            </a:r>
            <a:r>
              <a:rPr lang="en-US" sz="1200" kern="1200" dirty="0">
                <a:solidFill>
                  <a:schemeClr val="tx1"/>
                </a:solidFill>
                <a:effectLst/>
                <a:latin typeface="+mn-lt"/>
                <a:ea typeface="+mn-ea"/>
                <a:cs typeface="+mn-cs"/>
              </a:rPr>
              <a:t> Educating teams on platform features and agent capabilities.</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Gathering Pain Points:</a:t>
            </a:r>
            <a:r>
              <a:rPr lang="en-US" sz="1200" kern="1200" dirty="0">
                <a:solidFill>
                  <a:schemeClr val="tx1"/>
                </a:solidFill>
                <a:effectLst/>
                <a:latin typeface="+mn-lt"/>
                <a:ea typeface="+mn-ea"/>
                <a:cs typeface="+mn-cs"/>
              </a:rPr>
              <a:t> Feeding actual developer friction back into product backlogs.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Curating the Marketplace:</a:t>
            </a:r>
            <a:r>
              <a:rPr lang="en-US" sz="1200" kern="1200" dirty="0">
                <a:solidFill>
                  <a:schemeClr val="tx1"/>
                </a:solidFill>
                <a:effectLst/>
                <a:latin typeface="+mn-lt"/>
                <a:ea typeface="+mn-ea"/>
                <a:cs typeface="+mn-cs"/>
              </a:rPr>
              <a:t> Helping squads package and share custom skills across the enterprise. </a:t>
            </a:r>
          </a:p>
          <a:p>
            <a:endParaRPr lang="en-US" dirty="0"/>
          </a:p>
        </p:txBody>
      </p:sp>
      <p:sp>
        <p:nvSpPr>
          <p:cNvPr id="4" name="Slide Number Placeholder 3"/>
          <p:cNvSpPr>
            <a:spLocks noGrp="1"/>
          </p:cNvSpPr>
          <p:nvPr>
            <p:ph type="sldNum" sz="quarter" idx="5"/>
          </p:nvPr>
        </p:nvSpPr>
        <p:spPr/>
        <p:txBody>
          <a:bodyPr/>
          <a:lstStyle/>
          <a:p>
            <a:fld id="{8203961C-2AB0-4FC8-9707-1314660664F8}" type="slidenum">
              <a:rPr lang="en-US" smtClean="0"/>
              <a:t>9</a:t>
            </a:fld>
            <a:endParaRPr lang="en-US"/>
          </a:p>
        </p:txBody>
      </p:sp>
    </p:spTree>
    <p:extLst>
      <p:ext uri="{BB962C8B-B14F-4D97-AF65-F5344CB8AC3E}">
        <p14:creationId xmlns:p14="http://schemas.microsoft.com/office/powerpoint/2010/main" val="259440914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summarize our learnings into an actionable executive strategy, here is our 4-point </a:t>
            </a:r>
            <a:r>
              <a:rPr lang="en-US" sz="1200" b="1" kern="1200" dirty="0">
                <a:solidFill>
                  <a:schemeClr val="tx1"/>
                </a:solidFill>
                <a:effectLst/>
                <a:latin typeface="+mn-lt"/>
                <a:ea typeface="+mn-ea"/>
                <a:cs typeface="+mn-cs"/>
              </a:rPr>
              <a:t>Blueprint for Scaled AI Engineering</a:t>
            </a:r>
            <a:r>
              <a:rPr lang="en-US" sz="1200" kern="1200" dirty="0">
                <a:solidFill>
                  <a:schemeClr val="tx1"/>
                </a:solidFill>
                <a:effectLst/>
                <a:latin typeface="+mn-lt"/>
                <a:ea typeface="+mn-ea"/>
                <a:cs typeface="+mn-cs"/>
              </a:rPr>
              <a:t>: </a:t>
            </a:r>
          </a:p>
          <a:p>
            <a:pPr marL="228600" lvl="0" indent="-228600">
              <a:buFont typeface="+mj-lt"/>
              <a:buAutoNum type="arabicPeriod"/>
            </a:pPr>
            <a:r>
              <a:rPr lang="en-US" sz="1200" b="1" kern="1200" dirty="0">
                <a:solidFill>
                  <a:schemeClr val="tx1"/>
                </a:solidFill>
                <a:effectLst/>
                <a:latin typeface="+mn-lt"/>
                <a:ea typeface="+mn-ea"/>
                <a:cs typeface="+mn-cs"/>
              </a:rPr>
              <a:t>Build the Brain First:</a:t>
            </a:r>
            <a:r>
              <a:rPr lang="en-US" sz="1200" kern="1200" dirty="0">
                <a:solidFill>
                  <a:schemeClr val="tx1"/>
                </a:solidFill>
                <a:effectLst/>
                <a:latin typeface="+mn-lt"/>
                <a:ea typeface="+mn-ea"/>
                <a:cs typeface="+mn-cs"/>
              </a:rPr>
              <a:t> Prioritize a clean, curated software catalog and knowledge graph before trying to connect complex LLM plugins. </a:t>
            </a:r>
          </a:p>
          <a:p>
            <a:pPr marL="228600" lvl="0" indent="-228600">
              <a:buFont typeface="+mj-lt"/>
              <a:buAutoNum type="arabicPeriod"/>
            </a:pPr>
            <a:r>
              <a:rPr lang="en-US" sz="1200" b="1" kern="1200" dirty="0">
                <a:solidFill>
                  <a:schemeClr val="tx1"/>
                </a:solidFill>
                <a:effectLst/>
                <a:latin typeface="+mn-lt"/>
                <a:ea typeface="+mn-ea"/>
                <a:cs typeface="+mn-cs"/>
              </a:rPr>
              <a:t>Enforce Deterministic Quality:</a:t>
            </a:r>
            <a:r>
              <a:rPr lang="en-US" sz="1200" kern="1200" dirty="0">
                <a:solidFill>
                  <a:schemeClr val="tx1"/>
                </a:solidFill>
                <a:effectLst/>
                <a:latin typeface="+mn-lt"/>
                <a:ea typeface="+mn-ea"/>
                <a:cs typeface="+mn-cs"/>
              </a:rPr>
              <a:t> Rely on strict APIs, schemas, and scorecards for production deployment gates—never leave production gates to LLM probability. </a:t>
            </a:r>
          </a:p>
          <a:p>
            <a:pPr marL="228600" lvl="0" indent="-228600">
              <a:buFont typeface="+mj-lt"/>
              <a:buAutoNum type="arabicPeriod"/>
            </a:pPr>
            <a:r>
              <a:rPr lang="en-US" sz="1200" b="1" kern="1200" dirty="0">
                <a:solidFill>
                  <a:schemeClr val="tx1"/>
                </a:solidFill>
                <a:effectLst/>
                <a:latin typeface="+mn-lt"/>
                <a:ea typeface="+mn-ea"/>
                <a:cs typeface="+mn-cs"/>
              </a:rPr>
              <a:t>Adopt a Product Mindset:</a:t>
            </a:r>
            <a:r>
              <a:rPr lang="en-US" sz="1200" kern="1200" dirty="0">
                <a:solidFill>
                  <a:schemeClr val="tx1"/>
                </a:solidFill>
                <a:effectLst/>
                <a:latin typeface="+mn-lt"/>
                <a:ea typeface="+mn-ea"/>
                <a:cs typeface="+mn-cs"/>
              </a:rPr>
              <a:t> Treat your Internal Developer Platform as a product and support it with active Internal DevRel. </a:t>
            </a:r>
          </a:p>
          <a:p>
            <a:pPr marL="228600" lvl="0" indent="-228600">
              <a:buFont typeface="+mj-lt"/>
              <a:buAutoNum type="arabicPeriod"/>
            </a:pPr>
            <a:r>
              <a:rPr lang="en-US" sz="1200" b="1" kern="1200" dirty="0">
                <a:solidFill>
                  <a:schemeClr val="tx1"/>
                </a:solidFill>
                <a:effectLst/>
                <a:latin typeface="+mn-lt"/>
                <a:ea typeface="+mn-ea"/>
                <a:cs typeface="+mn-cs"/>
              </a:rPr>
              <a:t>Instrument Everything:</a:t>
            </a:r>
            <a:r>
              <a:rPr lang="en-US" sz="1200" kern="1200" dirty="0">
                <a:solidFill>
                  <a:schemeClr val="tx1"/>
                </a:solidFill>
                <a:effectLst/>
                <a:latin typeface="+mn-lt"/>
                <a:ea typeface="+mn-ea"/>
                <a:cs typeface="+mn-cs"/>
              </a:rPr>
              <a:t> Apply </a:t>
            </a:r>
            <a:r>
              <a:rPr lang="en-US" sz="1200" kern="1200" dirty="0" err="1">
                <a:solidFill>
                  <a:schemeClr val="tx1"/>
                </a:solidFill>
                <a:effectLst/>
                <a:latin typeface="+mn-lt"/>
                <a:ea typeface="+mn-ea"/>
                <a:cs typeface="+mn-cs"/>
              </a:rPr>
              <a:t>OpenTelemetry</a:t>
            </a:r>
            <a:r>
              <a:rPr lang="en-US" sz="1200" kern="1200" dirty="0">
                <a:solidFill>
                  <a:schemeClr val="tx1"/>
                </a:solidFill>
                <a:effectLst/>
                <a:latin typeface="+mn-lt"/>
                <a:ea typeface="+mn-ea"/>
                <a:cs typeface="+mn-cs"/>
              </a:rPr>
              <a:t> across all agentic interactions to quantify business ROI and DORA acceleration. </a:t>
            </a:r>
          </a:p>
          <a:p>
            <a:endParaRPr lang="en-US" dirty="0"/>
          </a:p>
        </p:txBody>
      </p:sp>
      <p:sp>
        <p:nvSpPr>
          <p:cNvPr id="4" name="Slide Number Placeholder 3"/>
          <p:cNvSpPr>
            <a:spLocks noGrp="1"/>
          </p:cNvSpPr>
          <p:nvPr>
            <p:ph type="sldNum" sz="quarter" idx="5"/>
          </p:nvPr>
        </p:nvSpPr>
        <p:spPr/>
        <p:txBody>
          <a:bodyPr/>
          <a:lstStyle/>
          <a:p>
            <a:fld id="{8203961C-2AB0-4FC8-9707-1314660664F8}" type="slidenum">
              <a:rPr lang="en-US" smtClean="0"/>
              <a:t>10</a:t>
            </a:fld>
            <a:endParaRPr lang="en-US"/>
          </a:p>
        </p:txBody>
      </p:sp>
    </p:spTree>
    <p:extLst>
      <p:ext uri="{BB962C8B-B14F-4D97-AF65-F5344CB8AC3E}">
        <p14:creationId xmlns:p14="http://schemas.microsoft.com/office/powerpoint/2010/main" val="25592147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As AI agents handle routine tactical tasks—such as boilerplate creation, unit test writing, and bug patches—the role of the human software engineer undergoes a fundamental transformation. </a:t>
            </a:r>
          </a:p>
          <a:p>
            <a:pPr lvl="0"/>
            <a:r>
              <a:rPr lang="en-US" sz="1200" kern="1200" dirty="0">
                <a:solidFill>
                  <a:schemeClr val="tx1"/>
                </a:solidFill>
                <a:effectLst/>
                <a:latin typeface="+mn-lt"/>
                <a:ea typeface="+mn-ea"/>
                <a:cs typeface="+mn-cs"/>
              </a:rPr>
              <a:t>AI handles the </a:t>
            </a:r>
            <a:r>
              <a:rPr lang="en-US" sz="1200" b="1" kern="1200" dirty="0">
                <a:solidFill>
                  <a:schemeClr val="tx1"/>
                </a:solidFill>
                <a:effectLst/>
                <a:latin typeface="+mn-lt"/>
                <a:ea typeface="+mn-ea"/>
                <a:cs typeface="+mn-cs"/>
              </a:rPr>
              <a:t>'What'</a:t>
            </a:r>
            <a:r>
              <a:rPr lang="en-US" sz="1200" kern="1200" dirty="0">
                <a:solidFill>
                  <a:schemeClr val="tx1"/>
                </a:solidFill>
                <a:effectLst/>
                <a:latin typeface="+mn-lt"/>
                <a:ea typeface="+mn-ea"/>
                <a:cs typeface="+mn-cs"/>
              </a:rPr>
              <a:t>, but it cannot independently manage the </a:t>
            </a:r>
            <a:r>
              <a:rPr lang="en-US" sz="1200" b="1" kern="1200" dirty="0">
                <a:solidFill>
                  <a:schemeClr val="tx1"/>
                </a:solidFill>
                <a:effectLst/>
                <a:latin typeface="+mn-lt"/>
                <a:ea typeface="+mn-ea"/>
                <a:cs typeface="+mn-cs"/>
              </a:rPr>
              <a:t>'Why'</a:t>
            </a:r>
            <a:r>
              <a:rPr lang="en-US" sz="1200" kern="1200" dirty="0">
                <a:solidFill>
                  <a:schemeClr val="tx1"/>
                </a:solidFill>
                <a:effectLst/>
                <a:latin typeface="+mn-lt"/>
                <a:ea typeface="+mn-ea"/>
                <a:cs typeface="+mn-cs"/>
              </a:rPr>
              <a:t>. </a:t>
            </a:r>
          </a:p>
          <a:p>
            <a:pPr lvl="0"/>
            <a:r>
              <a:rPr lang="en-US" sz="1200" kern="1200" dirty="0">
                <a:solidFill>
                  <a:schemeClr val="tx1"/>
                </a:solidFill>
                <a:effectLst/>
                <a:latin typeface="+mn-lt"/>
                <a:ea typeface="+mn-ea"/>
                <a:cs typeface="+mn-cs"/>
              </a:rPr>
              <a:t>Without strategic human direction, agent-generated code rapidly suffers from </a:t>
            </a:r>
            <a:r>
              <a:rPr lang="en-US" sz="1200" b="1" kern="1200" dirty="0">
                <a:solidFill>
                  <a:schemeClr val="tx1"/>
                </a:solidFill>
                <a:effectLst/>
                <a:latin typeface="+mn-lt"/>
                <a:ea typeface="+mn-ea"/>
                <a:cs typeface="+mn-cs"/>
              </a:rPr>
              <a:t>Software Entropy</a:t>
            </a:r>
            <a:r>
              <a:rPr lang="en-US" sz="1200" kern="1200" dirty="0">
                <a:solidFill>
                  <a:schemeClr val="tx1"/>
                </a:solidFill>
                <a:effectLst/>
                <a:latin typeface="+mn-lt"/>
                <a:ea typeface="+mn-ea"/>
                <a:cs typeface="+mn-cs"/>
              </a:rPr>
              <a:t>—a state of unstructured chaos where code is produced quickly but becomes unmaintainable over time. </a:t>
            </a:r>
          </a:p>
          <a:p>
            <a:pPr lvl="0"/>
            <a:r>
              <a:rPr lang="en-US" sz="1200" kern="1200" dirty="0">
                <a:solidFill>
                  <a:schemeClr val="tx1"/>
                </a:solidFill>
                <a:effectLst/>
                <a:latin typeface="+mn-lt"/>
                <a:ea typeface="+mn-ea"/>
                <a:cs typeface="+mn-cs"/>
              </a:rPr>
              <a:t>Engineers must shift from tactical typists to strategic platform architects and gardeners. </a:t>
            </a:r>
          </a:p>
          <a:p>
            <a:endParaRPr lang="en-US" dirty="0"/>
          </a:p>
        </p:txBody>
      </p:sp>
      <p:sp>
        <p:nvSpPr>
          <p:cNvPr id="4" name="Slide Number Placeholder 3"/>
          <p:cNvSpPr>
            <a:spLocks noGrp="1"/>
          </p:cNvSpPr>
          <p:nvPr>
            <p:ph type="sldNum" sz="quarter" idx="5"/>
          </p:nvPr>
        </p:nvSpPr>
        <p:spPr/>
        <p:txBody>
          <a:bodyPr/>
          <a:lstStyle/>
          <a:p>
            <a:fld id="{8203961C-2AB0-4FC8-9707-1314660664F8}" type="slidenum">
              <a:rPr lang="en-US" smtClean="0"/>
              <a:t>11</a:t>
            </a:fld>
            <a:endParaRPr lang="en-US"/>
          </a:p>
        </p:txBody>
      </p:sp>
    </p:spTree>
    <p:extLst>
      <p:ext uri="{BB962C8B-B14F-4D97-AF65-F5344CB8AC3E}">
        <p14:creationId xmlns:p14="http://schemas.microsoft.com/office/powerpoint/2010/main" val="140301671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prevent software entropy and align AI agents with enterprise standards, engineers must embrace the </a:t>
            </a:r>
            <a:r>
              <a:rPr lang="en-US" sz="1200" b="1" kern="1200" dirty="0">
                <a:solidFill>
                  <a:schemeClr val="tx1"/>
                </a:solidFill>
                <a:effectLst/>
                <a:latin typeface="+mn-lt"/>
                <a:ea typeface="+mn-ea"/>
                <a:cs typeface="+mn-cs"/>
              </a:rPr>
              <a:t>Gardener Mindset</a:t>
            </a:r>
            <a:r>
              <a:rPr lang="en-US" sz="1200" kern="1200" dirty="0">
                <a:solidFill>
                  <a:schemeClr val="tx1"/>
                </a:solidFill>
                <a:effectLst/>
                <a:latin typeface="+mn-lt"/>
                <a:ea typeface="+mn-ea"/>
                <a:cs typeface="+mn-cs"/>
              </a:rPr>
              <a:t>: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The 'Grill Me' Alignment:</a:t>
            </a:r>
            <a:r>
              <a:rPr lang="en-US" sz="1200" kern="1200" dirty="0">
                <a:solidFill>
                  <a:schemeClr val="tx1"/>
                </a:solidFill>
                <a:effectLst/>
                <a:latin typeface="+mn-lt"/>
                <a:ea typeface="+mn-ea"/>
                <a:cs typeface="+mn-cs"/>
              </a:rPr>
              <a:t> Before letting an agent write code, force it to interview you. Instruct the agent to question scope, authentication, and architectural constraints.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Leverage Leading Words:</a:t>
            </a:r>
            <a:r>
              <a:rPr lang="en-US" sz="1200" kern="1200" dirty="0">
                <a:solidFill>
                  <a:schemeClr val="tx1"/>
                </a:solidFill>
                <a:effectLst/>
                <a:latin typeface="+mn-lt"/>
                <a:ea typeface="+mn-ea"/>
                <a:cs typeface="+mn-cs"/>
              </a:rPr>
              <a:t> Use domain jargon and standard patterns (e.g., </a:t>
            </a:r>
            <a:r>
              <a:rPr lang="en-US" sz="1200" i="1" kern="1200" dirty="0">
                <a:solidFill>
                  <a:schemeClr val="tx1"/>
                </a:solidFill>
                <a:effectLst/>
                <a:latin typeface="+mn-lt"/>
                <a:ea typeface="+mn-ea"/>
                <a:cs typeface="+mn-cs"/>
              </a:rPr>
              <a:t>Tracer Bullets</a:t>
            </a:r>
            <a:r>
              <a:rPr lang="en-US" sz="1200" kern="1200" dirty="0">
                <a:solidFill>
                  <a:schemeClr val="tx1"/>
                </a:solidFill>
                <a:effectLst/>
                <a:latin typeface="+mn-lt"/>
                <a:ea typeface="+mn-ea"/>
                <a:cs typeface="+mn-cs"/>
              </a:rPr>
              <a:t>, </a:t>
            </a:r>
            <a:r>
              <a:rPr lang="en-US" sz="1200" i="1" kern="1200" dirty="0">
                <a:solidFill>
                  <a:schemeClr val="tx1"/>
                </a:solidFill>
                <a:effectLst/>
                <a:latin typeface="+mn-lt"/>
                <a:ea typeface="+mn-ea"/>
                <a:cs typeface="+mn-cs"/>
              </a:rPr>
              <a:t>Vertical Slices</a:t>
            </a:r>
            <a:r>
              <a:rPr lang="en-US" sz="1200" kern="1200" dirty="0">
                <a:solidFill>
                  <a:schemeClr val="tx1"/>
                </a:solidFill>
                <a:effectLst/>
                <a:latin typeface="+mn-lt"/>
                <a:ea typeface="+mn-ea"/>
                <a:cs typeface="+mn-cs"/>
              </a:rPr>
              <a:t>) to trigger high-quality latent spaces in the LLM’s training data. </a:t>
            </a:r>
          </a:p>
          <a:p>
            <a:pPr marL="171450" lvl="0" indent="-171450">
              <a:buFont typeface="Arial" panose="020B0604020202020204" pitchFamily="34" charset="0"/>
              <a:buChar char="•"/>
            </a:pPr>
            <a:r>
              <a:rPr lang="en-US" sz="1200" b="1" kern="1200" dirty="0">
                <a:solidFill>
                  <a:schemeClr val="tx1"/>
                </a:solidFill>
                <a:effectLst/>
                <a:latin typeface="+mn-lt"/>
                <a:ea typeface="+mn-ea"/>
                <a:cs typeface="+mn-cs"/>
              </a:rPr>
              <a:t>Ubiquitous Language &amp; DDD:</a:t>
            </a:r>
            <a:r>
              <a:rPr lang="en-US" sz="1200" kern="1200" dirty="0">
                <a:solidFill>
                  <a:schemeClr val="tx1"/>
                </a:solidFill>
                <a:effectLst/>
                <a:latin typeface="+mn-lt"/>
                <a:ea typeface="+mn-ea"/>
                <a:cs typeface="+mn-cs"/>
              </a:rPr>
              <a:t> Apply Domain-Driven Design so that human terminology, code structures, and platform APIs share a unified, explicit language that agents can seamlessly navigate.</a:t>
            </a:r>
          </a:p>
          <a:p>
            <a:endParaRPr lang="en-US" dirty="0"/>
          </a:p>
          <a:p>
            <a:endParaRPr lang="en-US" dirty="0"/>
          </a:p>
          <a:p>
            <a:endParaRPr lang="en-US" dirty="0"/>
          </a:p>
          <a:p>
            <a:r>
              <a:rPr lang="en-US" dirty="0"/>
              <a:t>https://www.youtube.com/watch?v=3jT_iUHvf_M</a:t>
            </a:r>
          </a:p>
        </p:txBody>
      </p:sp>
      <p:sp>
        <p:nvSpPr>
          <p:cNvPr id="4" name="Slide Number Placeholder 3"/>
          <p:cNvSpPr>
            <a:spLocks noGrp="1"/>
          </p:cNvSpPr>
          <p:nvPr>
            <p:ph type="sldNum" sz="quarter" idx="5"/>
          </p:nvPr>
        </p:nvSpPr>
        <p:spPr/>
        <p:txBody>
          <a:bodyPr/>
          <a:lstStyle/>
          <a:p>
            <a:fld id="{8203961C-2AB0-4FC8-9707-1314660664F8}" type="slidenum">
              <a:rPr lang="en-US" smtClean="0"/>
              <a:t>12</a:t>
            </a:fld>
            <a:endParaRPr lang="en-US"/>
          </a:p>
        </p:txBody>
      </p:sp>
    </p:spTree>
    <p:extLst>
      <p:ext uri="{BB962C8B-B14F-4D97-AF65-F5344CB8AC3E}">
        <p14:creationId xmlns:p14="http://schemas.microsoft.com/office/powerpoint/2010/main" val="89481720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213661B-A10A-C27E-071B-9F1F425B2626}"/>
              </a:ext>
            </a:extLst>
          </p:cNvPr>
          <p:cNvSpPr>
            <a:spLocks noGrp="1"/>
          </p:cNvSpPr>
          <p:nvPr>
            <p:ph type="dt" sz="half" idx="10"/>
          </p:nvPr>
        </p:nvSpPr>
        <p:spPr/>
        <p:txBody>
          <a:bodyPr/>
          <a:lstStyle/>
          <a:p>
            <a:fld id="{8DD2CEBB-2D1C-4CFD-B04A-CE3E5C8001F5}" type="datetimeFigureOut">
              <a:rPr lang="en-US" smtClean="0"/>
              <a:t>10/21/2026</a:t>
            </a:fld>
            <a:endParaRPr lang="en-US"/>
          </a:p>
        </p:txBody>
      </p:sp>
      <p:sp>
        <p:nvSpPr>
          <p:cNvPr id="3" name="Footer Placeholder 2">
            <a:extLst>
              <a:ext uri="{FF2B5EF4-FFF2-40B4-BE49-F238E27FC236}">
                <a16:creationId xmlns:a16="http://schemas.microsoft.com/office/drawing/2014/main" id="{9142E73C-6A89-D700-F63C-EDC69232368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E81EAF5-8FCC-552E-1AF0-036135353E67}"/>
              </a:ext>
            </a:extLst>
          </p:cNvPr>
          <p:cNvSpPr>
            <a:spLocks noGrp="1"/>
          </p:cNvSpPr>
          <p:nvPr>
            <p:ph type="sldNum" sz="quarter" idx="12"/>
          </p:nvPr>
        </p:nvSpPr>
        <p:spPr/>
        <p:txBody>
          <a:bodyPr/>
          <a:lstStyle/>
          <a:p>
            <a:fld id="{2A5D4367-4636-47D7-A69C-2A7D6E4B093C}" type="slidenum">
              <a:rPr lang="en-US" smtClean="0"/>
              <a:t>‹#›</a:t>
            </a:fld>
            <a:endParaRPr lang="en-US"/>
          </a:p>
        </p:txBody>
      </p:sp>
    </p:spTree>
    <p:extLst>
      <p:ext uri="{BB962C8B-B14F-4D97-AF65-F5344CB8AC3E}">
        <p14:creationId xmlns:p14="http://schemas.microsoft.com/office/powerpoint/2010/main" val="1489602786"/>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484A0BE-4C84-A945-B941-91CB1841E8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D6784D07-8626-16F4-797D-48CB6D942E8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4DE0F5A-9F2B-F28D-458E-54504639F6F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DD2CEBB-2D1C-4CFD-B04A-CE3E5C8001F5}" type="datetimeFigureOut">
              <a:rPr lang="en-US" smtClean="0"/>
              <a:t>10/21/2026</a:t>
            </a:fld>
            <a:endParaRPr lang="en-US"/>
          </a:p>
        </p:txBody>
      </p:sp>
      <p:sp>
        <p:nvSpPr>
          <p:cNvPr id="5" name="Footer Placeholder 4">
            <a:extLst>
              <a:ext uri="{FF2B5EF4-FFF2-40B4-BE49-F238E27FC236}">
                <a16:creationId xmlns:a16="http://schemas.microsoft.com/office/drawing/2014/main" id="{F0F37940-E872-BE32-8DA6-1E05528F5D7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D4A95724-81E5-9949-6B3B-EA6EB938A67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2A5D4367-4636-47D7-A69C-2A7D6E4B093C}" type="slidenum">
              <a:rPr lang="en-US" smtClean="0"/>
              <a:t>‹#›</a:t>
            </a:fld>
            <a:endParaRPr lang="en-US"/>
          </a:p>
        </p:txBody>
      </p:sp>
    </p:spTree>
    <p:extLst>
      <p:ext uri="{BB962C8B-B14F-4D97-AF65-F5344CB8AC3E}">
        <p14:creationId xmlns:p14="http://schemas.microsoft.com/office/powerpoint/2010/main" val="3436874081"/>
      </p:ext>
    </p:extLst>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A9851716-895D-8864-116A-3A7EA89916D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C671B51-EDCB-9128-A06D-9C564E8228F2}"/>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0091721-942F-AE33-71B6-D3E677DD5CA8}"/>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7EFC27D-DEFE-40CE-FB9C-7D8CE33A84B9}"/>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4A50EE7-D1EE-C90D-A7B5-BCE276F45C66}"/>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4997695-E900-7EC7-3AE1-BF08ACC35C7D}"/>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B1E824A-ACF8-97DC-89BA-1B5F4FE2C85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EADA869-BCD5-E99E-3FCB-377B2722A0CA}"/>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8F7BF0B-5119-70D5-38E5-006F45CA00CE}"/>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B525952-99AA-5127-E83B-502EDB0243D5}"/>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5711C506-5F57-5C15-6A76-F3CF6526E1CC}"/>
              </a:ext>
            </a:extLst>
          </p:cNvPr>
          <p:cNvPicPr>
            <a:picLocks noChangeAspect="1"/>
          </p:cNvPicPr>
          <p:nvPr/>
        </p:nvPicPr>
        <p:blipFill>
          <a:blip r:embed="rId3"/>
          <a:stretch>
            <a:fillRect/>
          </a:stretch>
        </p:blipFill>
        <p:spPr>
          <a:xfrm>
            <a:off x="0" y="28575"/>
            <a:ext cx="12192000" cy="680085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11B711-E6F0-5430-8A43-39DDF1879A5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26581"/>
            <a:ext cx="12192000" cy="6804837"/>
          </a:xfrm>
          <a:prstGeom prst="rect">
            <a:avLst/>
          </a:prstGeom>
        </p:spPr>
      </p:pic>
    </p:spTree>
    <p:extLst>
      <p:ext uri="{BB962C8B-B14F-4D97-AF65-F5344CB8AC3E}">
        <p14:creationId xmlns:p14="http://schemas.microsoft.com/office/powerpoint/2010/main" val="354190430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TotalTime>
  <Words>1565</Words>
  <Application>Microsoft Office PowerPoint</Application>
  <PresentationFormat>寬螢幕</PresentationFormat>
  <Paragraphs>82</Paragraphs>
  <Slides>12</Slides>
  <Notes>12</Notes>
  <HiddenSlides>0</HiddenSlides>
  <MMClips>0</MMClips>
  <ScaleCrop>false</ScaleCrop>
  <HeadingPairs>
    <vt:vector size="6" baseType="variant">
      <vt:variant>
        <vt:lpstr>使用字型</vt:lpstr>
      </vt:variant>
      <vt:variant>
        <vt:i4>3</vt:i4>
      </vt:variant>
      <vt:variant>
        <vt:lpstr>佈景主題</vt:lpstr>
      </vt:variant>
      <vt:variant>
        <vt:i4>1</vt:i4>
      </vt:variant>
      <vt:variant>
        <vt:lpstr>投影片標題</vt:lpstr>
      </vt:variant>
      <vt:variant>
        <vt:i4>12</vt:i4>
      </vt:variant>
    </vt:vector>
  </HeadingPairs>
  <TitlesOfParts>
    <vt:vector size="16" baseType="lpstr">
      <vt:lpstr>Aptos</vt:lpstr>
      <vt:lpstr>Aptos Display</vt:lpstr>
      <vt:lpstr>Arial</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creator>Lai, Wilson</dc:creator>
  <cp:lastModifiedBy>Wilson Lai</cp:lastModifiedBy>
  <cp:revision>2</cp:revision>
  <dcterms:created xsi:type="dcterms:W3CDTF">2026-09-18T16:04:01Z</dcterms:created>
  <dcterms:modified xsi:type="dcterms:W3CDTF">2026-10-21T02:40:56Z</dcterms:modified>
</cp:coreProperties>
</file>