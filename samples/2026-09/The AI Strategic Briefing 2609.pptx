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FD1A9C-2B09-48CA-A737-16D0398C71D0}" v="21" dt="2026-09-01T03:26:15.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685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modSld modMainMaster">
      <pc:chgData name="Lai, Wilson" userId="2840974a-0d84-4886-90a9-9a3ed79f3a48" providerId="ADAL" clId="{9F23B798-9E84-4552-BA63-E776E805C424}" dt="2026-09-01T03:26:19.003" v="22" actId="166"/>
      <pc:docMkLst>
        <pc:docMk/>
      </pc:docMkLst>
      <pc:sldChg chg="addSp modSp mod modAnim modNotesTx">
        <pc:chgData name="Lai, Wilson" userId="2840974a-0d84-4886-90a9-9a3ed79f3a48" providerId="ADAL" clId="{9F23B798-9E84-4552-BA63-E776E805C424}" dt="2026-09-01T03:26:19.003" v="22" actId="166"/>
        <pc:sldMkLst>
          <pc:docMk/>
          <pc:sldMk cId="0" sldId="257"/>
        </pc:sldMkLst>
        <pc:spChg chg="add mod">
          <ac:chgData name="Lai, Wilson" userId="2840974a-0d84-4886-90a9-9a3ed79f3a48" providerId="ADAL" clId="{9F23B798-9E84-4552-BA63-E776E805C424}" dt="2026-09-01T03:26:15.591" v="21" actId="164"/>
          <ac:spMkLst>
            <pc:docMk/>
            <pc:sldMk cId="0" sldId="257"/>
            <ac:spMk id="5" creationId="{C38FF6CC-4757-7A7D-B2DA-76C2A9371E66}"/>
          </ac:spMkLst>
        </pc:spChg>
        <pc:grpChg chg="add mod">
          <ac:chgData name="Lai, Wilson" userId="2840974a-0d84-4886-90a9-9a3ed79f3a48" providerId="ADAL" clId="{9F23B798-9E84-4552-BA63-E776E805C424}" dt="2026-09-01T03:26:15.591" v="21" actId="164"/>
          <ac:grpSpMkLst>
            <pc:docMk/>
            <pc:sldMk cId="0" sldId="257"/>
            <ac:grpSpMk id="6" creationId="{666F8F87-D31A-CCB3-5135-4EE862050E56}"/>
          </ac:grpSpMkLst>
        </pc:grpChg>
        <pc:picChg chg="add mod">
          <ac:chgData name="Lai, Wilson" userId="2840974a-0d84-4886-90a9-9a3ed79f3a48" providerId="ADAL" clId="{9F23B798-9E84-4552-BA63-E776E805C424}" dt="2026-09-01T03:26:15.591" v="21" actId="164"/>
          <ac:picMkLst>
            <pc:docMk/>
            <pc:sldMk cId="0" sldId="257"/>
            <ac:picMk id="2" creationId="{2AD14589-1821-7BE1-F30B-2C59A0555D0D}"/>
          </ac:picMkLst>
        </pc:picChg>
        <pc:picChg chg="ord">
          <ac:chgData name="Lai, Wilson" userId="2840974a-0d84-4886-90a9-9a3ed79f3a48" providerId="ADAL" clId="{9F23B798-9E84-4552-BA63-E776E805C424}" dt="2026-09-01T03:26:19.003" v="22" actId="166"/>
          <ac:picMkLst>
            <pc:docMk/>
            <pc:sldMk cId="0" sldId="257"/>
            <ac:picMk id="4" creationId="{E094BB64-A19D-261E-22B8-EFCF029651A3}"/>
          </ac:picMkLst>
        </pc:picChg>
      </pc:sldChg>
      <pc:sldChg chg="modNotes">
        <pc:chgData name="Lai, Wilson" userId="2840974a-0d84-4886-90a9-9a3ed79f3a48" providerId="ADAL" clId="{9F23B798-9E84-4552-BA63-E776E805C424}" dt="2026-09-01T01:24:17.651" v="9"/>
        <pc:sldMkLst>
          <pc:docMk/>
          <pc:sldMk cId="0" sldId="260"/>
        </pc:sldMkLst>
      </pc:sldChg>
      <pc:sldChg chg="modNotes">
        <pc:chgData name="Lai, Wilson" userId="2840974a-0d84-4886-90a9-9a3ed79f3a48" providerId="ADAL" clId="{9F23B798-9E84-4552-BA63-E776E805C424}" dt="2026-09-01T01:24:17.651" v="9"/>
        <pc:sldMkLst>
          <pc:docMk/>
          <pc:sldMk cId="0" sldId="261"/>
        </pc:sldMkLst>
      </pc:sldChg>
      <pc:sldChg chg="modNotes modNotesTx">
        <pc:chgData name="Lai, Wilson" userId="2840974a-0d84-4886-90a9-9a3ed79f3a48" providerId="ADAL" clId="{9F23B798-9E84-4552-BA63-E776E805C424}" dt="2026-09-01T01:24:17.651" v="9"/>
        <pc:sldMkLst>
          <pc:docMk/>
          <pc:sldMk cId="0" sldId="262"/>
        </pc:sldMkLst>
      </pc:sldChg>
      <pc:sldChg chg="modNotes">
        <pc:chgData name="Lai, Wilson" userId="2840974a-0d84-4886-90a9-9a3ed79f3a48" providerId="ADAL" clId="{9F23B798-9E84-4552-BA63-E776E805C424}" dt="2026-09-01T01:24:17.651" v="9"/>
        <pc:sldMkLst>
          <pc:docMk/>
          <pc:sldMk cId="0" sldId="266"/>
        </pc:sldMkLst>
      </pc:sldChg>
      <pc:sldChg chg="modNotesTx">
        <pc:chgData name="Lai, Wilson" userId="2840974a-0d84-4886-90a9-9a3ed79f3a48" providerId="ADAL" clId="{9F23B798-9E84-4552-BA63-E776E805C424}" dt="2026-09-01T01:23:18.743" v="6" actId="12"/>
        <pc:sldMkLst>
          <pc:docMk/>
          <pc:sldMk cId="0" sldId="267"/>
        </pc:sldMkLst>
      </pc:sldChg>
      <pc:sldChg chg="modNotes">
        <pc:chgData name="Lai, Wilson" userId="2840974a-0d84-4886-90a9-9a3ed79f3a48" providerId="ADAL" clId="{9F23B798-9E84-4552-BA63-E776E805C424}" dt="2026-09-01T01:24:17.651" v="9"/>
        <pc:sldMkLst>
          <pc:docMk/>
          <pc:sldMk cId="0" sldId="268"/>
        </pc:sldMkLst>
      </pc:sldChg>
      <pc:sldChg chg="modNotesTx">
        <pc:chgData name="Lai, Wilson" userId="2840974a-0d84-4886-90a9-9a3ed79f3a48" providerId="ADAL" clId="{9F23B798-9E84-4552-BA63-E776E805C424}" dt="2026-09-01T01:23:47.868" v="7" actId="12"/>
        <pc:sldMkLst>
          <pc:docMk/>
          <pc:sldMk cId="0" sldId="270"/>
        </pc:sldMkLst>
      </pc:sldChg>
      <pc:sldChg chg="modNotesTx">
        <pc:chgData name="Lai, Wilson" userId="2840974a-0d84-4886-90a9-9a3ed79f3a48" providerId="ADAL" clId="{9F23B798-9E84-4552-BA63-E776E805C424}" dt="2026-09-01T01:24:05.594" v="8" actId="12"/>
        <pc:sldMkLst>
          <pc:docMk/>
          <pc:sldMk cId="443038261" sldId="271"/>
        </pc:sldMkLst>
      </pc:sldChg>
      <pc:sldMasterChg chg="setBg">
        <pc:chgData name="Lai, Wilson" userId="2840974a-0d84-4886-90a9-9a3ed79f3a48" providerId="ADAL" clId="{9F23B798-9E84-4552-BA63-E776E805C424}" dt="2026-09-01T01:03:55.914" v="0"/>
        <pc:sldMasterMkLst>
          <pc:docMk/>
          <pc:sldMasterMk cId="58301001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CEED68-D3A3-454F-A8FB-AEA35014534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8F10B-1585-4B03-AACF-FF38C73C4621}" type="slidenum">
              <a:rPr lang="en-US" smtClean="0"/>
              <a:t>‹#›</a:t>
            </a:fld>
            <a:endParaRPr lang="en-US"/>
          </a:p>
        </p:txBody>
      </p:sp>
    </p:spTree>
    <p:extLst>
      <p:ext uri="{BB962C8B-B14F-4D97-AF65-F5344CB8AC3E}">
        <p14:creationId xmlns:p14="http://schemas.microsoft.com/office/powerpoint/2010/main" val="1073028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diving into the state of artificial intelligence—moving past the superficial headlines to analyze what is actually happening across models, competitive moats, and consumer behavior. </a:t>
            </a:r>
          </a:p>
          <a:p>
            <a:r>
              <a:rPr lang="en-US" sz="1200" kern="1200" dirty="0">
                <a:solidFill>
                  <a:schemeClr val="tx1"/>
                </a:solidFill>
                <a:effectLst/>
                <a:latin typeface="+mn-lt"/>
                <a:ea typeface="+mn-ea"/>
                <a:cs typeface="+mn-cs"/>
              </a:rPr>
              <a:t>Over the past few years, the prevailing market narrative hovered around two extremes: either AI is an inflated bubble that is bound to pop, or it’s a total winner-take-all monopoly dominated by one or two tech giants. What we at Andreessen Horowitz are seeing on the ground is far more nuanced, dynamic, and frankly, exciting. </a:t>
            </a:r>
          </a:p>
          <a:p>
            <a:r>
              <a:rPr lang="en-US" sz="1200" kern="1200" dirty="0">
                <a:solidFill>
                  <a:schemeClr val="tx1"/>
                </a:solidFill>
                <a:effectLst/>
                <a:latin typeface="+mn-lt"/>
                <a:ea typeface="+mn-ea"/>
                <a:cs typeface="+mn-cs"/>
              </a:rPr>
              <a:t>We are entering what we call </a:t>
            </a:r>
            <a:r>
              <a:rPr lang="en-US" sz="1200" b="1" kern="1200" dirty="0">
                <a:solidFill>
                  <a:schemeClr val="tx1"/>
                </a:solidFill>
                <a:effectLst/>
                <a:latin typeface="+mn-lt"/>
                <a:ea typeface="+mn-ea"/>
                <a:cs typeface="+mn-cs"/>
              </a:rPr>
              <a:t>'The Consumer Renaissance'</a:t>
            </a:r>
            <a:r>
              <a:rPr lang="en-US" sz="1200" kern="1200" dirty="0">
                <a:solidFill>
                  <a:schemeClr val="tx1"/>
                </a:solidFill>
                <a:effectLst/>
                <a:latin typeface="+mn-lt"/>
                <a:ea typeface="+mn-ea"/>
                <a:cs typeface="+mn-cs"/>
              </a:rPr>
              <a:t>. We are seeing a fundamental shift from simple prompt-response interactions to sovereign agents capable of autonomous execution, shifting UI paradigms, and a radical transformation in consumers' willingness to pay. </a:t>
            </a:r>
          </a:p>
          <a:p>
            <a:r>
              <a:rPr lang="en-US" sz="1200" kern="1200" dirty="0">
                <a:solidFill>
                  <a:schemeClr val="tx1"/>
                </a:solidFill>
                <a:effectLst/>
                <a:latin typeface="+mn-lt"/>
                <a:ea typeface="+mn-ea"/>
                <a:cs typeface="+mn-cs"/>
              </a:rPr>
              <a:t>Over the next hour, we’ll unpack the macro economics of compute, look under the hood of enterprise strategy, examine why traditional moats are changing, and explore how startups are building sustainable value at the application layer. Let's jump in.</a:t>
            </a:r>
          </a:p>
          <a:p>
            <a:endParaRPr lang="en-US" dirty="0"/>
          </a:p>
          <a:p>
            <a:endParaRPr lang="en-US" dirty="0"/>
          </a:p>
          <a:p>
            <a:endParaRPr lang="en-US" dirty="0"/>
          </a:p>
          <a:p>
            <a:r>
              <a:rPr lang="en-US" dirty="0"/>
              <a:t>https://www.youtube.com/watch?v=zEZ0rQ8Ef-Y</a:t>
            </a:r>
          </a:p>
        </p:txBody>
      </p:sp>
      <p:sp>
        <p:nvSpPr>
          <p:cNvPr id="4" name="Slide Number Placeholder 3"/>
          <p:cNvSpPr>
            <a:spLocks noGrp="1"/>
          </p:cNvSpPr>
          <p:nvPr>
            <p:ph type="sldNum" sz="quarter" idx="5"/>
          </p:nvPr>
        </p:nvSpPr>
        <p:spPr/>
        <p:txBody>
          <a:bodyPr/>
          <a:lstStyle/>
          <a:p>
            <a:fld id="{E300A624-AD4F-47DE-BDE8-4A8CB498DF62}" type="slidenum">
              <a:rPr lang="en-US" smtClean="0"/>
              <a:t>1</a:t>
            </a:fld>
            <a:endParaRPr lang="en-US"/>
          </a:p>
        </p:txBody>
      </p:sp>
    </p:spTree>
    <p:extLst>
      <p:ext uri="{BB962C8B-B14F-4D97-AF65-F5344CB8AC3E}">
        <p14:creationId xmlns:p14="http://schemas.microsoft.com/office/powerpoint/2010/main" val="2613479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frame today’s discussion, we have structured our analysis into three distinct pillars that define the next intelligence frontier: </a:t>
            </a:r>
          </a:p>
          <a:p>
            <a:r>
              <a:rPr lang="en-US" sz="1200" b="1" kern="1200" dirty="0">
                <a:solidFill>
                  <a:schemeClr val="tx1"/>
                </a:solidFill>
                <a:effectLst/>
                <a:latin typeface="+mn-lt"/>
                <a:ea typeface="+mn-ea"/>
                <a:cs typeface="+mn-cs"/>
              </a:rPr>
              <a:t>1. The Model Macro:</a:t>
            </a:r>
            <a:r>
              <a:rPr lang="en-US" sz="1200" kern="1200" dirty="0">
                <a:solidFill>
                  <a:schemeClr val="tx1"/>
                </a:solidFill>
                <a:effectLst/>
                <a:latin typeface="+mn-lt"/>
                <a:ea typeface="+mn-ea"/>
                <a:cs typeface="+mn-cs"/>
              </a:rPr>
              <a:t> We’ll look at the fundamental supply and demand dynamics powering the AI ecosystem. We’ll evaluate why compute prices—contrary to standard hardware deflation—are behaving strangely, how developer sentiment is shifting in a multi-winner world, and which enterprise moats remain safe versus those facing existential risk. </a:t>
            </a:r>
          </a:p>
          <a:p>
            <a:r>
              <a:rPr lang="en-US" sz="1200" b="1" kern="1200" dirty="0">
                <a:solidFill>
                  <a:schemeClr val="tx1"/>
                </a:solidFill>
                <a:effectLst/>
                <a:latin typeface="+mn-lt"/>
                <a:ea typeface="+mn-ea"/>
                <a:cs typeface="+mn-cs"/>
              </a:rPr>
              <a:t>2. The Application Layer:</a:t>
            </a:r>
            <a:r>
              <a:rPr lang="en-US" sz="1200" kern="1200" dirty="0">
                <a:solidFill>
                  <a:schemeClr val="tx1"/>
                </a:solidFill>
                <a:effectLst/>
                <a:latin typeface="+mn-lt"/>
                <a:ea typeface="+mn-ea"/>
                <a:cs typeface="+mn-cs"/>
              </a:rPr>
              <a:t> Here, we focus on how raw intelligence primitives are productized. We’ll introduce the concept of 'The Harness' and explain why model routing—what we call the 'Expedia of AI'—is fast becoming the standard architecture for modern software applications. </a:t>
            </a:r>
          </a:p>
          <a:p>
            <a:r>
              <a:rPr lang="en-US" sz="1200" b="1" kern="1200" dirty="0">
                <a:solidFill>
                  <a:schemeClr val="tx1"/>
                </a:solidFill>
                <a:effectLst/>
                <a:latin typeface="+mn-lt"/>
                <a:ea typeface="+mn-ea"/>
                <a:cs typeface="+mn-cs"/>
              </a:rPr>
              <a:t>3. The Consumer Renaissance:</a:t>
            </a:r>
            <a:r>
              <a:rPr lang="en-US" sz="1200" kern="1200" dirty="0">
                <a:solidFill>
                  <a:schemeClr val="tx1"/>
                </a:solidFill>
                <a:effectLst/>
                <a:latin typeface="+mn-lt"/>
                <a:ea typeface="+mn-ea"/>
                <a:cs typeface="+mn-cs"/>
              </a:rPr>
              <a:t> Finally, we’ll explore how sovereign agents, context-compounding loops, and elevated price ceilings ($200 to $2,000 per month) are unlocking unprecedented opportunities for consumer software. </a:t>
            </a:r>
          </a:p>
          <a:p>
            <a:r>
              <a:rPr lang="en-US" sz="1200" kern="1200" dirty="0">
                <a:solidFill>
                  <a:schemeClr val="tx1"/>
                </a:solidFill>
                <a:effectLst/>
                <a:latin typeface="+mn-lt"/>
                <a:ea typeface="+mn-ea"/>
                <a:cs typeface="+mn-cs"/>
              </a:rPr>
              <a:t>Each pillar represents a critical piece of the puzzle for founders, investors, and enterprise leaders navigating this space.</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2</a:t>
            </a:fld>
            <a:endParaRPr lang="en-US"/>
          </a:p>
        </p:txBody>
      </p:sp>
    </p:spTree>
    <p:extLst>
      <p:ext uri="{BB962C8B-B14F-4D97-AF65-F5344CB8AC3E}">
        <p14:creationId xmlns:p14="http://schemas.microsoft.com/office/powerpoint/2010/main" val="2927484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the macro picture. There is an ongoing public debate about whether AI spending represents an infrastructure bubble. But when you examine second-order market indicators, a very different story emerges. </a:t>
            </a:r>
          </a:p>
          <a:p>
            <a:r>
              <a:rPr lang="en-US" sz="1200" kern="1200" dirty="0">
                <a:solidFill>
                  <a:schemeClr val="tx1"/>
                </a:solidFill>
                <a:effectLst/>
                <a:latin typeface="+mn-lt"/>
                <a:ea typeface="+mn-ea"/>
                <a:cs typeface="+mn-cs"/>
              </a:rPr>
              <a:t>Historically, technology follows a relentless deflationary curve—compute, bandwidth, and storage become exponentially cheaper over time. However, right now we are witnessing a complete defiance of traditional tech norms. Hourly rental rates for GPUs—such as Nvidia's B200 architectures—are actually </a:t>
            </a:r>
            <a:r>
              <a:rPr lang="en-US" sz="1200" i="1" kern="1200" dirty="0">
                <a:solidFill>
                  <a:schemeClr val="tx1"/>
                </a:solidFill>
                <a:effectLst/>
                <a:latin typeface="+mn-lt"/>
                <a:ea typeface="+mn-ea"/>
                <a:cs typeface="+mn-cs"/>
              </a:rPr>
              <a:t>increasing</a:t>
            </a:r>
            <a:r>
              <a:rPr lang="en-US" sz="1200" kern="1200" dirty="0">
                <a:solidFill>
                  <a:schemeClr val="tx1"/>
                </a:solidFill>
                <a:effectLst/>
                <a:latin typeface="+mn-lt"/>
                <a:ea typeface="+mn-ea"/>
                <a:cs typeface="+mn-cs"/>
              </a:rPr>
              <a:t> on a per-hour basis. </a:t>
            </a:r>
          </a:p>
          <a:p>
            <a:r>
              <a:rPr lang="en-US" sz="1200" kern="1200" dirty="0">
                <a:solidFill>
                  <a:schemeClr val="tx1"/>
                </a:solidFill>
                <a:effectLst/>
                <a:latin typeface="+mn-lt"/>
                <a:ea typeface="+mn-ea"/>
                <a:cs typeface="+mn-cs"/>
              </a:rPr>
              <a:t>Why is this happening? Because we are hitting a structural wall where essentially </a:t>
            </a:r>
            <a:r>
              <a:rPr lang="en-US" sz="1200" b="1" kern="1200" dirty="0">
                <a:solidFill>
                  <a:schemeClr val="tx1"/>
                </a:solidFill>
                <a:effectLst/>
                <a:latin typeface="+mn-lt"/>
                <a:ea typeface="+mn-ea"/>
                <a:cs typeface="+mn-cs"/>
              </a:rPr>
              <a:t>infinite demand is crashing into severely constricted physical supply</a:t>
            </a:r>
            <a:r>
              <a:rPr lang="en-US" sz="1200" kern="1200" dirty="0">
                <a:solidFill>
                  <a:schemeClr val="tx1"/>
                </a:solidFill>
                <a:effectLst/>
                <a:latin typeface="+mn-lt"/>
                <a:ea typeface="+mn-ea"/>
                <a:cs typeface="+mn-cs"/>
              </a:rPr>
              <a:t>. Every major laboratory, enterprise, and startup is attempting to scale inference and training simultaneously. </a:t>
            </a:r>
          </a:p>
          <a:p>
            <a:r>
              <a:rPr lang="en-US" sz="1200" kern="1200" dirty="0">
                <a:solidFill>
                  <a:schemeClr val="tx1"/>
                </a:solidFill>
                <a:effectLst/>
                <a:latin typeface="+mn-lt"/>
                <a:ea typeface="+mn-ea"/>
                <a:cs typeface="+mn-cs"/>
              </a:rPr>
              <a:t>When critics point to tech CAPEX or stock volatility and scream 'bubble!', they miss this underlying fundamental: the market is not suffering from a lack of end-user demand; it is bottlenecked by hardware availability, power constraints, and datacenter footprint. As long as demand outstrips supply to this degree, compute remains a prized economic asset.</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3</a:t>
            </a:fld>
            <a:endParaRPr lang="en-US"/>
          </a:p>
        </p:txBody>
      </p:sp>
    </p:spTree>
    <p:extLst>
      <p:ext uri="{BB962C8B-B14F-4D97-AF65-F5344CB8AC3E}">
        <p14:creationId xmlns:p14="http://schemas.microsoft.com/office/powerpoint/2010/main" val="532170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a long time, the model market was perceived as a tight two-horse race between OpenAI and Anthropic. If you fast-forward to today, that dynamic has shattered. We have officially entered a multi-winner ecosystem, recently exemplified by </a:t>
            </a:r>
            <a:r>
              <a:rPr lang="en-US" sz="1200" kern="1200" dirty="0" err="1">
                <a:solidFill>
                  <a:schemeClr val="tx1"/>
                </a:solidFill>
                <a:effectLst/>
                <a:latin typeface="+mn-lt"/>
                <a:ea typeface="+mn-ea"/>
                <a:cs typeface="+mn-cs"/>
              </a:rPr>
              <a:t>xAI</a:t>
            </a:r>
            <a:r>
              <a:rPr lang="en-US" sz="1200" kern="1200" dirty="0">
                <a:solidFill>
                  <a:schemeClr val="tx1"/>
                </a:solidFill>
                <a:effectLst/>
                <a:latin typeface="+mn-lt"/>
                <a:ea typeface="+mn-ea"/>
                <a:cs typeface="+mn-cs"/>
              </a:rPr>
              <a:t> rapidly rising to frontier performance. </a:t>
            </a:r>
          </a:p>
          <a:p>
            <a:r>
              <a:rPr lang="en-US" sz="1200" kern="1200" dirty="0">
                <a:solidFill>
                  <a:schemeClr val="tx1"/>
                </a:solidFill>
                <a:effectLst/>
                <a:latin typeface="+mn-lt"/>
                <a:ea typeface="+mn-ea"/>
                <a:cs typeface="+mn-cs"/>
              </a:rPr>
              <a:t>What is critical to understand about developers in this space is that </a:t>
            </a:r>
            <a:r>
              <a:rPr lang="en-US" sz="1200" b="1" kern="1200" dirty="0">
                <a:solidFill>
                  <a:schemeClr val="tx1"/>
                </a:solidFill>
                <a:effectLst/>
                <a:latin typeface="+mn-lt"/>
                <a:ea typeface="+mn-ea"/>
                <a:cs typeface="+mn-cs"/>
              </a:rPr>
              <a:t>developers are fair-weather fans</a:t>
            </a:r>
            <a:r>
              <a:rPr lang="en-US" sz="1200" kern="1200" dirty="0">
                <a:solidFill>
                  <a:schemeClr val="tx1"/>
                </a:solidFill>
                <a:effectLst/>
                <a:latin typeface="+mn-lt"/>
                <a:ea typeface="+mn-ea"/>
                <a:cs typeface="+mn-cs"/>
              </a:rPr>
              <a:t>. There is virtually zero brand loyalty when it comes to API integration. Developers will instantly migrate their traffic to whichever model offers absolute peak performance, lowest latency, or superior reasoning capabilities at any given moment. </a:t>
            </a:r>
          </a:p>
          <a:p>
            <a:r>
              <a:rPr lang="en-US" sz="1200" kern="1200" dirty="0">
                <a:solidFill>
                  <a:schemeClr val="tx1"/>
                </a:solidFill>
                <a:effectLst/>
                <a:latin typeface="+mn-lt"/>
                <a:ea typeface="+mn-ea"/>
                <a:cs typeface="+mn-cs"/>
              </a:rPr>
              <a:t>We saw Anthropic hold massive developer mindshare, then OpenAI surged back with major breakthroughs in reasoning and coding harnesses, while </a:t>
            </a:r>
            <a:r>
              <a:rPr lang="en-US" sz="1200" kern="1200" dirty="0" err="1">
                <a:solidFill>
                  <a:schemeClr val="tx1"/>
                </a:solidFill>
                <a:effectLst/>
                <a:latin typeface="+mn-lt"/>
                <a:ea typeface="+mn-ea"/>
                <a:cs typeface="+mn-cs"/>
              </a:rPr>
              <a:t>xAI</a:t>
            </a:r>
            <a:r>
              <a:rPr lang="en-US" sz="1200" kern="1200" dirty="0">
                <a:solidFill>
                  <a:schemeClr val="tx1"/>
                </a:solidFill>
                <a:effectLst/>
                <a:latin typeface="+mn-lt"/>
                <a:ea typeface="+mn-ea"/>
                <a:cs typeface="+mn-cs"/>
              </a:rPr>
              <a:t> and open-weight models accelerated on their flanks. Because benchmark lead times are measured in weeks rather than years, model providers cannot rely on customer lock-in. They must continuously innovate to retain developer mindshare.</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4</a:t>
            </a:fld>
            <a:endParaRPr lang="en-US"/>
          </a:p>
        </p:txBody>
      </p:sp>
    </p:spTree>
    <p:extLst>
      <p:ext uri="{BB962C8B-B14F-4D97-AF65-F5344CB8AC3E}">
        <p14:creationId xmlns:p14="http://schemas.microsoft.com/office/powerpoint/2010/main" val="303896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significant mindset shifts in AI engineering is realizing that </a:t>
            </a:r>
            <a:r>
              <a:rPr lang="en-US" sz="1200" b="1" kern="1200" dirty="0">
                <a:solidFill>
                  <a:schemeClr val="tx1"/>
                </a:solidFill>
                <a:effectLst/>
                <a:latin typeface="+mn-lt"/>
                <a:ea typeface="+mn-ea"/>
                <a:cs typeface="+mn-cs"/>
              </a:rPr>
              <a:t>models are not interchangeable commodities</a:t>
            </a:r>
            <a:r>
              <a:rPr lang="en-US" sz="1200" kern="1200" dirty="0">
                <a:solidFill>
                  <a:schemeClr val="tx1"/>
                </a:solidFill>
                <a:effectLst/>
                <a:latin typeface="+mn-lt"/>
                <a:ea typeface="+mn-ea"/>
                <a:cs typeface="+mn-cs"/>
              </a:rPr>
              <a:t>. Different foundation models exhibit distinct 'personality traits' and behavioral profiles. </a:t>
            </a:r>
          </a:p>
          <a:p>
            <a:r>
              <a:rPr lang="en-US" sz="1200" kern="1200" dirty="0">
                <a:solidFill>
                  <a:schemeClr val="tx1"/>
                </a:solidFill>
                <a:effectLst/>
                <a:latin typeface="+mn-lt"/>
                <a:ea typeface="+mn-ea"/>
                <a:cs typeface="+mn-cs"/>
              </a:rPr>
              <a:t>On one end of the spectrum, you have </a:t>
            </a:r>
            <a:r>
              <a:rPr lang="en-US" sz="1200" b="1" kern="1200" dirty="0">
                <a:solidFill>
                  <a:schemeClr val="tx1"/>
                </a:solidFill>
                <a:effectLst/>
                <a:latin typeface="+mn-lt"/>
                <a:ea typeface="+mn-ea"/>
                <a:cs typeface="+mn-cs"/>
              </a:rPr>
              <a:t>Highly Neurotic / Precise Models</a:t>
            </a:r>
            <a:r>
              <a:rPr lang="en-US" sz="1200" kern="1200" dirty="0">
                <a:solidFill>
                  <a:schemeClr val="tx1"/>
                </a:solidFill>
                <a:effectLst/>
                <a:latin typeface="+mn-lt"/>
                <a:ea typeface="+mn-ea"/>
                <a:cs typeface="+mn-cs"/>
              </a:rPr>
              <a:t>—such as GLM-4. These models are literal, strict, and risk-averse. They do exactly what they are instructed to do and nothing more. This makes them ideal for tasks requiring exactness, like accounting, payroll processing, compliance, and strict knowledge retrieval. </a:t>
            </a:r>
          </a:p>
          <a:p>
            <a:r>
              <a:rPr lang="en-US" sz="1200" kern="1200" dirty="0">
                <a:solidFill>
                  <a:schemeClr val="tx1"/>
                </a:solidFill>
                <a:effectLst/>
                <a:latin typeface="+mn-lt"/>
                <a:ea typeface="+mn-ea"/>
                <a:cs typeface="+mn-cs"/>
              </a:rPr>
              <a:t>On the other end, you have </a:t>
            </a:r>
            <a:r>
              <a:rPr lang="en-US" sz="1200" b="1" kern="1200" dirty="0">
                <a:solidFill>
                  <a:schemeClr val="tx1"/>
                </a:solidFill>
                <a:effectLst/>
                <a:latin typeface="+mn-lt"/>
                <a:ea typeface="+mn-ea"/>
                <a:cs typeface="+mn-cs"/>
              </a:rPr>
              <a:t>Highly Open / Creative Models</a:t>
            </a:r>
            <a:r>
              <a:rPr lang="en-US" sz="1200" kern="1200" dirty="0">
                <a:solidFill>
                  <a:schemeClr val="tx1"/>
                </a:solidFill>
                <a:effectLst/>
                <a:latin typeface="+mn-lt"/>
                <a:ea typeface="+mn-ea"/>
                <a:cs typeface="+mn-cs"/>
              </a:rPr>
              <a:t>—like Claude 3 or K3 variants. These models are presumptuous, highly creative, and expansive. They excel at open-ended problem solving, product design, copywriting, and ideation. </a:t>
            </a:r>
          </a:p>
          <a:p>
            <a:r>
              <a:rPr lang="en-US" sz="1200" kern="1200" dirty="0">
                <a:solidFill>
                  <a:schemeClr val="tx1"/>
                </a:solidFill>
                <a:effectLst/>
                <a:latin typeface="+mn-lt"/>
                <a:ea typeface="+mn-ea"/>
                <a:cs typeface="+mn-cs"/>
              </a:rPr>
              <a:t>Just as human organizations require a mix of detail-oriented accountants and visionary designers, enterprise AI architectures require diverse 'minds' working in tandem. Selecting a single model for an entire enterprise stack is fundamentally flawed.</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5</a:t>
            </a:fld>
            <a:endParaRPr lang="en-US"/>
          </a:p>
        </p:txBody>
      </p:sp>
    </p:spTree>
    <p:extLst>
      <p:ext uri="{BB962C8B-B14F-4D97-AF65-F5344CB8AC3E}">
        <p14:creationId xmlns:p14="http://schemas.microsoft.com/office/powerpoint/2010/main" val="2459681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frequent question from founders and enterprise executives is: </a:t>
            </a:r>
            <a:r>
              <a:rPr lang="en-US" sz="1200" i="1" kern="1200" dirty="0">
                <a:solidFill>
                  <a:schemeClr val="tx1"/>
                </a:solidFill>
                <a:effectLst/>
                <a:latin typeface="+mn-lt"/>
                <a:ea typeface="+mn-ea"/>
                <a:cs typeface="+mn-cs"/>
              </a:rPr>
              <a:t>'Does AI kill competitive moats?'</a:t>
            </a:r>
            <a:r>
              <a:rPr lang="en-US" sz="1200" kern="1200" dirty="0">
                <a:solidFill>
                  <a:schemeClr val="tx1"/>
                </a:solidFill>
                <a:effectLst/>
                <a:latin typeface="+mn-lt"/>
                <a:ea typeface="+mn-ea"/>
                <a:cs typeface="+mn-cs"/>
              </a:rPr>
              <a:t> The answer depends on the type of moat you have. </a:t>
            </a:r>
          </a:p>
          <a:p>
            <a:r>
              <a:rPr lang="en-US" sz="1200" b="1" kern="1200" dirty="0">
                <a:solidFill>
                  <a:schemeClr val="tx1"/>
                </a:solidFill>
                <a:effectLst/>
                <a:latin typeface="+mn-lt"/>
                <a:ea typeface="+mn-ea"/>
                <a:cs typeface="+mn-cs"/>
              </a:rPr>
              <a:t>Safe Moats (Enduring Value):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Network </a:t>
            </a:r>
            <a:r>
              <a:rPr lang="en-US" sz="1200" b="1" kern="1200" dirty="0" err="1">
                <a:solidFill>
                  <a:schemeClr val="tx1"/>
                </a:solidFill>
                <a:effectLst/>
                <a:latin typeface="+mn-lt"/>
                <a:ea typeface="+mn-ea"/>
                <a:cs typeface="+mn-cs"/>
              </a:rPr>
              <a:t>EffectsValue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moat most threatened by AI is </a:t>
            </a:r>
            <a:r>
              <a:rPr lang="en-US" sz="1200" b="1" kern="1200" dirty="0">
                <a:solidFill>
                  <a:schemeClr val="tx1"/>
                </a:solidFill>
                <a:effectLst/>
                <a:latin typeface="+mn-lt"/>
                <a:ea typeface="+mn-ea"/>
                <a:cs typeface="+mn-cs"/>
              </a:rPr>
              <a:t>Integration &amp; Complexity</a:t>
            </a:r>
            <a:r>
              <a:rPr lang="en-US" sz="1200" kern="1200" dirty="0">
                <a:solidFill>
                  <a:schemeClr val="tx1"/>
                </a:solidFill>
                <a:effectLst/>
                <a:latin typeface="+mn-lt"/>
                <a:ea typeface="+mn-ea"/>
                <a:cs typeface="+mn-cs"/>
              </a:rPr>
              <a:t>. Legacy platforms like SAP</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AI cannot magically synthesize a two-sided marketplace. The value of Instagram is its social graph, not its codebase.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Brand:</a:t>
            </a:r>
            <a:r>
              <a:rPr lang="en-US" sz="1200" kern="1200" dirty="0">
                <a:solidFill>
                  <a:schemeClr val="tx1"/>
                </a:solidFill>
                <a:effectLst/>
                <a:latin typeface="+mn-lt"/>
                <a:ea typeface="+mn-ea"/>
                <a:cs typeface="+mn-cs"/>
              </a:rPr>
              <a:t> No autonomous coding agent will make Nike stop being Nike. Brand affinity and trust remain completely intact.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Distribution Scale:</a:t>
            </a:r>
            <a:r>
              <a:rPr lang="en-US" sz="1200" kern="1200" dirty="0">
                <a:solidFill>
                  <a:schemeClr val="tx1"/>
                </a:solidFill>
                <a:effectLst/>
                <a:latin typeface="+mn-lt"/>
                <a:ea typeface="+mn-ea"/>
                <a:cs typeface="+mn-cs"/>
              </a:rPr>
              <a:t> Existing distribution pipes remain deeply defensible. </a:t>
            </a:r>
          </a:p>
          <a:p>
            <a:pPr marL="0" indent="0">
              <a:buFont typeface="Arial" panose="020B0604020202020204" pitchFamily="34" charset="0"/>
              <a:buNone/>
            </a:pPr>
            <a:r>
              <a:rPr lang="en-US" sz="1200" b="1" kern="1200" dirty="0">
                <a:solidFill>
                  <a:schemeClr val="tx1"/>
                </a:solidFill>
                <a:effectLst/>
                <a:latin typeface="+mn-lt"/>
                <a:ea typeface="+mn-ea"/>
                <a:cs typeface="+mn-cs"/>
              </a:rPr>
              <a:t>At-Risk Moats (Vulnerable </a:t>
            </a:r>
            <a:r>
              <a:rPr lang="en-US" sz="1200" kern="1200" dirty="0">
                <a:solidFill>
                  <a:schemeClr val="tx1"/>
                </a:solidFill>
                <a:effectLst/>
                <a:latin typeface="+mn-lt"/>
                <a:ea typeface="+mn-ea"/>
                <a:cs typeface="+mn-cs"/>
              </a:rPr>
              <a:t> or old-guard ERPs built massive defensibility simply because migrating off them was too painful and expensive. Global Systems Integrators (GSIs) built multi-billion-dollar businesses around managing this friction. </a:t>
            </a:r>
          </a:p>
          <a:p>
            <a:r>
              <a:rPr lang="en-US" sz="1200" kern="1200" dirty="0">
                <a:solidFill>
                  <a:schemeClr val="tx1"/>
                </a:solidFill>
                <a:effectLst/>
                <a:latin typeface="+mn-lt"/>
                <a:ea typeface="+mn-ea"/>
                <a:cs typeface="+mn-cs"/>
              </a:rPr>
              <a:t>Autonomous coding agents dissolve this historical friction. When agents can automatically map, refactor, and migrate legacy codebases in hours rather than years, 'complexity' ceases to be a moat and becomes an invitation for disruption. </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6</a:t>
            </a:fld>
            <a:endParaRPr lang="en-US"/>
          </a:p>
        </p:txBody>
      </p:sp>
    </p:spTree>
    <p:extLst>
      <p:ext uri="{BB962C8B-B14F-4D97-AF65-F5344CB8AC3E}">
        <p14:creationId xmlns:p14="http://schemas.microsoft.com/office/powerpoint/2010/main" val="158166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should an enterprise deploy its AI token budget? You must categorize enterprise workflows based on their economic upside profile: </a:t>
            </a:r>
          </a:p>
          <a:p>
            <a:r>
              <a:rPr lang="en-US" sz="1200" b="1" kern="1200" dirty="0">
                <a:solidFill>
                  <a:schemeClr val="tx1"/>
                </a:solidFill>
                <a:effectLst/>
                <a:latin typeface="+mn-lt"/>
                <a:ea typeface="+mn-ea"/>
                <a:cs typeface="+mn-cs"/>
              </a:rPr>
              <a:t>Bounded Upside Tasks (e.g., Finance, HR, Compliance):</a:t>
            </a:r>
            <a:r>
              <a:rPr lang="en-US" sz="1200" kern="1200" dirty="0">
                <a:solidFill>
                  <a:schemeClr val="tx1"/>
                </a:solidFill>
                <a:effectLst/>
                <a:latin typeface="+mn-lt"/>
                <a:ea typeface="+mn-ea"/>
                <a:cs typeface="+mn-cs"/>
              </a:rPr>
              <a:t> In finance or payroll, success has an upper limit—closing the books accurately. You cannot close the books '10x more accurately'. Because the upside is capped, spending top-dollar on expensive frontier models is economically irrational. Here, the optimal strategy is using </a:t>
            </a:r>
            <a:r>
              <a:rPr lang="en-US" sz="1200" b="1" kern="1200" dirty="0">
                <a:solidFill>
                  <a:schemeClr val="tx1"/>
                </a:solidFill>
                <a:effectLst/>
                <a:latin typeface="+mn-lt"/>
                <a:ea typeface="+mn-ea"/>
                <a:cs typeface="+mn-cs"/>
              </a:rPr>
              <a:t>Open-Weight Models fine-tuned with Reinforcement Learning</a:t>
            </a:r>
            <a:r>
              <a:rPr lang="en-US" sz="1200" kern="1200" dirty="0">
                <a:solidFill>
                  <a:schemeClr val="tx1"/>
                </a:solidFill>
                <a:effectLst/>
                <a:latin typeface="+mn-lt"/>
                <a:ea typeface="+mn-ea"/>
                <a:cs typeface="+mn-cs"/>
              </a:rPr>
              <a:t> to maximize cost efficiency. </a:t>
            </a:r>
          </a:p>
          <a:p>
            <a:r>
              <a:rPr lang="en-US" sz="1200" b="1" kern="1200" dirty="0">
                <a:solidFill>
                  <a:schemeClr val="tx1"/>
                </a:solidFill>
                <a:effectLst/>
                <a:latin typeface="+mn-lt"/>
                <a:ea typeface="+mn-ea"/>
                <a:cs typeface="+mn-cs"/>
              </a:rPr>
              <a:t>Unbounded Upside Tasks (e.g., Sales, Product Design, R&amp;D):</a:t>
            </a:r>
            <a:r>
              <a:rPr lang="en-US" sz="1200" kern="1200" dirty="0">
                <a:solidFill>
                  <a:schemeClr val="tx1"/>
                </a:solidFill>
                <a:effectLst/>
                <a:latin typeface="+mn-lt"/>
                <a:ea typeface="+mn-ea"/>
                <a:cs typeface="+mn-cs"/>
              </a:rPr>
              <a:t> Conversely, in sales or core product innovation, the economic upside is theoretically infinite. A smarter model that closes a multi-million-dollar deal or invents a hit feature delivers vast economic return. </a:t>
            </a:r>
          </a:p>
          <a:p>
            <a:r>
              <a:rPr lang="en-US" sz="1200" kern="1200" dirty="0">
                <a:solidFill>
                  <a:schemeClr val="tx1"/>
                </a:solidFill>
                <a:effectLst/>
                <a:latin typeface="+mn-lt"/>
                <a:ea typeface="+mn-ea"/>
                <a:cs typeface="+mn-cs"/>
              </a:rPr>
              <a:t>For unbounded tasks, you should use </a:t>
            </a:r>
            <a:r>
              <a:rPr lang="en-US" sz="1200" b="1" kern="1200" dirty="0">
                <a:solidFill>
                  <a:schemeClr val="tx1"/>
                </a:solidFill>
                <a:effectLst/>
                <a:latin typeface="+mn-lt"/>
                <a:ea typeface="+mn-ea"/>
                <a:cs typeface="+mn-cs"/>
              </a:rPr>
              <a:t>Frontier Tokens</a:t>
            </a:r>
            <a:r>
              <a:rPr lang="en-US" sz="1200" kern="1200" dirty="0">
                <a:solidFill>
                  <a:schemeClr val="tx1"/>
                </a:solidFill>
                <a:effectLst/>
                <a:latin typeface="+mn-lt"/>
                <a:ea typeface="+mn-ea"/>
                <a:cs typeface="+mn-cs"/>
              </a:rPr>
              <a:t> and pay virtually any price for even a single additional point of intelligence or reasoning capability.</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7</a:t>
            </a:fld>
            <a:endParaRPr lang="en-US"/>
          </a:p>
        </p:txBody>
      </p:sp>
    </p:spTree>
    <p:extLst>
      <p:ext uri="{BB962C8B-B14F-4D97-AF65-F5344CB8AC3E}">
        <p14:creationId xmlns:p14="http://schemas.microsoft.com/office/powerpoint/2010/main" val="2201959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the Application Layer. Early on, people worried that model providers would swallow all application software. Instead, we are seeing specialized software applications thrive by acting as </a:t>
            </a:r>
            <a:r>
              <a:rPr lang="en-US" sz="1200" b="1" kern="1200" dirty="0">
                <a:solidFill>
                  <a:schemeClr val="tx1"/>
                </a:solidFill>
                <a:effectLst/>
                <a:latin typeface="+mn-lt"/>
                <a:ea typeface="+mn-ea"/>
                <a:cs typeface="+mn-cs"/>
              </a:rPr>
              <a:t>'The Harness'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Raw compute and foundation models are moving toward massive, homogeneous scale at the bottom of the stack. The application layer—examples like Cursor in coding or Harvey in legal—serves as the harness that productizes this intelligence primitive. </a:t>
            </a:r>
          </a:p>
          <a:p>
            <a:r>
              <a:rPr lang="en-US" sz="1200" kern="1200" dirty="0">
                <a:solidFill>
                  <a:schemeClr val="tx1"/>
                </a:solidFill>
                <a:effectLst/>
                <a:latin typeface="+mn-lt"/>
                <a:ea typeface="+mn-ea"/>
                <a:cs typeface="+mn-cs"/>
              </a:rPr>
              <a:t>We call this concept </a:t>
            </a:r>
            <a:r>
              <a:rPr lang="en-US" sz="1200" b="1" kern="1200" dirty="0">
                <a:solidFill>
                  <a:schemeClr val="tx1"/>
                </a:solidFill>
                <a:effectLst/>
                <a:latin typeface="+mn-lt"/>
                <a:ea typeface="+mn-ea"/>
                <a:cs typeface="+mn-cs"/>
              </a:rPr>
              <a:t>'The Expedia of AI'</a:t>
            </a:r>
            <a:r>
              <a:rPr lang="en-US" sz="1200" kern="1200" dirty="0">
                <a:solidFill>
                  <a:schemeClr val="tx1"/>
                </a:solidFill>
                <a:effectLst/>
                <a:latin typeface="+mn-lt"/>
                <a:ea typeface="+mn-ea"/>
                <a:cs typeface="+mn-cs"/>
              </a:rPr>
              <a:t>. When you book a flight, you don't go directly to separate airline portals to query individual routes; you use Expedia to search across available inventory and find the optimal path. </a:t>
            </a:r>
          </a:p>
          <a:p>
            <a:r>
              <a:rPr lang="en-US" sz="1200" kern="1200" dirty="0">
                <a:solidFill>
                  <a:schemeClr val="tx1"/>
                </a:solidFill>
                <a:effectLst/>
                <a:latin typeface="+mn-lt"/>
                <a:ea typeface="+mn-ea"/>
                <a:cs typeface="+mn-cs"/>
              </a:rPr>
              <a:t>Modern applications do the exact same thing for intelligence: they route tasks dynamic across a diverse set of underlying models—using a frontier model for high-level reasoning and planning, and a lightweight open-weight model for rapid execution. The user gets a seamless outcome without worrying about model selection underneath.</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8</a:t>
            </a:fld>
            <a:endParaRPr lang="en-US"/>
          </a:p>
        </p:txBody>
      </p:sp>
    </p:spTree>
    <p:extLst>
      <p:ext uri="{BB962C8B-B14F-4D97-AF65-F5344CB8AC3E}">
        <p14:creationId xmlns:p14="http://schemas.microsoft.com/office/powerpoint/2010/main" val="4005815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Enterprise execution is undergoing a generational shift. We are moving through three distinct evolutionary stages: </a:t>
            </a:r>
          </a:p>
          <a:p>
            <a:r>
              <a:rPr lang="en-US" sz="1200" b="1" kern="1200" dirty="0">
                <a:solidFill>
                  <a:schemeClr val="tx1"/>
                </a:solidFill>
                <a:effectLst/>
                <a:latin typeface="+mn-lt"/>
                <a:ea typeface="+mn-ea"/>
                <a:cs typeface="+mn-cs"/>
              </a:rPr>
              <a:t>Stage 1: Prompting (2022–2023):</a:t>
            </a:r>
            <a:r>
              <a:rPr lang="en-US" sz="1200" kern="1200" dirty="0">
                <a:solidFill>
                  <a:schemeClr val="tx1"/>
                </a:solidFill>
                <a:effectLst/>
                <a:latin typeface="+mn-lt"/>
                <a:ea typeface="+mn-ea"/>
                <a:cs typeface="+mn-cs"/>
              </a:rPr>
              <a:t> A human types a query, and a model generates an answer. This is basic Q&amp;A. </a:t>
            </a:r>
          </a:p>
          <a:p>
            <a:r>
              <a:rPr lang="en-US" sz="1200" b="1" kern="1200" dirty="0">
                <a:solidFill>
                  <a:schemeClr val="tx1"/>
                </a:solidFill>
                <a:effectLst/>
                <a:latin typeface="+mn-lt"/>
                <a:ea typeface="+mn-ea"/>
                <a:cs typeface="+mn-cs"/>
              </a:rPr>
              <a:t>Stage 2: Agent Loops (2024–2025):</a:t>
            </a:r>
            <a:r>
              <a:rPr lang="en-US" sz="1200" kern="1200" dirty="0">
                <a:solidFill>
                  <a:schemeClr val="tx1"/>
                </a:solidFill>
                <a:effectLst/>
                <a:latin typeface="+mn-lt"/>
                <a:ea typeface="+mn-ea"/>
                <a:cs typeface="+mn-cs"/>
              </a:rPr>
              <a:t> We combine a Model with Memory and Tools inside a feedback loop. Take automated software engineering as an example: a user reports a bug -&gt; the agent reproduces it -&gt; generates a fix -&gt; verifies tests -&gt; and autonomously ships code. </a:t>
            </a:r>
          </a:p>
          <a:p>
            <a:r>
              <a:rPr lang="en-US" sz="1200" b="1" kern="1200" dirty="0">
                <a:solidFill>
                  <a:schemeClr val="tx1"/>
                </a:solidFill>
                <a:effectLst/>
                <a:latin typeface="+mn-lt"/>
                <a:ea typeface="+mn-ea"/>
                <a:cs typeface="+mn-cs"/>
              </a:rPr>
              <a:t>Stage 3: Business Loops (The Frontier):</a:t>
            </a:r>
            <a:r>
              <a:rPr lang="en-US" sz="1200" kern="1200" dirty="0">
                <a:solidFill>
                  <a:schemeClr val="tx1"/>
                </a:solidFill>
                <a:effectLst/>
                <a:latin typeface="+mn-lt"/>
                <a:ea typeface="+mn-ea"/>
                <a:cs typeface="+mn-cs"/>
              </a:rPr>
              <a:t> This is cross-cutting, autonomous strategy. An agent analyzes enterprise data, notices localized demand trends, and proactively recommends opening a new retail location or modifying supply chain routing. </a:t>
            </a:r>
          </a:p>
          <a:p>
            <a:r>
              <a:rPr lang="en-US" sz="1200" kern="1200" dirty="0">
                <a:solidFill>
                  <a:schemeClr val="tx1"/>
                </a:solidFill>
                <a:effectLst/>
                <a:latin typeface="+mn-lt"/>
                <a:ea typeface="+mn-ea"/>
                <a:cs typeface="+mn-cs"/>
              </a:rPr>
              <a:t>The ultimate goal for enterprise software is not to provide faster text generation, but to embed intelligence into continuous, self-healing, self-optimizing operational loops.</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9</a:t>
            </a:fld>
            <a:endParaRPr lang="en-US"/>
          </a:p>
        </p:txBody>
      </p:sp>
    </p:spTree>
    <p:extLst>
      <p:ext uri="{BB962C8B-B14F-4D97-AF65-F5344CB8AC3E}">
        <p14:creationId xmlns:p14="http://schemas.microsoft.com/office/powerpoint/2010/main" val="1407691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years, consumer software felt stagnant. High Customer Acquisition Costs (CAC) and zero marginal revenue made consumer apps difficult to scale profitably. Today, consumer AI is breaking through three historical barriers: </a:t>
            </a:r>
          </a:p>
          <a:p>
            <a:r>
              <a:rPr lang="en-US" sz="1200" b="1" kern="1200" dirty="0">
                <a:solidFill>
                  <a:schemeClr val="tx1"/>
                </a:solidFill>
                <a:effectLst/>
                <a:latin typeface="+mn-lt"/>
                <a:ea typeface="+mn-ea"/>
                <a:cs typeface="+mn-cs"/>
              </a:rPr>
              <a:t>Barrier 1: Cost Structure.</a:t>
            </a:r>
            <a:r>
              <a:rPr lang="en-US" sz="1200" kern="1200" dirty="0">
                <a:solidFill>
                  <a:schemeClr val="tx1"/>
                </a:solidFill>
                <a:effectLst/>
                <a:latin typeface="+mn-lt"/>
                <a:ea typeface="+mn-ea"/>
                <a:cs typeface="+mn-cs"/>
              </a:rPr>
              <a:t> Historically, high compute and API costs created prohibitive onboarding expenses (sometimes $250+ per user). </a:t>
            </a:r>
            <a:r>
              <a:rPr lang="en-US" sz="1200" i="1" kern="1200" dirty="0">
                <a:solidFill>
                  <a:schemeClr val="tx1"/>
                </a:solidFill>
                <a:effectLst/>
                <a:latin typeface="+mn-lt"/>
                <a:ea typeface="+mn-ea"/>
                <a:cs typeface="+mn-cs"/>
              </a:rPr>
              <a:t>Solution:</a:t>
            </a:r>
            <a:r>
              <a:rPr lang="en-US" sz="1200" kern="1200" dirty="0">
                <a:solidFill>
                  <a:schemeClr val="tx1"/>
                </a:solidFill>
                <a:effectLst/>
                <a:latin typeface="+mn-lt"/>
                <a:ea typeface="+mn-ea"/>
                <a:cs typeface="+mn-cs"/>
              </a:rPr>
              <a:t> High-performing open-weight models have dramatically lowered marginal inference costs. </a:t>
            </a:r>
          </a:p>
          <a:p>
            <a:r>
              <a:rPr lang="en-US" sz="1200" b="1" kern="1200" dirty="0">
                <a:solidFill>
                  <a:schemeClr val="tx1"/>
                </a:solidFill>
                <a:effectLst/>
                <a:latin typeface="+mn-lt"/>
                <a:ea typeface="+mn-ea"/>
                <a:cs typeface="+mn-cs"/>
              </a:rPr>
              <a:t>Barrier 2: Distribution.</a:t>
            </a:r>
            <a:r>
              <a:rPr lang="en-US" sz="1200" kern="1200" dirty="0">
                <a:solidFill>
                  <a:schemeClr val="tx1"/>
                </a:solidFill>
                <a:effectLst/>
                <a:latin typeface="+mn-lt"/>
                <a:ea typeface="+mn-ea"/>
                <a:cs typeface="+mn-cs"/>
              </a:rPr>
              <a:t> There is no central 'AI App Store'. </a:t>
            </a:r>
            <a:r>
              <a:rPr lang="en-US" sz="1200" i="1" kern="1200" dirty="0">
                <a:solidFill>
                  <a:schemeClr val="tx1"/>
                </a:solidFill>
                <a:effectLst/>
                <a:latin typeface="+mn-lt"/>
                <a:ea typeface="+mn-ea"/>
                <a:cs typeface="+mn-cs"/>
              </a:rPr>
              <a:t>Solution:</a:t>
            </a:r>
            <a:r>
              <a:rPr lang="en-US" sz="1200" kern="1200" dirty="0">
                <a:solidFill>
                  <a:schemeClr val="tx1"/>
                </a:solidFill>
                <a:effectLst/>
                <a:latin typeface="+mn-lt"/>
                <a:ea typeface="+mn-ea"/>
                <a:cs typeface="+mn-cs"/>
              </a:rPr>
              <a:t> Modern consumer AI products rely on organic, Web 2.0-style word-of-mouth growth and direct consumer network effects. </a:t>
            </a:r>
          </a:p>
          <a:p>
            <a:r>
              <a:rPr lang="en-US" sz="1200" b="1" kern="1200" dirty="0">
                <a:solidFill>
                  <a:schemeClr val="tx1"/>
                </a:solidFill>
                <a:effectLst/>
                <a:latin typeface="+mn-lt"/>
                <a:ea typeface="+mn-ea"/>
                <a:cs typeface="+mn-cs"/>
              </a:rPr>
              <a:t>Barrier 3: UI Paradigm.</a:t>
            </a:r>
            <a:r>
              <a:rPr lang="en-US" sz="1200" kern="1200" dirty="0">
                <a:solidFill>
                  <a:schemeClr val="tx1"/>
                </a:solidFill>
                <a:effectLst/>
                <a:latin typeface="+mn-lt"/>
                <a:ea typeface="+mn-ea"/>
                <a:cs typeface="+mn-cs"/>
              </a:rPr>
              <a:t> We have been stuck in the 'DOS command-line era' of simple chat boxes. </a:t>
            </a:r>
            <a:r>
              <a:rPr lang="en-US" sz="1200" i="1" kern="1200" dirty="0">
                <a:solidFill>
                  <a:schemeClr val="tx1"/>
                </a:solidFill>
                <a:effectLst/>
                <a:latin typeface="+mn-lt"/>
                <a:ea typeface="+mn-ea"/>
                <a:cs typeface="+mn-cs"/>
              </a:rPr>
              <a:t>Solution:</a:t>
            </a:r>
            <a:r>
              <a:rPr lang="en-US" sz="1200" kern="1200" dirty="0">
                <a:solidFill>
                  <a:schemeClr val="tx1"/>
                </a:solidFill>
                <a:effectLst/>
                <a:latin typeface="+mn-lt"/>
                <a:ea typeface="+mn-ea"/>
                <a:cs typeface="+mn-cs"/>
              </a:rPr>
              <a:t> We are entering the 'Windows era' of AI—intuitive, rich, ambient interfaces where agents work natively alongside users. </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10</a:t>
            </a:fld>
            <a:endParaRPr lang="en-US"/>
          </a:p>
        </p:txBody>
      </p:sp>
    </p:spTree>
    <p:extLst>
      <p:ext uri="{BB962C8B-B14F-4D97-AF65-F5344CB8AC3E}">
        <p14:creationId xmlns:p14="http://schemas.microsoft.com/office/powerpoint/2010/main" val="2206601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consumer and prosumer AI products show improving retention curves? It comes down to </a:t>
            </a:r>
            <a:r>
              <a:rPr lang="en-US" sz="1200" b="1" kern="1200" dirty="0">
                <a:solidFill>
                  <a:schemeClr val="tx1"/>
                </a:solidFill>
                <a:effectLst/>
                <a:latin typeface="+mn-lt"/>
                <a:ea typeface="+mn-ea"/>
                <a:cs typeface="+mn-cs"/>
              </a:rPr>
              <a:t>compounding context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 </a:t>
            </a:r>
            <a:r>
              <a:rPr lang="en-US" sz="1200" b="1" kern="1200" dirty="0">
                <a:solidFill>
                  <a:schemeClr val="tx1"/>
                </a:solidFill>
                <a:effectLst/>
                <a:latin typeface="+mn-lt"/>
                <a:ea typeface="+mn-ea"/>
                <a:cs typeface="+mn-cs"/>
              </a:rPr>
              <a:t>Day 1</a:t>
            </a:r>
            <a:r>
              <a:rPr lang="en-US" sz="1200" kern="1200" dirty="0">
                <a:solidFill>
                  <a:schemeClr val="tx1"/>
                </a:solidFill>
                <a:effectLst/>
                <a:latin typeface="+mn-lt"/>
                <a:ea typeface="+mn-ea"/>
                <a:cs typeface="+mn-cs"/>
              </a:rPr>
              <a:t>, an AI agent is like a brilliant new hire—extremely capable, but lacking your personal context, preferences, and historical data. </a:t>
            </a:r>
          </a:p>
          <a:p>
            <a:r>
              <a:rPr lang="en-US" sz="1200" kern="1200" dirty="0">
                <a:solidFill>
                  <a:schemeClr val="tx1"/>
                </a:solidFill>
                <a:effectLst/>
                <a:latin typeface="+mn-lt"/>
                <a:ea typeface="+mn-ea"/>
                <a:cs typeface="+mn-cs"/>
              </a:rPr>
              <a:t>By </a:t>
            </a:r>
            <a:r>
              <a:rPr lang="en-US" sz="1200" b="1" kern="1200" dirty="0">
                <a:solidFill>
                  <a:schemeClr val="tx1"/>
                </a:solidFill>
                <a:effectLst/>
                <a:latin typeface="+mn-lt"/>
                <a:ea typeface="+mn-ea"/>
                <a:cs typeface="+mn-cs"/>
              </a:rPr>
              <a:t>Day 30</a:t>
            </a:r>
            <a:r>
              <a:rPr lang="en-US" sz="1200" kern="1200" dirty="0">
                <a:solidFill>
                  <a:schemeClr val="tx1"/>
                </a:solidFill>
                <a:effectLst/>
                <a:latin typeface="+mn-lt"/>
                <a:ea typeface="+mn-ea"/>
                <a:cs typeface="+mn-cs"/>
              </a:rPr>
              <a:t>, through persistent long-term memory and autonomous execution, that agent operates like a 10-year veteran. It anticipates needs, manages preferences, and acts proactively. </a:t>
            </a:r>
          </a:p>
          <a:p>
            <a:r>
              <a:rPr lang="en-US" sz="1200" kern="1200" dirty="0">
                <a:solidFill>
                  <a:schemeClr val="tx1"/>
                </a:solidFill>
                <a:effectLst/>
                <a:latin typeface="+mn-lt"/>
                <a:ea typeface="+mn-ea"/>
                <a:cs typeface="+mn-cs"/>
              </a:rPr>
              <a:t>Look at real-world applications: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Town:</a:t>
            </a:r>
            <a:r>
              <a:rPr lang="en-US" sz="1200" kern="1200" dirty="0">
                <a:solidFill>
                  <a:schemeClr val="tx1"/>
                </a:solidFill>
                <a:effectLst/>
                <a:latin typeface="+mn-lt"/>
                <a:ea typeface="+mn-ea"/>
                <a:cs typeface="+mn-cs"/>
              </a:rPr>
              <a:t> An agent that cleans your inbox to zero, audits subscriptions, and surfaces critical updates automatically.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Grokbot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 user takes a photo of jeans and gives a budget. The bot searches styles, identifies the exact fit, compares prices, and executes the purchase while the user sleeps. </a:t>
            </a:r>
          </a:p>
          <a:p>
            <a:r>
              <a:rPr lang="en-US" sz="1200" kern="1200" dirty="0">
                <a:solidFill>
                  <a:schemeClr val="tx1"/>
                </a:solidFill>
                <a:effectLst/>
                <a:latin typeface="+mn-lt"/>
                <a:ea typeface="+mn-ea"/>
                <a:cs typeface="+mn-cs"/>
              </a:rPr>
              <a:t>The more context an agent accumulates, the higher the switching cost becomes, creating deep product defensibility.</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11</a:t>
            </a:fld>
            <a:endParaRPr lang="en-US"/>
          </a:p>
        </p:txBody>
      </p:sp>
    </p:spTree>
    <p:extLst>
      <p:ext uri="{BB962C8B-B14F-4D97-AF65-F5344CB8AC3E}">
        <p14:creationId xmlns:p14="http://schemas.microsoft.com/office/powerpoint/2010/main" val="3463947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market conditions change, the ideal founder profile evolves. </a:t>
            </a:r>
          </a:p>
          <a:p>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Previous Era</a:t>
            </a:r>
            <a:r>
              <a:rPr lang="en-US" sz="1200" kern="1200" dirty="0">
                <a:solidFill>
                  <a:schemeClr val="tx1"/>
                </a:solidFill>
                <a:effectLst/>
                <a:latin typeface="+mn-lt"/>
                <a:ea typeface="+mn-ea"/>
                <a:cs typeface="+mn-cs"/>
              </a:rPr>
              <a:t>, the archetypal founder was a Big-Tech Product Manager or MBA. They possessed strong business sophistication, but capital and engineering constraints forced them to focus narrowly on single, incremental product surfaces. </a:t>
            </a:r>
          </a:p>
          <a:p>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AI Era</a:t>
            </a:r>
            <a:r>
              <a:rPr lang="en-US" sz="1200" kern="1200" dirty="0">
                <a:solidFill>
                  <a:schemeClr val="tx1"/>
                </a:solidFill>
                <a:effectLst/>
                <a:latin typeface="+mn-lt"/>
                <a:ea typeface="+mn-ea"/>
                <a:cs typeface="+mn-cs"/>
              </a:rPr>
              <a:t>, the dominant archetype is the </a:t>
            </a:r>
            <a:r>
              <a:rPr lang="en-US" sz="1200" b="1" kern="1200" dirty="0">
                <a:solidFill>
                  <a:schemeClr val="tx1"/>
                </a:solidFill>
                <a:effectLst/>
                <a:latin typeface="+mn-lt"/>
                <a:ea typeface="+mn-ea"/>
                <a:cs typeface="+mn-cs"/>
              </a:rPr>
              <a:t>Technical Researcher or Digitally Native Creator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founders are unbound by legacy playbooks. They assume anything is technically possible, and when paired with significant capital, they rapidly attack massive, multi-threaded product surfaces simultaneously. </a:t>
            </a:r>
          </a:p>
          <a:p>
            <a:r>
              <a:rPr lang="en-US" sz="1200" kern="1200" dirty="0">
                <a:solidFill>
                  <a:schemeClr val="tx1"/>
                </a:solidFill>
                <a:effectLst/>
                <a:latin typeface="+mn-lt"/>
                <a:ea typeface="+mn-ea"/>
                <a:cs typeface="+mn-cs"/>
              </a:rPr>
              <a:t>Technical fluency is now the primary lever for product velocity. Business models and go-to-market mechanics can be taught, but deep technical intuition is essential for building at the frontier.</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12</a:t>
            </a:fld>
            <a:endParaRPr lang="en-US"/>
          </a:p>
        </p:txBody>
      </p:sp>
    </p:spTree>
    <p:extLst>
      <p:ext uri="{BB962C8B-B14F-4D97-AF65-F5344CB8AC3E}">
        <p14:creationId xmlns:p14="http://schemas.microsoft.com/office/powerpoint/2010/main" val="1534715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surprising developments in consumer AI is price elasticity. </a:t>
            </a:r>
          </a:p>
          <a:p>
            <a:r>
              <a:rPr lang="en-US" sz="1200" kern="1200" dirty="0">
                <a:solidFill>
                  <a:schemeClr val="tx1"/>
                </a:solidFill>
                <a:effectLst/>
                <a:latin typeface="+mn-lt"/>
                <a:ea typeface="+mn-ea"/>
                <a:cs typeface="+mn-cs"/>
              </a:rPr>
              <a:t>For a decade, consumer software was anchored to the </a:t>
            </a:r>
            <a:r>
              <a:rPr lang="en-US" sz="1200" b="1" kern="1200" dirty="0">
                <a:solidFill>
                  <a:schemeClr val="tx1"/>
                </a:solidFill>
                <a:effectLst/>
                <a:latin typeface="+mn-lt"/>
                <a:ea typeface="+mn-ea"/>
                <a:cs typeface="+mn-cs"/>
              </a:rPr>
              <a:t>$0.99 App Store mentality</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$20/month SaaS subscriptions</a:t>
            </a:r>
            <a:r>
              <a:rPr lang="en-US" sz="1200" kern="1200" dirty="0">
                <a:solidFill>
                  <a:schemeClr val="tx1"/>
                </a:solidFill>
                <a:effectLst/>
                <a:latin typeface="+mn-lt"/>
                <a:ea typeface="+mn-ea"/>
                <a:cs typeface="+mn-cs"/>
              </a:rPr>
              <a:t>. Consumers resisted paying for incremental digital tools. </a:t>
            </a:r>
          </a:p>
          <a:p>
            <a:r>
              <a:rPr lang="en-US" sz="1200" kern="1200" dirty="0">
                <a:solidFill>
                  <a:schemeClr val="tx1"/>
                </a:solidFill>
                <a:effectLst/>
                <a:latin typeface="+mn-lt"/>
                <a:ea typeface="+mn-ea"/>
                <a:cs typeface="+mn-cs"/>
              </a:rPr>
              <a:t>AI agents have broken this price ceiling, creating </a:t>
            </a:r>
            <a:r>
              <a:rPr lang="en-US" sz="1200" b="1" kern="1200" dirty="0">
                <a:solidFill>
                  <a:schemeClr val="tx1"/>
                </a:solidFill>
                <a:effectLst/>
                <a:latin typeface="+mn-lt"/>
                <a:ea typeface="+mn-ea"/>
                <a:cs typeface="+mn-cs"/>
              </a:rPr>
              <a:t>'The Luxury Agent Era'</a:t>
            </a:r>
            <a:r>
              <a:rPr lang="en-US" sz="1200" kern="1200" dirty="0">
                <a:solidFill>
                  <a:schemeClr val="tx1"/>
                </a:solidFill>
                <a:effectLst/>
                <a:latin typeface="+mn-lt"/>
                <a:ea typeface="+mn-ea"/>
                <a:cs typeface="+mn-cs"/>
              </a:rPr>
              <a:t> ($200 to $2,000 per month). We call this </a:t>
            </a:r>
            <a:r>
              <a:rPr lang="en-US" sz="1200" b="1" kern="1200" dirty="0">
                <a:solidFill>
                  <a:schemeClr val="tx1"/>
                </a:solidFill>
                <a:effectLst/>
                <a:latin typeface="+mn-lt"/>
                <a:ea typeface="+mn-ea"/>
                <a:cs typeface="+mn-cs"/>
              </a:rPr>
              <a:t>'The Birkin Bag of Software'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Consumers are not looking for minor productivity tweaks. They are willing to pay premium prices for tools that deliver real quality-of-life outcomes—managing household logistics, optimizing personal finances, handling administrative burdens, or coordinating health care. </a:t>
            </a:r>
          </a:p>
          <a:p>
            <a:r>
              <a:rPr lang="en-US" sz="1200" kern="1200" dirty="0">
                <a:solidFill>
                  <a:schemeClr val="tx1"/>
                </a:solidFill>
                <a:effectLst/>
                <a:latin typeface="+mn-lt"/>
                <a:ea typeface="+mn-ea"/>
                <a:cs typeface="+mn-cs"/>
              </a:rPr>
              <a:t>When software transitions from </a:t>
            </a:r>
            <a:r>
              <a:rPr lang="en-US" sz="1200" i="1" kern="1200" dirty="0">
                <a:solidFill>
                  <a:schemeClr val="tx1"/>
                </a:solidFill>
                <a:effectLst/>
                <a:latin typeface="+mn-lt"/>
                <a:ea typeface="+mn-ea"/>
                <a:cs typeface="+mn-cs"/>
              </a:rPr>
              <a:t>assisting work</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executing labor</a:t>
            </a:r>
            <a:r>
              <a:rPr lang="en-US" sz="1200" kern="1200" dirty="0">
                <a:solidFill>
                  <a:schemeClr val="tx1"/>
                </a:solidFill>
                <a:effectLst/>
                <a:latin typeface="+mn-lt"/>
                <a:ea typeface="+mn-ea"/>
                <a:cs typeface="+mn-cs"/>
              </a:rPr>
              <a:t>, pricing shifts from software budgets to labor budgets.</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13</a:t>
            </a:fld>
            <a:endParaRPr lang="en-US"/>
          </a:p>
        </p:txBody>
      </p:sp>
    </p:spTree>
    <p:extLst>
      <p:ext uri="{BB962C8B-B14F-4D97-AF65-F5344CB8AC3E}">
        <p14:creationId xmlns:p14="http://schemas.microsoft.com/office/powerpoint/2010/main" val="836745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pull these threads together: whether you look at B2B enterprise software or consumer applications, the endgame is identical. </a:t>
            </a:r>
          </a:p>
          <a:p>
            <a:r>
              <a:rPr lang="en-US" sz="1200" kern="1200" dirty="0">
                <a:solidFill>
                  <a:schemeClr val="tx1"/>
                </a:solidFill>
                <a:effectLst/>
                <a:latin typeface="+mn-lt"/>
                <a:ea typeface="+mn-ea"/>
                <a:cs typeface="+mn-cs"/>
              </a:rPr>
              <a:t>Both sides leverage </a:t>
            </a:r>
            <a:r>
              <a:rPr lang="en-US" sz="1200" b="1" kern="1200" dirty="0">
                <a:solidFill>
                  <a:schemeClr val="tx1"/>
                </a:solidFill>
                <a:effectLst/>
                <a:latin typeface="+mn-lt"/>
                <a:ea typeface="+mn-ea"/>
                <a:cs typeface="+mn-cs"/>
              </a:rPr>
              <a:t>The Universal Intelligence Primitive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Enterprise side</a:t>
            </a:r>
            <a:r>
              <a:rPr lang="en-US" sz="1200" kern="1200" dirty="0">
                <a:solidFill>
                  <a:schemeClr val="tx1"/>
                </a:solidFill>
                <a:effectLst/>
                <a:latin typeface="+mn-lt"/>
                <a:ea typeface="+mn-ea"/>
                <a:cs typeface="+mn-cs"/>
              </a:rPr>
              <a:t>, intelligence is deployed into coding and operational loops to drive corporate efficiency.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a:t>
            </a:r>
            <a:r>
              <a:rPr lang="en-US" sz="1200" b="1" kern="1200" dirty="0">
                <a:solidFill>
                  <a:schemeClr val="tx1"/>
                </a:solidFill>
                <a:effectLst/>
                <a:latin typeface="+mn-lt"/>
                <a:ea typeface="+mn-ea"/>
                <a:cs typeface="+mn-cs"/>
              </a:rPr>
              <a:t>Consumer side</a:t>
            </a:r>
            <a:r>
              <a:rPr lang="en-US" sz="1200" kern="1200" dirty="0">
                <a:solidFill>
                  <a:schemeClr val="tx1"/>
                </a:solidFill>
                <a:effectLst/>
                <a:latin typeface="+mn-lt"/>
                <a:ea typeface="+mn-ea"/>
                <a:cs typeface="+mn-cs"/>
              </a:rPr>
              <a:t>, intelligence is deployed into personal health, wealth, and family management loops to unlock personal sovereignty. </a:t>
            </a:r>
          </a:p>
          <a:p>
            <a:r>
              <a:rPr lang="en-US" sz="1200" kern="1200" dirty="0">
                <a:solidFill>
                  <a:schemeClr val="tx1"/>
                </a:solidFill>
                <a:effectLst/>
                <a:latin typeface="+mn-lt"/>
                <a:ea typeface="+mn-ea"/>
                <a:cs typeface="+mn-cs"/>
              </a:rPr>
              <a:t>The underlying tech stack, model routing architectures, and memory structures are remarkably aligned. Winning products deliver autonomous, compounding loops that unlock substantial economic surplus for end users.</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14</a:t>
            </a:fld>
            <a:endParaRPr lang="en-US"/>
          </a:p>
        </p:txBody>
      </p:sp>
    </p:spTree>
    <p:extLst>
      <p:ext uri="{BB962C8B-B14F-4D97-AF65-F5344CB8AC3E}">
        <p14:creationId xmlns:p14="http://schemas.microsoft.com/office/powerpoint/2010/main" val="1865876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close out this first section of our briefing, we must look at the broader macroeconomic backdrop. While technological progress in AI remains rapid, market cycles do not operate in a vacuum. </a:t>
            </a:r>
          </a:p>
          <a:p>
            <a:r>
              <a:rPr lang="en-US" sz="1200" kern="1200" dirty="0">
                <a:solidFill>
                  <a:schemeClr val="tx1"/>
                </a:solidFill>
                <a:effectLst/>
                <a:latin typeface="+mn-lt"/>
                <a:ea typeface="+mn-ea"/>
                <a:cs typeface="+mn-cs"/>
              </a:rPr>
              <a:t>Investors and founders should monitor key macro risk indicators: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Circular Financing &amp; Infrastructure Risk:</a:t>
            </a:r>
            <a:r>
              <a:rPr lang="en-US" sz="1200" kern="1200" dirty="0">
                <a:solidFill>
                  <a:schemeClr val="tx1"/>
                </a:solidFill>
                <a:effectLst/>
                <a:latin typeface="+mn-lt"/>
                <a:ea typeface="+mn-ea"/>
                <a:cs typeface="+mn-cs"/>
              </a:rPr>
              <a:t> As capital flows heavily into datacenters and hardware, tracking real-world demand versus speculative capacity expansion remains vital.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Sovereign Debt &amp; Monetary Dynamics:</a:t>
            </a:r>
            <a:r>
              <a:rPr lang="en-US" sz="1200" kern="1200" dirty="0">
                <a:solidFill>
                  <a:schemeClr val="tx1"/>
                </a:solidFill>
                <a:effectLst/>
                <a:latin typeface="+mn-lt"/>
                <a:ea typeface="+mn-ea"/>
                <a:cs typeface="+mn-cs"/>
              </a:rPr>
              <a:t> Broader economic volatility, interest rate fluctuations, and debt levels continue to influence capital markets and tech valuations.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Asset Allocation &amp; Resilience:</a:t>
            </a:r>
            <a:r>
              <a:rPr lang="en-US" sz="1200" kern="1200" dirty="0">
                <a:solidFill>
                  <a:schemeClr val="tx1"/>
                </a:solidFill>
                <a:effectLst/>
                <a:latin typeface="+mn-lt"/>
                <a:ea typeface="+mn-ea"/>
                <a:cs typeface="+mn-cs"/>
              </a:rPr>
              <a:t> A balanced strategy focuses on building operational resilience. In AI, that means focusing on genuine enterprise value creation, sustainable revenue generation, and defensive tech stacks that withstand market shifts. </a:t>
            </a:r>
          </a:p>
          <a:p>
            <a:r>
              <a:rPr lang="en-US" sz="1200" kern="1200" dirty="0">
                <a:solidFill>
                  <a:schemeClr val="tx1"/>
                </a:solidFill>
                <a:effectLst/>
                <a:latin typeface="+mn-lt"/>
                <a:ea typeface="+mn-ea"/>
                <a:cs typeface="+mn-cs"/>
              </a:rPr>
              <a:t>Building durable companies requires capitalizing on technical momentum while maintaining disciplined unit economics.</a:t>
            </a:r>
          </a:p>
          <a:p>
            <a:r>
              <a:rPr lang="en-US" sz="1200" kern="1200" dirty="0">
                <a:solidFill>
                  <a:schemeClr val="tx1"/>
                </a:solidFill>
                <a:effectLst/>
                <a:latin typeface="+mn-lt"/>
                <a:ea typeface="+mn-ea"/>
                <a:cs typeface="+mn-cs"/>
              </a:rPr>
              <a:t>Thank you for your time, and let's open the floor to questions.</a:t>
            </a:r>
          </a:p>
          <a:p>
            <a:endParaRPr lang="en-US" dirty="0"/>
          </a:p>
        </p:txBody>
      </p:sp>
      <p:sp>
        <p:nvSpPr>
          <p:cNvPr id="4" name="Slide Number Placeholder 3"/>
          <p:cNvSpPr>
            <a:spLocks noGrp="1"/>
          </p:cNvSpPr>
          <p:nvPr>
            <p:ph type="sldNum" sz="quarter" idx="5"/>
          </p:nvPr>
        </p:nvSpPr>
        <p:spPr/>
        <p:txBody>
          <a:bodyPr/>
          <a:lstStyle/>
          <a:p>
            <a:fld id="{46E8F10B-1585-4B03-AACF-FF38C73C4621}" type="slidenum">
              <a:rPr lang="en-US" smtClean="0"/>
              <a:t>15</a:t>
            </a:fld>
            <a:endParaRPr lang="en-US"/>
          </a:p>
        </p:txBody>
      </p:sp>
    </p:spTree>
    <p:extLst>
      <p:ext uri="{BB962C8B-B14F-4D97-AF65-F5344CB8AC3E}">
        <p14:creationId xmlns:p14="http://schemas.microsoft.com/office/powerpoint/2010/main" val="8819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52D847-3ED0-5667-D6C6-07016A5A40D1}"/>
              </a:ext>
            </a:extLst>
          </p:cNvPr>
          <p:cNvSpPr>
            <a:spLocks noGrp="1"/>
          </p:cNvSpPr>
          <p:nvPr>
            <p:ph type="dt" sz="half" idx="10"/>
          </p:nvPr>
        </p:nvSpPr>
        <p:spPr/>
        <p:txBody>
          <a:bodyPr/>
          <a:lstStyle/>
          <a:p>
            <a:fld id="{9225BE48-63C2-4B55-8C09-9B44D448BF90}" type="datetimeFigureOut">
              <a:rPr lang="en-US" smtClean="0"/>
              <a:t>10/21/2026</a:t>
            </a:fld>
            <a:endParaRPr lang="en-US"/>
          </a:p>
        </p:txBody>
      </p:sp>
      <p:sp>
        <p:nvSpPr>
          <p:cNvPr id="3" name="Footer Placeholder 2">
            <a:extLst>
              <a:ext uri="{FF2B5EF4-FFF2-40B4-BE49-F238E27FC236}">
                <a16:creationId xmlns:a16="http://schemas.microsoft.com/office/drawing/2014/main" id="{DC240C4E-0681-58BC-B14A-5C97EA8EB9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AA9CC5-94EF-2160-8227-B9726752B7D8}"/>
              </a:ext>
            </a:extLst>
          </p:cNvPr>
          <p:cNvSpPr>
            <a:spLocks noGrp="1"/>
          </p:cNvSpPr>
          <p:nvPr>
            <p:ph type="sldNum" sz="quarter" idx="12"/>
          </p:nvPr>
        </p:nvSpPr>
        <p:spPr/>
        <p:txBody>
          <a:bodyPr/>
          <a:lstStyle/>
          <a:p>
            <a:fld id="{F71B01A2-F630-4510-850A-69FB1266A3A5}" type="slidenum">
              <a:rPr lang="en-US" smtClean="0"/>
              <a:t>‹#›</a:t>
            </a:fld>
            <a:endParaRPr lang="en-US"/>
          </a:p>
        </p:txBody>
      </p:sp>
    </p:spTree>
    <p:extLst>
      <p:ext uri="{BB962C8B-B14F-4D97-AF65-F5344CB8AC3E}">
        <p14:creationId xmlns:p14="http://schemas.microsoft.com/office/powerpoint/2010/main" val="41884004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BDAA2E-4C73-6D94-9182-191888D565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8A610E-0B79-C23D-62B6-EF2358E543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D14D0-E658-3165-249A-19AA8ACB06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25BE48-63C2-4B55-8C09-9B44D448BF90}" type="datetimeFigureOut">
              <a:rPr lang="en-US" smtClean="0"/>
              <a:t>10/21/2026</a:t>
            </a:fld>
            <a:endParaRPr lang="en-US"/>
          </a:p>
        </p:txBody>
      </p:sp>
      <p:sp>
        <p:nvSpPr>
          <p:cNvPr id="5" name="Footer Placeholder 4">
            <a:extLst>
              <a:ext uri="{FF2B5EF4-FFF2-40B4-BE49-F238E27FC236}">
                <a16:creationId xmlns:a16="http://schemas.microsoft.com/office/drawing/2014/main" id="{938A443A-FF9A-C5D9-97E2-2AE7D2A94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10C6FD-8233-1348-F42D-F825154B8B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1B01A2-F630-4510-850A-69FB1266A3A5}" type="slidenum">
              <a:rPr lang="en-US" smtClean="0"/>
              <a:t>‹#›</a:t>
            </a:fld>
            <a:endParaRPr lang="en-US"/>
          </a:p>
        </p:txBody>
      </p:sp>
    </p:spTree>
    <p:extLst>
      <p:ext uri="{BB962C8B-B14F-4D97-AF65-F5344CB8AC3E}">
        <p14:creationId xmlns:p14="http://schemas.microsoft.com/office/powerpoint/2010/main" val="58301001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94BB64-A19D-261E-22B8-EFCF029651A3}"/>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E28382-EA34-BFF4-2CBC-DE0FA3115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43038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2477</Words>
  <Application>Microsoft Office PowerPoint</Application>
  <PresentationFormat>寬螢幕</PresentationFormat>
  <Paragraphs>92</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2026-09-01T01:02:13Z</dcterms:created>
  <dcterms:modified xsi:type="dcterms:W3CDTF">2026-10-21T02:42:40Z</dcterms:modified>
</cp:coreProperties>
</file>