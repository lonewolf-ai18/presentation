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FAA34C-DDBC-404B-A9A8-98019AD7E750}" v="25" dt="2026-09-14T01:29:20.8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89316"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14T01:29:48.241" v="61" actId="166"/>
      <pc:docMkLst>
        <pc:docMk/>
      </pc:docMkLst>
      <pc:sldChg chg="addSp delSp modSp mod modAnim modNotes modNotesTx">
        <pc:chgData name="Lai, Wilson" userId="2840974a-0d84-4886-90a9-9a3ed79f3a48" providerId="ADAL" clId="{9F23B798-9E84-4552-BA63-E776E805C424}" dt="2026-09-14T01:29:48.241" v="61" actId="166"/>
        <pc:sldMkLst>
          <pc:docMk/>
          <pc:sldMk cId="0" sldId="257"/>
        </pc:sldMkLst>
        <pc:spChg chg="mod">
          <ac:chgData name="Lai, Wilson" userId="2840974a-0d84-4886-90a9-9a3ed79f3a48" providerId="ADAL" clId="{9F23B798-9E84-4552-BA63-E776E805C424}" dt="2026-09-14T00:58:26.584" v="2"/>
          <ac:spMkLst>
            <pc:docMk/>
            <pc:sldMk cId="0" sldId="257"/>
            <ac:spMk id="5" creationId="{E29C980A-96F1-F647-96DD-7C67F4794497}"/>
          </ac:spMkLst>
        </pc:spChg>
        <pc:grpChg chg="add mod">
          <ac:chgData name="Lai, Wilson" userId="2840974a-0d84-4886-90a9-9a3ed79f3a48" providerId="ADAL" clId="{9F23B798-9E84-4552-BA63-E776E805C424}" dt="2026-09-14T00:58:31.102" v="3" actId="1076"/>
          <ac:grpSpMkLst>
            <pc:docMk/>
            <pc:sldMk cId="0" sldId="257"/>
            <ac:grpSpMk id="6" creationId="{F9D1490C-EE4B-A903-A9E6-0F6DF63FD01B}"/>
          </ac:grpSpMkLst>
        </pc:grpChg>
        <pc:picChg chg="del">
          <ac:chgData name="Lai, Wilson" userId="2840974a-0d84-4886-90a9-9a3ed79f3a48" providerId="ADAL" clId="{9F23B798-9E84-4552-BA63-E776E805C424}" dt="2026-09-14T01:18:30.564" v="4" actId="21"/>
          <ac:picMkLst>
            <pc:docMk/>
            <pc:sldMk cId="0" sldId="257"/>
            <ac:picMk id="2" creationId="{00000000-0000-0000-0000-000000000000}"/>
          </ac:picMkLst>
        </pc:picChg>
        <pc:picChg chg="mod">
          <ac:chgData name="Lai, Wilson" userId="2840974a-0d84-4886-90a9-9a3ed79f3a48" providerId="ADAL" clId="{9F23B798-9E84-4552-BA63-E776E805C424}" dt="2026-09-14T00:58:26.584" v="2"/>
          <ac:picMkLst>
            <pc:docMk/>
            <pc:sldMk cId="0" sldId="257"/>
            <ac:picMk id="3" creationId="{2B7586A6-92A5-E5D9-363E-725FB63C0F4C}"/>
          </ac:picMkLst>
        </pc:picChg>
        <pc:picChg chg="add ord">
          <ac:chgData name="Lai, Wilson" userId="2840974a-0d84-4886-90a9-9a3ed79f3a48" providerId="ADAL" clId="{9F23B798-9E84-4552-BA63-E776E805C424}" dt="2026-09-14T01:29:48.241" v="61" actId="166"/>
          <ac:picMkLst>
            <pc:docMk/>
            <pc:sldMk cId="0" sldId="257"/>
            <ac:picMk id="7" creationId="{E668EFD6-4E55-61C5-1C51-E72FDC55C05C}"/>
          </ac:picMkLst>
        </pc:picChg>
      </pc:sldChg>
      <pc:sldChg chg="addSp delSp mod modNotes">
        <pc:chgData name="Lai, Wilson" userId="2840974a-0d84-4886-90a9-9a3ed79f3a48" providerId="ADAL" clId="{9F23B798-9E84-4552-BA63-E776E805C424}" dt="2026-09-14T01:29:20.864" v="59"/>
        <pc:sldMkLst>
          <pc:docMk/>
          <pc:sldMk cId="0" sldId="258"/>
        </pc:sldMkLst>
        <pc:picChg chg="del">
          <ac:chgData name="Lai, Wilson" userId="2840974a-0d84-4886-90a9-9a3ed79f3a48" providerId="ADAL" clId="{9F23B798-9E84-4552-BA63-E776E805C424}" dt="2026-09-14T01:19:20.341" v="9" actId="21"/>
          <ac:picMkLst>
            <pc:docMk/>
            <pc:sldMk cId="0" sldId="258"/>
            <ac:picMk id="2" creationId="{00000000-0000-0000-0000-000000000000}"/>
          </ac:picMkLst>
        </pc:picChg>
        <pc:picChg chg="add">
          <ac:chgData name="Lai, Wilson" userId="2840974a-0d84-4886-90a9-9a3ed79f3a48" providerId="ADAL" clId="{9F23B798-9E84-4552-BA63-E776E805C424}" dt="2026-09-14T01:19:34.299" v="10" actId="22"/>
          <ac:picMkLst>
            <pc:docMk/>
            <pc:sldMk cId="0" sldId="258"/>
            <ac:picMk id="4" creationId="{AE4ACD62-2113-5925-ACFB-8FD7AB40EFE6}"/>
          </ac:picMkLst>
        </pc:picChg>
      </pc:sldChg>
      <pc:sldChg chg="addSp delSp mod modNotes">
        <pc:chgData name="Lai, Wilson" userId="2840974a-0d84-4886-90a9-9a3ed79f3a48" providerId="ADAL" clId="{9F23B798-9E84-4552-BA63-E776E805C424}" dt="2026-09-14T01:29:20.864" v="59"/>
        <pc:sldMkLst>
          <pc:docMk/>
          <pc:sldMk cId="0" sldId="259"/>
        </pc:sldMkLst>
        <pc:picChg chg="del">
          <ac:chgData name="Lai, Wilson" userId="2840974a-0d84-4886-90a9-9a3ed79f3a48" providerId="ADAL" clId="{9F23B798-9E84-4552-BA63-E776E805C424}" dt="2026-09-14T01:19:37.561" v="11" actId="21"/>
          <ac:picMkLst>
            <pc:docMk/>
            <pc:sldMk cId="0" sldId="259"/>
            <ac:picMk id="2" creationId="{00000000-0000-0000-0000-000000000000}"/>
          </ac:picMkLst>
        </pc:picChg>
        <pc:picChg chg="add">
          <ac:chgData name="Lai, Wilson" userId="2840974a-0d84-4886-90a9-9a3ed79f3a48" providerId="ADAL" clId="{9F23B798-9E84-4552-BA63-E776E805C424}" dt="2026-09-14T01:19:49.366" v="12" actId="22"/>
          <ac:picMkLst>
            <pc:docMk/>
            <pc:sldMk cId="0" sldId="259"/>
            <ac:picMk id="4" creationId="{810C285E-93D2-316D-A5B2-96D9A0758E7D}"/>
          </ac:picMkLst>
        </pc:picChg>
      </pc:sldChg>
      <pc:sldChg chg="addSp delSp mod modNotes">
        <pc:chgData name="Lai, Wilson" userId="2840974a-0d84-4886-90a9-9a3ed79f3a48" providerId="ADAL" clId="{9F23B798-9E84-4552-BA63-E776E805C424}" dt="2026-09-14T01:29:20.864" v="59"/>
        <pc:sldMkLst>
          <pc:docMk/>
          <pc:sldMk cId="0" sldId="260"/>
        </pc:sldMkLst>
        <pc:picChg chg="del">
          <ac:chgData name="Lai, Wilson" userId="2840974a-0d84-4886-90a9-9a3ed79f3a48" providerId="ADAL" clId="{9F23B798-9E84-4552-BA63-E776E805C424}" dt="2026-09-14T01:19:54.496" v="13" actId="21"/>
          <ac:picMkLst>
            <pc:docMk/>
            <pc:sldMk cId="0" sldId="260"/>
            <ac:picMk id="2" creationId="{00000000-0000-0000-0000-000000000000}"/>
          </ac:picMkLst>
        </pc:picChg>
        <pc:picChg chg="add">
          <ac:chgData name="Lai, Wilson" userId="2840974a-0d84-4886-90a9-9a3ed79f3a48" providerId="ADAL" clId="{9F23B798-9E84-4552-BA63-E776E805C424}" dt="2026-09-14T01:20:03.379" v="14" actId="22"/>
          <ac:picMkLst>
            <pc:docMk/>
            <pc:sldMk cId="0" sldId="260"/>
            <ac:picMk id="4" creationId="{A3E70967-9FC3-19AA-305A-C51993C7207A}"/>
          </ac:picMkLst>
        </pc:picChg>
      </pc:sldChg>
      <pc:sldChg chg="addSp delSp mod modNotes modNotesTx">
        <pc:chgData name="Lai, Wilson" userId="2840974a-0d84-4886-90a9-9a3ed79f3a48" providerId="ADAL" clId="{9F23B798-9E84-4552-BA63-E776E805C424}" dt="2026-09-14T01:29:20.864" v="59"/>
        <pc:sldMkLst>
          <pc:docMk/>
          <pc:sldMk cId="0" sldId="261"/>
        </pc:sldMkLst>
        <pc:picChg chg="del">
          <ac:chgData name="Lai, Wilson" userId="2840974a-0d84-4886-90a9-9a3ed79f3a48" providerId="ADAL" clId="{9F23B798-9E84-4552-BA63-E776E805C424}" dt="2026-09-14T01:20:06.855" v="15" actId="21"/>
          <ac:picMkLst>
            <pc:docMk/>
            <pc:sldMk cId="0" sldId="261"/>
            <ac:picMk id="2" creationId="{00000000-0000-0000-0000-000000000000}"/>
          </ac:picMkLst>
        </pc:picChg>
        <pc:picChg chg="add">
          <ac:chgData name="Lai, Wilson" userId="2840974a-0d84-4886-90a9-9a3ed79f3a48" providerId="ADAL" clId="{9F23B798-9E84-4552-BA63-E776E805C424}" dt="2026-09-14T01:20:16.283" v="16" actId="22"/>
          <ac:picMkLst>
            <pc:docMk/>
            <pc:sldMk cId="0" sldId="261"/>
            <ac:picMk id="4" creationId="{398BC020-0929-A697-4249-6CF352F0086B}"/>
          </ac:picMkLst>
        </pc:picChg>
      </pc:sldChg>
      <pc:sldChg chg="addSp delSp mod modNotes modNotesTx">
        <pc:chgData name="Lai, Wilson" userId="2840974a-0d84-4886-90a9-9a3ed79f3a48" providerId="ADAL" clId="{9F23B798-9E84-4552-BA63-E776E805C424}" dt="2026-09-14T01:29:20.864" v="59"/>
        <pc:sldMkLst>
          <pc:docMk/>
          <pc:sldMk cId="0" sldId="262"/>
        </pc:sldMkLst>
        <pc:picChg chg="del">
          <ac:chgData name="Lai, Wilson" userId="2840974a-0d84-4886-90a9-9a3ed79f3a48" providerId="ADAL" clId="{9F23B798-9E84-4552-BA63-E776E805C424}" dt="2026-09-14T01:20:18.877" v="17" actId="21"/>
          <ac:picMkLst>
            <pc:docMk/>
            <pc:sldMk cId="0" sldId="262"/>
            <ac:picMk id="2" creationId="{00000000-0000-0000-0000-000000000000}"/>
          </ac:picMkLst>
        </pc:picChg>
        <pc:picChg chg="add">
          <ac:chgData name="Lai, Wilson" userId="2840974a-0d84-4886-90a9-9a3ed79f3a48" providerId="ADAL" clId="{9F23B798-9E84-4552-BA63-E776E805C424}" dt="2026-09-14T01:20:28.895" v="18" actId="22"/>
          <ac:picMkLst>
            <pc:docMk/>
            <pc:sldMk cId="0" sldId="262"/>
            <ac:picMk id="4" creationId="{FFF820DE-D97B-428A-E7D1-CD9876E16EA3}"/>
          </ac:picMkLst>
        </pc:picChg>
      </pc:sldChg>
      <pc:sldChg chg="addSp delSp mod modNotes">
        <pc:chgData name="Lai, Wilson" userId="2840974a-0d84-4886-90a9-9a3ed79f3a48" providerId="ADAL" clId="{9F23B798-9E84-4552-BA63-E776E805C424}" dt="2026-09-14T01:29:20.864" v="59"/>
        <pc:sldMkLst>
          <pc:docMk/>
          <pc:sldMk cId="0" sldId="263"/>
        </pc:sldMkLst>
        <pc:picChg chg="del">
          <ac:chgData name="Lai, Wilson" userId="2840974a-0d84-4886-90a9-9a3ed79f3a48" providerId="ADAL" clId="{9F23B798-9E84-4552-BA63-E776E805C424}" dt="2026-09-14T01:20:32.300" v="19" actId="21"/>
          <ac:picMkLst>
            <pc:docMk/>
            <pc:sldMk cId="0" sldId="263"/>
            <ac:picMk id="2" creationId="{00000000-0000-0000-0000-000000000000}"/>
          </ac:picMkLst>
        </pc:picChg>
        <pc:picChg chg="add">
          <ac:chgData name="Lai, Wilson" userId="2840974a-0d84-4886-90a9-9a3ed79f3a48" providerId="ADAL" clId="{9F23B798-9E84-4552-BA63-E776E805C424}" dt="2026-09-14T01:20:40.561" v="20" actId="22"/>
          <ac:picMkLst>
            <pc:docMk/>
            <pc:sldMk cId="0" sldId="263"/>
            <ac:picMk id="4" creationId="{3C0F3890-E133-0707-F7A5-45600ACBDBA6}"/>
          </ac:picMkLst>
        </pc:picChg>
      </pc:sldChg>
      <pc:sldChg chg="addSp delSp mod modNotes">
        <pc:chgData name="Lai, Wilson" userId="2840974a-0d84-4886-90a9-9a3ed79f3a48" providerId="ADAL" clId="{9F23B798-9E84-4552-BA63-E776E805C424}" dt="2026-09-14T01:29:20.864" v="59"/>
        <pc:sldMkLst>
          <pc:docMk/>
          <pc:sldMk cId="0" sldId="264"/>
        </pc:sldMkLst>
        <pc:picChg chg="del">
          <ac:chgData name="Lai, Wilson" userId="2840974a-0d84-4886-90a9-9a3ed79f3a48" providerId="ADAL" clId="{9F23B798-9E84-4552-BA63-E776E805C424}" dt="2026-09-14T01:20:43.450" v="21" actId="21"/>
          <ac:picMkLst>
            <pc:docMk/>
            <pc:sldMk cId="0" sldId="264"/>
            <ac:picMk id="2" creationId="{00000000-0000-0000-0000-000000000000}"/>
          </ac:picMkLst>
        </pc:picChg>
        <pc:picChg chg="add">
          <ac:chgData name="Lai, Wilson" userId="2840974a-0d84-4886-90a9-9a3ed79f3a48" providerId="ADAL" clId="{9F23B798-9E84-4552-BA63-E776E805C424}" dt="2026-09-14T01:20:52.805" v="22" actId="22"/>
          <ac:picMkLst>
            <pc:docMk/>
            <pc:sldMk cId="0" sldId="264"/>
            <ac:picMk id="4" creationId="{D1DE02B8-10B9-EC80-87B2-51A3B79EADB5}"/>
          </ac:picMkLst>
        </pc:picChg>
      </pc:sldChg>
      <pc:sldChg chg="addSp delSp mod modNotes">
        <pc:chgData name="Lai, Wilson" userId="2840974a-0d84-4886-90a9-9a3ed79f3a48" providerId="ADAL" clId="{9F23B798-9E84-4552-BA63-E776E805C424}" dt="2026-09-14T01:29:20.864" v="59"/>
        <pc:sldMkLst>
          <pc:docMk/>
          <pc:sldMk cId="0" sldId="265"/>
        </pc:sldMkLst>
        <pc:picChg chg="del">
          <ac:chgData name="Lai, Wilson" userId="2840974a-0d84-4886-90a9-9a3ed79f3a48" providerId="ADAL" clId="{9F23B798-9E84-4552-BA63-E776E805C424}" dt="2026-09-14T01:20:54.925" v="23" actId="21"/>
          <ac:picMkLst>
            <pc:docMk/>
            <pc:sldMk cId="0" sldId="265"/>
            <ac:picMk id="2" creationId="{00000000-0000-0000-0000-000000000000}"/>
          </ac:picMkLst>
        </pc:picChg>
        <pc:picChg chg="add">
          <ac:chgData name="Lai, Wilson" userId="2840974a-0d84-4886-90a9-9a3ed79f3a48" providerId="ADAL" clId="{9F23B798-9E84-4552-BA63-E776E805C424}" dt="2026-09-14T01:21:04.998" v="24" actId="22"/>
          <ac:picMkLst>
            <pc:docMk/>
            <pc:sldMk cId="0" sldId="265"/>
            <ac:picMk id="4" creationId="{A181374F-5EE7-8361-E2A9-FEEA10DCFCB2}"/>
          </ac:picMkLst>
        </pc:picChg>
      </pc:sldChg>
      <pc:sldChg chg="addSp delSp mod modNotes">
        <pc:chgData name="Lai, Wilson" userId="2840974a-0d84-4886-90a9-9a3ed79f3a48" providerId="ADAL" clId="{9F23B798-9E84-4552-BA63-E776E805C424}" dt="2026-09-14T01:29:20.864" v="59"/>
        <pc:sldMkLst>
          <pc:docMk/>
          <pc:sldMk cId="0" sldId="266"/>
        </pc:sldMkLst>
        <pc:picChg chg="del">
          <ac:chgData name="Lai, Wilson" userId="2840974a-0d84-4886-90a9-9a3ed79f3a48" providerId="ADAL" clId="{9F23B798-9E84-4552-BA63-E776E805C424}" dt="2026-09-14T01:21:08.282" v="25" actId="21"/>
          <ac:picMkLst>
            <pc:docMk/>
            <pc:sldMk cId="0" sldId="266"/>
            <ac:picMk id="2" creationId="{00000000-0000-0000-0000-000000000000}"/>
          </ac:picMkLst>
        </pc:picChg>
        <pc:picChg chg="add">
          <ac:chgData name="Lai, Wilson" userId="2840974a-0d84-4886-90a9-9a3ed79f3a48" providerId="ADAL" clId="{9F23B798-9E84-4552-BA63-E776E805C424}" dt="2026-09-14T01:21:18.145" v="26" actId="22"/>
          <ac:picMkLst>
            <pc:docMk/>
            <pc:sldMk cId="0" sldId="266"/>
            <ac:picMk id="4" creationId="{ADD1986D-76CB-2C18-F024-70589196DCC7}"/>
          </ac:picMkLst>
        </pc:picChg>
      </pc:sldChg>
      <pc:sldChg chg="addSp delSp mod modNotes modNotesTx">
        <pc:chgData name="Lai, Wilson" userId="2840974a-0d84-4886-90a9-9a3ed79f3a48" providerId="ADAL" clId="{9F23B798-9E84-4552-BA63-E776E805C424}" dt="2026-09-14T01:29:20.864" v="59"/>
        <pc:sldMkLst>
          <pc:docMk/>
          <pc:sldMk cId="0" sldId="267"/>
        </pc:sldMkLst>
        <pc:picChg chg="del">
          <ac:chgData name="Lai, Wilson" userId="2840974a-0d84-4886-90a9-9a3ed79f3a48" providerId="ADAL" clId="{9F23B798-9E84-4552-BA63-E776E805C424}" dt="2026-09-14T01:21:20.110" v="27" actId="21"/>
          <ac:picMkLst>
            <pc:docMk/>
            <pc:sldMk cId="0" sldId="267"/>
            <ac:picMk id="2" creationId="{00000000-0000-0000-0000-000000000000}"/>
          </ac:picMkLst>
        </pc:picChg>
        <pc:picChg chg="add">
          <ac:chgData name="Lai, Wilson" userId="2840974a-0d84-4886-90a9-9a3ed79f3a48" providerId="ADAL" clId="{9F23B798-9E84-4552-BA63-E776E805C424}" dt="2026-09-14T01:21:30.820" v="28" actId="22"/>
          <ac:picMkLst>
            <pc:docMk/>
            <pc:sldMk cId="0" sldId="267"/>
            <ac:picMk id="4" creationId="{24B71856-EDAC-4078-C225-2491D708BC58}"/>
          </ac:picMkLst>
        </pc:picChg>
      </pc:sldChg>
      <pc:sldChg chg="addSp delSp mod modNotes modNotesTx">
        <pc:chgData name="Lai, Wilson" userId="2840974a-0d84-4886-90a9-9a3ed79f3a48" providerId="ADAL" clId="{9F23B798-9E84-4552-BA63-E776E805C424}" dt="2026-09-14T01:29:20.864" v="59"/>
        <pc:sldMkLst>
          <pc:docMk/>
          <pc:sldMk cId="0" sldId="268"/>
        </pc:sldMkLst>
        <pc:picChg chg="del">
          <ac:chgData name="Lai, Wilson" userId="2840974a-0d84-4886-90a9-9a3ed79f3a48" providerId="ADAL" clId="{9F23B798-9E84-4552-BA63-E776E805C424}" dt="2026-09-14T01:21:33.362" v="29" actId="21"/>
          <ac:picMkLst>
            <pc:docMk/>
            <pc:sldMk cId="0" sldId="268"/>
            <ac:picMk id="2" creationId="{00000000-0000-0000-0000-000000000000}"/>
          </ac:picMkLst>
        </pc:picChg>
        <pc:picChg chg="add">
          <ac:chgData name="Lai, Wilson" userId="2840974a-0d84-4886-90a9-9a3ed79f3a48" providerId="ADAL" clId="{9F23B798-9E84-4552-BA63-E776E805C424}" dt="2026-09-14T01:21:42.544" v="30" actId="22"/>
          <ac:picMkLst>
            <pc:docMk/>
            <pc:sldMk cId="0" sldId="268"/>
            <ac:picMk id="4" creationId="{44FCA807-EA53-8831-4097-F8D4B1A7010D}"/>
          </ac:picMkLst>
        </pc:picChg>
      </pc:sldChg>
      <pc:sldChg chg="addSp delSp mod modNotes">
        <pc:chgData name="Lai, Wilson" userId="2840974a-0d84-4886-90a9-9a3ed79f3a48" providerId="ADAL" clId="{9F23B798-9E84-4552-BA63-E776E805C424}" dt="2026-09-14T01:29:20.864" v="59"/>
        <pc:sldMkLst>
          <pc:docMk/>
          <pc:sldMk cId="0" sldId="269"/>
        </pc:sldMkLst>
        <pc:picChg chg="del">
          <ac:chgData name="Lai, Wilson" userId="2840974a-0d84-4886-90a9-9a3ed79f3a48" providerId="ADAL" clId="{9F23B798-9E84-4552-BA63-E776E805C424}" dt="2026-09-14T01:21:44.605" v="31" actId="21"/>
          <ac:picMkLst>
            <pc:docMk/>
            <pc:sldMk cId="0" sldId="269"/>
            <ac:picMk id="2" creationId="{00000000-0000-0000-0000-000000000000}"/>
          </ac:picMkLst>
        </pc:picChg>
        <pc:picChg chg="add">
          <ac:chgData name="Lai, Wilson" userId="2840974a-0d84-4886-90a9-9a3ed79f3a48" providerId="ADAL" clId="{9F23B798-9E84-4552-BA63-E776E805C424}" dt="2026-09-14T01:21:53.725" v="32" actId="22"/>
          <ac:picMkLst>
            <pc:docMk/>
            <pc:sldMk cId="0" sldId="269"/>
            <ac:picMk id="4" creationId="{19956353-BA2D-74C8-B045-90CBC83841FE}"/>
          </ac:picMkLst>
        </pc:picChg>
      </pc:sldChg>
      <pc:sldChg chg="addSp delSp mod modNotes modNotesTx">
        <pc:chgData name="Lai, Wilson" userId="2840974a-0d84-4886-90a9-9a3ed79f3a48" providerId="ADAL" clId="{9F23B798-9E84-4552-BA63-E776E805C424}" dt="2026-09-14T01:29:20.864" v="59"/>
        <pc:sldMkLst>
          <pc:docMk/>
          <pc:sldMk cId="0" sldId="270"/>
        </pc:sldMkLst>
        <pc:picChg chg="del">
          <ac:chgData name="Lai, Wilson" userId="2840974a-0d84-4886-90a9-9a3ed79f3a48" providerId="ADAL" clId="{9F23B798-9E84-4552-BA63-E776E805C424}" dt="2026-09-14T01:22:33.489" v="37" actId="21"/>
          <ac:picMkLst>
            <pc:docMk/>
            <pc:sldMk cId="0" sldId="270"/>
            <ac:picMk id="2" creationId="{00000000-0000-0000-0000-000000000000}"/>
          </ac:picMkLst>
        </pc:picChg>
        <pc:picChg chg="add">
          <ac:chgData name="Lai, Wilson" userId="2840974a-0d84-4886-90a9-9a3ed79f3a48" providerId="ADAL" clId="{9F23B798-9E84-4552-BA63-E776E805C424}" dt="2026-09-14T01:23:06.405" v="38" actId="22"/>
          <ac:picMkLst>
            <pc:docMk/>
            <pc:sldMk cId="0" sldId="270"/>
            <ac:picMk id="4" creationId="{6696327E-E05B-99E1-7FCC-AD091F87CF50}"/>
          </ac:picMkLst>
        </pc:picChg>
      </pc:sldChg>
      <pc:sldChg chg="addSp delSp mod modNotes">
        <pc:chgData name="Lai, Wilson" userId="2840974a-0d84-4886-90a9-9a3ed79f3a48" providerId="ADAL" clId="{9F23B798-9E84-4552-BA63-E776E805C424}" dt="2026-09-14T01:29:20.864" v="59"/>
        <pc:sldMkLst>
          <pc:docMk/>
          <pc:sldMk cId="0" sldId="271"/>
        </pc:sldMkLst>
        <pc:picChg chg="del">
          <ac:chgData name="Lai, Wilson" userId="2840974a-0d84-4886-90a9-9a3ed79f3a48" providerId="ADAL" clId="{9F23B798-9E84-4552-BA63-E776E805C424}" dt="2026-09-14T01:21:58.237" v="33" actId="21"/>
          <ac:picMkLst>
            <pc:docMk/>
            <pc:sldMk cId="0" sldId="271"/>
            <ac:picMk id="2" creationId="{00000000-0000-0000-0000-000000000000}"/>
          </ac:picMkLst>
        </pc:picChg>
        <pc:picChg chg="add">
          <ac:chgData name="Lai, Wilson" userId="2840974a-0d84-4886-90a9-9a3ed79f3a48" providerId="ADAL" clId="{9F23B798-9E84-4552-BA63-E776E805C424}" dt="2026-09-14T01:22:06.719" v="34" actId="22"/>
          <ac:picMkLst>
            <pc:docMk/>
            <pc:sldMk cId="0" sldId="271"/>
            <ac:picMk id="4" creationId="{BE248748-9DB4-677A-61E6-C55103295A4F}"/>
          </ac:picMkLst>
        </pc:picChg>
      </pc:sldChg>
      <pc:sldChg chg="addSp delSp mod modNotes modNotesTx">
        <pc:chgData name="Lai, Wilson" userId="2840974a-0d84-4886-90a9-9a3ed79f3a48" providerId="ADAL" clId="{9F23B798-9E84-4552-BA63-E776E805C424}" dt="2026-09-14T01:29:20.864" v="59"/>
        <pc:sldMkLst>
          <pc:docMk/>
          <pc:sldMk cId="3797966067" sldId="272"/>
        </pc:sldMkLst>
        <pc:picChg chg="del">
          <ac:chgData name="Lai, Wilson" userId="2840974a-0d84-4886-90a9-9a3ed79f3a48" providerId="ADAL" clId="{9F23B798-9E84-4552-BA63-E776E805C424}" dt="2026-09-14T01:22:10.117" v="35" actId="21"/>
          <ac:picMkLst>
            <pc:docMk/>
            <pc:sldMk cId="3797966067" sldId="272"/>
            <ac:picMk id="3" creationId="{D87ABA9B-6754-8B0B-213A-030D40CD690E}"/>
          </ac:picMkLst>
        </pc:picChg>
        <pc:picChg chg="add">
          <ac:chgData name="Lai, Wilson" userId="2840974a-0d84-4886-90a9-9a3ed79f3a48" providerId="ADAL" clId="{9F23B798-9E84-4552-BA63-E776E805C424}" dt="2026-09-14T01:22:21.223" v="36" actId="22"/>
          <ac:picMkLst>
            <pc:docMk/>
            <pc:sldMk cId="3797966067" sldId="272"/>
            <ac:picMk id="4" creationId="{AA4C4786-D969-B81F-6878-124629DDD81B}"/>
          </ac:picMkLst>
        </pc:picChg>
      </pc:sldChg>
      <pc:sldMasterChg chg="setBg">
        <pc:chgData name="Lai, Wilson" userId="2840974a-0d84-4886-90a9-9a3ed79f3a48" providerId="ADAL" clId="{9F23B798-9E84-4552-BA63-E776E805C424}" dt="2026-09-14T01:19:08.460" v="6"/>
        <pc:sldMasterMkLst>
          <pc:docMk/>
          <pc:sldMasterMk cId="4134512502" sldId="2147483648"/>
        </pc:sldMasterMkLst>
      </pc:sldMasterChg>
      <pc:sldMasterChg chg="setBg">
        <pc:chgData name="Lai, Wilson" userId="2840974a-0d84-4886-90a9-9a3ed79f3a48" providerId="ADAL" clId="{9F23B798-9E84-4552-BA63-E776E805C424}" dt="2026-09-14T00:58:23.206" v="1"/>
        <pc:sldMasterMkLst>
          <pc:docMk/>
          <pc:sldMasterMk cId="4134512502" sldId="2147483656"/>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07580-3EF8-49E1-89AD-E93517CE926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D592C3-FA85-4212-95FD-B0B383BAC653}" type="slidenum">
              <a:rPr lang="en-US" smtClean="0"/>
              <a:t>‹#›</a:t>
            </a:fld>
            <a:endParaRPr lang="en-US"/>
          </a:p>
        </p:txBody>
      </p:sp>
    </p:spTree>
    <p:extLst>
      <p:ext uri="{BB962C8B-B14F-4D97-AF65-F5344CB8AC3E}">
        <p14:creationId xmlns:p14="http://schemas.microsoft.com/office/powerpoint/2010/main" val="304467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Opening:</a:t>
            </a:r>
            <a:r>
              <a:rPr lang="en-US" dirty="0"/>
              <a:t> Good morning/afternoon, everyone. Today, we are exploring a fundamental transformation in how software is created, executed, and scaled. Historically, software engineering was defined by writing explicit logic line by line. Today, we stand at the intersection of modern deep learning, the Transformer architecture, and natural language interfaces.</a:t>
            </a:r>
          </a:p>
          <a:p>
            <a:pPr lvl="0"/>
            <a:r>
              <a:rPr lang="en-US" b="1" dirty="0"/>
              <a:t>Key Visuals/Points on Slide:</a:t>
            </a:r>
            <a:r>
              <a:rPr lang="en-US" dirty="0"/>
              <a:t> The graph chip representation; the subtitle covering Transformers, Software 3.0, and the new hacking paradigm.</a:t>
            </a:r>
          </a:p>
          <a:p>
            <a:pPr lvl="0"/>
            <a:r>
              <a:rPr lang="en-US" b="1" dirty="0"/>
              <a:t>Elaboration:</a:t>
            </a:r>
            <a:r>
              <a:rPr lang="en-US" dirty="0"/>
              <a:t> In this presentation, we synthesized a decade of architectural shifts—from manual feature engineering, to data-driven deep learning, and finally to natural language orchestration. We will look under the hood of Large Language Models (LLMs) to see why they act less like glorified text predictors and more like reconfigurable, runtime computers.</a:t>
            </a:r>
          </a:p>
          <a:p>
            <a:pPr lvl="0"/>
            <a:r>
              <a:rPr lang="en-US" b="1" dirty="0"/>
              <a:t>Transition Cue:</a:t>
            </a:r>
            <a:r>
              <a:rPr lang="en-US" dirty="0"/>
              <a:t> To understand where we are going, let’s begin with a quote that encapsulates this new paradigm.</a:t>
            </a:r>
          </a:p>
          <a:p>
            <a:endParaRPr lang="en-US" dirty="0"/>
          </a:p>
          <a:p>
            <a:endParaRPr lang="en-US" dirty="0"/>
          </a:p>
          <a:p>
            <a:endParaRPr lang="en-US" dirty="0"/>
          </a:p>
          <a:p>
            <a:r>
              <a:rPr lang="en-US" dirty="0"/>
              <a:t>https://www.youtube.com/watch?v=Rlk0GLRWwTI</a:t>
            </a:r>
          </a:p>
        </p:txBody>
      </p:sp>
      <p:sp>
        <p:nvSpPr>
          <p:cNvPr id="4" name="Slide Number Placeholder 3"/>
          <p:cNvSpPr>
            <a:spLocks noGrp="1"/>
          </p:cNvSpPr>
          <p:nvPr>
            <p:ph type="sldNum" sz="quarter" idx="5"/>
          </p:nvPr>
        </p:nvSpPr>
        <p:spPr/>
        <p:txBody>
          <a:bodyPr/>
          <a:lstStyle/>
          <a:p>
            <a:fld id="{D13947CE-712E-4C9C-95DE-C7094C6A37E2}" type="slidenum">
              <a:rPr lang="en-US" smtClean="0"/>
              <a:t>1</a:t>
            </a:fld>
            <a:endParaRPr lang="en-US"/>
          </a:p>
        </p:txBody>
      </p:sp>
    </p:spTree>
    <p:extLst>
      <p:ext uri="{BB962C8B-B14F-4D97-AF65-F5344CB8AC3E}">
        <p14:creationId xmlns:p14="http://schemas.microsoft.com/office/powerpoint/2010/main" val="11234779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Key Point:</a:t>
            </a:r>
            <a:r>
              <a:rPr lang="en-US" dirty="0"/>
              <a:t> The fundamental takeaway of this slide is that LLMs are not merely conversational chatbots; they are general-purpose computers reconfigurable at runtime.</a:t>
            </a:r>
          </a:p>
          <a:p>
            <a:pPr lvl="0"/>
            <a:r>
              <a:rPr lang="en-US" b="1" dirty="0"/>
              <a:t>Script:</a:t>
            </a:r>
            <a:r>
              <a:rPr lang="en-US" dirty="0"/>
              <a:t> For seventy years, to program a computer, you had to speak the computer's native language—from assembly up to C++, Python, or Java. Today, the primary interface for software creation is switching to natural English.</a:t>
            </a:r>
          </a:p>
          <a:p>
            <a:pPr lvl="0"/>
            <a:r>
              <a:rPr lang="en-US" b="1" dirty="0"/>
              <a:t>Technical Depth:</a:t>
            </a:r>
            <a:r>
              <a:rPr lang="en-US" dirty="0"/>
              <a:t> Underneath the hood, these models process text through next-token prediction. But when you train a Transformer with over a hundred billion parameters across massive datasets, next-token prediction ceases to be a simple text auto-complete. It becomes a mechanism for simulating logical deduction, state tracking, and instruction following.</a:t>
            </a:r>
          </a:p>
          <a:p>
            <a:pPr lvl="0"/>
            <a:r>
              <a:rPr lang="en-US" b="1" dirty="0"/>
              <a:t>Real-world Context (Ref to Video):</a:t>
            </a:r>
            <a:r>
              <a:rPr lang="en-US" dirty="0"/>
              <a:t> As Andrej </a:t>
            </a:r>
            <a:r>
              <a:rPr lang="en-US" dirty="0" err="1"/>
              <a:t>Karpathy</a:t>
            </a:r>
            <a:r>
              <a:rPr lang="en-US" dirty="0"/>
              <a:t> noted during his keynote, when you scale up these models, you aren't just building another classifier; you are instantiating an environment that processes text programs passed in as prompts.</a:t>
            </a:r>
          </a:p>
          <a:p>
            <a:pPr lvl="0"/>
            <a:r>
              <a:rPr lang="en-US" b="1" dirty="0"/>
              <a:t>Transition Cue:</a:t>
            </a:r>
            <a:r>
              <a:rPr lang="en-US" dirty="0"/>
              <a:t> Let's trace how we arrived here by categorizing the three major software eras.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2</a:t>
            </a:fld>
            <a:endParaRPr lang="en-US"/>
          </a:p>
        </p:txBody>
      </p:sp>
    </p:spTree>
    <p:extLst>
      <p:ext uri="{BB962C8B-B14F-4D97-AF65-F5344CB8AC3E}">
        <p14:creationId xmlns:p14="http://schemas.microsoft.com/office/powerpoint/2010/main" val="204541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Software 1.0 (Algorithm Design):</a:t>
            </a:r>
            <a:r>
              <a:rPr lang="en-US" dirty="0"/>
              <a:t> For roughly 70 years, we resided in Software 1.0. Humans designed explicit algorithms using languages like C++ or Python. The primary artifact produced was explicit code, such as the Linux Kernel or database engines.</a:t>
            </a:r>
          </a:p>
          <a:p>
            <a:pPr lvl="0"/>
            <a:r>
              <a:rPr lang="en-US" b="1" dirty="0"/>
              <a:t>Software 2.0 (Dataset Iteration / Deep Learning):</a:t>
            </a:r>
            <a:r>
              <a:rPr lang="en-US" dirty="0"/>
              <a:t> Around 2012–2017, Software 2.0 emerged. Here, humans stopped writing code for complex visual or auditory recognition tasks. Instead, we iterated on the 'Data Engine'—accumulating, cleaning, and labeling datasets. The compiler became optimization via Stochastic Gradient Descent (SGD), and the resulting artifact was neural network weights (e.g., Tesla Autopilot, Whisper, or image classifiers).</a:t>
            </a:r>
          </a:p>
          <a:p>
            <a:pPr lvl="0"/>
            <a:r>
              <a:rPr lang="en-US" b="1" dirty="0"/>
              <a:t>Software 3.0 (Prompt Engineering / In-Context Era):</a:t>
            </a:r>
            <a:r>
              <a:rPr lang="en-US" dirty="0"/>
              <a:t> Now, in Software 3.0, the realm shifts to Prompt Engineering. The primary language is natural language (English). The artifact is no longer static code or updated model weights, but an </a:t>
            </a:r>
            <a:r>
              <a:rPr lang="en-US" i="1" dirty="0"/>
              <a:t>in-context program</a:t>
            </a:r>
            <a:r>
              <a:rPr lang="en-US" dirty="0"/>
              <a:t> executed dynamically inside the model's activations.</a:t>
            </a:r>
          </a:p>
          <a:p>
            <a:pPr lvl="0"/>
            <a:r>
              <a:rPr lang="en-US" b="1" dirty="0"/>
              <a:t>Key Insight:</a:t>
            </a:r>
            <a:r>
              <a:rPr lang="en-US" dirty="0"/>
              <a:t> Note that 3.0 does not destroy 1.0 or 2.0; rather, they layer on top of each other. You still need millions of lines of C++ and Python (1.0) to compile and run the neural network infrastructure (2.0) that powers the LLM (3.0).</a:t>
            </a:r>
          </a:p>
          <a:p>
            <a:pPr lvl="0"/>
            <a:r>
              <a:rPr lang="en-US" b="1" dirty="0"/>
              <a:t>Transition Cue:</a:t>
            </a:r>
            <a:r>
              <a:rPr lang="en-US" dirty="0"/>
              <a:t> Let's examine a concrete demonstration of Software 3.0 in action.</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3</a:t>
            </a:fld>
            <a:endParaRPr lang="en-US"/>
          </a:p>
        </p:txBody>
      </p:sp>
    </p:spTree>
    <p:extLst>
      <p:ext uri="{BB962C8B-B14F-4D97-AF65-F5344CB8AC3E}">
        <p14:creationId xmlns:p14="http://schemas.microsoft.com/office/powerpoint/2010/main" val="20247107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Slide Breakdown:</a:t>
            </a:r>
            <a:r>
              <a:rPr lang="en-US" dirty="0"/>
              <a:t> Highlight the jump from 17% accuracy to 82% accuracy on complex logic benchmarks purely through prompt formulation.</a:t>
            </a:r>
          </a:p>
          <a:p>
            <a:pPr lvl="0"/>
            <a:r>
              <a:rPr lang="en-US" b="1" dirty="0"/>
              <a:t>Script:</a:t>
            </a:r>
            <a:r>
              <a:rPr lang="en-US" dirty="0"/>
              <a:t> In traditional software, if a function fails, you rewrite the algorithmic logic. In Software 3.0, if an LLM fails, you re-architect the prompt. Look at this benchmark: when presented with a complex word puzzle or logic query, asking the model outright for the answer forces it to predict the final token immediately.</a:t>
            </a:r>
          </a:p>
          <a:p>
            <a:pPr lvl="0"/>
            <a:r>
              <a:rPr lang="en-US" b="1" dirty="0"/>
              <a:t>Why Naive Prompting Fails (17% Accuracy):</a:t>
            </a:r>
            <a:r>
              <a:rPr lang="en-US" dirty="0"/>
              <a:t> The model only gets a fixed amount of compute per output token. Trying to jump straight to the answer mimics average, low-effort internet text, resulting in a low 17% accuracy rate.</a:t>
            </a:r>
          </a:p>
          <a:p>
            <a:pPr lvl="0"/>
            <a:r>
              <a:rPr lang="en-US" b="1" dirty="0"/>
              <a:t>Why Token Expansion Works (82% Accuracy):</a:t>
            </a:r>
            <a:r>
              <a:rPr lang="en-US" dirty="0"/>
              <a:t> When you append instructions like </a:t>
            </a:r>
            <a:r>
              <a:rPr lang="en-US" i="1" dirty="0"/>
              <a:t>'Let's work this out in a step-by-step way to be sure we have the right answer,'</a:t>
            </a:r>
            <a:r>
              <a:rPr lang="en-US" dirty="0"/>
              <a:t> you force the model to emit intermediate tokens. Each intermediate token gives the neural network an additional forward pass of computation to 'think'. You are literally purchasing more compute cycles at runtime, conditioning the network to emulate an expert-level, high-IQ reasoning process.</a:t>
            </a:r>
          </a:p>
          <a:p>
            <a:pPr lvl="0"/>
            <a:r>
              <a:rPr lang="en-US" b="1" dirty="0"/>
              <a:t>Transition Cue:</a:t>
            </a:r>
            <a:r>
              <a:rPr lang="en-US" dirty="0"/>
              <a:t> This capability allows LLMs to simulate far more than simple mathematical steps—they can emulate full operating environments.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4</a:t>
            </a:fld>
            <a:endParaRPr lang="en-US"/>
          </a:p>
        </p:txBody>
      </p:sp>
    </p:spTree>
    <p:extLst>
      <p:ext uri="{BB962C8B-B14F-4D97-AF65-F5344CB8AC3E}">
        <p14:creationId xmlns:p14="http://schemas.microsoft.com/office/powerpoint/2010/main" val="3676288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Key Vignettes from Video:</a:t>
            </a:r>
            <a:endParaRPr lang="en-US" dirty="0"/>
          </a:p>
          <a:p>
            <a:pPr marL="228600" lvl="0" indent="-228600">
              <a:buFont typeface="+mj-lt"/>
              <a:buAutoNum type="arabicPeriod"/>
            </a:pPr>
            <a:r>
              <a:rPr lang="en-US" b="1" dirty="0"/>
              <a:t>Linux Terminal Emulation:</a:t>
            </a:r>
            <a:r>
              <a:rPr lang="en-US" dirty="0"/>
              <a:t> In a famous experiment, an LLM was prompted to act as a Linux terminal. When commands like </a:t>
            </a:r>
            <a:r>
              <a:rPr lang="en-US" sz="1200" kern="1200" dirty="0">
                <a:solidFill>
                  <a:schemeClr val="tx1"/>
                </a:solidFill>
                <a:latin typeface="+mn-lt"/>
                <a:ea typeface="+mn-ea"/>
                <a:cs typeface="+mn-cs"/>
              </a:rPr>
              <a:t>touch jokes.txt</a:t>
            </a:r>
            <a:r>
              <a:rPr lang="en-US" dirty="0"/>
              <a:t> or </a:t>
            </a:r>
            <a:r>
              <a:rPr lang="en-US" sz="1200" kern="1200" dirty="0">
                <a:solidFill>
                  <a:schemeClr val="tx1"/>
                </a:solidFill>
                <a:latin typeface="+mn-lt"/>
                <a:ea typeface="+mn-ea"/>
                <a:cs typeface="+mn-cs"/>
              </a:rPr>
              <a:t>ls</a:t>
            </a:r>
            <a:r>
              <a:rPr lang="en-US" dirty="0"/>
              <a:t> were typed, the model hallucinated a completely consistent, in-memory file system. Reading back the file returned the exact text written earlier.</a:t>
            </a:r>
          </a:p>
          <a:p>
            <a:pPr marL="228600" lvl="0" indent="-228600">
              <a:buFont typeface="+mj-lt"/>
              <a:buAutoNum type="arabicPeriod"/>
            </a:pPr>
            <a:r>
              <a:rPr lang="en-US" b="1" dirty="0"/>
              <a:t>Network Packet Latency:</a:t>
            </a:r>
            <a:r>
              <a:rPr lang="en-US" dirty="0"/>
              <a:t> Executing </a:t>
            </a:r>
            <a:r>
              <a:rPr lang="en-US" sz="1200" kern="1200" dirty="0">
                <a:solidFill>
                  <a:schemeClr val="tx1"/>
                </a:solidFill>
                <a:latin typeface="+mn-lt"/>
                <a:ea typeface="+mn-ea"/>
                <a:cs typeface="+mn-cs"/>
              </a:rPr>
              <a:t>ping bbc.com</a:t>
            </a:r>
            <a:r>
              <a:rPr lang="en-US" dirty="0"/>
              <a:t> produced structurally perfect packet responses, complete with realistic round-trip times (e.g., 24.9 </a:t>
            </a:r>
            <a:r>
              <a:rPr lang="en-US" dirty="0" err="1"/>
              <a:t>ms</a:t>
            </a:r>
            <a:r>
              <a:rPr lang="en-US" dirty="0"/>
              <a:t>), despite no actual network hardware or connection existing.</a:t>
            </a:r>
          </a:p>
          <a:p>
            <a:pPr marL="228600" lvl="0" indent="-228600">
              <a:buFont typeface="+mj-lt"/>
              <a:buAutoNum type="arabicPeriod"/>
            </a:pPr>
            <a:r>
              <a:rPr lang="en-US" b="1" dirty="0"/>
              <a:t>Smart Home API Routing:</a:t>
            </a:r>
            <a:r>
              <a:rPr lang="en-US" dirty="0"/>
              <a:t> When told </a:t>
            </a:r>
            <a:r>
              <a:rPr lang="en-US" i="1" dirty="0"/>
              <a:t>'Switch off the lights in 20 mins'</a:t>
            </a:r>
            <a:r>
              <a:rPr lang="en-US" dirty="0"/>
              <a:t>, the model didn't just reply conversationally; it outputted a clean JSON command object with </a:t>
            </a:r>
            <a:r>
              <a:rPr lang="en-US" sz="1200" kern="1200" dirty="0">
                <a:solidFill>
                  <a:schemeClr val="tx1"/>
                </a:solidFill>
                <a:latin typeface="+mn-lt"/>
                <a:ea typeface="+mn-ea"/>
                <a:cs typeface="+mn-cs"/>
              </a:rPr>
              <a:t>'target': '</a:t>
            </a:r>
            <a:r>
              <a:rPr lang="en-US" sz="1200" kern="1200" dirty="0" err="1">
                <a:solidFill>
                  <a:schemeClr val="tx1"/>
                </a:solidFill>
                <a:latin typeface="+mn-lt"/>
                <a:ea typeface="+mn-ea"/>
                <a:cs typeface="+mn-cs"/>
              </a:rPr>
              <a:t>bedroom_light</a:t>
            </a:r>
            <a:r>
              <a:rPr lang="en-US" sz="1200" kern="1200" dirty="0">
                <a:solidFill>
                  <a:schemeClr val="tx1"/>
                </a:solidFill>
                <a:latin typeface="+mn-lt"/>
                <a:ea typeface="+mn-ea"/>
                <a:cs typeface="+mn-cs"/>
              </a:rPr>
              <a:t>'</a:t>
            </a:r>
            <a:r>
              <a:rPr lang="en-US" dirty="0"/>
              <a:t>, </a:t>
            </a:r>
            <a:r>
              <a:rPr lang="en-US" sz="1200" kern="1200" dirty="0">
                <a:solidFill>
                  <a:schemeClr val="tx1"/>
                </a:solidFill>
                <a:latin typeface="+mn-lt"/>
                <a:ea typeface="+mn-ea"/>
                <a:cs typeface="+mn-cs"/>
              </a:rPr>
              <a:t>'state': 'off'</a:t>
            </a:r>
            <a:r>
              <a:rPr lang="en-US" dirty="0"/>
              <a:t>, and calculated the delayed timestamp. It effectively replaced complex backend Python routing logic purely through prompt constraints.</a:t>
            </a:r>
          </a:p>
          <a:p>
            <a:pPr lvl="0"/>
            <a:r>
              <a:rPr lang="en-US" b="1" dirty="0"/>
              <a:t>Takeaway:</a:t>
            </a:r>
            <a:r>
              <a:rPr lang="en-US" dirty="0"/>
              <a:t> This proves LLMs are simulators capable of holding state, parsing intent, and converting unstructured natural language into structured program execution.</a:t>
            </a:r>
          </a:p>
          <a:p>
            <a:pPr lvl="0"/>
            <a:r>
              <a:rPr lang="en-US" b="1" dirty="0"/>
              <a:t>Transition Cue:</a:t>
            </a:r>
            <a:r>
              <a:rPr lang="en-US" dirty="0"/>
              <a:t> So what is a GPT at an architectural level? Let's formalize this hardware analogy.</a:t>
            </a:r>
          </a:p>
          <a:p>
            <a:r>
              <a:rPr lang="en-US" b="1" dirty="0"/>
              <a:t>Slide 6: Synthesis: </a:t>
            </a:r>
            <a:r>
              <a:rPr lang="en-US" b="1" dirty="0" err="1"/>
              <a:t>Wh</a:t>
            </a:r>
            <a:endParaRPr lang="en-US" b="1" dirty="0"/>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5</a:t>
            </a:fld>
            <a:endParaRPr lang="en-US"/>
          </a:p>
        </p:txBody>
      </p:sp>
    </p:spTree>
    <p:extLst>
      <p:ext uri="{BB962C8B-B14F-4D97-AF65-F5344CB8AC3E}">
        <p14:creationId xmlns:p14="http://schemas.microsoft.com/office/powerpoint/2010/main" val="2430087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Hardware Analogy Mapping:</a:t>
            </a:r>
            <a:endParaRPr lang="en-US" dirty="0"/>
          </a:p>
          <a:p>
            <a:pPr marL="171450" lvl="0" indent="-171450">
              <a:buFont typeface="Arial" panose="020B0604020202020204" pitchFamily="34" charset="0"/>
              <a:buChar char="•"/>
            </a:pPr>
            <a:r>
              <a:rPr lang="en-US" b="1" dirty="0"/>
              <a:t>Transformer Weights = CPU:</a:t>
            </a:r>
            <a:r>
              <a:rPr lang="en-US" dirty="0"/>
              <a:t> The fixed weights derived from training act as the core execution engine where raw compute occurs.</a:t>
            </a:r>
          </a:p>
          <a:p>
            <a:pPr marL="171450" lvl="0" indent="-171450">
              <a:buFont typeface="Arial" panose="020B0604020202020204" pitchFamily="34" charset="0"/>
              <a:buChar char="•"/>
            </a:pPr>
            <a:r>
              <a:rPr lang="en-US" b="1" dirty="0"/>
              <a:t>Context Window = RAM:</a:t>
            </a:r>
            <a:r>
              <a:rPr lang="en-US" dirty="0"/>
              <a:t> The finite token context window (e.g., 2K, 8K, 32K tokens) acts as high-speed working memory. Anything outside this window is effectively forgotten unless re-injected.</a:t>
            </a:r>
          </a:p>
          <a:p>
            <a:pPr marL="171450" lvl="0" indent="-171450">
              <a:buFont typeface="Arial" panose="020B0604020202020204" pitchFamily="34" charset="0"/>
              <a:buChar char="•"/>
            </a:pPr>
            <a:r>
              <a:rPr lang="en-US" b="1" dirty="0"/>
              <a:t>English Prompts = Source Code:</a:t>
            </a:r>
            <a:r>
              <a:rPr lang="en-US" dirty="0"/>
              <a:t> The prompt string represents the user application program being loaded into memory.</a:t>
            </a:r>
          </a:p>
          <a:p>
            <a:pPr marL="171450" lvl="0" indent="-171450">
              <a:buFont typeface="Arial" panose="020B0604020202020204" pitchFamily="34" charset="0"/>
              <a:buChar char="•"/>
            </a:pPr>
            <a:r>
              <a:rPr lang="en-US" b="1" dirty="0"/>
              <a:t>Next-Token Prediction = Execution Clock Cycle:</a:t>
            </a:r>
            <a:r>
              <a:rPr lang="en-US" dirty="0"/>
              <a:t> The continuous forward-pass loop generating token-by-token output serves as the relentless algorithmic clock cycle.</a:t>
            </a:r>
          </a:p>
          <a:p>
            <a:pPr lvl="0"/>
            <a:r>
              <a:rPr lang="en-US" b="1" dirty="0"/>
              <a:t>Summary:</a:t>
            </a:r>
            <a:r>
              <a:rPr lang="en-US" dirty="0"/>
              <a:t> When you view GPT through this lens, you realize we haven't built an database search engine; we have built a general-purpose, text-driven CPU that evaluates instructions dynamically in activation space.</a:t>
            </a:r>
          </a:p>
          <a:p>
            <a:pPr lvl="0"/>
            <a:r>
              <a:rPr lang="en-US" b="1" dirty="0"/>
              <a:t>Transition Cue:</a:t>
            </a:r>
            <a:r>
              <a:rPr lang="en-US" dirty="0"/>
              <a:t> Now let's step back and look at how the entire field of AI unified around a single architecture to make this possible.</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6</a:t>
            </a:fld>
            <a:endParaRPr lang="en-US"/>
          </a:p>
        </p:txBody>
      </p:sp>
    </p:spTree>
    <p:extLst>
      <p:ext uri="{BB962C8B-B14F-4D97-AF65-F5344CB8AC3E}">
        <p14:creationId xmlns:p14="http://schemas.microsoft.com/office/powerpoint/2010/main" val="492088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Pre-2017 (The Fragmented Era):</a:t>
            </a:r>
            <a:r>
              <a:rPr lang="en-US" dirty="0"/>
              <a:t> A decade ago, AI was heavily siloed. If you worked in Computer Vision, you studied Convolutional Neural Networks (CNNs) and HOG features. Audio researchers used mel-spectrograms and HMMs. NLP researchers studied Recurrent Neural Networks (RNNs) and LSTMs. Insights in one field rarely translated to another.</a:t>
            </a:r>
          </a:p>
          <a:p>
            <a:pPr lvl="0"/>
            <a:r>
              <a:rPr lang="en-US" b="1" dirty="0"/>
              <a:t>Post-2017 (The Transformer Convergence):</a:t>
            </a:r>
            <a:r>
              <a:rPr lang="en-US" dirty="0"/>
              <a:t> Following the 2017 landmark paper </a:t>
            </a:r>
            <a:r>
              <a:rPr lang="en-US" i="1" dirty="0"/>
              <a:t>'Attention Is All You Need'</a:t>
            </a:r>
            <a:r>
              <a:rPr lang="en-US" dirty="0"/>
              <a:t>, a massive consolidation occurred. Today, Text (GPT), Vision (Vision Transformers / </a:t>
            </a:r>
            <a:r>
              <a:rPr lang="en-US" dirty="0" err="1"/>
              <a:t>ViT</a:t>
            </a:r>
            <a:r>
              <a:rPr lang="en-US" dirty="0"/>
              <a:t>), Speech/Audio (Whisper), Reinforcement Learning (Decision Transformer), and Biology (AlphaFold) all run on the exact same underlying architecture.</a:t>
            </a:r>
          </a:p>
          <a:p>
            <a:pPr lvl="0"/>
            <a:r>
              <a:rPr lang="en-US" b="1" dirty="0"/>
              <a:t>Significance:</a:t>
            </a:r>
            <a:r>
              <a:rPr lang="en-US" dirty="0"/>
              <a:t> This means improvements in core Transformer scaling or hardware acceleration instantly benefit every domain across the entire AI landscape simultaneously.</a:t>
            </a:r>
          </a:p>
          <a:p>
            <a:pPr lvl="0"/>
            <a:r>
              <a:rPr lang="en-US" b="1" dirty="0"/>
              <a:t>Transition Cue:</a:t>
            </a:r>
            <a:r>
              <a:rPr lang="en-US" dirty="0"/>
              <a:t> Why did the Transformer defeat every rival architecture? There are three secret drivers.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7</a:t>
            </a:fld>
            <a:endParaRPr lang="en-US"/>
          </a:p>
        </p:txBody>
      </p:sp>
    </p:spTree>
    <p:extLst>
      <p:ext uri="{BB962C8B-B14F-4D97-AF65-F5344CB8AC3E}">
        <p14:creationId xmlns:p14="http://schemas.microsoft.com/office/powerpoint/2010/main" val="3672683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1. Expressive (Forward Pass):</a:t>
            </a:r>
            <a:r>
              <a:rPr lang="en-US" dirty="0"/>
              <a:t> In the forward pass, self-attention acts as a flexible, data-dependent routing network. It enables dynamic meta-learning and simulates complex algorithmic functions over arbitrary input sets.</a:t>
            </a:r>
          </a:p>
          <a:p>
            <a:pPr lvl="0"/>
            <a:r>
              <a:rPr lang="en-US" b="1" dirty="0"/>
              <a:t>2. Optimizable (Backward Pass):</a:t>
            </a:r>
            <a:r>
              <a:rPr lang="en-US" dirty="0"/>
              <a:t> In the backward pass, heavy reliance on residual skip-connections and layer normalization guarantees that gradients flow smoothly back through hundreds of layers without vanishing or exploding. This makes scaling up model depth remarkably stable.</a:t>
            </a:r>
          </a:p>
          <a:p>
            <a:pPr lvl="0"/>
            <a:r>
              <a:rPr lang="en-US" b="1" dirty="0"/>
              <a:t>3. Efficient (Hardware Realities):</a:t>
            </a:r>
            <a:r>
              <a:rPr lang="en-US" dirty="0"/>
              <a:t> Crucially, a Transformer's computational graph represents a </a:t>
            </a:r>
            <a:r>
              <a:rPr lang="en-US" i="1" dirty="0"/>
              <a:t>shallow, wide directed graph</a:t>
            </a:r>
            <a:r>
              <a:rPr lang="en-US" dirty="0"/>
              <a:t>. Unlike serial RNNs—which must process token 1, then token 2, sequentially—Transformers compute operations across whole sequences simultaneously. This maps perfectly to the parallel architecture of modern GPUs.</a:t>
            </a:r>
          </a:p>
          <a:p>
            <a:pPr lvl="0"/>
            <a:r>
              <a:rPr lang="en-US" b="1" dirty="0" err="1"/>
              <a:t>Karpathy</a:t>
            </a:r>
            <a:r>
              <a:rPr lang="en-US" b="1" dirty="0"/>
              <a:t> Insight:</a:t>
            </a:r>
            <a:r>
              <a:rPr lang="en-US" dirty="0"/>
              <a:t> If you want to scale deep learning, hardware efficiency isn't an afterthought—it is the primary constraint. The Transformer won because it was designed to maximize GPU utilization.</a:t>
            </a:r>
          </a:p>
          <a:p>
            <a:pPr lvl="0"/>
            <a:r>
              <a:rPr lang="en-US" b="1" dirty="0"/>
              <a:t>Transition Cue:</a:t>
            </a:r>
            <a:r>
              <a:rPr lang="en-US" dirty="0"/>
              <a:t> To achieve this hardware efficiency across different data types, Transformers treat all inputs not as spatial grids, but as sets.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8</a:t>
            </a:fld>
            <a:endParaRPr lang="en-US"/>
          </a:p>
        </p:txBody>
      </p:sp>
    </p:spTree>
    <p:extLst>
      <p:ext uri="{BB962C8B-B14F-4D97-AF65-F5344CB8AC3E}">
        <p14:creationId xmlns:p14="http://schemas.microsoft.com/office/powerpoint/2010/main" val="52972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Breaking Grid Constraints:</a:t>
                </a:r>
                <a:r>
                  <a:rPr lang="en-US" sz="1200" kern="1200" dirty="0">
                    <a:solidFill>
                      <a:schemeClr val="tx1"/>
                    </a:solidFill>
                    <a:effectLst/>
                    <a:latin typeface="+mn-lt"/>
                    <a:ea typeface="+mn-ea"/>
                    <a:cs typeface="+mn-cs"/>
                  </a:rPr>
                  <a:t> Prior to 2017, neural networks were tied to Euclidean geometry—2D grids for images, 1D sequences for audio. Transformers break free from spatial constraints by breaking data down into sets of discrete tokens.</a:t>
                </a:r>
              </a:p>
              <a:p>
                <a:pPr lvl="0"/>
                <a:r>
                  <a:rPr lang="en-US" sz="1200" b="1" kern="1200" dirty="0">
                    <a:solidFill>
                      <a:schemeClr val="tx1"/>
                    </a:solidFill>
                    <a:effectLst/>
                    <a:latin typeface="+mn-lt"/>
                    <a:ea typeface="+mn-ea"/>
                    <a:cs typeface="+mn-cs"/>
                  </a:rPr>
                  <a:t>Data Flattening Process: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Images:</a:t>
                </a:r>
                <a:r>
                  <a:rPr lang="en-US" sz="1200" kern="1200" dirty="0">
                    <a:solidFill>
                      <a:schemeClr val="tx1"/>
                    </a:solidFill>
                    <a:effectLst/>
                    <a:latin typeface="+mn-lt"/>
                    <a:ea typeface="+mn-ea"/>
                    <a:cs typeface="+mn-cs"/>
                  </a:rPr>
                  <a:t> Sliced into </a:t>
                </a:r>
                <a14:m>
                  <m:oMath xmlns:m="http://schemas.openxmlformats.org/officeDocument/2006/math">
                    <m:r>
                      <a:rPr lang="en-US" sz="1200" kern="1200" smtClean="0">
                        <a:solidFill>
                          <a:schemeClr val="tx1"/>
                        </a:solidFill>
                        <a:latin typeface="Cambria Math" panose="02040503050406030204" pitchFamily="18" charset="0"/>
                        <a:ea typeface="+mn-ea"/>
                        <a:cs typeface="+mn-cs"/>
                      </a:rPr>
                      <m:t>16</m:t>
                    </m:r>
                    <m:r>
                      <a:rPr lang="en-US" sz="1200" i="0" kern="1200">
                        <a:solidFill>
                          <a:schemeClr val="tx1"/>
                        </a:solidFill>
                        <a:latin typeface="Cambria Math" panose="02040503050406030204" pitchFamily="18" charset="0"/>
                        <a:ea typeface="+mn-ea"/>
                        <a:cs typeface="+mn-cs"/>
                      </a:rPr>
                      <m:t>×16</m:t>
                    </m:r>
                  </m:oMath>
                </a14:m>
                <a:r>
                  <a:rPr lang="en-US" sz="1200" kern="1200" dirty="0">
                    <a:solidFill>
                      <a:schemeClr val="tx1"/>
                    </a:solidFill>
                    <a:effectLst/>
                    <a:latin typeface="+mn-lt"/>
                    <a:ea typeface="+mn-ea"/>
                    <a:cs typeface="+mn-cs"/>
                  </a:rPr>
                  <a:t>pixel patches (Vision Transformers).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Text:</a:t>
                </a:r>
                <a:r>
                  <a:rPr lang="en-US" sz="1200" kern="1200" dirty="0">
                    <a:solidFill>
                      <a:schemeClr val="tx1"/>
                    </a:solidFill>
                    <a:effectLst/>
                    <a:latin typeface="+mn-lt"/>
                    <a:ea typeface="+mn-ea"/>
                    <a:cs typeface="+mn-cs"/>
                  </a:rPr>
                  <a:t> Segmented into byte-pair encoded tokens.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Audio:</a:t>
                </a:r>
                <a:r>
                  <a:rPr lang="en-US" sz="1200" kern="1200" dirty="0">
                    <a:solidFill>
                      <a:schemeClr val="tx1"/>
                    </a:solidFill>
                    <a:effectLst/>
                    <a:latin typeface="+mn-lt"/>
                    <a:ea typeface="+mn-ea"/>
                    <a:cs typeface="+mn-cs"/>
                  </a:rPr>
                  <a:t> Cut into mel-spectrogram time/frequency frames.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Sensors/Radar:</a:t>
                </a:r>
                <a:r>
                  <a:rPr lang="en-US" sz="1200" kern="1200" dirty="0">
                    <a:solidFill>
                      <a:schemeClr val="tx1"/>
                    </a:solidFill>
                    <a:effectLst/>
                    <a:latin typeface="+mn-lt"/>
                    <a:ea typeface="+mn-ea"/>
                    <a:cs typeface="+mn-cs"/>
                  </a:rPr>
                  <a:t> Processed as discrete feature vectors.</a:t>
                </a:r>
              </a:p>
              <a:p>
                <a:pPr lvl="0"/>
                <a:r>
                  <a:rPr lang="en-US" sz="1200" b="1" kern="1200" dirty="0">
                    <a:solidFill>
                      <a:schemeClr val="tx1"/>
                    </a:solidFill>
                    <a:effectLst/>
                    <a:latin typeface="+mn-lt"/>
                    <a:ea typeface="+mn-ea"/>
                    <a:cs typeface="+mn-cs"/>
                  </a:rPr>
                  <a:t>The Set Cloud &amp; Positional Embeddings:</a:t>
                </a:r>
                <a:r>
                  <a:rPr lang="en-US" sz="1200" kern="1200" dirty="0">
                    <a:solidFill>
                      <a:schemeClr val="tx1"/>
                    </a:solidFill>
                    <a:effectLst/>
                    <a:latin typeface="+mn-lt"/>
                    <a:ea typeface="+mn-ea"/>
                    <a:cs typeface="+mn-cs"/>
                  </a:rPr>
                  <a:t> Once chopped, the data becomes an unordered cloud of independent nodes. Because attention by itself is permutation-invariant (it treats all nodes equally), we inject positional coordinate embeddings directly into each token vector. The network then dynamically reconstructs geometric relationships during processing.</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Let's now step inside a Transformer Block to see how these nodes communicate.</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Breaking Grid Constraints:</a:t>
                </a:r>
                <a:r>
                  <a:rPr lang="en-US" sz="1200" kern="1200" dirty="0">
                    <a:solidFill>
                      <a:schemeClr val="tx1"/>
                    </a:solidFill>
                    <a:effectLst/>
                    <a:latin typeface="+mn-lt"/>
                    <a:ea typeface="+mn-ea"/>
                    <a:cs typeface="+mn-cs"/>
                  </a:rPr>
                  <a:t> Prior to 2017, neural networks were tied to Euclidean geometry—2D grids for images, 1D sequences for audio. Transformers break free from spatial constraints by breaking data down into sets of discrete tokens.</a:t>
                </a:r>
              </a:p>
              <a:p>
                <a:pPr lvl="0"/>
                <a:r>
                  <a:rPr lang="en-US" sz="1200" b="1" kern="1200" dirty="0">
                    <a:solidFill>
                      <a:schemeClr val="tx1"/>
                    </a:solidFill>
                    <a:effectLst/>
                    <a:latin typeface="+mn-lt"/>
                    <a:ea typeface="+mn-ea"/>
                    <a:cs typeface="+mn-cs"/>
                  </a:rPr>
                  <a:t>Data Flattening Process: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Images:</a:t>
                </a:r>
                <a:r>
                  <a:rPr lang="en-US" sz="1200" kern="1200" dirty="0">
                    <a:solidFill>
                      <a:schemeClr val="tx1"/>
                    </a:solidFill>
                    <a:effectLst/>
                    <a:latin typeface="+mn-lt"/>
                    <a:ea typeface="+mn-ea"/>
                    <a:cs typeface="+mn-cs"/>
                  </a:rPr>
                  <a:t> Sliced into </a:t>
                </a:r>
                <a:r>
                  <a:rPr lang="en-US" sz="1200" i="0" kern="1200">
                    <a:solidFill>
                      <a:schemeClr val="tx1"/>
                    </a:solidFill>
                    <a:latin typeface="+mn-lt"/>
                    <a:ea typeface="+mn-ea"/>
                    <a:cs typeface="+mn-cs"/>
                  </a:rPr>
                  <a:t>16×16</a:t>
                </a:r>
                <a:r>
                  <a:rPr lang="en-US" sz="1200" kern="1200" dirty="0">
                    <a:solidFill>
                      <a:schemeClr val="tx1"/>
                    </a:solidFill>
                    <a:effectLst/>
                    <a:latin typeface="+mn-lt"/>
                    <a:ea typeface="+mn-ea"/>
                    <a:cs typeface="+mn-cs"/>
                  </a:rPr>
                  <a:t>pixel patches (Vision Transformers).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Text:</a:t>
                </a:r>
                <a:r>
                  <a:rPr lang="en-US" sz="1200" kern="1200" dirty="0">
                    <a:solidFill>
                      <a:schemeClr val="tx1"/>
                    </a:solidFill>
                    <a:effectLst/>
                    <a:latin typeface="+mn-lt"/>
                    <a:ea typeface="+mn-ea"/>
                    <a:cs typeface="+mn-cs"/>
                  </a:rPr>
                  <a:t> Segmented into byte-pair encoded tokens.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Audio:</a:t>
                </a:r>
                <a:r>
                  <a:rPr lang="en-US" sz="1200" kern="1200" dirty="0">
                    <a:solidFill>
                      <a:schemeClr val="tx1"/>
                    </a:solidFill>
                    <a:effectLst/>
                    <a:latin typeface="+mn-lt"/>
                    <a:ea typeface="+mn-ea"/>
                    <a:cs typeface="+mn-cs"/>
                  </a:rPr>
                  <a:t> Cut into mel-spectrogram time/frequency frames.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Sensors/Radar:</a:t>
                </a:r>
                <a:r>
                  <a:rPr lang="en-US" sz="1200" kern="1200" dirty="0">
                    <a:solidFill>
                      <a:schemeClr val="tx1"/>
                    </a:solidFill>
                    <a:effectLst/>
                    <a:latin typeface="+mn-lt"/>
                    <a:ea typeface="+mn-ea"/>
                    <a:cs typeface="+mn-cs"/>
                  </a:rPr>
                  <a:t> Processed as discrete feature vectors.</a:t>
                </a:r>
              </a:p>
              <a:p>
                <a:pPr lvl="0"/>
                <a:r>
                  <a:rPr lang="en-US" sz="1200" b="1" kern="1200" dirty="0">
                    <a:solidFill>
                      <a:schemeClr val="tx1"/>
                    </a:solidFill>
                    <a:effectLst/>
                    <a:latin typeface="+mn-lt"/>
                    <a:ea typeface="+mn-ea"/>
                    <a:cs typeface="+mn-cs"/>
                  </a:rPr>
                  <a:t>The Set Cloud &amp; Positional Embeddings:</a:t>
                </a:r>
                <a:r>
                  <a:rPr lang="en-US" sz="1200" kern="1200" dirty="0">
                    <a:solidFill>
                      <a:schemeClr val="tx1"/>
                    </a:solidFill>
                    <a:effectLst/>
                    <a:latin typeface="+mn-lt"/>
                    <a:ea typeface="+mn-ea"/>
                    <a:cs typeface="+mn-cs"/>
                  </a:rPr>
                  <a:t> Once chopped, the data becomes an unordered cloud of independent nodes. Because attention by itself is permutation-invariant (it treats all nodes equally), we inject positional coordinate embeddings directly into each token vector. The network then dynamically reconstructs geometric relationships during processing.</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Let's now step inside a Transformer Block to see how these nodes communicate.</a:t>
                </a:r>
              </a:p>
              <a:p>
                <a:endParaRPr lang="en-US" dirty="0"/>
              </a:p>
            </p:txBody>
          </p:sp>
        </mc:Fallback>
      </mc:AlternateContent>
      <p:sp>
        <p:nvSpPr>
          <p:cNvPr id="4" name="Slide Number Placeholder 3"/>
          <p:cNvSpPr>
            <a:spLocks noGrp="1"/>
          </p:cNvSpPr>
          <p:nvPr>
            <p:ph type="sldNum" sz="quarter" idx="5"/>
          </p:nvPr>
        </p:nvSpPr>
        <p:spPr/>
        <p:txBody>
          <a:bodyPr/>
          <a:lstStyle/>
          <a:p>
            <a:fld id="{9FD592C3-FA85-4212-95FD-B0B383BAC653}" type="slidenum">
              <a:rPr lang="en-US" smtClean="0"/>
              <a:t>9</a:t>
            </a:fld>
            <a:endParaRPr lang="en-US"/>
          </a:p>
        </p:txBody>
      </p:sp>
    </p:spTree>
    <p:extLst>
      <p:ext uri="{BB962C8B-B14F-4D97-AF65-F5344CB8AC3E}">
        <p14:creationId xmlns:p14="http://schemas.microsoft.com/office/powerpoint/2010/main" val="418444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Phase 1: Communicate (Self-Attention / Multi-Head Attention):</a:t>
            </a:r>
            <a:r>
              <a:rPr lang="en-US" dirty="0"/>
              <a:t> In this phase, nodes across the directed graph talk to one another. They exchange contextual information, update their state based on neighboring nodes, and form a unified map of the sequence. Note that during communication, no heavy individual token reasoning is executed—data is simply aggregated.</a:t>
            </a:r>
          </a:p>
          <a:p>
            <a:pPr lvl="0"/>
            <a:r>
              <a:rPr lang="en-US" b="1" dirty="0"/>
              <a:t>Phase 2: Compute (Multi-Layer Perceptron / Feed-Forward):</a:t>
            </a:r>
            <a:r>
              <a:rPr lang="en-US" dirty="0"/>
              <a:t> In this phase, all cross-node communication links are severed. Each node takes the aggregated context it just received and independently processes its internal representation through a multi-layer neural network. This happens in isolated, parallel computational lanes across the GPU.</a:t>
            </a:r>
          </a:p>
          <a:p>
            <a:pPr lvl="0"/>
            <a:r>
              <a:rPr lang="en-US" b="1" dirty="0"/>
              <a:t>Interleaved Cycle:</a:t>
            </a:r>
            <a:r>
              <a:rPr lang="en-US" dirty="0"/>
              <a:t> A deep Transformer is simply a stack of these repeating blocks: Communicate, Compute, Communicate, Compute.</a:t>
            </a:r>
          </a:p>
          <a:p>
            <a:pPr lvl="0"/>
            <a:r>
              <a:rPr lang="en-US" b="1" dirty="0"/>
              <a:t>Transition Cue:</a:t>
            </a:r>
            <a:r>
              <a:rPr lang="en-US" dirty="0"/>
              <a:t> Let's zoom into Phase 1 to see the exact mathematics behind message passing on graphs.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10</a:t>
            </a:fld>
            <a:endParaRPr lang="en-US"/>
          </a:p>
        </p:txBody>
      </p:sp>
    </p:spTree>
    <p:extLst>
      <p:ext uri="{BB962C8B-B14F-4D97-AF65-F5344CB8AC3E}">
        <p14:creationId xmlns:p14="http://schemas.microsoft.com/office/powerpoint/2010/main" val="26336633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Analogy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Query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𝑄</m:t>
                    </m:r>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am looking for (the node's demand).</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Key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𝐾</m:t>
                    </m:r>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possess (the node's supply label).</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Value (</a:t>
                </a:r>
                <a14:m>
                  <m:oMath xmlns:m="http://schemas.openxmlformats.org/officeDocument/2006/math">
                    <m:r>
                      <a:rPr lang="en-US" sz="1200" i="1" kern="1200" smtClean="0">
                        <a:solidFill>
                          <a:schemeClr val="tx1"/>
                        </a:solidFill>
                        <a:latin typeface="Cambria Math" panose="02040503050406030204" pitchFamily="18" charset="0"/>
                        <a:ea typeface="+mn-ea"/>
                        <a:cs typeface="+mn-cs"/>
                      </a:rPr>
                      <m:t>𝑉</m:t>
                    </m:r>
                  </m:oMath>
                </a14:m>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will actually communicate (the node's payload).</a:t>
                </a:r>
              </a:p>
              <a:p>
                <a:pPr lvl="0"/>
                <a:r>
                  <a:rPr lang="en-US" sz="1200" b="1" kern="1200" dirty="0">
                    <a:solidFill>
                      <a:schemeClr val="tx1"/>
                    </a:solidFill>
                    <a:effectLst/>
                    <a:latin typeface="+mn-lt"/>
                    <a:ea typeface="+mn-ea"/>
                    <a:cs typeface="+mn-cs"/>
                  </a:rPr>
                  <a:t>Step-by-Step Mathematical Flow: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Dot Product:</a:t>
                </a:r>
                <a:r>
                  <a:rPr lang="en-US" sz="1200" kern="1200" dirty="0">
                    <a:solidFill>
                      <a:schemeClr val="tx1"/>
                    </a:solidFill>
                    <a:effectLst/>
                    <a:latin typeface="+mn-lt"/>
                    <a:ea typeface="+mn-ea"/>
                    <a:cs typeface="+mn-cs"/>
                  </a:rPr>
                  <a:t> A focal node takes its Query vector and computes a dot product against the Key vectors of all incoming candidate nodes. This generates an unnormalized affinity score representing relevance.</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Softmax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These affinity scores pass through a </a:t>
                </a:r>
                <a:r>
                  <a:rPr lang="en-US" sz="1200" kern="1200" dirty="0" err="1">
                    <a:solidFill>
                      <a:schemeClr val="tx1"/>
                    </a:solidFill>
                    <a:effectLst/>
                    <a:latin typeface="+mn-lt"/>
                    <a:ea typeface="+mn-ea"/>
                    <a:cs typeface="+mn-cs"/>
                  </a:rPr>
                  <a:t>Softmax</a:t>
                </a:r>
                <a:r>
                  <a:rPr lang="en-US" sz="1200" kern="1200" dirty="0">
                    <a:solidFill>
                      <a:schemeClr val="tx1"/>
                    </a:solidFill>
                    <a:effectLst/>
                    <a:latin typeface="+mn-lt"/>
                    <a:ea typeface="+mn-ea"/>
                    <a:cs typeface="+mn-cs"/>
                  </a:rPr>
                  <a:t> function, converting raw numbers into a normalized probability distribution summing to 1.0.</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Weighted Sum:</a:t>
                </a:r>
                <a:r>
                  <a:rPr lang="en-US" sz="1200" kern="1200" dirty="0">
                    <a:solidFill>
                      <a:schemeClr val="tx1"/>
                    </a:solidFill>
                    <a:effectLst/>
                    <a:latin typeface="+mn-lt"/>
                    <a:ea typeface="+mn-ea"/>
                    <a:cs typeface="+mn-cs"/>
                  </a:rPr>
                  <a:t> The focal node collects the Value payload vectors from all incoming nodes, scaled by their corresponding </a:t>
                </a:r>
                <a:r>
                  <a:rPr lang="en-US" sz="1200" kern="1200" dirty="0" err="1">
                    <a:solidFill>
                      <a:schemeClr val="tx1"/>
                    </a:solidFill>
                    <a:effectLst/>
                    <a:latin typeface="+mn-lt"/>
                    <a:ea typeface="+mn-ea"/>
                    <a:cs typeface="+mn-cs"/>
                  </a:rPr>
                  <a:t>Softmax</a:t>
                </a:r>
                <a:r>
                  <a:rPr lang="en-US" sz="1200" kern="1200" dirty="0">
                    <a:solidFill>
                      <a:schemeClr val="tx1"/>
                    </a:solidFill>
                    <a:effectLst/>
                    <a:latin typeface="+mn-lt"/>
                    <a:ea typeface="+mn-ea"/>
                    <a:cs typeface="+mn-cs"/>
                  </a:rPr>
                  <a:t> probability weights. The weighted sum updates the focal node's state.</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This mechanism allows tokens to dynamically route information based on context rather than fixed physical locations.</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How does this dynamic routing allow a network to learn new tasks at runtime without updating its weights? Let's look at the two learning loops.</a:t>
                </a:r>
              </a:p>
              <a:p>
                <a:endParaRPr lang="en-US" dirty="0"/>
              </a:p>
            </p:txBody>
          </p:sp>
        </mc:Choice>
        <mc:Fallback xmlns="">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Analogy Breakdown:</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Query (</a:t>
                </a:r>
                <a:r>
                  <a:rPr lang="en-US" sz="1200" i="0" kern="1200">
                    <a:solidFill>
                      <a:schemeClr val="tx1"/>
                    </a:solidFill>
                    <a:latin typeface="+mn-lt"/>
                    <a:ea typeface="+mn-ea"/>
                    <a:cs typeface="+mn-cs"/>
                  </a:rPr>
                  <a:t>𝑄</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am looking for (the node's demand).</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Key (</a:t>
                </a:r>
                <a:r>
                  <a:rPr lang="en-US" sz="1200" i="0" kern="1200">
                    <a:solidFill>
                      <a:schemeClr val="tx1"/>
                    </a:solidFill>
                    <a:latin typeface="+mn-lt"/>
                    <a:ea typeface="+mn-ea"/>
                    <a:cs typeface="+mn-cs"/>
                  </a:rPr>
                  <a:t>𝐾</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possess (the node's supply label).</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Value (</a:t>
                </a:r>
                <a:r>
                  <a:rPr lang="en-US" sz="1200" i="0" kern="1200">
                    <a:solidFill>
                      <a:schemeClr val="tx1"/>
                    </a:solidFill>
                    <a:latin typeface="+mn-lt"/>
                    <a:ea typeface="+mn-ea"/>
                    <a:cs typeface="+mn-cs"/>
                  </a:rPr>
                  <a:t>𝑉</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What I will actually communicate (the node's payload).</a:t>
                </a:r>
              </a:p>
              <a:p>
                <a:pPr lvl="0"/>
                <a:r>
                  <a:rPr lang="en-US" sz="1200" b="1" kern="1200" dirty="0">
                    <a:solidFill>
                      <a:schemeClr val="tx1"/>
                    </a:solidFill>
                    <a:effectLst/>
                    <a:latin typeface="+mn-lt"/>
                    <a:ea typeface="+mn-ea"/>
                    <a:cs typeface="+mn-cs"/>
                  </a:rPr>
                  <a:t>Step-by-Step Mathematical Flow:</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Dot Product:</a:t>
                </a:r>
                <a:r>
                  <a:rPr lang="en-US" sz="1200" kern="1200" dirty="0">
                    <a:solidFill>
                      <a:schemeClr val="tx1"/>
                    </a:solidFill>
                    <a:effectLst/>
                    <a:latin typeface="+mn-lt"/>
                    <a:ea typeface="+mn-ea"/>
                    <a:cs typeface="+mn-cs"/>
                  </a:rPr>
                  <a:t> A focal node takes its Query vector and computes a dot product against the Key vectors of all incoming candidate nodes. This generates an unnormalized affinity score representing relevance.</a:t>
                </a:r>
              </a:p>
              <a:p>
                <a:pPr marL="171450" lvl="0" indent="-171450">
                  <a:buFont typeface="Arial" panose="020B0604020202020204" pitchFamily="34" charset="0"/>
                  <a:buChar char="•"/>
                </a:pPr>
                <a:r>
                  <a:rPr lang="en-US" sz="1200" b="1" kern="1200" dirty="0" err="1">
                    <a:solidFill>
                      <a:schemeClr val="tx1"/>
                    </a:solidFill>
                    <a:effectLst/>
                    <a:latin typeface="+mn-lt"/>
                    <a:ea typeface="+mn-ea"/>
                    <a:cs typeface="+mn-cs"/>
                  </a:rPr>
                  <a:t>Softmax</a:t>
                </a:r>
                <a:r>
                  <a:rPr lang="en-US" sz="1200" b="1" kern="1200" dirty="0">
                    <a:solidFill>
                      <a:schemeClr val="tx1"/>
                    </a:solidFill>
                    <a:effectLst/>
                    <a:latin typeface="+mn-lt"/>
                    <a:ea typeface="+mn-ea"/>
                    <a:cs typeface="+mn-cs"/>
                  </a:rPr>
                  <a:t>:</a:t>
                </a:r>
                <a:r>
                  <a:rPr lang="en-US" sz="1200" kern="1200" dirty="0">
                    <a:solidFill>
                      <a:schemeClr val="tx1"/>
                    </a:solidFill>
                    <a:effectLst/>
                    <a:latin typeface="+mn-lt"/>
                    <a:ea typeface="+mn-ea"/>
                    <a:cs typeface="+mn-cs"/>
                  </a:rPr>
                  <a:t> These affinity scores pass through a </a:t>
                </a:r>
                <a:r>
                  <a:rPr lang="en-US" sz="1200" kern="1200" dirty="0" err="1">
                    <a:solidFill>
                      <a:schemeClr val="tx1"/>
                    </a:solidFill>
                    <a:effectLst/>
                    <a:latin typeface="+mn-lt"/>
                    <a:ea typeface="+mn-ea"/>
                    <a:cs typeface="+mn-cs"/>
                  </a:rPr>
                  <a:t>Softmax</a:t>
                </a:r>
                <a:r>
                  <a:rPr lang="en-US" sz="1200" kern="1200" dirty="0">
                    <a:solidFill>
                      <a:schemeClr val="tx1"/>
                    </a:solidFill>
                    <a:effectLst/>
                    <a:latin typeface="+mn-lt"/>
                    <a:ea typeface="+mn-ea"/>
                    <a:cs typeface="+mn-cs"/>
                  </a:rPr>
                  <a:t> function, converting raw numbers into a normalized probability distribution summing to 1.0.</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Weighted Sum:</a:t>
                </a:r>
                <a:r>
                  <a:rPr lang="en-US" sz="1200" kern="1200" dirty="0">
                    <a:solidFill>
                      <a:schemeClr val="tx1"/>
                    </a:solidFill>
                    <a:effectLst/>
                    <a:latin typeface="+mn-lt"/>
                    <a:ea typeface="+mn-ea"/>
                    <a:cs typeface="+mn-cs"/>
                  </a:rPr>
                  <a:t> The focal node collects the Value payload vectors from all incoming nodes, scaled by their corresponding </a:t>
                </a:r>
                <a:r>
                  <a:rPr lang="en-US" sz="1200" kern="1200" dirty="0" err="1">
                    <a:solidFill>
                      <a:schemeClr val="tx1"/>
                    </a:solidFill>
                    <a:effectLst/>
                    <a:latin typeface="+mn-lt"/>
                    <a:ea typeface="+mn-ea"/>
                    <a:cs typeface="+mn-cs"/>
                  </a:rPr>
                  <a:t>Softmax</a:t>
                </a:r>
                <a:r>
                  <a:rPr lang="en-US" sz="1200" kern="1200" dirty="0">
                    <a:solidFill>
                      <a:schemeClr val="tx1"/>
                    </a:solidFill>
                    <a:effectLst/>
                    <a:latin typeface="+mn-lt"/>
                    <a:ea typeface="+mn-ea"/>
                    <a:cs typeface="+mn-cs"/>
                  </a:rPr>
                  <a:t> probability weights. The weighted sum updates the focal node's state.</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This mechanism allows tokens to dynamically route information based on context rather than fixed physical locations.</a:t>
                </a:r>
              </a:p>
              <a:p>
                <a:pPr lvl="0"/>
                <a:r>
                  <a:rPr lang="en-US" sz="1200" b="1" kern="1200" dirty="0">
                    <a:solidFill>
                      <a:schemeClr val="tx1"/>
                    </a:solidFill>
                    <a:effectLst/>
                    <a:latin typeface="+mn-lt"/>
                    <a:ea typeface="+mn-ea"/>
                    <a:cs typeface="+mn-cs"/>
                  </a:rPr>
                  <a:t>Transition Cue:</a:t>
                </a:r>
                <a:r>
                  <a:rPr lang="en-US" sz="1200" kern="1200" dirty="0">
                    <a:solidFill>
                      <a:schemeClr val="tx1"/>
                    </a:solidFill>
                    <a:effectLst/>
                    <a:latin typeface="+mn-lt"/>
                    <a:ea typeface="+mn-ea"/>
                    <a:cs typeface="+mn-cs"/>
                  </a:rPr>
                  <a:t> How does this dynamic routing allow a network to learn new tasks at runtime without updating its weights? Let's look at the two learning loops.</a:t>
                </a:r>
              </a:p>
              <a:p>
                <a:endParaRPr lang="en-US" dirty="0"/>
              </a:p>
            </p:txBody>
          </p:sp>
        </mc:Fallback>
      </mc:AlternateContent>
      <p:sp>
        <p:nvSpPr>
          <p:cNvPr id="4" name="Slide Number Placeholder 3"/>
          <p:cNvSpPr>
            <a:spLocks noGrp="1"/>
          </p:cNvSpPr>
          <p:nvPr>
            <p:ph type="sldNum" sz="quarter" idx="5"/>
          </p:nvPr>
        </p:nvSpPr>
        <p:spPr/>
        <p:txBody>
          <a:bodyPr/>
          <a:lstStyle/>
          <a:p>
            <a:fld id="{9FD592C3-FA85-4212-95FD-B0B383BAC653}" type="slidenum">
              <a:rPr lang="en-US" smtClean="0"/>
              <a:t>11</a:t>
            </a:fld>
            <a:endParaRPr lang="en-US"/>
          </a:p>
        </p:txBody>
      </p:sp>
    </p:spTree>
    <p:extLst>
      <p:ext uri="{BB962C8B-B14F-4D97-AF65-F5344CB8AC3E}">
        <p14:creationId xmlns:p14="http://schemas.microsoft.com/office/powerpoint/2010/main" val="2550097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Outer Loop: Stochastic Gradient Descent (SGD) — Slow &amp; Foundational:</a:t>
            </a:r>
            <a:endParaRPr lang="en-US" dirty="0"/>
          </a:p>
          <a:p>
            <a:pPr marL="171450" lvl="0" indent="-171450">
              <a:buFont typeface="Arial" panose="020B0604020202020204" pitchFamily="34" charset="0"/>
              <a:buChar char="•"/>
            </a:pPr>
            <a:r>
              <a:rPr lang="en-US" dirty="0"/>
              <a:t>Occurs during pre-training over months using massive GPU clusters.</a:t>
            </a:r>
          </a:p>
          <a:p>
            <a:pPr marL="171450" lvl="0" indent="-171450">
              <a:buFont typeface="Arial" panose="020B0604020202020204" pitchFamily="34" charset="0"/>
              <a:buChar char="•"/>
            </a:pPr>
            <a:r>
              <a:rPr lang="en-US" dirty="0"/>
              <a:t>Modifies the static floating-point parameters (weights) of the neural network.</a:t>
            </a:r>
          </a:p>
          <a:p>
            <a:pPr marL="171450" lvl="0" indent="-171450">
              <a:buFont typeface="Arial" panose="020B0604020202020204" pitchFamily="34" charset="0"/>
              <a:buChar char="•"/>
            </a:pPr>
            <a:r>
              <a:rPr lang="en-US" dirty="0"/>
              <a:t>Builds the base 'circuitry' and world knowledge of the model.</a:t>
            </a:r>
          </a:p>
          <a:p>
            <a:pPr lvl="0"/>
            <a:r>
              <a:rPr lang="en-US" b="1" dirty="0"/>
              <a:t>Inner Loop: In-Context Meta-Learning — Fast &amp; Dynamic:</a:t>
            </a:r>
            <a:endParaRPr lang="en-US" dirty="0"/>
          </a:p>
          <a:p>
            <a:pPr marL="171450" lvl="0" indent="-171450">
              <a:buFont typeface="Arial" panose="020B0604020202020204" pitchFamily="34" charset="0"/>
              <a:buChar char="•"/>
            </a:pPr>
            <a:r>
              <a:rPr lang="en-US" dirty="0"/>
              <a:t>Occurs live at inference time in milliseconds as the model reads your prompt.</a:t>
            </a:r>
          </a:p>
          <a:p>
            <a:pPr marL="171450" lvl="0" indent="-171450">
              <a:buFont typeface="Arial" panose="020B0604020202020204" pitchFamily="34" charset="0"/>
              <a:buChar char="•"/>
            </a:pPr>
            <a:r>
              <a:rPr lang="en-US" dirty="0"/>
              <a:t>Zero weight modifications occur. Instead, learning takes place within activation space across residual pathways.</a:t>
            </a:r>
          </a:p>
          <a:p>
            <a:pPr marL="171450" lvl="0" indent="-171450">
              <a:buFont typeface="Arial" panose="020B0604020202020204" pitchFamily="34" charset="0"/>
              <a:buChar char="•"/>
            </a:pPr>
            <a:r>
              <a:rPr lang="en-US" dirty="0"/>
              <a:t>As prompt examples are fed in, the attention mechanism dynamically adjusts internal state representations. Recent research shows this inner loop mathematically emulates implicit gradient descent running inside activation space.</a:t>
            </a:r>
          </a:p>
          <a:p>
            <a:pPr lvl="0"/>
            <a:r>
              <a:rPr lang="en-US" b="1" dirty="0"/>
              <a:t>Transition Cue:</a:t>
            </a:r>
            <a:r>
              <a:rPr lang="en-US" dirty="0"/>
              <a:t> While in-context learning is powerful, working memory is constrained by the context window. How do we overcome this bottleneck?</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12</a:t>
            </a:fld>
            <a:endParaRPr lang="en-US"/>
          </a:p>
        </p:txBody>
      </p:sp>
    </p:spTree>
    <p:extLst>
      <p:ext uri="{BB962C8B-B14F-4D97-AF65-F5344CB8AC3E}">
        <p14:creationId xmlns:p14="http://schemas.microsoft.com/office/powerpoint/2010/main" val="13643363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Short-Term RAM Problem:</a:t>
            </a:r>
            <a:r>
              <a:rPr lang="en-US" dirty="0"/>
              <a:t> A Transformer's context window acts like fast system RAM. It is finite and computationally expensive to expand quadratically.</a:t>
            </a:r>
          </a:p>
          <a:p>
            <a:pPr lvl="0"/>
            <a:r>
              <a:rPr lang="en-US" b="1" dirty="0"/>
              <a:t>The Scratchpad Solution:</a:t>
            </a:r>
            <a:r>
              <a:rPr lang="en-US" dirty="0"/>
              <a:t> To solve this, we give the model access to external memory tools via structured syntax. By emitting explicit tokens like </a:t>
            </a:r>
            <a:r>
              <a:rPr lang="en-US" sz="1200" kern="1200" dirty="0">
                <a:solidFill>
                  <a:schemeClr val="tx1"/>
                </a:solidFill>
                <a:latin typeface="+mn-lt"/>
                <a:ea typeface="+mn-ea"/>
                <a:cs typeface="+mn-cs"/>
              </a:rPr>
              <a:t>&lt;start scratchpad&gt;</a:t>
            </a:r>
            <a:r>
              <a:rPr lang="en-US" dirty="0"/>
              <a:t> ... </a:t>
            </a:r>
            <a:r>
              <a:rPr lang="en-US" sz="1200" kern="1200" dirty="0">
                <a:solidFill>
                  <a:schemeClr val="tx1"/>
                </a:solidFill>
                <a:latin typeface="+mn-lt"/>
                <a:ea typeface="+mn-ea"/>
                <a:cs typeface="+mn-cs"/>
              </a:rPr>
              <a:t>&lt;end scratchpad&gt;</a:t>
            </a:r>
            <a:r>
              <a:rPr lang="en-US" dirty="0"/>
              <a:t>, the decoding system captures intermediate reasoning, writes to external databases or tool state, and reads it back when needed.</a:t>
            </a:r>
          </a:p>
          <a:p>
            <a:pPr lvl="0"/>
            <a:r>
              <a:rPr lang="en-US" b="1" dirty="0"/>
              <a:t>Human Analogy:</a:t>
            </a:r>
            <a:r>
              <a:rPr lang="en-US" dirty="0"/>
              <a:t> Just as humans use physical notebooks to solve long mathematical proofs rather than holding everything in active working memory, Transformers use external scratchpads and vector retrieval (RAG) to scale performance indefinitely.</a:t>
            </a:r>
          </a:p>
          <a:p>
            <a:pPr lvl="0"/>
            <a:r>
              <a:rPr lang="en-US" b="1" dirty="0"/>
              <a:t>Transition Cue:</a:t>
            </a:r>
            <a:r>
              <a:rPr lang="en-US" dirty="0"/>
              <a:t> Looking forward, will we rely on single giant models or coordinated multi-agent systems?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13</a:t>
            </a:fld>
            <a:endParaRPr lang="en-US"/>
          </a:p>
        </p:txBody>
      </p:sp>
    </p:spTree>
    <p:extLst>
      <p:ext uri="{BB962C8B-B14F-4D97-AF65-F5344CB8AC3E}">
        <p14:creationId xmlns:p14="http://schemas.microsoft.com/office/powerpoint/2010/main" val="3298828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The Monolithic Dilemma:</a:t>
            </a:r>
            <a:r>
              <a:rPr lang="en-US" dirty="0"/>
              <a:t> Training a single monolithic network to master legal contracts, medical diagnoses, C++ code, and creative writing simultaneously creates parameter inefficiency and massive compute costs.</a:t>
            </a:r>
          </a:p>
          <a:p>
            <a:pPr lvl="0"/>
            <a:r>
              <a:rPr lang="en-US" b="1" dirty="0"/>
              <a:t>The Mixture of Experts (</a:t>
            </a:r>
            <a:r>
              <a:rPr lang="en-US" b="1" dirty="0" err="1"/>
              <a:t>MoE</a:t>
            </a:r>
            <a:r>
              <a:rPr lang="en-US" b="1" dirty="0"/>
              <a:t>) Architecture:</a:t>
            </a:r>
            <a:r>
              <a:rPr lang="en-US" dirty="0"/>
              <a:t> The industry is shifting toward specialized expert sub-networks. In an </a:t>
            </a:r>
            <a:r>
              <a:rPr lang="en-US" dirty="0" err="1"/>
              <a:t>MoE</a:t>
            </a:r>
            <a:r>
              <a:rPr lang="en-US" dirty="0"/>
              <a:t> architecture, a central routing agent analyzes incoming natural language tasks and delegates them to targeted domain models:</a:t>
            </a:r>
          </a:p>
          <a:p>
            <a:pPr marL="171450" lvl="0" indent="-171450">
              <a:buFont typeface="Arial" panose="020B0604020202020204" pitchFamily="34" charset="0"/>
              <a:buChar char="•"/>
            </a:pPr>
            <a:r>
              <a:rPr lang="en-US" b="1" dirty="0"/>
              <a:t>Legal GPT:</a:t>
            </a:r>
            <a:r>
              <a:rPr lang="en-US" dirty="0"/>
              <a:t> Specialized in contract parsing and case law.</a:t>
            </a:r>
          </a:p>
          <a:p>
            <a:pPr marL="171450" lvl="0" indent="-171450">
              <a:buFont typeface="Arial" panose="020B0604020202020204" pitchFamily="34" charset="0"/>
              <a:buChar char="•"/>
            </a:pPr>
            <a:r>
              <a:rPr lang="en-US" b="1" dirty="0"/>
              <a:t>Doctor GPT:</a:t>
            </a:r>
            <a:r>
              <a:rPr lang="en-US" dirty="0"/>
              <a:t> Tailored for clinical diagnostics and medical literature.</a:t>
            </a:r>
          </a:p>
          <a:p>
            <a:pPr marL="171450" lvl="0" indent="-171450">
              <a:buFont typeface="Arial" panose="020B0604020202020204" pitchFamily="34" charset="0"/>
              <a:buChar char="•"/>
            </a:pPr>
            <a:r>
              <a:rPr lang="en-US" b="1" dirty="0"/>
              <a:t>Coder GPT:</a:t>
            </a:r>
            <a:r>
              <a:rPr lang="en-US" dirty="0"/>
              <a:t> Optimized for syntax validation and logic synthesis.</a:t>
            </a:r>
          </a:p>
          <a:p>
            <a:pPr lvl="0"/>
            <a:r>
              <a:rPr lang="en-US" b="1" dirty="0"/>
              <a:t>Result:</a:t>
            </a:r>
            <a:r>
              <a:rPr lang="en-US" dirty="0"/>
              <a:t> We achieve higher accuracy, lower overall latency, and far more modular engineering practices.</a:t>
            </a:r>
          </a:p>
          <a:p>
            <a:pPr lvl="0"/>
            <a:r>
              <a:rPr lang="en-US" b="1" dirty="0"/>
              <a:t>Transition Cue:</a:t>
            </a:r>
            <a:r>
              <a:rPr lang="en-US" dirty="0"/>
              <a:t> To wrap up our technical synthesis, let's examine how this technological paradigm mirrors human biology.</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14</a:t>
            </a:fld>
            <a:endParaRPr lang="en-US"/>
          </a:p>
        </p:txBody>
      </p:sp>
    </p:spTree>
    <p:extLst>
      <p:ext uri="{BB962C8B-B14F-4D97-AF65-F5344CB8AC3E}">
        <p14:creationId xmlns:p14="http://schemas.microsoft.com/office/powerpoint/2010/main" val="161642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Architectural Uniformity:</a:t>
            </a:r>
            <a:r>
              <a:rPr lang="en-US" dirty="0"/>
              <a:t> In human biology, the neocortex maintains a remarkably uniform cellular structure across functional areas. The visual cortex, auditory cortex, and motor cortex share common structural blueprints, adapting to different input signals seamlessly.</a:t>
            </a:r>
          </a:p>
          <a:p>
            <a:pPr lvl="0"/>
            <a:r>
              <a:rPr lang="en-US" b="1" dirty="0"/>
              <a:t>Artificial Uniformity:</a:t>
            </a:r>
            <a:r>
              <a:rPr lang="en-US" dirty="0"/>
              <a:t> The Transformer achieves this same biological elegance. Text, vision, audio, and motor control are processed through identical self-attention and feed-forward layers.</a:t>
            </a:r>
          </a:p>
          <a:p>
            <a:pPr lvl="0"/>
            <a:r>
              <a:rPr lang="en-US" b="1" dirty="0"/>
              <a:t>Software 3.0 Realization:</a:t>
            </a:r>
            <a:r>
              <a:rPr lang="en-US" dirty="0"/>
              <a:t> Furthermore, Software 3.0 relies on prompting in natural English—which is precisely how humans program other humans. Mechanically and instructionally, our software engineering paradigms are converging directly onto biological principles.</a:t>
            </a:r>
          </a:p>
          <a:p>
            <a:pPr lvl="0"/>
            <a:r>
              <a:rPr lang="en-US" b="1" dirty="0"/>
              <a:t>Transition Cue:</a:t>
            </a:r>
            <a:r>
              <a:rPr lang="en-US" dirty="0"/>
              <a:t> Let's review the complete summary diagram on slide 16.</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15</a:t>
            </a:fld>
            <a:endParaRPr lang="en-US"/>
          </a:p>
        </p:txBody>
      </p:sp>
    </p:spTree>
    <p:extLst>
      <p:ext uri="{BB962C8B-B14F-4D97-AF65-F5344CB8AC3E}">
        <p14:creationId xmlns:p14="http://schemas.microsoft.com/office/powerpoint/2010/main" val="731803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Comprehensive Summary Breakdown:</a:t>
            </a:r>
            <a:endParaRPr lang="en-US" dirty="0"/>
          </a:p>
          <a:p>
            <a:pPr marL="228600" lvl="0" indent="-228600">
              <a:buFont typeface="+mj-lt"/>
              <a:buAutoNum type="arabicPeriod"/>
            </a:pPr>
            <a:r>
              <a:rPr lang="en-US" b="1" dirty="0"/>
              <a:t>Software 1.0 (Explicit Algorithms):</a:t>
            </a:r>
            <a:endParaRPr lang="en-US" dirty="0"/>
          </a:p>
          <a:p>
            <a:pPr marL="628650" lvl="1" indent="-171450">
              <a:buFont typeface="Arial" panose="020B0604020202020204" pitchFamily="34" charset="0"/>
              <a:buChar char="•"/>
            </a:pPr>
            <a:r>
              <a:rPr lang="en-US" i="1" dirty="0"/>
              <a:t>Tool:</a:t>
            </a:r>
            <a:r>
              <a:rPr lang="en-US" dirty="0"/>
              <a:t> Programming Languages (C++, Python).</a:t>
            </a:r>
          </a:p>
          <a:p>
            <a:pPr marL="628650" lvl="1" indent="-171450">
              <a:buFont typeface="Arial" panose="020B0604020202020204" pitchFamily="34" charset="0"/>
              <a:buChar char="•"/>
            </a:pPr>
            <a:r>
              <a:rPr lang="en-US" i="1" dirty="0"/>
              <a:t>Core Task:</a:t>
            </a:r>
            <a:r>
              <a:rPr lang="en-US" dirty="0"/>
              <a:t> Hand-crafting explicit algorithmic instructions.</a:t>
            </a:r>
          </a:p>
          <a:p>
            <a:pPr marL="228600" lvl="0" indent="-228600">
              <a:buFont typeface="+mj-lt"/>
              <a:buAutoNum type="arabicPeriod"/>
            </a:pPr>
            <a:r>
              <a:rPr lang="en-US" b="1" dirty="0"/>
              <a:t>Software 2.0 (The Data Engine):</a:t>
            </a:r>
            <a:endParaRPr lang="en-US" dirty="0"/>
          </a:p>
          <a:p>
            <a:pPr marL="628650" lvl="1" indent="-171450">
              <a:buFont typeface="Arial" panose="020B0604020202020204" pitchFamily="34" charset="0"/>
              <a:buChar char="•"/>
            </a:pPr>
            <a:r>
              <a:rPr lang="en-US" i="1" dirty="0"/>
              <a:t>Tool:</a:t>
            </a:r>
            <a:r>
              <a:rPr lang="en-US" dirty="0"/>
              <a:t> Labeled Datasets &amp; Optimization.</a:t>
            </a:r>
          </a:p>
          <a:p>
            <a:pPr marL="628650" lvl="1" indent="-171450">
              <a:buFont typeface="Arial" panose="020B0604020202020204" pitchFamily="34" charset="0"/>
              <a:buChar char="•"/>
            </a:pPr>
            <a:r>
              <a:rPr lang="en-US" i="1" dirty="0"/>
              <a:t>Core Task:</a:t>
            </a:r>
            <a:r>
              <a:rPr lang="en-US" dirty="0"/>
              <a:t> Iterating on data collection, training, and compiling weights.</a:t>
            </a:r>
          </a:p>
          <a:p>
            <a:pPr marL="228600" lvl="0" indent="-228600">
              <a:buFont typeface="+mj-lt"/>
              <a:buAutoNum type="arabicPeriod"/>
            </a:pPr>
            <a:r>
              <a:rPr lang="en-US" b="1" dirty="0"/>
              <a:t>Software 3.0 (English as a Programming Language):</a:t>
            </a:r>
            <a:endParaRPr lang="en-US" dirty="0"/>
          </a:p>
          <a:p>
            <a:pPr marL="628650" lvl="1" indent="-171450">
              <a:buFont typeface="Arial" panose="020B0604020202020204" pitchFamily="34" charset="0"/>
              <a:buChar char="•"/>
            </a:pPr>
            <a:r>
              <a:rPr lang="en-US" i="1" dirty="0"/>
              <a:t>Tool:</a:t>
            </a:r>
            <a:r>
              <a:rPr lang="en-US" dirty="0"/>
              <a:t> Prompt Engineering in Natural Language.</a:t>
            </a:r>
          </a:p>
          <a:p>
            <a:pPr marL="628650" lvl="1" indent="-171450">
              <a:buFont typeface="Arial" panose="020B0604020202020204" pitchFamily="34" charset="0"/>
              <a:buChar char="•"/>
            </a:pPr>
            <a:r>
              <a:rPr lang="en-US" i="1" dirty="0"/>
              <a:t>Core Task:</a:t>
            </a:r>
            <a:r>
              <a:rPr lang="en-US" dirty="0"/>
              <a:t> Conditioning Large Language Models to instantiate dynamic applications at runtime.</a:t>
            </a:r>
          </a:p>
          <a:p>
            <a:pPr lvl="0"/>
            <a:r>
              <a:rPr lang="en-US" b="1" dirty="0"/>
              <a:t>The Transformer as a Universal Computer:</a:t>
            </a:r>
            <a:r>
              <a:rPr lang="en-US" dirty="0"/>
              <a:t> Through query, key, and value attention mechanics, the Transformer acts as a reconfigurable CPU. Step-by-step reasoning prompts elevate accuracy benchmark scores from 17% to 82%. As hackers, developers, and architects, our new frontier is mastering this graph-based computation engine.</a:t>
            </a:r>
          </a:p>
          <a:p>
            <a:pPr lvl="0"/>
            <a:r>
              <a:rPr lang="en-US" b="1" dirty="0"/>
              <a:t>Closing:</a:t>
            </a:r>
            <a:r>
              <a:rPr lang="en-US" dirty="0"/>
              <a:t> Thank you all for your attention. I'm open to taking any questions!</a:t>
            </a:r>
          </a:p>
          <a:p>
            <a:endParaRPr lang="en-US" dirty="0"/>
          </a:p>
        </p:txBody>
      </p:sp>
      <p:sp>
        <p:nvSpPr>
          <p:cNvPr id="4" name="Slide Number Placeholder 3"/>
          <p:cNvSpPr>
            <a:spLocks noGrp="1"/>
          </p:cNvSpPr>
          <p:nvPr>
            <p:ph type="sldNum" sz="quarter" idx="5"/>
          </p:nvPr>
        </p:nvSpPr>
        <p:spPr/>
        <p:txBody>
          <a:bodyPr/>
          <a:lstStyle/>
          <a:p>
            <a:fld id="{9FD592C3-FA85-4212-95FD-B0B383BAC653}" type="slidenum">
              <a:rPr lang="en-US" smtClean="0"/>
              <a:t>16</a:t>
            </a:fld>
            <a:endParaRPr lang="en-US"/>
          </a:p>
        </p:txBody>
      </p:sp>
    </p:spTree>
    <p:extLst>
      <p:ext uri="{BB962C8B-B14F-4D97-AF65-F5344CB8AC3E}">
        <p14:creationId xmlns:p14="http://schemas.microsoft.com/office/powerpoint/2010/main" val="17065019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A112FE-904E-F118-E5E3-7E2453F8743F}"/>
              </a:ext>
            </a:extLst>
          </p:cNvPr>
          <p:cNvSpPr>
            <a:spLocks noGrp="1"/>
          </p:cNvSpPr>
          <p:nvPr>
            <p:ph type="dt" sz="half" idx="10"/>
          </p:nvPr>
        </p:nvSpPr>
        <p:spPr/>
        <p:txBody>
          <a:bodyPr/>
          <a:lstStyle/>
          <a:p>
            <a:fld id="{CAB2112A-23D4-40FD-841D-E01634E24AAE}" type="datetimeFigureOut">
              <a:rPr lang="en-US" smtClean="0"/>
              <a:t>10/21/2026</a:t>
            </a:fld>
            <a:endParaRPr lang="en-US"/>
          </a:p>
        </p:txBody>
      </p:sp>
      <p:sp>
        <p:nvSpPr>
          <p:cNvPr id="3" name="Footer Placeholder 2">
            <a:extLst>
              <a:ext uri="{FF2B5EF4-FFF2-40B4-BE49-F238E27FC236}">
                <a16:creationId xmlns:a16="http://schemas.microsoft.com/office/drawing/2014/main" id="{870D3F89-44B2-1D52-514A-4CB547E3119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3FF39F-B29F-C522-005F-DD5B342AC238}"/>
              </a:ext>
            </a:extLst>
          </p:cNvPr>
          <p:cNvSpPr>
            <a:spLocks noGrp="1"/>
          </p:cNvSpPr>
          <p:nvPr>
            <p:ph type="sldNum" sz="quarter" idx="12"/>
          </p:nvPr>
        </p:nvSpPr>
        <p:spPr/>
        <p:txBody>
          <a:bodyPr/>
          <a:lstStyle/>
          <a:p>
            <a:fld id="{0C1A54FE-4016-44A5-B42E-E03FD4599D75}" type="slidenum">
              <a:rPr lang="en-US" smtClean="0"/>
              <a:t>‹#›</a:t>
            </a:fld>
            <a:endParaRPr lang="en-US"/>
          </a:p>
        </p:txBody>
      </p:sp>
    </p:spTree>
    <p:extLst>
      <p:ext uri="{BB962C8B-B14F-4D97-AF65-F5344CB8AC3E}">
        <p14:creationId xmlns:p14="http://schemas.microsoft.com/office/powerpoint/2010/main" val="278273866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4AE4D-ACCF-14C9-9401-D61665D928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69DD5E6-34F0-3205-0779-D0DDC230E80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298180-F357-0F60-777C-37A397F4FD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AB2112A-23D4-40FD-841D-E01634E24AAE}" type="datetimeFigureOut">
              <a:rPr lang="en-US" smtClean="0"/>
              <a:t>10/21/2026</a:t>
            </a:fld>
            <a:endParaRPr lang="en-US"/>
          </a:p>
        </p:txBody>
      </p:sp>
      <p:sp>
        <p:nvSpPr>
          <p:cNvPr id="5" name="Footer Placeholder 4">
            <a:extLst>
              <a:ext uri="{FF2B5EF4-FFF2-40B4-BE49-F238E27FC236}">
                <a16:creationId xmlns:a16="http://schemas.microsoft.com/office/drawing/2014/main" id="{68324402-E766-9185-FD64-2C2000BC477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EF8B725-E759-6316-F430-099AFFAEA6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1A54FE-4016-44A5-B42E-E03FD4599D75}" type="slidenum">
              <a:rPr lang="en-US" smtClean="0"/>
              <a:t>‹#›</a:t>
            </a:fld>
            <a:endParaRPr lang="en-US"/>
          </a:p>
        </p:txBody>
      </p:sp>
    </p:spTree>
    <p:extLst>
      <p:ext uri="{BB962C8B-B14F-4D97-AF65-F5344CB8AC3E}">
        <p14:creationId xmlns:p14="http://schemas.microsoft.com/office/powerpoint/2010/main" val="413451250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68EFD6-4E55-61C5-1C51-E72FDC55C05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4ACD62-2113-5925-ACFB-8FD7AB40EF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10C285E-93D2-316D-A5B2-96D9A0758E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3E70967-9FC3-19AA-305A-C51993C7207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8BC020-0929-A697-4249-6CF352F0086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F820DE-D97B-428A-E7D1-CD9876E16EA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C0F3890-E133-0707-F7A5-45600ACBDBA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1DE02B8-10B9-EC80-87B2-51A3B79EAD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181374F-5EE7-8361-E2A9-FEEA10DCFCB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D1986D-76CB-2C18-F024-70589196DC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4B71856-EDAC-4078-C225-2491D708BC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FCA807-EA53-8831-4097-F8D4B1A7010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956353-BA2D-74C8-B045-90CBC83841F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696327E-E05B-99E1-7FCC-AD091F87CF5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E248748-9DB4-677A-61E6-C55103295A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4C4786-D969-B81F-6878-124629DDD81B}"/>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37979660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2815</Words>
  <Application>Microsoft Office PowerPoint</Application>
  <PresentationFormat>寬螢幕</PresentationFormat>
  <Paragraphs>120</Paragraphs>
  <Slides>16</Slides>
  <Notes>16</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16</vt:i4>
      </vt:variant>
    </vt:vector>
  </HeadingPairs>
  <TitlesOfParts>
    <vt:vector size="21" baseType="lpstr">
      <vt:lpstr>Aptos</vt:lpstr>
      <vt:lpstr>Aptos Display</vt:lpstr>
      <vt:lpstr>Arial</vt:lpstr>
      <vt:lpstr>Cambria Math</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2026-09-14T00:55:29Z</dcterms:created>
  <dcterms:modified xsi:type="dcterms:W3CDTF">2026-10-21T02:39:55Z</dcterms:modified>
</cp:coreProperties>
</file>