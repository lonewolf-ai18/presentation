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E85817-EAB5-4CF4-8159-AE4DBD4D0025}" v="24" dt="2026-09-21T14:20:37.8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77208"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21T14:20:48.428" v="52" actId="166"/>
      <pc:docMkLst>
        <pc:docMk/>
      </pc:docMkLst>
      <pc:sldChg chg="addSp delSp modSp mod modAnim modNotes modNotesTx">
        <pc:chgData name="Lai, Wilson" userId="2840974a-0d84-4886-90a9-9a3ed79f3a48" providerId="ADAL" clId="{9F23B798-9E84-4552-BA63-E776E805C424}" dt="2026-09-21T14:20:48.428" v="52" actId="166"/>
        <pc:sldMkLst>
          <pc:docMk/>
          <pc:sldMk cId="0" sldId="257"/>
        </pc:sldMkLst>
        <pc:spChg chg="add mod">
          <ac:chgData name="Lai, Wilson" userId="2840974a-0d84-4886-90a9-9a3ed79f3a48" providerId="ADAL" clId="{9F23B798-9E84-4552-BA63-E776E805C424}" dt="2026-09-21T10:19:08.490" v="9" actId="164"/>
          <ac:spMkLst>
            <pc:docMk/>
            <pc:sldMk cId="0" sldId="257"/>
            <ac:spMk id="5" creationId="{BAB836D5-29F0-2D53-14B4-C3A249FEB6EC}"/>
          </ac:spMkLst>
        </pc:spChg>
        <pc:grpChg chg="add mod">
          <ac:chgData name="Lai, Wilson" userId="2840974a-0d84-4886-90a9-9a3ed79f3a48" providerId="ADAL" clId="{9F23B798-9E84-4552-BA63-E776E805C424}" dt="2026-09-21T10:19:08.490" v="9" actId="164"/>
          <ac:grpSpMkLst>
            <pc:docMk/>
            <pc:sldMk cId="0" sldId="257"/>
            <ac:grpSpMk id="6" creationId="{241AB531-DC11-414E-92A6-948F675A65CE}"/>
          </ac:grpSpMkLst>
        </pc:grpChg>
        <pc:picChg chg="del">
          <ac:chgData name="Lai, Wilson" userId="2840974a-0d84-4886-90a9-9a3ed79f3a48" providerId="ADAL" clId="{9F23B798-9E84-4552-BA63-E776E805C424}" dt="2026-09-21T12:07:54.944" v="10" actId="21"/>
          <ac:picMkLst>
            <pc:docMk/>
            <pc:sldMk cId="0" sldId="257"/>
            <ac:picMk id="2" creationId="{00000000-0000-0000-0000-000000000000}"/>
          </ac:picMkLst>
        </pc:picChg>
        <pc:picChg chg="add mod">
          <ac:chgData name="Lai, Wilson" userId="2840974a-0d84-4886-90a9-9a3ed79f3a48" providerId="ADAL" clId="{9F23B798-9E84-4552-BA63-E776E805C424}" dt="2026-09-21T10:19:08.490" v="9" actId="164"/>
          <ac:picMkLst>
            <pc:docMk/>
            <pc:sldMk cId="0" sldId="257"/>
            <ac:picMk id="3" creationId="{DF92597F-1739-7C11-1A78-AE629ED69366}"/>
          </ac:picMkLst>
        </pc:picChg>
        <pc:picChg chg="add ord">
          <ac:chgData name="Lai, Wilson" userId="2840974a-0d84-4886-90a9-9a3ed79f3a48" providerId="ADAL" clId="{9F23B798-9E84-4552-BA63-E776E805C424}" dt="2026-09-21T14:20:48.428" v="52" actId="166"/>
          <ac:picMkLst>
            <pc:docMk/>
            <pc:sldMk cId="0" sldId="257"/>
            <ac:picMk id="7" creationId="{910EA459-3B95-B735-5654-DF79FF5F913C}"/>
          </ac:picMkLst>
        </pc:picChg>
      </pc:sldChg>
      <pc:sldChg chg="addSp delSp mod modNotes">
        <pc:chgData name="Lai, Wilson" userId="2840974a-0d84-4886-90a9-9a3ed79f3a48" providerId="ADAL" clId="{9F23B798-9E84-4552-BA63-E776E805C424}" dt="2026-09-21T14:20:37.823" v="51"/>
        <pc:sldMkLst>
          <pc:docMk/>
          <pc:sldMk cId="0" sldId="258"/>
        </pc:sldMkLst>
        <pc:picChg chg="del">
          <ac:chgData name="Lai, Wilson" userId="2840974a-0d84-4886-90a9-9a3ed79f3a48" providerId="ADAL" clId="{9F23B798-9E84-4552-BA63-E776E805C424}" dt="2026-09-21T12:08:30.889" v="14" actId="21"/>
          <ac:picMkLst>
            <pc:docMk/>
            <pc:sldMk cId="0" sldId="258"/>
            <ac:picMk id="2" creationId="{00000000-0000-0000-0000-000000000000}"/>
          </ac:picMkLst>
        </pc:picChg>
        <pc:picChg chg="add">
          <ac:chgData name="Lai, Wilson" userId="2840974a-0d84-4886-90a9-9a3ed79f3a48" providerId="ADAL" clId="{9F23B798-9E84-4552-BA63-E776E805C424}" dt="2026-09-21T12:08:39.293" v="15" actId="22"/>
          <ac:picMkLst>
            <pc:docMk/>
            <pc:sldMk cId="0" sldId="258"/>
            <ac:picMk id="4" creationId="{832A277B-E56A-9932-91BF-4E9F522216C3}"/>
          </ac:picMkLst>
        </pc:picChg>
      </pc:sldChg>
      <pc:sldChg chg="addSp delSp mod modNotes">
        <pc:chgData name="Lai, Wilson" userId="2840974a-0d84-4886-90a9-9a3ed79f3a48" providerId="ADAL" clId="{9F23B798-9E84-4552-BA63-E776E805C424}" dt="2026-09-21T14:20:37.823" v="51"/>
        <pc:sldMkLst>
          <pc:docMk/>
          <pc:sldMk cId="0" sldId="259"/>
        </pc:sldMkLst>
        <pc:picChg chg="del">
          <ac:chgData name="Lai, Wilson" userId="2840974a-0d84-4886-90a9-9a3ed79f3a48" providerId="ADAL" clId="{9F23B798-9E84-4552-BA63-E776E805C424}" dt="2026-09-21T12:08:06.960" v="12" actId="21"/>
          <ac:picMkLst>
            <pc:docMk/>
            <pc:sldMk cId="0" sldId="259"/>
            <ac:picMk id="2" creationId="{00000000-0000-0000-0000-000000000000}"/>
          </ac:picMkLst>
        </pc:picChg>
        <pc:picChg chg="add">
          <ac:chgData name="Lai, Wilson" userId="2840974a-0d84-4886-90a9-9a3ed79f3a48" providerId="ADAL" clId="{9F23B798-9E84-4552-BA63-E776E805C424}" dt="2026-09-21T12:08:21.781" v="13" actId="22"/>
          <ac:picMkLst>
            <pc:docMk/>
            <pc:sldMk cId="0" sldId="259"/>
            <ac:picMk id="4" creationId="{B9C95763-A047-B3FE-4B86-87B0CBE44DD6}"/>
          </ac:picMkLst>
        </pc:picChg>
      </pc:sldChg>
      <pc:sldChg chg="addSp delSp mod modNotes modNotesTx">
        <pc:chgData name="Lai, Wilson" userId="2840974a-0d84-4886-90a9-9a3ed79f3a48" providerId="ADAL" clId="{9F23B798-9E84-4552-BA63-E776E805C424}" dt="2026-09-21T14:20:37.823" v="51"/>
        <pc:sldMkLst>
          <pc:docMk/>
          <pc:sldMk cId="0" sldId="260"/>
        </pc:sldMkLst>
        <pc:picChg chg="del">
          <ac:chgData name="Lai, Wilson" userId="2840974a-0d84-4886-90a9-9a3ed79f3a48" providerId="ADAL" clId="{9F23B798-9E84-4552-BA63-E776E805C424}" dt="2026-09-21T12:08:42.413" v="16" actId="21"/>
          <ac:picMkLst>
            <pc:docMk/>
            <pc:sldMk cId="0" sldId="260"/>
            <ac:picMk id="2" creationId="{00000000-0000-0000-0000-000000000000}"/>
          </ac:picMkLst>
        </pc:picChg>
        <pc:picChg chg="add">
          <ac:chgData name="Lai, Wilson" userId="2840974a-0d84-4886-90a9-9a3ed79f3a48" providerId="ADAL" clId="{9F23B798-9E84-4552-BA63-E776E805C424}" dt="2026-09-21T12:09:28.021" v="17" actId="22"/>
          <ac:picMkLst>
            <pc:docMk/>
            <pc:sldMk cId="0" sldId="260"/>
            <ac:picMk id="4" creationId="{663A4293-C646-3FE7-E875-C3ECCBFCC8B8}"/>
          </ac:picMkLst>
        </pc:picChg>
      </pc:sldChg>
      <pc:sldChg chg="addSp delSp mod modNotes">
        <pc:chgData name="Lai, Wilson" userId="2840974a-0d84-4886-90a9-9a3ed79f3a48" providerId="ADAL" clId="{9F23B798-9E84-4552-BA63-E776E805C424}" dt="2026-09-21T14:20:37.823" v="51"/>
        <pc:sldMkLst>
          <pc:docMk/>
          <pc:sldMk cId="0" sldId="261"/>
        </pc:sldMkLst>
        <pc:picChg chg="del">
          <ac:chgData name="Lai, Wilson" userId="2840974a-0d84-4886-90a9-9a3ed79f3a48" providerId="ADAL" clId="{9F23B798-9E84-4552-BA63-E776E805C424}" dt="2026-09-21T12:09:32.101" v="18" actId="21"/>
          <ac:picMkLst>
            <pc:docMk/>
            <pc:sldMk cId="0" sldId="261"/>
            <ac:picMk id="2" creationId="{00000000-0000-0000-0000-000000000000}"/>
          </ac:picMkLst>
        </pc:picChg>
        <pc:picChg chg="add">
          <ac:chgData name="Lai, Wilson" userId="2840974a-0d84-4886-90a9-9a3ed79f3a48" providerId="ADAL" clId="{9F23B798-9E84-4552-BA63-E776E805C424}" dt="2026-09-21T12:09:39.908" v="19" actId="22"/>
          <ac:picMkLst>
            <pc:docMk/>
            <pc:sldMk cId="0" sldId="261"/>
            <ac:picMk id="4" creationId="{CF58A05C-5DF7-4AC9-9CA2-9522C96BCE79}"/>
          </ac:picMkLst>
        </pc:picChg>
      </pc:sldChg>
      <pc:sldChg chg="addSp delSp mod modNotes">
        <pc:chgData name="Lai, Wilson" userId="2840974a-0d84-4886-90a9-9a3ed79f3a48" providerId="ADAL" clId="{9F23B798-9E84-4552-BA63-E776E805C424}" dt="2026-09-21T14:20:37.823" v="51"/>
        <pc:sldMkLst>
          <pc:docMk/>
          <pc:sldMk cId="0" sldId="262"/>
        </pc:sldMkLst>
        <pc:picChg chg="del">
          <ac:chgData name="Lai, Wilson" userId="2840974a-0d84-4886-90a9-9a3ed79f3a48" providerId="ADAL" clId="{9F23B798-9E84-4552-BA63-E776E805C424}" dt="2026-09-21T12:09:46.195" v="20" actId="21"/>
          <ac:picMkLst>
            <pc:docMk/>
            <pc:sldMk cId="0" sldId="262"/>
            <ac:picMk id="2" creationId="{00000000-0000-0000-0000-000000000000}"/>
          </ac:picMkLst>
        </pc:picChg>
        <pc:picChg chg="add">
          <ac:chgData name="Lai, Wilson" userId="2840974a-0d84-4886-90a9-9a3ed79f3a48" providerId="ADAL" clId="{9F23B798-9E84-4552-BA63-E776E805C424}" dt="2026-09-21T12:11:06.329" v="21" actId="22"/>
          <ac:picMkLst>
            <pc:docMk/>
            <pc:sldMk cId="0" sldId="262"/>
            <ac:picMk id="4" creationId="{7F1DB110-D03D-D7BE-6F72-08C384145FD1}"/>
          </ac:picMkLst>
        </pc:picChg>
      </pc:sldChg>
      <pc:sldChg chg="addSp delSp mod modNotes">
        <pc:chgData name="Lai, Wilson" userId="2840974a-0d84-4886-90a9-9a3ed79f3a48" providerId="ADAL" clId="{9F23B798-9E84-4552-BA63-E776E805C424}" dt="2026-09-21T14:20:37.823" v="51"/>
        <pc:sldMkLst>
          <pc:docMk/>
          <pc:sldMk cId="0" sldId="263"/>
        </pc:sldMkLst>
        <pc:picChg chg="del">
          <ac:chgData name="Lai, Wilson" userId="2840974a-0d84-4886-90a9-9a3ed79f3a48" providerId="ADAL" clId="{9F23B798-9E84-4552-BA63-E776E805C424}" dt="2026-09-21T12:11:08.285" v="22" actId="21"/>
          <ac:picMkLst>
            <pc:docMk/>
            <pc:sldMk cId="0" sldId="263"/>
            <ac:picMk id="2" creationId="{00000000-0000-0000-0000-000000000000}"/>
          </ac:picMkLst>
        </pc:picChg>
        <pc:picChg chg="add">
          <ac:chgData name="Lai, Wilson" userId="2840974a-0d84-4886-90a9-9a3ed79f3a48" providerId="ADAL" clId="{9F23B798-9E84-4552-BA63-E776E805C424}" dt="2026-09-21T12:11:15.869" v="23" actId="22"/>
          <ac:picMkLst>
            <pc:docMk/>
            <pc:sldMk cId="0" sldId="263"/>
            <ac:picMk id="4" creationId="{5A928799-F1BF-1BE6-D060-61EB910ADF0E}"/>
          </ac:picMkLst>
        </pc:picChg>
      </pc:sldChg>
      <pc:sldChg chg="addSp delSp mod modNotes">
        <pc:chgData name="Lai, Wilson" userId="2840974a-0d84-4886-90a9-9a3ed79f3a48" providerId="ADAL" clId="{9F23B798-9E84-4552-BA63-E776E805C424}" dt="2026-09-21T14:20:37.823" v="51"/>
        <pc:sldMkLst>
          <pc:docMk/>
          <pc:sldMk cId="0" sldId="264"/>
        </pc:sldMkLst>
        <pc:picChg chg="del">
          <ac:chgData name="Lai, Wilson" userId="2840974a-0d84-4886-90a9-9a3ed79f3a48" providerId="ADAL" clId="{9F23B798-9E84-4552-BA63-E776E805C424}" dt="2026-09-21T12:11:17.253" v="24" actId="21"/>
          <ac:picMkLst>
            <pc:docMk/>
            <pc:sldMk cId="0" sldId="264"/>
            <ac:picMk id="2" creationId="{00000000-0000-0000-0000-000000000000}"/>
          </ac:picMkLst>
        </pc:picChg>
        <pc:picChg chg="add">
          <ac:chgData name="Lai, Wilson" userId="2840974a-0d84-4886-90a9-9a3ed79f3a48" providerId="ADAL" clId="{9F23B798-9E84-4552-BA63-E776E805C424}" dt="2026-09-21T12:11:32.085" v="25" actId="22"/>
          <ac:picMkLst>
            <pc:docMk/>
            <pc:sldMk cId="0" sldId="264"/>
            <ac:picMk id="4" creationId="{4078D8B5-E174-B90C-A6D4-1A9352A5C7B3}"/>
          </ac:picMkLst>
        </pc:picChg>
      </pc:sldChg>
      <pc:sldChg chg="addSp delSp mod modNotes">
        <pc:chgData name="Lai, Wilson" userId="2840974a-0d84-4886-90a9-9a3ed79f3a48" providerId="ADAL" clId="{9F23B798-9E84-4552-BA63-E776E805C424}" dt="2026-09-21T14:20:37.823" v="51"/>
        <pc:sldMkLst>
          <pc:docMk/>
          <pc:sldMk cId="0" sldId="265"/>
        </pc:sldMkLst>
        <pc:picChg chg="del">
          <ac:chgData name="Lai, Wilson" userId="2840974a-0d84-4886-90a9-9a3ed79f3a48" providerId="ADAL" clId="{9F23B798-9E84-4552-BA63-E776E805C424}" dt="2026-09-21T12:11:34.107" v="26" actId="21"/>
          <ac:picMkLst>
            <pc:docMk/>
            <pc:sldMk cId="0" sldId="265"/>
            <ac:picMk id="2" creationId="{00000000-0000-0000-0000-000000000000}"/>
          </ac:picMkLst>
        </pc:picChg>
        <pc:picChg chg="add">
          <ac:chgData name="Lai, Wilson" userId="2840974a-0d84-4886-90a9-9a3ed79f3a48" providerId="ADAL" clId="{9F23B798-9E84-4552-BA63-E776E805C424}" dt="2026-09-21T12:11:48.873" v="27" actId="22"/>
          <ac:picMkLst>
            <pc:docMk/>
            <pc:sldMk cId="0" sldId="265"/>
            <ac:picMk id="4" creationId="{821B96A5-B2E7-0BFD-8FF8-817851B2C14B}"/>
          </ac:picMkLst>
        </pc:picChg>
      </pc:sldChg>
      <pc:sldChg chg="addSp delSp mod modNotes modNotesTx">
        <pc:chgData name="Lai, Wilson" userId="2840974a-0d84-4886-90a9-9a3ed79f3a48" providerId="ADAL" clId="{9F23B798-9E84-4552-BA63-E776E805C424}" dt="2026-09-21T14:20:37.823" v="51"/>
        <pc:sldMkLst>
          <pc:docMk/>
          <pc:sldMk cId="0" sldId="266"/>
        </pc:sldMkLst>
        <pc:picChg chg="del">
          <ac:chgData name="Lai, Wilson" userId="2840974a-0d84-4886-90a9-9a3ed79f3a48" providerId="ADAL" clId="{9F23B798-9E84-4552-BA63-E776E805C424}" dt="2026-09-21T12:11:50.589" v="28" actId="21"/>
          <ac:picMkLst>
            <pc:docMk/>
            <pc:sldMk cId="0" sldId="266"/>
            <ac:picMk id="2" creationId="{00000000-0000-0000-0000-000000000000}"/>
          </ac:picMkLst>
        </pc:picChg>
        <pc:picChg chg="add">
          <ac:chgData name="Lai, Wilson" userId="2840974a-0d84-4886-90a9-9a3ed79f3a48" providerId="ADAL" clId="{9F23B798-9E84-4552-BA63-E776E805C424}" dt="2026-09-21T12:12:10.586" v="29" actId="22"/>
          <ac:picMkLst>
            <pc:docMk/>
            <pc:sldMk cId="0" sldId="266"/>
            <ac:picMk id="4" creationId="{D96C2CDB-3B25-69FE-44AF-1E45EC620BCB}"/>
          </ac:picMkLst>
        </pc:picChg>
      </pc:sldChg>
      <pc:sldChg chg="addSp delSp mod modNotes">
        <pc:chgData name="Lai, Wilson" userId="2840974a-0d84-4886-90a9-9a3ed79f3a48" providerId="ADAL" clId="{9F23B798-9E84-4552-BA63-E776E805C424}" dt="2026-09-21T14:20:37.823" v="51"/>
        <pc:sldMkLst>
          <pc:docMk/>
          <pc:sldMk cId="0" sldId="267"/>
        </pc:sldMkLst>
        <pc:picChg chg="del">
          <ac:chgData name="Lai, Wilson" userId="2840974a-0d84-4886-90a9-9a3ed79f3a48" providerId="ADAL" clId="{9F23B798-9E84-4552-BA63-E776E805C424}" dt="2026-09-21T12:12:14.933" v="30" actId="21"/>
          <ac:picMkLst>
            <pc:docMk/>
            <pc:sldMk cId="0" sldId="267"/>
            <ac:picMk id="2" creationId="{00000000-0000-0000-0000-000000000000}"/>
          </ac:picMkLst>
        </pc:picChg>
        <pc:picChg chg="add">
          <ac:chgData name="Lai, Wilson" userId="2840974a-0d84-4886-90a9-9a3ed79f3a48" providerId="ADAL" clId="{9F23B798-9E84-4552-BA63-E776E805C424}" dt="2026-09-21T12:12:25.515" v="31" actId="22"/>
          <ac:picMkLst>
            <pc:docMk/>
            <pc:sldMk cId="0" sldId="267"/>
            <ac:picMk id="4" creationId="{CC76735D-C020-CF9F-629A-61352D634188}"/>
          </ac:picMkLst>
        </pc:picChg>
      </pc:sldChg>
      <pc:sldChg chg="addSp delSp mod modNotes modNotesTx">
        <pc:chgData name="Lai, Wilson" userId="2840974a-0d84-4886-90a9-9a3ed79f3a48" providerId="ADAL" clId="{9F23B798-9E84-4552-BA63-E776E805C424}" dt="2026-09-21T14:20:37.823" v="51"/>
        <pc:sldMkLst>
          <pc:docMk/>
          <pc:sldMk cId="0" sldId="268"/>
        </pc:sldMkLst>
        <pc:picChg chg="del">
          <ac:chgData name="Lai, Wilson" userId="2840974a-0d84-4886-90a9-9a3ed79f3a48" providerId="ADAL" clId="{9F23B798-9E84-4552-BA63-E776E805C424}" dt="2026-09-21T12:12:27.141" v="32" actId="21"/>
          <ac:picMkLst>
            <pc:docMk/>
            <pc:sldMk cId="0" sldId="268"/>
            <ac:picMk id="2" creationId="{00000000-0000-0000-0000-000000000000}"/>
          </ac:picMkLst>
        </pc:picChg>
        <pc:picChg chg="add">
          <ac:chgData name="Lai, Wilson" userId="2840974a-0d84-4886-90a9-9a3ed79f3a48" providerId="ADAL" clId="{9F23B798-9E84-4552-BA63-E776E805C424}" dt="2026-09-21T12:12:50.299" v="33" actId="22"/>
          <ac:picMkLst>
            <pc:docMk/>
            <pc:sldMk cId="0" sldId="268"/>
            <ac:picMk id="4" creationId="{75B24A5E-0FC2-2690-695D-CB61E37B6A85}"/>
          </ac:picMkLst>
        </pc:picChg>
      </pc:sldChg>
      <pc:sldChg chg="addSp delSp modSp mod modNotes modNotesTx">
        <pc:chgData name="Lai, Wilson" userId="2840974a-0d84-4886-90a9-9a3ed79f3a48" providerId="ADAL" clId="{9F23B798-9E84-4552-BA63-E776E805C424}" dt="2026-09-21T14:20:37.823" v="51"/>
        <pc:sldMkLst>
          <pc:docMk/>
          <pc:sldMk cId="0" sldId="269"/>
        </pc:sldMkLst>
        <pc:picChg chg="del mod">
          <ac:chgData name="Lai, Wilson" userId="2840974a-0d84-4886-90a9-9a3ed79f3a48" providerId="ADAL" clId="{9F23B798-9E84-4552-BA63-E776E805C424}" dt="2026-09-21T12:12:53.010" v="35" actId="21"/>
          <ac:picMkLst>
            <pc:docMk/>
            <pc:sldMk cId="0" sldId="269"/>
            <ac:picMk id="2" creationId="{00000000-0000-0000-0000-000000000000}"/>
          </ac:picMkLst>
        </pc:picChg>
        <pc:picChg chg="add">
          <ac:chgData name="Lai, Wilson" userId="2840974a-0d84-4886-90a9-9a3ed79f3a48" providerId="ADAL" clId="{9F23B798-9E84-4552-BA63-E776E805C424}" dt="2026-09-21T12:13:04.533" v="36" actId="22"/>
          <ac:picMkLst>
            <pc:docMk/>
            <pc:sldMk cId="0" sldId="269"/>
            <ac:picMk id="4" creationId="{14B7280B-29FE-D21F-C5C4-3013049A499F}"/>
          </ac:picMkLst>
        </pc:picChg>
      </pc:sldChg>
      <pc:sldChg chg="addSp delSp mod modNotes modNotesTx">
        <pc:chgData name="Lai, Wilson" userId="2840974a-0d84-4886-90a9-9a3ed79f3a48" providerId="ADAL" clId="{9F23B798-9E84-4552-BA63-E776E805C424}" dt="2026-09-21T14:20:37.823" v="51"/>
        <pc:sldMkLst>
          <pc:docMk/>
          <pc:sldMk cId="1682025681" sldId="270"/>
        </pc:sldMkLst>
        <pc:picChg chg="del">
          <ac:chgData name="Lai, Wilson" userId="2840974a-0d84-4886-90a9-9a3ed79f3a48" providerId="ADAL" clId="{9F23B798-9E84-4552-BA63-E776E805C424}" dt="2026-09-21T12:13:07.904" v="37" actId="21"/>
          <ac:picMkLst>
            <pc:docMk/>
            <pc:sldMk cId="1682025681" sldId="270"/>
            <ac:picMk id="3" creationId="{0020AAB9-831B-6EA4-2CF6-05FA93E4A29F}"/>
          </ac:picMkLst>
        </pc:picChg>
        <pc:picChg chg="add">
          <ac:chgData name="Lai, Wilson" userId="2840974a-0d84-4886-90a9-9a3ed79f3a48" providerId="ADAL" clId="{9F23B798-9E84-4552-BA63-E776E805C424}" dt="2026-09-21T12:13:28.207" v="38" actId="22"/>
          <ac:picMkLst>
            <pc:docMk/>
            <pc:sldMk cId="1682025681" sldId="270"/>
            <ac:picMk id="4" creationId="{E325D99A-B6ED-CA33-D793-ED7AB167CB5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C6802F-83E8-45C6-9A51-386E7739AB8B}"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3F6E52-E4A7-402E-8E0B-8AB9539621E0}" type="slidenum">
              <a:rPr lang="en-US" smtClean="0"/>
              <a:t>‹#›</a:t>
            </a:fld>
            <a:endParaRPr lang="en-US"/>
          </a:p>
        </p:txBody>
      </p:sp>
    </p:spTree>
    <p:extLst>
      <p:ext uri="{BB962C8B-B14F-4D97-AF65-F5344CB8AC3E}">
        <p14:creationId xmlns:p14="http://schemas.microsoft.com/office/powerpoint/2010/main" val="302740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 are taking a look under the hood of modern economic policy and theory in a session titled </a:t>
            </a:r>
            <a:r>
              <a:rPr lang="en-US" sz="1200" b="1" kern="1200" dirty="0">
                <a:solidFill>
                  <a:schemeClr val="tx1"/>
                </a:solidFill>
                <a:effectLst/>
                <a:latin typeface="+mn-lt"/>
                <a:ea typeface="+mn-ea"/>
                <a:cs typeface="+mn-cs"/>
              </a:rPr>
              <a:t>System Override: 50 Years of Brutally Honest Economic Advice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For decades, students, policymakers, and financial analysts have been taught macroeconomic models packed with elegant equations—like standard Keynesian consumption functions, interest rate equations, and net export formulas. Yet, despite these hyper-mathematical models, mainstream economics consistently fails to predict major financial crises, ignores energy boundaries, and misunderstands how money is actually created. </a:t>
            </a:r>
          </a:p>
          <a:p>
            <a:r>
              <a:rPr lang="en-US" sz="1200" kern="1200" dirty="0">
                <a:solidFill>
                  <a:schemeClr val="tx1"/>
                </a:solidFill>
                <a:effectLst/>
                <a:latin typeface="+mn-lt"/>
                <a:ea typeface="+mn-ea"/>
                <a:cs typeface="+mn-cs"/>
              </a:rPr>
              <a:t>In this talk, we will break down why conventional economic models fail in the real world. We will systematically debunk the core myths of mainstream economics and replace them with an evolutionary, complexity-based understanding of real-world capitalism. </a:t>
            </a:r>
          </a:p>
          <a:p>
            <a:endParaRPr lang="en-US" dirty="0"/>
          </a:p>
          <a:p>
            <a:endParaRPr lang="en-US" dirty="0"/>
          </a:p>
          <a:p>
            <a:endParaRPr lang="en-US" dirty="0"/>
          </a:p>
          <a:p>
            <a:r>
              <a:rPr lang="en-US" dirty="0"/>
              <a:t>https://www.youtube.com/watch?v=M1odc6itzyk</a:t>
            </a:r>
          </a:p>
        </p:txBody>
      </p:sp>
      <p:sp>
        <p:nvSpPr>
          <p:cNvPr id="4" name="Slide Number Placeholder 3"/>
          <p:cNvSpPr>
            <a:spLocks noGrp="1"/>
          </p:cNvSpPr>
          <p:nvPr>
            <p:ph type="sldNum" sz="quarter" idx="5"/>
          </p:nvPr>
        </p:nvSpPr>
        <p:spPr/>
        <p:txBody>
          <a:bodyPr/>
          <a:lstStyle/>
          <a:p>
            <a:fld id="{6176DF2A-23F7-4A09-B7AF-E1A4EE9532DA}" type="slidenum">
              <a:rPr lang="en-US" smtClean="0"/>
              <a:t>1</a:t>
            </a:fld>
            <a:endParaRPr lang="en-US"/>
          </a:p>
        </p:txBody>
      </p:sp>
    </p:spTree>
    <p:extLst>
      <p:ext uri="{BB962C8B-B14F-4D97-AF65-F5344CB8AC3E}">
        <p14:creationId xmlns:p14="http://schemas.microsoft.com/office/powerpoint/2010/main" val="1092420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start at the root: </a:t>
            </a:r>
            <a:r>
              <a:rPr lang="en-US" sz="1200" b="1" kern="1200" dirty="0">
                <a:solidFill>
                  <a:schemeClr val="tx1"/>
                </a:solidFill>
                <a:effectLst/>
                <a:latin typeface="+mn-lt"/>
                <a:ea typeface="+mn-ea"/>
                <a:cs typeface="+mn-cs"/>
              </a:rPr>
              <a:t>The Fatal Flaw of Mainstream Economics</a:t>
            </a:r>
            <a:r>
              <a:rPr lang="en-US" sz="1200" kern="1200" dirty="0">
                <a:solidFill>
                  <a:schemeClr val="tx1"/>
                </a:solidFill>
                <a:effectLst/>
                <a:latin typeface="+mn-lt"/>
                <a:ea typeface="+mn-ea"/>
                <a:cs typeface="+mn-cs"/>
              </a:rPr>
              <a:t>. Mainstream economic theory was built in the 19th century by borrow-and-adapting equilibrium math from classical physics. </a:t>
            </a:r>
          </a:p>
          <a:p>
            <a:r>
              <a:rPr lang="en-US" sz="1200" kern="1200" dirty="0">
                <a:solidFill>
                  <a:schemeClr val="tx1"/>
                </a:solidFill>
                <a:effectLst/>
                <a:latin typeface="+mn-lt"/>
                <a:ea typeface="+mn-ea"/>
                <a:cs typeface="+mn-cs"/>
              </a:rPr>
              <a:t>On the left, you see </a:t>
            </a:r>
            <a:r>
              <a:rPr lang="en-US" sz="1200" b="1" kern="1200" dirty="0">
                <a:solidFill>
                  <a:schemeClr val="tx1"/>
                </a:solidFill>
                <a:effectLst/>
                <a:latin typeface="+mn-lt"/>
                <a:ea typeface="+mn-ea"/>
                <a:cs typeface="+mn-cs"/>
              </a:rPr>
              <a:t>The Textbook Illusion</a:t>
            </a:r>
            <a:r>
              <a:rPr lang="en-US" sz="1200" kern="1200" dirty="0">
                <a:solidFill>
                  <a:schemeClr val="tx1"/>
                </a:solidFill>
                <a:effectLst/>
                <a:latin typeface="+mn-lt"/>
                <a:ea typeface="+mn-ea"/>
                <a:cs typeface="+mn-cs"/>
              </a:rPr>
              <a:t>. Standard models assume that an economy is naturally self-balancing. When hit by an external shock—like a supply chain disruption or a oil crisis—the economy is assumed to smoothly settle back into a stable state of equilibrium. </a:t>
            </a:r>
          </a:p>
          <a:p>
            <a:r>
              <a:rPr lang="en-US" sz="1200" kern="1200" dirty="0">
                <a:solidFill>
                  <a:schemeClr val="tx1"/>
                </a:solidFill>
                <a:effectLst/>
                <a:latin typeface="+mn-lt"/>
                <a:ea typeface="+mn-ea"/>
                <a:cs typeface="+mn-cs"/>
              </a:rPr>
              <a:t>On the right, you see </a:t>
            </a:r>
            <a:r>
              <a:rPr lang="en-US" sz="1200" b="1" kern="1200" dirty="0">
                <a:solidFill>
                  <a:schemeClr val="tx1"/>
                </a:solidFill>
                <a:effectLst/>
                <a:latin typeface="+mn-lt"/>
                <a:ea typeface="+mn-ea"/>
                <a:cs typeface="+mn-cs"/>
              </a:rPr>
              <a:t>The Reality</a:t>
            </a:r>
            <a:r>
              <a:rPr lang="en-US" sz="1200" kern="1200" dirty="0">
                <a:solidFill>
                  <a:schemeClr val="tx1"/>
                </a:solidFill>
                <a:effectLst/>
                <a:latin typeface="+mn-lt"/>
                <a:ea typeface="+mn-ea"/>
                <a:cs typeface="+mn-cs"/>
              </a:rPr>
              <a:t>. Real-world capitalism is not a mechanical scale; it is a complex, non-linear, evolutionary system operating far from equilibrium. Much like a Lorenz strange attractor in chaos theory, capitalism is dynamic and constantly shifting. It never 'settles'. Trying to manage a complex, evolving market with static equilibrium models is like trying to navigate a turbulent storm using a map of a still lake. </a:t>
            </a:r>
          </a:p>
          <a:p>
            <a:endParaRPr lang="en-US" dirty="0"/>
          </a:p>
        </p:txBody>
      </p:sp>
      <p:sp>
        <p:nvSpPr>
          <p:cNvPr id="4" name="Slide Number Placeholder 3"/>
          <p:cNvSpPr>
            <a:spLocks noGrp="1"/>
          </p:cNvSpPr>
          <p:nvPr>
            <p:ph type="sldNum" sz="quarter" idx="5"/>
          </p:nvPr>
        </p:nvSpPr>
        <p:spPr/>
        <p:txBody>
          <a:bodyPr/>
          <a:lstStyle/>
          <a:p>
            <a:fld id="{7E3F6E52-E4A7-402E-8E0B-8AB9539621E0}" type="slidenum">
              <a:rPr lang="en-US" smtClean="0"/>
              <a:t>2</a:t>
            </a:fld>
            <a:endParaRPr lang="en-US"/>
          </a:p>
        </p:txBody>
      </p:sp>
    </p:spTree>
    <p:extLst>
      <p:ext uri="{BB962C8B-B14F-4D97-AF65-F5344CB8AC3E}">
        <p14:creationId xmlns:p14="http://schemas.microsoft.com/office/powerpoint/2010/main" val="11283150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Myth Number One in standard textbooks is the assumption that </a:t>
            </a:r>
            <a:r>
              <a:rPr lang="en-US" sz="1200" b="1" kern="1200" dirty="0">
                <a:solidFill>
                  <a:schemeClr val="tx1"/>
                </a:solidFill>
                <a:effectLst/>
                <a:latin typeface="+mn-lt"/>
                <a:ea typeface="+mn-ea"/>
                <a:cs typeface="+mn-cs"/>
              </a:rPr>
              <a:t>Goods are Homogeneous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textbook assumption assumes that markets consist of countless tiny firms competing purely on price to sell identical products—think of identical bundles of wheat. In this fantasy world, no single firm has market power, and product variation doesn't exist. </a:t>
            </a:r>
          </a:p>
          <a:p>
            <a:r>
              <a:rPr lang="en-US" sz="1200" kern="1200" dirty="0">
                <a:solidFill>
                  <a:schemeClr val="tx1"/>
                </a:solidFill>
                <a:effectLst/>
                <a:latin typeface="+mn-lt"/>
                <a:ea typeface="+mn-ea"/>
                <a:cs typeface="+mn-cs"/>
              </a:rPr>
              <a:t>But look at real-world dynamics on the right. Real companies—whether in automotive, tech, or consumer goods—don't compete by selling identical commodities on price alone. They carve out distinct niches, invest heavily in R&amp;D, and compete on product features, brand identity, and technological innovation. </a:t>
            </a:r>
          </a:p>
          <a:p>
            <a:r>
              <a:rPr lang="en-US" sz="1200" kern="1200" dirty="0">
                <a:solidFill>
                  <a:schemeClr val="tx1"/>
                </a:solidFill>
                <a:effectLst/>
                <a:latin typeface="+mn-lt"/>
                <a:ea typeface="+mn-ea"/>
                <a:cs typeface="+mn-cs"/>
              </a:rPr>
              <a:t>Differentiation and diversity are the true evolutionary drivers of capitalism. If an economic model assumes all goods are homogeneous, it ignores the engine of innovation itself. </a:t>
            </a:r>
          </a:p>
          <a:p>
            <a:endParaRPr lang="en-US" dirty="0"/>
          </a:p>
        </p:txBody>
      </p:sp>
      <p:sp>
        <p:nvSpPr>
          <p:cNvPr id="4" name="Slide Number Placeholder 3"/>
          <p:cNvSpPr>
            <a:spLocks noGrp="1"/>
          </p:cNvSpPr>
          <p:nvPr>
            <p:ph type="sldNum" sz="quarter" idx="5"/>
          </p:nvPr>
        </p:nvSpPr>
        <p:spPr/>
        <p:txBody>
          <a:bodyPr/>
          <a:lstStyle/>
          <a:p>
            <a:fld id="{7E3F6E52-E4A7-402E-8E0B-8AB9539621E0}" type="slidenum">
              <a:rPr lang="en-US" smtClean="0"/>
              <a:t>3</a:t>
            </a:fld>
            <a:endParaRPr lang="en-US"/>
          </a:p>
        </p:txBody>
      </p:sp>
    </p:spTree>
    <p:extLst>
      <p:ext uri="{BB962C8B-B14F-4D97-AF65-F5344CB8AC3E}">
        <p14:creationId xmlns:p14="http://schemas.microsoft.com/office/powerpoint/2010/main" val="2175216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look at the data behind cost structures. Every standard microeconomics course teaches the famous U-shaped marginal cost curve. They claim that as a firm expands output, costs eventually rise, creating an upward-sloping supply curve. </a:t>
            </a:r>
          </a:p>
          <a:p>
            <a:r>
              <a:rPr lang="en-US" sz="1200" kern="1200" dirty="0">
                <a:solidFill>
                  <a:schemeClr val="tx1"/>
                </a:solidFill>
                <a:effectLst/>
                <a:latin typeface="+mn-lt"/>
                <a:ea typeface="+mn-ea"/>
                <a:cs typeface="+mn-cs"/>
              </a:rPr>
              <a:t>But when renowned economist Alan Blinder surveyed real-world business executives, the empirical findings shattered this textbook rule: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Only </a:t>
            </a:r>
            <a:r>
              <a:rPr lang="en-US" sz="1200" b="1" kern="1200" dirty="0">
                <a:solidFill>
                  <a:schemeClr val="tx1"/>
                </a:solidFill>
                <a:effectLst/>
                <a:latin typeface="+mn-lt"/>
                <a:ea typeface="+mn-ea"/>
                <a:cs typeface="+mn-cs"/>
              </a:rPr>
              <a:t>11%</a:t>
            </a:r>
            <a:r>
              <a:rPr lang="en-US" sz="1200" kern="1200" dirty="0">
                <a:solidFill>
                  <a:schemeClr val="tx1"/>
                </a:solidFill>
                <a:effectLst/>
                <a:latin typeface="+mn-lt"/>
                <a:ea typeface="+mn-ea"/>
                <a:cs typeface="+mn-cs"/>
              </a:rPr>
              <a:t> of GDP is produced under conditions of rising marginal costs.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 staggering </a:t>
            </a:r>
            <a:r>
              <a:rPr lang="en-US" sz="1200" b="1" kern="1200" dirty="0">
                <a:solidFill>
                  <a:schemeClr val="tx1"/>
                </a:solidFill>
                <a:effectLst/>
                <a:latin typeface="+mn-lt"/>
                <a:ea typeface="+mn-ea"/>
                <a:cs typeface="+mn-cs"/>
              </a:rPr>
              <a:t>89%</a:t>
            </a:r>
            <a:r>
              <a:rPr lang="en-US" sz="1200" kern="1200" dirty="0">
                <a:solidFill>
                  <a:schemeClr val="tx1"/>
                </a:solidFill>
                <a:effectLst/>
                <a:latin typeface="+mn-lt"/>
                <a:ea typeface="+mn-ea"/>
                <a:cs typeface="+mn-cs"/>
              </a:rPr>
              <a:t> of firms reported that their marginal costs are either constant or </a:t>
            </a:r>
            <a:r>
              <a:rPr lang="en-US" sz="1200" i="1" kern="1200" dirty="0">
                <a:solidFill>
                  <a:schemeClr val="tx1"/>
                </a:solidFill>
                <a:effectLst/>
                <a:latin typeface="+mn-lt"/>
                <a:ea typeface="+mn-ea"/>
                <a:cs typeface="+mn-cs"/>
              </a:rPr>
              <a:t>falling</a:t>
            </a:r>
            <a:r>
              <a:rPr lang="en-US" sz="1200" kern="1200" dirty="0">
                <a:solidFill>
                  <a:schemeClr val="tx1"/>
                </a:solidFill>
                <a:effectLst/>
                <a:latin typeface="+mn-lt"/>
                <a:ea typeface="+mn-ea"/>
                <a:cs typeface="+mn-cs"/>
              </a:rPr>
              <a:t> all the way up to full operating capacity. </a:t>
            </a:r>
          </a:p>
          <a:p>
            <a:r>
              <a:rPr lang="en-US" sz="1200" kern="1200" dirty="0">
                <a:solidFill>
                  <a:schemeClr val="tx1"/>
                </a:solidFill>
                <a:effectLst/>
                <a:latin typeface="+mn-lt"/>
                <a:ea typeface="+mn-ea"/>
                <a:cs typeface="+mn-cs"/>
              </a:rPr>
              <a:t>The foundational upward-sloping supply curve taught in every intro economics class is an empirical myth. In real industrial production, economies of scale dominate up to capacity. </a:t>
            </a:r>
          </a:p>
          <a:p>
            <a:endParaRPr lang="en-US" dirty="0"/>
          </a:p>
        </p:txBody>
      </p:sp>
      <p:sp>
        <p:nvSpPr>
          <p:cNvPr id="4" name="Slide Number Placeholder 3"/>
          <p:cNvSpPr>
            <a:spLocks noGrp="1"/>
          </p:cNvSpPr>
          <p:nvPr>
            <p:ph type="sldNum" sz="quarter" idx="5"/>
          </p:nvPr>
        </p:nvSpPr>
        <p:spPr/>
        <p:txBody>
          <a:bodyPr/>
          <a:lstStyle/>
          <a:p>
            <a:fld id="{7E3F6E52-E4A7-402E-8E0B-8AB9539621E0}" type="slidenum">
              <a:rPr lang="en-US" smtClean="0"/>
              <a:t>4</a:t>
            </a:fld>
            <a:endParaRPr lang="en-US"/>
          </a:p>
        </p:txBody>
      </p:sp>
    </p:spTree>
    <p:extLst>
      <p:ext uri="{BB962C8B-B14F-4D97-AF65-F5344CB8AC3E}">
        <p14:creationId xmlns:p14="http://schemas.microsoft.com/office/powerpoint/2010/main" val="19739270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Myth Number Two is </a:t>
            </a:r>
            <a:r>
              <a:rPr lang="en-US" sz="1200" b="1" kern="1200" dirty="0">
                <a:solidFill>
                  <a:schemeClr val="tx1"/>
                </a:solidFill>
                <a:effectLst/>
                <a:latin typeface="+mn-lt"/>
                <a:ea typeface="+mn-ea"/>
                <a:cs typeface="+mn-cs"/>
              </a:rPr>
              <a:t>The Representative Firm</a:t>
            </a:r>
            <a:r>
              <a:rPr lang="en-US" sz="1200" kern="1200" dirty="0">
                <a:solidFill>
                  <a:schemeClr val="tx1"/>
                </a:solidFill>
                <a:effectLst/>
                <a:latin typeface="+mn-lt"/>
                <a:ea typeface="+mn-ea"/>
                <a:cs typeface="+mn-cs"/>
              </a:rPr>
              <a:t>. To simplify their equations, mainstream models invent an 'average' or representative firm to represent an entire industry. </a:t>
            </a:r>
          </a:p>
          <a:p>
            <a:r>
              <a:rPr lang="en-US" sz="1200" kern="1200" dirty="0">
                <a:solidFill>
                  <a:schemeClr val="tx1"/>
                </a:solidFill>
                <a:effectLst/>
                <a:latin typeface="+mn-lt"/>
                <a:ea typeface="+mn-ea"/>
                <a:cs typeface="+mn-cs"/>
              </a:rPr>
              <a:t>However, real-world industries do not follow normal distribution curves around a neat average; they follow </a:t>
            </a:r>
            <a:r>
              <a:rPr lang="en-US" sz="1200" b="1" kern="1200" dirty="0">
                <a:solidFill>
                  <a:schemeClr val="tx1"/>
                </a:solidFill>
                <a:effectLst/>
                <a:latin typeface="+mn-lt"/>
                <a:ea typeface="+mn-ea"/>
                <a:cs typeface="+mn-cs"/>
              </a:rPr>
              <a:t>Power Laws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Take US agriculture—an industry often cited as a textbook example of perfect competition. The hard data shows that the bottom 65% of US wheat farms account for less than 2% of total output, while the top 2.5% of giant agribusinesses produce 37% of output. </a:t>
            </a:r>
          </a:p>
          <a:p>
            <a:r>
              <a:rPr lang="en-US" sz="1200" kern="1200" dirty="0">
                <a:solidFill>
                  <a:schemeClr val="tx1"/>
                </a:solidFill>
                <a:effectLst/>
                <a:latin typeface="+mn-lt"/>
                <a:ea typeface="+mn-ea"/>
                <a:cs typeface="+mn-cs"/>
              </a:rPr>
              <a:t>When an economic policy assumes all firms act like the average player, it completely misses how market power, concentration, and outsized innovators shape macroeconomic outcomes. </a:t>
            </a:r>
          </a:p>
          <a:p>
            <a:endParaRPr lang="en-US" dirty="0"/>
          </a:p>
        </p:txBody>
      </p:sp>
      <p:sp>
        <p:nvSpPr>
          <p:cNvPr id="4" name="Slide Number Placeholder 3"/>
          <p:cNvSpPr>
            <a:spLocks noGrp="1"/>
          </p:cNvSpPr>
          <p:nvPr>
            <p:ph type="sldNum" sz="quarter" idx="5"/>
          </p:nvPr>
        </p:nvSpPr>
        <p:spPr/>
        <p:txBody>
          <a:bodyPr/>
          <a:lstStyle/>
          <a:p>
            <a:fld id="{7E3F6E52-E4A7-402E-8E0B-8AB9539621E0}" type="slidenum">
              <a:rPr lang="en-US" smtClean="0"/>
              <a:t>5</a:t>
            </a:fld>
            <a:endParaRPr lang="en-US"/>
          </a:p>
        </p:txBody>
      </p:sp>
    </p:spTree>
    <p:extLst>
      <p:ext uri="{BB962C8B-B14F-4D97-AF65-F5344CB8AC3E}">
        <p14:creationId xmlns:p14="http://schemas.microsoft.com/office/powerpoint/2010/main" val="20643368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Perhaps the most dangerous misconception in mainstream policy is </a:t>
            </a:r>
            <a:r>
              <a:rPr lang="en-US" sz="1200" b="1" kern="1200" dirty="0">
                <a:solidFill>
                  <a:schemeClr val="tx1"/>
                </a:solidFill>
                <a:effectLst/>
                <a:latin typeface="+mn-lt"/>
                <a:ea typeface="+mn-ea"/>
                <a:cs typeface="+mn-cs"/>
              </a:rPr>
              <a:t>Myth 3: Banks are Just Middlemen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Textbooks teach the 'Loanable Funds' model, portraying banks as passive intermediaries that take money from savers and lend it out to borrowers. Under this view, banks cannot create money; they just move existing money around. </a:t>
            </a:r>
          </a:p>
          <a:p>
            <a:r>
              <a:rPr lang="en-US" sz="1200" kern="1200" dirty="0">
                <a:solidFill>
                  <a:schemeClr val="tx1"/>
                </a:solidFill>
                <a:effectLst/>
                <a:latin typeface="+mn-lt"/>
                <a:ea typeface="+mn-ea"/>
                <a:cs typeface="+mn-cs"/>
              </a:rPr>
              <a:t>The operational reality—validated by central banks like the Bank of England and the Federal Reserve—is </a:t>
            </a:r>
            <a:r>
              <a:rPr lang="en-US" sz="1200" b="1" kern="1200" dirty="0">
                <a:solidFill>
                  <a:schemeClr val="tx1"/>
                </a:solidFill>
                <a:effectLst/>
                <a:latin typeface="+mn-lt"/>
                <a:ea typeface="+mn-ea"/>
                <a:cs typeface="+mn-cs"/>
              </a:rPr>
              <a:t>Endogenous Money</a:t>
            </a:r>
            <a:r>
              <a:rPr lang="en-US" sz="1200" kern="1200" dirty="0">
                <a:solidFill>
                  <a:schemeClr val="tx1"/>
                </a:solidFill>
                <a:effectLst/>
                <a:latin typeface="+mn-lt"/>
                <a:ea typeface="+mn-ea"/>
                <a:cs typeface="+mn-cs"/>
              </a:rPr>
              <a:t>. Banks do not lend out existing deposits. When a bank issues a loan, it simultaneously creates a brand new deposit in the borrower's account out of thin air. </a:t>
            </a:r>
          </a:p>
          <a:p>
            <a:r>
              <a:rPr lang="en-US" sz="1200" kern="1200" dirty="0">
                <a:solidFill>
                  <a:schemeClr val="tx1"/>
                </a:solidFill>
                <a:effectLst/>
                <a:latin typeface="+mn-lt"/>
                <a:ea typeface="+mn-ea"/>
                <a:cs typeface="+mn-cs"/>
              </a:rPr>
              <a:t>Loans create deposits, not the other way around. Commercial banks actively expand the money supply and drive purchasing power whenever they extend credit. </a:t>
            </a:r>
          </a:p>
          <a:p>
            <a:endParaRPr lang="en-US" dirty="0"/>
          </a:p>
        </p:txBody>
      </p:sp>
      <p:sp>
        <p:nvSpPr>
          <p:cNvPr id="4" name="Slide Number Placeholder 3"/>
          <p:cNvSpPr>
            <a:spLocks noGrp="1"/>
          </p:cNvSpPr>
          <p:nvPr>
            <p:ph type="sldNum" sz="quarter" idx="5"/>
          </p:nvPr>
        </p:nvSpPr>
        <p:spPr/>
        <p:txBody>
          <a:bodyPr/>
          <a:lstStyle/>
          <a:p>
            <a:fld id="{7E3F6E52-E4A7-402E-8E0B-8AB9539621E0}" type="slidenum">
              <a:rPr lang="en-US" smtClean="0"/>
              <a:t>6</a:t>
            </a:fld>
            <a:endParaRPr lang="en-US"/>
          </a:p>
        </p:txBody>
      </p:sp>
    </p:spTree>
    <p:extLst>
      <p:ext uri="{BB962C8B-B14F-4D97-AF65-F5344CB8AC3E}">
        <p14:creationId xmlns:p14="http://schemas.microsoft.com/office/powerpoint/2010/main" val="34633708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Because mainstream models treated private debt as a 'pure redistribution' between savers and borrowers with no net impact on aggregate demand, they ignored private debt entirely. That is why almost no mainstream model foresaw the 2008 financial crisis. </a:t>
            </a:r>
          </a:p>
          <a:p>
            <a:r>
              <a:rPr lang="en-US" sz="1200" kern="1200" dirty="0">
                <a:solidFill>
                  <a:schemeClr val="tx1"/>
                </a:solidFill>
                <a:effectLst/>
                <a:latin typeface="+mn-lt"/>
                <a:ea typeface="+mn-ea"/>
                <a:cs typeface="+mn-cs"/>
              </a:rPr>
              <a:t>Look at the data on this slide from 1990 to 2015. There is a striking </a:t>
            </a:r>
            <a:r>
              <a:rPr lang="en-US" sz="1200" b="1" kern="1200" dirty="0">
                <a:solidFill>
                  <a:schemeClr val="tx1"/>
                </a:solidFill>
                <a:effectLst/>
                <a:latin typeface="+mn-lt"/>
                <a:ea typeface="+mn-ea"/>
                <a:cs typeface="+mn-cs"/>
              </a:rPr>
              <a:t>-0.91 correlation</a:t>
            </a:r>
            <a:r>
              <a:rPr lang="en-US" sz="1200" kern="1200" dirty="0">
                <a:solidFill>
                  <a:schemeClr val="tx1"/>
                </a:solidFill>
                <a:effectLst/>
                <a:latin typeface="+mn-lt"/>
                <a:ea typeface="+mn-ea"/>
                <a:cs typeface="+mn-cs"/>
              </a:rPr>
              <a:t> between private debt credit expansion and the unemployment rate. </a:t>
            </a:r>
          </a:p>
          <a:p>
            <a:r>
              <a:rPr lang="en-US" sz="1200" kern="1200" dirty="0">
                <a:solidFill>
                  <a:schemeClr val="tx1"/>
                </a:solidFill>
                <a:effectLst/>
                <a:latin typeface="+mn-lt"/>
                <a:ea typeface="+mn-ea"/>
                <a:cs typeface="+mn-cs"/>
              </a:rPr>
              <a:t>During the 2007–2009 crisis, as private credit plunged, unemployment spiked instantly. Private credit creation is the primary driver of financial booms and busts. If your model ignores private debt, you are navigating blind right before the next financial cliff. </a:t>
            </a:r>
          </a:p>
          <a:p>
            <a:endParaRPr lang="en-US" dirty="0"/>
          </a:p>
        </p:txBody>
      </p:sp>
      <p:sp>
        <p:nvSpPr>
          <p:cNvPr id="4" name="Slide Number Placeholder 3"/>
          <p:cNvSpPr>
            <a:spLocks noGrp="1"/>
          </p:cNvSpPr>
          <p:nvPr>
            <p:ph type="sldNum" sz="quarter" idx="5"/>
          </p:nvPr>
        </p:nvSpPr>
        <p:spPr/>
        <p:txBody>
          <a:bodyPr/>
          <a:lstStyle/>
          <a:p>
            <a:fld id="{7E3F6E52-E4A7-402E-8E0B-8AB9539621E0}" type="slidenum">
              <a:rPr lang="en-US" smtClean="0"/>
              <a:t>7</a:t>
            </a:fld>
            <a:endParaRPr lang="en-US"/>
          </a:p>
        </p:txBody>
      </p:sp>
    </p:spTree>
    <p:extLst>
      <p:ext uri="{BB962C8B-B14F-4D97-AF65-F5344CB8AC3E}">
        <p14:creationId xmlns:p14="http://schemas.microsoft.com/office/powerpoint/2010/main" val="24806890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Myth Number Five is the belief that </a:t>
            </a:r>
            <a:r>
              <a:rPr lang="en-US" sz="1200" b="1" kern="1200" dirty="0">
                <a:solidFill>
                  <a:schemeClr val="tx1"/>
                </a:solidFill>
                <a:effectLst/>
                <a:latin typeface="+mn-lt"/>
                <a:ea typeface="+mn-ea"/>
                <a:cs typeface="+mn-cs"/>
              </a:rPr>
              <a:t>The Economy is a Giant Household</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Politicians and textbook authors love to say, 'Just as a household must cut spending and save money during tough times, so must the national economy.' </a:t>
            </a:r>
          </a:p>
          <a:p>
            <a:r>
              <a:rPr lang="en-US" sz="1200" kern="1200" dirty="0">
                <a:solidFill>
                  <a:schemeClr val="tx1"/>
                </a:solidFill>
                <a:effectLst/>
                <a:latin typeface="+mn-lt"/>
                <a:ea typeface="+mn-ea"/>
                <a:cs typeface="+mn-cs"/>
              </a:rPr>
              <a:t>Standard models teach that if individuals increase their personal savings rate, those savings directly translate into higher aggregate investment. But applying household-level micro logic to macro systems leads directly to the Fallacy of Composition. </a:t>
            </a:r>
          </a:p>
          <a:p>
            <a:endParaRPr lang="en-US" dirty="0"/>
          </a:p>
        </p:txBody>
      </p:sp>
      <p:sp>
        <p:nvSpPr>
          <p:cNvPr id="4" name="Slide Number Placeholder 3"/>
          <p:cNvSpPr>
            <a:spLocks noGrp="1"/>
          </p:cNvSpPr>
          <p:nvPr>
            <p:ph type="sldNum" sz="quarter" idx="5"/>
          </p:nvPr>
        </p:nvSpPr>
        <p:spPr/>
        <p:txBody>
          <a:bodyPr/>
          <a:lstStyle/>
          <a:p>
            <a:fld id="{7E3F6E52-E4A7-402E-8E0B-8AB9539621E0}" type="slidenum">
              <a:rPr lang="en-US" smtClean="0"/>
              <a:t>8</a:t>
            </a:fld>
            <a:endParaRPr lang="en-US"/>
          </a:p>
        </p:txBody>
      </p:sp>
    </p:spTree>
    <p:extLst>
      <p:ext uri="{BB962C8B-B14F-4D97-AF65-F5344CB8AC3E}">
        <p14:creationId xmlns:p14="http://schemas.microsoft.com/office/powerpoint/2010/main" val="452137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is </a:t>
            </a:r>
            <a:r>
              <a:rPr lang="en-US" sz="1200" b="1" kern="1200" dirty="0">
                <a:solidFill>
                  <a:schemeClr val="tx1"/>
                </a:solidFill>
                <a:effectLst/>
                <a:latin typeface="+mn-lt"/>
                <a:ea typeface="+mn-ea"/>
                <a:cs typeface="+mn-cs"/>
              </a:rPr>
              <a:t>The Systemic Truth</a:t>
            </a:r>
            <a:r>
              <a:rPr lang="en-US" sz="1200" kern="1200" dirty="0">
                <a:solidFill>
                  <a:schemeClr val="tx1"/>
                </a:solidFill>
                <a:effectLst/>
                <a:latin typeface="+mn-lt"/>
                <a:ea typeface="+mn-ea"/>
                <a:cs typeface="+mn-cs"/>
              </a:rPr>
              <a:t>: My spending is your income, and your spending is my income. </a:t>
            </a:r>
          </a:p>
          <a:p>
            <a:r>
              <a:rPr lang="en-US" sz="1200" kern="1200" dirty="0">
                <a:solidFill>
                  <a:schemeClr val="tx1"/>
                </a:solidFill>
                <a:effectLst/>
                <a:latin typeface="+mn-lt"/>
                <a:ea typeface="+mn-ea"/>
                <a:cs typeface="+mn-cs"/>
              </a:rPr>
              <a:t>If every household simultaneously attempts to save more by cutting back on spending, total aggregate demand in the economy collapses. As sales drop, businesses suffer losses, lay off workers, and cancel investment projects. </a:t>
            </a:r>
          </a:p>
          <a:p>
            <a:r>
              <a:rPr lang="en-US" sz="1200" kern="1200" dirty="0">
                <a:solidFill>
                  <a:schemeClr val="tx1"/>
                </a:solidFill>
                <a:effectLst/>
                <a:latin typeface="+mn-lt"/>
                <a:ea typeface="+mn-ea"/>
                <a:cs typeface="+mn-cs"/>
              </a:rPr>
              <a:t>What works for a single individual in isolation actively damages the collective economy when done by everyone at once. The turnover velocity of money stalls, causing overall investment to fall rather than rise. </a:t>
            </a:r>
          </a:p>
          <a:p>
            <a:endParaRPr lang="en-US" dirty="0"/>
          </a:p>
        </p:txBody>
      </p:sp>
      <p:sp>
        <p:nvSpPr>
          <p:cNvPr id="4" name="Slide Number Placeholder 3"/>
          <p:cNvSpPr>
            <a:spLocks noGrp="1"/>
          </p:cNvSpPr>
          <p:nvPr>
            <p:ph type="sldNum" sz="quarter" idx="5"/>
          </p:nvPr>
        </p:nvSpPr>
        <p:spPr/>
        <p:txBody>
          <a:bodyPr/>
          <a:lstStyle/>
          <a:p>
            <a:fld id="{7E3F6E52-E4A7-402E-8E0B-8AB9539621E0}" type="slidenum">
              <a:rPr lang="en-US" smtClean="0"/>
              <a:t>9</a:t>
            </a:fld>
            <a:endParaRPr lang="en-US"/>
          </a:p>
        </p:txBody>
      </p:sp>
    </p:spTree>
    <p:extLst>
      <p:ext uri="{BB962C8B-B14F-4D97-AF65-F5344CB8AC3E}">
        <p14:creationId xmlns:p14="http://schemas.microsoft.com/office/powerpoint/2010/main" val="20169987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Myth Number Six touches on the physical reality of production: </a:t>
            </a:r>
            <a:r>
              <a:rPr lang="en-US" sz="1200" b="1" kern="1200" dirty="0">
                <a:solidFill>
                  <a:schemeClr val="tx1"/>
                </a:solidFill>
                <a:effectLst/>
                <a:latin typeface="+mn-lt"/>
                <a:ea typeface="+mn-ea"/>
                <a:cs typeface="+mn-cs"/>
              </a:rPr>
              <a:t>Energy is Treated as a Simple Substitute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Standard neoclassical models use production functions (like Cobb-Douglas) that treat labor, capital, and energy as interchangeable substitutes. In these equations, if energy becomes scarce or expensive, you can simply substitute it with more capital or labor. </a:t>
            </a:r>
          </a:p>
          <a:p>
            <a:r>
              <a:rPr lang="en-US" sz="1200" kern="1200" dirty="0">
                <a:solidFill>
                  <a:schemeClr val="tx1"/>
                </a:solidFill>
                <a:effectLst/>
                <a:latin typeface="+mn-lt"/>
                <a:ea typeface="+mn-ea"/>
                <a:cs typeface="+mn-cs"/>
              </a:rPr>
              <a:t>This is a profound physical delusion. As illustrated here, without energy: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Capital is just an inert sculpture.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Labor without energy is a corpse. </a:t>
            </a:r>
          </a:p>
          <a:p>
            <a:r>
              <a:rPr lang="en-US" sz="1200" kern="1200" dirty="0">
                <a:solidFill>
                  <a:schemeClr val="tx1"/>
                </a:solidFill>
                <a:effectLst/>
                <a:latin typeface="+mn-lt"/>
                <a:ea typeface="+mn-ea"/>
                <a:cs typeface="+mn-cs"/>
              </a:rPr>
              <a:t>Energy is not a minor input that can be swapped out; it is the fundamental spark that animates work. Labor, capital, and energy are structural </a:t>
            </a:r>
            <a:r>
              <a:rPr lang="en-US" sz="1200" i="1" kern="1200" dirty="0">
                <a:solidFill>
                  <a:schemeClr val="tx1"/>
                </a:solidFill>
                <a:effectLst/>
                <a:latin typeface="+mn-lt"/>
                <a:ea typeface="+mn-ea"/>
                <a:cs typeface="+mn-cs"/>
              </a:rPr>
              <a:t>complements</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7E3F6E52-E4A7-402E-8E0B-8AB9539621E0}" type="slidenum">
              <a:rPr lang="en-US" smtClean="0"/>
              <a:t>10</a:t>
            </a:fld>
            <a:endParaRPr lang="en-US"/>
          </a:p>
        </p:txBody>
      </p:sp>
    </p:spTree>
    <p:extLst>
      <p:ext uri="{BB962C8B-B14F-4D97-AF65-F5344CB8AC3E}">
        <p14:creationId xmlns:p14="http://schemas.microsoft.com/office/powerpoint/2010/main" val="16371641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energy </a:t>
            </a:r>
            <a:r>
              <a:rPr lang="en-US" sz="1200" kern="1200" dirty="0" err="1">
                <a:solidFill>
                  <a:schemeClr val="tx1"/>
                </a:solidFill>
                <a:effectLst/>
                <a:latin typeface="+mn-lt"/>
                <a:ea typeface="+mn-ea"/>
                <a:cs typeface="+mn-cs"/>
              </a:rPr>
              <a:t>blindspot</a:t>
            </a:r>
            <a:r>
              <a:rPr lang="en-US" sz="1200" kern="1200" dirty="0">
                <a:solidFill>
                  <a:schemeClr val="tx1"/>
                </a:solidFill>
                <a:effectLst/>
                <a:latin typeface="+mn-lt"/>
                <a:ea typeface="+mn-ea"/>
                <a:cs typeface="+mn-cs"/>
              </a:rPr>
              <a:t> leads to catastrophic real-world policy predictions. </a:t>
            </a:r>
          </a:p>
          <a:p>
            <a:r>
              <a:rPr lang="en-US" sz="1200" kern="1200" dirty="0">
                <a:solidFill>
                  <a:schemeClr val="tx1"/>
                </a:solidFill>
                <a:effectLst/>
                <a:latin typeface="+mn-lt"/>
                <a:ea typeface="+mn-ea"/>
                <a:cs typeface="+mn-cs"/>
              </a:rPr>
              <a:t>Because mainstream models assign energy a tiny cost-share weight in their equations, theoretical models predicted that a </a:t>
            </a:r>
            <a:r>
              <a:rPr lang="en-US" sz="1200" b="1" kern="1200" dirty="0">
                <a:solidFill>
                  <a:schemeClr val="tx1"/>
                </a:solidFill>
                <a:effectLst/>
                <a:latin typeface="+mn-lt"/>
                <a:ea typeface="+mn-ea"/>
                <a:cs typeface="+mn-cs"/>
              </a:rPr>
              <a:t>10% drop in energy supply</a:t>
            </a:r>
            <a:r>
              <a:rPr lang="en-US" sz="1200" kern="1200" dirty="0">
                <a:solidFill>
                  <a:schemeClr val="tx1"/>
                </a:solidFill>
                <a:effectLst/>
                <a:latin typeface="+mn-lt"/>
                <a:ea typeface="+mn-ea"/>
                <a:cs typeface="+mn-cs"/>
              </a:rPr>
              <a:t> would cause only a tiny </a:t>
            </a:r>
            <a:r>
              <a:rPr lang="en-US" sz="1200" b="1" kern="1200" dirty="0">
                <a:solidFill>
                  <a:schemeClr val="tx1"/>
                </a:solidFill>
                <a:effectLst/>
                <a:latin typeface="+mn-lt"/>
                <a:ea typeface="+mn-ea"/>
                <a:cs typeface="+mn-cs"/>
              </a:rPr>
              <a:t>0.4% drop in GDP</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Now look at the empirical data on the right. Gross World Product and Global Energy Use scale almost exactly </a:t>
            </a:r>
            <a:r>
              <a:rPr lang="en-US" sz="1200" b="1" kern="1200" dirty="0">
                <a:solidFill>
                  <a:schemeClr val="tx1"/>
                </a:solidFill>
                <a:effectLst/>
                <a:latin typeface="+mn-lt"/>
                <a:ea typeface="+mn-ea"/>
                <a:cs typeface="+mn-cs"/>
              </a:rPr>
              <a:t>1-for-1</a:t>
            </a:r>
            <a:r>
              <a:rPr lang="en-US" sz="1200" kern="1200" dirty="0">
                <a:solidFill>
                  <a:schemeClr val="tx1"/>
                </a:solidFill>
                <a:effectLst/>
                <a:latin typeface="+mn-lt"/>
                <a:ea typeface="+mn-ea"/>
                <a:cs typeface="+mn-cs"/>
              </a:rPr>
              <a:t>. In the physical world, a 10% reduction in available useful energy causes approximately a </a:t>
            </a:r>
            <a:r>
              <a:rPr lang="en-US" sz="1200" b="1" kern="1200" dirty="0">
                <a:solidFill>
                  <a:schemeClr val="tx1"/>
                </a:solidFill>
                <a:effectLst/>
                <a:latin typeface="+mn-lt"/>
                <a:ea typeface="+mn-ea"/>
                <a:cs typeface="+mn-cs"/>
              </a:rPr>
              <a:t>10% drop in GDP</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Treating energy constraints as trivial variables causes economists to severely underestimate geopolitical shocks and climate policy impacts. </a:t>
            </a:r>
          </a:p>
          <a:p>
            <a:endParaRPr lang="en-US" dirty="0"/>
          </a:p>
        </p:txBody>
      </p:sp>
      <p:sp>
        <p:nvSpPr>
          <p:cNvPr id="4" name="Slide Number Placeholder 3"/>
          <p:cNvSpPr>
            <a:spLocks noGrp="1"/>
          </p:cNvSpPr>
          <p:nvPr>
            <p:ph type="sldNum" sz="quarter" idx="5"/>
          </p:nvPr>
        </p:nvSpPr>
        <p:spPr/>
        <p:txBody>
          <a:bodyPr/>
          <a:lstStyle/>
          <a:p>
            <a:fld id="{7E3F6E52-E4A7-402E-8E0B-8AB9539621E0}" type="slidenum">
              <a:rPr lang="en-US" smtClean="0"/>
              <a:t>11</a:t>
            </a:fld>
            <a:endParaRPr lang="en-US"/>
          </a:p>
        </p:txBody>
      </p:sp>
    </p:spTree>
    <p:extLst>
      <p:ext uri="{BB962C8B-B14F-4D97-AF65-F5344CB8AC3E}">
        <p14:creationId xmlns:p14="http://schemas.microsoft.com/office/powerpoint/2010/main" val="28645179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synthesize what we've covered, let's review </a:t>
            </a:r>
            <a:r>
              <a:rPr lang="en-US" sz="1200" b="1" kern="1200" dirty="0">
                <a:solidFill>
                  <a:schemeClr val="tx1"/>
                </a:solidFill>
                <a:effectLst/>
                <a:latin typeface="+mn-lt"/>
                <a:ea typeface="+mn-ea"/>
                <a:cs typeface="+mn-cs"/>
              </a:rPr>
              <a:t>The Paradigm Matrix</a:t>
            </a:r>
            <a:r>
              <a:rPr lang="en-US" sz="1200" kern="1200" dirty="0">
                <a:solidFill>
                  <a:schemeClr val="tx1"/>
                </a:solidFill>
                <a:effectLst/>
                <a:latin typeface="+mn-lt"/>
                <a:ea typeface="+mn-ea"/>
                <a:cs typeface="+mn-cs"/>
              </a:rPr>
              <a:t> comparing the Neoclassical Illusion against Evolutionary Reality: </a:t>
            </a:r>
          </a:p>
          <a:p>
            <a:pPr marL="228600" lvl="0" indent="-228600">
              <a:buFont typeface="+mj-lt"/>
              <a:buAutoNum type="arabicPeriod"/>
            </a:pPr>
            <a:r>
              <a:rPr lang="en-US" sz="1200" b="1" kern="1200" dirty="0">
                <a:solidFill>
                  <a:schemeClr val="tx1"/>
                </a:solidFill>
                <a:effectLst/>
                <a:latin typeface="+mn-lt"/>
                <a:ea typeface="+mn-ea"/>
                <a:cs typeface="+mn-cs"/>
              </a:rPr>
              <a:t>Markets</a:t>
            </a:r>
            <a:r>
              <a:rPr lang="en-US" sz="1200" kern="1200" dirty="0">
                <a:solidFill>
                  <a:schemeClr val="tx1"/>
                </a:solidFill>
                <a:effectLst/>
                <a:latin typeface="+mn-lt"/>
                <a:ea typeface="+mn-ea"/>
                <a:cs typeface="+mn-cs"/>
              </a:rPr>
              <a:t>: Neoclassical models assume Perfect Competition. Reality shows Monopolistic Power Laws. </a:t>
            </a:r>
          </a:p>
          <a:p>
            <a:pPr marL="228600" lvl="0" indent="-228600">
              <a:buFont typeface="+mj-lt"/>
              <a:buAutoNum type="arabicPeriod"/>
            </a:pPr>
            <a:r>
              <a:rPr lang="en-US" sz="1200" b="1" kern="1200" dirty="0">
                <a:solidFill>
                  <a:schemeClr val="tx1"/>
                </a:solidFill>
                <a:effectLst/>
                <a:latin typeface="+mn-lt"/>
                <a:ea typeface="+mn-ea"/>
                <a:cs typeface="+mn-cs"/>
              </a:rPr>
              <a:t>System State</a:t>
            </a:r>
            <a:r>
              <a:rPr lang="en-US" sz="1200" kern="1200" dirty="0">
                <a:solidFill>
                  <a:schemeClr val="tx1"/>
                </a:solidFill>
                <a:effectLst/>
                <a:latin typeface="+mn-lt"/>
                <a:ea typeface="+mn-ea"/>
                <a:cs typeface="+mn-cs"/>
              </a:rPr>
              <a:t>: Textbooks assume an economy settles into Equilibrium. Reality exhibits Constant Evolutionary Change. </a:t>
            </a:r>
          </a:p>
          <a:p>
            <a:pPr marL="228600" lvl="0" indent="-228600">
              <a:buFont typeface="+mj-lt"/>
              <a:buAutoNum type="arabicPeriod"/>
            </a:pPr>
            <a:r>
              <a:rPr lang="en-US" sz="1200" b="1" kern="1200" dirty="0">
                <a:solidFill>
                  <a:schemeClr val="tx1"/>
                </a:solidFill>
                <a:effectLst/>
                <a:latin typeface="+mn-lt"/>
                <a:ea typeface="+mn-ea"/>
                <a:cs typeface="+mn-cs"/>
              </a:rPr>
              <a:t>Money</a:t>
            </a:r>
            <a:r>
              <a:rPr lang="en-US" sz="1200" kern="1200" dirty="0">
                <a:solidFill>
                  <a:schemeClr val="tx1"/>
                </a:solidFill>
                <a:effectLst/>
                <a:latin typeface="+mn-lt"/>
                <a:ea typeface="+mn-ea"/>
                <a:cs typeface="+mn-cs"/>
              </a:rPr>
              <a:t>: Models view banks as passive intermediaries. Reality shows banks actively create money. </a:t>
            </a:r>
          </a:p>
          <a:p>
            <a:pPr marL="228600" lvl="0" indent="-228600">
              <a:buFont typeface="+mj-lt"/>
              <a:buAutoNum type="arabicPeriod"/>
            </a:pPr>
            <a:r>
              <a:rPr lang="en-US" sz="1200" b="1" kern="1200" dirty="0">
                <a:solidFill>
                  <a:schemeClr val="tx1"/>
                </a:solidFill>
                <a:effectLst/>
                <a:latin typeface="+mn-lt"/>
                <a:ea typeface="+mn-ea"/>
                <a:cs typeface="+mn-cs"/>
              </a:rPr>
              <a:t>Macro</a:t>
            </a:r>
            <a:r>
              <a:rPr lang="en-US" sz="1200" kern="1200" dirty="0">
                <a:solidFill>
                  <a:schemeClr val="tx1"/>
                </a:solidFill>
                <a:effectLst/>
                <a:latin typeface="+mn-lt"/>
                <a:ea typeface="+mn-ea"/>
                <a:cs typeface="+mn-cs"/>
              </a:rPr>
              <a:t>: Textbooks model the economy like a single household. Reality is an interdependent complex system. </a:t>
            </a:r>
          </a:p>
          <a:p>
            <a:pPr marL="228600" lvl="0" indent="-228600">
              <a:buFont typeface="+mj-lt"/>
              <a:buAutoNum type="arabicPeriod"/>
            </a:pPr>
            <a:r>
              <a:rPr lang="en-US" sz="1200" b="1" kern="1200" dirty="0">
                <a:solidFill>
                  <a:schemeClr val="tx1"/>
                </a:solidFill>
                <a:effectLst/>
                <a:latin typeface="+mn-lt"/>
                <a:ea typeface="+mn-ea"/>
                <a:cs typeface="+mn-cs"/>
              </a:rPr>
              <a:t>Physical Rules</a:t>
            </a:r>
            <a:r>
              <a:rPr lang="en-US" sz="1200" kern="1200" dirty="0">
                <a:solidFill>
                  <a:schemeClr val="tx1"/>
                </a:solidFill>
                <a:effectLst/>
                <a:latin typeface="+mn-lt"/>
                <a:ea typeface="+mn-ea"/>
                <a:cs typeface="+mn-cs"/>
              </a:rPr>
              <a:t>: Standard theory treats energy as substitutable. Physical reality proves energy is the ultimate constraint. </a:t>
            </a:r>
          </a:p>
          <a:p>
            <a:endParaRPr lang="en-US" dirty="0"/>
          </a:p>
        </p:txBody>
      </p:sp>
      <p:sp>
        <p:nvSpPr>
          <p:cNvPr id="4" name="Slide Number Placeholder 3"/>
          <p:cNvSpPr>
            <a:spLocks noGrp="1"/>
          </p:cNvSpPr>
          <p:nvPr>
            <p:ph type="sldNum" sz="quarter" idx="5"/>
          </p:nvPr>
        </p:nvSpPr>
        <p:spPr/>
        <p:txBody>
          <a:bodyPr/>
          <a:lstStyle/>
          <a:p>
            <a:fld id="{7E3F6E52-E4A7-402E-8E0B-8AB9539621E0}" type="slidenum">
              <a:rPr lang="en-US" smtClean="0"/>
              <a:t>12</a:t>
            </a:fld>
            <a:endParaRPr lang="en-US"/>
          </a:p>
        </p:txBody>
      </p:sp>
    </p:spTree>
    <p:extLst>
      <p:ext uri="{BB962C8B-B14F-4D97-AF65-F5344CB8AC3E}">
        <p14:creationId xmlns:p14="http://schemas.microsoft.com/office/powerpoint/2010/main" val="41957165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Whenever you evaluate an economic proposal, market forecast, or policy paper, apply this </a:t>
            </a:r>
            <a:r>
              <a:rPr lang="en-US" sz="1200" b="1" kern="1200" dirty="0">
                <a:solidFill>
                  <a:schemeClr val="tx1"/>
                </a:solidFill>
                <a:effectLst/>
                <a:latin typeface="+mn-lt"/>
                <a:ea typeface="+mn-ea"/>
                <a:cs typeface="+mn-cs"/>
              </a:rPr>
              <a:t>4-Question Litmus Test</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Does it assume equilibrium?</a:t>
            </a:r>
            <a:r>
              <a:rPr lang="en-US" sz="1200" kern="1200" dirty="0">
                <a:solidFill>
                  <a:schemeClr val="tx1"/>
                </a:solidFill>
                <a:effectLst/>
                <a:latin typeface="+mn-lt"/>
                <a:ea typeface="+mn-ea"/>
                <a:cs typeface="+mn-cs"/>
              </a:rPr>
              <a:t> If yes, it ignores complex systems and structural evolution. </a:t>
            </a:r>
          </a:p>
          <a:p>
            <a:pPr marL="228600" lvl="0" indent="-228600">
              <a:buFont typeface="+mj-lt"/>
              <a:buAutoNum type="arabicPeriod"/>
            </a:pPr>
            <a:r>
              <a:rPr lang="en-US" sz="1200" b="1" kern="1200" dirty="0">
                <a:solidFill>
                  <a:schemeClr val="tx1"/>
                </a:solidFill>
                <a:effectLst/>
                <a:latin typeface="+mn-lt"/>
                <a:ea typeface="+mn-ea"/>
                <a:cs typeface="+mn-cs"/>
              </a:rPr>
              <a:t>Does it track private debt?</a:t>
            </a:r>
            <a:r>
              <a:rPr lang="en-US" sz="1200" kern="1200" dirty="0">
                <a:solidFill>
                  <a:schemeClr val="tx1"/>
                </a:solidFill>
                <a:effectLst/>
                <a:latin typeface="+mn-lt"/>
                <a:ea typeface="+mn-ea"/>
                <a:cs typeface="+mn-cs"/>
              </a:rPr>
              <a:t> If ignored, it is blind to credit cycles and financial fragility. </a:t>
            </a:r>
          </a:p>
          <a:p>
            <a:pPr marL="228600" lvl="0" indent="-228600">
              <a:buFont typeface="+mj-lt"/>
              <a:buAutoNum type="arabicPeriod"/>
            </a:pPr>
            <a:r>
              <a:rPr lang="en-US" sz="1200" b="1" kern="1200" dirty="0">
                <a:solidFill>
                  <a:schemeClr val="tx1"/>
                </a:solidFill>
                <a:effectLst/>
                <a:latin typeface="+mn-lt"/>
                <a:ea typeface="+mn-ea"/>
                <a:cs typeface="+mn-cs"/>
              </a:rPr>
              <a:t>Does it scale up correctly?</a:t>
            </a:r>
            <a:r>
              <a:rPr lang="en-US" sz="1200" kern="1200" dirty="0">
                <a:solidFill>
                  <a:schemeClr val="tx1"/>
                </a:solidFill>
                <a:effectLst/>
                <a:latin typeface="+mn-lt"/>
                <a:ea typeface="+mn-ea"/>
                <a:cs typeface="+mn-cs"/>
              </a:rPr>
              <a:t> If it applies household savings rules to macro economies, it suffers from the fallacy of composition. </a:t>
            </a:r>
          </a:p>
          <a:p>
            <a:pPr marL="228600" lvl="0" indent="-228600">
              <a:buFont typeface="+mj-lt"/>
              <a:buAutoNum type="arabicPeriod"/>
            </a:pPr>
            <a:r>
              <a:rPr lang="en-US" sz="1200" b="1" kern="1200" dirty="0">
                <a:solidFill>
                  <a:schemeClr val="tx1"/>
                </a:solidFill>
                <a:effectLst/>
                <a:latin typeface="+mn-lt"/>
                <a:ea typeface="+mn-ea"/>
                <a:cs typeface="+mn-cs"/>
              </a:rPr>
              <a:t>What are the physical constraints?</a:t>
            </a:r>
            <a:r>
              <a:rPr lang="en-US" sz="1200" kern="1200" dirty="0">
                <a:solidFill>
                  <a:schemeClr val="tx1"/>
                </a:solidFill>
                <a:effectLst/>
                <a:latin typeface="+mn-lt"/>
                <a:ea typeface="+mn-ea"/>
                <a:cs typeface="+mn-cs"/>
              </a:rPr>
              <a:t> If it assumes infinite output growth without accounting for energy inputs, it is fiction. </a:t>
            </a:r>
          </a:p>
          <a:p>
            <a:endParaRPr lang="en-US" dirty="0"/>
          </a:p>
        </p:txBody>
      </p:sp>
      <p:sp>
        <p:nvSpPr>
          <p:cNvPr id="4" name="Slide Number Placeholder 3"/>
          <p:cNvSpPr>
            <a:spLocks noGrp="1"/>
          </p:cNvSpPr>
          <p:nvPr>
            <p:ph type="sldNum" sz="quarter" idx="5"/>
          </p:nvPr>
        </p:nvSpPr>
        <p:spPr/>
        <p:txBody>
          <a:bodyPr/>
          <a:lstStyle/>
          <a:p>
            <a:fld id="{7E3F6E52-E4A7-402E-8E0B-8AB9539621E0}" type="slidenum">
              <a:rPr lang="en-US" smtClean="0"/>
              <a:t>13</a:t>
            </a:fld>
            <a:endParaRPr lang="en-US"/>
          </a:p>
        </p:txBody>
      </p:sp>
    </p:spTree>
    <p:extLst>
      <p:ext uri="{BB962C8B-B14F-4D97-AF65-F5344CB8AC3E}">
        <p14:creationId xmlns:p14="http://schemas.microsoft.com/office/powerpoint/2010/main" val="30589716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wrap up our session, this executive summary maps out </a:t>
            </a:r>
            <a:r>
              <a:rPr lang="en-US" sz="1200" b="1" kern="1200" dirty="0">
                <a:solidFill>
                  <a:schemeClr val="tx1"/>
                </a:solidFill>
                <a:effectLst/>
                <a:latin typeface="+mn-lt"/>
                <a:ea typeface="+mn-ea"/>
                <a:cs typeface="+mn-cs"/>
              </a:rPr>
              <a:t>The Economic Heretic's Guide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Theoretical Myths</a:t>
            </a:r>
            <a:r>
              <a:rPr lang="en-US" sz="1200" kern="1200" dirty="0">
                <a:solidFill>
                  <a:schemeClr val="tx1"/>
                </a:solidFill>
                <a:effectLst/>
                <a:latin typeface="+mn-lt"/>
                <a:ea typeface="+mn-ea"/>
                <a:cs typeface="+mn-cs"/>
              </a:rPr>
              <a:t>: We must abandon static equilibrium, rising marginal cost assumptions, and uniform firm models.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Real-World Drivers</a:t>
            </a:r>
            <a:r>
              <a:rPr lang="en-US" sz="1200" kern="1200" dirty="0">
                <a:solidFill>
                  <a:schemeClr val="tx1"/>
                </a:solidFill>
                <a:effectLst/>
                <a:latin typeface="+mn-lt"/>
                <a:ea typeface="+mn-ea"/>
                <a:cs typeface="+mn-cs"/>
              </a:rPr>
              <a:t>: Private debt expansion and endogenous bank money creation are the true engines of macroeconomic fluctuations.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Physical Realities</a:t>
            </a:r>
            <a:r>
              <a:rPr lang="en-US" sz="1200" kern="1200" dirty="0">
                <a:solidFill>
                  <a:schemeClr val="tx1"/>
                </a:solidFill>
                <a:effectLst/>
                <a:latin typeface="+mn-lt"/>
                <a:ea typeface="+mn-ea"/>
                <a:cs typeface="+mn-cs"/>
              </a:rPr>
              <a:t>: Energy and resource availability set the true boundary conditions for global output. </a:t>
            </a:r>
          </a:p>
          <a:p>
            <a:r>
              <a:rPr lang="en-US" sz="1200" kern="1200" dirty="0">
                <a:solidFill>
                  <a:schemeClr val="tx1"/>
                </a:solidFill>
                <a:effectLst/>
                <a:latin typeface="+mn-lt"/>
                <a:ea typeface="+mn-ea"/>
                <a:cs typeface="+mn-cs"/>
              </a:rPr>
              <a:t>By tracking the money, tracking private debt, respecting energy limits, and thinking in evolutionary systems, we can finally understand how capitalism actually works. Thank you!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https://www.youtube.com/watch?v=M1odc6itzyk</a:t>
            </a:r>
          </a:p>
          <a:p>
            <a:endParaRPr lang="en-US" dirty="0"/>
          </a:p>
        </p:txBody>
      </p:sp>
      <p:sp>
        <p:nvSpPr>
          <p:cNvPr id="4" name="Slide Number Placeholder 3"/>
          <p:cNvSpPr>
            <a:spLocks noGrp="1"/>
          </p:cNvSpPr>
          <p:nvPr>
            <p:ph type="sldNum" sz="quarter" idx="5"/>
          </p:nvPr>
        </p:nvSpPr>
        <p:spPr/>
        <p:txBody>
          <a:bodyPr/>
          <a:lstStyle/>
          <a:p>
            <a:fld id="{7E3F6E52-E4A7-402E-8E0B-8AB9539621E0}" type="slidenum">
              <a:rPr lang="en-US" smtClean="0"/>
              <a:t>14</a:t>
            </a:fld>
            <a:endParaRPr lang="en-US"/>
          </a:p>
        </p:txBody>
      </p:sp>
    </p:spTree>
    <p:extLst>
      <p:ext uri="{BB962C8B-B14F-4D97-AF65-F5344CB8AC3E}">
        <p14:creationId xmlns:p14="http://schemas.microsoft.com/office/powerpoint/2010/main" val="33864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6C870D-E1FB-72B1-77FB-FCA9E907717F}"/>
              </a:ext>
            </a:extLst>
          </p:cNvPr>
          <p:cNvSpPr>
            <a:spLocks noGrp="1"/>
          </p:cNvSpPr>
          <p:nvPr>
            <p:ph type="dt" sz="half" idx="10"/>
          </p:nvPr>
        </p:nvSpPr>
        <p:spPr/>
        <p:txBody>
          <a:bodyPr/>
          <a:lstStyle/>
          <a:p>
            <a:fld id="{5764EC99-EE68-45B2-9A19-B7A4D19C3F13}" type="datetimeFigureOut">
              <a:rPr lang="en-US" smtClean="0"/>
              <a:t>10/20/2026</a:t>
            </a:fld>
            <a:endParaRPr lang="en-US"/>
          </a:p>
        </p:txBody>
      </p:sp>
      <p:sp>
        <p:nvSpPr>
          <p:cNvPr id="3" name="Footer Placeholder 2">
            <a:extLst>
              <a:ext uri="{FF2B5EF4-FFF2-40B4-BE49-F238E27FC236}">
                <a16:creationId xmlns:a16="http://schemas.microsoft.com/office/drawing/2014/main" id="{B2181210-1639-DE2F-EABC-EC18EAB6F04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5FCD17C-ACEC-065D-BA44-EB272946E58C}"/>
              </a:ext>
            </a:extLst>
          </p:cNvPr>
          <p:cNvSpPr>
            <a:spLocks noGrp="1"/>
          </p:cNvSpPr>
          <p:nvPr>
            <p:ph type="sldNum" sz="quarter" idx="12"/>
          </p:nvPr>
        </p:nvSpPr>
        <p:spPr/>
        <p:txBody>
          <a:bodyPr/>
          <a:lstStyle/>
          <a:p>
            <a:fld id="{B360DE0F-4F94-43D9-87E4-A1CCE851FBE3}" type="slidenum">
              <a:rPr lang="en-US" smtClean="0"/>
              <a:t>‹#›</a:t>
            </a:fld>
            <a:endParaRPr lang="en-US"/>
          </a:p>
        </p:txBody>
      </p:sp>
    </p:spTree>
    <p:extLst>
      <p:ext uri="{BB962C8B-B14F-4D97-AF65-F5344CB8AC3E}">
        <p14:creationId xmlns:p14="http://schemas.microsoft.com/office/powerpoint/2010/main" val="157106531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C1A93F-1D9C-ABBD-B2D8-7E687453BB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D3A0A02-166D-1BC3-DBF7-12C5AD2025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BB87AF-2894-96E4-BE41-F7286660D4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64EC99-EE68-45B2-9A19-B7A4D19C3F13}" type="datetimeFigureOut">
              <a:rPr lang="en-US" smtClean="0"/>
              <a:t>10/20/2026</a:t>
            </a:fld>
            <a:endParaRPr lang="en-US"/>
          </a:p>
        </p:txBody>
      </p:sp>
      <p:sp>
        <p:nvSpPr>
          <p:cNvPr id="5" name="Footer Placeholder 4">
            <a:extLst>
              <a:ext uri="{FF2B5EF4-FFF2-40B4-BE49-F238E27FC236}">
                <a16:creationId xmlns:a16="http://schemas.microsoft.com/office/drawing/2014/main" id="{7D36B680-66A8-4016-11B7-75E7E0E479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6C40F3F-582F-A20B-174C-4F50693D3F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60DE0F-4F94-43D9-87E4-A1CCE851FBE3}" type="slidenum">
              <a:rPr lang="en-US" smtClean="0"/>
              <a:t>‹#›</a:t>
            </a:fld>
            <a:endParaRPr lang="en-US"/>
          </a:p>
        </p:txBody>
      </p:sp>
    </p:spTree>
    <p:extLst>
      <p:ext uri="{BB962C8B-B14F-4D97-AF65-F5344CB8AC3E}">
        <p14:creationId xmlns:p14="http://schemas.microsoft.com/office/powerpoint/2010/main" val="3919836606"/>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10EA459-3B95-B735-5654-DF79FF5F913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2A277B-E56A-9932-91BF-4E9F522216C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9C95763-A047-B3FE-4B86-87B0CBE44DD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3A4293-C646-3FE7-E875-C3ECCBFCC8B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58A05C-5DF7-4AC9-9CA2-9522C96BCE7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1DB110-D03D-D7BE-6F72-08C384145FD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A928799-F1BF-1BE6-D060-61EB910ADF0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078D8B5-E174-B90C-A6D4-1A9352A5C7B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21B96A5-B2E7-0BFD-8FF8-817851B2C14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96C2CDB-3B25-69FE-44AF-1E45EC620BC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76735D-C020-CF9F-629A-61352D63418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5B24A5E-0FC2-2690-695D-CB61E37B6A8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B7280B-29FE-D21F-C5C4-3013049A499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325D99A-B6ED-CA33-D793-ED7AB167CB5B}"/>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6820256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1704</Words>
  <Application>Microsoft Office PowerPoint</Application>
  <PresentationFormat>寬螢幕</PresentationFormat>
  <Paragraphs>80</Paragraphs>
  <Slides>14</Slides>
  <Notes>14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2026-09-21T10:01:07Z</dcterms:created>
  <dcterms:modified xsi:type="dcterms:W3CDTF">2026-10-20T13:29:27Z</dcterms:modified>
</cp:coreProperties>
</file>