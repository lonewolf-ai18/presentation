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1D5B389-031C-4967-A674-C8D92C2A5132}" v="18" dt="2026-09-01T03:27:04.74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0" autoAdjust="0"/>
    <p:restoredTop sz="71807" autoAdjust="0"/>
  </p:normalViewPr>
  <p:slideViewPr>
    <p:cSldViewPr snapToGrid="0">
      <p:cViewPr varScale="1">
        <p:scale>
          <a:sx n="75" d="100"/>
          <a:sy n="75" d="100"/>
        </p:scale>
        <p:origin x="72" y="4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i, Wilson" userId="2840974a-0d84-4886-90a9-9a3ed79f3a48" providerId="ADAL" clId="{9F23B798-9E84-4552-BA63-E776E805C424}"/>
    <pc:docChg chg="custSel modSld">
      <pc:chgData name="Lai, Wilson" userId="2840974a-0d84-4886-90a9-9a3ed79f3a48" providerId="ADAL" clId="{9F23B798-9E84-4552-BA63-E776E805C424}" dt="2026-09-01T03:27:11.371" v="43" actId="166"/>
      <pc:docMkLst>
        <pc:docMk/>
      </pc:docMkLst>
      <pc:sldChg chg="addSp modSp mod modAnim modNotesTx">
        <pc:chgData name="Lai, Wilson" userId="2840974a-0d84-4886-90a9-9a3ed79f3a48" providerId="ADAL" clId="{9F23B798-9E84-4552-BA63-E776E805C424}" dt="2026-09-01T03:27:11.371" v="43" actId="166"/>
        <pc:sldMkLst>
          <pc:docMk/>
          <pc:sldMk cId="0" sldId="257"/>
        </pc:sldMkLst>
        <pc:spChg chg="add mod">
          <ac:chgData name="Lai, Wilson" userId="2840974a-0d84-4886-90a9-9a3ed79f3a48" providerId="ADAL" clId="{9F23B798-9E84-4552-BA63-E776E805C424}" dt="2026-09-01T03:27:04.747" v="42" actId="164"/>
          <ac:spMkLst>
            <pc:docMk/>
            <pc:sldMk cId="0" sldId="257"/>
            <ac:spMk id="5" creationId="{BC74781E-1E5A-254B-6842-653F0FC16638}"/>
          </ac:spMkLst>
        </pc:spChg>
        <pc:grpChg chg="add mod">
          <ac:chgData name="Lai, Wilson" userId="2840974a-0d84-4886-90a9-9a3ed79f3a48" providerId="ADAL" clId="{9F23B798-9E84-4552-BA63-E776E805C424}" dt="2026-09-01T03:27:04.747" v="42" actId="164"/>
          <ac:grpSpMkLst>
            <pc:docMk/>
            <pc:sldMk cId="0" sldId="257"/>
            <ac:grpSpMk id="6" creationId="{64CE1AD8-78D3-6CE1-23E3-5CE77B80D850}"/>
          </ac:grpSpMkLst>
        </pc:grpChg>
        <pc:picChg chg="add mod">
          <ac:chgData name="Lai, Wilson" userId="2840974a-0d84-4886-90a9-9a3ed79f3a48" providerId="ADAL" clId="{9F23B798-9E84-4552-BA63-E776E805C424}" dt="2026-09-01T03:27:04.747" v="42" actId="164"/>
          <ac:picMkLst>
            <pc:docMk/>
            <pc:sldMk cId="0" sldId="257"/>
            <ac:picMk id="2" creationId="{7BA884BA-7BA6-C406-99BA-904E827D921D}"/>
          </ac:picMkLst>
        </pc:picChg>
        <pc:picChg chg="ord">
          <ac:chgData name="Lai, Wilson" userId="2840974a-0d84-4886-90a9-9a3ed79f3a48" providerId="ADAL" clId="{9F23B798-9E84-4552-BA63-E776E805C424}" dt="2026-09-01T03:27:11.371" v="43" actId="166"/>
          <ac:picMkLst>
            <pc:docMk/>
            <pc:sldMk cId="0" sldId="257"/>
            <ac:picMk id="4" creationId="{2E35A099-43A9-3012-2747-0CD5CF6E6C19}"/>
          </ac:picMkLst>
        </pc:picChg>
      </pc:sldChg>
      <pc:sldChg chg="addSp delSp mod">
        <pc:chgData name="Lai, Wilson" userId="2840974a-0d84-4886-90a9-9a3ed79f3a48" providerId="ADAL" clId="{9F23B798-9E84-4552-BA63-E776E805C424}" dt="2026-09-01T03:18:26.027" v="8" actId="22"/>
        <pc:sldMkLst>
          <pc:docMk/>
          <pc:sldMk cId="0" sldId="258"/>
        </pc:sldMkLst>
        <pc:picChg chg="del">
          <ac:chgData name="Lai, Wilson" userId="2840974a-0d84-4886-90a9-9a3ed79f3a48" providerId="ADAL" clId="{9F23B798-9E84-4552-BA63-E776E805C424}" dt="2026-09-01T03:18:12.472" v="7" actId="21"/>
          <ac:picMkLst>
            <pc:docMk/>
            <pc:sldMk cId="0" sldId="258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9-01T03:18:26.027" v="8" actId="22"/>
          <ac:picMkLst>
            <pc:docMk/>
            <pc:sldMk cId="0" sldId="258"/>
            <ac:picMk id="4" creationId="{5E0FF9FD-FF5A-03DD-4AF5-42F2875E7A39}"/>
          </ac:picMkLst>
        </pc:picChg>
      </pc:sldChg>
      <pc:sldChg chg="addSp delSp mod">
        <pc:chgData name="Lai, Wilson" userId="2840974a-0d84-4886-90a9-9a3ed79f3a48" providerId="ADAL" clId="{9F23B798-9E84-4552-BA63-E776E805C424}" dt="2026-09-01T03:19:06.722" v="10" actId="22"/>
        <pc:sldMkLst>
          <pc:docMk/>
          <pc:sldMk cId="0" sldId="259"/>
        </pc:sldMkLst>
        <pc:picChg chg="del">
          <ac:chgData name="Lai, Wilson" userId="2840974a-0d84-4886-90a9-9a3ed79f3a48" providerId="ADAL" clId="{9F23B798-9E84-4552-BA63-E776E805C424}" dt="2026-09-01T03:18:38" v="9" actId="21"/>
          <ac:picMkLst>
            <pc:docMk/>
            <pc:sldMk cId="0" sldId="259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9-01T03:19:06.722" v="10" actId="22"/>
          <ac:picMkLst>
            <pc:docMk/>
            <pc:sldMk cId="0" sldId="259"/>
            <ac:picMk id="4" creationId="{80642F1B-8E33-0641-90F9-595BD1E5B25E}"/>
          </ac:picMkLst>
        </pc:picChg>
      </pc:sldChg>
      <pc:sldChg chg="addSp delSp mod">
        <pc:chgData name="Lai, Wilson" userId="2840974a-0d84-4886-90a9-9a3ed79f3a48" providerId="ADAL" clId="{9F23B798-9E84-4552-BA63-E776E805C424}" dt="2026-09-01T03:19:22.536" v="12" actId="22"/>
        <pc:sldMkLst>
          <pc:docMk/>
          <pc:sldMk cId="0" sldId="260"/>
        </pc:sldMkLst>
        <pc:picChg chg="del">
          <ac:chgData name="Lai, Wilson" userId="2840974a-0d84-4886-90a9-9a3ed79f3a48" providerId="ADAL" clId="{9F23B798-9E84-4552-BA63-E776E805C424}" dt="2026-09-01T03:19:09.585" v="11" actId="21"/>
          <ac:picMkLst>
            <pc:docMk/>
            <pc:sldMk cId="0" sldId="260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9-01T03:19:22.536" v="12" actId="22"/>
          <ac:picMkLst>
            <pc:docMk/>
            <pc:sldMk cId="0" sldId="260"/>
            <ac:picMk id="4" creationId="{A90B41FF-A075-F67B-78B1-136A9007586C}"/>
          </ac:picMkLst>
        </pc:picChg>
      </pc:sldChg>
      <pc:sldChg chg="addSp delSp mod">
        <pc:chgData name="Lai, Wilson" userId="2840974a-0d84-4886-90a9-9a3ed79f3a48" providerId="ADAL" clId="{9F23B798-9E84-4552-BA63-E776E805C424}" dt="2026-09-01T03:19:40.172" v="14" actId="22"/>
        <pc:sldMkLst>
          <pc:docMk/>
          <pc:sldMk cId="0" sldId="261"/>
        </pc:sldMkLst>
        <pc:picChg chg="del">
          <ac:chgData name="Lai, Wilson" userId="2840974a-0d84-4886-90a9-9a3ed79f3a48" providerId="ADAL" clId="{9F23B798-9E84-4552-BA63-E776E805C424}" dt="2026-09-01T03:19:24.319" v="13" actId="21"/>
          <ac:picMkLst>
            <pc:docMk/>
            <pc:sldMk cId="0" sldId="261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9-01T03:19:40.172" v="14" actId="22"/>
          <ac:picMkLst>
            <pc:docMk/>
            <pc:sldMk cId="0" sldId="261"/>
            <ac:picMk id="4" creationId="{0105923E-EB4A-4A53-66B9-E262FEB52746}"/>
          </ac:picMkLst>
        </pc:picChg>
      </pc:sldChg>
      <pc:sldChg chg="addSp delSp mod">
        <pc:chgData name="Lai, Wilson" userId="2840974a-0d84-4886-90a9-9a3ed79f3a48" providerId="ADAL" clId="{9F23B798-9E84-4552-BA63-E776E805C424}" dt="2026-09-01T03:19:49.921" v="16" actId="22"/>
        <pc:sldMkLst>
          <pc:docMk/>
          <pc:sldMk cId="0" sldId="262"/>
        </pc:sldMkLst>
        <pc:picChg chg="del">
          <ac:chgData name="Lai, Wilson" userId="2840974a-0d84-4886-90a9-9a3ed79f3a48" providerId="ADAL" clId="{9F23B798-9E84-4552-BA63-E776E805C424}" dt="2026-09-01T03:19:41.450" v="15" actId="21"/>
          <ac:picMkLst>
            <pc:docMk/>
            <pc:sldMk cId="0" sldId="262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9-01T03:19:49.921" v="16" actId="22"/>
          <ac:picMkLst>
            <pc:docMk/>
            <pc:sldMk cId="0" sldId="262"/>
            <ac:picMk id="4" creationId="{0D45E1C0-A0AE-AA5E-42DC-C1D6A89BB85F}"/>
          </ac:picMkLst>
        </pc:picChg>
      </pc:sldChg>
      <pc:sldChg chg="addSp delSp mod">
        <pc:chgData name="Lai, Wilson" userId="2840974a-0d84-4886-90a9-9a3ed79f3a48" providerId="ADAL" clId="{9F23B798-9E84-4552-BA63-E776E805C424}" dt="2026-09-01T03:20:04.553" v="18" actId="22"/>
        <pc:sldMkLst>
          <pc:docMk/>
          <pc:sldMk cId="0" sldId="263"/>
        </pc:sldMkLst>
        <pc:picChg chg="del">
          <ac:chgData name="Lai, Wilson" userId="2840974a-0d84-4886-90a9-9a3ed79f3a48" providerId="ADAL" clId="{9F23B798-9E84-4552-BA63-E776E805C424}" dt="2026-09-01T03:19:51.723" v="17" actId="21"/>
          <ac:picMkLst>
            <pc:docMk/>
            <pc:sldMk cId="0" sldId="263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9-01T03:20:04.553" v="18" actId="22"/>
          <ac:picMkLst>
            <pc:docMk/>
            <pc:sldMk cId="0" sldId="263"/>
            <ac:picMk id="4" creationId="{3A6FE06B-E98C-2229-8FE5-CAD96657BAE8}"/>
          </ac:picMkLst>
        </pc:picChg>
      </pc:sldChg>
      <pc:sldChg chg="addSp delSp mod">
        <pc:chgData name="Lai, Wilson" userId="2840974a-0d84-4886-90a9-9a3ed79f3a48" providerId="ADAL" clId="{9F23B798-9E84-4552-BA63-E776E805C424}" dt="2026-09-01T03:20:15.916" v="20" actId="22"/>
        <pc:sldMkLst>
          <pc:docMk/>
          <pc:sldMk cId="0" sldId="264"/>
        </pc:sldMkLst>
        <pc:picChg chg="del">
          <ac:chgData name="Lai, Wilson" userId="2840974a-0d84-4886-90a9-9a3ed79f3a48" providerId="ADAL" clId="{9F23B798-9E84-4552-BA63-E776E805C424}" dt="2026-09-01T03:20:07.251" v="19" actId="21"/>
          <ac:picMkLst>
            <pc:docMk/>
            <pc:sldMk cId="0" sldId="264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9-01T03:20:15.916" v="20" actId="22"/>
          <ac:picMkLst>
            <pc:docMk/>
            <pc:sldMk cId="0" sldId="264"/>
            <ac:picMk id="4" creationId="{4DBB07E5-0C7F-B31C-6D02-2C4B040DB31E}"/>
          </ac:picMkLst>
        </pc:picChg>
      </pc:sldChg>
      <pc:sldChg chg="addSp delSp mod modNotesTx">
        <pc:chgData name="Lai, Wilson" userId="2840974a-0d84-4886-90a9-9a3ed79f3a48" providerId="ADAL" clId="{9F23B798-9E84-4552-BA63-E776E805C424}" dt="2026-09-01T03:20:26.230" v="22" actId="22"/>
        <pc:sldMkLst>
          <pc:docMk/>
          <pc:sldMk cId="0" sldId="265"/>
        </pc:sldMkLst>
        <pc:picChg chg="del">
          <ac:chgData name="Lai, Wilson" userId="2840974a-0d84-4886-90a9-9a3ed79f3a48" providerId="ADAL" clId="{9F23B798-9E84-4552-BA63-E776E805C424}" dt="2026-09-01T03:20:18.633" v="21" actId="21"/>
          <ac:picMkLst>
            <pc:docMk/>
            <pc:sldMk cId="0" sldId="265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9-01T03:20:26.230" v="22" actId="22"/>
          <ac:picMkLst>
            <pc:docMk/>
            <pc:sldMk cId="0" sldId="265"/>
            <ac:picMk id="4" creationId="{C125B32F-98A9-1D10-5BA0-AEFB56A03432}"/>
          </ac:picMkLst>
        </pc:picChg>
      </pc:sldChg>
      <pc:sldChg chg="addSp delSp mod">
        <pc:chgData name="Lai, Wilson" userId="2840974a-0d84-4886-90a9-9a3ed79f3a48" providerId="ADAL" clId="{9F23B798-9E84-4552-BA63-E776E805C424}" dt="2026-09-01T03:20:40.059" v="24" actId="22"/>
        <pc:sldMkLst>
          <pc:docMk/>
          <pc:sldMk cId="0" sldId="266"/>
        </pc:sldMkLst>
        <pc:picChg chg="del">
          <ac:chgData name="Lai, Wilson" userId="2840974a-0d84-4886-90a9-9a3ed79f3a48" providerId="ADAL" clId="{9F23B798-9E84-4552-BA63-E776E805C424}" dt="2026-09-01T03:20:27.654" v="23" actId="21"/>
          <ac:picMkLst>
            <pc:docMk/>
            <pc:sldMk cId="0" sldId="266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9-01T03:20:40.059" v="24" actId="22"/>
          <ac:picMkLst>
            <pc:docMk/>
            <pc:sldMk cId="0" sldId="266"/>
            <ac:picMk id="4" creationId="{8A21D47D-0DDF-AE56-322C-C1C9849D07F5}"/>
          </ac:picMkLst>
        </pc:picChg>
      </pc:sldChg>
      <pc:sldChg chg="addSp delSp mod">
        <pc:chgData name="Lai, Wilson" userId="2840974a-0d84-4886-90a9-9a3ed79f3a48" providerId="ADAL" clId="{9F23B798-9E84-4552-BA63-E776E805C424}" dt="2026-09-01T03:21:04.796" v="28" actId="22"/>
        <pc:sldMkLst>
          <pc:docMk/>
          <pc:sldMk cId="0" sldId="267"/>
        </pc:sldMkLst>
        <pc:picChg chg="del">
          <ac:chgData name="Lai, Wilson" userId="2840974a-0d84-4886-90a9-9a3ed79f3a48" providerId="ADAL" clId="{9F23B798-9E84-4552-BA63-E776E805C424}" dt="2026-09-01T03:20:57.788" v="27" actId="21"/>
          <ac:picMkLst>
            <pc:docMk/>
            <pc:sldMk cId="0" sldId="267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9-01T03:21:04.796" v="28" actId="22"/>
          <ac:picMkLst>
            <pc:docMk/>
            <pc:sldMk cId="0" sldId="267"/>
            <ac:picMk id="4" creationId="{C0C5C791-F0A0-7483-B5CD-E2D0567B28BF}"/>
          </ac:picMkLst>
        </pc:picChg>
      </pc:sldChg>
      <pc:sldChg chg="addSp delSp mod">
        <pc:chgData name="Lai, Wilson" userId="2840974a-0d84-4886-90a9-9a3ed79f3a48" providerId="ADAL" clId="{9F23B798-9E84-4552-BA63-E776E805C424}" dt="2026-09-01T03:20:54.983" v="26" actId="22"/>
        <pc:sldMkLst>
          <pc:docMk/>
          <pc:sldMk cId="0" sldId="268"/>
        </pc:sldMkLst>
        <pc:picChg chg="del">
          <ac:chgData name="Lai, Wilson" userId="2840974a-0d84-4886-90a9-9a3ed79f3a48" providerId="ADAL" clId="{9F23B798-9E84-4552-BA63-E776E805C424}" dt="2026-09-01T03:20:41.779" v="25" actId="21"/>
          <ac:picMkLst>
            <pc:docMk/>
            <pc:sldMk cId="0" sldId="268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9-01T03:20:54.983" v="26" actId="22"/>
          <ac:picMkLst>
            <pc:docMk/>
            <pc:sldMk cId="0" sldId="268"/>
            <ac:picMk id="4" creationId="{0CAAB242-6DE7-B16E-1460-BB5645284998}"/>
          </ac:picMkLst>
        </pc:picChg>
      </pc:sldChg>
      <pc:sldChg chg="addSp delSp mod modNotesTx">
        <pc:chgData name="Lai, Wilson" userId="2840974a-0d84-4886-90a9-9a3ed79f3a48" providerId="ADAL" clId="{9F23B798-9E84-4552-BA63-E776E805C424}" dt="2026-09-01T03:21:15.197" v="30" actId="22"/>
        <pc:sldMkLst>
          <pc:docMk/>
          <pc:sldMk cId="0" sldId="269"/>
        </pc:sldMkLst>
        <pc:picChg chg="del">
          <ac:chgData name="Lai, Wilson" userId="2840974a-0d84-4886-90a9-9a3ed79f3a48" providerId="ADAL" clId="{9F23B798-9E84-4552-BA63-E776E805C424}" dt="2026-09-01T03:21:06.731" v="29" actId="21"/>
          <ac:picMkLst>
            <pc:docMk/>
            <pc:sldMk cId="0" sldId="269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9-01T03:21:15.197" v="30" actId="22"/>
          <ac:picMkLst>
            <pc:docMk/>
            <pc:sldMk cId="0" sldId="269"/>
            <ac:picMk id="4" creationId="{4DC56E7B-2324-E69A-8A63-259A6BDDF901}"/>
          </ac:picMkLst>
        </pc:picChg>
      </pc:sldChg>
      <pc:sldChg chg="addSp delSp mod">
        <pc:chgData name="Lai, Wilson" userId="2840974a-0d84-4886-90a9-9a3ed79f3a48" providerId="ADAL" clId="{9F23B798-9E84-4552-BA63-E776E805C424}" dt="2026-09-01T03:21:23.804" v="32" actId="22"/>
        <pc:sldMkLst>
          <pc:docMk/>
          <pc:sldMk cId="0" sldId="270"/>
        </pc:sldMkLst>
        <pc:picChg chg="del">
          <ac:chgData name="Lai, Wilson" userId="2840974a-0d84-4886-90a9-9a3ed79f3a48" providerId="ADAL" clId="{9F23B798-9E84-4552-BA63-E776E805C424}" dt="2026-09-01T03:21:16.544" v="31" actId="21"/>
          <ac:picMkLst>
            <pc:docMk/>
            <pc:sldMk cId="0" sldId="270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9-01T03:21:23.804" v="32" actId="22"/>
          <ac:picMkLst>
            <pc:docMk/>
            <pc:sldMk cId="0" sldId="270"/>
            <ac:picMk id="4" creationId="{7E68C29D-662F-9922-9DA9-9977207A7970}"/>
          </ac:picMkLst>
        </pc:picChg>
      </pc:sldChg>
      <pc:sldChg chg="addSp delSp mod">
        <pc:chgData name="Lai, Wilson" userId="2840974a-0d84-4886-90a9-9a3ed79f3a48" providerId="ADAL" clId="{9F23B798-9E84-4552-BA63-E776E805C424}" dt="2026-09-01T03:21:43.874" v="34" actId="22"/>
        <pc:sldMkLst>
          <pc:docMk/>
          <pc:sldMk cId="0" sldId="271"/>
        </pc:sldMkLst>
        <pc:picChg chg="del">
          <ac:chgData name="Lai, Wilson" userId="2840974a-0d84-4886-90a9-9a3ed79f3a48" providerId="ADAL" clId="{9F23B798-9E84-4552-BA63-E776E805C424}" dt="2026-09-01T03:21:29.135" v="33" actId="21"/>
          <ac:picMkLst>
            <pc:docMk/>
            <pc:sldMk cId="0" sldId="271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9-01T03:21:43.874" v="34" actId="22"/>
          <ac:picMkLst>
            <pc:docMk/>
            <pc:sldMk cId="0" sldId="271"/>
            <ac:picMk id="4" creationId="{529125FD-3B36-75E0-3B73-209599DFF8DC}"/>
          </ac:picMkLst>
        </pc:picChg>
      </pc:sldChg>
      <pc:sldChg chg="modNotesTx">
        <pc:chgData name="Lai, Wilson" userId="2840974a-0d84-4886-90a9-9a3ed79f3a48" providerId="ADAL" clId="{9F23B798-9E84-4552-BA63-E776E805C424}" dt="2026-09-01T01:28:44.519" v="6" actId="14"/>
        <pc:sldMkLst>
          <pc:docMk/>
          <pc:sldMk cId="904145264" sldId="272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AB5187-180E-4BF0-B442-9809AE1E675A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1F883C-1278-4193-86BD-F53685BF36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0655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Welcome the audience and frame the primary thesis: We are approaching an unavoidable 100-year cyclical climax mirroring the loose money, excessive leverage, and debt-fueled backdrop of the late 1920s. </a:t>
            </a:r>
          </a:p>
          <a:p>
            <a:pPr lvl="0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Introduce the key drivers covered today: the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$40 Trillion U.S. debt spiral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monetary interventions, and the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AI Capex bubble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which is currently being artificially supported by circular vendor financing. </a:t>
            </a:r>
          </a:p>
          <a:p>
            <a:pPr lvl="0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Introduce the alternative strategy: Building a "Hard Asset Bunker Portfolio" around physical gold, digital non-fiat assets (Bitcoin), and contrarian deep-value plays like Chinese equities. 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https://www.youtube.com/watch?v=chewWgxS8gc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68E898-A6D1-40B4-AEA9-FAA7AB6F62A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29970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Interventions: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Explain how the core economy is being artificially sustained through $2 Trillion annual deficit spending and Treasury yield curve interventions.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Structural Reality: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Highlight how de-dollarization erodes U.S. purchasing power abroad, effectively importing inflation into everyday consumer goods.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Medical Metaphor: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Analogize the Fed and U.S. Treasury to doctors administering larger and larger doses of liquidity to keep a flatlining patient alive.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1F883C-1278-4193-86BD-F53685BF364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07882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Math: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Frame $40 Trillion in total U.S. debt and $1 Trillion+ in annual interest payments as a mathematical dilemma: the Fed cannot aggressively cut rates without triggering inflation, but cannot maintain high rates without breaking Treasury solvency.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5% Yield Trigger: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Detail how 10-year Treasury yields approaching 5% act as an immediate market trigger for a ~20% drawdown in equity markets.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Hawkish Bluff: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Explain Fed Chair Kevin Warsh's hawkish rhetoric at Jackson Hole as a strategic "bluff" to talk financial conditions down without needing to enact physical rate hikes.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1F883C-1278-4193-86BD-F53685BF364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45087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Echoes of 2000: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Compare the current AI boom to the dot-com telecom vendor financing collapse of 2000.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Mechanics: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Break down the circular funding loop: Semiconductor giants (e.g., Nvidia) invest billions into startups, which are then contractually bound or incentivized to buy back hardware/chips from those same giants.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Risk: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Emphasize that while reported revenues look historic (e.g., 106% YoY), the underlying loop breaks as soon as external capex spend reaches its natural ceiling.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1F883C-1278-4193-86BD-F53685BF364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443042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Nvidia (NVDA):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Frame NVDA as the barometer for the entire $5 Trillion tech market. Point out the critical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$200 ascending support line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—a breakdown below $200 indicates institutional smart money taking profits and exiting.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Micron (MU):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Discuss Micron's chart as evidence that memory semiconductor cycle margins have peaked, targeting a 75% retracement down to $450.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Institutional Sentiment: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Explain why record earnings releases can trigger sell-offs when institutional money unloads into retail buying strength.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1F883C-1278-4193-86BD-F53685BF364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79226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Phase 1 (2026/Current): The Bluff &amp; Prop: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Administration utilizes yield curve control, dovish jawboning, and reserve deployments to hold equity markets up through the midterm election window.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Phase 2 (2027): The AI Reckoning: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Hyperscaler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Capex tops out, triggering debt market degradation, a credit shock, and a 40–50% broader stock market correction.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Phase 3 (2030–2031): The 100-Year Reset: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Debt maturity convergence, fiat mistrust, and economic stagnation culminate in a full systemic reset.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1F883C-1278-4193-86BD-F53685BF364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333247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Technical Setup: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WTI Crude filled its $120 to $70 gap and is now compressing inside a technical wedge pattern.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Path A (Base Case - Deflationary):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Without new Middle Eastern escalations, economic demand destruction takes control, dragging crude down to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$50/barrel by early 2027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Path B (Escalation Case - Inflationary):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Post-midterm political freedom allows military escalation (e.g., Iran), sparking oil price spikes and forcing the Fed to abandon rate cuts.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1F883C-1278-4193-86BD-F53685BF364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901030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Silent Tax: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Detail how a 4% inflation rate quietly degrades purchasing power (e.g., a $100k salary becomes $96k in real buying power in just 12 months).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Trust Deficit: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Explain how yield curve manipulation by central authorities erodes global institutional trust in sovereign debt and paper money.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Bunker Solution: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Capital must rotate into finite physical assets completely disconnected from balance sheet liabilities or endless supply expansion.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1F883C-1278-4193-86BD-F53685BF364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097831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Accelerating Velocity: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Detail the macro inputs driving gold: $2.8T average annual debt issuance, ~9% M2 money growth, near-zero real interest rates, and sovereign central bank accumulation.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Compression of Cycles: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Point out that past gold cycles took decades (1980 to 2011), but cycle velocity is accelerating due to compounding sovereign debt.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Numerical Targets: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Near-term Buy Zone: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Pullback to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$3,500 – $4,000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offers an optimal entry point.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Cycle Peak Target: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Mathematical cycle models project a peak between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$13,000 and $15,000 by 2029–2031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1F883C-1278-4193-86BD-F53685BF3648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147562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Bullish Case: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Bitcoin broke out from its multi-year descending trendline, fueled by central bank yield curve interventions validating the anti-fiat narrative.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Technical Risk: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Caution that BTC has not yet established a macro "higher high." In a broader 2027 market liquidation, BTC remains vulnerable to a flush down to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$35,000 – $50,000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2030 Endgame: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 a severe 2030–2031 fiat confidence crisis, Bitcoin serves as a main digital capital escape valve targeting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$250,000+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1F883C-1278-4193-86BD-F53685BF3648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083151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Monetary Gold vs. Industrial Silver: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Contrast Gold's status as a pure monetary store of value against Silver's heavy reliance on industrial usage.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Risk Factor: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 economic slowdown and AI data center/capex contraction directly harms industrial silver demand, dragging down its premium.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Target: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Bearish near-term bias; technical charts project a retest/retracement down toward the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$50 range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1F883C-1278-4193-86BD-F53685BF3648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295676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U.S. Tech Exposure: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High valuations priced for perfection; vulnerable to a capex slowdown and a 2027 economic contraction.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Chinese Equities Opportunity: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Single-digit P/E ratios (6x–9x, e.g., BABA, BIDU); emerging from a multi-year real estate depression; backed by sovereign gold accumulation and open-source AI models.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Trade Execution: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Rotate capital from stretched U.S. tech names into deeply discounted Chinese internet/AI tech (KWEB, Alibaba, Baidu) for a projected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100–200% upside over the next 6–12 months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1F883C-1278-4193-86BD-F53685BF3648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307437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Walk the audience line-by-line through the Summary Matrix: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Nvidia (NVDA):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Bearish Proxy | Entry/Trigger: Break below $200 Support | Target: Broader tech crash.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Micron (MU):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Bearish | Entry/Trigger: Top is in | Target: $450 (75% drop) in 10 months.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Gold: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Bullish Bunker | Entry/Trigger: Pullback to $3,500 – $4,000 | Target: $13,000 – $15,000 by 2031.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Bitcoin: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Bullish Long-Term | Entry/Trigger: $35,000 – $50,000 flush | Target: $250,000+ by 2031.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KWEB / BABA: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Bullish Contrarian | Entry/Trigger: Current single-digit P/E | Target: +100% to +200% upside.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WTI Oil: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Bearish Base Case | Entry/Trigger: Post-midterm demand Destruction | Target: $50/barrel by 2027.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1F883C-1278-4193-86BD-F53685BF3648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54194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Fiscal Reset: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climax of the debt cycle will force a return to strict fiscal discipline, likely requiring a hard-asset (gold) backing for sovereign currencies to restore international trade trust.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AI Paradox: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While AI infrastructure capex triggers an initial credit bust and job losses, within 10–15 years AI will evolve into a powerful deflationary force driving real productivity.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Core Conclusion: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Survive the 2027 liquidation period to preserve and deploy capital for the 2030 reconstruction phase.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1F883C-1278-4193-86BD-F53685BF3648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568954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Deception Landscape: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Address how AI democratizes deepfakes, moving beyond basic social media misinformation into sophisticated enterprise financial attacks. Note that ~50% of high-engagement online content is synthetic or manipulated.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Threat Actors: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Highlight threat profiles ranging from state-sponsored entities seeking IP theft to cybercriminals executing financial wire fraud.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Operational Rules: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Walk through corporate defense protocols: deploy "Trust Advisors" (real-time video/audio synthetic analysis), eliminate unverified "cavalier" call joiners, and shift tech policy toward strict product liability.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1F883C-1278-4193-86BD-F53685BF3648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066262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Summarize the three main takeaways:</a:t>
            </a:r>
          </a:p>
          <a:p>
            <a:pPr marL="228600" lvl="0" indent="-228600">
              <a:buFont typeface="+mj-lt"/>
              <a:buAutoNum type="arabicPeriod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Monitor Tech Tripwires: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Watch NVDA $200 support line and Treasury yields closely. </a:t>
            </a:r>
          </a:p>
          <a:p>
            <a:pPr marL="228600" lvl="0" indent="-228600">
              <a:buFont typeface="+mj-lt"/>
              <a:buAutoNum type="arabicPeriod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Accumulate Real Bunker Assets: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Buy gold on pullbacks ($3,500–$4,000 zone) and keep dry powder for Bitcoin dips ($35k–$50k). </a:t>
            </a:r>
          </a:p>
          <a:p>
            <a:pPr marL="228600" lvl="0" indent="-228600">
              <a:buFont typeface="+mj-lt"/>
              <a:buAutoNum type="arabicPeriod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Rotate to Contrarian Value: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Reallocate out of overextended U.S. tech into undervalued Chinese internet/AI assets. </a:t>
            </a:r>
          </a:p>
          <a:p>
            <a:pPr lvl="0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Transition to Q&amp;A with the audience.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1F883C-1278-4193-86BD-F53685BF3648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70119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B1967BC-07C1-750B-D1C5-F42018DBC6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D8607-D5EA-4543-ACCC-07F9A4854033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478A9FA-EDC6-1A85-1067-3B9D496394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2CF745-467E-D66D-8CB2-A1ADD4FA09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7CA705-CC4E-4FE0-B814-909A66F949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78504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E52D80D-CB11-0AA9-C018-B63F649FF1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6F49E3-7C18-EED9-2755-1EBD49D84F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6F9271-44EF-3556-FC03-0514C0C1A8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F3D8607-D5EA-4543-ACCC-07F9A4854033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13DA34-A4C9-1866-43F5-36661E18F7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FE8488-828B-E7F4-894E-8E4BD152EA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A7CA705-CC4E-4FE0-B814-909A66F949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7149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E35A099-43A9-3012-2747-0CD5CF6E6C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9239"/>
            <a:ext cx="12192000" cy="679952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E0FF9FD-FF5A-03DD-4AF5-42F2875E7A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0642F1B-8E33-0641-90F9-595BD1E5B2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90B41FF-A075-F67B-78B1-136A900758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105923E-EB4A-4A53-66B9-E262FEB527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D45E1C0-A0AE-AA5E-42DC-C1D6A89BB8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A6FE06B-E98C-2229-8FE5-CAD96657BA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DBB07E5-0C7F-B31C-6D02-2C4B040DB3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125B32F-98A9-1D10-5BA0-AEFB56A034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A21D47D-0DDF-AE56-322C-C1C9849D07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0C5C791-F0A0-7483-B5CD-E2D0567B28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CAAB242-6DE7-B16E-1460-BB56452849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DC56E7B-2324-E69A-8A63-259A6BDDF9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E68C29D-662F-9922-9DA9-9977207A79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29125FD-3B36-75E0-3B73-209599DFF8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CF5E088-871F-9A75-D1D8-0A3766701DB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581"/>
            <a:ext cx="12192000" cy="6804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41452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1558</Words>
  <Application>Microsoft Office PowerPoint</Application>
  <PresentationFormat>寬螢幕</PresentationFormat>
  <Paragraphs>75</Paragraphs>
  <Slides>16</Slides>
  <Notes>16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16</vt:i4>
      </vt:variant>
    </vt:vector>
  </HeadingPairs>
  <TitlesOfParts>
    <vt:vector size="20" baseType="lpstr">
      <vt:lpstr>Aptos</vt:lpstr>
      <vt:lpstr>Aptos Display</vt:lpstr>
      <vt:lpstr>Arial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Lai, Wilson</dc:creator>
  <cp:lastModifiedBy>Wilson Lai</cp:lastModifiedBy>
  <cp:revision>2</cp:revision>
  <dcterms:created xsi:type="dcterms:W3CDTF">2026-09-01T01:04:29Z</dcterms:created>
  <dcterms:modified xsi:type="dcterms:W3CDTF">2026-10-21T02:41:03Z</dcterms:modified>
</cp:coreProperties>
</file>