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9E31296-0C0A-4F42-BBC3-542EFDF2912E}" v="15" dt="2026-09-25T02:43:22.63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020" autoAdjust="0"/>
    <p:restoredTop sz="88319" autoAdjust="0"/>
  </p:normalViewPr>
  <p:slideViewPr>
    <p:cSldViewPr snapToGrid="0">
      <p:cViewPr varScale="1">
        <p:scale>
          <a:sx n="72" d="100"/>
          <a:sy n="72" d="100"/>
        </p:scale>
        <p:origin x="84" y="5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i, Wilson" userId="2840974a-0d84-4886-90a9-9a3ed79f3a48" providerId="ADAL" clId="{9F23B798-9E84-4552-BA63-E776E805C424}"/>
    <pc:docChg chg="custSel modSld">
      <pc:chgData name="Lai, Wilson" userId="2840974a-0d84-4886-90a9-9a3ed79f3a48" providerId="ADAL" clId="{9F23B798-9E84-4552-BA63-E776E805C424}" dt="2026-09-25T02:43:37.079" v="52" actId="166"/>
      <pc:docMkLst>
        <pc:docMk/>
      </pc:docMkLst>
      <pc:sldChg chg="addSp delSp modSp mod modNotesTx">
        <pc:chgData name="Lai, Wilson" userId="2840974a-0d84-4886-90a9-9a3ed79f3a48" providerId="ADAL" clId="{9F23B798-9E84-4552-BA63-E776E805C424}" dt="2026-09-25T02:43:37.079" v="52" actId="166"/>
        <pc:sldMkLst>
          <pc:docMk/>
          <pc:sldMk cId="0" sldId="257"/>
        </pc:sldMkLst>
        <pc:picChg chg="del">
          <ac:chgData name="Lai, Wilson" userId="2840974a-0d84-4886-90a9-9a3ed79f3a48" providerId="ADAL" clId="{9F23B798-9E84-4552-BA63-E776E805C424}" dt="2026-09-25T02:27:20.267" v="0" actId="21"/>
          <ac:picMkLst>
            <pc:docMk/>
            <pc:sldMk cId="0" sldId="257"/>
            <ac:picMk id="2" creationId="{00000000-0000-0000-0000-000000000000}"/>
          </ac:picMkLst>
        </pc:picChg>
        <pc:picChg chg="add ord">
          <ac:chgData name="Lai, Wilson" userId="2840974a-0d84-4886-90a9-9a3ed79f3a48" providerId="ADAL" clId="{9F23B798-9E84-4552-BA63-E776E805C424}" dt="2026-09-25T02:43:37.079" v="52" actId="166"/>
          <ac:picMkLst>
            <pc:docMk/>
            <pc:sldMk cId="0" sldId="257"/>
            <ac:picMk id="7" creationId="{0A0B5D3B-4526-3022-1258-2F94FDDDBA37}"/>
          </ac:picMkLst>
        </pc:picChg>
      </pc:sldChg>
      <pc:sldChg chg="addSp delSp mod">
        <pc:chgData name="Lai, Wilson" userId="2840974a-0d84-4886-90a9-9a3ed79f3a48" providerId="ADAL" clId="{9F23B798-9E84-4552-BA63-E776E805C424}" dt="2026-09-25T02:27:46.792" v="3" actId="22"/>
        <pc:sldMkLst>
          <pc:docMk/>
          <pc:sldMk cId="0" sldId="258"/>
        </pc:sldMkLst>
        <pc:picChg chg="del">
          <ac:chgData name="Lai, Wilson" userId="2840974a-0d84-4886-90a9-9a3ed79f3a48" providerId="ADAL" clId="{9F23B798-9E84-4552-BA63-E776E805C424}" dt="2026-09-25T02:27:36.519" v="2" actId="21"/>
          <ac:picMkLst>
            <pc:docMk/>
            <pc:sldMk cId="0" sldId="258"/>
            <ac:picMk id="2" creationId="{00000000-0000-0000-0000-000000000000}"/>
          </ac:picMkLst>
        </pc:picChg>
        <pc:picChg chg="add">
          <ac:chgData name="Lai, Wilson" userId="2840974a-0d84-4886-90a9-9a3ed79f3a48" providerId="ADAL" clId="{9F23B798-9E84-4552-BA63-E776E805C424}" dt="2026-09-25T02:27:46.792" v="3" actId="22"/>
          <ac:picMkLst>
            <pc:docMk/>
            <pc:sldMk cId="0" sldId="258"/>
            <ac:picMk id="4" creationId="{810D5641-DCE4-3690-3333-CE8AE5A6AF43}"/>
          </ac:picMkLst>
        </pc:picChg>
      </pc:sldChg>
      <pc:sldChg chg="addSp delSp mod modNotesTx">
        <pc:chgData name="Lai, Wilson" userId="2840974a-0d84-4886-90a9-9a3ed79f3a48" providerId="ADAL" clId="{9F23B798-9E84-4552-BA63-E776E805C424}" dt="2026-09-25T02:41:04.165" v="37" actId="12"/>
        <pc:sldMkLst>
          <pc:docMk/>
          <pc:sldMk cId="0" sldId="259"/>
        </pc:sldMkLst>
        <pc:picChg chg="del">
          <ac:chgData name="Lai, Wilson" userId="2840974a-0d84-4886-90a9-9a3ed79f3a48" providerId="ADAL" clId="{9F23B798-9E84-4552-BA63-E776E805C424}" dt="2026-09-25T02:27:49.771" v="4" actId="21"/>
          <ac:picMkLst>
            <pc:docMk/>
            <pc:sldMk cId="0" sldId="259"/>
            <ac:picMk id="2" creationId="{00000000-0000-0000-0000-000000000000}"/>
          </ac:picMkLst>
        </pc:picChg>
        <pc:picChg chg="add">
          <ac:chgData name="Lai, Wilson" userId="2840974a-0d84-4886-90a9-9a3ed79f3a48" providerId="ADAL" clId="{9F23B798-9E84-4552-BA63-E776E805C424}" dt="2026-09-25T02:27:59.562" v="5" actId="22"/>
          <ac:picMkLst>
            <pc:docMk/>
            <pc:sldMk cId="0" sldId="259"/>
            <ac:picMk id="4" creationId="{0EBD8DAE-06DD-AF1F-D7E6-2E43CBB904D1}"/>
          </ac:picMkLst>
        </pc:picChg>
      </pc:sldChg>
      <pc:sldChg chg="addSp delSp mod modNotesTx">
        <pc:chgData name="Lai, Wilson" userId="2840974a-0d84-4886-90a9-9a3ed79f3a48" providerId="ADAL" clId="{9F23B798-9E84-4552-BA63-E776E805C424}" dt="2026-09-25T02:41:15.369" v="38" actId="12"/>
        <pc:sldMkLst>
          <pc:docMk/>
          <pc:sldMk cId="0" sldId="260"/>
        </pc:sldMkLst>
        <pc:picChg chg="del">
          <ac:chgData name="Lai, Wilson" userId="2840974a-0d84-4886-90a9-9a3ed79f3a48" providerId="ADAL" clId="{9F23B798-9E84-4552-BA63-E776E805C424}" dt="2026-09-25T02:28:01.904" v="6" actId="21"/>
          <ac:picMkLst>
            <pc:docMk/>
            <pc:sldMk cId="0" sldId="260"/>
            <ac:picMk id="2" creationId="{00000000-0000-0000-0000-000000000000}"/>
          </ac:picMkLst>
        </pc:picChg>
        <pc:picChg chg="add">
          <ac:chgData name="Lai, Wilson" userId="2840974a-0d84-4886-90a9-9a3ed79f3a48" providerId="ADAL" clId="{9F23B798-9E84-4552-BA63-E776E805C424}" dt="2026-09-25T02:28:26.701" v="7" actId="22"/>
          <ac:picMkLst>
            <pc:docMk/>
            <pc:sldMk cId="0" sldId="260"/>
            <ac:picMk id="4" creationId="{FAB03DD2-EA4B-6B6E-3D59-F65B20D6B400}"/>
          </ac:picMkLst>
        </pc:picChg>
      </pc:sldChg>
      <pc:sldChg chg="addSp delSp mod modNotesTx">
        <pc:chgData name="Lai, Wilson" userId="2840974a-0d84-4886-90a9-9a3ed79f3a48" providerId="ADAL" clId="{9F23B798-9E84-4552-BA63-E776E805C424}" dt="2026-09-25T02:41:26.027" v="39" actId="12"/>
        <pc:sldMkLst>
          <pc:docMk/>
          <pc:sldMk cId="0" sldId="261"/>
        </pc:sldMkLst>
        <pc:picChg chg="del">
          <ac:chgData name="Lai, Wilson" userId="2840974a-0d84-4886-90a9-9a3ed79f3a48" providerId="ADAL" clId="{9F23B798-9E84-4552-BA63-E776E805C424}" dt="2026-09-25T02:28:29.271" v="8" actId="21"/>
          <ac:picMkLst>
            <pc:docMk/>
            <pc:sldMk cId="0" sldId="261"/>
            <ac:picMk id="2" creationId="{00000000-0000-0000-0000-000000000000}"/>
          </ac:picMkLst>
        </pc:picChg>
        <pc:picChg chg="add">
          <ac:chgData name="Lai, Wilson" userId="2840974a-0d84-4886-90a9-9a3ed79f3a48" providerId="ADAL" clId="{9F23B798-9E84-4552-BA63-E776E805C424}" dt="2026-09-25T02:28:37.853" v="9" actId="22"/>
          <ac:picMkLst>
            <pc:docMk/>
            <pc:sldMk cId="0" sldId="261"/>
            <ac:picMk id="4" creationId="{857D63F8-E5E9-0CF9-7775-90FBE3F39EF7}"/>
          </ac:picMkLst>
        </pc:picChg>
      </pc:sldChg>
      <pc:sldChg chg="addSp delSp mod modNotesTx">
        <pc:chgData name="Lai, Wilson" userId="2840974a-0d84-4886-90a9-9a3ed79f3a48" providerId="ADAL" clId="{9F23B798-9E84-4552-BA63-E776E805C424}" dt="2026-09-25T02:41:39.444" v="40" actId="12"/>
        <pc:sldMkLst>
          <pc:docMk/>
          <pc:sldMk cId="0" sldId="262"/>
        </pc:sldMkLst>
        <pc:picChg chg="del">
          <ac:chgData name="Lai, Wilson" userId="2840974a-0d84-4886-90a9-9a3ed79f3a48" providerId="ADAL" clId="{9F23B798-9E84-4552-BA63-E776E805C424}" dt="2026-09-25T02:28:39.911" v="10" actId="21"/>
          <ac:picMkLst>
            <pc:docMk/>
            <pc:sldMk cId="0" sldId="262"/>
            <ac:picMk id="2" creationId="{00000000-0000-0000-0000-000000000000}"/>
          </ac:picMkLst>
        </pc:picChg>
        <pc:picChg chg="add">
          <ac:chgData name="Lai, Wilson" userId="2840974a-0d84-4886-90a9-9a3ed79f3a48" providerId="ADAL" clId="{9F23B798-9E84-4552-BA63-E776E805C424}" dt="2026-09-25T02:28:51.469" v="11" actId="22"/>
          <ac:picMkLst>
            <pc:docMk/>
            <pc:sldMk cId="0" sldId="262"/>
            <ac:picMk id="4" creationId="{8C7F86A9-09E0-4126-0737-819F3781177D}"/>
          </ac:picMkLst>
        </pc:picChg>
      </pc:sldChg>
      <pc:sldChg chg="addSp delSp mod modNotesTx">
        <pc:chgData name="Lai, Wilson" userId="2840974a-0d84-4886-90a9-9a3ed79f3a48" providerId="ADAL" clId="{9F23B798-9E84-4552-BA63-E776E805C424}" dt="2026-09-25T02:41:51.294" v="41" actId="12"/>
        <pc:sldMkLst>
          <pc:docMk/>
          <pc:sldMk cId="0" sldId="263"/>
        </pc:sldMkLst>
        <pc:picChg chg="del">
          <ac:chgData name="Lai, Wilson" userId="2840974a-0d84-4886-90a9-9a3ed79f3a48" providerId="ADAL" clId="{9F23B798-9E84-4552-BA63-E776E805C424}" dt="2026-09-25T02:28:53.070" v="12" actId="21"/>
          <ac:picMkLst>
            <pc:docMk/>
            <pc:sldMk cId="0" sldId="263"/>
            <ac:picMk id="2" creationId="{00000000-0000-0000-0000-000000000000}"/>
          </ac:picMkLst>
        </pc:picChg>
        <pc:picChg chg="add">
          <ac:chgData name="Lai, Wilson" userId="2840974a-0d84-4886-90a9-9a3ed79f3a48" providerId="ADAL" clId="{9F23B798-9E84-4552-BA63-E776E805C424}" dt="2026-09-25T02:29:01.334" v="13" actId="22"/>
          <ac:picMkLst>
            <pc:docMk/>
            <pc:sldMk cId="0" sldId="263"/>
            <ac:picMk id="4" creationId="{11BCBE9C-ED4B-654A-6EBA-2381B496F891}"/>
          </ac:picMkLst>
        </pc:picChg>
      </pc:sldChg>
      <pc:sldChg chg="addSp delSp mod modNotesTx">
        <pc:chgData name="Lai, Wilson" userId="2840974a-0d84-4886-90a9-9a3ed79f3a48" providerId="ADAL" clId="{9F23B798-9E84-4552-BA63-E776E805C424}" dt="2026-09-25T02:42:03.091" v="42" actId="12"/>
        <pc:sldMkLst>
          <pc:docMk/>
          <pc:sldMk cId="0" sldId="264"/>
        </pc:sldMkLst>
        <pc:picChg chg="del">
          <ac:chgData name="Lai, Wilson" userId="2840974a-0d84-4886-90a9-9a3ed79f3a48" providerId="ADAL" clId="{9F23B798-9E84-4552-BA63-E776E805C424}" dt="2026-09-25T02:29:02.839" v="14" actId="21"/>
          <ac:picMkLst>
            <pc:docMk/>
            <pc:sldMk cId="0" sldId="264"/>
            <ac:picMk id="2" creationId="{00000000-0000-0000-0000-000000000000}"/>
          </ac:picMkLst>
        </pc:picChg>
        <pc:picChg chg="add">
          <ac:chgData name="Lai, Wilson" userId="2840974a-0d84-4886-90a9-9a3ed79f3a48" providerId="ADAL" clId="{9F23B798-9E84-4552-BA63-E776E805C424}" dt="2026-09-25T02:29:09.697" v="15" actId="22"/>
          <ac:picMkLst>
            <pc:docMk/>
            <pc:sldMk cId="0" sldId="264"/>
            <ac:picMk id="4" creationId="{CFCBB33C-64D7-91B5-62B7-AAF7C0899ED9}"/>
          </ac:picMkLst>
        </pc:picChg>
      </pc:sldChg>
      <pc:sldChg chg="addSp delSp mod modNotesTx">
        <pc:chgData name="Lai, Wilson" userId="2840974a-0d84-4886-90a9-9a3ed79f3a48" providerId="ADAL" clId="{9F23B798-9E84-4552-BA63-E776E805C424}" dt="2026-09-25T02:42:15.617" v="43" actId="12"/>
        <pc:sldMkLst>
          <pc:docMk/>
          <pc:sldMk cId="0" sldId="265"/>
        </pc:sldMkLst>
        <pc:picChg chg="del">
          <ac:chgData name="Lai, Wilson" userId="2840974a-0d84-4886-90a9-9a3ed79f3a48" providerId="ADAL" clId="{9F23B798-9E84-4552-BA63-E776E805C424}" dt="2026-09-25T02:29:11.964" v="16" actId="21"/>
          <ac:picMkLst>
            <pc:docMk/>
            <pc:sldMk cId="0" sldId="265"/>
            <ac:picMk id="2" creationId="{00000000-0000-0000-0000-000000000000}"/>
          </ac:picMkLst>
        </pc:picChg>
        <pc:picChg chg="add">
          <ac:chgData name="Lai, Wilson" userId="2840974a-0d84-4886-90a9-9a3ed79f3a48" providerId="ADAL" clId="{9F23B798-9E84-4552-BA63-E776E805C424}" dt="2026-09-25T02:29:19.227" v="17" actId="22"/>
          <ac:picMkLst>
            <pc:docMk/>
            <pc:sldMk cId="0" sldId="265"/>
            <ac:picMk id="4" creationId="{80EA99E0-DB86-3678-DFAF-8520AF073CED}"/>
          </ac:picMkLst>
        </pc:picChg>
      </pc:sldChg>
      <pc:sldChg chg="addSp delSp mod">
        <pc:chgData name="Lai, Wilson" userId="2840974a-0d84-4886-90a9-9a3ed79f3a48" providerId="ADAL" clId="{9F23B798-9E84-4552-BA63-E776E805C424}" dt="2026-09-25T02:29:27.476" v="19" actId="22"/>
        <pc:sldMkLst>
          <pc:docMk/>
          <pc:sldMk cId="0" sldId="266"/>
        </pc:sldMkLst>
        <pc:picChg chg="del">
          <ac:chgData name="Lai, Wilson" userId="2840974a-0d84-4886-90a9-9a3ed79f3a48" providerId="ADAL" clId="{9F23B798-9E84-4552-BA63-E776E805C424}" dt="2026-09-25T02:29:20.647" v="18" actId="21"/>
          <ac:picMkLst>
            <pc:docMk/>
            <pc:sldMk cId="0" sldId="266"/>
            <ac:picMk id="2" creationId="{00000000-0000-0000-0000-000000000000}"/>
          </ac:picMkLst>
        </pc:picChg>
        <pc:picChg chg="add">
          <ac:chgData name="Lai, Wilson" userId="2840974a-0d84-4886-90a9-9a3ed79f3a48" providerId="ADAL" clId="{9F23B798-9E84-4552-BA63-E776E805C424}" dt="2026-09-25T02:29:27.476" v="19" actId="22"/>
          <ac:picMkLst>
            <pc:docMk/>
            <pc:sldMk cId="0" sldId="266"/>
            <ac:picMk id="4" creationId="{996231FE-71D1-5E8F-25D9-4830BB379A78}"/>
          </ac:picMkLst>
        </pc:picChg>
      </pc:sldChg>
      <pc:sldChg chg="addSp delSp mod">
        <pc:chgData name="Lai, Wilson" userId="2840974a-0d84-4886-90a9-9a3ed79f3a48" providerId="ADAL" clId="{9F23B798-9E84-4552-BA63-E776E805C424}" dt="2026-09-25T02:29:38.288" v="21" actId="22"/>
        <pc:sldMkLst>
          <pc:docMk/>
          <pc:sldMk cId="0" sldId="267"/>
        </pc:sldMkLst>
        <pc:picChg chg="del">
          <ac:chgData name="Lai, Wilson" userId="2840974a-0d84-4886-90a9-9a3ed79f3a48" providerId="ADAL" clId="{9F23B798-9E84-4552-BA63-E776E805C424}" dt="2026-09-25T02:29:30.039" v="20" actId="21"/>
          <ac:picMkLst>
            <pc:docMk/>
            <pc:sldMk cId="0" sldId="267"/>
            <ac:picMk id="2" creationId="{00000000-0000-0000-0000-000000000000}"/>
          </ac:picMkLst>
        </pc:picChg>
        <pc:picChg chg="add">
          <ac:chgData name="Lai, Wilson" userId="2840974a-0d84-4886-90a9-9a3ed79f3a48" providerId="ADAL" clId="{9F23B798-9E84-4552-BA63-E776E805C424}" dt="2026-09-25T02:29:38.288" v="21" actId="22"/>
          <ac:picMkLst>
            <pc:docMk/>
            <pc:sldMk cId="0" sldId="267"/>
            <ac:picMk id="4" creationId="{9012590B-BF89-5D97-AC33-0ECFA3971434}"/>
          </ac:picMkLst>
        </pc:picChg>
      </pc:sldChg>
      <pc:sldChg chg="addSp delSp mod">
        <pc:chgData name="Lai, Wilson" userId="2840974a-0d84-4886-90a9-9a3ed79f3a48" providerId="ADAL" clId="{9F23B798-9E84-4552-BA63-E776E805C424}" dt="2026-09-25T02:29:47.591" v="23" actId="22"/>
        <pc:sldMkLst>
          <pc:docMk/>
          <pc:sldMk cId="0" sldId="268"/>
        </pc:sldMkLst>
        <pc:picChg chg="del">
          <ac:chgData name="Lai, Wilson" userId="2840974a-0d84-4886-90a9-9a3ed79f3a48" providerId="ADAL" clId="{9F23B798-9E84-4552-BA63-E776E805C424}" dt="2026-09-25T02:29:39.399" v="22" actId="21"/>
          <ac:picMkLst>
            <pc:docMk/>
            <pc:sldMk cId="0" sldId="268"/>
            <ac:picMk id="2" creationId="{00000000-0000-0000-0000-000000000000}"/>
          </ac:picMkLst>
        </pc:picChg>
        <pc:picChg chg="add">
          <ac:chgData name="Lai, Wilson" userId="2840974a-0d84-4886-90a9-9a3ed79f3a48" providerId="ADAL" clId="{9F23B798-9E84-4552-BA63-E776E805C424}" dt="2026-09-25T02:29:47.591" v="23" actId="22"/>
          <ac:picMkLst>
            <pc:docMk/>
            <pc:sldMk cId="0" sldId="268"/>
            <ac:picMk id="4" creationId="{75E73553-476C-5C90-B75F-69CBA2BE3673}"/>
          </ac:picMkLst>
        </pc:picChg>
      </pc:sldChg>
      <pc:sldChg chg="addSp delSp modSp mod">
        <pc:chgData name="Lai, Wilson" userId="2840974a-0d84-4886-90a9-9a3ed79f3a48" providerId="ADAL" clId="{9F23B798-9E84-4552-BA63-E776E805C424}" dt="2026-09-25T02:29:57.037" v="26" actId="22"/>
        <pc:sldMkLst>
          <pc:docMk/>
          <pc:sldMk cId="0" sldId="269"/>
        </pc:sldMkLst>
        <pc:picChg chg="del mod">
          <ac:chgData name="Lai, Wilson" userId="2840974a-0d84-4886-90a9-9a3ed79f3a48" providerId="ADAL" clId="{9F23B798-9E84-4552-BA63-E776E805C424}" dt="2026-09-25T02:29:48.862" v="25" actId="21"/>
          <ac:picMkLst>
            <pc:docMk/>
            <pc:sldMk cId="0" sldId="269"/>
            <ac:picMk id="2" creationId="{00000000-0000-0000-0000-000000000000}"/>
          </ac:picMkLst>
        </pc:picChg>
        <pc:picChg chg="add">
          <ac:chgData name="Lai, Wilson" userId="2840974a-0d84-4886-90a9-9a3ed79f3a48" providerId="ADAL" clId="{9F23B798-9E84-4552-BA63-E776E805C424}" dt="2026-09-25T02:29:57.037" v="26" actId="22"/>
          <ac:picMkLst>
            <pc:docMk/>
            <pc:sldMk cId="0" sldId="269"/>
            <ac:picMk id="4" creationId="{935064DD-3955-26F9-2991-04C5CF6F0C85}"/>
          </ac:picMkLst>
        </pc:picChg>
      </pc:sldChg>
      <pc:sldChg chg="addSp delSp mod modNotesTx">
        <pc:chgData name="Lai, Wilson" userId="2840974a-0d84-4886-90a9-9a3ed79f3a48" providerId="ADAL" clId="{9F23B798-9E84-4552-BA63-E776E805C424}" dt="2026-09-25T02:43:10.455" v="44" actId="12"/>
        <pc:sldMkLst>
          <pc:docMk/>
          <pc:sldMk cId="0" sldId="270"/>
        </pc:sldMkLst>
        <pc:picChg chg="del">
          <ac:chgData name="Lai, Wilson" userId="2840974a-0d84-4886-90a9-9a3ed79f3a48" providerId="ADAL" clId="{9F23B798-9E84-4552-BA63-E776E805C424}" dt="2026-09-25T02:29:59.617" v="27" actId="21"/>
          <ac:picMkLst>
            <pc:docMk/>
            <pc:sldMk cId="0" sldId="270"/>
            <ac:picMk id="2" creationId="{00000000-0000-0000-0000-000000000000}"/>
          </ac:picMkLst>
        </pc:picChg>
        <pc:picChg chg="add">
          <ac:chgData name="Lai, Wilson" userId="2840974a-0d84-4886-90a9-9a3ed79f3a48" providerId="ADAL" clId="{9F23B798-9E84-4552-BA63-E776E805C424}" dt="2026-09-25T02:30:05.929" v="28" actId="22"/>
          <ac:picMkLst>
            <pc:docMk/>
            <pc:sldMk cId="0" sldId="270"/>
            <ac:picMk id="4" creationId="{5B5A80FD-8B90-F280-FF19-BE134E5AB91D}"/>
          </ac:picMkLst>
        </pc:picChg>
      </pc:sldChg>
      <pc:sldChg chg="addSp delSp mod modNotesTx">
        <pc:chgData name="Lai, Wilson" userId="2840974a-0d84-4886-90a9-9a3ed79f3a48" providerId="ADAL" clId="{9F23B798-9E84-4552-BA63-E776E805C424}" dt="2026-09-25T02:43:29.666" v="51" actId="113"/>
        <pc:sldMkLst>
          <pc:docMk/>
          <pc:sldMk cId="1564129466" sldId="271"/>
        </pc:sldMkLst>
        <pc:picChg chg="del">
          <ac:chgData name="Lai, Wilson" userId="2840974a-0d84-4886-90a9-9a3ed79f3a48" providerId="ADAL" clId="{9F23B798-9E84-4552-BA63-E776E805C424}" dt="2026-09-25T02:30:07.506" v="29" actId="21"/>
          <ac:picMkLst>
            <pc:docMk/>
            <pc:sldMk cId="1564129466" sldId="271"/>
            <ac:picMk id="3" creationId="{6319E9AE-6418-F39B-D96E-D5FAE37718CB}"/>
          </ac:picMkLst>
        </pc:picChg>
        <pc:picChg chg="add">
          <ac:chgData name="Lai, Wilson" userId="2840974a-0d84-4886-90a9-9a3ed79f3a48" providerId="ADAL" clId="{9F23B798-9E84-4552-BA63-E776E805C424}" dt="2026-09-25T02:30:33.527" v="30" actId="22"/>
          <ac:picMkLst>
            <pc:docMk/>
            <pc:sldMk cId="1564129466" sldId="271"/>
            <ac:picMk id="4" creationId="{6480B15E-C290-35D8-D520-7EE7B00CC216}"/>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9A19F33-9625-409D-B6FE-0F03C23CFC1F}" type="datetimeFigureOut">
              <a:rPr lang="en-US" smtClean="0"/>
              <a:t>10/21/2026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188C096-5848-4C8E-83D5-C83FBB120C93}" type="slidenum">
              <a:rPr lang="en-US" smtClean="0"/>
              <a:t>‹#›</a:t>
            </a:fld>
            <a:endParaRPr lang="en-US"/>
          </a:p>
        </p:txBody>
      </p:sp>
    </p:spTree>
    <p:extLst>
      <p:ext uri="{BB962C8B-B14F-4D97-AF65-F5344CB8AC3E}">
        <p14:creationId xmlns:p14="http://schemas.microsoft.com/office/powerpoint/2010/main" val="15826213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Good morning/afternoon, everyone. Today, we are decoding </a:t>
            </a:r>
            <a:r>
              <a:rPr lang="en-US" sz="1200" b="1" kern="1200" dirty="0">
                <a:solidFill>
                  <a:schemeClr val="tx1"/>
                </a:solidFill>
                <a:effectLst/>
                <a:latin typeface="+mn-lt"/>
                <a:ea typeface="+mn-ea"/>
                <a:cs typeface="+mn-cs"/>
              </a:rPr>
              <a:t>"The Bartlett Operating System"</a:t>
            </a:r>
            <a:r>
              <a:rPr lang="en-US" sz="1200" kern="1200" dirty="0">
                <a:solidFill>
                  <a:schemeClr val="tx1"/>
                </a:solidFill>
                <a:effectLst/>
                <a:latin typeface="+mn-lt"/>
                <a:ea typeface="+mn-ea"/>
                <a:cs typeface="+mn-cs"/>
              </a:rPr>
              <a:t>—the underlying first-principles framework behind the world’s fastest-growing podcast and media ecosystem. </a:t>
            </a:r>
          </a:p>
          <a:p>
            <a:r>
              <a:rPr lang="en-US" sz="1200" kern="1200" dirty="0">
                <a:solidFill>
                  <a:schemeClr val="tx1"/>
                </a:solidFill>
                <a:effectLst/>
                <a:latin typeface="+mn-lt"/>
                <a:ea typeface="+mn-ea"/>
                <a:cs typeface="+mn-cs"/>
              </a:rPr>
              <a:t>When people look at Steven Bartlett—from being a university dropout to building a $450M framework and reaching over 100 million network followers—they often assume he got lucky or stumbled into viral success. But if you look behind the scenes, nothing about this growth is accidental. It is entirely a </a:t>
            </a:r>
            <a:r>
              <a:rPr lang="en-US" sz="1200" b="1" kern="1200" dirty="0">
                <a:solidFill>
                  <a:schemeClr val="tx1"/>
                </a:solidFill>
                <a:effectLst/>
                <a:latin typeface="+mn-lt"/>
                <a:ea typeface="+mn-ea"/>
                <a:cs typeface="+mn-cs"/>
              </a:rPr>
              <a:t>scientific system</a:t>
            </a:r>
            <a:r>
              <a:rPr lang="en-US" sz="1200" kern="1200" dirty="0">
                <a:solidFill>
                  <a:schemeClr val="tx1"/>
                </a:solidFill>
                <a:effectLst/>
                <a:latin typeface="+mn-lt"/>
                <a:ea typeface="+mn-ea"/>
                <a:cs typeface="+mn-cs"/>
              </a:rPr>
              <a:t> based on rigorous execution, rapid experimentation, and human behavior. </a:t>
            </a:r>
          </a:p>
          <a:p>
            <a:r>
              <a:rPr lang="en-US" sz="1200" kern="1200" dirty="0">
                <a:solidFill>
                  <a:schemeClr val="tx1"/>
                </a:solidFill>
                <a:effectLst/>
                <a:latin typeface="+mn-lt"/>
                <a:ea typeface="+mn-ea"/>
                <a:cs typeface="+mn-cs"/>
              </a:rPr>
              <a:t>Throughout this deck, we are moving away from surface-level tactics and diving into the core principles that drive unstoppable, compounding growth. By the end of this session, you won't just learn podcasting tactics—you will gain an operating system that can be applied to any modern business, media strategy, or leadership model. Let’s dive in. </a:t>
            </a:r>
          </a:p>
          <a:p>
            <a:endParaRPr lang="en-US" dirty="0"/>
          </a:p>
          <a:p>
            <a:endParaRPr lang="en-US" dirty="0"/>
          </a:p>
          <a:p>
            <a:endParaRPr lang="en-US" dirty="0"/>
          </a:p>
          <a:p>
            <a:endParaRPr lang="en-US" dirty="0"/>
          </a:p>
          <a:p>
            <a:endParaRPr lang="en-US" dirty="0"/>
          </a:p>
          <a:p>
            <a:r>
              <a:rPr lang="en-US" b="1" dirty="0"/>
              <a:t>Steven Bartlett REVEALS the Secret Behind the World’s Fastest Growing Podcast | PBD Podcast #861</a:t>
            </a:r>
          </a:p>
          <a:p>
            <a:r>
              <a:rPr lang="en-US" dirty="0"/>
              <a:t>https://www.youtube.com/watch?v=4Na_49oFbKY</a:t>
            </a:r>
          </a:p>
        </p:txBody>
      </p:sp>
      <p:sp>
        <p:nvSpPr>
          <p:cNvPr id="4" name="Slide Number Placeholder 3"/>
          <p:cNvSpPr>
            <a:spLocks noGrp="1"/>
          </p:cNvSpPr>
          <p:nvPr>
            <p:ph type="sldNum" sz="quarter" idx="5"/>
          </p:nvPr>
        </p:nvSpPr>
        <p:spPr/>
        <p:txBody>
          <a:bodyPr/>
          <a:lstStyle/>
          <a:p>
            <a:fld id="{3F8F6FC9-C7AD-4989-91E8-19B7B43B045D}" type="slidenum">
              <a:rPr lang="en-US" smtClean="0"/>
              <a:t>1</a:t>
            </a:fld>
            <a:endParaRPr lang="en-US"/>
          </a:p>
        </p:txBody>
      </p:sp>
    </p:spTree>
    <p:extLst>
      <p:ext uri="{BB962C8B-B14F-4D97-AF65-F5344CB8AC3E}">
        <p14:creationId xmlns:p14="http://schemas.microsoft.com/office/powerpoint/2010/main" val="5145359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Let’s start with the foundational problem most companies and creators face: </a:t>
            </a:r>
            <a:r>
              <a:rPr lang="en-US" sz="1200" b="1" kern="1200" dirty="0">
                <a:solidFill>
                  <a:schemeClr val="tx1"/>
                </a:solidFill>
                <a:effectLst/>
                <a:latin typeface="+mn-lt"/>
                <a:ea typeface="+mn-ea"/>
                <a:cs typeface="+mn-cs"/>
              </a:rPr>
              <a:t>The Tactics Trap</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In a world accelerating at breakneck speeds—where futurists like Ray Kurzweil predict we will soon experience a year's worth of technological change in just ten days—copying someone else's tactics is guaranteed failure. Why? Because tactics expire. A growth hack that works today will be obsolete in 6 months. Traditional processes, like spending a year to publish a book, are simply too slow for today's market velocity. </a:t>
            </a:r>
          </a:p>
          <a:p>
            <a:r>
              <a:rPr lang="en-US" sz="1200" kern="1200" dirty="0">
                <a:solidFill>
                  <a:schemeClr val="tx1"/>
                </a:solidFill>
                <a:effectLst/>
                <a:latin typeface="+mn-lt"/>
                <a:ea typeface="+mn-ea"/>
                <a:cs typeface="+mn-cs"/>
              </a:rPr>
              <a:t>As Steven points out, if you rely strictly on strategies and tactics, you are constantly fighting yesterday's battles. But if you think in </a:t>
            </a:r>
            <a:r>
              <a:rPr lang="en-US" sz="1200" b="1" kern="1200" dirty="0">
                <a:solidFill>
                  <a:schemeClr val="tx1"/>
                </a:solidFill>
                <a:effectLst/>
                <a:latin typeface="+mn-lt"/>
                <a:ea typeface="+mn-ea"/>
                <a:cs typeface="+mn-cs"/>
              </a:rPr>
              <a:t>First Principles</a:t>
            </a:r>
            <a:r>
              <a:rPr lang="en-US" sz="1200" kern="1200" dirty="0">
                <a:solidFill>
                  <a:schemeClr val="tx1"/>
                </a:solidFill>
                <a:effectLst/>
                <a:latin typeface="+mn-lt"/>
                <a:ea typeface="+mn-ea"/>
                <a:cs typeface="+mn-cs"/>
              </a:rPr>
              <a:t>, the changing environment doesn't disorient you.</a:t>
            </a:r>
          </a:p>
          <a:p>
            <a:r>
              <a:rPr lang="en-US" sz="1200" kern="1200" dirty="0">
                <a:solidFill>
                  <a:schemeClr val="tx1"/>
                </a:solidFill>
                <a:effectLst/>
                <a:latin typeface="+mn-lt"/>
                <a:ea typeface="+mn-ea"/>
                <a:cs typeface="+mn-cs"/>
              </a:rPr>
              <a:t>The mandate here is clear: Stop looking for someone to give you the "correct answer." Instead, build an internal engine that </a:t>
            </a:r>
            <a:r>
              <a:rPr lang="en-US" sz="1200" b="1" kern="1200" dirty="0">
                <a:solidFill>
                  <a:schemeClr val="tx1"/>
                </a:solidFill>
                <a:effectLst/>
                <a:latin typeface="+mn-lt"/>
                <a:ea typeface="+mn-ea"/>
                <a:cs typeface="+mn-cs"/>
              </a:rPr>
              <a:t>finds</a:t>
            </a:r>
            <a:r>
              <a:rPr lang="en-US" sz="1200" kern="1200" dirty="0">
                <a:solidFill>
                  <a:schemeClr val="tx1"/>
                </a:solidFill>
                <a:effectLst/>
                <a:latin typeface="+mn-lt"/>
                <a:ea typeface="+mn-ea"/>
                <a:cs typeface="+mn-cs"/>
              </a:rPr>
              <a:t> the correct answer faster than your competitors can. </a:t>
            </a:r>
          </a:p>
          <a:p>
            <a:endParaRPr lang="en-US" dirty="0"/>
          </a:p>
        </p:txBody>
      </p:sp>
      <p:sp>
        <p:nvSpPr>
          <p:cNvPr id="4" name="Slide Number Placeholder 3"/>
          <p:cNvSpPr>
            <a:spLocks noGrp="1"/>
          </p:cNvSpPr>
          <p:nvPr>
            <p:ph type="sldNum" sz="quarter" idx="5"/>
          </p:nvPr>
        </p:nvSpPr>
        <p:spPr/>
        <p:txBody>
          <a:bodyPr/>
          <a:lstStyle/>
          <a:p>
            <a:fld id="{D188C096-5848-4C8E-83D5-C83FBB120C93}" type="slidenum">
              <a:rPr lang="en-US" smtClean="0"/>
              <a:t>2</a:t>
            </a:fld>
            <a:endParaRPr lang="en-US"/>
          </a:p>
        </p:txBody>
      </p:sp>
    </p:spTree>
    <p:extLst>
      <p:ext uri="{BB962C8B-B14F-4D97-AF65-F5344CB8AC3E}">
        <p14:creationId xmlns:p14="http://schemas.microsoft.com/office/powerpoint/2010/main" val="41128057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Principle Number One: </a:t>
            </a:r>
            <a:r>
              <a:rPr lang="en-US" sz="1200" b="1" kern="1200" dirty="0">
                <a:solidFill>
                  <a:schemeClr val="tx1"/>
                </a:solidFill>
                <a:effectLst/>
                <a:latin typeface="+mn-lt"/>
                <a:ea typeface="+mn-ea"/>
                <a:cs typeface="+mn-cs"/>
              </a:rPr>
              <a:t>Success is a direct byproduct of your rate of experimentation</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Most teams waste months debating in boardrooms, trying to come up with the "smartest" or "perfect" idea. The Bartlett OS rejects this entirely. The goal is not to be smart; it’s to </a:t>
            </a:r>
            <a:r>
              <a:rPr lang="en-US" sz="1200" b="1" kern="1200" dirty="0">
                <a:solidFill>
                  <a:schemeClr val="tx1"/>
                </a:solidFill>
                <a:effectLst/>
                <a:latin typeface="+mn-lt"/>
                <a:ea typeface="+mn-ea"/>
                <a:cs typeface="+mn-cs"/>
              </a:rPr>
              <a:t>kill guesswork through empirical data</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Look at the 4-step experimental framework outlined here: </a:t>
            </a:r>
          </a:p>
          <a:p>
            <a:pPr marL="228600" lvl="0" indent="-228600">
              <a:buFont typeface="+mj-lt"/>
              <a:buAutoNum type="arabicPeriod"/>
            </a:pPr>
            <a:r>
              <a:rPr lang="en-US" sz="1200" b="1" kern="1200" dirty="0">
                <a:solidFill>
                  <a:schemeClr val="tx1"/>
                </a:solidFill>
                <a:effectLst/>
                <a:latin typeface="+mn-lt"/>
                <a:ea typeface="+mn-ea"/>
                <a:cs typeface="+mn-cs"/>
              </a:rPr>
              <a:t>Hold Variables:</a:t>
            </a:r>
            <a:r>
              <a:rPr lang="en-US" sz="1200" kern="1200" dirty="0">
                <a:solidFill>
                  <a:schemeClr val="tx1"/>
                </a:solidFill>
                <a:effectLst/>
                <a:latin typeface="+mn-lt"/>
                <a:ea typeface="+mn-ea"/>
                <a:cs typeface="+mn-cs"/>
              </a:rPr>
              <a:t> Establish a clean baseline. </a:t>
            </a:r>
          </a:p>
          <a:p>
            <a:pPr marL="228600" lvl="0" indent="-228600">
              <a:buFont typeface="+mj-lt"/>
              <a:buAutoNum type="arabicPeriod"/>
            </a:pPr>
            <a:r>
              <a:rPr lang="en-US" sz="1200" b="1" kern="1200" dirty="0">
                <a:solidFill>
                  <a:schemeClr val="tx1"/>
                </a:solidFill>
                <a:effectLst/>
                <a:latin typeface="+mn-lt"/>
                <a:ea typeface="+mn-ea"/>
                <a:cs typeface="+mn-cs"/>
              </a:rPr>
              <a:t>Change One Element:</a:t>
            </a:r>
            <a:r>
              <a:rPr lang="en-US" sz="1200" kern="1200" dirty="0">
                <a:solidFill>
                  <a:schemeClr val="tx1"/>
                </a:solidFill>
                <a:effectLst/>
                <a:latin typeface="+mn-lt"/>
                <a:ea typeface="+mn-ea"/>
                <a:cs typeface="+mn-cs"/>
              </a:rPr>
              <a:t> Isolate what you are testing—whether it's a headline, a thumbnail, or a 10-second opening hook. </a:t>
            </a:r>
          </a:p>
          <a:p>
            <a:pPr marL="228600" lvl="0" indent="-228600">
              <a:buFont typeface="+mj-lt"/>
              <a:buAutoNum type="arabicPeriod"/>
            </a:pPr>
            <a:r>
              <a:rPr lang="en-US" sz="1200" b="1" kern="1200" dirty="0">
                <a:solidFill>
                  <a:schemeClr val="tx1"/>
                </a:solidFill>
                <a:effectLst/>
                <a:latin typeface="+mn-lt"/>
                <a:ea typeface="+mn-ea"/>
                <a:cs typeface="+mn-cs"/>
              </a:rPr>
              <a:t>Hypothesize &amp; Measure:</a:t>
            </a:r>
            <a:r>
              <a:rPr lang="en-US" sz="1200" kern="1200" dirty="0">
                <a:solidFill>
                  <a:schemeClr val="tx1"/>
                </a:solidFill>
                <a:effectLst/>
                <a:latin typeface="+mn-lt"/>
                <a:ea typeface="+mn-ea"/>
                <a:cs typeface="+mn-cs"/>
              </a:rPr>
              <a:t> Set clear expectations before gathering real user data. </a:t>
            </a:r>
          </a:p>
          <a:p>
            <a:pPr marL="228600" lvl="0" indent="-228600">
              <a:buFont typeface="+mj-lt"/>
              <a:buAutoNum type="arabicPeriod"/>
            </a:pPr>
            <a:r>
              <a:rPr lang="en-US" sz="1200" b="1" kern="1200" dirty="0">
                <a:solidFill>
                  <a:schemeClr val="tx1"/>
                </a:solidFill>
                <a:effectLst/>
                <a:latin typeface="+mn-lt"/>
                <a:ea typeface="+mn-ea"/>
                <a:cs typeface="+mn-cs"/>
              </a:rPr>
              <a:t>Report to Central Slack:</a:t>
            </a:r>
            <a:r>
              <a:rPr lang="en-US" sz="1200" kern="1200" dirty="0">
                <a:solidFill>
                  <a:schemeClr val="tx1"/>
                </a:solidFill>
                <a:effectLst/>
                <a:latin typeface="+mn-lt"/>
                <a:ea typeface="+mn-ea"/>
                <a:cs typeface="+mn-cs"/>
              </a:rPr>
              <a:t> Shared organizational learning. </a:t>
            </a:r>
          </a:p>
          <a:p>
            <a:r>
              <a:rPr lang="en-US" sz="1200" kern="1200" dirty="0">
                <a:solidFill>
                  <a:schemeClr val="tx1"/>
                </a:solidFill>
                <a:effectLst/>
                <a:latin typeface="+mn-lt"/>
                <a:ea typeface="+mn-ea"/>
                <a:cs typeface="+mn-cs"/>
              </a:rPr>
              <a:t>Notice the graphic on the right: </a:t>
            </a:r>
            <a:r>
              <a:rPr lang="en-US" sz="1200" b="1" kern="1200" dirty="0">
                <a:solidFill>
                  <a:schemeClr val="tx1"/>
                </a:solidFill>
                <a:effectLst/>
                <a:latin typeface="+mn-lt"/>
                <a:ea typeface="+mn-ea"/>
                <a:cs typeface="+mn-cs"/>
              </a:rPr>
              <a:t>"1-in-10 Pays for the Graveyard."</a:t>
            </a:r>
            <a:r>
              <a:rPr lang="en-US" sz="1200" kern="1200" dirty="0">
                <a:solidFill>
                  <a:schemeClr val="tx1"/>
                </a:solidFill>
                <a:effectLst/>
                <a:latin typeface="+mn-lt"/>
                <a:ea typeface="+mn-ea"/>
                <a:cs typeface="+mn-cs"/>
              </a:rPr>
              <a:t> Out of ten experiments, nine might fail. But that one successful trial yields explosive returns that pay for all previous failures combined. Manage and incentivize your team based on </a:t>
            </a:r>
            <a:r>
              <a:rPr lang="en-US" sz="1200" b="1" kern="1200" dirty="0">
                <a:solidFill>
                  <a:schemeClr val="tx1"/>
                </a:solidFill>
                <a:effectLst/>
                <a:latin typeface="+mn-lt"/>
                <a:ea typeface="+mn-ea"/>
                <a:cs typeface="+mn-cs"/>
              </a:rPr>
              <a:t>input</a:t>
            </a:r>
            <a:r>
              <a:rPr lang="en-US" sz="1200" kern="1200" dirty="0">
                <a:solidFill>
                  <a:schemeClr val="tx1"/>
                </a:solidFill>
                <a:effectLst/>
                <a:latin typeface="+mn-lt"/>
                <a:ea typeface="+mn-ea"/>
                <a:cs typeface="+mn-cs"/>
              </a:rPr>
              <a:t> (the number of hypotheses tested per week), not just immediate output. </a:t>
            </a:r>
          </a:p>
          <a:p>
            <a:endParaRPr lang="en-US" dirty="0"/>
          </a:p>
        </p:txBody>
      </p:sp>
      <p:sp>
        <p:nvSpPr>
          <p:cNvPr id="4" name="Slide Number Placeholder 3"/>
          <p:cNvSpPr>
            <a:spLocks noGrp="1"/>
          </p:cNvSpPr>
          <p:nvPr>
            <p:ph type="sldNum" sz="quarter" idx="5"/>
          </p:nvPr>
        </p:nvSpPr>
        <p:spPr/>
        <p:txBody>
          <a:bodyPr/>
          <a:lstStyle/>
          <a:p>
            <a:fld id="{D188C096-5848-4C8E-83D5-C83FBB120C93}" type="slidenum">
              <a:rPr lang="en-US" smtClean="0"/>
              <a:t>3</a:t>
            </a:fld>
            <a:endParaRPr lang="en-US"/>
          </a:p>
        </p:txBody>
      </p:sp>
    </p:spTree>
    <p:extLst>
      <p:ext uri="{BB962C8B-B14F-4D97-AF65-F5344CB8AC3E}">
        <p14:creationId xmlns:p14="http://schemas.microsoft.com/office/powerpoint/2010/main" val="30800431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There is a massive myth in business that momentum comes from huge, dramatic leaps—like booking a world-famous celebrity or launching a multi-million-dollar campaign. </a:t>
            </a:r>
          </a:p>
          <a:p>
            <a:r>
              <a:rPr lang="en-US" sz="1200" kern="1200" dirty="0">
                <a:solidFill>
                  <a:schemeClr val="tx1"/>
                </a:solidFill>
                <a:effectLst/>
                <a:latin typeface="+mn-lt"/>
                <a:ea typeface="+mn-ea"/>
                <a:cs typeface="+mn-cs"/>
              </a:rPr>
              <a:t>The reality is governed by </a:t>
            </a:r>
            <a:r>
              <a:rPr lang="en-US" sz="1200" b="1" kern="1200" dirty="0">
                <a:solidFill>
                  <a:schemeClr val="tx1"/>
                </a:solidFill>
                <a:effectLst/>
                <a:latin typeface="+mn-lt"/>
                <a:ea typeface="+mn-ea"/>
                <a:cs typeface="+mn-cs"/>
              </a:rPr>
              <a:t>The Progress Principle</a:t>
            </a:r>
            <a:r>
              <a:rPr lang="en-US" sz="1200" kern="1200" dirty="0">
                <a:solidFill>
                  <a:schemeClr val="tx1"/>
                </a:solidFill>
                <a:effectLst/>
                <a:latin typeface="+mn-lt"/>
                <a:ea typeface="+mn-ea"/>
                <a:cs typeface="+mn-cs"/>
              </a:rPr>
              <a:t>: human beings and teams thrive on tiny, daily victories. This is the invisible math of 1% marginal gains. Small improvements, when stacked consistently over time, create unstoppable compound growth. </a:t>
            </a:r>
          </a:p>
          <a:p>
            <a:r>
              <a:rPr lang="en-US" sz="1200" kern="1200" dirty="0">
                <a:solidFill>
                  <a:schemeClr val="tx1"/>
                </a:solidFill>
                <a:effectLst/>
                <a:latin typeface="+mn-lt"/>
                <a:ea typeface="+mn-ea"/>
                <a:cs typeface="+mn-cs"/>
              </a:rPr>
              <a:t>Let's look at three real-world examples of this in action: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Cycling Optimization:</a:t>
            </a:r>
            <a:r>
              <a:rPr lang="en-US" sz="1200" kern="1200" dirty="0">
                <a:solidFill>
                  <a:schemeClr val="tx1"/>
                </a:solidFill>
                <a:effectLst/>
                <a:latin typeface="+mn-lt"/>
                <a:ea typeface="+mn-ea"/>
                <a:cs typeface="+mn-cs"/>
              </a:rPr>
              <a:t> Sir David Brailsford transformed British Cycling by optimizing tiny details—down to bringing the team's custom hotel pillows on the road and refining water bottle shapes.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Studio Environment:</a:t>
            </a:r>
            <a:r>
              <a:rPr lang="en-US" sz="1200" kern="1200" dirty="0">
                <a:solidFill>
                  <a:schemeClr val="tx1"/>
                </a:solidFill>
                <a:effectLst/>
                <a:latin typeface="+mn-lt"/>
                <a:ea typeface="+mn-ea"/>
                <a:cs typeface="+mn-cs"/>
              </a:rPr>
              <a:t> In the </a:t>
            </a:r>
            <a:r>
              <a:rPr lang="en-US" sz="1200" i="1" kern="1200" dirty="0">
                <a:solidFill>
                  <a:schemeClr val="tx1"/>
                </a:solidFill>
                <a:effectLst/>
                <a:latin typeface="+mn-lt"/>
                <a:ea typeface="+mn-ea"/>
                <a:cs typeface="+mn-cs"/>
              </a:rPr>
              <a:t>Diary of a CEO</a:t>
            </a:r>
            <a:r>
              <a:rPr lang="en-US" sz="1200" kern="1200" dirty="0">
                <a:solidFill>
                  <a:schemeClr val="tx1"/>
                </a:solidFill>
                <a:effectLst/>
                <a:latin typeface="+mn-lt"/>
                <a:ea typeface="+mn-ea"/>
                <a:cs typeface="+mn-cs"/>
              </a:rPr>
              <a:t> studio, CO2 sensors are monitored and custom candles are lit. Spotify’s CEO praised the environment because the physical comfort directly impacts the conversational depth.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Audio &amp; Format Nuance:</a:t>
            </a:r>
            <a:r>
              <a:rPr lang="en-US" sz="1200" kern="1200" dirty="0">
                <a:solidFill>
                  <a:schemeClr val="tx1"/>
                </a:solidFill>
                <a:effectLst/>
                <a:latin typeface="+mn-lt"/>
                <a:ea typeface="+mn-ea"/>
                <a:cs typeface="+mn-cs"/>
              </a:rPr>
              <a:t> Simply playing Nipsey Hussle’s music to set the mood for guest Israel Adesanya, or making a subtle 10-second format adjustment to the audio edit, yielded a </a:t>
            </a:r>
            <a:r>
              <a:rPr lang="en-US" sz="1200" b="1" kern="1200" dirty="0">
                <a:solidFill>
                  <a:schemeClr val="tx1"/>
                </a:solidFill>
                <a:effectLst/>
                <a:latin typeface="+mn-lt"/>
                <a:ea typeface="+mn-ea"/>
                <a:cs typeface="+mn-cs"/>
              </a:rPr>
              <a:t>180% growth spike</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Never underestimate the compound impact of details that are "easy to do, but easy not to do." </a:t>
            </a:r>
          </a:p>
          <a:p>
            <a:endParaRPr lang="en-US" dirty="0"/>
          </a:p>
        </p:txBody>
      </p:sp>
      <p:sp>
        <p:nvSpPr>
          <p:cNvPr id="4" name="Slide Number Placeholder 3"/>
          <p:cNvSpPr>
            <a:spLocks noGrp="1"/>
          </p:cNvSpPr>
          <p:nvPr>
            <p:ph type="sldNum" sz="quarter" idx="5"/>
          </p:nvPr>
        </p:nvSpPr>
        <p:spPr/>
        <p:txBody>
          <a:bodyPr/>
          <a:lstStyle/>
          <a:p>
            <a:fld id="{D188C096-5848-4C8E-83D5-C83FBB120C93}" type="slidenum">
              <a:rPr lang="en-US" smtClean="0"/>
              <a:t>4</a:t>
            </a:fld>
            <a:endParaRPr lang="en-US"/>
          </a:p>
        </p:txBody>
      </p:sp>
    </p:spTree>
    <p:extLst>
      <p:ext uri="{BB962C8B-B14F-4D97-AF65-F5344CB8AC3E}">
        <p14:creationId xmlns:p14="http://schemas.microsoft.com/office/powerpoint/2010/main" val="405797967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One of the most dangerous blind spots in any industry is confusing </a:t>
            </a:r>
            <a:r>
              <a:rPr lang="en-US" sz="1200" b="1" kern="1200" dirty="0">
                <a:solidFill>
                  <a:schemeClr val="tx1"/>
                </a:solidFill>
                <a:effectLst/>
                <a:latin typeface="+mn-lt"/>
                <a:ea typeface="+mn-ea"/>
                <a:cs typeface="+mn-cs"/>
              </a:rPr>
              <a:t>tradition and preference</a:t>
            </a:r>
            <a:r>
              <a:rPr lang="en-US" sz="1200" kern="1200" dirty="0">
                <a:solidFill>
                  <a:schemeClr val="tx1"/>
                </a:solidFill>
                <a:effectLst/>
                <a:latin typeface="+mn-lt"/>
                <a:ea typeface="+mn-ea"/>
                <a:cs typeface="+mn-cs"/>
              </a:rPr>
              <a:t> with actual concrete constraints. We call these </a:t>
            </a:r>
            <a:r>
              <a:rPr lang="en-US" sz="1200" b="1" kern="1200" dirty="0">
                <a:solidFill>
                  <a:schemeClr val="tx1"/>
                </a:solidFill>
                <a:effectLst/>
                <a:latin typeface="+mn-lt"/>
                <a:ea typeface="+mn-ea"/>
                <a:cs typeface="+mn-cs"/>
              </a:rPr>
              <a:t>"Paper Walls."</a:t>
            </a:r>
            <a:r>
              <a:rPr lang="en-US" sz="1200" kern="1200" dirty="0">
                <a:solidFill>
                  <a:schemeClr val="tx1"/>
                </a:solidFill>
                <a:effectLst/>
                <a:latin typeface="+mn-lt"/>
                <a:ea typeface="+mn-ea"/>
                <a:cs typeface="+mn-cs"/>
              </a:rPr>
              <a:t> They look like solid barriers from a distance, but if you push on them, they collapse instantly. </a:t>
            </a:r>
          </a:p>
          <a:p>
            <a:r>
              <a:rPr lang="en-US" sz="1200" kern="1200" dirty="0">
                <a:solidFill>
                  <a:schemeClr val="tx1"/>
                </a:solidFill>
                <a:effectLst/>
                <a:latin typeface="+mn-lt"/>
                <a:ea typeface="+mn-ea"/>
                <a:cs typeface="+mn-cs"/>
              </a:rPr>
              <a:t>Consider these three case studies: </a:t>
            </a:r>
          </a:p>
          <a:p>
            <a:pPr marL="228600" lvl="0" indent="-228600">
              <a:buFont typeface="+mj-lt"/>
              <a:buAutoNum type="arabicPeriod"/>
            </a:pPr>
            <a:r>
              <a:rPr lang="en-US" sz="1200" b="1" kern="1200" dirty="0">
                <a:solidFill>
                  <a:schemeClr val="tx1"/>
                </a:solidFill>
                <a:effectLst/>
                <a:latin typeface="+mn-lt"/>
                <a:ea typeface="+mn-ea"/>
                <a:cs typeface="+mn-cs"/>
              </a:rPr>
              <a:t>Fashion (Zara):</a:t>
            </a:r>
            <a:r>
              <a:rPr lang="en-US" sz="1200" kern="1200" dirty="0">
                <a:solidFill>
                  <a:schemeClr val="tx1"/>
                </a:solidFill>
                <a:effectLst/>
                <a:latin typeface="+mn-lt"/>
                <a:ea typeface="+mn-ea"/>
                <a:cs typeface="+mn-cs"/>
              </a:rPr>
              <a:t> The fashion industry operated under the belief that making clothes took 9 months. Amancio Ortega questioned why, built localized supply chains, and established Zara's famous 10-day design-to-rack system. </a:t>
            </a:r>
          </a:p>
          <a:p>
            <a:pPr marL="228600" lvl="0" indent="-228600">
              <a:buFont typeface="+mj-lt"/>
              <a:buAutoNum type="arabicPeriod"/>
            </a:pPr>
            <a:r>
              <a:rPr lang="en-US" sz="1200" b="1" kern="1200" dirty="0">
                <a:solidFill>
                  <a:schemeClr val="tx1"/>
                </a:solidFill>
                <a:effectLst/>
                <a:latin typeface="+mn-lt"/>
                <a:ea typeface="+mn-ea"/>
                <a:cs typeface="+mn-cs"/>
              </a:rPr>
              <a:t>Operations:</a:t>
            </a:r>
            <a:r>
              <a:rPr lang="en-US" sz="1200" kern="1200" dirty="0">
                <a:solidFill>
                  <a:schemeClr val="tx1"/>
                </a:solidFill>
                <a:effectLst/>
                <a:latin typeface="+mn-lt"/>
                <a:ea typeface="+mn-ea"/>
                <a:cs typeface="+mn-cs"/>
              </a:rPr>
              <a:t> A video animator claimed a clip would take 9 days. When asked, </a:t>
            </a:r>
            <a:r>
              <a:rPr lang="en-US" sz="1200" i="1" kern="1200" dirty="0">
                <a:solidFill>
                  <a:schemeClr val="tx1"/>
                </a:solidFill>
                <a:effectLst/>
                <a:latin typeface="+mn-lt"/>
                <a:ea typeface="+mn-ea"/>
                <a:cs typeface="+mn-cs"/>
              </a:rPr>
              <a:t>"What would it take to get this done in 2 days?"</a:t>
            </a:r>
            <a:r>
              <a:rPr lang="en-US" sz="1200" kern="1200" dirty="0">
                <a:solidFill>
                  <a:schemeClr val="tx1"/>
                </a:solidFill>
                <a:effectLst/>
                <a:latin typeface="+mn-lt"/>
                <a:ea typeface="+mn-ea"/>
                <a:cs typeface="+mn-cs"/>
              </a:rPr>
              <a:t> the roadblock wasn't talent or time—it was processing speed. A simple $2,000 MacBook upgrade reduced production time by 78%. </a:t>
            </a:r>
          </a:p>
          <a:p>
            <a:pPr marL="228600" lvl="0" indent="-228600">
              <a:buFont typeface="+mj-lt"/>
              <a:buAutoNum type="arabicPeriod"/>
            </a:pPr>
            <a:r>
              <a:rPr lang="en-US" sz="1200" b="1" kern="1200" dirty="0">
                <a:solidFill>
                  <a:schemeClr val="tx1"/>
                </a:solidFill>
                <a:effectLst/>
                <a:latin typeface="+mn-lt"/>
                <a:ea typeface="+mn-ea"/>
                <a:cs typeface="+mn-cs"/>
              </a:rPr>
              <a:t>Luggage:</a:t>
            </a:r>
            <a:r>
              <a:rPr lang="en-US" sz="1200" kern="1200" dirty="0">
                <a:solidFill>
                  <a:schemeClr val="tx1"/>
                </a:solidFill>
                <a:effectLst/>
                <a:latin typeface="+mn-lt"/>
                <a:ea typeface="+mn-ea"/>
                <a:cs typeface="+mn-cs"/>
              </a:rPr>
              <a:t> For decades, standard protocol dictated that men carried luggage. Bernard Sadow pushed against that paper wall in the 1970s by putting wheels on suitcases, revolutionizing global travel. </a:t>
            </a:r>
          </a:p>
          <a:p>
            <a:r>
              <a:rPr lang="en-US" sz="1200" kern="1200" dirty="0">
                <a:solidFill>
                  <a:schemeClr val="tx1"/>
                </a:solidFill>
                <a:effectLst/>
                <a:latin typeface="+mn-lt"/>
                <a:ea typeface="+mn-ea"/>
                <a:cs typeface="+mn-cs"/>
              </a:rPr>
              <a:t>Tomorrow, examine your own operations. Ask your team: </a:t>
            </a:r>
            <a:r>
              <a:rPr lang="en-US" sz="1200" i="1" kern="1200" dirty="0">
                <a:solidFill>
                  <a:schemeClr val="tx1"/>
                </a:solidFill>
                <a:effectLst/>
                <a:latin typeface="+mn-lt"/>
                <a:ea typeface="+mn-ea"/>
                <a:cs typeface="+mn-cs"/>
              </a:rPr>
              <a:t>Which of our bottlenecks are true physical laws, and which are just paper walls we've accepted out of habit?</a:t>
            </a:r>
            <a:r>
              <a:rPr lang="en-US" sz="1200" kern="1200" dirty="0">
                <a:solidFill>
                  <a:schemeClr val="tx1"/>
                </a:solidFill>
                <a:effectLst/>
                <a:latin typeface="+mn-lt"/>
                <a:ea typeface="+mn-ea"/>
                <a:cs typeface="+mn-cs"/>
              </a:rPr>
              <a:t> </a:t>
            </a:r>
          </a:p>
          <a:p>
            <a:endParaRPr lang="en-US" dirty="0"/>
          </a:p>
        </p:txBody>
      </p:sp>
      <p:sp>
        <p:nvSpPr>
          <p:cNvPr id="4" name="Slide Number Placeholder 3"/>
          <p:cNvSpPr>
            <a:spLocks noGrp="1"/>
          </p:cNvSpPr>
          <p:nvPr>
            <p:ph type="sldNum" sz="quarter" idx="5"/>
          </p:nvPr>
        </p:nvSpPr>
        <p:spPr/>
        <p:txBody>
          <a:bodyPr/>
          <a:lstStyle/>
          <a:p>
            <a:fld id="{D188C096-5848-4C8E-83D5-C83FBB120C93}" type="slidenum">
              <a:rPr lang="en-US" smtClean="0"/>
              <a:t>5</a:t>
            </a:fld>
            <a:endParaRPr lang="en-US"/>
          </a:p>
        </p:txBody>
      </p:sp>
    </p:spTree>
    <p:extLst>
      <p:ext uri="{BB962C8B-B14F-4D97-AF65-F5344CB8AC3E}">
        <p14:creationId xmlns:p14="http://schemas.microsoft.com/office/powerpoint/2010/main" val="412237787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We are living through an unprecedented inflection point: </a:t>
            </a:r>
            <a:r>
              <a:rPr lang="en-US" sz="1200" b="1" kern="1200" dirty="0">
                <a:solidFill>
                  <a:schemeClr val="tx1"/>
                </a:solidFill>
                <a:effectLst/>
                <a:latin typeface="+mn-lt"/>
                <a:ea typeface="+mn-ea"/>
                <a:cs typeface="+mn-cs"/>
              </a:rPr>
              <a:t>As the cost of content production hits zero, the premium shifts entirely to human struggle.</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In the era of generative AI, pure information delivery is a commodity. AI can edit a 3-hour podcast down to clips in under 20 minutes. If your product or media simply delivers raw facts, shallow hooks, or generic advice, you are easily replaceable. </a:t>
            </a:r>
          </a:p>
          <a:p>
            <a:r>
              <a:rPr lang="en-US" sz="1200" kern="1200" dirty="0">
                <a:solidFill>
                  <a:schemeClr val="tx1"/>
                </a:solidFill>
                <a:effectLst/>
                <a:latin typeface="+mn-lt"/>
                <a:ea typeface="+mn-ea"/>
                <a:cs typeface="+mn-cs"/>
              </a:rPr>
              <a:t>Why do millions of people watch Formula 1? Not just for the technological engineering of the cars, but for the </a:t>
            </a:r>
            <a:r>
              <a:rPr lang="en-US" sz="1200" b="1" kern="1200" dirty="0">
                <a:solidFill>
                  <a:schemeClr val="tx1"/>
                </a:solidFill>
                <a:effectLst/>
                <a:latin typeface="+mn-lt"/>
                <a:ea typeface="+mn-ea"/>
                <a:cs typeface="+mn-cs"/>
              </a:rPr>
              <a:t>human rivalry, tension, and stakes</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To build an enduring brand, you must wrap your business in the </a:t>
            </a:r>
            <a:r>
              <a:rPr lang="en-US" sz="1200" b="1" kern="1200" dirty="0">
                <a:solidFill>
                  <a:schemeClr val="tx1"/>
                </a:solidFill>
                <a:effectLst/>
                <a:latin typeface="+mn-lt"/>
                <a:ea typeface="+mn-ea"/>
                <a:cs typeface="+mn-cs"/>
              </a:rPr>
              <a:t>Human Premium</a:t>
            </a:r>
            <a:r>
              <a:rPr lang="en-US" sz="1200" kern="1200" dirty="0">
                <a:solidFill>
                  <a:schemeClr val="tx1"/>
                </a:solidFill>
                <a:effectLst/>
                <a:latin typeface="+mn-lt"/>
                <a:ea typeface="+mn-ea"/>
                <a:cs typeface="+mn-cs"/>
              </a:rPr>
              <a:t>:</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Lived experience over dry facts.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Emotional resonance over cold, technical advice.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Unscripted struggle, vulnerability, and authenticity over polished corporate PR. </a:t>
            </a:r>
          </a:p>
          <a:p>
            <a:endParaRPr lang="en-US" dirty="0"/>
          </a:p>
        </p:txBody>
      </p:sp>
      <p:sp>
        <p:nvSpPr>
          <p:cNvPr id="4" name="Slide Number Placeholder 3"/>
          <p:cNvSpPr>
            <a:spLocks noGrp="1"/>
          </p:cNvSpPr>
          <p:nvPr>
            <p:ph type="sldNum" sz="quarter" idx="5"/>
          </p:nvPr>
        </p:nvSpPr>
        <p:spPr/>
        <p:txBody>
          <a:bodyPr/>
          <a:lstStyle/>
          <a:p>
            <a:fld id="{D188C096-5848-4C8E-83D5-C83FBB120C93}" type="slidenum">
              <a:rPr lang="en-US" smtClean="0"/>
              <a:t>6</a:t>
            </a:fld>
            <a:endParaRPr lang="en-US"/>
          </a:p>
        </p:txBody>
      </p:sp>
    </p:spTree>
    <p:extLst>
      <p:ext uri="{BB962C8B-B14F-4D97-AF65-F5344CB8AC3E}">
        <p14:creationId xmlns:p14="http://schemas.microsoft.com/office/powerpoint/2010/main" val="23251162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This brings us to a major strategic risk in the digital landscape: </a:t>
            </a:r>
            <a:r>
              <a:rPr lang="en-US" sz="1200" b="1" kern="1200" dirty="0">
                <a:solidFill>
                  <a:schemeClr val="tx1"/>
                </a:solidFill>
                <a:effectLst/>
                <a:latin typeface="+mn-lt"/>
                <a:ea typeface="+mn-ea"/>
                <a:cs typeface="+mn-cs"/>
              </a:rPr>
              <a:t>The threat to rented audiences.</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Social platforms are rapidly shifting away from social graphs to AI and LLM recommendation engines. Having 1 million followers no longer guarantees reach, because platforms prioritize session retention over publisher distribution. In media, this decay of organic reach—losing up to 50% year-over-year—is known as </a:t>
            </a:r>
            <a:r>
              <a:rPr lang="en-US" sz="1200" b="1" kern="1200" dirty="0">
                <a:solidFill>
                  <a:schemeClr val="tx1"/>
                </a:solidFill>
                <a:effectLst/>
                <a:latin typeface="+mn-lt"/>
                <a:ea typeface="+mn-ea"/>
                <a:cs typeface="+mn-cs"/>
              </a:rPr>
              <a:t>"Getting Zucked."</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The Bartlett OS requires a crucial mindset pivot: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Stop viewing social media followers as the bottom of your funnel or an asset you own.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Treat social followers strictly as </a:t>
            </a:r>
            <a:r>
              <a:rPr lang="en-US" sz="1200" b="1" kern="1200" dirty="0">
                <a:solidFill>
                  <a:schemeClr val="tx1"/>
                </a:solidFill>
                <a:effectLst/>
                <a:latin typeface="+mn-lt"/>
                <a:ea typeface="+mn-ea"/>
                <a:cs typeface="+mn-cs"/>
              </a:rPr>
              <a:t>top-of-funnel leads</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Your primary objective must be converting rented algorithm traffic into </a:t>
            </a:r>
            <a:r>
              <a:rPr lang="en-US" sz="1200" b="1" kern="1200" dirty="0">
                <a:solidFill>
                  <a:schemeClr val="tx1"/>
                </a:solidFill>
                <a:effectLst/>
                <a:latin typeface="+mn-lt"/>
                <a:ea typeface="+mn-ea"/>
                <a:cs typeface="+mn-cs"/>
              </a:rPr>
              <a:t>Owned Sovereign Assets</a:t>
            </a:r>
            <a:r>
              <a:rPr lang="en-US" sz="1200" kern="1200" dirty="0">
                <a:solidFill>
                  <a:schemeClr val="tx1"/>
                </a:solidFill>
                <a:effectLst/>
                <a:latin typeface="+mn-lt"/>
                <a:ea typeface="+mn-ea"/>
                <a:cs typeface="+mn-cs"/>
              </a:rPr>
              <a:t>—such as email lists, direct physical touchpoints, and deep community relationships where no platform algorithm can stand between you and your audience. </a:t>
            </a:r>
          </a:p>
          <a:p>
            <a:endParaRPr lang="en-US" dirty="0"/>
          </a:p>
        </p:txBody>
      </p:sp>
      <p:sp>
        <p:nvSpPr>
          <p:cNvPr id="4" name="Slide Number Placeholder 3"/>
          <p:cNvSpPr>
            <a:spLocks noGrp="1"/>
          </p:cNvSpPr>
          <p:nvPr>
            <p:ph type="sldNum" sz="quarter" idx="5"/>
          </p:nvPr>
        </p:nvSpPr>
        <p:spPr/>
        <p:txBody>
          <a:bodyPr/>
          <a:lstStyle/>
          <a:p>
            <a:fld id="{D188C096-5848-4C8E-83D5-C83FBB120C93}" type="slidenum">
              <a:rPr lang="en-US" smtClean="0"/>
              <a:t>7</a:t>
            </a:fld>
            <a:endParaRPr lang="en-US"/>
          </a:p>
        </p:txBody>
      </p:sp>
    </p:spTree>
    <p:extLst>
      <p:ext uri="{BB962C8B-B14F-4D97-AF65-F5344CB8AC3E}">
        <p14:creationId xmlns:p14="http://schemas.microsoft.com/office/powerpoint/2010/main" val="179724237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Slide 8 illustrates the conceptual framework behind deep connection and effective interviewing: </a:t>
            </a:r>
            <a:r>
              <a:rPr lang="en-US" sz="1200" b="1" kern="1200" dirty="0">
                <a:solidFill>
                  <a:schemeClr val="tx1"/>
                </a:solidFill>
                <a:effectLst/>
                <a:latin typeface="+mn-lt"/>
                <a:ea typeface="+mn-ea"/>
                <a:cs typeface="+mn-cs"/>
              </a:rPr>
              <a:t>The Three Rings of Human Life</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To truly influence, lead, or draw out powerful stories, you have to understand where a person operates: </a:t>
            </a:r>
          </a:p>
          <a:p>
            <a:pPr marL="228600" lvl="0" indent="-228600">
              <a:buFont typeface="+mj-lt"/>
              <a:buAutoNum type="arabicPeriod"/>
            </a:pPr>
            <a:r>
              <a:rPr lang="en-US" sz="1200" b="1" kern="1200" dirty="0">
                <a:solidFill>
                  <a:schemeClr val="tx1"/>
                </a:solidFill>
                <a:effectLst/>
                <a:latin typeface="+mn-lt"/>
                <a:ea typeface="+mn-ea"/>
                <a:cs typeface="+mn-cs"/>
              </a:rPr>
              <a:t>Public Life:</a:t>
            </a:r>
            <a:r>
              <a:rPr lang="en-US" sz="1200" kern="1200" dirty="0">
                <a:solidFill>
                  <a:schemeClr val="tx1"/>
                </a:solidFill>
                <a:effectLst/>
                <a:latin typeface="+mn-lt"/>
                <a:ea typeface="+mn-ea"/>
                <a:cs typeface="+mn-cs"/>
              </a:rPr>
              <a:t> This is the outer ring. It is what people show to the street, their resume, their social media persona, and their rehearsed soundbites. </a:t>
            </a:r>
          </a:p>
          <a:p>
            <a:pPr marL="228600" lvl="0" indent="-228600">
              <a:buFont typeface="+mj-lt"/>
              <a:buAutoNum type="arabicPeriod"/>
            </a:pPr>
            <a:r>
              <a:rPr lang="en-US" sz="1200" b="1" kern="1200" dirty="0">
                <a:solidFill>
                  <a:schemeClr val="tx1"/>
                </a:solidFill>
                <a:effectLst/>
                <a:latin typeface="+mn-lt"/>
                <a:ea typeface="+mn-ea"/>
                <a:cs typeface="+mn-cs"/>
              </a:rPr>
              <a:t>Private Life:</a:t>
            </a:r>
            <a:r>
              <a:rPr lang="en-US" sz="1200" kern="1200" dirty="0">
                <a:solidFill>
                  <a:schemeClr val="tx1"/>
                </a:solidFill>
                <a:effectLst/>
                <a:latin typeface="+mn-lt"/>
                <a:ea typeface="+mn-ea"/>
                <a:cs typeface="+mn-cs"/>
              </a:rPr>
              <a:t> The middle ring. This is what people share only with close friends, family, or partners. </a:t>
            </a:r>
          </a:p>
          <a:p>
            <a:pPr marL="228600" lvl="0" indent="-228600">
              <a:buFont typeface="+mj-lt"/>
              <a:buAutoNum type="arabicPeriod"/>
            </a:pPr>
            <a:r>
              <a:rPr lang="en-US" sz="1200" b="1" kern="1200" dirty="0">
                <a:solidFill>
                  <a:schemeClr val="tx1"/>
                </a:solidFill>
                <a:effectLst/>
                <a:latin typeface="+mn-lt"/>
                <a:ea typeface="+mn-ea"/>
                <a:cs typeface="+mn-cs"/>
              </a:rPr>
              <a:t>Secret Life:</a:t>
            </a:r>
            <a:r>
              <a:rPr lang="en-US" sz="1200" kern="1200" dirty="0">
                <a:solidFill>
                  <a:schemeClr val="tx1"/>
                </a:solidFill>
                <a:effectLst/>
                <a:latin typeface="+mn-lt"/>
                <a:ea typeface="+mn-ea"/>
                <a:cs typeface="+mn-cs"/>
              </a:rPr>
              <a:t> The gold core in the center. This is where true motivations, unresolved fears, inner chips on the shoulder, and core identity reside. </a:t>
            </a:r>
          </a:p>
          <a:p>
            <a:r>
              <a:rPr lang="en-US" sz="1200" kern="1200" dirty="0">
                <a:solidFill>
                  <a:schemeClr val="tx1"/>
                </a:solidFill>
                <a:effectLst/>
                <a:latin typeface="+mn-lt"/>
                <a:ea typeface="+mn-ea"/>
                <a:cs typeface="+mn-cs"/>
              </a:rPr>
              <a:t>If you stay in the outer ring, you get superficial answers and generic engagements. Mastering communication requires navigating inward to the </a:t>
            </a:r>
            <a:r>
              <a:rPr lang="en-US" sz="1200" b="1" kern="1200" dirty="0">
                <a:solidFill>
                  <a:schemeClr val="tx1"/>
                </a:solidFill>
                <a:effectLst/>
                <a:latin typeface="+mn-lt"/>
                <a:ea typeface="+mn-ea"/>
                <a:cs typeface="+mn-cs"/>
              </a:rPr>
              <a:t>Secret Life</a:t>
            </a:r>
            <a:r>
              <a:rPr lang="en-US" sz="1200" kern="1200" dirty="0">
                <a:solidFill>
                  <a:schemeClr val="tx1"/>
                </a:solidFill>
                <a:effectLst/>
                <a:latin typeface="+mn-lt"/>
                <a:ea typeface="+mn-ea"/>
                <a:cs typeface="+mn-cs"/>
              </a:rPr>
              <a:t>. </a:t>
            </a:r>
          </a:p>
          <a:p>
            <a:endParaRPr lang="en-US" dirty="0"/>
          </a:p>
        </p:txBody>
      </p:sp>
      <p:sp>
        <p:nvSpPr>
          <p:cNvPr id="4" name="Slide Number Placeholder 3"/>
          <p:cNvSpPr>
            <a:spLocks noGrp="1"/>
          </p:cNvSpPr>
          <p:nvPr>
            <p:ph type="sldNum" sz="quarter" idx="5"/>
          </p:nvPr>
        </p:nvSpPr>
        <p:spPr/>
        <p:txBody>
          <a:bodyPr/>
          <a:lstStyle/>
          <a:p>
            <a:fld id="{D188C096-5848-4C8E-83D5-C83FBB120C93}" type="slidenum">
              <a:rPr lang="en-US" smtClean="0"/>
              <a:t>8</a:t>
            </a:fld>
            <a:endParaRPr lang="en-US"/>
          </a:p>
        </p:txBody>
      </p:sp>
    </p:spTree>
    <p:extLst>
      <p:ext uri="{BB962C8B-B14F-4D97-AF65-F5344CB8AC3E}">
        <p14:creationId xmlns:p14="http://schemas.microsoft.com/office/powerpoint/2010/main" val="40378265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Building on the previous slide, Principle III states: </a:t>
            </a:r>
            <a:r>
              <a:rPr lang="en-US" sz="1200" b="1" kern="1200" dirty="0">
                <a:solidFill>
                  <a:schemeClr val="tx1"/>
                </a:solidFill>
                <a:effectLst/>
                <a:latin typeface="+mn-lt"/>
                <a:ea typeface="+mn-ea"/>
                <a:cs typeface="+mn-cs"/>
              </a:rPr>
              <a:t>Great interviewers and leaders don't lead; they follow.</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 biggest bottleneck in scaling any business or media company is persuading human beings. Drawing from techniques used by intelligence agencies to recruit assets, persuasion starts with </a:t>
            </a:r>
            <a:r>
              <a:rPr lang="en-US" sz="1200" b="1" kern="1200" dirty="0">
                <a:solidFill>
                  <a:schemeClr val="tx1"/>
                </a:solidFill>
                <a:effectLst/>
                <a:latin typeface="+mn-lt"/>
                <a:ea typeface="+mn-ea"/>
                <a:cs typeface="+mn-cs"/>
              </a:rPr>
              <a:t>aggressive listening</a:t>
            </a:r>
            <a:r>
              <a:rPr lang="en-US" sz="1200" kern="1200" dirty="0">
                <a:solidFill>
                  <a:schemeClr val="tx1"/>
                </a:solidFill>
                <a:effectLst/>
                <a:latin typeface="+mn-lt"/>
                <a:ea typeface="+mn-ea"/>
                <a:cs typeface="+mn-cs"/>
              </a:rPr>
              <a:t> and sitting comfortably in silence. When you allow quiet space in a conversation, people naturally steer toward their core values. </a:t>
            </a:r>
          </a:p>
          <a:p>
            <a:r>
              <a:rPr lang="en-US" sz="1200" kern="1200" dirty="0">
                <a:solidFill>
                  <a:schemeClr val="tx1"/>
                </a:solidFill>
                <a:effectLst/>
                <a:latin typeface="+mn-lt"/>
                <a:ea typeface="+mn-ea"/>
                <a:cs typeface="+mn-cs"/>
              </a:rPr>
              <a:t>To decode human motivation, we use the </a:t>
            </a:r>
            <a:r>
              <a:rPr lang="en-US" sz="1200" b="1" kern="1200" dirty="0">
                <a:solidFill>
                  <a:schemeClr val="tx1"/>
                </a:solidFill>
                <a:effectLst/>
                <a:latin typeface="+mn-lt"/>
                <a:ea typeface="+mn-ea"/>
                <a:cs typeface="+mn-cs"/>
              </a:rPr>
              <a:t>R.I.C.E. Framework</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R – Reward:</a:t>
            </a:r>
            <a:r>
              <a:rPr lang="en-US" sz="1200" kern="1200" dirty="0">
                <a:solidFill>
                  <a:schemeClr val="tx1"/>
                </a:solidFill>
                <a:effectLst/>
                <a:latin typeface="+mn-lt"/>
                <a:ea typeface="+mn-ea"/>
                <a:cs typeface="+mn-cs"/>
              </a:rPr>
              <a:t> Cash, bonuses, and perks. (Important, but shallow).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I – Ideology:</a:t>
            </a:r>
            <a:r>
              <a:rPr lang="en-US" sz="1200" kern="1200" dirty="0">
                <a:solidFill>
                  <a:schemeClr val="tx1"/>
                </a:solidFill>
                <a:effectLst/>
                <a:latin typeface="+mn-lt"/>
                <a:ea typeface="+mn-ea"/>
                <a:cs typeface="+mn-cs"/>
              </a:rPr>
              <a:t> A person’s beliefs, inner convictions, and deeply held values. </a:t>
            </a:r>
            <a:r>
              <a:rPr lang="en-US" sz="1200" b="1" kern="1200" dirty="0">
                <a:solidFill>
                  <a:schemeClr val="tx1"/>
                </a:solidFill>
                <a:effectLst/>
                <a:latin typeface="+mn-lt"/>
                <a:ea typeface="+mn-ea"/>
                <a:cs typeface="+mn-cs"/>
              </a:rPr>
              <a:t>This is the single most powerful driver.</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C – Coercion:</a:t>
            </a:r>
            <a:r>
              <a:rPr lang="en-US" sz="1200" kern="1200" dirty="0">
                <a:solidFill>
                  <a:schemeClr val="tx1"/>
                </a:solidFill>
                <a:effectLst/>
                <a:latin typeface="+mn-lt"/>
                <a:ea typeface="+mn-ea"/>
                <a:cs typeface="+mn-cs"/>
              </a:rPr>
              <a:t> Deadlines, pressure, and operational stakes.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E – Ego:</a:t>
            </a:r>
            <a:r>
              <a:rPr lang="en-US" sz="1200" kern="1200" dirty="0">
                <a:solidFill>
                  <a:schemeClr val="tx1"/>
                </a:solidFill>
                <a:effectLst/>
                <a:latin typeface="+mn-lt"/>
                <a:ea typeface="+mn-ea"/>
                <a:cs typeface="+mn-cs"/>
              </a:rPr>
              <a:t> Public status, prestige, and pride. </a:t>
            </a:r>
          </a:p>
          <a:p>
            <a:r>
              <a:rPr lang="en-US" sz="1200" kern="1200" dirty="0">
                <a:solidFill>
                  <a:schemeClr val="tx1"/>
                </a:solidFill>
                <a:effectLst/>
                <a:latin typeface="+mn-lt"/>
                <a:ea typeface="+mn-ea"/>
                <a:cs typeface="+mn-cs"/>
              </a:rPr>
              <a:t>Most conventional managers rely almost exclusively on Reward or Coercion. But top-tier leaders listen long enough to uncover an individual's </a:t>
            </a:r>
            <a:r>
              <a:rPr lang="en-US" sz="1200" b="1" kern="1200" dirty="0">
                <a:solidFill>
                  <a:schemeClr val="tx1"/>
                </a:solidFill>
                <a:effectLst/>
                <a:latin typeface="+mn-lt"/>
                <a:ea typeface="+mn-ea"/>
                <a:cs typeface="+mn-cs"/>
              </a:rPr>
              <a:t>Ideology</a:t>
            </a:r>
            <a:r>
              <a:rPr lang="en-US" sz="1200" kern="1200" dirty="0">
                <a:solidFill>
                  <a:schemeClr val="tx1"/>
                </a:solidFill>
                <a:effectLst/>
                <a:latin typeface="+mn-lt"/>
                <a:ea typeface="+mn-ea"/>
                <a:cs typeface="+mn-cs"/>
              </a:rPr>
              <a:t>, unlocking intrinsic drive. </a:t>
            </a:r>
          </a:p>
          <a:p>
            <a:endParaRPr lang="en-US" dirty="0"/>
          </a:p>
        </p:txBody>
      </p:sp>
      <p:sp>
        <p:nvSpPr>
          <p:cNvPr id="4" name="Slide Number Placeholder 3"/>
          <p:cNvSpPr>
            <a:spLocks noGrp="1"/>
          </p:cNvSpPr>
          <p:nvPr>
            <p:ph type="sldNum" sz="quarter" idx="5"/>
          </p:nvPr>
        </p:nvSpPr>
        <p:spPr/>
        <p:txBody>
          <a:bodyPr/>
          <a:lstStyle/>
          <a:p>
            <a:fld id="{D188C096-5848-4C8E-83D5-C83FBB120C93}" type="slidenum">
              <a:rPr lang="en-US" smtClean="0"/>
              <a:t>9</a:t>
            </a:fld>
            <a:endParaRPr lang="en-US"/>
          </a:p>
        </p:txBody>
      </p:sp>
    </p:spTree>
    <p:extLst>
      <p:ext uri="{BB962C8B-B14F-4D97-AF65-F5344CB8AC3E}">
        <p14:creationId xmlns:p14="http://schemas.microsoft.com/office/powerpoint/2010/main" val="57730700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Principle IV shifts focus inward to organizational design: </a:t>
            </a:r>
            <a:r>
              <a:rPr lang="en-US" sz="1200" b="1" kern="1200" dirty="0">
                <a:solidFill>
                  <a:schemeClr val="tx1"/>
                </a:solidFill>
                <a:effectLst/>
                <a:latin typeface="+mn-lt"/>
                <a:ea typeface="+mn-ea"/>
                <a:cs typeface="+mn-cs"/>
              </a:rPr>
              <a:t>The highest leverage variable in any business is the talent density of the room.</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Many founders fall into the trap of believing that their individual hours and hard work determine the ultimate output of the company. But ask yourself this forcing question: </a:t>
            </a:r>
            <a:r>
              <a:rPr lang="en-US" sz="1200" i="1" kern="1200" dirty="0">
                <a:solidFill>
                  <a:schemeClr val="tx1"/>
                </a:solidFill>
                <a:effectLst/>
                <a:latin typeface="+mn-lt"/>
                <a:ea typeface="+mn-ea"/>
                <a:cs typeface="+mn-cs"/>
              </a:rPr>
              <a:t>If you hired Elon Musk or an absolute world-class expert to run your specific department tomorrow, how radically would your outcomes change?</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Every operational breakthrough, creative output, and product feature is downstream from </a:t>
            </a:r>
            <a:r>
              <a:rPr lang="en-US" sz="1200" b="1" kern="1200" dirty="0">
                <a:solidFill>
                  <a:schemeClr val="tx1"/>
                </a:solidFill>
                <a:effectLst/>
                <a:latin typeface="+mn-lt"/>
                <a:ea typeface="+mn-ea"/>
                <a:cs typeface="+mn-cs"/>
              </a:rPr>
              <a:t>who you hire</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Because talent density dictates leverage, leaders should treat recruitment as primary work—spending upwards of </a:t>
            </a:r>
            <a:r>
              <a:rPr lang="en-US" sz="1200" b="1" kern="1200" dirty="0">
                <a:solidFill>
                  <a:schemeClr val="tx1"/>
                </a:solidFill>
                <a:effectLst/>
                <a:latin typeface="+mn-lt"/>
                <a:ea typeface="+mn-ea"/>
                <a:cs typeface="+mn-cs"/>
              </a:rPr>
              <a:t>30 to 40 hours a week</a:t>
            </a:r>
            <a:r>
              <a:rPr lang="en-US" sz="1200" kern="1200" dirty="0">
                <a:solidFill>
                  <a:schemeClr val="tx1"/>
                </a:solidFill>
                <a:effectLst/>
                <a:latin typeface="+mn-lt"/>
                <a:ea typeface="+mn-ea"/>
                <a:cs typeface="+mn-cs"/>
              </a:rPr>
              <a:t> exclusively sourcing world-class talent. Exceptional A-players refuse to work with B or C players; keeping talent density ultra-high is your greatest retention tool. </a:t>
            </a:r>
          </a:p>
          <a:p>
            <a:endParaRPr lang="en-US" dirty="0"/>
          </a:p>
        </p:txBody>
      </p:sp>
      <p:sp>
        <p:nvSpPr>
          <p:cNvPr id="4" name="Slide Number Placeholder 3"/>
          <p:cNvSpPr>
            <a:spLocks noGrp="1"/>
          </p:cNvSpPr>
          <p:nvPr>
            <p:ph type="sldNum" sz="quarter" idx="5"/>
          </p:nvPr>
        </p:nvSpPr>
        <p:spPr/>
        <p:txBody>
          <a:bodyPr/>
          <a:lstStyle/>
          <a:p>
            <a:fld id="{D188C096-5848-4C8E-83D5-C83FBB120C93}" type="slidenum">
              <a:rPr lang="en-US" smtClean="0"/>
              <a:t>10</a:t>
            </a:fld>
            <a:endParaRPr lang="en-US"/>
          </a:p>
        </p:txBody>
      </p:sp>
    </p:spTree>
    <p:extLst>
      <p:ext uri="{BB962C8B-B14F-4D97-AF65-F5344CB8AC3E}">
        <p14:creationId xmlns:p14="http://schemas.microsoft.com/office/powerpoint/2010/main" val="304749807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Culture is not a set of inspiring values written on a office whiteboard or listed on a careers page. </a:t>
            </a:r>
            <a:r>
              <a:rPr lang="en-US" sz="1200" b="1" kern="1200" dirty="0">
                <a:solidFill>
                  <a:schemeClr val="tx1"/>
                </a:solidFill>
                <a:effectLst/>
                <a:latin typeface="+mn-lt"/>
                <a:ea typeface="+mn-ea"/>
                <a:cs typeface="+mn-cs"/>
              </a:rPr>
              <a:t>Culture is real-world behavior under pressure.</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To safeguard talent infrastructure, you must remove subjectivity from hiring. At Bartlett’s organizations, candidates are put through scenario-based alignment assessments. </a:t>
            </a:r>
          </a:p>
          <a:p>
            <a:r>
              <a:rPr lang="en-US" sz="1200" kern="1200" dirty="0">
                <a:solidFill>
                  <a:schemeClr val="tx1"/>
                </a:solidFill>
                <a:effectLst/>
                <a:latin typeface="+mn-lt"/>
                <a:ea typeface="+mn-ea"/>
                <a:cs typeface="+mn-cs"/>
              </a:rPr>
              <a:t>Look at the practical test shown on this slide: </a:t>
            </a:r>
          </a:p>
          <a:p>
            <a:r>
              <a:rPr lang="en-US" sz="1200" i="1" kern="1200" dirty="0">
                <a:solidFill>
                  <a:schemeClr val="tx1"/>
                </a:solidFill>
                <a:effectLst/>
                <a:latin typeface="+mn-lt"/>
                <a:ea typeface="+mn-ea"/>
                <a:cs typeface="+mn-cs"/>
              </a:rPr>
              <a:t>"It's New Year's Eve. A key client urgently needs a platform login, but the designated account manager is currently away on their honeymoon. What do you do?"</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This scenario instantly tests ownership, initiative, problem-solving, and respect for boundaries. By setting an </a:t>
            </a:r>
            <a:r>
              <a:rPr lang="en-US" sz="1200" b="1" kern="1200" dirty="0">
                <a:solidFill>
                  <a:schemeClr val="tx1"/>
                </a:solidFill>
                <a:effectLst/>
                <a:latin typeface="+mn-lt"/>
                <a:ea typeface="+mn-ea"/>
                <a:cs typeface="+mn-cs"/>
              </a:rPr>
              <a:t>80%+ alignment threshold</a:t>
            </a:r>
            <a:r>
              <a:rPr lang="en-US" sz="1200" kern="1200" dirty="0">
                <a:solidFill>
                  <a:schemeClr val="tx1"/>
                </a:solidFill>
                <a:effectLst/>
                <a:latin typeface="+mn-lt"/>
                <a:ea typeface="+mn-ea"/>
                <a:cs typeface="+mn-cs"/>
              </a:rPr>
              <a:t> on scenario-based tests, only the top 2% of candidates pass. That is how you institutionalize high performance. </a:t>
            </a:r>
          </a:p>
          <a:p>
            <a:endParaRPr lang="en-US" dirty="0"/>
          </a:p>
        </p:txBody>
      </p:sp>
      <p:sp>
        <p:nvSpPr>
          <p:cNvPr id="4" name="Slide Number Placeholder 3"/>
          <p:cNvSpPr>
            <a:spLocks noGrp="1"/>
          </p:cNvSpPr>
          <p:nvPr>
            <p:ph type="sldNum" sz="quarter" idx="5"/>
          </p:nvPr>
        </p:nvSpPr>
        <p:spPr/>
        <p:txBody>
          <a:bodyPr/>
          <a:lstStyle/>
          <a:p>
            <a:fld id="{D188C096-5848-4C8E-83D5-C83FBB120C93}" type="slidenum">
              <a:rPr lang="en-US" smtClean="0"/>
              <a:t>11</a:t>
            </a:fld>
            <a:endParaRPr lang="en-US"/>
          </a:p>
        </p:txBody>
      </p:sp>
    </p:spTree>
    <p:extLst>
      <p:ext uri="{BB962C8B-B14F-4D97-AF65-F5344CB8AC3E}">
        <p14:creationId xmlns:p14="http://schemas.microsoft.com/office/powerpoint/2010/main" val="378622377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Success contains the seeds of its own destruction. This concept, drawn from Clayton Christensen's </a:t>
            </a:r>
            <a:r>
              <a:rPr lang="en-US" sz="1200" i="1" kern="1200" dirty="0">
                <a:solidFill>
                  <a:schemeClr val="tx1"/>
                </a:solidFill>
                <a:effectLst/>
                <a:latin typeface="+mn-lt"/>
                <a:ea typeface="+mn-ea"/>
                <a:cs typeface="+mn-cs"/>
              </a:rPr>
              <a:t>The Innovator's Dilemma</a:t>
            </a:r>
            <a:r>
              <a:rPr lang="en-US" sz="1200" kern="1200" dirty="0">
                <a:solidFill>
                  <a:schemeClr val="tx1"/>
                </a:solidFill>
                <a:effectLst/>
                <a:latin typeface="+mn-lt"/>
                <a:ea typeface="+mn-ea"/>
                <a:cs typeface="+mn-cs"/>
              </a:rPr>
              <a:t>, is illustrated by the S-curve on Slide 12. </a:t>
            </a:r>
          </a:p>
          <a:p>
            <a:r>
              <a:rPr lang="en-US" sz="1200" kern="1200" dirty="0">
                <a:solidFill>
                  <a:schemeClr val="tx1"/>
                </a:solidFill>
                <a:effectLst/>
                <a:latin typeface="+mn-lt"/>
                <a:ea typeface="+mn-ea"/>
                <a:cs typeface="+mn-cs"/>
              </a:rPr>
              <a:t>When a company experiences disruptive growth and hits a peak of success, </a:t>
            </a:r>
            <a:r>
              <a:rPr lang="en-US" sz="1200" b="1" kern="1200" dirty="0">
                <a:solidFill>
                  <a:schemeClr val="tx1"/>
                </a:solidFill>
                <a:effectLst/>
                <a:latin typeface="+mn-lt"/>
                <a:ea typeface="+mn-ea"/>
                <a:cs typeface="+mn-cs"/>
              </a:rPr>
              <a:t>loss aversion</a:t>
            </a:r>
            <a:r>
              <a:rPr lang="en-US" sz="1200" kern="1200" dirty="0">
                <a:solidFill>
                  <a:schemeClr val="tx1"/>
                </a:solidFill>
                <a:effectLst/>
                <a:latin typeface="+mn-lt"/>
                <a:ea typeface="+mn-ea"/>
                <a:cs typeface="+mn-cs"/>
              </a:rPr>
              <a:t> sets in. Leaders become defensive, protective, and afraid to risk what they have built. They focus on sustaining legacy systems while new, agile competitors emerge. </a:t>
            </a:r>
          </a:p>
          <a:p>
            <a:r>
              <a:rPr lang="en-US" sz="1200" kern="1200" dirty="0">
                <a:solidFill>
                  <a:schemeClr val="tx1"/>
                </a:solidFill>
                <a:effectLst/>
                <a:latin typeface="+mn-lt"/>
                <a:ea typeface="+mn-ea"/>
                <a:cs typeface="+mn-cs"/>
              </a:rPr>
              <a:t>The antidote is </a:t>
            </a:r>
            <a:r>
              <a:rPr lang="en-US" sz="1200" b="1" kern="1200" dirty="0">
                <a:solidFill>
                  <a:schemeClr val="tx1"/>
                </a:solidFill>
                <a:effectLst/>
                <a:latin typeface="+mn-lt"/>
                <a:ea typeface="+mn-ea"/>
                <a:cs typeface="+mn-cs"/>
              </a:rPr>
              <a:t>Unromantic Self-Disruption</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Think of Tiger Woods at the height of his career completely rebuilding his golf swing to reach a higher performance ceiling. You must be willing to dismantle your own successful playbooks, formats, and products before the market forces you to. </a:t>
            </a:r>
          </a:p>
          <a:p>
            <a:endParaRPr lang="en-US" dirty="0"/>
          </a:p>
        </p:txBody>
      </p:sp>
      <p:sp>
        <p:nvSpPr>
          <p:cNvPr id="4" name="Slide Number Placeholder 3"/>
          <p:cNvSpPr>
            <a:spLocks noGrp="1"/>
          </p:cNvSpPr>
          <p:nvPr>
            <p:ph type="sldNum" sz="quarter" idx="5"/>
          </p:nvPr>
        </p:nvSpPr>
        <p:spPr/>
        <p:txBody>
          <a:bodyPr/>
          <a:lstStyle/>
          <a:p>
            <a:fld id="{D188C096-5848-4C8E-83D5-C83FBB120C93}" type="slidenum">
              <a:rPr lang="en-US" smtClean="0"/>
              <a:t>12</a:t>
            </a:fld>
            <a:endParaRPr lang="en-US"/>
          </a:p>
        </p:txBody>
      </p:sp>
    </p:spTree>
    <p:extLst>
      <p:ext uri="{BB962C8B-B14F-4D97-AF65-F5344CB8AC3E}">
        <p14:creationId xmlns:p14="http://schemas.microsoft.com/office/powerpoint/2010/main" val="267444944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On the left, you see a </a:t>
            </a:r>
            <a:r>
              <a:rPr lang="en-US" sz="1200" b="1" kern="1200" dirty="0">
                <a:solidFill>
                  <a:schemeClr val="tx1"/>
                </a:solidFill>
                <a:effectLst/>
                <a:latin typeface="+mn-lt"/>
                <a:ea typeface="+mn-ea"/>
                <a:cs typeface="+mn-cs"/>
              </a:rPr>
              <a:t>Jenga Tower</a:t>
            </a:r>
            <a:r>
              <a:rPr lang="en-US" sz="1200" kern="1200" dirty="0">
                <a:solidFill>
                  <a:schemeClr val="tx1"/>
                </a:solidFill>
                <a:effectLst/>
                <a:latin typeface="+mn-lt"/>
                <a:ea typeface="+mn-ea"/>
                <a:cs typeface="+mn-cs"/>
              </a:rPr>
              <a:t> architecture—representing businesses built on quick hacks, single-platform dependencies, high staff turnover, and fragile operational shortcuts. It might look tall temporarily, but as soon as a key piece is pulled out or an algorithm shifts, the entire structure collapses. </a:t>
            </a:r>
          </a:p>
          <a:p>
            <a:r>
              <a:rPr lang="en-US" sz="1200" kern="1200" dirty="0">
                <a:solidFill>
                  <a:schemeClr val="tx1"/>
                </a:solidFill>
                <a:effectLst/>
                <a:latin typeface="+mn-lt"/>
                <a:ea typeface="+mn-ea"/>
                <a:cs typeface="+mn-cs"/>
              </a:rPr>
              <a:t>On the right, you see a </a:t>
            </a:r>
            <a:r>
              <a:rPr lang="en-US" sz="1200" b="1" kern="1200" dirty="0">
                <a:solidFill>
                  <a:schemeClr val="tx1"/>
                </a:solidFill>
                <a:effectLst/>
                <a:latin typeface="+mn-lt"/>
                <a:ea typeface="+mn-ea"/>
                <a:cs typeface="+mn-cs"/>
              </a:rPr>
              <a:t>Fortified Fortress</a:t>
            </a:r>
            <a:r>
              <a:rPr lang="en-US" sz="1200" kern="1200" dirty="0">
                <a:solidFill>
                  <a:schemeClr val="tx1"/>
                </a:solidFill>
                <a:effectLst/>
                <a:latin typeface="+mn-lt"/>
                <a:ea typeface="+mn-ea"/>
                <a:cs typeface="+mn-cs"/>
              </a:rPr>
              <a:t>. This represents an organization built on first-principles thinking, owned audience assets, high talent density, and clear operational frameworks. It is designed to withstand market volatility and platform shifts. </a:t>
            </a:r>
          </a:p>
          <a:p>
            <a:endParaRPr lang="en-US" dirty="0"/>
          </a:p>
        </p:txBody>
      </p:sp>
      <p:sp>
        <p:nvSpPr>
          <p:cNvPr id="4" name="Slide Number Placeholder 3"/>
          <p:cNvSpPr>
            <a:spLocks noGrp="1"/>
          </p:cNvSpPr>
          <p:nvPr>
            <p:ph type="sldNum" sz="quarter" idx="5"/>
          </p:nvPr>
        </p:nvSpPr>
        <p:spPr/>
        <p:txBody>
          <a:bodyPr/>
          <a:lstStyle/>
          <a:p>
            <a:fld id="{D188C096-5848-4C8E-83D5-C83FBB120C93}" type="slidenum">
              <a:rPr lang="en-US" smtClean="0"/>
              <a:t>13</a:t>
            </a:fld>
            <a:endParaRPr lang="en-US"/>
          </a:p>
        </p:txBody>
      </p:sp>
    </p:spTree>
    <p:extLst>
      <p:ext uri="{BB962C8B-B14F-4D97-AF65-F5344CB8AC3E}">
        <p14:creationId xmlns:p14="http://schemas.microsoft.com/office/powerpoint/2010/main" val="92545328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Your operational behavior is ultimately dictated by your </a:t>
                </a:r>
                <a:r>
                  <a:rPr lang="en-US" sz="1200" b="1" kern="1200" dirty="0">
                    <a:solidFill>
                      <a:schemeClr val="tx1"/>
                    </a:solidFill>
                    <a:effectLst/>
                    <a:latin typeface="+mn-lt"/>
                    <a:ea typeface="+mn-ea"/>
                    <a:cs typeface="+mn-cs"/>
                  </a:rPr>
                  <a:t>time horizon</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The 60-Second Mindset:</a:t>
                </a:r>
                <a:r>
                  <a:rPr lang="en-US" sz="1200" kern="1200" dirty="0">
                    <a:solidFill>
                      <a:schemeClr val="tx1"/>
                    </a:solidFill>
                    <a:effectLst/>
                    <a:latin typeface="+mn-lt"/>
                    <a:ea typeface="+mn-ea"/>
                    <a:cs typeface="+mn-cs"/>
                  </a:rPr>
                  <a:t> Constant rushing, cutting corners, and losing time long-term by trying to save minutes short-term.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The 50-Year Mindset:</a:t>
                </a:r>
                <a:r>
                  <a:rPr lang="en-US" sz="1200" kern="1200" dirty="0">
                    <a:solidFill>
                      <a:schemeClr val="tx1"/>
                    </a:solidFill>
                    <a:effectLst/>
                    <a:latin typeface="+mn-lt"/>
                    <a:ea typeface="+mn-ea"/>
                    <a:cs typeface="+mn-cs"/>
                  </a:rPr>
                  <a:t> Long-term compounding thinking. This is an unbeatable moat because almost no competitor has the patience to execute against a multi-decade timeline. </a:t>
                </a:r>
              </a:p>
              <a:p>
                <a:r>
                  <a:rPr lang="en-US" sz="1200" kern="1200" dirty="0">
                    <a:solidFill>
                      <a:schemeClr val="tx1"/>
                    </a:solidFill>
                    <a:effectLst/>
                    <a:latin typeface="+mn-lt"/>
                    <a:ea typeface="+mn-ea"/>
                    <a:cs typeface="+mn-cs"/>
                  </a:rPr>
                  <a:t>This brings us to </a:t>
                </a:r>
                <a:r>
                  <a:rPr lang="en-US" sz="1200" b="1" kern="1200" dirty="0">
                    <a:solidFill>
                      <a:schemeClr val="tx1"/>
                    </a:solidFill>
                    <a:effectLst/>
                    <a:latin typeface="+mn-lt"/>
                    <a:ea typeface="+mn-ea"/>
                    <a:cs typeface="+mn-cs"/>
                  </a:rPr>
                  <a:t>The Bartlett Equation</a:t>
                </a:r>
                <a:r>
                  <a:rPr lang="en-US" sz="1200" kern="1200" dirty="0">
                    <a:solidFill>
                      <a:schemeClr val="tx1"/>
                    </a:solidFill>
                    <a:effectLst/>
                    <a:latin typeface="+mn-lt"/>
                    <a:ea typeface="+mn-ea"/>
                    <a:cs typeface="+mn-cs"/>
                  </a:rPr>
                  <a:t>: </a:t>
                </a:r>
              </a:p>
              <a:p>
                <a:pPr/>
                <a14:m>
                  <m:oMathPara xmlns:m="http://schemas.openxmlformats.org/officeDocument/2006/math">
                    <m:oMathParaPr>
                      <m:jc m:val="centerGroup"/>
                    </m:oMathParaPr>
                    <m:oMath xmlns:m="http://schemas.openxmlformats.org/officeDocument/2006/math">
                      <m:d>
                        <m:dPr>
                          <m:begChr m:val="["/>
                          <m:endChr m:val="]"/>
                          <m:ctrlPr>
                            <a:rPr lang="en-US" sz="1200" i="1" kern="1200">
                              <a:solidFill>
                                <a:schemeClr val="tx1"/>
                              </a:solidFill>
                              <a:latin typeface="Cambria Math" panose="02040503050406030204" pitchFamily="18" charset="0"/>
                              <a:ea typeface="+mn-ea"/>
                              <a:cs typeface="+mn-cs"/>
                            </a:rPr>
                          </m:ctrlPr>
                        </m:dPr>
                        <m:e>
                          <m:r>
                            <m:rPr>
                              <m:nor/>
                            </m:rPr>
                            <a:rPr lang="en-US" sz="1200" i="0" kern="1200">
                              <a:solidFill>
                                <a:schemeClr val="tx1"/>
                              </a:solidFill>
                              <a:latin typeface="+mn-lt"/>
                              <a:ea typeface="+mn-ea"/>
                              <a:cs typeface="+mn-cs"/>
                            </a:rPr>
                            <m:t>Deep</m:t>
                          </m:r>
                          <m:r>
                            <m:rPr>
                              <m:nor/>
                            </m:rPr>
                            <a:rPr lang="en-US" sz="1200" i="0" kern="1200">
                              <a:solidFill>
                                <a:schemeClr val="tx1"/>
                              </a:solidFill>
                              <a:latin typeface="+mn-lt"/>
                              <a:ea typeface="+mn-ea"/>
                              <a:cs typeface="+mn-cs"/>
                            </a:rPr>
                            <m:t> </m:t>
                          </m:r>
                          <m:r>
                            <m:rPr>
                              <m:nor/>
                            </m:rPr>
                            <a:rPr lang="en-US" sz="1200" i="0" kern="1200">
                              <a:solidFill>
                                <a:schemeClr val="tx1"/>
                              </a:solidFill>
                              <a:latin typeface="+mn-lt"/>
                              <a:ea typeface="+mn-ea"/>
                              <a:cs typeface="+mn-cs"/>
                            </a:rPr>
                            <m:t>Obsession</m:t>
                          </m:r>
                          <m:r>
                            <m:rPr>
                              <m:nor/>
                            </m:rPr>
                            <a:rPr lang="en-US" sz="1200" i="0" kern="1200">
                              <a:solidFill>
                                <a:schemeClr val="tx1"/>
                              </a:solidFill>
                              <a:latin typeface="+mn-lt"/>
                              <a:ea typeface="+mn-ea"/>
                              <a:cs typeface="+mn-cs"/>
                            </a:rPr>
                            <m:t> </m:t>
                          </m:r>
                          <m:r>
                            <m:rPr>
                              <m:nor/>
                            </m:rPr>
                            <a:rPr lang="en-US" sz="1200" i="0" kern="1200">
                              <a:solidFill>
                                <a:schemeClr val="tx1"/>
                              </a:solidFill>
                              <a:latin typeface="+mn-lt"/>
                              <a:ea typeface="+mn-ea"/>
                              <a:cs typeface="+mn-cs"/>
                            </a:rPr>
                            <m:t>with</m:t>
                          </m:r>
                          <m:r>
                            <m:rPr>
                              <m:nor/>
                            </m:rPr>
                            <a:rPr lang="en-US" sz="1200" i="0" kern="1200">
                              <a:solidFill>
                                <a:schemeClr val="tx1"/>
                              </a:solidFill>
                              <a:latin typeface="+mn-lt"/>
                              <a:ea typeface="+mn-ea"/>
                              <a:cs typeface="+mn-cs"/>
                            </a:rPr>
                            <m:t> 1% </m:t>
                          </m:r>
                          <m:r>
                            <m:rPr>
                              <m:nor/>
                            </m:rPr>
                            <a:rPr lang="en-US" sz="1200" i="0" kern="1200">
                              <a:solidFill>
                                <a:schemeClr val="tx1"/>
                              </a:solidFill>
                              <a:latin typeface="+mn-lt"/>
                              <a:ea typeface="+mn-ea"/>
                              <a:cs typeface="+mn-cs"/>
                            </a:rPr>
                            <m:t>Details</m:t>
                          </m:r>
                        </m:e>
                      </m:d>
                      <m:r>
                        <a:rPr lang="en-US" sz="1200" i="0" kern="1200">
                          <a:solidFill>
                            <a:schemeClr val="tx1"/>
                          </a:solidFill>
                          <a:latin typeface="Cambria Math" panose="02040503050406030204" pitchFamily="18" charset="0"/>
                          <a:ea typeface="+mn-ea"/>
                          <a:cs typeface="+mn-cs"/>
                        </a:rPr>
                        <m:t>+</m:t>
                      </m:r>
                      <m:d>
                        <m:dPr>
                          <m:begChr m:val="["/>
                          <m:endChr m:val="]"/>
                          <m:ctrlPr>
                            <a:rPr lang="en-US" sz="1200" i="1" kern="1200">
                              <a:solidFill>
                                <a:schemeClr val="tx1"/>
                              </a:solidFill>
                              <a:latin typeface="Cambria Math" panose="02040503050406030204" pitchFamily="18" charset="0"/>
                              <a:ea typeface="+mn-ea"/>
                              <a:cs typeface="+mn-cs"/>
                            </a:rPr>
                          </m:ctrlPr>
                        </m:dPr>
                        <m:e>
                          <m:r>
                            <m:rPr>
                              <m:nor/>
                            </m:rPr>
                            <a:rPr lang="en-US" sz="1200" i="0" kern="1200">
                              <a:solidFill>
                                <a:schemeClr val="tx1"/>
                              </a:solidFill>
                              <a:latin typeface="+mn-lt"/>
                              <a:ea typeface="+mn-ea"/>
                              <a:cs typeface="+mn-cs"/>
                            </a:rPr>
                            <m:t>Relentless</m:t>
                          </m:r>
                          <m:r>
                            <m:rPr>
                              <m:nor/>
                            </m:rPr>
                            <a:rPr lang="en-US" sz="1200" i="0" kern="1200">
                              <a:solidFill>
                                <a:schemeClr val="tx1"/>
                              </a:solidFill>
                              <a:latin typeface="+mn-lt"/>
                              <a:ea typeface="+mn-ea"/>
                              <a:cs typeface="+mn-cs"/>
                            </a:rPr>
                            <m:t> </m:t>
                          </m:r>
                          <m:r>
                            <m:rPr>
                              <m:nor/>
                            </m:rPr>
                            <a:rPr lang="en-US" sz="1200" i="0" kern="1200">
                              <a:solidFill>
                                <a:schemeClr val="tx1"/>
                              </a:solidFill>
                              <a:latin typeface="+mn-lt"/>
                              <a:ea typeface="+mn-ea"/>
                              <a:cs typeface="+mn-cs"/>
                            </a:rPr>
                            <m:t>Rate</m:t>
                          </m:r>
                          <m:r>
                            <m:rPr>
                              <m:nor/>
                            </m:rPr>
                            <a:rPr lang="en-US" sz="1200" i="0" kern="1200">
                              <a:solidFill>
                                <a:schemeClr val="tx1"/>
                              </a:solidFill>
                              <a:latin typeface="+mn-lt"/>
                              <a:ea typeface="+mn-ea"/>
                              <a:cs typeface="+mn-cs"/>
                            </a:rPr>
                            <m:t> </m:t>
                          </m:r>
                          <m:r>
                            <m:rPr>
                              <m:nor/>
                            </m:rPr>
                            <a:rPr lang="en-US" sz="1200" i="0" kern="1200">
                              <a:solidFill>
                                <a:schemeClr val="tx1"/>
                              </a:solidFill>
                              <a:latin typeface="+mn-lt"/>
                              <a:ea typeface="+mn-ea"/>
                              <a:cs typeface="+mn-cs"/>
                            </a:rPr>
                            <m:t>of</m:t>
                          </m:r>
                          <m:r>
                            <m:rPr>
                              <m:nor/>
                            </m:rPr>
                            <a:rPr lang="en-US" sz="1200" i="0" kern="1200">
                              <a:solidFill>
                                <a:schemeClr val="tx1"/>
                              </a:solidFill>
                              <a:latin typeface="+mn-lt"/>
                              <a:ea typeface="+mn-ea"/>
                              <a:cs typeface="+mn-cs"/>
                            </a:rPr>
                            <m:t> </m:t>
                          </m:r>
                          <m:r>
                            <m:rPr>
                              <m:nor/>
                            </m:rPr>
                            <a:rPr lang="en-US" sz="1200" i="0" kern="1200">
                              <a:solidFill>
                                <a:schemeClr val="tx1"/>
                              </a:solidFill>
                              <a:latin typeface="+mn-lt"/>
                              <a:ea typeface="+mn-ea"/>
                              <a:cs typeface="+mn-cs"/>
                            </a:rPr>
                            <m:t>Experimentation</m:t>
                          </m:r>
                        </m:e>
                      </m:d>
                      <m:r>
                        <a:rPr lang="en-US" sz="1200" i="0" kern="1200">
                          <a:solidFill>
                            <a:schemeClr val="tx1"/>
                          </a:solidFill>
                          <a:latin typeface="Cambria Math" panose="02040503050406030204" pitchFamily="18" charset="0"/>
                          <a:ea typeface="+mn-ea"/>
                          <a:cs typeface="+mn-cs"/>
                        </a:rPr>
                        <m:t>×</m:t>
                      </m:r>
                      <m:d>
                        <m:dPr>
                          <m:begChr m:val="["/>
                          <m:endChr m:val="]"/>
                          <m:ctrlPr>
                            <a:rPr lang="en-US" sz="1200" i="1" kern="1200">
                              <a:solidFill>
                                <a:schemeClr val="tx1"/>
                              </a:solidFill>
                              <a:latin typeface="Cambria Math" panose="02040503050406030204" pitchFamily="18" charset="0"/>
                              <a:ea typeface="+mn-ea"/>
                              <a:cs typeface="+mn-cs"/>
                            </a:rPr>
                          </m:ctrlPr>
                        </m:dPr>
                        <m:e>
                          <m:r>
                            <m:rPr>
                              <m:nor/>
                            </m:rPr>
                            <a:rPr lang="en-US" sz="1200" i="0" kern="1200">
                              <a:solidFill>
                                <a:schemeClr val="tx1"/>
                              </a:solidFill>
                              <a:latin typeface="+mn-lt"/>
                              <a:ea typeface="+mn-ea"/>
                              <a:cs typeface="+mn-cs"/>
                            </a:rPr>
                            <m:t>Irreplaceably</m:t>
                          </m:r>
                          <m:r>
                            <m:rPr>
                              <m:nor/>
                            </m:rPr>
                            <a:rPr lang="en-US" sz="1200" i="0" kern="1200">
                              <a:solidFill>
                                <a:schemeClr val="tx1"/>
                              </a:solidFill>
                              <a:latin typeface="+mn-lt"/>
                              <a:ea typeface="+mn-ea"/>
                              <a:cs typeface="+mn-cs"/>
                            </a:rPr>
                            <m:t> </m:t>
                          </m:r>
                          <m:r>
                            <m:rPr>
                              <m:nor/>
                            </m:rPr>
                            <a:rPr lang="en-US" sz="1200" i="0" kern="1200">
                              <a:solidFill>
                                <a:schemeClr val="tx1"/>
                              </a:solidFill>
                              <a:latin typeface="+mn-lt"/>
                              <a:ea typeface="+mn-ea"/>
                              <a:cs typeface="+mn-cs"/>
                            </a:rPr>
                            <m:t>Human</m:t>
                          </m:r>
                          <m:r>
                            <m:rPr>
                              <m:nor/>
                            </m:rPr>
                            <a:rPr lang="en-US" sz="1200" i="0" kern="1200">
                              <a:solidFill>
                                <a:schemeClr val="tx1"/>
                              </a:solidFill>
                              <a:latin typeface="+mn-lt"/>
                              <a:ea typeface="+mn-ea"/>
                              <a:cs typeface="+mn-cs"/>
                            </a:rPr>
                            <m:t> </m:t>
                          </m:r>
                          <m:r>
                            <m:rPr>
                              <m:nor/>
                            </m:rPr>
                            <a:rPr lang="en-US" sz="1200" i="0" kern="1200">
                              <a:solidFill>
                                <a:schemeClr val="tx1"/>
                              </a:solidFill>
                              <a:latin typeface="+mn-lt"/>
                              <a:ea typeface="+mn-ea"/>
                              <a:cs typeface="+mn-cs"/>
                            </a:rPr>
                            <m:t>Connection</m:t>
                          </m:r>
                        </m:e>
                      </m:d>
                      <m:r>
                        <a:rPr lang="en-US" sz="1200" i="0" kern="1200">
                          <a:solidFill>
                            <a:schemeClr val="tx1"/>
                          </a:solidFill>
                          <a:latin typeface="Cambria Math" panose="02040503050406030204" pitchFamily="18" charset="0"/>
                          <a:ea typeface="+mn-ea"/>
                          <a:cs typeface="+mn-cs"/>
                        </a:rPr>
                        <m:t>=</m:t>
                      </m:r>
                      <m:r>
                        <a:rPr lang="en-US" sz="1200" b="1" i="0" kern="1200">
                          <a:solidFill>
                            <a:schemeClr val="tx1"/>
                          </a:solidFill>
                          <a:latin typeface="Cambria Math" panose="02040503050406030204" pitchFamily="18" charset="0"/>
                          <a:ea typeface="+mn-ea"/>
                          <a:cs typeface="+mn-cs"/>
                        </a:rPr>
                        <m:t>𝐔𝐧𝐬𝐭𝐨𝐩𝐩𝐚𝐛𝐥𝐞</m:t>
                      </m:r>
                      <m:r>
                        <a:rPr lang="en-US" sz="1200" b="0" i="0" kern="1200">
                          <a:solidFill>
                            <a:schemeClr val="tx1"/>
                          </a:solidFill>
                          <a:latin typeface="Cambria Math" panose="02040503050406030204" pitchFamily="18" charset="0"/>
                          <a:ea typeface="+mn-ea"/>
                          <a:cs typeface="+mn-cs"/>
                        </a:rPr>
                        <m:t> </m:t>
                      </m:r>
                      <m:r>
                        <a:rPr lang="en-US" sz="1200" b="1" i="0" kern="1200">
                          <a:solidFill>
                            <a:schemeClr val="tx1"/>
                          </a:solidFill>
                          <a:latin typeface="Cambria Math" panose="02040503050406030204" pitchFamily="18" charset="0"/>
                          <a:ea typeface="+mn-ea"/>
                          <a:cs typeface="+mn-cs"/>
                        </a:rPr>
                        <m:t>𝐂𝐨𝐦𝐩𝐨𝐮𝐧𝐝𝐢𝐧𝐠</m:t>
                      </m:r>
                      <m:r>
                        <a:rPr lang="en-US" sz="1200" b="0" i="0" kern="1200">
                          <a:solidFill>
                            <a:schemeClr val="tx1"/>
                          </a:solidFill>
                          <a:latin typeface="Cambria Math" panose="02040503050406030204" pitchFamily="18" charset="0"/>
                          <a:ea typeface="+mn-ea"/>
                          <a:cs typeface="+mn-cs"/>
                        </a:rPr>
                        <m:t> </m:t>
                      </m:r>
                      <m:r>
                        <a:rPr lang="en-US" sz="1200" b="1" i="0" kern="1200">
                          <a:solidFill>
                            <a:schemeClr val="tx1"/>
                          </a:solidFill>
                          <a:latin typeface="Cambria Math" panose="02040503050406030204" pitchFamily="18" charset="0"/>
                          <a:ea typeface="+mn-ea"/>
                          <a:cs typeface="+mn-cs"/>
                        </a:rPr>
                        <m:t>𝐌𝐨𝐦𝐞𝐧𝐭𝐮𝐦</m:t>
                      </m:r>
                    </m:oMath>
                  </m:oMathPara>
                </a14:m>
                <a:endParaRPr lang="en-US" sz="1200" kern="1200" dirty="0">
                  <a:solidFill>
                    <a:schemeClr val="tx1"/>
                  </a:solidFill>
                  <a:effectLst/>
                  <a:latin typeface="+mn-lt"/>
                  <a:ea typeface="+mn-ea"/>
                  <a:cs typeface="+mn-cs"/>
                </a:endParaRPr>
              </a:p>
              <a:p>
                <a:endParaRPr lang="en-US" dirty="0"/>
              </a:p>
            </p:txBody>
          </p:sp>
        </mc:Choice>
        <mc:Fallback xmlns="">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Your operational behavior is ultimately dictated by your </a:t>
                </a:r>
                <a:r>
                  <a:rPr lang="en-US" sz="1200" b="1" kern="1200" dirty="0">
                    <a:solidFill>
                      <a:schemeClr val="tx1"/>
                    </a:solidFill>
                    <a:effectLst/>
                    <a:latin typeface="+mn-lt"/>
                    <a:ea typeface="+mn-ea"/>
                    <a:cs typeface="+mn-cs"/>
                  </a:rPr>
                  <a:t>time horizon</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The 60-Second Mindset:</a:t>
                </a:r>
                <a:r>
                  <a:rPr lang="en-US" sz="1200" kern="1200" dirty="0">
                    <a:solidFill>
                      <a:schemeClr val="tx1"/>
                    </a:solidFill>
                    <a:effectLst/>
                    <a:latin typeface="+mn-lt"/>
                    <a:ea typeface="+mn-ea"/>
                    <a:cs typeface="+mn-cs"/>
                  </a:rPr>
                  <a:t> Constant rushing, cutting corners, and losing time long-term by trying to save minutes short-term.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The 50-Year Mindset:</a:t>
                </a:r>
                <a:r>
                  <a:rPr lang="en-US" sz="1200" kern="1200" dirty="0">
                    <a:solidFill>
                      <a:schemeClr val="tx1"/>
                    </a:solidFill>
                    <a:effectLst/>
                    <a:latin typeface="+mn-lt"/>
                    <a:ea typeface="+mn-ea"/>
                    <a:cs typeface="+mn-cs"/>
                  </a:rPr>
                  <a:t> Long-term compounding thinking. This is an unbeatable moat because almost no competitor has the patience to execute against a multi-decade timeline. </a:t>
                </a:r>
              </a:p>
              <a:p>
                <a:r>
                  <a:rPr lang="en-US" sz="1200" kern="1200" dirty="0">
                    <a:solidFill>
                      <a:schemeClr val="tx1"/>
                    </a:solidFill>
                    <a:effectLst/>
                    <a:latin typeface="+mn-lt"/>
                    <a:ea typeface="+mn-ea"/>
                    <a:cs typeface="+mn-cs"/>
                  </a:rPr>
                  <a:t>This brings us to </a:t>
                </a:r>
                <a:r>
                  <a:rPr lang="en-US" sz="1200" b="1" kern="1200" dirty="0">
                    <a:solidFill>
                      <a:schemeClr val="tx1"/>
                    </a:solidFill>
                    <a:effectLst/>
                    <a:latin typeface="+mn-lt"/>
                    <a:ea typeface="+mn-ea"/>
                    <a:cs typeface="+mn-cs"/>
                  </a:rPr>
                  <a:t>The Bartlett Equation</a:t>
                </a:r>
                <a:r>
                  <a:rPr lang="en-US" sz="1200" kern="1200" dirty="0">
                    <a:solidFill>
                      <a:schemeClr val="tx1"/>
                    </a:solidFill>
                    <a:effectLst/>
                    <a:latin typeface="+mn-lt"/>
                    <a:ea typeface="+mn-ea"/>
                    <a:cs typeface="+mn-cs"/>
                  </a:rPr>
                  <a:t>: </a:t>
                </a:r>
              </a:p>
              <a:p>
                <a:r>
                  <a:rPr lang="en-US" sz="1200" i="0" kern="1200">
                    <a:solidFill>
                      <a:schemeClr val="tx1"/>
                    </a:solidFill>
                    <a:latin typeface="+mn-lt"/>
                    <a:ea typeface="+mn-ea"/>
                    <a:cs typeface="+mn-cs"/>
                  </a:rPr>
                  <a:t>["Deep Obsession with 1% Details" ]+["Relentless Rate of Experimentation" ]×["Irreplaceably Human Connection" ]=</a:t>
                </a:r>
                <a:r>
                  <a:rPr lang="en-US" sz="1200" b="1" i="0" kern="1200">
                    <a:solidFill>
                      <a:schemeClr val="tx1"/>
                    </a:solidFill>
                    <a:latin typeface="+mn-lt"/>
                    <a:ea typeface="+mn-ea"/>
                    <a:cs typeface="+mn-cs"/>
                  </a:rPr>
                  <a:t>𝐔𝐧𝐬𝐭𝐨𝐩𝐩𝐚𝐛𝐥𝐞</a:t>
                </a:r>
                <a:r>
                  <a:rPr lang="en-US" sz="1200" b="0" i="0" kern="1200">
                    <a:solidFill>
                      <a:schemeClr val="tx1"/>
                    </a:solidFill>
                    <a:latin typeface="+mn-lt"/>
                    <a:ea typeface="+mn-ea"/>
                    <a:cs typeface="+mn-cs"/>
                  </a:rPr>
                  <a:t> </a:t>
                </a:r>
                <a:r>
                  <a:rPr lang="en-US" sz="1200" b="1" i="0" kern="1200">
                    <a:solidFill>
                      <a:schemeClr val="tx1"/>
                    </a:solidFill>
                    <a:latin typeface="+mn-lt"/>
                    <a:ea typeface="+mn-ea"/>
                    <a:cs typeface="+mn-cs"/>
                  </a:rPr>
                  <a:t>𝐂𝐨𝐦𝐩𝐨𝐮𝐧𝐝𝐢𝐧𝐠</a:t>
                </a:r>
                <a:r>
                  <a:rPr lang="en-US" sz="1200" b="0" i="0" kern="1200">
                    <a:solidFill>
                      <a:schemeClr val="tx1"/>
                    </a:solidFill>
                    <a:latin typeface="+mn-lt"/>
                    <a:ea typeface="+mn-ea"/>
                    <a:cs typeface="+mn-cs"/>
                  </a:rPr>
                  <a:t> </a:t>
                </a:r>
                <a:r>
                  <a:rPr lang="en-US" sz="1200" b="1" i="0" kern="1200">
                    <a:solidFill>
                      <a:schemeClr val="tx1"/>
                    </a:solidFill>
                    <a:latin typeface="+mn-lt"/>
                    <a:ea typeface="+mn-ea"/>
                    <a:cs typeface="+mn-cs"/>
                  </a:rPr>
                  <a:t>𝐌𝐨𝐦𝐞𝐧𝐭𝐮𝐦</a:t>
                </a:r>
                <a:endParaRPr lang="en-US" sz="1200" kern="1200" dirty="0">
                  <a:solidFill>
                    <a:schemeClr val="tx1"/>
                  </a:solidFill>
                  <a:effectLst/>
                  <a:latin typeface="+mn-lt"/>
                  <a:ea typeface="+mn-ea"/>
                  <a:cs typeface="+mn-cs"/>
                </a:endParaRPr>
              </a:p>
              <a:p>
                <a:endParaRPr lang="en-US" dirty="0"/>
              </a:p>
            </p:txBody>
          </p:sp>
        </mc:Fallback>
      </mc:AlternateContent>
      <p:sp>
        <p:nvSpPr>
          <p:cNvPr id="4" name="Slide Number Placeholder 3"/>
          <p:cNvSpPr>
            <a:spLocks noGrp="1"/>
          </p:cNvSpPr>
          <p:nvPr>
            <p:ph type="sldNum" sz="quarter" idx="5"/>
          </p:nvPr>
        </p:nvSpPr>
        <p:spPr/>
        <p:txBody>
          <a:bodyPr/>
          <a:lstStyle/>
          <a:p>
            <a:fld id="{D188C096-5848-4C8E-83D5-C83FBB120C93}" type="slidenum">
              <a:rPr lang="en-US" smtClean="0"/>
              <a:t>14</a:t>
            </a:fld>
            <a:endParaRPr lang="en-US"/>
          </a:p>
        </p:txBody>
      </p:sp>
    </p:spTree>
    <p:extLst>
      <p:ext uri="{BB962C8B-B14F-4D97-AF65-F5344CB8AC3E}">
        <p14:creationId xmlns:p14="http://schemas.microsoft.com/office/powerpoint/2010/main" val="33589443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To summarize our entire journey across Slides 1 through 15, let's review the </a:t>
            </a:r>
            <a:r>
              <a:rPr lang="en-US" sz="1200" b="1" kern="1200" dirty="0">
                <a:solidFill>
                  <a:schemeClr val="tx1"/>
                </a:solidFill>
                <a:effectLst/>
                <a:latin typeface="+mn-lt"/>
                <a:ea typeface="+mn-ea"/>
                <a:cs typeface="+mn-cs"/>
              </a:rPr>
              <a:t>Science of Growth Blueprint</a:t>
            </a:r>
            <a:r>
              <a:rPr lang="en-US" sz="1200" kern="1200" dirty="0">
                <a:solidFill>
                  <a:schemeClr val="tx1"/>
                </a:solidFill>
                <a:effectLst/>
                <a:latin typeface="+mn-lt"/>
                <a:ea typeface="+mn-ea"/>
                <a:cs typeface="+mn-cs"/>
              </a:rPr>
              <a:t>: </a:t>
            </a:r>
          </a:p>
          <a:p>
            <a:pPr marL="228600" lvl="0" indent="-228600">
              <a:buFont typeface="+mj-lt"/>
              <a:buAutoNum type="arabicPeriod"/>
            </a:pPr>
            <a:r>
              <a:rPr lang="en-US" sz="1200" b="1" kern="1200" dirty="0">
                <a:solidFill>
                  <a:schemeClr val="tx1"/>
                </a:solidFill>
                <a:effectLst/>
                <a:latin typeface="+mn-lt"/>
                <a:ea typeface="+mn-ea"/>
                <a:cs typeface="+mn-cs"/>
              </a:rPr>
              <a:t>First Principles over Romance:</a:t>
            </a:r>
            <a:r>
              <a:rPr lang="en-US" sz="1200" kern="1200" dirty="0">
                <a:solidFill>
                  <a:schemeClr val="tx1"/>
                </a:solidFill>
                <a:effectLst/>
                <a:latin typeface="+mn-lt"/>
                <a:ea typeface="+mn-ea"/>
                <a:cs typeface="+mn-cs"/>
              </a:rPr>
              <a:t> Treat media and business as a scientific endeavor rather than a series of emotional guesses. </a:t>
            </a:r>
          </a:p>
          <a:p>
            <a:pPr marL="228600" lvl="0" indent="-228600">
              <a:buFont typeface="+mj-lt"/>
              <a:buAutoNum type="arabicPeriod"/>
            </a:pPr>
            <a:r>
              <a:rPr lang="en-US" sz="1200" b="1" kern="1200" dirty="0">
                <a:solidFill>
                  <a:schemeClr val="tx1"/>
                </a:solidFill>
                <a:effectLst/>
                <a:latin typeface="+mn-lt"/>
                <a:ea typeface="+mn-ea"/>
                <a:cs typeface="+mn-cs"/>
              </a:rPr>
              <a:t>Speed of Trials:</a:t>
            </a:r>
            <a:r>
              <a:rPr lang="en-US" sz="1200" kern="1200" dirty="0">
                <a:solidFill>
                  <a:schemeClr val="tx1"/>
                </a:solidFill>
                <a:effectLst/>
                <a:latin typeface="+mn-lt"/>
                <a:ea typeface="+mn-ea"/>
                <a:cs typeface="+mn-cs"/>
              </a:rPr>
              <a:t> Maximize the frequency of your team's experiments to discover winning strategies. </a:t>
            </a:r>
          </a:p>
          <a:p>
            <a:pPr marL="228600" lvl="0" indent="-228600">
              <a:buFont typeface="+mj-lt"/>
              <a:buAutoNum type="arabicPeriod"/>
            </a:pPr>
            <a:r>
              <a:rPr lang="en-US" sz="1200" b="1" kern="1200" dirty="0">
                <a:solidFill>
                  <a:schemeClr val="tx1"/>
                </a:solidFill>
                <a:effectLst/>
                <a:latin typeface="+mn-lt"/>
                <a:ea typeface="+mn-ea"/>
                <a:cs typeface="+mn-cs"/>
              </a:rPr>
              <a:t>Pushing Paper Walls:</a:t>
            </a:r>
            <a:r>
              <a:rPr lang="en-US" sz="1200" kern="1200" dirty="0">
                <a:solidFill>
                  <a:schemeClr val="tx1"/>
                </a:solidFill>
                <a:effectLst/>
                <a:latin typeface="+mn-lt"/>
                <a:ea typeface="+mn-ea"/>
                <a:cs typeface="+mn-cs"/>
              </a:rPr>
              <a:t> Relentlessly question industry rules and overcome artificial limits. </a:t>
            </a:r>
          </a:p>
          <a:p>
            <a:pPr marL="228600" lvl="0" indent="-228600">
              <a:buFont typeface="+mj-lt"/>
              <a:buAutoNum type="arabicPeriod"/>
            </a:pPr>
            <a:r>
              <a:rPr lang="en-US" sz="1200" b="1" kern="1200" dirty="0">
                <a:solidFill>
                  <a:schemeClr val="tx1"/>
                </a:solidFill>
                <a:effectLst/>
                <a:latin typeface="+mn-lt"/>
                <a:ea typeface="+mn-ea"/>
                <a:cs typeface="+mn-cs"/>
              </a:rPr>
              <a:t>Human Layer:</a:t>
            </a:r>
            <a:r>
              <a:rPr lang="en-US" sz="1200" kern="1200" dirty="0">
                <a:solidFill>
                  <a:schemeClr val="tx1"/>
                </a:solidFill>
                <a:effectLst/>
                <a:latin typeface="+mn-lt"/>
                <a:ea typeface="+mn-ea"/>
                <a:cs typeface="+mn-cs"/>
              </a:rPr>
              <a:t> Double down on vulnerability, storytelling, and human experience in an AI-driven environment. </a:t>
            </a:r>
          </a:p>
          <a:p>
            <a:pPr marL="228600" lvl="0" indent="-228600">
              <a:buFont typeface="+mj-lt"/>
              <a:buAutoNum type="arabicPeriod"/>
            </a:pPr>
            <a:r>
              <a:rPr lang="en-US" sz="1200" b="1" kern="1200" dirty="0">
                <a:solidFill>
                  <a:schemeClr val="tx1"/>
                </a:solidFill>
                <a:effectLst/>
                <a:latin typeface="+mn-lt"/>
                <a:ea typeface="+mn-ea"/>
                <a:cs typeface="+mn-cs"/>
              </a:rPr>
              <a:t>Talent Density &amp; Owned Media:</a:t>
            </a:r>
            <a:r>
              <a:rPr lang="en-US" sz="1200" kern="1200" dirty="0">
                <a:solidFill>
                  <a:schemeClr val="tx1"/>
                </a:solidFill>
                <a:effectLst/>
                <a:latin typeface="+mn-lt"/>
                <a:ea typeface="+mn-ea"/>
                <a:cs typeface="+mn-cs"/>
              </a:rPr>
              <a:t> Dedicate maximum energy to recruiting elite talent and converting rented audiences into owned ecosystems. </a:t>
            </a:r>
          </a:p>
          <a:p>
            <a:r>
              <a:rPr lang="en-US" sz="1200" kern="1200" dirty="0">
                <a:solidFill>
                  <a:schemeClr val="tx1"/>
                </a:solidFill>
                <a:effectLst/>
                <a:latin typeface="+mn-lt"/>
                <a:ea typeface="+mn-ea"/>
                <a:cs typeface="+mn-cs"/>
              </a:rPr>
              <a:t>Take this playbook, audit your current operations, and start pushing on the paper walls in your industry today. Thank you. </a:t>
            </a:r>
          </a:p>
          <a:p>
            <a:endParaRPr lang="en-US" dirty="0"/>
          </a:p>
          <a:p>
            <a:endParaRPr lang="en-US" dirty="0"/>
          </a:p>
          <a:p>
            <a:endParaRPr lang="en-US" dirty="0"/>
          </a:p>
          <a:p>
            <a:endParaRPr lang="en-US" dirty="0"/>
          </a:p>
          <a:p>
            <a:endParaRPr lang="en-US" dirty="0"/>
          </a:p>
          <a:p>
            <a:r>
              <a:rPr lang="en-US" b="1" dirty="0"/>
              <a:t>Steven Bartlett REVEALS the Secret Behind the World’s Fastest Growing Podcast | PBD Podcast #861</a:t>
            </a:r>
          </a:p>
          <a:p>
            <a:r>
              <a:rPr lang="en-US" dirty="0"/>
              <a:t>https://www.youtube.com/watch?v=4Na_49oFbKY</a:t>
            </a:r>
          </a:p>
        </p:txBody>
      </p:sp>
      <p:sp>
        <p:nvSpPr>
          <p:cNvPr id="4" name="Slide Number Placeholder 3"/>
          <p:cNvSpPr>
            <a:spLocks noGrp="1"/>
          </p:cNvSpPr>
          <p:nvPr>
            <p:ph type="sldNum" sz="quarter" idx="5"/>
          </p:nvPr>
        </p:nvSpPr>
        <p:spPr/>
        <p:txBody>
          <a:bodyPr/>
          <a:lstStyle/>
          <a:p>
            <a:fld id="{3F8F6FC9-C7AD-4989-91E8-19B7B43B045D}" type="slidenum">
              <a:rPr lang="en-US" smtClean="0"/>
              <a:t>15</a:t>
            </a:fld>
            <a:endParaRPr lang="en-US"/>
          </a:p>
        </p:txBody>
      </p:sp>
    </p:spTree>
    <p:extLst>
      <p:ext uri="{BB962C8B-B14F-4D97-AF65-F5344CB8AC3E}">
        <p14:creationId xmlns:p14="http://schemas.microsoft.com/office/powerpoint/2010/main" val="3200154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76F1D72-DF82-87B4-F52F-F8311116558A}"/>
              </a:ext>
            </a:extLst>
          </p:cNvPr>
          <p:cNvSpPr>
            <a:spLocks noGrp="1"/>
          </p:cNvSpPr>
          <p:nvPr>
            <p:ph type="dt" sz="half" idx="10"/>
          </p:nvPr>
        </p:nvSpPr>
        <p:spPr/>
        <p:txBody>
          <a:bodyPr/>
          <a:lstStyle/>
          <a:p>
            <a:fld id="{B13A63C7-5CEA-4E09-8208-9689A3058D9B}" type="datetimeFigureOut">
              <a:rPr lang="en-US" smtClean="0"/>
              <a:t>10/21/2026</a:t>
            </a:fld>
            <a:endParaRPr lang="en-US"/>
          </a:p>
        </p:txBody>
      </p:sp>
      <p:sp>
        <p:nvSpPr>
          <p:cNvPr id="3" name="Footer Placeholder 2">
            <a:extLst>
              <a:ext uri="{FF2B5EF4-FFF2-40B4-BE49-F238E27FC236}">
                <a16:creationId xmlns:a16="http://schemas.microsoft.com/office/drawing/2014/main" id="{838424F5-CCA0-F6D5-8733-B69C4170671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9AD52F6-5D53-AD3A-D4DA-DEF8C1C08469}"/>
              </a:ext>
            </a:extLst>
          </p:cNvPr>
          <p:cNvSpPr>
            <a:spLocks noGrp="1"/>
          </p:cNvSpPr>
          <p:nvPr>
            <p:ph type="sldNum" sz="quarter" idx="12"/>
          </p:nvPr>
        </p:nvSpPr>
        <p:spPr/>
        <p:txBody>
          <a:bodyPr/>
          <a:lstStyle/>
          <a:p>
            <a:fld id="{C021F01E-5B66-43C0-823E-20A432ABF84F}" type="slidenum">
              <a:rPr lang="en-US" smtClean="0"/>
              <a:t>‹#›</a:t>
            </a:fld>
            <a:endParaRPr lang="en-US"/>
          </a:p>
        </p:txBody>
      </p:sp>
    </p:spTree>
    <p:extLst>
      <p:ext uri="{BB962C8B-B14F-4D97-AF65-F5344CB8AC3E}">
        <p14:creationId xmlns:p14="http://schemas.microsoft.com/office/powerpoint/2010/main" val="3106431317"/>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598E7C5-733F-3D32-4842-BB1345B40CF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7070D02-FC2C-C780-535E-F75EDE6C70D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F0BCD05-8D5D-0027-11CE-71A75EB4A0E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13A63C7-5CEA-4E09-8208-9689A3058D9B}" type="datetimeFigureOut">
              <a:rPr lang="en-US" smtClean="0"/>
              <a:t>10/21/2026</a:t>
            </a:fld>
            <a:endParaRPr lang="en-US"/>
          </a:p>
        </p:txBody>
      </p:sp>
      <p:sp>
        <p:nvSpPr>
          <p:cNvPr id="5" name="Footer Placeholder 4">
            <a:extLst>
              <a:ext uri="{FF2B5EF4-FFF2-40B4-BE49-F238E27FC236}">
                <a16:creationId xmlns:a16="http://schemas.microsoft.com/office/drawing/2014/main" id="{EAF2CC4D-23DC-29F3-8073-9D31151E0B3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37950378-D60B-9F53-4D3A-D6EBE940CE3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021F01E-5B66-43C0-823E-20A432ABF84F}" type="slidenum">
              <a:rPr lang="en-US" smtClean="0"/>
              <a:t>‹#›</a:t>
            </a:fld>
            <a:endParaRPr lang="en-US"/>
          </a:p>
        </p:txBody>
      </p:sp>
    </p:spTree>
    <p:extLst>
      <p:ext uri="{BB962C8B-B14F-4D97-AF65-F5344CB8AC3E}">
        <p14:creationId xmlns:p14="http://schemas.microsoft.com/office/powerpoint/2010/main" val="447241921"/>
      </p:ext>
    </p:extLst>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A0B5D3B-4526-3022-1258-2F94FDDDBA37}"/>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10D5641-DCE4-3690-3333-CE8AE5A6AF43}"/>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EBD8DAE-06DD-AF1F-D7E6-2E43CBB904D1}"/>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AB03DD2-EA4B-6B6E-3D59-F65B20D6B400}"/>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57D63F8-E5E9-0CF9-7775-90FBE3F39EF7}"/>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C7F86A9-09E0-4126-0737-819F3781177D}"/>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1BCBE9C-ED4B-654A-6EBA-2381B496F891}"/>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FCBB33C-64D7-91B5-62B7-AAF7C0899ED9}"/>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0EA99E0-DB86-3678-DFAF-8520AF073CED}"/>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96231FE-71D1-5E8F-25D9-4830BB379A78}"/>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012590B-BF89-5D97-AC33-0ECFA3971434}"/>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5E73553-476C-5C90-B75F-69CBA2BE3673}"/>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35064DD-3955-26F9-2991-04C5CF6F0C85}"/>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B5A80FD-8B90-F280-FF19-BE134E5AB91D}"/>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480B15E-C290-35D8-D520-7EE7B00CC216}"/>
              </a:ext>
            </a:extLst>
          </p:cNvPr>
          <p:cNvPicPr>
            <a:picLocks noChangeAspect="1"/>
          </p:cNvPicPr>
          <p:nvPr/>
        </p:nvPicPr>
        <p:blipFill>
          <a:blip r:embed="rId3"/>
          <a:stretch>
            <a:fillRect/>
          </a:stretch>
        </p:blipFill>
        <p:spPr>
          <a:xfrm>
            <a:off x="0" y="28575"/>
            <a:ext cx="12192000" cy="6800850"/>
          </a:xfrm>
          <a:prstGeom prst="rect">
            <a:avLst/>
          </a:prstGeom>
        </p:spPr>
      </p:pic>
    </p:spTree>
    <p:extLst>
      <p:ext uri="{BB962C8B-B14F-4D97-AF65-F5344CB8AC3E}">
        <p14:creationId xmlns:p14="http://schemas.microsoft.com/office/powerpoint/2010/main" val="156412946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17</TotalTime>
  <Words>2350</Words>
  <Application>Microsoft Office PowerPoint</Application>
  <PresentationFormat>寬螢幕</PresentationFormat>
  <Paragraphs>111</Paragraphs>
  <Slides>15</Slides>
  <Notes>15</Notes>
  <HiddenSlides>0</HiddenSlides>
  <MMClips>0</MMClips>
  <ScaleCrop>false</ScaleCrop>
  <HeadingPairs>
    <vt:vector size="6" baseType="variant">
      <vt:variant>
        <vt:lpstr>使用字型</vt:lpstr>
      </vt:variant>
      <vt:variant>
        <vt:i4>4</vt:i4>
      </vt:variant>
      <vt:variant>
        <vt:lpstr>佈景主題</vt:lpstr>
      </vt:variant>
      <vt:variant>
        <vt:i4>1</vt:i4>
      </vt:variant>
      <vt:variant>
        <vt:lpstr>投影片標題</vt:lpstr>
      </vt:variant>
      <vt:variant>
        <vt:i4>15</vt:i4>
      </vt:variant>
    </vt:vector>
  </HeadingPairs>
  <TitlesOfParts>
    <vt:vector size="20" baseType="lpstr">
      <vt:lpstr>Aptos</vt:lpstr>
      <vt:lpstr>Aptos Display</vt:lpstr>
      <vt:lpstr>Arial</vt:lpstr>
      <vt:lpstr>Cambria Math</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Lai, Wilson</dc:creator>
  <cp:lastModifiedBy>Wilson Lai</cp:lastModifiedBy>
  <cp:revision>2</cp:revision>
  <dcterms:created xsi:type="dcterms:W3CDTF">2026-09-25T02:21:17Z</dcterms:created>
  <dcterms:modified xsi:type="dcterms:W3CDTF">2026-10-21T02:43:47Z</dcterms:modified>
</cp:coreProperties>
</file>