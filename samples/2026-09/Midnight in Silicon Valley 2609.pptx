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0A9311-6BB5-4492-BFE6-2B1AFE3A24E5}" v="21" dt="2026-09-26T05:47:12.8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59" autoAdjust="0"/>
    <p:restoredTop sz="83903" autoAdjust="0"/>
  </p:normalViewPr>
  <p:slideViewPr>
    <p:cSldViewPr snapToGrid="0">
      <p:cViewPr varScale="1">
        <p:scale>
          <a:sx n="73" d="100"/>
          <a:sy n="73" d="100"/>
        </p:scale>
        <p:origin x="60"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9-26T05:48:44.420" v="69" actId="166"/>
      <pc:docMkLst>
        <pc:docMk/>
      </pc:docMkLst>
      <pc:sldChg chg="addSp delSp modSp mod modAnim modNotes modNotesTx">
        <pc:chgData name="Lai, Wilson" userId="2840974a-0d84-4886-90a9-9a3ed79f3a48" providerId="ADAL" clId="{9F23B798-9E84-4552-BA63-E776E805C424}" dt="2026-09-26T05:48:44.420" v="69" actId="166"/>
        <pc:sldMkLst>
          <pc:docMk/>
          <pc:sldMk cId="0" sldId="257"/>
        </pc:sldMkLst>
        <pc:spChg chg="add mod">
          <ac:chgData name="Lai, Wilson" userId="2840974a-0d84-4886-90a9-9a3ed79f3a48" providerId="ADAL" clId="{9F23B798-9E84-4552-BA63-E776E805C424}" dt="2026-09-25T23:59:48.040" v="8" actId="164"/>
          <ac:spMkLst>
            <pc:docMk/>
            <pc:sldMk cId="0" sldId="257"/>
            <ac:spMk id="5" creationId="{D6F3A2BD-6030-5764-F9ED-B85C82FB3FCD}"/>
          </ac:spMkLst>
        </pc:spChg>
        <pc:grpChg chg="add mod">
          <ac:chgData name="Lai, Wilson" userId="2840974a-0d84-4886-90a9-9a3ed79f3a48" providerId="ADAL" clId="{9F23B798-9E84-4552-BA63-E776E805C424}" dt="2026-09-25T23:59:56.934" v="11" actId="1076"/>
          <ac:grpSpMkLst>
            <pc:docMk/>
            <pc:sldMk cId="0" sldId="257"/>
            <ac:grpSpMk id="6" creationId="{A7B9CC88-A5D2-AAAE-7FCE-0FA4D48D64F0}"/>
          </ac:grpSpMkLst>
        </pc:grpChg>
        <pc:picChg chg="del mod">
          <ac:chgData name="Lai, Wilson" userId="2840974a-0d84-4886-90a9-9a3ed79f3a48" providerId="ADAL" clId="{9F23B798-9E84-4552-BA63-E776E805C424}" dt="2026-09-26T00:22:00.454" v="12" actId="21"/>
          <ac:picMkLst>
            <pc:docMk/>
            <pc:sldMk cId="0" sldId="257"/>
            <ac:picMk id="2" creationId="{00000000-0000-0000-0000-000000000000}"/>
          </ac:picMkLst>
        </pc:picChg>
        <pc:picChg chg="add mod">
          <ac:chgData name="Lai, Wilson" userId="2840974a-0d84-4886-90a9-9a3ed79f3a48" providerId="ADAL" clId="{9F23B798-9E84-4552-BA63-E776E805C424}" dt="2026-09-25T23:59:48.040" v="8" actId="164"/>
          <ac:picMkLst>
            <pc:docMk/>
            <pc:sldMk cId="0" sldId="257"/>
            <ac:picMk id="3" creationId="{B53DAB28-8B89-CF66-590E-CF9E600419BF}"/>
          </ac:picMkLst>
        </pc:picChg>
        <pc:picChg chg="add ord">
          <ac:chgData name="Lai, Wilson" userId="2840974a-0d84-4886-90a9-9a3ed79f3a48" providerId="ADAL" clId="{9F23B798-9E84-4552-BA63-E776E805C424}" dt="2026-09-26T05:48:44.420" v="69" actId="166"/>
          <ac:picMkLst>
            <pc:docMk/>
            <pc:sldMk cId="0" sldId="257"/>
            <ac:picMk id="7" creationId="{9788D42D-A02B-181C-7B04-0A7437335F63}"/>
          </ac:picMkLst>
        </pc:picChg>
      </pc:sldChg>
      <pc:sldChg chg="addSp delSp mod modNotes">
        <pc:chgData name="Lai, Wilson" userId="2840974a-0d84-4886-90a9-9a3ed79f3a48" providerId="ADAL" clId="{9F23B798-9E84-4552-BA63-E776E805C424}" dt="2026-09-26T05:47:12.887" v="65"/>
        <pc:sldMkLst>
          <pc:docMk/>
          <pc:sldMk cId="0" sldId="258"/>
        </pc:sldMkLst>
        <pc:picChg chg="del">
          <ac:chgData name="Lai, Wilson" userId="2840974a-0d84-4886-90a9-9a3ed79f3a48" providerId="ADAL" clId="{9F23B798-9E84-4552-BA63-E776E805C424}" dt="2026-09-26T00:22:26.643" v="14" actId="21"/>
          <ac:picMkLst>
            <pc:docMk/>
            <pc:sldMk cId="0" sldId="258"/>
            <ac:picMk id="2" creationId="{00000000-0000-0000-0000-000000000000}"/>
          </ac:picMkLst>
        </pc:picChg>
        <pc:picChg chg="add">
          <ac:chgData name="Lai, Wilson" userId="2840974a-0d84-4886-90a9-9a3ed79f3a48" providerId="ADAL" clId="{9F23B798-9E84-4552-BA63-E776E805C424}" dt="2026-09-26T00:22:38.286" v="15" actId="22"/>
          <ac:picMkLst>
            <pc:docMk/>
            <pc:sldMk cId="0" sldId="258"/>
            <ac:picMk id="4" creationId="{8AB0D728-A85D-2C74-9F5F-A68FEC3AE56D}"/>
          </ac:picMkLst>
        </pc:picChg>
      </pc:sldChg>
      <pc:sldChg chg="addSp delSp mod ord modNotes">
        <pc:chgData name="Lai, Wilson" userId="2840974a-0d84-4886-90a9-9a3ed79f3a48" providerId="ADAL" clId="{9F23B798-9E84-4552-BA63-E776E805C424}" dt="2026-09-26T05:47:12.887" v="65"/>
        <pc:sldMkLst>
          <pc:docMk/>
          <pc:sldMk cId="0" sldId="259"/>
        </pc:sldMkLst>
        <pc:picChg chg="del">
          <ac:chgData name="Lai, Wilson" userId="2840974a-0d84-4886-90a9-9a3ed79f3a48" providerId="ADAL" clId="{9F23B798-9E84-4552-BA63-E776E805C424}" dt="2026-09-26T00:22:39.986" v="16" actId="21"/>
          <ac:picMkLst>
            <pc:docMk/>
            <pc:sldMk cId="0" sldId="259"/>
            <ac:picMk id="2" creationId="{00000000-0000-0000-0000-000000000000}"/>
          </ac:picMkLst>
        </pc:picChg>
        <pc:picChg chg="add">
          <ac:chgData name="Lai, Wilson" userId="2840974a-0d84-4886-90a9-9a3ed79f3a48" providerId="ADAL" clId="{9F23B798-9E84-4552-BA63-E776E805C424}" dt="2026-09-26T00:22:48.502" v="17" actId="22"/>
          <ac:picMkLst>
            <pc:docMk/>
            <pc:sldMk cId="0" sldId="259"/>
            <ac:picMk id="4" creationId="{43F97D4F-C89C-0708-3848-5D0D45FC44B8}"/>
          </ac:picMkLst>
        </pc:picChg>
      </pc:sldChg>
      <pc:sldChg chg="addSp delSp mod modNotes">
        <pc:chgData name="Lai, Wilson" userId="2840974a-0d84-4886-90a9-9a3ed79f3a48" providerId="ADAL" clId="{9F23B798-9E84-4552-BA63-E776E805C424}" dt="2026-09-26T05:47:12.887" v="65"/>
        <pc:sldMkLst>
          <pc:docMk/>
          <pc:sldMk cId="0" sldId="260"/>
        </pc:sldMkLst>
        <pc:picChg chg="del">
          <ac:chgData name="Lai, Wilson" userId="2840974a-0d84-4886-90a9-9a3ed79f3a48" providerId="ADAL" clId="{9F23B798-9E84-4552-BA63-E776E805C424}" dt="2026-09-26T00:22:49.657" v="18" actId="21"/>
          <ac:picMkLst>
            <pc:docMk/>
            <pc:sldMk cId="0" sldId="260"/>
            <ac:picMk id="2" creationId="{00000000-0000-0000-0000-000000000000}"/>
          </ac:picMkLst>
        </pc:picChg>
        <pc:picChg chg="add">
          <ac:chgData name="Lai, Wilson" userId="2840974a-0d84-4886-90a9-9a3ed79f3a48" providerId="ADAL" clId="{9F23B798-9E84-4552-BA63-E776E805C424}" dt="2026-09-26T00:23:00.939" v="19" actId="22"/>
          <ac:picMkLst>
            <pc:docMk/>
            <pc:sldMk cId="0" sldId="260"/>
            <ac:picMk id="4" creationId="{7AB158A0-5554-B233-41CF-F1C5E929EF85}"/>
          </ac:picMkLst>
        </pc:picChg>
      </pc:sldChg>
      <pc:sldChg chg="addSp delSp mod modNotes">
        <pc:chgData name="Lai, Wilson" userId="2840974a-0d84-4886-90a9-9a3ed79f3a48" providerId="ADAL" clId="{9F23B798-9E84-4552-BA63-E776E805C424}" dt="2026-09-26T05:47:12.887" v="65"/>
        <pc:sldMkLst>
          <pc:docMk/>
          <pc:sldMk cId="0" sldId="261"/>
        </pc:sldMkLst>
        <pc:picChg chg="del">
          <ac:chgData name="Lai, Wilson" userId="2840974a-0d84-4886-90a9-9a3ed79f3a48" providerId="ADAL" clId="{9F23B798-9E84-4552-BA63-E776E805C424}" dt="2026-09-26T00:23:02.050" v="20" actId="21"/>
          <ac:picMkLst>
            <pc:docMk/>
            <pc:sldMk cId="0" sldId="261"/>
            <ac:picMk id="2" creationId="{00000000-0000-0000-0000-000000000000}"/>
          </ac:picMkLst>
        </pc:picChg>
        <pc:picChg chg="add">
          <ac:chgData name="Lai, Wilson" userId="2840974a-0d84-4886-90a9-9a3ed79f3a48" providerId="ADAL" clId="{9F23B798-9E84-4552-BA63-E776E805C424}" dt="2026-09-26T00:23:11.050" v="21" actId="22"/>
          <ac:picMkLst>
            <pc:docMk/>
            <pc:sldMk cId="0" sldId="261"/>
            <ac:picMk id="4" creationId="{FE9C7826-1EC7-73D7-ABCE-0305BA46D07E}"/>
          </ac:picMkLst>
        </pc:picChg>
      </pc:sldChg>
      <pc:sldChg chg="addSp delSp mod modNotes">
        <pc:chgData name="Lai, Wilson" userId="2840974a-0d84-4886-90a9-9a3ed79f3a48" providerId="ADAL" clId="{9F23B798-9E84-4552-BA63-E776E805C424}" dt="2026-09-26T05:47:12.887" v="65"/>
        <pc:sldMkLst>
          <pc:docMk/>
          <pc:sldMk cId="0" sldId="262"/>
        </pc:sldMkLst>
        <pc:picChg chg="del">
          <ac:chgData name="Lai, Wilson" userId="2840974a-0d84-4886-90a9-9a3ed79f3a48" providerId="ADAL" clId="{9F23B798-9E84-4552-BA63-E776E805C424}" dt="2026-09-26T00:23:13.588" v="22" actId="21"/>
          <ac:picMkLst>
            <pc:docMk/>
            <pc:sldMk cId="0" sldId="262"/>
            <ac:picMk id="2" creationId="{00000000-0000-0000-0000-000000000000}"/>
          </ac:picMkLst>
        </pc:picChg>
        <pc:picChg chg="add">
          <ac:chgData name="Lai, Wilson" userId="2840974a-0d84-4886-90a9-9a3ed79f3a48" providerId="ADAL" clId="{9F23B798-9E84-4552-BA63-E776E805C424}" dt="2026-09-26T00:23:23.886" v="23" actId="22"/>
          <ac:picMkLst>
            <pc:docMk/>
            <pc:sldMk cId="0" sldId="262"/>
            <ac:picMk id="4" creationId="{F201B314-1535-A11D-4295-CE7A984295CA}"/>
          </ac:picMkLst>
        </pc:picChg>
      </pc:sldChg>
      <pc:sldChg chg="addSp delSp mod modNotes">
        <pc:chgData name="Lai, Wilson" userId="2840974a-0d84-4886-90a9-9a3ed79f3a48" providerId="ADAL" clId="{9F23B798-9E84-4552-BA63-E776E805C424}" dt="2026-09-26T05:47:12.887" v="65"/>
        <pc:sldMkLst>
          <pc:docMk/>
          <pc:sldMk cId="0" sldId="263"/>
        </pc:sldMkLst>
        <pc:picChg chg="del">
          <ac:chgData name="Lai, Wilson" userId="2840974a-0d84-4886-90a9-9a3ed79f3a48" providerId="ADAL" clId="{9F23B798-9E84-4552-BA63-E776E805C424}" dt="2026-09-26T00:23:25.133" v="24" actId="21"/>
          <ac:picMkLst>
            <pc:docMk/>
            <pc:sldMk cId="0" sldId="263"/>
            <ac:picMk id="2" creationId="{00000000-0000-0000-0000-000000000000}"/>
          </ac:picMkLst>
        </pc:picChg>
        <pc:picChg chg="add">
          <ac:chgData name="Lai, Wilson" userId="2840974a-0d84-4886-90a9-9a3ed79f3a48" providerId="ADAL" clId="{9F23B798-9E84-4552-BA63-E776E805C424}" dt="2026-09-26T00:23:33.080" v="25" actId="22"/>
          <ac:picMkLst>
            <pc:docMk/>
            <pc:sldMk cId="0" sldId="263"/>
            <ac:picMk id="4" creationId="{21FF6AFE-191F-43C5-2B9C-A8DD93D639D3}"/>
          </ac:picMkLst>
        </pc:picChg>
      </pc:sldChg>
      <pc:sldChg chg="addSp delSp mod modNotes">
        <pc:chgData name="Lai, Wilson" userId="2840974a-0d84-4886-90a9-9a3ed79f3a48" providerId="ADAL" clId="{9F23B798-9E84-4552-BA63-E776E805C424}" dt="2026-09-26T05:47:12.887" v="65"/>
        <pc:sldMkLst>
          <pc:docMk/>
          <pc:sldMk cId="0" sldId="264"/>
        </pc:sldMkLst>
        <pc:picChg chg="del">
          <ac:chgData name="Lai, Wilson" userId="2840974a-0d84-4886-90a9-9a3ed79f3a48" providerId="ADAL" clId="{9F23B798-9E84-4552-BA63-E776E805C424}" dt="2026-09-26T00:23:34.262" v="26" actId="21"/>
          <ac:picMkLst>
            <pc:docMk/>
            <pc:sldMk cId="0" sldId="264"/>
            <ac:picMk id="2" creationId="{00000000-0000-0000-0000-000000000000}"/>
          </ac:picMkLst>
        </pc:picChg>
        <pc:picChg chg="add">
          <ac:chgData name="Lai, Wilson" userId="2840974a-0d84-4886-90a9-9a3ed79f3a48" providerId="ADAL" clId="{9F23B798-9E84-4552-BA63-E776E805C424}" dt="2026-09-26T00:23:45.089" v="27" actId="22"/>
          <ac:picMkLst>
            <pc:docMk/>
            <pc:sldMk cId="0" sldId="264"/>
            <ac:picMk id="4" creationId="{4137FA4A-EFC9-8989-7A27-DBAE30DF985B}"/>
          </ac:picMkLst>
        </pc:picChg>
      </pc:sldChg>
      <pc:sldChg chg="addSp delSp mod modNotes">
        <pc:chgData name="Lai, Wilson" userId="2840974a-0d84-4886-90a9-9a3ed79f3a48" providerId="ADAL" clId="{9F23B798-9E84-4552-BA63-E776E805C424}" dt="2026-09-26T05:47:12.887" v="65"/>
        <pc:sldMkLst>
          <pc:docMk/>
          <pc:sldMk cId="0" sldId="265"/>
        </pc:sldMkLst>
        <pc:picChg chg="del">
          <ac:chgData name="Lai, Wilson" userId="2840974a-0d84-4886-90a9-9a3ed79f3a48" providerId="ADAL" clId="{9F23B798-9E84-4552-BA63-E776E805C424}" dt="2026-09-26T00:23:46.601" v="28" actId="21"/>
          <ac:picMkLst>
            <pc:docMk/>
            <pc:sldMk cId="0" sldId="265"/>
            <ac:picMk id="2" creationId="{00000000-0000-0000-0000-000000000000}"/>
          </ac:picMkLst>
        </pc:picChg>
        <pc:picChg chg="add">
          <ac:chgData name="Lai, Wilson" userId="2840974a-0d84-4886-90a9-9a3ed79f3a48" providerId="ADAL" clId="{9F23B798-9E84-4552-BA63-E776E805C424}" dt="2026-09-26T00:23:55.660" v="29" actId="22"/>
          <ac:picMkLst>
            <pc:docMk/>
            <pc:sldMk cId="0" sldId="265"/>
            <ac:picMk id="4" creationId="{76FECBBE-C645-D594-7CD1-B89A65BE5525}"/>
          </ac:picMkLst>
        </pc:picChg>
      </pc:sldChg>
      <pc:sldChg chg="addSp delSp mod modNotes modNotesTx">
        <pc:chgData name="Lai, Wilson" userId="2840974a-0d84-4886-90a9-9a3ed79f3a48" providerId="ADAL" clId="{9F23B798-9E84-4552-BA63-E776E805C424}" dt="2026-09-26T05:47:12.887" v="65"/>
        <pc:sldMkLst>
          <pc:docMk/>
          <pc:sldMk cId="0" sldId="266"/>
        </pc:sldMkLst>
        <pc:picChg chg="del">
          <ac:chgData name="Lai, Wilson" userId="2840974a-0d84-4886-90a9-9a3ed79f3a48" providerId="ADAL" clId="{9F23B798-9E84-4552-BA63-E776E805C424}" dt="2026-09-26T00:24:01.053" v="30" actId="21"/>
          <ac:picMkLst>
            <pc:docMk/>
            <pc:sldMk cId="0" sldId="266"/>
            <ac:picMk id="2" creationId="{00000000-0000-0000-0000-000000000000}"/>
          </ac:picMkLst>
        </pc:picChg>
        <pc:picChg chg="add">
          <ac:chgData name="Lai, Wilson" userId="2840974a-0d84-4886-90a9-9a3ed79f3a48" providerId="ADAL" clId="{9F23B798-9E84-4552-BA63-E776E805C424}" dt="2026-09-26T00:24:07.903" v="31" actId="22"/>
          <ac:picMkLst>
            <pc:docMk/>
            <pc:sldMk cId="0" sldId="266"/>
            <ac:picMk id="4" creationId="{48F73F80-8E6E-EED4-3E20-F8AE7C8DBB82}"/>
          </ac:picMkLst>
        </pc:picChg>
      </pc:sldChg>
      <pc:sldChg chg="addSp delSp mod modNotes">
        <pc:chgData name="Lai, Wilson" userId="2840974a-0d84-4886-90a9-9a3ed79f3a48" providerId="ADAL" clId="{9F23B798-9E84-4552-BA63-E776E805C424}" dt="2026-09-26T05:47:12.887" v="65"/>
        <pc:sldMkLst>
          <pc:docMk/>
          <pc:sldMk cId="0" sldId="267"/>
        </pc:sldMkLst>
        <pc:picChg chg="del">
          <ac:chgData name="Lai, Wilson" userId="2840974a-0d84-4886-90a9-9a3ed79f3a48" providerId="ADAL" clId="{9F23B798-9E84-4552-BA63-E776E805C424}" dt="2026-09-26T00:24:09.110" v="32" actId="21"/>
          <ac:picMkLst>
            <pc:docMk/>
            <pc:sldMk cId="0" sldId="267"/>
            <ac:picMk id="2" creationId="{00000000-0000-0000-0000-000000000000}"/>
          </ac:picMkLst>
        </pc:picChg>
        <pc:picChg chg="add">
          <ac:chgData name="Lai, Wilson" userId="2840974a-0d84-4886-90a9-9a3ed79f3a48" providerId="ADAL" clId="{9F23B798-9E84-4552-BA63-E776E805C424}" dt="2026-09-26T00:24:16.626" v="33" actId="22"/>
          <ac:picMkLst>
            <pc:docMk/>
            <pc:sldMk cId="0" sldId="267"/>
            <ac:picMk id="4" creationId="{4F4434EC-7CF8-4650-5C08-EA93ADA7BF78}"/>
          </ac:picMkLst>
        </pc:picChg>
      </pc:sldChg>
      <pc:sldChg chg="addSp delSp mod modNotes">
        <pc:chgData name="Lai, Wilson" userId="2840974a-0d84-4886-90a9-9a3ed79f3a48" providerId="ADAL" clId="{9F23B798-9E84-4552-BA63-E776E805C424}" dt="2026-09-26T05:47:12.887" v="65"/>
        <pc:sldMkLst>
          <pc:docMk/>
          <pc:sldMk cId="0" sldId="268"/>
        </pc:sldMkLst>
        <pc:picChg chg="del">
          <ac:chgData name="Lai, Wilson" userId="2840974a-0d84-4886-90a9-9a3ed79f3a48" providerId="ADAL" clId="{9F23B798-9E84-4552-BA63-E776E805C424}" dt="2026-09-26T00:24:17.938" v="34" actId="21"/>
          <ac:picMkLst>
            <pc:docMk/>
            <pc:sldMk cId="0" sldId="268"/>
            <ac:picMk id="2" creationId="{00000000-0000-0000-0000-000000000000}"/>
          </ac:picMkLst>
        </pc:picChg>
        <pc:picChg chg="add">
          <ac:chgData name="Lai, Wilson" userId="2840974a-0d84-4886-90a9-9a3ed79f3a48" providerId="ADAL" clId="{9F23B798-9E84-4552-BA63-E776E805C424}" dt="2026-09-26T00:24:24.615" v="35" actId="22"/>
          <ac:picMkLst>
            <pc:docMk/>
            <pc:sldMk cId="0" sldId="268"/>
            <ac:picMk id="4" creationId="{ECED9E05-07B4-3372-5B5E-AF2267A2B47C}"/>
          </ac:picMkLst>
        </pc:picChg>
      </pc:sldChg>
      <pc:sldChg chg="addSp delSp mod modNotes">
        <pc:chgData name="Lai, Wilson" userId="2840974a-0d84-4886-90a9-9a3ed79f3a48" providerId="ADAL" clId="{9F23B798-9E84-4552-BA63-E776E805C424}" dt="2026-09-26T05:47:12.887" v="65"/>
        <pc:sldMkLst>
          <pc:docMk/>
          <pc:sldMk cId="0" sldId="269"/>
        </pc:sldMkLst>
        <pc:picChg chg="del">
          <ac:chgData name="Lai, Wilson" userId="2840974a-0d84-4886-90a9-9a3ed79f3a48" providerId="ADAL" clId="{9F23B798-9E84-4552-BA63-E776E805C424}" dt="2026-09-26T00:24:25.821" v="36" actId="21"/>
          <ac:picMkLst>
            <pc:docMk/>
            <pc:sldMk cId="0" sldId="269"/>
            <ac:picMk id="2" creationId="{00000000-0000-0000-0000-000000000000}"/>
          </ac:picMkLst>
        </pc:picChg>
        <pc:picChg chg="add">
          <ac:chgData name="Lai, Wilson" userId="2840974a-0d84-4886-90a9-9a3ed79f3a48" providerId="ADAL" clId="{9F23B798-9E84-4552-BA63-E776E805C424}" dt="2026-09-26T00:24:35.242" v="37" actId="22"/>
          <ac:picMkLst>
            <pc:docMk/>
            <pc:sldMk cId="0" sldId="269"/>
            <ac:picMk id="4" creationId="{42B7D4D8-04E6-0690-B653-F203F8D8581C}"/>
          </ac:picMkLst>
        </pc:picChg>
      </pc:sldChg>
      <pc:sldChg chg="addSp delSp mod modNotes">
        <pc:chgData name="Lai, Wilson" userId="2840974a-0d84-4886-90a9-9a3ed79f3a48" providerId="ADAL" clId="{9F23B798-9E84-4552-BA63-E776E805C424}" dt="2026-09-26T05:47:12.887" v="65"/>
        <pc:sldMkLst>
          <pc:docMk/>
          <pc:sldMk cId="0" sldId="270"/>
        </pc:sldMkLst>
        <pc:picChg chg="add del">
          <ac:chgData name="Lai, Wilson" userId="2840974a-0d84-4886-90a9-9a3ed79f3a48" providerId="ADAL" clId="{9F23B798-9E84-4552-BA63-E776E805C424}" dt="2026-09-26T00:24:56.625" v="40" actId="21"/>
          <ac:picMkLst>
            <pc:docMk/>
            <pc:sldMk cId="0" sldId="270"/>
            <ac:picMk id="2" creationId="{00000000-0000-0000-0000-000000000000}"/>
          </ac:picMkLst>
        </pc:picChg>
        <pc:picChg chg="add">
          <ac:chgData name="Lai, Wilson" userId="2840974a-0d84-4886-90a9-9a3ed79f3a48" providerId="ADAL" clId="{9F23B798-9E84-4552-BA63-E776E805C424}" dt="2026-09-26T00:25:04.716" v="41" actId="22"/>
          <ac:picMkLst>
            <pc:docMk/>
            <pc:sldMk cId="0" sldId="270"/>
            <ac:picMk id="4" creationId="{C0BCC6CC-C06D-6E39-D234-5FD067EE78D7}"/>
          </ac:picMkLst>
        </pc:picChg>
      </pc:sldChg>
      <pc:sldChg chg="addSp delSp mod modNotes">
        <pc:chgData name="Lai, Wilson" userId="2840974a-0d84-4886-90a9-9a3ed79f3a48" providerId="ADAL" clId="{9F23B798-9E84-4552-BA63-E776E805C424}" dt="2026-09-26T05:47:12.887" v="65"/>
        <pc:sldMkLst>
          <pc:docMk/>
          <pc:sldMk cId="0" sldId="271"/>
        </pc:sldMkLst>
        <pc:picChg chg="del">
          <ac:chgData name="Lai, Wilson" userId="2840974a-0d84-4886-90a9-9a3ed79f3a48" providerId="ADAL" clId="{9F23B798-9E84-4552-BA63-E776E805C424}" dt="2026-09-26T00:25:07.151" v="42" actId="21"/>
          <ac:picMkLst>
            <pc:docMk/>
            <pc:sldMk cId="0" sldId="271"/>
            <ac:picMk id="2" creationId="{00000000-0000-0000-0000-000000000000}"/>
          </ac:picMkLst>
        </pc:picChg>
        <pc:picChg chg="add">
          <ac:chgData name="Lai, Wilson" userId="2840974a-0d84-4886-90a9-9a3ed79f3a48" providerId="ADAL" clId="{9F23B798-9E84-4552-BA63-E776E805C424}" dt="2026-09-26T00:25:14.362" v="43" actId="22"/>
          <ac:picMkLst>
            <pc:docMk/>
            <pc:sldMk cId="0" sldId="271"/>
            <ac:picMk id="4" creationId="{BFED1212-4F1F-B15D-5E9B-F80DA436D09F}"/>
          </ac:picMkLst>
        </pc:picChg>
      </pc:sldChg>
      <pc:sldChg chg="ord modNotes modNotesTx">
        <pc:chgData name="Lai, Wilson" userId="2840974a-0d84-4886-90a9-9a3ed79f3a48" providerId="ADAL" clId="{9F23B798-9E84-4552-BA63-E776E805C424}" dt="2026-09-26T05:47:53.801" v="66" actId="12"/>
        <pc:sldMkLst>
          <pc:docMk/>
          <pc:sldMk cId="3557617178"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D96129-3A32-4E4E-8BF9-2B0AA40DE805}"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CEACC2-A85F-4DB2-B0EF-1527ABA65B8C}" type="slidenum">
              <a:rPr lang="en-US" smtClean="0"/>
              <a:t>‹#›</a:t>
            </a:fld>
            <a:endParaRPr lang="en-US"/>
          </a:p>
        </p:txBody>
      </p:sp>
    </p:spTree>
    <p:extLst>
      <p:ext uri="{BB962C8B-B14F-4D97-AF65-F5344CB8AC3E}">
        <p14:creationId xmlns:p14="http://schemas.microsoft.com/office/powerpoint/2010/main" val="3917099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Welcome to today’s session on </a:t>
            </a:r>
            <a:r>
              <a:rPr lang="en-US" sz="1200" i="1" kern="1200" dirty="0">
                <a:solidFill>
                  <a:schemeClr val="tx1"/>
                </a:solidFill>
                <a:effectLst/>
                <a:latin typeface="+mn-lt"/>
                <a:ea typeface="+mn-ea"/>
                <a:cs typeface="+mn-cs"/>
              </a:rPr>
              <a:t>The AGI Chronicles</a:t>
            </a:r>
            <a:r>
              <a:rPr lang="en-US" sz="1200" kern="1200" dirty="0">
                <a:solidFill>
                  <a:schemeClr val="tx1"/>
                </a:solidFill>
                <a:effectLst/>
                <a:latin typeface="+mn-lt"/>
                <a:ea typeface="+mn-ea"/>
                <a:cs typeface="+mn-cs"/>
              </a:rPr>
              <a:t>. Over the past decade, and particularly across the last few years, the narrative around Artificial General Intelligence—or AGI—has been dominated by corporate PR, high-stakes fundraising, and glossy product keynotes. </a:t>
            </a:r>
          </a:p>
          <a:p>
            <a:r>
              <a:rPr lang="en-US" sz="1200" kern="1200" dirty="0">
                <a:solidFill>
                  <a:schemeClr val="tx1"/>
                </a:solidFill>
                <a:effectLst/>
                <a:latin typeface="+mn-lt"/>
                <a:ea typeface="+mn-ea"/>
                <a:cs typeface="+mn-cs"/>
              </a:rPr>
              <a:t>What we are presenting today is an insider's view extracted from over 150 closed-door interviews with the founders, chief scientists, and frontier engineers at companies like OpenAI, Google DeepMind, and Anthropic. This presentation exposes the stark delta between Silicon Valley's boardroom marketing and the private panic occurring behind closed doors. Over the next hour, we will walk through the core psychological, technical, and economic drivers of this race—and what it means for the future of humanity. </a:t>
            </a:r>
          </a:p>
          <a:p>
            <a:endParaRPr lang="en-US" dirty="0"/>
          </a:p>
          <a:p>
            <a:endParaRPr lang="en-US" dirty="0"/>
          </a:p>
          <a:p>
            <a:endParaRPr lang="en-US" dirty="0"/>
          </a:p>
          <a:p>
            <a:endParaRPr lang="en-US" dirty="0"/>
          </a:p>
          <a:p>
            <a:endParaRPr lang="en-US" dirty="0"/>
          </a:p>
          <a:p>
            <a:r>
              <a:rPr lang="en-US" b="1" dirty="0"/>
              <a:t>AI Researchers Are Panicking | What Comes Next is Worse Than Nuclear Bombs</a:t>
            </a:r>
          </a:p>
          <a:p>
            <a:r>
              <a:rPr lang="en-US" dirty="0"/>
              <a:t>https://www.youtube.com/watch?v=-sNxknKqU7E</a:t>
            </a:r>
          </a:p>
        </p:txBody>
      </p:sp>
      <p:sp>
        <p:nvSpPr>
          <p:cNvPr id="4" name="Slide Number Placeholder 3"/>
          <p:cNvSpPr>
            <a:spLocks noGrp="1"/>
          </p:cNvSpPr>
          <p:nvPr>
            <p:ph type="sldNum" sz="quarter" idx="5"/>
          </p:nvPr>
        </p:nvSpPr>
        <p:spPr/>
        <p:txBody>
          <a:bodyPr/>
          <a:lstStyle/>
          <a:p>
            <a:fld id="{D0CEACC2-A85F-4DB2-B0EF-1527ABA65B8C}" type="slidenum">
              <a:rPr lang="en-US" smtClean="0"/>
              <a:t>1</a:t>
            </a:fld>
            <a:endParaRPr lang="en-US"/>
          </a:p>
        </p:txBody>
      </p:sp>
    </p:spTree>
    <p:extLst>
      <p:ext uri="{BB962C8B-B14F-4D97-AF65-F5344CB8AC3E}">
        <p14:creationId xmlns:p14="http://schemas.microsoft.com/office/powerpoint/2010/main" val="387022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San Francisco's AI community, there is a casual watercooler metric thrown around called 'P(doom)'—which literally stands for the probability of AI causing human extinction. </a:t>
            </a:r>
          </a:p>
          <a:p>
            <a:r>
              <a:rPr lang="en-US" sz="1200" kern="1200" dirty="0">
                <a:solidFill>
                  <a:schemeClr val="tx1"/>
                </a:solidFill>
                <a:effectLst/>
                <a:latin typeface="+mn-lt"/>
                <a:ea typeface="+mn-ea"/>
                <a:cs typeface="+mn-cs"/>
              </a:rPr>
              <a:t>Look at these numbers on the gauge. Journalist Kevin Roose assigns a 10% P(doom) to AI. In Silicon Valley, a 10% chance of global apocalypse qualifies you as an </a:t>
            </a:r>
            <a:r>
              <a:rPr lang="en-US" sz="1200" i="1" kern="1200" dirty="0">
                <a:solidFill>
                  <a:schemeClr val="tx1"/>
                </a:solidFill>
                <a:effectLst/>
                <a:latin typeface="+mn-lt"/>
                <a:ea typeface="+mn-ea"/>
                <a:cs typeface="+mn-cs"/>
              </a:rPr>
              <a:t>optimist</a:t>
            </a:r>
            <a:r>
              <a:rPr lang="en-US" sz="1200" kern="1200" dirty="0">
                <a:solidFill>
                  <a:schemeClr val="tx1"/>
                </a:solidFill>
                <a:effectLst/>
                <a:latin typeface="+mn-lt"/>
                <a:ea typeface="+mn-ea"/>
                <a:cs typeface="+mn-cs"/>
              </a:rPr>
              <a:t>. Within top frontier labs, the median internal estimate ranges between 30% and 50%. Recently, an engineer at a leading frontier lab placed their P(doom) at 75%. </a:t>
            </a:r>
          </a:p>
          <a:p>
            <a:r>
              <a:rPr lang="en-US" sz="1200" kern="1200" dirty="0">
                <a:solidFill>
                  <a:schemeClr val="tx1"/>
                </a:solidFill>
                <a:effectLst/>
                <a:latin typeface="+mn-lt"/>
                <a:ea typeface="+mn-ea"/>
                <a:cs typeface="+mn-cs"/>
              </a:rPr>
              <a:t>Consider the sheer cognitive dissonance of this. If an airline told you a commercial plane had a 10% chance of crashing mid-flight, absolutely no one would board that aircraft. Yet, the brightest minds on earth are working 80-hour weeks, canceling vacations, and burning billions of dollars to build this exact engine. </a:t>
            </a:r>
          </a:p>
          <a:p>
            <a:endParaRPr lang="en-US" dirty="0"/>
          </a:p>
        </p:txBody>
      </p:sp>
      <p:sp>
        <p:nvSpPr>
          <p:cNvPr id="4" name="Slide Number Placeholder 3"/>
          <p:cNvSpPr>
            <a:spLocks noGrp="1"/>
          </p:cNvSpPr>
          <p:nvPr>
            <p:ph type="sldNum" sz="quarter" idx="5"/>
          </p:nvPr>
        </p:nvSpPr>
        <p:spPr/>
        <p:txBody>
          <a:bodyPr/>
          <a:lstStyle/>
          <a:p>
            <a:fld id="{D0CEACC2-A85F-4DB2-B0EF-1527ABA65B8C}" type="slidenum">
              <a:rPr lang="en-US" smtClean="0"/>
              <a:t>2</a:t>
            </a:fld>
            <a:endParaRPr lang="en-US"/>
          </a:p>
        </p:txBody>
      </p:sp>
    </p:spTree>
    <p:extLst>
      <p:ext uri="{BB962C8B-B14F-4D97-AF65-F5344CB8AC3E}">
        <p14:creationId xmlns:p14="http://schemas.microsoft.com/office/powerpoint/2010/main" val="978045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build a technology you genuinely believe could end the world? The public narrative suggests a noble, scientific quest to cure disease and eliminate human suffering. The private reality is a collision of human psychology, ego, and severe mistrust. </a:t>
            </a:r>
          </a:p>
          <a:p>
            <a:r>
              <a:rPr lang="en-US" sz="1200" kern="1200" dirty="0">
                <a:solidFill>
                  <a:schemeClr val="tx1"/>
                </a:solidFill>
                <a:effectLst/>
                <a:latin typeface="+mn-lt"/>
                <a:ea typeface="+mn-ea"/>
                <a:cs typeface="+mn-cs"/>
              </a:rPr>
              <a:t>OpenAI was started by Sam Altman and Elon Musk in part because they feared Demis Hassabis at DeepMind would build 'godlike superintelligence' first. Anthropic was formed when Dario Amodei and his co-founders left OpenAI because they no longer trusted OpenAI's leadership with AGI. </a:t>
            </a:r>
          </a:p>
          <a:p>
            <a:r>
              <a:rPr lang="en-US" sz="1200" kern="1200" dirty="0">
                <a:solidFill>
                  <a:schemeClr val="tx1"/>
                </a:solidFill>
                <a:effectLst/>
                <a:latin typeface="+mn-lt"/>
                <a:ea typeface="+mn-ea"/>
                <a:cs typeface="+mn-cs"/>
              </a:rPr>
              <a:t>Look at the week following ChatGPT’s launch in late 2022. While the public celebrated the most successful consumer launch in history, Chief Scientist Ilya </a:t>
            </a:r>
            <a:r>
              <a:rPr lang="en-US" sz="1200" kern="1200" dirty="0" err="1">
                <a:solidFill>
                  <a:schemeClr val="tx1"/>
                </a:solidFill>
                <a:effectLst/>
                <a:latin typeface="+mn-lt"/>
                <a:ea typeface="+mn-ea"/>
                <a:cs typeface="+mn-cs"/>
              </a:rPr>
              <a:t>Sutskever</a:t>
            </a:r>
            <a:r>
              <a:rPr lang="en-US" sz="1200" kern="1200" dirty="0">
                <a:solidFill>
                  <a:schemeClr val="tx1"/>
                </a:solidFill>
                <a:effectLst/>
                <a:latin typeface="+mn-lt"/>
                <a:ea typeface="+mn-ea"/>
                <a:cs typeface="+mn-cs"/>
              </a:rPr>
              <a:t> gathered employees internally and warned them: </a:t>
            </a:r>
            <a:r>
              <a:rPr lang="en-US" sz="1200" i="1" kern="1200" dirty="0">
                <a:solidFill>
                  <a:schemeClr val="tx1"/>
                </a:solidFill>
                <a:effectLst/>
                <a:latin typeface="+mn-lt"/>
                <a:ea typeface="+mn-ea"/>
                <a:cs typeface="+mn-cs"/>
              </a:rPr>
              <a:t>'You must all be very happy... but this is not a good thing... People are going to have strong feelings because this is going to be very disruptive.'</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D0CEACC2-A85F-4DB2-B0EF-1527ABA65B8C}" type="slidenum">
              <a:rPr lang="en-US" smtClean="0"/>
              <a:t>3</a:t>
            </a:fld>
            <a:endParaRPr lang="en-US"/>
          </a:p>
        </p:txBody>
      </p:sp>
    </p:spTree>
    <p:extLst>
      <p:ext uri="{BB962C8B-B14F-4D97-AF65-F5344CB8AC3E}">
        <p14:creationId xmlns:p14="http://schemas.microsoft.com/office/powerpoint/2010/main" val="4139871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founders race forward despite existential fears, look at the Manhattan Project dilemma. Anthropic CEO Dario Amodei models his career after Leo Szilard, the physicist who conceived the nuclear chain reaction. Szilard initially tried to keep the nuclear reaction secret to prevent Nazi Germany from acquiring it. When secrecy failed, he reluctantly joined the Manhattan Project under one core logic: </a:t>
            </a:r>
            <a:r>
              <a:rPr lang="en-US" sz="1200" i="1" kern="1200" dirty="0">
                <a:solidFill>
                  <a:schemeClr val="tx1"/>
                </a:solidFill>
                <a:effectLst/>
                <a:latin typeface="+mn-lt"/>
                <a:ea typeface="+mn-ea"/>
                <a:cs typeface="+mn-cs"/>
              </a:rPr>
              <a:t>We must build the weapon before the untrustworthy actors do, or the world ends.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is the exact operating system of today’s AI founders. They are racing toward the precipice not out of recklessness, but out of paranoia. They believe AGI is inevitable, and if they stop, an unsafe competitor or foreign adversary will build it first. </a:t>
            </a:r>
          </a:p>
          <a:p>
            <a:endParaRPr lang="en-US" dirty="0"/>
          </a:p>
        </p:txBody>
      </p:sp>
      <p:sp>
        <p:nvSpPr>
          <p:cNvPr id="4" name="Slide Number Placeholder 3"/>
          <p:cNvSpPr>
            <a:spLocks noGrp="1"/>
          </p:cNvSpPr>
          <p:nvPr>
            <p:ph type="sldNum" sz="quarter" idx="5"/>
          </p:nvPr>
        </p:nvSpPr>
        <p:spPr/>
        <p:txBody>
          <a:bodyPr/>
          <a:lstStyle/>
          <a:p>
            <a:fld id="{D0CEACC2-A85F-4DB2-B0EF-1527ABA65B8C}" type="slidenum">
              <a:rPr lang="en-US" smtClean="0"/>
              <a:t>4</a:t>
            </a:fld>
            <a:endParaRPr lang="en-US"/>
          </a:p>
        </p:txBody>
      </p:sp>
    </p:spTree>
    <p:extLst>
      <p:ext uri="{BB962C8B-B14F-4D97-AF65-F5344CB8AC3E}">
        <p14:creationId xmlns:p14="http://schemas.microsoft.com/office/powerpoint/2010/main" val="1267908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AI is fundamentally a dual-use technology, exactly like nuclear energy. Splitting the atom can yield stable nuclear energy or an atomic bomb. Similarly, frontier neural networks can cure cancer, automate scientific research, and act as personalized tutors—or they can autonomously execute cyberattacks, generate novel malware, and power strategic military weaponry. </a:t>
            </a:r>
          </a:p>
          <a:p>
            <a:r>
              <a:rPr lang="en-US" sz="1200" kern="1200" dirty="0">
                <a:solidFill>
                  <a:schemeClr val="tx1"/>
                </a:solidFill>
                <a:effectLst/>
                <a:latin typeface="+mn-lt"/>
                <a:ea typeface="+mn-ea"/>
                <a:cs typeface="+mn-cs"/>
              </a:rPr>
              <a:t>The critical difference lies in our policy response. We contained nuclear destruction through global nonproliferation treaties, enriched uranium tracking, and strict international oversight. Today, federal governments still largely treat frontier AI as a standard consumer software product rather than a dual-use strategic asset. </a:t>
            </a:r>
          </a:p>
          <a:p>
            <a:endParaRPr lang="en-US" dirty="0"/>
          </a:p>
        </p:txBody>
      </p:sp>
      <p:sp>
        <p:nvSpPr>
          <p:cNvPr id="4" name="Slide Number Placeholder 3"/>
          <p:cNvSpPr>
            <a:spLocks noGrp="1"/>
          </p:cNvSpPr>
          <p:nvPr>
            <p:ph type="sldNum" sz="quarter" idx="5"/>
          </p:nvPr>
        </p:nvSpPr>
        <p:spPr/>
        <p:txBody>
          <a:bodyPr/>
          <a:lstStyle/>
          <a:p>
            <a:fld id="{D0CEACC2-A85F-4DB2-B0EF-1527ABA65B8C}" type="slidenum">
              <a:rPr lang="en-US" smtClean="0"/>
              <a:t>5</a:t>
            </a:fld>
            <a:endParaRPr lang="en-US"/>
          </a:p>
        </p:txBody>
      </p:sp>
    </p:spTree>
    <p:extLst>
      <p:ext uri="{BB962C8B-B14F-4D97-AF65-F5344CB8AC3E}">
        <p14:creationId xmlns:p14="http://schemas.microsoft.com/office/powerpoint/2010/main" val="4182408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a dangerous myth that AGI requires a secret conceptual breakthrough that may never arrive. The reality inside frontier labs is that the formula for synthetic intelligence is public and proven: </a:t>
                </a:r>
              </a:p>
              <a:p>
                <a:pPr/>
                <a14:m>
                  <m:oMathPara xmlns:m="http://schemas.openxmlformats.org/officeDocument/2006/math">
                    <m:oMathParaPr>
                      <m:jc m:val="centerGroup"/>
                    </m:oMathParaPr>
                    <m:oMath xmlns:m="http://schemas.openxmlformats.org/officeDocument/2006/math">
                      <m:r>
                        <m:rPr>
                          <m:nor/>
                        </m:rPr>
                        <a:rPr lang="en-US" sz="1200" i="0" kern="1200" smtClean="0">
                          <a:solidFill>
                            <a:schemeClr val="tx1"/>
                          </a:solidFill>
                          <a:latin typeface="+mn-lt"/>
                          <a:ea typeface="+mn-ea"/>
                          <a:cs typeface="+mn-cs"/>
                        </a:rPr>
                        <m:t>Massive</m:t>
                      </m:r>
                      <m:r>
                        <m:rPr>
                          <m:nor/>
                        </m:rPr>
                        <a:rPr lang="en-US" sz="1200" i="0" kern="1200" smtClean="0">
                          <a:solidFill>
                            <a:schemeClr val="tx1"/>
                          </a:solidFill>
                          <a:latin typeface="+mn-lt"/>
                          <a:ea typeface="+mn-ea"/>
                          <a:cs typeface="+mn-cs"/>
                        </a:rPr>
                        <m:t> </m:t>
                      </m:r>
                      <m:r>
                        <m:rPr>
                          <m:nor/>
                        </m:rPr>
                        <a:rPr lang="en-US" sz="1200" i="0" kern="1200" smtClean="0">
                          <a:solidFill>
                            <a:schemeClr val="tx1"/>
                          </a:solidFill>
                          <a:latin typeface="+mn-lt"/>
                          <a:ea typeface="+mn-ea"/>
                          <a:cs typeface="+mn-cs"/>
                        </a:rPr>
                        <m:t>Datasets</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Compute</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GPUs</m:t>
                      </m:r>
                      <m:r>
                        <m:rPr>
                          <m:nor/>
                        </m:rPr>
                        <a:rPr lang="en-US" sz="1200" i="0" kern="1200">
                          <a:solidFill>
                            <a:schemeClr val="tx1"/>
                          </a:solidFill>
                          <a:latin typeface="+mn-lt"/>
                          <a:ea typeface="+mn-ea"/>
                          <a:cs typeface="+mn-cs"/>
                        </a:rPr>
                        <m:t>)</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Algorithms</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Training</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Time</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Intelligence</m:t>
                      </m:r>
                    </m:oMath>
                  </m:oMathPara>
                </a14:m>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scaling laws have held true across multiple orders of magnitude. If you add more compute, more data, and more training time, the model predictably becomes smarter. Because the formula is known, the arrival of AGI is functionally inevitable. The technology is a certainty; our societal response is the only open question.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a dangerous myth that AGI requires a secret conceptual breakthrough that may never arrive. The reality inside frontier labs is that the formula for synthetic intelligence is public and proven: </a:t>
                </a:r>
              </a:p>
              <a:p>
                <a:r>
                  <a:rPr lang="en-US" sz="1200" i="0" kern="1200">
                    <a:solidFill>
                      <a:schemeClr val="tx1"/>
                    </a:solidFill>
                    <a:latin typeface="Cambria Math" panose="02040503050406030204" pitchFamily="18" charset="0"/>
                    <a:ea typeface="+mn-ea"/>
                    <a:cs typeface="+mn-cs"/>
                  </a:rPr>
                  <a:t>"Massive Datasets</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"Compute (GPUs)</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"Algorithms</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"Training Time</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"Intelligence</a:t>
                </a:r>
                <a:r>
                  <a:rPr lang="en-US" sz="1200" i="0" kern="1200">
                    <a:solidFill>
                      <a:schemeClr val="tx1"/>
                    </a:solidFill>
                    <a:latin typeface="+mn-lt"/>
                    <a:ea typeface="+mn-ea"/>
                    <a:cs typeface="+mn-cs"/>
                  </a:rPr>
                  <a: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scaling laws have held true across multiple orders of magnitude. If you add more compute, more data, and more training time, the model predictably becomes smarter. Because the formula is known, the arrival of AGI is functionally inevitable. The technology is a certainty; our societal response is the only open question. </a:t>
                </a:r>
              </a:p>
              <a:p>
                <a:endParaRPr lang="en-US" dirty="0"/>
              </a:p>
            </p:txBody>
          </p:sp>
        </mc:Fallback>
      </mc:AlternateContent>
      <p:sp>
        <p:nvSpPr>
          <p:cNvPr id="4" name="Slide Number Placeholder 3"/>
          <p:cNvSpPr>
            <a:spLocks noGrp="1"/>
          </p:cNvSpPr>
          <p:nvPr>
            <p:ph type="sldNum" sz="quarter" idx="5"/>
          </p:nvPr>
        </p:nvSpPr>
        <p:spPr/>
        <p:txBody>
          <a:bodyPr/>
          <a:lstStyle/>
          <a:p>
            <a:fld id="{D0CEACC2-A85F-4DB2-B0EF-1527ABA65B8C}" type="slidenum">
              <a:rPr lang="en-US" smtClean="0"/>
              <a:t>6</a:t>
            </a:fld>
            <a:endParaRPr lang="en-US"/>
          </a:p>
        </p:txBody>
      </p:sp>
    </p:spTree>
    <p:extLst>
      <p:ext uri="{BB962C8B-B14F-4D97-AF65-F5344CB8AC3E}">
        <p14:creationId xmlns:p14="http://schemas.microsoft.com/office/powerpoint/2010/main" val="2988549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a dangerous myth that AGI requires a secret conceptual breakthrough that may never arrive. The reality inside frontier labs is that the formula for synthetic intelligence is public and proven: </a:t>
                </a:r>
              </a:p>
              <a:p>
                <a:pPr/>
                <a14:m>
                  <m:oMathPara xmlns:m="http://schemas.openxmlformats.org/officeDocument/2006/math">
                    <m:oMathParaPr>
                      <m:jc m:val="centerGroup"/>
                    </m:oMathParaPr>
                    <m:oMath xmlns:m="http://schemas.openxmlformats.org/officeDocument/2006/math">
                      <m:r>
                        <m:rPr>
                          <m:nor/>
                        </m:rPr>
                        <a:rPr lang="en-US" sz="1200" i="0" kern="1200" smtClean="0">
                          <a:solidFill>
                            <a:schemeClr val="tx1"/>
                          </a:solidFill>
                          <a:latin typeface="+mn-lt"/>
                          <a:ea typeface="+mn-ea"/>
                          <a:cs typeface="+mn-cs"/>
                        </a:rPr>
                        <m:t>Massive</m:t>
                      </m:r>
                      <m:r>
                        <m:rPr>
                          <m:nor/>
                        </m:rPr>
                        <a:rPr lang="en-US" sz="1200" i="0" kern="1200" smtClean="0">
                          <a:solidFill>
                            <a:schemeClr val="tx1"/>
                          </a:solidFill>
                          <a:latin typeface="+mn-lt"/>
                          <a:ea typeface="+mn-ea"/>
                          <a:cs typeface="+mn-cs"/>
                        </a:rPr>
                        <m:t> </m:t>
                      </m:r>
                      <m:r>
                        <m:rPr>
                          <m:nor/>
                        </m:rPr>
                        <a:rPr lang="en-US" sz="1200" i="0" kern="1200" smtClean="0">
                          <a:solidFill>
                            <a:schemeClr val="tx1"/>
                          </a:solidFill>
                          <a:latin typeface="+mn-lt"/>
                          <a:ea typeface="+mn-ea"/>
                          <a:cs typeface="+mn-cs"/>
                        </a:rPr>
                        <m:t>Datasets</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Compute</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GPUs</m:t>
                      </m:r>
                      <m:r>
                        <m:rPr>
                          <m:nor/>
                        </m:rPr>
                        <a:rPr lang="en-US" sz="1200" i="0" kern="1200">
                          <a:solidFill>
                            <a:schemeClr val="tx1"/>
                          </a:solidFill>
                          <a:latin typeface="+mn-lt"/>
                          <a:ea typeface="+mn-ea"/>
                          <a:cs typeface="+mn-cs"/>
                        </a:rPr>
                        <m:t>)</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Algorithms</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Training</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Time</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Intelligence</m:t>
                      </m:r>
                    </m:oMath>
                  </m:oMathPara>
                </a14:m>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scaling laws have held true across multiple orders of magnitude. If you add more compute, more data, and more training time, the model predictably becomes smarter. Because the formula is known, the arrival of AGI is functionally inevitable. The technology is a certainty; our societal response is the only open question.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a dangerous myth that AGI requires a secret conceptual breakthrough that may never arrive. The reality inside frontier labs is that the formula for synthetic intelligence is public and proven: </a:t>
                </a:r>
              </a:p>
              <a:p>
                <a:r>
                  <a:rPr lang="en-US" sz="1200" i="0" kern="1200">
                    <a:solidFill>
                      <a:schemeClr val="tx1"/>
                    </a:solidFill>
                    <a:latin typeface="Cambria Math" panose="02040503050406030204" pitchFamily="18" charset="0"/>
                    <a:ea typeface="+mn-ea"/>
                    <a:cs typeface="+mn-cs"/>
                  </a:rPr>
                  <a:t>"Massive Datasets</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"Compute (GPUs)</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"Algorithms</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"Training Time</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"Intelligence</a:t>
                </a:r>
                <a:r>
                  <a:rPr lang="en-US" sz="1200" i="0" kern="1200">
                    <a:solidFill>
                      <a:schemeClr val="tx1"/>
                    </a:solidFill>
                    <a:latin typeface="+mn-lt"/>
                    <a:ea typeface="+mn-ea"/>
                    <a:cs typeface="+mn-cs"/>
                  </a:rPr>
                  <a: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scaling laws have held true across multiple orders of magnitude. If you add more compute, more data, and more training time, the model predictably becomes smarter. Because the formula is known, the arrival of AGI is functionally inevitable. The technology is a certainty; our societal response is the only open question. </a:t>
                </a:r>
              </a:p>
              <a:p>
                <a:endParaRPr lang="en-US" dirty="0"/>
              </a:p>
            </p:txBody>
          </p:sp>
        </mc:Fallback>
      </mc:AlternateContent>
      <p:sp>
        <p:nvSpPr>
          <p:cNvPr id="4" name="Slide Number Placeholder 3"/>
          <p:cNvSpPr>
            <a:spLocks noGrp="1"/>
          </p:cNvSpPr>
          <p:nvPr>
            <p:ph type="sldNum" sz="quarter" idx="5"/>
          </p:nvPr>
        </p:nvSpPr>
        <p:spPr/>
        <p:txBody>
          <a:bodyPr/>
          <a:lstStyle/>
          <a:p>
            <a:fld id="{D0CEACC2-A85F-4DB2-B0EF-1527ABA65B8C}" type="slidenum">
              <a:rPr lang="en-US" smtClean="0"/>
              <a:t>7</a:t>
            </a:fld>
            <a:endParaRPr lang="en-US"/>
          </a:p>
        </p:txBody>
      </p:sp>
    </p:spTree>
    <p:extLst>
      <p:ext uri="{BB962C8B-B14F-4D97-AF65-F5344CB8AC3E}">
        <p14:creationId xmlns:p14="http://schemas.microsoft.com/office/powerpoint/2010/main" val="3513145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diagram synthesizes the escalation architecture driving Silicon Valley. At the base, we have paranoia and mutual mistrust—the imperative to build superintelligence before an opponent does. In the middle layer, we have public formulas and self-accelerating AI research. </a:t>
            </a:r>
          </a:p>
          <a:p>
            <a:r>
              <a:rPr lang="en-US" sz="1200" kern="1200" dirty="0">
                <a:solidFill>
                  <a:schemeClr val="tx1"/>
                </a:solidFill>
                <a:effectLst/>
                <a:latin typeface="+mn-lt"/>
                <a:ea typeface="+mn-ea"/>
                <a:cs typeface="+mn-cs"/>
              </a:rPr>
              <a:t>At the apex sits the 'Eye of Sauron' effect. When a frontier lab focuses its hyper-accelerated intelligence on a specific industry—whether coding, enterprise software, finance, or law—that industry experiences sudden, severe disruption. The threat is not merely an accidental apocalypse, but a hyper-accelerated machine systematically eating traditional human economic sectors. </a:t>
            </a:r>
          </a:p>
          <a:p>
            <a:endParaRPr lang="en-US" dirty="0"/>
          </a:p>
        </p:txBody>
      </p:sp>
      <p:sp>
        <p:nvSpPr>
          <p:cNvPr id="4" name="Slide Number Placeholder 3"/>
          <p:cNvSpPr>
            <a:spLocks noGrp="1"/>
          </p:cNvSpPr>
          <p:nvPr>
            <p:ph type="sldNum" sz="quarter" idx="5"/>
          </p:nvPr>
        </p:nvSpPr>
        <p:spPr/>
        <p:txBody>
          <a:bodyPr/>
          <a:lstStyle/>
          <a:p>
            <a:fld id="{D0CEACC2-A85F-4DB2-B0EF-1527ABA65B8C}" type="slidenum">
              <a:rPr lang="en-US" smtClean="0"/>
              <a:t>8</a:t>
            </a:fld>
            <a:endParaRPr lang="en-US"/>
          </a:p>
        </p:txBody>
      </p:sp>
    </p:spTree>
    <p:extLst>
      <p:ext uri="{BB962C8B-B14F-4D97-AF65-F5344CB8AC3E}">
        <p14:creationId xmlns:p14="http://schemas.microsoft.com/office/powerpoint/2010/main" val="4053418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 often focus on extinction, but extinction is a sudden event. A more immediate psychological reality is </a:t>
            </a:r>
            <a:r>
              <a:rPr lang="en-US" sz="1200" i="1" kern="1200" dirty="0">
                <a:solidFill>
                  <a:schemeClr val="tx1"/>
                </a:solidFill>
                <a:effectLst/>
                <a:latin typeface="+mn-lt"/>
                <a:ea typeface="+mn-ea"/>
                <a:cs typeface="+mn-cs"/>
              </a:rPr>
              <a:t>gradual disempowerment</a:t>
            </a:r>
            <a:r>
              <a:rPr lang="en-US" sz="1200" kern="1200" dirty="0">
                <a:solidFill>
                  <a:schemeClr val="tx1"/>
                </a:solidFill>
                <a:effectLst/>
                <a:latin typeface="+mn-lt"/>
                <a:ea typeface="+mn-ea"/>
                <a:cs typeface="+mn-cs"/>
              </a:rPr>
              <a:t>—a slow bleed of human agency. </a:t>
            </a:r>
          </a:p>
          <a:p>
            <a:pPr lvl="0"/>
            <a:r>
              <a:rPr lang="en-US" sz="1200" kern="1200" dirty="0">
                <a:solidFill>
                  <a:schemeClr val="tx1"/>
                </a:solidFill>
                <a:effectLst/>
                <a:latin typeface="+mn-lt"/>
                <a:ea typeface="+mn-ea"/>
                <a:cs typeface="+mn-cs"/>
              </a:rPr>
              <a:t>In closed-door interviews with elite competitive programmers inside frontier labs, researchers describe experiencing 'existential melancholy'. These individuals spent their entire lives mastering software engineering, only to build systems that write better code than they can. While some find it thrilling, many experience a deep loss of meaning. As scaling continues, this exact psychological displacement will systematically arrive for lawyers, analysts, writers, and strategists. </a:t>
            </a:r>
          </a:p>
          <a:p>
            <a:endParaRPr lang="en-US" dirty="0"/>
          </a:p>
        </p:txBody>
      </p:sp>
      <p:sp>
        <p:nvSpPr>
          <p:cNvPr id="4" name="Slide Number Placeholder 3"/>
          <p:cNvSpPr>
            <a:spLocks noGrp="1"/>
          </p:cNvSpPr>
          <p:nvPr>
            <p:ph type="sldNum" sz="quarter" idx="5"/>
          </p:nvPr>
        </p:nvSpPr>
        <p:spPr/>
        <p:txBody>
          <a:bodyPr/>
          <a:lstStyle/>
          <a:p>
            <a:fld id="{D0CEACC2-A85F-4DB2-B0EF-1527ABA65B8C}" type="slidenum">
              <a:rPr lang="en-US" smtClean="0"/>
              <a:t>9</a:t>
            </a:fld>
            <a:endParaRPr lang="en-US"/>
          </a:p>
        </p:txBody>
      </p:sp>
    </p:spTree>
    <p:extLst>
      <p:ext uri="{BB962C8B-B14F-4D97-AF65-F5344CB8AC3E}">
        <p14:creationId xmlns:p14="http://schemas.microsoft.com/office/powerpoint/2010/main" val="4213477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AI capabilities expand, we are heading toward a bifurcated, two-tier global economy: </a:t>
            </a:r>
          </a:p>
          <a:p>
            <a:pPr marL="228600" lvl="0" indent="-228600">
              <a:buFont typeface="+mj-lt"/>
              <a:buAutoNum type="arabicPeriod"/>
            </a:pPr>
            <a:r>
              <a:rPr lang="en-US" sz="1200" b="1" kern="1200" dirty="0">
                <a:solidFill>
                  <a:schemeClr val="tx1"/>
                </a:solidFill>
                <a:effectLst/>
                <a:latin typeface="+mn-lt"/>
                <a:ea typeface="+mn-ea"/>
                <a:cs typeface="+mn-cs"/>
              </a:rPr>
              <a:t>The AI Economy:</a:t>
            </a:r>
            <a:r>
              <a:rPr lang="en-US" sz="1200" kern="1200" dirty="0">
                <a:solidFill>
                  <a:schemeClr val="tx1"/>
                </a:solidFill>
                <a:effectLst/>
                <a:latin typeface="+mn-lt"/>
                <a:ea typeface="+mn-ea"/>
                <a:cs typeface="+mn-cs"/>
              </a:rPr>
              <a:t> Encompasses high-value, digital, and cognitive work—pharma, enterprise software, financial modeling, legal research, and automated coding. Growth here will compound exponentially. </a:t>
            </a:r>
          </a:p>
          <a:p>
            <a:pPr marL="228600" lvl="0" indent="-228600">
              <a:buFont typeface="+mj-lt"/>
              <a:buAutoNum type="arabicPeriod"/>
            </a:pPr>
            <a:r>
              <a:rPr lang="en-US" sz="1200" b="1" kern="1200" dirty="0">
                <a:solidFill>
                  <a:schemeClr val="tx1"/>
                </a:solidFill>
                <a:effectLst/>
                <a:latin typeface="+mn-lt"/>
                <a:ea typeface="+mn-ea"/>
                <a:cs typeface="+mn-cs"/>
              </a:rPr>
              <a:t>The 'Cute' or 'Pretend' Human Economy:</a:t>
            </a:r>
            <a:r>
              <a:rPr lang="en-US" sz="1200" kern="1200" dirty="0">
                <a:solidFill>
                  <a:schemeClr val="tx1"/>
                </a:solidFill>
                <a:effectLst/>
                <a:latin typeface="+mn-lt"/>
                <a:ea typeface="+mn-ea"/>
                <a:cs typeface="+mn-cs"/>
              </a:rPr>
              <a:t> Comprises roles bottlenecked by human biology or our preference for human presence—such as elementary teaching, artisanal baking, plumbing, and therapy. </a:t>
            </a:r>
          </a:p>
          <a:p>
            <a:r>
              <a:rPr lang="en-US" sz="1200" kern="1200" dirty="0">
                <a:solidFill>
                  <a:schemeClr val="tx1"/>
                </a:solidFill>
                <a:effectLst/>
                <a:latin typeface="+mn-lt"/>
                <a:ea typeface="+mn-ea"/>
                <a:cs typeface="+mn-cs"/>
              </a:rPr>
              <a:t>While the human economy remains necessary, its relative share of global GDP will shrink over time, leaving human-only labor as a diminishing slice of global economic relevance.</a:t>
            </a:r>
          </a:p>
          <a:p>
            <a:endParaRPr lang="en-US" dirty="0"/>
          </a:p>
        </p:txBody>
      </p:sp>
      <p:sp>
        <p:nvSpPr>
          <p:cNvPr id="4" name="Slide Number Placeholder 3"/>
          <p:cNvSpPr>
            <a:spLocks noGrp="1"/>
          </p:cNvSpPr>
          <p:nvPr>
            <p:ph type="sldNum" sz="quarter" idx="5"/>
          </p:nvPr>
        </p:nvSpPr>
        <p:spPr/>
        <p:txBody>
          <a:bodyPr/>
          <a:lstStyle/>
          <a:p>
            <a:fld id="{D0CEACC2-A85F-4DB2-B0EF-1527ABA65B8C}" type="slidenum">
              <a:rPr lang="en-US" smtClean="0"/>
              <a:t>10</a:t>
            </a:fld>
            <a:endParaRPr lang="en-US"/>
          </a:p>
        </p:txBody>
      </p:sp>
    </p:spTree>
    <p:extLst>
      <p:ext uri="{BB962C8B-B14F-4D97-AF65-F5344CB8AC3E}">
        <p14:creationId xmlns:p14="http://schemas.microsoft.com/office/powerpoint/2010/main" val="3901069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immense psychological comfort in assuming AI is just an overhyped tech bubble like the dot-com era. It allows us to believe that when the market cools down, everything will return to normal. </a:t>
            </a:r>
          </a:p>
          <a:p>
            <a:r>
              <a:rPr lang="en-US" sz="1200" kern="1200" dirty="0">
                <a:solidFill>
                  <a:schemeClr val="tx1"/>
                </a:solidFill>
                <a:effectLst/>
                <a:latin typeface="+mn-lt"/>
                <a:ea typeface="+mn-ea"/>
                <a:cs typeface="+mn-cs"/>
              </a:rPr>
              <a:t>This is dangerous, wishful thinking. While individual startups may go bankrupt, the underlying technical capabilities are advancing predictably across orders of magnitude. Dismissing this progression as financial hype creates complacency, distracting us from putting in place critical safeguards against cyber attacks, biological risks, and systemic economic displacement. </a:t>
            </a:r>
          </a:p>
          <a:p>
            <a:endParaRPr lang="en-US" dirty="0"/>
          </a:p>
        </p:txBody>
      </p:sp>
      <p:sp>
        <p:nvSpPr>
          <p:cNvPr id="4" name="Slide Number Placeholder 3"/>
          <p:cNvSpPr>
            <a:spLocks noGrp="1"/>
          </p:cNvSpPr>
          <p:nvPr>
            <p:ph type="sldNum" sz="quarter" idx="5"/>
          </p:nvPr>
        </p:nvSpPr>
        <p:spPr/>
        <p:txBody>
          <a:bodyPr/>
          <a:lstStyle/>
          <a:p>
            <a:fld id="{D0CEACC2-A85F-4DB2-B0EF-1527ABA65B8C}" type="slidenum">
              <a:rPr lang="en-US" smtClean="0"/>
              <a:t>11</a:t>
            </a:fld>
            <a:endParaRPr lang="en-US"/>
          </a:p>
        </p:txBody>
      </p:sp>
    </p:spTree>
    <p:extLst>
      <p:ext uri="{BB962C8B-B14F-4D97-AF65-F5344CB8AC3E}">
        <p14:creationId xmlns:p14="http://schemas.microsoft.com/office/powerpoint/2010/main" val="2514790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strategic imperative is simple: </a:t>
            </a:r>
            <a:r>
              <a:rPr lang="en-US" i="1" dirty="0"/>
              <a:t>Do not be the horse and buggy driver trying to race an automobile.</a:t>
            </a:r>
            <a:r>
              <a:rPr lang="en-US" dirty="0"/>
              <a:t> You cannot comprehend the speed of this transition—or identify its risks and opportunities—if you are not actively using frontier tools daily.</a:t>
            </a:r>
          </a:p>
          <a:p>
            <a:r>
              <a:rPr lang="en-US" dirty="0"/>
              <a:t>The divide between early adopters and late adopters is widening every day. Whether you plan to leverage AI or implement safeguards against it, the most effective strategists and critics are those who thoroughly understand how these models operate in practice. </a:t>
            </a:r>
          </a:p>
          <a:p>
            <a:endParaRPr lang="en-US" dirty="0"/>
          </a:p>
        </p:txBody>
      </p:sp>
      <p:sp>
        <p:nvSpPr>
          <p:cNvPr id="4" name="Slide Number Placeholder 3"/>
          <p:cNvSpPr>
            <a:spLocks noGrp="1"/>
          </p:cNvSpPr>
          <p:nvPr>
            <p:ph type="sldNum" sz="quarter" idx="5"/>
          </p:nvPr>
        </p:nvSpPr>
        <p:spPr/>
        <p:txBody>
          <a:bodyPr/>
          <a:lstStyle/>
          <a:p>
            <a:fld id="{D0CEACC2-A85F-4DB2-B0EF-1527ABA65B8C}" type="slidenum">
              <a:rPr lang="en-US" smtClean="0"/>
              <a:t>12</a:t>
            </a:fld>
            <a:endParaRPr lang="en-US"/>
          </a:p>
        </p:txBody>
      </p:sp>
    </p:spTree>
    <p:extLst>
      <p:ext uri="{BB962C8B-B14F-4D97-AF65-F5344CB8AC3E}">
        <p14:creationId xmlns:p14="http://schemas.microsoft.com/office/powerpoint/2010/main" val="1057898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Our second strategic imperative is driving a regulatory awakening. While national security agencies have begun pre-release capability evaluations, large parts of federal governance remain unequipped for AGI. </a:t>
            </a:r>
          </a:p>
          <a:p>
            <a:r>
              <a:rPr lang="en-US" sz="1200" kern="1200" dirty="0">
                <a:solidFill>
                  <a:schemeClr val="tx1"/>
                </a:solidFill>
                <a:effectLst/>
                <a:latin typeface="+mn-lt"/>
                <a:ea typeface="+mn-ea"/>
                <a:cs typeface="+mn-cs"/>
              </a:rPr>
              <a:t>We must demand that lawmakers treat frontier AI not as standard software, but as a dual-use technology requiring international oversight, compute tracking, and nonproliferation frameworks. The underlying physics and algorithms are already public. The chain reaction has started, but how we govern it remains entirely up to us. </a:t>
            </a:r>
          </a:p>
          <a:p>
            <a:endParaRPr lang="en-US" dirty="0"/>
          </a:p>
        </p:txBody>
      </p:sp>
      <p:sp>
        <p:nvSpPr>
          <p:cNvPr id="4" name="Slide Number Placeholder 3"/>
          <p:cNvSpPr>
            <a:spLocks noGrp="1"/>
          </p:cNvSpPr>
          <p:nvPr>
            <p:ph type="sldNum" sz="quarter" idx="5"/>
          </p:nvPr>
        </p:nvSpPr>
        <p:spPr/>
        <p:txBody>
          <a:bodyPr/>
          <a:lstStyle/>
          <a:p>
            <a:fld id="{D0CEACC2-A85F-4DB2-B0EF-1527ABA65B8C}" type="slidenum">
              <a:rPr lang="en-US" smtClean="0"/>
              <a:t>13</a:t>
            </a:fld>
            <a:endParaRPr lang="en-US"/>
          </a:p>
        </p:txBody>
      </p:sp>
    </p:spTree>
    <p:extLst>
      <p:ext uri="{BB962C8B-B14F-4D97-AF65-F5344CB8AC3E}">
        <p14:creationId xmlns:p14="http://schemas.microsoft.com/office/powerpoint/2010/main" val="3271515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examined the psychological drivers, technical scaling laws, and economic impacts of AGI, let us transition to our final executive summary. We will review the key takeaways that every board member, executive, and policymaker must keep top-of-mind as we navigate this landscape. </a:t>
            </a:r>
          </a:p>
        </p:txBody>
      </p:sp>
      <p:sp>
        <p:nvSpPr>
          <p:cNvPr id="4" name="Slide Number Placeholder 3"/>
          <p:cNvSpPr>
            <a:spLocks noGrp="1"/>
          </p:cNvSpPr>
          <p:nvPr>
            <p:ph type="sldNum" sz="quarter" idx="5"/>
          </p:nvPr>
        </p:nvSpPr>
        <p:spPr/>
        <p:txBody>
          <a:bodyPr/>
          <a:lstStyle/>
          <a:p>
            <a:fld id="{D0CEACC2-A85F-4DB2-B0EF-1527ABA65B8C}" type="slidenum">
              <a:rPr lang="en-US" smtClean="0"/>
              <a:t>14</a:t>
            </a:fld>
            <a:endParaRPr lang="en-US"/>
          </a:p>
        </p:txBody>
      </p:sp>
    </p:spTree>
    <p:extLst>
      <p:ext uri="{BB962C8B-B14F-4D97-AF65-F5344CB8AC3E}">
        <p14:creationId xmlns:p14="http://schemas.microsoft.com/office/powerpoint/2010/main" val="3088469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consolidate these insights, notice how the themes interconnect: individual existential estimates drive founder paranoia, which accelerates closed-door development, ultimately manifesting as broader economic splits. Let's examine this complete map on Slide 16.</a:t>
            </a:r>
            <a:r>
              <a:rPr lang="en-US" dirty="0"/>
              <a:t> </a:t>
            </a:r>
          </a:p>
        </p:txBody>
      </p:sp>
      <p:sp>
        <p:nvSpPr>
          <p:cNvPr id="4" name="Slide Number Placeholder 3"/>
          <p:cNvSpPr>
            <a:spLocks noGrp="1"/>
          </p:cNvSpPr>
          <p:nvPr>
            <p:ph type="sldNum" sz="quarter" idx="5"/>
          </p:nvPr>
        </p:nvSpPr>
        <p:spPr/>
        <p:txBody>
          <a:bodyPr/>
          <a:lstStyle/>
          <a:p>
            <a:fld id="{D0CEACC2-A85F-4DB2-B0EF-1527ABA65B8C}" type="slidenum">
              <a:rPr lang="en-US" smtClean="0"/>
              <a:t>15</a:t>
            </a:fld>
            <a:endParaRPr lang="en-US"/>
          </a:p>
        </p:txBody>
      </p:sp>
    </p:spTree>
    <p:extLst>
      <p:ext uri="{BB962C8B-B14F-4D97-AF65-F5344CB8AC3E}">
        <p14:creationId xmlns:p14="http://schemas.microsoft.com/office/powerpoint/2010/main" val="2924950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today’s session, this executive dossier blueprint synthesizes our findings into two core operational pillars: </a:t>
            </a:r>
          </a:p>
          <a:p>
            <a:r>
              <a:rPr lang="en-US" sz="1200" b="1" kern="1200" dirty="0">
                <a:solidFill>
                  <a:schemeClr val="tx1"/>
                </a:solidFill>
                <a:effectLst/>
                <a:latin typeface="+mn-lt"/>
                <a:ea typeface="+mn-ea"/>
                <a:cs typeface="+mn-cs"/>
              </a:rPr>
              <a:t>1. The Pioneer Mindset:</a:t>
            </a:r>
            <a:r>
              <a:rPr lang="en-US" sz="1200" kern="1200" dirty="0">
                <a:solidFill>
                  <a:schemeClr val="tx1"/>
                </a:solidFill>
                <a:effectLst/>
                <a:latin typeface="+mn-lt"/>
                <a:ea typeface="+mn-ea"/>
                <a:cs typeface="+mn-cs"/>
              </a:rPr>
              <a:t>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Insiders assign alarming probabilities to existential risk (P(doom) from 10% to 75%).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Major lab splits and spin-offs are fueled by personal feuds and deep mutual mistrust.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Builders justify extreme risks under the Manhattan Project paradox: </a:t>
            </a:r>
            <a:r>
              <a:rPr lang="en-US" sz="1200" i="1" kern="1200" dirty="0">
                <a:solidFill>
                  <a:schemeClr val="tx1"/>
                </a:solidFill>
                <a:effectLst/>
                <a:latin typeface="+mn-lt"/>
                <a:ea typeface="+mn-ea"/>
                <a:cs typeface="+mn-cs"/>
              </a:rPr>
              <a:t>'If I don't build it first, an unsafe competitor will.'</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2. Downstream Impacts: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Private fear among researchers significantly exceeds public corporate optimism.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Rapid automation creates gradual human disempowerment and skill obsolescence.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economy is splitting into an exponential AI sector and a plateauing human sector. </a:t>
            </a:r>
          </a:p>
          <a:p>
            <a:r>
              <a:rPr lang="en-US" sz="1200" kern="1200" dirty="0">
                <a:solidFill>
                  <a:schemeClr val="tx1"/>
                </a:solidFill>
                <a:effectLst/>
                <a:latin typeface="+mn-lt"/>
                <a:ea typeface="+mn-ea"/>
                <a:cs typeface="+mn-cs"/>
              </a:rPr>
              <a:t>Understanding these dynamics allows us to look beyond hype, anticipate economic shifts, and advocate for responsible governance. Thank you. </a:t>
            </a:r>
          </a:p>
          <a:p>
            <a:endParaRPr lang="en-US" dirty="0"/>
          </a:p>
          <a:p>
            <a:endParaRPr lang="en-US" dirty="0"/>
          </a:p>
          <a:p>
            <a:endParaRPr lang="en-US" dirty="0"/>
          </a:p>
          <a:p>
            <a:endParaRPr lang="en-US" dirty="0"/>
          </a:p>
          <a:p>
            <a:endParaRPr lang="en-US" dirty="0"/>
          </a:p>
          <a:p>
            <a:r>
              <a:rPr lang="en-US" b="1" dirty="0"/>
              <a:t>AI Researchers Are Panicking | What Comes Next is Worse Than Nuclear Bombs</a:t>
            </a:r>
          </a:p>
          <a:p>
            <a:r>
              <a:rPr lang="en-US" dirty="0"/>
              <a:t>https://www.youtube.com/watch?v=-sNxknKqU7E</a:t>
            </a:r>
          </a:p>
        </p:txBody>
      </p:sp>
      <p:sp>
        <p:nvSpPr>
          <p:cNvPr id="4" name="Slide Number Placeholder 3"/>
          <p:cNvSpPr>
            <a:spLocks noGrp="1"/>
          </p:cNvSpPr>
          <p:nvPr>
            <p:ph type="sldNum" sz="quarter" idx="5"/>
          </p:nvPr>
        </p:nvSpPr>
        <p:spPr/>
        <p:txBody>
          <a:bodyPr/>
          <a:lstStyle/>
          <a:p>
            <a:fld id="{D0CEACC2-A85F-4DB2-B0EF-1527ABA65B8C}" type="slidenum">
              <a:rPr lang="en-US" smtClean="0"/>
              <a:t>16</a:t>
            </a:fld>
            <a:endParaRPr lang="en-US"/>
          </a:p>
        </p:txBody>
      </p:sp>
    </p:spTree>
    <p:extLst>
      <p:ext uri="{BB962C8B-B14F-4D97-AF65-F5344CB8AC3E}">
        <p14:creationId xmlns:p14="http://schemas.microsoft.com/office/powerpoint/2010/main" val="3408858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0C5C12-3F9B-F6BE-EBB2-AE842E45FF51}"/>
              </a:ext>
            </a:extLst>
          </p:cNvPr>
          <p:cNvSpPr>
            <a:spLocks noGrp="1"/>
          </p:cNvSpPr>
          <p:nvPr>
            <p:ph type="dt" sz="half" idx="10"/>
          </p:nvPr>
        </p:nvSpPr>
        <p:spPr/>
        <p:txBody>
          <a:bodyPr/>
          <a:lstStyle/>
          <a:p>
            <a:fld id="{655299C3-C23C-454F-A51F-5B05E74E8915}" type="datetimeFigureOut">
              <a:rPr lang="en-US" smtClean="0"/>
              <a:t>10/20/2026</a:t>
            </a:fld>
            <a:endParaRPr lang="en-US"/>
          </a:p>
        </p:txBody>
      </p:sp>
      <p:sp>
        <p:nvSpPr>
          <p:cNvPr id="3" name="Footer Placeholder 2">
            <a:extLst>
              <a:ext uri="{FF2B5EF4-FFF2-40B4-BE49-F238E27FC236}">
                <a16:creationId xmlns:a16="http://schemas.microsoft.com/office/drawing/2014/main" id="{829CF675-506E-A690-E9B0-2BC72396BC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938491-0D24-5361-12F0-645669D2B76D}"/>
              </a:ext>
            </a:extLst>
          </p:cNvPr>
          <p:cNvSpPr>
            <a:spLocks noGrp="1"/>
          </p:cNvSpPr>
          <p:nvPr>
            <p:ph type="sldNum" sz="quarter" idx="12"/>
          </p:nvPr>
        </p:nvSpPr>
        <p:spPr/>
        <p:txBody>
          <a:bodyPr/>
          <a:lstStyle/>
          <a:p>
            <a:fld id="{21C6E634-8CD0-48F2-BCE5-408A83E39ED6}" type="slidenum">
              <a:rPr lang="en-US" smtClean="0"/>
              <a:t>‹#›</a:t>
            </a:fld>
            <a:endParaRPr lang="en-US"/>
          </a:p>
        </p:txBody>
      </p:sp>
    </p:spTree>
    <p:extLst>
      <p:ext uri="{BB962C8B-B14F-4D97-AF65-F5344CB8AC3E}">
        <p14:creationId xmlns:p14="http://schemas.microsoft.com/office/powerpoint/2010/main" val="39393233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41E462-7976-21D1-6F4D-39A1094CA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78ECD2-06E0-65FF-92BD-1AABB3C1EF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D892FA-39A8-A33D-D28A-01D6673DC3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5299C3-C23C-454F-A51F-5B05E74E8915}" type="datetimeFigureOut">
              <a:rPr lang="en-US" smtClean="0"/>
              <a:t>10/20/2026</a:t>
            </a:fld>
            <a:endParaRPr lang="en-US"/>
          </a:p>
        </p:txBody>
      </p:sp>
      <p:sp>
        <p:nvSpPr>
          <p:cNvPr id="5" name="Footer Placeholder 4">
            <a:extLst>
              <a:ext uri="{FF2B5EF4-FFF2-40B4-BE49-F238E27FC236}">
                <a16:creationId xmlns:a16="http://schemas.microsoft.com/office/drawing/2014/main" id="{B3451DBB-15CF-04B8-C77E-4407563976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A66DC91-3D6E-0A74-EEED-A34D33E49E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C6E634-8CD0-48F2-BCE5-408A83E39ED6}" type="slidenum">
              <a:rPr lang="en-US" smtClean="0"/>
              <a:t>‹#›</a:t>
            </a:fld>
            <a:endParaRPr lang="en-US"/>
          </a:p>
        </p:txBody>
      </p:sp>
    </p:spTree>
    <p:extLst>
      <p:ext uri="{BB962C8B-B14F-4D97-AF65-F5344CB8AC3E}">
        <p14:creationId xmlns:p14="http://schemas.microsoft.com/office/powerpoint/2010/main" val="195213762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88D42D-A02B-181C-7B04-0A7437335F6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B0D728-A85D-2C74-9F5F-A68FEC3AE56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F97D4F-C89C-0708-3848-5D0D45FC44B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B158A0-5554-B233-41CF-F1C5E929EF8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9C7826-1EC7-73D7-ABCE-0305BA46D07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01B314-1535-A11D-4295-CE7A984295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FF6AFE-191F-43C5-2B9C-A8DD93D639D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37FA4A-EFC9-8989-7A27-DBAE30DF985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FECBBE-C645-D594-7CD1-B89A65BE55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F73F80-8E6E-EED4-3E20-F8AE7C8DBB8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4434EC-7CF8-4650-5C08-EA93ADA7BF7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ED9E05-07B4-3372-5B5E-AF2267A2B4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B7D4D8-04E6-0690-B653-F203F8D8581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BCC6CC-C06D-6E39-D234-5FD067EE78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ED1212-4F1F-B15D-5E9B-F80DA436D0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F6834E-5D24-B70C-7383-BCC92B55EC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557617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1814</Words>
  <Application>Microsoft Office PowerPoint</Application>
  <PresentationFormat>寬螢幕</PresentationFormat>
  <Paragraphs>74</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2026-09-25T23:57:09Z</dcterms:created>
  <dcterms:modified xsi:type="dcterms:W3CDTF">2026-10-20T13:32:13Z</dcterms:modified>
</cp:coreProperties>
</file>