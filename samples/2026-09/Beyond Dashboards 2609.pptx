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91F10B-FEE3-49F5-B450-98EDDDF212B8}" v="19" dt="2026-09-20T03:57:28.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8133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0T03:58:20.672" v="63" actId="166"/>
      <pc:docMkLst>
        <pc:docMk/>
      </pc:docMkLst>
      <pc:sldChg chg="addSp delSp modSp mod modNotes modNotesTx">
        <pc:chgData name="Lai, Wilson" userId="2840974a-0d84-4886-90a9-9a3ed79f3a48" providerId="ADAL" clId="{9F23B798-9E84-4552-BA63-E776E805C424}" dt="2026-09-20T03:58:20.672" v="63" actId="166"/>
        <pc:sldMkLst>
          <pc:docMk/>
          <pc:sldMk cId="0" sldId="257"/>
        </pc:sldMkLst>
        <pc:picChg chg="del">
          <ac:chgData name="Lai, Wilson" userId="2840974a-0d84-4886-90a9-9a3ed79f3a48" providerId="ADAL" clId="{9F23B798-9E84-4552-BA63-E776E805C424}" dt="2026-09-19T05:49:55.191" v="0" actId="21"/>
          <ac:picMkLst>
            <pc:docMk/>
            <pc:sldMk cId="0" sldId="257"/>
            <ac:picMk id="2" creationId="{00000000-0000-0000-0000-000000000000}"/>
          </ac:picMkLst>
        </pc:picChg>
        <pc:picChg chg="add ord">
          <ac:chgData name="Lai, Wilson" userId="2840974a-0d84-4886-90a9-9a3ed79f3a48" providerId="ADAL" clId="{9F23B798-9E84-4552-BA63-E776E805C424}" dt="2026-09-20T03:58:20.672" v="63" actId="166"/>
          <ac:picMkLst>
            <pc:docMk/>
            <pc:sldMk cId="0" sldId="257"/>
            <ac:picMk id="7" creationId="{60BEAD90-DE06-95B5-91B9-C20EE22A45DD}"/>
          </ac:picMkLst>
        </pc:picChg>
      </pc:sldChg>
      <pc:sldChg chg="addSp delSp mod modNotes">
        <pc:chgData name="Lai, Wilson" userId="2840974a-0d84-4886-90a9-9a3ed79f3a48" providerId="ADAL" clId="{9F23B798-9E84-4552-BA63-E776E805C424}" dt="2026-09-20T03:57:28.806" v="62"/>
        <pc:sldMkLst>
          <pc:docMk/>
          <pc:sldMk cId="0" sldId="258"/>
        </pc:sldMkLst>
        <pc:picChg chg="del">
          <ac:chgData name="Lai, Wilson" userId="2840974a-0d84-4886-90a9-9a3ed79f3a48" providerId="ADAL" clId="{9F23B798-9E84-4552-BA63-E776E805C424}" dt="2026-09-19T05:50:05.405" v="2" actId="21"/>
          <ac:picMkLst>
            <pc:docMk/>
            <pc:sldMk cId="0" sldId="258"/>
            <ac:picMk id="2" creationId="{00000000-0000-0000-0000-000000000000}"/>
          </ac:picMkLst>
        </pc:picChg>
        <pc:picChg chg="add">
          <ac:chgData name="Lai, Wilson" userId="2840974a-0d84-4886-90a9-9a3ed79f3a48" providerId="ADAL" clId="{9F23B798-9E84-4552-BA63-E776E805C424}" dt="2026-09-19T05:50:12.451" v="3" actId="22"/>
          <ac:picMkLst>
            <pc:docMk/>
            <pc:sldMk cId="0" sldId="258"/>
            <ac:picMk id="4" creationId="{10F05DE5-0A7F-A49C-A196-4985ED3F847E}"/>
          </ac:picMkLst>
        </pc:picChg>
      </pc:sldChg>
      <pc:sldChg chg="addSp delSp mod modNotes modNotesTx">
        <pc:chgData name="Lai, Wilson" userId="2840974a-0d84-4886-90a9-9a3ed79f3a48" providerId="ADAL" clId="{9F23B798-9E84-4552-BA63-E776E805C424}" dt="2026-09-20T03:57:28.806" v="62"/>
        <pc:sldMkLst>
          <pc:docMk/>
          <pc:sldMk cId="0" sldId="259"/>
        </pc:sldMkLst>
        <pc:picChg chg="del">
          <ac:chgData name="Lai, Wilson" userId="2840974a-0d84-4886-90a9-9a3ed79f3a48" providerId="ADAL" clId="{9F23B798-9E84-4552-BA63-E776E805C424}" dt="2026-09-19T05:50:13.878" v="4" actId="21"/>
          <ac:picMkLst>
            <pc:docMk/>
            <pc:sldMk cId="0" sldId="259"/>
            <ac:picMk id="2" creationId="{00000000-0000-0000-0000-000000000000}"/>
          </ac:picMkLst>
        </pc:picChg>
        <pc:picChg chg="add">
          <ac:chgData name="Lai, Wilson" userId="2840974a-0d84-4886-90a9-9a3ed79f3a48" providerId="ADAL" clId="{9F23B798-9E84-4552-BA63-E776E805C424}" dt="2026-09-19T05:50:20.615" v="5" actId="22"/>
          <ac:picMkLst>
            <pc:docMk/>
            <pc:sldMk cId="0" sldId="259"/>
            <ac:picMk id="4" creationId="{D845D452-EDF7-DAED-09FC-200D7C071A2C}"/>
          </ac:picMkLst>
        </pc:picChg>
      </pc:sldChg>
      <pc:sldChg chg="addSp delSp mod modNotes">
        <pc:chgData name="Lai, Wilson" userId="2840974a-0d84-4886-90a9-9a3ed79f3a48" providerId="ADAL" clId="{9F23B798-9E84-4552-BA63-E776E805C424}" dt="2026-09-20T03:57:28.806" v="62"/>
        <pc:sldMkLst>
          <pc:docMk/>
          <pc:sldMk cId="0" sldId="260"/>
        </pc:sldMkLst>
        <pc:picChg chg="del">
          <ac:chgData name="Lai, Wilson" userId="2840974a-0d84-4886-90a9-9a3ed79f3a48" providerId="ADAL" clId="{9F23B798-9E84-4552-BA63-E776E805C424}" dt="2026-09-19T05:50:22.966" v="6" actId="21"/>
          <ac:picMkLst>
            <pc:docMk/>
            <pc:sldMk cId="0" sldId="260"/>
            <ac:picMk id="2" creationId="{00000000-0000-0000-0000-000000000000}"/>
          </ac:picMkLst>
        </pc:picChg>
        <pc:picChg chg="add">
          <ac:chgData name="Lai, Wilson" userId="2840974a-0d84-4886-90a9-9a3ed79f3a48" providerId="ADAL" clId="{9F23B798-9E84-4552-BA63-E776E805C424}" dt="2026-09-19T05:50:31.850" v="7" actId="22"/>
          <ac:picMkLst>
            <pc:docMk/>
            <pc:sldMk cId="0" sldId="260"/>
            <ac:picMk id="4" creationId="{E495C85C-34A6-8112-448F-53A4EC59312B}"/>
          </ac:picMkLst>
        </pc:picChg>
      </pc:sldChg>
      <pc:sldChg chg="addSp delSp mod modNotes modNotesTx">
        <pc:chgData name="Lai, Wilson" userId="2840974a-0d84-4886-90a9-9a3ed79f3a48" providerId="ADAL" clId="{9F23B798-9E84-4552-BA63-E776E805C424}" dt="2026-09-20T03:57:28.806" v="62"/>
        <pc:sldMkLst>
          <pc:docMk/>
          <pc:sldMk cId="0" sldId="261"/>
        </pc:sldMkLst>
        <pc:picChg chg="del">
          <ac:chgData name="Lai, Wilson" userId="2840974a-0d84-4886-90a9-9a3ed79f3a48" providerId="ADAL" clId="{9F23B798-9E84-4552-BA63-E776E805C424}" dt="2026-09-19T05:50:33.170" v="8" actId="21"/>
          <ac:picMkLst>
            <pc:docMk/>
            <pc:sldMk cId="0" sldId="261"/>
            <ac:picMk id="2" creationId="{00000000-0000-0000-0000-000000000000}"/>
          </ac:picMkLst>
        </pc:picChg>
        <pc:picChg chg="add">
          <ac:chgData name="Lai, Wilson" userId="2840974a-0d84-4886-90a9-9a3ed79f3a48" providerId="ADAL" clId="{9F23B798-9E84-4552-BA63-E776E805C424}" dt="2026-09-19T05:50:40.180" v="9" actId="22"/>
          <ac:picMkLst>
            <pc:docMk/>
            <pc:sldMk cId="0" sldId="261"/>
            <ac:picMk id="4" creationId="{8E0D28D9-5853-3283-8A7A-753A6D40E5F7}"/>
          </ac:picMkLst>
        </pc:picChg>
      </pc:sldChg>
      <pc:sldChg chg="addSp delSp mod modNotes modNotesTx">
        <pc:chgData name="Lai, Wilson" userId="2840974a-0d84-4886-90a9-9a3ed79f3a48" providerId="ADAL" clId="{9F23B798-9E84-4552-BA63-E776E805C424}" dt="2026-09-20T03:57:28.806" v="62"/>
        <pc:sldMkLst>
          <pc:docMk/>
          <pc:sldMk cId="0" sldId="262"/>
        </pc:sldMkLst>
        <pc:picChg chg="del">
          <ac:chgData name="Lai, Wilson" userId="2840974a-0d84-4886-90a9-9a3ed79f3a48" providerId="ADAL" clId="{9F23B798-9E84-4552-BA63-E776E805C424}" dt="2026-09-19T05:50:41.547" v="10" actId="21"/>
          <ac:picMkLst>
            <pc:docMk/>
            <pc:sldMk cId="0" sldId="262"/>
            <ac:picMk id="2" creationId="{00000000-0000-0000-0000-000000000000}"/>
          </ac:picMkLst>
        </pc:picChg>
        <pc:picChg chg="add">
          <ac:chgData name="Lai, Wilson" userId="2840974a-0d84-4886-90a9-9a3ed79f3a48" providerId="ADAL" clId="{9F23B798-9E84-4552-BA63-E776E805C424}" dt="2026-09-19T05:50:48.035" v="11" actId="22"/>
          <ac:picMkLst>
            <pc:docMk/>
            <pc:sldMk cId="0" sldId="262"/>
            <ac:picMk id="4" creationId="{4A48AFC5-9980-29BD-4AA5-EF2306526B0A}"/>
          </ac:picMkLst>
        </pc:picChg>
      </pc:sldChg>
      <pc:sldChg chg="addSp delSp mod modNotes modNotesTx">
        <pc:chgData name="Lai, Wilson" userId="2840974a-0d84-4886-90a9-9a3ed79f3a48" providerId="ADAL" clId="{9F23B798-9E84-4552-BA63-E776E805C424}" dt="2026-09-20T03:57:28.806" v="62"/>
        <pc:sldMkLst>
          <pc:docMk/>
          <pc:sldMk cId="0" sldId="263"/>
        </pc:sldMkLst>
        <pc:picChg chg="del">
          <ac:chgData name="Lai, Wilson" userId="2840974a-0d84-4886-90a9-9a3ed79f3a48" providerId="ADAL" clId="{9F23B798-9E84-4552-BA63-E776E805C424}" dt="2026-09-19T05:50:49.727" v="12" actId="21"/>
          <ac:picMkLst>
            <pc:docMk/>
            <pc:sldMk cId="0" sldId="263"/>
            <ac:picMk id="2" creationId="{00000000-0000-0000-0000-000000000000}"/>
          </ac:picMkLst>
        </pc:picChg>
        <pc:picChg chg="add">
          <ac:chgData name="Lai, Wilson" userId="2840974a-0d84-4886-90a9-9a3ed79f3a48" providerId="ADAL" clId="{9F23B798-9E84-4552-BA63-E776E805C424}" dt="2026-09-19T05:50:57.628" v="13" actId="22"/>
          <ac:picMkLst>
            <pc:docMk/>
            <pc:sldMk cId="0" sldId="263"/>
            <ac:picMk id="4" creationId="{7AABDE03-A09C-3780-392C-D1D9E691A2B4}"/>
          </ac:picMkLst>
        </pc:picChg>
      </pc:sldChg>
      <pc:sldChg chg="addSp delSp modSp mod modNotes modNotesTx">
        <pc:chgData name="Lai, Wilson" userId="2840974a-0d84-4886-90a9-9a3ed79f3a48" providerId="ADAL" clId="{9F23B798-9E84-4552-BA63-E776E805C424}" dt="2026-09-20T03:57:28.806" v="62"/>
        <pc:sldMkLst>
          <pc:docMk/>
          <pc:sldMk cId="0" sldId="264"/>
        </pc:sldMkLst>
        <pc:picChg chg="add del">
          <ac:chgData name="Lai, Wilson" userId="2840974a-0d84-4886-90a9-9a3ed79f3a48" providerId="ADAL" clId="{9F23B798-9E84-4552-BA63-E776E805C424}" dt="2026-09-19T05:51:09.718" v="16" actId="478"/>
          <ac:picMkLst>
            <pc:docMk/>
            <pc:sldMk cId="0" sldId="264"/>
            <ac:picMk id="2" creationId="{00000000-0000-0000-0000-000000000000}"/>
          </ac:picMkLst>
        </pc:picChg>
        <pc:picChg chg="add mod">
          <ac:chgData name="Lai, Wilson" userId="2840974a-0d84-4886-90a9-9a3ed79f3a48" providerId="ADAL" clId="{9F23B798-9E84-4552-BA63-E776E805C424}" dt="2026-09-19T05:51:53.985" v="23" actId="14100"/>
          <ac:picMkLst>
            <pc:docMk/>
            <pc:sldMk cId="0" sldId="264"/>
            <ac:picMk id="4" creationId="{1BF3FB8A-77FE-7C1D-7AF2-1EE58DFF07A4}"/>
          </ac:picMkLst>
        </pc:picChg>
      </pc:sldChg>
      <pc:sldChg chg="addSp delSp modSp mod modNotes modNotesTx">
        <pc:chgData name="Lai, Wilson" userId="2840974a-0d84-4886-90a9-9a3ed79f3a48" providerId="ADAL" clId="{9F23B798-9E84-4552-BA63-E776E805C424}" dt="2026-09-20T03:57:28.806" v="62"/>
        <pc:sldMkLst>
          <pc:docMk/>
          <pc:sldMk cId="0" sldId="265"/>
        </pc:sldMkLst>
        <pc:picChg chg="del mod modCrop">
          <ac:chgData name="Lai, Wilson" userId="2840974a-0d84-4886-90a9-9a3ed79f3a48" providerId="ADAL" clId="{9F23B798-9E84-4552-BA63-E776E805C424}" dt="2026-09-19T05:52:22.675" v="31" actId="21"/>
          <ac:picMkLst>
            <pc:docMk/>
            <pc:sldMk cId="0" sldId="265"/>
            <ac:picMk id="2" creationId="{00000000-0000-0000-0000-000000000000}"/>
          </ac:picMkLst>
        </pc:picChg>
        <pc:picChg chg="add">
          <ac:chgData name="Lai, Wilson" userId="2840974a-0d84-4886-90a9-9a3ed79f3a48" providerId="ADAL" clId="{9F23B798-9E84-4552-BA63-E776E805C424}" dt="2026-09-19T05:52:27.344" v="32" actId="22"/>
          <ac:picMkLst>
            <pc:docMk/>
            <pc:sldMk cId="0" sldId="265"/>
            <ac:picMk id="4" creationId="{3FBA4F14-9CAD-48C9-9B06-8A843B51FDFF}"/>
          </ac:picMkLst>
        </pc:picChg>
      </pc:sldChg>
      <pc:sldChg chg="addSp delSp mod modNotes modNotesTx">
        <pc:chgData name="Lai, Wilson" userId="2840974a-0d84-4886-90a9-9a3ed79f3a48" providerId="ADAL" clId="{9F23B798-9E84-4552-BA63-E776E805C424}" dt="2026-09-20T03:57:28.806" v="62"/>
        <pc:sldMkLst>
          <pc:docMk/>
          <pc:sldMk cId="0" sldId="266"/>
        </pc:sldMkLst>
        <pc:picChg chg="del">
          <ac:chgData name="Lai, Wilson" userId="2840974a-0d84-4886-90a9-9a3ed79f3a48" providerId="ADAL" clId="{9F23B798-9E84-4552-BA63-E776E805C424}" dt="2026-09-19T05:52:30.057" v="33" actId="21"/>
          <ac:picMkLst>
            <pc:docMk/>
            <pc:sldMk cId="0" sldId="266"/>
            <ac:picMk id="2" creationId="{00000000-0000-0000-0000-000000000000}"/>
          </ac:picMkLst>
        </pc:picChg>
        <pc:picChg chg="add">
          <ac:chgData name="Lai, Wilson" userId="2840974a-0d84-4886-90a9-9a3ed79f3a48" providerId="ADAL" clId="{9F23B798-9E84-4552-BA63-E776E805C424}" dt="2026-09-19T05:52:37.946" v="34" actId="22"/>
          <ac:picMkLst>
            <pc:docMk/>
            <pc:sldMk cId="0" sldId="266"/>
            <ac:picMk id="4" creationId="{6CC9EC12-0A24-4BA7-9D8A-6485666A3DB3}"/>
          </ac:picMkLst>
        </pc:picChg>
      </pc:sldChg>
      <pc:sldChg chg="addSp delSp mod modNotes">
        <pc:chgData name="Lai, Wilson" userId="2840974a-0d84-4886-90a9-9a3ed79f3a48" providerId="ADAL" clId="{9F23B798-9E84-4552-BA63-E776E805C424}" dt="2026-09-20T03:57:28.806" v="62"/>
        <pc:sldMkLst>
          <pc:docMk/>
          <pc:sldMk cId="0" sldId="267"/>
        </pc:sldMkLst>
        <pc:picChg chg="del">
          <ac:chgData name="Lai, Wilson" userId="2840974a-0d84-4886-90a9-9a3ed79f3a48" providerId="ADAL" clId="{9F23B798-9E84-4552-BA63-E776E805C424}" dt="2026-09-19T05:52:39.306" v="35" actId="21"/>
          <ac:picMkLst>
            <pc:docMk/>
            <pc:sldMk cId="0" sldId="267"/>
            <ac:picMk id="2" creationId="{00000000-0000-0000-0000-000000000000}"/>
          </ac:picMkLst>
        </pc:picChg>
        <pc:picChg chg="add">
          <ac:chgData name="Lai, Wilson" userId="2840974a-0d84-4886-90a9-9a3ed79f3a48" providerId="ADAL" clId="{9F23B798-9E84-4552-BA63-E776E805C424}" dt="2026-09-19T05:52:47.760" v="36" actId="22"/>
          <ac:picMkLst>
            <pc:docMk/>
            <pc:sldMk cId="0" sldId="267"/>
            <ac:picMk id="4" creationId="{49D19699-8B0B-86B2-8530-22FF6783E1FB}"/>
          </ac:picMkLst>
        </pc:picChg>
      </pc:sldChg>
      <pc:sldChg chg="addSp delSp mod modNotes modNotesTx">
        <pc:chgData name="Lai, Wilson" userId="2840974a-0d84-4886-90a9-9a3ed79f3a48" providerId="ADAL" clId="{9F23B798-9E84-4552-BA63-E776E805C424}" dt="2026-09-20T03:57:28.806" v="62"/>
        <pc:sldMkLst>
          <pc:docMk/>
          <pc:sldMk cId="0" sldId="268"/>
        </pc:sldMkLst>
        <pc:picChg chg="del">
          <ac:chgData name="Lai, Wilson" userId="2840974a-0d84-4886-90a9-9a3ed79f3a48" providerId="ADAL" clId="{9F23B798-9E84-4552-BA63-E776E805C424}" dt="2026-09-19T05:52:50.576" v="37" actId="21"/>
          <ac:picMkLst>
            <pc:docMk/>
            <pc:sldMk cId="0" sldId="268"/>
            <ac:picMk id="2" creationId="{00000000-0000-0000-0000-000000000000}"/>
          </ac:picMkLst>
        </pc:picChg>
        <pc:picChg chg="add">
          <ac:chgData name="Lai, Wilson" userId="2840974a-0d84-4886-90a9-9a3ed79f3a48" providerId="ADAL" clId="{9F23B798-9E84-4552-BA63-E776E805C424}" dt="2026-09-19T05:52:57.938" v="38" actId="22"/>
          <ac:picMkLst>
            <pc:docMk/>
            <pc:sldMk cId="0" sldId="268"/>
            <ac:picMk id="4" creationId="{EDCCF2BE-D9F5-1709-EB7B-6A2E6AD9E1C7}"/>
          </ac:picMkLst>
        </pc:picChg>
      </pc:sldChg>
      <pc:sldChg chg="addSp delSp mod modNotes modNotesTx">
        <pc:chgData name="Lai, Wilson" userId="2840974a-0d84-4886-90a9-9a3ed79f3a48" providerId="ADAL" clId="{9F23B798-9E84-4552-BA63-E776E805C424}" dt="2026-09-20T03:57:28.806" v="62"/>
        <pc:sldMkLst>
          <pc:docMk/>
          <pc:sldMk cId="0" sldId="269"/>
        </pc:sldMkLst>
        <pc:picChg chg="del">
          <ac:chgData name="Lai, Wilson" userId="2840974a-0d84-4886-90a9-9a3ed79f3a48" providerId="ADAL" clId="{9F23B798-9E84-4552-BA63-E776E805C424}" dt="2026-09-19T05:52:59.386" v="39" actId="21"/>
          <ac:picMkLst>
            <pc:docMk/>
            <pc:sldMk cId="0" sldId="269"/>
            <ac:picMk id="2" creationId="{00000000-0000-0000-0000-000000000000}"/>
          </ac:picMkLst>
        </pc:picChg>
        <pc:picChg chg="add">
          <ac:chgData name="Lai, Wilson" userId="2840974a-0d84-4886-90a9-9a3ed79f3a48" providerId="ADAL" clId="{9F23B798-9E84-4552-BA63-E776E805C424}" dt="2026-09-19T05:53:09.154" v="40" actId="22"/>
          <ac:picMkLst>
            <pc:docMk/>
            <pc:sldMk cId="0" sldId="269"/>
            <ac:picMk id="4" creationId="{4A264FFC-5016-5328-6132-6C621C029CE7}"/>
          </ac:picMkLst>
        </pc:picChg>
      </pc:sldChg>
      <pc:sldChg chg="addSp delSp mod modNotes modNotesTx">
        <pc:chgData name="Lai, Wilson" userId="2840974a-0d84-4886-90a9-9a3ed79f3a48" providerId="ADAL" clId="{9F23B798-9E84-4552-BA63-E776E805C424}" dt="2026-09-20T03:57:28.806" v="62"/>
        <pc:sldMkLst>
          <pc:docMk/>
          <pc:sldMk cId="0" sldId="270"/>
        </pc:sldMkLst>
        <pc:picChg chg="del">
          <ac:chgData name="Lai, Wilson" userId="2840974a-0d84-4886-90a9-9a3ed79f3a48" providerId="ADAL" clId="{9F23B798-9E84-4552-BA63-E776E805C424}" dt="2026-09-19T05:53:11.249" v="41" actId="21"/>
          <ac:picMkLst>
            <pc:docMk/>
            <pc:sldMk cId="0" sldId="270"/>
            <ac:picMk id="2" creationId="{00000000-0000-0000-0000-000000000000}"/>
          </ac:picMkLst>
        </pc:picChg>
        <pc:picChg chg="add">
          <ac:chgData name="Lai, Wilson" userId="2840974a-0d84-4886-90a9-9a3ed79f3a48" providerId="ADAL" clId="{9F23B798-9E84-4552-BA63-E776E805C424}" dt="2026-09-19T05:53:18.815" v="42" actId="22"/>
          <ac:picMkLst>
            <pc:docMk/>
            <pc:sldMk cId="0" sldId="270"/>
            <ac:picMk id="4" creationId="{EB65803F-3AAB-6268-7E96-0CEA75B16776}"/>
          </ac:picMkLst>
        </pc:picChg>
      </pc:sldChg>
      <pc:sldChg chg="addSp delSp mod modNotes">
        <pc:chgData name="Lai, Wilson" userId="2840974a-0d84-4886-90a9-9a3ed79f3a48" providerId="ADAL" clId="{9F23B798-9E84-4552-BA63-E776E805C424}" dt="2026-09-20T03:57:28.806" v="62"/>
        <pc:sldMkLst>
          <pc:docMk/>
          <pc:sldMk cId="0" sldId="271"/>
        </pc:sldMkLst>
        <pc:picChg chg="del">
          <ac:chgData name="Lai, Wilson" userId="2840974a-0d84-4886-90a9-9a3ed79f3a48" providerId="ADAL" clId="{9F23B798-9E84-4552-BA63-E776E805C424}" dt="2026-09-19T05:53:20.285" v="43" actId="21"/>
          <ac:picMkLst>
            <pc:docMk/>
            <pc:sldMk cId="0" sldId="271"/>
            <ac:picMk id="2" creationId="{00000000-0000-0000-0000-000000000000}"/>
          </ac:picMkLst>
        </pc:picChg>
        <pc:picChg chg="add">
          <ac:chgData name="Lai, Wilson" userId="2840974a-0d84-4886-90a9-9a3ed79f3a48" providerId="ADAL" clId="{9F23B798-9E84-4552-BA63-E776E805C424}" dt="2026-09-19T05:53:28.801" v="44" actId="22"/>
          <ac:picMkLst>
            <pc:docMk/>
            <pc:sldMk cId="0" sldId="271"/>
            <ac:picMk id="4" creationId="{D6BD0E05-9D3D-F1BD-F986-539BFA941126}"/>
          </ac:picMkLst>
        </pc:picChg>
      </pc:sldChg>
      <pc:sldChg chg="modNotes modNotesTx">
        <pc:chgData name="Lai, Wilson" userId="2840974a-0d84-4886-90a9-9a3ed79f3a48" providerId="ADAL" clId="{9F23B798-9E84-4552-BA63-E776E805C424}" dt="2026-09-20T03:57:28.806" v="62"/>
        <pc:sldMkLst>
          <pc:docMk/>
          <pc:sldMk cId="222358988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AED897-311F-4213-95E9-C2A33CCFEBE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A51CAB-0D1C-4754-93A9-A6BB736597CE}" type="slidenum">
              <a:rPr lang="en-US" smtClean="0"/>
              <a:t>‹#›</a:t>
            </a:fld>
            <a:endParaRPr lang="en-US"/>
          </a:p>
        </p:txBody>
      </p:sp>
    </p:spTree>
    <p:extLst>
      <p:ext uri="{BB962C8B-B14F-4D97-AF65-F5344CB8AC3E}">
        <p14:creationId xmlns:p14="http://schemas.microsoft.com/office/powerpoint/2010/main" val="1487138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When most people think about data analytics or enterprise intelligence, what usually comes to mind first? It’s charts, numbers, complex spreadsheets, and rows of colorful dashboards built in Power BI or Tableau. But today, we want to ask a fundamental question: </a:t>
            </a:r>
            <a:r>
              <a:rPr lang="en-US" sz="1200" b="1" kern="1200" dirty="0">
                <a:solidFill>
                  <a:schemeClr val="tx1"/>
                </a:solidFill>
                <a:effectLst/>
                <a:latin typeface="+mn-lt"/>
                <a:ea typeface="+mn-ea"/>
                <a:cs typeface="+mn-cs"/>
              </a:rPr>
              <a:t>What happens after the dashboard is created?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Having access to data and actually knowing what to do with that data are two entirely different things. You can build the most detailed, visually stunning dashboard in the world, but if your decision-makers can't interpret what the data is telling them or act on it quickly, you’re utilizing only a tiny fraction of your data’s true potential. </a:t>
            </a:r>
          </a:p>
          <a:p>
            <a:r>
              <a:rPr lang="en-US" sz="1200" kern="1200" dirty="0">
                <a:solidFill>
                  <a:schemeClr val="tx1"/>
                </a:solidFill>
                <a:effectLst/>
                <a:latin typeface="+mn-lt"/>
                <a:ea typeface="+mn-ea"/>
                <a:cs typeface="+mn-cs"/>
              </a:rPr>
              <a:t>Today, we’re looking beyond the static dashboard. We're moving from </a:t>
            </a:r>
            <a:r>
              <a:rPr lang="en-US" sz="1200" i="1" kern="1200" dirty="0">
                <a:solidFill>
                  <a:schemeClr val="tx1"/>
                </a:solidFill>
                <a:effectLst/>
                <a:latin typeface="+mn-lt"/>
                <a:ea typeface="+mn-ea"/>
                <a:cs typeface="+mn-cs"/>
              </a:rPr>
              <a:t>reactive data display</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AI-driven decision intelligence</a:t>
            </a:r>
            <a:r>
              <a:rPr lang="en-US" sz="1200" kern="1200" dirty="0">
                <a:solidFill>
                  <a:schemeClr val="tx1"/>
                </a:solidFill>
                <a:effectLst/>
                <a:latin typeface="+mn-lt"/>
                <a:ea typeface="+mn-ea"/>
                <a:cs typeface="+mn-cs"/>
              </a:rPr>
              <a:t>—shifting from 'show me the numbers' to 'tell me what action to take next'. </a:t>
            </a:r>
          </a:p>
          <a:p>
            <a:endParaRPr lang="en-US" dirty="0"/>
          </a:p>
          <a:p>
            <a:endParaRPr lang="en-US" dirty="0"/>
          </a:p>
          <a:p>
            <a:endParaRPr lang="en-US" dirty="0"/>
          </a:p>
          <a:p>
            <a:r>
              <a:rPr lang="en-US" dirty="0"/>
              <a:t>https://www.youtube.com/watch?v=7gZ3a3Uwv3Q</a:t>
            </a:r>
          </a:p>
        </p:txBody>
      </p:sp>
      <p:sp>
        <p:nvSpPr>
          <p:cNvPr id="4" name="Slide Number Placeholder 3"/>
          <p:cNvSpPr>
            <a:spLocks noGrp="1"/>
          </p:cNvSpPr>
          <p:nvPr>
            <p:ph type="sldNum" sz="quarter" idx="5"/>
          </p:nvPr>
        </p:nvSpPr>
        <p:spPr/>
        <p:txBody>
          <a:bodyPr/>
          <a:lstStyle/>
          <a:p>
            <a:fld id="{36A51CAB-0D1C-4754-93A9-A6BB736597CE}" type="slidenum">
              <a:rPr lang="en-US" smtClean="0"/>
              <a:t>1</a:t>
            </a:fld>
            <a:endParaRPr lang="en-US"/>
          </a:p>
        </p:txBody>
      </p:sp>
    </p:spTree>
    <p:extLst>
      <p:ext uri="{BB962C8B-B14F-4D97-AF65-F5344CB8AC3E}">
        <p14:creationId xmlns:p14="http://schemas.microsoft.com/office/powerpoint/2010/main" val="2658601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this core distinction: A dashboard tells you where you are right now, but a decision-making framework tells you where to go next. </a:t>
            </a:r>
          </a:p>
          <a:p>
            <a:r>
              <a:rPr lang="en-US" sz="1200" kern="1200" dirty="0">
                <a:solidFill>
                  <a:schemeClr val="tx1"/>
                </a:solidFill>
                <a:effectLst/>
                <a:latin typeface="+mn-lt"/>
                <a:ea typeface="+mn-ea"/>
                <a:cs typeface="+mn-cs"/>
              </a:rPr>
              <a:t>In business today, we often suffer from information overload. We dump thousands of KPIs and charts onto leadership, assuming more information equals better governance. In reality, more raw information often just creates noise and indecision. </a:t>
            </a:r>
          </a:p>
          <a:p>
            <a:r>
              <a:rPr lang="en-US" sz="1200" kern="1200" dirty="0">
                <a:solidFill>
                  <a:schemeClr val="tx1"/>
                </a:solidFill>
                <a:effectLst/>
                <a:latin typeface="+mn-lt"/>
                <a:ea typeface="+mn-ea"/>
                <a:cs typeface="+mn-cs"/>
              </a:rPr>
              <a:t>Consider real-world economic shocks—like global trade disruptions or sudden market crashes caused by geopolitical tensions. If petrol prices surge or shipping costs jump by 10%, a dashboard simply shows that your profit margins are shrinking. But it doesn't automatically tell you whether to increase prices, reallocate inventory, or hedge supply chain risks. The ultimate goal of analytics is never the visualization itself; it is taking smarter, faster action.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2</a:t>
            </a:fld>
            <a:endParaRPr lang="en-US"/>
          </a:p>
        </p:txBody>
      </p:sp>
    </p:spTree>
    <p:extLst>
      <p:ext uri="{BB962C8B-B14F-4D97-AF65-F5344CB8AC3E}">
        <p14:creationId xmlns:p14="http://schemas.microsoft.com/office/powerpoint/2010/main" val="1368972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we are going, let's trace the evolutionary ladder of data analytics: </a:t>
            </a:r>
          </a:p>
          <a:p>
            <a:pPr marL="228600" lvl="0" indent="-228600">
              <a:buFont typeface="+mj-lt"/>
              <a:buAutoNum type="arabicPeriod"/>
            </a:pPr>
            <a:r>
              <a:rPr lang="en-US" sz="1200" b="1" kern="1200" dirty="0">
                <a:solidFill>
                  <a:schemeClr val="tx1"/>
                </a:solidFill>
                <a:effectLst/>
                <a:latin typeface="+mn-lt"/>
                <a:ea typeface="+mn-ea"/>
                <a:cs typeface="+mn-cs"/>
              </a:rPr>
              <a:t>Descriptive Analytics (What happened?):</a:t>
            </a:r>
            <a:r>
              <a:rPr lang="en-US" sz="1200" kern="1200" dirty="0">
                <a:solidFill>
                  <a:schemeClr val="tx1"/>
                </a:solidFill>
                <a:effectLst/>
                <a:latin typeface="+mn-lt"/>
                <a:ea typeface="+mn-ea"/>
                <a:cs typeface="+mn-cs"/>
              </a:rPr>
              <a:t> This is hindsight. Think back to March 2020 when the COVID-19 pandemic caused global market crashes. A descriptive view looks back at historical charts and identifies that revenues plunged. </a:t>
            </a:r>
          </a:p>
          <a:p>
            <a:pPr marL="228600" lvl="0" indent="-228600">
              <a:buFont typeface="+mj-lt"/>
              <a:buAutoNum type="arabicPeriod"/>
            </a:pPr>
            <a:r>
              <a:rPr lang="en-US" sz="1200" b="1" kern="1200" dirty="0">
                <a:solidFill>
                  <a:schemeClr val="tx1"/>
                </a:solidFill>
                <a:effectLst/>
                <a:latin typeface="+mn-lt"/>
                <a:ea typeface="+mn-ea"/>
                <a:cs typeface="+mn-cs"/>
              </a:rPr>
              <a:t>Diagnostic Analytics (Why did it happen?):</a:t>
            </a:r>
            <a:r>
              <a:rPr lang="en-US" sz="1200" kern="1200" dirty="0">
                <a:solidFill>
                  <a:schemeClr val="tx1"/>
                </a:solidFill>
                <a:effectLst/>
                <a:latin typeface="+mn-lt"/>
                <a:ea typeface="+mn-ea"/>
                <a:cs typeface="+mn-cs"/>
              </a:rPr>
              <a:t> This digs into root causes—tracing supply chain bottlenecks or operational halts. </a:t>
            </a:r>
          </a:p>
          <a:p>
            <a:pPr marL="228600" lvl="0" indent="-228600">
              <a:buFont typeface="+mj-lt"/>
              <a:buAutoNum type="arabicPeriod"/>
            </a:pPr>
            <a:r>
              <a:rPr lang="en-US" sz="1200" b="1" kern="1200" dirty="0">
                <a:solidFill>
                  <a:schemeClr val="tx1"/>
                </a:solidFill>
                <a:effectLst/>
                <a:latin typeface="+mn-lt"/>
                <a:ea typeface="+mn-ea"/>
                <a:cs typeface="+mn-cs"/>
              </a:rPr>
              <a:t>Predictive Analytics (What will happen next?):</a:t>
            </a:r>
            <a:r>
              <a:rPr lang="en-US" sz="1200" kern="1200" dirty="0">
                <a:solidFill>
                  <a:schemeClr val="tx1"/>
                </a:solidFill>
                <a:effectLst/>
                <a:latin typeface="+mn-lt"/>
                <a:ea typeface="+mn-ea"/>
                <a:cs typeface="+mn-cs"/>
              </a:rPr>
              <a:t> Using Machine Learning and statistical modeling to forecast near-future outcomes based on emerging trends. </a:t>
            </a:r>
          </a:p>
          <a:p>
            <a:pPr marL="228600" lvl="0" indent="-228600">
              <a:buFont typeface="+mj-lt"/>
              <a:buAutoNum type="arabicPeriod"/>
            </a:pPr>
            <a:r>
              <a:rPr lang="en-US" sz="1200" b="1" kern="1200" dirty="0">
                <a:solidFill>
                  <a:schemeClr val="tx1"/>
                </a:solidFill>
                <a:effectLst/>
                <a:latin typeface="+mn-lt"/>
                <a:ea typeface="+mn-ea"/>
                <a:cs typeface="+mn-cs"/>
              </a:rPr>
              <a:t>Prescriptive &amp; Agentic Analytics (What should we do?):</a:t>
            </a:r>
            <a:r>
              <a:rPr lang="en-US" sz="1200" kern="1200" dirty="0">
                <a:solidFill>
                  <a:schemeClr val="tx1"/>
                </a:solidFill>
                <a:effectLst/>
                <a:latin typeface="+mn-lt"/>
                <a:ea typeface="+mn-ea"/>
                <a:cs typeface="+mn-cs"/>
              </a:rPr>
              <a:t> This is foresight in action. When you go to a doctor feeling sick, you don't just want a diagnosis—you want a prescription to get better. Prescriptive analytics recommends specific business interventions. When paired with </a:t>
            </a:r>
            <a:r>
              <a:rPr lang="en-US" sz="1200" b="1" kern="1200" dirty="0">
                <a:solidFill>
                  <a:schemeClr val="tx1"/>
                </a:solidFill>
                <a:effectLst/>
                <a:latin typeface="+mn-lt"/>
                <a:ea typeface="+mn-ea"/>
                <a:cs typeface="+mn-cs"/>
              </a:rPr>
              <a:t>Agentic AI</a:t>
            </a:r>
            <a:r>
              <a:rPr lang="en-US" sz="1200" kern="1200" dirty="0">
                <a:solidFill>
                  <a:schemeClr val="tx1"/>
                </a:solidFill>
                <a:effectLst/>
                <a:latin typeface="+mn-lt"/>
                <a:ea typeface="+mn-ea"/>
                <a:cs typeface="+mn-cs"/>
              </a:rPr>
              <a:t>, the system goes further: it can autonomously execute actions based on data triggers. </a:t>
            </a:r>
          </a:p>
          <a:p>
            <a:r>
              <a:rPr lang="en-US" sz="1200" kern="1200" dirty="0">
                <a:solidFill>
                  <a:schemeClr val="tx1"/>
                </a:solidFill>
                <a:effectLst/>
                <a:latin typeface="+mn-lt"/>
                <a:ea typeface="+mn-ea"/>
                <a:cs typeface="+mn-cs"/>
              </a:rPr>
              <a:t>Notice that each generation builds upon the last, but the ultimate destination remains unchanged: driving a better, more accurate decision.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3</a:t>
            </a:fld>
            <a:endParaRPr lang="en-US"/>
          </a:p>
        </p:txBody>
      </p:sp>
    </p:spTree>
    <p:extLst>
      <p:ext uri="{BB962C8B-B14F-4D97-AF65-F5344CB8AC3E}">
        <p14:creationId xmlns:p14="http://schemas.microsoft.com/office/powerpoint/2010/main" val="1861540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undergoing a massive mental shift in analytics: moving from </a:t>
            </a:r>
            <a:r>
              <a:rPr lang="en-US" sz="1200" i="1" kern="1200" dirty="0">
                <a:solidFill>
                  <a:schemeClr val="tx1"/>
                </a:solidFill>
                <a:effectLst/>
                <a:latin typeface="+mn-lt"/>
                <a:ea typeface="+mn-ea"/>
                <a:cs typeface="+mn-cs"/>
              </a:rPr>
              <a:t>Reactive Interrogation</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Proactive Intelligence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traditional </a:t>
            </a:r>
            <a:r>
              <a:rPr lang="en-US" sz="1200" b="1" kern="1200" dirty="0">
                <a:solidFill>
                  <a:schemeClr val="tx1"/>
                </a:solidFill>
                <a:effectLst/>
                <a:latin typeface="+mn-lt"/>
                <a:ea typeface="+mn-ea"/>
                <a:cs typeface="+mn-cs"/>
              </a:rPr>
              <a:t>Reactive Analytics</a:t>
            </a:r>
            <a:r>
              <a:rPr lang="en-US" sz="1200" kern="1200" dirty="0">
                <a:solidFill>
                  <a:schemeClr val="tx1"/>
                </a:solidFill>
                <a:effectLst/>
                <a:latin typeface="+mn-lt"/>
                <a:ea typeface="+mn-ea"/>
                <a:cs typeface="+mn-cs"/>
              </a:rPr>
              <a:t>, the human is forced to do all the heavy lifting. You sit in front of Power BI or Tableau and manually slice and dice charts, hunting for anomalies. It's like ChatGPT—it only responds when you explicitly prompt it; it never tap-taps you on the shoulder to say, 'Hey, look at this anomaly in region B'. </a:t>
            </a:r>
          </a:p>
          <a:p>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Proactive Analytics</a:t>
            </a:r>
            <a:r>
              <a:rPr lang="en-US" sz="1200" kern="1200" dirty="0">
                <a:solidFill>
                  <a:schemeClr val="tx1"/>
                </a:solidFill>
                <a:effectLst/>
                <a:latin typeface="+mn-lt"/>
                <a:ea typeface="+mn-ea"/>
                <a:cs typeface="+mn-cs"/>
              </a:rPr>
              <a:t>, the paradigm flips. The system becomes outcome-centric and context-aware. Driven by AI, it automatically scans millions of signals in the background, surfaces critical anomalies before you even think to ask, and recommends targeted interventions. Humans were built for rational thinking, while machines were built for repetitive monitoring. Proactive analytics returns machines to doing what they do best.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4</a:t>
            </a:fld>
            <a:endParaRPr lang="en-US"/>
          </a:p>
        </p:txBody>
      </p:sp>
    </p:spTree>
    <p:extLst>
      <p:ext uri="{BB962C8B-B14F-4D97-AF65-F5344CB8AC3E}">
        <p14:creationId xmlns:p14="http://schemas.microsoft.com/office/powerpoint/2010/main" val="470902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dissect the anatomy of how raw numbers transform into enterprise action using the DIKW (Data, Information, Knowledge, Wisdom) framework: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Data:</a:t>
            </a:r>
            <a:r>
              <a:rPr lang="en-US" sz="1200" kern="1200" dirty="0">
                <a:solidFill>
                  <a:schemeClr val="tx1"/>
                </a:solidFill>
                <a:effectLst/>
                <a:latin typeface="+mn-lt"/>
                <a:ea typeface="+mn-ea"/>
                <a:cs typeface="+mn-cs"/>
              </a:rPr>
              <a:t> 'Sales dropped 18%'. By itself, this raw number is meaningless and actionable by no one.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Information:</a:t>
            </a:r>
            <a:r>
              <a:rPr lang="en-US" sz="1200" kern="1200" dirty="0">
                <a:solidFill>
                  <a:schemeClr val="tx1"/>
                </a:solidFill>
                <a:effectLst/>
                <a:latin typeface="+mn-lt"/>
                <a:ea typeface="+mn-ea"/>
                <a:cs typeface="+mn-cs"/>
              </a:rPr>
              <a:t> 'Sales dropped 18% in the Southern Region'. Context adds value by specifying where the issue resides.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Knowledge:</a:t>
            </a:r>
            <a:r>
              <a:rPr lang="en-US" sz="1200" kern="1200" dirty="0">
                <a:solidFill>
                  <a:schemeClr val="tx1"/>
                </a:solidFill>
                <a:effectLst/>
                <a:latin typeface="+mn-lt"/>
                <a:ea typeface="+mn-ea"/>
                <a:cs typeface="+mn-cs"/>
              </a:rPr>
              <a:t> 'The decline began immediately after inventory shortages hit top-selling product categories in that region'. Now we understand the underlying cause.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Wisdom:</a:t>
            </a:r>
            <a:r>
              <a:rPr lang="en-US" sz="1200" kern="1200" dirty="0">
                <a:solidFill>
                  <a:schemeClr val="tx1"/>
                </a:solidFill>
                <a:effectLst/>
                <a:latin typeface="+mn-lt"/>
                <a:ea typeface="+mn-ea"/>
                <a:cs typeface="+mn-cs"/>
              </a:rPr>
              <a:t> 'Restocking these high-performing items will yield a higher ROI than burning money on new advertising campaigns'.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Decision:</a:t>
            </a:r>
            <a:r>
              <a:rPr lang="en-US" sz="1200" kern="1200" dirty="0">
                <a:solidFill>
                  <a:schemeClr val="tx1"/>
                </a:solidFill>
                <a:effectLst/>
                <a:latin typeface="+mn-lt"/>
                <a:ea typeface="+mn-ea"/>
                <a:cs typeface="+mn-cs"/>
              </a:rPr>
              <a:t> 'Redistribute regional inventory immediately and expedite vendor replenishment'. </a:t>
            </a:r>
          </a:p>
          <a:p>
            <a:r>
              <a:rPr lang="en-US" sz="1200" kern="1200" dirty="0">
                <a:solidFill>
                  <a:schemeClr val="tx1"/>
                </a:solidFill>
                <a:effectLst/>
                <a:latin typeface="+mn-lt"/>
                <a:ea typeface="+mn-ea"/>
                <a:cs typeface="+mn-cs"/>
              </a:rPr>
              <a:t>Data alone cannot make decisions; context is the catalyst that turns raw data into profitable business choices.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5</a:t>
            </a:fld>
            <a:endParaRPr lang="en-US"/>
          </a:p>
        </p:txBody>
      </p:sp>
    </p:spTree>
    <p:extLst>
      <p:ext uri="{BB962C8B-B14F-4D97-AF65-F5344CB8AC3E}">
        <p14:creationId xmlns:p14="http://schemas.microsoft.com/office/powerpoint/2010/main" val="1838004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build an enterprise stack capable of proactive decision-making? It requires a modern, three-tiered architecture: </a:t>
            </a:r>
          </a:p>
          <a:p>
            <a:pPr marL="228600" lvl="0" indent="-228600">
              <a:buFont typeface="+mj-lt"/>
              <a:buAutoNum type="arabicPeriod"/>
            </a:pPr>
            <a:r>
              <a:rPr lang="en-US" sz="1200" b="1" kern="1200" dirty="0">
                <a:solidFill>
                  <a:schemeClr val="tx1"/>
                </a:solidFill>
                <a:effectLst/>
                <a:latin typeface="+mn-lt"/>
                <a:ea typeface="+mn-ea"/>
                <a:cs typeface="+mn-cs"/>
              </a:rPr>
              <a:t>Enterprise Data Layer (The Raw Material):</a:t>
            </a:r>
            <a:r>
              <a:rPr lang="en-US" sz="1200" kern="1200" dirty="0">
                <a:solidFill>
                  <a:schemeClr val="tx1"/>
                </a:solidFill>
                <a:effectLst/>
                <a:latin typeface="+mn-lt"/>
                <a:ea typeface="+mn-ea"/>
                <a:cs typeface="+mn-cs"/>
              </a:rPr>
              <a:t> This is where all structured and unstructured data lives—ERP systems, CRMs, IoT sensor feeds, customer feedback PDFs, and API payloads. </a:t>
            </a:r>
          </a:p>
          <a:p>
            <a:pPr marL="228600" lvl="0" indent="-228600">
              <a:buFont typeface="+mj-lt"/>
              <a:buAutoNum type="arabicPeriod"/>
            </a:pPr>
            <a:r>
              <a:rPr lang="en-US" sz="1200" b="1" kern="1200" dirty="0">
                <a:solidFill>
                  <a:schemeClr val="tx1"/>
                </a:solidFill>
                <a:effectLst/>
                <a:latin typeface="+mn-lt"/>
                <a:ea typeface="+mn-ea"/>
                <a:cs typeface="+mn-cs"/>
              </a:rPr>
              <a:t>Analytics Layer (The Processing Engine):</a:t>
            </a:r>
            <a:r>
              <a:rPr lang="en-US" sz="1200" kern="1200" dirty="0">
                <a:solidFill>
                  <a:schemeClr val="tx1"/>
                </a:solidFill>
                <a:effectLst/>
                <a:latin typeface="+mn-lt"/>
                <a:ea typeface="+mn-ea"/>
                <a:cs typeface="+mn-cs"/>
              </a:rPr>
              <a:t> SQL databases, cloud data warehouses, machine learning pipelines, and BI semantic models. If your data is under 1.5 GB, traditional databases work fine; once you hit scale, cloud data warehouses like Snowflake or </a:t>
            </a:r>
            <a:r>
              <a:rPr lang="en-US" sz="1200" kern="1200" dirty="0" err="1">
                <a:solidFill>
                  <a:schemeClr val="tx1"/>
                </a:solidFill>
                <a:effectLst/>
                <a:latin typeface="+mn-lt"/>
                <a:ea typeface="+mn-ea"/>
                <a:cs typeface="+mn-cs"/>
              </a:rPr>
              <a:t>BigQuery</a:t>
            </a:r>
            <a:r>
              <a:rPr lang="en-US" sz="1200" kern="1200" dirty="0">
                <a:solidFill>
                  <a:schemeClr val="tx1"/>
                </a:solidFill>
                <a:effectLst/>
                <a:latin typeface="+mn-lt"/>
                <a:ea typeface="+mn-ea"/>
                <a:cs typeface="+mn-cs"/>
              </a:rPr>
              <a:t> take over. </a:t>
            </a:r>
          </a:p>
          <a:p>
            <a:pPr marL="228600" lvl="0" indent="-228600">
              <a:buFont typeface="+mj-lt"/>
              <a:buAutoNum type="arabicPeriod"/>
            </a:pPr>
            <a:r>
              <a:rPr lang="en-US" sz="1200" b="1" kern="1200" dirty="0">
                <a:solidFill>
                  <a:schemeClr val="tx1"/>
                </a:solidFill>
                <a:effectLst/>
                <a:latin typeface="+mn-lt"/>
                <a:ea typeface="+mn-ea"/>
                <a:cs typeface="+mn-cs"/>
              </a:rPr>
              <a:t>Intelligence Layer (The Brain):</a:t>
            </a:r>
            <a:r>
              <a:rPr lang="en-US" sz="1200" kern="1200" dirty="0">
                <a:solidFill>
                  <a:schemeClr val="tx1"/>
                </a:solidFill>
                <a:effectLst/>
                <a:latin typeface="+mn-lt"/>
                <a:ea typeface="+mn-ea"/>
                <a:cs typeface="+mn-cs"/>
              </a:rPr>
              <a:t> Sitting on top is the intelligence layer powered by Large Language Models (LLMs), Retrieval-Augmented Generation (RAG), and semantic search. </a:t>
            </a:r>
          </a:p>
          <a:p>
            <a:r>
              <a:rPr lang="en-US" sz="1200" kern="1200" dirty="0">
                <a:solidFill>
                  <a:schemeClr val="tx1"/>
                </a:solidFill>
                <a:effectLst/>
                <a:latin typeface="+mn-lt"/>
                <a:ea typeface="+mn-ea"/>
                <a:cs typeface="+mn-cs"/>
              </a:rPr>
              <a:t>This top layer serves as the natural language interface between the complex underlying data and the decision-maker. Analytics becomes exponentially more powerful when directly wired into operational workflows.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6</a:t>
            </a:fld>
            <a:endParaRPr lang="en-US"/>
          </a:p>
        </p:txBody>
      </p:sp>
    </p:spTree>
    <p:extLst>
      <p:ext uri="{BB962C8B-B14F-4D97-AF65-F5344CB8AC3E}">
        <p14:creationId xmlns:p14="http://schemas.microsoft.com/office/powerpoint/2010/main" val="761181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Since LLMs power the intelligence layer, let's clear up a common misconception: What actually makes a Large Language Model </a:t>
            </a:r>
            <a:r>
              <a:rPr lang="en-US" sz="1200" i="1" kern="1200" dirty="0">
                <a:solidFill>
                  <a:schemeClr val="tx1"/>
                </a:solidFill>
                <a:effectLst/>
                <a:latin typeface="+mn-lt"/>
                <a:ea typeface="+mn-ea"/>
                <a:cs typeface="+mn-cs"/>
              </a:rPr>
              <a:t>'Large'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Many assume an LLM is 'large' simply because it trained on huge amounts of internet data. While true, that’s not the defining metric. The 'largeness' refers specifically to its </a:t>
            </a:r>
            <a:r>
              <a:rPr lang="en-US" sz="1200" b="1" kern="1200" dirty="0">
                <a:solidFill>
                  <a:schemeClr val="tx1"/>
                </a:solidFill>
                <a:effectLst/>
                <a:latin typeface="+mn-lt"/>
                <a:ea typeface="+mn-ea"/>
                <a:cs typeface="+mn-cs"/>
              </a:rPr>
              <a:t>Parameter Count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Small Language Models (SLMs):</a:t>
            </a:r>
            <a:r>
              <a:rPr lang="en-US" sz="1200" kern="1200" dirty="0">
                <a:solidFill>
                  <a:schemeClr val="tx1"/>
                </a:solidFill>
                <a:effectLst/>
                <a:latin typeface="+mn-lt"/>
                <a:ea typeface="+mn-ea"/>
                <a:cs typeface="+mn-cs"/>
              </a:rPr>
              <a:t> Parameter counts in the </a:t>
            </a:r>
            <a:r>
              <a:rPr lang="en-US" sz="1200" i="1" kern="1200" dirty="0">
                <a:solidFill>
                  <a:schemeClr val="tx1"/>
                </a:solidFill>
                <a:effectLst/>
                <a:latin typeface="+mn-lt"/>
                <a:ea typeface="+mn-ea"/>
                <a:cs typeface="+mn-cs"/>
              </a:rPr>
              <a:t>millions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Large Language Models (LLMs):</a:t>
            </a:r>
            <a:r>
              <a:rPr lang="en-US" sz="1200" kern="1200" dirty="0">
                <a:solidFill>
                  <a:schemeClr val="tx1"/>
                </a:solidFill>
                <a:effectLst/>
                <a:latin typeface="+mn-lt"/>
                <a:ea typeface="+mn-ea"/>
                <a:cs typeface="+mn-cs"/>
              </a:rPr>
              <a:t> Parameter counts in the </a:t>
            </a:r>
            <a:r>
              <a:rPr lang="en-US" sz="1200" i="1" kern="1200" dirty="0">
                <a:solidFill>
                  <a:schemeClr val="tx1"/>
                </a:solidFill>
                <a:effectLst/>
                <a:latin typeface="+mn-lt"/>
                <a:ea typeface="+mn-ea"/>
                <a:cs typeface="+mn-cs"/>
              </a:rPr>
              <a:t>tens or hundreds of billions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Parameters are the internal weights and biases in deep neural networks that hold the trained knowledge. Higher parameter density allows the model to grasp subtle context, perform complex reasoning, and connect disparate data signals across enterprise domains.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7</a:t>
            </a:fld>
            <a:endParaRPr lang="en-US"/>
          </a:p>
        </p:txBody>
      </p:sp>
    </p:spTree>
    <p:extLst>
      <p:ext uri="{BB962C8B-B14F-4D97-AF65-F5344CB8AC3E}">
        <p14:creationId xmlns:p14="http://schemas.microsoft.com/office/powerpoint/2010/main" val="1787972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can’t enterprises simply use public AI models off the shelf for business decisions? Public models are trained on open-world data—they guess based on general public knowledge and frequently hallucinate. Furthermore, uploading proprietary enterprise data to public models risks severe privacy breaches. </a:t>
            </a:r>
          </a:p>
          <a:p>
            <a:r>
              <a:rPr lang="en-US" sz="1200" kern="1200" dirty="0">
                <a:solidFill>
                  <a:schemeClr val="tx1"/>
                </a:solidFill>
                <a:effectLst/>
                <a:latin typeface="+mn-lt"/>
                <a:ea typeface="+mn-ea"/>
                <a:cs typeface="+mn-cs"/>
              </a:rPr>
              <a:t>The solution is </a:t>
            </a:r>
            <a:r>
              <a:rPr lang="en-US" sz="1200" b="1" kern="1200" dirty="0">
                <a:solidFill>
                  <a:schemeClr val="tx1"/>
                </a:solidFill>
                <a:effectLst/>
                <a:latin typeface="+mn-lt"/>
                <a:ea typeface="+mn-ea"/>
                <a:cs typeface="+mn-cs"/>
              </a:rPr>
              <a:t>Retrieval-Augmented Generation (RAG)</a:t>
            </a:r>
            <a:r>
              <a:rPr lang="en-US" sz="1200" kern="1200" dirty="0">
                <a:solidFill>
                  <a:schemeClr val="tx1"/>
                </a:solidFill>
                <a:effectLst/>
                <a:latin typeface="+mn-lt"/>
                <a:ea typeface="+mn-ea"/>
                <a:cs typeface="+mn-cs"/>
              </a:rPr>
              <a:t>. Imagine handing an AI assistant your company’s internal policy document or database extract and instructing it: </a:t>
            </a:r>
            <a:r>
              <a:rPr lang="en-US" sz="1200" i="1" kern="1200" dirty="0">
                <a:solidFill>
                  <a:schemeClr val="tx1"/>
                </a:solidFill>
                <a:effectLst/>
                <a:latin typeface="+mn-lt"/>
                <a:ea typeface="+mn-ea"/>
                <a:cs typeface="+mn-cs"/>
              </a:rPr>
              <a:t>'Read this rulebook and answer my questions using ONLY this information. Do not add outside assumptions.'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RAG gives us three vital capabilities: </a:t>
            </a:r>
          </a:p>
          <a:p>
            <a:pPr marL="228600" lvl="0" indent="-228600">
              <a:buFont typeface="+mj-lt"/>
              <a:buAutoNum type="arabicPeriod"/>
            </a:pPr>
            <a:r>
              <a:rPr lang="en-US" sz="1200" b="1" kern="1200" dirty="0">
                <a:solidFill>
                  <a:schemeClr val="tx1"/>
                </a:solidFill>
                <a:effectLst/>
                <a:latin typeface="+mn-lt"/>
                <a:ea typeface="+mn-ea"/>
                <a:cs typeface="+mn-cs"/>
              </a:rPr>
              <a:t>Eliminates Hallucinations:</a:t>
            </a:r>
            <a:r>
              <a:rPr lang="en-US" sz="1200" kern="1200" dirty="0">
                <a:solidFill>
                  <a:schemeClr val="tx1"/>
                </a:solidFill>
                <a:effectLst/>
                <a:latin typeface="+mn-lt"/>
                <a:ea typeface="+mn-ea"/>
                <a:cs typeface="+mn-cs"/>
              </a:rPr>
              <a:t> Answers are grounded strictly in your verified data. </a:t>
            </a:r>
          </a:p>
          <a:p>
            <a:pPr marL="228600" lvl="0" indent="-228600">
              <a:buFont typeface="+mj-lt"/>
              <a:buAutoNum type="arabicPeriod"/>
            </a:pPr>
            <a:r>
              <a:rPr lang="en-US" sz="1200" b="1" kern="1200" dirty="0">
                <a:solidFill>
                  <a:schemeClr val="tx1"/>
                </a:solidFill>
                <a:effectLst/>
                <a:latin typeface="+mn-lt"/>
                <a:ea typeface="+mn-ea"/>
                <a:cs typeface="+mn-cs"/>
              </a:rPr>
              <a:t>Secures Data Privacy:</a:t>
            </a:r>
            <a:r>
              <a:rPr lang="en-US" sz="1200" kern="1200" dirty="0">
                <a:solidFill>
                  <a:schemeClr val="tx1"/>
                </a:solidFill>
                <a:effectLst/>
                <a:latin typeface="+mn-lt"/>
                <a:ea typeface="+mn-ea"/>
                <a:cs typeface="+mn-cs"/>
              </a:rPr>
              <a:t> Your proprietary data remains within your private enterprise perimeter. </a:t>
            </a:r>
          </a:p>
          <a:p>
            <a:pPr marL="228600" lvl="0" indent="-228600">
              <a:buFont typeface="+mj-lt"/>
              <a:buAutoNum type="arabicPeriod"/>
            </a:pPr>
            <a:r>
              <a:rPr lang="en-US" sz="1200" b="1" kern="1200" dirty="0">
                <a:solidFill>
                  <a:schemeClr val="tx1"/>
                </a:solidFill>
                <a:effectLst/>
                <a:latin typeface="+mn-lt"/>
                <a:ea typeface="+mn-ea"/>
                <a:cs typeface="+mn-cs"/>
              </a:rPr>
              <a:t>Enforces Strict Business Logic:</a:t>
            </a:r>
            <a:r>
              <a:rPr lang="en-US" sz="1200" kern="1200" dirty="0">
                <a:solidFill>
                  <a:schemeClr val="tx1"/>
                </a:solidFill>
                <a:effectLst/>
                <a:latin typeface="+mn-lt"/>
                <a:ea typeface="+mn-ea"/>
                <a:cs typeface="+mn-cs"/>
              </a:rPr>
              <a:t> Ensures responses follow exact compliance and operational guidelines.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8</a:t>
            </a:fld>
            <a:endParaRPr lang="en-US"/>
          </a:p>
        </p:txBody>
      </p:sp>
    </p:spTree>
    <p:extLst>
      <p:ext uri="{BB962C8B-B14F-4D97-AF65-F5344CB8AC3E}">
        <p14:creationId xmlns:p14="http://schemas.microsoft.com/office/powerpoint/2010/main" val="2530154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examine how user interaction with analytics evolves across four distinct maturity steps: </a:t>
            </a:r>
          </a:p>
          <a:p>
            <a:pPr marL="228600" lvl="0" indent="-228600">
              <a:buFont typeface="+mj-lt"/>
              <a:buAutoNum type="arabicPeriod"/>
            </a:pPr>
            <a:r>
              <a:rPr lang="en-US" sz="1200" b="1" kern="1200" dirty="0">
                <a:solidFill>
                  <a:schemeClr val="tx1"/>
                </a:solidFill>
                <a:effectLst/>
                <a:latin typeface="+mn-lt"/>
                <a:ea typeface="+mn-ea"/>
                <a:cs typeface="+mn-cs"/>
              </a:rPr>
              <a:t>Dashboard (Observe):</a:t>
            </a:r>
            <a:r>
              <a:rPr lang="en-US" sz="1200" kern="1200" dirty="0">
                <a:solidFill>
                  <a:schemeClr val="tx1"/>
                </a:solidFill>
                <a:effectLst/>
                <a:latin typeface="+mn-lt"/>
                <a:ea typeface="+mn-ea"/>
                <a:cs typeface="+mn-cs"/>
              </a:rPr>
              <a:t> Visualizes the problem on screen. </a:t>
            </a:r>
          </a:p>
          <a:p>
            <a:pPr marL="228600" lvl="0" indent="-228600">
              <a:buFont typeface="+mj-lt"/>
              <a:buAutoNum type="arabicPeriod"/>
            </a:pPr>
            <a:r>
              <a:rPr lang="en-US" sz="1200" b="1" kern="1200" dirty="0">
                <a:solidFill>
                  <a:schemeClr val="tx1"/>
                </a:solidFill>
                <a:effectLst/>
                <a:latin typeface="+mn-lt"/>
                <a:ea typeface="+mn-ea"/>
                <a:cs typeface="+mn-cs"/>
              </a:rPr>
              <a:t>Co-pilot (Explain):</a:t>
            </a:r>
            <a:r>
              <a:rPr lang="en-US" sz="1200" kern="1200" dirty="0">
                <a:solidFill>
                  <a:schemeClr val="tx1"/>
                </a:solidFill>
                <a:effectLst/>
                <a:latin typeface="+mn-lt"/>
                <a:ea typeface="+mn-ea"/>
                <a:cs typeface="+mn-cs"/>
              </a:rPr>
              <a:t> Uses natural language processing so you can ask, </a:t>
            </a:r>
            <a:r>
              <a:rPr lang="en-US" sz="1200" i="1" kern="1200" dirty="0">
                <a:solidFill>
                  <a:schemeClr val="tx1"/>
                </a:solidFill>
                <a:effectLst/>
                <a:latin typeface="+mn-lt"/>
                <a:ea typeface="+mn-ea"/>
                <a:cs typeface="+mn-cs"/>
              </a:rPr>
              <a:t>'Why did quarterly profitability decline?'</a:t>
            </a:r>
            <a:r>
              <a:rPr lang="en-US" sz="1200" kern="1200" dirty="0">
                <a:solidFill>
                  <a:schemeClr val="tx1"/>
                </a:solidFill>
                <a:effectLst/>
                <a:latin typeface="+mn-lt"/>
                <a:ea typeface="+mn-ea"/>
                <a:cs typeface="+mn-cs"/>
              </a:rPr>
              <a:t> and receive an instant explanation. </a:t>
            </a:r>
          </a:p>
          <a:p>
            <a:pPr marL="228600" lvl="0" indent="-228600">
              <a:buFont typeface="+mj-lt"/>
              <a:buAutoNum type="arabicPeriod"/>
            </a:pPr>
            <a:r>
              <a:rPr lang="en-US" sz="1200" b="1" kern="1200" dirty="0">
                <a:solidFill>
                  <a:schemeClr val="tx1"/>
                </a:solidFill>
                <a:effectLst/>
                <a:latin typeface="+mn-lt"/>
                <a:ea typeface="+mn-ea"/>
                <a:cs typeface="+mn-cs"/>
              </a:rPr>
              <a:t>Chatbot/Advisor (Recommend):</a:t>
            </a:r>
            <a:r>
              <a:rPr lang="en-US" sz="1200" kern="1200" dirty="0">
                <a:solidFill>
                  <a:schemeClr val="tx1"/>
                </a:solidFill>
                <a:effectLst/>
                <a:latin typeface="+mn-lt"/>
                <a:ea typeface="+mn-ea"/>
                <a:cs typeface="+mn-cs"/>
              </a:rPr>
              <a:t> Recommends targeted business interventions based on historical patterns. </a:t>
            </a:r>
          </a:p>
          <a:p>
            <a:pPr marL="228600" lvl="0" indent="-228600">
              <a:buFont typeface="+mj-lt"/>
              <a:buAutoNum type="arabicPeriod"/>
            </a:pPr>
            <a:r>
              <a:rPr lang="en-US" sz="1200" b="1" kern="1200" dirty="0">
                <a:solidFill>
                  <a:schemeClr val="tx1"/>
                </a:solidFill>
                <a:effectLst/>
                <a:latin typeface="+mn-lt"/>
                <a:ea typeface="+mn-ea"/>
                <a:cs typeface="+mn-cs"/>
              </a:rPr>
              <a:t>Agent (Execute):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Agentic AI</a:t>
            </a:r>
            <a:r>
              <a:rPr lang="en-US" sz="1200" kern="1200" dirty="0">
                <a:solidFill>
                  <a:schemeClr val="tx1"/>
                </a:solidFill>
                <a:effectLst/>
                <a:latin typeface="+mn-lt"/>
                <a:ea typeface="+mn-ea"/>
                <a:cs typeface="+mn-cs"/>
              </a:rPr>
              <a:t> goes beyond talking. Connected directly to operational tools, agents execute actions autonomously—booking calendars, dispatching purchase orders, rebalancing asset portfolios, or triggering customer communications based on predefined triggers. </a:t>
            </a:r>
          </a:p>
          <a:p>
            <a:r>
              <a:rPr lang="en-US" sz="1200" kern="1200" dirty="0">
                <a:solidFill>
                  <a:schemeClr val="tx1"/>
                </a:solidFill>
                <a:effectLst/>
                <a:latin typeface="+mn-lt"/>
                <a:ea typeface="+mn-ea"/>
                <a:cs typeface="+mn-cs"/>
              </a:rPr>
              <a:t>We move from sitting back and watching data to delegating routine execution directly to intelligent systems.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9</a:t>
            </a:fld>
            <a:endParaRPr lang="en-US"/>
          </a:p>
        </p:txBody>
      </p:sp>
    </p:spTree>
    <p:extLst>
      <p:ext uri="{BB962C8B-B14F-4D97-AF65-F5344CB8AC3E}">
        <p14:creationId xmlns:p14="http://schemas.microsoft.com/office/powerpoint/2010/main" val="779811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Managing multiple autonomous AI agents requires a discipline called </a:t>
            </a:r>
            <a:r>
              <a:rPr lang="en-US" sz="1200" b="1" kern="1200" dirty="0">
                <a:solidFill>
                  <a:schemeClr val="tx1"/>
                </a:solidFill>
                <a:effectLst/>
                <a:latin typeface="+mn-lt"/>
                <a:ea typeface="+mn-ea"/>
                <a:cs typeface="+mn-cs"/>
              </a:rPr>
              <a:t>Harness Engineering</a:t>
            </a:r>
            <a:r>
              <a:rPr lang="en-US" sz="1200" kern="1200" dirty="0">
                <a:solidFill>
                  <a:schemeClr val="tx1"/>
                </a:solidFill>
                <a:effectLst/>
                <a:latin typeface="+mn-lt"/>
                <a:ea typeface="+mn-ea"/>
                <a:cs typeface="+mn-cs"/>
              </a:rPr>
              <a:t>. This is the practice of structuring, prompting, and orchestrating Agentic AI workflows. </a:t>
            </a:r>
          </a:p>
          <a:p>
            <a:r>
              <a:rPr lang="en-US" sz="1200" kern="1200" dirty="0">
                <a:solidFill>
                  <a:schemeClr val="tx1"/>
                </a:solidFill>
                <a:effectLst/>
                <a:latin typeface="+mn-lt"/>
                <a:ea typeface="+mn-ea"/>
                <a:cs typeface="+mn-cs"/>
              </a:rPr>
              <a:t>At the center of this ecosystem sits the </a:t>
            </a:r>
            <a:r>
              <a:rPr lang="en-US" sz="1200" b="1" kern="1200" dirty="0">
                <a:solidFill>
                  <a:schemeClr val="tx1"/>
                </a:solidFill>
                <a:effectLst/>
                <a:latin typeface="+mn-lt"/>
                <a:ea typeface="+mn-ea"/>
                <a:cs typeface="+mn-cs"/>
              </a:rPr>
              <a:t>Forward Deployed Engineer (FDE)</a:t>
            </a:r>
            <a:r>
              <a:rPr lang="en-US" sz="1200" kern="1200" dirty="0">
                <a:solidFill>
                  <a:schemeClr val="tx1"/>
                </a:solidFill>
                <a:effectLst/>
                <a:latin typeface="+mn-lt"/>
                <a:ea typeface="+mn-ea"/>
                <a:cs typeface="+mn-cs"/>
              </a:rPr>
              <a:t>—a high-level practitioner who bridges raw data pipelines with business strategy, directing agents to perform complex multi-step tasks. </a:t>
            </a:r>
          </a:p>
          <a:p>
            <a:r>
              <a:rPr lang="en-US" sz="1200" kern="1200" dirty="0">
                <a:solidFill>
                  <a:schemeClr val="tx1"/>
                </a:solidFill>
                <a:effectLst/>
                <a:latin typeface="+mn-lt"/>
                <a:ea typeface="+mn-ea"/>
                <a:cs typeface="+mn-cs"/>
              </a:rPr>
              <a:t>To direct AI effectively without chaos, we utilize the </a:t>
            </a:r>
            <a:r>
              <a:rPr lang="en-US" sz="1200" b="1" kern="1200" dirty="0">
                <a:solidFill>
                  <a:schemeClr val="tx1"/>
                </a:solidFill>
                <a:effectLst/>
                <a:latin typeface="+mn-lt"/>
                <a:ea typeface="+mn-ea"/>
                <a:cs typeface="+mn-cs"/>
              </a:rPr>
              <a:t>Pentagon Framework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Persona &amp; Role:</a:t>
            </a:r>
            <a:r>
              <a:rPr lang="en-US" sz="1200" kern="1200" dirty="0">
                <a:solidFill>
                  <a:schemeClr val="tx1"/>
                </a:solidFill>
                <a:effectLst/>
                <a:latin typeface="+mn-lt"/>
                <a:ea typeface="+mn-ea"/>
                <a:cs typeface="+mn-cs"/>
              </a:rPr>
              <a:t> Define who the AI acts as (e.g., 'Senior Inventory Risk Analyst').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Environment:</a:t>
            </a:r>
            <a:r>
              <a:rPr lang="en-US" sz="1200" kern="1200" dirty="0">
                <a:solidFill>
                  <a:schemeClr val="tx1"/>
                </a:solidFill>
                <a:effectLst/>
                <a:latin typeface="+mn-lt"/>
                <a:ea typeface="+mn-ea"/>
                <a:cs typeface="+mn-cs"/>
              </a:rPr>
              <a:t> Provide full operational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Specify the exact desired output.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Constraints:</a:t>
            </a:r>
            <a:r>
              <a:rPr lang="en-US" sz="1200" kern="1200" dirty="0">
                <a:solidFill>
                  <a:schemeClr val="tx1"/>
                </a:solidFill>
                <a:effectLst/>
                <a:latin typeface="+mn-lt"/>
                <a:ea typeface="+mn-ea"/>
                <a:cs typeface="+mn-cs"/>
              </a:rPr>
              <a:t> Set rigid boundary rules so the agent stays within budget and compliance parameters.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10</a:t>
            </a:fld>
            <a:endParaRPr lang="en-US"/>
          </a:p>
        </p:txBody>
      </p:sp>
    </p:spTree>
    <p:extLst>
      <p:ext uri="{BB962C8B-B14F-4D97-AF65-F5344CB8AC3E}">
        <p14:creationId xmlns:p14="http://schemas.microsoft.com/office/powerpoint/2010/main" val="4039094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are constraints and guardrails so crucial when deploying AI agents? Let’s look at a practical example: </a:t>
            </a:r>
          </a:p>
          <a:p>
            <a:r>
              <a:rPr lang="en-US" sz="1200" kern="1200" dirty="0">
                <a:solidFill>
                  <a:schemeClr val="tx1"/>
                </a:solidFill>
                <a:effectLst/>
                <a:latin typeface="+mn-lt"/>
                <a:ea typeface="+mn-ea"/>
                <a:cs typeface="+mn-cs"/>
              </a:rPr>
              <a:t>Suppose you give a financial agent a casual command: </a:t>
            </a:r>
            <a:r>
              <a:rPr lang="en-US" sz="1200" i="1" kern="1200" dirty="0">
                <a:solidFill>
                  <a:schemeClr val="tx1"/>
                </a:solidFill>
                <a:effectLst/>
                <a:latin typeface="+mn-lt"/>
                <a:ea typeface="+mn-ea"/>
                <a:cs typeface="+mn-cs"/>
              </a:rPr>
              <a:t>'Buy a few SBI Contra Fund units when the unit price drops below ₹412.'</a:t>
            </a:r>
            <a:r>
              <a:rPr lang="en-US" sz="1200" kern="1200" dirty="0">
                <a:solidFill>
                  <a:schemeClr val="tx1"/>
                </a:solidFill>
                <a:effectLst/>
                <a:latin typeface="+mn-lt"/>
                <a:ea typeface="+mn-ea"/>
                <a:cs typeface="+mn-cs"/>
              </a:rPr>
              <a:t> To a human, 'a few' implies a modest purchase. But to an unconstrained LLM, 'a few' has no strict mathematical limit. Seeing ₹1.5 Lakh in available cash, the agent spends the entire account balance in one transaction! </a:t>
            </a:r>
          </a:p>
          <a:p>
            <a:r>
              <a:rPr lang="en-US" sz="1200" kern="1200" dirty="0">
                <a:solidFill>
                  <a:schemeClr val="tx1"/>
                </a:solidFill>
                <a:effectLst/>
                <a:latin typeface="+mn-lt"/>
                <a:ea typeface="+mn-ea"/>
                <a:cs typeface="+mn-cs"/>
              </a:rPr>
              <a:t>When confronted, the machine logically responds: </a:t>
            </a:r>
            <a:r>
              <a:rPr lang="en-US" sz="1200" i="1" kern="1200" dirty="0">
                <a:solidFill>
                  <a:schemeClr val="tx1"/>
                </a:solidFill>
                <a:effectLst/>
                <a:latin typeface="+mn-lt"/>
                <a:ea typeface="+mn-ea"/>
                <a:cs typeface="+mn-cs"/>
              </a:rPr>
              <a:t>'You said buy a few; ₹1.5 Lakh only purchased a few units.'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highlights the necessity of strict guardrails: clear numerical limits, rigid threshold rules, and mandatory human approval gates for high-stakes financial or operational actions.</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11</a:t>
            </a:fld>
            <a:endParaRPr lang="en-US"/>
          </a:p>
        </p:txBody>
      </p:sp>
    </p:spTree>
    <p:extLst>
      <p:ext uri="{BB962C8B-B14F-4D97-AF65-F5344CB8AC3E}">
        <p14:creationId xmlns:p14="http://schemas.microsoft.com/office/powerpoint/2010/main" val="3511523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a successful AI-driven enterprise, we must establish a clear division of labor between machines and human professionals: </a:t>
            </a:r>
          </a:p>
          <a:p>
            <a:r>
              <a:rPr lang="en-US" sz="1200" b="1" kern="1200" dirty="0">
                <a:solidFill>
                  <a:schemeClr val="tx1"/>
                </a:solidFill>
                <a:effectLst/>
                <a:latin typeface="+mn-lt"/>
                <a:ea typeface="+mn-ea"/>
                <a:cs typeface="+mn-cs"/>
              </a:rPr>
              <a:t>AI Excels At: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Processing massive unstructured datasets instantly.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Spotting faint statistical patterns across millions of data signals.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Continuous 24/7 monitoring and high-speed execution of repetitive tasks. </a:t>
            </a:r>
          </a:p>
          <a:p>
            <a:r>
              <a:rPr lang="en-US" sz="1200" b="1" kern="1200" dirty="0">
                <a:solidFill>
                  <a:schemeClr val="tx1"/>
                </a:solidFill>
                <a:effectLst/>
                <a:latin typeface="+mn-lt"/>
                <a:ea typeface="+mn-ea"/>
                <a:cs typeface="+mn-cs"/>
              </a:rPr>
              <a:t>Humans Excel At: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Applying ethical values and moral judgment.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Understanding complex real-world context and market nuances.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Setting organizational risk tolerance and taking ultimate accountability. </a:t>
            </a:r>
          </a:p>
          <a:p>
            <a:r>
              <a:rPr lang="en-US" sz="1200" kern="1200" dirty="0">
                <a:solidFill>
                  <a:schemeClr val="tx1"/>
                </a:solidFill>
                <a:effectLst/>
                <a:latin typeface="+mn-lt"/>
                <a:ea typeface="+mn-ea"/>
                <a:cs typeface="+mn-cs"/>
              </a:rPr>
              <a:t>As the core philosophy states: </a:t>
            </a:r>
            <a:r>
              <a:rPr lang="en-US" sz="1200" b="1" kern="1200" dirty="0">
                <a:solidFill>
                  <a:schemeClr val="tx1"/>
                </a:solidFill>
                <a:effectLst/>
                <a:latin typeface="+mn-lt"/>
                <a:ea typeface="+mn-ea"/>
                <a:cs typeface="+mn-cs"/>
              </a:rPr>
              <a:t>Humans are born for rational thinking; machines are built for repetitive work. Do not reverse these roles.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12</a:t>
            </a:fld>
            <a:endParaRPr lang="en-US"/>
          </a:p>
        </p:txBody>
      </p:sp>
    </p:spTree>
    <p:extLst>
      <p:ext uri="{BB962C8B-B14F-4D97-AF65-F5344CB8AC3E}">
        <p14:creationId xmlns:p14="http://schemas.microsoft.com/office/powerpoint/2010/main" val="1128602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ideal operational workflow for AI-driven decision intelligence: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(System Observe):</a:t>
            </a:r>
            <a:r>
              <a:rPr lang="en-US" sz="1200" kern="1200" dirty="0">
                <a:solidFill>
                  <a:schemeClr val="tx1"/>
                </a:solidFill>
                <a:effectLst/>
                <a:latin typeface="+mn-lt"/>
                <a:ea typeface="+mn-ea"/>
                <a:cs typeface="+mn-cs"/>
              </a:rPr>
              <a:t> Enterprise systems continuously ingest operational data, detecting anomalies like declining store revenue combined with rising warehouse inventory.</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(AI Reasoning):</a:t>
            </a:r>
            <a:r>
              <a:rPr lang="en-US" sz="1200" kern="1200" dirty="0">
                <a:solidFill>
                  <a:schemeClr val="tx1"/>
                </a:solidFill>
                <a:effectLst/>
                <a:latin typeface="+mn-lt"/>
                <a:ea typeface="+mn-ea"/>
                <a:cs typeface="+mn-cs"/>
              </a:rPr>
              <a:t> AI models analyze root causes across multi-store regions and generate optimized re-allocation recommendations.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3 (Human-in-the-Loop):</a:t>
            </a:r>
            <a:r>
              <a:rPr lang="en-US" sz="1200" kern="1200" dirty="0">
                <a:solidFill>
                  <a:schemeClr val="tx1"/>
                </a:solidFill>
                <a:effectLst/>
                <a:latin typeface="+mn-lt"/>
                <a:ea typeface="+mn-ea"/>
                <a:cs typeface="+mn-cs"/>
              </a:rPr>
              <a:t> A regional manager reviews the context, applies qualitative business wisdom, and clicks </a:t>
            </a:r>
            <a:r>
              <a:rPr lang="en-US" sz="1200" i="1" kern="1200" dirty="0">
                <a:solidFill>
                  <a:schemeClr val="tx1"/>
                </a:solidFill>
                <a:effectLst/>
                <a:latin typeface="+mn-lt"/>
                <a:ea typeface="+mn-ea"/>
                <a:cs typeface="+mn-cs"/>
              </a:rPr>
              <a:t>Approve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4 (Agent Execution):</a:t>
            </a:r>
            <a:r>
              <a:rPr lang="en-US" sz="1200" kern="1200" dirty="0">
                <a:solidFill>
                  <a:schemeClr val="tx1"/>
                </a:solidFill>
                <a:effectLst/>
                <a:latin typeface="+mn-lt"/>
                <a:ea typeface="+mn-ea"/>
                <a:cs typeface="+mn-cs"/>
              </a:rPr>
              <a:t> Upon approval, Agentic AI triggers ERP workflows to update inventory and notify logistics automatically. </a:t>
            </a:r>
          </a:p>
          <a:p>
            <a:r>
              <a:rPr lang="en-US" sz="1200" kern="1200" dirty="0">
                <a:solidFill>
                  <a:schemeClr val="tx1"/>
                </a:solidFill>
                <a:effectLst/>
                <a:latin typeface="+mn-lt"/>
                <a:ea typeface="+mn-ea"/>
                <a:cs typeface="+mn-cs"/>
              </a:rPr>
              <a:t>This design achieves maximum automation speed while keeping human governance firmly in control.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13</a:t>
            </a:fld>
            <a:endParaRPr lang="en-US"/>
          </a:p>
        </p:txBody>
      </p:sp>
    </p:spTree>
    <p:extLst>
      <p:ext uri="{BB962C8B-B14F-4D97-AF65-F5344CB8AC3E}">
        <p14:creationId xmlns:p14="http://schemas.microsoft.com/office/powerpoint/2010/main" val="1749071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 modernize your analytics strategy, anchor your implementation on these </a:t>
            </a:r>
            <a:r>
              <a:rPr lang="en-US" sz="1200" b="1" kern="1200" dirty="0">
                <a:solidFill>
                  <a:schemeClr val="tx1"/>
                </a:solidFill>
                <a:effectLst/>
                <a:latin typeface="+mn-lt"/>
                <a:ea typeface="+mn-ea"/>
                <a:cs typeface="+mn-cs"/>
              </a:rPr>
              <a:t>Four Pillars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Focus on the Journey:</a:t>
            </a:r>
            <a:r>
              <a:rPr lang="en-US" sz="1200" kern="1200" dirty="0">
                <a:solidFill>
                  <a:schemeClr val="tx1"/>
                </a:solidFill>
                <a:effectLst/>
                <a:latin typeface="+mn-lt"/>
                <a:ea typeface="+mn-ea"/>
                <a:cs typeface="+mn-cs"/>
              </a:rPr>
              <a:t> Trace data end-to-end—from ingestion to operational decision and business revenue—rather than focusing solely on building static charts. </a:t>
            </a:r>
          </a:p>
          <a:p>
            <a:pPr marL="228600" lvl="0" indent="-228600">
              <a:buFont typeface="+mj-lt"/>
              <a:buAutoNum type="arabicPeriod"/>
            </a:pPr>
            <a:r>
              <a:rPr lang="en-US" sz="1200" b="1" kern="1200" dirty="0">
                <a:solidFill>
                  <a:schemeClr val="tx1"/>
                </a:solidFill>
                <a:effectLst/>
                <a:latin typeface="+mn-lt"/>
                <a:ea typeface="+mn-ea"/>
                <a:cs typeface="+mn-cs"/>
              </a:rPr>
              <a:t>Quality Over Quantity:</a:t>
            </a:r>
            <a:r>
              <a:rPr lang="en-US" sz="1200" kern="1200" dirty="0">
                <a:solidFill>
                  <a:schemeClr val="tx1"/>
                </a:solidFill>
                <a:effectLst/>
                <a:latin typeface="+mn-lt"/>
                <a:ea typeface="+mn-ea"/>
                <a:cs typeface="+mn-cs"/>
              </a:rPr>
              <a:t> More dashboards do not equal better decisions. Value actionable context over massive raw data volume. </a:t>
            </a:r>
          </a:p>
          <a:p>
            <a:pPr marL="228600" lvl="0" indent="-228600">
              <a:buFont typeface="+mj-lt"/>
              <a:buAutoNum type="arabicPeriod"/>
            </a:pPr>
            <a:r>
              <a:rPr lang="en-US" sz="1200" b="1" kern="1200" dirty="0">
                <a:solidFill>
                  <a:schemeClr val="tx1"/>
                </a:solidFill>
                <a:effectLst/>
                <a:latin typeface="+mn-lt"/>
                <a:ea typeface="+mn-ea"/>
                <a:cs typeface="+mn-cs"/>
              </a:rPr>
              <a:t>Embrace RAG &amp; Agents:</a:t>
            </a:r>
            <a:r>
              <a:rPr lang="en-US" sz="1200" kern="1200" dirty="0">
                <a:solidFill>
                  <a:schemeClr val="tx1"/>
                </a:solidFill>
                <a:effectLst/>
                <a:latin typeface="+mn-lt"/>
                <a:ea typeface="+mn-ea"/>
                <a:cs typeface="+mn-cs"/>
              </a:rPr>
              <a:t> Transition from reactive BI to proactive semantic intelligence using secure, bounded LLM architectures. </a:t>
            </a:r>
          </a:p>
          <a:p>
            <a:pPr marL="228600" lvl="0" indent="-228600">
              <a:buFont typeface="+mj-lt"/>
              <a:buAutoNum type="arabicPeriod"/>
            </a:pPr>
            <a:r>
              <a:rPr lang="en-US" sz="1200" b="1" kern="1200" dirty="0">
                <a:solidFill>
                  <a:schemeClr val="tx1"/>
                </a:solidFill>
                <a:effectLst/>
                <a:latin typeface="+mn-lt"/>
                <a:ea typeface="+mn-ea"/>
                <a:cs typeface="+mn-cs"/>
              </a:rPr>
              <a:t>Retain Accountability:</a:t>
            </a:r>
            <a:r>
              <a:rPr lang="en-US" sz="1200" kern="1200" dirty="0">
                <a:solidFill>
                  <a:schemeClr val="tx1"/>
                </a:solidFill>
                <a:effectLst/>
                <a:latin typeface="+mn-lt"/>
                <a:ea typeface="+mn-ea"/>
                <a:cs typeface="+mn-cs"/>
              </a:rPr>
              <a:t> AI surfaces signals and recommends options, but humans retain ownership of the choice. </a:t>
            </a:r>
            <a:r>
              <a:rPr lang="en-US" sz="1200" b="1" kern="1200" dirty="0">
                <a:solidFill>
                  <a:schemeClr val="tx1"/>
                </a:solidFill>
                <a:effectLst/>
                <a:latin typeface="+mn-lt"/>
                <a:ea typeface="+mn-ea"/>
                <a:cs typeface="+mn-cs"/>
              </a:rPr>
              <a:t>AI surfaces the signals; you own the decision.</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14</a:t>
            </a:fld>
            <a:endParaRPr lang="en-US"/>
          </a:p>
        </p:txBody>
      </p:sp>
    </p:spTree>
    <p:extLst>
      <p:ext uri="{BB962C8B-B14F-4D97-AF65-F5344CB8AC3E}">
        <p14:creationId xmlns:p14="http://schemas.microsoft.com/office/powerpoint/2010/main" val="278415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diagram maps the full journey of analytics maturity. Notice how the curve rises from basic historical reporting toward autonomous execution. </a:t>
            </a:r>
          </a:p>
          <a:p>
            <a:r>
              <a:rPr lang="en-US" sz="1200" kern="1200" dirty="0">
                <a:solidFill>
                  <a:schemeClr val="tx1"/>
                </a:solidFill>
                <a:effectLst/>
                <a:latin typeface="+mn-lt"/>
                <a:ea typeface="+mn-ea"/>
                <a:cs typeface="+mn-cs"/>
              </a:rPr>
              <a:t>As systems advance from prescriptive suggestions to agentic actions, the necessity for robust human-in-the-loop governance increases proportionally. Machine processing handles high-volume signal detection, while human leaders supply the ethical judgment, strategy, and authorization required to safeguard business value. </a:t>
            </a:r>
          </a:p>
          <a:p>
            <a:endParaRPr lang="en-US" dirty="0"/>
          </a:p>
        </p:txBody>
      </p:sp>
      <p:sp>
        <p:nvSpPr>
          <p:cNvPr id="4" name="Slide Number Placeholder 3"/>
          <p:cNvSpPr>
            <a:spLocks noGrp="1"/>
          </p:cNvSpPr>
          <p:nvPr>
            <p:ph type="sldNum" sz="quarter" idx="5"/>
          </p:nvPr>
        </p:nvSpPr>
        <p:spPr/>
        <p:txBody>
          <a:bodyPr/>
          <a:lstStyle/>
          <a:p>
            <a:fld id="{36A51CAB-0D1C-4754-93A9-A6BB736597CE}" type="slidenum">
              <a:rPr lang="en-US" smtClean="0"/>
              <a:t>15</a:t>
            </a:fld>
            <a:endParaRPr lang="en-US"/>
          </a:p>
        </p:txBody>
      </p:sp>
    </p:spTree>
    <p:extLst>
      <p:ext uri="{BB962C8B-B14F-4D97-AF65-F5344CB8AC3E}">
        <p14:creationId xmlns:p14="http://schemas.microsoft.com/office/powerpoint/2010/main" val="3743274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a:t>
            </a:r>
            <a:r>
              <a:rPr lang="en-US" sz="1200" kern="1200" dirty="0">
                <a:solidFill>
                  <a:schemeClr val="tx1"/>
                </a:solidFill>
                <a:effectLst/>
                <a:latin typeface="+mn-lt"/>
                <a:ea typeface="+mn-ea"/>
                <a:cs typeface="+mn-cs"/>
              </a:rPr>
              <a:t>To bring everything together, let's contrast the old paradigm with the new: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Yesterday’s Reactive Dashboard:</a:t>
            </a:r>
            <a:r>
              <a:rPr lang="en-US" sz="1200" kern="1200" dirty="0">
                <a:solidFill>
                  <a:schemeClr val="tx1"/>
                </a:solidFill>
                <a:effectLst/>
                <a:latin typeface="+mn-lt"/>
                <a:ea typeface="+mn-ea"/>
                <a:cs typeface="+mn-cs"/>
              </a:rPr>
              <a:t> Relied on manual human queries, displayed raw static metrics, and forced users to ask 'Show me the data'.</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Tomorrow’s Proactive Intelligence:</a:t>
            </a:r>
            <a:r>
              <a:rPr lang="en-US" sz="1200" kern="1200" dirty="0">
                <a:solidFill>
                  <a:schemeClr val="tx1"/>
                </a:solidFill>
                <a:effectLst/>
                <a:latin typeface="+mn-lt"/>
                <a:ea typeface="+mn-ea"/>
                <a:cs typeface="+mn-cs"/>
              </a:rPr>
              <a:t> Powered by RAG and Agentic AI, it transforms enterprise data into contextual knowledge. It proactively guides leaders with 'Help me decide' recommendations. </a:t>
            </a:r>
          </a:p>
          <a:p>
            <a:r>
              <a:rPr lang="en-US" sz="1200" kern="1200" dirty="0">
                <a:solidFill>
                  <a:schemeClr val="tx1"/>
                </a:solidFill>
                <a:effectLst/>
                <a:latin typeface="+mn-lt"/>
                <a:ea typeface="+mn-ea"/>
                <a:cs typeface="+mn-cs"/>
              </a:rPr>
              <a:t>Data analytics is no longer just about building reports—it's about creating decision systems that enhance human judgment, eliminate operational friction, and drive immediate action. Thank you! </a:t>
            </a:r>
          </a:p>
          <a:p>
            <a:r>
              <a:rPr lang="en-US" dirty="0"/>
              <a:t>?v=7gZ3a3Uwv3Q</a:t>
            </a:r>
          </a:p>
        </p:txBody>
      </p:sp>
      <p:sp>
        <p:nvSpPr>
          <p:cNvPr id="4" name="Slide Number Placeholder 3"/>
          <p:cNvSpPr>
            <a:spLocks noGrp="1"/>
          </p:cNvSpPr>
          <p:nvPr>
            <p:ph type="sldNum" sz="quarter" idx="5"/>
          </p:nvPr>
        </p:nvSpPr>
        <p:spPr/>
        <p:txBody>
          <a:bodyPr/>
          <a:lstStyle/>
          <a:p>
            <a:fld id="{36A51CAB-0D1C-4754-93A9-A6BB736597CE}" type="slidenum">
              <a:rPr lang="en-US" smtClean="0"/>
              <a:t>16</a:t>
            </a:fld>
            <a:endParaRPr lang="en-US"/>
          </a:p>
        </p:txBody>
      </p:sp>
    </p:spTree>
    <p:extLst>
      <p:ext uri="{BB962C8B-B14F-4D97-AF65-F5344CB8AC3E}">
        <p14:creationId xmlns:p14="http://schemas.microsoft.com/office/powerpoint/2010/main" val="105333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1FCC5D-F73B-FE69-5379-B41478F4C51A}"/>
              </a:ext>
            </a:extLst>
          </p:cNvPr>
          <p:cNvSpPr>
            <a:spLocks noGrp="1"/>
          </p:cNvSpPr>
          <p:nvPr>
            <p:ph type="dt" sz="half" idx="10"/>
          </p:nvPr>
        </p:nvSpPr>
        <p:spPr/>
        <p:txBody>
          <a:bodyPr/>
          <a:lstStyle/>
          <a:p>
            <a:fld id="{0147450F-8B24-46C9-8731-8A63A1916AA2}" type="datetimeFigureOut">
              <a:rPr lang="en-US" smtClean="0"/>
              <a:t>10/20/2026</a:t>
            </a:fld>
            <a:endParaRPr lang="en-US"/>
          </a:p>
        </p:txBody>
      </p:sp>
      <p:sp>
        <p:nvSpPr>
          <p:cNvPr id="3" name="Footer Placeholder 2">
            <a:extLst>
              <a:ext uri="{FF2B5EF4-FFF2-40B4-BE49-F238E27FC236}">
                <a16:creationId xmlns:a16="http://schemas.microsoft.com/office/drawing/2014/main" id="{BC02187B-6565-425B-01B3-9A7411325C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245C19-9D7E-2523-5911-93334D63C302}"/>
              </a:ext>
            </a:extLst>
          </p:cNvPr>
          <p:cNvSpPr>
            <a:spLocks noGrp="1"/>
          </p:cNvSpPr>
          <p:nvPr>
            <p:ph type="sldNum" sz="quarter" idx="12"/>
          </p:nvPr>
        </p:nvSpPr>
        <p:spPr/>
        <p:txBody>
          <a:bodyPr/>
          <a:lstStyle/>
          <a:p>
            <a:fld id="{3ACDF9E1-1DAA-46CB-999D-96273CB68803}" type="slidenum">
              <a:rPr lang="en-US" smtClean="0"/>
              <a:t>‹#›</a:t>
            </a:fld>
            <a:endParaRPr lang="en-US"/>
          </a:p>
        </p:txBody>
      </p:sp>
    </p:spTree>
    <p:extLst>
      <p:ext uri="{BB962C8B-B14F-4D97-AF65-F5344CB8AC3E}">
        <p14:creationId xmlns:p14="http://schemas.microsoft.com/office/powerpoint/2010/main" val="420305818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DCC9EA-138B-8F07-D4F0-2CB9232B6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77990F-3B68-D63E-8F53-61F4593FA2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9832B9-DFB6-0CB2-07BB-A8A2AA6283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47450F-8B24-46C9-8731-8A63A1916AA2}" type="datetimeFigureOut">
              <a:rPr lang="en-US" smtClean="0"/>
              <a:t>10/20/2026</a:t>
            </a:fld>
            <a:endParaRPr lang="en-US"/>
          </a:p>
        </p:txBody>
      </p:sp>
      <p:sp>
        <p:nvSpPr>
          <p:cNvPr id="5" name="Footer Placeholder 4">
            <a:extLst>
              <a:ext uri="{FF2B5EF4-FFF2-40B4-BE49-F238E27FC236}">
                <a16:creationId xmlns:a16="http://schemas.microsoft.com/office/drawing/2014/main" id="{F598E30F-B87E-709F-03F1-36286F298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7A6173-B0A0-C00B-B927-7C49E4EB65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CDF9E1-1DAA-46CB-999D-96273CB68803}" type="slidenum">
              <a:rPr lang="en-US" smtClean="0"/>
              <a:t>‹#›</a:t>
            </a:fld>
            <a:endParaRPr lang="en-US"/>
          </a:p>
        </p:txBody>
      </p:sp>
    </p:spTree>
    <p:extLst>
      <p:ext uri="{BB962C8B-B14F-4D97-AF65-F5344CB8AC3E}">
        <p14:creationId xmlns:p14="http://schemas.microsoft.com/office/powerpoint/2010/main" val="97593008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BEAD90-DE06-95B5-91B9-C20EE22A45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F05DE5-0A7F-A49C-A196-4985ED3F84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45D452-EDF7-DAED-09FC-200D7C071A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95C85C-34A6-8112-448F-53A4EC5931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0D28D9-5853-3283-8A7A-753A6D40E5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48AFC5-9980-29BD-4AA5-EF2306526B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ABDE03-A09C-3780-392C-D1D9E691A2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F3FB8A-77FE-7C1D-7AF2-1EE58DFF07A4}"/>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BA4F14-9CAD-48C9-9B06-8A843B51FDFF}"/>
              </a:ext>
            </a:extLst>
          </p:cNvPr>
          <p:cNvPicPr>
            <a:picLocks noChangeAspect="1"/>
          </p:cNvPicPr>
          <p:nvPr/>
        </p:nvPicPr>
        <p:blipFill>
          <a:blip r:embed="rId3"/>
          <a:stretch>
            <a:fillRect/>
          </a:stretch>
        </p:blipFill>
        <p:spPr>
          <a:xfrm>
            <a:off x="54863" y="0"/>
            <a:ext cx="12082273"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C9EC12-0A24-4BA7-9D8A-6485666A3D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D19699-8B0B-86B2-8530-22FF6783E1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CCF2BE-D9F5-1709-EB7B-6A2E6AD9E1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264FFC-5016-5328-6132-6C621C029C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65803F-3AAB-6268-7E96-0CEA75B167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BD0E05-9D3D-F1BD-F986-539BFA94112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DD357B-85D7-2DDE-C484-48A9B5C82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223589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2156</Words>
  <Application>Microsoft Office PowerPoint</Application>
  <PresentationFormat>寬螢幕</PresentationFormat>
  <Paragraphs>103</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2026-09-18T16:14:13Z</dcterms:created>
  <dcterms:modified xsi:type="dcterms:W3CDTF">2026-10-20T13:27:51Z</dcterms:modified>
</cp:coreProperties>
</file>