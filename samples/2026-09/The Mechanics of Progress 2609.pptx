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C283A7-2D96-4A68-A6F8-D2B192575D49}" v="23" dt="2026-09-22T03:20:22.0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35" autoAdjust="0"/>
    <p:restoredTop sz="93447" autoAdjust="0"/>
  </p:normalViewPr>
  <p:slideViewPr>
    <p:cSldViewPr snapToGrid="0">
      <p:cViewPr varScale="1">
        <p:scale>
          <a:sx n="73" d="100"/>
          <a:sy n="73" d="100"/>
        </p:scale>
        <p:origin x="90"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9-22T03:21:42.729" v="74" actId="22"/>
      <pc:docMkLst>
        <pc:docMk/>
      </pc:docMkLst>
      <pc:sldChg chg="addSp delSp modSp mod modAnim modNotes modNotesTx">
        <pc:chgData name="Lai, Wilson" userId="2840974a-0d84-4886-90a9-9a3ed79f3a48" providerId="ADAL" clId="{9F23B798-9E84-4552-BA63-E776E805C424}" dt="2026-09-22T03:20:41.233" v="72" actId="166"/>
        <pc:sldMkLst>
          <pc:docMk/>
          <pc:sldMk cId="0" sldId="257"/>
        </pc:sldMkLst>
        <pc:spChg chg="add mod">
          <ac:chgData name="Lai, Wilson" userId="2840974a-0d84-4886-90a9-9a3ed79f3a48" providerId="ADAL" clId="{9F23B798-9E84-4552-BA63-E776E805C424}" dt="2026-09-22T02:43:41.444" v="8" actId="164"/>
          <ac:spMkLst>
            <pc:docMk/>
            <pc:sldMk cId="0" sldId="257"/>
            <ac:spMk id="5" creationId="{462AD98F-5F90-12DE-6BBA-7353EB506C2E}"/>
          </ac:spMkLst>
        </pc:spChg>
        <pc:grpChg chg="add mod">
          <ac:chgData name="Lai, Wilson" userId="2840974a-0d84-4886-90a9-9a3ed79f3a48" providerId="ADAL" clId="{9F23B798-9E84-4552-BA63-E776E805C424}" dt="2026-09-22T02:43:41.444" v="8" actId="164"/>
          <ac:grpSpMkLst>
            <pc:docMk/>
            <pc:sldMk cId="0" sldId="257"/>
            <ac:grpSpMk id="6" creationId="{64BD05F8-DB09-928D-2B7B-79797A08D79D}"/>
          </ac:grpSpMkLst>
        </pc:grpChg>
        <pc:picChg chg="del">
          <ac:chgData name="Lai, Wilson" userId="2840974a-0d84-4886-90a9-9a3ed79f3a48" providerId="ADAL" clId="{9F23B798-9E84-4552-BA63-E776E805C424}" dt="2026-09-22T03:02:02.818" v="9" actId="21"/>
          <ac:picMkLst>
            <pc:docMk/>
            <pc:sldMk cId="0" sldId="257"/>
            <ac:picMk id="2" creationId="{00000000-0000-0000-0000-000000000000}"/>
          </ac:picMkLst>
        </pc:picChg>
        <pc:picChg chg="add mod">
          <ac:chgData name="Lai, Wilson" userId="2840974a-0d84-4886-90a9-9a3ed79f3a48" providerId="ADAL" clId="{9F23B798-9E84-4552-BA63-E776E805C424}" dt="2026-09-22T02:43:41.444" v="8" actId="164"/>
          <ac:picMkLst>
            <pc:docMk/>
            <pc:sldMk cId="0" sldId="257"/>
            <ac:picMk id="3" creationId="{ABDC2651-4C84-5B45-261B-853F97AF84BB}"/>
          </ac:picMkLst>
        </pc:picChg>
        <pc:picChg chg="add ord">
          <ac:chgData name="Lai, Wilson" userId="2840974a-0d84-4886-90a9-9a3ed79f3a48" providerId="ADAL" clId="{9F23B798-9E84-4552-BA63-E776E805C424}" dt="2026-09-22T03:20:41.233" v="72" actId="166"/>
          <ac:picMkLst>
            <pc:docMk/>
            <pc:sldMk cId="0" sldId="257"/>
            <ac:picMk id="7" creationId="{19EBDB7A-7256-B0F6-8562-C78CE96BFEB1}"/>
          </ac:picMkLst>
        </pc:picChg>
      </pc:sldChg>
      <pc:sldChg chg="addSp delSp mod modNotes modNotesTx">
        <pc:chgData name="Lai, Wilson" userId="2840974a-0d84-4886-90a9-9a3ed79f3a48" providerId="ADAL" clId="{9F23B798-9E84-4552-BA63-E776E805C424}" dt="2026-09-22T03:20:22.096" v="70"/>
        <pc:sldMkLst>
          <pc:docMk/>
          <pc:sldMk cId="0" sldId="258"/>
        </pc:sldMkLst>
        <pc:picChg chg="del">
          <ac:chgData name="Lai, Wilson" userId="2840974a-0d84-4886-90a9-9a3ed79f3a48" providerId="ADAL" clId="{9F23B798-9E84-4552-BA63-E776E805C424}" dt="2026-09-22T03:04:07.612" v="12" actId="21"/>
          <ac:picMkLst>
            <pc:docMk/>
            <pc:sldMk cId="0" sldId="258"/>
            <ac:picMk id="2" creationId="{00000000-0000-0000-0000-000000000000}"/>
          </ac:picMkLst>
        </pc:picChg>
        <pc:picChg chg="add">
          <ac:chgData name="Lai, Wilson" userId="2840974a-0d84-4886-90a9-9a3ed79f3a48" providerId="ADAL" clId="{9F23B798-9E84-4552-BA63-E776E805C424}" dt="2026-09-22T03:04:16.092" v="13" actId="22"/>
          <ac:picMkLst>
            <pc:docMk/>
            <pc:sldMk cId="0" sldId="258"/>
            <ac:picMk id="4" creationId="{CCBB017D-99C9-F784-F220-1465814770E0}"/>
          </ac:picMkLst>
        </pc:picChg>
      </pc:sldChg>
      <pc:sldChg chg="addSp delSp mod modNotes modNotesTx">
        <pc:chgData name="Lai, Wilson" userId="2840974a-0d84-4886-90a9-9a3ed79f3a48" providerId="ADAL" clId="{9F23B798-9E84-4552-BA63-E776E805C424}" dt="2026-09-22T03:20:22.096" v="70"/>
        <pc:sldMkLst>
          <pc:docMk/>
          <pc:sldMk cId="0" sldId="259"/>
        </pc:sldMkLst>
        <pc:picChg chg="del">
          <ac:chgData name="Lai, Wilson" userId="2840974a-0d84-4886-90a9-9a3ed79f3a48" providerId="ADAL" clId="{9F23B798-9E84-4552-BA63-E776E805C424}" dt="2026-09-22T03:04:17.338" v="14" actId="21"/>
          <ac:picMkLst>
            <pc:docMk/>
            <pc:sldMk cId="0" sldId="259"/>
            <ac:picMk id="2" creationId="{00000000-0000-0000-0000-000000000000}"/>
          </ac:picMkLst>
        </pc:picChg>
        <pc:picChg chg="add">
          <ac:chgData name="Lai, Wilson" userId="2840974a-0d84-4886-90a9-9a3ed79f3a48" providerId="ADAL" clId="{9F23B798-9E84-4552-BA63-E776E805C424}" dt="2026-09-22T03:04:30.498" v="15" actId="22"/>
          <ac:picMkLst>
            <pc:docMk/>
            <pc:sldMk cId="0" sldId="259"/>
            <ac:picMk id="4" creationId="{14A8E40F-2035-082A-0A3D-03A9E12CBF4D}"/>
          </ac:picMkLst>
        </pc:picChg>
      </pc:sldChg>
      <pc:sldChg chg="addSp delSp mod modNotes">
        <pc:chgData name="Lai, Wilson" userId="2840974a-0d84-4886-90a9-9a3ed79f3a48" providerId="ADAL" clId="{9F23B798-9E84-4552-BA63-E776E805C424}" dt="2026-09-22T03:20:22.096" v="70"/>
        <pc:sldMkLst>
          <pc:docMk/>
          <pc:sldMk cId="0" sldId="260"/>
        </pc:sldMkLst>
        <pc:picChg chg="del">
          <ac:chgData name="Lai, Wilson" userId="2840974a-0d84-4886-90a9-9a3ed79f3a48" providerId="ADAL" clId="{9F23B798-9E84-4552-BA63-E776E805C424}" dt="2026-09-22T03:04:32.649" v="16" actId="21"/>
          <ac:picMkLst>
            <pc:docMk/>
            <pc:sldMk cId="0" sldId="260"/>
            <ac:picMk id="2" creationId="{00000000-0000-0000-0000-000000000000}"/>
          </ac:picMkLst>
        </pc:picChg>
        <pc:picChg chg="add">
          <ac:chgData name="Lai, Wilson" userId="2840974a-0d84-4886-90a9-9a3ed79f3a48" providerId="ADAL" clId="{9F23B798-9E84-4552-BA63-E776E805C424}" dt="2026-09-22T03:04:39.557" v="17" actId="22"/>
          <ac:picMkLst>
            <pc:docMk/>
            <pc:sldMk cId="0" sldId="260"/>
            <ac:picMk id="4" creationId="{BFF9ED77-5889-DF54-8F1D-647BBA24640E}"/>
          </ac:picMkLst>
        </pc:picChg>
      </pc:sldChg>
      <pc:sldChg chg="addSp delSp mod modNotes">
        <pc:chgData name="Lai, Wilson" userId="2840974a-0d84-4886-90a9-9a3ed79f3a48" providerId="ADAL" clId="{9F23B798-9E84-4552-BA63-E776E805C424}" dt="2026-09-22T03:21:42.729" v="74" actId="22"/>
        <pc:sldMkLst>
          <pc:docMk/>
          <pc:sldMk cId="0" sldId="261"/>
        </pc:sldMkLst>
        <pc:picChg chg="del">
          <ac:chgData name="Lai, Wilson" userId="2840974a-0d84-4886-90a9-9a3ed79f3a48" providerId="ADAL" clId="{9F23B798-9E84-4552-BA63-E776E805C424}" dt="2026-09-22T03:21:30.791" v="73" actId="21"/>
          <ac:picMkLst>
            <pc:docMk/>
            <pc:sldMk cId="0" sldId="261"/>
            <ac:picMk id="2" creationId="{00000000-0000-0000-0000-000000000000}"/>
          </ac:picMkLst>
        </pc:picChg>
        <pc:picChg chg="add">
          <ac:chgData name="Lai, Wilson" userId="2840974a-0d84-4886-90a9-9a3ed79f3a48" providerId="ADAL" clId="{9F23B798-9E84-4552-BA63-E776E805C424}" dt="2026-09-22T03:21:42.729" v="74" actId="22"/>
          <ac:picMkLst>
            <pc:docMk/>
            <pc:sldMk cId="0" sldId="261"/>
            <ac:picMk id="4" creationId="{993A161C-9B51-3AFA-A290-C1A01FC8E9B2}"/>
          </ac:picMkLst>
        </pc:picChg>
      </pc:sldChg>
      <pc:sldChg chg="addSp delSp mod modNotes modNotesTx">
        <pc:chgData name="Lai, Wilson" userId="2840974a-0d84-4886-90a9-9a3ed79f3a48" providerId="ADAL" clId="{9F23B798-9E84-4552-BA63-E776E805C424}" dt="2026-09-22T03:20:22.096" v="70"/>
        <pc:sldMkLst>
          <pc:docMk/>
          <pc:sldMk cId="0" sldId="262"/>
        </pc:sldMkLst>
        <pc:picChg chg="del">
          <ac:chgData name="Lai, Wilson" userId="2840974a-0d84-4886-90a9-9a3ed79f3a48" providerId="ADAL" clId="{9F23B798-9E84-4552-BA63-E776E805C424}" dt="2026-09-22T03:04:41.420" v="18" actId="21"/>
          <ac:picMkLst>
            <pc:docMk/>
            <pc:sldMk cId="0" sldId="262"/>
            <ac:picMk id="2" creationId="{00000000-0000-0000-0000-000000000000}"/>
          </ac:picMkLst>
        </pc:picChg>
        <pc:picChg chg="add">
          <ac:chgData name="Lai, Wilson" userId="2840974a-0d84-4886-90a9-9a3ed79f3a48" providerId="ADAL" clId="{9F23B798-9E84-4552-BA63-E776E805C424}" dt="2026-09-22T03:04:48.925" v="19" actId="22"/>
          <ac:picMkLst>
            <pc:docMk/>
            <pc:sldMk cId="0" sldId="262"/>
            <ac:picMk id="4" creationId="{3E589D90-30E4-25FD-1ACE-61706CEB90E5}"/>
          </ac:picMkLst>
        </pc:picChg>
      </pc:sldChg>
      <pc:sldChg chg="addSp delSp modSp mod modNotes modNotesTx">
        <pc:chgData name="Lai, Wilson" userId="2840974a-0d84-4886-90a9-9a3ed79f3a48" providerId="ADAL" clId="{9F23B798-9E84-4552-BA63-E776E805C424}" dt="2026-09-22T03:20:22.096" v="70"/>
        <pc:sldMkLst>
          <pc:docMk/>
          <pc:sldMk cId="0" sldId="263"/>
        </pc:sldMkLst>
        <pc:picChg chg="del">
          <ac:chgData name="Lai, Wilson" userId="2840974a-0d84-4886-90a9-9a3ed79f3a48" providerId="ADAL" clId="{9F23B798-9E84-4552-BA63-E776E805C424}" dt="2026-09-22T03:05:01.693" v="22" actId="478"/>
          <ac:picMkLst>
            <pc:docMk/>
            <pc:sldMk cId="0" sldId="263"/>
            <ac:picMk id="2" creationId="{00000000-0000-0000-0000-000000000000}"/>
          </ac:picMkLst>
        </pc:picChg>
        <pc:picChg chg="add del mod">
          <ac:chgData name="Lai, Wilson" userId="2840974a-0d84-4886-90a9-9a3ed79f3a48" providerId="ADAL" clId="{9F23B798-9E84-4552-BA63-E776E805C424}" dt="2026-09-22T03:04:50.591" v="21" actId="21"/>
          <ac:picMkLst>
            <pc:docMk/>
            <pc:sldMk cId="0" sldId="263"/>
            <ac:picMk id="3" creationId="{05CEA730-C6CE-0457-F0DC-9914E4A94E56}"/>
          </ac:picMkLst>
        </pc:picChg>
        <pc:picChg chg="add">
          <ac:chgData name="Lai, Wilson" userId="2840974a-0d84-4886-90a9-9a3ed79f3a48" providerId="ADAL" clId="{9F23B798-9E84-4552-BA63-E776E805C424}" dt="2026-09-22T03:05:02.112" v="23" actId="22"/>
          <ac:picMkLst>
            <pc:docMk/>
            <pc:sldMk cId="0" sldId="263"/>
            <ac:picMk id="5" creationId="{D964460B-4664-FA5F-345E-146DC24AF912}"/>
          </ac:picMkLst>
        </pc:picChg>
      </pc:sldChg>
      <pc:sldChg chg="addSp delSp mod modNotes modNotesTx">
        <pc:chgData name="Lai, Wilson" userId="2840974a-0d84-4886-90a9-9a3ed79f3a48" providerId="ADAL" clId="{9F23B798-9E84-4552-BA63-E776E805C424}" dt="2026-09-22T03:20:22.096" v="70"/>
        <pc:sldMkLst>
          <pc:docMk/>
          <pc:sldMk cId="0" sldId="264"/>
        </pc:sldMkLst>
        <pc:picChg chg="del">
          <ac:chgData name="Lai, Wilson" userId="2840974a-0d84-4886-90a9-9a3ed79f3a48" providerId="ADAL" clId="{9F23B798-9E84-4552-BA63-E776E805C424}" dt="2026-09-22T03:05:06.195" v="24" actId="21"/>
          <ac:picMkLst>
            <pc:docMk/>
            <pc:sldMk cId="0" sldId="264"/>
            <ac:picMk id="2" creationId="{00000000-0000-0000-0000-000000000000}"/>
          </ac:picMkLst>
        </pc:picChg>
        <pc:picChg chg="add">
          <ac:chgData name="Lai, Wilson" userId="2840974a-0d84-4886-90a9-9a3ed79f3a48" providerId="ADAL" clId="{9F23B798-9E84-4552-BA63-E776E805C424}" dt="2026-09-22T03:05:17.317" v="25" actId="22"/>
          <ac:picMkLst>
            <pc:docMk/>
            <pc:sldMk cId="0" sldId="264"/>
            <ac:picMk id="4" creationId="{9BF0392E-4F61-7EC7-77F4-23108859CFAC}"/>
          </ac:picMkLst>
        </pc:picChg>
      </pc:sldChg>
      <pc:sldChg chg="addSp delSp mod modNotes modNotesTx">
        <pc:chgData name="Lai, Wilson" userId="2840974a-0d84-4886-90a9-9a3ed79f3a48" providerId="ADAL" clId="{9F23B798-9E84-4552-BA63-E776E805C424}" dt="2026-09-22T03:20:22.096" v="70"/>
        <pc:sldMkLst>
          <pc:docMk/>
          <pc:sldMk cId="0" sldId="265"/>
        </pc:sldMkLst>
        <pc:picChg chg="del">
          <ac:chgData name="Lai, Wilson" userId="2840974a-0d84-4886-90a9-9a3ed79f3a48" providerId="ADAL" clId="{9F23B798-9E84-4552-BA63-E776E805C424}" dt="2026-09-22T03:05:18.611" v="26" actId="21"/>
          <ac:picMkLst>
            <pc:docMk/>
            <pc:sldMk cId="0" sldId="265"/>
            <ac:picMk id="2" creationId="{00000000-0000-0000-0000-000000000000}"/>
          </ac:picMkLst>
        </pc:picChg>
        <pc:picChg chg="add">
          <ac:chgData name="Lai, Wilson" userId="2840974a-0d84-4886-90a9-9a3ed79f3a48" providerId="ADAL" clId="{9F23B798-9E84-4552-BA63-E776E805C424}" dt="2026-09-22T03:05:27.373" v="27" actId="22"/>
          <ac:picMkLst>
            <pc:docMk/>
            <pc:sldMk cId="0" sldId="265"/>
            <ac:picMk id="4" creationId="{D398B990-E79B-06CF-B342-0CC3D88F970D}"/>
          </ac:picMkLst>
        </pc:picChg>
      </pc:sldChg>
      <pc:sldChg chg="addSp delSp mod modNotes modNotesTx">
        <pc:chgData name="Lai, Wilson" userId="2840974a-0d84-4886-90a9-9a3ed79f3a48" providerId="ADAL" clId="{9F23B798-9E84-4552-BA63-E776E805C424}" dt="2026-09-22T03:20:22.096" v="70"/>
        <pc:sldMkLst>
          <pc:docMk/>
          <pc:sldMk cId="0" sldId="266"/>
        </pc:sldMkLst>
        <pc:picChg chg="del">
          <ac:chgData name="Lai, Wilson" userId="2840974a-0d84-4886-90a9-9a3ed79f3a48" providerId="ADAL" clId="{9F23B798-9E84-4552-BA63-E776E805C424}" dt="2026-09-22T03:05:29.859" v="28" actId="21"/>
          <ac:picMkLst>
            <pc:docMk/>
            <pc:sldMk cId="0" sldId="266"/>
            <ac:picMk id="2" creationId="{00000000-0000-0000-0000-000000000000}"/>
          </ac:picMkLst>
        </pc:picChg>
        <pc:picChg chg="add">
          <ac:chgData name="Lai, Wilson" userId="2840974a-0d84-4886-90a9-9a3ed79f3a48" providerId="ADAL" clId="{9F23B798-9E84-4552-BA63-E776E805C424}" dt="2026-09-22T03:05:36.792" v="29" actId="22"/>
          <ac:picMkLst>
            <pc:docMk/>
            <pc:sldMk cId="0" sldId="266"/>
            <ac:picMk id="4" creationId="{080F687E-DA65-0AD7-224A-050C458FBD9F}"/>
          </ac:picMkLst>
        </pc:picChg>
      </pc:sldChg>
      <pc:sldChg chg="addSp delSp mod modNotes modNotesTx">
        <pc:chgData name="Lai, Wilson" userId="2840974a-0d84-4886-90a9-9a3ed79f3a48" providerId="ADAL" clId="{9F23B798-9E84-4552-BA63-E776E805C424}" dt="2026-09-22T03:20:22.096" v="70"/>
        <pc:sldMkLst>
          <pc:docMk/>
          <pc:sldMk cId="0" sldId="267"/>
        </pc:sldMkLst>
        <pc:picChg chg="del">
          <ac:chgData name="Lai, Wilson" userId="2840974a-0d84-4886-90a9-9a3ed79f3a48" providerId="ADAL" clId="{9F23B798-9E84-4552-BA63-E776E805C424}" dt="2026-09-22T03:05:38.013" v="30" actId="21"/>
          <ac:picMkLst>
            <pc:docMk/>
            <pc:sldMk cId="0" sldId="267"/>
            <ac:picMk id="2" creationId="{00000000-0000-0000-0000-000000000000}"/>
          </ac:picMkLst>
        </pc:picChg>
        <pc:picChg chg="add del">
          <ac:chgData name="Lai, Wilson" userId="2840974a-0d84-4886-90a9-9a3ed79f3a48" providerId="ADAL" clId="{9F23B798-9E84-4552-BA63-E776E805C424}" dt="2026-09-22T03:05:46.690" v="32" actId="22"/>
          <ac:picMkLst>
            <pc:docMk/>
            <pc:sldMk cId="0" sldId="267"/>
            <ac:picMk id="4" creationId="{D3C238B8-6A4C-8207-1495-DC6F0F82459A}"/>
          </ac:picMkLst>
        </pc:picChg>
        <pc:picChg chg="add">
          <ac:chgData name="Lai, Wilson" userId="2840974a-0d84-4886-90a9-9a3ed79f3a48" providerId="ADAL" clId="{9F23B798-9E84-4552-BA63-E776E805C424}" dt="2026-09-22T03:05:51.376" v="33" actId="22"/>
          <ac:picMkLst>
            <pc:docMk/>
            <pc:sldMk cId="0" sldId="267"/>
            <ac:picMk id="6" creationId="{60493BF6-35AB-CB6E-4DCD-B23F67E3E53E}"/>
          </ac:picMkLst>
        </pc:picChg>
      </pc:sldChg>
      <pc:sldChg chg="addSp delSp mod modNotes">
        <pc:chgData name="Lai, Wilson" userId="2840974a-0d84-4886-90a9-9a3ed79f3a48" providerId="ADAL" clId="{9F23B798-9E84-4552-BA63-E776E805C424}" dt="2026-09-22T03:20:22.096" v="70"/>
        <pc:sldMkLst>
          <pc:docMk/>
          <pc:sldMk cId="0" sldId="268"/>
        </pc:sldMkLst>
        <pc:picChg chg="del">
          <ac:chgData name="Lai, Wilson" userId="2840974a-0d84-4886-90a9-9a3ed79f3a48" providerId="ADAL" clId="{9F23B798-9E84-4552-BA63-E776E805C424}" dt="2026-09-22T03:05:52.755" v="34" actId="21"/>
          <ac:picMkLst>
            <pc:docMk/>
            <pc:sldMk cId="0" sldId="268"/>
            <ac:picMk id="2" creationId="{00000000-0000-0000-0000-000000000000}"/>
          </ac:picMkLst>
        </pc:picChg>
        <pc:picChg chg="add">
          <ac:chgData name="Lai, Wilson" userId="2840974a-0d84-4886-90a9-9a3ed79f3a48" providerId="ADAL" clId="{9F23B798-9E84-4552-BA63-E776E805C424}" dt="2026-09-22T03:06:00.019" v="35" actId="22"/>
          <ac:picMkLst>
            <pc:docMk/>
            <pc:sldMk cId="0" sldId="268"/>
            <ac:picMk id="4" creationId="{4A7306A8-465E-76AD-0173-58DE9CF2F3E7}"/>
          </ac:picMkLst>
        </pc:picChg>
      </pc:sldChg>
      <pc:sldChg chg="addSp delSp mod modNotes">
        <pc:chgData name="Lai, Wilson" userId="2840974a-0d84-4886-90a9-9a3ed79f3a48" providerId="ADAL" clId="{9F23B798-9E84-4552-BA63-E776E805C424}" dt="2026-09-22T03:20:22.096" v="70"/>
        <pc:sldMkLst>
          <pc:docMk/>
          <pc:sldMk cId="0" sldId="269"/>
        </pc:sldMkLst>
        <pc:picChg chg="del">
          <ac:chgData name="Lai, Wilson" userId="2840974a-0d84-4886-90a9-9a3ed79f3a48" providerId="ADAL" clId="{9F23B798-9E84-4552-BA63-E776E805C424}" dt="2026-09-22T03:06:01.476" v="36" actId="21"/>
          <ac:picMkLst>
            <pc:docMk/>
            <pc:sldMk cId="0" sldId="269"/>
            <ac:picMk id="2" creationId="{00000000-0000-0000-0000-000000000000}"/>
          </ac:picMkLst>
        </pc:picChg>
        <pc:picChg chg="add">
          <ac:chgData name="Lai, Wilson" userId="2840974a-0d84-4886-90a9-9a3ed79f3a48" providerId="ADAL" clId="{9F23B798-9E84-4552-BA63-E776E805C424}" dt="2026-09-22T03:06:08.459" v="37" actId="22"/>
          <ac:picMkLst>
            <pc:docMk/>
            <pc:sldMk cId="0" sldId="269"/>
            <ac:picMk id="4" creationId="{E9BD63CA-7BA3-49E1-A35E-4098BA7F6A74}"/>
          </ac:picMkLst>
        </pc:picChg>
      </pc:sldChg>
      <pc:sldChg chg="addSp delSp mod modNotes">
        <pc:chgData name="Lai, Wilson" userId="2840974a-0d84-4886-90a9-9a3ed79f3a48" providerId="ADAL" clId="{9F23B798-9E84-4552-BA63-E776E805C424}" dt="2026-09-22T03:20:22.096" v="70"/>
        <pc:sldMkLst>
          <pc:docMk/>
          <pc:sldMk cId="0" sldId="270"/>
        </pc:sldMkLst>
        <pc:picChg chg="del">
          <ac:chgData name="Lai, Wilson" userId="2840974a-0d84-4886-90a9-9a3ed79f3a48" providerId="ADAL" clId="{9F23B798-9E84-4552-BA63-E776E805C424}" dt="2026-09-22T03:06:09.619" v="38" actId="21"/>
          <ac:picMkLst>
            <pc:docMk/>
            <pc:sldMk cId="0" sldId="270"/>
            <ac:picMk id="2" creationId="{00000000-0000-0000-0000-000000000000}"/>
          </ac:picMkLst>
        </pc:picChg>
        <pc:picChg chg="add">
          <ac:chgData name="Lai, Wilson" userId="2840974a-0d84-4886-90a9-9a3ed79f3a48" providerId="ADAL" clId="{9F23B798-9E84-4552-BA63-E776E805C424}" dt="2026-09-22T03:06:18.249" v="39" actId="22"/>
          <ac:picMkLst>
            <pc:docMk/>
            <pc:sldMk cId="0" sldId="270"/>
            <ac:picMk id="4" creationId="{F96D4173-163F-8208-1E4B-F70B115C1CC5}"/>
          </ac:picMkLst>
        </pc:picChg>
      </pc:sldChg>
      <pc:sldChg chg="addSp delSp mod modNotes">
        <pc:chgData name="Lai, Wilson" userId="2840974a-0d84-4886-90a9-9a3ed79f3a48" providerId="ADAL" clId="{9F23B798-9E84-4552-BA63-E776E805C424}" dt="2026-09-22T03:20:22.096" v="70"/>
        <pc:sldMkLst>
          <pc:docMk/>
          <pc:sldMk cId="0" sldId="271"/>
        </pc:sldMkLst>
        <pc:picChg chg="del">
          <ac:chgData name="Lai, Wilson" userId="2840974a-0d84-4886-90a9-9a3ed79f3a48" providerId="ADAL" clId="{9F23B798-9E84-4552-BA63-E776E805C424}" dt="2026-09-22T03:06:21.396" v="40" actId="21"/>
          <ac:picMkLst>
            <pc:docMk/>
            <pc:sldMk cId="0" sldId="271"/>
            <ac:picMk id="2" creationId="{00000000-0000-0000-0000-000000000000}"/>
          </ac:picMkLst>
        </pc:picChg>
        <pc:picChg chg="add">
          <ac:chgData name="Lai, Wilson" userId="2840974a-0d84-4886-90a9-9a3ed79f3a48" providerId="ADAL" clId="{9F23B798-9E84-4552-BA63-E776E805C424}" dt="2026-09-22T03:06:28.329" v="41" actId="22"/>
          <ac:picMkLst>
            <pc:docMk/>
            <pc:sldMk cId="0" sldId="271"/>
            <ac:picMk id="4" creationId="{9B7205F6-D7E6-A9A2-96F6-2BD7487B5AA4}"/>
          </ac:picMkLst>
        </pc:picChg>
      </pc:sldChg>
      <pc:sldChg chg="modNotes modNotesTx">
        <pc:chgData name="Lai, Wilson" userId="2840974a-0d84-4886-90a9-9a3ed79f3a48" providerId="ADAL" clId="{9F23B798-9E84-4552-BA63-E776E805C424}" dt="2026-09-22T03:20:22.096" v="70"/>
        <pc:sldMkLst>
          <pc:docMk/>
          <pc:sldMk cId="1150478281" sldId="272"/>
        </pc:sldMkLst>
      </pc:sldChg>
      <pc:sldMasterChg chg="setBg">
        <pc:chgData name="Lai, Wilson" userId="2840974a-0d84-4886-90a9-9a3ed79f3a48" providerId="ADAL" clId="{9F23B798-9E84-4552-BA63-E776E805C424}" dt="2026-09-22T03:02:24.536" v="11"/>
        <pc:sldMasterMkLst>
          <pc:docMk/>
          <pc:sldMasterMk cId="1525593055"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748733-E553-4CBC-89F4-37CB00F0E4B5}"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6A6A5A-49B1-420F-8DDE-DBA949EAF24B}" type="slidenum">
              <a:rPr lang="en-US" smtClean="0"/>
              <a:t>‹#›</a:t>
            </a:fld>
            <a:endParaRPr lang="en-US"/>
          </a:p>
        </p:txBody>
      </p:sp>
    </p:spTree>
    <p:extLst>
      <p:ext uri="{BB962C8B-B14F-4D97-AF65-F5344CB8AC3E}">
        <p14:creationId xmlns:p14="http://schemas.microsoft.com/office/powerpoint/2010/main" val="1638704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Good morning/afternoon, everyone. Today’s presentation, </a:t>
            </a:r>
            <a:r>
              <a:rPr lang="en-US" sz="1200" i="1" kern="1200" dirty="0">
                <a:solidFill>
                  <a:schemeClr val="tx1"/>
                </a:solidFill>
                <a:effectLst/>
                <a:latin typeface="+mn-lt"/>
                <a:ea typeface="+mn-ea"/>
                <a:cs typeface="+mn-cs"/>
              </a:rPr>
              <a:t>The Mechanics of Progress: Innovation, AI, and the Geopolitical Future</a:t>
            </a:r>
            <a:r>
              <a:rPr lang="en-US" sz="1200" kern="1200" dirty="0">
                <a:solidFill>
                  <a:schemeClr val="tx1"/>
                </a:solidFill>
                <a:effectLst/>
                <a:latin typeface="+mn-lt"/>
                <a:ea typeface="+mn-ea"/>
                <a:cs typeface="+mn-cs"/>
              </a:rPr>
              <a:t>, explores one of the most fundamental questions in modern economics: Why did humanity experience sustained economic growth after millennia of stagnation, and what does that history tell us about our AI-driven future? </a:t>
            </a:r>
          </a:p>
          <a:p>
            <a:pPr lvl="0"/>
            <a:r>
              <a:rPr lang="en-US" sz="1200" kern="1200" dirty="0">
                <a:solidFill>
                  <a:schemeClr val="tx1"/>
                </a:solidFill>
                <a:effectLst/>
                <a:latin typeface="+mn-lt"/>
                <a:ea typeface="+mn-ea"/>
                <a:cs typeface="+mn-cs"/>
              </a:rPr>
              <a:t>This presentation synthesizes key historical and economic frameworks developed by Nobel Laureate </a:t>
            </a:r>
            <a:r>
              <a:rPr lang="en-US" sz="1200" b="1" kern="1200" dirty="0">
                <a:solidFill>
                  <a:schemeClr val="tx1"/>
                </a:solidFill>
                <a:effectLst/>
                <a:latin typeface="+mn-lt"/>
                <a:ea typeface="+mn-ea"/>
                <a:cs typeface="+mn-cs"/>
              </a:rPr>
              <a:t>Joel Mokyr</a:t>
            </a:r>
            <a:r>
              <a:rPr lang="en-US" sz="1200" kern="1200" dirty="0">
                <a:solidFill>
                  <a:schemeClr val="tx1"/>
                </a:solidFill>
                <a:effectLst/>
                <a:latin typeface="+mn-lt"/>
                <a:ea typeface="+mn-ea"/>
                <a:cs typeface="+mn-cs"/>
              </a:rPr>
              <a:t>, co-winner of the 2025 Nobel Prize in Economics, alongside Philippe Aghion and Peter Howitt.</a:t>
            </a:r>
          </a:p>
          <a:p>
            <a:pPr lvl="0"/>
            <a:r>
              <a:rPr lang="en-US" sz="1200" kern="1200" dirty="0">
                <a:solidFill>
                  <a:schemeClr val="tx1"/>
                </a:solidFill>
                <a:effectLst/>
                <a:latin typeface="+mn-lt"/>
                <a:ea typeface="+mn-ea"/>
                <a:cs typeface="+mn-cs"/>
              </a:rPr>
              <a:t>As we stand at an inflection point defined by artificial intelligence, rising geopolitical rivalry, and institutional friction, looking at the mechanical levers of historical progress is essential.</a:t>
            </a:r>
          </a:p>
          <a:p>
            <a:pPr lvl="0"/>
            <a:r>
              <a:rPr lang="en-US" sz="1200" kern="1200" dirty="0">
                <a:solidFill>
                  <a:schemeClr val="tx1"/>
                </a:solidFill>
                <a:effectLst/>
                <a:latin typeface="+mn-lt"/>
                <a:ea typeface="+mn-ea"/>
                <a:cs typeface="+mn-cs"/>
              </a:rPr>
              <a:t>Over the next 16 slides, we will examine Cardwell’s Law, the cultural origins of the Industrial Revolution, the reality behind AI panic, the return of Gilded Age wealth concentration, and how superpowers—particularly the US and China—will navigate the mid-21st century.</a:t>
            </a:r>
          </a:p>
          <a:p>
            <a:endParaRPr lang="en-US" dirty="0"/>
          </a:p>
          <a:p>
            <a:endParaRPr lang="en-US" dirty="0"/>
          </a:p>
          <a:p>
            <a:endParaRPr lang="en-US" dirty="0"/>
          </a:p>
          <a:p>
            <a:r>
              <a:rPr lang="en-US" dirty="0"/>
              <a:t>Nobel Economist: Will China Eventually Overtake America? | Joel Mokyr</a:t>
            </a:r>
          </a:p>
          <a:p>
            <a:r>
              <a:rPr lang="en-US" dirty="0"/>
              <a:t>https://www.youtube.com/watch?v=rgXIJz0WvBE</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1</a:t>
            </a:fld>
            <a:endParaRPr lang="en-US"/>
          </a:p>
        </p:txBody>
      </p:sp>
    </p:spTree>
    <p:extLst>
      <p:ext uri="{BB962C8B-B14F-4D97-AF65-F5344CB8AC3E}">
        <p14:creationId xmlns:p14="http://schemas.microsoft.com/office/powerpoint/2010/main" val="2259817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frame our discussion today, Slide 2 provides an executive synthesis across three core dimensions: </a:t>
            </a:r>
          </a:p>
          <a:p>
            <a:pPr marL="228600" lvl="0" indent="-228600">
              <a:buFont typeface="+mj-lt"/>
              <a:buAutoNum type="arabicPeriod"/>
            </a:pPr>
            <a:r>
              <a:rPr lang="en-US" sz="1200" b="1" kern="1200" dirty="0">
                <a:solidFill>
                  <a:schemeClr val="tx1"/>
                </a:solidFill>
                <a:effectLst/>
                <a:latin typeface="+mn-lt"/>
                <a:ea typeface="+mn-ea"/>
                <a:cs typeface="+mn-cs"/>
              </a:rPr>
              <a:t>The Cycle of Supremacy:</a:t>
            </a:r>
            <a:r>
              <a:rPr lang="en-US" sz="1200" kern="1200" dirty="0">
                <a:solidFill>
                  <a:schemeClr val="tx1"/>
                </a:solidFill>
                <a:effectLst/>
                <a:latin typeface="+mn-lt"/>
                <a:ea typeface="+mn-ea"/>
                <a:cs typeface="+mn-cs"/>
              </a:rPr>
              <a:t> First, Cardwell’s Law reminds us that technological leadership is never permanent. The United States, which dominated the 20th century, now confronts an ambitious, state-driven model in China. </a:t>
            </a:r>
          </a:p>
          <a:p>
            <a:pPr marL="228600" lvl="0" indent="-228600">
              <a:buFont typeface="+mj-lt"/>
              <a:buAutoNum type="arabicPeriod"/>
            </a:pPr>
            <a:r>
              <a:rPr lang="en-US" sz="1200" b="1" kern="1200" dirty="0">
                <a:solidFill>
                  <a:schemeClr val="tx1"/>
                </a:solidFill>
                <a:effectLst/>
                <a:latin typeface="+mn-lt"/>
                <a:ea typeface="+mn-ea"/>
                <a:cs typeface="+mn-cs"/>
              </a:rPr>
              <a:t>The AI Reality:</a:t>
            </a:r>
            <a:r>
              <a:rPr lang="en-US" sz="1200" kern="1200" dirty="0">
                <a:solidFill>
                  <a:schemeClr val="tx1"/>
                </a:solidFill>
                <a:effectLst/>
                <a:latin typeface="+mn-lt"/>
                <a:ea typeface="+mn-ea"/>
                <a:cs typeface="+mn-cs"/>
              </a:rPr>
              <a:t> Second, AI is not an existential doom threat that will wipe out humanity. The true threat lies in </a:t>
            </a:r>
            <a:r>
              <a:rPr lang="en-US" sz="1200" b="1" kern="1200" dirty="0">
                <a:solidFill>
                  <a:schemeClr val="tx1"/>
                </a:solidFill>
                <a:effectLst/>
                <a:latin typeface="+mn-lt"/>
                <a:ea typeface="+mn-ea"/>
                <a:cs typeface="+mn-cs"/>
              </a:rPr>
              <a:t>institutional lag</a:t>
            </a:r>
            <a:r>
              <a:rPr lang="en-US" sz="1200" kern="1200" dirty="0">
                <a:solidFill>
                  <a:schemeClr val="tx1"/>
                </a:solidFill>
                <a:effectLst/>
                <a:latin typeface="+mn-lt"/>
                <a:ea typeface="+mn-ea"/>
                <a:cs typeface="+mn-cs"/>
              </a:rPr>
              <a:t>—where fast technology leaves slow democratic governance behind, driving extreme wealth concentration reminiscent of 19th-century Robber Barons. </a:t>
            </a:r>
          </a:p>
          <a:p>
            <a:pPr marL="228600" lvl="0" indent="-228600">
              <a:buFont typeface="+mj-lt"/>
              <a:buAutoNum type="arabicPeriod"/>
            </a:pPr>
            <a:r>
              <a:rPr lang="en-US" sz="1200" b="1" kern="1200" dirty="0">
                <a:solidFill>
                  <a:schemeClr val="tx1"/>
                </a:solidFill>
                <a:effectLst/>
                <a:latin typeface="+mn-lt"/>
                <a:ea typeface="+mn-ea"/>
                <a:cs typeface="+mn-cs"/>
              </a:rPr>
              <a:t>The Ultimate Engine:</a:t>
            </a:r>
            <a:r>
              <a:rPr lang="en-US" sz="1200" kern="1200" dirty="0">
                <a:solidFill>
                  <a:schemeClr val="tx1"/>
                </a:solidFill>
                <a:effectLst/>
                <a:latin typeface="+mn-lt"/>
                <a:ea typeface="+mn-ea"/>
                <a:cs typeface="+mn-cs"/>
              </a:rPr>
              <a:t> Third, technology alone doesn't create progress. Sustained growth requires a </a:t>
            </a:r>
            <a:r>
              <a:rPr lang="en-US" sz="1200" b="1" kern="1200" dirty="0">
                <a:solidFill>
                  <a:schemeClr val="tx1"/>
                </a:solidFill>
                <a:effectLst/>
                <a:latin typeface="+mn-lt"/>
                <a:ea typeface="+mn-ea"/>
                <a:cs typeface="+mn-cs"/>
              </a:rPr>
              <a:t>culture of growth</a:t>
            </a:r>
            <a:r>
              <a:rPr lang="en-US" sz="1200" kern="1200" dirty="0">
                <a:solidFill>
                  <a:schemeClr val="tx1"/>
                </a:solidFill>
                <a:effectLst/>
                <a:latin typeface="+mn-lt"/>
                <a:ea typeface="+mn-ea"/>
                <a:cs typeface="+mn-cs"/>
              </a:rPr>
              <a:t>—a societal belief that tomorrow can be better than today—paired with institutional incentives like temporary patent systems that reward innovation. </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2</a:t>
            </a:fld>
            <a:endParaRPr lang="en-US"/>
          </a:p>
        </p:txBody>
      </p:sp>
    </p:spTree>
    <p:extLst>
      <p:ext uri="{BB962C8B-B14F-4D97-AF65-F5344CB8AC3E}">
        <p14:creationId xmlns:p14="http://schemas.microsoft.com/office/powerpoint/2010/main" val="996023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dive into Cardwell’s Law, named after historian of technology Donald Cardwell. The empirical law states: </a:t>
            </a:r>
            <a:r>
              <a:rPr lang="en-US" sz="1200" i="1" kern="1200" dirty="0">
                <a:solidFill>
                  <a:schemeClr val="tx1"/>
                </a:solidFill>
                <a:effectLst/>
                <a:latin typeface="+mn-lt"/>
                <a:ea typeface="+mn-ea"/>
                <a:cs typeface="+mn-cs"/>
              </a:rPr>
              <a:t>No nation stays technologically creative forever</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Why does this happen? Because the 'winners' of one generation inevitably build rigid incumbent institutions to block the innovations of the next generation. </a:t>
            </a:r>
          </a:p>
          <a:p>
            <a:pPr lvl="0"/>
            <a:r>
              <a:rPr lang="en-US" sz="1200" kern="1200" dirty="0">
                <a:solidFill>
                  <a:schemeClr val="tx1"/>
                </a:solidFill>
                <a:effectLst/>
                <a:latin typeface="+mn-lt"/>
                <a:ea typeface="+mn-ea"/>
                <a:cs typeface="+mn-cs"/>
              </a:rPr>
              <a:t>Look at the historical trajectory on this slide: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17th Century (The Netherlands):</a:t>
            </a:r>
            <a:r>
              <a:rPr lang="en-US" sz="1200" kern="1200" dirty="0">
                <a:solidFill>
                  <a:schemeClr val="tx1"/>
                </a:solidFill>
                <a:effectLst/>
                <a:latin typeface="+mn-lt"/>
                <a:ea typeface="+mn-ea"/>
                <a:cs typeface="+mn-cs"/>
              </a:rPr>
              <a:t> Led maritime and commercial innovation.</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18th &amp; 19th Century (Britain):</a:t>
            </a:r>
            <a:r>
              <a:rPr lang="en-US" sz="1200" kern="1200" dirty="0">
                <a:solidFill>
                  <a:schemeClr val="tx1"/>
                </a:solidFill>
                <a:effectLst/>
                <a:latin typeface="+mn-lt"/>
                <a:ea typeface="+mn-ea"/>
                <a:cs typeface="+mn-cs"/>
              </a:rPr>
              <a:t> Began the Industrial Revolution, but lost its edge as continental rivals adapted.</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Late 19th Century (Continental Europe):</a:t>
            </a:r>
            <a:r>
              <a:rPr lang="en-US" sz="1200" kern="1200" dirty="0">
                <a:solidFill>
                  <a:schemeClr val="tx1"/>
                </a:solidFill>
                <a:effectLst/>
                <a:latin typeface="+mn-lt"/>
                <a:ea typeface="+mn-ea"/>
                <a:cs typeface="+mn-cs"/>
              </a:rPr>
              <a:t> Germany and France led in chemicals and steel.</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20th Century (United States):</a:t>
            </a:r>
            <a:r>
              <a:rPr lang="en-US" sz="1200" kern="1200" dirty="0">
                <a:solidFill>
                  <a:schemeClr val="tx1"/>
                </a:solidFill>
                <a:effectLst/>
                <a:latin typeface="+mn-lt"/>
                <a:ea typeface="+mn-ea"/>
                <a:cs typeface="+mn-cs"/>
              </a:rPr>
              <a:t> Dethroned Europe, turbocharged by fleeing European talent during two world wars.</a:t>
            </a:r>
          </a:p>
          <a:p>
            <a:pPr lvl="0"/>
            <a:r>
              <a:rPr lang="en-US" sz="1200" kern="1200" dirty="0">
                <a:solidFill>
                  <a:schemeClr val="tx1"/>
                </a:solidFill>
                <a:effectLst/>
                <a:latin typeface="+mn-lt"/>
                <a:ea typeface="+mn-ea"/>
                <a:cs typeface="+mn-cs"/>
              </a:rPr>
              <a:t>Now, in the 21st century, we arrive at a critical question: Will the U.S. maintain its lead, or will it be forced to share global leadership—or even cede it—to China?</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3</a:t>
            </a:fld>
            <a:endParaRPr lang="en-US"/>
          </a:p>
        </p:txBody>
      </p:sp>
    </p:spTree>
    <p:extLst>
      <p:ext uri="{BB962C8B-B14F-4D97-AF65-F5344CB8AC3E}">
        <p14:creationId xmlns:p14="http://schemas.microsoft.com/office/powerpoint/2010/main" val="2707797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why progress happened, we must understand why it </a:t>
            </a:r>
            <a:r>
              <a:rPr lang="en-US" sz="1200" i="1" kern="1200" dirty="0">
                <a:solidFill>
                  <a:schemeClr val="tx1"/>
                </a:solidFill>
                <a:effectLst/>
                <a:latin typeface="+mn-lt"/>
                <a:ea typeface="+mn-ea"/>
                <a:cs typeface="+mn-cs"/>
              </a:rPr>
              <a:t>didn't</a:t>
            </a:r>
            <a:r>
              <a:rPr lang="en-US" sz="1200" kern="1200" dirty="0">
                <a:solidFill>
                  <a:schemeClr val="tx1"/>
                </a:solidFill>
                <a:effectLst/>
                <a:latin typeface="+mn-lt"/>
                <a:ea typeface="+mn-ea"/>
                <a:cs typeface="+mn-cs"/>
              </a:rPr>
              <a:t> happen for thousands of years. </a:t>
            </a:r>
          </a:p>
          <a:p>
            <a:pPr lvl="0"/>
            <a:r>
              <a:rPr lang="en-US" sz="1200" kern="1200" dirty="0">
                <a:solidFill>
                  <a:schemeClr val="tx1"/>
                </a:solidFill>
                <a:effectLst/>
                <a:latin typeface="+mn-lt"/>
                <a:ea typeface="+mn-ea"/>
                <a:cs typeface="+mn-cs"/>
              </a:rPr>
              <a:t>In classical and ancient times—across Greek, Roman, and Confucian civilizations—society held a belief known in Hebrew as </a:t>
            </a:r>
            <a:r>
              <a:rPr lang="en-US" sz="1200" i="1" kern="1200" dirty="0" err="1">
                <a:solidFill>
                  <a:schemeClr val="tx1"/>
                </a:solidFill>
                <a:effectLst/>
                <a:latin typeface="+mn-lt"/>
                <a:ea typeface="+mn-ea"/>
                <a:cs typeface="+mn-cs"/>
              </a:rPr>
              <a:t>Yeritath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HaDorot</a:t>
            </a:r>
            <a:r>
              <a:rPr lang="en-US" sz="1200" kern="1200" dirty="0">
                <a:solidFill>
                  <a:schemeClr val="tx1"/>
                </a:solidFill>
                <a:effectLst/>
                <a:latin typeface="+mn-lt"/>
                <a:ea typeface="+mn-ea"/>
                <a:cs typeface="+mn-cs"/>
              </a:rPr>
              <a:t> or the 'decline of generations'.</a:t>
            </a:r>
          </a:p>
          <a:p>
            <a:pPr lvl="0"/>
            <a:r>
              <a:rPr lang="en-US" sz="1200" kern="1200" dirty="0">
                <a:solidFill>
                  <a:schemeClr val="tx1"/>
                </a:solidFill>
                <a:effectLst/>
                <a:latin typeface="+mn-lt"/>
                <a:ea typeface="+mn-ea"/>
                <a:cs typeface="+mn-cs"/>
              </a:rPr>
              <a:t>The assumption was simple: wisdom peaked in the past. Aristotle, Galen, Confucius, or sacred texts held all essential knowledge. As the book of Ecclesiastes famously stated, 'There is nothing new under the sun.' </a:t>
            </a:r>
          </a:p>
          <a:p>
            <a:pPr lvl="0"/>
            <a:r>
              <a:rPr lang="en-US" sz="1200" kern="1200" dirty="0">
                <a:solidFill>
                  <a:schemeClr val="tx1"/>
                </a:solidFill>
                <a:effectLst/>
                <a:latin typeface="+mn-lt"/>
                <a:ea typeface="+mn-ea"/>
                <a:cs typeface="+mn-cs"/>
              </a:rPr>
              <a:t>If you believe the ancients knew everything and that human intellect decays over time, you do not invest in innovation or question traditional canons.</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4</a:t>
            </a:fld>
            <a:endParaRPr lang="en-US"/>
          </a:p>
        </p:txBody>
      </p:sp>
    </p:spTree>
    <p:extLst>
      <p:ext uri="{BB962C8B-B14F-4D97-AF65-F5344CB8AC3E}">
        <p14:creationId xmlns:p14="http://schemas.microsoft.com/office/powerpoint/2010/main" val="3068123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turning point occurred during the early modern era (1450–1727), bookended by Gutenberg's printing press and Newton's death. </a:t>
            </a:r>
          </a:p>
          <a:p>
            <a:pPr lvl="0"/>
            <a:r>
              <a:rPr lang="en-US" sz="1200" kern="1200" dirty="0">
                <a:solidFill>
                  <a:schemeClr val="tx1"/>
                </a:solidFill>
                <a:effectLst/>
                <a:latin typeface="+mn-lt"/>
                <a:ea typeface="+mn-ea"/>
                <a:cs typeface="+mn-cs"/>
              </a:rPr>
              <a:t>For the first time in human history, intellectuals staged a </a:t>
            </a:r>
            <a:r>
              <a:rPr lang="en-US" sz="1200" b="1" kern="1200" dirty="0">
                <a:solidFill>
                  <a:schemeClr val="tx1"/>
                </a:solidFill>
                <a:effectLst/>
                <a:latin typeface="+mn-lt"/>
                <a:ea typeface="+mn-ea"/>
                <a:cs typeface="+mn-cs"/>
              </a:rPr>
              <a:t>rebellion against the canon</a:t>
            </a:r>
            <a:r>
              <a:rPr lang="en-US" sz="1200" kern="1200" dirty="0">
                <a:solidFill>
                  <a:schemeClr val="tx1"/>
                </a:solidFill>
                <a:effectLst/>
                <a:latin typeface="+mn-lt"/>
                <a:ea typeface="+mn-ea"/>
                <a:cs typeface="+mn-cs"/>
              </a:rPr>
              <a:t>. Armed with tools like the telescope and microscope, thinkers realized that Aristotle and the ancients were simply wrong about how the physical world worked.</a:t>
            </a:r>
          </a:p>
          <a:p>
            <a:pPr lvl="0"/>
            <a:r>
              <a:rPr lang="en-US" sz="1200" kern="1200" dirty="0">
                <a:solidFill>
                  <a:schemeClr val="tx1"/>
                </a:solidFill>
                <a:effectLst/>
                <a:latin typeface="+mn-lt"/>
                <a:ea typeface="+mn-ea"/>
                <a:cs typeface="+mn-cs"/>
              </a:rPr>
              <a:t>Instead of worshipping the past, European culture embraced the notion that modern humans knew </a:t>
            </a:r>
            <a:r>
              <a:rPr lang="en-US" sz="1200" i="1" kern="1200" dirty="0">
                <a:solidFill>
                  <a:schemeClr val="tx1"/>
                </a:solidFill>
                <a:effectLst/>
                <a:latin typeface="+mn-lt"/>
                <a:ea typeface="+mn-ea"/>
                <a:cs typeface="+mn-cs"/>
              </a:rPr>
              <a:t>more</a:t>
            </a:r>
            <a:r>
              <a:rPr lang="en-US" sz="1200" kern="1200" dirty="0">
                <a:solidFill>
                  <a:schemeClr val="tx1"/>
                </a:solidFill>
                <a:effectLst/>
                <a:latin typeface="+mn-lt"/>
                <a:ea typeface="+mn-ea"/>
                <a:cs typeface="+mn-cs"/>
              </a:rPr>
              <a:t> than the ancients. Society adopted a revolutionary premise: </a:t>
            </a:r>
            <a:r>
              <a:rPr lang="en-US" sz="1200" b="1" kern="1200" dirty="0">
                <a:solidFill>
                  <a:schemeClr val="tx1"/>
                </a:solidFill>
                <a:effectLst/>
                <a:latin typeface="+mn-lt"/>
                <a:ea typeface="+mn-ea"/>
                <a:cs typeface="+mn-cs"/>
              </a:rPr>
              <a:t>tomorrow can be vastly better than today</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5</a:t>
            </a:fld>
            <a:endParaRPr lang="en-US"/>
          </a:p>
        </p:txBody>
      </p:sp>
    </p:spTree>
    <p:extLst>
      <p:ext uri="{BB962C8B-B14F-4D97-AF65-F5344CB8AC3E}">
        <p14:creationId xmlns:p14="http://schemas.microsoft.com/office/powerpoint/2010/main" val="520448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Slide 6 explicitly contrasts these two worldviews: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Classical &amp; Ancient World:</a:t>
            </a:r>
            <a:r>
              <a:rPr lang="en-US" sz="1200" kern="1200" dirty="0">
                <a:solidFill>
                  <a:schemeClr val="tx1"/>
                </a:solidFill>
                <a:effectLst/>
                <a:latin typeface="+mn-lt"/>
                <a:ea typeface="+mn-ea"/>
                <a:cs typeface="+mn-cs"/>
              </a:rPr>
              <a:t> Belief in generational decline; wisdom is anchored in Aristotle, ancient scripture, and Confucius; belief that novel ideas are impossible or dangerous.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Enlightenment (1450–1727):</a:t>
            </a:r>
            <a:r>
              <a:rPr lang="en-US" sz="1200" kern="1200" dirty="0">
                <a:solidFill>
                  <a:schemeClr val="tx1"/>
                </a:solidFill>
                <a:effectLst/>
                <a:latin typeface="+mn-lt"/>
                <a:ea typeface="+mn-ea"/>
                <a:cs typeface="+mn-cs"/>
              </a:rPr>
              <a:t> Rebellion against the canon; equipped with calculus and observational tools; societal acceptance of progress as desirable and achievable.</a:t>
            </a:r>
          </a:p>
          <a:p>
            <a:pPr lvl="0"/>
            <a:r>
              <a:rPr lang="en-US" sz="1200" kern="1200" dirty="0">
                <a:solidFill>
                  <a:schemeClr val="tx1"/>
                </a:solidFill>
                <a:effectLst/>
                <a:latin typeface="+mn-lt"/>
                <a:ea typeface="+mn-ea"/>
                <a:cs typeface="+mn-cs"/>
              </a:rPr>
              <a:t>Once this mental model took root around 1700, philosophers wrote an explicit agenda to cultivate what they termed </a:t>
            </a:r>
            <a:r>
              <a:rPr lang="en-US" sz="1200" b="1" kern="1200" dirty="0">
                <a:solidFill>
                  <a:schemeClr val="tx1"/>
                </a:solidFill>
                <a:effectLst/>
                <a:latin typeface="+mn-lt"/>
                <a:ea typeface="+mn-ea"/>
                <a:cs typeface="+mn-cs"/>
              </a:rPr>
              <a:t>'useful knowledge'</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6</a:t>
            </a:fld>
            <a:endParaRPr lang="en-US"/>
          </a:p>
        </p:txBody>
      </p:sp>
    </p:spTree>
    <p:extLst>
      <p:ext uri="{BB962C8B-B14F-4D97-AF65-F5344CB8AC3E}">
        <p14:creationId xmlns:p14="http://schemas.microsoft.com/office/powerpoint/2010/main" val="4116017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Believing in progress isn't enough; you need institutional mechanics to incentivize it. </a:t>
            </a:r>
          </a:p>
          <a:p>
            <a:pPr lvl="0"/>
            <a:r>
              <a:rPr lang="en-US" sz="1200" kern="1200" dirty="0">
                <a:solidFill>
                  <a:schemeClr val="tx1"/>
                </a:solidFill>
                <a:effectLst/>
                <a:latin typeface="+mn-lt"/>
                <a:ea typeface="+mn-ea"/>
                <a:cs typeface="+mn-cs"/>
              </a:rPr>
              <a:t>Slide 7 outlines three key mechanisms: </a:t>
            </a:r>
          </a:p>
          <a:p>
            <a:pPr marL="228600" lvl="0" indent="-228600">
              <a:buFont typeface="+mj-lt"/>
              <a:buAutoNum type="arabicPeriod"/>
            </a:pPr>
            <a:r>
              <a:rPr lang="en-US" sz="1200" b="1" kern="1200" dirty="0">
                <a:solidFill>
                  <a:schemeClr val="tx1"/>
                </a:solidFill>
                <a:effectLst/>
                <a:latin typeface="+mn-lt"/>
                <a:ea typeface="+mn-ea"/>
                <a:cs typeface="+mn-cs"/>
              </a:rPr>
              <a:t>Educational Infrastructure:</a:t>
            </a:r>
            <a:r>
              <a:rPr lang="en-US" sz="1200" kern="1200" dirty="0">
                <a:solidFill>
                  <a:schemeClr val="tx1"/>
                </a:solidFill>
                <a:effectLst/>
                <a:latin typeface="+mn-lt"/>
                <a:ea typeface="+mn-ea"/>
                <a:cs typeface="+mn-cs"/>
              </a:rPr>
              <a:t> Surprising historical actors played key roles—such as the Jesuit order building schools to teach physics and math, or Isaac Newton studying physics to 'understand God'. </a:t>
            </a:r>
          </a:p>
          <a:p>
            <a:pPr marL="228600" lvl="0" indent="-228600">
              <a:buFont typeface="+mj-lt"/>
              <a:buAutoNum type="arabicPeriod"/>
            </a:pPr>
            <a:r>
              <a:rPr lang="en-US" sz="1200" b="1" kern="1200" dirty="0">
                <a:solidFill>
                  <a:schemeClr val="tx1"/>
                </a:solidFill>
                <a:effectLst/>
                <a:latin typeface="+mn-lt"/>
                <a:ea typeface="+mn-ea"/>
                <a:cs typeface="+mn-cs"/>
              </a:rPr>
              <a:t>Scientific Curiosity:</a:t>
            </a:r>
            <a:r>
              <a:rPr lang="en-US" sz="1200" kern="1200" dirty="0">
                <a:solidFill>
                  <a:schemeClr val="tx1"/>
                </a:solidFill>
                <a:effectLst/>
                <a:latin typeface="+mn-lt"/>
                <a:ea typeface="+mn-ea"/>
                <a:cs typeface="+mn-cs"/>
              </a:rPr>
              <a:t> Inventions like the telescope and microscope made the invisible visible, expanding human inquiry. </a:t>
            </a:r>
          </a:p>
          <a:p>
            <a:pPr marL="228600" lvl="0" indent="-228600">
              <a:buFont typeface="+mj-lt"/>
              <a:buAutoNum type="arabicPeriod"/>
            </a:pPr>
            <a:r>
              <a:rPr lang="en-US" sz="1200" b="1" kern="1200" dirty="0">
                <a:solidFill>
                  <a:schemeClr val="tx1"/>
                </a:solidFill>
                <a:effectLst/>
                <a:latin typeface="+mn-lt"/>
                <a:ea typeface="+mn-ea"/>
                <a:cs typeface="+mn-cs"/>
              </a:rPr>
              <a:t>The Temporary Patent System:</a:t>
            </a:r>
            <a:r>
              <a:rPr lang="en-US" sz="1200" kern="1200" dirty="0">
                <a:solidFill>
                  <a:schemeClr val="tx1"/>
                </a:solidFill>
                <a:effectLst/>
                <a:latin typeface="+mn-lt"/>
                <a:ea typeface="+mn-ea"/>
                <a:cs typeface="+mn-cs"/>
              </a:rPr>
              <a:t> Perhaps the single greatest institutional innovation. By granting inventors a temporary monopoly (14–15 years), society incentivized technological risk-taking without creating permanent progress-blocking monopolies. </a:t>
            </a:r>
          </a:p>
          <a:p>
            <a:pPr lvl="0"/>
            <a:r>
              <a:rPr lang="en-US" sz="1200" kern="1200" dirty="0">
                <a:solidFill>
                  <a:schemeClr val="tx1"/>
                </a:solidFill>
                <a:effectLst/>
                <a:latin typeface="+mn-lt"/>
                <a:ea typeface="+mn-ea"/>
                <a:cs typeface="+mn-cs"/>
              </a:rPr>
              <a:t>This combination produced sustained economic growth, launching the Industrial Revolution after 1800.</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7</a:t>
            </a:fld>
            <a:endParaRPr lang="en-US"/>
          </a:p>
        </p:txBody>
      </p:sp>
    </p:spTree>
    <p:extLst>
      <p:ext uri="{BB962C8B-B14F-4D97-AF65-F5344CB8AC3E}">
        <p14:creationId xmlns:p14="http://schemas.microsoft.com/office/powerpoint/2010/main" val="3029779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During the 20th century, the United States captured the global innovation engine from Europe. </a:t>
            </a:r>
          </a:p>
          <a:p>
            <a:pPr lvl="0"/>
            <a:r>
              <a:rPr lang="en-US" sz="1200" kern="1200" dirty="0">
                <a:solidFill>
                  <a:schemeClr val="tx1"/>
                </a:solidFill>
                <a:effectLst/>
                <a:latin typeface="+mn-lt"/>
                <a:ea typeface="+mn-ea"/>
                <a:cs typeface="+mn-cs"/>
              </a:rPr>
              <a:t>Two World Wars devastated Europe's physical and human capital, causing an unprecedented flight of scientists, artists, and engineers to American shores.</a:t>
            </a:r>
          </a:p>
          <a:p>
            <a:pPr lvl="0"/>
            <a:r>
              <a:rPr lang="en-US" sz="1200" kern="1200" dirty="0">
                <a:solidFill>
                  <a:schemeClr val="tx1"/>
                </a:solidFill>
                <a:effectLst/>
                <a:latin typeface="+mn-lt"/>
                <a:ea typeface="+mn-ea"/>
                <a:cs typeface="+mn-cs"/>
              </a:rPr>
              <a:t>Where does Europe stand today?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The Success:</a:t>
            </a:r>
            <a:r>
              <a:rPr lang="en-US" sz="1200" kern="1200" dirty="0">
                <a:solidFill>
                  <a:schemeClr val="tx1"/>
                </a:solidFill>
                <a:effectLst/>
                <a:latin typeface="+mn-lt"/>
                <a:ea typeface="+mn-ea"/>
                <a:cs typeface="+mn-cs"/>
              </a:rPr>
              <a:t> Exceptional quality of life, universal healthcare, and high life expectancy—living 3 to 4 years longer on average than Americans.</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The Vulnerability:</a:t>
            </a:r>
            <a:r>
              <a:rPr lang="en-US" sz="1200" kern="1200" dirty="0">
                <a:solidFill>
                  <a:schemeClr val="tx1"/>
                </a:solidFill>
                <a:effectLst/>
                <a:latin typeface="+mn-lt"/>
                <a:ea typeface="+mn-ea"/>
                <a:cs typeface="+mn-cs"/>
              </a:rPr>
              <a:t> Loss of high-tech dynamism and technological ambition, outside of small regional outliers like Estonia.</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8</a:t>
            </a:fld>
            <a:endParaRPr lang="en-US"/>
          </a:p>
        </p:txBody>
      </p:sp>
    </p:spTree>
    <p:extLst>
      <p:ext uri="{BB962C8B-B14F-4D97-AF65-F5344CB8AC3E}">
        <p14:creationId xmlns:p14="http://schemas.microsoft.com/office/powerpoint/2010/main" val="2171567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Slide 9 addresses </a:t>
            </a:r>
            <a:r>
              <a:rPr lang="en-US" sz="1200" b="1" kern="1200" dirty="0">
                <a:solidFill>
                  <a:schemeClr val="tx1"/>
                </a:solidFill>
                <a:effectLst/>
                <a:latin typeface="+mn-lt"/>
                <a:ea typeface="+mn-ea"/>
                <a:cs typeface="+mn-cs"/>
              </a:rPr>
              <a:t>The Chinese Anomaly</a:t>
            </a:r>
            <a:r>
              <a:rPr lang="en-US" sz="1200" kern="1200" dirty="0">
                <a:solidFill>
                  <a:schemeClr val="tx1"/>
                </a:solidFill>
                <a:effectLst/>
                <a:latin typeface="+mn-lt"/>
                <a:ea typeface="+mn-ea"/>
                <a:cs typeface="+mn-cs"/>
              </a:rPr>
              <a:t>. For decades, economists following Milton Friedman asserted that free-market capitalism could not exist without political freedom. </a:t>
            </a:r>
          </a:p>
          <a:p>
            <a:pPr lvl="0"/>
            <a:r>
              <a:rPr lang="en-US" sz="1200" kern="1200" dirty="0">
                <a:solidFill>
                  <a:schemeClr val="tx1"/>
                </a:solidFill>
                <a:effectLst/>
                <a:latin typeface="+mn-lt"/>
                <a:ea typeface="+mn-ea"/>
                <a:cs typeface="+mn-cs"/>
              </a:rPr>
              <a:t>China defies this paradigm. It is an unfree, nondemocratic state that nevertheless operates a dynamic market economy. </a:t>
            </a:r>
          </a:p>
          <a:p>
            <a:pPr lvl="0"/>
            <a:r>
              <a:rPr lang="en-US" sz="1200" kern="1200" dirty="0">
                <a:solidFill>
                  <a:schemeClr val="tx1"/>
                </a:solidFill>
                <a:effectLst/>
                <a:latin typeface="+mn-lt"/>
                <a:ea typeface="+mn-ea"/>
                <a:cs typeface="+mn-cs"/>
              </a:rPr>
              <a:t>Driven by intense historical ambition to overcome its 'century of humiliation', China operates a massive state-driven innovation engine: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Funneling billions into university scientific research.</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Generating over 2 million patents annually.</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Dominating advanced journals in medicine, engineering, and materials science.</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9</a:t>
            </a:fld>
            <a:endParaRPr lang="en-US"/>
          </a:p>
        </p:txBody>
      </p:sp>
    </p:spTree>
    <p:extLst>
      <p:ext uri="{BB962C8B-B14F-4D97-AF65-F5344CB8AC3E}">
        <p14:creationId xmlns:p14="http://schemas.microsoft.com/office/powerpoint/2010/main" val="2006419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Looking ahead from 2024 to 2050, Slide 10 categorizes four global power blocs: </a:t>
            </a:r>
          </a:p>
          <a:p>
            <a:pPr marL="228600" lvl="0" indent="-228600">
              <a:buFont typeface="+mj-lt"/>
              <a:buAutoNum type="arabicPeriod"/>
            </a:pPr>
            <a:r>
              <a:rPr lang="en-US" sz="1200" b="1" kern="1200" dirty="0">
                <a:solidFill>
                  <a:schemeClr val="tx1"/>
                </a:solidFill>
                <a:effectLst/>
                <a:latin typeface="+mn-lt"/>
                <a:ea typeface="+mn-ea"/>
                <a:cs typeface="+mn-cs"/>
              </a:rPr>
              <a:t>United States (Enduring Leader):</a:t>
            </a:r>
            <a:r>
              <a:rPr lang="en-US" sz="1200" kern="1200" dirty="0">
                <a:solidFill>
                  <a:schemeClr val="tx1"/>
                </a:solidFill>
                <a:effectLst/>
                <a:latin typeface="+mn-lt"/>
                <a:ea typeface="+mn-ea"/>
                <a:cs typeface="+mn-cs"/>
              </a:rPr>
              <a:t> Resilient institutions, world-class universities, high talent attraction, though facing internal political volatility. </a:t>
            </a:r>
          </a:p>
          <a:p>
            <a:pPr marL="228600" lvl="0" indent="-228600">
              <a:buFont typeface="+mj-lt"/>
              <a:buAutoNum type="arabicPeriod"/>
            </a:pPr>
            <a:r>
              <a:rPr lang="en-US" sz="1200" b="1" kern="1200" dirty="0">
                <a:solidFill>
                  <a:schemeClr val="tx1"/>
                </a:solidFill>
                <a:effectLst/>
                <a:latin typeface="+mn-lt"/>
                <a:ea typeface="+mn-ea"/>
                <a:cs typeface="+mn-cs"/>
              </a:rPr>
              <a:t>China (Rising Co-Leader):</a:t>
            </a:r>
            <a:r>
              <a:rPr lang="en-US" sz="1200" kern="1200" dirty="0">
                <a:solidFill>
                  <a:schemeClr val="tx1"/>
                </a:solidFill>
                <a:effectLst/>
                <a:latin typeface="+mn-lt"/>
                <a:ea typeface="+mn-ea"/>
                <a:cs typeface="+mn-cs"/>
              </a:rPr>
              <a:t> Powered by aggressive state R&amp;D funding, immense historical drive, and vast engineering capacity. </a:t>
            </a:r>
          </a:p>
          <a:p>
            <a:pPr marL="228600" lvl="0" indent="-228600">
              <a:buFont typeface="+mj-lt"/>
              <a:buAutoNum type="arabicPeriod"/>
            </a:pPr>
            <a:r>
              <a:rPr lang="en-US" sz="1200" b="1" kern="1200" dirty="0">
                <a:solidFill>
                  <a:schemeClr val="tx1"/>
                </a:solidFill>
                <a:effectLst/>
                <a:latin typeface="+mn-lt"/>
                <a:ea typeface="+mn-ea"/>
                <a:cs typeface="+mn-cs"/>
              </a:rPr>
              <a:t>Europe (Comfortable Stagnation):</a:t>
            </a:r>
            <a:r>
              <a:rPr lang="en-US" sz="1200" kern="1200" dirty="0">
                <a:solidFill>
                  <a:schemeClr val="tx1"/>
                </a:solidFill>
                <a:effectLst/>
                <a:latin typeface="+mn-lt"/>
                <a:ea typeface="+mn-ea"/>
                <a:cs typeface="+mn-cs"/>
              </a:rPr>
              <a:t> High quality of life, but fundamentally lacking the hunger and risk tolerance for high-tech scale. </a:t>
            </a:r>
          </a:p>
          <a:p>
            <a:pPr marL="228600" lvl="0" indent="-228600">
              <a:buFont typeface="+mj-lt"/>
              <a:buAutoNum type="arabicPeriod"/>
            </a:pPr>
            <a:r>
              <a:rPr lang="en-US" sz="1200" b="1" kern="1200" dirty="0">
                <a:solidFill>
                  <a:schemeClr val="tx1"/>
                </a:solidFill>
                <a:effectLst/>
                <a:latin typeface="+mn-lt"/>
                <a:ea typeface="+mn-ea"/>
                <a:cs typeface="+mn-cs"/>
              </a:rPr>
              <a:t>Russia (Out of the Race):</a:t>
            </a:r>
            <a:r>
              <a:rPr lang="en-US" sz="1200" kern="1200" dirty="0">
                <a:solidFill>
                  <a:schemeClr val="tx1"/>
                </a:solidFill>
                <a:effectLst/>
                <a:latin typeface="+mn-lt"/>
                <a:ea typeface="+mn-ea"/>
                <a:cs typeface="+mn-cs"/>
              </a:rPr>
              <a:t> Corrupt, misgoverned, and isolated; completely missed the modern digital and tech transition. </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10</a:t>
            </a:fld>
            <a:endParaRPr lang="en-US"/>
          </a:p>
        </p:txBody>
      </p:sp>
    </p:spTree>
    <p:extLst>
      <p:ext uri="{BB962C8B-B14F-4D97-AF65-F5344CB8AC3E}">
        <p14:creationId xmlns:p14="http://schemas.microsoft.com/office/powerpoint/2010/main" val="164630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Now let's address the narrative surrounding Artificial Intelligence. Today, we hear doomsday claims from researchers and tech executives that AI could 'kill all humans by the end of the decade'. </a:t>
            </a:r>
          </a:p>
          <a:p>
            <a:pPr lvl="0"/>
            <a:r>
              <a:rPr lang="en-US" sz="1200" kern="1200" dirty="0">
                <a:solidFill>
                  <a:schemeClr val="tx1"/>
                </a:solidFill>
                <a:effectLst/>
                <a:latin typeface="+mn-lt"/>
                <a:ea typeface="+mn-ea"/>
                <a:cs typeface="+mn-cs"/>
              </a:rPr>
              <a:t>As economic historians, we've seen this movie before:</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19th Century Steam Engine:</a:t>
            </a:r>
            <a:r>
              <a:rPr lang="en-US" sz="1200" kern="1200" dirty="0">
                <a:solidFill>
                  <a:schemeClr val="tx1"/>
                </a:solidFill>
                <a:effectLst/>
                <a:latin typeface="+mn-lt"/>
                <a:ea typeface="+mn-ea"/>
                <a:cs typeface="+mn-cs"/>
              </a:rPr>
              <a:t> Feared due to localized boiler explosions. In reality, it powered the Industrial Revolution.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21st Century AI:</a:t>
            </a:r>
            <a:r>
              <a:rPr lang="en-US" sz="1200" kern="1200" dirty="0">
                <a:solidFill>
                  <a:schemeClr val="tx1"/>
                </a:solidFill>
                <a:effectLst/>
                <a:latin typeface="+mn-lt"/>
                <a:ea typeface="+mn-ea"/>
                <a:cs typeface="+mn-cs"/>
              </a:rPr>
              <a:t> Feared as a rogue superintelligence causing extinction. In reality, history is full of smart people with catastrophic predictions. </a:t>
            </a:r>
          </a:p>
          <a:p>
            <a:pPr lvl="0"/>
            <a:r>
              <a:rPr lang="en-US" sz="1200" kern="1200" dirty="0">
                <a:solidFill>
                  <a:schemeClr val="tx1"/>
                </a:solidFill>
                <a:effectLst/>
                <a:latin typeface="+mn-lt"/>
                <a:ea typeface="+mn-ea"/>
                <a:cs typeface="+mn-cs"/>
              </a:rPr>
              <a:t>The true existential physical threats remain </a:t>
            </a:r>
            <a:r>
              <a:rPr lang="en-US" sz="1200" b="1" kern="1200" dirty="0">
                <a:solidFill>
                  <a:schemeClr val="tx1"/>
                </a:solidFill>
                <a:effectLst/>
                <a:latin typeface="+mn-lt"/>
                <a:ea typeface="+mn-ea"/>
                <a:cs typeface="+mn-cs"/>
              </a:rPr>
              <a:t>nuclear proliferation</a:t>
            </a:r>
            <a:r>
              <a:rPr lang="en-US" sz="1200" kern="1200" dirty="0">
                <a:solidFill>
                  <a:schemeClr val="tx1"/>
                </a:solidFill>
                <a:effectLst/>
                <a:latin typeface="+mn-lt"/>
                <a:ea typeface="+mn-ea"/>
                <a:cs typeface="+mn-cs"/>
              </a:rPr>
              <a:t> (which has existed since the 1950s) and </a:t>
            </a:r>
            <a:r>
              <a:rPr lang="en-US" sz="1200" b="1" kern="1200" dirty="0">
                <a:solidFill>
                  <a:schemeClr val="tx1"/>
                </a:solidFill>
                <a:effectLst/>
                <a:latin typeface="+mn-lt"/>
                <a:ea typeface="+mn-ea"/>
                <a:cs typeface="+mn-cs"/>
              </a:rPr>
              <a:t>climate change</a:t>
            </a:r>
            <a:r>
              <a:rPr lang="en-US" sz="1200" kern="1200" dirty="0">
                <a:solidFill>
                  <a:schemeClr val="tx1"/>
                </a:solidFill>
                <a:effectLst/>
                <a:latin typeface="+mn-lt"/>
                <a:ea typeface="+mn-ea"/>
                <a:cs typeface="+mn-cs"/>
              </a:rPr>
              <a:t>—not rogue AI software.</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11</a:t>
            </a:fld>
            <a:endParaRPr lang="en-US"/>
          </a:p>
        </p:txBody>
      </p:sp>
    </p:spTree>
    <p:extLst>
      <p:ext uri="{BB962C8B-B14F-4D97-AF65-F5344CB8AC3E}">
        <p14:creationId xmlns:p14="http://schemas.microsoft.com/office/powerpoint/2010/main" val="10881653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If extinction isn't the primary risk, what is? </a:t>
            </a:r>
            <a:r>
              <a:rPr lang="en-US" sz="1200" b="1" kern="1200" dirty="0">
                <a:solidFill>
                  <a:schemeClr val="tx1"/>
                </a:solidFill>
                <a:effectLst/>
                <a:latin typeface="+mn-lt"/>
                <a:ea typeface="+mn-ea"/>
                <a:cs typeface="+mn-cs"/>
              </a:rPr>
              <a:t>Institutional Lag and the return of the Gilded Age Robber Barons.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In the late 19th century, transcontinental railroad monopolies created unheard-of wealth for figures like Vanderbilt, Stanford, and Harriman. Today, tech oligarchs amass net worths exceeding $300 billion. </a:t>
            </a:r>
          </a:p>
          <a:p>
            <a:pPr lvl="0"/>
            <a:r>
              <a:rPr lang="en-US" sz="1200" kern="1200" dirty="0">
                <a:solidFill>
                  <a:schemeClr val="tx1"/>
                </a:solidFill>
                <a:effectLst/>
                <a:latin typeface="+mn-lt"/>
                <a:ea typeface="+mn-ea"/>
                <a:cs typeface="+mn-cs"/>
              </a:rPr>
              <a:t>You cannot spend $300 billion on personal consumption—you can only buy four houses, five cars, and eat three meals a day. Beyond that, excess wealth converts directly into </a:t>
            </a:r>
            <a:r>
              <a:rPr lang="en-US" sz="1200" b="1" kern="1200" dirty="0">
                <a:solidFill>
                  <a:schemeClr val="tx1"/>
                </a:solidFill>
                <a:effectLst/>
                <a:latin typeface="+mn-lt"/>
                <a:ea typeface="+mn-ea"/>
                <a:cs typeface="+mn-cs"/>
              </a:rPr>
              <a:t>outsized political power and global infrastructure control</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The solution isn't halting AI development; it's reforming institutions via progressive taxation and antitrust enforcement—just as the U.S. successfully did during the Progressive Era.</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12</a:t>
            </a:fld>
            <a:endParaRPr lang="en-US"/>
          </a:p>
        </p:txBody>
      </p:sp>
    </p:spTree>
    <p:extLst>
      <p:ext uri="{BB962C8B-B14F-4D97-AF65-F5344CB8AC3E}">
        <p14:creationId xmlns:p14="http://schemas.microsoft.com/office/powerpoint/2010/main" val="5522798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While AI may worsen financial income inequality without proper tax reform, its greatest immediate gift is </a:t>
            </a:r>
            <a:r>
              <a:rPr lang="en-US" sz="1200" b="1" kern="1200" dirty="0">
                <a:solidFill>
                  <a:schemeClr val="tx1"/>
                </a:solidFill>
                <a:effectLst/>
                <a:latin typeface="+mn-lt"/>
                <a:ea typeface="+mn-ea"/>
                <a:cs typeface="+mn-cs"/>
              </a:rPr>
              <a:t>flattening informational inequality</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In the past, elite knowledge was gatekept by universities, professors, and expensive institutions.</a:t>
            </a:r>
          </a:p>
          <a:p>
            <a:pPr lvl="0"/>
            <a:r>
              <a:rPr lang="en-US" sz="1200" kern="1200" dirty="0">
                <a:solidFill>
                  <a:schemeClr val="tx1"/>
                </a:solidFill>
                <a:effectLst/>
                <a:latin typeface="+mn-lt"/>
                <a:ea typeface="+mn-ea"/>
                <a:cs typeface="+mn-cs"/>
              </a:rPr>
              <a:t>Today, an individual with a basic education can open an AI copilot on a smartphone and instantly access more scientific, historical, and technical knowledge than any single scholar in human history.</a:t>
            </a:r>
          </a:p>
          <a:p>
            <a:pPr lvl="0"/>
            <a:r>
              <a:rPr lang="en-US" sz="1200" kern="1200" dirty="0">
                <a:solidFill>
                  <a:schemeClr val="tx1"/>
                </a:solidFill>
                <a:effectLst/>
                <a:latin typeface="+mn-lt"/>
                <a:ea typeface="+mn-ea"/>
                <a:cs typeface="+mn-cs"/>
              </a:rPr>
              <a:t>Knowledge becomes an instant, low-cost utility for anyone with an internet connection.</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13</a:t>
            </a:fld>
            <a:endParaRPr lang="en-US"/>
          </a:p>
        </p:txBody>
      </p:sp>
    </p:spTree>
    <p:extLst>
      <p:ext uri="{BB962C8B-B14F-4D97-AF65-F5344CB8AC3E}">
        <p14:creationId xmlns:p14="http://schemas.microsoft.com/office/powerpoint/2010/main" val="680392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Why is AI not just useful, but </a:t>
            </a:r>
            <a:r>
              <a:rPr lang="en-US" sz="1200" b="1" kern="1200" dirty="0">
                <a:solidFill>
                  <a:schemeClr val="tx1"/>
                </a:solidFill>
                <a:effectLst/>
                <a:latin typeface="+mn-lt"/>
                <a:ea typeface="+mn-ea"/>
                <a:cs typeface="+mn-cs"/>
              </a:rPr>
              <a:t>essential</a:t>
            </a:r>
            <a:r>
              <a:rPr lang="en-US" sz="1200" kern="1200" dirty="0">
                <a:solidFill>
                  <a:schemeClr val="tx1"/>
                </a:solidFill>
                <a:effectLst/>
                <a:latin typeface="+mn-lt"/>
                <a:ea typeface="+mn-ea"/>
                <a:cs typeface="+mn-cs"/>
              </a:rPr>
              <a:t> for human survival? </a:t>
            </a:r>
          </a:p>
          <a:p>
            <a:pPr lvl="0"/>
            <a:r>
              <a:rPr lang="en-US" sz="1200" kern="1200" dirty="0">
                <a:solidFill>
                  <a:schemeClr val="tx1"/>
                </a:solidFill>
                <a:effectLst/>
                <a:latin typeface="+mn-lt"/>
                <a:ea typeface="+mn-ea"/>
                <a:cs typeface="+mn-cs"/>
              </a:rPr>
              <a:t>Because of rising global nationalism, international political cooperation on climate change (like the 1987 Montreal Protocol) is stalled.</a:t>
            </a:r>
          </a:p>
          <a:p>
            <a:pPr lvl="0"/>
            <a:r>
              <a:rPr lang="en-US" sz="1200" kern="1200" dirty="0">
                <a:solidFill>
                  <a:schemeClr val="tx1"/>
                </a:solidFill>
                <a:effectLst/>
                <a:latin typeface="+mn-lt"/>
                <a:ea typeface="+mn-ea"/>
                <a:cs typeface="+mn-cs"/>
              </a:rPr>
              <a:t>Because policy is paralyzed, humanity's only way out of climate degradation is </a:t>
            </a:r>
            <a:r>
              <a:rPr lang="en-US" sz="1200" b="1" kern="1200" dirty="0">
                <a:solidFill>
                  <a:schemeClr val="tx1"/>
                </a:solidFill>
                <a:effectLst/>
                <a:latin typeface="+mn-lt"/>
                <a:ea typeface="+mn-ea"/>
                <a:cs typeface="+mn-cs"/>
              </a:rPr>
              <a:t>technological innovation</a:t>
            </a:r>
            <a:r>
              <a:rPr lang="en-US" sz="1200" kern="1200" dirty="0">
                <a:solidFill>
                  <a:schemeClr val="tx1"/>
                </a:solidFill>
                <a:effectLst/>
                <a:latin typeface="+mn-lt"/>
                <a:ea typeface="+mn-ea"/>
                <a:cs typeface="+mn-cs"/>
              </a:rPr>
              <a:t>.</a:t>
            </a:r>
          </a:p>
          <a:p>
            <a:pPr lvl="0"/>
            <a:r>
              <a:rPr lang="en-US" sz="1200" kern="1200" dirty="0">
                <a:solidFill>
                  <a:schemeClr val="tx1"/>
                </a:solidFill>
                <a:effectLst/>
                <a:latin typeface="+mn-lt"/>
                <a:ea typeface="+mn-ea"/>
                <a:cs typeface="+mn-cs"/>
              </a:rPr>
              <a:t>AI will not 'do the science' by itself, but it acts as a force multiplier for human scientists—accelerating breakthroughs in materials science, clean energy, and carbon capture.</a:t>
            </a:r>
          </a:p>
          <a:p>
            <a:pPr lvl="0"/>
            <a:r>
              <a:rPr lang="en-US" sz="1200" kern="1200" dirty="0">
                <a:solidFill>
                  <a:schemeClr val="tx1"/>
                </a:solidFill>
                <a:effectLst/>
                <a:latin typeface="+mn-lt"/>
                <a:ea typeface="+mn-ea"/>
                <a:cs typeface="+mn-cs"/>
              </a:rPr>
              <a:t>AI is not the danger; global warming is the danger. AI is our most powerful tool to solve it. </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14</a:t>
            </a:fld>
            <a:endParaRPr lang="en-US"/>
          </a:p>
        </p:txBody>
      </p:sp>
    </p:spTree>
    <p:extLst>
      <p:ext uri="{BB962C8B-B14F-4D97-AF65-F5344CB8AC3E}">
        <p14:creationId xmlns:p14="http://schemas.microsoft.com/office/powerpoint/2010/main" val="2541082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Slide 15 highlights one of the most practical applications of AI: </a:t>
            </a:r>
            <a:r>
              <a:rPr lang="en-US" sz="1200" b="1" kern="1200" dirty="0">
                <a:solidFill>
                  <a:schemeClr val="tx1"/>
                </a:solidFill>
                <a:effectLst/>
                <a:latin typeface="+mn-lt"/>
                <a:ea typeface="+mn-ea"/>
                <a:cs typeface="+mn-cs"/>
              </a:rPr>
              <a:t>overhauling education</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Since the Industrial Revolution, education has operated on a 19th-century 'factory model'—one teacher lecturing to a bell curve of students. The bottom 20% are lost, the top 10% are bored, and instruction targets only the middle. </a:t>
            </a:r>
          </a:p>
          <a:p>
            <a:pPr lvl="0"/>
            <a:r>
              <a:rPr lang="en-US" sz="1200" kern="1200" dirty="0">
                <a:solidFill>
                  <a:schemeClr val="tx1"/>
                </a:solidFill>
                <a:effectLst/>
                <a:latin typeface="+mn-lt"/>
                <a:ea typeface="+mn-ea"/>
                <a:cs typeface="+mn-cs"/>
              </a:rPr>
              <a:t>AI enables </a:t>
            </a:r>
            <a:r>
              <a:rPr lang="en-US" sz="1200" b="1" kern="1200" dirty="0">
                <a:solidFill>
                  <a:schemeClr val="tx1"/>
                </a:solidFill>
                <a:effectLst/>
                <a:latin typeface="+mn-lt"/>
                <a:ea typeface="+mn-ea"/>
                <a:cs typeface="+mn-cs"/>
              </a:rPr>
              <a:t>1-to-1 personalized tutoring</a:t>
            </a:r>
            <a:r>
              <a:rPr lang="en-US" sz="1200" kern="1200" dirty="0">
                <a:solidFill>
                  <a:schemeClr val="tx1"/>
                </a:solidFill>
                <a:effectLst/>
                <a:latin typeface="+mn-lt"/>
                <a:ea typeface="+mn-ea"/>
                <a:cs typeface="+mn-cs"/>
              </a:rPr>
              <a:t>. It identifies a student's specific strengths, weaknesses, and learning styles in real time. </a:t>
            </a:r>
          </a:p>
          <a:p>
            <a:pPr lvl="0"/>
            <a:r>
              <a:rPr lang="en-US" sz="1200" kern="1200" dirty="0">
                <a:solidFill>
                  <a:schemeClr val="tx1"/>
                </a:solidFill>
                <a:effectLst/>
                <a:latin typeface="+mn-lt"/>
                <a:ea typeface="+mn-ea"/>
                <a:cs typeface="+mn-cs"/>
              </a:rPr>
              <a:t>Just as medicine shifted from one-size-fits-all treatments to precision genomics, education will become a customized prescription for every individual mind.</a:t>
            </a:r>
          </a:p>
          <a:p>
            <a:endParaRPr lang="en-US" dirty="0"/>
          </a:p>
        </p:txBody>
      </p:sp>
      <p:sp>
        <p:nvSpPr>
          <p:cNvPr id="4" name="Slide Number Placeholder 3"/>
          <p:cNvSpPr>
            <a:spLocks noGrp="1"/>
          </p:cNvSpPr>
          <p:nvPr>
            <p:ph type="sldNum" sz="quarter" idx="5"/>
          </p:nvPr>
        </p:nvSpPr>
        <p:spPr/>
        <p:txBody>
          <a:bodyPr/>
          <a:lstStyle/>
          <a:p>
            <a:fld id="{396A6A5A-49B1-420F-8DDE-DBA949EAF24B}" type="slidenum">
              <a:rPr lang="en-US" smtClean="0"/>
              <a:t>15</a:t>
            </a:fld>
            <a:endParaRPr lang="en-US"/>
          </a:p>
        </p:txBody>
      </p:sp>
    </p:spTree>
    <p:extLst>
      <p:ext uri="{BB962C8B-B14F-4D97-AF65-F5344CB8AC3E}">
        <p14:creationId xmlns:p14="http://schemas.microsoft.com/office/powerpoint/2010/main" val="40566956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conclude our tour of </a:t>
            </a:r>
            <a:r>
              <a:rPr lang="en-US" sz="1200" i="1" kern="1200" dirty="0">
                <a:solidFill>
                  <a:schemeClr val="tx1"/>
                </a:solidFill>
                <a:effectLst/>
                <a:latin typeface="+mn-lt"/>
                <a:ea typeface="+mn-ea"/>
                <a:cs typeface="+mn-cs"/>
              </a:rPr>
              <a:t>The Mechanics of Progress</a:t>
            </a:r>
            <a:r>
              <a:rPr lang="en-US" sz="1200" kern="1200" dirty="0">
                <a:solidFill>
                  <a:schemeClr val="tx1"/>
                </a:solidFill>
                <a:effectLst/>
                <a:latin typeface="+mn-lt"/>
                <a:ea typeface="+mn-ea"/>
                <a:cs typeface="+mn-cs"/>
              </a:rPr>
              <a:t>, Slide 16 maps the global landscape toward 2050: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are heading toward a </a:t>
            </a:r>
            <a:r>
              <a:rPr lang="en-US" sz="1200" b="1" kern="1200" dirty="0">
                <a:solidFill>
                  <a:schemeClr val="tx1"/>
                </a:solidFill>
                <a:effectLst/>
                <a:latin typeface="+mn-lt"/>
                <a:ea typeface="+mn-ea"/>
                <a:cs typeface="+mn-cs"/>
              </a:rPr>
              <a:t>bi-polar tech world</a:t>
            </a:r>
            <a:r>
              <a:rPr lang="en-US" sz="1200" kern="1200" dirty="0">
                <a:solidFill>
                  <a:schemeClr val="tx1"/>
                </a:solidFill>
                <a:effectLst/>
                <a:latin typeface="+mn-lt"/>
                <a:ea typeface="+mn-ea"/>
                <a:cs typeface="+mn-cs"/>
              </a:rPr>
              <a:t> anchored by the United States and China, with emerging wildcards in regions like Latin America or Southeast Asia.</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Europe risks remaining in comfortable stagnation, while Russia remains structurally sidelined.</a:t>
            </a:r>
          </a:p>
          <a:p>
            <a:pPr lvl="0"/>
            <a:r>
              <a:rPr lang="en-US" sz="1200" kern="1200" dirty="0">
                <a:solidFill>
                  <a:schemeClr val="tx1"/>
                </a:solidFill>
                <a:effectLst/>
                <a:latin typeface="+mn-lt"/>
                <a:ea typeface="+mn-ea"/>
                <a:cs typeface="+mn-cs"/>
              </a:rPr>
              <a:t>Let us leave you with this fundamental truth: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Technology only dictates what is possible.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Our institutions dictate what becomes reality. </a:t>
            </a:r>
          </a:p>
          <a:p>
            <a:pPr lvl="0"/>
            <a:r>
              <a:rPr lang="en-US" sz="1200" kern="1200" dirty="0">
                <a:solidFill>
                  <a:schemeClr val="tx1"/>
                </a:solidFill>
                <a:effectLst/>
                <a:latin typeface="+mn-lt"/>
                <a:ea typeface="+mn-ea"/>
                <a:cs typeface="+mn-cs"/>
              </a:rPr>
              <a:t>Progress is not automatic, nor is it guaranteed by laws of nature. Progress is a conscious societal choice. </a:t>
            </a:r>
          </a:p>
          <a:p>
            <a:pPr lvl="0"/>
            <a:r>
              <a:rPr lang="en-US" sz="1200" kern="1200" dirty="0">
                <a:solidFill>
                  <a:schemeClr val="tx1"/>
                </a:solidFill>
                <a:effectLst/>
                <a:latin typeface="+mn-lt"/>
                <a:ea typeface="+mn-ea"/>
                <a:cs typeface="+mn-cs"/>
              </a:rPr>
              <a:t>Thank you very much. I welcome any questions.</a:t>
            </a:r>
          </a:p>
          <a:p>
            <a:endParaRPr lang="en-US" b="1" dirty="0"/>
          </a:p>
          <a:p>
            <a:endParaRPr lang="en-US" b="1" dirty="0"/>
          </a:p>
          <a:p>
            <a:endParaRPr lang="en-US" b="1" dirty="0"/>
          </a:p>
          <a:p>
            <a:r>
              <a:rPr lang="en-US" b="1" dirty="0"/>
              <a:t>Nobel Economist: Will China Eventually Overtake America? | Joel Mokyr</a:t>
            </a:r>
          </a:p>
          <a:p>
            <a:r>
              <a:rPr lang="en-US" b="1" dirty="0"/>
              <a:t>https://www.youtube.com/watch?v=rgXIJz0WvBE</a:t>
            </a:r>
          </a:p>
          <a:p>
            <a:endParaRPr lang="en-US" b="1" dirty="0"/>
          </a:p>
        </p:txBody>
      </p:sp>
      <p:sp>
        <p:nvSpPr>
          <p:cNvPr id="4" name="Slide Number Placeholder 3"/>
          <p:cNvSpPr>
            <a:spLocks noGrp="1"/>
          </p:cNvSpPr>
          <p:nvPr>
            <p:ph type="sldNum" sz="quarter" idx="5"/>
          </p:nvPr>
        </p:nvSpPr>
        <p:spPr/>
        <p:txBody>
          <a:bodyPr/>
          <a:lstStyle/>
          <a:p>
            <a:fld id="{396A6A5A-49B1-420F-8DDE-DBA949EAF24B}" type="slidenum">
              <a:rPr lang="en-US" smtClean="0"/>
              <a:t>16</a:t>
            </a:fld>
            <a:endParaRPr lang="en-US"/>
          </a:p>
        </p:txBody>
      </p:sp>
    </p:spTree>
    <p:extLst>
      <p:ext uri="{BB962C8B-B14F-4D97-AF65-F5344CB8AC3E}">
        <p14:creationId xmlns:p14="http://schemas.microsoft.com/office/powerpoint/2010/main" val="4170449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176355-2090-EC59-06FC-D66093D15447}"/>
              </a:ext>
            </a:extLst>
          </p:cNvPr>
          <p:cNvSpPr>
            <a:spLocks noGrp="1"/>
          </p:cNvSpPr>
          <p:nvPr>
            <p:ph type="dt" sz="half" idx="10"/>
          </p:nvPr>
        </p:nvSpPr>
        <p:spPr/>
        <p:txBody>
          <a:bodyPr/>
          <a:lstStyle/>
          <a:p>
            <a:fld id="{407726EB-DE8B-4FA7-BA0C-2A266BFCB03D}" type="datetimeFigureOut">
              <a:rPr lang="en-US" smtClean="0"/>
              <a:t>10/21/2026</a:t>
            </a:fld>
            <a:endParaRPr lang="en-US"/>
          </a:p>
        </p:txBody>
      </p:sp>
      <p:sp>
        <p:nvSpPr>
          <p:cNvPr id="3" name="Footer Placeholder 2">
            <a:extLst>
              <a:ext uri="{FF2B5EF4-FFF2-40B4-BE49-F238E27FC236}">
                <a16:creationId xmlns:a16="http://schemas.microsoft.com/office/drawing/2014/main" id="{65052AC8-66E7-54B5-EDC7-6084591A22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3609F7-7718-D7DA-8C1D-0A49DA1E0914}"/>
              </a:ext>
            </a:extLst>
          </p:cNvPr>
          <p:cNvSpPr>
            <a:spLocks noGrp="1"/>
          </p:cNvSpPr>
          <p:nvPr>
            <p:ph type="sldNum" sz="quarter" idx="12"/>
          </p:nvPr>
        </p:nvSpPr>
        <p:spPr/>
        <p:txBody>
          <a:bodyPr/>
          <a:lstStyle/>
          <a:p>
            <a:fld id="{6110C113-9F48-4B44-8828-9365D1846B1E}" type="slidenum">
              <a:rPr lang="en-US" smtClean="0"/>
              <a:t>‹#›</a:t>
            </a:fld>
            <a:endParaRPr lang="en-US"/>
          </a:p>
        </p:txBody>
      </p:sp>
    </p:spTree>
    <p:extLst>
      <p:ext uri="{BB962C8B-B14F-4D97-AF65-F5344CB8AC3E}">
        <p14:creationId xmlns:p14="http://schemas.microsoft.com/office/powerpoint/2010/main" val="409859644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DA64FC-EA2C-CE61-F794-AEC7B11B6B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007B29-2AD4-56CB-7364-9A15058034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B7C405-9A7F-5360-5B91-B25CAA1B96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26EB-DE8B-4FA7-BA0C-2A266BFCB03D}" type="datetimeFigureOut">
              <a:rPr lang="en-US" smtClean="0"/>
              <a:t>10/21/2026</a:t>
            </a:fld>
            <a:endParaRPr lang="en-US"/>
          </a:p>
        </p:txBody>
      </p:sp>
      <p:sp>
        <p:nvSpPr>
          <p:cNvPr id="5" name="Footer Placeholder 4">
            <a:extLst>
              <a:ext uri="{FF2B5EF4-FFF2-40B4-BE49-F238E27FC236}">
                <a16:creationId xmlns:a16="http://schemas.microsoft.com/office/drawing/2014/main" id="{19E76FE3-E7BF-0B6F-DAE2-633DF682E7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EFDFB3-0183-9DA5-F7C0-0204DE9A9F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10C113-9F48-4B44-8828-9365D1846B1E}" type="slidenum">
              <a:rPr lang="en-US" smtClean="0"/>
              <a:t>‹#›</a:t>
            </a:fld>
            <a:endParaRPr lang="en-US"/>
          </a:p>
        </p:txBody>
      </p:sp>
    </p:spTree>
    <p:extLst>
      <p:ext uri="{BB962C8B-B14F-4D97-AF65-F5344CB8AC3E}">
        <p14:creationId xmlns:p14="http://schemas.microsoft.com/office/powerpoint/2010/main" val="152559305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9EBDB7A-7256-B0F6-8562-C78CE96BFEB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BB017D-99C9-F784-F220-1465814770E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A8E40F-2035-082A-0A3D-03A9E12CBF4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F9ED77-5889-DF54-8F1D-647BBA2464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3A161C-9B51-3AFA-A290-C1A01FC8E9B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589D90-30E4-25FD-1ACE-61706CEB90E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64460B-4664-FA5F-345E-146DC24AF9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F0392E-4F61-7EC7-77F4-23108859CFA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98B990-E79B-06CF-B342-0CC3D88F970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0F687E-DA65-0AD7-224A-050C458FBD9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0493BF6-35AB-CB6E-4DCD-B23F67E3E53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7306A8-465E-76AD-0173-58DE9CF2F3E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BD63CA-7BA3-49E1-A35E-4098BA7F6A7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6D4173-163F-8208-1E4B-F70B115C1C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7205F6-D7E6-A9A2-96F6-2BD7487B5AA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BA9DBC-6C86-C76E-439E-95607DD02D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1504782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1913</Words>
  <Application>Microsoft Office PowerPoint</Application>
  <PresentationFormat>寬螢幕</PresentationFormat>
  <Paragraphs>105</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2026-09-22T02:35:12Z</dcterms:created>
  <dcterms:modified xsi:type="dcterms:W3CDTF">2026-10-21T02:48:48Z</dcterms:modified>
</cp:coreProperties>
</file>