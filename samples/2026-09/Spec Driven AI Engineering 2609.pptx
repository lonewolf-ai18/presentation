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82D41E-96AA-41EB-BEDE-BC87D4FDF04D}" v="20" dt="2026-09-23T05:18:45.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71795"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3T05:18:56.806" v="63" actId="166"/>
      <pc:docMkLst>
        <pc:docMk/>
      </pc:docMkLst>
      <pc:sldChg chg="addSp delSp modSp mod modAnim modNotes modNotesTx">
        <pc:chgData name="Lai, Wilson" userId="2840974a-0d84-4886-90a9-9a3ed79f3a48" providerId="ADAL" clId="{9F23B798-9E84-4552-BA63-E776E805C424}" dt="2026-09-23T05:18:56.806" v="63" actId="166"/>
        <pc:sldMkLst>
          <pc:docMk/>
          <pc:sldMk cId="0" sldId="257"/>
        </pc:sldMkLst>
        <pc:spChg chg="add mod">
          <ac:chgData name="Lai, Wilson" userId="2840974a-0d84-4886-90a9-9a3ed79f3a48" providerId="ADAL" clId="{9F23B798-9E84-4552-BA63-E776E805C424}" dt="2026-09-23T04:58:36.742" v="10" actId="164"/>
          <ac:spMkLst>
            <pc:docMk/>
            <pc:sldMk cId="0" sldId="257"/>
            <ac:spMk id="5" creationId="{0FF7C3F3-CBB8-7098-C7C3-2643DD778A9B}"/>
          </ac:spMkLst>
        </pc:spChg>
        <pc:grpChg chg="add mod">
          <ac:chgData name="Lai, Wilson" userId="2840974a-0d84-4886-90a9-9a3ed79f3a48" providerId="ADAL" clId="{9F23B798-9E84-4552-BA63-E776E805C424}" dt="2026-09-23T04:58:36.742" v="10" actId="164"/>
          <ac:grpSpMkLst>
            <pc:docMk/>
            <pc:sldMk cId="0" sldId="257"/>
            <ac:grpSpMk id="6" creationId="{D85894E7-601C-D161-E665-818DFAF609F9}"/>
          </ac:grpSpMkLst>
        </pc:grpChg>
        <pc:picChg chg="del mod">
          <ac:chgData name="Lai, Wilson" userId="2840974a-0d84-4886-90a9-9a3ed79f3a48" providerId="ADAL" clId="{9F23B798-9E84-4552-BA63-E776E805C424}" dt="2026-09-23T05:01:46.074" v="11" actId="21"/>
          <ac:picMkLst>
            <pc:docMk/>
            <pc:sldMk cId="0" sldId="257"/>
            <ac:picMk id="2" creationId="{00000000-0000-0000-0000-000000000000}"/>
          </ac:picMkLst>
        </pc:picChg>
        <pc:picChg chg="add mod">
          <ac:chgData name="Lai, Wilson" userId="2840974a-0d84-4886-90a9-9a3ed79f3a48" providerId="ADAL" clId="{9F23B798-9E84-4552-BA63-E776E805C424}" dt="2026-09-23T04:58:36.742" v="10" actId="164"/>
          <ac:picMkLst>
            <pc:docMk/>
            <pc:sldMk cId="0" sldId="257"/>
            <ac:picMk id="3" creationId="{7EDD86B2-AD62-B913-D83F-F951933F5160}"/>
          </ac:picMkLst>
        </pc:picChg>
        <pc:picChg chg="add ord">
          <ac:chgData name="Lai, Wilson" userId="2840974a-0d84-4886-90a9-9a3ed79f3a48" providerId="ADAL" clId="{9F23B798-9E84-4552-BA63-E776E805C424}" dt="2026-09-23T05:18:56.806" v="63" actId="166"/>
          <ac:picMkLst>
            <pc:docMk/>
            <pc:sldMk cId="0" sldId="257"/>
            <ac:picMk id="7" creationId="{2F2A63B3-5485-975A-B987-DC1EA366A643}"/>
          </ac:picMkLst>
        </pc:picChg>
      </pc:sldChg>
      <pc:sldChg chg="addSp delSp mod modNotes modNotesTx">
        <pc:chgData name="Lai, Wilson" userId="2840974a-0d84-4886-90a9-9a3ed79f3a48" providerId="ADAL" clId="{9F23B798-9E84-4552-BA63-E776E805C424}" dt="2026-09-23T05:18:45.227" v="62"/>
        <pc:sldMkLst>
          <pc:docMk/>
          <pc:sldMk cId="0" sldId="258"/>
        </pc:sldMkLst>
        <pc:picChg chg="del">
          <ac:chgData name="Lai, Wilson" userId="2840974a-0d84-4886-90a9-9a3ed79f3a48" providerId="ADAL" clId="{9F23B798-9E84-4552-BA63-E776E805C424}" dt="2026-09-23T05:01:56.882" v="13" actId="21"/>
          <ac:picMkLst>
            <pc:docMk/>
            <pc:sldMk cId="0" sldId="258"/>
            <ac:picMk id="2" creationId="{00000000-0000-0000-0000-000000000000}"/>
          </ac:picMkLst>
        </pc:picChg>
        <pc:picChg chg="add">
          <ac:chgData name="Lai, Wilson" userId="2840974a-0d84-4886-90a9-9a3ed79f3a48" providerId="ADAL" clId="{9F23B798-9E84-4552-BA63-E776E805C424}" dt="2026-09-23T05:02:06.286" v="14" actId="22"/>
          <ac:picMkLst>
            <pc:docMk/>
            <pc:sldMk cId="0" sldId="258"/>
            <ac:picMk id="4" creationId="{B2180B29-979D-D648-6990-0880E9D532FA}"/>
          </ac:picMkLst>
        </pc:picChg>
      </pc:sldChg>
      <pc:sldChg chg="addSp delSp mod modNotes">
        <pc:chgData name="Lai, Wilson" userId="2840974a-0d84-4886-90a9-9a3ed79f3a48" providerId="ADAL" clId="{9F23B798-9E84-4552-BA63-E776E805C424}" dt="2026-09-23T05:18:45.227" v="62"/>
        <pc:sldMkLst>
          <pc:docMk/>
          <pc:sldMk cId="0" sldId="259"/>
        </pc:sldMkLst>
        <pc:picChg chg="del">
          <ac:chgData name="Lai, Wilson" userId="2840974a-0d84-4886-90a9-9a3ed79f3a48" providerId="ADAL" clId="{9F23B798-9E84-4552-BA63-E776E805C424}" dt="2026-09-23T05:02:07.837" v="15" actId="21"/>
          <ac:picMkLst>
            <pc:docMk/>
            <pc:sldMk cId="0" sldId="259"/>
            <ac:picMk id="2" creationId="{00000000-0000-0000-0000-000000000000}"/>
          </ac:picMkLst>
        </pc:picChg>
        <pc:picChg chg="add">
          <ac:chgData name="Lai, Wilson" userId="2840974a-0d84-4886-90a9-9a3ed79f3a48" providerId="ADAL" clId="{9F23B798-9E84-4552-BA63-E776E805C424}" dt="2026-09-23T05:02:17.004" v="16" actId="22"/>
          <ac:picMkLst>
            <pc:docMk/>
            <pc:sldMk cId="0" sldId="259"/>
            <ac:picMk id="4" creationId="{2A760195-22C0-2E6A-E719-9F89838F5186}"/>
          </ac:picMkLst>
        </pc:picChg>
      </pc:sldChg>
      <pc:sldChg chg="addSp delSp mod modNotes modNotesTx">
        <pc:chgData name="Lai, Wilson" userId="2840974a-0d84-4886-90a9-9a3ed79f3a48" providerId="ADAL" clId="{9F23B798-9E84-4552-BA63-E776E805C424}" dt="2026-09-23T05:18:45.227" v="62"/>
        <pc:sldMkLst>
          <pc:docMk/>
          <pc:sldMk cId="0" sldId="260"/>
        </pc:sldMkLst>
        <pc:picChg chg="del">
          <ac:chgData name="Lai, Wilson" userId="2840974a-0d84-4886-90a9-9a3ed79f3a48" providerId="ADAL" clId="{9F23B798-9E84-4552-BA63-E776E805C424}" dt="2026-09-23T05:02:18.246" v="17" actId="21"/>
          <ac:picMkLst>
            <pc:docMk/>
            <pc:sldMk cId="0" sldId="260"/>
            <ac:picMk id="2" creationId="{00000000-0000-0000-0000-000000000000}"/>
          </ac:picMkLst>
        </pc:picChg>
        <pc:picChg chg="add">
          <ac:chgData name="Lai, Wilson" userId="2840974a-0d84-4886-90a9-9a3ed79f3a48" providerId="ADAL" clId="{9F23B798-9E84-4552-BA63-E776E805C424}" dt="2026-09-23T05:02:26.079" v="18" actId="22"/>
          <ac:picMkLst>
            <pc:docMk/>
            <pc:sldMk cId="0" sldId="260"/>
            <ac:picMk id="4" creationId="{0EA46CEA-CEB7-34A9-10C8-36BD839C4CA1}"/>
          </ac:picMkLst>
        </pc:picChg>
      </pc:sldChg>
      <pc:sldChg chg="addSp delSp mod modNotes">
        <pc:chgData name="Lai, Wilson" userId="2840974a-0d84-4886-90a9-9a3ed79f3a48" providerId="ADAL" clId="{9F23B798-9E84-4552-BA63-E776E805C424}" dt="2026-09-23T05:18:45.227" v="62"/>
        <pc:sldMkLst>
          <pc:docMk/>
          <pc:sldMk cId="0" sldId="261"/>
        </pc:sldMkLst>
        <pc:picChg chg="del">
          <ac:chgData name="Lai, Wilson" userId="2840974a-0d84-4886-90a9-9a3ed79f3a48" providerId="ADAL" clId="{9F23B798-9E84-4552-BA63-E776E805C424}" dt="2026-09-23T05:02:27.594" v="19" actId="21"/>
          <ac:picMkLst>
            <pc:docMk/>
            <pc:sldMk cId="0" sldId="261"/>
            <ac:picMk id="2" creationId="{00000000-0000-0000-0000-000000000000}"/>
          </ac:picMkLst>
        </pc:picChg>
        <pc:picChg chg="add">
          <ac:chgData name="Lai, Wilson" userId="2840974a-0d84-4886-90a9-9a3ed79f3a48" providerId="ADAL" clId="{9F23B798-9E84-4552-BA63-E776E805C424}" dt="2026-09-23T05:02:41.403" v="20" actId="22"/>
          <ac:picMkLst>
            <pc:docMk/>
            <pc:sldMk cId="0" sldId="261"/>
            <ac:picMk id="4" creationId="{3BFA0B2F-9134-5883-DFF9-2CF4302A4206}"/>
          </ac:picMkLst>
        </pc:picChg>
      </pc:sldChg>
      <pc:sldChg chg="addSp delSp mod modNotes modNotesTx">
        <pc:chgData name="Lai, Wilson" userId="2840974a-0d84-4886-90a9-9a3ed79f3a48" providerId="ADAL" clId="{9F23B798-9E84-4552-BA63-E776E805C424}" dt="2026-09-23T05:18:45.227" v="62"/>
        <pc:sldMkLst>
          <pc:docMk/>
          <pc:sldMk cId="0" sldId="262"/>
        </pc:sldMkLst>
        <pc:picChg chg="del">
          <ac:chgData name="Lai, Wilson" userId="2840974a-0d84-4886-90a9-9a3ed79f3a48" providerId="ADAL" clId="{9F23B798-9E84-4552-BA63-E776E805C424}" dt="2026-09-23T05:02:44.438" v="21" actId="21"/>
          <ac:picMkLst>
            <pc:docMk/>
            <pc:sldMk cId="0" sldId="262"/>
            <ac:picMk id="2" creationId="{00000000-0000-0000-0000-000000000000}"/>
          </ac:picMkLst>
        </pc:picChg>
        <pc:picChg chg="add">
          <ac:chgData name="Lai, Wilson" userId="2840974a-0d84-4886-90a9-9a3ed79f3a48" providerId="ADAL" clId="{9F23B798-9E84-4552-BA63-E776E805C424}" dt="2026-09-23T05:02:56.635" v="22" actId="22"/>
          <ac:picMkLst>
            <pc:docMk/>
            <pc:sldMk cId="0" sldId="262"/>
            <ac:picMk id="4" creationId="{BEABA554-CCC9-2AD7-9662-6DA5E1AE4560}"/>
          </ac:picMkLst>
        </pc:picChg>
      </pc:sldChg>
      <pc:sldChg chg="addSp delSp mod modNotes modNotesTx">
        <pc:chgData name="Lai, Wilson" userId="2840974a-0d84-4886-90a9-9a3ed79f3a48" providerId="ADAL" clId="{9F23B798-9E84-4552-BA63-E776E805C424}" dt="2026-09-23T05:18:45.227" v="62"/>
        <pc:sldMkLst>
          <pc:docMk/>
          <pc:sldMk cId="0" sldId="263"/>
        </pc:sldMkLst>
        <pc:picChg chg="del">
          <ac:chgData name="Lai, Wilson" userId="2840974a-0d84-4886-90a9-9a3ed79f3a48" providerId="ADAL" clId="{9F23B798-9E84-4552-BA63-E776E805C424}" dt="2026-09-23T05:02:58.441" v="23" actId="21"/>
          <ac:picMkLst>
            <pc:docMk/>
            <pc:sldMk cId="0" sldId="263"/>
            <ac:picMk id="2" creationId="{00000000-0000-0000-0000-000000000000}"/>
          </ac:picMkLst>
        </pc:picChg>
        <pc:picChg chg="add">
          <ac:chgData name="Lai, Wilson" userId="2840974a-0d84-4886-90a9-9a3ed79f3a48" providerId="ADAL" clId="{9F23B798-9E84-4552-BA63-E776E805C424}" dt="2026-09-23T05:03:06.581" v="24" actId="22"/>
          <ac:picMkLst>
            <pc:docMk/>
            <pc:sldMk cId="0" sldId="263"/>
            <ac:picMk id="4" creationId="{581A5C90-16D5-3672-9DCF-A99AFE523C13}"/>
          </ac:picMkLst>
        </pc:picChg>
      </pc:sldChg>
      <pc:sldChg chg="addSp delSp mod modNotes">
        <pc:chgData name="Lai, Wilson" userId="2840974a-0d84-4886-90a9-9a3ed79f3a48" providerId="ADAL" clId="{9F23B798-9E84-4552-BA63-E776E805C424}" dt="2026-09-23T05:18:45.227" v="62"/>
        <pc:sldMkLst>
          <pc:docMk/>
          <pc:sldMk cId="0" sldId="264"/>
        </pc:sldMkLst>
        <pc:picChg chg="del">
          <ac:chgData name="Lai, Wilson" userId="2840974a-0d84-4886-90a9-9a3ed79f3a48" providerId="ADAL" clId="{9F23B798-9E84-4552-BA63-E776E805C424}" dt="2026-09-23T05:03:07.912" v="25" actId="21"/>
          <ac:picMkLst>
            <pc:docMk/>
            <pc:sldMk cId="0" sldId="264"/>
            <ac:picMk id="2" creationId="{00000000-0000-0000-0000-000000000000}"/>
          </ac:picMkLst>
        </pc:picChg>
        <pc:picChg chg="add">
          <ac:chgData name="Lai, Wilson" userId="2840974a-0d84-4886-90a9-9a3ed79f3a48" providerId="ADAL" clId="{9F23B798-9E84-4552-BA63-E776E805C424}" dt="2026-09-23T05:03:16.800" v="26" actId="22"/>
          <ac:picMkLst>
            <pc:docMk/>
            <pc:sldMk cId="0" sldId="264"/>
            <ac:picMk id="4" creationId="{D805C6E1-381A-06BB-60B0-094A150D6EFE}"/>
          </ac:picMkLst>
        </pc:picChg>
      </pc:sldChg>
      <pc:sldChg chg="addSp delSp mod modNotes modNotesTx">
        <pc:chgData name="Lai, Wilson" userId="2840974a-0d84-4886-90a9-9a3ed79f3a48" providerId="ADAL" clId="{9F23B798-9E84-4552-BA63-E776E805C424}" dt="2026-09-23T05:18:45.227" v="62"/>
        <pc:sldMkLst>
          <pc:docMk/>
          <pc:sldMk cId="0" sldId="265"/>
        </pc:sldMkLst>
        <pc:picChg chg="del">
          <ac:chgData name="Lai, Wilson" userId="2840974a-0d84-4886-90a9-9a3ed79f3a48" providerId="ADAL" clId="{9F23B798-9E84-4552-BA63-E776E805C424}" dt="2026-09-23T05:03:20.235" v="27" actId="21"/>
          <ac:picMkLst>
            <pc:docMk/>
            <pc:sldMk cId="0" sldId="265"/>
            <ac:picMk id="2" creationId="{00000000-0000-0000-0000-000000000000}"/>
          </ac:picMkLst>
        </pc:picChg>
        <pc:picChg chg="add">
          <ac:chgData name="Lai, Wilson" userId="2840974a-0d84-4886-90a9-9a3ed79f3a48" providerId="ADAL" clId="{9F23B798-9E84-4552-BA63-E776E805C424}" dt="2026-09-23T05:03:37.422" v="28" actId="22"/>
          <ac:picMkLst>
            <pc:docMk/>
            <pc:sldMk cId="0" sldId="265"/>
            <ac:picMk id="4" creationId="{7377FBEB-9D6D-0610-F8CA-0A99915A02C5}"/>
          </ac:picMkLst>
        </pc:picChg>
      </pc:sldChg>
      <pc:sldChg chg="addSp delSp mod modNotes modNotesTx">
        <pc:chgData name="Lai, Wilson" userId="2840974a-0d84-4886-90a9-9a3ed79f3a48" providerId="ADAL" clId="{9F23B798-9E84-4552-BA63-E776E805C424}" dt="2026-09-23T05:18:45.227" v="62"/>
        <pc:sldMkLst>
          <pc:docMk/>
          <pc:sldMk cId="0" sldId="266"/>
        </pc:sldMkLst>
        <pc:picChg chg="del">
          <ac:chgData name="Lai, Wilson" userId="2840974a-0d84-4886-90a9-9a3ed79f3a48" providerId="ADAL" clId="{9F23B798-9E84-4552-BA63-E776E805C424}" dt="2026-09-23T05:03:39.332" v="29" actId="21"/>
          <ac:picMkLst>
            <pc:docMk/>
            <pc:sldMk cId="0" sldId="266"/>
            <ac:picMk id="2" creationId="{00000000-0000-0000-0000-000000000000}"/>
          </ac:picMkLst>
        </pc:picChg>
        <pc:picChg chg="add">
          <ac:chgData name="Lai, Wilson" userId="2840974a-0d84-4886-90a9-9a3ed79f3a48" providerId="ADAL" clId="{9F23B798-9E84-4552-BA63-E776E805C424}" dt="2026-09-23T05:03:46.734" v="30" actId="22"/>
          <ac:picMkLst>
            <pc:docMk/>
            <pc:sldMk cId="0" sldId="266"/>
            <ac:picMk id="4" creationId="{4F8DFB3C-41A2-DEB8-EC7F-BEAB240B50CF}"/>
          </ac:picMkLst>
        </pc:picChg>
      </pc:sldChg>
      <pc:sldChg chg="addSp delSp mod modNotes modNotesTx">
        <pc:chgData name="Lai, Wilson" userId="2840974a-0d84-4886-90a9-9a3ed79f3a48" providerId="ADAL" clId="{9F23B798-9E84-4552-BA63-E776E805C424}" dt="2026-09-23T05:18:45.227" v="62"/>
        <pc:sldMkLst>
          <pc:docMk/>
          <pc:sldMk cId="0" sldId="267"/>
        </pc:sldMkLst>
        <pc:picChg chg="del">
          <ac:chgData name="Lai, Wilson" userId="2840974a-0d84-4886-90a9-9a3ed79f3a48" providerId="ADAL" clId="{9F23B798-9E84-4552-BA63-E776E805C424}" dt="2026-09-23T05:03:48.754" v="31" actId="21"/>
          <ac:picMkLst>
            <pc:docMk/>
            <pc:sldMk cId="0" sldId="267"/>
            <ac:picMk id="2" creationId="{00000000-0000-0000-0000-000000000000}"/>
          </ac:picMkLst>
        </pc:picChg>
        <pc:picChg chg="add">
          <ac:chgData name="Lai, Wilson" userId="2840974a-0d84-4886-90a9-9a3ed79f3a48" providerId="ADAL" clId="{9F23B798-9E84-4552-BA63-E776E805C424}" dt="2026-09-23T05:03:55.946" v="32" actId="22"/>
          <ac:picMkLst>
            <pc:docMk/>
            <pc:sldMk cId="0" sldId="267"/>
            <ac:picMk id="4" creationId="{6617BF5B-01AD-023E-8000-9DD10A5BCD41}"/>
          </ac:picMkLst>
        </pc:picChg>
      </pc:sldChg>
      <pc:sldChg chg="addSp delSp mod modNotes">
        <pc:chgData name="Lai, Wilson" userId="2840974a-0d84-4886-90a9-9a3ed79f3a48" providerId="ADAL" clId="{9F23B798-9E84-4552-BA63-E776E805C424}" dt="2026-09-23T05:18:45.227" v="62"/>
        <pc:sldMkLst>
          <pc:docMk/>
          <pc:sldMk cId="0" sldId="268"/>
        </pc:sldMkLst>
        <pc:picChg chg="del">
          <ac:chgData name="Lai, Wilson" userId="2840974a-0d84-4886-90a9-9a3ed79f3a48" providerId="ADAL" clId="{9F23B798-9E84-4552-BA63-E776E805C424}" dt="2026-09-23T05:03:57.526" v="33" actId="21"/>
          <ac:picMkLst>
            <pc:docMk/>
            <pc:sldMk cId="0" sldId="268"/>
            <ac:picMk id="2" creationId="{00000000-0000-0000-0000-000000000000}"/>
          </ac:picMkLst>
        </pc:picChg>
        <pc:picChg chg="add">
          <ac:chgData name="Lai, Wilson" userId="2840974a-0d84-4886-90a9-9a3ed79f3a48" providerId="ADAL" clId="{9F23B798-9E84-4552-BA63-E776E805C424}" dt="2026-09-23T05:04:11.050" v="34" actId="22"/>
          <ac:picMkLst>
            <pc:docMk/>
            <pc:sldMk cId="0" sldId="268"/>
            <ac:picMk id="4" creationId="{5359389B-FEAE-7B3E-3DB6-120F3833A88D}"/>
          </ac:picMkLst>
        </pc:picChg>
      </pc:sldChg>
      <pc:sldChg chg="addSp delSp mod modNotes modNotesTx">
        <pc:chgData name="Lai, Wilson" userId="2840974a-0d84-4886-90a9-9a3ed79f3a48" providerId="ADAL" clId="{9F23B798-9E84-4552-BA63-E776E805C424}" dt="2026-09-23T05:18:45.227" v="62"/>
        <pc:sldMkLst>
          <pc:docMk/>
          <pc:sldMk cId="0" sldId="269"/>
        </pc:sldMkLst>
        <pc:picChg chg="del">
          <ac:chgData name="Lai, Wilson" userId="2840974a-0d84-4886-90a9-9a3ed79f3a48" providerId="ADAL" clId="{9F23B798-9E84-4552-BA63-E776E805C424}" dt="2026-09-23T05:04:14.145" v="35" actId="21"/>
          <ac:picMkLst>
            <pc:docMk/>
            <pc:sldMk cId="0" sldId="269"/>
            <ac:picMk id="2" creationId="{00000000-0000-0000-0000-000000000000}"/>
          </ac:picMkLst>
        </pc:picChg>
        <pc:picChg chg="add">
          <ac:chgData name="Lai, Wilson" userId="2840974a-0d84-4886-90a9-9a3ed79f3a48" providerId="ADAL" clId="{9F23B798-9E84-4552-BA63-E776E805C424}" dt="2026-09-23T05:04:24.423" v="36" actId="22"/>
          <ac:picMkLst>
            <pc:docMk/>
            <pc:sldMk cId="0" sldId="269"/>
            <ac:picMk id="4" creationId="{CEFA97A7-288C-0F35-E419-AE8E1AD78A0C}"/>
          </ac:picMkLst>
        </pc:picChg>
      </pc:sldChg>
      <pc:sldChg chg="addSp delSp mod modNotes modNotesTx">
        <pc:chgData name="Lai, Wilson" userId="2840974a-0d84-4886-90a9-9a3ed79f3a48" providerId="ADAL" clId="{9F23B798-9E84-4552-BA63-E776E805C424}" dt="2026-09-23T05:18:45.227" v="62"/>
        <pc:sldMkLst>
          <pc:docMk/>
          <pc:sldMk cId="0" sldId="270"/>
        </pc:sldMkLst>
        <pc:picChg chg="del">
          <ac:chgData name="Lai, Wilson" userId="2840974a-0d84-4886-90a9-9a3ed79f3a48" providerId="ADAL" clId="{9F23B798-9E84-4552-BA63-E776E805C424}" dt="2026-09-23T05:04:26.359" v="37" actId="21"/>
          <ac:picMkLst>
            <pc:docMk/>
            <pc:sldMk cId="0" sldId="270"/>
            <ac:picMk id="2" creationId="{00000000-0000-0000-0000-000000000000}"/>
          </ac:picMkLst>
        </pc:picChg>
        <pc:picChg chg="add">
          <ac:chgData name="Lai, Wilson" userId="2840974a-0d84-4886-90a9-9a3ed79f3a48" providerId="ADAL" clId="{9F23B798-9E84-4552-BA63-E776E805C424}" dt="2026-09-23T05:04:40.662" v="38" actId="22"/>
          <ac:picMkLst>
            <pc:docMk/>
            <pc:sldMk cId="0" sldId="270"/>
            <ac:picMk id="4" creationId="{A8E1B29D-A14F-2FFA-9BC9-A23B15C087D8}"/>
          </ac:picMkLst>
        </pc:picChg>
      </pc:sldChg>
      <pc:sldChg chg="addSp delSp mod modNotes modNotesTx">
        <pc:chgData name="Lai, Wilson" userId="2840974a-0d84-4886-90a9-9a3ed79f3a48" providerId="ADAL" clId="{9F23B798-9E84-4552-BA63-E776E805C424}" dt="2026-09-23T05:18:45.227" v="62"/>
        <pc:sldMkLst>
          <pc:docMk/>
          <pc:sldMk cId="0" sldId="271"/>
        </pc:sldMkLst>
        <pc:picChg chg="del">
          <ac:chgData name="Lai, Wilson" userId="2840974a-0d84-4886-90a9-9a3ed79f3a48" providerId="ADAL" clId="{9F23B798-9E84-4552-BA63-E776E805C424}" dt="2026-09-23T05:04:43.307" v="39" actId="21"/>
          <ac:picMkLst>
            <pc:docMk/>
            <pc:sldMk cId="0" sldId="271"/>
            <ac:picMk id="2" creationId="{00000000-0000-0000-0000-000000000000}"/>
          </ac:picMkLst>
        </pc:picChg>
        <pc:picChg chg="add">
          <ac:chgData name="Lai, Wilson" userId="2840974a-0d84-4886-90a9-9a3ed79f3a48" providerId="ADAL" clId="{9F23B798-9E84-4552-BA63-E776E805C424}" dt="2026-09-23T05:04:55.599" v="40" actId="22"/>
          <ac:picMkLst>
            <pc:docMk/>
            <pc:sldMk cId="0" sldId="271"/>
            <ac:picMk id="4" creationId="{0A69D7FD-2882-738F-5E9B-0B7BB1A0325A}"/>
          </ac:picMkLst>
        </pc:picChg>
      </pc:sldChg>
      <pc:sldChg chg="addSp delSp mod modNotes modNotesTx">
        <pc:chgData name="Lai, Wilson" userId="2840974a-0d84-4886-90a9-9a3ed79f3a48" providerId="ADAL" clId="{9F23B798-9E84-4552-BA63-E776E805C424}" dt="2026-09-23T05:18:45.227" v="62"/>
        <pc:sldMkLst>
          <pc:docMk/>
          <pc:sldMk cId="3489413170" sldId="272"/>
        </pc:sldMkLst>
        <pc:picChg chg="del">
          <ac:chgData name="Lai, Wilson" userId="2840974a-0d84-4886-90a9-9a3ed79f3a48" providerId="ADAL" clId="{9F23B798-9E84-4552-BA63-E776E805C424}" dt="2026-09-23T05:04:57.587" v="41" actId="21"/>
          <ac:picMkLst>
            <pc:docMk/>
            <pc:sldMk cId="3489413170" sldId="272"/>
            <ac:picMk id="3" creationId="{BAE548A9-A366-9B82-0652-F399B6A67CEB}"/>
          </ac:picMkLst>
        </pc:picChg>
        <pc:picChg chg="add">
          <ac:chgData name="Lai, Wilson" userId="2840974a-0d84-4886-90a9-9a3ed79f3a48" providerId="ADAL" clId="{9F23B798-9E84-4552-BA63-E776E805C424}" dt="2026-09-23T05:05:38.683" v="42" actId="22"/>
          <ac:picMkLst>
            <pc:docMk/>
            <pc:sldMk cId="3489413170" sldId="272"/>
            <ac:picMk id="4" creationId="{3A7EF4B6-DBA0-53F9-93B2-7D91EAB16D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01089-F117-4C4E-8A8B-BD302AF5680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C7C6A-D9D7-4101-A352-B4FE26CA8A69}" type="slidenum">
              <a:rPr lang="en-US" smtClean="0"/>
              <a:t>‹#›</a:t>
            </a:fld>
            <a:endParaRPr lang="en-US"/>
          </a:p>
        </p:txBody>
      </p:sp>
    </p:spTree>
    <p:extLst>
      <p:ext uri="{BB962C8B-B14F-4D97-AF65-F5344CB8AC3E}">
        <p14:creationId xmlns:p14="http://schemas.microsoft.com/office/powerpoint/2010/main" val="1235918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youtube.com/watch?v=hy8UstR2NEg&amp;utm_source=gemini"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discuss one of the most critical transformations happening in software engineering right now: how we bridge the gap between AI coding agents and long-term technical architecture.</a:t>
            </a:r>
          </a:p>
          <a:p>
            <a:r>
              <a:rPr lang="en-US" dirty="0"/>
              <a:t>Over the past two years, AI tools have fundamentally shifted how code is generated. We went from basic code completion to autonomous agents capable of writing hundreds of lines of code in seconds. However, as teams adopt these agents, they quickly run into a wall. The initial speed boost often degrades into architectural chaos, unmaintainable codebases, and relentless debugging sessions.</a:t>
            </a:r>
          </a:p>
          <a:p>
            <a:r>
              <a:rPr lang="en-US" dirty="0"/>
              <a:t>This presentation introduces </a:t>
            </a:r>
            <a:r>
              <a:rPr lang="en-US" b="1" dirty="0"/>
              <a:t>Spec-Driven Development (SDD)</a:t>
            </a:r>
            <a:r>
              <a:rPr lang="en-US" dirty="0"/>
              <a:t>—a structured paradigm that moves us from 'AI chaos' to 'technical permanence'.</a:t>
            </a:r>
          </a:p>
          <a:p>
            <a:r>
              <a:rPr lang="en-US" dirty="0"/>
              <a:t>Look at the architecture on this slide. On the left, we start with </a:t>
            </a:r>
            <a:r>
              <a:rPr lang="en-US" b="1" dirty="0"/>
              <a:t>Human Intent</a:t>
            </a:r>
            <a:r>
              <a:rPr lang="en-US" dirty="0"/>
              <a:t>. As software engineers and architects, our primary job isn't typing syntax line-by-line anymore; it's defining precise intent, business goals, and constraints.</a:t>
            </a:r>
          </a:p>
          <a:p>
            <a:r>
              <a:rPr lang="en-US" dirty="0"/>
              <a:t>In the middle, that intent is formalized into </a:t>
            </a:r>
            <a:r>
              <a:rPr lang="en-US" b="1" dirty="0"/>
              <a:t>Specs</a:t>
            </a:r>
            <a:r>
              <a:rPr lang="en-US" dirty="0"/>
              <a:t>—structured, machine-readable, human-editable files written in plain markdown. These specs define interface contracts, security guidelines, and test criteria.</a:t>
            </a:r>
          </a:p>
          <a:p>
            <a:r>
              <a:rPr lang="en-US" dirty="0"/>
              <a:t>On the right, the </a:t>
            </a:r>
            <a:r>
              <a:rPr lang="en-US" b="1" dirty="0"/>
              <a:t>AI Agent</a:t>
            </a:r>
            <a:r>
              <a:rPr lang="en-US" dirty="0"/>
              <a:t> reads these exact specifications alongside its system instructions and executes the code. Finally, the output goes through a </a:t>
            </a:r>
            <a:r>
              <a:rPr lang="en-US" b="1" dirty="0"/>
              <a:t>Build Pipeline</a:t>
            </a:r>
            <a:r>
              <a:rPr lang="en-US" dirty="0"/>
              <a:t>, where tests and linters verify that the generated code satisfies 100% of the spec before anything touches production.</a:t>
            </a:r>
          </a:p>
          <a:p>
            <a:r>
              <a:rPr lang="en-US" dirty="0"/>
              <a:t>By the end of this session, you will understand why high-level chat prompting fails at scale, how SDD decouples intent from implementation, and how you can apply this exact workflow to build resilient, maintainable software with AI coding agents.</a:t>
            </a:r>
          </a:p>
          <a:p>
            <a:endParaRPr lang="en-US" dirty="0"/>
          </a:p>
          <a:p>
            <a:endParaRPr lang="en-US" dirty="0"/>
          </a:p>
          <a:p>
            <a:endParaRPr lang="en-US" dirty="0"/>
          </a:p>
          <a:p>
            <a:endParaRPr lang="en-US" dirty="0"/>
          </a:p>
          <a:p>
            <a:r>
              <a:rPr lang="en-US" b="1" dirty="0"/>
              <a:t>Full Course: Spec-Driven Development with Coding Agents</a:t>
            </a:r>
          </a:p>
          <a:p>
            <a:r>
              <a:rPr lang="en-US" dirty="0"/>
              <a:t>https://www.youtube.com/watch?v=hy8UstR2NEg</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a:t>
            </a:fld>
            <a:endParaRPr lang="en-US"/>
          </a:p>
        </p:txBody>
      </p:sp>
    </p:spTree>
    <p:extLst>
      <p:ext uri="{BB962C8B-B14F-4D97-AF65-F5344CB8AC3E}">
        <p14:creationId xmlns:p14="http://schemas.microsoft.com/office/powerpoint/2010/main" val="3424598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talk about how most people currently interact with AI models: an approach colloquially known as </a:t>
            </a:r>
            <a:r>
              <a:rPr lang="en-US" b="1" dirty="0"/>
              <a:t>Vibe Coding</a:t>
            </a:r>
            <a:r>
              <a:rPr lang="en-US" dirty="0"/>
              <a:t>.</a:t>
            </a:r>
          </a:p>
          <a:p>
            <a:r>
              <a:rPr lang="en-US" dirty="0"/>
              <a:t>Vibe coding is fast, fun, and feels magical at first. You open a chat window, type a quick prompt like </a:t>
            </a:r>
            <a:r>
              <a:rPr lang="en-US" i="1" dirty="0"/>
              <a:t>'make a button'</a:t>
            </a:r>
            <a:r>
              <a:rPr lang="en-US" dirty="0"/>
              <a:t>, and watch code appear. But what happens next?</a:t>
            </a:r>
          </a:p>
          <a:p>
            <a:r>
              <a:rPr lang="en-US" dirty="0"/>
              <a:t>You look at the UI and think, </a:t>
            </a:r>
            <a:r>
              <a:rPr lang="en-US" i="1" dirty="0"/>
              <a:t>'it's too big'</a:t>
            </a:r>
            <a:r>
              <a:rPr lang="en-US" dirty="0"/>
              <a:t>. So you chat back: </a:t>
            </a:r>
            <a:r>
              <a:rPr lang="en-US" i="1" dirty="0"/>
              <a:t>'make it smaller.'</a:t>
            </a:r>
            <a:r>
              <a:rPr lang="en-US" dirty="0"/>
              <a:t> Then you notice the styling is off: </a:t>
            </a:r>
            <a:r>
              <a:rPr lang="en-US" i="1" dirty="0"/>
              <a:t>'fix the color.'</a:t>
            </a:r>
            <a:r>
              <a:rPr lang="en-US" dirty="0"/>
              <a:t> But in fixing the color, the AI unexpectedly breaks the grid layout. You reply: </a:t>
            </a:r>
            <a:r>
              <a:rPr lang="en-US" i="1" dirty="0"/>
              <a:t>'you broke the layout, fix it.'</a:t>
            </a:r>
            <a:endParaRPr lang="en-US" dirty="0"/>
          </a:p>
          <a:p>
            <a:r>
              <a:rPr lang="en-US" dirty="0"/>
              <a:t>This iterative chat loop is what we call </a:t>
            </a:r>
            <a:r>
              <a:rPr lang="en-US" b="1" dirty="0"/>
              <a:t>The Cognitive Load Funnel</a:t>
            </a:r>
            <a:r>
              <a:rPr lang="en-US" dirty="0"/>
              <a:t>. As you go deeper into a multi-turn chat session, three massive issues emerge:</a:t>
            </a:r>
          </a:p>
          <a:p>
            <a:pPr marL="228600" lvl="0" indent="-228600">
              <a:buFont typeface="+mj-lt"/>
              <a:buAutoNum type="arabicPeriod"/>
            </a:pPr>
            <a:r>
              <a:rPr lang="en-US" b="1" dirty="0"/>
              <a:t>Disposable Code</a:t>
            </a:r>
            <a:r>
              <a:rPr lang="en-US" dirty="0"/>
              <a:t>: High-level, informal prompts generate code optimized only for immediate gratification. It lacks architectural thought. Six months later, nobody—including the AI—knows how to refactor or update it without breaking the entire component.</a:t>
            </a:r>
          </a:p>
          <a:p>
            <a:pPr marL="228600" lvl="0" indent="-228600">
              <a:buFont typeface="+mj-lt"/>
              <a:buAutoNum type="arabicPeriod"/>
            </a:pPr>
            <a:r>
              <a:rPr lang="en-US" b="1" dirty="0"/>
              <a:t>Context Decay</a:t>
            </a:r>
            <a:r>
              <a:rPr lang="en-US" dirty="0"/>
              <a:t>: Every LLM operates within a context window. In multi-turn chat sessions, token counts explode with back-and-forth chatter, old code snippets, and error traces. This overwhelms the agent's working memory. As working memory gets filled with noise, the model experiences context rot, leading to hallucinations, regression bugs, and severe behavioral drift.</a:t>
            </a:r>
          </a:p>
          <a:p>
            <a:pPr marL="228600" lvl="0" indent="-228600">
              <a:buFont typeface="+mj-lt"/>
              <a:buAutoNum type="arabicPeriod"/>
            </a:pPr>
            <a:r>
              <a:rPr lang="en-US" b="1" dirty="0"/>
              <a:t>Cognitive Debt</a:t>
            </a:r>
            <a:r>
              <a:rPr lang="en-US" dirty="0"/>
              <a:t>: When chat histories are discarded or buried inside an IDE panel, the mental model of </a:t>
            </a:r>
            <a:r>
              <a:rPr lang="en-US" i="1" dirty="0"/>
              <a:t>why</a:t>
            </a:r>
            <a:r>
              <a:rPr lang="en-US" dirty="0"/>
              <a:t> changes were made remains entirely in the human developer's head. The human becomes forced to track codebase evolution manually.</a:t>
            </a:r>
          </a:p>
          <a:p>
            <a:r>
              <a:rPr lang="en-US" dirty="0"/>
              <a:t>Vibe coding gives you the </a:t>
            </a:r>
            <a:r>
              <a:rPr lang="en-US" i="1" dirty="0"/>
              <a:t>illusion</a:t>
            </a:r>
            <a:r>
              <a:rPr lang="en-US" dirty="0"/>
              <a:t> of speed in minute 5, but charges compounding interest in technical debt by hour 5. To build systems that endure, we must abandon unstructured chat prompting and adopt a disciplined engineering framework.</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2</a:t>
            </a:fld>
            <a:endParaRPr lang="en-US"/>
          </a:p>
        </p:txBody>
      </p:sp>
    </p:spTree>
    <p:extLst>
      <p:ext uri="{BB962C8B-B14F-4D97-AF65-F5344CB8AC3E}">
        <p14:creationId xmlns:p14="http://schemas.microsoft.com/office/powerpoint/2010/main" val="14895185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clearly highlight the paradigm shift, let's compare Vibe Coding directly against Spec-Driven Development across four key engineering dimensions.</a:t>
            </a:r>
          </a:p>
          <a:p>
            <a:r>
              <a:rPr lang="en-US" dirty="0"/>
              <a:t>First, </a:t>
            </a:r>
            <a:r>
              <a:rPr lang="en-US" b="1" dirty="0"/>
              <a:t>Approach</a:t>
            </a:r>
            <a:r>
              <a:rPr lang="en-US" dirty="0"/>
              <a:t>: Vibe coding relies on chat-based trial and error. You prompt, inspect, correct, and repeat. In contrast, SDD decouples intent from implementation. You spend your primary energy defining </a:t>
            </a:r>
            <a:r>
              <a:rPr lang="en-US" i="1" dirty="0"/>
              <a:t>what</a:t>
            </a:r>
            <a:r>
              <a:rPr lang="en-US" dirty="0"/>
              <a:t> needs to be built and </a:t>
            </a:r>
            <a:r>
              <a:rPr lang="en-US" i="1" dirty="0"/>
              <a:t>why</a:t>
            </a:r>
            <a:r>
              <a:rPr lang="en-US" dirty="0"/>
              <a:t>, long before you allow the agent to touch the source code.</a:t>
            </a:r>
          </a:p>
          <a:p>
            <a:r>
              <a:rPr lang="en-US" dirty="0"/>
              <a:t>Second, </a:t>
            </a:r>
            <a:r>
              <a:rPr lang="en-US" b="1" dirty="0"/>
              <a:t>Scale</a:t>
            </a:r>
            <a:r>
              <a:rPr lang="en-US" dirty="0"/>
              <a:t>: Vibe coding works decently well for standalone scripts, simple utility functions, or isolated UI prototypes. But as soon as you attempt to scale across multi-module systems, microservices, or complex backend logic, vibe coding breaks down completely. SDD scales seamlessly to complex, ongoing software architectures because every feature is anchored in a version-controlled specification.</a:t>
            </a:r>
          </a:p>
          <a:p>
            <a:r>
              <a:rPr lang="en-US" dirty="0"/>
              <a:t>Third, </a:t>
            </a:r>
            <a:r>
              <a:rPr lang="en-US" b="1" dirty="0"/>
              <a:t>Context Artifacts</a:t>
            </a:r>
            <a:r>
              <a:rPr lang="en-US" dirty="0"/>
              <a:t>: In vibe coding, context lives in volatile chat panels that suffer high context decay. Once you clear the chat session, that context is gone forever, leaving behind disposable code. In SDD, context is preserved in immutable, version-controlled markdown specifications (</a:t>
            </a:r>
            <a:r>
              <a:rPr lang="en-US" sz="1200" kern="1200" dirty="0">
                <a:solidFill>
                  <a:schemeClr val="tx1"/>
                </a:solidFill>
                <a:latin typeface="+mn-lt"/>
                <a:ea typeface="+mn-ea"/>
                <a:cs typeface="+mn-cs"/>
              </a:rPr>
              <a:t>.md</a:t>
            </a:r>
            <a:r>
              <a:rPr lang="en-US" dirty="0"/>
              <a:t> files) stored inside your repository. There is zero context drift because the spec lives right next to the code.</a:t>
            </a:r>
          </a:p>
          <a:p>
            <a:r>
              <a:rPr lang="en-US" dirty="0"/>
              <a:t>Fourth, </a:t>
            </a:r>
            <a:r>
              <a:rPr lang="en-US" b="1" dirty="0"/>
              <a:t>Interaction</a:t>
            </a:r>
            <a:r>
              <a:rPr lang="en-US" dirty="0"/>
              <a:t>: Vibe coding is unsupervised AI generation—you hope the AI makes the right technical assumptions. SDD establishes a strict </a:t>
            </a:r>
            <a:r>
              <a:rPr lang="en-US" b="1" dirty="0"/>
              <a:t>Human-in-the-Loop contract</a:t>
            </a:r>
            <a:r>
              <a:rPr lang="en-US" dirty="0"/>
              <a:t>. The human engineer acts as the Senior Architect who reviews and signs off on specifications before code execution begins.</a:t>
            </a:r>
          </a:p>
          <a:p>
            <a:r>
              <a:rPr lang="en-US" dirty="0"/>
              <a:t>SDD doesn't remove AI from the workflow; it elevates the human developer from a prompt guesser to a Software Architect.</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3</a:t>
            </a:fld>
            <a:endParaRPr lang="en-US"/>
          </a:p>
        </p:txBody>
      </p:sp>
    </p:spTree>
    <p:extLst>
      <p:ext uri="{BB962C8B-B14F-4D97-AF65-F5344CB8AC3E}">
        <p14:creationId xmlns:p14="http://schemas.microsoft.com/office/powerpoint/2010/main" val="3196498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foundational principle of Spec-Driven Development is the total decoupling of </a:t>
            </a:r>
            <a:r>
              <a:rPr lang="en-US" b="1" dirty="0"/>
              <a:t>Intent</a:t>
            </a:r>
            <a:r>
              <a:rPr lang="en-US" dirty="0"/>
              <a:t> from </a:t>
            </a:r>
            <a:r>
              <a:rPr lang="en-US" b="1" dirty="0"/>
              <a:t>Implementation</a:t>
            </a:r>
            <a:r>
              <a:rPr lang="en-US" dirty="0"/>
              <a:t>.</a:t>
            </a:r>
          </a:p>
          <a:p>
            <a:r>
              <a:rPr lang="en-US" dirty="0"/>
              <a:t>In traditional software development, engineers handled both intent and implementation: we decided what to build, and then manually typed out every line of code. In vibe coding, we surrendered both to the AI, asking it to figure out what to do based on vague instructions.</a:t>
            </a:r>
          </a:p>
          <a:p>
            <a:r>
              <a:rPr lang="en-US" dirty="0"/>
              <a:t>SDD creates a clear division of labor based on core strengths:</a:t>
            </a:r>
          </a:p>
          <a:p>
            <a:r>
              <a:rPr lang="en-US" b="1" dirty="0"/>
              <a:t>'The Brain' is the Human Architect</a:t>
            </a:r>
            <a:r>
              <a:rPr lang="en-US" dirty="0"/>
              <a:t>. As humans, our strength lies in business logic, system architecture, domain knowledge, and setting strict operational boundaries. We write the </a:t>
            </a:r>
            <a:r>
              <a:rPr lang="en-US" sz="1200" kern="1200" dirty="0">
                <a:solidFill>
                  <a:schemeClr val="tx1"/>
                </a:solidFill>
                <a:latin typeface="+mn-lt"/>
                <a:ea typeface="+mn-ea"/>
                <a:cs typeface="+mn-cs"/>
              </a:rPr>
              <a:t>spec.md</a:t>
            </a:r>
            <a:r>
              <a:rPr lang="en-US" dirty="0"/>
              <a:t> file. This file explicitly states:</a:t>
            </a:r>
          </a:p>
          <a:p>
            <a:pPr marL="171450" lvl="0" indent="-171450">
              <a:buFont typeface="Arial" panose="020B0604020202020204" pitchFamily="34" charset="0"/>
              <a:buChar char="•"/>
            </a:pPr>
            <a:r>
              <a:rPr lang="en-US" b="1" dirty="0"/>
              <a:t>The Vision</a:t>
            </a:r>
            <a:r>
              <a:rPr lang="en-US" dirty="0"/>
              <a:t>: High-level architectural goals.</a:t>
            </a:r>
          </a:p>
          <a:p>
            <a:pPr marL="171450" lvl="0" indent="-171450">
              <a:buFont typeface="Arial" panose="020B0604020202020204" pitchFamily="34" charset="0"/>
              <a:buChar char="•"/>
            </a:pPr>
            <a:r>
              <a:rPr lang="en-US" b="1" dirty="0"/>
              <a:t>The Constraints</a:t>
            </a:r>
            <a:r>
              <a:rPr lang="en-US" dirty="0"/>
              <a:t>: Latency limits (e.g., </a:t>
            </a:r>
            <a:r>
              <a:rPr lang="en-US" sz="1200" kern="1200" dirty="0">
                <a:solidFill>
                  <a:schemeClr val="tx1"/>
                </a:solidFill>
                <a:latin typeface="+mn-lt"/>
                <a:ea typeface="+mn-ea"/>
                <a:cs typeface="+mn-cs"/>
              </a:rPr>
              <a:t>&lt; 10ms</a:t>
            </a:r>
            <a:r>
              <a:rPr lang="en-US" dirty="0"/>
              <a:t>), memory footprints, or strict stack rules (e.g., 'no external dependencies').</a:t>
            </a:r>
          </a:p>
          <a:p>
            <a:pPr marL="171450" lvl="0" indent="-171450">
              <a:buFont typeface="Arial" panose="020B0604020202020204" pitchFamily="34" charset="0"/>
              <a:buChar char="•"/>
            </a:pPr>
            <a:r>
              <a:rPr lang="en-US" b="1" dirty="0"/>
              <a:t>Success Criteria</a:t>
            </a:r>
            <a:r>
              <a:rPr lang="en-US" dirty="0"/>
              <a:t>: Concrete, measurable conditions such as passing test suites and meeting uptime benchmarks.</a:t>
            </a:r>
          </a:p>
          <a:p>
            <a:r>
              <a:rPr lang="en-US" b="1" dirty="0"/>
              <a:t>'The Muscle' is the AI Agent Builder</a:t>
            </a:r>
            <a:r>
              <a:rPr lang="en-US" dirty="0"/>
              <a:t>. AI models excel at raw execution speed, broad technical syntax retrieval, pattern matching, and traversing large codebases. When provided with an unambiguous spec, the AI agent constructs the underlying machinery—modules, API gateways, database schemas, controllers, and models—with precision.</a:t>
            </a:r>
          </a:p>
          <a:p>
            <a:r>
              <a:rPr lang="en-US" dirty="0"/>
              <a:t>When you separate the 'What and Why' from the 'How', you eliminate ambiguity. The AI isn't guessing your intentions anymore; it is acting as a highly efficient builder following a blueprinted engineering contract.</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4</a:t>
            </a:fld>
            <a:endParaRPr lang="en-US"/>
          </a:p>
        </p:txBody>
      </p:sp>
    </p:spTree>
    <p:extLst>
      <p:ext uri="{BB962C8B-B14F-4D97-AF65-F5344CB8AC3E}">
        <p14:creationId xmlns:p14="http://schemas.microsoft.com/office/powerpoint/2010/main" val="2481060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Spec-Driven Development is built upon three core technical pillars: </a:t>
            </a:r>
            <a:r>
              <a:rPr lang="en-US" b="1" dirty="0"/>
              <a:t>Amplification</a:t>
            </a:r>
            <a:r>
              <a:rPr lang="en-US" dirty="0"/>
              <a:t>, </a:t>
            </a:r>
            <a:r>
              <a:rPr lang="en-US" b="1" dirty="0"/>
              <a:t>Persistence</a:t>
            </a:r>
            <a:r>
              <a:rPr lang="en-US" dirty="0"/>
              <a:t>, and </a:t>
            </a:r>
            <a:r>
              <a:rPr lang="en-US" b="1" dirty="0"/>
              <a:t>Fidelity</a:t>
            </a:r>
            <a:r>
              <a:rPr lang="en-US" dirty="0"/>
              <a:t>.</a:t>
            </a:r>
          </a:p>
          <a:p>
            <a:r>
              <a:rPr lang="en-US" dirty="0"/>
              <a:t>Let's start with </a:t>
            </a:r>
            <a:r>
              <a:rPr lang="en-US" b="1" dirty="0"/>
              <a:t>Amplification</a:t>
            </a:r>
            <a:r>
              <a:rPr lang="en-US" dirty="0"/>
              <a:t>. In SDD, a single, highly structured sentence in a specification file can amplify into hundreds of lines of exact, context-aware, boilerplate-free code. By operating at the specification layer, the architect achieves immense leverage. You no longer waste time correcting syntax or writing repetitive setup code; you direct high-level architectural output.</a:t>
            </a:r>
          </a:p>
          <a:p>
            <a:r>
              <a:rPr lang="en-US" dirty="0"/>
              <a:t>The second pillar is </a:t>
            </a:r>
            <a:r>
              <a:rPr lang="en-US" b="1" dirty="0"/>
              <a:t>Persistence</a:t>
            </a:r>
            <a:r>
              <a:rPr lang="en-US" dirty="0"/>
              <a:t>. One of the biggest flaws in existing LLM developer workflows is 'memory loss'. Chat sessions get reset, context windows fill up, and the AI forgets key project requirements. In SDD, specifications act as the persistent external hard drive for the agent. Because specs live in markdown files within the Git repository, non-negotiables are preserved across sessions, completely eliminating context rot. Whenever an agent starts a task, it reads the spec, ensuring 100% state retention.</a:t>
            </a:r>
          </a:p>
          <a:p>
            <a:r>
              <a:rPr lang="en-US" dirty="0"/>
              <a:t>The third pillar is </a:t>
            </a:r>
            <a:r>
              <a:rPr lang="en-US" b="1" dirty="0"/>
              <a:t>Fidelity</a:t>
            </a:r>
            <a:r>
              <a:rPr lang="en-US" dirty="0"/>
              <a:t>. Vibe coding suffers from 'target drift'—you ask for A, but by turn five of the chat, the AI has generated C. SDD forces developers to define problems, technical constraints, and acceptance criteria </a:t>
            </a:r>
            <a:r>
              <a:rPr lang="en-US" i="1" dirty="0"/>
              <a:t>before</a:t>
            </a:r>
            <a:r>
              <a:rPr lang="en-US" dirty="0"/>
              <a:t> code generation begins. This locks the AI agent on target, ensuring high alignment between human intention and machine execution.</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5</a:t>
            </a:fld>
            <a:endParaRPr lang="en-US"/>
          </a:p>
        </p:txBody>
      </p:sp>
    </p:spTree>
    <p:extLst>
      <p:ext uri="{BB962C8B-B14F-4D97-AF65-F5344CB8AC3E}">
        <p14:creationId xmlns:p14="http://schemas.microsoft.com/office/powerpoint/2010/main" val="795808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understand the principles, let's explore the engine that drives SDD in actual daily engineering work.</a:t>
            </a:r>
          </a:p>
          <a:p>
            <a:r>
              <a:rPr lang="en-US" dirty="0"/>
              <a:t>The SDD workflow operates as an orbital system centered around a single core artifact: </a:t>
            </a:r>
            <a:r>
              <a:rPr lang="en-US" b="1" dirty="0"/>
              <a:t>The Project Constitution</a:t>
            </a:r>
            <a:r>
              <a:rPr lang="en-US" dirty="0"/>
              <a:t>.</a:t>
            </a:r>
          </a:p>
          <a:p>
            <a:r>
              <a:rPr lang="en-US" dirty="0"/>
              <a:t>The Project Constitution contains the permanent, immutable standards of your software project—things like your core tech stack, coding style guides, architectural rules, and long-term product vision.</a:t>
            </a:r>
          </a:p>
          <a:p>
            <a:r>
              <a:rPr lang="en-US" dirty="0"/>
              <a:t>Orbiting around this central constitution is </a:t>
            </a:r>
            <a:r>
              <a:rPr lang="en-US" b="1" dirty="0"/>
              <a:t>The Feature Loop</a:t>
            </a:r>
            <a:r>
              <a:rPr lang="en-US" dirty="0"/>
              <a:t>. Whenever you want to add a new feature, fix a bug, or refactor a module, you execute a four-step loop:</a:t>
            </a:r>
          </a:p>
          <a:p>
            <a:pPr marL="228600" lvl="0" indent="-228600">
              <a:buFont typeface="+mj-lt"/>
              <a:buAutoNum type="arabicPeriod"/>
            </a:pPr>
            <a:r>
              <a:rPr lang="en-US" b="1" dirty="0"/>
              <a:t>Plan</a:t>
            </a:r>
            <a:r>
              <a:rPr lang="en-US" dirty="0"/>
              <a:t>: You isolate the feature in a branch and write a localized blueprint/spec defining requirements.</a:t>
            </a:r>
          </a:p>
          <a:p>
            <a:pPr marL="228600" lvl="0" indent="-228600">
              <a:buFont typeface="+mj-lt"/>
              <a:buAutoNum type="arabicPeriod"/>
            </a:pPr>
            <a:r>
              <a:rPr lang="en-US" b="1" dirty="0"/>
              <a:t>Implement</a:t>
            </a:r>
            <a:r>
              <a:rPr lang="en-US" dirty="0"/>
              <a:t>: The AI agent executes the spec in small, targeted tasks.</a:t>
            </a:r>
          </a:p>
          <a:p>
            <a:pPr marL="228600" lvl="0" indent="-228600">
              <a:buFont typeface="+mj-lt"/>
              <a:buAutoNum type="arabicPeriod"/>
            </a:pPr>
            <a:r>
              <a:rPr lang="en-US" b="1" dirty="0"/>
              <a:t>Validate</a:t>
            </a:r>
            <a:r>
              <a:rPr lang="en-US" dirty="0"/>
              <a:t>: Automated test suites and human inspection confirm the code matches the spec.</a:t>
            </a:r>
          </a:p>
          <a:p>
            <a:pPr marL="228600" lvl="0" indent="-228600">
              <a:buFont typeface="+mj-lt"/>
              <a:buAutoNum type="arabicPeriod"/>
            </a:pPr>
            <a:r>
              <a:rPr lang="en-US" b="1" dirty="0"/>
              <a:t>Replan</a:t>
            </a:r>
            <a:r>
              <a:rPr lang="en-US" dirty="0"/>
              <a:t>: Any lessons learned or necessary architectural adjustments are cycled back to update the project specs.</a:t>
            </a:r>
          </a:p>
          <a:p>
            <a:r>
              <a:rPr lang="en-US" dirty="0"/>
              <a:t>Notice how structured this process is. Instead of letting the AI run wild across your entire repository, every change takes place within isolated feature loops guarded by the constitution.</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6</a:t>
            </a:fld>
            <a:endParaRPr lang="en-US"/>
          </a:p>
        </p:txBody>
      </p:sp>
    </p:spTree>
    <p:extLst>
      <p:ext uri="{BB962C8B-B14F-4D97-AF65-F5344CB8AC3E}">
        <p14:creationId xmlns:p14="http://schemas.microsoft.com/office/powerpoint/2010/main" val="3290632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of implementing SDD is creating </a:t>
            </a:r>
            <a:r>
              <a:rPr lang="en-US" b="1" dirty="0"/>
              <a:t>The Project Constitution</a:t>
            </a:r>
            <a:r>
              <a:rPr lang="en-US" dirty="0"/>
              <a:t>.</a:t>
            </a:r>
          </a:p>
          <a:p>
            <a:r>
              <a:rPr lang="en-US" dirty="0"/>
              <a:t>Before you write a single line of application logic, you establish a </a:t>
            </a:r>
            <a:r>
              <a:rPr lang="en-US" sz="1200" kern="1200" dirty="0">
                <a:solidFill>
                  <a:schemeClr val="tx1"/>
                </a:solidFill>
                <a:latin typeface="+mn-lt"/>
                <a:ea typeface="+mn-ea"/>
                <a:cs typeface="+mn-cs"/>
              </a:rPr>
              <a:t>/specs</a:t>
            </a:r>
            <a:r>
              <a:rPr lang="en-US" dirty="0"/>
              <a:t> directory at the root of your project repository. This directory contains three primary markdown files:</a:t>
            </a:r>
          </a:p>
          <a:p>
            <a:pPr marL="228600" lvl="0" indent="-228600">
              <a:buFont typeface="+mj-lt"/>
              <a:buAutoNum type="arabicPeriod"/>
            </a:pPr>
            <a:r>
              <a:rPr lang="en-US" sz="1200" b="1" kern="1200" dirty="0">
                <a:solidFill>
                  <a:schemeClr val="tx1"/>
                </a:solidFill>
                <a:latin typeface="+mn-lt"/>
                <a:ea typeface="+mn-ea"/>
                <a:cs typeface="+mn-cs"/>
              </a:rPr>
              <a:t>mission.md</a:t>
            </a:r>
            <a:r>
              <a:rPr lang="en-US" b="1" dirty="0"/>
              <a:t> (The Scope - Why)</a:t>
            </a:r>
            <a:r>
              <a:rPr lang="en-US" dirty="0"/>
              <a:t>: This document defines the high-level vision, target audience, business goals, and core product parameters. It answers </a:t>
            </a:r>
            <a:r>
              <a:rPr lang="en-US" i="1" dirty="0"/>
              <a:t>why</a:t>
            </a:r>
            <a:r>
              <a:rPr lang="en-US" dirty="0"/>
              <a:t> this application exists.</a:t>
            </a:r>
          </a:p>
          <a:p>
            <a:pPr marL="228600" lvl="0" indent="-228600">
              <a:buFont typeface="+mj-lt"/>
              <a:buAutoNum type="arabicPeriod"/>
            </a:pPr>
            <a:r>
              <a:rPr lang="en-US" sz="1200" b="1" kern="1200" dirty="0">
                <a:solidFill>
                  <a:schemeClr val="tx1"/>
                </a:solidFill>
                <a:latin typeface="+mn-lt"/>
                <a:ea typeface="+mn-ea"/>
                <a:cs typeface="+mn-cs"/>
              </a:rPr>
              <a:t>tech.md</a:t>
            </a:r>
            <a:r>
              <a:rPr lang="en-US" b="1" dirty="0"/>
              <a:t> (The Constraints - How)</a:t>
            </a:r>
            <a:r>
              <a:rPr lang="en-US" dirty="0"/>
              <a:t>: This document captures all technical agreements, framework choices, database schemes, folder structures, linting rules, and deployment targets. It explicitly tells the agent: </a:t>
            </a:r>
            <a:r>
              <a:rPr lang="en-US" i="1" dirty="0"/>
              <a:t>'We use TypeScript, Next.js App Router, Tailwind CSS, and PostgreSQL. Do not introduce other libraries without permission.'</a:t>
            </a:r>
            <a:endParaRPr lang="en-US" dirty="0"/>
          </a:p>
          <a:p>
            <a:pPr marL="228600" lvl="0" indent="-228600">
              <a:buFont typeface="+mj-lt"/>
              <a:buAutoNum type="arabicPeriod"/>
            </a:pPr>
            <a:r>
              <a:rPr lang="en-US" sz="1200" b="1" kern="1200" dirty="0">
                <a:solidFill>
                  <a:schemeClr val="tx1"/>
                </a:solidFill>
                <a:latin typeface="+mn-lt"/>
                <a:ea typeface="+mn-ea"/>
                <a:cs typeface="+mn-cs"/>
              </a:rPr>
              <a:t>roadmap.md</a:t>
            </a:r>
            <a:r>
              <a:rPr lang="en-US" b="1" dirty="0"/>
              <a:t> (The Sequence - When)</a:t>
            </a:r>
            <a:r>
              <a:rPr lang="en-US" dirty="0"/>
              <a:t>: A living document breaking the overarching product vision into phased, actionable engineering steps and milestones.</a:t>
            </a:r>
          </a:p>
          <a:p>
            <a:r>
              <a:rPr lang="en-US" dirty="0"/>
              <a:t>By establishing these three files, you provide your AI agent with complete context upfront. Whenever the agent runs, it reads this constitution to align its outputs with your project standards.</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7</a:t>
            </a:fld>
            <a:endParaRPr lang="en-US"/>
          </a:p>
        </p:txBody>
      </p:sp>
    </p:spTree>
    <p:extLst>
      <p:ext uri="{BB962C8B-B14F-4D97-AF65-F5344CB8AC3E}">
        <p14:creationId xmlns:p14="http://schemas.microsoft.com/office/powerpoint/2010/main" val="1585279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developers ask is: </a:t>
            </a:r>
            <a:r>
              <a:rPr lang="en-US" i="1" dirty="0"/>
              <a:t>'Does Spec-Driven Development only work for brand-new projects, or can I use it on existing codebases?'</a:t>
            </a:r>
            <a:endParaRPr lang="en-US" dirty="0"/>
          </a:p>
          <a:p>
            <a:r>
              <a:rPr lang="en-US" dirty="0"/>
              <a:t>The answer is that SDD natively supports both </a:t>
            </a:r>
            <a:r>
              <a:rPr lang="en-US" b="1" dirty="0"/>
              <a:t>Greenfield</a:t>
            </a:r>
            <a:r>
              <a:rPr lang="en-US" dirty="0"/>
              <a:t> (new) and </a:t>
            </a:r>
            <a:r>
              <a:rPr lang="en-US" b="1" dirty="0"/>
              <a:t>Brownfield</a:t>
            </a:r>
            <a:r>
              <a:rPr lang="en-US" dirty="0"/>
              <a:t> (legacy) projects.</a:t>
            </a:r>
          </a:p>
          <a:p>
            <a:r>
              <a:rPr lang="en-US" b="1" dirty="0"/>
              <a:t>In Greenfield Projects</a:t>
            </a:r>
            <a:r>
              <a:rPr lang="en-US" dirty="0"/>
              <a:t>: You start from scratch. Here, the human architect conducts an interactive interview with the AI agent. You prompt the agent to ask you probing questions about architectural tradeoffs, performance requirements, and tech stack choices. Together, you interactively draft and refine </a:t>
            </a:r>
            <a:r>
              <a:rPr lang="en-US" sz="1200" kern="1200" dirty="0">
                <a:solidFill>
                  <a:schemeClr val="tx1"/>
                </a:solidFill>
                <a:latin typeface="+mn-lt"/>
                <a:ea typeface="+mn-ea"/>
                <a:cs typeface="+mn-cs"/>
              </a:rPr>
              <a:t>mission.md</a:t>
            </a:r>
            <a:r>
              <a:rPr lang="en-US" dirty="0"/>
              <a:t>, </a:t>
            </a:r>
            <a:r>
              <a:rPr lang="en-US" sz="1200" kern="1200" dirty="0">
                <a:solidFill>
                  <a:schemeClr val="tx1"/>
                </a:solidFill>
                <a:latin typeface="+mn-lt"/>
                <a:ea typeface="+mn-ea"/>
                <a:cs typeface="+mn-cs"/>
              </a:rPr>
              <a:t>tech.md</a:t>
            </a:r>
            <a:r>
              <a:rPr lang="en-US" dirty="0"/>
              <a:t>, and </a:t>
            </a:r>
            <a:r>
              <a:rPr lang="en-US" sz="1200" kern="1200" dirty="0">
                <a:solidFill>
                  <a:schemeClr val="tx1"/>
                </a:solidFill>
                <a:latin typeface="+mn-lt"/>
                <a:ea typeface="+mn-ea"/>
                <a:cs typeface="+mn-cs"/>
              </a:rPr>
              <a:t>roadmap.md</a:t>
            </a:r>
            <a:r>
              <a:rPr lang="en-US" dirty="0"/>
              <a:t> before generating code.</a:t>
            </a:r>
          </a:p>
          <a:p>
            <a:r>
              <a:rPr lang="en-US" b="1" dirty="0"/>
              <a:t>In Brownfield Projects</a:t>
            </a:r>
            <a:r>
              <a:rPr lang="en-US" dirty="0"/>
              <a:t>: You inherit legacy chaos—undocumented code, outdated dependencies, and fragmented Jira tickets. In this scenario, you use the AI agent to </a:t>
            </a:r>
            <a:r>
              <a:rPr lang="en-US" b="1" dirty="0"/>
              <a:t>reverse-engineer</a:t>
            </a:r>
            <a:r>
              <a:rPr lang="en-US" dirty="0"/>
              <a:t> the constitution. You direct the agent to scan existing directories, package files, database schemas, and documentation. The agent extracts implicit architecture patterns and formalizes them into structured markdown specs.</a:t>
            </a:r>
          </a:p>
          <a:p>
            <a:r>
              <a:rPr lang="en-US" dirty="0"/>
              <a:t>Whether starting fresh or managing technical debt, establishing a constitution brings clarity and order to your development workflow.</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8</a:t>
            </a:fld>
            <a:endParaRPr lang="en-US"/>
          </a:p>
        </p:txBody>
      </p:sp>
    </p:spTree>
    <p:extLst>
      <p:ext uri="{BB962C8B-B14F-4D97-AF65-F5344CB8AC3E}">
        <p14:creationId xmlns:p14="http://schemas.microsoft.com/office/powerpoint/2010/main" val="2367167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your Project Constitution is in place, you enter </a:t>
            </a:r>
            <a:r>
              <a:rPr lang="en-US" b="1" dirty="0"/>
              <a:t>The Feature Loop</a:t>
            </a:r>
            <a:r>
              <a:rPr lang="en-US" dirty="0"/>
              <a:t>. Step 2 is </a:t>
            </a:r>
            <a:r>
              <a:rPr lang="en-US" b="1" dirty="0"/>
              <a:t>Planning</a:t>
            </a:r>
            <a:r>
              <a:rPr lang="en-US" dirty="0"/>
              <a:t>.</a:t>
            </a:r>
          </a:p>
          <a:p>
            <a:r>
              <a:rPr lang="en-US" dirty="0"/>
              <a:t>When a new feature request comes in, you never work directly on your primary branch or start chatting aimlessly. You follow a strict planning workflow:</a:t>
            </a:r>
          </a:p>
          <a:p>
            <a:pPr marL="171450" lvl="0" indent="-171450">
              <a:buFont typeface="Arial" panose="020B0604020202020204" pitchFamily="34" charset="0"/>
              <a:buChar char="•"/>
            </a:pPr>
            <a:r>
              <a:rPr lang="en-US" b="1" dirty="0"/>
              <a:t>Isolate</a:t>
            </a:r>
            <a:r>
              <a:rPr lang="en-US" dirty="0"/>
              <a:t>: Always scope the new feature to a dedicated Git branch (e.g., </a:t>
            </a:r>
            <a:r>
              <a:rPr lang="en-US" sz="1200" kern="1200" dirty="0">
                <a:solidFill>
                  <a:schemeClr val="tx1"/>
                </a:solidFill>
                <a:latin typeface="+mn-lt"/>
                <a:ea typeface="+mn-ea"/>
                <a:cs typeface="+mn-cs"/>
              </a:rPr>
              <a:t>feature/user-auth</a:t>
            </a:r>
            <a:r>
              <a:rPr lang="en-US" dirty="0"/>
              <a:t>).</a:t>
            </a:r>
          </a:p>
          <a:p>
            <a:pPr marL="171450" lvl="0" indent="-171450">
              <a:buFont typeface="Arial" panose="020B0604020202020204" pitchFamily="34" charset="0"/>
              <a:buChar char="•"/>
            </a:pPr>
            <a:r>
              <a:rPr lang="en-US" b="1" dirty="0"/>
              <a:t>Draft Blueprint</a:t>
            </a:r>
            <a:r>
              <a:rPr lang="en-US" dirty="0"/>
              <a:t>: Before writing implementation code, you direct the AI agent to generate three focused spec documents inside the feature branch:</a:t>
            </a:r>
          </a:p>
          <a:p>
            <a:pPr marL="228600" lvl="0" indent="-228600">
              <a:buFont typeface="+mj-lt"/>
              <a:buAutoNum type="arabicPeriod"/>
            </a:pPr>
            <a:r>
              <a:rPr lang="en-US" b="1" dirty="0"/>
              <a:t>Feature Plan</a:t>
            </a:r>
            <a:r>
              <a:rPr lang="en-US" dirty="0"/>
              <a:t>: The step-by-step execution roadmap.</a:t>
            </a:r>
          </a:p>
          <a:p>
            <a:pPr marL="228600" lvl="0" indent="-228600">
              <a:buFont typeface="+mj-lt"/>
              <a:buAutoNum type="arabicPeriod"/>
            </a:pPr>
            <a:r>
              <a:rPr lang="en-US" b="1" dirty="0"/>
              <a:t>Requirements</a:t>
            </a:r>
            <a:r>
              <a:rPr lang="en-US" dirty="0"/>
              <a:t>: Detailed user stories, edge cases, and API contracts.</a:t>
            </a:r>
          </a:p>
          <a:p>
            <a:pPr marL="228600" lvl="0" indent="-228600">
              <a:buFont typeface="+mj-lt"/>
              <a:buAutoNum type="arabicPeriod"/>
            </a:pPr>
            <a:r>
              <a:rPr lang="en-US" b="1" dirty="0"/>
              <a:t>Validation Scorecard</a:t>
            </a:r>
            <a:r>
              <a:rPr lang="en-US" dirty="0"/>
              <a:t>: Clear criteria detailing how we will test and verify success.</a:t>
            </a:r>
          </a:p>
          <a:p>
            <a:pPr marL="171450" lvl="0" indent="-171450">
              <a:buFont typeface="Arial" panose="020B0604020202020204" pitchFamily="34" charset="0"/>
              <a:buChar char="•"/>
            </a:pPr>
            <a:r>
              <a:rPr lang="en-US" b="1" dirty="0"/>
              <a:t>Human-in-the-Loop Approval</a:t>
            </a:r>
            <a:r>
              <a:rPr lang="en-US" dirty="0"/>
              <a:t>: This is critical. The human architect strictly reviews, edits, and commits these markdown specification files to Git </a:t>
            </a:r>
            <a:r>
              <a:rPr lang="en-US" i="1" dirty="0"/>
              <a:t>before</a:t>
            </a:r>
            <a:r>
              <a:rPr lang="en-US" dirty="0"/>
              <a:t> authorizing any code generation.</a:t>
            </a:r>
          </a:p>
          <a:p>
            <a:r>
              <a:rPr lang="en-US" dirty="0"/>
              <a:t>If you spot an error or missing requirement in the blueprint during planning, fixing it in markdown takes seconds. Catching that same mistake after generating 1,000 lines of code takes hours. Planning first guarantees high leverage.</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9</a:t>
            </a:fld>
            <a:endParaRPr lang="en-US"/>
          </a:p>
        </p:txBody>
      </p:sp>
    </p:spTree>
    <p:extLst>
      <p:ext uri="{BB962C8B-B14F-4D97-AF65-F5344CB8AC3E}">
        <p14:creationId xmlns:p14="http://schemas.microsoft.com/office/powerpoint/2010/main" val="83063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approved feature spec committed to Git, we move to Step 3: </a:t>
            </a:r>
            <a:r>
              <a:rPr lang="en-US" b="1" dirty="0"/>
              <a:t>Implementation</a:t>
            </a:r>
            <a:r>
              <a:rPr lang="en-US" dirty="0"/>
              <a:t>.</a:t>
            </a:r>
          </a:p>
          <a:p>
            <a:r>
              <a:rPr lang="en-US" dirty="0"/>
              <a:t>This slide illustrates two essential rules for AI agent implementation:</a:t>
            </a:r>
          </a:p>
          <a:p>
            <a:r>
              <a:rPr lang="en-US" b="1" dirty="0"/>
              <a:t>Rule #1: The Clean Slate (</a:t>
            </a:r>
            <a:r>
              <a:rPr lang="en-US" sz="1200" b="1" kern="1200" dirty="0">
                <a:solidFill>
                  <a:schemeClr val="tx1"/>
                </a:solidFill>
                <a:latin typeface="+mn-lt"/>
                <a:ea typeface="+mn-ea"/>
                <a:cs typeface="+mn-cs"/>
              </a:rPr>
              <a:t>/clear context</a:t>
            </a:r>
            <a:r>
              <a:rPr lang="en-US" b="1" dirty="0"/>
              <a:t>)</a:t>
            </a:r>
            <a:r>
              <a:rPr lang="en-US" dirty="0"/>
              <a:t>. Before invoking the agent to write code, you clear its chat context window completely. Why? Because you want to eliminate all residual conversational noise, previous debugging attempts, and old assumptions. By clearing the context and referencing only the </a:t>
            </a:r>
            <a:r>
              <a:rPr lang="en-US" sz="1200" kern="1200" dirty="0">
                <a:solidFill>
                  <a:schemeClr val="tx1"/>
                </a:solidFill>
                <a:latin typeface="+mn-lt"/>
                <a:ea typeface="+mn-ea"/>
                <a:cs typeface="+mn-cs"/>
              </a:rPr>
              <a:t>constitution.md</a:t>
            </a:r>
            <a:r>
              <a:rPr lang="en-US" dirty="0"/>
              <a:t> and feature specs, you force the model to rely entirely on version-controlled truth rather than volatile chat memory.</a:t>
            </a:r>
          </a:p>
          <a:p>
            <a:r>
              <a:rPr lang="en-US" b="1" dirty="0"/>
              <a:t>Rule #2: Chunked Execution</a:t>
            </a:r>
            <a:r>
              <a:rPr lang="en-US" dirty="0"/>
              <a:t>. Never ask an agent to implement an entire feature in a single massive step. Instead, direct the agent to execute in small, task-grouped chunks.</a:t>
            </a:r>
          </a:p>
          <a:p>
            <a:r>
              <a:rPr lang="en-US" dirty="0"/>
              <a:t>As shown in the terminal graphic:</a:t>
            </a:r>
          </a:p>
          <a:p>
            <a:pPr marL="171450" lvl="0" indent="-171450">
              <a:buFont typeface="Arial" panose="020B0604020202020204" pitchFamily="34" charset="0"/>
              <a:buChar char="•"/>
            </a:pPr>
            <a:r>
              <a:rPr lang="en-US" dirty="0"/>
              <a:t>Task Group 1: DB Schema initialized.</a:t>
            </a:r>
          </a:p>
          <a:p>
            <a:pPr marL="171450" lvl="0" indent="-171450">
              <a:buFont typeface="Arial" panose="020B0604020202020204" pitchFamily="34" charset="0"/>
              <a:buChar char="•"/>
            </a:pPr>
            <a:r>
              <a:rPr lang="en-US" dirty="0"/>
              <a:t>Task Group 2: API Routes generated.</a:t>
            </a:r>
          </a:p>
          <a:p>
            <a:r>
              <a:rPr lang="en-US" dirty="0"/>
              <a:t>Executing in chunks allows you to verify output incrementally, reducing cognitive fatigue and preventing small errors from compounding into larger system failures.</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10</a:t>
            </a:fld>
            <a:endParaRPr lang="en-US"/>
          </a:p>
        </p:txBody>
      </p:sp>
    </p:spTree>
    <p:extLst>
      <p:ext uri="{BB962C8B-B14F-4D97-AF65-F5344CB8AC3E}">
        <p14:creationId xmlns:p14="http://schemas.microsoft.com/office/powerpoint/2010/main" val="3041440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implementation tasks are completed, we enter Step 4: </a:t>
            </a:r>
            <a:r>
              <a:rPr lang="en-US" b="1" dirty="0"/>
              <a:t>Validation</a:t>
            </a:r>
            <a:r>
              <a:rPr lang="en-US" dirty="0"/>
              <a:t>. Validation operates on two complementary layers: </a:t>
            </a:r>
            <a:r>
              <a:rPr lang="en-US" b="1" dirty="0"/>
              <a:t>Agentic Validation</a:t>
            </a:r>
            <a:r>
              <a:rPr lang="en-US" dirty="0"/>
              <a:t> and </a:t>
            </a:r>
            <a:r>
              <a:rPr lang="en-US" b="1" dirty="0"/>
              <a:t>Human Validation</a:t>
            </a:r>
            <a:r>
              <a:rPr lang="en-US" dirty="0"/>
              <a:t>.</a:t>
            </a:r>
          </a:p>
          <a:p>
            <a:r>
              <a:rPr lang="en-US" b="1" dirty="0"/>
              <a:t>Layer 1: Agentic Validation</a:t>
            </a:r>
            <a:endParaRPr lang="en-US" dirty="0"/>
          </a:p>
          <a:p>
            <a:r>
              <a:rPr lang="en-US" dirty="0"/>
              <a:t>Modern coding agents can spawn isolated sub-agents to perform automated code reviews. These sub-agents evaluate the newly generated code directly against the feature spec and project constitution. Because sub-agents run in isolated sub-tasks, they conduct thorough line-by-line checks without cluttering your main working context window.</a:t>
            </a:r>
          </a:p>
          <a:p>
            <a:r>
              <a:rPr lang="en-US" b="1" dirty="0"/>
              <a:t>Layer 2: Human Validation</a:t>
            </a:r>
            <a:endParaRPr lang="en-US" dirty="0"/>
          </a:p>
          <a:p>
            <a:r>
              <a:rPr lang="en-US" dirty="0"/>
              <a:t>Once agentic checks pass, the human architect steps in. Your goal as an architect is not to nitpick individual variable names. Instead, you focus on high-level alignment with business intent:</a:t>
            </a:r>
          </a:p>
          <a:p>
            <a:pPr marL="171450" lvl="0" indent="-171450">
              <a:buFont typeface="Arial" panose="020B0604020202020204" pitchFamily="34" charset="0"/>
              <a:buChar char="•"/>
            </a:pPr>
            <a:r>
              <a:rPr lang="en-US" dirty="0"/>
              <a:t>Do automated test suites pass? (e.g., </a:t>
            </a:r>
            <a:r>
              <a:rPr lang="en-US" i="1" dirty="0"/>
              <a:t>'24 tests passed'</a:t>
            </a:r>
            <a:r>
              <a:rPr lang="en-US" dirty="0"/>
              <a:t>)</a:t>
            </a:r>
          </a:p>
          <a:p>
            <a:pPr marL="171450" lvl="0" indent="-171450">
              <a:buFont typeface="Arial" panose="020B0604020202020204" pitchFamily="34" charset="0"/>
              <a:buChar char="•"/>
            </a:pPr>
            <a:r>
              <a:rPr lang="en-US" dirty="0"/>
              <a:t>Do API endpoints satisfy latency requirements? (e.g., </a:t>
            </a:r>
            <a:r>
              <a:rPr lang="en-US" i="1" dirty="0"/>
              <a:t>'responded within 58ms'</a:t>
            </a:r>
            <a:r>
              <a:rPr lang="en-US" dirty="0"/>
              <a:t>)</a:t>
            </a:r>
          </a:p>
          <a:p>
            <a:pPr marL="171450" lvl="0" indent="-171450">
              <a:buFont typeface="Arial" panose="020B0604020202020204" pitchFamily="34" charset="0"/>
              <a:buChar char="•"/>
            </a:pPr>
            <a:r>
              <a:rPr lang="en-US" dirty="0"/>
              <a:t>Does the user interface function correctly?</a:t>
            </a:r>
          </a:p>
          <a:p>
            <a:r>
              <a:rPr lang="en-US" dirty="0"/>
              <a:t>By combining automated sub-agent reviews with human-driven validation, you ensure that delivered code meets functional and performance benchmarks.</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11</a:t>
            </a:fld>
            <a:endParaRPr lang="en-US"/>
          </a:p>
        </p:txBody>
      </p:sp>
    </p:spTree>
    <p:extLst>
      <p:ext uri="{BB962C8B-B14F-4D97-AF65-F5344CB8AC3E}">
        <p14:creationId xmlns:p14="http://schemas.microsoft.com/office/powerpoint/2010/main" val="20489547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development is rarely linear. As you build features, you discover new edge cases, third-party API quirks, or performance bottlenecks.</a:t>
            </a:r>
          </a:p>
          <a:p>
            <a:r>
              <a:rPr lang="en-US" dirty="0"/>
              <a:t>In vibe coding, developers apply hotfixes directly to source files. Over time, the code diverges from documentation, creating architectural drift.</a:t>
            </a:r>
          </a:p>
          <a:p>
            <a:r>
              <a:rPr lang="en-US" dirty="0"/>
              <a:t>In SDD, we use </a:t>
            </a:r>
            <a:r>
              <a:rPr lang="en-US" b="1" dirty="0"/>
              <a:t>Replanning</a:t>
            </a:r>
            <a:r>
              <a:rPr lang="en-US" dirty="0"/>
              <a:t> to resolve friction.</a:t>
            </a:r>
          </a:p>
          <a:p>
            <a:r>
              <a:rPr lang="en-US" dirty="0"/>
              <a:t>Whenever reality forces a change during development, we pause and update our memory artifacts. If we add a new testing framework or alter a database model, we update </a:t>
            </a:r>
            <a:r>
              <a:rPr lang="en-US" sz="1200" kern="1200" dirty="0">
                <a:solidFill>
                  <a:schemeClr val="tx1"/>
                </a:solidFill>
                <a:latin typeface="+mn-lt"/>
                <a:ea typeface="+mn-ea"/>
                <a:cs typeface="+mn-cs"/>
              </a:rPr>
              <a:t>constitution.md</a:t>
            </a:r>
            <a:r>
              <a:rPr lang="en-US" dirty="0"/>
              <a:t> and </a:t>
            </a:r>
            <a:r>
              <a:rPr lang="en-US" sz="1200" kern="1200" dirty="0">
                <a:solidFill>
                  <a:schemeClr val="tx1"/>
                </a:solidFill>
                <a:latin typeface="+mn-lt"/>
                <a:ea typeface="+mn-ea"/>
                <a:cs typeface="+mn-cs"/>
              </a:rPr>
              <a:t>tech.md</a:t>
            </a:r>
            <a:r>
              <a:rPr lang="en-US" dirty="0"/>
              <a:t> first.</a:t>
            </a:r>
          </a:p>
          <a:p>
            <a:r>
              <a:rPr lang="en-US" dirty="0"/>
              <a:t>This brings us to </a:t>
            </a:r>
            <a:r>
              <a:rPr lang="en-US" b="1" dirty="0"/>
              <a:t>The Cardinal Rule of Spec-Driven Engineering</a:t>
            </a:r>
            <a:r>
              <a:rPr lang="en-US" dirty="0"/>
              <a:t>:</a:t>
            </a:r>
          </a:p>
          <a:p>
            <a:r>
              <a:rPr lang="en-US" i="1" dirty="0"/>
              <a:t>'Never update code without updating the memory. The Spec remains the ultimate source of truth.'</a:t>
            </a:r>
            <a:endParaRPr lang="en-US" dirty="0"/>
          </a:p>
          <a:p>
            <a:r>
              <a:rPr lang="en-US" dirty="0"/>
              <a:t>If you change code without updating the spec, your AI agent will overwrite or break those changes during future feature cycles because its reference memory is out of date. By treating specs as living sources of truth, your codebase remains self-documenting and resilient.</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12</a:t>
            </a:fld>
            <a:endParaRPr lang="en-US"/>
          </a:p>
        </p:txBody>
      </p:sp>
    </p:spTree>
    <p:extLst>
      <p:ext uri="{BB962C8B-B14F-4D97-AF65-F5344CB8AC3E}">
        <p14:creationId xmlns:p14="http://schemas.microsoft.com/office/powerpoint/2010/main" val="40873526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teams adopt SDD across larger codebases, manually instructing agents on setup steps, linting rules, and pull requests can become repetitive.</a:t>
            </a:r>
          </a:p>
          <a:p>
            <a:r>
              <a:rPr lang="en-US" dirty="0"/>
              <a:t>To scale SDD efficiently, we package project-specific workflows into </a:t>
            </a:r>
            <a:r>
              <a:rPr lang="en-US" b="1" dirty="0"/>
              <a:t>Agent Skills</a:t>
            </a:r>
            <a:r>
              <a:rPr lang="en-US" dirty="0"/>
              <a:t>.</a:t>
            </a:r>
          </a:p>
          <a:p>
            <a:r>
              <a:rPr lang="en-US" dirty="0"/>
              <a:t>Agent Skills are modular, reusable packages of custom instructions and commands that extend the capabilities of your AI agent.</a:t>
            </a:r>
          </a:p>
          <a:p>
            <a:r>
              <a:rPr lang="en-US" dirty="0"/>
              <a:t>Instead of typing multi-line prompts every time you finish a task, you trigger predefined skills:</a:t>
            </a:r>
          </a:p>
          <a:p>
            <a:pPr marL="171450" lvl="0" indent="-171450">
              <a:buFont typeface="Arial" panose="020B0604020202020204" pitchFamily="34" charset="0"/>
              <a:buChar char="•"/>
            </a:pPr>
            <a:r>
              <a:rPr lang="en-US" b="1" dirty="0"/>
              <a:t>Linting Protocol</a:t>
            </a:r>
            <a:r>
              <a:rPr lang="en-US" dirty="0"/>
              <a:t>: Runs code style checks and formats files automatically.</a:t>
            </a:r>
          </a:p>
          <a:p>
            <a:pPr marL="171450" lvl="0" indent="-171450">
              <a:buFont typeface="Arial" panose="020B0604020202020204" pitchFamily="34" charset="0"/>
              <a:buChar char="•"/>
            </a:pPr>
            <a:r>
              <a:rPr lang="en-US" b="1" dirty="0"/>
              <a:t>Test Runner</a:t>
            </a:r>
            <a:r>
              <a:rPr lang="en-US" dirty="0"/>
              <a:t>: Triggers unit and integration test suites, returning formatted failure reports to the agent.</a:t>
            </a:r>
          </a:p>
          <a:p>
            <a:pPr marL="171450" lvl="0" indent="-171450">
              <a:buFont typeface="Arial" panose="020B0604020202020204" pitchFamily="34" charset="0"/>
              <a:buChar char="•"/>
            </a:pPr>
            <a:r>
              <a:rPr lang="en-US" b="1" dirty="0"/>
              <a:t>Changelog Gen &amp; Readme Update</a:t>
            </a:r>
            <a:r>
              <a:rPr lang="en-US" dirty="0"/>
              <a:t>: Updates project documentation and commits standardized Git messages.</a:t>
            </a:r>
          </a:p>
          <a:p>
            <a:r>
              <a:rPr lang="en-US" dirty="0"/>
              <a:t>By codifying engineering standards into agent skills, you turn manual workflows into automated, repeatable routines across your entire development team.</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13</a:t>
            </a:fld>
            <a:endParaRPr lang="en-US"/>
          </a:p>
        </p:txBody>
      </p:sp>
    </p:spTree>
    <p:extLst>
      <p:ext uri="{BB962C8B-B14F-4D97-AF65-F5344CB8AC3E}">
        <p14:creationId xmlns:p14="http://schemas.microsoft.com/office/powerpoint/2010/main" val="15784915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major strategic advantage of Spec-Driven Development is that it future-proofs your software against tool lock-in.</a:t>
            </a:r>
          </a:p>
          <a:p>
            <a:r>
              <a:rPr lang="en-US" dirty="0"/>
              <a:t>AI developer tools are evolving rapidly. A tool or model that leads the market today might be surpassed tomorrow. If your development workflow depends entirely on proprietary chat sessions or vendor-specific interfaces, switching tools can be difficult and costly.</a:t>
            </a:r>
          </a:p>
          <a:p>
            <a:r>
              <a:rPr lang="en-US" dirty="0"/>
              <a:t>Because SDD relies on plain-text markdown specifications stored in standard Git repositories, it is </a:t>
            </a:r>
            <a:r>
              <a:rPr lang="en-US" b="1" dirty="0"/>
              <a:t>completely agent-agnostic</a:t>
            </a:r>
            <a:r>
              <a:rPr lang="en-US" dirty="0"/>
              <a:t>.</a:t>
            </a:r>
          </a:p>
          <a:p>
            <a:r>
              <a:rPr lang="en-US" dirty="0"/>
              <a:t>Look at the open ecosystem on this slide:</a:t>
            </a:r>
          </a:p>
          <a:p>
            <a:pPr marL="171450" lvl="0" indent="-171450">
              <a:buFont typeface="Arial" panose="020B0604020202020204" pitchFamily="34" charset="0"/>
              <a:buChar char="•"/>
            </a:pPr>
            <a:r>
              <a:rPr lang="en-US" b="1" dirty="0"/>
              <a:t>The Spec (Plain Text)</a:t>
            </a:r>
            <a:r>
              <a:rPr lang="en-US" dirty="0"/>
              <a:t> sits at the center as the universal source of truth.</a:t>
            </a:r>
          </a:p>
          <a:p>
            <a:pPr marL="171450" lvl="0" indent="-171450">
              <a:buFont typeface="Arial" panose="020B0604020202020204" pitchFamily="34" charset="0"/>
              <a:buChar char="•"/>
            </a:pPr>
            <a:r>
              <a:rPr lang="en-US" dirty="0"/>
              <a:t>Open standards like </a:t>
            </a:r>
            <a:r>
              <a:rPr lang="en-US" b="1" dirty="0"/>
              <a:t>MCP (Model Context Protocol)</a:t>
            </a:r>
            <a:r>
              <a:rPr lang="en-US" dirty="0"/>
              <a:t> allow agents to pull live context from external tools and databases.</a:t>
            </a:r>
          </a:p>
          <a:p>
            <a:pPr marL="171450" lvl="0" indent="-171450">
              <a:buFont typeface="Arial" panose="020B0604020202020204" pitchFamily="34" charset="0"/>
              <a:buChar char="•"/>
            </a:pPr>
            <a:r>
              <a:rPr lang="en-US" dirty="0"/>
              <a:t>Protocols like </a:t>
            </a:r>
            <a:r>
              <a:rPr lang="en-US" b="1" dirty="0"/>
              <a:t>ACP (Agent Client Protocol)</a:t>
            </a:r>
            <a:r>
              <a:rPr lang="en-US" dirty="0"/>
              <a:t> provide standardized connections between AI agents and modern IDEs like VS Code, WebStorm, Claude Code, or </a:t>
            </a:r>
            <a:r>
              <a:rPr lang="en-US" dirty="0" err="1"/>
              <a:t>OpenCode</a:t>
            </a:r>
            <a:r>
              <a:rPr lang="en-US" dirty="0"/>
              <a:t>.</a:t>
            </a:r>
          </a:p>
          <a:p>
            <a:r>
              <a:rPr lang="en-US" dirty="0"/>
              <a:t>If a more capable model or IDE comes out next month, you can swap your underlying AI engine without losing project memory or changing your core engineering workflow.</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14</a:t>
            </a:fld>
            <a:endParaRPr lang="en-US"/>
          </a:p>
        </p:txBody>
      </p:sp>
    </p:spTree>
    <p:extLst>
      <p:ext uri="{BB962C8B-B14F-4D97-AF65-F5344CB8AC3E}">
        <p14:creationId xmlns:p14="http://schemas.microsoft.com/office/powerpoint/2010/main" val="822448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our journey today: </a:t>
            </a:r>
            <a:r>
              <a:rPr lang="en-US" b="1" dirty="0"/>
              <a:t>The Spec is the Memory</a:t>
            </a:r>
            <a:r>
              <a:rPr lang="en-US" dirty="0"/>
              <a:t>.</a:t>
            </a:r>
          </a:p>
          <a:p>
            <a:r>
              <a:rPr lang="en-US" dirty="0"/>
              <a:t>When working with AI coding agents, source code is simply an implementation detail generated from specifications. The specs you write today become the indestructible memory of your projects tomorrow.</a:t>
            </a:r>
          </a:p>
          <a:p>
            <a:r>
              <a:rPr lang="en-US" dirty="0"/>
              <a:t>Vibe coding might offer quick wins for throwaway prototypes, but engineering complex, maintainable software requires structure, discipline, and clarity.</a:t>
            </a:r>
          </a:p>
          <a:p>
            <a:r>
              <a:rPr lang="en-US" dirty="0"/>
              <a:t>By adopting Spec-Driven Development:</a:t>
            </a:r>
          </a:p>
          <a:p>
            <a:pPr marL="228600" lvl="0" indent="-228600">
              <a:buFont typeface="+mj-lt"/>
              <a:buAutoNum type="arabicPeriod"/>
            </a:pPr>
            <a:r>
              <a:rPr lang="en-US" dirty="0"/>
              <a:t>You eliminate context decay and architectural drift.</a:t>
            </a:r>
          </a:p>
          <a:p>
            <a:pPr marL="228600" lvl="0" indent="-228600">
              <a:buFont typeface="+mj-lt"/>
              <a:buAutoNum type="arabicPeriod"/>
            </a:pPr>
            <a:r>
              <a:rPr lang="en-US" dirty="0"/>
              <a:t>You establish clear human-in-the-loop oversight.</a:t>
            </a:r>
          </a:p>
          <a:p>
            <a:pPr marL="228600" lvl="0" indent="-228600">
              <a:buFont typeface="+mj-lt"/>
              <a:buAutoNum type="arabicPeriod"/>
            </a:pPr>
            <a:r>
              <a:rPr lang="en-US" dirty="0"/>
              <a:t>You maintain total architectural control while leveraging AI execution speed.</a:t>
            </a:r>
          </a:p>
          <a:p>
            <a:r>
              <a:rPr lang="en-US" dirty="0"/>
              <a:t>Stop vibe coding. Reclaim your role as the architect, and keep yourself in the driver's seat.</a:t>
            </a:r>
          </a:p>
          <a:p>
            <a:r>
              <a:rPr lang="en-US" dirty="0"/>
              <a:t>Thank you!</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15</a:t>
            </a:fld>
            <a:endParaRPr lang="en-US"/>
          </a:p>
        </p:txBody>
      </p:sp>
    </p:spTree>
    <p:extLst>
      <p:ext uri="{BB962C8B-B14F-4D97-AF65-F5344CB8AC3E}">
        <p14:creationId xmlns:p14="http://schemas.microsoft.com/office/powerpoint/2010/main" val="3243217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final reference slide serves as an executive summary of the entire Spec-Driven Development framework for team leads and engineering managers.</a:t>
            </a:r>
          </a:p>
          <a:p>
            <a:r>
              <a:rPr lang="en-US" dirty="0"/>
              <a:t>Let's do a final review of the key components:</a:t>
            </a:r>
          </a:p>
          <a:p>
            <a:pPr lvl="0"/>
            <a:r>
              <a:rPr lang="en-US" b="1" dirty="0"/>
              <a:t>Strategic Advantage</a:t>
            </a:r>
            <a:r>
              <a:rPr lang="en-US" dirty="0"/>
              <a:t>: SDD transforms developers from manual coders into system architects. We use natural language specs to direct AI agents, treating human reasoning as the 'brain' and AI generation as the 'muscle'.</a:t>
            </a:r>
          </a:p>
          <a:p>
            <a:pPr lvl="0"/>
            <a:r>
              <a:rPr lang="en-US" b="1" dirty="0"/>
              <a:t>Operational Workflow</a:t>
            </a:r>
            <a:r>
              <a:rPr lang="en-US" dirty="0"/>
              <a:t>: By replacing high-decay context loops with permanent Markdown (</a:t>
            </a:r>
            <a:r>
              <a:rPr lang="en-US" sz="1200" kern="1200" dirty="0">
                <a:solidFill>
                  <a:schemeClr val="tx1"/>
                </a:solidFill>
                <a:latin typeface="+mn-lt"/>
                <a:ea typeface="+mn-ea"/>
                <a:cs typeface="+mn-cs"/>
              </a:rPr>
              <a:t>.md</a:t>
            </a:r>
            <a:r>
              <a:rPr lang="en-US" dirty="0"/>
              <a:t>) specs, we eliminate technical debt caused by AI drift.</a:t>
            </a:r>
          </a:p>
          <a:p>
            <a:pPr lvl="0"/>
            <a:r>
              <a:rPr lang="en-US" b="1" dirty="0"/>
              <a:t>Roles &amp; Responsibilities</a:t>
            </a:r>
            <a:r>
              <a:rPr lang="en-US" dirty="0"/>
              <a:t>:</a:t>
            </a:r>
          </a:p>
          <a:p>
            <a:pPr marL="171450" lvl="0" indent="-171450">
              <a:buFont typeface="Arial" panose="020B0604020202020204" pitchFamily="34" charset="0"/>
              <a:buChar char="•"/>
            </a:pPr>
            <a:r>
              <a:rPr lang="en-US" b="1" dirty="0"/>
              <a:t>Senior Architect (Human)</a:t>
            </a:r>
            <a:r>
              <a:rPr lang="en-US" dirty="0"/>
              <a:t>: Owns the Project Constitution and Feature Specs. Focuses on </a:t>
            </a:r>
            <a:r>
              <a:rPr lang="en-US" i="1" dirty="0"/>
              <a:t>What</a:t>
            </a:r>
            <a:r>
              <a:rPr lang="en-US" dirty="0"/>
              <a:t> and </a:t>
            </a:r>
            <a:r>
              <a:rPr lang="en-US" i="1" dirty="0"/>
              <a:t>Why</a:t>
            </a:r>
            <a:r>
              <a:rPr lang="en-US" dirty="0"/>
              <a:t>.</a:t>
            </a:r>
          </a:p>
          <a:p>
            <a:pPr marL="171450" lvl="0" indent="-171450">
              <a:buFont typeface="Arial" panose="020B0604020202020204" pitchFamily="34" charset="0"/>
              <a:buChar char="•"/>
            </a:pPr>
            <a:r>
              <a:rPr lang="en-US" b="1" dirty="0"/>
              <a:t>Capable Builder (AI Agent)</a:t>
            </a:r>
            <a:r>
              <a:rPr lang="en-US" dirty="0"/>
              <a:t>: Owns Code Implementation and Automated Validation. Focuses on </a:t>
            </a:r>
            <a:r>
              <a:rPr lang="en-US" i="1" dirty="0"/>
              <a:t>How</a:t>
            </a:r>
            <a:r>
              <a:rPr lang="en-US" dirty="0"/>
              <a:t>.</a:t>
            </a:r>
          </a:p>
          <a:p>
            <a:pPr lvl="0"/>
            <a:r>
              <a:rPr lang="en-US" b="1" dirty="0"/>
              <a:t>The Core Workflow</a:t>
            </a:r>
            <a:r>
              <a:rPr lang="en-US" dirty="0"/>
              <a:t>: Establish the Project Constitution (</a:t>
            </a:r>
            <a:r>
              <a:rPr lang="en-US" sz="1200" kern="1200" dirty="0">
                <a:solidFill>
                  <a:schemeClr val="tx1"/>
                </a:solidFill>
                <a:latin typeface="+mn-lt"/>
                <a:ea typeface="+mn-ea"/>
                <a:cs typeface="+mn-cs"/>
              </a:rPr>
              <a:t>mission.md</a:t>
            </a:r>
            <a:r>
              <a:rPr lang="en-US" dirty="0"/>
              <a:t>, </a:t>
            </a:r>
            <a:r>
              <a:rPr lang="en-US" sz="1200" kern="1200" dirty="0">
                <a:solidFill>
                  <a:schemeClr val="tx1"/>
                </a:solidFill>
                <a:latin typeface="+mn-lt"/>
                <a:ea typeface="+mn-ea"/>
                <a:cs typeface="+mn-cs"/>
              </a:rPr>
              <a:t>tech.md</a:t>
            </a:r>
            <a:r>
              <a:rPr lang="en-US" dirty="0"/>
              <a:t>, </a:t>
            </a:r>
            <a:r>
              <a:rPr lang="en-US" sz="1200" kern="1200" dirty="0">
                <a:solidFill>
                  <a:schemeClr val="tx1"/>
                </a:solidFill>
                <a:latin typeface="+mn-lt"/>
                <a:ea typeface="+mn-ea"/>
                <a:cs typeface="+mn-cs"/>
              </a:rPr>
              <a:t>roadmap.md</a:t>
            </a:r>
            <a:r>
              <a:rPr lang="en-US" dirty="0"/>
              <a:t>), then run the Feature Development Loop (</a:t>
            </a:r>
            <a:r>
              <a:rPr lang="en-US" sz="1200" kern="1200" dirty="0">
                <a:solidFill>
                  <a:schemeClr val="tx1"/>
                </a:solidFill>
                <a:latin typeface="+mn-lt"/>
                <a:ea typeface="+mn-ea"/>
                <a:cs typeface="+mn-cs"/>
              </a:rPr>
              <a:t>Plan -&gt; Implement -&gt; Verify -&gt; Replan</a:t>
            </a:r>
            <a:r>
              <a:rPr lang="en-US" dirty="0"/>
              <a:t>).</a:t>
            </a:r>
          </a:p>
          <a:p>
            <a:r>
              <a:rPr lang="en-US" dirty="0"/>
              <a:t>Using this structure allows software teams to move fast with AI agents while maintaining rigorous engineering standards.</a:t>
            </a:r>
          </a:p>
          <a:p>
            <a:r>
              <a:rPr lang="en-US" dirty="0"/>
              <a:t>For a comprehensive video walkthrough explaining these core principles and demonstrating how coding agents utilize markdown specifications in real-world workflows, check out the </a:t>
            </a:r>
            <a:r>
              <a:rPr lang="en-US" dirty="0">
                <a:hlinkClick r:id="rId3"/>
              </a:rPr>
              <a:t>Full Course on Spec-Driven Development with Coding Agents</a:t>
            </a:r>
            <a:r>
              <a:rPr lang="en-US" dirty="0"/>
              <a:t>. This course provides step-by-step demonstrations on setting up project constitutions, executing feature loops, and packaging custom skills.</a:t>
            </a:r>
          </a:p>
          <a:p>
            <a:endParaRPr lang="en-US" dirty="0"/>
          </a:p>
          <a:p>
            <a:endParaRPr lang="en-US" dirty="0"/>
          </a:p>
          <a:p>
            <a:endParaRPr lang="en-US" dirty="0"/>
          </a:p>
          <a:p>
            <a:endParaRPr lang="en-US" dirty="0"/>
          </a:p>
          <a:p>
            <a:r>
              <a:rPr lang="en-US" b="1" dirty="0"/>
              <a:t>Full Course: Spec-Driven Development with Coding Agents</a:t>
            </a:r>
          </a:p>
          <a:p>
            <a:r>
              <a:rPr lang="en-US" dirty="0"/>
              <a:t>https://www.youtube.com/watch?v=hy8UstR2NEg</a:t>
            </a:r>
          </a:p>
          <a:p>
            <a:endParaRPr lang="en-US" dirty="0"/>
          </a:p>
        </p:txBody>
      </p:sp>
      <p:sp>
        <p:nvSpPr>
          <p:cNvPr id="4" name="Slide Number Placeholder 3"/>
          <p:cNvSpPr>
            <a:spLocks noGrp="1"/>
          </p:cNvSpPr>
          <p:nvPr>
            <p:ph type="sldNum" sz="quarter" idx="5"/>
          </p:nvPr>
        </p:nvSpPr>
        <p:spPr/>
        <p:txBody>
          <a:bodyPr/>
          <a:lstStyle/>
          <a:p>
            <a:fld id="{27AC7C6A-D9D7-4101-A352-B4FE26CA8A69}" type="slidenum">
              <a:rPr lang="en-US" smtClean="0"/>
              <a:t>16</a:t>
            </a:fld>
            <a:endParaRPr lang="en-US"/>
          </a:p>
        </p:txBody>
      </p:sp>
    </p:spTree>
    <p:extLst>
      <p:ext uri="{BB962C8B-B14F-4D97-AF65-F5344CB8AC3E}">
        <p14:creationId xmlns:p14="http://schemas.microsoft.com/office/powerpoint/2010/main" val="626919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319ECE-B7FC-890A-FB5E-5D6FDB733C6E}"/>
              </a:ext>
            </a:extLst>
          </p:cNvPr>
          <p:cNvSpPr>
            <a:spLocks noGrp="1"/>
          </p:cNvSpPr>
          <p:nvPr>
            <p:ph type="dt" sz="half" idx="10"/>
          </p:nvPr>
        </p:nvSpPr>
        <p:spPr/>
        <p:txBody>
          <a:bodyPr/>
          <a:lstStyle/>
          <a:p>
            <a:fld id="{5138C58F-397A-4E68-817F-F8ED839ABEF4}" type="datetimeFigureOut">
              <a:rPr lang="en-US" smtClean="0"/>
              <a:t>10/21/2026</a:t>
            </a:fld>
            <a:endParaRPr lang="en-US"/>
          </a:p>
        </p:txBody>
      </p:sp>
      <p:sp>
        <p:nvSpPr>
          <p:cNvPr id="3" name="Footer Placeholder 2">
            <a:extLst>
              <a:ext uri="{FF2B5EF4-FFF2-40B4-BE49-F238E27FC236}">
                <a16:creationId xmlns:a16="http://schemas.microsoft.com/office/drawing/2014/main" id="{7AADFE84-D2B1-A9F7-BD94-CAB639CB32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8EA157-E61F-D734-8EDB-FCE275EB4F07}"/>
              </a:ext>
            </a:extLst>
          </p:cNvPr>
          <p:cNvSpPr>
            <a:spLocks noGrp="1"/>
          </p:cNvSpPr>
          <p:nvPr>
            <p:ph type="sldNum" sz="quarter" idx="12"/>
          </p:nvPr>
        </p:nvSpPr>
        <p:spPr/>
        <p:txBody>
          <a:bodyPr/>
          <a:lstStyle/>
          <a:p>
            <a:fld id="{8D8F289F-C4F6-492F-8EFE-6C13DB9B7480}" type="slidenum">
              <a:rPr lang="en-US" smtClean="0"/>
              <a:t>‹#›</a:t>
            </a:fld>
            <a:endParaRPr lang="en-US"/>
          </a:p>
        </p:txBody>
      </p:sp>
    </p:spTree>
    <p:extLst>
      <p:ext uri="{BB962C8B-B14F-4D97-AF65-F5344CB8AC3E}">
        <p14:creationId xmlns:p14="http://schemas.microsoft.com/office/powerpoint/2010/main" val="208655161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3E07B9-BC69-5330-7CC8-62D8871D44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738BF1-CEDE-D9EF-E8CB-B8931C2B9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7C9788-08FB-EB60-35A8-A16919EDF4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138C58F-397A-4E68-817F-F8ED839ABEF4}" type="datetimeFigureOut">
              <a:rPr lang="en-US" smtClean="0"/>
              <a:t>10/21/2026</a:t>
            </a:fld>
            <a:endParaRPr lang="en-US"/>
          </a:p>
        </p:txBody>
      </p:sp>
      <p:sp>
        <p:nvSpPr>
          <p:cNvPr id="5" name="Footer Placeholder 4">
            <a:extLst>
              <a:ext uri="{FF2B5EF4-FFF2-40B4-BE49-F238E27FC236}">
                <a16:creationId xmlns:a16="http://schemas.microsoft.com/office/drawing/2014/main" id="{4AE866F5-97F3-662F-75E9-6CFD5A312D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8D45CEA-8CAE-76D7-67F6-F974D124D2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8F289F-C4F6-492F-8EFE-6C13DB9B7480}" type="slidenum">
              <a:rPr lang="en-US" smtClean="0"/>
              <a:t>‹#›</a:t>
            </a:fld>
            <a:endParaRPr lang="en-US"/>
          </a:p>
        </p:txBody>
      </p:sp>
    </p:spTree>
    <p:extLst>
      <p:ext uri="{BB962C8B-B14F-4D97-AF65-F5344CB8AC3E}">
        <p14:creationId xmlns:p14="http://schemas.microsoft.com/office/powerpoint/2010/main" val="88564049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F2A63B3-5485-975A-B987-DC1EA366A64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180B29-979D-D648-6990-0880E9D532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760195-22C0-2E6A-E719-9F89838F51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A46CEA-CEB7-34A9-10C8-36BD839C4C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BFA0B2F-9134-5883-DFF9-2CF4302A42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ABA554-CCC9-2AD7-9662-6DA5E1AE45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1A5C90-16D5-3672-9DCF-A99AFE523C1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05C6E1-381A-06BB-60B0-094A150D6E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77FBEB-9D6D-0610-F8CA-0A99915A02C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8DFB3C-41A2-DEB8-EC7F-BEAB240B50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17BF5B-01AD-023E-8000-9DD10A5BCD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59389B-FEAE-7B3E-3DB6-120F3833A8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FA97A7-288C-0F35-E419-AE8E1AD78A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E1B29D-A14F-2FFA-9BC9-A23B15C087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A69D7FD-2882-738F-5E9B-0B7BB1A032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7EF4B6-DBA0-53F9-93B2-7D91EAB16DC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489413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3525</Words>
  <Application>Microsoft Office PowerPoint</Application>
  <PresentationFormat>寬螢幕</PresentationFormat>
  <Paragraphs>150</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2026-09-23T04:56:13Z</dcterms:created>
  <dcterms:modified xsi:type="dcterms:W3CDTF">2026-10-21T02:40:02Z</dcterms:modified>
</cp:coreProperties>
</file>