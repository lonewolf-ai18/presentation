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4701F-62B0-43E3-8354-496E956FFD44}" v="17" dt="2026-09-16T15:48:51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7892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modMainMaster">
      <pc:chgData name="Lai, Wilson" userId="2840974a-0d84-4886-90a9-9a3ed79f3a48" providerId="ADAL" clId="{9F23B798-9E84-4552-BA63-E776E805C424}" dt="2026-09-16T15:49:04.158" v="63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9-16T15:49:04.158" v="63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16T10:46:30.369" v="36" actId="164"/>
          <ac:spMkLst>
            <pc:docMk/>
            <pc:sldMk cId="0" sldId="257"/>
            <ac:spMk id="5" creationId="{363BB0F1-40CA-5F81-4008-C925441BCF5F}"/>
          </ac:spMkLst>
        </pc:spChg>
        <pc:grpChg chg="add mod">
          <ac:chgData name="Lai, Wilson" userId="2840974a-0d84-4886-90a9-9a3ed79f3a48" providerId="ADAL" clId="{9F23B798-9E84-4552-BA63-E776E805C424}" dt="2026-09-16T10:46:40.650" v="39" actId="1076"/>
          <ac:grpSpMkLst>
            <pc:docMk/>
            <pc:sldMk cId="0" sldId="257"/>
            <ac:grpSpMk id="6" creationId="{7297A902-E704-8249-70CD-FF6044F69ADD}"/>
          </ac:grpSpMkLst>
        </pc:grpChg>
        <pc:picChg chg="del">
          <ac:chgData name="Lai, Wilson" userId="2840974a-0d84-4886-90a9-9a3ed79f3a48" providerId="ADAL" clId="{9F23B798-9E84-4552-BA63-E776E805C424}" dt="2026-09-16T10:04:39.052" v="1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16T10:46:30.369" v="36" actId="164"/>
          <ac:picMkLst>
            <pc:docMk/>
            <pc:sldMk cId="0" sldId="257"/>
            <ac:picMk id="2" creationId="{D2BF520F-787A-E199-9AA4-CB53103CEE0D}"/>
          </ac:picMkLst>
        </pc:picChg>
        <pc:picChg chg="add mod ord">
          <ac:chgData name="Lai, Wilson" userId="2840974a-0d84-4886-90a9-9a3ed79f3a48" providerId="ADAL" clId="{9F23B798-9E84-4552-BA63-E776E805C424}" dt="2026-09-16T15:49:04.158" v="63" actId="166"/>
          <ac:picMkLst>
            <pc:docMk/>
            <pc:sldMk cId="0" sldId="257"/>
            <ac:picMk id="4" creationId="{6B3AAD7C-1D76-3B6E-F4D8-FA9F123C153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6:43.335" v="45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16T10:04:49.179" v="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4:59.776" v="4" actId="22"/>
          <ac:picMkLst>
            <pc:docMk/>
            <pc:sldMk cId="0" sldId="258"/>
            <ac:picMk id="4" creationId="{6E4A3C6E-D73F-7739-DE04-D8FEC4941DF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6:58.621" v="46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16T10:05:01.729" v="5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5:09.925" v="6" actId="22"/>
          <ac:picMkLst>
            <pc:docMk/>
            <pc:sldMk cId="0" sldId="259"/>
            <ac:picMk id="4" creationId="{1D50D859-AFA8-5961-0336-A778D9EC055C}"/>
          </ac:picMkLst>
        </pc:picChg>
      </pc:sldChg>
      <pc:sldChg chg="addSp delSp mod">
        <pc:chgData name="Lai, Wilson" userId="2840974a-0d84-4886-90a9-9a3ed79f3a48" providerId="ADAL" clId="{9F23B798-9E84-4552-BA63-E776E805C424}" dt="2026-09-16T10:05:19.108" v="8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16T10:05:11.675" v="7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5:19.108" v="8" actId="22"/>
          <ac:picMkLst>
            <pc:docMk/>
            <pc:sldMk cId="0" sldId="260"/>
            <ac:picMk id="4" creationId="{C596366A-684C-7125-424F-DDF39A441F3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7:22.838" v="48" actId="14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16T10:05:20.517" v="9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5:26.741" v="10" actId="22"/>
          <ac:picMkLst>
            <pc:docMk/>
            <pc:sldMk cId="0" sldId="261"/>
            <ac:picMk id="4" creationId="{C1C4ACBB-668B-8114-9C6E-BCA2125462E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7:35.165" v="50" actId="14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16T10:05:29.038" v="11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5:35.981" v="12" actId="22"/>
          <ac:picMkLst>
            <pc:docMk/>
            <pc:sldMk cId="0" sldId="262"/>
            <ac:picMk id="4" creationId="{FDB522D7-25C5-E23F-90E4-3F242B7B649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7:45.347" v="51" actId="1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16T10:05:37.341" v="13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5:43.997" v="14" actId="22"/>
          <ac:picMkLst>
            <pc:docMk/>
            <pc:sldMk cId="0" sldId="263"/>
            <ac:picMk id="4" creationId="{A60CDBB4-7695-70AF-A44E-F5C5EB5A2B8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7:55.942" v="53" actId="14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16T10:05:45.926" v="15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6:11.753" v="16" actId="22"/>
          <ac:picMkLst>
            <pc:docMk/>
            <pc:sldMk cId="0" sldId="264"/>
            <ac:picMk id="4" creationId="{BB6864FF-073A-8020-5FD1-CAD64A090A7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8:07.458" v="54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16T10:06:13.571" v="17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6:26.729" v="18" actId="22"/>
          <ac:picMkLst>
            <pc:docMk/>
            <pc:sldMk cId="0" sldId="265"/>
            <ac:picMk id="4" creationId="{9E2013CE-F4B5-E14E-FFD1-3FFA3527A92A}"/>
          </ac:picMkLst>
        </pc:picChg>
      </pc:sldChg>
      <pc:sldChg chg="addSp delSp mod">
        <pc:chgData name="Lai, Wilson" userId="2840974a-0d84-4886-90a9-9a3ed79f3a48" providerId="ADAL" clId="{9F23B798-9E84-4552-BA63-E776E805C424}" dt="2026-09-16T10:06:35.591" v="20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16T10:06:28.803" v="1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6:35.591" v="20" actId="22"/>
          <ac:picMkLst>
            <pc:docMk/>
            <pc:sldMk cId="0" sldId="266"/>
            <ac:picMk id="4" creationId="{77EEE748-E65F-BE1B-F736-085D18EDEA9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8:25.739" v="55" actId="1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16T10:06:36.930" v="2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6:45.393" v="22" actId="22"/>
          <ac:picMkLst>
            <pc:docMk/>
            <pc:sldMk cId="0" sldId="267"/>
            <ac:picMk id="4" creationId="{E721A060-C75C-5CE0-6CDA-B6CB4FB06C6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16T15:48:38.788" v="57" actId="14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16T10:06:47.098" v="2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6T10:06:54.526" v="24" actId="22"/>
          <ac:picMkLst>
            <pc:docMk/>
            <pc:sldMk cId="0" sldId="268"/>
            <ac:picMk id="4" creationId="{1D57DCD4-A561-B619-1740-23C15D91E3BC}"/>
          </ac:picMkLst>
        </pc:picChg>
      </pc:sldChg>
      <pc:sldChg chg="modNotesTx">
        <pc:chgData name="Lai, Wilson" userId="2840974a-0d84-4886-90a9-9a3ed79f3a48" providerId="ADAL" clId="{9F23B798-9E84-4552-BA63-E776E805C424}" dt="2026-09-16T15:48:56.278" v="62" actId="14"/>
        <pc:sldMkLst>
          <pc:docMk/>
          <pc:sldMk cId="2626805134" sldId="269"/>
        </pc:sldMkLst>
      </pc:sldChg>
      <pc:sldMasterChg chg="setBg">
        <pc:chgData name="Lai, Wilson" userId="2840974a-0d84-4886-90a9-9a3ed79f3a48" providerId="ADAL" clId="{9F23B798-9E84-4552-BA63-E776E805C424}" dt="2026-09-16T10:03:15.303" v="0"/>
        <pc:sldMasterMkLst>
          <pc:docMk/>
          <pc:sldMasterMk cId="153498913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E78A9-9875-4407-A6D0-5E3026509B0F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EEF6C-2E61-4512-B68B-54958A736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0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&amp; Setting the Stage: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Good morning/afternoon, everyone. Today, we’re unpacking a massive paradigm shift in enterprise technology—the transition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Enterprise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Thesis: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Cisco and Splunk come together, our combined vision centers on one imperative: how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secure, observe, and scale 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what we call the "post-chat era".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past few years, the narrative around AI has been dominated by prompt boxes and single-turn conversational chatbots. But that was just phase one. We are entering a world where autonomous digital actors operate continuously across our networks and systems.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of this Session: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next hour, we’ll explore what this shift means for your compute infrastructure, network capacity, security operations, and overall data strategy.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https://www.youtube.com/watch?v=-N6eBiOtPaM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8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Chatbots vs. Autonomous Agents: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Let's contrast where we were with where we're going.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 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acted like a reactive digital assistant. You asked a question, it gave an answer. Usage was human-gated, meaning network traffic spiked only when humans were at their keyboards typing prompts.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becomes an autonomous digital coworker. Agents perform complex, multi-step workflows across systems without human intervention at every step.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Operational Impact: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24/7 Operations: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Agents don't sleep or take lunch breaks. They run continuously in the background.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450% Surge: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Performing a task autonomously requires an average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450% higher network consumption per task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compared to a human typing a query.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Tipping Point: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Earlier this year, we crossed a historic threshold: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token consumption officially surpassed human token consumption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globally—and that rate has since accelerated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networks and data centers weren't originally architected for continuous, machine-driven, high-bandwidth interaction.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02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Navigating the New Landscape: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Four critical shifts—or vectors—are redefining enterprise IT strategies right now: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 is the New Workload: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days of focus being entirely on LLM training are over. Today,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of global AI compute capacity is spent on inference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Enterprise value is created when models are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just when they are being trained.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Agents are the New Workforce: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Moving from static tools to active digital teammates means existing identity access management (IAM) and network structures must treat agents as distinct operational entities.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 are the New Currency: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High-end frontier models (like GPT-4o or Claude 3.5 Sonnet) are expensive. Unchecked agent loops can create runaway token costs in minutes. Smart routing between frontier, open-source, and open-weight models is now mandatory for cost efficiency.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is the New Motif: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must move beyond the hype ("mythos") of AI and focus on practical guardrails. Because agents execute actions across systems, we must intercept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behavioral drift at machine speed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15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"Teenager" Metaphor: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understand why managing AI agents is tricky, consider this analogy: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"Agents are like teenagers—supremely intelligent, zero fear of consequences, and prone to occasional poor judgment."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Capability vs. High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agent might have the capability to query a database, compile an executive summary, and send an email. But without strict guardrails, it might accidentally pull confidential M&amp;A data or email an unverified external address.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Requirement: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cannot fix or secure what you cannot see.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Interception: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Traditional post-hoc log auditing isn't enough. When an agent’s behavior drifts off track, organizations need real-time interception mechanisms to flag and halt the task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execution causes irreversible damage. Total observability is non-negotiable.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26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Does the Compute Live?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compute architecture for AI is decentralizing across three key tiers: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Ideal for massive centralized inference, running heavy frontier models, and processing massive public data sets.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On-Premise Data Centers: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Essential for protected intellectual property, regulatory compliance, and localized data gravity where cloud transfer is prohibited or too latency-sensitive.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Desk-Side Computing (Edge AI):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major emerging paradigm. In the near future, tens of thousands of localized devices, laptops, and workstation chips will run localized, smaller models powering trillions of daily micro-tasks directly at the user level.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 Challenge: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Security, observability, and networking fabrics must span seamlessly across all three domains without creating siloed blind spots.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7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Full-Stack 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power the Agentic Enterprise, Cisco and Splunk are delivering a stack that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vertically integrated, tightly integrated, yet loosely coupled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Walking Through the Layer Cake: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Silicon &amp; Photonics: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Building high-density, power-efficient, network-optimized custom chips.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Systems: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Partnering deeply with NVIDIA, Intel, and hardware leaders to optimize system-level performance.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Data, Security &amp; Observability (The Core Focus):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Splunk-powered resilience fabric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sitting directly in the middle. It handles trace monitoring, anomaly detection, and identity verification across every layer.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Seamless integration across both frontier (closed) and open-weights/open-source model architectures.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 &amp; Agents: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top-layer user interfaces where autonomous workflows run.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This Matters: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Optimizing just one layer isn't enough; true performance and security require co-design from silicon all the way up to the agent application layer.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89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Pillars of Digital Trust: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do we practically operationalize security and efficiency in this new era?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 for AI: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Tracking infrastructure usage, latency, model drift, and token economics. If an agent enters an infinite retry loop, automated systems immediately quarantine it before it runs up a massive bill or floods the network.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Agentic SOC: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 operations centers are severely overwhelmed by signal volume. We are flipping the script by deploying specialized security agents to process 100% of telemetry signals autonomously, allowing defenders to respond to machine-speed threats in real time.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Cisco Data Fabric: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Correlating telemetry across the network, application, and security domains to spot subtle anomalies before they manifest as catastrophic data breaches.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72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Operations: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Managing complex infrastructure requires a streamlined operational console.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Cisco Cloud Control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acts as the central nervous system across the combined portfolio.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Components: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Experience: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Replaces fragmented management tools with a single design language and single sign-on (SSO) for managing agents, networks, and enterprise data fabrics.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Language Interface: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Operators don't need to write complex cross-platform queries manually. You can ask plain-language questions across the Cisco and Splunk portfolio to receive instantly correlated answers.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Ecosystem: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Built with open APIs and a marketplace model so third-party security and IT tools can integrate seamlessly in minutes.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2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Walking Through a Real-World Scenario: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Let's break down how an agentic defense stops a machine-speed attack in 5 distinct steps: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The Attack: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adversary uses an indirect prompt injection attack on a corporate agent, trying to trick it into dumping sensitive Master Services Agreements (MSAs) and API keys.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Detection: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Splunk Agent Observability monitors the execution trace in real time, flags the abnormal behavioral drift, and triggers a high-severity alert.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Agentic Triage: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human analysts even open the ticket,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Splunk Triaging Agent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gathers technical artifacts, runs SPL log queries, and contextualizes the incident scope automatically.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Auto-Remediation: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dedicated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 Agent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takes immediate action: revoking compromised identity tokens and rotating leaked API keys instantly.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Human Approval: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human analyst steps in at the decision gate, reviews the remediation steps, and approves a global policy rule to permanently prevent similar prompt injection patterns across the organization.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62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Industry Controversy: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There is currently a industry debate around whether enterprises should encrypt agent traces end-to-end to prevent competitors or model providers from distilling their models.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Stance: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Encrypting agent traces is like spray-painting your own security cameras.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Transparency Win: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agent execution traces are completely opaque, security teams cannot determine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agent made a decision or whether an attacker manipulated its logic.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Unobstructed Visibility: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Defending against rogue agents, creative prompt hacking, and systemic failure modes requires total, unobstructed visibility into agent intent and reasoning pathways.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94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Ecosystem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Ecosystem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Synergy: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single vendor solves AI infrastructure alone. We work closely with industry leaders across every tier: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(The Secure AI Factory):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Partnering on high-throughput GPU systems, token efficiency, and open-weight architectures necessary for heavy defensive Agentic Operations.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 (The Orchestrator):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Powering disaggregated hybrid inference across CPUs and accelerators, driving control-plane orchestration, advanced packaging, and energy-efficient edge compute.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(The Scale):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Providing scalable cloud infrastructure via Amazon Bedrock. Combining cloud-scale deployment with Splunk's 20-year foundation of security detection data to run production-grade agents confidently.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96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Quote from Jeetu Patel: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 single agentic action is either a routing challenge, a trust decision, or a telemetry event."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Takeaways for Executive Leadership: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Embrace Agents, Guard the Perimeter: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productivity gains are too vast to ignore, but deploying autonomous agents without an Agentic SOC is an unmanageable risk.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 Your Data Gravity: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architectural data choices you make over the next 12 to 18 months will dictate your enterprise security posture for the next decade.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 True Digital Resilience: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Innovation must not outpace governance and control. True resilience requires unified visibility spanning hardware, network fabrics, and security tiers.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43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Synthesis: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wrap up our architectural strategy, let me leave you with this summary dashboard of the core realities we face: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Moving from spiky, human-gated chatbot queries to continuous, 24/7 autonomous digital coworkers.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Preparing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5X higher token volumes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450% greater network bandwidth requirements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task.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Focus: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Recognizing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of compute capacity is now inference-bound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Plan: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a co-designed full stack—from silicon up to applications—equipped with an Agentic SOC, behavioral drift monitoring, and unified observability.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Thought: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Thank you for your time. Let's open the floor to Q&amp;A.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https://www.youtube.com/watch?v=-N6eBiOtPaM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EEF6C-2E61-4512-B68B-54958A7360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1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4C46F-F6CB-7102-696A-362BAD90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D167-C01E-4B9A-912B-E982BFF53F9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92A5D-6B8B-ACD1-866A-7D116691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7C285-9CE1-6D28-1B8A-0C2528F5D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2C377-BAFD-4681-8D43-4DFE955EA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2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A1340-98DD-687F-AA0F-9F59604E3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81105-AE2D-6360-3A5A-D6E126100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34ED0-1F6A-4065-431A-E3718F25B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0D167-C01E-4B9A-912B-E982BFF53F9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C00F3-3378-67E6-C5A6-E5A36D3C7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069C0-D04B-0A76-4436-E58E14ED7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2C377-BAFD-4681-8D43-4DFE955EA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3AAD7C-1D76-3B6E-F4D8-FA9F123C1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A3C6E-D73F-7739-DE04-D8FEC4941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50D859-AFA8-5961-0336-A778D9EC0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96366A-684C-7125-424F-DDF39A441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4ACBB-668B-8114-9C6E-BCA212546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B522D7-25C5-E23F-90E4-3F242B7B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0CDBB4-7695-70AF-A44E-F5C5EB5A2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6864FF-073A-8020-5FD1-CAD64A090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2013CE-F4B5-E14E-FFD1-3FFA3527A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EEE748-E65F-BE1B-F736-085D18EDE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21A060-C75C-5CE0-6CDA-B6CB4FB06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57DCD4-A561-B619-1740-23C15D91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1450F-6DE6-9800-C675-20EE21E6E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0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1868</Words>
  <Application>Microsoft Office PowerPoint</Application>
  <PresentationFormat>寬螢幕</PresentationFormat>
  <Paragraphs>89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2026-09-16T10:01:22Z</dcterms:created>
  <dcterms:modified xsi:type="dcterms:W3CDTF">2026-10-21T02:41:19Z</dcterms:modified>
</cp:coreProperties>
</file>