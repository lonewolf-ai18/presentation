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70B7B2-2B5A-4C44-969E-FFC53D1481BB}" v="16" dt="2026-09-29T03:11:00.485"/>
    <p1510:client id="{BE0FF559-5D77-4D12-899F-677FC5817487}" v="2" dt="2026-09-29T02:45:29.4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78346" autoAdjust="0"/>
  </p:normalViewPr>
  <p:slideViewPr>
    <p:cSldViewPr snapToGrid="0">
      <p:cViewPr varScale="1">
        <p:scale>
          <a:sx n="70" d="100"/>
          <a:sy n="70" d="100"/>
        </p:scale>
        <p:origin x="96" y="5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9T03:11:14.036" v="48" actId="166"/>
      <pc:docMkLst>
        <pc:docMk/>
      </pc:docMkLst>
      <pc:sldChg chg="addSp delSp modSp mod modNotes modNotesTx">
        <pc:chgData name="Lai, Wilson" userId="2840974a-0d84-4886-90a9-9a3ed79f3a48" providerId="ADAL" clId="{9F23B798-9E84-4552-BA63-E776E805C424}" dt="2026-09-29T03:11:14.036" v="48" actId="166"/>
        <pc:sldMkLst>
          <pc:docMk/>
          <pc:sldMk cId="0" sldId="257"/>
        </pc:sldMkLst>
        <pc:picChg chg="del">
          <ac:chgData name="Lai, Wilson" userId="2840974a-0d84-4886-90a9-9a3ed79f3a48" providerId="ADAL" clId="{9F23B798-9E84-4552-BA63-E776E805C424}" dt="2026-09-29T02:53:01.551" v="0" actId="21"/>
          <ac:picMkLst>
            <pc:docMk/>
            <pc:sldMk cId="0" sldId="257"/>
            <ac:picMk id="2" creationId="{00000000-0000-0000-0000-000000000000}"/>
          </ac:picMkLst>
        </pc:picChg>
        <pc:picChg chg="add ord">
          <ac:chgData name="Lai, Wilson" userId="2840974a-0d84-4886-90a9-9a3ed79f3a48" providerId="ADAL" clId="{9F23B798-9E84-4552-BA63-E776E805C424}" dt="2026-09-29T03:11:14.036" v="48" actId="166"/>
          <ac:picMkLst>
            <pc:docMk/>
            <pc:sldMk cId="0" sldId="257"/>
            <ac:picMk id="7" creationId="{E1EC4F5B-3950-2B64-E88B-A00760391C67}"/>
          </ac:picMkLst>
        </pc:picChg>
      </pc:sldChg>
      <pc:sldChg chg="addSp delSp mod modNotes">
        <pc:chgData name="Lai, Wilson" userId="2840974a-0d84-4886-90a9-9a3ed79f3a48" providerId="ADAL" clId="{9F23B798-9E84-4552-BA63-E776E805C424}" dt="2026-09-29T03:11:00.485" v="45"/>
        <pc:sldMkLst>
          <pc:docMk/>
          <pc:sldMk cId="0" sldId="258"/>
        </pc:sldMkLst>
        <pc:picChg chg="del">
          <ac:chgData name="Lai, Wilson" userId="2840974a-0d84-4886-90a9-9a3ed79f3a48" providerId="ADAL" clId="{9F23B798-9E84-4552-BA63-E776E805C424}" dt="2026-09-29T02:53:24.587" v="2" actId="21"/>
          <ac:picMkLst>
            <pc:docMk/>
            <pc:sldMk cId="0" sldId="258"/>
            <ac:picMk id="2" creationId="{00000000-0000-0000-0000-000000000000}"/>
          </ac:picMkLst>
        </pc:picChg>
        <pc:picChg chg="add">
          <ac:chgData name="Lai, Wilson" userId="2840974a-0d84-4886-90a9-9a3ed79f3a48" providerId="ADAL" clId="{9F23B798-9E84-4552-BA63-E776E805C424}" dt="2026-09-29T02:53:47.851" v="3" actId="22"/>
          <ac:picMkLst>
            <pc:docMk/>
            <pc:sldMk cId="0" sldId="258"/>
            <ac:picMk id="4" creationId="{C55BBFDE-18E3-98EC-9B3C-87160DE74472}"/>
          </ac:picMkLst>
        </pc:picChg>
      </pc:sldChg>
      <pc:sldChg chg="addSp delSp mod modNotes">
        <pc:chgData name="Lai, Wilson" userId="2840974a-0d84-4886-90a9-9a3ed79f3a48" providerId="ADAL" clId="{9F23B798-9E84-4552-BA63-E776E805C424}" dt="2026-09-29T03:11:00.485" v="45"/>
        <pc:sldMkLst>
          <pc:docMk/>
          <pc:sldMk cId="0" sldId="259"/>
        </pc:sldMkLst>
        <pc:picChg chg="del">
          <ac:chgData name="Lai, Wilson" userId="2840974a-0d84-4886-90a9-9a3ed79f3a48" providerId="ADAL" clId="{9F23B798-9E84-4552-BA63-E776E805C424}" dt="2026-09-29T02:53:54.074" v="4" actId="21"/>
          <ac:picMkLst>
            <pc:docMk/>
            <pc:sldMk cId="0" sldId="259"/>
            <ac:picMk id="2" creationId="{00000000-0000-0000-0000-000000000000}"/>
          </ac:picMkLst>
        </pc:picChg>
        <pc:picChg chg="add">
          <ac:chgData name="Lai, Wilson" userId="2840974a-0d84-4886-90a9-9a3ed79f3a48" providerId="ADAL" clId="{9F23B798-9E84-4552-BA63-E776E805C424}" dt="2026-09-29T02:54:03.149" v="5" actId="22"/>
          <ac:picMkLst>
            <pc:docMk/>
            <pc:sldMk cId="0" sldId="259"/>
            <ac:picMk id="4" creationId="{D0A1DE01-150B-0F78-5043-1257C2429AF7}"/>
          </ac:picMkLst>
        </pc:picChg>
      </pc:sldChg>
      <pc:sldChg chg="addSp delSp mod modNotes modNotesTx">
        <pc:chgData name="Lai, Wilson" userId="2840974a-0d84-4886-90a9-9a3ed79f3a48" providerId="ADAL" clId="{9F23B798-9E84-4552-BA63-E776E805C424}" dt="2026-09-29T03:11:00.485" v="45"/>
        <pc:sldMkLst>
          <pc:docMk/>
          <pc:sldMk cId="0" sldId="260"/>
        </pc:sldMkLst>
        <pc:picChg chg="del">
          <ac:chgData name="Lai, Wilson" userId="2840974a-0d84-4886-90a9-9a3ed79f3a48" providerId="ADAL" clId="{9F23B798-9E84-4552-BA63-E776E805C424}" dt="2026-09-29T02:54:04.626" v="6" actId="21"/>
          <ac:picMkLst>
            <pc:docMk/>
            <pc:sldMk cId="0" sldId="260"/>
            <ac:picMk id="2" creationId="{00000000-0000-0000-0000-000000000000}"/>
          </ac:picMkLst>
        </pc:picChg>
        <pc:picChg chg="add">
          <ac:chgData name="Lai, Wilson" userId="2840974a-0d84-4886-90a9-9a3ed79f3a48" providerId="ADAL" clId="{9F23B798-9E84-4552-BA63-E776E805C424}" dt="2026-09-29T02:54:12.857" v="7" actId="22"/>
          <ac:picMkLst>
            <pc:docMk/>
            <pc:sldMk cId="0" sldId="260"/>
            <ac:picMk id="4" creationId="{31936BAB-8379-F370-E6D0-DF3250A02ECF}"/>
          </ac:picMkLst>
        </pc:picChg>
      </pc:sldChg>
      <pc:sldChg chg="addSp delSp mod modNotes modNotesTx">
        <pc:chgData name="Lai, Wilson" userId="2840974a-0d84-4886-90a9-9a3ed79f3a48" providerId="ADAL" clId="{9F23B798-9E84-4552-BA63-E776E805C424}" dt="2026-09-29T03:11:00.485" v="45"/>
        <pc:sldMkLst>
          <pc:docMk/>
          <pc:sldMk cId="0" sldId="261"/>
        </pc:sldMkLst>
        <pc:picChg chg="del">
          <ac:chgData name="Lai, Wilson" userId="2840974a-0d84-4886-90a9-9a3ed79f3a48" providerId="ADAL" clId="{9F23B798-9E84-4552-BA63-E776E805C424}" dt="2026-09-29T02:54:14.032" v="8" actId="21"/>
          <ac:picMkLst>
            <pc:docMk/>
            <pc:sldMk cId="0" sldId="261"/>
            <ac:picMk id="2" creationId="{00000000-0000-0000-0000-000000000000}"/>
          </ac:picMkLst>
        </pc:picChg>
        <pc:picChg chg="add">
          <ac:chgData name="Lai, Wilson" userId="2840974a-0d84-4886-90a9-9a3ed79f3a48" providerId="ADAL" clId="{9F23B798-9E84-4552-BA63-E776E805C424}" dt="2026-09-29T02:54:28.001" v="9" actId="22"/>
          <ac:picMkLst>
            <pc:docMk/>
            <pc:sldMk cId="0" sldId="261"/>
            <ac:picMk id="4" creationId="{07D30CA0-1122-5E44-5B0E-B42026DF74E3}"/>
          </ac:picMkLst>
        </pc:picChg>
      </pc:sldChg>
      <pc:sldChg chg="addSp delSp mod modNotes">
        <pc:chgData name="Lai, Wilson" userId="2840974a-0d84-4886-90a9-9a3ed79f3a48" providerId="ADAL" clId="{9F23B798-9E84-4552-BA63-E776E805C424}" dt="2026-09-29T03:11:00.485" v="45"/>
        <pc:sldMkLst>
          <pc:docMk/>
          <pc:sldMk cId="0" sldId="262"/>
        </pc:sldMkLst>
        <pc:picChg chg="del">
          <ac:chgData name="Lai, Wilson" userId="2840974a-0d84-4886-90a9-9a3ed79f3a48" providerId="ADAL" clId="{9F23B798-9E84-4552-BA63-E776E805C424}" dt="2026-09-29T02:54:34.749" v="10" actId="21"/>
          <ac:picMkLst>
            <pc:docMk/>
            <pc:sldMk cId="0" sldId="262"/>
            <ac:picMk id="2" creationId="{00000000-0000-0000-0000-000000000000}"/>
          </ac:picMkLst>
        </pc:picChg>
        <pc:picChg chg="add">
          <ac:chgData name="Lai, Wilson" userId="2840974a-0d84-4886-90a9-9a3ed79f3a48" providerId="ADAL" clId="{9F23B798-9E84-4552-BA63-E776E805C424}" dt="2026-09-29T02:54:52.575" v="11" actId="22"/>
          <ac:picMkLst>
            <pc:docMk/>
            <pc:sldMk cId="0" sldId="262"/>
            <ac:picMk id="4" creationId="{816B6CB4-5BF5-702D-1D4F-9898FFEA4076}"/>
          </ac:picMkLst>
        </pc:picChg>
      </pc:sldChg>
      <pc:sldChg chg="addSp delSp mod modNotes">
        <pc:chgData name="Lai, Wilson" userId="2840974a-0d84-4886-90a9-9a3ed79f3a48" providerId="ADAL" clId="{9F23B798-9E84-4552-BA63-E776E805C424}" dt="2026-09-29T03:11:00.485" v="45"/>
        <pc:sldMkLst>
          <pc:docMk/>
          <pc:sldMk cId="0" sldId="263"/>
        </pc:sldMkLst>
        <pc:picChg chg="del">
          <ac:chgData name="Lai, Wilson" userId="2840974a-0d84-4886-90a9-9a3ed79f3a48" providerId="ADAL" clId="{9F23B798-9E84-4552-BA63-E776E805C424}" dt="2026-09-29T02:54:54.277" v="12" actId="21"/>
          <ac:picMkLst>
            <pc:docMk/>
            <pc:sldMk cId="0" sldId="263"/>
            <ac:picMk id="2" creationId="{00000000-0000-0000-0000-000000000000}"/>
          </ac:picMkLst>
        </pc:picChg>
        <pc:picChg chg="add">
          <ac:chgData name="Lai, Wilson" userId="2840974a-0d84-4886-90a9-9a3ed79f3a48" providerId="ADAL" clId="{9F23B798-9E84-4552-BA63-E776E805C424}" dt="2026-09-29T02:55:04.025" v="13" actId="22"/>
          <ac:picMkLst>
            <pc:docMk/>
            <pc:sldMk cId="0" sldId="263"/>
            <ac:picMk id="4" creationId="{2114A86A-C54A-5EF7-525B-2D6944280679}"/>
          </ac:picMkLst>
        </pc:picChg>
      </pc:sldChg>
      <pc:sldChg chg="addSp delSp mod modNotes">
        <pc:chgData name="Lai, Wilson" userId="2840974a-0d84-4886-90a9-9a3ed79f3a48" providerId="ADAL" clId="{9F23B798-9E84-4552-BA63-E776E805C424}" dt="2026-09-29T03:11:00.485" v="45"/>
        <pc:sldMkLst>
          <pc:docMk/>
          <pc:sldMk cId="0" sldId="264"/>
        </pc:sldMkLst>
        <pc:picChg chg="del">
          <ac:chgData name="Lai, Wilson" userId="2840974a-0d84-4886-90a9-9a3ed79f3a48" providerId="ADAL" clId="{9F23B798-9E84-4552-BA63-E776E805C424}" dt="2026-09-29T02:55:07.044" v="14" actId="21"/>
          <ac:picMkLst>
            <pc:docMk/>
            <pc:sldMk cId="0" sldId="264"/>
            <ac:picMk id="2" creationId="{00000000-0000-0000-0000-000000000000}"/>
          </ac:picMkLst>
        </pc:picChg>
        <pc:picChg chg="add">
          <ac:chgData name="Lai, Wilson" userId="2840974a-0d84-4886-90a9-9a3ed79f3a48" providerId="ADAL" clId="{9F23B798-9E84-4552-BA63-E776E805C424}" dt="2026-09-29T02:55:15.591" v="15" actId="22"/>
          <ac:picMkLst>
            <pc:docMk/>
            <pc:sldMk cId="0" sldId="264"/>
            <ac:picMk id="4" creationId="{BE57E836-884E-F58A-D975-B9DBE942E27C}"/>
          </ac:picMkLst>
        </pc:picChg>
      </pc:sldChg>
      <pc:sldChg chg="addSp delSp mod modNotes">
        <pc:chgData name="Lai, Wilson" userId="2840974a-0d84-4886-90a9-9a3ed79f3a48" providerId="ADAL" clId="{9F23B798-9E84-4552-BA63-E776E805C424}" dt="2026-09-29T03:11:00.485" v="45"/>
        <pc:sldMkLst>
          <pc:docMk/>
          <pc:sldMk cId="0" sldId="265"/>
        </pc:sldMkLst>
        <pc:picChg chg="del">
          <ac:chgData name="Lai, Wilson" userId="2840974a-0d84-4886-90a9-9a3ed79f3a48" providerId="ADAL" clId="{9F23B798-9E84-4552-BA63-E776E805C424}" dt="2026-09-29T02:55:17.406" v="16" actId="21"/>
          <ac:picMkLst>
            <pc:docMk/>
            <pc:sldMk cId="0" sldId="265"/>
            <ac:picMk id="2" creationId="{00000000-0000-0000-0000-000000000000}"/>
          </ac:picMkLst>
        </pc:picChg>
        <pc:picChg chg="add">
          <ac:chgData name="Lai, Wilson" userId="2840974a-0d84-4886-90a9-9a3ed79f3a48" providerId="ADAL" clId="{9F23B798-9E84-4552-BA63-E776E805C424}" dt="2026-09-29T02:55:25.519" v="17" actId="22"/>
          <ac:picMkLst>
            <pc:docMk/>
            <pc:sldMk cId="0" sldId="265"/>
            <ac:picMk id="4" creationId="{81FD4130-E829-1287-7EC3-75E11C6B0A95}"/>
          </ac:picMkLst>
        </pc:picChg>
      </pc:sldChg>
      <pc:sldChg chg="addSp delSp mod modNotes modNotesTx">
        <pc:chgData name="Lai, Wilson" userId="2840974a-0d84-4886-90a9-9a3ed79f3a48" providerId="ADAL" clId="{9F23B798-9E84-4552-BA63-E776E805C424}" dt="2026-09-29T03:11:00.485" v="45"/>
        <pc:sldMkLst>
          <pc:docMk/>
          <pc:sldMk cId="0" sldId="266"/>
        </pc:sldMkLst>
        <pc:picChg chg="del">
          <ac:chgData name="Lai, Wilson" userId="2840974a-0d84-4886-90a9-9a3ed79f3a48" providerId="ADAL" clId="{9F23B798-9E84-4552-BA63-E776E805C424}" dt="2026-09-29T02:55:27.048" v="18" actId="21"/>
          <ac:picMkLst>
            <pc:docMk/>
            <pc:sldMk cId="0" sldId="266"/>
            <ac:picMk id="2" creationId="{00000000-0000-0000-0000-000000000000}"/>
          </ac:picMkLst>
        </pc:picChg>
        <pc:picChg chg="add">
          <ac:chgData name="Lai, Wilson" userId="2840974a-0d84-4886-90a9-9a3ed79f3a48" providerId="ADAL" clId="{9F23B798-9E84-4552-BA63-E776E805C424}" dt="2026-09-29T02:55:36.231" v="19" actId="22"/>
          <ac:picMkLst>
            <pc:docMk/>
            <pc:sldMk cId="0" sldId="266"/>
            <ac:picMk id="4" creationId="{3B0D64ED-CD3C-047C-F1FF-943298107919}"/>
          </ac:picMkLst>
        </pc:picChg>
      </pc:sldChg>
      <pc:sldChg chg="addSp delSp mod modNotes">
        <pc:chgData name="Lai, Wilson" userId="2840974a-0d84-4886-90a9-9a3ed79f3a48" providerId="ADAL" clId="{9F23B798-9E84-4552-BA63-E776E805C424}" dt="2026-09-29T03:11:00.485" v="45"/>
        <pc:sldMkLst>
          <pc:docMk/>
          <pc:sldMk cId="0" sldId="267"/>
        </pc:sldMkLst>
        <pc:picChg chg="del">
          <ac:chgData name="Lai, Wilson" userId="2840974a-0d84-4886-90a9-9a3ed79f3a48" providerId="ADAL" clId="{9F23B798-9E84-4552-BA63-E776E805C424}" dt="2026-09-29T02:55:37.494" v="20" actId="21"/>
          <ac:picMkLst>
            <pc:docMk/>
            <pc:sldMk cId="0" sldId="267"/>
            <ac:picMk id="2" creationId="{00000000-0000-0000-0000-000000000000}"/>
          </ac:picMkLst>
        </pc:picChg>
        <pc:picChg chg="add">
          <ac:chgData name="Lai, Wilson" userId="2840974a-0d84-4886-90a9-9a3ed79f3a48" providerId="ADAL" clId="{9F23B798-9E84-4552-BA63-E776E805C424}" dt="2026-09-29T02:55:44.501" v="21" actId="22"/>
          <ac:picMkLst>
            <pc:docMk/>
            <pc:sldMk cId="0" sldId="267"/>
            <ac:picMk id="4" creationId="{D142601F-1A35-0666-2C0D-659691C3F6E5}"/>
          </ac:picMkLst>
        </pc:picChg>
      </pc:sldChg>
      <pc:sldChg chg="addSp delSp mod modNotes">
        <pc:chgData name="Lai, Wilson" userId="2840974a-0d84-4886-90a9-9a3ed79f3a48" providerId="ADAL" clId="{9F23B798-9E84-4552-BA63-E776E805C424}" dt="2026-09-29T03:11:00.485" v="45"/>
        <pc:sldMkLst>
          <pc:docMk/>
          <pc:sldMk cId="0" sldId="268"/>
        </pc:sldMkLst>
        <pc:picChg chg="del">
          <ac:chgData name="Lai, Wilson" userId="2840974a-0d84-4886-90a9-9a3ed79f3a48" providerId="ADAL" clId="{9F23B798-9E84-4552-BA63-E776E805C424}" dt="2026-09-29T02:55:45.830" v="22" actId="21"/>
          <ac:picMkLst>
            <pc:docMk/>
            <pc:sldMk cId="0" sldId="268"/>
            <ac:picMk id="2" creationId="{00000000-0000-0000-0000-000000000000}"/>
          </ac:picMkLst>
        </pc:picChg>
        <pc:picChg chg="add">
          <ac:chgData name="Lai, Wilson" userId="2840974a-0d84-4886-90a9-9a3ed79f3a48" providerId="ADAL" clId="{9F23B798-9E84-4552-BA63-E776E805C424}" dt="2026-09-29T02:56:00.148" v="23" actId="22"/>
          <ac:picMkLst>
            <pc:docMk/>
            <pc:sldMk cId="0" sldId="268"/>
            <ac:picMk id="4" creationId="{65AE6184-3F45-14AC-4DFC-5C93A8E8086B}"/>
          </ac:picMkLst>
        </pc:picChg>
      </pc:sldChg>
      <pc:sldChg chg="addSp delSp mod modNotes modNotesTx">
        <pc:chgData name="Lai, Wilson" userId="2840974a-0d84-4886-90a9-9a3ed79f3a48" providerId="ADAL" clId="{9F23B798-9E84-4552-BA63-E776E805C424}" dt="2026-09-29T03:11:00.485" v="45"/>
        <pc:sldMkLst>
          <pc:docMk/>
          <pc:sldMk cId="1963460039" sldId="269"/>
        </pc:sldMkLst>
        <pc:picChg chg="del">
          <ac:chgData name="Lai, Wilson" userId="2840974a-0d84-4886-90a9-9a3ed79f3a48" providerId="ADAL" clId="{9F23B798-9E84-4552-BA63-E776E805C424}" dt="2026-09-29T02:56:02.945" v="24" actId="21"/>
          <ac:picMkLst>
            <pc:docMk/>
            <pc:sldMk cId="1963460039" sldId="269"/>
            <ac:picMk id="3" creationId="{00FF325F-B760-0109-4C58-2A027A383FBF}"/>
          </ac:picMkLst>
        </pc:picChg>
        <pc:picChg chg="add">
          <ac:chgData name="Lai, Wilson" userId="2840974a-0d84-4886-90a9-9a3ed79f3a48" providerId="ADAL" clId="{9F23B798-9E84-4552-BA63-E776E805C424}" dt="2026-09-29T02:56:14.160" v="25" actId="22"/>
          <ac:picMkLst>
            <pc:docMk/>
            <pc:sldMk cId="1963460039" sldId="269"/>
            <ac:picMk id="4" creationId="{D70D3E42-71B8-996B-7186-9FF08927D22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BAD96D-EEB9-41F1-B1E0-869CCCDC2382}"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75D247-1C8E-4D1E-A80D-30872DD99D3D}" type="slidenum">
              <a:rPr lang="en-US" smtClean="0"/>
              <a:t>‹#›</a:t>
            </a:fld>
            <a:endParaRPr lang="en-US"/>
          </a:p>
        </p:txBody>
      </p:sp>
    </p:spTree>
    <p:extLst>
      <p:ext uri="{BB962C8B-B14F-4D97-AF65-F5344CB8AC3E}">
        <p14:creationId xmlns:p14="http://schemas.microsoft.com/office/powerpoint/2010/main" val="3602835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Welcome &amp; Introduction:</a:t>
            </a:r>
            <a:r>
              <a:rPr lang="en-US" sz="1200" kern="1200" dirty="0">
                <a:solidFill>
                  <a:schemeClr val="tx1"/>
                </a:solidFill>
                <a:effectLst/>
                <a:latin typeface="+mn-lt"/>
                <a:ea typeface="+mn-ea"/>
                <a:cs typeface="+mn-cs"/>
              </a:rPr>
              <a:t> Good morning/afternoon, everyone. Today, we are going to dive into the core principles of evidence-based investing, risk management, and market history. The insights we'll discuss today are synthesized directly from Dr. William Bernstein—a former practicing neurologist turned world-renowned investment advisor and author of foundational classics like </a:t>
            </a:r>
            <a:r>
              <a:rPr lang="en-US" sz="1200" i="1" kern="1200" dirty="0">
                <a:solidFill>
                  <a:schemeClr val="tx1"/>
                </a:solidFill>
                <a:effectLst/>
                <a:latin typeface="+mn-lt"/>
                <a:ea typeface="+mn-ea"/>
                <a:cs typeface="+mn-cs"/>
              </a:rPr>
              <a:t>The Four Pillars of Investing</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The Intelligent Asset Allocator</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Setting the Scene:</a:t>
            </a:r>
            <a:r>
              <a:rPr lang="en-US" sz="1200" kern="1200" dirty="0">
                <a:solidFill>
                  <a:schemeClr val="tx1"/>
                </a:solidFill>
                <a:effectLst/>
                <a:latin typeface="+mn-lt"/>
                <a:ea typeface="+mn-ea"/>
                <a:cs typeface="+mn-cs"/>
              </a:rPr>
              <a:t> Notice the title: </a:t>
            </a:r>
            <a:r>
              <a:rPr lang="en-US" sz="1200" i="1" kern="1200" dirty="0">
                <a:solidFill>
                  <a:schemeClr val="tx1"/>
                </a:solidFill>
                <a:effectLst/>
                <a:latin typeface="+mn-lt"/>
                <a:ea typeface="+mn-ea"/>
                <a:cs typeface="+mn-cs"/>
              </a:rPr>
              <a:t>'I've Seen This Market Before: Timeless Wisdom on Risk, Bubbles, and Winning the Game.'</a:t>
            </a:r>
            <a:r>
              <a:rPr lang="en-US" sz="1200" kern="1200" dirty="0">
                <a:solidFill>
                  <a:schemeClr val="tx1"/>
                </a:solidFill>
                <a:effectLst/>
                <a:latin typeface="+mn-lt"/>
                <a:ea typeface="+mn-ea"/>
                <a:cs typeface="+mn-cs"/>
              </a:rPr>
              <a:t> Looking back at financial history—whether it’s 1982, 1999, or 2007—market sentiment tends to follow predictable human psychological loops. When markets reach elevated levels, investors routinely convince themselves that 'this time is different' due to novel technological revolutions. </a:t>
            </a:r>
          </a:p>
          <a:p>
            <a:pPr lvl="0"/>
            <a:r>
              <a:rPr lang="en-US" sz="1200" b="1" kern="1200" dirty="0">
                <a:solidFill>
                  <a:schemeClr val="tx1"/>
                </a:solidFill>
                <a:effectLst/>
                <a:latin typeface="+mn-lt"/>
                <a:ea typeface="+mn-ea"/>
                <a:cs typeface="+mn-cs"/>
              </a:rPr>
              <a:t>Core Philosophy:</a:t>
            </a:r>
            <a:r>
              <a:rPr lang="en-US" sz="1200" kern="1200" dirty="0">
                <a:solidFill>
                  <a:schemeClr val="tx1"/>
                </a:solidFill>
                <a:effectLst/>
                <a:latin typeface="+mn-lt"/>
                <a:ea typeface="+mn-ea"/>
                <a:cs typeface="+mn-cs"/>
              </a:rPr>
              <a:t> Throughout this deck, we will examine how market hubris manifests today, why mechanical valuation metrics like the Shiller CAPE ratio are dangerous if misused for market timing, and how we must redefine 'risk' away from short-term market fluctuations and toward the actual catastrophic risk of running out of money in old age. Let's step through these principles to see how we can build an ironclad strategy. </a:t>
            </a:r>
          </a:p>
          <a:p>
            <a:endParaRPr lang="en-US" dirty="0"/>
          </a:p>
          <a:p>
            <a:endParaRPr lang="en-US" dirty="0"/>
          </a:p>
          <a:p>
            <a:endParaRPr lang="en-US" dirty="0"/>
          </a:p>
          <a:p>
            <a:r>
              <a:rPr lang="en-US" b="1" dirty="0"/>
              <a:t>I’ve Seen This Market Before — William Bernstein</a:t>
            </a:r>
          </a:p>
          <a:p>
            <a:r>
              <a:rPr lang="en-US" dirty="0"/>
              <a:t>https://www.youtube.com/watch?v=Eu_NV9nR1uY</a:t>
            </a:r>
          </a:p>
        </p:txBody>
      </p:sp>
      <p:sp>
        <p:nvSpPr>
          <p:cNvPr id="4" name="Slide Number Placeholder 3"/>
          <p:cNvSpPr>
            <a:spLocks noGrp="1"/>
          </p:cNvSpPr>
          <p:nvPr>
            <p:ph type="sldNum" sz="quarter" idx="5"/>
          </p:nvPr>
        </p:nvSpPr>
        <p:spPr/>
        <p:txBody>
          <a:bodyPr/>
          <a:lstStyle/>
          <a:p>
            <a:fld id="{E375D247-1C8E-4D1E-A80D-30872DD99D3D}" type="slidenum">
              <a:rPr lang="en-US" smtClean="0"/>
              <a:t>1</a:t>
            </a:fld>
            <a:endParaRPr lang="en-US"/>
          </a:p>
        </p:txBody>
      </p:sp>
    </p:spTree>
    <p:extLst>
      <p:ext uri="{BB962C8B-B14F-4D97-AF65-F5344CB8AC3E}">
        <p14:creationId xmlns:p14="http://schemas.microsoft.com/office/powerpoint/2010/main" val="1996884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Parallels (1999 vs. Today):</a:t>
            </a:r>
            <a:r>
              <a:rPr lang="en-US" sz="1200" kern="1200" dirty="0">
                <a:solidFill>
                  <a:schemeClr val="tx1"/>
                </a:solidFill>
                <a:effectLst/>
                <a:latin typeface="+mn-lt"/>
                <a:ea typeface="+mn-ea"/>
                <a:cs typeface="+mn-cs"/>
              </a:rPr>
              <a:t> If you look at the market sentiment today, it bears an uncanny resemblance to the late 1990s dot-com era. Back in 1999, there was overwhelming exuberance around a game-changing technology—the Internet. Today, it’s Artificial Intelligence. In both eras, you hear investors bragging at dinner parties about being 100% in equities while claiming 'bonds are for dummies'. Dr. Bernstein points out that nobody brags about being 100% equities during market bottoms like 1982 or 2008—only at cycle tops. </a:t>
            </a:r>
          </a:p>
          <a:p>
            <a:pPr lvl="0"/>
            <a:r>
              <a:rPr lang="en-US" sz="1200" b="1" kern="1200" dirty="0">
                <a:solidFill>
                  <a:schemeClr val="tx1"/>
                </a:solidFill>
                <a:effectLst/>
                <a:latin typeface="+mn-lt"/>
                <a:ea typeface="+mn-ea"/>
                <a:cs typeface="+mn-cs"/>
              </a:rPr>
              <a:t>AI Bubble Assessment:</a:t>
            </a:r>
            <a:r>
              <a:rPr lang="en-US" sz="1200" kern="1200" dirty="0">
                <a:solidFill>
                  <a:schemeClr val="tx1"/>
                </a:solidFill>
                <a:effectLst/>
                <a:latin typeface="+mn-lt"/>
                <a:ea typeface="+mn-ea"/>
                <a:cs typeface="+mn-cs"/>
              </a:rPr>
              <a:t> Dr. Bernstein notes that when something 'walks like a duck, quacks like a duck, and looks like a duck,' it usually is a duck. He estimates a 20% to 30% probability that we are currently inside a dot-com style AI bubble. While true technological revolutions transform society, history shows from the 19th-century UK railway manias to the 1990s internet boom that investors routinely overpay for that growth in the short to medium term. </a:t>
            </a:r>
          </a:p>
          <a:p>
            <a:pPr lvl="0"/>
            <a:r>
              <a:rPr lang="en-US" sz="1200" b="1" kern="1200" dirty="0">
                <a:solidFill>
                  <a:schemeClr val="tx1"/>
                </a:solidFill>
                <a:effectLst/>
                <a:latin typeface="+mn-lt"/>
                <a:ea typeface="+mn-ea"/>
                <a:cs typeface="+mn-cs"/>
              </a:rPr>
              <a:t>Institutional Forecast Swings:</a:t>
            </a:r>
            <a:r>
              <a:rPr lang="en-US" sz="1200" kern="1200" dirty="0">
                <a:solidFill>
                  <a:schemeClr val="tx1"/>
                </a:solidFill>
                <a:effectLst/>
                <a:latin typeface="+mn-lt"/>
                <a:ea typeface="+mn-ea"/>
                <a:cs typeface="+mn-cs"/>
              </a:rPr>
              <a:t> A perfect illustration of current market hubris is institutional behavior. Vanguard's Capital Market Model recently raised its 10-year annualized return forecast for US equities from ~1% up to ~6%, almost entirely driven by assumptions surrounding the AI buildout. Dr. Bernstein expressed stark skepticism toward such abrupt institutional forecast shifts. Changing long-term expected returns so drastically based on short-term corporate capital expenditure trends isn't a reliable forecasting method.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Do not let public euphoria dictate your asset allocation. Highly visible market optimism usually means that growth expectations are already fully priced into securities.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2</a:t>
            </a:fld>
            <a:endParaRPr lang="en-US"/>
          </a:p>
        </p:txBody>
      </p:sp>
    </p:spTree>
    <p:extLst>
      <p:ext uri="{BB962C8B-B14F-4D97-AF65-F5344CB8AC3E}">
        <p14:creationId xmlns:p14="http://schemas.microsoft.com/office/powerpoint/2010/main" val="1015449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the Metric:</a:t>
            </a:r>
            <a:r>
              <a:rPr lang="en-US" sz="1200" kern="1200" dirty="0">
                <a:solidFill>
                  <a:schemeClr val="tx1"/>
                </a:solidFill>
                <a:effectLst/>
                <a:latin typeface="+mn-lt"/>
                <a:ea typeface="+mn-ea"/>
                <a:cs typeface="+mn-cs"/>
              </a:rPr>
              <a:t> Slide 3 presents the Cyclically Adjusted Price-to-Earnings (CAPE) ratio, pioneered by Nobel laureate Robert Shiller. It measures the S&amp;P 500 price relative to average 10-year real inflation-adjusted earnings. Currently, CAPE sits near 41—a valuation level seen only near the peak of the 2000 tech bubble. </a:t>
            </a:r>
          </a:p>
          <a:p>
            <a:pPr lvl="0"/>
            <a:r>
              <a:rPr lang="en-US" sz="1200" b="1" kern="1200" dirty="0">
                <a:solidFill>
                  <a:schemeClr val="tx1"/>
                </a:solidFill>
                <a:effectLst/>
                <a:latin typeface="+mn-lt"/>
                <a:ea typeface="+mn-ea"/>
                <a:cs typeface="+mn-cs"/>
              </a:rPr>
              <a:t>The High Valuation Trap:</a:t>
            </a:r>
            <a:r>
              <a:rPr lang="en-US" sz="1200" kern="1200" dirty="0">
                <a:solidFill>
                  <a:schemeClr val="tx1"/>
                </a:solidFill>
                <a:effectLst/>
                <a:latin typeface="+mn-lt"/>
                <a:ea typeface="+mn-ea"/>
                <a:cs typeface="+mn-cs"/>
              </a:rPr>
              <a:t> Mathematically, a CAPE of 41 signals that future long-term expected returns from equities will likely be muted compared to historical averages. However, here lies the critical trap: </a:t>
            </a:r>
            <a:r>
              <a:rPr lang="en-US" sz="1200" b="1" kern="1200" dirty="0">
                <a:solidFill>
                  <a:schemeClr val="tx1"/>
                </a:solidFill>
                <a:effectLst/>
                <a:latin typeface="+mn-lt"/>
                <a:ea typeface="+mn-ea"/>
                <a:cs typeface="+mn-cs"/>
              </a:rPr>
              <a:t>the CAPE ratio is a terrible market timing tool</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Why Past Rules Fail (Non-Stationarity):</a:t>
            </a:r>
            <a:r>
              <a:rPr lang="en-US" sz="1200" kern="1200" dirty="0">
                <a:solidFill>
                  <a:schemeClr val="tx1"/>
                </a:solidFill>
                <a:effectLst/>
                <a:latin typeface="+mn-lt"/>
                <a:ea typeface="+mn-ea"/>
                <a:cs typeface="+mn-cs"/>
              </a:rPr>
              <a:t> In econometrics, market distributions are non-stationary—meaning future return distributions do not rigidly obey past statistical boundaries. If an investor in 1990 looked back at historical CAPE averages and set a rule to exit stocks whenever CAPE exceeded historical norms, that investor would have stayed out of the market for the last 35 years! They would have missed one of the greatest wealth-creation periods in human history. </a:t>
            </a:r>
          </a:p>
          <a:p>
            <a:pPr lvl="0"/>
            <a:r>
              <a:rPr lang="en-US" sz="1200" b="1" kern="1200" dirty="0">
                <a:solidFill>
                  <a:schemeClr val="tx1"/>
                </a:solidFill>
                <a:effectLst/>
                <a:latin typeface="+mn-lt"/>
                <a:ea typeface="+mn-ea"/>
                <a:cs typeface="+mn-cs"/>
              </a:rPr>
              <a:t>Key Lesson:</a:t>
            </a:r>
            <a:r>
              <a:rPr lang="en-US" sz="1200" kern="1200" dirty="0">
                <a:solidFill>
                  <a:schemeClr val="tx1"/>
                </a:solidFill>
                <a:effectLst/>
                <a:latin typeface="+mn-lt"/>
                <a:ea typeface="+mn-ea"/>
                <a:cs typeface="+mn-cs"/>
              </a:rPr>
              <a:t> Use CAPE as a mirror to understand where market expectations currently stand, but never use it as a compass or trigger to jump in and out of stocks. Abandoning equities entirely because of a CAPE of 41 is a classic mistake that hands your portfolio's yield over to cash while missing long-term compounding.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3</a:t>
            </a:fld>
            <a:endParaRPr lang="en-US"/>
          </a:p>
        </p:txBody>
      </p:sp>
    </p:spTree>
    <p:extLst>
      <p:ext uri="{BB962C8B-B14F-4D97-AF65-F5344CB8AC3E}">
        <p14:creationId xmlns:p14="http://schemas.microsoft.com/office/powerpoint/2010/main" val="1983715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Neurological Origins of Short-Term Risk:</a:t>
            </a:r>
            <a:r>
              <a:rPr lang="en-US" sz="1200" kern="1200" dirty="0">
                <a:solidFill>
                  <a:schemeClr val="tx1"/>
                </a:solidFill>
                <a:effectLst/>
                <a:latin typeface="+mn-lt"/>
                <a:ea typeface="+mn-ea"/>
                <a:cs typeface="+mn-cs"/>
              </a:rPr>
              <a:t> To invest successfully, we must fundamentally redefine what 'risk' means. As humans, our brains evolved on the Serengeti plains in East Africa. When our ancestors saw a predator or heard a snake hiss, their limbic system fired instantaneously to protect them. In finance, this translates into visceral panic when the market drops 20% in a month. We experience short-term volatility as an immediate life-or-death threat. </a:t>
            </a:r>
          </a:p>
          <a:p>
            <a:pPr lvl="0"/>
            <a:r>
              <a:rPr lang="en-US" sz="1200" b="1" kern="1200" dirty="0">
                <a:solidFill>
                  <a:schemeClr val="tx1"/>
                </a:solidFill>
                <a:effectLst/>
                <a:latin typeface="+mn-lt"/>
                <a:ea typeface="+mn-ea"/>
                <a:cs typeface="+mn-cs"/>
              </a:rPr>
              <a:t>The Real Risk (Long-Term Destitution):</a:t>
            </a:r>
            <a:r>
              <a:rPr lang="en-US" sz="1200" kern="1200" dirty="0">
                <a:solidFill>
                  <a:schemeClr val="tx1"/>
                </a:solidFill>
                <a:effectLst/>
                <a:latin typeface="+mn-lt"/>
                <a:ea typeface="+mn-ea"/>
                <a:cs typeface="+mn-cs"/>
              </a:rPr>
              <a:t> However, short-term price fluctuations are </a:t>
            </a:r>
            <a:r>
              <a:rPr lang="en-US" sz="1200" b="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real financial risk. The true, catastrophic risk in personal finance is </a:t>
            </a:r>
            <a:r>
              <a:rPr lang="en-US" sz="1200" b="1" kern="1200" dirty="0">
                <a:solidFill>
                  <a:schemeClr val="tx1"/>
                </a:solidFill>
                <a:effectLst/>
                <a:latin typeface="+mn-lt"/>
                <a:ea typeface="+mn-ea"/>
                <a:cs typeface="+mn-cs"/>
              </a:rPr>
              <a:t>living under a bridge at age 70</a:t>
            </a:r>
            <a:r>
              <a:rPr lang="en-US" sz="1200" kern="1200" dirty="0">
                <a:solidFill>
                  <a:schemeClr val="tx1"/>
                </a:solidFill>
                <a:effectLst/>
                <a:latin typeface="+mn-lt"/>
                <a:ea typeface="+mn-ea"/>
                <a:cs typeface="+mn-cs"/>
              </a:rPr>
              <a:t> because you ran out of money. </a:t>
            </a:r>
          </a:p>
          <a:p>
            <a:pPr lvl="0"/>
            <a:r>
              <a:rPr lang="en-US" sz="1200" b="1" kern="1200" dirty="0">
                <a:solidFill>
                  <a:schemeClr val="tx1"/>
                </a:solidFill>
                <a:effectLst/>
                <a:latin typeface="+mn-lt"/>
                <a:ea typeface="+mn-ea"/>
                <a:cs typeface="+mn-cs"/>
              </a:rPr>
              <a:t>The Two Behavioral Extremes:</a:t>
            </a:r>
            <a:r>
              <a:rPr lang="en-US" sz="1200" kern="1200" dirty="0">
                <a:solidFill>
                  <a:schemeClr val="tx1"/>
                </a:solidFill>
                <a:effectLst/>
                <a:latin typeface="+mn-lt"/>
                <a:ea typeface="+mn-ea"/>
                <a:cs typeface="+mn-cs"/>
              </a:rPr>
              <a:t> Dr. Bernstein points out that investors wind up under a bridge via two opposing behavioral blunders: </a:t>
            </a:r>
          </a:p>
          <a:p>
            <a:pPr marL="228600" lvl="0" indent="-228600">
              <a:buFont typeface="+mj-lt"/>
              <a:buAutoNum type="arabicPeriod"/>
            </a:pPr>
            <a:r>
              <a:rPr lang="en-US" sz="1200" i="1" kern="1200" dirty="0">
                <a:solidFill>
                  <a:schemeClr val="tx1"/>
                </a:solidFill>
                <a:effectLst/>
                <a:latin typeface="+mn-lt"/>
                <a:ea typeface="+mn-ea"/>
                <a:cs typeface="+mn-cs"/>
              </a:rPr>
              <a:t>Investing too aggressively:</a:t>
            </a:r>
            <a:r>
              <a:rPr lang="en-US" sz="1200" kern="1200" dirty="0">
                <a:solidFill>
                  <a:schemeClr val="tx1"/>
                </a:solidFill>
                <a:effectLst/>
                <a:latin typeface="+mn-lt"/>
                <a:ea typeface="+mn-ea"/>
                <a:cs typeface="+mn-cs"/>
              </a:rPr>
              <a:t> Taking excessive equity risk right before retirement, suffering a severe market drawdown, and being forced to liquidate depreciated assets to fund daily living expenses (sequence-of-returns risk). </a:t>
            </a:r>
          </a:p>
          <a:p>
            <a:pPr marL="228600" lvl="0" indent="-228600">
              <a:buFont typeface="+mj-lt"/>
              <a:buAutoNum type="arabicPeriod"/>
            </a:pPr>
            <a:r>
              <a:rPr lang="en-US" sz="1200" i="1" kern="1200" dirty="0">
                <a:solidFill>
                  <a:schemeClr val="tx1"/>
                </a:solidFill>
                <a:effectLst/>
                <a:latin typeface="+mn-lt"/>
                <a:ea typeface="+mn-ea"/>
                <a:cs typeface="+mn-cs"/>
              </a:rPr>
              <a:t>Investing too conservatively:</a:t>
            </a:r>
            <a:r>
              <a:rPr lang="en-US" sz="1200" kern="1200" dirty="0">
                <a:solidFill>
                  <a:schemeClr val="tx1"/>
                </a:solidFill>
                <a:effectLst/>
                <a:latin typeface="+mn-lt"/>
                <a:ea typeface="+mn-ea"/>
                <a:cs typeface="+mn-cs"/>
              </a:rPr>
              <a:t> Hiding in short-term T-bills or cash out of fear of market drops. Over 20–40 years, inflation slowly decimates their purchasing power, leaving them impoverished in old age. </a:t>
            </a:r>
          </a:p>
          <a:p>
            <a:pPr lvl="0"/>
            <a:r>
              <a:rPr lang="en-US" sz="1200" b="1" kern="1200" dirty="0">
                <a:solidFill>
                  <a:schemeClr val="tx1"/>
                </a:solidFill>
                <a:effectLst/>
                <a:latin typeface="+mn-lt"/>
                <a:ea typeface="+mn-ea"/>
                <a:cs typeface="+mn-cs"/>
              </a:rPr>
              <a:t>Key Lesson:</a:t>
            </a:r>
            <a:r>
              <a:rPr lang="en-US" sz="1200" kern="1200" dirty="0">
                <a:solidFill>
                  <a:schemeClr val="tx1"/>
                </a:solidFill>
                <a:effectLst/>
                <a:latin typeface="+mn-lt"/>
                <a:ea typeface="+mn-ea"/>
                <a:cs typeface="+mn-cs"/>
              </a:rPr>
              <a:t> A balanced portfolio isn't built to eliminate monthly volatility; it's designed to insulate you from long-term destitution.</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4</a:t>
            </a:fld>
            <a:endParaRPr lang="en-US"/>
          </a:p>
        </p:txBody>
      </p:sp>
    </p:spTree>
    <p:extLst>
      <p:ext uri="{BB962C8B-B14F-4D97-AF65-F5344CB8AC3E}">
        <p14:creationId xmlns:p14="http://schemas.microsoft.com/office/powerpoint/2010/main" val="3927310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Core Premise:</a:t>
            </a:r>
            <a:r>
              <a:rPr lang="en-US" sz="1200" kern="1200" dirty="0">
                <a:solidFill>
                  <a:schemeClr val="tx1"/>
                </a:solidFill>
                <a:effectLst/>
                <a:latin typeface="+mn-lt"/>
                <a:ea typeface="+mn-ea"/>
                <a:cs typeface="+mn-cs"/>
              </a:rPr>
              <a:t> Slide 5 highlights Dr. Bernstein’s most famous financial directive: </a:t>
            </a:r>
            <a:r>
              <a:rPr lang="en-US" sz="1200" b="1" kern="1200" dirty="0">
                <a:solidFill>
                  <a:schemeClr val="tx1"/>
                </a:solidFill>
                <a:effectLst/>
                <a:latin typeface="+mn-lt"/>
                <a:ea typeface="+mn-ea"/>
                <a:cs typeface="+mn-cs"/>
              </a:rPr>
              <a:t>'If you've won the game, stop playing.'</a:t>
            </a:r>
            <a:r>
              <a:rPr lang="en-US" sz="1200" kern="1200" dirty="0">
                <a:solidFill>
                  <a:schemeClr val="tx1"/>
                </a:solidFill>
                <a:effectLst/>
                <a:latin typeface="+mn-lt"/>
                <a:ea typeface="+mn-ea"/>
                <a:cs typeface="+mn-cs"/>
              </a:rPr>
              <a:t> The purpose of investing is not to maximize yields or beat your neighbor's portfolio returns; it is to minimize your probability of dying poor. </a:t>
            </a:r>
          </a:p>
          <a:p>
            <a:pPr lvl="0"/>
            <a:r>
              <a:rPr lang="en-US" sz="1200" b="1" kern="1200" dirty="0">
                <a:solidFill>
                  <a:schemeClr val="tx1"/>
                </a:solidFill>
                <a:effectLst/>
                <a:latin typeface="+mn-lt"/>
                <a:ea typeface="+mn-ea"/>
                <a:cs typeface="+mn-cs"/>
              </a:rPr>
              <a:t>Liability Matching (</a:t>
            </a:r>
            <a:r>
              <a:rPr lang="en-US" sz="1200" b="1" kern="1200" dirty="0" err="1">
                <a:solidFill>
                  <a:schemeClr val="tx1"/>
                </a:solidFill>
                <a:effectLst/>
                <a:latin typeface="+mn-lt"/>
                <a:ea typeface="+mn-ea"/>
                <a:cs typeface="+mn-cs"/>
              </a:rPr>
              <a:t>Defeasing</a:t>
            </a:r>
            <a:r>
              <a:rPr lang="en-US" sz="1200" b="1" kern="1200" dirty="0">
                <a:solidFill>
                  <a:schemeClr val="tx1"/>
                </a:solidFill>
                <a:effectLst/>
                <a:latin typeface="+mn-lt"/>
                <a:ea typeface="+mn-ea"/>
                <a:cs typeface="+mn-cs"/>
              </a:rPr>
              <a:t> Expenses):</a:t>
            </a:r>
            <a:r>
              <a:rPr lang="en-US" sz="1200" kern="1200" dirty="0">
                <a:solidFill>
                  <a:schemeClr val="tx1"/>
                </a:solidFill>
                <a:effectLst/>
                <a:latin typeface="+mn-lt"/>
                <a:ea typeface="+mn-ea"/>
                <a:cs typeface="+mn-cs"/>
              </a:rPr>
              <a:t> Once you have accumulated enough wealth to guarantee your basic retirement living needs—rent, healthcare, groceries—you should take those core needs off the table entirely. This is known as </a:t>
            </a:r>
            <a:r>
              <a:rPr lang="en-US" sz="1200" kern="1200" dirty="0" err="1">
                <a:solidFill>
                  <a:schemeClr val="tx1"/>
                </a:solidFill>
                <a:effectLst/>
                <a:latin typeface="+mn-lt"/>
                <a:ea typeface="+mn-ea"/>
                <a:cs typeface="+mn-cs"/>
              </a:rPr>
              <a:t>defeasing</a:t>
            </a:r>
            <a:r>
              <a:rPr lang="en-US" sz="1200" kern="1200" dirty="0">
                <a:solidFill>
                  <a:schemeClr val="tx1"/>
                </a:solidFill>
                <a:effectLst/>
                <a:latin typeface="+mn-lt"/>
                <a:ea typeface="+mn-ea"/>
                <a:cs typeface="+mn-cs"/>
              </a:rPr>
              <a:t> your liabilities. </a:t>
            </a:r>
          </a:p>
          <a:p>
            <a:pPr lvl="0"/>
            <a:r>
              <a:rPr lang="en-US" sz="1200" b="1" kern="1200" dirty="0">
                <a:solidFill>
                  <a:schemeClr val="tx1"/>
                </a:solidFill>
                <a:effectLst/>
                <a:latin typeface="+mn-lt"/>
                <a:ea typeface="+mn-ea"/>
                <a:cs typeface="+mn-cs"/>
              </a:rPr>
              <a:t>3-Step Practical Framework: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Calculate Residual Spending Gap:</a:t>
            </a:r>
            <a:r>
              <a:rPr lang="en-US" sz="1200" kern="1200" dirty="0">
                <a:solidFill>
                  <a:schemeClr val="tx1"/>
                </a:solidFill>
                <a:effectLst/>
                <a:latin typeface="+mn-lt"/>
                <a:ea typeface="+mn-ea"/>
                <a:cs typeface="+mn-cs"/>
              </a:rPr>
              <a:t> Identify basic essential annual expenses and subtract non-portfolio guaranteed income. For example, if you need $70,000/year to live and receive $30,000 from Social Security, your residual spending gap is </a:t>
            </a:r>
            <a:r>
              <a:rPr lang="en-US" sz="1200" b="1" kern="1200" dirty="0">
                <a:solidFill>
                  <a:schemeClr val="tx1"/>
                </a:solidFill>
                <a:effectLst/>
                <a:latin typeface="+mn-lt"/>
                <a:ea typeface="+mn-ea"/>
                <a:cs typeface="+mn-cs"/>
              </a:rPr>
              <a:t>$40,000 per year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Multiply by Expected Duration:</a:t>
            </a:r>
            <a:r>
              <a:rPr lang="en-US" sz="1200" kern="1200" dirty="0">
                <a:solidFill>
                  <a:schemeClr val="tx1"/>
                </a:solidFill>
                <a:effectLst/>
                <a:latin typeface="+mn-lt"/>
                <a:ea typeface="+mn-ea"/>
                <a:cs typeface="+mn-cs"/>
              </a:rPr>
              <a:t> Multiply this $40,000 gap by your estimated retirement horizon (e.g., 25 years). $40,000 × 25 = </a:t>
            </a:r>
            <a:r>
              <a:rPr lang="en-US" sz="1200" b="1" kern="1200" dirty="0">
                <a:solidFill>
                  <a:schemeClr val="tx1"/>
                </a:solidFill>
                <a:effectLst/>
                <a:latin typeface="+mn-lt"/>
                <a:ea typeface="+mn-ea"/>
                <a:cs typeface="+mn-cs"/>
              </a:rPr>
              <a:t>$1,000,000</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Construct a TIPS Ladder:</a:t>
            </a:r>
            <a:r>
              <a:rPr lang="en-US" sz="1200" kern="1200" dirty="0">
                <a:solidFill>
                  <a:schemeClr val="tx1"/>
                </a:solidFill>
                <a:effectLst/>
                <a:latin typeface="+mn-lt"/>
                <a:ea typeface="+mn-ea"/>
                <a:cs typeface="+mn-cs"/>
              </a:rPr>
              <a:t> Take that $1,000,000 and invest it directly into a Treasury Inflation-Protected Securities (TIPS) ladder. Each annual rung matures to deliver the exact real inflation-adjusted cash flow required for that year's living expenses.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By locking in basic survival needs with a risk-free TIPS ladder, market crashes no longer threaten your housing or food security. Any remaining assets can stay in equities for legacy or discretionary spending.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5</a:t>
            </a:fld>
            <a:endParaRPr lang="en-US"/>
          </a:p>
        </p:txBody>
      </p:sp>
    </p:spTree>
    <p:extLst>
      <p:ext uri="{BB962C8B-B14F-4D97-AF65-F5344CB8AC3E}">
        <p14:creationId xmlns:p14="http://schemas.microsoft.com/office/powerpoint/2010/main" val="109165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TIPS Execution Dynamics:</a:t>
            </a:r>
            <a:r>
              <a:rPr lang="en-US" sz="1200" kern="1200" dirty="0">
                <a:solidFill>
                  <a:schemeClr val="tx1"/>
                </a:solidFill>
                <a:effectLst/>
                <a:latin typeface="+mn-lt"/>
                <a:ea typeface="+mn-ea"/>
                <a:cs typeface="+mn-cs"/>
              </a:rPr>
              <a:t> Executing a TIPS ladder in the secondary market requires understanding bond mechanics. Today, TIPS offer real yields around 3%—unusually high historically. However, investors must be cautious when buying older TIPS in secondary markets. An older bond selling at a apparent price discount of 90 cents on the dollar might actually cost $1,500 per $1,000 face value because of its accrued principal inflation index factor over its 10- or 15-year life. </a:t>
            </a:r>
          </a:p>
          <a:p>
            <a:pPr lvl="0"/>
            <a:r>
              <a:rPr lang="en-US" sz="1200" b="1" kern="1200" dirty="0">
                <a:solidFill>
                  <a:schemeClr val="tx1"/>
                </a:solidFill>
                <a:effectLst/>
                <a:latin typeface="+mn-lt"/>
                <a:ea typeface="+mn-ea"/>
                <a:cs typeface="+mn-cs"/>
              </a:rPr>
              <a:t>Cash Reserves &amp; T-Bills:</a:t>
            </a:r>
            <a:r>
              <a:rPr lang="en-US" sz="1200" kern="1200" dirty="0">
                <a:solidFill>
                  <a:schemeClr val="tx1"/>
                </a:solidFill>
                <a:effectLst/>
                <a:latin typeface="+mn-lt"/>
                <a:ea typeface="+mn-ea"/>
                <a:cs typeface="+mn-cs"/>
              </a:rPr>
              <a:t> For liquid emergency funds or near-term spending, short-term Treasury Bills (T-Bills) are unmatched. They are exempt from state and local income taxes, offer instant liquidity, and can be automatically rolled at brokerage firms (like Fidelity) to construct a zero-expense-ratio cash management vehicle. </a:t>
            </a:r>
          </a:p>
          <a:p>
            <a:pPr lvl="0"/>
            <a:r>
              <a:rPr lang="en-US" sz="1200" b="1" kern="1200" dirty="0">
                <a:solidFill>
                  <a:schemeClr val="tx1"/>
                </a:solidFill>
                <a:effectLst/>
                <a:latin typeface="+mn-lt"/>
                <a:ea typeface="+mn-ea"/>
                <a:cs typeface="+mn-cs"/>
              </a:rPr>
              <a:t>The Municipal Bond Trap:</a:t>
            </a:r>
            <a:r>
              <a:rPr lang="en-US" sz="1200" kern="1200" dirty="0">
                <a:solidFill>
                  <a:schemeClr val="tx1"/>
                </a:solidFill>
                <a:effectLst/>
                <a:latin typeface="+mn-lt"/>
                <a:ea typeface="+mn-ea"/>
                <a:cs typeface="+mn-cs"/>
              </a:rPr>
              <a:t> Slide 6 warns against holding Municipal bonds for emergency or safe cash reserves. During severe liquidity panics (such as 2008), municipal bond prices can plummet by 10% to 20% due to market illiquidity and credit risk fears. Do not let small state-tax advantages compromise the safety of your primary safety net.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6</a:t>
            </a:fld>
            <a:endParaRPr lang="en-US"/>
          </a:p>
        </p:txBody>
      </p:sp>
    </p:spTree>
    <p:extLst>
      <p:ext uri="{BB962C8B-B14F-4D97-AF65-F5344CB8AC3E}">
        <p14:creationId xmlns:p14="http://schemas.microsoft.com/office/powerpoint/2010/main" val="2133383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Commodities (Futures vs. Producers):</a:t>
            </a:r>
            <a:r>
              <a:rPr lang="en-US" sz="1200" kern="1200" dirty="0">
                <a:solidFill>
                  <a:schemeClr val="tx1"/>
                </a:solidFill>
                <a:effectLst/>
                <a:latin typeface="+mn-lt"/>
                <a:ea typeface="+mn-ea"/>
                <a:cs typeface="+mn-cs"/>
              </a:rPr>
              <a:t> Many investors buy commodity futures funds expecting an inflation hedge. In reality, holding futures contracts incurs a negative roll return (~5% loss annually) because financial institutions bid up future contracts (contango). If you desire commodity exposure, invest in commodity-producing companies (oil/mining firms) rather than futures contracts. </a:t>
            </a:r>
          </a:p>
          <a:p>
            <a:pPr lvl="0"/>
            <a:r>
              <a:rPr lang="en-US" sz="1200" b="1" kern="1200" dirty="0">
                <a:solidFill>
                  <a:schemeClr val="tx1"/>
                </a:solidFill>
                <a:effectLst/>
                <a:latin typeface="+mn-lt"/>
                <a:ea typeface="+mn-ea"/>
                <a:cs typeface="+mn-cs"/>
              </a:rPr>
              <a:t>Value &amp; Factor Investing:</a:t>
            </a:r>
            <a:r>
              <a:rPr lang="en-US" sz="1200" kern="1200" dirty="0">
                <a:solidFill>
                  <a:schemeClr val="tx1"/>
                </a:solidFill>
                <a:effectLst/>
                <a:latin typeface="+mn-lt"/>
                <a:ea typeface="+mn-ea"/>
                <a:cs typeface="+mn-cs"/>
              </a:rPr>
              <a:t> Financial theory suggests small-cap value stocks earn a premium due to higher risk. In practice, factor strategies have underperformed standard broad market indices for the past 15 years. Tilting heavily into value requires tremendous psychological fortitude. For 99% of investors, chasing factor tilts leads to selling low out of frustration. </a:t>
            </a:r>
          </a:p>
          <a:p>
            <a:pPr lvl="0"/>
            <a:r>
              <a:rPr lang="en-US" sz="1200" b="1" kern="1200" dirty="0">
                <a:solidFill>
                  <a:schemeClr val="tx1"/>
                </a:solidFill>
                <a:effectLst/>
                <a:latin typeface="+mn-lt"/>
                <a:ea typeface="+mn-ea"/>
                <a:cs typeface="+mn-cs"/>
              </a:rPr>
              <a:t>Momentum Strategies:</a:t>
            </a:r>
            <a:r>
              <a:rPr lang="en-US" sz="1200" kern="1200" dirty="0">
                <a:solidFill>
                  <a:schemeClr val="tx1"/>
                </a:solidFill>
                <a:effectLst/>
                <a:latin typeface="+mn-lt"/>
                <a:ea typeface="+mn-ea"/>
                <a:cs typeface="+mn-cs"/>
              </a:rPr>
              <a:t> Momentum strategies aim to buy recent winners and sell losers. However, extreme turnover, trading costs, and rapid factor crashes make executing true momentum strategies almost impossible for individual retail investors trading on a laptop. </a:t>
            </a:r>
          </a:p>
          <a:p>
            <a:pPr lvl="0"/>
            <a:r>
              <a:rPr lang="en-US" sz="1200" b="1" kern="1200" dirty="0">
                <a:solidFill>
                  <a:schemeClr val="tx1"/>
                </a:solidFill>
                <a:effectLst/>
                <a:latin typeface="+mn-lt"/>
                <a:ea typeface="+mn-ea"/>
                <a:cs typeface="+mn-cs"/>
              </a:rPr>
              <a:t>Summary:</a:t>
            </a:r>
            <a:r>
              <a:rPr lang="en-US" sz="1200" kern="1200" dirty="0">
                <a:solidFill>
                  <a:schemeClr val="tx1"/>
                </a:solidFill>
                <a:effectLst/>
                <a:latin typeface="+mn-lt"/>
                <a:ea typeface="+mn-ea"/>
                <a:cs typeface="+mn-cs"/>
              </a:rPr>
              <a:t> For the vast majority of people, low-cost total market index funds outperform complex alternative asset strategies once real-world friction and behavior are accounted for.</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7</a:t>
            </a:fld>
            <a:endParaRPr lang="en-US"/>
          </a:p>
        </p:txBody>
      </p:sp>
    </p:spTree>
    <p:extLst>
      <p:ext uri="{BB962C8B-B14F-4D97-AF65-F5344CB8AC3E}">
        <p14:creationId xmlns:p14="http://schemas.microsoft.com/office/powerpoint/2010/main" val="1291024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Academic Ideal:</a:t>
            </a:r>
            <a:r>
              <a:rPr lang="en-US" sz="1200" kern="1200" dirty="0">
                <a:solidFill>
                  <a:schemeClr val="tx1"/>
                </a:solidFill>
                <a:effectLst/>
                <a:latin typeface="+mn-lt"/>
                <a:ea typeface="+mn-ea"/>
                <a:cs typeface="+mn-cs"/>
              </a:rPr>
              <a:t> Modern Portfolio Theory shows that by plotting expected returns against standard deviation, you can locate the 'Efficient Frontier'—the optimal portfolio (like a 60/40 mix) offering the maximum Sharpe ratio. Academic finance teaches that to achieve higher returns, you should take that optimal 60/40 portfolio and leverage it up using borrowed funds along a tangent line. </a:t>
            </a:r>
          </a:p>
          <a:p>
            <a:pPr lvl="0"/>
            <a:r>
              <a:rPr lang="en-US" sz="1200" b="1" kern="1200" dirty="0">
                <a:solidFill>
                  <a:schemeClr val="tx1"/>
                </a:solidFill>
                <a:effectLst/>
                <a:latin typeface="+mn-lt"/>
                <a:ea typeface="+mn-ea"/>
                <a:cs typeface="+mn-cs"/>
              </a:rPr>
              <a:t>Real-World Failure:</a:t>
            </a:r>
            <a:r>
              <a:rPr lang="en-US" sz="1200" kern="1200" dirty="0">
                <a:solidFill>
                  <a:schemeClr val="tx1"/>
                </a:solidFill>
                <a:effectLst/>
                <a:latin typeface="+mn-lt"/>
                <a:ea typeface="+mn-ea"/>
                <a:cs typeface="+mn-cs"/>
              </a:rPr>
              <a:t> In the real world, finance is not physics! You cannot predict future correlation and variance matrices based on past data. Optimizing portfolios strictly off historical data produces terrible out-of-sample forward results. </a:t>
            </a:r>
          </a:p>
          <a:p>
            <a:pPr lvl="0"/>
            <a:r>
              <a:rPr lang="en-US" sz="1200" b="1" kern="1200" dirty="0">
                <a:solidFill>
                  <a:schemeClr val="tx1"/>
                </a:solidFill>
                <a:effectLst/>
                <a:latin typeface="+mn-lt"/>
                <a:ea typeface="+mn-ea"/>
                <a:cs typeface="+mn-cs"/>
              </a:rPr>
              <a:t>Practical Takeaway:</a:t>
            </a:r>
            <a:r>
              <a:rPr lang="en-US" sz="1200" kern="1200" dirty="0">
                <a:solidFill>
                  <a:schemeClr val="tx1"/>
                </a:solidFill>
                <a:effectLst/>
                <a:latin typeface="+mn-lt"/>
                <a:ea typeface="+mn-ea"/>
                <a:cs typeface="+mn-cs"/>
              </a:rPr>
              <a:t> Attempting to run a leveraged academic portfolio exposes you to catastrophic margin calls during market shocks. Naive, simple asset allocations (such as plain indexing) consistently beat complex </a:t>
            </a:r>
            <a:r>
              <a:rPr lang="en-US" sz="1200" kern="1200" dirty="0" err="1">
                <a:solidFill>
                  <a:schemeClr val="tx1"/>
                </a:solidFill>
                <a:effectLst/>
                <a:latin typeface="+mn-lt"/>
                <a:ea typeface="+mn-ea"/>
                <a:cs typeface="+mn-cs"/>
              </a:rPr>
              <a:t>backtested</a:t>
            </a:r>
            <a:r>
              <a:rPr lang="en-US" sz="1200" kern="1200" dirty="0">
                <a:solidFill>
                  <a:schemeClr val="tx1"/>
                </a:solidFill>
                <a:effectLst/>
                <a:latin typeface="+mn-lt"/>
                <a:ea typeface="+mn-ea"/>
                <a:cs typeface="+mn-cs"/>
              </a:rPr>
              <a:t> models in practice.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8</a:t>
            </a:fld>
            <a:endParaRPr lang="en-US"/>
          </a:p>
        </p:txBody>
      </p:sp>
    </p:spTree>
    <p:extLst>
      <p:ext uri="{BB962C8B-B14F-4D97-AF65-F5344CB8AC3E}">
        <p14:creationId xmlns:p14="http://schemas.microsoft.com/office/powerpoint/2010/main" val="2222549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Cautionary Tale of LTCM:</a:t>
            </a:r>
            <a:r>
              <a:rPr lang="en-US" sz="1200" kern="1200" dirty="0">
                <a:solidFill>
                  <a:schemeClr val="tx1"/>
                </a:solidFill>
                <a:effectLst/>
                <a:latin typeface="+mn-lt"/>
                <a:ea typeface="+mn-ea"/>
                <a:cs typeface="+mn-cs"/>
              </a:rPr>
              <a:t> Slide 9 highlights Long-Term Capital Management (LTCM) in 1998. LTCM’s leadership included two Nobel Prize winners and top quantitative minds. Their mathematical models were flawless on paper, yet they over-leveraged their positions and nearly crashed the global financial system during the Russian default crisis. </a:t>
            </a:r>
          </a:p>
          <a:p>
            <a:pPr lvl="0"/>
            <a:r>
              <a:rPr lang="en-US" sz="1200" b="1" kern="1200" dirty="0">
                <a:solidFill>
                  <a:schemeClr val="tx1"/>
                </a:solidFill>
                <a:effectLst/>
                <a:latin typeface="+mn-lt"/>
                <a:ea typeface="+mn-ea"/>
                <a:cs typeface="+mn-cs"/>
              </a:rPr>
              <a:t>IQ vs. Emotional Discipline:</a:t>
            </a:r>
            <a:r>
              <a:rPr lang="en-US" sz="1200" kern="1200" dirty="0">
                <a:solidFill>
                  <a:schemeClr val="tx1"/>
                </a:solidFill>
                <a:effectLst/>
                <a:latin typeface="+mn-lt"/>
                <a:ea typeface="+mn-ea"/>
                <a:cs typeface="+mn-cs"/>
              </a:rPr>
              <a:t> Finance is not a domain where an IQ of 160 automatically triumphs over an IQ of 130. As Warren Buffett famously noted, investing success relies on discipline and emotional control. The winning investor is simply the one who can master their limbic system during times of extreme panic or greed.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9</a:t>
            </a:fld>
            <a:endParaRPr lang="en-US"/>
          </a:p>
        </p:txBody>
      </p:sp>
    </p:spTree>
    <p:extLst>
      <p:ext uri="{BB962C8B-B14F-4D97-AF65-F5344CB8AC3E}">
        <p14:creationId xmlns:p14="http://schemas.microsoft.com/office/powerpoint/2010/main" val="3517608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Professional Rigor in Finance:</a:t>
            </a:r>
            <a:r>
              <a:rPr lang="en-US" sz="1200" kern="1200" dirty="0">
                <a:solidFill>
                  <a:schemeClr val="tx1"/>
                </a:solidFill>
                <a:effectLst/>
                <a:latin typeface="+mn-lt"/>
                <a:ea typeface="+mn-ea"/>
                <a:cs typeface="+mn-cs"/>
              </a:rPr>
              <a:t> Dr. Bernstein emphasizes that you wouldn't practice medicine by reading </a:t>
            </a:r>
            <a:r>
              <a:rPr lang="en-US" sz="1200" i="1" kern="1200" dirty="0">
                <a:solidFill>
                  <a:schemeClr val="tx1"/>
                </a:solidFill>
                <a:effectLst/>
                <a:latin typeface="+mn-lt"/>
                <a:ea typeface="+mn-ea"/>
                <a:cs typeface="+mn-cs"/>
              </a:rPr>
              <a:t>USA Today</a:t>
            </a:r>
            <a:r>
              <a:rPr lang="en-US" sz="1200" kern="1200" dirty="0">
                <a:solidFill>
                  <a:schemeClr val="tx1"/>
                </a:solidFill>
                <a:effectLst/>
                <a:latin typeface="+mn-lt"/>
                <a:ea typeface="+mn-ea"/>
                <a:cs typeface="+mn-cs"/>
              </a:rPr>
              <a:t>. Likewise, you shouldn't manage your life savings based on </a:t>
            </a:r>
            <a:r>
              <a:rPr lang="en-US" sz="1200" i="1" kern="1200" dirty="0">
                <a:solidFill>
                  <a:schemeClr val="tx1"/>
                </a:solidFill>
                <a:effectLst/>
                <a:latin typeface="+mn-lt"/>
                <a:ea typeface="+mn-ea"/>
                <a:cs typeface="+mn-cs"/>
              </a:rPr>
              <a:t>Wall Street Journal</a:t>
            </a:r>
            <a:r>
              <a:rPr lang="en-US" sz="1200" kern="1200" dirty="0">
                <a:solidFill>
                  <a:schemeClr val="tx1"/>
                </a:solidFill>
                <a:effectLst/>
                <a:latin typeface="+mn-lt"/>
                <a:ea typeface="+mn-ea"/>
                <a:cs typeface="+mn-cs"/>
              </a:rPr>
              <a:t> headlines or cable news. </a:t>
            </a:r>
          </a:p>
          <a:p>
            <a:pPr lvl="0"/>
            <a:r>
              <a:rPr lang="en-US" sz="1200" b="1" kern="1200" dirty="0">
                <a:solidFill>
                  <a:schemeClr val="tx1"/>
                </a:solidFill>
                <a:effectLst/>
                <a:latin typeface="+mn-lt"/>
                <a:ea typeface="+mn-ea"/>
                <a:cs typeface="+mn-cs"/>
              </a:rPr>
              <a:t>The Four Essential Pillars: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Theory of Finance:</a:t>
            </a:r>
            <a:r>
              <a:rPr lang="en-US" sz="1200" kern="1200" dirty="0">
                <a:solidFill>
                  <a:schemeClr val="tx1"/>
                </a:solidFill>
                <a:effectLst/>
                <a:latin typeface="+mn-lt"/>
                <a:ea typeface="+mn-ea"/>
                <a:cs typeface="+mn-cs"/>
              </a:rPr>
              <a:t> Understanding basic academic principles, risk premiums, and discounting—while respecting their real-world boundaries. </a:t>
            </a:r>
          </a:p>
          <a:p>
            <a:pPr marL="228600" lvl="0" indent="-228600">
              <a:buFont typeface="+mj-lt"/>
              <a:buAutoNum type="arabicPeriod"/>
            </a:pPr>
            <a:r>
              <a:rPr lang="en-US" sz="1200" b="1" kern="1200" dirty="0">
                <a:solidFill>
                  <a:schemeClr val="tx1"/>
                </a:solidFill>
                <a:effectLst/>
                <a:latin typeface="+mn-lt"/>
                <a:ea typeface="+mn-ea"/>
                <a:cs typeface="+mn-cs"/>
              </a:rPr>
              <a:t>History of Investing:</a:t>
            </a:r>
            <a:r>
              <a:rPr lang="en-US" sz="1200" kern="1200" dirty="0">
                <a:solidFill>
                  <a:schemeClr val="tx1"/>
                </a:solidFill>
                <a:effectLst/>
                <a:latin typeface="+mn-lt"/>
                <a:ea typeface="+mn-ea"/>
                <a:cs typeface="+mn-cs"/>
              </a:rPr>
              <a:t> Studying past market manias, panics, secular cycles, and statistical distributions. </a:t>
            </a:r>
          </a:p>
          <a:p>
            <a:pPr marL="228600" lvl="0" indent="-228600">
              <a:buFont typeface="+mj-lt"/>
              <a:buAutoNum type="arabicPeriod"/>
            </a:pPr>
            <a:r>
              <a:rPr lang="en-US" sz="1200" b="1" kern="1200" dirty="0">
                <a:solidFill>
                  <a:schemeClr val="tx1"/>
                </a:solidFill>
                <a:effectLst/>
                <a:latin typeface="+mn-lt"/>
                <a:ea typeface="+mn-ea"/>
                <a:cs typeface="+mn-cs"/>
              </a:rPr>
              <a:t>Psychology of Investing:</a:t>
            </a:r>
            <a:r>
              <a:rPr lang="en-US" sz="1200" kern="1200" dirty="0">
                <a:solidFill>
                  <a:schemeClr val="tx1"/>
                </a:solidFill>
                <a:effectLst/>
                <a:latin typeface="+mn-lt"/>
                <a:ea typeface="+mn-ea"/>
                <a:cs typeface="+mn-cs"/>
              </a:rPr>
              <a:t> Recognizing human behavioral traps, cognitive biases, and limbic fear responses. </a:t>
            </a:r>
          </a:p>
          <a:p>
            <a:pPr marL="228600" lvl="0" indent="-228600">
              <a:buFont typeface="+mj-lt"/>
              <a:buAutoNum type="arabicPeriod"/>
            </a:pPr>
            <a:r>
              <a:rPr lang="en-US" sz="1200" b="1" kern="1200" dirty="0">
                <a:solidFill>
                  <a:schemeClr val="tx1"/>
                </a:solidFill>
                <a:effectLst/>
                <a:latin typeface="+mn-lt"/>
                <a:ea typeface="+mn-ea"/>
                <a:cs typeface="+mn-cs"/>
              </a:rPr>
              <a:t>Business of Investing:</a:t>
            </a:r>
            <a:r>
              <a:rPr lang="en-US" sz="1200" kern="1200" dirty="0">
                <a:solidFill>
                  <a:schemeClr val="tx1"/>
                </a:solidFill>
                <a:effectLst/>
                <a:latin typeface="+mn-lt"/>
                <a:ea typeface="+mn-ea"/>
                <a:cs typeface="+mn-cs"/>
              </a:rPr>
              <a:t> Understanding the financial industry's fee structures, conflict of interests, and execution costs. </a:t>
            </a:r>
          </a:p>
          <a:p>
            <a:pPr lvl="0"/>
            <a:r>
              <a:rPr lang="en-US" sz="1200" b="1" kern="1200" dirty="0">
                <a:solidFill>
                  <a:schemeClr val="tx1"/>
                </a:solidFill>
                <a:effectLst/>
                <a:latin typeface="+mn-lt"/>
                <a:ea typeface="+mn-ea"/>
                <a:cs typeface="+mn-cs"/>
              </a:rPr>
              <a:t>The Golden Rule:</a:t>
            </a:r>
            <a:r>
              <a:rPr lang="en-US" sz="1200" kern="1200" dirty="0">
                <a:solidFill>
                  <a:schemeClr val="tx1"/>
                </a:solidFill>
                <a:effectLst/>
                <a:latin typeface="+mn-lt"/>
                <a:ea typeface="+mn-ea"/>
                <a:cs typeface="+mn-cs"/>
              </a:rPr>
              <a:t> If a piece of market news is on a major front-page headline, it is already impounded into security prices. Ignore the noise, manage your emotions, </a:t>
            </a:r>
            <a:r>
              <a:rPr lang="en-US" sz="1200" kern="1200" dirty="0" err="1">
                <a:solidFill>
                  <a:schemeClr val="tx1"/>
                </a:solidFill>
                <a:effectLst/>
                <a:latin typeface="+mn-lt"/>
                <a:ea typeface="+mn-ea"/>
                <a:cs typeface="+mn-cs"/>
              </a:rPr>
              <a:t>defease</a:t>
            </a:r>
            <a:r>
              <a:rPr lang="en-US" sz="1200" kern="1200" dirty="0">
                <a:solidFill>
                  <a:schemeClr val="tx1"/>
                </a:solidFill>
                <a:effectLst/>
                <a:latin typeface="+mn-lt"/>
                <a:ea typeface="+mn-ea"/>
                <a:cs typeface="+mn-cs"/>
              </a:rPr>
              <a:t> your essential liabilities, and give your long-term strategy time to ripen.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10</a:t>
            </a:fld>
            <a:endParaRPr lang="en-US"/>
          </a:p>
        </p:txBody>
      </p:sp>
    </p:spTree>
    <p:extLst>
      <p:ext uri="{BB962C8B-B14F-4D97-AF65-F5344CB8AC3E}">
        <p14:creationId xmlns:p14="http://schemas.microsoft.com/office/powerpoint/2010/main" val="1269227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 Theme:</a:t>
            </a:r>
            <a:r>
              <a:rPr lang="en-US" sz="1200" kern="1200" dirty="0">
                <a:solidFill>
                  <a:schemeClr val="tx1"/>
                </a:solidFill>
                <a:effectLst/>
                <a:latin typeface="+mn-lt"/>
                <a:ea typeface="+mn-ea"/>
                <a:cs typeface="+mn-cs"/>
              </a:rPr>
              <a:t> Slide 11 contrasts the dark, isolated reality of financial ruin with structural asset protection. </a:t>
            </a:r>
          </a:p>
          <a:p>
            <a:pPr lvl="0"/>
            <a:r>
              <a:rPr lang="en-US" sz="1200" b="1" kern="1200" dirty="0">
                <a:solidFill>
                  <a:schemeClr val="tx1"/>
                </a:solidFill>
                <a:effectLst/>
                <a:latin typeface="+mn-lt"/>
                <a:ea typeface="+mn-ea"/>
                <a:cs typeface="+mn-cs"/>
              </a:rPr>
              <a:t>Addressing Investor Anxiety:</a:t>
            </a:r>
            <a:r>
              <a:rPr lang="en-US" sz="1200" kern="1200" dirty="0">
                <a:solidFill>
                  <a:schemeClr val="tx1"/>
                </a:solidFill>
                <a:effectLst/>
                <a:latin typeface="+mn-lt"/>
                <a:ea typeface="+mn-ea"/>
                <a:cs typeface="+mn-cs"/>
              </a:rPr>
              <a:t> When market headlines scream about interest rate hikes or recessions, investors often feel overwhelmed and retreat into safe-haven cash. However, hiding in cash long-term introduces the silent threat of purchasing power loss. </a:t>
            </a:r>
          </a:p>
          <a:p>
            <a:pPr lvl="0"/>
            <a:r>
              <a:rPr lang="en-US" sz="1200" b="1" kern="1200" dirty="0">
                <a:solidFill>
                  <a:schemeClr val="tx1"/>
                </a:solidFill>
                <a:effectLst/>
                <a:latin typeface="+mn-lt"/>
                <a:ea typeface="+mn-ea"/>
                <a:cs typeface="+mn-cs"/>
              </a:rPr>
              <a:t>Connecting to Strategy:</a:t>
            </a:r>
            <a:r>
              <a:rPr lang="en-US" sz="1200" kern="1200" dirty="0">
                <a:solidFill>
                  <a:schemeClr val="tx1"/>
                </a:solidFill>
                <a:effectLst/>
                <a:latin typeface="+mn-lt"/>
                <a:ea typeface="+mn-ea"/>
                <a:cs typeface="+mn-cs"/>
              </a:rPr>
              <a:t> By separating short-term market noise from your long-term plan, you protect both your emotional well-being and your financial security.</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11</a:t>
            </a:fld>
            <a:endParaRPr lang="en-US"/>
          </a:p>
        </p:txBody>
      </p:sp>
    </p:spTree>
    <p:extLst>
      <p:ext uri="{BB962C8B-B14F-4D97-AF65-F5344CB8AC3E}">
        <p14:creationId xmlns:p14="http://schemas.microsoft.com/office/powerpoint/2010/main" val="5135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Emotional State in Investing:</a:t>
            </a:r>
            <a:r>
              <a:rPr lang="en-US" sz="1200" kern="1200" dirty="0">
                <a:solidFill>
                  <a:schemeClr val="tx1"/>
                </a:solidFill>
                <a:effectLst/>
                <a:latin typeface="+mn-lt"/>
                <a:ea typeface="+mn-ea"/>
                <a:cs typeface="+mn-cs"/>
              </a:rPr>
              <a:t> Slide 12 illustrates the contrast between emotional panic and disciplined execution. The figure on the right represents an investor trying to trade every Fed rate move and market headline. </a:t>
            </a:r>
          </a:p>
          <a:p>
            <a:pPr lvl="0"/>
            <a:r>
              <a:rPr lang="en-US" sz="1200" b="1" kern="1200" dirty="0">
                <a:solidFill>
                  <a:schemeClr val="tx1"/>
                </a:solidFill>
                <a:effectLst/>
                <a:latin typeface="+mn-lt"/>
                <a:ea typeface="+mn-ea"/>
                <a:cs typeface="+mn-cs"/>
              </a:rPr>
              <a:t>Achieving Investment Serenity:</a:t>
            </a:r>
            <a:r>
              <a:rPr lang="en-US" sz="1200" kern="1200" dirty="0">
                <a:solidFill>
                  <a:schemeClr val="tx1"/>
                </a:solidFill>
                <a:effectLst/>
                <a:latin typeface="+mn-lt"/>
                <a:ea typeface="+mn-ea"/>
                <a:cs typeface="+mn-cs"/>
              </a:rPr>
              <a:t> The figure on the left represents an investor who has built a </a:t>
            </a:r>
            <a:r>
              <a:rPr lang="en-US" sz="1200" kern="1200" dirty="0" err="1">
                <a:solidFill>
                  <a:schemeClr val="tx1"/>
                </a:solidFill>
                <a:effectLst/>
                <a:latin typeface="+mn-lt"/>
                <a:ea typeface="+mn-ea"/>
                <a:cs typeface="+mn-cs"/>
              </a:rPr>
              <a:t>defeased</a:t>
            </a:r>
            <a:r>
              <a:rPr lang="en-US" sz="1200" kern="1200" dirty="0">
                <a:solidFill>
                  <a:schemeClr val="tx1"/>
                </a:solidFill>
                <a:effectLst/>
                <a:latin typeface="+mn-lt"/>
                <a:ea typeface="+mn-ea"/>
                <a:cs typeface="+mn-cs"/>
              </a:rPr>
              <a:t> TIPS ladder for basic living needs and holds broad index funds for growth. Calmness in investing comes from robust structural planning rather than market timing. </a:t>
            </a:r>
          </a:p>
          <a:p>
            <a:endParaRPr lang="en-US" dirty="0"/>
          </a:p>
        </p:txBody>
      </p:sp>
      <p:sp>
        <p:nvSpPr>
          <p:cNvPr id="4" name="Slide Number Placeholder 3"/>
          <p:cNvSpPr>
            <a:spLocks noGrp="1"/>
          </p:cNvSpPr>
          <p:nvPr>
            <p:ph type="sldNum" sz="quarter" idx="5"/>
          </p:nvPr>
        </p:nvSpPr>
        <p:spPr/>
        <p:txBody>
          <a:bodyPr/>
          <a:lstStyle/>
          <a:p>
            <a:fld id="{E375D247-1C8E-4D1E-A80D-30872DD99D3D}" type="slidenum">
              <a:rPr lang="en-US" smtClean="0"/>
              <a:t>12</a:t>
            </a:fld>
            <a:endParaRPr lang="en-US"/>
          </a:p>
        </p:txBody>
      </p:sp>
    </p:spTree>
    <p:extLst>
      <p:ext uri="{BB962C8B-B14F-4D97-AF65-F5344CB8AC3E}">
        <p14:creationId xmlns:p14="http://schemas.microsoft.com/office/powerpoint/2010/main" val="56505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Recap of Core Takeaways:</a:t>
            </a:r>
            <a:r>
              <a:rPr lang="en-US" sz="1200" kern="1200" dirty="0">
                <a:solidFill>
                  <a:schemeClr val="tx1"/>
                </a:solidFill>
                <a:effectLst/>
                <a:latin typeface="+mn-lt"/>
                <a:ea typeface="+mn-ea"/>
                <a:cs typeface="+mn-cs"/>
              </a:rPr>
              <a:t> </a:t>
            </a:r>
          </a:p>
          <a:p>
            <a:pPr lvl="1"/>
            <a:r>
              <a:rPr lang="en-US" sz="1200" b="1" kern="1200" dirty="0">
                <a:solidFill>
                  <a:schemeClr val="tx1"/>
                </a:solidFill>
                <a:effectLst/>
                <a:latin typeface="+mn-lt"/>
                <a:ea typeface="+mn-ea"/>
                <a:cs typeface="+mn-cs"/>
              </a:rPr>
              <a:t>Redefine Risk:</a:t>
            </a:r>
            <a:r>
              <a:rPr lang="en-US" sz="1200" kern="1200" dirty="0">
                <a:solidFill>
                  <a:schemeClr val="tx1"/>
                </a:solidFill>
                <a:effectLst/>
                <a:latin typeface="+mn-lt"/>
                <a:ea typeface="+mn-ea"/>
                <a:cs typeface="+mn-cs"/>
              </a:rPr>
              <a:t> Focus on preventing long-term shortfall in retirement rather than managing short-term monthly volatility.</a:t>
            </a:r>
          </a:p>
          <a:p>
            <a:pPr lvl="1"/>
            <a:r>
              <a:rPr lang="en-US" sz="1200" b="1" kern="1200" dirty="0">
                <a:solidFill>
                  <a:schemeClr val="tx1"/>
                </a:solidFill>
                <a:effectLst/>
                <a:latin typeface="+mn-lt"/>
                <a:ea typeface="+mn-ea"/>
                <a:cs typeface="+mn-cs"/>
              </a:rPr>
              <a:t>Stop Playing When You've Won:</a:t>
            </a:r>
            <a:r>
              <a:rPr lang="en-US" sz="1200" kern="1200" dirty="0">
                <a:solidFill>
                  <a:schemeClr val="tx1"/>
                </a:solidFill>
                <a:effectLst/>
                <a:latin typeface="+mn-lt"/>
                <a:ea typeface="+mn-ea"/>
                <a:cs typeface="+mn-cs"/>
              </a:rPr>
              <a:t> Secure essential retirement expenses through a TIPS ladder. </a:t>
            </a:r>
          </a:p>
          <a:p>
            <a:pPr lvl="1"/>
            <a:r>
              <a:rPr lang="en-US" sz="1200" b="1" kern="1200" dirty="0">
                <a:solidFill>
                  <a:schemeClr val="tx1"/>
                </a:solidFill>
                <a:effectLst/>
                <a:latin typeface="+mn-lt"/>
                <a:ea typeface="+mn-ea"/>
                <a:cs typeface="+mn-cs"/>
              </a:rPr>
              <a:t>Keep Allocations Simple:</a:t>
            </a:r>
            <a:r>
              <a:rPr lang="en-US" sz="1200" kern="1200" dirty="0">
                <a:solidFill>
                  <a:schemeClr val="tx1"/>
                </a:solidFill>
                <a:effectLst/>
                <a:latin typeface="+mn-lt"/>
                <a:ea typeface="+mn-ea"/>
                <a:cs typeface="+mn-cs"/>
              </a:rPr>
              <a:t> Low-cost broad market index funds reliably beat complex factor tilts and commodity futures. </a:t>
            </a:r>
          </a:p>
          <a:p>
            <a:pPr lvl="1"/>
            <a:r>
              <a:rPr lang="en-US" sz="1200" b="1" kern="1200" dirty="0">
                <a:solidFill>
                  <a:schemeClr val="tx1"/>
                </a:solidFill>
                <a:effectLst/>
                <a:latin typeface="+mn-lt"/>
                <a:ea typeface="+mn-ea"/>
                <a:cs typeface="+mn-cs"/>
              </a:rPr>
              <a:t>Ignore Daily News:</a:t>
            </a:r>
            <a:r>
              <a:rPr lang="en-US" sz="1200" kern="1200" dirty="0">
                <a:solidFill>
                  <a:schemeClr val="tx1"/>
                </a:solidFill>
                <a:effectLst/>
                <a:latin typeface="+mn-lt"/>
                <a:ea typeface="+mn-ea"/>
                <a:cs typeface="+mn-cs"/>
              </a:rPr>
              <a:t> Public headlines are already priced in. </a:t>
            </a:r>
          </a:p>
          <a:p>
            <a:pPr lvl="0"/>
            <a:r>
              <a:rPr lang="en-US" sz="1200" b="1" kern="1200" dirty="0">
                <a:solidFill>
                  <a:schemeClr val="tx1"/>
                </a:solidFill>
                <a:effectLst/>
                <a:latin typeface="+mn-lt"/>
                <a:ea typeface="+mn-ea"/>
                <a:cs typeface="+mn-cs"/>
              </a:rPr>
              <a:t>Closing Thought:</a:t>
            </a:r>
            <a:r>
              <a:rPr lang="en-US" sz="1200" kern="1200" dirty="0">
                <a:solidFill>
                  <a:schemeClr val="tx1"/>
                </a:solidFill>
                <a:effectLst/>
                <a:latin typeface="+mn-lt"/>
                <a:ea typeface="+mn-ea"/>
                <a:cs typeface="+mn-cs"/>
              </a:rPr>
              <a:t> By controlling your limbic system, matching liabilities with inflation-indexed Treasuries, and staying broad and low-cost in equities, you build a resilient financial plan designed to last. </a:t>
            </a:r>
          </a:p>
          <a:p>
            <a:endParaRPr lang="en-US" dirty="0"/>
          </a:p>
          <a:p>
            <a:endParaRPr lang="en-US" dirty="0"/>
          </a:p>
          <a:p>
            <a:endParaRPr lang="en-US" dirty="0"/>
          </a:p>
          <a:p>
            <a:endParaRPr lang="en-US" dirty="0"/>
          </a:p>
          <a:p>
            <a:endParaRPr lang="en-US" dirty="0"/>
          </a:p>
          <a:p>
            <a:r>
              <a:rPr lang="en-US" b="1" dirty="0"/>
              <a:t>I’ve Seen This Market Before — William Bernstein</a:t>
            </a:r>
          </a:p>
          <a:p>
            <a:r>
              <a:rPr lang="en-US" dirty="0"/>
              <a:t>https://www.youtube.com/watch?v=Eu_NV9nR1uY</a:t>
            </a:r>
          </a:p>
        </p:txBody>
      </p:sp>
      <p:sp>
        <p:nvSpPr>
          <p:cNvPr id="4" name="Slide Number Placeholder 3"/>
          <p:cNvSpPr>
            <a:spLocks noGrp="1"/>
          </p:cNvSpPr>
          <p:nvPr>
            <p:ph type="sldNum" sz="quarter" idx="5"/>
          </p:nvPr>
        </p:nvSpPr>
        <p:spPr/>
        <p:txBody>
          <a:bodyPr/>
          <a:lstStyle/>
          <a:p>
            <a:fld id="{E375D247-1C8E-4D1E-A80D-30872DD99D3D}" type="slidenum">
              <a:rPr lang="en-US" smtClean="0"/>
              <a:t>13</a:t>
            </a:fld>
            <a:endParaRPr lang="en-US"/>
          </a:p>
        </p:txBody>
      </p:sp>
    </p:spTree>
    <p:extLst>
      <p:ext uri="{BB962C8B-B14F-4D97-AF65-F5344CB8AC3E}">
        <p14:creationId xmlns:p14="http://schemas.microsoft.com/office/powerpoint/2010/main" val="53220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D11E1B-B6C4-A0EC-3338-2859F8F1146E}"/>
              </a:ext>
            </a:extLst>
          </p:cNvPr>
          <p:cNvSpPr>
            <a:spLocks noGrp="1"/>
          </p:cNvSpPr>
          <p:nvPr>
            <p:ph type="dt" sz="half" idx="10"/>
          </p:nvPr>
        </p:nvSpPr>
        <p:spPr/>
        <p:txBody>
          <a:bodyPr/>
          <a:lstStyle/>
          <a:p>
            <a:fld id="{031C27A6-D228-4CAC-B6FA-95777D436777}" type="datetimeFigureOut">
              <a:rPr lang="en-US" smtClean="0"/>
              <a:t>10/20/2026</a:t>
            </a:fld>
            <a:endParaRPr lang="en-US"/>
          </a:p>
        </p:txBody>
      </p:sp>
      <p:sp>
        <p:nvSpPr>
          <p:cNvPr id="3" name="Footer Placeholder 2">
            <a:extLst>
              <a:ext uri="{FF2B5EF4-FFF2-40B4-BE49-F238E27FC236}">
                <a16:creationId xmlns:a16="http://schemas.microsoft.com/office/drawing/2014/main" id="{E8FE0EFA-C23D-EC43-A764-195D873388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E4697-9800-A928-86E4-68A14158C8A3}"/>
              </a:ext>
            </a:extLst>
          </p:cNvPr>
          <p:cNvSpPr>
            <a:spLocks noGrp="1"/>
          </p:cNvSpPr>
          <p:nvPr>
            <p:ph type="sldNum" sz="quarter" idx="12"/>
          </p:nvPr>
        </p:nvSpPr>
        <p:spPr/>
        <p:txBody>
          <a:bodyPr/>
          <a:lstStyle/>
          <a:p>
            <a:fld id="{8791D965-14B2-4AB9-A0AC-69C56EE3E9EF}" type="slidenum">
              <a:rPr lang="en-US" smtClean="0"/>
              <a:t>‹#›</a:t>
            </a:fld>
            <a:endParaRPr lang="en-US"/>
          </a:p>
        </p:txBody>
      </p:sp>
    </p:spTree>
    <p:extLst>
      <p:ext uri="{BB962C8B-B14F-4D97-AF65-F5344CB8AC3E}">
        <p14:creationId xmlns:p14="http://schemas.microsoft.com/office/powerpoint/2010/main" val="223258262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43441B-A6FF-652F-67F8-5254C72321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41EA3F-9025-4B6D-4B6F-FE8BEB06BA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59D4A1-29BE-FF22-1216-BF83967AD1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1C27A6-D228-4CAC-B6FA-95777D436777}" type="datetimeFigureOut">
              <a:rPr lang="en-US" smtClean="0"/>
              <a:t>10/20/2026</a:t>
            </a:fld>
            <a:endParaRPr lang="en-US"/>
          </a:p>
        </p:txBody>
      </p:sp>
      <p:sp>
        <p:nvSpPr>
          <p:cNvPr id="5" name="Footer Placeholder 4">
            <a:extLst>
              <a:ext uri="{FF2B5EF4-FFF2-40B4-BE49-F238E27FC236}">
                <a16:creationId xmlns:a16="http://schemas.microsoft.com/office/drawing/2014/main" id="{3EBE0DEB-B0D8-7520-99B8-2A611C16F2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5278B4-D407-7F3E-466B-EE8D3D628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91D965-14B2-4AB9-A0AC-69C56EE3E9EF}" type="slidenum">
              <a:rPr lang="en-US" smtClean="0"/>
              <a:t>‹#›</a:t>
            </a:fld>
            <a:endParaRPr lang="en-US"/>
          </a:p>
        </p:txBody>
      </p:sp>
    </p:spTree>
    <p:extLst>
      <p:ext uri="{BB962C8B-B14F-4D97-AF65-F5344CB8AC3E}">
        <p14:creationId xmlns:p14="http://schemas.microsoft.com/office/powerpoint/2010/main" val="383184184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EC4F5B-3950-2B64-E88B-A00760391C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5BBFDE-18E3-98EC-9B3C-87160DE744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A1DE01-150B-0F78-5043-1257C2429A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936BAB-8379-F370-E6D0-DF3250A02E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D30CA0-1122-5E44-5B0E-B42026DF74E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6B6CB4-5BF5-702D-1D4F-9898FFEA40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14A86A-C54A-5EF7-525B-2D69442806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57E836-884E-F58A-D975-B9DBE942E2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FD4130-E829-1287-7EC3-75E11C6B0A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0D64ED-CD3C-047C-F1FF-9432981079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42601F-1A35-0666-2C0D-659691C3F6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AE6184-3F45-14AC-4DFC-5C93A8E808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0D3E42-71B8-996B-7186-9FF08927D22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963460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2410</Words>
  <Application>Microsoft Office PowerPoint</Application>
  <PresentationFormat>寬螢幕</PresentationFormat>
  <Paragraphs>79</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2026-09-29T02:43:14Z</dcterms:created>
  <dcterms:modified xsi:type="dcterms:W3CDTF">2026-10-20T13:43:25Z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2026-09-29T11:41:04Z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396b859b-3d22-40a9-ac17-6c79ad6afbe7</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