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3E7521-AB8B-43EF-B844-0AB00103C191}" v="19" dt="2026-09-03T01:31:39.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03T01:42:26.471" v="48" actId="22"/>
      <pc:docMkLst>
        <pc:docMk/>
      </pc:docMkLst>
      <pc:sldChg chg="addSp delSp modSp mod modAnim modNotes modNotesTx">
        <pc:chgData name="Lai, Wilson" userId="2840974a-0d84-4886-90a9-9a3ed79f3a48" providerId="ADAL" clId="{9F23B798-9E84-4552-BA63-E776E805C424}" dt="2026-09-03T01:36:55.100" v="24" actId="22"/>
        <pc:sldMkLst>
          <pc:docMk/>
          <pc:sldMk cId="0" sldId="257"/>
        </pc:sldMkLst>
        <pc:spChg chg="add mod">
          <ac:chgData name="Lai, Wilson" userId="2840974a-0d84-4886-90a9-9a3ed79f3a48" providerId="ADAL" clId="{9F23B798-9E84-4552-BA63-E776E805C424}" dt="2026-09-03T01:20:44.538" v="8" actId="164"/>
          <ac:spMkLst>
            <pc:docMk/>
            <pc:sldMk cId="0" sldId="257"/>
            <ac:spMk id="5" creationId="{D76E593E-A0FE-2BBD-7914-96DBF6D9F758}"/>
          </ac:spMkLst>
        </pc:spChg>
        <pc:grpChg chg="add mod">
          <ac:chgData name="Lai, Wilson" userId="2840974a-0d84-4886-90a9-9a3ed79f3a48" providerId="ADAL" clId="{9F23B798-9E84-4552-BA63-E776E805C424}" dt="2026-09-03T01:20:44.538" v="8" actId="164"/>
          <ac:grpSpMkLst>
            <pc:docMk/>
            <pc:sldMk cId="0" sldId="257"/>
            <ac:grpSpMk id="6" creationId="{C557FF79-90AD-15A2-71F3-B5274E23869F}"/>
          </ac:grpSpMkLst>
        </pc:grpChg>
        <pc:picChg chg="add mod">
          <ac:chgData name="Lai, Wilson" userId="2840974a-0d84-4886-90a9-9a3ed79f3a48" providerId="ADAL" clId="{9F23B798-9E84-4552-BA63-E776E805C424}" dt="2026-09-03T01:20:44.538" v="8" actId="164"/>
          <ac:picMkLst>
            <pc:docMk/>
            <pc:sldMk cId="0" sldId="257"/>
            <ac:picMk id="2" creationId="{327FABF0-F57A-7100-F1C3-3B366F556730}"/>
          </ac:picMkLst>
        </pc:picChg>
        <pc:picChg chg="del ord">
          <ac:chgData name="Lai, Wilson" userId="2840974a-0d84-4886-90a9-9a3ed79f3a48" providerId="ADAL" clId="{9F23B798-9E84-4552-BA63-E776E805C424}" dt="2026-09-03T01:36:43.426" v="23" actId="21"/>
          <ac:picMkLst>
            <pc:docMk/>
            <pc:sldMk cId="0" sldId="257"/>
            <ac:picMk id="3" creationId="{66300E7D-9EE8-9ACA-D552-33BA9197FBB2}"/>
          </ac:picMkLst>
        </pc:picChg>
        <pc:picChg chg="add">
          <ac:chgData name="Lai, Wilson" userId="2840974a-0d84-4886-90a9-9a3ed79f3a48" providerId="ADAL" clId="{9F23B798-9E84-4552-BA63-E776E805C424}" dt="2026-09-03T01:36:55.100" v="24" actId="22"/>
          <ac:picMkLst>
            <pc:docMk/>
            <pc:sldMk cId="0" sldId="257"/>
            <ac:picMk id="7" creationId="{2A863D27-A7BE-C8D8-B8EB-0EA41BC6738A}"/>
          </ac:picMkLst>
        </pc:picChg>
      </pc:sldChg>
      <pc:sldChg chg="addSp delSp mod modNotes">
        <pc:chgData name="Lai, Wilson" userId="2840974a-0d84-4886-90a9-9a3ed79f3a48" providerId="ADAL" clId="{9F23B798-9E84-4552-BA63-E776E805C424}" dt="2026-09-03T01:37:05.887" v="26" actId="22"/>
        <pc:sldMkLst>
          <pc:docMk/>
          <pc:sldMk cId="0" sldId="258"/>
        </pc:sldMkLst>
        <pc:picChg chg="del">
          <ac:chgData name="Lai, Wilson" userId="2840974a-0d84-4886-90a9-9a3ed79f3a48" providerId="ADAL" clId="{9F23B798-9E84-4552-BA63-E776E805C424}" dt="2026-09-03T01:36:56.882" v="25" actId="21"/>
          <ac:picMkLst>
            <pc:docMk/>
            <pc:sldMk cId="0" sldId="258"/>
            <ac:picMk id="2" creationId="{00000000-0000-0000-0000-000000000000}"/>
          </ac:picMkLst>
        </pc:picChg>
        <pc:picChg chg="add">
          <ac:chgData name="Lai, Wilson" userId="2840974a-0d84-4886-90a9-9a3ed79f3a48" providerId="ADAL" clId="{9F23B798-9E84-4552-BA63-E776E805C424}" dt="2026-09-03T01:37:05.887" v="26" actId="22"/>
          <ac:picMkLst>
            <pc:docMk/>
            <pc:sldMk cId="0" sldId="258"/>
            <ac:picMk id="4" creationId="{664378BE-C371-6BE1-ABE4-8DF2A045A446}"/>
          </ac:picMkLst>
        </pc:picChg>
      </pc:sldChg>
      <pc:sldChg chg="addSp delSp mod modNotes">
        <pc:chgData name="Lai, Wilson" userId="2840974a-0d84-4886-90a9-9a3ed79f3a48" providerId="ADAL" clId="{9F23B798-9E84-4552-BA63-E776E805C424}" dt="2026-09-03T01:37:15.157" v="28" actId="22"/>
        <pc:sldMkLst>
          <pc:docMk/>
          <pc:sldMk cId="0" sldId="259"/>
        </pc:sldMkLst>
        <pc:picChg chg="del">
          <ac:chgData name="Lai, Wilson" userId="2840974a-0d84-4886-90a9-9a3ed79f3a48" providerId="ADAL" clId="{9F23B798-9E84-4552-BA63-E776E805C424}" dt="2026-09-03T01:37:07.148" v="27" actId="21"/>
          <ac:picMkLst>
            <pc:docMk/>
            <pc:sldMk cId="0" sldId="259"/>
            <ac:picMk id="2" creationId="{00000000-0000-0000-0000-000000000000}"/>
          </ac:picMkLst>
        </pc:picChg>
        <pc:picChg chg="add">
          <ac:chgData name="Lai, Wilson" userId="2840974a-0d84-4886-90a9-9a3ed79f3a48" providerId="ADAL" clId="{9F23B798-9E84-4552-BA63-E776E805C424}" dt="2026-09-03T01:37:15.157" v="28" actId="22"/>
          <ac:picMkLst>
            <pc:docMk/>
            <pc:sldMk cId="0" sldId="259"/>
            <ac:picMk id="4" creationId="{5D813CF8-B39D-6C87-7F6A-E78656425740}"/>
          </ac:picMkLst>
        </pc:picChg>
      </pc:sldChg>
      <pc:sldChg chg="addSp delSp mod modNotes">
        <pc:chgData name="Lai, Wilson" userId="2840974a-0d84-4886-90a9-9a3ed79f3a48" providerId="ADAL" clId="{9F23B798-9E84-4552-BA63-E776E805C424}" dt="2026-09-03T01:37:24.087" v="30" actId="22"/>
        <pc:sldMkLst>
          <pc:docMk/>
          <pc:sldMk cId="0" sldId="260"/>
        </pc:sldMkLst>
        <pc:picChg chg="del">
          <ac:chgData name="Lai, Wilson" userId="2840974a-0d84-4886-90a9-9a3ed79f3a48" providerId="ADAL" clId="{9F23B798-9E84-4552-BA63-E776E805C424}" dt="2026-09-03T01:37:17.233" v="29" actId="21"/>
          <ac:picMkLst>
            <pc:docMk/>
            <pc:sldMk cId="0" sldId="260"/>
            <ac:picMk id="2" creationId="{00000000-0000-0000-0000-000000000000}"/>
          </ac:picMkLst>
        </pc:picChg>
        <pc:picChg chg="add">
          <ac:chgData name="Lai, Wilson" userId="2840974a-0d84-4886-90a9-9a3ed79f3a48" providerId="ADAL" clId="{9F23B798-9E84-4552-BA63-E776E805C424}" dt="2026-09-03T01:37:24.087" v="30" actId="22"/>
          <ac:picMkLst>
            <pc:docMk/>
            <pc:sldMk cId="0" sldId="260"/>
            <ac:picMk id="4" creationId="{5FF8B7F5-D47D-63D2-6CC8-6D831B679FD7}"/>
          </ac:picMkLst>
        </pc:picChg>
      </pc:sldChg>
      <pc:sldChg chg="addSp delSp mod modNotes modNotesTx">
        <pc:chgData name="Lai, Wilson" userId="2840974a-0d84-4886-90a9-9a3ed79f3a48" providerId="ADAL" clId="{9F23B798-9E84-4552-BA63-E776E805C424}" dt="2026-09-03T01:37:36.485" v="32" actId="22"/>
        <pc:sldMkLst>
          <pc:docMk/>
          <pc:sldMk cId="0" sldId="261"/>
        </pc:sldMkLst>
        <pc:picChg chg="del">
          <ac:chgData name="Lai, Wilson" userId="2840974a-0d84-4886-90a9-9a3ed79f3a48" providerId="ADAL" clId="{9F23B798-9E84-4552-BA63-E776E805C424}" dt="2026-09-03T01:37:26.220" v="31" actId="21"/>
          <ac:picMkLst>
            <pc:docMk/>
            <pc:sldMk cId="0" sldId="261"/>
            <ac:picMk id="2" creationId="{00000000-0000-0000-0000-000000000000}"/>
          </ac:picMkLst>
        </pc:picChg>
        <pc:picChg chg="add">
          <ac:chgData name="Lai, Wilson" userId="2840974a-0d84-4886-90a9-9a3ed79f3a48" providerId="ADAL" clId="{9F23B798-9E84-4552-BA63-E776E805C424}" dt="2026-09-03T01:37:36.485" v="32" actId="22"/>
          <ac:picMkLst>
            <pc:docMk/>
            <pc:sldMk cId="0" sldId="261"/>
            <ac:picMk id="4" creationId="{73C890A5-BBFB-92B9-E4EC-9139C26686EA}"/>
          </ac:picMkLst>
        </pc:picChg>
      </pc:sldChg>
      <pc:sldChg chg="addSp delSp mod modNotes">
        <pc:chgData name="Lai, Wilson" userId="2840974a-0d84-4886-90a9-9a3ed79f3a48" providerId="ADAL" clId="{9F23B798-9E84-4552-BA63-E776E805C424}" dt="2026-09-03T01:38:50.192" v="34" actId="22"/>
        <pc:sldMkLst>
          <pc:docMk/>
          <pc:sldMk cId="0" sldId="262"/>
        </pc:sldMkLst>
        <pc:picChg chg="del">
          <ac:chgData name="Lai, Wilson" userId="2840974a-0d84-4886-90a9-9a3ed79f3a48" providerId="ADAL" clId="{9F23B798-9E84-4552-BA63-E776E805C424}" dt="2026-09-03T01:37:38.060" v="33" actId="21"/>
          <ac:picMkLst>
            <pc:docMk/>
            <pc:sldMk cId="0" sldId="262"/>
            <ac:picMk id="2" creationId="{00000000-0000-0000-0000-000000000000}"/>
          </ac:picMkLst>
        </pc:picChg>
        <pc:picChg chg="add">
          <ac:chgData name="Lai, Wilson" userId="2840974a-0d84-4886-90a9-9a3ed79f3a48" providerId="ADAL" clId="{9F23B798-9E84-4552-BA63-E776E805C424}" dt="2026-09-03T01:38:50.192" v="34" actId="22"/>
          <ac:picMkLst>
            <pc:docMk/>
            <pc:sldMk cId="0" sldId="262"/>
            <ac:picMk id="4" creationId="{015470C9-C65B-1606-0195-E087745D7282}"/>
          </ac:picMkLst>
        </pc:picChg>
      </pc:sldChg>
      <pc:sldChg chg="addSp delSp mod modNotes modNotesTx">
        <pc:chgData name="Lai, Wilson" userId="2840974a-0d84-4886-90a9-9a3ed79f3a48" providerId="ADAL" clId="{9F23B798-9E84-4552-BA63-E776E805C424}" dt="2026-09-03T01:39:22.251" v="36" actId="22"/>
        <pc:sldMkLst>
          <pc:docMk/>
          <pc:sldMk cId="0" sldId="263"/>
        </pc:sldMkLst>
        <pc:picChg chg="del">
          <ac:chgData name="Lai, Wilson" userId="2840974a-0d84-4886-90a9-9a3ed79f3a48" providerId="ADAL" clId="{9F23B798-9E84-4552-BA63-E776E805C424}" dt="2026-09-03T01:38:51.452" v="35" actId="21"/>
          <ac:picMkLst>
            <pc:docMk/>
            <pc:sldMk cId="0" sldId="263"/>
            <ac:picMk id="2" creationId="{00000000-0000-0000-0000-000000000000}"/>
          </ac:picMkLst>
        </pc:picChg>
        <pc:picChg chg="add">
          <ac:chgData name="Lai, Wilson" userId="2840974a-0d84-4886-90a9-9a3ed79f3a48" providerId="ADAL" clId="{9F23B798-9E84-4552-BA63-E776E805C424}" dt="2026-09-03T01:39:22.251" v="36" actId="22"/>
          <ac:picMkLst>
            <pc:docMk/>
            <pc:sldMk cId="0" sldId="263"/>
            <ac:picMk id="4" creationId="{E3D931C3-7BB2-1088-7A3A-6E74D0DAD09B}"/>
          </ac:picMkLst>
        </pc:picChg>
      </pc:sldChg>
      <pc:sldChg chg="addSp delSp mod modNotes modNotesTx">
        <pc:chgData name="Lai, Wilson" userId="2840974a-0d84-4886-90a9-9a3ed79f3a48" providerId="ADAL" clId="{9F23B798-9E84-4552-BA63-E776E805C424}" dt="2026-09-03T01:39:33.869" v="38" actId="22"/>
        <pc:sldMkLst>
          <pc:docMk/>
          <pc:sldMk cId="0" sldId="264"/>
        </pc:sldMkLst>
        <pc:picChg chg="del">
          <ac:chgData name="Lai, Wilson" userId="2840974a-0d84-4886-90a9-9a3ed79f3a48" providerId="ADAL" clId="{9F23B798-9E84-4552-BA63-E776E805C424}" dt="2026-09-03T01:39:23.738" v="37" actId="21"/>
          <ac:picMkLst>
            <pc:docMk/>
            <pc:sldMk cId="0" sldId="264"/>
            <ac:picMk id="2" creationId="{00000000-0000-0000-0000-000000000000}"/>
          </ac:picMkLst>
        </pc:picChg>
        <pc:picChg chg="add">
          <ac:chgData name="Lai, Wilson" userId="2840974a-0d84-4886-90a9-9a3ed79f3a48" providerId="ADAL" clId="{9F23B798-9E84-4552-BA63-E776E805C424}" dt="2026-09-03T01:39:33.869" v="38" actId="22"/>
          <ac:picMkLst>
            <pc:docMk/>
            <pc:sldMk cId="0" sldId="264"/>
            <ac:picMk id="4" creationId="{77A1C7A1-A46A-2DCD-249E-541DD86EFBD7}"/>
          </ac:picMkLst>
        </pc:picChg>
      </pc:sldChg>
      <pc:sldChg chg="addSp delSp mod modNotes modNotesTx">
        <pc:chgData name="Lai, Wilson" userId="2840974a-0d84-4886-90a9-9a3ed79f3a48" providerId="ADAL" clId="{9F23B798-9E84-4552-BA63-E776E805C424}" dt="2026-09-03T01:39:42.769" v="40" actId="22"/>
        <pc:sldMkLst>
          <pc:docMk/>
          <pc:sldMk cId="0" sldId="265"/>
        </pc:sldMkLst>
        <pc:picChg chg="del">
          <ac:chgData name="Lai, Wilson" userId="2840974a-0d84-4886-90a9-9a3ed79f3a48" providerId="ADAL" clId="{9F23B798-9E84-4552-BA63-E776E805C424}" dt="2026-09-03T01:39:35.093" v="39" actId="21"/>
          <ac:picMkLst>
            <pc:docMk/>
            <pc:sldMk cId="0" sldId="265"/>
            <ac:picMk id="2" creationId="{00000000-0000-0000-0000-000000000000}"/>
          </ac:picMkLst>
        </pc:picChg>
        <pc:picChg chg="add">
          <ac:chgData name="Lai, Wilson" userId="2840974a-0d84-4886-90a9-9a3ed79f3a48" providerId="ADAL" clId="{9F23B798-9E84-4552-BA63-E776E805C424}" dt="2026-09-03T01:39:42.769" v="40" actId="22"/>
          <ac:picMkLst>
            <pc:docMk/>
            <pc:sldMk cId="0" sldId="265"/>
            <ac:picMk id="4" creationId="{AECB5BA5-918D-5FF8-2993-09AD928CB2C4}"/>
          </ac:picMkLst>
        </pc:picChg>
      </pc:sldChg>
      <pc:sldChg chg="addSp delSp mod modNotes">
        <pc:chgData name="Lai, Wilson" userId="2840974a-0d84-4886-90a9-9a3ed79f3a48" providerId="ADAL" clId="{9F23B798-9E84-4552-BA63-E776E805C424}" dt="2026-09-03T01:39:53.435" v="42" actId="22"/>
        <pc:sldMkLst>
          <pc:docMk/>
          <pc:sldMk cId="0" sldId="266"/>
        </pc:sldMkLst>
        <pc:picChg chg="del">
          <ac:chgData name="Lai, Wilson" userId="2840974a-0d84-4886-90a9-9a3ed79f3a48" providerId="ADAL" clId="{9F23B798-9E84-4552-BA63-E776E805C424}" dt="2026-09-03T01:39:44.541" v="41" actId="21"/>
          <ac:picMkLst>
            <pc:docMk/>
            <pc:sldMk cId="0" sldId="266"/>
            <ac:picMk id="2" creationId="{00000000-0000-0000-0000-000000000000}"/>
          </ac:picMkLst>
        </pc:picChg>
        <pc:picChg chg="add">
          <ac:chgData name="Lai, Wilson" userId="2840974a-0d84-4886-90a9-9a3ed79f3a48" providerId="ADAL" clId="{9F23B798-9E84-4552-BA63-E776E805C424}" dt="2026-09-03T01:39:53.435" v="42" actId="22"/>
          <ac:picMkLst>
            <pc:docMk/>
            <pc:sldMk cId="0" sldId="266"/>
            <ac:picMk id="4" creationId="{B7753957-C468-0502-D2A0-4B43DBA03D65}"/>
          </ac:picMkLst>
        </pc:picChg>
      </pc:sldChg>
      <pc:sldChg chg="addSp delSp mod modNotes modNotesTx">
        <pc:chgData name="Lai, Wilson" userId="2840974a-0d84-4886-90a9-9a3ed79f3a48" providerId="ADAL" clId="{9F23B798-9E84-4552-BA63-E776E805C424}" dt="2026-09-03T01:41:30.731" v="44" actId="22"/>
        <pc:sldMkLst>
          <pc:docMk/>
          <pc:sldMk cId="0" sldId="267"/>
        </pc:sldMkLst>
        <pc:picChg chg="del">
          <ac:chgData name="Lai, Wilson" userId="2840974a-0d84-4886-90a9-9a3ed79f3a48" providerId="ADAL" clId="{9F23B798-9E84-4552-BA63-E776E805C424}" dt="2026-09-03T01:39:55.567" v="43" actId="21"/>
          <ac:picMkLst>
            <pc:docMk/>
            <pc:sldMk cId="0" sldId="267"/>
            <ac:picMk id="2" creationId="{00000000-0000-0000-0000-000000000000}"/>
          </ac:picMkLst>
        </pc:picChg>
        <pc:picChg chg="add">
          <ac:chgData name="Lai, Wilson" userId="2840974a-0d84-4886-90a9-9a3ed79f3a48" providerId="ADAL" clId="{9F23B798-9E84-4552-BA63-E776E805C424}" dt="2026-09-03T01:41:30.731" v="44" actId="22"/>
          <ac:picMkLst>
            <pc:docMk/>
            <pc:sldMk cId="0" sldId="267"/>
            <ac:picMk id="4" creationId="{1EDA4ED0-9C01-C335-4B5C-B2F92BA7943A}"/>
          </ac:picMkLst>
        </pc:picChg>
      </pc:sldChg>
      <pc:sldChg chg="addSp delSp mod modNotes modNotesTx">
        <pc:chgData name="Lai, Wilson" userId="2840974a-0d84-4886-90a9-9a3ed79f3a48" providerId="ADAL" clId="{9F23B798-9E84-4552-BA63-E776E805C424}" dt="2026-09-03T01:42:15.340" v="46" actId="22"/>
        <pc:sldMkLst>
          <pc:docMk/>
          <pc:sldMk cId="0" sldId="268"/>
        </pc:sldMkLst>
        <pc:picChg chg="del">
          <ac:chgData name="Lai, Wilson" userId="2840974a-0d84-4886-90a9-9a3ed79f3a48" providerId="ADAL" clId="{9F23B798-9E84-4552-BA63-E776E805C424}" dt="2026-09-03T01:41:32.238" v="45" actId="21"/>
          <ac:picMkLst>
            <pc:docMk/>
            <pc:sldMk cId="0" sldId="268"/>
            <ac:picMk id="2" creationId="{00000000-0000-0000-0000-000000000000}"/>
          </ac:picMkLst>
        </pc:picChg>
        <pc:picChg chg="add">
          <ac:chgData name="Lai, Wilson" userId="2840974a-0d84-4886-90a9-9a3ed79f3a48" providerId="ADAL" clId="{9F23B798-9E84-4552-BA63-E776E805C424}" dt="2026-09-03T01:42:15.340" v="46" actId="22"/>
          <ac:picMkLst>
            <pc:docMk/>
            <pc:sldMk cId="0" sldId="268"/>
            <ac:picMk id="4" creationId="{03492FAB-5986-AFD5-FFDF-45E1245D96C8}"/>
          </ac:picMkLst>
        </pc:picChg>
      </pc:sldChg>
      <pc:sldChg chg="addSp delSp modSp mod modNotes modNotesTx">
        <pc:chgData name="Lai, Wilson" userId="2840974a-0d84-4886-90a9-9a3ed79f3a48" providerId="ADAL" clId="{9F23B798-9E84-4552-BA63-E776E805C424}" dt="2026-09-03T01:42:26.471" v="48" actId="22"/>
        <pc:sldMkLst>
          <pc:docMk/>
          <pc:sldMk cId="0" sldId="269"/>
        </pc:sldMkLst>
        <pc:spChg chg="add del">
          <ac:chgData name="Lai, Wilson" userId="2840974a-0d84-4886-90a9-9a3ed79f3a48" providerId="ADAL" clId="{9F23B798-9E84-4552-BA63-E776E805C424}" dt="2026-09-03T01:30:32.204" v="20" actId="22"/>
          <ac:spMkLst>
            <pc:docMk/>
            <pc:sldMk cId="0" sldId="269"/>
            <ac:spMk id="4" creationId="{BAFF095B-B567-EF81-CF73-9E4181C9AD5C}"/>
          </ac:spMkLst>
        </pc:spChg>
        <pc:picChg chg="del">
          <ac:chgData name="Lai, Wilson" userId="2840974a-0d84-4886-90a9-9a3ed79f3a48" providerId="ADAL" clId="{9F23B798-9E84-4552-BA63-E776E805C424}" dt="2026-09-03T01:42:18.075" v="47" actId="21"/>
          <ac:picMkLst>
            <pc:docMk/>
            <pc:sldMk cId="0" sldId="269"/>
            <ac:picMk id="2" creationId="{00000000-0000-0000-0000-000000000000}"/>
          </ac:picMkLst>
        </pc:picChg>
        <pc:picChg chg="add">
          <ac:chgData name="Lai, Wilson" userId="2840974a-0d84-4886-90a9-9a3ed79f3a48" providerId="ADAL" clId="{9F23B798-9E84-4552-BA63-E776E805C424}" dt="2026-09-03T01:42:26.471" v="48" actId="22"/>
          <ac:picMkLst>
            <pc:docMk/>
            <pc:sldMk cId="0" sldId="269"/>
            <ac:picMk id="4" creationId="{10A22547-3037-DE74-AB74-276BC2A18315}"/>
          </ac:picMkLst>
        </pc:picChg>
      </pc:sldChg>
      <pc:sldChg chg="modNotes">
        <pc:chgData name="Lai, Wilson" userId="2840974a-0d84-4886-90a9-9a3ed79f3a48" providerId="ADAL" clId="{9F23B798-9E84-4552-BA63-E776E805C424}" dt="2026-09-03T01:31:39.127" v="22"/>
        <pc:sldMkLst>
          <pc:docMk/>
          <pc:sldMk cId="223941238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FF0D6B-84EF-42FC-B3F1-0C7E1E4FE7C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E26CE-BF96-4CE8-AAF1-260C20D6267C}" type="slidenum">
              <a:rPr lang="en-US" smtClean="0"/>
              <a:t>‹#›</a:t>
            </a:fld>
            <a:endParaRPr lang="en-US"/>
          </a:p>
        </p:txBody>
      </p:sp>
    </p:spTree>
    <p:extLst>
      <p:ext uri="{BB962C8B-B14F-4D97-AF65-F5344CB8AC3E}">
        <p14:creationId xmlns:p14="http://schemas.microsoft.com/office/powerpoint/2010/main" val="890949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diving deep into one of the most critical evolutions in modern tech architecture and engineering: </a:t>
            </a:r>
            <a:r>
              <a:rPr lang="en-US" sz="1200" b="1" kern="1200" dirty="0">
                <a:solidFill>
                  <a:schemeClr val="tx1"/>
                </a:solidFill>
                <a:effectLst/>
                <a:latin typeface="+mn-lt"/>
                <a:ea typeface="+mn-ea"/>
                <a:cs typeface="+mn-cs"/>
              </a:rPr>
              <a:t>The Forward Deployment Engineer (FDE) Blueprint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you've been following industry trends over the last year, you’ve probably noticed every major enterprise, technology influencer, and startup founder talking about the FDE role. But what actually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a Forward Deployment Engineer? Is it just hype, or is it a fundamental shift in how enterprise software is built and delivered? </a:t>
            </a:r>
          </a:p>
          <a:p>
            <a:r>
              <a:rPr lang="en-US" sz="1200" kern="1200" dirty="0">
                <a:solidFill>
                  <a:schemeClr val="tx1"/>
                </a:solidFill>
                <a:effectLst/>
                <a:latin typeface="+mn-lt"/>
                <a:ea typeface="+mn-ea"/>
                <a:cs typeface="+mn-cs"/>
              </a:rPr>
              <a:t>As we can see from our foundational architecture diagram here, an FDE is an end-to-end technical leader. They don't just sit in a silo writing isolated code. They bridge the entire pipeline—from ingesting complex enterprise data, through processing nodes and agentic AI models, to client interfaces and secure enterprise deployment. </a:t>
            </a:r>
          </a:p>
          <a:p>
            <a:r>
              <a:rPr lang="en-US" sz="1200" kern="1200" dirty="0">
                <a:solidFill>
                  <a:schemeClr val="tx1"/>
                </a:solidFill>
                <a:effectLst/>
                <a:latin typeface="+mn-lt"/>
                <a:ea typeface="+mn-ea"/>
                <a:cs typeface="+mn-cs"/>
              </a:rPr>
              <a:t>This blueprint is extracted directly from our Super 30 Live Masterclass. Over the next 16 slides, we are going to dissect the technical stack, the client delivery lifecycle, unit economics, security frameworks, and the exact steps required to transform into a high-impact FDE. By the end of this session, you will understand how to transition from traditional multi-month development pipelines to delivering production-ready, agentic AI solutions in days. Let’s get started. </a:t>
            </a:r>
          </a:p>
          <a:p>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https://www.youtube.com/watch?v=dASmzI2A_tY</a:t>
            </a:r>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a:t>
            </a:fld>
            <a:endParaRPr lang="en-US"/>
          </a:p>
        </p:txBody>
      </p:sp>
    </p:spTree>
    <p:extLst>
      <p:ext uri="{BB962C8B-B14F-4D97-AF65-F5344CB8AC3E}">
        <p14:creationId xmlns:p14="http://schemas.microsoft.com/office/powerpoint/2010/main" val="2776227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the FDE is in such high demand, we first need to look at the massive paradigm shift currently happening in software delivery. </a:t>
            </a:r>
          </a:p>
          <a:p>
            <a:r>
              <a:rPr lang="en-US" sz="1200" kern="1200" dirty="0">
                <a:solidFill>
                  <a:schemeClr val="tx1"/>
                </a:solidFill>
                <a:effectLst/>
                <a:latin typeface="+mn-lt"/>
                <a:ea typeface="+mn-ea"/>
                <a:cs typeface="+mn-cs"/>
              </a:rPr>
              <a:t>On the left, we have </a:t>
            </a:r>
            <a:r>
              <a:rPr lang="en-US" sz="1200" b="1" kern="1200" dirty="0">
                <a:solidFill>
                  <a:schemeClr val="tx1"/>
                </a:solidFill>
                <a:effectLst/>
                <a:latin typeface="+mn-lt"/>
                <a:ea typeface="+mn-ea"/>
                <a:cs typeface="+mn-cs"/>
              </a:rPr>
              <a:t>Legacy Software Delivery</a:t>
            </a:r>
            <a:r>
              <a:rPr lang="en-US" sz="1200" kern="1200" dirty="0">
                <a:solidFill>
                  <a:schemeClr val="tx1"/>
                </a:solidFill>
                <a:effectLst/>
                <a:latin typeface="+mn-lt"/>
                <a:ea typeface="+mn-ea"/>
                <a:cs typeface="+mn-cs"/>
              </a:rPr>
              <a:t>. Historically, building an enterprise solution meant coordinating a massive, siloed team: separate front-end engineers, back-end engineers, infrastructure engineers, QA testers, project managers, and solution architects. What happens when you have seven different teams? Communication friction, heavy hand-offs, and endless alignment meetings. The timeline to plan, design, develop, test, and deploy a feature dragged on for months. This model is extremely capital-intensive and slow to react to business needs. </a:t>
            </a:r>
          </a:p>
          <a:p>
            <a:r>
              <a:rPr lang="en-US" sz="1200" kern="1200" dirty="0">
                <a:solidFill>
                  <a:schemeClr val="tx1"/>
                </a:solidFill>
                <a:effectLst/>
                <a:latin typeface="+mn-lt"/>
                <a:ea typeface="+mn-ea"/>
                <a:cs typeface="+mn-cs"/>
              </a:rPr>
              <a:t>Now, look at the right side: </a:t>
            </a:r>
            <a:r>
              <a:rPr lang="en-US" sz="1200" b="1" kern="1200" dirty="0">
                <a:solidFill>
                  <a:schemeClr val="tx1"/>
                </a:solidFill>
                <a:effectLst/>
                <a:latin typeface="+mn-lt"/>
                <a:ea typeface="+mn-ea"/>
                <a:cs typeface="+mn-cs"/>
              </a:rPr>
              <a:t>The AI Era</a:t>
            </a:r>
            <a:r>
              <a:rPr lang="en-US" sz="1200" kern="1200" dirty="0">
                <a:solidFill>
                  <a:schemeClr val="tx1"/>
                </a:solidFill>
                <a:effectLst/>
                <a:latin typeface="+mn-lt"/>
                <a:ea typeface="+mn-ea"/>
                <a:cs typeface="+mn-cs"/>
              </a:rPr>
              <a:t>. Agentic AI tools and vibe coding frameworks now automate significant portions of boilerplate coding, testing, and infrastructure deployment. In our last live coding session, we demonstrated building a full application and orchestrating automated deployment via Terraform in under three hours! </a:t>
            </a:r>
          </a:p>
          <a:p>
            <a:r>
              <a:rPr lang="en-US" sz="1200" kern="1200" dirty="0">
                <a:solidFill>
                  <a:schemeClr val="tx1"/>
                </a:solidFill>
                <a:effectLst/>
                <a:latin typeface="+mn-lt"/>
                <a:ea typeface="+mn-ea"/>
                <a:cs typeface="+mn-cs"/>
              </a:rPr>
              <a:t>Because AI accelerates execution, </a:t>
            </a:r>
            <a:r>
              <a:rPr lang="en-US" sz="1200" b="1" kern="1200" dirty="0">
                <a:solidFill>
                  <a:schemeClr val="tx1"/>
                </a:solidFill>
                <a:effectLst/>
                <a:latin typeface="+mn-lt"/>
                <a:ea typeface="+mn-ea"/>
                <a:cs typeface="+mn-cs"/>
              </a:rPr>
              <a:t>the primary bottleneck in software delivery is no longer writing code—it is understanding the business problem and integrating the technical solution.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an FDE steering agentic workflows, a single engineer can architect, build, and deploy an enterprise solution in </a:t>
            </a:r>
            <a:r>
              <a:rPr lang="en-US" sz="1200" b="1" kern="1200" dirty="0">
                <a:solidFill>
                  <a:schemeClr val="tx1"/>
                </a:solidFill>
                <a:effectLst/>
                <a:latin typeface="+mn-lt"/>
                <a:ea typeface="+mn-ea"/>
                <a:cs typeface="+mn-cs"/>
              </a:rPr>
              <a:t>days</a:t>
            </a:r>
            <a:r>
              <a:rPr lang="en-US" sz="1200" kern="1200" dirty="0">
                <a:solidFill>
                  <a:schemeClr val="tx1"/>
                </a:solidFill>
                <a:effectLst/>
                <a:latin typeface="+mn-lt"/>
                <a:ea typeface="+mn-ea"/>
                <a:cs typeface="+mn-cs"/>
              </a:rPr>
              <a:t> rather than months. We move from heavy overhead to lean operations with hyper-scalable infrastructure. </a:t>
            </a:r>
          </a:p>
        </p:txBody>
      </p:sp>
      <p:sp>
        <p:nvSpPr>
          <p:cNvPr id="4" name="Slide Number Placeholder 3"/>
          <p:cNvSpPr>
            <a:spLocks noGrp="1"/>
          </p:cNvSpPr>
          <p:nvPr>
            <p:ph type="sldNum" sz="quarter" idx="5"/>
          </p:nvPr>
        </p:nvSpPr>
        <p:spPr/>
        <p:txBody>
          <a:bodyPr/>
          <a:lstStyle/>
          <a:p>
            <a:fld id="{865E26CE-BF96-4CE8-AAF1-260C20D6267C}" type="slidenum">
              <a:rPr lang="en-US" smtClean="0"/>
              <a:t>2</a:t>
            </a:fld>
            <a:endParaRPr lang="en-US"/>
          </a:p>
        </p:txBody>
      </p:sp>
    </p:spTree>
    <p:extLst>
      <p:ext uri="{BB962C8B-B14F-4D97-AF65-F5344CB8AC3E}">
        <p14:creationId xmlns:p14="http://schemas.microsoft.com/office/powerpoint/2010/main" val="876507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People often ask me: </a:t>
            </a:r>
            <a:r>
              <a:rPr lang="en-US" sz="1200" i="1" kern="1200" dirty="0">
                <a:solidFill>
                  <a:schemeClr val="tx1"/>
                </a:solidFill>
                <a:effectLst/>
                <a:latin typeface="+mn-lt"/>
                <a:ea typeface="+mn-ea"/>
                <a:cs typeface="+mn-cs"/>
              </a:rPr>
              <a:t>'Does an FDE replace existing roles, or is it a combination of them?'</a:t>
            </a:r>
            <a:r>
              <a:rPr lang="en-US" sz="1200" kern="1200" dirty="0">
                <a:solidFill>
                  <a:schemeClr val="tx1"/>
                </a:solidFill>
                <a:effectLst/>
                <a:latin typeface="+mn-lt"/>
                <a:ea typeface="+mn-ea"/>
                <a:cs typeface="+mn-cs"/>
              </a:rPr>
              <a:t> The answer is that an FDE operates as a </a:t>
            </a:r>
            <a:r>
              <a:rPr lang="en-US" sz="1200" b="1" kern="1200" dirty="0">
                <a:solidFill>
                  <a:schemeClr val="tx1"/>
                </a:solidFill>
                <a:effectLst/>
                <a:latin typeface="+mn-lt"/>
                <a:ea typeface="+mn-ea"/>
                <a:cs typeface="+mn-cs"/>
              </a:rPr>
              <a:t>'One-Person Deployment Army'</a:t>
            </a:r>
            <a:r>
              <a:rPr lang="en-US" sz="1200" kern="1200" dirty="0">
                <a:solidFill>
                  <a:schemeClr val="tx1"/>
                </a:solidFill>
                <a:effectLst/>
                <a:latin typeface="+mn-lt"/>
                <a:ea typeface="+mn-ea"/>
                <a:cs typeface="+mn-cs"/>
              </a:rPr>
              <a:t> by sitting at the exact intersection of three core technical disciplines. </a:t>
            </a:r>
          </a:p>
          <a:p>
            <a:pPr lvl="0"/>
            <a:r>
              <a:rPr lang="en-US" sz="1200" b="1" kern="1200" dirty="0">
                <a:solidFill>
                  <a:schemeClr val="tx1"/>
                </a:solidFill>
                <a:effectLst/>
                <a:latin typeface="+mn-lt"/>
                <a:ea typeface="+mn-ea"/>
                <a:cs typeface="+mn-cs"/>
              </a:rPr>
              <a:t>Software / Implementation Engineer:</a:t>
            </a:r>
            <a:r>
              <a:rPr lang="en-US" sz="1200" kern="1200" dirty="0">
                <a:solidFill>
                  <a:schemeClr val="tx1"/>
                </a:solidFill>
                <a:effectLst/>
                <a:latin typeface="+mn-lt"/>
                <a:ea typeface="+mn-ea"/>
                <a:cs typeface="+mn-cs"/>
              </a:rPr>
              <a:t> At the foundational level, an FDE understands how to write production code, integrate APIs, manage CI/CD pipelines, and build core products. </a:t>
            </a:r>
          </a:p>
          <a:p>
            <a:pPr lvl="0"/>
            <a:r>
              <a:rPr lang="en-US" sz="1200" b="1" kern="1200" dirty="0">
                <a:solidFill>
                  <a:schemeClr val="tx1"/>
                </a:solidFill>
                <a:effectLst/>
                <a:latin typeface="+mn-lt"/>
                <a:ea typeface="+mn-ea"/>
                <a:cs typeface="+mn-cs"/>
              </a:rPr>
              <a:t>Solution Architect:</a:t>
            </a:r>
            <a:r>
              <a:rPr lang="en-US" sz="1200" kern="1200" dirty="0">
                <a:solidFill>
                  <a:schemeClr val="tx1"/>
                </a:solidFill>
                <a:effectLst/>
                <a:latin typeface="+mn-lt"/>
                <a:ea typeface="+mn-ea"/>
                <a:cs typeface="+mn-cs"/>
              </a:rPr>
              <a:t> An FDE understands system design. They know how to design database schemas—whether SQL, NoSQL, Vector, or Graph—map out cloud infrastructure on AWS/GCP/Azure, and handle secure API protocols. </a:t>
            </a:r>
          </a:p>
          <a:p>
            <a:pPr lvl="0"/>
            <a:r>
              <a:rPr lang="en-US" sz="1200" b="1" kern="1200" dirty="0">
                <a:solidFill>
                  <a:schemeClr val="tx1"/>
                </a:solidFill>
                <a:effectLst/>
                <a:latin typeface="+mn-lt"/>
                <a:ea typeface="+mn-ea"/>
                <a:cs typeface="+mn-cs"/>
              </a:rPr>
              <a:t>Customer Engineering:</a:t>
            </a:r>
            <a:r>
              <a:rPr lang="en-US" sz="1200" kern="1200" dirty="0">
                <a:solidFill>
                  <a:schemeClr val="tx1"/>
                </a:solidFill>
                <a:effectLst/>
                <a:latin typeface="+mn-lt"/>
                <a:ea typeface="+mn-ea"/>
                <a:cs typeface="+mn-cs"/>
              </a:rPr>
              <a:t> This is what truly separates a traditional developer from an FDE. An FDE can sit across the table from a client, founder, or enterprise stakeholder, conduct discovery, extract raw business pain points, and translate them directly into technical requirements and a Product Requirements Document (PRD). </a:t>
            </a:r>
          </a:p>
          <a:p>
            <a:r>
              <a:rPr lang="en-US" sz="1200" kern="1200" dirty="0">
                <a:solidFill>
                  <a:schemeClr val="tx1"/>
                </a:solidFill>
                <a:effectLst/>
                <a:latin typeface="+mn-lt"/>
                <a:ea typeface="+mn-ea"/>
                <a:cs typeface="+mn-cs"/>
              </a:rPr>
              <a:t>When you combine client-facing domain expertise with architectural mastery and AI-assisted implementation speed, you eliminate the communication latency between product, sales, and engineering. That is why a single FDE can deliver what previously required a team of ten.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3</a:t>
            </a:fld>
            <a:endParaRPr lang="en-US"/>
          </a:p>
        </p:txBody>
      </p:sp>
    </p:spTree>
    <p:extLst>
      <p:ext uri="{BB962C8B-B14F-4D97-AF65-F5344CB8AC3E}">
        <p14:creationId xmlns:p14="http://schemas.microsoft.com/office/powerpoint/2010/main" val="17805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does an FDE manage a project from initial client conversation to production rollout? We break this down into </a:t>
            </a:r>
            <a:r>
              <a:rPr lang="en-US" sz="1200" b="1" kern="1200" dirty="0">
                <a:solidFill>
                  <a:schemeClr val="tx1"/>
                </a:solidFill>
                <a:effectLst/>
                <a:latin typeface="+mn-lt"/>
                <a:ea typeface="+mn-ea"/>
                <a:cs typeface="+mn-cs"/>
              </a:rPr>
              <a:t>The 4 Phases of the FDE Lifecycle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Phase 1: Discovery.</a:t>
            </a:r>
            <a:r>
              <a:rPr lang="en-US" sz="1200" kern="1200" dirty="0">
                <a:solidFill>
                  <a:schemeClr val="tx1"/>
                </a:solidFill>
                <a:effectLst/>
                <a:latin typeface="+mn-lt"/>
                <a:ea typeface="+mn-ea"/>
                <a:cs typeface="+mn-cs"/>
              </a:rPr>
              <a:t> Before touching a line of code, the FDE maps out the existing manual human workflows, identifies enterprise data sources (like SAP, Salesforce, or internal databases), defines scale targets, and surfaces strict compliance/security requirements. </a:t>
            </a:r>
          </a:p>
          <a:p>
            <a:pPr lvl="0"/>
            <a:r>
              <a:rPr lang="en-US" sz="1200" b="1" kern="1200" dirty="0">
                <a:solidFill>
                  <a:schemeClr val="tx1"/>
                </a:solidFill>
                <a:effectLst/>
                <a:latin typeface="+mn-lt"/>
                <a:ea typeface="+mn-ea"/>
                <a:cs typeface="+mn-cs"/>
              </a:rPr>
              <a:t>Phase 2: Prototyping (MVP).</a:t>
            </a:r>
            <a:r>
              <a:rPr lang="en-US" sz="1200" kern="1200" dirty="0">
                <a:solidFill>
                  <a:schemeClr val="tx1"/>
                </a:solidFill>
                <a:effectLst/>
                <a:latin typeface="+mn-lt"/>
                <a:ea typeface="+mn-ea"/>
                <a:cs typeface="+mn-cs"/>
              </a:rPr>
              <a:t> In the AI era, proof-of-concept shouldn't take two months. An FDE leverages agentic AI to build a working AI Minimum Viable Product (MVP) in under </a:t>
            </a:r>
            <a:r>
              <a:rPr lang="en-US" sz="1200" b="1" kern="1200" dirty="0">
                <a:solidFill>
                  <a:schemeClr val="tx1"/>
                </a:solidFill>
                <a:effectLst/>
                <a:latin typeface="+mn-lt"/>
                <a:ea typeface="+mn-ea"/>
                <a:cs typeface="+mn-cs"/>
              </a:rPr>
              <a:t>5 working days</a:t>
            </a:r>
            <a:r>
              <a:rPr lang="en-US" sz="1200" kern="1200" dirty="0">
                <a:solidFill>
                  <a:schemeClr val="tx1"/>
                </a:solidFill>
                <a:effectLst/>
                <a:latin typeface="+mn-lt"/>
                <a:ea typeface="+mn-ea"/>
                <a:cs typeface="+mn-cs"/>
              </a:rPr>
              <a:t> to validate core feasibility. </a:t>
            </a:r>
          </a:p>
          <a:p>
            <a:pPr lvl="0"/>
            <a:r>
              <a:rPr lang="en-US" sz="1200" b="1" kern="1200" dirty="0">
                <a:solidFill>
                  <a:schemeClr val="tx1"/>
                </a:solidFill>
                <a:effectLst/>
                <a:latin typeface="+mn-lt"/>
                <a:ea typeface="+mn-ea"/>
                <a:cs typeface="+mn-cs"/>
              </a:rPr>
              <a:t>Phase 3: Architecture.</a:t>
            </a:r>
            <a:r>
              <a:rPr lang="en-US" sz="1200" kern="1200" dirty="0">
                <a:solidFill>
                  <a:schemeClr val="tx1"/>
                </a:solidFill>
                <a:effectLst/>
                <a:latin typeface="+mn-lt"/>
                <a:ea typeface="+mn-ea"/>
                <a:cs typeface="+mn-cs"/>
              </a:rPr>
              <a:t> Once the prototype is validated, the FDE designs the scalable end-to-end system: establishing REST/</a:t>
            </a:r>
            <a:r>
              <a:rPr lang="en-US" sz="1200" kern="1200" dirty="0" err="1">
                <a:solidFill>
                  <a:schemeClr val="tx1"/>
                </a:solidFill>
                <a:effectLst/>
                <a:latin typeface="+mn-lt"/>
                <a:ea typeface="+mn-ea"/>
                <a:cs typeface="+mn-cs"/>
              </a:rPr>
              <a:t>gRPC</a:t>
            </a:r>
            <a:r>
              <a:rPr lang="en-US" sz="1200" kern="1200" dirty="0">
                <a:solidFill>
                  <a:schemeClr val="tx1"/>
                </a:solidFill>
                <a:effectLst/>
                <a:latin typeface="+mn-lt"/>
                <a:ea typeface="+mn-ea"/>
                <a:cs typeface="+mn-cs"/>
              </a:rPr>
              <a:t> endpoints, database layers, cloud infrastructure, LLM routing, role-based access control, and evaluation pipelines. </a:t>
            </a:r>
          </a:p>
          <a:p>
            <a:pPr lvl="0"/>
            <a:r>
              <a:rPr lang="en-US" sz="1200" b="1" kern="1200" dirty="0">
                <a:solidFill>
                  <a:schemeClr val="tx1"/>
                </a:solidFill>
                <a:effectLst/>
                <a:latin typeface="+mn-lt"/>
                <a:ea typeface="+mn-ea"/>
                <a:cs typeface="+mn-cs"/>
              </a:rPr>
              <a:t>Phase 4: Delivery &amp; Ops.</a:t>
            </a:r>
            <a:r>
              <a:rPr lang="en-US" sz="1200" kern="1200" dirty="0">
                <a:solidFill>
                  <a:schemeClr val="tx1"/>
                </a:solidFill>
                <a:effectLst/>
                <a:latin typeface="+mn-lt"/>
                <a:ea typeface="+mn-ea"/>
                <a:cs typeface="+mn-cs"/>
              </a:rPr>
              <a:t> The FDE formalizes a comprehensive 40-page PRD, secures client sign-off, provisions production infrastructure automatically using Infrastructure-as-Code (Terraform), and oversees the Hypercare transition period. </a:t>
            </a:r>
          </a:p>
          <a:p>
            <a:r>
              <a:rPr lang="en-US" sz="1200" kern="1200" dirty="0">
                <a:solidFill>
                  <a:schemeClr val="tx1"/>
                </a:solidFill>
                <a:effectLst/>
                <a:latin typeface="+mn-lt"/>
                <a:ea typeface="+mn-ea"/>
                <a:cs typeface="+mn-cs"/>
              </a:rPr>
              <a:t>This structured cadence ensures speed without sacrificing enterprise stability or security.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4</a:t>
            </a:fld>
            <a:endParaRPr lang="en-US"/>
          </a:p>
        </p:txBody>
      </p:sp>
    </p:spTree>
    <p:extLst>
      <p:ext uri="{BB962C8B-B14F-4D97-AF65-F5344CB8AC3E}">
        <p14:creationId xmlns:p14="http://schemas.microsoft.com/office/powerpoint/2010/main" val="3147442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zoom into </a:t>
            </a:r>
            <a:r>
              <a:rPr lang="en-US" sz="1200" b="1" kern="1200" dirty="0">
                <a:solidFill>
                  <a:schemeClr val="tx1"/>
                </a:solidFill>
                <a:effectLst/>
                <a:latin typeface="+mn-lt"/>
                <a:ea typeface="+mn-ea"/>
                <a:cs typeface="+mn-cs"/>
              </a:rPr>
              <a:t>Phase 1: Discovery</a:t>
            </a:r>
            <a:r>
              <a:rPr lang="en-US" sz="1200" kern="1200" dirty="0">
                <a:solidFill>
                  <a:schemeClr val="tx1"/>
                </a:solidFill>
                <a:effectLst/>
                <a:latin typeface="+mn-lt"/>
                <a:ea typeface="+mn-ea"/>
                <a:cs typeface="+mn-cs"/>
              </a:rPr>
              <a:t>. Remember this rule: If you don't ask the right questions, your tech stack doesn't matter. </a:t>
            </a:r>
          </a:p>
          <a:p>
            <a:r>
              <a:rPr lang="en-US" sz="1200" kern="1200" dirty="0">
                <a:solidFill>
                  <a:schemeClr val="tx1"/>
                </a:solidFill>
                <a:effectLst/>
                <a:latin typeface="+mn-lt"/>
                <a:ea typeface="+mn-ea"/>
                <a:cs typeface="+mn-cs"/>
              </a:rPr>
              <a:t>When meeting with enterprise clients, an FDE uses the </a:t>
            </a:r>
            <a:r>
              <a:rPr lang="en-US" sz="1200" b="1" kern="1200" dirty="0">
                <a:solidFill>
                  <a:schemeClr val="tx1"/>
                </a:solidFill>
                <a:effectLst/>
                <a:latin typeface="+mn-lt"/>
                <a:ea typeface="+mn-ea"/>
                <a:cs typeface="+mn-cs"/>
              </a:rPr>
              <a:t>Discovery Diagnostic Checklist</a:t>
            </a:r>
            <a:r>
              <a:rPr lang="en-US" sz="1200" kern="1200" dirty="0">
                <a:solidFill>
                  <a:schemeClr val="tx1"/>
                </a:solidFill>
                <a:effectLst/>
                <a:latin typeface="+mn-lt"/>
                <a:ea typeface="+mn-ea"/>
                <a:cs typeface="+mn-cs"/>
              </a:rPr>
              <a:t> to audit the client's current ecosystem across four crucial dimensions: </a:t>
            </a:r>
          </a:p>
          <a:p>
            <a:pPr marL="228600" lvl="0" indent="-228600">
              <a:buFont typeface="+mj-lt"/>
              <a:buAutoNum type="arabicPeriod"/>
            </a:pPr>
            <a:r>
              <a:rPr lang="en-US" sz="1200" b="1" kern="1200" dirty="0">
                <a:solidFill>
                  <a:schemeClr val="tx1"/>
                </a:solidFill>
                <a:effectLst/>
                <a:latin typeface="+mn-lt"/>
                <a:ea typeface="+mn-ea"/>
                <a:cs typeface="+mn-cs"/>
              </a:rPr>
              <a:t>Workflow Mapping:</a:t>
            </a:r>
            <a:r>
              <a:rPr lang="en-US" sz="1200" kern="1200" dirty="0">
                <a:solidFill>
                  <a:schemeClr val="tx1"/>
                </a:solidFill>
                <a:effectLst/>
                <a:latin typeface="+mn-lt"/>
                <a:ea typeface="+mn-ea"/>
                <a:cs typeface="+mn-cs"/>
              </a:rPr>
              <a:t> Document the human operational workflow end-to-end. For example, in a customer service desk, how are L1, L2, and L3 tickets currently routed? Where are the manual bottlenecks? </a:t>
            </a:r>
          </a:p>
          <a:p>
            <a:pPr marL="228600" lvl="0" indent="-228600">
              <a:buFont typeface="+mj-lt"/>
              <a:buAutoNum type="arabicPeriod"/>
            </a:pPr>
            <a:r>
              <a:rPr lang="en-US" sz="1200" b="1" kern="1200" dirty="0">
                <a:solidFill>
                  <a:schemeClr val="tx1"/>
                </a:solidFill>
                <a:effectLst/>
                <a:latin typeface="+mn-lt"/>
                <a:ea typeface="+mn-ea"/>
                <a:cs typeface="+mn-cs"/>
              </a:rPr>
              <a:t>Knowledge Sourcing:</a:t>
            </a:r>
            <a:r>
              <a:rPr lang="en-US" sz="1200" kern="1200" dirty="0">
                <a:solidFill>
                  <a:schemeClr val="tx1"/>
                </a:solidFill>
                <a:effectLst/>
                <a:latin typeface="+mn-lt"/>
                <a:ea typeface="+mn-ea"/>
                <a:cs typeface="+mn-cs"/>
              </a:rPr>
              <a:t> Identify where the business truth lives. Is it in unstructured rulebooks, SAP, Salesforce, or legacy SQL databases? What access controls exist around this data? </a:t>
            </a:r>
          </a:p>
          <a:p>
            <a:pPr marL="228600" lvl="0" indent="-228600">
              <a:buFont typeface="+mj-lt"/>
              <a:buAutoNum type="arabicPeriod"/>
            </a:pPr>
            <a:r>
              <a:rPr lang="en-US" sz="1200" b="1" kern="1200" dirty="0">
                <a:solidFill>
                  <a:schemeClr val="tx1"/>
                </a:solidFill>
                <a:effectLst/>
                <a:latin typeface="+mn-lt"/>
                <a:ea typeface="+mn-ea"/>
                <a:cs typeface="+mn-cs"/>
              </a:rPr>
              <a:t>Scale Target Definition:</a:t>
            </a:r>
            <a:r>
              <a:rPr lang="en-US" sz="1200" kern="1200" dirty="0">
                <a:solidFill>
                  <a:schemeClr val="tx1"/>
                </a:solidFill>
                <a:effectLst/>
                <a:latin typeface="+mn-lt"/>
                <a:ea typeface="+mn-ea"/>
                <a:cs typeface="+mn-cs"/>
              </a:rPr>
              <a:t> Define exact success metrics up front. Don't accept vague goals like 'make it faster'. Define metrics like: </a:t>
            </a:r>
            <a:r>
              <a:rPr lang="en-US" sz="1200" i="1" kern="1200" dirty="0">
                <a:solidFill>
                  <a:schemeClr val="tx1"/>
                </a:solidFill>
                <a:effectLst/>
                <a:latin typeface="+mn-lt"/>
                <a:ea typeface="+mn-ea"/>
                <a:cs typeface="+mn-cs"/>
              </a:rPr>
              <a:t>'We need to scale from handling 2,000 tickets/day to 20,000 tickets/day without increasing headcount.'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Security Probing:</a:t>
            </a:r>
            <a:r>
              <a:rPr lang="en-US" sz="1200" kern="1200" dirty="0">
                <a:solidFill>
                  <a:schemeClr val="tx1"/>
                </a:solidFill>
                <a:effectLst/>
                <a:latin typeface="+mn-lt"/>
                <a:ea typeface="+mn-ea"/>
                <a:cs typeface="+mn-cs"/>
              </a:rPr>
              <a:t> Surface strict compliance rules immediately. Can data leave their Virtual Private Cloud (VPC)? Are they bound by HIPAA, GDPR, or industry regulations requiring self-hosted LLMs? </a:t>
            </a:r>
          </a:p>
          <a:p>
            <a:r>
              <a:rPr lang="en-US" sz="1200" kern="1200" dirty="0">
                <a:solidFill>
                  <a:schemeClr val="tx1"/>
                </a:solidFill>
                <a:effectLst/>
                <a:latin typeface="+mn-lt"/>
                <a:ea typeface="+mn-ea"/>
                <a:cs typeface="+mn-cs"/>
              </a:rPr>
              <a:t>If you skip security and scale probing in Phase 1, your architecture will fail in Phase 3.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5</a:t>
            </a:fld>
            <a:endParaRPr lang="en-US"/>
          </a:p>
        </p:txBody>
      </p:sp>
    </p:spTree>
    <p:extLst>
      <p:ext uri="{BB962C8B-B14F-4D97-AF65-F5344CB8AC3E}">
        <p14:creationId xmlns:p14="http://schemas.microsoft.com/office/powerpoint/2010/main" val="3922283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a:t>
            </a:r>
            <a:r>
              <a:rPr lang="en-US" sz="1200" b="1" kern="1200" dirty="0">
                <a:solidFill>
                  <a:schemeClr val="tx1"/>
                </a:solidFill>
                <a:effectLst/>
                <a:latin typeface="+mn-lt"/>
                <a:ea typeface="+mn-ea"/>
                <a:cs typeface="+mn-cs"/>
              </a:rPr>
              <a:t>Phase 2: Rapid Prototyping</a:t>
            </a:r>
            <a:r>
              <a:rPr lang="en-US" sz="1200" kern="1200" dirty="0">
                <a:solidFill>
                  <a:schemeClr val="tx1"/>
                </a:solidFill>
                <a:effectLst/>
                <a:latin typeface="+mn-lt"/>
                <a:ea typeface="+mn-ea"/>
                <a:cs typeface="+mn-cs"/>
              </a:rPr>
              <a:t>. In enterprise sales, 'Time-to-Value' is everything. The faster a client sees a functional demo operating on their context, the faster you build trust. </a:t>
            </a:r>
          </a:p>
          <a:p>
            <a:r>
              <a:rPr lang="en-US" sz="1200" kern="1200" dirty="0">
                <a:solidFill>
                  <a:schemeClr val="tx1"/>
                </a:solidFill>
                <a:effectLst/>
                <a:latin typeface="+mn-lt"/>
                <a:ea typeface="+mn-ea"/>
                <a:cs typeface="+mn-cs"/>
              </a:rPr>
              <a:t>With modern automated coding tools, an MVP must take a maximum of </a:t>
            </a:r>
            <a:r>
              <a:rPr lang="en-US" sz="1200" b="1" kern="1200" dirty="0">
                <a:solidFill>
                  <a:schemeClr val="tx1"/>
                </a:solidFill>
                <a:effectLst/>
                <a:latin typeface="+mn-lt"/>
                <a:ea typeface="+mn-ea"/>
                <a:cs typeface="+mn-cs"/>
              </a:rPr>
              <a:t>5 working days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During this 5-day cycle, the FDE focuses on validating </a:t>
            </a:r>
            <a:r>
              <a:rPr lang="en-US" sz="1200" b="1" kern="1200" dirty="0">
                <a:solidFill>
                  <a:schemeClr val="tx1"/>
                </a:solidFill>
                <a:effectLst/>
                <a:latin typeface="+mn-lt"/>
                <a:ea typeface="+mn-ea"/>
                <a:cs typeface="+mn-cs"/>
              </a:rPr>
              <a:t>Three Core MVP Objectives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Pane 1: Intent Recognition.</a:t>
            </a:r>
            <a:r>
              <a:rPr lang="en-US" sz="1200" kern="1200" dirty="0">
                <a:solidFill>
                  <a:schemeClr val="tx1"/>
                </a:solidFill>
                <a:effectLst/>
                <a:latin typeface="+mn-lt"/>
                <a:ea typeface="+mn-ea"/>
                <a:cs typeface="+mn-cs"/>
              </a:rPr>
              <a:t> Can the AI agent accurately interpret complex human language queries and categorize the underlying request correctly? </a:t>
            </a:r>
          </a:p>
          <a:p>
            <a:pPr lvl="0"/>
            <a:r>
              <a:rPr lang="en-US" sz="1200" b="1" kern="1200" dirty="0">
                <a:solidFill>
                  <a:schemeClr val="tx1"/>
                </a:solidFill>
                <a:effectLst/>
                <a:latin typeface="+mn-lt"/>
                <a:ea typeface="+mn-ea"/>
                <a:cs typeface="+mn-cs"/>
              </a:rPr>
              <a:t>Pane 2: Data Retrieval.</a:t>
            </a:r>
            <a:r>
              <a:rPr lang="en-US" sz="1200" kern="1200" dirty="0">
                <a:solidFill>
                  <a:schemeClr val="tx1"/>
                </a:solidFill>
                <a:effectLst/>
                <a:latin typeface="+mn-lt"/>
                <a:ea typeface="+mn-ea"/>
                <a:cs typeface="+mn-cs"/>
              </a:rPr>
              <a:t> Can the agent securely fetch contextually accurate data from knowledge bases or enterprise APIs without hallucinating? </a:t>
            </a:r>
          </a:p>
          <a:p>
            <a:pPr lvl="0"/>
            <a:r>
              <a:rPr lang="en-US" sz="1200" b="1" kern="1200" dirty="0">
                <a:solidFill>
                  <a:schemeClr val="tx1"/>
                </a:solidFill>
                <a:effectLst/>
                <a:latin typeface="+mn-lt"/>
                <a:ea typeface="+mn-ea"/>
                <a:cs typeface="+mn-cs"/>
              </a:rPr>
              <a:t>Pane 3: Fallback Logic.</a:t>
            </a:r>
            <a:r>
              <a:rPr lang="en-US" sz="1200" kern="1200" dirty="0">
                <a:solidFill>
                  <a:schemeClr val="tx1"/>
                </a:solidFill>
                <a:effectLst/>
                <a:latin typeface="+mn-lt"/>
                <a:ea typeface="+mn-ea"/>
                <a:cs typeface="+mn-cs"/>
              </a:rPr>
              <a:t> No AI model is 100% perfect. Does the system gracefully catch low-confidence queries or edge cases and hand them off to a human-in-the-loop seamless escalation route? </a:t>
            </a:r>
          </a:p>
          <a:p>
            <a:r>
              <a:rPr lang="en-US" sz="1200" kern="1200" dirty="0">
                <a:solidFill>
                  <a:schemeClr val="tx1"/>
                </a:solidFill>
                <a:effectLst/>
                <a:latin typeface="+mn-lt"/>
                <a:ea typeface="+mn-ea"/>
                <a:cs typeface="+mn-cs"/>
              </a:rPr>
              <a:t>Achieving these three objectives within 5 days proves technical viability to stakeholders before committing major budget to production rollout.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6</a:t>
            </a:fld>
            <a:endParaRPr lang="en-US"/>
          </a:p>
        </p:txBody>
      </p:sp>
    </p:spTree>
    <p:extLst>
      <p:ext uri="{BB962C8B-B14F-4D97-AF65-F5344CB8AC3E}">
        <p14:creationId xmlns:p14="http://schemas.microsoft.com/office/powerpoint/2010/main" val="2640071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transitioning from an MVP to a full production deployment, an FDE relies on </a:t>
            </a:r>
            <a:r>
              <a:rPr lang="en-US" sz="1200" b="1" kern="1200" dirty="0">
                <a:solidFill>
                  <a:schemeClr val="tx1"/>
                </a:solidFill>
                <a:effectLst/>
                <a:latin typeface="+mn-lt"/>
                <a:ea typeface="+mn-ea"/>
                <a:cs typeface="+mn-cs"/>
              </a:rPr>
              <a:t>The 7-Pillar Architecture Matrix</a:t>
            </a:r>
            <a:r>
              <a:rPr lang="en-US" sz="1200" kern="1200" dirty="0">
                <a:solidFill>
                  <a:schemeClr val="tx1"/>
                </a:solidFill>
                <a:effectLst/>
                <a:latin typeface="+mn-lt"/>
                <a:ea typeface="+mn-ea"/>
                <a:cs typeface="+mn-cs"/>
              </a:rPr>
              <a:t>. This is the master checklist for enterprise durability: </a:t>
            </a:r>
          </a:p>
          <a:p>
            <a:pPr marL="228600" lvl="0" indent="-228600">
              <a:buFont typeface="+mj-lt"/>
              <a:buAutoNum type="arabicPeriod"/>
            </a:pPr>
            <a:r>
              <a:rPr lang="en-US" sz="1200" b="1" kern="1200" dirty="0">
                <a:solidFill>
                  <a:schemeClr val="tx1"/>
                </a:solidFill>
                <a:effectLst/>
                <a:latin typeface="+mn-lt"/>
                <a:ea typeface="+mn-ea"/>
                <a:cs typeface="+mn-cs"/>
              </a:rPr>
              <a:t>System &amp; Flow:</a:t>
            </a:r>
            <a:r>
              <a:rPr lang="en-US" sz="1200" kern="1200" dirty="0">
                <a:solidFill>
                  <a:schemeClr val="tx1"/>
                </a:solidFill>
                <a:effectLst/>
                <a:latin typeface="+mn-lt"/>
                <a:ea typeface="+mn-ea"/>
                <a:cs typeface="+mn-cs"/>
              </a:rPr>
              <a:t> Mapping the end-to-end data journey and standardizing canonical interaction objects across services. </a:t>
            </a:r>
          </a:p>
          <a:p>
            <a:pPr marL="228600" lvl="0" indent="-228600">
              <a:buFont typeface="+mj-lt"/>
              <a:buAutoNum type="arabicPeriod"/>
            </a:pPr>
            <a:r>
              <a:rPr lang="en-US" sz="1200" b="1" kern="1200" dirty="0">
                <a:solidFill>
                  <a:schemeClr val="tx1"/>
                </a:solidFill>
                <a:effectLst/>
                <a:latin typeface="+mn-lt"/>
                <a:ea typeface="+mn-ea"/>
                <a:cs typeface="+mn-cs"/>
              </a:rPr>
              <a:t>API Design:</a:t>
            </a:r>
            <a:r>
              <a:rPr lang="en-US" sz="1200" kern="1200" dirty="0">
                <a:solidFill>
                  <a:schemeClr val="tx1"/>
                </a:solidFill>
                <a:effectLst/>
                <a:latin typeface="+mn-lt"/>
                <a:ea typeface="+mn-ea"/>
                <a:cs typeface="+mn-cs"/>
              </a:rPr>
              <a:t> Designing secure, performant communication protocols using REST for external client interfaces and </a:t>
            </a:r>
            <a:r>
              <a:rPr lang="en-US" sz="1200" kern="1200" dirty="0" err="1">
                <a:solidFill>
                  <a:schemeClr val="tx1"/>
                </a:solidFill>
                <a:effectLst/>
                <a:latin typeface="+mn-lt"/>
                <a:ea typeface="+mn-ea"/>
                <a:cs typeface="+mn-cs"/>
              </a:rPr>
              <a:t>gRPC</a:t>
            </a:r>
            <a:r>
              <a:rPr lang="en-US" sz="1200" kern="1200" dirty="0">
                <a:solidFill>
                  <a:schemeClr val="tx1"/>
                </a:solidFill>
                <a:effectLst/>
                <a:latin typeface="+mn-lt"/>
                <a:ea typeface="+mn-ea"/>
                <a:cs typeface="+mn-cs"/>
              </a:rPr>
              <a:t> for low-latency internal microservice communication. </a:t>
            </a:r>
          </a:p>
          <a:p>
            <a:pPr marL="228600" lvl="0" indent="-228600">
              <a:buFont typeface="+mj-lt"/>
              <a:buAutoNum type="arabicPeriod"/>
            </a:pPr>
            <a:r>
              <a:rPr lang="en-US" sz="1200" b="1" kern="1200" dirty="0">
                <a:solidFill>
                  <a:schemeClr val="tx1"/>
                </a:solidFill>
                <a:effectLst/>
                <a:latin typeface="+mn-lt"/>
                <a:ea typeface="+mn-ea"/>
                <a:cs typeface="+mn-cs"/>
              </a:rPr>
              <a:t>Database Layer:</a:t>
            </a:r>
            <a:r>
              <a:rPr lang="en-US" sz="1200" kern="1200" dirty="0">
                <a:solidFill>
                  <a:schemeClr val="tx1"/>
                </a:solidFill>
                <a:effectLst/>
                <a:latin typeface="+mn-lt"/>
                <a:ea typeface="+mn-ea"/>
                <a:cs typeface="+mn-cs"/>
              </a:rPr>
              <a:t> Architecting multi-paradigm storage—combining relational SQL databases, document-based NoSQL, high-dimensional Vector databases for RAG, and Graph databases for complex entity relationships. </a:t>
            </a:r>
          </a:p>
          <a:p>
            <a:pPr marL="228600" lvl="0" indent="-228600">
              <a:buFont typeface="+mj-lt"/>
              <a:buAutoNum type="arabicPeriod"/>
            </a:pPr>
            <a:r>
              <a:rPr lang="en-US" sz="1200" b="1" kern="1200" dirty="0">
                <a:solidFill>
                  <a:schemeClr val="tx1"/>
                </a:solidFill>
                <a:effectLst/>
                <a:latin typeface="+mn-lt"/>
                <a:ea typeface="+mn-ea"/>
                <a:cs typeface="+mn-cs"/>
              </a:rPr>
              <a:t>Cloud Infra:</a:t>
            </a:r>
            <a:r>
              <a:rPr lang="en-US" sz="1200" kern="1200" dirty="0">
                <a:solidFill>
                  <a:schemeClr val="tx1"/>
                </a:solidFill>
                <a:effectLst/>
                <a:latin typeface="+mn-lt"/>
                <a:ea typeface="+mn-ea"/>
                <a:cs typeface="+mn-cs"/>
              </a:rPr>
              <a:t> Component mapping across AWS, GCP, or Azure, and codifying the entire setup using Infrastructure-as-Code tools like Terraform. </a:t>
            </a:r>
          </a:p>
          <a:p>
            <a:pPr marL="228600" lvl="0" indent="-228600">
              <a:buFont typeface="+mj-lt"/>
              <a:buAutoNum type="arabicPeriod"/>
            </a:pPr>
            <a:r>
              <a:rPr lang="en-US" sz="1200" b="1" kern="1200" dirty="0">
                <a:solidFill>
                  <a:schemeClr val="tx1"/>
                </a:solidFill>
                <a:effectLst/>
                <a:latin typeface="+mn-lt"/>
                <a:ea typeface="+mn-ea"/>
                <a:cs typeface="+mn-cs"/>
              </a:rPr>
              <a:t>AI/LLM Stack:</a:t>
            </a:r>
            <a:r>
              <a:rPr lang="en-US" sz="1200" kern="1200" dirty="0">
                <a:solidFill>
                  <a:schemeClr val="tx1"/>
                </a:solidFill>
                <a:effectLst/>
                <a:latin typeface="+mn-lt"/>
                <a:ea typeface="+mn-ea"/>
                <a:cs typeface="+mn-cs"/>
              </a:rPr>
              <a:t> Managing agent orchestration, routing models based on query complexity, and balancing self-hosted open models vs. proprietary external APIs. </a:t>
            </a:r>
          </a:p>
          <a:p>
            <a:pPr marL="228600" lvl="0" indent="-228600">
              <a:buFont typeface="+mj-lt"/>
              <a:buAutoNum type="arabicPeriod"/>
            </a:pPr>
            <a:r>
              <a:rPr lang="en-US" sz="1200" b="1" kern="1200" dirty="0">
                <a:solidFill>
                  <a:schemeClr val="tx1"/>
                </a:solidFill>
                <a:effectLst/>
                <a:latin typeface="+mn-lt"/>
                <a:ea typeface="+mn-ea"/>
                <a:cs typeface="+mn-cs"/>
              </a:rPr>
              <a:t>Auth &amp; Security:</a:t>
            </a:r>
            <a:r>
              <a:rPr lang="en-US" sz="1200" kern="1200" dirty="0">
                <a:solidFill>
                  <a:schemeClr val="tx1"/>
                </a:solidFill>
                <a:effectLst/>
                <a:latin typeface="+mn-lt"/>
                <a:ea typeface="+mn-ea"/>
                <a:cs typeface="+mn-cs"/>
              </a:rPr>
              <a:t> Implementing enterprise-grade Role-Based Access Control (RBAC) and OpenID Connect (OIDC) authentication. </a:t>
            </a:r>
          </a:p>
          <a:p>
            <a:pPr marL="228600" lvl="0" indent="-228600">
              <a:buFont typeface="+mj-lt"/>
              <a:buAutoNum type="arabicPeriod"/>
            </a:pPr>
            <a:r>
              <a:rPr lang="en-US" sz="1200" b="1" kern="1200" dirty="0">
                <a:solidFill>
                  <a:schemeClr val="tx1"/>
                </a:solidFill>
                <a:effectLst/>
                <a:latin typeface="+mn-lt"/>
                <a:ea typeface="+mn-ea"/>
                <a:cs typeface="+mn-cs"/>
              </a:rPr>
              <a:t>Evals &amp; Testing:</a:t>
            </a:r>
            <a:r>
              <a:rPr lang="en-US" sz="1200" kern="1200" dirty="0">
                <a:solidFill>
                  <a:schemeClr val="tx1"/>
                </a:solidFill>
                <a:effectLst/>
                <a:latin typeface="+mn-lt"/>
                <a:ea typeface="+mn-ea"/>
                <a:cs typeface="+mn-cs"/>
              </a:rPr>
              <a:t> Establishing continuous LLM evaluation benchmarks and automated CI/CD unit/integration testing pipelines.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7</a:t>
            </a:fld>
            <a:endParaRPr lang="en-US"/>
          </a:p>
        </p:txBody>
      </p:sp>
    </p:spTree>
    <p:extLst>
      <p:ext uri="{BB962C8B-B14F-4D97-AF65-F5344CB8AC3E}">
        <p14:creationId xmlns:p14="http://schemas.microsoft.com/office/powerpoint/2010/main" val="3395104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execute on the 7-Pillar Architecture, an FDE must be grounded in a solid technical foundation. We structure the tech stack across six layers, starting with </a:t>
            </a:r>
            <a:r>
              <a:rPr lang="en-US" sz="1200" b="1" kern="1200" dirty="0">
                <a:solidFill>
                  <a:schemeClr val="tx1"/>
                </a:solidFill>
                <a:effectLst/>
                <a:latin typeface="+mn-lt"/>
                <a:ea typeface="+mn-ea"/>
                <a:cs typeface="+mn-cs"/>
              </a:rPr>
              <a:t>Layers 1 through 3</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1: Programming Foundation.</a:t>
            </a:r>
            <a:r>
              <a:rPr lang="en-US" sz="1200" kern="1200" dirty="0">
                <a:solidFill>
                  <a:schemeClr val="tx1"/>
                </a:solidFill>
                <a:effectLst/>
                <a:latin typeface="+mn-lt"/>
                <a:ea typeface="+mn-ea"/>
                <a:cs typeface="+mn-cs"/>
              </a:rPr>
              <a:t> Python and TypeScript are non-negotiable. </a:t>
            </a:r>
            <a:r>
              <a:rPr lang="en-US" sz="1200" kern="1200" dirty="0" err="1">
                <a:solidFill>
                  <a:schemeClr val="tx1"/>
                </a:solidFill>
                <a:effectLst/>
                <a:latin typeface="+mn-lt"/>
                <a:ea typeface="+mn-ea"/>
                <a:cs typeface="+mn-cs"/>
              </a:rPr>
              <a:t>FastAPI</a:t>
            </a:r>
            <a:r>
              <a:rPr lang="en-US" sz="1200" kern="1200" dirty="0">
                <a:solidFill>
                  <a:schemeClr val="tx1"/>
                </a:solidFill>
                <a:effectLst/>
                <a:latin typeface="+mn-lt"/>
                <a:ea typeface="+mn-ea"/>
                <a:cs typeface="+mn-cs"/>
              </a:rPr>
              <a:t> and Node.js form the foundation for lightweight, high-concurrency web services, backed by strict version control practices using Git and GitHub.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2: System Design.</a:t>
            </a:r>
            <a:r>
              <a:rPr lang="en-US" sz="1200" kern="1200" dirty="0">
                <a:solidFill>
                  <a:schemeClr val="tx1"/>
                </a:solidFill>
                <a:effectLst/>
                <a:latin typeface="+mn-lt"/>
                <a:ea typeface="+mn-ea"/>
                <a:cs typeface="+mn-cs"/>
              </a:rPr>
              <a:t> An FDE must understand microservices architecture, REST and </a:t>
            </a:r>
            <a:r>
              <a:rPr lang="en-US" sz="1200" kern="1200" dirty="0" err="1">
                <a:solidFill>
                  <a:schemeClr val="tx1"/>
                </a:solidFill>
                <a:effectLst/>
                <a:latin typeface="+mn-lt"/>
                <a:ea typeface="+mn-ea"/>
                <a:cs typeface="+mn-cs"/>
              </a:rPr>
              <a:t>gRPC</a:t>
            </a:r>
            <a:r>
              <a:rPr lang="en-US" sz="1200" kern="1200" dirty="0">
                <a:solidFill>
                  <a:schemeClr val="tx1"/>
                </a:solidFill>
                <a:effectLst/>
                <a:latin typeface="+mn-lt"/>
                <a:ea typeface="+mn-ea"/>
                <a:cs typeface="+mn-cs"/>
              </a:rPr>
              <a:t> protocols, event-driven streaming with Apache Kafka, and high-performance caching layers using Redis to handle distributed workloads.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3: Cloud &amp; Ops.</a:t>
            </a:r>
            <a:r>
              <a:rPr lang="en-US" sz="1200" kern="1200" dirty="0">
                <a:solidFill>
                  <a:schemeClr val="tx1"/>
                </a:solidFill>
                <a:effectLst/>
                <a:latin typeface="+mn-lt"/>
                <a:ea typeface="+mn-ea"/>
                <a:cs typeface="+mn-cs"/>
              </a:rPr>
              <a:t> Modern deployment relies on containerization with Docker and orchestration via Kubernetes. Crucially, infrastructure must be defined declaratively using Terraform, enabling automated, reproducible deployments across AWS, GCP, or Azure through automated CI/CD pipelines.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8</a:t>
            </a:fld>
            <a:endParaRPr lang="en-US"/>
          </a:p>
        </p:txBody>
      </p:sp>
    </p:spTree>
    <p:extLst>
      <p:ext uri="{BB962C8B-B14F-4D97-AF65-F5344CB8AC3E}">
        <p14:creationId xmlns:p14="http://schemas.microsoft.com/office/powerpoint/2010/main" val="1674415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the top three layers—</a:t>
            </a:r>
            <a:r>
              <a:rPr lang="en-US" sz="1200" b="1" kern="1200" dirty="0">
                <a:solidFill>
                  <a:schemeClr val="tx1"/>
                </a:solidFill>
                <a:effectLst/>
                <a:latin typeface="+mn-lt"/>
                <a:ea typeface="+mn-ea"/>
                <a:cs typeface="+mn-cs"/>
              </a:rPr>
              <a:t>Layers 4 through 6</a:t>
            </a:r>
            <a:r>
              <a:rPr lang="en-US" sz="1200" kern="1200" dirty="0">
                <a:solidFill>
                  <a:schemeClr val="tx1"/>
                </a:solidFill>
                <a:effectLst/>
                <a:latin typeface="+mn-lt"/>
                <a:ea typeface="+mn-ea"/>
                <a:cs typeface="+mn-cs"/>
              </a:rPr>
              <a:t>—which represent the modern edge of AI engineering and business strategy: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4: Data Engineering.</a:t>
            </a:r>
            <a:r>
              <a:rPr lang="en-US" sz="1200" kern="1200" dirty="0">
                <a:solidFill>
                  <a:schemeClr val="tx1"/>
                </a:solidFill>
                <a:effectLst/>
                <a:latin typeface="+mn-lt"/>
                <a:ea typeface="+mn-ea"/>
                <a:cs typeface="+mn-cs"/>
              </a:rPr>
              <a:t> Enterprise AI is only as good as the underlying data pipelines. FDEs manage structured data in PostgreSQL, unstructured data in MongoDB, build robust ETL pipelines, and construct custom data connectors for enterprise platforms.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5: AI &amp; LLM Engineering.</a:t>
            </a:r>
            <a:r>
              <a:rPr lang="en-US" sz="1200" kern="1200" dirty="0">
                <a:solidFill>
                  <a:schemeClr val="tx1"/>
                </a:solidFill>
                <a:effectLst/>
                <a:latin typeface="+mn-lt"/>
                <a:ea typeface="+mn-ea"/>
                <a:cs typeface="+mn-cs"/>
              </a:rPr>
              <a:t> This layer covers advanced agentic capabilities: self-hosting models with high-throughput engines like </a:t>
            </a:r>
            <a:r>
              <a:rPr lang="en-US" sz="1200" kern="1200" dirty="0" err="1">
                <a:solidFill>
                  <a:schemeClr val="tx1"/>
                </a:solidFill>
                <a:effectLst/>
                <a:latin typeface="+mn-lt"/>
                <a:ea typeface="+mn-ea"/>
                <a:cs typeface="+mn-cs"/>
              </a:rPr>
              <a:t>vLLM</a:t>
            </a:r>
            <a:r>
              <a:rPr lang="en-US" sz="1200" kern="1200" dirty="0">
                <a:solidFill>
                  <a:schemeClr val="tx1"/>
                </a:solidFill>
                <a:effectLst/>
                <a:latin typeface="+mn-lt"/>
                <a:ea typeface="+mn-ea"/>
                <a:cs typeface="+mn-cs"/>
              </a:rPr>
              <a:t>, fine-tuning, vector embeddings, Agentic RAG, function tool calling, Model Context Protocol (MCP), and automated LLM evaluations.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6: Customer Engineering.</a:t>
            </a:r>
            <a:r>
              <a:rPr lang="en-US" sz="1200" kern="1200" dirty="0">
                <a:solidFill>
                  <a:schemeClr val="tx1"/>
                </a:solidFill>
                <a:effectLst/>
                <a:latin typeface="+mn-lt"/>
                <a:ea typeface="+mn-ea"/>
                <a:cs typeface="+mn-cs"/>
              </a:rPr>
              <a:t> The topmost layer links tech back to business value. It encompasses requirement gathering, quantitative ROI modeling, formal PRD authoring, and presenting complex technical architecture clearly to executive board members.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9</a:t>
            </a:fld>
            <a:endParaRPr lang="en-US"/>
          </a:p>
        </p:txBody>
      </p:sp>
    </p:spTree>
    <p:extLst>
      <p:ext uri="{BB962C8B-B14F-4D97-AF65-F5344CB8AC3E}">
        <p14:creationId xmlns:p14="http://schemas.microsoft.com/office/powerpoint/2010/main" val="3543221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speak to enterprise CTOs or Chief Risk Officers, you will encounter the exact same roadblock: </a:t>
            </a:r>
            <a:r>
              <a:rPr lang="en-US" sz="1200" i="1" kern="1200" dirty="0">
                <a:solidFill>
                  <a:schemeClr val="tx1"/>
                </a:solidFill>
                <a:effectLst/>
                <a:latin typeface="+mn-lt"/>
                <a:ea typeface="+mn-ea"/>
                <a:cs typeface="+mn-cs"/>
              </a:rPr>
              <a:t>'We cannot send our confidential customer data or internal IP to external, third-party OpenAI or Anthropic public endpoints.'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Public API endpoints run on shared infrastructure, raising data retention, privacy, and regulatory compliance risks. </a:t>
            </a:r>
          </a:p>
          <a:p>
            <a:r>
              <a:rPr lang="en-US" sz="1200" b="1" kern="1200" dirty="0">
                <a:solidFill>
                  <a:schemeClr val="tx1"/>
                </a:solidFill>
                <a:effectLst/>
                <a:latin typeface="+mn-lt"/>
                <a:ea typeface="+mn-ea"/>
                <a:cs typeface="+mn-cs"/>
              </a:rPr>
              <a:t>The FDE Solution:</a:t>
            </a:r>
            <a:r>
              <a:rPr lang="en-US" sz="1200" kern="1200" dirty="0">
                <a:solidFill>
                  <a:schemeClr val="tx1"/>
                </a:solidFill>
                <a:effectLst/>
                <a:latin typeface="+mn-lt"/>
                <a:ea typeface="+mn-ea"/>
                <a:cs typeface="+mn-cs"/>
              </a:rPr>
              <a:t> An FDE designs airtight data-privacy architectures. Instead of relying exclusively on public cloud APIs, FDEs deploy lightweight, highly capable open-weights LLMs using serving frameworks like </a:t>
            </a:r>
            <a:r>
              <a:rPr lang="en-US" sz="1200" b="1" kern="1200" dirty="0" err="1">
                <a:solidFill>
                  <a:schemeClr val="tx1"/>
                </a:solidFill>
                <a:effectLst/>
                <a:latin typeface="+mn-lt"/>
                <a:ea typeface="+mn-ea"/>
                <a:cs typeface="+mn-cs"/>
              </a:rPr>
              <a:t>vLLM</a:t>
            </a:r>
            <a:r>
              <a:rPr lang="en-US" sz="1200" kern="1200" dirty="0">
                <a:solidFill>
                  <a:schemeClr val="tx1"/>
                </a:solidFill>
                <a:effectLst/>
                <a:latin typeface="+mn-lt"/>
                <a:ea typeface="+mn-ea"/>
                <a:cs typeface="+mn-cs"/>
              </a:rPr>
              <a:t> directly onto isolated, private GPU instances inside the client’s own Virtual Private Cloud (VPC). </a:t>
            </a:r>
          </a:p>
          <a:p>
            <a:r>
              <a:rPr lang="en-US" sz="1200" kern="1200" dirty="0">
                <a:solidFill>
                  <a:schemeClr val="tx1"/>
                </a:solidFill>
                <a:effectLst/>
                <a:latin typeface="+mn-lt"/>
                <a:ea typeface="+mn-ea"/>
                <a:cs typeface="+mn-cs"/>
              </a:rPr>
              <a:t>This guarantees </a:t>
            </a:r>
            <a:r>
              <a:rPr lang="en-US" sz="1200" b="1" kern="1200" dirty="0">
                <a:solidFill>
                  <a:schemeClr val="tx1"/>
                </a:solidFill>
                <a:effectLst/>
                <a:latin typeface="+mn-lt"/>
                <a:ea typeface="+mn-ea"/>
                <a:cs typeface="+mn-cs"/>
              </a:rPr>
              <a:t>100% data retention inside the client's secure perimeter</a:t>
            </a:r>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Golden Rule:</a:t>
            </a:r>
            <a:r>
              <a:rPr lang="en-US" sz="1200" kern="1200" dirty="0">
                <a:solidFill>
                  <a:schemeClr val="tx1"/>
                </a:solidFill>
                <a:effectLst/>
                <a:latin typeface="+mn-lt"/>
                <a:ea typeface="+mn-ea"/>
                <a:cs typeface="+mn-cs"/>
              </a:rPr>
              <a:t> Never present an enterprise AI solution without a pre-defined, secure data-privacy architecture.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10</a:t>
            </a:fld>
            <a:endParaRPr lang="en-US"/>
          </a:p>
        </p:txBody>
      </p:sp>
    </p:spTree>
    <p:extLst>
      <p:ext uri="{BB962C8B-B14F-4D97-AF65-F5344CB8AC3E}">
        <p14:creationId xmlns:p14="http://schemas.microsoft.com/office/powerpoint/2010/main" val="1876690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an FDE writes production code for an enterprise system, they establish the single source of truth: </a:t>
            </a:r>
            <a:r>
              <a:rPr lang="en-US" sz="1200" b="1" kern="1200" dirty="0">
                <a:solidFill>
                  <a:schemeClr val="tx1"/>
                </a:solidFill>
                <a:effectLst/>
                <a:latin typeface="+mn-lt"/>
                <a:ea typeface="+mn-ea"/>
                <a:cs typeface="+mn-cs"/>
              </a:rPr>
              <a:t>The 40-Page Product Requirements Document (PRD)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document bridges business stakeholders and engineering execution across four mandatory sections: </a:t>
            </a:r>
          </a:p>
          <a:p>
            <a:pPr marL="228600" lvl="0" indent="-228600">
              <a:buFont typeface="+mj-lt"/>
              <a:buAutoNum type="arabicPeriod"/>
            </a:pPr>
            <a:r>
              <a:rPr lang="en-US" sz="1200" b="1" kern="1200" dirty="0">
                <a:solidFill>
                  <a:schemeClr val="tx1"/>
                </a:solidFill>
                <a:effectLst/>
                <a:latin typeface="+mn-lt"/>
                <a:ea typeface="+mn-ea"/>
                <a:cs typeface="+mn-cs"/>
              </a:rPr>
              <a:t>Business Context:</a:t>
            </a:r>
            <a:r>
              <a:rPr lang="en-US" sz="1200" kern="1200" dirty="0">
                <a:solidFill>
                  <a:schemeClr val="tx1"/>
                </a:solidFill>
                <a:effectLst/>
                <a:latin typeface="+mn-lt"/>
                <a:ea typeface="+mn-ea"/>
                <a:cs typeface="+mn-cs"/>
              </a:rPr>
              <a:t> Outlining core operational pain points, legacy software constraints, baseline metrics, and targeted success KPIs. </a:t>
            </a:r>
          </a:p>
          <a:p>
            <a:pPr marL="228600" lvl="0" indent="-228600">
              <a:buFont typeface="+mj-lt"/>
              <a:buAutoNum type="arabicPeriod"/>
            </a:pPr>
            <a:r>
              <a:rPr lang="en-US" sz="1200" b="1" kern="1200" dirty="0">
                <a:solidFill>
                  <a:schemeClr val="tx1"/>
                </a:solidFill>
                <a:effectLst/>
                <a:latin typeface="+mn-lt"/>
                <a:ea typeface="+mn-ea"/>
                <a:cs typeface="+mn-cs"/>
              </a:rPr>
              <a:t>Technical Specifications:</a:t>
            </a:r>
            <a:r>
              <a:rPr lang="en-US" sz="1200" kern="1200" dirty="0">
                <a:solidFill>
                  <a:schemeClr val="tx1"/>
                </a:solidFill>
                <a:effectLst/>
                <a:latin typeface="+mn-lt"/>
                <a:ea typeface="+mn-ea"/>
                <a:cs typeface="+mn-cs"/>
              </a:rPr>
              <a:t> Containing the High-Level Design (HLD), Low-Level Design (LLD), database ER diagrams, API schemas, and the 7-Pillar Architecture Matrix. </a:t>
            </a:r>
          </a:p>
          <a:p>
            <a:pPr marL="228600" lvl="0" indent="-228600">
              <a:buFont typeface="+mj-lt"/>
              <a:buAutoNum type="arabicPeriod"/>
            </a:pPr>
            <a:r>
              <a:rPr lang="en-US" sz="1200" b="1" kern="1200" dirty="0">
                <a:solidFill>
                  <a:schemeClr val="tx1"/>
                </a:solidFill>
                <a:effectLst/>
                <a:latin typeface="+mn-lt"/>
                <a:ea typeface="+mn-ea"/>
                <a:cs typeface="+mn-cs"/>
              </a:rPr>
              <a:t>Delivery Timeline:</a:t>
            </a:r>
            <a:r>
              <a:rPr lang="en-US" sz="1200" kern="1200" dirty="0">
                <a:solidFill>
                  <a:schemeClr val="tx1"/>
                </a:solidFill>
                <a:effectLst/>
                <a:latin typeface="+mn-lt"/>
                <a:ea typeface="+mn-ea"/>
                <a:cs typeface="+mn-cs"/>
              </a:rPr>
              <a:t> Clear sprint breakdowns, go-live target dates (such as a 26-week enterprise rollout schedule), and post-deployment Hypercare support protocols. </a:t>
            </a:r>
          </a:p>
          <a:p>
            <a:pPr marL="228600" lvl="0" indent="-228600">
              <a:buFont typeface="+mj-lt"/>
              <a:buAutoNum type="arabicPeriod"/>
            </a:pPr>
            <a:r>
              <a:rPr lang="en-US" sz="1200" b="1" kern="1200" dirty="0">
                <a:solidFill>
                  <a:schemeClr val="tx1"/>
                </a:solidFill>
                <a:effectLst/>
                <a:latin typeface="+mn-lt"/>
                <a:ea typeface="+mn-ea"/>
                <a:cs typeface="+mn-cs"/>
              </a:rPr>
              <a:t>Commercials:</a:t>
            </a:r>
            <a:r>
              <a:rPr lang="en-US" sz="1200" kern="1200" dirty="0">
                <a:solidFill>
                  <a:schemeClr val="tx1"/>
                </a:solidFill>
                <a:effectLst/>
                <a:latin typeface="+mn-lt"/>
                <a:ea typeface="+mn-ea"/>
                <a:cs typeface="+mn-cs"/>
              </a:rPr>
              <a:t> Financial cost estimations, infrastructure expenses, implementation payment milestones, and unit economic projections. </a:t>
            </a:r>
          </a:p>
          <a:p>
            <a:r>
              <a:rPr lang="en-US" sz="1200" kern="1200" dirty="0">
                <a:solidFill>
                  <a:schemeClr val="tx1"/>
                </a:solidFill>
                <a:effectLst/>
                <a:latin typeface="+mn-lt"/>
                <a:ea typeface="+mn-ea"/>
                <a:cs typeface="+mn-cs"/>
              </a:rPr>
              <a:t>With a thorough PRD, there is zero ambiguity during implementation.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11</a:t>
            </a:fld>
            <a:endParaRPr lang="en-US"/>
          </a:p>
        </p:txBody>
      </p:sp>
    </p:spTree>
    <p:extLst>
      <p:ext uri="{BB962C8B-B14F-4D97-AF65-F5344CB8AC3E}">
        <p14:creationId xmlns:p14="http://schemas.microsoft.com/office/powerpoint/2010/main" val="805718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convince enterprise executives, you must speak their language: </a:t>
            </a:r>
            <a:r>
              <a:rPr lang="en-US" sz="1200" b="1" kern="1200" dirty="0">
                <a:solidFill>
                  <a:schemeClr val="tx1"/>
                </a:solidFill>
                <a:effectLst/>
                <a:latin typeface="+mn-lt"/>
                <a:ea typeface="+mn-ea"/>
                <a:cs typeface="+mn-cs"/>
              </a:rPr>
              <a:t>Unit Economics and ROI</a:t>
            </a:r>
            <a:r>
              <a:rPr lang="en-US" sz="1200" kern="1200" dirty="0">
                <a:solidFill>
                  <a:schemeClr val="tx1"/>
                </a:solidFill>
                <a:effectLst/>
                <a:latin typeface="+mn-lt"/>
                <a:ea typeface="+mn-ea"/>
                <a:cs typeface="+mn-cs"/>
              </a:rPr>
              <a:t>. Let's walk through an actual case study—</a:t>
            </a:r>
            <a:r>
              <a:rPr lang="en-US" sz="1200" b="1" kern="1200" dirty="0">
                <a:solidFill>
                  <a:schemeClr val="tx1"/>
                </a:solidFill>
                <a:effectLst/>
                <a:latin typeface="+mn-lt"/>
                <a:ea typeface="+mn-ea"/>
                <a:cs typeface="+mn-cs"/>
              </a:rPr>
              <a:t>Project Setu</a:t>
            </a:r>
            <a:r>
              <a:rPr lang="en-US" sz="1200" kern="1200" dirty="0">
                <a:solidFill>
                  <a:schemeClr val="tx1"/>
                </a:solidFill>
                <a:effectLst/>
                <a:latin typeface="+mn-lt"/>
                <a:ea typeface="+mn-ea"/>
                <a:cs typeface="+mn-cs"/>
              </a:rPr>
              <a:t>—scaling an enterprise service desk to handle 20,000 interactions per day.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Legacy Human Scaling:</a:t>
            </a:r>
            <a:r>
              <a:rPr lang="en-US" sz="1200" kern="1200" dirty="0">
                <a:solidFill>
                  <a:schemeClr val="tx1"/>
                </a:solidFill>
                <a:effectLst/>
                <a:latin typeface="+mn-lt"/>
                <a:ea typeface="+mn-ea"/>
                <a:cs typeface="+mn-cs"/>
              </a:rPr>
              <a:t> To manually handle 20,000 daily tickets, the client required 160 active support agents. At scale, this resulted in an annual operating cost of </a:t>
            </a:r>
            <a:r>
              <a:rPr lang="en-US" sz="1200" b="1" kern="1200" dirty="0">
                <a:solidFill>
                  <a:schemeClr val="tx1"/>
                </a:solidFill>
                <a:effectLst/>
                <a:latin typeface="+mn-lt"/>
                <a:ea typeface="+mn-ea"/>
                <a:cs typeface="+mn-cs"/>
              </a:rPr>
              <a:t>₹8.4 Crore/year</a:t>
            </a:r>
            <a:r>
              <a:rPr lang="en-US" sz="1200" kern="1200" dirty="0">
                <a:solidFill>
                  <a:schemeClr val="tx1"/>
                </a:solidFill>
                <a:effectLst/>
                <a:latin typeface="+mn-lt"/>
                <a:ea typeface="+mn-ea"/>
                <a:cs typeface="+mn-cs"/>
              </a:rPr>
              <a:t>, bringing the cost per interaction to roughly </a:t>
            </a:r>
            <a:r>
              <a:rPr lang="en-US" sz="1200" b="1" kern="1200" dirty="0">
                <a:solidFill>
                  <a:schemeClr val="tx1"/>
                </a:solidFill>
                <a:effectLst/>
                <a:latin typeface="+mn-lt"/>
                <a:ea typeface="+mn-ea"/>
                <a:cs typeface="+mn-cs"/>
              </a:rPr>
              <a:t>₹115 per ticket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AI FDE Solution:</a:t>
            </a:r>
            <a:r>
              <a:rPr lang="en-US" sz="1200" kern="1200" dirty="0">
                <a:solidFill>
                  <a:schemeClr val="tx1"/>
                </a:solidFill>
                <a:effectLst/>
                <a:latin typeface="+mn-lt"/>
                <a:ea typeface="+mn-ea"/>
                <a:cs typeface="+mn-cs"/>
              </a:rPr>
              <a:t> The FDE re-architected the service desk using self-hosted GPU infrastructure combined with intelligent API routing. The annual operational run cost dropped to </a:t>
            </a:r>
            <a:r>
              <a:rPr lang="en-US" sz="1200" b="1" kern="1200" dirty="0">
                <a:solidFill>
                  <a:schemeClr val="tx1"/>
                </a:solidFill>
                <a:effectLst/>
                <a:latin typeface="+mn-lt"/>
                <a:ea typeface="+mn-ea"/>
                <a:cs typeface="+mn-cs"/>
              </a:rPr>
              <a:t>~₹3.8 Crore/year</a:t>
            </a:r>
            <a:r>
              <a:rPr lang="en-US" sz="1200" kern="1200" dirty="0">
                <a:solidFill>
                  <a:schemeClr val="tx1"/>
                </a:solidFill>
                <a:effectLst/>
                <a:latin typeface="+mn-lt"/>
                <a:ea typeface="+mn-ea"/>
                <a:cs typeface="+mn-cs"/>
              </a:rPr>
              <a:t>, reducing the cost per interaction to just </a:t>
            </a:r>
            <a:r>
              <a:rPr lang="en-US" sz="1200" b="1" kern="1200" dirty="0">
                <a:solidFill>
                  <a:schemeClr val="tx1"/>
                </a:solidFill>
                <a:effectLst/>
                <a:latin typeface="+mn-lt"/>
                <a:ea typeface="+mn-ea"/>
                <a:cs typeface="+mn-cs"/>
              </a:rPr>
              <a:t>₹19 per ticket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Business Win:</a:t>
            </a:r>
            <a:r>
              <a:rPr lang="en-US" sz="1200" kern="1200" dirty="0">
                <a:solidFill>
                  <a:schemeClr val="tx1"/>
                </a:solidFill>
                <a:effectLst/>
                <a:latin typeface="+mn-lt"/>
                <a:ea typeface="+mn-ea"/>
                <a:cs typeface="+mn-cs"/>
              </a:rPr>
              <a:t> An </a:t>
            </a:r>
            <a:r>
              <a:rPr lang="en-US" sz="1200" b="1" kern="1200" dirty="0">
                <a:solidFill>
                  <a:schemeClr val="tx1"/>
                </a:solidFill>
                <a:effectLst/>
                <a:latin typeface="+mn-lt"/>
                <a:ea typeface="+mn-ea"/>
                <a:cs typeface="+mn-cs"/>
              </a:rPr>
              <a:t>83% cost reduction per interaction</a:t>
            </a:r>
            <a:r>
              <a:rPr lang="en-US" sz="1200" kern="1200" dirty="0">
                <a:solidFill>
                  <a:schemeClr val="tx1"/>
                </a:solidFill>
                <a:effectLst/>
                <a:latin typeface="+mn-lt"/>
                <a:ea typeface="+mn-ea"/>
                <a:cs typeface="+mn-cs"/>
              </a:rPr>
              <a:t> alongside instantaneous 24/7 scalability. This financial model makes adopting the solution an obvious decision for executive teams.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12</a:t>
            </a:fld>
            <a:endParaRPr lang="en-US"/>
          </a:p>
        </p:txBody>
      </p:sp>
    </p:spTree>
    <p:extLst>
      <p:ext uri="{BB962C8B-B14F-4D97-AF65-F5344CB8AC3E}">
        <p14:creationId xmlns:p14="http://schemas.microsoft.com/office/powerpoint/2010/main" val="3658551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tactical mindset, let's review the core </a:t>
            </a:r>
            <a:r>
              <a:rPr lang="en-US" sz="1200" b="1" kern="1200" dirty="0">
                <a:solidFill>
                  <a:schemeClr val="tx1"/>
                </a:solidFill>
                <a:effectLst/>
                <a:latin typeface="+mn-lt"/>
                <a:ea typeface="+mn-ea"/>
                <a:cs typeface="+mn-cs"/>
              </a:rPr>
              <a:t>FDE Ethos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An FDE operates as a </a:t>
            </a:r>
            <a:r>
              <a:rPr lang="en-US" sz="1200" b="1" kern="1200" dirty="0">
                <a:solidFill>
                  <a:schemeClr val="tx1"/>
                </a:solidFill>
                <a:effectLst/>
                <a:latin typeface="+mn-lt"/>
                <a:ea typeface="+mn-ea"/>
                <a:cs typeface="+mn-cs"/>
              </a:rPr>
              <a:t>one-person deployment strike team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Master Communication</a:t>
            </a:r>
            <a:r>
              <a:rPr lang="en-US" sz="1200" kern="1200" dirty="0">
                <a:solidFill>
                  <a:schemeClr val="tx1"/>
                </a:solidFill>
                <a:effectLst/>
                <a:latin typeface="+mn-lt"/>
                <a:ea typeface="+mn-ea"/>
                <a:cs typeface="+mn-cs"/>
              </a:rPr>
              <a:t> to win client trust and extract real requirements.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Master the AI Tech Stack</a:t>
            </a:r>
            <a:r>
              <a:rPr lang="en-US" sz="1200" kern="1200" dirty="0">
                <a:solidFill>
                  <a:schemeClr val="tx1"/>
                </a:solidFill>
                <a:effectLst/>
                <a:latin typeface="+mn-lt"/>
                <a:ea typeface="+mn-ea"/>
                <a:cs typeface="+mn-cs"/>
              </a:rPr>
              <a:t> to shrink delivery cycles from multi-month projects to days.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Master System Architecture</a:t>
            </a:r>
            <a:r>
              <a:rPr lang="en-US" sz="1200" kern="1200" dirty="0">
                <a:solidFill>
                  <a:schemeClr val="tx1"/>
                </a:solidFill>
                <a:effectLst/>
                <a:latin typeface="+mn-lt"/>
                <a:ea typeface="+mn-ea"/>
                <a:cs typeface="+mn-cs"/>
              </a:rPr>
              <a:t> to guarantee enterprise scale, reliability, and data security.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Master Unit Economics</a:t>
            </a:r>
            <a:r>
              <a:rPr lang="en-US" sz="1200" kern="1200" dirty="0">
                <a:solidFill>
                  <a:schemeClr val="tx1"/>
                </a:solidFill>
                <a:effectLst/>
                <a:latin typeface="+mn-lt"/>
                <a:ea typeface="+mn-ea"/>
                <a:cs typeface="+mn-cs"/>
              </a:rPr>
              <a:t> to provide undeniable financial value to business stakeholders. </a:t>
            </a:r>
          </a:p>
          <a:p>
            <a:r>
              <a:rPr lang="en-US" sz="1200" kern="1200" dirty="0">
                <a:solidFill>
                  <a:schemeClr val="tx1"/>
                </a:solidFill>
                <a:effectLst/>
                <a:latin typeface="+mn-lt"/>
                <a:ea typeface="+mn-ea"/>
                <a:cs typeface="+mn-cs"/>
              </a:rPr>
              <a:t>When you align technical mastery with business acumen, you become an indispensable engineering asset in the AI era.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13</a:t>
            </a:fld>
            <a:endParaRPr lang="en-US"/>
          </a:p>
        </p:txBody>
      </p:sp>
    </p:spTree>
    <p:extLst>
      <p:ext uri="{BB962C8B-B14F-4D97-AF65-F5344CB8AC3E}">
        <p14:creationId xmlns:p14="http://schemas.microsoft.com/office/powerpoint/2010/main" val="3883678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provides a visual comparison contrasting traditional delivery models against the FDE Agentic model: </a:t>
            </a:r>
          </a:p>
          <a:p>
            <a:pPr lvl="0"/>
            <a:r>
              <a:rPr lang="en-US" sz="1200" b="1" kern="1200" dirty="0">
                <a:solidFill>
                  <a:schemeClr val="tx1"/>
                </a:solidFill>
                <a:effectLst/>
                <a:latin typeface="+mn-lt"/>
                <a:ea typeface="+mn-ea"/>
                <a:cs typeface="+mn-cs"/>
              </a:rPr>
              <a:t>Effort &amp; Scalability:</a:t>
            </a:r>
            <a:r>
              <a:rPr lang="en-US" sz="1200" kern="1200" dirty="0">
                <a:solidFill>
                  <a:schemeClr val="tx1"/>
                </a:solidFill>
                <a:effectLst/>
                <a:latin typeface="+mn-lt"/>
                <a:ea typeface="+mn-ea"/>
                <a:cs typeface="+mn-cs"/>
              </a:rPr>
              <a:t> Traditional scaling requires linear effort—adding more human agents as ticket volume grows. The FDE model achieves exponential leverage using AI agent networks. </a:t>
            </a:r>
          </a:p>
          <a:p>
            <a:pPr lvl="0"/>
            <a:r>
              <a:rPr lang="en-US" sz="1200" b="1" kern="1200" dirty="0">
                <a:solidFill>
                  <a:schemeClr val="tx1"/>
                </a:solidFill>
                <a:effectLst/>
                <a:latin typeface="+mn-lt"/>
                <a:ea typeface="+mn-ea"/>
                <a:cs typeface="+mn-cs"/>
              </a:rPr>
              <a:t>Unit Economics:</a:t>
            </a:r>
            <a:r>
              <a:rPr lang="en-US" sz="1200" kern="1200" dirty="0">
                <a:solidFill>
                  <a:schemeClr val="tx1"/>
                </a:solidFill>
                <a:effectLst/>
                <a:latin typeface="+mn-lt"/>
                <a:ea typeface="+mn-ea"/>
                <a:cs typeface="+mn-cs"/>
              </a:rPr>
              <a:t> Traditional support costs remain high (~₹115/interaction), whereas agentic solutions drastically reduce interaction costs (~₹19/interaction). </a:t>
            </a:r>
          </a:p>
          <a:p>
            <a:pPr lvl="0"/>
            <a:r>
              <a:rPr lang="en-US" sz="1200" b="1" kern="1200" dirty="0">
                <a:solidFill>
                  <a:schemeClr val="tx1"/>
                </a:solidFill>
                <a:effectLst/>
                <a:latin typeface="+mn-lt"/>
                <a:ea typeface="+mn-ea"/>
                <a:cs typeface="+mn-cs"/>
              </a:rPr>
              <a:t>Time-to-Value:</a:t>
            </a:r>
            <a:r>
              <a:rPr lang="en-US" sz="1200" kern="1200" dirty="0">
                <a:solidFill>
                  <a:schemeClr val="tx1"/>
                </a:solidFill>
                <a:effectLst/>
                <a:latin typeface="+mn-lt"/>
                <a:ea typeface="+mn-ea"/>
                <a:cs typeface="+mn-cs"/>
              </a:rPr>
              <a:t> Traditional software projects require months to reach MVP. An FDE delivers functional MVP iterations in </a:t>
            </a:r>
            <a:r>
              <a:rPr lang="en-US" sz="1200" b="1" kern="1200" dirty="0">
                <a:solidFill>
                  <a:schemeClr val="tx1"/>
                </a:solidFill>
                <a:effectLst/>
                <a:latin typeface="+mn-lt"/>
                <a:ea typeface="+mn-ea"/>
                <a:cs typeface="+mn-cs"/>
              </a:rPr>
              <a:t>3 to 5 days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Data Security:</a:t>
            </a:r>
            <a:r>
              <a:rPr lang="en-US" sz="1200" kern="1200" dirty="0">
                <a:solidFill>
                  <a:schemeClr val="tx1"/>
                </a:solidFill>
                <a:effectLst/>
                <a:latin typeface="+mn-lt"/>
                <a:ea typeface="+mn-ea"/>
                <a:cs typeface="+mn-cs"/>
              </a:rPr>
              <a:t> Instead of sending raw enterprise data to generic cloud providers, FDEs deploy localized AI models within secured client environments. </a:t>
            </a:r>
          </a:p>
          <a:p>
            <a:endParaRPr lang="en-US" dirty="0"/>
          </a:p>
        </p:txBody>
      </p:sp>
      <p:sp>
        <p:nvSpPr>
          <p:cNvPr id="4" name="Slide Number Placeholder 3"/>
          <p:cNvSpPr>
            <a:spLocks noGrp="1"/>
          </p:cNvSpPr>
          <p:nvPr>
            <p:ph type="sldNum" sz="quarter" idx="5"/>
          </p:nvPr>
        </p:nvSpPr>
        <p:spPr/>
        <p:txBody>
          <a:bodyPr/>
          <a:lstStyle/>
          <a:p>
            <a:fld id="{865E26CE-BF96-4CE8-AAF1-260C20D6267C}" type="slidenum">
              <a:rPr lang="en-US" smtClean="0"/>
              <a:t>14</a:t>
            </a:fld>
            <a:endParaRPr lang="en-US"/>
          </a:p>
        </p:txBody>
      </p:sp>
    </p:spTree>
    <p:extLst>
      <p:ext uri="{BB962C8B-B14F-4D97-AF65-F5344CB8AC3E}">
        <p14:creationId xmlns:p14="http://schemas.microsoft.com/office/powerpoint/2010/main" val="2235219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0FA6E2-FCE9-CAF6-A687-7AAD60348E6D}"/>
              </a:ext>
            </a:extLst>
          </p:cNvPr>
          <p:cNvSpPr>
            <a:spLocks noGrp="1"/>
          </p:cNvSpPr>
          <p:nvPr>
            <p:ph type="dt" sz="half" idx="10"/>
          </p:nvPr>
        </p:nvSpPr>
        <p:spPr/>
        <p:txBody>
          <a:bodyPr/>
          <a:lstStyle/>
          <a:p>
            <a:fld id="{C9207F60-1168-410E-8F2C-02FC0D02AD8E}" type="datetimeFigureOut">
              <a:rPr lang="en-US" smtClean="0"/>
              <a:t>10/21/2026</a:t>
            </a:fld>
            <a:endParaRPr lang="en-US"/>
          </a:p>
        </p:txBody>
      </p:sp>
      <p:sp>
        <p:nvSpPr>
          <p:cNvPr id="3" name="Footer Placeholder 2">
            <a:extLst>
              <a:ext uri="{FF2B5EF4-FFF2-40B4-BE49-F238E27FC236}">
                <a16:creationId xmlns:a16="http://schemas.microsoft.com/office/drawing/2014/main" id="{67BA9BBB-A6B5-57E9-B7C6-16B66467A2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3F36E-5970-38B9-8EEA-7CB7E30EBF1E}"/>
              </a:ext>
            </a:extLst>
          </p:cNvPr>
          <p:cNvSpPr>
            <a:spLocks noGrp="1"/>
          </p:cNvSpPr>
          <p:nvPr>
            <p:ph type="sldNum" sz="quarter" idx="12"/>
          </p:nvPr>
        </p:nvSpPr>
        <p:spPr/>
        <p:txBody>
          <a:bodyPr/>
          <a:lstStyle/>
          <a:p>
            <a:fld id="{FE18DA70-5E71-4503-93F2-5A9E33E3C7E0}" type="slidenum">
              <a:rPr lang="en-US" smtClean="0"/>
              <a:t>‹#›</a:t>
            </a:fld>
            <a:endParaRPr lang="en-US"/>
          </a:p>
        </p:txBody>
      </p:sp>
    </p:spTree>
    <p:extLst>
      <p:ext uri="{BB962C8B-B14F-4D97-AF65-F5344CB8AC3E}">
        <p14:creationId xmlns:p14="http://schemas.microsoft.com/office/powerpoint/2010/main" val="15702945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5DCF63-E110-514E-8DEA-8FBC1ABC0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FA0B4D-BD6D-557D-0F40-982E5EA886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009D5-EEAB-7184-D38A-B1CAA194A9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207F60-1168-410E-8F2C-02FC0D02AD8E}" type="datetimeFigureOut">
              <a:rPr lang="en-US" smtClean="0"/>
              <a:t>10/21/2026</a:t>
            </a:fld>
            <a:endParaRPr lang="en-US"/>
          </a:p>
        </p:txBody>
      </p:sp>
      <p:sp>
        <p:nvSpPr>
          <p:cNvPr id="5" name="Footer Placeholder 4">
            <a:extLst>
              <a:ext uri="{FF2B5EF4-FFF2-40B4-BE49-F238E27FC236}">
                <a16:creationId xmlns:a16="http://schemas.microsoft.com/office/drawing/2014/main" id="{E34E55E7-C632-6B89-D7FC-C83E7273D4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6A44C7-8EDA-C0EF-5335-BC09FEDD8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18DA70-5E71-4503-93F2-5A9E33E3C7E0}" type="slidenum">
              <a:rPr lang="en-US" smtClean="0"/>
              <a:t>‹#›</a:t>
            </a:fld>
            <a:endParaRPr lang="en-US"/>
          </a:p>
        </p:txBody>
      </p:sp>
    </p:spTree>
    <p:extLst>
      <p:ext uri="{BB962C8B-B14F-4D97-AF65-F5344CB8AC3E}">
        <p14:creationId xmlns:p14="http://schemas.microsoft.com/office/powerpoint/2010/main" val="54906782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A863D27-A7BE-C8D8-B8EB-0EA41BC673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4378BE-C371-6BE1-ABE4-8DF2A045A4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813CF8-B39D-6C87-7F6A-E786564257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F8B7F5-D47D-63D2-6CC8-6D831B679F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C890A5-BBFB-92B9-E4EC-9139C26686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5470C9-C65B-1606-0195-E087745D72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D931C3-7BB2-1088-7A3A-6E74D0DAD0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A1C7A1-A46A-2DCD-249E-541DD86EFB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CB5BA5-918D-5FF8-2993-09AD928CB2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753957-C468-0502-D2A0-4B43DBA03D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DA4ED0-9C01-C335-4B5C-B2F92BA794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492FAB-5986-AFD5-FFDF-45E1245D96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A22547-3037-DE74-AB74-276BC2A183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BCF811-8E3E-8F52-A2E9-401E57AC8B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2239412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2483</Words>
  <Application>Microsoft Office PowerPoint</Application>
  <PresentationFormat>寬螢幕</PresentationFormat>
  <Paragraphs>95</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2026-09-03T01:08:16Z</dcterms:created>
  <dcterms:modified xsi:type="dcterms:W3CDTF">2026-10-21T02:45:31Z</dcterms:modified>
</cp:coreProperties>
</file>