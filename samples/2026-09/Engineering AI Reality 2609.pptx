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0D9A68-D948-4337-8489-D43B40DD3EDB}" v="25" dt="2026-09-20T04:28:38.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66809"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0T04:50:43.399" v="140" actId="22"/>
      <pc:docMkLst>
        <pc:docMk/>
      </pc:docMkLst>
      <pc:sldChg chg="addSp delSp modSp mod modAnim modNotes modNotesTx">
        <pc:chgData name="Lai, Wilson" userId="2840974a-0d84-4886-90a9-9a3ed79f3a48" providerId="ADAL" clId="{9F23B798-9E84-4552-BA63-E776E805C424}" dt="2026-09-20T04:47:19.159" v="114" actId="22"/>
        <pc:sldMkLst>
          <pc:docMk/>
          <pc:sldMk cId="0" sldId="256"/>
        </pc:sldMkLst>
        <pc:spChg chg="add mod">
          <ac:chgData name="Lai, Wilson" userId="2840974a-0d84-4886-90a9-9a3ed79f3a48" providerId="ADAL" clId="{9F23B798-9E84-4552-BA63-E776E805C424}" dt="2026-09-19T12:42:26.651" v="9" actId="164"/>
          <ac:spMkLst>
            <pc:docMk/>
            <pc:sldMk cId="0" sldId="256"/>
            <ac:spMk id="5" creationId="{E71B4900-EA33-1635-A388-AC27974CE53D}"/>
          </ac:spMkLst>
        </pc:spChg>
        <pc:grpChg chg="add mod">
          <ac:chgData name="Lai, Wilson" userId="2840974a-0d84-4886-90a9-9a3ed79f3a48" providerId="ADAL" clId="{9F23B798-9E84-4552-BA63-E776E805C424}" dt="2026-09-19T12:42:26.651" v="9" actId="164"/>
          <ac:grpSpMkLst>
            <pc:docMk/>
            <pc:sldMk cId="0" sldId="256"/>
            <ac:grpSpMk id="6" creationId="{3AC8AD14-83EC-8BBB-40EE-1A4DDBD5661E}"/>
          </ac:grpSpMkLst>
        </pc:grpChg>
        <pc:picChg chg="del ord">
          <ac:chgData name="Lai, Wilson" userId="2840974a-0d84-4886-90a9-9a3ed79f3a48" providerId="ADAL" clId="{9F23B798-9E84-4552-BA63-E776E805C424}" dt="2026-09-20T04:47:09.658" v="113" actId="21"/>
          <ac:picMkLst>
            <pc:docMk/>
            <pc:sldMk cId="0" sldId="256"/>
            <ac:picMk id="2" creationId="{00000000-0000-0000-0000-000000000000}"/>
          </ac:picMkLst>
        </pc:picChg>
        <pc:picChg chg="add mod">
          <ac:chgData name="Lai, Wilson" userId="2840974a-0d84-4886-90a9-9a3ed79f3a48" providerId="ADAL" clId="{9F23B798-9E84-4552-BA63-E776E805C424}" dt="2026-09-19T12:42:26.651" v="9" actId="164"/>
          <ac:picMkLst>
            <pc:docMk/>
            <pc:sldMk cId="0" sldId="256"/>
            <ac:picMk id="3" creationId="{48C65B12-7143-CB92-2F99-C586D9AC8412}"/>
          </ac:picMkLst>
        </pc:picChg>
        <pc:picChg chg="add">
          <ac:chgData name="Lai, Wilson" userId="2840974a-0d84-4886-90a9-9a3ed79f3a48" providerId="ADAL" clId="{9F23B798-9E84-4552-BA63-E776E805C424}" dt="2026-09-20T04:47:19.159" v="114" actId="22"/>
          <ac:picMkLst>
            <pc:docMk/>
            <pc:sldMk cId="0" sldId="256"/>
            <ac:picMk id="7" creationId="{30237646-082A-6D67-9931-74F6CA8FAE01}"/>
          </ac:picMkLst>
        </pc:picChg>
      </pc:sldChg>
      <pc:sldChg chg="addSp delSp mod modNotes modNotesTx">
        <pc:chgData name="Lai, Wilson" userId="2840974a-0d84-4886-90a9-9a3ed79f3a48" providerId="ADAL" clId="{9F23B798-9E84-4552-BA63-E776E805C424}" dt="2026-09-20T04:47:29.029" v="116" actId="22"/>
        <pc:sldMkLst>
          <pc:docMk/>
          <pc:sldMk cId="0" sldId="257"/>
        </pc:sldMkLst>
        <pc:picChg chg="del">
          <ac:chgData name="Lai, Wilson" userId="2840974a-0d84-4886-90a9-9a3ed79f3a48" providerId="ADAL" clId="{9F23B798-9E84-4552-BA63-E776E805C424}" dt="2026-09-20T04:47:21.066" v="115" actId="21"/>
          <ac:picMkLst>
            <pc:docMk/>
            <pc:sldMk cId="0" sldId="257"/>
            <ac:picMk id="2" creationId="{00000000-0000-0000-0000-000000000000}"/>
          </ac:picMkLst>
        </pc:picChg>
        <pc:picChg chg="add">
          <ac:chgData name="Lai, Wilson" userId="2840974a-0d84-4886-90a9-9a3ed79f3a48" providerId="ADAL" clId="{9F23B798-9E84-4552-BA63-E776E805C424}" dt="2026-09-20T04:47:29.029" v="116" actId="22"/>
          <ac:picMkLst>
            <pc:docMk/>
            <pc:sldMk cId="0" sldId="257"/>
            <ac:picMk id="4" creationId="{0096C41A-FCBA-5DD5-CAB6-15D9C51B3D75}"/>
          </ac:picMkLst>
        </pc:picChg>
      </pc:sldChg>
      <pc:sldChg chg="addSp delSp mod modNotes modNotesTx">
        <pc:chgData name="Lai, Wilson" userId="2840974a-0d84-4886-90a9-9a3ed79f3a48" providerId="ADAL" clId="{9F23B798-9E84-4552-BA63-E776E805C424}" dt="2026-09-20T04:47:38.768" v="118" actId="22"/>
        <pc:sldMkLst>
          <pc:docMk/>
          <pc:sldMk cId="0" sldId="258"/>
        </pc:sldMkLst>
        <pc:picChg chg="del">
          <ac:chgData name="Lai, Wilson" userId="2840974a-0d84-4886-90a9-9a3ed79f3a48" providerId="ADAL" clId="{9F23B798-9E84-4552-BA63-E776E805C424}" dt="2026-09-20T04:47:30.683" v="117" actId="21"/>
          <ac:picMkLst>
            <pc:docMk/>
            <pc:sldMk cId="0" sldId="258"/>
            <ac:picMk id="2" creationId="{00000000-0000-0000-0000-000000000000}"/>
          </ac:picMkLst>
        </pc:picChg>
        <pc:picChg chg="add">
          <ac:chgData name="Lai, Wilson" userId="2840974a-0d84-4886-90a9-9a3ed79f3a48" providerId="ADAL" clId="{9F23B798-9E84-4552-BA63-E776E805C424}" dt="2026-09-20T04:47:38.768" v="118" actId="22"/>
          <ac:picMkLst>
            <pc:docMk/>
            <pc:sldMk cId="0" sldId="258"/>
            <ac:picMk id="4" creationId="{C66FD22E-0B51-2B44-1CBC-473A27CD6BC0}"/>
          </ac:picMkLst>
        </pc:picChg>
      </pc:sldChg>
      <pc:sldChg chg="addSp delSp mod modNotes modNotesTx">
        <pc:chgData name="Lai, Wilson" userId="2840974a-0d84-4886-90a9-9a3ed79f3a48" providerId="ADAL" clId="{9F23B798-9E84-4552-BA63-E776E805C424}" dt="2026-09-20T04:47:49.415" v="120" actId="22"/>
        <pc:sldMkLst>
          <pc:docMk/>
          <pc:sldMk cId="0" sldId="259"/>
        </pc:sldMkLst>
        <pc:picChg chg="del">
          <ac:chgData name="Lai, Wilson" userId="2840974a-0d84-4886-90a9-9a3ed79f3a48" providerId="ADAL" clId="{9F23B798-9E84-4552-BA63-E776E805C424}" dt="2026-09-20T04:47:40.367" v="119" actId="21"/>
          <ac:picMkLst>
            <pc:docMk/>
            <pc:sldMk cId="0" sldId="259"/>
            <ac:picMk id="2" creationId="{00000000-0000-0000-0000-000000000000}"/>
          </ac:picMkLst>
        </pc:picChg>
        <pc:picChg chg="add">
          <ac:chgData name="Lai, Wilson" userId="2840974a-0d84-4886-90a9-9a3ed79f3a48" providerId="ADAL" clId="{9F23B798-9E84-4552-BA63-E776E805C424}" dt="2026-09-20T04:47:49.415" v="120" actId="22"/>
          <ac:picMkLst>
            <pc:docMk/>
            <pc:sldMk cId="0" sldId="259"/>
            <ac:picMk id="4" creationId="{AF9B75B7-8230-FB04-594B-DF4B2D6E6ED8}"/>
          </ac:picMkLst>
        </pc:picChg>
      </pc:sldChg>
      <pc:sldChg chg="addSp delSp mod modNotes modNotesTx">
        <pc:chgData name="Lai, Wilson" userId="2840974a-0d84-4886-90a9-9a3ed79f3a48" providerId="ADAL" clId="{9F23B798-9E84-4552-BA63-E776E805C424}" dt="2026-09-20T04:48:28.074" v="122" actId="22"/>
        <pc:sldMkLst>
          <pc:docMk/>
          <pc:sldMk cId="0" sldId="260"/>
        </pc:sldMkLst>
        <pc:picChg chg="del">
          <ac:chgData name="Lai, Wilson" userId="2840974a-0d84-4886-90a9-9a3ed79f3a48" providerId="ADAL" clId="{9F23B798-9E84-4552-BA63-E776E805C424}" dt="2026-09-20T04:47:54.588" v="121" actId="21"/>
          <ac:picMkLst>
            <pc:docMk/>
            <pc:sldMk cId="0" sldId="260"/>
            <ac:picMk id="2" creationId="{00000000-0000-0000-0000-000000000000}"/>
          </ac:picMkLst>
        </pc:picChg>
        <pc:picChg chg="add">
          <ac:chgData name="Lai, Wilson" userId="2840974a-0d84-4886-90a9-9a3ed79f3a48" providerId="ADAL" clId="{9F23B798-9E84-4552-BA63-E776E805C424}" dt="2026-09-20T04:48:28.074" v="122" actId="22"/>
          <ac:picMkLst>
            <pc:docMk/>
            <pc:sldMk cId="0" sldId="260"/>
            <ac:picMk id="4" creationId="{42E91525-6F17-848B-8D41-164F601A234E}"/>
          </ac:picMkLst>
        </pc:picChg>
      </pc:sldChg>
      <pc:sldChg chg="addSp delSp mod modNotes modNotesTx">
        <pc:chgData name="Lai, Wilson" userId="2840974a-0d84-4886-90a9-9a3ed79f3a48" providerId="ADAL" clId="{9F23B798-9E84-4552-BA63-E776E805C424}" dt="2026-09-20T04:48:37.626" v="124" actId="22"/>
        <pc:sldMkLst>
          <pc:docMk/>
          <pc:sldMk cId="0" sldId="261"/>
        </pc:sldMkLst>
        <pc:picChg chg="del">
          <ac:chgData name="Lai, Wilson" userId="2840974a-0d84-4886-90a9-9a3ed79f3a48" providerId="ADAL" clId="{9F23B798-9E84-4552-BA63-E776E805C424}" dt="2026-09-20T04:48:29.990" v="123" actId="21"/>
          <ac:picMkLst>
            <pc:docMk/>
            <pc:sldMk cId="0" sldId="261"/>
            <ac:picMk id="2" creationId="{00000000-0000-0000-0000-000000000000}"/>
          </ac:picMkLst>
        </pc:picChg>
        <pc:picChg chg="add">
          <ac:chgData name="Lai, Wilson" userId="2840974a-0d84-4886-90a9-9a3ed79f3a48" providerId="ADAL" clId="{9F23B798-9E84-4552-BA63-E776E805C424}" dt="2026-09-20T04:48:37.626" v="124" actId="22"/>
          <ac:picMkLst>
            <pc:docMk/>
            <pc:sldMk cId="0" sldId="261"/>
            <ac:picMk id="4" creationId="{AA846E25-1E8F-F00D-483E-52B32F664946}"/>
          </ac:picMkLst>
        </pc:picChg>
      </pc:sldChg>
      <pc:sldChg chg="addSp delSp mod modNotes modNotesTx">
        <pc:chgData name="Lai, Wilson" userId="2840974a-0d84-4886-90a9-9a3ed79f3a48" providerId="ADAL" clId="{9F23B798-9E84-4552-BA63-E776E805C424}" dt="2026-09-20T04:49:02.556" v="126" actId="22"/>
        <pc:sldMkLst>
          <pc:docMk/>
          <pc:sldMk cId="0" sldId="262"/>
        </pc:sldMkLst>
        <pc:picChg chg="del">
          <ac:chgData name="Lai, Wilson" userId="2840974a-0d84-4886-90a9-9a3ed79f3a48" providerId="ADAL" clId="{9F23B798-9E84-4552-BA63-E776E805C424}" dt="2026-09-20T04:48:41.278" v="125" actId="21"/>
          <ac:picMkLst>
            <pc:docMk/>
            <pc:sldMk cId="0" sldId="262"/>
            <ac:picMk id="2" creationId="{00000000-0000-0000-0000-000000000000}"/>
          </ac:picMkLst>
        </pc:picChg>
        <pc:picChg chg="add">
          <ac:chgData name="Lai, Wilson" userId="2840974a-0d84-4886-90a9-9a3ed79f3a48" providerId="ADAL" clId="{9F23B798-9E84-4552-BA63-E776E805C424}" dt="2026-09-20T04:49:02.556" v="126" actId="22"/>
          <ac:picMkLst>
            <pc:docMk/>
            <pc:sldMk cId="0" sldId="262"/>
            <ac:picMk id="4" creationId="{5CB9C76F-AF0D-7600-F19B-989E86DE97EB}"/>
          </ac:picMkLst>
        </pc:picChg>
      </pc:sldChg>
      <pc:sldChg chg="addSp delSp mod modNotes modNotesTx">
        <pc:chgData name="Lai, Wilson" userId="2840974a-0d84-4886-90a9-9a3ed79f3a48" providerId="ADAL" clId="{9F23B798-9E84-4552-BA63-E776E805C424}" dt="2026-09-20T04:49:15.690" v="128" actId="22"/>
        <pc:sldMkLst>
          <pc:docMk/>
          <pc:sldMk cId="0" sldId="263"/>
        </pc:sldMkLst>
        <pc:picChg chg="del">
          <ac:chgData name="Lai, Wilson" userId="2840974a-0d84-4886-90a9-9a3ed79f3a48" providerId="ADAL" clId="{9F23B798-9E84-4552-BA63-E776E805C424}" dt="2026-09-20T04:49:05.431" v="127" actId="21"/>
          <ac:picMkLst>
            <pc:docMk/>
            <pc:sldMk cId="0" sldId="263"/>
            <ac:picMk id="2" creationId="{00000000-0000-0000-0000-000000000000}"/>
          </ac:picMkLst>
        </pc:picChg>
        <pc:picChg chg="add">
          <ac:chgData name="Lai, Wilson" userId="2840974a-0d84-4886-90a9-9a3ed79f3a48" providerId="ADAL" clId="{9F23B798-9E84-4552-BA63-E776E805C424}" dt="2026-09-20T04:49:15.690" v="128" actId="22"/>
          <ac:picMkLst>
            <pc:docMk/>
            <pc:sldMk cId="0" sldId="263"/>
            <ac:picMk id="4" creationId="{79D286FA-BAB4-7885-507B-6CEA9C8AF5B7}"/>
          </ac:picMkLst>
        </pc:picChg>
      </pc:sldChg>
      <pc:sldChg chg="addSp delSp mod modNotes modNotesTx">
        <pc:chgData name="Lai, Wilson" userId="2840974a-0d84-4886-90a9-9a3ed79f3a48" providerId="ADAL" clId="{9F23B798-9E84-4552-BA63-E776E805C424}" dt="2026-09-20T04:49:25.270" v="130" actId="22"/>
        <pc:sldMkLst>
          <pc:docMk/>
          <pc:sldMk cId="0" sldId="264"/>
        </pc:sldMkLst>
        <pc:picChg chg="del">
          <ac:chgData name="Lai, Wilson" userId="2840974a-0d84-4886-90a9-9a3ed79f3a48" providerId="ADAL" clId="{9F23B798-9E84-4552-BA63-E776E805C424}" dt="2026-09-20T04:49:17.358" v="129" actId="21"/>
          <ac:picMkLst>
            <pc:docMk/>
            <pc:sldMk cId="0" sldId="264"/>
            <ac:picMk id="2" creationId="{00000000-0000-0000-0000-000000000000}"/>
          </ac:picMkLst>
        </pc:picChg>
        <pc:picChg chg="add">
          <ac:chgData name="Lai, Wilson" userId="2840974a-0d84-4886-90a9-9a3ed79f3a48" providerId="ADAL" clId="{9F23B798-9E84-4552-BA63-E776E805C424}" dt="2026-09-20T04:49:25.270" v="130" actId="22"/>
          <ac:picMkLst>
            <pc:docMk/>
            <pc:sldMk cId="0" sldId="264"/>
            <ac:picMk id="4" creationId="{6E370E15-319C-377D-C56A-DA21614421C2}"/>
          </ac:picMkLst>
        </pc:picChg>
      </pc:sldChg>
      <pc:sldChg chg="addSp delSp mod modNotes modNotesTx">
        <pc:chgData name="Lai, Wilson" userId="2840974a-0d84-4886-90a9-9a3ed79f3a48" providerId="ADAL" clId="{9F23B798-9E84-4552-BA63-E776E805C424}" dt="2026-09-20T04:49:43.834" v="132" actId="22"/>
        <pc:sldMkLst>
          <pc:docMk/>
          <pc:sldMk cId="0" sldId="265"/>
        </pc:sldMkLst>
        <pc:picChg chg="del">
          <ac:chgData name="Lai, Wilson" userId="2840974a-0d84-4886-90a9-9a3ed79f3a48" providerId="ADAL" clId="{9F23B798-9E84-4552-BA63-E776E805C424}" dt="2026-09-20T04:49:27.110" v="131" actId="21"/>
          <ac:picMkLst>
            <pc:docMk/>
            <pc:sldMk cId="0" sldId="265"/>
            <ac:picMk id="2" creationId="{00000000-0000-0000-0000-000000000000}"/>
          </ac:picMkLst>
        </pc:picChg>
        <pc:picChg chg="add">
          <ac:chgData name="Lai, Wilson" userId="2840974a-0d84-4886-90a9-9a3ed79f3a48" providerId="ADAL" clId="{9F23B798-9E84-4552-BA63-E776E805C424}" dt="2026-09-20T04:49:43.834" v="132" actId="22"/>
          <ac:picMkLst>
            <pc:docMk/>
            <pc:sldMk cId="0" sldId="265"/>
            <ac:picMk id="4" creationId="{62F3A975-5CBE-37AC-6F13-3AF5F4142334}"/>
          </ac:picMkLst>
        </pc:picChg>
      </pc:sldChg>
      <pc:sldChg chg="addSp delSp mod modNotes modNotesTx">
        <pc:chgData name="Lai, Wilson" userId="2840974a-0d84-4886-90a9-9a3ed79f3a48" providerId="ADAL" clId="{9F23B798-9E84-4552-BA63-E776E805C424}" dt="2026-09-20T04:50:43.399" v="140" actId="22"/>
        <pc:sldMkLst>
          <pc:docMk/>
          <pc:sldMk cId="0" sldId="266"/>
        </pc:sldMkLst>
        <pc:picChg chg="del">
          <ac:chgData name="Lai, Wilson" userId="2840974a-0d84-4886-90a9-9a3ed79f3a48" providerId="ADAL" clId="{9F23B798-9E84-4552-BA63-E776E805C424}" dt="2026-09-20T04:49:47.351" v="133" actId="21"/>
          <ac:picMkLst>
            <pc:docMk/>
            <pc:sldMk cId="0" sldId="266"/>
            <ac:picMk id="2" creationId="{00000000-0000-0000-0000-000000000000}"/>
          </ac:picMkLst>
        </pc:picChg>
        <pc:picChg chg="add del">
          <ac:chgData name="Lai, Wilson" userId="2840974a-0d84-4886-90a9-9a3ed79f3a48" providerId="ADAL" clId="{9F23B798-9E84-4552-BA63-E776E805C424}" dt="2026-09-20T04:50:34.982" v="139" actId="21"/>
          <ac:picMkLst>
            <pc:docMk/>
            <pc:sldMk cId="0" sldId="266"/>
            <ac:picMk id="4" creationId="{329B8F07-987B-4D7B-5916-310549FE5142}"/>
          </ac:picMkLst>
        </pc:picChg>
        <pc:picChg chg="add">
          <ac:chgData name="Lai, Wilson" userId="2840974a-0d84-4886-90a9-9a3ed79f3a48" providerId="ADAL" clId="{9F23B798-9E84-4552-BA63-E776E805C424}" dt="2026-09-20T04:50:43.399" v="140" actId="22"/>
          <ac:picMkLst>
            <pc:docMk/>
            <pc:sldMk cId="0" sldId="266"/>
            <ac:picMk id="6" creationId="{4D7209EE-2A63-242A-6333-A93B33B46F04}"/>
          </ac:picMkLst>
        </pc:picChg>
      </pc:sldChg>
      <pc:sldChg chg="addSp delSp mod modNotes modNotesTx">
        <pc:chgData name="Lai, Wilson" userId="2840974a-0d84-4886-90a9-9a3ed79f3a48" providerId="ADAL" clId="{9F23B798-9E84-4552-BA63-E776E805C424}" dt="2026-09-20T04:50:06.162" v="136" actId="22"/>
        <pc:sldMkLst>
          <pc:docMk/>
          <pc:sldMk cId="0" sldId="267"/>
        </pc:sldMkLst>
        <pc:picChg chg="del">
          <ac:chgData name="Lai, Wilson" userId="2840974a-0d84-4886-90a9-9a3ed79f3a48" providerId="ADAL" clId="{9F23B798-9E84-4552-BA63-E776E805C424}" dt="2026-09-20T04:49:57.521" v="135" actId="21"/>
          <ac:picMkLst>
            <pc:docMk/>
            <pc:sldMk cId="0" sldId="267"/>
            <ac:picMk id="2" creationId="{00000000-0000-0000-0000-000000000000}"/>
          </ac:picMkLst>
        </pc:picChg>
        <pc:picChg chg="add">
          <ac:chgData name="Lai, Wilson" userId="2840974a-0d84-4886-90a9-9a3ed79f3a48" providerId="ADAL" clId="{9F23B798-9E84-4552-BA63-E776E805C424}" dt="2026-09-20T04:50:06.162" v="136" actId="22"/>
          <ac:picMkLst>
            <pc:docMk/>
            <pc:sldMk cId="0" sldId="267"/>
            <ac:picMk id="4" creationId="{47CEB711-8D0F-77BD-89AA-2D3508F369A8}"/>
          </ac:picMkLst>
        </pc:picChg>
      </pc:sldChg>
      <pc:sldChg chg="addSp delSp mod modNotes modNotesTx">
        <pc:chgData name="Lai, Wilson" userId="2840974a-0d84-4886-90a9-9a3ed79f3a48" providerId="ADAL" clId="{9F23B798-9E84-4552-BA63-E776E805C424}" dt="2026-09-20T04:50:24.716" v="138" actId="22"/>
        <pc:sldMkLst>
          <pc:docMk/>
          <pc:sldMk cId="380626366" sldId="268"/>
        </pc:sldMkLst>
        <pc:picChg chg="del">
          <ac:chgData name="Lai, Wilson" userId="2840974a-0d84-4886-90a9-9a3ed79f3a48" providerId="ADAL" clId="{9F23B798-9E84-4552-BA63-E776E805C424}" dt="2026-09-20T04:50:10.046" v="137" actId="21"/>
          <ac:picMkLst>
            <pc:docMk/>
            <pc:sldMk cId="380626366" sldId="268"/>
            <ac:picMk id="3" creationId="{27D45671-AADE-79FF-686A-AB22ACCC6F42}"/>
          </ac:picMkLst>
        </pc:picChg>
        <pc:picChg chg="add">
          <ac:chgData name="Lai, Wilson" userId="2840974a-0d84-4886-90a9-9a3ed79f3a48" providerId="ADAL" clId="{9F23B798-9E84-4552-BA63-E776E805C424}" dt="2026-09-20T04:50:24.716" v="138" actId="22"/>
          <ac:picMkLst>
            <pc:docMk/>
            <pc:sldMk cId="380626366" sldId="268"/>
            <ac:picMk id="4" creationId="{D7DBDA69-10FF-FE1B-13DD-582375267E87}"/>
          </ac:picMkLst>
        </pc:picChg>
      </pc:sldChg>
      <pc:sldMasterChg chg="setBg">
        <pc:chgData name="Lai, Wilson" userId="2840974a-0d84-4886-90a9-9a3ed79f3a48" providerId="ADAL" clId="{9F23B798-9E84-4552-BA63-E776E805C424}" dt="2026-09-19T12:31:18.344" v="0"/>
        <pc:sldMasterMkLst>
          <pc:docMk/>
          <pc:sldMasterMk cId="2066204487"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79FC9-481C-49DC-ACBF-F0A82AF293B0}"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02038-D844-48C0-A8EF-BD807B4D0F0C}" type="slidenum">
              <a:rPr lang="en-US" smtClean="0"/>
              <a:t>‹#›</a:t>
            </a:fld>
            <a:endParaRPr lang="en-US"/>
          </a:p>
        </p:txBody>
      </p:sp>
    </p:spTree>
    <p:extLst>
      <p:ext uri="{BB962C8B-B14F-4D97-AF65-F5344CB8AC3E}">
        <p14:creationId xmlns:p14="http://schemas.microsoft.com/office/powerpoint/2010/main" val="1958049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 The Core Message: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Welcome everyone. Today, we want to clear away the public media noise and examine the </a:t>
                </a:r>
                <a:r>
                  <a:rPr lang="en-US" sz="1200" b="1" kern="1200" dirty="0">
                    <a:solidFill>
                      <a:schemeClr val="tx1"/>
                    </a:solidFill>
                    <a:effectLst/>
                    <a:latin typeface="+mn-lt"/>
                    <a:ea typeface="+mn-ea"/>
                    <a:cs typeface="+mn-cs"/>
                  </a:rPr>
                  <a:t>ground-truth engineering reality</a:t>
                </a:r>
                <a:r>
                  <a:rPr lang="en-US" sz="1200" kern="1200" dirty="0">
                    <a:solidFill>
                      <a:schemeClr val="tx1"/>
                    </a:solidFill>
                    <a:effectLst/>
                    <a:latin typeface="+mn-lt"/>
                    <a:ea typeface="+mn-ea"/>
                    <a:cs typeface="+mn-cs"/>
                  </a:rPr>
                  <a:t> behind frontier AI.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the past few months, the public discourse has been dominated by apocalyptic warnings and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𝑃</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kern="1200" dirty="0">
                    <a:solidFill>
                      <a:schemeClr val="tx1"/>
                    </a:solidFill>
                    <a:effectLst/>
                    <a:latin typeface="+mn-lt"/>
                    <a:ea typeface="+mn-ea"/>
                    <a:cs typeface="+mn-cs"/>
                  </a:rPr>
                  <a:t>debates. Business leaders and tech luminaries have a responsibility not to unnecessarily panic the public.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tech leaders go on news networks or social media claiming a 10% or higher chance that humanity will be wiped out, it doesn't offer constructive solutions; it creates widespread public anxiety. </a:t>
                </a:r>
              </a:p>
              <a:p>
                <a:pPr lvl="0"/>
                <a:r>
                  <a:rPr lang="en-US" sz="1200" b="1" kern="1200" dirty="0">
                    <a:solidFill>
                      <a:schemeClr val="tx1"/>
                    </a:solidFill>
                    <a:effectLst/>
                    <a:latin typeface="+mn-lt"/>
                    <a:ea typeface="+mn-ea"/>
                    <a:cs typeface="+mn-cs"/>
                  </a:rPr>
                  <a:t>Moving Past Sci-Fi Doom:</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Ali Ghodsi notes, the immediate existential risk of sci-fi AI doom is close to zero.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treating AI solely through the lens of science-fiction threats distracts us from pressing, real-world operational challenges: </a:t>
                </a:r>
              </a:p>
              <a:p>
                <a:pPr marL="685800" lvl="1" indent="-228600">
                  <a:buFont typeface="+mj-lt"/>
                  <a:buAutoNum type="arabicPeriod"/>
                </a:pPr>
                <a:r>
                  <a:rPr lang="en-US" sz="1200" b="1" kern="1200" dirty="0">
                    <a:solidFill>
                      <a:schemeClr val="tx1"/>
                    </a:solidFill>
                    <a:effectLst/>
                    <a:latin typeface="+mn-lt"/>
                    <a:ea typeface="+mn-ea"/>
                    <a:cs typeface="+mn-cs"/>
                  </a:rPr>
                  <a:t>Cybersecurity:</a:t>
                </a:r>
                <a:r>
                  <a:rPr lang="en-US" sz="1200" kern="1200" dirty="0">
                    <a:solidFill>
                      <a:schemeClr val="tx1"/>
                    </a:solidFill>
                    <a:effectLst/>
                    <a:latin typeface="+mn-lt"/>
                    <a:ea typeface="+mn-ea"/>
                    <a:cs typeface="+mn-cs"/>
                  </a:rPr>
                  <a:t> The rapid reduction of exploit times from months down to hours. </a:t>
                </a:r>
              </a:p>
              <a:p>
                <a:pPr marL="685800" lvl="1" indent="-228600">
                  <a:buFont typeface="+mj-lt"/>
                  <a:buAutoNum type="arabicPeriod"/>
                </a:pPr>
                <a:r>
                  <a:rPr lang="en-US" sz="1200" b="1" kern="1200" dirty="0">
                    <a:solidFill>
                      <a:schemeClr val="tx1"/>
                    </a:solidFill>
                    <a:effectLst/>
                    <a:latin typeface="+mn-lt"/>
                    <a:ea typeface="+mn-ea"/>
                    <a:cs typeface="+mn-cs"/>
                  </a:rPr>
                  <a:t>Enterprise Ontologies:</a:t>
                </a:r>
                <a:r>
                  <a:rPr lang="en-US" sz="1200" kern="1200" dirty="0">
                    <a:solidFill>
                      <a:schemeClr val="tx1"/>
                    </a:solidFill>
                    <a:effectLst/>
                    <a:latin typeface="+mn-lt"/>
                    <a:ea typeface="+mn-ea"/>
                    <a:cs typeface="+mn-cs"/>
                  </a:rPr>
                  <a:t> Giving raw LLMs internal organizational context. </a:t>
                </a:r>
              </a:p>
              <a:p>
                <a:pPr marL="685800" lvl="1" indent="-228600">
                  <a:buFont typeface="+mj-lt"/>
                  <a:buAutoNum type="arabicPeriod"/>
                </a:pPr>
                <a:r>
                  <a:rPr lang="en-US" sz="1200" b="1" kern="1200" dirty="0">
                    <a:solidFill>
                      <a:schemeClr val="tx1"/>
                    </a:solidFill>
                    <a:effectLst/>
                    <a:latin typeface="+mn-lt"/>
                    <a:ea typeface="+mn-ea"/>
                    <a:cs typeface="+mn-cs"/>
                  </a:rPr>
                  <a:t>Agentic Infrastructure:</a:t>
                </a:r>
                <a:r>
                  <a:rPr lang="en-US" sz="1200" kern="1200" dirty="0">
                    <a:solidFill>
                      <a:schemeClr val="tx1"/>
                    </a:solidFill>
                    <a:effectLst/>
                    <a:latin typeface="+mn-lt"/>
                    <a:ea typeface="+mn-ea"/>
                    <a:cs typeface="+mn-cs"/>
                  </a:rPr>
                  <a:t> Building fast, responsive databases and compute paths designed specifically for autonomous agents.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break down how public relations and political discourse have drifted into an "Uncanny Valley" by contrasting the </a:t>
                </a:r>
                <a:r>
                  <a:rPr lang="en-US" sz="1200" b="1" kern="1200" dirty="0">
                    <a:solidFill>
                      <a:schemeClr val="tx1"/>
                    </a:solidFill>
                    <a:effectLst/>
                    <a:latin typeface="+mn-lt"/>
                    <a:ea typeface="+mn-ea"/>
                    <a:cs typeface="+mn-cs"/>
                  </a:rPr>
                  <a:t>Pacing Camp</a:t>
                </a:r>
                <a:r>
                  <a:rPr lang="en-US" sz="1200" kern="1200" dirty="0">
                    <a:solidFill>
                      <a:schemeClr val="tx1"/>
                    </a:solidFill>
                    <a:effectLst/>
                    <a:latin typeface="+mn-lt"/>
                    <a:ea typeface="+mn-ea"/>
                    <a:cs typeface="+mn-cs"/>
                  </a:rPr>
                  <a:t> with the </a:t>
                </a:r>
                <a:r>
                  <a:rPr lang="en-US" sz="1200" b="1" kern="1200" dirty="0">
                    <a:solidFill>
                      <a:schemeClr val="tx1"/>
                    </a:solidFill>
                    <a:effectLst/>
                    <a:latin typeface="+mn-lt"/>
                    <a:ea typeface="+mn-ea"/>
                    <a:cs typeface="+mn-cs"/>
                  </a:rPr>
                  <a:t>Engineering Camp</a:t>
                </a:r>
                <a:r>
                  <a:rPr lang="en-US" sz="1200" kern="1200" dirty="0">
                    <a:solidFill>
                      <a:schemeClr val="tx1"/>
                    </a:solidFill>
                    <a:effectLst/>
                    <a:latin typeface="+mn-lt"/>
                    <a:ea typeface="+mn-ea"/>
                    <a:cs typeface="+mn-cs"/>
                  </a:rPr>
                  <a:t>. </a:t>
                </a:r>
              </a:p>
              <a:p>
                <a:endParaRPr lang="en-US" dirty="0"/>
              </a:p>
              <a:p>
                <a:endParaRPr lang="en-US" dirty="0"/>
              </a:p>
              <a:p>
                <a:endParaRPr lang="en-US" dirty="0"/>
              </a:p>
              <a:p>
                <a:endParaRPr lang="en-US" dirty="0"/>
              </a:p>
              <a:p>
                <a:r>
                  <a:rPr lang="en-US" dirty="0"/>
                  <a:t>https://www.youtube.com/watch?v=GzEtpAKYRvE</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 The Core Message: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Welcome everyone. Today, we want to clear away the public media noise and examine the </a:t>
                </a:r>
                <a:r>
                  <a:rPr lang="en-US" sz="1200" b="1" kern="1200" dirty="0">
                    <a:solidFill>
                      <a:schemeClr val="tx1"/>
                    </a:solidFill>
                    <a:effectLst/>
                    <a:latin typeface="+mn-lt"/>
                    <a:ea typeface="+mn-ea"/>
                    <a:cs typeface="+mn-cs"/>
                  </a:rPr>
                  <a:t>ground-truth engineering reality</a:t>
                </a:r>
                <a:r>
                  <a:rPr lang="en-US" sz="1200" kern="1200" dirty="0">
                    <a:solidFill>
                      <a:schemeClr val="tx1"/>
                    </a:solidFill>
                    <a:effectLst/>
                    <a:latin typeface="+mn-lt"/>
                    <a:ea typeface="+mn-ea"/>
                    <a:cs typeface="+mn-cs"/>
                  </a:rPr>
                  <a:t> behind frontier AI.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the past few months, the public discourse has been dominated by apocalyptic warnings and </a:t>
                </a:r>
                <a:r>
                  <a:rPr lang="en-US" sz="1200" i="0" kern="1200">
                    <a:solidFill>
                      <a:schemeClr val="tx1"/>
                    </a:solidFill>
                    <a:latin typeface="+mn-lt"/>
                    <a:ea typeface="+mn-ea"/>
                    <a:cs typeface="+mn-cs"/>
                  </a:rPr>
                  <a:t>𝑃("doom" )</a:t>
                </a:r>
                <a:r>
                  <a:rPr lang="en-US" sz="1200" kern="1200" dirty="0">
                    <a:solidFill>
                      <a:schemeClr val="tx1"/>
                    </a:solidFill>
                    <a:effectLst/>
                    <a:latin typeface="+mn-lt"/>
                    <a:ea typeface="+mn-ea"/>
                    <a:cs typeface="+mn-cs"/>
                  </a:rPr>
                  <a:t>debates. Business leaders and tech luminaries have a responsibility not to unnecessarily panic the public.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tech leaders go on news networks or social media claiming a 10% or higher chance that humanity will be wiped out, it doesn't offer constructive solutions; it creates widespread public anxiety. </a:t>
                </a:r>
              </a:p>
              <a:p>
                <a:pPr lvl="0"/>
                <a:r>
                  <a:rPr lang="en-US" sz="1200" b="1" kern="1200" dirty="0">
                    <a:solidFill>
                      <a:schemeClr val="tx1"/>
                    </a:solidFill>
                    <a:effectLst/>
                    <a:latin typeface="+mn-lt"/>
                    <a:ea typeface="+mn-ea"/>
                    <a:cs typeface="+mn-cs"/>
                  </a:rPr>
                  <a:t>Moving Past Sci-Fi Doom:</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Ali Ghodsi notes, the immediate existential risk of sci-fi AI doom is close to zero.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treating AI solely through the lens of science-fiction threats distracts us from pressing, real-world operational challenges: </a:t>
                </a:r>
              </a:p>
              <a:p>
                <a:pPr marL="685800" lvl="1" indent="-228600">
                  <a:buFont typeface="+mj-lt"/>
                  <a:buAutoNum type="arabicPeriod"/>
                </a:pPr>
                <a:r>
                  <a:rPr lang="en-US" sz="1200" b="1" kern="1200" dirty="0">
                    <a:solidFill>
                      <a:schemeClr val="tx1"/>
                    </a:solidFill>
                    <a:effectLst/>
                    <a:latin typeface="+mn-lt"/>
                    <a:ea typeface="+mn-ea"/>
                    <a:cs typeface="+mn-cs"/>
                  </a:rPr>
                  <a:t>Cybersecurity:</a:t>
                </a:r>
                <a:r>
                  <a:rPr lang="en-US" sz="1200" kern="1200" dirty="0">
                    <a:solidFill>
                      <a:schemeClr val="tx1"/>
                    </a:solidFill>
                    <a:effectLst/>
                    <a:latin typeface="+mn-lt"/>
                    <a:ea typeface="+mn-ea"/>
                    <a:cs typeface="+mn-cs"/>
                  </a:rPr>
                  <a:t> The rapid reduction of exploit times from months down to hours. </a:t>
                </a:r>
              </a:p>
              <a:p>
                <a:pPr marL="685800" lvl="1" indent="-228600">
                  <a:buFont typeface="+mj-lt"/>
                  <a:buAutoNum type="arabicPeriod"/>
                </a:pPr>
                <a:r>
                  <a:rPr lang="en-US" sz="1200" b="1" kern="1200" dirty="0">
                    <a:solidFill>
                      <a:schemeClr val="tx1"/>
                    </a:solidFill>
                    <a:effectLst/>
                    <a:latin typeface="+mn-lt"/>
                    <a:ea typeface="+mn-ea"/>
                    <a:cs typeface="+mn-cs"/>
                  </a:rPr>
                  <a:t>Enterprise Ontologies:</a:t>
                </a:r>
                <a:r>
                  <a:rPr lang="en-US" sz="1200" kern="1200" dirty="0">
                    <a:solidFill>
                      <a:schemeClr val="tx1"/>
                    </a:solidFill>
                    <a:effectLst/>
                    <a:latin typeface="+mn-lt"/>
                    <a:ea typeface="+mn-ea"/>
                    <a:cs typeface="+mn-cs"/>
                  </a:rPr>
                  <a:t> Giving raw LLMs internal organizational context. </a:t>
                </a:r>
              </a:p>
              <a:p>
                <a:pPr marL="685800" lvl="1" indent="-228600">
                  <a:buFont typeface="+mj-lt"/>
                  <a:buAutoNum type="arabicPeriod"/>
                </a:pPr>
                <a:r>
                  <a:rPr lang="en-US" sz="1200" b="1" kern="1200" dirty="0">
                    <a:solidFill>
                      <a:schemeClr val="tx1"/>
                    </a:solidFill>
                    <a:effectLst/>
                    <a:latin typeface="+mn-lt"/>
                    <a:ea typeface="+mn-ea"/>
                    <a:cs typeface="+mn-cs"/>
                  </a:rPr>
                  <a:t>Agentic Infrastructure:</a:t>
                </a:r>
                <a:r>
                  <a:rPr lang="en-US" sz="1200" kern="1200" dirty="0">
                    <a:solidFill>
                      <a:schemeClr val="tx1"/>
                    </a:solidFill>
                    <a:effectLst/>
                    <a:latin typeface="+mn-lt"/>
                    <a:ea typeface="+mn-ea"/>
                    <a:cs typeface="+mn-cs"/>
                  </a:rPr>
                  <a:t> Building fast, responsive databases and compute paths designed specifically for autonomous agents.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break down how public relations and political discourse have drifted into an "Uncanny Valley" by contrasting the </a:t>
                </a:r>
                <a:r>
                  <a:rPr lang="en-US" sz="1200" b="1" kern="1200" dirty="0">
                    <a:solidFill>
                      <a:schemeClr val="tx1"/>
                    </a:solidFill>
                    <a:effectLst/>
                    <a:latin typeface="+mn-lt"/>
                    <a:ea typeface="+mn-ea"/>
                    <a:cs typeface="+mn-cs"/>
                  </a:rPr>
                  <a:t>Pacing Camp</a:t>
                </a:r>
                <a:r>
                  <a:rPr lang="en-US" sz="1200" kern="1200" dirty="0">
                    <a:solidFill>
                      <a:schemeClr val="tx1"/>
                    </a:solidFill>
                    <a:effectLst/>
                    <a:latin typeface="+mn-lt"/>
                    <a:ea typeface="+mn-ea"/>
                    <a:cs typeface="+mn-cs"/>
                  </a:rPr>
                  <a:t> with the </a:t>
                </a:r>
                <a:r>
                  <a:rPr lang="en-US" sz="1200" b="1" kern="1200" dirty="0">
                    <a:solidFill>
                      <a:schemeClr val="tx1"/>
                    </a:solidFill>
                    <a:effectLst/>
                    <a:latin typeface="+mn-lt"/>
                    <a:ea typeface="+mn-ea"/>
                    <a:cs typeface="+mn-cs"/>
                  </a:rPr>
                  <a:t>Engineering Camp</a:t>
                </a:r>
                <a:r>
                  <a:rPr lang="en-US" sz="1200" kern="1200" dirty="0">
                    <a:solidFill>
                      <a:schemeClr val="tx1"/>
                    </a:solidFill>
                    <a:effectLst/>
                    <a:latin typeface="+mn-lt"/>
                    <a:ea typeface="+mn-ea"/>
                    <a:cs typeface="+mn-cs"/>
                  </a:rPr>
                  <a:t>. </a:t>
                </a:r>
              </a:p>
              <a:p>
                <a:endParaRPr lang="en-US" dirty="0"/>
              </a:p>
              <a:p>
                <a:endParaRPr lang="en-US" dirty="0"/>
              </a:p>
              <a:p>
                <a:endParaRPr lang="en-US" dirty="0"/>
              </a:p>
              <a:p>
                <a:endParaRPr lang="en-US" dirty="0"/>
              </a:p>
              <a:p>
                <a:r>
                  <a:rPr lang="en-US" dirty="0"/>
                  <a:t>https://www.youtube.com/watch?v=GzEtpAKYRvE</a:t>
                </a:r>
              </a:p>
              <a:p>
                <a:endParaRPr lang="en-US" dirty="0"/>
              </a:p>
            </p:txBody>
          </p:sp>
        </mc:Fallback>
      </mc:AlternateContent>
      <p:sp>
        <p:nvSpPr>
          <p:cNvPr id="4" name="Slide Number Placeholder 3"/>
          <p:cNvSpPr>
            <a:spLocks noGrp="1"/>
          </p:cNvSpPr>
          <p:nvPr>
            <p:ph type="sldNum" sz="quarter" idx="5"/>
          </p:nvPr>
        </p:nvSpPr>
        <p:spPr/>
        <p:txBody>
          <a:bodyPr/>
          <a:lstStyle/>
          <a:p>
            <a:fld id="{71002038-D844-48C0-A8EF-BD807B4D0F0C}" type="slidenum">
              <a:rPr lang="en-US" smtClean="0"/>
              <a:t>1</a:t>
            </a:fld>
            <a:endParaRPr lang="en-US"/>
          </a:p>
        </p:txBody>
      </p:sp>
    </p:spTree>
    <p:extLst>
      <p:ext uri="{BB962C8B-B14F-4D97-AF65-F5344CB8AC3E}">
        <p14:creationId xmlns:p14="http://schemas.microsoft.com/office/powerpoint/2010/main" val="154027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Dichotomy in the Industry: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Currently, AI discourse is split into two primary camps: </a:t>
                </a:r>
                <a:r>
                  <a:rPr lang="en-US" sz="1200" b="1" kern="1200" dirty="0">
                    <a:solidFill>
                      <a:schemeClr val="tx1"/>
                    </a:solidFill>
                    <a:effectLst/>
                    <a:latin typeface="+mn-lt"/>
                    <a:ea typeface="+mn-ea"/>
                    <a:cs typeface="+mn-cs"/>
                  </a:rPr>
                  <a:t>The Pacing Camp</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The Engineering Camp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Pacing Camp:</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Perceived Threat:</a:t>
                </a:r>
                <a:r>
                  <a:rPr lang="en-US" sz="1200" kern="1200" dirty="0">
                    <a:solidFill>
                      <a:schemeClr val="tx1"/>
                    </a:solidFill>
                    <a:effectLst/>
                    <a:latin typeface="+mn-lt"/>
                    <a:ea typeface="+mn-ea"/>
                    <a:cs typeface="+mn-cs"/>
                  </a:rPr>
                  <a:t> Driven by superintelligence concerns, existential risk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𝑃</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kern="1200" dirty="0">
                    <a:solidFill>
                      <a:schemeClr val="tx1"/>
                    </a:solidFill>
                    <a:effectLst/>
                    <a:latin typeface="+mn-lt"/>
                    <a:ea typeface="+mn-ea"/>
                    <a:cs typeface="+mn-cs"/>
                  </a:rPr>
                  <a:t>), and fears of rogue AI.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Proposed Solutions:</a:t>
                </a:r>
                <a:r>
                  <a:rPr lang="en-US" sz="1200" kern="1200" dirty="0">
                    <a:solidFill>
                      <a:schemeClr val="tx1"/>
                    </a:solidFill>
                    <a:effectLst/>
                    <a:latin typeface="+mn-lt"/>
                    <a:ea typeface="+mn-ea"/>
                    <a:cs typeface="+mn-cs"/>
                  </a:rPr>
                  <a:t> Federal regulations, third-party state inspectors, and slowing down or "pacing" frontier development.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Core Philosophy:</a:t>
                </a:r>
                <a:r>
                  <a:rPr lang="en-US" sz="1200" kern="1200" dirty="0">
                    <a:solidFill>
                      <a:schemeClr val="tx1"/>
                    </a:solidFill>
                    <a:effectLst/>
                    <a:latin typeface="+mn-lt"/>
                    <a:ea typeface="+mn-ea"/>
                    <a:cs typeface="+mn-cs"/>
                  </a:rPr>
                  <a:t> Treating AI like nuclear weapons—governed by fear, heavy politicization, and top-down containment. </a:t>
                </a:r>
              </a:p>
              <a:p>
                <a:pPr lvl="0"/>
                <a:r>
                  <a:rPr lang="en-US" sz="1200" b="1" kern="1200" dirty="0">
                    <a:solidFill>
                      <a:schemeClr val="tx1"/>
                    </a:solidFill>
                    <a:effectLst/>
                    <a:latin typeface="+mn-lt"/>
                    <a:ea typeface="+mn-ea"/>
                    <a:cs typeface="+mn-cs"/>
                  </a:rPr>
                  <a:t>The Reality of "Pacing":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Proposing "pacing" creates a PR trap. For those concerned with existential risk, "pacing" isn't enough. For enterprise builders, it creates market uncertainty.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Furthermore, "pacing" runs directly into the classic </a:t>
                </a:r>
                <a:r>
                  <a:rPr lang="en-US" sz="1200" b="1" kern="1200" dirty="0">
                    <a:solidFill>
                      <a:schemeClr val="tx1"/>
                    </a:solidFill>
                    <a:effectLst/>
                    <a:latin typeface="+mn-lt"/>
                    <a:ea typeface="+mn-ea"/>
                    <a:cs typeface="+mn-cs"/>
                  </a:rPr>
                  <a:t>Tragedy of the Commons</a:t>
                </a:r>
                <a:r>
                  <a:rPr lang="en-US" sz="1200" kern="1200" dirty="0">
                    <a:solidFill>
                      <a:schemeClr val="tx1"/>
                    </a:solidFill>
                    <a:effectLst/>
                    <a:latin typeface="+mn-lt"/>
                    <a:ea typeface="+mn-ea"/>
                    <a:cs typeface="+mn-cs"/>
                  </a:rPr>
                  <a:t>: No individual lab or enterprise can unilaterally pause or slow down in a competitive market where market leadership and capital allocation are at stake. </a:t>
                </a:r>
              </a:p>
              <a:p>
                <a:pPr lvl="0"/>
                <a:r>
                  <a:rPr lang="en-US" sz="1200" b="1" kern="1200" dirty="0">
                    <a:solidFill>
                      <a:schemeClr val="tx1"/>
                    </a:solidFill>
                    <a:effectLst/>
                    <a:latin typeface="+mn-lt"/>
                    <a:ea typeface="+mn-ea"/>
                    <a:cs typeface="+mn-cs"/>
                  </a:rPr>
                  <a:t>The Engineering Camp: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Perceived Threat:</a:t>
                </a:r>
                <a:r>
                  <a:rPr lang="en-US" sz="1200" kern="1200" dirty="0">
                    <a:solidFill>
                      <a:schemeClr val="tx1"/>
                    </a:solidFill>
                    <a:effectLst/>
                    <a:latin typeface="+mn-lt"/>
                    <a:ea typeface="+mn-ea"/>
                    <a:cs typeface="+mn-cs"/>
                  </a:rPr>
                  <a:t> Focuses on immediate security vulnerabilities, machine-speed cyber attacks, and enterprise data bottlenecks.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Proposed Solutions:</a:t>
                </a:r>
                <a:r>
                  <a:rPr lang="en-US" sz="1200" kern="1200" dirty="0">
                    <a:solidFill>
                      <a:schemeClr val="tx1"/>
                    </a:solidFill>
                    <a:effectLst/>
                    <a:latin typeface="+mn-lt"/>
                    <a:ea typeface="+mn-ea"/>
                    <a:cs typeface="+mn-cs"/>
                  </a:rPr>
                  <a:t> Automated threat hunting, agentic defense, and robust data architecture.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Core Philosophy:</a:t>
                </a:r>
                <a:r>
                  <a:rPr lang="en-US" sz="1200" kern="1200" dirty="0">
                    <a:solidFill>
                      <a:schemeClr val="tx1"/>
                    </a:solidFill>
                    <a:effectLst/>
                    <a:latin typeface="+mn-lt"/>
                    <a:ea typeface="+mn-ea"/>
                    <a:cs typeface="+mn-cs"/>
                  </a:rPr>
                  <a:t> Treating AI as a dynamic, autocatalytic software system that requires engineering constraints and guardrails rather than political stalls.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why the Engineering Camp rejects apocalyptic timelines, we must deconstruct the primary driver of superintelligence fears: </a:t>
                </a:r>
                <a:r>
                  <a:rPr lang="en-US" sz="1200" b="1" kern="1200" dirty="0">
                    <a:solidFill>
                      <a:schemeClr val="tx1"/>
                    </a:solidFill>
                    <a:effectLst/>
                    <a:latin typeface="+mn-lt"/>
                    <a:ea typeface="+mn-ea"/>
                    <a:cs typeface="+mn-cs"/>
                  </a:rPr>
                  <a:t>Recursive Self-Improvement (RSI)</a:t>
                </a:r>
                <a:r>
                  <a:rPr lang="en-US" sz="1200" kern="1200" dirty="0">
                    <a:solidFill>
                      <a:schemeClr val="tx1"/>
                    </a:solidFill>
                    <a:effectLst/>
                    <a:latin typeface="+mn-lt"/>
                    <a:ea typeface="+mn-ea"/>
                    <a:cs typeface="+mn-cs"/>
                  </a:rPr>
                  <a:t>.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Dichotomy in the Industry: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Currently, AI discourse is split into two primary camps: </a:t>
                </a:r>
                <a:r>
                  <a:rPr lang="en-US" sz="1200" b="1" kern="1200" dirty="0">
                    <a:solidFill>
                      <a:schemeClr val="tx1"/>
                    </a:solidFill>
                    <a:effectLst/>
                    <a:latin typeface="+mn-lt"/>
                    <a:ea typeface="+mn-ea"/>
                    <a:cs typeface="+mn-cs"/>
                  </a:rPr>
                  <a:t>The Pacing Camp</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The Engineering Camp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Pacing Camp:</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Perceived Threat:</a:t>
                </a:r>
                <a:r>
                  <a:rPr lang="en-US" sz="1200" kern="1200" dirty="0">
                    <a:solidFill>
                      <a:schemeClr val="tx1"/>
                    </a:solidFill>
                    <a:effectLst/>
                    <a:latin typeface="+mn-lt"/>
                    <a:ea typeface="+mn-ea"/>
                    <a:cs typeface="+mn-cs"/>
                  </a:rPr>
                  <a:t> Driven by superintelligence concerns, existential risk (</a:t>
                </a:r>
                <a:r>
                  <a:rPr lang="en-US" sz="1200" i="0" kern="1200">
                    <a:solidFill>
                      <a:schemeClr val="tx1"/>
                    </a:solidFill>
                    <a:latin typeface="+mn-lt"/>
                    <a:ea typeface="+mn-ea"/>
                    <a:cs typeface="+mn-cs"/>
                  </a:rPr>
                  <a:t>𝑃("doom" )</a:t>
                </a:r>
                <a:r>
                  <a:rPr lang="en-US" sz="1200" kern="1200" dirty="0">
                    <a:solidFill>
                      <a:schemeClr val="tx1"/>
                    </a:solidFill>
                    <a:effectLst/>
                    <a:latin typeface="+mn-lt"/>
                    <a:ea typeface="+mn-ea"/>
                    <a:cs typeface="+mn-cs"/>
                  </a:rPr>
                  <a:t>), and fears of rogue AI.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Proposed Solutions:</a:t>
                </a:r>
                <a:r>
                  <a:rPr lang="en-US" sz="1200" kern="1200" dirty="0">
                    <a:solidFill>
                      <a:schemeClr val="tx1"/>
                    </a:solidFill>
                    <a:effectLst/>
                    <a:latin typeface="+mn-lt"/>
                    <a:ea typeface="+mn-ea"/>
                    <a:cs typeface="+mn-cs"/>
                  </a:rPr>
                  <a:t> Federal regulations, third-party state inspectors, and slowing down or "pacing" frontier development.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Core Philosophy:</a:t>
                </a:r>
                <a:r>
                  <a:rPr lang="en-US" sz="1200" kern="1200" dirty="0">
                    <a:solidFill>
                      <a:schemeClr val="tx1"/>
                    </a:solidFill>
                    <a:effectLst/>
                    <a:latin typeface="+mn-lt"/>
                    <a:ea typeface="+mn-ea"/>
                    <a:cs typeface="+mn-cs"/>
                  </a:rPr>
                  <a:t> Treating AI like nuclear weapons—governed by fear, heavy politicization, and top-down containment. </a:t>
                </a:r>
              </a:p>
              <a:p>
                <a:pPr lvl="0"/>
                <a:r>
                  <a:rPr lang="en-US" sz="1200" b="1" kern="1200" dirty="0">
                    <a:solidFill>
                      <a:schemeClr val="tx1"/>
                    </a:solidFill>
                    <a:effectLst/>
                    <a:latin typeface="+mn-lt"/>
                    <a:ea typeface="+mn-ea"/>
                    <a:cs typeface="+mn-cs"/>
                  </a:rPr>
                  <a:t>The Reality of "Pacing":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Proposing "pacing" creates a PR trap. For those concerned with existential risk, "pacing" isn't enough. For enterprise builders, it creates market uncertainty.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Furthermore, "pacing" runs directly into the classic </a:t>
                </a:r>
                <a:r>
                  <a:rPr lang="en-US" sz="1200" b="1" kern="1200" dirty="0">
                    <a:solidFill>
                      <a:schemeClr val="tx1"/>
                    </a:solidFill>
                    <a:effectLst/>
                    <a:latin typeface="+mn-lt"/>
                    <a:ea typeface="+mn-ea"/>
                    <a:cs typeface="+mn-cs"/>
                  </a:rPr>
                  <a:t>Tragedy of the Commons</a:t>
                </a:r>
                <a:r>
                  <a:rPr lang="en-US" sz="1200" kern="1200" dirty="0">
                    <a:solidFill>
                      <a:schemeClr val="tx1"/>
                    </a:solidFill>
                    <a:effectLst/>
                    <a:latin typeface="+mn-lt"/>
                    <a:ea typeface="+mn-ea"/>
                    <a:cs typeface="+mn-cs"/>
                  </a:rPr>
                  <a:t>: No individual lab or enterprise can unilaterally pause or slow down in a competitive market where market leadership and capital allocation are at stake. </a:t>
                </a:r>
              </a:p>
              <a:p>
                <a:pPr lvl="0"/>
                <a:r>
                  <a:rPr lang="en-US" sz="1200" b="1" kern="1200" dirty="0">
                    <a:solidFill>
                      <a:schemeClr val="tx1"/>
                    </a:solidFill>
                    <a:effectLst/>
                    <a:latin typeface="+mn-lt"/>
                    <a:ea typeface="+mn-ea"/>
                    <a:cs typeface="+mn-cs"/>
                  </a:rPr>
                  <a:t>The Engineering Camp: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Perceived Threat:</a:t>
                </a:r>
                <a:r>
                  <a:rPr lang="en-US" sz="1200" kern="1200" dirty="0">
                    <a:solidFill>
                      <a:schemeClr val="tx1"/>
                    </a:solidFill>
                    <a:effectLst/>
                    <a:latin typeface="+mn-lt"/>
                    <a:ea typeface="+mn-ea"/>
                    <a:cs typeface="+mn-cs"/>
                  </a:rPr>
                  <a:t> Focuses on immediate security vulnerabilities, machine-speed cyber attacks, and enterprise data bottlenecks.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Proposed Solutions:</a:t>
                </a:r>
                <a:r>
                  <a:rPr lang="en-US" sz="1200" kern="1200" dirty="0">
                    <a:solidFill>
                      <a:schemeClr val="tx1"/>
                    </a:solidFill>
                    <a:effectLst/>
                    <a:latin typeface="+mn-lt"/>
                    <a:ea typeface="+mn-ea"/>
                    <a:cs typeface="+mn-cs"/>
                  </a:rPr>
                  <a:t> Automated threat hunting, agentic defense, and robust data architecture.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Core Philosophy:</a:t>
                </a:r>
                <a:r>
                  <a:rPr lang="en-US" sz="1200" kern="1200" dirty="0">
                    <a:solidFill>
                      <a:schemeClr val="tx1"/>
                    </a:solidFill>
                    <a:effectLst/>
                    <a:latin typeface="+mn-lt"/>
                    <a:ea typeface="+mn-ea"/>
                    <a:cs typeface="+mn-cs"/>
                  </a:rPr>
                  <a:t> Treating AI as a dynamic, autocatalytic software system that requires engineering constraints and guardrails rather than political stalls.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why the Engineering Camp rejects apocalyptic timelines, we must deconstruct the primary driver of superintelligence fears: </a:t>
                </a:r>
                <a:r>
                  <a:rPr lang="en-US" sz="1200" b="1" kern="1200" dirty="0">
                    <a:solidFill>
                      <a:schemeClr val="tx1"/>
                    </a:solidFill>
                    <a:effectLst/>
                    <a:latin typeface="+mn-lt"/>
                    <a:ea typeface="+mn-ea"/>
                    <a:cs typeface="+mn-cs"/>
                  </a:rPr>
                  <a:t>Recursive Self-Improvement (RSI)</a:t>
                </a:r>
                <a:r>
                  <a:rPr lang="en-US" sz="1200" kern="1200" dirty="0">
                    <a:solidFill>
                      <a:schemeClr val="tx1"/>
                    </a:solidFill>
                    <a:effectLst/>
                    <a:latin typeface="+mn-lt"/>
                    <a:ea typeface="+mn-ea"/>
                    <a:cs typeface="+mn-cs"/>
                  </a:rPr>
                  <a:t>. </a:t>
                </a:r>
              </a:p>
              <a:p>
                <a:endParaRPr lang="en-US" dirty="0"/>
              </a:p>
            </p:txBody>
          </p:sp>
        </mc:Fallback>
      </mc:AlternateContent>
      <p:sp>
        <p:nvSpPr>
          <p:cNvPr id="4" name="Slide Number Placeholder 3"/>
          <p:cNvSpPr>
            <a:spLocks noGrp="1"/>
          </p:cNvSpPr>
          <p:nvPr>
            <p:ph type="sldNum" sz="quarter" idx="5"/>
          </p:nvPr>
        </p:nvSpPr>
        <p:spPr/>
        <p:txBody>
          <a:bodyPr/>
          <a:lstStyle/>
          <a:p>
            <a:fld id="{71002038-D844-48C0-A8EF-BD807B4D0F0C}" type="slidenum">
              <a:rPr lang="en-US" smtClean="0"/>
              <a:t>2</a:t>
            </a:fld>
            <a:endParaRPr lang="en-US"/>
          </a:p>
        </p:txBody>
      </p:sp>
    </p:spTree>
    <p:extLst>
      <p:ext uri="{BB962C8B-B14F-4D97-AF65-F5344CB8AC3E}">
        <p14:creationId xmlns:p14="http://schemas.microsoft.com/office/powerpoint/2010/main" val="3443451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What is the RSI Hypothesis?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fear of runaway superintelligence relies on True </a:t>
            </a:r>
            <a:r>
              <a:rPr lang="en-US" sz="1200" b="1" kern="1200" dirty="0">
                <a:solidFill>
                  <a:schemeClr val="tx1"/>
                </a:solidFill>
                <a:effectLst/>
                <a:latin typeface="+mn-lt"/>
                <a:ea typeface="+mn-ea"/>
                <a:cs typeface="+mn-cs"/>
              </a:rPr>
              <a:t>Recursive Self-Improvement (RSI)</a:t>
            </a:r>
            <a:r>
              <a:rPr lang="en-US" sz="1200" kern="1200" dirty="0">
                <a:solidFill>
                  <a:schemeClr val="tx1"/>
                </a:solidFill>
                <a:effectLst/>
                <a:latin typeface="+mn-lt"/>
                <a:ea typeface="+mn-ea"/>
                <a:cs typeface="+mn-cs"/>
              </a:rPr>
              <a:t>. For an AI system to enter a true self-improving feedback loop, four strict conditions must occur simultaneously: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Fewer Compute Resources:</a:t>
            </a:r>
            <a:r>
              <a:rPr lang="en-US" sz="1200" kern="1200" dirty="0">
                <a:solidFill>
                  <a:schemeClr val="tx1"/>
                </a:solidFill>
                <a:effectLst/>
                <a:latin typeface="+mn-lt"/>
                <a:ea typeface="+mn-ea"/>
                <a:cs typeface="+mn-cs"/>
              </a:rPr>
              <a:t> The next iteration of the model requires </a:t>
            </a:r>
            <a:r>
              <a:rPr lang="en-US" sz="1200" i="1" kern="1200" dirty="0">
                <a:solidFill>
                  <a:schemeClr val="tx1"/>
                </a:solidFill>
                <a:effectLst/>
                <a:latin typeface="+mn-lt"/>
                <a:ea typeface="+mn-ea"/>
                <a:cs typeface="+mn-cs"/>
              </a:rPr>
              <a:t>substantially fewer</a:t>
            </a:r>
            <a:r>
              <a:rPr lang="en-US" sz="1200" kern="1200" dirty="0">
                <a:solidFill>
                  <a:schemeClr val="tx1"/>
                </a:solidFill>
                <a:effectLst/>
                <a:latin typeface="+mn-lt"/>
                <a:ea typeface="+mn-ea"/>
                <a:cs typeface="+mn-cs"/>
              </a:rPr>
              <a:t> GPUs and lower energy spend.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Faster Training Times:</a:t>
            </a:r>
            <a:r>
              <a:rPr lang="en-US" sz="1200" kern="1200" dirty="0">
                <a:solidFill>
                  <a:schemeClr val="tx1"/>
                </a:solidFill>
                <a:effectLst/>
                <a:latin typeface="+mn-lt"/>
                <a:ea typeface="+mn-ea"/>
                <a:cs typeface="+mn-cs"/>
              </a:rPr>
              <a:t> Training the next generation takes </a:t>
            </a:r>
            <a:r>
              <a:rPr lang="en-US" sz="1200" i="1" kern="1200" dirty="0">
                <a:solidFill>
                  <a:schemeClr val="tx1"/>
                </a:solidFill>
                <a:effectLst/>
                <a:latin typeface="+mn-lt"/>
                <a:ea typeface="+mn-ea"/>
                <a:cs typeface="+mn-cs"/>
              </a:rPr>
              <a:t>significantly less time</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Super-Linear Intelligence Gain:</a:t>
            </a:r>
            <a:r>
              <a:rPr lang="en-US" sz="1200" kern="1200" dirty="0">
                <a:solidFill>
                  <a:schemeClr val="tx1"/>
                </a:solidFill>
                <a:effectLst/>
                <a:latin typeface="+mn-lt"/>
                <a:ea typeface="+mn-ea"/>
                <a:cs typeface="+mn-cs"/>
              </a:rPr>
              <a:t> Core intelligence and capabilities increase non-linearly.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Continuous Autonomous Iteration:</a:t>
            </a:r>
            <a:r>
              <a:rPr lang="en-US" sz="1200" kern="1200" dirty="0">
                <a:solidFill>
                  <a:schemeClr val="tx1"/>
                </a:solidFill>
                <a:effectLst/>
                <a:latin typeface="+mn-lt"/>
                <a:ea typeface="+mn-ea"/>
                <a:cs typeface="+mn-cs"/>
              </a:rPr>
              <a:t> The loop operates repeatedly with minimal friction. </a:t>
            </a:r>
          </a:p>
          <a:p>
            <a:pPr lvl="0"/>
            <a:r>
              <a:rPr lang="en-US" sz="1200" b="1" kern="1200" dirty="0">
                <a:solidFill>
                  <a:schemeClr val="tx1"/>
                </a:solidFill>
                <a:effectLst/>
                <a:latin typeface="+mn-lt"/>
                <a:ea typeface="+mn-ea"/>
                <a:cs typeface="+mn-cs"/>
              </a:rPr>
              <a:t>The Ground-Truth Engineering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looking at frontier model training, the reality is the exact opposite of these four conditions: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Massive Compute Overhead:</a:t>
            </a:r>
            <a:r>
              <a:rPr lang="en-US" sz="1200" kern="1200" dirty="0">
                <a:solidFill>
                  <a:schemeClr val="tx1"/>
                </a:solidFill>
                <a:effectLst/>
                <a:latin typeface="+mn-lt"/>
                <a:ea typeface="+mn-ea"/>
                <a:cs typeface="+mn-cs"/>
              </a:rPr>
              <a:t> Compute thresholds to train top-tier models have escalated from $100M to $1B, and now reach $5B+ cluster buildouts.</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Heavy Human Bottlenecks:</a:t>
            </a:r>
            <a:r>
              <a:rPr lang="en-US" sz="1200" kern="1200" dirty="0">
                <a:solidFill>
                  <a:schemeClr val="tx1"/>
                </a:solidFill>
                <a:effectLst/>
                <a:latin typeface="+mn-lt"/>
                <a:ea typeface="+mn-ea"/>
                <a:cs typeface="+mn-cs"/>
              </a:rPr>
              <a:t> Training frontier models requires extensive human oversight, specialized research teams, manual data curation, and post-training feedback.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Extreme Brittleness:</a:t>
            </a:r>
            <a:r>
              <a:rPr lang="en-US" sz="1200" kern="1200" dirty="0">
                <a:solidFill>
                  <a:schemeClr val="tx1"/>
                </a:solidFill>
                <a:effectLst/>
                <a:latin typeface="+mn-lt"/>
                <a:ea typeface="+mn-ea"/>
                <a:cs typeface="+mn-cs"/>
              </a:rPr>
              <a:t> Massively distributed GPU runs across tens of thousands of chips are fragile. Hardware faults, networking errors, and software instability mean multi-million-dollar training runs frequently fail or require manual intervention.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are managing complex, resource-intensive infrastructure—not witnessing an unconstrained, self-multiplying intelligence explosion.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3</a:t>
            </a:fld>
            <a:endParaRPr lang="en-US"/>
          </a:p>
        </p:txBody>
      </p:sp>
    </p:spTree>
    <p:extLst>
      <p:ext uri="{BB962C8B-B14F-4D97-AF65-F5344CB8AC3E}">
        <p14:creationId xmlns:p14="http://schemas.microsoft.com/office/powerpoint/2010/main" val="3346016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Shift from Theoretical Risk to Immediate Threat: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superintelligence remains distant, </a:t>
            </a:r>
            <a:r>
              <a:rPr lang="en-US" sz="1200" b="1" kern="1200" dirty="0">
                <a:solidFill>
                  <a:schemeClr val="tx1"/>
                </a:solidFill>
                <a:effectLst/>
                <a:latin typeface="+mn-lt"/>
                <a:ea typeface="+mn-ea"/>
                <a:cs typeface="+mn-cs"/>
              </a:rPr>
              <a:t>cybersecurity exploit cycles</a:t>
            </a:r>
            <a:r>
              <a:rPr lang="en-US" sz="1200" kern="1200" dirty="0">
                <a:solidFill>
                  <a:schemeClr val="tx1"/>
                </a:solidFill>
                <a:effectLst/>
                <a:latin typeface="+mn-lt"/>
                <a:ea typeface="+mn-ea"/>
                <a:cs typeface="+mn-cs"/>
              </a:rPr>
              <a:t> are accelerating rapidly.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Historically, when a Common Vulnerability and Exposure (CVE) was published, the timeline from initial public disclosure to active weaponization in the wild looked like this: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2018–2019:</a:t>
            </a:r>
            <a:r>
              <a:rPr lang="en-US" sz="1200" kern="1200" dirty="0">
                <a:solidFill>
                  <a:schemeClr val="tx1"/>
                </a:solidFill>
                <a:effectLst/>
                <a:latin typeface="+mn-lt"/>
                <a:ea typeface="+mn-ea"/>
                <a:cs typeface="+mn-cs"/>
              </a:rPr>
              <a:t> 2 to 3 years.</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2022:</a:t>
            </a:r>
            <a:r>
              <a:rPr lang="en-US" sz="1200" kern="1200" dirty="0">
                <a:solidFill>
                  <a:schemeClr val="tx1"/>
                </a:solidFill>
                <a:effectLst/>
                <a:latin typeface="+mn-lt"/>
                <a:ea typeface="+mn-ea"/>
                <a:cs typeface="+mn-cs"/>
              </a:rPr>
              <a:t> 8 to 9 months.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2024–Present: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Hours to minutes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Why Has Exploit Time Compressed?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widespread availability of LLM agents allows malicious actors to run automated threat-scanning scripts at machine scale.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Agents can systematically parse CVE releases, generate proof-of-concept exploits, inspect target infrastructure, and launch attacks almost instantaneously.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Coupled with the fact that modern enterprises have interconnected more critical software infrastructure than ever before, vulnerable entry points can be discovered and exploited in near real-time.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Because exploit timelines have collapsed to hours, traditional human-led security operations can no longer keep pace.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4</a:t>
            </a:fld>
            <a:endParaRPr lang="en-US"/>
          </a:p>
        </p:txBody>
      </p:sp>
    </p:spTree>
    <p:extLst>
      <p:ext uri="{BB962C8B-B14F-4D97-AF65-F5344CB8AC3E}">
        <p14:creationId xmlns:p14="http://schemas.microsoft.com/office/powerpoint/2010/main" val="1572103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Market Collapse of Cyber and Data/AI:</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Historically, Enterprise Data/AI platforms and Cybersecurity Operations (SOCs) operated in separate silos. Today, these two domains are violently converging. </a:t>
            </a:r>
          </a:p>
          <a:p>
            <a:pPr lvl="0"/>
            <a:r>
              <a:rPr lang="en-US" sz="1200" b="1" kern="1200" dirty="0">
                <a:solidFill>
                  <a:schemeClr val="tx1"/>
                </a:solidFill>
                <a:effectLst/>
                <a:latin typeface="+mn-lt"/>
                <a:ea typeface="+mn-ea"/>
                <a:cs typeface="+mn-cs"/>
              </a:rPr>
              <a:t>Log Inputs &amp; Telemetry Scale: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Modern enterprises deploy internal AI agents, microservices, and continuous automated tasks.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These systems produce massive telemetry trails, audit logs, and digital fingerprints. The volume of log data generated daily is orders of magnitude larger than what IT teams managed just two years ago. </a:t>
            </a:r>
          </a:p>
          <a:p>
            <a:pPr lvl="0"/>
            <a:r>
              <a:rPr lang="en-US" sz="1200" b="1" kern="1200" dirty="0">
                <a:solidFill>
                  <a:schemeClr val="tx1"/>
                </a:solidFill>
                <a:effectLst/>
                <a:latin typeface="+mn-lt"/>
                <a:ea typeface="+mn-ea"/>
                <a:cs typeface="+mn-cs"/>
              </a:rPr>
              <a:t>The SOC Bottleneck: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Legacy Security Operations Center (SOC) teams rely on human analysts reviewing queues of security alerts.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Human SOC teams face hundreds or thousands of false-positive daily alerts. When attacks move at machine speed, humans reading alert emails cannot respond quickly enough. </a:t>
            </a:r>
          </a:p>
          <a:p>
            <a:pPr lvl="0"/>
            <a:r>
              <a:rPr lang="en-US" sz="1200" b="1" kern="1200" dirty="0">
                <a:solidFill>
                  <a:schemeClr val="tx1"/>
                </a:solidFill>
                <a:effectLst/>
                <a:latin typeface="+mn-lt"/>
                <a:ea typeface="+mn-ea"/>
                <a:cs typeface="+mn-cs"/>
              </a:rPr>
              <a:t>The Solution: Agentic Defense &amp; Telemetry: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 cannot defend against machine-speed automated agents using manual human workflows.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Automated Threat Hunting:</a:t>
            </a:r>
            <a:r>
              <a:rPr lang="en-US" sz="1200" kern="1200" dirty="0">
                <a:solidFill>
                  <a:schemeClr val="tx1"/>
                </a:solidFill>
                <a:effectLst/>
                <a:latin typeface="+mn-lt"/>
                <a:ea typeface="+mn-ea"/>
                <a:cs typeface="+mn-cs"/>
              </a:rPr>
              <a:t> Organizations must deploy defending AI agents capable of continuously inspecting real-time telemetry, conducting automated red-teaming, and patching systems autonomously.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Combining Lakehouse Telemetry with Automated Detection is becoming the standard for modern cyber defense.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5</a:t>
            </a:fld>
            <a:endParaRPr lang="en-US"/>
          </a:p>
        </p:txBody>
      </p:sp>
    </p:spTree>
    <p:extLst>
      <p:ext uri="{BB962C8B-B14F-4D97-AF65-F5344CB8AC3E}">
        <p14:creationId xmlns:p14="http://schemas.microsoft.com/office/powerpoint/2010/main" val="3075835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Glorified Search Engines: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Despite public hype surrounding general AI capabilities, most enterprise deployments remain limited.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Many companies use frontier models primarily as glorified search interfaces or basic chat assistants—faster Google Search over internal PDFs.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They lack true multi-agent coordination, automated negotiation, or end-to-end workflow execution. </a:t>
            </a:r>
          </a:p>
          <a:p>
            <a:pPr lvl="0"/>
            <a:r>
              <a:rPr lang="en-US" sz="1200" b="1" kern="1200" dirty="0">
                <a:solidFill>
                  <a:schemeClr val="tx1"/>
                </a:solidFill>
                <a:effectLst/>
                <a:latin typeface="+mn-lt"/>
                <a:ea typeface="+mn-ea"/>
                <a:cs typeface="+mn-cs"/>
              </a:rPr>
              <a:t>Raw Intelligence vs. Tacit Knowledge: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bottleneck in enterprise productivity isn't a lack of raw model intelligence; it is a lack of </a:t>
            </a:r>
            <a:r>
              <a:rPr lang="en-US" sz="1200" b="1" kern="1200" dirty="0">
                <a:solidFill>
                  <a:schemeClr val="tx1"/>
                </a:solidFill>
                <a:effectLst/>
                <a:latin typeface="+mn-lt"/>
                <a:ea typeface="+mn-ea"/>
                <a:cs typeface="+mn-cs"/>
              </a:rPr>
              <a:t>organizational context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Consider the analogy of a </a:t>
            </a:r>
            <a:r>
              <a:rPr lang="en-US" sz="1200" b="1" kern="1200" dirty="0">
                <a:solidFill>
                  <a:schemeClr val="tx1"/>
                </a:solidFill>
                <a:effectLst/>
                <a:latin typeface="+mn-lt"/>
                <a:ea typeface="+mn-ea"/>
                <a:cs typeface="+mn-cs"/>
              </a:rPr>
              <a:t>Day-1 New Hire</a:t>
            </a:r>
            <a:r>
              <a:rPr lang="en-US" sz="1200" kern="1200" dirty="0">
                <a:solidFill>
                  <a:schemeClr val="tx1"/>
                </a:solidFill>
                <a:effectLst/>
                <a:latin typeface="+mn-lt"/>
                <a:ea typeface="+mn-ea"/>
                <a:cs typeface="+mn-cs"/>
              </a:rPr>
              <a:t> versus a </a:t>
            </a:r>
            <a:r>
              <a:rPr lang="en-US" sz="1200" b="1" kern="1200" dirty="0">
                <a:solidFill>
                  <a:schemeClr val="tx1"/>
                </a:solidFill>
                <a:effectLst/>
                <a:latin typeface="+mn-lt"/>
                <a:ea typeface="+mn-ea"/>
                <a:cs typeface="+mn-cs"/>
              </a:rPr>
              <a:t>5-Year Veteran</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Both individuals may possess equal raw intelligence and qualifications.</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5-Year Veteran knows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the company actually functions—which unwritten paths get approvals, who holds domain authority, how permissions interact, and where implicit data lives.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off-the-shelf frontier model is like the brilliant Day-1 hire who lacks internal operational context. </a:t>
            </a:r>
          </a:p>
          <a:p>
            <a:pPr lvl="0"/>
            <a:r>
              <a:rPr lang="en-US" sz="1200" b="1" kern="1200" dirty="0">
                <a:solidFill>
                  <a:schemeClr val="tx1"/>
                </a:solidFill>
                <a:effectLst/>
                <a:latin typeface="+mn-lt"/>
                <a:ea typeface="+mn-ea"/>
                <a:cs typeface="+mn-cs"/>
              </a:rPr>
              <a:t>Transition:</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How do we bridge this context gap? By constructing a explicit </a:t>
            </a:r>
            <a:r>
              <a:rPr lang="en-US" sz="1200" b="1" kern="1200" dirty="0">
                <a:solidFill>
                  <a:schemeClr val="tx1"/>
                </a:solidFill>
                <a:effectLst/>
                <a:latin typeface="+mn-lt"/>
                <a:ea typeface="+mn-ea"/>
                <a:cs typeface="+mn-cs"/>
              </a:rPr>
              <a:t>Enterprise Ontology</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6</a:t>
            </a:fld>
            <a:endParaRPr lang="en-US"/>
          </a:p>
        </p:txBody>
      </p:sp>
    </p:spTree>
    <p:extLst>
      <p:ext uri="{BB962C8B-B14F-4D97-AF65-F5344CB8AC3E}">
        <p14:creationId xmlns:p14="http://schemas.microsoft.com/office/powerpoint/2010/main" val="3586975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What is an Enterprise Ontology?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ontology captures and structures the relationships among an organization's abstract concepts, people, permissions, goals, projects, and internal processes. </a:t>
            </a:r>
          </a:p>
          <a:p>
            <a:pPr lvl="0"/>
            <a:r>
              <a:rPr lang="en-US" sz="1200" b="1" kern="1200" dirty="0">
                <a:solidFill>
                  <a:schemeClr val="tx1"/>
                </a:solidFill>
                <a:effectLst/>
                <a:latin typeface="+mn-lt"/>
                <a:ea typeface="+mn-ea"/>
                <a:cs typeface="+mn-cs"/>
              </a:rPr>
              <a:t>The Three-Step Blueprint:</a:t>
            </a:r>
            <a:endParaRPr lang="en-US" sz="1200" kern="1200" dirty="0">
              <a:solidFill>
                <a:schemeClr val="tx1"/>
              </a:solidFill>
              <a:effectLst/>
              <a:latin typeface="+mn-lt"/>
              <a:ea typeface="+mn-ea"/>
              <a:cs typeface="+mn-cs"/>
            </a:endParaRPr>
          </a:p>
          <a:p>
            <a:pPr marL="228600" lvl="0" indent="-228600" algn="l">
              <a:buFont typeface="+mj-lt"/>
              <a:buAutoNum type="arabicPeriod"/>
            </a:pPr>
            <a:r>
              <a:rPr lang="en-US" sz="1200" b="1" kern="1200" dirty="0">
                <a:solidFill>
                  <a:schemeClr val="tx1"/>
                </a:solidFill>
                <a:effectLst/>
                <a:latin typeface="+mn-lt"/>
                <a:ea typeface="+mn-ea"/>
                <a:cs typeface="+mn-cs"/>
              </a:rPr>
              <a:t>Digitization:</a:t>
            </a:r>
            <a:r>
              <a:rPr lang="en-US" sz="1200" kern="1200" dirty="0">
                <a:solidFill>
                  <a:schemeClr val="tx1"/>
                </a:solidFill>
                <a:effectLst/>
                <a:latin typeface="+mn-lt"/>
                <a:ea typeface="+mn-ea"/>
                <a:cs typeface="+mn-cs"/>
              </a:rPr>
              <a:t> Capture, record, and transcribe internal interactions, meetings, workflows, and documentation. </a:t>
            </a:r>
          </a:p>
          <a:p>
            <a:pPr marL="228600" lvl="0" indent="-228600" algn="l">
              <a:buFont typeface="+mj-lt"/>
              <a:buAutoNum type="arabicPeriod"/>
            </a:pPr>
            <a:r>
              <a:rPr lang="en-US" sz="1200" b="1" kern="1200" dirty="0">
                <a:solidFill>
                  <a:schemeClr val="tx1"/>
                </a:solidFill>
                <a:effectLst/>
                <a:latin typeface="+mn-lt"/>
                <a:ea typeface="+mn-ea"/>
                <a:cs typeface="+mn-cs"/>
              </a:rPr>
              <a:t>Distillation:</a:t>
            </a:r>
            <a:r>
              <a:rPr lang="en-US" sz="1200" kern="1200" dirty="0">
                <a:solidFill>
                  <a:schemeClr val="tx1"/>
                </a:solidFill>
                <a:effectLst/>
                <a:latin typeface="+mn-lt"/>
                <a:ea typeface="+mn-ea"/>
                <a:cs typeface="+mn-cs"/>
              </a:rPr>
              <a:t> Convert unstructured telemetry, transcriptions, and database records into a structured relationship graph (an Ontology Graph) linking people, projects, access permissions, and goals. </a:t>
            </a:r>
          </a:p>
          <a:p>
            <a:pPr marL="228600" lvl="0" indent="-228600" algn="l">
              <a:buFont typeface="+mj-lt"/>
              <a:buAutoNum type="arabicPeriod"/>
            </a:pPr>
            <a:r>
              <a:rPr lang="en-US" sz="1200" b="1" kern="1200" dirty="0">
                <a:solidFill>
                  <a:schemeClr val="tx1"/>
                </a:solidFill>
                <a:effectLst/>
                <a:latin typeface="+mn-lt"/>
                <a:ea typeface="+mn-ea"/>
                <a:cs typeface="+mn-cs"/>
              </a:rPr>
              <a:t>Agentic Injection:</a:t>
            </a:r>
            <a:r>
              <a:rPr lang="en-US" sz="1200" kern="1200" dirty="0">
                <a:solidFill>
                  <a:schemeClr val="tx1"/>
                </a:solidFill>
                <a:effectLst/>
                <a:latin typeface="+mn-lt"/>
                <a:ea typeface="+mn-ea"/>
                <a:cs typeface="+mn-cs"/>
              </a:rPr>
              <a:t> Feed this structured relationship graph into AI agents, allowing models to operate with full organizational context. </a:t>
            </a:r>
          </a:p>
          <a:p>
            <a:pPr lvl="0"/>
            <a:r>
              <a:rPr lang="en-US" sz="1200" b="1" kern="1200" dirty="0">
                <a:solidFill>
                  <a:schemeClr val="tx1"/>
                </a:solidFill>
                <a:effectLst/>
                <a:latin typeface="+mn-lt"/>
                <a:ea typeface="+mn-ea"/>
                <a:cs typeface="+mn-cs"/>
              </a:rPr>
              <a:t>Practical Example – Databricks' Internal Usage: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waiting days for Sales Ops or the CFO to query database records, executives use natural-language interfaces (like Databricks Genie) backed by their internal ontology.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Asking complex queries—such as </a:t>
            </a:r>
            <a:r>
              <a:rPr lang="en-US" sz="1200" i="1" kern="1200" dirty="0">
                <a:solidFill>
                  <a:schemeClr val="tx1"/>
                </a:solidFill>
                <a:effectLst/>
                <a:latin typeface="+mn-lt"/>
                <a:ea typeface="+mn-ea"/>
                <a:cs typeface="+mn-cs"/>
              </a:rPr>
              <a:t>"What is our current penetration rate within Fortune 500 accounts?"</a:t>
            </a:r>
            <a:r>
              <a:rPr lang="en-US" sz="1200" kern="1200" dirty="0">
                <a:solidFill>
                  <a:schemeClr val="tx1"/>
                </a:solidFill>
                <a:effectLst/>
                <a:latin typeface="+mn-lt"/>
                <a:ea typeface="+mn-ea"/>
                <a:cs typeface="+mn-cs"/>
              </a:rPr>
              <a:t>—returns immediate, cross-referenced analytical answers directly from the context graph.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7</a:t>
            </a:fld>
            <a:endParaRPr lang="en-US"/>
          </a:p>
        </p:txBody>
      </p:sp>
    </p:spTree>
    <p:extLst>
      <p:ext uri="{BB962C8B-B14F-4D97-AF65-F5344CB8AC3E}">
        <p14:creationId xmlns:p14="http://schemas.microsoft.com/office/powerpoint/2010/main" val="2082266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Problem with the Slow Agentic Loop: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Currently, many agent architectures rely on sequential retrieval loops (e.g., using Model Context Protocol/MCP servers):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An agent queries Server A.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It reads and summarizes the result.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It hops to Server B, follows links to Server C, and manually synthesizes data.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High latency (taking minutes to answer) and high compute costs. This is akin to an early search engine manually visiting 10 websites sequentially after every query. </a:t>
            </a:r>
          </a:p>
          <a:p>
            <a:pPr lvl="0"/>
            <a:r>
              <a:rPr lang="en-US" sz="1200" b="1" kern="1200" dirty="0">
                <a:solidFill>
                  <a:schemeClr val="tx1"/>
                </a:solidFill>
                <a:effectLst/>
                <a:latin typeface="+mn-lt"/>
                <a:ea typeface="+mn-ea"/>
                <a:cs typeface="+mn-cs"/>
              </a:rPr>
              <a:t>The Architectural Solution: Offline Pre-Computed Reverse Index:</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Google revolutionized early web search by replacing real-time sequential crawling with pre-computed offline reverse indexes (PageRank).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Enterprise AI requires a similar architectural transition: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Continuously compute and index the </a:t>
            </a:r>
            <a:r>
              <a:rPr lang="en-US" sz="1200" b="1" kern="1200" dirty="0">
                <a:solidFill>
                  <a:schemeClr val="tx1"/>
                </a:solidFill>
                <a:effectLst/>
                <a:latin typeface="+mn-lt"/>
                <a:ea typeface="+mn-ea"/>
                <a:cs typeface="+mn-cs"/>
              </a:rPr>
              <a:t>Ontology Graph offline</a:t>
            </a:r>
            <a:r>
              <a:rPr lang="en-US" sz="1200" kern="1200" dirty="0">
                <a:solidFill>
                  <a:schemeClr val="tx1"/>
                </a:solidFill>
                <a:effectLst/>
                <a:latin typeface="+mn-lt"/>
                <a:ea typeface="+mn-ea"/>
                <a:cs typeface="+mn-cs"/>
              </a:rPr>
              <a:t>.</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Account for dynamic user permissions, privacy controls, and access boundaries in real time.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When an agent receives a request, it hits the pre-computed index, returning answers in </a:t>
            </a:r>
            <a:r>
              <a:rPr lang="en-US" sz="1200" b="1" kern="1200" dirty="0">
                <a:solidFill>
                  <a:schemeClr val="tx1"/>
                </a:solidFill>
                <a:effectLst/>
                <a:latin typeface="+mn-lt"/>
                <a:ea typeface="+mn-ea"/>
                <a:cs typeface="+mn-cs"/>
              </a:rPr>
              <a:t>under 100ms</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8</a:t>
            </a:fld>
            <a:endParaRPr lang="en-US"/>
          </a:p>
        </p:txBody>
      </p:sp>
    </p:spTree>
    <p:extLst>
      <p:ext uri="{BB962C8B-B14F-4D97-AF65-F5344CB8AC3E}">
        <p14:creationId xmlns:p14="http://schemas.microsoft.com/office/powerpoint/2010/main" val="1397591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Moving from "Token Maxing" to "Value Maxing":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Early enterprise deployments suffered from unchecked "token maxing"—routing every trivial task to frontier models.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Paying frontier-model prices for mundane operations (such as data cleaning, log parsing, or file renaming) degrades enterprise ROI. </a:t>
            </a:r>
          </a:p>
          <a:p>
            <a:pPr lvl="0"/>
            <a:r>
              <a:rPr lang="en-US" sz="1200" b="1" kern="1200" dirty="0">
                <a:solidFill>
                  <a:schemeClr val="tx1"/>
                </a:solidFill>
                <a:effectLst/>
                <a:latin typeface="+mn-lt"/>
                <a:ea typeface="+mn-ea"/>
                <a:cs typeface="+mn-cs"/>
              </a:rPr>
              <a:t>Smart Routing &amp; Gateway Architectures: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High-Complexity &amp; Audit Tasks:</a:t>
            </a:r>
            <a:r>
              <a:rPr lang="en-US" sz="1200" kern="1200" dirty="0">
                <a:solidFill>
                  <a:schemeClr val="tx1"/>
                </a:solidFill>
                <a:effectLst/>
                <a:latin typeface="+mn-lt"/>
                <a:ea typeface="+mn-ea"/>
                <a:cs typeface="+mn-cs"/>
              </a:rPr>
              <a:t> Direct high-reasoning tasks, complex logic, and auditing to top-tier frontier models.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High-Volume &amp; Mundane Tasks:</a:t>
            </a:r>
            <a:r>
              <a:rPr lang="en-US" sz="1200" kern="1200" dirty="0">
                <a:solidFill>
                  <a:schemeClr val="tx1"/>
                </a:solidFill>
                <a:effectLst/>
                <a:latin typeface="+mn-lt"/>
                <a:ea typeface="+mn-ea"/>
                <a:cs typeface="+mn-cs"/>
              </a:rPr>
              <a:t> Route routine data manipulation, basic transformations, and repetitive sub-tasks to smaller open-source models. </a:t>
            </a:r>
          </a:p>
          <a:p>
            <a:pPr lvl="0"/>
            <a:r>
              <a:rPr lang="en-US" sz="1200" b="1" kern="1200" dirty="0">
                <a:solidFill>
                  <a:schemeClr val="tx1"/>
                </a:solidFill>
                <a:effectLst/>
                <a:latin typeface="+mn-lt"/>
                <a:ea typeface="+mn-ea"/>
                <a:cs typeface="+mn-cs"/>
              </a:rPr>
              <a:t>The Harness Multiplier:</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Testing shows that executing the exact same model version using a different agentic </a:t>
            </a:r>
            <a:r>
              <a:rPr lang="en-US" sz="1200" b="1" kern="1200" dirty="0">
                <a:solidFill>
                  <a:schemeClr val="tx1"/>
                </a:solidFill>
                <a:effectLst/>
                <a:latin typeface="+mn-lt"/>
                <a:ea typeface="+mn-ea"/>
                <a:cs typeface="+mn-cs"/>
              </a:rPr>
              <a:t>harness</a:t>
            </a:r>
            <a:r>
              <a:rPr lang="en-US" sz="1200" kern="1200" dirty="0">
                <a:solidFill>
                  <a:schemeClr val="tx1"/>
                </a:solidFill>
                <a:effectLst/>
                <a:latin typeface="+mn-lt"/>
                <a:ea typeface="+mn-ea"/>
                <a:cs typeface="+mn-cs"/>
              </a:rPr>
              <a:t> can yield a </a:t>
            </a:r>
            <a:r>
              <a:rPr lang="en-US" sz="1200" b="1" kern="1200" dirty="0">
                <a:solidFill>
                  <a:schemeClr val="tx1"/>
                </a:solidFill>
                <a:effectLst/>
                <a:latin typeface="+mn-lt"/>
                <a:ea typeface="+mn-ea"/>
                <a:cs typeface="+mn-cs"/>
              </a:rPr>
              <a:t>2x cost difference</a:t>
            </a:r>
            <a:r>
              <a:rPr lang="en-US" sz="1200" kern="1200" dirty="0">
                <a:solidFill>
                  <a:schemeClr val="tx1"/>
                </a:solidFill>
                <a:effectLst/>
                <a:latin typeface="+mn-lt"/>
                <a:ea typeface="+mn-ea"/>
                <a:cs typeface="+mn-cs"/>
              </a:rPr>
              <a:t>. Optimizing the execution harness is critical for cost governance. </a:t>
            </a:r>
          </a:p>
          <a:p>
            <a:pPr lvl="0"/>
            <a:r>
              <a:rPr lang="en-US" sz="1200" b="1" kern="1200" dirty="0">
                <a:solidFill>
                  <a:schemeClr val="tx1"/>
                </a:solidFill>
                <a:effectLst/>
                <a:latin typeface="+mn-lt"/>
                <a:ea typeface="+mn-ea"/>
                <a:cs typeface="+mn-cs"/>
              </a:rPr>
              <a:t>Industry Spend Distribution: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Across enterprise production workloads today, over </a:t>
            </a:r>
            <a:r>
              <a:rPr lang="en-US" sz="1200" b="1" kern="1200" dirty="0">
                <a:solidFill>
                  <a:schemeClr val="tx1"/>
                </a:solidFill>
                <a:effectLst/>
                <a:latin typeface="+mn-lt"/>
                <a:ea typeface="+mn-ea"/>
                <a:cs typeface="+mn-cs"/>
              </a:rPr>
              <a:t>60% of total tokens</a:t>
            </a:r>
            <a:r>
              <a:rPr lang="en-US" sz="1200" kern="1200" dirty="0">
                <a:solidFill>
                  <a:schemeClr val="tx1"/>
                </a:solidFill>
                <a:effectLst/>
                <a:latin typeface="+mn-lt"/>
                <a:ea typeface="+mn-ea"/>
                <a:cs typeface="+mn-cs"/>
              </a:rPr>
              <a:t> are handled by open-source or smaller specialized models, yet these account for only </a:t>
            </a:r>
            <a:r>
              <a:rPr lang="en-US" sz="1200" b="1" kern="1200" dirty="0">
                <a:solidFill>
                  <a:schemeClr val="tx1"/>
                </a:solidFill>
                <a:effectLst/>
                <a:latin typeface="+mn-lt"/>
                <a:ea typeface="+mn-ea"/>
                <a:cs typeface="+mn-cs"/>
              </a:rPr>
              <a:t>~5% of total dollar spend</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Reserve frontier models for high-value reasoning, while leveraging small models for scale execution.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9</a:t>
            </a:fld>
            <a:endParaRPr lang="en-US"/>
          </a:p>
        </p:txBody>
      </p:sp>
    </p:spTree>
    <p:extLst>
      <p:ext uri="{BB962C8B-B14F-4D97-AF65-F5344CB8AC3E}">
        <p14:creationId xmlns:p14="http://schemas.microsoft.com/office/powerpoint/2010/main" val="1217993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Legacy DB Architectures vs. Agentic Requirements: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Traditional relational databases were designed for human Database Administrators (DBAs) and human application developers. Provisioning environments, creating manual clones, and running schema migrations involve human oversight and slow setup times. </a:t>
            </a:r>
          </a:p>
          <a:p>
            <a:pPr lvl="0"/>
            <a:r>
              <a:rPr lang="en-US" sz="1200" b="1" kern="1200" dirty="0">
                <a:solidFill>
                  <a:schemeClr val="tx1"/>
                </a:solidFill>
                <a:effectLst/>
                <a:latin typeface="+mn-lt"/>
                <a:ea typeface="+mn-ea"/>
                <a:cs typeface="+mn-cs"/>
              </a:rPr>
              <a:t>Characteristics of Agent-Centric Databases (e.g., Neon / </a:t>
            </a:r>
            <a:r>
              <a:rPr lang="en-US" sz="1200" b="1" kern="1200" dirty="0" err="1">
                <a:solidFill>
                  <a:schemeClr val="tx1"/>
                </a:solidFill>
                <a:effectLst/>
                <a:latin typeface="+mn-lt"/>
                <a:ea typeface="+mn-ea"/>
                <a:cs typeface="+mn-cs"/>
              </a:rPr>
              <a:t>Lakebase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Sub-Second Elasticity:</a:t>
            </a:r>
            <a:r>
              <a:rPr lang="en-US" sz="1200" kern="1200" dirty="0">
                <a:solidFill>
                  <a:schemeClr val="tx1"/>
                </a:solidFill>
                <a:effectLst/>
                <a:latin typeface="+mn-lt"/>
                <a:ea typeface="+mn-ea"/>
                <a:cs typeface="+mn-cs"/>
              </a:rPr>
              <a:t> Autonomous agents spin up, experiment with, and tear down databases continuously. Modern agent-centric databases can boot and clone massive datasets in milliseconds.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Instant Copy-on-Write Branching:</a:t>
            </a:r>
            <a:r>
              <a:rPr lang="en-US" sz="1200" kern="1200" dirty="0">
                <a:solidFill>
                  <a:schemeClr val="tx1"/>
                </a:solidFill>
                <a:effectLst/>
                <a:latin typeface="+mn-lt"/>
                <a:ea typeface="+mn-ea"/>
                <a:cs typeface="+mn-cs"/>
              </a:rPr>
              <a:t> Agents can fork a production database instance in milliseconds to execute code modifications, run test software builds, or validate scripts safely without impacting live production environments.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Fail-Safe &amp; Disposable:</a:t>
            </a:r>
            <a:r>
              <a:rPr lang="en-US" sz="1200" kern="1200" dirty="0">
                <a:solidFill>
                  <a:schemeClr val="tx1"/>
                </a:solidFill>
                <a:effectLst/>
                <a:latin typeface="+mn-lt"/>
                <a:ea typeface="+mn-ea"/>
                <a:cs typeface="+mn-cs"/>
              </a:rPr>
              <a:t> Designed for rapid rollback, lightweight snapshots, and continuous machine-driven iterations. </a:t>
            </a:r>
          </a:p>
          <a:p>
            <a:pPr lvl="0"/>
            <a:r>
              <a:rPr lang="en-US" sz="1200" b="1" kern="1200" dirty="0">
                <a:solidFill>
                  <a:schemeClr val="tx1"/>
                </a:solidFill>
                <a:effectLst/>
                <a:latin typeface="+mn-lt"/>
                <a:ea typeface="+mn-ea"/>
                <a:cs typeface="+mn-cs"/>
              </a:rPr>
              <a:t>The Shift in Usage Metrics:</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On next-generation agentic database platforms, </a:t>
            </a:r>
            <a:r>
              <a:rPr lang="en-US" sz="1200" b="1" kern="1200" dirty="0">
                <a:solidFill>
                  <a:schemeClr val="tx1"/>
                </a:solidFill>
                <a:effectLst/>
                <a:latin typeface="+mn-lt"/>
                <a:ea typeface="+mn-ea"/>
                <a:cs typeface="+mn-cs"/>
              </a:rPr>
              <a:t>over 90% of database instances are created autonomously by AI agents</a:t>
            </a:r>
            <a:r>
              <a:rPr lang="en-US" sz="1200" kern="1200" dirty="0">
                <a:solidFill>
                  <a:schemeClr val="tx1"/>
                </a:solidFill>
                <a:effectLst/>
                <a:latin typeface="+mn-lt"/>
                <a:ea typeface="+mn-ea"/>
                <a:cs typeface="+mn-cs"/>
              </a:rPr>
              <a:t>, not human software engineers.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10</a:t>
            </a:fld>
            <a:endParaRPr lang="en-US"/>
          </a:p>
        </p:txBody>
      </p:sp>
    </p:spTree>
    <p:extLst>
      <p:ext uri="{BB962C8B-B14F-4D97-AF65-F5344CB8AC3E}">
        <p14:creationId xmlns:p14="http://schemas.microsoft.com/office/powerpoint/2010/main" val="2619972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We Cannot Afford to "Pause" or "Pace":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Advocating for sweeping administrative pauses or artificial delays on frontier development risks slowing real-world, life-saving AI innovations. </a:t>
            </a:r>
          </a:p>
          <a:p>
            <a:pPr lvl="0"/>
            <a:r>
              <a:rPr lang="en-US" sz="1200" b="1" kern="1200" dirty="0">
                <a:solidFill>
                  <a:schemeClr val="tx1"/>
                </a:solidFill>
                <a:effectLst/>
                <a:latin typeface="+mn-lt"/>
                <a:ea typeface="+mn-ea"/>
                <a:cs typeface="+mn-cs"/>
              </a:rPr>
              <a:t>Key Applied Examples: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Crisis Text Line:</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Deploys LLMs to detect subtle markers of distress and self-harm in real-time text conversations, allowing counselors to prioritize life-saving intervention for teenagers. </a:t>
            </a:r>
          </a:p>
          <a:p>
            <a:pPr marL="228600" lvl="0" indent="-228600">
              <a:buFont typeface="+mj-lt"/>
              <a:buAutoNum type="arabicPeriod"/>
            </a:pPr>
            <a:r>
              <a:rPr lang="en-US" sz="1200" b="1" kern="1200" dirty="0" err="1">
                <a:solidFill>
                  <a:schemeClr val="tx1"/>
                </a:solidFill>
                <a:effectLst/>
                <a:latin typeface="+mn-lt"/>
                <a:ea typeface="+mn-ea"/>
                <a:cs typeface="+mn-cs"/>
              </a:rPr>
              <a:t>Omnipod</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Autonom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qous</a:t>
            </a:r>
            <a:r>
              <a:rPr lang="en-US" sz="1200" b="1" kern="1200" dirty="0">
                <a:solidFill>
                  <a:schemeClr val="tx1"/>
                </a:solidFill>
                <a:effectLst/>
                <a:latin typeface="+mn-lt"/>
                <a:ea typeface="+mn-ea"/>
                <a:cs typeface="+mn-cs"/>
              </a:rPr>
              <a:t> Biological Systems):</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Employs continuous learning models that analyze biological rhythms to predict glucose fluctuations and dynamically automate insulin delivery for diabetes care. </a:t>
            </a:r>
          </a:p>
          <a:p>
            <a:pPr marL="228600" lvl="0" indent="-228600">
              <a:buFont typeface="+mj-lt"/>
              <a:buAutoNum type="arabicPeriod"/>
            </a:pPr>
            <a:r>
              <a:rPr lang="en-US" sz="1200" b="1" kern="1200" dirty="0">
                <a:solidFill>
                  <a:schemeClr val="tx1"/>
                </a:solidFill>
                <a:effectLst/>
                <a:latin typeface="+mn-lt"/>
                <a:ea typeface="+mn-ea"/>
                <a:cs typeface="+mn-cs"/>
              </a:rPr>
              <a:t>Deep Science &amp; Drug Discovery (TEDD - Transformer Enhanced Drug Discovery):</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Developed alongside Merck, models like TEDD expand beyond natural language to predict Gene Regulatory Network (GRN) responses.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By identifying causal target cells versus reactive cells, these architectures compress early-stage drug discovery timelines significantly. </a:t>
            </a:r>
          </a:p>
          <a:p>
            <a:pPr lvl="0"/>
            <a:r>
              <a:rPr lang="en-US" sz="1200" b="1" kern="1200" dirty="0">
                <a:solidFill>
                  <a:schemeClr val="tx1"/>
                </a:solidFill>
                <a:effectLst/>
                <a:latin typeface="+mn-lt"/>
                <a:ea typeface="+mn-ea"/>
                <a:cs typeface="+mn-cs"/>
              </a:rPr>
              <a:t>Summary:</a:t>
            </a:r>
            <a:r>
              <a:rPr lang="en-US" sz="1200" kern="1200" dirty="0">
                <a:solidFill>
                  <a:schemeClr val="tx1"/>
                </a:solidFill>
                <a:effectLst/>
                <a:latin typeface="+mn-lt"/>
                <a:ea typeface="+mn-ea"/>
                <a:cs typeface="+mn-cs"/>
              </a:rPr>
              <a:t> </a:t>
            </a:r>
          </a:p>
          <a:p>
            <a:pPr lvl="1"/>
            <a:r>
              <a:rPr lang="en-US" sz="1200" kern="1200" dirty="0">
                <a:solidFill>
                  <a:schemeClr val="tx1"/>
                </a:solidFill>
                <a:effectLst/>
                <a:latin typeface="+mn-lt"/>
                <a:ea typeface="+mn-ea"/>
                <a:cs typeface="+mn-cs"/>
              </a:rPr>
              <a:t>Stalling AI progress out of speculative fear imposes tangible costs on real-world scientific and medical breakthroughs.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11</a:t>
            </a:fld>
            <a:endParaRPr lang="en-US"/>
          </a:p>
        </p:txBody>
      </p:sp>
    </p:spTree>
    <p:extLst>
      <p:ext uri="{BB962C8B-B14F-4D97-AF65-F5344CB8AC3E}">
        <p14:creationId xmlns:p14="http://schemas.microsoft.com/office/powerpoint/2010/main" val="2337193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Stop Doing: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Stop waiting for theoretical superintelligence to arrive to fix organizational problems.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Stop deploying LLMs as standalone search engines devoid of internal context.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Stop routing routine, high-volume tasks directly to expensive frontier models.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Stop relying on manual human SOC teams to filter machine-speed security log queues. </a:t>
            </a:r>
          </a:p>
          <a:p>
            <a:pPr marL="0" lvl="0" indent="0">
              <a:buFont typeface="Arial" panose="020B0604020202020204" pitchFamily="34" charset="0"/>
              <a:buNone/>
            </a:pPr>
            <a:r>
              <a:rPr lang="en-US" sz="1200" b="1" kern="1200" dirty="0">
                <a:solidFill>
                  <a:schemeClr val="tx1"/>
                </a:solidFill>
                <a:effectLst/>
                <a:latin typeface="+mn-lt"/>
                <a:ea typeface="+mn-ea"/>
                <a:cs typeface="+mn-cs"/>
              </a:rPr>
              <a:t>Start Doing: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Start framing AI operational risk as an immediate, machine-speed cybersecurity defense problem.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Start digitizing internal workflows, capturing tacit operational knowledge, and mapping your Enterprise Ontology Graph.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Start pre-computing offline indexes to deliver fast, permission-aware context to agents.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Start deploying intelligent API gateways, routing frameworks, and optimized harnesses to control token costs. </a:t>
            </a:r>
          </a:p>
          <a:p>
            <a:pPr lvl="0"/>
            <a:r>
              <a:rPr lang="en-US" sz="1200" b="1" kern="1200" dirty="0">
                <a:solidFill>
                  <a:schemeClr val="tx1"/>
                </a:solidFill>
                <a:effectLst/>
                <a:latin typeface="+mn-lt"/>
                <a:ea typeface="+mn-ea"/>
                <a:cs typeface="+mn-cs"/>
              </a:rPr>
              <a:t>Closing Perspective: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framed in the interview closing: The probability of doom </a:t>
            </a:r>
            <a:r>
              <a:rPr lang="en-US" sz="1200" i="1" kern="1200" dirty="0">
                <a:solidFill>
                  <a:schemeClr val="tx1"/>
                </a:solidFill>
                <a:effectLst/>
                <a:latin typeface="+mn-lt"/>
                <a:ea typeface="+mn-ea"/>
                <a:cs typeface="+mn-cs"/>
              </a:rPr>
              <a:t>without</a:t>
            </a:r>
            <a:r>
              <a:rPr lang="en-US" sz="1200" kern="1200" dirty="0">
                <a:solidFill>
                  <a:schemeClr val="tx1"/>
                </a:solidFill>
                <a:effectLst/>
                <a:latin typeface="+mn-lt"/>
                <a:ea typeface="+mn-ea"/>
                <a:cs typeface="+mn-cs"/>
              </a:rPr>
              <a:t> AI is ultimately higher than the probability of doom </a:t>
            </a:r>
            <a:r>
              <a:rPr lang="en-US" sz="1200" i="1" kern="1200" dirty="0">
                <a:solidFill>
                  <a:schemeClr val="tx1"/>
                </a:solidFill>
                <a:effectLst/>
                <a:latin typeface="+mn-lt"/>
                <a:ea typeface="+mn-ea"/>
                <a:cs typeface="+mn-cs"/>
              </a:rPr>
              <a:t>with</a:t>
            </a:r>
            <a:r>
              <a:rPr lang="en-US" sz="1200" kern="1200" dirty="0">
                <a:solidFill>
                  <a:schemeClr val="tx1"/>
                </a:solidFill>
                <a:effectLst/>
                <a:latin typeface="+mn-lt"/>
                <a:ea typeface="+mn-ea"/>
                <a:cs typeface="+mn-cs"/>
              </a:rPr>
              <a:t> AI. </a:t>
            </a:r>
          </a:p>
          <a:p>
            <a:endParaRPr lang="en-US" dirty="0"/>
          </a:p>
        </p:txBody>
      </p:sp>
      <p:sp>
        <p:nvSpPr>
          <p:cNvPr id="4" name="Slide Number Placeholder 3"/>
          <p:cNvSpPr>
            <a:spLocks noGrp="1"/>
          </p:cNvSpPr>
          <p:nvPr>
            <p:ph type="sldNum" sz="quarter" idx="5"/>
          </p:nvPr>
        </p:nvSpPr>
        <p:spPr/>
        <p:txBody>
          <a:bodyPr/>
          <a:lstStyle/>
          <a:p>
            <a:fld id="{71002038-D844-48C0-A8EF-BD807B4D0F0C}" type="slidenum">
              <a:rPr lang="en-US" smtClean="0"/>
              <a:t>12</a:t>
            </a:fld>
            <a:endParaRPr lang="en-US"/>
          </a:p>
        </p:txBody>
      </p:sp>
    </p:spTree>
    <p:extLst>
      <p:ext uri="{BB962C8B-B14F-4D97-AF65-F5344CB8AC3E}">
        <p14:creationId xmlns:p14="http://schemas.microsoft.com/office/powerpoint/2010/main" val="2490706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Risk vs. Reality Alignment: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Existential risk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𝑃</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kern="1200" dirty="0">
                    <a:solidFill>
                      <a:schemeClr val="tx1"/>
                    </a:solidFill>
                    <a:effectLst/>
                    <a:latin typeface="+mn-lt"/>
                    <a:ea typeface="+mn-ea"/>
                    <a:cs typeface="+mn-cs"/>
                  </a:rPr>
                  <a:t>) remains near zero. The true risk centers on rapid cyber weaponization, where time-to-exploit has dropped from months down to hours.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Runaway Recursive Self-Improvement remains constrained because the four necessary conditions (lower compute, faster training, super-linear intelligence growth, continuous looping) are not currently met in frontier lab runs. </a:t>
                </a:r>
              </a:p>
              <a:p>
                <a:pPr lvl="0"/>
                <a:r>
                  <a:rPr lang="en-US" sz="1200" b="1" kern="1200" dirty="0">
                    <a:solidFill>
                      <a:schemeClr val="tx1"/>
                    </a:solidFill>
                    <a:effectLst/>
                    <a:latin typeface="+mn-lt"/>
                    <a:ea typeface="+mn-ea"/>
                    <a:cs typeface="+mn-cs"/>
                  </a:rPr>
                  <a:t>The Path to Concrete Enterprise Value: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Build Organizational Ontologies:</a:t>
                </a:r>
                <a:r>
                  <a:rPr lang="en-US" sz="1200" kern="1200" dirty="0">
                    <a:solidFill>
                      <a:schemeClr val="tx1"/>
                    </a:solidFill>
                    <a:effectLst/>
                    <a:latin typeface="+mn-lt"/>
                    <a:ea typeface="+mn-ea"/>
                    <a:cs typeface="+mn-cs"/>
                  </a:rPr>
                  <a:t> Transform generic chatbots into effective organizational teammates by grounding them in internal relational context.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Automate Security Operations (SOC):</a:t>
                </a:r>
                <a:r>
                  <a:rPr lang="en-US" sz="1200" kern="1200" dirty="0">
                    <a:solidFill>
                      <a:schemeClr val="tx1"/>
                    </a:solidFill>
                    <a:effectLst/>
                    <a:latin typeface="+mn-lt"/>
                    <a:ea typeface="+mn-ea"/>
                    <a:cs typeface="+mn-cs"/>
                  </a:rPr>
                  <a:t> Transition from manual alert handling to continuous agentic threat hunting.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Value Maxing over Token Maxing:</a:t>
                </a:r>
                <a:r>
                  <a:rPr lang="en-US" sz="1200" kern="1200" dirty="0">
                    <a:solidFill>
                      <a:schemeClr val="tx1"/>
                    </a:solidFill>
                    <a:effectLst/>
                    <a:latin typeface="+mn-lt"/>
                    <a:ea typeface="+mn-ea"/>
                    <a:cs typeface="+mn-cs"/>
                  </a:rPr>
                  <a:t> Route high-volume, repetitive workloads to small/open-source models (60%+ token volume, ~5% spend) while reserving frontier models for high-level reasoning and audit tasks. </a:t>
                </a:r>
              </a:p>
              <a:p>
                <a:pPr lvl="0"/>
                <a:r>
                  <a:rPr lang="en-US" sz="1200" b="1" kern="1200" dirty="0">
                    <a:solidFill>
                      <a:schemeClr val="tx1"/>
                    </a:solidFill>
                    <a:effectLst/>
                    <a:latin typeface="+mn-lt"/>
                    <a:ea typeface="+mn-ea"/>
                    <a:cs typeface="+mn-cs"/>
                  </a:rPr>
                  <a:t>Final Wrap-Up: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Focus on practical engineering, robust infrastructure, and grounded enterprise execution to unlock the true value of AI. </a:t>
                </a:r>
              </a:p>
              <a:p>
                <a:endParaRPr lang="en-US" dirty="0"/>
              </a:p>
              <a:p>
                <a:endParaRPr lang="en-US" dirty="0"/>
              </a:p>
              <a:p>
                <a:endParaRPr lang="en-US" dirty="0"/>
              </a:p>
              <a:p>
                <a:endParaRPr lang="en-US" dirty="0"/>
              </a:p>
              <a:p>
                <a:r>
                  <a:rPr lang="en-US" dirty="0"/>
                  <a:t>https://www.youtube.com/watch?v=GzEtpAKYRvE</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Risk vs. Reality Alignment: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Existential risk (</a:t>
                </a:r>
                <a:r>
                  <a:rPr lang="en-US" sz="1200" i="0" kern="1200">
                    <a:solidFill>
                      <a:schemeClr val="tx1"/>
                    </a:solidFill>
                    <a:latin typeface="+mn-lt"/>
                    <a:ea typeface="+mn-ea"/>
                    <a:cs typeface="+mn-cs"/>
                  </a:rPr>
                  <a:t>𝑃("doom" )</a:t>
                </a:r>
                <a:r>
                  <a:rPr lang="en-US" sz="1200" kern="1200" dirty="0">
                    <a:solidFill>
                      <a:schemeClr val="tx1"/>
                    </a:solidFill>
                    <a:effectLst/>
                    <a:latin typeface="+mn-lt"/>
                    <a:ea typeface="+mn-ea"/>
                    <a:cs typeface="+mn-cs"/>
                  </a:rPr>
                  <a:t>) remains near zero. The true risk centers on rapid cyber weaponization, where time-to-exploit has dropped from months down to hours.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Runaway Recursive Self-Improvement remains constrained because the four necessary conditions (lower compute, faster training, super-linear intelligence growth, continuous looping) are not currently met in frontier lab runs. </a:t>
                </a:r>
              </a:p>
              <a:p>
                <a:pPr lvl="0"/>
                <a:r>
                  <a:rPr lang="en-US" sz="1200" b="1" kern="1200" dirty="0">
                    <a:solidFill>
                      <a:schemeClr val="tx1"/>
                    </a:solidFill>
                    <a:effectLst/>
                    <a:latin typeface="+mn-lt"/>
                    <a:ea typeface="+mn-ea"/>
                    <a:cs typeface="+mn-cs"/>
                  </a:rPr>
                  <a:t>The Path to Concrete Enterprise Value: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Build Organizational Ontologies:</a:t>
                </a:r>
                <a:r>
                  <a:rPr lang="en-US" sz="1200" kern="1200" dirty="0">
                    <a:solidFill>
                      <a:schemeClr val="tx1"/>
                    </a:solidFill>
                    <a:effectLst/>
                    <a:latin typeface="+mn-lt"/>
                    <a:ea typeface="+mn-ea"/>
                    <a:cs typeface="+mn-cs"/>
                  </a:rPr>
                  <a:t> Transform generic chatbots into effective organizational teammates by grounding them in internal relational context.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Automate Security Operations (SOC):</a:t>
                </a:r>
                <a:r>
                  <a:rPr lang="en-US" sz="1200" kern="1200" dirty="0">
                    <a:solidFill>
                      <a:schemeClr val="tx1"/>
                    </a:solidFill>
                    <a:effectLst/>
                    <a:latin typeface="+mn-lt"/>
                    <a:ea typeface="+mn-ea"/>
                    <a:cs typeface="+mn-cs"/>
                  </a:rPr>
                  <a:t> Transition from manual alert handling to continuous agentic threat hunting.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Value Maxing over Token Maxing:</a:t>
                </a:r>
                <a:r>
                  <a:rPr lang="en-US" sz="1200" kern="1200" dirty="0">
                    <a:solidFill>
                      <a:schemeClr val="tx1"/>
                    </a:solidFill>
                    <a:effectLst/>
                    <a:latin typeface="+mn-lt"/>
                    <a:ea typeface="+mn-ea"/>
                    <a:cs typeface="+mn-cs"/>
                  </a:rPr>
                  <a:t> Route high-volume, repetitive workloads to small/open-source models (60%+ token volume, ~5% spend) while reserving frontier models for high-level reasoning and audit tasks. </a:t>
                </a:r>
              </a:p>
              <a:p>
                <a:pPr lvl="0"/>
                <a:r>
                  <a:rPr lang="en-US" sz="1200" b="1" kern="1200" dirty="0">
                    <a:solidFill>
                      <a:schemeClr val="tx1"/>
                    </a:solidFill>
                    <a:effectLst/>
                    <a:latin typeface="+mn-lt"/>
                    <a:ea typeface="+mn-ea"/>
                    <a:cs typeface="+mn-cs"/>
                  </a:rPr>
                  <a:t>Final Wrap-Up: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Focus on practical engineering, robust infrastructure, and grounded enterprise execution to unlock the true value of AI. </a:t>
                </a:r>
              </a:p>
              <a:p>
                <a:endParaRPr lang="en-US" dirty="0"/>
              </a:p>
              <a:p>
                <a:endParaRPr lang="en-US" dirty="0"/>
              </a:p>
              <a:p>
                <a:endParaRPr lang="en-US" dirty="0"/>
              </a:p>
              <a:p>
                <a:endParaRPr lang="en-US" dirty="0"/>
              </a:p>
              <a:p>
                <a:r>
                  <a:rPr lang="en-US" dirty="0"/>
                  <a:t>https://www.youtube.com/watch?v=GzEtpAKYRvE</a:t>
                </a:r>
              </a:p>
              <a:p>
                <a:endParaRPr lang="en-US" dirty="0"/>
              </a:p>
            </p:txBody>
          </p:sp>
        </mc:Fallback>
      </mc:AlternateContent>
      <p:sp>
        <p:nvSpPr>
          <p:cNvPr id="4" name="Slide Number Placeholder 3"/>
          <p:cNvSpPr>
            <a:spLocks noGrp="1"/>
          </p:cNvSpPr>
          <p:nvPr>
            <p:ph type="sldNum" sz="quarter" idx="5"/>
          </p:nvPr>
        </p:nvSpPr>
        <p:spPr/>
        <p:txBody>
          <a:bodyPr/>
          <a:lstStyle/>
          <a:p>
            <a:fld id="{71002038-D844-48C0-A8EF-BD807B4D0F0C}" type="slidenum">
              <a:rPr lang="en-US" smtClean="0"/>
              <a:t>13</a:t>
            </a:fld>
            <a:endParaRPr lang="en-US"/>
          </a:p>
        </p:txBody>
      </p:sp>
    </p:spTree>
    <p:extLst>
      <p:ext uri="{BB962C8B-B14F-4D97-AF65-F5344CB8AC3E}">
        <p14:creationId xmlns:p14="http://schemas.microsoft.com/office/powerpoint/2010/main" val="759975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7AB5BE-C3F7-BEFD-D873-B0028C14091A}"/>
              </a:ext>
            </a:extLst>
          </p:cNvPr>
          <p:cNvSpPr>
            <a:spLocks noGrp="1"/>
          </p:cNvSpPr>
          <p:nvPr>
            <p:ph type="dt" sz="half" idx="10"/>
          </p:nvPr>
        </p:nvSpPr>
        <p:spPr/>
        <p:txBody>
          <a:bodyPr/>
          <a:lstStyle/>
          <a:p>
            <a:fld id="{F19FA6FF-BD8A-4FEA-96C4-52782B73E46D}" type="datetimeFigureOut">
              <a:rPr lang="en-US" smtClean="0"/>
              <a:t>10/20/2026</a:t>
            </a:fld>
            <a:endParaRPr lang="en-US"/>
          </a:p>
        </p:txBody>
      </p:sp>
      <p:sp>
        <p:nvSpPr>
          <p:cNvPr id="3" name="Footer Placeholder 2">
            <a:extLst>
              <a:ext uri="{FF2B5EF4-FFF2-40B4-BE49-F238E27FC236}">
                <a16:creationId xmlns:a16="http://schemas.microsoft.com/office/drawing/2014/main" id="{9A6E6AEE-072A-A079-E3BE-2247174E1C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0BC768-91A8-DF8F-8F79-0527683225C9}"/>
              </a:ext>
            </a:extLst>
          </p:cNvPr>
          <p:cNvSpPr>
            <a:spLocks noGrp="1"/>
          </p:cNvSpPr>
          <p:nvPr>
            <p:ph type="sldNum" sz="quarter" idx="12"/>
          </p:nvPr>
        </p:nvSpPr>
        <p:spPr/>
        <p:txBody>
          <a:bodyPr/>
          <a:lstStyle/>
          <a:p>
            <a:fld id="{4C6AAF4C-F512-46E7-AA04-FDEA28928A18}" type="slidenum">
              <a:rPr lang="en-US" smtClean="0"/>
              <a:t>‹#›</a:t>
            </a:fld>
            <a:endParaRPr lang="en-US"/>
          </a:p>
        </p:txBody>
      </p:sp>
    </p:spTree>
    <p:extLst>
      <p:ext uri="{BB962C8B-B14F-4D97-AF65-F5344CB8AC3E}">
        <p14:creationId xmlns:p14="http://schemas.microsoft.com/office/powerpoint/2010/main" val="9226532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73CBF-D7E8-5900-81CA-6DAF2A3913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9CBCE6-62FD-79D5-E372-53FFEBD592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0508EB-0589-10D2-D67C-13EAD914CE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FA6FF-BD8A-4FEA-96C4-52782B73E46D}" type="datetimeFigureOut">
              <a:rPr lang="en-US" smtClean="0"/>
              <a:t>10/20/2026</a:t>
            </a:fld>
            <a:endParaRPr lang="en-US"/>
          </a:p>
        </p:txBody>
      </p:sp>
      <p:sp>
        <p:nvSpPr>
          <p:cNvPr id="5" name="Footer Placeholder 4">
            <a:extLst>
              <a:ext uri="{FF2B5EF4-FFF2-40B4-BE49-F238E27FC236}">
                <a16:creationId xmlns:a16="http://schemas.microsoft.com/office/drawing/2014/main" id="{7D14C0DA-98F0-DDC2-E3E9-56B592DE70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E28EEE-C583-ECCF-F2A6-FAF3C40BC4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6AAF4C-F512-46E7-AA04-FDEA28928A18}" type="slidenum">
              <a:rPr lang="en-US" smtClean="0"/>
              <a:t>‹#›</a:t>
            </a:fld>
            <a:endParaRPr lang="en-US"/>
          </a:p>
        </p:txBody>
      </p:sp>
    </p:spTree>
    <p:extLst>
      <p:ext uri="{BB962C8B-B14F-4D97-AF65-F5344CB8AC3E}">
        <p14:creationId xmlns:p14="http://schemas.microsoft.com/office/powerpoint/2010/main" val="206620448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0237646-082A-6D67-9931-74F6CA8FAE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96C41A-FCBA-5DD5-CAB6-15D9C51B3D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6FD22E-0B51-2B44-1CBC-473A27CD6B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9B75B7-8230-FB04-594B-DF4B2D6E6E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E91525-6F17-848B-8D41-164F601A234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846E25-1E8F-F00D-483E-52B32F6649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B9C76F-AF0D-7600-F19B-989E86DE97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D286FA-BAB4-7885-507B-6CEA9C8AF5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370E15-319C-377D-C56A-DA21614421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F3A975-5CBE-37AC-6F13-3AF5F41423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D7209EE-2A63-242A-6333-A93B33B46F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CEB711-8D0F-77BD-89AA-2D3508F369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DBDA69-10FF-FE1B-13DD-582375267E8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80626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2446</Words>
  <Application>Microsoft Office PowerPoint</Application>
  <PresentationFormat>寬螢幕</PresentationFormat>
  <Paragraphs>172</Paragraphs>
  <Slides>13</Slides>
  <Notes>13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2026-09-19T12:30:14Z</dcterms:created>
  <dcterms:modified xsi:type="dcterms:W3CDTF">2026-10-20T13:29:43Z</dcterms:modified>
</cp:coreProperties>
</file>