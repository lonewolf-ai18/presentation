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6EC886-A6DF-4833-9FDB-40E48DA3977A}" v="26" dt="2026-09-11T13:57:12.3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5499"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11T13:58:26.128" v="74" actId="166"/>
      <pc:docMkLst>
        <pc:docMk/>
      </pc:docMkLst>
      <pc:sldChg chg="addSp delSp modSp mod delAnim modAnim modNotes modNotesTx">
        <pc:chgData name="Lai, Wilson" userId="2840974a-0d84-4886-90a9-9a3ed79f3a48" providerId="ADAL" clId="{9F23B798-9E84-4552-BA63-E776E805C424}" dt="2026-09-11T13:58:26.128" v="74" actId="166"/>
        <pc:sldMkLst>
          <pc:docMk/>
          <pc:sldMk cId="0" sldId="257"/>
        </pc:sldMkLst>
        <pc:spChg chg="add del mod">
          <ac:chgData name="Lai, Wilson" userId="2840974a-0d84-4886-90a9-9a3ed79f3a48" providerId="ADAL" clId="{9F23B798-9E84-4552-BA63-E776E805C424}" dt="2026-09-11T08:46:46.830" v="50" actId="164"/>
          <ac:spMkLst>
            <pc:docMk/>
            <pc:sldMk cId="0" sldId="257"/>
            <ac:spMk id="5" creationId="{13F81BAD-3DF7-E0CE-D597-F43E1402228F}"/>
          </ac:spMkLst>
        </pc:spChg>
        <pc:spChg chg="add del mod">
          <ac:chgData name="Lai, Wilson" userId="2840974a-0d84-4886-90a9-9a3ed79f3a48" providerId="ADAL" clId="{9F23B798-9E84-4552-BA63-E776E805C424}" dt="2026-09-11T08:46:50.962" v="57" actId="22"/>
          <ac:spMkLst>
            <pc:docMk/>
            <pc:sldMk cId="0" sldId="257"/>
            <ac:spMk id="8" creationId="{58CDDCC6-44C4-62E8-8D54-DD979A632F49}"/>
          </ac:spMkLst>
        </pc:spChg>
        <pc:grpChg chg="add del mod">
          <ac:chgData name="Lai, Wilson" userId="2840974a-0d84-4886-90a9-9a3ed79f3a48" providerId="ADAL" clId="{9F23B798-9E84-4552-BA63-E776E805C424}" dt="2026-09-11T08:46:51.380" v="58" actId="1076"/>
          <ac:grpSpMkLst>
            <pc:docMk/>
            <pc:sldMk cId="0" sldId="257"/>
            <ac:grpSpMk id="6" creationId="{AA7062DC-28F5-5AB5-FB8E-982D1C8AA416}"/>
          </ac:grpSpMkLst>
        </pc:grpChg>
        <pc:grpChg chg="add mod">
          <ac:chgData name="Lai, Wilson" userId="2840974a-0d84-4886-90a9-9a3ed79f3a48" providerId="ADAL" clId="{9F23B798-9E84-4552-BA63-E776E805C424}" dt="2026-09-11T08:46:46.830" v="50" actId="164"/>
          <ac:grpSpMkLst>
            <pc:docMk/>
            <pc:sldMk cId="0" sldId="257"/>
            <ac:grpSpMk id="9" creationId="{C1F5FC99-55AE-D801-E51A-BA8A465179BA}"/>
          </ac:grpSpMkLst>
        </pc:grpChg>
        <pc:picChg chg="del">
          <ac:chgData name="Lai, Wilson" userId="2840974a-0d84-4886-90a9-9a3ed79f3a48" providerId="ADAL" clId="{9F23B798-9E84-4552-BA63-E776E805C424}" dt="2026-09-11T07:40:18.515" v="0" actId="21"/>
          <ac:picMkLst>
            <pc:docMk/>
            <pc:sldMk cId="0" sldId="257"/>
            <ac:picMk id="2" creationId="{00000000-0000-0000-0000-000000000000}"/>
          </ac:picMkLst>
        </pc:picChg>
        <pc:picChg chg="add mod">
          <ac:chgData name="Lai, Wilson" userId="2840974a-0d84-4886-90a9-9a3ed79f3a48" providerId="ADAL" clId="{9F23B798-9E84-4552-BA63-E776E805C424}" dt="2026-09-11T08:46:46.830" v="50" actId="164"/>
          <ac:picMkLst>
            <pc:docMk/>
            <pc:sldMk cId="0" sldId="257"/>
            <ac:picMk id="2" creationId="{1462DA56-05DE-1596-B502-89C751AC8E72}"/>
          </ac:picMkLst>
        </pc:picChg>
        <pc:picChg chg="add mod">
          <ac:chgData name="Lai, Wilson" userId="2840974a-0d84-4886-90a9-9a3ed79f3a48" providerId="ADAL" clId="{9F23B798-9E84-4552-BA63-E776E805C424}" dt="2026-09-11T08:46:52.556" v="59"/>
          <ac:picMkLst>
            <pc:docMk/>
            <pc:sldMk cId="0" sldId="257"/>
            <ac:picMk id="3" creationId="{E82E5F3F-95B1-FFA4-BAD1-7B4B14410DE5}"/>
          </ac:picMkLst>
        </pc:picChg>
        <pc:picChg chg="add ord">
          <ac:chgData name="Lai, Wilson" userId="2840974a-0d84-4886-90a9-9a3ed79f3a48" providerId="ADAL" clId="{9F23B798-9E84-4552-BA63-E776E805C424}" dt="2026-09-11T13:58:26.128" v="74" actId="166"/>
          <ac:picMkLst>
            <pc:docMk/>
            <pc:sldMk cId="0" sldId="257"/>
            <ac:picMk id="4" creationId="{5828ECA9-6C99-D460-8AD9-906E072563CC}"/>
          </ac:picMkLst>
        </pc:picChg>
      </pc:sldChg>
      <pc:sldChg chg="addSp delSp mod modNotes">
        <pc:chgData name="Lai, Wilson" userId="2840974a-0d84-4886-90a9-9a3ed79f3a48" providerId="ADAL" clId="{9F23B798-9E84-4552-BA63-E776E805C424}" dt="2026-09-11T13:56:53.959" v="71"/>
        <pc:sldMkLst>
          <pc:docMk/>
          <pc:sldMk cId="0" sldId="258"/>
        </pc:sldMkLst>
        <pc:picChg chg="del">
          <ac:chgData name="Lai, Wilson" userId="2840974a-0d84-4886-90a9-9a3ed79f3a48" providerId="ADAL" clId="{9F23B798-9E84-4552-BA63-E776E805C424}" dt="2026-09-11T07:40:31.270" v="2" actId="21"/>
          <ac:picMkLst>
            <pc:docMk/>
            <pc:sldMk cId="0" sldId="258"/>
            <ac:picMk id="2" creationId="{00000000-0000-0000-0000-000000000000}"/>
          </ac:picMkLst>
        </pc:picChg>
        <pc:picChg chg="add">
          <ac:chgData name="Lai, Wilson" userId="2840974a-0d84-4886-90a9-9a3ed79f3a48" providerId="ADAL" clId="{9F23B798-9E84-4552-BA63-E776E805C424}" dt="2026-09-11T07:41:42.111" v="3" actId="22"/>
          <ac:picMkLst>
            <pc:docMk/>
            <pc:sldMk cId="0" sldId="258"/>
            <ac:picMk id="4" creationId="{4F7AF5A9-E3FD-3746-B816-9B4942C8A4FD}"/>
          </ac:picMkLst>
        </pc:picChg>
      </pc:sldChg>
      <pc:sldChg chg="addSp delSp mod modNotes">
        <pc:chgData name="Lai, Wilson" userId="2840974a-0d84-4886-90a9-9a3ed79f3a48" providerId="ADAL" clId="{9F23B798-9E84-4552-BA63-E776E805C424}" dt="2026-09-11T13:56:53.959" v="71"/>
        <pc:sldMkLst>
          <pc:docMk/>
          <pc:sldMk cId="0" sldId="259"/>
        </pc:sldMkLst>
        <pc:picChg chg="del">
          <ac:chgData name="Lai, Wilson" userId="2840974a-0d84-4886-90a9-9a3ed79f3a48" providerId="ADAL" clId="{9F23B798-9E84-4552-BA63-E776E805C424}" dt="2026-09-11T07:41:43.579" v="4" actId="21"/>
          <ac:picMkLst>
            <pc:docMk/>
            <pc:sldMk cId="0" sldId="259"/>
            <ac:picMk id="2" creationId="{00000000-0000-0000-0000-000000000000}"/>
          </ac:picMkLst>
        </pc:picChg>
        <pc:picChg chg="add">
          <ac:chgData name="Lai, Wilson" userId="2840974a-0d84-4886-90a9-9a3ed79f3a48" providerId="ADAL" clId="{9F23B798-9E84-4552-BA63-E776E805C424}" dt="2026-09-11T07:41:50.711" v="5" actId="22"/>
          <ac:picMkLst>
            <pc:docMk/>
            <pc:sldMk cId="0" sldId="259"/>
            <ac:picMk id="4" creationId="{FF6C373A-952C-1BCF-88C7-F945EF574614}"/>
          </ac:picMkLst>
        </pc:picChg>
      </pc:sldChg>
      <pc:sldChg chg="addSp delSp mod modNotes">
        <pc:chgData name="Lai, Wilson" userId="2840974a-0d84-4886-90a9-9a3ed79f3a48" providerId="ADAL" clId="{9F23B798-9E84-4552-BA63-E776E805C424}" dt="2026-09-11T13:56:53.959" v="71"/>
        <pc:sldMkLst>
          <pc:docMk/>
          <pc:sldMk cId="0" sldId="260"/>
        </pc:sldMkLst>
        <pc:picChg chg="del">
          <ac:chgData name="Lai, Wilson" userId="2840974a-0d84-4886-90a9-9a3ed79f3a48" providerId="ADAL" clId="{9F23B798-9E84-4552-BA63-E776E805C424}" dt="2026-09-11T07:41:52.033" v="6" actId="21"/>
          <ac:picMkLst>
            <pc:docMk/>
            <pc:sldMk cId="0" sldId="260"/>
            <ac:picMk id="2" creationId="{00000000-0000-0000-0000-000000000000}"/>
          </ac:picMkLst>
        </pc:picChg>
        <pc:picChg chg="add">
          <ac:chgData name="Lai, Wilson" userId="2840974a-0d84-4886-90a9-9a3ed79f3a48" providerId="ADAL" clId="{9F23B798-9E84-4552-BA63-E776E805C424}" dt="2026-09-11T07:42:07.756" v="7" actId="22"/>
          <ac:picMkLst>
            <pc:docMk/>
            <pc:sldMk cId="0" sldId="260"/>
            <ac:picMk id="4" creationId="{23D2D186-1716-4F30-77AD-DDA6F4D9F2F3}"/>
          </ac:picMkLst>
        </pc:picChg>
      </pc:sldChg>
      <pc:sldChg chg="addSp delSp mod modNotes">
        <pc:chgData name="Lai, Wilson" userId="2840974a-0d84-4886-90a9-9a3ed79f3a48" providerId="ADAL" clId="{9F23B798-9E84-4552-BA63-E776E805C424}" dt="2026-09-11T13:56:53.959" v="71"/>
        <pc:sldMkLst>
          <pc:docMk/>
          <pc:sldMk cId="0" sldId="261"/>
        </pc:sldMkLst>
        <pc:picChg chg="del">
          <ac:chgData name="Lai, Wilson" userId="2840974a-0d84-4886-90a9-9a3ed79f3a48" providerId="ADAL" clId="{9F23B798-9E84-4552-BA63-E776E805C424}" dt="2026-09-11T07:42:09.357" v="8" actId="21"/>
          <ac:picMkLst>
            <pc:docMk/>
            <pc:sldMk cId="0" sldId="261"/>
            <ac:picMk id="2" creationId="{00000000-0000-0000-0000-000000000000}"/>
          </ac:picMkLst>
        </pc:picChg>
        <pc:picChg chg="add">
          <ac:chgData name="Lai, Wilson" userId="2840974a-0d84-4886-90a9-9a3ed79f3a48" providerId="ADAL" clId="{9F23B798-9E84-4552-BA63-E776E805C424}" dt="2026-09-11T07:42:16.320" v="9" actId="22"/>
          <ac:picMkLst>
            <pc:docMk/>
            <pc:sldMk cId="0" sldId="261"/>
            <ac:picMk id="4" creationId="{569A2B22-E0E0-EBFF-E5C4-7910BCA61B92}"/>
          </ac:picMkLst>
        </pc:picChg>
      </pc:sldChg>
      <pc:sldChg chg="addSp delSp mod modNotes modNotesTx">
        <pc:chgData name="Lai, Wilson" userId="2840974a-0d84-4886-90a9-9a3ed79f3a48" providerId="ADAL" clId="{9F23B798-9E84-4552-BA63-E776E805C424}" dt="2026-09-11T13:56:35.582" v="70"/>
        <pc:sldMkLst>
          <pc:docMk/>
          <pc:sldMk cId="0" sldId="262"/>
        </pc:sldMkLst>
        <pc:picChg chg="del">
          <ac:chgData name="Lai, Wilson" userId="2840974a-0d84-4886-90a9-9a3ed79f3a48" providerId="ADAL" clId="{9F23B798-9E84-4552-BA63-E776E805C424}" dt="2026-09-11T07:42:17.595" v="10" actId="21"/>
          <ac:picMkLst>
            <pc:docMk/>
            <pc:sldMk cId="0" sldId="262"/>
            <ac:picMk id="2" creationId="{00000000-0000-0000-0000-000000000000}"/>
          </ac:picMkLst>
        </pc:picChg>
        <pc:picChg chg="add">
          <ac:chgData name="Lai, Wilson" userId="2840974a-0d84-4886-90a9-9a3ed79f3a48" providerId="ADAL" clId="{9F23B798-9E84-4552-BA63-E776E805C424}" dt="2026-09-11T07:42:26.432" v="11" actId="22"/>
          <ac:picMkLst>
            <pc:docMk/>
            <pc:sldMk cId="0" sldId="262"/>
            <ac:picMk id="4" creationId="{2F9D8AA9-C8F2-3E7F-B132-7FF776F4C2CD}"/>
          </ac:picMkLst>
        </pc:picChg>
      </pc:sldChg>
      <pc:sldChg chg="addSp delSp mod modNotes">
        <pc:chgData name="Lai, Wilson" userId="2840974a-0d84-4886-90a9-9a3ed79f3a48" providerId="ADAL" clId="{9F23B798-9E84-4552-BA63-E776E805C424}" dt="2026-09-11T13:56:53.959" v="71"/>
        <pc:sldMkLst>
          <pc:docMk/>
          <pc:sldMk cId="0" sldId="263"/>
        </pc:sldMkLst>
        <pc:picChg chg="del">
          <ac:chgData name="Lai, Wilson" userId="2840974a-0d84-4886-90a9-9a3ed79f3a48" providerId="ADAL" clId="{9F23B798-9E84-4552-BA63-E776E805C424}" dt="2026-09-11T07:42:27.822" v="12" actId="21"/>
          <ac:picMkLst>
            <pc:docMk/>
            <pc:sldMk cId="0" sldId="263"/>
            <ac:picMk id="2" creationId="{00000000-0000-0000-0000-000000000000}"/>
          </ac:picMkLst>
        </pc:picChg>
        <pc:picChg chg="add">
          <ac:chgData name="Lai, Wilson" userId="2840974a-0d84-4886-90a9-9a3ed79f3a48" providerId="ADAL" clId="{9F23B798-9E84-4552-BA63-E776E805C424}" dt="2026-09-11T07:42:37.938" v="13" actId="22"/>
          <ac:picMkLst>
            <pc:docMk/>
            <pc:sldMk cId="0" sldId="263"/>
            <ac:picMk id="4" creationId="{E0922D61-D1A6-3FFC-AC59-3ED684311EA6}"/>
          </ac:picMkLst>
        </pc:picChg>
      </pc:sldChg>
      <pc:sldChg chg="addSp delSp mod modNotes modNotesTx">
        <pc:chgData name="Lai, Wilson" userId="2840974a-0d84-4886-90a9-9a3ed79f3a48" providerId="ADAL" clId="{9F23B798-9E84-4552-BA63-E776E805C424}" dt="2026-09-11T13:56:53.959" v="71"/>
        <pc:sldMkLst>
          <pc:docMk/>
          <pc:sldMk cId="0" sldId="264"/>
        </pc:sldMkLst>
        <pc:picChg chg="del">
          <ac:chgData name="Lai, Wilson" userId="2840974a-0d84-4886-90a9-9a3ed79f3a48" providerId="ADAL" clId="{9F23B798-9E84-4552-BA63-E776E805C424}" dt="2026-09-11T07:42:39.175" v="14" actId="21"/>
          <ac:picMkLst>
            <pc:docMk/>
            <pc:sldMk cId="0" sldId="264"/>
            <ac:picMk id="2" creationId="{00000000-0000-0000-0000-000000000000}"/>
          </ac:picMkLst>
        </pc:picChg>
        <pc:picChg chg="add">
          <ac:chgData name="Lai, Wilson" userId="2840974a-0d84-4886-90a9-9a3ed79f3a48" providerId="ADAL" clId="{9F23B798-9E84-4552-BA63-E776E805C424}" dt="2026-09-11T07:42:47.957" v="15" actId="22"/>
          <ac:picMkLst>
            <pc:docMk/>
            <pc:sldMk cId="0" sldId="264"/>
            <ac:picMk id="4" creationId="{6A484073-88FB-D574-1BD7-AF4440E62932}"/>
          </ac:picMkLst>
        </pc:picChg>
      </pc:sldChg>
      <pc:sldChg chg="addSp delSp mod modNotes">
        <pc:chgData name="Lai, Wilson" userId="2840974a-0d84-4886-90a9-9a3ed79f3a48" providerId="ADAL" clId="{9F23B798-9E84-4552-BA63-E776E805C424}" dt="2026-09-11T13:56:53.959" v="71"/>
        <pc:sldMkLst>
          <pc:docMk/>
          <pc:sldMk cId="0" sldId="265"/>
        </pc:sldMkLst>
        <pc:picChg chg="del">
          <ac:chgData name="Lai, Wilson" userId="2840974a-0d84-4886-90a9-9a3ed79f3a48" providerId="ADAL" clId="{9F23B798-9E84-4552-BA63-E776E805C424}" dt="2026-09-11T07:42:49.890" v="16" actId="21"/>
          <ac:picMkLst>
            <pc:docMk/>
            <pc:sldMk cId="0" sldId="265"/>
            <ac:picMk id="2" creationId="{00000000-0000-0000-0000-000000000000}"/>
          </ac:picMkLst>
        </pc:picChg>
        <pc:picChg chg="add">
          <ac:chgData name="Lai, Wilson" userId="2840974a-0d84-4886-90a9-9a3ed79f3a48" providerId="ADAL" clId="{9F23B798-9E84-4552-BA63-E776E805C424}" dt="2026-09-11T07:42:58.866" v="17" actId="22"/>
          <ac:picMkLst>
            <pc:docMk/>
            <pc:sldMk cId="0" sldId="265"/>
            <ac:picMk id="4" creationId="{827A0118-C9EF-D7E6-1684-5EA1F674706C}"/>
          </ac:picMkLst>
        </pc:picChg>
      </pc:sldChg>
      <pc:sldChg chg="addSp delSp mod modNotes">
        <pc:chgData name="Lai, Wilson" userId="2840974a-0d84-4886-90a9-9a3ed79f3a48" providerId="ADAL" clId="{9F23B798-9E84-4552-BA63-E776E805C424}" dt="2026-09-11T13:56:53.959" v="71"/>
        <pc:sldMkLst>
          <pc:docMk/>
          <pc:sldMk cId="0" sldId="266"/>
        </pc:sldMkLst>
        <pc:picChg chg="del">
          <ac:chgData name="Lai, Wilson" userId="2840974a-0d84-4886-90a9-9a3ed79f3a48" providerId="ADAL" clId="{9F23B798-9E84-4552-BA63-E776E805C424}" dt="2026-09-11T07:43:00.178" v="18" actId="21"/>
          <ac:picMkLst>
            <pc:docMk/>
            <pc:sldMk cId="0" sldId="266"/>
            <ac:picMk id="2" creationId="{00000000-0000-0000-0000-000000000000}"/>
          </ac:picMkLst>
        </pc:picChg>
        <pc:picChg chg="add">
          <ac:chgData name="Lai, Wilson" userId="2840974a-0d84-4886-90a9-9a3ed79f3a48" providerId="ADAL" clId="{9F23B798-9E84-4552-BA63-E776E805C424}" dt="2026-09-11T07:43:08.246" v="19" actId="22"/>
          <ac:picMkLst>
            <pc:docMk/>
            <pc:sldMk cId="0" sldId="266"/>
            <ac:picMk id="4" creationId="{648D0C12-0280-1E96-293E-AFBB6E4AC3B7}"/>
          </ac:picMkLst>
        </pc:picChg>
      </pc:sldChg>
      <pc:sldChg chg="addSp delSp mod modNotes modNotesTx">
        <pc:chgData name="Lai, Wilson" userId="2840974a-0d84-4886-90a9-9a3ed79f3a48" providerId="ADAL" clId="{9F23B798-9E84-4552-BA63-E776E805C424}" dt="2026-09-11T13:56:53.959" v="71"/>
        <pc:sldMkLst>
          <pc:docMk/>
          <pc:sldMk cId="0" sldId="267"/>
        </pc:sldMkLst>
        <pc:picChg chg="del">
          <ac:chgData name="Lai, Wilson" userId="2840974a-0d84-4886-90a9-9a3ed79f3a48" providerId="ADAL" clId="{9F23B798-9E84-4552-BA63-E776E805C424}" dt="2026-09-11T07:43:09.532" v="20" actId="21"/>
          <ac:picMkLst>
            <pc:docMk/>
            <pc:sldMk cId="0" sldId="267"/>
            <ac:picMk id="2" creationId="{00000000-0000-0000-0000-000000000000}"/>
          </ac:picMkLst>
        </pc:picChg>
        <pc:picChg chg="add">
          <ac:chgData name="Lai, Wilson" userId="2840974a-0d84-4886-90a9-9a3ed79f3a48" providerId="ADAL" clId="{9F23B798-9E84-4552-BA63-E776E805C424}" dt="2026-09-11T07:43:17.904" v="21" actId="22"/>
          <ac:picMkLst>
            <pc:docMk/>
            <pc:sldMk cId="0" sldId="267"/>
            <ac:picMk id="4" creationId="{50D472B5-BE5E-EEC5-C9FB-EB661D5A67E7}"/>
          </ac:picMkLst>
        </pc:picChg>
      </pc:sldChg>
      <pc:sldChg chg="addSp delSp mod modNotes modNotesTx">
        <pc:chgData name="Lai, Wilson" userId="2840974a-0d84-4886-90a9-9a3ed79f3a48" providerId="ADAL" clId="{9F23B798-9E84-4552-BA63-E776E805C424}" dt="2026-09-11T13:56:35.582" v="70"/>
        <pc:sldMkLst>
          <pc:docMk/>
          <pc:sldMk cId="0" sldId="268"/>
        </pc:sldMkLst>
        <pc:picChg chg="del">
          <ac:chgData name="Lai, Wilson" userId="2840974a-0d84-4886-90a9-9a3ed79f3a48" providerId="ADAL" clId="{9F23B798-9E84-4552-BA63-E776E805C424}" dt="2026-09-11T07:43:19.300" v="22" actId="21"/>
          <ac:picMkLst>
            <pc:docMk/>
            <pc:sldMk cId="0" sldId="268"/>
            <ac:picMk id="2" creationId="{00000000-0000-0000-0000-000000000000}"/>
          </ac:picMkLst>
        </pc:picChg>
        <pc:picChg chg="add">
          <ac:chgData name="Lai, Wilson" userId="2840974a-0d84-4886-90a9-9a3ed79f3a48" providerId="ADAL" clId="{9F23B798-9E84-4552-BA63-E776E805C424}" dt="2026-09-11T07:43:26.418" v="23" actId="22"/>
          <ac:picMkLst>
            <pc:docMk/>
            <pc:sldMk cId="0" sldId="268"/>
            <ac:picMk id="4" creationId="{D633956F-D598-37C9-808B-CCC90E5DDAAA}"/>
          </ac:picMkLst>
        </pc:picChg>
      </pc:sldChg>
      <pc:sldChg chg="addSp delSp mod modNotes modNotesTx">
        <pc:chgData name="Lai, Wilson" userId="2840974a-0d84-4886-90a9-9a3ed79f3a48" providerId="ADAL" clId="{9F23B798-9E84-4552-BA63-E776E805C424}" dt="2026-09-11T13:56:53.959" v="71"/>
        <pc:sldMkLst>
          <pc:docMk/>
          <pc:sldMk cId="0" sldId="269"/>
        </pc:sldMkLst>
        <pc:picChg chg="del">
          <ac:chgData name="Lai, Wilson" userId="2840974a-0d84-4886-90a9-9a3ed79f3a48" providerId="ADAL" clId="{9F23B798-9E84-4552-BA63-E776E805C424}" dt="2026-09-11T07:43:28.842" v="24" actId="21"/>
          <ac:picMkLst>
            <pc:docMk/>
            <pc:sldMk cId="0" sldId="269"/>
            <ac:picMk id="2" creationId="{00000000-0000-0000-0000-000000000000}"/>
          </ac:picMkLst>
        </pc:picChg>
        <pc:picChg chg="add">
          <ac:chgData name="Lai, Wilson" userId="2840974a-0d84-4886-90a9-9a3ed79f3a48" providerId="ADAL" clId="{9F23B798-9E84-4552-BA63-E776E805C424}" dt="2026-09-11T07:43:36.413" v="25" actId="22"/>
          <ac:picMkLst>
            <pc:docMk/>
            <pc:sldMk cId="0" sldId="269"/>
            <ac:picMk id="4" creationId="{89C91A96-7947-160A-FB7F-F7F9C4DD803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988AA7-8AE7-49E9-900B-E8FF75E2A4C9}"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0B3F7-1860-4534-A8D7-80FBC442F5DC}" type="slidenum">
              <a:rPr lang="en-US" smtClean="0"/>
              <a:t>‹#›</a:t>
            </a:fld>
            <a:endParaRPr lang="en-US"/>
          </a:p>
        </p:txBody>
      </p:sp>
    </p:spTree>
    <p:extLst>
      <p:ext uri="{BB962C8B-B14F-4D97-AF65-F5344CB8AC3E}">
        <p14:creationId xmlns:p14="http://schemas.microsoft.com/office/powerpoint/2010/main" val="3382521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Welcome, everyone. Today, we are walking through a synthesis of key insights analyzing the modern financial environment, specifically unpacking three major market illusions: Technological, Macro, and Behavioral.</a:t>
            </a:r>
          </a:p>
          <a:p>
            <a:pPr lvl="0"/>
            <a:r>
              <a:rPr lang="en-US" sz="1200" kern="1200" dirty="0">
                <a:solidFill>
                  <a:schemeClr val="tx1"/>
                </a:solidFill>
                <a:effectLst/>
                <a:latin typeface="+mn-lt"/>
                <a:ea typeface="+mn-ea"/>
                <a:cs typeface="+mn-cs"/>
              </a:rPr>
              <a:t>As discussed in our recent analysis with market strategists Dan Niles, Ben Hunt, and Cameron Dawson, today's market is defined by a dangerous mix of genuine technological innovation alongside expanding structural and psychological blind spots.</a:t>
            </a:r>
          </a:p>
          <a:p>
            <a:pPr lvl="0"/>
            <a:r>
              <a:rPr lang="en-US" sz="1200" kern="1200" dirty="0">
                <a:solidFill>
                  <a:schemeClr val="tx1"/>
                </a:solidFill>
                <a:effectLst/>
                <a:latin typeface="+mn-lt"/>
                <a:ea typeface="+mn-ea"/>
                <a:cs typeface="+mn-cs"/>
              </a:rPr>
              <a:t>Our goal today is to give you the tools to separate fundamental growth from cyclical accounting tricks, map how narratives change central bank credibility, and recognize subtle behavioral traps before they erode long-term wealth.</a:t>
            </a:r>
          </a:p>
          <a:p>
            <a:endParaRPr lang="en-US" dirty="0"/>
          </a:p>
          <a:p>
            <a:endParaRPr lang="en-US" dirty="0"/>
          </a:p>
          <a:p>
            <a:r>
              <a:rPr lang="en-US" dirty="0"/>
              <a:t>https://www.youtube.com/watch?v=ks0DhmOPTj8</a:t>
            </a:r>
          </a:p>
        </p:txBody>
      </p:sp>
      <p:sp>
        <p:nvSpPr>
          <p:cNvPr id="4" name="Slide Number Placeholder 3"/>
          <p:cNvSpPr>
            <a:spLocks noGrp="1"/>
          </p:cNvSpPr>
          <p:nvPr>
            <p:ph type="sldNum" sz="quarter" idx="5"/>
          </p:nvPr>
        </p:nvSpPr>
        <p:spPr/>
        <p:txBody>
          <a:bodyPr/>
          <a:lstStyle/>
          <a:p>
            <a:fld id="{C520B3F7-1860-4534-A8D7-80FBC442F5DC}" type="slidenum">
              <a:rPr lang="en-US" smtClean="0"/>
              <a:t>1</a:t>
            </a:fld>
            <a:endParaRPr lang="en-US"/>
          </a:p>
        </p:txBody>
      </p:sp>
    </p:spTree>
    <p:extLst>
      <p:ext uri="{BB962C8B-B14F-4D97-AF65-F5344CB8AC3E}">
        <p14:creationId xmlns:p14="http://schemas.microsoft.com/office/powerpoint/2010/main" val="388908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where we are in the AI cycle, we have to look beyond a single monolithic 'AI hype' story and split it into three distinct phases: Training, Inference, and Agentic.</a:t>
            </a:r>
          </a:p>
          <a:p>
            <a:pPr lvl="0"/>
            <a:r>
              <a:rPr lang="en-US" sz="1200" kern="1200" dirty="0">
                <a:solidFill>
                  <a:schemeClr val="tx1"/>
                </a:solidFill>
                <a:effectLst/>
                <a:latin typeface="+mn-lt"/>
                <a:ea typeface="+mn-ea"/>
                <a:cs typeface="+mn-cs"/>
              </a:rPr>
              <a:t>Dan Niles pointed out that on January 30th, the release and formalization of agentic frameworks (such as OpenClaw) marked a structural turning point.</a:t>
            </a:r>
          </a:p>
          <a:p>
            <a:pPr lvl="0"/>
            <a:r>
              <a:rPr lang="en-US" sz="1200" kern="1200" dirty="0">
                <a:solidFill>
                  <a:schemeClr val="tx1"/>
                </a:solidFill>
                <a:effectLst/>
                <a:latin typeface="+mn-lt"/>
                <a:ea typeface="+mn-ea"/>
                <a:cs typeface="+mn-cs"/>
              </a:rPr>
              <a:t>Unlike early chat-based inference, Agentic AI uses 10x to 100x more compute/tokens because it executes multi-step autonomous workflows.</a:t>
            </a:r>
          </a:p>
          <a:p>
            <a:pPr lvl="0"/>
            <a:r>
              <a:rPr lang="en-US" sz="1200" kern="1200" dirty="0">
                <a:solidFill>
                  <a:schemeClr val="tx1"/>
                </a:solidFill>
                <a:effectLst/>
                <a:latin typeface="+mn-lt"/>
                <a:ea typeface="+mn-ea"/>
                <a:cs typeface="+mn-cs"/>
              </a:rPr>
              <a:t>Because companies are just now beginning to realize actual, measurable ROI from these agentic workflows, capital expenditures are extending into a renewed cycle.</a:t>
            </a:r>
          </a:p>
          <a:p>
            <a:endParaRPr lang="en-US" dirty="0"/>
          </a:p>
        </p:txBody>
      </p:sp>
      <p:sp>
        <p:nvSpPr>
          <p:cNvPr id="4" name="Slide Number Placeholder 3"/>
          <p:cNvSpPr>
            <a:spLocks noGrp="1"/>
          </p:cNvSpPr>
          <p:nvPr>
            <p:ph type="sldNum" sz="quarter" idx="5"/>
          </p:nvPr>
        </p:nvSpPr>
        <p:spPr/>
        <p:txBody>
          <a:bodyPr/>
          <a:lstStyle/>
          <a:p>
            <a:fld id="{C520B3F7-1860-4534-A8D7-80FBC442F5DC}" type="slidenum">
              <a:rPr lang="en-US" smtClean="0"/>
              <a:t>2</a:t>
            </a:fld>
            <a:endParaRPr lang="en-US"/>
          </a:p>
        </p:txBody>
      </p:sp>
    </p:spTree>
    <p:extLst>
      <p:ext uri="{BB962C8B-B14F-4D97-AF65-F5344CB8AC3E}">
        <p14:creationId xmlns:p14="http://schemas.microsoft.com/office/powerpoint/2010/main" val="19017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Even during valid technology revolutions, market participants fall into the trap of believing that hyper-smart leadership immune-boosts a company from cyclical contractions.</a:t>
            </a:r>
          </a:p>
          <a:p>
            <a:pPr lvl="0"/>
            <a:r>
              <a:rPr lang="en-US" sz="1200" kern="1200" dirty="0">
                <a:solidFill>
                  <a:schemeClr val="tx1"/>
                </a:solidFill>
                <a:effectLst/>
                <a:latin typeface="+mn-lt"/>
                <a:ea typeface="+mn-ea"/>
                <a:cs typeface="+mn-cs"/>
              </a:rPr>
              <a:t>Consider Cisco in May 2001. Cisco was widely regarded as the most valuable, dominant, and smartest company powering the backbones of the internet.</a:t>
            </a:r>
          </a:p>
          <a:p>
            <a:pPr lvl="0"/>
            <a:r>
              <a:rPr lang="en-US" sz="1200" kern="1200" dirty="0">
                <a:solidFill>
                  <a:schemeClr val="tx1"/>
                </a:solidFill>
                <a:effectLst/>
                <a:latin typeface="+mn-lt"/>
                <a:ea typeface="+mn-ea"/>
                <a:cs typeface="+mn-cs"/>
              </a:rPr>
              <a:t>Yet, in just a few months, Cisco's CEO had to report a drop in bookings growth from +70% year-over-year to -30% year-over-year.</a:t>
            </a:r>
          </a:p>
          <a:p>
            <a:pPr lvl="0"/>
            <a:r>
              <a:rPr lang="en-US" sz="1200" kern="1200" dirty="0">
                <a:solidFill>
                  <a:schemeClr val="tx1"/>
                </a:solidFill>
                <a:effectLst/>
                <a:latin typeface="+mn-lt"/>
                <a:ea typeface="+mn-ea"/>
                <a:cs typeface="+mn-cs"/>
              </a:rPr>
              <a:t>The takeaway today: Current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driving AI infrastructure are exceptional businesses, but smart execution does not make them immune to sudden cyclical breaks. Hold strong convictions, but hold them loosely and watch the raw data like a hawk.</a:t>
            </a:r>
          </a:p>
          <a:p>
            <a:endParaRPr lang="en-US" dirty="0"/>
          </a:p>
        </p:txBody>
      </p:sp>
      <p:sp>
        <p:nvSpPr>
          <p:cNvPr id="4" name="Slide Number Placeholder 3"/>
          <p:cNvSpPr>
            <a:spLocks noGrp="1"/>
          </p:cNvSpPr>
          <p:nvPr>
            <p:ph type="sldNum" sz="quarter" idx="5"/>
          </p:nvPr>
        </p:nvSpPr>
        <p:spPr/>
        <p:txBody>
          <a:bodyPr/>
          <a:lstStyle/>
          <a:p>
            <a:fld id="{C520B3F7-1860-4534-A8D7-80FBC442F5DC}" type="slidenum">
              <a:rPr lang="en-US" smtClean="0"/>
              <a:t>3</a:t>
            </a:fld>
            <a:endParaRPr lang="en-US"/>
          </a:p>
        </p:txBody>
      </p:sp>
    </p:spTree>
    <p:extLst>
      <p:ext uri="{BB962C8B-B14F-4D97-AF65-F5344CB8AC3E}">
        <p14:creationId xmlns:p14="http://schemas.microsoft.com/office/powerpoint/2010/main" val="1274032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Dan Niles aggressively challenged the dogma that 'buying and holding forever' is always the optimal strategy, calling unmanaged holding in single equities fundamentally flawed due to survivorship bias.</a:t>
            </a:r>
          </a:p>
          <a:p>
            <a:pPr lvl="0"/>
            <a:r>
              <a:rPr lang="en-US" sz="1200" kern="1200" dirty="0">
                <a:solidFill>
                  <a:schemeClr val="tx1"/>
                </a:solidFill>
                <a:effectLst/>
                <a:latin typeface="+mn-lt"/>
                <a:ea typeface="+mn-ea"/>
                <a:cs typeface="+mn-cs"/>
              </a:rPr>
              <a:t>Financial media loves telling the story of the grandmother who put Apple or Microsoft in a drawer decades ago and became a millionaire.</a:t>
            </a:r>
          </a:p>
          <a:p>
            <a:pPr lvl="0"/>
            <a:r>
              <a:rPr lang="en-US" sz="1200" kern="1200" dirty="0">
                <a:solidFill>
                  <a:schemeClr val="tx1"/>
                </a:solidFill>
                <a:effectLst/>
                <a:latin typeface="+mn-lt"/>
                <a:ea typeface="+mn-ea"/>
                <a:cs typeface="+mn-cs"/>
              </a:rPr>
              <a:t>They never highlight the grandmother who put AOL, Yahoo, Nokia, Cisco, or Enron into a drawer expecting the same outcome.</a:t>
            </a:r>
          </a:p>
          <a:p>
            <a:pPr lvl="0"/>
            <a:r>
              <a:rPr lang="en-US" sz="1200" kern="1200" dirty="0">
                <a:solidFill>
                  <a:schemeClr val="tx1"/>
                </a:solidFill>
                <a:effectLst/>
                <a:latin typeface="+mn-lt"/>
                <a:ea typeface="+mn-ea"/>
                <a:cs typeface="+mn-cs"/>
              </a:rPr>
              <a:t>Even standard indices rebalance and reconstitute over time. Treating any single individual stock as a permanent, unmanaged legacy holding introduces severe cognitive risk to a portfolio.</a:t>
            </a:r>
          </a:p>
          <a:p>
            <a:endParaRPr lang="en-US" dirty="0"/>
          </a:p>
        </p:txBody>
      </p:sp>
      <p:sp>
        <p:nvSpPr>
          <p:cNvPr id="4" name="Slide Number Placeholder 3"/>
          <p:cNvSpPr>
            <a:spLocks noGrp="1"/>
          </p:cNvSpPr>
          <p:nvPr>
            <p:ph type="sldNum" sz="quarter" idx="5"/>
          </p:nvPr>
        </p:nvSpPr>
        <p:spPr/>
        <p:txBody>
          <a:bodyPr/>
          <a:lstStyle/>
          <a:p>
            <a:fld id="{C520B3F7-1860-4534-A8D7-80FBC442F5DC}" type="slidenum">
              <a:rPr lang="en-US" smtClean="0"/>
              <a:t>4</a:t>
            </a:fld>
            <a:endParaRPr lang="en-US"/>
          </a:p>
        </p:txBody>
      </p:sp>
    </p:spTree>
    <p:extLst>
      <p:ext uri="{BB962C8B-B14F-4D97-AF65-F5344CB8AC3E}">
        <p14:creationId xmlns:p14="http://schemas.microsoft.com/office/powerpoint/2010/main" val="3570209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Borrowing a concept from strategist Cameron Dawson and Howard Schilit's classic book </a:t>
            </a:r>
            <a:r>
              <a:rPr lang="en-US" sz="1200" i="1" kern="1200" dirty="0">
                <a:solidFill>
                  <a:schemeClr val="tx1"/>
                </a:solidFill>
                <a:effectLst/>
                <a:latin typeface="+mn-lt"/>
                <a:ea typeface="+mn-ea"/>
                <a:cs typeface="+mn-cs"/>
              </a:rPr>
              <a:t>Financial Shenanigans</a:t>
            </a:r>
            <a:r>
              <a:rPr lang="en-US" sz="1200" kern="1200" dirty="0">
                <a:solidFill>
                  <a:schemeClr val="tx1"/>
                </a:solidFill>
                <a:effectLst/>
                <a:latin typeface="+mn-lt"/>
                <a:ea typeface="+mn-ea"/>
                <a:cs typeface="+mn-cs"/>
              </a:rPr>
              <a:t>, accounting tricks do not show up early in an economic boom.</a:t>
            </a:r>
          </a:p>
          <a:p>
            <a:pPr lvl="0"/>
            <a:r>
              <a:rPr lang="en-US" sz="1200" kern="1200" dirty="0">
                <a:solidFill>
                  <a:schemeClr val="tx1"/>
                </a:solidFill>
                <a:effectLst/>
                <a:latin typeface="+mn-lt"/>
                <a:ea typeface="+mn-ea"/>
                <a:cs typeface="+mn-cs"/>
              </a:rPr>
              <a:t>Accounting games are fundamentally cyclical. They proliferate most aggressively at the absolute apex or crest of a market cycle, right when underlying fundamental growth begins to decelerate.</a:t>
            </a:r>
          </a:p>
          <a:p>
            <a:pPr lvl="0"/>
            <a:r>
              <a:rPr lang="en-US" sz="1200" kern="1200" dirty="0">
                <a:solidFill>
                  <a:schemeClr val="tx1"/>
                </a:solidFill>
                <a:effectLst/>
                <a:latin typeface="+mn-lt"/>
                <a:ea typeface="+mn-ea"/>
                <a:cs typeface="+mn-cs"/>
              </a:rPr>
              <a:t>When real organic demand slows, management teams face immense quarterly pressure to maintain the illusion of exponential growth, prompting them to turn the accounting 'knob' all the way up to 11 to push boundary lines across financial statements.</a:t>
            </a:r>
          </a:p>
          <a:p>
            <a:endParaRPr lang="en-US" dirty="0"/>
          </a:p>
        </p:txBody>
      </p:sp>
      <p:sp>
        <p:nvSpPr>
          <p:cNvPr id="4" name="Slide Number Placeholder 3"/>
          <p:cNvSpPr>
            <a:spLocks noGrp="1"/>
          </p:cNvSpPr>
          <p:nvPr>
            <p:ph type="sldNum" sz="quarter" idx="5"/>
          </p:nvPr>
        </p:nvSpPr>
        <p:spPr/>
        <p:txBody>
          <a:bodyPr/>
          <a:lstStyle/>
          <a:p>
            <a:fld id="{C520B3F7-1860-4534-A8D7-80FBC442F5DC}" type="slidenum">
              <a:rPr lang="en-US" smtClean="0"/>
              <a:t>5</a:t>
            </a:fld>
            <a:endParaRPr lang="en-US"/>
          </a:p>
        </p:txBody>
      </p:sp>
    </p:spTree>
    <p:extLst>
      <p:ext uri="{BB962C8B-B14F-4D97-AF65-F5344CB8AC3E}">
        <p14:creationId xmlns:p14="http://schemas.microsoft.com/office/powerpoint/2010/main" val="2595470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how these games play out across financial statements today: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Circular Receivables/Payables:</a:t>
            </a:r>
            <a:r>
              <a:rPr lang="en-US" sz="1200" kern="1200" dirty="0">
                <a:solidFill>
                  <a:schemeClr val="tx1"/>
                </a:solidFill>
                <a:effectLst/>
                <a:latin typeface="+mn-lt"/>
                <a:ea typeface="+mn-ea"/>
                <a:cs typeface="+mn-cs"/>
              </a:rPr>
              <a:t> Nvidia extending accounts receivable terms to customers, while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extend accounts payable, artificially flattering Free Cash Flow (FCF) metrics for customer balance sheets. </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CapEx</a:t>
            </a:r>
            <a:r>
              <a:rPr lang="en-US" sz="1200" b="1" kern="1200" dirty="0">
                <a:solidFill>
                  <a:schemeClr val="tx1"/>
                </a:solidFill>
                <a:effectLst/>
                <a:latin typeface="+mn-lt"/>
                <a:ea typeface="+mn-ea"/>
                <a:cs typeface="+mn-cs"/>
              </a:rPr>
              <a:t> Reclassification:</a:t>
            </a:r>
            <a:r>
              <a:rPr lang="en-US" sz="1200" kern="1200" dirty="0">
                <a:solidFill>
                  <a:schemeClr val="tx1"/>
                </a:solidFill>
                <a:effectLst/>
                <a:latin typeface="+mn-lt"/>
                <a:ea typeface="+mn-ea"/>
                <a:cs typeface="+mn-cs"/>
              </a:rPr>
              <a:t> Microsoft lowering reported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by shifting financing and operating leases out of core calculations to make their FCF look leaner and healthier.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SPVs &amp; Equity Method Accounting:</a:t>
            </a:r>
            <a:r>
              <a:rPr lang="en-US" sz="1200" kern="1200" dirty="0">
                <a:solidFill>
                  <a:schemeClr val="tx1"/>
                </a:solidFill>
                <a:effectLst/>
                <a:latin typeface="+mn-lt"/>
                <a:ea typeface="+mn-ea"/>
                <a:cs typeface="+mn-cs"/>
              </a:rPr>
              <a:t> Taking massive stakes in private AI entities (e.g., Microsoft's stake in OpenAI) using equity method accounting and off-balance-sheet Special Purpose Vehicles (SPVs) to keep capital obligations hidden from headline GAAP metrics.</a:t>
            </a:r>
          </a:p>
          <a:p>
            <a:endParaRPr lang="en-US" dirty="0"/>
          </a:p>
        </p:txBody>
      </p:sp>
      <p:sp>
        <p:nvSpPr>
          <p:cNvPr id="4" name="Slide Number Placeholder 3"/>
          <p:cNvSpPr>
            <a:spLocks noGrp="1"/>
          </p:cNvSpPr>
          <p:nvPr>
            <p:ph type="sldNum" sz="quarter" idx="5"/>
          </p:nvPr>
        </p:nvSpPr>
        <p:spPr/>
        <p:txBody>
          <a:bodyPr/>
          <a:lstStyle/>
          <a:p>
            <a:fld id="{C520B3F7-1860-4534-A8D7-80FBC442F5DC}" type="slidenum">
              <a:rPr lang="en-US" smtClean="0"/>
              <a:t>6</a:t>
            </a:fld>
            <a:endParaRPr lang="en-US"/>
          </a:p>
        </p:txBody>
      </p:sp>
    </p:spTree>
    <p:extLst>
      <p:ext uri="{BB962C8B-B14F-4D97-AF65-F5344CB8AC3E}">
        <p14:creationId xmlns:p14="http://schemas.microsoft.com/office/powerpoint/2010/main" val="595668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Moving from technology to macroeconomics, Ben Hunt uses a powerful visual metaphor for central bank credibility: A teacup.</a:t>
            </a:r>
          </a:p>
          <a:p>
            <a:pPr lvl="0"/>
            <a:r>
              <a:rPr lang="en-US" sz="1200" kern="1200" dirty="0">
                <a:solidFill>
                  <a:schemeClr val="tx1"/>
                </a:solidFill>
                <a:effectLst/>
                <a:latin typeface="+mn-lt"/>
                <a:ea typeface="+mn-ea"/>
                <a:cs typeface="+mn-cs"/>
              </a:rPr>
              <a:t>A institution's reputation or credibility is like a fine </a:t>
            </a:r>
            <a:r>
              <a:rPr lang="en-US" sz="1200" kern="1200" dirty="0" err="1">
                <a:solidFill>
                  <a:schemeClr val="tx1"/>
                </a:solidFill>
                <a:effectLst/>
                <a:latin typeface="+mn-lt"/>
                <a:ea typeface="+mn-ea"/>
                <a:cs typeface="+mn-cs"/>
              </a:rPr>
              <a:t>china</a:t>
            </a:r>
            <a:r>
              <a:rPr lang="en-US" sz="1200" kern="1200" dirty="0">
                <a:solidFill>
                  <a:schemeClr val="tx1"/>
                </a:solidFill>
                <a:effectLst/>
                <a:latin typeface="+mn-lt"/>
                <a:ea typeface="+mn-ea"/>
                <a:cs typeface="+mn-cs"/>
              </a:rPr>
              <a:t> teacup. If you chip it or crack it, you can carefully glue it back together, and it remains technically functional—but its structural integrity is permanently compromised.</a:t>
            </a:r>
          </a:p>
          <a:p>
            <a:pPr lvl="0"/>
            <a:r>
              <a:rPr lang="en-US" sz="1200" kern="1200" dirty="0">
                <a:solidFill>
                  <a:schemeClr val="tx1"/>
                </a:solidFill>
                <a:effectLst/>
                <a:latin typeface="+mn-lt"/>
                <a:ea typeface="+mn-ea"/>
                <a:cs typeface="+mn-cs"/>
              </a:rPr>
              <a:t>When central banks talk aggressively about fighting inflation but hesitate or fail to take decisive policy action when given the window, market participants stop believing forward guidance. Once that trust shatters, words lose their power and only concrete action restores faith.</a:t>
            </a:r>
          </a:p>
          <a:p>
            <a:endParaRPr lang="en-US" dirty="0"/>
          </a:p>
        </p:txBody>
      </p:sp>
      <p:sp>
        <p:nvSpPr>
          <p:cNvPr id="4" name="Slide Number Placeholder 3"/>
          <p:cNvSpPr>
            <a:spLocks noGrp="1"/>
          </p:cNvSpPr>
          <p:nvPr>
            <p:ph type="sldNum" sz="quarter" idx="5"/>
          </p:nvPr>
        </p:nvSpPr>
        <p:spPr/>
        <p:txBody>
          <a:bodyPr/>
          <a:lstStyle/>
          <a:p>
            <a:fld id="{C520B3F7-1860-4534-A8D7-80FBC442F5DC}" type="slidenum">
              <a:rPr lang="en-US" smtClean="0"/>
              <a:t>7</a:t>
            </a:fld>
            <a:endParaRPr lang="en-US"/>
          </a:p>
        </p:txBody>
      </p:sp>
    </p:spTree>
    <p:extLst>
      <p:ext uri="{BB962C8B-B14F-4D97-AF65-F5344CB8AC3E}">
        <p14:creationId xmlns:p14="http://schemas.microsoft.com/office/powerpoint/2010/main" val="4263320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Rather than relying on basic word-cloud sentiment analysis, we can track the semantic structure of news and language density across global media to map a narrative's life cycle.</a:t>
            </a:r>
          </a:p>
          <a:p>
            <a:pPr lvl="0"/>
            <a:r>
              <a:rPr lang="en-US" sz="1200" kern="1200" dirty="0">
                <a:solidFill>
                  <a:schemeClr val="tx1"/>
                </a:solidFill>
                <a:effectLst/>
                <a:latin typeface="+mn-lt"/>
                <a:ea typeface="+mn-ea"/>
                <a:cs typeface="+mn-cs"/>
              </a:rPr>
              <a:t>"A narrative moves through 4 key stages: </a:t>
            </a:r>
          </a:p>
          <a:p>
            <a:pPr marL="228600" lvl="0" indent="-228600">
              <a:buFont typeface="+mj-lt"/>
              <a:buAutoNum type="arabicPeriod"/>
            </a:pPr>
            <a:r>
              <a:rPr lang="en-US" sz="1200" b="1" kern="1200" dirty="0">
                <a:solidFill>
                  <a:schemeClr val="tx1"/>
                </a:solidFill>
                <a:effectLst/>
                <a:latin typeface="+mn-lt"/>
                <a:ea typeface="+mn-ea"/>
                <a:cs typeface="+mn-cs"/>
              </a:rPr>
              <a:t>Contested:</a:t>
            </a:r>
            <a:r>
              <a:rPr lang="en-US" sz="1200" kern="1200" dirty="0">
                <a:solidFill>
                  <a:schemeClr val="tx1"/>
                </a:solidFill>
                <a:effectLst/>
                <a:latin typeface="+mn-lt"/>
                <a:ea typeface="+mn-ea"/>
                <a:cs typeface="+mn-cs"/>
              </a:rPr>
              <a:t> Market participants actively debate whether a premise is true. </a:t>
            </a:r>
          </a:p>
          <a:p>
            <a:pPr marL="228600" lvl="0" indent="-228600">
              <a:buFont typeface="+mj-lt"/>
              <a:buAutoNum type="arabicPeriod"/>
            </a:pPr>
            <a:r>
              <a:rPr lang="en-US" sz="1200" b="1" kern="1200" dirty="0">
                <a:solidFill>
                  <a:schemeClr val="tx1"/>
                </a:solidFill>
                <a:effectLst/>
                <a:latin typeface="+mn-lt"/>
                <a:ea typeface="+mn-ea"/>
                <a:cs typeface="+mn-cs"/>
              </a:rPr>
              <a:t>Supernova Burst:</a:t>
            </a:r>
            <a:r>
              <a:rPr lang="en-US" sz="1200" kern="1200" dirty="0">
                <a:solidFill>
                  <a:schemeClr val="tx1"/>
                </a:solidFill>
                <a:effectLst/>
                <a:latin typeface="+mn-lt"/>
                <a:ea typeface="+mn-ea"/>
                <a:cs typeface="+mn-cs"/>
              </a:rPr>
              <a:t> An event triggers a sudden spike in narrative density across media channels. </a:t>
            </a:r>
          </a:p>
          <a:p>
            <a:pPr marL="228600" lvl="0" indent="-228600">
              <a:buFont typeface="+mj-lt"/>
              <a:buAutoNum type="arabicPeriod"/>
            </a:pPr>
            <a:r>
              <a:rPr lang="en-US" sz="1200" b="1" kern="1200" dirty="0">
                <a:solidFill>
                  <a:schemeClr val="tx1"/>
                </a:solidFill>
                <a:effectLst/>
                <a:latin typeface="+mn-lt"/>
                <a:ea typeface="+mn-ea"/>
                <a:cs typeface="+mn-cs"/>
              </a:rPr>
              <a:t>Confirmed:</a:t>
            </a:r>
            <a:r>
              <a:rPr lang="en-US" sz="1200" kern="1200" dirty="0">
                <a:solidFill>
                  <a:schemeClr val="tx1"/>
                </a:solidFill>
                <a:effectLst/>
                <a:latin typeface="+mn-lt"/>
                <a:ea typeface="+mn-ea"/>
                <a:cs typeface="+mn-cs"/>
              </a:rPr>
              <a:t> The consensus accepts the premise. </a:t>
            </a:r>
          </a:p>
          <a:p>
            <a:pPr marL="228600" lvl="0" indent="-228600">
              <a:buFont typeface="+mj-lt"/>
              <a:buAutoNum type="arabicPeriod"/>
            </a:pPr>
            <a:r>
              <a:rPr lang="en-US" sz="1200" b="1" kern="1200" dirty="0">
                <a:solidFill>
                  <a:schemeClr val="tx1"/>
                </a:solidFill>
                <a:effectLst/>
                <a:latin typeface="+mn-lt"/>
                <a:ea typeface="+mn-ea"/>
                <a:cs typeface="+mn-cs"/>
              </a:rPr>
              <a:t>Common Knowledge:</a:t>
            </a:r>
            <a:r>
              <a:rPr lang="en-US" sz="1200" kern="1200" dirty="0">
                <a:solidFill>
                  <a:schemeClr val="tx1"/>
                </a:solidFill>
                <a:effectLst/>
                <a:latin typeface="+mn-lt"/>
                <a:ea typeface="+mn-ea"/>
                <a:cs typeface="+mn-cs"/>
              </a:rPr>
              <a:t> Reaches the state of 'what everybody knows that everybody knows'.</a:t>
            </a:r>
          </a:p>
          <a:p>
            <a:endParaRPr lang="en-US" dirty="0"/>
          </a:p>
        </p:txBody>
      </p:sp>
      <p:sp>
        <p:nvSpPr>
          <p:cNvPr id="4" name="Slide Number Placeholder 3"/>
          <p:cNvSpPr>
            <a:spLocks noGrp="1"/>
          </p:cNvSpPr>
          <p:nvPr>
            <p:ph type="sldNum" sz="quarter" idx="5"/>
          </p:nvPr>
        </p:nvSpPr>
        <p:spPr/>
        <p:txBody>
          <a:bodyPr/>
          <a:lstStyle/>
          <a:p>
            <a:fld id="{C520B3F7-1860-4534-A8D7-80FBC442F5DC}" type="slidenum">
              <a:rPr lang="en-US" smtClean="0"/>
              <a:t>8</a:t>
            </a:fld>
            <a:endParaRPr lang="en-US"/>
          </a:p>
        </p:txBody>
      </p:sp>
    </p:spTree>
    <p:extLst>
      <p:ext uri="{BB962C8B-B14F-4D97-AF65-F5344CB8AC3E}">
        <p14:creationId xmlns:p14="http://schemas.microsoft.com/office/powerpoint/2010/main" val="3073030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Here is a real-world application of semantic tracking: mapping central bank credibility against hard assets like Gold.</a:t>
            </a:r>
          </a:p>
          <a:p>
            <a:pPr lvl="0"/>
            <a:r>
              <a:rPr lang="en-US" sz="1200" kern="1200" dirty="0">
                <a:solidFill>
                  <a:schemeClr val="tx1"/>
                </a:solidFill>
                <a:effectLst/>
                <a:latin typeface="+mn-lt"/>
                <a:ea typeface="+mn-ea"/>
                <a:cs typeface="+mn-cs"/>
              </a:rPr>
              <a:t>Gold price can essentially be modeled as '1 divided by Trust in Fiat/Central Banks'.</a:t>
            </a:r>
          </a:p>
          <a:p>
            <a:pPr lvl="0"/>
            <a:r>
              <a:rPr lang="en-US" sz="1200" kern="1200" dirty="0">
                <a:solidFill>
                  <a:schemeClr val="tx1"/>
                </a:solidFill>
                <a:effectLst/>
                <a:latin typeface="+mn-lt"/>
                <a:ea typeface="+mn-ea"/>
                <a:cs typeface="+mn-cs"/>
              </a:rPr>
              <a:t>When policy leaders talk hawkishly on inflation but fail to act decisively, a 'Supernova Burst' occurs in media narratives confirming a loss of central bank credibility.</a:t>
            </a:r>
          </a:p>
          <a:p>
            <a:pPr lvl="0"/>
            <a:r>
              <a:rPr lang="en-US" sz="1200" kern="1200" dirty="0">
                <a:solidFill>
                  <a:schemeClr val="tx1"/>
                </a:solidFill>
                <a:effectLst/>
                <a:latin typeface="+mn-lt"/>
                <a:ea typeface="+mn-ea"/>
                <a:cs typeface="+mn-cs"/>
              </a:rPr>
              <a:t>As the narrative shifts to 'Meet the new boss, same as the old boss,' market pricing rapidly re-adjusts, sending hard assets like Gold surging higher in direct response to compromised trust.</a:t>
            </a:r>
          </a:p>
          <a:p>
            <a:endParaRPr lang="en-US" dirty="0"/>
          </a:p>
        </p:txBody>
      </p:sp>
      <p:sp>
        <p:nvSpPr>
          <p:cNvPr id="4" name="Slide Number Placeholder 3"/>
          <p:cNvSpPr>
            <a:spLocks noGrp="1"/>
          </p:cNvSpPr>
          <p:nvPr>
            <p:ph type="sldNum" sz="quarter" idx="5"/>
          </p:nvPr>
        </p:nvSpPr>
        <p:spPr/>
        <p:txBody>
          <a:bodyPr/>
          <a:lstStyle/>
          <a:p>
            <a:fld id="{C520B3F7-1860-4534-A8D7-80FBC442F5DC}" type="slidenum">
              <a:rPr lang="en-US" smtClean="0"/>
              <a:t>9</a:t>
            </a:fld>
            <a:endParaRPr lang="en-US"/>
          </a:p>
        </p:txBody>
      </p:sp>
    </p:spTree>
    <p:extLst>
      <p:ext uri="{BB962C8B-B14F-4D97-AF65-F5344CB8AC3E}">
        <p14:creationId xmlns:p14="http://schemas.microsoft.com/office/powerpoint/2010/main" val="862861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Shifting to behavioral finance, Dave Nadig highlights a hidden, insidious risk spreading through retail markets: micro-betting and gamified trading interfaces.</a:t>
            </a:r>
          </a:p>
          <a:p>
            <a:pPr lvl="0"/>
            <a:r>
              <a:rPr lang="en-US" sz="1200" kern="1200" dirty="0">
                <a:solidFill>
                  <a:schemeClr val="tx1"/>
                </a:solidFill>
                <a:effectLst/>
                <a:latin typeface="+mn-lt"/>
                <a:ea typeface="+mn-ea"/>
                <a:cs typeface="+mn-cs"/>
              </a:rPr>
              <a:t>A single catastrophic loss (e.g., losing $10,000 on one event) causes acute pain. The participant goes home destitute, but learns an immediate, permanent lesson.</a:t>
            </a:r>
          </a:p>
          <a:p>
            <a:pPr lvl="0"/>
            <a:r>
              <a:rPr lang="en-US" sz="1200" kern="1200" dirty="0">
                <a:solidFill>
                  <a:schemeClr val="tx1"/>
                </a:solidFill>
                <a:effectLst/>
                <a:latin typeface="+mn-lt"/>
                <a:ea typeface="+mn-ea"/>
                <a:cs typeface="+mn-cs"/>
              </a:rPr>
              <a:t>The real danger is the 'Insidious Slow Bleed'—losing 5–10% weekly over dozens of small bets, re-funding capital, hitting an occasional win to trigger dopamine, and repeating the cycle.</a:t>
            </a:r>
          </a:p>
          <a:p>
            <a:pPr lvl="0"/>
            <a:r>
              <a:rPr lang="en-US" sz="1200" kern="1200" dirty="0">
                <a:solidFill>
                  <a:schemeClr val="tx1"/>
                </a:solidFill>
                <a:effectLst/>
                <a:latin typeface="+mn-lt"/>
                <a:ea typeface="+mn-ea"/>
                <a:cs typeface="+mn-cs"/>
              </a:rPr>
              <a:t>This acts as a grinding tax on math literacy, slowly destroying wealth without ever delivering the shocking wake-up call required to break the habit.</a:t>
            </a:r>
          </a:p>
          <a:p>
            <a:endParaRPr lang="en-US" dirty="0"/>
          </a:p>
        </p:txBody>
      </p:sp>
      <p:sp>
        <p:nvSpPr>
          <p:cNvPr id="4" name="Slide Number Placeholder 3"/>
          <p:cNvSpPr>
            <a:spLocks noGrp="1"/>
          </p:cNvSpPr>
          <p:nvPr>
            <p:ph type="sldNum" sz="quarter" idx="5"/>
          </p:nvPr>
        </p:nvSpPr>
        <p:spPr/>
        <p:txBody>
          <a:bodyPr/>
          <a:lstStyle/>
          <a:p>
            <a:fld id="{C520B3F7-1860-4534-A8D7-80FBC442F5DC}" type="slidenum">
              <a:rPr lang="en-US" smtClean="0"/>
              <a:t>10</a:t>
            </a:fld>
            <a:endParaRPr lang="en-US"/>
          </a:p>
        </p:txBody>
      </p:sp>
    </p:spTree>
    <p:extLst>
      <p:ext uri="{BB962C8B-B14F-4D97-AF65-F5344CB8AC3E}">
        <p14:creationId xmlns:p14="http://schemas.microsoft.com/office/powerpoint/2010/main" val="1533030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evaluate behavioral trading or speculative risk, financial planners look at the capital source: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Funding via Income:</a:t>
            </a:r>
            <a:r>
              <a:rPr lang="en-US" sz="1200" kern="1200" dirty="0">
                <a:solidFill>
                  <a:schemeClr val="tx1"/>
                </a:solidFill>
                <a:effectLst/>
                <a:latin typeface="+mn-lt"/>
                <a:ea typeface="+mn-ea"/>
                <a:cs typeface="+mn-cs"/>
              </a:rPr>
              <a:t> If small speculative losses come out of a weekly discretionary paycheck, it functions as harmless entertainment—the rent and grocery bills are still paid.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Funding via Assets:</a:t>
            </a:r>
            <a:r>
              <a:rPr lang="en-US" sz="1200" kern="1200" dirty="0">
                <a:solidFill>
                  <a:schemeClr val="tx1"/>
                </a:solidFill>
                <a:effectLst/>
                <a:latin typeface="+mn-lt"/>
                <a:ea typeface="+mn-ea"/>
                <a:cs typeface="+mn-cs"/>
              </a:rPr>
              <a:t> If long-term savings or investment holdings are sold off to fund the ongoing dopamine loop, structural wealth destruction occurs.</a:t>
            </a:r>
          </a:p>
          <a:p>
            <a:pPr lvl="0"/>
            <a:r>
              <a:rPr lang="en-US" sz="1200" kern="1200" dirty="0">
                <a:solidFill>
                  <a:schemeClr val="tx1"/>
                </a:solidFill>
                <a:effectLst/>
                <a:latin typeface="+mn-lt"/>
                <a:ea typeface="+mn-ea"/>
                <a:cs typeface="+mn-cs"/>
              </a:rPr>
              <a:t>The critical trap is that continuous income can temporarily mask the leak in draining assets, creating a false sense of security right up until retirement.</a:t>
            </a:r>
          </a:p>
          <a:p>
            <a:endParaRPr lang="en-US" dirty="0"/>
          </a:p>
        </p:txBody>
      </p:sp>
      <p:sp>
        <p:nvSpPr>
          <p:cNvPr id="4" name="Slide Number Placeholder 3"/>
          <p:cNvSpPr>
            <a:spLocks noGrp="1"/>
          </p:cNvSpPr>
          <p:nvPr>
            <p:ph type="sldNum" sz="quarter" idx="5"/>
          </p:nvPr>
        </p:nvSpPr>
        <p:spPr/>
        <p:txBody>
          <a:bodyPr/>
          <a:lstStyle/>
          <a:p>
            <a:fld id="{C520B3F7-1860-4534-A8D7-80FBC442F5DC}" type="slidenum">
              <a:rPr lang="en-US" smtClean="0"/>
              <a:t>11</a:t>
            </a:fld>
            <a:endParaRPr lang="en-US"/>
          </a:p>
        </p:txBody>
      </p:sp>
    </p:spTree>
    <p:extLst>
      <p:ext uri="{BB962C8B-B14F-4D97-AF65-F5344CB8AC3E}">
        <p14:creationId xmlns:p14="http://schemas.microsoft.com/office/powerpoint/2010/main" val="1085037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wrap up our analysis across these three domains: </a:t>
            </a:r>
          </a:p>
          <a:p>
            <a:pPr marL="228600" lvl="0" indent="-228600">
              <a:buFont typeface="+mj-lt"/>
              <a:buAutoNum type="arabicPeriod"/>
            </a:pPr>
            <a:r>
              <a:rPr lang="en-US" sz="1200" b="1" kern="1200" dirty="0">
                <a:solidFill>
                  <a:schemeClr val="tx1"/>
                </a:solidFill>
                <a:effectLst/>
                <a:latin typeface="+mn-lt"/>
                <a:ea typeface="+mn-ea"/>
                <a:cs typeface="+mn-cs"/>
              </a:rPr>
              <a:t>Watch Data, Not Deciders:</a:t>
            </a:r>
            <a:r>
              <a:rPr lang="en-US" sz="1200" kern="1200" dirty="0">
                <a:solidFill>
                  <a:schemeClr val="tx1"/>
                </a:solidFill>
                <a:effectLst/>
                <a:latin typeface="+mn-lt"/>
                <a:ea typeface="+mn-ea"/>
                <a:cs typeface="+mn-cs"/>
              </a:rPr>
              <a:t> Do not rely blindly on executive management or Fed leaders. Monitor cyclical accounting shifts and raw cash flow boundaries. </a:t>
            </a:r>
          </a:p>
          <a:p>
            <a:pPr marL="228600" lvl="0" indent="-228600">
              <a:buFont typeface="+mj-lt"/>
              <a:buAutoNum type="arabicPeriod"/>
            </a:pPr>
            <a:r>
              <a:rPr lang="en-US" sz="1200" b="1" kern="1200" dirty="0">
                <a:solidFill>
                  <a:schemeClr val="tx1"/>
                </a:solidFill>
                <a:effectLst/>
                <a:latin typeface="+mn-lt"/>
                <a:ea typeface="+mn-ea"/>
                <a:cs typeface="+mn-cs"/>
              </a:rPr>
              <a:t>Track the Semantic Shift:</a:t>
            </a:r>
            <a:r>
              <a:rPr lang="en-US" sz="1200" kern="1200" dirty="0">
                <a:solidFill>
                  <a:schemeClr val="tx1"/>
                </a:solidFill>
                <a:effectLst/>
                <a:latin typeface="+mn-lt"/>
                <a:ea typeface="+mn-ea"/>
                <a:cs typeface="+mn-cs"/>
              </a:rPr>
              <a:t> Asset price trends follow 'Common Knowledge'. Monitor narrative density spikes before structural re-pricings occur. </a:t>
            </a:r>
          </a:p>
          <a:p>
            <a:pPr marL="228600" lvl="0" indent="-228600">
              <a:buFont typeface="+mj-lt"/>
              <a:buAutoNum type="arabicPeriod"/>
            </a:pPr>
            <a:r>
              <a:rPr lang="en-US" sz="1200" b="1" kern="1200" dirty="0">
                <a:solidFill>
                  <a:schemeClr val="tx1"/>
                </a:solidFill>
                <a:effectLst/>
                <a:latin typeface="+mn-lt"/>
                <a:ea typeface="+mn-ea"/>
                <a:cs typeface="+mn-cs"/>
              </a:rPr>
              <a:t>Beware the Micro-Leak:</a:t>
            </a:r>
            <a:r>
              <a:rPr lang="en-US" sz="1200" kern="1200" dirty="0">
                <a:solidFill>
                  <a:schemeClr val="tx1"/>
                </a:solidFill>
                <a:effectLst/>
                <a:latin typeface="+mn-lt"/>
                <a:ea typeface="+mn-ea"/>
                <a:cs typeface="+mn-cs"/>
              </a:rPr>
              <a:t> Protect portfolios from the continuous behavioral leaks of gamified finance and unmanaged buy-and-hold complacency.</a:t>
            </a:r>
          </a:p>
          <a:p>
            <a:endParaRPr lang="en-US" dirty="0"/>
          </a:p>
        </p:txBody>
      </p:sp>
      <p:sp>
        <p:nvSpPr>
          <p:cNvPr id="4" name="Slide Number Placeholder 3"/>
          <p:cNvSpPr>
            <a:spLocks noGrp="1"/>
          </p:cNvSpPr>
          <p:nvPr>
            <p:ph type="sldNum" sz="quarter" idx="5"/>
          </p:nvPr>
        </p:nvSpPr>
        <p:spPr/>
        <p:txBody>
          <a:bodyPr/>
          <a:lstStyle/>
          <a:p>
            <a:fld id="{C520B3F7-1860-4534-A8D7-80FBC442F5DC}" type="slidenum">
              <a:rPr lang="en-US" smtClean="0"/>
              <a:t>12</a:t>
            </a:fld>
            <a:endParaRPr lang="en-US"/>
          </a:p>
        </p:txBody>
      </p:sp>
    </p:spTree>
    <p:extLst>
      <p:ext uri="{BB962C8B-B14F-4D97-AF65-F5344CB8AC3E}">
        <p14:creationId xmlns:p14="http://schemas.microsoft.com/office/powerpoint/2010/main" val="4427541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"Looking across the broader market horizon, we must balance two simultaneous realities: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 one hand, the shift toward Agentic AI represents a genuine fundamental leap requiring massive compute intensity and delivering real productivity ROI.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 the other hand, peak-cycle accounting maneuvers and circular financing arrangements are expanding across major balance sheets." </a:t>
            </a:r>
          </a:p>
          <a:p>
            <a:pPr lvl="0"/>
            <a:r>
              <a:rPr lang="en-US" sz="1200" kern="1200" dirty="0">
                <a:solidFill>
                  <a:schemeClr val="tx1"/>
                </a:solidFill>
                <a:effectLst/>
                <a:latin typeface="+mn-lt"/>
                <a:ea typeface="+mn-ea"/>
                <a:cs typeface="+mn-cs"/>
              </a:rPr>
              <a:t>Investors who succeed in this environment will be those who harness the fundamental upside while maintaining rigorous accounting and risk discipline.</a:t>
            </a:r>
          </a:p>
          <a:p>
            <a:endParaRPr lang="en-US" dirty="0"/>
          </a:p>
        </p:txBody>
      </p:sp>
      <p:sp>
        <p:nvSpPr>
          <p:cNvPr id="4" name="Slide Number Placeholder 3"/>
          <p:cNvSpPr>
            <a:spLocks noGrp="1"/>
          </p:cNvSpPr>
          <p:nvPr>
            <p:ph type="sldNum" sz="quarter" idx="5"/>
          </p:nvPr>
        </p:nvSpPr>
        <p:spPr/>
        <p:txBody>
          <a:bodyPr/>
          <a:lstStyle/>
          <a:p>
            <a:fld id="{C520B3F7-1860-4534-A8D7-80FBC442F5DC}" type="slidenum">
              <a:rPr lang="en-US" smtClean="0"/>
              <a:t>13</a:t>
            </a:fld>
            <a:endParaRPr lang="en-US"/>
          </a:p>
        </p:txBody>
      </p:sp>
    </p:spTree>
    <p:extLst>
      <p:ext uri="{BB962C8B-B14F-4D97-AF65-F5344CB8AC3E}">
        <p14:creationId xmlns:p14="http://schemas.microsoft.com/office/powerpoint/2010/main" val="39572752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 conclusion, navigating today's market requires actively overcoming our psychological blind spots." </a:t>
            </a:r>
          </a:p>
          <a:p>
            <a:pPr lvl="0"/>
            <a:r>
              <a:rPr lang="en-US" sz="1200" kern="1200" dirty="0">
                <a:solidFill>
                  <a:schemeClr val="tx1"/>
                </a:solidFill>
                <a:effectLst/>
                <a:latin typeface="+mn-lt"/>
                <a:ea typeface="+mn-ea"/>
                <a:cs typeface="+mn-cs"/>
              </a:rPr>
              <a:t>"Avoid the passive survivorship bias of assuming top market leaders remain untouchable forever. Remember that institutional credibility—like a cracked teacup—takes immense effort to repair once broken." </a:t>
            </a:r>
          </a:p>
          <a:p>
            <a:pPr lvl="0"/>
            <a:r>
              <a:rPr lang="en-US" sz="1200" kern="1200" dirty="0">
                <a:solidFill>
                  <a:schemeClr val="tx1"/>
                </a:solidFill>
                <a:effectLst/>
                <a:latin typeface="+mn-lt"/>
                <a:ea typeface="+mn-ea"/>
                <a:cs typeface="+mn-cs"/>
              </a:rPr>
              <a:t>"By focusing on hard data, semantic narrative shifts, and strict capital allocation guardrails, investors can successfully navigate past market illusions. Thank you."</a:t>
            </a:r>
          </a:p>
          <a:p>
            <a:endParaRPr lang="en-US" dirty="0"/>
          </a:p>
        </p:txBody>
      </p:sp>
      <p:sp>
        <p:nvSpPr>
          <p:cNvPr id="4" name="Slide Number Placeholder 3"/>
          <p:cNvSpPr>
            <a:spLocks noGrp="1"/>
          </p:cNvSpPr>
          <p:nvPr>
            <p:ph type="sldNum" sz="quarter" idx="5"/>
          </p:nvPr>
        </p:nvSpPr>
        <p:spPr/>
        <p:txBody>
          <a:bodyPr/>
          <a:lstStyle/>
          <a:p>
            <a:fld id="{C520B3F7-1860-4534-A8D7-80FBC442F5DC}" type="slidenum">
              <a:rPr lang="en-US" smtClean="0"/>
              <a:t>14</a:t>
            </a:fld>
            <a:endParaRPr lang="en-US"/>
          </a:p>
        </p:txBody>
      </p:sp>
    </p:spTree>
    <p:extLst>
      <p:ext uri="{BB962C8B-B14F-4D97-AF65-F5344CB8AC3E}">
        <p14:creationId xmlns:p14="http://schemas.microsoft.com/office/powerpoint/2010/main" val="485402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6AADB6-2504-580C-573C-FA120A952773}"/>
              </a:ext>
            </a:extLst>
          </p:cNvPr>
          <p:cNvSpPr>
            <a:spLocks noGrp="1"/>
          </p:cNvSpPr>
          <p:nvPr>
            <p:ph type="dt" sz="half" idx="10"/>
          </p:nvPr>
        </p:nvSpPr>
        <p:spPr/>
        <p:txBody>
          <a:bodyPr/>
          <a:lstStyle/>
          <a:p>
            <a:fld id="{D744A633-6985-43CA-8886-540EBBAF992A}" type="datetimeFigureOut">
              <a:rPr lang="en-US" smtClean="0"/>
              <a:t>10/20/2026</a:t>
            </a:fld>
            <a:endParaRPr lang="en-US"/>
          </a:p>
        </p:txBody>
      </p:sp>
      <p:sp>
        <p:nvSpPr>
          <p:cNvPr id="3" name="Footer Placeholder 2">
            <a:extLst>
              <a:ext uri="{FF2B5EF4-FFF2-40B4-BE49-F238E27FC236}">
                <a16:creationId xmlns:a16="http://schemas.microsoft.com/office/drawing/2014/main" id="{1982D45F-CBFD-A626-99CF-616881B109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6F6A2D-1C1E-115F-A162-F6711604A76A}"/>
              </a:ext>
            </a:extLst>
          </p:cNvPr>
          <p:cNvSpPr>
            <a:spLocks noGrp="1"/>
          </p:cNvSpPr>
          <p:nvPr>
            <p:ph type="sldNum" sz="quarter" idx="12"/>
          </p:nvPr>
        </p:nvSpPr>
        <p:spPr/>
        <p:txBody>
          <a:bodyPr/>
          <a:lstStyle/>
          <a:p>
            <a:fld id="{0CB79AD2-CA20-4C57-BFD9-C28C38C5372A}" type="slidenum">
              <a:rPr lang="en-US" smtClean="0"/>
              <a:t>‹#›</a:t>
            </a:fld>
            <a:endParaRPr lang="en-US"/>
          </a:p>
        </p:txBody>
      </p:sp>
    </p:spTree>
    <p:extLst>
      <p:ext uri="{BB962C8B-B14F-4D97-AF65-F5344CB8AC3E}">
        <p14:creationId xmlns:p14="http://schemas.microsoft.com/office/powerpoint/2010/main" val="269584699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3DCDBD-BD8A-59F4-070F-34C5E484DC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D7A1E0-7F6E-FA0C-D627-E0839D278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994C63-8FBB-60C1-9DBA-D92A2BA916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44A633-6985-43CA-8886-540EBBAF992A}" type="datetimeFigureOut">
              <a:rPr lang="en-US" smtClean="0"/>
              <a:t>10/20/2026</a:t>
            </a:fld>
            <a:endParaRPr lang="en-US"/>
          </a:p>
        </p:txBody>
      </p:sp>
      <p:sp>
        <p:nvSpPr>
          <p:cNvPr id="5" name="Footer Placeholder 4">
            <a:extLst>
              <a:ext uri="{FF2B5EF4-FFF2-40B4-BE49-F238E27FC236}">
                <a16:creationId xmlns:a16="http://schemas.microsoft.com/office/drawing/2014/main" id="{23399655-414E-8238-7BA0-AFD9DBFCC6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A66CA7C-2C16-8417-0D5C-6AD16C934E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B79AD2-CA20-4C57-BFD9-C28C38C5372A}" type="slidenum">
              <a:rPr lang="en-US" smtClean="0"/>
              <a:t>‹#›</a:t>
            </a:fld>
            <a:endParaRPr lang="en-US"/>
          </a:p>
        </p:txBody>
      </p:sp>
    </p:spTree>
    <p:extLst>
      <p:ext uri="{BB962C8B-B14F-4D97-AF65-F5344CB8AC3E}">
        <p14:creationId xmlns:p14="http://schemas.microsoft.com/office/powerpoint/2010/main" val="360745638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28ECA9-6C99-D460-8AD9-906E072563C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7AF5A9-E3FD-3746-B816-9B4942C8A4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6C373A-952C-1BCF-88C7-F945EF57461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D2D186-1716-4F30-77AD-DDA6F4D9F2F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9A2B22-E0E0-EBFF-E5C4-7910BCA61B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9D8AA9-C8F2-3E7F-B132-7FF776F4C2C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922D61-D1A6-3FFC-AC59-3ED684311EA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484073-88FB-D574-1BD7-AF4440E6293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7A0118-C9EF-D7E6-1684-5EA1F674706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8D0C12-0280-1E96-293E-AFBB6E4AC3B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D472B5-BE5E-EEC5-C9FB-EB661D5A67E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33956F-D598-37C9-808B-CCC90E5DDAA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C91A96-7947-160A-FB7F-F7F9C4DD803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342A41-869D-6B47-AC39-23729D54A4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8986032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1449</Words>
  <Application>Microsoft Office PowerPoint</Application>
  <PresentationFormat>寬螢幕</PresentationFormat>
  <Paragraphs>71</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2026-09-11T05:52:05Z</dcterms:created>
  <dcterms:modified xsi:type="dcterms:W3CDTF">2026-10-20T13:26:47Z</dcterms:modified>
</cp:coreProperties>
</file>