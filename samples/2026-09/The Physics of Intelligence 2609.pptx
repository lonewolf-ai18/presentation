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6ADF4-23A9-455F-9A2B-A9AB5593D1B0}" v="28" dt="2026-09-05T06:09:26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">
      <pc:chgData name="Lai, Wilson" userId="2840974a-0d84-4886-90a9-9a3ed79f3a48" providerId="ADAL" clId="{9F23B798-9E84-4552-BA63-E776E805C424}" dt="2026-09-05T07:03:31.788" v="94" actId="166"/>
      <pc:docMkLst>
        <pc:docMk/>
      </pc:docMkLst>
      <pc:sldChg chg="addSp delSp modSp mod modNotesTx">
        <pc:chgData name="Lai, Wilson" userId="2840974a-0d84-4886-90a9-9a3ed79f3a48" providerId="ADAL" clId="{9F23B798-9E84-4552-BA63-E776E805C424}" dt="2026-09-05T07:03:31.788" v="94" actId="166"/>
        <pc:sldMkLst>
          <pc:docMk/>
          <pc:sldMk cId="0" sldId="257"/>
        </pc:sldMkLst>
        <pc:picChg chg="del ord">
          <ac:chgData name="Lai, Wilson" userId="2840974a-0d84-4886-90a9-9a3ed79f3a48" providerId="ADAL" clId="{9F23B798-9E84-4552-BA63-E776E805C424}" dt="2026-09-05T05:42:17.298" v="1" actId="21"/>
          <ac:picMkLst>
            <pc:docMk/>
            <pc:sldMk cId="0" sldId="257"/>
            <ac:picMk id="2" creationId="{00000000-0000-0000-0000-000000000000}"/>
          </ac:picMkLst>
        </pc:picChg>
        <pc:picChg chg="add ord">
          <ac:chgData name="Lai, Wilson" userId="2840974a-0d84-4886-90a9-9a3ed79f3a48" providerId="ADAL" clId="{9F23B798-9E84-4552-BA63-E776E805C424}" dt="2026-09-05T07:03:31.788" v="94" actId="166"/>
          <ac:picMkLst>
            <pc:docMk/>
            <pc:sldMk cId="0" sldId="257"/>
            <ac:picMk id="7" creationId="{26FC1836-AB5F-3FF1-D4D8-9568EC747BE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6:02:49.795" v="13" actId="14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05T05:42:42.242" v="3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5:42:52.555" v="4" actId="22"/>
          <ac:picMkLst>
            <pc:docMk/>
            <pc:sldMk cId="0" sldId="258"/>
            <ac:picMk id="4" creationId="{13D2EA99-5BBC-C838-7C0B-2AAF6DB8E1C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00:49.192" v="74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05T07:00:17.166" v="73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0:49.192" v="74" actId="22"/>
          <ac:picMkLst>
            <pc:docMk/>
            <pc:sldMk cId="0" sldId="259"/>
            <ac:picMk id="4" creationId="{2A4CE4D4-FE2D-C95E-878E-8F1F39575F16}"/>
          </ac:picMkLst>
        </pc:picChg>
      </pc:sldChg>
      <pc:sldChg chg="addSp delSp modSp mod modNotesTx">
        <pc:chgData name="Lai, Wilson" userId="2840974a-0d84-4886-90a9-9a3ed79f3a48" providerId="ADAL" clId="{9F23B798-9E84-4552-BA63-E776E805C424}" dt="2026-09-05T07:00:59.712" v="77" actId="22"/>
        <pc:sldMkLst>
          <pc:docMk/>
          <pc:sldMk cId="0" sldId="260"/>
        </pc:sldMkLst>
        <pc:picChg chg="del mod">
          <ac:chgData name="Lai, Wilson" userId="2840974a-0d84-4886-90a9-9a3ed79f3a48" providerId="ADAL" clId="{9F23B798-9E84-4552-BA63-E776E805C424}" dt="2026-09-05T07:00:52.176" v="76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0:59.712" v="77" actId="22"/>
          <ac:picMkLst>
            <pc:docMk/>
            <pc:sldMk cId="0" sldId="260"/>
            <ac:picMk id="4" creationId="{7CDD1966-A3E4-E834-6677-30584AF8519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01:17.133" v="79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05T07:01:02.711" v="78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1:17.133" v="79" actId="22"/>
          <ac:picMkLst>
            <pc:docMk/>
            <pc:sldMk cId="0" sldId="261"/>
            <ac:picMk id="4" creationId="{8F1958AF-B4FF-ADA4-3A46-6375E22C33B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01:27.523" v="81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05T07:01:18.916" v="80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1:27.523" v="81" actId="22"/>
          <ac:picMkLst>
            <pc:docMk/>
            <pc:sldMk cId="0" sldId="262"/>
            <ac:picMk id="4" creationId="{D9B7874D-5123-A813-27B2-4EF59DFA708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02:03.555" v="83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05T07:01:29.288" v="82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2:03.555" v="83" actId="22"/>
          <ac:picMkLst>
            <pc:docMk/>
            <pc:sldMk cId="0" sldId="263"/>
            <ac:picMk id="4" creationId="{E93904DB-C427-B272-A8AC-86D11610E60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02:43.039" v="85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05T07:02:34.091" v="84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2:43.039" v="85" actId="22"/>
          <ac:picMkLst>
            <pc:docMk/>
            <pc:sldMk cId="0" sldId="264"/>
            <ac:picMk id="4" creationId="{46029F16-666C-6E73-F5F6-1B286D2E099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02:52.183" v="87" actId="2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05T07:02:44.672" v="86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2:52.183" v="87" actId="22"/>
          <ac:picMkLst>
            <pc:docMk/>
            <pc:sldMk cId="0" sldId="265"/>
            <ac:picMk id="4" creationId="{3EBCB37B-4EE8-CB64-ADF0-FA54DF8E506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03:01.183" v="89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05T07:02:53.782" v="88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3:01.183" v="89" actId="22"/>
          <ac:picMkLst>
            <pc:docMk/>
            <pc:sldMk cId="0" sldId="266"/>
            <ac:picMk id="4" creationId="{753A755D-DF3F-7D04-DB5F-542AA793B2A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03:10.063" v="91" actId="2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05T07:03:02.754" v="90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3:10.063" v="91" actId="22"/>
          <ac:picMkLst>
            <pc:docMk/>
            <pc:sldMk cId="0" sldId="267"/>
            <ac:picMk id="4" creationId="{BBB7A595-B901-F00E-3A52-B2DD59E2E74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03:19.067" v="93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05T07:03:11.594" v="92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3:19.067" v="93" actId="22"/>
          <ac:picMkLst>
            <pc:docMk/>
            <pc:sldMk cId="0" sldId="268"/>
            <ac:picMk id="4" creationId="{A53F785C-92FF-64FB-78EC-52DEAA0B142A}"/>
          </ac:picMkLst>
        </pc:picChg>
      </pc:sldChg>
      <pc:sldChg chg="modNotesTx">
        <pc:chgData name="Lai, Wilson" userId="2840974a-0d84-4886-90a9-9a3ed79f3a48" providerId="ADAL" clId="{9F23B798-9E84-4552-BA63-E776E805C424}" dt="2026-09-05T06:09:29.366" v="14" actId="12"/>
        <pc:sldMkLst>
          <pc:docMk/>
          <pc:sldMk cId="3260689555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1B3CE-1F20-4CA9-B5C4-0F38AAB7C95B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2699B-BBEB-4C16-8431-14162A5C87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5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everyone. Today, we are taking a bottom-up, fundamental look at the AI economy.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software captures headlines and media narratives, software is bounded by physical reality. Intelligence isn't magic—it requires raw energy, silicon, physical infrastructure, and capital deployment.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central thesis of this presentation is that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demand is outrunning physical supply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Hardware monopolies, energy constraints, and Wall Street debt structures will ultimately dictate the future of the entire software layer.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https://www.youtube.com/watch?v=FGC4ofTcg2k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52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Narrative vs. Reality Breakdown: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Infrastructure Overbuild Narrative: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Narrative: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Mainstream media and public markets believe AI is a massive bubble heading toward an overbuild of data centers.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Gavin Baker highlights that there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available compute capacity through 2028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face a multi-year physical undersupply constrained by power grids, transformer leads, and skilled trade labor.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Open-Source Threat to Hardware: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Narrative: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Open-source models (like DeepSeek or Llama) will commoditize intelligence, lower software prices, and hurt hardware giants like Nvidia.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open-source token requires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 same physical compute to train and run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a closed frontier token. Lower software margins drive exponential mass consumption, increasing overall compute volume and boosting Nvidia’s business.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and Environmental Impact: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Narrative: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centers are destructive environmental drains on local communities.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center construction is driving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 re-industrialization and working-class wealth boom in modern US history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revitalizing local tax bases and creating high-paying jobs for trade workers.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84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 of the Stack: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how value accrues across the AI economy, we must evaluate the technology stack from the ground up, starting with physics and ending with end-user applications.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Breakdown: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1: Power &amp; Infrastructure (Earth vs. Orbit):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foundation of all intelligence is physical energy (natural gas, nuclear, solar) and real-world labor (electricians, HVAC). As terrestrial limits hit walls, orbital compute becomes an economic alternative.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2: Silicon &amp; Financing: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Hardware monopolies (Nvidia’s 9-chip ecosystem) coupled with private equity capital structures (Blackstone, Apollo, KKR) dictate who can build clusters at scale.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3: Foundational Models: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ongoing war between closed Frontier Labs (OpenAI, Anthropic) and Open-Source ecosystems (Meta, DeepSeek).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4: The Abstraction Layer: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Enterprise middleware and routers that securely tune models to proprietary data without leaking IP.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Point: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flows upward, but control remains rooted in Layers 1 and 2.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39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Energy Advantage: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 natural gas trades around $2–$3, compared to $20+ in Europe and Asia. This creates an unbeatable structural energy cost advantage for US-based compute.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Labor &amp; Trade Shift: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Four-year college degrees are facing negative Net Present Value (NPV) compared to skilled blue-collar trades. Electricians, plumbers, and HVAC technicians needed to build data centers are making record wages.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Local Tax Boom: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centers revitalize small, rural American towns.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Loudoun County, VA Case Study: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Loudoun County has the highest concentration of data centers per capita and is now the highest-income county in the US. Data centers have increased local tax revenues by up to 10x, funding schools, infrastructure, and public services.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28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Terrestrial Gigawatt Problem: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a 1-gigawatt cluster on Earth costs ~$50 Billion.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~$35 Billion goes to IT/compute hardware, while ~$15 Billion goes to power generation, cooling, land, and construction labor.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Earth’s $15B infrastructure portion is heavily inflationary due to rising labor costs and shortages of materials like copper.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Space Deflation Mechanics: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 eliminates the $15B terrestrial burden. Solar power in orbit is continuous, and vacuum radiator cooling (placing radiators in shadow) is free.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Starship Math: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Starship’s full reusability drops total launch costs to under $1 Billion per gigawatt equivalent.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terrestrial infrastructure costs ($15B+) exceed orbital launch costs (&lt;$1B), moving compute off-world becomes an economic certainty.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Real-World Timeline: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Elon Musk and Jensen Huang have already co-designed a space-optimized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Reuben rack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targeting launch readiness by Q4 2027/2028.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76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Myth of ASIC Competitors: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Wall Street often assumes custom ASICs (Google TPUs, Cerebras, Jalapeno) will displace Nvidia.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9-Chip Moat: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 does not just sell a GPU; they manufacture an integrated system across 9 distinct chip types. This includes CPUs, Ethernet switches, multiple GPU variants, and scale-up/scale-out/scale-in networking fabrics.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displace Nvidia, a competitor cannot just build a faster accelerator chip; they must replace an entire 9-chip hardware-software stack.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80% Supply Lock: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 functions as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"Federal Reserve of AI"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They have pre-emptively locked up 70–80% of global TSMC wafer capacity, high-bandwidth memory (DRAM), NAND storage, lasers, capacitors, and specialized rack manufacturing.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04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Capital Structure Wins Hardware Wars: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Benchmark performance matters, but cost of capital dictates scale deployment.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Four Financial Pillars of Nvidia's Dominance: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Equity Requirements: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$50B Nvidia data center requires only a ~$15B (30%) upfront equity check from the operator.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Equity Financing: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 PE firms (Blackstone, Apollo, KKR) comfortably finance the remaining $35B in low-cost debt.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Residual Value Guarantees (RVG):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Nvidia issues RVGs on its hardware, derisking PE debt as long as the guaranteed value stays below Nvidia’s overall gross profits.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Sub-1-Year Payback: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Scarcity allows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NeoClouds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Nebius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CoreWeave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operators to monetize compute rapidly, generating sub-10-month financial paybacks.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66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Misconception: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Bearish analysts argue open-source AI (Llama, DeepSeek) will kill hardware margins and destroy demand.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Margin Paradox Dynamics: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Frontier Models: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Closed labs operate at high software gross margins (~90%), keeping token pricing higher and constraining overall consumer volume.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 Models: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Open-source ecosystems operate at lower software gross margins (~40%). Lower token prices unleash massive enterprise and developer volume.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Impact: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an open-source model takes the exact same compute as a frontier model.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Exponential token adoption driven by open source accelerates total hardware demand. This is why Nvidia actively funds and nurtures open-source development.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04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Enterprise Mandate: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corporations will not send sensitive IP or customer data to centralized third-party frontier model labs. Enterprises insist on owning and controlling their own intelligence.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Hybrid Future Architecture: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Enterprises take a base open-source model, fine-tune it with proprietary company data, and host it locally or in private clouds.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 pass through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Abstraction Layer / Router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Simple, high-volume, low-cost tasks route to internal fine-tuned open-source models.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 reasoning or multi-step planning routes dynamically to Frontier models.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Accrual: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 and routing providers (Fireworks Nexus, Microsoft,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DataBricks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capture high-margin software value by serving as arbiters of enterprise intelligence.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47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 Curve Realities: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Critics claim AI is a bubble because knowledge workers still use LLMs mostly for basic search or summarization.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inside AI-native and highly technical organizations, token consumption is exploding.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Power-User Shift: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engineers using tools like Cursor, Harvey, or specialized agents consume 10x to 100x more tokens than median engineers.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data from hedge funds and tech firms shows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100x increases in token consumption over 6-month spans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Execution vs. Reactive Summarization: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 occurs when environments are verifiable and documented (codebases, legal contracts), moving AI from reactive summarization to proactive execution.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59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Pillars of 21st-Century Infrastructure: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Jensen Huang (Compute Base):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Vertically integrated hardware, horizontally open ecosystem.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Standardizes capital financing and secures global physical supply chains.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open-source enablement to fragment model power, preventing closed-lab monopolies.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Elon Musk (Energy &amp; Orbital Escape):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Treats compute deployment as an integrated engineering and physics problem.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Starship as a deflationary orbital logistics system to bypass Earth's energy and infrastructure limits.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Connects real-world robotics (Optimus) and global satellite networks (Starlink) directly to compute power.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47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Takeaways for Investors and Operators: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Bet Against Physical Supply Chains: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near-term bottleneck is an acute undersupply of power, compute, and trade labor, not an overbuild.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 the Cost of Capital: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Silicon efficiency matters, but lower capital costs via private equity debt and residual value guarantees determine deployment scale.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 is an Economic Inevitability: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Starship reusability flips orbital compute economics, creating a deflationary valve for terrestrial energy constraints.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 the Routing Layer: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Long-term enterprise software profits belong to abstraction layers that seamlessly route data between open-source execution and frontier model planning.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31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Overview: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 Drivers: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100x internal token growth, fast paybacks across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NeoClouds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(9–10 months), and specialized enterprise routing.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Terrestrial Re-Industrialization: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Low-cost US natural gas ($2–$3) provides a core industrial advantage, while data centers generate 10x tax revenue boosts for rural communities.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Scale: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Nvidia anchors terrestrial finance, while Starship unlocks orbital compute to bypass terrestrial energy limits.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699B-BBEB-4C16-8431-14162A5C878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039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D2CCDA-E995-A47C-DA0D-62F30240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E8BD7-BCA3-40E0-8DFB-E34D75148DFA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E37E0-33B1-823F-EE0F-FA6C8863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6893F-A7EE-A32E-D355-AA4A60EF3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20A8-FAE3-4126-95EC-3138287BCC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58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A2CEF0-8A3A-0A56-593D-845FA4A04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F3B8F-B236-004F-A6FF-05772BC9E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C81F-EFEC-DEE5-3754-E393C795A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E8BD7-BCA3-40E0-8DFB-E34D75148DFA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6425D-4989-5DC0-C5E9-CB66316A0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E23DF-BEC1-B276-C78F-067E1754F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E20A8-FAE3-4126-95EC-3138287BCC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5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FC1836-AB5F-3FF1-D4D8-9568EC747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D2EA99-5BBC-C838-7C0B-2AAF6DB8E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CE4D4-FE2D-C95E-878E-8F1F39575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DD1966-A3E4-E834-6677-30584AF85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1958AF-B4FF-ADA4-3A46-6375E22C3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B7874D-5123-A813-27B2-4EF59DFA7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3904DB-C427-B272-A8AC-86D11610E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029F16-666C-6E73-F5F6-1B286D2E0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BCB37B-4EE8-CB64-ADF0-FA54DF8E5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3A755D-DF3F-7D04-DB5F-542AA793B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B7A595-B901-F00E-3A52-B2DD59E2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3F785C-92FF-64FB-78EC-52DEAA0B1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5E55D8-6BC0-E92B-4EA9-2E0AC4122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89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1675</Words>
  <Application>Microsoft Office PowerPoint</Application>
  <PresentationFormat>寬螢幕</PresentationFormat>
  <Paragraphs>113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2026-09-05T05:29:42Z</dcterms:created>
  <dcterms:modified xsi:type="dcterms:W3CDTF">2026-10-21T02:50:41Z</dcterms:modified>
</cp:coreProperties>
</file>