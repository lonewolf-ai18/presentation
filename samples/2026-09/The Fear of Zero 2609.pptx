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CDD321-0E71-4553-B4B0-4EB38B1ACA8C}" v="1" dt="2026-09-05T05:36:59.413"/>
    <p1510:client id="{D25313C7-657A-4B26-884F-3EBDE4A58830}" v="17" dt="2026-09-05T06:21:04.223"/>
    <p1510:client id="{DB37B6F1-8E8F-4F35-9AE0-30CC9AAA98A4}" v="4" dt="2026-09-05T05:49:30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0" autoAdjust="0"/>
    <p:restoredTop sz="93305" autoAdjust="0"/>
  </p:normalViewPr>
  <p:slideViewPr>
    <p:cSldViewPr snapToGrid="0">
      <p:cViewPr varScale="1">
        <p:scale>
          <a:sx n="75" d="100"/>
          <a:sy n="75" d="100"/>
        </p:scale>
        <p:origin x="7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custSel modSld">
      <pc:chgData name="Lai, Wilson" userId="2840974a-0d84-4886-90a9-9a3ed79f3a48" providerId="ADAL" clId="{9F23B798-9E84-4552-BA63-E776E805C424}" dt="2026-09-05T07:12:48.698" v="40" actId="22"/>
      <pc:docMkLst>
        <pc:docMk/>
      </pc:docMkLst>
      <pc:sldChg chg="addSp delSp modSp mod modNotesTx">
        <pc:chgData name="Lai, Wilson" userId="2840974a-0d84-4886-90a9-9a3ed79f3a48" providerId="ADAL" clId="{9F23B798-9E84-4552-BA63-E776E805C424}" dt="2026-09-05T07:07:22.051" v="12" actId="22"/>
        <pc:sldMkLst>
          <pc:docMk/>
          <pc:sldMk cId="0" sldId="257"/>
        </pc:sldMkLst>
        <pc:picChg chg="del ord">
          <ac:chgData name="Lai, Wilson" userId="2840974a-0d84-4886-90a9-9a3ed79f3a48" providerId="ADAL" clId="{9F23B798-9E84-4552-BA63-E776E805C424}" dt="2026-09-05T07:07:10.688" v="11" actId="21"/>
          <ac:picMkLst>
            <pc:docMk/>
            <pc:sldMk cId="0" sldId="25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7:07:22.051" v="12" actId="22"/>
          <ac:picMkLst>
            <pc:docMk/>
            <pc:sldMk cId="0" sldId="257"/>
            <ac:picMk id="7" creationId="{997C6554-C094-8421-1630-F642D4EFA29E}"/>
          </ac:picMkLst>
        </pc:picChg>
      </pc:sldChg>
      <pc:sldChg chg="addSp delSp mod">
        <pc:chgData name="Lai, Wilson" userId="2840974a-0d84-4886-90a9-9a3ed79f3a48" providerId="ADAL" clId="{9F23B798-9E84-4552-BA63-E776E805C424}" dt="2026-09-05T07:07:38.307" v="14" actId="22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9-05T07:07:23.700" v="13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7:07:38.307" v="14" actId="22"/>
          <ac:picMkLst>
            <pc:docMk/>
            <pc:sldMk cId="0" sldId="258"/>
            <ac:picMk id="4" creationId="{6BF235FB-89F4-5027-CE42-F34E1C14A3A5}"/>
          </ac:picMkLst>
        </pc:picChg>
      </pc:sldChg>
      <pc:sldChg chg="addSp delSp mod">
        <pc:chgData name="Lai, Wilson" userId="2840974a-0d84-4886-90a9-9a3ed79f3a48" providerId="ADAL" clId="{9F23B798-9E84-4552-BA63-E776E805C424}" dt="2026-09-05T07:08:06.682" v="16" actId="22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9-05T07:07:40.363" v="15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7:08:06.682" v="16" actId="22"/>
          <ac:picMkLst>
            <pc:docMk/>
            <pc:sldMk cId="0" sldId="259"/>
            <ac:picMk id="4" creationId="{5731C2F6-E77A-35CD-FAD7-B78C9AC11603}"/>
          </ac:picMkLst>
        </pc:picChg>
      </pc:sldChg>
      <pc:sldChg chg="addSp delSp mod">
        <pc:chgData name="Lai, Wilson" userId="2840974a-0d84-4886-90a9-9a3ed79f3a48" providerId="ADAL" clId="{9F23B798-9E84-4552-BA63-E776E805C424}" dt="2026-09-05T07:08:14.694" v="18" actId="22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9-05T07:08:08.320" v="17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7:08:14.694" v="18" actId="22"/>
          <ac:picMkLst>
            <pc:docMk/>
            <pc:sldMk cId="0" sldId="260"/>
            <ac:picMk id="4" creationId="{6E1E1506-3475-A4F4-F4BA-3D5FC7677900}"/>
          </ac:picMkLst>
        </pc:picChg>
      </pc:sldChg>
      <pc:sldChg chg="addSp delSp mod">
        <pc:chgData name="Lai, Wilson" userId="2840974a-0d84-4886-90a9-9a3ed79f3a48" providerId="ADAL" clId="{9F23B798-9E84-4552-BA63-E776E805C424}" dt="2026-09-05T07:08:55.258" v="20" actId="22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9-05T07:08:47.012" v="19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7:08:55.258" v="20" actId="22"/>
          <ac:picMkLst>
            <pc:docMk/>
            <pc:sldMk cId="0" sldId="261"/>
            <ac:picMk id="4" creationId="{83E4D194-C085-B1A3-FC30-8658372924EF}"/>
          </ac:picMkLst>
        </pc:picChg>
      </pc:sldChg>
      <pc:sldChg chg="addSp delSp mod">
        <pc:chgData name="Lai, Wilson" userId="2840974a-0d84-4886-90a9-9a3ed79f3a48" providerId="ADAL" clId="{9F23B798-9E84-4552-BA63-E776E805C424}" dt="2026-09-05T07:09:25.782" v="22" actId="22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9-05T07:09:18.565" v="21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7:09:25.782" v="22" actId="22"/>
          <ac:picMkLst>
            <pc:docMk/>
            <pc:sldMk cId="0" sldId="262"/>
            <ac:picMk id="4" creationId="{FB08041D-58B0-0601-712F-04D4F5D77C6A}"/>
          </ac:picMkLst>
        </pc:picChg>
      </pc:sldChg>
      <pc:sldChg chg="addSp delSp mod">
        <pc:chgData name="Lai, Wilson" userId="2840974a-0d84-4886-90a9-9a3ed79f3a48" providerId="ADAL" clId="{9F23B798-9E84-4552-BA63-E776E805C424}" dt="2026-09-05T07:10:27.039" v="24" actId="22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9-05T07:10:18.891" v="23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7:10:27.039" v="24" actId="22"/>
          <ac:picMkLst>
            <pc:docMk/>
            <pc:sldMk cId="0" sldId="263"/>
            <ac:picMk id="4" creationId="{B84E3261-F15C-2B2A-E22D-6AB0F8763476}"/>
          </ac:picMkLst>
        </pc:picChg>
      </pc:sldChg>
      <pc:sldChg chg="addSp delSp mod">
        <pc:chgData name="Lai, Wilson" userId="2840974a-0d84-4886-90a9-9a3ed79f3a48" providerId="ADAL" clId="{9F23B798-9E84-4552-BA63-E776E805C424}" dt="2026-09-05T07:10:58.438" v="26" actId="22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9-05T07:10:28.612" v="25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7:10:58.438" v="26" actId="22"/>
          <ac:picMkLst>
            <pc:docMk/>
            <pc:sldMk cId="0" sldId="264"/>
            <ac:picMk id="4" creationId="{AA8EB12F-B0FC-6EC3-80AD-EF8FE0B16467}"/>
          </ac:picMkLst>
        </pc:picChg>
      </pc:sldChg>
      <pc:sldChg chg="addSp delSp mod">
        <pc:chgData name="Lai, Wilson" userId="2840974a-0d84-4886-90a9-9a3ed79f3a48" providerId="ADAL" clId="{9F23B798-9E84-4552-BA63-E776E805C424}" dt="2026-09-05T07:11:09.061" v="28" actId="22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9-05T07:11:00.105" v="27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7:11:09.061" v="28" actId="22"/>
          <ac:picMkLst>
            <pc:docMk/>
            <pc:sldMk cId="0" sldId="265"/>
            <ac:picMk id="4" creationId="{BF136BE8-5978-6AA6-D76C-AD0969285BCC}"/>
          </ac:picMkLst>
        </pc:picChg>
      </pc:sldChg>
      <pc:sldChg chg="addSp delSp mod">
        <pc:chgData name="Lai, Wilson" userId="2840974a-0d84-4886-90a9-9a3ed79f3a48" providerId="ADAL" clId="{9F23B798-9E84-4552-BA63-E776E805C424}" dt="2026-09-05T07:11:19.468" v="30" actId="22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9-05T07:11:11.018" v="29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7:11:19.468" v="30" actId="22"/>
          <ac:picMkLst>
            <pc:docMk/>
            <pc:sldMk cId="0" sldId="266"/>
            <ac:picMk id="4" creationId="{66F26323-BF25-C313-A5C4-741E3D49BC3F}"/>
          </ac:picMkLst>
        </pc:picChg>
      </pc:sldChg>
      <pc:sldChg chg="addSp delSp mod">
        <pc:chgData name="Lai, Wilson" userId="2840974a-0d84-4886-90a9-9a3ed79f3a48" providerId="ADAL" clId="{9F23B798-9E84-4552-BA63-E776E805C424}" dt="2026-09-05T07:11:29.352" v="32" actId="22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9-05T07:11:21.566" v="31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7:11:29.352" v="32" actId="22"/>
          <ac:picMkLst>
            <pc:docMk/>
            <pc:sldMk cId="0" sldId="267"/>
            <ac:picMk id="4" creationId="{928B64F5-7847-C80E-C677-60E9F5E07282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5T07:12:13.434" v="34" actId="22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9-05T07:11:30.986" v="33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7:12:13.434" v="34" actId="22"/>
          <ac:picMkLst>
            <pc:docMk/>
            <pc:sldMk cId="0" sldId="268"/>
            <ac:picMk id="4" creationId="{F3D758AC-C542-2393-1510-D6497B4C702A}"/>
          </ac:picMkLst>
        </pc:picChg>
      </pc:sldChg>
      <pc:sldChg chg="addSp delSp mod">
        <pc:chgData name="Lai, Wilson" userId="2840974a-0d84-4886-90a9-9a3ed79f3a48" providerId="ADAL" clId="{9F23B798-9E84-4552-BA63-E776E805C424}" dt="2026-09-05T07:12:24.289" v="36" actId="22"/>
        <pc:sldMkLst>
          <pc:docMk/>
          <pc:sldMk cId="0" sldId="269"/>
        </pc:sldMkLst>
        <pc:picChg chg="del">
          <ac:chgData name="Lai, Wilson" userId="2840974a-0d84-4886-90a9-9a3ed79f3a48" providerId="ADAL" clId="{9F23B798-9E84-4552-BA63-E776E805C424}" dt="2026-09-05T07:12:15.351" v="35" actId="21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7:12:24.289" v="36" actId="22"/>
          <ac:picMkLst>
            <pc:docMk/>
            <pc:sldMk cId="0" sldId="269"/>
            <ac:picMk id="4" creationId="{4993751E-0B5E-E239-FFFF-7E52B90DDC17}"/>
          </ac:picMkLst>
        </pc:picChg>
      </pc:sldChg>
      <pc:sldChg chg="addSp delSp mod">
        <pc:chgData name="Lai, Wilson" userId="2840974a-0d84-4886-90a9-9a3ed79f3a48" providerId="ADAL" clId="{9F23B798-9E84-4552-BA63-E776E805C424}" dt="2026-09-05T07:12:34.989" v="38" actId="22"/>
        <pc:sldMkLst>
          <pc:docMk/>
          <pc:sldMk cId="0" sldId="270"/>
        </pc:sldMkLst>
        <pc:picChg chg="del">
          <ac:chgData name="Lai, Wilson" userId="2840974a-0d84-4886-90a9-9a3ed79f3a48" providerId="ADAL" clId="{9F23B798-9E84-4552-BA63-E776E805C424}" dt="2026-09-05T07:12:25.856" v="37" actId="21"/>
          <ac:picMkLst>
            <pc:docMk/>
            <pc:sldMk cId="0" sldId="27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7:12:34.989" v="38" actId="22"/>
          <ac:picMkLst>
            <pc:docMk/>
            <pc:sldMk cId="0" sldId="270"/>
            <ac:picMk id="4" creationId="{56785BDE-04C8-EDC1-3F2B-A177F1C5B56B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5T07:12:48.698" v="40" actId="22"/>
        <pc:sldMkLst>
          <pc:docMk/>
          <pc:sldMk cId="0" sldId="271"/>
        </pc:sldMkLst>
        <pc:picChg chg="del">
          <ac:chgData name="Lai, Wilson" userId="2840974a-0d84-4886-90a9-9a3ed79f3a48" providerId="ADAL" clId="{9F23B798-9E84-4552-BA63-E776E805C424}" dt="2026-09-05T07:12:40.294" v="39" actId="21"/>
          <ac:picMkLst>
            <pc:docMk/>
            <pc:sldMk cId="0" sldId="27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5T07:12:48.698" v="40" actId="22"/>
          <ac:picMkLst>
            <pc:docMk/>
            <pc:sldMk cId="0" sldId="271"/>
            <ac:picMk id="4" creationId="{7F1852B1-A45A-2F56-9AAC-D1D04ED32755}"/>
          </ac:picMkLst>
        </pc:picChg>
      </pc:sldChg>
      <pc:sldChg chg="modNotesTx">
        <pc:chgData name="Lai, Wilson" userId="2840974a-0d84-4886-90a9-9a3ed79f3a48" providerId="ADAL" clId="{9F23B798-9E84-4552-BA63-E776E805C424}" dt="2026-09-05T06:21:06.144" v="9" actId="12"/>
        <pc:sldMkLst>
          <pc:docMk/>
          <pc:sldMk cId="2165988860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6EF2E4-3B18-4A9C-82FD-40316F9E3EF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C5F37F-08A5-4D71-B025-D6D0EED9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885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Opening hook: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Welcome everyone. Today we are diving into "The Fear of Zero"—a deep look at the psychology of wealth, the trauma of capitalism, and the architecture of a meaningful life, based on the insights of Scott Galloway.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Theme: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Most financial advice focuses strictly on mechanics: how to invest, grow, and scale net worth. But we rarely address the emotional dysmorphia and trauma attached to money.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Setting the Stage: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Scott Galloway, a successful multi-millionaire, entrepreneur, and NYU Stern professor, admits that despite his financial success, he is still driven by a visceral fear of going broke.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takeaway to prime the audience: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Money isn't just about utility or buying power; it acts as an emotional armor against humiliation, a scorekeeper, and an existential safety net.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https://www.youtube.com/watch?v=-1kxqAbsDI8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5F37F-08A5-4D71-B025-D6D0EED903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463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Highlight the contrast between young expectations and mature realities.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20s Expectation: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your 20s, a million dollars sounds like "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done" money. Galloway notes that in his youth, he thought saving $1M meant he could retire and write screenplays for Tom Cruise.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61-Year-Old Reality: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Today, Galloway runs a monthly burn rate of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$300,000 to $400,000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includes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$150,000/month spent on private aviation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25x Math: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Applying the standard 25x safe withdrawal rule (5% yield/withdrawal rate) on $5M annual burn yields an economic security threshold of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$125 Million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Speaker Commentary: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Wealth does not automatically turn off the hamster wheel; it scales the velocity. Lifestyle inflation and high leverage to reduce personal anxiety expand the "enough" number continuously.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5F37F-08A5-4D71-B025-D6D0EED903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07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Addiction 1: Affirmation of Others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Evolutionary Root: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until recent history, being shamed and expelled from the tribe meant starving or dying within days. </a:t>
            </a: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Modern Symptom: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Posting content at age 61 online hoping strangers will validate you.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Addiction 2: Money &amp; Enterprise Value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Evolutionary Root: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Resource hoarding for survival. </a:t>
            </a: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Modern Symptom: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paternal instinct to build safety nets for employees, combined with an inherent compulsion to accumulate more scorekeeping capital.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Speaker Commentary: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 performance is often powered by dysfunctions that are evolutionary instincts operating in overdrive.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5F37F-08A5-4D71-B025-D6D0EED903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5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Addiction 1: Affirmation of Others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Evolutionary Root: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until recent history, being shamed and expelled from the tribe meant starving or dying within days. </a:t>
            </a: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Modern Symptom: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Posting content at age 61 online hoping strangers will validate you.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Addiction 2: Money &amp; Enterprise Value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Evolutionary Root: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Resource hoarding for survival. </a:t>
            </a:r>
          </a:p>
          <a:p>
            <a:pPr lvl="1"/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Modern Symptom: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paternal instinct to build safety nets for employees, combined with an inherent compulsion to accumulate more scorekeeping capital.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Speaker Commentary: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 performance is often powered by dysfunctions that are evolutionary instincts operating in overdrive.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5F37F-08A5-4D71-B025-D6D0EED9032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00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Hustle (Healthy Common Sense):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young people, grinding to achieve economic security isn't money addiction—it's basic survival and practical wisdom in a capitalist society. It buys freedom and options.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Hamster Wheel (Toxic Addiction):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Continuing to obsess over money long past utility, where net worth becomes tightly coupled with male identity and self-esteem.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Delineation: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Early career hustle builds the foundation to eventually pursue purpose; staying on the hamster wheel long after achieving wealth yields chronic anxiety despite high net worth.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5F37F-08A5-4D71-B025-D6D0EED903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097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Ages 0 – 50 (The Pursuit of Economics):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Goal was strictly financial accumulation—taking care of a sick parent, proving worth, and securing safety. Sacrificed health, hair, and relationships to get there.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Ages 50+ (The Pivot to Relevance):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Goal shifts from money to impact, purpose, and legacy.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Real-world example: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Galloway turned down multi-hundred-billion-dollar private equity funds offering massive payouts because the incremental gain wasn't worth trading away his joy, time freedom, and teaching.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5F37F-08A5-4D71-B025-D6D0EED9032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278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Understanding the Matrix: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Most career activities sit in the high investment / high expected return quadrant (transactional).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Definition of Purpose: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True purpose is discovered the day you realize you will never get a positive ROI on your emotional, financial, or psychological investment—yet you find deep meaning in it anyway.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Veterans serving their country, or raising a teenage son who will never repay the 2 AM worry or financial expenditure.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5F37F-08A5-4D71-B025-D6D0EED9032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242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Buying Experiences over Things: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Spending on experiences yields lasting joy, while physical items decay in satisfaction.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Returning Capital to the Economy: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Hoarding wealth above utility is a virus. Overpaying employees (e.g., +50% market rates) and spending puts capital back to work.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Giving It Away: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Matching annual spending with equivalent charitable giving provides psychic reward and acknowledges the societal systems that made success possible.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5F37F-08A5-4D71-B025-D6D0EED9032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402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Systemic Critique: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40% of U.S. households carry medical debt. No family should face bankruptcy because of a illness diagnosis.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Economic Policy Proposals: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Universal single-payer healthcare would eliminate massive societal friction and boost national productivity and the S&amp;P.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Amassing over $10 Billion adds zero societal value; a 40-60% progressive tax structure should fund early childhood education and basic safety nets.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5F37F-08A5-4D71-B025-D6D0EED9032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6607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Privilege: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Success is built on public infrastructure—Pell grants, state-sponsored universities, immigrant labor, and historical timing.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Obligation: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Winners in capitalism must leave the ladder down rather than pulling it up behind them. Advocating for public policy that supports the next generation is a fundamental duty.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5F37F-08A5-4D71-B025-D6D0EED9032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4377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Existential Identity Threat: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Going broke in late career isn't just about losing comfort; it destroys self-worth.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 of Relevance: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Male interestingness in American culture is heavily tied to net worth. Going to zero cuts off access and social validation.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Paternal Shame: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gut-wrenching feeling of failing to protect and provide for family.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Energy Deficit: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Realizing that at age 60+, you no longer possess the physical constitution to endure the climb back up.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5F37F-08A5-4D71-B025-D6D0EED9032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9206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Advice for Young Professionals: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Double down on strengths rather than chasing vague passions.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Live well below your means to build capital reserve.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Treat early career wealth building as common sense, not money addiction.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 economic security so you are never economically indentured to a boss or partner.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5F37F-08A5-4D71-B025-D6D0EED9032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6621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Catastrophic Event: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Experiencing severe financial loss. 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Trap: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Ego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Anger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Unforgiveness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Becoming frozen. Highly intelligent people remain paralyzed years later complaining about a failed venture. 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Pivot: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Mourn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Forgive Yourself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Micro-actions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Rebuild. 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Takeaway: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Markets forgive failure, but you must overcome self-blame to re-enter the game.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Catastrophic Event: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Experiencing severe financial loss. 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Trap: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Ego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Anger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Unforgiveness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Becoming frozen. Highly intelligent people remain paralyzed years later complaining about a failed venture. 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Pivot: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Mourn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Forgive Yourself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Micro-actions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Rebuild. 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Takeaway: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Markets forgive failure, but you must overcome self-blame to re-enter the game. 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5F37F-08A5-4D71-B025-D6D0EED9032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3169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Acknowledge Truth: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Upside luck boosted your success; market turns caused your failure. Neither define your core worth.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Physicality: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Force sunlight, exercise, and proper nutrition to regulate brain chemistry during trauma.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Execution: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Write down daily micro-actions and complete them without ego.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Liberation: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one cares about your failure as much as you do—stop being embarrassed and get back to the plate.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5F37F-08A5-4D71-B025-D6D0EED9032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251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Sunday Night Cloud: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Living for the weekend while dreading Monday morning is a sign of economic indenture.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Ultimate Blessing: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Unconditional love from family.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Complete removal of financial anxiety.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longer discerning the difference between a Tuesday and a Saturday.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5F37F-08A5-4D71-B025-D6D0EED9032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381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Closing synthesis: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Happiness Plateau: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Money matters immensely up to security, then marginal utility flattens.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Evolution of Priorities: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Youth focuses on protection and survival; maturity pivots to relationships, purpose, and philanthropy.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 Message: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 capital as a tool to remove friction and buy time so you can engage fully in what truly matters.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5F37F-08A5-4D71-B025-D6D0EED9032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69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14B454-14C8-FEE0-2C54-F5A85FDC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EA1A3-35D5-41BC-B3F6-672379B7409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44C1CB-0F75-A40E-D425-4A16C4AED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35BEC-F93D-59B2-DA81-5D9354429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76046-C571-4395-B45F-F7F613F85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948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72586B-8016-8E73-9FE6-ABBE39735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453CB-EB30-262B-FFCD-6B6AE875B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A0CA6-C04A-3C9E-0F5A-EB87B02998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0EA1A3-35D5-41BC-B3F6-672379B7409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178B0-E225-2271-3EBE-D8164D437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18CD8-D1B0-2E0C-10B4-12FF32E6E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76046-C571-4395-B45F-F7F613F85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687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97C6554-C094-8421-1630-F642D4EFA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F235FB-89F4-5027-CE42-F34E1C14A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31C2F6-E77A-35CD-FAD7-B78C9AC11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1E1506-3475-A4F4-F4BA-3D5FC7677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4D194-C085-B1A3-FC30-865837292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08041D-58B0-0601-712F-04D4F5D77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4E3261-F15C-2B2A-E22D-6AB0F8763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8EB12F-B0FC-6EC3-80AD-EF8FE0B16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136BE8-5978-6AA6-D76C-AD0969285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F26323-BF25-C313-A5C4-741E3D49B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8B64F5-7847-C80E-C677-60E9F5E07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D758AC-C542-2393-1510-D6497B4C7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93751E-0B5E-E239-FFFF-7E52B90DD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785BDE-04C8-EDC1-3F2B-A177F1C5B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1852B1-A45A-2F56-9AAC-D1D04ED32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D6C27B-E465-A98F-0412-68687F767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988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1413</Words>
  <Application>Microsoft Office PowerPoint</Application>
  <PresentationFormat>寬螢幕</PresentationFormat>
  <Paragraphs>85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2026-09-05T05:34:12Z</dcterms:created>
  <dcterms:modified xsi:type="dcterms:W3CDTF">2026-10-21T02:45:39Z</dcterms:modified>
</cp:coreProperties>
</file>