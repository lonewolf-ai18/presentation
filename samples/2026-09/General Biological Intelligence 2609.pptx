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52FB72-6220-4524-8AED-4708A074FDE0}" v="23" dt="2026-09-25T01:52:24.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0" autoAdjust="0"/>
    <p:restoredTop sz="89886"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5T01:55:42.611" v="67" actId="166"/>
      <pc:docMkLst>
        <pc:docMk/>
      </pc:docMkLst>
      <pc:sldChg chg="addSp delSp modSp mod modAnim modNotes modNotesTx">
        <pc:chgData name="Lai, Wilson" userId="2840974a-0d84-4886-90a9-9a3ed79f3a48" providerId="ADAL" clId="{9F23B798-9E84-4552-BA63-E776E805C424}" dt="2026-09-25T01:55:42.611" v="67" actId="166"/>
        <pc:sldMkLst>
          <pc:docMk/>
          <pc:sldMk cId="0" sldId="257"/>
        </pc:sldMkLst>
        <pc:spChg chg="add mod">
          <ac:chgData name="Lai, Wilson" userId="2840974a-0d84-4886-90a9-9a3ed79f3a48" providerId="ADAL" clId="{9F23B798-9E84-4552-BA63-E776E805C424}" dt="2026-09-24T13:22:16.486" v="16" actId="164"/>
          <ac:spMkLst>
            <pc:docMk/>
            <pc:sldMk cId="0" sldId="257"/>
            <ac:spMk id="5" creationId="{3B5E2D53-32FF-39D1-3F54-9E8BA2049CD7}"/>
          </ac:spMkLst>
        </pc:spChg>
        <pc:grpChg chg="add mod ord">
          <ac:chgData name="Lai, Wilson" userId="2840974a-0d84-4886-90a9-9a3ed79f3a48" providerId="ADAL" clId="{9F23B798-9E84-4552-BA63-E776E805C424}" dt="2026-09-24T13:22:20.976" v="18" actId="167"/>
          <ac:grpSpMkLst>
            <pc:docMk/>
            <pc:sldMk cId="0" sldId="257"/>
            <ac:grpSpMk id="6" creationId="{1BED96D9-05B7-9513-95C3-58DD89E3531C}"/>
          </ac:grpSpMkLst>
        </pc:grpChg>
        <pc:picChg chg="del mod">
          <ac:chgData name="Lai, Wilson" userId="2840974a-0d84-4886-90a9-9a3ed79f3a48" providerId="ADAL" clId="{9F23B798-9E84-4552-BA63-E776E805C424}" dt="2026-09-24T22:46:44.233" v="19" actId="21"/>
          <ac:picMkLst>
            <pc:docMk/>
            <pc:sldMk cId="0" sldId="257"/>
            <ac:picMk id="2" creationId="{00000000-0000-0000-0000-000000000000}"/>
          </ac:picMkLst>
        </pc:picChg>
        <pc:picChg chg="add mod">
          <ac:chgData name="Lai, Wilson" userId="2840974a-0d84-4886-90a9-9a3ed79f3a48" providerId="ADAL" clId="{9F23B798-9E84-4552-BA63-E776E805C424}" dt="2026-09-24T13:22:16.486" v="16" actId="164"/>
          <ac:picMkLst>
            <pc:docMk/>
            <pc:sldMk cId="0" sldId="257"/>
            <ac:picMk id="3" creationId="{77DC5124-C099-B3C9-8A38-B3EA9C4CF626}"/>
          </ac:picMkLst>
        </pc:picChg>
        <pc:picChg chg="add ord">
          <ac:chgData name="Lai, Wilson" userId="2840974a-0d84-4886-90a9-9a3ed79f3a48" providerId="ADAL" clId="{9F23B798-9E84-4552-BA63-E776E805C424}" dt="2026-09-25T01:55:42.611" v="67" actId="166"/>
          <ac:picMkLst>
            <pc:docMk/>
            <pc:sldMk cId="0" sldId="257"/>
            <ac:picMk id="4" creationId="{97BCC39D-CD95-36D8-8DBF-55734D31B72E}"/>
          </ac:picMkLst>
        </pc:picChg>
        <pc:picChg chg="add del ord">
          <ac:chgData name="Lai, Wilson" userId="2840974a-0d84-4886-90a9-9a3ed79f3a48" providerId="ADAL" clId="{9F23B798-9E84-4552-BA63-E776E805C424}" dt="2026-09-25T01:53:56.153" v="65" actId="478"/>
          <ac:picMkLst>
            <pc:docMk/>
            <pc:sldMk cId="0" sldId="257"/>
            <ac:picMk id="7" creationId="{F76308A7-B2BE-2B39-98CE-722FC25F9AD8}"/>
          </ac:picMkLst>
        </pc:picChg>
      </pc:sldChg>
      <pc:sldChg chg="addSp delSp mod modNotes modNotesTx">
        <pc:chgData name="Lai, Wilson" userId="2840974a-0d84-4886-90a9-9a3ed79f3a48" providerId="ADAL" clId="{9F23B798-9E84-4552-BA63-E776E805C424}" dt="2026-09-25T01:52:24.350" v="63"/>
        <pc:sldMkLst>
          <pc:docMk/>
          <pc:sldMk cId="0" sldId="258"/>
        </pc:sldMkLst>
        <pc:picChg chg="del">
          <ac:chgData name="Lai, Wilson" userId="2840974a-0d84-4886-90a9-9a3ed79f3a48" providerId="ADAL" clId="{9F23B798-9E84-4552-BA63-E776E805C424}" dt="2026-09-24T22:46:54.036" v="21" actId="21"/>
          <ac:picMkLst>
            <pc:docMk/>
            <pc:sldMk cId="0" sldId="258"/>
            <ac:picMk id="2" creationId="{00000000-0000-0000-0000-000000000000}"/>
          </ac:picMkLst>
        </pc:picChg>
        <pc:picChg chg="add">
          <ac:chgData name="Lai, Wilson" userId="2840974a-0d84-4886-90a9-9a3ed79f3a48" providerId="ADAL" clId="{9F23B798-9E84-4552-BA63-E776E805C424}" dt="2026-09-24T22:47:03.072" v="22" actId="22"/>
          <ac:picMkLst>
            <pc:docMk/>
            <pc:sldMk cId="0" sldId="258"/>
            <ac:picMk id="4" creationId="{CAF405E3-7753-08BE-F755-91164EF5933D}"/>
          </ac:picMkLst>
        </pc:picChg>
      </pc:sldChg>
      <pc:sldChg chg="addSp delSp mod modNotes">
        <pc:chgData name="Lai, Wilson" userId="2840974a-0d84-4886-90a9-9a3ed79f3a48" providerId="ADAL" clId="{9F23B798-9E84-4552-BA63-E776E805C424}" dt="2026-09-25T01:52:24.350" v="63"/>
        <pc:sldMkLst>
          <pc:docMk/>
          <pc:sldMk cId="0" sldId="259"/>
        </pc:sldMkLst>
        <pc:picChg chg="del">
          <ac:chgData name="Lai, Wilson" userId="2840974a-0d84-4886-90a9-9a3ed79f3a48" providerId="ADAL" clId="{9F23B798-9E84-4552-BA63-E776E805C424}" dt="2026-09-24T22:47:04.100" v="23" actId="21"/>
          <ac:picMkLst>
            <pc:docMk/>
            <pc:sldMk cId="0" sldId="259"/>
            <ac:picMk id="2" creationId="{00000000-0000-0000-0000-000000000000}"/>
          </ac:picMkLst>
        </pc:picChg>
        <pc:picChg chg="add">
          <ac:chgData name="Lai, Wilson" userId="2840974a-0d84-4886-90a9-9a3ed79f3a48" providerId="ADAL" clId="{9F23B798-9E84-4552-BA63-E776E805C424}" dt="2026-09-24T22:47:52.897" v="24" actId="22"/>
          <ac:picMkLst>
            <pc:docMk/>
            <pc:sldMk cId="0" sldId="259"/>
            <ac:picMk id="4" creationId="{964E6D79-B905-07D6-BF57-00CF79F7E961}"/>
          </ac:picMkLst>
        </pc:picChg>
      </pc:sldChg>
      <pc:sldChg chg="addSp delSp mod modNotes">
        <pc:chgData name="Lai, Wilson" userId="2840974a-0d84-4886-90a9-9a3ed79f3a48" providerId="ADAL" clId="{9F23B798-9E84-4552-BA63-E776E805C424}" dt="2026-09-25T01:52:21.453" v="62"/>
        <pc:sldMkLst>
          <pc:docMk/>
          <pc:sldMk cId="0" sldId="260"/>
        </pc:sldMkLst>
        <pc:picChg chg="del">
          <ac:chgData name="Lai, Wilson" userId="2840974a-0d84-4886-90a9-9a3ed79f3a48" providerId="ADAL" clId="{9F23B798-9E84-4552-BA63-E776E805C424}" dt="2026-09-24T22:47:54.307" v="25" actId="21"/>
          <ac:picMkLst>
            <pc:docMk/>
            <pc:sldMk cId="0" sldId="260"/>
            <ac:picMk id="2" creationId="{00000000-0000-0000-0000-000000000000}"/>
          </ac:picMkLst>
        </pc:picChg>
        <pc:picChg chg="add">
          <ac:chgData name="Lai, Wilson" userId="2840974a-0d84-4886-90a9-9a3ed79f3a48" providerId="ADAL" clId="{9F23B798-9E84-4552-BA63-E776E805C424}" dt="2026-09-24T22:48:35.220" v="26" actId="22"/>
          <ac:picMkLst>
            <pc:docMk/>
            <pc:sldMk cId="0" sldId="260"/>
            <ac:picMk id="4" creationId="{36FA2AF4-615A-FC24-1377-DC6A5D941EB3}"/>
          </ac:picMkLst>
        </pc:picChg>
      </pc:sldChg>
      <pc:sldChg chg="addSp delSp mod modNotes">
        <pc:chgData name="Lai, Wilson" userId="2840974a-0d84-4886-90a9-9a3ed79f3a48" providerId="ADAL" clId="{9F23B798-9E84-4552-BA63-E776E805C424}" dt="2026-09-25T01:52:24.350" v="63"/>
        <pc:sldMkLst>
          <pc:docMk/>
          <pc:sldMk cId="0" sldId="261"/>
        </pc:sldMkLst>
        <pc:picChg chg="del">
          <ac:chgData name="Lai, Wilson" userId="2840974a-0d84-4886-90a9-9a3ed79f3a48" providerId="ADAL" clId="{9F23B798-9E84-4552-BA63-E776E805C424}" dt="2026-09-24T22:48:38.965" v="27" actId="21"/>
          <ac:picMkLst>
            <pc:docMk/>
            <pc:sldMk cId="0" sldId="261"/>
            <ac:picMk id="2" creationId="{00000000-0000-0000-0000-000000000000}"/>
          </ac:picMkLst>
        </pc:picChg>
        <pc:picChg chg="add">
          <ac:chgData name="Lai, Wilson" userId="2840974a-0d84-4886-90a9-9a3ed79f3a48" providerId="ADAL" clId="{9F23B798-9E84-4552-BA63-E776E805C424}" dt="2026-09-24T22:48:57.771" v="28" actId="22"/>
          <ac:picMkLst>
            <pc:docMk/>
            <pc:sldMk cId="0" sldId="261"/>
            <ac:picMk id="4" creationId="{4077E686-1FBB-9326-A61B-E773C857C990}"/>
          </ac:picMkLst>
        </pc:picChg>
      </pc:sldChg>
      <pc:sldChg chg="addSp delSp mod modNotes">
        <pc:chgData name="Lai, Wilson" userId="2840974a-0d84-4886-90a9-9a3ed79f3a48" providerId="ADAL" clId="{9F23B798-9E84-4552-BA63-E776E805C424}" dt="2026-09-25T01:52:21.453" v="62"/>
        <pc:sldMkLst>
          <pc:docMk/>
          <pc:sldMk cId="0" sldId="262"/>
        </pc:sldMkLst>
        <pc:picChg chg="del">
          <ac:chgData name="Lai, Wilson" userId="2840974a-0d84-4886-90a9-9a3ed79f3a48" providerId="ADAL" clId="{9F23B798-9E84-4552-BA63-E776E805C424}" dt="2026-09-24T22:49:01.317" v="29" actId="21"/>
          <ac:picMkLst>
            <pc:docMk/>
            <pc:sldMk cId="0" sldId="262"/>
            <ac:picMk id="2" creationId="{00000000-0000-0000-0000-000000000000}"/>
          </ac:picMkLst>
        </pc:picChg>
        <pc:picChg chg="add">
          <ac:chgData name="Lai, Wilson" userId="2840974a-0d84-4886-90a9-9a3ed79f3a48" providerId="ADAL" clId="{9F23B798-9E84-4552-BA63-E776E805C424}" dt="2026-09-24T22:49:26.724" v="30" actId="22"/>
          <ac:picMkLst>
            <pc:docMk/>
            <pc:sldMk cId="0" sldId="262"/>
            <ac:picMk id="4" creationId="{6C2924BA-1655-896A-20F0-34428F016867}"/>
          </ac:picMkLst>
        </pc:picChg>
      </pc:sldChg>
      <pc:sldChg chg="addSp delSp mod modNotes">
        <pc:chgData name="Lai, Wilson" userId="2840974a-0d84-4886-90a9-9a3ed79f3a48" providerId="ADAL" clId="{9F23B798-9E84-4552-BA63-E776E805C424}" dt="2026-09-25T01:52:21.453" v="62"/>
        <pc:sldMkLst>
          <pc:docMk/>
          <pc:sldMk cId="0" sldId="263"/>
        </pc:sldMkLst>
        <pc:picChg chg="del">
          <ac:chgData name="Lai, Wilson" userId="2840974a-0d84-4886-90a9-9a3ed79f3a48" providerId="ADAL" clId="{9F23B798-9E84-4552-BA63-E776E805C424}" dt="2026-09-24T22:49:31.808" v="31" actId="21"/>
          <ac:picMkLst>
            <pc:docMk/>
            <pc:sldMk cId="0" sldId="263"/>
            <ac:picMk id="2" creationId="{00000000-0000-0000-0000-000000000000}"/>
          </ac:picMkLst>
        </pc:picChg>
        <pc:picChg chg="add">
          <ac:chgData name="Lai, Wilson" userId="2840974a-0d84-4886-90a9-9a3ed79f3a48" providerId="ADAL" clId="{9F23B798-9E84-4552-BA63-E776E805C424}" dt="2026-09-24T22:50:31.129" v="32" actId="22"/>
          <ac:picMkLst>
            <pc:docMk/>
            <pc:sldMk cId="0" sldId="263"/>
            <ac:picMk id="4" creationId="{15EE1FB5-6AF4-FC79-9E11-BAAAB7FDFE57}"/>
          </ac:picMkLst>
        </pc:picChg>
      </pc:sldChg>
      <pc:sldChg chg="addSp delSp mod modNotes">
        <pc:chgData name="Lai, Wilson" userId="2840974a-0d84-4886-90a9-9a3ed79f3a48" providerId="ADAL" clId="{9F23B798-9E84-4552-BA63-E776E805C424}" dt="2026-09-25T01:52:24.350" v="63"/>
        <pc:sldMkLst>
          <pc:docMk/>
          <pc:sldMk cId="0" sldId="264"/>
        </pc:sldMkLst>
        <pc:picChg chg="del">
          <ac:chgData name="Lai, Wilson" userId="2840974a-0d84-4886-90a9-9a3ed79f3a48" providerId="ADAL" clId="{9F23B798-9E84-4552-BA63-E776E805C424}" dt="2026-09-24T22:50:32.568" v="33" actId="21"/>
          <ac:picMkLst>
            <pc:docMk/>
            <pc:sldMk cId="0" sldId="264"/>
            <ac:picMk id="2" creationId="{00000000-0000-0000-0000-000000000000}"/>
          </ac:picMkLst>
        </pc:picChg>
        <pc:picChg chg="add">
          <ac:chgData name="Lai, Wilson" userId="2840974a-0d84-4886-90a9-9a3ed79f3a48" providerId="ADAL" clId="{9F23B798-9E84-4552-BA63-E776E805C424}" dt="2026-09-24T22:50:41.481" v="34" actId="22"/>
          <ac:picMkLst>
            <pc:docMk/>
            <pc:sldMk cId="0" sldId="264"/>
            <ac:picMk id="4" creationId="{6C8B4C14-8566-A55C-C4E3-2F0B62CC54C2}"/>
          </ac:picMkLst>
        </pc:picChg>
      </pc:sldChg>
      <pc:sldChg chg="addSp delSp mod modNotes">
        <pc:chgData name="Lai, Wilson" userId="2840974a-0d84-4886-90a9-9a3ed79f3a48" providerId="ADAL" clId="{9F23B798-9E84-4552-BA63-E776E805C424}" dt="2026-09-25T01:52:21.453" v="62"/>
        <pc:sldMkLst>
          <pc:docMk/>
          <pc:sldMk cId="0" sldId="265"/>
        </pc:sldMkLst>
        <pc:picChg chg="del">
          <ac:chgData name="Lai, Wilson" userId="2840974a-0d84-4886-90a9-9a3ed79f3a48" providerId="ADAL" clId="{9F23B798-9E84-4552-BA63-E776E805C424}" dt="2026-09-24T22:50:42.731" v="35" actId="21"/>
          <ac:picMkLst>
            <pc:docMk/>
            <pc:sldMk cId="0" sldId="265"/>
            <ac:picMk id="2" creationId="{00000000-0000-0000-0000-000000000000}"/>
          </ac:picMkLst>
        </pc:picChg>
        <pc:picChg chg="add">
          <ac:chgData name="Lai, Wilson" userId="2840974a-0d84-4886-90a9-9a3ed79f3a48" providerId="ADAL" clId="{9F23B798-9E84-4552-BA63-E776E805C424}" dt="2026-09-24T22:50:54.256" v="36" actId="22"/>
          <ac:picMkLst>
            <pc:docMk/>
            <pc:sldMk cId="0" sldId="265"/>
            <ac:picMk id="4" creationId="{09B2089F-76B7-9379-DAB4-5D8DE870F805}"/>
          </ac:picMkLst>
        </pc:picChg>
      </pc:sldChg>
      <pc:sldChg chg="addSp delSp mod modNotes">
        <pc:chgData name="Lai, Wilson" userId="2840974a-0d84-4886-90a9-9a3ed79f3a48" providerId="ADAL" clId="{9F23B798-9E84-4552-BA63-E776E805C424}" dt="2026-09-25T01:52:21.453" v="62"/>
        <pc:sldMkLst>
          <pc:docMk/>
          <pc:sldMk cId="0" sldId="266"/>
        </pc:sldMkLst>
        <pc:picChg chg="del">
          <ac:chgData name="Lai, Wilson" userId="2840974a-0d84-4886-90a9-9a3ed79f3a48" providerId="ADAL" clId="{9F23B798-9E84-4552-BA63-E776E805C424}" dt="2026-09-24T22:50:57.218" v="37" actId="21"/>
          <ac:picMkLst>
            <pc:docMk/>
            <pc:sldMk cId="0" sldId="266"/>
            <ac:picMk id="2" creationId="{00000000-0000-0000-0000-000000000000}"/>
          </ac:picMkLst>
        </pc:picChg>
        <pc:picChg chg="add">
          <ac:chgData name="Lai, Wilson" userId="2840974a-0d84-4886-90a9-9a3ed79f3a48" providerId="ADAL" clId="{9F23B798-9E84-4552-BA63-E776E805C424}" dt="2026-09-24T22:51:05.856" v="38" actId="22"/>
          <ac:picMkLst>
            <pc:docMk/>
            <pc:sldMk cId="0" sldId="266"/>
            <ac:picMk id="4" creationId="{B7C56E9A-8C0E-9787-AE16-809A554E28C3}"/>
          </ac:picMkLst>
        </pc:picChg>
      </pc:sldChg>
      <pc:sldChg chg="addSp delSp mod modNotes">
        <pc:chgData name="Lai, Wilson" userId="2840974a-0d84-4886-90a9-9a3ed79f3a48" providerId="ADAL" clId="{9F23B798-9E84-4552-BA63-E776E805C424}" dt="2026-09-25T01:52:21.453" v="62"/>
        <pc:sldMkLst>
          <pc:docMk/>
          <pc:sldMk cId="0" sldId="267"/>
        </pc:sldMkLst>
        <pc:picChg chg="del">
          <ac:chgData name="Lai, Wilson" userId="2840974a-0d84-4886-90a9-9a3ed79f3a48" providerId="ADAL" clId="{9F23B798-9E84-4552-BA63-E776E805C424}" dt="2026-09-24T22:51:07.074" v="39" actId="21"/>
          <ac:picMkLst>
            <pc:docMk/>
            <pc:sldMk cId="0" sldId="267"/>
            <ac:picMk id="2" creationId="{00000000-0000-0000-0000-000000000000}"/>
          </ac:picMkLst>
        </pc:picChg>
        <pc:picChg chg="add">
          <ac:chgData name="Lai, Wilson" userId="2840974a-0d84-4886-90a9-9a3ed79f3a48" providerId="ADAL" clId="{9F23B798-9E84-4552-BA63-E776E805C424}" dt="2026-09-24T22:51:15.285" v="40" actId="22"/>
          <ac:picMkLst>
            <pc:docMk/>
            <pc:sldMk cId="0" sldId="267"/>
            <ac:picMk id="4" creationId="{F84C3BBB-02CA-ED13-00F7-26E86F06D2C3}"/>
          </ac:picMkLst>
        </pc:picChg>
      </pc:sldChg>
      <pc:sldChg chg="addSp delSp mod modNotes">
        <pc:chgData name="Lai, Wilson" userId="2840974a-0d84-4886-90a9-9a3ed79f3a48" providerId="ADAL" clId="{9F23B798-9E84-4552-BA63-E776E805C424}" dt="2026-09-25T01:52:21.453" v="62"/>
        <pc:sldMkLst>
          <pc:docMk/>
          <pc:sldMk cId="0" sldId="268"/>
        </pc:sldMkLst>
        <pc:picChg chg="del">
          <ac:chgData name="Lai, Wilson" userId="2840974a-0d84-4886-90a9-9a3ed79f3a48" providerId="ADAL" clId="{9F23B798-9E84-4552-BA63-E776E805C424}" dt="2026-09-24T22:51:16.638" v="41" actId="21"/>
          <ac:picMkLst>
            <pc:docMk/>
            <pc:sldMk cId="0" sldId="268"/>
            <ac:picMk id="2" creationId="{00000000-0000-0000-0000-000000000000}"/>
          </ac:picMkLst>
        </pc:picChg>
        <pc:picChg chg="add">
          <ac:chgData name="Lai, Wilson" userId="2840974a-0d84-4886-90a9-9a3ed79f3a48" providerId="ADAL" clId="{9F23B798-9E84-4552-BA63-E776E805C424}" dt="2026-09-24T22:51:56.710" v="42" actId="22"/>
          <ac:picMkLst>
            <pc:docMk/>
            <pc:sldMk cId="0" sldId="268"/>
            <ac:picMk id="4" creationId="{888D8FC6-BB2C-87EA-8690-09A4E5976F5F}"/>
          </ac:picMkLst>
        </pc:picChg>
      </pc:sldChg>
      <pc:sldChg chg="addSp delSp mod modNotes">
        <pc:chgData name="Lai, Wilson" userId="2840974a-0d84-4886-90a9-9a3ed79f3a48" providerId="ADAL" clId="{9F23B798-9E84-4552-BA63-E776E805C424}" dt="2026-09-25T01:52:21.453" v="62"/>
        <pc:sldMkLst>
          <pc:docMk/>
          <pc:sldMk cId="0" sldId="269"/>
        </pc:sldMkLst>
        <pc:picChg chg="del">
          <ac:chgData name="Lai, Wilson" userId="2840974a-0d84-4886-90a9-9a3ed79f3a48" providerId="ADAL" clId="{9F23B798-9E84-4552-BA63-E776E805C424}" dt="2026-09-24T22:52:00.465" v="43" actId="21"/>
          <ac:picMkLst>
            <pc:docMk/>
            <pc:sldMk cId="0" sldId="269"/>
            <ac:picMk id="2" creationId="{00000000-0000-0000-0000-000000000000}"/>
          </ac:picMkLst>
        </pc:picChg>
        <pc:picChg chg="add">
          <ac:chgData name="Lai, Wilson" userId="2840974a-0d84-4886-90a9-9a3ed79f3a48" providerId="ADAL" clId="{9F23B798-9E84-4552-BA63-E776E805C424}" dt="2026-09-24T22:52:16.449" v="44" actId="22"/>
          <ac:picMkLst>
            <pc:docMk/>
            <pc:sldMk cId="0" sldId="269"/>
            <ac:picMk id="4" creationId="{8043227E-1F85-E1C5-783C-B332F217CBE8}"/>
          </ac:picMkLst>
        </pc:picChg>
      </pc:sldChg>
      <pc:sldChg chg="addSp delSp mod modNotes">
        <pc:chgData name="Lai, Wilson" userId="2840974a-0d84-4886-90a9-9a3ed79f3a48" providerId="ADAL" clId="{9F23B798-9E84-4552-BA63-E776E805C424}" dt="2026-09-25T01:52:21.453" v="62"/>
        <pc:sldMkLst>
          <pc:docMk/>
          <pc:sldMk cId="0" sldId="270"/>
        </pc:sldMkLst>
        <pc:picChg chg="del">
          <ac:chgData name="Lai, Wilson" userId="2840974a-0d84-4886-90a9-9a3ed79f3a48" providerId="ADAL" clId="{9F23B798-9E84-4552-BA63-E776E805C424}" dt="2026-09-24T22:52:17.758" v="45" actId="21"/>
          <ac:picMkLst>
            <pc:docMk/>
            <pc:sldMk cId="0" sldId="270"/>
            <ac:picMk id="2" creationId="{00000000-0000-0000-0000-000000000000}"/>
          </ac:picMkLst>
        </pc:picChg>
        <pc:picChg chg="add">
          <ac:chgData name="Lai, Wilson" userId="2840974a-0d84-4886-90a9-9a3ed79f3a48" providerId="ADAL" clId="{9F23B798-9E84-4552-BA63-E776E805C424}" dt="2026-09-24T22:53:26.180" v="46" actId="22"/>
          <ac:picMkLst>
            <pc:docMk/>
            <pc:sldMk cId="0" sldId="270"/>
            <ac:picMk id="4" creationId="{FBE31209-95D9-CFCC-1D25-BBBA2E481098}"/>
          </ac:picMkLst>
        </pc:picChg>
      </pc:sldChg>
      <pc:sldChg chg="addSp delSp mod modNotes">
        <pc:chgData name="Lai, Wilson" userId="2840974a-0d84-4886-90a9-9a3ed79f3a48" providerId="ADAL" clId="{9F23B798-9E84-4552-BA63-E776E805C424}" dt="2026-09-25T01:52:21.453" v="62"/>
        <pc:sldMkLst>
          <pc:docMk/>
          <pc:sldMk cId="0" sldId="271"/>
        </pc:sldMkLst>
        <pc:picChg chg="del">
          <ac:chgData name="Lai, Wilson" userId="2840974a-0d84-4886-90a9-9a3ed79f3a48" providerId="ADAL" clId="{9F23B798-9E84-4552-BA63-E776E805C424}" dt="2026-09-24T22:53:30.809" v="47" actId="21"/>
          <ac:picMkLst>
            <pc:docMk/>
            <pc:sldMk cId="0" sldId="271"/>
            <ac:picMk id="2" creationId="{00000000-0000-0000-0000-000000000000}"/>
          </ac:picMkLst>
        </pc:picChg>
        <pc:picChg chg="add">
          <ac:chgData name="Lai, Wilson" userId="2840974a-0d84-4886-90a9-9a3ed79f3a48" providerId="ADAL" clId="{9F23B798-9E84-4552-BA63-E776E805C424}" dt="2026-09-24T22:54:20.600" v="48" actId="22"/>
          <ac:picMkLst>
            <pc:docMk/>
            <pc:sldMk cId="0" sldId="271"/>
            <ac:picMk id="4" creationId="{CAEEBA1D-B3D0-E9F1-788E-E507AB2F0DE4}"/>
          </ac:picMkLst>
        </pc:picChg>
      </pc:sldChg>
      <pc:sldChg chg="addSp delSp mod modNotes modNotesTx">
        <pc:chgData name="Lai, Wilson" userId="2840974a-0d84-4886-90a9-9a3ed79f3a48" providerId="ADAL" clId="{9F23B798-9E84-4552-BA63-E776E805C424}" dt="2026-09-25T01:52:21.453" v="62"/>
        <pc:sldMkLst>
          <pc:docMk/>
          <pc:sldMk cId="2166481842" sldId="272"/>
        </pc:sldMkLst>
        <pc:picChg chg="del">
          <ac:chgData name="Lai, Wilson" userId="2840974a-0d84-4886-90a9-9a3ed79f3a48" providerId="ADAL" clId="{9F23B798-9E84-4552-BA63-E776E805C424}" dt="2026-09-24T22:54:24.621" v="49" actId="21"/>
          <ac:picMkLst>
            <pc:docMk/>
            <pc:sldMk cId="2166481842" sldId="272"/>
            <ac:picMk id="3" creationId="{73A0816A-B545-827F-18C3-8083355BD87F}"/>
          </ac:picMkLst>
        </pc:picChg>
        <pc:picChg chg="add">
          <ac:chgData name="Lai, Wilson" userId="2840974a-0d84-4886-90a9-9a3ed79f3a48" providerId="ADAL" clId="{9F23B798-9E84-4552-BA63-E776E805C424}" dt="2026-09-24T22:54:37.990" v="50" actId="22"/>
          <ac:picMkLst>
            <pc:docMk/>
            <pc:sldMk cId="2166481842" sldId="272"/>
            <ac:picMk id="4" creationId="{F51A0065-4C10-3968-EC4D-00A24309E71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672D9-3921-4FC0-A3DA-BDC926CEC9F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DFF347-86A8-4434-A075-FB3C493BEC4E}" type="slidenum">
              <a:rPr lang="en-US" smtClean="0"/>
              <a:t>‹#›</a:t>
            </a:fld>
            <a:endParaRPr lang="en-US"/>
          </a:p>
        </p:txBody>
      </p:sp>
    </p:spTree>
    <p:extLst>
      <p:ext uri="{BB962C8B-B14F-4D97-AF65-F5344CB8AC3E}">
        <p14:creationId xmlns:p14="http://schemas.microsoft.com/office/powerpoint/2010/main" val="3685200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today’s session on what we believe is the next big frontier in artificial intelligence: </a:t>
            </a:r>
            <a:r>
              <a:rPr lang="en-US" b="1" dirty="0"/>
              <a:t>Generative Genomics and General Biological Intelligence</a:t>
            </a:r>
            <a:r>
              <a:rPr lang="en-US" dirty="0"/>
              <a:t>.</a:t>
            </a:r>
          </a:p>
          <a:p>
            <a:r>
              <a:rPr lang="en-US" dirty="0"/>
              <a:t>When we look at the trajectory of AI over the past few years, the primary paradigm has been Natural Language Processing—training models on human words, code, and images. But parallel to this, there is another fundamental language: the raw, unannotated code of biology—DNA.</a:t>
            </a:r>
          </a:p>
          <a:p>
            <a:r>
              <a:rPr lang="en-US" dirty="0"/>
              <a:t>At Radical </a:t>
            </a:r>
            <a:r>
              <a:rPr lang="en-US" dirty="0" err="1"/>
              <a:t>Numerics</a:t>
            </a:r>
            <a:r>
              <a:rPr lang="en-US" dirty="0"/>
              <a:t>, our founding vision is built on the realization that AI shouldn't just read DNA; it should write it, reason with it, and predict its cellular impact. However, as we unlock the power to generate novel biological constructs—from engineered enzymes to synthetic viral genomes—we face an urgent dual reality. The exact same technological capabilities that allow us to model complex human diseases can also lower the technical barrier to designing dangerous pathogens.</a:t>
            </a:r>
          </a:p>
          <a:p>
            <a:r>
              <a:rPr lang="en-US" dirty="0"/>
              <a:t>This brings us to our </a:t>
            </a:r>
            <a:r>
              <a:rPr lang="en-US" b="1" dirty="0"/>
              <a:t>Dual Mandate</a:t>
            </a:r>
            <a:r>
              <a:rPr lang="en-US" dirty="0"/>
              <a:t>: As a frontier AI research lab, we hold ourselves responsible for advancing state-of-the-art biological design capabilities while simultaneously building robust, frontier-grade biodefense and surveillance tools to safeguard that technology. Today, we'll walk through how we transitioned from early context-efficient models to foundational models like EVO and Omni, and how we are addressing the biosecurity arms race head-on.</a:t>
            </a:r>
          </a:p>
          <a:p>
            <a:endParaRPr lang="en-US" dirty="0"/>
          </a:p>
          <a:p>
            <a:endParaRPr lang="en-US" dirty="0"/>
          </a:p>
          <a:p>
            <a:endParaRPr lang="en-US" dirty="0"/>
          </a:p>
          <a:p>
            <a:endParaRPr lang="en-US" dirty="0"/>
          </a:p>
          <a:p>
            <a:r>
              <a:rPr lang="en-US" dirty="0"/>
              <a:t>Applying Chain-of-Thought to DNA??? - Eric Nguyen (CEO, Radical </a:t>
            </a:r>
            <a:r>
              <a:rPr lang="en-US" dirty="0" err="1"/>
              <a:t>Numerics</a:t>
            </a:r>
            <a:r>
              <a:rPr lang="en-US" dirty="0"/>
              <a:t>)</a:t>
            </a:r>
          </a:p>
          <a:p>
            <a:r>
              <a:rPr lang="en-US" dirty="0"/>
              <a:t>https://www.youtube.com/watch?v=B7DdNj_VjcU</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a:t>
            </a:fld>
            <a:endParaRPr lang="en-US"/>
          </a:p>
        </p:txBody>
      </p:sp>
    </p:spTree>
    <p:extLst>
      <p:ext uri="{BB962C8B-B14F-4D97-AF65-F5344CB8AC3E}">
        <p14:creationId xmlns:p14="http://schemas.microsoft.com/office/powerpoint/2010/main" val="2862508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we need large biological language models, we first have to look at the fundamental bottleneck of traditional bioinformatics. </a:t>
            </a:r>
          </a:p>
          <a:p>
            <a:r>
              <a:rPr lang="en-US" sz="1200" kern="1200" dirty="0">
                <a:solidFill>
                  <a:schemeClr val="tx1"/>
                </a:solidFill>
                <a:effectLst/>
                <a:latin typeface="+mn-lt"/>
                <a:ea typeface="+mn-ea"/>
                <a:cs typeface="+mn-cs"/>
              </a:rPr>
              <a:t>For decades, the vast majority of biological research has focused almost exclusively on coding regions—the roughly 1.5% to 2% of the human genome that directly encodes proteins. Traditional bioinformatics tools rely heavily on statistical methods and hand-annotated labels, effectively treating the remaining 98% of the genome as unannotated dark matter or junk DNA. </a:t>
            </a:r>
          </a:p>
          <a:p>
            <a:r>
              <a:rPr lang="en-US" sz="1200" kern="1200" dirty="0">
                <a:solidFill>
                  <a:schemeClr val="tx1"/>
                </a:solidFill>
                <a:effectLst/>
                <a:latin typeface="+mn-lt"/>
                <a:ea typeface="+mn-ea"/>
                <a:cs typeface="+mn-cs"/>
              </a:rPr>
              <a:t>Here is the flaw: that 98% is not junk. It houses the regulatory networks, epigenetic landscapes, and long-range chromosomal interactions that dictate </a:t>
            </a:r>
            <a:r>
              <a:rPr lang="en-US" sz="1200" i="1" kern="1200" dirty="0">
                <a:solidFill>
                  <a:schemeClr val="tx1"/>
                </a:solidFill>
                <a:effectLst/>
                <a:latin typeface="+mn-lt"/>
                <a:ea typeface="+mn-ea"/>
                <a:cs typeface="+mn-cs"/>
              </a:rPr>
              <a:t>when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where</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how much</a:t>
            </a:r>
            <a:r>
              <a:rPr lang="en-US" sz="1200" kern="1200" dirty="0">
                <a:solidFill>
                  <a:schemeClr val="tx1"/>
                </a:solidFill>
                <a:effectLst/>
                <a:latin typeface="+mn-lt"/>
                <a:ea typeface="+mn-ea"/>
                <a:cs typeface="+mn-cs"/>
              </a:rPr>
              <a:t> genes are expressed. The roots of many complex human diseases, rare conditions, and variants of unknown significance (VUS) lie squarely within these unannotated non-coding regions. </a:t>
            </a:r>
          </a:p>
          <a:p>
            <a:r>
              <a:rPr lang="en-US" sz="1200" kern="1200" dirty="0">
                <a:solidFill>
                  <a:schemeClr val="tx1"/>
                </a:solidFill>
                <a:effectLst/>
                <a:latin typeface="+mn-lt"/>
                <a:ea typeface="+mn-ea"/>
                <a:cs typeface="+mn-cs"/>
              </a:rPr>
              <a:t>Supervised models fail here because annotating 3 billion base pairs manually across all human cell types is practically impossible. This is where unsupervised language models change the game. By pre-training models directly on raw, unannotated genomic sequences across thousands of species, the AI learns the underlying grammar, regulatory constraints, and evolutionary rules of life from the raw substrate itself. Our newest architecture, </a:t>
            </a:r>
            <a:r>
              <a:rPr lang="en-US" sz="1200" b="1" kern="1200" dirty="0">
                <a:solidFill>
                  <a:schemeClr val="tx1"/>
                </a:solidFill>
                <a:effectLst/>
                <a:latin typeface="+mn-lt"/>
                <a:ea typeface="+mn-ea"/>
                <a:cs typeface="+mn-cs"/>
              </a:rPr>
              <a:t>Omni</a:t>
            </a:r>
            <a:r>
              <a:rPr lang="en-US" sz="1200" kern="1200" dirty="0">
                <a:solidFill>
                  <a:schemeClr val="tx1"/>
                </a:solidFill>
                <a:effectLst/>
                <a:latin typeface="+mn-lt"/>
                <a:ea typeface="+mn-ea"/>
                <a:cs typeface="+mn-cs"/>
              </a:rPr>
              <a:t>, achieves 100% genomic processing, overcoming this bottleneck completely.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2</a:t>
            </a:fld>
            <a:endParaRPr lang="en-US"/>
          </a:p>
        </p:txBody>
      </p:sp>
    </p:spTree>
    <p:extLst>
      <p:ext uri="{BB962C8B-B14F-4D97-AF65-F5344CB8AC3E}">
        <p14:creationId xmlns:p14="http://schemas.microsoft.com/office/powerpoint/2010/main" val="3479763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applying Large Language Models to genomics, the biggest technical hurdle isn't vocabulary—DNA only has four primary characters (A, C, G, T)—it is </a:t>
                </a:r>
                <a:r>
                  <a:rPr lang="en-US" sz="1200" b="1" kern="1200" dirty="0">
                    <a:solidFill>
                      <a:schemeClr val="tx1"/>
                    </a:solidFill>
                    <a:effectLst/>
                    <a:latin typeface="+mn-lt"/>
                    <a:ea typeface="+mn-ea"/>
                    <a:cs typeface="+mn-cs"/>
                  </a:rPr>
                  <a:t>context length</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natural language, a few thousand tokens are often enough to capture the meaning of a paragraph or document. But DNA operates on a completely different spatial scale. A standard human transcript might be 3,000 base pairs, an entire bacteriophage genome around 6,000 base pairs, while regulatory elements in humans can interact across hundreds of thousands or millions of base pairs. </a:t>
                </a:r>
              </a:p>
              <a:p>
                <a:r>
                  <a:rPr lang="en-US" sz="1200" kern="1200" dirty="0">
                    <a:solidFill>
                      <a:schemeClr val="tx1"/>
                    </a:solidFill>
                    <a:effectLst/>
                    <a:latin typeface="+mn-lt"/>
                    <a:ea typeface="+mn-ea"/>
                    <a:cs typeface="+mn-cs"/>
                  </a:rPr>
                  <a:t>Early genomic models suffered severely from </a:t>
                </a:r>
                <a:r>
                  <a:rPr lang="en-US" sz="1200" b="1" kern="1200" dirty="0">
                    <a:solidFill>
                      <a:schemeClr val="tx1"/>
                    </a:solidFill>
                    <a:effectLst/>
                    <a:latin typeface="+mn-lt"/>
                    <a:ea typeface="+mn-ea"/>
                    <a:cs typeface="+mn-cs"/>
                  </a:rPr>
                  <a:t>Context Rot</a:t>
                </a:r>
                <a:r>
                  <a:rPr lang="en-US" sz="1200" kern="1200" dirty="0">
                    <a:solidFill>
                      <a:schemeClr val="tx1"/>
                    </a:solidFill>
                    <a:effectLst/>
                    <a:latin typeface="+mn-lt"/>
                    <a:ea typeface="+mn-ea"/>
                    <a:cs typeface="+mn-cs"/>
                  </a:rPr>
                  <a:t>. As sequence inputs grew longer, standard self-attention mechanisms in Transformers experienced quadratic memory scaling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𝑂</m:t>
                    </m:r>
                    <m:d>
                      <m:dPr>
                        <m:ctrlPr>
                          <a:rPr lang="en-US" sz="1200" i="1" kern="1200">
                            <a:solidFill>
                              <a:schemeClr val="tx1"/>
                            </a:solidFill>
                            <a:latin typeface="Cambria Math" panose="02040503050406030204" pitchFamily="18" charset="0"/>
                            <a:ea typeface="+mn-ea"/>
                            <a:cs typeface="+mn-cs"/>
                          </a:rPr>
                        </m:ctrlPr>
                      </m:dPr>
                      <m:e>
                        <m:sSup>
                          <m:sSupPr>
                            <m:ctrlPr>
                              <a:rPr lang="en-US" sz="1200" i="1" kern="1200">
                                <a:solidFill>
                                  <a:schemeClr val="tx1"/>
                                </a:solidFill>
                                <a:latin typeface="Cambria Math" panose="02040503050406030204" pitchFamily="18" charset="0"/>
                                <a:ea typeface="+mn-ea"/>
                                <a:cs typeface="+mn-cs"/>
                              </a:rPr>
                            </m:ctrlPr>
                          </m:sSupPr>
                          <m:e>
                            <m:r>
                              <a:rPr lang="en-US" sz="1200" i="1" kern="1200">
                                <a:solidFill>
                                  <a:schemeClr val="tx1"/>
                                </a:solidFill>
                                <a:latin typeface="Cambria Math" panose="02040503050406030204" pitchFamily="18" charset="0"/>
                                <a:ea typeface="+mn-ea"/>
                                <a:cs typeface="+mn-cs"/>
                              </a:rPr>
                              <m:t>𝑁</m:t>
                            </m:r>
                          </m:e>
                          <m:sup>
                            <m:r>
                              <a:rPr lang="en-US" sz="1200" i="0" kern="1200">
                                <a:solidFill>
                                  <a:schemeClr val="tx1"/>
                                </a:solidFill>
                                <a:latin typeface="Cambria Math" panose="02040503050406030204" pitchFamily="18" charset="0"/>
                                <a:ea typeface="+mn-ea"/>
                                <a:cs typeface="+mn-cs"/>
                              </a:rPr>
                              <m:t>2</m:t>
                            </m:r>
                          </m:sup>
                        </m:sSup>
                      </m:e>
                    </m:d>
                  </m:oMath>
                </a14:m>
                <a:r>
                  <a:rPr lang="en-US" sz="1200" kern="1200" dirty="0">
                    <a:solidFill>
                      <a:schemeClr val="tx1"/>
                    </a:solidFill>
                    <a:effectLst/>
                    <a:latin typeface="+mn-lt"/>
                    <a:ea typeface="+mn-ea"/>
                    <a:cs typeface="+mn-cs"/>
                  </a:rPr>
                  <a:t>) and degraded performance over distance, effectively forgetting early tokens and failing to resolve long-range interactions. </a:t>
                </a:r>
              </a:p>
              <a:p>
                <a:r>
                  <a:rPr lang="en-US" sz="1200" kern="1200" dirty="0">
                    <a:solidFill>
                      <a:schemeClr val="tx1"/>
                    </a:solidFill>
                    <a:effectLst/>
                    <a:latin typeface="+mn-lt"/>
                    <a:ea typeface="+mn-ea"/>
                    <a:cs typeface="+mn-cs"/>
                  </a:rPr>
                  <a:t>To solve this, our team developed the </a:t>
                </a:r>
                <a:r>
                  <a:rPr lang="en-US" sz="1200" b="1" kern="1200" dirty="0">
                    <a:solidFill>
                      <a:schemeClr val="tx1"/>
                    </a:solidFill>
                    <a:effectLst/>
                    <a:latin typeface="+mn-lt"/>
                    <a:ea typeface="+mn-ea"/>
                    <a:cs typeface="+mn-cs"/>
                  </a:rPr>
                  <a:t>Hyena Operator</a:t>
                </a:r>
                <a:r>
                  <a:rPr lang="en-US" sz="1200" kern="1200" dirty="0">
                    <a:solidFill>
                      <a:schemeClr val="tx1"/>
                    </a:solidFill>
                    <a:effectLst/>
                    <a:latin typeface="+mn-lt"/>
                    <a:ea typeface="+mn-ea"/>
                    <a:cs typeface="+mn-cs"/>
                  </a:rPr>
                  <a:t>—replacing quadratic attention with sub-quadratic long convolutions. This enabled us to scale context windows from a meager 1K–2K tokens all the way past </a:t>
                </a:r>
                <a:r>
                  <a:rPr lang="en-US" sz="1200" b="1" kern="1200" dirty="0">
                    <a:solidFill>
                      <a:schemeClr val="tx1"/>
                    </a:solidFill>
                    <a:effectLst/>
                    <a:latin typeface="+mn-lt"/>
                    <a:ea typeface="+mn-ea"/>
                    <a:cs typeface="+mn-cs"/>
                  </a:rPr>
                  <a:t>2 Million+ tokens</a:t>
                </a:r>
                <a:r>
                  <a:rPr lang="en-US" sz="1200" kern="1200" dirty="0">
                    <a:solidFill>
                      <a:schemeClr val="tx1"/>
                    </a:solidFill>
                    <a:effectLst/>
                    <a:latin typeface="+mn-lt"/>
                    <a:ea typeface="+mn-ea"/>
                    <a:cs typeface="+mn-cs"/>
                  </a:rPr>
                  <a:t> with unprecedented compute efficiency. This breakthrough allowed genomic AI to move from reading short sequence fragments to analyzing entire gene networks and organism-scale DNA grammar in a single forward pass.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applying Large Language Models to genomics, the biggest technical hurdle isn't vocabulary—DNA only has four primary characters (A, C, G, T)—it is </a:t>
                </a:r>
                <a:r>
                  <a:rPr lang="en-US" sz="1200" b="1" kern="1200" dirty="0">
                    <a:solidFill>
                      <a:schemeClr val="tx1"/>
                    </a:solidFill>
                    <a:effectLst/>
                    <a:latin typeface="+mn-lt"/>
                    <a:ea typeface="+mn-ea"/>
                    <a:cs typeface="+mn-cs"/>
                  </a:rPr>
                  <a:t>context length</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natural language, a few thousand tokens are often enough to capture the meaning of a paragraph or document. But DNA operates on a completely different spatial scale. A standard human transcript might be 3,000 base pairs, an entire bacteriophage genome around 6,000 base pairs, while regulatory elements in humans can interact across hundreds of thousands or millions of base pairs. </a:t>
                </a:r>
              </a:p>
              <a:p>
                <a:r>
                  <a:rPr lang="en-US" sz="1200" kern="1200" dirty="0">
                    <a:solidFill>
                      <a:schemeClr val="tx1"/>
                    </a:solidFill>
                    <a:effectLst/>
                    <a:latin typeface="+mn-lt"/>
                    <a:ea typeface="+mn-ea"/>
                    <a:cs typeface="+mn-cs"/>
                  </a:rPr>
                  <a:t>Early genomic models suffered severely from </a:t>
                </a:r>
                <a:r>
                  <a:rPr lang="en-US" sz="1200" b="1" kern="1200" dirty="0">
                    <a:solidFill>
                      <a:schemeClr val="tx1"/>
                    </a:solidFill>
                    <a:effectLst/>
                    <a:latin typeface="+mn-lt"/>
                    <a:ea typeface="+mn-ea"/>
                    <a:cs typeface="+mn-cs"/>
                  </a:rPr>
                  <a:t>Context Rot</a:t>
                </a:r>
                <a:r>
                  <a:rPr lang="en-US" sz="1200" kern="1200" dirty="0">
                    <a:solidFill>
                      <a:schemeClr val="tx1"/>
                    </a:solidFill>
                    <a:effectLst/>
                    <a:latin typeface="+mn-lt"/>
                    <a:ea typeface="+mn-ea"/>
                    <a:cs typeface="+mn-cs"/>
                  </a:rPr>
                  <a:t>. As sequence inputs grew longer, standard self-attention mechanisms in Transformers experienced quadratic memory scaling (</a:t>
                </a:r>
                <a:r>
                  <a:rPr lang="en-US" sz="1200" i="0" kern="1200">
                    <a:solidFill>
                      <a:schemeClr val="tx1"/>
                    </a:solidFill>
                    <a:latin typeface="+mn-lt"/>
                    <a:ea typeface="+mn-ea"/>
                    <a:cs typeface="+mn-cs"/>
                  </a:rPr>
                  <a:t>𝑂(𝑁^2 )</a:t>
                </a:r>
                <a:r>
                  <a:rPr lang="en-US" sz="1200" kern="1200" dirty="0">
                    <a:solidFill>
                      <a:schemeClr val="tx1"/>
                    </a:solidFill>
                    <a:effectLst/>
                    <a:latin typeface="+mn-lt"/>
                    <a:ea typeface="+mn-ea"/>
                    <a:cs typeface="+mn-cs"/>
                  </a:rPr>
                  <a:t>) and degraded performance over distance, effectively forgetting early tokens and failing to resolve long-range interactions. </a:t>
                </a:r>
              </a:p>
              <a:p>
                <a:r>
                  <a:rPr lang="en-US" sz="1200" kern="1200" dirty="0">
                    <a:solidFill>
                      <a:schemeClr val="tx1"/>
                    </a:solidFill>
                    <a:effectLst/>
                    <a:latin typeface="+mn-lt"/>
                    <a:ea typeface="+mn-ea"/>
                    <a:cs typeface="+mn-cs"/>
                  </a:rPr>
                  <a:t>To solve this, our team developed the </a:t>
                </a:r>
                <a:r>
                  <a:rPr lang="en-US" sz="1200" b="1" kern="1200" dirty="0">
                    <a:solidFill>
                      <a:schemeClr val="tx1"/>
                    </a:solidFill>
                    <a:effectLst/>
                    <a:latin typeface="+mn-lt"/>
                    <a:ea typeface="+mn-ea"/>
                    <a:cs typeface="+mn-cs"/>
                  </a:rPr>
                  <a:t>Hyena Operator</a:t>
                </a:r>
                <a:r>
                  <a:rPr lang="en-US" sz="1200" kern="1200" dirty="0">
                    <a:solidFill>
                      <a:schemeClr val="tx1"/>
                    </a:solidFill>
                    <a:effectLst/>
                    <a:latin typeface="+mn-lt"/>
                    <a:ea typeface="+mn-ea"/>
                    <a:cs typeface="+mn-cs"/>
                  </a:rPr>
                  <a:t>—replacing quadratic attention with sub-quadratic long convolutions. This enabled us to scale context windows from a meager 1K–2K tokens all the way past </a:t>
                </a:r>
                <a:r>
                  <a:rPr lang="en-US" sz="1200" b="1" kern="1200" dirty="0">
                    <a:solidFill>
                      <a:schemeClr val="tx1"/>
                    </a:solidFill>
                    <a:effectLst/>
                    <a:latin typeface="+mn-lt"/>
                    <a:ea typeface="+mn-ea"/>
                    <a:cs typeface="+mn-cs"/>
                  </a:rPr>
                  <a:t>2 Million+ tokens</a:t>
                </a:r>
                <a:r>
                  <a:rPr lang="en-US" sz="1200" kern="1200" dirty="0">
                    <a:solidFill>
                      <a:schemeClr val="tx1"/>
                    </a:solidFill>
                    <a:effectLst/>
                    <a:latin typeface="+mn-lt"/>
                    <a:ea typeface="+mn-ea"/>
                    <a:cs typeface="+mn-cs"/>
                  </a:rPr>
                  <a:t> with unprecedented compute efficiency. This breakthrough allowed genomic AI to move from reading short sequence fragments to analyzing entire gene networks and organism-scale DNA grammar in a single forward pass. </a:t>
                </a:r>
              </a:p>
              <a:p>
                <a:endParaRPr lang="en-US" dirty="0"/>
              </a:p>
            </p:txBody>
          </p:sp>
        </mc:Fallback>
      </mc:AlternateContent>
      <p:sp>
        <p:nvSpPr>
          <p:cNvPr id="4" name="Slide Number Placeholder 3"/>
          <p:cNvSpPr>
            <a:spLocks noGrp="1"/>
          </p:cNvSpPr>
          <p:nvPr>
            <p:ph type="sldNum" sz="quarter" idx="5"/>
          </p:nvPr>
        </p:nvSpPr>
        <p:spPr/>
        <p:txBody>
          <a:bodyPr/>
          <a:lstStyle/>
          <a:p>
            <a:fld id="{25DFF347-86A8-4434-A075-FB3C493BEC4E}" type="slidenum">
              <a:rPr lang="en-US" smtClean="0"/>
              <a:t>3</a:t>
            </a:fld>
            <a:endParaRPr lang="en-US"/>
          </a:p>
        </p:txBody>
      </p:sp>
    </p:spTree>
    <p:extLst>
      <p:ext uri="{BB962C8B-B14F-4D97-AF65-F5344CB8AC3E}">
        <p14:creationId xmlns:p14="http://schemas.microsoft.com/office/powerpoint/2010/main" val="2786920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walk through our technical evolution across three major model generations. </a:t>
            </a:r>
          </a:p>
          <a:p>
            <a:r>
              <a:rPr lang="en-US" sz="1200" kern="1200" dirty="0">
                <a:solidFill>
                  <a:schemeClr val="tx1"/>
                </a:solidFill>
                <a:effectLst/>
                <a:latin typeface="+mn-lt"/>
                <a:ea typeface="+mn-ea"/>
                <a:cs typeface="+mn-cs"/>
              </a:rPr>
              <a:t>First came </a:t>
            </a:r>
            <a:r>
              <a:rPr lang="en-US" sz="1200" b="1" kern="1200" dirty="0">
                <a:solidFill>
                  <a:schemeClr val="tx1"/>
                </a:solidFill>
                <a:effectLst/>
                <a:latin typeface="+mn-lt"/>
                <a:ea typeface="+mn-ea"/>
                <a:cs typeface="+mn-cs"/>
              </a:rPr>
              <a:t>Hyena DNA</a:t>
            </a:r>
            <a:r>
              <a:rPr lang="en-US" sz="1200" kern="1200" dirty="0">
                <a:solidFill>
                  <a:schemeClr val="tx1"/>
                </a:solidFill>
                <a:effectLst/>
                <a:latin typeface="+mn-lt"/>
                <a:ea typeface="+mn-ea"/>
                <a:cs typeface="+mn-cs"/>
              </a:rPr>
              <a:t>. Its primary focus was single-modality (DNA only) context scaling. It was a reader and predictor model, demonstrating for the first time that a 1-million-token context window could capture long-range regulatory patterns without attention degradation. </a:t>
            </a:r>
          </a:p>
          <a:p>
            <a:r>
              <a:rPr lang="en-US" sz="1200" kern="1200" dirty="0">
                <a:solidFill>
                  <a:schemeClr val="tx1"/>
                </a:solidFill>
                <a:effectLst/>
                <a:latin typeface="+mn-lt"/>
                <a:ea typeface="+mn-ea"/>
                <a:cs typeface="+mn-cs"/>
              </a:rPr>
              <a:t>Next was </a:t>
            </a:r>
            <a:r>
              <a:rPr lang="en-US" sz="1200" b="1" kern="1200" dirty="0">
                <a:solidFill>
                  <a:schemeClr val="tx1"/>
                </a:solidFill>
                <a:effectLst/>
                <a:latin typeface="+mn-lt"/>
                <a:ea typeface="+mn-ea"/>
                <a:cs typeface="+mn-cs"/>
              </a:rPr>
              <a:t>EVO and EVO 2</a:t>
            </a:r>
            <a:r>
              <a:rPr lang="en-US" sz="1200" kern="1200" dirty="0">
                <a:solidFill>
                  <a:schemeClr val="tx1"/>
                </a:solidFill>
                <a:effectLst/>
                <a:latin typeface="+mn-lt"/>
                <a:ea typeface="+mn-ea"/>
                <a:cs typeface="+mn-cs"/>
              </a:rPr>
              <a:t>, which truly kicked off the era of </a:t>
            </a:r>
            <a:r>
              <a:rPr lang="en-US" sz="1200" i="1" kern="1200" dirty="0">
                <a:solidFill>
                  <a:schemeClr val="tx1"/>
                </a:solidFill>
                <a:effectLst/>
                <a:latin typeface="+mn-lt"/>
                <a:ea typeface="+mn-ea"/>
                <a:cs typeface="+mn-cs"/>
              </a:rPr>
              <a:t>Generative Genomics</a:t>
            </a:r>
            <a:r>
              <a:rPr lang="en-US" sz="1200" kern="1200" dirty="0">
                <a:solidFill>
                  <a:schemeClr val="tx1"/>
                </a:solidFill>
                <a:effectLst/>
                <a:latin typeface="+mn-lt"/>
                <a:ea typeface="+mn-ea"/>
                <a:cs typeface="+mn-cs"/>
              </a:rPr>
              <a:t>. Instead of just reading DNA, EVO was trained autoregressively to write DNA. Because DNA is the master template from which RNA and proteins are translated, training at the DNA level allowed EVO to operate multi-modally. EVO made headlines by co-designing multi-component CRISPR-Cas systems—complexes containing both protein enzymes and RNA guides—from a single foundation model. Even more dramatically, scientists used EVO to generate a functional biological genome (a bacteriophage virus) from scratch—a feat impossible using conventional bioengineering. </a:t>
            </a:r>
          </a:p>
          <a:p>
            <a:r>
              <a:rPr lang="en-US" sz="1200" kern="1200" dirty="0">
                <a:solidFill>
                  <a:schemeClr val="tx1"/>
                </a:solidFill>
                <a:effectLst/>
                <a:latin typeface="+mn-lt"/>
                <a:ea typeface="+mn-ea"/>
                <a:cs typeface="+mn-cs"/>
              </a:rPr>
              <a:t>Now, we introduce </a:t>
            </a:r>
            <a:r>
              <a:rPr lang="en-US" sz="1200" b="1" kern="1200" dirty="0">
                <a:solidFill>
                  <a:schemeClr val="tx1"/>
                </a:solidFill>
                <a:effectLst/>
                <a:latin typeface="+mn-lt"/>
                <a:ea typeface="+mn-ea"/>
                <a:cs typeface="+mn-cs"/>
              </a:rPr>
              <a:t>Omni</a:t>
            </a:r>
            <a:r>
              <a:rPr lang="en-US" sz="1200" kern="1200" dirty="0">
                <a:solidFill>
                  <a:schemeClr val="tx1"/>
                </a:solidFill>
                <a:effectLst/>
                <a:latin typeface="+mn-lt"/>
                <a:ea typeface="+mn-ea"/>
                <a:cs typeface="+mn-cs"/>
              </a:rPr>
              <a:t>. Omni represents the leap from generation to </a:t>
            </a:r>
            <a:r>
              <a:rPr lang="en-US" sz="1200" b="1" kern="1200" dirty="0">
                <a:solidFill>
                  <a:schemeClr val="tx1"/>
                </a:solidFill>
                <a:effectLst/>
                <a:latin typeface="+mn-lt"/>
                <a:ea typeface="+mn-ea"/>
                <a:cs typeface="+mn-cs"/>
              </a:rPr>
              <a:t>aligned multi-modal biological reasoning</a:t>
            </a:r>
            <a:r>
              <a:rPr lang="en-US" sz="1200" kern="1200" dirty="0">
                <a:solidFill>
                  <a:schemeClr val="tx1"/>
                </a:solidFill>
                <a:effectLst/>
                <a:latin typeface="+mn-lt"/>
                <a:ea typeface="+mn-ea"/>
                <a:cs typeface="+mn-cs"/>
              </a:rPr>
              <a:t>. It fuses biological signals, mid/post-training alignment, and chain-of-thought capabilities, pushing state-of-the-art performance in human disease prediction, especially within those critical non-coding regions.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4</a:t>
            </a:fld>
            <a:endParaRPr lang="en-US"/>
          </a:p>
        </p:txBody>
      </p:sp>
    </p:spTree>
    <p:extLst>
      <p:ext uri="{BB962C8B-B14F-4D97-AF65-F5344CB8AC3E}">
        <p14:creationId xmlns:p14="http://schemas.microsoft.com/office/powerpoint/2010/main" val="2139752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recurring debate in computational biology has been: </a:t>
            </a:r>
            <a:r>
              <a:rPr lang="en-US" sz="1200" i="1" kern="1200" dirty="0">
                <a:solidFill>
                  <a:schemeClr val="tx1"/>
                </a:solidFill>
                <a:effectLst/>
                <a:latin typeface="+mn-lt"/>
                <a:ea typeface="+mn-ea"/>
                <a:cs typeface="+mn-cs"/>
              </a:rPr>
              <a:t>Why use a massive, generalist Foundation Model when small, hyper-specialized domain models exist?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Until recently, specialist models often outperformed generalist biological LLMs on specific human benchmark tasks. Consider </a:t>
            </a:r>
            <a:r>
              <a:rPr lang="en-US" sz="1200" b="1" kern="1200" dirty="0">
                <a:solidFill>
                  <a:schemeClr val="tx1"/>
                </a:solidFill>
                <a:effectLst/>
                <a:latin typeface="+mn-lt"/>
                <a:ea typeface="+mn-ea"/>
                <a:cs typeface="+mn-cs"/>
              </a:rPr>
              <a:t>CADD</a:t>
            </a:r>
            <a:r>
              <a:rPr lang="en-US" sz="1200" kern="1200" dirty="0">
                <a:solidFill>
                  <a:schemeClr val="tx1"/>
                </a:solidFill>
                <a:effectLst/>
                <a:latin typeface="+mn-lt"/>
                <a:ea typeface="+mn-ea"/>
                <a:cs typeface="+mn-cs"/>
              </a:rPr>
              <a:t> (Combined Annotation Dependent Depletion), which has long been the gold standard for variant effect prediction. CADD achieves its performance by using an ensemble approach—throwing the kitchen sink at the problem by combining Support Vector Machines, statistical tools, and smaller supervised networks. </a:t>
            </a:r>
          </a:p>
          <a:p>
            <a:r>
              <a:rPr lang="en-US" sz="1200" kern="1200" dirty="0">
                <a:solidFill>
                  <a:schemeClr val="tx1"/>
                </a:solidFill>
                <a:effectLst/>
                <a:latin typeface="+mn-lt"/>
                <a:ea typeface="+mn-ea"/>
                <a:cs typeface="+mn-cs"/>
              </a:rPr>
              <a:t>Omni changes this paradigm. The core insight behind Omni is that pre-training on billions of years of raw evolutionary sequences builds an inherent, probabilistic understanding of structural and functional constraints. When a mutation occurs in a functional DNA region, the model assigns a low probability to that token relative to the wild-type. This probability drop acts as a natural metric for functional disruption or pathogenicity. </a:t>
            </a:r>
          </a:p>
          <a:p>
            <a:r>
              <a:rPr lang="en-US" sz="1200" kern="1200" dirty="0">
                <a:solidFill>
                  <a:schemeClr val="tx1"/>
                </a:solidFill>
                <a:effectLst/>
                <a:latin typeface="+mn-lt"/>
                <a:ea typeface="+mn-ea"/>
                <a:cs typeface="+mn-cs"/>
              </a:rPr>
              <a:t>By applying structured mid-training and alignment, Omni outperforms both previous genomic foundation models and complex supervised ensembles like CADD across a broad spectrum of human variant benchmarks without requiring task-specific fine-tuning heads.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5</a:t>
            </a:fld>
            <a:endParaRPr lang="en-US"/>
          </a:p>
        </p:txBody>
      </p:sp>
    </p:spTree>
    <p:extLst>
      <p:ext uri="{BB962C8B-B14F-4D97-AF65-F5344CB8AC3E}">
        <p14:creationId xmlns:p14="http://schemas.microsoft.com/office/powerpoint/2010/main" val="3070364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empirical data. On standard clinical benchmarks—such as </a:t>
            </a:r>
            <a:r>
              <a:rPr lang="en-US" sz="1200" kern="1200" dirty="0" err="1">
                <a:solidFill>
                  <a:schemeClr val="tx1"/>
                </a:solidFill>
                <a:effectLst/>
                <a:latin typeface="+mn-lt"/>
                <a:ea typeface="+mn-ea"/>
                <a:cs typeface="+mn-cs"/>
              </a:rPr>
              <a:t>ClinVar</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TraitGym</a:t>
            </a:r>
            <a:r>
              <a:rPr lang="en-US" sz="1200" kern="1200" dirty="0">
                <a:solidFill>
                  <a:schemeClr val="tx1"/>
                </a:solidFill>
                <a:effectLst/>
                <a:latin typeface="+mn-lt"/>
                <a:ea typeface="+mn-ea"/>
                <a:cs typeface="+mn-cs"/>
              </a:rPr>
              <a:t>—which evaluate a model's ability to distinguish pathogenic disease-causing variants from benign mutations, Omni establishes a new state-of-the-art. </a:t>
            </a:r>
          </a:p>
          <a:p>
            <a:r>
              <a:rPr lang="en-US" sz="1200" kern="1200" dirty="0">
                <a:solidFill>
                  <a:schemeClr val="tx1"/>
                </a:solidFill>
                <a:effectLst/>
                <a:latin typeface="+mn-lt"/>
                <a:ea typeface="+mn-ea"/>
                <a:cs typeface="+mn-cs"/>
              </a:rPr>
              <a:t>Earlier zero-shot models like EVO 2 demonstrated impressive breadth across microbial biology but lagged on human genetics due to the extreme noise and complexity of the human genome. Supervised models like Borzoi predict direct functional tracks (like chromatin accessibility) using annotated data, but they are limited to the specific tasks they were explicitly trained on. </a:t>
            </a:r>
          </a:p>
          <a:p>
            <a:r>
              <a:rPr lang="en-US" sz="1200" kern="1200" dirty="0">
                <a:solidFill>
                  <a:schemeClr val="tx1"/>
                </a:solidFill>
                <a:effectLst/>
                <a:latin typeface="+mn-lt"/>
                <a:ea typeface="+mn-ea"/>
                <a:cs typeface="+mn-cs"/>
              </a:rPr>
              <a:t>Omni bridges these worlds. By combining unsupervised likelihood scoring with structured prompt-based mid-training, Omni matches or beats heavily supervised ensemble baselines. Crucially, our team implemented rigorous bioinformatics de-duplication and data-cleaning pipelines to prevent data leakage between training corpora and clinical benchmarks, ensuring that Omni’s superior performance reflects genuine biological generalization rather than memorization.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6</a:t>
            </a:fld>
            <a:endParaRPr lang="en-US"/>
          </a:p>
        </p:txBody>
      </p:sp>
    </p:spTree>
    <p:extLst>
      <p:ext uri="{BB962C8B-B14F-4D97-AF65-F5344CB8AC3E}">
        <p14:creationId xmlns:p14="http://schemas.microsoft.com/office/powerpoint/2010/main" val="790444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does this benchmark performance mean in practice for real-world medicine? </a:t>
            </a:r>
          </a:p>
          <a:p>
            <a:r>
              <a:rPr lang="en-US" sz="1200" kern="1200" dirty="0">
                <a:solidFill>
                  <a:schemeClr val="tx1"/>
                </a:solidFill>
                <a:effectLst/>
                <a:latin typeface="+mn-lt"/>
                <a:ea typeface="+mn-ea"/>
                <a:cs typeface="+mn-cs"/>
              </a:rPr>
              <a:t>Every day, hospital systems, pediatric geneticists, and clinical labs run whole-genome sequencing on patients with severe, unexplained rare diseases. In a massive number of cases, doctors identify hundreds of mutations but are forced to categorize them as </a:t>
            </a:r>
            <a:r>
              <a:rPr lang="en-US" sz="1200" b="1" kern="1200" dirty="0">
                <a:solidFill>
                  <a:schemeClr val="tx1"/>
                </a:solidFill>
                <a:effectLst/>
                <a:latin typeface="+mn-lt"/>
                <a:ea typeface="+mn-ea"/>
                <a:cs typeface="+mn-cs"/>
              </a:rPr>
              <a:t>Variants of Unknown Significance (VUS)</a:t>
            </a:r>
            <a:r>
              <a:rPr lang="en-US" sz="1200" kern="1200" dirty="0">
                <a:solidFill>
                  <a:schemeClr val="tx1"/>
                </a:solidFill>
                <a:effectLst/>
                <a:latin typeface="+mn-lt"/>
                <a:ea typeface="+mn-ea"/>
                <a:cs typeface="+mn-cs"/>
              </a:rPr>
              <a:t>. They simply don't know which mutation is driving the patient's symptoms because the variant sits inside a non-coding regulatory region. </a:t>
            </a:r>
          </a:p>
          <a:p>
            <a:r>
              <a:rPr lang="en-US" sz="1200" kern="1200" dirty="0">
                <a:solidFill>
                  <a:schemeClr val="tx1"/>
                </a:solidFill>
                <a:effectLst/>
                <a:latin typeface="+mn-lt"/>
                <a:ea typeface="+mn-ea"/>
                <a:cs typeface="+mn-cs"/>
              </a:rPr>
              <a:t>Because Omni excels at interpreting non-coding DNA grammar and long-range regulatory logic, it provides clinicians with high-confidence probability scores for VUS candidates. By pinpointing causal regulatory variants, Omni helps bridge the gap between raw sequencing data and actionable clinical diagnosis, offering answers to families who have spent years on diagnostic odysseys.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7</a:t>
            </a:fld>
            <a:endParaRPr lang="en-US"/>
          </a:p>
        </p:txBody>
      </p:sp>
    </p:spTree>
    <p:extLst>
      <p:ext uri="{BB962C8B-B14F-4D97-AF65-F5344CB8AC3E}">
        <p14:creationId xmlns:p14="http://schemas.microsoft.com/office/powerpoint/2010/main" val="3572376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natural language AI, </a:t>
            </a:r>
            <a:r>
              <a:rPr lang="en-US" sz="1200" b="1" kern="1200" dirty="0">
                <a:solidFill>
                  <a:schemeClr val="tx1"/>
                </a:solidFill>
                <a:effectLst/>
                <a:latin typeface="+mn-lt"/>
                <a:ea typeface="+mn-ea"/>
                <a:cs typeface="+mn-cs"/>
              </a:rPr>
              <a:t>Chain-of-Thought (</a:t>
            </a:r>
            <a:r>
              <a:rPr lang="en-US" sz="1200" b="1" kern="1200" dirty="0" err="1">
                <a:solidFill>
                  <a:schemeClr val="tx1"/>
                </a:solidFill>
                <a:effectLst/>
                <a:latin typeface="+mn-lt"/>
                <a:ea typeface="+mn-ea"/>
                <a:cs typeface="+mn-cs"/>
              </a:rPr>
              <a:t>CoT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prompting revolutionized reasoning by forcing the model to show its work step-by-step before arriving at an answer. But what does Chain-of-Thought look like in genomics, where there are no natural English intermediate words? </a:t>
            </a:r>
          </a:p>
          <a:p>
            <a:r>
              <a:rPr lang="en-US" sz="1200" kern="1200" dirty="0">
                <a:solidFill>
                  <a:schemeClr val="tx1"/>
                </a:solidFill>
                <a:effectLst/>
                <a:latin typeface="+mn-lt"/>
                <a:ea typeface="+mn-ea"/>
                <a:cs typeface="+mn-cs"/>
              </a:rPr>
              <a:t>We developed a novel paradigm for biological </a:t>
            </a:r>
            <a:r>
              <a:rPr lang="en-US" sz="1200" kern="1200" dirty="0" err="1">
                <a:solidFill>
                  <a:schemeClr val="tx1"/>
                </a:solidFill>
                <a:effectLst/>
                <a:latin typeface="+mn-lt"/>
                <a:ea typeface="+mn-ea"/>
                <a:cs typeface="+mn-cs"/>
              </a:rPr>
              <a:t>CoT</a:t>
            </a:r>
            <a:r>
              <a:rPr lang="en-US" sz="1200" kern="1200" dirty="0">
                <a:solidFill>
                  <a:schemeClr val="tx1"/>
                </a:solidFill>
                <a:effectLst/>
                <a:latin typeface="+mn-lt"/>
                <a:ea typeface="+mn-ea"/>
                <a:cs typeface="+mn-cs"/>
              </a:rPr>
              <a:t>. Instead of text tokens, we format intermediate reasoning steps as </a:t>
            </a:r>
            <a:r>
              <a:rPr lang="en-US" sz="1200" b="1" kern="1200" dirty="0">
                <a:solidFill>
                  <a:schemeClr val="tx1"/>
                </a:solidFill>
                <a:effectLst/>
                <a:latin typeface="+mn-lt"/>
                <a:ea typeface="+mn-ea"/>
                <a:cs typeface="+mn-cs"/>
              </a:rPr>
              <a:t>trajectories of progressively improving biological sequences paired with fitness scores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 benchmark experiment using RNA aptamers—short RNA sequences engineered to bind target molecules—we presented Omni with a prompt containing sequences ordered from low binding affinity to moderate affinity. We then asked Omni to continue the generation sequence. </a:t>
            </a:r>
          </a:p>
          <a:p>
            <a:r>
              <a:rPr lang="en-US" sz="1200" kern="1200" dirty="0">
                <a:solidFill>
                  <a:schemeClr val="tx1"/>
                </a:solidFill>
                <a:effectLst/>
                <a:latin typeface="+mn-lt"/>
                <a:ea typeface="+mn-ea"/>
                <a:cs typeface="+mn-cs"/>
              </a:rPr>
              <a:t>Rather than generating at random, Omni learned the trajectory curve and generated novel RNA aptamers with predicted binding scores that exceeded the best samples in the prompt. Essentially, Omni performed </a:t>
            </a:r>
            <a:r>
              <a:rPr lang="en-US" sz="1200" b="1" kern="1200" dirty="0">
                <a:solidFill>
                  <a:schemeClr val="tx1"/>
                </a:solidFill>
                <a:effectLst/>
                <a:latin typeface="+mn-lt"/>
                <a:ea typeface="+mn-ea"/>
                <a:cs typeface="+mn-cs"/>
              </a:rPr>
              <a:t>in-silico directed evolution</a:t>
            </a:r>
            <a:r>
              <a:rPr lang="en-US" sz="1200" kern="1200" dirty="0">
                <a:solidFill>
                  <a:schemeClr val="tx1"/>
                </a:solidFill>
                <a:effectLst/>
                <a:latin typeface="+mn-lt"/>
                <a:ea typeface="+mn-ea"/>
                <a:cs typeface="+mn-cs"/>
              </a:rPr>
              <a:t> in a single autoregressive step, demonstrating that generative reasoning paradigms can directly optimize biological fitness.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8</a:t>
            </a:fld>
            <a:endParaRPr lang="en-US"/>
          </a:p>
        </p:txBody>
      </p:sp>
    </p:spTree>
    <p:extLst>
      <p:ext uri="{BB962C8B-B14F-4D97-AF65-F5344CB8AC3E}">
        <p14:creationId xmlns:p14="http://schemas.microsoft.com/office/powerpoint/2010/main" val="2270636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flexibility of Biological Chain-of-Thought extends far beyond conventional therapeutics. </a:t>
            </a:r>
          </a:p>
          <a:p>
            <a:r>
              <a:rPr lang="en-US" sz="1200" kern="1200" dirty="0">
                <a:solidFill>
                  <a:schemeClr val="tx1"/>
                </a:solidFill>
                <a:effectLst/>
                <a:latin typeface="+mn-lt"/>
                <a:ea typeface="+mn-ea"/>
                <a:cs typeface="+mn-cs"/>
              </a:rPr>
              <a:t>For example, we are collaborating with national laboratories on industrial and environmental design tasks, such as engineering proteins for </a:t>
            </a:r>
            <a:r>
              <a:rPr lang="en-US" sz="1200" b="1" kern="1200" dirty="0">
                <a:solidFill>
                  <a:schemeClr val="tx1"/>
                </a:solidFill>
                <a:effectLst/>
                <a:latin typeface="+mn-lt"/>
                <a:ea typeface="+mn-ea"/>
                <a:cs typeface="+mn-cs"/>
              </a:rPr>
              <a:t>selective rare-earth mineral extraction</a:t>
            </a:r>
            <a:r>
              <a:rPr lang="en-US" sz="1200" kern="1200" dirty="0">
                <a:solidFill>
                  <a:schemeClr val="tx1"/>
                </a:solidFill>
                <a:effectLst/>
                <a:latin typeface="+mn-lt"/>
                <a:ea typeface="+mn-ea"/>
                <a:cs typeface="+mn-cs"/>
              </a:rPr>
              <a:t>. Mining critical minerals like neodymium or dysprosium requires environmentally toxic chemical separation. Microorganisms, however, possess proteins that can bind specific metals with extreme selectivity. By feeding Omni context sequences from metal-binding operons and prompting it with fitness trajectories, Omni can generate novel, highly selective protein variants to clean up supply chains. </a:t>
            </a:r>
          </a:p>
          <a:p>
            <a:r>
              <a:rPr lang="en-US" sz="1200" kern="1200" dirty="0">
                <a:solidFill>
                  <a:schemeClr val="tx1"/>
                </a:solidFill>
                <a:effectLst/>
                <a:latin typeface="+mn-lt"/>
                <a:ea typeface="+mn-ea"/>
                <a:cs typeface="+mn-cs"/>
              </a:rPr>
              <a:t>Similarly, in medicine, we apply this to counter </a:t>
            </a:r>
            <a:r>
              <a:rPr lang="en-US" sz="1200" b="1" kern="1200" dirty="0">
                <a:solidFill>
                  <a:schemeClr val="tx1"/>
                </a:solidFill>
                <a:effectLst/>
                <a:latin typeface="+mn-lt"/>
                <a:ea typeface="+mn-ea"/>
                <a:cs typeface="+mn-cs"/>
              </a:rPr>
              <a:t>Antimicrobial Resistance (AMR)</a:t>
            </a:r>
            <a:r>
              <a:rPr lang="en-US" sz="1200" kern="1200" dirty="0">
                <a:solidFill>
                  <a:schemeClr val="tx1"/>
                </a:solidFill>
                <a:effectLst/>
                <a:latin typeface="+mn-lt"/>
                <a:ea typeface="+mn-ea"/>
                <a:cs typeface="+mn-cs"/>
              </a:rPr>
              <a:t>. Bacterial superbugs cause over two million deaths globally each year. By generating synthetic bacteriophage (phage) viral components tuned to selectively infect and destroy target antibiotic-resistant bacteria, Omni acts as a platform for personalized antimicrobial design.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9</a:t>
            </a:fld>
            <a:endParaRPr lang="en-US"/>
          </a:p>
        </p:txBody>
      </p:sp>
    </p:spTree>
    <p:extLst>
      <p:ext uri="{BB962C8B-B14F-4D97-AF65-F5344CB8AC3E}">
        <p14:creationId xmlns:p14="http://schemas.microsoft.com/office/powerpoint/2010/main" val="2593865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demonstrate these powerful design capabilities—generating viral genomes, engineering aptamers, and optimizing protein functions—we must confront the biosecurity reality. </a:t>
            </a:r>
          </a:p>
          <a:p>
            <a:r>
              <a:rPr lang="en-US" sz="1200" kern="1200" dirty="0">
                <a:solidFill>
                  <a:schemeClr val="tx1"/>
                </a:solidFill>
                <a:effectLst/>
                <a:latin typeface="+mn-lt"/>
                <a:ea typeface="+mn-ea"/>
                <a:cs typeface="+mn-cs"/>
              </a:rPr>
              <a:t>The fundamental truth of biological AI is that </a:t>
            </a:r>
            <a:r>
              <a:rPr lang="en-US" sz="1200" b="1" kern="1200" dirty="0">
                <a:solidFill>
                  <a:schemeClr val="tx1"/>
                </a:solidFill>
                <a:effectLst/>
                <a:latin typeface="+mn-lt"/>
                <a:ea typeface="+mn-ea"/>
                <a:cs typeface="+mn-cs"/>
              </a:rPr>
              <a:t>generative models and predictive discriminator models share the exact same underlying representations</a:t>
            </a:r>
            <a:r>
              <a:rPr lang="en-US" sz="1200" kern="1200" dirty="0">
                <a:solidFill>
                  <a:schemeClr val="tx1"/>
                </a:solidFill>
                <a:effectLst/>
                <a:latin typeface="+mn-lt"/>
                <a:ea typeface="+mn-ea"/>
                <a:cs typeface="+mn-cs"/>
              </a:rPr>
              <a:t>. A model that understands how to design novel function into a sequence is mathematically the same model best equipped to recognize, flag, and neutralize potential pathogenic threats. </a:t>
            </a:r>
          </a:p>
          <a:p>
            <a:r>
              <a:rPr lang="en-US" sz="1200" kern="1200" dirty="0">
                <a:solidFill>
                  <a:schemeClr val="tx1"/>
                </a:solidFill>
                <a:effectLst/>
                <a:latin typeface="+mn-lt"/>
                <a:ea typeface="+mn-ea"/>
                <a:cs typeface="+mn-cs"/>
              </a:rPr>
              <a:t>Many AI labs treat biosecurity as an afterthought, relying on simple text filters at the prompt level. But text filters don't inspect raw DNA sequences or physical DNA synthesis orders. At Radical </a:t>
            </a:r>
            <a:r>
              <a:rPr lang="en-US" sz="1200" kern="1200" dirty="0" err="1">
                <a:solidFill>
                  <a:schemeClr val="tx1"/>
                </a:solidFill>
                <a:effectLst/>
                <a:latin typeface="+mn-lt"/>
                <a:ea typeface="+mn-ea"/>
                <a:cs typeface="+mn-cs"/>
              </a:rPr>
              <a:t>Numerics</a:t>
            </a:r>
            <a:r>
              <a:rPr lang="en-US" sz="1200" kern="1200" dirty="0">
                <a:solidFill>
                  <a:schemeClr val="tx1"/>
                </a:solidFill>
                <a:effectLst/>
                <a:latin typeface="+mn-lt"/>
                <a:ea typeface="+mn-ea"/>
                <a:cs typeface="+mn-cs"/>
              </a:rPr>
              <a:t>, our </a:t>
            </a:r>
            <a:r>
              <a:rPr lang="en-US" sz="1200" b="1" kern="1200" dirty="0">
                <a:solidFill>
                  <a:schemeClr val="tx1"/>
                </a:solidFill>
                <a:effectLst/>
                <a:latin typeface="+mn-lt"/>
                <a:ea typeface="+mn-ea"/>
                <a:cs typeface="+mn-cs"/>
              </a:rPr>
              <a:t>Dual Mandate</a:t>
            </a:r>
            <a:r>
              <a:rPr lang="en-US" sz="1200" kern="1200" dirty="0">
                <a:solidFill>
                  <a:schemeClr val="tx1"/>
                </a:solidFill>
                <a:effectLst/>
                <a:latin typeface="+mn-lt"/>
                <a:ea typeface="+mn-ea"/>
                <a:cs typeface="+mn-cs"/>
              </a:rPr>
              <a:t> dictates that every advance in generative capability must be matched by an equal advance in biodefense and biosecurity screening. We build tools to monitor, attribute, and defend against the very capabilities we enable.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10</a:t>
            </a:fld>
            <a:endParaRPr lang="en-US"/>
          </a:p>
        </p:txBody>
      </p:sp>
    </p:spTree>
    <p:extLst>
      <p:ext uri="{BB962C8B-B14F-4D97-AF65-F5344CB8AC3E}">
        <p14:creationId xmlns:p14="http://schemas.microsoft.com/office/powerpoint/2010/main" val="3584016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biosecurity challenge, we must look at how biodefense operates across four primary pillars: </a:t>
            </a:r>
            <a:r>
              <a:rPr lang="en-US" sz="1200" b="1" kern="1200" dirty="0">
                <a:solidFill>
                  <a:schemeClr val="tx1"/>
                </a:solidFill>
                <a:effectLst/>
                <a:latin typeface="+mn-lt"/>
                <a:ea typeface="+mn-ea"/>
                <a:cs typeface="+mn-cs"/>
              </a:rPr>
              <a:t>Detection, Attribution, Countermeasures, and Deterrence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Historically, biodefense surveillance—such as testing wastewater or airport environmental swabs—relied on exact sequence alignment. Systems took a sample and matched it against a static database of known threat pathogens. </a:t>
            </a:r>
          </a:p>
          <a:p>
            <a:r>
              <a:rPr lang="en-US" sz="1200" kern="1200" dirty="0">
                <a:solidFill>
                  <a:schemeClr val="tx1"/>
                </a:solidFill>
                <a:effectLst/>
                <a:latin typeface="+mn-lt"/>
                <a:ea typeface="+mn-ea"/>
                <a:cs typeface="+mn-cs"/>
              </a:rPr>
              <a:t>However, modern generative AI creates a massive vulnerability: </a:t>
            </a:r>
            <a:r>
              <a:rPr lang="en-US" sz="1200" b="1" kern="1200" dirty="0">
                <a:solidFill>
                  <a:schemeClr val="tx1"/>
                </a:solidFill>
                <a:effectLst/>
                <a:latin typeface="+mn-lt"/>
                <a:ea typeface="+mn-ea"/>
                <a:cs typeface="+mn-cs"/>
              </a:rPr>
              <a:t>Functional Paraphrasing</a:t>
            </a:r>
            <a:r>
              <a:rPr lang="en-US" sz="1200" kern="1200" dirty="0">
                <a:solidFill>
                  <a:schemeClr val="tx1"/>
                </a:solidFill>
                <a:effectLst/>
                <a:latin typeface="+mn-lt"/>
                <a:ea typeface="+mn-ea"/>
                <a:cs typeface="+mn-cs"/>
              </a:rPr>
              <a:t>. Just as an LLM can rephrase an English sentence using totally different vocabulary while preserving its meaning, a genomic model can modify a pathogen’s DNA sequence so that traditional alignment tools fail to recognize it, even while its deadly biological function remains fully intact. </a:t>
            </a:r>
          </a:p>
          <a:p>
            <a:r>
              <a:rPr lang="en-US" sz="1200" kern="1200" dirty="0">
                <a:solidFill>
                  <a:schemeClr val="tx1"/>
                </a:solidFill>
                <a:effectLst/>
                <a:latin typeface="+mn-lt"/>
                <a:ea typeface="+mn-ea"/>
                <a:cs typeface="+mn-cs"/>
              </a:rPr>
              <a:t>To defend against this, modern biosecurity requires AI models that evaluate sequences based on </a:t>
            </a:r>
            <a:r>
              <a:rPr lang="en-US" sz="1200" b="1" kern="1200" dirty="0">
                <a:solidFill>
                  <a:schemeClr val="tx1"/>
                </a:solidFill>
                <a:effectLst/>
                <a:latin typeface="+mn-lt"/>
                <a:ea typeface="+mn-ea"/>
                <a:cs typeface="+mn-cs"/>
              </a:rPr>
              <a:t>functional and structural space rather than strict letter matching</a:t>
            </a:r>
            <a:r>
              <a:rPr lang="en-US" sz="1200" kern="1200" dirty="0">
                <a:solidFill>
                  <a:schemeClr val="tx1"/>
                </a:solidFill>
                <a:effectLst/>
                <a:latin typeface="+mn-lt"/>
                <a:ea typeface="+mn-ea"/>
                <a:cs typeface="+mn-cs"/>
              </a:rPr>
              <a:t>. By deploying biological foundation models into DNA synthesis provider pipelines and environmental monitoring networks, we can detect obfuscated threats, attribute their evolutionary origin, and rapidly generate countermeasure treatments.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11</a:t>
            </a:fld>
            <a:endParaRPr lang="en-US"/>
          </a:p>
        </p:txBody>
      </p:sp>
    </p:spTree>
    <p:extLst>
      <p:ext uri="{BB962C8B-B14F-4D97-AF65-F5344CB8AC3E}">
        <p14:creationId xmlns:p14="http://schemas.microsoft.com/office/powerpoint/2010/main" val="2927561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trust AI models in clinical diagnostics and national security, we cannot treat them as black boxes. We need </a:t>
            </a:r>
            <a:r>
              <a:rPr lang="en-US" sz="1200" b="1" kern="1200" dirty="0">
                <a:solidFill>
                  <a:schemeClr val="tx1"/>
                </a:solidFill>
                <a:effectLst/>
                <a:latin typeface="+mn-lt"/>
                <a:ea typeface="+mn-ea"/>
                <a:cs typeface="+mn-cs"/>
              </a:rPr>
              <a:t>Mechanistic Interpretability (</a:t>
            </a:r>
            <a:r>
              <a:rPr lang="en-US" sz="1200" b="1" kern="1200" dirty="0" err="1">
                <a:solidFill>
                  <a:schemeClr val="tx1"/>
                </a:solidFill>
                <a:effectLst/>
                <a:latin typeface="+mn-lt"/>
                <a:ea typeface="+mn-ea"/>
                <a:cs typeface="+mn-cs"/>
              </a:rPr>
              <a:t>MechInterp</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for biology. </a:t>
            </a:r>
          </a:p>
          <a:p>
            <a:r>
              <a:rPr lang="en-US" sz="1200" kern="1200" dirty="0">
                <a:solidFill>
                  <a:schemeClr val="tx1"/>
                </a:solidFill>
                <a:effectLst/>
                <a:latin typeface="+mn-lt"/>
                <a:ea typeface="+mn-ea"/>
                <a:cs typeface="+mn-cs"/>
              </a:rPr>
              <a:t>By probing Omni’s internal layer activations and embeddings, we can uncover how the model organizes biological knowledge. For example, when inspecting intermediate representations, we see distinct activation clusters corresponding to specific biological features: GC content variations, chromatin accessibility markers, and complex </a:t>
            </a:r>
            <a:r>
              <a:rPr lang="en-US" sz="1200" b="1" kern="1200" dirty="0">
                <a:solidFill>
                  <a:schemeClr val="tx1"/>
                </a:solidFill>
                <a:effectLst/>
                <a:latin typeface="+mn-lt"/>
                <a:ea typeface="+mn-ea"/>
                <a:cs typeface="+mn-cs"/>
              </a:rPr>
              <a:t>Transcription Factor (TF) binding motifs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Transcription factors are proteins that bind to DNA to turn genes on or off. Understanding how Omni's neural network internalizes these TF motifs allows us to extract new biological insights directly from the model's weights. Instead of just using AI to answer questions, we are using interpretability to discover previously unknown biological rules encoded within the genome.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12</a:t>
            </a:fld>
            <a:endParaRPr lang="en-US"/>
          </a:p>
        </p:txBody>
      </p:sp>
    </p:spTree>
    <p:extLst>
      <p:ext uri="{BB962C8B-B14F-4D97-AF65-F5344CB8AC3E}">
        <p14:creationId xmlns:p14="http://schemas.microsoft.com/office/powerpoint/2010/main" val="1881104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Taking interpretability a step further brings us to the concept of </a:t>
            </a:r>
            <a:r>
              <a:rPr lang="en-US" sz="1200" b="1" kern="1200" dirty="0">
                <a:solidFill>
                  <a:schemeClr val="tx1"/>
                </a:solidFill>
                <a:effectLst/>
                <a:latin typeface="+mn-lt"/>
                <a:ea typeface="+mn-ea"/>
                <a:cs typeface="+mn-cs"/>
              </a:rPr>
              <a:t>Mapping the Disease Manifold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a high-dimensional geometric space where every possible genomic sequence occupies a specific point. Healthier, wild-type sequences form dense, stable regions, while pathogenic mutations push sequences out toward specific disease frontiers. </a:t>
            </a:r>
          </a:p>
          <a:p>
            <a:r>
              <a:rPr lang="en-US" sz="1200" kern="1200" dirty="0">
                <a:solidFill>
                  <a:schemeClr val="tx1"/>
                </a:solidFill>
                <a:effectLst/>
                <a:latin typeface="+mn-lt"/>
                <a:ea typeface="+mn-ea"/>
                <a:cs typeface="+mn-cs"/>
              </a:rPr>
              <a:t>By mapping Omni’s embedding space, we can visualize the topological relationships between different diseases. Variants that cause similar physiological disruptions cluster near each other on the manifold, even if they occur on entirely different chromosomes. This global view of disease space allows researchers to discover shared disease mechanisms, identify multi-disease drug targets, and predict how subtle combination mutations might shift a patient's overall health trajectory.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13</a:t>
            </a:fld>
            <a:endParaRPr lang="en-US"/>
          </a:p>
        </p:txBody>
      </p:sp>
    </p:spTree>
    <p:extLst>
      <p:ext uri="{BB962C8B-B14F-4D97-AF65-F5344CB8AC3E}">
        <p14:creationId xmlns:p14="http://schemas.microsoft.com/office/powerpoint/2010/main" val="1287855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is all of this heading? Our ultimate goal at Radical </a:t>
            </a:r>
            <a:r>
              <a:rPr lang="en-US" sz="1200" kern="1200" dirty="0" err="1">
                <a:solidFill>
                  <a:schemeClr val="tx1"/>
                </a:solidFill>
                <a:effectLst/>
                <a:latin typeface="+mn-lt"/>
                <a:ea typeface="+mn-ea"/>
                <a:cs typeface="+mn-cs"/>
              </a:rPr>
              <a:t>Numerics</a:t>
            </a:r>
            <a:r>
              <a:rPr lang="en-US" sz="1200" kern="1200" dirty="0">
                <a:solidFill>
                  <a:schemeClr val="tx1"/>
                </a:solidFill>
                <a:effectLst/>
                <a:latin typeface="+mn-lt"/>
                <a:ea typeface="+mn-ea"/>
                <a:cs typeface="+mn-cs"/>
              </a:rPr>
              <a:t> is </a:t>
            </a:r>
            <a:r>
              <a:rPr lang="en-US" sz="1200" b="1" kern="1200" dirty="0">
                <a:solidFill>
                  <a:schemeClr val="tx1"/>
                </a:solidFill>
                <a:effectLst/>
                <a:latin typeface="+mn-lt"/>
                <a:ea typeface="+mn-ea"/>
                <a:cs typeface="+mn-cs"/>
              </a:rPr>
              <a:t>General Biological Intelligence (GBI)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AI, human-level intelligence requires multi-modal sensing—text, vision, audio, and physical feedback. Biology is no different. DNA is the master blueprint, but a complete living system requires multi-sensor fusion. </a:t>
            </a:r>
          </a:p>
          <a:p>
            <a:r>
              <a:rPr lang="en-US" sz="1200" kern="1200" dirty="0">
                <a:solidFill>
                  <a:schemeClr val="tx1"/>
                </a:solidFill>
                <a:effectLst/>
                <a:latin typeface="+mn-lt"/>
                <a:ea typeface="+mn-ea"/>
                <a:cs typeface="+mn-cs"/>
              </a:rPr>
              <a:t>True biological intelligence cannot rely on DNA alone, nor can it rely solely on single-cell RNA sequencing or protein folding models. GBI requires unifying all biological sensors into a single foundational model: fusing DNA genomics, RNA transcriptomics, epigenomic methylation patterns, ATAC-seq chromatin openness, and cellular proteomics. </a:t>
            </a:r>
          </a:p>
          <a:p>
            <a:r>
              <a:rPr lang="en-US" sz="1200" kern="1200" dirty="0">
                <a:solidFill>
                  <a:schemeClr val="tx1"/>
                </a:solidFill>
                <a:effectLst/>
                <a:latin typeface="+mn-lt"/>
                <a:ea typeface="+mn-ea"/>
                <a:cs typeface="+mn-cs"/>
              </a:rPr>
              <a:t>When you fuse these modalities together across scales—from individual nucleotides to whole cells and organ systems—you move beyond narrow specialized predictors. You create a holistic biological foundation model capable of simulating cellular responses, predicting systemic drug efficacy, and reasoning across the entire tree of life.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14</a:t>
            </a:fld>
            <a:endParaRPr lang="en-US"/>
          </a:p>
        </p:txBody>
      </p:sp>
    </p:spTree>
    <p:extLst>
      <p:ext uri="{BB962C8B-B14F-4D97-AF65-F5344CB8AC3E}">
        <p14:creationId xmlns:p14="http://schemas.microsoft.com/office/powerpoint/2010/main" val="734871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Achieving long-context multimodal intelligence requires deep innovations at the lowest levels of the compute stack. You cannot build frontier biological AI by simply running off-the-shelf Transformer scripts on standard GPU clusters. </a:t>
            </a:r>
          </a:p>
          <a:p>
            <a:r>
              <a:rPr lang="en-US" sz="1200" kern="1200" dirty="0">
                <a:solidFill>
                  <a:schemeClr val="tx1"/>
                </a:solidFill>
                <a:effectLst/>
                <a:latin typeface="+mn-lt"/>
                <a:ea typeface="+mn-ea"/>
                <a:cs typeface="+mn-cs"/>
              </a:rPr>
              <a:t>Our team approaches model building through </a:t>
            </a:r>
            <a:r>
              <a:rPr lang="en-US" sz="1200" b="1" kern="1200" dirty="0">
                <a:solidFill>
                  <a:schemeClr val="tx1"/>
                </a:solidFill>
                <a:effectLst/>
                <a:latin typeface="+mn-lt"/>
                <a:ea typeface="+mn-ea"/>
                <a:cs typeface="+mn-cs"/>
              </a:rPr>
              <a:t>Hardware and Algorithmic Co-Design</a:t>
            </a:r>
            <a:r>
              <a:rPr lang="en-US" sz="1200" kern="1200" dirty="0">
                <a:solidFill>
                  <a:schemeClr val="tx1"/>
                </a:solidFill>
                <a:effectLst/>
                <a:latin typeface="+mn-lt"/>
                <a:ea typeface="+mn-ea"/>
                <a:cs typeface="+mn-cs"/>
              </a:rPr>
              <a:t>. We dive directly into GPU hardware architecture, writing custom CUDA and Triton kernels tailored specifically to sub-quadratic operators like Hyena. </a:t>
            </a:r>
          </a:p>
          <a:p>
            <a:r>
              <a:rPr lang="en-US" sz="1200" kern="1200" dirty="0">
                <a:solidFill>
                  <a:schemeClr val="tx1"/>
                </a:solidFill>
                <a:effectLst/>
                <a:latin typeface="+mn-lt"/>
                <a:ea typeface="+mn-ea"/>
                <a:cs typeface="+mn-cs"/>
              </a:rPr>
              <a:t>DNA sequences do not behave like natural text; they require massive memory throughput and long-sequence parallelization. By optimizing SRAM usage, flash-attention variants, and custom state-space operations on modern GPU architectures, we eliminate compute bottlenecks. This hardware-level efficiency is what allows us to train models over million-token context windows at a fraction of the compute cost that standard attention architectures would demand. </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15</a:t>
            </a:fld>
            <a:endParaRPr lang="en-US"/>
          </a:p>
        </p:txBody>
      </p:sp>
    </p:spTree>
    <p:extLst>
      <p:ext uri="{BB962C8B-B14F-4D97-AF65-F5344CB8AC3E}">
        <p14:creationId xmlns:p14="http://schemas.microsoft.com/office/powerpoint/2010/main" val="3617979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We are at a historic inflection point in the convergence of AI and biology. </a:t>
            </a:r>
          </a:p>
          <a:p>
            <a:r>
              <a:rPr lang="en-US" sz="1200" kern="1200" dirty="0">
                <a:solidFill>
                  <a:schemeClr val="tx1"/>
                </a:solidFill>
                <a:effectLst/>
                <a:latin typeface="+mn-lt"/>
                <a:ea typeface="+mn-ea"/>
                <a:cs typeface="+mn-cs"/>
              </a:rPr>
              <a:t>For a long time, researchers felt they had to make a choice: either work on the bleeding edge of AI technology at consumer software companies, or work on meaningful biological problems using older, second-tier ML tools. Today, that compromise no longer exists. Biology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the frontier of artificial intelligence. </a:t>
            </a:r>
          </a:p>
          <a:p>
            <a:r>
              <a:rPr lang="en-US" sz="1200" kern="1200" dirty="0">
                <a:solidFill>
                  <a:schemeClr val="tx1"/>
                </a:solidFill>
                <a:effectLst/>
                <a:latin typeface="+mn-lt"/>
                <a:ea typeface="+mn-ea"/>
                <a:cs typeface="+mn-cs"/>
              </a:rPr>
              <a:t>By scaling context windows, introducing biological chain-of-thought, and unifying multi-modal cellular data, models like </a:t>
            </a:r>
            <a:r>
              <a:rPr lang="en-US" sz="1200" b="1" kern="1200" dirty="0">
                <a:solidFill>
                  <a:schemeClr val="tx1"/>
                </a:solidFill>
                <a:effectLst/>
                <a:latin typeface="+mn-lt"/>
                <a:ea typeface="+mn-ea"/>
                <a:cs typeface="+mn-cs"/>
              </a:rPr>
              <a:t>Omni</a:t>
            </a:r>
            <a:r>
              <a:rPr lang="en-US" sz="1200" kern="1200" dirty="0">
                <a:solidFill>
                  <a:schemeClr val="tx1"/>
                </a:solidFill>
                <a:effectLst/>
                <a:latin typeface="+mn-lt"/>
                <a:ea typeface="+mn-ea"/>
                <a:cs typeface="+mn-cs"/>
              </a:rPr>
              <a:t> are changing how we diagnose disease, engineer enzymes, and understand life itself. And by holding ourselves to our </a:t>
            </a:r>
            <a:r>
              <a:rPr lang="en-US" sz="1200" b="1" kern="1200" dirty="0">
                <a:solidFill>
                  <a:schemeClr val="tx1"/>
                </a:solidFill>
                <a:effectLst/>
                <a:latin typeface="+mn-lt"/>
                <a:ea typeface="+mn-ea"/>
                <a:cs typeface="+mn-cs"/>
              </a:rPr>
              <a:t>Dual Mandate</a:t>
            </a:r>
            <a:r>
              <a:rPr lang="en-US" sz="1200" kern="1200" dirty="0">
                <a:solidFill>
                  <a:schemeClr val="tx1"/>
                </a:solidFill>
                <a:effectLst/>
                <a:latin typeface="+mn-lt"/>
                <a:ea typeface="+mn-ea"/>
                <a:cs typeface="+mn-cs"/>
              </a:rPr>
              <a:t>, we ensure that as biological AI becomes infinitely more capable, our biodefense and surveillance infrastructure stays one step ahead. </a:t>
            </a:r>
          </a:p>
          <a:p>
            <a:r>
              <a:rPr lang="en-US" sz="1200" kern="1200" dirty="0">
                <a:solidFill>
                  <a:schemeClr val="tx1"/>
                </a:solidFill>
                <a:effectLst/>
                <a:latin typeface="+mn-lt"/>
                <a:ea typeface="+mn-ea"/>
                <a:cs typeface="+mn-cs"/>
              </a:rPr>
              <a:t>Thank you for your time, and I look forward to taking your questions. </a:t>
            </a:r>
          </a:p>
          <a:p>
            <a:endParaRPr lang="en-US" dirty="0"/>
          </a:p>
          <a:p>
            <a:endParaRPr lang="en-US" dirty="0"/>
          </a:p>
          <a:p>
            <a:endParaRPr lang="en-US" dirty="0"/>
          </a:p>
          <a:p>
            <a:endParaRPr lang="en-US" dirty="0"/>
          </a:p>
          <a:p>
            <a:endParaRPr lang="en-US" dirty="0"/>
          </a:p>
          <a:p>
            <a:r>
              <a:rPr lang="en-US" dirty="0"/>
              <a:t>Applying Chain-of-Thought to DNA??? - Eric Nguyen (CEO, Radical </a:t>
            </a:r>
            <a:r>
              <a:rPr lang="en-US" dirty="0" err="1"/>
              <a:t>Numerics</a:t>
            </a:r>
            <a:r>
              <a:rPr lang="en-US" dirty="0"/>
              <a:t>)</a:t>
            </a:r>
          </a:p>
          <a:p>
            <a:r>
              <a:rPr lang="en-US" dirty="0"/>
              <a:t>https://www.youtube.com/watch?v=B7DdNj_VjcU</a:t>
            </a:r>
          </a:p>
          <a:p>
            <a:endParaRPr lang="en-US" dirty="0"/>
          </a:p>
        </p:txBody>
      </p:sp>
      <p:sp>
        <p:nvSpPr>
          <p:cNvPr id="4" name="Slide Number Placeholder 3"/>
          <p:cNvSpPr>
            <a:spLocks noGrp="1"/>
          </p:cNvSpPr>
          <p:nvPr>
            <p:ph type="sldNum" sz="quarter" idx="5"/>
          </p:nvPr>
        </p:nvSpPr>
        <p:spPr/>
        <p:txBody>
          <a:bodyPr/>
          <a:lstStyle/>
          <a:p>
            <a:fld id="{25DFF347-86A8-4434-A075-FB3C493BEC4E}" type="slidenum">
              <a:rPr lang="en-US" smtClean="0"/>
              <a:t>16</a:t>
            </a:fld>
            <a:endParaRPr lang="en-US"/>
          </a:p>
        </p:txBody>
      </p:sp>
    </p:spTree>
    <p:extLst>
      <p:ext uri="{BB962C8B-B14F-4D97-AF65-F5344CB8AC3E}">
        <p14:creationId xmlns:p14="http://schemas.microsoft.com/office/powerpoint/2010/main" val="1616817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90DE4C-1115-95CD-59D6-75E30BF424F9}"/>
              </a:ext>
            </a:extLst>
          </p:cNvPr>
          <p:cNvSpPr>
            <a:spLocks noGrp="1"/>
          </p:cNvSpPr>
          <p:nvPr>
            <p:ph type="dt" sz="half" idx="10"/>
          </p:nvPr>
        </p:nvSpPr>
        <p:spPr/>
        <p:txBody>
          <a:bodyPr/>
          <a:lstStyle/>
          <a:p>
            <a:fld id="{17351A99-D3CF-499A-95CC-A591BD4C3338}" type="datetimeFigureOut">
              <a:rPr lang="en-US" smtClean="0"/>
              <a:t>10/20/2026</a:t>
            </a:fld>
            <a:endParaRPr lang="en-US"/>
          </a:p>
        </p:txBody>
      </p:sp>
      <p:sp>
        <p:nvSpPr>
          <p:cNvPr id="3" name="Footer Placeholder 2">
            <a:extLst>
              <a:ext uri="{FF2B5EF4-FFF2-40B4-BE49-F238E27FC236}">
                <a16:creationId xmlns:a16="http://schemas.microsoft.com/office/drawing/2014/main" id="{CBB650E7-6CBF-712C-025B-5D49197BDB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8C9F1E-2BA7-C8AF-B564-76934AE166A9}"/>
              </a:ext>
            </a:extLst>
          </p:cNvPr>
          <p:cNvSpPr>
            <a:spLocks noGrp="1"/>
          </p:cNvSpPr>
          <p:nvPr>
            <p:ph type="sldNum" sz="quarter" idx="12"/>
          </p:nvPr>
        </p:nvSpPr>
        <p:spPr/>
        <p:txBody>
          <a:bodyPr/>
          <a:lstStyle/>
          <a:p>
            <a:fld id="{1952F597-9654-4F02-BC35-FAD378F7A17A}" type="slidenum">
              <a:rPr lang="en-US" smtClean="0"/>
              <a:t>‹#›</a:t>
            </a:fld>
            <a:endParaRPr lang="en-US"/>
          </a:p>
        </p:txBody>
      </p:sp>
    </p:spTree>
    <p:extLst>
      <p:ext uri="{BB962C8B-B14F-4D97-AF65-F5344CB8AC3E}">
        <p14:creationId xmlns:p14="http://schemas.microsoft.com/office/powerpoint/2010/main" val="139229778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56DA4B-FB3A-3AF2-D055-A0FDD2956B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F38E22-CD41-DB56-69A7-E886D564A3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9D6AEF-662C-8752-4952-589880384F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351A99-D3CF-499A-95CC-A591BD4C3338}" type="datetimeFigureOut">
              <a:rPr lang="en-US" smtClean="0"/>
              <a:t>10/20/2026</a:t>
            </a:fld>
            <a:endParaRPr lang="en-US"/>
          </a:p>
        </p:txBody>
      </p:sp>
      <p:sp>
        <p:nvSpPr>
          <p:cNvPr id="5" name="Footer Placeholder 4">
            <a:extLst>
              <a:ext uri="{FF2B5EF4-FFF2-40B4-BE49-F238E27FC236}">
                <a16:creationId xmlns:a16="http://schemas.microsoft.com/office/drawing/2014/main" id="{281F3111-2B5D-BA7E-A734-68A976BA69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2C06F7-1552-3163-2B51-C59C2DF13B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52F597-9654-4F02-BC35-FAD378F7A17A}" type="slidenum">
              <a:rPr lang="en-US" smtClean="0"/>
              <a:t>‹#›</a:t>
            </a:fld>
            <a:endParaRPr lang="en-US"/>
          </a:p>
        </p:txBody>
      </p:sp>
    </p:spTree>
    <p:extLst>
      <p:ext uri="{BB962C8B-B14F-4D97-AF65-F5344CB8AC3E}">
        <p14:creationId xmlns:p14="http://schemas.microsoft.com/office/powerpoint/2010/main" val="77332099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BCC39D-CD95-36D8-8DBF-55734D31B7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F405E3-7753-08BE-F755-91164EF593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4E6D79-B905-07D6-BF57-00CF79F7E9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FA2AF4-615A-FC24-1377-DC6A5D941E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77E686-1FBB-9326-A61B-E773C857C9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2924BA-1655-896A-20F0-34428F0168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EE1FB5-6AF4-FC79-9E11-BAAAB7FDFE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8B4C14-8566-A55C-C4E3-2F0B62CC54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B2089F-76B7-9379-DAB4-5D8DE870F8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C56E9A-8C0E-9787-AE16-809A554E28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4C3BBB-02CA-ED13-00F7-26E86F06D2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8D8FC6-BB2C-87EA-8690-09A4E5976F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43227E-1F85-E1C5-783C-B332F217CB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E31209-95D9-CFCC-1D25-BBBA2E4810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EEBA1D-B3D0-E9F1-788E-E507AB2F0D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1A0065-4C10-3968-EC4D-00A24309E71F}"/>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166481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2854</Words>
  <Application>Microsoft Office PowerPoint</Application>
  <PresentationFormat>寬螢幕</PresentationFormat>
  <Paragraphs>86</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2026-09-24T13:15:15Z</dcterms:created>
  <dcterms:modified xsi:type="dcterms:W3CDTF">2026-10-20T13:29:52Z</dcterms:modified>
</cp:coreProperties>
</file>