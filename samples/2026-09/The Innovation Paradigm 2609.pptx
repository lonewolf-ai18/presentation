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5D199-78D2-4FCE-8A04-7015CBB059C8}" v="32" dt="2026-09-06T07:20:11.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0" autoAdjust="0"/>
    <p:restoredTop sz="61111"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06T07:20:29.784" v="66" actId="166"/>
      <pc:docMkLst>
        <pc:docMk/>
      </pc:docMkLst>
      <pc:sldChg chg="addSp delSp modSp mod modNotesTx">
        <pc:chgData name="Lai, Wilson" userId="2840974a-0d84-4886-90a9-9a3ed79f3a48" providerId="ADAL" clId="{9F23B798-9E84-4552-BA63-E776E805C424}" dt="2026-09-06T07:20:29.784" v="66" actId="166"/>
        <pc:sldMkLst>
          <pc:docMk/>
          <pc:sldMk cId="0" sldId="257"/>
        </pc:sldMkLst>
        <pc:picChg chg="del">
          <ac:chgData name="Lai, Wilson" userId="2840974a-0d84-4886-90a9-9a3ed79f3a48" providerId="ADAL" clId="{9F23B798-9E84-4552-BA63-E776E805C424}" dt="2026-09-06T01:08:39.924" v="0" actId="21"/>
          <ac:picMkLst>
            <pc:docMk/>
            <pc:sldMk cId="0" sldId="257"/>
            <ac:picMk id="2" creationId="{00000000-0000-0000-0000-000000000000}"/>
          </ac:picMkLst>
        </pc:picChg>
        <pc:picChg chg="add ord">
          <ac:chgData name="Lai, Wilson" userId="2840974a-0d84-4886-90a9-9a3ed79f3a48" providerId="ADAL" clId="{9F23B798-9E84-4552-BA63-E776E805C424}" dt="2026-09-06T07:20:29.784" v="66" actId="166"/>
          <ac:picMkLst>
            <pc:docMk/>
            <pc:sldMk cId="0" sldId="257"/>
            <ac:picMk id="5" creationId="{2D55F4CC-C2E1-21D0-497F-5974712980CB}"/>
          </ac:picMkLst>
        </pc:picChg>
      </pc:sldChg>
      <pc:sldChg chg="addSp delSp mod ord">
        <pc:chgData name="Lai, Wilson" userId="2840974a-0d84-4886-90a9-9a3ed79f3a48" providerId="ADAL" clId="{9F23B798-9E84-4552-BA63-E776E805C424}" dt="2026-09-06T07:13:34.082" v="40"/>
        <pc:sldMkLst>
          <pc:docMk/>
          <pc:sldMk cId="0" sldId="258"/>
        </pc:sldMkLst>
        <pc:picChg chg="del">
          <ac:chgData name="Lai, Wilson" userId="2840974a-0d84-4886-90a9-9a3ed79f3a48" providerId="ADAL" clId="{9F23B798-9E84-4552-BA63-E776E805C424}" dt="2026-09-06T01:08:58.752" v="2" actId="21"/>
          <ac:picMkLst>
            <pc:docMk/>
            <pc:sldMk cId="0" sldId="258"/>
            <ac:picMk id="2" creationId="{00000000-0000-0000-0000-000000000000}"/>
          </ac:picMkLst>
        </pc:picChg>
        <pc:picChg chg="add">
          <ac:chgData name="Lai, Wilson" userId="2840974a-0d84-4886-90a9-9a3ed79f3a48" providerId="ADAL" clId="{9F23B798-9E84-4552-BA63-E776E805C424}" dt="2026-09-06T01:09:06.635" v="3" actId="22"/>
          <ac:picMkLst>
            <pc:docMk/>
            <pc:sldMk cId="0" sldId="258"/>
            <ac:picMk id="4" creationId="{17629AEB-B486-2255-04EE-0C13EFDBC606}"/>
          </ac:picMkLst>
        </pc:picChg>
      </pc:sldChg>
      <pc:sldChg chg="addSp delSp mod">
        <pc:chgData name="Lai, Wilson" userId="2840974a-0d84-4886-90a9-9a3ed79f3a48" providerId="ADAL" clId="{9F23B798-9E84-4552-BA63-E776E805C424}" dt="2026-09-06T01:09:19.146" v="5" actId="22"/>
        <pc:sldMkLst>
          <pc:docMk/>
          <pc:sldMk cId="0" sldId="259"/>
        </pc:sldMkLst>
        <pc:picChg chg="del">
          <ac:chgData name="Lai, Wilson" userId="2840974a-0d84-4886-90a9-9a3ed79f3a48" providerId="ADAL" clId="{9F23B798-9E84-4552-BA63-E776E805C424}" dt="2026-09-06T01:09:11.297" v="4" actId="21"/>
          <ac:picMkLst>
            <pc:docMk/>
            <pc:sldMk cId="0" sldId="259"/>
            <ac:picMk id="2" creationId="{00000000-0000-0000-0000-000000000000}"/>
          </ac:picMkLst>
        </pc:picChg>
        <pc:picChg chg="add">
          <ac:chgData name="Lai, Wilson" userId="2840974a-0d84-4886-90a9-9a3ed79f3a48" providerId="ADAL" clId="{9F23B798-9E84-4552-BA63-E776E805C424}" dt="2026-09-06T01:09:19.146" v="5" actId="22"/>
          <ac:picMkLst>
            <pc:docMk/>
            <pc:sldMk cId="0" sldId="259"/>
            <ac:picMk id="4" creationId="{365C13D8-D6C7-3139-40BE-94C03E7B3F94}"/>
          </ac:picMkLst>
        </pc:picChg>
      </pc:sldChg>
      <pc:sldChg chg="addSp delSp mod">
        <pc:chgData name="Lai, Wilson" userId="2840974a-0d84-4886-90a9-9a3ed79f3a48" providerId="ADAL" clId="{9F23B798-9E84-4552-BA63-E776E805C424}" dt="2026-09-06T01:09:30.766" v="7" actId="22"/>
        <pc:sldMkLst>
          <pc:docMk/>
          <pc:sldMk cId="0" sldId="260"/>
        </pc:sldMkLst>
        <pc:picChg chg="del">
          <ac:chgData name="Lai, Wilson" userId="2840974a-0d84-4886-90a9-9a3ed79f3a48" providerId="ADAL" clId="{9F23B798-9E84-4552-BA63-E776E805C424}" dt="2026-09-06T01:09:22.842" v="6" actId="21"/>
          <ac:picMkLst>
            <pc:docMk/>
            <pc:sldMk cId="0" sldId="260"/>
            <ac:picMk id="2" creationId="{00000000-0000-0000-0000-000000000000}"/>
          </ac:picMkLst>
        </pc:picChg>
        <pc:picChg chg="add">
          <ac:chgData name="Lai, Wilson" userId="2840974a-0d84-4886-90a9-9a3ed79f3a48" providerId="ADAL" clId="{9F23B798-9E84-4552-BA63-E776E805C424}" dt="2026-09-06T01:09:30.766" v="7" actId="22"/>
          <ac:picMkLst>
            <pc:docMk/>
            <pc:sldMk cId="0" sldId="260"/>
            <ac:picMk id="4" creationId="{0A1FFE2B-716E-6FA3-18CC-2F8F54A319DC}"/>
          </ac:picMkLst>
        </pc:picChg>
      </pc:sldChg>
      <pc:sldChg chg="addSp delSp mod modNotesTx">
        <pc:chgData name="Lai, Wilson" userId="2840974a-0d84-4886-90a9-9a3ed79f3a48" providerId="ADAL" clId="{9F23B798-9E84-4552-BA63-E776E805C424}" dt="2026-09-06T07:19:10.226" v="62" actId="12"/>
        <pc:sldMkLst>
          <pc:docMk/>
          <pc:sldMk cId="0" sldId="261"/>
        </pc:sldMkLst>
        <pc:picChg chg="del">
          <ac:chgData name="Lai, Wilson" userId="2840974a-0d84-4886-90a9-9a3ed79f3a48" providerId="ADAL" clId="{9F23B798-9E84-4552-BA63-E776E805C424}" dt="2026-09-06T01:09:33.242" v="8" actId="21"/>
          <ac:picMkLst>
            <pc:docMk/>
            <pc:sldMk cId="0" sldId="261"/>
            <ac:picMk id="2" creationId="{00000000-0000-0000-0000-000000000000}"/>
          </ac:picMkLst>
        </pc:picChg>
        <pc:picChg chg="add">
          <ac:chgData name="Lai, Wilson" userId="2840974a-0d84-4886-90a9-9a3ed79f3a48" providerId="ADAL" clId="{9F23B798-9E84-4552-BA63-E776E805C424}" dt="2026-09-06T01:09:43.538" v="9" actId="22"/>
          <ac:picMkLst>
            <pc:docMk/>
            <pc:sldMk cId="0" sldId="261"/>
            <ac:picMk id="4" creationId="{658349E9-8F07-8452-F9D6-5AB239B74E01}"/>
          </ac:picMkLst>
        </pc:picChg>
      </pc:sldChg>
      <pc:sldChg chg="addSp delSp mod modNotesTx">
        <pc:chgData name="Lai, Wilson" userId="2840974a-0d84-4886-90a9-9a3ed79f3a48" providerId="ADAL" clId="{9F23B798-9E84-4552-BA63-E776E805C424}" dt="2026-09-06T07:19:22.699" v="63" actId="12"/>
        <pc:sldMkLst>
          <pc:docMk/>
          <pc:sldMk cId="0" sldId="262"/>
        </pc:sldMkLst>
        <pc:picChg chg="del">
          <ac:chgData name="Lai, Wilson" userId="2840974a-0d84-4886-90a9-9a3ed79f3a48" providerId="ADAL" clId="{9F23B798-9E84-4552-BA63-E776E805C424}" dt="2026-09-06T01:09:45.624" v="10" actId="21"/>
          <ac:picMkLst>
            <pc:docMk/>
            <pc:sldMk cId="0" sldId="262"/>
            <ac:picMk id="2" creationId="{00000000-0000-0000-0000-000000000000}"/>
          </ac:picMkLst>
        </pc:picChg>
        <pc:picChg chg="add">
          <ac:chgData name="Lai, Wilson" userId="2840974a-0d84-4886-90a9-9a3ed79f3a48" providerId="ADAL" clId="{9F23B798-9E84-4552-BA63-E776E805C424}" dt="2026-09-06T01:09:53.121" v="11" actId="22"/>
          <ac:picMkLst>
            <pc:docMk/>
            <pc:sldMk cId="0" sldId="262"/>
            <ac:picMk id="4" creationId="{CEBC84A1-3049-4231-B183-58280C8FDE02}"/>
          </ac:picMkLst>
        </pc:picChg>
      </pc:sldChg>
      <pc:sldChg chg="addSp delSp mod modNotesTx">
        <pc:chgData name="Lai, Wilson" userId="2840974a-0d84-4886-90a9-9a3ed79f3a48" providerId="ADAL" clId="{9F23B798-9E84-4552-BA63-E776E805C424}" dt="2026-09-06T07:19:37.319" v="65" actId="12"/>
        <pc:sldMkLst>
          <pc:docMk/>
          <pc:sldMk cId="0" sldId="263"/>
        </pc:sldMkLst>
        <pc:picChg chg="del">
          <ac:chgData name="Lai, Wilson" userId="2840974a-0d84-4886-90a9-9a3ed79f3a48" providerId="ADAL" clId="{9F23B798-9E84-4552-BA63-E776E805C424}" dt="2026-09-06T01:09:54.705" v="12" actId="21"/>
          <ac:picMkLst>
            <pc:docMk/>
            <pc:sldMk cId="0" sldId="263"/>
            <ac:picMk id="2" creationId="{00000000-0000-0000-0000-000000000000}"/>
          </ac:picMkLst>
        </pc:picChg>
        <pc:picChg chg="add">
          <ac:chgData name="Lai, Wilson" userId="2840974a-0d84-4886-90a9-9a3ed79f3a48" providerId="ADAL" clId="{9F23B798-9E84-4552-BA63-E776E805C424}" dt="2026-09-06T01:10:03.318" v="13" actId="22"/>
          <ac:picMkLst>
            <pc:docMk/>
            <pc:sldMk cId="0" sldId="263"/>
            <ac:picMk id="4" creationId="{070CB5A2-464D-8DCC-4301-81DA6E478AF4}"/>
          </ac:picMkLst>
        </pc:picChg>
      </pc:sldChg>
      <pc:sldChg chg="addSp delSp mod modNotesTx">
        <pc:chgData name="Lai, Wilson" userId="2840974a-0d84-4886-90a9-9a3ed79f3a48" providerId="ADAL" clId="{9F23B798-9E84-4552-BA63-E776E805C424}" dt="2026-09-06T07:14:39.941" v="50" actId="14"/>
        <pc:sldMkLst>
          <pc:docMk/>
          <pc:sldMk cId="0" sldId="264"/>
        </pc:sldMkLst>
        <pc:picChg chg="del">
          <ac:chgData name="Lai, Wilson" userId="2840974a-0d84-4886-90a9-9a3ed79f3a48" providerId="ADAL" clId="{9F23B798-9E84-4552-BA63-E776E805C424}" dt="2026-09-06T01:10:05.776" v="14" actId="21"/>
          <ac:picMkLst>
            <pc:docMk/>
            <pc:sldMk cId="0" sldId="264"/>
            <ac:picMk id="2" creationId="{00000000-0000-0000-0000-000000000000}"/>
          </ac:picMkLst>
        </pc:picChg>
        <pc:picChg chg="add">
          <ac:chgData name="Lai, Wilson" userId="2840974a-0d84-4886-90a9-9a3ed79f3a48" providerId="ADAL" clId="{9F23B798-9E84-4552-BA63-E776E805C424}" dt="2026-09-06T01:10:13.334" v="15" actId="22"/>
          <ac:picMkLst>
            <pc:docMk/>
            <pc:sldMk cId="0" sldId="264"/>
            <ac:picMk id="4" creationId="{F01B8FA1-DF19-0084-6EE1-73DE540A26B4}"/>
          </ac:picMkLst>
        </pc:picChg>
      </pc:sldChg>
      <pc:sldChg chg="addSp delSp mod">
        <pc:chgData name="Lai, Wilson" userId="2840974a-0d84-4886-90a9-9a3ed79f3a48" providerId="ADAL" clId="{9F23B798-9E84-4552-BA63-E776E805C424}" dt="2026-09-06T01:10:22.201" v="17" actId="22"/>
        <pc:sldMkLst>
          <pc:docMk/>
          <pc:sldMk cId="0" sldId="265"/>
        </pc:sldMkLst>
        <pc:picChg chg="del">
          <ac:chgData name="Lai, Wilson" userId="2840974a-0d84-4886-90a9-9a3ed79f3a48" providerId="ADAL" clId="{9F23B798-9E84-4552-BA63-E776E805C424}" dt="2026-09-06T01:10:15.091" v="16" actId="21"/>
          <ac:picMkLst>
            <pc:docMk/>
            <pc:sldMk cId="0" sldId="265"/>
            <ac:picMk id="2" creationId="{00000000-0000-0000-0000-000000000000}"/>
          </ac:picMkLst>
        </pc:picChg>
        <pc:picChg chg="add">
          <ac:chgData name="Lai, Wilson" userId="2840974a-0d84-4886-90a9-9a3ed79f3a48" providerId="ADAL" clId="{9F23B798-9E84-4552-BA63-E776E805C424}" dt="2026-09-06T01:10:22.201" v="17" actId="22"/>
          <ac:picMkLst>
            <pc:docMk/>
            <pc:sldMk cId="0" sldId="265"/>
            <ac:picMk id="4" creationId="{774E03E0-2B10-790B-1F40-1AFBC96A8C1D}"/>
          </ac:picMkLst>
        </pc:picChg>
      </pc:sldChg>
      <pc:sldChg chg="addSp delSp mod">
        <pc:chgData name="Lai, Wilson" userId="2840974a-0d84-4886-90a9-9a3ed79f3a48" providerId="ADAL" clId="{9F23B798-9E84-4552-BA63-E776E805C424}" dt="2026-09-06T01:10:32.375" v="19" actId="22"/>
        <pc:sldMkLst>
          <pc:docMk/>
          <pc:sldMk cId="0" sldId="266"/>
        </pc:sldMkLst>
        <pc:picChg chg="del">
          <ac:chgData name="Lai, Wilson" userId="2840974a-0d84-4886-90a9-9a3ed79f3a48" providerId="ADAL" clId="{9F23B798-9E84-4552-BA63-E776E805C424}" dt="2026-09-06T01:10:24.387" v="18" actId="21"/>
          <ac:picMkLst>
            <pc:docMk/>
            <pc:sldMk cId="0" sldId="266"/>
            <ac:picMk id="2" creationId="{00000000-0000-0000-0000-000000000000}"/>
          </ac:picMkLst>
        </pc:picChg>
        <pc:picChg chg="add">
          <ac:chgData name="Lai, Wilson" userId="2840974a-0d84-4886-90a9-9a3ed79f3a48" providerId="ADAL" clId="{9F23B798-9E84-4552-BA63-E776E805C424}" dt="2026-09-06T01:10:32.375" v="19" actId="22"/>
          <ac:picMkLst>
            <pc:docMk/>
            <pc:sldMk cId="0" sldId="266"/>
            <ac:picMk id="4" creationId="{F14BA173-32BC-95E7-85D7-4995B8F8FB9E}"/>
          </ac:picMkLst>
        </pc:picChg>
      </pc:sldChg>
      <pc:sldChg chg="addSp delSp mod">
        <pc:chgData name="Lai, Wilson" userId="2840974a-0d84-4886-90a9-9a3ed79f3a48" providerId="ADAL" clId="{9F23B798-9E84-4552-BA63-E776E805C424}" dt="2026-09-06T01:10:41.617" v="21" actId="22"/>
        <pc:sldMkLst>
          <pc:docMk/>
          <pc:sldMk cId="0" sldId="267"/>
        </pc:sldMkLst>
        <pc:picChg chg="del">
          <ac:chgData name="Lai, Wilson" userId="2840974a-0d84-4886-90a9-9a3ed79f3a48" providerId="ADAL" clId="{9F23B798-9E84-4552-BA63-E776E805C424}" dt="2026-09-06T01:10:34.251" v="20" actId="21"/>
          <ac:picMkLst>
            <pc:docMk/>
            <pc:sldMk cId="0" sldId="267"/>
            <ac:picMk id="2" creationId="{00000000-0000-0000-0000-000000000000}"/>
          </ac:picMkLst>
        </pc:picChg>
        <pc:picChg chg="add">
          <ac:chgData name="Lai, Wilson" userId="2840974a-0d84-4886-90a9-9a3ed79f3a48" providerId="ADAL" clId="{9F23B798-9E84-4552-BA63-E776E805C424}" dt="2026-09-06T01:10:41.617" v="21" actId="22"/>
          <ac:picMkLst>
            <pc:docMk/>
            <pc:sldMk cId="0" sldId="267"/>
            <ac:picMk id="4" creationId="{116F6E73-6FD6-AEEE-04F8-75688F170187}"/>
          </ac:picMkLst>
        </pc:picChg>
      </pc:sldChg>
      <pc:sldChg chg="addSp delSp modSp mod">
        <pc:chgData name="Lai, Wilson" userId="2840974a-0d84-4886-90a9-9a3ed79f3a48" providerId="ADAL" clId="{9F23B798-9E84-4552-BA63-E776E805C424}" dt="2026-09-06T07:15:10.977" v="53" actId="22"/>
        <pc:sldMkLst>
          <pc:docMk/>
          <pc:sldMk cId="0" sldId="268"/>
        </pc:sldMkLst>
        <pc:spChg chg="add del">
          <ac:chgData name="Lai, Wilson" userId="2840974a-0d84-4886-90a9-9a3ed79f3a48" providerId="ADAL" clId="{9F23B798-9E84-4552-BA63-E776E805C424}" dt="2026-09-06T07:15:10.977" v="53" actId="22"/>
          <ac:spMkLst>
            <pc:docMk/>
            <pc:sldMk cId="0" sldId="268"/>
            <ac:spMk id="3" creationId="{B00049EE-C3AC-A99B-B09A-D4465AB9EFE8}"/>
          </ac:spMkLst>
        </pc:spChg>
        <pc:picChg chg="del">
          <ac:chgData name="Lai, Wilson" userId="2840974a-0d84-4886-90a9-9a3ed79f3a48" providerId="ADAL" clId="{9F23B798-9E84-4552-BA63-E776E805C424}" dt="2026-09-06T01:10:43.325" v="22" actId="21"/>
          <ac:picMkLst>
            <pc:docMk/>
            <pc:sldMk cId="0" sldId="268"/>
            <ac:picMk id="2" creationId="{00000000-0000-0000-0000-000000000000}"/>
          </ac:picMkLst>
        </pc:picChg>
        <pc:picChg chg="add">
          <ac:chgData name="Lai, Wilson" userId="2840974a-0d84-4886-90a9-9a3ed79f3a48" providerId="ADAL" clId="{9F23B798-9E84-4552-BA63-E776E805C424}" dt="2026-09-06T01:10:51.198" v="23" actId="22"/>
          <ac:picMkLst>
            <pc:docMk/>
            <pc:sldMk cId="0" sldId="268"/>
            <ac:picMk id="4" creationId="{C89D9CB7-0D5E-0F84-6FE0-892E0DBB2897}"/>
          </ac:picMkLst>
        </pc:picChg>
      </pc:sldChg>
      <pc:sldChg chg="addSp delSp mod">
        <pc:chgData name="Lai, Wilson" userId="2840974a-0d84-4886-90a9-9a3ed79f3a48" providerId="ADAL" clId="{9F23B798-9E84-4552-BA63-E776E805C424}" dt="2026-09-06T01:11:28.510" v="25" actId="22"/>
        <pc:sldMkLst>
          <pc:docMk/>
          <pc:sldMk cId="0" sldId="269"/>
        </pc:sldMkLst>
        <pc:picChg chg="del">
          <ac:chgData name="Lai, Wilson" userId="2840974a-0d84-4886-90a9-9a3ed79f3a48" providerId="ADAL" clId="{9F23B798-9E84-4552-BA63-E776E805C424}" dt="2026-09-06T01:10:52.681" v="24" actId="21"/>
          <ac:picMkLst>
            <pc:docMk/>
            <pc:sldMk cId="0" sldId="269"/>
            <ac:picMk id="2" creationId="{00000000-0000-0000-0000-000000000000}"/>
          </ac:picMkLst>
        </pc:picChg>
        <pc:picChg chg="add">
          <ac:chgData name="Lai, Wilson" userId="2840974a-0d84-4886-90a9-9a3ed79f3a48" providerId="ADAL" clId="{9F23B798-9E84-4552-BA63-E776E805C424}" dt="2026-09-06T01:11:28.510" v="25" actId="22"/>
          <ac:picMkLst>
            <pc:docMk/>
            <pc:sldMk cId="0" sldId="269"/>
            <ac:picMk id="4" creationId="{AF5BF2BC-90FD-46C4-8DBF-74CD7E7A4B2A}"/>
          </ac:picMkLst>
        </pc:picChg>
      </pc:sldChg>
      <pc:sldChg chg="addSp delSp modSp mod modNotesTx">
        <pc:chgData name="Lai, Wilson" userId="2840974a-0d84-4886-90a9-9a3ed79f3a48" providerId="ADAL" clId="{9F23B798-9E84-4552-BA63-E776E805C424}" dt="2026-09-06T07:17:25.399" v="60" actId="14"/>
        <pc:sldMkLst>
          <pc:docMk/>
          <pc:sldMk cId="0" sldId="270"/>
        </pc:sldMkLst>
        <pc:spChg chg="add del">
          <ac:chgData name="Lai, Wilson" userId="2840974a-0d84-4886-90a9-9a3ed79f3a48" providerId="ADAL" clId="{9F23B798-9E84-4552-BA63-E776E805C424}" dt="2026-09-06T07:15:25.483" v="56" actId="22"/>
          <ac:spMkLst>
            <pc:docMk/>
            <pc:sldMk cId="0" sldId="270"/>
            <ac:spMk id="3" creationId="{6BCEAC76-14A7-31DE-EFB0-FF7DAAC14069}"/>
          </ac:spMkLst>
        </pc:spChg>
        <pc:picChg chg="del">
          <ac:chgData name="Lai, Wilson" userId="2840974a-0d84-4886-90a9-9a3ed79f3a48" providerId="ADAL" clId="{9F23B798-9E84-4552-BA63-E776E805C424}" dt="2026-09-06T01:11:31.333" v="26" actId="21"/>
          <ac:picMkLst>
            <pc:docMk/>
            <pc:sldMk cId="0" sldId="270"/>
            <ac:picMk id="2" creationId="{00000000-0000-0000-0000-000000000000}"/>
          </ac:picMkLst>
        </pc:picChg>
        <pc:picChg chg="add">
          <ac:chgData name="Lai, Wilson" userId="2840974a-0d84-4886-90a9-9a3ed79f3a48" providerId="ADAL" clId="{9F23B798-9E84-4552-BA63-E776E805C424}" dt="2026-09-06T01:11:41.264" v="27" actId="22"/>
          <ac:picMkLst>
            <pc:docMk/>
            <pc:sldMk cId="0" sldId="270"/>
            <ac:picMk id="4" creationId="{8A20CED0-E7A1-FC88-6CC8-EA29B19FE2DA}"/>
          </ac:picMkLst>
        </pc:picChg>
      </pc:sldChg>
      <pc:sldChg chg="addSp delSp mod">
        <pc:chgData name="Lai, Wilson" userId="2840974a-0d84-4886-90a9-9a3ed79f3a48" providerId="ADAL" clId="{9F23B798-9E84-4552-BA63-E776E805C424}" dt="2026-09-06T01:11:50.547" v="29" actId="22"/>
        <pc:sldMkLst>
          <pc:docMk/>
          <pc:sldMk cId="0" sldId="271"/>
        </pc:sldMkLst>
        <pc:picChg chg="del">
          <ac:chgData name="Lai, Wilson" userId="2840974a-0d84-4886-90a9-9a3ed79f3a48" providerId="ADAL" clId="{9F23B798-9E84-4552-BA63-E776E805C424}" dt="2026-09-06T01:11:42.790" v="28" actId="21"/>
          <ac:picMkLst>
            <pc:docMk/>
            <pc:sldMk cId="0" sldId="271"/>
            <ac:picMk id="2" creationId="{00000000-0000-0000-0000-000000000000}"/>
          </ac:picMkLst>
        </pc:picChg>
        <pc:picChg chg="add">
          <ac:chgData name="Lai, Wilson" userId="2840974a-0d84-4886-90a9-9a3ed79f3a48" providerId="ADAL" clId="{9F23B798-9E84-4552-BA63-E776E805C424}" dt="2026-09-06T01:11:50.547" v="29" actId="22"/>
          <ac:picMkLst>
            <pc:docMk/>
            <pc:sldMk cId="0" sldId="271"/>
            <ac:picMk id="4" creationId="{CE27881B-AFFE-01EB-D987-6CF6C0A7C5D4}"/>
          </ac:picMkLst>
        </pc:picChg>
      </pc:sldChg>
      <pc:sldChg chg="addSp delSp mod delAnim">
        <pc:chgData name="Lai, Wilson" userId="2840974a-0d84-4886-90a9-9a3ed79f3a48" providerId="ADAL" clId="{9F23B798-9E84-4552-BA63-E776E805C424}" dt="2026-09-06T01:12:11.641" v="34" actId="478"/>
        <pc:sldMkLst>
          <pc:docMk/>
          <pc:sldMk cId="2358052987" sldId="272"/>
        </pc:sldMkLst>
        <pc:picChg chg="add del">
          <ac:chgData name="Lai, Wilson" userId="2840974a-0d84-4886-90a9-9a3ed79f3a48" providerId="ADAL" clId="{9F23B798-9E84-4552-BA63-E776E805C424}" dt="2026-09-06T01:11:58.042" v="32" actId="21"/>
          <ac:picMkLst>
            <pc:docMk/>
            <pc:sldMk cId="2358052987" sldId="272"/>
            <ac:picMk id="3" creationId="{CC108A75-808D-F609-87AC-C71BC5D3CF98}"/>
          </ac:picMkLst>
        </pc:picChg>
        <pc:picChg chg="del">
          <ac:chgData name="Lai, Wilson" userId="2840974a-0d84-4886-90a9-9a3ed79f3a48" providerId="ADAL" clId="{9F23B798-9E84-4552-BA63-E776E805C424}" dt="2026-09-06T01:12:11.641" v="34" actId="478"/>
          <ac:picMkLst>
            <pc:docMk/>
            <pc:sldMk cId="2358052987" sldId="272"/>
            <ac:picMk id="4" creationId="{CFA8F035-EB7E-2068-A097-60BF7CD54505}"/>
          </ac:picMkLst>
        </pc:picChg>
        <pc:picChg chg="add">
          <ac:chgData name="Lai, Wilson" userId="2840974a-0d84-4886-90a9-9a3ed79f3a48" providerId="ADAL" clId="{9F23B798-9E84-4552-BA63-E776E805C424}" dt="2026-09-06T01:12:08.711" v="33" actId="22"/>
          <ac:picMkLst>
            <pc:docMk/>
            <pc:sldMk cId="2358052987" sldId="272"/>
            <ac:picMk id="5" creationId="{147AA41A-8A4B-C811-AB5C-DE3697A545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106EB-FFC4-45EB-9105-3B54030D2F9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487700-D147-4E0E-A39C-F5A11DA6697A}" type="slidenum">
              <a:rPr lang="en-US" smtClean="0"/>
              <a:t>‹#›</a:t>
            </a:fld>
            <a:endParaRPr lang="en-US"/>
          </a:p>
        </p:txBody>
      </p:sp>
    </p:spTree>
    <p:extLst>
      <p:ext uri="{BB962C8B-B14F-4D97-AF65-F5344CB8AC3E}">
        <p14:creationId xmlns:p14="http://schemas.microsoft.com/office/powerpoint/2010/main" val="469363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 are taking a step back to look at macroeconomics through a multi-decade and multi-century lens. </a:t>
            </a:r>
          </a:p>
          <a:p>
            <a:pPr lvl="0"/>
            <a:r>
              <a:rPr lang="en-US" sz="1200" kern="1200" dirty="0">
                <a:solidFill>
                  <a:schemeClr val="tx1"/>
                </a:solidFill>
                <a:effectLst/>
                <a:latin typeface="+mn-lt"/>
                <a:ea typeface="+mn-ea"/>
                <a:cs typeface="+mn-cs"/>
              </a:rPr>
              <a:t>The title of this deck, </a:t>
            </a:r>
            <a:r>
              <a:rPr lang="en-US" sz="1200" i="1" kern="1200" dirty="0">
                <a:solidFill>
                  <a:schemeClr val="tx1"/>
                </a:solidFill>
                <a:effectLst/>
                <a:latin typeface="+mn-lt"/>
                <a:ea typeface="+mn-ea"/>
                <a:cs typeface="+mn-cs"/>
              </a:rPr>
              <a:t>"The Pre-Depression Playbook,"</a:t>
            </a:r>
            <a:r>
              <a:rPr lang="en-US" sz="1200" kern="1200" dirty="0">
                <a:solidFill>
                  <a:schemeClr val="tx1"/>
                </a:solidFill>
                <a:effectLst/>
                <a:latin typeface="+mn-lt"/>
                <a:ea typeface="+mn-ea"/>
                <a:cs typeface="+mn-cs"/>
              </a:rPr>
              <a:t> highlights a critical historical comparison: we are experiencing structural economic shifts that haven't occurred since prior to the Great Depression. </a:t>
            </a:r>
          </a:p>
          <a:p>
            <a:pPr lvl="0"/>
            <a:r>
              <a:rPr lang="en-US" sz="1200" kern="1200" dirty="0">
                <a:solidFill>
                  <a:schemeClr val="tx1"/>
                </a:solidFill>
                <a:effectLst/>
                <a:latin typeface="+mn-lt"/>
                <a:ea typeface="+mn-ea"/>
                <a:cs typeface="+mn-cs"/>
              </a:rPr>
              <a:t>Five convergent technology platforms—Artificial Intelligence, Robotics, Energy Storage, Blockchain, and </a:t>
            </a:r>
            <a:r>
              <a:rPr lang="en-US" sz="1200" kern="1200" dirty="0" err="1">
                <a:solidFill>
                  <a:schemeClr val="tx1"/>
                </a:solidFill>
                <a:effectLst/>
                <a:latin typeface="+mn-lt"/>
                <a:ea typeface="+mn-ea"/>
                <a:cs typeface="+mn-cs"/>
              </a:rPr>
              <a:t>Multiomics</a:t>
            </a:r>
            <a:r>
              <a:rPr lang="en-US" sz="1200" kern="1200" dirty="0">
                <a:solidFill>
                  <a:schemeClr val="tx1"/>
                </a:solidFill>
                <a:effectLst/>
                <a:latin typeface="+mn-lt"/>
                <a:ea typeface="+mn-ea"/>
                <a:cs typeface="+mn-cs"/>
              </a:rPr>
              <a:t>—are disrupting over 125 years of macroeconomic consensus. </a:t>
            </a:r>
          </a:p>
          <a:p>
            <a:pPr lvl="0"/>
            <a:r>
              <a:rPr lang="en-US" sz="1200" kern="1200" dirty="0">
                <a:solidFill>
                  <a:schemeClr val="tx1"/>
                </a:solidFill>
                <a:effectLst/>
                <a:latin typeface="+mn-lt"/>
                <a:ea typeface="+mn-ea"/>
                <a:cs typeface="+mn-cs"/>
              </a:rPr>
              <a:t>Most financial models today assume legacy parameters. However, as we will demonstrate, modern technology is re-writing the rules around GDP growth, inflation, yield curves, and market valuations. </a:t>
            </a:r>
          </a:p>
          <a:p>
            <a:endParaRPr lang="en-US" dirty="0"/>
          </a:p>
          <a:p>
            <a:endParaRPr lang="en-US" dirty="0"/>
          </a:p>
          <a:p>
            <a:endParaRPr lang="en-US" dirty="0"/>
          </a:p>
          <a:p>
            <a:r>
              <a:rPr lang="en-US" dirty="0"/>
              <a:t>https://www.youtube.com/watch?v=bjgy0BVFQx0</a:t>
            </a:r>
          </a:p>
        </p:txBody>
      </p:sp>
      <p:sp>
        <p:nvSpPr>
          <p:cNvPr id="4" name="Slide Number Placeholder 3"/>
          <p:cNvSpPr>
            <a:spLocks noGrp="1"/>
          </p:cNvSpPr>
          <p:nvPr>
            <p:ph type="sldNum" sz="quarter" idx="5"/>
          </p:nvPr>
        </p:nvSpPr>
        <p:spPr/>
        <p:txBody>
          <a:bodyPr/>
          <a:lstStyle/>
          <a:p>
            <a:fld id="{11487700-D147-4E0E-A39C-F5A11DA6697A}" type="slidenum">
              <a:rPr lang="en-US" smtClean="0"/>
              <a:t>1</a:t>
            </a:fld>
            <a:endParaRPr lang="en-US"/>
          </a:p>
        </p:txBody>
      </p:sp>
    </p:spTree>
    <p:extLst>
      <p:ext uri="{BB962C8B-B14F-4D97-AF65-F5344CB8AC3E}">
        <p14:creationId xmlns:p14="http://schemas.microsoft.com/office/powerpoint/2010/main" val="1390852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Market consensus remains stuck in legacy frameworks: expecting ~3% global growth, persistent inflation, and taking an inverted yield curve as a sign of an impending recession. </a:t>
            </a:r>
          </a:p>
          <a:p>
            <a:pPr lvl="0"/>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We are entering the most significant acceleration in real GDP since the dawn of the Industrial Revolution. </a:t>
            </a:r>
          </a:p>
          <a:p>
            <a:pPr lvl="0"/>
            <a:r>
              <a:rPr lang="en-US" sz="1200" kern="1200" dirty="0">
                <a:solidFill>
                  <a:schemeClr val="tx1"/>
                </a:solidFill>
                <a:effectLst/>
                <a:latin typeface="+mn-lt"/>
                <a:ea typeface="+mn-ea"/>
                <a:cs typeface="+mn-cs"/>
              </a:rPr>
              <a:t>Rather than sticky inflation, the underlying macroeconomic force driven by these technologies is </a:t>
            </a:r>
            <a:r>
              <a:rPr lang="en-US" sz="1200" b="1" kern="1200" dirty="0">
                <a:solidFill>
                  <a:schemeClr val="tx1"/>
                </a:solidFill>
                <a:effectLst/>
                <a:latin typeface="+mn-lt"/>
                <a:ea typeface="+mn-ea"/>
                <a:cs typeface="+mn-cs"/>
              </a:rPr>
              <a:t>deep structural deflation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Wall Street and legacy models treat traditional signals (like rate hikes or yield curve inversions) with fear. In reality, the market resilience we see today is driven by explosive real economic growth potential, not out-of-control inflation.</a:t>
            </a:r>
          </a:p>
        </p:txBody>
      </p:sp>
      <p:sp>
        <p:nvSpPr>
          <p:cNvPr id="4" name="Slide Number Placeholder 3"/>
          <p:cNvSpPr>
            <a:spLocks noGrp="1"/>
          </p:cNvSpPr>
          <p:nvPr>
            <p:ph type="sldNum" sz="quarter" idx="5"/>
          </p:nvPr>
        </p:nvSpPr>
        <p:spPr/>
        <p:txBody>
          <a:bodyPr/>
          <a:lstStyle/>
          <a:p>
            <a:fld id="{11487700-D147-4E0E-A39C-F5A11DA6697A}" type="slidenum">
              <a:rPr lang="en-US" smtClean="0"/>
              <a:t>2</a:t>
            </a:fld>
            <a:endParaRPr lang="en-US"/>
          </a:p>
        </p:txBody>
      </p:sp>
    </p:spTree>
    <p:extLst>
      <p:ext uri="{BB962C8B-B14F-4D97-AF65-F5344CB8AC3E}">
        <p14:creationId xmlns:p14="http://schemas.microsoft.com/office/powerpoint/2010/main" val="223881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Prior to 1500–1900, world GDP growth averaged just 0.6%. </a:t>
            </a:r>
          </a:p>
          <a:p>
            <a:pPr lvl="0"/>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Industrial Revolution</a:t>
            </a:r>
            <a:r>
              <a:rPr lang="en-US" sz="1200" kern="1200" dirty="0">
                <a:solidFill>
                  <a:schemeClr val="tx1"/>
                </a:solidFill>
                <a:effectLst/>
                <a:latin typeface="+mn-lt"/>
                <a:ea typeface="+mn-ea"/>
                <a:cs typeface="+mn-cs"/>
              </a:rPr>
              <a:t> represented the "First Leap," causing a 5x increase in real GDP growth to a sustained ~3.1% annually. </a:t>
            </a:r>
          </a:p>
          <a:p>
            <a:pPr lvl="0"/>
            <a:r>
              <a:rPr lang="en-US" sz="1200" kern="1200" dirty="0">
                <a:solidFill>
                  <a:schemeClr val="tx1"/>
                </a:solidFill>
                <a:effectLst/>
                <a:latin typeface="+mn-lt"/>
                <a:ea typeface="+mn-ea"/>
                <a:cs typeface="+mn-cs"/>
              </a:rPr>
              <a:t>For the last 125 years, humanity has been conditioned to treat 3% global GDP growth as the default ceiling. Organizations like the IMF continue to project a static 3.1% growth. </a:t>
            </a:r>
          </a:p>
          <a:p>
            <a:pPr lvl="0"/>
            <a:r>
              <a:rPr lang="en-US" sz="1200" b="1" kern="1200" dirty="0">
                <a:solidFill>
                  <a:schemeClr val="tx1"/>
                </a:solidFill>
                <a:effectLst/>
                <a:latin typeface="+mn-lt"/>
                <a:ea typeface="+mn-ea"/>
                <a:cs typeface="+mn-cs"/>
              </a:rPr>
              <a:t>The Next Leap:</a:t>
            </a:r>
            <a:r>
              <a:rPr lang="en-US" sz="1200" kern="1200" dirty="0">
                <a:solidFill>
                  <a:schemeClr val="tx1"/>
                </a:solidFill>
                <a:effectLst/>
                <a:latin typeface="+mn-lt"/>
                <a:ea typeface="+mn-ea"/>
                <a:cs typeface="+mn-cs"/>
              </a:rPr>
              <a:t> With AI and converging platforms, growth is projected to conservatively double, with potential targets reaching </a:t>
            </a:r>
            <a:r>
              <a:rPr lang="en-US" sz="1200" b="1" kern="1200" dirty="0">
                <a:solidFill>
                  <a:schemeClr val="tx1"/>
                </a:solidFill>
                <a:effectLst/>
                <a:latin typeface="+mn-lt"/>
                <a:ea typeface="+mn-ea"/>
                <a:cs typeface="+mn-cs"/>
              </a:rPr>
              <a:t>10% to 15% real GDP growth</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Tech leaders (like Elon Musk) and forward-thinking analysts recognize that five simultaneous innovation platforms will drive productivity far beyond historical consensus. </a:t>
            </a:r>
          </a:p>
        </p:txBody>
      </p:sp>
      <p:sp>
        <p:nvSpPr>
          <p:cNvPr id="4" name="Slide Number Placeholder 3"/>
          <p:cNvSpPr>
            <a:spLocks noGrp="1"/>
          </p:cNvSpPr>
          <p:nvPr>
            <p:ph type="sldNum" sz="quarter" idx="5"/>
          </p:nvPr>
        </p:nvSpPr>
        <p:spPr/>
        <p:txBody>
          <a:bodyPr/>
          <a:lstStyle/>
          <a:p>
            <a:fld id="{11487700-D147-4E0E-A39C-F5A11DA6697A}" type="slidenum">
              <a:rPr lang="en-US" smtClean="0"/>
              <a:t>3</a:t>
            </a:fld>
            <a:endParaRPr lang="en-US"/>
          </a:p>
        </p:txBody>
      </p:sp>
    </p:spTree>
    <p:extLst>
      <p:ext uri="{BB962C8B-B14F-4D97-AF65-F5344CB8AC3E}">
        <p14:creationId xmlns:p14="http://schemas.microsoft.com/office/powerpoint/2010/main" val="830645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today, we have to look back to the late 19th century (1890s). </a:t>
            </a:r>
          </a:p>
          <a:p>
            <a:pPr lvl="0"/>
            <a:r>
              <a:rPr lang="en-US" sz="1200" b="1" kern="1200" dirty="0">
                <a:solidFill>
                  <a:schemeClr val="tx1"/>
                </a:solidFill>
                <a:effectLst/>
                <a:latin typeface="+mn-lt"/>
                <a:ea typeface="+mn-ea"/>
                <a:cs typeface="+mn-cs"/>
              </a:rPr>
              <a:t>1890s Innovation:</a:t>
            </a:r>
            <a:r>
              <a:rPr lang="en-US" sz="1200" kern="1200" dirty="0">
                <a:solidFill>
                  <a:schemeClr val="tx1"/>
                </a:solidFill>
                <a:effectLst/>
                <a:latin typeface="+mn-lt"/>
                <a:ea typeface="+mn-ea"/>
                <a:cs typeface="+mn-cs"/>
              </a:rPr>
              <a:t> Rail, Telephone, Electricity, Internal Combustion Engine. </a:t>
            </a:r>
          </a:p>
          <a:p>
            <a:pPr lvl="0"/>
            <a:r>
              <a:rPr lang="en-US" sz="1200" b="1" kern="1200" dirty="0">
                <a:solidFill>
                  <a:schemeClr val="tx1"/>
                </a:solidFill>
                <a:effectLst/>
                <a:latin typeface="+mn-lt"/>
                <a:ea typeface="+mn-ea"/>
                <a:cs typeface="+mn-cs"/>
              </a:rPr>
              <a:t>2020s Innovation:</a:t>
            </a:r>
            <a:r>
              <a:rPr lang="en-US" sz="1200" kern="1200" dirty="0">
                <a:solidFill>
                  <a:schemeClr val="tx1"/>
                </a:solidFill>
                <a:effectLst/>
                <a:latin typeface="+mn-lt"/>
                <a:ea typeface="+mn-ea"/>
                <a:cs typeface="+mn-cs"/>
              </a:rPr>
              <a:t> AI, Robotics, Energy Storage, Blockchain, </a:t>
            </a:r>
            <a:r>
              <a:rPr lang="en-US" sz="1200" kern="1200" dirty="0" err="1">
                <a:solidFill>
                  <a:schemeClr val="tx1"/>
                </a:solidFill>
                <a:effectLst/>
                <a:latin typeface="+mn-lt"/>
                <a:ea typeface="+mn-ea"/>
                <a:cs typeface="+mn-cs"/>
              </a:rPr>
              <a:t>Multiomics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Common Vector:</a:t>
            </a:r>
            <a:r>
              <a:rPr lang="en-US" sz="1200" kern="1200" dirty="0">
                <a:solidFill>
                  <a:schemeClr val="tx1"/>
                </a:solidFill>
                <a:effectLst/>
                <a:latin typeface="+mn-lt"/>
                <a:ea typeface="+mn-ea"/>
                <a:cs typeface="+mn-cs"/>
              </a:rPr>
              <a:t> Deep structural deflation. Rapid technological progress lowers unit costs across production, logistics, and communication. </a:t>
            </a:r>
          </a:p>
          <a:p>
            <a:pPr lvl="0"/>
            <a:r>
              <a:rPr lang="en-US" sz="1200" b="1" kern="1200" dirty="0">
                <a:solidFill>
                  <a:schemeClr val="tx1"/>
                </a:solidFill>
                <a:effectLst/>
                <a:latin typeface="+mn-lt"/>
                <a:ea typeface="+mn-ea"/>
                <a:cs typeface="+mn-cs"/>
              </a:rPr>
              <a:t>Yield Curves:</a:t>
            </a:r>
            <a:r>
              <a:rPr lang="en-US" sz="1200" kern="1200" dirty="0">
                <a:solidFill>
                  <a:schemeClr val="tx1"/>
                </a:solidFill>
                <a:effectLst/>
                <a:latin typeface="+mn-lt"/>
                <a:ea typeface="+mn-ea"/>
                <a:cs typeface="+mn-cs"/>
              </a:rPr>
              <a:t> In the late 1800s, inverted yield curves were a </a:t>
            </a:r>
            <a:r>
              <a:rPr lang="en-US" sz="1200" i="1" kern="1200" dirty="0">
                <a:solidFill>
                  <a:schemeClr val="tx1"/>
                </a:solidFill>
                <a:effectLst/>
                <a:latin typeface="+mn-lt"/>
                <a:ea typeface="+mn-ea"/>
                <a:cs typeface="+mn-cs"/>
              </a:rPr>
              <a:t>normal state</a:t>
            </a:r>
            <a:r>
              <a:rPr lang="en-US" sz="1200" kern="1200" dirty="0">
                <a:solidFill>
                  <a:schemeClr val="tx1"/>
                </a:solidFill>
                <a:effectLst/>
                <a:latin typeface="+mn-lt"/>
                <a:ea typeface="+mn-ea"/>
                <a:cs typeface="+mn-cs"/>
              </a:rPr>
              <a:t> during periods of immense real economic growth and technological deflation. Today's inverted curve is flashing false recession warnings because legacy models misinterpret this setup. </a:t>
            </a:r>
          </a:p>
        </p:txBody>
      </p:sp>
      <p:sp>
        <p:nvSpPr>
          <p:cNvPr id="4" name="Slide Number Placeholder 3"/>
          <p:cNvSpPr>
            <a:spLocks noGrp="1"/>
          </p:cNvSpPr>
          <p:nvPr>
            <p:ph type="sldNum" sz="quarter" idx="5"/>
          </p:nvPr>
        </p:nvSpPr>
        <p:spPr/>
        <p:txBody>
          <a:bodyPr/>
          <a:lstStyle/>
          <a:p>
            <a:fld id="{11487700-D147-4E0E-A39C-F5A11DA6697A}" type="slidenum">
              <a:rPr lang="en-US" smtClean="0"/>
              <a:t>4</a:t>
            </a:fld>
            <a:endParaRPr lang="en-US"/>
          </a:p>
        </p:txBody>
      </p:sp>
    </p:spTree>
    <p:extLst>
      <p:ext uri="{BB962C8B-B14F-4D97-AF65-F5344CB8AC3E}">
        <p14:creationId xmlns:p14="http://schemas.microsoft.com/office/powerpoint/2010/main" val="329990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Fed Era Anomaly:</a:t>
            </a:r>
            <a:r>
              <a:rPr lang="en-US" sz="1200" kern="1200" dirty="0">
                <a:solidFill>
                  <a:schemeClr val="tx1"/>
                </a:solidFill>
                <a:effectLst/>
                <a:latin typeface="+mn-lt"/>
                <a:ea typeface="+mn-ea"/>
                <a:cs typeface="+mn-cs"/>
              </a:rPr>
              <a:t> Post-1913 (after the establishment of the Federal Reserve) and post-Depression, markets became accustomed to positively sloped yield curves as the baseline. </a:t>
            </a:r>
          </a:p>
          <a:p>
            <a:pPr lvl="0"/>
            <a:r>
              <a:rPr lang="en-US" sz="1200" kern="1200" dirty="0">
                <a:solidFill>
                  <a:schemeClr val="tx1"/>
                </a:solidFill>
                <a:effectLst/>
                <a:latin typeface="+mn-lt"/>
                <a:ea typeface="+mn-ea"/>
                <a:cs typeface="+mn-cs"/>
              </a:rPr>
              <a:t>Prior to 1913, during the height of the Industrial Revolution, the yield curve was inverted </a:t>
            </a:r>
            <a:r>
              <a:rPr lang="en-US" sz="1200" b="1" kern="1200" dirty="0">
                <a:solidFill>
                  <a:schemeClr val="tx1"/>
                </a:solidFill>
                <a:effectLst/>
                <a:latin typeface="+mn-lt"/>
                <a:ea typeface="+mn-ea"/>
                <a:cs typeface="+mn-cs"/>
              </a:rPr>
              <a:t>more than 50% of the time</a:t>
            </a:r>
            <a:r>
              <a:rPr lang="en-US" sz="1200" kern="1200" dirty="0">
                <a:solidFill>
                  <a:schemeClr val="tx1"/>
                </a:solidFill>
                <a:effectLst/>
                <a:latin typeface="+mn-lt"/>
                <a:ea typeface="+mn-ea"/>
                <a:cs typeface="+mn-cs"/>
              </a:rPr>
              <a:t> (averaging ~100 bps inversion) without signifying a recession. </a:t>
            </a:r>
          </a:p>
          <a:p>
            <a:pPr lvl="0"/>
            <a:r>
              <a:rPr lang="en-US" sz="1200" b="1" kern="1200" dirty="0">
                <a:solidFill>
                  <a:schemeClr val="tx1"/>
                </a:solidFill>
                <a:effectLst/>
                <a:latin typeface="+mn-lt"/>
                <a:ea typeface="+mn-ea"/>
                <a:cs typeface="+mn-cs"/>
              </a:rPr>
              <a:t>The Mechanics: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Long Rates:</a:t>
            </a:r>
            <a:r>
              <a:rPr lang="en-US" sz="1200" kern="1200" dirty="0">
                <a:solidFill>
                  <a:schemeClr val="tx1"/>
                </a:solidFill>
                <a:effectLst/>
                <a:latin typeface="+mn-lt"/>
                <a:ea typeface="+mn-ea"/>
                <a:cs typeface="+mn-cs"/>
              </a:rPr>
              <a:t> Reflect long-term deflationary technological undertows (costs falling over time). </a:t>
            </a:r>
          </a:p>
          <a:p>
            <a:pPr marL="228600" lvl="0" indent="-228600">
              <a:buFont typeface="+mj-lt"/>
              <a:buAutoNum type="arabicPeriod"/>
            </a:pPr>
            <a:r>
              <a:rPr lang="en-US" sz="1200" b="1" kern="1200" dirty="0">
                <a:solidFill>
                  <a:schemeClr val="tx1"/>
                </a:solidFill>
                <a:effectLst/>
                <a:latin typeface="+mn-lt"/>
                <a:ea typeface="+mn-ea"/>
                <a:cs typeface="+mn-cs"/>
              </a:rPr>
              <a:t>Short Rates:</a:t>
            </a:r>
            <a:r>
              <a:rPr lang="en-US" sz="1200" kern="1200" dirty="0">
                <a:solidFill>
                  <a:schemeClr val="tx1"/>
                </a:solidFill>
                <a:effectLst/>
                <a:latin typeface="+mn-lt"/>
                <a:ea typeface="+mn-ea"/>
                <a:cs typeface="+mn-cs"/>
              </a:rPr>
              <a:t> Reflect high demand for capital and strong short-term real GDP expansion. </a:t>
            </a:r>
          </a:p>
          <a:p>
            <a:pPr lvl="0"/>
            <a:r>
              <a:rPr lang="en-US" sz="1200" kern="1200" dirty="0">
                <a:solidFill>
                  <a:schemeClr val="tx1"/>
                </a:solidFill>
                <a:effectLst/>
                <a:latin typeface="+mn-lt"/>
                <a:ea typeface="+mn-ea"/>
                <a:cs typeface="+mn-cs"/>
              </a:rPr>
              <a:t>The current inversion is not signaling an imminent economic collapse; it reflects an innovation-led structural transition. </a:t>
            </a:r>
          </a:p>
        </p:txBody>
      </p:sp>
      <p:sp>
        <p:nvSpPr>
          <p:cNvPr id="4" name="Slide Number Placeholder 3"/>
          <p:cNvSpPr>
            <a:spLocks noGrp="1"/>
          </p:cNvSpPr>
          <p:nvPr>
            <p:ph type="sldNum" sz="quarter" idx="5"/>
          </p:nvPr>
        </p:nvSpPr>
        <p:spPr/>
        <p:txBody>
          <a:bodyPr/>
          <a:lstStyle/>
          <a:p>
            <a:fld id="{11487700-D147-4E0E-A39C-F5A11DA6697A}" type="slidenum">
              <a:rPr lang="en-US" smtClean="0"/>
              <a:t>5</a:t>
            </a:fld>
            <a:endParaRPr lang="en-US"/>
          </a:p>
        </p:txBody>
      </p:sp>
    </p:spTree>
    <p:extLst>
      <p:ext uri="{BB962C8B-B14F-4D97-AF65-F5344CB8AC3E}">
        <p14:creationId xmlns:p14="http://schemas.microsoft.com/office/powerpoint/2010/main" val="2041889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 Industrial Revolution was propelled by 3 main platforms (Rail, Electricity, Telephone), today's transformation is driven by </a:t>
            </a:r>
            <a:r>
              <a:rPr lang="en-US" sz="1200" b="1" kern="1200" dirty="0">
                <a:solidFill>
                  <a:schemeClr val="tx1"/>
                </a:solidFill>
                <a:effectLst/>
                <a:latin typeface="+mn-lt"/>
                <a:ea typeface="+mn-ea"/>
                <a:cs typeface="+mn-cs"/>
              </a:rPr>
              <a:t>5 converging technology platforms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The core catalyst driving unprecedented returns on invested capital (ROIC) across all sectors. </a:t>
            </a:r>
          </a:p>
          <a:p>
            <a:pPr marL="228600" lvl="0" indent="-228600">
              <a:buFont typeface="+mj-lt"/>
              <a:buAutoNum type="arabicPeriod"/>
            </a:pPr>
            <a:r>
              <a:rPr lang="en-US" sz="1200" b="1" kern="1200" dirty="0">
                <a:solidFill>
                  <a:schemeClr val="tx1"/>
                </a:solidFill>
                <a:effectLst/>
                <a:latin typeface="+mn-lt"/>
                <a:ea typeface="+mn-ea"/>
                <a:cs typeface="+mn-cs"/>
              </a:rPr>
              <a:t>Robotics:</a:t>
            </a:r>
            <a:r>
              <a:rPr lang="en-US" sz="1200" kern="1200" dirty="0">
                <a:solidFill>
                  <a:schemeClr val="tx1"/>
                </a:solidFill>
                <a:effectLst/>
                <a:latin typeface="+mn-lt"/>
                <a:ea typeface="+mn-ea"/>
                <a:cs typeface="+mn-cs"/>
              </a:rPr>
              <a:t> Automating physical labor and transforming global supply chains. </a:t>
            </a:r>
          </a:p>
          <a:p>
            <a:pPr marL="228600" lvl="0" indent="-228600">
              <a:buFont typeface="+mj-lt"/>
              <a:buAutoNum type="arabicPeriod"/>
            </a:pPr>
            <a:r>
              <a:rPr lang="en-US" sz="1200" b="1" kern="1200" dirty="0">
                <a:solidFill>
                  <a:schemeClr val="tx1"/>
                </a:solidFill>
                <a:effectLst/>
                <a:latin typeface="+mn-lt"/>
                <a:ea typeface="+mn-ea"/>
                <a:cs typeface="+mn-cs"/>
              </a:rPr>
              <a:t>Energy Storage:</a:t>
            </a:r>
            <a:r>
              <a:rPr lang="en-US" sz="1200" kern="1200" dirty="0">
                <a:solidFill>
                  <a:schemeClr val="tx1"/>
                </a:solidFill>
                <a:effectLst/>
                <a:latin typeface="+mn-lt"/>
                <a:ea typeface="+mn-ea"/>
                <a:cs typeface="+mn-cs"/>
              </a:rPr>
              <a:t> Decoupling transportation and grid power from fossil fuels. </a:t>
            </a:r>
          </a:p>
          <a:p>
            <a:pPr marL="228600" lvl="0" indent="-228600">
              <a:buFont typeface="+mj-lt"/>
              <a:buAutoNum type="arabicPeriod"/>
            </a:pPr>
            <a:r>
              <a:rPr lang="en-US" sz="1200" b="1" kern="1200" dirty="0">
                <a:solidFill>
                  <a:schemeClr val="tx1"/>
                </a:solidFill>
                <a:effectLst/>
                <a:latin typeface="+mn-lt"/>
                <a:ea typeface="+mn-ea"/>
                <a:cs typeface="+mn-cs"/>
              </a:rPr>
              <a:t>Blockchain:</a:t>
            </a:r>
            <a:r>
              <a:rPr lang="en-US" sz="1200" kern="1200" dirty="0">
                <a:solidFill>
                  <a:schemeClr val="tx1"/>
                </a:solidFill>
                <a:effectLst/>
                <a:latin typeface="+mn-lt"/>
                <a:ea typeface="+mn-ea"/>
                <a:cs typeface="+mn-cs"/>
              </a:rPr>
              <a:t> Re-engineering global monetary systems and financial counterparty frameworks. </a:t>
            </a:r>
          </a:p>
          <a:p>
            <a:pPr marL="228600" lvl="0" indent="-228600">
              <a:buFont typeface="+mj-lt"/>
              <a:buAutoNum type="arabicPeriod"/>
            </a:pPr>
            <a:r>
              <a:rPr lang="en-US" sz="1200" b="1" kern="1200" dirty="0" err="1">
                <a:solidFill>
                  <a:schemeClr val="tx1"/>
                </a:solidFill>
                <a:effectLst/>
                <a:latin typeface="+mn-lt"/>
                <a:ea typeface="+mn-ea"/>
                <a:cs typeface="+mn-cs"/>
              </a:rPr>
              <a:t>Multiomics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Rewriting healthcare, biological processing, and disease elimination economics. </a:t>
            </a:r>
          </a:p>
        </p:txBody>
      </p:sp>
      <p:sp>
        <p:nvSpPr>
          <p:cNvPr id="4" name="Slide Number Placeholder 3"/>
          <p:cNvSpPr>
            <a:spLocks noGrp="1"/>
          </p:cNvSpPr>
          <p:nvPr>
            <p:ph type="sldNum" sz="quarter" idx="5"/>
          </p:nvPr>
        </p:nvSpPr>
        <p:spPr/>
        <p:txBody>
          <a:bodyPr/>
          <a:lstStyle/>
          <a:p>
            <a:fld id="{11487700-D147-4E0E-A39C-F5A11DA6697A}" type="slidenum">
              <a:rPr lang="en-US" smtClean="0"/>
              <a:t>6</a:t>
            </a:fld>
            <a:endParaRPr lang="en-US"/>
          </a:p>
        </p:txBody>
      </p:sp>
    </p:spTree>
    <p:extLst>
      <p:ext uri="{BB962C8B-B14F-4D97-AF65-F5344CB8AC3E}">
        <p14:creationId xmlns:p14="http://schemas.microsoft.com/office/powerpoint/2010/main" val="460634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Investors often ask: </a:t>
                </a:r>
                <a:r>
                  <a:rPr lang="en-US" sz="1200" i="1" kern="1200" dirty="0">
                    <a:solidFill>
                      <a:schemeClr val="tx1"/>
                    </a:solidFill>
                    <a:effectLst/>
                    <a:latin typeface="+mn-lt"/>
                    <a:ea typeface="+mn-ea"/>
                    <a:cs typeface="+mn-cs"/>
                  </a:rPr>
                  <a:t>Why are equities reaching all-time highs despite rising interest rates?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Nominal GDP Formula:</a:t>
                </a:r>
                <a:r>
                  <a:rPr lang="en-US" sz="1200" kern="1200" dirty="0">
                    <a:solidFill>
                      <a:schemeClr val="tx1"/>
                    </a:solidFill>
                    <a:effectLst/>
                    <a:latin typeface="+mn-lt"/>
                    <a:ea typeface="+mn-ea"/>
                    <a:cs typeface="+mn-cs"/>
                  </a:rPr>
                  <a:t> </a:t>
                </a:r>
                <a14:m>
                  <m:oMath xmlns:m="http://schemas.openxmlformats.org/officeDocument/2006/math">
                    <m:r>
                      <m:rPr>
                        <m:nor/>
                      </m:rPr>
                      <a:rPr lang="en-US" sz="1200" i="0" kern="1200" smtClean="0">
                        <a:solidFill>
                          <a:schemeClr val="tx1"/>
                        </a:solidFill>
                        <a:latin typeface="+mn-lt"/>
                        <a:ea typeface="+mn-ea"/>
                        <a:cs typeface="+mn-cs"/>
                      </a:rPr>
                      <m:t>Nominal</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GDP</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Real</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GDP</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Growth</m:t>
                    </m:r>
                    <m:r>
                      <a:rPr lang="en-US" sz="1200" i="0" kern="1200">
                        <a:solidFill>
                          <a:schemeClr val="tx1"/>
                        </a:solidFill>
                        <a:latin typeface="Cambria Math" panose="02040503050406030204" pitchFamily="18" charset="0"/>
                        <a:ea typeface="+mn-ea"/>
                        <a:cs typeface="+mn-cs"/>
                      </a:rPr>
                      <m:t>+</m:t>
                    </m:r>
                    <m:r>
                      <m:rPr>
                        <m:nor/>
                      </m:rPr>
                      <a:rPr lang="en-US" sz="1200" i="0" kern="1200">
                        <a:solidFill>
                          <a:schemeClr val="tx1"/>
                        </a:solidFill>
                        <a:latin typeface="+mn-lt"/>
                        <a:ea typeface="+mn-ea"/>
                        <a:cs typeface="+mn-cs"/>
                      </a:rPr>
                      <m:t>Inflation</m:t>
                    </m:r>
                  </m:oMath>
                </a14:m>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There is an active macroeconomic tug-of-war:</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Upward Force:</a:t>
                </a:r>
                <a:r>
                  <a:rPr lang="en-US" sz="1200" kern="1200" dirty="0">
                    <a:solidFill>
                      <a:schemeClr val="tx1"/>
                    </a:solidFill>
                    <a:effectLst/>
                    <a:latin typeface="+mn-lt"/>
                    <a:ea typeface="+mn-ea"/>
                    <a:cs typeface="+mn-cs"/>
                  </a:rPr>
                  <a:t> Accelerating Real GDP growth (&gt;7% trajectory).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Downward Force:</a:t>
                </a:r>
                <a:r>
                  <a:rPr lang="en-US" sz="1200" kern="1200" dirty="0">
                    <a:solidFill>
                      <a:schemeClr val="tx1"/>
                    </a:solidFill>
                    <a:effectLst/>
                    <a:latin typeface="+mn-lt"/>
                    <a:ea typeface="+mn-ea"/>
                    <a:cs typeface="+mn-cs"/>
                  </a:rPr>
                  <a:t> Structural inflation trending near zero or turning negative due to technology cost drops. </a:t>
                </a:r>
              </a:p>
              <a:p>
                <a:pPr lvl="0"/>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Nominal GDP remains healthy and stable, with 10-Year Treasury yields basing around 4%. </a:t>
                </a:r>
              </a:p>
              <a:p>
                <a:pPr lvl="0"/>
                <a:r>
                  <a:rPr lang="en-US" sz="1200" kern="1200" dirty="0">
                    <a:solidFill>
                      <a:schemeClr val="tx1"/>
                    </a:solidFill>
                    <a:effectLst/>
                    <a:latin typeface="+mn-lt"/>
                    <a:ea typeface="+mn-ea"/>
                    <a:cs typeface="+mn-cs"/>
                  </a:rPr>
                  <a:t>Equities are performing well because interest rates are anchoring around real economic performance and earnings expectations, not galloping inflation.</a:t>
                </a:r>
              </a:p>
            </p:txBody>
          </p:sp>
        </mc:Choice>
        <mc:Fallback xmlns="">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Investors often ask: </a:t>
                </a:r>
                <a:r>
                  <a:rPr lang="en-US" sz="1200" i="1" kern="1200" dirty="0">
                    <a:solidFill>
                      <a:schemeClr val="tx1"/>
                    </a:solidFill>
                    <a:effectLst/>
                    <a:latin typeface="+mn-lt"/>
                    <a:ea typeface="+mn-ea"/>
                    <a:cs typeface="+mn-cs"/>
                  </a:rPr>
                  <a:t>Why are equities reaching all-time highs despite rising interest rates?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Nominal GDP Formula:</a:t>
                </a:r>
                <a:r>
                  <a:rPr lang="en-US" sz="1200" kern="1200" dirty="0">
                    <a:solidFill>
                      <a:schemeClr val="tx1"/>
                    </a:solidFill>
                    <a:effectLst/>
                    <a:latin typeface="+mn-lt"/>
                    <a:ea typeface="+mn-ea"/>
                    <a:cs typeface="+mn-cs"/>
                  </a:rPr>
                  <a:t> </a:t>
                </a:r>
                <a:r>
                  <a:rPr lang="en-US" sz="1200" i="0" kern="1200">
                    <a:solidFill>
                      <a:schemeClr val="tx1"/>
                    </a:solidFill>
                    <a:latin typeface="Cambria Math" panose="02040503050406030204" pitchFamily="18" charset="0"/>
                    <a:ea typeface="+mn-ea"/>
                    <a:cs typeface="+mn-cs"/>
                  </a:rPr>
                  <a:t>"Nominal GDP</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"Real GDP Growth</a:t>
                </a:r>
                <a:r>
                  <a:rPr lang="en-US" sz="1200" i="0" kern="1200">
                    <a:solidFill>
                      <a:schemeClr val="tx1"/>
                    </a:solidFill>
                    <a:latin typeface="+mn-lt"/>
                    <a:ea typeface="+mn-ea"/>
                    <a:cs typeface="+mn-cs"/>
                  </a:rPr>
                  <a:t>"+</a:t>
                </a:r>
                <a:r>
                  <a:rPr lang="en-US" sz="1200" i="0" kern="1200">
                    <a:solidFill>
                      <a:schemeClr val="tx1"/>
                    </a:solidFill>
                    <a:latin typeface="Cambria Math" panose="02040503050406030204" pitchFamily="18" charset="0"/>
                    <a:ea typeface="+mn-ea"/>
                    <a:cs typeface="+mn-cs"/>
                  </a:rPr>
                  <a:t>"Inflation</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There is an active macroeconomic tug-of-war:</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Upward Force:</a:t>
                </a:r>
                <a:r>
                  <a:rPr lang="en-US" sz="1200" kern="1200" dirty="0">
                    <a:solidFill>
                      <a:schemeClr val="tx1"/>
                    </a:solidFill>
                    <a:effectLst/>
                    <a:latin typeface="+mn-lt"/>
                    <a:ea typeface="+mn-ea"/>
                    <a:cs typeface="+mn-cs"/>
                  </a:rPr>
                  <a:t> Accelerating Real GDP growth (&gt;7% trajectory).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Downward Force:</a:t>
                </a:r>
                <a:r>
                  <a:rPr lang="en-US" sz="1200" kern="1200" dirty="0">
                    <a:solidFill>
                      <a:schemeClr val="tx1"/>
                    </a:solidFill>
                    <a:effectLst/>
                    <a:latin typeface="+mn-lt"/>
                    <a:ea typeface="+mn-ea"/>
                    <a:cs typeface="+mn-cs"/>
                  </a:rPr>
                  <a:t> Structural inflation trending near zero or turning negative due to technology cost drops. </a:t>
                </a:r>
              </a:p>
              <a:p>
                <a:pPr lvl="0"/>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Nominal GDP remains healthy and stable, with 10-Year Treasury yields basing around 4%. </a:t>
                </a:r>
              </a:p>
              <a:p>
                <a:pPr lvl="0"/>
                <a:r>
                  <a:rPr lang="en-US" sz="1200" kern="1200" dirty="0">
                    <a:solidFill>
                      <a:schemeClr val="tx1"/>
                    </a:solidFill>
                    <a:effectLst/>
                    <a:latin typeface="+mn-lt"/>
                    <a:ea typeface="+mn-ea"/>
                    <a:cs typeface="+mn-cs"/>
                  </a:rPr>
                  <a:t>Equities are performing well because interest rates are anchoring around real economic performance and earnings expectations, not galloping inflation.</a:t>
                </a:r>
              </a:p>
            </p:txBody>
          </p:sp>
        </mc:Fallback>
      </mc:AlternateContent>
      <p:sp>
        <p:nvSpPr>
          <p:cNvPr id="4" name="Slide Number Placeholder 3"/>
          <p:cNvSpPr>
            <a:spLocks noGrp="1"/>
          </p:cNvSpPr>
          <p:nvPr>
            <p:ph type="sldNum" sz="quarter" idx="5"/>
          </p:nvPr>
        </p:nvSpPr>
        <p:spPr/>
        <p:txBody>
          <a:bodyPr/>
          <a:lstStyle/>
          <a:p>
            <a:fld id="{11487700-D147-4E0E-A39C-F5A11DA6697A}" type="slidenum">
              <a:rPr lang="en-US" smtClean="0"/>
              <a:t>7</a:t>
            </a:fld>
            <a:endParaRPr lang="en-US"/>
          </a:p>
        </p:txBody>
      </p:sp>
    </p:spTree>
    <p:extLst>
      <p:ext uri="{BB962C8B-B14F-4D97-AF65-F5344CB8AC3E}">
        <p14:creationId xmlns:p14="http://schemas.microsoft.com/office/powerpoint/2010/main" val="320193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Central banks are caught up in noisy, backward-looking headline metrics. </a:t>
            </a:r>
          </a:p>
          <a:p>
            <a:pPr lvl="0"/>
            <a:r>
              <a:rPr lang="en-US" sz="1200" b="1" kern="1200" dirty="0">
                <a:solidFill>
                  <a:schemeClr val="tx1"/>
                </a:solidFill>
                <a:effectLst/>
                <a:latin typeface="+mn-lt"/>
                <a:ea typeface="+mn-ea"/>
                <a:cs typeface="+mn-cs"/>
              </a:rPr>
              <a:t>Headline PCE (~3.7%):</a:t>
            </a:r>
            <a:r>
              <a:rPr lang="en-US" sz="1200" kern="1200" dirty="0">
                <a:solidFill>
                  <a:schemeClr val="tx1"/>
                </a:solidFill>
                <a:effectLst/>
                <a:latin typeface="+mn-lt"/>
                <a:ea typeface="+mn-ea"/>
                <a:cs typeface="+mn-cs"/>
              </a:rPr>
              <a:t> Distorted heavily by temporary geopolitical energy/oil shocks. </a:t>
            </a:r>
          </a:p>
          <a:p>
            <a:pPr lvl="0"/>
            <a:r>
              <a:rPr lang="en-US" sz="1200" b="1" kern="1200" dirty="0">
                <a:solidFill>
                  <a:schemeClr val="tx1"/>
                </a:solidFill>
                <a:effectLst/>
                <a:latin typeface="+mn-lt"/>
                <a:ea typeface="+mn-ea"/>
                <a:cs typeface="+mn-cs"/>
              </a:rPr>
              <a:t>Dallas Fed Trimmed Mean (~2.3%):</a:t>
            </a:r>
            <a:r>
              <a:rPr lang="en-US" sz="1200" kern="1200" dirty="0">
                <a:solidFill>
                  <a:schemeClr val="tx1"/>
                </a:solidFill>
                <a:effectLst/>
                <a:latin typeface="+mn-lt"/>
                <a:ea typeface="+mn-ea"/>
                <a:cs typeface="+mn-cs"/>
              </a:rPr>
              <a:t> Removes extreme price tail movements and shows the underlying cooling trend. </a:t>
            </a:r>
          </a:p>
          <a:p>
            <a:pPr lvl="0"/>
            <a:r>
              <a:rPr lang="en-US" sz="1200" b="1" kern="1200" dirty="0">
                <a:solidFill>
                  <a:schemeClr val="tx1"/>
                </a:solidFill>
                <a:effectLst/>
                <a:latin typeface="+mn-lt"/>
                <a:ea typeface="+mn-ea"/>
                <a:cs typeface="+mn-cs"/>
              </a:rPr>
              <a:t>Private Core Measures (~1.3%):</a:t>
            </a:r>
            <a:r>
              <a:rPr lang="en-US" sz="1200" kern="1200" dirty="0">
                <a:solidFill>
                  <a:schemeClr val="tx1"/>
                </a:solidFill>
                <a:effectLst/>
                <a:latin typeface="+mn-lt"/>
                <a:ea typeface="+mn-ea"/>
                <a:cs typeface="+mn-cs"/>
              </a:rPr>
              <a:t> Direct market/private data show inflation is already well below the Fed's 2% target. </a:t>
            </a:r>
          </a:p>
          <a:p>
            <a:pPr lvl="0"/>
            <a:r>
              <a:rPr lang="en-US" sz="1200" b="1" kern="1200" dirty="0">
                <a:solidFill>
                  <a:schemeClr val="tx1"/>
                </a:solidFill>
                <a:effectLst/>
                <a:latin typeface="+mn-lt"/>
                <a:ea typeface="+mn-ea"/>
                <a:cs typeface="+mn-cs"/>
              </a:rPr>
              <a:t>Key Insight:</a:t>
            </a:r>
            <a:r>
              <a:rPr lang="en-US" sz="1200" kern="1200" dirty="0">
                <a:solidFill>
                  <a:schemeClr val="tx1"/>
                </a:solidFill>
                <a:effectLst/>
                <a:latin typeface="+mn-lt"/>
                <a:ea typeface="+mn-ea"/>
                <a:cs typeface="+mn-cs"/>
              </a:rPr>
              <a:t> Policy tightening based solely on headline noise risks over-tightening into an economy that is structurally deflating. </a:t>
            </a:r>
          </a:p>
        </p:txBody>
      </p:sp>
      <p:sp>
        <p:nvSpPr>
          <p:cNvPr id="4" name="Slide Number Placeholder 3"/>
          <p:cNvSpPr>
            <a:spLocks noGrp="1"/>
          </p:cNvSpPr>
          <p:nvPr>
            <p:ph type="sldNum" sz="quarter" idx="5"/>
          </p:nvPr>
        </p:nvSpPr>
        <p:spPr/>
        <p:txBody>
          <a:bodyPr/>
          <a:lstStyle/>
          <a:p>
            <a:fld id="{11487700-D147-4E0E-A39C-F5A11DA6697A}" type="slidenum">
              <a:rPr lang="en-US" smtClean="0"/>
              <a:t>8</a:t>
            </a:fld>
            <a:endParaRPr lang="en-US"/>
          </a:p>
        </p:txBody>
      </p:sp>
    </p:spTree>
    <p:extLst>
      <p:ext uri="{BB962C8B-B14F-4D97-AF65-F5344CB8AC3E}">
        <p14:creationId xmlns:p14="http://schemas.microsoft.com/office/powerpoint/2010/main" val="1044275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Technological unit cost declines create an irreversible gravity well pulling macro inflation down. </a:t>
            </a:r>
          </a:p>
          <a:p>
            <a:pPr lvl="0"/>
            <a:r>
              <a:rPr lang="en-US" sz="1200" b="1" kern="1200" dirty="0">
                <a:solidFill>
                  <a:schemeClr val="tx1"/>
                </a:solidFill>
                <a:effectLst/>
                <a:latin typeface="+mn-lt"/>
                <a:ea typeface="+mn-ea"/>
                <a:cs typeface="+mn-cs"/>
              </a:rPr>
              <a:t>Genomic Sequencing:</a:t>
            </a:r>
            <a:r>
              <a:rPr lang="en-US" sz="1200" kern="1200" dirty="0">
                <a:solidFill>
                  <a:schemeClr val="tx1"/>
                </a:solidFill>
                <a:effectLst/>
                <a:latin typeface="+mn-lt"/>
                <a:ea typeface="+mn-ea"/>
                <a:cs typeface="+mn-cs"/>
              </a:rPr>
              <a:t> Cost dropped from $2.7 Billion per genome in 2003 to under $100 today, targeting $10. </a:t>
            </a:r>
          </a:p>
          <a:p>
            <a:pPr lvl="0"/>
            <a:r>
              <a:rPr lang="en-US" sz="1200" b="1" kern="1200" dirty="0">
                <a:solidFill>
                  <a:schemeClr val="tx1"/>
                </a:solidFill>
                <a:effectLst/>
                <a:latin typeface="+mn-lt"/>
                <a:ea typeface="+mn-ea"/>
                <a:cs typeface="+mn-cs"/>
              </a:rPr>
              <a:t>AI Inference:</a:t>
            </a:r>
            <a:r>
              <a:rPr lang="en-US" sz="1200" kern="1200" dirty="0">
                <a:solidFill>
                  <a:schemeClr val="tx1"/>
                </a:solidFill>
                <a:effectLst/>
                <a:latin typeface="+mn-lt"/>
                <a:ea typeface="+mn-ea"/>
                <a:cs typeface="+mn-cs"/>
              </a:rPr>
              <a:t> Costs are dropping at an astounding rate of </a:t>
            </a:r>
            <a:r>
              <a:rPr lang="en-US" sz="1200" b="1" kern="1200" dirty="0">
                <a:solidFill>
                  <a:schemeClr val="tx1"/>
                </a:solidFill>
                <a:effectLst/>
                <a:latin typeface="+mn-lt"/>
                <a:ea typeface="+mn-ea"/>
                <a:cs typeface="+mn-cs"/>
              </a:rPr>
              <a:t>99.99% per year</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As compute and biological engineering costs collapse, these cost savings cascade into logistics, healthcare, software, and industrial production, crushing legacy inflationary pressures. </a:t>
            </a:r>
          </a:p>
        </p:txBody>
      </p:sp>
      <p:sp>
        <p:nvSpPr>
          <p:cNvPr id="4" name="Slide Number Placeholder 3"/>
          <p:cNvSpPr>
            <a:spLocks noGrp="1"/>
          </p:cNvSpPr>
          <p:nvPr>
            <p:ph type="sldNum" sz="quarter" idx="5"/>
          </p:nvPr>
        </p:nvSpPr>
        <p:spPr/>
        <p:txBody>
          <a:bodyPr/>
          <a:lstStyle/>
          <a:p>
            <a:fld id="{11487700-D147-4E0E-A39C-F5A11DA6697A}" type="slidenum">
              <a:rPr lang="en-US" smtClean="0"/>
              <a:t>9</a:t>
            </a:fld>
            <a:endParaRPr lang="en-US"/>
          </a:p>
        </p:txBody>
      </p:sp>
    </p:spTree>
    <p:extLst>
      <p:ext uri="{BB962C8B-B14F-4D97-AF65-F5344CB8AC3E}">
        <p14:creationId xmlns:p14="http://schemas.microsoft.com/office/powerpoint/2010/main" val="2350226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Despite two active geopolitical conflicts, crude oil has failed to sustain or break its 2008 high ($147). </a:t>
            </a:r>
          </a:p>
          <a:p>
            <a:pPr lvl="0"/>
            <a:r>
              <a:rPr lang="en-US" sz="1200" b="1" kern="1200" dirty="0">
                <a:solidFill>
                  <a:schemeClr val="tx1"/>
                </a:solidFill>
                <a:effectLst/>
                <a:latin typeface="+mn-lt"/>
                <a:ea typeface="+mn-ea"/>
                <a:cs typeface="+mn-cs"/>
              </a:rPr>
              <a:t>Supply Side Pressure:</a:t>
            </a:r>
            <a:r>
              <a:rPr lang="en-US" sz="1200" kern="1200" dirty="0">
                <a:solidFill>
                  <a:schemeClr val="tx1"/>
                </a:solidFill>
                <a:effectLst/>
                <a:latin typeface="+mn-lt"/>
                <a:ea typeface="+mn-ea"/>
                <a:cs typeface="+mn-cs"/>
              </a:rPr>
              <a:t> US production is at record levels (~13.6M bpd), Abu Dhabi output is up 78% (&gt;4M bpd) after leaving OPEC constraints, and additional non-OPEC supply continues to expand. </a:t>
            </a:r>
          </a:p>
          <a:p>
            <a:pPr lvl="0"/>
            <a:r>
              <a:rPr lang="en-US" sz="1200" b="1" kern="1200" dirty="0">
                <a:solidFill>
                  <a:schemeClr val="tx1"/>
                </a:solidFill>
                <a:effectLst/>
                <a:latin typeface="+mn-lt"/>
                <a:ea typeface="+mn-ea"/>
                <a:cs typeface="+mn-cs"/>
              </a:rPr>
              <a:t>Demand/Grid Ceiling:</a:t>
            </a:r>
            <a:r>
              <a:rPr lang="en-US" sz="1200" kern="1200" dirty="0">
                <a:solidFill>
                  <a:schemeClr val="tx1"/>
                </a:solidFill>
                <a:effectLst/>
                <a:latin typeface="+mn-lt"/>
                <a:ea typeface="+mn-ea"/>
                <a:cs typeface="+mn-cs"/>
              </a:rPr>
              <a:t> Transport is shifting to electricity. Grids are powered by solar, wind, nuclear, and natural gas—not crude oil. </a:t>
            </a:r>
          </a:p>
          <a:p>
            <a:pPr lvl="0"/>
            <a:r>
              <a:rPr lang="en-US" sz="1200" kern="1200" dirty="0">
                <a:solidFill>
                  <a:schemeClr val="tx1"/>
                </a:solidFill>
                <a:effectLst/>
                <a:latin typeface="+mn-lt"/>
                <a:ea typeface="+mn-ea"/>
                <a:cs typeface="+mn-cs"/>
              </a:rPr>
              <a:t>Major Middle Eastern producers recognize oil demand is peaking. To prevent stranded assets, producers are rushing to monetize reserves before irrelevance, which could push crude prices down toward $30/barrel. </a:t>
            </a:r>
          </a:p>
        </p:txBody>
      </p:sp>
      <p:sp>
        <p:nvSpPr>
          <p:cNvPr id="4" name="Slide Number Placeholder 3"/>
          <p:cNvSpPr>
            <a:spLocks noGrp="1"/>
          </p:cNvSpPr>
          <p:nvPr>
            <p:ph type="sldNum" sz="quarter" idx="5"/>
          </p:nvPr>
        </p:nvSpPr>
        <p:spPr/>
        <p:txBody>
          <a:bodyPr/>
          <a:lstStyle/>
          <a:p>
            <a:fld id="{11487700-D147-4E0E-A39C-F5A11DA6697A}" type="slidenum">
              <a:rPr lang="en-US" smtClean="0"/>
              <a:t>10</a:t>
            </a:fld>
            <a:endParaRPr lang="en-US"/>
          </a:p>
        </p:txBody>
      </p:sp>
    </p:spTree>
    <p:extLst>
      <p:ext uri="{BB962C8B-B14F-4D97-AF65-F5344CB8AC3E}">
        <p14:creationId xmlns:p14="http://schemas.microsoft.com/office/powerpoint/2010/main" val="3385863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Contrary to fears that AI destroys total employment, history and recent enterprise data show AI is a net job creator for innovative firms. </a:t>
                </a:r>
              </a:p>
              <a:p>
                <a:pPr lvl="0"/>
                <a:r>
                  <a:rPr lang="en-US" sz="1200" kern="1200" dirty="0">
                    <a:solidFill>
                      <a:schemeClr val="tx1"/>
                    </a:solidFill>
                    <a:effectLst/>
                    <a:latin typeface="+mn-lt"/>
                    <a:ea typeface="+mn-ea"/>
                    <a:cs typeface="+mn-cs"/>
                  </a:rPr>
                  <a:t>However, macro demographics—specifically retiring Baby Boomers and changing labor participation patterns—are structurally lowering the </a:t>
                </a:r>
                <a:r>
                  <a:rPr lang="en-US" sz="1200" b="1" kern="1200" dirty="0">
                    <a:solidFill>
                      <a:schemeClr val="tx1"/>
                    </a:solidFill>
                    <a:effectLst/>
                    <a:latin typeface="+mn-lt"/>
                    <a:ea typeface="+mn-ea"/>
                    <a:cs typeface="+mn-cs"/>
                  </a:rPr>
                  <a:t>Velocity of Money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𝑉</m:t>
                    </m:r>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Macro Impact:</a:t>
                </a:r>
                <a:r>
                  <a:rPr lang="en-US" sz="1200" kern="1200" dirty="0">
                    <a:solidFill>
                      <a:schemeClr val="tx1"/>
                    </a:solidFill>
                    <a:effectLst/>
                    <a:latin typeface="+mn-lt"/>
                    <a:ea typeface="+mn-ea"/>
                    <a:cs typeface="+mn-cs"/>
                  </a:rPr>
                  <a:t> Because money velocity continues to decline/flatten alongside labor participation shifts, money supply growth (M2 around ~5%) remains non-inflationary. </a:t>
                </a:r>
              </a:p>
            </p:txBody>
          </p:sp>
        </mc:Choice>
        <mc:Fallback xmlns="">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Contrary to fears that AI destroys total employment, history and recent enterprise data show AI is a net job creator for innovative firms. </a:t>
                </a:r>
              </a:p>
              <a:p>
                <a:pPr lvl="0"/>
                <a:r>
                  <a:rPr lang="en-US" sz="1200" kern="1200" dirty="0">
                    <a:solidFill>
                      <a:schemeClr val="tx1"/>
                    </a:solidFill>
                    <a:effectLst/>
                    <a:latin typeface="+mn-lt"/>
                    <a:ea typeface="+mn-ea"/>
                    <a:cs typeface="+mn-cs"/>
                  </a:rPr>
                  <a:t>However, macro demographics—specifically retiring Baby Boomers and changing labor participation patterns—are structurally lowering the </a:t>
                </a:r>
                <a:r>
                  <a:rPr lang="en-US" sz="1200" b="1" kern="1200" dirty="0">
                    <a:solidFill>
                      <a:schemeClr val="tx1"/>
                    </a:solidFill>
                    <a:effectLst/>
                    <a:latin typeface="+mn-lt"/>
                    <a:ea typeface="+mn-ea"/>
                    <a:cs typeface="+mn-cs"/>
                  </a:rPr>
                  <a:t>Velocity of Money (</a:t>
                </a:r>
                <a:r>
                  <a:rPr lang="en-US" sz="1200" i="0" kern="1200">
                    <a:solidFill>
                      <a:schemeClr val="tx1"/>
                    </a:solidFill>
                    <a:latin typeface="+mn-lt"/>
                    <a:ea typeface="+mn-ea"/>
                    <a:cs typeface="+mn-cs"/>
                  </a:rPr>
                  <a:t>𝑉</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Macro Impact:</a:t>
                </a:r>
                <a:r>
                  <a:rPr lang="en-US" sz="1200" kern="1200" dirty="0">
                    <a:solidFill>
                      <a:schemeClr val="tx1"/>
                    </a:solidFill>
                    <a:effectLst/>
                    <a:latin typeface="+mn-lt"/>
                    <a:ea typeface="+mn-ea"/>
                    <a:cs typeface="+mn-cs"/>
                  </a:rPr>
                  <a:t> Because money velocity continues to decline/flatten alongside labor participation shifts, money supply growth (M2 around ~5%) remains non-inflationary. </a:t>
                </a:r>
              </a:p>
            </p:txBody>
          </p:sp>
        </mc:Fallback>
      </mc:AlternateContent>
      <p:sp>
        <p:nvSpPr>
          <p:cNvPr id="4" name="Slide Number Placeholder 3"/>
          <p:cNvSpPr>
            <a:spLocks noGrp="1"/>
          </p:cNvSpPr>
          <p:nvPr>
            <p:ph type="sldNum" sz="quarter" idx="5"/>
          </p:nvPr>
        </p:nvSpPr>
        <p:spPr/>
        <p:txBody>
          <a:bodyPr/>
          <a:lstStyle/>
          <a:p>
            <a:fld id="{11487700-D147-4E0E-A39C-F5A11DA6697A}" type="slidenum">
              <a:rPr lang="en-US" smtClean="0"/>
              <a:t>11</a:t>
            </a:fld>
            <a:endParaRPr lang="en-US"/>
          </a:p>
        </p:txBody>
      </p:sp>
    </p:spTree>
    <p:extLst>
      <p:ext uri="{BB962C8B-B14F-4D97-AF65-F5344CB8AC3E}">
        <p14:creationId xmlns:p14="http://schemas.microsoft.com/office/powerpoint/2010/main" val="2567828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Headlines constantly warn about the growing US national debt reaching ~$40 Trillion. </a:t>
            </a:r>
          </a:p>
          <a:p>
            <a:pPr lvl="0"/>
            <a:r>
              <a:rPr lang="en-US" sz="1200" kern="1200" dirty="0">
                <a:solidFill>
                  <a:schemeClr val="tx1"/>
                </a:solidFill>
                <a:effectLst/>
                <a:latin typeface="+mn-lt"/>
                <a:ea typeface="+mn-ea"/>
                <a:cs typeface="+mn-cs"/>
              </a:rPr>
              <a:t>While absolute national debt is high relative to GDP, the </a:t>
            </a:r>
            <a:r>
              <a:rPr lang="en-US" sz="1200" b="1" kern="1200" dirty="0">
                <a:solidFill>
                  <a:schemeClr val="tx1"/>
                </a:solidFill>
                <a:effectLst/>
                <a:latin typeface="+mn-lt"/>
                <a:ea typeface="+mn-ea"/>
                <a:cs typeface="+mn-cs"/>
              </a:rPr>
              <a:t>Debt-to-Corporate Equities Ratio</a:t>
            </a:r>
            <a:r>
              <a:rPr lang="en-US" sz="1200" kern="1200" dirty="0">
                <a:solidFill>
                  <a:schemeClr val="tx1"/>
                </a:solidFill>
                <a:effectLst/>
                <a:latin typeface="+mn-lt"/>
                <a:ea typeface="+mn-ea"/>
                <a:cs typeface="+mn-cs"/>
              </a:rPr>
              <a:t> tells a completely different story. </a:t>
            </a:r>
          </a:p>
          <a:p>
            <a:pPr lvl="0"/>
            <a:r>
              <a:rPr lang="en-US" sz="1200" kern="1200" dirty="0">
                <a:solidFill>
                  <a:schemeClr val="tx1"/>
                </a:solidFill>
                <a:effectLst/>
                <a:latin typeface="+mn-lt"/>
                <a:ea typeface="+mn-ea"/>
                <a:cs typeface="+mn-cs"/>
              </a:rPr>
              <a:t>Debt as a percentage of overall corporate equity wealth is sitting near record lows. </a:t>
            </a:r>
          </a:p>
          <a:p>
            <a:pPr lvl="0"/>
            <a:r>
              <a:rPr lang="en-US" sz="1200" kern="1200" dirty="0">
                <a:solidFill>
                  <a:schemeClr val="tx1"/>
                </a:solidFill>
                <a:effectLst/>
                <a:latin typeface="+mn-lt"/>
                <a:ea typeface="+mn-ea"/>
                <a:cs typeface="+mn-cs"/>
              </a:rPr>
              <a:t>Technological expansion has generated massive equity wealth, dramatically enhancing the economy's capacity to service debt. </a:t>
            </a:r>
          </a:p>
          <a:p>
            <a:pPr lvl="0"/>
            <a:r>
              <a:rPr lang="en-US" sz="1200" b="1" kern="1200" dirty="0">
                <a:solidFill>
                  <a:schemeClr val="tx1"/>
                </a:solidFill>
                <a:effectLst/>
                <a:latin typeface="+mn-lt"/>
                <a:ea typeface="+mn-ea"/>
                <a:cs typeface="+mn-cs"/>
              </a:rPr>
              <a:t>The Real Threat:</a:t>
            </a:r>
            <a:r>
              <a:rPr lang="en-US" sz="1200" kern="1200" dirty="0">
                <a:solidFill>
                  <a:schemeClr val="tx1"/>
                </a:solidFill>
                <a:effectLst/>
                <a:latin typeface="+mn-lt"/>
                <a:ea typeface="+mn-ea"/>
                <a:cs typeface="+mn-cs"/>
              </a:rPr>
              <a:t> Anti-innovation taxation or punitive wealth taxes that would choke the underlying technology wealth-generation engine</a:t>
            </a:r>
          </a:p>
        </p:txBody>
      </p:sp>
      <p:sp>
        <p:nvSpPr>
          <p:cNvPr id="4" name="Slide Number Placeholder 3"/>
          <p:cNvSpPr>
            <a:spLocks noGrp="1"/>
          </p:cNvSpPr>
          <p:nvPr>
            <p:ph type="sldNum" sz="quarter" idx="5"/>
          </p:nvPr>
        </p:nvSpPr>
        <p:spPr/>
        <p:txBody>
          <a:bodyPr/>
          <a:lstStyle/>
          <a:p>
            <a:fld id="{11487700-D147-4E0E-A39C-F5A11DA6697A}" type="slidenum">
              <a:rPr lang="en-US" smtClean="0"/>
              <a:t>12</a:t>
            </a:fld>
            <a:endParaRPr lang="en-US"/>
          </a:p>
        </p:txBody>
      </p:sp>
    </p:spTree>
    <p:extLst>
      <p:ext uri="{BB962C8B-B14F-4D97-AF65-F5344CB8AC3E}">
        <p14:creationId xmlns:p14="http://schemas.microsoft.com/office/powerpoint/2010/main" val="3431496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High returns on invested capital (ROIC) always spark creative destruction. </a:t>
            </a:r>
          </a:p>
          <a:p>
            <a:pPr lvl="0"/>
            <a:r>
              <a:rPr lang="en-US" sz="1200" b="1" kern="1200" dirty="0">
                <a:solidFill>
                  <a:schemeClr val="tx1"/>
                </a:solidFill>
                <a:effectLst/>
                <a:latin typeface="+mn-lt"/>
                <a:ea typeface="+mn-ea"/>
                <a:cs typeface="+mn-cs"/>
              </a:rPr>
              <a:t>Massive ROI:</a:t>
            </a:r>
            <a:r>
              <a:rPr lang="en-US" sz="1200" kern="1200" dirty="0">
                <a:solidFill>
                  <a:schemeClr val="tx1"/>
                </a:solidFill>
                <a:effectLst/>
                <a:latin typeface="+mn-lt"/>
                <a:ea typeface="+mn-ea"/>
                <a:cs typeface="+mn-cs"/>
              </a:rPr>
              <a:t> Look at modern AI infrastructure buildouts—e.g., compute commitments reaching $50B/GW versus mid-$20s deployment costs, creating immediate operational ROI. </a:t>
            </a:r>
          </a:p>
          <a:p>
            <a:pPr lvl="0"/>
            <a:r>
              <a:rPr lang="en-US" sz="1200" b="1" kern="1200" dirty="0">
                <a:solidFill>
                  <a:schemeClr val="tx1"/>
                </a:solidFill>
                <a:effectLst/>
                <a:latin typeface="+mn-lt"/>
                <a:ea typeface="+mn-ea"/>
                <a:cs typeface="+mn-cs"/>
              </a:rPr>
              <a:t>Legacy Obsolescence:</a:t>
            </a:r>
            <a:r>
              <a:rPr lang="en-US" sz="1200" kern="1200" dirty="0">
                <a:solidFill>
                  <a:schemeClr val="tx1"/>
                </a:solidFill>
                <a:effectLst/>
                <a:latin typeface="+mn-lt"/>
                <a:ea typeface="+mn-ea"/>
                <a:cs typeface="+mn-cs"/>
              </a:rPr>
              <a:t> During the 19th century rail boom, 200 railroad companies went bankrupt while building out infrastructure. </a:t>
            </a:r>
          </a:p>
          <a:p>
            <a:pPr lvl="0"/>
            <a:r>
              <a:rPr lang="en-US" sz="1200" kern="1200" dirty="0">
                <a:solidFill>
                  <a:schemeClr val="tx1"/>
                </a:solidFill>
                <a:effectLst/>
                <a:latin typeface="+mn-lt"/>
                <a:ea typeface="+mn-ea"/>
                <a:cs typeface="+mn-cs"/>
              </a:rPr>
              <a:t>Today's AI revolution will severely disrupt legacy Software-as-a-Service (SaaS) and traditional internal combustion automotive models. </a:t>
            </a:r>
          </a:p>
          <a:p>
            <a:pPr lvl="0"/>
            <a:r>
              <a:rPr lang="en-US" sz="1200" kern="1200" dirty="0">
                <a:solidFill>
                  <a:schemeClr val="tx1"/>
                </a:solidFill>
                <a:effectLst/>
                <a:latin typeface="+mn-lt"/>
                <a:ea typeface="+mn-ea"/>
                <a:cs typeface="+mn-cs"/>
              </a:rPr>
              <a:t>Investors must navigate systemic counterparty risk as traditional cash-cow models face technological replacement. </a:t>
            </a:r>
          </a:p>
          <a:p>
            <a:endParaRPr lang="en-US" dirty="0"/>
          </a:p>
        </p:txBody>
      </p:sp>
      <p:sp>
        <p:nvSpPr>
          <p:cNvPr id="4" name="Slide Number Placeholder 3"/>
          <p:cNvSpPr>
            <a:spLocks noGrp="1"/>
          </p:cNvSpPr>
          <p:nvPr>
            <p:ph type="sldNum" sz="quarter" idx="5"/>
          </p:nvPr>
        </p:nvSpPr>
        <p:spPr/>
        <p:txBody>
          <a:bodyPr/>
          <a:lstStyle/>
          <a:p>
            <a:fld id="{11487700-D147-4E0E-A39C-F5A11DA6697A}" type="slidenum">
              <a:rPr lang="en-US" smtClean="0"/>
              <a:t>13</a:t>
            </a:fld>
            <a:endParaRPr lang="en-US"/>
          </a:p>
        </p:txBody>
      </p:sp>
    </p:spTree>
    <p:extLst>
      <p:ext uri="{BB962C8B-B14F-4D97-AF65-F5344CB8AC3E}">
        <p14:creationId xmlns:p14="http://schemas.microsoft.com/office/powerpoint/2010/main" val="294826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Gold vs. Bitcoin: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Traditional fiat hedge; faces downward pressure during US Dollar strength; zero to negative correlation with technological productivity.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Bitcoin:</a:t>
            </a:r>
            <a:r>
              <a:rPr lang="en-US" sz="1200" kern="1200" dirty="0">
                <a:solidFill>
                  <a:schemeClr val="tx1"/>
                </a:solidFill>
                <a:effectLst/>
                <a:latin typeface="+mn-lt"/>
                <a:ea typeface="+mn-ea"/>
                <a:cs typeface="+mn-cs"/>
              </a:rPr>
              <a:t> Digital monetary system + tech network; independent growth asset; high correlation with innovation ecosystems. </a:t>
            </a:r>
          </a:p>
          <a:p>
            <a:pPr lvl="0"/>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Bitcoin/Gold ratio</a:t>
            </a:r>
            <a:r>
              <a:rPr lang="en-US" sz="1200" kern="1200" dirty="0">
                <a:solidFill>
                  <a:schemeClr val="tx1"/>
                </a:solidFill>
                <a:effectLst/>
                <a:latin typeface="+mn-lt"/>
                <a:ea typeface="+mn-ea"/>
                <a:cs typeface="+mn-cs"/>
              </a:rPr>
              <a:t> is breaking out. </a:t>
            </a:r>
          </a:p>
          <a:p>
            <a:pPr lvl="0"/>
            <a:r>
              <a:rPr lang="en-US" sz="1200" kern="1200" dirty="0">
                <a:solidFill>
                  <a:schemeClr val="tx1"/>
                </a:solidFill>
                <a:effectLst/>
                <a:latin typeface="+mn-lt"/>
                <a:ea typeface="+mn-ea"/>
                <a:cs typeface="+mn-cs"/>
              </a:rPr>
              <a:t>As counterparty risk grows in legacy sectors, capital is rotating toward Bitcoin as an asset that functions both as systemic risk-off insurance and risk-on participation in a monetary technology network. </a:t>
            </a:r>
          </a:p>
        </p:txBody>
      </p:sp>
      <p:sp>
        <p:nvSpPr>
          <p:cNvPr id="4" name="Slide Number Placeholder 3"/>
          <p:cNvSpPr>
            <a:spLocks noGrp="1"/>
          </p:cNvSpPr>
          <p:nvPr>
            <p:ph type="sldNum" sz="quarter" idx="5"/>
          </p:nvPr>
        </p:nvSpPr>
        <p:spPr/>
        <p:txBody>
          <a:bodyPr/>
          <a:lstStyle/>
          <a:p>
            <a:fld id="{11487700-D147-4E0E-A39C-F5A11DA6697A}" type="slidenum">
              <a:rPr lang="en-US" smtClean="0"/>
              <a:t>14</a:t>
            </a:fld>
            <a:endParaRPr lang="en-US"/>
          </a:p>
        </p:txBody>
      </p:sp>
    </p:spTree>
    <p:extLst>
      <p:ext uri="{BB962C8B-B14F-4D97-AF65-F5344CB8AC3E}">
        <p14:creationId xmlns:p14="http://schemas.microsoft.com/office/powerpoint/2010/main" val="186590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Prepare for Equity Resilience:</a:t>
            </a:r>
            <a:r>
              <a:rPr lang="en-US" sz="1200" kern="1200" dirty="0">
                <a:solidFill>
                  <a:schemeClr val="tx1"/>
                </a:solidFill>
                <a:effectLst/>
                <a:latin typeface="+mn-lt"/>
                <a:ea typeface="+mn-ea"/>
                <a:cs typeface="+mn-cs"/>
              </a:rPr>
              <a:t> Understand that market gains during rising rate environments are driven by real GDP productivity (&gt;7%), not runaway inflation. </a:t>
            </a:r>
          </a:p>
          <a:p>
            <a:pPr lvl="0"/>
            <a:r>
              <a:rPr lang="en-US" sz="1200" b="1" kern="1200" dirty="0">
                <a:solidFill>
                  <a:schemeClr val="tx1"/>
                </a:solidFill>
                <a:effectLst/>
                <a:latin typeface="+mn-lt"/>
                <a:ea typeface="+mn-ea"/>
                <a:cs typeface="+mn-cs"/>
              </a:rPr>
              <a:t>2. Anticipate Collapsing Base Costs:</a:t>
            </a:r>
            <a:r>
              <a:rPr lang="en-US" sz="1200" kern="1200" dirty="0">
                <a:solidFill>
                  <a:schemeClr val="tx1"/>
                </a:solidFill>
                <a:effectLst/>
                <a:latin typeface="+mn-lt"/>
                <a:ea typeface="+mn-ea"/>
                <a:cs typeface="+mn-cs"/>
              </a:rPr>
              <a:t> Factor in 99.99% annual cost drops in AI compute and </a:t>
            </a:r>
            <a:r>
              <a:rPr lang="en-US" sz="1200" kern="1200" dirty="0" err="1">
                <a:solidFill>
                  <a:schemeClr val="tx1"/>
                </a:solidFill>
                <a:effectLst/>
                <a:latin typeface="+mn-lt"/>
                <a:ea typeface="+mn-ea"/>
                <a:cs typeface="+mn-cs"/>
              </a:rPr>
              <a:t>multiomics</a:t>
            </a:r>
            <a:r>
              <a:rPr lang="en-US" sz="1200" kern="1200" dirty="0">
                <a:solidFill>
                  <a:schemeClr val="tx1"/>
                </a:solidFill>
                <a:effectLst/>
                <a:latin typeface="+mn-lt"/>
                <a:ea typeface="+mn-ea"/>
                <a:cs typeface="+mn-cs"/>
              </a:rPr>
              <a:t> when modeling corporate margins and cost of living. </a:t>
            </a:r>
          </a:p>
          <a:p>
            <a:pPr lvl="0"/>
            <a:r>
              <a:rPr lang="en-US" sz="1200" b="1" kern="1200" dirty="0">
                <a:solidFill>
                  <a:schemeClr val="tx1"/>
                </a:solidFill>
                <a:effectLst/>
                <a:latin typeface="+mn-lt"/>
                <a:ea typeface="+mn-ea"/>
                <a:cs typeface="+mn-cs"/>
              </a:rPr>
              <a:t>3. Rotate Away from Legacy Havens:</a:t>
            </a:r>
            <a:r>
              <a:rPr lang="en-US" sz="1200" kern="1200" dirty="0">
                <a:solidFill>
                  <a:schemeClr val="tx1"/>
                </a:solidFill>
                <a:effectLst/>
                <a:latin typeface="+mn-lt"/>
                <a:ea typeface="+mn-ea"/>
                <a:cs typeface="+mn-cs"/>
              </a:rPr>
              <a:t> Identify counterparty risks in legacy software, traditional auto, and fossil fuels. Pivot capital into technological networks like Bitcoin and leading innovation platforms. </a:t>
            </a:r>
          </a:p>
          <a:p>
            <a:endParaRPr lang="en-US" dirty="0"/>
          </a:p>
        </p:txBody>
      </p:sp>
      <p:sp>
        <p:nvSpPr>
          <p:cNvPr id="4" name="Slide Number Placeholder 3"/>
          <p:cNvSpPr>
            <a:spLocks noGrp="1"/>
          </p:cNvSpPr>
          <p:nvPr>
            <p:ph type="sldNum" sz="quarter" idx="5"/>
          </p:nvPr>
        </p:nvSpPr>
        <p:spPr/>
        <p:txBody>
          <a:bodyPr/>
          <a:lstStyle/>
          <a:p>
            <a:fld id="{11487700-D147-4E0E-A39C-F5A11DA6697A}" type="slidenum">
              <a:rPr lang="en-US" smtClean="0"/>
              <a:t>15</a:t>
            </a:fld>
            <a:endParaRPr lang="en-US"/>
          </a:p>
        </p:txBody>
      </p:sp>
    </p:spTree>
    <p:extLst>
      <p:ext uri="{BB962C8B-B14F-4D97-AF65-F5344CB8AC3E}">
        <p14:creationId xmlns:p14="http://schemas.microsoft.com/office/powerpoint/2010/main" val="213927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Benchmark:</a:t>
            </a:r>
            <a:r>
              <a:rPr lang="en-US" sz="1200" kern="1200" dirty="0">
                <a:solidFill>
                  <a:schemeClr val="tx1"/>
                </a:solidFill>
                <a:effectLst/>
                <a:latin typeface="+mn-lt"/>
                <a:ea typeface="+mn-ea"/>
                <a:cs typeface="+mn-cs"/>
              </a:rPr>
              <a:t> Pre-industrial growth was 0.6%. The Industrial Revolution unleashed a 500% surge to 3.0% sustained growth across Rail, Electricity, and Telephone. </a:t>
            </a:r>
          </a:p>
          <a:p>
            <a:pPr lvl="0"/>
            <a:r>
              <a:rPr lang="en-US" sz="1200" b="1" kern="1200" dirty="0">
                <a:solidFill>
                  <a:schemeClr val="tx1"/>
                </a:solidFill>
                <a:effectLst/>
                <a:latin typeface="+mn-lt"/>
                <a:ea typeface="+mn-ea"/>
                <a:cs typeface="+mn-cs"/>
              </a:rPr>
              <a:t>Today's Setup:</a:t>
            </a:r>
            <a:r>
              <a:rPr lang="en-US" sz="1200" kern="1200" dirty="0">
                <a:solidFill>
                  <a:schemeClr val="tx1"/>
                </a:solidFill>
                <a:effectLst/>
                <a:latin typeface="+mn-lt"/>
                <a:ea typeface="+mn-ea"/>
                <a:cs typeface="+mn-cs"/>
              </a:rPr>
              <a:t> 5 converging platforms (AI, Robotics, Energy Storage, Blockchain, </a:t>
            </a:r>
            <a:r>
              <a:rPr lang="en-US" sz="1200" kern="1200" dirty="0" err="1">
                <a:solidFill>
                  <a:schemeClr val="tx1"/>
                </a:solidFill>
                <a:effectLst/>
                <a:latin typeface="+mn-lt"/>
                <a:ea typeface="+mn-ea"/>
                <a:cs typeface="+mn-cs"/>
              </a:rPr>
              <a:t>Multiomics</a:t>
            </a:r>
            <a:r>
              <a:rPr lang="en-US" sz="1200" kern="1200" dirty="0">
                <a:solidFill>
                  <a:schemeClr val="tx1"/>
                </a:solidFill>
                <a:effectLst/>
                <a:latin typeface="+mn-lt"/>
                <a:ea typeface="+mn-ea"/>
                <a:cs typeface="+mn-cs"/>
              </a:rPr>
              <a:t>) accompanied by unprecedented 99.99% cost drops in fundamental inputs. </a:t>
            </a:r>
          </a:p>
          <a:p>
            <a:pPr lvl="0"/>
            <a:r>
              <a:rPr lang="en-US" sz="1200" kern="1200" dirty="0">
                <a:solidFill>
                  <a:schemeClr val="tx1"/>
                </a:solidFill>
                <a:effectLst/>
                <a:latin typeface="+mn-lt"/>
                <a:ea typeface="+mn-ea"/>
                <a:cs typeface="+mn-cs"/>
              </a:rPr>
              <a:t>While traditional consensus (IMF) expects a static 3.1% growth, ARK's analysis shows real global GDP growth could double or even reach </a:t>
            </a:r>
            <a:r>
              <a:rPr lang="en-US" sz="1200" b="1" kern="1200" dirty="0">
                <a:solidFill>
                  <a:schemeClr val="tx1"/>
                </a:solidFill>
                <a:effectLst/>
                <a:latin typeface="+mn-lt"/>
                <a:ea typeface="+mn-ea"/>
                <a:cs typeface="+mn-cs"/>
              </a:rPr>
              <a:t>15% annually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We are stepping out of 125 years of static consensus into a historic growth acceleration led by technology-driven productivity.</a:t>
            </a:r>
          </a:p>
          <a:p>
            <a:endParaRPr lang="en-US" dirty="0"/>
          </a:p>
        </p:txBody>
      </p:sp>
      <p:sp>
        <p:nvSpPr>
          <p:cNvPr id="4" name="Slide Number Placeholder 3"/>
          <p:cNvSpPr>
            <a:spLocks noGrp="1"/>
          </p:cNvSpPr>
          <p:nvPr>
            <p:ph type="sldNum" sz="quarter" idx="5"/>
          </p:nvPr>
        </p:nvSpPr>
        <p:spPr/>
        <p:txBody>
          <a:bodyPr/>
          <a:lstStyle/>
          <a:p>
            <a:fld id="{11487700-D147-4E0E-A39C-F5A11DA6697A}" type="slidenum">
              <a:rPr lang="en-US" smtClean="0"/>
              <a:t>16</a:t>
            </a:fld>
            <a:endParaRPr lang="en-US"/>
          </a:p>
        </p:txBody>
      </p:sp>
    </p:spTree>
    <p:extLst>
      <p:ext uri="{BB962C8B-B14F-4D97-AF65-F5344CB8AC3E}">
        <p14:creationId xmlns:p14="http://schemas.microsoft.com/office/powerpoint/2010/main" val="119304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9FD74-6C5E-7C06-F7C1-49C8928F02D3}"/>
              </a:ext>
            </a:extLst>
          </p:cNvPr>
          <p:cNvSpPr>
            <a:spLocks noGrp="1"/>
          </p:cNvSpPr>
          <p:nvPr>
            <p:ph type="dt" sz="half" idx="10"/>
          </p:nvPr>
        </p:nvSpPr>
        <p:spPr/>
        <p:txBody>
          <a:bodyPr/>
          <a:lstStyle/>
          <a:p>
            <a:fld id="{5A2B9DAF-308C-433A-9FA7-D56B353BF751}" type="datetimeFigureOut">
              <a:rPr lang="en-US" smtClean="0"/>
              <a:t>10/21/2026</a:t>
            </a:fld>
            <a:endParaRPr lang="en-US"/>
          </a:p>
        </p:txBody>
      </p:sp>
      <p:sp>
        <p:nvSpPr>
          <p:cNvPr id="3" name="Footer Placeholder 2">
            <a:extLst>
              <a:ext uri="{FF2B5EF4-FFF2-40B4-BE49-F238E27FC236}">
                <a16:creationId xmlns:a16="http://schemas.microsoft.com/office/drawing/2014/main" id="{2772F734-3076-EA77-15DC-1E45F909CB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F4630-3DCA-C7D7-41A6-C0A86425810C}"/>
              </a:ext>
            </a:extLst>
          </p:cNvPr>
          <p:cNvSpPr>
            <a:spLocks noGrp="1"/>
          </p:cNvSpPr>
          <p:nvPr>
            <p:ph type="sldNum" sz="quarter" idx="12"/>
          </p:nvPr>
        </p:nvSpPr>
        <p:spPr/>
        <p:txBody>
          <a:bodyPr/>
          <a:lstStyle/>
          <a:p>
            <a:fld id="{F6A4AC08-8464-4123-906B-0E3201DA1046}" type="slidenum">
              <a:rPr lang="en-US" smtClean="0"/>
              <a:t>‹#›</a:t>
            </a:fld>
            <a:endParaRPr lang="en-US"/>
          </a:p>
        </p:txBody>
      </p:sp>
    </p:spTree>
    <p:extLst>
      <p:ext uri="{BB962C8B-B14F-4D97-AF65-F5344CB8AC3E}">
        <p14:creationId xmlns:p14="http://schemas.microsoft.com/office/powerpoint/2010/main" val="26235796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E20E65-1556-E237-3A57-AECC9376A3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4DA113-289E-0DDE-25DF-74FC07A2EC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E09AC-A1C8-3F79-6EF8-695F05476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2B9DAF-308C-433A-9FA7-D56B353BF751}" type="datetimeFigureOut">
              <a:rPr lang="en-US" smtClean="0"/>
              <a:t>10/21/2026</a:t>
            </a:fld>
            <a:endParaRPr lang="en-US"/>
          </a:p>
        </p:txBody>
      </p:sp>
      <p:sp>
        <p:nvSpPr>
          <p:cNvPr id="5" name="Footer Placeholder 4">
            <a:extLst>
              <a:ext uri="{FF2B5EF4-FFF2-40B4-BE49-F238E27FC236}">
                <a16:creationId xmlns:a16="http://schemas.microsoft.com/office/drawing/2014/main" id="{583015E1-D96A-FD63-7016-C897E54BE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4A0EB-6A0C-602A-1557-09F3922404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A4AC08-8464-4123-906B-0E3201DA1046}" type="slidenum">
              <a:rPr lang="en-US" smtClean="0"/>
              <a:t>‹#›</a:t>
            </a:fld>
            <a:endParaRPr lang="en-US"/>
          </a:p>
        </p:txBody>
      </p:sp>
    </p:spTree>
    <p:extLst>
      <p:ext uri="{BB962C8B-B14F-4D97-AF65-F5344CB8AC3E}">
        <p14:creationId xmlns:p14="http://schemas.microsoft.com/office/powerpoint/2010/main" val="290818596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55F4CC-C2E1-21D0-497F-5974712980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629AEB-B486-2255-04EE-0C13EFDBC6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5C13D8-D6C7-3139-40BE-94C03E7B3F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1FFE2B-716E-6FA3-18CC-2F8F54A319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8349E9-8F07-8452-F9D6-5AB239B74E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BC84A1-3049-4231-B183-58280C8FDE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0CB5A2-464D-8DCC-4301-81DA6E478A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1B8FA1-DF19-0084-6EE1-73DE540A26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4E03E0-2B10-790B-1F40-1AFBC96A8C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4BA173-32BC-95E7-85D7-4995B8F8FB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6F6E73-6FD6-AEEE-04F8-75688F1701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9D9CB7-0D5E-0F84-6FE0-892E0DBB28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5BF2BC-90FD-46C4-8DBF-74CD7E7A4B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20CED0-E7A1-FC88-6CC8-EA29B19FE2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27881B-AFFE-01EB-D987-6CF6C0A7C5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7AA41A-8A4B-C811-AB5C-DE3697A5456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358052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1638</Words>
  <Application>Microsoft Office PowerPoint</Application>
  <PresentationFormat>寬螢幕</PresentationFormat>
  <Paragraphs>95</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2026-09-05T12:10:40Z</dcterms:created>
  <dcterms:modified xsi:type="dcterms:W3CDTF">2026-10-21T02:47:43Z</dcterms:modified>
</cp:coreProperties>
</file>