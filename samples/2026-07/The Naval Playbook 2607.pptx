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8BCA4B-CCA6-41D4-9147-D5FFB5B92F44}" v="25" dt="2026-07-31T01:43:05.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644" autoAdjust="0"/>
  </p:normalViewPr>
  <p:slideViewPr>
    <p:cSldViewPr snapToGrid="0">
      <p:cViewPr varScale="1">
        <p:scale>
          <a:sx n="70" d="100"/>
          <a:sy n="70" d="100"/>
        </p:scale>
        <p:origin x="2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7-31T01:43:13.957" v="89" actId="12"/>
      <pc:docMkLst>
        <pc:docMk/>
      </pc:docMkLst>
      <pc:sldChg chg="addSp delSp modSp mod modAnim modNotesTx">
        <pc:chgData name="Lai, Wilson" userId="2840974a-0d84-4886-90a9-9a3ed79f3a48" providerId="ADAL" clId="{9F23B798-9E84-4552-BA63-E776E805C424}" dt="2026-07-31T01:40:11.061" v="69" actId="20577"/>
        <pc:sldMkLst>
          <pc:docMk/>
          <pc:sldMk cId="0" sldId="257"/>
        </pc:sldMkLst>
        <pc:spChg chg="add mod">
          <ac:chgData name="Lai, Wilson" userId="2840974a-0d84-4886-90a9-9a3ed79f3a48" providerId="ADAL" clId="{9F23B798-9E84-4552-BA63-E776E805C424}" dt="2026-07-24T02:00:04.412" v="28" actId="164"/>
          <ac:spMkLst>
            <pc:docMk/>
            <pc:sldMk cId="0" sldId="257"/>
            <ac:spMk id="4" creationId="{589F250F-A5DF-A111-3D19-0D93AE24661A}"/>
          </ac:spMkLst>
        </pc:spChg>
        <pc:grpChg chg="add mod">
          <ac:chgData name="Lai, Wilson" userId="2840974a-0d84-4886-90a9-9a3ed79f3a48" providerId="ADAL" clId="{9F23B798-9E84-4552-BA63-E776E805C424}" dt="2026-07-24T02:00:04.412" v="28" actId="164"/>
          <ac:grpSpMkLst>
            <pc:docMk/>
            <pc:sldMk cId="0" sldId="257"/>
            <ac:grpSpMk id="5" creationId="{BC2873B8-84AF-9A03-B26E-93126EF2B846}"/>
          </ac:grpSpMkLst>
        </pc:grpChg>
        <pc:picChg chg="add mod">
          <ac:chgData name="Lai, Wilson" userId="2840974a-0d84-4886-90a9-9a3ed79f3a48" providerId="ADAL" clId="{9F23B798-9E84-4552-BA63-E776E805C424}" dt="2026-07-24T02:00:04.412" v="28" actId="164"/>
          <ac:picMkLst>
            <pc:docMk/>
            <pc:sldMk cId="0" sldId="257"/>
            <ac:picMk id="3" creationId="{38295FC4-F605-8CF0-436F-CDE68EBCB811}"/>
          </ac:picMkLst>
        </pc:picChg>
        <pc:picChg chg="add">
          <ac:chgData name="Lai, Wilson" userId="2840974a-0d84-4886-90a9-9a3ed79f3a48" providerId="ADAL" clId="{9F23B798-9E84-4552-BA63-E776E805C424}" dt="2026-07-24T02:03:24.697" v="30" actId="22"/>
          <ac:picMkLst>
            <pc:docMk/>
            <pc:sldMk cId="0" sldId="257"/>
            <ac:picMk id="7" creationId="{02B1DA70-0D02-9AA3-D47F-BC8D96EF90C0}"/>
          </ac:picMkLst>
        </pc:picChg>
      </pc:sldChg>
      <pc:sldChg chg="addSp delSp mod modNotesTx">
        <pc:chgData name="Lai, Wilson" userId="2840974a-0d84-4886-90a9-9a3ed79f3a48" providerId="ADAL" clId="{9F23B798-9E84-4552-BA63-E776E805C424}" dt="2026-07-31T01:40:24.659" v="70" actId="12"/>
        <pc:sldMkLst>
          <pc:docMk/>
          <pc:sldMk cId="0" sldId="258"/>
        </pc:sldMkLst>
        <pc:picChg chg="add">
          <ac:chgData name="Lai, Wilson" userId="2840974a-0d84-4886-90a9-9a3ed79f3a48" providerId="ADAL" clId="{9F23B798-9E84-4552-BA63-E776E805C424}" dt="2026-07-24T02:03:38.758" v="32" actId="22"/>
          <ac:picMkLst>
            <pc:docMk/>
            <pc:sldMk cId="0" sldId="258"/>
            <ac:picMk id="4" creationId="{5C0D30CD-EDC5-0DC0-2FB7-736ED187E8FE}"/>
          </ac:picMkLst>
        </pc:picChg>
      </pc:sldChg>
      <pc:sldChg chg="addSp delSp mod modNotesTx">
        <pc:chgData name="Lai, Wilson" userId="2840974a-0d84-4886-90a9-9a3ed79f3a48" providerId="ADAL" clId="{9F23B798-9E84-4552-BA63-E776E805C424}" dt="2026-07-31T01:40:34.589" v="71" actId="12"/>
        <pc:sldMkLst>
          <pc:docMk/>
          <pc:sldMk cId="0" sldId="259"/>
        </pc:sldMkLst>
        <pc:picChg chg="add">
          <ac:chgData name="Lai, Wilson" userId="2840974a-0d84-4886-90a9-9a3ed79f3a48" providerId="ADAL" clId="{9F23B798-9E84-4552-BA63-E776E805C424}" dt="2026-07-24T02:03:52.315" v="34" actId="22"/>
          <ac:picMkLst>
            <pc:docMk/>
            <pc:sldMk cId="0" sldId="259"/>
            <ac:picMk id="4" creationId="{664549D7-109C-D7DA-1032-A76618B7A3DF}"/>
          </ac:picMkLst>
        </pc:picChg>
      </pc:sldChg>
      <pc:sldChg chg="addSp delSp mod modNotesTx">
        <pc:chgData name="Lai, Wilson" userId="2840974a-0d84-4886-90a9-9a3ed79f3a48" providerId="ADAL" clId="{9F23B798-9E84-4552-BA63-E776E805C424}" dt="2026-07-31T01:41:06.883" v="74" actId="12"/>
        <pc:sldMkLst>
          <pc:docMk/>
          <pc:sldMk cId="0" sldId="260"/>
        </pc:sldMkLst>
        <pc:picChg chg="add">
          <ac:chgData name="Lai, Wilson" userId="2840974a-0d84-4886-90a9-9a3ed79f3a48" providerId="ADAL" clId="{9F23B798-9E84-4552-BA63-E776E805C424}" dt="2026-07-24T02:04:05.318" v="36" actId="22"/>
          <ac:picMkLst>
            <pc:docMk/>
            <pc:sldMk cId="0" sldId="260"/>
            <ac:picMk id="4" creationId="{F960935A-EE10-4C5B-A8EB-4C29C9AC399E}"/>
          </ac:picMkLst>
        </pc:picChg>
      </pc:sldChg>
      <pc:sldChg chg="addSp delSp mod modNotesTx">
        <pc:chgData name="Lai, Wilson" userId="2840974a-0d84-4886-90a9-9a3ed79f3a48" providerId="ADAL" clId="{9F23B798-9E84-4552-BA63-E776E805C424}" dt="2026-07-31T01:41:17.072" v="75" actId="12"/>
        <pc:sldMkLst>
          <pc:docMk/>
          <pc:sldMk cId="0" sldId="261"/>
        </pc:sldMkLst>
        <pc:picChg chg="add">
          <ac:chgData name="Lai, Wilson" userId="2840974a-0d84-4886-90a9-9a3ed79f3a48" providerId="ADAL" clId="{9F23B798-9E84-4552-BA63-E776E805C424}" dt="2026-07-24T02:04:16.987" v="38" actId="22"/>
          <ac:picMkLst>
            <pc:docMk/>
            <pc:sldMk cId="0" sldId="261"/>
            <ac:picMk id="4" creationId="{E5C6C997-AE3E-ACB0-4E5F-70A8A607ACAE}"/>
          </ac:picMkLst>
        </pc:picChg>
      </pc:sldChg>
      <pc:sldChg chg="addSp delSp mod modNotesTx">
        <pc:chgData name="Lai, Wilson" userId="2840974a-0d84-4886-90a9-9a3ed79f3a48" providerId="ADAL" clId="{9F23B798-9E84-4552-BA63-E776E805C424}" dt="2026-07-31T01:41:30.689" v="77" actId="15"/>
        <pc:sldMkLst>
          <pc:docMk/>
          <pc:sldMk cId="0" sldId="262"/>
        </pc:sldMkLst>
        <pc:picChg chg="add">
          <ac:chgData name="Lai, Wilson" userId="2840974a-0d84-4886-90a9-9a3ed79f3a48" providerId="ADAL" clId="{9F23B798-9E84-4552-BA63-E776E805C424}" dt="2026-07-24T02:04:30.206" v="40" actId="22"/>
          <ac:picMkLst>
            <pc:docMk/>
            <pc:sldMk cId="0" sldId="262"/>
            <ac:picMk id="4" creationId="{6C561788-EDC1-A860-3077-4DD3BF99922C}"/>
          </ac:picMkLst>
        </pc:picChg>
      </pc:sldChg>
      <pc:sldChg chg="addSp delSp mod modNotesTx">
        <pc:chgData name="Lai, Wilson" userId="2840974a-0d84-4886-90a9-9a3ed79f3a48" providerId="ADAL" clId="{9F23B798-9E84-4552-BA63-E776E805C424}" dt="2026-07-31T01:41:40.073" v="78" actId="12"/>
        <pc:sldMkLst>
          <pc:docMk/>
          <pc:sldMk cId="0" sldId="263"/>
        </pc:sldMkLst>
        <pc:picChg chg="add">
          <ac:chgData name="Lai, Wilson" userId="2840974a-0d84-4886-90a9-9a3ed79f3a48" providerId="ADAL" clId="{9F23B798-9E84-4552-BA63-E776E805C424}" dt="2026-07-24T02:04:47.681" v="42" actId="22"/>
          <ac:picMkLst>
            <pc:docMk/>
            <pc:sldMk cId="0" sldId="263"/>
            <ac:picMk id="4" creationId="{CD0A26FE-D6D0-2018-C933-8E180FE4187B}"/>
          </ac:picMkLst>
        </pc:picChg>
      </pc:sldChg>
      <pc:sldChg chg="addSp delSp mod modNotesTx">
        <pc:chgData name="Lai, Wilson" userId="2840974a-0d84-4886-90a9-9a3ed79f3a48" providerId="ADAL" clId="{9F23B798-9E84-4552-BA63-E776E805C424}" dt="2026-07-31T01:41:51.497" v="79" actId="12"/>
        <pc:sldMkLst>
          <pc:docMk/>
          <pc:sldMk cId="0" sldId="264"/>
        </pc:sldMkLst>
        <pc:picChg chg="add">
          <ac:chgData name="Lai, Wilson" userId="2840974a-0d84-4886-90a9-9a3ed79f3a48" providerId="ADAL" clId="{9F23B798-9E84-4552-BA63-E776E805C424}" dt="2026-07-24T02:05:39.102" v="46" actId="22"/>
          <ac:picMkLst>
            <pc:docMk/>
            <pc:sldMk cId="0" sldId="264"/>
            <ac:picMk id="6" creationId="{AA482278-8FD2-0EB6-7B10-A90677C9EE66}"/>
          </ac:picMkLst>
        </pc:picChg>
      </pc:sldChg>
      <pc:sldChg chg="addSp delSp mod modNotesTx">
        <pc:chgData name="Lai, Wilson" userId="2840974a-0d84-4886-90a9-9a3ed79f3a48" providerId="ADAL" clId="{9F23B798-9E84-4552-BA63-E776E805C424}" dt="2026-07-31T01:42:01.861" v="80" actId="12"/>
        <pc:sldMkLst>
          <pc:docMk/>
          <pc:sldMk cId="0" sldId="265"/>
        </pc:sldMkLst>
        <pc:picChg chg="add">
          <ac:chgData name="Lai, Wilson" userId="2840974a-0d84-4886-90a9-9a3ed79f3a48" providerId="ADAL" clId="{9F23B798-9E84-4552-BA63-E776E805C424}" dt="2026-07-24T02:06:09.872" v="48" actId="22"/>
          <ac:picMkLst>
            <pc:docMk/>
            <pc:sldMk cId="0" sldId="265"/>
            <ac:picMk id="4" creationId="{E15D1666-E8A1-85BC-1314-DA2D34638AC4}"/>
          </ac:picMkLst>
        </pc:picChg>
      </pc:sldChg>
      <pc:sldChg chg="addSp delSp mod modNotesTx">
        <pc:chgData name="Lai, Wilson" userId="2840974a-0d84-4886-90a9-9a3ed79f3a48" providerId="ADAL" clId="{9F23B798-9E84-4552-BA63-E776E805C424}" dt="2026-07-31T01:42:11.920" v="81" actId="12"/>
        <pc:sldMkLst>
          <pc:docMk/>
          <pc:sldMk cId="0" sldId="266"/>
        </pc:sldMkLst>
        <pc:picChg chg="add">
          <ac:chgData name="Lai, Wilson" userId="2840974a-0d84-4886-90a9-9a3ed79f3a48" providerId="ADAL" clId="{9F23B798-9E84-4552-BA63-E776E805C424}" dt="2026-07-24T02:07:06.727" v="52" actId="22"/>
          <ac:picMkLst>
            <pc:docMk/>
            <pc:sldMk cId="0" sldId="266"/>
            <ac:picMk id="4" creationId="{3235F002-7918-F8D4-2B22-4F18E241458F}"/>
          </ac:picMkLst>
        </pc:picChg>
      </pc:sldChg>
      <pc:sldChg chg="addSp delSp mod modNotesTx">
        <pc:chgData name="Lai, Wilson" userId="2840974a-0d84-4886-90a9-9a3ed79f3a48" providerId="ADAL" clId="{9F23B798-9E84-4552-BA63-E776E805C424}" dt="2026-07-31T01:42:23.833" v="83" actId="15"/>
        <pc:sldMkLst>
          <pc:docMk/>
          <pc:sldMk cId="0" sldId="267"/>
        </pc:sldMkLst>
        <pc:picChg chg="add">
          <ac:chgData name="Lai, Wilson" userId="2840974a-0d84-4886-90a9-9a3ed79f3a48" providerId="ADAL" clId="{9F23B798-9E84-4552-BA63-E776E805C424}" dt="2026-07-24T02:07:35.548" v="54" actId="22"/>
          <ac:picMkLst>
            <pc:docMk/>
            <pc:sldMk cId="0" sldId="267"/>
            <ac:picMk id="4" creationId="{6DC2DFCD-89FC-765E-6D2F-CBE5810CB5B6}"/>
          </ac:picMkLst>
        </pc:picChg>
      </pc:sldChg>
      <pc:sldChg chg="addSp delSp mod modNotesTx">
        <pc:chgData name="Lai, Wilson" userId="2840974a-0d84-4886-90a9-9a3ed79f3a48" providerId="ADAL" clId="{9F23B798-9E84-4552-BA63-E776E805C424}" dt="2026-07-31T01:42:33.891" v="84" actId="12"/>
        <pc:sldMkLst>
          <pc:docMk/>
          <pc:sldMk cId="0" sldId="268"/>
        </pc:sldMkLst>
        <pc:picChg chg="add">
          <ac:chgData name="Lai, Wilson" userId="2840974a-0d84-4886-90a9-9a3ed79f3a48" providerId="ADAL" clId="{9F23B798-9E84-4552-BA63-E776E805C424}" dt="2026-07-24T02:08:09.876" v="56" actId="22"/>
          <ac:picMkLst>
            <pc:docMk/>
            <pc:sldMk cId="0" sldId="268"/>
            <ac:picMk id="4" creationId="{E849A9BB-2FDC-F892-BAF5-D4FA4ACBB637}"/>
          </ac:picMkLst>
        </pc:picChg>
      </pc:sldChg>
      <pc:sldChg chg="addSp delSp mod modNotesTx">
        <pc:chgData name="Lai, Wilson" userId="2840974a-0d84-4886-90a9-9a3ed79f3a48" providerId="ADAL" clId="{9F23B798-9E84-4552-BA63-E776E805C424}" dt="2026-07-31T01:42:41.767" v="85" actId="12"/>
        <pc:sldMkLst>
          <pc:docMk/>
          <pc:sldMk cId="0" sldId="269"/>
        </pc:sldMkLst>
        <pc:picChg chg="add">
          <ac:chgData name="Lai, Wilson" userId="2840974a-0d84-4886-90a9-9a3ed79f3a48" providerId="ADAL" clId="{9F23B798-9E84-4552-BA63-E776E805C424}" dt="2026-07-24T02:08:30.729" v="58" actId="22"/>
          <ac:picMkLst>
            <pc:docMk/>
            <pc:sldMk cId="0" sldId="269"/>
            <ac:picMk id="4" creationId="{2505C0CB-4328-1369-849F-CC46ADF686D7}"/>
          </ac:picMkLst>
        </pc:picChg>
      </pc:sldChg>
      <pc:sldChg chg="addSp delSp mod modNotesTx">
        <pc:chgData name="Lai, Wilson" userId="2840974a-0d84-4886-90a9-9a3ed79f3a48" providerId="ADAL" clId="{9F23B798-9E84-4552-BA63-E776E805C424}" dt="2026-07-31T01:42:50.979" v="86" actId="12"/>
        <pc:sldMkLst>
          <pc:docMk/>
          <pc:sldMk cId="0" sldId="270"/>
        </pc:sldMkLst>
        <pc:picChg chg="add">
          <ac:chgData name="Lai, Wilson" userId="2840974a-0d84-4886-90a9-9a3ed79f3a48" providerId="ADAL" clId="{9F23B798-9E84-4552-BA63-E776E805C424}" dt="2026-07-24T02:08:49.137" v="60" actId="22"/>
          <ac:picMkLst>
            <pc:docMk/>
            <pc:sldMk cId="0" sldId="270"/>
            <ac:picMk id="4" creationId="{B0E8A718-B4F5-9C66-6ABD-D741757A346A}"/>
          </ac:picMkLst>
        </pc:picChg>
      </pc:sldChg>
      <pc:sldChg chg="addSp delSp mod modNotesTx">
        <pc:chgData name="Lai, Wilson" userId="2840974a-0d84-4886-90a9-9a3ed79f3a48" providerId="ADAL" clId="{9F23B798-9E84-4552-BA63-E776E805C424}" dt="2026-07-31T01:42:58.045" v="87" actId="12"/>
        <pc:sldMkLst>
          <pc:docMk/>
          <pc:sldMk cId="0" sldId="271"/>
        </pc:sldMkLst>
        <pc:picChg chg="add">
          <ac:chgData name="Lai, Wilson" userId="2840974a-0d84-4886-90a9-9a3ed79f3a48" providerId="ADAL" clId="{9F23B798-9E84-4552-BA63-E776E805C424}" dt="2026-07-24T02:09:05.563" v="62" actId="22"/>
          <ac:picMkLst>
            <pc:docMk/>
            <pc:sldMk cId="0" sldId="271"/>
            <ac:picMk id="4" creationId="{8F9505C3-B243-9D75-5ACC-83F416A16821}"/>
          </ac:picMkLst>
        </pc:picChg>
      </pc:sldChg>
      <pc:sldChg chg="addSp delSp mod modNotesTx">
        <pc:chgData name="Lai, Wilson" userId="2840974a-0d84-4886-90a9-9a3ed79f3a48" providerId="ADAL" clId="{9F23B798-9E84-4552-BA63-E776E805C424}" dt="2026-07-31T01:43:13.957" v="89" actId="12"/>
        <pc:sldMkLst>
          <pc:docMk/>
          <pc:sldMk cId="3449527949" sldId="272"/>
        </pc:sldMkLst>
        <pc:picChg chg="add">
          <ac:chgData name="Lai, Wilson" userId="2840974a-0d84-4886-90a9-9a3ed79f3a48" providerId="ADAL" clId="{9F23B798-9E84-4552-BA63-E776E805C424}" dt="2026-07-24T02:09:25.399" v="64" actId="22"/>
          <ac:picMkLst>
            <pc:docMk/>
            <pc:sldMk cId="3449527949" sldId="272"/>
            <ac:picMk id="4" creationId="{F88BBCBD-2EE5-449A-004F-34E2DC8A959E}"/>
          </ac:picMkLst>
        </pc:picChg>
      </pc:sldChg>
      <pc:sldMasterChg chg="setBg">
        <pc:chgData name="Lai, Wilson" userId="2840974a-0d84-4886-90a9-9a3ed79f3a48" providerId="ADAL" clId="{9F23B798-9E84-4552-BA63-E776E805C424}" dt="2026-07-24T02:10:39.750" v="65"/>
        <pc:sldMasterMkLst>
          <pc:docMk/>
          <pc:sldMasterMk cId="1488139732"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6CEA50-C10C-4C8E-95A4-D2BD831872E1}"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55D7F-92B3-4280-A212-EB11396A96A6}" type="slidenum">
              <a:rPr lang="en-US" smtClean="0"/>
              <a:t>‹#›</a:t>
            </a:fld>
            <a:endParaRPr lang="en-US"/>
          </a:p>
        </p:txBody>
      </p:sp>
    </p:spTree>
    <p:extLst>
      <p:ext uri="{BB962C8B-B14F-4D97-AF65-F5344CB8AC3E}">
        <p14:creationId xmlns:p14="http://schemas.microsoft.com/office/powerpoint/2010/main" val="315570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https://www.youtube.com/watch?v=KyfUysrNaco</a:t>
            </a:r>
          </a:p>
          <a:p>
            <a:endParaRPr lang="en-US" dirty="0"/>
          </a:p>
          <a:p>
            <a:pPr marL="171450" indent="-171450">
              <a:buFont typeface="Arial" panose="020B0604020202020204" pitchFamily="34" charset="0"/>
              <a:buChar char="•"/>
            </a:pPr>
            <a:r>
              <a:rPr lang="en-US" dirty="0"/>
              <a:t>Welcome everyone. Today we are covering the core principles of Naval Ravikant's playbook on life, wealth, and inner peace.</a:t>
            </a:r>
          </a:p>
          <a:p>
            <a:pPr marL="171450" indent="-171450">
              <a:buFont typeface="Arial" panose="020B0604020202020204" pitchFamily="34" charset="0"/>
              <a:buChar char="•"/>
            </a:pPr>
            <a:r>
              <a:rPr lang="en-US" dirty="0"/>
              <a:t>Naval famously notes that many of these insights started as "notes to himself"—contextual realizations that evolved over time.</a:t>
            </a:r>
          </a:p>
          <a:p>
            <a:pPr marL="171450" indent="-171450">
              <a:buFont typeface="Arial" panose="020B0604020202020204" pitchFamily="34" charset="0"/>
              <a:buChar char="•"/>
            </a:pPr>
            <a:r>
              <a:rPr lang="en-US" dirty="0"/>
              <a:t>The overarching goal of this framework isn't just to accumulate riches or status; it's to play the game of life, win it, and ultimately become completely free from it. Let's dive in.</a:t>
            </a:r>
          </a:p>
          <a:p>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1</a:t>
            </a:fld>
            <a:endParaRPr lang="en-US"/>
          </a:p>
        </p:txBody>
      </p:sp>
    </p:spTree>
    <p:extLst>
      <p:ext uri="{BB962C8B-B14F-4D97-AF65-F5344CB8AC3E}">
        <p14:creationId xmlns:p14="http://schemas.microsoft.com/office/powerpoint/2010/main" val="1018190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Path of Success</a:t>
            </a:r>
            <a:r>
              <a:rPr lang="en-US" sz="1200" kern="1200" dirty="0">
                <a:solidFill>
                  <a:schemeClr val="tx1"/>
                </a:solidFill>
                <a:effectLst/>
                <a:latin typeface="+mn-lt"/>
                <a:ea typeface="+mn-ea"/>
                <a:cs typeface="+mn-cs"/>
              </a:rPr>
              <a:t> is driven by dissatisfaction. You want something, you suffer until you get it, enjoy it briefly, and then want the next thing.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Path of Happiness</a:t>
            </a:r>
            <a:r>
              <a:rPr lang="en-US" sz="1200" kern="1200" dirty="0">
                <a:solidFill>
                  <a:schemeClr val="tx1"/>
                </a:solidFill>
                <a:effectLst/>
                <a:latin typeface="+mn-lt"/>
                <a:ea typeface="+mn-ea"/>
                <a:cs typeface="+mn-cs"/>
              </a:rPr>
              <a:t> is driven by non-wanting. As Socrates observed in the marketplace: </a:t>
            </a:r>
            <a:r>
              <a:rPr lang="en-US" sz="1200" i="1" kern="1200" dirty="0">
                <a:solidFill>
                  <a:schemeClr val="tx1"/>
                </a:solidFill>
                <a:effectLst/>
                <a:latin typeface="+mn-lt"/>
                <a:ea typeface="+mn-ea"/>
                <a:cs typeface="+mn-cs"/>
              </a:rPr>
              <a:t>"How many things there are in this world that I do not want."</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Naval Context:</a:t>
            </a:r>
            <a:r>
              <a:rPr lang="en-US" sz="1200" kern="1200" dirty="0">
                <a:solidFill>
                  <a:schemeClr val="tx1"/>
                </a:solidFill>
                <a:effectLst/>
                <a:latin typeface="+mn-lt"/>
                <a:ea typeface="+mn-ea"/>
                <a:cs typeface="+mn-cs"/>
              </a:rPr>
              <a:t> Naval mentions that while renouncing all material desires like Diogenes sitting in a barrel sounds noble, for most of us, it’s far easier to achieve our material desires first than to pretend to renounce them. Buddha started as a prince before he went into the woods.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 ultimate shortcut to equanimity is upgrading your ability to simply stop desiring things you don't actually need.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2</a:t>
            </a:fld>
            <a:endParaRPr lang="en-US"/>
          </a:p>
        </p:txBody>
      </p:sp>
    </p:spTree>
    <p:extLst>
      <p:ext uri="{BB962C8B-B14F-4D97-AF65-F5344CB8AC3E}">
        <p14:creationId xmlns:p14="http://schemas.microsoft.com/office/powerpoint/2010/main" val="233724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To navigate life effectively, you must understand the distinction between </a:t>
            </a:r>
            <a:r>
              <a:rPr lang="en-US" sz="1200" b="1" kern="1200" dirty="0">
                <a:solidFill>
                  <a:schemeClr val="tx1"/>
                </a:solidFill>
                <a:effectLst/>
                <a:latin typeface="+mn-lt"/>
                <a:ea typeface="+mn-ea"/>
                <a:cs typeface="+mn-cs"/>
              </a:rPr>
              <a:t>Wealth Creation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Status Games</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Wealth creation is </a:t>
            </a:r>
            <a:r>
              <a:rPr lang="en-US" sz="1200" b="1" kern="1200" dirty="0">
                <a:solidFill>
                  <a:schemeClr val="tx1"/>
                </a:solidFill>
                <a:effectLst/>
                <a:latin typeface="+mn-lt"/>
                <a:ea typeface="+mn-ea"/>
                <a:cs typeface="+mn-cs"/>
              </a:rPr>
              <a:t>positive-sum</a:t>
            </a:r>
            <a:r>
              <a:rPr lang="en-US" sz="1200" kern="1200" dirty="0">
                <a:solidFill>
                  <a:schemeClr val="tx1"/>
                </a:solidFill>
                <a:effectLst/>
                <a:latin typeface="+mn-lt"/>
                <a:ea typeface="+mn-ea"/>
                <a:cs typeface="+mn-cs"/>
              </a:rPr>
              <a:t>. It creates abundance for everyone without needing to tear anyone else down. When you invent or build something useful, the total pie grows.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Status games are </a:t>
            </a:r>
            <a:r>
              <a:rPr lang="en-US" sz="1200" b="1" kern="1200" dirty="0">
                <a:solidFill>
                  <a:schemeClr val="tx1"/>
                </a:solidFill>
                <a:effectLst/>
                <a:latin typeface="+mn-lt"/>
                <a:ea typeface="+mn-ea"/>
                <a:cs typeface="+mn-cs"/>
              </a:rPr>
              <a:t>zero-sum</a:t>
            </a:r>
            <a:r>
              <a:rPr lang="en-US" sz="1200" kern="1200" dirty="0">
                <a:solidFill>
                  <a:schemeClr val="tx1"/>
                </a:solidFill>
                <a:effectLst/>
                <a:latin typeface="+mn-lt"/>
                <a:ea typeface="+mn-ea"/>
                <a:cs typeface="+mn-cs"/>
              </a:rPr>
              <a:t> and hierarchical. For you to rise, someone else must fall. They are rooted in evolutionary baggage, creating an endless treadmill of social comparison.</a:t>
            </a:r>
          </a:p>
          <a:p>
            <a:pPr marL="171450" indent="-171450">
              <a:buFont typeface="Arial" panose="020B0604020202020204" pitchFamily="34" charset="0"/>
              <a:buChar char="•"/>
            </a:pPr>
            <a:r>
              <a:rPr lang="en-US" dirty="0"/>
              <a:t>As Naval points out, you can’t cash status at the bank. Play wealth games to buy back your time and freedom, and avoid the combative trap of status games. </a:t>
            </a:r>
          </a:p>
        </p:txBody>
      </p:sp>
      <p:sp>
        <p:nvSpPr>
          <p:cNvPr id="4" name="Slide Number Placeholder 3"/>
          <p:cNvSpPr>
            <a:spLocks noGrp="1"/>
          </p:cNvSpPr>
          <p:nvPr>
            <p:ph type="sldNum" sz="quarter" idx="5"/>
          </p:nvPr>
        </p:nvSpPr>
        <p:spPr/>
        <p:txBody>
          <a:bodyPr/>
          <a:lstStyle/>
          <a:p>
            <a:fld id="{27255D7F-92B3-4280-A212-EB11396A96A6}" type="slidenum">
              <a:rPr lang="en-US" smtClean="0"/>
              <a:t>3</a:t>
            </a:fld>
            <a:endParaRPr lang="en-US"/>
          </a:p>
        </p:txBody>
      </p:sp>
    </p:spTree>
    <p:extLst>
      <p:ext uri="{BB962C8B-B14F-4D97-AF65-F5344CB8AC3E}">
        <p14:creationId xmlns:p14="http://schemas.microsoft.com/office/powerpoint/2010/main" val="1717764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Naval’s central advice for career and wealth is simple: </a:t>
            </a:r>
            <a:r>
              <a:rPr lang="en-US" sz="1200" b="1" kern="1200" dirty="0">
                <a:solidFill>
                  <a:schemeClr val="tx1"/>
                </a:solidFill>
                <a:effectLst/>
                <a:latin typeface="+mn-lt"/>
                <a:ea typeface="+mn-ea"/>
                <a:cs typeface="+mn-cs"/>
              </a:rPr>
              <a:t>Productize Yourself</a:t>
            </a:r>
            <a:r>
              <a:rPr lang="en-US"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Look at the intersection of three circles:</a:t>
            </a:r>
          </a:p>
          <a:p>
            <a:pPr marL="685800" lvl="1" indent="-228600">
              <a:buFont typeface="+mj-lt"/>
              <a:buAutoNum type="arabicPeriod"/>
            </a:pPr>
            <a:r>
              <a:rPr lang="en-US" sz="1200" kern="1200" dirty="0">
                <a:solidFill>
                  <a:schemeClr val="tx1"/>
                </a:solidFill>
                <a:effectLst/>
                <a:latin typeface="+mn-lt"/>
                <a:ea typeface="+mn-ea"/>
                <a:cs typeface="+mn-cs"/>
              </a:rPr>
              <a:t>What feels like play to you </a:t>
            </a:r>
          </a:p>
          <a:p>
            <a:pPr marL="685800" lvl="1" indent="-228600">
              <a:buFont typeface="+mj-lt"/>
              <a:buAutoNum type="arabicPeriod"/>
            </a:pPr>
            <a:r>
              <a:rPr lang="en-US" sz="1200" kern="1200" dirty="0">
                <a:solidFill>
                  <a:schemeClr val="tx1"/>
                </a:solidFill>
                <a:effectLst/>
                <a:latin typeface="+mn-lt"/>
                <a:ea typeface="+mn-ea"/>
                <a:cs typeface="+mn-cs"/>
              </a:rPr>
              <a:t>What looks like work to others </a:t>
            </a:r>
          </a:p>
          <a:p>
            <a:pPr marL="685800" lvl="1" indent="-228600">
              <a:buFont typeface="+mj-lt"/>
              <a:buAutoNum type="arabicPeriod"/>
            </a:pPr>
            <a:r>
              <a:rPr lang="en-US" sz="1200" kern="1200" dirty="0">
                <a:solidFill>
                  <a:schemeClr val="tx1"/>
                </a:solidFill>
                <a:effectLst/>
                <a:latin typeface="+mn-lt"/>
                <a:ea typeface="+mn-ea"/>
                <a:cs typeface="+mn-cs"/>
              </a:rPr>
              <a:t>What society needs but cannot yet get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Insight:</a:t>
            </a:r>
            <a:r>
              <a:rPr lang="en-US" sz="1200" kern="1200" dirty="0">
                <a:solidFill>
                  <a:schemeClr val="tx1"/>
                </a:solidFill>
                <a:effectLst/>
                <a:latin typeface="+mn-lt"/>
                <a:ea typeface="+mn-ea"/>
                <a:cs typeface="+mn-cs"/>
              </a:rPr>
              <a:t> No one can beat you at being </a:t>
            </a:r>
            <a:r>
              <a:rPr lang="en-US" sz="1200" i="1" kern="1200" dirty="0">
                <a:solidFill>
                  <a:schemeClr val="tx1"/>
                </a:solidFill>
                <a:effectLst/>
                <a:latin typeface="+mn-lt"/>
                <a:ea typeface="+mn-ea"/>
                <a:cs typeface="+mn-cs"/>
              </a:rPr>
              <a:t>you</a:t>
            </a:r>
            <a:r>
              <a:rPr lang="en-US" sz="1200" kern="1200" dirty="0">
                <a:solidFill>
                  <a:schemeClr val="tx1"/>
                </a:solidFill>
                <a:effectLst/>
                <a:latin typeface="+mn-lt"/>
                <a:ea typeface="+mn-ea"/>
                <a:cs typeface="+mn-cs"/>
              </a:rPr>
              <a:t>. If you are competing with someone, it’s because you are copying them.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Actionable takeaway:</a:t>
            </a:r>
            <a:r>
              <a:rPr lang="en-US" sz="1200" kern="1200" dirty="0">
                <a:solidFill>
                  <a:schemeClr val="tx1"/>
                </a:solidFill>
                <a:effectLst/>
                <a:latin typeface="+mn-lt"/>
                <a:ea typeface="+mn-ea"/>
                <a:cs typeface="+mn-cs"/>
              </a:rPr>
              <a:t> Use your early career as a search function. Refuse premature commitments until you discover your unique obsessions, then apply infinite leverage to scale it.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4</a:t>
            </a:fld>
            <a:endParaRPr lang="en-US"/>
          </a:p>
        </p:txBody>
      </p:sp>
    </p:spTree>
    <p:extLst>
      <p:ext uri="{BB962C8B-B14F-4D97-AF65-F5344CB8AC3E}">
        <p14:creationId xmlns:p14="http://schemas.microsoft.com/office/powerpoint/2010/main" val="942324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Holistic Selfishness:</a:t>
            </a:r>
            <a:r>
              <a:rPr lang="en-US" sz="1200" kern="1200" dirty="0">
                <a:solidFill>
                  <a:schemeClr val="tx1"/>
                </a:solidFill>
                <a:effectLst/>
                <a:latin typeface="+mn-lt"/>
                <a:ea typeface="+mn-ea"/>
                <a:cs typeface="+mn-cs"/>
              </a:rPr>
              <a:t> Stop letting your past self commit your present self to things you don't actually want to do. Cancel obligatory meetings, coffee chats, or events you wouldn't ask someone else to attend.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Perishability of Inspiration:</a:t>
            </a:r>
            <a:r>
              <a:rPr lang="en-US" sz="1200" kern="1200" dirty="0">
                <a:solidFill>
                  <a:schemeClr val="tx1"/>
                </a:solidFill>
                <a:effectLst/>
                <a:latin typeface="+mn-lt"/>
                <a:ea typeface="+mn-ea"/>
                <a:cs typeface="+mn-cs"/>
              </a:rPr>
              <a:t> Spontaneity is the core engine of productivity. Inspiration is a perishable commodity.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you feel an impulse to solve a problem, read a book, or write code, do it </a:t>
            </a:r>
            <a:r>
              <a:rPr lang="en-US" sz="1200" i="1" kern="1200" dirty="0">
                <a:solidFill>
                  <a:schemeClr val="tx1"/>
                </a:solidFill>
                <a:effectLst/>
                <a:latin typeface="+mn-lt"/>
                <a:ea typeface="+mn-ea"/>
                <a:cs typeface="+mn-cs"/>
              </a:rPr>
              <a:t>now</a:t>
            </a:r>
            <a:r>
              <a:rPr lang="en-US" sz="1200" kern="1200" dirty="0">
                <a:solidFill>
                  <a:schemeClr val="tx1"/>
                </a:solidFill>
                <a:effectLst/>
                <a:latin typeface="+mn-lt"/>
                <a:ea typeface="+mn-ea"/>
                <a:cs typeface="+mn-cs"/>
              </a:rPr>
              <a:t>—don't schedule it for next Tuesday, because by then, the magic is gone.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5</a:t>
            </a:fld>
            <a:endParaRPr lang="en-US"/>
          </a:p>
        </p:txBody>
      </p:sp>
    </p:spTree>
    <p:extLst>
      <p:ext uri="{BB962C8B-B14F-4D97-AF65-F5344CB8AC3E}">
        <p14:creationId xmlns:p14="http://schemas.microsoft.com/office/powerpoint/2010/main" val="1152203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When faced with difficult life decisions, follow these three rules:</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Rule 1: Is it a definitive yes?</a:t>
            </a:r>
            <a:r>
              <a:rPr lang="en-US" sz="1200" kern="1200" dirty="0">
                <a:solidFill>
                  <a:schemeClr val="tx1"/>
                </a:solidFill>
                <a:effectLst/>
                <a:latin typeface="+mn-lt"/>
                <a:ea typeface="+mn-ea"/>
                <a:cs typeface="+mn-cs"/>
              </a:rPr>
              <a:t> If you cannot decide, the answer is an automatic </a:t>
            </a:r>
            <a:r>
              <a:rPr lang="en-US" sz="1200" i="1" kern="1200" dirty="0">
                <a:solidFill>
                  <a:schemeClr val="tx1"/>
                </a:solidFill>
                <a:effectLst/>
                <a:latin typeface="+mn-lt"/>
                <a:ea typeface="+mn-ea"/>
                <a:cs typeface="+mn-cs"/>
              </a:rPr>
              <a:t>NO</a:t>
            </a:r>
            <a:r>
              <a:rPr lang="en-US" sz="1200" kern="1200" dirty="0">
                <a:solidFill>
                  <a:schemeClr val="tx1"/>
                </a:solidFill>
                <a:effectLst/>
                <a:latin typeface="+mn-lt"/>
                <a:ea typeface="+mn-ea"/>
                <a:cs typeface="+mn-cs"/>
              </a:rPr>
              <a:t>. Don't settle for second best in a world overflowing with options.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Rule 2: Are the options equally appealing?</a:t>
            </a:r>
            <a:r>
              <a:rPr lang="en-US" sz="1200" kern="1200" dirty="0">
                <a:solidFill>
                  <a:schemeClr val="tx1"/>
                </a:solidFill>
                <a:effectLst/>
                <a:latin typeface="+mn-lt"/>
                <a:ea typeface="+mn-ea"/>
                <a:cs typeface="+mn-cs"/>
              </a:rPr>
              <a:t> If two options are equally attractive, pick the path with more immediate, short-term pain. Your brain is evolutionarily wired to avoid short-term discomfort, masking the better long-term choice.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Rule 3: Which path brings peace?</a:t>
            </a:r>
            <a:r>
              <a:rPr lang="en-US" sz="1200" kern="1200" dirty="0">
                <a:solidFill>
                  <a:schemeClr val="tx1"/>
                </a:solidFill>
                <a:effectLst/>
                <a:latin typeface="+mn-lt"/>
                <a:ea typeface="+mn-ea"/>
                <a:cs typeface="+mn-cs"/>
              </a:rPr>
              <a:t> Choose the option that leaves you mentally peaceful and equanimous in the long run. Optimize for a quiet mind.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6</a:t>
            </a:fld>
            <a:endParaRPr lang="en-US"/>
          </a:p>
        </p:txBody>
      </p:sp>
    </p:spTree>
    <p:extLst>
      <p:ext uri="{BB962C8B-B14F-4D97-AF65-F5344CB8AC3E}">
        <p14:creationId xmlns:p14="http://schemas.microsoft.com/office/powerpoint/2010/main" val="27252011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The famous "10,000-hour rule" is a trap if you are simply repeating the exact same mistakes 10,000 times.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Mastery comes from the speed and number of </a:t>
            </a:r>
            <a:r>
              <a:rPr lang="en-US" sz="1200" b="1" kern="1200" dirty="0">
                <a:solidFill>
                  <a:schemeClr val="tx1"/>
                </a:solidFill>
                <a:effectLst/>
                <a:latin typeface="+mn-lt"/>
                <a:ea typeface="+mn-ea"/>
                <a:cs typeface="+mn-cs"/>
              </a:rPr>
              <a:t>error corrections</a:t>
            </a:r>
            <a:r>
              <a:rPr lang="en-US" sz="1200" kern="1200" dirty="0">
                <a:solidFill>
                  <a:schemeClr val="tx1"/>
                </a:solidFill>
                <a:effectLst/>
                <a:latin typeface="+mn-lt"/>
                <a:ea typeface="+mn-ea"/>
                <a:cs typeface="+mn-cs"/>
              </a:rPr>
              <a:t>, not the clock time spent.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True learning requires 10,000 </a:t>
            </a:r>
            <a:r>
              <a:rPr lang="en-US" sz="1200" i="1" kern="1200" dirty="0">
                <a:solidFill>
                  <a:schemeClr val="tx1"/>
                </a:solidFill>
                <a:effectLst/>
                <a:latin typeface="+mn-lt"/>
                <a:ea typeface="+mn-ea"/>
                <a:cs typeface="+mn-cs"/>
              </a:rPr>
              <a:t>iterations</a:t>
            </a:r>
            <a:r>
              <a:rPr lang="en-US" sz="1200" kern="1200" dirty="0">
                <a:solidFill>
                  <a:schemeClr val="tx1"/>
                </a:solidFill>
                <a:effectLst/>
                <a:latin typeface="+mn-lt"/>
                <a:ea typeface="+mn-ea"/>
                <a:cs typeface="+mn-cs"/>
              </a:rPr>
              <a:t>: guess, test, observe the failure, update your priors, and execute a slightly modified version.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7</a:t>
            </a:fld>
            <a:endParaRPr lang="en-US"/>
          </a:p>
        </p:txBody>
      </p:sp>
    </p:spTree>
    <p:extLst>
      <p:ext uri="{BB962C8B-B14F-4D97-AF65-F5344CB8AC3E}">
        <p14:creationId xmlns:p14="http://schemas.microsoft.com/office/powerpoint/2010/main" val="1737774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Mechanics of Stress:</a:t>
            </a:r>
            <a:r>
              <a:rPr lang="en-US" sz="1200" kern="1200" dirty="0">
                <a:solidFill>
                  <a:schemeClr val="tx1"/>
                </a:solidFill>
                <a:effectLst/>
                <a:latin typeface="+mn-lt"/>
                <a:ea typeface="+mn-ea"/>
                <a:cs typeface="+mn-cs"/>
              </a:rPr>
              <a:t> Stress is not external circumstances; it is simply holding two conflicting desires at the exact same time. (e.g., wanting to say no vs. wanting to be liked; wanting to relax vs. wanting to make money). </a:t>
            </a:r>
          </a:p>
          <a:p>
            <a:pPr marL="171450" indent="-171450">
              <a:buFont typeface="Arial" panose="020B0604020202020204" pitchFamily="34" charset="0"/>
              <a:buChar char="•"/>
            </a:pPr>
            <a:r>
              <a:rPr lang="en-US" sz="1200" i="1" kern="1200" dirty="0">
                <a:solidFill>
                  <a:schemeClr val="tx1"/>
                </a:solidFill>
                <a:effectLst/>
                <a:latin typeface="+mn-lt"/>
                <a:ea typeface="+mn-ea"/>
                <a:cs typeface="+mn-cs"/>
              </a:rPr>
              <a:t>Solution:</a:t>
            </a:r>
            <a:r>
              <a:rPr lang="en-US" sz="1200" kern="1200" dirty="0">
                <a:solidFill>
                  <a:schemeClr val="tx1"/>
                </a:solidFill>
                <a:effectLst/>
                <a:latin typeface="+mn-lt"/>
                <a:ea typeface="+mn-ea"/>
                <a:cs typeface="+mn-cs"/>
              </a:rPr>
              <a:t> Consciously identify the conflict, pick one path, and actively mourn the loss of the other.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Mechanics of Anxiety:</a:t>
            </a:r>
            <a:r>
              <a:rPr lang="en-US" sz="1200" kern="1200" dirty="0">
                <a:solidFill>
                  <a:schemeClr val="tx1"/>
                </a:solidFill>
                <a:effectLst/>
                <a:latin typeface="+mn-lt"/>
                <a:ea typeface="+mn-ea"/>
                <a:cs typeface="+mn-cs"/>
              </a:rPr>
              <a:t> Anxiety is unidentifiable, accumulated stress—a mountain of unresolved conflicts poking into your subconscious. Untangle these knots one by one through conscious reflection.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8</a:t>
            </a:fld>
            <a:endParaRPr lang="en-US"/>
          </a:p>
        </p:txBody>
      </p:sp>
    </p:spTree>
    <p:extLst>
      <p:ext uri="{BB962C8B-B14F-4D97-AF65-F5344CB8AC3E}">
        <p14:creationId xmlns:p14="http://schemas.microsoft.com/office/powerpoint/2010/main" val="2376239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Thinking about yourself is the single greatest source of modern unhappiness.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Constantly dwelling on your personality, past traumas, or slights feeds an insatiable ego.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Therapy and introspection have utility for specific problems, but continuously bathing in your own personal narrative becomes "mind mud-wrestling."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Escape Hatch:</a:t>
            </a:r>
            <a:r>
              <a:rPr lang="en-US" sz="1200" kern="1200" dirty="0">
                <a:solidFill>
                  <a:schemeClr val="tx1"/>
                </a:solidFill>
                <a:effectLst/>
                <a:latin typeface="+mn-lt"/>
                <a:ea typeface="+mn-ea"/>
                <a:cs typeface="+mn-cs"/>
              </a:rPr>
              <a:t> To break out of this mirror hall, focus on something vastly larger than yourself—whether that is family, kids, a higher power, or a grand mission.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9</a:t>
            </a:fld>
            <a:endParaRPr lang="en-US"/>
          </a:p>
        </p:txBody>
      </p:sp>
    </p:spTree>
    <p:extLst>
      <p:ext uri="{BB962C8B-B14F-4D97-AF65-F5344CB8AC3E}">
        <p14:creationId xmlns:p14="http://schemas.microsoft.com/office/powerpoint/2010/main" val="3673422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Modern media is an delivery system for "mimetic viruses" that hijack your emotional energy with catastrophic narratives.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Millions of people drive themselves insane over global crises they have zero physical agency to fix, while ignoring immediate issues in their own lives.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The Fix:</a:t>
            </a:r>
            <a:r>
              <a:rPr lang="en-US" sz="1200" kern="1200" dirty="0">
                <a:solidFill>
                  <a:schemeClr val="tx1"/>
                </a:solidFill>
                <a:effectLst/>
                <a:latin typeface="+mn-lt"/>
                <a:ea typeface="+mn-ea"/>
                <a:cs typeface="+mn-cs"/>
              </a:rPr>
              <a:t> Put your own house in order first. Cultivate profound indifference to matters outside your direct control, and preserve your mental energy for what you can actually change.</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10</a:t>
            </a:fld>
            <a:endParaRPr lang="en-US"/>
          </a:p>
        </p:txBody>
      </p:sp>
    </p:spTree>
    <p:extLst>
      <p:ext uri="{BB962C8B-B14F-4D97-AF65-F5344CB8AC3E}">
        <p14:creationId xmlns:p14="http://schemas.microsoft.com/office/powerpoint/2010/main" val="65674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Groundbreaking shifts always arrive from unexpected angles: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AI &amp; LLMs:</a:t>
            </a:r>
            <a:r>
              <a:rPr lang="en-US" sz="1200" kern="1200" dirty="0">
                <a:solidFill>
                  <a:schemeClr val="tx1"/>
                </a:solidFill>
                <a:effectLst/>
                <a:latin typeface="+mn-lt"/>
                <a:ea typeface="+mn-ea"/>
                <a:cs typeface="+mn-cs"/>
              </a:rPr>
              <a:t> LLMs aren't just chatbots; they turn English into a programming language, solving natural language computing.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Autonomous Drones:</a:t>
            </a:r>
            <a:r>
              <a:rPr lang="en-US" sz="1200" kern="1200" dirty="0">
                <a:solidFill>
                  <a:schemeClr val="tx1"/>
                </a:solidFill>
                <a:effectLst/>
                <a:latin typeface="+mn-lt"/>
                <a:ea typeface="+mn-ea"/>
                <a:cs typeface="+mn-cs"/>
              </a:rPr>
              <a:t> Autonomous software is redefining the future of defense.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GLP-1 Revolution:</a:t>
            </a:r>
            <a:r>
              <a:rPr lang="en-US" sz="1200" kern="1200" dirty="0">
                <a:solidFill>
                  <a:schemeClr val="tx1"/>
                </a:solidFill>
                <a:effectLst/>
                <a:latin typeface="+mn-lt"/>
                <a:ea typeface="+mn-ea"/>
                <a:cs typeface="+mn-cs"/>
              </a:rPr>
              <a:t> Naval regards GLP-1 medications as one of the most significant medical breakthroughs since antibiotics. By addressing the downstream effects of calorie abundance, GLP-1s will bend healthcare costs and transform metabolic health.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11</a:t>
            </a:fld>
            <a:endParaRPr lang="en-US"/>
          </a:p>
        </p:txBody>
      </p:sp>
    </p:spTree>
    <p:extLst>
      <p:ext uri="{BB962C8B-B14F-4D97-AF65-F5344CB8AC3E}">
        <p14:creationId xmlns:p14="http://schemas.microsoft.com/office/powerpoint/2010/main" val="1396837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Arrogance of Youth:</a:t>
            </a:r>
            <a:r>
              <a:rPr lang="en-US" sz="1200" kern="1200" dirty="0">
                <a:solidFill>
                  <a:schemeClr val="tx1"/>
                </a:solidFill>
                <a:effectLst/>
                <a:latin typeface="+mn-lt"/>
                <a:ea typeface="+mn-ea"/>
                <a:cs typeface="+mn-cs"/>
              </a:rPr>
              <a:t> Young people often ignore elders' warnings believing their unique intellect makes them an exception to universal truths.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Understanding vs. Discipline:</a:t>
            </a:r>
            <a:r>
              <a:rPr lang="en-US" sz="1200" kern="1200" dirty="0">
                <a:solidFill>
                  <a:schemeClr val="tx1"/>
                </a:solidFill>
                <a:effectLst/>
                <a:latin typeface="+mn-lt"/>
                <a:ea typeface="+mn-ea"/>
                <a:cs typeface="+mn-cs"/>
              </a:rPr>
              <a:t> Discipline is forcing yourself to do something you dislike. Real </a:t>
            </a:r>
            <a:r>
              <a:rPr lang="en-US" sz="1200" i="1" kern="1200" dirty="0">
                <a:solidFill>
                  <a:schemeClr val="tx1"/>
                </a:solidFill>
                <a:effectLst/>
                <a:latin typeface="+mn-lt"/>
                <a:ea typeface="+mn-ea"/>
                <a:cs typeface="+mn-cs"/>
              </a:rPr>
              <a:t>understanding</a:t>
            </a:r>
            <a:r>
              <a:rPr lang="en-US" sz="1200" kern="1200" dirty="0">
                <a:solidFill>
                  <a:schemeClr val="tx1"/>
                </a:solidFill>
                <a:effectLst/>
                <a:latin typeface="+mn-lt"/>
                <a:ea typeface="+mn-ea"/>
                <a:cs typeface="+mn-cs"/>
              </a:rPr>
              <a:t> changes you instantly. Once you truly understand a danger, you don't need willpower to avoid it.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Naval’s Reflection:</a:t>
            </a:r>
            <a:r>
              <a:rPr lang="en-US" sz="1200" kern="1200" dirty="0">
                <a:solidFill>
                  <a:schemeClr val="tx1"/>
                </a:solidFill>
                <a:effectLst/>
                <a:latin typeface="+mn-lt"/>
                <a:ea typeface="+mn-ea"/>
                <a:cs typeface="+mn-cs"/>
              </a:rPr>
              <a:t> Naval notes that if he went back in time, he would do almost everything the same, but with less anger, emotion, and internal suffering—because that suffering was completely optional.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12</a:t>
            </a:fld>
            <a:endParaRPr lang="en-US"/>
          </a:p>
        </p:txBody>
      </p:sp>
    </p:spTree>
    <p:extLst>
      <p:ext uri="{BB962C8B-B14F-4D97-AF65-F5344CB8AC3E}">
        <p14:creationId xmlns:p14="http://schemas.microsoft.com/office/powerpoint/2010/main" val="7014511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i="1" kern="1200" dirty="0">
                <a:solidFill>
                  <a:schemeClr val="tx1"/>
                </a:solidFill>
                <a:effectLst/>
                <a:latin typeface="+mn-lt"/>
                <a:ea typeface="+mn-ea"/>
                <a:cs typeface="+mn-cs"/>
              </a:rPr>
              <a:t>"Any moment you are not fully engaged with reality is wasted time."</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kern="1200" dirty="0">
                <a:solidFill>
                  <a:schemeClr val="tx1"/>
                </a:solidFill>
                <a:effectLst/>
                <a:latin typeface="+mn-lt"/>
                <a:ea typeface="+mn-ea"/>
                <a:cs typeface="+mn-cs"/>
              </a:rPr>
              <a:t>Money cannot buy time, and time is useless if you aren't mentally present for it.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If your mind is trapped regretting the past or anxious about the future, you are functionally absent from life. What you pay attention to becomes your reality.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13</a:t>
            </a:fld>
            <a:endParaRPr lang="en-US"/>
          </a:p>
        </p:txBody>
      </p:sp>
    </p:spTree>
    <p:extLst>
      <p:ext uri="{BB962C8B-B14F-4D97-AF65-F5344CB8AC3E}">
        <p14:creationId xmlns:p14="http://schemas.microsoft.com/office/powerpoint/2010/main" val="3911795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1 (Foundation):</a:t>
            </a:r>
            <a:r>
              <a:rPr lang="en-US" sz="1200" kern="1200" dirty="0">
                <a:solidFill>
                  <a:schemeClr val="tx1"/>
                </a:solidFill>
                <a:effectLst/>
                <a:latin typeface="+mn-lt"/>
                <a:ea typeface="+mn-ea"/>
                <a:cs typeface="+mn-cs"/>
              </a:rPr>
              <a:t> Escape competition by productizing your unique self. Avoid zero-sum status games.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2 (Execution):</a:t>
            </a:r>
            <a:r>
              <a:rPr lang="en-US" sz="1200" kern="1200" dirty="0">
                <a:solidFill>
                  <a:schemeClr val="tx1"/>
                </a:solidFill>
                <a:effectLst/>
                <a:latin typeface="+mn-lt"/>
                <a:ea typeface="+mn-ea"/>
                <a:cs typeface="+mn-cs"/>
              </a:rPr>
              <a:t> Protect your time, iterate quickly through 10,000 error-corrections, build leverage, and accumulate wealth to buy your time back.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Phase 3 (Liberation):</a:t>
            </a:r>
            <a:r>
              <a:rPr lang="en-US" sz="1200" kern="1200" dirty="0">
                <a:solidFill>
                  <a:schemeClr val="tx1"/>
                </a:solidFill>
                <a:effectLst/>
                <a:latin typeface="+mn-lt"/>
                <a:ea typeface="+mn-ea"/>
                <a:cs typeface="+mn-cs"/>
              </a:rPr>
              <a:t> Disconnect from societal outrage, starve the ego, and cultivate unconditional presence. The ultimate reason to win the game is so you can stop playing.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14</a:t>
            </a:fld>
            <a:endParaRPr lang="en-US"/>
          </a:p>
        </p:txBody>
      </p:sp>
    </p:spTree>
    <p:extLst>
      <p:ext uri="{BB962C8B-B14F-4D97-AF65-F5344CB8AC3E}">
        <p14:creationId xmlns:p14="http://schemas.microsoft.com/office/powerpoint/2010/main" val="3192500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dirty="0">
                <a:solidFill>
                  <a:schemeClr val="tx1"/>
                </a:solidFill>
                <a:effectLst/>
                <a:latin typeface="+mn-lt"/>
                <a:ea typeface="+mn-ea"/>
                <a:cs typeface="+mn-cs"/>
              </a:rPr>
              <a:t>Keep the truth of mortality front and center: you are going to die, and you can't take your wealth, status, or pride with you.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When you hold death in mind, superficial anxieties and outrage vanish.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Life flows briefly between absolute boredom and overwhelming anxiety. Your job is simply to pay attention to the water and enjoy the ride.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15</a:t>
            </a:fld>
            <a:endParaRPr lang="en-US"/>
          </a:p>
        </p:txBody>
      </p:sp>
    </p:spTree>
    <p:extLst>
      <p:ext uri="{BB962C8B-B14F-4D97-AF65-F5344CB8AC3E}">
        <p14:creationId xmlns:p14="http://schemas.microsoft.com/office/powerpoint/2010/main" val="1142675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Mastering the External Game:</a:t>
            </a:r>
            <a:r>
              <a:rPr lang="en-US" sz="1200" kern="1200" dirty="0">
                <a:solidFill>
                  <a:schemeClr val="tx1"/>
                </a:solidFill>
                <a:effectLst/>
                <a:latin typeface="+mn-lt"/>
                <a:ea typeface="+mn-ea"/>
                <a:cs typeface="+mn-cs"/>
              </a:rPr>
              <a:t> Win wealth games (positive-sum abundance) to buy freedom, while rejecting status games (zero-sum hierarchies). </a:t>
            </a:r>
          </a:p>
          <a:p>
            <a:pPr marL="171450" indent="-171450">
              <a:buFont typeface="Arial" panose="020B0604020202020204" pitchFamily="34" charset="0"/>
              <a:buChar char="•"/>
            </a:pPr>
            <a:r>
              <a:rPr lang="en-US" sz="1200" b="1" kern="1200" dirty="0">
                <a:solidFill>
                  <a:schemeClr val="tx1"/>
                </a:solidFill>
                <a:effectLst/>
                <a:latin typeface="+mn-lt"/>
                <a:ea typeface="+mn-ea"/>
                <a:cs typeface="+mn-cs"/>
              </a:rPr>
              <a:t>Mastering the Internal Game:</a:t>
            </a:r>
            <a:endParaRPr lang="en-U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Self-Esteem:</a:t>
            </a:r>
            <a:r>
              <a:rPr lang="en-US" sz="1200" kern="1200" dirty="0">
                <a:solidFill>
                  <a:schemeClr val="tx1"/>
                </a:solidFill>
                <a:effectLst/>
                <a:latin typeface="+mn-lt"/>
                <a:ea typeface="+mn-ea"/>
                <a:cs typeface="+mn-cs"/>
              </a:rPr>
              <a:t> Build internal reputation by adhering to your own moral code and keeping promises to yourself.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Happiness:</a:t>
            </a:r>
            <a:r>
              <a:rPr lang="en-US" sz="1200" kern="1200" dirty="0">
                <a:solidFill>
                  <a:schemeClr val="tx1"/>
                </a:solidFill>
                <a:effectLst/>
                <a:latin typeface="+mn-lt"/>
                <a:ea typeface="+mn-ea"/>
                <a:cs typeface="+mn-cs"/>
              </a:rPr>
              <a:t> Realize happiness is a choice—being satisfied with what you have without demanding reality to change. </a:t>
            </a:r>
          </a:p>
          <a:p>
            <a:pPr marL="171450" indent="-171450">
              <a:buFont typeface="Arial" panose="020B0604020202020204" pitchFamily="34" charset="0"/>
              <a:buChar char="•"/>
            </a:pPr>
            <a:r>
              <a:rPr lang="en-US" sz="1200" kern="1200" dirty="0">
                <a:solidFill>
                  <a:schemeClr val="tx1"/>
                </a:solidFill>
                <a:effectLst/>
                <a:latin typeface="+mn-lt"/>
                <a:ea typeface="+mn-ea"/>
                <a:cs typeface="+mn-cs"/>
              </a:rPr>
              <a:t>Remember: You spend 99% of your time on the path. The journey isn't just the reward; it's the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thing that exists.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7255D7F-92B3-4280-A212-EB11396A96A6}" type="slidenum">
              <a:rPr lang="en-US" smtClean="0"/>
              <a:t>16</a:t>
            </a:fld>
            <a:endParaRPr lang="en-US"/>
          </a:p>
        </p:txBody>
      </p:sp>
    </p:spTree>
    <p:extLst>
      <p:ext uri="{BB962C8B-B14F-4D97-AF65-F5344CB8AC3E}">
        <p14:creationId xmlns:p14="http://schemas.microsoft.com/office/powerpoint/2010/main" val="3263524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F2E3A0-D672-8BFF-88E0-DE40ED2A23D3}"/>
              </a:ext>
            </a:extLst>
          </p:cNvPr>
          <p:cNvSpPr>
            <a:spLocks noGrp="1"/>
          </p:cNvSpPr>
          <p:nvPr>
            <p:ph type="dt" sz="half" idx="10"/>
          </p:nvPr>
        </p:nvSpPr>
        <p:spPr/>
        <p:txBody>
          <a:bodyPr/>
          <a:lstStyle/>
          <a:p>
            <a:fld id="{D7D77DF8-8FDF-42CF-AF80-B353338AD4CA}" type="datetimeFigureOut">
              <a:rPr lang="en-US" smtClean="0"/>
              <a:t>10/19/2026</a:t>
            </a:fld>
            <a:endParaRPr lang="en-US"/>
          </a:p>
        </p:txBody>
      </p:sp>
      <p:sp>
        <p:nvSpPr>
          <p:cNvPr id="3" name="Footer Placeholder 2">
            <a:extLst>
              <a:ext uri="{FF2B5EF4-FFF2-40B4-BE49-F238E27FC236}">
                <a16:creationId xmlns:a16="http://schemas.microsoft.com/office/drawing/2014/main" id="{07EC90FF-75FD-43D8-CFAA-E9EFFD99CE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4A990A-18FF-D0F2-E932-C38E7B023290}"/>
              </a:ext>
            </a:extLst>
          </p:cNvPr>
          <p:cNvSpPr>
            <a:spLocks noGrp="1"/>
          </p:cNvSpPr>
          <p:nvPr>
            <p:ph type="sldNum" sz="quarter" idx="12"/>
          </p:nvPr>
        </p:nvSpPr>
        <p:spPr/>
        <p:txBody>
          <a:bodyPr/>
          <a:lstStyle/>
          <a:p>
            <a:fld id="{A8BC78AC-CD6E-4239-90EE-6D259C2A5923}" type="slidenum">
              <a:rPr lang="en-US" smtClean="0"/>
              <a:t>‹#›</a:t>
            </a:fld>
            <a:endParaRPr lang="en-US"/>
          </a:p>
        </p:txBody>
      </p:sp>
    </p:spTree>
    <p:extLst>
      <p:ext uri="{BB962C8B-B14F-4D97-AF65-F5344CB8AC3E}">
        <p14:creationId xmlns:p14="http://schemas.microsoft.com/office/powerpoint/2010/main" val="356096200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95DB7-FEA7-7498-C87E-AE6AFFD52F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A84757-D12F-4764-1F25-BEF3CF6AE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D64612-C614-BA78-6CD1-87978FE5F2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D77DF8-8FDF-42CF-AF80-B353338AD4CA}" type="datetimeFigureOut">
              <a:rPr lang="en-US" smtClean="0"/>
              <a:t>10/19/2026</a:t>
            </a:fld>
            <a:endParaRPr lang="en-US"/>
          </a:p>
        </p:txBody>
      </p:sp>
      <p:sp>
        <p:nvSpPr>
          <p:cNvPr id="5" name="Footer Placeholder 4">
            <a:extLst>
              <a:ext uri="{FF2B5EF4-FFF2-40B4-BE49-F238E27FC236}">
                <a16:creationId xmlns:a16="http://schemas.microsoft.com/office/drawing/2014/main" id="{3E67F945-3973-E03F-790D-1831EB4BD3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79E035-6AC1-E7F9-8FA3-0DF8CAF50F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BC78AC-CD6E-4239-90EE-6D259C2A5923}" type="slidenum">
              <a:rPr lang="en-US" smtClean="0"/>
              <a:t>‹#›</a:t>
            </a:fld>
            <a:endParaRPr lang="en-US"/>
          </a:p>
        </p:txBody>
      </p:sp>
    </p:spTree>
    <p:extLst>
      <p:ext uri="{BB962C8B-B14F-4D97-AF65-F5344CB8AC3E}">
        <p14:creationId xmlns:p14="http://schemas.microsoft.com/office/powerpoint/2010/main" val="148813973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B1DA70-0D02-9AA3-D47F-BC8D96EF90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0D30CD-EDC5-0DC0-2FB7-736ED187E8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4549D7-109C-D7DA-1032-A76618B7A3D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60935A-EE10-4C5B-A8EB-4C29C9AC39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C6C997-AE3E-ACB0-4E5F-70A8A607ACA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561788-EDC1-A860-3077-4DD3BF9992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0A26FE-D6D0-2018-C933-8E180FE418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482278-8FD2-0EB6-7B10-A90677C9EE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5D1666-E8A1-85BC-1314-DA2D34638A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35F002-7918-F8D4-2B22-4F18E241458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C2DFCD-89FC-765E-6D2F-CBE5810CB5B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49A9BB-2FDC-F892-BAF5-D4FA4ACBB6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05C0CB-4328-1369-849F-CC46ADF686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E8A718-B4F5-9C66-6ABD-D741757A346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9505C3-B243-9D75-5ACC-83F416A1682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8BBCBD-2EE5-449A-004F-34E2DC8A959E}"/>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449527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1472</Words>
  <Application>Microsoft Office PowerPoint</Application>
  <PresentationFormat>寬螢幕</PresentationFormat>
  <Paragraphs>77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2026-07-24T01:58:26Z</dcterms:created>
  <dcterms:modified xsi:type="dcterms:W3CDTF">2026-10-19T14:29:38Z</dcterms:modified>
</cp:coreProperties>
</file>