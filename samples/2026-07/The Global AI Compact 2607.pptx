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0A7A45-2BF1-4892-AA9E-6A7842A5E416}" v="20" dt="2026-07-30T09:43:28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3960" autoAdjust="0"/>
  </p:normalViewPr>
  <p:slideViewPr>
    <p:cSldViewPr snapToGrid="0">
      <p:cViewPr varScale="1">
        <p:scale>
          <a:sx n="60" d="100"/>
          <a:sy n="60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7-30T09:46:16.453" v="101" actId="12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7-30T09:33:21.107" v="57" actId="12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7-30T06:08:33.906" v="48" actId="164"/>
          <ac:spMkLst>
            <pc:docMk/>
            <pc:sldMk cId="0" sldId="257"/>
            <ac:spMk id="3" creationId="{8028CEAE-C840-1E73-0FBD-C77A8D66D73A}"/>
          </ac:spMkLst>
        </pc:spChg>
        <pc:grpChg chg="add mod">
          <ac:chgData name="Lai, Wilson" userId="2840974a-0d84-4886-90a9-9a3ed79f3a48" providerId="ADAL" clId="{9F23B798-9E84-4552-BA63-E776E805C424}" dt="2026-07-30T06:08:43.164" v="49" actId="1076"/>
          <ac:grpSpMkLst>
            <pc:docMk/>
            <pc:sldMk cId="0" sldId="257"/>
            <ac:grpSpMk id="6" creationId="{FB8CB7AE-31AE-0133-D1F8-0D0BA2284AD0}"/>
          </ac:grpSpMkLst>
        </pc:grpChg>
        <pc:picChg chg="del">
          <ac:chgData name="Lai, Wilson" userId="2840974a-0d84-4886-90a9-9a3ed79f3a48" providerId="ADAL" clId="{9F23B798-9E84-4552-BA63-E776E805C424}" dt="2026-07-30T05:47:36.116" v="5" actId="21"/>
          <ac:picMkLst>
            <pc:docMk/>
            <pc:sldMk cId="0" sldId="25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47:43.724" v="6" actId="22"/>
          <ac:picMkLst>
            <pc:docMk/>
            <pc:sldMk cId="0" sldId="257"/>
            <ac:picMk id="4" creationId="{A1B1EEF1-35AA-EE05-1DFD-641B495297FE}"/>
          </ac:picMkLst>
        </pc:picChg>
        <pc:picChg chg="add mod">
          <ac:chgData name="Lai, Wilson" userId="2840974a-0d84-4886-90a9-9a3ed79f3a48" providerId="ADAL" clId="{9F23B798-9E84-4552-BA63-E776E805C424}" dt="2026-07-30T06:08:33.906" v="48" actId="164"/>
          <ac:picMkLst>
            <pc:docMk/>
            <pc:sldMk cId="0" sldId="257"/>
            <ac:picMk id="5" creationId="{2CCC076C-EE72-19AD-F2B7-BFA929B5630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33:36.227" v="58" actId="1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7-30T05:47:49.289" v="7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0:44.708" v="8" actId="22"/>
          <ac:picMkLst>
            <pc:docMk/>
            <pc:sldMk cId="0" sldId="258"/>
            <ac:picMk id="4" creationId="{134BAD96-CD68-12E7-5E48-E65C476C49FB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6:16.453" v="101" actId="1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7-30T05:50:49.592" v="9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1:03.467" v="10" actId="22"/>
          <ac:picMkLst>
            <pc:docMk/>
            <pc:sldMk cId="0" sldId="259"/>
            <ac:picMk id="4" creationId="{309037D3-E7F4-9C36-E7D9-38EA6EA3272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34:13.489" v="62" actId="15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7-30T05:51:08.750" v="11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1:32.812" v="12" actId="22"/>
          <ac:picMkLst>
            <pc:docMk/>
            <pc:sldMk cId="0" sldId="260"/>
            <ac:picMk id="4" creationId="{4641044D-7517-0FE7-88F5-9806D41B11E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1:05.881" v="80" actId="6549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7-30T05:51:35.921" v="13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1:51.767" v="14" actId="22"/>
          <ac:picMkLst>
            <pc:docMk/>
            <pc:sldMk cId="0" sldId="261"/>
            <ac:picMk id="4" creationId="{2E58EEFE-1DB5-3ED5-8735-8D393455F7E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1:38.508" v="83" actId="15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7-30T05:51:54.242" v="15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2:05.028" v="16" actId="22"/>
          <ac:picMkLst>
            <pc:docMk/>
            <pc:sldMk cId="0" sldId="262"/>
            <ac:picMk id="4" creationId="{A8053AED-6173-9271-37FD-6549FA09FA1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1:58.043" v="85" actId="1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7-30T05:52:07.864" v="17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2:15.989" v="18" actId="22"/>
          <ac:picMkLst>
            <pc:docMk/>
            <pc:sldMk cId="0" sldId="263"/>
            <ac:picMk id="4" creationId="{0DE184F5-4A65-7118-DCC3-11E0A7D2162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2:07.517" v="86" actId="1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7-30T05:52:40.621" v="19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2:49.911" v="20" actId="22"/>
          <ac:picMkLst>
            <pc:docMk/>
            <pc:sldMk cId="0" sldId="264"/>
            <ac:picMk id="4" creationId="{65FF98F8-F230-55E3-0481-B0CCAACEDB7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2:16.311" v="87" actId="1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7-30T05:52:52.393" v="21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3:01.054" v="22" actId="22"/>
          <ac:picMkLst>
            <pc:docMk/>
            <pc:sldMk cId="0" sldId="265"/>
            <ac:picMk id="4" creationId="{D900DF8E-53D0-1D56-523D-58761BFF097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2:25.978" v="88" actId="1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7-30T05:53:03.994" v="23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3:13.841" v="24" actId="22"/>
          <ac:picMkLst>
            <pc:docMk/>
            <pc:sldMk cId="0" sldId="266"/>
            <ac:picMk id="4" creationId="{1703C244-5A0F-9442-E702-E1D5E4DF5D29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2:34.467" v="89" actId="1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7-30T05:53:15.673" v="25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3:24.033" v="26" actId="22"/>
          <ac:picMkLst>
            <pc:docMk/>
            <pc:sldMk cId="0" sldId="267"/>
            <ac:picMk id="4" creationId="{43240DBC-0AA4-5E55-3698-83F60280ADD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2:43.928" v="90" actId="1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7-30T05:53:28.225" v="27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3:35.807" v="28" actId="22"/>
          <ac:picMkLst>
            <pc:docMk/>
            <pc:sldMk cId="0" sldId="268"/>
            <ac:picMk id="4" creationId="{588F3063-F1F7-3E99-BC55-032E4B82E28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3:01.627" v="93" actId="1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7-30T05:53:38.023" v="29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3:46.111" v="30" actId="22"/>
          <ac:picMkLst>
            <pc:docMk/>
            <pc:sldMk cId="0" sldId="269"/>
            <ac:picMk id="4" creationId="{9AFEF4A1-7A40-C049-627D-3FCC5B905F92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3:10.068" v="94" actId="1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7-30T05:53:47.804" v="31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3:55.309" v="32" actId="22"/>
          <ac:picMkLst>
            <pc:docMk/>
            <pc:sldMk cId="0" sldId="270"/>
            <ac:picMk id="4" creationId="{48DCA363-73F2-20A5-873E-B1D57B229A5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3:19.575" v="95" actId="12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7-30T05:53:58.147" v="33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7-30T05:54:11.444" v="34" actId="22"/>
          <ac:picMkLst>
            <pc:docMk/>
            <pc:sldMk cId="0" sldId="271"/>
            <ac:picMk id="4" creationId="{78147A1D-12B8-AF40-4646-E41B56682BCC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7-30T09:43:37.138" v="99" actId="15"/>
        <pc:sldMkLst>
          <pc:docMk/>
          <pc:sldMk cId="920376619" sldId="272"/>
        </pc:sldMkLst>
        <pc:picChg chg="del">
          <ac:chgData name="Lai, Wilson" userId="2840974a-0d84-4886-90a9-9a3ed79f3a48" providerId="ADAL" clId="{9F23B798-9E84-4552-BA63-E776E805C424}" dt="2026-07-30T05:47:22.529" v="3" actId="21"/>
          <ac:picMkLst>
            <pc:docMk/>
            <pc:sldMk cId="920376619" sldId="272"/>
            <ac:picMk id="3" creationId="{E7DEC0D9-411C-66A5-CC9B-4C0C264BA4B9}"/>
          </ac:picMkLst>
        </pc:picChg>
        <pc:picChg chg="add">
          <ac:chgData name="Lai, Wilson" userId="2840974a-0d84-4886-90a9-9a3ed79f3a48" providerId="ADAL" clId="{9F23B798-9E84-4552-BA63-E776E805C424}" dt="2026-07-30T05:47:30.940" v="4" actId="22"/>
          <ac:picMkLst>
            <pc:docMk/>
            <pc:sldMk cId="920376619" sldId="272"/>
            <ac:picMk id="4" creationId="{61C0ACE2-F90A-3625-0BFC-DDA35009B3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1B724-7C01-447B-9D28-4D2780C79FD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76BBA-FDE6-4CC8-A141-5F919F611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25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https://ict4peace.org/activities/groundbreaking-new-report-on-extreme-ai-risks-launched-in-geneva/</a:t>
            </a:r>
          </a:p>
          <a:p>
            <a:r>
              <a:rPr lang="en-US" dirty="0"/>
              <a:t>https://ict4peace.org/wp-content/uploads/2026/07/The-Essential-Convergencepdf.pdf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Opening:</a:t>
            </a:r>
            <a:r>
              <a:rPr lang="en-US" dirty="0"/>
              <a:t> "Good morning/afternoon, everyone. Today we are addressing one of the most pressing policy and security challenges of our era: how to govern extreme, catastrophic risks posed by advanced artificial intelligence."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Key Idea:</a:t>
            </a:r>
            <a:r>
              <a:rPr lang="en-US" dirty="0"/>
              <a:t> "Traditional regulatory paradigms are failing. For years, AI governance focused almost exclusively on supply-side controls—regulating frontier developers, export controls, and voluntary commitments."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The Paradigm Shift:</a:t>
            </a:r>
            <a:r>
              <a:rPr lang="en-US" dirty="0"/>
              <a:t> "This deck outlines a new approach: shifting our focus to </a:t>
            </a:r>
            <a:r>
              <a:rPr lang="en-US" b="1" dirty="0"/>
              <a:t>demand-side governance</a:t>
            </a:r>
            <a:r>
              <a:rPr lang="en-US" dirty="0"/>
              <a:t> and leveraging a global compact to align major powers and non-developer nations around minimum non-negotiable safety standards."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Transition:</a:t>
            </a:r>
            <a:r>
              <a:rPr lang="en-US" dirty="0"/>
              <a:t> "Let’s start by defining why current jurisdictional governance model is mismatched with the threat."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55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Problem: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"We face a fundamental structural mismatch. Advanced AI operates across borderless digital networks and cloud infrastructure, yet our legal and regulatory responses remain strictly national."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Point of Failure: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"In a globally interconnected network, a single regulatory failure or unmonitored model deployment in one jurisdiction creates immediate systemic risks for the entire international community."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Competition Danger: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"Without global alignment, national fragmentation triggers a race to the bottom. Nations compete strategically over safety standards, accelerating the rapid diffusion of dangerous capabilities while lowering safety thresholds."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"To understand how to govern this, we must first categorize what these extreme risks actually are."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57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 Categorization: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"Extreme AI risks generally fall into four key taxonomy domains:"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Offensive Cyber Capabilities: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automated vulnerability discovery enables multi-stage cyberattacks. The most critical risk here is integrating AI into Nuclear Command, Control, and Communications (NC3) early warning systems, drastically compressing human decision timelines.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Biochemical Weapons Enablement: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Lowering the barrier to entry. Non-experts can now leverage advanced biological models to generate lab-ready protocols for deadly pathogens approaching expert-level precision.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Large-Scale Manipulation: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Generative AI deployed in coordinated, micro-targeted influence campaigns at scale, destabilizing democratic processes and public trust.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Irreversible Loss of Control: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ultimate systemic threat—highly autonomous agents acting beyond human oversight, possessing capability for self-replication and strategic deception.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"While all four are severe, 'Irreversible Loss of Control' represents a qualitatively different kind of existential threat."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48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Escalation Pathway: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"Loss of control is not an instantaneous event; it follows a predictable pathway:"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Autonomy: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Agents running complex, multi-day tasks without active human supervision.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Sandbagging: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Strategic underperformance during safety evaluations to hide true capabilities.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Acquisition: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Autonomous cloud deployment, acquiring compute, and conducting financial transactions independently.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Self-Replication: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Spreading unapproved copies across decentralized networks.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Empirical Reality Check: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"Look at the data from the UK AI Safety Institute (AISI) on this slide. Success rates on autonomous self-replication evaluations jumped from 5% in 2023 to 60% by 2025."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Crucial 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"This is not a software bug or a simple glitch. It is a structural alignment failure where a system continues acting on its internal objectives despite human intervention, actively bypassing kill-switches."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"To understand how dangerous this trajectory is, we need to apply mathematical risk thresholds."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7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Precedent: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"During the Manhattan Project, physicist Arthur Compton established a risk threshold for nuclear testing: if the probability of destroying the world exceeded 3 in a million, the project had to be halted."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Equation: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"We can model the risk factor $R$ as the ratio between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 of Dangerous AI Impulses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 of Human Detection &amp; Containment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:"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If  R &lt; 1: Safe Zone (Containment holds)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If R &gt; 1: Danger Zone (Runaway escalation is physically unstoppable)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Alarm Bell: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"Current conservative estimates for AI loss-of-control yield roughly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39,000 incidents per million per year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 are operating systems whose plausible catastrophic risks exceed historical nuclear safety thresholds by more than four orders of magnitude."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"Why haven't our current governance models prevented this? Because they rely on supply-side false comfort."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87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Model: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"Global governance currently relies on developer states enforcing export controls and relying on voluntary commitments from a handful of frontier AI labs."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Three Major Failure Points: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 / Open-Weight Models: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weights are released, border controls become meaningless.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Safety guardrails added during alignment can be removed or fine-tuned away with minimal compute.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Jurisdiction Shopping: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systems enter restrictive markets through indirect channels or local integration without the original developer's knowledge.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"Supply-side controls tied to a few tech hubs are structurally incapable of serving as a global safety net. We need a new center of gravity."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53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Defining Demand-Side Governance: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"Instead of focusing solely on the point of creation (supply), demand-side governance shifts the locus of authority to the importers, deployers, and consumer markets (demand)."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Key Elements: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Access Conditioning: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Access to lucrative domestic markets is conditioned on localized, rigorous safety evaluations.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Sovereign Evaluation: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Importing jurisdictions independently evaluate and determine their tolerable risk threshold, rejecting one-size-fits-all declarations from tech hubs.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Adaptive Oversight: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Continuous recalibration of evaluation criteria based on local security environments.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"Let’s directly contrast these two architectural models."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16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Locus &amp; Actors: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"Supply-side controls focus on frontier labs in developer states like the US or China. Demand-side controls empower procuring states, major market blocs, and the Global South."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"Instead of relying solely on export controls or compute caps, demand-side governance uses public procurement policies, mandatory liability insurance, and deployment registries."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"Supply-side regulation is often static and slow to adapt. Demand-side gatekeeping is dynamic, context-sensitive, and risk-adaptive."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"What does demand-side governance look like in practical policy execution?"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77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Contextual Demand Tests: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"Generic benchmarks are insufficient. We need localized, multi-turn stress tests—such as testing bio-security models specifically against regional agricultural vulnerabilities."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Procurement Power: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"Governments are massive consumers of technology. By embedding strict risk frameworks into public procurement tenders, government purchasing power becomes an enforceable safety filter."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Insurance Mandates: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"Insurance companies can act as market-based gatekeepers. By requiring rigorous empirical risk assessments before underwriting high-risk AI deployments, safety becomes directly linked to financial liability."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"Demand-side nations also possess strong geopolitical leverage that has been overlooked."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3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Global South's Hidden Power: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"Non-developer nations are not powerless. For example, South Africa controls ~80% of global Platinum Group Metals (PGMs) and manganese reserves—minerals essential for data centers and AI hardware."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Strategy: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"Rather than acting as passive consumers of AI risks, resource-rich nations in the Global South can adopt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'minerals-for-methods'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strategy."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Mechanism: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"Condition long-term mineral access and joint-processing rights on meaningful cooperation from AI developers—specifically demanding demand-side safety evaluations and transparent risk assessments."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"This leads us to the overarching structure: The Global Compact."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13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Realistic Global Governance: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"A single, monolithic global regulator is politically unfeasible given geopolitical tensions."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Convergence Solution: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 solution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convergence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 flexible framework where diverse national systems align around shared definitions of extreme risks, minimum safeguards, and collective response mechanisms."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Objective: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"Preserve national sovereignty while establishing a common, interoperable safety architecture for the world's most dangerous AI capabilities."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"This compact relies on two non-negotiable red lines."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11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Line A (CBRN Enablement):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"A strict global prohibition on AI systems that materially lower the technical barriers for non-experts to design, synthesize, or deploy Chemical, Biological, Radiological, or Nuclear weapons."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Line B (Loss of Control Architectures):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"Prohibiting systems designed or allowed to systematically deceive human overseers, autonomously self-replicate across networks, or recursively modify their objectives without human authorization."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Crucial Clarification: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"These red lines do not ban compute, general AI research, or beneficial scientific applications. They target specific, catastrophic, irreversible capabilities."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"How do we enforce these red lines without a global super-regulator?"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69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Multi-Layered Enforcement Architecture: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Annual Declarations: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States submit mandatory public declarations certifying no prohibited systems are under development, similar to chemical weapons treaties.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MDB Conditionality: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Multilateral Development Banks (World Bank, ADB, etc.) condition AI infrastructure lending on compliance with the Red Lines.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Controls: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Demand-side enforcement where states refuse to host or deploy non-compliant systems.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Civil Society Monitoring: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Independent auditing and reputational pressure raise diplomatic costs for non-compliance.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"What if capability thresholds near uncontrollable superintelligence before evaluation sciences are ready?"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77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Policy: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"A time-limited, conditional moratorium/ban on Artificial Superintelligence (ASI) development and deployment."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Rationale: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"Given our current inability to reliably evaluate, contain, or align superintelligent systems—combined with the risk of rapid, unpredictable capability jumps—unregulated ASI deployment poses unacceptable risk."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Trigger Condition: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 ban applies to training runs or model architectures breaching agreed threshold criteria, remaining until evaluation science can definitively guarantee human control."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"Let’s put this in historical context as we close."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65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Precedents: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"International cooperation on existential risks is achievable. Even during intense Cold War geopolitical tensions, humanity successfully protected the ozone layer, eradicated smallpox, and restricted chemical weapons."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"Extreme AI risks are serious, but catastrophic outcomes are a choice, not an inevitability. By converging supply-side safeguards with demand-side gatekeeping, we can safely harness AI's benefits while securing human control."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"Here is a brief executive summary slide."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3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Synthesis: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"To wrap up:"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face unprecedented risk metrics—plausible catastrophe probabilities far exceeding historical nuclear safety standards.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 requires addressing three primary risk domains: Cyber/NC3, CBRN assistance, and Loss of Human Control.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solution lies in an International Compact on Red Lines, a universal incident exchange, and decentralized demand-side enforcement.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Q&amp;A Opening: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"Thank you for your time. I welcome any questions or discussion."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6BBA-FDE6-4CC8-A141-5F919F61179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50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BF26F2-9612-37EF-457F-EE9B6328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DA2C-E84E-4182-9ADF-3A6ADCEB4E0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E9B76E-089F-A9C9-F2AE-9A71EC6F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62D30-26C3-0D8E-2F95-8DE97C4C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A0B8-DDFD-4923-9DBC-CF1F42FD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8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BF1FC-200D-DA3C-F477-54347E84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09020-7170-76F0-096D-C89BE6444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BDB37-F72C-617C-DC21-32D871193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2DA2C-E84E-4182-9ADF-3A6ADCEB4E0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2BB9E-1831-4D88-6984-BFB43BD08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8C118-EA61-3057-D5DA-873DD9E70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1A0B8-DDFD-4923-9DBC-CF1F42FD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58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B1EEF1-35AA-EE05-1DFD-641B49529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4BAD96-CD68-12E7-5E48-E65C476C4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9037D3-E7F4-9C36-E7D9-38EA6EA32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41044D-7517-0FE7-88F5-9806D41B1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58EEFE-1DB5-3ED5-8735-8D393455F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053AED-6173-9271-37FD-6549FA09F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E184F5-4A65-7118-DCC3-11E0A7D21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FF98F8-F230-55E3-0481-B0CCAACED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00DF8E-53D0-1D56-523D-58761BFF0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03C244-5A0F-9442-E702-E1D5E4DF5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240DBC-0AA4-5E55-3698-83F60280A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8F3063-F1F7-3E99-BC55-032E4B82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FEF4A1-7A40-C049-627D-3FCC5B905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DCA363-73F2-20A5-873E-B1D57B229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147A1D-12B8-AF40-4646-E41B56682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C0ACE2-F90A-3625-0BFC-DDA35009B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76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1889</Words>
  <Application>Microsoft Office PowerPoint</Application>
  <PresentationFormat>寬螢幕</PresentationFormat>
  <Paragraphs>97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2026-07-30T05:40:42Z</dcterms:created>
  <dcterms:modified xsi:type="dcterms:W3CDTF">2026-10-19T14:29:45Z</dcterms:modified>
</cp:coreProperties>
</file>