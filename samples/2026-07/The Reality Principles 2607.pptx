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9B49AA-384D-46F4-81C5-1E9C2E15A786}" v="16" dt="2026-07-30T13:40:42.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49715" autoAdjust="0"/>
  </p:normalViewPr>
  <p:slideViewPr>
    <p:cSldViewPr snapToGrid="0">
      <p:cViewPr varScale="1">
        <p:scale>
          <a:sx n="46" d="100"/>
          <a:sy n="46" d="100"/>
        </p:scale>
        <p:origin x="11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modSld">
      <pc:chgData name="Lai, Wilson" userId="2840974a-0d84-4886-90a9-9a3ed79f3a48" providerId="ADAL" clId="{9F23B798-9E84-4552-BA63-E776E805C424}" dt="2026-07-30T13:40:49.905" v="80" actId="15"/>
      <pc:docMkLst>
        <pc:docMk/>
      </pc:docMkLst>
      <pc:sldChg chg="addSp delSp modSp mod modAnim modNotesTx">
        <pc:chgData name="Lai, Wilson" userId="2840974a-0d84-4886-90a9-9a3ed79f3a48" providerId="ADAL" clId="{9F23B798-9E84-4552-BA63-E776E805C424}" dt="2026-07-30T13:37:57.706" v="58" actId="12"/>
        <pc:sldMkLst>
          <pc:docMk/>
          <pc:sldMk cId="0" sldId="257"/>
        </pc:sldMkLst>
        <pc:spChg chg="add mod">
          <ac:chgData name="Lai, Wilson" userId="2840974a-0d84-4886-90a9-9a3ed79f3a48" providerId="ADAL" clId="{9F23B798-9E84-4552-BA63-E776E805C424}" dt="2026-07-25T15:37:18.138" v="22" actId="164"/>
          <ac:spMkLst>
            <pc:docMk/>
            <pc:sldMk cId="0" sldId="257"/>
            <ac:spMk id="4" creationId="{A89E2CA2-561A-6D1B-8B4E-75D1F7BEA8BC}"/>
          </ac:spMkLst>
        </pc:spChg>
        <pc:grpChg chg="add mod">
          <ac:chgData name="Lai, Wilson" userId="2840974a-0d84-4886-90a9-9a3ed79f3a48" providerId="ADAL" clId="{9F23B798-9E84-4552-BA63-E776E805C424}" dt="2026-07-25T15:37:18.138" v="22" actId="164"/>
          <ac:grpSpMkLst>
            <pc:docMk/>
            <pc:sldMk cId="0" sldId="257"/>
            <ac:grpSpMk id="3" creationId="{3EA54E07-A40A-39C6-68DB-AA48FBA4CABF}"/>
          </ac:grpSpMkLst>
        </pc:grpChg>
        <pc:picChg chg="add mod">
          <ac:chgData name="Lai, Wilson" userId="2840974a-0d84-4886-90a9-9a3ed79f3a48" providerId="ADAL" clId="{9F23B798-9E84-4552-BA63-E776E805C424}" dt="2026-07-25T15:37:18.138" v="22" actId="164"/>
          <ac:picMkLst>
            <pc:docMk/>
            <pc:sldMk cId="0" sldId="257"/>
            <ac:picMk id="5" creationId="{70B13183-3BB7-F39A-3E82-7246F0E7C728}"/>
          </ac:picMkLst>
        </pc:picChg>
        <pc:picChg chg="add ord">
          <ac:chgData name="Lai, Wilson" userId="2840974a-0d84-4886-90a9-9a3ed79f3a48" providerId="ADAL" clId="{9F23B798-9E84-4552-BA63-E776E805C424}" dt="2026-07-26T03:41:38.743" v="27" actId="167"/>
          <ac:picMkLst>
            <pc:docMk/>
            <pc:sldMk cId="0" sldId="257"/>
            <ac:picMk id="9" creationId="{9E0F6A40-2AB3-FACB-4205-56ADA0C73798}"/>
          </ac:picMkLst>
        </pc:picChg>
      </pc:sldChg>
      <pc:sldChg chg="addSp delSp mod modNotesTx">
        <pc:chgData name="Lai, Wilson" userId="2840974a-0d84-4886-90a9-9a3ed79f3a48" providerId="ADAL" clId="{9F23B798-9E84-4552-BA63-E776E805C424}" dt="2026-07-30T13:38:16.326" v="60" actId="15"/>
        <pc:sldMkLst>
          <pc:docMk/>
          <pc:sldMk cId="0" sldId="258"/>
        </pc:sldMkLst>
        <pc:picChg chg="add">
          <ac:chgData name="Lai, Wilson" userId="2840974a-0d84-4886-90a9-9a3ed79f3a48" providerId="ADAL" clId="{9F23B798-9E84-4552-BA63-E776E805C424}" dt="2026-07-26T03:41:54.795" v="29" actId="22"/>
          <ac:picMkLst>
            <pc:docMk/>
            <pc:sldMk cId="0" sldId="258"/>
            <ac:picMk id="4" creationId="{9A59ECFE-B561-1554-48DD-C4496497BF9D}"/>
          </ac:picMkLst>
        </pc:picChg>
      </pc:sldChg>
      <pc:sldChg chg="addSp delSp mod modNotesTx">
        <pc:chgData name="Lai, Wilson" userId="2840974a-0d84-4886-90a9-9a3ed79f3a48" providerId="ADAL" clId="{9F23B798-9E84-4552-BA63-E776E805C424}" dt="2026-07-30T13:38:47.634" v="64" actId="12"/>
        <pc:sldMkLst>
          <pc:docMk/>
          <pc:sldMk cId="0" sldId="259"/>
        </pc:sldMkLst>
        <pc:picChg chg="add">
          <ac:chgData name="Lai, Wilson" userId="2840974a-0d84-4886-90a9-9a3ed79f3a48" providerId="ADAL" clId="{9F23B798-9E84-4552-BA63-E776E805C424}" dt="2026-07-26T03:42:07.574" v="31" actId="22"/>
          <ac:picMkLst>
            <pc:docMk/>
            <pc:sldMk cId="0" sldId="259"/>
            <ac:picMk id="4" creationId="{9B6E932F-5E2C-F211-0C85-688D9DE8BA2F}"/>
          </ac:picMkLst>
        </pc:picChg>
      </pc:sldChg>
      <pc:sldChg chg="addSp delSp mod modNotesTx">
        <pc:chgData name="Lai, Wilson" userId="2840974a-0d84-4886-90a9-9a3ed79f3a48" providerId="ADAL" clId="{9F23B798-9E84-4552-BA63-E776E805C424}" dt="2026-07-30T13:38:58.399" v="65" actId="12"/>
        <pc:sldMkLst>
          <pc:docMk/>
          <pc:sldMk cId="0" sldId="260"/>
        </pc:sldMkLst>
        <pc:picChg chg="add">
          <ac:chgData name="Lai, Wilson" userId="2840974a-0d84-4886-90a9-9a3ed79f3a48" providerId="ADAL" clId="{9F23B798-9E84-4552-BA63-E776E805C424}" dt="2026-07-26T03:45:01.642" v="33" actId="22"/>
          <ac:picMkLst>
            <pc:docMk/>
            <pc:sldMk cId="0" sldId="260"/>
            <ac:picMk id="4" creationId="{98346EBC-B403-61BD-8565-09D857643A9F}"/>
          </ac:picMkLst>
        </pc:picChg>
      </pc:sldChg>
      <pc:sldChg chg="addSp delSp mod modNotesTx">
        <pc:chgData name="Lai, Wilson" userId="2840974a-0d84-4886-90a9-9a3ed79f3a48" providerId="ADAL" clId="{9F23B798-9E84-4552-BA63-E776E805C424}" dt="2026-07-30T13:39:16.091" v="67" actId="12"/>
        <pc:sldMkLst>
          <pc:docMk/>
          <pc:sldMk cId="0" sldId="261"/>
        </pc:sldMkLst>
        <pc:picChg chg="add">
          <ac:chgData name="Lai, Wilson" userId="2840974a-0d84-4886-90a9-9a3ed79f3a48" providerId="ADAL" clId="{9F23B798-9E84-4552-BA63-E776E805C424}" dt="2026-07-26T03:45:20.242" v="35" actId="22"/>
          <ac:picMkLst>
            <pc:docMk/>
            <pc:sldMk cId="0" sldId="261"/>
            <ac:picMk id="4" creationId="{1EB188E4-053B-20E8-F231-CB591F90C0B9}"/>
          </ac:picMkLst>
        </pc:picChg>
      </pc:sldChg>
      <pc:sldChg chg="addSp delSp mod modNotesTx">
        <pc:chgData name="Lai, Wilson" userId="2840974a-0d84-4886-90a9-9a3ed79f3a48" providerId="ADAL" clId="{9F23B798-9E84-4552-BA63-E776E805C424}" dt="2026-07-30T13:39:24.733" v="68" actId="12"/>
        <pc:sldMkLst>
          <pc:docMk/>
          <pc:sldMk cId="0" sldId="262"/>
        </pc:sldMkLst>
        <pc:picChg chg="add">
          <ac:chgData name="Lai, Wilson" userId="2840974a-0d84-4886-90a9-9a3ed79f3a48" providerId="ADAL" clId="{9F23B798-9E84-4552-BA63-E776E805C424}" dt="2026-07-26T03:45:32.614" v="37" actId="22"/>
          <ac:picMkLst>
            <pc:docMk/>
            <pc:sldMk cId="0" sldId="262"/>
            <ac:picMk id="4" creationId="{EE3BEECC-E350-AF0E-2FA5-B57E12D56BC4}"/>
          </ac:picMkLst>
        </pc:picChg>
      </pc:sldChg>
      <pc:sldChg chg="addSp delSp mod modNotesTx">
        <pc:chgData name="Lai, Wilson" userId="2840974a-0d84-4886-90a9-9a3ed79f3a48" providerId="ADAL" clId="{9F23B798-9E84-4552-BA63-E776E805C424}" dt="2026-07-30T13:39:31.803" v="69" actId="12"/>
        <pc:sldMkLst>
          <pc:docMk/>
          <pc:sldMk cId="0" sldId="263"/>
        </pc:sldMkLst>
        <pc:picChg chg="add">
          <ac:chgData name="Lai, Wilson" userId="2840974a-0d84-4886-90a9-9a3ed79f3a48" providerId="ADAL" clId="{9F23B798-9E84-4552-BA63-E776E805C424}" dt="2026-07-26T03:45:46.909" v="39" actId="22"/>
          <ac:picMkLst>
            <pc:docMk/>
            <pc:sldMk cId="0" sldId="263"/>
            <ac:picMk id="4" creationId="{624D5663-FAB0-6C76-1D44-998B87DE18C5}"/>
          </ac:picMkLst>
        </pc:picChg>
      </pc:sldChg>
      <pc:sldChg chg="addSp delSp mod modNotesTx">
        <pc:chgData name="Lai, Wilson" userId="2840974a-0d84-4886-90a9-9a3ed79f3a48" providerId="ADAL" clId="{9F23B798-9E84-4552-BA63-E776E805C424}" dt="2026-07-30T13:39:47.884" v="72" actId="12"/>
        <pc:sldMkLst>
          <pc:docMk/>
          <pc:sldMk cId="0" sldId="264"/>
        </pc:sldMkLst>
        <pc:picChg chg="add">
          <ac:chgData name="Lai, Wilson" userId="2840974a-0d84-4886-90a9-9a3ed79f3a48" providerId="ADAL" clId="{9F23B798-9E84-4552-BA63-E776E805C424}" dt="2026-07-26T03:45:59.286" v="41" actId="22"/>
          <ac:picMkLst>
            <pc:docMk/>
            <pc:sldMk cId="0" sldId="264"/>
            <ac:picMk id="4" creationId="{C2A42C06-2446-7866-130F-D869BA7DE7C4}"/>
          </ac:picMkLst>
        </pc:picChg>
      </pc:sldChg>
      <pc:sldChg chg="addSp delSp mod modNotesTx">
        <pc:chgData name="Lai, Wilson" userId="2840974a-0d84-4886-90a9-9a3ed79f3a48" providerId="ADAL" clId="{9F23B798-9E84-4552-BA63-E776E805C424}" dt="2026-07-30T13:39:56.719" v="73" actId="12"/>
        <pc:sldMkLst>
          <pc:docMk/>
          <pc:sldMk cId="0" sldId="265"/>
        </pc:sldMkLst>
        <pc:picChg chg="add">
          <ac:chgData name="Lai, Wilson" userId="2840974a-0d84-4886-90a9-9a3ed79f3a48" providerId="ADAL" clId="{9F23B798-9E84-4552-BA63-E776E805C424}" dt="2026-07-26T03:46:24.845" v="43" actId="22"/>
          <ac:picMkLst>
            <pc:docMk/>
            <pc:sldMk cId="0" sldId="265"/>
            <ac:picMk id="4" creationId="{CF51CB68-F596-221A-2DC5-01E4B1E389B2}"/>
          </ac:picMkLst>
        </pc:picChg>
      </pc:sldChg>
      <pc:sldChg chg="addSp delSp mod modNotesTx">
        <pc:chgData name="Lai, Wilson" userId="2840974a-0d84-4886-90a9-9a3ed79f3a48" providerId="ADAL" clId="{9F23B798-9E84-4552-BA63-E776E805C424}" dt="2026-07-30T13:40:10.395" v="76" actId="15"/>
        <pc:sldMkLst>
          <pc:docMk/>
          <pc:sldMk cId="0" sldId="266"/>
        </pc:sldMkLst>
        <pc:picChg chg="add">
          <ac:chgData name="Lai, Wilson" userId="2840974a-0d84-4886-90a9-9a3ed79f3a48" providerId="ADAL" clId="{9F23B798-9E84-4552-BA63-E776E805C424}" dt="2026-07-26T03:46:37.352" v="45" actId="22"/>
          <ac:picMkLst>
            <pc:docMk/>
            <pc:sldMk cId="0" sldId="266"/>
            <ac:picMk id="4" creationId="{1E2E566B-9A96-E081-D9A1-722DD443792A}"/>
          </ac:picMkLst>
        </pc:picChg>
      </pc:sldChg>
      <pc:sldChg chg="addSp delSp modSp mod modNotesTx">
        <pc:chgData name="Lai, Wilson" userId="2840974a-0d84-4886-90a9-9a3ed79f3a48" providerId="ADAL" clId="{9F23B798-9E84-4552-BA63-E776E805C424}" dt="2026-07-30T13:40:21.281" v="77" actId="12"/>
        <pc:sldMkLst>
          <pc:docMk/>
          <pc:sldMk cId="3180310163" sldId="267"/>
        </pc:sldMkLst>
        <pc:picChg chg="add">
          <ac:chgData name="Lai, Wilson" userId="2840974a-0d84-4886-90a9-9a3ed79f3a48" providerId="ADAL" clId="{9F23B798-9E84-4552-BA63-E776E805C424}" dt="2026-07-26T03:46:51.254" v="47" actId="22"/>
          <ac:picMkLst>
            <pc:docMk/>
            <pc:sldMk cId="3180310163" sldId="267"/>
            <ac:picMk id="4" creationId="{2B11BFB6-F350-BFBF-72BC-E10A6DDA3BD2}"/>
          </ac:picMkLst>
        </pc:picChg>
      </pc:sldChg>
      <pc:sldChg chg="addSp delSp modSp new mod modNotesTx">
        <pc:chgData name="Lai, Wilson" userId="2840974a-0d84-4886-90a9-9a3ed79f3a48" providerId="ADAL" clId="{9F23B798-9E84-4552-BA63-E776E805C424}" dt="2026-07-30T13:40:33.432" v="78" actId="12"/>
        <pc:sldMkLst>
          <pc:docMk/>
          <pc:sldMk cId="1532547173" sldId="268"/>
        </pc:sldMkLst>
        <pc:picChg chg="add">
          <ac:chgData name="Lai, Wilson" userId="2840974a-0d84-4886-90a9-9a3ed79f3a48" providerId="ADAL" clId="{9F23B798-9E84-4552-BA63-E776E805C424}" dt="2026-07-26T03:47:29.319" v="52" actId="22"/>
          <ac:picMkLst>
            <pc:docMk/>
            <pc:sldMk cId="1532547173" sldId="268"/>
            <ac:picMk id="4" creationId="{68C5021B-7B2C-AC2E-5097-9D33469CC843}"/>
          </ac:picMkLst>
        </pc:picChg>
      </pc:sldChg>
      <pc:sldChg chg="addSp delSp modSp new mod modNotesTx">
        <pc:chgData name="Lai, Wilson" userId="2840974a-0d84-4886-90a9-9a3ed79f3a48" providerId="ADAL" clId="{9F23B798-9E84-4552-BA63-E776E805C424}" dt="2026-07-30T13:40:49.905" v="80" actId="15"/>
        <pc:sldMkLst>
          <pc:docMk/>
          <pc:sldMk cId="2807121967" sldId="269"/>
        </pc:sldMkLst>
        <pc:picChg chg="add mod">
          <ac:chgData name="Lai, Wilson" userId="2840974a-0d84-4886-90a9-9a3ed79f3a48" providerId="ADAL" clId="{9F23B798-9E84-4552-BA63-E776E805C424}" dt="2026-07-26T03:47:47.171" v="53" actId="1076"/>
          <ac:picMkLst>
            <pc:docMk/>
            <pc:sldMk cId="2807121967" sldId="269"/>
            <ac:picMk id="4" creationId="{2329FED4-6F46-698E-5854-7436DC4143A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35AC75-55A8-48DD-8D75-5A709B3101DF}"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2968A-0D8E-4011-BA9C-D04A9DEC25A5}" type="slidenum">
              <a:rPr lang="en-US" smtClean="0"/>
              <a:t>‹#›</a:t>
            </a:fld>
            <a:endParaRPr lang="en-US"/>
          </a:p>
        </p:txBody>
      </p:sp>
    </p:spTree>
    <p:extLst>
      <p:ext uri="{BB962C8B-B14F-4D97-AF65-F5344CB8AC3E}">
        <p14:creationId xmlns:p14="http://schemas.microsoft.com/office/powerpoint/2010/main" val="3012784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https://www.youtube.com/watch?v=UprafhdeZVc</a:t>
            </a:r>
          </a:p>
          <a:p>
            <a:endParaRPr lang="en-US" dirty="0"/>
          </a:p>
          <a:p>
            <a:pPr marL="171450" indent="-171450">
              <a:buFont typeface="Arial" panose="020B0604020202020204" pitchFamily="34" charset="0"/>
              <a:buChar char="•"/>
            </a:pPr>
            <a:r>
              <a:rPr lang="en-US" sz="1200" kern="1200" dirty="0">
                <a:solidFill>
                  <a:schemeClr val="tx1"/>
                </a:solidFill>
                <a:effectLst/>
                <a:latin typeface="+mn-lt"/>
                <a:ea typeface="+mn-ea"/>
                <a:cs typeface="+mn-cs"/>
              </a:rPr>
              <a:t>Welcome everyone. Today, we’re delving into </a:t>
            </a:r>
            <a:r>
              <a:rPr lang="en-US" sz="1200" i="1" kern="1200" dirty="0">
                <a:solidFill>
                  <a:schemeClr val="tx1"/>
                </a:solidFill>
                <a:effectLst/>
                <a:latin typeface="+mn-lt"/>
                <a:ea typeface="+mn-ea"/>
                <a:cs typeface="+mn-cs"/>
              </a:rPr>
              <a:t>The Algorithm of Reality</a:t>
            </a:r>
            <a:r>
              <a:rPr lang="en-US" sz="1200" kern="1200" dirty="0">
                <a:solidFill>
                  <a:schemeClr val="tx1"/>
                </a:solidFill>
                <a:effectLst/>
                <a:latin typeface="+mn-lt"/>
                <a:ea typeface="+mn-ea"/>
                <a:cs typeface="+mn-cs"/>
              </a:rPr>
              <a:t>—a systematic breakdown of Ray Dalio’s core frameworks across investing, macroeconomic cycles, decision-making, and human nature.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Dalio’s journey started from humble beginnings and transformed Bridgewater into the world’s most successful hedge fund. But his core realization wasn't just about financial models; it was about treating reality as a set of predictable cause-and-effect machine loops.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Throughout this presentation, we will bridge these high-level macro concepts with actionable personal and organizational principles.</a:t>
            </a:r>
          </a:p>
        </p:txBody>
      </p:sp>
      <p:sp>
        <p:nvSpPr>
          <p:cNvPr id="4" name="Slide Number Placeholder 3"/>
          <p:cNvSpPr>
            <a:spLocks noGrp="1"/>
          </p:cNvSpPr>
          <p:nvPr>
            <p:ph type="sldNum" sz="quarter" idx="5"/>
          </p:nvPr>
        </p:nvSpPr>
        <p:spPr/>
        <p:txBody>
          <a:bodyPr/>
          <a:lstStyle/>
          <a:p>
            <a:fld id="{0A12968A-0D8E-4011-BA9C-D04A9DEC25A5}" type="slidenum">
              <a:rPr lang="en-US" smtClean="0"/>
              <a:t>1</a:t>
            </a:fld>
            <a:endParaRPr lang="en-US"/>
          </a:p>
        </p:txBody>
      </p:sp>
    </p:spTree>
    <p:extLst>
      <p:ext uri="{BB962C8B-B14F-4D97-AF65-F5344CB8AC3E}">
        <p14:creationId xmlns:p14="http://schemas.microsoft.com/office/powerpoint/2010/main" val="33764837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In August 1982, Mexico defaulted on its debt. Dalio confidently predicted a massive global financial disaster and even testified before Congress about 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Failure:</a:t>
            </a:r>
            <a:r>
              <a:rPr lang="en-US" sz="1200" kern="1200" dirty="0">
                <a:solidFill>
                  <a:schemeClr val="tx1"/>
                </a:solidFill>
                <a:effectLst/>
                <a:latin typeface="+mn-lt"/>
                <a:ea typeface="+mn-ea"/>
                <a:cs typeface="+mn-cs"/>
              </a:rPr>
              <a:t> He was completely wrong. The markets rallied, and Dalio lost so much money for himself and his clients that he had to lay off his entire staff. He was so broke he had to borrow $4,000 from his father just to pay family living expenses.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Pivot:</a:t>
            </a:r>
            <a:r>
              <a:rPr lang="en-US" sz="1200" kern="1200" dirty="0">
                <a:solidFill>
                  <a:schemeClr val="tx1"/>
                </a:solidFill>
                <a:effectLst/>
                <a:latin typeface="+mn-lt"/>
                <a:ea typeface="+mn-ea"/>
                <a:cs typeface="+mn-cs"/>
              </a:rPr>
              <a:t> This devastating low forced a transformation, forging Bridgewater’s core operating system: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Audacity:</a:t>
            </a:r>
            <a:r>
              <a:rPr lang="en-US" sz="1200" kern="1200" dirty="0">
                <a:solidFill>
                  <a:schemeClr val="tx1"/>
                </a:solidFill>
                <a:effectLst/>
                <a:latin typeface="+mn-lt"/>
                <a:ea typeface="+mn-ea"/>
                <a:cs typeface="+mn-cs"/>
              </a:rPr>
              <a:t> The ambition to enter the "jungle" and pursue aggressive upside.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Humility:</a:t>
            </a:r>
            <a:r>
              <a:rPr lang="en-US" sz="1200" kern="1200" dirty="0">
                <a:solidFill>
                  <a:schemeClr val="tx1"/>
                </a:solidFill>
                <a:effectLst/>
                <a:latin typeface="+mn-lt"/>
                <a:ea typeface="+mn-ea"/>
                <a:cs typeface="+mn-cs"/>
              </a:rPr>
              <a:t> The critical realization that he needed to seek out independent thinkers to "kick the shit out of" his ideas to expose blind spots.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2</a:t>
            </a:fld>
            <a:endParaRPr lang="en-US"/>
          </a:p>
        </p:txBody>
      </p:sp>
    </p:spTree>
    <p:extLst>
      <p:ext uri="{BB962C8B-B14F-4D97-AF65-F5344CB8AC3E}">
        <p14:creationId xmlns:p14="http://schemas.microsoft.com/office/powerpoint/2010/main" val="304531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Dalio’s central formula for personal and organizational evolution is: </a:t>
            </a:r>
            <a:r>
              <a:rPr lang="en-US" sz="1200" b="1" kern="1200" dirty="0">
                <a:solidFill>
                  <a:schemeClr val="tx1"/>
                </a:solidFill>
                <a:effectLst/>
                <a:latin typeface="+mn-lt"/>
                <a:ea typeface="+mn-ea"/>
                <a:cs typeface="+mn-cs"/>
              </a:rPr>
              <a:t>Pain + Reflection = Progress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Pain is an involuntary encounter with reality. However, reflection is a conscious choice. When you treat pain as a puzzle to solve rather than an obstacle to avoid, you discover how reality actually works.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Engine Loop:</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The Event &amp; Pain:</a:t>
            </a:r>
            <a:r>
              <a:rPr lang="en-US" sz="1200" kern="1200" dirty="0">
                <a:solidFill>
                  <a:schemeClr val="tx1"/>
                </a:solidFill>
                <a:effectLst/>
                <a:latin typeface="+mn-lt"/>
                <a:ea typeface="+mn-ea"/>
                <a:cs typeface="+mn-cs"/>
              </a:rPr>
              <a:t> An interaction occurs that leads to failure or loss. </a:t>
            </a:r>
          </a:p>
          <a:p>
            <a:pPr marL="685800" lvl="1" indent="-228600">
              <a:buFont typeface="+mj-lt"/>
              <a:buAutoNum type="arabicPeriod"/>
            </a:pPr>
            <a:r>
              <a:rPr lang="en-US" sz="1200" b="1" kern="1200" dirty="0">
                <a:solidFill>
                  <a:schemeClr val="tx1"/>
                </a:solidFill>
                <a:effectLst/>
                <a:latin typeface="+mn-lt"/>
                <a:ea typeface="+mn-ea"/>
                <a:cs typeface="+mn-cs"/>
              </a:rPr>
              <a:t>Reflection:</a:t>
            </a:r>
            <a:r>
              <a:rPr lang="en-US" sz="1200" kern="1200" dirty="0">
                <a:solidFill>
                  <a:schemeClr val="tx1"/>
                </a:solidFill>
                <a:effectLst/>
                <a:latin typeface="+mn-lt"/>
                <a:ea typeface="+mn-ea"/>
                <a:cs typeface="+mn-cs"/>
              </a:rPr>
              <a:t> Asking, "What does this tell me about cause-and-effect?" </a:t>
            </a:r>
          </a:p>
          <a:p>
            <a:pPr marL="685800" lvl="1" indent="-228600">
              <a:buFont typeface="+mj-lt"/>
              <a:buAutoNum type="arabicPeriod"/>
            </a:pPr>
            <a:r>
              <a:rPr lang="en-US" sz="1200" b="1" kern="1200" dirty="0">
                <a:solidFill>
                  <a:schemeClr val="tx1"/>
                </a:solidFill>
                <a:effectLst/>
                <a:latin typeface="+mn-lt"/>
                <a:ea typeface="+mn-ea"/>
                <a:cs typeface="+mn-cs"/>
              </a:rPr>
              <a:t>Historical </a:t>
            </a:r>
            <a:r>
              <a:rPr lang="en-US" sz="1200" b="1" kern="1200" dirty="0" err="1">
                <a:solidFill>
                  <a:schemeClr val="tx1"/>
                </a:solidFill>
                <a:effectLst/>
                <a:latin typeface="+mn-lt"/>
                <a:ea typeface="+mn-ea"/>
                <a:cs typeface="+mn-cs"/>
              </a:rPr>
              <a:t>Backtest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Checking if this pattern has occurred in history over the past 100 to 500 years. </a:t>
            </a:r>
          </a:p>
          <a:p>
            <a:pPr marL="685800" lvl="1" indent="-228600">
              <a:buFont typeface="+mj-lt"/>
              <a:buAutoNum type="arabicPeriod"/>
            </a:pPr>
            <a:r>
              <a:rPr lang="en-US" sz="1200" b="1" kern="1200" dirty="0">
                <a:solidFill>
                  <a:schemeClr val="tx1"/>
                </a:solidFill>
                <a:effectLst/>
                <a:latin typeface="+mn-lt"/>
                <a:ea typeface="+mn-ea"/>
                <a:cs typeface="+mn-cs"/>
              </a:rPr>
              <a:t>The Principle:</a:t>
            </a:r>
            <a:r>
              <a:rPr lang="en-US" sz="1200" kern="1200" dirty="0">
                <a:solidFill>
                  <a:schemeClr val="tx1"/>
                </a:solidFill>
                <a:effectLst/>
                <a:latin typeface="+mn-lt"/>
                <a:ea typeface="+mn-ea"/>
                <a:cs typeface="+mn-cs"/>
              </a:rPr>
              <a:t> Codifying a timeless, universal decision rule (e.g., "If X happens, do Y"). </a:t>
            </a:r>
          </a:p>
          <a:p>
            <a:pPr marL="685800" lvl="1" indent="-228600">
              <a:buFont typeface="+mj-lt"/>
              <a:buAutoNum type="arabicPeriod"/>
            </a:pPr>
            <a:r>
              <a:rPr lang="en-US" sz="1200" b="1" kern="1200" dirty="0">
                <a:solidFill>
                  <a:schemeClr val="tx1"/>
                </a:solidFill>
                <a:effectLst/>
                <a:latin typeface="+mn-lt"/>
                <a:ea typeface="+mn-ea"/>
                <a:cs typeface="+mn-cs"/>
              </a:rPr>
              <a:t>Coded Algorithm:</a:t>
            </a:r>
            <a:r>
              <a:rPr lang="en-US" sz="1200" kern="1200" dirty="0">
                <a:solidFill>
                  <a:schemeClr val="tx1"/>
                </a:solidFill>
                <a:effectLst/>
                <a:latin typeface="+mn-lt"/>
                <a:ea typeface="+mn-ea"/>
                <a:cs typeface="+mn-cs"/>
              </a:rPr>
              <a:t> Programming the rule into automated systems to eliminate human emotional bias.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3</a:t>
            </a:fld>
            <a:endParaRPr lang="en-US"/>
          </a:p>
        </p:txBody>
      </p:sp>
    </p:spTree>
    <p:extLst>
      <p:ext uri="{BB962C8B-B14F-4D97-AF65-F5344CB8AC3E}">
        <p14:creationId xmlns:p14="http://schemas.microsoft.com/office/powerpoint/2010/main" val="1824836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Dalio describes the fundamental question of investing as: </a:t>
            </a:r>
            <a:r>
              <a:rPr lang="en-US" sz="1200" i="1" kern="1200" dirty="0">
                <a:solidFill>
                  <a:schemeClr val="tx1"/>
                </a:solidFill>
                <a:effectLst/>
                <a:latin typeface="+mn-lt"/>
                <a:ea typeface="+mn-ea"/>
                <a:cs typeface="+mn-cs"/>
              </a:rPr>
              <a:t>"How do I get the upside without taking the downside?"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Math Behind the Curve:</a:t>
            </a:r>
            <a:r>
              <a:rPr lang="en-US" sz="1200" kern="1200" dirty="0">
                <a:solidFill>
                  <a:schemeClr val="tx1"/>
                </a:solidFill>
                <a:effectLst/>
                <a:latin typeface="+mn-lt"/>
                <a:ea typeface="+mn-ea"/>
                <a:cs typeface="+mn-cs"/>
              </a:rPr>
              <a:t> By combining </a:t>
            </a:r>
            <a:r>
              <a:rPr lang="en-US" sz="1200" b="1" kern="1200" dirty="0">
                <a:solidFill>
                  <a:schemeClr val="tx1"/>
                </a:solidFill>
                <a:effectLst/>
                <a:latin typeface="+mn-lt"/>
                <a:ea typeface="+mn-ea"/>
                <a:cs typeface="+mn-cs"/>
              </a:rPr>
              <a:t>15 or more uncorrelated return streams</a:t>
            </a:r>
            <a:r>
              <a:rPr lang="en-US" sz="1200" kern="1200" dirty="0">
                <a:solidFill>
                  <a:schemeClr val="tx1"/>
                </a:solidFill>
                <a:effectLst/>
                <a:latin typeface="+mn-lt"/>
                <a:ea typeface="+mn-ea"/>
                <a:cs typeface="+mn-cs"/>
              </a:rPr>
              <a:t>, you can reduce overall portfolio risk by approximately </a:t>
            </a:r>
            <a:r>
              <a:rPr lang="en-US" sz="1200" b="1" kern="1200" dirty="0">
                <a:solidFill>
                  <a:schemeClr val="tx1"/>
                </a:solidFill>
                <a:effectLst/>
                <a:latin typeface="+mn-lt"/>
                <a:ea typeface="+mn-ea"/>
                <a:cs typeface="+mn-cs"/>
              </a:rPr>
              <a:t>80%</a:t>
            </a:r>
            <a:r>
              <a:rPr lang="en-US" sz="1200" kern="1200" dirty="0">
                <a:solidFill>
                  <a:schemeClr val="tx1"/>
                </a:solidFill>
                <a:effectLst/>
                <a:latin typeface="+mn-lt"/>
                <a:ea typeface="+mn-ea"/>
                <a:cs typeface="+mn-cs"/>
              </a:rPr>
              <a:t> without sacrificing overall expected return.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shifts the return-to-risk ratio upward by roughly a factor of five.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True diversification isn't just owning many assets; it requires finding independent streams of return whose underlying market mechanics do not move together.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4</a:t>
            </a:fld>
            <a:endParaRPr lang="en-US"/>
          </a:p>
        </p:txBody>
      </p:sp>
    </p:spTree>
    <p:extLst>
      <p:ext uri="{BB962C8B-B14F-4D97-AF65-F5344CB8AC3E}">
        <p14:creationId xmlns:p14="http://schemas.microsoft.com/office/powerpoint/2010/main" val="380467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Daily news lasts a minute; understanding cause-and-effect macro cycles gives context to the entire world order. Dalio identifies 5 interconnected forces: </a:t>
            </a:r>
          </a:p>
          <a:p>
            <a:pPr marL="228600" indent="-228600">
              <a:buFont typeface="+mj-lt"/>
              <a:buAutoNum type="arabicPeriod"/>
            </a:pPr>
            <a:r>
              <a:rPr lang="en-US" sz="1200" b="1" kern="1200" dirty="0">
                <a:solidFill>
                  <a:schemeClr val="tx1"/>
                </a:solidFill>
                <a:effectLst/>
                <a:latin typeface="+mn-lt"/>
                <a:ea typeface="+mn-ea"/>
                <a:cs typeface="+mn-cs"/>
              </a:rPr>
              <a:t>Debt &amp; Money:</a:t>
            </a:r>
            <a:r>
              <a:rPr lang="en-US" sz="1200" kern="1200" dirty="0">
                <a:solidFill>
                  <a:schemeClr val="tx1"/>
                </a:solidFill>
                <a:effectLst/>
                <a:latin typeface="+mn-lt"/>
                <a:ea typeface="+mn-ea"/>
                <a:cs typeface="+mn-cs"/>
              </a:rPr>
              <a:t> Debt accumulation acts like plaque in an artery. Eventually, debt-service obligations squeeze out spending, triggering devaluations or restructurings. </a:t>
            </a:r>
          </a:p>
          <a:p>
            <a:pPr marL="228600" indent="-228600">
              <a:buFont typeface="+mj-lt"/>
              <a:buAutoNum type="arabicPeriod"/>
            </a:pPr>
            <a:r>
              <a:rPr lang="en-US" sz="1200" b="1" kern="1200" dirty="0">
                <a:solidFill>
                  <a:schemeClr val="tx1"/>
                </a:solidFill>
                <a:effectLst/>
                <a:latin typeface="+mn-lt"/>
                <a:ea typeface="+mn-ea"/>
                <a:cs typeface="+mn-cs"/>
              </a:rPr>
              <a:t>Wealth &amp; Values Gaps:</a:t>
            </a:r>
            <a:r>
              <a:rPr lang="en-US" sz="1200" kern="1200" dirty="0">
                <a:solidFill>
                  <a:schemeClr val="tx1"/>
                </a:solidFill>
                <a:effectLst/>
                <a:latin typeface="+mn-lt"/>
                <a:ea typeface="+mn-ea"/>
                <a:cs typeface="+mn-cs"/>
              </a:rPr>
              <a:t> Expanding financial inequality leads to political polarization, irreconcilable differences, and systemic gridlock. </a:t>
            </a:r>
          </a:p>
          <a:p>
            <a:pPr marL="228600" indent="-228600">
              <a:buFont typeface="+mj-lt"/>
              <a:buAutoNum type="arabicPeriod"/>
            </a:pPr>
            <a:r>
              <a:rPr lang="en-US" sz="1200" b="1" kern="1200" dirty="0">
                <a:solidFill>
                  <a:schemeClr val="tx1"/>
                </a:solidFill>
                <a:effectLst/>
                <a:latin typeface="+mn-lt"/>
                <a:ea typeface="+mn-ea"/>
                <a:cs typeface="+mn-cs"/>
              </a:rPr>
              <a:t>Geopolitical Order:</a:t>
            </a:r>
            <a:r>
              <a:rPr lang="en-US" sz="1200" kern="1200" dirty="0">
                <a:solidFill>
                  <a:schemeClr val="tx1"/>
                </a:solidFill>
                <a:effectLst/>
                <a:latin typeface="+mn-lt"/>
                <a:ea typeface="+mn-ea"/>
                <a:cs typeface="+mn-cs"/>
              </a:rPr>
              <a:t> Shifts in the post-1945 multilateral rules-based system, moving toward unilateral conflict and competition. </a:t>
            </a:r>
          </a:p>
          <a:p>
            <a:pPr marL="228600" indent="-228600">
              <a:buFont typeface="+mj-lt"/>
              <a:buAutoNum type="arabicPeriod"/>
            </a:pPr>
            <a:r>
              <a:rPr lang="en-US" sz="1200" b="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 Pandemics, droughts, and floods—historically responsible for more casualties and economic disruption than wars. </a:t>
            </a:r>
          </a:p>
          <a:p>
            <a:pPr marL="228600" indent="-228600">
              <a:buFont typeface="+mj-lt"/>
              <a:buAutoNum type="arabicPeriod"/>
            </a:pPr>
            <a:r>
              <a:rPr lang="en-US" sz="1200" b="1" kern="1200" dirty="0">
                <a:solidFill>
                  <a:schemeClr val="tx1"/>
                </a:solidFill>
                <a:effectLst/>
                <a:latin typeface="+mn-lt"/>
                <a:ea typeface="+mn-ea"/>
                <a:cs typeface="+mn-cs"/>
              </a:rPr>
              <a:t>Technology:</a:t>
            </a:r>
            <a:r>
              <a:rPr lang="en-US" sz="1200" kern="1200" dirty="0">
                <a:solidFill>
                  <a:schemeClr val="tx1"/>
                </a:solidFill>
                <a:effectLst/>
                <a:latin typeface="+mn-lt"/>
                <a:ea typeface="+mn-ea"/>
                <a:cs typeface="+mn-cs"/>
              </a:rPr>
              <a:t> Human inventiveness constantly lifting baseline productivity and living standards.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5</a:t>
            </a:fld>
            <a:endParaRPr lang="en-US"/>
          </a:p>
        </p:txBody>
      </p:sp>
    </p:spTree>
    <p:extLst>
      <p:ext uri="{BB962C8B-B14F-4D97-AF65-F5344CB8AC3E}">
        <p14:creationId xmlns:p14="http://schemas.microsoft.com/office/powerpoint/2010/main" val="367958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To understand market bubbles, we must distinguish between </a:t>
            </a:r>
            <a:r>
              <a:rPr lang="en-US" sz="1200" b="1" kern="1200" dirty="0">
                <a:solidFill>
                  <a:schemeClr val="tx1"/>
                </a:solidFill>
                <a:effectLst/>
                <a:latin typeface="+mn-lt"/>
                <a:ea typeface="+mn-ea"/>
                <a:cs typeface="+mn-cs"/>
              </a:rPr>
              <a:t>Illiquid Wealth</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Liquid Money</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Wealth vs. Cash:</a:t>
            </a:r>
            <a:r>
              <a:rPr lang="en-US" sz="1200" kern="1200" dirty="0">
                <a:solidFill>
                  <a:schemeClr val="tx1"/>
                </a:solidFill>
                <a:effectLst/>
                <a:latin typeface="+mn-lt"/>
                <a:ea typeface="+mn-ea"/>
                <a:cs typeface="+mn-cs"/>
              </a:rPr>
              <a:t> Valuation metrics can make an asset look worth billions on paper, but you cannot directly spend valuation; you can only spend liquid cash.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Bubble Dynamic:</a:t>
            </a:r>
            <a:r>
              <a:rPr lang="en-US" sz="1200" kern="1200" dirty="0">
                <a:solidFill>
                  <a:schemeClr val="tx1"/>
                </a:solidFill>
                <a:effectLst/>
                <a:latin typeface="+mn-lt"/>
                <a:ea typeface="+mn-ea"/>
                <a:cs typeface="+mn-cs"/>
              </a:rPr>
              <a:t> Borrowed money and technological excitement fuel asset prices. Investors buy in at elevated prices assuming growth will continue indefinitely.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Trigger Mechanism:</a:t>
            </a:r>
            <a:r>
              <a:rPr lang="en-US" sz="1200" kern="1200" dirty="0">
                <a:solidFill>
                  <a:schemeClr val="tx1"/>
                </a:solidFill>
                <a:effectLst/>
                <a:latin typeface="+mn-lt"/>
                <a:ea typeface="+mn-ea"/>
                <a:cs typeface="+mn-cs"/>
              </a:rPr>
              <a:t> When central banks tighten monetary policy or interest rates rise, borrowing becomes expensive. Investors are suddenly forced to liquidate illiquid wealth to generate liquid cash to pay off debt obligations, pricking the bubble.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6</a:t>
            </a:fld>
            <a:endParaRPr lang="en-US"/>
          </a:p>
        </p:txBody>
      </p:sp>
    </p:spTree>
    <p:extLst>
      <p:ext uri="{BB962C8B-B14F-4D97-AF65-F5344CB8AC3E}">
        <p14:creationId xmlns:p14="http://schemas.microsoft.com/office/powerpoint/2010/main" val="2561054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Through extensive psychometric testing on high-achievers like Elon Musk, Bill Gates, and Reed Hastings, Dalio identified a rare personality archetype: </a:t>
            </a:r>
            <a:r>
              <a:rPr lang="en-US" sz="1200" b="1" kern="1200" dirty="0">
                <a:solidFill>
                  <a:schemeClr val="tx1"/>
                </a:solidFill>
                <a:effectLst/>
                <a:latin typeface="+mn-lt"/>
                <a:ea typeface="+mn-ea"/>
                <a:cs typeface="+mn-cs"/>
              </a:rPr>
              <a:t>The Shaper</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10,000 Feet (Visualization):</a:t>
            </a:r>
            <a:r>
              <a:rPr lang="en-US" sz="1200" kern="1200" dirty="0">
                <a:solidFill>
                  <a:schemeClr val="tx1"/>
                </a:solidFill>
                <a:effectLst/>
                <a:latin typeface="+mn-lt"/>
                <a:ea typeface="+mn-ea"/>
                <a:cs typeface="+mn-cs"/>
              </a:rPr>
              <a:t> Driven by the compulsive thrill of an impossible mission—such as Elon Musk conceiving a plan to put a plant in a watering can on Mars.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10 Centimeters (Actualization):</a:t>
            </a:r>
            <a:r>
              <a:rPr lang="en-US" sz="1200" kern="1200" dirty="0">
                <a:solidFill>
                  <a:schemeClr val="tx1"/>
                </a:solidFill>
                <a:effectLst/>
                <a:latin typeface="+mn-lt"/>
                <a:ea typeface="+mn-ea"/>
                <a:cs typeface="+mn-cs"/>
              </a:rPr>
              <a:t> Simultaneously obsessing over the micro-level engineering required to execute the vision—down to designing the exact button on a key fob.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7</a:t>
            </a:fld>
            <a:endParaRPr lang="en-US"/>
          </a:p>
        </p:txBody>
      </p:sp>
    </p:spTree>
    <p:extLst>
      <p:ext uri="{BB962C8B-B14F-4D97-AF65-F5344CB8AC3E}">
        <p14:creationId xmlns:p14="http://schemas.microsoft.com/office/powerpoint/2010/main" val="2978853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Standard corporate hiring filters for </a:t>
            </a:r>
            <a:r>
              <a:rPr lang="en-US" sz="1200" b="1" kern="1200" dirty="0">
                <a:solidFill>
                  <a:schemeClr val="tx1"/>
                </a:solidFill>
                <a:effectLst/>
                <a:latin typeface="+mn-lt"/>
                <a:ea typeface="+mn-ea"/>
                <a:cs typeface="+mn-cs"/>
              </a:rPr>
              <a:t>Skills</a:t>
            </a:r>
            <a:r>
              <a:rPr lang="en-US" sz="1200" kern="1200" dirty="0">
                <a:solidFill>
                  <a:schemeClr val="tx1"/>
                </a:solidFill>
                <a:effectLst/>
                <a:latin typeface="+mn-lt"/>
                <a:ea typeface="+mn-ea"/>
                <a:cs typeface="+mn-cs"/>
              </a:rPr>
              <a:t> first (e.g., programming languages, resume accomplishments).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Dalio’s Priority Pyramid:</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Values (Base Level):</a:t>
            </a:r>
            <a:r>
              <a:rPr lang="en-US" sz="1200" kern="1200" dirty="0">
                <a:solidFill>
                  <a:schemeClr val="tx1"/>
                </a:solidFill>
                <a:effectLst/>
                <a:latin typeface="+mn-lt"/>
                <a:ea typeface="+mn-ea"/>
                <a:cs typeface="+mn-cs"/>
              </a:rPr>
              <a:t> Core character, radical truthfulness, and alignment with the team's mission. </a:t>
            </a:r>
          </a:p>
          <a:p>
            <a:pPr marL="685800" lvl="1" indent="-228600">
              <a:buFont typeface="+mj-lt"/>
              <a:buAutoNum type="arabicPeriod"/>
            </a:pPr>
            <a:r>
              <a:rPr lang="en-US" sz="1200" b="1" kern="1200" dirty="0">
                <a:solidFill>
                  <a:schemeClr val="tx1"/>
                </a:solidFill>
                <a:effectLst/>
                <a:latin typeface="+mn-lt"/>
                <a:ea typeface="+mn-ea"/>
                <a:cs typeface="+mn-cs"/>
              </a:rPr>
              <a:t>Abilities:</a:t>
            </a:r>
            <a:r>
              <a:rPr lang="en-US" sz="1200" kern="1200" dirty="0">
                <a:solidFill>
                  <a:schemeClr val="tx1"/>
                </a:solidFill>
                <a:effectLst/>
                <a:latin typeface="+mn-lt"/>
                <a:ea typeface="+mn-ea"/>
                <a:cs typeface="+mn-cs"/>
              </a:rPr>
              <a:t> How a person thinks, their innate curiosity, and mental agility. (e.g., hiring a door-to-door Bible salesman purely because of his intense curiosity). </a:t>
            </a:r>
          </a:p>
          <a:p>
            <a:pPr marL="685800" lvl="1" indent="-228600">
              <a:buFont typeface="+mj-lt"/>
              <a:buAutoNum type="arabicPeriod"/>
            </a:pPr>
            <a:r>
              <a:rPr lang="en-US" sz="1200" b="1" kern="1200" dirty="0">
                <a:solidFill>
                  <a:schemeClr val="tx1"/>
                </a:solidFill>
                <a:effectLst/>
                <a:latin typeface="+mn-lt"/>
                <a:ea typeface="+mn-ea"/>
                <a:cs typeface="+mn-cs"/>
              </a:rPr>
              <a:t>Skills (Top Level):</a:t>
            </a:r>
            <a:r>
              <a:rPr lang="en-US" sz="1200" kern="1200" dirty="0">
                <a:solidFill>
                  <a:schemeClr val="tx1"/>
                </a:solidFill>
                <a:effectLst/>
                <a:latin typeface="+mn-lt"/>
                <a:ea typeface="+mn-ea"/>
                <a:cs typeface="+mn-cs"/>
              </a:rPr>
              <a:t> Specific knowledge. Skills quickly become obsolete as technologies shift, but strong values and adaptive abilities endure.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8</a:t>
            </a:fld>
            <a:endParaRPr lang="en-US"/>
          </a:p>
        </p:txBody>
      </p:sp>
    </p:spTree>
    <p:extLst>
      <p:ext uri="{BB962C8B-B14F-4D97-AF65-F5344CB8AC3E}">
        <p14:creationId xmlns:p14="http://schemas.microsoft.com/office/powerpoint/2010/main" val="275376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Humans operate across three mental layers: the Logical Conscious, the Subliminal/Emotional, and the Deep Subconscious.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Meditation as a Tool:</a:t>
            </a:r>
            <a:r>
              <a:rPr lang="en-US" sz="1200" kern="1200" dirty="0">
                <a:solidFill>
                  <a:schemeClr val="tx1"/>
                </a:solidFill>
                <a:effectLst/>
                <a:latin typeface="+mn-lt"/>
                <a:ea typeface="+mn-ea"/>
                <a:cs typeface="+mn-cs"/>
              </a:rPr>
              <a:t> Dalio credits Transcendental Meditation (TM)—practiced daily since 1969—for his clarity and calmness.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Repetitive, non-meaningful mantras (like "m") quiet conscious chatter and emotional instincts. This allows a person to descend like a weighted plumb line into the deep subconscious, where high-level creativity and core principles reside.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9</a:t>
            </a:fld>
            <a:endParaRPr lang="en-US"/>
          </a:p>
        </p:txBody>
      </p:sp>
    </p:spTree>
    <p:extLst>
      <p:ext uri="{BB962C8B-B14F-4D97-AF65-F5344CB8AC3E}">
        <p14:creationId xmlns:p14="http://schemas.microsoft.com/office/powerpoint/2010/main" val="272271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Money has no intrinsic value; it is merely a tool. Accumulating money without a clear purpose is meaningless.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Four Pillars of Life Fulfillment:</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b="1" kern="1200" dirty="0">
                <a:solidFill>
                  <a:schemeClr val="tx1"/>
                </a:solidFill>
                <a:effectLst/>
                <a:latin typeface="+mn-lt"/>
                <a:ea typeface="+mn-ea"/>
                <a:cs typeface="+mn-cs"/>
              </a:rPr>
              <a:t>Financial Security:</a:t>
            </a:r>
            <a:r>
              <a:rPr lang="en-US" sz="1200" kern="1200" dirty="0">
                <a:solidFill>
                  <a:schemeClr val="tx1"/>
                </a:solidFill>
                <a:effectLst/>
                <a:latin typeface="+mn-lt"/>
                <a:ea typeface="+mn-ea"/>
                <a:cs typeface="+mn-cs"/>
              </a:rPr>
              <a:t> Built on 15 uncorrelated risk streams. </a:t>
            </a:r>
          </a:p>
          <a:p>
            <a:pPr marL="685800" lvl="1" indent="-228600">
              <a:buFont typeface="+mj-lt"/>
              <a:buAutoNum type="arabicPeriod"/>
            </a:pPr>
            <a:r>
              <a:rPr lang="en-US" sz="1200" b="1" kern="1200" dirty="0">
                <a:solidFill>
                  <a:schemeClr val="tx1"/>
                </a:solidFill>
                <a:effectLst/>
                <a:latin typeface="+mn-lt"/>
                <a:ea typeface="+mn-ea"/>
                <a:cs typeface="+mn-cs"/>
              </a:rPr>
              <a:t>Reality Adaptation:</a:t>
            </a:r>
            <a:r>
              <a:rPr lang="en-US" sz="1200" kern="1200" dirty="0">
                <a:solidFill>
                  <a:schemeClr val="tx1"/>
                </a:solidFill>
                <a:effectLst/>
                <a:latin typeface="+mn-lt"/>
                <a:ea typeface="+mn-ea"/>
                <a:cs typeface="+mn-cs"/>
              </a:rPr>
              <a:t> Navigating the 5 macro forces. </a:t>
            </a:r>
          </a:p>
          <a:p>
            <a:pPr marL="685800" lvl="1" indent="-228600">
              <a:buFont typeface="+mj-lt"/>
              <a:buAutoNum type="arabicPeriod"/>
            </a:pPr>
            <a:r>
              <a:rPr lang="en-US" sz="1200" b="1" kern="1200" dirty="0">
                <a:solidFill>
                  <a:schemeClr val="tx1"/>
                </a:solidFill>
                <a:effectLst/>
                <a:latin typeface="+mn-lt"/>
                <a:ea typeface="+mn-ea"/>
                <a:cs typeface="+mn-cs"/>
              </a:rPr>
              <a:t>Deep Fulfillment:</a:t>
            </a:r>
            <a:r>
              <a:rPr lang="en-US" sz="1200" kern="1200" dirty="0">
                <a:solidFill>
                  <a:schemeClr val="tx1"/>
                </a:solidFill>
                <a:effectLst/>
                <a:latin typeface="+mn-lt"/>
                <a:ea typeface="+mn-ea"/>
                <a:cs typeface="+mn-cs"/>
              </a:rPr>
              <a:t> Understanding your innate nature and aligning your life with it. </a:t>
            </a:r>
          </a:p>
          <a:p>
            <a:pPr marL="685800" lvl="1" indent="-228600">
              <a:buFont typeface="+mj-lt"/>
              <a:buAutoNum type="arabicPeriod"/>
            </a:pPr>
            <a:r>
              <a:rPr lang="en-US" sz="1200" b="1" kern="1200" dirty="0">
                <a:solidFill>
                  <a:schemeClr val="tx1"/>
                </a:solidFill>
                <a:effectLst/>
                <a:latin typeface="+mn-lt"/>
                <a:ea typeface="+mn-ea"/>
                <a:cs typeface="+mn-cs"/>
              </a:rPr>
              <a:t>Meaningful Work + Meaningful Relationships:</a:t>
            </a:r>
            <a:r>
              <a:rPr lang="en-US" sz="1200" kern="1200" dirty="0">
                <a:solidFill>
                  <a:schemeClr val="tx1"/>
                </a:solidFill>
                <a:effectLst/>
                <a:latin typeface="+mn-lt"/>
                <a:ea typeface="+mn-ea"/>
                <a:cs typeface="+mn-cs"/>
              </a:rPr>
              <a:t> Operating in radical truth with individuals who complement your weaknesses.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10</a:t>
            </a:fld>
            <a:endParaRPr lang="en-US"/>
          </a:p>
        </p:txBody>
      </p:sp>
    </p:spTree>
    <p:extLst>
      <p:ext uri="{BB962C8B-B14F-4D97-AF65-F5344CB8AC3E}">
        <p14:creationId xmlns:p14="http://schemas.microsoft.com/office/powerpoint/2010/main" val="12847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Highlighting the personal progress formula: Pain + Reflection = Progress.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Failures are "gems" that provide the underlying principles for future decision-making.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Knowing your nature—whether you are an Explorer or a Shaper—is the primary requirement for choosing a career path that brings fulfillment.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11</a:t>
            </a:fld>
            <a:endParaRPr lang="en-US"/>
          </a:p>
        </p:txBody>
      </p:sp>
    </p:spTree>
    <p:extLst>
      <p:ext uri="{BB962C8B-B14F-4D97-AF65-F5344CB8AC3E}">
        <p14:creationId xmlns:p14="http://schemas.microsoft.com/office/powerpoint/2010/main" val="3532926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Reiterating the Holy Grail of Investing: 15+ independent, uncorrelated return streams achieve an ~80% risk reduction and a 5x improvement in the return-to-risk ratio.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Decision-making must be codified into "decision machines" based on universal cause-and-effect rules tested across history.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12</a:t>
            </a:fld>
            <a:endParaRPr lang="en-US"/>
          </a:p>
        </p:txBody>
      </p:sp>
    </p:spTree>
    <p:extLst>
      <p:ext uri="{BB962C8B-B14F-4D97-AF65-F5344CB8AC3E}">
        <p14:creationId xmlns:p14="http://schemas.microsoft.com/office/powerpoint/2010/main" val="3728010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Final Synthesis: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Combine systemic market diversification with radical self-awareness.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Master macro debt cycles and market bubble dynamics to navigate systemic shifts.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Identify your weaknesses, embrace radical transparency, and find complementary partners.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True success is defined by finding joy in meaningful work and cultivating deep, meaningful relationships.</a:t>
            </a:r>
          </a:p>
          <a:p>
            <a:endParaRPr lang="en-US" dirty="0"/>
          </a:p>
        </p:txBody>
      </p:sp>
      <p:sp>
        <p:nvSpPr>
          <p:cNvPr id="4" name="Slide Number Placeholder 3"/>
          <p:cNvSpPr>
            <a:spLocks noGrp="1"/>
          </p:cNvSpPr>
          <p:nvPr>
            <p:ph type="sldNum" sz="quarter" idx="5"/>
          </p:nvPr>
        </p:nvSpPr>
        <p:spPr/>
        <p:txBody>
          <a:bodyPr/>
          <a:lstStyle/>
          <a:p>
            <a:fld id="{0A12968A-0D8E-4011-BA9C-D04A9DEC25A5}" type="slidenum">
              <a:rPr lang="en-US" smtClean="0"/>
              <a:t>13</a:t>
            </a:fld>
            <a:endParaRPr lang="en-US"/>
          </a:p>
        </p:txBody>
      </p:sp>
    </p:spTree>
    <p:extLst>
      <p:ext uri="{BB962C8B-B14F-4D97-AF65-F5344CB8AC3E}">
        <p14:creationId xmlns:p14="http://schemas.microsoft.com/office/powerpoint/2010/main" val="3452602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02B243-FCFD-EAED-658A-E16F881F843B}"/>
              </a:ext>
            </a:extLst>
          </p:cNvPr>
          <p:cNvSpPr>
            <a:spLocks noGrp="1"/>
          </p:cNvSpPr>
          <p:nvPr>
            <p:ph type="dt" sz="half" idx="10"/>
          </p:nvPr>
        </p:nvSpPr>
        <p:spPr/>
        <p:txBody>
          <a:bodyPr/>
          <a:lstStyle/>
          <a:p>
            <a:fld id="{08641A14-7910-484C-AAE9-B5D89FC37D49}" type="datetimeFigureOut">
              <a:rPr lang="en-US" smtClean="0"/>
              <a:t>10/19/2026</a:t>
            </a:fld>
            <a:endParaRPr lang="en-US"/>
          </a:p>
        </p:txBody>
      </p:sp>
      <p:sp>
        <p:nvSpPr>
          <p:cNvPr id="3" name="Footer Placeholder 2">
            <a:extLst>
              <a:ext uri="{FF2B5EF4-FFF2-40B4-BE49-F238E27FC236}">
                <a16:creationId xmlns:a16="http://schemas.microsoft.com/office/drawing/2014/main" id="{E402D50C-5DB5-B4F6-C640-FB447D0676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CDDA64-3DEC-CFD4-09B9-E9D4106461E4}"/>
              </a:ext>
            </a:extLst>
          </p:cNvPr>
          <p:cNvSpPr>
            <a:spLocks noGrp="1"/>
          </p:cNvSpPr>
          <p:nvPr>
            <p:ph type="sldNum" sz="quarter" idx="12"/>
          </p:nvPr>
        </p:nvSpPr>
        <p:spPr/>
        <p:txBody>
          <a:bodyPr/>
          <a:lstStyle/>
          <a:p>
            <a:fld id="{A4523587-6424-48B1-98BA-BEF44C09CF30}" type="slidenum">
              <a:rPr lang="en-US" smtClean="0"/>
              <a:t>‹#›</a:t>
            </a:fld>
            <a:endParaRPr lang="en-US"/>
          </a:p>
        </p:txBody>
      </p:sp>
    </p:spTree>
    <p:extLst>
      <p:ext uri="{BB962C8B-B14F-4D97-AF65-F5344CB8AC3E}">
        <p14:creationId xmlns:p14="http://schemas.microsoft.com/office/powerpoint/2010/main" val="18103762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89FE1-6499-81EE-4327-4AE534512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A6946B-0EF4-906D-D1D6-B960D15DF1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D63DAB-0A56-100F-9F7C-ED557DB868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641A14-7910-484C-AAE9-B5D89FC37D49}" type="datetimeFigureOut">
              <a:rPr lang="en-US" smtClean="0"/>
              <a:t>10/19/2026</a:t>
            </a:fld>
            <a:endParaRPr lang="en-US"/>
          </a:p>
        </p:txBody>
      </p:sp>
      <p:sp>
        <p:nvSpPr>
          <p:cNvPr id="5" name="Footer Placeholder 4">
            <a:extLst>
              <a:ext uri="{FF2B5EF4-FFF2-40B4-BE49-F238E27FC236}">
                <a16:creationId xmlns:a16="http://schemas.microsoft.com/office/drawing/2014/main" id="{472E52CD-4F56-2266-1202-4C6B31EC1C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3049D4-85F7-2CFE-ED9F-D5EB374387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523587-6424-48B1-98BA-BEF44C09CF30}" type="slidenum">
              <a:rPr lang="en-US" smtClean="0"/>
              <a:t>‹#›</a:t>
            </a:fld>
            <a:endParaRPr lang="en-US"/>
          </a:p>
        </p:txBody>
      </p:sp>
    </p:spTree>
    <p:extLst>
      <p:ext uri="{BB962C8B-B14F-4D97-AF65-F5344CB8AC3E}">
        <p14:creationId xmlns:p14="http://schemas.microsoft.com/office/powerpoint/2010/main" val="121565027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E0F6A40-2AB3-FACB-4205-56ADA0C7379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59ECFE-B561-1554-48DD-C4496497BF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6E932F-5E2C-F211-0C85-688D9DE8BA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346EBC-B403-61BD-8565-09D857643A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B188E4-053B-20E8-F231-CB591F90C0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3BEECC-E350-AF0E-2FA5-B57E12D56B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4D5663-FAB0-6C76-1D44-998B87DE18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A42C06-2446-7866-130F-D869BA7DE7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51CB68-F596-221A-2DC5-01E4B1E389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2E566B-9A96-E081-D9A1-722DD443792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11BFB6-F350-BFBF-72BC-E10A6DDA3BD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180310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C5021B-7B2C-AC2E-5097-9D33469CC84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53254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29FED4-6F46-698E-5854-7436DC4143AD}"/>
              </a:ext>
            </a:extLst>
          </p:cNvPr>
          <p:cNvPicPr>
            <a:picLocks noChangeAspect="1"/>
          </p:cNvPicPr>
          <p:nvPr/>
        </p:nvPicPr>
        <p:blipFill>
          <a:blip r:embed="rId3"/>
          <a:stretch>
            <a:fillRect/>
          </a:stretch>
        </p:blipFill>
        <p:spPr>
          <a:xfrm>
            <a:off x="0" y="57150"/>
            <a:ext cx="12192000" cy="6800850"/>
          </a:xfrm>
          <a:prstGeom prst="rect">
            <a:avLst/>
          </a:prstGeom>
        </p:spPr>
      </p:pic>
    </p:spTree>
    <p:extLst>
      <p:ext uri="{BB962C8B-B14F-4D97-AF65-F5344CB8AC3E}">
        <p14:creationId xmlns:p14="http://schemas.microsoft.com/office/powerpoint/2010/main" val="2807121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1224</Words>
  <Application>Microsoft Office PowerPoint</Application>
  <PresentationFormat>寬螢幕</PresentationFormat>
  <Paragraphs>72</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2026-07-25T15:28:11Z</dcterms:created>
  <dcterms:modified xsi:type="dcterms:W3CDTF">2026-10-19T14:29:30Z</dcterms:modified>
</cp:coreProperties>
</file>