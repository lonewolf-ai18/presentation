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3681B7-572B-4729-A55E-DDFB00D881F2}" v="23" dt="2026-07-31T01:02:42.9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6524" autoAdjust="0"/>
  </p:normalViewPr>
  <p:slideViewPr>
    <p:cSldViewPr snapToGrid="0">
      <p:cViewPr varScale="1">
        <p:scale>
          <a:sx n="62" d="100"/>
          <a:sy n="62" d="100"/>
        </p:scale>
        <p:origin x="59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sldOrd">
      <pc:chgData name="Lai, Wilson" userId="2840974a-0d84-4886-90a9-9a3ed79f3a48" providerId="ADAL" clId="{9F23B798-9E84-4552-BA63-E776E805C424}" dt="2026-07-31T01:02:57.160" v="71" actId="15"/>
      <pc:docMkLst>
        <pc:docMk/>
      </pc:docMkLst>
      <pc:sldChg chg="addSp delSp modSp mod modNotesTx">
        <pc:chgData name="Lai, Wilson" userId="2840974a-0d84-4886-90a9-9a3ed79f3a48" providerId="ADAL" clId="{9F23B798-9E84-4552-BA63-E776E805C424}" dt="2026-07-31T00:53:57.061" v="48" actId="12"/>
        <pc:sldMkLst>
          <pc:docMk/>
          <pc:sldMk cId="0" sldId="257"/>
        </pc:sldMkLst>
        <pc:picChg chg="add ord">
          <ac:chgData name="Lai, Wilson" userId="2840974a-0d84-4886-90a9-9a3ed79f3a48" providerId="ADAL" clId="{9F23B798-9E84-4552-BA63-E776E805C424}" dt="2026-07-24T23:46:55.477" v="2" actId="167"/>
          <ac:picMkLst>
            <pc:docMk/>
            <pc:sldMk cId="0" sldId="257"/>
            <ac:picMk id="7" creationId="{8E71A9A3-B86D-7F08-291D-A33050DE8D12}"/>
          </ac:picMkLst>
        </pc:picChg>
      </pc:sldChg>
      <pc:sldChg chg="addSp delSp mod modNotesTx">
        <pc:chgData name="Lai, Wilson" userId="2840974a-0d84-4886-90a9-9a3ed79f3a48" providerId="ADAL" clId="{9F23B798-9E84-4552-BA63-E776E805C424}" dt="2026-07-31T00:54:26.949" v="49" actId="12"/>
        <pc:sldMkLst>
          <pc:docMk/>
          <pc:sldMk cId="0" sldId="258"/>
        </pc:sldMkLst>
        <pc:picChg chg="add">
          <ac:chgData name="Lai, Wilson" userId="2840974a-0d84-4886-90a9-9a3ed79f3a48" providerId="ADAL" clId="{9F23B798-9E84-4552-BA63-E776E805C424}" dt="2026-07-24T23:47:08.373" v="4" actId="22"/>
          <ac:picMkLst>
            <pc:docMk/>
            <pc:sldMk cId="0" sldId="258"/>
            <ac:picMk id="4" creationId="{7E3CDCC4-2E8D-EDA1-752E-625E64B40346}"/>
          </ac:picMkLst>
        </pc:picChg>
      </pc:sldChg>
      <pc:sldChg chg="addSp delSp modSp mod modNotesTx">
        <pc:chgData name="Lai, Wilson" userId="2840974a-0d84-4886-90a9-9a3ed79f3a48" providerId="ADAL" clId="{9F23B798-9E84-4552-BA63-E776E805C424}" dt="2026-07-31T00:54:38.203" v="50" actId="12"/>
        <pc:sldMkLst>
          <pc:docMk/>
          <pc:sldMk cId="0" sldId="259"/>
        </pc:sldMkLst>
        <pc:picChg chg="add">
          <ac:chgData name="Lai, Wilson" userId="2840974a-0d84-4886-90a9-9a3ed79f3a48" providerId="ADAL" clId="{9F23B798-9E84-4552-BA63-E776E805C424}" dt="2026-07-24T23:51:41.186" v="17" actId="22"/>
          <ac:picMkLst>
            <pc:docMk/>
            <pc:sldMk cId="0" sldId="259"/>
            <ac:picMk id="6" creationId="{DD41DA12-CA03-CA70-FD7A-0687D2C9E9EF}"/>
          </ac:picMkLst>
        </pc:picChg>
      </pc:sldChg>
      <pc:sldChg chg="addSp delSp modSp mod ord modNotesTx">
        <pc:chgData name="Lai, Wilson" userId="2840974a-0d84-4886-90a9-9a3ed79f3a48" providerId="ADAL" clId="{9F23B798-9E84-4552-BA63-E776E805C424}" dt="2026-07-31T00:54:51.468" v="51" actId="12"/>
        <pc:sldMkLst>
          <pc:docMk/>
          <pc:sldMk cId="0" sldId="260"/>
        </pc:sldMkLst>
        <pc:picChg chg="add mod">
          <ac:chgData name="Lai, Wilson" userId="2840974a-0d84-4886-90a9-9a3ed79f3a48" providerId="ADAL" clId="{9F23B798-9E84-4552-BA63-E776E805C424}" dt="2026-07-24T23:51:31.219" v="10" actId="1076"/>
          <ac:picMkLst>
            <pc:docMk/>
            <pc:sldMk cId="0" sldId="260"/>
            <ac:picMk id="4" creationId="{3985415A-7EC9-79FB-1CF9-0CC35F32169A}"/>
          </ac:picMkLst>
        </pc:picChg>
      </pc:sldChg>
      <pc:sldChg chg="addSp delSp mod ord modNotesTx">
        <pc:chgData name="Lai, Wilson" userId="2840974a-0d84-4886-90a9-9a3ed79f3a48" providerId="ADAL" clId="{9F23B798-9E84-4552-BA63-E776E805C424}" dt="2026-07-31T00:55:02.646" v="52" actId="12"/>
        <pc:sldMkLst>
          <pc:docMk/>
          <pc:sldMk cId="0" sldId="261"/>
        </pc:sldMkLst>
        <pc:picChg chg="add">
          <ac:chgData name="Lai, Wilson" userId="2840974a-0d84-4886-90a9-9a3ed79f3a48" providerId="ADAL" clId="{9F23B798-9E84-4552-BA63-E776E805C424}" dt="2026-07-24T23:53:23.715" v="21" actId="22"/>
          <ac:picMkLst>
            <pc:docMk/>
            <pc:sldMk cId="0" sldId="261"/>
            <ac:picMk id="4" creationId="{B5BB0FF4-1ADC-7E5A-DC36-F3D52C9C39ED}"/>
          </ac:picMkLst>
        </pc:picChg>
      </pc:sldChg>
      <pc:sldChg chg="addSp delSp mod modNotesTx">
        <pc:chgData name="Lai, Wilson" userId="2840974a-0d84-4886-90a9-9a3ed79f3a48" providerId="ADAL" clId="{9F23B798-9E84-4552-BA63-E776E805C424}" dt="2026-07-31T00:55:14.696" v="53" actId="12"/>
        <pc:sldMkLst>
          <pc:docMk/>
          <pc:sldMk cId="0" sldId="262"/>
        </pc:sldMkLst>
        <pc:picChg chg="add">
          <ac:chgData name="Lai, Wilson" userId="2840974a-0d84-4886-90a9-9a3ed79f3a48" providerId="ADAL" clId="{9F23B798-9E84-4552-BA63-E776E805C424}" dt="2026-07-24T23:55:34.272" v="23" actId="22"/>
          <ac:picMkLst>
            <pc:docMk/>
            <pc:sldMk cId="0" sldId="262"/>
            <ac:picMk id="4" creationId="{BD08C900-76BF-9BAA-9809-2C461E2F84ED}"/>
          </ac:picMkLst>
        </pc:picChg>
      </pc:sldChg>
      <pc:sldChg chg="addSp delSp mod modNotesTx">
        <pc:chgData name="Lai, Wilson" userId="2840974a-0d84-4886-90a9-9a3ed79f3a48" providerId="ADAL" clId="{9F23B798-9E84-4552-BA63-E776E805C424}" dt="2026-07-31T00:55:27.164" v="54" actId="12"/>
        <pc:sldMkLst>
          <pc:docMk/>
          <pc:sldMk cId="0" sldId="263"/>
        </pc:sldMkLst>
        <pc:picChg chg="add">
          <ac:chgData name="Lai, Wilson" userId="2840974a-0d84-4886-90a9-9a3ed79f3a48" providerId="ADAL" clId="{9F23B798-9E84-4552-BA63-E776E805C424}" dt="2026-07-24T23:55:48.845" v="25" actId="22"/>
          <ac:picMkLst>
            <pc:docMk/>
            <pc:sldMk cId="0" sldId="263"/>
            <ac:picMk id="4" creationId="{8F460A42-30DC-64BB-CF18-36A19E75D52F}"/>
          </ac:picMkLst>
        </pc:picChg>
      </pc:sldChg>
      <pc:sldChg chg="addSp delSp mod modNotesTx">
        <pc:chgData name="Lai, Wilson" userId="2840974a-0d84-4886-90a9-9a3ed79f3a48" providerId="ADAL" clId="{9F23B798-9E84-4552-BA63-E776E805C424}" dt="2026-07-31T00:55:42.033" v="55" actId="12"/>
        <pc:sldMkLst>
          <pc:docMk/>
          <pc:sldMk cId="0" sldId="264"/>
        </pc:sldMkLst>
        <pc:picChg chg="add">
          <ac:chgData name="Lai, Wilson" userId="2840974a-0d84-4886-90a9-9a3ed79f3a48" providerId="ADAL" clId="{9F23B798-9E84-4552-BA63-E776E805C424}" dt="2026-07-24T23:56:00.886" v="27" actId="22"/>
          <ac:picMkLst>
            <pc:docMk/>
            <pc:sldMk cId="0" sldId="264"/>
            <ac:picMk id="4" creationId="{E60328C5-725B-555D-C0B5-ADED8A025628}"/>
          </ac:picMkLst>
        </pc:picChg>
      </pc:sldChg>
      <pc:sldChg chg="addSp delSp mod modNotesTx">
        <pc:chgData name="Lai, Wilson" userId="2840974a-0d84-4886-90a9-9a3ed79f3a48" providerId="ADAL" clId="{9F23B798-9E84-4552-BA63-E776E805C424}" dt="2026-07-31T00:56:00.039" v="57" actId="15"/>
        <pc:sldMkLst>
          <pc:docMk/>
          <pc:sldMk cId="0" sldId="265"/>
        </pc:sldMkLst>
        <pc:picChg chg="add">
          <ac:chgData name="Lai, Wilson" userId="2840974a-0d84-4886-90a9-9a3ed79f3a48" providerId="ADAL" clId="{9F23B798-9E84-4552-BA63-E776E805C424}" dt="2026-07-24T23:56:13.612" v="29" actId="22"/>
          <ac:picMkLst>
            <pc:docMk/>
            <pc:sldMk cId="0" sldId="265"/>
            <ac:picMk id="4" creationId="{F4B23094-40E6-5AFD-78E3-B6EF4933410E}"/>
          </ac:picMkLst>
        </pc:picChg>
      </pc:sldChg>
      <pc:sldChg chg="addSp delSp mod modNotesTx">
        <pc:chgData name="Lai, Wilson" userId="2840974a-0d84-4886-90a9-9a3ed79f3a48" providerId="ADAL" clId="{9F23B798-9E84-4552-BA63-E776E805C424}" dt="2026-07-31T01:02:57.160" v="71" actId="15"/>
        <pc:sldMkLst>
          <pc:docMk/>
          <pc:sldMk cId="0" sldId="266"/>
        </pc:sldMkLst>
        <pc:picChg chg="add">
          <ac:chgData name="Lai, Wilson" userId="2840974a-0d84-4886-90a9-9a3ed79f3a48" providerId="ADAL" clId="{9F23B798-9E84-4552-BA63-E776E805C424}" dt="2026-07-24T23:56:26.623" v="31" actId="22"/>
          <ac:picMkLst>
            <pc:docMk/>
            <pc:sldMk cId="0" sldId="266"/>
            <ac:picMk id="4" creationId="{99B0DDBF-0602-8029-96FF-3A3FC93E7235}"/>
          </ac:picMkLst>
        </pc:picChg>
      </pc:sldChg>
      <pc:sldChg chg="addSp delSp mod modNotesTx">
        <pc:chgData name="Lai, Wilson" userId="2840974a-0d84-4886-90a9-9a3ed79f3a48" providerId="ADAL" clId="{9F23B798-9E84-4552-BA63-E776E805C424}" dt="2026-07-31T01:01:27.499" v="69" actId="6549"/>
        <pc:sldMkLst>
          <pc:docMk/>
          <pc:sldMk cId="0" sldId="267"/>
        </pc:sldMkLst>
        <pc:picChg chg="add">
          <ac:chgData name="Lai, Wilson" userId="2840974a-0d84-4886-90a9-9a3ed79f3a48" providerId="ADAL" clId="{9F23B798-9E84-4552-BA63-E776E805C424}" dt="2026-07-24T23:56:48.155" v="33" actId="22"/>
          <ac:picMkLst>
            <pc:docMk/>
            <pc:sldMk cId="0" sldId="267"/>
            <ac:picMk id="4" creationId="{78C2570B-46F0-6F87-16C3-729D7FD734F6}"/>
          </ac:picMkLst>
        </pc:picChg>
      </pc:sldChg>
      <pc:sldChg chg="addSp delSp mod modNotesTx">
        <pc:chgData name="Lai, Wilson" userId="2840974a-0d84-4886-90a9-9a3ed79f3a48" providerId="ADAL" clId="{9F23B798-9E84-4552-BA63-E776E805C424}" dt="2026-07-31T01:00:50.469" v="65" actId="12"/>
        <pc:sldMkLst>
          <pc:docMk/>
          <pc:sldMk cId="0" sldId="268"/>
        </pc:sldMkLst>
        <pc:picChg chg="add">
          <ac:chgData name="Lai, Wilson" userId="2840974a-0d84-4886-90a9-9a3ed79f3a48" providerId="ADAL" clId="{9F23B798-9E84-4552-BA63-E776E805C424}" dt="2026-07-24T23:56:59.198" v="35" actId="22"/>
          <ac:picMkLst>
            <pc:docMk/>
            <pc:sldMk cId="0" sldId="268"/>
            <ac:picMk id="4" creationId="{B2E7AB4F-2A49-B24B-B383-353A35541E49}"/>
          </ac:picMkLst>
        </pc:picChg>
      </pc:sldChg>
      <pc:sldChg chg="addSp delSp mod modNotesTx">
        <pc:chgData name="Lai, Wilson" userId="2840974a-0d84-4886-90a9-9a3ed79f3a48" providerId="ADAL" clId="{9F23B798-9E84-4552-BA63-E776E805C424}" dt="2026-07-31T01:01:11.958" v="68" actId="15"/>
        <pc:sldMkLst>
          <pc:docMk/>
          <pc:sldMk cId="0" sldId="269"/>
        </pc:sldMkLst>
        <pc:picChg chg="add">
          <ac:chgData name="Lai, Wilson" userId="2840974a-0d84-4886-90a9-9a3ed79f3a48" providerId="ADAL" clId="{9F23B798-9E84-4552-BA63-E776E805C424}" dt="2026-07-24T23:57:10.422" v="37" actId="22"/>
          <ac:picMkLst>
            <pc:docMk/>
            <pc:sldMk cId="0" sldId="269"/>
            <ac:picMk id="4" creationId="{1A75A49E-849E-27BD-369B-47B41E76A098}"/>
          </ac:picMkLst>
        </pc:picChg>
      </pc:sldChg>
      <pc:sldChg chg="addSp delSp mod">
        <pc:chgData name="Lai, Wilson" userId="2840974a-0d84-4886-90a9-9a3ed79f3a48" providerId="ADAL" clId="{9F23B798-9E84-4552-BA63-E776E805C424}" dt="2026-07-24T23:57:26.421" v="39" actId="22"/>
        <pc:sldMkLst>
          <pc:docMk/>
          <pc:sldMk cId="2100858641" sldId="270"/>
        </pc:sldMkLst>
        <pc:picChg chg="add">
          <ac:chgData name="Lai, Wilson" userId="2840974a-0d84-4886-90a9-9a3ed79f3a48" providerId="ADAL" clId="{9F23B798-9E84-4552-BA63-E776E805C424}" dt="2026-07-24T23:57:26.421" v="39" actId="22"/>
          <ac:picMkLst>
            <pc:docMk/>
            <pc:sldMk cId="2100858641" sldId="270"/>
            <ac:picMk id="4" creationId="{20EA6FC6-D54E-5CD2-A5A9-689423B66F7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DEAAFB-93DE-4DB2-BDC0-5127643847CD}"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0C6459-0EF4-4E35-A75A-544C80A5D93E}" type="slidenum">
              <a:rPr lang="en-US" smtClean="0"/>
              <a:t>‹#›</a:t>
            </a:fld>
            <a:endParaRPr lang="en-US"/>
          </a:p>
        </p:txBody>
      </p:sp>
    </p:spTree>
    <p:extLst>
      <p:ext uri="{BB962C8B-B14F-4D97-AF65-F5344CB8AC3E}">
        <p14:creationId xmlns:p14="http://schemas.microsoft.com/office/powerpoint/2010/main" val="1343656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https://www.youtube.com/watch?v=HwmwyBgzj8c</a:t>
            </a:r>
          </a:p>
          <a:p>
            <a:endParaRPr lang="en-US" dirty="0"/>
          </a:p>
          <a:p>
            <a:pPr marL="171450" indent="-171450">
              <a:buFont typeface="Arial" panose="020B0604020202020204" pitchFamily="34" charset="0"/>
              <a:buChar char="•"/>
            </a:pPr>
            <a:r>
              <a:rPr lang="en-US" sz="1200" kern="1200" dirty="0">
                <a:solidFill>
                  <a:schemeClr val="tx1"/>
                </a:solidFill>
                <a:effectLst/>
                <a:latin typeface="+mn-lt"/>
                <a:ea typeface="+mn-ea"/>
                <a:cs typeface="+mn-cs"/>
              </a:rPr>
              <a:t>Good morning/afternoon, everyone. Today, we're discussing how to build an 'unbreakable business'—a company designed not just to survive disruption, but to scale predictably and compound over decades.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As featured in recent insights distilled from entrepreneur and investor Alex Hormozi, the modern landscape presents unprecedented tools—like AI—alongside massive traps.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The core thesis of today’s talk comes down to a fundamental truth: </a:t>
            </a:r>
            <a:r>
              <a:rPr lang="en-US" sz="1200" b="1" kern="1200" dirty="0">
                <a:solidFill>
                  <a:schemeClr val="tx1"/>
                </a:solidFill>
                <a:effectLst/>
                <a:latin typeface="+mn-lt"/>
                <a:ea typeface="+mn-ea"/>
                <a:cs typeface="+mn-cs"/>
              </a:rPr>
              <a:t>lengthening your time horizon is your single greatest competitive advantage.</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Over the next few minutes, we’ll break down practical frameworks covering AI adoption, retention mathematics, unscalable pricing strategies, hiring realities, and emotional resilience.</a:t>
            </a:r>
          </a:p>
          <a:p>
            <a:endParaRPr lang="en-US" dirty="0"/>
          </a:p>
        </p:txBody>
      </p:sp>
      <p:sp>
        <p:nvSpPr>
          <p:cNvPr id="4" name="Slide Number Placeholder 3"/>
          <p:cNvSpPr>
            <a:spLocks noGrp="1"/>
          </p:cNvSpPr>
          <p:nvPr>
            <p:ph type="sldNum" sz="quarter" idx="5"/>
          </p:nvPr>
        </p:nvSpPr>
        <p:spPr/>
        <p:txBody>
          <a:bodyPr/>
          <a:lstStyle/>
          <a:p>
            <a:fld id="{050C6459-0EF4-4E35-A75A-544C80A5D93E}" type="slidenum">
              <a:rPr lang="en-US" smtClean="0"/>
              <a:t>1</a:t>
            </a:fld>
            <a:endParaRPr lang="en-US"/>
          </a:p>
        </p:txBody>
      </p:sp>
    </p:spTree>
    <p:extLst>
      <p:ext uri="{BB962C8B-B14F-4D97-AF65-F5344CB8AC3E}">
        <p14:creationId xmlns:p14="http://schemas.microsoft.com/office/powerpoint/2010/main" val="3464638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Let's begin with the elephant in the room: AI. Right now, intelligence is becoming cheap and abundant. But there is a huge difference between using AI as a tool and outsourcing your core cognitive capability to it.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Alex Hormozi highlights a critical mistake founders are making today. He references a company that spent $350,000 trying to build a custom AI solution to replace $11,000/month virtual assistants who were cleaning data. They paid over three years' worth of costs upfront to automate a non-bottleneck. Their actual bottleneck was demand—getting more customers!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Rule of Thumb for AI:</a:t>
            </a:r>
            <a:r>
              <a:rPr lang="en-US" sz="1200" kern="1200" dirty="0">
                <a:solidFill>
                  <a:schemeClr val="tx1"/>
                </a:solidFill>
                <a:effectLst/>
                <a:latin typeface="+mn-lt"/>
                <a:ea typeface="+mn-ea"/>
                <a:cs typeface="+mn-cs"/>
              </a:rPr>
              <a:t> Ask yourself, </a:t>
            </a:r>
            <a:r>
              <a:rPr lang="en-US" sz="1200" i="1" kern="1200" dirty="0">
                <a:solidFill>
                  <a:schemeClr val="tx1"/>
                </a:solidFill>
                <a:effectLst/>
                <a:latin typeface="+mn-lt"/>
                <a:ea typeface="+mn-ea"/>
                <a:cs typeface="+mn-cs"/>
              </a:rPr>
              <a:t>'Is this making us more money right now?'</a:t>
            </a:r>
            <a:r>
              <a:rPr lang="en-US" sz="1200" kern="1200" dirty="0">
                <a:solidFill>
                  <a:schemeClr val="tx1"/>
                </a:solidFill>
                <a:effectLst/>
                <a:latin typeface="+mn-lt"/>
                <a:ea typeface="+mn-ea"/>
                <a:cs typeface="+mn-cs"/>
              </a:rPr>
              <a:t> Don't spend vast resources automating minor processes while ignoring the real constraint of your business.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Human Imperative:</a:t>
            </a:r>
            <a:r>
              <a:rPr lang="en-US" sz="1200" kern="1200" dirty="0">
                <a:solidFill>
                  <a:schemeClr val="tx1"/>
                </a:solidFill>
                <a:effectLst/>
                <a:latin typeface="+mn-lt"/>
                <a:ea typeface="+mn-ea"/>
                <a:cs typeface="+mn-cs"/>
              </a:rPr>
              <a:t> Delegating high-stakes decisions and hard cognitive work to LLMs makes founders weaker. AI is not a legal entity, it doesn't pay taxes, and it cannot hold liability. LLMs generate options; humans must exercise judgment and own the risk.</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50C6459-0EF4-4E35-A75A-544C80A5D93E}" type="slidenum">
              <a:rPr lang="en-US" smtClean="0"/>
              <a:t>2</a:t>
            </a:fld>
            <a:endParaRPr lang="en-US"/>
          </a:p>
        </p:txBody>
      </p:sp>
    </p:spTree>
    <p:extLst>
      <p:ext uri="{BB962C8B-B14F-4D97-AF65-F5344CB8AC3E}">
        <p14:creationId xmlns:p14="http://schemas.microsoft.com/office/powerpoint/2010/main" val="39393264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When superintelligence becomes accessible to everyone, what becomes your moat?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Look at this 2x2 matrix measuring the consequence of being wrong against content type.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In low-stakes areas like fiction, comedy, or beauty tutorials, a wrong recommendation results in low impact—a bad day of makeup or a missed punchline. AI-generated media will flood these spaces.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However, in high-stakes areas like Finance, Business, or Healthcare, being wrong means losing your livelihood or health.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Reality is the Ultimate Moat. When the stakes are high, customers demand a credible, human source with a verifiable track record. You cannot fake a decade of real-world results or $100M in executed transactions. Focus heavily on building real-world proof and trust.</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50C6459-0EF4-4E35-A75A-544C80A5D93E}" type="slidenum">
              <a:rPr lang="en-US" smtClean="0"/>
              <a:t>3</a:t>
            </a:fld>
            <a:endParaRPr lang="en-US"/>
          </a:p>
        </p:txBody>
      </p:sp>
    </p:spTree>
    <p:extLst>
      <p:ext uri="{BB962C8B-B14F-4D97-AF65-F5344CB8AC3E}">
        <p14:creationId xmlns:p14="http://schemas.microsoft.com/office/powerpoint/2010/main" val="1831960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This diagram illustrates the architectural principle of business building.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Building a shed takes 5 days and minimal foundation. It’s fast, but a severe storm will blow it over. Building a 100-story skyscraper requires digging a massive, deep foundation before you ever see a single floor above ground.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$10M Trap:</a:t>
            </a:r>
            <a:r>
              <a:rPr lang="en-US" sz="1200" kern="1200" dirty="0">
                <a:solidFill>
                  <a:schemeClr val="tx1"/>
                </a:solidFill>
                <a:effectLst/>
                <a:latin typeface="+mn-lt"/>
                <a:ea typeface="+mn-ea"/>
                <a:cs typeface="+mn-cs"/>
              </a:rPr>
              <a:t> The fastest way to build a $10M business is NOT the fastest way to build a $100M business. If you optimize for fast immediate cash, you often build fragile structures with high churn and poor unit economics.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Focus and patience are enduring competitive advantages precisely because they are </a:t>
            </a:r>
            <a:r>
              <a:rPr lang="en-US" sz="1200" b="1" kern="1200" dirty="0">
                <a:solidFill>
                  <a:schemeClr val="tx1"/>
                </a:solidFill>
                <a:effectLst/>
                <a:latin typeface="+mn-lt"/>
                <a:ea typeface="+mn-ea"/>
                <a:cs typeface="+mn-cs"/>
              </a:rPr>
              <a:t>'anti-human'</a:t>
            </a:r>
            <a:r>
              <a:rPr lang="en-US" sz="1200" kern="1200" dirty="0">
                <a:solidFill>
                  <a:schemeClr val="tx1"/>
                </a:solidFill>
                <a:effectLst/>
                <a:latin typeface="+mn-lt"/>
                <a:ea typeface="+mn-ea"/>
                <a:cs typeface="+mn-cs"/>
              </a:rPr>
              <a:t>. Human biology pushes us toward immediate gratification. Resisting that instinct allows you to out-build everyone else.</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50C6459-0EF4-4E35-A75A-544C80A5D93E}" type="slidenum">
              <a:rPr lang="en-US" smtClean="0"/>
              <a:t>4</a:t>
            </a:fld>
            <a:endParaRPr lang="en-US"/>
          </a:p>
        </p:txBody>
      </p:sp>
    </p:spTree>
    <p:extLst>
      <p:ext uri="{BB962C8B-B14F-4D97-AF65-F5344CB8AC3E}">
        <p14:creationId xmlns:p14="http://schemas.microsoft.com/office/powerpoint/2010/main" val="37811325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Let's look at the math behind long-term enterprise value.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Company B (The Hustler):</a:t>
            </a:r>
            <a:r>
              <a:rPr lang="en-US" sz="1200" kern="1200" dirty="0">
                <a:solidFill>
                  <a:schemeClr val="tx1"/>
                </a:solidFill>
                <a:effectLst/>
                <a:latin typeface="+mn-lt"/>
                <a:ea typeface="+mn-ea"/>
                <a:cs typeface="+mn-cs"/>
              </a:rPr>
              <a:t> Sells 100 units in Year 1, but loses all 100 due to churn. To grow, they sell 200 in Year 2 and lose 200. By Year 3, they sell 300 and hit $3M in revenue. But look at the effort required: to grow next year, they </a:t>
            </a:r>
            <a:r>
              <a:rPr lang="en-US" sz="1200" i="1" kern="1200" dirty="0">
                <a:solidFill>
                  <a:schemeClr val="tx1"/>
                </a:solidFill>
                <a:effectLst/>
                <a:latin typeface="+mn-lt"/>
                <a:ea typeface="+mn-ea"/>
                <a:cs typeface="+mn-cs"/>
              </a:rPr>
              <a:t>must</a:t>
            </a:r>
            <a:r>
              <a:rPr lang="en-US" sz="1200" kern="1200" dirty="0">
                <a:solidFill>
                  <a:schemeClr val="tx1"/>
                </a:solidFill>
                <a:effectLst/>
                <a:latin typeface="+mn-lt"/>
                <a:ea typeface="+mn-ea"/>
                <a:cs typeface="+mn-cs"/>
              </a:rPr>
              <a:t> sell 600 just to stay ahead of the churn. They are running on a brutal treadmill.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Company A (The Architect):</a:t>
            </a:r>
            <a:r>
              <a:rPr lang="en-US" sz="1200" kern="1200" dirty="0">
                <a:solidFill>
                  <a:schemeClr val="tx1"/>
                </a:solidFill>
                <a:effectLst/>
                <a:latin typeface="+mn-lt"/>
                <a:ea typeface="+mn-ea"/>
                <a:cs typeface="+mn-cs"/>
              </a:rPr>
              <a:t> Focuses on product-market fit and retention. Sells 100 in Year 1 and keeps them. In Year 2, they sell another 100 (now at 200). In Year 3, they sell another 100 and reach $3M revenue.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Both companies hit $3M, but Company A is infinitely more valuable, far less stressed, and has compounding margins. Growth without retention is pouring water into a leaky bucket.</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50C6459-0EF4-4E35-A75A-544C80A5D93E}" type="slidenum">
              <a:rPr lang="en-US" smtClean="0"/>
              <a:t>5</a:t>
            </a:fld>
            <a:endParaRPr lang="en-US"/>
          </a:p>
        </p:txBody>
      </p:sp>
    </p:spTree>
    <p:extLst>
      <p:ext uri="{BB962C8B-B14F-4D97-AF65-F5344CB8AC3E}">
        <p14:creationId xmlns:p14="http://schemas.microsoft.com/office/powerpoint/2010/main" val="4238375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How do high-value businesses launch premium offerings? By working backwards from value.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Step 1: The Absurd Premium.</a:t>
            </a:r>
            <a:r>
              <a:rPr lang="en-US" sz="1200" kern="1200" dirty="0">
                <a:solidFill>
                  <a:schemeClr val="tx1"/>
                </a:solidFill>
                <a:effectLst/>
                <a:latin typeface="+mn-lt"/>
                <a:ea typeface="+mn-ea"/>
                <a:cs typeface="+mn-cs"/>
              </a:rPr>
              <a:t> Add one or two zeros to your price tag. Ask: </a:t>
            </a:r>
            <a:r>
              <a:rPr lang="en-US" sz="1200" i="1" kern="1200" dirty="0">
                <a:solidFill>
                  <a:schemeClr val="tx1"/>
                </a:solidFill>
                <a:effectLst/>
                <a:latin typeface="+mn-lt"/>
                <a:ea typeface="+mn-ea"/>
                <a:cs typeface="+mn-cs"/>
              </a:rPr>
              <a:t>'What would I have to do to make this worth $100k?'</a:t>
            </a:r>
            <a:r>
              <a:rPr lang="en-US" sz="1200" kern="1200" dirty="0">
                <a:solidFill>
                  <a:schemeClr val="tx1"/>
                </a:solidFill>
                <a:effectLst/>
                <a:latin typeface="+mn-lt"/>
                <a:ea typeface="+mn-ea"/>
                <a:cs typeface="+mn-cs"/>
              </a:rPr>
              <a:t> Don't price out of your own wallet; what is easy for you may be valuable to them.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Step 2: Do Unscalable Things.</a:t>
            </a:r>
            <a:r>
              <a:rPr lang="en-US" sz="1200" kern="1200" dirty="0">
                <a:solidFill>
                  <a:schemeClr val="tx1"/>
                </a:solidFill>
                <a:effectLst/>
                <a:latin typeface="+mn-lt"/>
                <a:ea typeface="+mn-ea"/>
                <a:cs typeface="+mn-cs"/>
              </a:rPr>
              <a:t> Fly to their location, do the heavy lifting for them, and gather deep operational data.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Step 3: Build the Moat.</a:t>
            </a:r>
            <a:r>
              <a:rPr lang="en-US" sz="1200" kern="1200" dirty="0">
                <a:solidFill>
                  <a:schemeClr val="tx1"/>
                </a:solidFill>
                <a:effectLst/>
                <a:latin typeface="+mn-lt"/>
                <a:ea typeface="+mn-ea"/>
                <a:cs typeface="+mn-cs"/>
              </a:rPr>
              <a:t> Use high cash flows and premium margins to systemize those unscalable insights into software, processes, or IP.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Step 4: Scale </a:t>
            </a:r>
            <a:r>
              <a:rPr lang="en-US" sz="1200" b="1" kern="1200" dirty="0" err="1">
                <a:solidFill>
                  <a:schemeClr val="tx1"/>
                </a:solidFill>
                <a:effectLst/>
                <a:latin typeface="+mn-lt"/>
                <a:ea typeface="+mn-ea"/>
                <a:cs typeface="+mn-cs"/>
              </a:rPr>
              <a:t>Downmarket</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Offer mass-market versions anchored by the elite reputation of your high-tier product.</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50C6459-0EF4-4E35-A75A-544C80A5D93E}" type="slidenum">
              <a:rPr lang="en-US" smtClean="0"/>
              <a:t>6</a:t>
            </a:fld>
            <a:endParaRPr lang="en-US"/>
          </a:p>
        </p:txBody>
      </p:sp>
    </p:spTree>
    <p:extLst>
      <p:ext uri="{BB962C8B-B14F-4D97-AF65-F5344CB8AC3E}">
        <p14:creationId xmlns:p14="http://schemas.microsoft.com/office/powerpoint/2010/main" val="16023684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The Value Equation measures value as: </a:t>
            </a:r>
            <a:r>
              <a:rPr lang="en-US" sz="1200" i="1" kern="1200" dirty="0">
                <a:solidFill>
                  <a:schemeClr val="tx1"/>
                </a:solidFill>
                <a:effectLst/>
                <a:latin typeface="+mn-lt"/>
                <a:ea typeface="+mn-ea"/>
                <a:cs typeface="+mn-cs"/>
              </a:rPr>
              <a:t>(Dream Outcome × Perceived Likelihood of Achievement) ÷ (Time Delay + Effort &amp; Sacrifice)</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Time Delay Factor:</a:t>
            </a:r>
            <a:r>
              <a:rPr lang="en-US" sz="1200" kern="1200" dirty="0">
                <a:solidFill>
                  <a:schemeClr val="tx1"/>
                </a:solidFill>
                <a:effectLst/>
                <a:latin typeface="+mn-lt"/>
                <a:ea typeface="+mn-ea"/>
                <a:cs typeface="+mn-cs"/>
              </a:rPr>
              <a:t> Time delay is the most overlooked variable. If an outcome takes too long, consumers discount its value to near zero. To disrupt an industry, deliver the same outcome in half the time.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Persuasion Framework:</a:t>
            </a:r>
            <a:r>
              <a:rPr lang="en-US" sz="1200" kern="1200" dirty="0">
                <a:solidFill>
                  <a:schemeClr val="tx1"/>
                </a:solidFill>
                <a:effectLst/>
                <a:latin typeface="+mn-lt"/>
                <a:ea typeface="+mn-ea"/>
                <a:cs typeface="+mn-cs"/>
              </a:rPr>
              <a:t> Consumers operate inside incentive structures. We don't create demand; we channel existing human desires.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If prospects aren't buying, you haven't made your desired action the most convenient, reward-rich, and risk-free option on the grid.</a:t>
            </a:r>
          </a:p>
        </p:txBody>
      </p:sp>
      <p:sp>
        <p:nvSpPr>
          <p:cNvPr id="4" name="Slide Number Placeholder 3"/>
          <p:cNvSpPr>
            <a:spLocks noGrp="1"/>
          </p:cNvSpPr>
          <p:nvPr>
            <p:ph type="sldNum" sz="quarter" idx="5"/>
          </p:nvPr>
        </p:nvSpPr>
        <p:spPr/>
        <p:txBody>
          <a:bodyPr/>
          <a:lstStyle/>
          <a:p>
            <a:fld id="{050C6459-0EF4-4E35-A75A-544C80A5D93E}" type="slidenum">
              <a:rPr lang="en-US" smtClean="0"/>
              <a:t>7</a:t>
            </a:fld>
            <a:endParaRPr lang="en-US"/>
          </a:p>
        </p:txBody>
      </p:sp>
    </p:spTree>
    <p:extLst>
      <p:ext uri="{BB962C8B-B14F-4D97-AF65-F5344CB8AC3E}">
        <p14:creationId xmlns:p14="http://schemas.microsoft.com/office/powerpoint/2010/main" val="22573436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50C6459-0EF4-4E35-A75A-544C80A5D93E}" type="slidenum">
              <a:rPr lang="en-US" smtClean="0"/>
              <a:t>8</a:t>
            </a:fld>
            <a:endParaRPr lang="en-US"/>
          </a:p>
        </p:txBody>
      </p:sp>
    </p:spTree>
    <p:extLst>
      <p:ext uri="{BB962C8B-B14F-4D97-AF65-F5344CB8AC3E}">
        <p14:creationId xmlns:p14="http://schemas.microsoft.com/office/powerpoint/2010/main" val="7083152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A major bottleneck for growing founders is hiring.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Founders often delay hiring while hunting for a 'Unicorn'—a magical, flawless clone of themselves who possesses strategic foresight, charismatic selling, and technical execution.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Unicorns do not exist.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Instead of wasting months searching for one mythological generalist, collapse time by hiring three distinct specialists: one for strategy/force (Horn), one for culture/sales (Sparkle), and one for execution/speed (Speed).</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50C6459-0EF4-4E35-A75A-544C80A5D93E}" type="slidenum">
              <a:rPr lang="en-US" smtClean="0"/>
              <a:t>9</a:t>
            </a:fld>
            <a:endParaRPr lang="en-US"/>
          </a:p>
        </p:txBody>
      </p:sp>
    </p:spTree>
    <p:extLst>
      <p:ext uri="{BB962C8B-B14F-4D97-AF65-F5344CB8AC3E}">
        <p14:creationId xmlns:p14="http://schemas.microsoft.com/office/powerpoint/2010/main" val="38626815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Every operational problem in scaling is ultimately a marketing problem.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If your company has high customer demand but cannot fulfill orders or maintain quality, your constraint is talent supply.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Mirror your customer acquisition funnel directly onto recruitment: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Lead Gen</a:t>
            </a:r>
            <a:r>
              <a:rPr lang="en-US" sz="1200" kern="1200" dirty="0">
                <a:solidFill>
                  <a:schemeClr val="tx1"/>
                </a:solidFill>
                <a:effectLst/>
                <a:latin typeface="+mn-lt"/>
                <a:ea typeface="+mn-ea"/>
                <a:cs typeface="+mn-cs"/>
              </a:rPr>
              <a:t> becomes </a:t>
            </a:r>
            <a:r>
              <a:rPr lang="en-US" sz="1200" i="1" kern="1200" dirty="0">
                <a:solidFill>
                  <a:schemeClr val="tx1"/>
                </a:solidFill>
                <a:effectLst/>
                <a:latin typeface="+mn-lt"/>
                <a:ea typeface="+mn-ea"/>
                <a:cs typeface="+mn-cs"/>
              </a:rPr>
              <a:t>App Gen</a:t>
            </a:r>
            <a:r>
              <a:rPr lang="en-US" sz="1200" kern="1200" dirty="0">
                <a:solidFill>
                  <a:schemeClr val="tx1"/>
                </a:solidFill>
                <a:effectLst/>
                <a:latin typeface="+mn-lt"/>
                <a:ea typeface="+mn-ea"/>
                <a:cs typeface="+mn-cs"/>
              </a:rPr>
              <a:t>.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Lead Nurture</a:t>
            </a:r>
            <a:r>
              <a:rPr lang="en-US" sz="1200" kern="1200" dirty="0">
                <a:solidFill>
                  <a:schemeClr val="tx1"/>
                </a:solidFill>
                <a:effectLst/>
                <a:latin typeface="+mn-lt"/>
                <a:ea typeface="+mn-ea"/>
                <a:cs typeface="+mn-cs"/>
              </a:rPr>
              <a:t> becomes </a:t>
            </a:r>
            <a:r>
              <a:rPr lang="en-US" sz="1200" i="1" kern="1200" dirty="0">
                <a:solidFill>
                  <a:schemeClr val="tx1"/>
                </a:solidFill>
                <a:effectLst/>
                <a:latin typeface="+mn-lt"/>
                <a:ea typeface="+mn-ea"/>
                <a:cs typeface="+mn-cs"/>
              </a:rPr>
              <a:t>Candidate Nurture</a:t>
            </a:r>
            <a:r>
              <a:rPr lang="en-US" sz="1200" kern="1200" dirty="0">
                <a:solidFill>
                  <a:schemeClr val="tx1"/>
                </a:solidFill>
                <a:effectLst/>
                <a:latin typeface="+mn-lt"/>
                <a:ea typeface="+mn-ea"/>
                <a:cs typeface="+mn-cs"/>
              </a:rPr>
              <a:t>.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Sales</a:t>
            </a:r>
            <a:r>
              <a:rPr lang="en-US" sz="1200" kern="1200" dirty="0">
                <a:solidFill>
                  <a:schemeClr val="tx1"/>
                </a:solidFill>
                <a:effectLst/>
                <a:latin typeface="+mn-lt"/>
                <a:ea typeface="+mn-ea"/>
                <a:cs typeface="+mn-cs"/>
              </a:rPr>
              <a:t> becomes </a:t>
            </a:r>
            <a:r>
              <a:rPr lang="en-US" sz="1200" i="1" kern="1200" dirty="0">
                <a:solidFill>
                  <a:schemeClr val="tx1"/>
                </a:solidFill>
                <a:effectLst/>
                <a:latin typeface="+mn-lt"/>
                <a:ea typeface="+mn-ea"/>
                <a:cs typeface="+mn-cs"/>
              </a:rPr>
              <a:t>Interviews</a:t>
            </a:r>
            <a:r>
              <a:rPr lang="en-US" sz="1200" kern="1200" dirty="0">
                <a:solidFill>
                  <a:schemeClr val="tx1"/>
                </a:solidFill>
                <a:effectLst/>
                <a:latin typeface="+mn-lt"/>
                <a:ea typeface="+mn-ea"/>
                <a:cs typeface="+mn-cs"/>
              </a:rPr>
              <a:t>.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Onboarding &amp; Retention</a:t>
            </a:r>
            <a:r>
              <a:rPr lang="en-US" sz="1200" kern="1200" dirty="0">
                <a:solidFill>
                  <a:schemeClr val="tx1"/>
                </a:solidFill>
                <a:effectLst/>
                <a:latin typeface="+mn-lt"/>
                <a:ea typeface="+mn-ea"/>
                <a:cs typeface="+mn-cs"/>
              </a:rPr>
              <a:t> remain identical for both.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Treat recruiting talent with the exact same rigor and ad-spend budget as acquiring new customers.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50C6459-0EF4-4E35-A75A-544C80A5D93E}" type="slidenum">
              <a:rPr lang="en-US" smtClean="0"/>
              <a:t>10</a:t>
            </a:fld>
            <a:endParaRPr lang="en-US"/>
          </a:p>
        </p:txBody>
      </p:sp>
    </p:spTree>
    <p:extLst>
      <p:ext uri="{BB962C8B-B14F-4D97-AF65-F5344CB8AC3E}">
        <p14:creationId xmlns:p14="http://schemas.microsoft.com/office/powerpoint/2010/main" val="12754219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Many aspiring entrepreneurs sit on the sidelines waiting for a complete 10-year roadmap.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Illusion:</a:t>
            </a:r>
            <a:r>
              <a:rPr lang="en-US" sz="1200" kern="1200" dirty="0">
                <a:solidFill>
                  <a:schemeClr val="tx1"/>
                </a:solidFill>
                <a:effectLst/>
                <a:latin typeface="+mn-lt"/>
                <a:ea typeface="+mn-ea"/>
                <a:cs typeface="+mn-cs"/>
              </a:rPr>
              <a:t> Successful founders did </a:t>
            </a:r>
            <a:r>
              <a:rPr lang="en-US" sz="1200" i="1" kern="1200" dirty="0">
                <a:solidFill>
                  <a:schemeClr val="tx1"/>
                </a:solidFill>
                <a:effectLst/>
                <a:latin typeface="+mn-lt"/>
                <a:ea typeface="+mn-ea"/>
                <a:cs typeface="+mn-cs"/>
              </a:rPr>
              <a:t>not</a:t>
            </a:r>
            <a:r>
              <a:rPr lang="en-US" sz="1200" kern="1200" dirty="0">
                <a:solidFill>
                  <a:schemeClr val="tx1"/>
                </a:solidFill>
                <a:effectLst/>
                <a:latin typeface="+mn-lt"/>
                <a:ea typeface="+mn-ea"/>
                <a:cs typeface="+mn-cs"/>
              </a:rPr>
              <a:t> have a complete roadmap when they started. As you scale, ambiguity actually increases, not decreases. Seeking 100% certainty before acting guarantees paralysis.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Mandate:</a:t>
            </a:r>
            <a:r>
              <a:rPr lang="en-US" sz="1200" kern="1200" dirty="0">
                <a:solidFill>
                  <a:schemeClr val="tx1"/>
                </a:solidFill>
                <a:effectLst/>
                <a:latin typeface="+mn-lt"/>
                <a:ea typeface="+mn-ea"/>
                <a:cs typeface="+mn-cs"/>
              </a:rPr>
              <a:t> Fear thrives in vagueness. Make your requirements specific. To launch a business, you only need four tangible things: </a:t>
            </a:r>
          </a:p>
          <a:p>
            <a:pPr marL="228600" indent="-228600">
              <a:buFont typeface="+mj-lt"/>
              <a:buAutoNum type="arabicPeriod"/>
            </a:pPr>
            <a:r>
              <a:rPr lang="en-US" sz="1200" kern="1200" dirty="0">
                <a:solidFill>
                  <a:schemeClr val="tx1"/>
                </a:solidFill>
                <a:effectLst/>
                <a:latin typeface="+mn-lt"/>
                <a:ea typeface="+mn-ea"/>
                <a:cs typeface="+mn-cs"/>
              </a:rPr>
              <a:t>An LLC/Entity </a:t>
            </a:r>
          </a:p>
          <a:p>
            <a:pPr marL="228600" indent="-228600">
              <a:buFont typeface="+mj-lt"/>
              <a:buAutoNum type="arabicPeriod"/>
            </a:pPr>
            <a:r>
              <a:rPr lang="en-US" sz="1200" kern="1200" dirty="0">
                <a:solidFill>
                  <a:schemeClr val="tx1"/>
                </a:solidFill>
                <a:effectLst/>
                <a:latin typeface="+mn-lt"/>
                <a:ea typeface="+mn-ea"/>
                <a:cs typeface="+mn-cs"/>
              </a:rPr>
              <a:t>A bank account </a:t>
            </a:r>
          </a:p>
          <a:p>
            <a:pPr marL="228600" indent="-228600">
              <a:buFont typeface="+mj-lt"/>
              <a:buAutoNum type="arabicPeriod"/>
            </a:pPr>
            <a:r>
              <a:rPr lang="en-US" sz="1200" kern="1200" dirty="0">
                <a:solidFill>
                  <a:schemeClr val="tx1"/>
                </a:solidFill>
                <a:effectLst/>
                <a:latin typeface="+mn-lt"/>
                <a:ea typeface="+mn-ea"/>
                <a:cs typeface="+mn-cs"/>
              </a:rPr>
              <a:t>A payment processor </a:t>
            </a:r>
          </a:p>
          <a:p>
            <a:pPr marL="228600" indent="-228600">
              <a:buFont typeface="+mj-lt"/>
              <a:buAutoNum type="arabicPeriod"/>
            </a:pPr>
            <a:r>
              <a:rPr lang="en-US" sz="1200" kern="1200" dirty="0">
                <a:solidFill>
                  <a:schemeClr val="tx1"/>
                </a:solidFill>
                <a:effectLst/>
                <a:latin typeface="+mn-lt"/>
                <a:ea typeface="+mn-ea"/>
                <a:cs typeface="+mn-cs"/>
              </a:rPr>
              <a:t>A stranger willing to give you money for value.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50C6459-0EF4-4E35-A75A-544C80A5D93E}" type="slidenum">
              <a:rPr lang="en-US" smtClean="0"/>
              <a:t>11</a:t>
            </a:fld>
            <a:endParaRPr lang="en-US"/>
          </a:p>
        </p:txBody>
      </p:sp>
    </p:spTree>
    <p:extLst>
      <p:ext uri="{BB962C8B-B14F-4D97-AF65-F5344CB8AC3E}">
        <p14:creationId xmlns:p14="http://schemas.microsoft.com/office/powerpoint/2010/main" val="28069054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In business, you will encounter painful setbacks—lost key clients, team departures, or operational crises.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Alex Hormozi highlights a critical mental rule: Emotional discomfort is NOT an adequate reason to change your business strategy.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Measure your psychological game across four metrics: </a:t>
            </a:r>
          </a:p>
          <a:p>
            <a:pPr marL="228600" indent="-228600">
              <a:buFont typeface="+mj-lt"/>
              <a:buAutoNum type="arabicPeriod"/>
            </a:pPr>
            <a:r>
              <a:rPr lang="en-US" sz="1200" b="1" kern="1200" dirty="0">
                <a:solidFill>
                  <a:schemeClr val="tx1"/>
                </a:solidFill>
                <a:effectLst/>
                <a:latin typeface="+mn-lt"/>
                <a:ea typeface="+mn-ea"/>
                <a:cs typeface="+mn-cs"/>
              </a:rPr>
              <a:t>Fortitude:</a:t>
            </a:r>
            <a:r>
              <a:rPr lang="en-US" sz="1200" kern="1200" dirty="0">
                <a:solidFill>
                  <a:schemeClr val="tx1"/>
                </a:solidFill>
                <a:effectLst/>
                <a:latin typeface="+mn-lt"/>
                <a:ea typeface="+mn-ea"/>
                <a:cs typeface="+mn-cs"/>
              </a:rPr>
              <a:t> How many bad events can occur before your baseline breaks? </a:t>
            </a:r>
          </a:p>
          <a:p>
            <a:pPr marL="228600" indent="-228600">
              <a:buFont typeface="+mj-lt"/>
              <a:buAutoNum type="arabicPeriod"/>
            </a:pPr>
            <a:r>
              <a:rPr lang="en-US" sz="1200" b="1" kern="1200" dirty="0">
                <a:solidFill>
                  <a:schemeClr val="tx1"/>
                </a:solidFill>
                <a:effectLst/>
                <a:latin typeface="+mn-lt"/>
                <a:ea typeface="+mn-ea"/>
                <a:cs typeface="+mn-cs"/>
              </a:rPr>
              <a:t>Tolerance:</a:t>
            </a:r>
            <a:r>
              <a:rPr lang="en-US" sz="1200" kern="1200" dirty="0">
                <a:solidFill>
                  <a:schemeClr val="tx1"/>
                </a:solidFill>
                <a:effectLst/>
                <a:latin typeface="+mn-lt"/>
                <a:ea typeface="+mn-ea"/>
                <a:cs typeface="+mn-cs"/>
              </a:rPr>
              <a:t> How deep is your operational/emotional dip when things go wrong? </a:t>
            </a:r>
          </a:p>
          <a:p>
            <a:pPr marL="228600" indent="-228600">
              <a:buFont typeface="+mj-lt"/>
              <a:buAutoNum type="arabicPeriod"/>
            </a:pPr>
            <a:r>
              <a:rPr lang="en-US" sz="1200" b="1" kern="1200" dirty="0">
                <a:solidFill>
                  <a:schemeClr val="tx1"/>
                </a:solidFill>
                <a:effectLst/>
                <a:latin typeface="+mn-lt"/>
                <a:ea typeface="+mn-ea"/>
                <a:cs typeface="+mn-cs"/>
              </a:rPr>
              <a:t>Resilience:</a:t>
            </a:r>
            <a:r>
              <a:rPr lang="en-US" sz="1200" kern="1200" dirty="0">
                <a:solidFill>
                  <a:schemeClr val="tx1"/>
                </a:solidFill>
                <a:effectLst/>
                <a:latin typeface="+mn-lt"/>
                <a:ea typeface="+mn-ea"/>
                <a:cs typeface="+mn-cs"/>
              </a:rPr>
              <a:t> How quickly do you return to baseline? </a:t>
            </a:r>
          </a:p>
          <a:p>
            <a:pPr marL="228600" indent="-228600">
              <a:buFont typeface="+mj-lt"/>
              <a:buAutoNum type="arabicPeriod"/>
            </a:pPr>
            <a:r>
              <a:rPr lang="en-US" sz="1200" b="1" kern="1200" dirty="0">
                <a:solidFill>
                  <a:schemeClr val="tx1"/>
                </a:solidFill>
                <a:effectLst/>
                <a:latin typeface="+mn-lt"/>
                <a:ea typeface="+mn-ea"/>
                <a:cs typeface="+mn-cs"/>
              </a:rPr>
              <a:t>Adaptability:</a:t>
            </a:r>
            <a:r>
              <a:rPr lang="en-US" sz="1200" kern="1200" dirty="0">
                <a:solidFill>
                  <a:schemeClr val="tx1"/>
                </a:solidFill>
                <a:effectLst/>
                <a:latin typeface="+mn-lt"/>
                <a:ea typeface="+mn-ea"/>
                <a:cs typeface="+mn-cs"/>
              </a:rPr>
              <a:t> Do you return permanently better, or permanently broken?</a:t>
            </a:r>
          </a:p>
          <a:p>
            <a:endParaRPr lang="en-US" dirty="0"/>
          </a:p>
        </p:txBody>
      </p:sp>
      <p:sp>
        <p:nvSpPr>
          <p:cNvPr id="4" name="Slide Number Placeholder 3"/>
          <p:cNvSpPr>
            <a:spLocks noGrp="1"/>
          </p:cNvSpPr>
          <p:nvPr>
            <p:ph type="sldNum" sz="quarter" idx="5"/>
          </p:nvPr>
        </p:nvSpPr>
        <p:spPr/>
        <p:txBody>
          <a:bodyPr/>
          <a:lstStyle/>
          <a:p>
            <a:fld id="{050C6459-0EF4-4E35-A75A-544C80A5D93E}" type="slidenum">
              <a:rPr lang="en-US" smtClean="0"/>
              <a:t>12</a:t>
            </a:fld>
            <a:endParaRPr lang="en-US"/>
          </a:p>
        </p:txBody>
      </p:sp>
    </p:spTree>
    <p:extLst>
      <p:ext uri="{BB962C8B-B14F-4D97-AF65-F5344CB8AC3E}">
        <p14:creationId xmlns:p14="http://schemas.microsoft.com/office/powerpoint/2010/main" val="34401590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To wrap up our blueprint, let's synthesize the unchangeable truths of business leadership: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1. Bet on the Constants:</a:t>
            </a:r>
            <a:r>
              <a:rPr lang="en-US" sz="1200" kern="1200" dirty="0">
                <a:solidFill>
                  <a:schemeClr val="tx1"/>
                </a:solidFill>
                <a:effectLst/>
                <a:latin typeface="+mn-lt"/>
                <a:ea typeface="+mn-ea"/>
                <a:cs typeface="+mn-cs"/>
              </a:rPr>
              <a:t> Technology changes, but fundamental human desires do not. Customers will always want faster outcomes, higher certainty, and lower effort.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2. Sacrifice is Mandatory:</a:t>
            </a:r>
            <a:r>
              <a:rPr lang="en-US" sz="1200" kern="1200" dirty="0">
                <a:solidFill>
                  <a:schemeClr val="tx1"/>
                </a:solidFill>
                <a:effectLst/>
                <a:latin typeface="+mn-lt"/>
                <a:ea typeface="+mn-ea"/>
                <a:cs typeface="+mn-cs"/>
              </a:rPr>
              <a:t> You cannot keep every door open. True focus means sacrificing good opportunities to pursue the extraordinary one.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3. Trust 'Future You':</a:t>
            </a:r>
            <a:r>
              <a:rPr lang="en-US" sz="1200" kern="1200" dirty="0">
                <a:solidFill>
                  <a:schemeClr val="tx1"/>
                </a:solidFill>
                <a:effectLst/>
                <a:latin typeface="+mn-lt"/>
                <a:ea typeface="+mn-ea"/>
                <a:cs typeface="+mn-cs"/>
              </a:rPr>
              <a:t> Stop trying to solve Year 5 problems with Year 1 resources. Focus on surviving and gathering data today; your future self will have the capital and team to solve future problems.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4. Embrace Long Horizons:</a:t>
            </a:r>
            <a:r>
              <a:rPr lang="en-US" sz="1200" kern="1200" dirty="0">
                <a:solidFill>
                  <a:schemeClr val="tx1"/>
                </a:solidFill>
                <a:effectLst/>
                <a:latin typeface="+mn-lt"/>
                <a:ea typeface="+mn-ea"/>
                <a:cs typeface="+mn-cs"/>
              </a:rPr>
              <a:t> Patience and focus are your ultimate moats.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Thank you for your time. Let's open the floor to Q&amp;A.</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50C6459-0EF4-4E35-A75A-544C80A5D93E}" type="slidenum">
              <a:rPr lang="en-US" smtClean="0"/>
              <a:t>13</a:t>
            </a:fld>
            <a:endParaRPr lang="en-US"/>
          </a:p>
        </p:txBody>
      </p:sp>
    </p:spTree>
    <p:extLst>
      <p:ext uri="{BB962C8B-B14F-4D97-AF65-F5344CB8AC3E}">
        <p14:creationId xmlns:p14="http://schemas.microsoft.com/office/powerpoint/2010/main" val="1231187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DC3E1A-0AEB-6C66-8266-D5C2A3336316}"/>
              </a:ext>
            </a:extLst>
          </p:cNvPr>
          <p:cNvSpPr>
            <a:spLocks noGrp="1"/>
          </p:cNvSpPr>
          <p:nvPr>
            <p:ph type="dt" sz="half" idx="10"/>
          </p:nvPr>
        </p:nvSpPr>
        <p:spPr/>
        <p:txBody>
          <a:bodyPr/>
          <a:lstStyle/>
          <a:p>
            <a:fld id="{071E8971-7697-4DA9-8E85-47CAF3615216}" type="datetimeFigureOut">
              <a:rPr lang="en-US" smtClean="0"/>
              <a:t>10/19/2026</a:t>
            </a:fld>
            <a:endParaRPr lang="en-US"/>
          </a:p>
        </p:txBody>
      </p:sp>
      <p:sp>
        <p:nvSpPr>
          <p:cNvPr id="3" name="Footer Placeholder 2">
            <a:extLst>
              <a:ext uri="{FF2B5EF4-FFF2-40B4-BE49-F238E27FC236}">
                <a16:creationId xmlns:a16="http://schemas.microsoft.com/office/drawing/2014/main" id="{95A5C276-97D0-DFDE-3384-83CE1CC3FA4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A282B04-E218-AA82-A262-231BEC8763D2}"/>
              </a:ext>
            </a:extLst>
          </p:cNvPr>
          <p:cNvSpPr>
            <a:spLocks noGrp="1"/>
          </p:cNvSpPr>
          <p:nvPr>
            <p:ph type="sldNum" sz="quarter" idx="12"/>
          </p:nvPr>
        </p:nvSpPr>
        <p:spPr/>
        <p:txBody>
          <a:bodyPr/>
          <a:lstStyle/>
          <a:p>
            <a:fld id="{7C4DF3DF-51FA-424F-A3E2-4C5B033FBC4C}" type="slidenum">
              <a:rPr lang="en-US" smtClean="0"/>
              <a:t>‹#›</a:t>
            </a:fld>
            <a:endParaRPr lang="en-US"/>
          </a:p>
        </p:txBody>
      </p:sp>
    </p:spTree>
    <p:extLst>
      <p:ext uri="{BB962C8B-B14F-4D97-AF65-F5344CB8AC3E}">
        <p14:creationId xmlns:p14="http://schemas.microsoft.com/office/powerpoint/2010/main" val="274949355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FEFCC5-D559-E3AD-4B16-B9B191538D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AC30B6-D65C-27BC-CD36-955E3E4CC4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31F9C24-A4CE-8754-C699-F03A414DFA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1E8971-7697-4DA9-8E85-47CAF3615216}" type="datetimeFigureOut">
              <a:rPr lang="en-US" smtClean="0"/>
              <a:t>10/19/2026</a:t>
            </a:fld>
            <a:endParaRPr lang="en-US"/>
          </a:p>
        </p:txBody>
      </p:sp>
      <p:sp>
        <p:nvSpPr>
          <p:cNvPr id="5" name="Footer Placeholder 4">
            <a:extLst>
              <a:ext uri="{FF2B5EF4-FFF2-40B4-BE49-F238E27FC236}">
                <a16:creationId xmlns:a16="http://schemas.microsoft.com/office/drawing/2014/main" id="{FE867F5A-11F9-9546-755D-A191E0A152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7B38396-94FD-8489-D747-B2E400EDF1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C4DF3DF-51FA-424F-A3E2-4C5B033FBC4C}" type="slidenum">
              <a:rPr lang="en-US" smtClean="0"/>
              <a:t>‹#›</a:t>
            </a:fld>
            <a:endParaRPr lang="en-US"/>
          </a:p>
        </p:txBody>
      </p:sp>
    </p:spTree>
    <p:extLst>
      <p:ext uri="{BB962C8B-B14F-4D97-AF65-F5344CB8AC3E}">
        <p14:creationId xmlns:p14="http://schemas.microsoft.com/office/powerpoint/2010/main" val="3097120198"/>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E71A9A3-B86D-7F08-291D-A33050DE8D1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3CDCC4-2E8D-EDA1-752E-625E64B4034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D41DA12-CA03-CA70-FD7A-0687D2C9E9E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85415A-7EC9-79FB-1CF9-0CC35F32169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5BB0FF4-1ADC-7E5A-DC36-F3D52C9C39E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D08C900-76BF-9BAA-9809-2C461E2F84E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F460A42-30DC-64BB-CF18-36A19E75D52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0328C5-725B-555D-C0B5-ADED8A02562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4B23094-40E6-5AFD-78E3-B6EF4933410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B0DDBF-0602-8029-96FF-3A3FC93E723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C2570B-46F0-6F87-16C3-729D7FD734F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E7AB4F-2A49-B24B-B383-353A35541E4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A75A49E-849E-27BD-369B-47B41E76A09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0EA6FC6-D54E-5CD2-A5A9-689423B66F70}"/>
              </a:ext>
            </a:extLst>
          </p:cNvPr>
          <p:cNvPicPr>
            <a:picLocks noChangeAspect="1"/>
          </p:cNvPicPr>
          <p:nvPr/>
        </p:nvPicPr>
        <p:blipFill>
          <a:blip r:embed="rId2"/>
          <a:stretch>
            <a:fillRect/>
          </a:stretch>
        </p:blipFill>
        <p:spPr>
          <a:xfrm>
            <a:off x="0" y="28575"/>
            <a:ext cx="12192000" cy="6800850"/>
          </a:xfrm>
          <a:prstGeom prst="rect">
            <a:avLst/>
          </a:prstGeom>
        </p:spPr>
      </p:pic>
    </p:spTree>
    <p:extLst>
      <p:ext uri="{BB962C8B-B14F-4D97-AF65-F5344CB8AC3E}">
        <p14:creationId xmlns:p14="http://schemas.microsoft.com/office/powerpoint/2010/main" val="2100858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1518</Words>
  <Application>Microsoft Office PowerPoint</Application>
  <PresentationFormat>寬螢幕</PresentationFormat>
  <Paragraphs>78</Paragraphs>
  <Slides>14</Slides>
  <Notes>13</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2026-07-24T23:32:26Z</dcterms:created>
  <dcterms:modified xsi:type="dcterms:W3CDTF">2026-10-19T14:29:05Z</dcterms:modified>
</cp:coreProperties>
</file>