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6AF8A0-5A4E-438C-950F-14389ECE5382}" v="20" dt="2026-07-30T15:43:14.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5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7-30T15:43:33.071" v="112" actId="5793"/>
      <pc:docMkLst>
        <pc:docMk/>
      </pc:docMkLst>
      <pc:sldChg chg="addSp delSp modSp mod delAnim modAnim modNotesTx">
        <pc:chgData name="Lai, Wilson" userId="2840974a-0d84-4886-90a9-9a3ed79f3a48" providerId="ADAL" clId="{9F23B798-9E84-4552-BA63-E776E805C424}" dt="2026-07-30T15:38:09.535" v="48" actId="12"/>
        <pc:sldMkLst>
          <pc:docMk/>
          <pc:sldMk cId="0" sldId="257"/>
        </pc:sldMkLst>
        <pc:spChg chg="add mod">
          <ac:chgData name="Lai, Wilson" userId="2840974a-0d84-4886-90a9-9a3ed79f3a48" providerId="ADAL" clId="{9F23B798-9E84-4552-BA63-E776E805C424}" dt="2026-07-22T14:21:35.007" v="45" actId="164"/>
          <ac:spMkLst>
            <pc:docMk/>
            <pc:sldMk cId="0" sldId="257"/>
            <ac:spMk id="7" creationId="{9EA6FCA3-6581-896E-8E34-FE77B3AD5AFD}"/>
          </ac:spMkLst>
        </pc:spChg>
        <pc:grpChg chg="add mod">
          <ac:chgData name="Lai, Wilson" userId="2840974a-0d84-4886-90a9-9a3ed79f3a48" providerId="ADAL" clId="{9F23B798-9E84-4552-BA63-E776E805C424}" dt="2026-07-22T14:21:35.007" v="45" actId="164"/>
          <ac:grpSpMkLst>
            <pc:docMk/>
            <pc:sldMk cId="0" sldId="257"/>
            <ac:grpSpMk id="8" creationId="{8B4A63DC-8663-F75B-9C3E-B44BD51EB615}"/>
          </ac:grpSpMkLst>
        </pc:grpChg>
        <pc:picChg chg="add mod">
          <ac:chgData name="Lai, Wilson" userId="2840974a-0d84-4886-90a9-9a3ed79f3a48" providerId="ADAL" clId="{9F23B798-9E84-4552-BA63-E776E805C424}" dt="2026-07-22T14:21:17.037" v="41" actId="1076"/>
          <ac:picMkLst>
            <pc:docMk/>
            <pc:sldMk cId="0" sldId="257"/>
            <ac:picMk id="4" creationId="{539EDDEE-2355-1E7B-FF79-E0A4A08AC69C}"/>
          </ac:picMkLst>
        </pc:picChg>
        <pc:picChg chg="add mod">
          <ac:chgData name="Lai, Wilson" userId="2840974a-0d84-4886-90a9-9a3ed79f3a48" providerId="ADAL" clId="{9F23B798-9E84-4552-BA63-E776E805C424}" dt="2026-07-22T14:21:35.007" v="45" actId="164"/>
          <ac:picMkLst>
            <pc:docMk/>
            <pc:sldMk cId="0" sldId="257"/>
            <ac:picMk id="6" creationId="{9A1BC71F-6F53-525D-7DD9-5F55831143C6}"/>
          </ac:picMkLst>
        </pc:picChg>
      </pc:sldChg>
      <pc:sldChg chg="addSp delSp mod modNotesTx">
        <pc:chgData name="Lai, Wilson" userId="2840974a-0d84-4886-90a9-9a3ed79f3a48" providerId="ADAL" clId="{9F23B798-9E84-4552-BA63-E776E805C424}" dt="2026-07-30T15:38:27.296" v="50" actId="15"/>
        <pc:sldMkLst>
          <pc:docMk/>
          <pc:sldMk cId="0" sldId="258"/>
        </pc:sldMkLst>
        <pc:picChg chg="add">
          <ac:chgData name="Lai, Wilson" userId="2840974a-0d84-4886-90a9-9a3ed79f3a48" providerId="ADAL" clId="{9F23B798-9E84-4552-BA63-E776E805C424}" dt="2026-07-22T14:13:25.029" v="3" actId="22"/>
          <ac:picMkLst>
            <pc:docMk/>
            <pc:sldMk cId="0" sldId="258"/>
            <ac:picMk id="4" creationId="{39E70899-E63A-65A9-67D6-D963C60D2E34}"/>
          </ac:picMkLst>
        </pc:picChg>
      </pc:sldChg>
      <pc:sldChg chg="addSp delSp mod modNotesTx">
        <pc:chgData name="Lai, Wilson" userId="2840974a-0d84-4886-90a9-9a3ed79f3a48" providerId="ADAL" clId="{9F23B798-9E84-4552-BA63-E776E805C424}" dt="2026-07-30T15:38:59.545" v="58" actId="15"/>
        <pc:sldMkLst>
          <pc:docMk/>
          <pc:sldMk cId="0" sldId="259"/>
        </pc:sldMkLst>
        <pc:picChg chg="add">
          <ac:chgData name="Lai, Wilson" userId="2840974a-0d84-4886-90a9-9a3ed79f3a48" providerId="ADAL" clId="{9F23B798-9E84-4552-BA63-E776E805C424}" dt="2026-07-22T14:13:43.942" v="5" actId="22"/>
          <ac:picMkLst>
            <pc:docMk/>
            <pc:sldMk cId="0" sldId="259"/>
            <ac:picMk id="4" creationId="{BA27C29C-0BBD-CA1A-808E-AB5537F53D3F}"/>
          </ac:picMkLst>
        </pc:picChg>
      </pc:sldChg>
      <pc:sldChg chg="addSp delSp mod modNotesTx">
        <pc:chgData name="Lai, Wilson" userId="2840974a-0d84-4886-90a9-9a3ed79f3a48" providerId="ADAL" clId="{9F23B798-9E84-4552-BA63-E776E805C424}" dt="2026-07-30T15:39:21.825" v="62" actId="15"/>
        <pc:sldMkLst>
          <pc:docMk/>
          <pc:sldMk cId="0" sldId="260"/>
        </pc:sldMkLst>
        <pc:picChg chg="add">
          <ac:chgData name="Lai, Wilson" userId="2840974a-0d84-4886-90a9-9a3ed79f3a48" providerId="ADAL" clId="{9F23B798-9E84-4552-BA63-E776E805C424}" dt="2026-07-22T14:14:00.876" v="7" actId="22"/>
          <ac:picMkLst>
            <pc:docMk/>
            <pc:sldMk cId="0" sldId="260"/>
            <ac:picMk id="4" creationId="{33CDEB99-34E6-9DB6-EE6F-4BFDECF8B597}"/>
          </ac:picMkLst>
        </pc:picChg>
      </pc:sldChg>
      <pc:sldChg chg="addSp delSp mod modNotesTx">
        <pc:chgData name="Lai, Wilson" userId="2840974a-0d84-4886-90a9-9a3ed79f3a48" providerId="ADAL" clId="{9F23B798-9E84-4552-BA63-E776E805C424}" dt="2026-07-30T15:39:47.799" v="66" actId="15"/>
        <pc:sldMkLst>
          <pc:docMk/>
          <pc:sldMk cId="0" sldId="261"/>
        </pc:sldMkLst>
        <pc:picChg chg="add">
          <ac:chgData name="Lai, Wilson" userId="2840974a-0d84-4886-90a9-9a3ed79f3a48" providerId="ADAL" clId="{9F23B798-9E84-4552-BA63-E776E805C424}" dt="2026-07-22T14:14:25.081" v="9" actId="22"/>
          <ac:picMkLst>
            <pc:docMk/>
            <pc:sldMk cId="0" sldId="261"/>
            <ac:picMk id="4" creationId="{F8EA7F0B-261B-A9C6-C5AA-8DA451107BBA}"/>
          </ac:picMkLst>
        </pc:picChg>
      </pc:sldChg>
      <pc:sldChg chg="addSp delSp mod modNotesTx">
        <pc:chgData name="Lai, Wilson" userId="2840974a-0d84-4886-90a9-9a3ed79f3a48" providerId="ADAL" clId="{9F23B798-9E84-4552-BA63-E776E805C424}" dt="2026-07-30T15:40:17.164" v="75" actId="14"/>
        <pc:sldMkLst>
          <pc:docMk/>
          <pc:sldMk cId="0" sldId="262"/>
        </pc:sldMkLst>
        <pc:picChg chg="add">
          <ac:chgData name="Lai, Wilson" userId="2840974a-0d84-4886-90a9-9a3ed79f3a48" providerId="ADAL" clId="{9F23B798-9E84-4552-BA63-E776E805C424}" dt="2026-07-22T14:14:44.353" v="11" actId="22"/>
          <ac:picMkLst>
            <pc:docMk/>
            <pc:sldMk cId="0" sldId="262"/>
            <ac:picMk id="4" creationId="{0DFF8EF2-6CC0-811A-6D51-EB2E0D503AF9}"/>
          </ac:picMkLst>
        </pc:picChg>
      </pc:sldChg>
      <pc:sldChg chg="addSp delSp mod modNotesTx">
        <pc:chgData name="Lai, Wilson" userId="2840974a-0d84-4886-90a9-9a3ed79f3a48" providerId="ADAL" clId="{9F23B798-9E84-4552-BA63-E776E805C424}" dt="2026-07-30T15:40:34.013" v="78" actId="15"/>
        <pc:sldMkLst>
          <pc:docMk/>
          <pc:sldMk cId="0" sldId="263"/>
        </pc:sldMkLst>
        <pc:picChg chg="add">
          <ac:chgData name="Lai, Wilson" userId="2840974a-0d84-4886-90a9-9a3ed79f3a48" providerId="ADAL" clId="{9F23B798-9E84-4552-BA63-E776E805C424}" dt="2026-07-22T14:14:56.447" v="13" actId="22"/>
          <ac:picMkLst>
            <pc:docMk/>
            <pc:sldMk cId="0" sldId="263"/>
            <ac:picMk id="4" creationId="{1C33E908-F983-9265-DA44-4ED7C3478639}"/>
          </ac:picMkLst>
        </pc:picChg>
      </pc:sldChg>
      <pc:sldChg chg="addSp delSp mod modNotesTx">
        <pc:chgData name="Lai, Wilson" userId="2840974a-0d84-4886-90a9-9a3ed79f3a48" providerId="ADAL" clId="{9F23B798-9E84-4552-BA63-E776E805C424}" dt="2026-07-30T15:40:54.128" v="81" actId="15"/>
        <pc:sldMkLst>
          <pc:docMk/>
          <pc:sldMk cId="0" sldId="264"/>
        </pc:sldMkLst>
        <pc:picChg chg="add">
          <ac:chgData name="Lai, Wilson" userId="2840974a-0d84-4886-90a9-9a3ed79f3a48" providerId="ADAL" clId="{9F23B798-9E84-4552-BA63-E776E805C424}" dt="2026-07-22T14:15:11.877" v="15" actId="22"/>
          <ac:picMkLst>
            <pc:docMk/>
            <pc:sldMk cId="0" sldId="264"/>
            <ac:picMk id="4" creationId="{123F229C-855D-91ED-B31A-5C7D72410445}"/>
          </ac:picMkLst>
        </pc:picChg>
      </pc:sldChg>
      <pc:sldChg chg="addSp delSp mod modNotesTx">
        <pc:chgData name="Lai, Wilson" userId="2840974a-0d84-4886-90a9-9a3ed79f3a48" providerId="ADAL" clId="{9F23B798-9E84-4552-BA63-E776E805C424}" dt="2026-07-30T15:41:11.249" v="84" actId="15"/>
        <pc:sldMkLst>
          <pc:docMk/>
          <pc:sldMk cId="0" sldId="265"/>
        </pc:sldMkLst>
        <pc:picChg chg="add">
          <ac:chgData name="Lai, Wilson" userId="2840974a-0d84-4886-90a9-9a3ed79f3a48" providerId="ADAL" clId="{9F23B798-9E84-4552-BA63-E776E805C424}" dt="2026-07-22T14:15:25.123" v="17" actId="22"/>
          <ac:picMkLst>
            <pc:docMk/>
            <pc:sldMk cId="0" sldId="265"/>
            <ac:picMk id="4" creationId="{A8421303-271B-F89C-3863-9E63866EE0CC}"/>
          </ac:picMkLst>
        </pc:picChg>
      </pc:sldChg>
      <pc:sldChg chg="addSp delSp mod modNotesTx">
        <pc:chgData name="Lai, Wilson" userId="2840974a-0d84-4886-90a9-9a3ed79f3a48" providerId="ADAL" clId="{9F23B798-9E84-4552-BA63-E776E805C424}" dt="2026-07-30T15:41:31.220" v="90" actId="15"/>
        <pc:sldMkLst>
          <pc:docMk/>
          <pc:sldMk cId="0" sldId="266"/>
        </pc:sldMkLst>
        <pc:picChg chg="add">
          <ac:chgData name="Lai, Wilson" userId="2840974a-0d84-4886-90a9-9a3ed79f3a48" providerId="ADAL" clId="{9F23B798-9E84-4552-BA63-E776E805C424}" dt="2026-07-22T14:15:36.036" v="19" actId="22"/>
          <ac:picMkLst>
            <pc:docMk/>
            <pc:sldMk cId="0" sldId="266"/>
            <ac:picMk id="4" creationId="{A3C988CA-7DE9-BD8D-B503-49D4BD57B3CA}"/>
          </ac:picMkLst>
        </pc:picChg>
      </pc:sldChg>
      <pc:sldChg chg="addSp delSp mod modNotesTx">
        <pc:chgData name="Lai, Wilson" userId="2840974a-0d84-4886-90a9-9a3ed79f3a48" providerId="ADAL" clId="{9F23B798-9E84-4552-BA63-E776E805C424}" dt="2026-07-30T15:42:28.207" v="102" actId="20577"/>
        <pc:sldMkLst>
          <pc:docMk/>
          <pc:sldMk cId="0" sldId="267"/>
        </pc:sldMkLst>
        <pc:picChg chg="add">
          <ac:chgData name="Lai, Wilson" userId="2840974a-0d84-4886-90a9-9a3ed79f3a48" providerId="ADAL" clId="{9F23B798-9E84-4552-BA63-E776E805C424}" dt="2026-07-22T14:15:47.885" v="21" actId="22"/>
          <ac:picMkLst>
            <pc:docMk/>
            <pc:sldMk cId="0" sldId="267"/>
            <ac:picMk id="4" creationId="{65FF3C6B-2627-0C2B-4210-EE64B8E6A9F1}"/>
          </ac:picMkLst>
        </pc:picChg>
      </pc:sldChg>
      <pc:sldChg chg="addSp delSp mod modNotesTx">
        <pc:chgData name="Lai, Wilson" userId="2840974a-0d84-4886-90a9-9a3ed79f3a48" providerId="ADAL" clId="{9F23B798-9E84-4552-BA63-E776E805C424}" dt="2026-07-30T15:42:46.810" v="105" actId="15"/>
        <pc:sldMkLst>
          <pc:docMk/>
          <pc:sldMk cId="0" sldId="268"/>
        </pc:sldMkLst>
        <pc:picChg chg="add">
          <ac:chgData name="Lai, Wilson" userId="2840974a-0d84-4886-90a9-9a3ed79f3a48" providerId="ADAL" clId="{9F23B798-9E84-4552-BA63-E776E805C424}" dt="2026-07-22T14:15:59.245" v="23" actId="22"/>
          <ac:picMkLst>
            <pc:docMk/>
            <pc:sldMk cId="0" sldId="268"/>
            <ac:picMk id="4" creationId="{10EC9F96-37C2-DB91-8C2D-386AD4C133A3}"/>
          </ac:picMkLst>
        </pc:picChg>
      </pc:sldChg>
      <pc:sldChg chg="addSp delSp mod modNotesTx">
        <pc:chgData name="Lai, Wilson" userId="2840974a-0d84-4886-90a9-9a3ed79f3a48" providerId="ADAL" clId="{9F23B798-9E84-4552-BA63-E776E805C424}" dt="2026-07-30T15:43:03.499" v="108" actId="15"/>
        <pc:sldMkLst>
          <pc:docMk/>
          <pc:sldMk cId="0" sldId="269"/>
        </pc:sldMkLst>
        <pc:picChg chg="add">
          <ac:chgData name="Lai, Wilson" userId="2840974a-0d84-4886-90a9-9a3ed79f3a48" providerId="ADAL" clId="{9F23B798-9E84-4552-BA63-E776E805C424}" dt="2026-07-22T14:16:10.608" v="25" actId="22"/>
          <ac:picMkLst>
            <pc:docMk/>
            <pc:sldMk cId="0" sldId="269"/>
            <ac:picMk id="4" creationId="{F8F0B581-022F-4787-18CB-5F1C81DB0BE8}"/>
          </ac:picMkLst>
        </pc:picChg>
      </pc:sldChg>
      <pc:sldChg chg="modNotesTx">
        <pc:chgData name="Lai, Wilson" userId="2840974a-0d84-4886-90a9-9a3ed79f3a48" providerId="ADAL" clId="{9F23B798-9E84-4552-BA63-E776E805C424}" dt="2026-07-30T15:43:33.071" v="112" actId="5793"/>
        <pc:sldMkLst>
          <pc:docMk/>
          <pc:sldMk cId="763470815"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8041CA-1AA1-4AA4-BA64-EA7F437D2AB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3062DD-439D-4831-9D8D-5E5FF4F72CBD}" type="slidenum">
              <a:rPr lang="en-US" smtClean="0"/>
              <a:t>‹#›</a:t>
            </a:fld>
            <a:endParaRPr lang="en-US"/>
          </a:p>
        </p:txBody>
      </p:sp>
    </p:spTree>
    <p:extLst>
      <p:ext uri="{BB962C8B-B14F-4D97-AF65-F5344CB8AC3E}">
        <p14:creationId xmlns:p14="http://schemas.microsoft.com/office/powerpoint/2010/main" val="347499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https://www.oaktreecapital.com/insights/memo/ai-hurtles-ahead</a:t>
            </a:r>
          </a:p>
          <a:p>
            <a:endParaRPr lang="en-US" dirty="0"/>
          </a:p>
          <a:p>
            <a:pPr marL="171450" indent="-171450">
              <a:buFont typeface="Arial" panose="020B0604020202020204" pitchFamily="34" charset="0"/>
              <a:buChar char="•"/>
            </a:pPr>
            <a:r>
              <a:rPr lang="en-US" b="1" dirty="0"/>
              <a:t>Opening Framing:</a:t>
            </a:r>
            <a:r>
              <a:rPr lang="en-US" dirty="0"/>
              <a:t> Welcome everyone. Today we are looking at how artificial intelligence is moving beyond a productivity tool and fundamentally reshaping investment management, knowledge work, and macroeconomics.</a:t>
            </a:r>
          </a:p>
          <a:p>
            <a:pPr marL="171450" indent="-171450">
              <a:buFont typeface="Arial" panose="020B0604020202020204" pitchFamily="34" charset="0"/>
              <a:buChar char="•"/>
            </a:pPr>
            <a:r>
              <a:rPr lang="en-US" b="1" dirty="0"/>
              <a:t>Source Context:</a:t>
            </a:r>
            <a:r>
              <a:rPr lang="en-US" dirty="0"/>
              <a:t> This deck synthesizes key frameworks from Howard Marks’ Oaktree Capital memo, </a:t>
            </a:r>
            <a:r>
              <a:rPr lang="en-US" i="1" dirty="0"/>
              <a:t>"AI Hurtles Ahead"</a:t>
            </a:r>
            <a:r>
              <a:rPr lang="en-US" dirty="0"/>
              <a:t>.</a:t>
            </a:r>
          </a:p>
          <a:p>
            <a:pPr marL="171450" indent="-171450">
              <a:buFont typeface="Arial" panose="020B0604020202020204" pitchFamily="34" charset="0"/>
              <a:buChar char="•"/>
            </a:pPr>
            <a:r>
              <a:rPr lang="en-US" b="1" dirty="0"/>
              <a:t>Core Thesis:</a:t>
            </a:r>
            <a:r>
              <a:rPr lang="en-US" dirty="0"/>
              <a:t> The main thesis here is straightforward: AI is not merely optimizing human labor—it is replacing cognitive tasks entirely and compressing decades of technological adoption into a matter of months.</a:t>
            </a:r>
          </a:p>
          <a:p>
            <a:pPr marL="171450" indent="-171450">
              <a:buFont typeface="Arial" panose="020B0604020202020204" pitchFamily="34" charset="0"/>
              <a:buChar char="•"/>
            </a:pPr>
            <a:r>
              <a:rPr lang="en-US" b="1" dirty="0"/>
              <a:t>Roadmap:</a:t>
            </a:r>
            <a:r>
              <a:rPr lang="en-US" dirty="0"/>
              <a:t> We will examine the cognitive mechanisms behind AI, its speed of adoption, the transition to autonomous agents, the boundaries of machine cognition, and what all of this means for generating investment alpha.</a:t>
            </a:r>
          </a:p>
          <a:p>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1</a:t>
            </a:fld>
            <a:endParaRPr lang="en-US"/>
          </a:p>
        </p:txBody>
      </p:sp>
    </p:spTree>
    <p:extLst>
      <p:ext uri="{BB962C8B-B14F-4D97-AF65-F5344CB8AC3E}">
        <p14:creationId xmlns:p14="http://schemas.microsoft.com/office/powerpoint/2010/main" val="3439547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Addressing the Misunderstanding:</a:t>
            </a:r>
            <a:r>
              <a:rPr lang="en-US" sz="1200" kern="1200" dirty="0">
                <a:solidFill>
                  <a:schemeClr val="tx1"/>
                </a:solidFill>
                <a:effectLst/>
                <a:latin typeface="+mn-lt"/>
                <a:ea typeface="+mn-ea"/>
                <a:cs typeface="+mn-cs"/>
              </a:rPr>
              <a:t> Many people still treat Large Language Models like an upgraded Google search box—a tool that fetches stored data and regurgitates it. That is an obsolete mental model.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Search vs. Generative Processing:</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Search/Retrieval:</a:t>
            </a:r>
            <a:r>
              <a:rPr lang="en-US" sz="1200" kern="1200" dirty="0">
                <a:solidFill>
                  <a:schemeClr val="tx1"/>
                </a:solidFill>
                <a:effectLst/>
                <a:latin typeface="+mn-lt"/>
                <a:ea typeface="+mn-ea"/>
                <a:cs typeface="+mn-cs"/>
              </a:rPr>
              <a:t> Indexes data and returns existing links or documents based on matching parameters.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Generative AI:</a:t>
            </a:r>
            <a:r>
              <a:rPr lang="en-US" sz="1200" kern="1200" dirty="0">
                <a:solidFill>
                  <a:schemeClr val="tx1"/>
                </a:solidFill>
                <a:effectLst/>
                <a:latin typeface="+mn-lt"/>
                <a:ea typeface="+mn-ea"/>
                <a:cs typeface="+mn-cs"/>
              </a:rPr>
              <a:t> Takes input parameters, identifies underlying relationships and context, and runs it through a synthesis and reasoning engine to produce </a:t>
            </a:r>
            <a:r>
              <a:rPr lang="en-US" sz="1200" i="1" kern="1200" dirty="0">
                <a:solidFill>
                  <a:schemeClr val="tx1"/>
                </a:solidFill>
                <a:effectLst/>
                <a:latin typeface="+mn-lt"/>
                <a:ea typeface="+mn-ea"/>
                <a:cs typeface="+mn-cs"/>
              </a:rPr>
              <a:t>novel output</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Defining "Generative":</a:t>
            </a:r>
            <a:r>
              <a:rPr lang="en-US" sz="1200" kern="1200" dirty="0">
                <a:solidFill>
                  <a:schemeClr val="tx1"/>
                </a:solidFill>
                <a:effectLst/>
                <a:latin typeface="+mn-lt"/>
                <a:ea typeface="+mn-ea"/>
                <a:cs typeface="+mn-cs"/>
              </a:rPr>
              <a:t> Generative does not mean copying; it means creating original code, structured arguments, or analytical summaries that resemble training data patterns without directly copying them.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Takeaway for the Audience:</a:t>
            </a:r>
            <a:r>
              <a:rPr lang="en-US" sz="1200" kern="1200" dirty="0">
                <a:solidFill>
                  <a:schemeClr val="tx1"/>
                </a:solidFill>
                <a:effectLst/>
                <a:latin typeface="+mn-lt"/>
                <a:ea typeface="+mn-ea"/>
                <a:cs typeface="+mn-cs"/>
              </a:rPr>
              <a:t> When evaluating AI’s role in business, do not ask "What database can it search?" Ask "What analytical synthesis can it perform?"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2</a:t>
            </a:fld>
            <a:endParaRPr lang="en-US"/>
          </a:p>
        </p:txBody>
      </p:sp>
    </p:spTree>
    <p:extLst>
      <p:ext uri="{BB962C8B-B14F-4D97-AF65-F5344CB8AC3E}">
        <p14:creationId xmlns:p14="http://schemas.microsoft.com/office/powerpoint/2010/main" val="2841081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1 — Training (Teaching How to Think):</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common misconception is that training is simply "loading facts" into a database.</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As Howard Marks points out, training is about teaching the model </a:t>
            </a:r>
            <a:r>
              <a:rPr lang="en-US" sz="1200" i="1" kern="1200" dirty="0">
                <a:solidFill>
                  <a:schemeClr val="tx1"/>
                </a:solidFill>
                <a:effectLst/>
                <a:latin typeface="+mn-lt"/>
                <a:ea typeface="+mn-ea"/>
                <a:cs typeface="+mn-cs"/>
              </a:rPr>
              <a:t>how to think</a:t>
            </a:r>
            <a:r>
              <a:rPr lang="en-US" sz="1200" kern="1200" dirty="0">
                <a:solidFill>
                  <a:schemeClr val="tx1"/>
                </a:solidFill>
                <a:effectLst/>
                <a:latin typeface="+mn-lt"/>
                <a:ea typeface="+mn-ea"/>
                <a:cs typeface="+mn-cs"/>
              </a:rPr>
              <a:t>. By ingesting trillions of parameters, it absorbs reasoning patterns, argument structures, and logical frameworks to apply to unseen situations.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2 — Inference (Execution):</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Inference is the operational engine where prompts trigger action. The model uses its trained reasoning structure to solve the specific request given by the user.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Bottleneck (Prompt Engineering):</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 critical insight from the memo: The current limit on AI output is rarely the capability of the underlying model—it is the user’s inability to write clear, comprehensive prompts.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better the prompt's instructions and parameters, the closer the output gets to institutional-grade execution.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3</a:t>
            </a:fld>
            <a:endParaRPr lang="en-US"/>
          </a:p>
        </p:txBody>
      </p:sp>
    </p:spTree>
    <p:extLst>
      <p:ext uri="{BB962C8B-B14F-4D97-AF65-F5344CB8AC3E}">
        <p14:creationId xmlns:p14="http://schemas.microsoft.com/office/powerpoint/2010/main" val="544082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Philosophical vs. Economic Argument: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Skeptics argue that AI isn't "truly conscious" or "really thinking"—it is just statistical pattern matching and next-token prediction.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Comparing Cognitive Development: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Human brains start as blank slates and develop reasoning by absorbing environmental stimuli over decades.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AI starts as an untrained model and develops reasoning capabilities by absorbing trillions of tokens of human text.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Economic Reality:</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From a capital-allocation perspective, the philosophical debate over machine consciousness is irrelevant.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If an AI model can reliably deliver the work product of a $200,000-a-year research associate in seconds for pennies, the market does not care if it is "thinking" or "pattern matching"—it only cares whether the work gets done reliably.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4</a:t>
            </a:fld>
            <a:endParaRPr lang="en-US"/>
          </a:p>
        </p:txBody>
      </p:sp>
    </p:spTree>
    <p:extLst>
      <p:ext uri="{BB962C8B-B14F-4D97-AF65-F5344CB8AC3E}">
        <p14:creationId xmlns:p14="http://schemas.microsoft.com/office/powerpoint/2010/main" val="3250829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Historical Velocity:</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ENIAC computer was built in 1945. It took nearly 40 years—through microprocessors in the 70s—for the IBM PC to bring personal computing to general business and home use in the early 1980s.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Generative AI Explosion:</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 contrast, Generative AI went from early adoption to over 400 million active users and 75–80% corporate penetration in under two years.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Supply vs. Demand Dynamics: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Past technological waves required building physical infrastructure before demand materialized.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AI is uniquely </a:t>
            </a:r>
            <a:r>
              <a:rPr lang="en-US" sz="1200" i="1" kern="1200" dirty="0">
                <a:solidFill>
                  <a:schemeClr val="tx1"/>
                </a:solidFill>
                <a:effectLst/>
                <a:latin typeface="+mn-lt"/>
                <a:ea typeface="+mn-ea"/>
                <a:cs typeface="+mn-cs"/>
              </a:rPr>
              <a:t>supply-constrained</a:t>
            </a:r>
            <a:r>
              <a:rPr lang="en-US" sz="1200" kern="1200" dirty="0">
                <a:solidFill>
                  <a:schemeClr val="tx1"/>
                </a:solidFill>
                <a:effectLst/>
                <a:latin typeface="+mn-lt"/>
                <a:ea typeface="+mn-ea"/>
                <a:cs typeface="+mn-cs"/>
              </a:rPr>
              <a:t>. Demand for inference already outpaces available compute capacity, driving unprecedented infrastructure spending.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5</a:t>
            </a:fld>
            <a:endParaRPr lang="en-US"/>
          </a:p>
        </p:txBody>
      </p:sp>
    </p:spTree>
    <p:extLst>
      <p:ext uri="{BB962C8B-B14F-4D97-AF65-F5344CB8AC3E}">
        <p14:creationId xmlns:p14="http://schemas.microsoft.com/office/powerpoint/2010/main" val="3470248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1 — Chat AI:</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Informational Q&amp;A (e.g., standard ChatGPT or Claude queries).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Value:</a:t>
            </a:r>
            <a:r>
              <a:rPr lang="en-US" sz="1200" kern="1200" dirty="0">
                <a:solidFill>
                  <a:schemeClr val="tx1"/>
                </a:solidFill>
                <a:effectLst/>
                <a:latin typeface="+mn-lt"/>
                <a:ea typeface="+mn-ea"/>
                <a:cs typeface="+mn-cs"/>
              </a:rPr>
              <a:t> Saves baseline research and thinking time.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2 — Tool-Using AI:</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user instructs the model to execute specific workflows (e.g., search databases, run Python scripts, extract financial tables).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Value:</a:t>
            </a:r>
            <a:r>
              <a:rPr lang="en-US" sz="1200" kern="1200" dirty="0">
                <a:solidFill>
                  <a:schemeClr val="tx1"/>
                </a:solidFill>
                <a:effectLst/>
                <a:latin typeface="+mn-lt"/>
                <a:ea typeface="+mn-ea"/>
                <a:cs typeface="+mn-cs"/>
              </a:rPr>
              <a:t> Saves execution time, but requires continuous user direction.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3 — Autonomous Agents (The Current Frontier):</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user defines the objective and constraints; the AI executes the multi-step task, tests its own work, and delivers a completed project.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Economic Value Shift:</a:t>
            </a:r>
            <a:r>
              <a:rPr lang="en-US" sz="1200" kern="1200" dirty="0">
                <a:solidFill>
                  <a:schemeClr val="tx1"/>
                </a:solidFill>
                <a:effectLst/>
                <a:latin typeface="+mn-lt"/>
                <a:ea typeface="+mn-ea"/>
                <a:cs typeface="+mn-cs"/>
              </a:rPr>
              <a:t> Level 1 and 2 assist labor; Level 3 </a:t>
            </a:r>
            <a:r>
              <a:rPr lang="en-US" sz="1200" i="1" kern="1200" dirty="0">
                <a:solidFill>
                  <a:schemeClr val="tx1"/>
                </a:solidFill>
                <a:effectLst/>
                <a:latin typeface="+mn-lt"/>
                <a:ea typeface="+mn-ea"/>
                <a:cs typeface="+mn-cs"/>
              </a:rPr>
              <a:t>replaces</a:t>
            </a:r>
            <a:r>
              <a:rPr lang="en-US" sz="1200" kern="1200" dirty="0">
                <a:solidFill>
                  <a:schemeClr val="tx1"/>
                </a:solidFill>
                <a:effectLst/>
                <a:latin typeface="+mn-lt"/>
                <a:ea typeface="+mn-ea"/>
                <a:cs typeface="+mn-cs"/>
              </a:rPr>
              <a:t> labor at the task level.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6</a:t>
            </a:fld>
            <a:endParaRPr lang="en-US"/>
          </a:p>
        </p:txBody>
      </p:sp>
    </p:spTree>
    <p:extLst>
      <p:ext uri="{BB962C8B-B14F-4D97-AF65-F5344CB8AC3E}">
        <p14:creationId xmlns:p14="http://schemas.microsoft.com/office/powerpoint/2010/main" val="816322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Catalyst (February 2026):</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Models like GPT-5.3 Codex and Opus 4.6 represented a step-function jump from instruction-following to autonomous decision-making.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Three Key Breakthroughs: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Autonomous Iteration:</a:t>
            </a:r>
            <a:r>
              <a:rPr lang="en-US" sz="1200" kern="1200" dirty="0">
                <a:solidFill>
                  <a:schemeClr val="tx1"/>
                </a:solidFill>
                <a:effectLst/>
                <a:latin typeface="+mn-lt"/>
                <a:ea typeface="+mn-ea"/>
                <a:cs typeface="+mn-cs"/>
              </a:rPr>
              <a:t> AI now writes tens of thousands of lines of code, spins up environments, tests features visually, and fixes bugs without human oversight.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Judgment &amp; Taste:</a:t>
            </a:r>
            <a:r>
              <a:rPr lang="en-US" sz="1200" kern="1200" dirty="0">
                <a:solidFill>
                  <a:schemeClr val="tx1"/>
                </a:solidFill>
                <a:effectLst/>
                <a:latin typeface="+mn-lt"/>
                <a:ea typeface="+mn-ea"/>
                <a:cs typeface="+mn-cs"/>
              </a:rPr>
              <a:t> Models display an implicit sense of design, tone, and strategic nuance ("knowing what the right call is").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Recursion:</a:t>
            </a:r>
            <a:r>
              <a:rPr lang="en-US" sz="1200" kern="1200" dirty="0">
                <a:solidFill>
                  <a:schemeClr val="tx1"/>
                </a:solidFill>
                <a:effectLst/>
                <a:latin typeface="+mn-lt"/>
                <a:ea typeface="+mn-ea"/>
                <a:cs typeface="+mn-cs"/>
              </a:rPr>
              <a:t> AI models are now actively participating in building, debugging, and deploying their own next-generation architectures.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7</a:t>
            </a:fld>
            <a:endParaRPr lang="en-US"/>
          </a:p>
        </p:txBody>
      </p:sp>
    </p:spTree>
    <p:extLst>
      <p:ext uri="{BB962C8B-B14F-4D97-AF65-F5344CB8AC3E}">
        <p14:creationId xmlns:p14="http://schemas.microsoft.com/office/powerpoint/2010/main" val="2728984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From Efficiency to Substitution:</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Level 1/2 tools make an analyst 20% more efficient, allowing firms to capture minor margin improvements.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Level 3 autonomous agents replace entire multi-step workflows, shifting 100% of the labor cost assigned to those tasks directly to AI compute infrastructure.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Macro Numbers: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 software development and financial services alone, this represents $150–$250 billion in annual labor compensation migrating directly into AI compute spend.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Globally, trillions of dollars in white-collar analytical payroll are exposed to this shift.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8</a:t>
            </a:fld>
            <a:endParaRPr lang="en-US"/>
          </a:p>
        </p:txBody>
      </p:sp>
    </p:spTree>
    <p:extLst>
      <p:ext uri="{BB962C8B-B14F-4D97-AF65-F5344CB8AC3E}">
        <p14:creationId xmlns:p14="http://schemas.microsoft.com/office/powerpoint/2010/main" val="826263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Where AI Struggles: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Novelty:</a:t>
            </a:r>
            <a:r>
              <a:rPr lang="en-US" sz="1200" kern="1200" dirty="0">
                <a:solidFill>
                  <a:schemeClr val="tx1"/>
                </a:solidFill>
                <a:effectLst/>
                <a:latin typeface="+mn-lt"/>
                <a:ea typeface="+mn-ea"/>
                <a:cs typeface="+mn-cs"/>
              </a:rPr>
              <a:t> AI relies on historical training patterns. In unprecedented economic crises or black-swan events, it lacks empirical precedent to guide decisions.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Hallucinations:</a:t>
            </a:r>
            <a:r>
              <a:rPr lang="en-US" sz="1200" kern="1200" dirty="0">
                <a:solidFill>
                  <a:schemeClr val="tx1"/>
                </a:solidFill>
                <a:effectLst/>
                <a:latin typeface="+mn-lt"/>
                <a:ea typeface="+mn-ea"/>
                <a:cs typeface="+mn-cs"/>
              </a:rPr>
              <a:t> Models are trained to provide answers and may assert false conclusions rather than easily admit ignorance.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Context Window Limits:</a:t>
            </a:r>
            <a:r>
              <a:rPr lang="en-US" sz="1200" kern="1200" dirty="0">
                <a:solidFill>
                  <a:schemeClr val="tx1"/>
                </a:solidFill>
                <a:effectLst/>
                <a:latin typeface="+mn-lt"/>
                <a:ea typeface="+mn-ea"/>
                <a:cs typeface="+mn-cs"/>
              </a:rPr>
              <a:t> Working memory remains finite.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Balanced Reality:</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While AI is not infallible, its baseline processing accuracy, speed, and memory far exceed the average human's data-handling capacity.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9</a:t>
            </a:fld>
            <a:endParaRPr lang="en-US"/>
          </a:p>
        </p:txBody>
      </p:sp>
    </p:spTree>
    <p:extLst>
      <p:ext uri="{BB962C8B-B14F-4D97-AF65-F5344CB8AC3E}">
        <p14:creationId xmlns:p14="http://schemas.microsoft.com/office/powerpoint/2010/main" val="2946613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AI's Domain (Quant &amp; Patterns):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Quantitative processing, data aggregation, and objective pattern recognition belong entirely to AI. It operates without fear, greed, or fatigue.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Human Domain (Qualitative &amp; Risk):</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Qualitative Factors:</a:t>
            </a:r>
            <a:r>
              <a:rPr lang="en-US" sz="1200" kern="1200" dirty="0">
                <a:solidFill>
                  <a:schemeClr val="tx1"/>
                </a:solidFill>
                <a:effectLst/>
                <a:latin typeface="+mn-lt"/>
                <a:ea typeface="+mn-ea"/>
                <a:cs typeface="+mn-cs"/>
              </a:rPr>
              <a:t> Assessing management integrity, corporate culture, and strategic adaptability.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Unprecedented Scenarios:</a:t>
            </a:r>
            <a:r>
              <a:rPr lang="en-US" sz="1200" kern="1200" dirty="0">
                <a:solidFill>
                  <a:schemeClr val="tx1"/>
                </a:solidFill>
                <a:effectLst/>
                <a:latin typeface="+mn-lt"/>
                <a:ea typeface="+mn-ea"/>
                <a:cs typeface="+mn-cs"/>
              </a:rPr>
              <a:t> Navigating novel, high-uncertainty market regimes.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Skin in the Game:</a:t>
            </a:r>
            <a:r>
              <a:rPr lang="en-US" sz="1200" kern="1200" dirty="0">
                <a:solidFill>
                  <a:schemeClr val="tx1"/>
                </a:solidFill>
                <a:effectLst/>
                <a:latin typeface="+mn-lt"/>
                <a:ea typeface="+mn-ea"/>
                <a:cs typeface="+mn-cs"/>
              </a:rPr>
              <a:t> AI feels no psychological pressure or fear of capital loss. Human investors bear real responsibility for downside risk.</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10</a:t>
            </a:fld>
            <a:endParaRPr lang="en-US"/>
          </a:p>
        </p:txBody>
      </p:sp>
    </p:spTree>
    <p:extLst>
      <p:ext uri="{BB962C8B-B14F-4D97-AF65-F5344CB8AC3E}">
        <p14:creationId xmlns:p14="http://schemas.microsoft.com/office/powerpoint/2010/main" val="2865859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Formula:</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Commoditized Quant + Qualitative Premium = True Alpha</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Death of Traditional Quant Advantage: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Relying solely on historical financial models or fast data processing no longer generates excess returns. AI commoditizes public information analysis instantly.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Raising the Active Management Bar:</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Outperformance now requires checking AI's hypotheses for sanity, probing qualitative management claims, and exercising intuitive judgment when data is incomplete.</a:t>
            </a:r>
          </a:p>
          <a:p>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11</a:t>
            </a:fld>
            <a:endParaRPr lang="en-US"/>
          </a:p>
        </p:txBody>
      </p:sp>
    </p:spTree>
    <p:extLst>
      <p:ext uri="{BB962C8B-B14F-4D97-AF65-F5344CB8AC3E}">
        <p14:creationId xmlns:p14="http://schemas.microsoft.com/office/powerpoint/2010/main" val="3252115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Real Fundamentals (Why it's not purely a bubble):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High enterprise adoption and real revenue generation. Capital spending is driven by immediate inference demand, supported by massive cash flows from tech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Bubble Risks (Where caution is needed):</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Circular Revenue:</a:t>
            </a:r>
            <a:r>
              <a:rPr lang="en-US" sz="1200" kern="1200" dirty="0">
                <a:solidFill>
                  <a:schemeClr val="tx1"/>
                </a:solidFill>
                <a:effectLst/>
                <a:latin typeface="+mn-lt"/>
                <a:ea typeface="+mn-ea"/>
                <a:cs typeface="+mn-cs"/>
              </a:rPr>
              <a:t> AI companies funding AI startups that spend cash buying compute back from the parent firm.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Pre-Product Valuations:</a:t>
            </a:r>
            <a:r>
              <a:rPr lang="en-US" sz="1200" kern="1200" dirty="0">
                <a:solidFill>
                  <a:schemeClr val="tx1"/>
                </a:solidFill>
                <a:effectLst/>
                <a:latin typeface="+mn-lt"/>
                <a:ea typeface="+mn-ea"/>
                <a:cs typeface="+mn-cs"/>
              </a:rPr>
              <a:t> Startup valuations pricing in flawless execution.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Infrastructure Overshoot:</a:t>
            </a:r>
            <a:r>
              <a:rPr lang="en-US" sz="1200" kern="1200" dirty="0">
                <a:solidFill>
                  <a:schemeClr val="tx1"/>
                </a:solidFill>
                <a:effectLst/>
                <a:latin typeface="+mn-lt"/>
                <a:ea typeface="+mn-ea"/>
                <a:cs typeface="+mn-cs"/>
              </a:rPr>
              <a:t> Buildouts occasionally outpacing near-term demand software cycles.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12</a:t>
            </a:fld>
            <a:endParaRPr lang="en-US"/>
          </a:p>
        </p:txBody>
      </p:sp>
    </p:spTree>
    <p:extLst>
      <p:ext uri="{BB962C8B-B14F-4D97-AF65-F5344CB8AC3E}">
        <p14:creationId xmlns:p14="http://schemas.microsoft.com/office/powerpoint/2010/main" val="23445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Core Dilemma:</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AI is an accelerating technological wave moving faster than institutional adaptation.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Managing Portfolio Risk:</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Going All-In:</a:t>
            </a:r>
            <a:r>
              <a:rPr lang="en-US" sz="1200" kern="1200" dirty="0">
                <a:solidFill>
                  <a:schemeClr val="tx1"/>
                </a:solidFill>
                <a:effectLst/>
                <a:latin typeface="+mn-lt"/>
                <a:ea typeface="+mn-ea"/>
                <a:cs typeface="+mn-cs"/>
              </a:rPr>
              <a:t> Risks severe capital loss if valuation multiples compress or infrastructure spending overshoots.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Staying All-Out:</a:t>
            </a:r>
            <a:r>
              <a:rPr lang="en-US" sz="1200" kern="1200" dirty="0">
                <a:solidFill>
                  <a:schemeClr val="tx1"/>
                </a:solidFill>
                <a:effectLst/>
                <a:latin typeface="+mn-lt"/>
                <a:ea typeface="+mn-ea"/>
                <a:cs typeface="+mn-cs"/>
              </a:rPr>
              <a:t> Guarantees missing out on a generational restructuring of productivity and wealth creation.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Adopt a disciplined, selective posture—investing in durable, cash-flow-backed AI enablers while avoiding unproven, hype-driven software valuations.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13</a:t>
            </a:fld>
            <a:endParaRPr lang="en-US"/>
          </a:p>
        </p:txBody>
      </p:sp>
    </p:spTree>
    <p:extLst>
      <p:ext uri="{BB962C8B-B14F-4D97-AF65-F5344CB8AC3E}">
        <p14:creationId xmlns:p14="http://schemas.microsoft.com/office/powerpoint/2010/main" val="555814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Summary of Strategic Implications:</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Level 3 Shift:</a:t>
            </a:r>
            <a:r>
              <a:rPr lang="en-US" sz="1200" kern="1200" dirty="0">
                <a:solidFill>
                  <a:schemeClr val="tx1"/>
                </a:solidFill>
                <a:effectLst/>
                <a:latin typeface="+mn-lt"/>
                <a:ea typeface="+mn-ea"/>
                <a:cs typeface="+mn-cs"/>
              </a:rPr>
              <a:t> Autonomous agents shift AI from a productivity helper to direct labor substitution. </a:t>
            </a:r>
          </a:p>
          <a:p>
            <a:pPr marL="685800" lvl="1" indent="-228600">
              <a:buFont typeface="+mj-lt"/>
              <a:buAutoNum type="arabicPeriod"/>
            </a:pPr>
            <a:r>
              <a:rPr lang="en-US" sz="1200" b="1" kern="1200" dirty="0">
                <a:solidFill>
                  <a:schemeClr val="tx1"/>
                </a:solidFill>
                <a:effectLst/>
                <a:latin typeface="+mn-lt"/>
                <a:ea typeface="+mn-ea"/>
                <a:cs typeface="+mn-cs"/>
              </a:rPr>
              <a:t>Adoption Rate:</a:t>
            </a:r>
            <a:r>
              <a:rPr lang="en-US" sz="1200" kern="1200" dirty="0">
                <a:solidFill>
                  <a:schemeClr val="tx1"/>
                </a:solidFill>
                <a:effectLst/>
                <a:latin typeface="+mn-lt"/>
                <a:ea typeface="+mn-ea"/>
                <a:cs typeface="+mn-cs"/>
              </a:rPr>
              <a:t> Adoption speed is unprecedented compared to traditional IT cycles. </a:t>
            </a:r>
          </a:p>
          <a:p>
            <a:pPr marL="685800" lvl="1" indent="-228600">
              <a:buFont typeface="+mj-lt"/>
              <a:buAutoNum type="arabicPeriod"/>
            </a:pPr>
            <a:r>
              <a:rPr lang="en-US" sz="1200" b="1" kern="1200" dirty="0">
                <a:solidFill>
                  <a:schemeClr val="tx1"/>
                </a:solidFill>
                <a:effectLst/>
                <a:latin typeface="+mn-lt"/>
                <a:ea typeface="+mn-ea"/>
                <a:cs typeface="+mn-cs"/>
              </a:rPr>
              <a:t>Investment Alpha:</a:t>
            </a:r>
            <a:r>
              <a:rPr lang="en-US" sz="1200" kern="1200" dirty="0">
                <a:solidFill>
                  <a:schemeClr val="tx1"/>
                </a:solidFill>
                <a:effectLst/>
                <a:latin typeface="+mn-lt"/>
                <a:ea typeface="+mn-ea"/>
                <a:cs typeface="+mn-cs"/>
              </a:rPr>
              <a:t> Fundamental analysis is moving away from quantitative data crunching toward qualitative evaluation and handling unprecedented situations.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Final Closing Thought:</a:t>
            </a:r>
            <a:r>
              <a:rPr lang="en-US" sz="1200" kern="1200" dirty="0">
                <a:solidFill>
                  <a:schemeClr val="tx1"/>
                </a:solidFill>
                <a:effectLst/>
                <a:latin typeface="+mn-lt"/>
                <a:ea typeface="+mn-ea"/>
                <a:cs typeface="+mn-cs"/>
              </a:rPr>
              <a:t> Focus on where human judgment creates value alongside machine intelligence rather than trying to compete on raw processing power.</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3A3062DD-439D-4831-9D8D-5E5FF4F72CBD}" type="slidenum">
              <a:rPr lang="en-US" smtClean="0"/>
              <a:t>14</a:t>
            </a:fld>
            <a:endParaRPr lang="en-US"/>
          </a:p>
        </p:txBody>
      </p:sp>
    </p:spTree>
    <p:extLst>
      <p:ext uri="{BB962C8B-B14F-4D97-AF65-F5344CB8AC3E}">
        <p14:creationId xmlns:p14="http://schemas.microsoft.com/office/powerpoint/2010/main" val="202683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AEE589-DDA8-AA72-EBAF-4893C987614E}"/>
              </a:ext>
            </a:extLst>
          </p:cNvPr>
          <p:cNvSpPr>
            <a:spLocks noGrp="1"/>
          </p:cNvSpPr>
          <p:nvPr>
            <p:ph type="dt" sz="half" idx="10"/>
          </p:nvPr>
        </p:nvSpPr>
        <p:spPr/>
        <p:txBody>
          <a:bodyPr/>
          <a:lstStyle/>
          <a:p>
            <a:fld id="{837476C8-1F13-427F-864C-8F4650992EC9}" type="datetimeFigureOut">
              <a:rPr lang="en-US" smtClean="0"/>
              <a:t>10/19/2026</a:t>
            </a:fld>
            <a:endParaRPr lang="en-US"/>
          </a:p>
        </p:txBody>
      </p:sp>
      <p:sp>
        <p:nvSpPr>
          <p:cNvPr id="3" name="Footer Placeholder 2">
            <a:extLst>
              <a:ext uri="{FF2B5EF4-FFF2-40B4-BE49-F238E27FC236}">
                <a16:creationId xmlns:a16="http://schemas.microsoft.com/office/drawing/2014/main" id="{04860061-4CFA-E041-CEB6-1291C7B411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F27D47-CD25-3499-4DA1-7398FA305587}"/>
              </a:ext>
            </a:extLst>
          </p:cNvPr>
          <p:cNvSpPr>
            <a:spLocks noGrp="1"/>
          </p:cNvSpPr>
          <p:nvPr>
            <p:ph type="sldNum" sz="quarter" idx="12"/>
          </p:nvPr>
        </p:nvSpPr>
        <p:spPr/>
        <p:txBody>
          <a:bodyPr/>
          <a:lstStyle/>
          <a:p>
            <a:fld id="{32D7BB32-4E0A-4C0E-AEC7-2A87EBFC8931}" type="slidenum">
              <a:rPr lang="en-US" smtClean="0"/>
              <a:t>‹#›</a:t>
            </a:fld>
            <a:endParaRPr lang="en-US"/>
          </a:p>
        </p:txBody>
      </p:sp>
    </p:spTree>
    <p:extLst>
      <p:ext uri="{BB962C8B-B14F-4D97-AF65-F5344CB8AC3E}">
        <p14:creationId xmlns:p14="http://schemas.microsoft.com/office/powerpoint/2010/main" val="27684395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C3E4F1-3DE6-4212-A44E-22C242664D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2F7A2-A6BC-CFF4-E81F-1468F98FCF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90C60-5895-9BF4-39C4-DD248A8B8B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7476C8-1F13-427F-864C-8F4650992EC9}" type="datetimeFigureOut">
              <a:rPr lang="en-US" smtClean="0"/>
              <a:t>10/19/2026</a:t>
            </a:fld>
            <a:endParaRPr lang="en-US"/>
          </a:p>
        </p:txBody>
      </p:sp>
      <p:sp>
        <p:nvSpPr>
          <p:cNvPr id="5" name="Footer Placeholder 4">
            <a:extLst>
              <a:ext uri="{FF2B5EF4-FFF2-40B4-BE49-F238E27FC236}">
                <a16:creationId xmlns:a16="http://schemas.microsoft.com/office/drawing/2014/main" id="{D3EAAC76-4BB8-9D4B-86F6-AACA9B5962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3A8728-B2E0-B197-D37A-1EB4745C07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D7BB32-4E0A-4C0E-AEC7-2A87EBFC8931}" type="slidenum">
              <a:rPr lang="en-US" smtClean="0"/>
              <a:t>‹#›</a:t>
            </a:fld>
            <a:endParaRPr lang="en-US"/>
          </a:p>
        </p:txBody>
      </p:sp>
    </p:spTree>
    <p:extLst>
      <p:ext uri="{BB962C8B-B14F-4D97-AF65-F5344CB8AC3E}">
        <p14:creationId xmlns:p14="http://schemas.microsoft.com/office/powerpoint/2010/main" val="131479341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9EDDEE-2355-1E7B-FF79-E0A4A08AC6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E70899-E63A-65A9-67D6-D963C60D2E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27C29C-0BBD-CA1A-808E-AB5537F53D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CDEB99-34E6-9DB6-EE6F-4BFDECF8B5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EA7F0B-261B-A9C6-C5AA-8DA451107B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FF8EF2-6CC0-811A-6D51-EB2E0D503A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33E908-F983-9265-DA44-4ED7C34786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3F229C-855D-91ED-B31A-5C7D724104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421303-271B-F89C-3863-9E63866EE0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C988CA-7DE9-BD8D-B503-49D4BD57B3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FF3C6B-2627-0C2B-4210-EE64B8E6A9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EC9F96-37C2-DB91-8C2D-386AD4C133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F0B581-022F-4787-18CB-5F1C81DB0B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3E46C1-7DC6-4AAB-EC2C-D72538471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763470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1507</Words>
  <Application>Microsoft Office PowerPoint</Application>
  <PresentationFormat>寬螢幕</PresentationFormat>
  <Paragraphs>105</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2026-07-22T14:10:56Z</dcterms:created>
  <dcterms:modified xsi:type="dcterms:W3CDTF">2026-10-19T14:33:03Z</dcterms:modified>
</cp:coreProperties>
</file>