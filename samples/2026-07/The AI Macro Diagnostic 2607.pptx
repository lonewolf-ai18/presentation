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6A4AF4-E90A-4DFE-8705-22861DED3CD3}" v="19" dt="2026-07-30T14:16:47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124" autoAdjust="0"/>
    <p:restoredTop sz="93447" autoAdjust="0"/>
  </p:normalViewPr>
  <p:slideViewPr>
    <p:cSldViewPr snapToGrid="0">
      <p:cViewPr varScale="1">
        <p:scale>
          <a:sx n="60" d="100"/>
          <a:sy n="60" d="100"/>
        </p:scale>
        <p:origin x="102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">
      <pc:chgData name="Lai, Wilson" userId="2840974a-0d84-4886-90a9-9a3ed79f3a48" providerId="ADAL" clId="{9F23B798-9E84-4552-BA63-E776E805C424}" dt="2026-07-30T14:16:51.544" v="92" actId="1076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7-30T14:16:51.544" v="92" actId="107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7-30T14:16:47.075" v="91" actId="164"/>
          <ac:spMkLst>
            <pc:docMk/>
            <pc:sldMk cId="0" sldId="257"/>
            <ac:spMk id="5" creationId="{6BECE631-C051-742A-5F02-B1EA84356472}"/>
          </ac:spMkLst>
        </pc:spChg>
        <pc:grpChg chg="add mod">
          <ac:chgData name="Lai, Wilson" userId="2840974a-0d84-4886-90a9-9a3ed79f3a48" providerId="ADAL" clId="{9F23B798-9E84-4552-BA63-E776E805C424}" dt="2026-07-30T14:16:51.544" v="92" actId="1076"/>
          <ac:grpSpMkLst>
            <pc:docMk/>
            <pc:sldMk cId="0" sldId="257"/>
            <ac:grpSpMk id="6" creationId="{6A023109-13E9-2B1D-0E10-B58BCD62BBC3}"/>
          </ac:grpSpMkLst>
        </pc:grpChg>
        <pc:picChg chg="del">
          <ac:chgData name="Lai, Wilson" userId="2840974a-0d84-4886-90a9-9a3ed79f3a48" providerId="ADAL" clId="{9F23B798-9E84-4552-BA63-E776E805C424}" dt="2026-07-30T13:53:58.825" v="0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7-30T14:16:47.075" v="91" actId="164"/>
          <ac:picMkLst>
            <pc:docMk/>
            <pc:sldMk cId="0" sldId="257"/>
            <ac:picMk id="2" creationId="{6F717E1F-3886-1DE7-1B9C-DD7914357617}"/>
          </ac:picMkLst>
        </pc:picChg>
        <pc:picChg chg="add">
          <ac:chgData name="Lai, Wilson" userId="2840974a-0d84-4886-90a9-9a3ed79f3a48" providerId="ADAL" clId="{9F23B798-9E84-4552-BA63-E776E805C424}" dt="2026-07-30T13:54:06.629" v="1" actId="22"/>
          <ac:picMkLst>
            <pc:docMk/>
            <pc:sldMk cId="0" sldId="257"/>
            <ac:picMk id="4" creationId="{F1FA16BB-8BF1-7278-3468-2015B46480A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3:59:43.478" v="36" actId="1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7-30T13:54:08.873" v="2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4:21.183" v="3" actId="22"/>
          <ac:picMkLst>
            <pc:docMk/>
            <pc:sldMk cId="0" sldId="258"/>
            <ac:picMk id="4" creationId="{991FC571-34D7-2B86-38F1-A17D9C593EE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0:11.970" v="39" actId="1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7-30T13:54:27.545" v="4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4:34.830" v="5" actId="22"/>
          <ac:picMkLst>
            <pc:docMk/>
            <pc:sldMk cId="0" sldId="259"/>
            <ac:picMk id="4" creationId="{9FC47FD1-C689-759A-0A86-FCEC57507ED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0:37.440" v="42" actId="1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7-30T13:54:39.423" v="6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4:47.497" v="7" actId="22"/>
          <ac:picMkLst>
            <pc:docMk/>
            <pc:sldMk cId="0" sldId="260"/>
            <ac:picMk id="4" creationId="{665FC01B-7227-DAC3-4138-377973332DD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0:54.710" v="44" actId="15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7-30T13:54:57.507" v="8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5:06.022" v="9" actId="22"/>
          <ac:picMkLst>
            <pc:docMk/>
            <pc:sldMk cId="0" sldId="261"/>
            <ac:picMk id="4" creationId="{3B2784F0-054F-132D-7E77-BE9CC77BB10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1:10.944" v="47" actId="1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7-30T13:55:07.624" v="10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5:16.401" v="11" actId="22"/>
          <ac:picMkLst>
            <pc:docMk/>
            <pc:sldMk cId="0" sldId="262"/>
            <ac:picMk id="4" creationId="{F32A5C30-5C15-8991-47FC-8841825A964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1:24.977" v="48" actId="1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7-30T13:55:18.023" v="12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5:26.332" v="13" actId="22"/>
          <ac:picMkLst>
            <pc:docMk/>
            <pc:sldMk cId="0" sldId="263"/>
            <ac:picMk id="4" creationId="{817422B6-FFA3-1781-93EC-DB61C575DC1D}"/>
          </ac:picMkLst>
        </pc:picChg>
      </pc:sldChg>
      <pc:sldChg chg="addSp delSp modSp mod modNotesTx">
        <pc:chgData name="Lai, Wilson" userId="2840974a-0d84-4886-90a9-9a3ed79f3a48" providerId="ADAL" clId="{9F23B798-9E84-4552-BA63-E776E805C424}" dt="2026-07-30T14:01:32.693" v="49" actId="12"/>
        <pc:sldMkLst>
          <pc:docMk/>
          <pc:sldMk cId="0" sldId="264"/>
        </pc:sldMkLst>
        <pc:picChg chg="del mod">
          <ac:chgData name="Lai, Wilson" userId="2840974a-0d84-4886-90a9-9a3ed79f3a48" providerId="ADAL" clId="{9F23B798-9E84-4552-BA63-E776E805C424}" dt="2026-07-30T13:55:27.871" v="15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5:36.522" v="16" actId="22"/>
          <ac:picMkLst>
            <pc:docMk/>
            <pc:sldMk cId="0" sldId="264"/>
            <ac:picMk id="4" creationId="{2907964D-F7EA-A743-BA58-A092B10DC0F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1:47.028" v="51" actId="15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7-30T13:55:38.511" v="17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5:47.932" v="18" actId="22"/>
          <ac:picMkLst>
            <pc:docMk/>
            <pc:sldMk cId="0" sldId="265"/>
            <ac:picMk id="4" creationId="{D7C83DF7-BAEE-8DD8-C280-350061C1B69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2:22.890" v="54" actId="14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7-30T13:55:50.120" v="19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5:59.081" v="20" actId="22"/>
          <ac:picMkLst>
            <pc:docMk/>
            <pc:sldMk cId="0" sldId="266"/>
            <ac:picMk id="4" creationId="{D3030676-9170-294F-23C0-BB41DF119C2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2:44.606" v="57" actId="14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7-30T13:56:01.189" v="21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6:08.552" v="22" actId="22"/>
          <ac:picMkLst>
            <pc:docMk/>
            <pc:sldMk cId="0" sldId="267"/>
            <ac:picMk id="4" creationId="{91BC152C-7B8C-5E56-FC7D-B110B681BF2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2:56.216" v="58" actId="1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7-30T13:56:10.668" v="23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6:18.221" v="24" actId="22"/>
          <ac:picMkLst>
            <pc:docMk/>
            <pc:sldMk cId="0" sldId="268"/>
            <ac:picMk id="4" creationId="{3CD65218-9ED9-4D57-8869-F8B24EA08E7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3:05.589" v="59" actId="1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7-30T13:56:20.120" v="25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6:27.248" v="26" actId="22"/>
          <ac:picMkLst>
            <pc:docMk/>
            <pc:sldMk cId="0" sldId="269"/>
            <ac:picMk id="4" creationId="{AD467B7D-E144-A26E-F7BF-8DEFADD5FC0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3:13.884" v="60" actId="1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7-30T13:56:30.916" v="27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6:39.617" v="28" actId="22"/>
          <ac:picMkLst>
            <pc:docMk/>
            <pc:sldMk cId="0" sldId="270"/>
            <ac:picMk id="4" creationId="{64919996-DA3B-7960-EDE0-8A18FF9B24B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3:44.696" v="78" actId="6549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7-30T13:56:44.351" v="29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13:56:54.174" v="30" actId="22"/>
          <ac:picMkLst>
            <pc:docMk/>
            <pc:sldMk cId="0" sldId="271"/>
            <ac:picMk id="4" creationId="{7BD40D4F-E925-96D8-DBDA-52EB57E615C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14:04:03.291" v="80" actId="15"/>
        <pc:sldMkLst>
          <pc:docMk/>
          <pc:sldMk cId="1544494505" sldId="272"/>
        </pc:sldMkLst>
        <pc:picChg chg="del">
          <ac:chgData name="Lai, Wilson" userId="2840974a-0d84-4886-90a9-9a3ed79f3a48" providerId="ADAL" clId="{9F23B798-9E84-4552-BA63-E776E805C424}" dt="2026-07-30T13:56:57.015" v="31" actId="21"/>
          <ac:picMkLst>
            <pc:docMk/>
            <pc:sldMk cId="1544494505" sldId="272"/>
            <ac:picMk id="3" creationId="{EEB4F305-80F2-6C93-56CA-191AA09DEF27}"/>
          </ac:picMkLst>
        </pc:picChg>
        <pc:picChg chg="add">
          <ac:chgData name="Lai, Wilson" userId="2840974a-0d84-4886-90a9-9a3ed79f3a48" providerId="ADAL" clId="{9F23B798-9E84-4552-BA63-E776E805C424}" dt="2026-07-30T13:57:07.186" v="32" actId="22"/>
          <ac:picMkLst>
            <pc:docMk/>
            <pc:sldMk cId="1544494505" sldId="272"/>
            <ac:picMk id="4" creationId="{145F6BDB-0932-26C6-297B-4DF8AFE404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DFCB0-B00A-4519-821D-344795062512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EDCAD-CF3A-4DE9-A108-5DF3420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7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https://www.youtube.com/watch?v=Bu0xNDLNORU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Welcome everyone. Today we present a global macro diagnostic based on the analytical framework developed by Ray Dalio, founder of Bridgewater Associates.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Throughout history, major financial crises and systemic shifts do not happen randomly; they follow clear mechanics.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Today, we examine how global debt cycles, technological disruption (specifically AI), and geopolitical shifts collide to shape asset markets and portfolio survival.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59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where we are going, we must study the mechanics of the past 500 years of economic cycles.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Ray Dalio founded Bridgewater Associates in 1975 and built it into the world's largest hedge fund.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 Record in Crises: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2008, when the S&amp;P 500 crashed by nearly 40%, Bridgewater generated a +9.5% return because they identified the debt mechanics leading up to the crash.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Methodology: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Macro diagnostics rely on objective, quantifiable data—such as debt levels, productivity metrics, wealth inequality, and reserve currency status—rather than emotion or consensus narrative.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1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"Big Cycle" lasts roughly a human lifetime (~80 years) and governs monetary, political, and geopolitical systems.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Phases of the Big Cycle: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Order &amp; Debt Restructuring: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Following a major crisis, debts are wiped clean, creating a new monetary order.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Prosperity &amp; Debt Accumulation: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Growth expands, leverage builds up, and wealth increases.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Gilded Age &amp; Wealth Gaps: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period of massive speculative wealth, where asset owners prosper while workers lag behind.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Decline &amp; Collapse [YOU ARE HERE]: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Characterized by extreme over-indebtedness, rising inflation pressures, political polarization, and declining hegemony.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Diagnosis: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are currently in the late-stage decline phase, characterized by heavy sovereign debt burdens and severe wealth disparities.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8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makes this moment exceptionally dangerous is not just one problem, but the simultaneous collision of three major fronts: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Financial Front: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Massive sovereign debt service burdens combined with an inflated speculative bubble in AI.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Front: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Widening wealth gaps driving extreme domestic political division between the Left and Right, creating gridlock and fiscal instability.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 Front: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fundamental shift in the geopolitical order as unipolar US hegemony gives way to regional power blocks.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Level: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EXTREME. When financial bubbles, internal civil friction, and external superpower rivalries align, systemic shifts occur.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52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Dual Nature of Tech Shifts: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asset or technology can be a miraculous productivity breakthrough and a catastrophic financial bubble at the exact same time.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Revolution: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will fundamentally alter human productivity by automating cognitive reasoning and mind-based labor.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Bubble Mechanics: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Skyrocketing demand where investors buy shares without regard to price or earnings.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Companies raising vast capital based on future promises rather than cash flow.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Heavy leverage and debt-fueled speculation.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Assets shifting into "weak hands"—unexperienced, heavily leveraged retail investors buying complex financial products or leveraged ETFs.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15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trace the mechanical chain reaction when a tech bubble pops: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Trigger: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Inflation forces central banks to raise interest rates and tighten monetary policy.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Squeeze: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Investors with heavy leverage suddenly face steep interest costs to service their debt.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Forced Selling: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meet debt obligations or margin calls, investors must convert paper wealth into real cash, triggering a rush to sell AI stocks.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Collateral Collapse: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asset values drop (e.g., from $100 to $25), net worth vanishes, wiping out borrowing capacity.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 Contagion: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People cut spending in the real economy, driving down corporate revenues, which causes layoffs and economic downturn.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17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UK serves as a real-time case study of late-stage cycle dynamics.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Symptom 1 (Political Volatility):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Having six Prime Ministers in seven years reflects political instability caused by an inability to deliver on economic promises.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Symptom 2 (Unfunded Deficits):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Heavily indebted governments running deficits without clear funding sources.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Symptom 3 (Capital Flight):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Debates over wealth taxes prompt high earners and capital to leave the jurisdiction.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Trap: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UK leadership faces a structural trap—raising taxes triggers capital flight, while cutting social benefits devastates the population. The result is eventual currency devaluation or debt restructuring.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38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post-WWII rules-based unipolar world order, backed by absolute US economic and military dominance, is fracturing into regional spheres.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China has emerged as a larger trading partner for most nations than the United States.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Non-Military Chokepoints: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Modern global power is exerted through economic leverage rather than direct warfare.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 (Taiwan Semiconductor Chokepoint):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simple 5-day blockade of semiconductor exports from Taiwan would crash global stock markets overnight without firing a shot, demonstrating the limits of traditional military deterrence.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28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evaluate asset classes through Dalio's macro diagnostic matrix: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Worst long-term holding. Inflation eats away purchasing power at ~3.5–4% annually, compounded by taxes on interest gains.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Stocks: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Crucial for capturing human productivity gains, but subject to severe bear markets (60–70% drawdowns during bubble bursts).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Government Bonds: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risk in inflationary environments due to yield locking.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Recommended 5–15% allocation. Non-printable, hard money immune to counterparty or sanction risk.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Bitcoin: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Digital hard money that cannot be printed, but carries volatility, regulatory tracking, and technological risks.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62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stepping into a historical paradigm shift in labor substitution: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Agricultural Era: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tractor replaced pure physical muscle power.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Industrial Era: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Factories and automation replaced assembly-line manual labor.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Revolution: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is automating cognitive functions—logical reasoning, analysis, coding, and information processing.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Unlike previous technological revolutions, AI directly targets white-collar, intellectual labor.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60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AI Replaces: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Standard coding, repetitive analysis, and routine intellectual tasks.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Human Edge: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Emotional Empathy &amp; Intuition: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Relationship building, deep empathy, and nuanced human connection.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ability to pivot quickly in rapidly shifting environments.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Partnership: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Operating as strategic directors who leverage AI tools to multiply output rather than competing against them.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History rewards those who adapt to change, not simply those who possess raw intelligence.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21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 Framework: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80-year cycle connects high debt levels, severe wealth inequality, and changing geopolitical orders.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Cash Trap: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Holding cash guarantees a steady loss of purchasing power to inflation.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 Assets: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Allocate 5% to 15% of a diversified portfolio to gold and non-printable hard money to shield against monetary instability.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Bubble Dynamics: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Speculation and debt push stock valuations into weak hands before higher interest rates trigger liquidations.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 Capital: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ultimate investment is adaptable human capital—mastering AI tools to remain in the top tier of talent.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9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over 60% of US adults have indirect exposure to stocks through retirement funds, ownership is deeply concentrated.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Concentration Ratio: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top 10% of households hold roughly 90% of all US stock wealth.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During market booms, asset inflation overwhelmingly expands wealth for top capital owners while leaving the bottom 90% behind, widening societal inequality.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41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long-term debt cycles reach their peak and bubbles burst, standard asset drawdowns are significant.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bear markets following major speculative bubbles (such as 1929 or 2000) see equities plunge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to 70%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peak valuations.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management and portfolio diversification are essential to protect capital during these cyclical busts.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76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should individuals prepare for economic turbulence?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 on Personal Productivity: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Your primary asset is your adaptability and skill set.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Strategic Reserves: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Measure how many months or years you can sustain your family without incoming income.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 Allocation: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Balance volatile equities with real assets, housing, and hard money (e.g., gold) to protect purchasing power.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 AI Capabilities: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Leverage AI to increase output efficiency rather than competing against automated systems.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04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global economy is operating under the late stage of an 80-year Big Cycle.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represents a structural shift in human productivity, but current financial speculation carries classic bubble mechanics.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Geopolitics and sovereign debt strains favor hard assets, disciplined diversification, and continuous personal adaptability.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time. Let's open the floor to questions and discussion.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EDCAD-CF3A-4DE9-A108-5DF3420D56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0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13786-6D4E-395F-EFFD-93AB2DDC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800B-0D46-4E32-A3B4-A759DB619CE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8C234-1AAF-6C27-AEB3-F5B020B07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DC079-AE29-B4D2-0DA6-D1E57455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D2746-E70B-4208-BC0E-CF175811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96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BF078-195E-C478-D9A4-D8E48794F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28FFF-3163-F475-A22D-CDBCFAA8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99427-5030-BB7B-4066-1E022994C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0800B-0D46-4E32-A3B4-A759DB619CE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90B4E-AF17-8B7D-A487-DB0620764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22C4A-D37D-B29C-D6D5-CC0AFC3D0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D2746-E70B-4208-BC0E-CF175811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9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FA16BB-8BF1-7278-3468-2015B4648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1FC571-34D7-2B86-38F1-A17D9C593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C47FD1-C689-759A-0A86-FCEC57507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5FC01B-7227-DAC3-4138-377973332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2784F0-054F-132D-7E77-BE9CC77BB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2A5C30-5C15-8991-47FC-8841825A9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7422B6-FFA3-1781-93EC-DB61C575D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07964D-F7EA-A743-BA58-A092B10DC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C83DF7-BAEE-8DD8-C280-350061C1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030676-9170-294F-23C0-BB41DF119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BC152C-7B8C-5E56-FC7D-B110B681B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D65218-9ED9-4D57-8869-F8B24EA08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467B7D-E144-A26E-F7BF-8DEFADD5F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919996-DA3B-7960-EDE0-8A18FF9B2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D40D4F-E925-96D8-DBDA-52EB57E61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5F6BDB-0932-26C6-297B-4DF8AFE40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94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1520</Words>
  <Application>Microsoft Office PowerPoint</Application>
  <PresentationFormat>寬螢幕</PresentationFormat>
  <Paragraphs>97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2026-07-30T13:51:20Z</dcterms:created>
  <dcterms:modified xsi:type="dcterms:W3CDTF">2026-10-19T14:29:59Z</dcterms:modified>
</cp:coreProperties>
</file>