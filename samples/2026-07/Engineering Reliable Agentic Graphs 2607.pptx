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BA262-81F6-4B3F-B311-D24817387267}" v="20" dt="2026-07-31T00:41:51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741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sldOrd">
      <pc:chgData name="Lai, Wilson" userId="2840974a-0d84-4886-90a9-9a3ed79f3a48" providerId="ADAL" clId="{9F23B798-9E84-4552-BA63-E776E805C424}" dt="2026-07-31T00:45:40.634" v="65" actId="22"/>
      <pc:docMkLst>
        <pc:docMk/>
      </pc:docMkLst>
      <pc:sldChg chg="addSp delSp modSp mod modAnim">
        <pc:chgData name="Lai, Wilson" userId="2840974a-0d84-4886-90a9-9a3ed79f3a48" providerId="ADAL" clId="{9F23B798-9E84-4552-BA63-E776E805C424}" dt="2026-07-31T00:28:35.922" v="24" actId="164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31T00:28:35.922" v="24" actId="164"/>
          <ac:spMkLst>
            <pc:docMk/>
            <pc:sldMk cId="0" sldId="257"/>
            <ac:spMk id="5" creationId="{0EC6092C-706C-F40E-CDB7-08D030B497CA}"/>
          </ac:spMkLst>
        </pc:spChg>
        <pc:grpChg chg="add mod">
          <ac:chgData name="Lai, Wilson" userId="2840974a-0d84-4886-90a9-9a3ed79f3a48" providerId="ADAL" clId="{9F23B798-9E84-4552-BA63-E776E805C424}" dt="2026-07-31T00:28:35.922" v="24" actId="164"/>
          <ac:grpSpMkLst>
            <pc:docMk/>
            <pc:sldMk cId="0" sldId="257"/>
            <ac:grpSpMk id="6" creationId="{AFF2583E-3520-CF43-DD9D-933D60A1D9A9}"/>
          </ac:grpSpMkLst>
        </pc:grpChg>
        <pc:picChg chg="del">
          <ac:chgData name="Lai, Wilson" userId="2840974a-0d84-4886-90a9-9a3ed79f3a48" providerId="ADAL" clId="{9F23B798-9E84-4552-BA63-E776E805C424}" dt="2026-07-30T17:27:19.076" v="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7-31T00:28:35.922" v="24" actId="164"/>
          <ac:picMkLst>
            <pc:docMk/>
            <pc:sldMk cId="0" sldId="257"/>
            <ac:picMk id="2" creationId="{21E48095-C484-A71D-5867-DA1AD6D26498}"/>
          </ac:picMkLst>
        </pc:picChg>
        <pc:picChg chg="add mod">
          <ac:chgData name="Lai, Wilson" userId="2840974a-0d84-4886-90a9-9a3ed79f3a48" providerId="ADAL" clId="{9F23B798-9E84-4552-BA63-E776E805C424}" dt="2026-07-31T00:28:04.575" v="20" actId="1076"/>
          <ac:picMkLst>
            <pc:docMk/>
            <pc:sldMk cId="0" sldId="257"/>
            <ac:picMk id="4" creationId="{D2C462FB-F576-A766-9DFB-46F21AFA74B6}"/>
          </ac:picMkLst>
        </pc:picChg>
      </pc:sldChg>
      <pc:sldChg chg="addSp delSp mod">
        <pc:chgData name="Lai, Wilson" userId="2840974a-0d84-4886-90a9-9a3ed79f3a48" providerId="ADAL" clId="{9F23B798-9E84-4552-BA63-E776E805C424}" dt="2026-07-30T17:28:08.009" v="2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7-30T17:27:45.122" v="1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7:28:08.009" v="2" actId="22"/>
          <ac:picMkLst>
            <pc:docMk/>
            <pc:sldMk cId="0" sldId="258"/>
            <ac:picMk id="4" creationId="{4A171F3A-FCFA-6ABE-36D9-7FD9DAB40804}"/>
          </ac:picMkLst>
        </pc:picChg>
      </pc:sldChg>
      <pc:sldChg chg="addSp delSp mod">
        <pc:chgData name="Lai, Wilson" userId="2840974a-0d84-4886-90a9-9a3ed79f3a48" providerId="ADAL" clId="{9F23B798-9E84-4552-BA63-E776E805C424}" dt="2026-07-31T00:42:54.289" v="41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7-31T00:42:40.411" v="40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2:54.289" v="41" actId="22"/>
          <ac:picMkLst>
            <pc:docMk/>
            <pc:sldMk cId="0" sldId="259"/>
            <ac:picMk id="4" creationId="{47BDC996-8D1E-FA36-89D7-CC6D21321565}"/>
          </ac:picMkLst>
        </pc:picChg>
      </pc:sldChg>
      <pc:sldChg chg="addSp delSp mod">
        <pc:chgData name="Lai, Wilson" userId="2840974a-0d84-4886-90a9-9a3ed79f3a48" providerId="ADAL" clId="{9F23B798-9E84-4552-BA63-E776E805C424}" dt="2026-07-31T00:43:08.473" v="43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7-31T00:42:57.892" v="42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3:08.473" v="43" actId="22"/>
          <ac:picMkLst>
            <pc:docMk/>
            <pc:sldMk cId="0" sldId="260"/>
            <ac:picMk id="4" creationId="{B895D91C-7451-3C68-8F3E-3AA8C87ACF3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3:21.072" v="45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7-31T00:43:10.791" v="44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3:21.072" v="45" actId="22"/>
          <ac:picMkLst>
            <pc:docMk/>
            <pc:sldMk cId="0" sldId="261"/>
            <ac:picMk id="4" creationId="{D6C264FF-E3F3-C0EE-945F-9F12DB70E631}"/>
          </ac:picMkLst>
        </pc:picChg>
      </pc:sldChg>
      <pc:sldChg chg="addSp delSp mod">
        <pc:chgData name="Lai, Wilson" userId="2840974a-0d84-4886-90a9-9a3ed79f3a48" providerId="ADAL" clId="{9F23B798-9E84-4552-BA63-E776E805C424}" dt="2026-07-31T00:43:40.590" v="47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7-31T00:43:25.867" v="46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3:40.590" v="47" actId="22"/>
          <ac:picMkLst>
            <pc:docMk/>
            <pc:sldMk cId="0" sldId="262"/>
            <ac:picMk id="4" creationId="{626A0F58-5983-A137-103E-23995EDC521D}"/>
          </ac:picMkLst>
        </pc:picChg>
      </pc:sldChg>
      <pc:sldChg chg="addSp delSp mod">
        <pc:chgData name="Lai, Wilson" userId="2840974a-0d84-4886-90a9-9a3ed79f3a48" providerId="ADAL" clId="{9F23B798-9E84-4552-BA63-E776E805C424}" dt="2026-07-31T00:43:53.975" v="49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7-31T00:43:42.540" v="48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3:53.975" v="49" actId="22"/>
          <ac:picMkLst>
            <pc:docMk/>
            <pc:sldMk cId="0" sldId="263"/>
            <ac:picMk id="4" creationId="{3C7684FB-4972-87E0-8454-317DD9A249BC}"/>
          </ac:picMkLst>
        </pc:picChg>
      </pc:sldChg>
      <pc:sldChg chg="addSp delSp mod">
        <pc:chgData name="Lai, Wilson" userId="2840974a-0d84-4886-90a9-9a3ed79f3a48" providerId="ADAL" clId="{9F23B798-9E84-4552-BA63-E776E805C424}" dt="2026-07-31T00:44:09.699" v="51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7-31T00:44:00.800" v="50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4:09.699" v="51" actId="22"/>
          <ac:picMkLst>
            <pc:docMk/>
            <pc:sldMk cId="0" sldId="264"/>
            <ac:picMk id="4" creationId="{862B6249-D875-3FA7-FB9C-6A9F7A8D7FD2}"/>
          </ac:picMkLst>
        </pc:picChg>
      </pc:sldChg>
      <pc:sldChg chg="addSp delSp mod ord modNotesTx">
        <pc:chgData name="Lai, Wilson" userId="2840974a-0d84-4886-90a9-9a3ed79f3a48" providerId="ADAL" clId="{9F23B798-9E84-4552-BA63-E776E805C424}" dt="2026-07-31T00:44:19.412" v="53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7-31T00:44:11.440" v="52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4:19.412" v="53" actId="22"/>
          <ac:picMkLst>
            <pc:docMk/>
            <pc:sldMk cId="0" sldId="265"/>
            <ac:picMk id="4" creationId="{FB3FFA9B-1F8A-C2C8-9178-52739FCBEEDF}"/>
          </ac:picMkLst>
        </pc:picChg>
      </pc:sldChg>
      <pc:sldChg chg="addSp delSp mod">
        <pc:chgData name="Lai, Wilson" userId="2840974a-0d84-4886-90a9-9a3ed79f3a48" providerId="ADAL" clId="{9F23B798-9E84-4552-BA63-E776E805C424}" dt="2026-07-31T00:44:30.360" v="55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7-31T00:44:20.917" v="5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4:30.360" v="55" actId="22"/>
          <ac:picMkLst>
            <pc:docMk/>
            <pc:sldMk cId="0" sldId="266"/>
            <ac:picMk id="4" creationId="{79BEB953-8B71-96F1-23E9-871512C4800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4:42.878" v="57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7-31T00:44:32.439" v="56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4:42.878" v="57" actId="22"/>
          <ac:picMkLst>
            <pc:docMk/>
            <pc:sldMk cId="0" sldId="267"/>
            <ac:picMk id="4" creationId="{AFDCB9AC-FD32-8B34-20E5-910419AD94A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4:56.352" v="59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7-31T00:44:47.652" v="58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4:56.352" v="59" actId="22"/>
          <ac:picMkLst>
            <pc:docMk/>
            <pc:sldMk cId="0" sldId="268"/>
            <ac:picMk id="4" creationId="{7EEE4565-1236-AFC2-427B-E520104F1DE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5:12.533" v="61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7-31T00:44:59.246" v="60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5:12.533" v="61" actId="22"/>
          <ac:picMkLst>
            <pc:docMk/>
            <pc:sldMk cId="0" sldId="269"/>
            <ac:picMk id="4" creationId="{E41E63C5-E577-7A0F-42C2-03B16F93F70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5:26.818" v="63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7-31T00:45:15.790" v="62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5:26.818" v="63" actId="22"/>
          <ac:picMkLst>
            <pc:docMk/>
            <pc:sldMk cId="0" sldId="270"/>
            <ac:picMk id="4" creationId="{F07B2F4C-DDCD-CC22-A1F5-52361A815C2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5:40.634" v="65" actId="2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7-31T00:45:30.171" v="64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1T00:45:40.634" v="65" actId="22"/>
          <ac:picMkLst>
            <pc:docMk/>
            <pc:sldMk cId="0" sldId="271"/>
            <ac:picMk id="4" creationId="{6FB0F781-3B35-69F8-011E-E2B8D857236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0:42:10.970" v="39" actId="12"/>
        <pc:sldMkLst>
          <pc:docMk/>
          <pc:sldMk cId="747755320" sldId="272"/>
        </pc:sldMkLst>
        <pc:picChg chg="del">
          <ac:chgData name="Lai, Wilson" userId="2840974a-0d84-4886-90a9-9a3ed79f3a48" providerId="ADAL" clId="{9F23B798-9E84-4552-BA63-E776E805C424}" dt="2026-07-30T17:28:36.575" v="3" actId="21"/>
          <ac:picMkLst>
            <pc:docMk/>
            <pc:sldMk cId="747755320" sldId="272"/>
            <ac:picMk id="3" creationId="{6AF113B8-6E7D-AFEE-F54C-C6C124F6A5E1}"/>
          </ac:picMkLst>
        </pc:picChg>
        <pc:picChg chg="add">
          <ac:chgData name="Lai, Wilson" userId="2840974a-0d84-4886-90a9-9a3ed79f3a48" providerId="ADAL" clId="{9F23B798-9E84-4552-BA63-E776E805C424}" dt="2026-07-30T17:30:43.035" v="4" actId="22"/>
          <ac:picMkLst>
            <pc:docMk/>
            <pc:sldMk cId="747755320" sldId="272"/>
            <ac:picMk id="4" creationId="{7235A7CC-D7C8-6761-A927-9C87F3F272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C42CB-2372-44CB-9417-B6FBEFA9057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CFB2E-7EF7-45DF-A7C9-3EDF1E1E7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3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we're discussing the architectural shift in AI system design: moving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Loops to Graphs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last year, many teams rushed to deploy autonomous agents using basic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loops. While impressive in demos, production systems quickly revealed a harsh truth: open-ended loops lack the architectural constraints required for high reliability.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talk, we’ll look at how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Engineering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bridges the gap—combining architectural control, multi-state orchestration, and deterministic error correction to build agentic workflows that scale reliably in production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13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how rapidly our control paradigms have evolved: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began by engineering context—trying to guide the model purely via system prompts.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Harness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built external execution environments, supplying APIs, tools, and sandboxes.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introduced self-verification, prompting the model to evaluate its own output in iterative cycles.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Today’s state of the art—multi-state orchestration.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transition isn't just semantic. It marks a fundamental shift: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moving away from trusting an LLM’s internal reasoning and toward constraining its behavior within physical architectural boundaries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71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an agent fails in production, it is rarely a 'random model hallucination.' Almost every failure stems from one of three structural components: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Harness (Environment):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Everything outside the model—the sandbox, permissions, and tool interfaces. If an agent accesses the wrong directory or lacks API credentials, it's a harness failure.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Loop (Success Criteria):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'Done Test'. A deterministic, checkable condition (e.g., unit test pass rate or benchmark score) that tells the agent whether to stop or retry.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Graph (Order &amp; Routing):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execution map. It defines which tasks execute sequentially, which run in parallel, and how control transfers between sub-agents.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Isolating your failure modes across these three boundaries makes debugging systematic rather than guesswork.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3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look at a concrete example of open-ended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failure. In a traditional setup, the LLM inspects its history and picks the next tool on its own.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using smaller local models—say in the 4B to 8B parameter range—they struggle to self-diagnose hallucinations or runtime exceptions.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result?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infinite error loop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model calls a failing search query, receives an error, attempts to self-correct, calls the exact same query, and repeats. As shown on screen, you end up consuming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 million tokens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dead end. Graphs prevent this by enforcing maximum retries, fallback routes, and deterministic state transfers.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1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choice is a trade-off between reliability and flexibility: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Chains: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reliability, low flexibility. Perfect for standard RAG pipelines, but rigid when dealing with ambiguous tasks.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flexibility, low reliability. Great for unconstrained problem-solving, but prone to structural derailment.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Directed Graphs: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sweet spot. You get high reliability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flexibility.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giving the model a blanket blank canvas,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graphs inject the LLM only at specific routing edges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Code handles the execution backbone; the LLM handles decision routing where flexibility is actually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5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practical rule of thumb for engineering teams: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over-engineer simple tasks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task is sequential, single-pass, or simply repeats until a single evaluation metric is met, keep it as a plain loop.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 moment your design logic sounds like: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'If step A succeeds, go to B; if it fails, retry with tool C; if parallel checks pass, hand off to Agent D'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outgrown a loop. That requires a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81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dive into self-correction.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Old 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Appending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'Reflect on why you failed and try again'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prompt context. LLMs are notoriously poor at self-reflecting on their own active context traces—it often leads to confirmation bias or repeated errors.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New Frontier: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Experience Memory Graphs (EMG). Instead of asking the model to chat about its errors, we convert execution traces into formal Directed Action-Decision Graphs. We then compute the structural mathematical difference—$\Delta(G, G')$—between the failed trajectory ($G$) and known expert trajectories ($G'$).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"Here is how mathematical trajectory alignment works visually.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coral red path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represents a failed run. Notice how the agent meanders, loops back on itself, hits dead-end nodes, and burns tokens.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blue path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represents an efficient, successful expert trajectory.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representing both runs as directed graphs, we isolate the exact point where the agent diverged from the expert path (shown as the mint green common sub-graph). We don't rely on prompt intuition; we locate structural divergence using graph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49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Fused Gromov-Wasserstein calculates the optimal transport plan, how do we actually apply that to fix our AI agent? We convert the mathematical delta directly into </a:t>
            </a:r>
            <a:r>
              <a:rPr lang="en-US" b="1" dirty="0"/>
              <a:t>discrete, actionable edit paths</a:t>
            </a:r>
            <a:r>
              <a:rPr lang="en-US" dirty="0"/>
              <a:t>.</a:t>
            </a:r>
          </a:p>
          <a:p>
            <a:r>
              <a:rPr lang="en-US" dirty="0"/>
              <a:t>Think of this like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diff</a:t>
            </a:r>
            <a:r>
              <a:rPr lang="en-US" dirty="0"/>
              <a:t> for agentic behavior: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Deletions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[ACTION: REMOVE]</a:t>
            </a:r>
            <a:r>
              <a:rPr lang="en-US" b="1" dirty="0"/>
              <a:t>):</a:t>
            </a:r>
            <a:r>
              <a:rPr lang="en-US" dirty="0"/>
              <a:t> These represent nodes or edges in the agent's failed run that have no counterpart in the expert trajectory. If an agent gets stuck in a search loop or executes an unnecessary API call, the system explicitly flags that path to be removed.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Insertions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[ACTION: ADD_STEP]</a:t>
            </a:r>
            <a:r>
              <a:rPr lang="en-US" b="1" dirty="0"/>
              <a:t>):</a:t>
            </a:r>
            <a:r>
              <a:rPr lang="en-US" dirty="0"/>
              <a:t> These are critical missing steps present </a:t>
            </a:r>
            <a:r>
              <a:rPr lang="en-US" i="1" dirty="0"/>
              <a:t>only</a:t>
            </a:r>
            <a:r>
              <a:rPr lang="en-US" dirty="0"/>
              <a:t> in the expert trajectory—for instance, running a validation check before executing a database write. The edit path injects this required step.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Relabeling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[ACTION: MODIFY_LABEL]</a:t>
            </a:r>
            <a:r>
              <a:rPr lang="en-US" b="1" dirty="0"/>
              <a:t>):</a:t>
            </a:r>
            <a:r>
              <a:rPr lang="en-US" dirty="0"/>
              <a:t> This occurs when the agent takes an action in the right place within the sequence, but with the wrong parameter or intent—such as querying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'table'</a:t>
            </a:r>
            <a:r>
              <a:rPr lang="en-US" dirty="0"/>
              <a:t> node instead of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'shelf'</a:t>
            </a:r>
            <a:r>
              <a:rPr lang="en-US" dirty="0"/>
              <a:t> node.</a:t>
            </a:r>
          </a:p>
          <a:p>
            <a:r>
              <a:rPr lang="en-US" dirty="0"/>
              <a:t>Instead of handing the model a long, unstructured block of text saying </a:t>
            </a:r>
            <a:r>
              <a:rPr lang="en-US" i="1" dirty="0"/>
              <a:t>'Please try to do better,'</a:t>
            </a:r>
            <a:r>
              <a:rPr lang="en-US" dirty="0"/>
              <a:t> we give the orchestration framework a precise, structural diff that physically re-routes or re-instructs the workflow.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22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you might be asking: </a:t>
            </a:r>
            <a:r>
              <a:rPr lang="en-US" i="1" dirty="0"/>
              <a:t>'Calculating Fused Gromov-Wasserstein alignments for every single execution sounds computationally expensive. How does this scale in real-time production systems?'</a:t>
            </a:r>
            <a:endParaRPr lang="en-US" dirty="0"/>
          </a:p>
          <a:p>
            <a:r>
              <a:rPr lang="en-US" dirty="0"/>
              <a:t>The secret lies in decoupling </a:t>
            </a:r>
            <a:r>
              <a:rPr lang="en-US" b="1" dirty="0"/>
              <a:t>offline graph math</a:t>
            </a:r>
            <a:r>
              <a:rPr lang="en-US" dirty="0"/>
              <a:t> from </a:t>
            </a:r>
            <a:r>
              <a:rPr lang="en-US" b="1" dirty="0"/>
              <a:t>runtime execution</a:t>
            </a:r>
            <a:r>
              <a:rPr lang="en-US" dirty="0"/>
              <a:t>.</a:t>
            </a:r>
          </a:p>
          <a:p>
            <a:r>
              <a:rPr lang="en-US" dirty="0"/>
              <a:t>During </a:t>
            </a:r>
            <a:r>
              <a:rPr lang="en-US" b="1" dirty="0"/>
              <a:t>Training / Offline Processing</a:t>
            </a:r>
            <a:r>
              <a:rPr lang="en-US" dirty="0"/>
              <a:t>, we perform the heavy lifting. We analyze thousands of agent runs, compute structural graph alignments, extract the human-readable edit rules, and index those rules into a Vector Database as embeddings.</a:t>
            </a:r>
          </a:p>
          <a:p>
            <a:r>
              <a:rPr lang="en-US" dirty="0"/>
              <a:t>At </a:t>
            </a:r>
            <a:r>
              <a:rPr lang="en-US" b="1" dirty="0"/>
              <a:t>Inference / Runtime</a:t>
            </a:r>
            <a:r>
              <a:rPr lang="en-US" dirty="0"/>
              <a:t>, the agent doesn't re-run expensive graph algorithms. Instead, when an error state occurs, it performs a fast vector search—a simple </a:t>
            </a:r>
            <a:r>
              <a:rPr lang="en-US" b="1" dirty="0"/>
              <a:t>Cosine Similarity Lookup</a:t>
            </a:r>
            <a:r>
              <a:rPr lang="en-US" dirty="0"/>
              <a:t>—to pull the pre-computed edit path that matches its current failure pattern.</a:t>
            </a:r>
          </a:p>
          <a:p>
            <a:r>
              <a:rPr lang="en-US" b="1" dirty="0"/>
              <a:t>Important Caveat / Trade-off:</a:t>
            </a:r>
            <a:r>
              <a:rPr lang="en-US" dirty="0"/>
              <a:t> Because real-time execution relies on pulling </a:t>
            </a:r>
            <a:r>
              <a:rPr lang="en-US" i="1" dirty="0"/>
              <a:t>known</a:t>
            </a:r>
            <a:r>
              <a:rPr lang="en-US" dirty="0"/>
              <a:t> pre-computed solutions via RAG, the system is exceptionally fast and deterministic, but it </a:t>
            </a:r>
            <a:r>
              <a:rPr lang="en-US" b="1" dirty="0"/>
              <a:t>cannot discover genuinely novel solutions on the fly</a:t>
            </a:r>
            <a:r>
              <a:rPr lang="en-US" dirty="0"/>
              <a:t>. It excels at turning past failures into immediate, reliable execution paths, but relies on your offline pipeline to continually ingest and map new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02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traditional software, if an automated test returns the expected output, the test passes. In agentic AI, </a:t>
            </a:r>
            <a:r>
              <a:rPr lang="en-US" b="1" dirty="0"/>
              <a:t>testing the final answer is completely insufficient; you must evaluate the trajectory.</a:t>
            </a:r>
            <a:endParaRPr lang="en-US" dirty="0"/>
          </a:p>
          <a:p>
            <a:r>
              <a:rPr lang="en-US" dirty="0"/>
              <a:t>Take a look at these two execution paths on the slide. Both arrive at the exact same correct answer.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</a:t>
            </a:r>
            <a:r>
              <a:rPr lang="en-US" b="1" dirty="0"/>
              <a:t>top path</a:t>
            </a:r>
            <a:r>
              <a:rPr lang="en-US" dirty="0"/>
              <a:t>, the agent stumbles through 14 chaotic steps—retrying searches, hitting dead ends, backtracking, and consuming over a million tokens. To a basic evaluator checking only the final response, this looks like a 'Success.' In reality, it’s a ticking time bomb of latency, API cost, and probabilistic drift.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</a:t>
            </a:r>
            <a:r>
              <a:rPr lang="en-US" b="1" dirty="0"/>
              <a:t>bottom path</a:t>
            </a:r>
            <a:r>
              <a:rPr lang="en-US" dirty="0"/>
              <a:t>, the agent takes two direct, precise steps to reach the result at minimal token cost.</a:t>
            </a:r>
          </a:p>
          <a:p>
            <a:r>
              <a:rPr lang="en-US" dirty="0"/>
              <a:t>If your evaluation harness only looks at end-state accuracy, you will deploy systems that burn through budgets and introduce hidden failures. True agent reliability requires grading </a:t>
            </a:r>
            <a:r>
              <a:rPr lang="en-US" b="1" dirty="0"/>
              <a:t>both</a:t>
            </a:r>
            <a:r>
              <a:rPr lang="en-US" dirty="0"/>
              <a:t> the end-to-end output quality AND the exact sequence of tool calls.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14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isn't something you ship once and forget—it's an engineering flywheel built on continuous feedback loops. We structure this across three concentric layers: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Core Ring (In-App Error Handling):</a:t>
            </a:r>
            <a:r>
              <a:rPr lang="en-US" dirty="0"/>
              <a:t> This is your immediate frontline defense. Deterministic guardrails, schema validators, and local fallback paths catching basic syntax or tool invocation errors in real-time.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Middle Ring (Pre-Production Testing):</a:t>
            </a:r>
            <a:r>
              <a:rPr lang="en-US" dirty="0"/>
              <a:t> Before any prompt, node, or routing edge goes live, it must run against offline evaluation datasets containing previously captured edge-case trajectories.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Outer Ring (Production Monitoring &amp; Feedback):</a:t>
            </a:r>
            <a:r>
              <a:rPr lang="en-US" dirty="0"/>
              <a:t> When an agent encounters an unmapped edge case in production, the trace is logged, flagged, and automatically fed back into your offline dataset.</a:t>
            </a:r>
          </a:p>
          <a:p>
            <a:r>
              <a:rPr lang="en-US" dirty="0"/>
              <a:t>As production logs feed the offline alignment algorithms, your vector store of edit paths grows richer, making the whole system progressively more resilient over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7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take away one strategic lesson from today, let it be this: </a:t>
            </a:r>
            <a:r>
              <a:rPr lang="en-US" b="1" dirty="0"/>
              <a:t>The model is not your moat. Your system architecture is.</a:t>
            </a:r>
            <a:endParaRPr lang="en-US" dirty="0"/>
          </a:p>
          <a:p>
            <a:r>
              <a:rPr lang="en-US" dirty="0"/>
              <a:t>Base LLMs are rapidly becoming commoditized. Models will change, providers will shift, and weights will update every few months. If your application's reliability depends entirely on a specific model's internal reasoning, your IP is fragile.</a:t>
            </a:r>
          </a:p>
          <a:p>
            <a:r>
              <a:rPr lang="en-US" dirty="0"/>
              <a:t>Your true intellectual property lies in: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harness</a:t>
            </a:r>
            <a:r>
              <a:rPr lang="en-US" dirty="0"/>
              <a:t> you build to enforce execution rules,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routing graphs</a:t>
            </a:r>
            <a:r>
              <a:rPr lang="en-US" dirty="0"/>
              <a:t> that constrain state transitions,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curated </a:t>
            </a:r>
            <a:r>
              <a:rPr lang="en-US" b="1" dirty="0"/>
              <a:t>evaluation datasets</a:t>
            </a:r>
            <a:r>
              <a:rPr lang="en-US" dirty="0"/>
              <a:t> and memory graphs that guarantee deterministic execution on top of probabilistic models.</a:t>
            </a:r>
          </a:p>
          <a:p>
            <a:r>
              <a:rPr lang="en-US" dirty="0"/>
              <a:t>Models provide the raw intelligence; engineering architectures provide the enterprise-grade reliability.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13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 our discussion, let's contrast traditional agentic patterns with the </a:t>
            </a:r>
            <a:r>
              <a:rPr lang="en-US" b="1" dirty="0"/>
              <a:t>Graph Engineering paradigm</a:t>
            </a:r>
            <a:r>
              <a:rPr lang="en-US" dirty="0"/>
              <a:t> across real-world performance metrics.</a:t>
            </a:r>
          </a:p>
          <a:p>
            <a:r>
              <a:rPr lang="en-US" dirty="0"/>
              <a:t>Under </a:t>
            </a:r>
            <a:r>
              <a:rPr lang="en-US" b="1" dirty="0"/>
              <a:t>Traditional Reflection</a:t>
            </a:r>
            <a:r>
              <a:rPr lang="en-US" dirty="0"/>
              <a:t> (the standard '</a:t>
            </a:r>
            <a:r>
              <a:rPr lang="en-US" dirty="0" err="1"/>
              <a:t>ReAct</a:t>
            </a:r>
            <a:r>
              <a:rPr lang="en-US" dirty="0"/>
              <a:t>' loop where we ask the LLM to read its error log and reflect), performance drops sharply as task complexity rises: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Success Rates</a:t>
            </a:r>
            <a:r>
              <a:rPr lang="en-US" dirty="0"/>
              <a:t> hover around </a:t>
            </a:r>
            <a:r>
              <a:rPr lang="en-US" b="1" dirty="0"/>
              <a:t>20%</a:t>
            </a:r>
            <a:r>
              <a:rPr lang="en-US" dirty="0"/>
              <a:t> on complex, multi-step benchmark tasks.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Latency and Costs</a:t>
            </a:r>
            <a:r>
              <a:rPr lang="en-US" dirty="0"/>
              <a:t> spike dramatically because the model engages in multi-turn verbose reasoning loops, burning tokens repeatedly without guaranteeing convergence.</a:t>
            </a:r>
          </a:p>
          <a:p>
            <a:r>
              <a:rPr lang="en-US" dirty="0"/>
              <a:t>By switching to </a:t>
            </a:r>
            <a:r>
              <a:rPr lang="en-US" b="1" dirty="0"/>
              <a:t>Graph Engineering with Experience Memory Graphs (EMG)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Success Rates double to ~40%+</a:t>
            </a:r>
            <a:r>
              <a:rPr lang="en-US" dirty="0"/>
              <a:t> on standard benchmark suites—especially when using smaller, cost-effective open-source models (e.g., 4B to 8B parameter models) that typically struggle with self-reflection.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Time Costs drop</a:t>
            </a:r>
            <a:r>
              <a:rPr lang="en-US" dirty="0"/>
              <a:t> from high multi-turn latency to direct, single-pass path execution.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Token Consumption is optimized</a:t>
            </a:r>
            <a:r>
              <a:rPr lang="en-US" dirty="0"/>
              <a:t>, because the model is retrieving deterministic edit actions rather than trying to reason its way out of hallucinated loops.</a:t>
            </a:r>
          </a:p>
          <a:p>
            <a:r>
              <a:rPr lang="en-US" dirty="0"/>
              <a:t>By structuring workflows around </a:t>
            </a:r>
            <a:r>
              <a:rPr lang="en-US" b="1" dirty="0"/>
              <a:t>Nodes</a:t>
            </a:r>
            <a:r>
              <a:rPr lang="en-US" dirty="0"/>
              <a:t> for actions, </a:t>
            </a:r>
            <a:r>
              <a:rPr lang="en-US" b="1" dirty="0"/>
              <a:t>Edges</a:t>
            </a:r>
            <a:r>
              <a:rPr lang="en-US" dirty="0"/>
              <a:t> for conditional routing, </a:t>
            </a:r>
            <a:r>
              <a:rPr lang="en-US" b="1" dirty="0"/>
              <a:t>State</a:t>
            </a:r>
            <a:r>
              <a:rPr lang="en-US" dirty="0"/>
              <a:t> for memory, and a strict </a:t>
            </a:r>
            <a:r>
              <a:rPr lang="en-US" b="1" dirty="0"/>
              <a:t>Harness</a:t>
            </a:r>
            <a:r>
              <a:rPr lang="en-US" dirty="0"/>
              <a:t> for execution, we transition from fragile AI experiments to predictable, scalable enterprise software.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FB2E-7EF7-45DF-A7C9-3EDF1E1E71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61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4BA78-8030-FC12-B85D-B45A1575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F67A-D4E2-4BF0-ACBE-1CF7BB9CFC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CED88-679F-791C-0A4B-393A3427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825E6-F61B-AA8E-5E23-598899B2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69CF6-FF44-44B4-AFE2-BC208222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8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E0F3E-0685-F1A8-7842-8A4BF288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AA748-0E23-32B5-68B6-09BB92219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FD91F-8A97-1AEA-3696-118BBD76E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DF67A-D4E2-4BF0-ACBE-1CF7BB9CFC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F43C0-9D07-A7C5-7010-F1DF51E2F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867F-FA2F-A816-73FD-1B8CC09A1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69CF6-FF44-44B4-AFE2-BC208222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C462FB-F576-A766-9DFB-46F21AFA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171F3A-FCFA-6ABE-36D9-7FD9DAB40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DC996-8D1E-FA36-89D7-CC6D2132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95D91C-7451-3C68-8F3E-3AA8C87AC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264FF-E3F3-C0EE-945F-9F12DB70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6A0F58-5983-A137-103E-23995EDC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684FB-4972-87E0-8454-317DD9A24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2B6249-D875-3FA7-FB9C-6A9F7A8D7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FFA9B-1F8A-C2C8-9178-52739FCB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EB953-8B71-96F1-23E9-871512C48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DCB9AC-FD32-8B34-20E5-910419AD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E4565-1236-AFC2-427B-E520104F1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E63C5-E577-7A0F-42C2-03B16F93F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7B2F4C-DDCD-CC22-A1F5-52361A815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B0F781-3B35-69F8-011E-E2B8D857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35A7CC-D7C8-6761-A927-9C87F3F27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5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1967</Words>
  <Application>Microsoft Office PowerPoint</Application>
  <PresentationFormat>寬螢幕</PresentationFormat>
  <Paragraphs>82</Paragraphs>
  <Slides>16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2026-07-30T17:25:05Z</dcterms:created>
  <dcterms:modified xsi:type="dcterms:W3CDTF">2026-10-19T14:30:35Z</dcterms:modified>
</cp:coreProperties>
</file>