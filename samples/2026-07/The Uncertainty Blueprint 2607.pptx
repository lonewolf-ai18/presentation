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7" autoAdjust="0"/>
    <p:restoredTop sz="87179"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8-12T02:02:42.849" v="89" actId="166"/>
      <pc:docMkLst>
        <pc:docMk/>
      </pc:docMkLst>
      <pc:sldChg chg="addSp delSp modSp mod modAnim modNotesTx">
        <pc:chgData name="Lai, Wilson" userId="2840974a-0d84-4886-90a9-9a3ed79f3a48" providerId="ADAL" clId="{9F23B798-9E84-4552-BA63-E776E805C424}" dt="2026-08-12T02:02:42.849" v="89" actId="166"/>
        <pc:sldMkLst>
          <pc:docMk/>
          <pc:sldMk cId="0" sldId="257"/>
        </pc:sldMkLst>
        <pc:spChg chg="add mod">
          <ac:chgData name="Lai, Wilson" userId="2840974a-0d84-4886-90a9-9a3ed79f3a48" providerId="ADAL" clId="{9F23B798-9E84-4552-BA63-E776E805C424}" dt="2026-07-21T03:00:33.531" v="55" actId="164"/>
          <ac:spMkLst>
            <pc:docMk/>
            <pc:sldMk cId="0" sldId="257"/>
            <ac:spMk id="6" creationId="{2940C78B-FD44-EE64-2DAA-FADE446BCDA8}"/>
          </ac:spMkLst>
        </pc:spChg>
        <pc:grpChg chg="add mod">
          <ac:chgData name="Lai, Wilson" userId="2840974a-0d84-4886-90a9-9a3ed79f3a48" providerId="ADAL" clId="{9F23B798-9E84-4552-BA63-E776E805C424}" dt="2026-07-21T03:00:40.471" v="56" actId="1076"/>
          <ac:grpSpMkLst>
            <pc:docMk/>
            <pc:sldMk cId="0" sldId="257"/>
            <ac:grpSpMk id="7" creationId="{0A2CBC0F-B138-79BC-F091-6880C929CB2C}"/>
          </ac:grpSpMkLst>
        </pc:grpChg>
        <pc:picChg chg="add ord">
          <ac:chgData name="Lai, Wilson" userId="2840974a-0d84-4886-90a9-9a3ed79f3a48" providerId="ADAL" clId="{9F23B798-9E84-4552-BA63-E776E805C424}" dt="2026-08-12T02:02:42.849" v="89" actId="166"/>
          <ac:picMkLst>
            <pc:docMk/>
            <pc:sldMk cId="0" sldId="257"/>
            <ac:picMk id="4" creationId="{4C933A08-EB4F-DBE7-EBEB-3430ADF75906}"/>
          </ac:picMkLst>
        </pc:picChg>
        <pc:picChg chg="add mod">
          <ac:chgData name="Lai, Wilson" userId="2840974a-0d84-4886-90a9-9a3ed79f3a48" providerId="ADAL" clId="{9F23B798-9E84-4552-BA63-E776E805C424}" dt="2026-07-21T03:00:33.531" v="55" actId="164"/>
          <ac:picMkLst>
            <pc:docMk/>
            <pc:sldMk cId="0" sldId="257"/>
            <ac:picMk id="5" creationId="{555343B7-1107-9F5C-E167-401BF6F4D70A}"/>
          </ac:picMkLst>
        </pc:picChg>
      </pc:sldChg>
      <pc:sldChg chg="addSp delSp modSp mod setBg modNotesTx">
        <pc:chgData name="Lai, Wilson" userId="2840974a-0d84-4886-90a9-9a3ed79f3a48" providerId="ADAL" clId="{9F23B798-9E84-4552-BA63-E776E805C424}" dt="2026-07-30T13:22:39.347" v="63" actId="12"/>
        <pc:sldMkLst>
          <pc:docMk/>
          <pc:sldMk cId="0" sldId="258"/>
        </pc:sldMkLst>
        <pc:spChg chg="add">
          <ac:chgData name="Lai, Wilson" userId="2840974a-0d84-4886-90a9-9a3ed79f3a48" providerId="ADAL" clId="{9F23B798-9E84-4552-BA63-E776E805C424}" dt="2026-07-21T02:55:52.645" v="16" actId="26606"/>
          <ac:spMkLst>
            <pc:docMk/>
            <pc:sldMk cId="0" sldId="258"/>
            <ac:spMk id="9" creationId="{E559D998-AB6C-46E1-B394-118E9A1E2D62}"/>
          </ac:spMkLst>
        </pc:spChg>
        <pc:picChg chg="add">
          <ac:chgData name="Lai, Wilson" userId="2840974a-0d84-4886-90a9-9a3ed79f3a48" providerId="ADAL" clId="{9F23B798-9E84-4552-BA63-E776E805C424}" dt="2026-07-21T03:01:43.071" v="58" actId="22"/>
          <ac:picMkLst>
            <pc:docMk/>
            <pc:sldMk cId="0" sldId="258"/>
            <ac:picMk id="6" creationId="{0BA5A33B-3863-6618-842D-CA54330885CB}"/>
          </ac:picMkLst>
        </pc:picChg>
      </pc:sldChg>
      <pc:sldChg chg="addSp delSp mod modNotesTx">
        <pc:chgData name="Lai, Wilson" userId="2840974a-0d84-4886-90a9-9a3ed79f3a48" providerId="ADAL" clId="{9F23B798-9E84-4552-BA63-E776E805C424}" dt="2026-07-30T13:23:02.988" v="65" actId="15"/>
        <pc:sldMkLst>
          <pc:docMk/>
          <pc:sldMk cId="0" sldId="259"/>
        </pc:sldMkLst>
        <pc:picChg chg="add">
          <ac:chgData name="Lai, Wilson" userId="2840974a-0d84-4886-90a9-9a3ed79f3a48" providerId="ADAL" clId="{9F23B798-9E84-4552-BA63-E776E805C424}" dt="2026-07-21T02:56:04.663" v="18" actId="22"/>
          <ac:picMkLst>
            <pc:docMk/>
            <pc:sldMk cId="0" sldId="259"/>
            <ac:picMk id="4" creationId="{133E84C0-1C53-0927-BE88-ED185E4963C2}"/>
          </ac:picMkLst>
        </pc:picChg>
      </pc:sldChg>
      <pc:sldChg chg="addSp delSp mod modNotesTx">
        <pc:chgData name="Lai, Wilson" userId="2840974a-0d84-4886-90a9-9a3ed79f3a48" providerId="ADAL" clId="{9F23B798-9E84-4552-BA63-E776E805C424}" dt="2026-07-30T13:23:21.462" v="67" actId="15"/>
        <pc:sldMkLst>
          <pc:docMk/>
          <pc:sldMk cId="0" sldId="260"/>
        </pc:sldMkLst>
        <pc:picChg chg="add">
          <ac:chgData name="Lai, Wilson" userId="2840974a-0d84-4886-90a9-9a3ed79f3a48" providerId="ADAL" clId="{9F23B798-9E84-4552-BA63-E776E805C424}" dt="2026-07-21T02:56:18.336" v="20" actId="22"/>
          <ac:picMkLst>
            <pc:docMk/>
            <pc:sldMk cId="0" sldId="260"/>
            <ac:picMk id="4" creationId="{3F5DB8C9-0CC4-7494-6D07-2D1BA2A74DB1}"/>
          </ac:picMkLst>
        </pc:picChg>
      </pc:sldChg>
      <pc:sldChg chg="addSp delSp mod modNotesTx">
        <pc:chgData name="Lai, Wilson" userId="2840974a-0d84-4886-90a9-9a3ed79f3a48" providerId="ADAL" clId="{9F23B798-9E84-4552-BA63-E776E805C424}" dt="2026-07-30T13:23:32.858" v="68" actId="12"/>
        <pc:sldMkLst>
          <pc:docMk/>
          <pc:sldMk cId="0" sldId="261"/>
        </pc:sldMkLst>
        <pc:picChg chg="add">
          <ac:chgData name="Lai, Wilson" userId="2840974a-0d84-4886-90a9-9a3ed79f3a48" providerId="ADAL" clId="{9F23B798-9E84-4552-BA63-E776E805C424}" dt="2026-07-21T02:56:32.229" v="22" actId="22"/>
          <ac:picMkLst>
            <pc:docMk/>
            <pc:sldMk cId="0" sldId="261"/>
            <ac:picMk id="4" creationId="{F91B5C5A-6A22-CB7F-1A44-9C2371FE3DC8}"/>
          </ac:picMkLst>
        </pc:picChg>
      </pc:sldChg>
      <pc:sldChg chg="addSp delSp mod modNotesTx">
        <pc:chgData name="Lai, Wilson" userId="2840974a-0d84-4886-90a9-9a3ed79f3a48" providerId="ADAL" clId="{9F23B798-9E84-4552-BA63-E776E805C424}" dt="2026-07-30T13:23:43.755" v="69" actId="12"/>
        <pc:sldMkLst>
          <pc:docMk/>
          <pc:sldMk cId="0" sldId="262"/>
        </pc:sldMkLst>
        <pc:picChg chg="add">
          <ac:chgData name="Lai, Wilson" userId="2840974a-0d84-4886-90a9-9a3ed79f3a48" providerId="ADAL" clId="{9F23B798-9E84-4552-BA63-E776E805C424}" dt="2026-07-21T02:56:46.317" v="24" actId="22"/>
          <ac:picMkLst>
            <pc:docMk/>
            <pc:sldMk cId="0" sldId="262"/>
            <ac:picMk id="4" creationId="{5CB9D0DB-9242-D8B9-7897-291ABC0504B4}"/>
          </ac:picMkLst>
        </pc:picChg>
      </pc:sldChg>
      <pc:sldChg chg="addSp delSp modSp mod modNotesTx">
        <pc:chgData name="Lai, Wilson" userId="2840974a-0d84-4886-90a9-9a3ed79f3a48" providerId="ADAL" clId="{9F23B798-9E84-4552-BA63-E776E805C424}" dt="2026-07-30T13:24:05.011" v="73" actId="12"/>
        <pc:sldMkLst>
          <pc:docMk/>
          <pc:sldMk cId="0" sldId="263"/>
        </pc:sldMkLst>
        <pc:picChg chg="add">
          <ac:chgData name="Lai, Wilson" userId="2840974a-0d84-4886-90a9-9a3ed79f3a48" providerId="ADAL" clId="{9F23B798-9E84-4552-BA63-E776E805C424}" dt="2026-07-21T02:56:59.841" v="27" actId="22"/>
          <ac:picMkLst>
            <pc:docMk/>
            <pc:sldMk cId="0" sldId="263"/>
            <ac:picMk id="4" creationId="{457EE9EE-29AC-26D7-E775-03C70EF7DF96}"/>
          </ac:picMkLst>
        </pc:picChg>
      </pc:sldChg>
      <pc:sldChg chg="addSp delSp mod modNotesTx">
        <pc:chgData name="Lai, Wilson" userId="2840974a-0d84-4886-90a9-9a3ed79f3a48" providerId="ADAL" clId="{9F23B798-9E84-4552-BA63-E776E805C424}" dt="2026-07-30T13:24:18.653" v="74" actId="12"/>
        <pc:sldMkLst>
          <pc:docMk/>
          <pc:sldMk cId="0" sldId="264"/>
        </pc:sldMkLst>
        <pc:picChg chg="add">
          <ac:chgData name="Lai, Wilson" userId="2840974a-0d84-4886-90a9-9a3ed79f3a48" providerId="ADAL" clId="{9F23B798-9E84-4552-BA63-E776E805C424}" dt="2026-07-21T02:57:13.905" v="29" actId="22"/>
          <ac:picMkLst>
            <pc:docMk/>
            <pc:sldMk cId="0" sldId="264"/>
            <ac:picMk id="4" creationId="{74B1D76A-3E5E-B8A1-E584-71419D6BDE89}"/>
          </ac:picMkLst>
        </pc:picChg>
      </pc:sldChg>
      <pc:sldChg chg="addSp delSp mod modNotesTx">
        <pc:chgData name="Lai, Wilson" userId="2840974a-0d84-4886-90a9-9a3ed79f3a48" providerId="ADAL" clId="{9F23B798-9E84-4552-BA63-E776E805C424}" dt="2026-07-30T13:24:33.929" v="77" actId="12"/>
        <pc:sldMkLst>
          <pc:docMk/>
          <pc:sldMk cId="0" sldId="265"/>
        </pc:sldMkLst>
        <pc:picChg chg="add">
          <ac:chgData name="Lai, Wilson" userId="2840974a-0d84-4886-90a9-9a3ed79f3a48" providerId="ADAL" clId="{9F23B798-9E84-4552-BA63-E776E805C424}" dt="2026-07-21T02:57:27.321" v="31" actId="22"/>
          <ac:picMkLst>
            <pc:docMk/>
            <pc:sldMk cId="0" sldId="265"/>
            <ac:picMk id="4" creationId="{FCBCA320-7203-38A6-28E3-311FB33F38FF}"/>
          </ac:picMkLst>
        </pc:picChg>
      </pc:sldChg>
      <pc:sldChg chg="addSp delSp mod modNotesTx">
        <pc:chgData name="Lai, Wilson" userId="2840974a-0d84-4886-90a9-9a3ed79f3a48" providerId="ADAL" clId="{9F23B798-9E84-4552-BA63-E776E805C424}" dt="2026-07-30T13:24:45.185" v="78" actId="12"/>
        <pc:sldMkLst>
          <pc:docMk/>
          <pc:sldMk cId="0" sldId="266"/>
        </pc:sldMkLst>
        <pc:picChg chg="add">
          <ac:chgData name="Lai, Wilson" userId="2840974a-0d84-4886-90a9-9a3ed79f3a48" providerId="ADAL" clId="{9F23B798-9E84-4552-BA63-E776E805C424}" dt="2026-07-21T02:57:39.017" v="33" actId="22"/>
          <ac:picMkLst>
            <pc:docMk/>
            <pc:sldMk cId="0" sldId="266"/>
            <ac:picMk id="4" creationId="{16DAA6C7-427A-DDEE-070D-C0796D7BC914}"/>
          </ac:picMkLst>
        </pc:picChg>
      </pc:sldChg>
      <pc:sldChg chg="addSp delSp mod modNotesTx">
        <pc:chgData name="Lai, Wilson" userId="2840974a-0d84-4886-90a9-9a3ed79f3a48" providerId="ADAL" clId="{9F23B798-9E84-4552-BA63-E776E805C424}" dt="2026-07-30T13:24:54.697" v="79" actId="12"/>
        <pc:sldMkLst>
          <pc:docMk/>
          <pc:sldMk cId="0" sldId="267"/>
        </pc:sldMkLst>
        <pc:picChg chg="add">
          <ac:chgData name="Lai, Wilson" userId="2840974a-0d84-4886-90a9-9a3ed79f3a48" providerId="ADAL" clId="{9F23B798-9E84-4552-BA63-E776E805C424}" dt="2026-07-21T02:58:17.521" v="35" actId="22"/>
          <ac:picMkLst>
            <pc:docMk/>
            <pc:sldMk cId="0" sldId="267"/>
            <ac:picMk id="4" creationId="{C816BCEA-F964-DEBE-BD73-912843CE40C7}"/>
          </ac:picMkLst>
        </pc:picChg>
      </pc:sldChg>
      <pc:sldChg chg="addSp delSp mod modNotesTx">
        <pc:chgData name="Lai, Wilson" userId="2840974a-0d84-4886-90a9-9a3ed79f3a48" providerId="ADAL" clId="{9F23B798-9E84-4552-BA63-E776E805C424}" dt="2026-07-30T13:25:05.445" v="80" actId="12"/>
        <pc:sldMkLst>
          <pc:docMk/>
          <pc:sldMk cId="0" sldId="268"/>
        </pc:sldMkLst>
        <pc:picChg chg="add">
          <ac:chgData name="Lai, Wilson" userId="2840974a-0d84-4886-90a9-9a3ed79f3a48" providerId="ADAL" clId="{9F23B798-9E84-4552-BA63-E776E805C424}" dt="2026-07-21T02:58:31.887" v="37" actId="22"/>
          <ac:picMkLst>
            <pc:docMk/>
            <pc:sldMk cId="0" sldId="268"/>
            <ac:picMk id="4" creationId="{60B6F7C4-2454-3A47-A9FF-279FEC038539}"/>
          </ac:picMkLst>
        </pc:picChg>
      </pc:sldChg>
      <pc:sldChg chg="addSp delSp mod modNotesTx">
        <pc:chgData name="Lai, Wilson" userId="2840974a-0d84-4886-90a9-9a3ed79f3a48" providerId="ADAL" clId="{9F23B798-9E84-4552-BA63-E776E805C424}" dt="2026-07-30T13:25:15.985" v="81" actId="12"/>
        <pc:sldMkLst>
          <pc:docMk/>
          <pc:sldMk cId="0" sldId="269"/>
        </pc:sldMkLst>
        <pc:picChg chg="add">
          <ac:chgData name="Lai, Wilson" userId="2840974a-0d84-4886-90a9-9a3ed79f3a48" providerId="ADAL" clId="{9F23B798-9E84-4552-BA63-E776E805C424}" dt="2026-07-21T02:58:43.386" v="39" actId="22"/>
          <ac:picMkLst>
            <pc:docMk/>
            <pc:sldMk cId="0" sldId="269"/>
            <ac:picMk id="4" creationId="{1074BD07-FFA7-6F52-0B0D-C4BAE38FFC04}"/>
          </ac:picMkLst>
        </pc:picChg>
      </pc:sldChg>
      <pc:sldChg chg="addSp delSp mod modNotesTx">
        <pc:chgData name="Lai, Wilson" userId="2840974a-0d84-4886-90a9-9a3ed79f3a48" providerId="ADAL" clId="{9F23B798-9E84-4552-BA63-E776E805C424}" dt="2026-07-30T13:25:32.043" v="83" actId="15"/>
        <pc:sldMkLst>
          <pc:docMk/>
          <pc:sldMk cId="0" sldId="270"/>
        </pc:sldMkLst>
        <pc:picChg chg="add">
          <ac:chgData name="Lai, Wilson" userId="2840974a-0d84-4886-90a9-9a3ed79f3a48" providerId="ADAL" clId="{9F23B798-9E84-4552-BA63-E776E805C424}" dt="2026-07-21T02:58:54.466" v="41" actId="22"/>
          <ac:picMkLst>
            <pc:docMk/>
            <pc:sldMk cId="0" sldId="270"/>
            <ac:picMk id="4" creationId="{CA90450B-E347-388A-6807-6D98268A1175}"/>
          </ac:picMkLst>
        </pc:picChg>
      </pc:sldChg>
      <pc:sldChg chg="addSp delSp mod modNotesTx">
        <pc:chgData name="Lai, Wilson" userId="2840974a-0d84-4886-90a9-9a3ed79f3a48" providerId="ADAL" clId="{9F23B798-9E84-4552-BA63-E776E805C424}" dt="2026-07-30T13:25:48.381" v="86" actId="20577"/>
        <pc:sldMkLst>
          <pc:docMk/>
          <pc:sldMk cId="0" sldId="271"/>
        </pc:sldMkLst>
        <pc:picChg chg="add">
          <ac:chgData name="Lai, Wilson" userId="2840974a-0d84-4886-90a9-9a3ed79f3a48" providerId="ADAL" clId="{9F23B798-9E84-4552-BA63-E776E805C424}" dt="2026-07-21T02:59:10.727" v="43" actId="22"/>
          <ac:picMkLst>
            <pc:docMk/>
            <pc:sldMk cId="0" sldId="271"/>
            <ac:picMk id="4" creationId="{0825D464-FD44-5B5F-71B7-69F5606DAF0D}"/>
          </ac:picMkLst>
        </pc:picChg>
      </pc:sldChg>
      <pc:sldChg chg="modNotesTx">
        <pc:chgData name="Lai, Wilson" userId="2840974a-0d84-4886-90a9-9a3ed79f3a48" providerId="ADAL" clId="{9F23B798-9E84-4552-BA63-E776E805C424}" dt="2026-07-30T13:26:03.460" v="88" actId="15"/>
        <pc:sldMkLst>
          <pc:docMk/>
          <pc:sldMk cId="477762612" sldId="272"/>
        </pc:sldMkLst>
      </pc:sldChg>
      <pc:sldMasterChg chg="setBg">
        <pc:chgData name="Lai, Wilson" userId="2840974a-0d84-4886-90a9-9a3ed79f3a48" providerId="ADAL" clId="{9F23B798-9E84-4552-BA63-E776E805C424}" dt="2026-07-21T02:53:13.951" v="0"/>
        <pc:sldMasterMkLst>
          <pc:docMk/>
          <pc:sldMasterMk cId="477604202"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4E38D-B11A-4239-9485-C96FBE08FD8A}"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31DCE7-244C-436D-BC22-433D7E70BFEE}" type="slidenum">
              <a:rPr lang="en-US" smtClean="0"/>
              <a:t>‹#›</a:t>
            </a:fld>
            <a:endParaRPr lang="en-US"/>
          </a:p>
        </p:txBody>
      </p:sp>
    </p:spTree>
    <p:extLst>
      <p:ext uri="{BB962C8B-B14F-4D97-AF65-F5344CB8AC3E}">
        <p14:creationId xmlns:p14="http://schemas.microsoft.com/office/powerpoint/2010/main" val="1849441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a:t>
            </a:r>
            <a:r>
              <a:rPr lang="zh-TW" altLang="en-US" dirty="0"/>
              <a:t> </a:t>
            </a:r>
            <a:r>
              <a:rPr lang="en-US" dirty="0"/>
              <a:t>https://www.youtube.com/watch?v=Kp__G0eUyIc</a:t>
            </a:r>
          </a:p>
          <a:p>
            <a:endParaRPr lang="en-US" dirty="0"/>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Introduction:</a:t>
            </a:r>
            <a:r>
              <a:rPr lang="en-US" sz="1200" kern="1200" dirty="0">
                <a:solidFill>
                  <a:schemeClr val="tx1"/>
                </a:solidFill>
                <a:effectLst/>
                <a:latin typeface="+mn-lt"/>
                <a:ea typeface="+mn-ea"/>
                <a:cs typeface="+mn-cs"/>
              </a:rPr>
              <a:t> "Welcome everyone. Today we are exploring 'The Uncertainty Blueprint'—a framework synthesized from legendary investor Howard Marks' conversation on </a:t>
            </a:r>
            <a:r>
              <a:rPr lang="en-US" sz="1200" i="1" kern="1200" dirty="0">
                <a:solidFill>
                  <a:schemeClr val="tx1"/>
                </a:solidFill>
                <a:effectLst/>
                <a:latin typeface="+mn-lt"/>
                <a:ea typeface="+mn-ea"/>
                <a:cs typeface="+mn-cs"/>
              </a:rPr>
              <a:t>My First Million</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Context &amp; Hook:</a:t>
            </a:r>
            <a:r>
              <a:rPr lang="en-US" sz="1200" kern="1200" dirty="0">
                <a:solidFill>
                  <a:schemeClr val="tx1"/>
                </a:solidFill>
                <a:effectLst/>
                <a:latin typeface="+mn-lt"/>
                <a:ea typeface="+mn-ea"/>
                <a:cs typeface="+mn-cs"/>
              </a:rPr>
              <a:t> "In an era increasingly dominated by technology, artificial intelligence, and macro volatility, we often ask: </a:t>
            </a:r>
            <a:r>
              <a:rPr lang="en-US" sz="1200" i="1" kern="1200" dirty="0">
                <a:solidFill>
                  <a:schemeClr val="tx1"/>
                </a:solidFill>
                <a:effectLst/>
                <a:latin typeface="+mn-lt"/>
                <a:ea typeface="+mn-ea"/>
                <a:cs typeface="+mn-cs"/>
              </a:rPr>
              <a:t>What can computers do, and what is left for humans?</a:t>
            </a:r>
            <a:r>
              <a:rPr lang="en-US" sz="1200" kern="1200" dirty="0">
                <a:solidFill>
                  <a:schemeClr val="tx1"/>
                </a:solidFill>
                <a:effectLst/>
                <a:latin typeface="+mn-lt"/>
                <a:ea typeface="+mn-ea"/>
                <a:cs typeface="+mn-cs"/>
              </a:rPr>
              <a:t> Marks argues that while AI can process vast amounts of historical data instantly, true outperformance and survival come from human judgment, emotional discipline, and second-level thinking—the things AI cannot calculate."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Session Purpose:</a:t>
            </a:r>
            <a:r>
              <a:rPr lang="en-US" sz="1200" kern="1200" dirty="0">
                <a:solidFill>
                  <a:schemeClr val="tx1"/>
                </a:solidFill>
                <a:effectLst/>
                <a:latin typeface="+mn-lt"/>
                <a:ea typeface="+mn-ea"/>
                <a:cs typeface="+mn-cs"/>
              </a:rPr>
              <a:t> "Over the next 16 slides, we will break down four critical pillars: how AI changes technology, how to deploy capital in extreme markets, how to build 30+ year partnerships, and how to design an intentional life."</a:t>
            </a:r>
          </a:p>
          <a:p>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1</a:t>
            </a:fld>
            <a:endParaRPr lang="en-US"/>
          </a:p>
        </p:txBody>
      </p:sp>
    </p:spTree>
    <p:extLst>
      <p:ext uri="{BB962C8B-B14F-4D97-AF65-F5344CB8AC3E}">
        <p14:creationId xmlns:p14="http://schemas.microsoft.com/office/powerpoint/2010/main" val="2969599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"To navigate deep uncertainty, we must evaluate decisions across four interconnected domains: </a:t>
            </a:r>
          </a:p>
          <a:p>
            <a:pPr marL="685800" lvl="1" indent="-228600">
              <a:buFont typeface="+mj-lt"/>
              <a:buAutoNum type="arabicPeriod"/>
            </a:pPr>
            <a:r>
              <a:rPr lang="en-US" sz="1200" b="1" kern="1200" dirty="0">
                <a:solidFill>
                  <a:schemeClr val="tx1"/>
                </a:solidFill>
                <a:effectLst/>
                <a:latin typeface="+mn-lt"/>
                <a:ea typeface="+mn-ea"/>
                <a:cs typeface="+mn-cs"/>
              </a:rPr>
              <a:t>Technology:</a:t>
            </a:r>
            <a:r>
              <a:rPr lang="en-US" sz="1200" kern="1200" dirty="0">
                <a:solidFill>
                  <a:schemeClr val="tx1"/>
                </a:solidFill>
                <a:effectLst/>
                <a:latin typeface="+mn-lt"/>
                <a:ea typeface="+mn-ea"/>
                <a:cs typeface="+mn-cs"/>
              </a:rPr>
              <a:t> Assessing unprecedented technological disruptions like AI, where historical models fail. </a:t>
            </a:r>
          </a:p>
          <a:p>
            <a:pPr marL="685800" lvl="1" indent="-228600">
              <a:buFont typeface="+mj-lt"/>
              <a:buAutoNum type="arabicPeriod"/>
            </a:pPr>
            <a:r>
              <a:rPr lang="en-US" sz="1200" b="1" kern="1200" dirty="0">
                <a:solidFill>
                  <a:schemeClr val="tx1"/>
                </a:solidFill>
                <a:effectLst/>
                <a:latin typeface="+mn-lt"/>
                <a:ea typeface="+mn-ea"/>
                <a:cs typeface="+mn-cs"/>
              </a:rPr>
              <a:t>Markets:</a:t>
            </a:r>
            <a:r>
              <a:rPr lang="en-US" sz="1200" kern="1200" dirty="0">
                <a:solidFill>
                  <a:schemeClr val="tx1"/>
                </a:solidFill>
                <a:effectLst/>
                <a:latin typeface="+mn-lt"/>
                <a:ea typeface="+mn-ea"/>
                <a:cs typeface="+mn-cs"/>
              </a:rPr>
              <a:t> Deploying capital during moments of crisis when you have zero historical precedent. </a:t>
            </a:r>
          </a:p>
          <a:p>
            <a:pPr marL="685800" lvl="1" indent="-228600">
              <a:buFont typeface="+mj-lt"/>
              <a:buAutoNum type="arabicPeriod"/>
            </a:pPr>
            <a:r>
              <a:rPr lang="en-US" sz="1200" b="1" kern="1200" dirty="0">
                <a:solidFill>
                  <a:schemeClr val="tx1"/>
                </a:solidFill>
                <a:effectLst/>
                <a:latin typeface="+mn-lt"/>
                <a:ea typeface="+mn-ea"/>
                <a:cs typeface="+mn-cs"/>
              </a:rPr>
              <a:t>Partnerships:</a:t>
            </a:r>
            <a:r>
              <a:rPr lang="en-US" sz="1200" kern="1200" dirty="0">
                <a:solidFill>
                  <a:schemeClr val="tx1"/>
                </a:solidFill>
                <a:effectLst/>
                <a:latin typeface="+mn-lt"/>
                <a:ea typeface="+mn-ea"/>
                <a:cs typeface="+mn-cs"/>
              </a:rPr>
              <a:t> Aligning human capital, shared ethics, and complementary talents for decades. </a:t>
            </a:r>
          </a:p>
          <a:p>
            <a:pPr marL="685800" lvl="1" indent="-228600">
              <a:buFont typeface="+mj-lt"/>
              <a:buAutoNum type="arabicPeriod"/>
            </a:pPr>
            <a:r>
              <a:rPr lang="en-US" sz="1200" b="1" kern="1200" dirty="0">
                <a:solidFill>
                  <a:schemeClr val="tx1"/>
                </a:solidFill>
                <a:effectLst/>
                <a:latin typeface="+mn-lt"/>
                <a:ea typeface="+mn-ea"/>
                <a:cs typeface="+mn-cs"/>
              </a:rPr>
              <a:t>Philosophy:</a:t>
            </a:r>
            <a:r>
              <a:rPr lang="en-US" sz="1200" kern="1200" dirty="0">
                <a:solidFill>
                  <a:schemeClr val="tx1"/>
                </a:solidFill>
                <a:effectLst/>
                <a:latin typeface="+mn-lt"/>
                <a:ea typeface="+mn-ea"/>
                <a:cs typeface="+mn-cs"/>
              </a:rPr>
              <a:t> Shifting from living life on autopilot to making intentional choices."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"Mastery isn't just about picking stocks or analyzing balance sheets; it requires a holistic blueprint that balances intellect, emotional fortitude, and self-awareness."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2</a:t>
            </a:fld>
            <a:endParaRPr lang="en-US"/>
          </a:p>
        </p:txBody>
      </p:sp>
    </p:spTree>
    <p:extLst>
      <p:ext uri="{BB962C8B-B14F-4D97-AF65-F5344CB8AC3E}">
        <p14:creationId xmlns:p14="http://schemas.microsoft.com/office/powerpoint/2010/main" val="2535907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Historical Context:</a:t>
            </a:r>
            <a:r>
              <a:rPr lang="en-US" sz="1200" kern="1200" dirty="0">
                <a:solidFill>
                  <a:schemeClr val="tx1"/>
                </a:solidFill>
                <a:effectLst/>
                <a:latin typeface="+mn-lt"/>
                <a:ea typeface="+mn-ea"/>
                <a:cs typeface="+mn-cs"/>
              </a:rPr>
              <a:t> "In Howard Marks' recent memos, he highlights why AI is fundamentally different from every innovation that came before it."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Three Eras: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Phase 1 (Speed Era):</a:t>
            </a:r>
            <a:r>
              <a:rPr lang="en-US" sz="1200" kern="1200" dirty="0">
                <a:solidFill>
                  <a:schemeClr val="tx1"/>
                </a:solidFill>
                <a:effectLst/>
                <a:latin typeface="+mn-lt"/>
                <a:ea typeface="+mn-ea"/>
                <a:cs typeface="+mn-cs"/>
              </a:rPr>
              <a:t> "Inventions like railroads simply accelerated physical movement."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Phase 2 (Compute Era):</a:t>
            </a:r>
            <a:r>
              <a:rPr lang="en-US" sz="1200" kern="1200" dirty="0">
                <a:solidFill>
                  <a:schemeClr val="tx1"/>
                </a:solidFill>
                <a:effectLst/>
                <a:latin typeface="+mn-lt"/>
                <a:ea typeface="+mn-ea"/>
                <a:cs typeface="+mn-cs"/>
              </a:rPr>
              <a:t> "Traditional computers and the internet allowed us to read, remember, add, and subtract without arithmetic error or emotional fatigue."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Phase 3 (Autonomy Era):</a:t>
            </a:r>
            <a:r>
              <a:rPr lang="en-US" sz="1200" kern="1200" dirty="0">
                <a:solidFill>
                  <a:schemeClr val="tx1"/>
                </a:solidFill>
                <a:effectLst/>
                <a:latin typeface="+mn-lt"/>
                <a:ea typeface="+mn-ea"/>
                <a:cs typeface="+mn-cs"/>
              </a:rPr>
              <a:t> "AI breaks this boundary. Marks notes that AI is the first technology given a job without being told step-by-step how to do it."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Video Reference:</a:t>
            </a:r>
            <a:r>
              <a:rPr lang="en-US" sz="1200" kern="1200" dirty="0">
                <a:solidFill>
                  <a:schemeClr val="tx1"/>
                </a:solidFill>
                <a:effectLst/>
                <a:latin typeface="+mn-lt"/>
                <a:ea typeface="+mn-ea"/>
                <a:cs typeface="+mn-cs"/>
              </a:rPr>
              <a:t> "As Marks explained on the podcast: 'All other technological innovations... were all tools to speed up and increase productivity. There's never been anything with the quality of autonomy—the idea that you can give it a job and not tell it how to do it, and it'll figure it out'."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3</a:t>
            </a:fld>
            <a:endParaRPr lang="en-US"/>
          </a:p>
        </p:txBody>
      </p:sp>
    </p:spTree>
    <p:extLst>
      <p:ext uri="{BB962C8B-B14F-4D97-AF65-F5344CB8AC3E}">
        <p14:creationId xmlns:p14="http://schemas.microsoft.com/office/powerpoint/2010/main" val="329669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Comparison Matrix:</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Data Processing:</a:t>
            </a:r>
            <a:r>
              <a:rPr lang="en-US" sz="1200" kern="1200" dirty="0">
                <a:solidFill>
                  <a:schemeClr val="tx1"/>
                </a:solidFill>
                <a:effectLst/>
                <a:latin typeface="+mn-lt"/>
                <a:ea typeface="+mn-ea"/>
                <a:cs typeface="+mn-cs"/>
              </a:rPr>
              <a:t> AI excels at recognizing and extrapolating historical patterns. Humans excel when operating in environments with zero historical precedent.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Operational Mode:</a:t>
            </a:r>
            <a:r>
              <a:rPr lang="en-US" sz="1200" kern="1200" dirty="0">
                <a:solidFill>
                  <a:schemeClr val="tx1"/>
                </a:solidFill>
                <a:effectLst/>
                <a:latin typeface="+mn-lt"/>
                <a:ea typeface="+mn-ea"/>
                <a:cs typeface="+mn-cs"/>
              </a:rPr>
              <a:t> AI processes massive datasets without bias, while human judgment relies on probabilistic variant perception.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Human Advantage:</a:t>
            </a:r>
            <a:r>
              <a:rPr lang="en-US" sz="1200" kern="1200" dirty="0">
                <a:solidFill>
                  <a:schemeClr val="tx1"/>
                </a:solidFill>
                <a:effectLst/>
                <a:latin typeface="+mn-lt"/>
                <a:ea typeface="+mn-ea"/>
                <a:cs typeface="+mn-cs"/>
              </a:rPr>
              <a:t> "What is left that AI cannot do? Marks points to instinct and qualitative judgment. For instance, avoiding bad actors: 'Sometimes you talk to people and for undefinable reasons... the hair on the back of your neck goes up. If AI doesn't have hair on its neck, maybe there's a role left for experienced investors with judgment'."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Closing Quote:</a:t>
            </a:r>
            <a:r>
              <a:rPr lang="en-US" sz="1200" kern="1200" dirty="0">
                <a:solidFill>
                  <a:schemeClr val="tx1"/>
                </a:solidFill>
                <a:effectLst/>
                <a:latin typeface="+mn-lt"/>
                <a:ea typeface="+mn-ea"/>
                <a:cs typeface="+mn-cs"/>
              </a:rPr>
              <a:t> "As Marks quips regarding outperformance: 'In basketball, you can't coach height. In investing, you can't coach insight'."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4</a:t>
            </a:fld>
            <a:endParaRPr lang="en-US"/>
          </a:p>
        </p:txBody>
      </p:sp>
    </p:spTree>
    <p:extLst>
      <p:ext uri="{BB962C8B-B14F-4D97-AF65-F5344CB8AC3E}">
        <p14:creationId xmlns:p14="http://schemas.microsoft.com/office/powerpoint/2010/main" val="2904194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First-Level Thinking:</a:t>
            </a:r>
            <a:r>
              <a:rPr lang="en-US" sz="1200" kern="1200" dirty="0">
                <a:solidFill>
                  <a:schemeClr val="tx1"/>
                </a:solidFill>
                <a:effectLst/>
                <a:latin typeface="+mn-lt"/>
                <a:ea typeface="+mn-ea"/>
                <a:cs typeface="+mn-cs"/>
              </a:rPr>
              <a:t> "First-level thinkers see the world simply: 'It's a good company, so let's buy the stock'. They follow consensus and naturally get average returns."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Second-Level Thinking:</a:t>
            </a:r>
            <a:r>
              <a:rPr lang="en-US" sz="1200" kern="1200" dirty="0">
                <a:solidFill>
                  <a:schemeClr val="tx1"/>
                </a:solidFill>
                <a:effectLst/>
                <a:latin typeface="+mn-lt"/>
                <a:ea typeface="+mn-ea"/>
                <a:cs typeface="+mn-cs"/>
              </a:rPr>
              <a:t> "To achieve superior returns, you must engage in second-level thinking. You observe the consensus view, form a </a:t>
            </a:r>
            <a:r>
              <a:rPr lang="en-US" sz="1200" b="1" kern="1200" dirty="0">
                <a:solidFill>
                  <a:schemeClr val="tx1"/>
                </a:solidFill>
                <a:effectLst/>
                <a:latin typeface="+mn-lt"/>
                <a:ea typeface="+mn-ea"/>
                <a:cs typeface="+mn-cs"/>
              </a:rPr>
              <a:t>Variant Perception</a:t>
            </a:r>
            <a:r>
              <a:rPr lang="en-US" sz="1200" kern="1200" dirty="0">
                <a:solidFill>
                  <a:schemeClr val="tx1"/>
                </a:solidFill>
                <a:effectLst/>
                <a:latin typeface="+mn-lt"/>
                <a:ea typeface="+mn-ea"/>
                <a:cs typeface="+mn-cs"/>
              </a:rPr>
              <a:t> (evaluating growth, quality, or multiples differently), bet against consensus, and be right."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Video Reference:</a:t>
            </a:r>
            <a:r>
              <a:rPr lang="en-US" sz="1200" kern="1200" dirty="0">
                <a:solidFill>
                  <a:schemeClr val="tx1"/>
                </a:solidFill>
                <a:effectLst/>
                <a:latin typeface="+mn-lt"/>
                <a:ea typeface="+mn-ea"/>
                <a:cs typeface="+mn-cs"/>
              </a:rPr>
              <a:t> "Marks emphasizes: 'If you don't see anything different from everybody else, you cannot possibly be superior'. Can second-level thinking be taught? Marks admits he can teach you the </a:t>
            </a:r>
            <a:r>
              <a:rPr lang="en-US" sz="1200" i="1" kern="1200" dirty="0">
                <a:solidFill>
                  <a:schemeClr val="tx1"/>
                </a:solidFill>
                <a:effectLst/>
                <a:latin typeface="+mn-lt"/>
                <a:ea typeface="+mn-ea"/>
                <a:cs typeface="+mn-cs"/>
              </a:rPr>
              <a:t>importance</a:t>
            </a:r>
            <a:r>
              <a:rPr lang="en-US" sz="1200" kern="1200" dirty="0">
                <a:solidFill>
                  <a:schemeClr val="tx1"/>
                </a:solidFill>
                <a:effectLst/>
                <a:latin typeface="+mn-lt"/>
                <a:ea typeface="+mn-ea"/>
                <a:cs typeface="+mn-cs"/>
              </a:rPr>
              <a:t> of it, but not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to have unique insights that differ from consensus and turn out to be correct."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5</a:t>
            </a:fld>
            <a:endParaRPr lang="en-US"/>
          </a:p>
        </p:txBody>
      </p:sp>
    </p:spTree>
    <p:extLst>
      <p:ext uri="{BB962C8B-B14F-4D97-AF65-F5344CB8AC3E}">
        <p14:creationId xmlns:p14="http://schemas.microsoft.com/office/powerpoint/2010/main" val="741923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Analogy:</a:t>
            </a:r>
            <a:r>
              <a:rPr lang="en-US" sz="1200" kern="1200" dirty="0">
                <a:solidFill>
                  <a:schemeClr val="tx1"/>
                </a:solidFill>
                <a:effectLst/>
                <a:latin typeface="+mn-lt"/>
                <a:ea typeface="+mn-ea"/>
                <a:cs typeface="+mn-cs"/>
              </a:rPr>
              <a:t> "Citing a favorite movie line, Marks asks: 'When did Noah build the ark? Before the flood'. You cannot build protection or raise capital in the middle of a deluge."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Marker 1 (The Raising Phase - 2007/2008):</a:t>
            </a:r>
            <a:r>
              <a:rPr lang="en-US" sz="1200" kern="1200" dirty="0">
                <a:solidFill>
                  <a:schemeClr val="tx1"/>
                </a:solidFill>
                <a:effectLst/>
                <a:latin typeface="+mn-lt"/>
                <a:ea typeface="+mn-ea"/>
                <a:cs typeface="+mn-cs"/>
              </a:rPr>
              <a:t> "In 2007–2008, Oaktree raised an unprecedented $11 billion distressed debt fund. Why? Because the market was failing its main job as a disciplinarian—dumb ideas were getting funded."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Marker 2 (The Deployment Phase):</a:t>
            </a:r>
            <a:r>
              <a:rPr lang="en-US" sz="1200" kern="1200" dirty="0">
                <a:solidFill>
                  <a:schemeClr val="tx1"/>
                </a:solidFill>
                <a:effectLst/>
                <a:latin typeface="+mn-lt"/>
                <a:ea typeface="+mn-ea"/>
                <a:cs typeface="+mn-cs"/>
              </a:rPr>
              <a:t> "When Lehman Brothers collapsed in late 2008, Oaktree deployed $450 million a week for 15 weeks ($7 billion in one quarter). They could do this only because they built the capital 'ark' before the panic hit."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6</a:t>
            </a:fld>
            <a:endParaRPr lang="en-US"/>
          </a:p>
        </p:txBody>
      </p:sp>
    </p:spTree>
    <p:extLst>
      <p:ext uri="{BB962C8B-B14F-4D97-AF65-F5344CB8AC3E}">
        <p14:creationId xmlns:p14="http://schemas.microsoft.com/office/powerpoint/2010/main" val="3014012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3-Layer Framework:</a:t>
            </a:r>
            <a:r>
              <a:rPr lang="en-US" sz="1200" kern="1200" dirty="0">
                <a:solidFill>
                  <a:schemeClr val="tx1"/>
                </a:solidFill>
                <a:effectLst/>
                <a:latin typeface="+mn-lt"/>
                <a:ea typeface="+mn-ea"/>
                <a:cs typeface="+mn-cs"/>
              </a:rPr>
              <a:t> "During crisis, decision-making relies on three layers: Data, Analogies, and Supposition."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Layer 1 (Data):</a:t>
            </a:r>
            <a:r>
              <a:rPr lang="en-US" sz="1200" kern="1200" dirty="0">
                <a:solidFill>
                  <a:schemeClr val="tx1"/>
                </a:solidFill>
                <a:effectLst/>
                <a:latin typeface="+mn-lt"/>
                <a:ea typeface="+mn-ea"/>
                <a:cs typeface="+mn-cs"/>
              </a:rPr>
              <a:t> Missing. There is no historical dataset for the total meltdown of the global financial system.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Layer 2 (Analogies):</a:t>
            </a:r>
            <a:r>
              <a:rPr lang="en-US" sz="1200" kern="1200" dirty="0">
                <a:solidFill>
                  <a:schemeClr val="tx1"/>
                </a:solidFill>
                <a:effectLst/>
                <a:latin typeface="+mn-lt"/>
                <a:ea typeface="+mn-ea"/>
                <a:cs typeface="+mn-cs"/>
              </a:rPr>
              <a:t> Missing. No past experience applies to systemic failure.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Layer 3 (Supposition):</a:t>
            </a:r>
            <a:r>
              <a:rPr lang="en-US" sz="1200" kern="1200" dirty="0">
                <a:solidFill>
                  <a:schemeClr val="tx1"/>
                </a:solidFill>
                <a:effectLst/>
                <a:latin typeface="+mn-lt"/>
                <a:ea typeface="+mn-ea"/>
                <a:cs typeface="+mn-cs"/>
              </a:rPr>
              <a:t> The only remaining tool.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Decision Matrix:</a:t>
            </a:r>
            <a:r>
              <a:rPr lang="en-US" sz="1200" kern="1200" dirty="0">
                <a:solidFill>
                  <a:schemeClr val="tx1"/>
                </a:solidFill>
                <a:effectLst/>
                <a:latin typeface="+mn-lt"/>
                <a:ea typeface="+mn-ea"/>
                <a:cs typeface="+mn-cs"/>
              </a:rPr>
              <a:t> "In September 2008, Marks and his partner Bruce Karsh faced a stark binary choice: </a:t>
            </a:r>
          </a:p>
          <a:p>
            <a:pPr marL="685800" lvl="1" indent="-228600">
              <a:buFont typeface="+mj-lt"/>
              <a:buAutoNum type="arabicPeriod"/>
            </a:pPr>
            <a:r>
              <a:rPr lang="en-US" sz="1200" i="1" kern="1200" dirty="0">
                <a:solidFill>
                  <a:schemeClr val="tx1"/>
                </a:solidFill>
                <a:effectLst/>
                <a:latin typeface="+mn-lt"/>
                <a:ea typeface="+mn-ea"/>
                <a:cs typeface="+mn-cs"/>
              </a:rPr>
              <a:t>If we invest and the world melts down:</a:t>
            </a:r>
            <a:r>
              <a:rPr lang="en-US" sz="1200" kern="1200" dirty="0">
                <a:solidFill>
                  <a:schemeClr val="tx1"/>
                </a:solidFill>
                <a:effectLst/>
                <a:latin typeface="+mn-lt"/>
                <a:ea typeface="+mn-ea"/>
                <a:cs typeface="+mn-cs"/>
              </a:rPr>
              <a:t> It doesn't matter, because money will cease to hold value anyway. </a:t>
            </a:r>
          </a:p>
          <a:p>
            <a:pPr marL="685800" lvl="1" indent="-228600">
              <a:buFont typeface="+mj-lt"/>
              <a:buAutoNum type="arabicPeriod"/>
            </a:pPr>
            <a:r>
              <a:rPr lang="en-US" sz="1200" i="1" kern="1200" dirty="0">
                <a:solidFill>
                  <a:schemeClr val="tx1"/>
                </a:solidFill>
                <a:effectLst/>
                <a:latin typeface="+mn-lt"/>
                <a:ea typeface="+mn-ea"/>
                <a:cs typeface="+mn-cs"/>
              </a:rPr>
              <a:t>If we don't invest and the world recovers:</a:t>
            </a:r>
            <a:r>
              <a:rPr lang="en-US" sz="1200" kern="1200" dirty="0">
                <a:solidFill>
                  <a:schemeClr val="tx1"/>
                </a:solidFill>
                <a:effectLst/>
                <a:latin typeface="+mn-lt"/>
                <a:ea typeface="+mn-ea"/>
                <a:cs typeface="+mn-cs"/>
              </a:rPr>
              <a:t> We failed to do our job."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"They acted decisively on quantitative bargains, buying senior debt at massive discounts."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7</a:t>
            </a:fld>
            <a:endParaRPr lang="en-US"/>
          </a:p>
        </p:txBody>
      </p:sp>
    </p:spTree>
    <p:extLst>
      <p:ext uri="{BB962C8B-B14F-4D97-AF65-F5344CB8AC3E}">
        <p14:creationId xmlns:p14="http://schemas.microsoft.com/office/powerpoint/2010/main" val="1585638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Myth vs. Reality:</a:t>
            </a:r>
            <a:r>
              <a:rPr lang="en-US" sz="1200" kern="1200" dirty="0">
                <a:solidFill>
                  <a:schemeClr val="tx1"/>
                </a:solidFill>
                <a:effectLst/>
                <a:latin typeface="+mn-lt"/>
                <a:ea typeface="+mn-ea"/>
                <a:cs typeface="+mn-cs"/>
              </a:rPr>
              <a:t> "We often imagine great investors as fearless battle heroes who charge into falling markets without anxiety. Marks dismantles this myth."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Video Reference:</a:t>
            </a:r>
            <a:r>
              <a:rPr lang="en-US" sz="1200" kern="1200" dirty="0">
                <a:solidFill>
                  <a:schemeClr val="tx1"/>
                </a:solidFill>
                <a:effectLst/>
                <a:latin typeface="+mn-lt"/>
                <a:ea typeface="+mn-ea"/>
                <a:cs typeface="+mn-cs"/>
              </a:rPr>
              <a:t> "Marks shares: 'I read the same newspapers, watch the same TV, and see the same terrible news. I overcome it in some way, but I'm not immune. A battle hero is not somebody who's unafraid; it's somebody who's afraid but does it anyway'."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"'If you wait until you have nothing to be afraid about, the opportunity has already passed'."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8</a:t>
            </a:fld>
            <a:endParaRPr lang="en-US"/>
          </a:p>
        </p:txBody>
      </p:sp>
    </p:spTree>
    <p:extLst>
      <p:ext uri="{BB962C8B-B14F-4D97-AF65-F5344CB8AC3E}">
        <p14:creationId xmlns:p14="http://schemas.microsoft.com/office/powerpoint/2010/main" val="4002225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Model:</a:t>
            </a:r>
            <a:r>
              <a:rPr lang="en-US" sz="1200" kern="1200" dirty="0">
                <a:solidFill>
                  <a:schemeClr val="tx1"/>
                </a:solidFill>
                <a:effectLst/>
                <a:latin typeface="+mn-lt"/>
                <a:ea typeface="+mn-ea"/>
                <a:cs typeface="+mn-cs"/>
              </a:rPr>
              <a:t> "Howard Marks and Bruce Karsh have been partners at Oaktree for 39 years without ever having a major fight."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Two Pillars:</a:t>
            </a:r>
            <a:endParaRPr lang="en-US" sz="1200" kern="1200" dirty="0">
              <a:solidFill>
                <a:schemeClr val="tx1"/>
              </a:solidFill>
              <a:effectLst/>
              <a:latin typeface="+mn-lt"/>
              <a:ea typeface="+mn-ea"/>
              <a:cs typeface="+mn-cs"/>
            </a:endParaRPr>
          </a:p>
          <a:p>
            <a:pPr marL="685800" lvl="1" indent="-228600">
              <a:buFont typeface="+mj-lt"/>
              <a:buAutoNum type="arabicPeriod"/>
            </a:pPr>
            <a:r>
              <a:rPr lang="en-US" sz="1200" b="1" kern="1200" dirty="0">
                <a:solidFill>
                  <a:schemeClr val="tx1"/>
                </a:solidFill>
                <a:effectLst/>
                <a:latin typeface="+mn-lt"/>
                <a:ea typeface="+mn-ea"/>
                <a:cs typeface="+mn-cs"/>
              </a:rPr>
              <a:t>Central Axis (Shared Values):</a:t>
            </a:r>
            <a:r>
              <a:rPr lang="en-US" sz="1200" kern="1200" dirty="0">
                <a:solidFill>
                  <a:schemeClr val="tx1"/>
                </a:solidFill>
                <a:effectLst/>
                <a:latin typeface="+mn-lt"/>
                <a:ea typeface="+mn-ea"/>
                <a:cs typeface="+mn-cs"/>
              </a:rPr>
              <a:t> "You cannot pair a highly ethical person with a corner-cutter, or a 'cowboy' with a 'chicken'. In bad times, chickens say cowboys are killing them; in good times, cowboys say chickens hold them back." </a:t>
            </a:r>
          </a:p>
          <a:p>
            <a:pPr marL="685800" lvl="1" indent="-228600">
              <a:buFont typeface="+mj-lt"/>
              <a:buAutoNum type="arabicPeriod"/>
            </a:pPr>
            <a:r>
              <a:rPr lang="en-US" sz="1200" b="1" kern="1200" dirty="0">
                <a:solidFill>
                  <a:schemeClr val="tx1"/>
                </a:solidFill>
                <a:effectLst/>
                <a:latin typeface="+mn-lt"/>
                <a:ea typeface="+mn-ea"/>
                <a:cs typeface="+mn-cs"/>
              </a:rPr>
              <a:t>Complementary Skills:</a:t>
            </a:r>
            <a:r>
              <a:rPr lang="en-US" sz="1200" kern="1200" dirty="0">
                <a:solidFill>
                  <a:schemeClr val="tx1"/>
                </a:solidFill>
                <a:effectLst/>
                <a:latin typeface="+mn-lt"/>
                <a:ea typeface="+mn-ea"/>
                <a:cs typeface="+mn-cs"/>
              </a:rPr>
              <a:t> "Marks goes on the road, communicates, and writes memos; Karsh stays back and manages the portfolio. Both respect and appreciate what the other brings to the table."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9</a:t>
            </a:fld>
            <a:endParaRPr lang="en-US"/>
          </a:p>
        </p:txBody>
      </p:sp>
    </p:spTree>
    <p:extLst>
      <p:ext uri="{BB962C8B-B14F-4D97-AF65-F5344CB8AC3E}">
        <p14:creationId xmlns:p14="http://schemas.microsoft.com/office/powerpoint/2010/main" val="4229329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Input (Warren Buffett):</a:t>
            </a:r>
            <a:r>
              <a:rPr lang="en-US" sz="1200" kern="1200" dirty="0">
                <a:solidFill>
                  <a:schemeClr val="tx1"/>
                </a:solidFill>
                <a:effectLst/>
                <a:latin typeface="+mn-lt"/>
                <a:ea typeface="+mn-ea"/>
                <a:cs typeface="+mn-cs"/>
              </a:rPr>
              <a:t> "Buffett began his career practicing Benjamin Graham's 'cigar butt investing'—finding discarded, cheap companies with just three 'puffs' of value left."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Filter (Charlie Munger):</a:t>
            </a:r>
            <a:r>
              <a:rPr lang="en-US" sz="1200" kern="1200" dirty="0">
                <a:solidFill>
                  <a:schemeClr val="tx1"/>
                </a:solidFill>
                <a:effectLst/>
                <a:latin typeface="+mn-lt"/>
                <a:ea typeface="+mn-ea"/>
                <a:cs typeface="+mn-cs"/>
              </a:rPr>
              <a:t> "Munger acted as the classicist, humanist, and logical sounding board."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Paradigm Shift:</a:t>
            </a:r>
            <a:r>
              <a:rPr lang="en-US" sz="1200" kern="1200" dirty="0">
                <a:solidFill>
                  <a:schemeClr val="tx1"/>
                </a:solidFill>
                <a:effectLst/>
                <a:latin typeface="+mn-lt"/>
                <a:ea typeface="+mn-ea"/>
                <a:cs typeface="+mn-cs"/>
              </a:rPr>
              <a:t> "Munger convinced Buffett to move away from cheap 'cats and dogs' toward buying </a:t>
            </a:r>
            <a:r>
              <a:rPr lang="en-US" sz="1200" b="1" kern="1200" dirty="0">
                <a:solidFill>
                  <a:schemeClr val="tx1"/>
                </a:solidFill>
                <a:effectLst/>
                <a:latin typeface="+mn-lt"/>
                <a:ea typeface="+mn-ea"/>
                <a:cs typeface="+mn-cs"/>
              </a:rPr>
              <a:t>great companies at a good price</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Relationship Dynamic:</a:t>
            </a:r>
            <a:r>
              <a:rPr lang="en-US" sz="1200" kern="1200" dirty="0">
                <a:solidFill>
                  <a:schemeClr val="tx1"/>
                </a:solidFill>
                <a:effectLst/>
                <a:latin typeface="+mn-lt"/>
                <a:ea typeface="+mn-ea"/>
                <a:cs typeface="+mn-cs"/>
              </a:rPr>
              <a:t> "Their 60+ year partnership was suffused with humor, mutual respect, and affection—proof that human connection drives long-term compounding."</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10</a:t>
            </a:fld>
            <a:endParaRPr lang="en-US"/>
          </a:p>
        </p:txBody>
      </p:sp>
    </p:spTree>
    <p:extLst>
      <p:ext uri="{BB962C8B-B14F-4D97-AF65-F5344CB8AC3E}">
        <p14:creationId xmlns:p14="http://schemas.microsoft.com/office/powerpoint/2010/main" val="2785705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Drift (Ages 20 to ~50):</a:t>
            </a:r>
            <a:r>
              <a:rPr lang="en-US" sz="1200" kern="1200" dirty="0">
                <a:solidFill>
                  <a:schemeClr val="tx1"/>
                </a:solidFill>
                <a:effectLst/>
                <a:latin typeface="+mn-lt"/>
                <a:ea typeface="+mn-ea"/>
                <a:cs typeface="+mn-cs"/>
              </a:rPr>
              <a:t> "Marks candidly admits that for the first half of his career, he 'drifted'. He joined Citibank by chance in 1969, moved to bonds because equity research didn't work out, and moved to California just for sunshine."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Design (Ages 50+):</a:t>
            </a:r>
            <a:r>
              <a:rPr lang="en-US" sz="1200" kern="1200" dirty="0">
                <a:solidFill>
                  <a:schemeClr val="tx1"/>
                </a:solidFill>
                <a:effectLst/>
                <a:latin typeface="+mn-lt"/>
                <a:ea typeface="+mn-ea"/>
                <a:cs typeface="+mn-cs"/>
              </a:rPr>
              <a:t> "In 1995, at age 49, Marks intentionally chose to start Oaktree."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Golden Rule:</a:t>
            </a:r>
            <a:r>
              <a:rPr lang="en-US" sz="1200" kern="1200" dirty="0">
                <a:solidFill>
                  <a:schemeClr val="tx1"/>
                </a:solidFill>
                <a:effectLst/>
                <a:latin typeface="+mn-lt"/>
                <a:ea typeface="+mn-ea"/>
                <a:cs typeface="+mn-cs"/>
              </a:rPr>
              <a:t> "Quoting Christopher Morley, Marks notes: 'There is only one success: to live your life your own way'. Play to your strengths, avoid your weaknesses, and do not let society, peers, or parents dictate your career choices."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11</a:t>
            </a:fld>
            <a:endParaRPr lang="en-US"/>
          </a:p>
        </p:txBody>
      </p:sp>
    </p:spTree>
    <p:extLst>
      <p:ext uri="{BB962C8B-B14F-4D97-AF65-F5344CB8AC3E}">
        <p14:creationId xmlns:p14="http://schemas.microsoft.com/office/powerpoint/2010/main" val="1794476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Wall Street Shrink Insight:</a:t>
            </a:r>
            <a:r>
              <a:rPr lang="en-US" sz="1200" kern="1200" dirty="0">
                <a:solidFill>
                  <a:schemeClr val="tx1"/>
                </a:solidFill>
                <a:effectLst/>
                <a:latin typeface="+mn-lt"/>
                <a:ea typeface="+mn-ea"/>
                <a:cs typeface="+mn-cs"/>
              </a:rPr>
              <a:t> "Marks cites a Wall Street psychiatrist who observed that patients' emotional problems were inversely proportional to the support they received from their parents."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Eradicate Ego:</a:t>
            </a:r>
            <a:r>
              <a:rPr lang="en-US" sz="1200" kern="1200" dirty="0">
                <a:solidFill>
                  <a:schemeClr val="tx1"/>
                </a:solidFill>
                <a:effectLst/>
                <a:latin typeface="+mn-lt"/>
                <a:ea typeface="+mn-ea"/>
                <a:cs typeface="+mn-cs"/>
              </a:rPr>
              <a:t> "Successful people often feel a need to assert superiority over their children. Marks advises: 'Let them be smarter than you in certain areas'."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Allowing Safe Failures:</a:t>
            </a:r>
            <a:r>
              <a:rPr lang="en-US" sz="1200" kern="1200" dirty="0">
                <a:solidFill>
                  <a:schemeClr val="tx1"/>
                </a:solidFill>
                <a:effectLst/>
                <a:latin typeface="+mn-lt"/>
                <a:ea typeface="+mn-ea"/>
                <a:cs typeface="+mn-cs"/>
              </a:rPr>
              <a:t> "Unless a choice is physically or emotionally injurious, step back and let children or team members make their own decisions—even if they make incorrect ones—so they learn the weight of choice."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12</a:t>
            </a:fld>
            <a:endParaRPr lang="en-US"/>
          </a:p>
        </p:txBody>
      </p:sp>
    </p:spTree>
    <p:extLst>
      <p:ext uri="{BB962C8B-B14F-4D97-AF65-F5344CB8AC3E}">
        <p14:creationId xmlns:p14="http://schemas.microsoft.com/office/powerpoint/2010/main" val="26672176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Magic Phrase:</a:t>
            </a:r>
            <a:r>
              <a:rPr lang="en-US" sz="1200" kern="1200" dirty="0">
                <a:solidFill>
                  <a:schemeClr val="tx1"/>
                </a:solidFill>
                <a:effectLst/>
                <a:latin typeface="+mn-lt"/>
                <a:ea typeface="+mn-ea"/>
                <a:cs typeface="+mn-cs"/>
              </a:rPr>
              <a:t> "Marks states that no sentence starting with </a:t>
            </a:r>
            <a:r>
              <a:rPr lang="en-US" sz="1200" i="1" kern="1200" dirty="0">
                <a:solidFill>
                  <a:schemeClr val="tx1"/>
                </a:solidFill>
                <a:effectLst/>
                <a:latin typeface="+mn-lt"/>
                <a:ea typeface="+mn-ea"/>
                <a:cs typeface="+mn-cs"/>
              </a:rPr>
              <a:t>'I could be wrong, but...'</a:t>
            </a:r>
            <a:r>
              <a:rPr lang="en-US" sz="1200" kern="1200" dirty="0">
                <a:solidFill>
                  <a:schemeClr val="tx1"/>
                </a:solidFill>
                <a:effectLst/>
                <a:latin typeface="+mn-lt"/>
                <a:ea typeface="+mn-ea"/>
                <a:cs typeface="+mn-cs"/>
              </a:rPr>
              <a:t> ever led to financial ruin."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How Ruin Happens:</a:t>
            </a:r>
            <a:r>
              <a:rPr lang="en-US" sz="1200" kern="1200" dirty="0">
                <a:solidFill>
                  <a:schemeClr val="tx1"/>
                </a:solidFill>
                <a:effectLst/>
                <a:latin typeface="+mn-lt"/>
                <a:ea typeface="+mn-ea"/>
                <a:cs typeface="+mn-cs"/>
              </a:rPr>
              <a:t> "Ruin occurs when you bet as if you are 100% certain, but the unhedged 20% probability of failure materializes."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Mark Twain Quote:</a:t>
            </a:r>
            <a:r>
              <a:rPr lang="en-US" sz="1200" kern="1200" dirty="0">
                <a:solidFill>
                  <a:schemeClr val="tx1"/>
                </a:solidFill>
                <a:effectLst/>
                <a:latin typeface="+mn-lt"/>
                <a:ea typeface="+mn-ea"/>
                <a:cs typeface="+mn-cs"/>
              </a:rPr>
              <a:t> "'It </a:t>
            </a:r>
            <a:r>
              <a:rPr lang="en-US" sz="1200" kern="1200" dirty="0" err="1">
                <a:solidFill>
                  <a:schemeClr val="tx1"/>
                </a:solidFill>
                <a:effectLst/>
                <a:latin typeface="+mn-lt"/>
                <a:ea typeface="+mn-ea"/>
                <a:cs typeface="+mn-cs"/>
              </a:rPr>
              <a:t>ain't</a:t>
            </a:r>
            <a:r>
              <a:rPr lang="en-US" sz="1200" kern="1200" dirty="0">
                <a:solidFill>
                  <a:schemeClr val="tx1"/>
                </a:solidFill>
                <a:effectLst/>
                <a:latin typeface="+mn-lt"/>
                <a:ea typeface="+mn-ea"/>
                <a:cs typeface="+mn-cs"/>
              </a:rPr>
              <a:t> what you don't know that gets you into trouble. It's what you know for certain that just </a:t>
            </a:r>
            <a:r>
              <a:rPr lang="en-US" sz="1200" kern="1200" dirty="0" err="1">
                <a:solidFill>
                  <a:schemeClr val="tx1"/>
                </a:solidFill>
                <a:effectLst/>
                <a:latin typeface="+mn-lt"/>
                <a:ea typeface="+mn-ea"/>
                <a:cs typeface="+mn-cs"/>
              </a:rPr>
              <a:t>ain't</a:t>
            </a:r>
            <a:r>
              <a:rPr lang="en-US" sz="1200" kern="1200" dirty="0">
                <a:solidFill>
                  <a:schemeClr val="tx1"/>
                </a:solidFill>
                <a:effectLst/>
                <a:latin typeface="+mn-lt"/>
                <a:ea typeface="+mn-ea"/>
                <a:cs typeface="+mn-cs"/>
              </a:rPr>
              <a:t> true'."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13</a:t>
            </a:fld>
            <a:endParaRPr lang="en-US"/>
          </a:p>
        </p:txBody>
      </p:sp>
    </p:spTree>
    <p:extLst>
      <p:ext uri="{BB962C8B-B14F-4D97-AF65-F5344CB8AC3E}">
        <p14:creationId xmlns:p14="http://schemas.microsoft.com/office/powerpoint/2010/main" val="1559327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Three Elements: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Second-Level Insight (Intelligence):</a:t>
            </a:r>
            <a:r>
              <a:rPr lang="en-US" sz="1200" kern="1200" dirty="0">
                <a:solidFill>
                  <a:schemeClr val="tx1"/>
                </a:solidFill>
                <a:effectLst/>
                <a:latin typeface="+mn-lt"/>
                <a:ea typeface="+mn-ea"/>
                <a:cs typeface="+mn-cs"/>
              </a:rPr>
              <a:t> The cognitive capacity to form correct variant perceptions against consensus.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Courageous Action (Will):</a:t>
            </a:r>
            <a:r>
              <a:rPr lang="en-US" sz="1200" kern="1200" dirty="0">
                <a:solidFill>
                  <a:schemeClr val="tx1"/>
                </a:solidFill>
                <a:effectLst/>
                <a:latin typeface="+mn-lt"/>
                <a:ea typeface="+mn-ea"/>
                <a:cs typeface="+mn-cs"/>
              </a:rPr>
              <a:t> The fortitude to deploy massive capital with trepidation when the news is terrifying.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Intellectual Humility (Restraint):</a:t>
            </a:r>
            <a:r>
              <a:rPr lang="en-US" sz="1200" kern="1200" dirty="0">
                <a:solidFill>
                  <a:schemeClr val="tx1"/>
                </a:solidFill>
                <a:effectLst/>
                <a:latin typeface="+mn-lt"/>
                <a:ea typeface="+mn-ea"/>
                <a:cs typeface="+mn-cs"/>
              </a:rPr>
              <a:t> The constant acknowledgment of uncertainty that prevents catastrophic risk.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Summary:</a:t>
            </a:r>
            <a:r>
              <a:rPr lang="en-US" sz="1200" kern="1200" dirty="0">
                <a:solidFill>
                  <a:schemeClr val="tx1"/>
                </a:solidFill>
                <a:effectLst/>
                <a:latin typeface="+mn-lt"/>
                <a:ea typeface="+mn-ea"/>
                <a:cs typeface="+mn-cs"/>
              </a:rPr>
              <a:t> "Take away any one of these legs, and the stool collapses."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14</a:t>
            </a:fld>
            <a:endParaRPr lang="en-US"/>
          </a:p>
        </p:txBody>
      </p:sp>
    </p:spTree>
    <p:extLst>
      <p:ext uri="{BB962C8B-B14F-4D97-AF65-F5344CB8AC3E}">
        <p14:creationId xmlns:p14="http://schemas.microsoft.com/office/powerpoint/2010/main" val="3378711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Book 1: </a:t>
            </a:r>
            <a:r>
              <a:rPr lang="en-US" sz="1200" b="1" i="1" kern="1200" dirty="0">
                <a:solidFill>
                  <a:schemeClr val="tx1"/>
                </a:solidFill>
                <a:effectLst/>
                <a:latin typeface="+mn-lt"/>
                <a:ea typeface="+mn-ea"/>
                <a:cs typeface="+mn-cs"/>
              </a:rPr>
              <a:t>A Short History of Financial Euphoria</a:t>
            </a:r>
            <a:r>
              <a:rPr lang="en-US" sz="1200" b="1" kern="1200" dirty="0">
                <a:solidFill>
                  <a:schemeClr val="tx1"/>
                </a:solidFill>
                <a:effectLst/>
                <a:latin typeface="+mn-lt"/>
                <a:ea typeface="+mn-ea"/>
                <a:cs typeface="+mn-cs"/>
              </a:rPr>
              <a:t> by John Kenneth Galbraith:</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Core Lesson:</a:t>
            </a:r>
            <a:r>
              <a:rPr lang="en-US" sz="1200" kern="1200" dirty="0">
                <a:solidFill>
                  <a:schemeClr val="tx1"/>
                </a:solidFill>
                <a:effectLst/>
                <a:latin typeface="+mn-lt"/>
                <a:ea typeface="+mn-ea"/>
                <a:cs typeface="+mn-cs"/>
              </a:rPr>
              <a:t> Teaches the recurring human psychological weaknesses that reliably generate speculative booms and busts.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Book 2: </a:t>
            </a:r>
            <a:r>
              <a:rPr lang="en-US" sz="1200" b="1" i="1" kern="1200" dirty="0">
                <a:solidFill>
                  <a:schemeClr val="tx1"/>
                </a:solidFill>
                <a:effectLst/>
                <a:latin typeface="+mn-lt"/>
                <a:ea typeface="+mn-ea"/>
                <a:cs typeface="+mn-cs"/>
              </a:rPr>
              <a:t>Fooled by Randomness</a:t>
            </a:r>
            <a:r>
              <a:rPr lang="en-US" sz="1200" b="1" kern="1200" dirty="0">
                <a:solidFill>
                  <a:schemeClr val="tx1"/>
                </a:solidFill>
                <a:effectLst/>
                <a:latin typeface="+mn-lt"/>
                <a:ea typeface="+mn-ea"/>
                <a:cs typeface="+mn-cs"/>
              </a:rPr>
              <a:t> by Nassim Nicholas Taleb:</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i="1" kern="1200" dirty="0">
                <a:solidFill>
                  <a:schemeClr val="tx1"/>
                </a:solidFill>
                <a:effectLst/>
                <a:latin typeface="+mn-lt"/>
                <a:ea typeface="+mn-ea"/>
                <a:cs typeface="+mn-cs"/>
              </a:rPr>
              <a:t>Core Lesson:</a:t>
            </a:r>
            <a:r>
              <a:rPr lang="en-US" sz="1200" kern="1200" dirty="0">
                <a:solidFill>
                  <a:schemeClr val="tx1"/>
                </a:solidFill>
                <a:effectLst/>
                <a:latin typeface="+mn-lt"/>
                <a:ea typeface="+mn-ea"/>
                <a:cs typeface="+mn-cs"/>
              </a:rPr>
              <a:t> Reminds us that in the short run, luck and randomness dictate outcomes. This realization must shape our attitude toward risk management and 	portfolio design.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15</a:t>
            </a:fld>
            <a:endParaRPr lang="en-US"/>
          </a:p>
        </p:txBody>
      </p:sp>
    </p:spTree>
    <p:extLst>
      <p:ext uri="{BB962C8B-B14F-4D97-AF65-F5344CB8AC3E}">
        <p14:creationId xmlns:p14="http://schemas.microsoft.com/office/powerpoint/2010/main" val="36663249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"To summarize our blueprint for navigating the unknown: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Technology:</a:t>
            </a:r>
            <a:r>
              <a:rPr lang="en-US" sz="1200" kern="1200" dirty="0">
                <a:solidFill>
                  <a:schemeClr val="tx1"/>
                </a:solidFill>
                <a:effectLst/>
                <a:latin typeface="+mn-lt"/>
                <a:ea typeface="+mn-ea"/>
                <a:cs typeface="+mn-cs"/>
              </a:rPr>
              <a:t> AI provides speed and autonomy, but humans provide insight and qualitative judgment.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Investing:</a:t>
            </a:r>
            <a:r>
              <a:rPr lang="en-US" sz="1200" kern="1200" dirty="0">
                <a:solidFill>
                  <a:schemeClr val="tx1"/>
                </a:solidFill>
                <a:effectLst/>
                <a:latin typeface="+mn-lt"/>
                <a:ea typeface="+mn-ea"/>
                <a:cs typeface="+mn-cs"/>
              </a:rPr>
              <a:t> Practice second-level thinking, build your ark before the flood, and act despite trepidation.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Partnerships:</a:t>
            </a:r>
            <a:r>
              <a:rPr lang="en-US" sz="1200" kern="1200" dirty="0">
                <a:solidFill>
                  <a:schemeClr val="tx1"/>
                </a:solidFill>
                <a:effectLst/>
                <a:latin typeface="+mn-lt"/>
                <a:ea typeface="+mn-ea"/>
                <a:cs typeface="+mn-cs"/>
              </a:rPr>
              <a:t> Ground long-term relationships in shared values and mutual respect.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Life:</a:t>
            </a:r>
            <a:r>
              <a:rPr lang="en-US" sz="1200" kern="1200" dirty="0">
                <a:solidFill>
                  <a:schemeClr val="tx1"/>
                </a:solidFill>
                <a:effectLst/>
                <a:latin typeface="+mn-lt"/>
                <a:ea typeface="+mn-ea"/>
                <a:cs typeface="+mn-cs"/>
              </a:rPr>
              <a:t> Stay humble with </a:t>
            </a:r>
            <a:r>
              <a:rPr lang="en-US" sz="1200" i="1" kern="1200" dirty="0">
                <a:solidFill>
                  <a:schemeClr val="tx1"/>
                </a:solidFill>
                <a:effectLst/>
                <a:latin typeface="+mn-lt"/>
                <a:ea typeface="+mn-ea"/>
                <a:cs typeface="+mn-cs"/>
              </a:rPr>
              <a:t>'I could be wrong'</a:t>
            </a:r>
            <a:r>
              <a:rPr lang="en-US" sz="1200" kern="1200" dirty="0">
                <a:solidFill>
                  <a:schemeClr val="tx1"/>
                </a:solidFill>
                <a:effectLst/>
                <a:latin typeface="+mn-lt"/>
                <a:ea typeface="+mn-ea"/>
                <a:cs typeface="+mn-cs"/>
              </a:rPr>
              <a:t>, and live life by design, not by drift."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Q&amp;A Opening:</a:t>
            </a:r>
            <a:r>
              <a:rPr lang="en-US" sz="1200" kern="1200" dirty="0">
                <a:solidFill>
                  <a:schemeClr val="tx1"/>
                </a:solidFill>
                <a:effectLst/>
                <a:latin typeface="+mn-lt"/>
                <a:ea typeface="+mn-ea"/>
                <a:cs typeface="+mn-cs"/>
              </a:rPr>
              <a:t> "Thank you. I'd now like to open the floor to questions."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531DCE7-244C-436D-BC22-433D7E70BFEE}" type="slidenum">
              <a:rPr lang="en-US" smtClean="0"/>
              <a:t>16</a:t>
            </a:fld>
            <a:endParaRPr lang="en-US"/>
          </a:p>
        </p:txBody>
      </p:sp>
    </p:spTree>
    <p:extLst>
      <p:ext uri="{BB962C8B-B14F-4D97-AF65-F5344CB8AC3E}">
        <p14:creationId xmlns:p14="http://schemas.microsoft.com/office/powerpoint/2010/main" val="977478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2DA9ED-03D4-4F91-26EA-F24CE2252B69}"/>
              </a:ext>
            </a:extLst>
          </p:cNvPr>
          <p:cNvSpPr>
            <a:spLocks noGrp="1"/>
          </p:cNvSpPr>
          <p:nvPr>
            <p:ph type="dt" sz="half" idx="10"/>
          </p:nvPr>
        </p:nvSpPr>
        <p:spPr/>
        <p:txBody>
          <a:bodyPr/>
          <a:lstStyle/>
          <a:p>
            <a:fld id="{E0AD5DE2-3028-47A5-ACED-4D3118542704}" type="datetimeFigureOut">
              <a:rPr lang="en-US" smtClean="0"/>
              <a:t>10/19/2026</a:t>
            </a:fld>
            <a:endParaRPr lang="en-US"/>
          </a:p>
        </p:txBody>
      </p:sp>
      <p:sp>
        <p:nvSpPr>
          <p:cNvPr id="3" name="Footer Placeholder 2">
            <a:extLst>
              <a:ext uri="{FF2B5EF4-FFF2-40B4-BE49-F238E27FC236}">
                <a16:creationId xmlns:a16="http://schemas.microsoft.com/office/drawing/2014/main" id="{21934F5E-EED8-AECD-2D1E-FDCF61FA78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BF676A-FCD3-290B-2314-38B33E941C9E}"/>
              </a:ext>
            </a:extLst>
          </p:cNvPr>
          <p:cNvSpPr>
            <a:spLocks noGrp="1"/>
          </p:cNvSpPr>
          <p:nvPr>
            <p:ph type="sldNum" sz="quarter" idx="12"/>
          </p:nvPr>
        </p:nvSpPr>
        <p:spPr/>
        <p:txBody>
          <a:bodyPr/>
          <a:lstStyle/>
          <a:p>
            <a:fld id="{6C4FD1E9-D0AA-4FB8-8A62-3039DFF7E3B5}" type="slidenum">
              <a:rPr lang="en-US" smtClean="0"/>
              <a:t>‹#›</a:t>
            </a:fld>
            <a:endParaRPr lang="en-US"/>
          </a:p>
        </p:txBody>
      </p:sp>
    </p:spTree>
    <p:extLst>
      <p:ext uri="{BB962C8B-B14F-4D97-AF65-F5344CB8AC3E}">
        <p14:creationId xmlns:p14="http://schemas.microsoft.com/office/powerpoint/2010/main" val="125741838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5F475D-202C-6323-943A-E6281482EF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35C8FE-E14B-DA02-FB5C-1C6695839A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0D94A4-F732-C827-21F2-67B330501F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AD5DE2-3028-47A5-ACED-4D3118542704}" type="datetimeFigureOut">
              <a:rPr lang="en-US" smtClean="0"/>
              <a:t>10/19/2026</a:t>
            </a:fld>
            <a:endParaRPr lang="en-US"/>
          </a:p>
        </p:txBody>
      </p:sp>
      <p:sp>
        <p:nvSpPr>
          <p:cNvPr id="5" name="Footer Placeholder 4">
            <a:extLst>
              <a:ext uri="{FF2B5EF4-FFF2-40B4-BE49-F238E27FC236}">
                <a16:creationId xmlns:a16="http://schemas.microsoft.com/office/drawing/2014/main" id="{B892F787-FC29-9547-AF0A-4A9452DBAA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222BD46-BFF2-3196-1AA2-1020CA754B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4FD1E9-D0AA-4FB8-8A62-3039DFF7E3B5}" type="slidenum">
              <a:rPr lang="en-US" smtClean="0"/>
              <a:t>‹#›</a:t>
            </a:fld>
            <a:endParaRPr lang="en-US"/>
          </a:p>
        </p:txBody>
      </p:sp>
    </p:spTree>
    <p:extLst>
      <p:ext uri="{BB962C8B-B14F-4D97-AF65-F5344CB8AC3E}">
        <p14:creationId xmlns:p14="http://schemas.microsoft.com/office/powerpoint/2010/main" val="47760420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933A08-EB4F-DBE7-EBEB-3430ADF7590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559D998-AB6C-46E1-B394-118E9A1E2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BA5A33B-3863-6618-842D-CA54330885CB}"/>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3E84C0-1C53-0927-BE88-ED185E4963C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5DB8C9-0CC4-7494-6D07-2D1BA2A74DB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1B5C5A-6A22-CB7F-1A44-9C2371FE3DC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B9D0DB-9242-D8B9-7897-291ABC0504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7EE9EE-29AC-26D7-E775-03C70EF7DF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B1D76A-3E5E-B8A1-E584-71419D6BDE8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BCA320-7203-38A6-28E3-311FB33F38F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DAA6C7-427A-DDEE-070D-C0796D7BC91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16BCEA-F964-DEBE-BD73-912843CE40C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B6F7C4-2454-3A47-A9FF-279FEC03853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74BD07-FFA7-6F52-0B0D-C4BAE38FFC0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90450B-E347-388A-6807-6D98268A117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25D464-FD44-5B5F-71B7-69F5606DAF0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197E85-BF98-A3AB-25CE-F7D928A5CF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2"/>
            <a:ext cx="12192000" cy="6804837"/>
          </a:xfrm>
          <a:prstGeom prst="rect">
            <a:avLst/>
          </a:prstGeom>
        </p:spPr>
      </p:pic>
    </p:spTree>
    <p:extLst>
      <p:ext uri="{BB962C8B-B14F-4D97-AF65-F5344CB8AC3E}">
        <p14:creationId xmlns:p14="http://schemas.microsoft.com/office/powerpoint/2010/main" val="477762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1872</Words>
  <Application>Microsoft Office PowerPoint</Application>
  <PresentationFormat>寬螢幕</PresentationFormat>
  <Paragraphs>87</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2026-07-21T02:52:27Z</dcterms:created>
  <dcterms:modified xsi:type="dcterms:W3CDTF">2026-10-19T14:29:24Z</dcterms:modified>
</cp:coreProperties>
</file>