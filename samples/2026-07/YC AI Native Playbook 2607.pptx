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5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7B153F-958C-4459-BE7B-1E3767DD131F}" v="19" dt="2026-07-30T15:30:48.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7692" autoAdjust="0"/>
  </p:normalViewPr>
  <p:slideViewPr>
    <p:cSldViewPr snapToGrid="0">
      <p:cViewPr varScale="1">
        <p:scale>
          <a:sx n="54" d="100"/>
          <a:sy n="54" d="100"/>
        </p:scale>
        <p:origin x="9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modSld">
      <pc:chgData name="Lai, Wilson" userId="2840974a-0d84-4886-90a9-9a3ed79f3a48" providerId="ADAL" clId="{9F23B798-9E84-4552-BA63-E776E805C424}" dt="2026-07-30T15:31:06.942" v="66" actId="20577"/>
      <pc:docMkLst>
        <pc:docMk/>
      </pc:docMkLst>
      <pc:sldChg chg="addSp delSp mod modNotesTx">
        <pc:chgData name="Lai, Wilson" userId="2840974a-0d84-4886-90a9-9a3ed79f3a48" providerId="ADAL" clId="{9F23B798-9E84-4552-BA63-E776E805C424}" dt="2026-07-30T15:31:06.942" v="66" actId="20577"/>
        <pc:sldMkLst>
          <pc:docMk/>
          <pc:sldMk cId="1951730391" sldId="256"/>
        </pc:sldMkLst>
        <pc:spChg chg="add del">
          <ac:chgData name="Lai, Wilson" userId="2840974a-0d84-4886-90a9-9a3ed79f3a48" providerId="ADAL" clId="{9F23B798-9E84-4552-BA63-E776E805C424}" dt="2026-07-30T15:30:36.543" v="61" actId="22"/>
          <ac:spMkLst>
            <pc:docMk/>
            <pc:sldMk cId="1951730391" sldId="256"/>
            <ac:spMk id="3" creationId="{E801022C-7D85-3F9A-5CFC-7B089D3360D8}"/>
          </ac:spMkLst>
        </pc:spChg>
      </pc:sldChg>
      <pc:sldChg chg="addSp delSp modSp add mod modAnim modNotesTx">
        <pc:chgData name="Lai, Wilson" userId="2840974a-0d84-4886-90a9-9a3ed79f3a48" providerId="ADAL" clId="{9F23B798-9E84-4552-BA63-E776E805C424}" dt="2026-07-30T15:27:35.090" v="53" actId="20577"/>
        <pc:sldMkLst>
          <pc:docMk/>
          <pc:sldMk cId="0" sldId="257"/>
        </pc:sldMkLst>
        <pc:spChg chg="add mod">
          <ac:chgData name="Lai, Wilson" userId="2840974a-0d84-4886-90a9-9a3ed79f3a48" providerId="ADAL" clId="{9F23B798-9E84-4552-BA63-E776E805C424}" dt="2026-07-22T04:36:22.986" v="50" actId="164"/>
          <ac:spMkLst>
            <pc:docMk/>
            <pc:sldMk cId="0" sldId="257"/>
            <ac:spMk id="5" creationId="{2C51745A-A56D-9F7B-5B27-0D6A219167C3}"/>
          </ac:spMkLst>
        </pc:spChg>
        <pc:grpChg chg="add mod">
          <ac:chgData name="Lai, Wilson" userId="2840974a-0d84-4886-90a9-9a3ed79f3a48" providerId="ADAL" clId="{9F23B798-9E84-4552-BA63-E776E805C424}" dt="2026-07-22T04:36:28.996" v="51" actId="1076"/>
          <ac:grpSpMkLst>
            <pc:docMk/>
            <pc:sldMk cId="0" sldId="257"/>
            <ac:grpSpMk id="6" creationId="{141608E6-64B2-6C95-A8CC-351878F9B468}"/>
          </ac:grpSpMkLst>
        </pc:grpChg>
        <pc:picChg chg="add mod">
          <ac:chgData name="Lai, Wilson" userId="2840974a-0d84-4886-90a9-9a3ed79f3a48" providerId="ADAL" clId="{9F23B798-9E84-4552-BA63-E776E805C424}" dt="2026-07-22T04:36:22.986" v="50" actId="164"/>
          <ac:picMkLst>
            <pc:docMk/>
            <pc:sldMk cId="0" sldId="257"/>
            <ac:picMk id="2" creationId="{5E47FC46-E33E-2E96-1071-37427D165D22}"/>
          </ac:picMkLst>
        </pc:picChg>
        <pc:picChg chg="add">
          <ac:chgData name="Lai, Wilson" userId="2840974a-0d84-4886-90a9-9a3ed79f3a48" providerId="ADAL" clId="{9F23B798-9E84-4552-BA63-E776E805C424}" dt="2026-07-22T04:29:47.146" v="2" actId="22"/>
          <ac:picMkLst>
            <pc:docMk/>
            <pc:sldMk cId="0" sldId="257"/>
            <ac:picMk id="4" creationId="{5F77B135-DE38-0263-262F-99B1191FC84E}"/>
          </ac:picMkLst>
        </pc:picChg>
      </pc:sldChg>
      <pc:sldChg chg="addSp delSp add mod">
        <pc:chgData name="Lai, Wilson" userId="2840974a-0d84-4886-90a9-9a3ed79f3a48" providerId="ADAL" clId="{9F23B798-9E84-4552-BA63-E776E805C424}" dt="2026-07-22T04:30:02.359" v="4" actId="22"/>
        <pc:sldMkLst>
          <pc:docMk/>
          <pc:sldMk cId="0" sldId="258"/>
        </pc:sldMkLst>
        <pc:picChg chg="add">
          <ac:chgData name="Lai, Wilson" userId="2840974a-0d84-4886-90a9-9a3ed79f3a48" providerId="ADAL" clId="{9F23B798-9E84-4552-BA63-E776E805C424}" dt="2026-07-22T04:30:02.359" v="4" actId="22"/>
          <ac:picMkLst>
            <pc:docMk/>
            <pc:sldMk cId="0" sldId="258"/>
            <ac:picMk id="4" creationId="{85048D15-33F0-D3F0-F370-EAB95F0CD365}"/>
          </ac:picMkLst>
        </pc:picChg>
      </pc:sldChg>
      <pc:sldChg chg="addSp delSp add mod">
        <pc:chgData name="Lai, Wilson" userId="2840974a-0d84-4886-90a9-9a3ed79f3a48" providerId="ADAL" clId="{9F23B798-9E84-4552-BA63-E776E805C424}" dt="2026-07-22T04:30:13.938" v="6" actId="22"/>
        <pc:sldMkLst>
          <pc:docMk/>
          <pc:sldMk cId="0" sldId="259"/>
        </pc:sldMkLst>
        <pc:picChg chg="add">
          <ac:chgData name="Lai, Wilson" userId="2840974a-0d84-4886-90a9-9a3ed79f3a48" providerId="ADAL" clId="{9F23B798-9E84-4552-BA63-E776E805C424}" dt="2026-07-22T04:30:13.938" v="6" actId="22"/>
          <ac:picMkLst>
            <pc:docMk/>
            <pc:sldMk cId="0" sldId="259"/>
            <ac:picMk id="4" creationId="{EC62127A-E98B-4335-B376-F922685DD5EC}"/>
          </ac:picMkLst>
        </pc:picChg>
      </pc:sldChg>
      <pc:sldChg chg="addSp delSp add mod">
        <pc:chgData name="Lai, Wilson" userId="2840974a-0d84-4886-90a9-9a3ed79f3a48" providerId="ADAL" clId="{9F23B798-9E84-4552-BA63-E776E805C424}" dt="2026-07-22T04:30:24.698" v="8" actId="22"/>
        <pc:sldMkLst>
          <pc:docMk/>
          <pc:sldMk cId="0" sldId="260"/>
        </pc:sldMkLst>
        <pc:picChg chg="add">
          <ac:chgData name="Lai, Wilson" userId="2840974a-0d84-4886-90a9-9a3ed79f3a48" providerId="ADAL" clId="{9F23B798-9E84-4552-BA63-E776E805C424}" dt="2026-07-22T04:30:24.698" v="8" actId="22"/>
          <ac:picMkLst>
            <pc:docMk/>
            <pc:sldMk cId="0" sldId="260"/>
            <ac:picMk id="4" creationId="{726F3446-128C-6AAE-79E1-3CAE787ABAF0}"/>
          </ac:picMkLst>
        </pc:picChg>
      </pc:sldChg>
      <pc:sldChg chg="addSp delSp add mod modNotesTx">
        <pc:chgData name="Lai, Wilson" userId="2840974a-0d84-4886-90a9-9a3ed79f3a48" providerId="ADAL" clId="{9F23B798-9E84-4552-BA63-E776E805C424}" dt="2026-07-30T15:28:33.773" v="54" actId="12"/>
        <pc:sldMkLst>
          <pc:docMk/>
          <pc:sldMk cId="0" sldId="261"/>
        </pc:sldMkLst>
        <pc:picChg chg="add">
          <ac:chgData name="Lai, Wilson" userId="2840974a-0d84-4886-90a9-9a3ed79f3a48" providerId="ADAL" clId="{9F23B798-9E84-4552-BA63-E776E805C424}" dt="2026-07-22T04:30:35.545" v="10" actId="22"/>
          <ac:picMkLst>
            <pc:docMk/>
            <pc:sldMk cId="0" sldId="261"/>
            <ac:picMk id="4" creationId="{EE11BA1B-31D9-812E-6E9C-6FB4B3E52EAE}"/>
          </ac:picMkLst>
        </pc:picChg>
      </pc:sldChg>
      <pc:sldChg chg="addSp delSp add mod modNotesTx">
        <pc:chgData name="Lai, Wilson" userId="2840974a-0d84-4886-90a9-9a3ed79f3a48" providerId="ADAL" clId="{9F23B798-9E84-4552-BA63-E776E805C424}" dt="2026-07-30T15:28:49.360" v="56" actId="20577"/>
        <pc:sldMkLst>
          <pc:docMk/>
          <pc:sldMk cId="0" sldId="262"/>
        </pc:sldMkLst>
        <pc:picChg chg="add">
          <ac:chgData name="Lai, Wilson" userId="2840974a-0d84-4886-90a9-9a3ed79f3a48" providerId="ADAL" clId="{9F23B798-9E84-4552-BA63-E776E805C424}" dt="2026-07-22T04:34:23.507" v="26" actId="22"/>
          <ac:picMkLst>
            <pc:docMk/>
            <pc:sldMk cId="0" sldId="262"/>
            <ac:picMk id="4" creationId="{6F3E3F29-221A-485D-4799-2E288A0F5FB5}"/>
          </ac:picMkLst>
        </pc:picChg>
      </pc:sldChg>
      <pc:sldChg chg="addSp delSp add mod modNotesTx">
        <pc:chgData name="Lai, Wilson" userId="2840974a-0d84-4886-90a9-9a3ed79f3a48" providerId="ADAL" clId="{9F23B798-9E84-4552-BA63-E776E805C424}" dt="2026-07-30T15:29:05.599" v="57" actId="12"/>
        <pc:sldMkLst>
          <pc:docMk/>
          <pc:sldMk cId="0" sldId="263"/>
        </pc:sldMkLst>
        <pc:picChg chg="add">
          <ac:chgData name="Lai, Wilson" userId="2840974a-0d84-4886-90a9-9a3ed79f3a48" providerId="ADAL" clId="{9F23B798-9E84-4552-BA63-E776E805C424}" dt="2026-07-22T04:30:46.669" v="12" actId="22"/>
          <ac:picMkLst>
            <pc:docMk/>
            <pc:sldMk cId="0" sldId="263"/>
            <ac:picMk id="4" creationId="{ACEA9DAE-047D-1EF5-4BD1-B0B9FFA9ED25}"/>
          </ac:picMkLst>
        </pc:picChg>
      </pc:sldChg>
      <pc:sldChg chg="addSp delSp add mod modNotesTx">
        <pc:chgData name="Lai, Wilson" userId="2840974a-0d84-4886-90a9-9a3ed79f3a48" providerId="ADAL" clId="{9F23B798-9E84-4552-BA63-E776E805C424}" dt="2026-07-30T15:29:17.664" v="58" actId="12"/>
        <pc:sldMkLst>
          <pc:docMk/>
          <pc:sldMk cId="0" sldId="264"/>
        </pc:sldMkLst>
        <pc:picChg chg="add">
          <ac:chgData name="Lai, Wilson" userId="2840974a-0d84-4886-90a9-9a3ed79f3a48" providerId="ADAL" clId="{9F23B798-9E84-4552-BA63-E776E805C424}" dt="2026-07-22T04:30:58.050" v="14" actId="22"/>
          <ac:picMkLst>
            <pc:docMk/>
            <pc:sldMk cId="0" sldId="264"/>
            <ac:picMk id="4" creationId="{0033A0F8-71F8-2B7E-BCB3-9A5EC4B14053}"/>
          </ac:picMkLst>
        </pc:picChg>
      </pc:sldChg>
      <pc:sldChg chg="addSp delSp add mod">
        <pc:chgData name="Lai, Wilson" userId="2840974a-0d84-4886-90a9-9a3ed79f3a48" providerId="ADAL" clId="{9F23B798-9E84-4552-BA63-E776E805C424}" dt="2026-07-22T04:31:09.336" v="16" actId="22"/>
        <pc:sldMkLst>
          <pc:docMk/>
          <pc:sldMk cId="0" sldId="265"/>
        </pc:sldMkLst>
        <pc:picChg chg="add">
          <ac:chgData name="Lai, Wilson" userId="2840974a-0d84-4886-90a9-9a3ed79f3a48" providerId="ADAL" clId="{9F23B798-9E84-4552-BA63-E776E805C424}" dt="2026-07-22T04:31:09.336" v="16" actId="22"/>
          <ac:picMkLst>
            <pc:docMk/>
            <pc:sldMk cId="0" sldId="265"/>
            <ac:picMk id="4" creationId="{069919E9-F991-9E66-042D-9FF77DD0AC97}"/>
          </ac:picMkLst>
        </pc:picChg>
      </pc:sldChg>
      <pc:sldChg chg="addSp delSp add mod modNotesTx">
        <pc:chgData name="Lai, Wilson" userId="2840974a-0d84-4886-90a9-9a3ed79f3a48" providerId="ADAL" clId="{9F23B798-9E84-4552-BA63-E776E805C424}" dt="2026-07-30T15:29:41.530" v="59" actId="12"/>
        <pc:sldMkLst>
          <pc:docMk/>
          <pc:sldMk cId="0" sldId="266"/>
        </pc:sldMkLst>
        <pc:picChg chg="add">
          <ac:chgData name="Lai, Wilson" userId="2840974a-0d84-4886-90a9-9a3ed79f3a48" providerId="ADAL" clId="{9F23B798-9E84-4552-BA63-E776E805C424}" dt="2026-07-22T04:31:24.766" v="18" actId="22"/>
          <ac:picMkLst>
            <pc:docMk/>
            <pc:sldMk cId="0" sldId="266"/>
            <ac:picMk id="4" creationId="{24823805-5AF1-A5A0-FFC8-5CBEECF72763}"/>
          </ac:picMkLst>
        </pc:picChg>
      </pc:sldChg>
      <pc:sldChg chg="addSp delSp add mod">
        <pc:chgData name="Lai, Wilson" userId="2840974a-0d84-4886-90a9-9a3ed79f3a48" providerId="ADAL" clId="{9F23B798-9E84-4552-BA63-E776E805C424}" dt="2026-07-22T04:31:35.853" v="20" actId="22"/>
        <pc:sldMkLst>
          <pc:docMk/>
          <pc:sldMk cId="0" sldId="267"/>
        </pc:sldMkLst>
        <pc:picChg chg="add">
          <ac:chgData name="Lai, Wilson" userId="2840974a-0d84-4886-90a9-9a3ed79f3a48" providerId="ADAL" clId="{9F23B798-9E84-4552-BA63-E776E805C424}" dt="2026-07-22T04:31:35.853" v="20" actId="22"/>
          <ac:picMkLst>
            <pc:docMk/>
            <pc:sldMk cId="0" sldId="267"/>
            <ac:picMk id="4" creationId="{5FD18E29-2231-B132-F46E-884E26D8D01F}"/>
          </ac:picMkLst>
        </pc:picChg>
      </pc:sldChg>
      <pc:sldChg chg="addSp delSp add mod">
        <pc:chgData name="Lai, Wilson" userId="2840974a-0d84-4886-90a9-9a3ed79f3a48" providerId="ADAL" clId="{9F23B798-9E84-4552-BA63-E776E805C424}" dt="2026-07-22T04:31:45.372" v="22" actId="22"/>
        <pc:sldMkLst>
          <pc:docMk/>
          <pc:sldMk cId="0" sldId="268"/>
        </pc:sldMkLst>
        <pc:picChg chg="add">
          <ac:chgData name="Lai, Wilson" userId="2840974a-0d84-4886-90a9-9a3ed79f3a48" providerId="ADAL" clId="{9F23B798-9E84-4552-BA63-E776E805C424}" dt="2026-07-22T04:31:45.372" v="22" actId="22"/>
          <ac:picMkLst>
            <pc:docMk/>
            <pc:sldMk cId="0" sldId="268"/>
            <ac:picMk id="4" creationId="{42A97FE7-2E37-FDD9-8717-FD5D08C4324A}"/>
          </ac:picMkLst>
        </pc:picChg>
      </pc:sldChg>
      <pc:sldChg chg="addSp delSp add mod">
        <pc:chgData name="Lai, Wilson" userId="2840974a-0d84-4886-90a9-9a3ed79f3a48" providerId="ADAL" clId="{9F23B798-9E84-4552-BA63-E776E805C424}" dt="2026-07-22T04:31:57.431" v="24" actId="22"/>
        <pc:sldMkLst>
          <pc:docMk/>
          <pc:sldMk cId="0" sldId="269"/>
        </pc:sldMkLst>
        <pc:picChg chg="add">
          <ac:chgData name="Lai, Wilson" userId="2840974a-0d84-4886-90a9-9a3ed79f3a48" providerId="ADAL" clId="{9F23B798-9E84-4552-BA63-E776E805C424}" dt="2026-07-22T04:31:57.431" v="24" actId="22"/>
          <ac:picMkLst>
            <pc:docMk/>
            <pc:sldMk cId="0" sldId="269"/>
            <ac:picMk id="4" creationId="{C5809BC2-05A7-ABF3-752A-7C394E8BD34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F500A3-70DB-4F81-ABCB-17407F53113C}"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FF17FC-E8EE-4D64-9CED-539CFC5E15EC}" type="slidenum">
              <a:rPr lang="en-US" smtClean="0"/>
              <a:t>‹#›</a:t>
            </a:fld>
            <a:endParaRPr lang="en-US"/>
          </a:p>
        </p:txBody>
      </p:sp>
    </p:spTree>
    <p:extLst>
      <p:ext uri="{BB962C8B-B14F-4D97-AF65-F5344CB8AC3E}">
        <p14:creationId xmlns:p14="http://schemas.microsoft.com/office/powerpoint/2010/main" val="408699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https://www.youtube.com/watch?v=B246K_G7mHU</a:t>
            </a:r>
          </a:p>
          <a:p>
            <a:endParaRPr lang="en-US" dirty="0"/>
          </a:p>
          <a:p>
            <a:r>
              <a:rPr lang="en-US" dirty="0"/>
              <a:t>Welcome, everyone. Today we’re lifting the curtain on how Y Combinator has transformed itself from the inside out. While YC is known for funding the world's leading AI startups, what many don't realize is that internally, we’ve been building and operating on our own custom AI agent infrastructure.</a:t>
            </a:r>
          </a:p>
          <a:p>
            <a:r>
              <a:rPr lang="en-US" dirty="0"/>
              <a:t>We aren't just giving our teams off-the-shelf copilots. We’ve built a shared organizational brain—an interconnected substrate where every process, transcript, decision, and tool is linked into a unified, self-improving system. Over the next few minutes, we’re going to walk through the architecture, the cultural shifts, and the exact playbook we used to achieve this.</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1</a:t>
            </a:fld>
            <a:endParaRPr lang="en-US"/>
          </a:p>
        </p:txBody>
      </p:sp>
    </p:spTree>
    <p:extLst>
      <p:ext uri="{BB962C8B-B14F-4D97-AF65-F5344CB8AC3E}">
        <p14:creationId xmlns:p14="http://schemas.microsoft.com/office/powerpoint/2010/main" val="2672905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Most companies approaching AI today fall into what we call 'The Copilot Illusion'. They take legacy software, slap an AI chatbot or a sidecar button onto the UI, and call it an AI transformation. That’s the small box bolted onto the side of the building. </a:t>
            </a:r>
          </a:p>
          <a:p>
            <a:r>
              <a:rPr lang="en-US" sz="1200" kern="1200" dirty="0">
                <a:solidFill>
                  <a:schemeClr val="tx1"/>
                </a:solidFill>
                <a:effectLst/>
                <a:latin typeface="+mn-lt"/>
                <a:ea typeface="+mn-ea"/>
                <a:cs typeface="+mn-cs"/>
              </a:rPr>
              <a:t>An AI-Native Shift requires AI to be the structural building layer of the entire company. Instead of asking, </a:t>
            </a:r>
            <a:r>
              <a:rPr lang="en-US" sz="1200" i="1" kern="1200" dirty="0">
                <a:solidFill>
                  <a:schemeClr val="tx1"/>
                </a:solidFill>
                <a:effectLst/>
                <a:latin typeface="+mn-lt"/>
                <a:ea typeface="+mn-ea"/>
                <a:cs typeface="+mn-cs"/>
              </a:rPr>
              <a:t>'Where can we plug AI into our existing app?'</a:t>
            </a:r>
            <a:r>
              <a:rPr lang="en-US" sz="1200" kern="1200" dirty="0">
                <a:solidFill>
                  <a:schemeClr val="tx1"/>
                </a:solidFill>
                <a:effectLst/>
                <a:latin typeface="+mn-lt"/>
                <a:ea typeface="+mn-ea"/>
                <a:cs typeface="+mn-cs"/>
              </a:rPr>
              <a:t>, the question becomes, </a:t>
            </a:r>
            <a:r>
              <a:rPr lang="en-US" sz="1200" i="1" kern="1200" dirty="0">
                <a:solidFill>
                  <a:schemeClr val="tx1"/>
                </a:solidFill>
                <a:effectLst/>
                <a:latin typeface="+mn-lt"/>
                <a:ea typeface="+mn-ea"/>
                <a:cs typeface="+mn-cs"/>
              </a:rPr>
              <a:t>'How do we make AI the core substrate upon which all workflows and communication flow?'</a:t>
            </a:r>
            <a:r>
              <a:rPr lang="en-US" sz="1200" kern="1200" dirty="0">
                <a:solidFill>
                  <a:schemeClr val="tx1"/>
                </a:solidFill>
                <a:effectLst/>
                <a:latin typeface="+mn-lt"/>
                <a:ea typeface="+mn-ea"/>
                <a:cs typeface="+mn-cs"/>
              </a:rPr>
              <a:t> When you shift from a bolted-on feature to an architectural layer, AI ceases to be just an assistant—it becomes the collective intelligence of the entire team.</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2</a:t>
            </a:fld>
            <a:endParaRPr lang="en-US"/>
          </a:p>
        </p:txBody>
      </p:sp>
    </p:spTree>
    <p:extLst>
      <p:ext uri="{BB962C8B-B14F-4D97-AF65-F5344CB8AC3E}">
        <p14:creationId xmlns:p14="http://schemas.microsoft.com/office/powerpoint/2010/main" val="2827633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cars were first invented, people called them 'horseless carriages' and designed them like horse buggies with an engine attached. The software industry is making the exact same mistake right now. </a:t>
            </a:r>
          </a:p>
          <a:p>
            <a:r>
              <a:rPr lang="en-US" sz="1200" kern="1200" dirty="0">
                <a:solidFill>
                  <a:schemeClr val="tx1"/>
                </a:solidFill>
                <a:effectLst/>
                <a:latin typeface="+mn-lt"/>
                <a:ea typeface="+mn-ea"/>
                <a:cs typeface="+mn-cs"/>
              </a:rPr>
              <a:t>Under the </a:t>
            </a:r>
            <a:r>
              <a:rPr lang="en-US" sz="1200" b="1" kern="1200" dirty="0">
                <a:solidFill>
                  <a:schemeClr val="tx1"/>
                </a:solidFill>
                <a:effectLst/>
                <a:latin typeface="+mn-lt"/>
                <a:ea typeface="+mn-ea"/>
                <a:cs typeface="+mn-cs"/>
              </a:rPr>
              <a:t>Legacy Paradigm</a:t>
            </a:r>
            <a:r>
              <a:rPr lang="en-US" sz="1200" kern="1200" dirty="0">
                <a:solidFill>
                  <a:schemeClr val="tx1"/>
                </a:solidFill>
                <a:effectLst/>
                <a:latin typeface="+mn-lt"/>
                <a:ea typeface="+mn-ea"/>
                <a:cs typeface="+mn-cs"/>
              </a:rPr>
              <a:t>, developers build rigid software UIs and hide the AI inside a narrow, locked-down box. Think of the early Gmail email writer—you couldn't see or change the underlying prompt context. Developers kept all control and protected the user from 'complexity'. </a:t>
            </a:r>
          </a:p>
          <a:p>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Agentic Paradigm</a:t>
            </a:r>
            <a:r>
              <a:rPr lang="en-US" sz="1200" kern="1200" dirty="0">
                <a:solidFill>
                  <a:schemeClr val="tx1"/>
                </a:solidFill>
                <a:effectLst/>
                <a:latin typeface="+mn-lt"/>
                <a:ea typeface="+mn-ea"/>
                <a:cs typeface="+mn-cs"/>
              </a:rPr>
              <a:t>, we completely flip the stack. </a:t>
            </a:r>
            <a:r>
              <a:rPr lang="en-US" sz="1200" b="1" kern="1200" dirty="0">
                <a:solidFill>
                  <a:schemeClr val="tx1"/>
                </a:solidFill>
                <a:effectLst/>
                <a:latin typeface="+mn-lt"/>
                <a:ea typeface="+mn-ea"/>
                <a:cs typeface="+mn-cs"/>
              </a:rPr>
              <a:t>AI wraps the software</a:t>
            </a:r>
            <a:r>
              <a:rPr lang="en-US" sz="1200" kern="1200" dirty="0">
                <a:solidFill>
                  <a:schemeClr val="tx1"/>
                </a:solidFill>
                <a:effectLst/>
                <a:latin typeface="+mn-lt"/>
                <a:ea typeface="+mn-ea"/>
                <a:cs typeface="+mn-cs"/>
              </a:rPr>
              <a:t>. The agent acts as the primary interface, while databases, APIs, and SQL tools become deterministic execution units that the agent calls dynamically on demand.</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3</a:t>
            </a:fld>
            <a:endParaRPr lang="en-US"/>
          </a:p>
        </p:txBody>
      </p:sp>
    </p:spTree>
    <p:extLst>
      <p:ext uri="{BB962C8B-B14F-4D97-AF65-F5344CB8AC3E}">
        <p14:creationId xmlns:p14="http://schemas.microsoft.com/office/powerpoint/2010/main" val="3432186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illustrates the origin story of YC's internal agent harness. About a year ago, Pete Koomen and our engineering team sat down with YC's finance team to build tools for booking journal entries and tracking priced rounds. </a:t>
            </a:r>
          </a:p>
          <a:p>
            <a:r>
              <a:rPr lang="en-US" sz="1200" kern="1200" dirty="0">
                <a:solidFill>
                  <a:schemeClr val="tx1"/>
                </a:solidFill>
                <a:effectLst/>
                <a:latin typeface="+mn-lt"/>
                <a:ea typeface="+mn-ea"/>
                <a:cs typeface="+mn-cs"/>
              </a:rPr>
              <a:t>In the old loop, the finance team explained a complex workflow to engineers, engineers wrote thousands of lines of Ruby code, and handed back a static software tool. If the process changed, the loop started all over again—creating a massive engineering bottleneck. </a:t>
            </a:r>
          </a:p>
          <a:p>
            <a:r>
              <a:rPr lang="en-US" sz="1200" kern="1200" dirty="0">
                <a:solidFill>
                  <a:schemeClr val="tx1"/>
                </a:solidFill>
                <a:effectLst/>
                <a:latin typeface="+mn-lt"/>
                <a:ea typeface="+mn-ea"/>
                <a:cs typeface="+mn-cs"/>
              </a:rPr>
              <a:t>We asked: </a:t>
            </a:r>
            <a:r>
              <a:rPr lang="en-US" sz="1200" i="1" kern="1200" dirty="0">
                <a:solidFill>
                  <a:schemeClr val="tx1"/>
                </a:solidFill>
                <a:effectLst/>
                <a:latin typeface="+mn-lt"/>
                <a:ea typeface="+mn-ea"/>
                <a:cs typeface="+mn-cs"/>
              </a:rPr>
              <a:t>What if we remove software engineers from this loop entirely?</a:t>
            </a:r>
            <a:r>
              <a:rPr lang="en-US" sz="1200" kern="1200" dirty="0">
                <a:solidFill>
                  <a:schemeClr val="tx1"/>
                </a:solidFill>
                <a:effectLst/>
                <a:latin typeface="+mn-lt"/>
                <a:ea typeface="+mn-ea"/>
                <a:cs typeface="+mn-cs"/>
              </a:rPr>
              <a:t> In the AI-Native loop, the finance team writes their intent in plain English prompts. The AI agent translates that intent directly into SQL queries and automated journal entries. Non-technical operators gain direct control over their own software execution.</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4</a:t>
            </a:fld>
            <a:endParaRPr lang="en-US"/>
          </a:p>
        </p:txBody>
      </p:sp>
    </p:spTree>
    <p:extLst>
      <p:ext uri="{BB962C8B-B14F-4D97-AF65-F5344CB8AC3E}">
        <p14:creationId xmlns:p14="http://schemas.microsoft.com/office/powerpoint/2010/main" val="1687101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replicate this setup in your own organization, you need three foundational primitives: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Layer 1: Single Context Database.</a:t>
            </a:r>
            <a:r>
              <a:rPr lang="en-US" sz="1200" kern="1200" dirty="0">
                <a:solidFill>
                  <a:schemeClr val="tx1"/>
                </a:solidFill>
                <a:effectLst/>
                <a:latin typeface="+mn-lt"/>
                <a:ea typeface="+mn-ea"/>
                <a:cs typeface="+mn-cs"/>
              </a:rPr>
              <a:t> An agent is only as smart as its context. Having a single, centralized database containing all key company entities gives the agent complete visibility across your operations.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Layer 2: Shared Tool Registry.</a:t>
            </a:r>
            <a:r>
              <a:rPr lang="en-US" sz="1200" kern="1200" dirty="0">
                <a:solidFill>
                  <a:schemeClr val="tx1"/>
                </a:solidFill>
                <a:effectLst/>
                <a:latin typeface="+mn-lt"/>
                <a:ea typeface="+mn-ea"/>
                <a:cs typeface="+mn-cs"/>
              </a:rPr>
              <a:t> At YC, we started with 20 basic tools, and today we have over 350. Every team encodes their operational logic into reusable action functions.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Layer 3: Multi-Player Agents.</a:t>
            </a:r>
            <a:r>
              <a:rPr lang="en-US" sz="1200" kern="1200" dirty="0">
                <a:solidFill>
                  <a:schemeClr val="tx1"/>
                </a:solidFill>
                <a:effectLst/>
                <a:latin typeface="+mn-lt"/>
                <a:ea typeface="+mn-ea"/>
                <a:cs typeface="+mn-cs"/>
              </a:rPr>
              <a:t> Most popular frameworks (like Cursor or Claude Code) are single-player, local-machine tools. True leverage happens in a multi-player harness where agents communicate in shared channels and collaborate across entire teams.</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5</a:t>
            </a:fld>
            <a:endParaRPr lang="en-US"/>
          </a:p>
        </p:txBody>
      </p:sp>
    </p:spTree>
    <p:extLst>
      <p:ext uri="{BB962C8B-B14F-4D97-AF65-F5344CB8AC3E}">
        <p14:creationId xmlns:p14="http://schemas.microsoft.com/office/powerpoint/2010/main" val="1942101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was YC uniquely positioned to succeed with agents so quickly? Because historically, YC built its own internal software on a single monolithic Postgres database. Companies, founders, financial transactions, and office hour notes all live in one place.</a:t>
            </a:r>
          </a:p>
          <a:p>
            <a:r>
              <a:rPr lang="en-US" sz="1200" kern="1200" dirty="0">
                <a:solidFill>
                  <a:schemeClr val="tx1"/>
                </a:solidFill>
                <a:effectLst/>
                <a:latin typeface="+mn-lt"/>
                <a:ea typeface="+mn-ea"/>
                <a:cs typeface="+mn-cs"/>
              </a:rPr>
              <a:t>Most modern companies have context scattered across dozens of isolated SaaS silos. When your data is fragmented, an agent cannot answer questions like, </a:t>
            </a:r>
            <a:r>
              <a:rPr lang="en-US" sz="1200" i="1" kern="1200" dirty="0">
                <a:solidFill>
                  <a:schemeClr val="tx1"/>
                </a:solidFill>
                <a:effectLst/>
                <a:latin typeface="+mn-lt"/>
                <a:ea typeface="+mn-ea"/>
                <a:cs typeface="+mn-cs"/>
              </a:rPr>
              <a:t>'Show me all space startups funded in the last four batches alongside investor notes.'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must unify and </a:t>
            </a:r>
            <a:r>
              <a:rPr lang="en-US" sz="1200" kern="1200" dirty="0" err="1">
                <a:solidFill>
                  <a:schemeClr val="tx1"/>
                </a:solidFill>
                <a:effectLst/>
                <a:latin typeface="+mn-lt"/>
                <a:ea typeface="+mn-ea"/>
                <a:cs typeface="+mn-cs"/>
              </a:rPr>
              <a:t>denormalize</a:t>
            </a:r>
            <a:r>
              <a:rPr lang="en-US" sz="1200" kern="1200" dirty="0">
                <a:solidFill>
                  <a:schemeClr val="tx1"/>
                </a:solidFill>
                <a:effectLst/>
                <a:latin typeface="+mn-lt"/>
                <a:ea typeface="+mn-ea"/>
                <a:cs typeface="+mn-cs"/>
              </a:rPr>
              <a:t> your corporate data into a consolidated context layer. When an agent has full context, query time drops from hours of manual SQL writing to seconds—triggering Jevons' Paradox: as the cost of asking complex business questions falls to zero, the volume and depth of questions you dare to ask skyrockets.</a:t>
            </a:r>
          </a:p>
        </p:txBody>
      </p:sp>
      <p:sp>
        <p:nvSpPr>
          <p:cNvPr id="4" name="Slide Number Placeholder 3"/>
          <p:cNvSpPr>
            <a:spLocks noGrp="1"/>
          </p:cNvSpPr>
          <p:nvPr>
            <p:ph type="sldNum" sz="quarter" idx="5"/>
          </p:nvPr>
        </p:nvSpPr>
        <p:spPr/>
        <p:txBody>
          <a:bodyPr/>
          <a:lstStyle/>
          <a:p>
            <a:fld id="{A8FF17FC-E8EE-4D64-9CED-539CFC5E15EC}" type="slidenum">
              <a:rPr lang="en-US" smtClean="0"/>
              <a:t>6</a:t>
            </a:fld>
            <a:endParaRPr lang="en-US"/>
          </a:p>
        </p:txBody>
      </p:sp>
    </p:spTree>
    <p:extLst>
      <p:ext uri="{BB962C8B-B14F-4D97-AF65-F5344CB8AC3E}">
        <p14:creationId xmlns:p14="http://schemas.microsoft.com/office/powerpoint/2010/main" val="1742659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your team adds hundreds of custom tools, how do you prevent agent bloat and tool overlap? At YC, we use an automated pipeline called </a:t>
            </a:r>
            <a:r>
              <a:rPr lang="en-US" sz="1200" b="1" kern="1200" dirty="0" err="1">
                <a:solidFill>
                  <a:schemeClr val="tx1"/>
                </a:solidFill>
                <a:effectLst/>
                <a:latin typeface="+mn-lt"/>
                <a:ea typeface="+mn-ea"/>
                <a:cs typeface="+mn-cs"/>
              </a:rPr>
              <a:t>Skillify</a:t>
            </a:r>
            <a:r>
              <a:rPr lang="en-US" sz="1200" kern="1200" dirty="0">
                <a:solidFill>
                  <a:schemeClr val="tx1"/>
                </a:solidFill>
                <a:effectLst/>
                <a:latin typeface="+mn-lt"/>
                <a:ea typeface="+mn-ea"/>
                <a:cs typeface="+mn-cs"/>
              </a:rPr>
              <a:t> coupled with an intelligent resolver table. </a:t>
            </a:r>
          </a:p>
          <a:p>
            <a:r>
              <a:rPr lang="en-US" sz="1200" kern="1200" dirty="0">
                <a:solidFill>
                  <a:schemeClr val="tx1"/>
                </a:solidFill>
                <a:effectLst/>
                <a:latin typeface="+mn-lt"/>
                <a:ea typeface="+mn-ea"/>
                <a:cs typeface="+mn-cs"/>
              </a:rPr>
              <a:t>When a new workflow is identified and '</a:t>
            </a:r>
            <a:r>
              <a:rPr lang="en-US" sz="1200" kern="1200" dirty="0" err="1">
                <a:solidFill>
                  <a:schemeClr val="tx1"/>
                </a:solidFill>
                <a:effectLst/>
                <a:latin typeface="+mn-lt"/>
                <a:ea typeface="+mn-ea"/>
                <a:cs typeface="+mn-cs"/>
              </a:rPr>
              <a:t>skillified</a:t>
            </a:r>
            <a:r>
              <a:rPr lang="en-US" sz="1200" kern="1200" dirty="0">
                <a:solidFill>
                  <a:schemeClr val="tx1"/>
                </a:solidFill>
                <a:effectLst/>
                <a:latin typeface="+mn-lt"/>
                <a:ea typeface="+mn-ea"/>
                <a:cs typeface="+mn-cs"/>
              </a:rPr>
              <a:t>,' it passes through two critical filter layers before being registered: </a:t>
            </a:r>
          </a:p>
          <a:p>
            <a:pPr marL="228600" indent="-228600">
              <a:buFont typeface="+mj-lt"/>
              <a:buAutoNum type="arabicPeriod"/>
            </a:pPr>
            <a:r>
              <a:rPr lang="en-US" sz="1200" b="1" kern="1200" dirty="0">
                <a:solidFill>
                  <a:schemeClr val="tx1"/>
                </a:solidFill>
                <a:effectLst/>
                <a:latin typeface="+mn-lt"/>
                <a:ea typeface="+mn-ea"/>
                <a:cs typeface="+mn-cs"/>
              </a:rPr>
              <a:t>DRY (Don't Repeat Yourself):</a:t>
            </a:r>
            <a:r>
              <a:rPr lang="en-US" sz="1200" kern="1200" dirty="0">
                <a:solidFill>
                  <a:schemeClr val="tx1"/>
                </a:solidFill>
                <a:effectLst/>
                <a:latin typeface="+mn-lt"/>
                <a:ea typeface="+mn-ea"/>
                <a:cs typeface="+mn-cs"/>
              </a:rPr>
              <a:t> Ensures we don't build ten overlapping skills that perform slightly different versions of the same task. </a:t>
            </a:r>
          </a:p>
          <a:p>
            <a:pPr marL="228600" indent="-228600">
              <a:buFont typeface="+mj-lt"/>
              <a:buAutoNum type="arabicPeriod"/>
            </a:pPr>
            <a:r>
              <a:rPr lang="en-US" sz="1200" b="1" kern="1200" dirty="0">
                <a:solidFill>
                  <a:schemeClr val="tx1"/>
                </a:solidFill>
                <a:effectLst/>
                <a:latin typeface="+mn-lt"/>
                <a:ea typeface="+mn-ea"/>
                <a:cs typeface="+mn-cs"/>
              </a:rPr>
              <a:t>MECE (Mutually Exclusive, Collectively Exhaustive):</a:t>
            </a:r>
            <a:r>
              <a:rPr lang="en-US" sz="1200" kern="1200" dirty="0">
                <a:solidFill>
                  <a:schemeClr val="tx1"/>
                </a:solidFill>
                <a:effectLst/>
                <a:latin typeface="+mn-lt"/>
                <a:ea typeface="+mn-ea"/>
                <a:cs typeface="+mn-cs"/>
              </a:rPr>
              <a:t> A management consulting principle applied to agent architecture. Tools are designed with modular parameters so the agent's logic resolver can effortlessly choose the optimal tool for any task.</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7</a:t>
            </a:fld>
            <a:endParaRPr lang="en-US"/>
          </a:p>
        </p:txBody>
      </p:sp>
    </p:spTree>
    <p:extLst>
      <p:ext uri="{BB962C8B-B14F-4D97-AF65-F5344CB8AC3E}">
        <p14:creationId xmlns:p14="http://schemas.microsoft.com/office/powerpoint/2010/main" val="581175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Super-intelligence isn't static—it's built overnight while the team sleeps. Inspired by </a:t>
            </a:r>
            <a:r>
              <a:rPr lang="en-US" sz="1200" kern="1200" dirty="0" err="1">
                <a:solidFill>
                  <a:schemeClr val="tx1"/>
                </a:solidFill>
                <a:effectLst/>
                <a:latin typeface="+mn-lt"/>
                <a:ea typeface="+mn-ea"/>
                <a:cs typeface="+mn-cs"/>
              </a:rPr>
              <a:t>Karpathy’s</a:t>
            </a:r>
            <a:r>
              <a:rPr lang="en-US" sz="1200" kern="1200" dirty="0">
                <a:solidFill>
                  <a:schemeClr val="tx1"/>
                </a:solidFill>
                <a:effectLst/>
                <a:latin typeface="+mn-lt"/>
                <a:ea typeface="+mn-ea"/>
                <a:cs typeface="+mn-cs"/>
              </a:rPr>
              <a:t> 'Auto-Research' concepts and OpenClaw’s 'Dream Cycle,' YC runs an autonomous nocturnal feedback loop.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1 (Day):</a:t>
            </a:r>
            <a:r>
              <a:rPr lang="en-US" sz="1200" kern="1200" dirty="0">
                <a:solidFill>
                  <a:schemeClr val="tx1"/>
                </a:solidFill>
                <a:effectLst/>
                <a:latin typeface="+mn-lt"/>
                <a:ea typeface="+mn-ea"/>
                <a:cs typeface="+mn-cs"/>
              </a:rPr>
              <a:t> All agent interactions across the organization are recorded.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2 (Night):</a:t>
            </a:r>
            <a:r>
              <a:rPr lang="en-US" sz="1200" kern="1200" dirty="0">
                <a:solidFill>
                  <a:schemeClr val="tx1"/>
                </a:solidFill>
                <a:effectLst/>
                <a:latin typeface="+mn-lt"/>
                <a:ea typeface="+mn-ea"/>
                <a:cs typeface="+mn-cs"/>
              </a:rPr>
              <a:t> An autonomous meta-agent ingests all conversation transcripts from the day.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3 (Synthesis):</a:t>
            </a:r>
            <a:r>
              <a:rPr lang="en-US" sz="1200" kern="1200" dirty="0">
                <a:solidFill>
                  <a:schemeClr val="tx1"/>
                </a:solidFill>
                <a:effectLst/>
                <a:latin typeface="+mn-lt"/>
                <a:ea typeface="+mn-ea"/>
                <a:cs typeface="+mn-cs"/>
              </a:rPr>
              <a:t> The agent analyzes where human prompts failed, where missing context caused hallucinations, and where workflows were inefficient.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4 (Action):</a:t>
            </a:r>
            <a:r>
              <a:rPr lang="en-US" sz="1200" kern="1200" dirty="0">
                <a:solidFill>
                  <a:schemeClr val="tx1"/>
                </a:solidFill>
                <a:effectLst/>
                <a:latin typeface="+mn-lt"/>
                <a:ea typeface="+mn-ea"/>
                <a:cs typeface="+mn-cs"/>
              </a:rPr>
              <a:t> The system automatically refactors and updates system prompts and skill registries for the next morning.</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8</a:t>
            </a:fld>
            <a:endParaRPr lang="en-US"/>
          </a:p>
        </p:txBody>
      </p:sp>
    </p:spTree>
    <p:extLst>
      <p:ext uri="{BB962C8B-B14F-4D97-AF65-F5344CB8AC3E}">
        <p14:creationId xmlns:p14="http://schemas.microsoft.com/office/powerpoint/2010/main" val="653389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a concrete example of this in action: </a:t>
            </a:r>
            <a:r>
              <a:rPr lang="en-US" sz="1200" b="1" kern="1200" dirty="0">
                <a:solidFill>
                  <a:schemeClr val="tx1"/>
                </a:solidFill>
                <a:effectLst/>
                <a:latin typeface="+mn-lt"/>
                <a:ea typeface="+mn-ea"/>
                <a:cs typeface="+mn-cs"/>
              </a:rPr>
              <a:t>The 2-Sentence Pitch Skill</a:t>
            </a:r>
            <a:r>
              <a:rPr lang="en-US" sz="1200" kern="1200" dirty="0">
                <a:solidFill>
                  <a:schemeClr val="tx1"/>
                </a:solidFill>
                <a:effectLst/>
                <a:latin typeface="+mn-lt"/>
                <a:ea typeface="+mn-ea"/>
                <a:cs typeface="+mn-cs"/>
              </a:rPr>
              <a:t>. Teaching founders how to concisely explain what their company does is a core YC competency, honed over decades. </a:t>
            </a:r>
          </a:p>
          <a:p>
            <a:r>
              <a:rPr lang="en-US" sz="1200" kern="1200" dirty="0">
                <a:solidFill>
                  <a:schemeClr val="tx1"/>
                </a:solidFill>
                <a:effectLst/>
                <a:latin typeface="+mn-lt"/>
                <a:ea typeface="+mn-ea"/>
                <a:cs typeface="+mn-cs"/>
              </a:rPr>
              <a:t>YC Partner Tom wrote an initial prompt skill for writing 2-sentence pitches. Then, partners hosted group office hours where founders attempted pitches and partners gave real-time critiques. </a:t>
            </a:r>
          </a:p>
          <a:p>
            <a:r>
              <a:rPr lang="en-US" sz="1200" kern="1200" dirty="0">
                <a:solidFill>
                  <a:schemeClr val="tx1"/>
                </a:solidFill>
                <a:effectLst/>
                <a:latin typeface="+mn-lt"/>
                <a:ea typeface="+mn-ea"/>
                <a:cs typeface="+mn-cs"/>
              </a:rPr>
              <a:t>We fed those meeting transcripts directly back into the meta-agent loop. By ingesting decades of collective partner instinct captured in those transcripts, the agent refactored the skill. Today, that skill writes 2-sentence pitches better than any individual partner on the team—effectively scaling institutional tacit knowledge.</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9</a:t>
            </a:fld>
            <a:endParaRPr lang="en-US"/>
          </a:p>
        </p:txBody>
      </p:sp>
    </p:spTree>
    <p:extLst>
      <p:ext uri="{BB962C8B-B14F-4D97-AF65-F5344CB8AC3E}">
        <p14:creationId xmlns:p14="http://schemas.microsoft.com/office/powerpoint/2010/main" val="2909759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Dario Amodei and others have pointed out that the rate of AI progression in organizations is rarely hindered by technology—it is blocked by culture.</a:t>
            </a:r>
          </a:p>
          <a:p>
            <a:r>
              <a:rPr lang="en-US" sz="1200" kern="1200" dirty="0">
                <a:solidFill>
                  <a:schemeClr val="tx1"/>
                </a:solidFill>
                <a:effectLst/>
                <a:latin typeface="+mn-lt"/>
                <a:ea typeface="+mn-ea"/>
                <a:cs typeface="+mn-cs"/>
              </a:rPr>
              <a:t>Legacy organizations operate on private data silos, strict permissions, and defensive security postures. But agents require broad context to perform at an elite level. </a:t>
            </a:r>
          </a:p>
          <a:p>
            <a:r>
              <a:rPr lang="en-US" sz="1200" kern="1200" dirty="0">
                <a:solidFill>
                  <a:schemeClr val="tx1"/>
                </a:solidFill>
                <a:effectLst/>
                <a:latin typeface="+mn-lt"/>
                <a:ea typeface="+mn-ea"/>
                <a:cs typeface="+mn-cs"/>
              </a:rPr>
              <a:t>At YC, we adopted two key cultural principles: </a:t>
            </a:r>
          </a:p>
          <a:p>
            <a:pPr marL="228600" indent="-228600">
              <a:buFont typeface="+mj-lt"/>
              <a:buAutoNum type="arabicPeriod"/>
            </a:pPr>
            <a:r>
              <a:rPr lang="en-US" sz="1200" b="1" kern="1200" dirty="0">
                <a:solidFill>
                  <a:schemeClr val="tx1"/>
                </a:solidFill>
                <a:effectLst/>
                <a:latin typeface="+mn-lt"/>
                <a:ea typeface="+mn-ea"/>
                <a:cs typeface="+mn-cs"/>
              </a:rPr>
              <a:t>Default-Public Broadcasts:</a:t>
            </a:r>
            <a:r>
              <a:rPr lang="en-US" sz="1200" kern="1200" dirty="0">
                <a:solidFill>
                  <a:schemeClr val="tx1"/>
                </a:solidFill>
                <a:effectLst/>
                <a:latin typeface="+mn-lt"/>
                <a:ea typeface="+mn-ea"/>
                <a:cs typeface="+mn-cs"/>
              </a:rPr>
              <a:t> Every agent interaction is automatically streamed to a shared internal Slack channel. This creates social accountability while letting the entire team learn prompt strategies via open observation. </a:t>
            </a:r>
          </a:p>
          <a:p>
            <a:pPr marL="228600" indent="-228600">
              <a:buFont typeface="+mj-lt"/>
              <a:buAutoNum type="arabicPeriod"/>
            </a:pPr>
            <a:r>
              <a:rPr lang="en-US" sz="1200" b="1" kern="1200" dirty="0">
                <a:solidFill>
                  <a:schemeClr val="tx1"/>
                </a:solidFill>
                <a:effectLst/>
                <a:latin typeface="+mn-lt"/>
                <a:ea typeface="+mn-ea"/>
                <a:cs typeface="+mn-cs"/>
              </a:rPr>
              <a:t>Trust by Default &amp; Egalitarian Access:</a:t>
            </a:r>
            <a:r>
              <a:rPr lang="en-US" sz="1200" kern="1200" dirty="0">
                <a:solidFill>
                  <a:schemeClr val="tx1"/>
                </a:solidFill>
                <a:effectLst/>
                <a:latin typeface="+mn-lt"/>
                <a:ea typeface="+mn-ea"/>
                <a:cs typeface="+mn-cs"/>
              </a:rPr>
              <a:t> Everyone, from junior hires to general partners, gets access to the unified context layer. This dramatically raises the organizational floor, allowing new employees to ramp up in weeks instead of months.</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10</a:t>
            </a:fld>
            <a:endParaRPr lang="en-US"/>
          </a:p>
        </p:txBody>
      </p:sp>
    </p:spTree>
    <p:extLst>
      <p:ext uri="{BB962C8B-B14F-4D97-AF65-F5344CB8AC3E}">
        <p14:creationId xmlns:p14="http://schemas.microsoft.com/office/powerpoint/2010/main" val="239750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1990, buying expensive personal computers for every employee felt like a massive risk. Today, spending $100,000+ per year on AI token costs might raise eyebrows in a traditional finance committee. </a:t>
            </a:r>
          </a:p>
          <a:p>
            <a:r>
              <a:rPr lang="en-US" sz="1200" kern="1200" dirty="0">
                <a:solidFill>
                  <a:schemeClr val="tx1"/>
                </a:solidFill>
                <a:effectLst/>
                <a:latin typeface="+mn-lt"/>
                <a:ea typeface="+mn-ea"/>
                <a:cs typeface="+mn-cs"/>
              </a:rPr>
              <a:t>But token expenditure is a </a:t>
            </a:r>
            <a:r>
              <a:rPr lang="en-US" sz="1200" b="1" kern="1200" dirty="0">
                <a:solidFill>
                  <a:schemeClr val="tx1"/>
                </a:solidFill>
                <a:effectLst/>
                <a:latin typeface="+mn-lt"/>
                <a:ea typeface="+mn-ea"/>
                <a:cs typeface="+mn-cs"/>
              </a:rPr>
              <a:t>One-Time Time Warp</a:t>
            </a:r>
            <a:r>
              <a:rPr lang="en-US" sz="1200" kern="1200" dirty="0">
                <a:solidFill>
                  <a:schemeClr val="tx1"/>
                </a:solidFill>
                <a:effectLst/>
                <a:latin typeface="+mn-lt"/>
                <a:ea typeface="+mn-ea"/>
                <a:cs typeface="+mn-cs"/>
              </a:rPr>
              <a:t>. What costs $100,000 in tokens today will cost $10,000 in two years and $100 in four years. By spending heavily on tokens today, you buy your organization the ability to operate in 2028 </a:t>
            </a:r>
            <a:r>
              <a:rPr lang="en-US" sz="1200" i="1" kern="1200" dirty="0">
                <a:solidFill>
                  <a:schemeClr val="tx1"/>
                </a:solidFill>
                <a:effectLst/>
                <a:latin typeface="+mn-lt"/>
                <a:ea typeface="+mn-ea"/>
                <a:cs typeface="+mn-cs"/>
              </a:rPr>
              <a:t>right now</a:t>
            </a:r>
            <a:r>
              <a:rPr lang="en-US" sz="1200" kern="1200" dirty="0">
                <a:solidFill>
                  <a:schemeClr val="tx1"/>
                </a:solidFill>
                <a:effectLst/>
                <a:latin typeface="+mn-lt"/>
                <a:ea typeface="+mn-ea"/>
                <a:cs typeface="+mn-cs"/>
              </a:rPr>
              <a:t>. It’s a leapfrog advantage that legacy incumbents stuck in cost-cutting mindsets cannot match.</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11</a:t>
            </a:fld>
            <a:endParaRPr lang="en-US"/>
          </a:p>
        </p:txBody>
      </p:sp>
    </p:spTree>
    <p:extLst>
      <p:ext uri="{BB962C8B-B14F-4D97-AF65-F5344CB8AC3E}">
        <p14:creationId xmlns:p14="http://schemas.microsoft.com/office/powerpoint/2010/main" val="955677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stand at a critical strategic fork in the road, reminiscent of the 1984 Apple Macintosh moment. </a:t>
            </a:r>
          </a:p>
          <a:p>
            <a:r>
              <a:rPr lang="en-US" sz="1200" kern="1200" dirty="0">
                <a:solidFill>
                  <a:schemeClr val="tx1"/>
                </a:solidFill>
                <a:effectLst/>
                <a:latin typeface="+mn-lt"/>
                <a:ea typeface="+mn-ea"/>
                <a:cs typeface="+mn-cs"/>
              </a:rPr>
              <a:t>On one side is </a:t>
            </a:r>
            <a:r>
              <a:rPr lang="en-US" sz="1200" b="1" kern="1200" dirty="0">
                <a:solidFill>
                  <a:schemeClr val="tx1"/>
                </a:solidFill>
                <a:effectLst/>
                <a:latin typeface="+mn-lt"/>
                <a:ea typeface="+mn-ea"/>
                <a:cs typeface="+mn-cs"/>
              </a:rPr>
              <a:t>The 1984 Mainframe Path</a:t>
            </a:r>
            <a:r>
              <a:rPr lang="en-US" sz="1200" kern="1200" dirty="0">
                <a:solidFill>
                  <a:schemeClr val="tx1"/>
                </a:solidFill>
                <a:effectLst/>
                <a:latin typeface="+mn-lt"/>
                <a:ea typeface="+mn-ea"/>
                <a:cs typeface="+mn-cs"/>
              </a:rPr>
              <a:t>: Centralized corporate kings, locked-down UIs, hidden system prompts, and heavy </a:t>
            </a:r>
            <a:r>
              <a:rPr lang="en-US" sz="1200" kern="1200" dirty="0" err="1">
                <a:solidFill>
                  <a:schemeClr val="tx1"/>
                </a:solidFill>
                <a:effectLst/>
                <a:latin typeface="+mn-lt"/>
                <a:ea typeface="+mn-ea"/>
                <a:cs typeface="+mn-cs"/>
              </a:rPr>
              <a:t>safetyism</a:t>
            </a:r>
            <a:r>
              <a:rPr lang="en-US" sz="1200" kern="1200" dirty="0">
                <a:solidFill>
                  <a:schemeClr val="tx1"/>
                </a:solidFill>
                <a:effectLst/>
                <a:latin typeface="+mn-lt"/>
                <a:ea typeface="+mn-ea"/>
                <a:cs typeface="+mn-cs"/>
              </a:rPr>
              <a:t> where AI is something that happens </a:t>
            </a:r>
            <a:r>
              <a:rPr lang="en-US" sz="1200" i="1" kern="1200" dirty="0">
                <a:solidFill>
                  <a:schemeClr val="tx1"/>
                </a:solidFill>
                <a:effectLst/>
                <a:latin typeface="+mn-lt"/>
                <a:ea typeface="+mn-ea"/>
                <a:cs typeface="+mn-cs"/>
              </a:rPr>
              <a:t>to</a:t>
            </a:r>
            <a:r>
              <a:rPr lang="en-US" sz="1200" kern="1200" dirty="0">
                <a:solidFill>
                  <a:schemeClr val="tx1"/>
                </a:solidFill>
                <a:effectLst/>
                <a:latin typeface="+mn-lt"/>
                <a:ea typeface="+mn-ea"/>
                <a:cs typeface="+mn-cs"/>
              </a:rPr>
              <a:t> you. </a:t>
            </a:r>
          </a:p>
          <a:p>
            <a:r>
              <a:rPr lang="en-US" sz="1200" kern="1200" dirty="0">
                <a:solidFill>
                  <a:schemeClr val="tx1"/>
                </a:solidFill>
                <a:effectLst/>
                <a:latin typeface="+mn-lt"/>
                <a:ea typeface="+mn-ea"/>
                <a:cs typeface="+mn-cs"/>
              </a:rPr>
              <a:t>On the other side is </a:t>
            </a:r>
            <a:r>
              <a:rPr lang="en-US" sz="1200" b="1" kern="1200" dirty="0">
                <a:solidFill>
                  <a:schemeClr val="tx1"/>
                </a:solidFill>
                <a:effectLst/>
                <a:latin typeface="+mn-lt"/>
                <a:ea typeface="+mn-ea"/>
                <a:cs typeface="+mn-cs"/>
              </a:rPr>
              <a:t>The Homebrew Future</a:t>
            </a:r>
            <a:r>
              <a:rPr lang="en-US" sz="1200" kern="1200" dirty="0">
                <a:solidFill>
                  <a:schemeClr val="tx1"/>
                </a:solidFill>
                <a:effectLst/>
                <a:latin typeface="+mn-lt"/>
                <a:ea typeface="+mn-ea"/>
                <a:cs typeface="+mn-cs"/>
              </a:rPr>
              <a:t>: Inspired by the Homebrew Computer Club that birthed the PC revolution. This path embraces open-weight models, customizable agent harnesses, private databases, and full user control. We firmly believe that organizations embracing the Homebrew approach will unlock vastly superior creativity and leverage.</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12</a:t>
            </a:fld>
            <a:endParaRPr lang="en-US"/>
          </a:p>
        </p:txBody>
      </p:sp>
    </p:spTree>
    <p:extLst>
      <p:ext uri="{BB962C8B-B14F-4D97-AF65-F5344CB8AC3E}">
        <p14:creationId xmlns:p14="http://schemas.microsoft.com/office/powerpoint/2010/main" val="3623652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Gary Tan recently recounted spending weeks writing 500,000 lines of Rails code to build a complex agentic research tool. In hindsight, building massive, rigid monolithic software in 2026 is an artifact of the past. </a:t>
            </a:r>
          </a:p>
          <a:p>
            <a:r>
              <a:rPr lang="en-US" sz="1200" kern="1200" dirty="0">
                <a:solidFill>
                  <a:schemeClr val="tx1"/>
                </a:solidFill>
                <a:effectLst/>
                <a:latin typeface="+mn-lt"/>
                <a:ea typeface="+mn-ea"/>
                <a:cs typeface="+mn-cs"/>
              </a:rPr>
              <a:t>We are entering </a:t>
            </a:r>
            <a:r>
              <a:rPr lang="en-US" sz="1200" b="1" kern="1200" dirty="0">
                <a:solidFill>
                  <a:schemeClr val="tx1"/>
                </a:solidFill>
                <a:effectLst/>
                <a:latin typeface="+mn-lt"/>
                <a:ea typeface="+mn-ea"/>
                <a:cs typeface="+mn-cs"/>
              </a:rPr>
              <a:t>The Dawn of Just-In-Time Software</a:t>
            </a:r>
            <a:r>
              <a:rPr lang="en-US" sz="1200" kern="1200" dirty="0">
                <a:solidFill>
                  <a:schemeClr val="tx1"/>
                </a:solidFill>
                <a:effectLst/>
                <a:latin typeface="+mn-lt"/>
                <a:ea typeface="+mn-ea"/>
                <a:cs typeface="+mn-cs"/>
              </a:rPr>
              <a:t>. The best AI systems (like Boris Cherny's Claude Code or open-source tools like Pi) are intentionally tiny. You maintain a minimal core, and the agent dynamically generates disposable UIs, single-page scripts, and on-demand TypeScript execution tailored to the user's exact momentary context.</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13</a:t>
            </a:fld>
            <a:endParaRPr lang="en-US"/>
          </a:p>
        </p:txBody>
      </p:sp>
    </p:spTree>
    <p:extLst>
      <p:ext uri="{BB962C8B-B14F-4D97-AF65-F5344CB8AC3E}">
        <p14:creationId xmlns:p14="http://schemas.microsoft.com/office/powerpoint/2010/main" val="2845124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let's review the definitive playbook comparing where traditional companies are versus where AI-Native organizations operate: </a:t>
            </a:r>
          </a:p>
          <a:p>
            <a:endParaRPr lang="en-US" dirty="0"/>
          </a:p>
          <a:p>
            <a:r>
              <a:rPr lang="en-US" sz="1200" b="1" kern="1200" dirty="0">
                <a:solidFill>
                  <a:schemeClr val="tx1"/>
                </a:solidFill>
                <a:effectLst/>
                <a:latin typeface="+mn-lt"/>
                <a:ea typeface="+mn-ea"/>
                <a:cs typeface="+mn-cs"/>
              </a:rPr>
              <a:t>Feature	Legacy Organization	AI-Native Organization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Workflow</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Rigid, deterministic code </a:t>
            </a:r>
          </a:p>
          <a:p>
            <a:r>
              <a:rPr lang="en-US" sz="1200" kern="1200" dirty="0">
                <a:solidFill>
                  <a:schemeClr val="tx1"/>
                </a:solidFill>
                <a:effectLst/>
                <a:latin typeface="+mn-lt"/>
                <a:ea typeface="+mn-ea"/>
                <a:cs typeface="+mn-cs"/>
              </a:rPr>
              <a:t>Natural language agentic loops </a:t>
            </a:r>
          </a:p>
          <a:p>
            <a:r>
              <a:rPr lang="en-US" sz="1200" b="1" kern="1200" dirty="0">
                <a:solidFill>
                  <a:schemeClr val="tx1"/>
                </a:solidFill>
                <a:effectLst/>
                <a:latin typeface="+mn-lt"/>
                <a:ea typeface="+mn-ea"/>
                <a:cs typeface="+mn-cs"/>
              </a:rPr>
              <a:t>Data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Fragmented SaaS silos </a:t>
            </a:r>
          </a:p>
          <a:p>
            <a:r>
              <a:rPr lang="en-US" sz="1200" kern="1200" dirty="0">
                <a:solidFill>
                  <a:schemeClr val="tx1"/>
                </a:solidFill>
                <a:effectLst/>
                <a:latin typeface="+mn-lt"/>
                <a:ea typeface="+mn-ea"/>
                <a:cs typeface="+mn-cs"/>
              </a:rPr>
              <a:t>Centralized 'Big Table' context </a:t>
            </a:r>
          </a:p>
          <a:p>
            <a:r>
              <a:rPr lang="en-US" sz="1200" b="1" kern="1200" dirty="0">
                <a:solidFill>
                  <a:schemeClr val="tx1"/>
                </a:solidFill>
                <a:effectLst/>
                <a:latin typeface="+mn-lt"/>
                <a:ea typeface="+mn-ea"/>
                <a:cs typeface="+mn-cs"/>
              </a:rPr>
              <a:t>Visibility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Siloed and private </a:t>
            </a:r>
          </a:p>
          <a:p>
            <a:r>
              <a:rPr lang="en-US" sz="1200" kern="1200" dirty="0">
                <a:solidFill>
                  <a:schemeClr val="tx1"/>
                </a:solidFill>
                <a:effectLst/>
                <a:latin typeface="+mn-lt"/>
                <a:ea typeface="+mn-ea"/>
                <a:cs typeface="+mn-cs"/>
              </a:rPr>
              <a:t>Open &amp; broadcast by default </a:t>
            </a:r>
          </a:p>
          <a:p>
            <a:r>
              <a:rPr lang="en-US" sz="1200" b="1" kern="1200" dirty="0">
                <a:solidFill>
                  <a:schemeClr val="tx1"/>
                </a:solidFill>
                <a:effectLst/>
                <a:latin typeface="+mn-lt"/>
                <a:ea typeface="+mn-ea"/>
                <a:cs typeface="+mn-cs"/>
              </a:rPr>
              <a:t>Software Strategy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Built-ahead static software </a:t>
            </a:r>
          </a:p>
          <a:p>
            <a:r>
              <a:rPr lang="en-US" sz="1200" kern="1200" dirty="0">
                <a:solidFill>
                  <a:schemeClr val="tx1"/>
                </a:solidFill>
                <a:effectLst/>
                <a:latin typeface="+mn-lt"/>
                <a:ea typeface="+mn-ea"/>
                <a:cs typeface="+mn-cs"/>
              </a:rPr>
              <a:t>Dynamic, Just-In-Time software </a:t>
            </a:r>
          </a:p>
          <a:p>
            <a:r>
              <a:rPr lang="en-US" sz="1200" b="1" kern="1200" dirty="0">
                <a:solidFill>
                  <a:schemeClr val="tx1"/>
                </a:solidFill>
                <a:effectLst/>
                <a:latin typeface="+mn-lt"/>
                <a:ea typeface="+mn-ea"/>
                <a:cs typeface="+mn-cs"/>
              </a:rPr>
              <a:t>Culture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Need-to-know permissions </a:t>
            </a:r>
          </a:p>
          <a:p>
            <a:r>
              <a:rPr lang="en-US" sz="1200" kern="1200" dirty="0">
                <a:solidFill>
                  <a:schemeClr val="tx1"/>
                </a:solidFill>
                <a:effectLst/>
                <a:latin typeface="+mn-lt"/>
                <a:ea typeface="+mn-ea"/>
                <a:cs typeface="+mn-cs"/>
              </a:rPr>
              <a:t>Trust-by-default, fast ramp-up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Building super-intelligence isn't magic. It comes down to recording every artifact, building a shared tool registry, consolidating your context, and empowering your people to program their workflows in plain English. Thank you!"</a:t>
            </a:r>
          </a:p>
          <a:p>
            <a:endParaRPr lang="en-US" dirty="0"/>
          </a:p>
        </p:txBody>
      </p:sp>
      <p:sp>
        <p:nvSpPr>
          <p:cNvPr id="4" name="Slide Number Placeholder 3"/>
          <p:cNvSpPr>
            <a:spLocks noGrp="1"/>
          </p:cNvSpPr>
          <p:nvPr>
            <p:ph type="sldNum" sz="quarter" idx="5"/>
          </p:nvPr>
        </p:nvSpPr>
        <p:spPr/>
        <p:txBody>
          <a:bodyPr/>
          <a:lstStyle/>
          <a:p>
            <a:fld id="{A8FF17FC-E8EE-4D64-9CED-539CFC5E15EC}" type="slidenum">
              <a:rPr lang="en-US" smtClean="0"/>
              <a:t>14</a:t>
            </a:fld>
            <a:endParaRPr lang="en-US"/>
          </a:p>
        </p:txBody>
      </p:sp>
    </p:spTree>
    <p:extLst>
      <p:ext uri="{BB962C8B-B14F-4D97-AF65-F5344CB8AC3E}">
        <p14:creationId xmlns:p14="http://schemas.microsoft.com/office/powerpoint/2010/main" val="2875950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923006-8C55-1404-559F-28313152008C}"/>
              </a:ext>
            </a:extLst>
          </p:cNvPr>
          <p:cNvSpPr>
            <a:spLocks noGrp="1"/>
          </p:cNvSpPr>
          <p:nvPr>
            <p:ph type="dt" sz="half" idx="10"/>
          </p:nvPr>
        </p:nvSpPr>
        <p:spPr/>
        <p:txBody>
          <a:bodyPr/>
          <a:lstStyle/>
          <a:p>
            <a:fld id="{A77EA047-3F63-421E-A26A-08D23F5F5538}" type="datetimeFigureOut">
              <a:rPr lang="en-US" smtClean="0"/>
              <a:t>10/19/2026</a:t>
            </a:fld>
            <a:endParaRPr lang="en-US"/>
          </a:p>
        </p:txBody>
      </p:sp>
      <p:sp>
        <p:nvSpPr>
          <p:cNvPr id="3" name="Footer Placeholder 2">
            <a:extLst>
              <a:ext uri="{FF2B5EF4-FFF2-40B4-BE49-F238E27FC236}">
                <a16:creationId xmlns:a16="http://schemas.microsoft.com/office/drawing/2014/main" id="{453EB293-989D-B075-CA9B-242926C09C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96A911-DB32-51E2-9A5A-5F8186E3E63F}"/>
              </a:ext>
            </a:extLst>
          </p:cNvPr>
          <p:cNvSpPr>
            <a:spLocks noGrp="1"/>
          </p:cNvSpPr>
          <p:nvPr>
            <p:ph type="sldNum" sz="quarter" idx="12"/>
          </p:nvPr>
        </p:nvSpPr>
        <p:spPr/>
        <p:txBody>
          <a:bodyPr/>
          <a:lstStyle/>
          <a:p>
            <a:fld id="{633F641E-416B-4710-AB07-6422067A198D}" type="slidenum">
              <a:rPr lang="en-US" smtClean="0"/>
              <a:t>‹#›</a:t>
            </a:fld>
            <a:endParaRPr lang="en-US"/>
          </a:p>
        </p:txBody>
      </p:sp>
    </p:spTree>
    <p:extLst>
      <p:ext uri="{BB962C8B-B14F-4D97-AF65-F5344CB8AC3E}">
        <p14:creationId xmlns:p14="http://schemas.microsoft.com/office/powerpoint/2010/main" val="166038843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214B1-47FF-ACE9-FBFE-452E8A373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8975A6-FBF5-F755-D3B9-190116A64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57E6F-791E-8459-F05B-E94AF24BFF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7EA047-3F63-421E-A26A-08D23F5F5538}" type="datetimeFigureOut">
              <a:rPr lang="en-US" smtClean="0"/>
              <a:t>10/19/2026</a:t>
            </a:fld>
            <a:endParaRPr lang="en-US"/>
          </a:p>
        </p:txBody>
      </p:sp>
      <p:sp>
        <p:nvSpPr>
          <p:cNvPr id="5" name="Footer Placeholder 4">
            <a:extLst>
              <a:ext uri="{FF2B5EF4-FFF2-40B4-BE49-F238E27FC236}">
                <a16:creationId xmlns:a16="http://schemas.microsoft.com/office/drawing/2014/main" id="{FA13030F-4333-5C13-F5BE-905B65231A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C94D94-AB64-9AD7-48C5-C4EC8F1225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3F641E-416B-4710-AB07-6422067A198D}" type="slidenum">
              <a:rPr lang="en-US" smtClean="0"/>
              <a:t>‹#›</a:t>
            </a:fld>
            <a:endParaRPr lang="en-US"/>
          </a:p>
        </p:txBody>
      </p:sp>
    </p:spTree>
    <p:extLst>
      <p:ext uri="{BB962C8B-B14F-4D97-AF65-F5344CB8AC3E}">
        <p14:creationId xmlns:p14="http://schemas.microsoft.com/office/powerpoint/2010/main" val="342380405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77B135-DE38-0263-262F-99B1191FC8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048D15-33F0-D3F0-F370-EAB95F0CD3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62127A-E98B-4335-B376-F922685DD5E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6F3446-128C-6AAE-79E1-3CAE787ABAF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11BA1B-31D9-812E-6E9C-6FB4B3E52E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3E3F29-221A-485D-4799-2E288A0F5F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EA9DAE-047D-1EF5-4BD1-B0B9FFA9ED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33A0F8-71F8-2B7E-BCB3-9A5EC4B140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9919E9-F991-9E66-042D-9FF77DD0AC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823805-5AF1-A5A0-FFC8-5CBEECF727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D18E29-2231-B132-F46E-884E26D8D0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A97FE7-2E37-FDD9-8717-FD5D08C432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809BC2-05A7-ABF3-752A-7C394E8BD3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7B7148-9986-81BE-6E26-0628696FC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951730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1724</Words>
  <Application>Microsoft Office PowerPoint</Application>
  <PresentationFormat>寬螢幕</PresentationFormat>
  <Paragraphs>77</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2026-07-22T04:25:12Z</dcterms:created>
  <dcterms:modified xsi:type="dcterms:W3CDTF">2026-10-19T14:29:00Z</dcterms:modified>
</cp:coreProperties>
</file>