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F4E22-A6EA-433F-9B20-2835A04B020B}" v="26" dt="2026-07-30T14:15:00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376" autoAdjust="0"/>
  </p:normalViewPr>
  <p:slideViewPr>
    <p:cSldViewPr snapToGrid="0">
      <p:cViewPr varScale="1">
        <p:scale>
          <a:sx n="64" d="100"/>
          <a:sy n="64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modMainMaster">
      <pc:chgData name="Lai, Wilson" userId="2840974a-0d84-4886-90a9-9a3ed79f3a48" providerId="ADAL" clId="{9F23B798-9E84-4552-BA63-E776E805C424}" dt="2026-07-30T14:15:07.939" v="107" actId="20577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7-30T14:15:07.939" v="107" actId="20577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7-25T09:03:07.592" v="36" actId="164"/>
          <ac:spMkLst>
            <pc:docMk/>
            <pc:sldMk cId="0" sldId="257"/>
            <ac:spMk id="5" creationId="{95C5BAC5-BBD7-F832-23B9-9E7989EDE5C2}"/>
          </ac:spMkLst>
        </pc:spChg>
        <pc:grpChg chg="add mod">
          <ac:chgData name="Lai, Wilson" userId="2840974a-0d84-4886-90a9-9a3ed79f3a48" providerId="ADAL" clId="{9F23B798-9E84-4552-BA63-E776E805C424}" dt="2026-07-25T09:03:13.474" v="37" actId="1076"/>
          <ac:grpSpMkLst>
            <pc:docMk/>
            <pc:sldMk cId="0" sldId="257"/>
            <ac:grpSpMk id="6" creationId="{3D44FBF8-6F06-87DD-6251-015C9C2F9DBE}"/>
          </ac:grpSpMkLst>
        </pc:grpChg>
        <pc:picChg chg="add mod">
          <ac:chgData name="Lai, Wilson" userId="2840974a-0d84-4886-90a9-9a3ed79f3a48" providerId="ADAL" clId="{9F23B798-9E84-4552-BA63-E776E805C424}" dt="2026-07-25T09:03:07.592" v="36" actId="164"/>
          <ac:picMkLst>
            <pc:docMk/>
            <pc:sldMk cId="0" sldId="257"/>
            <ac:picMk id="2" creationId="{7AAF8701-D226-13EA-CE7C-9E70B4E3BFC3}"/>
          </ac:picMkLst>
        </pc:picChg>
        <pc:picChg chg="add">
          <ac:chgData name="Lai, Wilson" userId="2840974a-0d84-4886-90a9-9a3ed79f3a48" providerId="ADAL" clId="{9F23B798-9E84-4552-BA63-E776E805C424}" dt="2026-07-25T08:49:52.752" v="2" actId="22"/>
          <ac:picMkLst>
            <pc:docMk/>
            <pc:sldMk cId="0" sldId="257"/>
            <ac:picMk id="4" creationId="{FF4944F6-7503-810A-15C3-5550F412A665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4:46.755" v="102" actId="20577"/>
        <pc:sldMkLst>
          <pc:docMk/>
          <pc:sldMk cId="0" sldId="258"/>
        </pc:sldMkLst>
        <pc:picChg chg="add">
          <ac:chgData name="Lai, Wilson" userId="2840974a-0d84-4886-90a9-9a3ed79f3a48" providerId="ADAL" clId="{9F23B798-9E84-4552-BA63-E776E805C424}" dt="2026-07-25T08:50:09.249" v="4" actId="22"/>
          <ac:picMkLst>
            <pc:docMk/>
            <pc:sldMk cId="0" sldId="258"/>
            <ac:picMk id="4" creationId="{909C8DF6-EF83-AFCA-117A-8D1FFC8C8D76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7-30T14:14:33.032" v="99" actId="20577"/>
        <pc:sldMkLst>
          <pc:docMk/>
          <pc:sldMk cId="0" sldId="259"/>
        </pc:sldMkLst>
        <pc:spChg chg="add del mod">
          <ac:chgData name="Lai, Wilson" userId="2840974a-0d84-4886-90a9-9a3ed79f3a48" providerId="ADAL" clId="{9F23B798-9E84-4552-BA63-E776E805C424}" dt="2026-07-30T14:14:30.397" v="98" actId="22"/>
          <ac:spMkLst>
            <pc:docMk/>
            <pc:sldMk cId="0" sldId="259"/>
            <ac:spMk id="3" creationId="{6AE220B3-7865-E8D5-A078-1FF141E877ED}"/>
          </ac:spMkLst>
        </pc:spChg>
        <pc:picChg chg="add">
          <ac:chgData name="Lai, Wilson" userId="2840974a-0d84-4886-90a9-9a3ed79f3a48" providerId="ADAL" clId="{9F23B798-9E84-4552-BA63-E776E805C424}" dt="2026-07-25T08:50:29.713" v="6" actId="22"/>
          <ac:picMkLst>
            <pc:docMk/>
            <pc:sldMk cId="0" sldId="259"/>
            <ac:picMk id="4" creationId="{3E831D76-035B-7DE9-CEDC-670D3026CA7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4:15.770" v="90" actId="20577"/>
        <pc:sldMkLst>
          <pc:docMk/>
          <pc:sldMk cId="0" sldId="260"/>
        </pc:sldMkLst>
        <pc:picChg chg="add">
          <ac:chgData name="Lai, Wilson" userId="2840974a-0d84-4886-90a9-9a3ed79f3a48" providerId="ADAL" clId="{9F23B798-9E84-4552-BA63-E776E805C424}" dt="2026-07-25T08:50:41.866" v="8" actId="22"/>
          <ac:picMkLst>
            <pc:docMk/>
            <pc:sldMk cId="0" sldId="260"/>
            <ac:picMk id="4" creationId="{3319A697-1F50-CBA8-1B87-45969833C5D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4:03.116" v="87" actId="20577"/>
        <pc:sldMkLst>
          <pc:docMk/>
          <pc:sldMk cId="0" sldId="261"/>
        </pc:sldMkLst>
        <pc:picChg chg="add">
          <ac:chgData name="Lai, Wilson" userId="2840974a-0d84-4886-90a9-9a3ed79f3a48" providerId="ADAL" clId="{9F23B798-9E84-4552-BA63-E776E805C424}" dt="2026-07-25T08:50:54.494" v="10" actId="22"/>
          <ac:picMkLst>
            <pc:docMk/>
            <pc:sldMk cId="0" sldId="261"/>
            <ac:picMk id="4" creationId="{DD239EB5-4569-39D9-B011-0C7605FDEB9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3:50.617" v="84" actId="20577"/>
        <pc:sldMkLst>
          <pc:docMk/>
          <pc:sldMk cId="0" sldId="262"/>
        </pc:sldMkLst>
        <pc:picChg chg="add">
          <ac:chgData name="Lai, Wilson" userId="2840974a-0d84-4886-90a9-9a3ed79f3a48" providerId="ADAL" clId="{9F23B798-9E84-4552-BA63-E776E805C424}" dt="2026-07-25T08:51:07.381" v="12" actId="22"/>
          <ac:picMkLst>
            <pc:docMk/>
            <pc:sldMk cId="0" sldId="262"/>
            <ac:picMk id="4" creationId="{D88FA863-C824-630E-F68D-25155583603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3:32.511" v="81" actId="20577"/>
        <pc:sldMkLst>
          <pc:docMk/>
          <pc:sldMk cId="0" sldId="263"/>
        </pc:sldMkLst>
        <pc:picChg chg="add">
          <ac:chgData name="Lai, Wilson" userId="2840974a-0d84-4886-90a9-9a3ed79f3a48" providerId="ADAL" clId="{9F23B798-9E84-4552-BA63-E776E805C424}" dt="2026-07-25T08:51:16.706" v="14" actId="22"/>
          <ac:picMkLst>
            <pc:docMk/>
            <pc:sldMk cId="0" sldId="263"/>
            <ac:picMk id="4" creationId="{C8A60041-E394-C6AF-1A49-361A216BA95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3:05.930" v="78" actId="20577"/>
        <pc:sldMkLst>
          <pc:docMk/>
          <pc:sldMk cId="0" sldId="264"/>
        </pc:sldMkLst>
        <pc:picChg chg="add">
          <ac:chgData name="Lai, Wilson" userId="2840974a-0d84-4886-90a9-9a3ed79f3a48" providerId="ADAL" clId="{9F23B798-9E84-4552-BA63-E776E805C424}" dt="2026-07-25T08:51:28.034" v="16" actId="22"/>
          <ac:picMkLst>
            <pc:docMk/>
            <pc:sldMk cId="0" sldId="264"/>
            <ac:picMk id="4" creationId="{227B7130-8F88-A9ED-B855-1F3194A309D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1:09.734" v="60" actId="12"/>
        <pc:sldMkLst>
          <pc:docMk/>
          <pc:sldMk cId="0" sldId="265"/>
        </pc:sldMkLst>
        <pc:picChg chg="add">
          <ac:chgData name="Lai, Wilson" userId="2840974a-0d84-4886-90a9-9a3ed79f3a48" providerId="ADAL" clId="{9F23B798-9E84-4552-BA63-E776E805C424}" dt="2026-07-25T08:51:41.517" v="18" actId="22"/>
          <ac:picMkLst>
            <pc:docMk/>
            <pc:sldMk cId="0" sldId="265"/>
            <ac:picMk id="4" creationId="{DAFB6C84-1792-938B-8E69-FBDDE16AABD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1:30.141" v="63" actId="12"/>
        <pc:sldMkLst>
          <pc:docMk/>
          <pc:sldMk cId="0" sldId="266"/>
        </pc:sldMkLst>
        <pc:picChg chg="add">
          <ac:chgData name="Lai, Wilson" userId="2840974a-0d84-4886-90a9-9a3ed79f3a48" providerId="ADAL" clId="{9F23B798-9E84-4552-BA63-E776E805C424}" dt="2026-07-25T08:51:53.120" v="20" actId="22"/>
          <ac:picMkLst>
            <pc:docMk/>
            <pc:sldMk cId="0" sldId="266"/>
            <ac:picMk id="4" creationId="{27E3175C-A977-F668-EE3C-AB4899071E7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1:53.781" v="66" actId="12"/>
        <pc:sldMkLst>
          <pc:docMk/>
          <pc:sldMk cId="0" sldId="267"/>
        </pc:sldMkLst>
        <pc:picChg chg="add">
          <ac:chgData name="Lai, Wilson" userId="2840974a-0d84-4886-90a9-9a3ed79f3a48" providerId="ADAL" clId="{9F23B798-9E84-4552-BA63-E776E805C424}" dt="2026-07-25T08:52:03.866" v="22" actId="22"/>
          <ac:picMkLst>
            <pc:docMk/>
            <pc:sldMk cId="0" sldId="267"/>
            <ac:picMk id="4" creationId="{69F00883-206F-CE34-D9B4-5FC4FD9A6CA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2:10.221" v="69" actId="12"/>
        <pc:sldMkLst>
          <pc:docMk/>
          <pc:sldMk cId="0" sldId="268"/>
        </pc:sldMkLst>
        <pc:picChg chg="add">
          <ac:chgData name="Lai, Wilson" userId="2840974a-0d84-4886-90a9-9a3ed79f3a48" providerId="ADAL" clId="{9F23B798-9E84-4552-BA63-E776E805C424}" dt="2026-07-25T08:52:14.818" v="24" actId="22"/>
          <ac:picMkLst>
            <pc:docMk/>
            <pc:sldMk cId="0" sldId="268"/>
            <ac:picMk id="4" creationId="{86A6BC08-917D-255D-3929-43B61561AD2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12:43.326" v="73" actId="5793"/>
        <pc:sldMkLst>
          <pc:docMk/>
          <pc:sldMk cId="3589551284" sldId="269"/>
        </pc:sldMkLst>
        <pc:picChg chg="add">
          <ac:chgData name="Lai, Wilson" userId="2840974a-0d84-4886-90a9-9a3ed79f3a48" providerId="ADAL" clId="{9F23B798-9E84-4552-BA63-E776E805C424}" dt="2026-07-25T08:53:31.318" v="26" actId="22"/>
          <ac:picMkLst>
            <pc:docMk/>
            <pc:sldMk cId="3589551284" sldId="269"/>
            <ac:picMk id="4" creationId="{9F57D9C9-E84A-BCA7-FD6C-B19277B72196}"/>
          </ac:picMkLst>
        </pc:picChg>
      </pc:sldChg>
      <pc:sldMasterChg chg="setBg">
        <pc:chgData name="Lai, Wilson" userId="2840974a-0d84-4886-90a9-9a3ed79f3a48" providerId="ADAL" clId="{9F23B798-9E84-4552-BA63-E776E805C424}" dt="2026-07-25T08:49:11.175" v="0"/>
        <pc:sldMasterMkLst>
          <pc:docMk/>
          <pc:sldMasterMk cId="2828018017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717F5-5B90-4DDF-8834-AF24452D395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1C56-6BFE-424F-83AA-CDFCAA5BF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https://www.youtube.com/watch?v=32u5T6lO8qk</a:t>
            </a:r>
          </a:p>
          <a:p>
            <a:endParaRPr lang="en-US" dirty="0"/>
          </a:p>
          <a:p>
            <a:r>
              <a:rPr lang="en-US" b="1"/>
              <a:t>Key </a:t>
            </a:r>
            <a:r>
              <a:rPr lang="en-US" b="1" dirty="0"/>
              <a:t>Objective:</a:t>
            </a:r>
            <a:r>
              <a:rPr lang="en-US" dirty="0"/>
              <a:t> Set an executive, urgent tone and introduce the primary thesis.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Today’s briefing isn’t just about market trends or quarterly asset allocation; it’s a high-level systemic threat intelligence assessment based on insights from Jeremy Grantham, a 60-year market veteran who managed $165B in assets.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title,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Fraying Edges of the System,"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highlights that we are not dealing with isolated market corrections or single-industry hiccups. We are looking at interconnected crises spanning the economy, technology, human biology, and the social contract.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core focus today is understanding the AI mega-bubble and learning practical asset and life defense strategies to navigate what Grantham views as the greatest systemic unwind of our era.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55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Shift the audience's mindset from short-term optimism to broad-system analysis.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human beings, we possess a strong psychological bias toward optimism. We prefer good news and naturally avoid unpleasant truths.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see what is actually happening, Grantham urges us to move to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level of abstraction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the four quadrants on this slide: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Everything Bubble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(Financial markets).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Gladiator Arena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(Corporate capex and monopolies).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Silent Biological Crash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(Falling human fertility and environmental toxins).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Fraying Social Contract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(Inequality and institutional decay).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takeaway here: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not separate crises.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They are connected symptoms of a global system optimized strictly for short-term corporate profits at the expense of long-term human survival.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62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Dismantle the Efficient Market Hypothesis and explain behavioral market peaks.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Wall Street teaches that the stock market is an efficient discounting mechanism for future corporate earnings. Grantham argues the exact opposite: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stock market is a behavioral jungle driven by fear, greed, and momentum.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Extrapolation Trap works: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economic conditions are peak, markets double-count the good news. They multiply peak profit margins by peak valuation multiples and extrapolate temporary perfection infinitely into the future.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the line on the chart: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Efficient Market Illusion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assumes linear or exponential compound growth forever. But as the famous quote states: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only people who think you can have compound growth on a finite planet are madmen and economists."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are we?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 at "You Are Here" at the top of the wave. We are at the peak of behavioral euphoria, right before mean reversion takes over.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99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Benchmark current market valuations against historical market crashes.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history teaches one constant law: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Gravity remains undefeated.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greater and more obvious the idea, the more capital rushes in, creating a massive bubble followed by a catastrophic bust.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peaks are always characterized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 euphoria wrapped in a fabulous story.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Comparisons: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1929 Great Crash: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Stocks dropped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1972 Nifty Fifty: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Dropped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(80% inflation-adjusted).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1989 Japan Mega-Bubble: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Traded at 65x earnings; it took 35 years for Japanese equities to recover.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80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Highlight the dangerous shift in Big Tech behavior and the nature of the AI bubble.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closely at the "Magnificent 7" tech giants. Historically, these companies operated as well-behaved separate monopolies: Google owned Search, Meta owned Social, Amazon owned E-Commerce, Apple owned Devices, and so on. They made vast profits in their own lanes.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rise of AI, these monopolies have abandoned their distinct borders. They are now spending up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$200 Billion annually in capital expenditure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fight a zero-sum war in the exact same arena.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SpaceX / High-Valuation Indicator: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market leaders define their total addressable market as 25% of global GDP or propose mining asteroids to justify valuations, you are looking at classic market-peak mania.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winner-take-all battle where massive capital is being spent ahead of proven revenue models.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67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Introduce the biological crisis—the crash in human fertility rates.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risk is not limited to financial markets. While financial markets inflate, human biological metrics are deflating rapidly.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1970, median male sperm counts have been dropping worldwide at an accelerating pace—currently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2.5% per year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Thresholds on the Chart: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1970: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100+ million units/ml.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Dropped to 45 million units/ml (the biological threshold required for natural conception).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down to roughly 35 million units/ml, with 17% of couples requiring clinical medical assistance to conceive.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Trendline: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this trajectory continues unchecked, median male sperm counts are on track to hit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absolute zero by 2045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poses an existential threat to population replacement and economic continuity.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3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Detail the toxic chemical drivers behind the biological collapse.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is this biological crash happening? It is the result of a systemic failure to protect the biological commons from profitable, toxic chemical compounds.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 Chemical Agents &amp; Impacts: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Phthalates (Endocrine Disruptors):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Found in cosmetics, shampoos, and food packaging. Stunts reproductive capacity in male fetuses permanently during the first trimester.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PFAS (Forever Chemicals):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Found in non-stick pans, rain jackets, and tap water (present in ~45% of US tap water). Directly linked to crashing sperm volumes and testicular cancer.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BPA (Synthetic Estrogens):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Found in hard plastics and thermal store receipts. Floods the male body with female hormone signals.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Atrazine (Chemical Castrators):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Herbicide heavily sprayed on US corn and sugar. Shown to chemically castrate amphibians and drastically lower human testosterone.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Microplastics: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Found in 100% of tested human placenta, breast milk, and testicular tissue samples.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46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Objective:</a:t>
            </a:r>
            <a:r>
              <a:rPr lang="en-US" dirty="0"/>
              <a:t> Contrast regulatory models (US vs. EU/Nordics) and their impacts on public health.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Biological toxicity and social stability are heavily dictated by regional policy and government regulation.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United States: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Prioritizes corporate monopolies and short-term chemical industry profits.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FDA bans only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11–12 chemicals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cosmetics.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 pesticides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banned in Europe.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Maternal mortality is unusually high (21 per 100k, reaching 44 for Black mothers), and the life expectancy gap versus nations like Sweden has widened from 2 to 6 years.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European Union / Nordics: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Applies the precautionary principle to protect public health.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 bans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1,500 chemicals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cosmetics.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Strictly bans toxic agricultural herbicides.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Maternal mortality is near zero (e.g., Norway at 0, Sweden at 2.1), and life expectancy continues to climb.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83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Explain the concept of the global commons and why the current economic model is failing.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maintain a functional civilization, society relies on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Commons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 Stability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 Environments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(air, water, fertile soil)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2.1 Replacement Fertility Rate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(healthy, well-educated children)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hyper-capitalism has optimized for short-term corporate profits by consuming and liquidating these exact foundations.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friction we feel today—economic volatility, extreme political polarization, and declining health—is the direct consequence of a system devouring its own base to generate short-term earnings.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72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 clear, actionable asset allocation advice based on Grantham’s model.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Institutional Wall Street will not save you. Their business model depends on keeping capital invested in high-fee, hyper-inflated assets. You must manage your capital independently.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Wall Street Consensus vs. The Grantham Defense Portfolio: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Equities: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 concentrated US Tech and S&amp;P 500 growth stocks. Pivot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into Non-US Equities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(Emerging Markets, Japan, Europe) where valuations are significantly lower.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 Income: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Allocate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30–35% into cash reserves and government bonds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preserve dry powder.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Allocate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5–10% to Gold and Silver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Avoid Crypto entirely—Grantham views Bitcoin as speculative hype with no intrinsic value.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Capital preservation through mean reversion.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35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Offer personal, health, and location-based mitigation strategies.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Protecting your balance sheet is useless if you don't protect your health and family. Here is the defense blueprint: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Pregnancy Imperative: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270 days in the womb are 1,000x more vulnerable to toxic chemicals. Eliminating synthetic cosmetics and endocrine disruptors during pregnancy is one of the highest-return health choices you can make.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"Dirty Dozen" Elimination: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Avoid produce heavily sprayed with pesticides (strawberries, spinach, apples, peaches). Shift to organics or protected foods (bananas, avocados). Harvard studies show strict avoidance of pesticide-laden foods can significantly improve fertility metrics.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Geographic Arbitrage: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Evaluate where you live. Consider living in or sourcing products from regions (EU, Japan) that actively regulate environmental toxins and safeguard public health.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24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 corporate psychology, institutional career risk, and individual action.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don't more professionals speak out? Because of institutional inertia. In corporate and financial life, the key political skill is often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 to be wrong on your own.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you follow the crowd off a cliff, your career is protected; if you step out of line early, you face reputational risk.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survive systemic unwinds—financially, biologically, and socially—you must have the courage to inspect raw data, draw independent conclusions, and act before the crowd.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wait for broken institutions to fix these issues. Protect your capital, safeguard your household's health, and build resilient local communities.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73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Summarize all key takeaways into a final executive action checklist.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final slide serves as your quick-reference executive dossier: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 Defense: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 inflated US Tech and AI equities; prepare for potential market drawdowns of up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Diversify into value-oriented international equities, government bonds, and precious metals.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Steer clear of crypto and speculative market narratives.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Biological &amp; Personal Survival: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Recognize the demographic reality: male fertility metrics face a steep decline toward 2045.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 household inputs: eliminate endocrine disruptors and non-organic "Dirty Dozen" produce.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international regulatory differences (EU vs. US chemical bans) to make safer consumer choices.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Thought: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Historical wealth and biological imbalances are ultimately self-correcting. Proactive preparation is the best way to safeguard both your wealth and your family's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51C56-6BFE-424F-83AA-CDFCAA5BFD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09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0563F-8EDC-FEB4-5046-99F86780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922D-F083-4280-A7CA-311AA834209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EF310-0AEC-2458-BCBD-20E6649B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BAD59-111C-806D-C68B-F73D4FBC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CAB-B2D3-4293-853E-D0FE4C401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21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06C47-5E17-7426-7182-072DF81A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5F63C-54FC-D8C8-9B9A-9A7C71B9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F2278-C6E4-403D-4143-CAD4358B1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B922D-F083-4280-A7CA-311AA834209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152FA-C881-82D5-D930-B2D399F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06E9E-187D-C2C4-E69B-11B971B3A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7FCAB-B2D3-4293-853E-D0FE4C401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1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4944F6-7503-810A-15C3-5550F412A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9C8DF6-EF83-AFCA-117A-8D1FFC8C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31D76-035B-7DE9-CEDC-670D3026C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19A697-1F50-CBA8-1B87-45969833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239EB5-4569-39D9-B011-0C7605FDE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8FA863-C824-630E-F68D-251555836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A60041-E394-C6AF-1A49-361A216BA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7B7130-8F88-A9ED-B855-1F3194A30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FB6C84-1792-938B-8E69-FBDDE16AA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E3175C-A977-F668-EE3C-AB489907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F00883-206F-CE34-D9B4-5FC4FD9A6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A6BC08-917D-255D-3929-43B61561A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57D9C9-E84A-BCA7-FD6C-B19277B72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5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1891</Words>
  <Application>Microsoft Office PowerPoint</Application>
  <PresentationFormat>寬螢幕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2026-07-25T08:47:41Z</dcterms:created>
  <dcterms:modified xsi:type="dcterms:W3CDTF">2026-10-19T14:30:06Z</dcterms:modified>
</cp:coreProperties>
</file>