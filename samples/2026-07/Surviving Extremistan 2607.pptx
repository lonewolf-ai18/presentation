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707560-4DBB-4F88-AF51-6D77C5F1950C}" v="14" dt="2026-07-30T09:25:18.2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2000"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7-31T01:53:38.800" v="81" actId="1076"/>
      <pc:docMkLst>
        <pc:docMk/>
      </pc:docMkLst>
      <pc:sldChg chg="addSp delSp modSp mod modAnim modNotesTx">
        <pc:chgData name="Lai, Wilson" userId="2840974a-0d84-4886-90a9-9a3ed79f3a48" providerId="ADAL" clId="{9F23B798-9E84-4552-BA63-E776E805C424}" dt="2026-07-31T01:53:38.800" v="81" actId="1076"/>
        <pc:sldMkLst>
          <pc:docMk/>
          <pc:sldMk cId="0" sldId="257"/>
        </pc:sldMkLst>
        <pc:spChg chg="add mod">
          <ac:chgData name="Lai, Wilson" userId="2840974a-0d84-4886-90a9-9a3ed79f3a48" providerId="ADAL" clId="{9F23B798-9E84-4552-BA63-E776E805C424}" dt="2026-07-27T01:26:34.849" v="9" actId="164"/>
          <ac:spMkLst>
            <pc:docMk/>
            <pc:sldMk cId="0" sldId="257"/>
            <ac:spMk id="5" creationId="{34114B6C-CEF9-2537-EDD9-CB4CF0388A2D}"/>
          </ac:spMkLst>
        </pc:spChg>
        <pc:grpChg chg="add mod">
          <ac:chgData name="Lai, Wilson" userId="2840974a-0d84-4886-90a9-9a3ed79f3a48" providerId="ADAL" clId="{9F23B798-9E84-4552-BA63-E776E805C424}" dt="2026-07-31T01:53:38.800" v="81" actId="1076"/>
          <ac:grpSpMkLst>
            <pc:docMk/>
            <pc:sldMk cId="0" sldId="257"/>
            <ac:grpSpMk id="6" creationId="{017E874E-A820-D0D3-218E-67032DA1B418}"/>
          </ac:grpSpMkLst>
        </pc:grpChg>
        <pc:picChg chg="add mod">
          <ac:chgData name="Lai, Wilson" userId="2840974a-0d84-4886-90a9-9a3ed79f3a48" providerId="ADAL" clId="{9F23B798-9E84-4552-BA63-E776E805C424}" dt="2026-07-27T01:26:34.849" v="9" actId="164"/>
          <ac:picMkLst>
            <pc:docMk/>
            <pc:sldMk cId="0" sldId="257"/>
            <ac:picMk id="3" creationId="{779B37C6-C4AD-3F18-AC68-C074D152B05B}"/>
          </ac:picMkLst>
        </pc:picChg>
        <pc:picChg chg="add ord">
          <ac:chgData name="Lai, Wilson" userId="2840974a-0d84-4886-90a9-9a3ed79f3a48" providerId="ADAL" clId="{9F23B798-9E84-4552-BA63-E776E805C424}" dt="2026-07-27T01:31:46.201" v="12" actId="167"/>
          <ac:picMkLst>
            <pc:docMk/>
            <pc:sldMk cId="0" sldId="257"/>
            <ac:picMk id="8" creationId="{26BE4128-B13D-0607-C892-BA31A8E338ED}"/>
          </ac:picMkLst>
        </pc:picChg>
      </pc:sldChg>
      <pc:sldChg chg="addSp delSp mod modNotesTx">
        <pc:chgData name="Lai, Wilson" userId="2840974a-0d84-4886-90a9-9a3ed79f3a48" providerId="ADAL" clId="{9F23B798-9E84-4552-BA63-E776E805C424}" dt="2026-07-30T09:25:52.322" v="55" actId="12"/>
        <pc:sldMkLst>
          <pc:docMk/>
          <pc:sldMk cId="0" sldId="258"/>
        </pc:sldMkLst>
        <pc:picChg chg="add">
          <ac:chgData name="Lai, Wilson" userId="2840974a-0d84-4886-90a9-9a3ed79f3a48" providerId="ADAL" clId="{9F23B798-9E84-4552-BA63-E776E805C424}" dt="2026-07-27T01:37:32.725" v="44" actId="22"/>
          <ac:picMkLst>
            <pc:docMk/>
            <pc:sldMk cId="0" sldId="258"/>
            <ac:picMk id="4" creationId="{83A3EA9B-0B1A-9AE0-A10D-EF03F5CD0002}"/>
          </ac:picMkLst>
        </pc:picChg>
      </pc:sldChg>
      <pc:sldChg chg="addSp delSp mod modNotesTx">
        <pc:chgData name="Lai, Wilson" userId="2840974a-0d84-4886-90a9-9a3ed79f3a48" providerId="ADAL" clId="{9F23B798-9E84-4552-BA63-E776E805C424}" dt="2026-07-30T09:25:59.808" v="57" actId="15"/>
        <pc:sldMkLst>
          <pc:docMk/>
          <pc:sldMk cId="0" sldId="259"/>
        </pc:sldMkLst>
        <pc:picChg chg="add">
          <ac:chgData name="Lai, Wilson" userId="2840974a-0d84-4886-90a9-9a3ed79f3a48" providerId="ADAL" clId="{9F23B798-9E84-4552-BA63-E776E805C424}" dt="2026-07-27T01:37:18.762" v="42" actId="22"/>
          <ac:picMkLst>
            <pc:docMk/>
            <pc:sldMk cId="0" sldId="259"/>
            <ac:picMk id="4" creationId="{0525E00A-BB38-F293-01DD-D6C3E62C9402}"/>
          </ac:picMkLst>
        </pc:picChg>
      </pc:sldChg>
      <pc:sldChg chg="addSp delSp mod modNotesTx">
        <pc:chgData name="Lai, Wilson" userId="2840974a-0d84-4886-90a9-9a3ed79f3a48" providerId="ADAL" clId="{9F23B798-9E84-4552-BA63-E776E805C424}" dt="2026-07-30T09:26:15.472" v="59" actId="15"/>
        <pc:sldMkLst>
          <pc:docMk/>
          <pc:sldMk cId="0" sldId="260"/>
        </pc:sldMkLst>
        <pc:picChg chg="add">
          <ac:chgData name="Lai, Wilson" userId="2840974a-0d84-4886-90a9-9a3ed79f3a48" providerId="ADAL" clId="{9F23B798-9E84-4552-BA63-E776E805C424}" dt="2026-07-27T01:37:03.995" v="40" actId="22"/>
          <ac:picMkLst>
            <pc:docMk/>
            <pc:sldMk cId="0" sldId="260"/>
            <ac:picMk id="4" creationId="{99BA72AD-8B99-92C0-4B5F-25AC4C317172}"/>
          </ac:picMkLst>
        </pc:picChg>
      </pc:sldChg>
      <pc:sldChg chg="addSp delSp mod modNotesTx">
        <pc:chgData name="Lai, Wilson" userId="2840974a-0d84-4886-90a9-9a3ed79f3a48" providerId="ADAL" clId="{9F23B798-9E84-4552-BA63-E776E805C424}" dt="2026-07-30T09:26:39.225" v="62" actId="12"/>
        <pc:sldMkLst>
          <pc:docMk/>
          <pc:sldMk cId="0" sldId="261"/>
        </pc:sldMkLst>
        <pc:picChg chg="add">
          <ac:chgData name="Lai, Wilson" userId="2840974a-0d84-4886-90a9-9a3ed79f3a48" providerId="ADAL" clId="{9F23B798-9E84-4552-BA63-E776E805C424}" dt="2026-07-27T01:36:48.291" v="38" actId="22"/>
          <ac:picMkLst>
            <pc:docMk/>
            <pc:sldMk cId="0" sldId="261"/>
            <ac:picMk id="4" creationId="{A034157D-58A1-F9A7-B2BB-B3762DE3728C}"/>
          </ac:picMkLst>
        </pc:picChg>
      </pc:sldChg>
      <pc:sldChg chg="addSp delSp mod modNotesTx">
        <pc:chgData name="Lai, Wilson" userId="2840974a-0d84-4886-90a9-9a3ed79f3a48" providerId="ADAL" clId="{9F23B798-9E84-4552-BA63-E776E805C424}" dt="2026-07-30T09:26:50.617" v="64" actId="15"/>
        <pc:sldMkLst>
          <pc:docMk/>
          <pc:sldMk cId="0" sldId="262"/>
        </pc:sldMkLst>
        <pc:picChg chg="add">
          <ac:chgData name="Lai, Wilson" userId="2840974a-0d84-4886-90a9-9a3ed79f3a48" providerId="ADAL" clId="{9F23B798-9E84-4552-BA63-E776E805C424}" dt="2026-07-27T01:36:33.809" v="36" actId="22"/>
          <ac:picMkLst>
            <pc:docMk/>
            <pc:sldMk cId="0" sldId="262"/>
            <ac:picMk id="4" creationId="{275E04A4-29F0-3C7B-BE3F-6BDB3D4C2363}"/>
          </ac:picMkLst>
        </pc:picChg>
      </pc:sldChg>
      <pc:sldChg chg="addSp delSp mod modNotesTx">
        <pc:chgData name="Lai, Wilson" userId="2840974a-0d84-4886-90a9-9a3ed79f3a48" providerId="ADAL" clId="{9F23B798-9E84-4552-BA63-E776E805C424}" dt="2026-07-30T09:28:44.266" v="66" actId="15"/>
        <pc:sldMkLst>
          <pc:docMk/>
          <pc:sldMk cId="0" sldId="263"/>
        </pc:sldMkLst>
        <pc:picChg chg="add">
          <ac:chgData name="Lai, Wilson" userId="2840974a-0d84-4886-90a9-9a3ed79f3a48" providerId="ADAL" clId="{9F23B798-9E84-4552-BA63-E776E805C424}" dt="2026-07-27T01:36:16.113" v="34" actId="22"/>
          <ac:picMkLst>
            <pc:docMk/>
            <pc:sldMk cId="0" sldId="263"/>
            <ac:picMk id="4" creationId="{BCC8B647-C290-83E7-3E91-B029D162935E}"/>
          </ac:picMkLst>
        </pc:picChg>
      </pc:sldChg>
      <pc:sldChg chg="addSp delSp mod modNotesTx">
        <pc:chgData name="Lai, Wilson" userId="2840974a-0d84-4886-90a9-9a3ed79f3a48" providerId="ADAL" clId="{9F23B798-9E84-4552-BA63-E776E805C424}" dt="2026-07-30T09:28:49.545" v="68" actId="15"/>
        <pc:sldMkLst>
          <pc:docMk/>
          <pc:sldMk cId="0" sldId="264"/>
        </pc:sldMkLst>
        <pc:picChg chg="add">
          <ac:chgData name="Lai, Wilson" userId="2840974a-0d84-4886-90a9-9a3ed79f3a48" providerId="ADAL" clId="{9F23B798-9E84-4552-BA63-E776E805C424}" dt="2026-07-27T01:35:24.626" v="32" actId="22"/>
          <ac:picMkLst>
            <pc:docMk/>
            <pc:sldMk cId="0" sldId="264"/>
            <ac:picMk id="4" creationId="{6A619A9F-8182-A6EE-D2F6-9FD6D7EC61D4}"/>
          </ac:picMkLst>
        </pc:picChg>
      </pc:sldChg>
      <pc:sldChg chg="addSp delSp mod modNotesTx">
        <pc:chgData name="Lai, Wilson" userId="2840974a-0d84-4886-90a9-9a3ed79f3a48" providerId="ADAL" clId="{9F23B798-9E84-4552-BA63-E776E805C424}" dt="2026-07-30T09:28:54.493" v="70" actId="15"/>
        <pc:sldMkLst>
          <pc:docMk/>
          <pc:sldMk cId="0" sldId="265"/>
        </pc:sldMkLst>
        <pc:picChg chg="add">
          <ac:chgData name="Lai, Wilson" userId="2840974a-0d84-4886-90a9-9a3ed79f3a48" providerId="ADAL" clId="{9F23B798-9E84-4552-BA63-E776E805C424}" dt="2026-07-27T01:34:34.704" v="28" actId="22"/>
          <ac:picMkLst>
            <pc:docMk/>
            <pc:sldMk cId="0" sldId="265"/>
            <ac:picMk id="4" creationId="{51F3A997-A515-1DF5-3122-A40719A73968}"/>
          </ac:picMkLst>
        </pc:picChg>
      </pc:sldChg>
      <pc:sldChg chg="addSp delSp mod modNotesTx">
        <pc:chgData name="Lai, Wilson" userId="2840974a-0d84-4886-90a9-9a3ed79f3a48" providerId="ADAL" clId="{9F23B798-9E84-4552-BA63-E776E805C424}" dt="2026-07-30T09:28:59.535" v="72" actId="15"/>
        <pc:sldMkLst>
          <pc:docMk/>
          <pc:sldMk cId="0" sldId="266"/>
        </pc:sldMkLst>
        <pc:picChg chg="add del">
          <ac:chgData name="Lai, Wilson" userId="2840974a-0d84-4886-90a9-9a3ed79f3a48" providerId="ADAL" clId="{9F23B798-9E84-4552-BA63-E776E805C424}" dt="2026-07-27T01:34:42.774" v="30" actId="21"/>
          <ac:picMkLst>
            <pc:docMk/>
            <pc:sldMk cId="0" sldId="266"/>
            <ac:picMk id="4" creationId="{8838EA34-315C-A931-7CA4-B0E878873EA0}"/>
          </ac:picMkLst>
        </pc:picChg>
      </pc:sldChg>
      <pc:sldChg chg="addSp delSp mod modNotesTx">
        <pc:chgData name="Lai, Wilson" userId="2840974a-0d84-4886-90a9-9a3ed79f3a48" providerId="ADAL" clId="{9F23B798-9E84-4552-BA63-E776E805C424}" dt="2026-07-30T09:29:15.294" v="74" actId="20577"/>
        <pc:sldMkLst>
          <pc:docMk/>
          <pc:sldMk cId="0" sldId="267"/>
        </pc:sldMkLst>
        <pc:picChg chg="add">
          <ac:chgData name="Lai, Wilson" userId="2840974a-0d84-4886-90a9-9a3ed79f3a48" providerId="ADAL" clId="{9F23B798-9E84-4552-BA63-E776E805C424}" dt="2026-07-27T01:33:35.234" v="24" actId="22"/>
          <ac:picMkLst>
            <pc:docMk/>
            <pc:sldMk cId="0" sldId="267"/>
            <ac:picMk id="4" creationId="{90157EFA-F390-11C8-DC25-62567539B4A7}"/>
          </ac:picMkLst>
        </pc:picChg>
      </pc:sldChg>
      <pc:sldChg chg="addSp delSp mod modNotesTx">
        <pc:chgData name="Lai, Wilson" userId="2840974a-0d84-4886-90a9-9a3ed79f3a48" providerId="ADAL" clId="{9F23B798-9E84-4552-BA63-E776E805C424}" dt="2026-07-30T09:29:28.230" v="76" actId="15"/>
        <pc:sldMkLst>
          <pc:docMk/>
          <pc:sldMk cId="0" sldId="268"/>
        </pc:sldMkLst>
        <pc:picChg chg="add">
          <ac:chgData name="Lai, Wilson" userId="2840974a-0d84-4886-90a9-9a3ed79f3a48" providerId="ADAL" clId="{9F23B798-9E84-4552-BA63-E776E805C424}" dt="2026-07-27T01:33:22.185" v="22" actId="22"/>
          <ac:picMkLst>
            <pc:docMk/>
            <pc:sldMk cId="0" sldId="268"/>
            <ac:picMk id="4" creationId="{3B76282D-A550-E404-1672-6450FE53BDE9}"/>
          </ac:picMkLst>
        </pc:picChg>
      </pc:sldChg>
      <pc:sldChg chg="addSp delSp mod modNotesTx">
        <pc:chgData name="Lai, Wilson" userId="2840974a-0d84-4886-90a9-9a3ed79f3a48" providerId="ADAL" clId="{9F23B798-9E84-4552-BA63-E776E805C424}" dt="2026-07-30T09:29:34.443" v="78" actId="15"/>
        <pc:sldMkLst>
          <pc:docMk/>
          <pc:sldMk cId="0" sldId="269"/>
        </pc:sldMkLst>
        <pc:picChg chg="add">
          <ac:chgData name="Lai, Wilson" userId="2840974a-0d84-4886-90a9-9a3ed79f3a48" providerId="ADAL" clId="{9F23B798-9E84-4552-BA63-E776E805C424}" dt="2026-07-27T01:33:09.748" v="20" actId="22"/>
          <ac:picMkLst>
            <pc:docMk/>
            <pc:sldMk cId="0" sldId="269"/>
            <ac:picMk id="4" creationId="{2852FF29-9DC5-F4ED-445D-0A2CC1989F6A}"/>
          </ac:picMkLst>
        </pc:picChg>
      </pc:sldChg>
      <pc:sldChg chg="addSp delSp mod modNotesTx">
        <pc:chgData name="Lai, Wilson" userId="2840974a-0d84-4886-90a9-9a3ed79f3a48" providerId="ADAL" clId="{9F23B798-9E84-4552-BA63-E776E805C424}" dt="2026-07-30T09:29:45.898" v="80" actId="15"/>
        <pc:sldMkLst>
          <pc:docMk/>
          <pc:sldMk cId="876938286" sldId="270"/>
        </pc:sldMkLst>
        <pc:picChg chg="add">
          <ac:chgData name="Lai, Wilson" userId="2840974a-0d84-4886-90a9-9a3ed79f3a48" providerId="ADAL" clId="{9F23B798-9E84-4552-BA63-E776E805C424}" dt="2026-07-27T01:32:56.469" v="18" actId="22"/>
          <ac:picMkLst>
            <pc:docMk/>
            <pc:sldMk cId="876938286" sldId="270"/>
            <ac:picMk id="5" creationId="{9114AA2E-330B-E488-812E-955A2D5112A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2C2D17-C670-43A3-B100-D0586884A35F}"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466670-143B-4BC1-A2F2-035962C1B2C9}" type="slidenum">
              <a:rPr lang="en-US" smtClean="0"/>
              <a:t>‹#›</a:t>
            </a:fld>
            <a:endParaRPr lang="en-US"/>
          </a:p>
        </p:txBody>
      </p:sp>
    </p:spTree>
    <p:extLst>
      <p:ext uri="{BB962C8B-B14F-4D97-AF65-F5344CB8AC3E}">
        <p14:creationId xmlns:p14="http://schemas.microsoft.com/office/powerpoint/2010/main" val="4530396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google.com/url?sa=i&amp;source=web&amp;rct=j&amp;url=https://en.wikipedia.org/wiki/The_Black_Swan:_The_Impact_of_the_Highly_Improbable&amp;ved=2ahUKEwjCoeiW2vGVAxUfoK8BHQC-HPMQy_kOegoIAggACAAICBAB&amp;opi=89978449&amp;cd&amp;psig=AOvVaw3cZmL2QwVOS2otlHaCgqvF&amp;ust=1785202094469000"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https://www.youtube.com/watch?v=18ZxCxN2ZMo</a:t>
            </a:r>
          </a:p>
          <a:p>
            <a:endParaRPr lang="en-US" dirty="0"/>
          </a:p>
          <a:p>
            <a:r>
              <a:rPr lang="en-US" sz="1200" b="1" u="none" strike="noStrike" kern="1200" dirty="0" err="1">
                <a:solidFill>
                  <a:schemeClr val="tx1"/>
                </a:solidFill>
                <a:effectLst/>
                <a:latin typeface="+mn-lt"/>
                <a:ea typeface="+mn-ea"/>
                <a:cs typeface="+mn-cs"/>
              </a:rPr>
              <a:t>Extremistan</a:t>
            </a:r>
            <a:r>
              <a:rPr lang="en-US" sz="1200" b="1" u="none" strike="noStrike" kern="1200" dirty="0">
                <a:solidFill>
                  <a:schemeClr val="tx1"/>
                </a:solidFill>
                <a:effectLst/>
                <a:latin typeface="+mn-lt"/>
                <a:ea typeface="+mn-ea"/>
                <a:cs typeface="+mn-cs"/>
              </a:rPr>
              <a:t> </a:t>
            </a:r>
            <a:r>
              <a:rPr lang="en-US" dirty="0" err="1"/>
              <a:t>是纳西姆·尼古拉斯·塔勒布（Nassim</a:t>
            </a:r>
            <a:r>
              <a:rPr lang="en-US" dirty="0"/>
              <a:t> Nicholas </a:t>
            </a:r>
            <a:r>
              <a:rPr lang="en-US" dirty="0" err="1"/>
              <a:t>Taleb）在其著作《黑天鹅</a:t>
            </a:r>
            <a:r>
              <a:rPr lang="en-US" dirty="0"/>
              <a:t>》（</a:t>
            </a:r>
            <a:r>
              <a:rPr lang="en-US" sz="1200" b="1" u="none" strike="noStrike" kern="1200" dirty="0">
                <a:solidFill>
                  <a:schemeClr val="tx1"/>
                </a:solidFill>
                <a:effectLst/>
                <a:latin typeface="+mn-lt"/>
                <a:ea typeface="+mn-ea"/>
                <a:cs typeface="+mn-cs"/>
                <a:hlinkClick r:id="rId3"/>
              </a:rPr>
              <a:t>The Black Swan</a:t>
            </a:r>
            <a:r>
              <a:rPr lang="en-US" dirty="0"/>
              <a:t>）中提出的一个概念性领域，用来指代那些极端罕见事件（即“</a:t>
            </a:r>
            <a:r>
              <a:rPr lang="en-US" dirty="0" err="1"/>
              <a:t>黑天鹅事件</a:t>
            </a:r>
            <a:r>
              <a:rPr lang="en-US" dirty="0"/>
              <a:t>”）</a:t>
            </a:r>
            <a:r>
              <a:rPr lang="en-US" dirty="0" err="1"/>
              <a:t>对整体结果具有决定性、颠覆性影响的社会与经济范畴</a:t>
            </a:r>
            <a:endParaRPr lang="en-US" dirty="0"/>
          </a:p>
          <a:p>
            <a:endParaRPr lang="en-US" dirty="0"/>
          </a:p>
          <a:p>
            <a:pPr marL="171450" indent="-171450">
              <a:buFont typeface="Arial" panose="020B0604020202020204" pitchFamily="34" charset="0"/>
              <a:buChar char="•"/>
            </a:pPr>
            <a:r>
              <a:rPr lang="en-US" b="1" dirty="0"/>
              <a:t>Objective:</a:t>
            </a:r>
            <a:r>
              <a:rPr lang="en-US" dirty="0"/>
              <a:t> Set the stage, introduce the themes of tail risk, the poly-crisis, and Taleb/Patterson’s philosophy.</a:t>
            </a:r>
          </a:p>
          <a:p>
            <a:pPr marL="171450" indent="-171450">
              <a:buFont typeface="Arial" panose="020B0604020202020204" pitchFamily="34" charset="0"/>
              <a:buChar char="•"/>
            </a:pPr>
            <a:r>
              <a:rPr lang="en-US" b="1" dirty="0"/>
              <a:t>Speaker Script / Key Points:</a:t>
            </a:r>
            <a:endParaRPr lang="en-US" dirty="0"/>
          </a:p>
          <a:p>
            <a:pPr marL="628650" lvl="1" indent="-171450">
              <a:buFont typeface="Arial" panose="020B0604020202020204" pitchFamily="34" charset="0"/>
              <a:buChar char="•"/>
            </a:pPr>
            <a:r>
              <a:rPr lang="en-US" b="1" dirty="0"/>
              <a:t>Introduction:</a:t>
            </a:r>
            <a:r>
              <a:rPr lang="en-US" dirty="0"/>
              <a:t> "Welcome everyone. Today we are diving into the mental models required to navigate an increasingly volatile world—what Nassim Taleb calls </a:t>
            </a:r>
            <a:r>
              <a:rPr lang="en-US" i="1" dirty="0" err="1"/>
              <a:t>Extremistan</a:t>
            </a:r>
            <a:r>
              <a:rPr lang="en-US" dirty="0"/>
              <a:t>. Our presentation synthesizes the ideas of Taleb and financial journalist Scott Patterson."</a:t>
            </a:r>
          </a:p>
          <a:p>
            <a:pPr marL="628650" lvl="1" indent="-171450">
              <a:buFont typeface="Arial" panose="020B0604020202020204" pitchFamily="34" charset="0"/>
              <a:buChar char="•"/>
            </a:pPr>
            <a:r>
              <a:rPr lang="en-US" b="1" dirty="0"/>
              <a:t>Core Theme:</a:t>
            </a:r>
            <a:r>
              <a:rPr lang="en-US" dirty="0"/>
              <a:t> "Most of modern risk management relies on models designed for calm waters. But in a hyper-connected global economy, we face a 'poly-</a:t>
            </a:r>
            <a:r>
              <a:rPr lang="en-US" dirty="0" err="1"/>
              <a:t>crisis'</a:t>
            </a:r>
            <a:r>
              <a:rPr lang="en-US" dirty="0"/>
              <a:t>—where geopolitical, financial, biological, and technological risks interact non-linearly."</a:t>
            </a:r>
          </a:p>
          <a:p>
            <a:pPr marL="628650" lvl="1" indent="-171450">
              <a:buFont typeface="Arial" panose="020B0604020202020204" pitchFamily="34" charset="0"/>
              <a:buChar char="•"/>
            </a:pPr>
            <a:r>
              <a:rPr lang="en-US" b="1" dirty="0"/>
              <a:t>Goal of the Presentation:</a:t>
            </a:r>
            <a:r>
              <a:rPr lang="en-US" dirty="0"/>
              <a:t> "We aren't here to predict the next crisis—predicting specific Black Swan events is a fool's errand. Instead, we will explore how to structure systems, portfolios, and decisions so that chaos becomes an source of positive convexity and anti-fragility rather than terminal ruin."</a:t>
            </a:r>
          </a:p>
          <a:p>
            <a:endParaRPr lang="en-US" dirty="0"/>
          </a:p>
        </p:txBody>
      </p:sp>
      <p:sp>
        <p:nvSpPr>
          <p:cNvPr id="4" name="Slide Number Placeholder 3"/>
          <p:cNvSpPr>
            <a:spLocks noGrp="1"/>
          </p:cNvSpPr>
          <p:nvPr>
            <p:ph type="sldNum" sz="quarter" idx="5"/>
          </p:nvPr>
        </p:nvSpPr>
        <p:spPr/>
        <p:txBody>
          <a:bodyPr/>
          <a:lstStyle/>
          <a:p>
            <a:fld id="{81466670-143B-4BC1-A2F2-035962C1B2C9}" type="slidenum">
              <a:rPr lang="en-US" smtClean="0"/>
              <a:t>1</a:t>
            </a:fld>
            <a:endParaRPr lang="en-US"/>
          </a:p>
        </p:txBody>
      </p:sp>
    </p:spTree>
    <p:extLst>
      <p:ext uri="{BB962C8B-B14F-4D97-AF65-F5344CB8AC3E}">
        <p14:creationId xmlns:p14="http://schemas.microsoft.com/office/powerpoint/2010/main" val="33114619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Objective:</a:t>
            </a:r>
            <a:r>
              <a:rPr lang="en-US" dirty="0"/>
              <a:t> Explain why traditional portfolio diversification fails during systemic crashes due to network speed and single-point bottlenecks.</a:t>
            </a:r>
          </a:p>
          <a:p>
            <a:pPr marL="171450" indent="-171450">
              <a:buFont typeface="Arial" panose="020B0604020202020204" pitchFamily="34" charset="0"/>
              <a:buChar char="•"/>
            </a:pPr>
            <a:r>
              <a:rPr lang="en-US" b="1" dirty="0"/>
              <a:t>Speaker Script / Key Points:</a:t>
            </a:r>
            <a:endParaRPr lang="en-US" dirty="0"/>
          </a:p>
          <a:p>
            <a:pPr marL="628650" lvl="1" indent="-171450">
              <a:buFont typeface="Arial" panose="020B0604020202020204" pitchFamily="34" charset="0"/>
              <a:buChar char="•"/>
            </a:pPr>
            <a:r>
              <a:rPr lang="en-US" b="1" dirty="0"/>
              <a:t>The Poly-Crisis:</a:t>
            </a:r>
            <a:r>
              <a:rPr lang="en-US" dirty="0"/>
              <a:t> "We used to think of economic, environmental, and health crises as isolated events. Today, they overlap and amplify each other."</a:t>
            </a:r>
          </a:p>
          <a:p>
            <a:pPr marL="628650" lvl="1" indent="-171450">
              <a:buFont typeface="Arial" panose="020B0604020202020204" pitchFamily="34" charset="0"/>
              <a:buChar char="•"/>
            </a:pPr>
            <a:r>
              <a:rPr lang="en-US" b="1" dirty="0"/>
              <a:t>Velocity of Contagion:</a:t>
            </a:r>
            <a:r>
              <a:rPr lang="en-US" dirty="0"/>
              <a:t> "In his interview with Tim Ferriss, Nassim Taleb points out a striking historical contrast: The Great Plague took over 300 years to travel from Constantinople to Northern England. Why? Because travel was constrained by land and slow sailing ships. Today, a pathogen or financial panic boards a commercial flight and circles the globe in a single weekend."</a:t>
            </a:r>
          </a:p>
          <a:p>
            <a:pPr marL="628650" lvl="1" indent="-171450">
              <a:buFont typeface="Arial" panose="020B0604020202020204" pitchFamily="34" charset="0"/>
              <a:buChar char="•"/>
            </a:pPr>
            <a:r>
              <a:rPr lang="en-US" b="1" dirty="0"/>
              <a:t>The Single Door Analogy:</a:t>
            </a:r>
            <a:r>
              <a:rPr lang="en-US" dirty="0"/>
              <a:t> "Imagine a grand, luxurious movie theater. It doesn't matter how big or diversified the seating area is—if panic breaks out, everyone rushes to a single exit door. In markets, liquidity vanishes during a crash, turning thousands of 'diversified' assets into one crowded exit."</a:t>
            </a:r>
          </a:p>
          <a:p>
            <a:endParaRPr lang="en-US" dirty="0"/>
          </a:p>
        </p:txBody>
      </p:sp>
      <p:sp>
        <p:nvSpPr>
          <p:cNvPr id="4" name="Slide Number Placeholder 3"/>
          <p:cNvSpPr>
            <a:spLocks noGrp="1"/>
          </p:cNvSpPr>
          <p:nvPr>
            <p:ph type="sldNum" sz="quarter" idx="5"/>
          </p:nvPr>
        </p:nvSpPr>
        <p:spPr/>
        <p:txBody>
          <a:bodyPr/>
          <a:lstStyle/>
          <a:p>
            <a:fld id="{81466670-143B-4BC1-A2F2-035962C1B2C9}" type="slidenum">
              <a:rPr lang="en-US" smtClean="0"/>
              <a:t>2</a:t>
            </a:fld>
            <a:endParaRPr lang="en-US"/>
          </a:p>
        </p:txBody>
      </p:sp>
    </p:spTree>
    <p:extLst>
      <p:ext uri="{BB962C8B-B14F-4D97-AF65-F5344CB8AC3E}">
        <p14:creationId xmlns:p14="http://schemas.microsoft.com/office/powerpoint/2010/main" val="33416935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Objective:</a:t>
            </a:r>
            <a:r>
              <a:rPr lang="en-US" dirty="0"/>
              <a:t> Differentiate between </a:t>
            </a:r>
            <a:r>
              <a:rPr lang="en-US" dirty="0" err="1"/>
              <a:t>Mediocristan</a:t>
            </a:r>
            <a:r>
              <a:rPr lang="en-US" dirty="0"/>
              <a:t> (thin-tailed risks) and </a:t>
            </a:r>
            <a:r>
              <a:rPr lang="en-US" dirty="0" err="1"/>
              <a:t>Extremistan</a:t>
            </a:r>
            <a:r>
              <a:rPr lang="en-US" dirty="0"/>
              <a:t> (fat-tailed risks).</a:t>
            </a:r>
          </a:p>
          <a:p>
            <a:pPr marL="171450" indent="-171450">
              <a:buFont typeface="Arial" panose="020B0604020202020204" pitchFamily="34" charset="0"/>
              <a:buChar char="•"/>
            </a:pPr>
            <a:r>
              <a:rPr lang="en-US" b="1" dirty="0"/>
              <a:t>Speaker Script / Key Points:</a:t>
            </a:r>
            <a:endParaRPr lang="en-US" dirty="0"/>
          </a:p>
          <a:p>
            <a:pPr marL="628650" lvl="1" indent="-171450">
              <a:buFont typeface="Arial" panose="020B0604020202020204" pitchFamily="34" charset="0"/>
              <a:buChar char="•"/>
            </a:pPr>
            <a:r>
              <a:rPr lang="en-US" b="1" dirty="0" err="1"/>
              <a:t>Mediocristan</a:t>
            </a:r>
            <a:r>
              <a:rPr lang="en-US" b="1" dirty="0"/>
              <a:t> (Thin Tails):</a:t>
            </a:r>
            <a:r>
              <a:rPr lang="en-US" dirty="0"/>
              <a:t> "In </a:t>
            </a:r>
            <a:r>
              <a:rPr lang="en-US" dirty="0" err="1"/>
              <a:t>Mediocristan</a:t>
            </a:r>
            <a:r>
              <a:rPr lang="en-US" dirty="0"/>
              <a:t>, individual observations cannot significantly alter the total. Taleb uses the '1,000 People Rule': If you gather 1,000 people in a room and add the heaviest human on Earth, the average weight barely moves. Physical traits, car accidents, and caloric intake live here."</a:t>
            </a:r>
          </a:p>
          <a:p>
            <a:pPr marL="628650" lvl="1" indent="-171450">
              <a:buFont typeface="Arial" panose="020B0604020202020204" pitchFamily="34" charset="0"/>
              <a:buChar char="•"/>
            </a:pPr>
            <a:r>
              <a:rPr lang="en-US" b="1" dirty="0" err="1"/>
              <a:t>Extremistan</a:t>
            </a:r>
            <a:r>
              <a:rPr lang="en-US" b="1" dirty="0"/>
              <a:t> (Fat Tails):</a:t>
            </a:r>
            <a:r>
              <a:rPr lang="en-US" dirty="0"/>
              <a:t> "</a:t>
            </a:r>
            <a:r>
              <a:rPr lang="en-US" dirty="0" err="1"/>
              <a:t>Extremistan</a:t>
            </a:r>
            <a:r>
              <a:rPr lang="en-US" dirty="0"/>
              <a:t> operates under entirely different physics. If you take 1,000 people and add Elon Musk or Jeff Bezos, total wealth is completely redefined—a single observation accounts for 99.9% of the whole. Financial markets, social media virality, and global pandemics exist in </a:t>
            </a:r>
            <a:r>
              <a:rPr lang="en-US" dirty="0" err="1"/>
              <a:t>Extremistan</a:t>
            </a:r>
            <a:r>
              <a:rPr lang="en-US" dirty="0"/>
              <a:t>."</a:t>
            </a:r>
          </a:p>
          <a:p>
            <a:pPr marL="628650" lvl="1" indent="-171450">
              <a:buFont typeface="Arial" panose="020B0604020202020204" pitchFamily="34" charset="0"/>
              <a:buChar char="•"/>
            </a:pPr>
            <a:r>
              <a:rPr lang="en-US" b="1" dirty="0"/>
              <a:t>The Fatal Mistake:</a:t>
            </a:r>
            <a:r>
              <a:rPr lang="en-US" dirty="0"/>
              <a:t> "Using Gaussian (bell-curve) tools designed for </a:t>
            </a:r>
            <a:r>
              <a:rPr lang="en-US" dirty="0" err="1"/>
              <a:t>Mediocristan</a:t>
            </a:r>
            <a:r>
              <a:rPr lang="en-US" dirty="0"/>
              <a:t> inside </a:t>
            </a:r>
            <a:r>
              <a:rPr lang="en-US" dirty="0" err="1"/>
              <a:t>Extremistan</a:t>
            </a:r>
            <a:r>
              <a:rPr lang="en-US" dirty="0"/>
              <a:t> guarantees eventual, total ruin."</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1466670-143B-4BC1-A2F2-035962C1B2C9}" type="slidenum">
              <a:rPr lang="en-US" smtClean="0"/>
              <a:t>3</a:t>
            </a:fld>
            <a:endParaRPr lang="en-US"/>
          </a:p>
        </p:txBody>
      </p:sp>
    </p:spTree>
    <p:extLst>
      <p:ext uri="{BB962C8B-B14F-4D97-AF65-F5344CB8AC3E}">
        <p14:creationId xmlns:p14="http://schemas.microsoft.com/office/powerpoint/2010/main" val="10705351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Objective:</a:t>
            </a:r>
            <a:r>
              <a:rPr lang="en-US" dirty="0"/>
              <a:t> Use a thought experiment to illustrate how fat-tailed risks originate from systemic linkages rather than independent events.</a:t>
            </a:r>
          </a:p>
          <a:p>
            <a:pPr marL="171450" indent="-171450">
              <a:buFont typeface="Arial" panose="020B0604020202020204" pitchFamily="34" charset="0"/>
              <a:buChar char="•"/>
            </a:pPr>
            <a:r>
              <a:rPr lang="en-US" b="1" dirty="0"/>
              <a:t>Speaker Script / Key Points:</a:t>
            </a:r>
            <a:endParaRPr lang="en-US" dirty="0"/>
          </a:p>
          <a:p>
            <a:pPr marL="628650" lvl="1" indent="-171450">
              <a:buFont typeface="Arial" panose="020B0604020202020204" pitchFamily="34" charset="0"/>
              <a:buChar char="•"/>
            </a:pPr>
            <a:r>
              <a:rPr lang="en-US" b="1" dirty="0"/>
              <a:t>The Mars Experiment:</a:t>
            </a:r>
            <a:r>
              <a:rPr lang="en-US" dirty="0"/>
              <a:t> "Imagine returning from a multi-year space mission to Mars with zero news updates. You receive a single transmission."</a:t>
            </a:r>
          </a:p>
          <a:p>
            <a:pPr marL="628650" lvl="1" indent="-171450">
              <a:buFont typeface="Arial" panose="020B0604020202020204" pitchFamily="34" charset="0"/>
              <a:buChar char="•"/>
            </a:pPr>
            <a:r>
              <a:rPr lang="en-US" b="1" dirty="0"/>
              <a:t>Scenario A (1 Death):</a:t>
            </a:r>
            <a:r>
              <a:rPr lang="en-US" dirty="0"/>
              <a:t> "If the message says 1 person died yesterday, you naturally assume an isolated, independent event—a car crash or medical issue. This is thin-tailed thinking."</a:t>
            </a:r>
          </a:p>
          <a:p>
            <a:pPr marL="628650" lvl="1" indent="-171450">
              <a:buFont typeface="Arial" panose="020B0604020202020204" pitchFamily="34" charset="0"/>
              <a:buChar char="•"/>
            </a:pPr>
            <a:r>
              <a:rPr lang="en-US" b="1" dirty="0"/>
              <a:t>Scenario B (1 Billion Deaths):</a:t>
            </a:r>
            <a:r>
              <a:rPr lang="en-US" dirty="0"/>
              <a:t> "If the message says 1 </a:t>
            </a:r>
            <a:r>
              <a:rPr lang="en-US" i="1" dirty="0"/>
              <a:t>billion</a:t>
            </a:r>
            <a:r>
              <a:rPr lang="en-US" dirty="0"/>
              <a:t> people died yesterday, you know with near certainty that it wasn't a billion people having independent car crashes at the exact same moment. It was a systemic contagion or global catastrophe."</a:t>
            </a:r>
          </a:p>
          <a:p>
            <a:pPr marL="628650" lvl="1" indent="-171450">
              <a:buFont typeface="Arial" panose="020B0604020202020204" pitchFamily="34" charset="0"/>
              <a:buChar char="•"/>
            </a:pPr>
            <a:r>
              <a:rPr lang="en-US" b="1" dirty="0"/>
              <a:t>Takeaway:</a:t>
            </a:r>
            <a:r>
              <a:rPr lang="en-US" dirty="0"/>
              <a:t> "In fat-tailed environments, systemic impact is driven by rare, hyper-concentrated tail events, not by the accumulation of standard daily fluctuations."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1466670-143B-4BC1-A2F2-035962C1B2C9}" type="slidenum">
              <a:rPr lang="en-US" smtClean="0"/>
              <a:t>4</a:t>
            </a:fld>
            <a:endParaRPr lang="en-US"/>
          </a:p>
        </p:txBody>
      </p:sp>
    </p:spTree>
    <p:extLst>
      <p:ext uri="{BB962C8B-B14F-4D97-AF65-F5344CB8AC3E}">
        <p14:creationId xmlns:p14="http://schemas.microsoft.com/office/powerpoint/2010/main" val="3096449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Objective:</a:t>
            </a:r>
            <a:r>
              <a:rPr lang="en-US" dirty="0"/>
              <a:t> Introduce </a:t>
            </a:r>
            <a:r>
              <a:rPr lang="en-US" dirty="0" err="1"/>
              <a:t>Universa</a:t>
            </a:r>
            <a:r>
              <a:rPr lang="en-US" dirty="0"/>
              <a:t> Investments' tail-hedging mechanics (Mark Spitznagel &amp; Nassim Taleb).</a:t>
            </a:r>
          </a:p>
          <a:p>
            <a:pPr marL="171450" indent="-171450">
              <a:buFont typeface="Arial" panose="020B0604020202020204" pitchFamily="34" charset="0"/>
              <a:buChar char="•"/>
            </a:pPr>
            <a:r>
              <a:rPr lang="en-US" b="1" dirty="0"/>
              <a:t>Speaker Script / Key Points:</a:t>
            </a:r>
            <a:endParaRPr lang="en-US" dirty="0"/>
          </a:p>
          <a:p>
            <a:pPr marL="628650" lvl="1" indent="-171450">
              <a:buFont typeface="Arial" panose="020B0604020202020204" pitchFamily="34" charset="0"/>
              <a:buChar char="•"/>
            </a:pPr>
            <a:r>
              <a:rPr lang="en-US" b="1" dirty="0"/>
              <a:t>Structural Asymmetry:</a:t>
            </a:r>
            <a:r>
              <a:rPr lang="en-US" dirty="0"/>
              <a:t> "Tail hedging isn't about forecasting when the market will crash. As Scott Patterson notes, </a:t>
            </a:r>
            <a:r>
              <a:rPr lang="en-US" dirty="0" err="1"/>
              <a:t>Universa</a:t>
            </a:r>
            <a:r>
              <a:rPr lang="en-US" dirty="0"/>
              <a:t> and Mark Spitznagel explicitly admit they cannot predict market timing. Instead, they structure payoffs mathematically."</a:t>
            </a:r>
          </a:p>
          <a:p>
            <a:pPr marL="628650" lvl="1" indent="-171450">
              <a:buFont typeface="Arial" panose="020B0604020202020204" pitchFamily="34" charset="0"/>
              <a:buChar char="•"/>
            </a:pPr>
            <a:r>
              <a:rPr lang="en-US" b="1" dirty="0"/>
              <a:t>The Mechanics:</a:t>
            </a:r>
            <a:endParaRPr lang="en-US" dirty="0"/>
          </a:p>
          <a:p>
            <a:pPr marL="1143000" lvl="2" indent="-228600">
              <a:buFont typeface="+mj-lt"/>
              <a:buAutoNum type="arabicPeriod"/>
            </a:pPr>
            <a:r>
              <a:rPr lang="en-US" i="1" dirty="0"/>
              <a:t>The Setup:</a:t>
            </a:r>
            <a:r>
              <a:rPr lang="en-US" dirty="0"/>
              <a:t> Consistently purchase far out-of-the-money (OTM) put options for small costs.</a:t>
            </a:r>
          </a:p>
          <a:p>
            <a:pPr marL="1143000" lvl="2" indent="-228600">
              <a:buFont typeface="+mj-lt"/>
              <a:buAutoNum type="arabicPeriod"/>
            </a:pPr>
            <a:r>
              <a:rPr lang="en-US" i="1" dirty="0"/>
              <a:t>The Wait:</a:t>
            </a:r>
            <a:r>
              <a:rPr lang="en-US" dirty="0"/>
              <a:t> Endure tiny, predictable annual losses—viewed strictly as an insurance premium.</a:t>
            </a:r>
          </a:p>
          <a:p>
            <a:pPr marL="1143000" lvl="2" indent="-228600">
              <a:buFont typeface="+mj-lt"/>
              <a:buAutoNum type="arabicPeriod"/>
            </a:pPr>
            <a:r>
              <a:rPr lang="en-US" i="1" dirty="0"/>
              <a:t>The Event:</a:t>
            </a:r>
            <a:r>
              <a:rPr lang="en-US" dirty="0"/>
              <a:t> When a 20% crash occurs, volatility surges.</a:t>
            </a:r>
          </a:p>
          <a:p>
            <a:pPr marL="1143000" lvl="2" indent="-228600">
              <a:buFont typeface="+mj-lt"/>
              <a:buAutoNum type="arabicPeriod"/>
            </a:pPr>
            <a:r>
              <a:rPr lang="en-US" i="1" dirty="0"/>
              <a:t>The Result:</a:t>
            </a:r>
            <a:r>
              <a:rPr lang="en-US" dirty="0"/>
              <a:t> The option value explodes, yielding up to 4,000% returns relative to maximum risk.</a:t>
            </a:r>
          </a:p>
          <a:p>
            <a:pPr marL="628650" lvl="1" indent="-171450">
              <a:buFont typeface="Arial" panose="020B0604020202020204" pitchFamily="34" charset="0"/>
              <a:buChar char="•"/>
            </a:pPr>
            <a:r>
              <a:rPr lang="en-US" b="1" dirty="0"/>
              <a:t>Positive Convexity:</a:t>
            </a:r>
            <a:r>
              <a:rPr lang="en-US" dirty="0"/>
              <a:t> "This asymmetry means you love volatility. Your maximum loss is strictly bounded, while your upside in a crisis is massive."</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1466670-143B-4BC1-A2F2-035962C1B2C9}" type="slidenum">
              <a:rPr lang="en-US" smtClean="0"/>
              <a:t>5</a:t>
            </a:fld>
            <a:endParaRPr lang="en-US"/>
          </a:p>
        </p:txBody>
      </p:sp>
    </p:spTree>
    <p:extLst>
      <p:ext uri="{BB962C8B-B14F-4D97-AF65-F5344CB8AC3E}">
        <p14:creationId xmlns:p14="http://schemas.microsoft.com/office/powerpoint/2010/main" val="369892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Objective:</a:t>
            </a:r>
            <a:r>
              <a:rPr lang="en-US" dirty="0"/>
              <a:t> Contrast standard Wall Street yield optimization with convex tail protection.</a:t>
            </a:r>
          </a:p>
          <a:p>
            <a:pPr marL="171450" indent="-171450">
              <a:buFont typeface="Arial" panose="020B0604020202020204" pitchFamily="34" charset="0"/>
              <a:buChar char="•"/>
            </a:pPr>
            <a:r>
              <a:rPr lang="en-US" b="1" dirty="0"/>
              <a:t>Speaker Script / Key Points:</a:t>
            </a:r>
            <a:endParaRPr lang="en-US" dirty="0"/>
          </a:p>
          <a:p>
            <a:pPr marL="628650" lvl="1" indent="-171450">
              <a:buFont typeface="Arial" panose="020B0604020202020204" pitchFamily="34" charset="0"/>
              <a:buChar char="•"/>
            </a:pPr>
            <a:r>
              <a:rPr lang="en-US" b="1" dirty="0"/>
              <a:t>Standard Optimization:</a:t>
            </a:r>
            <a:r>
              <a:rPr lang="en-US" dirty="0"/>
              <a:t> "Most institutional strategies try to generate steady yield by selling out-of-the-money options. They pick up tiny premiums day after day, producing smooth return charts that look incredibly profitable."</a:t>
            </a:r>
          </a:p>
          <a:p>
            <a:pPr marL="628650" lvl="1" indent="-171450">
              <a:buFont typeface="Arial" panose="020B0604020202020204" pitchFamily="34" charset="0"/>
              <a:buChar char="•"/>
            </a:pPr>
            <a:r>
              <a:rPr lang="en-US" b="1" dirty="0"/>
              <a:t>The Hidden Risk:</a:t>
            </a:r>
            <a:r>
              <a:rPr lang="en-US" dirty="0"/>
              <a:t> "This is literally picking up pennies in front of a steamroller. When a Black Swan hits, that $0.05 option sold explodes to $40, causing instant insolvency."</a:t>
            </a:r>
          </a:p>
          <a:p>
            <a:pPr marL="628650" lvl="1" indent="-171450">
              <a:buFont typeface="Arial" panose="020B0604020202020204" pitchFamily="34" charset="0"/>
              <a:buChar char="•"/>
            </a:pPr>
            <a:r>
              <a:rPr lang="en-US" b="1" dirty="0"/>
              <a:t>Psychological Barrier:</a:t>
            </a:r>
            <a:r>
              <a:rPr lang="en-US" dirty="0"/>
              <a:t> "Convex mitigation requires paying a small bleeding cost continuously. Human psychology craves constant dopamine hits from small wins, making true tail protection psychologically difficult for most fund managers to execute."</a:t>
            </a:r>
          </a:p>
          <a:p>
            <a:endParaRPr lang="en-US" dirty="0"/>
          </a:p>
        </p:txBody>
      </p:sp>
      <p:sp>
        <p:nvSpPr>
          <p:cNvPr id="4" name="Slide Number Placeholder 3"/>
          <p:cNvSpPr>
            <a:spLocks noGrp="1"/>
          </p:cNvSpPr>
          <p:nvPr>
            <p:ph type="sldNum" sz="quarter" idx="5"/>
          </p:nvPr>
        </p:nvSpPr>
        <p:spPr/>
        <p:txBody>
          <a:bodyPr/>
          <a:lstStyle/>
          <a:p>
            <a:fld id="{81466670-143B-4BC1-A2F2-035962C1B2C9}" type="slidenum">
              <a:rPr lang="en-US" smtClean="0"/>
              <a:t>6</a:t>
            </a:fld>
            <a:endParaRPr lang="en-US"/>
          </a:p>
        </p:txBody>
      </p:sp>
    </p:spTree>
    <p:extLst>
      <p:ext uri="{BB962C8B-B14F-4D97-AF65-F5344CB8AC3E}">
        <p14:creationId xmlns:p14="http://schemas.microsoft.com/office/powerpoint/2010/main" val="3643835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Objective:</a:t>
            </a:r>
            <a:r>
              <a:rPr lang="en-US" dirty="0"/>
              <a:t> Discuss moral hazard, agency problems, and the requirement for 'Skin in the Game'.</a:t>
            </a:r>
          </a:p>
          <a:p>
            <a:pPr marL="171450" indent="-171450">
              <a:buFont typeface="Arial" panose="020B0604020202020204" pitchFamily="34" charset="0"/>
              <a:buChar char="•"/>
            </a:pPr>
            <a:r>
              <a:rPr lang="en-US" b="1" dirty="0"/>
              <a:t>Speaker Script / Key Points:</a:t>
            </a:r>
            <a:endParaRPr lang="en-US" dirty="0"/>
          </a:p>
          <a:p>
            <a:pPr marL="628650" lvl="1" indent="-171450">
              <a:buFont typeface="Arial" panose="020B0604020202020204" pitchFamily="34" charset="0"/>
              <a:buChar char="•"/>
            </a:pPr>
            <a:r>
              <a:rPr lang="en-US" b="1" dirty="0"/>
              <a:t>The Scenario:</a:t>
            </a:r>
            <a:r>
              <a:rPr lang="en-US" dirty="0"/>
              <a:t> "Named after former Treasury Secretary Bob Rubin, this trade highlights a severe systemic flaw: asymmetric incentive structures."</a:t>
            </a:r>
          </a:p>
          <a:p>
            <a:pPr marL="628650" lvl="1" indent="-171450">
              <a:buFont typeface="Arial" panose="020B0604020202020204" pitchFamily="34" charset="0"/>
              <a:buChar char="•"/>
            </a:pPr>
            <a:r>
              <a:rPr lang="en-US" b="1" dirty="0"/>
              <a:t>Mechanism:</a:t>
            </a:r>
            <a:r>
              <a:rPr lang="en-US" dirty="0"/>
              <a:t> "A bank executive collects $100 million in bonuses over a decade by taking hidden, explosive tail risks that produce short-term quarterly profits. When the system collapses in 2008, the executive keeps the $100M bonus, while taxpayers absorb the bailout."</a:t>
            </a:r>
          </a:p>
          <a:p>
            <a:pPr marL="628650" lvl="1" indent="-171450">
              <a:buFont typeface="Arial" panose="020B0604020202020204" pitchFamily="34" charset="0"/>
              <a:buChar char="•"/>
            </a:pPr>
            <a:r>
              <a:rPr lang="en-US" b="1" dirty="0"/>
              <a:t>Skin in the Game:</a:t>
            </a:r>
            <a:r>
              <a:rPr lang="en-US" dirty="0"/>
              <a:t> "Without skin in the game, decision-makers are incentivized to transfer downside risks onto society while privatizing short-term gains."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1466670-143B-4BC1-A2F2-035962C1B2C9}" type="slidenum">
              <a:rPr lang="en-US" smtClean="0"/>
              <a:t>7</a:t>
            </a:fld>
            <a:endParaRPr lang="en-US"/>
          </a:p>
        </p:txBody>
      </p:sp>
    </p:spTree>
    <p:extLst>
      <p:ext uri="{BB962C8B-B14F-4D97-AF65-F5344CB8AC3E}">
        <p14:creationId xmlns:p14="http://schemas.microsoft.com/office/powerpoint/2010/main" val="3600288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Objective:</a:t>
            </a:r>
            <a:r>
              <a:rPr lang="en-US" dirty="0"/>
              <a:t> Explain why uncertainty demands early, aggressive precaution rather than delayed assessment.</a:t>
            </a:r>
          </a:p>
          <a:p>
            <a:pPr marL="171450" indent="-171450">
              <a:buFont typeface="Arial" panose="020B0604020202020204" pitchFamily="34" charset="0"/>
              <a:buChar char="•"/>
            </a:pPr>
            <a:r>
              <a:rPr lang="en-US" b="1" dirty="0"/>
              <a:t>Speaker Script / Key Points:</a:t>
            </a:r>
            <a:endParaRPr lang="en-US" dirty="0"/>
          </a:p>
          <a:p>
            <a:pPr marL="628650" lvl="1" indent="-171450">
              <a:buFont typeface="Arial" panose="020B0604020202020204" pitchFamily="34" charset="0"/>
              <a:buChar char="•"/>
            </a:pPr>
            <a:r>
              <a:rPr lang="en-US" b="1" dirty="0"/>
              <a:t>The JFK Pilot Analogy:</a:t>
            </a:r>
            <a:r>
              <a:rPr lang="en-US" dirty="0"/>
              <a:t> "Imagine standing at JFK Airport. Someone tells you there is uncertainty about whether the pilot is intoxicated or qualified to fly. You do not board the plane and say 'let's sit tight and assess'. You change flights immediately."</a:t>
            </a:r>
          </a:p>
          <a:p>
            <a:pPr marL="628650" lvl="1" indent="-171450">
              <a:buFont typeface="Arial" panose="020B0604020202020204" pitchFamily="34" charset="0"/>
              <a:buChar char="•"/>
            </a:pPr>
            <a:r>
              <a:rPr lang="en-US" b="1" dirty="0"/>
              <a:t>The Mandate:</a:t>
            </a:r>
            <a:r>
              <a:rPr lang="en-US" dirty="0"/>
              <a:t> "When systemic safety is at stake, uncertainty is not an excuse to wait for more data. In fat-tailed environments, waiting for certainty means acting only after the contagion has spread exponentially. Uncertainty is the mathematical mandate to panic early."</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1466670-143B-4BC1-A2F2-035962C1B2C9}" type="slidenum">
              <a:rPr lang="en-US" smtClean="0"/>
              <a:t>8</a:t>
            </a:fld>
            <a:endParaRPr lang="en-US"/>
          </a:p>
        </p:txBody>
      </p:sp>
    </p:spTree>
    <p:extLst>
      <p:ext uri="{BB962C8B-B14F-4D97-AF65-F5344CB8AC3E}">
        <p14:creationId xmlns:p14="http://schemas.microsoft.com/office/powerpoint/2010/main" val="16540590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Objective:</a:t>
            </a:r>
            <a:r>
              <a:rPr lang="en-US" dirty="0"/>
              <a:t> Highlight the logical fallacy of comparing additive risks with multiplicative, contagious risks.</a:t>
            </a:r>
          </a:p>
          <a:p>
            <a:pPr marL="171450" indent="-171450">
              <a:buFont typeface="Arial" panose="020B0604020202020204" pitchFamily="34" charset="0"/>
              <a:buChar char="•"/>
            </a:pPr>
            <a:r>
              <a:rPr lang="en-US" b="1" dirty="0"/>
              <a:t>Speaker Script / Key Points:</a:t>
            </a:r>
            <a:endParaRPr lang="en-US" dirty="0"/>
          </a:p>
          <a:p>
            <a:pPr marL="628650" lvl="1" indent="-171450">
              <a:buFont typeface="Arial" panose="020B0604020202020204" pitchFamily="34" charset="0"/>
              <a:buChar char="•"/>
            </a:pPr>
            <a:r>
              <a:rPr lang="en-US" b="1" dirty="0"/>
              <a:t>The Swimming Pool Fallacy:</a:t>
            </a:r>
            <a:r>
              <a:rPr lang="en-US" dirty="0"/>
              <a:t> "During early stages of a pandemic, a common argument is: '3,000 people drown in swimming pools every year, so why shutdown the economy for COVID?'"</a:t>
            </a:r>
          </a:p>
          <a:p>
            <a:pPr marL="628650" lvl="1" indent="-171450">
              <a:buFont typeface="Arial" panose="020B0604020202020204" pitchFamily="34" charset="0"/>
              <a:buChar char="•"/>
            </a:pPr>
            <a:r>
              <a:rPr lang="en-US" b="1" dirty="0"/>
              <a:t>Mathematical Difference:</a:t>
            </a:r>
            <a:r>
              <a:rPr lang="en-US" dirty="0"/>
              <a:t> "Drowning is an isolated, independent risk. If your neighbor drowns, your probability of drowning remains unchanged. Contagion risk is multiplicative: if your neighbor contracts a virus, your personal probability of infection skyrockets exponentially."</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1466670-143B-4BC1-A2F2-035962C1B2C9}" type="slidenum">
              <a:rPr lang="en-US" smtClean="0"/>
              <a:t>9</a:t>
            </a:fld>
            <a:endParaRPr lang="en-US"/>
          </a:p>
        </p:txBody>
      </p:sp>
    </p:spTree>
    <p:extLst>
      <p:ext uri="{BB962C8B-B14F-4D97-AF65-F5344CB8AC3E}">
        <p14:creationId xmlns:p14="http://schemas.microsoft.com/office/powerpoint/2010/main" val="42245714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Objective:</a:t>
            </a:r>
            <a:r>
              <a:rPr lang="en-US" dirty="0"/>
              <a:t> Provide a practical diagnostic framework for applying extreme precaution versus standard risk management.</a:t>
            </a:r>
          </a:p>
          <a:p>
            <a:pPr marL="171450" indent="-171450">
              <a:buFont typeface="Arial" panose="020B0604020202020204" pitchFamily="34" charset="0"/>
              <a:buChar char="•"/>
            </a:pPr>
            <a:r>
              <a:rPr lang="en-US" b="1" dirty="0"/>
              <a:t>Speaker Script / Key Points:</a:t>
            </a:r>
            <a:endParaRPr lang="en-US" dirty="0"/>
          </a:p>
          <a:p>
            <a:pPr marL="628650" lvl="1" indent="-171450">
              <a:buFont typeface="Arial" panose="020B0604020202020204" pitchFamily="34" charset="0"/>
              <a:buChar char="•"/>
            </a:pPr>
            <a:r>
              <a:rPr lang="en-US" b="1" dirty="0"/>
              <a:t>Diagnostic Criteria:</a:t>
            </a:r>
            <a:r>
              <a:rPr lang="en-US" dirty="0"/>
              <a:t> "We classify risks based on two criteria: Are they insurable/localized? Are they thin-tailed or fat-tailed?"</a:t>
            </a:r>
          </a:p>
          <a:p>
            <a:pPr marL="628650" lvl="1" indent="-171450">
              <a:buFont typeface="Arial" panose="020B0604020202020204" pitchFamily="34" charset="0"/>
              <a:buChar char="•"/>
            </a:pPr>
            <a:r>
              <a:rPr lang="en-US" b="1" dirty="0"/>
              <a:t>Nuclear Power &amp; Vaccines:</a:t>
            </a:r>
            <a:r>
              <a:rPr lang="en-US" dirty="0"/>
              <a:t> "Localized, thin-tailed risks can be analyzed and managed with standard cost-benefit analyses."</a:t>
            </a:r>
          </a:p>
          <a:p>
            <a:pPr marL="628650" lvl="1" indent="-171450">
              <a:buFont typeface="Arial" panose="020B0604020202020204" pitchFamily="34" charset="0"/>
              <a:buChar char="•"/>
            </a:pPr>
            <a:r>
              <a:rPr lang="en-US" b="1" dirty="0"/>
              <a:t>GMOs &amp; Pandemics:</a:t>
            </a:r>
            <a:r>
              <a:rPr lang="en-US" dirty="0"/>
              <a:t> "Systemic risks with non-zero probability of irreversible global degradation (like systemic biological disruptions or global pandemics) belong to </a:t>
            </a:r>
            <a:r>
              <a:rPr lang="en-US" dirty="0" err="1"/>
              <a:t>Extremistan</a:t>
            </a:r>
            <a:r>
              <a:rPr lang="en-US" dirty="0"/>
              <a:t>. Here, cost-benefit analysis fails because total ruin has infinite negative utility. The only valid action is extreme precaution and blocking systemic tail risks."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1466670-143B-4BC1-A2F2-035962C1B2C9}" type="slidenum">
              <a:rPr lang="en-US" smtClean="0"/>
              <a:t>10</a:t>
            </a:fld>
            <a:endParaRPr lang="en-US"/>
          </a:p>
        </p:txBody>
      </p:sp>
    </p:spTree>
    <p:extLst>
      <p:ext uri="{BB962C8B-B14F-4D97-AF65-F5344CB8AC3E}">
        <p14:creationId xmlns:p14="http://schemas.microsoft.com/office/powerpoint/2010/main" val="34212973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Objective:</a:t>
            </a:r>
            <a:r>
              <a:rPr lang="en-US" dirty="0"/>
              <a:t> Explain how hyper-efficiency removes buffers, turning systems fragile.</a:t>
            </a:r>
          </a:p>
          <a:p>
            <a:pPr marL="171450" indent="-171450">
              <a:buFont typeface="Arial" panose="020B0604020202020204" pitchFamily="34" charset="0"/>
              <a:buChar char="•"/>
            </a:pPr>
            <a:r>
              <a:rPr lang="en-US" b="1" dirty="0"/>
              <a:t>Speaker Script / Key Points:</a:t>
            </a:r>
            <a:endParaRPr lang="en-US" dirty="0"/>
          </a:p>
          <a:p>
            <a:pPr marL="628650" lvl="1" indent="-171450">
              <a:buFont typeface="Arial" panose="020B0604020202020204" pitchFamily="34" charset="0"/>
              <a:buChar char="•"/>
            </a:pPr>
            <a:r>
              <a:rPr lang="en-US" b="1" dirty="0"/>
              <a:t>The Ferrari Trap:</a:t>
            </a:r>
            <a:r>
              <a:rPr lang="en-US" dirty="0"/>
              <a:t> "A Ferrari traveling at 500 km/h is hyper-optimized for speed. But the smallest pebble on the road guarantees a fatal crash. A bicycle is far less efficient, but robust."</a:t>
            </a:r>
          </a:p>
          <a:p>
            <a:pPr marL="628650" lvl="1" indent="-171450">
              <a:buFont typeface="Arial" panose="020B0604020202020204" pitchFamily="34" charset="0"/>
              <a:buChar char="•"/>
            </a:pPr>
            <a:r>
              <a:rPr lang="en-US" b="1" dirty="0"/>
              <a:t>Supply Chains:</a:t>
            </a:r>
            <a:r>
              <a:rPr lang="en-US" dirty="0"/>
              <a:t> "Consolidating all manufacturing to a single cheap supplier optimizes quarterly profits on a spreadsheet. However, it effectively short-sells an option on global supply stability. When a tail event occurs, the complete lack of redundancy destroys decades of accumulated savings."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1466670-143B-4BC1-A2F2-035962C1B2C9}" type="slidenum">
              <a:rPr lang="en-US" smtClean="0"/>
              <a:t>11</a:t>
            </a:fld>
            <a:endParaRPr lang="en-US"/>
          </a:p>
        </p:txBody>
      </p:sp>
    </p:spTree>
    <p:extLst>
      <p:ext uri="{BB962C8B-B14F-4D97-AF65-F5344CB8AC3E}">
        <p14:creationId xmlns:p14="http://schemas.microsoft.com/office/powerpoint/2010/main" val="4014612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Objective:</a:t>
            </a:r>
            <a:r>
              <a:rPr lang="en-US" dirty="0"/>
              <a:t> Present the 3-pillar framework culminating in Antifragility.</a:t>
            </a:r>
          </a:p>
          <a:p>
            <a:pPr marL="171450" indent="-171450">
              <a:buFont typeface="Arial" panose="020B0604020202020204" pitchFamily="34" charset="0"/>
              <a:buChar char="•"/>
            </a:pPr>
            <a:r>
              <a:rPr lang="en-US" b="1" dirty="0"/>
              <a:t>Speaker Script / Key Points:</a:t>
            </a:r>
            <a:endParaRPr lang="en-US" dirty="0"/>
          </a:p>
          <a:p>
            <a:pPr marL="628650" lvl="1" indent="-171450">
              <a:buFont typeface="Arial" panose="020B0604020202020204" pitchFamily="34" charset="0"/>
              <a:buChar char="•"/>
            </a:pPr>
            <a:r>
              <a:rPr lang="en-US" b="1" dirty="0"/>
              <a:t>Pillar 1 — Systemic Identification:</a:t>
            </a:r>
            <a:r>
              <a:rPr lang="en-US" dirty="0"/>
              <a:t> "Know whether you are operating in </a:t>
            </a:r>
            <a:r>
              <a:rPr lang="en-US" dirty="0" err="1"/>
              <a:t>Mediocristan</a:t>
            </a:r>
            <a:r>
              <a:rPr lang="en-US" dirty="0"/>
              <a:t> or </a:t>
            </a:r>
            <a:r>
              <a:rPr lang="en-US" dirty="0" err="1"/>
              <a:t>Extremistan</a:t>
            </a:r>
            <a:r>
              <a:rPr lang="en-US" dirty="0"/>
              <a:t>."</a:t>
            </a:r>
          </a:p>
          <a:p>
            <a:pPr marL="628650" lvl="1" indent="-171450">
              <a:buFont typeface="Arial" panose="020B0604020202020204" pitchFamily="34" charset="0"/>
              <a:buChar char="•"/>
            </a:pPr>
            <a:r>
              <a:rPr lang="en-US" b="1" dirty="0"/>
              <a:t>Pillar 2 — Structural Asymmetry:</a:t>
            </a:r>
            <a:r>
              <a:rPr lang="en-US" dirty="0"/>
              <a:t> "Ensure positive convexity—cap your maximum downside while leaving upside open."</a:t>
            </a:r>
          </a:p>
          <a:p>
            <a:pPr marL="628650" lvl="1" indent="-171450">
              <a:buFont typeface="Arial" panose="020B0604020202020204" pitchFamily="34" charset="0"/>
              <a:buChar char="•"/>
            </a:pPr>
            <a:r>
              <a:rPr lang="en-US" b="1" dirty="0"/>
              <a:t>Pillar 3 — Behavioral Alignment:</a:t>
            </a:r>
            <a:r>
              <a:rPr lang="en-US" dirty="0"/>
              <a:t> "Enforce Skin in the Game for decision-makers."</a:t>
            </a:r>
          </a:p>
          <a:p>
            <a:pPr marL="628650" lvl="1" indent="-171450">
              <a:buFont typeface="Arial" panose="020B0604020202020204" pitchFamily="34" charset="0"/>
              <a:buChar char="•"/>
            </a:pPr>
            <a:r>
              <a:rPr lang="en-US" b="1" dirty="0"/>
              <a:t>Apex:</a:t>
            </a:r>
            <a:r>
              <a:rPr lang="en-US" dirty="0"/>
              <a:t> "Eliminate fragilities first. Only once a system is immune to total ruin can it benefit from disorder and reach </a:t>
            </a:r>
            <a:r>
              <a:rPr lang="en-US" i="1" dirty="0"/>
              <a:t>Antifragility</a:t>
            </a:r>
            <a:r>
              <a:rPr lang="en-US" dirty="0"/>
              <a:t>."</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1466670-143B-4BC1-A2F2-035962C1B2C9}" type="slidenum">
              <a:rPr lang="en-US" smtClean="0"/>
              <a:t>12</a:t>
            </a:fld>
            <a:endParaRPr lang="en-US"/>
          </a:p>
        </p:txBody>
      </p:sp>
    </p:spTree>
    <p:extLst>
      <p:ext uri="{BB962C8B-B14F-4D97-AF65-F5344CB8AC3E}">
        <p14:creationId xmlns:p14="http://schemas.microsoft.com/office/powerpoint/2010/main" val="6580413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Objective:</a:t>
            </a:r>
            <a:r>
              <a:rPr lang="en-US" dirty="0"/>
              <a:t> Emphasize focus and repeatable execution over complex market forecasting.</a:t>
            </a:r>
          </a:p>
          <a:p>
            <a:pPr marL="171450" indent="-171450">
              <a:buFont typeface="Arial" panose="020B0604020202020204" pitchFamily="34" charset="0"/>
              <a:buChar char="•"/>
            </a:pPr>
            <a:r>
              <a:rPr lang="en-US" b="1" dirty="0"/>
              <a:t>Speaker Script / Key Points:</a:t>
            </a:r>
            <a:endParaRPr lang="en-US" dirty="0"/>
          </a:p>
          <a:p>
            <a:pPr marL="628650" lvl="1" indent="-171450">
              <a:buFont typeface="Arial" panose="020B0604020202020204" pitchFamily="34" charset="0"/>
              <a:buChar char="•"/>
            </a:pPr>
            <a:r>
              <a:rPr lang="en-US" b="1" dirty="0" err="1"/>
              <a:t>Universa’s</a:t>
            </a:r>
            <a:r>
              <a:rPr lang="en-US" b="1" dirty="0"/>
              <a:t> Edge:</a:t>
            </a:r>
            <a:r>
              <a:rPr lang="en-US" dirty="0"/>
              <a:t> "As Taleb noted in the Ferriss interview, while he transitioned to research and writing, Mark Spitznagel dedicated decades solely to perfecting one exact structural trade."</a:t>
            </a:r>
          </a:p>
          <a:p>
            <a:pPr marL="628650" lvl="1" indent="-171450">
              <a:buFont typeface="Arial" panose="020B0604020202020204" pitchFamily="34" charset="0"/>
              <a:buChar char="•"/>
            </a:pPr>
            <a:r>
              <a:rPr lang="en-US" b="1" dirty="0"/>
              <a:t>The Bruce Lee Philosophy:</a:t>
            </a:r>
            <a:r>
              <a:rPr lang="en-US" dirty="0"/>
              <a:t> "'I fear not the man who has practiced 10,000 kicks once, but the man who has practiced one kick 10,000 times.'"</a:t>
            </a:r>
          </a:p>
          <a:p>
            <a:pPr marL="628650" lvl="1" indent="-171450">
              <a:buFont typeface="Arial" panose="020B0604020202020204" pitchFamily="34" charset="0"/>
              <a:buChar char="•"/>
            </a:pPr>
            <a:r>
              <a:rPr lang="en-US" b="1" dirty="0"/>
              <a:t>Key takeaway:</a:t>
            </a:r>
            <a:r>
              <a:rPr lang="en-US" dirty="0"/>
              <a:t> "Stop trying to predict complex future scenarios. Find one clear convex edge, structure it properly, and execute it relentlessly."</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1466670-143B-4BC1-A2F2-035962C1B2C9}" type="slidenum">
              <a:rPr lang="en-US" smtClean="0"/>
              <a:t>13</a:t>
            </a:fld>
            <a:endParaRPr lang="en-US"/>
          </a:p>
        </p:txBody>
      </p:sp>
    </p:spTree>
    <p:extLst>
      <p:ext uri="{BB962C8B-B14F-4D97-AF65-F5344CB8AC3E}">
        <p14:creationId xmlns:p14="http://schemas.microsoft.com/office/powerpoint/2010/main" val="37072095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Objective:</a:t>
            </a:r>
            <a:r>
              <a:rPr lang="en-US" dirty="0"/>
              <a:t> Wrap up the core lessons from Taleb and Patterson as a practical blueprint for risk navigation.</a:t>
            </a:r>
          </a:p>
          <a:p>
            <a:pPr marL="171450" indent="-171450">
              <a:buFont typeface="Arial" panose="020B0604020202020204" pitchFamily="34" charset="0"/>
              <a:buChar char="•"/>
            </a:pPr>
            <a:r>
              <a:rPr lang="en-US" b="1" dirty="0"/>
              <a:t>Speaker Script / Key Points:</a:t>
            </a:r>
            <a:endParaRPr lang="en-US" dirty="0"/>
          </a:p>
          <a:p>
            <a:pPr marL="628650" lvl="1" indent="-171450">
              <a:buFont typeface="Arial" panose="020B0604020202020204" pitchFamily="34" charset="0"/>
              <a:buChar char="•"/>
            </a:pPr>
            <a:r>
              <a:rPr lang="en-US" b="1" dirty="0"/>
              <a:t>Core Summary:</a:t>
            </a:r>
            <a:endParaRPr lang="en-US" dirty="0"/>
          </a:p>
          <a:p>
            <a:pPr marL="1085850" lvl="2" indent="-171450">
              <a:buFont typeface="Arial" panose="020B0604020202020204" pitchFamily="34" charset="0"/>
              <a:buChar char="•"/>
            </a:pPr>
            <a:r>
              <a:rPr lang="en-US" b="1" dirty="0"/>
              <a:t>Tail Protection as Insurance:</a:t>
            </a:r>
            <a:r>
              <a:rPr lang="en-US" dirty="0"/>
              <a:t> Tail-hedging is a risk management tool, not a direction-based market gamble.</a:t>
            </a:r>
          </a:p>
          <a:p>
            <a:pPr marL="1085850" lvl="2" indent="-171450">
              <a:buFont typeface="Arial" panose="020B0604020202020204" pitchFamily="34" charset="0"/>
              <a:buChar char="•"/>
            </a:pPr>
            <a:r>
              <a:rPr lang="en-US" b="1" dirty="0"/>
              <a:t>Far Out-of-the-Money Options:</a:t>
            </a:r>
            <a:r>
              <a:rPr lang="en-US" dirty="0"/>
              <a:t> Use hyper-asymmetric positions to protect portfolios against &gt;20% market declines.</a:t>
            </a:r>
          </a:p>
          <a:p>
            <a:pPr marL="1085850" lvl="2" indent="-171450">
              <a:buFont typeface="Arial" panose="020B0604020202020204" pitchFamily="34" charset="0"/>
              <a:buChar char="•"/>
            </a:pPr>
            <a:r>
              <a:rPr lang="en-US" b="1" dirty="0"/>
              <a:t>Precautionary Principle:</a:t>
            </a:r>
            <a:r>
              <a:rPr lang="en-US" dirty="0"/>
              <a:t> When facing fat-tailed systemic risks, act early and decisively.</a:t>
            </a:r>
          </a:p>
          <a:p>
            <a:pPr marL="628650" lvl="1" indent="-171450">
              <a:buFont typeface="Arial" panose="020B0604020202020204" pitchFamily="34" charset="0"/>
              <a:buChar char="•"/>
            </a:pPr>
            <a:r>
              <a:rPr lang="en-US" b="1" dirty="0"/>
              <a:t>Final Thought:</a:t>
            </a:r>
            <a:r>
              <a:rPr lang="en-US" dirty="0"/>
              <a:t> "In an era defined by the poly-crisis, survival belongs to those who eliminate fragilities and master positive convexity."</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1466670-143B-4BC1-A2F2-035962C1B2C9}" type="slidenum">
              <a:rPr lang="en-US" smtClean="0"/>
              <a:t>14</a:t>
            </a:fld>
            <a:endParaRPr lang="en-US"/>
          </a:p>
        </p:txBody>
      </p:sp>
    </p:spTree>
    <p:extLst>
      <p:ext uri="{BB962C8B-B14F-4D97-AF65-F5344CB8AC3E}">
        <p14:creationId xmlns:p14="http://schemas.microsoft.com/office/powerpoint/2010/main" val="12326443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C67D35-EBD0-5D3B-DC80-645DA9E52D92}"/>
              </a:ext>
            </a:extLst>
          </p:cNvPr>
          <p:cNvSpPr>
            <a:spLocks noGrp="1"/>
          </p:cNvSpPr>
          <p:nvPr>
            <p:ph type="dt" sz="half" idx="10"/>
          </p:nvPr>
        </p:nvSpPr>
        <p:spPr/>
        <p:txBody>
          <a:bodyPr/>
          <a:lstStyle/>
          <a:p>
            <a:fld id="{DF2F5819-DFAE-4E2F-BC0F-2B1889127FB2}" type="datetimeFigureOut">
              <a:rPr lang="en-US" smtClean="0"/>
              <a:t>10/19/2026</a:t>
            </a:fld>
            <a:endParaRPr lang="en-US"/>
          </a:p>
        </p:txBody>
      </p:sp>
      <p:sp>
        <p:nvSpPr>
          <p:cNvPr id="3" name="Footer Placeholder 2">
            <a:extLst>
              <a:ext uri="{FF2B5EF4-FFF2-40B4-BE49-F238E27FC236}">
                <a16:creationId xmlns:a16="http://schemas.microsoft.com/office/drawing/2014/main" id="{BA359384-7D07-088F-1FAF-2E8119BB324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F310311-850B-2F27-7CE4-A3B24AE44F3E}"/>
              </a:ext>
            </a:extLst>
          </p:cNvPr>
          <p:cNvSpPr>
            <a:spLocks noGrp="1"/>
          </p:cNvSpPr>
          <p:nvPr>
            <p:ph type="sldNum" sz="quarter" idx="12"/>
          </p:nvPr>
        </p:nvSpPr>
        <p:spPr/>
        <p:txBody>
          <a:bodyPr/>
          <a:lstStyle/>
          <a:p>
            <a:fld id="{D2343405-33F8-447E-8171-23E70136C491}" type="slidenum">
              <a:rPr lang="en-US" smtClean="0"/>
              <a:t>‹#›</a:t>
            </a:fld>
            <a:endParaRPr lang="en-US"/>
          </a:p>
        </p:txBody>
      </p:sp>
    </p:spTree>
    <p:extLst>
      <p:ext uri="{BB962C8B-B14F-4D97-AF65-F5344CB8AC3E}">
        <p14:creationId xmlns:p14="http://schemas.microsoft.com/office/powerpoint/2010/main" val="140349959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5CD2BB-F9A4-4E9F-5C30-8D5725025B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6660D0-746A-2006-63A2-C4D92E39B9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3A399A-CEC9-98B7-59F2-E0B54FD48E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F2F5819-DFAE-4E2F-BC0F-2B1889127FB2}" type="datetimeFigureOut">
              <a:rPr lang="en-US" smtClean="0"/>
              <a:t>10/19/2026</a:t>
            </a:fld>
            <a:endParaRPr lang="en-US"/>
          </a:p>
        </p:txBody>
      </p:sp>
      <p:sp>
        <p:nvSpPr>
          <p:cNvPr id="5" name="Footer Placeholder 4">
            <a:extLst>
              <a:ext uri="{FF2B5EF4-FFF2-40B4-BE49-F238E27FC236}">
                <a16:creationId xmlns:a16="http://schemas.microsoft.com/office/drawing/2014/main" id="{033D6097-6201-BECC-A648-1F897985C6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4A7F64F-B48E-6531-4352-C952DAE7B7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2343405-33F8-447E-8171-23E70136C491}" type="slidenum">
              <a:rPr lang="en-US" smtClean="0"/>
              <a:t>‹#›</a:t>
            </a:fld>
            <a:endParaRPr lang="en-US"/>
          </a:p>
        </p:txBody>
      </p:sp>
    </p:spTree>
    <p:extLst>
      <p:ext uri="{BB962C8B-B14F-4D97-AF65-F5344CB8AC3E}">
        <p14:creationId xmlns:p14="http://schemas.microsoft.com/office/powerpoint/2010/main" val="3299036528"/>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6BE4128-B13D-0607-C892-BA31A8E338E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A3EA9B-0B1A-9AE0-A10D-EF03F5CD000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525E00A-BB38-F293-01DD-D6C3E62C940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BA72AD-8B99-92C0-4B5F-25AC4C31717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34157D-58A1-F9A7-B2BB-B3762DE3728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75E04A4-29F0-3C7B-BE3F-6BDB3D4C236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C8B647-C290-83E7-3E91-B029D162935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A619A9F-8182-A6EE-D2F6-9FD6D7EC61D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1F3A997-A515-1DF5-3122-A40719A7396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838EA34-315C-A931-7CA4-B0E878873EA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0157EFA-F390-11C8-DC25-62567539B4A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76282D-A550-E404-1672-6450FE53BDE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52FF29-9DC5-F4ED-445D-0A2CC1989F6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14AA2E-330B-E488-812E-955A2D5112A2}"/>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8769382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1875</Words>
  <Application>Microsoft Office PowerPoint</Application>
  <PresentationFormat>寬螢幕</PresentationFormat>
  <Paragraphs>93</Paragraphs>
  <Slides>14</Slides>
  <Notes>14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2026-07-27T01:23:43Z</dcterms:created>
  <dcterms:modified xsi:type="dcterms:W3CDTF">2026-10-19T14:30:15Z</dcterms:modified>
</cp:coreProperties>
</file>