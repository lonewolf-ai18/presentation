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8A95B5-D93D-4DFA-8D2F-C1BBC8CDE9A0}" v="16" dt="2026-07-31T01:49:17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57123" autoAdjust="0"/>
  </p:normalViewPr>
  <p:slideViewPr>
    <p:cSldViewPr snapToGrid="0">
      <p:cViewPr varScale="1">
        <p:scale>
          <a:sx n="53" d="100"/>
          <a:sy n="53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undo custSel modSld">
      <pc:chgData name="Lai, Wilson" userId="2840974a-0d84-4886-90a9-9a3ed79f3a48" providerId="ADAL" clId="{9F23B798-9E84-4552-BA63-E776E805C424}" dt="2026-07-31T01:52:34.552" v="114" actId="6549"/>
      <pc:docMkLst>
        <pc:docMk/>
      </pc:docMkLst>
      <pc:sldChg chg="addSp delSp modSp mod modNotesTx">
        <pc:chgData name="Lai, Wilson" userId="2840974a-0d84-4886-90a9-9a3ed79f3a48" providerId="ADAL" clId="{9F23B798-9E84-4552-BA63-E776E805C424}" dt="2026-07-31T01:46:07.058" v="40" actId="12"/>
        <pc:sldMkLst>
          <pc:docMk/>
          <pc:sldMk cId="0" sldId="257"/>
        </pc:sldMkLst>
        <pc:grpChg chg="mod">
          <ac:chgData name="Lai, Wilson" userId="2840974a-0d84-4886-90a9-9a3ed79f3a48" providerId="ADAL" clId="{9F23B798-9E84-4552-BA63-E776E805C424}" dt="2026-07-31T01:45:46.507" v="39" actId="1076"/>
          <ac:grpSpMkLst>
            <pc:docMk/>
            <pc:sldMk cId="0" sldId="257"/>
            <ac:grpSpMk id="6" creationId="{4912B903-B980-A846-8794-5615067D3888}"/>
          </ac:grpSpMkLst>
        </pc:grpChg>
        <pc:picChg chg="add mod ord">
          <ac:chgData name="Lai, Wilson" userId="2840974a-0d84-4886-90a9-9a3ed79f3a48" providerId="ADAL" clId="{9F23B798-9E84-4552-BA63-E776E805C424}" dt="2026-07-24T23:44:33.662" v="32" actId="1076"/>
          <ac:picMkLst>
            <pc:docMk/>
            <pc:sldMk cId="0" sldId="257"/>
            <ac:picMk id="7" creationId="{34709748-A779-4FC0-21AB-56A10A7D96BB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1T01:46:19.745" v="41" actId="12"/>
        <pc:sldMkLst>
          <pc:docMk/>
          <pc:sldMk cId="0" sldId="258"/>
        </pc:sldMkLst>
        <pc:picChg chg="add">
          <ac:chgData name="Lai, Wilson" userId="2840974a-0d84-4886-90a9-9a3ed79f3a48" providerId="ADAL" clId="{9F23B798-9E84-4552-BA63-E776E805C424}" dt="2026-07-24T23:38:48.377" v="4" actId="22"/>
          <ac:picMkLst>
            <pc:docMk/>
            <pc:sldMk cId="0" sldId="258"/>
            <ac:picMk id="4" creationId="{D9CBDEA7-B848-C61A-F570-EDE0E044454E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1T01:50:23.622" v="87" actId="6549"/>
        <pc:sldMkLst>
          <pc:docMk/>
          <pc:sldMk cId="0" sldId="259"/>
        </pc:sldMkLst>
        <pc:picChg chg="add">
          <ac:chgData name="Lai, Wilson" userId="2840974a-0d84-4886-90a9-9a3ed79f3a48" providerId="ADAL" clId="{9F23B798-9E84-4552-BA63-E776E805C424}" dt="2026-07-24T23:39:47.089" v="6" actId="22"/>
          <ac:picMkLst>
            <pc:docMk/>
            <pc:sldMk cId="0" sldId="259"/>
            <ac:picMk id="4" creationId="{E78E6526-0FF6-CE00-ECA2-DB08F52069A9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1T01:46:46.657" v="45" actId="15"/>
        <pc:sldMkLst>
          <pc:docMk/>
          <pc:sldMk cId="0" sldId="260"/>
        </pc:sldMkLst>
        <pc:picChg chg="add">
          <ac:chgData name="Lai, Wilson" userId="2840974a-0d84-4886-90a9-9a3ed79f3a48" providerId="ADAL" clId="{9F23B798-9E84-4552-BA63-E776E805C424}" dt="2026-07-24T23:40:07.401" v="8" actId="22"/>
          <ac:picMkLst>
            <pc:docMk/>
            <pc:sldMk cId="0" sldId="260"/>
            <ac:picMk id="4" creationId="{2E639895-A6E8-80C5-23CE-92F8C7D156AD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1T01:50:42.520" v="92" actId="20577"/>
        <pc:sldMkLst>
          <pc:docMk/>
          <pc:sldMk cId="0" sldId="261"/>
        </pc:sldMkLst>
        <pc:picChg chg="add">
          <ac:chgData name="Lai, Wilson" userId="2840974a-0d84-4886-90a9-9a3ed79f3a48" providerId="ADAL" clId="{9F23B798-9E84-4552-BA63-E776E805C424}" dt="2026-07-24T23:40:29.271" v="10" actId="22"/>
          <ac:picMkLst>
            <pc:docMk/>
            <pc:sldMk cId="0" sldId="261"/>
            <ac:picMk id="4" creationId="{FFECA009-72CD-23AF-57EF-1C7551AB84BC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1T01:50:57.615" v="95" actId="6549"/>
        <pc:sldMkLst>
          <pc:docMk/>
          <pc:sldMk cId="0" sldId="262"/>
        </pc:sldMkLst>
        <pc:picChg chg="add">
          <ac:chgData name="Lai, Wilson" userId="2840974a-0d84-4886-90a9-9a3ed79f3a48" providerId="ADAL" clId="{9F23B798-9E84-4552-BA63-E776E805C424}" dt="2026-07-24T23:40:46.589" v="12" actId="22"/>
          <ac:picMkLst>
            <pc:docMk/>
            <pc:sldMk cId="0" sldId="262"/>
            <ac:picMk id="4" creationId="{0356A36C-081C-616C-DD4D-4B58738F1BF1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1T01:51:08.475" v="97" actId="6549"/>
        <pc:sldMkLst>
          <pc:docMk/>
          <pc:sldMk cId="0" sldId="263"/>
        </pc:sldMkLst>
        <pc:picChg chg="add">
          <ac:chgData name="Lai, Wilson" userId="2840974a-0d84-4886-90a9-9a3ed79f3a48" providerId="ADAL" clId="{9F23B798-9E84-4552-BA63-E776E805C424}" dt="2026-07-24T23:41:00.631" v="14" actId="22"/>
          <ac:picMkLst>
            <pc:docMk/>
            <pc:sldMk cId="0" sldId="263"/>
            <ac:picMk id="4" creationId="{8EFC7E4E-2BDC-1B83-14F8-E8B1CB229274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1T01:51:20.657" v="99" actId="6549"/>
        <pc:sldMkLst>
          <pc:docMk/>
          <pc:sldMk cId="0" sldId="264"/>
        </pc:sldMkLst>
        <pc:picChg chg="add">
          <ac:chgData name="Lai, Wilson" userId="2840974a-0d84-4886-90a9-9a3ed79f3a48" providerId="ADAL" clId="{9F23B798-9E84-4552-BA63-E776E805C424}" dt="2026-07-24T23:41:50.392" v="16" actId="22"/>
          <ac:picMkLst>
            <pc:docMk/>
            <pc:sldMk cId="0" sldId="264"/>
            <ac:picMk id="4" creationId="{9AB63D7A-5344-2C6F-97F7-802A6AD2B5D4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1T01:51:35.062" v="102" actId="6549"/>
        <pc:sldMkLst>
          <pc:docMk/>
          <pc:sldMk cId="0" sldId="265"/>
        </pc:sldMkLst>
        <pc:picChg chg="add">
          <ac:chgData name="Lai, Wilson" userId="2840974a-0d84-4886-90a9-9a3ed79f3a48" providerId="ADAL" clId="{9F23B798-9E84-4552-BA63-E776E805C424}" dt="2026-07-24T23:42:17.607" v="18" actId="22"/>
          <ac:picMkLst>
            <pc:docMk/>
            <pc:sldMk cId="0" sldId="265"/>
            <ac:picMk id="4" creationId="{F8AAA0F3-CC03-08AD-AAE4-6A61E2BD3F5F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1T01:51:51.125" v="105" actId="6549"/>
        <pc:sldMkLst>
          <pc:docMk/>
          <pc:sldMk cId="0" sldId="266"/>
        </pc:sldMkLst>
        <pc:picChg chg="add">
          <ac:chgData name="Lai, Wilson" userId="2840974a-0d84-4886-90a9-9a3ed79f3a48" providerId="ADAL" clId="{9F23B798-9E84-4552-BA63-E776E805C424}" dt="2026-07-24T23:42:43.803" v="20" actId="22"/>
          <ac:picMkLst>
            <pc:docMk/>
            <pc:sldMk cId="0" sldId="266"/>
            <ac:picMk id="4" creationId="{EEA361E8-D474-5584-539B-99028B3E2DB6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1T01:52:09.416" v="109" actId="6549"/>
        <pc:sldMkLst>
          <pc:docMk/>
          <pc:sldMk cId="0" sldId="267"/>
        </pc:sldMkLst>
        <pc:picChg chg="add">
          <ac:chgData name="Lai, Wilson" userId="2840974a-0d84-4886-90a9-9a3ed79f3a48" providerId="ADAL" clId="{9F23B798-9E84-4552-BA63-E776E805C424}" dt="2026-07-24T23:42:58.136" v="22" actId="22"/>
          <ac:picMkLst>
            <pc:docMk/>
            <pc:sldMk cId="0" sldId="267"/>
            <ac:picMk id="4" creationId="{EB922B0A-735C-A392-18B4-13142B18095F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1T01:52:20.965" v="111" actId="6549"/>
        <pc:sldMkLst>
          <pc:docMk/>
          <pc:sldMk cId="0" sldId="268"/>
        </pc:sldMkLst>
        <pc:picChg chg="add">
          <ac:chgData name="Lai, Wilson" userId="2840974a-0d84-4886-90a9-9a3ed79f3a48" providerId="ADAL" clId="{9F23B798-9E84-4552-BA63-E776E805C424}" dt="2026-07-24T23:43:11.266" v="24" actId="22"/>
          <ac:picMkLst>
            <pc:docMk/>
            <pc:sldMk cId="0" sldId="268"/>
            <ac:picMk id="4" creationId="{768D295D-3A52-AF60-EBA4-2C07DB4BF8B9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1T01:52:34.552" v="114" actId="6549"/>
        <pc:sldMkLst>
          <pc:docMk/>
          <pc:sldMk cId="0" sldId="269"/>
        </pc:sldMkLst>
        <pc:picChg chg="add">
          <ac:chgData name="Lai, Wilson" userId="2840974a-0d84-4886-90a9-9a3ed79f3a48" providerId="ADAL" clId="{9F23B798-9E84-4552-BA63-E776E805C424}" dt="2026-07-24T23:43:24.438" v="26" actId="22"/>
          <ac:picMkLst>
            <pc:docMk/>
            <pc:sldMk cId="0" sldId="269"/>
            <ac:picMk id="4" creationId="{302D30AE-0E2B-54E5-DF18-3EA040D50944}"/>
          </ac:picMkLst>
        </pc:picChg>
      </pc:sldChg>
      <pc:sldChg chg="addSp delSp mod">
        <pc:chgData name="Lai, Wilson" userId="2840974a-0d84-4886-90a9-9a3ed79f3a48" providerId="ADAL" clId="{9F23B798-9E84-4552-BA63-E776E805C424}" dt="2026-07-24T23:43:41.769" v="28" actId="22"/>
        <pc:sldMkLst>
          <pc:docMk/>
          <pc:sldMk cId="0" sldId="270"/>
        </pc:sldMkLst>
        <pc:picChg chg="add">
          <ac:chgData name="Lai, Wilson" userId="2840974a-0d84-4886-90a9-9a3ed79f3a48" providerId="ADAL" clId="{9F23B798-9E84-4552-BA63-E776E805C424}" dt="2026-07-24T23:43:41.769" v="28" actId="22"/>
          <ac:picMkLst>
            <pc:docMk/>
            <pc:sldMk cId="0" sldId="270"/>
            <ac:picMk id="4" creationId="{67810284-7FF2-817F-3C85-897EFE4DA6EC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1T01:49:21.020" v="63" actId="15"/>
        <pc:sldMkLst>
          <pc:docMk/>
          <pc:sldMk cId="3306715338" sldId="271"/>
        </pc:sldMkLst>
        <pc:picChg chg="add">
          <ac:chgData name="Lai, Wilson" userId="2840974a-0d84-4886-90a9-9a3ed79f3a48" providerId="ADAL" clId="{9F23B798-9E84-4552-BA63-E776E805C424}" dt="2026-07-24T23:43:58.107" v="30" actId="22"/>
          <ac:picMkLst>
            <pc:docMk/>
            <pc:sldMk cId="3306715338" sldId="271"/>
            <ac:picMk id="4" creationId="{CFE5891B-4503-BB92-65F2-A5658905928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AA709-71C0-474A-B373-EC900D8CAAA0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9DF78-0A24-4926-A9F4-C3D07CF35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201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https://www.youtube.com/watch?v=ZznpMh0DegE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Welcome everyone. Today we are diving into "The Right Side of Change"—ARK </a:t>
            </a:r>
            <a:r>
              <a:rPr lang="en-US" dirty="0" err="1"/>
              <a:t>Invest’s</a:t>
            </a:r>
            <a:r>
              <a:rPr lang="en-US" dirty="0"/>
              <a:t> overarching investment thesis led by Cathie Wood.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As Cathie Wood highlighted in her interview, we are currently experiencing the largest technological shift in human history driven by Artificial Intelligence.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goal today is to explain how aligning your portfolio and career on the </a:t>
            </a:r>
            <a:r>
              <a:rPr lang="en-US" b="1" dirty="0"/>
              <a:t>"right side of change"</a:t>
            </a:r>
            <a:r>
              <a:rPr lang="en-US" dirty="0"/>
              <a:t> unlocks 10x long-term wealth potential, while holding legacy benchmark assets leaves you vulnerable to massive technological disruption.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9DF78-0A24-4926-A9F4-C3D07CF3506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62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Demographic Problem: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developed world—including the US, Europe, Japan, and China—faces an inverted demographic pyramid. With retiring Baby Boomers and declining birth rates, human labor alone cannot sustain future GDP growth.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Historical Context: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1500 to 1900, world GDP grew at a mere 0.6% annually. The Industrial Revolution boosted that to 3.0% over the last 125 years.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Future Void Filled by AI/Robotics: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Cathie Wood notes [00:22:34–00:24:20], the convergence of the 5 innovation platforms can accelerate global real GDP growth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7.3% annually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AI and robotics will bridge the demographic gap by dramatically expanding productivity.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9DF78-0A24-4926-A9F4-C3D07CF3506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114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do we identify true disruptive platforms? Cathie Wood applies three core criteria: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Wright's Law: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Technological innovation is naturally deflationary. Costs decline predictably as unit production doubles, passing lower prices or higher performance to consumers.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Cross-Sector Proliferation: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Disruptive technology cannot remain in an isolated silo; it must cut across multiple sectors simultaneously.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Launching Pad Effect: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Innovation must serve as a base layer for subsequent breakthroughs (e.g., DNA sequencing acted as the launching pad for CRISPR gene editing).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9DF78-0A24-4926-A9F4-C3D07CF3506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863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ARK Invest centers its research around 5 fundamental innovation platforms: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Artificial Intelligence: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foundational software intelligence layer driving automated decision-making.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Energy Storage: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Advanced battery technology powering mobility and untethered devices.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Blockchain &amp; Digital Assets: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new financial rules-based internet infrastructure.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Multiomic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Sequencing: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Reading, understanding, and translating human genetic data.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Robotics: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Autonomous physical execution in the real world.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9DF78-0A24-4926-A9F4-C3D07CF3506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820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Individual platforms offer linear growth, but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convergence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creates exponential wealth.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Tesla: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Tesla is not a car company; it is the largest AI project on Earth, combining AI, Energy Storage, and Robotics to create autonomous taxi networks and humanoids.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DAOs / Digital Commerce: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Combining AI with Digital Assets creates machine-speed global trade without middleman corporate bloat.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CRISPR Therapeutics: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Combining AI with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Multiomics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treats DNA as editable code to permanently cure genetic diseases.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9DF78-0A24-4926-A9F4-C3D07CF3506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948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Economic Scale: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Transportation is the single largest employer category globally. The autonomous taxi market will become an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$8 to $10 Trillion ecosystem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next 5–10 years.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 Deflation: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Uber currently costs $2.00–$4.00 per mile. Tesla's autonomous network will slash that cost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$0.25 per mile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EVTOL Skyward Shift: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Drastically reducing ground transit costs increases road usage and congestion. This naturally pushes urban aerial transit into EVTOLs like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Archer Aviation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9DF78-0A24-4926-A9F4-C3D07CF3506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492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Market Size: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Humanoid robotics is projected to become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$26 Trillion market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far outpacing the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-taxi market and offsetting structural demographic labor shortages.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Phases of Development: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85800" lvl="1" indent="-228600">
              <a:buFont typeface="+mj-lt"/>
              <a:buAutoNum type="arabicPeriod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Robo-Taxi Precursor: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Solving vision navigation and battery density.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Untethered Autonomy: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Transitioning away from tethered showroom demos to autonomous physical agents.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Fine Motor Mastery: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Elon Musk’s ultimate operational benchmark—a humanoid robot with the dexterity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thread a needle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guided by AGI.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9DF78-0A24-4926-A9F4-C3D07CF3506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8005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Symptom Management vs. Instant Cures: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Healthcare is shifting from lifetime disease management to single-treatment genetic cures.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CRISPR Therapeutics: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pairing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multiomic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sequencing with gene editing, CRISPR and Vertex have created a commercialized, single-session therapy curing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Sickle Cell Disease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Beta-Thalassemia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directly editing programming errors in human DNA.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9DF78-0A24-4926-A9F4-C3D07CF3506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1002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Cathie Wood projects Bitcoin reaching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$1.5 Million by 2030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through three key pillars: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Institutional Allocation: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Following SEC ETF approvals, institutional funds with trillions in AUM are allocating to Bitcoin's fixed 21-million coin supply (with ~20M already mined).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Digital Gold: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generational wealth shift favoring internet-native rules-based stores of value. Its Layer 1 network has never been hacked since 2009.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 Monetary Insurance: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Provides financial security in emerging markets impacted by fiat inflation and irresponsible central banks.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9DF78-0A24-4926-A9F4-C3D07CF3506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0153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Corporate Shift: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Apple risks becoming a mature cash cow stuck in smartphone monopolies while missing the autonomous AI transition, whereas Tesla acts as the primary hardware/AI engine.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Indexing Risk: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Hugging traditional S&amp;P 500 benchmarks relies on historical data—a strategy easily replicated or disrupted by AI machines.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Human Capital &amp; Value: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Traditional coding is being replaced by natural language "vibe coding". Fiat currency is eroded by inflation, whereas digital assets establish rules-based property rights.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9DF78-0A24-4926-A9F4-C3D07CF3506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747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High-conviction public equities executing this transformation: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Palantir &amp; Shopify: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Enterprise/government AI integration and backend AI retail infrastructure.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TSM &amp; Archer: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essential chip manufacturing foundry and pioneering EVTOL mobility.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Coinbase: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Regulatory-compliant infrastructure for digital asset derivatives and global financial rails.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Roblox: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User-generated gaming platform serving as an early training ground for vibe coding and social interaction.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9DF78-0A24-4926-A9F4-C3D07CF3506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9489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Vibe Coding: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Natural language prompting in tools like ChatGPT, Claude,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allows individuals to create tailored, customized software without learning syntax over 10–15 years.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Human Premium: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AI handles historical pattern recognition and routine tasks, human capital shifts toward imagination, original research, emotional connection, and high-touch social experiences.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9DF78-0A24-4926-A9F4-C3D07CF3506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41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Actionable Execution: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Dollar-Cost Average: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Ignore short-term noise, tariff headlines, and political volatility; systematically average into high-conviction innovation assets.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5–10 Year Time Horizon: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Accept short-term volatility to capture long-term 10x growth potential.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Original Research: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not replicate outdated benchmarks.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Closing Quote: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"Seize the moment. Grab hold of these new technologies... if you are on the right side of change, the opportunities are going to be enormous."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9DF78-0A24-4926-A9F4-C3D07CF3506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402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conclude, Cathie Wood’s 2030 blueprint highlights four key benchmarks: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 Real GDP growth accelerating above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7.3%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Tesla reaching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$2,600 price target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driven by $8–10T autonomous networks.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Bitcoin surpassing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$1.5 Million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 coin.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Healthcare shifting to single-treatment genomic cures.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9DF78-0A24-4926-A9F4-C3D07CF3506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400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2AF7D0-C0C5-5A4A-A925-5EED51E57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87F4F-64EF-49BA-ADF0-F01C790ADAD7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8996C4-D4EF-C615-DDA3-C3E50B097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347DF-E36C-B19B-5A57-3ADF6DF61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035A1-AD1A-4B1D-8B8D-65369CF30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763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B2CC99-6C9F-ADC5-02BC-EDF9DA5A6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6799D-F6BB-E7A5-25F9-1436A55A3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AA744-1D94-90C2-CF8C-C47CD03D09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187F4F-64EF-49BA-ADF0-F01C790ADAD7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D3638-A0CF-6ADE-88F7-649085155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41C8B-AD19-7EF9-FC07-758AFE73B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4035A1-AD1A-4B1D-8B8D-65369CF30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165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709748-A779-4FC0-21AB-56A10A7D9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CBDEA7-B848-C61A-F570-EDE0E0444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8E6526-0FF6-CE00-ECA2-DB08F5206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639895-A6E8-80C5-23CE-92F8C7D15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ECA009-72CD-23AF-57EF-1C7551AB8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56A36C-081C-616C-DD4D-4B58738F1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FC7E4E-2BDC-1B83-14F8-E8B1CB229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B63D7A-5344-2C6F-97F7-802A6AD2B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AAA0F3-CC03-08AD-AAE4-6A61E2BD3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A361E8-D474-5584-539B-99028B3E2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B922B0A-735C-A392-18B4-13142B180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8D295D-3A52-AF60-EBA4-2C07DB4BF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2D30AE-0E2B-54E5-DF18-3EA040D50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810284-7FF2-817F-3C85-897EFE4DA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E5891B-4503-BB92-65F2-A56589059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715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1136</Words>
  <Application>Microsoft Office PowerPoint</Application>
  <PresentationFormat>寬螢幕</PresentationFormat>
  <Paragraphs>70</Paragraphs>
  <Slides>15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2026-07-24T23:28:38Z</dcterms:created>
  <dcterms:modified xsi:type="dcterms:W3CDTF">2026-10-19T14:29:11Z</dcterms:modified>
</cp:coreProperties>
</file>