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7B0075-1174-4E81-A5CE-A2D03D86494A}" v="18" dt="2026-07-31T01:37:06.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2991" autoAdjust="0"/>
  </p:normalViewPr>
  <p:slideViewPr>
    <p:cSldViewPr snapToGrid="0">
      <p:cViewPr varScale="1">
        <p:scale>
          <a:sx n="49" d="100"/>
          <a:sy n="49" d="100"/>
        </p:scale>
        <p:origin x="107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7-31T01:36:51.407" v="55" actId="12"/>
      <pc:docMkLst>
        <pc:docMk/>
      </pc:docMkLst>
      <pc:sldChg chg="addSp delSp modSp mod modAnim modNotesTx">
        <pc:chgData name="Lai, Wilson" userId="2840974a-0d84-4886-90a9-9a3ed79f3a48" providerId="ADAL" clId="{9F23B798-9E84-4552-BA63-E776E805C424}" dt="2026-07-31T01:34:50.019" v="48" actId="20577"/>
        <pc:sldMkLst>
          <pc:docMk/>
          <pc:sldMk cId="0" sldId="257"/>
        </pc:sldMkLst>
        <pc:spChg chg="add mod">
          <ac:chgData name="Lai, Wilson" userId="2840974a-0d84-4886-90a9-9a3ed79f3a48" providerId="ADAL" clId="{9F23B798-9E84-4552-BA63-E776E805C424}" dt="2026-07-24T01:28:01.758" v="16" actId="164"/>
          <ac:spMkLst>
            <pc:docMk/>
            <pc:sldMk cId="0" sldId="257"/>
            <ac:spMk id="4" creationId="{0D280A49-CD9F-DE67-340A-E48ED7307421}"/>
          </ac:spMkLst>
        </pc:spChg>
        <pc:grpChg chg="add mod">
          <ac:chgData name="Lai, Wilson" userId="2840974a-0d84-4886-90a9-9a3ed79f3a48" providerId="ADAL" clId="{9F23B798-9E84-4552-BA63-E776E805C424}" dt="2026-07-24T01:28:01.758" v="16" actId="164"/>
          <ac:grpSpMkLst>
            <pc:docMk/>
            <pc:sldMk cId="0" sldId="257"/>
            <ac:grpSpMk id="6" creationId="{AA96F351-5D55-2A95-2864-262872CB27F4}"/>
          </ac:grpSpMkLst>
        </pc:grpChg>
        <pc:picChg chg="add mod">
          <ac:chgData name="Lai, Wilson" userId="2840974a-0d84-4886-90a9-9a3ed79f3a48" providerId="ADAL" clId="{9F23B798-9E84-4552-BA63-E776E805C424}" dt="2026-07-24T01:28:01.758" v="16" actId="164"/>
          <ac:picMkLst>
            <pc:docMk/>
            <pc:sldMk cId="0" sldId="257"/>
            <ac:picMk id="5" creationId="{DE101608-AC0E-E4C6-BF21-49723EDF7740}"/>
          </ac:picMkLst>
        </pc:picChg>
        <pc:picChg chg="add ord">
          <ac:chgData name="Lai, Wilson" userId="2840974a-0d84-4886-90a9-9a3ed79f3a48" providerId="ADAL" clId="{9F23B798-9E84-4552-BA63-E776E805C424}" dt="2026-07-24T01:28:35.783" v="19" actId="167"/>
          <ac:picMkLst>
            <pc:docMk/>
            <pc:sldMk cId="0" sldId="257"/>
            <ac:picMk id="8" creationId="{2B9A766B-51BB-3060-159D-DE3F65FF7736}"/>
          </ac:picMkLst>
        </pc:picChg>
      </pc:sldChg>
      <pc:sldChg chg="addSp delSp mod">
        <pc:chgData name="Lai, Wilson" userId="2840974a-0d84-4886-90a9-9a3ed79f3a48" providerId="ADAL" clId="{9F23B798-9E84-4552-BA63-E776E805C424}" dt="2026-07-24T01:28:55.956" v="21" actId="22"/>
        <pc:sldMkLst>
          <pc:docMk/>
          <pc:sldMk cId="0" sldId="258"/>
        </pc:sldMkLst>
        <pc:picChg chg="add">
          <ac:chgData name="Lai, Wilson" userId="2840974a-0d84-4886-90a9-9a3ed79f3a48" providerId="ADAL" clId="{9F23B798-9E84-4552-BA63-E776E805C424}" dt="2026-07-24T01:28:55.956" v="21" actId="22"/>
          <ac:picMkLst>
            <pc:docMk/>
            <pc:sldMk cId="0" sldId="258"/>
            <ac:picMk id="4" creationId="{3EC0ED1C-12A3-1019-AC70-5C669B354CF9}"/>
          </ac:picMkLst>
        </pc:picChg>
      </pc:sldChg>
      <pc:sldChg chg="addSp delSp mod modNotesTx">
        <pc:chgData name="Lai, Wilson" userId="2840974a-0d84-4886-90a9-9a3ed79f3a48" providerId="ADAL" clId="{9F23B798-9E84-4552-BA63-E776E805C424}" dt="2026-07-31T01:35:19.290" v="49" actId="12"/>
        <pc:sldMkLst>
          <pc:docMk/>
          <pc:sldMk cId="0" sldId="259"/>
        </pc:sldMkLst>
        <pc:picChg chg="add">
          <ac:chgData name="Lai, Wilson" userId="2840974a-0d84-4886-90a9-9a3ed79f3a48" providerId="ADAL" clId="{9F23B798-9E84-4552-BA63-E776E805C424}" dt="2026-07-24T01:29:14.139" v="23" actId="22"/>
          <ac:picMkLst>
            <pc:docMk/>
            <pc:sldMk cId="0" sldId="259"/>
            <ac:picMk id="4" creationId="{5317F433-0206-A548-8CE9-BE1581ED6CD2}"/>
          </ac:picMkLst>
        </pc:picChg>
      </pc:sldChg>
      <pc:sldChg chg="addSp delSp mod">
        <pc:chgData name="Lai, Wilson" userId="2840974a-0d84-4886-90a9-9a3ed79f3a48" providerId="ADAL" clId="{9F23B798-9E84-4552-BA63-E776E805C424}" dt="2026-07-24T01:29:26.567" v="25" actId="22"/>
        <pc:sldMkLst>
          <pc:docMk/>
          <pc:sldMk cId="0" sldId="260"/>
        </pc:sldMkLst>
        <pc:picChg chg="add">
          <ac:chgData name="Lai, Wilson" userId="2840974a-0d84-4886-90a9-9a3ed79f3a48" providerId="ADAL" clId="{9F23B798-9E84-4552-BA63-E776E805C424}" dt="2026-07-24T01:29:26.567" v="25" actId="22"/>
          <ac:picMkLst>
            <pc:docMk/>
            <pc:sldMk cId="0" sldId="260"/>
            <ac:picMk id="4" creationId="{3CEEB4A3-1803-AAB5-9011-2EEDC8A9D0D0}"/>
          </ac:picMkLst>
        </pc:picChg>
      </pc:sldChg>
      <pc:sldChg chg="addSp delSp mod modNotesTx">
        <pc:chgData name="Lai, Wilson" userId="2840974a-0d84-4886-90a9-9a3ed79f3a48" providerId="ADAL" clId="{9F23B798-9E84-4552-BA63-E776E805C424}" dt="2026-07-31T01:35:39.399" v="50" actId="12"/>
        <pc:sldMkLst>
          <pc:docMk/>
          <pc:sldMk cId="0" sldId="261"/>
        </pc:sldMkLst>
        <pc:picChg chg="add">
          <ac:chgData name="Lai, Wilson" userId="2840974a-0d84-4886-90a9-9a3ed79f3a48" providerId="ADAL" clId="{9F23B798-9E84-4552-BA63-E776E805C424}" dt="2026-07-24T01:29:58.419" v="27" actId="22"/>
          <ac:picMkLst>
            <pc:docMk/>
            <pc:sldMk cId="0" sldId="261"/>
            <ac:picMk id="4" creationId="{D5B3829A-612B-0E6B-383A-1FCBEBC95B71}"/>
          </ac:picMkLst>
        </pc:picChg>
      </pc:sldChg>
      <pc:sldChg chg="addSp delSp mod modNotesTx">
        <pc:chgData name="Lai, Wilson" userId="2840974a-0d84-4886-90a9-9a3ed79f3a48" providerId="ADAL" clId="{9F23B798-9E84-4552-BA63-E776E805C424}" dt="2026-07-31T01:35:52.953" v="51" actId="12"/>
        <pc:sldMkLst>
          <pc:docMk/>
          <pc:sldMk cId="0" sldId="262"/>
        </pc:sldMkLst>
        <pc:picChg chg="add">
          <ac:chgData name="Lai, Wilson" userId="2840974a-0d84-4886-90a9-9a3ed79f3a48" providerId="ADAL" clId="{9F23B798-9E84-4552-BA63-E776E805C424}" dt="2026-07-24T01:30:21.710" v="29" actId="22"/>
          <ac:picMkLst>
            <pc:docMk/>
            <pc:sldMk cId="0" sldId="262"/>
            <ac:picMk id="4" creationId="{8E0DDA77-9060-CA0E-7FD9-AD51D1CD7EC8}"/>
          </ac:picMkLst>
        </pc:picChg>
      </pc:sldChg>
      <pc:sldChg chg="addSp delSp mod">
        <pc:chgData name="Lai, Wilson" userId="2840974a-0d84-4886-90a9-9a3ed79f3a48" providerId="ADAL" clId="{9F23B798-9E84-4552-BA63-E776E805C424}" dt="2026-07-24T01:30:34.499" v="31" actId="22"/>
        <pc:sldMkLst>
          <pc:docMk/>
          <pc:sldMk cId="0" sldId="263"/>
        </pc:sldMkLst>
        <pc:picChg chg="add">
          <ac:chgData name="Lai, Wilson" userId="2840974a-0d84-4886-90a9-9a3ed79f3a48" providerId="ADAL" clId="{9F23B798-9E84-4552-BA63-E776E805C424}" dt="2026-07-24T01:30:34.499" v="31" actId="22"/>
          <ac:picMkLst>
            <pc:docMk/>
            <pc:sldMk cId="0" sldId="263"/>
            <ac:picMk id="4" creationId="{9523EF26-08FF-E1C5-4398-51C9F044833D}"/>
          </ac:picMkLst>
        </pc:picChg>
      </pc:sldChg>
      <pc:sldChg chg="addSp delSp mod modNotesTx">
        <pc:chgData name="Lai, Wilson" userId="2840974a-0d84-4886-90a9-9a3ed79f3a48" providerId="ADAL" clId="{9F23B798-9E84-4552-BA63-E776E805C424}" dt="2026-07-31T01:36:16.145" v="53" actId="20577"/>
        <pc:sldMkLst>
          <pc:docMk/>
          <pc:sldMk cId="0" sldId="264"/>
        </pc:sldMkLst>
        <pc:picChg chg="add">
          <ac:chgData name="Lai, Wilson" userId="2840974a-0d84-4886-90a9-9a3ed79f3a48" providerId="ADAL" clId="{9F23B798-9E84-4552-BA63-E776E805C424}" dt="2026-07-24T01:31:20.277" v="33" actId="22"/>
          <ac:picMkLst>
            <pc:docMk/>
            <pc:sldMk cId="0" sldId="264"/>
            <ac:picMk id="4" creationId="{2243C09F-8A4D-4A2E-E39B-F4376E015328}"/>
          </ac:picMkLst>
        </pc:picChg>
      </pc:sldChg>
      <pc:sldChg chg="addSp delSp mod">
        <pc:chgData name="Lai, Wilson" userId="2840974a-0d84-4886-90a9-9a3ed79f3a48" providerId="ADAL" clId="{9F23B798-9E84-4552-BA63-E776E805C424}" dt="2026-07-24T01:31:33.112" v="35" actId="22"/>
        <pc:sldMkLst>
          <pc:docMk/>
          <pc:sldMk cId="0" sldId="265"/>
        </pc:sldMkLst>
        <pc:picChg chg="add">
          <ac:chgData name="Lai, Wilson" userId="2840974a-0d84-4886-90a9-9a3ed79f3a48" providerId="ADAL" clId="{9F23B798-9E84-4552-BA63-E776E805C424}" dt="2026-07-24T01:31:33.112" v="35" actId="22"/>
          <ac:picMkLst>
            <pc:docMk/>
            <pc:sldMk cId="0" sldId="265"/>
            <ac:picMk id="4" creationId="{83E29ADA-D816-F43A-6729-1129B81B2569}"/>
          </ac:picMkLst>
        </pc:picChg>
      </pc:sldChg>
      <pc:sldChg chg="addSp delSp mod modNotesTx">
        <pc:chgData name="Lai, Wilson" userId="2840974a-0d84-4886-90a9-9a3ed79f3a48" providerId="ADAL" clId="{9F23B798-9E84-4552-BA63-E776E805C424}" dt="2026-07-31T01:36:38.460" v="54" actId="12"/>
        <pc:sldMkLst>
          <pc:docMk/>
          <pc:sldMk cId="0" sldId="266"/>
        </pc:sldMkLst>
        <pc:picChg chg="add">
          <ac:chgData name="Lai, Wilson" userId="2840974a-0d84-4886-90a9-9a3ed79f3a48" providerId="ADAL" clId="{9F23B798-9E84-4552-BA63-E776E805C424}" dt="2026-07-24T01:31:46.651" v="37" actId="22"/>
          <ac:picMkLst>
            <pc:docMk/>
            <pc:sldMk cId="0" sldId="266"/>
            <ac:picMk id="4" creationId="{9546C553-29C6-4BDD-8EAC-5279948CDDD2}"/>
          </ac:picMkLst>
        </pc:picChg>
      </pc:sldChg>
      <pc:sldChg chg="addSp delSp mod modNotesTx">
        <pc:chgData name="Lai, Wilson" userId="2840974a-0d84-4886-90a9-9a3ed79f3a48" providerId="ADAL" clId="{9F23B798-9E84-4552-BA63-E776E805C424}" dt="2026-07-31T01:36:51.407" v="55" actId="12"/>
        <pc:sldMkLst>
          <pc:docMk/>
          <pc:sldMk cId="0" sldId="267"/>
        </pc:sldMkLst>
        <pc:picChg chg="add">
          <ac:chgData name="Lai, Wilson" userId="2840974a-0d84-4886-90a9-9a3ed79f3a48" providerId="ADAL" clId="{9F23B798-9E84-4552-BA63-E776E805C424}" dt="2026-07-24T01:31:59.699" v="39" actId="22"/>
          <ac:picMkLst>
            <pc:docMk/>
            <pc:sldMk cId="0" sldId="267"/>
            <ac:picMk id="4" creationId="{F2D0F04C-E643-E7B7-6E2E-F32F303EB285}"/>
          </ac:picMkLst>
        </pc:picChg>
      </pc:sldChg>
      <pc:sldChg chg="addSp delSp mod">
        <pc:chgData name="Lai, Wilson" userId="2840974a-0d84-4886-90a9-9a3ed79f3a48" providerId="ADAL" clId="{9F23B798-9E84-4552-BA63-E776E805C424}" dt="2026-07-24T01:34:31.436" v="41" actId="22"/>
        <pc:sldMkLst>
          <pc:docMk/>
          <pc:sldMk cId="82023623" sldId="268"/>
        </pc:sldMkLst>
        <pc:picChg chg="add">
          <ac:chgData name="Lai, Wilson" userId="2840974a-0d84-4886-90a9-9a3ed79f3a48" providerId="ADAL" clId="{9F23B798-9E84-4552-BA63-E776E805C424}" dt="2026-07-24T01:34:31.436" v="41" actId="22"/>
          <ac:picMkLst>
            <pc:docMk/>
            <pc:sldMk cId="82023623" sldId="268"/>
            <ac:picMk id="5" creationId="{9FB465C5-9AA8-A6FC-A3B7-7F61CACF5B6B}"/>
          </ac:picMkLst>
        </pc:picChg>
      </pc:sldChg>
      <pc:sldMasterChg chg="setBg">
        <pc:chgData name="Lai, Wilson" userId="2840974a-0d84-4886-90a9-9a3ed79f3a48" providerId="ADAL" clId="{9F23B798-9E84-4552-BA63-E776E805C424}" dt="2026-07-24T01:26:11.868" v="0"/>
        <pc:sldMasterMkLst>
          <pc:docMk/>
          <pc:sldMasterMk cId="3021553053"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C8E46F-6D89-4BAA-91E4-1905FBFFA7F0}"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F7A36-7A9E-4145-AE52-212B0160978A}" type="slidenum">
              <a:rPr lang="en-US" smtClean="0"/>
              <a:t>‹#›</a:t>
            </a:fld>
            <a:endParaRPr lang="en-US"/>
          </a:p>
        </p:txBody>
      </p:sp>
    </p:spTree>
    <p:extLst>
      <p:ext uri="{BB962C8B-B14F-4D97-AF65-F5344CB8AC3E}">
        <p14:creationId xmlns:p14="http://schemas.microsoft.com/office/powerpoint/2010/main" val="4189876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https://www.youtube.com/watch?v=x2VHFgyawPE</a:t>
            </a:r>
          </a:p>
          <a:p>
            <a:endParaRPr lang="en-US" dirty="0"/>
          </a:p>
          <a:p>
            <a:r>
              <a:rPr lang="en-US" sz="1200" kern="1200" dirty="0">
                <a:solidFill>
                  <a:schemeClr val="tx1"/>
                </a:solidFill>
                <a:effectLst/>
                <a:latin typeface="+mn-lt"/>
                <a:ea typeface="+mn-ea"/>
                <a:cs typeface="+mn-cs"/>
              </a:rPr>
              <a:t>Welcome everyone. Today, we are stepping inside the strategic mindset of Anthropic and its CEO, Dario Amodei. </a:t>
            </a:r>
          </a:p>
          <a:p>
            <a:r>
              <a:rPr lang="en-US" sz="1200" kern="1200" dirty="0">
                <a:solidFill>
                  <a:schemeClr val="tx1"/>
                </a:solidFill>
                <a:effectLst/>
                <a:latin typeface="+mn-lt"/>
                <a:ea typeface="+mn-ea"/>
                <a:cs typeface="+mn-cs"/>
              </a:rPr>
              <a:t>Managing a frontier AI lab isn't like running a traditional tech company. We are operating along an accelerating exponential curve where civilizational-level stakes meet relativistic speeds. </a:t>
            </a:r>
          </a:p>
          <a:p>
            <a:r>
              <a:rPr lang="en-US" sz="1200" kern="1200" dirty="0">
                <a:solidFill>
                  <a:schemeClr val="tx1"/>
                </a:solidFill>
                <a:effectLst/>
                <a:latin typeface="+mn-lt"/>
                <a:ea typeface="+mn-ea"/>
                <a:cs typeface="+mn-cs"/>
              </a:rPr>
              <a:t>Today, we’ll break down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playbook: how to stay grounded as an executive, how to select business models aligned with fundamental human values, how to navigate national security dilemmas, and why treating AI progress like a precise, unemotional surgical operation is the only rational way forward.</a:t>
            </a:r>
          </a:p>
          <a:p>
            <a:endParaRPr lang="en-US" dirty="0"/>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1</a:t>
            </a:fld>
            <a:endParaRPr lang="en-US"/>
          </a:p>
        </p:txBody>
      </p:sp>
    </p:spTree>
    <p:extLst>
      <p:ext uri="{BB962C8B-B14F-4D97-AF65-F5344CB8AC3E}">
        <p14:creationId xmlns:p14="http://schemas.microsoft.com/office/powerpoint/2010/main" val="2398629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core physics of leading an AI company. Dario Amodei uses a physics metaphor to describe what it feels like from the inside: it’s like accelerating away from Earth in a spaceship at relativistic speeds. </a:t>
            </a:r>
          </a:p>
          <a:p>
            <a:r>
              <a:rPr lang="en-US" sz="1200" kern="1200" dirty="0">
                <a:solidFill>
                  <a:schemeClr val="tx1"/>
                </a:solidFill>
                <a:effectLst/>
                <a:latin typeface="+mn-lt"/>
                <a:ea typeface="+mn-ea"/>
                <a:cs typeface="+mn-cs"/>
              </a:rPr>
              <a:t>As you accelerate, special relativity takes over. You go to sleep, wake up, and two days of progress have elapsed on Earth in just one day. The next day, three days pass. Then four. </a:t>
            </a:r>
          </a:p>
          <a:p>
            <a:r>
              <a:rPr lang="en-US" sz="1200" kern="1200" dirty="0">
                <a:solidFill>
                  <a:schemeClr val="tx1"/>
                </a:solidFill>
                <a:effectLst/>
                <a:latin typeface="+mn-lt"/>
                <a:ea typeface="+mn-ea"/>
                <a:cs typeface="+mn-cs"/>
              </a:rPr>
              <a:t>To the outside observer, it looks like 'nothing is happening, nothing is happening... and then </a:t>
            </a:r>
            <a:r>
              <a:rPr lang="en-US" sz="1200" i="1" kern="1200" dirty="0">
                <a:solidFill>
                  <a:schemeClr val="tx1"/>
                </a:solidFill>
                <a:effectLst/>
                <a:latin typeface="+mn-lt"/>
                <a:ea typeface="+mn-ea"/>
                <a:cs typeface="+mn-cs"/>
              </a:rPr>
              <a:t>zoom</a:t>
            </a:r>
            <a:r>
              <a:rPr lang="en-US" sz="1200" kern="1200" dirty="0">
                <a:solidFill>
                  <a:schemeClr val="tx1"/>
                </a:solidFill>
                <a:effectLst/>
                <a:latin typeface="+mn-lt"/>
                <a:ea typeface="+mn-ea"/>
                <a:cs typeface="+mn-cs"/>
              </a:rPr>
              <a:t>, it goes crazy'. But internally, the compounding rate of change creates relentless, intense pressure. The fundamental challenge of frontier leadership is managing this compounded acceleration without losing organizational cohesion or focus.</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2</a:t>
            </a:fld>
            <a:endParaRPr lang="en-US"/>
          </a:p>
        </p:txBody>
      </p:sp>
    </p:spTree>
    <p:extLst>
      <p:ext uri="{BB962C8B-B14F-4D97-AF65-F5344CB8AC3E}">
        <p14:creationId xmlns:p14="http://schemas.microsoft.com/office/powerpoint/2010/main" val="36668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lead when time dilates and stakes are civilizational? Most of Silicon Valley falls into emotional 'yo-yoing'—oscillating between extreme techno-optimistic complacency and apocalyptic panic based on 3-second social media clips. </a:t>
            </a:r>
          </a:p>
          <a:p>
            <a:r>
              <a:rPr lang="en-US" sz="1200" kern="1200" dirty="0">
                <a:solidFill>
                  <a:schemeClr val="tx1"/>
                </a:solidFill>
                <a:effectLst/>
                <a:latin typeface="+mn-lt"/>
                <a:ea typeface="+mn-ea"/>
                <a:cs typeface="+mn-cs"/>
              </a:rPr>
              <a:t>Amodei argues that this yo-yoing is a hallmark of immature decision-making. Complacency leads to business extinction as moats erode. Panic leads to paralysis or reckless policy overreactions. </a:t>
            </a:r>
          </a:p>
          <a:p>
            <a:r>
              <a:rPr lang="en-US" sz="1200" kern="1200" dirty="0">
                <a:solidFill>
                  <a:schemeClr val="tx1"/>
                </a:solidFill>
                <a:effectLst/>
                <a:latin typeface="+mn-lt"/>
                <a:ea typeface="+mn-ea"/>
                <a:cs typeface="+mn-cs"/>
              </a:rPr>
              <a:t>Instead, Anthropic adopts the </a:t>
            </a:r>
            <a:r>
              <a:rPr lang="en-US" sz="1200" b="1" kern="1200" dirty="0">
                <a:solidFill>
                  <a:schemeClr val="tx1"/>
                </a:solidFill>
                <a:effectLst/>
                <a:latin typeface="+mn-lt"/>
                <a:ea typeface="+mn-ea"/>
                <a:cs typeface="+mn-cs"/>
              </a:rPr>
              <a:t>Rational Surgeon</a:t>
            </a:r>
            <a:r>
              <a:rPr lang="en-US" sz="1200" kern="1200" dirty="0">
                <a:solidFill>
                  <a:schemeClr val="tx1"/>
                </a:solidFill>
                <a:effectLst/>
                <a:latin typeface="+mn-lt"/>
                <a:ea typeface="+mn-ea"/>
                <a:cs typeface="+mn-cs"/>
              </a:rPr>
              <a:t> framework: </a:t>
            </a:r>
          </a:p>
          <a:p>
            <a:pPr marL="228600" indent="-228600">
              <a:buFont typeface="+mj-lt"/>
              <a:buAutoNum type="arabicPeriod"/>
            </a:pPr>
            <a:r>
              <a:rPr lang="en-US" sz="1200" kern="1200" dirty="0">
                <a:solidFill>
                  <a:schemeClr val="tx1"/>
                </a:solidFill>
                <a:effectLst/>
                <a:latin typeface="+mn-lt"/>
                <a:ea typeface="+mn-ea"/>
                <a:cs typeface="+mn-cs"/>
              </a:rPr>
              <a:t>Acknowledge real, growing risks without emotion. </a:t>
            </a:r>
          </a:p>
          <a:p>
            <a:pPr marL="228600" indent="-228600">
              <a:buFont typeface="+mj-lt"/>
              <a:buAutoNum type="arabicPeriod"/>
            </a:pPr>
            <a:r>
              <a:rPr lang="en-US" sz="1200" kern="1200" dirty="0">
                <a:solidFill>
                  <a:schemeClr val="tx1"/>
                </a:solidFill>
                <a:effectLst/>
                <a:latin typeface="+mn-lt"/>
                <a:ea typeface="+mn-ea"/>
                <a:cs typeface="+mn-cs"/>
              </a:rPr>
              <a:t>Make clear, logical trade-offs. </a:t>
            </a:r>
          </a:p>
          <a:p>
            <a:pPr marL="228600" indent="-228600">
              <a:buFont typeface="+mj-lt"/>
              <a:buAutoNum type="arabicPeriod"/>
            </a:pPr>
            <a:r>
              <a:rPr lang="en-US" sz="1200" kern="1200" dirty="0">
                <a:solidFill>
                  <a:schemeClr val="tx1"/>
                </a:solidFill>
                <a:effectLst/>
                <a:latin typeface="+mn-lt"/>
                <a:ea typeface="+mn-ea"/>
                <a:cs typeface="+mn-cs"/>
              </a:rPr>
              <a:t>Smoothly ratchet up safety countermeasures in step with model capabilities. Like a surgeon performing a high-stakes operation, panic is unacceptable; calm, continuous action is required.</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3</a:t>
            </a:fld>
            <a:endParaRPr lang="en-US"/>
          </a:p>
        </p:txBody>
      </p:sp>
    </p:spTree>
    <p:extLst>
      <p:ext uri="{BB962C8B-B14F-4D97-AF65-F5344CB8AC3E}">
        <p14:creationId xmlns:p14="http://schemas.microsoft.com/office/powerpoint/2010/main" val="2383749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Operating on an exponential trajectory breaks traditional financial and capacity planning. </a:t>
            </a:r>
          </a:p>
          <a:p>
            <a:r>
              <a:rPr lang="en-US" sz="1200" kern="1200" dirty="0">
                <a:solidFill>
                  <a:schemeClr val="tx1"/>
                </a:solidFill>
                <a:effectLst/>
                <a:latin typeface="+mn-lt"/>
                <a:ea typeface="+mn-ea"/>
                <a:cs typeface="+mn-cs"/>
              </a:rPr>
              <a:t>Anthropic planned for a 10x annualized growth in compute, which is a rational baseline. However, in early 2026, quarterly revenue jumped by over 3x in a single quarter. If you compound a 3x quarterly jump over four quarters ($3^4$), you get an </a:t>
            </a:r>
            <a:r>
              <a:rPr lang="en-US" sz="1200" b="1" kern="1200" dirty="0">
                <a:solidFill>
                  <a:schemeClr val="tx1"/>
                </a:solidFill>
                <a:effectLst/>
                <a:latin typeface="+mn-lt"/>
                <a:ea typeface="+mn-ea"/>
                <a:cs typeface="+mn-cs"/>
              </a:rPr>
              <a:t>80x annualized growth rate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 company can rationally pre-allocate compute for an 80x annualized demand spike without risking massive capital underutilization if growth slows. These local extreme demand explosions lead to temporary token shortages and server strain. Raised massive capital buffers isn't a sign of flawed business fundamentals—it's a rational hedge against this massive 'cone of uncertainty'.</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4</a:t>
            </a:fld>
            <a:endParaRPr lang="en-US"/>
          </a:p>
        </p:txBody>
      </p:sp>
    </p:spTree>
    <p:extLst>
      <p:ext uri="{BB962C8B-B14F-4D97-AF65-F5344CB8AC3E}">
        <p14:creationId xmlns:p14="http://schemas.microsoft.com/office/powerpoint/2010/main" val="343787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core pillar of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playbook is picking a business model that is structurally aligned with your values. If your business model conflicts with your values, you enter a Catch-22: betray your values or become irrelevant.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Consumer/Social Media model</a:t>
            </a:r>
            <a:r>
              <a:rPr lang="en-US" sz="1200" kern="1200" dirty="0">
                <a:solidFill>
                  <a:schemeClr val="tx1"/>
                </a:solidFill>
                <a:effectLst/>
                <a:latin typeface="+mn-lt"/>
                <a:ea typeface="+mn-ea"/>
                <a:cs typeface="+mn-cs"/>
              </a:rPr>
              <a:t> relies on ad revenue, which inherently incentivizes attention-grabbing, screen addiction, and low-value content—or AI 'slop'.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Enterprise model (The Anthropic Bet)</a:t>
            </a:r>
            <a:r>
              <a:rPr lang="en-US" sz="1200" kern="1200" dirty="0">
                <a:solidFill>
                  <a:schemeClr val="tx1"/>
                </a:solidFill>
                <a:effectLst/>
                <a:latin typeface="+mn-lt"/>
                <a:ea typeface="+mn-ea"/>
                <a:cs typeface="+mn-cs"/>
              </a:rPr>
              <a:t> relies on multi-year trust, reliability, and security. </a:t>
            </a:r>
          </a:p>
          <a:p>
            <a:r>
              <a:rPr lang="en-US" sz="1200" kern="1200" dirty="0">
                <a:solidFill>
                  <a:schemeClr val="tx1"/>
                </a:solidFill>
                <a:effectLst/>
                <a:latin typeface="+mn-lt"/>
                <a:ea typeface="+mn-ea"/>
                <a:cs typeface="+mn-cs"/>
              </a:rPr>
              <a:t>By focusing on Enterprise,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business incentive aligns with positive-sum human goals: accelerating biotech and drug discovery, lowering energy costs, and advancing scientific education.</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5</a:t>
            </a:fld>
            <a:endParaRPr lang="en-US"/>
          </a:p>
        </p:txBody>
      </p:sp>
    </p:spTree>
    <p:extLst>
      <p:ext uri="{BB962C8B-B14F-4D97-AF65-F5344CB8AC3E}">
        <p14:creationId xmlns:p14="http://schemas.microsoft.com/office/powerpoint/2010/main" val="1549588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ensure safety across an entire industry when competitors refuse to cooperate or hold hands on stage? You don't rely on theatrical stage-holding. You engineer a market-driven </a:t>
            </a:r>
            <a:r>
              <a:rPr lang="en-US" sz="1200" b="1" kern="1200" dirty="0">
                <a:solidFill>
                  <a:schemeClr val="tx1"/>
                </a:solidFill>
                <a:effectLst/>
                <a:latin typeface="+mn-lt"/>
                <a:ea typeface="+mn-ea"/>
                <a:cs typeface="+mn-cs"/>
              </a:rPr>
              <a:t>Race to the Top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Trustworthy actors (like Anthropic and Google DeepMind) pull the industry forward using two forces: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Carrots (Inspiration):</a:t>
            </a:r>
            <a:r>
              <a:rPr lang="en-US" sz="1200" kern="1200" dirty="0">
                <a:solidFill>
                  <a:schemeClr val="tx1"/>
                </a:solidFill>
                <a:effectLst/>
                <a:latin typeface="+mn-lt"/>
                <a:ea typeface="+mn-ea"/>
                <a:cs typeface="+mn-cs"/>
              </a:rPr>
              <a:t> Openly sharing research like interpretability and competing on positive scientific milestones.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Sticks (Pressure):</a:t>
            </a:r>
            <a:r>
              <a:rPr lang="en-US" sz="1200" kern="1200" dirty="0">
                <a:solidFill>
                  <a:schemeClr val="tx1"/>
                </a:solidFill>
                <a:effectLst/>
                <a:latin typeface="+mn-lt"/>
                <a:ea typeface="+mn-ea"/>
                <a:cs typeface="+mn-cs"/>
              </a:rPr>
              <a:t> Setting high safety standards so that less trustworthy actors appear negligent or sinister to regulators and customers if they fail to comply. </a:t>
            </a:r>
          </a:p>
          <a:p>
            <a:r>
              <a:rPr lang="en-US" sz="1200" kern="1200" dirty="0">
                <a:solidFill>
                  <a:schemeClr val="tx1"/>
                </a:solidFill>
                <a:effectLst/>
                <a:latin typeface="+mn-lt"/>
                <a:ea typeface="+mn-ea"/>
                <a:cs typeface="+mn-cs"/>
              </a:rPr>
              <a:t>Over time, untrustworthy players are forced to grudgingly adopt higher safety standards just to survive in the market.</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6</a:t>
            </a:fld>
            <a:endParaRPr lang="en-US"/>
          </a:p>
        </p:txBody>
      </p:sp>
    </p:spTree>
    <p:extLst>
      <p:ext uri="{BB962C8B-B14F-4D97-AF65-F5344CB8AC3E}">
        <p14:creationId xmlns:p14="http://schemas.microsoft.com/office/powerpoint/2010/main" val="1717849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address job disruption. In his essay </a:t>
            </a:r>
            <a:r>
              <a:rPr lang="en-US" sz="1200" i="1" kern="1200" dirty="0">
                <a:solidFill>
                  <a:schemeClr val="tx1"/>
                </a:solidFill>
                <a:effectLst/>
                <a:latin typeface="+mn-lt"/>
                <a:ea typeface="+mn-ea"/>
                <a:cs typeface="+mn-cs"/>
              </a:rPr>
              <a:t>The Adolescence of Technology</a:t>
            </a:r>
            <a:r>
              <a:rPr lang="en-US" sz="1200" kern="1200" dirty="0">
                <a:solidFill>
                  <a:schemeClr val="tx1"/>
                </a:solidFill>
                <a:effectLst/>
                <a:latin typeface="+mn-lt"/>
                <a:ea typeface="+mn-ea"/>
                <a:cs typeface="+mn-cs"/>
              </a:rPr>
              <a:t>, Amodei highlights a macroeconomic paradox: When AI automates 90% of routine white-collar tasks, humans become 10x more leveraged on the remaining 10%. </a:t>
            </a:r>
          </a:p>
          <a:p>
            <a:r>
              <a:rPr lang="en-US" sz="1200" kern="1200" dirty="0">
                <a:solidFill>
                  <a:schemeClr val="tx1"/>
                </a:solidFill>
                <a:effectLst/>
                <a:latin typeface="+mn-lt"/>
                <a:ea typeface="+mn-ea"/>
                <a:cs typeface="+mn-cs"/>
              </a:rPr>
              <a:t>In the short term, this causes massive economic disruption—potentially impacting entry-level roles in coding, finance, and legal. However, total economic output—the overall 'pie'—expands dramatically. </a:t>
            </a:r>
          </a:p>
          <a:p>
            <a:r>
              <a:rPr lang="en-US" sz="1200" kern="1200" dirty="0">
                <a:solidFill>
                  <a:schemeClr val="tx1"/>
                </a:solidFill>
                <a:effectLst/>
                <a:latin typeface="+mn-lt"/>
                <a:ea typeface="+mn-ea"/>
                <a:cs typeface="+mn-cs"/>
              </a:rPr>
              <a:t>Demand shifts toward hybrid human roles, such as </a:t>
            </a:r>
            <a:r>
              <a:rPr lang="en-US" sz="1200" b="1" kern="1200" dirty="0">
                <a:solidFill>
                  <a:schemeClr val="tx1"/>
                </a:solidFill>
                <a:effectLst/>
                <a:latin typeface="+mn-lt"/>
                <a:ea typeface="+mn-ea"/>
                <a:cs typeface="+mn-cs"/>
              </a:rPr>
              <a:t>Applied AI Solutions Architects</a:t>
            </a:r>
            <a:r>
              <a:rPr lang="en-US" sz="1200" kern="1200" dirty="0">
                <a:solidFill>
                  <a:schemeClr val="tx1"/>
                </a:solidFill>
                <a:effectLst/>
                <a:latin typeface="+mn-lt"/>
                <a:ea typeface="+mn-ea"/>
                <a:cs typeface="+mn-cs"/>
              </a:rPr>
              <a:t> and roles requiring human relationships, domain expertise, or physical-world execution. The policy challenge isn't stopping AI; it's managing this rapid skill-matching transition.</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7</a:t>
            </a:fld>
            <a:endParaRPr lang="en-US"/>
          </a:p>
        </p:txBody>
      </p:sp>
    </p:spTree>
    <p:extLst>
      <p:ext uri="{BB962C8B-B14F-4D97-AF65-F5344CB8AC3E}">
        <p14:creationId xmlns:p14="http://schemas.microsoft.com/office/powerpoint/2010/main" val="2201094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an era of resurgent authoritarian states, democratic tech labs cannot remain purely pacifist. Superior AI intelligence deters geopolitical conflict rather than causing it. </a:t>
            </a:r>
          </a:p>
          <a:p>
            <a:r>
              <a:rPr lang="en-US" sz="1200" kern="1200" dirty="0">
                <a:solidFill>
                  <a:schemeClr val="tx1"/>
                </a:solidFill>
                <a:effectLst/>
                <a:latin typeface="+mn-lt"/>
                <a:ea typeface="+mn-ea"/>
                <a:cs typeface="+mn-cs"/>
              </a:rPr>
              <a:t>Anthropic became one of the first labs to deploy on US classified defense networks, but established strict </a:t>
            </a:r>
            <a:r>
              <a:rPr lang="en-US" sz="1200" b="1" kern="1200" dirty="0">
                <a:solidFill>
                  <a:schemeClr val="tx1"/>
                </a:solidFill>
                <a:effectLst/>
                <a:latin typeface="+mn-lt"/>
                <a:ea typeface="+mn-ea"/>
                <a:cs typeface="+mn-cs"/>
              </a:rPr>
              <a:t>Red Lines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Acceptable:</a:t>
            </a:r>
            <a:r>
              <a:rPr lang="en-US" sz="1200" kern="1200" dirty="0">
                <a:solidFill>
                  <a:schemeClr val="tx1"/>
                </a:solidFill>
                <a:effectLst/>
                <a:latin typeface="+mn-lt"/>
                <a:ea typeface="+mn-ea"/>
                <a:cs typeface="+mn-cs"/>
              </a:rPr>
              <a:t> Intelligence analysis, logistics, and human-in-the-loop targeting assistance.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Unacceptable (Red Lines):</a:t>
            </a:r>
            <a:r>
              <a:rPr lang="en-US" sz="1200" kern="1200" dirty="0">
                <a:solidFill>
                  <a:schemeClr val="tx1"/>
                </a:solidFill>
                <a:effectLst/>
                <a:latin typeface="+mn-lt"/>
                <a:ea typeface="+mn-ea"/>
                <a:cs typeface="+mn-cs"/>
              </a:rPr>
              <a:t> Mass domestic surveillance and fully autonomous lethal weapons. </a:t>
            </a:r>
          </a:p>
          <a:p>
            <a:r>
              <a:rPr lang="en-US" sz="1200" kern="1200" dirty="0">
                <a:solidFill>
                  <a:schemeClr val="tx1"/>
                </a:solidFill>
                <a:effectLst/>
                <a:latin typeface="+mn-lt"/>
                <a:ea typeface="+mn-ea"/>
                <a:cs typeface="+mn-cs"/>
              </a:rPr>
              <a:t>To prevent a 'Dr. Strangelove' scenario, human decision-makers must always make the final lethal call. Winning is meaningless if democracies compromise their core values in the process.</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8</a:t>
            </a:fld>
            <a:endParaRPr lang="en-US"/>
          </a:p>
        </p:txBody>
      </p:sp>
    </p:spTree>
    <p:extLst>
      <p:ext uri="{BB962C8B-B14F-4D97-AF65-F5344CB8AC3E}">
        <p14:creationId xmlns:p14="http://schemas.microsoft.com/office/powerpoint/2010/main" val="3497652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story of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flagship cyber-capable model, </a:t>
            </a:r>
            <a:r>
              <a:rPr lang="en-US" sz="1200" b="1" kern="1200" dirty="0">
                <a:solidFill>
                  <a:schemeClr val="tx1"/>
                </a:solidFill>
                <a:effectLst/>
                <a:latin typeface="+mn-lt"/>
                <a:ea typeface="+mn-ea"/>
                <a:cs typeface="+mn-cs"/>
              </a:rPr>
              <a:t>Mythos</a:t>
            </a:r>
            <a:r>
              <a:rPr lang="en-US" sz="1200" kern="1200" dirty="0">
                <a:solidFill>
                  <a:schemeClr val="tx1"/>
                </a:solidFill>
                <a:effectLst/>
                <a:latin typeface="+mn-lt"/>
                <a:ea typeface="+mn-ea"/>
                <a:cs typeface="+mn-cs"/>
              </a:rPr>
              <a:t>, illustrates their commitment to safety over short-term revenue. </a:t>
            </a:r>
          </a:p>
          <a:p>
            <a:r>
              <a:rPr lang="en-US" sz="1200" kern="1200" dirty="0">
                <a:solidFill>
                  <a:schemeClr val="tx1"/>
                </a:solidFill>
                <a:effectLst/>
                <a:latin typeface="+mn-lt"/>
                <a:ea typeface="+mn-ea"/>
                <a:cs typeface="+mn-cs"/>
              </a:rPr>
              <a:t>Mythos demonstrated an unprecedented leap in finding zero-day vulnerabilities and writing working exploits—discovering 271 critical vulnerabilities in Firefox alone. Early enterprise testers labeled it a 'superweapon'. </a:t>
            </a:r>
          </a:p>
          <a:p>
            <a:r>
              <a:rPr lang="en-US" sz="1200" kern="1200" dirty="0">
                <a:solidFill>
                  <a:schemeClr val="tx1"/>
                </a:solidFill>
                <a:effectLst/>
                <a:latin typeface="+mn-lt"/>
                <a:ea typeface="+mn-ea"/>
                <a:cs typeface="+mn-cs"/>
              </a:rPr>
              <a:t>Rather than releasing Mythos publicly for massive commercial gains, Anthropic withheld general release. They deployed it selectively to cyber defenders first to patch the digital surface of the internet before attackers could gain access. Taking a commercial hit to fundamentally harden global digital infrastructure is the core of their strategy.</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9</a:t>
            </a:fld>
            <a:endParaRPr lang="en-US"/>
          </a:p>
        </p:txBody>
      </p:sp>
    </p:spTree>
    <p:extLst>
      <p:ext uri="{BB962C8B-B14F-4D97-AF65-F5344CB8AC3E}">
        <p14:creationId xmlns:p14="http://schemas.microsoft.com/office/powerpoint/2010/main" val="2565103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is the first civilization-altering technology built primarily within private tech companies rather than state labs. Amodei views this as inherently unstable. </a:t>
            </a:r>
          </a:p>
          <a:p>
            <a:r>
              <a:rPr lang="en-US" sz="1200" kern="1200" dirty="0">
                <a:solidFill>
                  <a:schemeClr val="tx1"/>
                </a:solidFill>
                <a:effectLst/>
                <a:latin typeface="+mn-lt"/>
                <a:ea typeface="+mn-ea"/>
                <a:cs typeface="+mn-cs"/>
              </a:rPr>
              <a:t>The solution is neither anti-regulatory techno-libertarianism nor government nationalization. We need an ecosystem of deliberate checks and balances: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Internal Check:</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Long-Term Benefit Trust</a:t>
            </a:r>
            <a:r>
              <a:rPr lang="en-US" sz="1200" kern="1200" dirty="0">
                <a:solidFill>
                  <a:schemeClr val="tx1"/>
                </a:solidFill>
                <a:effectLst/>
                <a:latin typeface="+mn-lt"/>
                <a:ea typeface="+mn-ea"/>
                <a:cs typeface="+mn-cs"/>
              </a:rPr>
              <a:t>, an independent governing body with the power to appoint/remove board members and align corporate actions with broad societal benefit.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External Check:</a:t>
            </a:r>
            <a:r>
              <a:rPr lang="en-US" sz="1200" kern="1200" dirty="0">
                <a:solidFill>
                  <a:schemeClr val="tx1"/>
                </a:solidFill>
                <a:effectLst/>
                <a:latin typeface="+mn-lt"/>
                <a:ea typeface="+mn-ea"/>
                <a:cs typeface="+mn-cs"/>
              </a:rPr>
              <a:t> Government pre-release model audits, red lines, and legislative guardrails.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Corporate Check on Government:</a:t>
            </a:r>
            <a:r>
              <a:rPr lang="en-US" sz="1200" kern="1200" dirty="0">
                <a:solidFill>
                  <a:schemeClr val="tx1"/>
                </a:solidFill>
                <a:effectLst/>
                <a:latin typeface="+mn-lt"/>
                <a:ea typeface="+mn-ea"/>
                <a:cs typeface="+mn-cs"/>
              </a:rPr>
              <a:t> Private labs refusing deployment cases that enable authoritarian tools like mass surveillance.</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10</a:t>
            </a:fld>
            <a:endParaRPr lang="en-US"/>
          </a:p>
        </p:txBody>
      </p:sp>
    </p:spTree>
    <p:extLst>
      <p:ext uri="{BB962C8B-B14F-4D97-AF65-F5344CB8AC3E}">
        <p14:creationId xmlns:p14="http://schemas.microsoft.com/office/powerpoint/2010/main" val="283328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strategic philosophy: we face a estimated 10–25% tail risk of civilizational collapse if frontier AI is mismanaged. When stakes are this high, there is zero room for savior complexes, hype, or panic. </a:t>
            </a:r>
          </a:p>
          <a:p>
            <a:pPr marL="228600" indent="-228600">
              <a:buFont typeface="+mj-lt"/>
              <a:buAutoNum type="arabicPeriod"/>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Rational Surgeon Framework</a:t>
            </a:r>
            <a:r>
              <a:rPr lang="en-US" sz="1200" kern="1200" dirty="0">
                <a:solidFill>
                  <a:schemeClr val="tx1"/>
                </a:solidFill>
                <a:effectLst/>
                <a:latin typeface="+mn-lt"/>
                <a:ea typeface="+mn-ea"/>
                <a:cs typeface="+mn-cs"/>
              </a:rPr>
              <a:t> connects every pillar: </a:t>
            </a:r>
          </a:p>
          <a:p>
            <a:pPr marL="228600" indent="-228600">
              <a:buFont typeface="+mj-lt"/>
              <a:buAutoNum type="arabicPeriod"/>
            </a:pPr>
            <a:r>
              <a:rPr lang="en-US" sz="1200" kern="1200" dirty="0">
                <a:solidFill>
                  <a:schemeClr val="tx1"/>
                </a:solidFill>
                <a:effectLst/>
                <a:latin typeface="+mn-lt"/>
                <a:ea typeface="+mn-ea"/>
                <a:cs typeface="+mn-cs"/>
              </a:rPr>
              <a:t>Operate with precision at relativistic speeds. </a:t>
            </a:r>
          </a:p>
          <a:p>
            <a:pPr marL="228600" indent="-228600">
              <a:buFont typeface="+mj-lt"/>
              <a:buAutoNum type="arabicPeriod"/>
            </a:pPr>
            <a:r>
              <a:rPr lang="en-US" sz="1200" kern="1200" dirty="0">
                <a:solidFill>
                  <a:schemeClr val="tx1"/>
                </a:solidFill>
                <a:effectLst/>
                <a:latin typeface="+mn-lt"/>
                <a:ea typeface="+mn-ea"/>
                <a:cs typeface="+mn-cs"/>
              </a:rPr>
              <a:t>Align business models with ethical values. </a:t>
            </a:r>
          </a:p>
          <a:p>
            <a:pPr marL="228600" indent="-228600">
              <a:buFont typeface="+mj-lt"/>
              <a:buAutoNum type="arabicPeriod"/>
            </a:pPr>
            <a:r>
              <a:rPr lang="en-US" sz="1200" kern="1200" dirty="0">
                <a:solidFill>
                  <a:schemeClr val="tx1"/>
                </a:solidFill>
                <a:effectLst/>
                <a:latin typeface="+mn-lt"/>
                <a:ea typeface="+mn-ea"/>
                <a:cs typeface="+mn-cs"/>
              </a:rPr>
              <a:t>Enforce strict, non-negotiable red lines. </a:t>
            </a:r>
          </a:p>
          <a:p>
            <a:r>
              <a:rPr lang="en-US" sz="1200" kern="1200" dirty="0">
                <a:solidFill>
                  <a:schemeClr val="tx1"/>
                </a:solidFill>
                <a:effectLst/>
                <a:latin typeface="+mn-lt"/>
                <a:ea typeface="+mn-ea"/>
                <a:cs typeface="+mn-cs"/>
              </a:rPr>
              <a:t>Expand the economic pie while patching critical societal vulnerabilities. </a:t>
            </a:r>
          </a:p>
          <a:p>
            <a:r>
              <a:rPr lang="en-US" sz="1200" kern="1200" dirty="0">
                <a:solidFill>
                  <a:schemeClr val="tx1"/>
                </a:solidFill>
                <a:effectLst/>
                <a:latin typeface="+mn-lt"/>
                <a:ea typeface="+mn-ea"/>
                <a:cs typeface="+mn-cs"/>
              </a:rPr>
              <a:t>By executing with cool rationality, we dramatically lower the probability of catastrophe.</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11</a:t>
            </a:fld>
            <a:endParaRPr lang="en-US"/>
          </a:p>
        </p:txBody>
      </p:sp>
    </p:spTree>
    <p:extLst>
      <p:ext uri="{BB962C8B-B14F-4D97-AF65-F5344CB8AC3E}">
        <p14:creationId xmlns:p14="http://schemas.microsoft.com/office/powerpoint/2010/main" val="1384227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ahead, if we navigate this smooth exponential curve rationally, the potential upside is staggering. </a:t>
            </a:r>
          </a:p>
          <a:p>
            <a:r>
              <a:rPr lang="en-US" sz="1200" kern="1200" dirty="0">
                <a:solidFill>
                  <a:schemeClr val="tx1"/>
                </a:solidFill>
                <a:effectLst/>
                <a:latin typeface="+mn-lt"/>
                <a:ea typeface="+mn-ea"/>
                <a:cs typeface="+mn-cs"/>
              </a:rPr>
              <a:t>Amodei envisions compressing </a:t>
            </a:r>
            <a:r>
              <a:rPr lang="en-US" sz="1200" b="1" kern="1200" dirty="0">
                <a:solidFill>
                  <a:schemeClr val="tx1"/>
                </a:solidFill>
                <a:effectLst/>
                <a:latin typeface="+mn-lt"/>
                <a:ea typeface="+mn-ea"/>
                <a:cs typeface="+mn-cs"/>
              </a:rPr>
              <a:t>a century of scientific and medical progress into a single generation</a:t>
            </a:r>
            <a:r>
              <a:rPr lang="en-US" sz="1200" kern="1200" dirty="0">
                <a:solidFill>
                  <a:schemeClr val="tx1"/>
                </a:solidFill>
                <a:effectLst/>
                <a:latin typeface="+mn-lt"/>
                <a:ea typeface="+mn-ea"/>
                <a:cs typeface="+mn-cs"/>
              </a:rPr>
              <a:t>—curing complex diseases, solving energy scarcity, and vastly elevating human capability. </a:t>
            </a:r>
          </a:p>
          <a:p>
            <a:r>
              <a:rPr lang="en-US" sz="1200" kern="1200" dirty="0">
                <a:solidFill>
                  <a:schemeClr val="tx1"/>
                </a:solidFill>
                <a:effectLst/>
                <a:latin typeface="+mn-lt"/>
                <a:ea typeface="+mn-ea"/>
                <a:cs typeface="+mn-cs"/>
              </a:rPr>
              <a:t>By holding fast to firm red lines, maintaining value-aligned enterprise products, and continuously scaling compute rationally, Anthropic aims to guide humanity safely through to the other side of the AI exponential. </a:t>
            </a:r>
            <a:r>
              <a:rPr lang="en-US" sz="1200" kern="1200">
                <a:solidFill>
                  <a:schemeClr val="tx1"/>
                </a:solidFill>
                <a:effectLst/>
                <a:latin typeface="+mn-lt"/>
                <a:ea typeface="+mn-ea"/>
                <a:cs typeface="+mn-cs"/>
              </a:rPr>
              <a:t>Thank you.</a:t>
            </a:r>
          </a:p>
          <a:p>
            <a:endParaRPr lang="en-US" dirty="0"/>
          </a:p>
        </p:txBody>
      </p:sp>
      <p:sp>
        <p:nvSpPr>
          <p:cNvPr id="4" name="Slide Number Placeholder 3"/>
          <p:cNvSpPr>
            <a:spLocks noGrp="1"/>
          </p:cNvSpPr>
          <p:nvPr>
            <p:ph type="sldNum" sz="quarter" idx="5"/>
          </p:nvPr>
        </p:nvSpPr>
        <p:spPr/>
        <p:txBody>
          <a:bodyPr/>
          <a:lstStyle/>
          <a:p>
            <a:fld id="{659F7A36-7A9E-4145-AE52-212B0160978A}" type="slidenum">
              <a:rPr lang="en-US" smtClean="0"/>
              <a:t>12</a:t>
            </a:fld>
            <a:endParaRPr lang="en-US"/>
          </a:p>
        </p:txBody>
      </p:sp>
    </p:spTree>
    <p:extLst>
      <p:ext uri="{BB962C8B-B14F-4D97-AF65-F5344CB8AC3E}">
        <p14:creationId xmlns:p14="http://schemas.microsoft.com/office/powerpoint/2010/main" val="2836687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B5AD42-54A8-CD06-14F4-DF5B2EC2521A}"/>
              </a:ext>
            </a:extLst>
          </p:cNvPr>
          <p:cNvSpPr>
            <a:spLocks noGrp="1"/>
          </p:cNvSpPr>
          <p:nvPr>
            <p:ph type="dt" sz="half" idx="10"/>
          </p:nvPr>
        </p:nvSpPr>
        <p:spPr/>
        <p:txBody>
          <a:bodyPr/>
          <a:lstStyle/>
          <a:p>
            <a:fld id="{BA69D082-1864-4408-B464-D36871C7756E}" type="datetimeFigureOut">
              <a:rPr lang="en-US" smtClean="0"/>
              <a:t>10/19/2026</a:t>
            </a:fld>
            <a:endParaRPr lang="en-US"/>
          </a:p>
        </p:txBody>
      </p:sp>
      <p:sp>
        <p:nvSpPr>
          <p:cNvPr id="3" name="Footer Placeholder 2">
            <a:extLst>
              <a:ext uri="{FF2B5EF4-FFF2-40B4-BE49-F238E27FC236}">
                <a16:creationId xmlns:a16="http://schemas.microsoft.com/office/drawing/2014/main" id="{D403D3D8-85C1-C17C-DA92-918629F05B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540A1F-57FD-A297-D64A-DC1C22E4E35C}"/>
              </a:ext>
            </a:extLst>
          </p:cNvPr>
          <p:cNvSpPr>
            <a:spLocks noGrp="1"/>
          </p:cNvSpPr>
          <p:nvPr>
            <p:ph type="sldNum" sz="quarter" idx="12"/>
          </p:nvPr>
        </p:nvSpPr>
        <p:spPr/>
        <p:txBody>
          <a:bodyPr/>
          <a:lstStyle/>
          <a:p>
            <a:fld id="{6AAF9860-0BE9-4B3F-9DBC-885765DEC06D}" type="slidenum">
              <a:rPr lang="en-US" smtClean="0"/>
              <a:t>‹#›</a:t>
            </a:fld>
            <a:endParaRPr lang="en-US"/>
          </a:p>
        </p:txBody>
      </p:sp>
    </p:spTree>
    <p:extLst>
      <p:ext uri="{BB962C8B-B14F-4D97-AF65-F5344CB8AC3E}">
        <p14:creationId xmlns:p14="http://schemas.microsoft.com/office/powerpoint/2010/main" val="72777185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0FA4AF-7B2D-5B50-3B92-D31791D82E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695806-BF4A-29E0-107E-9AB95ED9A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81268F-AECE-E827-DCE4-04B4AE38F2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69D082-1864-4408-B464-D36871C7756E}" type="datetimeFigureOut">
              <a:rPr lang="en-US" smtClean="0"/>
              <a:t>10/19/2026</a:t>
            </a:fld>
            <a:endParaRPr lang="en-US"/>
          </a:p>
        </p:txBody>
      </p:sp>
      <p:sp>
        <p:nvSpPr>
          <p:cNvPr id="5" name="Footer Placeholder 4">
            <a:extLst>
              <a:ext uri="{FF2B5EF4-FFF2-40B4-BE49-F238E27FC236}">
                <a16:creationId xmlns:a16="http://schemas.microsoft.com/office/drawing/2014/main" id="{06BE4FFB-97BB-15C5-6216-0C51437BE0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1E629C-8A88-CD60-5227-D7C79A7DE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AF9860-0BE9-4B3F-9DBC-885765DEC06D}" type="slidenum">
              <a:rPr lang="en-US" smtClean="0"/>
              <a:t>‹#›</a:t>
            </a:fld>
            <a:endParaRPr lang="en-US"/>
          </a:p>
        </p:txBody>
      </p:sp>
    </p:spTree>
    <p:extLst>
      <p:ext uri="{BB962C8B-B14F-4D97-AF65-F5344CB8AC3E}">
        <p14:creationId xmlns:p14="http://schemas.microsoft.com/office/powerpoint/2010/main" val="302155305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B9A766B-51BB-3060-159D-DE3F65FF77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C0ED1C-12A3-1019-AC70-5C669B354C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17F433-0206-A548-8CE9-BE1581ED6C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EEB4A3-1803-AAB5-9011-2EEDC8A9D0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B3829A-612B-0E6B-383A-1FCBEBC95B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0DDA77-9060-CA0E-7FD9-AD51D1CD7E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23EF26-08FF-E1C5-4398-51C9F04483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43C09F-8A4D-4A2E-E39B-F4376E0153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29ADA-D816-F43A-6729-1129B81B25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46C553-29C6-4BDD-8EAC-5279948CDD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D0F04C-E643-E7B7-6E2E-F32F303EB2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B465C5-9AA8-A6FC-A3B7-7F61CACF5B6B}"/>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82023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1352</Words>
  <Application>Microsoft Office PowerPoint</Application>
  <PresentationFormat>寬螢幕</PresentationFormat>
  <Paragraphs>64</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2026-07-24T01:24:42Z</dcterms:created>
  <dcterms:modified xsi:type="dcterms:W3CDTF">2026-10-19T14:29:51Z</dcterms:modified>
</cp:coreProperties>
</file>