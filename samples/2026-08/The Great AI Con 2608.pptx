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186678-BB63-455F-AC0C-CC53DDCC862A}" v="19" dt="2026-08-30T13:48:55.0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6" autoAdjust="0"/>
    <p:restoredTop sz="86325"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30T13:49:21.563" v="78" actId="166"/>
      <pc:docMkLst>
        <pc:docMk/>
      </pc:docMkLst>
      <pc:sldChg chg="addSp delSp modSp mod modAnim modNotes modNotesTx">
        <pc:chgData name="Lai, Wilson" userId="2840974a-0d84-4886-90a9-9a3ed79f3a48" providerId="ADAL" clId="{9F23B798-9E84-4552-BA63-E776E805C424}" dt="2026-08-30T13:49:21.563" v="78" actId="166"/>
        <pc:sldMkLst>
          <pc:docMk/>
          <pc:sldMk cId="0" sldId="257"/>
        </pc:sldMkLst>
        <pc:spChg chg="add mod">
          <ac:chgData name="Lai, Wilson" userId="2840974a-0d84-4886-90a9-9a3ed79f3a48" providerId="ADAL" clId="{9F23B798-9E84-4552-BA63-E776E805C424}" dt="2026-08-30T05:49:57.365" v="7" actId="164"/>
          <ac:spMkLst>
            <pc:docMk/>
            <pc:sldMk cId="0" sldId="257"/>
            <ac:spMk id="5" creationId="{A8300A95-8C12-CB9B-36DC-2EAE90C42CA0}"/>
          </ac:spMkLst>
        </pc:spChg>
        <pc:grpChg chg="add mod">
          <ac:chgData name="Lai, Wilson" userId="2840974a-0d84-4886-90a9-9a3ed79f3a48" providerId="ADAL" clId="{9F23B798-9E84-4552-BA63-E776E805C424}" dt="2026-08-30T05:49:57.365" v="7" actId="164"/>
          <ac:grpSpMkLst>
            <pc:docMk/>
            <pc:sldMk cId="0" sldId="257"/>
            <ac:grpSpMk id="6" creationId="{6E724AFE-5D58-348B-4AE2-D7EDD46D39B7}"/>
          </ac:grpSpMkLst>
        </pc:grpChg>
        <pc:picChg chg="del">
          <ac:chgData name="Lai, Wilson" userId="2840974a-0d84-4886-90a9-9a3ed79f3a48" providerId="ADAL" clId="{9F23B798-9E84-4552-BA63-E776E805C424}" dt="2026-08-30T06:21:30.412" v="8" actId="21"/>
          <ac:picMkLst>
            <pc:docMk/>
            <pc:sldMk cId="0" sldId="257"/>
            <ac:picMk id="2" creationId="{00000000-0000-0000-0000-000000000000}"/>
          </ac:picMkLst>
        </pc:picChg>
        <pc:picChg chg="add mod">
          <ac:chgData name="Lai, Wilson" userId="2840974a-0d84-4886-90a9-9a3ed79f3a48" providerId="ADAL" clId="{9F23B798-9E84-4552-BA63-E776E805C424}" dt="2026-08-30T05:49:57.365" v="7" actId="164"/>
          <ac:picMkLst>
            <pc:docMk/>
            <pc:sldMk cId="0" sldId="257"/>
            <ac:picMk id="3" creationId="{464AF6C3-BF2C-90F8-04A6-73191CCB4306}"/>
          </ac:picMkLst>
        </pc:picChg>
        <pc:picChg chg="add ord">
          <ac:chgData name="Lai, Wilson" userId="2840974a-0d84-4886-90a9-9a3ed79f3a48" providerId="ADAL" clId="{9F23B798-9E84-4552-BA63-E776E805C424}" dt="2026-08-30T13:49:21.563" v="78" actId="166"/>
          <ac:picMkLst>
            <pc:docMk/>
            <pc:sldMk cId="0" sldId="257"/>
            <ac:picMk id="7" creationId="{F500D7D8-FC47-71BA-F035-051B9AE1B878}"/>
          </ac:picMkLst>
        </pc:picChg>
      </pc:sldChg>
      <pc:sldChg chg="addSp delSp mod modNotes modNotesTx">
        <pc:chgData name="Lai, Wilson" userId="2840974a-0d84-4886-90a9-9a3ed79f3a48" providerId="ADAL" clId="{9F23B798-9E84-4552-BA63-E776E805C424}" dt="2026-08-30T13:48:55.062" v="76"/>
        <pc:sldMkLst>
          <pc:docMk/>
          <pc:sldMk cId="0" sldId="258"/>
        </pc:sldMkLst>
        <pc:picChg chg="del">
          <ac:chgData name="Lai, Wilson" userId="2840974a-0d84-4886-90a9-9a3ed79f3a48" providerId="ADAL" clId="{9F23B798-9E84-4552-BA63-E776E805C424}" dt="2026-08-30T06:21:40.525" v="10" actId="21"/>
          <ac:picMkLst>
            <pc:docMk/>
            <pc:sldMk cId="0" sldId="258"/>
            <ac:picMk id="2" creationId="{00000000-0000-0000-0000-000000000000}"/>
          </ac:picMkLst>
        </pc:picChg>
        <pc:picChg chg="add">
          <ac:chgData name="Lai, Wilson" userId="2840974a-0d84-4886-90a9-9a3ed79f3a48" providerId="ADAL" clId="{9F23B798-9E84-4552-BA63-E776E805C424}" dt="2026-08-30T06:21:51.022" v="11" actId="22"/>
          <ac:picMkLst>
            <pc:docMk/>
            <pc:sldMk cId="0" sldId="258"/>
            <ac:picMk id="4" creationId="{9C022965-B6CD-E26E-DCB0-EBFEF549356D}"/>
          </ac:picMkLst>
        </pc:picChg>
      </pc:sldChg>
      <pc:sldChg chg="addSp delSp mod modNotes modNotesTx">
        <pc:chgData name="Lai, Wilson" userId="2840974a-0d84-4886-90a9-9a3ed79f3a48" providerId="ADAL" clId="{9F23B798-9E84-4552-BA63-E776E805C424}" dt="2026-08-30T13:48:55.062" v="76"/>
        <pc:sldMkLst>
          <pc:docMk/>
          <pc:sldMk cId="0" sldId="259"/>
        </pc:sldMkLst>
        <pc:picChg chg="del">
          <ac:chgData name="Lai, Wilson" userId="2840974a-0d84-4886-90a9-9a3ed79f3a48" providerId="ADAL" clId="{9F23B798-9E84-4552-BA63-E776E805C424}" dt="2026-08-30T06:21:55.936" v="12" actId="21"/>
          <ac:picMkLst>
            <pc:docMk/>
            <pc:sldMk cId="0" sldId="259"/>
            <ac:picMk id="2" creationId="{00000000-0000-0000-0000-000000000000}"/>
          </ac:picMkLst>
        </pc:picChg>
        <pc:picChg chg="add">
          <ac:chgData name="Lai, Wilson" userId="2840974a-0d84-4886-90a9-9a3ed79f3a48" providerId="ADAL" clId="{9F23B798-9E84-4552-BA63-E776E805C424}" dt="2026-08-30T06:22:03.364" v="13" actId="22"/>
          <ac:picMkLst>
            <pc:docMk/>
            <pc:sldMk cId="0" sldId="259"/>
            <ac:picMk id="4" creationId="{217CDB87-567F-3291-EF21-2886D178F881}"/>
          </ac:picMkLst>
        </pc:picChg>
      </pc:sldChg>
      <pc:sldChg chg="addSp delSp mod modNotes modNotesTx">
        <pc:chgData name="Lai, Wilson" userId="2840974a-0d84-4886-90a9-9a3ed79f3a48" providerId="ADAL" clId="{9F23B798-9E84-4552-BA63-E776E805C424}" dt="2026-08-30T13:48:55.062" v="76"/>
        <pc:sldMkLst>
          <pc:docMk/>
          <pc:sldMk cId="0" sldId="260"/>
        </pc:sldMkLst>
        <pc:picChg chg="del">
          <ac:chgData name="Lai, Wilson" userId="2840974a-0d84-4886-90a9-9a3ed79f3a48" providerId="ADAL" clId="{9F23B798-9E84-4552-BA63-E776E805C424}" dt="2026-08-30T06:22:09.470" v="14" actId="21"/>
          <ac:picMkLst>
            <pc:docMk/>
            <pc:sldMk cId="0" sldId="260"/>
            <ac:picMk id="2" creationId="{00000000-0000-0000-0000-000000000000}"/>
          </ac:picMkLst>
        </pc:picChg>
        <pc:picChg chg="add">
          <ac:chgData name="Lai, Wilson" userId="2840974a-0d84-4886-90a9-9a3ed79f3a48" providerId="ADAL" clId="{9F23B798-9E84-4552-BA63-E776E805C424}" dt="2026-08-30T06:22:18.936" v="15" actId="22"/>
          <ac:picMkLst>
            <pc:docMk/>
            <pc:sldMk cId="0" sldId="260"/>
            <ac:picMk id="4" creationId="{024CF8E1-3324-156F-5DC7-8CDB5EBD16E1}"/>
          </ac:picMkLst>
        </pc:picChg>
      </pc:sldChg>
      <pc:sldChg chg="addSp delSp mod modNotes modNotesTx">
        <pc:chgData name="Lai, Wilson" userId="2840974a-0d84-4886-90a9-9a3ed79f3a48" providerId="ADAL" clId="{9F23B798-9E84-4552-BA63-E776E805C424}" dt="2026-08-30T13:48:55.062" v="76"/>
        <pc:sldMkLst>
          <pc:docMk/>
          <pc:sldMk cId="0" sldId="261"/>
        </pc:sldMkLst>
        <pc:picChg chg="del">
          <ac:chgData name="Lai, Wilson" userId="2840974a-0d84-4886-90a9-9a3ed79f3a48" providerId="ADAL" clId="{9F23B798-9E84-4552-BA63-E776E805C424}" dt="2026-08-30T06:22:20.749" v="16" actId="21"/>
          <ac:picMkLst>
            <pc:docMk/>
            <pc:sldMk cId="0" sldId="261"/>
            <ac:picMk id="2" creationId="{00000000-0000-0000-0000-000000000000}"/>
          </ac:picMkLst>
        </pc:picChg>
        <pc:picChg chg="add">
          <ac:chgData name="Lai, Wilson" userId="2840974a-0d84-4886-90a9-9a3ed79f3a48" providerId="ADAL" clId="{9F23B798-9E84-4552-BA63-E776E805C424}" dt="2026-08-30T06:22:37.662" v="17" actId="22"/>
          <ac:picMkLst>
            <pc:docMk/>
            <pc:sldMk cId="0" sldId="261"/>
            <ac:picMk id="4" creationId="{F8C332A7-F4A9-5C29-5048-DB882F7E2CF3}"/>
          </ac:picMkLst>
        </pc:picChg>
      </pc:sldChg>
      <pc:sldChg chg="addSp delSp mod modNotes modNotesTx">
        <pc:chgData name="Lai, Wilson" userId="2840974a-0d84-4886-90a9-9a3ed79f3a48" providerId="ADAL" clId="{9F23B798-9E84-4552-BA63-E776E805C424}" dt="2026-08-30T13:48:55.062" v="76"/>
        <pc:sldMkLst>
          <pc:docMk/>
          <pc:sldMk cId="0" sldId="262"/>
        </pc:sldMkLst>
        <pc:picChg chg="del">
          <ac:chgData name="Lai, Wilson" userId="2840974a-0d84-4886-90a9-9a3ed79f3a48" providerId="ADAL" clId="{9F23B798-9E84-4552-BA63-E776E805C424}" dt="2026-08-30T06:22:41.075" v="18" actId="21"/>
          <ac:picMkLst>
            <pc:docMk/>
            <pc:sldMk cId="0" sldId="262"/>
            <ac:picMk id="2" creationId="{00000000-0000-0000-0000-000000000000}"/>
          </ac:picMkLst>
        </pc:picChg>
        <pc:picChg chg="add">
          <ac:chgData name="Lai, Wilson" userId="2840974a-0d84-4886-90a9-9a3ed79f3a48" providerId="ADAL" clId="{9F23B798-9E84-4552-BA63-E776E805C424}" dt="2026-08-30T06:22:48.968" v="19" actId="22"/>
          <ac:picMkLst>
            <pc:docMk/>
            <pc:sldMk cId="0" sldId="262"/>
            <ac:picMk id="4" creationId="{6916B450-3EEA-9198-3733-6B0F49DEABBF}"/>
          </ac:picMkLst>
        </pc:picChg>
      </pc:sldChg>
      <pc:sldChg chg="addSp delSp mod modNotes modNotesTx">
        <pc:chgData name="Lai, Wilson" userId="2840974a-0d84-4886-90a9-9a3ed79f3a48" providerId="ADAL" clId="{9F23B798-9E84-4552-BA63-E776E805C424}" dt="2026-08-30T13:48:55.062" v="76"/>
        <pc:sldMkLst>
          <pc:docMk/>
          <pc:sldMk cId="0" sldId="263"/>
        </pc:sldMkLst>
        <pc:picChg chg="del">
          <ac:chgData name="Lai, Wilson" userId="2840974a-0d84-4886-90a9-9a3ed79f3a48" providerId="ADAL" clId="{9F23B798-9E84-4552-BA63-E776E805C424}" dt="2026-08-30T06:22:52.068" v="20" actId="21"/>
          <ac:picMkLst>
            <pc:docMk/>
            <pc:sldMk cId="0" sldId="263"/>
            <ac:picMk id="2" creationId="{00000000-0000-0000-0000-000000000000}"/>
          </ac:picMkLst>
        </pc:picChg>
        <pc:picChg chg="add">
          <ac:chgData name="Lai, Wilson" userId="2840974a-0d84-4886-90a9-9a3ed79f3a48" providerId="ADAL" clId="{9F23B798-9E84-4552-BA63-E776E805C424}" dt="2026-08-30T06:23:14.286" v="21" actId="22"/>
          <ac:picMkLst>
            <pc:docMk/>
            <pc:sldMk cId="0" sldId="263"/>
            <ac:picMk id="4" creationId="{37FE10FD-81C4-C377-5CCA-4CAEF53B3EAF}"/>
          </ac:picMkLst>
        </pc:picChg>
      </pc:sldChg>
      <pc:sldChg chg="addSp delSp mod modNotes modNotesTx">
        <pc:chgData name="Lai, Wilson" userId="2840974a-0d84-4886-90a9-9a3ed79f3a48" providerId="ADAL" clId="{9F23B798-9E84-4552-BA63-E776E805C424}" dt="2026-08-30T13:48:55.062" v="76"/>
        <pc:sldMkLst>
          <pc:docMk/>
          <pc:sldMk cId="0" sldId="264"/>
        </pc:sldMkLst>
        <pc:picChg chg="del">
          <ac:chgData name="Lai, Wilson" userId="2840974a-0d84-4886-90a9-9a3ed79f3a48" providerId="ADAL" clId="{9F23B798-9E84-4552-BA63-E776E805C424}" dt="2026-08-30T06:23:18.338" v="22" actId="21"/>
          <ac:picMkLst>
            <pc:docMk/>
            <pc:sldMk cId="0" sldId="264"/>
            <ac:picMk id="2" creationId="{00000000-0000-0000-0000-000000000000}"/>
          </ac:picMkLst>
        </pc:picChg>
        <pc:picChg chg="add">
          <ac:chgData name="Lai, Wilson" userId="2840974a-0d84-4886-90a9-9a3ed79f3a48" providerId="ADAL" clId="{9F23B798-9E84-4552-BA63-E776E805C424}" dt="2026-08-30T06:24:35.473" v="23" actId="22"/>
          <ac:picMkLst>
            <pc:docMk/>
            <pc:sldMk cId="0" sldId="264"/>
            <ac:picMk id="4" creationId="{CE2A00C6-324B-92EE-2C78-34EE5A34F1D1}"/>
          </ac:picMkLst>
        </pc:picChg>
      </pc:sldChg>
      <pc:sldChg chg="addSp delSp mod modNotes modNotesTx">
        <pc:chgData name="Lai, Wilson" userId="2840974a-0d84-4886-90a9-9a3ed79f3a48" providerId="ADAL" clId="{9F23B798-9E84-4552-BA63-E776E805C424}" dt="2026-08-30T13:48:55.062" v="76"/>
        <pc:sldMkLst>
          <pc:docMk/>
          <pc:sldMk cId="0" sldId="265"/>
        </pc:sldMkLst>
        <pc:picChg chg="del">
          <ac:chgData name="Lai, Wilson" userId="2840974a-0d84-4886-90a9-9a3ed79f3a48" providerId="ADAL" clId="{9F23B798-9E84-4552-BA63-E776E805C424}" dt="2026-08-30T06:24:39.121" v="24" actId="21"/>
          <ac:picMkLst>
            <pc:docMk/>
            <pc:sldMk cId="0" sldId="265"/>
            <ac:picMk id="2" creationId="{00000000-0000-0000-0000-000000000000}"/>
          </ac:picMkLst>
        </pc:picChg>
        <pc:picChg chg="add">
          <ac:chgData name="Lai, Wilson" userId="2840974a-0d84-4886-90a9-9a3ed79f3a48" providerId="ADAL" clId="{9F23B798-9E84-4552-BA63-E776E805C424}" dt="2026-08-30T06:25:00.449" v="25" actId="22"/>
          <ac:picMkLst>
            <pc:docMk/>
            <pc:sldMk cId="0" sldId="265"/>
            <ac:picMk id="4" creationId="{AC4629FD-6099-64C6-2945-1BD73B9B9D00}"/>
          </ac:picMkLst>
        </pc:picChg>
      </pc:sldChg>
      <pc:sldChg chg="addSp delSp mod modNotes modNotesTx">
        <pc:chgData name="Lai, Wilson" userId="2840974a-0d84-4886-90a9-9a3ed79f3a48" providerId="ADAL" clId="{9F23B798-9E84-4552-BA63-E776E805C424}" dt="2026-08-30T13:48:55.062" v="76"/>
        <pc:sldMkLst>
          <pc:docMk/>
          <pc:sldMk cId="0" sldId="266"/>
        </pc:sldMkLst>
        <pc:picChg chg="del">
          <ac:chgData name="Lai, Wilson" userId="2840974a-0d84-4886-90a9-9a3ed79f3a48" providerId="ADAL" clId="{9F23B798-9E84-4552-BA63-E776E805C424}" dt="2026-08-30T06:25:05.639" v="26" actId="21"/>
          <ac:picMkLst>
            <pc:docMk/>
            <pc:sldMk cId="0" sldId="266"/>
            <ac:picMk id="2" creationId="{00000000-0000-0000-0000-000000000000}"/>
          </ac:picMkLst>
        </pc:picChg>
        <pc:picChg chg="add">
          <ac:chgData name="Lai, Wilson" userId="2840974a-0d84-4886-90a9-9a3ed79f3a48" providerId="ADAL" clId="{9F23B798-9E84-4552-BA63-E776E805C424}" dt="2026-08-30T06:25:18.099" v="27" actId="22"/>
          <ac:picMkLst>
            <pc:docMk/>
            <pc:sldMk cId="0" sldId="266"/>
            <ac:picMk id="4" creationId="{38EF3CA4-58BE-0B73-F860-FE2082CF399C}"/>
          </ac:picMkLst>
        </pc:picChg>
      </pc:sldChg>
      <pc:sldChg chg="addSp delSp mod modNotes modNotesTx">
        <pc:chgData name="Lai, Wilson" userId="2840974a-0d84-4886-90a9-9a3ed79f3a48" providerId="ADAL" clId="{9F23B798-9E84-4552-BA63-E776E805C424}" dt="2026-08-30T13:48:55.062" v="76"/>
        <pc:sldMkLst>
          <pc:docMk/>
          <pc:sldMk cId="0" sldId="267"/>
        </pc:sldMkLst>
        <pc:picChg chg="del">
          <ac:chgData name="Lai, Wilson" userId="2840974a-0d84-4886-90a9-9a3ed79f3a48" providerId="ADAL" clId="{9F23B798-9E84-4552-BA63-E776E805C424}" dt="2026-08-30T06:25:20.759" v="28" actId="21"/>
          <ac:picMkLst>
            <pc:docMk/>
            <pc:sldMk cId="0" sldId="267"/>
            <ac:picMk id="2" creationId="{00000000-0000-0000-0000-000000000000}"/>
          </ac:picMkLst>
        </pc:picChg>
        <pc:picChg chg="add">
          <ac:chgData name="Lai, Wilson" userId="2840974a-0d84-4886-90a9-9a3ed79f3a48" providerId="ADAL" clId="{9F23B798-9E84-4552-BA63-E776E805C424}" dt="2026-08-30T06:25:37.629" v="29" actId="22"/>
          <ac:picMkLst>
            <pc:docMk/>
            <pc:sldMk cId="0" sldId="267"/>
            <ac:picMk id="4" creationId="{1774E84E-A943-4596-324C-EF91964986BA}"/>
          </ac:picMkLst>
        </pc:picChg>
      </pc:sldChg>
      <pc:sldChg chg="addSp delSp mod modNotes modNotesTx">
        <pc:chgData name="Lai, Wilson" userId="2840974a-0d84-4886-90a9-9a3ed79f3a48" providerId="ADAL" clId="{9F23B798-9E84-4552-BA63-E776E805C424}" dt="2026-08-30T13:48:55.062" v="76"/>
        <pc:sldMkLst>
          <pc:docMk/>
          <pc:sldMk cId="0" sldId="268"/>
        </pc:sldMkLst>
        <pc:picChg chg="del">
          <ac:chgData name="Lai, Wilson" userId="2840974a-0d84-4886-90a9-9a3ed79f3a48" providerId="ADAL" clId="{9F23B798-9E84-4552-BA63-E776E805C424}" dt="2026-08-30T06:25:39.781" v="30" actId="21"/>
          <ac:picMkLst>
            <pc:docMk/>
            <pc:sldMk cId="0" sldId="268"/>
            <ac:picMk id="2" creationId="{00000000-0000-0000-0000-000000000000}"/>
          </ac:picMkLst>
        </pc:picChg>
        <pc:picChg chg="add">
          <ac:chgData name="Lai, Wilson" userId="2840974a-0d84-4886-90a9-9a3ed79f3a48" providerId="ADAL" clId="{9F23B798-9E84-4552-BA63-E776E805C424}" dt="2026-08-30T06:26:33.980" v="31" actId="22"/>
          <ac:picMkLst>
            <pc:docMk/>
            <pc:sldMk cId="0" sldId="268"/>
            <ac:picMk id="4" creationId="{A2CA311A-F8EE-ABCB-8D7A-FD314AEEFE03}"/>
          </ac:picMkLst>
        </pc:picChg>
      </pc:sldChg>
      <pc:sldChg chg="addSp delSp modSp mod modNotes modNotesTx">
        <pc:chgData name="Lai, Wilson" userId="2840974a-0d84-4886-90a9-9a3ed79f3a48" providerId="ADAL" clId="{9F23B798-9E84-4552-BA63-E776E805C424}" dt="2026-08-30T13:48:55.062" v="76"/>
        <pc:sldMkLst>
          <pc:docMk/>
          <pc:sldMk cId="0" sldId="269"/>
        </pc:sldMkLst>
        <pc:picChg chg="del mod">
          <ac:chgData name="Lai, Wilson" userId="2840974a-0d84-4886-90a9-9a3ed79f3a48" providerId="ADAL" clId="{9F23B798-9E84-4552-BA63-E776E805C424}" dt="2026-08-30T06:26:36.506" v="33" actId="21"/>
          <ac:picMkLst>
            <pc:docMk/>
            <pc:sldMk cId="0" sldId="269"/>
            <ac:picMk id="2" creationId="{00000000-0000-0000-0000-000000000000}"/>
          </ac:picMkLst>
        </pc:picChg>
        <pc:picChg chg="add">
          <ac:chgData name="Lai, Wilson" userId="2840974a-0d84-4886-90a9-9a3ed79f3a48" providerId="ADAL" clId="{9F23B798-9E84-4552-BA63-E776E805C424}" dt="2026-08-30T06:26:52.391" v="34" actId="22"/>
          <ac:picMkLst>
            <pc:docMk/>
            <pc:sldMk cId="0" sldId="269"/>
            <ac:picMk id="4" creationId="{46FAA43B-5378-5B95-62F9-3A517642E158}"/>
          </ac:picMkLst>
        </pc:picChg>
      </pc:sldChg>
      <pc:sldChg chg="addSp delSp mod modNotes modNotesTx">
        <pc:chgData name="Lai, Wilson" userId="2840974a-0d84-4886-90a9-9a3ed79f3a48" providerId="ADAL" clId="{9F23B798-9E84-4552-BA63-E776E805C424}" dt="2026-08-30T13:48:55.062" v="76"/>
        <pc:sldMkLst>
          <pc:docMk/>
          <pc:sldMk cId="0" sldId="270"/>
        </pc:sldMkLst>
        <pc:picChg chg="del">
          <ac:chgData name="Lai, Wilson" userId="2840974a-0d84-4886-90a9-9a3ed79f3a48" providerId="ADAL" clId="{9F23B798-9E84-4552-BA63-E776E805C424}" dt="2026-08-30T06:26:56.260" v="35" actId="21"/>
          <ac:picMkLst>
            <pc:docMk/>
            <pc:sldMk cId="0" sldId="270"/>
            <ac:picMk id="2" creationId="{00000000-0000-0000-0000-000000000000}"/>
          </ac:picMkLst>
        </pc:picChg>
        <pc:picChg chg="add">
          <ac:chgData name="Lai, Wilson" userId="2840974a-0d84-4886-90a9-9a3ed79f3a48" providerId="ADAL" clId="{9F23B798-9E84-4552-BA63-E776E805C424}" dt="2026-08-30T06:27:18.348" v="36" actId="22"/>
          <ac:picMkLst>
            <pc:docMk/>
            <pc:sldMk cId="0" sldId="270"/>
            <ac:picMk id="4" creationId="{4AB5DD35-9C26-27CA-4A3F-E1A545993C0C}"/>
          </ac:picMkLst>
        </pc:picChg>
      </pc:sldChg>
      <pc:sldChg chg="addSp delSp mod modNotes modNotesTx">
        <pc:chgData name="Lai, Wilson" userId="2840974a-0d84-4886-90a9-9a3ed79f3a48" providerId="ADAL" clId="{9F23B798-9E84-4552-BA63-E776E805C424}" dt="2026-08-30T13:48:55.062" v="76"/>
        <pc:sldMkLst>
          <pc:docMk/>
          <pc:sldMk cId="0" sldId="271"/>
        </pc:sldMkLst>
        <pc:picChg chg="del">
          <ac:chgData name="Lai, Wilson" userId="2840974a-0d84-4886-90a9-9a3ed79f3a48" providerId="ADAL" clId="{9F23B798-9E84-4552-BA63-E776E805C424}" dt="2026-08-30T06:27:21.459" v="37" actId="21"/>
          <ac:picMkLst>
            <pc:docMk/>
            <pc:sldMk cId="0" sldId="271"/>
            <ac:picMk id="2" creationId="{00000000-0000-0000-0000-000000000000}"/>
          </ac:picMkLst>
        </pc:picChg>
        <pc:picChg chg="add">
          <ac:chgData name="Lai, Wilson" userId="2840974a-0d84-4886-90a9-9a3ed79f3a48" providerId="ADAL" clId="{9F23B798-9E84-4552-BA63-E776E805C424}" dt="2026-08-30T06:27:33.963" v="38" actId="22"/>
          <ac:picMkLst>
            <pc:docMk/>
            <pc:sldMk cId="0" sldId="271"/>
            <ac:picMk id="4" creationId="{4FF1256A-6647-9E90-D984-F146EF76ED3C}"/>
          </ac:picMkLst>
        </pc:picChg>
      </pc:sldChg>
      <pc:sldChg chg="modNotes modNotesTx">
        <pc:chgData name="Lai, Wilson" userId="2840974a-0d84-4886-90a9-9a3ed79f3a48" providerId="ADAL" clId="{9F23B798-9E84-4552-BA63-E776E805C424}" dt="2026-08-30T13:48:55.062" v="76"/>
        <pc:sldMkLst>
          <pc:docMk/>
          <pc:sldMk cId="2328788585"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F2D18-8249-4ADC-990B-CD296E7387C9}"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96091-10D5-4FC6-85CD-A79FADCA69F3}" type="slidenum">
              <a:rPr lang="en-US" smtClean="0"/>
              <a:t>‹#›</a:t>
            </a:fld>
            <a:endParaRPr lang="en-US"/>
          </a:p>
        </p:txBody>
      </p:sp>
    </p:spTree>
    <p:extLst>
      <p:ext uri="{BB962C8B-B14F-4D97-AF65-F5344CB8AC3E}">
        <p14:creationId xmlns:p14="http://schemas.microsoft.com/office/powerpoint/2010/main" val="1319683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Hook:</a:t>
            </a:r>
            <a:endParaRPr lang="en-US" dirty="0"/>
          </a:p>
          <a:p>
            <a:pPr lvl="0"/>
            <a:r>
              <a:rPr lang="en-US" dirty="0"/>
              <a:t>Welcome, everyone. Today, we are going to look behind the curtain of what is currently touted as the greatest technological shift of our generation. The tech industry and Wall Street tell us that Generative AI is an unstoppable revolution. However, when you look past the slick marketing and examine the core math, a different picture emerges: Generative AI operates like a circular economy that is structurally destined to collapse by 2027.</a:t>
            </a:r>
          </a:p>
          <a:p>
            <a:pPr lvl="0"/>
            <a:r>
              <a:rPr lang="en-US" b="1" dirty="0"/>
              <a:t>Core Talking Points:</a:t>
            </a:r>
            <a:endParaRPr lang="en-US" dirty="0"/>
          </a:p>
          <a:p>
            <a:pPr marL="228600" lvl="0" indent="-228600">
              <a:buFont typeface="+mj-lt"/>
              <a:buAutoNum type="arabicPeriod"/>
            </a:pPr>
            <a:r>
              <a:rPr lang="en-US" b="1" dirty="0"/>
              <a:t>The Product:</a:t>
            </a:r>
            <a:r>
              <a:rPr lang="en-US" dirty="0"/>
              <a:t> Sold as 'magic' and Artificial General Intelligence (AGI), but at its core, it remains a probabilistic, unreliable 'half-assed answering machine' that hallucinates and degrades the digital ecosystem.</a:t>
            </a:r>
          </a:p>
          <a:p>
            <a:pPr marL="228600" lvl="0" indent="-228600">
              <a:buFont typeface="+mj-lt"/>
              <a:buAutoNum type="arabicPeriod"/>
            </a:pPr>
            <a:r>
              <a:rPr lang="en-US" b="1" dirty="0"/>
              <a:t>The Economics:</a:t>
            </a:r>
            <a:r>
              <a:rPr lang="en-US" dirty="0"/>
              <a:t> We are witnessing the largest non-consensual push of consumer technology in history. Adoption is forced and heavily subsidized to mask catastrophic unit economics.</a:t>
            </a:r>
          </a:p>
          <a:p>
            <a:pPr marL="228600" lvl="0" indent="-228600">
              <a:buFont typeface="+mj-lt"/>
              <a:buAutoNum type="arabicPeriod"/>
            </a:pPr>
            <a:r>
              <a:rPr lang="en-US" b="1" dirty="0"/>
              <a:t>The Macro Reality:</a:t>
            </a:r>
            <a:r>
              <a:rPr lang="en-US" dirty="0"/>
              <a:t> The industry’s financial growth is not driven by real, organic market demand, but by Big Tech funding unviable AI labs to simulate hyper-growth and inflate valuation metrics.</a:t>
            </a:r>
          </a:p>
          <a:p>
            <a:pPr lvl="0"/>
            <a:r>
              <a:rPr lang="en-US" b="1" dirty="0"/>
              <a:t>Key Takeaway:</a:t>
            </a:r>
            <a:endParaRPr lang="en-US" dirty="0"/>
          </a:p>
          <a:p>
            <a:pPr lvl="0"/>
            <a:r>
              <a:rPr lang="en-US" dirty="0"/>
              <a:t>This presentation will break down the mechanics of this bubble—from token-level unit economics to macro-level capital expenditures—and demonstrate why the current AI cycle is financially unsustainable.</a:t>
            </a:r>
          </a:p>
          <a:p>
            <a:endParaRPr lang="en-US" dirty="0"/>
          </a:p>
          <a:p>
            <a:endParaRPr lang="en-US" dirty="0"/>
          </a:p>
          <a:p>
            <a:r>
              <a:rPr lang="en-US" dirty="0"/>
              <a:t>https://www.youtube.com/watch?v=Lf5oqGOCRCM</a:t>
            </a:r>
          </a:p>
        </p:txBody>
      </p:sp>
      <p:sp>
        <p:nvSpPr>
          <p:cNvPr id="4" name="Slide Number Placeholder 3"/>
          <p:cNvSpPr>
            <a:spLocks noGrp="1"/>
          </p:cNvSpPr>
          <p:nvPr>
            <p:ph type="sldNum" sz="quarter" idx="5"/>
          </p:nvPr>
        </p:nvSpPr>
        <p:spPr/>
        <p:txBody>
          <a:bodyPr/>
          <a:lstStyle/>
          <a:p>
            <a:fld id="{F62FDE7D-595E-40E6-A30F-7FDE348B76DA}" type="slidenum">
              <a:rPr lang="en-US" smtClean="0"/>
              <a:t>1</a:t>
            </a:fld>
            <a:endParaRPr lang="en-US"/>
          </a:p>
        </p:txBody>
      </p:sp>
    </p:spTree>
    <p:extLst>
      <p:ext uri="{BB962C8B-B14F-4D97-AF65-F5344CB8AC3E}">
        <p14:creationId xmlns:p14="http://schemas.microsoft.com/office/powerpoint/2010/main" val="234856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There is a massive gap between what the AI industry promises to investors and what the software delivers in practice.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Pitch 1: Universal Intelligence / AGI</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LLMs are sophisticated autocomplete engines. They do not 'know' facts; they predict the next token probabilistically. Furthermore, performance improvements are hitting severe diminishing returns, masked primarily by tailored or rigged benchmarks.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Pitch 2: Complete Automation of White-Collar Labor</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Economic data reveals zero correlation between corporate AI token spend and an increase in revenue per employee. Rather than replacing workers, it often acts as a Dunning-Kruger multiplier—giving overconfident users low-quality output that requires manual correction.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Pitch 3: Autonomous AI Agents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Edge-case failure rates remain unacceptably high for mission-critical enterprise workflows. Getting agents to perform basic tasks requires a complex 'Rube Goldberg machine' of prompts, guardrails, and secondary checkers just to mitigate hallucinations.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'magic' of AI is held together by marketing hype and prompt engineering workarounds rather than fundamental scientific breakthroughs in reasoning.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2</a:t>
            </a:fld>
            <a:endParaRPr lang="en-US"/>
          </a:p>
        </p:txBody>
      </p:sp>
    </p:spTree>
    <p:extLst>
      <p:ext uri="{BB962C8B-B14F-4D97-AF65-F5344CB8AC3E}">
        <p14:creationId xmlns:p14="http://schemas.microsoft.com/office/powerpoint/2010/main" val="3267370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Let’s examine the underlying cost structure. The subscription price tag you see on consumer platforms is an illusion.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The Surface vs. Subsurface Pricing:</a:t>
            </a:r>
            <a:endParaRPr lang="en-US" sz="1200" kern="1200" dirty="0">
              <a:solidFill>
                <a:schemeClr val="tx1"/>
              </a:solidFill>
              <a:effectLst/>
              <a:latin typeface="+mn-lt"/>
              <a:ea typeface="+mn-ea"/>
              <a:cs typeface="+mn-cs"/>
            </a:endParaRPr>
          </a:p>
          <a:p>
            <a:pPr marL="628650" lvl="1" indent="-171450" algn="l">
              <a:buFont typeface="Arial" panose="020B0604020202020204" pitchFamily="34" charset="0"/>
              <a:buChar char="•"/>
            </a:pPr>
            <a:r>
              <a:rPr lang="en-US" sz="1200" kern="1200" dirty="0">
                <a:solidFill>
                  <a:schemeClr val="tx1"/>
                </a:solidFill>
                <a:effectLst/>
                <a:latin typeface="+mn-lt"/>
                <a:ea typeface="+mn-ea"/>
                <a:cs typeface="+mn-cs"/>
              </a:rPr>
              <a:t>A typical consumer pays </a:t>
            </a:r>
            <a:r>
              <a:rPr lang="en-US" sz="1200" b="1" kern="1200" dirty="0">
                <a:solidFill>
                  <a:schemeClr val="tx1"/>
                </a:solidFill>
                <a:effectLst/>
                <a:latin typeface="+mn-lt"/>
                <a:ea typeface="+mn-ea"/>
                <a:cs typeface="+mn-cs"/>
              </a:rPr>
              <a:t>$20/month</a:t>
            </a:r>
            <a:r>
              <a:rPr lang="en-US" sz="1200" kern="1200" dirty="0">
                <a:solidFill>
                  <a:schemeClr val="tx1"/>
                </a:solidFill>
                <a:effectLst/>
                <a:latin typeface="+mn-lt"/>
                <a:ea typeface="+mn-ea"/>
                <a:cs typeface="+mn-cs"/>
              </a:rPr>
              <a:t> for a subscription like ChatGPT Plus or Claude Pro. </a:t>
            </a:r>
          </a:p>
          <a:p>
            <a:pPr marL="628650" lvl="1" indent="-171450" algn="l">
              <a:buFont typeface="Arial" panose="020B0604020202020204" pitchFamily="34" charset="0"/>
              <a:buChar char="•"/>
            </a:pPr>
            <a:r>
              <a:rPr lang="en-US" sz="1200" kern="1200" dirty="0">
                <a:solidFill>
                  <a:schemeClr val="tx1"/>
                </a:solidFill>
                <a:effectLst/>
                <a:latin typeface="+mn-lt"/>
                <a:ea typeface="+mn-ea"/>
                <a:cs typeface="+mn-cs"/>
              </a:rPr>
              <a:t>However, heavy usage on a $20/month tier can burn up to </a:t>
            </a:r>
            <a:r>
              <a:rPr lang="en-US" sz="1200" b="1" kern="1200" dirty="0">
                <a:solidFill>
                  <a:schemeClr val="tx1"/>
                </a:solidFill>
                <a:effectLst/>
                <a:latin typeface="+mn-lt"/>
                <a:ea typeface="+mn-ea"/>
                <a:cs typeface="+mn-cs"/>
              </a:rPr>
              <a:t>$400 in API compute costs</a:t>
            </a:r>
            <a:r>
              <a:rPr lang="en-US" sz="1200" kern="1200" dirty="0">
                <a:solidFill>
                  <a:schemeClr val="tx1"/>
                </a:solidFill>
                <a:effectLst/>
                <a:latin typeface="+mn-lt"/>
                <a:ea typeface="+mn-ea"/>
                <a:cs typeface="+mn-cs"/>
              </a:rPr>
              <a:t>. </a:t>
            </a:r>
          </a:p>
          <a:p>
            <a:pPr marL="628650" lvl="1" indent="-171450" algn="l">
              <a:buFont typeface="Arial" panose="020B0604020202020204" pitchFamily="34" charset="0"/>
              <a:buChar char="•"/>
            </a:pPr>
            <a:r>
              <a:rPr lang="en-US" sz="1200" kern="1200" dirty="0">
                <a:solidFill>
                  <a:schemeClr val="tx1"/>
                </a:solidFill>
                <a:effectLst/>
                <a:latin typeface="+mn-lt"/>
                <a:ea typeface="+mn-ea"/>
                <a:cs typeface="+mn-cs"/>
              </a:rPr>
              <a:t>For enterprise power users on $200/month tiers, token processing costs can escalate up to </a:t>
            </a:r>
            <a:r>
              <a:rPr lang="en-US" sz="1200" b="1" kern="1200" dirty="0">
                <a:solidFill>
                  <a:schemeClr val="tx1"/>
                </a:solidFill>
                <a:effectLst/>
                <a:latin typeface="+mn-lt"/>
                <a:ea typeface="+mn-ea"/>
                <a:cs typeface="+mn-cs"/>
              </a:rPr>
              <a:t>$14,000</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Artificial Demand:</a:t>
            </a:r>
            <a:endParaRPr lang="en-US" sz="1200" kern="1200" dirty="0">
              <a:solidFill>
                <a:schemeClr val="tx1"/>
              </a:solidFill>
              <a:effectLst/>
              <a:latin typeface="+mn-lt"/>
              <a:ea typeface="+mn-ea"/>
              <a:cs typeface="+mn-cs"/>
            </a:endParaRPr>
          </a:p>
          <a:p>
            <a:pPr marL="628650" lvl="1" indent="-171450" algn="l">
              <a:buFont typeface="Arial" panose="020B0604020202020204" pitchFamily="34" charset="0"/>
              <a:buChar char="•"/>
            </a:pPr>
            <a:r>
              <a:rPr lang="en-US" sz="1200" kern="1200" dirty="0">
                <a:solidFill>
                  <a:schemeClr val="tx1"/>
                </a:solidFill>
                <a:effectLst/>
                <a:latin typeface="+mn-lt"/>
                <a:ea typeface="+mn-ea"/>
                <a:cs typeface="+mn-cs"/>
              </a:rPr>
              <a:t>The massive user adoption rates highlighted by AI companies are purely subsidized. </a:t>
            </a:r>
          </a:p>
          <a:p>
            <a:pPr marL="628650" lvl="1" indent="-171450" algn="l">
              <a:buFont typeface="Arial" panose="020B0604020202020204" pitchFamily="34" charset="0"/>
              <a:buChar char="•"/>
            </a:pPr>
            <a:r>
              <a:rPr lang="en-US" sz="1200" kern="1200" dirty="0">
                <a:solidFill>
                  <a:schemeClr val="tx1"/>
                </a:solidFill>
                <a:effectLst/>
                <a:latin typeface="+mn-lt"/>
                <a:ea typeface="+mn-ea"/>
                <a:cs typeface="+mn-cs"/>
              </a:rPr>
              <a:t>If AI companies charged enterprise clients or retail users the true per-million-token cost required to break even on compute and hardware depreciation, user adoption would drop significantly.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Generative AI adoption is artificial. The tech sector is losing money on every query to simulate hyper-adoption.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3</a:t>
            </a:fld>
            <a:endParaRPr lang="en-US"/>
          </a:p>
        </p:txBody>
      </p:sp>
    </p:spTree>
    <p:extLst>
      <p:ext uri="{BB962C8B-B14F-4D97-AF65-F5344CB8AC3E}">
        <p14:creationId xmlns:p14="http://schemas.microsoft.com/office/powerpoint/2010/main" val="3011618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the economics are broken, is the technology at least improving our productivity? The evidence shows the opposite: a three-step cycle of digital degradation.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Step 1: AI-Assisted Coding:</a:t>
            </a:r>
            <a:r>
              <a:rPr lang="en-US" sz="1200" kern="1200" dirty="0">
                <a:solidFill>
                  <a:schemeClr val="tx1"/>
                </a:solidFill>
                <a:effectLst/>
                <a:latin typeface="+mn-lt"/>
                <a:ea typeface="+mn-ea"/>
                <a:cs typeface="+mn-cs"/>
              </a:rPr>
              <a:t> Developers rely heavily on AI code generators, pushing vast amounts of boilerplate code to repositories. This floods codebases with subtle bugs and architectural flaws, leading to increased software downtime. </a:t>
            </a:r>
          </a:p>
          <a:p>
            <a:pPr marL="228600" lvl="0" indent="-228600">
              <a:buFont typeface="+mj-lt"/>
              <a:buAutoNum type="arabicPeriod"/>
            </a:pPr>
            <a:r>
              <a:rPr lang="en-US" sz="1200" b="1" kern="1200" dirty="0">
                <a:solidFill>
                  <a:schemeClr val="tx1"/>
                </a:solidFill>
                <a:effectLst/>
                <a:latin typeface="+mn-lt"/>
                <a:ea typeface="+mn-ea"/>
                <a:cs typeface="+mn-cs"/>
              </a:rPr>
              <a:t>Step 2: Search Degradation:</a:t>
            </a:r>
            <a:r>
              <a:rPr lang="en-US" sz="1200" kern="1200" dirty="0">
                <a:solidFill>
                  <a:schemeClr val="tx1"/>
                </a:solidFill>
                <a:effectLst/>
                <a:latin typeface="+mn-lt"/>
                <a:ea typeface="+mn-ea"/>
                <a:cs typeface="+mn-cs"/>
              </a:rPr>
              <a:t> Platforms like Google prioritize generated answers over routing web traffic. This incentivizes low-cost 'SEO slop,' filling the web with synthetic, median-quality content that degrades future training data. </a:t>
            </a:r>
          </a:p>
          <a:p>
            <a:pPr marL="228600" lvl="0" indent="-228600">
              <a:buFont typeface="+mj-lt"/>
              <a:buAutoNum type="arabicPeriod"/>
            </a:pPr>
            <a:r>
              <a:rPr lang="en-US" sz="1200" b="1" kern="1200" dirty="0">
                <a:solidFill>
                  <a:schemeClr val="tx1"/>
                </a:solidFill>
                <a:effectLst/>
                <a:latin typeface="+mn-lt"/>
                <a:ea typeface="+mn-ea"/>
                <a:cs typeface="+mn-cs"/>
              </a:rPr>
              <a:t>Step 3: The Productivity Paradox:</a:t>
            </a:r>
            <a:r>
              <a:rPr lang="en-US" sz="1200" kern="1200" dirty="0">
                <a:solidFill>
                  <a:schemeClr val="tx1"/>
                </a:solidFill>
                <a:effectLst/>
                <a:latin typeface="+mn-lt"/>
                <a:ea typeface="+mn-ea"/>
                <a:cs typeface="+mn-cs"/>
              </a:rPr>
              <a:t> Workers spend significant time fact-checking, editing, and troubleshooting AI-generated slop. A real-world example includes financial platforms like Bloomberg BQL hallucinating stock metrics (e.g., pricing Microsoft at $575).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tools often generate extra work under the guise of productivity, creating a loop where humans clean up after machine-generated mistakes.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4</a:t>
            </a:fld>
            <a:endParaRPr lang="en-US"/>
          </a:p>
        </p:txBody>
      </p:sp>
    </p:spTree>
    <p:extLst>
      <p:ext uri="{BB962C8B-B14F-4D97-AF65-F5344CB8AC3E}">
        <p14:creationId xmlns:p14="http://schemas.microsoft.com/office/powerpoint/2010/main" val="3651168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you step back from product metrics and look at corporate balance sheets, the math fails completely.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Infrastructure Overshoot: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Over </a:t>
            </a:r>
            <a:r>
              <a:rPr lang="en-US" sz="1200" b="1" kern="1200" dirty="0">
                <a:solidFill>
                  <a:schemeClr val="tx1"/>
                </a:solidFill>
                <a:effectLst/>
                <a:latin typeface="+mn-lt"/>
                <a:ea typeface="+mn-ea"/>
                <a:cs typeface="+mn-cs"/>
              </a:rPr>
              <a:t>$1 Trillion in Capital Expenditures (Capex)</a:t>
            </a:r>
            <a:r>
              <a:rPr lang="en-US" sz="1200" kern="1200" dirty="0">
                <a:solidFill>
                  <a:schemeClr val="tx1"/>
                </a:solidFill>
                <a:effectLst/>
                <a:latin typeface="+mn-lt"/>
                <a:ea typeface="+mn-ea"/>
                <a:cs typeface="+mn-cs"/>
              </a:rPr>
              <a:t> is being poured into data center construction and GPU clusters. Microsoft alone spent $115 billion in Capex to support this buildout.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Revenue Deficit: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Total organic, non-Big-Tech-subsidized AI software revenue globally sits at roughly </a:t>
            </a:r>
            <a:r>
              <a:rPr lang="en-US" sz="1200" b="1" kern="1200" dirty="0">
                <a:solidFill>
                  <a:schemeClr val="tx1"/>
                </a:solidFill>
                <a:effectLst/>
                <a:latin typeface="+mn-lt"/>
                <a:ea typeface="+mn-ea"/>
                <a:cs typeface="+mn-cs"/>
              </a:rPr>
              <a:t>~$22 Billion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Accounting Tricks: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 FY2026, Microsoft reported ~$34.33 billion in AI-related revenue. However, </a:t>
            </a:r>
            <a:r>
              <a:rPr lang="en-US" sz="1200" b="1" kern="1200" dirty="0">
                <a:solidFill>
                  <a:schemeClr val="tx1"/>
                </a:solidFill>
                <a:effectLst/>
                <a:latin typeface="+mn-lt"/>
                <a:ea typeface="+mn-ea"/>
                <a:cs typeface="+mn-cs"/>
              </a:rPr>
              <a:t>$24.1 billion</a:t>
            </a:r>
            <a:r>
              <a:rPr lang="en-US" sz="1200" kern="1200" dirty="0">
                <a:solidFill>
                  <a:schemeClr val="tx1"/>
                </a:solidFill>
                <a:effectLst/>
                <a:latin typeface="+mn-lt"/>
                <a:ea typeface="+mn-ea"/>
                <a:cs typeface="+mn-cs"/>
              </a:rPr>
              <a:t> of that revenue was paid directly to Microsoft by OpenAI—money that came from Microsoft’s own previous cash injections.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There is no organic end-user demand capable of servicing a trillion-dollar capital expenditure bill.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5</a:t>
            </a:fld>
            <a:endParaRPr lang="en-US"/>
          </a:p>
        </p:txBody>
      </p:sp>
    </p:spTree>
    <p:extLst>
      <p:ext uri="{BB962C8B-B14F-4D97-AF65-F5344CB8AC3E}">
        <p14:creationId xmlns:p14="http://schemas.microsoft.com/office/powerpoint/2010/main" val="2064760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 do tech giants report record AI growth when end-user adoption doesn't yield high returns? Through a circular financial loop.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(Funding):</a:t>
            </a:r>
            <a:r>
              <a:rPr lang="en-US" sz="1200" kern="1200" dirty="0">
                <a:solidFill>
                  <a:schemeClr val="tx1"/>
                </a:solidFill>
                <a:effectLst/>
                <a:latin typeface="+mn-lt"/>
                <a:ea typeface="+mn-ea"/>
                <a:cs typeface="+mn-cs"/>
              </a:rPr>
              <a:t> Tech giants like Microsoft, Amazon, and Google funnel billions of dollars into AI start-ups like OpenAI and Anthropic under the heading of 'strategic investments'.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(Forced Recirculation):</a:t>
            </a:r>
            <a:r>
              <a:rPr lang="en-US" sz="1200" kern="1200" dirty="0">
                <a:solidFill>
                  <a:schemeClr val="tx1"/>
                </a:solidFill>
                <a:effectLst/>
                <a:latin typeface="+mn-lt"/>
                <a:ea typeface="+mn-ea"/>
                <a:cs typeface="+mn-cs"/>
              </a:rPr>
              <a:t> As a condition of these investments, OpenAI and Anthropic are contractually obligated to spend those funds on cloud infrastructure provided by Microsoft Azure, AWS, and Google Cloud.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(Revenue Recognition):</a:t>
            </a:r>
            <a:r>
              <a:rPr lang="en-US" sz="1200" kern="1200" dirty="0">
                <a:solidFill>
                  <a:schemeClr val="tx1"/>
                </a:solidFill>
                <a:effectLst/>
                <a:latin typeface="+mn-lt"/>
                <a:ea typeface="+mn-ea"/>
                <a:cs typeface="+mn-cs"/>
              </a:rPr>
              <a:t> Cloud providers report these cloud compute purchases to Wall Street as genuine 'AI Cloud Revenue Growth,' pushing their stock valuations higher.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4 (GPU Pumping):</a:t>
            </a:r>
            <a:r>
              <a:rPr lang="en-US" sz="1200" kern="1200" dirty="0">
                <a:solidFill>
                  <a:schemeClr val="tx1"/>
                </a:solidFill>
                <a:effectLst/>
                <a:latin typeface="+mn-lt"/>
                <a:ea typeface="+mn-ea"/>
                <a:cs typeface="+mn-cs"/>
              </a:rPr>
              <a:t> Cloud providers use these reported revenues to purchase hardware from Nvidia, boosting Nvidia’s earnings and market cap.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An estimated </a:t>
            </a:r>
            <a:r>
              <a:rPr lang="en-US" sz="1200" b="1" kern="1200" dirty="0">
                <a:solidFill>
                  <a:schemeClr val="tx1"/>
                </a:solidFill>
                <a:effectLst/>
                <a:latin typeface="+mn-lt"/>
                <a:ea typeface="+mn-ea"/>
                <a:cs typeface="+mn-cs"/>
              </a:rPr>
              <a:t>70% of AI cloud revenues</a:t>
            </a:r>
            <a:r>
              <a:rPr lang="en-US" sz="1200" kern="1200" dirty="0">
                <a:solidFill>
                  <a:schemeClr val="tx1"/>
                </a:solidFill>
                <a:effectLst/>
                <a:latin typeface="+mn-lt"/>
                <a:ea typeface="+mn-ea"/>
                <a:cs typeface="+mn-cs"/>
              </a:rPr>
              <a:t> are simply Big Tech cycling its own capital through proxy companies to manufacture the appearance of market demand.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6</a:t>
            </a:fld>
            <a:endParaRPr lang="en-US"/>
          </a:p>
        </p:txBody>
      </p:sp>
    </p:spTree>
    <p:extLst>
      <p:ext uri="{BB962C8B-B14F-4D97-AF65-F5344CB8AC3E}">
        <p14:creationId xmlns:p14="http://schemas.microsoft.com/office/powerpoint/2010/main" val="2755551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proponents argue that scale will resolve these issues. However, scaling laws are running into real physical and economic limits.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Hardware &amp; Cost Ceiling:</a:t>
            </a:r>
            <a:r>
              <a:rPr lang="en-US" sz="1200" kern="1200" dirty="0">
                <a:solidFill>
                  <a:schemeClr val="tx1"/>
                </a:solidFill>
                <a:effectLst/>
                <a:latin typeface="+mn-lt"/>
                <a:ea typeface="+mn-ea"/>
                <a:cs typeface="+mn-cs"/>
              </a:rPr>
              <a:t> Unlike traditional software or consumer electronics, there is no technical roadmap for exponential cost reductions in running large language model inference.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Data Wall:</a:t>
            </a:r>
            <a:r>
              <a:rPr lang="en-US" sz="1200" kern="1200" dirty="0">
                <a:solidFill>
                  <a:schemeClr val="tx1"/>
                </a:solidFill>
                <a:effectLst/>
                <a:latin typeface="+mn-lt"/>
                <a:ea typeface="+mn-ea"/>
                <a:cs typeface="+mn-cs"/>
              </a:rPr>
              <a:t> AI models have consumed the majority of high-quality human text on the internet. Achieving marginal improvements now requires exponentially larger amounts of compute, power, and synthetic data.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False Equivalence with Traditional Software:</a:t>
            </a:r>
            <a:r>
              <a:rPr lang="en-US" sz="1200" kern="1200" dirty="0">
                <a:solidFill>
                  <a:schemeClr val="tx1"/>
                </a:solidFill>
                <a:effectLst/>
                <a:latin typeface="+mn-lt"/>
                <a:ea typeface="+mn-ea"/>
                <a:cs typeface="+mn-cs"/>
              </a:rPr>
              <a:t> Traditional Software as a Service (SaaS) scales with near-zero marginal cost per additional user. Generative AI requires continuous, high-cost electricity and hardware compute for every single token generated.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Marketing promises project an exponential growth curve, but actual model capability is plateauing while marginal operational costs remain flat or rise.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7</a:t>
            </a:fld>
            <a:endParaRPr lang="en-US"/>
          </a:p>
        </p:txBody>
      </p:sp>
    </p:spTree>
    <p:extLst>
      <p:ext uri="{BB962C8B-B14F-4D97-AF65-F5344CB8AC3E}">
        <p14:creationId xmlns:p14="http://schemas.microsoft.com/office/powerpoint/2010/main" val="3836234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resource footprint required to power these models is historically unprecedented relative to the economic value generated.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Comparison of Scale: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City of Bristol:</a:t>
            </a:r>
            <a:r>
              <a:rPr lang="en-US" sz="1200" kern="1200" dirty="0">
                <a:solidFill>
                  <a:schemeClr val="tx1"/>
                </a:solidFill>
                <a:effectLst/>
                <a:latin typeface="+mn-lt"/>
                <a:ea typeface="+mn-ea"/>
                <a:cs typeface="+mn-cs"/>
              </a:rPr>
              <a:t> Spans </a:t>
            </a:r>
            <a:r>
              <a:rPr lang="en-US" sz="1200" b="1" kern="1200" dirty="0">
                <a:solidFill>
                  <a:schemeClr val="tx1"/>
                </a:solidFill>
                <a:effectLst/>
                <a:latin typeface="+mn-lt"/>
                <a:ea typeface="+mn-ea"/>
                <a:cs typeface="+mn-cs"/>
              </a:rPr>
              <a:t>1.2 billion sq. ft.</a:t>
            </a:r>
            <a:r>
              <a:rPr lang="en-US" sz="1200" kern="1200" dirty="0">
                <a:solidFill>
                  <a:schemeClr val="tx1"/>
                </a:solidFill>
                <a:effectLst/>
                <a:latin typeface="+mn-lt"/>
                <a:ea typeface="+mn-ea"/>
                <a:cs typeface="+mn-cs"/>
              </a:rPr>
              <a:t> and consumes roughly </a:t>
            </a:r>
            <a:r>
              <a:rPr lang="en-US" sz="1200" b="1" kern="1200" dirty="0">
                <a:solidFill>
                  <a:schemeClr val="tx1"/>
                </a:solidFill>
                <a:effectLst/>
                <a:latin typeface="+mn-lt"/>
                <a:ea typeface="+mn-ea"/>
                <a:cs typeface="+mn-cs"/>
              </a:rPr>
              <a:t>7,800 MW</a:t>
            </a:r>
            <a:r>
              <a:rPr lang="en-US" sz="1200" kern="1200" dirty="0">
                <a:solidFill>
                  <a:schemeClr val="tx1"/>
                </a:solidFill>
                <a:effectLst/>
                <a:latin typeface="+mn-lt"/>
                <a:ea typeface="+mn-ea"/>
                <a:cs typeface="+mn-cs"/>
              </a:rPr>
              <a:t> of power annually to support a population of hundreds of thousands.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Stargate Abilene Facility (Texas):</a:t>
            </a:r>
            <a:r>
              <a:rPr lang="en-US" sz="1200" kern="1200" dirty="0">
                <a:solidFill>
                  <a:schemeClr val="tx1"/>
                </a:solidFill>
                <a:effectLst/>
                <a:latin typeface="+mn-lt"/>
                <a:ea typeface="+mn-ea"/>
                <a:cs typeface="+mn-cs"/>
              </a:rPr>
              <a:t> Covers just </a:t>
            </a:r>
            <a:r>
              <a:rPr lang="en-US" sz="1200" b="1" kern="1200" dirty="0">
                <a:solidFill>
                  <a:schemeClr val="tx1"/>
                </a:solidFill>
                <a:effectLst/>
                <a:latin typeface="+mn-lt"/>
                <a:ea typeface="+mn-ea"/>
                <a:cs typeface="+mn-cs"/>
              </a:rPr>
              <a:t>998,000 sq. ft.</a:t>
            </a:r>
            <a:r>
              <a:rPr lang="en-US" sz="1200" kern="1200" dirty="0">
                <a:solidFill>
                  <a:schemeClr val="tx1"/>
                </a:solidFill>
                <a:effectLst/>
                <a:latin typeface="+mn-lt"/>
                <a:ea typeface="+mn-ea"/>
                <a:cs typeface="+mn-cs"/>
              </a:rPr>
              <a:t> (1,172 times smaller in land footprint) yet demands </a:t>
            </a:r>
            <a:r>
              <a:rPr lang="en-US" sz="1200" b="1" kern="1200" dirty="0">
                <a:solidFill>
                  <a:schemeClr val="tx1"/>
                </a:solidFill>
                <a:effectLst/>
                <a:latin typeface="+mn-lt"/>
                <a:ea typeface="+mn-ea"/>
                <a:cs typeface="+mn-cs"/>
              </a:rPr>
              <a:t>1.2 Gigawatts (1,200 MW)</a:t>
            </a:r>
            <a:r>
              <a:rPr lang="en-US" sz="1200" kern="1200" dirty="0">
                <a:solidFill>
                  <a:schemeClr val="tx1"/>
                </a:solidFill>
                <a:effectLst/>
                <a:latin typeface="+mn-lt"/>
                <a:ea typeface="+mn-ea"/>
                <a:cs typeface="+mn-cs"/>
              </a:rPr>
              <a:t> of continuous annual power.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Resource Extraction:</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To meet these intense power requirements, tech companies are relying on dedicated gas turbines, delaying green energy targets, and consuming vast quantities of water for cooling—all to operate loss-making AI text and image tools.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physical cost of Generative AI is hyper-concentrated power consumption and environmental degradation for low-margin digital utilities.</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8</a:t>
            </a:fld>
            <a:endParaRPr lang="en-US"/>
          </a:p>
        </p:txBody>
      </p:sp>
    </p:spTree>
    <p:extLst>
      <p:ext uri="{BB962C8B-B14F-4D97-AF65-F5344CB8AC3E}">
        <p14:creationId xmlns:p14="http://schemas.microsoft.com/office/powerpoint/2010/main" val="418429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have seen a similar market dynamic before, but today's driver is structural stagnation in Big Tech core businesses.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Dot-Com Bubble (1999):</a:t>
            </a:r>
            <a:r>
              <a:rPr lang="en-US" sz="1200" kern="1200" dirty="0">
                <a:solidFill>
                  <a:schemeClr val="tx1"/>
                </a:solidFill>
                <a:effectLst/>
                <a:latin typeface="+mn-lt"/>
                <a:ea typeface="+mn-ea"/>
                <a:cs typeface="+mn-cs"/>
              </a:rPr>
              <a:t> Driven by low-interest rates and over-building dark fiber networks under the assumption that web traffic would immediately monetize. When demand lagged behind infrastructure, dark fiber sat unused, and the market corrected.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GPU Overbuild (2024–Present):</a:t>
            </a:r>
            <a:r>
              <a:rPr lang="en-US" sz="1200" kern="1200" dirty="0">
                <a:solidFill>
                  <a:schemeClr val="tx1"/>
                </a:solidFill>
                <a:effectLst/>
                <a:latin typeface="+mn-lt"/>
                <a:ea typeface="+mn-ea"/>
                <a:cs typeface="+mn-cs"/>
              </a:rPr>
              <a:t> Follows the end of Zero Interest Rate Policy (ZIRP). Big Tech companies ran low on novel organic growth avenues for their core search, e-commerce, and social media businesses. Buying GPUs and deploying AI features serves as 'corporate Botox'—an expensive injection to signal youth and growth to Wall Street.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spending is driven less by practical software demand and more by public companies trying to avoid single-digit growth valuations.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9</a:t>
            </a:fld>
            <a:endParaRPr lang="en-US"/>
          </a:p>
        </p:txBody>
      </p:sp>
    </p:spTree>
    <p:extLst>
      <p:ext uri="{BB962C8B-B14F-4D97-AF65-F5344CB8AC3E}">
        <p14:creationId xmlns:p14="http://schemas.microsoft.com/office/powerpoint/2010/main" val="2146862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startup losses meet public market capital demands, the timeline to a liquidity wall becomes tight. </a:t>
            </a:r>
          </a:p>
          <a:p>
            <a:pPr marL="0" lvl="0" indent="0">
              <a:buFont typeface="Arial" panose="020B0604020202020204" pitchFamily="34" charset="0"/>
              <a:buNone/>
            </a:pPr>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OpenAI’s Financial Reality:</a:t>
            </a:r>
            <a:r>
              <a:rPr lang="en-US" sz="1200" kern="1200" dirty="0">
                <a:solidFill>
                  <a:schemeClr val="tx1"/>
                </a:solidFill>
                <a:effectLst/>
                <a:latin typeface="+mn-lt"/>
                <a:ea typeface="+mn-ea"/>
                <a:cs typeface="+mn-cs"/>
              </a:rPr>
              <a:t> Reported an operating loss of </a:t>
            </a:r>
            <a:r>
              <a:rPr lang="en-US" sz="1200" b="1" kern="1200" dirty="0">
                <a:solidFill>
                  <a:schemeClr val="tx1"/>
                </a:solidFill>
                <a:effectLst/>
                <a:latin typeface="+mn-lt"/>
                <a:ea typeface="+mn-ea"/>
                <a:cs typeface="+mn-cs"/>
              </a:rPr>
              <a:t>-$20.9 Billion</a:t>
            </a:r>
            <a:r>
              <a:rPr lang="en-US" sz="1200" kern="1200" dirty="0">
                <a:solidFill>
                  <a:schemeClr val="tx1"/>
                </a:solidFill>
                <a:effectLst/>
                <a:latin typeface="+mn-lt"/>
                <a:ea typeface="+mn-ea"/>
                <a:cs typeface="+mn-cs"/>
              </a:rPr>
              <a:t> in the last fiscal year.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Capital Requirements:</a:t>
            </a:r>
            <a:r>
              <a:rPr lang="en-US" sz="1200" kern="1200" dirty="0">
                <a:solidFill>
                  <a:schemeClr val="tx1"/>
                </a:solidFill>
                <a:effectLst/>
                <a:latin typeface="+mn-lt"/>
                <a:ea typeface="+mn-ea"/>
                <a:cs typeface="+mn-cs"/>
              </a:rPr>
              <a:t> OpenAI requires an estimated </a:t>
            </a:r>
            <a:r>
              <a:rPr lang="en-US" sz="1200" b="1" kern="1200" dirty="0">
                <a:solidFill>
                  <a:schemeClr val="tx1"/>
                </a:solidFill>
                <a:effectLst/>
                <a:latin typeface="+mn-lt"/>
                <a:ea typeface="+mn-ea"/>
                <a:cs typeface="+mn-cs"/>
              </a:rPr>
              <a:t>~$100 Billion</a:t>
            </a:r>
            <a:r>
              <a:rPr lang="en-US" sz="1200" kern="1200" dirty="0">
                <a:solidFill>
                  <a:schemeClr val="tx1"/>
                </a:solidFill>
                <a:effectLst/>
                <a:latin typeface="+mn-lt"/>
                <a:ea typeface="+mn-ea"/>
                <a:cs typeface="+mn-cs"/>
              </a:rPr>
              <a:t> in annual capital injections to maintain infrastructure, train next-generation models, and retain specialized talent.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IPO Bottleneck:</a:t>
            </a:r>
            <a:r>
              <a:rPr lang="en-US" sz="1200" kern="1200" dirty="0">
                <a:solidFill>
                  <a:schemeClr val="tx1"/>
                </a:solidFill>
                <a:effectLst/>
                <a:latin typeface="+mn-lt"/>
                <a:ea typeface="+mn-ea"/>
                <a:cs typeface="+mn-cs"/>
              </a:rPr>
              <a:t> Delayed initial public offerings mean these entities remain heavily dependent on private credit, venture capital, and cloud-provider subsidies.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By 2027, model improvements face diminished returns, operating costs remain high, and private capital funding faces systemic exhaustion.</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10</a:t>
            </a:fld>
            <a:endParaRPr lang="en-US"/>
          </a:p>
        </p:txBody>
      </p:sp>
    </p:spTree>
    <p:extLst>
      <p:ext uri="{BB962C8B-B14F-4D97-AF65-F5344CB8AC3E}">
        <p14:creationId xmlns:p14="http://schemas.microsoft.com/office/powerpoint/2010/main" val="1966884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the center cannot fund itself, the unwinding of the circular economy will ripple across four distinct economic rings.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Ring 1: The Core (AI Labs):</a:t>
            </a:r>
            <a:r>
              <a:rPr lang="en-US" sz="1200" kern="1200" dirty="0">
                <a:solidFill>
                  <a:schemeClr val="tx1"/>
                </a:solidFill>
                <a:effectLst/>
                <a:latin typeface="+mn-lt"/>
                <a:ea typeface="+mn-ea"/>
                <a:cs typeface="+mn-cs"/>
              </a:rPr>
              <a:t> Unprofitable research labs face liquidation, fire sales, or severe down-rounds as VC funding dries up. </a:t>
            </a:r>
          </a:p>
          <a:p>
            <a:pPr marL="228600" lvl="0" indent="-228600">
              <a:buFont typeface="+mj-lt"/>
              <a:buAutoNum type="arabicPeriod"/>
            </a:pPr>
            <a:r>
              <a:rPr lang="en-US" sz="1200" b="1" kern="1200" dirty="0">
                <a:solidFill>
                  <a:schemeClr val="tx1"/>
                </a:solidFill>
                <a:effectLst/>
                <a:latin typeface="+mn-lt"/>
                <a:ea typeface="+mn-ea"/>
                <a:cs typeface="+mn-cs"/>
              </a:rPr>
              <a:t>Ring 2: The Hardware (Nvidia &amp; Suppliers):</a:t>
            </a:r>
            <a:r>
              <a:rPr lang="en-US" sz="1200" kern="1200" dirty="0">
                <a:solidFill>
                  <a:schemeClr val="tx1"/>
                </a:solidFill>
                <a:effectLst/>
                <a:latin typeface="+mn-lt"/>
                <a:ea typeface="+mn-ea"/>
                <a:cs typeface="+mn-cs"/>
              </a:rPr>
              <a:t> As artificial compute demand contracts, orders for high-end GPUs decline. Nvidia’s revenues risk a projected </a:t>
            </a:r>
            <a:r>
              <a:rPr lang="en-US" sz="1200" b="1" kern="1200" dirty="0">
                <a:solidFill>
                  <a:schemeClr val="tx1"/>
                </a:solidFill>
                <a:effectLst/>
                <a:latin typeface="+mn-lt"/>
                <a:ea typeface="+mn-ea"/>
                <a:cs typeface="+mn-cs"/>
              </a:rPr>
              <a:t>50% to 70% collapse</a:t>
            </a:r>
            <a:r>
              <a:rPr lang="en-US" sz="1200" kern="1200" dirty="0">
                <a:solidFill>
                  <a:schemeClr val="tx1"/>
                </a:solidFill>
                <a:effectLst/>
                <a:latin typeface="+mn-lt"/>
                <a:ea typeface="+mn-ea"/>
                <a:cs typeface="+mn-cs"/>
              </a:rPr>
              <a:t> back to baseline hardware demand levels. </a:t>
            </a:r>
          </a:p>
          <a:p>
            <a:pPr marL="228600" lvl="0" indent="-228600">
              <a:buFont typeface="+mj-lt"/>
              <a:buAutoNum type="arabicPeriod"/>
            </a:pPr>
            <a:r>
              <a:rPr lang="en-US" sz="1200" b="1" kern="1200" dirty="0">
                <a:solidFill>
                  <a:schemeClr val="tx1"/>
                </a:solidFill>
                <a:effectLst/>
                <a:latin typeface="+mn-lt"/>
                <a:ea typeface="+mn-ea"/>
                <a:cs typeface="+mn-cs"/>
              </a:rPr>
              <a:t>Ring 3: Big Tech (</a:t>
            </a:r>
            <a:r>
              <a:rPr lang="en-US" sz="1200" b="1" kern="1200" dirty="0" err="1">
                <a:solidFill>
                  <a:schemeClr val="tx1"/>
                </a:solidFill>
                <a:effectLst/>
                <a:latin typeface="+mn-lt"/>
                <a:ea typeface="+mn-ea"/>
                <a:cs typeface="+mn-cs"/>
              </a:rPr>
              <a:t>Hyperscalers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Microsoft, Amazon, Alphabet, and Meta are forced to write down massive Capex assets, revise forward earnings guidance downward, and initiate deep cost-cutting layoffs. </a:t>
            </a:r>
          </a:p>
          <a:p>
            <a:pPr marL="228600" lvl="0" indent="-228600">
              <a:buFont typeface="+mj-lt"/>
              <a:buAutoNum type="arabicPeriod"/>
            </a:pPr>
            <a:r>
              <a:rPr lang="en-US" sz="1200" b="1" kern="1200" dirty="0">
                <a:solidFill>
                  <a:schemeClr val="tx1"/>
                </a:solidFill>
                <a:effectLst/>
                <a:latin typeface="+mn-lt"/>
                <a:ea typeface="+mn-ea"/>
                <a:cs typeface="+mn-cs"/>
              </a:rPr>
              <a:t>Ring 4: The Macro Economy:</a:t>
            </a:r>
            <a:r>
              <a:rPr lang="en-US" sz="1200" kern="1200" dirty="0">
                <a:solidFill>
                  <a:schemeClr val="tx1"/>
                </a:solidFill>
                <a:effectLst/>
                <a:latin typeface="+mn-lt"/>
                <a:ea typeface="+mn-ea"/>
                <a:cs typeface="+mn-cs"/>
              </a:rPr>
              <a:t> Heavily concentrated stock indexes (like the S&amp;P 500, dominated by the 'Magnificent 7') experience major contractions, impacting retirement funds and public equity markets.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2027 liquidity wall represents a risk to the index-level stability of public equity markets.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11</a:t>
            </a:fld>
            <a:endParaRPr lang="en-US"/>
          </a:p>
        </p:txBody>
      </p:sp>
    </p:spTree>
    <p:extLst>
      <p:ext uri="{BB962C8B-B14F-4D97-AF65-F5344CB8AC3E}">
        <p14:creationId xmlns:p14="http://schemas.microsoft.com/office/powerpoint/2010/main" val="3393968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Calling Generative AI a bubble does not mean all compute-heavy technology is useless. It is vital to separate speculative consumer hype from genuine, high-value compute applications.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Filtered Out (The Generative Bubble):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Unreliable, probabilistic text generators (generic consumer chat).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Hallucination-prone search agents.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Low-cost automated SEO content mills and deepfake video generation.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Retained (True Value of Compute):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High-Performance Computing (HPC) applied to deterministic science.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DeepMind's AlphaFold, genomic sequencing, and protein folding.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Closed-system spatial physics modeling and specialized robotics.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future of technology is not a universal, all-knowing conversational agent, but narrow, domain-specific, deterministic compute.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12</a:t>
            </a:fld>
            <a:endParaRPr lang="en-US"/>
          </a:p>
        </p:txBody>
      </p:sp>
    </p:spTree>
    <p:extLst>
      <p:ext uri="{BB962C8B-B14F-4D97-AF65-F5344CB8AC3E}">
        <p14:creationId xmlns:p14="http://schemas.microsoft.com/office/powerpoint/2010/main" val="287697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summarize the core structural thesis of the AI Con, we can break it down into four interconnected pillars.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Artificial Adoption:</a:t>
            </a:r>
            <a:r>
              <a:rPr lang="en-US" sz="1200" kern="1200" dirty="0">
                <a:solidFill>
                  <a:schemeClr val="tx1"/>
                </a:solidFill>
                <a:effectLst/>
                <a:latin typeface="+mn-lt"/>
                <a:ea typeface="+mn-ea"/>
                <a:cs typeface="+mn-cs"/>
              </a:rPr>
              <a:t> Software features are pushed onto enterprise and consumer users without explicit request. Subsidized user fees mask unsustainable underlying compute costs. </a:t>
            </a:r>
          </a:p>
          <a:p>
            <a:pPr marL="228600" lvl="0" indent="-228600">
              <a:buFont typeface="+mj-lt"/>
              <a:buAutoNum type="arabicPeriod"/>
            </a:pPr>
            <a:r>
              <a:rPr lang="en-US" sz="1200" b="1" kern="1200" dirty="0">
                <a:solidFill>
                  <a:schemeClr val="tx1"/>
                </a:solidFill>
                <a:effectLst/>
                <a:latin typeface="+mn-lt"/>
                <a:ea typeface="+mn-ea"/>
                <a:cs typeface="+mn-cs"/>
              </a:rPr>
              <a:t>Capability Plateau:</a:t>
            </a:r>
            <a:r>
              <a:rPr lang="en-US" sz="1200" kern="1200" dirty="0">
                <a:solidFill>
                  <a:schemeClr val="tx1"/>
                </a:solidFill>
                <a:effectLst/>
                <a:latin typeface="+mn-lt"/>
                <a:ea typeface="+mn-ea"/>
                <a:cs typeface="+mn-cs"/>
              </a:rPr>
              <a:t> LLMs remain probabilistic pattern-matching engines. Scaling compute scale no longer delivers proportional jumps in problem-solving reasoning. </a:t>
            </a:r>
          </a:p>
          <a:p>
            <a:pPr marL="228600" lvl="0" indent="-228600">
              <a:buFont typeface="+mj-lt"/>
              <a:buAutoNum type="arabicPeriod"/>
            </a:pPr>
            <a:r>
              <a:rPr lang="en-US" sz="1200" b="1" kern="1200" dirty="0">
                <a:solidFill>
                  <a:schemeClr val="tx1"/>
                </a:solidFill>
                <a:effectLst/>
                <a:latin typeface="+mn-lt"/>
                <a:ea typeface="+mn-ea"/>
                <a:cs typeface="+mn-cs"/>
              </a:rPr>
              <a:t>The Circular Con: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funnel capital into proxy startups to book artificial cloud growth, inflating market capitalizations. </a:t>
            </a:r>
          </a:p>
          <a:p>
            <a:pPr marL="228600" lvl="0" indent="-228600">
              <a:buFont typeface="+mj-lt"/>
              <a:buAutoNum type="arabicPeriod"/>
            </a:pPr>
            <a:r>
              <a:rPr lang="en-US" sz="1200" b="1" kern="1200" dirty="0">
                <a:solidFill>
                  <a:schemeClr val="tx1"/>
                </a:solidFill>
                <a:effectLst/>
                <a:latin typeface="+mn-lt"/>
                <a:ea typeface="+mn-ea"/>
                <a:cs typeface="+mn-cs"/>
              </a:rPr>
              <a:t>Mathematical Exhaustion:</a:t>
            </a:r>
            <a:r>
              <a:rPr lang="en-US" sz="1200" kern="1200" dirty="0">
                <a:solidFill>
                  <a:schemeClr val="tx1"/>
                </a:solidFill>
                <a:effectLst/>
                <a:latin typeface="+mn-lt"/>
                <a:ea typeface="+mn-ea"/>
                <a:cs typeface="+mn-cs"/>
              </a:rPr>
              <a:t> A combination of massive capital expenditures and deep operating deficits leads toward a structural liquidity reckoning by 2027.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These four dynamics interact continuously, accelerating the timeline toward a market adjustment.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13</a:t>
            </a:fld>
            <a:endParaRPr lang="en-US"/>
          </a:p>
        </p:txBody>
      </p:sp>
    </p:spTree>
    <p:extLst>
      <p:ext uri="{BB962C8B-B14F-4D97-AF65-F5344CB8AC3E}">
        <p14:creationId xmlns:p14="http://schemas.microsoft.com/office/powerpoint/2010/main" val="2442956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an economy flooded with machine-generated median content, what becomes genuinely valuable?</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Commoditization of Average Content:</a:t>
            </a:r>
            <a:r>
              <a:rPr lang="en-US" sz="1200" kern="1200" dirty="0">
                <a:solidFill>
                  <a:schemeClr val="tx1"/>
                </a:solidFill>
                <a:effectLst/>
                <a:latin typeface="+mn-lt"/>
                <a:ea typeface="+mn-ea"/>
                <a:cs typeface="+mn-cs"/>
              </a:rPr>
              <a:t> As generative models flood channels with synthetic text, code, and graphics, the marginal cost of producing baseline content drops to zero.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Premium on Authenticity:</a:t>
            </a:r>
            <a:r>
              <a:rPr lang="en-US" sz="1200" kern="1200" dirty="0">
                <a:solidFill>
                  <a:schemeClr val="tx1"/>
                </a:solidFill>
                <a:effectLst/>
                <a:latin typeface="+mn-lt"/>
                <a:ea typeface="+mn-ea"/>
                <a:cs typeface="+mn-cs"/>
              </a:rPr>
              <a:t> Value shifts back toward non-</a:t>
            </a:r>
            <a:r>
              <a:rPr lang="en-US" sz="1200" kern="1200" dirty="0" err="1">
                <a:solidFill>
                  <a:schemeClr val="tx1"/>
                </a:solidFill>
                <a:effectLst/>
                <a:latin typeface="+mn-lt"/>
                <a:ea typeface="+mn-ea"/>
                <a:cs typeface="+mn-cs"/>
              </a:rPr>
              <a:t>commoditizable</a:t>
            </a:r>
            <a:r>
              <a:rPr lang="en-US" sz="1200" kern="1200" dirty="0">
                <a:solidFill>
                  <a:schemeClr val="tx1"/>
                </a:solidFill>
                <a:effectLst/>
                <a:latin typeface="+mn-lt"/>
                <a:ea typeface="+mn-ea"/>
                <a:cs typeface="+mn-cs"/>
              </a:rPr>
              <a:t> human traits: taste, context, accountability, strategic discernment, and real personal relationships.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Strategic Choice:</a:t>
            </a:r>
            <a:r>
              <a:rPr lang="en-US" sz="1200" kern="1200" dirty="0">
                <a:solidFill>
                  <a:schemeClr val="tx1"/>
                </a:solidFill>
                <a:effectLst/>
                <a:latin typeface="+mn-lt"/>
                <a:ea typeface="+mn-ea"/>
                <a:cs typeface="+mn-cs"/>
              </a:rPr>
              <a:t> Organizations that preserve human judgment and domain expertise will stand out, while those replacing core teams with unverified LLM output face quality issues.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Resist the rush to automate core human judgment. Protect high-value work, original thinking, and authentic domain expertise. </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14</a:t>
            </a:fld>
            <a:endParaRPr lang="en-US"/>
          </a:p>
        </p:txBody>
      </p:sp>
    </p:spTree>
    <p:extLst>
      <p:ext uri="{BB962C8B-B14F-4D97-AF65-F5344CB8AC3E}">
        <p14:creationId xmlns:p14="http://schemas.microsoft.com/office/powerpoint/2010/main" val="1445102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infographic synthesizes the economic loop and financial metrics defining the current market setup.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Financial Deficit:</a:t>
            </a:r>
            <a:r>
              <a:rPr lang="en-US" sz="1200" kern="1200" dirty="0">
                <a:solidFill>
                  <a:schemeClr val="tx1"/>
                </a:solidFill>
                <a:effectLst/>
                <a:latin typeface="+mn-lt"/>
                <a:ea typeface="+mn-ea"/>
                <a:cs typeface="+mn-cs"/>
              </a:rPr>
              <a:t> Highlight OpenAI's </a:t>
            </a:r>
            <a:r>
              <a:rPr lang="en-US" sz="1200" b="1" kern="1200" dirty="0">
                <a:solidFill>
                  <a:schemeClr val="tx1"/>
                </a:solidFill>
                <a:effectLst/>
                <a:latin typeface="+mn-lt"/>
                <a:ea typeface="+mn-ea"/>
                <a:cs typeface="+mn-cs"/>
              </a:rPr>
              <a:t>$20.9 Billion deficit</a:t>
            </a:r>
            <a:r>
              <a:rPr lang="en-US" sz="1200" kern="1200" dirty="0">
                <a:solidFill>
                  <a:schemeClr val="tx1"/>
                </a:solidFill>
                <a:effectLst/>
                <a:latin typeface="+mn-lt"/>
                <a:ea typeface="+mn-ea"/>
                <a:cs typeface="+mn-cs"/>
              </a:rPr>
              <a:t> despite global visibility, illustrating the gap between hype and cash flow.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Per-User Subsidy Gap:</a:t>
            </a:r>
            <a:r>
              <a:rPr lang="en-US" sz="1200" kern="1200" dirty="0">
                <a:solidFill>
                  <a:schemeClr val="tx1"/>
                </a:solidFill>
                <a:effectLst/>
                <a:latin typeface="+mn-lt"/>
                <a:ea typeface="+mn-ea"/>
                <a:cs typeface="+mn-cs"/>
              </a:rPr>
              <a:t> Contrast the $20 monthly subscription fee paid by users against the </a:t>
            </a:r>
            <a:r>
              <a:rPr lang="en-US" sz="1200" b="1" kern="1200" dirty="0">
                <a:solidFill>
                  <a:schemeClr val="tx1"/>
                </a:solidFill>
                <a:effectLst/>
                <a:latin typeface="+mn-lt"/>
                <a:ea typeface="+mn-ea"/>
                <a:cs typeface="+mn-cs"/>
              </a:rPr>
              <a:t>$400 in actual token compute costs</a:t>
            </a:r>
            <a:r>
              <a:rPr lang="en-US" sz="1200" kern="1200" dirty="0">
                <a:solidFill>
                  <a:schemeClr val="tx1"/>
                </a:solidFill>
                <a:effectLst/>
                <a:latin typeface="+mn-lt"/>
                <a:ea typeface="+mn-ea"/>
                <a:cs typeface="+mn-cs"/>
              </a:rPr>
              <a:t> absorbed behind the scenes.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Comparative Metrics: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Microsoft's Capex:</a:t>
            </a:r>
            <a:r>
              <a:rPr lang="en-US" sz="1200" kern="1200" dirty="0">
                <a:solidFill>
                  <a:schemeClr val="tx1"/>
                </a:solidFill>
                <a:effectLst/>
                <a:latin typeface="+mn-lt"/>
                <a:ea typeface="+mn-ea"/>
                <a:cs typeface="+mn-cs"/>
              </a:rPr>
              <a:t> Projected </a:t>
            </a:r>
            <a:r>
              <a:rPr lang="en-US" sz="1200" b="1" kern="1200" dirty="0">
                <a:solidFill>
                  <a:schemeClr val="tx1"/>
                </a:solidFill>
                <a:effectLst/>
                <a:latin typeface="+mn-lt"/>
                <a:ea typeface="+mn-ea"/>
                <a:cs typeface="+mn-cs"/>
              </a:rPr>
              <a:t>$175 Billion</a:t>
            </a:r>
            <a:r>
              <a:rPr lang="en-US" sz="1200" kern="1200" dirty="0">
                <a:solidFill>
                  <a:schemeClr val="tx1"/>
                </a:solidFill>
                <a:effectLst/>
                <a:latin typeface="+mn-lt"/>
                <a:ea typeface="+mn-ea"/>
                <a:cs typeface="+mn-cs"/>
              </a:rPr>
              <a:t> in capital outlay.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Global Non-Big-Tech AI Market:</a:t>
            </a:r>
            <a:r>
              <a:rPr lang="en-US" sz="1200" kern="1200" dirty="0">
                <a:solidFill>
                  <a:schemeClr val="tx1"/>
                </a:solidFill>
                <a:effectLst/>
                <a:latin typeface="+mn-lt"/>
                <a:ea typeface="+mn-ea"/>
                <a:cs typeface="+mn-cs"/>
              </a:rPr>
              <a:t> Generates only </a:t>
            </a:r>
            <a:r>
              <a:rPr lang="en-US" sz="1200" b="1" kern="1200" dirty="0">
                <a:solidFill>
                  <a:schemeClr val="tx1"/>
                </a:solidFill>
                <a:effectLst/>
                <a:latin typeface="+mn-lt"/>
                <a:ea typeface="+mn-ea"/>
                <a:cs typeface="+mn-cs"/>
              </a:rPr>
              <a:t>~$22 Billion</a:t>
            </a:r>
            <a:r>
              <a:rPr lang="en-US" sz="1200" kern="1200" dirty="0">
                <a:solidFill>
                  <a:schemeClr val="tx1"/>
                </a:solidFill>
                <a:effectLst/>
                <a:latin typeface="+mn-lt"/>
                <a:ea typeface="+mn-ea"/>
                <a:cs typeface="+mn-cs"/>
              </a:rPr>
              <a:t> in organic, non-subsidized revenue.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Systemic Risk:</a:t>
            </a:r>
            <a:r>
              <a:rPr lang="en-US" sz="1200" kern="1200" dirty="0">
                <a:solidFill>
                  <a:schemeClr val="tx1"/>
                </a:solidFill>
                <a:effectLst/>
                <a:latin typeface="+mn-lt"/>
                <a:ea typeface="+mn-ea"/>
                <a:cs typeface="+mn-cs"/>
              </a:rPr>
              <a:t> Pension and retail retirement funds are heavily concentrated in the market caps of the 'Magnificent 7' tech stocks, exposing retail investors to bubble downside.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infrastructure expenditures outweigh market software revenues by nearly 8-to-1, the market faces a sharp financial realignment.</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15</a:t>
            </a:fld>
            <a:endParaRPr lang="en-US"/>
          </a:p>
        </p:txBody>
      </p:sp>
    </p:spTree>
    <p:extLst>
      <p:ext uri="{BB962C8B-B14F-4D97-AF65-F5344CB8AC3E}">
        <p14:creationId xmlns:p14="http://schemas.microsoft.com/office/powerpoint/2010/main" val="2061320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conclude our analysis, let's review the main takeaways for leaders, investors, and enterprise decision-makers. </a:t>
            </a:r>
          </a:p>
          <a:p>
            <a:pPr lvl="0"/>
            <a:r>
              <a:rPr lang="en-US" sz="1200" b="1" kern="1200" dirty="0">
                <a:solidFill>
                  <a:schemeClr val="tx1"/>
                </a:solidFill>
                <a:effectLst/>
                <a:latin typeface="+mn-lt"/>
                <a:ea typeface="+mn-ea"/>
                <a:cs typeface="+mn-cs"/>
              </a:rPr>
              <a:t>Core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Differentiate Utility from Hype:</a:t>
            </a:r>
            <a:r>
              <a:rPr lang="en-US" sz="1200" kern="1200" dirty="0">
                <a:solidFill>
                  <a:schemeClr val="tx1"/>
                </a:solidFill>
                <a:effectLst/>
                <a:latin typeface="+mn-lt"/>
                <a:ea typeface="+mn-ea"/>
                <a:cs typeface="+mn-cs"/>
              </a:rPr>
              <a:t> Audit your organization's AI initiatives. Separate deterministic, high-efficiency tools from loss-making, low-accuracy generative workflows.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Prepare for Capital Realignment:</a:t>
            </a:r>
            <a:r>
              <a:rPr lang="en-US" sz="1200" kern="1200" dirty="0">
                <a:solidFill>
                  <a:schemeClr val="tx1"/>
                </a:solidFill>
                <a:effectLst/>
                <a:latin typeface="+mn-lt"/>
                <a:ea typeface="+mn-ea"/>
                <a:cs typeface="+mn-cs"/>
              </a:rPr>
              <a:t> Anticipate shifts in cloud service pricing as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scale back subsidies and adjust enterprise pricing structures.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Focus on Fundamental Value:</a:t>
            </a:r>
            <a:r>
              <a:rPr lang="en-US" sz="1200" kern="1200" dirty="0">
                <a:solidFill>
                  <a:schemeClr val="tx1"/>
                </a:solidFill>
                <a:effectLst/>
                <a:latin typeface="+mn-lt"/>
                <a:ea typeface="+mn-ea"/>
                <a:cs typeface="+mn-cs"/>
              </a:rPr>
              <a:t> Allocate capital to core products, proprietary data assets, and human talent rather than relying entirely on third-party foundational models. </a:t>
            </a:r>
          </a:p>
          <a:p>
            <a:pPr lvl="0"/>
            <a:r>
              <a:rPr lang="en-US" sz="1200" b="1" kern="1200" dirty="0">
                <a:solidFill>
                  <a:schemeClr val="tx1"/>
                </a:solidFill>
                <a:effectLst/>
                <a:latin typeface="+mn-lt"/>
                <a:ea typeface="+mn-ea"/>
                <a:cs typeface="+mn-cs"/>
              </a:rPr>
              <a:t>Closing Statement: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Thank you for your time. I am happy to open the floor to questions and discuss the data in detail.</a:t>
            </a:r>
          </a:p>
          <a:p>
            <a:endParaRPr lang="en-US" dirty="0"/>
          </a:p>
        </p:txBody>
      </p:sp>
      <p:sp>
        <p:nvSpPr>
          <p:cNvPr id="4" name="Slide Number Placeholder 3"/>
          <p:cNvSpPr>
            <a:spLocks noGrp="1"/>
          </p:cNvSpPr>
          <p:nvPr>
            <p:ph type="sldNum" sz="quarter" idx="5"/>
          </p:nvPr>
        </p:nvSpPr>
        <p:spPr/>
        <p:txBody>
          <a:bodyPr/>
          <a:lstStyle/>
          <a:p>
            <a:fld id="{1E096091-10D5-4FC6-85CD-A79FADCA69F3}" type="slidenum">
              <a:rPr lang="en-US" smtClean="0"/>
              <a:t>16</a:t>
            </a:fld>
            <a:endParaRPr lang="en-US"/>
          </a:p>
        </p:txBody>
      </p:sp>
    </p:spTree>
    <p:extLst>
      <p:ext uri="{BB962C8B-B14F-4D97-AF65-F5344CB8AC3E}">
        <p14:creationId xmlns:p14="http://schemas.microsoft.com/office/powerpoint/2010/main" val="244365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7B37-4BEC-B691-5CFA-CAB1E02A4E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192D5D-521C-A8D5-08C7-0078362E0A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5957AD-0E4C-C7C7-4D62-316A7555038D}"/>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5" name="Footer Placeholder 4">
            <a:extLst>
              <a:ext uri="{FF2B5EF4-FFF2-40B4-BE49-F238E27FC236}">
                <a16:creationId xmlns:a16="http://schemas.microsoft.com/office/drawing/2014/main" id="{D21D1EB7-24B7-F9E3-A674-545FF54D7E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DDBD1-AB3B-378E-A61F-C4500E2008B1}"/>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3243569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DE11-0198-6D92-F2F7-EEC7DED3CF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BF0CDD-BB80-4090-AE08-063B684D7F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AB7160-0280-CF05-B577-D18A2F79351D}"/>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5" name="Footer Placeholder 4">
            <a:extLst>
              <a:ext uri="{FF2B5EF4-FFF2-40B4-BE49-F238E27FC236}">
                <a16:creationId xmlns:a16="http://schemas.microsoft.com/office/drawing/2014/main" id="{55C4E633-D3B6-9297-3F60-D4AA8DFE4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376AB6-10BC-3F44-158C-C3C863DF66C0}"/>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3953915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4C097-8889-990F-725A-52620050BE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DC8D9A-57A1-7D1A-5615-7BC1615BDC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F5EBE2-367A-F193-6037-B50C5537D55D}"/>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5" name="Footer Placeholder 4">
            <a:extLst>
              <a:ext uri="{FF2B5EF4-FFF2-40B4-BE49-F238E27FC236}">
                <a16:creationId xmlns:a16="http://schemas.microsoft.com/office/drawing/2014/main" id="{FB9E7757-169E-2ED9-33BD-7809205965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1B3E30-FF51-B082-9636-4F15585512C2}"/>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1691945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BD0C6-3737-F24E-487A-A5A48C64A8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2A55F9-6D1E-2112-39B6-5BD8E3AD81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D89856-816E-EFCB-4B94-EE8A1C621D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E1D095-27F3-9118-6160-5D8EBE28587A}"/>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6" name="Footer Placeholder 5">
            <a:extLst>
              <a:ext uri="{FF2B5EF4-FFF2-40B4-BE49-F238E27FC236}">
                <a16:creationId xmlns:a16="http://schemas.microsoft.com/office/drawing/2014/main" id="{B842A0C0-6810-C599-EE4B-6FBA832CD9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0E2C56-FEBF-3294-5964-2EE3FB5C9ABE}"/>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3649410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C17C1-0DFE-6B60-4058-E2851551A7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B1FC5-E46B-2457-9C05-2A8CAC9792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2AD217-542F-3C6C-28F7-1D48E0BF52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F6C09A-EEFC-9B45-8545-1AA0E014BB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AA7FCE-8E91-DDE5-61DD-682430C35E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0FD2B4-8617-BACD-C999-8DEB0EBA810E}"/>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8" name="Footer Placeholder 7">
            <a:extLst>
              <a:ext uri="{FF2B5EF4-FFF2-40B4-BE49-F238E27FC236}">
                <a16:creationId xmlns:a16="http://schemas.microsoft.com/office/drawing/2014/main" id="{7CA62136-8D31-192F-BB07-827E6E4260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B0BF43-EBCC-F5BC-D924-198EEA803FA5}"/>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2354608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0DEAE-1954-A9C1-8316-8CD7109E06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C732E4-1AB4-0C40-6C9E-0CD9A53C78C8}"/>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4" name="Footer Placeholder 3">
            <a:extLst>
              <a:ext uri="{FF2B5EF4-FFF2-40B4-BE49-F238E27FC236}">
                <a16:creationId xmlns:a16="http://schemas.microsoft.com/office/drawing/2014/main" id="{14F20E5A-BAAA-FDBC-D85D-02651C1E01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7BC0A-0A18-54BA-6636-392D762EA93E}"/>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347726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EE074D-C587-ECF5-B247-876DDFABC57F}"/>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3" name="Footer Placeholder 2">
            <a:extLst>
              <a:ext uri="{FF2B5EF4-FFF2-40B4-BE49-F238E27FC236}">
                <a16:creationId xmlns:a16="http://schemas.microsoft.com/office/drawing/2014/main" id="{BD573B7B-C944-95A6-01F8-FE6B063731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37B919-599D-7A45-992C-52A3F41FE7EE}"/>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117313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F7DC9-C65B-53A3-91EF-742D4BC8CB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C72F03-16AA-5E55-B1EC-07E9AACDD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2AA898-C302-0901-25C1-C94B9487FA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8BA435-3310-8F7A-2341-1342A6AD8E63}"/>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6" name="Footer Placeholder 5">
            <a:extLst>
              <a:ext uri="{FF2B5EF4-FFF2-40B4-BE49-F238E27FC236}">
                <a16:creationId xmlns:a16="http://schemas.microsoft.com/office/drawing/2014/main" id="{138C29E5-8BCF-D831-53B2-A45D3A113C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5BE9B9-8382-97D7-136A-62583C814D3A}"/>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2857111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1F83-8DE0-1B9D-6C6A-80888008CB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B0216F-601D-510E-27D1-F528722D57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D8D208-BF70-55A8-B49A-721108FD1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DFBBE9-32DF-1A79-E5BD-5FB51F1CCEBF}"/>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6" name="Footer Placeholder 5">
            <a:extLst>
              <a:ext uri="{FF2B5EF4-FFF2-40B4-BE49-F238E27FC236}">
                <a16:creationId xmlns:a16="http://schemas.microsoft.com/office/drawing/2014/main" id="{04F2887E-35ED-CFEB-13D2-64EB6B45C2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76ABA6-3AF9-012F-D6EA-29187A399752}"/>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1613764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CD91-18CA-D5C0-B82A-13CA6946B2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90922A-1130-78E5-DC28-A6AB2886EB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0681C8-CC56-4C69-7A78-E63D94124732}"/>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5" name="Footer Placeholder 4">
            <a:extLst>
              <a:ext uri="{FF2B5EF4-FFF2-40B4-BE49-F238E27FC236}">
                <a16:creationId xmlns:a16="http://schemas.microsoft.com/office/drawing/2014/main" id="{54802F2C-FD0D-632D-0838-AB6CC5F5B0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3FFF9-6E3B-122C-C503-45D9BE90CC2A}"/>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2880063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F70589-E700-7A74-BCC0-7832A5BE7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945485-C73F-CDDD-7439-47882A7CC7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084AB3-017B-7F69-6313-22DFB95F0D0F}"/>
              </a:ext>
            </a:extLst>
          </p:cNvPr>
          <p:cNvSpPr>
            <a:spLocks noGrp="1"/>
          </p:cNvSpPr>
          <p:nvPr>
            <p:ph type="dt" sz="half" idx="10"/>
          </p:nvPr>
        </p:nvSpPr>
        <p:spPr/>
        <p:txBody>
          <a:bodyPr/>
          <a:lstStyle/>
          <a:p>
            <a:fld id="{A4171D8D-C6E0-4632-98DF-9325844F854E}" type="datetimeFigureOut">
              <a:rPr lang="en-US" smtClean="0"/>
              <a:t>10/19/2026</a:t>
            </a:fld>
            <a:endParaRPr lang="en-US"/>
          </a:p>
        </p:txBody>
      </p:sp>
      <p:sp>
        <p:nvSpPr>
          <p:cNvPr id="5" name="Footer Placeholder 4">
            <a:extLst>
              <a:ext uri="{FF2B5EF4-FFF2-40B4-BE49-F238E27FC236}">
                <a16:creationId xmlns:a16="http://schemas.microsoft.com/office/drawing/2014/main" id="{B334A6DB-C91C-D990-4E06-B810883BC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E56058-F5EC-06D6-A2AC-D4E774EE3EC8}"/>
              </a:ext>
            </a:extLst>
          </p:cNvPr>
          <p:cNvSpPr>
            <a:spLocks noGrp="1"/>
          </p:cNvSpPr>
          <p:nvPr>
            <p:ph type="sldNum" sz="quarter" idx="12"/>
          </p:nvPr>
        </p:nvSpPr>
        <p:spPr/>
        <p:txBody>
          <a:bodyPr/>
          <a:lstStyle/>
          <a:p>
            <a:fld id="{E7276A7F-9E91-477B-BE8E-8AFE0A5F35CD}" type="slidenum">
              <a:rPr lang="en-US" smtClean="0"/>
              <a:t>‹#›</a:t>
            </a:fld>
            <a:endParaRPr lang="en-US"/>
          </a:p>
        </p:txBody>
      </p:sp>
    </p:spTree>
    <p:extLst>
      <p:ext uri="{BB962C8B-B14F-4D97-AF65-F5344CB8AC3E}">
        <p14:creationId xmlns:p14="http://schemas.microsoft.com/office/powerpoint/2010/main" val="1361304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37A409-444F-D1D1-8893-EAE8DA4227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AFFAC1-0BA2-C6BC-F534-1F0E8A2BC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F3CE7-505F-64FE-9978-8F1D0C1807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171D8D-C6E0-4632-98DF-9325844F854E}" type="datetimeFigureOut">
              <a:rPr lang="en-US" smtClean="0"/>
              <a:t>10/19/2026</a:t>
            </a:fld>
            <a:endParaRPr lang="en-US"/>
          </a:p>
        </p:txBody>
      </p:sp>
      <p:sp>
        <p:nvSpPr>
          <p:cNvPr id="5" name="Footer Placeholder 4">
            <a:extLst>
              <a:ext uri="{FF2B5EF4-FFF2-40B4-BE49-F238E27FC236}">
                <a16:creationId xmlns:a16="http://schemas.microsoft.com/office/drawing/2014/main" id="{11025EA6-FFB5-ACEE-4412-F98E1535C4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A3070D-6187-2B18-CD3A-B03A0DCDE8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276A7F-9E91-477B-BE8E-8AFE0A5F35CD}" type="slidenum">
              <a:rPr lang="en-US" smtClean="0"/>
              <a:t>‹#›</a:t>
            </a:fld>
            <a:endParaRPr lang="en-US"/>
          </a:p>
        </p:txBody>
      </p:sp>
    </p:spTree>
    <p:extLst>
      <p:ext uri="{BB962C8B-B14F-4D97-AF65-F5344CB8AC3E}">
        <p14:creationId xmlns:p14="http://schemas.microsoft.com/office/powerpoint/2010/main" val="3189112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00D7D8-FC47-71BA-F035-051B9AE1B8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022965-B6CD-E26E-DCB0-EBFEF549356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7CDB87-567F-3291-EF21-2886D178F8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4CF8E1-3324-156F-5DC7-8CDB5EBD16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C332A7-F4A9-5C29-5048-DB882F7E2CF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16B450-3EEA-9198-3733-6B0F49DEAB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E10FD-81C4-C377-5CCA-4CAEF53B3EA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2A00C6-324B-92EE-2C78-34EE5A34F1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4629FD-6099-64C6-2945-1BD73B9B9D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EF3CA4-58BE-0B73-F860-FE2082CF39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74E84E-A943-4596-324C-EF91964986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CA311A-F8EE-ABCB-8D7A-FD314AEEFE0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FAA43B-5378-5B95-62F9-3A517642E15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B5DD35-9C26-27CA-4A3F-E1A545993C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F1256A-6647-9E90-D984-F146EF76ED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3D33AA-3845-6BE8-59AD-E43A0112F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328788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2556</Words>
  <Application>Microsoft Office PowerPoint</Application>
  <PresentationFormat>寬螢幕</PresentationFormat>
  <Paragraphs>169</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2026-08-30T05:44:52Z</dcterms:created>
  <dcterms:modified xsi:type="dcterms:W3CDTF">2026-10-19T15:42:41Z</dcterms:modified>
</cp:coreProperties>
</file>