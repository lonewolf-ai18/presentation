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C3BDD1-EF4B-4975-A16F-704C77F288D2}" v="64" dt="2026-08-02T08:25:32.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53561" autoAdjust="0"/>
  </p:normalViewPr>
  <p:slideViewPr>
    <p:cSldViewPr snapToGrid="0">
      <p:cViewPr varScale="1">
        <p:scale>
          <a:sx n="50" d="100"/>
          <a:sy n="50" d="100"/>
        </p:scale>
        <p:origin x="9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8-02T08:25:33.303" v="335" actId="20577"/>
      <pc:docMkLst>
        <pc:docMk/>
      </pc:docMkLst>
      <pc:sldChg chg="addSp delSp modSp mod modAnim modNotesTx">
        <pc:chgData name="Lai, Wilson" userId="2840974a-0d84-4886-90a9-9a3ed79f3a48" providerId="ADAL" clId="{9F23B798-9E84-4552-BA63-E776E805C424}" dt="2026-08-02T08:11:07.845" v="232" actId="20577"/>
        <pc:sldMkLst>
          <pc:docMk/>
          <pc:sldMk cId="0" sldId="257"/>
        </pc:sldMkLst>
        <pc:spChg chg="add del">
          <ac:chgData name="Lai, Wilson" userId="2840974a-0d84-4886-90a9-9a3ed79f3a48" providerId="ADAL" clId="{9F23B798-9E84-4552-BA63-E776E805C424}" dt="2026-08-02T03:21:53.317" v="1" actId="478"/>
          <ac:spMkLst>
            <pc:docMk/>
            <pc:sldMk cId="0" sldId="257"/>
            <ac:spMk id="4" creationId="{511D7E1E-BB27-7687-0299-6236E4725052}"/>
          </ac:spMkLst>
        </pc:spChg>
        <pc:spChg chg="add mod">
          <ac:chgData name="Lai, Wilson" userId="2840974a-0d84-4886-90a9-9a3ed79f3a48" providerId="ADAL" clId="{9F23B798-9E84-4552-BA63-E776E805C424}" dt="2026-08-02T03:58:36.317" v="11" actId="164"/>
          <ac:spMkLst>
            <pc:docMk/>
            <pc:sldMk cId="0" sldId="257"/>
            <ac:spMk id="5" creationId="{0EF3C789-FB3F-DE19-DFD8-4CDC75F832F5}"/>
          </ac:spMkLst>
        </pc:spChg>
        <pc:grpChg chg="add mod">
          <ac:chgData name="Lai, Wilson" userId="2840974a-0d84-4886-90a9-9a3ed79f3a48" providerId="ADAL" clId="{9F23B798-9E84-4552-BA63-E776E805C424}" dt="2026-08-02T07:52:37.908" v="15" actId="1076"/>
          <ac:grpSpMkLst>
            <pc:docMk/>
            <pc:sldMk cId="0" sldId="257"/>
            <ac:grpSpMk id="6" creationId="{DA39A63E-3B52-41A8-C649-3BC1CFDDA66B}"/>
          </ac:grpSpMkLst>
        </pc:grpChg>
        <pc:picChg chg="del">
          <ac:chgData name="Lai, Wilson" userId="2840974a-0d84-4886-90a9-9a3ed79f3a48" providerId="ADAL" clId="{9F23B798-9E84-4552-BA63-E776E805C424}" dt="2026-08-02T07:52:01.574" v="12" actId="21"/>
          <ac:picMkLst>
            <pc:docMk/>
            <pc:sldMk cId="0" sldId="257"/>
            <ac:picMk id="2" creationId="{00000000-0000-0000-0000-000000000000}"/>
          </ac:picMkLst>
        </pc:picChg>
        <pc:picChg chg="add mod">
          <ac:chgData name="Lai, Wilson" userId="2840974a-0d84-4886-90a9-9a3ed79f3a48" providerId="ADAL" clId="{9F23B798-9E84-4552-BA63-E776E805C424}" dt="2026-08-02T03:58:36.317" v="11" actId="164"/>
          <ac:picMkLst>
            <pc:docMk/>
            <pc:sldMk cId="0" sldId="257"/>
            <ac:picMk id="3" creationId="{7E8DA85F-0568-E896-86DF-B3BC9B411EF3}"/>
          </ac:picMkLst>
        </pc:picChg>
        <pc:picChg chg="add ord">
          <ac:chgData name="Lai, Wilson" userId="2840974a-0d84-4886-90a9-9a3ed79f3a48" providerId="ADAL" clId="{9F23B798-9E84-4552-BA63-E776E805C424}" dt="2026-08-02T07:52:31.638" v="14" actId="167"/>
          <ac:picMkLst>
            <pc:docMk/>
            <pc:sldMk cId="0" sldId="257"/>
            <ac:picMk id="7" creationId="{D22F86BF-773B-0530-2781-28070B91C870}"/>
          </ac:picMkLst>
        </pc:picChg>
      </pc:sldChg>
      <pc:sldChg chg="addSp delSp modSp mod setBg modNotes modNotesTx">
        <pc:chgData name="Lai, Wilson" userId="2840974a-0d84-4886-90a9-9a3ed79f3a48" providerId="ADAL" clId="{9F23B798-9E84-4552-BA63-E776E805C424}" dt="2026-08-02T08:23:34.842" v="313" actId="20577"/>
        <pc:sldMkLst>
          <pc:docMk/>
          <pc:sldMk cId="0" sldId="258"/>
        </pc:sldMkLst>
        <pc:spChg chg="add del">
          <ac:chgData name="Lai, Wilson" userId="2840974a-0d84-4886-90a9-9a3ed79f3a48" providerId="ADAL" clId="{9F23B798-9E84-4552-BA63-E776E805C424}" dt="2026-08-02T07:52:59.065" v="19" actId="26606"/>
          <ac:spMkLst>
            <pc:docMk/>
            <pc:sldMk cId="0" sldId="258"/>
            <ac:spMk id="9" creationId="{42A4FC2C-047E-45A5-965D-8E1E3BF09BC6}"/>
          </ac:spMkLst>
        </pc:spChg>
        <pc:picChg chg="del">
          <ac:chgData name="Lai, Wilson" userId="2840974a-0d84-4886-90a9-9a3ed79f3a48" providerId="ADAL" clId="{9F23B798-9E84-4552-BA63-E776E805C424}" dt="2026-08-02T07:52:43.724" v="16" actId="21"/>
          <ac:picMkLst>
            <pc:docMk/>
            <pc:sldMk cId="0" sldId="258"/>
            <ac:picMk id="2" creationId="{00000000-0000-0000-0000-000000000000}"/>
          </ac:picMkLst>
        </pc:picChg>
        <pc:picChg chg="add mod">
          <ac:chgData name="Lai, Wilson" userId="2840974a-0d84-4886-90a9-9a3ed79f3a48" providerId="ADAL" clId="{9F23B798-9E84-4552-BA63-E776E805C424}" dt="2026-08-02T07:52:59.065" v="19" actId="26606"/>
          <ac:picMkLst>
            <pc:docMk/>
            <pc:sldMk cId="0" sldId="258"/>
            <ac:picMk id="4" creationId="{50700192-1C4E-D9B9-C734-F571C1C8F3E5}"/>
          </ac:picMkLst>
        </pc:picChg>
      </pc:sldChg>
      <pc:sldChg chg="addSp delSp mod modNotes modNotesTx">
        <pc:chgData name="Lai, Wilson" userId="2840974a-0d84-4886-90a9-9a3ed79f3a48" providerId="ADAL" clId="{9F23B798-9E84-4552-BA63-E776E805C424}" dt="2026-08-02T08:17:03.414" v="311" actId="6549"/>
        <pc:sldMkLst>
          <pc:docMk/>
          <pc:sldMk cId="0" sldId="259"/>
        </pc:sldMkLst>
        <pc:picChg chg="del">
          <ac:chgData name="Lai, Wilson" userId="2840974a-0d84-4886-90a9-9a3ed79f3a48" providerId="ADAL" clId="{9F23B798-9E84-4552-BA63-E776E805C424}" dt="2026-08-02T07:53:01.659" v="20" actId="21"/>
          <ac:picMkLst>
            <pc:docMk/>
            <pc:sldMk cId="0" sldId="259"/>
            <ac:picMk id="2" creationId="{00000000-0000-0000-0000-000000000000}"/>
          </ac:picMkLst>
        </pc:picChg>
        <pc:picChg chg="add">
          <ac:chgData name="Lai, Wilson" userId="2840974a-0d84-4886-90a9-9a3ed79f3a48" providerId="ADAL" clId="{9F23B798-9E84-4552-BA63-E776E805C424}" dt="2026-08-02T07:53:13.507" v="21" actId="22"/>
          <ac:picMkLst>
            <pc:docMk/>
            <pc:sldMk cId="0" sldId="259"/>
            <ac:picMk id="4" creationId="{67EBA602-CCE7-D9FD-F0DE-9BF1C8B365D5}"/>
          </ac:picMkLst>
        </pc:picChg>
      </pc:sldChg>
      <pc:sldChg chg="addSp delSp mod modNotes modNotesTx">
        <pc:chgData name="Lai, Wilson" userId="2840974a-0d84-4886-90a9-9a3ed79f3a48" providerId="ADAL" clId="{9F23B798-9E84-4552-BA63-E776E805C424}" dt="2026-08-02T08:24:21.354" v="314" actId="6549"/>
        <pc:sldMkLst>
          <pc:docMk/>
          <pc:sldMk cId="0" sldId="260"/>
        </pc:sldMkLst>
        <pc:picChg chg="del">
          <ac:chgData name="Lai, Wilson" userId="2840974a-0d84-4886-90a9-9a3ed79f3a48" providerId="ADAL" clId="{9F23B798-9E84-4552-BA63-E776E805C424}" dt="2026-08-02T07:53:15.738" v="22" actId="21"/>
          <ac:picMkLst>
            <pc:docMk/>
            <pc:sldMk cId="0" sldId="260"/>
            <ac:picMk id="2" creationId="{00000000-0000-0000-0000-000000000000}"/>
          </ac:picMkLst>
        </pc:picChg>
        <pc:picChg chg="add">
          <ac:chgData name="Lai, Wilson" userId="2840974a-0d84-4886-90a9-9a3ed79f3a48" providerId="ADAL" clId="{9F23B798-9E84-4552-BA63-E776E805C424}" dt="2026-08-02T07:53:25.169" v="23" actId="22"/>
          <ac:picMkLst>
            <pc:docMk/>
            <pc:sldMk cId="0" sldId="260"/>
            <ac:picMk id="4" creationId="{A8DEAC88-2B3D-57D8-BAC2-0E84569F0E4D}"/>
          </ac:picMkLst>
        </pc:picChg>
      </pc:sldChg>
      <pc:sldChg chg="addSp delSp mod modNotes modNotesTx">
        <pc:chgData name="Lai, Wilson" userId="2840974a-0d84-4886-90a9-9a3ed79f3a48" providerId="ADAL" clId="{9F23B798-9E84-4552-BA63-E776E805C424}" dt="2026-08-02T08:24:26.155" v="315" actId="6549"/>
        <pc:sldMkLst>
          <pc:docMk/>
          <pc:sldMk cId="0" sldId="261"/>
        </pc:sldMkLst>
        <pc:picChg chg="del">
          <ac:chgData name="Lai, Wilson" userId="2840974a-0d84-4886-90a9-9a3ed79f3a48" providerId="ADAL" clId="{9F23B798-9E84-4552-BA63-E776E805C424}" dt="2026-08-02T07:53:27.456" v="24" actId="21"/>
          <ac:picMkLst>
            <pc:docMk/>
            <pc:sldMk cId="0" sldId="261"/>
            <ac:picMk id="2" creationId="{00000000-0000-0000-0000-000000000000}"/>
          </ac:picMkLst>
        </pc:picChg>
        <pc:picChg chg="add">
          <ac:chgData name="Lai, Wilson" userId="2840974a-0d84-4886-90a9-9a3ed79f3a48" providerId="ADAL" clId="{9F23B798-9E84-4552-BA63-E776E805C424}" dt="2026-08-02T07:53:39.033" v="25" actId="22"/>
          <ac:picMkLst>
            <pc:docMk/>
            <pc:sldMk cId="0" sldId="261"/>
            <ac:picMk id="4" creationId="{A8281E69-7F2C-5952-8538-462ABF051E5B}"/>
          </ac:picMkLst>
        </pc:picChg>
      </pc:sldChg>
      <pc:sldChg chg="addSp delSp mod modNotes modNotesTx">
        <pc:chgData name="Lai, Wilson" userId="2840974a-0d84-4886-90a9-9a3ed79f3a48" providerId="ADAL" clId="{9F23B798-9E84-4552-BA63-E776E805C424}" dt="2026-08-02T08:24:29.705" v="316" actId="6549"/>
        <pc:sldMkLst>
          <pc:docMk/>
          <pc:sldMk cId="0" sldId="262"/>
        </pc:sldMkLst>
        <pc:picChg chg="del">
          <ac:chgData name="Lai, Wilson" userId="2840974a-0d84-4886-90a9-9a3ed79f3a48" providerId="ADAL" clId="{9F23B798-9E84-4552-BA63-E776E805C424}" dt="2026-08-02T07:53:42.090" v="26" actId="21"/>
          <ac:picMkLst>
            <pc:docMk/>
            <pc:sldMk cId="0" sldId="262"/>
            <ac:picMk id="2" creationId="{00000000-0000-0000-0000-000000000000}"/>
          </ac:picMkLst>
        </pc:picChg>
        <pc:picChg chg="add">
          <ac:chgData name="Lai, Wilson" userId="2840974a-0d84-4886-90a9-9a3ed79f3a48" providerId="ADAL" clId="{9F23B798-9E84-4552-BA63-E776E805C424}" dt="2026-08-02T07:54:10.452" v="27" actId="22"/>
          <ac:picMkLst>
            <pc:docMk/>
            <pc:sldMk cId="0" sldId="262"/>
            <ac:picMk id="4" creationId="{23C6FE04-CBFF-CBBB-BD29-71663B989980}"/>
          </ac:picMkLst>
        </pc:picChg>
      </pc:sldChg>
      <pc:sldChg chg="addSp delSp mod modNotes modNotesTx">
        <pc:chgData name="Lai, Wilson" userId="2840974a-0d84-4886-90a9-9a3ed79f3a48" providerId="ADAL" clId="{9F23B798-9E84-4552-BA63-E776E805C424}" dt="2026-08-02T08:24:38.302" v="317" actId="6549"/>
        <pc:sldMkLst>
          <pc:docMk/>
          <pc:sldMk cId="0" sldId="263"/>
        </pc:sldMkLst>
        <pc:picChg chg="del">
          <ac:chgData name="Lai, Wilson" userId="2840974a-0d84-4886-90a9-9a3ed79f3a48" providerId="ADAL" clId="{9F23B798-9E84-4552-BA63-E776E805C424}" dt="2026-08-02T07:54:14.058" v="28" actId="21"/>
          <ac:picMkLst>
            <pc:docMk/>
            <pc:sldMk cId="0" sldId="263"/>
            <ac:picMk id="2" creationId="{00000000-0000-0000-0000-000000000000}"/>
          </ac:picMkLst>
        </pc:picChg>
        <pc:picChg chg="add">
          <ac:chgData name="Lai, Wilson" userId="2840974a-0d84-4886-90a9-9a3ed79f3a48" providerId="ADAL" clId="{9F23B798-9E84-4552-BA63-E776E805C424}" dt="2026-08-02T07:54:23.133" v="29" actId="22"/>
          <ac:picMkLst>
            <pc:docMk/>
            <pc:sldMk cId="0" sldId="263"/>
            <ac:picMk id="4" creationId="{018A0C68-3BFE-86C2-6FA1-78470328F8AD}"/>
          </ac:picMkLst>
        </pc:picChg>
      </pc:sldChg>
      <pc:sldChg chg="addSp delSp mod modNotes modNotesTx">
        <pc:chgData name="Lai, Wilson" userId="2840974a-0d84-4886-90a9-9a3ed79f3a48" providerId="ADAL" clId="{9F23B798-9E84-4552-BA63-E776E805C424}" dt="2026-08-02T08:24:47.183" v="321" actId="6549"/>
        <pc:sldMkLst>
          <pc:docMk/>
          <pc:sldMk cId="0" sldId="264"/>
        </pc:sldMkLst>
        <pc:picChg chg="del">
          <ac:chgData name="Lai, Wilson" userId="2840974a-0d84-4886-90a9-9a3ed79f3a48" providerId="ADAL" clId="{9F23B798-9E84-4552-BA63-E776E805C424}" dt="2026-08-02T07:54:26.077" v="30" actId="21"/>
          <ac:picMkLst>
            <pc:docMk/>
            <pc:sldMk cId="0" sldId="264"/>
            <ac:picMk id="2" creationId="{00000000-0000-0000-0000-000000000000}"/>
          </ac:picMkLst>
        </pc:picChg>
        <pc:picChg chg="add">
          <ac:chgData name="Lai, Wilson" userId="2840974a-0d84-4886-90a9-9a3ed79f3a48" providerId="ADAL" clId="{9F23B798-9E84-4552-BA63-E776E805C424}" dt="2026-08-02T07:54:34.933" v="31" actId="22"/>
          <ac:picMkLst>
            <pc:docMk/>
            <pc:sldMk cId="0" sldId="264"/>
            <ac:picMk id="4" creationId="{B637DF3A-7DAB-4DEA-6E90-698B94744E40}"/>
          </ac:picMkLst>
        </pc:picChg>
      </pc:sldChg>
      <pc:sldChg chg="addSp delSp mod modNotes modNotesTx">
        <pc:chgData name="Lai, Wilson" userId="2840974a-0d84-4886-90a9-9a3ed79f3a48" providerId="ADAL" clId="{9F23B798-9E84-4552-BA63-E776E805C424}" dt="2026-08-02T08:25:01.855" v="324" actId="6549"/>
        <pc:sldMkLst>
          <pc:docMk/>
          <pc:sldMk cId="0" sldId="265"/>
        </pc:sldMkLst>
        <pc:picChg chg="del">
          <ac:chgData name="Lai, Wilson" userId="2840974a-0d84-4886-90a9-9a3ed79f3a48" providerId="ADAL" clId="{9F23B798-9E84-4552-BA63-E776E805C424}" dt="2026-08-02T07:54:38.610" v="32" actId="21"/>
          <ac:picMkLst>
            <pc:docMk/>
            <pc:sldMk cId="0" sldId="265"/>
            <ac:picMk id="2" creationId="{00000000-0000-0000-0000-000000000000}"/>
          </ac:picMkLst>
        </pc:picChg>
        <pc:picChg chg="add">
          <ac:chgData name="Lai, Wilson" userId="2840974a-0d84-4886-90a9-9a3ed79f3a48" providerId="ADAL" clId="{9F23B798-9E84-4552-BA63-E776E805C424}" dt="2026-08-02T07:54:48.214" v="33" actId="22"/>
          <ac:picMkLst>
            <pc:docMk/>
            <pc:sldMk cId="0" sldId="265"/>
            <ac:picMk id="4" creationId="{CAD88089-E274-13E4-8C16-12C22D804714}"/>
          </ac:picMkLst>
        </pc:picChg>
      </pc:sldChg>
      <pc:sldChg chg="addSp delSp mod modNotes modNotesTx">
        <pc:chgData name="Lai, Wilson" userId="2840974a-0d84-4886-90a9-9a3ed79f3a48" providerId="ADAL" clId="{9F23B798-9E84-4552-BA63-E776E805C424}" dt="2026-08-02T08:25:06.061" v="326" actId="20577"/>
        <pc:sldMkLst>
          <pc:docMk/>
          <pc:sldMk cId="0" sldId="266"/>
        </pc:sldMkLst>
        <pc:picChg chg="del">
          <ac:chgData name="Lai, Wilson" userId="2840974a-0d84-4886-90a9-9a3ed79f3a48" providerId="ADAL" clId="{9F23B798-9E84-4552-BA63-E776E805C424}" dt="2026-08-02T07:54:50.494" v="34" actId="21"/>
          <ac:picMkLst>
            <pc:docMk/>
            <pc:sldMk cId="0" sldId="266"/>
            <ac:picMk id="2" creationId="{00000000-0000-0000-0000-000000000000}"/>
          </ac:picMkLst>
        </pc:picChg>
        <pc:picChg chg="add">
          <ac:chgData name="Lai, Wilson" userId="2840974a-0d84-4886-90a9-9a3ed79f3a48" providerId="ADAL" clId="{9F23B798-9E84-4552-BA63-E776E805C424}" dt="2026-08-02T07:55:05.448" v="35" actId="22"/>
          <ac:picMkLst>
            <pc:docMk/>
            <pc:sldMk cId="0" sldId="266"/>
            <ac:picMk id="4" creationId="{DC6A3132-3429-62CB-1FFE-7D36F1AF15F7}"/>
          </ac:picMkLst>
        </pc:picChg>
      </pc:sldChg>
      <pc:sldChg chg="addSp delSp mod modNotesTx">
        <pc:chgData name="Lai, Wilson" userId="2840974a-0d84-4886-90a9-9a3ed79f3a48" providerId="ADAL" clId="{9F23B798-9E84-4552-BA63-E776E805C424}" dt="2026-08-02T08:25:12.840" v="328" actId="20577"/>
        <pc:sldMkLst>
          <pc:docMk/>
          <pc:sldMk cId="0" sldId="267"/>
        </pc:sldMkLst>
        <pc:picChg chg="del">
          <ac:chgData name="Lai, Wilson" userId="2840974a-0d84-4886-90a9-9a3ed79f3a48" providerId="ADAL" clId="{9F23B798-9E84-4552-BA63-E776E805C424}" dt="2026-08-02T07:55:07.900" v="36" actId="21"/>
          <ac:picMkLst>
            <pc:docMk/>
            <pc:sldMk cId="0" sldId="267"/>
            <ac:picMk id="2" creationId="{00000000-0000-0000-0000-000000000000}"/>
          </ac:picMkLst>
        </pc:picChg>
        <pc:picChg chg="add">
          <ac:chgData name="Lai, Wilson" userId="2840974a-0d84-4886-90a9-9a3ed79f3a48" providerId="ADAL" clId="{9F23B798-9E84-4552-BA63-E776E805C424}" dt="2026-08-02T07:55:21.340" v="37" actId="22"/>
          <ac:picMkLst>
            <pc:docMk/>
            <pc:sldMk cId="0" sldId="267"/>
            <ac:picMk id="4" creationId="{A56EC173-3330-07EE-208B-B7096AF1F7A9}"/>
          </ac:picMkLst>
        </pc:picChg>
      </pc:sldChg>
      <pc:sldChg chg="addSp delSp modSp mod modNotes modNotesTx">
        <pc:chgData name="Lai, Wilson" userId="2840974a-0d84-4886-90a9-9a3ed79f3a48" providerId="ADAL" clId="{9F23B798-9E84-4552-BA63-E776E805C424}" dt="2026-08-02T08:25:20.235" v="332" actId="20577"/>
        <pc:sldMkLst>
          <pc:docMk/>
          <pc:sldMk cId="0" sldId="268"/>
        </pc:sldMkLst>
        <pc:picChg chg="del">
          <ac:chgData name="Lai, Wilson" userId="2840974a-0d84-4886-90a9-9a3ed79f3a48" providerId="ADAL" clId="{9F23B798-9E84-4552-BA63-E776E805C424}" dt="2026-08-02T07:55:23.926" v="38" actId="21"/>
          <ac:picMkLst>
            <pc:docMk/>
            <pc:sldMk cId="0" sldId="268"/>
            <ac:picMk id="2" creationId="{00000000-0000-0000-0000-000000000000}"/>
          </ac:picMkLst>
        </pc:picChg>
        <pc:picChg chg="add mod">
          <ac:chgData name="Lai, Wilson" userId="2840974a-0d84-4886-90a9-9a3ed79f3a48" providerId="ADAL" clId="{9F23B798-9E84-4552-BA63-E776E805C424}" dt="2026-08-02T08:14:06.828" v="275" actId="1035"/>
          <ac:picMkLst>
            <pc:docMk/>
            <pc:sldMk cId="0" sldId="268"/>
            <ac:picMk id="4" creationId="{A2309CA6-04D1-8B72-B9D0-CA0E456AEA13}"/>
          </ac:picMkLst>
        </pc:picChg>
      </pc:sldChg>
      <pc:sldChg chg="ord modNotes modNotesTx">
        <pc:chgData name="Lai, Wilson" userId="2840974a-0d84-4886-90a9-9a3ed79f3a48" providerId="ADAL" clId="{9F23B798-9E84-4552-BA63-E776E805C424}" dt="2026-08-02T08:25:29.122" v="334" actId="20577"/>
        <pc:sldMkLst>
          <pc:docMk/>
          <pc:sldMk cId="0" sldId="269"/>
        </pc:sldMkLst>
      </pc:sldChg>
      <pc:sldChg chg="ord modNotes modNotesTx">
        <pc:chgData name="Lai, Wilson" userId="2840974a-0d84-4886-90a9-9a3ed79f3a48" providerId="ADAL" clId="{9F23B798-9E84-4552-BA63-E776E805C424}" dt="2026-08-02T08:25:33.303" v="335" actId="20577"/>
        <pc:sldMkLst>
          <pc:docMk/>
          <pc:sldMk cId="0" sldId="270"/>
        </pc:sldMkLst>
      </pc:sldChg>
      <pc:sldChg chg="addSp delSp mod modNotes modNotesTx">
        <pc:chgData name="Lai, Wilson" userId="2840974a-0d84-4886-90a9-9a3ed79f3a48" providerId="ADAL" clId="{9F23B798-9E84-4552-BA63-E776E805C424}" dt="2026-08-02T08:13:08.779" v="266" actId="20577"/>
        <pc:sldMkLst>
          <pc:docMk/>
          <pc:sldMk cId="0" sldId="271"/>
        </pc:sldMkLst>
        <pc:picChg chg="del">
          <ac:chgData name="Lai, Wilson" userId="2840974a-0d84-4886-90a9-9a3ed79f3a48" providerId="ADAL" clId="{9F23B798-9E84-4552-BA63-E776E805C424}" dt="2026-08-02T07:55:35.373" v="40" actId="21"/>
          <ac:picMkLst>
            <pc:docMk/>
            <pc:sldMk cId="0" sldId="271"/>
            <ac:picMk id="2" creationId="{00000000-0000-0000-0000-000000000000}"/>
          </ac:picMkLst>
        </pc:picChg>
        <pc:picChg chg="add">
          <ac:chgData name="Lai, Wilson" userId="2840974a-0d84-4886-90a9-9a3ed79f3a48" providerId="ADAL" clId="{9F23B798-9E84-4552-BA63-E776E805C424}" dt="2026-08-02T07:55:45.403" v="41" actId="22"/>
          <ac:picMkLst>
            <pc:docMk/>
            <pc:sldMk cId="0" sldId="271"/>
            <ac:picMk id="4" creationId="{BB4A08E9-4B4C-9AF3-4DA8-96E1E742995A}"/>
          </ac:picMkLst>
        </pc:picChg>
      </pc:sldChg>
      <pc:sldChg chg="addSp delSp mod modNotes modNotesTx">
        <pc:chgData name="Lai, Wilson" userId="2840974a-0d84-4886-90a9-9a3ed79f3a48" providerId="ADAL" clId="{9F23B798-9E84-4552-BA63-E776E805C424}" dt="2026-08-02T08:12:26.738" v="263" actId="20577"/>
        <pc:sldMkLst>
          <pc:docMk/>
          <pc:sldMk cId="3987856228" sldId="272"/>
        </pc:sldMkLst>
        <pc:picChg chg="del">
          <ac:chgData name="Lai, Wilson" userId="2840974a-0d84-4886-90a9-9a3ed79f3a48" providerId="ADAL" clId="{9F23B798-9E84-4552-BA63-E776E805C424}" dt="2026-08-02T07:55:48.948" v="42" actId="21"/>
          <ac:picMkLst>
            <pc:docMk/>
            <pc:sldMk cId="3987856228" sldId="272"/>
            <ac:picMk id="3" creationId="{DBD1DDDC-EFCF-6FF8-9D65-4D1B4DFC441A}"/>
          </ac:picMkLst>
        </pc:picChg>
        <pc:picChg chg="add">
          <ac:chgData name="Lai, Wilson" userId="2840974a-0d84-4886-90a9-9a3ed79f3a48" providerId="ADAL" clId="{9F23B798-9E84-4552-BA63-E776E805C424}" dt="2026-08-02T07:56:02.183" v="43" actId="22"/>
          <ac:picMkLst>
            <pc:docMk/>
            <pc:sldMk cId="3987856228" sldId="272"/>
            <ac:picMk id="4" creationId="{4C795CDC-C7A1-8754-D812-FAA28828290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94421C-1B86-4545-9FA4-9E6805E43A1A}"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295B24-4452-4BD8-ABB4-29A9A79E57D1}" type="slidenum">
              <a:rPr lang="en-US" smtClean="0"/>
              <a:t>‹#›</a:t>
            </a:fld>
            <a:endParaRPr lang="en-US"/>
          </a:p>
        </p:txBody>
      </p:sp>
    </p:spTree>
    <p:extLst>
      <p:ext uri="{BB962C8B-B14F-4D97-AF65-F5344CB8AC3E}">
        <p14:creationId xmlns:p14="http://schemas.microsoft.com/office/powerpoint/2010/main" val="3193066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https://www.youtube.com/watch?v=H26lu1CCi3o</a:t>
            </a:r>
          </a:p>
          <a:p>
            <a:endParaRPr lang="en-US" dirty="0"/>
          </a:p>
          <a:p>
            <a:r>
              <a:rPr lang="en-US" b="1" dirty="0"/>
              <a:t>Key Themes:</a:t>
            </a:r>
            <a:r>
              <a:rPr lang="en-US" dirty="0"/>
              <a:t> AI infrastructure cycle, macro tech strategy, temporary speed bump vs. total bust.</a:t>
            </a:r>
          </a:p>
          <a:p>
            <a:endParaRPr lang="en-US" dirty="0"/>
          </a:p>
          <a:p>
            <a:r>
              <a:rPr lang="en-US" dirty="0"/>
              <a:t>Welcome, everyone. Today, we’re looking at navigating the AI infrastructure cycle, leveraging insights and data compiled by hedge fund manager Dan Niles.</a:t>
            </a:r>
          </a:p>
          <a:p>
            <a:r>
              <a:rPr lang="en-US" dirty="0"/>
              <a:t>AI is undeniably the most transformative technology of our generation—joining canals, railroads, and the internet in its ability to fundamentally alter human productivity.</a:t>
            </a:r>
          </a:p>
          <a:p>
            <a:r>
              <a:rPr lang="en-US" dirty="0"/>
              <a:t>However, every transformative technology eventually triggers overinvestment and ends in a bust as companies scramble out of fear of becoming obsolete.</a:t>
            </a:r>
          </a:p>
          <a:p>
            <a:r>
              <a:rPr lang="en-US" dirty="0"/>
              <a:t>The core thesis today: We are not at the final bust yet. Instead, we are navigating a high-velocity "speed bump". While the infrastructure buildout is real, the path forward will be violently volatile.</a:t>
            </a:r>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a:t>
            </a:fld>
            <a:endParaRPr lang="en-US"/>
          </a:p>
        </p:txBody>
      </p:sp>
    </p:spTree>
    <p:extLst>
      <p:ext uri="{BB962C8B-B14F-4D97-AF65-F5344CB8AC3E}">
        <p14:creationId xmlns:p14="http://schemas.microsoft.com/office/powerpoint/2010/main" val="3606867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look at the left side of the slide, </a:t>
            </a:r>
            <a:r>
              <a:rPr lang="en-US" b="1" dirty="0"/>
              <a:t>"The Reality"</a:t>
            </a:r>
            <a:r>
              <a:rPr lang="en-US" dirty="0"/>
              <a:t> highlights something that is virtually indisputable: Artificial Intelligence is the most transformative technology of our generation. Just like canals, railroads, and the early internet, AI will fundamentally alter global productivity. As veteran tech investor Dan Niles pointed out, every major technological leap creates a long-term economic shift. If we look back at the dot-com era—starting with the release of Netscape Navigator in late 1994—the semiconductor index skyrocketed by 850% through to the peak in March 2000. The core premise behind AI value creation is very real.</a:t>
            </a:r>
          </a:p>
          <a:p>
            <a:r>
              <a:rPr lang="en-US" dirty="0"/>
              <a:t>However, turning to the right panel—</a:t>
            </a:r>
            <a:r>
              <a:rPr lang="en-US" b="1" dirty="0"/>
              <a:t>"The Consequence"</a:t>
            </a:r>
            <a:r>
              <a:rPr lang="en-US" dirty="0"/>
              <a:t>—history teaches us that human psychology guarantees overinvestment during periods of paradigm shifts. Right now, market sentiment reflects extreme greed and high pressure. Why? Because corporate leaders are terrified of becoming the next Nokia or BlackBerry—dominant market leaders who failed to adapt and were wiped out almost overnight. When dozens of competing companies spend aggressively, each assuming </a:t>
            </a:r>
            <a:r>
              <a:rPr lang="en-US" i="1" dirty="0"/>
              <a:t>they</a:t>
            </a:r>
            <a:r>
              <a:rPr lang="en-US" dirty="0"/>
              <a:t> will capture significant market share, overinvestment is inevitable. Ultimately, every transformative tech cycle eventually ends in a market shakeout or bust.</a:t>
            </a:r>
          </a:p>
          <a:p>
            <a:r>
              <a:rPr lang="en-US" dirty="0"/>
              <a:t>That brings us to our </a:t>
            </a:r>
            <a:r>
              <a:rPr lang="en-US" b="1" dirty="0"/>
              <a:t>"Current Status"</a:t>
            </a:r>
            <a:r>
              <a:rPr lang="en-US" dirty="0"/>
              <a:t> at the bottom of the slide: </a:t>
            </a:r>
            <a:r>
              <a:rPr lang="en-US" b="1" dirty="0"/>
              <a:t>We are not at the final bust yet—we are hitting a high-velocity speed bump</a:t>
            </a:r>
            <a:r>
              <a:rPr lang="en-US" dirty="0"/>
              <a:t>. In the 1990s internet boom, before the actual bubble burst in 2000, the market suffered two brutal 50% drawdowns—one in 1995 and another in 1997. What we are seeing today in the AI space is a similar mid-cycle adjustment. Companies are transitioning from unconstrained AI experimentation to cost optimization—such as Uber blowing through its annual AI budget in four months, or Coinbase cutting spend by routing queries to cheaper models. Enterprise CFOs are now demanding a clear Return on Invested Capital before approving the next wave of capital expenditure.</a:t>
            </a:r>
          </a:p>
          <a:p>
            <a:r>
              <a:rPr lang="en-US" dirty="0"/>
              <a:t>To summarize: The underlying infrastructure buildout is real—driven by next-generation demands like Agentic AI, which requires 10 to 100 times more compute tokens. However, the path forward will be violently volatile. As investors and leaders, we must distinguish between short-term macro speed bumps and the end of the cycle, while managing downside risk in an environment driven by high valuation and rapid commoditization.</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Core Thesis:</a:t>
            </a:r>
            <a:r>
              <a:rPr lang="en-US" sz="1200" kern="1200" dirty="0">
                <a:solidFill>
                  <a:schemeClr val="tx1"/>
                </a:solidFill>
                <a:effectLst/>
                <a:latin typeface="+mn-lt"/>
                <a:ea typeface="+mn-ea"/>
                <a:cs typeface="+mn-cs"/>
              </a:rPr>
              <a:t> Artificial Intelligence represents the single most transformative technology of our generation. Similar to historical infrastructure buildouts like canals, railroads, and the internet, AI is set to permanently restructure human productivity.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Human Nature &amp; Investment Behavior:</a:t>
            </a:r>
            <a:r>
              <a:rPr lang="en-US" sz="1200" kern="1200" dirty="0">
                <a:solidFill>
                  <a:schemeClr val="tx1"/>
                </a:solidFill>
                <a:effectLst/>
                <a:latin typeface="+mn-lt"/>
                <a:ea typeface="+mn-ea"/>
                <a:cs typeface="+mn-cs"/>
              </a:rPr>
              <a:t> Every single major technological revolution inevitably leads to a massive market bubble. Corporate FOMO (fear of missing out)—specifically the fear of becoming obsolete like Nokia or BlackBerry —forces aggressive overinvestment as companies race to secure market share.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Current Market Status:</a:t>
            </a:r>
            <a:r>
              <a:rPr lang="en-US" sz="1200" kern="1200" dirty="0">
                <a:solidFill>
                  <a:schemeClr val="tx1"/>
                </a:solidFill>
                <a:effectLst/>
                <a:latin typeface="+mn-lt"/>
                <a:ea typeface="+mn-ea"/>
                <a:cs typeface="+mn-cs"/>
              </a:rPr>
              <a:t> We have </a:t>
            </a:r>
            <a:r>
              <a:rPr lang="en-US" sz="1200" b="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reached the final, apocalyptic market bust. Instead, the market is currently navigating a high-velocity, highly volatile </a:t>
            </a:r>
            <a:r>
              <a:rPr lang="en-US" sz="1200" b="1" kern="1200" dirty="0">
                <a:solidFill>
                  <a:schemeClr val="tx1"/>
                </a:solidFill>
                <a:effectLst/>
                <a:latin typeface="+mn-lt"/>
                <a:ea typeface="+mn-ea"/>
                <a:cs typeface="+mn-cs"/>
              </a:rPr>
              <a:t>"speed bump"</a:t>
            </a:r>
            <a:r>
              <a:rPr lang="en-US" sz="1200" kern="1200" dirty="0">
                <a:solidFill>
                  <a:schemeClr val="tx1"/>
                </a:solidFill>
                <a:effectLst/>
                <a:latin typeface="+mn-lt"/>
                <a:ea typeface="+mn-ea"/>
                <a:cs typeface="+mn-cs"/>
              </a:rPr>
              <a:t>. While the physical infrastructure buildout is genuine, the path forward will be marked by severe volatility. </a:t>
            </a: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2</a:t>
            </a:fld>
            <a:endParaRPr lang="en-US"/>
          </a:p>
        </p:txBody>
      </p:sp>
    </p:spTree>
    <p:extLst>
      <p:ext uri="{BB962C8B-B14F-4D97-AF65-F5344CB8AC3E}">
        <p14:creationId xmlns:p14="http://schemas.microsoft.com/office/powerpoint/2010/main" val="478793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today’s AI environment, we look at the 1995–2000 semiconductor cycle. </a:t>
            </a:r>
          </a:p>
          <a:p>
            <a:r>
              <a:rPr lang="en-US" sz="1200" kern="1200" dirty="0">
                <a:solidFill>
                  <a:schemeClr val="tx1"/>
                </a:solidFill>
                <a:effectLst/>
                <a:latin typeface="+mn-lt"/>
                <a:ea typeface="+mn-ea"/>
                <a:cs typeface="+mn-cs"/>
              </a:rPr>
              <a:t>Late 1994 was the "Netscape Navigator moment"—the equivalent of ChatGPT launching—which kicked off the public web browser era. </a:t>
            </a:r>
          </a:p>
          <a:p>
            <a:r>
              <a:rPr lang="en-US" sz="1200" kern="1200" dirty="0">
                <a:solidFill>
                  <a:schemeClr val="tx1"/>
                </a:solidFill>
                <a:effectLst/>
                <a:latin typeface="+mn-lt"/>
                <a:ea typeface="+mn-ea"/>
                <a:cs typeface="+mn-cs"/>
              </a:rPr>
              <a:t>Over the next five years, the semiconductor index surged by </a:t>
            </a:r>
            <a:r>
              <a:rPr lang="en-US" sz="1200" b="1" kern="1200" dirty="0">
                <a:solidFill>
                  <a:schemeClr val="tx1"/>
                </a:solidFill>
                <a:effectLst/>
                <a:latin typeface="+mn-lt"/>
                <a:ea typeface="+mn-ea"/>
                <a:cs typeface="+mn-cs"/>
              </a:rPr>
              <a:t>+850%</a:t>
            </a:r>
            <a:r>
              <a:rPr lang="en-US" sz="1200" kern="1200" dirty="0">
                <a:solidFill>
                  <a:schemeClr val="tx1"/>
                </a:solidFill>
                <a:effectLst/>
                <a:latin typeface="+mn-lt"/>
                <a:ea typeface="+mn-ea"/>
                <a:cs typeface="+mn-cs"/>
              </a:rPr>
              <a:t> up to the March 2000 peak. </a:t>
            </a:r>
          </a:p>
          <a:p>
            <a:r>
              <a:rPr lang="en-US" sz="1200" kern="1200" dirty="0">
                <a:solidFill>
                  <a:schemeClr val="tx1"/>
                </a:solidFill>
                <a:effectLst/>
                <a:latin typeface="+mn-lt"/>
                <a:ea typeface="+mn-ea"/>
                <a:cs typeface="+mn-cs"/>
              </a:rPr>
              <a:t>However, capturing that 850% secular bull run required surviving </a:t>
            </a:r>
            <a:r>
              <a:rPr lang="en-US" sz="1200" b="1" kern="1200" dirty="0">
                <a:solidFill>
                  <a:schemeClr val="tx1"/>
                </a:solidFill>
                <a:effectLst/>
                <a:latin typeface="+mn-lt"/>
                <a:ea typeface="+mn-ea"/>
                <a:cs typeface="+mn-cs"/>
              </a:rPr>
              <a:t>two separate ~50% drawdowns</a:t>
            </a:r>
            <a:r>
              <a:rPr lang="en-US" sz="1200" kern="1200" dirty="0">
                <a:solidFill>
                  <a:schemeClr val="tx1"/>
                </a:solidFill>
                <a:effectLst/>
                <a:latin typeface="+mn-lt"/>
                <a:ea typeface="+mn-ea"/>
                <a:cs typeface="+mn-cs"/>
              </a:rPr>
              <a:t>—one in mid-1995 and another in late 1997. </a:t>
            </a:r>
          </a:p>
          <a:p>
            <a:r>
              <a:rPr lang="en-US" sz="1200" kern="1200" dirty="0">
                <a:solidFill>
                  <a:schemeClr val="tx1"/>
                </a:solidFill>
                <a:effectLst/>
                <a:latin typeface="+mn-lt"/>
                <a:ea typeface="+mn-ea"/>
                <a:cs typeface="+mn-cs"/>
              </a:rPr>
              <a:t>Dan Niles points out that current AI market volatility mimics these exact mid-cycle pullbacks. A massive long-term secular trend does not mean smooth sailing.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Historical Analogy (The Netscape Moment):</a:t>
            </a:r>
            <a:r>
              <a:rPr lang="en-US" sz="1200" kern="1200" dirty="0">
                <a:solidFill>
                  <a:schemeClr val="tx1"/>
                </a:solidFill>
                <a:effectLst/>
                <a:latin typeface="+mn-lt"/>
                <a:ea typeface="+mn-ea"/>
                <a:cs typeface="+mn-cs"/>
              </a:rPr>
              <a:t> Draw a direct parallel between late 1994 (the launch of Netscape Navigator—the "</a:t>
            </a:r>
            <a:r>
              <a:rPr lang="en-US" sz="1200" kern="1200" dirty="0" err="1">
                <a:solidFill>
                  <a:schemeClr val="tx1"/>
                </a:solidFill>
                <a:effectLst/>
                <a:latin typeface="+mn-lt"/>
                <a:ea typeface="+mn-ea"/>
                <a:cs typeface="+mn-cs"/>
              </a:rPr>
              <a:t>ChatGP</a:t>
            </a:r>
            <a:r>
              <a:rPr lang="en-US" sz="1200" kern="1200" dirty="0">
                <a:solidFill>
                  <a:schemeClr val="tx1"/>
                </a:solidFill>
                <a:effectLst/>
                <a:latin typeface="+mn-lt"/>
                <a:ea typeface="+mn-ea"/>
                <a:cs typeface="+mn-cs"/>
              </a:rPr>
              <a:t> moment" of the internet age) and current AI adoption.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Anatomy of an 850% Bull Run:</a:t>
            </a:r>
            <a:r>
              <a:rPr lang="en-US" sz="1200" kern="1200" dirty="0">
                <a:solidFill>
                  <a:schemeClr val="tx1"/>
                </a:solidFill>
                <a:effectLst/>
                <a:latin typeface="+mn-lt"/>
                <a:ea typeface="+mn-ea"/>
                <a:cs typeface="+mn-cs"/>
              </a:rPr>
              <a:t> Between late 1994 and the market peak in March 2000, semiconductor stocks delivered an astounding 850% total return.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Surviving Severe Drawdowns:</a:t>
            </a:r>
            <a:r>
              <a:rPr lang="en-US" sz="1200" kern="1200" dirty="0">
                <a:solidFill>
                  <a:schemeClr val="tx1"/>
                </a:solidFill>
                <a:effectLst/>
                <a:latin typeface="+mn-lt"/>
                <a:ea typeface="+mn-ea"/>
                <a:cs typeface="+mn-cs"/>
              </a:rPr>
              <a:t> Reaching that 850% run required investors to endure </a:t>
            </a:r>
            <a:r>
              <a:rPr lang="en-US" sz="1200" b="1" kern="1200" dirty="0">
                <a:solidFill>
                  <a:schemeClr val="tx1"/>
                </a:solidFill>
                <a:effectLst/>
                <a:latin typeface="+mn-lt"/>
                <a:ea typeface="+mn-ea"/>
                <a:cs typeface="+mn-cs"/>
              </a:rPr>
              <a:t>two distinct 50% drawdowns</a:t>
            </a:r>
            <a:r>
              <a:rPr lang="en-US" sz="1200" kern="1200" dirty="0">
                <a:solidFill>
                  <a:schemeClr val="tx1"/>
                </a:solidFill>
                <a:effectLst/>
                <a:latin typeface="+mn-lt"/>
                <a:ea typeface="+mn-ea"/>
                <a:cs typeface="+mn-cs"/>
              </a:rPr>
              <a:t>: </a:t>
            </a:r>
          </a:p>
          <a:p>
            <a:pPr marL="685800" lvl="1" indent="-228600">
              <a:buFont typeface="+mj-lt"/>
              <a:buAutoNum type="arabicPeriod"/>
            </a:pPr>
            <a:r>
              <a:rPr lang="en-US" sz="1200" b="1" kern="1200" dirty="0">
                <a:solidFill>
                  <a:schemeClr val="tx1"/>
                </a:solidFill>
                <a:effectLst/>
                <a:latin typeface="+mn-lt"/>
                <a:ea typeface="+mn-ea"/>
                <a:cs typeface="+mn-cs"/>
              </a:rPr>
              <a:t>Mid-1995 Drawdown:</a:t>
            </a:r>
            <a:r>
              <a:rPr lang="en-US" sz="1200" kern="1200" dirty="0">
                <a:solidFill>
                  <a:schemeClr val="tx1"/>
                </a:solidFill>
                <a:effectLst/>
                <a:latin typeface="+mn-lt"/>
                <a:ea typeface="+mn-ea"/>
                <a:cs typeface="+mn-cs"/>
              </a:rPr>
              <a:t> A ~50% drop that lasted nearly a year before resuming its upward trajectory. </a:t>
            </a:r>
          </a:p>
          <a:p>
            <a:pPr marL="685800" lvl="1" indent="-228600">
              <a:buFont typeface="+mj-lt"/>
              <a:buAutoNum type="arabicPeriod"/>
            </a:pPr>
            <a:r>
              <a:rPr lang="en-US" sz="1200" b="1" kern="1200" dirty="0">
                <a:solidFill>
                  <a:schemeClr val="tx1"/>
                </a:solidFill>
                <a:effectLst/>
                <a:latin typeface="+mn-lt"/>
                <a:ea typeface="+mn-ea"/>
                <a:cs typeface="+mn-cs"/>
              </a:rPr>
              <a:t>Late-1997 Drawdown:</a:t>
            </a:r>
            <a:r>
              <a:rPr lang="en-US" sz="1200" kern="1200" dirty="0">
                <a:solidFill>
                  <a:schemeClr val="tx1"/>
                </a:solidFill>
                <a:effectLst/>
                <a:latin typeface="+mn-lt"/>
                <a:ea typeface="+mn-ea"/>
                <a:cs typeface="+mn-cs"/>
              </a:rPr>
              <a:t> A second ~50% decline before the final parabolic blow-off top in 2000.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Today’s AI market volatility is not the end of the secular bull market; it is mimicking the cyclical 50% drawdowns seen in mid-cycle semiconductor history.</a:t>
            </a:r>
          </a:p>
          <a:p>
            <a:endParaRPr lang="en-US" dirty="0"/>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3</a:t>
            </a:fld>
            <a:endParaRPr lang="en-US"/>
          </a:p>
        </p:txBody>
      </p:sp>
    </p:spTree>
    <p:extLst>
      <p:ext uri="{BB962C8B-B14F-4D97-AF65-F5344CB8AC3E}">
        <p14:creationId xmlns:p14="http://schemas.microsoft.com/office/powerpoint/2010/main" val="2097904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In Q1, the mandate across corporate enterprise was "Token Maximization"—testing AI capabilities at all costs.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By Q2, CFOs hit a wall and shifted to "Token Minimization" to protect quarterly earnings.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Real-world examples highlight this budget friction:</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Uber (April):</a:t>
            </a:r>
            <a:r>
              <a:rPr lang="en-US" sz="1200" kern="1200" dirty="0">
                <a:solidFill>
                  <a:schemeClr val="tx1"/>
                </a:solidFill>
                <a:effectLst/>
                <a:latin typeface="+mn-lt"/>
                <a:ea typeface="+mn-ea"/>
                <a:cs typeface="+mn-cs"/>
              </a:rPr>
              <a:t> Blew through its entire annual AI budget in just four months.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Coinbase (June):</a:t>
            </a:r>
            <a:r>
              <a:rPr lang="en-US" sz="1200" kern="1200" dirty="0">
                <a:solidFill>
                  <a:schemeClr val="tx1"/>
                </a:solidFill>
                <a:effectLst/>
                <a:latin typeface="+mn-lt"/>
                <a:ea typeface="+mn-ea"/>
                <a:cs typeface="+mn-cs"/>
              </a:rPr>
              <a:t> Slashed AI spend by 50% by routing queries away from expensive frontier models to cheaper options.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While the top 1% of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continue to drive market spend, the remaining 99% of enterprises are running into hard budget ceilings.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Shift in Enterprise Behavior:</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Q1 (Maximization):</a:t>
            </a:r>
            <a:r>
              <a:rPr lang="en-US" sz="1200" kern="1200" dirty="0">
                <a:solidFill>
                  <a:schemeClr val="tx1"/>
                </a:solidFill>
                <a:effectLst/>
                <a:latin typeface="+mn-lt"/>
                <a:ea typeface="+mn-ea"/>
                <a:cs typeface="+mn-cs"/>
              </a:rPr>
              <a:t> Enterprises urged engineers to use as many LLM tokens as possible to test capabilities.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Q2 (Minimization):</a:t>
            </a:r>
            <a:r>
              <a:rPr lang="en-US" sz="1200" kern="1200" dirty="0">
                <a:solidFill>
                  <a:schemeClr val="tx1"/>
                </a:solidFill>
                <a:effectLst/>
                <a:latin typeface="+mn-lt"/>
                <a:ea typeface="+mn-ea"/>
                <a:cs typeface="+mn-cs"/>
              </a:rPr>
              <a:t> CFOs stepped in to protect quarterly earnings by imposing strict cost controls on AI budgets.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Case Studies: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Uber (April):</a:t>
            </a:r>
            <a:r>
              <a:rPr lang="en-US" sz="1200" kern="1200" dirty="0">
                <a:solidFill>
                  <a:schemeClr val="tx1"/>
                </a:solidFill>
                <a:effectLst/>
                <a:latin typeface="+mn-lt"/>
                <a:ea typeface="+mn-ea"/>
                <a:cs typeface="+mn-cs"/>
              </a:rPr>
              <a:t> Exhausted its entire annual AI budget within just four months.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Coinbase (June):</a:t>
            </a:r>
            <a:r>
              <a:rPr lang="en-US" sz="1200" kern="1200" dirty="0">
                <a:solidFill>
                  <a:schemeClr val="tx1"/>
                </a:solidFill>
                <a:effectLst/>
                <a:latin typeface="+mn-lt"/>
                <a:ea typeface="+mn-ea"/>
                <a:cs typeface="+mn-cs"/>
              </a:rPr>
              <a:t> Slashed AI costs by roughly 50% by intelligently routing queries to cheaper, lighter models.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Structural Divide:</a:t>
            </a:r>
            <a:r>
              <a:rPr lang="en-US" sz="1200" kern="1200" dirty="0">
                <a:solidFill>
                  <a:schemeClr val="tx1"/>
                </a:solidFill>
                <a:effectLst/>
                <a:latin typeface="+mn-lt"/>
                <a:ea typeface="+mn-ea"/>
                <a:cs typeface="+mn-cs"/>
              </a:rPr>
              <a:t> A sharp divergence has emerged: the top 1% of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continue massive infrastructure spend, whereas the remaining 99% of enterprise adopters are hitting strict capital budget ceilings. </a:t>
            </a:r>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4</a:t>
            </a:fld>
            <a:endParaRPr lang="en-US"/>
          </a:p>
        </p:txBody>
      </p:sp>
    </p:spTree>
    <p:extLst>
      <p:ext uri="{BB962C8B-B14F-4D97-AF65-F5344CB8AC3E}">
        <p14:creationId xmlns:p14="http://schemas.microsoft.com/office/powerpoint/2010/main" val="3597628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break down where value actually accrues in the AI stack: </a:t>
            </a:r>
          </a:p>
          <a:p>
            <a:pPr marL="228600" indent="-228600">
              <a:buFont typeface="+mj-lt"/>
              <a:buAutoNum type="arabicPeriod"/>
            </a:pPr>
            <a:r>
              <a:rPr lang="en-US" sz="1200" b="1" kern="1200" dirty="0">
                <a:solidFill>
                  <a:schemeClr val="tx1"/>
                </a:solidFill>
                <a:effectLst/>
                <a:latin typeface="+mn-lt"/>
                <a:ea typeface="+mn-ea"/>
                <a:cs typeface="+mn-cs"/>
              </a:rPr>
              <a:t>Hardware / Infrastructure (Bottom):</a:t>
            </a:r>
            <a:r>
              <a:rPr lang="en-US" sz="1200" kern="1200" dirty="0">
                <a:solidFill>
                  <a:schemeClr val="tx1"/>
                </a:solidFill>
                <a:effectLst/>
                <a:latin typeface="+mn-lt"/>
                <a:ea typeface="+mn-ea"/>
                <a:cs typeface="+mn-cs"/>
              </a:rPr>
              <a:t> Captures definitive, physical spend. You cannot open-source a physical silicon chip, giving hardware the strong value accrual right now. </a:t>
            </a:r>
          </a:p>
          <a:p>
            <a:pPr marL="228600" indent="-228600">
              <a:buFont typeface="+mj-lt"/>
              <a:buAutoNum type="arabicPeriod"/>
            </a:pPr>
            <a:r>
              <a:rPr lang="en-US" sz="1200" b="1" kern="1200" dirty="0">
                <a:solidFill>
                  <a:schemeClr val="tx1"/>
                </a:solidFill>
                <a:effectLst/>
                <a:latin typeface="+mn-lt"/>
                <a:ea typeface="+mn-ea"/>
                <a:cs typeface="+mn-cs"/>
              </a:rPr>
              <a:t>Models / LLMs (Middle):</a:t>
            </a:r>
            <a:r>
              <a:rPr lang="en-US" sz="1200" kern="1200" dirty="0">
                <a:solidFill>
                  <a:schemeClr val="tx1"/>
                </a:solidFill>
                <a:effectLst/>
                <a:latin typeface="+mn-lt"/>
                <a:ea typeface="+mn-ea"/>
                <a:cs typeface="+mn-cs"/>
              </a:rPr>
              <a:t> Squeezed severely. Models are rapidly becoming commoditized utility—like electricity. They are caught between hyper-expensive frontier models and virtually free open-source options. </a:t>
            </a:r>
          </a:p>
          <a:p>
            <a:pPr marL="228600" indent="-228600">
              <a:buFont typeface="+mj-lt"/>
              <a:buAutoNum type="arabicPeriod"/>
            </a:pPr>
            <a:r>
              <a:rPr lang="en-US" sz="1200" b="1" kern="1200" dirty="0">
                <a:solidFill>
                  <a:schemeClr val="tx1"/>
                </a:solidFill>
                <a:effectLst/>
                <a:latin typeface="+mn-lt"/>
                <a:ea typeface="+mn-ea"/>
                <a:cs typeface="+mn-cs"/>
              </a:rPr>
              <a:t>Applications (Top):</a:t>
            </a:r>
            <a:r>
              <a:rPr lang="en-US" sz="1200" kern="1200" dirty="0">
                <a:solidFill>
                  <a:schemeClr val="tx1"/>
                </a:solidFill>
                <a:effectLst/>
                <a:latin typeface="+mn-lt"/>
                <a:ea typeface="+mn-ea"/>
                <a:cs typeface="+mn-cs"/>
              </a:rPr>
              <a:t> The ultimate long-term winners sit here, building consumer/enterprise sticky products on top of cheap, commoditized intelligence.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Value Accrual at the Hardware Layer:</a:t>
            </a:r>
            <a:r>
              <a:rPr lang="en-US" sz="1200" kern="1200" dirty="0">
                <a:solidFill>
                  <a:schemeClr val="tx1"/>
                </a:solidFill>
                <a:effectLst/>
                <a:latin typeface="+mn-lt"/>
                <a:ea typeface="+mn-ea"/>
                <a:cs typeface="+mn-cs"/>
              </a:rPr>
              <a:t> Physical chips and compute infrastructure capture the definitive spend because hardware cannot be open-sourced.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Model Layer Squeeze:</a:t>
            </a:r>
            <a:r>
              <a:rPr lang="en-US" sz="1200" kern="1200" dirty="0">
                <a:solidFill>
                  <a:schemeClr val="tx1"/>
                </a:solidFill>
                <a:effectLst/>
                <a:latin typeface="+mn-lt"/>
                <a:ea typeface="+mn-ea"/>
                <a:cs typeface="+mn-cs"/>
              </a:rPr>
              <a:t> Base LLM models are rapidly becoming a commoditized utility—much like electricity. Proprietary model builders are squeezed between expensive frontier development costs and free open-source solutions.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Application Layer Value Capture:</a:t>
            </a:r>
            <a:r>
              <a:rPr lang="en-US" sz="1200" kern="1200" dirty="0">
                <a:solidFill>
                  <a:schemeClr val="tx1"/>
                </a:solidFill>
                <a:effectLst/>
                <a:latin typeface="+mn-lt"/>
                <a:ea typeface="+mn-ea"/>
                <a:cs typeface="+mn-cs"/>
              </a:rPr>
              <a:t> Over time, the ultimate winners will be application platforms that leverage cheap, ubiquitous intelligence to deliver end-user productivity.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5</a:t>
            </a:fld>
            <a:endParaRPr lang="en-US"/>
          </a:p>
        </p:txBody>
      </p:sp>
    </p:spTree>
    <p:extLst>
      <p:ext uri="{BB962C8B-B14F-4D97-AF65-F5344CB8AC3E}">
        <p14:creationId xmlns:p14="http://schemas.microsoft.com/office/powerpoint/2010/main" val="3312336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at key players across target focus, lock-in, and threat levels: </a:t>
            </a:r>
          </a:p>
          <a:p>
            <a:r>
              <a:rPr lang="en-US" sz="1200" b="1" kern="1200" dirty="0">
                <a:solidFill>
                  <a:schemeClr val="tx1"/>
                </a:solidFill>
                <a:effectLst/>
                <a:latin typeface="+mn-lt"/>
                <a:ea typeface="+mn-ea"/>
                <a:cs typeface="+mn-cs"/>
              </a:rPr>
              <a:t>OpenAI:</a:t>
            </a:r>
            <a:r>
              <a:rPr lang="en-US" sz="1200" kern="1200" dirty="0">
                <a:solidFill>
                  <a:schemeClr val="tx1"/>
                </a:solidFill>
                <a:effectLst/>
                <a:latin typeface="+mn-lt"/>
                <a:ea typeface="+mn-ea"/>
                <a:cs typeface="+mn-cs"/>
              </a:rPr>
              <a:t> Consumer focus, but low lock-in. High risk of being a single point of failure as it gets squeezed between B2B leaders and free open-source models. </a:t>
            </a:r>
          </a:p>
          <a:p>
            <a:r>
              <a:rPr lang="en-US" sz="1200" b="1" kern="1200" dirty="0">
                <a:solidFill>
                  <a:schemeClr val="tx1"/>
                </a:solidFill>
                <a:effectLst/>
                <a:latin typeface="+mn-lt"/>
                <a:ea typeface="+mn-ea"/>
                <a:cs typeface="+mn-cs"/>
              </a:rPr>
              <a:t>Anthropic:</a:t>
            </a:r>
            <a:r>
              <a:rPr lang="en-US" sz="1200" kern="1200" dirty="0">
                <a:solidFill>
                  <a:schemeClr val="tx1"/>
                </a:solidFill>
                <a:effectLst/>
                <a:latin typeface="+mn-lt"/>
                <a:ea typeface="+mn-ea"/>
                <a:cs typeface="+mn-cs"/>
              </a:rPr>
              <a:t> B2B / Enterprise focus with high integration lock-in. Strong position because enterprises willingly pay for functional utility. </a:t>
            </a:r>
          </a:p>
          <a:p>
            <a:r>
              <a:rPr lang="en-US" sz="1200" b="1" kern="1200" dirty="0">
                <a:solidFill>
                  <a:schemeClr val="tx1"/>
                </a:solidFill>
                <a:effectLst/>
                <a:latin typeface="+mn-lt"/>
                <a:ea typeface="+mn-ea"/>
                <a:cs typeface="+mn-cs"/>
              </a:rPr>
              <a:t>Google (Gemini):</a:t>
            </a:r>
            <a:r>
              <a:rPr lang="en-US" sz="1200" kern="1200" dirty="0">
                <a:solidFill>
                  <a:schemeClr val="tx1"/>
                </a:solidFill>
                <a:effectLst/>
                <a:latin typeface="+mn-lt"/>
                <a:ea typeface="+mn-ea"/>
                <a:cs typeface="+mn-cs"/>
              </a:rPr>
              <a:t> Ecosystem play with unmatched data lock-in from decades of free consumer search data. </a:t>
            </a:r>
          </a:p>
          <a:p>
            <a:r>
              <a:rPr lang="en-US" sz="1200" b="1" kern="1200" dirty="0">
                <a:solidFill>
                  <a:schemeClr val="tx1"/>
                </a:solidFill>
                <a:effectLst/>
                <a:latin typeface="+mn-lt"/>
                <a:ea typeface="+mn-ea"/>
                <a:cs typeface="+mn-cs"/>
              </a:rPr>
              <a:t>Chinese Open-Source (DeepSeek / Kimi K3):</a:t>
            </a:r>
            <a:r>
              <a:rPr lang="en-US" sz="1200" kern="1200" dirty="0">
                <a:solidFill>
                  <a:schemeClr val="tx1"/>
                </a:solidFill>
                <a:effectLst/>
                <a:latin typeface="+mn-lt"/>
                <a:ea typeface="+mn-ea"/>
                <a:cs typeface="+mn-cs"/>
              </a:rPr>
              <a:t> Global disruptor offering performance 90% cheaper. Posit a severe threat by delivering leading-edge performance despite US chip bans.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0" indent="0">
              <a:buFont typeface="Arial" panose="020B0604020202020204" pitchFamily="34" charset="0"/>
              <a:buNone/>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OpenAI (High Single-Point-of-Failure Risk):</a:t>
            </a:r>
            <a:r>
              <a:rPr lang="en-US" sz="1200" kern="1200" dirty="0">
                <a:solidFill>
                  <a:schemeClr val="tx1"/>
                </a:solidFill>
                <a:effectLst/>
                <a:latin typeface="+mn-lt"/>
                <a:ea typeface="+mn-ea"/>
                <a:cs typeface="+mn-cs"/>
              </a:rPr>
              <a:t> Heavily focused on consumers who expect free access. Squeezed between enterprise-focused competitors and free open-source models.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Anthropic (Strong B2B Positioning):</a:t>
            </a:r>
            <a:r>
              <a:rPr lang="en-US" sz="1200" kern="1200" dirty="0">
                <a:solidFill>
                  <a:schemeClr val="tx1"/>
                </a:solidFill>
                <a:effectLst/>
                <a:latin typeface="+mn-lt"/>
                <a:ea typeface="+mn-ea"/>
                <a:cs typeface="+mn-cs"/>
              </a:rPr>
              <a:t> Positioned effectively in enterprise/B2B sectors where corporate clients pay for utility and workflows. High platform stickiness once integrated.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Google / Gemini (Formidable Ecosystem Advantage):</a:t>
            </a:r>
            <a:r>
              <a:rPr lang="en-US" sz="1200" kern="1200" dirty="0">
                <a:solidFill>
                  <a:schemeClr val="tx1"/>
                </a:solidFill>
                <a:effectLst/>
                <a:latin typeface="+mn-lt"/>
                <a:ea typeface="+mn-ea"/>
                <a:cs typeface="+mn-cs"/>
              </a:rPr>
              <a:t> Holds decades of consumer search and video training data. Deep integration into existing web ecosystems provides unparalleled scale. </a:t>
            </a: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6</a:t>
            </a:fld>
            <a:endParaRPr lang="en-US"/>
          </a:p>
        </p:txBody>
      </p:sp>
    </p:spTree>
    <p:extLst>
      <p:ext uri="{BB962C8B-B14F-4D97-AF65-F5344CB8AC3E}">
        <p14:creationId xmlns:p14="http://schemas.microsoft.com/office/powerpoint/2010/main" val="1232787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"Necessity is the mother of invention." Being cut off from top-tier US silicon forced extreme optimization in Chinese software engineering. </a:t>
            </a:r>
          </a:p>
          <a:p>
            <a:r>
              <a:rPr lang="en-US" sz="1200" kern="1200" dirty="0">
                <a:solidFill>
                  <a:schemeClr val="tx1"/>
                </a:solidFill>
                <a:effectLst/>
                <a:latin typeface="+mn-lt"/>
                <a:ea typeface="+mn-ea"/>
                <a:cs typeface="+mn-cs"/>
              </a:rPr>
              <a:t>Furthermore, Chinese developers face minimal training data privacy constraints and benefit from unrestricted infrastructure deployment (e.g., power grids built on demand). </a:t>
            </a:r>
          </a:p>
          <a:p>
            <a:r>
              <a:rPr lang="en-US" sz="1200" kern="1200" dirty="0">
                <a:solidFill>
                  <a:schemeClr val="tx1"/>
                </a:solidFill>
                <a:effectLst/>
                <a:latin typeface="+mn-lt"/>
                <a:ea typeface="+mn-ea"/>
                <a:cs typeface="+mn-cs"/>
              </a:rPr>
              <a:t>Models like Kimi K3 and DeepSeek match leading-edge MMLU benchmarks at a fraction of the cost, threatening to commoditize the entire US model layer.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Innovation Under Constraints:</a:t>
            </a:r>
            <a:r>
              <a:rPr lang="en-US" sz="1200" kern="1200" dirty="0">
                <a:solidFill>
                  <a:schemeClr val="tx1"/>
                </a:solidFill>
                <a:effectLst/>
                <a:latin typeface="+mn-lt"/>
                <a:ea typeface="+mn-ea"/>
                <a:cs typeface="+mn-cs"/>
              </a:rPr>
              <a:t> US hardware sanctions restricted Chinese access to top-tier GPUs. This forced Chinese software engineers to radically optimize code and architecture. </a:t>
            </a:r>
          </a:p>
          <a:p>
            <a:r>
              <a:rPr lang="en-US" sz="1200" b="1" kern="1200" dirty="0">
                <a:solidFill>
                  <a:schemeClr val="tx1"/>
                </a:solidFill>
                <a:effectLst/>
                <a:latin typeface="+mn-lt"/>
                <a:ea typeface="+mn-ea"/>
                <a:cs typeface="+mn-cs"/>
              </a:rPr>
              <a:t>Structural Advantages:</a:t>
            </a:r>
            <a:r>
              <a:rPr lang="en-US" sz="1200" kern="1200" dirty="0">
                <a:solidFill>
                  <a:schemeClr val="tx1"/>
                </a:solidFill>
                <a:effectLst/>
                <a:latin typeface="+mn-lt"/>
                <a:ea typeface="+mn-ea"/>
                <a:cs typeface="+mn-cs"/>
              </a:rPr>
              <a:t> Chinese developers operate with negligible privacy constraints regarding training data and can deploy unrestricted power infrastructure on demand. </a:t>
            </a:r>
          </a:p>
          <a:p>
            <a:r>
              <a:rPr lang="en-US" sz="1200" b="1" kern="1200" dirty="0">
                <a:solidFill>
                  <a:schemeClr val="tx1"/>
                </a:solidFill>
                <a:effectLst/>
                <a:latin typeface="+mn-lt"/>
                <a:ea typeface="+mn-ea"/>
                <a:cs typeface="+mn-cs"/>
              </a:rPr>
              <a:t>The Threat to Western Models:</a:t>
            </a:r>
            <a:r>
              <a:rPr lang="en-US" sz="1200" kern="1200" dirty="0">
                <a:solidFill>
                  <a:schemeClr val="tx1"/>
                </a:solidFill>
                <a:effectLst/>
                <a:latin typeface="+mn-lt"/>
                <a:ea typeface="+mn-ea"/>
                <a:cs typeface="+mn-cs"/>
              </a:rPr>
              <a:t> Open-source models like DeepSeek and Kimi K3 hit leading-edge benchmarks at a fraction of Western costs, threatening to commoditize base LLM software globally.</a:t>
            </a:r>
          </a:p>
          <a:p>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7</a:t>
            </a:fld>
            <a:endParaRPr lang="en-US"/>
          </a:p>
        </p:txBody>
      </p:sp>
    </p:spTree>
    <p:extLst>
      <p:ext uri="{BB962C8B-B14F-4D97-AF65-F5344CB8AC3E}">
        <p14:creationId xmlns:p14="http://schemas.microsoft.com/office/powerpoint/2010/main" val="1975800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Hardware demand is evolving through three distinct phases: </a:t>
            </a:r>
          </a:p>
          <a:p>
            <a:r>
              <a:rPr lang="en-US" sz="1200" b="1" kern="1200" dirty="0">
                <a:solidFill>
                  <a:schemeClr val="tx1"/>
                </a:solidFill>
                <a:effectLst/>
                <a:latin typeface="+mn-lt"/>
                <a:ea typeface="+mn-ea"/>
                <a:cs typeface="+mn-cs"/>
              </a:rPr>
              <a:t>Phase 1 — Training &amp; Inference (GPU Heavy):</a:t>
            </a:r>
            <a:r>
              <a:rPr lang="en-US" sz="1200" kern="1200" dirty="0">
                <a:solidFill>
                  <a:schemeClr val="tx1"/>
                </a:solidFill>
                <a:effectLst/>
                <a:latin typeface="+mn-lt"/>
                <a:ea typeface="+mn-ea"/>
                <a:cs typeface="+mn-cs"/>
              </a:rPr>
              <a:t> Predicting the next word in parallel loops. Highly repetitive and GPU-optimized. </a:t>
            </a:r>
          </a:p>
          <a:p>
            <a:r>
              <a:rPr lang="en-US" sz="1200" b="1" kern="1200" dirty="0">
                <a:solidFill>
                  <a:schemeClr val="tx1"/>
                </a:solidFill>
                <a:effectLst/>
                <a:latin typeface="+mn-lt"/>
                <a:ea typeface="+mn-ea"/>
                <a:cs typeface="+mn-cs"/>
              </a:rPr>
              <a:t>Phase 2 — Agentic AI (CPU Surge):</a:t>
            </a:r>
            <a:r>
              <a:rPr lang="en-US" sz="1200" kern="1200" dirty="0">
                <a:solidFill>
                  <a:schemeClr val="tx1"/>
                </a:solidFill>
                <a:effectLst/>
                <a:latin typeface="+mn-lt"/>
                <a:ea typeface="+mn-ea"/>
                <a:cs typeface="+mn-cs"/>
              </a:rPr>
              <a:t> Multi-step sequential logic (e.g., "Pull video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Summarize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Build Deck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Book Flight"). Requires deep logic routing and orchestration, driving a surge in high-performance CPU demand. </a:t>
            </a:r>
          </a:p>
          <a:p>
            <a:r>
              <a:rPr lang="en-US" sz="1200" b="1" kern="1200" dirty="0">
                <a:solidFill>
                  <a:schemeClr val="tx1"/>
                </a:solidFill>
                <a:effectLst/>
                <a:latin typeface="+mn-lt"/>
                <a:ea typeface="+mn-ea"/>
                <a:cs typeface="+mn-cs"/>
              </a:rPr>
              <a:t>Phase 3 — Geographic Linking (Optical Networks):</a:t>
            </a:r>
            <a:r>
              <a:rPr lang="en-US" sz="1200" kern="1200" dirty="0">
                <a:solidFill>
                  <a:schemeClr val="tx1"/>
                </a:solidFill>
                <a:effectLst/>
                <a:latin typeface="+mn-lt"/>
                <a:ea typeface="+mn-ea"/>
                <a:cs typeface="+mn-cs"/>
              </a:rPr>
              <a:t> Power constraints and "not-in-my-backyard" data center resistance force data centers to disperse geographically. High-speed optical fiber connects scattered centers into one massive virtual mainframe.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1 (Training &amp; Inference - GPU Dominant):</a:t>
            </a:r>
            <a:r>
              <a:rPr lang="en-US" sz="1200" kern="1200" dirty="0">
                <a:solidFill>
                  <a:schemeClr val="tx1"/>
                </a:solidFill>
                <a:effectLst/>
                <a:latin typeface="+mn-lt"/>
                <a:ea typeface="+mn-ea"/>
                <a:cs typeface="+mn-cs"/>
              </a:rPr>
              <a:t> Highly repetitive parallel compute focused on word prediction.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2 (Agentic AI - CPU Surge):</a:t>
            </a:r>
            <a:r>
              <a:rPr lang="en-US" sz="1200" kern="1200" dirty="0">
                <a:solidFill>
                  <a:schemeClr val="tx1"/>
                </a:solidFill>
                <a:effectLst/>
                <a:latin typeface="+mn-lt"/>
                <a:ea typeface="+mn-ea"/>
                <a:cs typeface="+mn-cs"/>
              </a:rPr>
              <a:t> Transition to multi-step, complex execution (e.g., pulling videos, summarizing, generating slides, booking travel. These sequential tasks require deep logic orchestration, driving a surge in high-performance CPU demand.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3 (Geographic Interconnects - Optical Networks):</a:t>
            </a:r>
            <a:r>
              <a:rPr lang="en-US" sz="1200" kern="1200" dirty="0">
                <a:solidFill>
                  <a:schemeClr val="tx1"/>
                </a:solidFill>
                <a:effectLst/>
                <a:latin typeface="+mn-lt"/>
                <a:ea typeface="+mn-ea"/>
                <a:cs typeface="+mn-cs"/>
              </a:rPr>
              <a:t> Local resistance to massive data centers forces facilities to be geographically dispersed. Connecting these dispersed nodes into single virtual supercomputers will require a major shift from copper to high-speed optical fiber links.</a:t>
            </a:r>
            <a:endParaRPr lang="en-US" dirty="0"/>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8</a:t>
            </a:fld>
            <a:endParaRPr lang="en-US"/>
          </a:p>
        </p:txBody>
      </p:sp>
    </p:spTree>
    <p:extLst>
      <p:ext uri="{BB962C8B-B14F-4D97-AF65-F5344CB8AC3E}">
        <p14:creationId xmlns:p14="http://schemas.microsoft.com/office/powerpoint/2010/main" val="2056366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TSMC controls ~90% of advanced global chip manufacturing, making it a more potent geopolitical single point of failure than traditional military assets. </a:t>
            </a:r>
          </a:p>
          <a:p>
            <a:r>
              <a:rPr lang="en-US" sz="1200" kern="1200" dirty="0">
                <a:solidFill>
                  <a:schemeClr val="tx1"/>
                </a:solidFill>
                <a:effectLst/>
                <a:latin typeface="+mn-lt"/>
                <a:ea typeface="+mn-ea"/>
                <a:cs typeface="+mn-cs"/>
              </a:rPr>
              <a:t>The US desperately needs domestic, onshore manufacturing. </a:t>
            </a:r>
          </a:p>
          <a:p>
            <a:r>
              <a:rPr lang="en-US" sz="1200" kern="1200" dirty="0">
                <a:solidFill>
                  <a:schemeClr val="tx1"/>
                </a:solidFill>
                <a:effectLst/>
                <a:latin typeface="+mn-lt"/>
                <a:ea typeface="+mn-ea"/>
                <a:cs typeface="+mn-cs"/>
              </a:rPr>
              <a:t>Intel’s aggressive shift toward cutting-edge ASML High-NA EUV tools positions it not just as a business turnaround, but as a essential domestic geopolitical hedge against a Taiwan supply shock.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TSMC as a Single Point of Failure:</a:t>
            </a:r>
            <a:r>
              <a:rPr lang="en-US" sz="1200" kern="1200" dirty="0">
                <a:solidFill>
                  <a:schemeClr val="tx1"/>
                </a:solidFill>
                <a:effectLst/>
                <a:latin typeface="+mn-lt"/>
                <a:ea typeface="+mn-ea"/>
                <a:cs typeface="+mn-cs"/>
              </a:rPr>
              <a:t> TSMC produces over 90% of advanced semiconductor logic globally. This concentration makes it a critical geopolitical risk.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Intel Bypass Route:</a:t>
            </a:r>
            <a:r>
              <a:rPr lang="en-US" sz="1200" kern="1200" dirty="0">
                <a:solidFill>
                  <a:schemeClr val="tx1"/>
                </a:solidFill>
                <a:effectLst/>
                <a:latin typeface="+mn-lt"/>
                <a:ea typeface="+mn-ea"/>
                <a:cs typeface="+mn-cs"/>
              </a:rPr>
              <a:t> The United States </a:t>
            </a:r>
            <a:r>
              <a:rPr lang="en-US" sz="1200" kern="1200" dirty="0" err="1">
                <a:solidFill>
                  <a:schemeClr val="tx1"/>
                </a:solidFill>
                <a:effectLst/>
                <a:latin typeface="+mn-lt"/>
                <a:ea typeface="+mn-ea"/>
                <a:cs typeface="+mn-cs"/>
              </a:rPr>
              <a:t>urgentl</a:t>
            </a:r>
            <a:r>
              <a:rPr lang="en-US" sz="1200" kern="1200" dirty="0">
                <a:solidFill>
                  <a:schemeClr val="tx1"/>
                </a:solidFill>
                <a:effectLst/>
                <a:latin typeface="+mn-lt"/>
                <a:ea typeface="+mn-ea"/>
                <a:cs typeface="+mn-cs"/>
              </a:rPr>
              <a:t> requires domestic fabrication capability.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ASML High-NA Tools:</a:t>
            </a:r>
            <a:r>
              <a:rPr lang="en-US" sz="1200" kern="1200" dirty="0">
                <a:solidFill>
                  <a:schemeClr val="tx1"/>
                </a:solidFill>
                <a:effectLst/>
                <a:latin typeface="+mn-lt"/>
                <a:ea typeface="+mn-ea"/>
                <a:cs typeface="+mn-cs"/>
              </a:rPr>
              <a:t> Intel’s early adoption of ASML’s $400M High-NA EUV tools positions it as a key domestic hedge against potential Asian supply disruptions. Intel does not need to outperform TSMC across all metrics; it simply needs to provide a secure domestic alternative. </a:t>
            </a:r>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9</a:t>
            </a:fld>
            <a:endParaRPr lang="en-US"/>
          </a:p>
        </p:txBody>
      </p:sp>
    </p:spTree>
    <p:extLst>
      <p:ext uri="{BB962C8B-B14F-4D97-AF65-F5344CB8AC3E}">
        <p14:creationId xmlns:p14="http://schemas.microsoft.com/office/powerpoint/2010/main" val="2077775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broader macro environment presents severe risk constraints: </a:t>
            </a:r>
          </a:p>
          <a:p>
            <a:r>
              <a:rPr lang="en-US" sz="1200" b="1" kern="1200" dirty="0">
                <a:solidFill>
                  <a:schemeClr val="tx1"/>
                </a:solidFill>
                <a:effectLst/>
                <a:latin typeface="+mn-lt"/>
                <a:ea typeface="+mn-ea"/>
                <a:cs typeface="+mn-cs"/>
              </a:rPr>
              <a:t>Debt-to-GDP:</a:t>
            </a:r>
            <a:r>
              <a:rPr lang="en-US" sz="1200" kern="1200" dirty="0">
                <a:solidFill>
                  <a:schemeClr val="tx1"/>
                </a:solidFill>
                <a:effectLst/>
                <a:latin typeface="+mn-lt"/>
                <a:ea typeface="+mn-ea"/>
                <a:cs typeface="+mn-cs"/>
              </a:rPr>
              <a:t> Reaching 115%+ in sovereign debt. Running 6–7% fiscal deficits during periods of 25% S&amp;P earnings growth is unprecedented fiscal risk. </a:t>
            </a:r>
          </a:p>
          <a:p>
            <a:r>
              <a:rPr lang="en-US" sz="1200" b="1" kern="1200" dirty="0">
                <a:solidFill>
                  <a:schemeClr val="tx1"/>
                </a:solidFill>
                <a:effectLst/>
                <a:latin typeface="+mn-lt"/>
                <a:ea typeface="+mn-ea"/>
                <a:cs typeface="+mn-cs"/>
              </a:rPr>
              <a:t>Yields at 2007 Levels:</a:t>
            </a:r>
            <a:r>
              <a:rPr lang="en-US" sz="1200" kern="1200" dirty="0">
                <a:solidFill>
                  <a:schemeClr val="tx1"/>
                </a:solidFill>
                <a:effectLst/>
                <a:latin typeface="+mn-lt"/>
                <a:ea typeface="+mn-ea"/>
                <a:cs typeface="+mn-cs"/>
              </a:rPr>
              <a:t> 10-year and 30-year yields remain historically elevated. The bond market is signaling exhaustion with long-term lockups.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The business cycle has not been repealed. High debt loads constrain governments from simply borrowing their way out of the next true bust.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0" indent="0">
              <a:buFont typeface="Arial" panose="020B0604020202020204" pitchFamily="34" charset="0"/>
              <a:buNone/>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Sovereign Debt at Critical Levels:</a:t>
            </a:r>
            <a:r>
              <a:rPr lang="en-US" sz="1200" kern="1200" dirty="0">
                <a:solidFill>
                  <a:schemeClr val="tx1"/>
                </a:solidFill>
                <a:effectLst/>
                <a:latin typeface="+mn-lt"/>
                <a:ea typeface="+mn-ea"/>
                <a:cs typeface="+mn-cs"/>
              </a:rPr>
              <a:t> Debt-to-GDP ratios across major developed nations have surged dramatically. Running 6–7% government deficits during periods of strong corporate earnings growth reflects significant fiscal expansion.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Elevated Yield Environment:</a:t>
            </a:r>
            <a:r>
              <a:rPr lang="en-US" sz="1200" kern="1200" dirty="0">
                <a:solidFill>
                  <a:schemeClr val="tx1"/>
                </a:solidFill>
                <a:effectLst/>
                <a:latin typeface="+mn-lt"/>
                <a:ea typeface="+mn-ea"/>
                <a:cs typeface="+mn-cs"/>
              </a:rPr>
              <a:t> Long-term treasury yields remain near multi-year highs, signaling that bond markets are resisting long-term lockups at low yields.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Macro Implications:</a:t>
            </a:r>
            <a:r>
              <a:rPr lang="en-US" sz="1200" kern="1200" dirty="0">
                <a:solidFill>
                  <a:schemeClr val="tx1"/>
                </a:solidFill>
                <a:effectLst/>
                <a:latin typeface="+mn-lt"/>
                <a:ea typeface="+mn-ea"/>
                <a:cs typeface="+mn-cs"/>
              </a:rPr>
              <a:t> High sovereign debt levels severely constrain government capacity to borrow and stimulate the economy when the next major economic downturn arrives.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10</a:t>
            </a:fld>
            <a:endParaRPr lang="en-US"/>
          </a:p>
        </p:txBody>
      </p:sp>
    </p:spTree>
    <p:extLst>
      <p:ext uri="{BB962C8B-B14F-4D97-AF65-F5344CB8AC3E}">
        <p14:creationId xmlns:p14="http://schemas.microsoft.com/office/powerpoint/2010/main" val="902802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is the money for AI coming from? Enterprise CFOs cannot miss earnings, so capital is being aggressively cannibalized. </a:t>
            </a:r>
          </a:p>
          <a:p>
            <a:r>
              <a:rPr lang="en-US" sz="1200" kern="1200" dirty="0">
                <a:solidFill>
                  <a:schemeClr val="tx1"/>
                </a:solidFill>
                <a:effectLst/>
                <a:latin typeface="+mn-lt"/>
                <a:ea typeface="+mn-ea"/>
                <a:cs typeface="+mn-cs"/>
              </a:rPr>
              <a:t>Combined annual run rate for Anthropic and OpenAI jumped from $27B to over $75B in just six months. </a:t>
            </a:r>
          </a:p>
          <a:p>
            <a:r>
              <a:rPr lang="en-US" sz="1200" kern="1200" dirty="0">
                <a:solidFill>
                  <a:schemeClr val="tx1"/>
                </a:solidFill>
                <a:effectLst/>
                <a:latin typeface="+mn-lt"/>
                <a:ea typeface="+mn-ea"/>
                <a:cs typeface="+mn-cs"/>
              </a:rPr>
              <a:t>To fund this spend, corporate IT budgets are being ruthlessly slashed away from traditional IT services, SaaS, and media properties (viewed as "melting ice cubes").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Surging AI Budgets:</a:t>
            </a:r>
            <a:r>
              <a:rPr lang="en-US" sz="1200" kern="1200" dirty="0">
                <a:solidFill>
                  <a:schemeClr val="tx1"/>
                </a:solidFill>
                <a:effectLst/>
                <a:latin typeface="+mn-lt"/>
                <a:ea typeface="+mn-ea"/>
                <a:cs typeface="+mn-cs"/>
              </a:rPr>
              <a:t> Capital allocation toward primary AI model developers surged dramatically within short timeframes.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Cannibalization of Corporate IT Budgets:</a:t>
            </a:r>
            <a:r>
              <a:rPr lang="en-US" sz="1200" kern="1200" dirty="0">
                <a:solidFill>
                  <a:schemeClr val="tx1"/>
                </a:solidFill>
                <a:effectLst/>
                <a:latin typeface="+mn-lt"/>
                <a:ea typeface="+mn-ea"/>
                <a:cs typeface="+mn-cs"/>
              </a:rPr>
              <a:t> To keep quarterly earnings intact while funding AI buildouts, CFOs are reallocating funds away from traditional enterprise software, IT consulting, and legacy SaaS products.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Legacy Impact:</a:t>
            </a:r>
            <a:r>
              <a:rPr lang="en-US" sz="1200" kern="1200" dirty="0">
                <a:solidFill>
                  <a:schemeClr val="tx1"/>
                </a:solidFill>
                <a:effectLst/>
                <a:latin typeface="+mn-lt"/>
                <a:ea typeface="+mn-ea"/>
                <a:cs typeface="+mn-cs"/>
              </a:rPr>
              <a:t> Non-AI enterprise software and media sectors are increasingly treated as legacy lines during budget allocation cycles.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11</a:t>
            </a:fld>
            <a:endParaRPr lang="en-US"/>
          </a:p>
        </p:txBody>
      </p:sp>
    </p:spTree>
    <p:extLst>
      <p:ext uri="{BB962C8B-B14F-4D97-AF65-F5344CB8AC3E}">
        <p14:creationId xmlns:p14="http://schemas.microsoft.com/office/powerpoint/2010/main" val="2790829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Fundamentals catch up in the end: </a:t>
            </a:r>
          </a:p>
          <a:p>
            <a:r>
              <a:rPr lang="en-US" sz="1200" b="1" kern="1200" dirty="0">
                <a:solidFill>
                  <a:schemeClr val="tx1"/>
                </a:solidFill>
                <a:effectLst/>
                <a:latin typeface="+mn-lt"/>
                <a:ea typeface="+mn-ea"/>
                <a:cs typeface="+mn-cs"/>
              </a:rPr>
              <a:t>The Amazon Blueprint (1999–2001):</a:t>
            </a:r>
            <a:r>
              <a:rPr lang="en-US" sz="1200" kern="1200" dirty="0">
                <a:solidFill>
                  <a:schemeClr val="tx1"/>
                </a:solidFill>
                <a:effectLst/>
                <a:latin typeface="+mn-lt"/>
                <a:ea typeface="+mn-ea"/>
                <a:cs typeface="+mn-cs"/>
              </a:rPr>
              <a:t> Between 1999 and 2001, Amazon’s revenue almost doubled from $1.6B to $3.1B. Yet, its stock price plummeted </a:t>
            </a:r>
            <a:r>
              <a:rPr lang="en-US" sz="1200" b="1" kern="1200" dirty="0">
                <a:solidFill>
                  <a:schemeClr val="tx1"/>
                </a:solidFill>
                <a:effectLst/>
                <a:latin typeface="+mn-lt"/>
                <a:ea typeface="+mn-ea"/>
                <a:cs typeface="+mn-cs"/>
              </a:rPr>
              <a:t>95%</a:t>
            </a:r>
            <a:r>
              <a:rPr lang="en-US" sz="1200" kern="1200" dirty="0">
                <a:solidFill>
                  <a:schemeClr val="tx1"/>
                </a:solidFill>
                <a:effectLst/>
                <a:latin typeface="+mn-lt"/>
                <a:ea typeface="+mn-ea"/>
                <a:cs typeface="+mn-cs"/>
              </a:rPr>
              <a:t> because valuation multiples collapsed. </a:t>
            </a:r>
          </a:p>
          <a:p>
            <a:r>
              <a:rPr lang="en-US" sz="1200" b="1" kern="1200" dirty="0">
                <a:solidFill>
                  <a:schemeClr val="tx1"/>
                </a:solidFill>
                <a:effectLst/>
                <a:latin typeface="+mn-lt"/>
                <a:ea typeface="+mn-ea"/>
                <a:cs typeface="+mn-cs"/>
              </a:rPr>
              <a:t>Modern Application (SpaceX vs. Tesla):</a:t>
            </a:r>
            <a:r>
              <a:rPr lang="en-US" sz="1200" kern="1200" dirty="0">
                <a:solidFill>
                  <a:schemeClr val="tx1"/>
                </a:solidFill>
                <a:effectLst/>
                <a:latin typeface="+mn-lt"/>
                <a:ea typeface="+mn-ea"/>
                <a:cs typeface="+mn-cs"/>
              </a:rPr>
              <a:t> While SpaceX is a category-defining company, extreme EV-to-Sales multiples leave zero margin of safety. Tesla, trading at more compressed multiples, presents a relative valuation arbitrage opportunity.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Amazon Blueprint (1999–2001):</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Between 1999 and 2001, Amazon’s net revenues nearly doubled from $1.6B to $3.1B.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Despite strong revenue growth, its stock price declined 95% from peak to trough as market multiples compressed.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Modern Valuation Comparisons:</a:t>
            </a:r>
            <a:r>
              <a:rPr lang="en-US" sz="1200" kern="1200" dirty="0">
                <a:solidFill>
                  <a:schemeClr val="tx1"/>
                </a:solidFill>
                <a:effectLst/>
                <a:latin typeface="+mn-lt"/>
                <a:ea typeface="+mn-ea"/>
                <a:cs typeface="+mn-cs"/>
              </a:rPr>
              <a:t> High EV-to-Sales multiples leave minimal margin of safety for growth companies during market re-ratings. Comparing compressed multiples against premium-valued leaders offers potential valuation arbitrage opportunities.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Strong fundamental growth does not protect high-multiple stocks from sharp contractions during a broader market repricing.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12</a:t>
            </a:fld>
            <a:endParaRPr lang="en-US"/>
          </a:p>
        </p:txBody>
      </p:sp>
    </p:spTree>
    <p:extLst>
      <p:ext uri="{BB962C8B-B14F-4D97-AF65-F5344CB8AC3E}">
        <p14:creationId xmlns:p14="http://schemas.microsoft.com/office/powerpoint/2010/main" val="687163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Axiom: "The market can stay irrational longer than you can stay solvent." </a:t>
            </a:r>
          </a:p>
          <a:p>
            <a:r>
              <a:rPr lang="en-US" sz="1200" b="1" kern="1200" dirty="0">
                <a:solidFill>
                  <a:schemeClr val="tx1"/>
                </a:solidFill>
                <a:effectLst/>
                <a:latin typeface="+mn-lt"/>
                <a:ea typeface="+mn-ea"/>
                <a:cs typeface="+mn-cs"/>
              </a:rPr>
              <a:t>Volkswagen (2008):</a:t>
            </a:r>
            <a:r>
              <a:rPr lang="en-US" sz="1200" kern="1200" dirty="0">
                <a:solidFill>
                  <a:schemeClr val="tx1"/>
                </a:solidFill>
                <a:effectLst/>
                <a:latin typeface="+mn-lt"/>
                <a:ea typeface="+mn-ea"/>
                <a:cs typeface="+mn-cs"/>
              </a:rPr>
              <a:t> In the depths of the Global Financial Crisis, a short squeeze briefly made VW the most valuable company on Earth. </a:t>
            </a:r>
          </a:p>
          <a:p>
            <a:r>
              <a:rPr lang="en-US" sz="1200" b="1" kern="1200" dirty="0">
                <a:solidFill>
                  <a:schemeClr val="tx1"/>
                </a:solidFill>
                <a:effectLst/>
                <a:latin typeface="+mn-lt"/>
                <a:ea typeface="+mn-ea"/>
                <a:cs typeface="+mn-cs"/>
              </a:rPr>
              <a:t>GameStop (2021):</a:t>
            </a:r>
            <a:r>
              <a:rPr lang="en-US" sz="1200" kern="1200" dirty="0">
                <a:solidFill>
                  <a:schemeClr val="tx1"/>
                </a:solidFill>
                <a:effectLst/>
                <a:latin typeface="+mn-lt"/>
                <a:ea typeface="+mn-ea"/>
                <a:cs typeface="+mn-cs"/>
              </a:rPr>
              <a:t> Squeeze mechanics divorced entirely from fundamental underlying business value. </a:t>
            </a:r>
          </a:p>
          <a:p>
            <a:r>
              <a:rPr lang="en-US" sz="1200" b="1" kern="1200" dirty="0">
                <a:solidFill>
                  <a:schemeClr val="tx1"/>
                </a:solidFill>
                <a:effectLst/>
                <a:latin typeface="+mn-lt"/>
                <a:ea typeface="+mn-ea"/>
                <a:cs typeface="+mn-cs"/>
              </a:rPr>
              <a:t>The Shorting Rule:</a:t>
            </a:r>
            <a:r>
              <a:rPr lang="en-US" sz="1200" kern="1200" dirty="0">
                <a:solidFill>
                  <a:schemeClr val="tx1"/>
                </a:solidFill>
                <a:effectLst/>
                <a:latin typeface="+mn-lt"/>
                <a:ea typeface="+mn-ea"/>
                <a:cs typeface="+mn-cs"/>
              </a:rPr>
              <a:t> Shorting stocks fights the natural upward drive of human productivity, population growth, and inflation. Math dictates a maximum gain of 100%, but potential losses are infinite.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Market Squeeze Mechanics:</a:t>
            </a:r>
            <a:r>
              <a:rPr lang="en-US" sz="1200" kern="1200" dirty="0">
                <a:solidFill>
                  <a:schemeClr val="tx1"/>
                </a:solidFill>
                <a:effectLst/>
                <a:latin typeface="+mn-lt"/>
                <a:ea typeface="+mn-ea"/>
                <a:cs typeface="+mn-cs"/>
              </a:rPr>
              <a:t> Unconstrained short positions carry asymmetric downside risk, as prices can disconnect entirely from underlying fundamentals during market squeezes.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Historical Precedents: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Volkswagen (2008):</a:t>
            </a:r>
            <a:r>
              <a:rPr lang="en-US" sz="1200" kern="1200" dirty="0">
                <a:solidFill>
                  <a:schemeClr val="tx1"/>
                </a:solidFill>
                <a:effectLst/>
                <a:latin typeface="+mn-lt"/>
                <a:ea typeface="+mn-ea"/>
                <a:cs typeface="+mn-cs"/>
              </a:rPr>
              <a:t> A short squeeze briefly made VW the most valuable company in the world during the Global Financial Crisis.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GameStop (2021):</a:t>
            </a:r>
            <a:r>
              <a:rPr lang="en-US" sz="1200" kern="1200" dirty="0">
                <a:solidFill>
                  <a:schemeClr val="tx1"/>
                </a:solidFill>
                <a:effectLst/>
                <a:latin typeface="+mn-lt"/>
                <a:ea typeface="+mn-ea"/>
                <a:cs typeface="+mn-cs"/>
              </a:rPr>
              <a:t> Rapid retail buying mechanics squeezed heavily shorted positions regardless of financial metrics.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Structural Drift:</a:t>
            </a:r>
            <a:r>
              <a:rPr lang="en-US" sz="1200" kern="1200" dirty="0">
                <a:solidFill>
                  <a:schemeClr val="tx1"/>
                </a:solidFill>
                <a:effectLst/>
                <a:latin typeface="+mn-lt"/>
                <a:ea typeface="+mn-ea"/>
                <a:cs typeface="+mn-cs"/>
              </a:rPr>
              <a:t> Shorting equities fights long-term economic expansion, productivity growth, and inflation. Max upside is 100%, whereas max loss is theoretically unlimited.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13</a:t>
            </a:fld>
            <a:endParaRPr lang="en-US"/>
          </a:p>
        </p:txBody>
      </p:sp>
    </p:spTree>
    <p:extLst>
      <p:ext uri="{BB962C8B-B14F-4D97-AF65-F5344CB8AC3E}">
        <p14:creationId xmlns:p14="http://schemas.microsoft.com/office/powerpoint/2010/main" val="2472840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Strong Convictions, Loosely Held:</a:t>
            </a:r>
            <a:r>
              <a:rPr lang="en-US" sz="1200" kern="1200" dirty="0">
                <a:solidFill>
                  <a:schemeClr val="tx1"/>
                </a:solidFill>
                <a:effectLst/>
                <a:latin typeface="+mn-lt"/>
                <a:ea typeface="+mn-ea"/>
                <a:cs typeface="+mn-cs"/>
              </a:rPr>
              <a:t> Be fully prepared to downgrade your entire portfolio when the data changes (as in the 2000 tech bust or the 2024 token minimization shift). Adaptability beats stubbornness every time. </a:t>
            </a:r>
          </a:p>
          <a:p>
            <a:r>
              <a:rPr lang="en-US" sz="1200" b="1" kern="1200" dirty="0">
                <a:solidFill>
                  <a:schemeClr val="tx1"/>
                </a:solidFill>
                <a:effectLst/>
                <a:latin typeface="+mn-lt"/>
                <a:ea typeface="+mn-ea"/>
                <a:cs typeface="+mn-cs"/>
              </a:rPr>
              <a:t>Management &gt; Product (The Worlds of Wonder Lesson):</a:t>
            </a:r>
            <a:r>
              <a:rPr lang="en-US" sz="1200" kern="1200" dirty="0">
                <a:solidFill>
                  <a:schemeClr val="tx1"/>
                </a:solidFill>
                <a:effectLst/>
                <a:latin typeface="+mn-lt"/>
                <a:ea typeface="+mn-ea"/>
                <a:cs typeface="+mn-cs"/>
              </a:rPr>
              <a:t> In 1987, Worlds of Wonder had two of the top 10 selling toys (Teddy Ruxpin, Laser Tag) and still filed for bankruptcy by Christmas because management failed at production and distribution execution. </a:t>
            </a:r>
          </a:p>
          <a:p>
            <a:r>
              <a:rPr lang="en-US" sz="1200" b="1" kern="1200" dirty="0">
                <a:solidFill>
                  <a:schemeClr val="tx1"/>
                </a:solidFill>
                <a:effectLst/>
                <a:latin typeface="+mn-lt"/>
                <a:ea typeface="+mn-ea"/>
                <a:cs typeface="+mn-cs"/>
              </a:rPr>
              <a:t>Margin of Safety:</a:t>
            </a:r>
            <a:r>
              <a:rPr lang="en-US" sz="1200" kern="1200" dirty="0">
                <a:solidFill>
                  <a:schemeClr val="tx1"/>
                </a:solidFill>
                <a:effectLst/>
                <a:latin typeface="+mn-lt"/>
                <a:ea typeface="+mn-ea"/>
                <a:cs typeface="+mn-cs"/>
              </a:rPr>
              <a:t> Never assume you hold the perpetual winner. Market leaders change (Nokia once held 40% phone market share). Aggressively protect downside to survive.</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Talking Points: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Strong Convictions, Loosely Held:</a:t>
            </a:r>
            <a:r>
              <a:rPr lang="en-US" sz="1200" kern="1200" dirty="0">
                <a:solidFill>
                  <a:schemeClr val="tx1"/>
                </a:solidFill>
                <a:effectLst/>
                <a:latin typeface="+mn-lt"/>
                <a:ea typeface="+mn-ea"/>
                <a:cs typeface="+mn-cs"/>
              </a:rPr>
              <a:t> Adapt quickly and change portfolio allocation as fresh market data emerges.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Management &gt; Product (The Worlds of Wonder Lesson):</a:t>
            </a:r>
            <a:r>
              <a:rPr lang="en-US" sz="1200" kern="1200" dirty="0">
                <a:solidFill>
                  <a:schemeClr val="tx1"/>
                </a:solidFill>
                <a:effectLst/>
                <a:latin typeface="+mn-lt"/>
                <a:ea typeface="+mn-ea"/>
                <a:cs typeface="+mn-cs"/>
              </a:rPr>
              <a:t> Having top-selling consumer products (e.g., Teddy Ruxpin, Lazer Tag) is meaningless without disciplined operational execution, production, and distribution management.</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Margin of Safety:</a:t>
            </a:r>
            <a:r>
              <a:rPr lang="en-US" sz="1200" kern="1200" dirty="0">
                <a:solidFill>
                  <a:schemeClr val="tx1"/>
                </a:solidFill>
                <a:effectLst/>
                <a:latin typeface="+mn-lt"/>
                <a:ea typeface="+mn-ea"/>
                <a:cs typeface="+mn-cs"/>
              </a:rPr>
              <a:t> Never assume today's market leader will remain dominant indefinitely (e.g., Nokia previously held 40% mobile market share). Aggressively hedge downside risk to navigate full market cycles.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14</a:t>
            </a:fld>
            <a:endParaRPr lang="en-US"/>
          </a:p>
        </p:txBody>
      </p:sp>
    </p:spTree>
    <p:extLst>
      <p:ext uri="{BB962C8B-B14F-4D97-AF65-F5344CB8AC3E}">
        <p14:creationId xmlns:p14="http://schemas.microsoft.com/office/powerpoint/2010/main" val="2213606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"Paper portfolios teach you nothing. Losing money is visceral. Get in the arena and figure out what you are made of." </a:t>
            </a:r>
          </a:p>
          <a:p>
            <a:r>
              <a:rPr lang="en-US" sz="1200" kern="1200" dirty="0">
                <a:solidFill>
                  <a:schemeClr val="tx1"/>
                </a:solidFill>
                <a:effectLst/>
                <a:latin typeface="+mn-lt"/>
                <a:ea typeface="+mn-ea"/>
                <a:cs typeface="+mn-cs"/>
              </a:rPr>
              <a:t>The best fund managers are only right roughly </a:t>
            </a:r>
            <a:r>
              <a:rPr lang="en-US" sz="1200" b="1" kern="1200" dirty="0">
                <a:solidFill>
                  <a:schemeClr val="tx1"/>
                </a:solidFill>
                <a:effectLst/>
                <a:latin typeface="+mn-lt"/>
                <a:ea typeface="+mn-ea"/>
                <a:cs typeface="+mn-cs"/>
              </a:rPr>
              <a:t>60%</a:t>
            </a:r>
            <a:r>
              <a:rPr lang="en-US" sz="1200" kern="1200" dirty="0">
                <a:solidFill>
                  <a:schemeClr val="tx1"/>
                </a:solidFill>
                <a:effectLst/>
                <a:latin typeface="+mn-lt"/>
                <a:ea typeface="+mn-ea"/>
                <a:cs typeface="+mn-cs"/>
              </a:rPr>
              <a:t> of the time. </a:t>
            </a:r>
          </a:p>
          <a:p>
            <a:r>
              <a:rPr lang="en-US" sz="1200" kern="1200" dirty="0">
                <a:solidFill>
                  <a:schemeClr val="tx1"/>
                </a:solidFill>
                <a:effectLst/>
                <a:latin typeface="+mn-lt"/>
                <a:ea typeface="+mn-ea"/>
                <a:cs typeface="+mn-cs"/>
              </a:rPr>
              <a:t>Long-term survival depends entirely on how effectively you manage and mitigate the </a:t>
            </a:r>
            <a:r>
              <a:rPr lang="en-US" sz="1200" b="1" kern="1200" dirty="0">
                <a:solidFill>
                  <a:schemeClr val="tx1"/>
                </a:solidFill>
                <a:effectLst/>
                <a:latin typeface="+mn-lt"/>
                <a:ea typeface="+mn-ea"/>
                <a:cs typeface="+mn-cs"/>
              </a:rPr>
              <a:t>40%</a:t>
            </a:r>
            <a:r>
              <a:rPr lang="en-US" sz="1200" kern="1200" dirty="0">
                <a:solidFill>
                  <a:schemeClr val="tx1"/>
                </a:solidFill>
                <a:effectLst/>
                <a:latin typeface="+mn-lt"/>
                <a:ea typeface="+mn-ea"/>
                <a:cs typeface="+mn-cs"/>
              </a:rPr>
              <a:t> of calls you get wrong. </a:t>
            </a:r>
          </a:p>
          <a:p>
            <a:pPr marL="0" indent="0">
              <a:buFont typeface="Arial" panose="020B0604020202020204" pitchFamily="34" charset="0"/>
              <a:buNone/>
            </a:pP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tx1"/>
                </a:solidFill>
                <a:effectLst/>
                <a:latin typeface="+mn-lt"/>
                <a:ea typeface="+mn-ea"/>
                <a:cs typeface="+mn-cs"/>
              </a:rPr>
              <a:t>Key Talking Points:</a:t>
            </a:r>
          </a:p>
          <a:p>
            <a:pPr marL="0" indent="0">
              <a:buFont typeface="Arial" panose="020B0604020202020204" pitchFamily="34" charset="0"/>
              <a:buNone/>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Active Portfolio Discipline:</a:t>
            </a:r>
            <a:r>
              <a:rPr lang="en-US" sz="1200" kern="1200" dirty="0">
                <a:solidFill>
                  <a:schemeClr val="tx1"/>
                </a:solidFill>
                <a:effectLst/>
                <a:latin typeface="+mn-lt"/>
                <a:ea typeface="+mn-ea"/>
                <a:cs typeface="+mn-cs"/>
              </a:rPr>
              <a:t> Theoretical portfolios fail to build real risk management discipline; actual market participation provides necessary execution feedback.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Managing the 40%:</a:t>
            </a:r>
            <a:r>
              <a:rPr lang="en-US" sz="1200" kern="1200" dirty="0">
                <a:solidFill>
                  <a:schemeClr val="tx1"/>
                </a:solidFill>
                <a:effectLst/>
                <a:latin typeface="+mn-lt"/>
                <a:ea typeface="+mn-ea"/>
                <a:cs typeface="+mn-cs"/>
              </a:rPr>
              <a:t> The best portfolio managers are right around 60% of the time. Long-term performance depends on cutting losses quickly on the 40% of positions that fail.</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Execution:</a:t>
            </a:r>
            <a:r>
              <a:rPr lang="en-US" sz="1200" kern="1200" dirty="0">
                <a:solidFill>
                  <a:schemeClr val="tx1"/>
                </a:solidFill>
                <a:effectLst/>
                <a:latin typeface="+mn-lt"/>
                <a:ea typeface="+mn-ea"/>
                <a:cs typeface="+mn-cs"/>
              </a:rPr>
              <a:t> Adapt to incoming data, protect downside capital, and execute decisively.</a:t>
            </a:r>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15</a:t>
            </a:fld>
            <a:endParaRPr lang="en-US"/>
          </a:p>
        </p:txBody>
      </p:sp>
    </p:spTree>
    <p:extLst>
      <p:ext uri="{BB962C8B-B14F-4D97-AF65-F5344CB8AC3E}">
        <p14:creationId xmlns:p14="http://schemas.microsoft.com/office/powerpoint/2010/main" val="4038305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this framework outlines our roadmap: </a:t>
            </a:r>
          </a:p>
          <a:p>
            <a:pPr marL="228600" indent="-228600">
              <a:buFont typeface="+mj-lt"/>
              <a:buAutoNum type="arabicPeriod"/>
            </a:pPr>
            <a:r>
              <a:rPr lang="en-US" sz="1200" b="1" kern="1200" dirty="0">
                <a:solidFill>
                  <a:schemeClr val="tx1"/>
                </a:solidFill>
                <a:effectLst/>
                <a:latin typeface="+mn-lt"/>
                <a:ea typeface="+mn-ea"/>
                <a:cs typeface="+mn-cs"/>
              </a:rPr>
              <a:t>Cycle Position:</a:t>
            </a:r>
            <a:r>
              <a:rPr lang="en-US" sz="1200" kern="1200" dirty="0">
                <a:solidFill>
                  <a:schemeClr val="tx1"/>
                </a:solidFill>
                <a:effectLst/>
                <a:latin typeface="+mn-lt"/>
                <a:ea typeface="+mn-ea"/>
                <a:cs typeface="+mn-cs"/>
              </a:rPr>
              <a:t> We are in the buildout phase, facing mid-cycle 50% drawdowns (speed bumps), not the final 80% market bust. </a:t>
            </a:r>
          </a:p>
          <a:p>
            <a:pPr marL="228600" indent="-228600">
              <a:buFont typeface="+mj-lt"/>
              <a:buAutoNum type="arabicPeriod"/>
            </a:pPr>
            <a:r>
              <a:rPr lang="en-US" sz="1200" b="1" kern="1200" dirty="0">
                <a:solidFill>
                  <a:schemeClr val="tx1"/>
                </a:solidFill>
                <a:effectLst/>
                <a:latin typeface="+mn-lt"/>
                <a:ea typeface="+mn-ea"/>
                <a:cs typeface="+mn-cs"/>
              </a:rPr>
              <a:t>Value Shift:</a:t>
            </a:r>
            <a:r>
              <a:rPr lang="en-US" sz="1200" kern="1200" dirty="0">
                <a:solidFill>
                  <a:schemeClr val="tx1"/>
                </a:solidFill>
                <a:effectLst/>
                <a:latin typeface="+mn-lt"/>
                <a:ea typeface="+mn-ea"/>
                <a:cs typeface="+mn-cs"/>
              </a:rPr>
              <a:t> Intelligence/Models commoditize into utilities; value shifts to Hardware and Applications. </a:t>
            </a:r>
          </a:p>
          <a:p>
            <a:pPr marL="228600" indent="-228600">
              <a:buFont typeface="+mj-lt"/>
              <a:buAutoNum type="arabicPeriod"/>
            </a:pPr>
            <a:r>
              <a:rPr lang="en-US" sz="1200" b="1" kern="1200" dirty="0">
                <a:solidFill>
                  <a:schemeClr val="tx1"/>
                </a:solidFill>
                <a:effectLst/>
                <a:latin typeface="+mn-lt"/>
                <a:ea typeface="+mn-ea"/>
                <a:cs typeface="+mn-cs"/>
              </a:rPr>
              <a:t>Tech Driver:</a:t>
            </a:r>
            <a:r>
              <a:rPr lang="en-US" sz="1200" kern="1200" dirty="0">
                <a:solidFill>
                  <a:schemeClr val="tx1"/>
                </a:solidFill>
                <a:effectLst/>
                <a:latin typeface="+mn-lt"/>
                <a:ea typeface="+mn-ea"/>
                <a:cs typeface="+mn-cs"/>
              </a:rPr>
              <a:t> Agentic AI is transitioning demand from GPU parallel loops to multi-step CPU logic. </a:t>
            </a:r>
          </a:p>
          <a:p>
            <a:pPr marL="228600" indent="-228600">
              <a:buFont typeface="+mj-lt"/>
              <a:buAutoNum type="arabicPeriod"/>
            </a:pPr>
            <a:r>
              <a:rPr lang="en-US" sz="1200" b="1" kern="1200" dirty="0">
                <a:solidFill>
                  <a:schemeClr val="tx1"/>
                </a:solidFill>
                <a:effectLst/>
                <a:latin typeface="+mn-lt"/>
                <a:ea typeface="+mn-ea"/>
                <a:cs typeface="+mn-cs"/>
              </a:rPr>
              <a:t>Execution Discipline:</a:t>
            </a:r>
            <a:r>
              <a:rPr lang="en-US" sz="1200" kern="1200" dirty="0">
                <a:solidFill>
                  <a:schemeClr val="tx1"/>
                </a:solidFill>
                <a:effectLst/>
                <a:latin typeface="+mn-lt"/>
                <a:ea typeface="+mn-ea"/>
                <a:cs typeface="+mn-cs"/>
              </a:rPr>
              <a:t> Management execution outweighs product hype, and strict risk discipline ensures survival into the next cycle.</a:t>
            </a:r>
          </a:p>
          <a:p>
            <a:pPr marL="0" indent="0">
              <a:buFont typeface="Arial" panose="020B0604020202020204" pitchFamily="34" charset="0"/>
              <a:buNone/>
            </a:pPr>
            <a:endParaRPr lang="en-US" sz="1200" b="1" kern="1200" dirty="0">
              <a:solidFill>
                <a:schemeClr val="tx1"/>
              </a:solidFill>
              <a:effectLst/>
              <a:latin typeface="+mn-lt"/>
              <a:ea typeface="+mn-ea"/>
              <a:cs typeface="+mn-cs"/>
            </a:endParaRPr>
          </a:p>
          <a:p>
            <a:pPr marL="0" indent="0">
              <a:buFont typeface="Arial" panose="020B0604020202020204" pitchFamily="34" charset="0"/>
              <a:buNone/>
            </a:pPr>
            <a:r>
              <a:rPr lang="en-US" sz="1200" b="1" kern="1200" dirty="0">
                <a:solidFill>
                  <a:schemeClr val="tx1"/>
                </a:solidFill>
                <a:effectLst/>
                <a:latin typeface="+mn-lt"/>
                <a:ea typeface="+mn-ea"/>
                <a:cs typeface="+mn-cs"/>
              </a:rPr>
              <a:t>Key Talking Points:</a:t>
            </a:r>
          </a:p>
          <a:p>
            <a:pPr marL="0" indent="0">
              <a:buFont typeface="Arial" panose="020B0604020202020204" pitchFamily="34" charset="0"/>
              <a:buNone/>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Cycle Navigation:</a:t>
            </a:r>
            <a:r>
              <a:rPr lang="en-US" sz="1200" kern="1200" dirty="0">
                <a:solidFill>
                  <a:schemeClr val="tx1"/>
                </a:solidFill>
                <a:effectLst/>
                <a:latin typeface="+mn-lt"/>
                <a:ea typeface="+mn-ea"/>
                <a:cs typeface="+mn-cs"/>
              </a:rPr>
              <a:t> Distinguish between cyclical 50% drawdowns ("speed bumps") and structural cycle tops.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Value Realignment:</a:t>
            </a:r>
            <a:r>
              <a:rPr lang="en-US" sz="1200" kern="1200" dirty="0">
                <a:solidFill>
                  <a:schemeClr val="tx1"/>
                </a:solidFill>
                <a:effectLst/>
                <a:latin typeface="+mn-lt"/>
                <a:ea typeface="+mn-ea"/>
                <a:cs typeface="+mn-cs"/>
              </a:rPr>
              <a:t> Anticipate capital shifting away from commoditized base models into physical hardware infrastructure and productivity-focused application layers.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Disciplined Execution:</a:t>
            </a:r>
            <a:r>
              <a:rPr lang="en-US" sz="1200" kern="1200" dirty="0">
                <a:solidFill>
                  <a:schemeClr val="tx1"/>
                </a:solidFill>
                <a:effectLst/>
                <a:latin typeface="+mn-lt"/>
                <a:ea typeface="+mn-ea"/>
                <a:cs typeface="+mn-cs"/>
              </a:rPr>
              <a:t> Focus on management quality, maintain strict valuation discipline, and hold strong convictions loosely as data evolves, </a:t>
            </a:r>
          </a:p>
          <a:p>
            <a:endParaRPr lang="en-US" dirty="0"/>
          </a:p>
        </p:txBody>
      </p:sp>
      <p:sp>
        <p:nvSpPr>
          <p:cNvPr id="4" name="Slide Number Placeholder 3"/>
          <p:cNvSpPr>
            <a:spLocks noGrp="1"/>
          </p:cNvSpPr>
          <p:nvPr>
            <p:ph type="sldNum" sz="quarter" idx="5"/>
          </p:nvPr>
        </p:nvSpPr>
        <p:spPr/>
        <p:txBody>
          <a:bodyPr/>
          <a:lstStyle/>
          <a:p>
            <a:fld id="{DF295B24-4452-4BD8-ABB4-29A9A79E57D1}" type="slidenum">
              <a:rPr lang="en-US" smtClean="0"/>
              <a:t>16</a:t>
            </a:fld>
            <a:endParaRPr lang="en-US"/>
          </a:p>
        </p:txBody>
      </p:sp>
    </p:spTree>
    <p:extLst>
      <p:ext uri="{BB962C8B-B14F-4D97-AF65-F5344CB8AC3E}">
        <p14:creationId xmlns:p14="http://schemas.microsoft.com/office/powerpoint/2010/main" val="295396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CBBC03-82CD-B0F5-0DFF-00230340527A}"/>
              </a:ext>
            </a:extLst>
          </p:cNvPr>
          <p:cNvSpPr>
            <a:spLocks noGrp="1"/>
          </p:cNvSpPr>
          <p:nvPr>
            <p:ph type="dt" sz="half" idx="10"/>
          </p:nvPr>
        </p:nvSpPr>
        <p:spPr/>
        <p:txBody>
          <a:bodyPr/>
          <a:lstStyle/>
          <a:p>
            <a:fld id="{BCEA4D85-0638-4C6A-80D3-CFE0FACCC365}" type="datetimeFigureOut">
              <a:rPr lang="en-US" smtClean="0"/>
              <a:t>10/19/2026</a:t>
            </a:fld>
            <a:endParaRPr lang="en-US"/>
          </a:p>
        </p:txBody>
      </p:sp>
      <p:sp>
        <p:nvSpPr>
          <p:cNvPr id="3" name="Footer Placeholder 2">
            <a:extLst>
              <a:ext uri="{FF2B5EF4-FFF2-40B4-BE49-F238E27FC236}">
                <a16:creationId xmlns:a16="http://schemas.microsoft.com/office/drawing/2014/main" id="{64664674-75DF-EEB3-55B0-2BAF4DB058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09732-5538-B016-E14D-8AB67E831BAB}"/>
              </a:ext>
            </a:extLst>
          </p:cNvPr>
          <p:cNvSpPr>
            <a:spLocks noGrp="1"/>
          </p:cNvSpPr>
          <p:nvPr>
            <p:ph type="sldNum" sz="quarter" idx="12"/>
          </p:nvPr>
        </p:nvSpPr>
        <p:spPr/>
        <p:txBody>
          <a:bodyPr/>
          <a:lstStyle/>
          <a:p>
            <a:fld id="{BBE599F7-5791-4A92-A79B-3A7A0F7A64F5}" type="slidenum">
              <a:rPr lang="en-US" smtClean="0"/>
              <a:t>‹#›</a:t>
            </a:fld>
            <a:endParaRPr lang="en-US"/>
          </a:p>
        </p:txBody>
      </p:sp>
    </p:spTree>
    <p:extLst>
      <p:ext uri="{BB962C8B-B14F-4D97-AF65-F5344CB8AC3E}">
        <p14:creationId xmlns:p14="http://schemas.microsoft.com/office/powerpoint/2010/main" val="326168714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6D04E5-8F8B-83C4-3506-B66D424479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A389A1-A848-6F16-FFB6-6F97BBFFFA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E695F-7386-8681-9911-096D4281D5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EA4D85-0638-4C6A-80D3-CFE0FACCC365}" type="datetimeFigureOut">
              <a:rPr lang="en-US" smtClean="0"/>
              <a:t>10/19/2026</a:t>
            </a:fld>
            <a:endParaRPr lang="en-US"/>
          </a:p>
        </p:txBody>
      </p:sp>
      <p:sp>
        <p:nvSpPr>
          <p:cNvPr id="5" name="Footer Placeholder 4">
            <a:extLst>
              <a:ext uri="{FF2B5EF4-FFF2-40B4-BE49-F238E27FC236}">
                <a16:creationId xmlns:a16="http://schemas.microsoft.com/office/drawing/2014/main" id="{A29E3C79-BDDE-173B-E1EF-AB01E785F8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73ECD0-8243-1A8F-BAE5-13907EE7BD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E599F7-5791-4A92-A79B-3A7A0F7A64F5}" type="slidenum">
              <a:rPr lang="en-US" smtClean="0"/>
              <a:t>‹#›</a:t>
            </a:fld>
            <a:endParaRPr lang="en-US"/>
          </a:p>
        </p:txBody>
      </p:sp>
    </p:spTree>
    <p:extLst>
      <p:ext uri="{BB962C8B-B14F-4D97-AF65-F5344CB8AC3E}">
        <p14:creationId xmlns:p14="http://schemas.microsoft.com/office/powerpoint/2010/main" val="80477360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22F86BF-773B-0530-2781-28070B91C8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700192-1C4E-D9B9-C734-F571C1C8F3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EBA602-CCE7-D9FD-F0DE-9BF1C8B365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DEAC88-2B3D-57D8-BAC2-0E84569F0E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281E69-7F2C-5952-8538-462ABF051E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C6FE04-CBFF-CBBB-BD29-71663B9899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8A0C68-3BFE-86C2-6FA1-78470328F8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37DF3A-7DAB-4DEA-6E90-698B94744E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D88089-E274-13E4-8C16-12C22D8047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6A3132-3429-62CB-1FFE-7D36F1AF15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6EC173-3330-07EE-208B-B7096AF1F7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309CA6-04D1-8B72-B9D0-CA0E456AEA13}"/>
              </a:ext>
            </a:extLst>
          </p:cNvPr>
          <p:cNvPicPr>
            <a:picLocks noChangeAspect="1"/>
          </p:cNvPicPr>
          <p:nvPr/>
        </p:nvPicPr>
        <p:blipFill>
          <a:blip r:embed="rId3"/>
          <a:stretch>
            <a:fillRect/>
          </a:stretch>
        </p:blipFill>
        <p:spPr>
          <a:xfrm>
            <a:off x="0" y="-1395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4A08E9-4B4C-9AF3-4DA8-96E1E74299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795CDC-C7A1-8754-D812-FAA28828290F}"/>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987856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3353</Words>
  <Application>Microsoft Office PowerPoint</Application>
  <PresentationFormat>寬螢幕</PresentationFormat>
  <Paragraphs>184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2026-08-02T03:19:34Z</dcterms:created>
  <dcterms:modified xsi:type="dcterms:W3CDTF">2026-10-19T15:35:03Z</dcterms:modified>
</cp:coreProperties>
</file>