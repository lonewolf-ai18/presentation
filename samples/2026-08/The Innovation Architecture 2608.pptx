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3FAFB8-12EA-42CE-8886-F3C98EA77989}" v="19" dt="2026-08-27T05:20:24.5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74818"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8-27T05:23:06.781" v="167" actId="12"/>
      <pc:docMkLst>
        <pc:docMk/>
      </pc:docMkLst>
      <pc:sldChg chg="addSp delSp modSp mod modAnim modNotes modNotesTx">
        <pc:chgData name="Lai, Wilson" userId="2840974a-0d84-4886-90a9-9a3ed79f3a48" providerId="ADAL" clId="{9F23B798-9E84-4552-BA63-E776E805C424}" dt="2026-08-27T05:16:09.141" v="59"/>
        <pc:sldMkLst>
          <pc:docMk/>
          <pc:sldMk cId="0" sldId="257"/>
        </pc:sldMkLst>
        <pc:spChg chg="add mod">
          <ac:chgData name="Lai, Wilson" userId="2840974a-0d84-4886-90a9-9a3ed79f3a48" providerId="ADAL" clId="{9F23B798-9E84-4552-BA63-E776E805C424}" dt="2026-08-26T14:35:07.963" v="17" actId="164"/>
          <ac:spMkLst>
            <pc:docMk/>
            <pc:sldMk cId="0" sldId="257"/>
            <ac:spMk id="5" creationId="{1F9411E4-9F1F-B998-8255-68FCA4823B84}"/>
          </ac:spMkLst>
        </pc:spChg>
        <pc:grpChg chg="add mod">
          <ac:chgData name="Lai, Wilson" userId="2840974a-0d84-4886-90a9-9a3ed79f3a48" providerId="ADAL" clId="{9F23B798-9E84-4552-BA63-E776E805C424}" dt="2026-08-26T14:35:07.963" v="17" actId="164"/>
          <ac:grpSpMkLst>
            <pc:docMk/>
            <pc:sldMk cId="0" sldId="257"/>
            <ac:grpSpMk id="6" creationId="{1DC808F3-8FCC-4E73-7AB4-D191BFA22859}"/>
          </ac:grpSpMkLst>
        </pc:grpChg>
        <pc:picChg chg="del mod">
          <ac:chgData name="Lai, Wilson" userId="2840974a-0d84-4886-90a9-9a3ed79f3a48" providerId="ADAL" clId="{9F23B798-9E84-4552-BA63-E776E805C424}" dt="2026-08-27T03:44:14.682" v="18" actId="21"/>
          <ac:picMkLst>
            <pc:docMk/>
            <pc:sldMk cId="0" sldId="257"/>
            <ac:picMk id="2" creationId="{00000000-0000-0000-0000-000000000000}"/>
          </ac:picMkLst>
        </pc:picChg>
        <pc:picChg chg="add mod">
          <ac:chgData name="Lai, Wilson" userId="2840974a-0d84-4886-90a9-9a3ed79f3a48" providerId="ADAL" clId="{9F23B798-9E84-4552-BA63-E776E805C424}" dt="2026-08-26T14:35:07.963" v="17" actId="164"/>
          <ac:picMkLst>
            <pc:docMk/>
            <pc:sldMk cId="0" sldId="257"/>
            <ac:picMk id="3" creationId="{950FC35B-BD77-7239-C71E-CBCC51884FAD}"/>
          </ac:picMkLst>
        </pc:picChg>
        <pc:picChg chg="add">
          <ac:chgData name="Lai, Wilson" userId="2840974a-0d84-4886-90a9-9a3ed79f3a48" providerId="ADAL" clId="{9F23B798-9E84-4552-BA63-E776E805C424}" dt="2026-08-27T03:44:30.480" v="19" actId="22"/>
          <ac:picMkLst>
            <pc:docMk/>
            <pc:sldMk cId="0" sldId="257"/>
            <ac:picMk id="7" creationId="{ED70AD76-D4E4-D5F2-CFCA-274BC22EE58D}"/>
          </ac:picMkLst>
        </pc:picChg>
      </pc:sldChg>
      <pc:sldChg chg="addSp delSp mod modNotesTx">
        <pc:chgData name="Lai, Wilson" userId="2840974a-0d84-4886-90a9-9a3ed79f3a48" providerId="ADAL" clId="{9F23B798-9E84-4552-BA63-E776E805C424}" dt="2026-08-27T05:17:23.263" v="66" actId="12"/>
        <pc:sldMkLst>
          <pc:docMk/>
          <pc:sldMk cId="0" sldId="258"/>
        </pc:sldMkLst>
        <pc:picChg chg="del">
          <ac:chgData name="Lai, Wilson" userId="2840974a-0d84-4886-90a9-9a3ed79f3a48" providerId="ADAL" clId="{9F23B798-9E84-4552-BA63-E776E805C424}" dt="2026-08-27T03:44:33.063" v="20" actId="21"/>
          <ac:picMkLst>
            <pc:docMk/>
            <pc:sldMk cId="0" sldId="258"/>
            <ac:picMk id="2" creationId="{00000000-0000-0000-0000-000000000000}"/>
          </ac:picMkLst>
        </pc:picChg>
        <pc:picChg chg="add">
          <ac:chgData name="Lai, Wilson" userId="2840974a-0d84-4886-90a9-9a3ed79f3a48" providerId="ADAL" clId="{9F23B798-9E84-4552-BA63-E776E805C424}" dt="2026-08-27T03:44:43.477" v="21" actId="22"/>
          <ac:picMkLst>
            <pc:docMk/>
            <pc:sldMk cId="0" sldId="258"/>
            <ac:picMk id="4" creationId="{7A6EBCD3-0F53-B62D-61D1-4C0E0C33EE2A}"/>
          </ac:picMkLst>
        </pc:picChg>
      </pc:sldChg>
      <pc:sldChg chg="addSp delSp mod modNotesTx">
        <pc:chgData name="Lai, Wilson" userId="2840974a-0d84-4886-90a9-9a3ed79f3a48" providerId="ADAL" clId="{9F23B798-9E84-4552-BA63-E776E805C424}" dt="2026-08-27T05:18:05.861" v="76" actId="12"/>
        <pc:sldMkLst>
          <pc:docMk/>
          <pc:sldMk cId="0" sldId="259"/>
        </pc:sldMkLst>
        <pc:picChg chg="del">
          <ac:chgData name="Lai, Wilson" userId="2840974a-0d84-4886-90a9-9a3ed79f3a48" providerId="ADAL" clId="{9F23B798-9E84-4552-BA63-E776E805C424}" dt="2026-08-27T03:44:45.949" v="22" actId="21"/>
          <ac:picMkLst>
            <pc:docMk/>
            <pc:sldMk cId="0" sldId="259"/>
            <ac:picMk id="2" creationId="{00000000-0000-0000-0000-000000000000}"/>
          </ac:picMkLst>
        </pc:picChg>
        <pc:picChg chg="add">
          <ac:chgData name="Lai, Wilson" userId="2840974a-0d84-4886-90a9-9a3ed79f3a48" providerId="ADAL" clId="{9F23B798-9E84-4552-BA63-E776E805C424}" dt="2026-08-27T03:44:53.774" v="23" actId="22"/>
          <ac:picMkLst>
            <pc:docMk/>
            <pc:sldMk cId="0" sldId="259"/>
            <ac:picMk id="4" creationId="{BA82287B-D5BC-1C83-C76D-7BB13703DBC2}"/>
          </ac:picMkLst>
        </pc:picChg>
      </pc:sldChg>
      <pc:sldChg chg="addSp delSp mod modNotesTx">
        <pc:chgData name="Lai, Wilson" userId="2840974a-0d84-4886-90a9-9a3ed79f3a48" providerId="ADAL" clId="{9F23B798-9E84-4552-BA63-E776E805C424}" dt="2026-08-27T05:18:30.522" v="84" actId="12"/>
        <pc:sldMkLst>
          <pc:docMk/>
          <pc:sldMk cId="0" sldId="260"/>
        </pc:sldMkLst>
        <pc:picChg chg="del">
          <ac:chgData name="Lai, Wilson" userId="2840974a-0d84-4886-90a9-9a3ed79f3a48" providerId="ADAL" clId="{9F23B798-9E84-4552-BA63-E776E805C424}" dt="2026-08-27T03:44:55.351" v="24" actId="21"/>
          <ac:picMkLst>
            <pc:docMk/>
            <pc:sldMk cId="0" sldId="260"/>
            <ac:picMk id="2" creationId="{00000000-0000-0000-0000-000000000000}"/>
          </ac:picMkLst>
        </pc:picChg>
        <pc:picChg chg="add">
          <ac:chgData name="Lai, Wilson" userId="2840974a-0d84-4886-90a9-9a3ed79f3a48" providerId="ADAL" clId="{9F23B798-9E84-4552-BA63-E776E805C424}" dt="2026-08-27T03:45:03.418" v="25" actId="22"/>
          <ac:picMkLst>
            <pc:docMk/>
            <pc:sldMk cId="0" sldId="260"/>
            <ac:picMk id="4" creationId="{2DC66837-BBF5-57A1-56BB-0B6B46B534CB}"/>
          </ac:picMkLst>
        </pc:picChg>
      </pc:sldChg>
      <pc:sldChg chg="addSp delSp mod modNotesTx">
        <pc:chgData name="Lai, Wilson" userId="2840974a-0d84-4886-90a9-9a3ed79f3a48" providerId="ADAL" clId="{9F23B798-9E84-4552-BA63-E776E805C424}" dt="2026-08-27T05:21:04.905" v="98" actId="12"/>
        <pc:sldMkLst>
          <pc:docMk/>
          <pc:sldMk cId="0" sldId="261"/>
        </pc:sldMkLst>
        <pc:picChg chg="del">
          <ac:chgData name="Lai, Wilson" userId="2840974a-0d84-4886-90a9-9a3ed79f3a48" providerId="ADAL" clId="{9F23B798-9E84-4552-BA63-E776E805C424}" dt="2026-08-27T03:45:05.359" v="26" actId="21"/>
          <ac:picMkLst>
            <pc:docMk/>
            <pc:sldMk cId="0" sldId="261"/>
            <ac:picMk id="2" creationId="{00000000-0000-0000-0000-000000000000}"/>
          </ac:picMkLst>
        </pc:picChg>
        <pc:picChg chg="add">
          <ac:chgData name="Lai, Wilson" userId="2840974a-0d84-4886-90a9-9a3ed79f3a48" providerId="ADAL" clId="{9F23B798-9E84-4552-BA63-E776E805C424}" dt="2026-08-27T03:45:17.832" v="27" actId="22"/>
          <ac:picMkLst>
            <pc:docMk/>
            <pc:sldMk cId="0" sldId="261"/>
            <ac:picMk id="4" creationId="{9AEF3A10-70DE-64B2-5C25-256DE59630CA}"/>
          </ac:picMkLst>
        </pc:picChg>
      </pc:sldChg>
      <pc:sldChg chg="addSp delSp mod modNotesTx">
        <pc:chgData name="Lai, Wilson" userId="2840974a-0d84-4886-90a9-9a3ed79f3a48" providerId="ADAL" clId="{9F23B798-9E84-4552-BA63-E776E805C424}" dt="2026-08-27T05:21:16.760" v="104" actId="12"/>
        <pc:sldMkLst>
          <pc:docMk/>
          <pc:sldMk cId="0" sldId="262"/>
        </pc:sldMkLst>
        <pc:picChg chg="del">
          <ac:chgData name="Lai, Wilson" userId="2840974a-0d84-4886-90a9-9a3ed79f3a48" providerId="ADAL" clId="{9F23B798-9E84-4552-BA63-E776E805C424}" dt="2026-08-27T03:45:19.766" v="28" actId="21"/>
          <ac:picMkLst>
            <pc:docMk/>
            <pc:sldMk cId="0" sldId="262"/>
            <ac:picMk id="2" creationId="{00000000-0000-0000-0000-000000000000}"/>
          </ac:picMkLst>
        </pc:picChg>
        <pc:picChg chg="add">
          <ac:chgData name="Lai, Wilson" userId="2840974a-0d84-4886-90a9-9a3ed79f3a48" providerId="ADAL" clId="{9F23B798-9E84-4552-BA63-E776E805C424}" dt="2026-08-27T03:45:27.906" v="29" actId="22"/>
          <ac:picMkLst>
            <pc:docMk/>
            <pc:sldMk cId="0" sldId="262"/>
            <ac:picMk id="4" creationId="{025237A4-4AA9-5186-ED0C-123DA6111C72}"/>
          </ac:picMkLst>
        </pc:picChg>
      </pc:sldChg>
      <pc:sldChg chg="addSp delSp mod modNotesTx">
        <pc:chgData name="Lai, Wilson" userId="2840974a-0d84-4886-90a9-9a3ed79f3a48" providerId="ADAL" clId="{9F23B798-9E84-4552-BA63-E776E805C424}" dt="2026-08-27T05:21:34.657" v="114" actId="12"/>
        <pc:sldMkLst>
          <pc:docMk/>
          <pc:sldMk cId="0" sldId="263"/>
        </pc:sldMkLst>
        <pc:picChg chg="del">
          <ac:chgData name="Lai, Wilson" userId="2840974a-0d84-4886-90a9-9a3ed79f3a48" providerId="ADAL" clId="{9F23B798-9E84-4552-BA63-E776E805C424}" dt="2026-08-27T03:45:31.354" v="30" actId="21"/>
          <ac:picMkLst>
            <pc:docMk/>
            <pc:sldMk cId="0" sldId="263"/>
            <ac:picMk id="2" creationId="{00000000-0000-0000-0000-000000000000}"/>
          </ac:picMkLst>
        </pc:picChg>
        <pc:picChg chg="add">
          <ac:chgData name="Lai, Wilson" userId="2840974a-0d84-4886-90a9-9a3ed79f3a48" providerId="ADAL" clId="{9F23B798-9E84-4552-BA63-E776E805C424}" dt="2026-08-27T03:45:38.210" v="31" actId="22"/>
          <ac:picMkLst>
            <pc:docMk/>
            <pc:sldMk cId="0" sldId="263"/>
            <ac:picMk id="4" creationId="{267B0D95-262A-40A5-BAB9-701927ACA37C}"/>
          </ac:picMkLst>
        </pc:picChg>
      </pc:sldChg>
      <pc:sldChg chg="addSp delSp mod modNotesTx">
        <pc:chgData name="Lai, Wilson" userId="2840974a-0d84-4886-90a9-9a3ed79f3a48" providerId="ADAL" clId="{9F23B798-9E84-4552-BA63-E776E805C424}" dt="2026-08-27T05:21:50.655" v="122" actId="12"/>
        <pc:sldMkLst>
          <pc:docMk/>
          <pc:sldMk cId="0" sldId="264"/>
        </pc:sldMkLst>
        <pc:picChg chg="del">
          <ac:chgData name="Lai, Wilson" userId="2840974a-0d84-4886-90a9-9a3ed79f3a48" providerId="ADAL" clId="{9F23B798-9E84-4552-BA63-E776E805C424}" dt="2026-08-27T03:45:41.130" v="32" actId="21"/>
          <ac:picMkLst>
            <pc:docMk/>
            <pc:sldMk cId="0" sldId="264"/>
            <ac:picMk id="2" creationId="{00000000-0000-0000-0000-000000000000}"/>
          </ac:picMkLst>
        </pc:picChg>
        <pc:picChg chg="add">
          <ac:chgData name="Lai, Wilson" userId="2840974a-0d84-4886-90a9-9a3ed79f3a48" providerId="ADAL" clId="{9F23B798-9E84-4552-BA63-E776E805C424}" dt="2026-08-27T03:45:49.867" v="33" actId="22"/>
          <ac:picMkLst>
            <pc:docMk/>
            <pc:sldMk cId="0" sldId="264"/>
            <ac:picMk id="4" creationId="{41FA7668-A831-3559-624C-781785A4567A}"/>
          </ac:picMkLst>
        </pc:picChg>
      </pc:sldChg>
      <pc:sldChg chg="addSp delSp mod modNotesTx">
        <pc:chgData name="Lai, Wilson" userId="2840974a-0d84-4886-90a9-9a3ed79f3a48" providerId="ADAL" clId="{9F23B798-9E84-4552-BA63-E776E805C424}" dt="2026-08-27T05:22:01.191" v="128" actId="12"/>
        <pc:sldMkLst>
          <pc:docMk/>
          <pc:sldMk cId="0" sldId="265"/>
        </pc:sldMkLst>
        <pc:picChg chg="add del">
          <ac:chgData name="Lai, Wilson" userId="2840974a-0d84-4886-90a9-9a3ed79f3a48" providerId="ADAL" clId="{9F23B798-9E84-4552-BA63-E776E805C424}" dt="2026-08-27T03:46:05.456" v="36" actId="21"/>
          <ac:picMkLst>
            <pc:docMk/>
            <pc:sldMk cId="0" sldId="265"/>
            <ac:picMk id="2" creationId="{00000000-0000-0000-0000-000000000000}"/>
          </ac:picMkLst>
        </pc:picChg>
        <pc:picChg chg="add">
          <ac:chgData name="Lai, Wilson" userId="2840974a-0d84-4886-90a9-9a3ed79f3a48" providerId="ADAL" clId="{9F23B798-9E84-4552-BA63-E776E805C424}" dt="2026-08-27T03:46:13.069" v="37" actId="22"/>
          <ac:picMkLst>
            <pc:docMk/>
            <pc:sldMk cId="0" sldId="265"/>
            <ac:picMk id="4" creationId="{E8345F33-2A47-7FC6-D3EA-83ACB9111FCA}"/>
          </ac:picMkLst>
        </pc:picChg>
      </pc:sldChg>
      <pc:sldChg chg="addSp delSp mod modNotesTx">
        <pc:chgData name="Lai, Wilson" userId="2840974a-0d84-4886-90a9-9a3ed79f3a48" providerId="ADAL" clId="{9F23B798-9E84-4552-BA63-E776E805C424}" dt="2026-08-27T05:22:16.375" v="137" actId="14"/>
        <pc:sldMkLst>
          <pc:docMk/>
          <pc:sldMk cId="0" sldId="266"/>
        </pc:sldMkLst>
        <pc:picChg chg="del">
          <ac:chgData name="Lai, Wilson" userId="2840974a-0d84-4886-90a9-9a3ed79f3a48" providerId="ADAL" clId="{9F23B798-9E84-4552-BA63-E776E805C424}" dt="2026-08-27T03:46:16.338" v="38" actId="21"/>
          <ac:picMkLst>
            <pc:docMk/>
            <pc:sldMk cId="0" sldId="266"/>
            <ac:picMk id="2" creationId="{00000000-0000-0000-0000-000000000000}"/>
          </ac:picMkLst>
        </pc:picChg>
        <pc:picChg chg="add">
          <ac:chgData name="Lai, Wilson" userId="2840974a-0d84-4886-90a9-9a3ed79f3a48" providerId="ADAL" clId="{9F23B798-9E84-4552-BA63-E776E805C424}" dt="2026-08-27T03:46:37.359" v="39" actId="22"/>
          <ac:picMkLst>
            <pc:docMk/>
            <pc:sldMk cId="0" sldId="266"/>
            <ac:picMk id="4" creationId="{22CA324E-491F-DEEE-7BF8-52B5F9FFDD11}"/>
          </ac:picMkLst>
        </pc:picChg>
      </pc:sldChg>
      <pc:sldChg chg="addSp delSp mod modNotesTx">
        <pc:chgData name="Lai, Wilson" userId="2840974a-0d84-4886-90a9-9a3ed79f3a48" providerId="ADAL" clId="{9F23B798-9E84-4552-BA63-E776E805C424}" dt="2026-08-27T05:22:29.108" v="143" actId="12"/>
        <pc:sldMkLst>
          <pc:docMk/>
          <pc:sldMk cId="0" sldId="267"/>
        </pc:sldMkLst>
        <pc:picChg chg="del">
          <ac:chgData name="Lai, Wilson" userId="2840974a-0d84-4886-90a9-9a3ed79f3a48" providerId="ADAL" clId="{9F23B798-9E84-4552-BA63-E776E805C424}" dt="2026-08-27T03:46:39.533" v="40" actId="21"/>
          <ac:picMkLst>
            <pc:docMk/>
            <pc:sldMk cId="0" sldId="267"/>
            <ac:picMk id="2" creationId="{00000000-0000-0000-0000-000000000000}"/>
          </ac:picMkLst>
        </pc:picChg>
        <pc:picChg chg="add">
          <ac:chgData name="Lai, Wilson" userId="2840974a-0d84-4886-90a9-9a3ed79f3a48" providerId="ADAL" clId="{9F23B798-9E84-4552-BA63-E776E805C424}" dt="2026-08-27T03:46:48.761" v="41" actId="22"/>
          <ac:picMkLst>
            <pc:docMk/>
            <pc:sldMk cId="0" sldId="267"/>
            <ac:picMk id="4" creationId="{C28DDAE4-C1FA-67E6-F4E5-19D3010FC053}"/>
          </ac:picMkLst>
        </pc:picChg>
      </pc:sldChg>
      <pc:sldChg chg="addSp delSp mod modNotesTx">
        <pc:chgData name="Lai, Wilson" userId="2840974a-0d84-4886-90a9-9a3ed79f3a48" providerId="ADAL" clId="{9F23B798-9E84-4552-BA63-E776E805C424}" dt="2026-08-27T05:22:36.307" v="147" actId="12"/>
        <pc:sldMkLst>
          <pc:docMk/>
          <pc:sldMk cId="0" sldId="268"/>
        </pc:sldMkLst>
        <pc:picChg chg="del">
          <ac:chgData name="Lai, Wilson" userId="2840974a-0d84-4886-90a9-9a3ed79f3a48" providerId="ADAL" clId="{9F23B798-9E84-4552-BA63-E776E805C424}" dt="2026-08-27T03:46:51.109" v="42" actId="21"/>
          <ac:picMkLst>
            <pc:docMk/>
            <pc:sldMk cId="0" sldId="268"/>
            <ac:picMk id="2" creationId="{00000000-0000-0000-0000-000000000000}"/>
          </ac:picMkLst>
        </pc:picChg>
        <pc:picChg chg="add">
          <ac:chgData name="Lai, Wilson" userId="2840974a-0d84-4886-90a9-9a3ed79f3a48" providerId="ADAL" clId="{9F23B798-9E84-4552-BA63-E776E805C424}" dt="2026-08-27T03:47:01.568" v="43" actId="22"/>
          <ac:picMkLst>
            <pc:docMk/>
            <pc:sldMk cId="0" sldId="268"/>
            <ac:picMk id="4" creationId="{11A23F80-9180-66EB-BB81-1C50F74D5DEA}"/>
          </ac:picMkLst>
        </pc:picChg>
      </pc:sldChg>
      <pc:sldChg chg="addSp delSp mod modNotesTx">
        <pc:chgData name="Lai, Wilson" userId="2840974a-0d84-4886-90a9-9a3ed79f3a48" providerId="ADAL" clId="{9F23B798-9E84-4552-BA63-E776E805C424}" dt="2026-08-27T05:22:47.063" v="153" actId="12"/>
        <pc:sldMkLst>
          <pc:docMk/>
          <pc:sldMk cId="0" sldId="269"/>
        </pc:sldMkLst>
        <pc:picChg chg="del">
          <ac:chgData name="Lai, Wilson" userId="2840974a-0d84-4886-90a9-9a3ed79f3a48" providerId="ADAL" clId="{9F23B798-9E84-4552-BA63-E776E805C424}" dt="2026-08-27T03:47:03.482" v="44" actId="21"/>
          <ac:picMkLst>
            <pc:docMk/>
            <pc:sldMk cId="0" sldId="269"/>
            <ac:picMk id="2" creationId="{00000000-0000-0000-0000-000000000000}"/>
          </ac:picMkLst>
        </pc:picChg>
        <pc:picChg chg="add">
          <ac:chgData name="Lai, Wilson" userId="2840974a-0d84-4886-90a9-9a3ed79f3a48" providerId="ADAL" clId="{9F23B798-9E84-4552-BA63-E776E805C424}" dt="2026-08-27T03:47:12.457" v="45" actId="22"/>
          <ac:picMkLst>
            <pc:docMk/>
            <pc:sldMk cId="0" sldId="269"/>
            <ac:picMk id="4" creationId="{727B1D6C-AD6E-9DFF-676F-3102EB9043DE}"/>
          </ac:picMkLst>
        </pc:picChg>
      </pc:sldChg>
      <pc:sldChg chg="addSp delSp mod modNotesTx">
        <pc:chgData name="Lai, Wilson" userId="2840974a-0d84-4886-90a9-9a3ed79f3a48" providerId="ADAL" clId="{9F23B798-9E84-4552-BA63-E776E805C424}" dt="2026-08-27T05:22:58.118" v="161" actId="12"/>
        <pc:sldMkLst>
          <pc:docMk/>
          <pc:sldMk cId="0" sldId="270"/>
        </pc:sldMkLst>
        <pc:picChg chg="del">
          <ac:chgData name="Lai, Wilson" userId="2840974a-0d84-4886-90a9-9a3ed79f3a48" providerId="ADAL" clId="{9F23B798-9E84-4552-BA63-E776E805C424}" dt="2026-08-27T03:47:16.141" v="46" actId="21"/>
          <ac:picMkLst>
            <pc:docMk/>
            <pc:sldMk cId="0" sldId="270"/>
            <ac:picMk id="2" creationId="{00000000-0000-0000-0000-000000000000}"/>
          </ac:picMkLst>
        </pc:picChg>
        <pc:picChg chg="add">
          <ac:chgData name="Lai, Wilson" userId="2840974a-0d84-4886-90a9-9a3ed79f3a48" providerId="ADAL" clId="{9F23B798-9E84-4552-BA63-E776E805C424}" dt="2026-08-27T03:47:26.718" v="47" actId="22"/>
          <ac:picMkLst>
            <pc:docMk/>
            <pc:sldMk cId="0" sldId="270"/>
            <ac:picMk id="4" creationId="{F47727CF-F890-4357-4530-1097D1C05170}"/>
          </ac:picMkLst>
        </pc:picChg>
      </pc:sldChg>
      <pc:sldChg chg="addSp delSp mod modNotesTx">
        <pc:chgData name="Lai, Wilson" userId="2840974a-0d84-4886-90a9-9a3ed79f3a48" providerId="ADAL" clId="{9F23B798-9E84-4552-BA63-E776E805C424}" dt="2026-08-27T05:23:06.781" v="167" actId="12"/>
        <pc:sldMkLst>
          <pc:docMk/>
          <pc:sldMk cId="0" sldId="271"/>
        </pc:sldMkLst>
        <pc:picChg chg="del">
          <ac:chgData name="Lai, Wilson" userId="2840974a-0d84-4886-90a9-9a3ed79f3a48" providerId="ADAL" clId="{9F23B798-9E84-4552-BA63-E776E805C424}" dt="2026-08-27T03:47:28.535" v="48" actId="21"/>
          <ac:picMkLst>
            <pc:docMk/>
            <pc:sldMk cId="0" sldId="271"/>
            <ac:picMk id="2" creationId="{00000000-0000-0000-0000-000000000000}"/>
          </ac:picMkLst>
        </pc:picChg>
        <pc:picChg chg="add">
          <ac:chgData name="Lai, Wilson" userId="2840974a-0d84-4886-90a9-9a3ed79f3a48" providerId="ADAL" clId="{9F23B798-9E84-4552-BA63-E776E805C424}" dt="2026-08-27T03:47:54.134" v="49" actId="22"/>
          <ac:picMkLst>
            <pc:docMk/>
            <pc:sldMk cId="0" sldId="271"/>
            <ac:picMk id="4" creationId="{D7FE38D7-26DE-AC33-9700-58D70E35BCC6}"/>
          </ac:picMkLst>
        </pc:picChg>
      </pc:sldChg>
      <pc:sldChg chg="addSp delSp mod modNotesTx">
        <pc:chgData name="Lai, Wilson" userId="2840974a-0d84-4886-90a9-9a3ed79f3a48" providerId="ADAL" clId="{9F23B798-9E84-4552-BA63-E776E805C424}" dt="2026-08-27T05:20:41.781" v="90" actId="12"/>
        <pc:sldMkLst>
          <pc:docMk/>
          <pc:sldMk cId="526362217" sldId="272"/>
        </pc:sldMkLst>
        <pc:picChg chg="del">
          <ac:chgData name="Lai, Wilson" userId="2840974a-0d84-4886-90a9-9a3ed79f3a48" providerId="ADAL" clId="{9F23B798-9E84-4552-BA63-E776E805C424}" dt="2026-08-27T03:47:57.626" v="50" actId="21"/>
          <ac:picMkLst>
            <pc:docMk/>
            <pc:sldMk cId="526362217" sldId="272"/>
            <ac:picMk id="3" creationId="{EAE9512F-0604-BF53-14E6-3233B06AFA8F}"/>
          </ac:picMkLst>
        </pc:picChg>
        <pc:picChg chg="add">
          <ac:chgData name="Lai, Wilson" userId="2840974a-0d84-4886-90a9-9a3ed79f3a48" providerId="ADAL" clId="{9F23B798-9E84-4552-BA63-E776E805C424}" dt="2026-08-27T03:48:08.515" v="51" actId="22"/>
          <ac:picMkLst>
            <pc:docMk/>
            <pc:sldMk cId="526362217" sldId="272"/>
            <ac:picMk id="4" creationId="{E3873C51-44C3-9D3C-6606-7DF7701ED68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BFE859-3F82-471C-9245-34ABF1F356A9}"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980D9F-6394-40DF-8970-818320713F30}" type="slidenum">
              <a:rPr lang="en-US" smtClean="0"/>
              <a:t>‹#›</a:t>
            </a:fld>
            <a:endParaRPr lang="en-US"/>
          </a:p>
        </p:txBody>
      </p:sp>
    </p:spTree>
    <p:extLst>
      <p:ext uri="{BB962C8B-B14F-4D97-AF65-F5344CB8AC3E}">
        <p14:creationId xmlns:p14="http://schemas.microsoft.com/office/powerpoint/2010/main" val="2453932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Introduction &amp; Context:</a:t>
            </a:r>
            <a:endParaRPr lang="en-US" dirty="0"/>
          </a:p>
          <a:p>
            <a:pPr marL="171450" lvl="0" indent="-171450">
              <a:buFont typeface="Arial" panose="020B0604020202020204" pitchFamily="34" charset="0"/>
              <a:buChar char="•"/>
            </a:pPr>
            <a:r>
              <a:rPr lang="en-US" dirty="0"/>
              <a:t>Good morning, everyone. Today we are exploring 'The Architecture of the Next Tech Revolution', a contrarian investment framework synthesized directly from Cathie Wood and ARK Invest.</a:t>
            </a:r>
          </a:p>
          <a:p>
            <a:pPr marL="171450" lvl="0" indent="-171450">
              <a:buFont typeface="Arial" panose="020B0604020202020204" pitchFamily="34" charset="0"/>
              <a:buChar char="•"/>
            </a:pPr>
            <a:r>
              <a:rPr lang="en-US" dirty="0"/>
              <a:t>In today's market environment, institutional investing has increasingly drifted toward passive, benchmark-sensitive indexing. What we are presenting today is a fundamental departure from benchmark tracking. It is an analytical look at how technological platforms follow predictable cost curves and converge to create multi-trillion-dollar opportunities over a 5-year time horizon.</a:t>
            </a:r>
          </a:p>
          <a:p>
            <a:pPr lvl="0"/>
            <a:r>
              <a:rPr lang="en-US" b="1" dirty="0"/>
              <a:t>Framework Overview:</a:t>
            </a:r>
            <a:endParaRPr lang="en-US" dirty="0"/>
          </a:p>
          <a:p>
            <a:pPr marL="171450" lvl="0" indent="-171450">
              <a:buFont typeface="Arial" panose="020B0604020202020204" pitchFamily="34" charset="0"/>
              <a:buChar char="•"/>
            </a:pPr>
            <a:r>
              <a:rPr lang="en-US" dirty="0"/>
              <a:t>Throughout this deck, we will examine why the current market backdrop is </a:t>
            </a:r>
            <a:r>
              <a:rPr lang="en-US" b="1" dirty="0"/>
              <a:t>not</a:t>
            </a:r>
            <a:r>
              <a:rPr lang="en-US" dirty="0"/>
              <a:t> a repeat of the 1999 tech bubble, how Wright's Law acts as the primary cost-forecasting engine, and why active research in pure-play innovation is crucial at a time when standard benchmarks miss private-market growth and early-stage technological adoption.</a:t>
            </a:r>
          </a:p>
          <a:p>
            <a:pPr marL="171450" lvl="0" indent="-171450">
              <a:buFont typeface="Arial" panose="020B0604020202020204" pitchFamily="34" charset="0"/>
              <a:buChar char="•"/>
            </a:pPr>
            <a:r>
              <a:rPr lang="en-US" dirty="0"/>
              <a:t>Let’s start by looking at what ARK stands for and why active research in technology was born out of a major post-2008 structural gap.</a:t>
            </a:r>
          </a:p>
          <a:p>
            <a:pPr marL="171450" indent="-171450">
              <a:buFont typeface="Arial" panose="020B0604020202020204" pitchFamily="34" charset="0"/>
              <a:buChar char="•"/>
            </a:pPr>
            <a:endParaRPr lang="en-US" dirty="0"/>
          </a:p>
          <a:p>
            <a:endParaRPr lang="en-US" dirty="0"/>
          </a:p>
          <a:p>
            <a:r>
              <a:rPr lang="en-US" dirty="0"/>
              <a:t>https://www.youtube.com/watch?v=1RBpOq62vwQ</a:t>
            </a:r>
          </a:p>
        </p:txBody>
      </p:sp>
      <p:sp>
        <p:nvSpPr>
          <p:cNvPr id="4" name="Slide Number Placeholder 3"/>
          <p:cNvSpPr>
            <a:spLocks noGrp="1"/>
          </p:cNvSpPr>
          <p:nvPr>
            <p:ph type="sldNum" sz="quarter" idx="5"/>
          </p:nvPr>
        </p:nvSpPr>
        <p:spPr/>
        <p:txBody>
          <a:bodyPr/>
          <a:lstStyle/>
          <a:p>
            <a:fld id="{93980D9F-6394-40DF-8970-818320713F30}" type="slidenum">
              <a:rPr lang="en-US" smtClean="0"/>
              <a:t>1</a:t>
            </a:fld>
            <a:endParaRPr lang="en-US"/>
          </a:p>
        </p:txBody>
      </p:sp>
    </p:spTree>
    <p:extLst>
      <p:ext uri="{BB962C8B-B14F-4D97-AF65-F5344CB8AC3E}">
        <p14:creationId xmlns:p14="http://schemas.microsoft.com/office/powerpoint/2010/main" val="33213563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Structural Gap (Post-2008 Industry Trend):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understand ARK’s mission, we must look back at the aftermath of the 2008–2009 Global Financial Crisis. Following 2008, the asset management industry underwent a structural shift: banks and institutional asset managers severely cut back on deep, original research into tech innovation. Innovation came to be viewed as 'risk' because it strayed too far from standard benchmark weights."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"As a result, capital systematically migrated into </a:t>
            </a:r>
            <a:r>
              <a:rPr lang="en-US" sz="1200" b="1" kern="1200" dirty="0">
                <a:solidFill>
                  <a:schemeClr val="tx1"/>
                </a:solidFill>
                <a:effectLst/>
                <a:latin typeface="+mn-lt"/>
                <a:ea typeface="+mn-ea"/>
                <a:cs typeface="+mn-cs"/>
              </a:rPr>
              <a:t>passive, benchmark-sensitive strategies</a:t>
            </a:r>
            <a:r>
              <a:rPr lang="en-US" sz="1200" kern="1200" dirty="0">
                <a:solidFill>
                  <a:schemeClr val="tx1"/>
                </a:solidFill>
                <a:effectLst/>
                <a:latin typeface="+mn-lt"/>
                <a:ea typeface="+mn-ea"/>
                <a:cs typeface="+mn-cs"/>
              </a:rPr>
              <a:t>. Time horizons shrank dramatically from multi-year fundamental outlooks to quarterly earnings reactions, dominated by high-frequency algorithmic trading." </a:t>
            </a:r>
          </a:p>
          <a:p>
            <a:pPr lvl="0"/>
            <a:r>
              <a:rPr lang="en-US" sz="1200" b="1" kern="1200" dirty="0">
                <a:solidFill>
                  <a:schemeClr val="tx1"/>
                </a:solidFill>
                <a:effectLst/>
                <a:latin typeface="+mn-lt"/>
                <a:ea typeface="+mn-ea"/>
                <a:cs typeface="+mn-cs"/>
              </a:rPr>
              <a:t>The Unmet Need &amp; The ARK Acronym:</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"Cathie Wood recognized this exact gap as an unmet market need. ARK stands for: </a:t>
            </a:r>
          </a:p>
          <a:p>
            <a:pPr marL="685800" lvl="1" indent="-228600">
              <a:buFont typeface="+mj-lt"/>
              <a:buAutoNum type="arabicPeriod"/>
            </a:pPr>
            <a:r>
              <a:rPr lang="en-US" sz="1200" b="1" kern="1200" dirty="0">
                <a:solidFill>
                  <a:schemeClr val="tx1"/>
                </a:solidFill>
                <a:effectLst/>
                <a:latin typeface="+mn-lt"/>
                <a:ea typeface="+mn-ea"/>
                <a:cs typeface="+mn-cs"/>
              </a:rPr>
              <a:t>Active:</a:t>
            </a:r>
            <a:r>
              <a:rPr lang="en-US" sz="1200" kern="1200" dirty="0">
                <a:solidFill>
                  <a:schemeClr val="tx1"/>
                </a:solidFill>
                <a:effectLst/>
                <a:latin typeface="+mn-lt"/>
                <a:ea typeface="+mn-ea"/>
                <a:cs typeface="+mn-cs"/>
              </a:rPr>
              <a:t> Highly differentiated equity management with extremely low overlap with standard indices. </a:t>
            </a:r>
          </a:p>
          <a:p>
            <a:pPr marL="685800" lvl="1" indent="-228600">
              <a:buFont typeface="+mj-lt"/>
              <a:buAutoNum type="arabicPeriod"/>
            </a:pPr>
            <a:r>
              <a:rPr lang="en-US" sz="1200" b="1" kern="1200" dirty="0">
                <a:solidFill>
                  <a:schemeClr val="tx1"/>
                </a:solidFill>
                <a:effectLst/>
                <a:latin typeface="+mn-lt"/>
                <a:ea typeface="+mn-ea"/>
                <a:cs typeface="+mn-cs"/>
              </a:rPr>
              <a:t>Research:</a:t>
            </a:r>
            <a:r>
              <a:rPr lang="en-US" sz="1200" kern="1200" dirty="0">
                <a:solidFill>
                  <a:schemeClr val="tx1"/>
                </a:solidFill>
                <a:effectLst/>
                <a:latin typeface="+mn-lt"/>
                <a:ea typeface="+mn-ea"/>
                <a:cs typeface="+mn-cs"/>
              </a:rPr>
              <a:t> Original, open-source analysis centered around cost declines governed by Wright’s Law rather than traditional financial modeling. </a:t>
            </a:r>
          </a:p>
          <a:p>
            <a:pPr marL="685800" lvl="1" indent="-228600">
              <a:buFont typeface="+mj-lt"/>
              <a:buAutoNum type="arabicPeriod"/>
            </a:pPr>
            <a:r>
              <a:rPr lang="en-US" sz="1200" b="1" kern="1200" dirty="0">
                <a:solidFill>
                  <a:schemeClr val="tx1"/>
                </a:solidFill>
                <a:effectLst/>
                <a:latin typeface="+mn-lt"/>
                <a:ea typeface="+mn-ea"/>
                <a:cs typeface="+mn-cs"/>
              </a:rPr>
              <a:t>Knowledge:</a:t>
            </a:r>
            <a:r>
              <a:rPr lang="en-US" sz="1200" kern="1200" dirty="0">
                <a:solidFill>
                  <a:schemeClr val="tx1"/>
                </a:solidFill>
                <a:effectLst/>
                <a:latin typeface="+mn-lt"/>
                <a:ea typeface="+mn-ea"/>
                <a:cs typeface="+mn-cs"/>
              </a:rPr>
              <a:t> A relentless pursuit of fundamental truth in a market increasingly driven by short-term sentiment algorithms." </a:t>
            </a:r>
          </a:p>
          <a:p>
            <a:pPr lvl="0"/>
            <a:r>
              <a:rPr lang="en-US" sz="1200" b="1" kern="1200" dirty="0">
                <a:solidFill>
                  <a:schemeClr val="tx1"/>
                </a:solidFill>
                <a:effectLst/>
                <a:latin typeface="+mn-lt"/>
                <a:ea typeface="+mn-ea"/>
                <a:cs typeface="+mn-cs"/>
              </a:rPr>
              <a:t>Open-Source Research Methodology: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"Crucially, ARK adopted an open-source model—publishing research transparently on social media to engage directly with scientists, engineers, and industry pioneers in real time." </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2</a:t>
            </a:fld>
            <a:endParaRPr lang="en-US"/>
          </a:p>
        </p:txBody>
      </p:sp>
    </p:spTree>
    <p:extLst>
      <p:ext uri="{BB962C8B-B14F-4D97-AF65-F5344CB8AC3E}">
        <p14:creationId xmlns:p14="http://schemas.microsoft.com/office/powerpoint/2010/main" val="1852219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Deconstructing the '1999 Analogy':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common narrative among skeptical investors today is that current AI valuations and capital expenditures mirror the 1999 Dot-Com bubble. However, analyzing the core fundamentals reveals three distinct structural differences:" </a:t>
            </a:r>
          </a:p>
          <a:p>
            <a:pPr lvl="0"/>
            <a:r>
              <a:rPr lang="en-US" sz="1200" b="1" kern="1200" dirty="0">
                <a:solidFill>
                  <a:schemeClr val="tx1"/>
                </a:solidFill>
                <a:effectLst/>
                <a:latin typeface="+mn-lt"/>
                <a:ea typeface="+mn-ea"/>
                <a:cs typeface="+mn-cs"/>
              </a:rPr>
              <a:t>1. Technological Readiness (Seeds vs. Germination):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1999, the ideas were visionary, but the underlying infrastructure did not exist. There was no Cloud infrastructure until 2006, and Deep Learning breakthrough architectures didn't emerge until 2017. 1999 was the </a:t>
            </a:r>
            <a:r>
              <a:rPr lang="en-US" sz="1200" i="1" kern="1200" dirty="0">
                <a:solidFill>
                  <a:schemeClr val="tx1"/>
                </a:solidFill>
                <a:effectLst/>
                <a:latin typeface="+mn-lt"/>
                <a:ea typeface="+mn-ea"/>
                <a:cs typeface="+mn-cs"/>
              </a:rPr>
              <a:t>seed phase</a:t>
            </a:r>
            <a:r>
              <a:rPr lang="en-US" sz="1200" kern="1200" dirty="0">
                <a:solidFill>
                  <a:schemeClr val="tx1"/>
                </a:solidFill>
                <a:effectLst/>
                <a:latin typeface="+mn-lt"/>
                <a:ea typeface="+mn-ea"/>
                <a:cs typeface="+mn-cs"/>
              </a:rPr>
              <a:t>. Today, we are in the </a:t>
            </a:r>
            <a:r>
              <a:rPr lang="en-US" sz="1200" i="1" kern="1200" dirty="0">
                <a:solidFill>
                  <a:schemeClr val="tx1"/>
                </a:solidFill>
                <a:effectLst/>
                <a:latin typeface="+mn-lt"/>
                <a:ea typeface="+mn-ea"/>
                <a:cs typeface="+mn-cs"/>
              </a:rPr>
              <a:t>germination/explosion phase</a:t>
            </a:r>
            <a:r>
              <a:rPr lang="en-US" sz="1200" kern="1200" dirty="0">
                <a:solidFill>
                  <a:schemeClr val="tx1"/>
                </a:solidFill>
                <a:effectLst/>
                <a:latin typeface="+mn-lt"/>
                <a:ea typeface="+mn-ea"/>
                <a:cs typeface="+mn-cs"/>
              </a:rPr>
              <a:t>—the foundational technologies are live, integrated, and rapidly scaling." </a:t>
            </a:r>
          </a:p>
          <a:p>
            <a:pPr lvl="0"/>
            <a:r>
              <a:rPr lang="en-US" sz="1200" b="1" kern="1200" dirty="0">
                <a:solidFill>
                  <a:schemeClr val="tx1"/>
                </a:solidFill>
                <a:effectLst/>
                <a:latin typeface="+mn-lt"/>
                <a:ea typeface="+mn-ea"/>
                <a:cs typeface="+mn-cs"/>
              </a:rPr>
              <a:t>2. Valuation Basis: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1999, valuations were based on 10-year forward projections of potential 'eyeballs' without underlying cash flows. Today, platforms are producing real-time revenue surges. For instance, </a:t>
            </a:r>
            <a:r>
              <a:rPr lang="en-US" sz="1200" kern="1200" dirty="0" err="1">
                <a:solidFill>
                  <a:schemeClr val="tx1"/>
                </a:solidFill>
                <a:effectLst/>
                <a:latin typeface="+mn-lt"/>
                <a:ea typeface="+mn-ea"/>
                <a:cs typeface="+mn-cs"/>
              </a:rPr>
              <a:t>Anthropic's</a:t>
            </a:r>
            <a:r>
              <a:rPr lang="en-US" sz="1200" kern="1200" dirty="0">
                <a:solidFill>
                  <a:schemeClr val="tx1"/>
                </a:solidFill>
                <a:effectLst/>
                <a:latin typeface="+mn-lt"/>
                <a:ea typeface="+mn-ea"/>
                <a:cs typeface="+mn-cs"/>
              </a:rPr>
              <a:t> annualized revenue run rate jumped from $9M in December to $47M by June due to rapid enterprise adoption of models like Claude." </a:t>
            </a:r>
          </a:p>
          <a:p>
            <a:pPr lvl="0"/>
            <a:r>
              <a:rPr lang="en-US" sz="1200" b="1" kern="1200" dirty="0">
                <a:solidFill>
                  <a:schemeClr val="tx1"/>
                </a:solidFill>
                <a:effectLst/>
                <a:latin typeface="+mn-lt"/>
                <a:ea typeface="+mn-ea"/>
                <a:cs typeface="+mn-cs"/>
              </a:rPr>
              <a:t>3. Capital Structure &amp; Cash Reserves: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"1999 was characterized by cash-poor, burn-rate-heavy startups. Today’s massive AI infrastructure buildout is powered by heavily capitalized, cash-rich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with immense balance sheets." </a:t>
            </a:r>
          </a:p>
          <a:p>
            <a:pPr lvl="0"/>
            <a:r>
              <a:rPr lang="en-US" sz="1200" b="1" kern="1200" dirty="0">
                <a:solidFill>
                  <a:schemeClr val="tx1"/>
                </a:solidFill>
                <a:effectLst/>
                <a:latin typeface="+mn-lt"/>
                <a:ea typeface="+mn-ea"/>
                <a:cs typeface="+mn-cs"/>
              </a:rPr>
              <a:t>Takeaway: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"Today’s market price swings are driven by high-frequency algorithms reacting to sentiment noise, not by a lack of real fundamental adoption." </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3</a:t>
            </a:fld>
            <a:endParaRPr lang="en-US"/>
          </a:p>
        </p:txBody>
      </p:sp>
    </p:spTree>
    <p:extLst>
      <p:ext uri="{BB962C8B-B14F-4D97-AF65-F5344CB8AC3E}">
        <p14:creationId xmlns:p14="http://schemas.microsoft.com/office/powerpoint/2010/main" val="2522323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Defining True Innovation: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"Not every new product or exciting gadget constitutes a macro-level technological platform. At ARK, for a technology to qualify as an </a:t>
            </a:r>
            <a:r>
              <a:rPr lang="en-US" sz="1200" b="1" kern="1200" dirty="0">
                <a:solidFill>
                  <a:schemeClr val="tx1"/>
                </a:solidFill>
                <a:effectLst/>
                <a:latin typeface="+mn-lt"/>
                <a:ea typeface="+mn-ea"/>
                <a:cs typeface="+mn-cs"/>
              </a:rPr>
              <a:t>Innovation Platform</a:t>
            </a:r>
            <a:r>
              <a:rPr lang="en-US" sz="1200" kern="1200" dirty="0">
                <a:solidFill>
                  <a:schemeClr val="tx1"/>
                </a:solidFill>
                <a:effectLst/>
                <a:latin typeface="+mn-lt"/>
                <a:ea typeface="+mn-ea"/>
                <a:cs typeface="+mn-cs"/>
              </a:rPr>
              <a:t>, it must satisfy three rigorous conditions:" </a:t>
            </a:r>
          </a:p>
          <a:p>
            <a:pPr lvl="0"/>
            <a:r>
              <a:rPr lang="en-US" sz="1200" b="1" kern="1200" dirty="0">
                <a:solidFill>
                  <a:schemeClr val="tx1"/>
                </a:solidFill>
                <a:effectLst/>
                <a:latin typeface="+mn-lt"/>
                <a:ea typeface="+mn-ea"/>
                <a:cs typeface="+mn-cs"/>
              </a:rPr>
              <a:t>Rule 1: Follows a Learning Curve (Wright’s Law):</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technology must exhibit consistent, predictable, and unit-based cost declines. As production volume scales, production costs must decline at a fixed percentage rate." </a:t>
            </a:r>
          </a:p>
          <a:p>
            <a:pPr lvl="0"/>
            <a:r>
              <a:rPr lang="en-US" sz="1200" b="1" kern="1200" dirty="0">
                <a:solidFill>
                  <a:schemeClr val="tx1"/>
                </a:solidFill>
                <a:effectLst/>
                <a:latin typeface="+mn-lt"/>
                <a:ea typeface="+mn-ea"/>
                <a:cs typeface="+mn-cs"/>
              </a:rPr>
              <a:t>Rule 2: Cuts Across Sectors: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true platform cannot remain siloed within a single industry. Its unit economics must fall low enough to cross over and disrupt adjacent legacy sectors. For example, battery technology started in consumer electronics, crossed into automotive transport, and is now disrupting utility power grids." </a:t>
            </a:r>
          </a:p>
          <a:p>
            <a:pPr lvl="0"/>
            <a:r>
              <a:rPr lang="en-US" sz="1200" b="1" kern="1200" dirty="0">
                <a:solidFill>
                  <a:schemeClr val="tx1"/>
                </a:solidFill>
                <a:effectLst/>
                <a:latin typeface="+mn-lt"/>
                <a:ea typeface="+mn-ea"/>
                <a:cs typeface="+mn-cs"/>
              </a:rPr>
              <a:t>Rule 3: Acts as a Launching Pad: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platform must spawn subsequent innovations and converge with other platforms. When multiple learning curves merge, they unlock super-exponential growth curves." </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4</a:t>
            </a:fld>
            <a:endParaRPr lang="en-US"/>
          </a:p>
        </p:txBody>
      </p:sp>
    </p:spTree>
    <p:extLst>
      <p:ext uri="{BB962C8B-B14F-4D97-AF65-F5344CB8AC3E}">
        <p14:creationId xmlns:p14="http://schemas.microsoft.com/office/powerpoint/2010/main" val="1669794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Wright’s Law vs. Moore’s Law:</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"While Wall Street relies heavily on time-based projections like Moore's Law, ARK relies on </a:t>
            </a:r>
            <a:r>
              <a:rPr lang="en-US" sz="1200" b="1" kern="1200" dirty="0">
                <a:solidFill>
                  <a:schemeClr val="tx1"/>
                </a:solidFill>
                <a:effectLst/>
                <a:latin typeface="+mn-lt"/>
                <a:ea typeface="+mn-ea"/>
                <a:cs typeface="+mn-cs"/>
              </a:rPr>
              <a:t>Wright's Law</a:t>
            </a:r>
            <a:r>
              <a:rPr lang="en-US" sz="1200" kern="1200" dirty="0">
                <a:solidFill>
                  <a:schemeClr val="tx1"/>
                </a:solidFill>
                <a:effectLst/>
                <a:latin typeface="+mn-lt"/>
                <a:ea typeface="+mn-ea"/>
                <a:cs typeface="+mn-cs"/>
              </a:rPr>
              <a:t>—a cost function modeled on cumulative unit production." </a:t>
            </a:r>
          </a:p>
          <a:p>
            <a:pPr lvl="0"/>
            <a:r>
              <a:rPr lang="en-US" sz="1200" b="1" kern="1200" dirty="0">
                <a:solidFill>
                  <a:schemeClr val="tx1"/>
                </a:solidFill>
                <a:effectLst/>
                <a:latin typeface="+mn-lt"/>
                <a:ea typeface="+mn-ea"/>
                <a:cs typeface="+mn-cs"/>
              </a:rPr>
              <a:t>The 40% Rule in Genomics: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"Wright’s Law states that for every cumulative doubling of units produced, cost drops by a fixed percentage. In whole-genome DNA sequencing, this cost decline rate is approximately </a:t>
            </a:r>
            <a:r>
              <a:rPr lang="en-US" sz="1200" b="1" kern="1200" dirty="0">
                <a:solidFill>
                  <a:schemeClr val="tx1"/>
                </a:solidFill>
                <a:effectLst/>
                <a:latin typeface="+mn-lt"/>
                <a:ea typeface="+mn-ea"/>
                <a:cs typeface="+mn-cs"/>
              </a:rPr>
              <a:t>40% per cumulative doubling</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Real-World Case Study: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2003, sequencing the first human genome required 13 years and </a:t>
            </a:r>
            <a:r>
              <a:rPr lang="en-US" sz="1200" b="1" kern="1200" dirty="0">
                <a:solidFill>
                  <a:schemeClr val="tx1"/>
                </a:solidFill>
                <a:effectLst/>
                <a:latin typeface="+mn-lt"/>
                <a:ea typeface="+mn-ea"/>
                <a:cs typeface="+mn-cs"/>
              </a:rPr>
              <a:t>$2.7 billion</a:t>
            </a:r>
            <a:r>
              <a:rPr lang="en-US" sz="1200" kern="1200" dirty="0">
                <a:solidFill>
                  <a:schemeClr val="tx1"/>
                </a:solidFill>
                <a:effectLst/>
                <a:latin typeface="+mn-lt"/>
                <a:ea typeface="+mn-ea"/>
                <a:cs typeface="+mn-cs"/>
              </a:rPr>
              <a:t>. Today, sequencing a full human genome costs </a:t>
            </a:r>
            <a:r>
              <a:rPr lang="en-US" sz="1200" b="1" kern="1200" dirty="0">
                <a:solidFill>
                  <a:schemeClr val="tx1"/>
                </a:solidFill>
                <a:effectLst/>
                <a:latin typeface="+mn-lt"/>
                <a:ea typeface="+mn-ea"/>
                <a:cs typeface="+mn-cs"/>
              </a:rPr>
              <a:t>under $100</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Strategic Implication — Hunting for Low Base Numbers: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"Why does this matter to investors? We actively seek technologies starting from a </a:t>
            </a:r>
            <a:r>
              <a:rPr lang="en-US" sz="1200" b="1" kern="1200" dirty="0">
                <a:solidFill>
                  <a:schemeClr val="tx1"/>
                </a:solidFill>
                <a:effectLst/>
                <a:latin typeface="+mn-lt"/>
                <a:ea typeface="+mn-ea"/>
                <a:cs typeface="+mn-cs"/>
              </a:rPr>
              <a:t>low base of production</a:t>
            </a:r>
            <a:r>
              <a:rPr lang="en-US" sz="1200" kern="1200" dirty="0">
                <a:solidFill>
                  <a:schemeClr val="tx1"/>
                </a:solidFill>
                <a:effectLst/>
                <a:latin typeface="+mn-lt"/>
                <a:ea typeface="+mn-ea"/>
                <a:cs typeface="+mn-cs"/>
              </a:rPr>
              <a:t>. A low starting base allows for frequent, consecutive doublings, triggering rapid and predictable price collapses that open up mass commercial markets."</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5</a:t>
            </a:fld>
            <a:endParaRPr lang="en-US"/>
          </a:p>
        </p:txBody>
      </p:sp>
    </p:spTree>
    <p:extLst>
      <p:ext uri="{BB962C8B-B14F-4D97-AF65-F5344CB8AC3E}">
        <p14:creationId xmlns:p14="http://schemas.microsoft.com/office/powerpoint/2010/main" val="4158558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Understanding Technological Convergence: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individual innovation platforms mature simultaneously, they converge to create entirely new markets. We call this the convergence of S-Curves." </a:t>
            </a:r>
          </a:p>
          <a:p>
            <a:pPr lvl="0"/>
            <a:r>
              <a:rPr lang="en-US" sz="1200" b="1" kern="1200" dirty="0">
                <a:solidFill>
                  <a:schemeClr val="tx1"/>
                </a:solidFill>
                <a:effectLst/>
                <a:latin typeface="+mn-lt"/>
                <a:ea typeface="+mn-ea"/>
                <a:cs typeface="+mn-cs"/>
              </a:rPr>
              <a:t>The Autonomous Vehicle / Robo-Taxi Example: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"Consider autonomous mobility. It is not a single technology; it is the physical intersection of three distinct platforms: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Robotics:</a:t>
            </a:r>
            <a:r>
              <a:rPr lang="en-US" sz="1200" kern="1200" dirty="0">
                <a:solidFill>
                  <a:schemeClr val="tx1"/>
                </a:solidFill>
                <a:effectLst/>
                <a:latin typeface="+mn-lt"/>
                <a:ea typeface="+mn-ea"/>
                <a:cs typeface="+mn-cs"/>
              </a:rPr>
              <a:t> The physical, drive-by-wire hardware vehicle platform.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Energy Storage:</a:t>
            </a:r>
            <a:r>
              <a:rPr lang="en-US" sz="1200" kern="1200" dirty="0">
                <a:solidFill>
                  <a:schemeClr val="tx1"/>
                </a:solidFill>
                <a:effectLst/>
                <a:latin typeface="+mn-lt"/>
                <a:ea typeface="+mn-ea"/>
                <a:cs typeface="+mn-cs"/>
              </a:rPr>
              <a:t> Advanced battery chemistry enabling high-utilization electric drivetrains.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Artificial Intelligence:</a:t>
            </a:r>
            <a:r>
              <a:rPr lang="en-US" sz="1200" kern="1200" dirty="0">
                <a:solidFill>
                  <a:schemeClr val="tx1"/>
                </a:solidFill>
                <a:effectLst/>
                <a:latin typeface="+mn-lt"/>
                <a:ea typeface="+mn-ea"/>
                <a:cs typeface="+mn-cs"/>
              </a:rPr>
              <a:t> Real-time neural networks driving autonomous navigation." </a:t>
            </a:r>
          </a:p>
          <a:p>
            <a:pPr lvl="0"/>
            <a:r>
              <a:rPr lang="en-US" sz="1200" b="1" kern="1200" dirty="0">
                <a:solidFill>
                  <a:schemeClr val="tx1"/>
                </a:solidFill>
                <a:effectLst/>
                <a:latin typeface="+mn-lt"/>
                <a:ea typeface="+mn-ea"/>
                <a:cs typeface="+mn-cs"/>
              </a:rPr>
              <a:t>Ecosystem Scale &amp; Winner-Take-Most Dynamics: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"Because this convergence creates superior utility at a fraction of human-driven transport costs, it exhibits strong 'winner-take-most' characteristics. The first providers to reach threshold safety and scale will capture the majority of market share."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 project this converged global </a:t>
            </a:r>
            <a:r>
              <a:rPr lang="en-US" sz="1200" kern="1200" dirty="0" err="1">
                <a:solidFill>
                  <a:schemeClr val="tx1"/>
                </a:solidFill>
                <a:effectLst/>
                <a:latin typeface="+mn-lt"/>
                <a:ea typeface="+mn-ea"/>
                <a:cs typeface="+mn-cs"/>
              </a:rPr>
              <a:t>robo</a:t>
            </a:r>
            <a:r>
              <a:rPr lang="en-US" sz="1200" kern="1200" dirty="0">
                <a:solidFill>
                  <a:schemeClr val="tx1"/>
                </a:solidFill>
                <a:effectLst/>
                <a:latin typeface="+mn-lt"/>
                <a:ea typeface="+mn-ea"/>
                <a:cs typeface="+mn-cs"/>
              </a:rPr>
              <a:t>-taxi ecosystem will unlock over </a:t>
            </a:r>
            <a:r>
              <a:rPr lang="en-US" sz="1200" b="1" kern="1200" dirty="0">
                <a:solidFill>
                  <a:schemeClr val="tx1"/>
                </a:solidFill>
                <a:effectLst/>
                <a:latin typeface="+mn-lt"/>
                <a:ea typeface="+mn-ea"/>
                <a:cs typeface="+mn-cs"/>
              </a:rPr>
              <a:t>$10 trillion in global revenue</a:t>
            </a:r>
            <a:r>
              <a:rPr lang="en-US" sz="1200" kern="1200" dirty="0">
                <a:solidFill>
                  <a:schemeClr val="tx1"/>
                </a:solidFill>
                <a:effectLst/>
                <a:latin typeface="+mn-lt"/>
                <a:ea typeface="+mn-ea"/>
                <a:cs typeface="+mn-cs"/>
              </a:rPr>
              <a:t> over the next 5 to 10 years." </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6</a:t>
            </a:fld>
            <a:endParaRPr lang="en-US"/>
          </a:p>
        </p:txBody>
      </p:sp>
    </p:spTree>
    <p:extLst>
      <p:ext uri="{BB962C8B-B14F-4D97-AF65-F5344CB8AC3E}">
        <p14:creationId xmlns:p14="http://schemas.microsoft.com/office/powerpoint/2010/main" val="661722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Structural Shift in the Technology Stack: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AI revolution is completely restructuring the traditional enterprise tech stack. We break the stack into three core layers:" </a:t>
            </a:r>
          </a:p>
          <a:p>
            <a:pPr lvl="0"/>
            <a:r>
              <a:rPr lang="en-US" sz="1200" b="1" kern="1200" dirty="0">
                <a:solidFill>
                  <a:schemeClr val="tx1"/>
                </a:solidFill>
                <a:effectLst/>
                <a:latin typeface="+mn-lt"/>
                <a:ea typeface="+mn-ea"/>
                <a:cs typeface="+mn-cs"/>
              </a:rPr>
              <a:t>1. Base Layer: Infrastructure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"Chips, data centers, compute capacity, and power infrastructure. Extremely capital-intensive, high capex, foundational buildout." </a:t>
            </a:r>
          </a:p>
          <a:p>
            <a:pPr lvl="0"/>
            <a:r>
              <a:rPr lang="en-US" sz="1200" b="1" kern="1200" dirty="0">
                <a:solidFill>
                  <a:schemeClr val="tx1"/>
                </a:solidFill>
                <a:effectLst/>
                <a:latin typeface="+mn-lt"/>
                <a:ea typeface="+mn-ea"/>
                <a:cs typeface="+mn-cs"/>
              </a:rPr>
              <a:t>2. Middle Layer: Platform as a Service (PaaS) — The Sweet Spot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layer includes companies like OpenAI, Anthropic, Palantir, and </a:t>
            </a:r>
            <a:r>
              <a:rPr lang="en-US" sz="1200" kern="1200" dirty="0" err="1">
                <a:solidFill>
                  <a:schemeClr val="tx1"/>
                </a:solidFill>
                <a:effectLst/>
                <a:latin typeface="+mn-lt"/>
                <a:ea typeface="+mn-ea"/>
                <a:cs typeface="+mn-cs"/>
              </a:rPr>
              <a:t>xAI</a:t>
            </a:r>
            <a:r>
              <a:rPr lang="en-US" sz="1200" kern="1200" dirty="0">
                <a:solidFill>
                  <a:schemeClr val="tx1"/>
                </a:solidFill>
                <a:effectLst/>
                <a:latin typeface="+mn-lt"/>
                <a:ea typeface="+mn-ea"/>
                <a:cs typeface="+mn-cs"/>
              </a:rPr>
              <a:t>. PaaS offers custom, enterprise-by-enterprise intelligence layers built on top of highly proprietary enterprise data." </a:t>
            </a:r>
          </a:p>
          <a:p>
            <a:pPr lvl="0"/>
            <a:r>
              <a:rPr lang="en-US" sz="1200" b="1" kern="1200" dirty="0">
                <a:solidFill>
                  <a:schemeClr val="tx1"/>
                </a:solidFill>
                <a:effectLst/>
                <a:latin typeface="+mn-lt"/>
                <a:ea typeface="+mn-ea"/>
                <a:cs typeface="+mn-cs"/>
              </a:rPr>
              <a:t>3. Top Layer: Applications (Legacy SaaS)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"Traditional application software (one-size-fits-all SaaS)." </a:t>
            </a:r>
          </a:p>
          <a:p>
            <a:pPr lvl="0"/>
            <a:r>
              <a:rPr lang="en-US" sz="1200" b="1" kern="1200" dirty="0">
                <a:solidFill>
                  <a:schemeClr val="tx1"/>
                </a:solidFill>
                <a:effectLst/>
                <a:latin typeface="+mn-lt"/>
                <a:ea typeface="+mn-ea"/>
                <a:cs typeface="+mn-cs"/>
              </a:rPr>
              <a:t>Disruption Warning on Legacy SaaS: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"Old-school SaaS models that charge seats for standard interfaces are deeply vulnerable. They are being rapidly usurped by custom PaaS layers that integrate directly into corporate workflows using custom data, rendering generic software seats obsolete." </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7</a:t>
            </a:fld>
            <a:endParaRPr lang="en-US"/>
          </a:p>
        </p:txBody>
      </p:sp>
    </p:spTree>
    <p:extLst>
      <p:ext uri="{BB962C8B-B14F-4D97-AF65-F5344CB8AC3E}">
        <p14:creationId xmlns:p14="http://schemas.microsoft.com/office/powerpoint/2010/main" val="5023035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Market Sentiment vs. Fundamental Reality: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"Multi-omics and genomic healthcare represent perhaps the most maligned yet profound application of AI today." </a:t>
            </a:r>
          </a:p>
          <a:p>
            <a:pPr lvl="0"/>
            <a:r>
              <a:rPr lang="en-US" sz="1200" b="1" kern="1200" dirty="0">
                <a:solidFill>
                  <a:schemeClr val="tx1"/>
                </a:solidFill>
                <a:effectLst/>
                <a:latin typeface="+mn-lt"/>
                <a:ea typeface="+mn-ea"/>
                <a:cs typeface="+mn-cs"/>
              </a:rPr>
              <a:t>The 60% Short Trap:</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"Due to momentum-based algorithms, high short interest accumulated across the multi-omics space (reaching up to 60% in specialized ETFs like ARKG). The consensus narrative labeled healthcare innovation as 'too political', heavily bureaucratic, and constrained by negative near-term free cash flow." </a:t>
            </a:r>
          </a:p>
          <a:p>
            <a:pPr lvl="0"/>
            <a:r>
              <a:rPr lang="en-US" sz="1200" b="1" kern="1200" dirty="0">
                <a:solidFill>
                  <a:schemeClr val="tx1"/>
                </a:solidFill>
                <a:effectLst/>
                <a:latin typeface="+mn-lt"/>
                <a:ea typeface="+mn-ea"/>
                <a:cs typeface="+mn-cs"/>
              </a:rPr>
              <a:t>Technological Reality (Biological Convergence):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"However, behind this sentiment wall, a massive technological triad has converged: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Sequencing:</a:t>
            </a:r>
            <a:r>
              <a:rPr lang="en-US" sz="1200" kern="1200" dirty="0">
                <a:solidFill>
                  <a:schemeClr val="tx1"/>
                </a:solidFill>
                <a:effectLst/>
                <a:latin typeface="+mn-lt"/>
                <a:ea typeface="+mn-ea"/>
                <a:cs typeface="+mn-cs"/>
              </a:rPr>
              <a:t> Pinpointing individual mutations among 35–40 trillion human cells.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Artificial Intelligence:</a:t>
            </a:r>
            <a:r>
              <a:rPr lang="en-US" sz="1200" kern="1200" dirty="0">
                <a:solidFill>
                  <a:schemeClr val="tx1"/>
                </a:solidFill>
                <a:effectLst/>
                <a:latin typeface="+mn-lt"/>
                <a:ea typeface="+mn-ea"/>
                <a:cs typeface="+mn-cs"/>
              </a:rPr>
              <a:t> Analyzing massive, multi-tiered biological datasets. </a:t>
            </a:r>
          </a:p>
          <a:p>
            <a:pPr marL="628650" lvl="1" indent="-171450">
              <a:buFont typeface="Arial" panose="020B0604020202020204" pitchFamily="34" charset="0"/>
              <a:buChar char="•"/>
            </a:pPr>
            <a:r>
              <a:rPr lang="en-US" sz="1200" b="1" kern="1200" dirty="0">
                <a:solidFill>
                  <a:schemeClr val="tx1"/>
                </a:solidFill>
                <a:effectLst/>
                <a:latin typeface="+mn-lt"/>
                <a:ea typeface="+mn-ea"/>
                <a:cs typeface="+mn-cs"/>
              </a:rPr>
              <a:t>CRISPR / Gene Editing:</a:t>
            </a:r>
            <a:r>
              <a:rPr lang="en-US" sz="1200" kern="1200" dirty="0">
                <a:solidFill>
                  <a:schemeClr val="tx1"/>
                </a:solidFill>
                <a:effectLst/>
                <a:latin typeface="+mn-lt"/>
                <a:ea typeface="+mn-ea"/>
                <a:cs typeface="+mn-cs"/>
              </a:rPr>
              <a:t> Reprogramming human DNA to correct disease at its foundational source." </a:t>
            </a:r>
          </a:p>
          <a:p>
            <a:pPr lvl="0"/>
            <a:r>
              <a:rPr lang="en-US" sz="1200" b="1" kern="1200" dirty="0">
                <a:solidFill>
                  <a:schemeClr val="tx1"/>
                </a:solidFill>
                <a:effectLst/>
                <a:latin typeface="+mn-lt"/>
                <a:ea typeface="+mn-ea"/>
                <a:cs typeface="+mn-cs"/>
              </a:rPr>
              <a:t>Summary: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"Short-term momentum algorithms can suppress stock prices, but biological truth and curative outcomes eventually overwhelm algorithmically driven short positions." </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8</a:t>
            </a:fld>
            <a:endParaRPr lang="en-US"/>
          </a:p>
        </p:txBody>
      </p:sp>
    </p:spTree>
    <p:extLst>
      <p:ext uri="{BB962C8B-B14F-4D97-AF65-F5344CB8AC3E}">
        <p14:creationId xmlns:p14="http://schemas.microsoft.com/office/powerpoint/2010/main" val="37766296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5-Year Horizon vs. Quarterly Noise: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"Wall Street is obsessed with quarterly earnings results and short-term multiples. We operate on a </a:t>
            </a:r>
            <a:r>
              <a:rPr lang="en-US" sz="1200" b="1" kern="1200" dirty="0">
                <a:solidFill>
                  <a:schemeClr val="tx1"/>
                </a:solidFill>
                <a:effectLst/>
                <a:latin typeface="+mn-lt"/>
                <a:ea typeface="+mn-ea"/>
                <a:cs typeface="+mn-cs"/>
              </a:rPr>
              <a:t>5-year time horizon</a:t>
            </a:r>
            <a:r>
              <a:rPr lang="en-US" sz="1200" kern="1200" dirty="0">
                <a:solidFill>
                  <a:schemeClr val="tx1"/>
                </a:solidFill>
                <a:effectLst/>
                <a:latin typeface="+mn-lt"/>
                <a:ea typeface="+mn-ea"/>
                <a:cs typeface="+mn-cs"/>
              </a:rPr>
              <a:t>, leveraging what we call 'Time Arbitrage'." </a:t>
            </a:r>
          </a:p>
          <a:p>
            <a:pPr lvl="0"/>
            <a:r>
              <a:rPr lang="en-US" sz="1200" b="1" kern="1200" dirty="0">
                <a:solidFill>
                  <a:schemeClr val="tx1"/>
                </a:solidFill>
                <a:effectLst/>
                <a:latin typeface="+mn-lt"/>
                <a:ea typeface="+mn-ea"/>
                <a:cs typeface="+mn-cs"/>
              </a:rPr>
              <a:t>The 3-Step Valuation Framework:</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Accepting a Premium Multiple:</a:t>
            </a:r>
            <a:r>
              <a:rPr lang="en-US" sz="1200" kern="1200" dirty="0">
                <a:solidFill>
                  <a:schemeClr val="tx1"/>
                </a:solidFill>
                <a:effectLst/>
                <a:latin typeface="+mn-lt"/>
                <a:ea typeface="+mn-ea"/>
                <a:cs typeface="+mn-cs"/>
              </a:rPr>
              <a:t> "We willingly pay a premium valuation multiple today for true, hyper-growth innovators."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Assuming Multiple Compression:</a:t>
            </a:r>
            <a:r>
              <a:rPr lang="en-US" sz="1200" kern="1200" dirty="0">
                <a:solidFill>
                  <a:schemeClr val="tx1"/>
                </a:solidFill>
                <a:effectLst/>
                <a:latin typeface="+mn-lt"/>
                <a:ea typeface="+mn-ea"/>
                <a:cs typeface="+mn-cs"/>
              </a:rPr>
              <a:t> "In our base financial models, we explicitly assume that this elevated premium multiple will compress dramatically over 5 years down to a standard market multiple (18x–19x EBITDA)."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Growth Outpacing Compression:</a:t>
            </a:r>
            <a:r>
              <a:rPr lang="en-US" sz="1200" kern="1200" dirty="0">
                <a:solidFill>
                  <a:schemeClr val="tx1"/>
                </a:solidFill>
                <a:effectLst/>
                <a:latin typeface="+mn-lt"/>
                <a:ea typeface="+mn-ea"/>
                <a:cs typeface="+mn-cs"/>
              </a:rPr>
              <a:t> "For an asset to enter the portfolio, our projected 5-year revenue growth and margin expansion must overwhelmingly outpace that multiple compression." </a:t>
            </a:r>
          </a:p>
          <a:p>
            <a:pPr lvl="0"/>
            <a:r>
              <a:rPr lang="en-US" sz="1200" b="1" kern="1200" dirty="0">
                <a:solidFill>
                  <a:schemeClr val="tx1"/>
                </a:solidFill>
                <a:effectLst/>
                <a:latin typeface="+mn-lt"/>
                <a:ea typeface="+mn-ea"/>
                <a:cs typeface="+mn-cs"/>
              </a:rPr>
              <a:t>Key takeaway: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"By forcing an 18–19x terminal EBITDA assumption into our 5-year models, we maintain strict valuation discipline while remaining anchored to structural long-term growth." </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9</a:t>
            </a:fld>
            <a:endParaRPr lang="en-US"/>
          </a:p>
        </p:txBody>
      </p:sp>
    </p:spTree>
    <p:extLst>
      <p:ext uri="{BB962C8B-B14F-4D97-AF65-F5344CB8AC3E}">
        <p14:creationId xmlns:p14="http://schemas.microsoft.com/office/powerpoint/2010/main" val="3720002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Reframing Volatility: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"Standard financial theory equates risk with volatility (standard deviation). We view them as fundamentally distinct concepts." </a:t>
            </a:r>
          </a:p>
          <a:p>
            <a:pPr lvl="0"/>
            <a:r>
              <a:rPr lang="en-US" sz="1200" b="1" kern="1200" dirty="0">
                <a:solidFill>
                  <a:schemeClr val="tx1"/>
                </a:solidFill>
                <a:effectLst/>
                <a:latin typeface="+mn-lt"/>
                <a:ea typeface="+mn-ea"/>
                <a:cs typeface="+mn-cs"/>
              </a:rPr>
              <a:t>Volatility as an Opportunity:</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kern="1200" dirty="0">
                <a:solidFill>
                  <a:schemeClr val="tx1"/>
                </a:solidFill>
                <a:effectLst/>
                <a:latin typeface="+mn-lt"/>
                <a:ea typeface="+mn-ea"/>
                <a:cs typeface="+mn-cs"/>
              </a:rPr>
              <a:t>"Volatility is driven by macroeconomic uncertainty, sentiment-scraping algorithms, and short-term earnings noise. When high-conviction positions drop 15% due to short-term sentiment without altering the core thesis, we act as liquidity providers—buying low and taking advantage of algorithm-driven overreactions." </a:t>
            </a:r>
          </a:p>
          <a:p>
            <a:pPr lvl="0"/>
            <a:r>
              <a:rPr lang="en-US" sz="1200" b="1" kern="1200" dirty="0">
                <a:solidFill>
                  <a:schemeClr val="tx1"/>
                </a:solidFill>
                <a:effectLst/>
                <a:latin typeface="+mn-lt"/>
                <a:ea typeface="+mn-ea"/>
                <a:cs typeface="+mn-cs"/>
              </a:rPr>
              <a:t>The Real Danger: Permanent Capital Impairment: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"Real risk is the </a:t>
            </a:r>
            <a:r>
              <a:rPr lang="en-US" sz="1200" b="1" kern="1200" dirty="0">
                <a:solidFill>
                  <a:schemeClr val="tx1"/>
                </a:solidFill>
                <a:effectLst/>
                <a:latin typeface="+mn-lt"/>
                <a:ea typeface="+mn-ea"/>
                <a:cs typeface="+mn-cs"/>
              </a:rPr>
              <a:t>permanent impairment of capital</a:t>
            </a:r>
            <a:r>
              <a:rPr lang="en-US" sz="1200" kern="1200" dirty="0">
                <a:solidFill>
                  <a:schemeClr val="tx1"/>
                </a:solidFill>
                <a:effectLst/>
                <a:latin typeface="+mn-lt"/>
                <a:ea typeface="+mn-ea"/>
                <a:cs typeface="+mn-cs"/>
              </a:rPr>
              <a:t>—where the fundamental underlying thesis fails." </a:t>
            </a:r>
          </a:p>
          <a:p>
            <a:pPr lvl="0"/>
            <a:r>
              <a:rPr lang="en-US" sz="1200" b="1" kern="1200" dirty="0">
                <a:solidFill>
                  <a:schemeClr val="tx1"/>
                </a:solidFill>
                <a:effectLst/>
                <a:latin typeface="+mn-lt"/>
                <a:ea typeface="+mn-ea"/>
                <a:cs typeface="+mn-cs"/>
              </a:rPr>
              <a:t>When to Sell:</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 exit positions immediately if:</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 core technology classification was incorrect (as was the case when 3D printing proved to be an automated tool rather than a standalone macroeconomic platform).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Management is merely 'checking the AI box' without deep talent or genuine enterprise implementation." </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10</a:t>
            </a:fld>
            <a:endParaRPr lang="en-US"/>
          </a:p>
        </p:txBody>
      </p:sp>
    </p:spTree>
    <p:extLst>
      <p:ext uri="{BB962C8B-B14F-4D97-AF65-F5344CB8AC3E}">
        <p14:creationId xmlns:p14="http://schemas.microsoft.com/office/powerpoint/2010/main" val="9096510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Managing Capital in Market Corrections: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"During severe market pullbacks or tech downturns, we execute a disciplined capital management tactic: </a:t>
            </a:r>
            <a:r>
              <a:rPr lang="en-US" sz="1200" b="1" kern="1200" dirty="0">
                <a:solidFill>
                  <a:schemeClr val="tx1"/>
                </a:solidFill>
                <a:effectLst/>
                <a:latin typeface="+mn-lt"/>
                <a:ea typeface="+mn-ea"/>
                <a:cs typeface="+mn-cs"/>
              </a:rPr>
              <a:t>The Concentration Playbook</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6-Metric Bottom-Up Scoring System:</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"We evaluate every holding in our universe against a rigorous 6-metric bottom-up scoring system."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"Instead of spreading capital across the entire spectrum, we sell off lower-scoring, lower-conviction holdings and concentrate capital directly into our highest-scoring assets." </a:t>
            </a:r>
          </a:p>
          <a:p>
            <a:pPr lvl="0"/>
            <a:r>
              <a:rPr lang="en-US" sz="1200" b="1" kern="1200" dirty="0">
                <a:solidFill>
                  <a:schemeClr val="tx1"/>
                </a:solidFill>
                <a:effectLst/>
                <a:latin typeface="+mn-lt"/>
                <a:ea typeface="+mn-ea"/>
                <a:cs typeface="+mn-cs"/>
              </a:rPr>
              <a:t>The Hidden Analytical Benefit: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"Forced concentration forces analysts to make tough trade-offs. When forced to choose between two similarly scored assets, analysts surface subtle, unquantifiable risks—such as management hesitation or talent depth—that might otherwise go unmentioned."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process cleanses the portfolio of subtle structural risks before they turn into permanent capital losses." </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11</a:t>
            </a:fld>
            <a:endParaRPr lang="en-US"/>
          </a:p>
        </p:txBody>
      </p:sp>
    </p:spTree>
    <p:extLst>
      <p:ext uri="{BB962C8B-B14F-4D97-AF65-F5344CB8AC3E}">
        <p14:creationId xmlns:p14="http://schemas.microsoft.com/office/powerpoint/2010/main" val="126504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Top-Down Macro/Regulatory Assessment (The Toyota Case Study):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"Top-down research evaluates macroeconomic and regulatory friction. Early in ARK’s history, we exited our position in Toyota. Why? Our top-down research revealed that Japanese regulators were discouraging EV adoption due to electrical grid constraints following the Fukushima nuclear shutdown."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"Toyota shifted focus to hydrogen fuel cell development, but our research showed that the required fueling infrastructure buildout was financially unviable. Macro regulatory constraints effectively vetoed micro manufacturing potential." </a:t>
            </a:r>
          </a:p>
          <a:p>
            <a:pPr lvl="0"/>
            <a:r>
              <a:rPr lang="en-US" sz="1200" b="1" kern="1200" dirty="0">
                <a:solidFill>
                  <a:schemeClr val="tx1"/>
                </a:solidFill>
                <a:effectLst/>
                <a:latin typeface="+mn-lt"/>
                <a:ea typeface="+mn-ea"/>
                <a:cs typeface="+mn-cs"/>
              </a:rPr>
              <a:t>Bottom-Up Management Interrogation: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"Bottom-up research requires interrogating corporate leadership and probing engineering talent pools."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assessing legacy tech and healthcare providers, deep interviews frequently reveal that companies boasting about AI adoption are only 'an inch deep' in genuine talent. They check the narrative box for quarterly calls, masking imminent structural disruption." </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12</a:t>
            </a:fld>
            <a:endParaRPr lang="en-US"/>
          </a:p>
        </p:txBody>
      </p:sp>
    </p:spTree>
    <p:extLst>
      <p:ext uri="{BB962C8B-B14F-4D97-AF65-F5344CB8AC3E}">
        <p14:creationId xmlns:p14="http://schemas.microsoft.com/office/powerpoint/2010/main" val="26162380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Innovation Causes Cost Deflation: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critical macro insight of our research is that technological innovation is fundamentally deflationary. Wright’s Law dictates that cost structures naturally decline over time." </a:t>
            </a:r>
          </a:p>
          <a:p>
            <a:pPr lvl="0"/>
            <a:r>
              <a:rPr lang="en-US" sz="1200" b="1" kern="1200" dirty="0">
                <a:solidFill>
                  <a:schemeClr val="tx1"/>
                </a:solidFill>
                <a:effectLst/>
                <a:latin typeface="+mn-lt"/>
                <a:ea typeface="+mn-ea"/>
                <a:cs typeface="+mn-cs"/>
              </a:rPr>
              <a:t>Two Sides of Deflation: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Disruptors ('Good Deflation'):</a:t>
            </a:r>
            <a:r>
              <a:rPr lang="en-US" sz="1200" kern="1200" dirty="0">
                <a:solidFill>
                  <a:schemeClr val="tx1"/>
                </a:solidFill>
                <a:effectLst/>
                <a:latin typeface="+mn-lt"/>
                <a:ea typeface="+mn-ea"/>
                <a:cs typeface="+mn-cs"/>
              </a:rPr>
              <a:t> "Disruptors ride cost curves down, passing savings along to consumers via lower prices while expanding their operating margins and capturing massive market share."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Incumbents ('Trapped Deflation'):</a:t>
            </a:r>
            <a:r>
              <a:rPr lang="en-US" sz="1200" kern="1200" dirty="0">
                <a:solidFill>
                  <a:schemeClr val="tx1"/>
                </a:solidFill>
                <a:effectLst/>
                <a:latin typeface="+mn-lt"/>
                <a:ea typeface="+mn-ea"/>
                <a:cs typeface="+mn-cs"/>
              </a:rPr>
              <a:t> "Legacy incumbents are burdened with heavy legacy infrastructure and high fixed costs. To retain market share against disruptors, they are forced to slash prices aggressively—without the underlying cost reductions required to sustain profits." </a:t>
            </a:r>
          </a:p>
          <a:p>
            <a:pPr lvl="0"/>
            <a:r>
              <a:rPr lang="en-US" sz="1200" b="1" kern="1200" dirty="0">
                <a:solidFill>
                  <a:schemeClr val="tx1"/>
                </a:solidFill>
                <a:effectLst/>
                <a:latin typeface="+mn-lt"/>
                <a:ea typeface="+mn-ea"/>
                <a:cs typeface="+mn-cs"/>
              </a:rPr>
              <a:t>The Resulting Impact: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dynamic causes severe, lethal margin compression for incumbent auto, software, and healthcare providers who fail to innovate at pace." </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13</a:t>
            </a:fld>
            <a:endParaRPr lang="en-US"/>
          </a:p>
        </p:txBody>
      </p:sp>
    </p:spTree>
    <p:extLst>
      <p:ext uri="{BB962C8B-B14F-4D97-AF65-F5344CB8AC3E}">
        <p14:creationId xmlns:p14="http://schemas.microsoft.com/office/powerpoint/2010/main" val="42494791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Risk of Passive Indexing: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"Over 95% of institutional capital flows are tied to traditional, market-cap-weighted benchmark indices. However, passive indexing presents three structural vulnerabilities:" </a:t>
            </a:r>
          </a:p>
          <a:p>
            <a:pPr lvl="0"/>
            <a:r>
              <a:rPr lang="en-US" sz="1200" b="1" kern="1200" dirty="0">
                <a:solidFill>
                  <a:schemeClr val="tx1"/>
                </a:solidFill>
                <a:effectLst/>
                <a:latin typeface="+mn-lt"/>
                <a:ea typeface="+mn-ea"/>
                <a:cs typeface="+mn-cs"/>
              </a:rPr>
              <a:t>1. Backward-Looking Market Structure: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"Cap-weighted indices allocate the most capital to companies that scaled successfully in the </a:t>
            </a:r>
            <a:r>
              <a:rPr lang="en-US" sz="1200" i="1" kern="1200" dirty="0">
                <a:solidFill>
                  <a:schemeClr val="tx1"/>
                </a:solidFill>
                <a:effectLst/>
                <a:latin typeface="+mn-lt"/>
                <a:ea typeface="+mn-ea"/>
                <a:cs typeface="+mn-cs"/>
              </a:rPr>
              <a:t>previous</a:t>
            </a:r>
            <a:r>
              <a:rPr lang="en-US" sz="1200" kern="1200" dirty="0">
                <a:solidFill>
                  <a:schemeClr val="tx1"/>
                </a:solidFill>
                <a:effectLst/>
                <a:latin typeface="+mn-lt"/>
                <a:ea typeface="+mn-ea"/>
                <a:cs typeface="+mn-cs"/>
              </a:rPr>
              <a:t> economic cycle. These incumbents now face massive reinvestment hurdles and margin threats." </a:t>
            </a:r>
          </a:p>
          <a:p>
            <a:pPr lvl="0"/>
            <a:r>
              <a:rPr lang="en-US" sz="1200" b="1" kern="1200" dirty="0">
                <a:solidFill>
                  <a:schemeClr val="tx1"/>
                </a:solidFill>
                <a:effectLst/>
                <a:latin typeface="+mn-lt"/>
                <a:ea typeface="+mn-ea"/>
                <a:cs typeface="+mn-cs"/>
              </a:rPr>
              <a:t>2. The Cyclicality Trap:</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"Indexing blindly directs capital into heavily commoditized, highly cyclical supply chain segments—such as high-bandwidth memory chips—ignoring innovative architectures designed to engineer those costly components out of the supply chain entirely." </a:t>
            </a:r>
          </a:p>
          <a:p>
            <a:pPr lvl="0"/>
            <a:r>
              <a:rPr lang="en-US" sz="1200" b="1" kern="1200" dirty="0">
                <a:solidFill>
                  <a:schemeClr val="tx1"/>
                </a:solidFill>
                <a:effectLst/>
                <a:latin typeface="+mn-lt"/>
                <a:ea typeface="+mn-ea"/>
                <a:cs typeface="+mn-cs"/>
              </a:rPr>
              <a:t>3. The Private &amp; Sub-Billion Blind Spot: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"Pure-play disruptors (such as SpaceX, OpenAI, Anthropic, or early sub-$1B market cap innovators) exist entirely outside standard benchmark indices." </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14</a:t>
            </a:fld>
            <a:endParaRPr lang="en-US"/>
          </a:p>
        </p:txBody>
      </p:sp>
    </p:spTree>
    <p:extLst>
      <p:ext uri="{BB962C8B-B14F-4D97-AF65-F5344CB8AC3E}">
        <p14:creationId xmlns:p14="http://schemas.microsoft.com/office/powerpoint/2010/main" val="17553201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Explosive Germination Phase: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"Technological transformation progresses gradually at first, then exponentially—'slowly, then all at once'. The technological seeds planted 25 years ago are now fully germinated." </a:t>
            </a:r>
          </a:p>
          <a:p>
            <a:pPr lvl="0"/>
            <a:r>
              <a:rPr lang="en-US" sz="1200" b="1" kern="1200" dirty="0">
                <a:solidFill>
                  <a:schemeClr val="tx1"/>
                </a:solidFill>
                <a:effectLst/>
                <a:latin typeface="+mn-lt"/>
                <a:ea typeface="+mn-ea"/>
                <a:cs typeface="+mn-cs"/>
              </a:rPr>
              <a:t>Skepticism as a Safeguard: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"How do we know we are not currently in a market bubble? A true market peak occurs when skepticism completely evaporates—when market sentiment consensus is that 'the sky is the limit'." </a:t>
            </a:r>
          </a:p>
          <a:p>
            <a:pPr lvl="0"/>
            <a:r>
              <a:rPr lang="en-US" sz="1200" b="1" kern="1200" dirty="0">
                <a:solidFill>
                  <a:schemeClr val="tx1"/>
                </a:solidFill>
                <a:effectLst/>
                <a:latin typeface="+mn-lt"/>
                <a:ea typeface="+mn-ea"/>
                <a:cs typeface="+mn-cs"/>
              </a:rPr>
              <a:t>Current Market Opportunity: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"Today, pervasive skepticism, high short interest, and widespread anxiety over tech expenditure remain prevalent across institutional markets. This skepticism, combined with short-term algorithmic volatility, creates a compelling generational entry point for long-term investors." </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15</a:t>
            </a:fld>
            <a:endParaRPr lang="en-US"/>
          </a:p>
        </p:txBody>
      </p:sp>
    </p:spTree>
    <p:extLst>
      <p:ext uri="{BB962C8B-B14F-4D97-AF65-F5344CB8AC3E}">
        <p14:creationId xmlns:p14="http://schemas.microsoft.com/office/powerpoint/2010/main" val="32434265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Concluding Comparison (1999 vs. Today):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 wrap up today’s presentation, let’s revisit the core thesis: </a:t>
            </a:r>
            <a:r>
              <a:rPr lang="en-US" sz="1200" b="1" kern="1200" dirty="0">
                <a:solidFill>
                  <a:schemeClr val="tx1"/>
                </a:solidFill>
                <a:effectLst/>
                <a:latin typeface="+mn-lt"/>
                <a:ea typeface="+mn-ea"/>
                <a:cs typeface="+mn-cs"/>
              </a:rPr>
              <a:t>This is not another 1999</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1999, high costs, narrow use cases, immature infrastructure, and speculative valuations based on projected 'eyeballs' led to a market crash."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"Today, market dynamics are grounded in drastic Wright's Law cost declines (e.g., DNA sequencing dropping from $2.7 billion down to under $100) and real, rapidly scaling enterprise revenues." </a:t>
            </a:r>
          </a:p>
          <a:p>
            <a:pPr lvl="0"/>
            <a:r>
              <a:rPr lang="en-US" sz="1200" b="1" kern="1200" dirty="0">
                <a:solidFill>
                  <a:schemeClr val="tx1"/>
                </a:solidFill>
                <a:effectLst/>
                <a:latin typeface="+mn-lt"/>
                <a:ea typeface="+mn-ea"/>
                <a:cs typeface="+mn-cs"/>
              </a:rPr>
              <a:t>The Three Core Pillars of True Innovation: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Technological Convergence:</a:t>
            </a:r>
            <a:r>
              <a:rPr lang="en-US" sz="1200" kern="1200" dirty="0">
                <a:solidFill>
                  <a:schemeClr val="tx1"/>
                </a:solidFill>
                <a:effectLst/>
                <a:latin typeface="+mn-lt"/>
                <a:ea typeface="+mn-ea"/>
                <a:cs typeface="+mn-cs"/>
              </a:rPr>
              <a:t> "AI, Robotics, and Energy Storage are merging to generate super-exponential economic growth."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Platform as a Service (PaaS):</a:t>
            </a:r>
            <a:r>
              <a:rPr lang="en-US" sz="1200" kern="1200" dirty="0">
                <a:solidFill>
                  <a:schemeClr val="tx1"/>
                </a:solidFill>
                <a:effectLst/>
                <a:latin typeface="+mn-lt"/>
                <a:ea typeface="+mn-ea"/>
                <a:cs typeface="+mn-cs"/>
              </a:rPr>
              <a:t> "Custom, enterprise-tailored platforms leveraging proprietary data are displacing legacy, one-size-fits-all SaaS applications."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Skepticism as a Safeguard:</a:t>
            </a:r>
            <a:r>
              <a:rPr lang="en-US" sz="1200" kern="1200" dirty="0">
                <a:solidFill>
                  <a:schemeClr val="tx1"/>
                </a:solidFill>
                <a:effectLst/>
                <a:latin typeface="+mn-lt"/>
                <a:ea typeface="+mn-ea"/>
                <a:cs typeface="+mn-cs"/>
              </a:rPr>
              <a:t> "Pervasive short-term fear and algorithmic market volatility ensure that high-conviction long-term investors can capture substantial time arbitrage." </a:t>
            </a:r>
          </a:p>
          <a:p>
            <a:pPr lvl="0"/>
            <a:r>
              <a:rPr lang="en-US" sz="1200" b="1" kern="1200" dirty="0">
                <a:solidFill>
                  <a:schemeClr val="tx1"/>
                </a:solidFill>
                <a:effectLst/>
                <a:latin typeface="+mn-lt"/>
                <a:ea typeface="+mn-ea"/>
                <a:cs typeface="+mn-cs"/>
              </a:rPr>
              <a:t>Closing: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"Thank you for your time. I welcome any questions regarding our 5-year modeling assumptions or research methodology."</a:t>
            </a:r>
          </a:p>
          <a:p>
            <a:endParaRPr lang="en-US" dirty="0"/>
          </a:p>
        </p:txBody>
      </p:sp>
      <p:sp>
        <p:nvSpPr>
          <p:cNvPr id="4" name="Slide Number Placeholder 3"/>
          <p:cNvSpPr>
            <a:spLocks noGrp="1"/>
          </p:cNvSpPr>
          <p:nvPr>
            <p:ph type="sldNum" sz="quarter" idx="5"/>
          </p:nvPr>
        </p:nvSpPr>
        <p:spPr/>
        <p:txBody>
          <a:bodyPr/>
          <a:lstStyle/>
          <a:p>
            <a:fld id="{93980D9F-6394-40DF-8970-818320713F30}" type="slidenum">
              <a:rPr lang="en-US" smtClean="0"/>
              <a:t>16</a:t>
            </a:fld>
            <a:endParaRPr lang="en-US"/>
          </a:p>
        </p:txBody>
      </p:sp>
    </p:spTree>
    <p:extLst>
      <p:ext uri="{BB962C8B-B14F-4D97-AF65-F5344CB8AC3E}">
        <p14:creationId xmlns:p14="http://schemas.microsoft.com/office/powerpoint/2010/main" val="2140496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976B35-4255-FBFD-A748-6A9B6BA66854}"/>
              </a:ext>
            </a:extLst>
          </p:cNvPr>
          <p:cNvSpPr>
            <a:spLocks noGrp="1"/>
          </p:cNvSpPr>
          <p:nvPr>
            <p:ph type="dt" sz="half" idx="10"/>
          </p:nvPr>
        </p:nvSpPr>
        <p:spPr/>
        <p:txBody>
          <a:bodyPr/>
          <a:lstStyle/>
          <a:p>
            <a:fld id="{29088D2D-0A12-4E71-96D3-CDFE312E4692}" type="datetimeFigureOut">
              <a:rPr lang="en-US" smtClean="0"/>
              <a:t>10/19/2026</a:t>
            </a:fld>
            <a:endParaRPr lang="en-US"/>
          </a:p>
        </p:txBody>
      </p:sp>
      <p:sp>
        <p:nvSpPr>
          <p:cNvPr id="3" name="Footer Placeholder 2">
            <a:extLst>
              <a:ext uri="{FF2B5EF4-FFF2-40B4-BE49-F238E27FC236}">
                <a16:creationId xmlns:a16="http://schemas.microsoft.com/office/drawing/2014/main" id="{6DA68489-5AB1-4D3C-E8AF-86C9186293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AEA4D1-4CE9-75A7-AAA4-1A5CF1DD6908}"/>
              </a:ext>
            </a:extLst>
          </p:cNvPr>
          <p:cNvSpPr>
            <a:spLocks noGrp="1"/>
          </p:cNvSpPr>
          <p:nvPr>
            <p:ph type="sldNum" sz="quarter" idx="12"/>
          </p:nvPr>
        </p:nvSpPr>
        <p:spPr/>
        <p:txBody>
          <a:bodyPr/>
          <a:lstStyle/>
          <a:p>
            <a:fld id="{317B3B81-DBF7-4BF6-8175-FD13555C1B8E}" type="slidenum">
              <a:rPr lang="en-US" smtClean="0"/>
              <a:t>‹#›</a:t>
            </a:fld>
            <a:endParaRPr lang="en-US"/>
          </a:p>
        </p:txBody>
      </p:sp>
    </p:spTree>
    <p:extLst>
      <p:ext uri="{BB962C8B-B14F-4D97-AF65-F5344CB8AC3E}">
        <p14:creationId xmlns:p14="http://schemas.microsoft.com/office/powerpoint/2010/main" val="169238456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F5E2F4-1AEC-0BA6-03A4-0B3B32A8735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69B3C1-D314-3691-8058-4F7E59AD28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30DCF7-C136-1198-ABB9-B92CA0266C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088D2D-0A12-4E71-96D3-CDFE312E4692}" type="datetimeFigureOut">
              <a:rPr lang="en-US" smtClean="0"/>
              <a:t>10/19/2026</a:t>
            </a:fld>
            <a:endParaRPr lang="en-US"/>
          </a:p>
        </p:txBody>
      </p:sp>
      <p:sp>
        <p:nvSpPr>
          <p:cNvPr id="5" name="Footer Placeholder 4">
            <a:extLst>
              <a:ext uri="{FF2B5EF4-FFF2-40B4-BE49-F238E27FC236}">
                <a16:creationId xmlns:a16="http://schemas.microsoft.com/office/drawing/2014/main" id="{BC5A5B08-5239-4BF5-A4C5-C65131D2A3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578B2BF-B2EE-EECF-C99E-63E9E6B556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7B3B81-DBF7-4BF6-8175-FD13555C1B8E}" type="slidenum">
              <a:rPr lang="en-US" smtClean="0"/>
              <a:t>‹#›</a:t>
            </a:fld>
            <a:endParaRPr lang="en-US"/>
          </a:p>
        </p:txBody>
      </p:sp>
    </p:spTree>
    <p:extLst>
      <p:ext uri="{BB962C8B-B14F-4D97-AF65-F5344CB8AC3E}">
        <p14:creationId xmlns:p14="http://schemas.microsoft.com/office/powerpoint/2010/main" val="404045779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D70AD76-D4E4-D5F2-CFCA-274BC22EE58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6EBCD3-0F53-B62D-61D1-4C0E0C33EE2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82287B-D5BC-1C83-C76D-7BB13703DBC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C66837-BBF5-57A1-56BB-0B6B46B534C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EF3A10-70DE-64B2-5C25-256DE59630C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5237A4-4AA9-5186-ED0C-123DA6111C7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7B0D95-262A-40A5-BAB9-701927ACA37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FA7668-A831-3559-624C-781785A4567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345F33-2A47-7FC6-D3EA-83ACB9111FC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CA324E-491F-DEEE-7BF8-52B5F9FFDD1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8DDAE4-C1FA-67E6-F4E5-19D3010FC0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A23F80-9180-66EB-BB81-1C50F74D5DE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7B1D6C-AD6E-9DFF-676F-3102EB9043D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7727CF-F890-4357-4530-1097D1C0517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7FE38D7-26DE-AC33-9700-58D70E35BCC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873C51-44C3-9D3C-6606-7DF7701ED682}"/>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5263622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2672</Words>
  <Application>Microsoft Office PowerPoint</Application>
  <PresentationFormat>寬螢幕</PresentationFormat>
  <Paragraphs>155</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2026-08-26T14:21:37Z</dcterms:created>
  <dcterms:modified xsi:type="dcterms:W3CDTF">2026-10-19T15:42:59Z</dcterms:modified>
</cp:coreProperties>
</file>