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1DDF00-A307-43CB-9934-F0A9E8D4BB5C}" v="20" dt="2026-08-13T00:25:26.3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8" autoAdjust="0"/>
    <p:restoredTop sz="87179"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8-13T00:25:58.182" v="99" actId="166"/>
      <pc:docMkLst>
        <pc:docMk/>
      </pc:docMkLst>
      <pc:sldChg chg="addSp delSp modSp mod modAnim modNotes modNotesTx">
        <pc:chgData name="Lai, Wilson" userId="2840974a-0d84-4886-90a9-9a3ed79f3a48" providerId="ADAL" clId="{9F23B798-9E84-4552-BA63-E776E805C424}" dt="2026-08-13T00:25:58.182" v="99" actId="166"/>
        <pc:sldMkLst>
          <pc:docMk/>
          <pc:sldMk cId="0" sldId="257"/>
        </pc:sldMkLst>
        <pc:spChg chg="add mod">
          <ac:chgData name="Lai, Wilson" userId="2840974a-0d84-4886-90a9-9a3ed79f3a48" providerId="ADAL" clId="{9F23B798-9E84-4552-BA63-E776E805C424}" dt="2026-08-12T11:50:23.264" v="10" actId="164"/>
          <ac:spMkLst>
            <pc:docMk/>
            <pc:sldMk cId="0" sldId="257"/>
            <ac:spMk id="4" creationId="{4D657408-49D8-A2EB-0E5A-1300AE9D5B0B}"/>
          </ac:spMkLst>
        </pc:spChg>
        <pc:grpChg chg="add mod">
          <ac:chgData name="Lai, Wilson" userId="2840974a-0d84-4886-90a9-9a3ed79f3a48" providerId="ADAL" clId="{9F23B798-9E84-4552-BA63-E776E805C424}" dt="2026-08-12T11:50:23.264" v="10" actId="164"/>
          <ac:grpSpMkLst>
            <pc:docMk/>
            <pc:sldMk cId="0" sldId="257"/>
            <ac:grpSpMk id="6" creationId="{CAA571A2-E0A9-92EF-D804-22E96C6554B8}"/>
          </ac:grpSpMkLst>
        </pc:grpChg>
        <pc:picChg chg="del">
          <ac:chgData name="Lai, Wilson" userId="2840974a-0d84-4886-90a9-9a3ed79f3a48" providerId="ADAL" clId="{9F23B798-9E84-4552-BA63-E776E805C424}" dt="2026-08-12T13:40:41.432" v="11" actId="21"/>
          <ac:picMkLst>
            <pc:docMk/>
            <pc:sldMk cId="0" sldId="257"/>
            <ac:picMk id="2" creationId="{00000000-0000-0000-0000-000000000000}"/>
          </ac:picMkLst>
        </pc:picChg>
        <pc:picChg chg="add mod">
          <ac:chgData name="Lai, Wilson" userId="2840974a-0d84-4886-90a9-9a3ed79f3a48" providerId="ADAL" clId="{9F23B798-9E84-4552-BA63-E776E805C424}" dt="2026-08-12T11:50:23.264" v="10" actId="164"/>
          <ac:picMkLst>
            <pc:docMk/>
            <pc:sldMk cId="0" sldId="257"/>
            <ac:picMk id="5" creationId="{84689565-CA81-3609-AFEC-9F91F90B1000}"/>
          </ac:picMkLst>
        </pc:picChg>
        <pc:picChg chg="add ord">
          <ac:chgData name="Lai, Wilson" userId="2840974a-0d84-4886-90a9-9a3ed79f3a48" providerId="ADAL" clId="{9F23B798-9E84-4552-BA63-E776E805C424}" dt="2026-08-13T00:25:58.182" v="99" actId="166"/>
          <ac:picMkLst>
            <pc:docMk/>
            <pc:sldMk cId="0" sldId="257"/>
            <ac:picMk id="7" creationId="{6364A88F-6F69-4E9E-A204-2236E9DA6C19}"/>
          </ac:picMkLst>
        </pc:picChg>
      </pc:sldChg>
      <pc:sldChg chg="addSp delSp mod modNotes modNotesTx">
        <pc:chgData name="Lai, Wilson" userId="2840974a-0d84-4886-90a9-9a3ed79f3a48" providerId="ADAL" clId="{9F23B798-9E84-4552-BA63-E776E805C424}" dt="2026-08-13T00:25:26.307" v="98"/>
        <pc:sldMkLst>
          <pc:docMk/>
          <pc:sldMk cId="0" sldId="258"/>
        </pc:sldMkLst>
        <pc:picChg chg="del">
          <ac:chgData name="Lai, Wilson" userId="2840974a-0d84-4886-90a9-9a3ed79f3a48" providerId="ADAL" clId="{9F23B798-9E84-4552-BA63-E776E805C424}" dt="2026-08-12T13:40:58.595" v="14" actId="21"/>
          <ac:picMkLst>
            <pc:docMk/>
            <pc:sldMk cId="0" sldId="258"/>
            <ac:picMk id="2" creationId="{00000000-0000-0000-0000-000000000000}"/>
          </ac:picMkLst>
        </pc:picChg>
        <pc:picChg chg="add">
          <ac:chgData name="Lai, Wilson" userId="2840974a-0d84-4886-90a9-9a3ed79f3a48" providerId="ADAL" clId="{9F23B798-9E84-4552-BA63-E776E805C424}" dt="2026-08-12T13:41:11.692" v="15" actId="22"/>
          <ac:picMkLst>
            <pc:docMk/>
            <pc:sldMk cId="0" sldId="258"/>
            <ac:picMk id="4" creationId="{CD918BCE-6356-7072-24D8-531BFB1A9BE0}"/>
          </ac:picMkLst>
        </pc:picChg>
      </pc:sldChg>
      <pc:sldChg chg="addSp delSp mod modNotes modNotesTx">
        <pc:chgData name="Lai, Wilson" userId="2840974a-0d84-4886-90a9-9a3ed79f3a48" providerId="ADAL" clId="{9F23B798-9E84-4552-BA63-E776E805C424}" dt="2026-08-13T00:25:26.307" v="98"/>
        <pc:sldMkLst>
          <pc:docMk/>
          <pc:sldMk cId="0" sldId="259"/>
        </pc:sldMkLst>
        <pc:picChg chg="del">
          <ac:chgData name="Lai, Wilson" userId="2840974a-0d84-4886-90a9-9a3ed79f3a48" providerId="ADAL" clId="{9F23B798-9E84-4552-BA63-E776E805C424}" dt="2026-08-12T13:41:15.057" v="16" actId="21"/>
          <ac:picMkLst>
            <pc:docMk/>
            <pc:sldMk cId="0" sldId="259"/>
            <ac:picMk id="2" creationId="{00000000-0000-0000-0000-000000000000}"/>
          </ac:picMkLst>
        </pc:picChg>
        <pc:picChg chg="add">
          <ac:chgData name="Lai, Wilson" userId="2840974a-0d84-4886-90a9-9a3ed79f3a48" providerId="ADAL" clId="{9F23B798-9E84-4552-BA63-E776E805C424}" dt="2026-08-12T13:41:31.813" v="17" actId="22"/>
          <ac:picMkLst>
            <pc:docMk/>
            <pc:sldMk cId="0" sldId="259"/>
            <ac:picMk id="4" creationId="{DAC427A0-2C40-ABE8-723F-CD02AFB54A41}"/>
          </ac:picMkLst>
        </pc:picChg>
      </pc:sldChg>
      <pc:sldChg chg="addSp delSp mod modNotes modNotesTx">
        <pc:chgData name="Lai, Wilson" userId="2840974a-0d84-4886-90a9-9a3ed79f3a48" providerId="ADAL" clId="{9F23B798-9E84-4552-BA63-E776E805C424}" dt="2026-08-13T00:25:26.307" v="98"/>
        <pc:sldMkLst>
          <pc:docMk/>
          <pc:sldMk cId="0" sldId="260"/>
        </pc:sldMkLst>
        <pc:picChg chg="del">
          <ac:chgData name="Lai, Wilson" userId="2840974a-0d84-4886-90a9-9a3ed79f3a48" providerId="ADAL" clId="{9F23B798-9E84-4552-BA63-E776E805C424}" dt="2026-08-12T13:41:34.831" v="18" actId="21"/>
          <ac:picMkLst>
            <pc:docMk/>
            <pc:sldMk cId="0" sldId="260"/>
            <ac:picMk id="2" creationId="{00000000-0000-0000-0000-000000000000}"/>
          </ac:picMkLst>
        </pc:picChg>
        <pc:picChg chg="add">
          <ac:chgData name="Lai, Wilson" userId="2840974a-0d84-4886-90a9-9a3ed79f3a48" providerId="ADAL" clId="{9F23B798-9E84-4552-BA63-E776E805C424}" dt="2026-08-12T13:41:44.728" v="19" actId="22"/>
          <ac:picMkLst>
            <pc:docMk/>
            <pc:sldMk cId="0" sldId="260"/>
            <ac:picMk id="4" creationId="{6226B506-4433-B2C7-3C19-8AC83FA54A7D}"/>
          </ac:picMkLst>
        </pc:picChg>
      </pc:sldChg>
      <pc:sldChg chg="addSp delSp mod modNotes modNotesTx">
        <pc:chgData name="Lai, Wilson" userId="2840974a-0d84-4886-90a9-9a3ed79f3a48" providerId="ADAL" clId="{9F23B798-9E84-4552-BA63-E776E805C424}" dt="2026-08-13T00:25:26.307" v="98"/>
        <pc:sldMkLst>
          <pc:docMk/>
          <pc:sldMk cId="0" sldId="261"/>
        </pc:sldMkLst>
        <pc:picChg chg="del">
          <ac:chgData name="Lai, Wilson" userId="2840974a-0d84-4886-90a9-9a3ed79f3a48" providerId="ADAL" clId="{9F23B798-9E84-4552-BA63-E776E805C424}" dt="2026-08-12T13:41:47.374" v="20" actId="21"/>
          <ac:picMkLst>
            <pc:docMk/>
            <pc:sldMk cId="0" sldId="261"/>
            <ac:picMk id="2" creationId="{00000000-0000-0000-0000-000000000000}"/>
          </ac:picMkLst>
        </pc:picChg>
        <pc:picChg chg="add">
          <ac:chgData name="Lai, Wilson" userId="2840974a-0d84-4886-90a9-9a3ed79f3a48" providerId="ADAL" clId="{9F23B798-9E84-4552-BA63-E776E805C424}" dt="2026-08-12T13:42:49.408" v="21" actId="22"/>
          <ac:picMkLst>
            <pc:docMk/>
            <pc:sldMk cId="0" sldId="261"/>
            <ac:picMk id="4" creationId="{3C39C00C-A36F-7146-0C5E-0669F7D57B2B}"/>
          </ac:picMkLst>
        </pc:picChg>
      </pc:sldChg>
      <pc:sldChg chg="addSp delSp mod modNotes modNotesTx">
        <pc:chgData name="Lai, Wilson" userId="2840974a-0d84-4886-90a9-9a3ed79f3a48" providerId="ADAL" clId="{9F23B798-9E84-4552-BA63-E776E805C424}" dt="2026-08-13T00:25:26.307" v="98"/>
        <pc:sldMkLst>
          <pc:docMk/>
          <pc:sldMk cId="0" sldId="262"/>
        </pc:sldMkLst>
        <pc:picChg chg="del">
          <ac:chgData name="Lai, Wilson" userId="2840974a-0d84-4886-90a9-9a3ed79f3a48" providerId="ADAL" clId="{9F23B798-9E84-4552-BA63-E776E805C424}" dt="2026-08-12T13:42:53.237" v="22" actId="21"/>
          <ac:picMkLst>
            <pc:docMk/>
            <pc:sldMk cId="0" sldId="262"/>
            <ac:picMk id="2" creationId="{00000000-0000-0000-0000-000000000000}"/>
          </ac:picMkLst>
        </pc:picChg>
        <pc:picChg chg="add">
          <ac:chgData name="Lai, Wilson" userId="2840974a-0d84-4886-90a9-9a3ed79f3a48" providerId="ADAL" clId="{9F23B798-9E84-4552-BA63-E776E805C424}" dt="2026-08-12T13:43:00.923" v="23" actId="22"/>
          <ac:picMkLst>
            <pc:docMk/>
            <pc:sldMk cId="0" sldId="262"/>
            <ac:picMk id="4" creationId="{B0289F1C-F56A-0314-42A0-BFF117AE9096}"/>
          </ac:picMkLst>
        </pc:picChg>
      </pc:sldChg>
      <pc:sldChg chg="addSp delSp mod modNotes modNotesTx">
        <pc:chgData name="Lai, Wilson" userId="2840974a-0d84-4886-90a9-9a3ed79f3a48" providerId="ADAL" clId="{9F23B798-9E84-4552-BA63-E776E805C424}" dt="2026-08-13T00:25:26.307" v="98"/>
        <pc:sldMkLst>
          <pc:docMk/>
          <pc:sldMk cId="0" sldId="263"/>
        </pc:sldMkLst>
        <pc:picChg chg="del">
          <ac:chgData name="Lai, Wilson" userId="2840974a-0d84-4886-90a9-9a3ed79f3a48" providerId="ADAL" clId="{9F23B798-9E84-4552-BA63-E776E805C424}" dt="2026-08-12T13:43:04.036" v="24" actId="21"/>
          <ac:picMkLst>
            <pc:docMk/>
            <pc:sldMk cId="0" sldId="263"/>
            <ac:picMk id="2" creationId="{00000000-0000-0000-0000-000000000000}"/>
          </ac:picMkLst>
        </pc:picChg>
        <pc:picChg chg="add">
          <ac:chgData name="Lai, Wilson" userId="2840974a-0d84-4886-90a9-9a3ed79f3a48" providerId="ADAL" clId="{9F23B798-9E84-4552-BA63-E776E805C424}" dt="2026-08-12T13:43:14.692" v="25" actId="22"/>
          <ac:picMkLst>
            <pc:docMk/>
            <pc:sldMk cId="0" sldId="263"/>
            <ac:picMk id="4" creationId="{1C378202-F915-D08C-9FC1-5DF9297C7A10}"/>
          </ac:picMkLst>
        </pc:picChg>
      </pc:sldChg>
      <pc:sldChg chg="addSp delSp mod modNotes modNotesTx">
        <pc:chgData name="Lai, Wilson" userId="2840974a-0d84-4886-90a9-9a3ed79f3a48" providerId="ADAL" clId="{9F23B798-9E84-4552-BA63-E776E805C424}" dt="2026-08-13T00:25:26.307" v="98"/>
        <pc:sldMkLst>
          <pc:docMk/>
          <pc:sldMk cId="0" sldId="264"/>
        </pc:sldMkLst>
        <pc:picChg chg="del">
          <ac:chgData name="Lai, Wilson" userId="2840974a-0d84-4886-90a9-9a3ed79f3a48" providerId="ADAL" clId="{9F23B798-9E84-4552-BA63-E776E805C424}" dt="2026-08-12T13:43:16.921" v="26" actId="21"/>
          <ac:picMkLst>
            <pc:docMk/>
            <pc:sldMk cId="0" sldId="264"/>
            <ac:picMk id="2" creationId="{00000000-0000-0000-0000-000000000000}"/>
          </ac:picMkLst>
        </pc:picChg>
        <pc:picChg chg="add">
          <ac:chgData name="Lai, Wilson" userId="2840974a-0d84-4886-90a9-9a3ed79f3a48" providerId="ADAL" clId="{9F23B798-9E84-4552-BA63-E776E805C424}" dt="2026-08-12T13:43:25.961" v="27" actId="22"/>
          <ac:picMkLst>
            <pc:docMk/>
            <pc:sldMk cId="0" sldId="264"/>
            <ac:picMk id="4" creationId="{F7BD612D-B5F3-D7B7-4247-1C1B1B588F30}"/>
          </ac:picMkLst>
        </pc:picChg>
      </pc:sldChg>
      <pc:sldChg chg="addSp delSp mod modNotes modNotesTx">
        <pc:chgData name="Lai, Wilson" userId="2840974a-0d84-4886-90a9-9a3ed79f3a48" providerId="ADAL" clId="{9F23B798-9E84-4552-BA63-E776E805C424}" dt="2026-08-13T00:25:26.307" v="98"/>
        <pc:sldMkLst>
          <pc:docMk/>
          <pc:sldMk cId="0" sldId="265"/>
        </pc:sldMkLst>
        <pc:picChg chg="del">
          <ac:chgData name="Lai, Wilson" userId="2840974a-0d84-4886-90a9-9a3ed79f3a48" providerId="ADAL" clId="{9F23B798-9E84-4552-BA63-E776E805C424}" dt="2026-08-12T13:43:28.111" v="28" actId="21"/>
          <ac:picMkLst>
            <pc:docMk/>
            <pc:sldMk cId="0" sldId="265"/>
            <ac:picMk id="2" creationId="{00000000-0000-0000-0000-000000000000}"/>
          </ac:picMkLst>
        </pc:picChg>
        <pc:picChg chg="add">
          <ac:chgData name="Lai, Wilson" userId="2840974a-0d84-4886-90a9-9a3ed79f3a48" providerId="ADAL" clId="{9F23B798-9E84-4552-BA63-E776E805C424}" dt="2026-08-12T13:43:37.768" v="29" actId="22"/>
          <ac:picMkLst>
            <pc:docMk/>
            <pc:sldMk cId="0" sldId="265"/>
            <ac:picMk id="4" creationId="{45EA28B7-DFE0-E4BD-B5DA-748817EB8DD5}"/>
          </ac:picMkLst>
        </pc:picChg>
      </pc:sldChg>
      <pc:sldChg chg="addSp delSp mod modNotes modNotesTx">
        <pc:chgData name="Lai, Wilson" userId="2840974a-0d84-4886-90a9-9a3ed79f3a48" providerId="ADAL" clId="{9F23B798-9E84-4552-BA63-E776E805C424}" dt="2026-08-13T00:25:26.307" v="98"/>
        <pc:sldMkLst>
          <pc:docMk/>
          <pc:sldMk cId="0" sldId="266"/>
        </pc:sldMkLst>
        <pc:picChg chg="del">
          <ac:chgData name="Lai, Wilson" userId="2840974a-0d84-4886-90a9-9a3ed79f3a48" providerId="ADAL" clId="{9F23B798-9E84-4552-BA63-E776E805C424}" dt="2026-08-12T13:43:40.989" v="30" actId="21"/>
          <ac:picMkLst>
            <pc:docMk/>
            <pc:sldMk cId="0" sldId="266"/>
            <ac:picMk id="2" creationId="{00000000-0000-0000-0000-000000000000}"/>
          </ac:picMkLst>
        </pc:picChg>
        <pc:picChg chg="add">
          <ac:chgData name="Lai, Wilson" userId="2840974a-0d84-4886-90a9-9a3ed79f3a48" providerId="ADAL" clId="{9F23B798-9E84-4552-BA63-E776E805C424}" dt="2026-08-12T13:43:50.920" v="31" actId="22"/>
          <ac:picMkLst>
            <pc:docMk/>
            <pc:sldMk cId="0" sldId="266"/>
            <ac:picMk id="4" creationId="{6D8666CC-4B14-39B4-30E2-19F4D326E7C8}"/>
          </ac:picMkLst>
        </pc:picChg>
      </pc:sldChg>
      <pc:sldChg chg="addSp delSp mod modNotes modNotesTx">
        <pc:chgData name="Lai, Wilson" userId="2840974a-0d84-4886-90a9-9a3ed79f3a48" providerId="ADAL" clId="{9F23B798-9E84-4552-BA63-E776E805C424}" dt="2026-08-13T00:25:26.307" v="98"/>
        <pc:sldMkLst>
          <pc:docMk/>
          <pc:sldMk cId="0" sldId="267"/>
        </pc:sldMkLst>
        <pc:picChg chg="del">
          <ac:chgData name="Lai, Wilson" userId="2840974a-0d84-4886-90a9-9a3ed79f3a48" providerId="ADAL" clId="{9F23B798-9E84-4552-BA63-E776E805C424}" dt="2026-08-12T13:43:54.769" v="32" actId="21"/>
          <ac:picMkLst>
            <pc:docMk/>
            <pc:sldMk cId="0" sldId="267"/>
            <ac:picMk id="2" creationId="{00000000-0000-0000-0000-000000000000}"/>
          </ac:picMkLst>
        </pc:picChg>
        <pc:picChg chg="add">
          <ac:chgData name="Lai, Wilson" userId="2840974a-0d84-4886-90a9-9a3ed79f3a48" providerId="ADAL" clId="{9F23B798-9E84-4552-BA63-E776E805C424}" dt="2026-08-12T13:44:03.245" v="33" actId="22"/>
          <ac:picMkLst>
            <pc:docMk/>
            <pc:sldMk cId="0" sldId="267"/>
            <ac:picMk id="4" creationId="{358705AC-591C-3E1E-20F3-9F028990739D}"/>
          </ac:picMkLst>
        </pc:picChg>
      </pc:sldChg>
      <pc:sldChg chg="addSp delSp mod modNotes modNotesTx">
        <pc:chgData name="Lai, Wilson" userId="2840974a-0d84-4886-90a9-9a3ed79f3a48" providerId="ADAL" clId="{9F23B798-9E84-4552-BA63-E776E805C424}" dt="2026-08-13T00:25:26.307" v="98"/>
        <pc:sldMkLst>
          <pc:docMk/>
          <pc:sldMk cId="0" sldId="268"/>
        </pc:sldMkLst>
        <pc:picChg chg="del">
          <ac:chgData name="Lai, Wilson" userId="2840974a-0d84-4886-90a9-9a3ed79f3a48" providerId="ADAL" clId="{9F23B798-9E84-4552-BA63-E776E805C424}" dt="2026-08-12T13:44:05.838" v="34" actId="21"/>
          <ac:picMkLst>
            <pc:docMk/>
            <pc:sldMk cId="0" sldId="268"/>
            <ac:picMk id="2" creationId="{00000000-0000-0000-0000-000000000000}"/>
          </ac:picMkLst>
        </pc:picChg>
        <pc:picChg chg="add">
          <ac:chgData name="Lai, Wilson" userId="2840974a-0d84-4886-90a9-9a3ed79f3a48" providerId="ADAL" clId="{9F23B798-9E84-4552-BA63-E776E805C424}" dt="2026-08-12T13:45:24.325" v="35" actId="22"/>
          <ac:picMkLst>
            <pc:docMk/>
            <pc:sldMk cId="0" sldId="268"/>
            <ac:picMk id="4" creationId="{4ABA6B1C-AA18-A4CC-9E25-C9C21C295645}"/>
          </ac:picMkLst>
        </pc:picChg>
      </pc:sldChg>
      <pc:sldChg chg="addSp delSp mod modNotes modNotesTx">
        <pc:chgData name="Lai, Wilson" userId="2840974a-0d84-4886-90a9-9a3ed79f3a48" providerId="ADAL" clId="{9F23B798-9E84-4552-BA63-E776E805C424}" dt="2026-08-13T00:25:26.307" v="98"/>
        <pc:sldMkLst>
          <pc:docMk/>
          <pc:sldMk cId="3135583447" sldId="269"/>
        </pc:sldMkLst>
        <pc:picChg chg="del">
          <ac:chgData name="Lai, Wilson" userId="2840974a-0d84-4886-90a9-9a3ed79f3a48" providerId="ADAL" clId="{9F23B798-9E84-4552-BA63-E776E805C424}" dt="2026-08-12T13:45:28.202" v="36" actId="21"/>
          <ac:picMkLst>
            <pc:docMk/>
            <pc:sldMk cId="3135583447" sldId="269"/>
            <ac:picMk id="3" creationId="{6B48E237-3117-3437-C05F-4DAD5CDD81BF}"/>
          </ac:picMkLst>
        </pc:picChg>
        <pc:picChg chg="add">
          <ac:chgData name="Lai, Wilson" userId="2840974a-0d84-4886-90a9-9a3ed79f3a48" providerId="ADAL" clId="{9F23B798-9E84-4552-BA63-E776E805C424}" dt="2026-08-12T13:45:37.857" v="37" actId="22"/>
          <ac:picMkLst>
            <pc:docMk/>
            <pc:sldMk cId="3135583447" sldId="269"/>
            <ac:picMk id="4" creationId="{B38D95B6-6EC3-CE6F-CEF8-118F6C75E04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E30EA5-84ED-4CE6-A98F-7939E675FA67}"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7B640C-0E06-4504-BD43-13156332103A}" type="slidenum">
              <a:rPr lang="en-US" smtClean="0"/>
              <a:t>‹#›</a:t>
            </a:fld>
            <a:endParaRPr lang="en-US"/>
          </a:p>
        </p:txBody>
      </p:sp>
    </p:spTree>
    <p:extLst>
      <p:ext uri="{BB962C8B-B14F-4D97-AF65-F5344CB8AC3E}">
        <p14:creationId xmlns:p14="http://schemas.microsoft.com/office/powerpoint/2010/main" val="2517978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Introduction:</a:t>
            </a:r>
            <a:r>
              <a:rPr lang="en-US" sz="1200" kern="1200" dirty="0">
                <a:solidFill>
                  <a:schemeClr val="tx1"/>
                </a:solidFill>
                <a:effectLst/>
                <a:latin typeface="+mn-lt"/>
                <a:ea typeface="+mn-ea"/>
                <a:cs typeface="+mn-cs"/>
              </a:rPr>
              <a:t> Welcome, everyone. Today we are diving into 'The O'Leary Protocol'—a systematic blueprint for wealth, business, and personal freedom. When people look at Kevin O'Leary, they often see a tough-talking TV investor. But behind the television persona lies a precise, mathematical methodology for living a life of absolute financial autonomy. </a:t>
            </a:r>
          </a:p>
          <a:p>
            <a:r>
              <a:rPr lang="en-US" sz="1200" b="1" kern="1200" dirty="0">
                <a:solidFill>
                  <a:schemeClr val="tx1"/>
                </a:solidFill>
                <a:effectLst/>
                <a:latin typeface="+mn-lt"/>
                <a:ea typeface="+mn-ea"/>
                <a:cs typeface="+mn-cs"/>
              </a:rPr>
              <a:t>The Thesis:</a:t>
            </a:r>
            <a:r>
              <a:rPr lang="en-US" sz="1200" kern="1200" dirty="0">
                <a:solidFill>
                  <a:schemeClr val="tx1"/>
                </a:solidFill>
                <a:effectLst/>
                <a:latin typeface="+mn-lt"/>
                <a:ea typeface="+mn-ea"/>
                <a:cs typeface="+mn-cs"/>
              </a:rPr>
              <a:t> Money is not the ultimate goal. Money is merely a tool that buys you the most valuable asset on earth: control over your time. Today’s presentation synthesizes Kevin’s fundamental principles spanning career selection, relentless focus, investment discipline, hiring strategies, and personal governance. </a:t>
            </a:r>
          </a:p>
          <a:p>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Let’s begin where Kevin’s journey truly started—with a pivotal, defining moment that forever altered how he views the world.</a:t>
            </a:r>
          </a:p>
          <a:p>
            <a:endParaRPr lang="en-US" dirty="0"/>
          </a:p>
          <a:p>
            <a:endParaRPr lang="en-US" dirty="0"/>
          </a:p>
          <a:p>
            <a:r>
              <a:rPr lang="en-US" dirty="0"/>
              <a:t>https://www.youtube.com/watch?v=mpAZehPviLQ</a:t>
            </a:r>
          </a:p>
        </p:txBody>
      </p:sp>
      <p:sp>
        <p:nvSpPr>
          <p:cNvPr id="4" name="Slide Number Placeholder 3"/>
          <p:cNvSpPr>
            <a:spLocks noGrp="1"/>
          </p:cNvSpPr>
          <p:nvPr>
            <p:ph type="sldNum" sz="quarter" idx="5"/>
          </p:nvPr>
        </p:nvSpPr>
        <p:spPr/>
        <p:txBody>
          <a:bodyPr/>
          <a:lstStyle/>
          <a:p>
            <a:fld id="{0A7B640C-0E06-4504-BD43-13156332103A}" type="slidenum">
              <a:rPr lang="en-US" smtClean="0"/>
              <a:t>1</a:t>
            </a:fld>
            <a:endParaRPr lang="en-US"/>
          </a:p>
        </p:txBody>
      </p:sp>
    </p:spTree>
    <p:extLst>
      <p:ext uri="{BB962C8B-B14F-4D97-AF65-F5344CB8AC3E}">
        <p14:creationId xmlns:p14="http://schemas.microsoft.com/office/powerpoint/2010/main" val="2677707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Origin Story:</a:t>
            </a:r>
            <a:r>
              <a:rPr lang="en-US" sz="1200" kern="1200" dirty="0">
                <a:solidFill>
                  <a:schemeClr val="tx1"/>
                </a:solidFill>
                <a:effectLst/>
                <a:latin typeface="+mn-lt"/>
                <a:ea typeface="+mn-ea"/>
                <a:cs typeface="+mn-cs"/>
              </a:rPr>
              <a:t> In his early years, Kevin took a job at an ice cream shop. On his very first day, after hours of scooping, the owner ordered him to get on his knees and scrape chewing gum off the linoleum floor. Kevin refused and was fired on the spot. That humiliation created a permanent awakening. </a:t>
            </a:r>
          </a:p>
          <a:p>
            <a:r>
              <a:rPr lang="en-US" sz="1200" b="1" kern="1200" dirty="0">
                <a:solidFill>
                  <a:schemeClr val="tx1"/>
                </a:solidFill>
                <a:effectLst/>
                <a:latin typeface="+mn-lt"/>
                <a:ea typeface="+mn-ea"/>
                <a:cs typeface="+mn-cs"/>
              </a:rPr>
              <a:t>The Dichotomy:</a:t>
            </a:r>
            <a:r>
              <a:rPr lang="en-US" sz="1200" kern="1200" dirty="0">
                <a:solidFill>
                  <a:schemeClr val="tx1"/>
                </a:solidFill>
                <a:effectLst/>
                <a:latin typeface="+mn-lt"/>
                <a:ea typeface="+mn-ea"/>
                <a:cs typeface="+mn-cs"/>
              </a:rPr>
              <a:t> From that moment, Kevin realized the world is divided into two distinct groups: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Path 1 (The Store Owner / Entrepreneur):</a:t>
            </a:r>
            <a:r>
              <a:rPr lang="en-US" sz="1200" kern="1200" dirty="0">
                <a:solidFill>
                  <a:schemeClr val="tx1"/>
                </a:solidFill>
                <a:effectLst/>
                <a:latin typeface="+mn-lt"/>
                <a:ea typeface="+mn-ea"/>
                <a:cs typeface="+mn-cs"/>
              </a:rPr>
              <a:t> The 1/3 of people who embrace total volatility, responsibility, and risk in exchange for eventual, uncompromised freedom.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Path 2 (The Employee):</a:t>
            </a:r>
            <a:r>
              <a:rPr lang="en-US" sz="1200" kern="1200" dirty="0">
                <a:solidFill>
                  <a:schemeClr val="tx1"/>
                </a:solidFill>
                <a:effectLst/>
                <a:latin typeface="+mn-lt"/>
                <a:ea typeface="+mn-ea"/>
                <a:cs typeface="+mn-cs"/>
              </a:rPr>
              <a:t> The 2/3 who choose the perceived security of a steady paycheck, trading away their autonomy to build someone else’s dream. </a:t>
            </a:r>
          </a:p>
          <a:p>
            <a:r>
              <a:rPr lang="en-US" sz="1200" b="1" kern="1200" dirty="0">
                <a:solidFill>
                  <a:schemeClr val="tx1"/>
                </a:solidFill>
                <a:effectLst/>
                <a:latin typeface="+mn-lt"/>
                <a:ea typeface="+mn-ea"/>
                <a:cs typeface="+mn-cs"/>
              </a:rPr>
              <a:t>Key Takeaway &amp; Transition:</a:t>
            </a:r>
            <a:r>
              <a:rPr lang="en-US" sz="1200" kern="1200" dirty="0">
                <a:solidFill>
                  <a:schemeClr val="tx1"/>
                </a:solidFill>
                <a:effectLst/>
                <a:latin typeface="+mn-lt"/>
                <a:ea typeface="+mn-ea"/>
                <a:cs typeface="+mn-cs"/>
              </a:rPr>
              <a:t> Neither path is inherently wrong, but you must make a conscious choice. If you want true freedom, you must be willing to own the store. But owning the store requires extreme discipline, starting with how you manage your focus. </a:t>
            </a:r>
          </a:p>
          <a:p>
            <a:pPr marL="171450" indent="-171450">
              <a:buFont typeface="Arial" panose="020B0604020202020204" pitchFamily="34" charset="0"/>
              <a:buChar cha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7B640C-0E06-4504-BD43-13156332103A}" type="slidenum">
              <a:rPr lang="en-US" smtClean="0"/>
              <a:t>2</a:t>
            </a:fld>
            <a:endParaRPr lang="en-US"/>
          </a:p>
        </p:txBody>
      </p:sp>
    </p:spTree>
    <p:extLst>
      <p:ext uri="{BB962C8B-B14F-4D97-AF65-F5344CB8AC3E}">
        <p14:creationId xmlns:p14="http://schemas.microsoft.com/office/powerpoint/2010/main" val="2115907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Lesson from Steve Jobs:</a:t>
            </a:r>
            <a:r>
              <a:rPr lang="en-US" sz="1200" kern="1200" dirty="0">
                <a:solidFill>
                  <a:schemeClr val="tx1"/>
                </a:solidFill>
                <a:effectLst/>
                <a:latin typeface="+mn-lt"/>
                <a:ea typeface="+mn-ea"/>
                <a:cs typeface="+mn-cs"/>
              </a:rPr>
              <a:t> During his time working with Steve Jobs at Apple Educational Software, Kevin observed a rare trait among top performers: an incredible filter for signal versus noise. </a:t>
            </a:r>
          </a:p>
          <a:p>
            <a:r>
              <a:rPr lang="en-US" sz="1200" b="1" kern="1200" dirty="0">
                <a:solidFill>
                  <a:schemeClr val="tx1"/>
                </a:solidFill>
                <a:effectLst/>
                <a:latin typeface="+mn-lt"/>
                <a:ea typeface="+mn-ea"/>
                <a:cs typeface="+mn-cs"/>
              </a:rPr>
              <a:t>Breaking Down Signal vs. Noise:</a:t>
            </a:r>
            <a:r>
              <a:rPr lang="en-US" sz="1200" kern="1200" dirty="0">
                <a:solidFill>
                  <a:schemeClr val="tx1"/>
                </a:solidFill>
                <a:effectLst/>
                <a:latin typeface="+mn-lt"/>
                <a:ea typeface="+mn-ea"/>
                <a:cs typeface="+mn-cs"/>
              </a:rPr>
              <a:t> In an 18-hour day, most of what comes at us is </a:t>
            </a:r>
            <a:r>
              <a:rPr lang="en-US" sz="1200" b="1" kern="1200" dirty="0">
                <a:solidFill>
                  <a:schemeClr val="tx1"/>
                </a:solidFill>
                <a:effectLst/>
                <a:latin typeface="+mn-lt"/>
                <a:ea typeface="+mn-ea"/>
                <a:cs typeface="+mn-cs"/>
              </a:rPr>
              <a:t>Noise</a:t>
            </a:r>
            <a:r>
              <a:rPr lang="en-US" sz="1200" kern="1200" dirty="0">
                <a:solidFill>
                  <a:schemeClr val="tx1"/>
                </a:solidFill>
                <a:effectLst/>
                <a:latin typeface="+mn-lt"/>
                <a:ea typeface="+mn-ea"/>
                <a:cs typeface="+mn-cs"/>
              </a:rPr>
              <a:t>—endless emails, doom-scrolling, irrelevant market chatter, and minor administrative fires. </a:t>
            </a:r>
            <a:r>
              <a:rPr lang="en-US" sz="1200" b="1" kern="1200" dirty="0">
                <a:solidFill>
                  <a:schemeClr val="tx1"/>
                </a:solidFill>
                <a:effectLst/>
                <a:latin typeface="+mn-lt"/>
                <a:ea typeface="+mn-ea"/>
                <a:cs typeface="+mn-cs"/>
              </a:rPr>
              <a:t>Signal</a:t>
            </a:r>
            <a:r>
              <a:rPr lang="en-US" sz="1200" kern="1200" dirty="0">
                <a:solidFill>
                  <a:schemeClr val="tx1"/>
                </a:solidFill>
                <a:effectLst/>
                <a:latin typeface="+mn-lt"/>
                <a:ea typeface="+mn-ea"/>
                <a:cs typeface="+mn-cs"/>
              </a:rPr>
              <a:t>, however, consists of the critical </a:t>
            </a:r>
            <a:r>
              <a:rPr lang="en-US" sz="1200" b="1" kern="1200" dirty="0">
                <a:solidFill>
                  <a:schemeClr val="tx1"/>
                </a:solidFill>
                <a:effectLst/>
                <a:latin typeface="+mn-lt"/>
                <a:ea typeface="+mn-ea"/>
                <a:cs typeface="+mn-cs"/>
              </a:rPr>
              <a:t>3 to 5 vital tasks</a:t>
            </a:r>
            <a:r>
              <a:rPr lang="en-US" sz="1200" kern="1200" dirty="0">
                <a:solidFill>
                  <a:schemeClr val="tx1"/>
                </a:solidFill>
                <a:effectLst/>
                <a:latin typeface="+mn-lt"/>
                <a:ea typeface="+mn-ea"/>
                <a:cs typeface="+mn-cs"/>
              </a:rPr>
              <a:t> that directly advance your core mission today. </a:t>
            </a:r>
          </a:p>
          <a:p>
            <a:r>
              <a:rPr lang="en-US" sz="1200" b="1" kern="1200" dirty="0">
                <a:solidFill>
                  <a:schemeClr val="tx1"/>
                </a:solidFill>
                <a:effectLst/>
                <a:latin typeface="+mn-lt"/>
                <a:ea typeface="+mn-ea"/>
                <a:cs typeface="+mn-cs"/>
              </a:rPr>
              <a:t>The Metric of Success:</a:t>
            </a:r>
            <a:r>
              <a:rPr lang="en-US" sz="1200" kern="1200" dirty="0">
                <a:solidFill>
                  <a:schemeClr val="tx1"/>
                </a:solidFill>
                <a:effectLst/>
                <a:latin typeface="+mn-lt"/>
                <a:ea typeface="+mn-ea"/>
                <a:cs typeface="+mn-cs"/>
              </a:rPr>
              <a:t> To achieve outlier success, you must direct </a:t>
            </a:r>
            <a:r>
              <a:rPr lang="en-US" sz="1200" b="1" kern="1200" dirty="0">
                <a:solidFill>
                  <a:schemeClr val="tx1"/>
                </a:solidFill>
                <a:effectLst/>
                <a:latin typeface="+mn-lt"/>
                <a:ea typeface="+mn-ea"/>
                <a:cs typeface="+mn-cs"/>
              </a:rPr>
              <a:t>80% of your waking energy</a:t>
            </a:r>
            <a:r>
              <a:rPr lang="en-US" sz="1200" kern="1200" dirty="0">
                <a:solidFill>
                  <a:schemeClr val="tx1"/>
                </a:solidFill>
                <a:effectLst/>
                <a:latin typeface="+mn-lt"/>
                <a:ea typeface="+mn-ea"/>
                <a:cs typeface="+mn-cs"/>
              </a:rPr>
              <a:t> solely to those 3 to 5 critical tasks. Jobs famously ignored market research focus groups to focus strictly on building what he knew was necessary. If you accomplish those key tasks daily, you are winning. </a:t>
            </a:r>
          </a:p>
          <a:p>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Once you master internal focus, how do you communicate your mission to the outside world? It comes down to a precise 90-second framework. </a:t>
            </a:r>
          </a:p>
          <a:p>
            <a:endParaRPr lang="en-US" dirty="0"/>
          </a:p>
        </p:txBody>
      </p:sp>
      <p:sp>
        <p:nvSpPr>
          <p:cNvPr id="4" name="Slide Number Placeholder 3"/>
          <p:cNvSpPr>
            <a:spLocks noGrp="1"/>
          </p:cNvSpPr>
          <p:nvPr>
            <p:ph type="sldNum" sz="quarter" idx="5"/>
          </p:nvPr>
        </p:nvSpPr>
        <p:spPr/>
        <p:txBody>
          <a:bodyPr/>
          <a:lstStyle/>
          <a:p>
            <a:fld id="{0A7B640C-0E06-4504-BD43-13156332103A}" type="slidenum">
              <a:rPr lang="en-US" smtClean="0"/>
              <a:t>3</a:t>
            </a:fld>
            <a:endParaRPr lang="en-US"/>
          </a:p>
        </p:txBody>
      </p:sp>
    </p:spTree>
    <p:extLst>
      <p:ext uri="{BB962C8B-B14F-4D97-AF65-F5344CB8AC3E}">
        <p14:creationId xmlns:p14="http://schemas.microsoft.com/office/powerpoint/2010/main" val="1113288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First 30 Seconds — Aura &amp; Presence:</a:t>
            </a:r>
            <a:r>
              <a:rPr lang="en-US" sz="1200" kern="1200" dirty="0">
                <a:solidFill>
                  <a:schemeClr val="tx1"/>
                </a:solidFill>
                <a:effectLst/>
                <a:latin typeface="+mn-lt"/>
                <a:ea typeface="+mn-ea"/>
                <a:cs typeface="+mn-cs"/>
              </a:rPr>
              <a:t> In any pitch or high-stakes negotiation, the first 30 seconds are about </a:t>
            </a:r>
            <a:r>
              <a:rPr lang="en-US" sz="1200" b="1" kern="1200" dirty="0">
                <a:solidFill>
                  <a:schemeClr val="tx1"/>
                </a:solidFill>
                <a:effectLst/>
                <a:latin typeface="+mn-lt"/>
                <a:ea typeface="+mn-ea"/>
                <a:cs typeface="+mn-cs"/>
              </a:rPr>
              <a:t>Aura</a:t>
            </a:r>
            <a:r>
              <a:rPr lang="en-US" sz="1200" kern="1200" dirty="0">
                <a:solidFill>
                  <a:schemeClr val="tx1"/>
                </a:solidFill>
                <a:effectLst/>
                <a:latin typeface="+mn-lt"/>
                <a:ea typeface="+mn-ea"/>
                <a:cs typeface="+mn-cs"/>
              </a:rPr>
              <a:t>. Before you even state your metrics, you must project absolute posture, eye contact, and quiet confidence. Failing here means immediate mental rejection from investors. </a:t>
            </a:r>
          </a:p>
          <a:p>
            <a:r>
              <a:rPr lang="en-US" sz="1200" b="1" kern="1200" dirty="0">
                <a:solidFill>
                  <a:schemeClr val="tx1"/>
                </a:solidFill>
                <a:effectLst/>
                <a:latin typeface="+mn-lt"/>
                <a:ea typeface="+mn-ea"/>
                <a:cs typeface="+mn-cs"/>
              </a:rPr>
              <a:t>30 to 60 Seconds — Execution Capability:</a:t>
            </a:r>
            <a:r>
              <a:rPr lang="en-US" sz="1200" kern="1200" dirty="0">
                <a:solidFill>
                  <a:schemeClr val="tx1"/>
                </a:solidFill>
                <a:effectLst/>
                <a:latin typeface="+mn-lt"/>
                <a:ea typeface="+mn-ea"/>
                <a:cs typeface="+mn-cs"/>
              </a:rPr>
              <a:t> The next 30 seconds answer one question: </a:t>
            </a:r>
            <a:r>
              <a:rPr lang="en-US" sz="1200" i="1" kern="1200" dirty="0">
                <a:solidFill>
                  <a:schemeClr val="tx1"/>
                </a:solidFill>
                <a:effectLst/>
                <a:latin typeface="+mn-lt"/>
                <a:ea typeface="+mn-ea"/>
                <a:cs typeface="+mn-cs"/>
              </a:rPr>
              <a:t>Why are YOU the operator to de-risk this idea?</a:t>
            </a:r>
            <a:r>
              <a:rPr lang="en-US" sz="1200" kern="1200" dirty="0">
                <a:solidFill>
                  <a:schemeClr val="tx1"/>
                </a:solidFill>
                <a:effectLst/>
                <a:latin typeface="+mn-lt"/>
                <a:ea typeface="+mn-ea"/>
                <a:cs typeface="+mn-cs"/>
              </a:rPr>
              <a:t> Ideas are cheap; execution is everything. Show your deep domain expertise, past lessons, and distinct competitive moat. </a:t>
            </a:r>
          </a:p>
          <a:p>
            <a:r>
              <a:rPr lang="en-US" sz="1200" b="1" kern="1200" dirty="0">
                <a:solidFill>
                  <a:schemeClr val="tx1"/>
                </a:solidFill>
                <a:effectLst/>
                <a:latin typeface="+mn-lt"/>
                <a:ea typeface="+mn-ea"/>
                <a:cs typeface="+mn-cs"/>
              </a:rPr>
              <a:t>60 to 90 Seconds — Financial Literacy:</a:t>
            </a:r>
            <a:r>
              <a:rPr lang="en-US" sz="1200" kern="1200" dirty="0">
                <a:solidFill>
                  <a:schemeClr val="tx1"/>
                </a:solidFill>
                <a:effectLst/>
                <a:latin typeface="+mn-lt"/>
                <a:ea typeface="+mn-ea"/>
                <a:cs typeface="+mn-cs"/>
              </a:rPr>
              <a:t> The final 30 seconds demand cold, hard numbers: market size, gross margins, CAC, break-even timeline, and competitor landscape. As Kevin famously states: </a:t>
            </a:r>
            <a:r>
              <a:rPr lang="en-US" sz="1200" i="1" kern="1200" dirty="0">
                <a:solidFill>
                  <a:schemeClr val="tx1"/>
                </a:solidFill>
                <a:effectLst/>
                <a:latin typeface="+mn-lt"/>
                <a:ea typeface="+mn-ea"/>
                <a:cs typeface="+mn-cs"/>
              </a:rPr>
              <a:t>'If you get the first two right and you don't know your numbers, you deserve to burn in hell.'</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Once you have pitched successfully and raised capital, your next major hurdle is building the execution engine by hiring the right people. </a:t>
            </a:r>
          </a:p>
          <a:p>
            <a:endParaRPr lang="en-US" dirty="0"/>
          </a:p>
        </p:txBody>
      </p:sp>
      <p:sp>
        <p:nvSpPr>
          <p:cNvPr id="4" name="Slide Number Placeholder 3"/>
          <p:cNvSpPr>
            <a:spLocks noGrp="1"/>
          </p:cNvSpPr>
          <p:nvPr>
            <p:ph type="sldNum" sz="quarter" idx="5"/>
          </p:nvPr>
        </p:nvSpPr>
        <p:spPr/>
        <p:txBody>
          <a:bodyPr/>
          <a:lstStyle/>
          <a:p>
            <a:fld id="{0A7B640C-0E06-4504-BD43-13156332103A}" type="slidenum">
              <a:rPr lang="en-US" smtClean="0"/>
              <a:t>4</a:t>
            </a:fld>
            <a:endParaRPr lang="en-US"/>
          </a:p>
        </p:txBody>
      </p:sp>
    </p:spTree>
    <p:extLst>
      <p:ext uri="{BB962C8B-B14F-4D97-AF65-F5344CB8AC3E}">
        <p14:creationId xmlns:p14="http://schemas.microsoft.com/office/powerpoint/2010/main" val="2025741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Step 1: The Contract Phase (4–6 Months):</a:t>
            </a:r>
            <a:r>
              <a:rPr lang="en-US" sz="1200" kern="1200" dirty="0">
                <a:solidFill>
                  <a:schemeClr val="tx1"/>
                </a:solidFill>
                <a:effectLst/>
                <a:latin typeface="+mn-lt"/>
                <a:ea typeface="+mn-ea"/>
                <a:cs typeface="+mn-cs"/>
              </a:rPr>
              <a:t> Traditional hiring relies on polished resumes and charming interviews, which often fail. Kevin advocates for a Swiss-style probationary framework: candidates are hired on short-term project contracts with a higher base pay but zero equity or benefits upfront. </a:t>
            </a:r>
          </a:p>
          <a:p>
            <a:r>
              <a:rPr lang="en-US" sz="1200" b="1" kern="1200" dirty="0">
                <a:solidFill>
                  <a:schemeClr val="tx1"/>
                </a:solidFill>
                <a:effectLst/>
                <a:latin typeface="+mn-lt"/>
                <a:ea typeface="+mn-ea"/>
                <a:cs typeface="+mn-cs"/>
              </a:rPr>
              <a:t>Step 2: The Consequence Test:</a:t>
            </a:r>
            <a:r>
              <a:rPr lang="en-US" sz="1200" kern="1200" dirty="0">
                <a:solidFill>
                  <a:schemeClr val="tx1"/>
                </a:solidFill>
                <a:effectLst/>
                <a:latin typeface="+mn-lt"/>
                <a:ea typeface="+mn-ea"/>
                <a:cs typeface="+mn-cs"/>
              </a:rPr>
              <a:t> During this period, candidates are given real projects with tangible financial consequences. Can they execute without hand-holding? Do they hit rigid deadlines (e.g., tax filings or product launches) under pressure? </a:t>
            </a:r>
          </a:p>
          <a:p>
            <a:r>
              <a:rPr lang="en-US" sz="1200" b="1" kern="1200" dirty="0">
                <a:solidFill>
                  <a:schemeClr val="tx1"/>
                </a:solidFill>
                <a:effectLst/>
                <a:latin typeface="+mn-lt"/>
                <a:ea typeface="+mn-ea"/>
                <a:cs typeface="+mn-cs"/>
              </a:rPr>
              <a:t>Integration vs. Termination:</a:t>
            </a:r>
            <a:r>
              <a:rPr lang="en-US" sz="1200" kern="1200" dirty="0">
                <a:solidFill>
                  <a:schemeClr val="tx1"/>
                </a:solidFill>
                <a:effectLst/>
                <a:latin typeface="+mn-lt"/>
                <a:ea typeface="+mn-ea"/>
                <a:cs typeface="+mn-cs"/>
              </a:rPr>
              <a:t> If their DNA aligns with high-execution culture, they are integrated with equity, stock options, and full benefits. If they fail, they are terminated immediately—'whacked' without emotional delay. Hire purely for merit, competence, and respect; ignore likability or politics. </a:t>
            </a:r>
          </a:p>
          <a:p>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Now that we’ve covered business operations and hiring, let’s look at how to protect and compound the capital you generate.</a:t>
            </a:r>
          </a:p>
          <a:p>
            <a:endParaRPr lang="en-US" dirty="0"/>
          </a:p>
        </p:txBody>
      </p:sp>
      <p:sp>
        <p:nvSpPr>
          <p:cNvPr id="4" name="Slide Number Placeholder 3"/>
          <p:cNvSpPr>
            <a:spLocks noGrp="1"/>
          </p:cNvSpPr>
          <p:nvPr>
            <p:ph type="sldNum" sz="quarter" idx="5"/>
          </p:nvPr>
        </p:nvSpPr>
        <p:spPr/>
        <p:txBody>
          <a:bodyPr/>
          <a:lstStyle/>
          <a:p>
            <a:fld id="{0A7B640C-0E06-4504-BD43-13156332103A}" type="slidenum">
              <a:rPr lang="en-US" smtClean="0"/>
              <a:t>5</a:t>
            </a:fld>
            <a:endParaRPr lang="en-US"/>
          </a:p>
        </p:txBody>
      </p:sp>
    </p:spTree>
    <p:extLst>
      <p:ext uri="{BB962C8B-B14F-4D97-AF65-F5344CB8AC3E}">
        <p14:creationId xmlns:p14="http://schemas.microsoft.com/office/powerpoint/2010/main" val="34779925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Origin of the Strategy:</a:t>
            </a:r>
            <a:r>
              <a:rPr lang="en-US" sz="1200" kern="1200" dirty="0">
                <a:solidFill>
                  <a:schemeClr val="tx1"/>
                </a:solidFill>
                <a:effectLst/>
                <a:latin typeface="+mn-lt"/>
                <a:ea typeface="+mn-ea"/>
                <a:cs typeface="+mn-cs"/>
              </a:rPr>
              <a:t> Kevin’s investment philosophy was inherited from his mother, Georgette. After her passing, the family discovered she had secretly built an investment portfolio of large-cap dividend stocks and telco bonds that consistently outperformed professional hedge fund managers over 55 years. </a:t>
            </a:r>
          </a:p>
          <a:p>
            <a:r>
              <a:rPr lang="en-US" sz="1200" b="1" kern="1200" dirty="0">
                <a:solidFill>
                  <a:schemeClr val="tx1"/>
                </a:solidFill>
                <a:effectLst/>
                <a:latin typeface="+mn-lt"/>
                <a:ea typeface="+mn-ea"/>
                <a:cs typeface="+mn-cs"/>
              </a:rPr>
              <a:t>The Two Ironclad Rules:</a:t>
            </a:r>
            <a:r>
              <a:rPr lang="en-US" sz="1200" kern="1200" dirty="0">
                <a:solidFill>
                  <a:schemeClr val="tx1"/>
                </a:solidFill>
                <a:effectLst/>
                <a:latin typeface="+mn-lt"/>
                <a:ea typeface="+mn-ea"/>
                <a:cs typeface="+mn-cs"/>
              </a:rPr>
              <a:t> Her strategy rested on two strict mathematical rules: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Rule 1 (5% Hard Cap):</a:t>
            </a:r>
            <a:r>
              <a:rPr lang="en-US" sz="1200" kern="1200" dirty="0">
                <a:solidFill>
                  <a:schemeClr val="tx1"/>
                </a:solidFill>
                <a:effectLst/>
                <a:latin typeface="+mn-lt"/>
                <a:ea typeface="+mn-ea"/>
                <a:cs typeface="+mn-cs"/>
              </a:rPr>
              <a:t> Never allocate more than 5% of your total portfolio to a single stock or bond. If a winning asset grows to exceed 5%, trim it down immediately.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Rule 2 (20% Sector Cap):</a:t>
            </a:r>
            <a:r>
              <a:rPr lang="en-US" sz="1200" kern="1200" dirty="0">
                <a:solidFill>
                  <a:schemeClr val="tx1"/>
                </a:solidFill>
                <a:effectLst/>
                <a:latin typeface="+mn-lt"/>
                <a:ea typeface="+mn-ea"/>
                <a:cs typeface="+mn-cs"/>
              </a:rPr>
              <a:t> Never allocate more than 20% of your portfolio to any single industry sector. </a:t>
            </a:r>
          </a:p>
          <a:p>
            <a:r>
              <a:rPr lang="en-US" sz="1200" b="1" kern="1200" dirty="0">
                <a:solidFill>
                  <a:schemeClr val="tx1"/>
                </a:solidFill>
                <a:effectLst/>
                <a:latin typeface="+mn-lt"/>
                <a:ea typeface="+mn-ea"/>
                <a:cs typeface="+mn-cs"/>
              </a:rPr>
              <a:t>The Wealth Mechanism:</a:t>
            </a:r>
            <a:r>
              <a:rPr lang="en-US" sz="1200" kern="1200" dirty="0">
                <a:solidFill>
                  <a:schemeClr val="tx1"/>
                </a:solidFill>
                <a:effectLst/>
                <a:latin typeface="+mn-lt"/>
                <a:ea typeface="+mn-ea"/>
                <a:cs typeface="+mn-cs"/>
              </a:rPr>
              <a:t> The fundamental directive is simple: </a:t>
            </a:r>
            <a:r>
              <a:rPr lang="en-US" sz="1200" b="1" kern="1200" dirty="0">
                <a:solidFill>
                  <a:schemeClr val="tx1"/>
                </a:solidFill>
                <a:effectLst/>
                <a:latin typeface="+mn-lt"/>
                <a:ea typeface="+mn-ea"/>
                <a:cs typeface="+mn-cs"/>
              </a:rPr>
              <a:t>Never touch the principal; live strictly off the dividend yield and interest stream.</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Building wealth requires adhering to these investment rules, but keeping wealth requires avoiding daily consumer traps. </a:t>
            </a:r>
          </a:p>
          <a:p>
            <a:endParaRPr lang="en-US" dirty="0"/>
          </a:p>
        </p:txBody>
      </p:sp>
      <p:sp>
        <p:nvSpPr>
          <p:cNvPr id="4" name="Slide Number Placeholder 3"/>
          <p:cNvSpPr>
            <a:spLocks noGrp="1"/>
          </p:cNvSpPr>
          <p:nvPr>
            <p:ph type="sldNum" sz="quarter" idx="5"/>
          </p:nvPr>
        </p:nvSpPr>
        <p:spPr/>
        <p:txBody>
          <a:bodyPr/>
          <a:lstStyle/>
          <a:p>
            <a:fld id="{0A7B640C-0E06-4504-BD43-13156332103A}" type="slidenum">
              <a:rPr lang="en-US" smtClean="0"/>
              <a:t>6</a:t>
            </a:fld>
            <a:endParaRPr lang="en-US"/>
          </a:p>
        </p:txBody>
      </p:sp>
    </p:spTree>
    <p:extLst>
      <p:ext uri="{BB962C8B-B14F-4D97-AF65-F5344CB8AC3E}">
        <p14:creationId xmlns:p14="http://schemas.microsoft.com/office/powerpoint/2010/main" val="8226408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Micro Trap ($28 Lunches):</a:t>
            </a:r>
            <a:r>
              <a:rPr lang="en-US" sz="1200" kern="1200" dirty="0">
                <a:solidFill>
                  <a:schemeClr val="tx1"/>
                </a:solidFill>
                <a:effectLst/>
                <a:latin typeface="+mn-lt"/>
                <a:ea typeface="+mn-ea"/>
                <a:cs typeface="+mn-cs"/>
              </a:rPr>
              <a:t> Wealth isn't just lost in bad business deals; it bleeds out in daily micro-leaks. Spending $28 daily on takeout lunches or specialty coffees seems harmless, but compounding that capital at standard market returns (investing 15% of income into an S&amp;P 500 ETF) yields over $1.5 million by age 65. </a:t>
            </a:r>
          </a:p>
          <a:p>
            <a:r>
              <a:rPr lang="en-US" sz="1200" b="1" kern="1200" dirty="0">
                <a:solidFill>
                  <a:schemeClr val="tx1"/>
                </a:solidFill>
                <a:effectLst/>
                <a:latin typeface="+mn-lt"/>
                <a:ea typeface="+mn-ea"/>
                <a:cs typeface="+mn-cs"/>
              </a:rPr>
              <a:t>The Macro Trap (Too Much House):</a:t>
            </a:r>
            <a:r>
              <a:rPr lang="en-US" sz="1200" kern="1200" dirty="0">
                <a:solidFill>
                  <a:schemeClr val="tx1"/>
                </a:solidFill>
                <a:effectLst/>
                <a:latin typeface="+mn-lt"/>
                <a:ea typeface="+mn-ea"/>
                <a:cs typeface="+mn-cs"/>
              </a:rPr>
              <a:t> On a macro level, the biggest blunder people make is buying too much real estate. </a:t>
            </a:r>
            <a:r>
              <a:rPr lang="en-US" sz="1200" b="1" kern="1200" dirty="0">
                <a:solidFill>
                  <a:schemeClr val="tx1"/>
                </a:solidFill>
                <a:effectLst/>
                <a:latin typeface="+mn-lt"/>
                <a:ea typeface="+mn-ea"/>
                <a:cs typeface="+mn-cs"/>
              </a:rPr>
              <a:t>The Hard Rule:</a:t>
            </a:r>
            <a:r>
              <a:rPr lang="en-US" sz="1200" kern="1200" dirty="0">
                <a:solidFill>
                  <a:schemeClr val="tx1"/>
                </a:solidFill>
                <a:effectLst/>
                <a:latin typeface="+mn-lt"/>
                <a:ea typeface="+mn-ea"/>
                <a:cs typeface="+mn-cs"/>
              </a:rPr>
              <a:t> Mortgage payments plus property maintenance costs must </a:t>
            </a:r>
            <a:r>
              <a:rPr lang="en-US" sz="1200" b="1" kern="1200" dirty="0">
                <a:solidFill>
                  <a:schemeClr val="tx1"/>
                </a:solidFill>
                <a:effectLst/>
                <a:latin typeface="+mn-lt"/>
                <a:ea typeface="+mn-ea"/>
                <a:cs typeface="+mn-cs"/>
              </a:rPr>
              <a:t>never exceed 33.3% (1/3)</a:t>
            </a:r>
            <a:r>
              <a:rPr lang="en-US" sz="1200" kern="1200" dirty="0">
                <a:solidFill>
                  <a:schemeClr val="tx1"/>
                </a:solidFill>
                <a:effectLst/>
                <a:latin typeface="+mn-lt"/>
                <a:ea typeface="+mn-ea"/>
                <a:cs typeface="+mn-cs"/>
              </a:rPr>
              <a:t> of your total gross income. Exceeding this threshold turns your home into a debt anchor. </a:t>
            </a:r>
          </a:p>
          <a:p>
            <a:r>
              <a:rPr lang="en-US" sz="1200" b="1" kern="1200" dirty="0">
                <a:solidFill>
                  <a:schemeClr val="tx1"/>
                </a:solidFill>
                <a:effectLst/>
                <a:latin typeface="+mn-lt"/>
                <a:ea typeface="+mn-ea"/>
                <a:cs typeface="+mn-cs"/>
              </a:rPr>
              <a:t>Key Takeaway &amp; Transition:</a:t>
            </a:r>
            <a:r>
              <a:rPr lang="en-US" sz="1200" kern="1200" dirty="0">
                <a:solidFill>
                  <a:schemeClr val="tx1"/>
                </a:solidFill>
                <a:effectLst/>
                <a:latin typeface="+mn-lt"/>
                <a:ea typeface="+mn-ea"/>
                <a:cs typeface="+mn-cs"/>
              </a:rPr>
              <a:t> Stop letting convenience and over-leveraged housing ruin your long-term independence. Next, let's examine how personal relationships impact financial survival. </a:t>
            </a:r>
          </a:p>
          <a:p>
            <a:endParaRPr lang="en-US" dirty="0"/>
          </a:p>
        </p:txBody>
      </p:sp>
      <p:sp>
        <p:nvSpPr>
          <p:cNvPr id="4" name="Slide Number Placeholder 3"/>
          <p:cNvSpPr>
            <a:spLocks noGrp="1"/>
          </p:cNvSpPr>
          <p:nvPr>
            <p:ph type="sldNum" sz="quarter" idx="5"/>
          </p:nvPr>
        </p:nvSpPr>
        <p:spPr/>
        <p:txBody>
          <a:bodyPr/>
          <a:lstStyle/>
          <a:p>
            <a:fld id="{0A7B640C-0E06-4504-BD43-13156332103A}" type="slidenum">
              <a:rPr lang="en-US" smtClean="0"/>
              <a:t>7</a:t>
            </a:fld>
            <a:endParaRPr lang="en-US"/>
          </a:p>
        </p:txBody>
      </p:sp>
    </p:spTree>
    <p:extLst>
      <p:ext uri="{BB962C8B-B14F-4D97-AF65-F5344CB8AC3E}">
        <p14:creationId xmlns:p14="http://schemas.microsoft.com/office/powerpoint/2010/main" val="27260220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Statistical Reality:</a:t>
            </a:r>
            <a:r>
              <a:rPr lang="en-US" sz="1200" kern="1200" dirty="0">
                <a:solidFill>
                  <a:schemeClr val="tx1"/>
                </a:solidFill>
                <a:effectLst/>
                <a:latin typeface="+mn-lt"/>
                <a:ea typeface="+mn-ea"/>
                <a:cs typeface="+mn-cs"/>
              </a:rPr>
              <a:t> Over 90% of marriage failures stem directly from financial stress and divergence in money management, far outpacing infidelity. </a:t>
            </a:r>
          </a:p>
          <a:p>
            <a:r>
              <a:rPr lang="en-US" sz="1200" b="1" kern="1200" dirty="0">
                <a:solidFill>
                  <a:schemeClr val="tx1"/>
                </a:solidFill>
                <a:effectLst/>
                <a:latin typeface="+mn-lt"/>
                <a:ea typeface="+mn-ea"/>
                <a:cs typeface="+mn-cs"/>
              </a:rPr>
              <a:t>Divorce as a Capital Risk:</a:t>
            </a:r>
            <a:r>
              <a:rPr lang="en-US" sz="1200" kern="1200" dirty="0">
                <a:solidFill>
                  <a:schemeClr val="tx1"/>
                </a:solidFill>
                <a:effectLst/>
                <a:latin typeface="+mn-lt"/>
                <a:ea typeface="+mn-ea"/>
                <a:cs typeface="+mn-cs"/>
              </a:rPr>
              <a:t> In business terms, a divorce is a catastrophic event that can wipe out up to two-thirds of your liquid net worth through legal fees, alimony, and forced asset liquidations. </a:t>
            </a:r>
          </a:p>
          <a:p>
            <a:r>
              <a:rPr lang="en-US" sz="1200" b="1" kern="1200" dirty="0">
                <a:solidFill>
                  <a:schemeClr val="tx1"/>
                </a:solidFill>
                <a:effectLst/>
                <a:latin typeface="+mn-lt"/>
                <a:ea typeface="+mn-ea"/>
                <a:cs typeface="+mn-cs"/>
              </a:rPr>
              <a:t>Marriage is a Business:</a:t>
            </a:r>
            <a:r>
              <a:rPr lang="en-US" sz="1200" kern="1200" dirty="0">
                <a:solidFill>
                  <a:schemeClr val="tx1"/>
                </a:solidFill>
                <a:effectLst/>
                <a:latin typeface="+mn-lt"/>
                <a:ea typeface="+mn-ea"/>
                <a:cs typeface="+mn-cs"/>
              </a:rPr>
              <a:t> Treat marriage with the financial seriousness it demands. 'The first child you have in a marriage is money—it sits at the dinner table with you every single day.' If both partners aren't aligned on how that 'child' is fed and managed, conflict is inevitable. </a:t>
            </a:r>
          </a:p>
          <a:p>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How do you evaluate potential partners before making a lifelong commitment? Let's review the 5 Financial Personas. </a:t>
            </a:r>
          </a:p>
          <a:p>
            <a:endParaRPr lang="en-US" dirty="0"/>
          </a:p>
        </p:txBody>
      </p:sp>
      <p:sp>
        <p:nvSpPr>
          <p:cNvPr id="4" name="Slide Number Placeholder 3"/>
          <p:cNvSpPr>
            <a:spLocks noGrp="1"/>
          </p:cNvSpPr>
          <p:nvPr>
            <p:ph type="sldNum" sz="quarter" idx="5"/>
          </p:nvPr>
        </p:nvSpPr>
        <p:spPr/>
        <p:txBody>
          <a:bodyPr/>
          <a:lstStyle/>
          <a:p>
            <a:fld id="{0A7B640C-0E06-4504-BD43-13156332103A}" type="slidenum">
              <a:rPr lang="en-US" smtClean="0"/>
              <a:t>8</a:t>
            </a:fld>
            <a:endParaRPr lang="en-US"/>
          </a:p>
        </p:txBody>
      </p:sp>
    </p:spTree>
    <p:extLst>
      <p:ext uri="{BB962C8B-B14F-4D97-AF65-F5344CB8AC3E}">
        <p14:creationId xmlns:p14="http://schemas.microsoft.com/office/powerpoint/2010/main" val="1916906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4 Red Flags to Avoid:</a:t>
            </a:r>
            <a:r>
              <a:rPr lang="en-US" sz="1200" kern="1200" dirty="0">
                <a:solidFill>
                  <a:schemeClr val="tx1"/>
                </a:solidFill>
                <a:effectLst/>
                <a:latin typeface="+mn-lt"/>
                <a:ea typeface="+mn-ea"/>
                <a:cs typeface="+mn-cs"/>
              </a:rPr>
              <a:t> By the third date, you need to understand how a prospective partner views money. Watch out for these four personas: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Mooch:</a:t>
            </a:r>
            <a:r>
              <a:rPr lang="en-US" sz="1200" kern="1200" dirty="0">
                <a:solidFill>
                  <a:schemeClr val="tx1"/>
                </a:solidFill>
                <a:effectLst/>
                <a:latin typeface="+mn-lt"/>
                <a:ea typeface="+mn-ea"/>
                <a:cs typeface="+mn-cs"/>
              </a:rPr>
              <a:t> Expects financial support without contributing.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Spender-</a:t>
            </a:r>
            <a:r>
              <a:rPr lang="en-US" sz="1200" b="1" kern="1200" dirty="0" err="1">
                <a:solidFill>
                  <a:schemeClr val="tx1"/>
                </a:solidFill>
                <a:effectLst/>
                <a:latin typeface="+mn-lt"/>
                <a:ea typeface="+mn-ea"/>
                <a:cs typeface="+mn-cs"/>
              </a:rPr>
              <a:t>holic</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Uses flashy spending to cover insecurities.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Loafer:</a:t>
            </a:r>
            <a:r>
              <a:rPr lang="en-US" sz="1200" kern="1200" dirty="0">
                <a:solidFill>
                  <a:schemeClr val="tx1"/>
                </a:solidFill>
                <a:effectLst/>
                <a:latin typeface="+mn-lt"/>
                <a:ea typeface="+mn-ea"/>
                <a:cs typeface="+mn-cs"/>
              </a:rPr>
              <a:t> Lacks ambition, financial drive, and goals.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Thief:</a:t>
            </a:r>
            <a:r>
              <a:rPr lang="en-US" sz="1200" kern="1200" dirty="0">
                <a:solidFill>
                  <a:schemeClr val="tx1"/>
                </a:solidFill>
                <a:effectLst/>
                <a:latin typeface="+mn-lt"/>
                <a:ea typeface="+mn-ea"/>
                <a:cs typeface="+mn-cs"/>
              </a:rPr>
              <a:t> Deceptive, hides debts, or mishandles shared capital. </a:t>
            </a:r>
          </a:p>
          <a:p>
            <a:r>
              <a:rPr lang="en-US" sz="1200" b="1" kern="1200" dirty="0">
                <a:solidFill>
                  <a:schemeClr val="tx1"/>
                </a:solidFill>
                <a:effectLst/>
                <a:latin typeface="+mn-lt"/>
                <a:ea typeface="+mn-ea"/>
                <a:cs typeface="+mn-cs"/>
              </a:rPr>
              <a:t>The Target Persona — The 'Meanie':</a:t>
            </a:r>
            <a:r>
              <a:rPr lang="en-US" sz="1200" kern="1200" dirty="0">
                <a:solidFill>
                  <a:schemeClr val="tx1"/>
                </a:solidFill>
                <a:effectLst/>
                <a:latin typeface="+mn-lt"/>
                <a:ea typeface="+mn-ea"/>
                <a:cs typeface="+mn-cs"/>
              </a:rPr>
              <a:t> Who should you marry? </a:t>
            </a:r>
            <a:r>
              <a:rPr lang="en-US" sz="1200" b="1" kern="1200" dirty="0">
                <a:solidFill>
                  <a:schemeClr val="tx1"/>
                </a:solidFill>
                <a:effectLst/>
                <a:latin typeface="+mn-lt"/>
                <a:ea typeface="+mn-ea"/>
                <a:cs typeface="+mn-cs"/>
              </a:rPr>
              <a:t>Marry a Meanie.</a:t>
            </a:r>
            <a:r>
              <a:rPr lang="en-US" sz="1200" kern="1200" dirty="0">
                <a:solidFill>
                  <a:schemeClr val="tx1"/>
                </a:solidFill>
                <a:effectLst/>
                <a:latin typeface="+mn-lt"/>
                <a:ea typeface="+mn-ea"/>
                <a:cs typeface="+mn-cs"/>
              </a:rPr>
              <a:t> A 'Meanie' in O'Leary terms isn't cruel; they are a prudent spending gatekeeper who lives strictly within their means, respects capital, and refuses unnecessary debt. </a:t>
            </a:r>
          </a:p>
          <a:p>
            <a:r>
              <a:rPr lang="en-US" sz="1200" b="1" kern="1200" dirty="0">
                <a:solidFill>
                  <a:schemeClr val="tx1"/>
                </a:solidFill>
                <a:effectLst/>
                <a:latin typeface="+mn-lt"/>
                <a:ea typeface="+mn-ea"/>
                <a:cs typeface="+mn-cs"/>
              </a:rPr>
              <a:t>The Directive:</a:t>
            </a:r>
            <a:r>
              <a:rPr lang="en-US" sz="1200" kern="1200" dirty="0">
                <a:solidFill>
                  <a:schemeClr val="tx1"/>
                </a:solidFill>
                <a:effectLst/>
                <a:latin typeface="+mn-lt"/>
                <a:ea typeface="+mn-ea"/>
                <a:cs typeface="+mn-cs"/>
              </a:rPr>
              <a:t> Ensure total financial alignment early. Partnering with someone financially incompatible will undermine your wealth accumulation. </a:t>
            </a:r>
          </a:p>
          <a:p>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Now let's shift from personal strategy to technology moats in modern business. </a:t>
            </a:r>
          </a:p>
          <a:p>
            <a:endParaRPr lang="en-US" dirty="0"/>
          </a:p>
        </p:txBody>
      </p:sp>
      <p:sp>
        <p:nvSpPr>
          <p:cNvPr id="4" name="Slide Number Placeholder 3"/>
          <p:cNvSpPr>
            <a:spLocks noGrp="1"/>
          </p:cNvSpPr>
          <p:nvPr>
            <p:ph type="sldNum" sz="quarter" idx="5"/>
          </p:nvPr>
        </p:nvSpPr>
        <p:spPr/>
        <p:txBody>
          <a:bodyPr/>
          <a:lstStyle/>
          <a:p>
            <a:fld id="{0A7B640C-0E06-4504-BD43-13156332103A}" type="slidenum">
              <a:rPr lang="en-US" smtClean="0"/>
              <a:t>9</a:t>
            </a:fld>
            <a:endParaRPr lang="en-US"/>
          </a:p>
        </p:txBody>
      </p:sp>
    </p:spTree>
    <p:extLst>
      <p:ext uri="{BB962C8B-B14F-4D97-AF65-F5344CB8AC3E}">
        <p14:creationId xmlns:p14="http://schemas.microsoft.com/office/powerpoint/2010/main" val="19681721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Framework (Steve Jobs Strategy):</a:t>
            </a:r>
            <a:r>
              <a:rPr lang="en-US" sz="1200" kern="1200" dirty="0">
                <a:solidFill>
                  <a:schemeClr val="tx1"/>
                </a:solidFill>
                <a:effectLst/>
                <a:latin typeface="+mn-lt"/>
                <a:ea typeface="+mn-ea"/>
                <a:cs typeface="+mn-cs"/>
              </a:rPr>
              <a:t> To build an enterprise value moat, understand the dynamic between hardware platform architectures and software ecosystems: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Queen Bee:</a:t>
            </a:r>
            <a:r>
              <a:rPr lang="en-US" sz="1200" kern="1200" dirty="0">
                <a:solidFill>
                  <a:schemeClr val="tx1"/>
                </a:solidFill>
                <a:effectLst/>
                <a:latin typeface="+mn-lt"/>
                <a:ea typeface="+mn-ea"/>
                <a:cs typeface="+mn-cs"/>
              </a:rPr>
              <a:t> Foundational hardware or chips (e.g., Apple silicon, Nvidia GPUs).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Honeybees:</a:t>
            </a:r>
            <a:r>
              <a:rPr lang="en-US" sz="1200" kern="1200" dirty="0">
                <a:solidFill>
                  <a:schemeClr val="tx1"/>
                </a:solidFill>
                <a:effectLst/>
                <a:latin typeface="+mn-lt"/>
                <a:ea typeface="+mn-ea"/>
                <a:cs typeface="+mn-cs"/>
              </a:rPr>
              <a:t> Developers and coders who build on the platform.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Honey:</a:t>
            </a:r>
            <a:r>
              <a:rPr lang="en-US" sz="1200" kern="1200" dirty="0">
                <a:solidFill>
                  <a:schemeClr val="tx1"/>
                </a:solidFill>
                <a:effectLst/>
                <a:latin typeface="+mn-lt"/>
                <a:ea typeface="+mn-ea"/>
                <a:cs typeface="+mn-cs"/>
              </a:rPr>
              <a:t> The sticky software ecosystem that binds users to the system. </a:t>
            </a:r>
          </a:p>
          <a:p>
            <a:r>
              <a:rPr lang="en-US" sz="1200" b="1" kern="1200" dirty="0">
                <a:solidFill>
                  <a:schemeClr val="tx1"/>
                </a:solidFill>
                <a:effectLst/>
                <a:latin typeface="+mn-lt"/>
                <a:ea typeface="+mn-ea"/>
                <a:cs typeface="+mn-cs"/>
              </a:rPr>
              <a:t>Economic Value Creation:</a:t>
            </a:r>
            <a:r>
              <a:rPr lang="en-US" sz="1200" kern="1200" dirty="0">
                <a:solidFill>
                  <a:schemeClr val="tx1"/>
                </a:solidFill>
                <a:effectLst/>
                <a:latin typeface="+mn-lt"/>
                <a:ea typeface="+mn-ea"/>
                <a:cs typeface="+mn-cs"/>
              </a:rPr>
              <a:t> The Queen Bee chip has little value without developers. Once developers create proprietary software ('Honey'), high switching costs create an insurmountable moat against competitors. </a:t>
            </a:r>
          </a:p>
          <a:p>
            <a:r>
              <a:rPr lang="en-US" sz="1200" b="1" kern="1200" dirty="0">
                <a:solidFill>
                  <a:schemeClr val="tx1"/>
                </a:solidFill>
                <a:effectLst/>
                <a:latin typeface="+mn-lt"/>
                <a:ea typeface="+mn-ea"/>
                <a:cs typeface="+mn-cs"/>
              </a:rPr>
              <a:t>Geopolitical AI Implications:</a:t>
            </a:r>
            <a:r>
              <a:rPr lang="en-US" sz="1200" kern="1200" dirty="0">
                <a:solidFill>
                  <a:schemeClr val="tx1"/>
                </a:solidFill>
                <a:effectLst/>
                <a:latin typeface="+mn-lt"/>
                <a:ea typeface="+mn-ea"/>
                <a:cs typeface="+mn-cs"/>
              </a:rPr>
              <a:t> In the AI era, control over foundational GPU hardware ('Queen Bees') determines which nations and corporations control global AI applications. </a:t>
            </a:r>
          </a:p>
          <a:p>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Whether evaluating tech platforms or brand endorsements, decisions require uncompromising integrity. </a:t>
            </a:r>
          </a:p>
          <a:p>
            <a:endParaRPr lang="en-US" dirty="0"/>
          </a:p>
        </p:txBody>
      </p:sp>
      <p:sp>
        <p:nvSpPr>
          <p:cNvPr id="4" name="Slide Number Placeholder 3"/>
          <p:cNvSpPr>
            <a:spLocks noGrp="1"/>
          </p:cNvSpPr>
          <p:nvPr>
            <p:ph type="sldNum" sz="quarter" idx="5"/>
          </p:nvPr>
        </p:nvSpPr>
        <p:spPr/>
        <p:txBody>
          <a:bodyPr/>
          <a:lstStyle/>
          <a:p>
            <a:fld id="{0A7B640C-0E06-4504-BD43-13156332103A}" type="slidenum">
              <a:rPr lang="en-US" smtClean="0"/>
              <a:t>10</a:t>
            </a:fld>
            <a:endParaRPr lang="en-US"/>
          </a:p>
        </p:txBody>
      </p:sp>
    </p:spTree>
    <p:extLst>
      <p:ext uri="{BB962C8B-B14F-4D97-AF65-F5344CB8AC3E}">
        <p14:creationId xmlns:p14="http://schemas.microsoft.com/office/powerpoint/2010/main" val="12348777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Core Filter:</a:t>
            </a:r>
            <a:r>
              <a:rPr lang="en-US" sz="1200" kern="1200" dirty="0">
                <a:solidFill>
                  <a:schemeClr val="tx1"/>
                </a:solidFill>
                <a:effectLst/>
                <a:latin typeface="+mn-lt"/>
                <a:ea typeface="+mn-ea"/>
                <a:cs typeface="+mn-cs"/>
              </a:rPr>
              <a:t> Every endorsement, partnership, or deal must pass a simple binary test: </a:t>
            </a:r>
            <a:r>
              <a:rPr lang="en-US" sz="1200" i="1" kern="1200" dirty="0">
                <a:solidFill>
                  <a:schemeClr val="tx1"/>
                </a:solidFill>
                <a:effectLst/>
                <a:latin typeface="+mn-lt"/>
                <a:ea typeface="+mn-ea"/>
                <a:cs typeface="+mn-cs"/>
              </a:rPr>
              <a:t>Do I personally use and believe in this product?</a:t>
            </a:r>
            <a:r>
              <a:rPr lang="en-US" sz="1200" kern="1200" dirty="0">
                <a:solidFill>
                  <a:schemeClr val="tx1"/>
                </a:solidFill>
                <a:effectLst/>
                <a:latin typeface="+mn-lt"/>
                <a:ea typeface="+mn-ea"/>
                <a:cs typeface="+mn-cs"/>
              </a:rPr>
              <a:t> If Yes, endorse it fully. If No, reject it immediately. </a:t>
            </a:r>
          </a:p>
          <a:p>
            <a:r>
              <a:rPr lang="en-US" sz="1200" b="1" kern="1200" dirty="0">
                <a:solidFill>
                  <a:schemeClr val="tx1"/>
                </a:solidFill>
                <a:effectLst/>
                <a:latin typeface="+mn-lt"/>
                <a:ea typeface="+mn-ea"/>
                <a:cs typeface="+mn-cs"/>
              </a:rPr>
              <a:t>Resisting the Paycheck Trap:</a:t>
            </a:r>
            <a:r>
              <a:rPr lang="en-US" sz="1200" kern="1200" dirty="0">
                <a:solidFill>
                  <a:schemeClr val="tx1"/>
                </a:solidFill>
                <a:effectLst/>
                <a:latin typeface="+mn-lt"/>
                <a:ea typeface="+mn-ea"/>
                <a:cs typeface="+mn-cs"/>
              </a:rPr>
              <a:t> As Kevin noted in his discussion on deal-making, promoters may offer massive sums—millions of dollars—to endorse sub-par products. Taking short-term money for an inauthentic product instantly destroys your brand equity. </a:t>
            </a:r>
          </a:p>
          <a:p>
            <a:r>
              <a:rPr lang="en-US" sz="1200" b="1" kern="1200" dirty="0">
                <a:solidFill>
                  <a:schemeClr val="tx1"/>
                </a:solidFill>
                <a:effectLst/>
                <a:latin typeface="+mn-lt"/>
                <a:ea typeface="+mn-ea"/>
                <a:cs typeface="+mn-cs"/>
              </a:rPr>
              <a:t>Key Takeaway &amp; Transition:</a:t>
            </a:r>
            <a:r>
              <a:rPr lang="en-US" sz="1200" kern="1200" dirty="0">
                <a:solidFill>
                  <a:schemeClr val="tx1"/>
                </a:solidFill>
                <a:effectLst/>
                <a:latin typeface="+mn-lt"/>
                <a:ea typeface="+mn-ea"/>
                <a:cs typeface="+mn-cs"/>
              </a:rPr>
              <a:t> Your brand equity is built over decades and can be destroyed in seconds. You are the captain of your brand; never sacrifice long-term credibility for short-term gain. </a:t>
            </a:r>
          </a:p>
          <a:p>
            <a:endParaRPr lang="en-US" dirty="0"/>
          </a:p>
        </p:txBody>
      </p:sp>
      <p:sp>
        <p:nvSpPr>
          <p:cNvPr id="4" name="Slide Number Placeholder 3"/>
          <p:cNvSpPr>
            <a:spLocks noGrp="1"/>
          </p:cNvSpPr>
          <p:nvPr>
            <p:ph type="sldNum" sz="quarter" idx="5"/>
          </p:nvPr>
        </p:nvSpPr>
        <p:spPr/>
        <p:txBody>
          <a:bodyPr/>
          <a:lstStyle/>
          <a:p>
            <a:fld id="{0A7B640C-0E06-4504-BD43-13156332103A}" type="slidenum">
              <a:rPr lang="en-US" smtClean="0"/>
              <a:t>11</a:t>
            </a:fld>
            <a:endParaRPr lang="en-US"/>
          </a:p>
        </p:txBody>
      </p:sp>
    </p:spTree>
    <p:extLst>
      <p:ext uri="{BB962C8B-B14F-4D97-AF65-F5344CB8AC3E}">
        <p14:creationId xmlns:p14="http://schemas.microsoft.com/office/powerpoint/2010/main" val="10604573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Core Paradox:</a:t>
            </a:r>
            <a:r>
              <a:rPr lang="en-US" sz="1200" kern="1200" dirty="0">
                <a:solidFill>
                  <a:schemeClr val="tx1"/>
                </a:solidFill>
                <a:effectLst/>
                <a:latin typeface="+mn-lt"/>
                <a:ea typeface="+mn-ea"/>
                <a:cs typeface="+mn-cs"/>
              </a:rPr>
              <a:t> Achieving true independence requires balancing two opposing forces: </a:t>
            </a:r>
          </a:p>
          <a:p>
            <a:pPr marL="228600" indent="-228600">
              <a:buFont typeface="+mj-lt"/>
              <a:buAutoNum type="arabicPeriod"/>
            </a:pPr>
            <a:r>
              <a:rPr lang="en-US" sz="1200" b="1" kern="1200" dirty="0">
                <a:solidFill>
                  <a:schemeClr val="tx1"/>
                </a:solidFill>
                <a:effectLst/>
                <a:latin typeface="+mn-lt"/>
                <a:ea typeface="+mn-ea"/>
                <a:cs typeface="+mn-cs"/>
              </a:rPr>
              <a:t>Aggressive Business Risk:</a:t>
            </a:r>
            <a:r>
              <a:rPr lang="en-US" sz="1200" kern="1200" dirty="0">
                <a:solidFill>
                  <a:schemeClr val="tx1"/>
                </a:solidFill>
                <a:effectLst/>
                <a:latin typeface="+mn-lt"/>
                <a:ea typeface="+mn-ea"/>
                <a:cs typeface="+mn-cs"/>
              </a:rPr>
              <a:t> Embracing market chaos, firing low performers, pivoting, and taking calculated risks. </a:t>
            </a:r>
          </a:p>
          <a:p>
            <a:pPr marL="228600" indent="-228600">
              <a:buFont typeface="+mj-lt"/>
              <a:buAutoNum type="arabicPeriod"/>
            </a:pPr>
            <a:r>
              <a:rPr lang="en-US" sz="1200" b="1" kern="1200" dirty="0">
                <a:solidFill>
                  <a:schemeClr val="tx1"/>
                </a:solidFill>
                <a:effectLst/>
                <a:latin typeface="+mn-lt"/>
                <a:ea typeface="+mn-ea"/>
                <a:cs typeface="+mn-cs"/>
              </a:rPr>
              <a:t>Boring Personal Capital Discipline:</a:t>
            </a:r>
            <a:r>
              <a:rPr lang="en-US" sz="1200" kern="1200" dirty="0">
                <a:solidFill>
                  <a:schemeClr val="tx1"/>
                </a:solidFill>
                <a:effectLst/>
                <a:latin typeface="+mn-lt"/>
                <a:ea typeface="+mn-ea"/>
                <a:cs typeface="+mn-cs"/>
              </a:rPr>
              <a:t> Applying strict 5/20 indexing, avoiding bad debt, capping housing costs, and living below your means. </a:t>
            </a:r>
          </a:p>
          <a:p>
            <a:r>
              <a:rPr lang="en-US" sz="1200" b="1" kern="1200" dirty="0">
                <a:solidFill>
                  <a:schemeClr val="tx1"/>
                </a:solidFill>
                <a:effectLst/>
                <a:latin typeface="+mn-lt"/>
                <a:ea typeface="+mn-ea"/>
                <a:cs typeface="+mn-cs"/>
              </a:rPr>
              <a:t>Defining True Happiness:</a:t>
            </a:r>
            <a:r>
              <a:rPr lang="en-US" sz="1200" kern="1200" dirty="0">
                <a:solidFill>
                  <a:schemeClr val="tx1"/>
                </a:solidFill>
                <a:effectLst/>
                <a:latin typeface="+mn-lt"/>
                <a:ea typeface="+mn-ea"/>
                <a:cs typeface="+mn-cs"/>
              </a:rPr>
              <a:t> Happiness is not a static destination or a bank balance. Happiness is the continuous process of setting, pursuing, and achieving meaningful goals while retaining total control over your time. </a:t>
            </a:r>
          </a:p>
          <a:p>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To wrap up our discussion, let's review the summary cheat sheet of the O'Leary Protocol.</a:t>
            </a:r>
          </a:p>
          <a:p>
            <a:endParaRPr lang="en-US" dirty="0"/>
          </a:p>
        </p:txBody>
      </p:sp>
      <p:sp>
        <p:nvSpPr>
          <p:cNvPr id="4" name="Slide Number Placeholder 3"/>
          <p:cNvSpPr>
            <a:spLocks noGrp="1"/>
          </p:cNvSpPr>
          <p:nvPr>
            <p:ph type="sldNum" sz="quarter" idx="5"/>
          </p:nvPr>
        </p:nvSpPr>
        <p:spPr/>
        <p:txBody>
          <a:bodyPr/>
          <a:lstStyle/>
          <a:p>
            <a:fld id="{0A7B640C-0E06-4504-BD43-13156332103A}" type="slidenum">
              <a:rPr lang="en-US" smtClean="0"/>
              <a:t>12</a:t>
            </a:fld>
            <a:endParaRPr lang="en-US"/>
          </a:p>
        </p:txBody>
      </p:sp>
    </p:spTree>
    <p:extLst>
      <p:ext uri="{BB962C8B-B14F-4D97-AF65-F5344CB8AC3E}">
        <p14:creationId xmlns:p14="http://schemas.microsoft.com/office/powerpoint/2010/main" val="3989209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Master Checklist:</a:t>
            </a:r>
            <a:r>
              <a:rPr lang="en-US" sz="1200" kern="1200" dirty="0">
                <a:solidFill>
                  <a:schemeClr val="tx1"/>
                </a:solidFill>
                <a:effectLst/>
                <a:latin typeface="+mn-lt"/>
                <a:ea typeface="+mn-ea"/>
                <a:cs typeface="+mn-cs"/>
              </a:rPr>
              <a:t> To summarize the core principles of the O'Leary Blueprint: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Signal vs. Noise:</a:t>
            </a:r>
            <a:r>
              <a:rPr lang="en-US" sz="1200" kern="1200" dirty="0">
                <a:solidFill>
                  <a:schemeClr val="tx1"/>
                </a:solidFill>
                <a:effectLst/>
                <a:latin typeface="+mn-lt"/>
                <a:ea typeface="+mn-ea"/>
                <a:cs typeface="+mn-cs"/>
              </a:rPr>
              <a:t> Direct 80% of your daily focus to your top 3 to 5 tasks.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Pitching:</a:t>
            </a:r>
            <a:r>
              <a:rPr lang="en-US" sz="1200" kern="1200" dirty="0">
                <a:solidFill>
                  <a:schemeClr val="tx1"/>
                </a:solidFill>
                <a:effectLst/>
                <a:latin typeface="+mn-lt"/>
                <a:ea typeface="+mn-ea"/>
                <a:cs typeface="+mn-cs"/>
              </a:rPr>
              <a:t> Master presence, prove execution capability, and know your metrics.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Team Building:</a:t>
            </a:r>
            <a:r>
              <a:rPr lang="en-US" sz="1200" kern="1200" dirty="0">
                <a:solidFill>
                  <a:schemeClr val="tx1"/>
                </a:solidFill>
                <a:effectLst/>
                <a:latin typeface="+mn-lt"/>
                <a:ea typeface="+mn-ea"/>
                <a:cs typeface="+mn-cs"/>
              </a:rPr>
              <a:t> Prioritize execution merit over likability.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Investing:</a:t>
            </a:r>
            <a:r>
              <a:rPr lang="en-US" sz="1200" kern="1200" dirty="0">
                <a:solidFill>
                  <a:schemeClr val="tx1"/>
                </a:solidFill>
                <a:effectLst/>
                <a:latin typeface="+mn-lt"/>
                <a:ea typeface="+mn-ea"/>
                <a:cs typeface="+mn-cs"/>
              </a:rPr>
              <a:t> Stick to the 5% single-stock and 20% sector caps.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Financial Rules:</a:t>
            </a:r>
            <a:r>
              <a:rPr lang="en-US" sz="1200" kern="1200" dirty="0">
                <a:solidFill>
                  <a:schemeClr val="tx1"/>
                </a:solidFill>
                <a:effectLst/>
                <a:latin typeface="+mn-lt"/>
                <a:ea typeface="+mn-ea"/>
                <a:cs typeface="+mn-cs"/>
              </a:rPr>
              <a:t> Cap housing costs at 33.3% of income and consistently invest 15% into index funds. </a:t>
            </a:r>
          </a:p>
          <a:p>
            <a:r>
              <a:rPr lang="en-US" sz="1200" b="1" kern="1200" dirty="0">
                <a:solidFill>
                  <a:schemeClr val="tx1"/>
                </a:solidFill>
                <a:effectLst/>
                <a:latin typeface="+mn-lt"/>
                <a:ea typeface="+mn-ea"/>
                <a:cs typeface="+mn-cs"/>
              </a:rPr>
              <a:t>Closing Call to Action:</a:t>
            </a:r>
            <a:r>
              <a:rPr lang="en-US" sz="1200" kern="1200" dirty="0">
                <a:solidFill>
                  <a:schemeClr val="tx1"/>
                </a:solidFill>
                <a:effectLst/>
                <a:latin typeface="+mn-lt"/>
                <a:ea typeface="+mn-ea"/>
                <a:cs typeface="+mn-cs"/>
              </a:rPr>
              <a:t> Take control of your capital, focus on what matters, and build your own store. Thank you.</a:t>
            </a:r>
          </a:p>
        </p:txBody>
      </p:sp>
      <p:sp>
        <p:nvSpPr>
          <p:cNvPr id="4" name="Slide Number Placeholder 3"/>
          <p:cNvSpPr>
            <a:spLocks noGrp="1"/>
          </p:cNvSpPr>
          <p:nvPr>
            <p:ph type="sldNum" sz="quarter" idx="5"/>
          </p:nvPr>
        </p:nvSpPr>
        <p:spPr/>
        <p:txBody>
          <a:bodyPr/>
          <a:lstStyle/>
          <a:p>
            <a:fld id="{0A7B640C-0E06-4504-BD43-13156332103A}" type="slidenum">
              <a:rPr lang="en-US" smtClean="0"/>
              <a:t>13</a:t>
            </a:fld>
            <a:endParaRPr lang="en-US"/>
          </a:p>
        </p:txBody>
      </p:sp>
    </p:spTree>
    <p:extLst>
      <p:ext uri="{BB962C8B-B14F-4D97-AF65-F5344CB8AC3E}">
        <p14:creationId xmlns:p14="http://schemas.microsoft.com/office/powerpoint/2010/main" val="32743338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B169D9-734D-361B-60BE-EA9A2D80F28F}"/>
              </a:ext>
            </a:extLst>
          </p:cNvPr>
          <p:cNvSpPr>
            <a:spLocks noGrp="1"/>
          </p:cNvSpPr>
          <p:nvPr>
            <p:ph type="dt" sz="half" idx="10"/>
          </p:nvPr>
        </p:nvSpPr>
        <p:spPr/>
        <p:txBody>
          <a:bodyPr/>
          <a:lstStyle/>
          <a:p>
            <a:fld id="{C88CAD4B-3058-4303-82B7-534A17FA585F}" type="datetimeFigureOut">
              <a:rPr lang="en-US" smtClean="0"/>
              <a:t>10/19/2026</a:t>
            </a:fld>
            <a:endParaRPr lang="en-US"/>
          </a:p>
        </p:txBody>
      </p:sp>
      <p:sp>
        <p:nvSpPr>
          <p:cNvPr id="3" name="Footer Placeholder 2">
            <a:extLst>
              <a:ext uri="{FF2B5EF4-FFF2-40B4-BE49-F238E27FC236}">
                <a16:creationId xmlns:a16="http://schemas.microsoft.com/office/drawing/2014/main" id="{C4A6CC7B-8E08-927D-D1F4-5223B4AE53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1175C34-3FF0-83A7-922F-F0731FACA2E3}"/>
              </a:ext>
            </a:extLst>
          </p:cNvPr>
          <p:cNvSpPr>
            <a:spLocks noGrp="1"/>
          </p:cNvSpPr>
          <p:nvPr>
            <p:ph type="sldNum" sz="quarter" idx="12"/>
          </p:nvPr>
        </p:nvSpPr>
        <p:spPr/>
        <p:txBody>
          <a:bodyPr/>
          <a:lstStyle/>
          <a:p>
            <a:fld id="{D1D23BB8-205E-4577-872B-7B438EDE1049}" type="slidenum">
              <a:rPr lang="en-US" smtClean="0"/>
              <a:t>‹#›</a:t>
            </a:fld>
            <a:endParaRPr lang="en-US"/>
          </a:p>
        </p:txBody>
      </p:sp>
    </p:spTree>
    <p:extLst>
      <p:ext uri="{BB962C8B-B14F-4D97-AF65-F5344CB8AC3E}">
        <p14:creationId xmlns:p14="http://schemas.microsoft.com/office/powerpoint/2010/main" val="339455392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218BB8-1FEA-B1CF-1A11-DA8552EE06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797441-4253-F336-D03D-34F0EAE2FE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3F0A72-6A5A-3F6B-1C63-7DA9AD4D60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88CAD4B-3058-4303-82B7-534A17FA585F}" type="datetimeFigureOut">
              <a:rPr lang="en-US" smtClean="0"/>
              <a:t>10/19/2026</a:t>
            </a:fld>
            <a:endParaRPr lang="en-US"/>
          </a:p>
        </p:txBody>
      </p:sp>
      <p:sp>
        <p:nvSpPr>
          <p:cNvPr id="5" name="Footer Placeholder 4">
            <a:extLst>
              <a:ext uri="{FF2B5EF4-FFF2-40B4-BE49-F238E27FC236}">
                <a16:creationId xmlns:a16="http://schemas.microsoft.com/office/drawing/2014/main" id="{8DB4C4FA-FFD8-276D-2FE1-0B3D72A595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011A9BB-8DE2-3CA0-B259-3C96F0AC3B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1D23BB8-205E-4577-872B-7B438EDE1049}" type="slidenum">
              <a:rPr lang="en-US" smtClean="0"/>
              <a:t>‹#›</a:t>
            </a:fld>
            <a:endParaRPr lang="en-US"/>
          </a:p>
        </p:txBody>
      </p:sp>
    </p:spTree>
    <p:extLst>
      <p:ext uri="{BB962C8B-B14F-4D97-AF65-F5344CB8AC3E}">
        <p14:creationId xmlns:p14="http://schemas.microsoft.com/office/powerpoint/2010/main" val="488662640"/>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364A88F-6F69-4E9E-A204-2236E9DA6C1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D918BCE-6356-7072-24D8-531BFB1A9BE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AC427A0-2C40-ABE8-723F-CD02AFB54A4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26B506-4433-B2C7-3C19-8AC83FA54A7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C39C00C-A36F-7146-0C5E-0669F7D57B2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0289F1C-F56A-0314-42A0-BFF117AE909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378202-F915-D08C-9FC1-5DF9297C7A1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BD612D-B5F3-D7B7-4247-1C1B1B588F3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EA28B7-DFE0-E4BD-B5DA-748817EB8DD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D8666CC-4B14-39B4-30E2-19F4D326E7C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58705AC-591C-3E1E-20F3-9F028990739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ABA6B1C-AA18-A4CC-9E25-C9C21C29564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8D95B6-6EC3-CE6F-CEF8-118F6C75E047}"/>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1355834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2007</Words>
  <Application>Microsoft Office PowerPoint</Application>
  <PresentationFormat>寬螢幕</PresentationFormat>
  <Paragraphs>79</Paragraphs>
  <Slides>13</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2026-08-12T10:22:39Z</dcterms:created>
  <dcterms:modified xsi:type="dcterms:W3CDTF">2026-10-19T15:44:04Z</dcterms:modified>
</cp:coreProperties>
</file>