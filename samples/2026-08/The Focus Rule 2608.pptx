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E25AC-B0FD-4263-81E6-8602BEADDEA3}" v="23" dt="2026-08-03T13:22:24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3447" autoAdjust="0"/>
  </p:normalViewPr>
  <p:slideViewPr>
    <p:cSldViewPr snapToGrid="0">
      <p:cViewPr varScale="1">
        <p:scale>
          <a:sx n="74" d="100"/>
          <a:sy n="74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addSld delSld modSld sldOrd">
      <pc:chgData name="Lai, Wilson" userId="2840974a-0d84-4886-90a9-9a3ed79f3a48" providerId="ADAL" clId="{9F23B798-9E84-4552-BA63-E776E805C424}" dt="2026-08-03T13:39:38.819" v="99" actId="166"/>
      <pc:docMkLst>
        <pc:docMk/>
      </pc:docMkLst>
      <pc:sldChg chg="delSp del mod">
        <pc:chgData name="Lai, Wilson" userId="2840974a-0d84-4886-90a9-9a3ed79f3a48" providerId="ADAL" clId="{9F23B798-9E84-4552-BA63-E776E805C424}" dt="2026-08-03T11:00:09.449" v="18" actId="47"/>
        <pc:sldMkLst>
          <pc:docMk/>
          <pc:sldMk cId="2680171180" sldId="256"/>
        </pc:sldMkLst>
        <pc:picChg chg="del">
          <ac:chgData name="Lai, Wilson" userId="2840974a-0d84-4886-90a9-9a3ed79f3a48" providerId="ADAL" clId="{9F23B798-9E84-4552-BA63-E776E805C424}" dt="2026-08-03T11:00:07.072" v="17" actId="21"/>
          <ac:picMkLst>
            <pc:docMk/>
            <pc:sldMk cId="2680171180" sldId="256"/>
            <ac:picMk id="5" creationId="{9603A626-46B7-D778-B55E-CA6DF79CDD90}"/>
          </ac:picMkLst>
        </pc:picChg>
      </pc:sldChg>
      <pc:sldChg chg="addSp delSp modSp mod modAnim modNotesTx">
        <pc:chgData name="Lai, Wilson" userId="2840974a-0d84-4886-90a9-9a3ed79f3a48" providerId="ADAL" clId="{9F23B798-9E84-4552-BA63-E776E805C424}" dt="2026-08-03T13:39:38.819" v="99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03T10:54:23.268" v="12" actId="164"/>
          <ac:spMkLst>
            <pc:docMk/>
            <pc:sldMk cId="0" sldId="257"/>
            <ac:spMk id="5" creationId="{0B9E53F6-A3AF-E466-A369-FED4C899585E}"/>
          </ac:spMkLst>
        </pc:spChg>
        <pc:grpChg chg="add mod">
          <ac:chgData name="Lai, Wilson" userId="2840974a-0d84-4886-90a9-9a3ed79f3a48" providerId="ADAL" clId="{9F23B798-9E84-4552-BA63-E776E805C424}" dt="2026-08-03T10:54:23.268" v="12" actId="164"/>
          <ac:grpSpMkLst>
            <pc:docMk/>
            <pc:sldMk cId="0" sldId="257"/>
            <ac:grpSpMk id="6" creationId="{D99232DC-37E3-2564-4213-7B9DC3B17ABC}"/>
          </ac:grpSpMkLst>
        </pc:grpChg>
        <pc:picChg chg="del mod">
          <ac:chgData name="Lai, Wilson" userId="2840974a-0d84-4886-90a9-9a3ed79f3a48" providerId="ADAL" clId="{9F23B798-9E84-4552-BA63-E776E805C424}" dt="2026-08-03T12:55:47.076" v="19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03T10:54:23.268" v="12" actId="164"/>
          <ac:picMkLst>
            <pc:docMk/>
            <pc:sldMk cId="0" sldId="257"/>
            <ac:picMk id="3" creationId="{FC0B63C3-9261-939F-3C54-C9B19F35836E}"/>
          </ac:picMkLst>
        </pc:picChg>
        <pc:picChg chg="add ord">
          <ac:chgData name="Lai, Wilson" userId="2840974a-0d84-4886-90a9-9a3ed79f3a48" providerId="ADAL" clId="{9F23B798-9E84-4552-BA63-E776E805C424}" dt="2026-08-03T13:39:38.819" v="99" actId="166"/>
          <ac:picMkLst>
            <pc:docMk/>
            <pc:sldMk cId="0" sldId="257"/>
            <ac:picMk id="7" creationId="{45517C65-58F6-DD82-9978-D6795C90EFD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19:12.806" v="68" actId="1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03T12:55:58.532" v="21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6:07.498" v="22" actId="22"/>
          <ac:picMkLst>
            <pc:docMk/>
            <pc:sldMk cId="0" sldId="258"/>
            <ac:picMk id="4" creationId="{ACA67DD6-3DB6-B51D-8CBB-E87B80243BD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19:30.488" v="70" actId="15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03T12:56:11.822" v="23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6:21.234" v="24" actId="22"/>
          <ac:picMkLst>
            <pc:docMk/>
            <pc:sldMk cId="0" sldId="259"/>
            <ac:picMk id="4" creationId="{13DD70A1-ADF5-FF2E-BB97-A3B2F0819B6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19:38.856" v="71" actId="1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03T12:56:23.922" v="25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6:32.322" v="26" actId="22"/>
          <ac:picMkLst>
            <pc:docMk/>
            <pc:sldMk cId="0" sldId="260"/>
            <ac:picMk id="4" creationId="{C32BE11B-42F7-0C99-6E73-C1BE63F5301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04.770" v="78" actId="1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03T12:56:39.675" v="27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6:47.230" v="28" actId="22"/>
          <ac:picMkLst>
            <pc:docMk/>
            <pc:sldMk cId="0" sldId="261"/>
            <ac:picMk id="4" creationId="{88010072-BE35-62F9-7B83-9464B36829A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13.332" v="79" actId="1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03T12:56:48.859" v="29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6:57.337" v="30" actId="22"/>
          <ac:picMkLst>
            <pc:docMk/>
            <pc:sldMk cId="0" sldId="262"/>
            <ac:picMk id="4" creationId="{A9ACE3FD-1CF4-9651-C866-D8CD929B9EE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26.045" v="81" actId="15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03T12:56:58.826" v="31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7:06.727" v="32" actId="22"/>
          <ac:picMkLst>
            <pc:docMk/>
            <pc:sldMk cId="0" sldId="263"/>
            <ac:picMk id="4" creationId="{21E9F5DE-5835-FDC9-8624-7BE6C134E53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34.865" v="82" actId="1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03T12:57:08.990" v="33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7:17.621" v="34" actId="22"/>
          <ac:picMkLst>
            <pc:docMk/>
            <pc:sldMk cId="0" sldId="264"/>
            <ac:picMk id="4" creationId="{561C9A04-2D39-9C38-BA87-5947B5B0908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44.502" v="83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03T12:57:19.716" v="35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7:29.328" v="36" actId="22"/>
          <ac:picMkLst>
            <pc:docMk/>
            <pc:sldMk cId="0" sldId="265"/>
            <ac:picMk id="4" creationId="{548D7267-54F8-9853-9816-B420610E279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0:58.694" v="85" actId="15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03T12:57:30.892" v="37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7:39.057" v="38" actId="22"/>
          <ac:picMkLst>
            <pc:docMk/>
            <pc:sldMk cId="0" sldId="266"/>
            <ac:picMk id="4" creationId="{CD4E4537-B852-9635-4F50-580BFF7295F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1:09.945" v="87" actId="15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03T12:57:41.584" v="39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7:51.361" v="40" actId="22"/>
          <ac:picMkLst>
            <pc:docMk/>
            <pc:sldMk cId="0" sldId="267"/>
            <ac:picMk id="4" creationId="{7ACC17B0-ACF7-F686-412F-24B6E16A044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1:26.637" v="89" actId="15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03T12:57:53.185" v="41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8:02.665" v="42" actId="22"/>
          <ac:picMkLst>
            <pc:docMk/>
            <pc:sldMk cId="0" sldId="268"/>
            <ac:picMk id="4" creationId="{7982C07C-A330-360B-EAED-1468CB09DE4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1:44.285" v="91" actId="15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03T12:58:05.289" v="43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8:14.092" v="44" actId="22"/>
          <ac:picMkLst>
            <pc:docMk/>
            <pc:sldMk cId="0" sldId="269"/>
            <ac:picMk id="4" creationId="{25F8CDC9-D972-E7E4-060F-957AA24FED6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1:59.367" v="94" actId="1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03T12:58:15.776" v="45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8:28.214" v="46" actId="22"/>
          <ac:picMkLst>
            <pc:docMk/>
            <pc:sldMk cId="0" sldId="270"/>
            <ac:picMk id="4" creationId="{BE9679BB-6DC3-7319-6E27-6493B44CA8A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3T13:22:16.768" v="96" actId="15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8-03T12:58:31.665" v="47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3T12:58:42.871" v="48" actId="22"/>
          <ac:picMkLst>
            <pc:docMk/>
            <pc:sldMk cId="0" sldId="271"/>
            <ac:picMk id="4" creationId="{CD24467F-D17A-98C9-3A66-15E65923E8F2}"/>
          </ac:picMkLst>
        </pc:picChg>
      </pc:sldChg>
      <pc:sldChg chg="addSp delSp new mod ord modNotesTx">
        <pc:chgData name="Lai, Wilson" userId="2840974a-0d84-4886-90a9-9a3ed79f3a48" providerId="ADAL" clId="{9F23B798-9E84-4552-BA63-E776E805C424}" dt="2026-08-03T13:22:28.792" v="98" actId="15"/>
        <pc:sldMkLst>
          <pc:docMk/>
          <pc:sldMk cId="534450385" sldId="272"/>
        </pc:sldMkLst>
        <pc:picChg chg="add del">
          <ac:chgData name="Lai, Wilson" userId="2840974a-0d84-4886-90a9-9a3ed79f3a48" providerId="ADAL" clId="{9F23B798-9E84-4552-BA63-E776E805C424}" dt="2026-08-03T12:58:45.696" v="49" actId="21"/>
          <ac:picMkLst>
            <pc:docMk/>
            <pc:sldMk cId="534450385" sldId="272"/>
            <ac:picMk id="3" creationId="{A688055B-8AFD-6D42-4197-B63C4A6AA87F}"/>
          </ac:picMkLst>
        </pc:picChg>
        <pc:picChg chg="add">
          <ac:chgData name="Lai, Wilson" userId="2840974a-0d84-4886-90a9-9a3ed79f3a48" providerId="ADAL" clId="{9F23B798-9E84-4552-BA63-E776E805C424}" dt="2026-08-03T12:59:10.472" v="50" actId="22"/>
          <ac:picMkLst>
            <pc:docMk/>
            <pc:sldMk cId="534450385" sldId="272"/>
            <ac:picMk id="4" creationId="{2CB52A99-A8B8-60FA-A910-B7C97EC6AE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37CE7-A4E3-4C12-81C1-A049A61474C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7277C-2C1E-477F-966E-2340BCF92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8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https://www.youtube.com/watch?v=yeoW-P5hf8U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Opening Hook:</a:t>
            </a:r>
            <a:r>
              <a:rPr lang="en-US" dirty="0"/>
              <a:t> Welcome everyone! Let’s start with a honest question: How many of you truly, sincerely want to achieve more success than you currently have right 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Core Question:</a:t>
            </a:r>
            <a:r>
              <a:rPr lang="en-US" dirty="0"/>
              <a:t> We all live in the exact same 24 hours a day, 7 days a week, 365 days a year. Yet, how do the world’s </a:t>
            </a:r>
            <a:r>
              <a:rPr lang="en-US" dirty="0" err="1"/>
              <a:t>superachievers</a:t>
            </a:r>
            <a:r>
              <a:rPr lang="en-US" dirty="0"/>
              <a:t>—the people who land on the cover of </a:t>
            </a:r>
            <a:r>
              <a:rPr lang="en-US" i="1" dirty="0"/>
              <a:t>SUCCESS Magazine</a:t>
            </a:r>
            <a:r>
              <a:rPr lang="en-US" dirty="0"/>
              <a:t>—manage to produce 10, 50, or 1,000 times more than the average person?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Today, I’m going to share the distilled productivity secrets gathered from interviewing and studying the greatest business minds of our era—like Warren Buffett, Steve Jobs, and Richard Branson.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63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Myth of Hard Work:</a:t>
            </a:r>
            <a:r>
              <a:rPr lang="en-US" dirty="0"/>
              <a:t> Most of us were raised to believe that the key to success is simply working harder and putting in longer hours. But brute force eventually hits a ceiling where you run out of hours and burn out.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4 Quadrants of Productivity: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Unengaged:</a:t>
            </a:r>
            <a:r>
              <a:rPr lang="en-US" dirty="0"/>
              <a:t> Low time/effort and low results.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Over-Motivated / Unfocused:</a:t>
            </a:r>
            <a:r>
              <a:rPr lang="en-US" dirty="0"/>
              <a:t> High effort consuming books and webinars, but zero execution and low results.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Overachiever (The Trap):</a:t>
            </a:r>
            <a:r>
              <a:rPr lang="en-US" dirty="0"/>
              <a:t> Massive time and energy, high output, but high burnout and capped potential.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 err="1"/>
              <a:t>Superachiever</a:t>
            </a:r>
            <a:r>
              <a:rPr lang="en-US" b="1" dirty="0"/>
              <a:t>:</a:t>
            </a:r>
            <a:r>
              <a:rPr lang="en-US" dirty="0"/>
              <a:t> High results with minimal wasted time/effort.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Takeaway:</a:t>
            </a:r>
            <a:r>
              <a:rPr lang="en-US" dirty="0"/>
              <a:t> Our goal today isn't to get you to work harder; it’s to transition you from an overwhelmed overachiever to a stunningly successful </a:t>
            </a:r>
            <a:r>
              <a:rPr lang="en-US" dirty="0" err="1"/>
              <a:t>superachiever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3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Visual Analogy:</a:t>
            </a:r>
            <a:r>
              <a:rPr lang="en-US" dirty="0"/>
              <a:t> Imagine someone walked up to the petty cash drawer in your office, pulled out $100 bills, and started lighting them on fire one after another. You’d tackle them out the front door! Yet that exact cash burn happens every day through unchecked distractions.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Staggering Cost: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Organizations lose </a:t>
            </a:r>
            <a:r>
              <a:rPr lang="en-US" b="1" dirty="0"/>
              <a:t>$10,000 per employee per year</a:t>
            </a:r>
            <a:r>
              <a:rPr lang="en-US" dirty="0"/>
              <a:t> due to distractions.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 a nation, over </a:t>
            </a:r>
            <a:r>
              <a:rPr lang="en-US" b="1" dirty="0"/>
              <a:t>$650 billion</a:t>
            </a:r>
            <a:r>
              <a:rPr lang="en-US" dirty="0"/>
              <a:t> in net productivity is lost annually.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#1 Skill of the 21st Century:</a:t>
            </a:r>
            <a:r>
              <a:rPr lang="en-US" dirty="0"/>
              <a:t> The single most imperative skill today is learning to control your attention and guard your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27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Exponential Curve:</a:t>
            </a:r>
            <a:r>
              <a:rPr lang="en-US" dirty="0"/>
              <a:t> Technology advances at an exponential rate, far faster than human capability to naturally manage itself.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Great Conundrum:</a:t>
            </a:r>
            <a:r>
              <a:rPr lang="en-US" dirty="0"/>
              <a:t> Devices, emails, texts, and notifications are open windows in your environment. Without conscious skill development in attention control, technology will leave traditional workers overwhelmed and obsolete.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Opportunity:</a:t>
            </a:r>
            <a:r>
              <a:rPr lang="en-US" dirty="0"/>
              <a:t> Because most people won't scale their focus skills to match technology, those who </a:t>
            </a:r>
            <a:r>
              <a:rPr lang="en-US" i="1" dirty="0"/>
              <a:t>do</a:t>
            </a:r>
            <a:r>
              <a:rPr lang="en-US" dirty="0"/>
              <a:t> master focus will find it easier to stand out and dominate their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0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Grid Analogy:</a:t>
            </a:r>
            <a:r>
              <a:rPr lang="en-US" dirty="0"/>
              <a:t> Walking into your office without a focus strategy feels like staring at a grid of hundreds of competing boxes—it gives you a headache and blurs your vision.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Formula: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Gray Out:</a:t>
            </a:r>
            <a:r>
              <a:rPr lang="en-US" dirty="0"/>
              <a:t> Remove/say no to 99% of line-item solicitations on your time.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Identify:</a:t>
            </a:r>
            <a:r>
              <a:rPr lang="en-US" dirty="0"/>
              <a:t> Isolate the 3 vital boxes/priorities on the grid that actually matter.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Master:</a:t>
            </a:r>
            <a:r>
              <a:rPr lang="en-US" dirty="0"/>
              <a:t> Deepen your skills and execution on those few priorities.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Summary:</a:t>
            </a:r>
            <a:r>
              <a:rPr lang="en-US" dirty="0"/>
              <a:t> This 3-step formula is the exact difference between high performers and </a:t>
            </a:r>
            <a:r>
              <a:rPr lang="en-US" dirty="0" err="1"/>
              <a:t>superachievers</a:t>
            </a:r>
            <a:r>
              <a:rPr lang="en-US" dirty="0"/>
              <a:t> like Steve Jobs or Warren Buffett.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17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Counter-Intuitive Truth:</a:t>
            </a:r>
            <a:r>
              <a:rPr lang="en-US" dirty="0"/>
              <a:t> </a:t>
            </a:r>
            <a:r>
              <a:rPr lang="en-US" dirty="0" err="1"/>
              <a:t>Superachievers</a:t>
            </a:r>
            <a:r>
              <a:rPr lang="en-US" dirty="0"/>
              <a:t> don't succeed because of what they </a:t>
            </a:r>
            <a:r>
              <a:rPr lang="en-US" i="1" dirty="0"/>
              <a:t>do</a:t>
            </a:r>
            <a:r>
              <a:rPr lang="en-US" dirty="0"/>
              <a:t>; they succeed because of what they </a:t>
            </a:r>
            <a:r>
              <a:rPr lang="en-US" b="1" dirty="0"/>
              <a:t>DON'T do</a:t>
            </a:r>
            <a:r>
              <a:rPr lang="en-US" dirty="0"/>
              <a:t>. Saying "yes" is easy and makes us feel busy, valued, and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Warren Buffett Secret:</a:t>
            </a:r>
            <a:r>
              <a:rPr lang="en-US" dirty="0"/>
              <a:t> Warren Buffett stated: </a:t>
            </a:r>
            <a:r>
              <a:rPr lang="en-US" i="1" dirty="0"/>
              <a:t>"For every 100 great opportunities brought to me, I say NO 99 times."</a:t>
            </a:r>
            <a:r>
              <a:rPr lang="en-US" dirty="0"/>
              <a:t> Very successful people say no to almost everything so they have time for what truly matters.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Steve Jobs Perspective:</a:t>
            </a:r>
            <a:r>
              <a:rPr lang="en-US" dirty="0"/>
              <a:t> Steve Jobs said he was as proud of what Apple </a:t>
            </a:r>
            <a:r>
              <a:rPr lang="en-US" i="1" dirty="0"/>
              <a:t>didn't</a:t>
            </a:r>
            <a:r>
              <a:rPr lang="en-US" dirty="0"/>
              <a:t> do as what they did, stating: </a:t>
            </a:r>
            <a:r>
              <a:rPr lang="en-US" i="1" dirty="0"/>
              <a:t>"Focusing is about saying NO to the hundred other good ideas."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Nike &amp; Steve Jobs Story:</a:t>
            </a:r>
            <a:r>
              <a:rPr lang="en-US" dirty="0"/>
              <a:t> When Mark Parker became CEO of Nike, Steve Jobs gave him one piece of advice: </a:t>
            </a:r>
            <a:r>
              <a:rPr lang="en-US" i="1" dirty="0"/>
              <a:t>"Nike makes some of the best products in the world, but you also make a lot of crap. Just get rid of the crappy stuff and focus on the good stuff."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Wisdom Quotes: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Kenneth Cole: </a:t>
            </a:r>
            <a:r>
              <a:rPr lang="en-US" i="1" dirty="0"/>
              <a:t>"Success has less to do with what we can get ourselves to do and more to do with keeping ourselves from doing what we shouldn't."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Peter Drucker: </a:t>
            </a:r>
            <a:r>
              <a:rPr lang="en-US" i="1" dirty="0"/>
              <a:t>"There is nothing so useless as doing efficiently that which should not be done at all."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Call to Action:</a:t>
            </a:r>
            <a:r>
              <a:rPr lang="en-US" dirty="0"/>
              <a:t> Look at your calendar from last week—what crappy or unnecessary tasks should you have said NO to?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4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World-Class Focus:</a:t>
            </a:r>
            <a:r>
              <a:rPr lang="en-US" dirty="0"/>
              <a:t> It is better to be world-class at a few things than mediocre at many. History remembers figures like Edison, Ford, or Carnegie because they were world-class in </a:t>
            </a:r>
            <a:r>
              <a:rPr lang="en-US" b="1" dirty="0"/>
              <a:t>one</a:t>
            </a:r>
            <a:r>
              <a:rPr lang="en-US" dirty="0"/>
              <a:t> domain, even if they were mediocre or bad at other life areas.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"Give-Up" List:</a:t>
            </a:r>
            <a:r>
              <a:rPr lang="en-US" dirty="0"/>
              <a:t> To be great at your vital few, you must relegate other activities to mediocrity or eliminate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Personal Example:</a:t>
            </a:r>
            <a:r>
              <a:rPr lang="en-US" dirty="0"/>
              <a:t> Eliminate low-yield distractions like news consumption, endless TV, or minor household tinkering to reallocate those hundreds of hours toward your core mastery.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38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Dr. Oz &amp; Heart Surgery:</a:t>
            </a:r>
            <a:r>
              <a:rPr lang="en-US" dirty="0"/>
              <a:t> Dr. Oz performs hundreds of heart surgeries, runs TV shows, and writes books because he only handles the </a:t>
            </a:r>
            <a:r>
              <a:rPr lang="en-US" i="1" dirty="0"/>
              <a:t>vital few functions</a:t>
            </a:r>
            <a:r>
              <a:rPr lang="en-US" dirty="0"/>
              <a:t> of surgery (the critical valve work) and delegates prep, cleanup, and routine tasks to a capable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Real Estate Stopwatch Experiment:</a:t>
            </a:r>
            <a:r>
              <a:rPr lang="en-US" dirty="0"/>
              <a:t> In real estate, out of 5,000 potential daily tasks, only 3 actually generate income: </a:t>
            </a:r>
            <a:r>
              <a:rPr lang="en-US" i="1" dirty="0"/>
              <a:t>pitching listings, negotiating contracts, and prospecting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Eye-Opening Result:</a:t>
            </a:r>
            <a:r>
              <a:rPr lang="en-US" dirty="0"/>
              <a:t> Tracking these 3 vital functions with a physical stopwatch during a 16-hour workday revealed only </a:t>
            </a:r>
            <a:r>
              <a:rPr lang="en-US" b="1" dirty="0"/>
              <a:t>19 minutes and 54 seconds</a:t>
            </a:r>
            <a:r>
              <a:rPr lang="en-US" dirty="0"/>
              <a:t> of true vital work! Increasing vital time to just 1–2 hours daily will exponentially increase output.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5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Know Your Math:</a:t>
            </a:r>
            <a:r>
              <a:rPr lang="en-US" dirty="0"/>
              <a:t> Income Goal ÷ 2,000 hours = Your Hourly Value.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$100k/yr = $50/hour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$250k/yr = $125/hour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$1M/yr = $500/hour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Value Test:</a:t>
            </a:r>
            <a:r>
              <a:rPr lang="en-US" dirty="0"/>
              <a:t> Ask yourself constantly: </a:t>
            </a:r>
            <a:r>
              <a:rPr lang="en-US" i="1" dirty="0"/>
              <a:t>"Would I pay someone else $125/hour to do what I am doing right now?"</a:t>
            </a:r>
            <a:r>
              <a:rPr lang="en-US" dirty="0"/>
              <a:t> If not, delegate or eliminate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Joel Osteen's "One Thing":</a:t>
            </a:r>
            <a:r>
              <a:rPr lang="en-US" dirty="0"/>
              <a:t> Osteen realized his single highest-value contribution was his 22-minute Sunday message. By focusing almost his entire week on reading, writing, and practicing those 22 minutes, his reach grew to 40 million people.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45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Lion Syndrome:</a:t>
            </a:r>
            <a:r>
              <a:rPr lang="en-US" dirty="0"/>
              <a:t> A lion tamer controls a 800 </a:t>
            </a:r>
            <a:r>
              <a:rPr lang="en-US" dirty="0" err="1"/>
              <a:t>lb</a:t>
            </a:r>
            <a:r>
              <a:rPr lang="en-US" dirty="0"/>
              <a:t> lion using a four-legged stool. The lion tries to focus on all four legs at once, gets overwhelmed by competing focal points, and turns docile. Too many priorities create mental paralysis.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Branson's 3 Priorities:</a:t>
            </a:r>
            <a:r>
              <a:rPr lang="en-US" dirty="0"/>
              <a:t> Richard Branson turned down $500,000 for a 1-hour speech because he was locked into 3 strategic priorities, and paid speaking was not one of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Buffett’s 25/5 Priority Rule: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Write down top priorities.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Circle the top 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15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Addiction to Distraction:</a:t>
            </a:r>
            <a:r>
              <a:rPr lang="en-US" dirty="0"/>
              <a:t> We crave novel distraction because it provides relief from hard work and fulfills our desire to feel wanted (likes, emails, texts).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Shocking Math: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Average worker is interrupted every </a:t>
            </a:r>
            <a:r>
              <a:rPr lang="en-US" b="1" dirty="0"/>
              <a:t>3 minutes</a:t>
            </a:r>
            <a:r>
              <a:rPr lang="en-US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takes </a:t>
            </a:r>
            <a:r>
              <a:rPr lang="en-US" b="1" dirty="0"/>
              <a:t>11 minutes</a:t>
            </a:r>
            <a:r>
              <a:rPr lang="en-US" dirty="0"/>
              <a:t> to regain deep cognitive focus.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REM Productivity:</a:t>
            </a:r>
            <a:r>
              <a:rPr lang="en-US" dirty="0"/>
              <a:t> Just like sleep quality depends on uninterrupted REM cycles, work output depends on uninterrupted deep focus.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Multitasking Fallacy:</a:t>
            </a:r>
            <a:r>
              <a:rPr lang="en-US" dirty="0"/>
              <a:t> Cognitive switching drops your IQ by 10 points—twice as much as being under the influence of marijuana (5 points)!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1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28-Minute CEO Statistic:</a:t>
            </a:r>
            <a:r>
              <a:rPr lang="en-US" dirty="0"/>
              <a:t> Fortune 500 CEOs average only 28 minutes of genuine uninterrupted focus per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90-Minute Jam Session: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Set a 90-minute countdown timer.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Build a "bubble of silence" (turn off notifications, close door).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Work exclusively on </a:t>
            </a:r>
            <a:r>
              <a:rPr lang="en-US" b="1" dirty="0"/>
              <a:t>one single task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Intermittent Recovery:</a:t>
            </a:r>
            <a:r>
              <a:rPr lang="en-US" dirty="0"/>
              <a:t> Elite athletes train hard, but they win gold medals because they master recovery. You must view rest as an active requirement for high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47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Massive Transformation Formula: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Big 3 Goals:</a:t>
            </a:r>
            <a:r>
              <a:rPr lang="en-US" dirty="0"/>
              <a:t> Narrow your yearly ambitions down to the 3 goals that would make this your best year ever.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Key Behaviors:</a:t>
            </a:r>
            <a:r>
              <a:rPr lang="en-US" dirty="0"/>
              <a:t> Identify the 2–3 recurring actions required for each goal.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1" dirty="0"/>
              <a:t>Daily Tracking:</a:t>
            </a:r>
            <a:r>
              <a:rPr lang="en-US" dirty="0"/>
              <a:t> Track execution daily.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Dashboard:</a:t>
            </a:r>
            <a:r>
              <a:rPr lang="en-US" dirty="0"/>
              <a:t> Use a simple single-page tracking register. Check off whether you completed key behaviors each day to know immediately if you are on track or off track.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58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Thermostat Set Point:</a:t>
            </a:r>
            <a:r>
              <a:rPr lang="en-US" dirty="0"/>
              <a:t> Everyone has an internal personal development set point. If lottery winners or businesses achieve results beyond their set point without growing internally, they inevitably revert back.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Jim Rohn Wisdom:</a:t>
            </a:r>
            <a:r>
              <a:rPr lang="en-US" dirty="0"/>
              <a:t> </a:t>
            </a:r>
            <a:r>
              <a:rPr lang="en-US" i="1" dirty="0"/>
              <a:t>"For things to change, you have to change. For things to get better, you have to get better."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1-1-5-3-1 Personal Growth Plan: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Focus on </a:t>
            </a:r>
            <a:r>
              <a:rPr lang="en-US" b="1" dirty="0"/>
              <a:t>1</a:t>
            </a:r>
            <a:r>
              <a:rPr lang="en-US" dirty="0"/>
              <a:t> primary goal &amp; </a:t>
            </a:r>
            <a:r>
              <a:rPr lang="en-US" b="1" dirty="0"/>
              <a:t>1</a:t>
            </a:r>
            <a:r>
              <a:rPr lang="en-US" dirty="0"/>
              <a:t> key skill per quarter.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Read </a:t>
            </a:r>
            <a:r>
              <a:rPr lang="en-US" b="1" dirty="0"/>
              <a:t>5</a:t>
            </a:r>
            <a:r>
              <a:rPr lang="en-US" dirty="0"/>
              <a:t> top books, listen to </a:t>
            </a:r>
            <a:r>
              <a:rPr lang="en-US" b="1" dirty="0"/>
              <a:t>3</a:t>
            </a:r>
            <a:r>
              <a:rPr lang="en-US" dirty="0"/>
              <a:t> audio programs, and attend </a:t>
            </a:r>
            <a:r>
              <a:rPr lang="en-US" b="1" dirty="0"/>
              <a:t>1</a:t>
            </a:r>
            <a:r>
              <a:rPr lang="en-US" dirty="0"/>
              <a:t> seminar on that skill.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Invest 10% of your income back into your personal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79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Pendulum Analogy:</a:t>
            </a:r>
            <a:r>
              <a:rPr lang="en-US" dirty="0"/>
              <a:t> Life is a pendulum. On one side is failure, rejection, and sadness; on the other is success, joy, and victory. You cannot pull the pendulum to the success side without pushing it equally high on the failure side.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Outfail</a:t>
            </a:r>
            <a:r>
              <a:rPr lang="en-US" b="1" dirty="0"/>
              <a:t> Everyone:</a:t>
            </a:r>
            <a:r>
              <a:rPr lang="en-US" dirty="0"/>
              <a:t> The key to fast-tracking success is accelerating your failure rate. Turn the pursuit of rejection into a game.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Final Summary Checklist: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Stop doing 99% of unproductive tasks.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Master your vital few functions, priorities, and metrics.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Outfocus</a:t>
            </a:r>
            <a:r>
              <a:rPr lang="en-US" dirty="0"/>
              <a:t>, outlast, outgrow, and </a:t>
            </a:r>
            <a:r>
              <a:rPr lang="en-US" dirty="0" err="1"/>
              <a:t>outfail</a:t>
            </a:r>
            <a:r>
              <a:rPr lang="en-US" dirty="0"/>
              <a:t> the competition.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C7277C-2C1E-477F-966E-2340BCF922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4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B61D8-F0DD-CD4F-7075-286D6492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35FBB-FCE8-4B04-AB75-2E246B51347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629CC2-BAF8-27F4-6DCE-12876CFD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72F62-8C9F-36EC-8BEE-2FC993FD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0A05B-5CDD-435B-ADF1-B94F8CB7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0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1E38B-8449-E9AD-7474-4C5041E89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66A7C-AEAC-3A05-619B-88055560C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70E06-4648-8EC0-BF7F-E582F5A34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35FBB-FCE8-4B04-AB75-2E246B51347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3D0AB-F076-22DD-7ADC-4599AD17A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F83D-EAFF-09F1-78F4-278CAA06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0A05B-5CDD-435B-ADF1-B94F8CB7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8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17C65-58F6-DD82-9978-D6795C90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67DD6-3DB6-B51D-8CBB-E87B80243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DD70A1-ADF5-FF2E-BB97-A3B2F081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2BE11B-42F7-0C99-6E73-C1BE63F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010072-BE35-62F9-7B83-9464B368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ACE3FD-1CF4-9651-C866-D8CD929B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9F5DE-5835-FDC9-8624-7BE6C134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1C9A04-2D39-9C38-BA87-5947B5B0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8D7267-54F8-9853-9816-B420610E2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4E4537-B852-9635-4F50-580BFF72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CC17B0-ACF7-F686-412F-24B6E16A0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82C07C-A330-360B-EAED-1468CB09D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F8CDC9-D972-E7E4-060F-957AA24FE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9679BB-6DC3-7319-6E27-6493B44CA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24467F-D17A-98C9-3A66-15E65923E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B52A99-A8B8-60FA-A910-B7C97EC6A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5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1764</Words>
  <Application>Microsoft Office PowerPoint</Application>
  <PresentationFormat>寬螢幕</PresentationFormat>
  <Paragraphs>96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2026-08-03T10:11:14Z</dcterms:created>
  <dcterms:modified xsi:type="dcterms:W3CDTF">2026-10-19T15:42:25Z</dcterms:modified>
</cp:coreProperties>
</file>