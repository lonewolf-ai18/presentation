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56ED94-3AB8-478A-9545-68F0C9965672}" v="17" dt="2026-08-06T00:50:30.4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6" autoAdjust="0"/>
    <p:restoredTop sz="93447" autoAdjust="0"/>
  </p:normalViewPr>
  <p:slideViewPr>
    <p:cSldViewPr snapToGrid="0">
      <p:cViewPr varScale="1">
        <p:scale>
          <a:sx n="74" d="100"/>
          <a:sy n="74" d="100"/>
        </p:scale>
        <p:origin x="78"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sldOrd">
      <pc:chgData name="Lai, Wilson" userId="2840974a-0d84-4886-90a9-9a3ed79f3a48" providerId="ADAL" clId="{9F23B798-9E84-4552-BA63-E776E805C424}" dt="2026-08-06T00:51:04.417" v="54" actId="166"/>
      <pc:docMkLst>
        <pc:docMk/>
      </pc:docMkLst>
      <pc:sldChg chg="addSp delSp modSp mod modAnim modNotesTx">
        <pc:chgData name="Lai, Wilson" userId="2840974a-0d84-4886-90a9-9a3ed79f3a48" providerId="ADAL" clId="{9F23B798-9E84-4552-BA63-E776E805C424}" dt="2026-08-06T00:51:04.417" v="54" actId="166"/>
        <pc:sldMkLst>
          <pc:docMk/>
          <pc:sldMk cId="0" sldId="257"/>
        </pc:sldMkLst>
        <pc:spChg chg="add mod">
          <ac:chgData name="Lai, Wilson" userId="2840974a-0d84-4886-90a9-9a3ed79f3a48" providerId="ADAL" clId="{9F23B798-9E84-4552-BA63-E776E805C424}" dt="2026-08-05T14:52:26.402" v="15" actId="164"/>
          <ac:spMkLst>
            <pc:docMk/>
            <pc:sldMk cId="0" sldId="257"/>
            <ac:spMk id="5" creationId="{47A4108D-9C8F-1D07-AC12-7603F25DFF00}"/>
          </ac:spMkLst>
        </pc:spChg>
        <pc:grpChg chg="add mod">
          <ac:chgData name="Lai, Wilson" userId="2840974a-0d84-4886-90a9-9a3ed79f3a48" providerId="ADAL" clId="{9F23B798-9E84-4552-BA63-E776E805C424}" dt="2026-08-05T14:52:26.402" v="15" actId="164"/>
          <ac:grpSpMkLst>
            <pc:docMk/>
            <pc:sldMk cId="0" sldId="257"/>
            <ac:grpSpMk id="6" creationId="{3DFA53C4-24F8-AE16-F44B-D78FE0980277}"/>
          </ac:grpSpMkLst>
        </pc:grpChg>
        <pc:picChg chg="del">
          <ac:chgData name="Lai, Wilson" userId="2840974a-0d84-4886-90a9-9a3ed79f3a48" providerId="ADAL" clId="{9F23B798-9E84-4552-BA63-E776E805C424}" dt="2026-08-05T14:53:03.321" v="16" actId="21"/>
          <ac:picMkLst>
            <pc:docMk/>
            <pc:sldMk cId="0" sldId="257"/>
            <ac:picMk id="2" creationId="{00000000-0000-0000-0000-000000000000}"/>
          </ac:picMkLst>
        </pc:picChg>
        <pc:picChg chg="add mod">
          <ac:chgData name="Lai, Wilson" userId="2840974a-0d84-4886-90a9-9a3ed79f3a48" providerId="ADAL" clId="{9F23B798-9E84-4552-BA63-E776E805C424}" dt="2026-08-05T14:52:26.402" v="15" actId="164"/>
          <ac:picMkLst>
            <pc:docMk/>
            <pc:sldMk cId="0" sldId="257"/>
            <ac:picMk id="3" creationId="{B3C88539-EBC5-7FC0-CDF6-DD8987452D3C}"/>
          </ac:picMkLst>
        </pc:picChg>
        <pc:picChg chg="add ord">
          <ac:chgData name="Lai, Wilson" userId="2840974a-0d84-4886-90a9-9a3ed79f3a48" providerId="ADAL" clId="{9F23B798-9E84-4552-BA63-E776E805C424}" dt="2026-08-06T00:51:04.417" v="54" actId="166"/>
          <ac:picMkLst>
            <pc:docMk/>
            <pc:sldMk cId="0" sldId="257"/>
            <ac:picMk id="7" creationId="{C0389351-A20B-6A10-16AD-C7F7167A779D}"/>
          </ac:picMkLst>
        </pc:picChg>
      </pc:sldChg>
      <pc:sldChg chg="addSp delSp mod">
        <pc:chgData name="Lai, Wilson" userId="2840974a-0d84-4886-90a9-9a3ed79f3a48" providerId="ADAL" clId="{9F23B798-9E84-4552-BA63-E776E805C424}" dt="2026-08-05T14:54:23.716" v="20" actId="22"/>
        <pc:sldMkLst>
          <pc:docMk/>
          <pc:sldMk cId="0" sldId="258"/>
        </pc:sldMkLst>
        <pc:picChg chg="del">
          <ac:chgData name="Lai, Wilson" userId="2840974a-0d84-4886-90a9-9a3ed79f3a48" providerId="ADAL" clId="{9F23B798-9E84-4552-BA63-E776E805C424}" dt="2026-08-05T14:54:07.647" v="19" actId="21"/>
          <ac:picMkLst>
            <pc:docMk/>
            <pc:sldMk cId="0" sldId="258"/>
            <ac:picMk id="2" creationId="{00000000-0000-0000-0000-000000000000}"/>
          </ac:picMkLst>
        </pc:picChg>
        <pc:picChg chg="add">
          <ac:chgData name="Lai, Wilson" userId="2840974a-0d84-4886-90a9-9a3ed79f3a48" providerId="ADAL" clId="{9F23B798-9E84-4552-BA63-E776E805C424}" dt="2026-08-05T14:54:23.716" v="20" actId="22"/>
          <ac:picMkLst>
            <pc:docMk/>
            <pc:sldMk cId="0" sldId="258"/>
            <ac:picMk id="4" creationId="{D10E4A73-DDA4-73C2-B6F4-D293E7A04FCF}"/>
          </ac:picMkLst>
        </pc:picChg>
      </pc:sldChg>
      <pc:sldChg chg="addSp delSp mod">
        <pc:chgData name="Lai, Wilson" userId="2840974a-0d84-4886-90a9-9a3ed79f3a48" providerId="ADAL" clId="{9F23B798-9E84-4552-BA63-E776E805C424}" dt="2026-08-05T14:54:44.866" v="22" actId="22"/>
        <pc:sldMkLst>
          <pc:docMk/>
          <pc:sldMk cId="0" sldId="259"/>
        </pc:sldMkLst>
        <pc:picChg chg="del">
          <ac:chgData name="Lai, Wilson" userId="2840974a-0d84-4886-90a9-9a3ed79f3a48" providerId="ADAL" clId="{9F23B798-9E84-4552-BA63-E776E805C424}" dt="2026-08-05T14:54:25.982" v="21" actId="21"/>
          <ac:picMkLst>
            <pc:docMk/>
            <pc:sldMk cId="0" sldId="259"/>
            <ac:picMk id="2" creationId="{00000000-0000-0000-0000-000000000000}"/>
          </ac:picMkLst>
        </pc:picChg>
        <pc:picChg chg="add">
          <ac:chgData name="Lai, Wilson" userId="2840974a-0d84-4886-90a9-9a3ed79f3a48" providerId="ADAL" clId="{9F23B798-9E84-4552-BA63-E776E805C424}" dt="2026-08-05T14:54:44.866" v="22" actId="22"/>
          <ac:picMkLst>
            <pc:docMk/>
            <pc:sldMk cId="0" sldId="259"/>
            <ac:picMk id="4" creationId="{781D6300-0F15-A547-BC82-A77CE4F27D4A}"/>
          </ac:picMkLst>
        </pc:picChg>
      </pc:sldChg>
      <pc:sldChg chg="addSp delSp mod">
        <pc:chgData name="Lai, Wilson" userId="2840974a-0d84-4886-90a9-9a3ed79f3a48" providerId="ADAL" clId="{9F23B798-9E84-4552-BA63-E776E805C424}" dt="2026-08-05T14:55:13.779" v="24" actId="22"/>
        <pc:sldMkLst>
          <pc:docMk/>
          <pc:sldMk cId="0" sldId="260"/>
        </pc:sldMkLst>
        <pc:picChg chg="del">
          <ac:chgData name="Lai, Wilson" userId="2840974a-0d84-4886-90a9-9a3ed79f3a48" providerId="ADAL" clId="{9F23B798-9E84-4552-BA63-E776E805C424}" dt="2026-08-05T14:54:47.073" v="23" actId="21"/>
          <ac:picMkLst>
            <pc:docMk/>
            <pc:sldMk cId="0" sldId="260"/>
            <ac:picMk id="2" creationId="{00000000-0000-0000-0000-000000000000}"/>
          </ac:picMkLst>
        </pc:picChg>
        <pc:picChg chg="add">
          <ac:chgData name="Lai, Wilson" userId="2840974a-0d84-4886-90a9-9a3ed79f3a48" providerId="ADAL" clId="{9F23B798-9E84-4552-BA63-E776E805C424}" dt="2026-08-05T14:55:13.779" v="24" actId="22"/>
          <ac:picMkLst>
            <pc:docMk/>
            <pc:sldMk cId="0" sldId="260"/>
            <ac:picMk id="4" creationId="{619D5B6E-726C-9A7F-A388-2CFAB8C27DFA}"/>
          </ac:picMkLst>
        </pc:picChg>
      </pc:sldChg>
      <pc:sldChg chg="addSp delSp mod ord">
        <pc:chgData name="Lai, Wilson" userId="2840974a-0d84-4886-90a9-9a3ed79f3a48" providerId="ADAL" clId="{9F23B798-9E84-4552-BA63-E776E805C424}" dt="2026-08-06T00:49:04.356" v="46"/>
        <pc:sldMkLst>
          <pc:docMk/>
          <pc:sldMk cId="0" sldId="261"/>
        </pc:sldMkLst>
        <pc:picChg chg="del">
          <ac:chgData name="Lai, Wilson" userId="2840974a-0d84-4886-90a9-9a3ed79f3a48" providerId="ADAL" clId="{9F23B798-9E84-4552-BA63-E776E805C424}" dt="2026-08-05T14:55:16.719" v="25" actId="21"/>
          <ac:picMkLst>
            <pc:docMk/>
            <pc:sldMk cId="0" sldId="261"/>
            <ac:picMk id="2" creationId="{00000000-0000-0000-0000-000000000000}"/>
          </ac:picMkLst>
        </pc:picChg>
        <pc:picChg chg="add">
          <ac:chgData name="Lai, Wilson" userId="2840974a-0d84-4886-90a9-9a3ed79f3a48" providerId="ADAL" clId="{9F23B798-9E84-4552-BA63-E776E805C424}" dt="2026-08-05T14:55:31.669" v="26" actId="22"/>
          <ac:picMkLst>
            <pc:docMk/>
            <pc:sldMk cId="0" sldId="261"/>
            <ac:picMk id="4" creationId="{5CBDDFA6-4199-7427-4C43-AEA1B4CB2B25}"/>
          </ac:picMkLst>
        </pc:picChg>
      </pc:sldChg>
      <pc:sldChg chg="addSp delSp mod">
        <pc:chgData name="Lai, Wilson" userId="2840974a-0d84-4886-90a9-9a3ed79f3a48" providerId="ADAL" clId="{9F23B798-9E84-4552-BA63-E776E805C424}" dt="2026-08-05T14:56:00.991" v="28" actId="22"/>
        <pc:sldMkLst>
          <pc:docMk/>
          <pc:sldMk cId="0" sldId="262"/>
        </pc:sldMkLst>
        <pc:picChg chg="del">
          <ac:chgData name="Lai, Wilson" userId="2840974a-0d84-4886-90a9-9a3ed79f3a48" providerId="ADAL" clId="{9F23B798-9E84-4552-BA63-E776E805C424}" dt="2026-08-05T14:55:36.696" v="27" actId="21"/>
          <ac:picMkLst>
            <pc:docMk/>
            <pc:sldMk cId="0" sldId="262"/>
            <ac:picMk id="2" creationId="{00000000-0000-0000-0000-000000000000}"/>
          </ac:picMkLst>
        </pc:picChg>
        <pc:picChg chg="add">
          <ac:chgData name="Lai, Wilson" userId="2840974a-0d84-4886-90a9-9a3ed79f3a48" providerId="ADAL" clId="{9F23B798-9E84-4552-BA63-E776E805C424}" dt="2026-08-05T14:56:00.991" v="28" actId="22"/>
          <ac:picMkLst>
            <pc:docMk/>
            <pc:sldMk cId="0" sldId="262"/>
            <ac:picMk id="4" creationId="{BBA8D43C-31E6-C5EF-8406-66E3B5481AEF}"/>
          </ac:picMkLst>
        </pc:picChg>
      </pc:sldChg>
      <pc:sldChg chg="addSp delSp mod modNotesTx">
        <pc:chgData name="Lai, Wilson" userId="2840974a-0d84-4886-90a9-9a3ed79f3a48" providerId="ADAL" clId="{9F23B798-9E84-4552-BA63-E776E805C424}" dt="2026-08-06T00:49:22.153" v="47" actId="12"/>
        <pc:sldMkLst>
          <pc:docMk/>
          <pc:sldMk cId="0" sldId="263"/>
        </pc:sldMkLst>
        <pc:picChg chg="del">
          <ac:chgData name="Lai, Wilson" userId="2840974a-0d84-4886-90a9-9a3ed79f3a48" providerId="ADAL" clId="{9F23B798-9E84-4552-BA63-E776E805C424}" dt="2026-08-05T14:56:03.414" v="29" actId="21"/>
          <ac:picMkLst>
            <pc:docMk/>
            <pc:sldMk cId="0" sldId="263"/>
            <ac:picMk id="2" creationId="{00000000-0000-0000-0000-000000000000}"/>
          </ac:picMkLst>
        </pc:picChg>
        <pc:picChg chg="add">
          <ac:chgData name="Lai, Wilson" userId="2840974a-0d84-4886-90a9-9a3ed79f3a48" providerId="ADAL" clId="{9F23B798-9E84-4552-BA63-E776E805C424}" dt="2026-08-05T14:56:34.502" v="30" actId="22"/>
          <ac:picMkLst>
            <pc:docMk/>
            <pc:sldMk cId="0" sldId="263"/>
            <ac:picMk id="4" creationId="{F48217D5-755E-4D10-1226-05E85E6793A9}"/>
          </ac:picMkLst>
        </pc:picChg>
      </pc:sldChg>
      <pc:sldChg chg="addSp delSp modSp mod">
        <pc:chgData name="Lai, Wilson" userId="2840974a-0d84-4886-90a9-9a3ed79f3a48" providerId="ADAL" clId="{9F23B798-9E84-4552-BA63-E776E805C424}" dt="2026-08-06T00:49:32.162" v="50" actId="22"/>
        <pc:sldMkLst>
          <pc:docMk/>
          <pc:sldMk cId="0" sldId="264"/>
        </pc:sldMkLst>
        <pc:spChg chg="add del">
          <ac:chgData name="Lai, Wilson" userId="2840974a-0d84-4886-90a9-9a3ed79f3a48" providerId="ADAL" clId="{9F23B798-9E84-4552-BA63-E776E805C424}" dt="2026-08-06T00:49:32.162" v="50" actId="22"/>
          <ac:spMkLst>
            <pc:docMk/>
            <pc:sldMk cId="0" sldId="264"/>
            <ac:spMk id="3" creationId="{ED7B76BE-332A-F5CB-1FC4-0AF613274927}"/>
          </ac:spMkLst>
        </pc:spChg>
        <pc:picChg chg="del">
          <ac:chgData name="Lai, Wilson" userId="2840974a-0d84-4886-90a9-9a3ed79f3a48" providerId="ADAL" clId="{9F23B798-9E84-4552-BA63-E776E805C424}" dt="2026-08-05T14:56:37.532" v="31" actId="21"/>
          <ac:picMkLst>
            <pc:docMk/>
            <pc:sldMk cId="0" sldId="264"/>
            <ac:picMk id="2" creationId="{00000000-0000-0000-0000-000000000000}"/>
          </ac:picMkLst>
        </pc:picChg>
        <pc:picChg chg="add">
          <ac:chgData name="Lai, Wilson" userId="2840974a-0d84-4886-90a9-9a3ed79f3a48" providerId="ADAL" clId="{9F23B798-9E84-4552-BA63-E776E805C424}" dt="2026-08-05T14:56:55.851" v="32" actId="22"/>
          <ac:picMkLst>
            <pc:docMk/>
            <pc:sldMk cId="0" sldId="264"/>
            <ac:picMk id="4" creationId="{76F764E8-40B2-FBBF-EAB0-F1E9D85EE3F2}"/>
          </ac:picMkLst>
        </pc:picChg>
      </pc:sldChg>
      <pc:sldChg chg="addSp delSp mod">
        <pc:chgData name="Lai, Wilson" userId="2840974a-0d84-4886-90a9-9a3ed79f3a48" providerId="ADAL" clId="{9F23B798-9E84-4552-BA63-E776E805C424}" dt="2026-08-05T14:57:48.866" v="34" actId="22"/>
        <pc:sldMkLst>
          <pc:docMk/>
          <pc:sldMk cId="0" sldId="265"/>
        </pc:sldMkLst>
        <pc:picChg chg="del">
          <ac:chgData name="Lai, Wilson" userId="2840974a-0d84-4886-90a9-9a3ed79f3a48" providerId="ADAL" clId="{9F23B798-9E84-4552-BA63-E776E805C424}" dt="2026-08-05T14:56:58.816" v="33" actId="21"/>
          <ac:picMkLst>
            <pc:docMk/>
            <pc:sldMk cId="0" sldId="265"/>
            <ac:picMk id="2" creationId="{00000000-0000-0000-0000-000000000000}"/>
          </ac:picMkLst>
        </pc:picChg>
        <pc:picChg chg="add">
          <ac:chgData name="Lai, Wilson" userId="2840974a-0d84-4886-90a9-9a3ed79f3a48" providerId="ADAL" clId="{9F23B798-9E84-4552-BA63-E776E805C424}" dt="2026-08-05T14:57:48.866" v="34" actId="22"/>
          <ac:picMkLst>
            <pc:docMk/>
            <pc:sldMk cId="0" sldId="265"/>
            <ac:picMk id="4" creationId="{AFCF1CF7-08F8-69D6-0E5B-DE87E246DDAA}"/>
          </ac:picMkLst>
        </pc:picChg>
      </pc:sldChg>
      <pc:sldChg chg="addSp delSp mod">
        <pc:chgData name="Lai, Wilson" userId="2840974a-0d84-4886-90a9-9a3ed79f3a48" providerId="ADAL" clId="{9F23B798-9E84-4552-BA63-E776E805C424}" dt="2026-08-05T14:58:16.948" v="36" actId="22"/>
        <pc:sldMkLst>
          <pc:docMk/>
          <pc:sldMk cId="0" sldId="266"/>
        </pc:sldMkLst>
        <pc:picChg chg="del">
          <ac:chgData name="Lai, Wilson" userId="2840974a-0d84-4886-90a9-9a3ed79f3a48" providerId="ADAL" clId="{9F23B798-9E84-4552-BA63-E776E805C424}" dt="2026-08-05T14:57:52.165" v="35" actId="21"/>
          <ac:picMkLst>
            <pc:docMk/>
            <pc:sldMk cId="0" sldId="266"/>
            <ac:picMk id="2" creationId="{00000000-0000-0000-0000-000000000000}"/>
          </ac:picMkLst>
        </pc:picChg>
        <pc:picChg chg="add">
          <ac:chgData name="Lai, Wilson" userId="2840974a-0d84-4886-90a9-9a3ed79f3a48" providerId="ADAL" clId="{9F23B798-9E84-4552-BA63-E776E805C424}" dt="2026-08-05T14:58:16.948" v="36" actId="22"/>
          <ac:picMkLst>
            <pc:docMk/>
            <pc:sldMk cId="0" sldId="266"/>
            <ac:picMk id="4" creationId="{D43A6D51-AC37-8B15-8894-098811BD1FB7}"/>
          </ac:picMkLst>
        </pc:picChg>
      </pc:sldChg>
      <pc:sldChg chg="addSp delSp mod">
        <pc:chgData name="Lai, Wilson" userId="2840974a-0d84-4886-90a9-9a3ed79f3a48" providerId="ADAL" clId="{9F23B798-9E84-4552-BA63-E776E805C424}" dt="2026-08-05T14:59:17.516" v="38" actId="22"/>
        <pc:sldMkLst>
          <pc:docMk/>
          <pc:sldMk cId="0" sldId="267"/>
        </pc:sldMkLst>
        <pc:picChg chg="del">
          <ac:chgData name="Lai, Wilson" userId="2840974a-0d84-4886-90a9-9a3ed79f3a48" providerId="ADAL" clId="{9F23B798-9E84-4552-BA63-E776E805C424}" dt="2026-08-05T14:58:19.795" v="37" actId="21"/>
          <ac:picMkLst>
            <pc:docMk/>
            <pc:sldMk cId="0" sldId="267"/>
            <ac:picMk id="2" creationId="{00000000-0000-0000-0000-000000000000}"/>
          </ac:picMkLst>
        </pc:picChg>
        <pc:picChg chg="add">
          <ac:chgData name="Lai, Wilson" userId="2840974a-0d84-4886-90a9-9a3ed79f3a48" providerId="ADAL" clId="{9F23B798-9E84-4552-BA63-E776E805C424}" dt="2026-08-05T14:59:17.516" v="38" actId="22"/>
          <ac:picMkLst>
            <pc:docMk/>
            <pc:sldMk cId="0" sldId="267"/>
            <ac:picMk id="4" creationId="{22A37BFC-65F2-82B8-ED1E-628F01BED9E1}"/>
          </ac:picMkLst>
        </pc:picChg>
      </pc:sldChg>
      <pc:sldChg chg="addSp delSp mod">
        <pc:chgData name="Lai, Wilson" userId="2840974a-0d84-4886-90a9-9a3ed79f3a48" providerId="ADAL" clId="{9F23B798-9E84-4552-BA63-E776E805C424}" dt="2026-08-05T15:00:39.907" v="40" actId="22"/>
        <pc:sldMkLst>
          <pc:docMk/>
          <pc:sldMk cId="0" sldId="268"/>
        </pc:sldMkLst>
        <pc:picChg chg="del">
          <ac:chgData name="Lai, Wilson" userId="2840974a-0d84-4886-90a9-9a3ed79f3a48" providerId="ADAL" clId="{9F23B798-9E84-4552-BA63-E776E805C424}" dt="2026-08-05T14:59:20.900" v="39" actId="21"/>
          <ac:picMkLst>
            <pc:docMk/>
            <pc:sldMk cId="0" sldId="268"/>
            <ac:picMk id="2" creationId="{00000000-0000-0000-0000-000000000000}"/>
          </ac:picMkLst>
        </pc:picChg>
        <pc:picChg chg="add">
          <ac:chgData name="Lai, Wilson" userId="2840974a-0d84-4886-90a9-9a3ed79f3a48" providerId="ADAL" clId="{9F23B798-9E84-4552-BA63-E776E805C424}" dt="2026-08-05T15:00:39.907" v="40" actId="22"/>
          <ac:picMkLst>
            <pc:docMk/>
            <pc:sldMk cId="0" sldId="268"/>
            <ac:picMk id="4" creationId="{C80CB638-3FDC-4F4A-499F-1B42AF9DA425}"/>
          </ac:picMkLst>
        </pc:picChg>
      </pc:sldChg>
      <pc:sldChg chg="addSp delSp mod modNotesTx">
        <pc:chgData name="Lai, Wilson" userId="2840974a-0d84-4886-90a9-9a3ed79f3a48" providerId="ADAL" clId="{9F23B798-9E84-4552-BA63-E776E805C424}" dt="2026-08-06T00:50:15.996" v="51" actId="12"/>
        <pc:sldMkLst>
          <pc:docMk/>
          <pc:sldMk cId="0" sldId="269"/>
        </pc:sldMkLst>
        <pc:picChg chg="del">
          <ac:chgData name="Lai, Wilson" userId="2840974a-0d84-4886-90a9-9a3ed79f3a48" providerId="ADAL" clId="{9F23B798-9E84-4552-BA63-E776E805C424}" dt="2026-08-05T15:00:44.267" v="41" actId="21"/>
          <ac:picMkLst>
            <pc:docMk/>
            <pc:sldMk cId="0" sldId="269"/>
            <ac:picMk id="2" creationId="{00000000-0000-0000-0000-000000000000}"/>
          </ac:picMkLst>
        </pc:picChg>
        <pc:picChg chg="add">
          <ac:chgData name="Lai, Wilson" userId="2840974a-0d84-4886-90a9-9a3ed79f3a48" providerId="ADAL" clId="{9F23B798-9E84-4552-BA63-E776E805C424}" dt="2026-08-05T15:00:55.530" v="42" actId="22"/>
          <ac:picMkLst>
            <pc:docMk/>
            <pc:sldMk cId="0" sldId="269"/>
            <ac:picMk id="4" creationId="{24DEEDC1-7F12-F760-5C5C-EB7BDAFC400E}"/>
          </ac:picMkLst>
        </pc:picChg>
      </pc:sldChg>
      <pc:sldChg chg="modNotesTx">
        <pc:chgData name="Lai, Wilson" userId="2840974a-0d84-4886-90a9-9a3ed79f3a48" providerId="ADAL" clId="{9F23B798-9E84-4552-BA63-E776E805C424}" dt="2026-08-06T00:50:35.337" v="52" actId="12"/>
        <pc:sldMkLst>
          <pc:docMk/>
          <pc:sldMk cId="3556133487" sldId="2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F2153E-3A8F-47E2-893D-4B1D34A1B93C}"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BEBB3F-6E05-4A04-85D0-641AA9C9FFFB}" type="slidenum">
              <a:rPr lang="en-US" smtClean="0"/>
              <a:t>‹#›</a:t>
            </a:fld>
            <a:endParaRPr lang="en-US"/>
          </a:p>
        </p:txBody>
      </p:sp>
    </p:spTree>
    <p:extLst>
      <p:ext uri="{BB962C8B-B14F-4D97-AF65-F5344CB8AC3E}">
        <p14:creationId xmlns:p14="http://schemas.microsoft.com/office/powerpoint/2010/main" val="4220752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 are exploring "The AI Economic Blueprint," grounded in 30 years of research by Stanford economist Erik Brynjolfsson. </a:t>
            </a:r>
          </a:p>
          <a:p>
            <a:r>
              <a:rPr lang="en-US" sz="1200" kern="1200" dirty="0">
                <a:solidFill>
                  <a:schemeClr val="tx1"/>
                </a:solidFill>
                <a:effectLst/>
                <a:latin typeface="+mn-lt"/>
                <a:ea typeface="+mn-ea"/>
                <a:cs typeface="+mn-cs"/>
              </a:rPr>
              <a:t>Over the next 10 years, AI will not just increment productivity; it will completely redefine the structure of the global economy. </a:t>
            </a:r>
          </a:p>
          <a:p>
            <a:r>
              <a:rPr lang="en-US" sz="1200" kern="1200" dirty="0">
                <a:solidFill>
                  <a:schemeClr val="tx1"/>
                </a:solidFill>
                <a:effectLst/>
                <a:latin typeface="+mn-lt"/>
                <a:ea typeface="+mn-ea"/>
                <a:cs typeface="+mn-cs"/>
              </a:rPr>
              <a:t>As we navigate this shift, we face a dual narrative: if managed correctly, this could be the most prosperous decade in human history; if mismanaged, it poses severe risks of inequality and labor disruption. </a:t>
            </a:r>
          </a:p>
          <a:p>
            <a:r>
              <a:rPr lang="en-US" sz="1200" kern="1200" dirty="0">
                <a:solidFill>
                  <a:schemeClr val="tx1"/>
                </a:solidFill>
                <a:effectLst/>
                <a:latin typeface="+mn-lt"/>
                <a:ea typeface="+mn-ea"/>
                <a:cs typeface="+mn-cs"/>
              </a:rPr>
              <a:t>Today's presentation outlines where value is moving, which jobs are shifting, and how organizations and individuals must adapt. </a:t>
            </a:r>
          </a:p>
          <a:p>
            <a:endParaRPr lang="en-US" dirty="0"/>
          </a:p>
          <a:p>
            <a:r>
              <a:rPr lang="en-US" dirty="0"/>
              <a:t>https://youtube.com/watch?v=72duHF7iZiU</a:t>
            </a:r>
          </a:p>
        </p:txBody>
      </p:sp>
      <p:sp>
        <p:nvSpPr>
          <p:cNvPr id="4" name="Slide Number Placeholder 3"/>
          <p:cNvSpPr>
            <a:spLocks noGrp="1"/>
          </p:cNvSpPr>
          <p:nvPr>
            <p:ph type="sldNum" sz="quarter" idx="5"/>
          </p:nvPr>
        </p:nvSpPr>
        <p:spPr/>
        <p:txBody>
          <a:bodyPr/>
          <a:lstStyle/>
          <a:p>
            <a:fld id="{56BEBB3F-6E05-4A04-85D0-641AA9C9FFFB}" type="slidenum">
              <a:rPr lang="en-US" smtClean="0"/>
              <a:t>1</a:t>
            </a:fld>
            <a:endParaRPr lang="en-US"/>
          </a:p>
        </p:txBody>
      </p:sp>
    </p:spTree>
    <p:extLst>
      <p:ext uri="{BB962C8B-B14F-4D97-AF65-F5344CB8AC3E}">
        <p14:creationId xmlns:p14="http://schemas.microsoft.com/office/powerpoint/2010/main" val="3591898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AI's macroeconomic impact, we must compare it to the First Industrial Revolution starting around 1800. </a:t>
            </a:r>
          </a:p>
          <a:p>
            <a:r>
              <a:rPr lang="en-US" sz="1200" b="1" kern="1200" dirty="0">
                <a:solidFill>
                  <a:schemeClr val="tx1"/>
                </a:solidFill>
                <a:effectLst/>
                <a:latin typeface="+mn-lt"/>
                <a:ea typeface="+mn-ea"/>
                <a:cs typeface="+mn-cs"/>
              </a:rPr>
              <a:t>The First Machine Age:</a:t>
            </a:r>
            <a:r>
              <a:rPr lang="en-US" sz="1200" kern="1200" dirty="0">
                <a:solidFill>
                  <a:schemeClr val="tx1"/>
                </a:solidFill>
                <a:effectLst/>
                <a:latin typeface="+mn-lt"/>
                <a:ea typeface="+mn-ea"/>
                <a:cs typeface="+mn-cs"/>
              </a:rPr>
              <a:t> Overcame physical human limitations by augmenting muscle power through steam engines and mechanical force. It broke thousands of years of economic stagnation, making modern humans 30 to 50 times wealthier than our ancestors. </a:t>
            </a:r>
          </a:p>
          <a:p>
            <a:r>
              <a:rPr lang="en-US" sz="1200" b="1" kern="1200" dirty="0">
                <a:solidFill>
                  <a:schemeClr val="tx1"/>
                </a:solidFill>
                <a:effectLst/>
                <a:latin typeface="+mn-lt"/>
                <a:ea typeface="+mn-ea"/>
                <a:cs typeface="+mn-cs"/>
              </a:rPr>
              <a:t>The Second Machine Age:</a:t>
            </a:r>
            <a:r>
              <a:rPr lang="en-US" sz="1200" kern="1200" dirty="0">
                <a:solidFill>
                  <a:schemeClr val="tx1"/>
                </a:solidFill>
                <a:effectLst/>
                <a:latin typeface="+mn-lt"/>
                <a:ea typeface="+mn-ea"/>
                <a:cs typeface="+mn-cs"/>
              </a:rPr>
              <a:t> Solves cognitive limitations by augmenting mind power. </a:t>
            </a:r>
          </a:p>
          <a:p>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Unlike past automation that primarily affected manual labor, AI targets knowledge work—which represents the vast majority of GDP in advanced economies. This makes its speed and wealth-creation potential faster and larger than the First Industrial Revolution.</a:t>
            </a:r>
          </a:p>
          <a:p>
            <a:endParaRPr lang="en-US" dirty="0"/>
          </a:p>
        </p:txBody>
      </p:sp>
      <p:sp>
        <p:nvSpPr>
          <p:cNvPr id="4" name="Slide Number Placeholder 3"/>
          <p:cNvSpPr>
            <a:spLocks noGrp="1"/>
          </p:cNvSpPr>
          <p:nvPr>
            <p:ph type="sldNum" sz="quarter" idx="5"/>
          </p:nvPr>
        </p:nvSpPr>
        <p:spPr/>
        <p:txBody>
          <a:bodyPr/>
          <a:lstStyle/>
          <a:p>
            <a:fld id="{56BEBB3F-6E05-4A04-85D0-641AA9C9FFFB}" type="slidenum">
              <a:rPr lang="en-US" smtClean="0"/>
              <a:t>2</a:t>
            </a:fld>
            <a:endParaRPr lang="en-US"/>
          </a:p>
        </p:txBody>
      </p:sp>
    </p:spTree>
    <p:extLst>
      <p:ext uri="{BB962C8B-B14F-4D97-AF65-F5344CB8AC3E}">
        <p14:creationId xmlns:p14="http://schemas.microsoft.com/office/powerpoint/2010/main" val="16073520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 common misconception is that AI replaces entire occupations overnight. In reality, jobs are bundles of distinct tasks. </a:t>
            </a:r>
          </a:p>
          <a:p>
            <a:r>
              <a:rPr lang="en-US" sz="1200" kern="1200" dirty="0">
                <a:solidFill>
                  <a:schemeClr val="tx1"/>
                </a:solidFill>
                <a:effectLst/>
                <a:latin typeface="+mn-lt"/>
                <a:ea typeface="+mn-ea"/>
                <a:cs typeface="+mn-cs"/>
              </a:rPr>
              <a:t>Take radiologists as the classic example: back in 2017, experts predicted AI would completely eliminate radiologists. </a:t>
            </a:r>
          </a:p>
          <a:p>
            <a:r>
              <a:rPr lang="en-US" sz="1200" kern="1200" dirty="0">
                <a:solidFill>
                  <a:schemeClr val="tx1"/>
                </a:solidFill>
                <a:effectLst/>
                <a:latin typeface="+mn-lt"/>
                <a:ea typeface="+mn-ea"/>
                <a:cs typeface="+mn-cs"/>
              </a:rPr>
              <a:t>However, reading medical images is only </a:t>
            </a:r>
            <a:r>
              <a:rPr lang="en-US" sz="1200" i="1" kern="1200" dirty="0">
                <a:solidFill>
                  <a:schemeClr val="tx1"/>
                </a:solidFill>
                <a:effectLst/>
                <a:latin typeface="+mn-lt"/>
                <a:ea typeface="+mn-ea"/>
                <a:cs typeface="+mn-cs"/>
              </a:rPr>
              <a:t>one</a:t>
            </a:r>
            <a:r>
              <a:rPr lang="en-US" sz="1200" kern="1200" dirty="0">
                <a:solidFill>
                  <a:schemeClr val="tx1"/>
                </a:solidFill>
                <a:effectLst/>
                <a:latin typeface="+mn-lt"/>
                <a:ea typeface="+mn-ea"/>
                <a:cs typeface="+mn-cs"/>
              </a:rPr>
              <a:t> of roughly 26 tasks a radiologist performs. They also conduct physical exams, review complex lab data, and coordinate care across multidisciplinary teams. </a:t>
            </a:r>
          </a:p>
          <a:p>
            <a:r>
              <a:rPr lang="en-US" sz="1200" kern="1200" dirty="0">
                <a:solidFill>
                  <a:schemeClr val="tx1"/>
                </a:solidFill>
                <a:effectLst/>
                <a:latin typeface="+mn-lt"/>
                <a:ea typeface="+mn-ea"/>
                <a:cs typeface="+mn-cs"/>
              </a:rPr>
              <a:t>While deep learning heavily automates image reading, LLMs cannot execute physical or complex coordination tasks. </a:t>
            </a:r>
          </a:p>
          <a:p>
            <a:r>
              <a:rPr lang="en-US" sz="1200" b="1" kern="1200" dirty="0">
                <a:solidFill>
                  <a:schemeClr val="tx1"/>
                </a:solidFill>
                <a:effectLst/>
                <a:latin typeface="+mn-lt"/>
                <a:ea typeface="+mn-ea"/>
                <a:cs typeface="+mn-cs"/>
              </a:rPr>
              <a:t>Core Insight:</a:t>
            </a:r>
            <a:r>
              <a:rPr lang="en-US" sz="1200" kern="1200" dirty="0">
                <a:solidFill>
                  <a:schemeClr val="tx1"/>
                </a:solidFill>
                <a:effectLst/>
                <a:latin typeface="+mn-lt"/>
                <a:ea typeface="+mn-ea"/>
                <a:cs typeface="+mn-cs"/>
              </a:rPr>
              <a:t> There is almost no job in the economy where AI automates 100% of tasks. AI automates routine, structured execution, leaving complex reasoning, judgment, and physical presence to humans</a:t>
            </a:r>
          </a:p>
          <a:p>
            <a:endParaRPr lang="en-US" dirty="0"/>
          </a:p>
        </p:txBody>
      </p:sp>
      <p:sp>
        <p:nvSpPr>
          <p:cNvPr id="4" name="Slide Number Placeholder 3"/>
          <p:cNvSpPr>
            <a:spLocks noGrp="1"/>
          </p:cNvSpPr>
          <p:nvPr>
            <p:ph type="sldNum" sz="quarter" idx="5"/>
          </p:nvPr>
        </p:nvSpPr>
        <p:spPr/>
        <p:txBody>
          <a:bodyPr/>
          <a:lstStyle/>
          <a:p>
            <a:fld id="{56BEBB3F-6E05-4A04-85D0-641AA9C9FFFB}" type="slidenum">
              <a:rPr lang="en-US" smtClean="0"/>
              <a:t>3</a:t>
            </a:fld>
            <a:endParaRPr lang="en-US"/>
          </a:p>
        </p:txBody>
      </p:sp>
    </p:spTree>
    <p:extLst>
      <p:ext uri="{BB962C8B-B14F-4D97-AF65-F5344CB8AC3E}">
        <p14:creationId xmlns:p14="http://schemas.microsoft.com/office/powerpoint/2010/main" val="34269291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AI automates a task, do we need fewer people? Counterintuitively, the answer is often no due to price elasticity. </a:t>
            </a:r>
          </a:p>
          <a:p>
            <a:r>
              <a:rPr lang="en-US" sz="1200" b="1" kern="1200" dirty="0">
                <a:solidFill>
                  <a:schemeClr val="tx1"/>
                </a:solidFill>
                <a:effectLst/>
                <a:latin typeface="+mn-lt"/>
                <a:ea typeface="+mn-ea"/>
                <a:cs typeface="+mn-cs"/>
              </a:rPr>
              <a:t>The Paradox &amp; Elastic Response:</a:t>
            </a:r>
            <a:r>
              <a:rPr lang="en-US" sz="1200" kern="1200" dirty="0">
                <a:solidFill>
                  <a:schemeClr val="tx1"/>
                </a:solidFill>
                <a:effectLst/>
                <a:latin typeface="+mn-lt"/>
                <a:ea typeface="+mn-ea"/>
                <a:cs typeface="+mn-cs"/>
              </a:rPr>
              <a:t> When AI dramatically lowers the cost of a task (like medical imaging), the market price drops. Because demand for healthcare is elastic, a drop in price unlocks massive pent-up demand. </a:t>
            </a:r>
          </a:p>
          <a:p>
            <a:r>
              <a:rPr lang="en-US" sz="1200" kern="1200" dirty="0">
                <a:solidFill>
                  <a:schemeClr val="tx1"/>
                </a:solidFill>
                <a:effectLst/>
                <a:latin typeface="+mn-lt"/>
                <a:ea typeface="+mn-ea"/>
                <a:cs typeface="+mn-cs"/>
              </a:rPr>
              <a:t>If an MRI drops from $2,000 to $200, patient volume explodes. </a:t>
            </a:r>
          </a:p>
          <a:p>
            <a:r>
              <a:rPr lang="en-US" sz="1200" b="1" kern="1200" dirty="0">
                <a:solidFill>
                  <a:schemeClr val="tx1"/>
                </a:solidFill>
                <a:effectLst/>
                <a:latin typeface="+mn-lt"/>
                <a:ea typeface="+mn-ea"/>
                <a:cs typeface="+mn-cs"/>
              </a:rPr>
              <a:t>The Result:</a:t>
            </a:r>
            <a:r>
              <a:rPr lang="en-US" sz="1200" kern="1200" dirty="0">
                <a:solidFill>
                  <a:schemeClr val="tx1"/>
                </a:solidFill>
                <a:effectLst/>
                <a:latin typeface="+mn-lt"/>
                <a:ea typeface="+mn-ea"/>
                <a:cs typeface="+mn-cs"/>
              </a:rPr>
              <a:t> Total spending in that sector actually </a:t>
            </a:r>
            <a:r>
              <a:rPr lang="en-US" sz="1200" i="1" kern="1200" dirty="0">
                <a:solidFill>
                  <a:schemeClr val="tx1"/>
                </a:solidFill>
                <a:effectLst/>
                <a:latin typeface="+mn-lt"/>
                <a:ea typeface="+mn-ea"/>
                <a:cs typeface="+mn-cs"/>
              </a:rPr>
              <a:t>grows</a:t>
            </a:r>
            <a:r>
              <a:rPr lang="en-US" sz="1200" kern="1200" dirty="0">
                <a:solidFill>
                  <a:schemeClr val="tx1"/>
                </a:solidFill>
                <a:effectLst/>
                <a:latin typeface="+mn-lt"/>
                <a:ea typeface="+mn-ea"/>
                <a:cs typeface="+mn-cs"/>
              </a:rPr>
              <a:t>. We end up with more scans, four times as many cures, and a need to hire </a:t>
            </a:r>
            <a:r>
              <a:rPr lang="en-US" sz="1200" i="1" kern="1200" dirty="0">
                <a:solidFill>
                  <a:schemeClr val="tx1"/>
                </a:solidFill>
                <a:effectLst/>
                <a:latin typeface="+mn-lt"/>
                <a:ea typeface="+mn-ea"/>
                <a:cs typeface="+mn-cs"/>
              </a:rPr>
              <a:t>more</a:t>
            </a:r>
            <a:r>
              <a:rPr lang="en-US" sz="1200" kern="1200" dirty="0">
                <a:solidFill>
                  <a:schemeClr val="tx1"/>
                </a:solidFill>
                <a:effectLst/>
                <a:latin typeface="+mn-lt"/>
                <a:ea typeface="+mn-ea"/>
                <a:cs typeface="+mn-cs"/>
              </a:rPr>
              <a:t> radiologists to interpret and manage the massive influx of volume. </a:t>
            </a:r>
          </a:p>
          <a:p>
            <a:endParaRPr lang="en-US" dirty="0"/>
          </a:p>
        </p:txBody>
      </p:sp>
      <p:sp>
        <p:nvSpPr>
          <p:cNvPr id="4" name="Slide Number Placeholder 3"/>
          <p:cNvSpPr>
            <a:spLocks noGrp="1"/>
          </p:cNvSpPr>
          <p:nvPr>
            <p:ph type="sldNum" sz="quarter" idx="5"/>
          </p:nvPr>
        </p:nvSpPr>
        <p:spPr/>
        <p:txBody>
          <a:bodyPr/>
          <a:lstStyle/>
          <a:p>
            <a:fld id="{56BEBB3F-6E05-4A04-85D0-641AA9C9FFFB}" type="slidenum">
              <a:rPr lang="en-US" smtClean="0"/>
              <a:t>4</a:t>
            </a:fld>
            <a:endParaRPr lang="en-US"/>
          </a:p>
        </p:txBody>
      </p:sp>
    </p:spTree>
    <p:extLst>
      <p:ext uri="{BB962C8B-B14F-4D97-AF65-F5344CB8AC3E}">
        <p14:creationId xmlns:p14="http://schemas.microsoft.com/office/powerpoint/2010/main" val="16006419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Recent research ("Canaries in the Coal Mine") reveals where the labor market is feeling the immediate impact. </a:t>
            </a:r>
          </a:p>
          <a:p>
            <a:r>
              <a:rPr lang="en-US" sz="1200" b="1" kern="1200" dirty="0">
                <a:solidFill>
                  <a:schemeClr val="tx1"/>
                </a:solidFill>
                <a:effectLst/>
                <a:latin typeface="+mn-lt"/>
                <a:ea typeface="+mn-ea"/>
                <a:cs typeface="+mn-cs"/>
              </a:rPr>
              <a:t>The Danger Zone:</a:t>
            </a:r>
            <a:r>
              <a:rPr lang="en-US" sz="1200" kern="1200" dirty="0">
                <a:solidFill>
                  <a:schemeClr val="tx1"/>
                </a:solidFill>
                <a:effectLst/>
                <a:latin typeface="+mn-lt"/>
                <a:ea typeface="+mn-ea"/>
                <a:cs typeface="+mn-cs"/>
              </a:rPr>
              <a:t> Entry-level employment for workers under 25 in highly exposed, routine execution fields has seen a </a:t>
            </a:r>
            <a:r>
              <a:rPr lang="en-US" sz="1200" b="1" kern="1200" dirty="0">
                <a:solidFill>
                  <a:schemeClr val="tx1"/>
                </a:solidFill>
                <a:effectLst/>
                <a:latin typeface="+mn-lt"/>
                <a:ea typeface="+mn-ea"/>
                <a:cs typeface="+mn-cs"/>
              </a:rPr>
              <a:t>16% drop</a:t>
            </a:r>
            <a:r>
              <a:rPr lang="en-US" sz="1200" kern="1200" dirty="0">
                <a:solidFill>
                  <a:schemeClr val="tx1"/>
                </a:solidFill>
                <a:effectLst/>
                <a:latin typeface="+mn-lt"/>
                <a:ea typeface="+mn-ea"/>
                <a:cs typeface="+mn-cs"/>
              </a:rPr>
              <a:t>. Roles like junior software engineers, mid-level marketing coordinators, paralegals, and call-center workers are facing double-digit declines. </a:t>
            </a:r>
          </a:p>
          <a:p>
            <a:r>
              <a:rPr lang="en-US" sz="1200" b="1" kern="1200" dirty="0">
                <a:solidFill>
                  <a:schemeClr val="tx1"/>
                </a:solidFill>
                <a:effectLst/>
                <a:latin typeface="+mn-lt"/>
                <a:ea typeface="+mn-ea"/>
                <a:cs typeface="+mn-cs"/>
              </a:rPr>
              <a:t>The Growth Zone:</a:t>
            </a:r>
            <a:r>
              <a:rPr lang="en-US" sz="1200" kern="1200" dirty="0">
                <a:solidFill>
                  <a:schemeClr val="tx1"/>
                </a:solidFill>
                <a:effectLst/>
                <a:latin typeface="+mn-lt"/>
                <a:ea typeface="+mn-ea"/>
                <a:cs typeface="+mn-cs"/>
              </a:rPr>
              <a:t> Conversely, roles requiring high physical presence, human empathy, or high-level strategic coordination (home health aides, senior executives, skilled physical trades) are experiencing job growth. </a:t>
            </a:r>
          </a:p>
          <a:p>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Disruption isn't a future forecast—it's actively happening right now at the entry-level tier of routine knowledge work.</a:t>
            </a:r>
          </a:p>
          <a:p>
            <a:endParaRPr lang="en-US" dirty="0"/>
          </a:p>
        </p:txBody>
      </p:sp>
      <p:sp>
        <p:nvSpPr>
          <p:cNvPr id="4" name="Slide Number Placeholder 3"/>
          <p:cNvSpPr>
            <a:spLocks noGrp="1"/>
          </p:cNvSpPr>
          <p:nvPr>
            <p:ph type="sldNum" sz="quarter" idx="5"/>
          </p:nvPr>
        </p:nvSpPr>
        <p:spPr/>
        <p:txBody>
          <a:bodyPr/>
          <a:lstStyle/>
          <a:p>
            <a:fld id="{56BEBB3F-6E05-4A04-85D0-641AA9C9FFFB}" type="slidenum">
              <a:rPr lang="en-US" smtClean="0"/>
              <a:t>5</a:t>
            </a:fld>
            <a:endParaRPr lang="en-US"/>
          </a:p>
        </p:txBody>
      </p:sp>
    </p:spTree>
    <p:extLst>
      <p:ext uri="{BB962C8B-B14F-4D97-AF65-F5344CB8AC3E}">
        <p14:creationId xmlns:p14="http://schemas.microsoft.com/office/powerpoint/2010/main" val="5382343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Old Model:</a:t>
            </a:r>
            <a:r>
              <a:rPr lang="en-US" sz="1200" kern="1200" dirty="0">
                <a:solidFill>
                  <a:schemeClr val="tx1"/>
                </a:solidFill>
                <a:effectLst/>
                <a:latin typeface="+mn-lt"/>
                <a:ea typeface="+mn-ea"/>
                <a:cs typeface="+mn-cs"/>
              </a:rPr>
              <a:t> Organizations operated as pyramids—hiring a wide base of junior employees who did routine work while learning the industry, with the best ascending to middle and senior management. </a:t>
            </a:r>
          </a:p>
          <a:p>
            <a:r>
              <a:rPr lang="en-US" sz="1200" b="1" kern="1200" dirty="0">
                <a:solidFill>
                  <a:schemeClr val="tx1"/>
                </a:solidFill>
                <a:effectLst/>
                <a:latin typeface="+mn-lt"/>
                <a:ea typeface="+mn-ea"/>
                <a:cs typeface="+mn-cs"/>
              </a:rPr>
              <a:t>The AI Shock:</a:t>
            </a:r>
            <a:r>
              <a:rPr lang="en-US" sz="1200" kern="1200" dirty="0">
                <a:solidFill>
                  <a:schemeClr val="tx1"/>
                </a:solidFill>
                <a:effectLst/>
                <a:latin typeface="+mn-lt"/>
                <a:ea typeface="+mn-ea"/>
                <a:cs typeface="+mn-cs"/>
              </a:rPr>
              <a:t> Companies are cutting costs by outsourcing routine execution directly to AI agents. </a:t>
            </a:r>
          </a:p>
          <a:p>
            <a:r>
              <a:rPr lang="en-US" sz="1200" b="1" kern="1200" dirty="0">
                <a:solidFill>
                  <a:schemeClr val="tx1"/>
                </a:solidFill>
                <a:effectLst/>
                <a:latin typeface="+mn-lt"/>
                <a:ea typeface="+mn-ea"/>
                <a:cs typeface="+mn-cs"/>
              </a:rPr>
              <a:t>The Pipeline Crisis:</a:t>
            </a:r>
            <a:r>
              <a:rPr lang="en-US" sz="1200" kern="1200" dirty="0">
                <a:solidFill>
                  <a:schemeClr val="tx1"/>
                </a:solidFill>
                <a:effectLst/>
                <a:latin typeface="+mn-lt"/>
                <a:ea typeface="+mn-ea"/>
                <a:cs typeface="+mn-cs"/>
              </a:rPr>
              <a:t> This creates a severe structural problem: if you eliminate junior roles, where do future senior managers get the domain experience and human taste required to lead? </a:t>
            </a:r>
          </a:p>
          <a:p>
            <a:r>
              <a:rPr lang="en-US" sz="1200" b="1" kern="1200" dirty="0">
                <a:solidFill>
                  <a:schemeClr val="tx1"/>
                </a:solidFill>
                <a:effectLst/>
                <a:latin typeface="+mn-lt"/>
                <a:ea typeface="+mn-ea"/>
                <a:cs typeface="+mn-cs"/>
              </a:rPr>
              <a:t>The Solution (Infosys Model):</a:t>
            </a:r>
            <a:r>
              <a:rPr lang="en-US" sz="1200" kern="1200" dirty="0">
                <a:solidFill>
                  <a:schemeClr val="tx1"/>
                </a:solidFill>
                <a:effectLst/>
                <a:latin typeface="+mn-lt"/>
                <a:ea typeface="+mn-ea"/>
                <a:cs typeface="+mn-cs"/>
              </a:rPr>
              <a:t> Forward-thinking companies like Infosys are not stopping junior hiring. Instead, they reassign junior workers on day one to manage big-picture projects and supervise AI agents rather than performing manual repetitive tasks. </a:t>
            </a:r>
          </a:p>
          <a:p>
            <a:endParaRPr lang="en-US" dirty="0"/>
          </a:p>
        </p:txBody>
      </p:sp>
      <p:sp>
        <p:nvSpPr>
          <p:cNvPr id="4" name="Slide Number Placeholder 3"/>
          <p:cNvSpPr>
            <a:spLocks noGrp="1"/>
          </p:cNvSpPr>
          <p:nvPr>
            <p:ph type="sldNum" sz="quarter" idx="5"/>
          </p:nvPr>
        </p:nvSpPr>
        <p:spPr/>
        <p:txBody>
          <a:bodyPr/>
          <a:lstStyle/>
          <a:p>
            <a:fld id="{56BEBB3F-6E05-4A04-85D0-641AA9C9FFFB}" type="slidenum">
              <a:rPr lang="en-US" smtClean="0"/>
              <a:t>6</a:t>
            </a:fld>
            <a:endParaRPr lang="en-US"/>
          </a:p>
        </p:txBody>
      </p:sp>
    </p:spTree>
    <p:extLst>
      <p:ext uri="{BB962C8B-B14F-4D97-AF65-F5344CB8AC3E}">
        <p14:creationId xmlns:p14="http://schemas.microsoft.com/office/powerpoint/2010/main" val="40118450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Modern work is shifting from "doing execution" to a three-step management workflow: </a:t>
            </a:r>
          </a:p>
          <a:p>
            <a:pPr marL="228600" indent="-228600">
              <a:buFont typeface="+mj-lt"/>
              <a:buAutoNum type="arabicPeriod"/>
            </a:pPr>
            <a:r>
              <a:rPr lang="en-US" sz="1200" b="1" kern="1200" dirty="0">
                <a:solidFill>
                  <a:schemeClr val="tx1"/>
                </a:solidFill>
                <a:effectLst/>
                <a:latin typeface="+mn-lt"/>
                <a:ea typeface="+mn-ea"/>
                <a:cs typeface="+mn-cs"/>
              </a:rPr>
              <a:t>Step 1: Define the Question (Human):</a:t>
            </a:r>
            <a:r>
              <a:rPr lang="en-US" sz="1200" kern="1200" dirty="0">
                <a:solidFill>
                  <a:schemeClr val="tx1"/>
                </a:solidFill>
                <a:effectLst/>
                <a:latin typeface="+mn-lt"/>
                <a:ea typeface="+mn-ea"/>
                <a:cs typeface="+mn-cs"/>
              </a:rPr>
              <a:t> Frame the problem, provide context, and set goals. This requires deep domain context and strategic thinking. </a:t>
            </a:r>
          </a:p>
          <a:p>
            <a:pPr marL="228600" indent="-228600">
              <a:buFont typeface="+mj-lt"/>
              <a:buAutoNum type="arabicPeriod"/>
            </a:pPr>
            <a:r>
              <a:rPr lang="en-US" sz="1200" b="1" kern="1200" dirty="0">
                <a:solidFill>
                  <a:schemeClr val="tx1"/>
                </a:solidFill>
                <a:effectLst/>
                <a:latin typeface="+mn-lt"/>
                <a:ea typeface="+mn-ea"/>
                <a:cs typeface="+mn-cs"/>
              </a:rPr>
              <a:t>Step 2: Execute the Work (AI Fleet):</a:t>
            </a:r>
            <a:r>
              <a:rPr lang="en-US" sz="1200" kern="1200" dirty="0">
                <a:solidFill>
                  <a:schemeClr val="tx1"/>
                </a:solidFill>
                <a:effectLst/>
                <a:latin typeface="+mn-lt"/>
                <a:ea typeface="+mn-ea"/>
                <a:cs typeface="+mn-cs"/>
              </a:rPr>
              <a:t> Deploy specialized AI tools (Cursor, Claude, </a:t>
            </a:r>
            <a:r>
              <a:rPr lang="en-US" sz="1200" kern="1200" dirty="0" err="1">
                <a:solidFill>
                  <a:schemeClr val="tx1"/>
                </a:solidFill>
                <a:effectLst/>
                <a:latin typeface="+mn-lt"/>
                <a:ea typeface="+mn-ea"/>
                <a:cs typeface="+mn-cs"/>
              </a:rPr>
              <a:t>Replit</a:t>
            </a:r>
            <a:r>
              <a:rPr lang="en-US" sz="1200" kern="1200" dirty="0">
                <a:solidFill>
                  <a:schemeClr val="tx1"/>
                </a:solidFill>
                <a:effectLst/>
                <a:latin typeface="+mn-lt"/>
                <a:ea typeface="+mn-ea"/>
                <a:cs typeface="+mn-cs"/>
              </a:rPr>
              <a:t>) to generate code, draft reports, or synthesize data at superhuman speed. </a:t>
            </a:r>
          </a:p>
          <a:p>
            <a:pPr marL="228600" indent="-228600">
              <a:buFont typeface="+mj-lt"/>
              <a:buAutoNum type="arabicPeriod"/>
            </a:pPr>
            <a:r>
              <a:rPr lang="en-US" sz="1200" b="1" kern="1200" dirty="0">
                <a:solidFill>
                  <a:schemeClr val="tx1"/>
                </a:solidFill>
                <a:effectLst/>
                <a:latin typeface="+mn-lt"/>
                <a:ea typeface="+mn-ea"/>
                <a:cs typeface="+mn-cs"/>
              </a:rPr>
              <a:t>Step 3: Evaluate the Output (Human):</a:t>
            </a:r>
            <a:r>
              <a:rPr lang="en-US" sz="1200" kern="1200" dirty="0">
                <a:solidFill>
                  <a:schemeClr val="tx1"/>
                </a:solidFill>
                <a:effectLst/>
                <a:latin typeface="+mn-lt"/>
                <a:ea typeface="+mn-ea"/>
                <a:cs typeface="+mn-cs"/>
              </a:rPr>
              <a:t> Audit for hallucinations, apply taste, and refine. As anyone who uses AI knows, "what you literally asked for often isn't what you actually meant". </a:t>
            </a:r>
          </a:p>
          <a:p>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The highest-paid professional skill of the decade is bridging domain expertise with the ability to orchestrate and interrogate AI agent fleets. Every worker must act like a "CEO of AI Agents". </a:t>
            </a:r>
          </a:p>
          <a:p>
            <a:endParaRPr lang="en-US" dirty="0"/>
          </a:p>
        </p:txBody>
      </p:sp>
      <p:sp>
        <p:nvSpPr>
          <p:cNvPr id="4" name="Slide Number Placeholder 3"/>
          <p:cNvSpPr>
            <a:spLocks noGrp="1"/>
          </p:cNvSpPr>
          <p:nvPr>
            <p:ph type="sldNum" sz="quarter" idx="5"/>
          </p:nvPr>
        </p:nvSpPr>
        <p:spPr/>
        <p:txBody>
          <a:bodyPr/>
          <a:lstStyle/>
          <a:p>
            <a:fld id="{56BEBB3F-6E05-4A04-85D0-641AA9C9FFFB}" type="slidenum">
              <a:rPr lang="en-US" smtClean="0"/>
              <a:t>7</a:t>
            </a:fld>
            <a:endParaRPr lang="en-US"/>
          </a:p>
        </p:txBody>
      </p:sp>
    </p:spTree>
    <p:extLst>
      <p:ext uri="{BB962C8B-B14F-4D97-AF65-F5344CB8AC3E}">
        <p14:creationId xmlns:p14="http://schemas.microsoft.com/office/powerpoint/2010/main" val="40455494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People often ask: "If AI is so powerful, why isn't GDP or corporate productivity soaring yet?" </a:t>
            </a:r>
          </a:p>
          <a:p>
            <a:r>
              <a:rPr lang="en-US" sz="1200" b="1" kern="1200" dirty="0">
                <a:solidFill>
                  <a:schemeClr val="tx1"/>
                </a:solidFill>
                <a:effectLst/>
                <a:latin typeface="+mn-lt"/>
                <a:ea typeface="+mn-ea"/>
                <a:cs typeface="+mn-cs"/>
              </a:rPr>
              <a:t>Historical Precedent:</a:t>
            </a:r>
            <a:r>
              <a:rPr lang="en-US" sz="1200" kern="1200" dirty="0">
                <a:solidFill>
                  <a:schemeClr val="tx1"/>
                </a:solidFill>
                <a:effectLst/>
                <a:latin typeface="+mn-lt"/>
                <a:ea typeface="+mn-ea"/>
                <a:cs typeface="+mn-cs"/>
              </a:rPr>
              <a:t> When electricity entered American factories, it took </a:t>
            </a:r>
            <a:r>
              <a:rPr lang="en-US" sz="1200" b="1" kern="1200" dirty="0">
                <a:solidFill>
                  <a:schemeClr val="tx1"/>
                </a:solidFill>
                <a:effectLst/>
                <a:latin typeface="+mn-lt"/>
                <a:ea typeface="+mn-ea"/>
                <a:cs typeface="+mn-cs"/>
              </a:rPr>
              <a:t>30 years</a:t>
            </a:r>
            <a:r>
              <a:rPr lang="en-US" sz="1200" kern="1200" dirty="0">
                <a:solidFill>
                  <a:schemeClr val="tx1"/>
                </a:solidFill>
                <a:effectLst/>
                <a:latin typeface="+mn-lt"/>
                <a:ea typeface="+mn-ea"/>
                <a:cs typeface="+mn-cs"/>
              </a:rPr>
              <a:t> for productivity to show in official metrics. Factories had to completely redesign floor layouts, rewire workflows, and retrain workers before seeing gains. </a:t>
            </a:r>
          </a:p>
          <a:p>
            <a:r>
              <a:rPr lang="en-US" sz="1200" b="1" kern="1200" dirty="0">
                <a:solidFill>
                  <a:schemeClr val="tx1"/>
                </a:solidFill>
                <a:effectLst/>
                <a:latin typeface="+mn-lt"/>
                <a:ea typeface="+mn-ea"/>
                <a:cs typeface="+mn-cs"/>
              </a:rPr>
              <a:t>The Dip / Lag Phase:</a:t>
            </a:r>
            <a:r>
              <a:rPr lang="en-US" sz="1200" kern="1200" dirty="0">
                <a:solidFill>
                  <a:schemeClr val="tx1"/>
                </a:solidFill>
                <a:effectLst/>
                <a:latin typeface="+mn-lt"/>
                <a:ea typeface="+mn-ea"/>
                <a:cs typeface="+mn-cs"/>
              </a:rPr>
              <a:t> Today, raw AI capabilities are surging, but companies are stuck making low-value "AI slop" (e.g., using LLMs to format internal lunch menus) rather than redesigning core operational processes. </a:t>
            </a:r>
          </a:p>
          <a:p>
            <a:r>
              <a:rPr lang="en-US" sz="1200" b="1" kern="1200" dirty="0">
                <a:solidFill>
                  <a:schemeClr val="tx1"/>
                </a:solidFill>
                <a:effectLst/>
                <a:latin typeface="+mn-lt"/>
                <a:ea typeface="+mn-ea"/>
                <a:cs typeface="+mn-cs"/>
              </a:rPr>
              <a:t>The 2030 Wager:</a:t>
            </a:r>
            <a:r>
              <a:rPr lang="en-US" sz="1200" kern="1200" dirty="0">
                <a:solidFill>
                  <a:schemeClr val="tx1"/>
                </a:solidFill>
                <a:effectLst/>
                <a:latin typeface="+mn-lt"/>
                <a:ea typeface="+mn-ea"/>
                <a:cs typeface="+mn-cs"/>
              </a:rPr>
              <a:t> Brynjolfsson wagers that AI will compress this historical 30-year lag into </a:t>
            </a:r>
            <a:r>
              <a:rPr lang="en-US" sz="1200" b="1" kern="1200" dirty="0">
                <a:solidFill>
                  <a:schemeClr val="tx1"/>
                </a:solidFill>
                <a:effectLst/>
                <a:latin typeface="+mn-lt"/>
                <a:ea typeface="+mn-ea"/>
                <a:cs typeface="+mn-cs"/>
              </a:rPr>
              <a:t>3 to 5 years</a:t>
            </a:r>
            <a:r>
              <a:rPr lang="en-US" sz="1200" kern="1200" dirty="0">
                <a:solidFill>
                  <a:schemeClr val="tx1"/>
                </a:solidFill>
                <a:effectLst/>
                <a:latin typeface="+mn-lt"/>
                <a:ea typeface="+mn-ea"/>
                <a:cs typeface="+mn-cs"/>
              </a:rPr>
              <a:t>. By 2030, productivity gains will far exceed baseline BLS predictions as business workflows adjust. </a:t>
            </a:r>
          </a:p>
          <a:p>
            <a:endParaRPr lang="en-US" dirty="0"/>
          </a:p>
        </p:txBody>
      </p:sp>
      <p:sp>
        <p:nvSpPr>
          <p:cNvPr id="4" name="Slide Number Placeholder 3"/>
          <p:cNvSpPr>
            <a:spLocks noGrp="1"/>
          </p:cNvSpPr>
          <p:nvPr>
            <p:ph type="sldNum" sz="quarter" idx="5"/>
          </p:nvPr>
        </p:nvSpPr>
        <p:spPr/>
        <p:txBody>
          <a:bodyPr/>
          <a:lstStyle/>
          <a:p>
            <a:fld id="{56BEBB3F-6E05-4A04-85D0-641AA9C9FFFB}" type="slidenum">
              <a:rPr lang="en-US" smtClean="0"/>
              <a:t>8</a:t>
            </a:fld>
            <a:endParaRPr lang="en-US"/>
          </a:p>
        </p:txBody>
      </p:sp>
    </p:spTree>
    <p:extLst>
      <p:ext uri="{BB962C8B-B14F-4D97-AF65-F5344CB8AC3E}">
        <p14:creationId xmlns:p14="http://schemas.microsoft.com/office/powerpoint/2010/main" val="39993660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Beyond the productivity lag, we face a scoreboard problem. Traditional GDP only tracks market transactions where money changes hands. </a:t>
            </a:r>
          </a:p>
          <a:p>
            <a:r>
              <a:rPr lang="en-US" sz="1200" b="1" kern="1200" dirty="0">
                <a:solidFill>
                  <a:schemeClr val="tx1"/>
                </a:solidFill>
                <a:effectLst/>
                <a:latin typeface="+mn-lt"/>
                <a:ea typeface="+mn-ea"/>
                <a:cs typeface="+mn-cs"/>
              </a:rPr>
              <a:t>The Zero-Price Trap:</a:t>
            </a:r>
            <a:r>
              <a:rPr lang="en-US" sz="1200" kern="1200" dirty="0">
                <a:solidFill>
                  <a:schemeClr val="tx1"/>
                </a:solidFill>
                <a:effectLst/>
                <a:latin typeface="+mn-lt"/>
                <a:ea typeface="+mn-ea"/>
                <a:cs typeface="+mn-cs"/>
              </a:rPr>
              <a:t> If a tool is free, its official GDP weight is zero. </a:t>
            </a:r>
          </a:p>
          <a:p>
            <a:r>
              <a:rPr lang="en-US" sz="1200" kern="1200" dirty="0">
                <a:solidFill>
                  <a:schemeClr val="tx1"/>
                </a:solidFill>
                <a:effectLst/>
                <a:latin typeface="+mn-lt"/>
                <a:ea typeface="+mn-ea"/>
                <a:cs typeface="+mn-cs"/>
              </a:rPr>
              <a:t>Consider Wikipedia: it generates zero GDP, yet the average consumer values access to it at around $10/month. </a:t>
            </a:r>
          </a:p>
          <a:p>
            <a:r>
              <a:rPr lang="en-US" sz="1200" kern="1200" dirty="0">
                <a:solidFill>
                  <a:schemeClr val="tx1"/>
                </a:solidFill>
                <a:effectLst/>
                <a:latin typeface="+mn-lt"/>
                <a:ea typeface="+mn-ea"/>
                <a:cs typeface="+mn-cs"/>
              </a:rPr>
              <a:t>Consumer value derived from LLM chat interfaces grew by 70% in just nine months, producing trillions of dollars in unmeasured human welfare that remains completely invisible in standard national accounting. </a:t>
            </a:r>
          </a:p>
          <a:p>
            <a:endParaRPr lang="en-US" dirty="0"/>
          </a:p>
        </p:txBody>
      </p:sp>
      <p:sp>
        <p:nvSpPr>
          <p:cNvPr id="4" name="Slide Number Placeholder 3"/>
          <p:cNvSpPr>
            <a:spLocks noGrp="1"/>
          </p:cNvSpPr>
          <p:nvPr>
            <p:ph type="sldNum" sz="quarter" idx="5"/>
          </p:nvPr>
        </p:nvSpPr>
        <p:spPr/>
        <p:txBody>
          <a:bodyPr/>
          <a:lstStyle/>
          <a:p>
            <a:fld id="{56BEBB3F-6E05-4A04-85D0-641AA9C9FFFB}" type="slidenum">
              <a:rPr lang="en-US" smtClean="0"/>
              <a:t>9</a:t>
            </a:fld>
            <a:endParaRPr lang="en-US"/>
          </a:p>
        </p:txBody>
      </p:sp>
    </p:spTree>
    <p:extLst>
      <p:ext uri="{BB962C8B-B14F-4D97-AF65-F5344CB8AC3E}">
        <p14:creationId xmlns:p14="http://schemas.microsoft.com/office/powerpoint/2010/main" val="566176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fix the flaw in traditional GDP, economists developed </a:t>
            </a:r>
            <a:r>
              <a:rPr lang="en-US" sz="1200" b="1" kern="1200" dirty="0">
                <a:solidFill>
                  <a:schemeClr val="tx1"/>
                </a:solidFill>
                <a:effectLst/>
                <a:latin typeface="+mn-lt"/>
                <a:ea typeface="+mn-ea"/>
                <a:cs typeface="+mn-cs"/>
              </a:rPr>
              <a:t>GDP-B</a:t>
            </a:r>
            <a:r>
              <a:rPr lang="en-US" sz="1200" kern="1200" dirty="0">
                <a:solidFill>
                  <a:schemeClr val="tx1"/>
                </a:solidFill>
                <a:effectLst/>
                <a:latin typeface="+mn-lt"/>
                <a:ea typeface="+mn-ea"/>
                <a:cs typeface="+mn-cs"/>
              </a:rPr>
              <a:t> (where "B" stands for Benefits). </a:t>
            </a:r>
          </a:p>
          <a:p>
            <a:r>
              <a:rPr lang="en-US" sz="1200" b="1" kern="1200" dirty="0">
                <a:solidFill>
                  <a:schemeClr val="tx1"/>
                </a:solidFill>
                <a:effectLst/>
                <a:latin typeface="+mn-lt"/>
                <a:ea typeface="+mn-ea"/>
                <a:cs typeface="+mn-cs"/>
              </a:rPr>
              <a:t>Methodology Shift:</a:t>
            </a:r>
            <a:r>
              <a:rPr lang="en-US" sz="1200" kern="1200" dirty="0">
                <a:solidFill>
                  <a:schemeClr val="tx1"/>
                </a:solidFill>
                <a:effectLst/>
                <a:latin typeface="+mn-lt"/>
                <a:ea typeface="+mn-ea"/>
                <a:cs typeface="+mn-cs"/>
              </a:rPr>
              <a:t> Instead of asking "What did you pay?", GDP-B measures </a:t>
            </a:r>
            <a:r>
              <a:rPr lang="en-US" sz="1200" b="1" kern="1200" dirty="0">
                <a:solidFill>
                  <a:schemeClr val="tx1"/>
                </a:solidFill>
                <a:effectLst/>
                <a:latin typeface="+mn-lt"/>
                <a:ea typeface="+mn-ea"/>
                <a:cs typeface="+mn-cs"/>
              </a:rPr>
              <a:t>Willingness to Accept (WTA)</a:t>
            </a:r>
            <a:r>
              <a:rPr lang="en-US" sz="1200" kern="1200" dirty="0">
                <a:solidFill>
                  <a:schemeClr val="tx1"/>
                </a:solidFill>
                <a:effectLst/>
                <a:latin typeface="+mn-lt"/>
                <a:ea typeface="+mn-ea"/>
                <a:cs typeface="+mn-cs"/>
              </a:rPr>
              <a:t>: "How much would we have to pay you to stop using Google Search or ChatGPT for a month?" </a:t>
            </a:r>
          </a:p>
          <a:p>
            <a:r>
              <a:rPr lang="en-US" sz="1200" kern="1200" dirty="0">
                <a:solidFill>
                  <a:schemeClr val="tx1"/>
                </a:solidFill>
                <a:effectLst/>
                <a:latin typeface="+mn-lt"/>
                <a:ea typeface="+mn-ea"/>
                <a:cs typeface="+mn-cs"/>
              </a:rPr>
              <a:t>While traditional GDP views free software as having zero economic weight, GDP-B places digital utility and consumer surplus at the center of societal health and growth metrics.</a:t>
            </a:r>
          </a:p>
          <a:p>
            <a:endParaRPr lang="en-US" dirty="0"/>
          </a:p>
        </p:txBody>
      </p:sp>
      <p:sp>
        <p:nvSpPr>
          <p:cNvPr id="4" name="Slide Number Placeholder 3"/>
          <p:cNvSpPr>
            <a:spLocks noGrp="1"/>
          </p:cNvSpPr>
          <p:nvPr>
            <p:ph type="sldNum" sz="quarter" idx="5"/>
          </p:nvPr>
        </p:nvSpPr>
        <p:spPr/>
        <p:txBody>
          <a:bodyPr/>
          <a:lstStyle/>
          <a:p>
            <a:fld id="{56BEBB3F-6E05-4A04-85D0-641AA9C9FFFB}" type="slidenum">
              <a:rPr lang="en-US" smtClean="0"/>
              <a:t>10</a:t>
            </a:fld>
            <a:endParaRPr lang="en-US"/>
          </a:p>
        </p:txBody>
      </p:sp>
    </p:spTree>
    <p:extLst>
      <p:ext uri="{BB962C8B-B14F-4D97-AF65-F5344CB8AC3E}">
        <p14:creationId xmlns:p14="http://schemas.microsoft.com/office/powerpoint/2010/main" val="4063083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economic impact of AI is not deterministic; we are at a critical fork in the road: </a:t>
            </a:r>
          </a:p>
          <a:p>
            <a:r>
              <a:rPr lang="en-US" sz="1200" b="1" kern="1200" dirty="0">
                <a:solidFill>
                  <a:schemeClr val="tx1"/>
                </a:solidFill>
                <a:effectLst/>
                <a:latin typeface="+mn-lt"/>
                <a:ea typeface="+mn-ea"/>
                <a:cs typeface="+mn-cs"/>
              </a:rPr>
              <a:t>Path 1: Shared Prosperity:</a:t>
            </a:r>
            <a:r>
              <a:rPr lang="en-US" sz="1200" kern="1200" dirty="0">
                <a:solidFill>
                  <a:schemeClr val="tx1"/>
                </a:solidFill>
                <a:effectLst/>
                <a:latin typeface="+mn-lt"/>
                <a:ea typeface="+mn-ea"/>
                <a:cs typeface="+mn-cs"/>
              </a:rPr>
              <a:t> Tools become broadly accessible, lowering the cost of experimentation to near zero. Millions of micro-entrepreneurs use AI to build niche companies, distributing economic agency and wealth widely across society. </a:t>
            </a:r>
          </a:p>
          <a:p>
            <a:r>
              <a:rPr lang="en-US" sz="1200" b="1" kern="1200" dirty="0">
                <a:solidFill>
                  <a:schemeClr val="tx1"/>
                </a:solidFill>
                <a:effectLst/>
                <a:latin typeface="+mn-lt"/>
                <a:ea typeface="+mn-ea"/>
                <a:cs typeface="+mn-cs"/>
              </a:rPr>
              <a:t>Path 2: The Concentration Trap:</a:t>
            </a:r>
            <a:r>
              <a:rPr lang="en-US" sz="1200" kern="1200" dirty="0">
                <a:solidFill>
                  <a:schemeClr val="tx1"/>
                </a:solidFill>
                <a:effectLst/>
                <a:latin typeface="+mn-lt"/>
                <a:ea typeface="+mn-ea"/>
                <a:cs typeface="+mn-cs"/>
              </a:rPr>
              <a:t> If workers simply act as passive instruction-followers, AI replaces them. Ownership, data, and wealth concentrate into a handful of tech monopolies or state entities, leading to extreme inequality (the "gated community / prison" societal dynamic). </a:t>
            </a:r>
          </a:p>
          <a:p>
            <a:r>
              <a:rPr lang="en-US" sz="1200" kern="1200" dirty="0">
                <a:solidFill>
                  <a:schemeClr val="tx1"/>
                </a:solidFill>
                <a:effectLst/>
                <a:latin typeface="+mn-lt"/>
                <a:ea typeface="+mn-ea"/>
                <a:cs typeface="+mn-cs"/>
              </a:rPr>
              <a:t>Shaping this future depends on actively encouraging broad entrepreneurship, AI literacy, and proactive transition policies.</a:t>
            </a:r>
          </a:p>
          <a:p>
            <a:endParaRPr lang="en-US" dirty="0"/>
          </a:p>
        </p:txBody>
      </p:sp>
      <p:sp>
        <p:nvSpPr>
          <p:cNvPr id="4" name="Slide Number Placeholder 3"/>
          <p:cNvSpPr>
            <a:spLocks noGrp="1"/>
          </p:cNvSpPr>
          <p:nvPr>
            <p:ph type="sldNum" sz="quarter" idx="5"/>
          </p:nvPr>
        </p:nvSpPr>
        <p:spPr/>
        <p:txBody>
          <a:bodyPr/>
          <a:lstStyle/>
          <a:p>
            <a:fld id="{56BEBB3F-6E05-4A04-85D0-641AA9C9FFFB}" type="slidenum">
              <a:rPr lang="en-US" smtClean="0"/>
              <a:t>11</a:t>
            </a:fld>
            <a:endParaRPr lang="en-US"/>
          </a:p>
        </p:txBody>
      </p:sp>
    </p:spTree>
    <p:extLst>
      <p:ext uri="{BB962C8B-B14F-4D97-AF65-F5344CB8AC3E}">
        <p14:creationId xmlns:p14="http://schemas.microsoft.com/office/powerpoint/2010/main" val="35299317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cognitive execution and intelligence become free commodities on demand, what remains scarce and valuable? </a:t>
            </a:r>
          </a:p>
          <a:p>
            <a:r>
              <a:rPr lang="en-US" sz="1200" b="1" kern="1200" dirty="0">
                <a:solidFill>
                  <a:schemeClr val="tx1"/>
                </a:solidFill>
                <a:effectLst/>
                <a:latin typeface="+mn-lt"/>
                <a:ea typeface="+mn-ea"/>
                <a:cs typeface="+mn-cs"/>
              </a:rPr>
              <a:t>Authenticity &amp; Connection:</a:t>
            </a:r>
            <a:r>
              <a:rPr lang="en-US" sz="1200" kern="1200" dirty="0">
                <a:solidFill>
                  <a:schemeClr val="tx1"/>
                </a:solidFill>
                <a:effectLst/>
                <a:latin typeface="+mn-lt"/>
                <a:ea typeface="+mn-ea"/>
                <a:cs typeface="+mn-cs"/>
              </a:rPr>
              <a:t> Humans don't watch human chess or live sports just to see flawless execution; we value the shared human struggle and real personal status. </a:t>
            </a:r>
          </a:p>
          <a:p>
            <a:r>
              <a:rPr lang="en-US" sz="1200" b="1" kern="1200" dirty="0">
                <a:solidFill>
                  <a:schemeClr val="tx1"/>
                </a:solidFill>
                <a:effectLst/>
                <a:latin typeface="+mn-lt"/>
                <a:ea typeface="+mn-ea"/>
                <a:cs typeface="+mn-cs"/>
              </a:rPr>
              <a:t>Improvisation &amp; Agency:</a:t>
            </a:r>
            <a:r>
              <a:rPr lang="en-US" sz="1200" kern="1200" dirty="0">
                <a:solidFill>
                  <a:schemeClr val="tx1"/>
                </a:solidFill>
                <a:effectLst/>
                <a:latin typeface="+mn-lt"/>
                <a:ea typeface="+mn-ea"/>
                <a:cs typeface="+mn-cs"/>
              </a:rPr>
              <a:t> Machines follow pre-programmed logic; humans break rules, adapt dynamically in novel edge cases, and drive intentional change. </a:t>
            </a:r>
          </a:p>
          <a:p>
            <a:r>
              <a:rPr lang="en-US" sz="1200" b="1" kern="1200" dirty="0">
                <a:solidFill>
                  <a:schemeClr val="tx1"/>
                </a:solidFill>
                <a:effectLst/>
                <a:latin typeface="+mn-lt"/>
                <a:ea typeface="+mn-ea"/>
                <a:cs typeface="+mn-cs"/>
              </a:rPr>
              <a:t>Taste &amp; Appreciation:</a:t>
            </a:r>
            <a:r>
              <a:rPr lang="en-US" sz="1200" kern="1200" dirty="0">
                <a:solidFill>
                  <a:schemeClr val="tx1"/>
                </a:solidFill>
                <a:effectLst/>
                <a:latin typeface="+mn-lt"/>
                <a:ea typeface="+mn-ea"/>
                <a:cs typeface="+mn-cs"/>
              </a:rPr>
              <a:t> Liberal arts—philosophy, critical thinking, art, and music appreciation—become core business differentiators. When code or text is free, knowing what is good, ethical, and resonant becomes the ultimate competitive advantage. </a:t>
            </a:r>
          </a:p>
          <a:p>
            <a:endParaRPr lang="en-US" dirty="0"/>
          </a:p>
        </p:txBody>
      </p:sp>
      <p:sp>
        <p:nvSpPr>
          <p:cNvPr id="4" name="Slide Number Placeholder 3"/>
          <p:cNvSpPr>
            <a:spLocks noGrp="1"/>
          </p:cNvSpPr>
          <p:nvPr>
            <p:ph type="sldNum" sz="quarter" idx="5"/>
          </p:nvPr>
        </p:nvSpPr>
        <p:spPr/>
        <p:txBody>
          <a:bodyPr/>
          <a:lstStyle/>
          <a:p>
            <a:fld id="{56BEBB3F-6E05-4A04-85D0-641AA9C9FFFB}" type="slidenum">
              <a:rPr lang="en-US" smtClean="0"/>
              <a:t>12</a:t>
            </a:fld>
            <a:endParaRPr lang="en-US"/>
          </a:p>
        </p:txBody>
      </p:sp>
    </p:spTree>
    <p:extLst>
      <p:ext uri="{BB962C8B-B14F-4D97-AF65-F5344CB8AC3E}">
        <p14:creationId xmlns:p14="http://schemas.microsoft.com/office/powerpoint/2010/main" val="819758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most important mindset shift for teams and individuals: </a:t>
            </a:r>
            <a:r>
              <a:rPr lang="en-US" sz="1200" b="1" kern="1200" dirty="0">
                <a:solidFill>
                  <a:schemeClr val="tx1"/>
                </a:solidFill>
                <a:effectLst/>
                <a:latin typeface="+mn-lt"/>
                <a:ea typeface="+mn-ea"/>
                <a:cs typeface="+mn-cs"/>
              </a:rPr>
              <a:t>A.I. does not stand for Artificial Intelligence; it stands for Amplifying Intention.</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AI acts as a multiplier: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If you have $0$ agency or no clear plan, multiplying by AI still yields $0$—you risk being replaced.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If you possess high agency, a strong vision, and deep domain knowledge, AI grants you superpowers to execute at a scale previously reserved for entire corporations. </a:t>
            </a:r>
          </a:p>
          <a:p>
            <a:r>
              <a:rPr lang="en-US" sz="1200" kern="1200" dirty="0">
                <a:solidFill>
                  <a:schemeClr val="tx1"/>
                </a:solidFill>
                <a:effectLst/>
                <a:latin typeface="+mn-lt"/>
                <a:ea typeface="+mn-ea"/>
                <a:cs typeface="+mn-cs"/>
              </a:rPr>
              <a:t>The next ten years depend entirely on what we intend to build.</a:t>
            </a:r>
          </a:p>
          <a:p>
            <a:endParaRPr lang="en-US" dirty="0"/>
          </a:p>
        </p:txBody>
      </p:sp>
      <p:sp>
        <p:nvSpPr>
          <p:cNvPr id="4" name="Slide Number Placeholder 3"/>
          <p:cNvSpPr>
            <a:spLocks noGrp="1"/>
          </p:cNvSpPr>
          <p:nvPr>
            <p:ph type="sldNum" sz="quarter" idx="5"/>
          </p:nvPr>
        </p:nvSpPr>
        <p:spPr/>
        <p:txBody>
          <a:bodyPr/>
          <a:lstStyle/>
          <a:p>
            <a:fld id="{56BEBB3F-6E05-4A04-85D0-641AA9C9FFFB}" type="slidenum">
              <a:rPr lang="en-US" smtClean="0"/>
              <a:t>13</a:t>
            </a:fld>
            <a:endParaRPr lang="en-US"/>
          </a:p>
        </p:txBody>
      </p:sp>
    </p:spTree>
    <p:extLst>
      <p:ext uri="{BB962C8B-B14F-4D97-AF65-F5344CB8AC3E}">
        <p14:creationId xmlns:p14="http://schemas.microsoft.com/office/powerpoint/2010/main" val="6498350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conclude, here is our tactical roadmap for the deciding decade: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Understand the Market Dynamic:</a:t>
            </a:r>
            <a:r>
              <a:rPr lang="en-US" sz="1200" kern="1200" dirty="0">
                <a:solidFill>
                  <a:schemeClr val="tx1"/>
                </a:solidFill>
                <a:effectLst/>
                <a:latin typeface="+mn-lt"/>
                <a:ea typeface="+mn-ea"/>
                <a:cs typeface="+mn-cs"/>
              </a:rPr>
              <a:t> Low-exposure/human-centric roles and high-agency generalist positions are growing; routine entry-level roles face contraction.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Bridge the J-Curve:</a:t>
            </a:r>
            <a:r>
              <a:rPr lang="en-US" sz="1200" kern="1200" dirty="0">
                <a:solidFill>
                  <a:schemeClr val="tx1"/>
                </a:solidFill>
                <a:effectLst/>
                <a:latin typeface="+mn-lt"/>
                <a:ea typeface="+mn-ea"/>
                <a:cs typeface="+mn-cs"/>
              </a:rPr>
              <a:t> Focus on solving real core business problems with AI, rather than superficial efficiency gains.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Adopt the "CEO of Agents" Mindset:</a:t>
            </a:r>
            <a:r>
              <a:rPr lang="en-US" sz="1200" kern="1200" dirty="0">
                <a:solidFill>
                  <a:schemeClr val="tx1"/>
                </a:solidFill>
                <a:effectLst/>
                <a:latin typeface="+mn-lt"/>
                <a:ea typeface="+mn-ea"/>
                <a:cs typeface="+mn-cs"/>
              </a:rPr>
              <a:t> Move away from manual task execution. Shift your focus upstream to defining the right questions and downstream to evaluating results.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Cultivate Taste and Soft Skills:</a:t>
            </a:r>
            <a:r>
              <a:rPr lang="en-US" sz="1200" kern="1200" dirty="0">
                <a:solidFill>
                  <a:schemeClr val="tx1"/>
                </a:solidFill>
                <a:effectLst/>
                <a:latin typeface="+mn-lt"/>
                <a:ea typeface="+mn-ea"/>
                <a:cs typeface="+mn-cs"/>
              </a:rPr>
              <a:t> Lean into human connection, domain judgment, and liberal arts discernment. </a:t>
            </a:r>
          </a:p>
          <a:p>
            <a:r>
              <a:rPr lang="en-US" sz="1200" kern="1200" dirty="0">
                <a:solidFill>
                  <a:schemeClr val="tx1"/>
                </a:solidFill>
                <a:effectLst/>
                <a:latin typeface="+mn-lt"/>
                <a:ea typeface="+mn-ea"/>
                <a:cs typeface="+mn-cs"/>
              </a:rPr>
              <a:t>Use these tools to amplify your unique perspective, adapt quickly, and lead through the Second Machine Age.</a:t>
            </a:r>
          </a:p>
          <a:p>
            <a:endParaRPr lang="en-US" dirty="0"/>
          </a:p>
        </p:txBody>
      </p:sp>
      <p:sp>
        <p:nvSpPr>
          <p:cNvPr id="4" name="Slide Number Placeholder 3"/>
          <p:cNvSpPr>
            <a:spLocks noGrp="1"/>
          </p:cNvSpPr>
          <p:nvPr>
            <p:ph type="sldNum" sz="quarter" idx="5"/>
          </p:nvPr>
        </p:nvSpPr>
        <p:spPr/>
        <p:txBody>
          <a:bodyPr/>
          <a:lstStyle/>
          <a:p>
            <a:fld id="{56BEBB3F-6E05-4A04-85D0-641AA9C9FFFB}" type="slidenum">
              <a:rPr lang="en-US" smtClean="0"/>
              <a:t>14</a:t>
            </a:fld>
            <a:endParaRPr lang="en-US"/>
          </a:p>
        </p:txBody>
      </p:sp>
    </p:spTree>
    <p:extLst>
      <p:ext uri="{BB962C8B-B14F-4D97-AF65-F5344CB8AC3E}">
        <p14:creationId xmlns:p14="http://schemas.microsoft.com/office/powerpoint/2010/main" val="24040707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DA3620-3675-F395-514F-5277C68C479E}"/>
              </a:ext>
            </a:extLst>
          </p:cNvPr>
          <p:cNvSpPr>
            <a:spLocks noGrp="1"/>
          </p:cNvSpPr>
          <p:nvPr>
            <p:ph type="dt" sz="half" idx="10"/>
          </p:nvPr>
        </p:nvSpPr>
        <p:spPr/>
        <p:txBody>
          <a:bodyPr/>
          <a:lstStyle/>
          <a:p>
            <a:fld id="{B306531C-E421-4F9D-8FE7-DC8017AD2CD9}" type="datetimeFigureOut">
              <a:rPr lang="en-US" smtClean="0"/>
              <a:t>10/19/2026</a:t>
            </a:fld>
            <a:endParaRPr lang="en-US"/>
          </a:p>
        </p:txBody>
      </p:sp>
      <p:sp>
        <p:nvSpPr>
          <p:cNvPr id="3" name="Footer Placeholder 2">
            <a:extLst>
              <a:ext uri="{FF2B5EF4-FFF2-40B4-BE49-F238E27FC236}">
                <a16:creationId xmlns:a16="http://schemas.microsoft.com/office/drawing/2014/main" id="{14B3D497-A25C-FF26-A28B-4756A17821C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BE931DE-BB12-3CC1-379A-AB5206B4A759}"/>
              </a:ext>
            </a:extLst>
          </p:cNvPr>
          <p:cNvSpPr>
            <a:spLocks noGrp="1"/>
          </p:cNvSpPr>
          <p:nvPr>
            <p:ph type="sldNum" sz="quarter" idx="12"/>
          </p:nvPr>
        </p:nvSpPr>
        <p:spPr/>
        <p:txBody>
          <a:bodyPr/>
          <a:lstStyle/>
          <a:p>
            <a:fld id="{A53F6652-4B33-4279-9460-9FF7F635FA31}" type="slidenum">
              <a:rPr lang="en-US" smtClean="0"/>
              <a:t>‹#›</a:t>
            </a:fld>
            <a:endParaRPr lang="en-US"/>
          </a:p>
        </p:txBody>
      </p:sp>
    </p:spTree>
    <p:extLst>
      <p:ext uri="{BB962C8B-B14F-4D97-AF65-F5344CB8AC3E}">
        <p14:creationId xmlns:p14="http://schemas.microsoft.com/office/powerpoint/2010/main" val="5511437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2EC781-3DD7-C419-9CC8-A7E4A03321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BDC9DD3-1879-1D00-521E-3D2D5B2AB0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09EA41-0CF8-A167-7A76-BE323384BC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306531C-E421-4F9D-8FE7-DC8017AD2CD9}" type="datetimeFigureOut">
              <a:rPr lang="en-US" smtClean="0"/>
              <a:t>10/19/2026</a:t>
            </a:fld>
            <a:endParaRPr lang="en-US"/>
          </a:p>
        </p:txBody>
      </p:sp>
      <p:sp>
        <p:nvSpPr>
          <p:cNvPr id="5" name="Footer Placeholder 4">
            <a:extLst>
              <a:ext uri="{FF2B5EF4-FFF2-40B4-BE49-F238E27FC236}">
                <a16:creationId xmlns:a16="http://schemas.microsoft.com/office/drawing/2014/main" id="{D6FE5779-0064-356A-2624-0F221FC80F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6692707-C63E-EBEB-64A8-888ED9970C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53F6652-4B33-4279-9460-9FF7F635FA31}" type="slidenum">
              <a:rPr lang="en-US" smtClean="0"/>
              <a:t>‹#›</a:t>
            </a:fld>
            <a:endParaRPr lang="en-US"/>
          </a:p>
        </p:txBody>
      </p:sp>
    </p:spTree>
    <p:extLst>
      <p:ext uri="{BB962C8B-B14F-4D97-AF65-F5344CB8AC3E}">
        <p14:creationId xmlns:p14="http://schemas.microsoft.com/office/powerpoint/2010/main" val="4089166927"/>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389351-A20B-6A10-16AD-C7F7167A779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0E4A73-DDA4-73C2-B6F4-D293E7A04FC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1D6300-0F15-A547-BC82-A77CE4F27D4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19D5B6E-726C-9A7F-A388-2CFAB8C27DF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BDDFA6-4199-7427-4C43-AEA1B4CB2B2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BA8D43C-31E6-C5EF-8406-66E3B5481AE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48217D5-755E-4D10-1226-05E85E6793A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6F764E8-40B2-FBBF-EAB0-F1E9D85EE3F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CF1CF7-08F8-69D6-0E5B-DE87E246DDA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43A6D51-AC37-8B15-8894-098811BD1FB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A37BFC-65F2-82B8-ED1E-628F01BED9E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80CB638-3FDC-4F4A-499F-1B42AF9DA42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4DEEDC1-7F12-F760-5C5C-EB7BDAFC400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61EE90-0E80-BE71-2E73-09944E745B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35561334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1695</Words>
  <Application>Microsoft Office PowerPoint</Application>
  <PresentationFormat>寬螢幕</PresentationFormat>
  <Paragraphs>76</Paragraphs>
  <Slides>14</Slides>
  <Notes>14</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14</vt:i4>
      </vt:variant>
    </vt:vector>
  </HeadingPairs>
  <TitlesOfParts>
    <vt:vector size="18"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2026-08-05T10:45:44Z</dcterms:created>
  <dcterms:modified xsi:type="dcterms:W3CDTF">2026-10-19T15:40:11Z</dcterms:modified>
</cp:coreProperties>
</file>