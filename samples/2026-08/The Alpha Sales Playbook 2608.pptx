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E1B-117F-4192-A184-91C6ABAEAEAE}" v="17" dt="2026-08-27T05:12:34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309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">
      <pc:chgData name="Lai, Wilson" userId="2840974a-0d84-4886-90a9-9a3ed79f3a48" providerId="ADAL" clId="{9F23B798-9E84-4552-BA63-E776E805C424}" dt="2026-08-27T05:12:37.654" v="69" actId="14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8-27T05:09:33.717" v="41" actId="14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8-26T15:01:32.676" v="9" actId="164"/>
          <ac:spMkLst>
            <pc:docMk/>
            <pc:sldMk cId="0" sldId="257"/>
            <ac:spMk id="4" creationId="{0D9524F7-DDA8-7930-2A05-3C9BEE9BE7A3}"/>
          </ac:spMkLst>
        </pc:spChg>
        <pc:grpChg chg="add mod">
          <ac:chgData name="Lai, Wilson" userId="2840974a-0d84-4886-90a9-9a3ed79f3a48" providerId="ADAL" clId="{9F23B798-9E84-4552-BA63-E776E805C424}" dt="2026-08-26T15:01:32.676" v="9" actId="164"/>
          <ac:grpSpMkLst>
            <pc:docMk/>
            <pc:sldMk cId="0" sldId="257"/>
            <ac:grpSpMk id="6" creationId="{494ADD23-7DB6-403D-CC24-22E4BC517C4D}"/>
          </ac:grpSpMkLst>
        </pc:grpChg>
        <pc:picChg chg="del">
          <ac:chgData name="Lai, Wilson" userId="2840974a-0d84-4886-90a9-9a3ed79f3a48" providerId="ADAL" clId="{9F23B798-9E84-4552-BA63-E776E805C424}" dt="2026-08-26T15:13:21.818" v="10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8-26T15:01:32.676" v="9" actId="164"/>
          <ac:picMkLst>
            <pc:docMk/>
            <pc:sldMk cId="0" sldId="257"/>
            <ac:picMk id="5" creationId="{086D18F1-3A5B-AF3C-9A6C-3A1ADE1EE9C0}"/>
          </ac:picMkLst>
        </pc:picChg>
        <pc:picChg chg="add">
          <ac:chgData name="Lai, Wilson" userId="2840974a-0d84-4886-90a9-9a3ed79f3a48" providerId="ADAL" clId="{9F23B798-9E84-4552-BA63-E776E805C424}" dt="2026-08-26T15:13:30.353" v="11" actId="22"/>
          <ac:picMkLst>
            <pc:docMk/>
            <pc:sldMk cId="0" sldId="257"/>
            <ac:picMk id="7" creationId="{02E6256F-41B6-F453-19E8-4710327F067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09:47.740" v="43" actId="14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8-26T15:13:41.635" v="12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3:50.508" v="13" actId="22"/>
          <ac:picMkLst>
            <pc:docMk/>
            <pc:sldMk cId="0" sldId="258"/>
            <ac:picMk id="4" creationId="{D96E58DA-ED70-FC2F-46A3-D5B96D66C19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0:01.810" v="45" actId="14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8-26T15:13:54.130" v="14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4:03.114" v="15" actId="22"/>
          <ac:picMkLst>
            <pc:docMk/>
            <pc:sldMk cId="0" sldId="259"/>
            <ac:picMk id="4" creationId="{CE62B17D-D686-DE22-4B62-E97EA6ED290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0:12.760" v="47" actId="14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8-26T15:14:06.188" v="16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4:14.377" v="17" actId="22"/>
          <ac:picMkLst>
            <pc:docMk/>
            <pc:sldMk cId="0" sldId="260"/>
            <ac:picMk id="4" creationId="{7130670F-8C52-3D97-35C5-832606030E15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0:24.858" v="49" actId="14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8-26T15:14:16.393" v="18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4:23.220" v="19" actId="22"/>
          <ac:picMkLst>
            <pc:docMk/>
            <pc:sldMk cId="0" sldId="261"/>
            <ac:picMk id="4" creationId="{95BA8D1E-54F6-86BD-2802-974B8E20F97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0:36.813" v="51" actId="14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8-26T15:14:25.274" v="20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4:35.508" v="21" actId="22"/>
          <ac:picMkLst>
            <pc:docMk/>
            <pc:sldMk cId="0" sldId="262"/>
            <ac:picMk id="4" creationId="{7BB3A284-1823-AF58-882E-E8069508259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0:47.598" v="53" actId="14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8-26T15:14:40.170" v="22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4:49.619" v="23" actId="22"/>
          <ac:picMkLst>
            <pc:docMk/>
            <pc:sldMk cId="0" sldId="263"/>
            <ac:picMk id="4" creationId="{D781E1E2-5FAB-443F-636E-22A9519E43C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1:00.670" v="55" actId="14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8-26T15:14:51.508" v="24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5:00.560" v="25" actId="22"/>
          <ac:picMkLst>
            <pc:docMk/>
            <pc:sldMk cId="0" sldId="264"/>
            <ac:picMk id="4" creationId="{851BA8FC-D60A-0479-40E2-F9FD0647D7F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1:33.490" v="57" actId="14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8-26T15:15:04.194" v="26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5:12.664" v="27" actId="22"/>
          <ac:picMkLst>
            <pc:docMk/>
            <pc:sldMk cId="0" sldId="265"/>
            <ac:picMk id="4" creationId="{CDACB630-E8B6-E22A-5590-2B492B3E6EE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1:43.515" v="59" actId="14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8-26T15:15:14.956" v="28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5:22.844" v="29" actId="22"/>
          <ac:picMkLst>
            <pc:docMk/>
            <pc:sldMk cId="0" sldId="266"/>
            <ac:picMk id="4" creationId="{81E795F3-D637-3BB1-C957-4B1635E7491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1:53.204" v="61" actId="14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8-26T15:15:24.776" v="30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5:32.162" v="31" actId="22"/>
          <ac:picMkLst>
            <pc:docMk/>
            <pc:sldMk cId="0" sldId="267"/>
            <ac:picMk id="4" creationId="{86CABDA4-7735-3A9B-A082-9E1650BADF1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2:02.616" v="63" actId="14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8-26T15:15:34.288" v="32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5:41.554" v="33" actId="22"/>
          <ac:picMkLst>
            <pc:docMk/>
            <pc:sldMk cId="0" sldId="268"/>
            <ac:picMk id="4" creationId="{7E1C9C18-8EC0-50CD-FF34-AFD046FE9E9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2:13.277" v="65" actId="14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8-26T15:15:45.774" v="34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5:53.300" v="35" actId="22"/>
          <ac:picMkLst>
            <pc:docMk/>
            <pc:sldMk cId="0" sldId="269"/>
            <ac:picMk id="4" creationId="{9E90EA6B-667B-8306-5D7E-B49FC13657F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7T05:12:25.202" v="67" actId="14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8-26T15:15:55.046" v="36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6T15:16:03.242" v="37" actId="22"/>
          <ac:picMkLst>
            <pc:docMk/>
            <pc:sldMk cId="0" sldId="270"/>
            <ac:picMk id="4" creationId="{E3356341-D63B-473D-F7D9-ED33E3351D3A}"/>
          </ac:picMkLst>
        </pc:picChg>
      </pc:sldChg>
      <pc:sldChg chg="modNotesTx">
        <pc:chgData name="Lai, Wilson" userId="2840974a-0d84-4886-90a9-9a3ed79f3a48" providerId="ADAL" clId="{9F23B798-9E84-4552-BA63-E776E805C424}" dt="2026-08-27T05:12:37.654" v="69" actId="14"/>
        <pc:sldMkLst>
          <pc:docMk/>
          <pc:sldMk cId="2076954579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E0F15-4CF3-451E-B8F7-9B4ED815FF5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04341-FB0F-4750-A054-B262D8CB8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5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"Welcome, everyone. Today we are dismantling the biggest lie in B2B sales: the idea that closing enterprise accounts is a linear, 5-step process."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"Selling to the Fortune 500 isn't about running through a standard CRM stage sequence. It’s a 15-step psychological project management process. Most sellers fail because they rely on surface-level milestones, while master sellers win by controlling the hidden micro-steps."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Information Edge: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complex sales, whoever collects the most context and internal alignment wins.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Co-Authoring vs. Pitching: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are moving away from 'vendor pitching' and toward co-authoring deal structures directly with our buyers.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to Expect: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the next 15 slides, we’ll break down every critical phase—from initial entry and no-demo discovery to paper-process reverse engineering.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https://youtube.com/watch?v=YS9In813jJ0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8BAC7-6CDB-4DFB-9D6E-DFC8948143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70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"Take a look at the top graphic. That’s how 90% of reps view their pipeline—and why 90% of reps miss quota in enterprise environments."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traditional 5-stage pipeline—Intro, Demo, Proposal, Contracting, Close—is designed for internal accounting, not buyer psychology."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Naive Funnel: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standard funnel assumes buyers move neatly from stage to stage. In reality, large deals stall out because unseen organizational friction sits between those stages.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Alpha Pipeline: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Notice the hidden sub-steps on the bottom pipeline: Pre-Demo Syncs, Post-Demo Debriefs, Pilot Architecture, and Reverse Engineering.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Skipping from Discovery straight to a Demo without a Pre-Demo Sync guarantees an unaligned presentation. The Alpha process builds safety, consensus, and momentum at every single micro-step.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33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"If you are selling deals valued at over $100k, you cannot start at the manager level."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"Focusing on bottom-up selling traps you in 'The Danger Zone'. Managers buy feature-level utility; executives buy organizational transformation and competitive edge—what we call 'Alpha'."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$100k Rule: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Deals of this scale mandate C-suite or top-tier executive sponsorship. Never anchor lower than N-1 (VPs/Directors).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Pincer Model: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Execute a top-down and bottom-up alignment simultaneously. Secure high-level strategic buy-in from the C-Suite while arming your N-1 Champion with the exact data needed to justify the mandate down to managers.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Pitch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Stop selling problem-solving features. Sell how their entire operating model evolves in the age of AI.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79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single most dangerous thing you can do on a first call with an executive is fire up a product demo."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"First discovery calls must be 80% listening and 20% talking. The goal is extraction, not demonstration."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AI Recorders: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AI note-taking bots on these initial executive calls. Executives will not speak candidly or share vulnerable internal politics if a bot is recording them. You immediately destroy your information edge.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Master Question: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 intros quickly and ask: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'What needs to change going into 2027?'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Let them articulate their macro vision while you take raw notes.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Disqualification Metric: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1 out of 4 prospects isn't disqualified here due to maturity gaps, your discovery standards are too low.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29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"Never step into a group demo blind. If you show up to a multi-stakeholder call without pre-aligning, you are gambling."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"We use a 15-minute Pre-Demo Sync with our N-1 Champion to co-author the presentation before the rest of their team sees it."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Script: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Ask your champion: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'Before I present to the broader team, which of these 5 core areas should I focus on? Can you plant [X question] during the session?'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Psychological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combining your framework with their internal context, you build a shared narrative.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champion no longer feels like a prospect being pitched; they become a co-author whose personal reputation is tied to the success of the pitch.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26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quickest way to derail an enterprise deal is to give a tour of every feature in your software."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"Showing 100% of your product leads to objection-building. Buyers look at unused features and think,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'Why pay for all of this when we only need a fraction?'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Novice vs. Alpha Demo: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Novice sellers assume context, show everything, and hope features sell themselves. Alpha sellers restart narrative context for new attendees and show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20% of features that deliver 80% of the strategic value.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Planted Dynamics: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Leverage the questions planted with your champion during Step 4 to guide the room organically.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Tight Framing: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 every screen exclusively around the explicit business priorities extracted during discovery.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69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gap between the end of a demo and the next step is where enterprise deals go to die."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"Maintain absolute momentum through immediate debriefs and working backward from a hard close date."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Instant Text: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second the demo call ends, send a casual text to your champion: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'Raw reaction—how did that go? Where did we lose people?'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Catch negative sentiment before it turns into internal consensus.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Reverse Engineering: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launching a pilot or evaluation, set the target signature date first.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Pre-Pilot Ask: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Ask directly: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'If this evaluation meets every criteria we set, can we realistically have contracts signed by the end of next month?'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Map procurement and legal backwards from that date.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9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"Pricing should never be a slide dumped at the end of a group demo presentation."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"Deliver pricing 1-on-1 with your champion post-demo, positioning yourself in the high-value, high-price target quadrant."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Co-Defending Price: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Present the number and ask: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'How comfortable are you going to bat for this? How can I help you build a slide to defend this internally?'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 Negotiate With Yourself: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buyers push back on price, do not drop your rates immediately. Turn it back to them: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'How do we make this work within your current parameters?'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Year-2 Step-Up: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budget constraints are real, preserve total deal value by using Year-2 step-up pricing rather than discounting Year 1.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75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"Pilots are not trial periods for users to click around and explore; they are tightly controlled validation sprints."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"Never put an Executive Sponsor in a pilot—they aren't end-users. Protect their time and offer two strict paths."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 A (Lightweight Validation):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to 3 days maximum, free of cost, capped at 3–4 power users focused strictly on co-authored, specific tasks. Do not allow meander.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 B (Heavy Integration):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 days, paid upfront, involving technical implementers. Offer to credit the pilot fee back toward the total contract upon signature. Paid pilots instantly validate true buying intent.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"If your win rate is 70% or 80%, stop celebrating—it means your price is significantly too low."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"A healthy, highly profitable enterprise sales motion operates at a 25% to 35% overall win rate."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Conversion Benchmarks: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Aim for a 50% conversion from Qualified Lead to Demo. Once a pilot is successfully executed, your closing rate should be ~80%.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Feedback: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win rates mean you aren't pushing price elasticity. It is far better to lose deals due to prospect maturity gaps than to sell enterprise-grade solutions at bargain prices.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41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"Waiting for a pilot to finish before starting legal and procurement is the single biggest cause of deal slippage."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"Run sales, legal, and procurement tracks in parallel, and eliminate friction with frictionless document formats."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 Execution Tracks: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Forward pricing, security documentation, and draft terms to procurement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pilot is underway.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Rule of Paper: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Never send contract terms as a PDF; always send an editable Word Document (.docx). PDF contracts force legal teams to recreate documents, adding weeks of delay.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Frictionless Positioning: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Ask: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'Do you want to use our paper, or is it faster to lift our terms into your standard template?'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92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"Email threads with legal departments are where momentum goes to die."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"Bypass endless email redlines with live calls, and always identify the true financial signatory early."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 Redline Resolution: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a contract returns with heavy redlines, get counsel from both sides on a 15-minute live call to negotiate terms in real-time. Pick your battles on secondary clauses.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Identifying the Signatory: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Confirm early who holds final signing authority. It is frequently the CFO or VP of Finance, not your champion.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Reframe Procurement: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Procurement is not the enemy. They are simply the only group in the enterprise authorized to release funds to you.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28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"To summarize what separates average reps from top 1% performers, let's look at the four pillars of master sellers."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"Mastery is about information control, process management, and custom experiences."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Extract Intel: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Gather more internal operational leverage than anyone else. Information is control.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Project Manage: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Take 99% of the administrative and organizational burden off your buyer's desk.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Co-Author: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the internal business case alongside your champion.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Slow Down to Go Fast: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Executing 15 controlled micro-steps prevents deal stalls, making it vastly faster than rushing through 5 blind stages.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68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"This slide synthesizes our entire 3-Phase framework onto a single operational blueprint."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"Use this overview to audit where your current pipeline deals are stalling out."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 (Entry &amp; First Contact):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 initial engagement using 3-sentence Alpha pitches, executing the Pincer Model, and enforcing No-Demo first calls.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 (Collaborative Evaluation):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Maintain control by co-authoring demos, focusing only on the 20% core value, and running tightly time-boxed pilots.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3 (Navigating Paper):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Parallel-track procurement, reverse-engineer timeline risks, and use editable docs to clear legal hurdles.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82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Anchor: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"Let's wrap up with the exact conversion metrics and execution principles that govern this system."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"Track your pipeline against these proven conversion benchmarks to maintain accurate forecasting."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Talking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Conversion Ratios: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Expect 50% from Qualified Lead to Demo, 75% from Demo to Pilot, and 80% from Post-Pilot to Signed Contract.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Win Rate: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Keep your overall win rate bounded between 25% and 35%. Higher indicates underpricing; lower indicates poor qualification.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Call to 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Stop treating enterprise sales like a transactional pitch. Run it like an executive management project, build leverage, and co-author every deal to close.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4341-FB0F-4750-A054-B262D8CB8A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2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2BA398-AA2A-A4F8-9865-7A1E3215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A0D97-3D3E-49E2-8D37-35AEA4760B2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3C81AC-3ED5-F88C-2FEB-330C1203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87036-7C71-4968-6148-3797DDCB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A940-65D9-4017-B375-DE84611CD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30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7FD1D-F655-BE16-DCB3-0A18BCD1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1EE79-0EA6-F63F-56E0-CD2A55EFC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1FC4D-1572-5321-9E1A-95DCE2732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A0D97-3D3E-49E2-8D37-35AEA4760B2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A665A-7DCC-65B4-1CC0-BAB947856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BAB05-F92F-718E-A419-F8B4D6D79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6CA940-65D9-4017-B375-DE84611CD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3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E6256F-41B6-F453-19E8-4710327F0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6E58DA-ED70-FC2F-46A3-D5B96D66C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62B17D-D686-DE22-4B62-E97EA6ED2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30670F-8C52-3D97-35C5-832606030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BA8D1E-54F6-86BD-2802-974B8E20F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B3A284-1823-AF58-882E-E80695082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81E1E2-5FAB-443F-636E-22A9519E4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1BA8FC-D60A-0479-40E2-F9FD0647D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ACB630-E8B6-E22A-5590-2B492B3E6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E795F3-D637-3BB1-C957-4B1635E74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CABDA4-7735-3A9B-A082-9E1650BAD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1C9C18-8EC0-50CD-FF34-AFD046FE9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90EA6B-667B-8306-5D7E-B49FC1365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356341-D63B-473D-F7D9-ED33E3351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1503C-7722-066C-01C1-F1D5E5E1A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54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2068</Words>
  <Application>Microsoft Office PowerPoint</Application>
  <PresentationFormat>寬螢幕</PresentationFormat>
  <Paragraphs>107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2026-08-26T14:47:31Z</dcterms:created>
  <dcterms:modified xsi:type="dcterms:W3CDTF">2026-10-19T15:40:24Z</dcterms:modified>
</cp:coreProperties>
</file>