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17EC91-3133-4954-9D61-31B56129C5C1}" v="17" dt="2026-08-30T03:29:15.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7849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modSld">
      <pc:chgData name="Lai, Wilson" userId="2840974a-0d84-4886-90a9-9a3ed79f3a48" providerId="ADAL" clId="{9F23B798-9E84-4552-BA63-E776E805C424}" dt="2026-08-30T03:29:41.663" v="27" actId="166"/>
      <pc:docMkLst>
        <pc:docMk/>
      </pc:docMkLst>
      <pc:sldChg chg="modSp mod modNotesTx">
        <pc:chgData name="Lai, Wilson" userId="2840974a-0d84-4886-90a9-9a3ed79f3a48" providerId="ADAL" clId="{9F23B798-9E84-4552-BA63-E776E805C424}" dt="2026-08-30T03:29:41.663" v="27" actId="166"/>
        <pc:sldMkLst>
          <pc:docMk/>
          <pc:sldMk cId="0" sldId="257"/>
        </pc:sldMkLst>
        <pc:picChg chg="ord">
          <ac:chgData name="Lai, Wilson" userId="2840974a-0d84-4886-90a9-9a3ed79f3a48" providerId="ADAL" clId="{9F23B798-9E84-4552-BA63-E776E805C424}" dt="2026-08-30T03:29:41.663" v="27" actId="166"/>
          <ac:picMkLst>
            <pc:docMk/>
            <pc:sldMk cId="0" sldId="257"/>
            <ac:picMk id="4" creationId="{428B3395-1386-0134-9F54-44AEA226EB01}"/>
          </ac:picMkLst>
        </pc:picChg>
      </pc:sldChg>
      <pc:sldChg chg="modNotesTx">
        <pc:chgData name="Lai, Wilson" userId="2840974a-0d84-4886-90a9-9a3ed79f3a48" providerId="ADAL" clId="{9F23B798-9E84-4552-BA63-E776E805C424}" dt="2026-08-30T03:26:08.024" v="5" actId="12"/>
        <pc:sldMkLst>
          <pc:docMk/>
          <pc:sldMk cId="0" sldId="258"/>
        </pc:sldMkLst>
      </pc:sldChg>
      <pc:sldChg chg="modNotesTx">
        <pc:chgData name="Lai, Wilson" userId="2840974a-0d84-4886-90a9-9a3ed79f3a48" providerId="ADAL" clId="{9F23B798-9E84-4552-BA63-E776E805C424}" dt="2026-08-30T03:26:20.009" v="6" actId="12"/>
        <pc:sldMkLst>
          <pc:docMk/>
          <pc:sldMk cId="0" sldId="259"/>
        </pc:sldMkLst>
      </pc:sldChg>
      <pc:sldChg chg="modNotesTx">
        <pc:chgData name="Lai, Wilson" userId="2840974a-0d84-4886-90a9-9a3ed79f3a48" providerId="ADAL" clId="{9F23B798-9E84-4552-BA63-E776E805C424}" dt="2026-08-30T03:26:30.544" v="7" actId="12"/>
        <pc:sldMkLst>
          <pc:docMk/>
          <pc:sldMk cId="0" sldId="260"/>
        </pc:sldMkLst>
      </pc:sldChg>
      <pc:sldChg chg="modNotesTx">
        <pc:chgData name="Lai, Wilson" userId="2840974a-0d84-4886-90a9-9a3ed79f3a48" providerId="ADAL" clId="{9F23B798-9E84-4552-BA63-E776E805C424}" dt="2026-08-30T03:26:47.596" v="8" actId="12"/>
        <pc:sldMkLst>
          <pc:docMk/>
          <pc:sldMk cId="0" sldId="261"/>
        </pc:sldMkLst>
      </pc:sldChg>
      <pc:sldChg chg="modNotesTx">
        <pc:chgData name="Lai, Wilson" userId="2840974a-0d84-4886-90a9-9a3ed79f3a48" providerId="ADAL" clId="{9F23B798-9E84-4552-BA63-E776E805C424}" dt="2026-08-30T03:27:01.332" v="9" actId="12"/>
        <pc:sldMkLst>
          <pc:docMk/>
          <pc:sldMk cId="0" sldId="262"/>
        </pc:sldMkLst>
      </pc:sldChg>
      <pc:sldChg chg="modNotesTx">
        <pc:chgData name="Lai, Wilson" userId="2840974a-0d84-4886-90a9-9a3ed79f3a48" providerId="ADAL" clId="{9F23B798-9E84-4552-BA63-E776E805C424}" dt="2026-08-30T03:27:14.546" v="11" actId="12"/>
        <pc:sldMkLst>
          <pc:docMk/>
          <pc:sldMk cId="0" sldId="263"/>
        </pc:sldMkLst>
      </pc:sldChg>
      <pc:sldChg chg="modNotesTx">
        <pc:chgData name="Lai, Wilson" userId="2840974a-0d84-4886-90a9-9a3ed79f3a48" providerId="ADAL" clId="{9F23B798-9E84-4552-BA63-E776E805C424}" dt="2026-08-30T03:27:32.064" v="14" actId="12"/>
        <pc:sldMkLst>
          <pc:docMk/>
          <pc:sldMk cId="0" sldId="264"/>
        </pc:sldMkLst>
      </pc:sldChg>
      <pc:sldChg chg="modNotesTx">
        <pc:chgData name="Lai, Wilson" userId="2840974a-0d84-4886-90a9-9a3ed79f3a48" providerId="ADAL" clId="{9F23B798-9E84-4552-BA63-E776E805C424}" dt="2026-08-30T03:27:43.574" v="15" actId="12"/>
        <pc:sldMkLst>
          <pc:docMk/>
          <pc:sldMk cId="0" sldId="265"/>
        </pc:sldMkLst>
      </pc:sldChg>
      <pc:sldChg chg="modNotesTx">
        <pc:chgData name="Lai, Wilson" userId="2840974a-0d84-4886-90a9-9a3ed79f3a48" providerId="ADAL" clId="{9F23B798-9E84-4552-BA63-E776E805C424}" dt="2026-08-30T03:28:00.998" v="16" actId="12"/>
        <pc:sldMkLst>
          <pc:docMk/>
          <pc:sldMk cId="0" sldId="266"/>
        </pc:sldMkLst>
      </pc:sldChg>
      <pc:sldChg chg="modNotesTx">
        <pc:chgData name="Lai, Wilson" userId="2840974a-0d84-4886-90a9-9a3ed79f3a48" providerId="ADAL" clId="{9F23B798-9E84-4552-BA63-E776E805C424}" dt="2026-08-30T03:28:15.639" v="17" actId="12"/>
        <pc:sldMkLst>
          <pc:docMk/>
          <pc:sldMk cId="0" sldId="267"/>
        </pc:sldMkLst>
      </pc:sldChg>
      <pc:sldChg chg="modNotesTx">
        <pc:chgData name="Lai, Wilson" userId="2840974a-0d84-4886-90a9-9a3ed79f3a48" providerId="ADAL" clId="{9F23B798-9E84-4552-BA63-E776E805C424}" dt="2026-08-30T03:28:26.005" v="18" actId="12"/>
        <pc:sldMkLst>
          <pc:docMk/>
          <pc:sldMk cId="0" sldId="268"/>
        </pc:sldMkLst>
      </pc:sldChg>
      <pc:sldChg chg="modNotesTx">
        <pc:chgData name="Lai, Wilson" userId="2840974a-0d84-4886-90a9-9a3ed79f3a48" providerId="ADAL" clId="{9F23B798-9E84-4552-BA63-E776E805C424}" dt="2026-08-30T03:28:46.825" v="19" actId="12"/>
        <pc:sldMkLst>
          <pc:docMk/>
          <pc:sldMk cId="0" sldId="270"/>
        </pc:sldMkLst>
      </pc:sldChg>
      <pc:sldChg chg="modNotesTx">
        <pc:chgData name="Lai, Wilson" userId="2840974a-0d84-4886-90a9-9a3ed79f3a48" providerId="ADAL" clId="{9F23B798-9E84-4552-BA63-E776E805C424}" dt="2026-08-30T03:29:05.130" v="23" actId="12"/>
        <pc:sldMkLst>
          <pc:docMk/>
          <pc:sldMk cId="0" sldId="271"/>
        </pc:sldMkLst>
      </pc:sldChg>
      <pc:sldChg chg="modNotesTx">
        <pc:chgData name="Lai, Wilson" userId="2840974a-0d84-4886-90a9-9a3ed79f3a48" providerId="ADAL" clId="{9F23B798-9E84-4552-BA63-E776E805C424}" dt="2026-08-30T03:29:31.710" v="26" actId="12"/>
        <pc:sldMkLst>
          <pc:docMk/>
          <pc:sldMk cId="372142231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5CFB75-51C4-4A90-A009-821A2D61701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3CF6B-FCCB-477C-930A-A2531CFD6781}" type="slidenum">
              <a:rPr lang="en-US" smtClean="0"/>
              <a:t>‹#›</a:t>
            </a:fld>
            <a:endParaRPr lang="en-US"/>
          </a:p>
        </p:txBody>
      </p:sp>
    </p:spTree>
    <p:extLst>
      <p:ext uri="{BB962C8B-B14F-4D97-AF65-F5344CB8AC3E}">
        <p14:creationId xmlns:p14="http://schemas.microsoft.com/office/powerpoint/2010/main" val="2200938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our Q3 Macroeconomic Diagnostic Presentation.</a:t>
            </a:r>
          </a:p>
          <a:p>
            <a:r>
              <a:rPr lang="en-US" dirty="0"/>
              <a:t>Today, we are laying out a rigorous, data-driven analysis of what we view as an increasingly precarious macro environment—a literal </a:t>
            </a:r>
            <a:r>
              <a:rPr lang="en-US" b="1" dirty="0"/>
              <a:t>"Global Macro House of Cards."</a:t>
            </a:r>
            <a:endParaRPr lang="en-US" dirty="0"/>
          </a:p>
          <a:p>
            <a:r>
              <a:rPr lang="en-US" dirty="0"/>
              <a:t>As institutional allocators, our primary mandate is capital preservation and tactical positioning ahead of major structural regime shifts. Right now, market pricing reflects widespread complacency. Equity markets have been bidding up mega-cap tech and AI infrastructure to extreme valuation multiples. However, beneath the surface, the real economy is fracturing.</a:t>
            </a:r>
          </a:p>
          <a:p>
            <a:r>
              <a:rPr lang="en-US" dirty="0"/>
              <a:t>We are projecting a </a:t>
            </a:r>
            <a:r>
              <a:rPr lang="en-US" b="1" dirty="0"/>
              <a:t>40% to 50% drawdown in major equity indices</a:t>
            </a:r>
            <a:r>
              <a:rPr lang="en-US" dirty="0"/>
              <a:t> over the coming cycle. This is not an alarmist headline; it is a mathematical outcome driven by four converging structural headwinds:</a:t>
            </a:r>
          </a:p>
          <a:p>
            <a:pPr marL="228600" lvl="0" indent="-228600">
              <a:buFont typeface="+mj-lt"/>
              <a:buAutoNum type="arabicPeriod"/>
            </a:pPr>
            <a:r>
              <a:rPr lang="en-US" b="1" dirty="0"/>
              <a:t>Debt Overhang:</a:t>
            </a:r>
            <a:r>
              <a:rPr lang="en-US" dirty="0"/>
              <a:t> Global sovereign and corporate debt levels stand at historic highs, exceeding </a:t>
            </a:r>
            <a:r>
              <a:rPr lang="en-US" b="1" dirty="0"/>
              <a:t>350% of global GDP</a:t>
            </a:r>
            <a:r>
              <a:rPr lang="en-US" dirty="0"/>
              <a:t>.</a:t>
            </a:r>
          </a:p>
          <a:p>
            <a:pPr marL="228600" lvl="0" indent="-228600">
              <a:buFont typeface="+mj-lt"/>
              <a:buAutoNum type="arabicPeriod"/>
            </a:pPr>
            <a:r>
              <a:rPr lang="en-US" b="1" dirty="0"/>
              <a:t>Liquidity Constraints:</a:t>
            </a:r>
            <a:r>
              <a:rPr lang="en-US" dirty="0"/>
              <a:t> Ongoing quantitative tightening (QT) and central bank policy rates remain elevated, draining systemic liquidity.</a:t>
            </a:r>
          </a:p>
          <a:p>
            <a:pPr marL="228600" lvl="0" indent="-228600">
              <a:buFont typeface="+mj-lt"/>
              <a:buAutoNum type="arabicPeriod"/>
            </a:pPr>
            <a:r>
              <a:rPr lang="en-US" b="1" dirty="0"/>
              <a:t>Market Fragility:</a:t>
            </a:r>
            <a:r>
              <a:rPr lang="en-US" dirty="0"/>
              <a:t> Sky-high equity valuations have completely decoupled from underlying macroeconomic fundamentals and earnings realities.</a:t>
            </a:r>
          </a:p>
          <a:p>
            <a:pPr marL="228600" lvl="0" indent="-228600">
              <a:buFont typeface="+mj-lt"/>
              <a:buAutoNum type="arabicPeriod"/>
            </a:pPr>
            <a:r>
              <a:rPr lang="en-US" b="1" dirty="0"/>
              <a:t>Capital Reallocation:</a:t>
            </a:r>
            <a:r>
              <a:rPr lang="en-US" dirty="0"/>
              <a:t> Smart money is already shifting out of hyper-growth risk assets and quietly moving into hard assets, long-duration treasuries, and defensive cash buffers.</a:t>
            </a:r>
          </a:p>
          <a:p>
            <a:r>
              <a:rPr lang="en-US" dirty="0"/>
              <a:t>Over the next hour, we will walk through the mechanical feedback loops driving this drawdown and outline the exact playbook for capital reallocation.</a:t>
            </a:r>
          </a:p>
          <a:p>
            <a:endParaRPr lang="en-US" dirty="0"/>
          </a:p>
          <a:p>
            <a:endParaRPr lang="en-US" dirty="0"/>
          </a:p>
          <a:p>
            <a:endParaRPr lang="en-US" dirty="0"/>
          </a:p>
          <a:p>
            <a:r>
              <a:rPr lang="en-US" dirty="0"/>
              <a:t>https://www.youtube.com/watch?v=5KYh-RMH2R8</a:t>
            </a:r>
          </a:p>
        </p:txBody>
      </p:sp>
      <p:sp>
        <p:nvSpPr>
          <p:cNvPr id="4" name="Slide Number Placeholder 3"/>
          <p:cNvSpPr>
            <a:spLocks noGrp="1"/>
          </p:cNvSpPr>
          <p:nvPr>
            <p:ph type="sldNum" sz="quarter" idx="5"/>
          </p:nvPr>
        </p:nvSpPr>
        <p:spPr/>
        <p:txBody>
          <a:bodyPr/>
          <a:lstStyle/>
          <a:p>
            <a:fld id="{4783CF6B-FCCB-477C-930A-A2531CFD6781}" type="slidenum">
              <a:rPr lang="en-US" smtClean="0"/>
              <a:t>1</a:t>
            </a:fld>
            <a:endParaRPr lang="en-US"/>
          </a:p>
        </p:txBody>
      </p:sp>
    </p:spTree>
    <p:extLst>
      <p:ext uri="{BB962C8B-B14F-4D97-AF65-F5344CB8AC3E}">
        <p14:creationId xmlns:p14="http://schemas.microsoft.com/office/powerpoint/2010/main" val="1476337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we are going, we must evaluate where we have been.</a:t>
            </a:r>
          </a:p>
          <a:p>
            <a:r>
              <a:rPr lang="en-US" dirty="0"/>
              <a:t>A 40–50% market drawdown might sound extreme to retail investors, but historical precedent proves it is the standard clearing mechanism when structural leverage unravels:</a:t>
            </a:r>
          </a:p>
          <a:p>
            <a:pPr marL="171450" lvl="0" indent="-171450">
              <a:buFont typeface="Arial" panose="020B0604020202020204" pitchFamily="34" charset="0"/>
              <a:buChar char="•"/>
            </a:pPr>
            <a:r>
              <a:rPr lang="en-US" b="1" dirty="0"/>
              <a:t>The 2000 Dot-Com Bust:</a:t>
            </a:r>
            <a:r>
              <a:rPr lang="en-US" dirty="0"/>
              <a:t> S&amp;P 500 suffered a </a:t>
            </a:r>
            <a:r>
              <a:rPr lang="en-US" b="1" dirty="0"/>
              <a:t>50% drawdown</a:t>
            </a:r>
            <a:r>
              <a:rPr lang="en-US" dirty="0"/>
              <a:t> over 24 months as unprofitable tech valuations collapsed.</a:t>
            </a:r>
          </a:p>
          <a:p>
            <a:pPr marL="171450" lvl="0" indent="-171450">
              <a:buFont typeface="Arial" panose="020B0604020202020204" pitchFamily="34" charset="0"/>
              <a:buChar char="•"/>
            </a:pPr>
            <a:r>
              <a:rPr lang="en-US" b="1" dirty="0"/>
              <a:t>The 2008 Great Financial Crisis:</a:t>
            </a:r>
            <a:r>
              <a:rPr lang="en-US" dirty="0"/>
              <a:t> S&amp;P 500 suffered a </a:t>
            </a:r>
            <a:r>
              <a:rPr lang="en-US" b="1" dirty="0"/>
              <a:t>50% drawdown</a:t>
            </a:r>
            <a:r>
              <a:rPr lang="en-US" dirty="0"/>
              <a:t> over 18 months, with the bulk of the liquidation occurring rapidly within a 9-month window.</a:t>
            </a:r>
          </a:p>
          <a:p>
            <a:r>
              <a:rPr lang="en-US" dirty="0"/>
              <a:t>Our current cycle projection matches these historical precedents. Why? Because the real economy is being squeezed by a </a:t>
            </a:r>
            <a:r>
              <a:rPr lang="en-US" b="1" dirty="0"/>
              <a:t>Triad of Systemic Pillars</a:t>
            </a:r>
            <a:r>
              <a:rPr lang="en-US" dirty="0"/>
              <a:t>:</a:t>
            </a:r>
          </a:p>
          <a:p>
            <a:pPr marL="171450" lvl="0" indent="-171450">
              <a:buFont typeface="Arial" panose="020B0604020202020204" pitchFamily="34" charset="0"/>
              <a:buChar char="•"/>
            </a:pPr>
            <a:r>
              <a:rPr lang="en-US" b="1" dirty="0"/>
              <a:t>Pillar 1: The AI Capex Illusion:</a:t>
            </a:r>
            <a:r>
              <a:rPr lang="en-US" dirty="0"/>
              <a:t> Unprecedented levels of capital expenditure in AI infrastructure are failing to show broad-based productivity gains or end-user monetization, creating a massive divergence gap.</a:t>
            </a:r>
          </a:p>
          <a:p>
            <a:pPr marL="171450" lvl="0" indent="-171450">
              <a:buFont typeface="Arial" panose="020B0604020202020204" pitchFamily="34" charset="0"/>
              <a:buChar char="•"/>
            </a:pPr>
            <a:r>
              <a:rPr lang="en-US" b="1" dirty="0"/>
              <a:t>Pillar 2: The US Housing Freeze:</a:t>
            </a:r>
            <a:r>
              <a:rPr lang="en-US" dirty="0"/>
              <a:t> Near-record low inventory combined with elevated mortgage rates has completely locked up transaction volumes, stalling 20% of US GDP activity.</a:t>
            </a:r>
          </a:p>
          <a:p>
            <a:pPr marL="171450" lvl="0" indent="-171450">
              <a:buFont typeface="Arial" panose="020B0604020202020204" pitchFamily="34" charset="0"/>
              <a:buChar char="•"/>
            </a:pPr>
            <a:r>
              <a:rPr lang="en-US" b="1" dirty="0"/>
              <a:t>Pillar 3: China’s Demographic Deflation:</a:t>
            </a:r>
            <a:r>
              <a:rPr lang="en-US" dirty="0"/>
              <a:t> Structural aging, 150 million workers retiring without a safety net, and a real estate collapse are forcing China into a deflationary spiral.</a:t>
            </a:r>
          </a:p>
          <a:p>
            <a:r>
              <a:rPr lang="en-US" b="1" dirty="0"/>
              <a:t>Crucial Takeaway:</a:t>
            </a:r>
            <a:r>
              <a:rPr lang="en-US" dirty="0"/>
              <a:t> Do not count on central banks to save risk assets early. Historically, central bank intervention—like Fed rate cuts or QE—arrives </a:t>
            </a:r>
            <a:r>
              <a:rPr lang="en-US" i="1" dirty="0"/>
              <a:t>after</a:t>
            </a:r>
            <a:r>
              <a:rPr lang="en-US" dirty="0"/>
              <a:t> the terminal economic and financial damage has already occurred.</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2</a:t>
            </a:fld>
            <a:endParaRPr lang="en-US"/>
          </a:p>
        </p:txBody>
      </p:sp>
    </p:spTree>
    <p:extLst>
      <p:ext uri="{BB962C8B-B14F-4D97-AF65-F5344CB8AC3E}">
        <p14:creationId xmlns:p14="http://schemas.microsoft.com/office/powerpoint/2010/main" val="3151741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dive deep into </a:t>
            </a:r>
            <a:r>
              <a:rPr lang="en-US" b="1" dirty="0"/>
              <a:t>Pillar 1: The AI Capex Illusion</a:t>
            </a:r>
            <a:r>
              <a:rPr lang="en-US" dirty="0"/>
              <a:t>.</a:t>
            </a:r>
          </a:p>
          <a:p>
            <a:r>
              <a:rPr lang="en-US" dirty="0"/>
              <a:t>The market narrative claims AI is a secular productivity boom. The financial reality is that AI is currently a financialized capex bubble approaching an unforgiving credit ceiling.</a:t>
            </a:r>
          </a:p>
          <a:p>
            <a:r>
              <a:rPr lang="en-US" dirty="0"/>
              <a:t>Let’s examine three critical institutional signals:</a:t>
            </a:r>
          </a:p>
          <a:p>
            <a:pPr marL="228600" lvl="0" indent="-228600">
              <a:buFont typeface="+mj-lt"/>
              <a:buAutoNum type="arabicPeriod"/>
            </a:pPr>
            <a:r>
              <a:rPr lang="en-US" b="1" dirty="0"/>
              <a:t>The OpenAI Signal:</a:t>
            </a:r>
            <a:r>
              <a:rPr lang="en-US" dirty="0"/>
              <a:t> Late last year, OpenAI leadership—including Sam Altman and CFO Sarah Friar—floated the idea of federal government financing. Why would the world's most hyper-funded tech company ask for government backing? Because the primary private credit engines funding this buildout are reaching the end of their credit cycle.</a:t>
            </a:r>
          </a:p>
          <a:p>
            <a:pPr marL="228600" lvl="0" indent="-228600">
              <a:buFont typeface="+mj-lt"/>
              <a:buAutoNum type="arabicPeriod"/>
            </a:pPr>
            <a:r>
              <a:rPr lang="en-US" b="1" dirty="0"/>
              <a:t>Private Credit Freeze:</a:t>
            </a:r>
            <a:r>
              <a:rPr lang="en-US" dirty="0"/>
              <a:t> Private credit spreads are widening. Corporate signaling shows that despite top-line revenue hype, internal cash-flow stress is mounting.</a:t>
            </a:r>
          </a:p>
          <a:p>
            <a:pPr marL="228600" lvl="0" indent="-228600">
              <a:buFont typeface="+mj-lt"/>
              <a:buAutoNum type="arabicPeriod"/>
            </a:pPr>
            <a:r>
              <a:rPr lang="en-US" b="1" dirty="0"/>
              <a:t>The Apollo Warning:</a:t>
            </a:r>
            <a:r>
              <a:rPr lang="en-US" dirty="0"/>
              <a:t> As highlighted by Apollo Global Management, the vast majority of current revenue generated within the AI ecosystem comes from </a:t>
            </a:r>
            <a:r>
              <a:rPr lang="en-US" b="1" dirty="0"/>
              <a:t>investors funding infrastructure</a:t>
            </a:r>
            <a:r>
              <a:rPr lang="en-US" dirty="0"/>
              <a:t>, not from actual paying end-use customers.</a:t>
            </a:r>
          </a:p>
          <a:p>
            <a:r>
              <a:rPr lang="en-US" dirty="0"/>
              <a:t>When tech companies trade circular revenue—where Big Tech invests in startups, who then use those funds to buy Big Tech's chips or cloud credits—that is the textbook definition of a late-stage capex illusion.</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3</a:t>
            </a:fld>
            <a:endParaRPr lang="en-US"/>
          </a:p>
        </p:txBody>
      </p:sp>
    </p:spTree>
    <p:extLst>
      <p:ext uri="{BB962C8B-B14F-4D97-AF65-F5344CB8AC3E}">
        <p14:creationId xmlns:p14="http://schemas.microsoft.com/office/powerpoint/2010/main" val="3398146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chip orders get so inflated? The answer lies in classic </a:t>
            </a:r>
            <a:r>
              <a:rPr lang="en-US" b="1" dirty="0"/>
              <a:t>Game Theory and Supply-Chain Distortion</a:t>
            </a:r>
            <a:r>
              <a:rPr lang="en-US" dirty="0"/>
              <a:t>.</a:t>
            </a:r>
          </a:p>
          <a:p>
            <a:r>
              <a:rPr lang="en-US" dirty="0"/>
              <a:t>During any capex boom where allocation is constrained, double-ordering takes over:</a:t>
            </a:r>
          </a:p>
          <a:p>
            <a:pPr marL="171450" lvl="0" indent="-171450">
              <a:buFont typeface="Arial" panose="020B0604020202020204" pitchFamily="34" charset="0"/>
              <a:buChar char="•"/>
            </a:pPr>
            <a:r>
              <a:rPr lang="en-US" b="1" dirty="0"/>
              <a:t>Step 1 (True Need):</a:t>
            </a:r>
            <a:r>
              <a:rPr lang="en-US" dirty="0"/>
              <a:t> Company A needs 1,000,000 AI chips to fulfill real operational demand.</a:t>
            </a:r>
          </a:p>
          <a:p>
            <a:pPr marL="171450" lvl="0" indent="-171450">
              <a:buFont typeface="Arial" panose="020B0604020202020204" pitchFamily="34" charset="0"/>
              <a:buChar char="•"/>
            </a:pPr>
            <a:r>
              <a:rPr lang="en-US" b="1" dirty="0"/>
              <a:t>Step 2 (Capacity Constraint):</a:t>
            </a:r>
            <a:r>
              <a:rPr lang="en-US" dirty="0"/>
              <a:t> The semiconductor supplier informs them that due to supply limits, orders are capped at a 50% allocation—meaning Company A will only get 500,000 chips.</a:t>
            </a:r>
          </a:p>
          <a:p>
            <a:pPr marL="171450" lvl="0" indent="-171450">
              <a:buFont typeface="Arial" panose="020B0604020202020204" pitchFamily="34" charset="0"/>
              <a:buChar char="•"/>
            </a:pPr>
            <a:r>
              <a:rPr lang="en-US" b="1" dirty="0"/>
              <a:t>Step 3 (The Distortion):</a:t>
            </a:r>
            <a:r>
              <a:rPr lang="en-US" dirty="0"/>
              <a:t> To secure their actual need of 1,000,000 chips, Company A artificially inflates their order to 2,000,000 chips.</a:t>
            </a:r>
          </a:p>
          <a:p>
            <a:r>
              <a:rPr lang="en-US" b="1" dirty="0"/>
              <a:t>The Consequence:</a:t>
            </a:r>
            <a:r>
              <a:rPr lang="en-US" dirty="0"/>
              <a:t> Recent industry surveys reveal that </a:t>
            </a:r>
            <a:r>
              <a:rPr lang="en-US" b="1" dirty="0"/>
              <a:t>50% of market participants admit to double-ordering</a:t>
            </a:r>
            <a:r>
              <a:rPr lang="en-US" dirty="0"/>
              <a:t>. This has created a massive </a:t>
            </a:r>
            <a:r>
              <a:rPr lang="en-US" b="1" dirty="0"/>
              <a:t>Phantom Backlog</a:t>
            </a:r>
            <a:r>
              <a:rPr lang="en-US" dirty="0"/>
              <a:t>.</a:t>
            </a:r>
          </a:p>
          <a:p>
            <a:r>
              <a:rPr lang="en-US" dirty="0"/>
              <a:t>Chains of chips are sitting in shadow inventory warehouses, often leveraged as collateral in private credit deals. These chips are waiting for data center facilities that, as we will see on the next slide, physically cannot be powered. When these double-orders get canceled, order books will collapse rapidly.</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4</a:t>
            </a:fld>
            <a:endParaRPr lang="en-US"/>
          </a:p>
        </p:txBody>
      </p:sp>
    </p:spTree>
    <p:extLst>
      <p:ext uri="{BB962C8B-B14F-4D97-AF65-F5344CB8AC3E}">
        <p14:creationId xmlns:p14="http://schemas.microsoft.com/office/powerpoint/2010/main" val="550593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buildout faces two immovable brick walls: </a:t>
            </a:r>
            <a:r>
              <a:rPr lang="en-US" b="1" dirty="0"/>
              <a:t>Physical Grid Capacity</a:t>
            </a:r>
            <a:r>
              <a:rPr lang="en-US" dirty="0"/>
              <a:t> and </a:t>
            </a:r>
            <a:r>
              <a:rPr lang="en-US" b="1" dirty="0"/>
              <a:t>Second Derivative Math</a:t>
            </a:r>
            <a:r>
              <a:rPr lang="en-US" dirty="0"/>
              <a:t>.</a:t>
            </a:r>
          </a:p>
          <a:p>
            <a:r>
              <a:rPr lang="en-US" dirty="0"/>
              <a:t>First, the physical ceiling. Big Tech can pledge hundreds of billions in AI capex, but non-binding Memorandums of Understanding (MOUs) do not equal grid interconnects. Transmission line buildouts take 5 to 10 years. You cannot run gigawatt-scale data centers on vaporware press releases.</a:t>
            </a:r>
          </a:p>
          <a:p>
            <a:r>
              <a:rPr lang="en-US" dirty="0"/>
              <a:t>Second, look at the market charts on this slide. Semiconductors are the ultimate growth lead indicators.</a:t>
            </a:r>
          </a:p>
          <a:p>
            <a:pPr marL="171450" lvl="0" indent="-171450">
              <a:buFont typeface="Arial" panose="020B0604020202020204" pitchFamily="34" charset="0"/>
              <a:buChar char="•"/>
            </a:pPr>
            <a:r>
              <a:rPr lang="en-US" dirty="0"/>
              <a:t>The global semiconductor complex peaked in </a:t>
            </a:r>
            <a:r>
              <a:rPr lang="en-US" b="1" dirty="0"/>
              <a:t>June 2024</a:t>
            </a:r>
            <a:r>
              <a:rPr lang="en-US" dirty="0"/>
              <a:t>.</a:t>
            </a:r>
          </a:p>
          <a:p>
            <a:pPr marL="171450" lvl="0" indent="-171450">
              <a:buFont typeface="Arial" panose="020B0604020202020204" pitchFamily="34" charset="0"/>
              <a:buChar char="•"/>
            </a:pPr>
            <a:r>
              <a:rPr lang="en-US" dirty="0"/>
              <a:t>Look at South Korea’s benchmark index—heavily weighted towards memory chip leaders SK Hynix and Samsung—it has already dropped </a:t>
            </a:r>
            <a:r>
              <a:rPr lang="en-US" b="1" dirty="0"/>
              <a:t>30% to 35% off its summer highs</a:t>
            </a:r>
            <a:r>
              <a:rPr lang="en-US" dirty="0"/>
              <a:t>.</a:t>
            </a:r>
          </a:p>
          <a:p>
            <a:r>
              <a:rPr lang="en-US" dirty="0"/>
              <a:t>In hyper-growth equities, a deceleration in growth rate—the negative second derivative—permanently destroys peak multiples. You do not need capex to drop to zero; you simply need the growth rate to slow down, and market valuations will re-rate downward violently.</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5</a:t>
            </a:fld>
            <a:endParaRPr lang="en-US"/>
          </a:p>
        </p:txBody>
      </p:sp>
    </p:spTree>
    <p:extLst>
      <p:ext uri="{BB962C8B-B14F-4D97-AF65-F5344CB8AC3E}">
        <p14:creationId xmlns:p14="http://schemas.microsoft.com/office/powerpoint/2010/main" val="2121221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pivot to </a:t>
            </a:r>
            <a:r>
              <a:rPr lang="en-US" b="1" dirty="0"/>
              <a:t>Pillar 2: The US Housing Freeze</a:t>
            </a:r>
            <a:r>
              <a:rPr lang="en-US" dirty="0"/>
              <a:t>.</a:t>
            </a:r>
          </a:p>
          <a:p>
            <a:r>
              <a:rPr lang="en-US" dirty="0"/>
              <a:t>Housing accounts for approximately 20% of US GDP. Today, the US housing market is experiencing a severe structural freeze caused by a demographic transfer gap:</a:t>
            </a:r>
          </a:p>
          <a:p>
            <a:pPr marL="171450" lvl="0" indent="-171450">
              <a:buFont typeface="Arial" panose="020B0604020202020204" pitchFamily="34" charset="0"/>
              <a:buChar char="•"/>
            </a:pPr>
            <a:r>
              <a:rPr lang="en-US" b="1" dirty="0"/>
              <a:t>The Supply Side:</a:t>
            </a:r>
            <a:r>
              <a:rPr lang="en-US" dirty="0"/>
              <a:t> Approximately </a:t>
            </a:r>
            <a:r>
              <a:rPr lang="en-US" b="1" dirty="0"/>
              <a:t>60% of all owner-occupied housing inventory</a:t>
            </a:r>
            <a:r>
              <a:rPr lang="en-US" dirty="0"/>
              <a:t> is held by aging Baby Boomers.</a:t>
            </a:r>
          </a:p>
          <a:p>
            <a:pPr marL="171450" lvl="0" indent="-171450">
              <a:buFont typeface="Arial" panose="020B0604020202020204" pitchFamily="34" charset="0"/>
              <a:buChar char="•"/>
            </a:pPr>
            <a:r>
              <a:rPr lang="en-US" b="1" dirty="0"/>
              <a:t>The Demand Side:</a:t>
            </a:r>
            <a:r>
              <a:rPr lang="en-US" dirty="0"/>
              <a:t> Millennials attempting to form households are hitting an absolute affordability wall due to high prices and 7%+ mortgage rates.</a:t>
            </a:r>
          </a:p>
          <a:p>
            <a:r>
              <a:rPr lang="en-US" dirty="0"/>
              <a:t>This has created the </a:t>
            </a:r>
            <a:r>
              <a:rPr lang="en-US" b="1" dirty="0"/>
              <a:t>largest gap on record between homes listed for sale versus actual homes sold</a:t>
            </a:r>
            <a:r>
              <a:rPr lang="en-US" dirty="0"/>
              <a:t>. Buyers are on a complete strike.</a:t>
            </a:r>
          </a:p>
          <a:p>
            <a:r>
              <a:rPr lang="en-US" dirty="0"/>
              <a:t>Our quantitative modeling indicates that US housing is currently </a:t>
            </a:r>
            <a:r>
              <a:rPr lang="en-US" b="1" dirty="0"/>
              <a:t>30% structurally overvalued</a:t>
            </a:r>
            <a:r>
              <a:rPr lang="en-US" dirty="0"/>
              <a:t> relative to median incomes and interest rates. Low transaction volume is currently masking price stagnation, but clearing this frozen market will ultimately require a downward price readjustment.</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6</a:t>
            </a:fld>
            <a:endParaRPr lang="en-US"/>
          </a:p>
        </p:txBody>
      </p:sp>
    </p:spTree>
    <p:extLst>
      <p:ext uri="{BB962C8B-B14F-4D97-AF65-F5344CB8AC3E}">
        <p14:creationId xmlns:p14="http://schemas.microsoft.com/office/powerpoint/2010/main" val="167102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frozen housing market matter for equity markets? Because housing weakness creates a broad-based economic contagion.</a:t>
            </a:r>
          </a:p>
          <a:p>
            <a:r>
              <a:rPr lang="en-US" dirty="0"/>
              <a:t>Look at the three ripple stages mapped out here:</a:t>
            </a:r>
          </a:p>
          <a:p>
            <a:pPr marL="228600" lvl="0" indent="-228600">
              <a:buFont typeface="+mj-lt"/>
              <a:buAutoNum type="arabicPeriod"/>
            </a:pPr>
            <a:r>
              <a:rPr lang="en-US" b="1" dirty="0"/>
              <a:t>Ripple 1 (Leading Indicators):</a:t>
            </a:r>
            <a:r>
              <a:rPr lang="en-US" dirty="0"/>
              <a:t> The rollover began silently in 2022 when new building permits peaked and turned downward. Construction starts and housing starts continue to soften.</a:t>
            </a:r>
          </a:p>
          <a:p>
            <a:pPr marL="228600" lvl="0" indent="-228600">
              <a:buFont typeface="+mj-lt"/>
              <a:buAutoNum type="arabicPeriod"/>
            </a:pPr>
            <a:r>
              <a:rPr lang="en-US" b="1" dirty="0"/>
              <a:t>Ripple 2 (Ancillary Collapse):</a:t>
            </a:r>
            <a:r>
              <a:rPr lang="en-US" dirty="0"/>
              <a:t> When housing transactions freeze, it dries up spending across the entire real estate matrix—title insurance, mortgage origination, remodeling, furniture, and major appliance sales.</a:t>
            </a:r>
          </a:p>
          <a:p>
            <a:pPr marL="228600" lvl="0" indent="-228600">
              <a:buFont typeface="+mj-lt"/>
              <a:buAutoNum type="arabicPeriod"/>
            </a:pPr>
            <a:r>
              <a:rPr lang="en-US" b="1" dirty="0"/>
              <a:t>Ripple 3 (Consumer Contagion):</a:t>
            </a:r>
            <a:r>
              <a:rPr lang="en-US" dirty="0"/>
              <a:t> Homeowners rely on the "wealth effect" of home equity. As transaction illiquidity translates into price concessions, consumer confidence collapses. We are already seeing earnings reports from mass retailers like Walmart highlighting that lower- and middle-income consumers are under severe budget strain.</a:t>
            </a:r>
          </a:p>
          <a:p>
            <a:r>
              <a:rPr lang="en-US" dirty="0"/>
              <a:t>Historically, housing spillovers drag the broader economy into a formal recession. By the time real estate price drops hit mainstream media headlines, the recession is already well underway.</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7</a:t>
            </a:fld>
            <a:endParaRPr lang="en-US"/>
          </a:p>
        </p:txBody>
      </p:sp>
    </p:spTree>
    <p:extLst>
      <p:ext uri="{BB962C8B-B14F-4D97-AF65-F5344CB8AC3E}">
        <p14:creationId xmlns:p14="http://schemas.microsoft.com/office/powerpoint/2010/main" val="3020643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a:t>
            </a:r>
            <a:r>
              <a:rPr lang="en-US" b="1" dirty="0"/>
              <a:t>Pillar 3: China's Structural Collapse</a:t>
            </a:r>
            <a:r>
              <a:rPr lang="en-US" dirty="0"/>
              <a:t>.</a:t>
            </a:r>
          </a:p>
          <a:p>
            <a:r>
              <a:rPr lang="en-US" dirty="0"/>
              <a:t>China is not facing a cyclical slowdown; it has entered an irreversible demographic and deflationary doom loop.</a:t>
            </a:r>
          </a:p>
          <a:p>
            <a:pPr marL="228600" lvl="0" indent="-228600">
              <a:buFont typeface="Arial" panose="020B0604020202020204" pitchFamily="34" charset="0"/>
              <a:buChar char="•"/>
            </a:pPr>
            <a:r>
              <a:rPr lang="en-US" b="1" dirty="0"/>
              <a:t>Step 1 (Demographic Cliff):</a:t>
            </a:r>
            <a:r>
              <a:rPr lang="en-US" dirty="0"/>
              <a:t> China's population began contracting in 2020. Over the current decade, China is losing roughly </a:t>
            </a:r>
            <a:r>
              <a:rPr lang="en-US" b="1" dirty="0"/>
              <a:t>150 million prime working-age individuals</a:t>
            </a:r>
            <a:r>
              <a:rPr lang="en-US" dirty="0"/>
              <a:t> who are aging out into retirement.</a:t>
            </a:r>
          </a:p>
          <a:p>
            <a:pPr marL="228600" lvl="0" indent="-228600">
              <a:buFont typeface="Arial" panose="020B0604020202020204" pitchFamily="34" charset="0"/>
              <a:buChar char="•"/>
            </a:pPr>
            <a:r>
              <a:rPr lang="en-US" b="1" dirty="0"/>
              <a:t>Step 2 (The Savings Crisis):</a:t>
            </a:r>
            <a:r>
              <a:rPr lang="en-US" dirty="0"/>
              <a:t> China lacks a comprehensive social safety net or pension buffer. As workers age, citizens enter hyper-saving mode to protect themselves, dragging velocity of money down.</a:t>
            </a:r>
          </a:p>
          <a:p>
            <a:pPr marL="228600" lvl="0" indent="-228600">
              <a:buFont typeface="Arial" panose="020B0604020202020204" pitchFamily="34" charset="0"/>
              <a:buChar char="•"/>
            </a:pPr>
            <a:r>
              <a:rPr lang="en-US" b="1" dirty="0"/>
              <a:t>Step 3 (Consumption Collapse):</a:t>
            </a:r>
            <a:r>
              <a:rPr lang="en-US" dirty="0"/>
              <a:t> Domestic consumption is plummeting. China sits on 20 to 30 years of vacant, excess residential housing inventory.</a:t>
            </a:r>
          </a:p>
          <a:p>
            <a:pPr marL="171450" lvl="0" indent="-171450">
              <a:buFont typeface="Arial" panose="020B0604020202020204" pitchFamily="34" charset="0"/>
              <a:buChar char="•"/>
            </a:pPr>
            <a:r>
              <a:rPr lang="en-US" b="1" dirty="0"/>
              <a:t>Step 4 (Investment Halt):</a:t>
            </a:r>
            <a:r>
              <a:rPr lang="en-US" dirty="0"/>
              <a:t> Multi-year state infrastructure projects are finally completing. China’s </a:t>
            </a:r>
            <a:r>
              <a:rPr lang="en-US" b="1" dirty="0"/>
              <a:t>Net Fixed Investment YoY growth has plunged to -9.5%</a:t>
            </a:r>
            <a:r>
              <a:rPr lang="en-US" dirty="0"/>
              <a:t>.</a:t>
            </a:r>
          </a:p>
          <a:p>
            <a:r>
              <a:rPr lang="en-US" dirty="0"/>
              <a:t>China cannot build its way out of this crisis as it did in 2008. The internal engines of growth are completely exhausted.</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8</a:t>
            </a:fld>
            <a:endParaRPr lang="en-US"/>
          </a:p>
        </p:txBody>
      </p:sp>
    </p:spTree>
    <p:extLst>
      <p:ext uri="{BB962C8B-B14F-4D97-AF65-F5344CB8AC3E}">
        <p14:creationId xmlns:p14="http://schemas.microsoft.com/office/powerpoint/2010/main" val="3564866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China's domestic market cannot absorb its industrial output, Beijing is attempting to export its way out of deflation.</a:t>
            </a:r>
          </a:p>
          <a:p>
            <a:r>
              <a:rPr lang="en-US" dirty="0"/>
              <a:t>This creates two global contagion vectors:</a:t>
            </a:r>
          </a:p>
          <a:p>
            <a:pPr marL="228600" lvl="0" indent="-228600">
              <a:buFont typeface="+mj-lt"/>
              <a:buAutoNum type="arabicPeriod"/>
            </a:pPr>
            <a:r>
              <a:rPr lang="en-US" b="1" dirty="0"/>
              <a:t>Economic Dumping:</a:t>
            </a:r>
            <a:r>
              <a:rPr lang="en-US" dirty="0"/>
              <a:t> China is flooding international markets with heavily subsidized, low-cost manufactured goods and clean tech. This is triggering global trade friction and protectionism across Europe and North America. However, if the US enters a domestic recession, global import demand will collapse, severing China's last remaining lifeline.</a:t>
            </a:r>
          </a:p>
          <a:p>
            <a:pPr marL="228600" lvl="0" indent="-228600">
              <a:buFont typeface="+mj-lt"/>
              <a:buAutoNum type="arabicPeriod"/>
            </a:pPr>
            <a:r>
              <a:rPr lang="en-US" b="1" dirty="0"/>
              <a:t>Geopolitical Distraction Play:</a:t>
            </a:r>
            <a:r>
              <a:rPr lang="en-US" dirty="0"/>
              <a:t> The Chinese Communist Party leadership consists of roughly 7 million elite party members governing over 1.4 billion citizens. Historical analysis shows that autocratic regimes facing severe domestic economic breakdown frequently turn to external geopolitical flashpoints—such as Taiwan—to divert internal public unrest.</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9</a:t>
            </a:fld>
            <a:endParaRPr lang="en-US"/>
          </a:p>
        </p:txBody>
      </p:sp>
    </p:spTree>
    <p:extLst>
      <p:ext uri="{BB962C8B-B14F-4D97-AF65-F5344CB8AC3E}">
        <p14:creationId xmlns:p14="http://schemas.microsoft.com/office/powerpoint/2010/main" val="1662580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summarizes our core macro diagnostic. It aligns our three pillars across their core frictions, real-time lead warnings, and global contagion impacts:</a:t>
            </a:r>
          </a:p>
          <a:p>
            <a:pPr marL="171450" lvl="0" indent="-171450">
              <a:buFont typeface="Arial" panose="020B0604020202020204" pitchFamily="34" charset="0"/>
              <a:buChar char="•"/>
            </a:pPr>
            <a:r>
              <a:rPr lang="en-US" b="1" dirty="0"/>
              <a:t>AI Capex Bubble:</a:t>
            </a:r>
            <a:r>
              <a:rPr lang="en-US" dirty="0"/>
              <a:t> Core friction is grid limitations and private credit freezing. The second derivative warning is the 30%+ drop in semiconductor indices. The contagion vector will be widespread tech balance sheet impairments and margin calls.</a:t>
            </a:r>
          </a:p>
          <a:p>
            <a:pPr marL="171450" lvl="0" indent="-171450">
              <a:buFont typeface="Arial" panose="020B0604020202020204" pitchFamily="34" charset="0"/>
              <a:buChar char="•"/>
            </a:pPr>
            <a:r>
              <a:rPr lang="en-US" b="1" dirty="0"/>
              <a:t>US Housing Freeze:</a:t>
            </a:r>
            <a:r>
              <a:rPr lang="en-US" dirty="0"/>
              <a:t> Core friction is 30% overvaluation meeting a buyer strike. The second derivative warning is multi-year declines in building permits. The contagion vector is frozen consumer spending impacting 20% of US GDP.</a:t>
            </a:r>
          </a:p>
          <a:p>
            <a:pPr marL="171450" lvl="0" indent="-171450">
              <a:buFont typeface="Arial" panose="020B0604020202020204" pitchFamily="34" charset="0"/>
              <a:buChar char="•"/>
            </a:pPr>
            <a:r>
              <a:rPr lang="en-US" b="1" dirty="0"/>
              <a:t>China Deflation:</a:t>
            </a:r>
            <a:r>
              <a:rPr lang="en-US" dirty="0"/>
              <a:t> Core friction is 150M retiring workers without a safety net. The second derivative warning is Net Fixed Investment plunging to -9.5%. The contagion vector is exported deflation, global trade disputes, and heightened geopolitical tail risk.</a:t>
            </a:r>
          </a:p>
          <a:p>
            <a:r>
              <a:rPr lang="en-US" dirty="0"/>
              <a:t>When these three pillars deteriorate simultaneously, systemic risk reaches critical mass.</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10</a:t>
            </a:fld>
            <a:endParaRPr lang="en-US"/>
          </a:p>
        </p:txBody>
      </p:sp>
    </p:spTree>
    <p:extLst>
      <p:ext uri="{BB962C8B-B14F-4D97-AF65-F5344CB8AC3E}">
        <p14:creationId xmlns:p14="http://schemas.microsoft.com/office/powerpoint/2010/main" val="913434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real economy, sovereign debt markets are approaching a breaking point.</a:t>
            </a:r>
          </a:p>
          <a:p>
            <a:r>
              <a:rPr lang="en-US" dirty="0"/>
              <a:t>When governments over-issue debt, the pressure must eventually escape through the </a:t>
            </a:r>
            <a:r>
              <a:rPr lang="en-US" b="1" dirty="0"/>
              <a:t>currency market release valve</a:t>
            </a:r>
            <a:r>
              <a:rPr lang="en-US" dirty="0"/>
              <a:t>.</a:t>
            </a:r>
          </a:p>
          <a:p>
            <a:r>
              <a:rPr lang="en-US" dirty="0"/>
              <a:t>Look at </a:t>
            </a:r>
            <a:r>
              <a:rPr lang="en-US" b="1" dirty="0"/>
              <a:t>Japan: Sovereign Patient Zero</a:t>
            </a:r>
            <a:r>
              <a:rPr lang="en-US" dirty="0"/>
              <a:t>.</a:t>
            </a:r>
          </a:p>
          <a:p>
            <a:pPr marL="171450" lvl="0" indent="-171450">
              <a:buFont typeface="Arial" panose="020B0604020202020204" pitchFamily="34" charset="0"/>
              <a:buChar char="•"/>
            </a:pPr>
            <a:r>
              <a:rPr lang="en-US" dirty="0"/>
              <a:t>Japan holds a national debt-to-GDP ratio exceeding </a:t>
            </a:r>
            <a:r>
              <a:rPr lang="en-US" b="1" dirty="0"/>
              <a:t>270%</a:t>
            </a:r>
            <a:r>
              <a:rPr lang="en-US" dirty="0"/>
              <a:t>.</a:t>
            </a:r>
          </a:p>
          <a:p>
            <a:pPr marL="171450" lvl="0" indent="-171450">
              <a:buFont typeface="Arial" panose="020B0604020202020204" pitchFamily="34" charset="0"/>
              <a:buChar char="•"/>
            </a:pPr>
            <a:r>
              <a:rPr lang="en-US" dirty="0"/>
              <a:t>The Bank of Japan is trapped in a classic Hobbesian Choice: If they raise interest rates to defend a depreciating Yen, they bankrupt their treasury and spike domestic debt servicing costs. If they keep interest rates suppressed, the Yen collapses.</a:t>
            </a:r>
          </a:p>
          <a:p>
            <a:r>
              <a:rPr lang="en-US" b="1" dirty="0"/>
              <a:t>The Global Risk:</a:t>
            </a:r>
            <a:r>
              <a:rPr lang="en-US" dirty="0"/>
              <a:t> Trillions of dollars in global assets are built on the </a:t>
            </a:r>
            <a:r>
              <a:rPr lang="en-US" b="1" dirty="0"/>
              <a:t>Yen Carry Trade</a:t>
            </a:r>
            <a:r>
              <a:rPr lang="en-US" dirty="0"/>
              <a:t>—borrowing cheap Yen to buy higher-yielding global risk assets. Any rapid interest rate hikes by the BOJ force an emergency unwinding of this carry trade, triggering global cross-asset liquidation.</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11</a:t>
            </a:fld>
            <a:endParaRPr lang="en-US"/>
          </a:p>
        </p:txBody>
      </p:sp>
    </p:spTree>
    <p:extLst>
      <p:ext uri="{BB962C8B-B14F-4D97-AF65-F5344CB8AC3E}">
        <p14:creationId xmlns:p14="http://schemas.microsoft.com/office/powerpoint/2010/main" val="177816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details the step-by-step sequence of how competing capital triggers a market snap:</a:t>
            </a:r>
          </a:p>
          <a:p>
            <a:pPr marL="228600" lvl="0" indent="-228600">
              <a:buFont typeface="+mj-lt"/>
              <a:buAutoNum type="arabicPeriod"/>
            </a:pPr>
            <a:r>
              <a:rPr lang="en-US" b="1" dirty="0"/>
              <a:t>Step 1 (The Squeeze):</a:t>
            </a:r>
            <a:r>
              <a:rPr lang="en-US" dirty="0"/>
              <a:t> Heavy government bond issuance competes directly with AI corporate capex for limited global capital, keeping long-term yields elevated.</a:t>
            </a:r>
          </a:p>
          <a:p>
            <a:pPr marL="228600" lvl="0" indent="-228600">
              <a:buFont typeface="+mj-lt"/>
              <a:buAutoNum type="arabicPeriod"/>
            </a:pPr>
            <a:r>
              <a:rPr lang="en-US" b="1" dirty="0"/>
              <a:t>Step 2 (The Chokehold):</a:t>
            </a:r>
            <a:r>
              <a:rPr lang="en-US" dirty="0"/>
              <a:t> Elevated risk-free yields slowly choke off consumer credit, housing transactions, and small-business refinancing in an already fragile economy.</a:t>
            </a:r>
          </a:p>
          <a:p>
            <a:pPr marL="228600" lvl="0" indent="-228600">
              <a:buFont typeface="+mj-lt"/>
              <a:buAutoNum type="arabicPeriod"/>
            </a:pPr>
            <a:r>
              <a:rPr lang="en-US" b="1" dirty="0"/>
              <a:t>Step 3 (The Snap):</a:t>
            </a:r>
            <a:r>
              <a:rPr lang="en-US" dirty="0"/>
              <a:t> Real economic earnings break. Investors abruptly realize that equities are priced for perfection while growth is contracting. Capital panics, fleeing equity markets into safe-haven bonds—driving the </a:t>
            </a:r>
            <a:r>
              <a:rPr lang="en-US" b="1" dirty="0"/>
              <a:t>40% to 50% equity drawdown</a:t>
            </a:r>
            <a:r>
              <a:rPr lang="en-US" dirty="0"/>
              <a:t>.</a:t>
            </a:r>
          </a:p>
          <a:p>
            <a:pPr marL="228600" lvl="0" indent="-228600">
              <a:buFont typeface="+mj-lt"/>
              <a:buAutoNum type="arabicPeriod"/>
            </a:pPr>
            <a:r>
              <a:rPr lang="en-US" b="1" dirty="0"/>
              <a:t>Step 4 (The Aftermath):</a:t>
            </a:r>
            <a:r>
              <a:rPr lang="en-US" dirty="0"/>
              <a:t> Central banks intervene with aggressive rate cuts and massive QE printing, but only </a:t>
            </a:r>
            <a:r>
              <a:rPr lang="en-US" i="1" dirty="0"/>
              <a:t>after</a:t>
            </a:r>
            <a:r>
              <a:rPr lang="en-US" dirty="0"/>
              <a:t> equity valuations have been reset.</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12</a:t>
            </a:fld>
            <a:endParaRPr lang="en-US"/>
          </a:p>
        </p:txBody>
      </p:sp>
    </p:spTree>
    <p:extLst>
      <p:ext uri="{BB962C8B-B14F-4D97-AF65-F5344CB8AC3E}">
        <p14:creationId xmlns:p14="http://schemas.microsoft.com/office/powerpoint/2010/main" val="1301953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contains the most compelling mathematical proof of equity market risk: </a:t>
            </a:r>
            <a:r>
              <a:rPr lang="en-US" b="1" dirty="0"/>
              <a:t>The Asset Allocation Anomaly</a:t>
            </a:r>
            <a:r>
              <a:rPr lang="en-US" dirty="0"/>
              <a:t>.</a:t>
            </a:r>
          </a:p>
          <a:p>
            <a:r>
              <a:rPr lang="en-US" dirty="0"/>
              <a:t>Historically, stock earnings yields trade at a premium above government bonds to compensate investors for taking equity risk. Today, that relationship is completely inverted. The yield on the S&amp;P 500 sits below the risk-free rate of US Treasuries.</a:t>
            </a:r>
          </a:p>
          <a:p>
            <a:r>
              <a:rPr lang="en-US" b="1" dirty="0"/>
              <a:t>The Math:</a:t>
            </a:r>
            <a:r>
              <a:rPr lang="en-US" dirty="0"/>
              <a:t> If you invest </a:t>
            </a:r>
            <a:r>
              <a:rPr lang="en-US" b="1" dirty="0"/>
              <a:t>$1,000,000 into the S&amp;P 500 (SPY) today</a:t>
            </a:r>
            <a:r>
              <a:rPr lang="en-US" dirty="0"/>
              <a:t>, forward-looking 10-year valuation models project a real return rounding to </a:t>
            </a:r>
            <a:r>
              <a:rPr lang="en-US" b="1" dirty="0"/>
              <a:t>0%</a:t>
            </a:r>
            <a:r>
              <a:rPr lang="en-US" dirty="0"/>
              <a:t>.</a:t>
            </a:r>
          </a:p>
          <a:p>
            <a:r>
              <a:rPr lang="en-US" dirty="0"/>
              <a:t>Institutional and retail portfolios are heavily overallocated to equities and </a:t>
            </a:r>
            <a:r>
              <a:rPr lang="en-US" dirty="0" err="1"/>
              <a:t>underallocated</a:t>
            </a:r>
            <a:r>
              <a:rPr lang="en-US" dirty="0"/>
              <a:t> to fixed income. When growth slows, institutional asset allocation models will mathematically mandate a massive capital rotation out of stocks and into treasuries.</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13</a:t>
            </a:fld>
            <a:endParaRPr lang="en-US"/>
          </a:p>
        </p:txBody>
      </p:sp>
    </p:spTree>
    <p:extLst>
      <p:ext uri="{BB962C8B-B14F-4D97-AF65-F5344CB8AC3E}">
        <p14:creationId xmlns:p14="http://schemas.microsoft.com/office/powerpoint/2010/main" val="2024910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money is not waiting for the crash to occur; top institutional allocators are actively positioning for it now:</a:t>
            </a:r>
          </a:p>
          <a:p>
            <a:pPr marL="171450" lvl="0" indent="-171450">
              <a:buFont typeface="Arial" panose="020B0604020202020204" pitchFamily="34" charset="0"/>
              <a:buChar char="•"/>
            </a:pPr>
            <a:r>
              <a:rPr lang="en-US" b="1" dirty="0"/>
              <a:t>Berkshire Hathaway (Warren Buffett):</a:t>
            </a:r>
            <a:r>
              <a:rPr lang="en-US" dirty="0"/>
              <a:t> Buffett has built a historic cash pile representing </a:t>
            </a:r>
            <a:r>
              <a:rPr lang="en-US" b="1" dirty="0"/>
              <a:t>~40% of Berkshire's portfolio</a:t>
            </a:r>
            <a:r>
              <a:rPr lang="en-US" dirty="0"/>
              <a:t>. He exited TSMC early to eliminate geopolitical risk and has been selling equities to prepare for distressed asset purchases.</a:t>
            </a:r>
          </a:p>
          <a:p>
            <a:pPr marL="171450" lvl="0" indent="-171450">
              <a:buFont typeface="Arial" panose="020B0604020202020204" pitchFamily="34" charset="0"/>
              <a:buChar char="•"/>
            </a:pPr>
            <a:r>
              <a:rPr lang="en-US" b="1" dirty="0"/>
              <a:t>Appaloosa Management (David Tepper):</a:t>
            </a:r>
            <a:r>
              <a:rPr lang="en-US" dirty="0"/>
              <a:t> Regulatory filings reveal Tepper held approximately </a:t>
            </a:r>
            <a:r>
              <a:rPr lang="en-US" b="1" dirty="0"/>
              <a:t>40% in cash positions</a:t>
            </a:r>
            <a:r>
              <a:rPr lang="en-US" dirty="0"/>
              <a:t>, citing extreme equity overvaluation.</a:t>
            </a:r>
          </a:p>
          <a:p>
            <a:pPr marL="171450" lvl="0" indent="-171450">
              <a:buFont typeface="Arial" panose="020B0604020202020204" pitchFamily="34" charset="0"/>
              <a:buChar char="•"/>
            </a:pPr>
            <a:r>
              <a:rPr lang="en-US" b="1" dirty="0"/>
              <a:t>Tudor Investment Corp (Paul Tudor Jones):</a:t>
            </a:r>
            <a:r>
              <a:rPr lang="en-US" dirty="0"/>
              <a:t> Publicly stated that based on stock-versus-bond risk premia, he cannot justify allocating new capital to the S&amp;P 500 at current levels.</a:t>
            </a:r>
          </a:p>
          <a:p>
            <a:r>
              <a:rPr lang="en-US" b="1" dirty="0"/>
              <a:t>Strategic Rule:</a:t>
            </a:r>
            <a:r>
              <a:rPr lang="en-US" dirty="0"/>
              <a:t> Do not try to short a hyper-volatile market. Build cash buffers to buy high-quality assets at distressed prices on the other side of the liquidity shock.</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14</a:t>
            </a:fld>
            <a:endParaRPr lang="en-US"/>
          </a:p>
        </p:txBody>
      </p:sp>
    </p:spTree>
    <p:extLst>
      <p:ext uri="{BB962C8B-B14F-4D97-AF65-F5344CB8AC3E}">
        <p14:creationId xmlns:p14="http://schemas.microsoft.com/office/powerpoint/2010/main" val="3189807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retail sentiment considers bonds "dead," long-duration Treasury bonds represent one of the most asymmetric trade setups in the global landscape.</a:t>
            </a:r>
          </a:p>
          <a:p>
            <a:r>
              <a:rPr lang="en-US" dirty="0"/>
              <a:t>Let’s contrast market behaviors:</a:t>
            </a:r>
          </a:p>
          <a:p>
            <a:pPr marL="171450" lvl="0" indent="-171450">
              <a:buFont typeface="Arial" panose="020B0604020202020204" pitchFamily="34" charset="0"/>
              <a:buChar char="•"/>
            </a:pPr>
            <a:r>
              <a:rPr lang="en-US" b="1" dirty="0"/>
              <a:t>Retail Posture:</a:t>
            </a:r>
            <a:r>
              <a:rPr lang="en-US" dirty="0"/>
              <a:t> Holding overpriced equities while keeping cash in low-yielding bank accounts.</a:t>
            </a:r>
          </a:p>
          <a:p>
            <a:pPr marL="171450" lvl="0" indent="-171450">
              <a:buFont typeface="Arial" panose="020B0604020202020204" pitchFamily="34" charset="0"/>
              <a:buChar char="•"/>
            </a:pPr>
            <a:r>
              <a:rPr lang="en-US" b="1" dirty="0"/>
              <a:t>Institutional Strategy:</a:t>
            </a:r>
            <a:r>
              <a:rPr lang="en-US" dirty="0"/>
              <a:t> Locking in high long-term rates by rotating into the </a:t>
            </a:r>
            <a:r>
              <a:rPr lang="en-US" b="1" dirty="0"/>
              <a:t>long end of the yield curve</a:t>
            </a:r>
            <a:r>
              <a:rPr lang="en-US" dirty="0"/>
              <a:t> before the macro growth scare forces yields down.</a:t>
            </a:r>
          </a:p>
          <a:p>
            <a:pPr marL="0" indent="0">
              <a:buFont typeface="Arial" panose="020B0604020202020204" pitchFamily="34" charset="0"/>
              <a:buNone/>
            </a:pPr>
            <a:r>
              <a:rPr lang="en-US" dirty="0"/>
              <a:t>When equity markets drop 40–50%, long-duration bond prices surge as capital panics into safe-haven assets. Just as in 2000 and 2008, capital reallocation will happen fast. Positioning must occur before headlines confirm the economic shift.</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15</a:t>
            </a:fld>
            <a:endParaRPr lang="en-US"/>
          </a:p>
        </p:txBody>
      </p:sp>
    </p:spTree>
    <p:extLst>
      <p:ext uri="{BB962C8B-B14F-4D97-AF65-F5344CB8AC3E}">
        <p14:creationId xmlns:p14="http://schemas.microsoft.com/office/powerpoint/2010/main" val="2986786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diagnostic overview, let us summarize the core thesis:</a:t>
            </a:r>
          </a:p>
          <a:p>
            <a:r>
              <a:rPr lang="en-US" dirty="0"/>
              <a:t>We are facing a rare convergence of three simultaneous structural shocks:</a:t>
            </a:r>
          </a:p>
          <a:p>
            <a:pPr marL="171450" lvl="0" indent="-171450">
              <a:buFont typeface="Arial" panose="020B0604020202020204" pitchFamily="34" charset="0"/>
              <a:buChar char="•"/>
            </a:pPr>
            <a:r>
              <a:rPr lang="en-US" b="1" dirty="0"/>
              <a:t>An AI Infrastructure Bubble</a:t>
            </a:r>
            <a:r>
              <a:rPr lang="en-US" dirty="0"/>
              <a:t> plagued by double-ordering, credit constraints, and grid bottlenecks.</a:t>
            </a:r>
          </a:p>
          <a:p>
            <a:pPr marL="171450" lvl="0" indent="-171450">
              <a:buFont typeface="Arial" panose="020B0604020202020204" pitchFamily="34" charset="0"/>
              <a:buChar char="•"/>
            </a:pPr>
            <a:r>
              <a:rPr lang="en-US" b="1" dirty="0"/>
              <a:t>A Frozen US Housing Market</a:t>
            </a:r>
            <a:r>
              <a:rPr lang="en-US" dirty="0"/>
              <a:t> sitting at 30% overvaluation.</a:t>
            </a:r>
          </a:p>
          <a:p>
            <a:pPr marL="171450" lvl="0" indent="-171450">
              <a:buFont typeface="Arial" panose="020B0604020202020204" pitchFamily="34" charset="0"/>
              <a:buChar char="•"/>
            </a:pPr>
            <a:r>
              <a:rPr lang="en-US" b="1" dirty="0"/>
              <a:t>China's Demographic Cliff</a:t>
            </a:r>
            <a:r>
              <a:rPr lang="en-US" dirty="0"/>
              <a:t> driving global export deflation.</a:t>
            </a:r>
          </a:p>
          <a:p>
            <a:r>
              <a:rPr lang="en-US" dirty="0"/>
              <a:t>Look at our historical crisis comparison table:</a:t>
            </a:r>
          </a:p>
          <a:p>
            <a:pPr marL="171450" lvl="0" indent="-171450">
              <a:buFont typeface="Arial" panose="020B0604020202020204" pitchFamily="34" charset="0"/>
              <a:buChar char="•"/>
            </a:pPr>
            <a:r>
              <a:rPr lang="en-US" b="1" dirty="0"/>
              <a:t>2000 Dot-Com Bust:</a:t>
            </a:r>
            <a:r>
              <a:rPr lang="en-US" dirty="0"/>
              <a:t> 50% Drawdown over 2 Years.</a:t>
            </a:r>
          </a:p>
          <a:p>
            <a:pPr marL="171450" lvl="0" indent="-171450">
              <a:buFont typeface="Arial" panose="020B0604020202020204" pitchFamily="34" charset="0"/>
              <a:buChar char="•"/>
            </a:pPr>
            <a:r>
              <a:rPr lang="en-US" b="1" dirty="0"/>
              <a:t>2008 Financial Crisis:</a:t>
            </a:r>
            <a:r>
              <a:rPr lang="en-US" dirty="0"/>
              <a:t> 50% Drawdown over 18 Months.</a:t>
            </a:r>
          </a:p>
          <a:p>
            <a:pPr marL="171450" lvl="0" indent="-171450">
              <a:buFont typeface="Arial" panose="020B0604020202020204" pitchFamily="34" charset="0"/>
              <a:buChar char="•"/>
            </a:pPr>
            <a:r>
              <a:rPr lang="en-US" b="1" dirty="0"/>
              <a:t>Current Macro Forecast:</a:t>
            </a:r>
            <a:r>
              <a:rPr lang="en-US" dirty="0"/>
              <a:t> </a:t>
            </a:r>
            <a:r>
              <a:rPr lang="en-US" b="1" dirty="0"/>
              <a:t>40%–50% Drawdown Projected</a:t>
            </a:r>
            <a:r>
              <a:rPr lang="en-US" dirty="0"/>
              <a:t>.</a:t>
            </a:r>
          </a:p>
          <a:p>
            <a:r>
              <a:rPr lang="en-US" b="1" dirty="0"/>
              <a:t>Actionable Allocation Playbook:</a:t>
            </a:r>
            <a:endParaRPr lang="en-US" dirty="0"/>
          </a:p>
          <a:p>
            <a:pPr marL="171450" lvl="0" indent="-171450">
              <a:buFont typeface="Arial" panose="020B0604020202020204" pitchFamily="34" charset="0"/>
              <a:buChar char="•"/>
            </a:pPr>
            <a:r>
              <a:rPr lang="en-US" b="1" dirty="0"/>
              <a:t>Reduce Equity Risk:</a:t>
            </a:r>
            <a:r>
              <a:rPr lang="en-US" dirty="0"/>
              <a:t> Trim tech concentration and overvalued growth equities.</a:t>
            </a:r>
          </a:p>
          <a:p>
            <a:pPr marL="171450" lvl="0" indent="-171450">
              <a:buFont typeface="Arial" panose="020B0604020202020204" pitchFamily="34" charset="0"/>
              <a:buChar char="•"/>
            </a:pPr>
            <a:r>
              <a:rPr lang="en-US" b="1" dirty="0"/>
              <a:t>Raise Cash Reserves:</a:t>
            </a:r>
            <a:r>
              <a:rPr lang="en-US" dirty="0"/>
              <a:t> Target 30–40% liquidity to deploy into distressed assets post-crash.</a:t>
            </a:r>
          </a:p>
          <a:p>
            <a:pPr marL="171450" lvl="0" indent="-171450">
              <a:buFont typeface="Arial" panose="020B0604020202020204" pitchFamily="34" charset="0"/>
              <a:buChar char="•"/>
            </a:pPr>
            <a:r>
              <a:rPr lang="en-US" b="1" dirty="0"/>
              <a:t>Secure Long Duration:</a:t>
            </a:r>
            <a:r>
              <a:rPr lang="en-US" dirty="0"/>
              <a:t> Accumulate long-term Treasuries as an asymmetric hedge.</a:t>
            </a:r>
          </a:p>
          <a:p>
            <a:r>
              <a:rPr lang="en-US" dirty="0"/>
              <a:t>Thank you. I will now open the floor to questions.</a:t>
            </a:r>
          </a:p>
          <a:p>
            <a:endParaRPr lang="en-US" dirty="0"/>
          </a:p>
        </p:txBody>
      </p:sp>
      <p:sp>
        <p:nvSpPr>
          <p:cNvPr id="4" name="Slide Number Placeholder 3"/>
          <p:cNvSpPr>
            <a:spLocks noGrp="1"/>
          </p:cNvSpPr>
          <p:nvPr>
            <p:ph type="sldNum" sz="quarter" idx="5"/>
          </p:nvPr>
        </p:nvSpPr>
        <p:spPr/>
        <p:txBody>
          <a:bodyPr/>
          <a:lstStyle/>
          <a:p>
            <a:fld id="{4783CF6B-FCCB-477C-930A-A2531CFD6781}" type="slidenum">
              <a:rPr lang="en-US" smtClean="0"/>
              <a:t>16</a:t>
            </a:fld>
            <a:endParaRPr lang="en-US"/>
          </a:p>
        </p:txBody>
      </p:sp>
    </p:spTree>
    <p:extLst>
      <p:ext uri="{BB962C8B-B14F-4D97-AF65-F5344CB8AC3E}">
        <p14:creationId xmlns:p14="http://schemas.microsoft.com/office/powerpoint/2010/main" val="728944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78EFB1-6C21-9BAF-C022-CC3983815EED}"/>
              </a:ext>
            </a:extLst>
          </p:cNvPr>
          <p:cNvSpPr>
            <a:spLocks noGrp="1"/>
          </p:cNvSpPr>
          <p:nvPr>
            <p:ph type="dt" sz="half" idx="10"/>
          </p:nvPr>
        </p:nvSpPr>
        <p:spPr/>
        <p:txBody>
          <a:bodyPr/>
          <a:lstStyle/>
          <a:p>
            <a:fld id="{955B8B34-4EBE-4CD8-863F-822D811FB689}" type="datetimeFigureOut">
              <a:rPr lang="en-US" smtClean="0"/>
              <a:t>10/19/2026</a:t>
            </a:fld>
            <a:endParaRPr lang="en-US"/>
          </a:p>
        </p:txBody>
      </p:sp>
      <p:sp>
        <p:nvSpPr>
          <p:cNvPr id="3" name="Footer Placeholder 2">
            <a:extLst>
              <a:ext uri="{FF2B5EF4-FFF2-40B4-BE49-F238E27FC236}">
                <a16:creationId xmlns:a16="http://schemas.microsoft.com/office/drawing/2014/main" id="{DCDEA504-5B2D-5D3E-7FD7-2555B5EB05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AD4327-057B-24B8-8E9F-3DE38C686784}"/>
              </a:ext>
            </a:extLst>
          </p:cNvPr>
          <p:cNvSpPr>
            <a:spLocks noGrp="1"/>
          </p:cNvSpPr>
          <p:nvPr>
            <p:ph type="sldNum" sz="quarter" idx="12"/>
          </p:nvPr>
        </p:nvSpPr>
        <p:spPr/>
        <p:txBody>
          <a:bodyPr/>
          <a:lstStyle/>
          <a:p>
            <a:fld id="{3C8EED4D-E397-4959-8A7C-C49C213CFFC8}" type="slidenum">
              <a:rPr lang="en-US" smtClean="0"/>
              <a:t>‹#›</a:t>
            </a:fld>
            <a:endParaRPr lang="en-US"/>
          </a:p>
        </p:txBody>
      </p:sp>
    </p:spTree>
    <p:extLst>
      <p:ext uri="{BB962C8B-B14F-4D97-AF65-F5344CB8AC3E}">
        <p14:creationId xmlns:p14="http://schemas.microsoft.com/office/powerpoint/2010/main" val="115521242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A03EA4-ACEB-1430-7C7C-456462D7E8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DDB489-6E0D-7A0F-ACE2-29BA605CFF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DE419-9A8B-558E-D898-61DD3D68F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5B8B34-4EBE-4CD8-863F-822D811FB689}" type="datetimeFigureOut">
              <a:rPr lang="en-US" smtClean="0"/>
              <a:t>10/19/2026</a:t>
            </a:fld>
            <a:endParaRPr lang="en-US"/>
          </a:p>
        </p:txBody>
      </p:sp>
      <p:sp>
        <p:nvSpPr>
          <p:cNvPr id="5" name="Footer Placeholder 4">
            <a:extLst>
              <a:ext uri="{FF2B5EF4-FFF2-40B4-BE49-F238E27FC236}">
                <a16:creationId xmlns:a16="http://schemas.microsoft.com/office/drawing/2014/main" id="{3185CF0C-90FC-DDE1-C0B7-6CC3A3958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017E59-D658-E95D-F9CD-32DA096B1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8EED4D-E397-4959-8A7C-C49C213CFFC8}" type="slidenum">
              <a:rPr lang="en-US" smtClean="0"/>
              <a:t>‹#›</a:t>
            </a:fld>
            <a:endParaRPr lang="en-US"/>
          </a:p>
        </p:txBody>
      </p:sp>
    </p:spTree>
    <p:extLst>
      <p:ext uri="{BB962C8B-B14F-4D97-AF65-F5344CB8AC3E}">
        <p14:creationId xmlns:p14="http://schemas.microsoft.com/office/powerpoint/2010/main" val="207522866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8B3395-1386-0134-9F54-44AEA226EB01}"/>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EF1E76-F21E-36D7-4FDA-CCE647E15C85}"/>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DF6D13-B8D4-8B63-3687-F3C55DFD5372}"/>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DB175D-8793-3DB2-6CF2-76387CDBAB2C}"/>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FAA164-530F-5687-2123-4352F14A227E}"/>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283397-3AA9-3A68-465D-DFB3CB674CAC}"/>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873CD0-24CE-23C5-7BC6-F5ED79419737}"/>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E5A7A0-B608-55C7-9F2B-B142D30DB2B9}"/>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E6AD5-495B-C2EF-088F-77FA288FB1C9}"/>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BECD08-F682-48D2-0E20-50C551EFE701}"/>
              </a:ext>
            </a:extLst>
          </p:cNvPr>
          <p:cNvPicPr>
            <a:picLocks noChangeAspect="1"/>
          </p:cNvPicPr>
          <p:nvPr/>
        </p:nvPicPr>
        <p:blipFill>
          <a:blip r:embed="rId3"/>
          <a:stretch>
            <a:fillRect/>
          </a:stretch>
        </p:blipFill>
        <p:spPr>
          <a:xfrm>
            <a:off x="19050" y="29239"/>
            <a:ext cx="12192000" cy="67995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FEF11D-143C-942A-1B1B-90534C68D583}"/>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004AA9-B75F-14FD-CE52-E5F7A5669895}"/>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F4AC2E-EE1D-9170-1079-BD40E75BC8C5}"/>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F9A0C0-C20B-9F5E-E126-5A5BE82313F0}"/>
              </a:ext>
            </a:extLst>
          </p:cNvPr>
          <p:cNvPicPr>
            <a:picLocks noChangeAspect="1"/>
          </p:cNvPicPr>
          <p:nvPr/>
        </p:nvPicPr>
        <p:blipFill>
          <a:blip r:embed="rId3"/>
          <a:stretch>
            <a:fillRect/>
          </a:stretch>
        </p:blipFill>
        <p:spPr>
          <a:xfrm>
            <a:off x="0" y="33078"/>
            <a:ext cx="12192000" cy="67995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9393C1-6A8D-25BF-23CE-AA84EF51BDD2}"/>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65C347-660E-E9E8-DD14-6F5ED10072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3721422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2747</Words>
  <Application>Microsoft Office PowerPoint</Application>
  <PresentationFormat>寬螢幕</PresentationFormat>
  <Paragraphs>125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2026-08-30T03:00:34Z</dcterms:created>
  <dcterms:modified xsi:type="dcterms:W3CDTF">2026-10-19T15:38:36Z</dcterms:modified>
</cp:coreProperties>
</file>