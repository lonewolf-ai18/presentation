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67" r:id="rId12"/>
    <p:sldId id="25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7FB3CF-A21B-4500-BA3B-7AA4E86309E1}" v="15" dt="2026-08-03T14:24:49.1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6" autoAdjust="0"/>
    <p:restoredTop sz="91595" autoAdjust="0"/>
  </p:normalViewPr>
  <p:slideViewPr>
    <p:cSldViewPr snapToGrid="0">
      <p:cViewPr varScale="1">
        <p:scale>
          <a:sx n="74" d="100"/>
          <a:sy n="74" d="100"/>
        </p:scale>
        <p:origin x="78"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8-03T14:25:26.254" v="59" actId="166"/>
      <pc:docMkLst>
        <pc:docMk/>
      </pc:docMkLst>
      <pc:sldChg chg="addSp delSp mod modNotesTx">
        <pc:chgData name="Lai, Wilson" userId="2840974a-0d84-4886-90a9-9a3ed79f3a48" providerId="ADAL" clId="{9F23B798-9E84-4552-BA63-E776E805C424}" dt="2026-08-03T14:24:50.519" v="58" actId="12"/>
        <pc:sldMkLst>
          <pc:docMk/>
          <pc:sldMk cId="1491290913" sldId="256"/>
        </pc:sldMkLst>
        <pc:picChg chg="add del">
          <ac:chgData name="Lai, Wilson" userId="2840974a-0d84-4886-90a9-9a3ed79f3a48" providerId="ADAL" clId="{9F23B798-9E84-4552-BA63-E776E805C424}" dt="2026-08-03T13:12:22.976" v="36" actId="21"/>
          <ac:picMkLst>
            <pc:docMk/>
            <pc:sldMk cId="1491290913" sldId="256"/>
            <ac:picMk id="3" creationId="{604E64D0-8B1A-CE1A-8359-8D41D142EA3E}"/>
          </ac:picMkLst>
        </pc:picChg>
        <pc:picChg chg="add">
          <ac:chgData name="Lai, Wilson" userId="2840974a-0d84-4886-90a9-9a3ed79f3a48" providerId="ADAL" clId="{9F23B798-9E84-4552-BA63-E776E805C424}" dt="2026-08-03T13:12:36.494" v="37" actId="22"/>
          <ac:picMkLst>
            <pc:docMk/>
            <pc:sldMk cId="1491290913" sldId="256"/>
            <ac:picMk id="4" creationId="{297C8960-09CB-9E9E-EC34-762A5AC8A436}"/>
          </ac:picMkLst>
        </pc:picChg>
        <pc:picChg chg="del">
          <ac:chgData name="Lai, Wilson" userId="2840974a-0d84-4886-90a9-9a3ed79f3a48" providerId="ADAL" clId="{9F23B798-9E84-4552-BA63-E776E805C424}" dt="2026-08-03T10:59:43.574" v="0" actId="21"/>
          <ac:picMkLst>
            <pc:docMk/>
            <pc:sldMk cId="1491290913" sldId="256"/>
            <ac:picMk id="5" creationId="{4417A2D0-331E-5BD2-9EC5-DCDF31BE910F}"/>
          </ac:picMkLst>
        </pc:picChg>
      </pc:sldChg>
      <pc:sldChg chg="addSp delSp modSp mod modAnim modNotesTx">
        <pc:chgData name="Lai, Wilson" userId="2840974a-0d84-4886-90a9-9a3ed79f3a48" providerId="ADAL" clId="{9F23B798-9E84-4552-BA63-E776E805C424}" dt="2026-08-03T14:25:26.254" v="59" actId="166"/>
        <pc:sldMkLst>
          <pc:docMk/>
          <pc:sldMk cId="0" sldId="257"/>
        </pc:sldMkLst>
        <pc:spChg chg="add mod">
          <ac:chgData name="Lai, Wilson" userId="2840974a-0d84-4886-90a9-9a3ed79f3a48" providerId="ADAL" clId="{9F23B798-9E84-4552-BA63-E776E805C424}" dt="2026-08-03T11:42:24.767" v="11" actId="164"/>
          <ac:spMkLst>
            <pc:docMk/>
            <pc:sldMk cId="0" sldId="257"/>
            <ac:spMk id="5" creationId="{220F9798-4018-8F3A-2690-EED7EDDF948D}"/>
          </ac:spMkLst>
        </pc:spChg>
        <pc:grpChg chg="add mod">
          <ac:chgData name="Lai, Wilson" userId="2840974a-0d84-4886-90a9-9a3ed79f3a48" providerId="ADAL" clId="{9F23B798-9E84-4552-BA63-E776E805C424}" dt="2026-08-03T11:42:27.408" v="12" actId="1076"/>
          <ac:grpSpMkLst>
            <pc:docMk/>
            <pc:sldMk cId="0" sldId="257"/>
            <ac:grpSpMk id="6" creationId="{1B61F4B8-BB53-37E6-B5C3-8EAD67E46EBB}"/>
          </ac:grpSpMkLst>
        </pc:grpChg>
        <pc:picChg chg="del">
          <ac:chgData name="Lai, Wilson" userId="2840974a-0d84-4886-90a9-9a3ed79f3a48" providerId="ADAL" clId="{9F23B798-9E84-4552-BA63-E776E805C424}" dt="2026-08-03T13:09:53.006" v="13" actId="21"/>
          <ac:picMkLst>
            <pc:docMk/>
            <pc:sldMk cId="0" sldId="257"/>
            <ac:picMk id="2" creationId="{00000000-0000-0000-0000-000000000000}"/>
          </ac:picMkLst>
        </pc:picChg>
        <pc:picChg chg="add mod">
          <ac:chgData name="Lai, Wilson" userId="2840974a-0d84-4886-90a9-9a3ed79f3a48" providerId="ADAL" clId="{9F23B798-9E84-4552-BA63-E776E805C424}" dt="2026-08-03T11:42:24.767" v="11" actId="164"/>
          <ac:picMkLst>
            <pc:docMk/>
            <pc:sldMk cId="0" sldId="257"/>
            <ac:picMk id="3" creationId="{12F5C892-111F-034E-E973-CB9F8204E7F3}"/>
          </ac:picMkLst>
        </pc:picChg>
        <pc:picChg chg="add ord">
          <ac:chgData name="Lai, Wilson" userId="2840974a-0d84-4886-90a9-9a3ed79f3a48" providerId="ADAL" clId="{9F23B798-9E84-4552-BA63-E776E805C424}" dt="2026-08-03T14:25:26.254" v="59" actId="166"/>
          <ac:picMkLst>
            <pc:docMk/>
            <pc:sldMk cId="0" sldId="257"/>
            <ac:picMk id="7" creationId="{22ABEC6F-4204-78CE-9BEE-3CD77C0B7A52}"/>
          </ac:picMkLst>
        </pc:picChg>
      </pc:sldChg>
      <pc:sldChg chg="addSp delSp mod modNotesTx">
        <pc:chgData name="Lai, Wilson" userId="2840974a-0d84-4886-90a9-9a3ed79f3a48" providerId="ADAL" clId="{9F23B798-9E84-4552-BA63-E776E805C424}" dt="2026-08-03T14:23:12.541" v="46" actId="12"/>
        <pc:sldMkLst>
          <pc:docMk/>
          <pc:sldMk cId="0" sldId="258"/>
        </pc:sldMkLst>
        <pc:picChg chg="del">
          <ac:chgData name="Lai, Wilson" userId="2840974a-0d84-4886-90a9-9a3ed79f3a48" providerId="ADAL" clId="{9F23B798-9E84-4552-BA63-E776E805C424}" dt="2026-08-03T13:10:13.497" v="16" actId="21"/>
          <ac:picMkLst>
            <pc:docMk/>
            <pc:sldMk cId="0" sldId="258"/>
            <ac:picMk id="2" creationId="{00000000-0000-0000-0000-000000000000}"/>
          </ac:picMkLst>
        </pc:picChg>
        <pc:picChg chg="add">
          <ac:chgData name="Lai, Wilson" userId="2840974a-0d84-4886-90a9-9a3ed79f3a48" providerId="ADAL" clId="{9F23B798-9E84-4552-BA63-E776E805C424}" dt="2026-08-03T13:10:22.974" v="17" actId="22"/>
          <ac:picMkLst>
            <pc:docMk/>
            <pc:sldMk cId="0" sldId="258"/>
            <ac:picMk id="4" creationId="{A14987E8-9B48-86F6-2112-6BD6B7044727}"/>
          </ac:picMkLst>
        </pc:picChg>
      </pc:sldChg>
      <pc:sldChg chg="addSp delSp mod modNotesTx">
        <pc:chgData name="Lai, Wilson" userId="2840974a-0d84-4886-90a9-9a3ed79f3a48" providerId="ADAL" clId="{9F23B798-9E84-4552-BA63-E776E805C424}" dt="2026-08-03T14:23:04.006" v="45" actId="12"/>
        <pc:sldMkLst>
          <pc:docMk/>
          <pc:sldMk cId="0" sldId="259"/>
        </pc:sldMkLst>
        <pc:picChg chg="del">
          <ac:chgData name="Lai, Wilson" userId="2840974a-0d84-4886-90a9-9a3ed79f3a48" providerId="ADAL" clId="{9F23B798-9E84-4552-BA63-E776E805C424}" dt="2026-08-03T13:10:25.233" v="18" actId="21"/>
          <ac:picMkLst>
            <pc:docMk/>
            <pc:sldMk cId="0" sldId="259"/>
            <ac:picMk id="2" creationId="{00000000-0000-0000-0000-000000000000}"/>
          </ac:picMkLst>
        </pc:picChg>
        <pc:picChg chg="add">
          <ac:chgData name="Lai, Wilson" userId="2840974a-0d84-4886-90a9-9a3ed79f3a48" providerId="ADAL" clId="{9F23B798-9E84-4552-BA63-E776E805C424}" dt="2026-08-03T13:10:32.584" v="19" actId="22"/>
          <ac:picMkLst>
            <pc:docMk/>
            <pc:sldMk cId="0" sldId="259"/>
            <ac:picMk id="4" creationId="{5CDC7CB6-C837-2B91-4AE2-4E93224807C0}"/>
          </ac:picMkLst>
        </pc:picChg>
      </pc:sldChg>
      <pc:sldChg chg="addSp delSp mod modNotesTx">
        <pc:chgData name="Lai, Wilson" userId="2840974a-0d84-4886-90a9-9a3ed79f3a48" providerId="ADAL" clId="{9F23B798-9E84-4552-BA63-E776E805C424}" dt="2026-08-03T14:23:25.298" v="47" actId="12"/>
        <pc:sldMkLst>
          <pc:docMk/>
          <pc:sldMk cId="0" sldId="260"/>
        </pc:sldMkLst>
        <pc:picChg chg="del">
          <ac:chgData name="Lai, Wilson" userId="2840974a-0d84-4886-90a9-9a3ed79f3a48" providerId="ADAL" clId="{9F23B798-9E84-4552-BA63-E776E805C424}" dt="2026-08-03T13:10:34.142" v="20" actId="21"/>
          <ac:picMkLst>
            <pc:docMk/>
            <pc:sldMk cId="0" sldId="260"/>
            <ac:picMk id="2" creationId="{00000000-0000-0000-0000-000000000000}"/>
          </ac:picMkLst>
        </pc:picChg>
        <pc:picChg chg="add">
          <ac:chgData name="Lai, Wilson" userId="2840974a-0d84-4886-90a9-9a3ed79f3a48" providerId="ADAL" clId="{9F23B798-9E84-4552-BA63-E776E805C424}" dt="2026-08-03T13:10:44.799" v="21" actId="22"/>
          <ac:picMkLst>
            <pc:docMk/>
            <pc:sldMk cId="0" sldId="260"/>
            <ac:picMk id="4" creationId="{FAE7245D-A504-FCC4-85FA-004870CB5ECC}"/>
          </ac:picMkLst>
        </pc:picChg>
      </pc:sldChg>
      <pc:sldChg chg="addSp delSp mod modNotesTx">
        <pc:chgData name="Lai, Wilson" userId="2840974a-0d84-4886-90a9-9a3ed79f3a48" providerId="ADAL" clId="{9F23B798-9E84-4552-BA63-E776E805C424}" dt="2026-08-03T14:23:35.789" v="48" actId="12"/>
        <pc:sldMkLst>
          <pc:docMk/>
          <pc:sldMk cId="0" sldId="261"/>
        </pc:sldMkLst>
        <pc:picChg chg="del">
          <ac:chgData name="Lai, Wilson" userId="2840974a-0d84-4886-90a9-9a3ed79f3a48" providerId="ADAL" clId="{9F23B798-9E84-4552-BA63-E776E805C424}" dt="2026-08-03T13:10:47.805" v="22" actId="21"/>
          <ac:picMkLst>
            <pc:docMk/>
            <pc:sldMk cId="0" sldId="261"/>
            <ac:picMk id="2" creationId="{00000000-0000-0000-0000-000000000000}"/>
          </ac:picMkLst>
        </pc:picChg>
        <pc:picChg chg="add">
          <ac:chgData name="Lai, Wilson" userId="2840974a-0d84-4886-90a9-9a3ed79f3a48" providerId="ADAL" clId="{9F23B798-9E84-4552-BA63-E776E805C424}" dt="2026-08-03T13:10:56.714" v="23" actId="22"/>
          <ac:picMkLst>
            <pc:docMk/>
            <pc:sldMk cId="0" sldId="261"/>
            <ac:picMk id="4" creationId="{67DB3AE7-5512-0AEE-ABA2-E5B67B7701BA}"/>
          </ac:picMkLst>
        </pc:picChg>
      </pc:sldChg>
      <pc:sldChg chg="addSp delSp mod modNotesTx">
        <pc:chgData name="Lai, Wilson" userId="2840974a-0d84-4886-90a9-9a3ed79f3a48" providerId="ADAL" clId="{9F23B798-9E84-4552-BA63-E776E805C424}" dt="2026-08-03T14:23:46.281" v="49" actId="12"/>
        <pc:sldMkLst>
          <pc:docMk/>
          <pc:sldMk cId="0" sldId="262"/>
        </pc:sldMkLst>
        <pc:picChg chg="del">
          <ac:chgData name="Lai, Wilson" userId="2840974a-0d84-4886-90a9-9a3ed79f3a48" providerId="ADAL" clId="{9F23B798-9E84-4552-BA63-E776E805C424}" dt="2026-08-03T13:10:58.530" v="24" actId="21"/>
          <ac:picMkLst>
            <pc:docMk/>
            <pc:sldMk cId="0" sldId="262"/>
            <ac:picMk id="2" creationId="{00000000-0000-0000-0000-000000000000}"/>
          </ac:picMkLst>
        </pc:picChg>
        <pc:picChg chg="add">
          <ac:chgData name="Lai, Wilson" userId="2840974a-0d84-4886-90a9-9a3ed79f3a48" providerId="ADAL" clId="{9F23B798-9E84-4552-BA63-E776E805C424}" dt="2026-08-03T13:11:17.847" v="25" actId="22"/>
          <ac:picMkLst>
            <pc:docMk/>
            <pc:sldMk cId="0" sldId="262"/>
            <ac:picMk id="4" creationId="{FFBA4623-413F-0357-695C-854D927D18AC}"/>
          </ac:picMkLst>
        </pc:picChg>
      </pc:sldChg>
      <pc:sldChg chg="addSp delSp mod modNotesTx">
        <pc:chgData name="Lai, Wilson" userId="2840974a-0d84-4886-90a9-9a3ed79f3a48" providerId="ADAL" clId="{9F23B798-9E84-4552-BA63-E776E805C424}" dt="2026-08-03T14:23:56.528" v="50" actId="12"/>
        <pc:sldMkLst>
          <pc:docMk/>
          <pc:sldMk cId="0" sldId="263"/>
        </pc:sldMkLst>
        <pc:picChg chg="del">
          <ac:chgData name="Lai, Wilson" userId="2840974a-0d84-4886-90a9-9a3ed79f3a48" providerId="ADAL" clId="{9F23B798-9E84-4552-BA63-E776E805C424}" dt="2026-08-03T13:11:21.318" v="26" actId="21"/>
          <ac:picMkLst>
            <pc:docMk/>
            <pc:sldMk cId="0" sldId="263"/>
            <ac:picMk id="2" creationId="{00000000-0000-0000-0000-000000000000}"/>
          </ac:picMkLst>
        </pc:picChg>
        <pc:picChg chg="add">
          <ac:chgData name="Lai, Wilson" userId="2840974a-0d84-4886-90a9-9a3ed79f3a48" providerId="ADAL" clId="{9F23B798-9E84-4552-BA63-E776E805C424}" dt="2026-08-03T13:11:29.683" v="27" actId="22"/>
          <ac:picMkLst>
            <pc:docMk/>
            <pc:sldMk cId="0" sldId="263"/>
            <ac:picMk id="4" creationId="{FA353FB8-92C5-F6AB-424A-7A8F4C931DF8}"/>
          </ac:picMkLst>
        </pc:picChg>
      </pc:sldChg>
      <pc:sldChg chg="addSp delSp mod modNotesTx">
        <pc:chgData name="Lai, Wilson" userId="2840974a-0d84-4886-90a9-9a3ed79f3a48" providerId="ADAL" clId="{9F23B798-9E84-4552-BA63-E776E805C424}" dt="2026-08-03T14:24:08.910" v="51" actId="12"/>
        <pc:sldMkLst>
          <pc:docMk/>
          <pc:sldMk cId="0" sldId="264"/>
        </pc:sldMkLst>
        <pc:picChg chg="del">
          <ac:chgData name="Lai, Wilson" userId="2840974a-0d84-4886-90a9-9a3ed79f3a48" providerId="ADAL" clId="{9F23B798-9E84-4552-BA63-E776E805C424}" dt="2026-08-03T13:11:31.315" v="28" actId="21"/>
          <ac:picMkLst>
            <pc:docMk/>
            <pc:sldMk cId="0" sldId="264"/>
            <ac:picMk id="2" creationId="{00000000-0000-0000-0000-000000000000}"/>
          </ac:picMkLst>
        </pc:picChg>
        <pc:picChg chg="add">
          <ac:chgData name="Lai, Wilson" userId="2840974a-0d84-4886-90a9-9a3ed79f3a48" providerId="ADAL" clId="{9F23B798-9E84-4552-BA63-E776E805C424}" dt="2026-08-03T13:11:39.777" v="29" actId="22"/>
          <ac:picMkLst>
            <pc:docMk/>
            <pc:sldMk cId="0" sldId="264"/>
            <ac:picMk id="4" creationId="{199B8D83-948C-FB19-7BFE-E3401CB222B2}"/>
          </ac:picMkLst>
        </pc:picChg>
      </pc:sldChg>
      <pc:sldChg chg="addSp delSp mod modNotesTx">
        <pc:chgData name="Lai, Wilson" userId="2840974a-0d84-4886-90a9-9a3ed79f3a48" providerId="ADAL" clId="{9F23B798-9E84-4552-BA63-E776E805C424}" dt="2026-08-03T14:24:19.068" v="52" actId="12"/>
        <pc:sldMkLst>
          <pc:docMk/>
          <pc:sldMk cId="0" sldId="265"/>
        </pc:sldMkLst>
        <pc:picChg chg="del">
          <ac:chgData name="Lai, Wilson" userId="2840974a-0d84-4886-90a9-9a3ed79f3a48" providerId="ADAL" clId="{9F23B798-9E84-4552-BA63-E776E805C424}" dt="2026-08-03T13:11:42.605" v="30" actId="21"/>
          <ac:picMkLst>
            <pc:docMk/>
            <pc:sldMk cId="0" sldId="265"/>
            <ac:picMk id="2" creationId="{00000000-0000-0000-0000-000000000000}"/>
          </ac:picMkLst>
        </pc:picChg>
        <pc:picChg chg="add">
          <ac:chgData name="Lai, Wilson" userId="2840974a-0d84-4886-90a9-9a3ed79f3a48" providerId="ADAL" clId="{9F23B798-9E84-4552-BA63-E776E805C424}" dt="2026-08-03T13:11:49.975" v="31" actId="22"/>
          <ac:picMkLst>
            <pc:docMk/>
            <pc:sldMk cId="0" sldId="265"/>
            <ac:picMk id="4" creationId="{783FE38C-EEB0-FB42-82C0-E4B5E401E6E1}"/>
          </ac:picMkLst>
        </pc:picChg>
      </pc:sldChg>
      <pc:sldChg chg="addSp delSp modSp mod modNotesTx">
        <pc:chgData name="Lai, Wilson" userId="2840974a-0d84-4886-90a9-9a3ed79f3a48" providerId="ADAL" clId="{9F23B798-9E84-4552-BA63-E776E805C424}" dt="2026-08-03T14:24:30.120" v="56" actId="12"/>
        <pc:sldMkLst>
          <pc:docMk/>
          <pc:sldMk cId="0" sldId="266"/>
        </pc:sldMkLst>
        <pc:spChg chg="add del">
          <ac:chgData name="Lai, Wilson" userId="2840974a-0d84-4886-90a9-9a3ed79f3a48" providerId="ADAL" clId="{9F23B798-9E84-4552-BA63-E776E805C424}" dt="2026-08-03T14:24:28.101" v="55" actId="22"/>
          <ac:spMkLst>
            <pc:docMk/>
            <pc:sldMk cId="0" sldId="266"/>
            <ac:spMk id="3" creationId="{3217CB80-7D8B-EE53-7796-029CD850B59E}"/>
          </ac:spMkLst>
        </pc:spChg>
        <pc:picChg chg="del">
          <ac:chgData name="Lai, Wilson" userId="2840974a-0d84-4886-90a9-9a3ed79f3a48" providerId="ADAL" clId="{9F23B798-9E84-4552-BA63-E776E805C424}" dt="2026-08-03T13:11:51.926" v="32" actId="21"/>
          <ac:picMkLst>
            <pc:docMk/>
            <pc:sldMk cId="0" sldId="266"/>
            <ac:picMk id="2" creationId="{00000000-0000-0000-0000-000000000000}"/>
          </ac:picMkLst>
        </pc:picChg>
        <pc:picChg chg="add">
          <ac:chgData name="Lai, Wilson" userId="2840974a-0d84-4886-90a9-9a3ed79f3a48" providerId="ADAL" clId="{9F23B798-9E84-4552-BA63-E776E805C424}" dt="2026-08-03T13:12:01.291" v="33" actId="22"/>
          <ac:picMkLst>
            <pc:docMk/>
            <pc:sldMk cId="0" sldId="266"/>
            <ac:picMk id="4" creationId="{6DAEA687-52A4-5D05-F9FC-82BAF970EC4D}"/>
          </ac:picMkLst>
        </pc:picChg>
      </pc:sldChg>
      <pc:sldChg chg="addSp delSp mod modNotesTx">
        <pc:chgData name="Lai, Wilson" userId="2840974a-0d84-4886-90a9-9a3ed79f3a48" providerId="ADAL" clId="{9F23B798-9E84-4552-BA63-E776E805C424}" dt="2026-08-03T14:24:38.949" v="57" actId="12"/>
        <pc:sldMkLst>
          <pc:docMk/>
          <pc:sldMk cId="0" sldId="267"/>
        </pc:sldMkLst>
        <pc:picChg chg="del">
          <ac:chgData name="Lai, Wilson" userId="2840974a-0d84-4886-90a9-9a3ed79f3a48" providerId="ADAL" clId="{9F23B798-9E84-4552-BA63-E776E805C424}" dt="2026-08-03T13:12:03.749" v="34" actId="21"/>
          <ac:picMkLst>
            <pc:docMk/>
            <pc:sldMk cId="0" sldId="267"/>
            <ac:picMk id="2" creationId="{00000000-0000-0000-0000-000000000000}"/>
          </ac:picMkLst>
        </pc:picChg>
        <pc:picChg chg="add">
          <ac:chgData name="Lai, Wilson" userId="2840974a-0d84-4886-90a9-9a3ed79f3a48" providerId="ADAL" clId="{9F23B798-9E84-4552-BA63-E776E805C424}" dt="2026-08-03T13:12:19.016" v="35" actId="22"/>
          <ac:picMkLst>
            <pc:docMk/>
            <pc:sldMk cId="0" sldId="267"/>
            <ac:picMk id="4" creationId="{D10D89BB-5642-CB58-726E-4241CDFD60A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529F00-3D2D-43F9-8208-4C25243ABF72}"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8D2FFB-51A7-468D-8070-DF739D27F3C1}" type="slidenum">
              <a:rPr lang="en-US" smtClean="0"/>
              <a:t>‹#›</a:t>
            </a:fld>
            <a:endParaRPr lang="en-US"/>
          </a:p>
        </p:txBody>
      </p:sp>
    </p:spTree>
    <p:extLst>
      <p:ext uri="{BB962C8B-B14F-4D97-AF65-F5344CB8AC3E}">
        <p14:creationId xmlns:p14="http://schemas.microsoft.com/office/powerpoint/2010/main" val="10149424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https://www.youtube.com/watch?v=vNbY8kR6-j0</a:t>
            </a:r>
          </a:p>
          <a:p>
            <a:endParaRPr lang="en-US" dirty="0"/>
          </a:p>
          <a:p>
            <a:pPr marL="171450" indent="-171450">
              <a:buFont typeface="Arial" panose="020B0604020202020204" pitchFamily="34" charset="0"/>
              <a:buChar char="•"/>
            </a:pPr>
            <a:r>
              <a:rPr lang="en-US" dirty="0"/>
              <a:t>Welcome, everyone. Today we are walking through the strategic worldview and leadership philosophy of Jamie Dimon, Chairman and CEO of JPMorgan Chase.</a:t>
            </a:r>
          </a:p>
          <a:p>
            <a:pPr marL="171450" indent="-171450">
              <a:buFont typeface="Arial" panose="020B0604020202020204" pitchFamily="34" charset="0"/>
              <a:buChar char="•"/>
            </a:pPr>
            <a:r>
              <a:rPr lang="en-US" dirty="0"/>
              <a:t>Over a 20-year tenure that navigated the 2008 Financial Crisis, the European sovereign debt crisis, the pandemic, and recent regional banking turmoil, Dimon has developed a distinct operational framework—what we call </a:t>
            </a:r>
            <a:r>
              <a:rPr lang="en-US" i="1" dirty="0"/>
              <a:t>The Dimon Doctrine</a:t>
            </a:r>
            <a:r>
              <a:rPr lang="en-US" dirty="0"/>
              <a:t>.</a:t>
            </a:r>
          </a:p>
          <a:p>
            <a:pPr marL="171450" indent="-171450">
              <a:buFont typeface="Arial" panose="020B0604020202020204" pitchFamily="34" charset="0"/>
              <a:buChar char="•"/>
            </a:pPr>
            <a:r>
              <a:rPr lang="en-US" dirty="0"/>
              <a:t>This briefing synthesizes macro market conditions, sovereign debt warnings, anti-bureaucracy management tactics, and core leadership principles into a single, cohesive playbook.</a:t>
            </a:r>
          </a:p>
          <a:p>
            <a:endParaRPr lang="en-US" dirty="0"/>
          </a:p>
        </p:txBody>
      </p:sp>
      <p:sp>
        <p:nvSpPr>
          <p:cNvPr id="4" name="Slide Number Placeholder 3"/>
          <p:cNvSpPr>
            <a:spLocks noGrp="1"/>
          </p:cNvSpPr>
          <p:nvPr>
            <p:ph type="sldNum" sz="quarter" idx="5"/>
          </p:nvPr>
        </p:nvSpPr>
        <p:spPr/>
        <p:txBody>
          <a:bodyPr/>
          <a:lstStyle/>
          <a:p>
            <a:fld id="{998D2FFB-51A7-468D-8070-DF739D27F3C1}" type="slidenum">
              <a:rPr lang="en-US" smtClean="0"/>
              <a:t>1</a:t>
            </a:fld>
            <a:endParaRPr lang="en-US"/>
          </a:p>
        </p:txBody>
      </p:sp>
    </p:spTree>
    <p:extLst>
      <p:ext uri="{BB962C8B-B14F-4D97-AF65-F5344CB8AC3E}">
        <p14:creationId xmlns:p14="http://schemas.microsoft.com/office/powerpoint/2010/main" val="1168100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To understand Dimon’s approach, we break his strategy down into three distinct pillars: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1. Macro Realism (The Arena):</a:t>
            </a:r>
            <a:r>
              <a:rPr lang="en-US" sz="1200" kern="1200" dirty="0">
                <a:solidFill>
                  <a:schemeClr val="tx1"/>
                </a:solidFill>
                <a:effectLst/>
                <a:latin typeface="+mn-lt"/>
                <a:ea typeface="+mn-ea"/>
                <a:cs typeface="+mn-cs"/>
              </a:rPr>
              <a:t> We must assess global markets without wishful thinking. This involves tracking geopolitical 'tectonic plates,' massive global debt deficits exceeding 100% of GDP, and persistent structural inflation.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2. Corporate Resilience (The Fortress):</a:t>
            </a:r>
            <a:r>
              <a:rPr lang="en-US" sz="1200" kern="1200" dirty="0">
                <a:solidFill>
                  <a:schemeClr val="tx1"/>
                </a:solidFill>
                <a:effectLst/>
                <a:latin typeface="+mn-lt"/>
                <a:ea typeface="+mn-ea"/>
                <a:cs typeface="+mn-cs"/>
              </a:rPr>
              <a:t> Success requires designing strategies for absolute worst-case scenarios. We stress-test concurrent unit failures and aggressively eliminate bureaucratic complacency.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3. Personal Character (The Leader):</a:t>
            </a:r>
            <a:r>
              <a:rPr lang="en-US" sz="1200" kern="1200" dirty="0">
                <a:solidFill>
                  <a:schemeClr val="tx1"/>
                </a:solidFill>
                <a:effectLst/>
                <a:latin typeface="+mn-lt"/>
                <a:ea typeface="+mn-ea"/>
                <a:cs typeface="+mn-cs"/>
              </a:rPr>
              <a:t> Character is the ultimate metric when hiring or promoting executives. We must combat CEO insecurity and maintain holistic discipline across mind, body, and spirit.</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98D2FFB-51A7-468D-8070-DF739D27F3C1}" type="slidenum">
              <a:rPr lang="en-US" smtClean="0"/>
              <a:t>2</a:t>
            </a:fld>
            <a:endParaRPr lang="en-US"/>
          </a:p>
        </p:txBody>
      </p:sp>
    </p:spTree>
    <p:extLst>
      <p:ext uri="{BB962C8B-B14F-4D97-AF65-F5344CB8AC3E}">
        <p14:creationId xmlns:p14="http://schemas.microsoft.com/office/powerpoint/2010/main" val="35375985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Looking at the current macroeconomic backdrop, we see a duality between market resilience and systemic fragility.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On one hand, global markets have proven surprisingly resilient—swiftly adjusting even to severe disruptions, such as shrugging off a 20-million-barrel-per-day oil shock through re-routed supply chains and drawdowns.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However, Dimon warns against complacency. Overlapping risks—including the war in Ukraine, Middle East instability, US-China economic tension, and global deficits (with the US debt deficit at 6% of GDP and world deficits near 5%)—act like tectonic plates shifting simultaneously.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A concurrence of these factors can trigger an unpriced tipping point where markets suddenly reprice risk overnight.</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98D2FFB-51A7-468D-8070-DF739D27F3C1}" type="slidenum">
              <a:rPr lang="en-US" smtClean="0"/>
              <a:t>3</a:t>
            </a:fld>
            <a:endParaRPr lang="en-US"/>
          </a:p>
        </p:txBody>
      </p:sp>
    </p:spTree>
    <p:extLst>
      <p:ext uri="{BB962C8B-B14F-4D97-AF65-F5344CB8AC3E}">
        <p14:creationId xmlns:p14="http://schemas.microsoft.com/office/powerpoint/2010/main" val="1520006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When asked directly about fixed income, Dimon's position is clear: he would </a:t>
            </a:r>
            <a:r>
              <a:rPr lang="en-US" sz="1200" i="1" kern="1200" dirty="0">
                <a:solidFill>
                  <a:schemeClr val="tx1"/>
                </a:solidFill>
                <a:effectLst/>
                <a:latin typeface="+mn-lt"/>
                <a:ea typeface="+mn-ea"/>
                <a:cs typeface="+mn-cs"/>
              </a:rPr>
              <a:t>not</a:t>
            </a:r>
            <a:r>
              <a:rPr lang="en-US" sz="1200" kern="1200" dirty="0">
                <a:solidFill>
                  <a:schemeClr val="tx1"/>
                </a:solidFill>
                <a:effectLst/>
                <a:latin typeface="+mn-lt"/>
                <a:ea typeface="+mn-ea"/>
                <a:cs typeface="+mn-cs"/>
              </a:rPr>
              <a:t> be a buyer of long-dated government bonds.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Drawing a historical parallel to 1974, after the Vietnam war and oil shocks, inflation climbed persistently and forced yields up from 3.5% to 11%.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Today's drivers—unprecedented global deficits (&gt;100% debt-to-GDP), green energy transition costs, and global remilitarization—create sticky structural inflation.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Even with target inflation around 2%, fair yield on a 10-year Treasury should naturally sit around 4.0% to 4.5%. With yields already near those levels, there is very little upside compensation for holding long-term interest rate risk.</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98D2FFB-51A7-468D-8070-DF739D27F3C1}" type="slidenum">
              <a:rPr lang="en-US" smtClean="0"/>
              <a:t>4</a:t>
            </a:fld>
            <a:endParaRPr lang="en-US"/>
          </a:p>
        </p:txBody>
      </p:sp>
    </p:spTree>
    <p:extLst>
      <p:ext uri="{BB962C8B-B14F-4D97-AF65-F5344CB8AC3E}">
        <p14:creationId xmlns:p14="http://schemas.microsoft.com/office/powerpoint/2010/main" val="10068577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"Summarizing the macro side:</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Government Deficits:</a:t>
            </a:r>
            <a:r>
              <a:rPr lang="en-US" sz="1200" kern="1200" dirty="0">
                <a:solidFill>
                  <a:schemeClr val="tx1"/>
                </a:solidFill>
                <a:effectLst/>
                <a:latin typeface="+mn-lt"/>
                <a:ea typeface="+mn-ea"/>
                <a:cs typeface="+mn-cs"/>
              </a:rPr>
              <a:t> Debt-to-GDP at 100% globally and a 6% US budget deficit represent a looming structural threat. If unresolved through deliberate policy, market forces like 'bond vigilantes' will force the issue via higher rates.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AI Frontier:</a:t>
            </a:r>
            <a:r>
              <a:rPr lang="en-US" sz="1200" kern="1200" dirty="0">
                <a:solidFill>
                  <a:schemeClr val="tx1"/>
                </a:solidFill>
                <a:effectLst/>
                <a:latin typeface="+mn-lt"/>
                <a:ea typeface="+mn-ea"/>
                <a:cs typeface="+mn-cs"/>
              </a:rPr>
              <a:t> Dimon compares AI to the rise of the internet. It is a real, transformative technology that will revolutionize healthcare, code writing, and efficiency.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However, payback periods won't follow linear market expectations. Much like early internet hype where many companies collapsed before tech giants emerged, corporate spending on AI will face a period of rigorous ROI discipline."</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98D2FFB-51A7-468D-8070-DF739D27F3C1}" type="slidenum">
              <a:rPr lang="en-US" smtClean="0"/>
              <a:t>5</a:t>
            </a:fld>
            <a:endParaRPr lang="en-US"/>
          </a:p>
        </p:txBody>
      </p:sp>
    </p:spTree>
    <p:extLst>
      <p:ext uri="{BB962C8B-B14F-4D97-AF65-F5344CB8AC3E}">
        <p14:creationId xmlns:p14="http://schemas.microsoft.com/office/powerpoint/2010/main" val="14610384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To appreciate the execution behind this playbook, look at JPMorgan Chase’s trajectory since 2006: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US Market Rank:</a:t>
            </a:r>
            <a:r>
              <a:rPr lang="en-US" sz="1200" kern="1200" dirty="0">
                <a:solidFill>
                  <a:schemeClr val="tx1"/>
                </a:solidFill>
                <a:effectLst/>
                <a:latin typeface="+mn-lt"/>
                <a:ea typeface="+mn-ea"/>
                <a:cs typeface="+mn-cs"/>
              </a:rPr>
              <a:t> Moved from 3rd or 4th position to the </a:t>
            </a:r>
            <a:r>
              <a:rPr lang="en-US" sz="1200" b="1" kern="1200" dirty="0">
                <a:solidFill>
                  <a:schemeClr val="tx1"/>
                </a:solidFill>
                <a:effectLst/>
                <a:latin typeface="+mn-lt"/>
                <a:ea typeface="+mn-ea"/>
                <a:cs typeface="+mn-cs"/>
              </a:rPr>
              <a:t>#1 largest bank in the US</a:t>
            </a:r>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Market Capitalization:</a:t>
            </a:r>
            <a:r>
              <a:rPr lang="en-US" sz="1200" kern="1200" dirty="0">
                <a:solidFill>
                  <a:schemeClr val="tx1"/>
                </a:solidFill>
                <a:effectLst/>
                <a:latin typeface="+mn-lt"/>
                <a:ea typeface="+mn-ea"/>
                <a:cs typeface="+mn-cs"/>
              </a:rPr>
              <a:t> Expanded eightfold from </a:t>
            </a:r>
            <a:r>
              <a:rPr lang="en-US" sz="1200" b="1" kern="1200" dirty="0">
                <a:solidFill>
                  <a:schemeClr val="tx1"/>
                </a:solidFill>
                <a:effectLst/>
                <a:latin typeface="+mn-lt"/>
                <a:ea typeface="+mn-ea"/>
                <a:cs typeface="+mn-cs"/>
              </a:rPr>
              <a:t>~$112 Billion to ~$900 Billion</a:t>
            </a:r>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Headcount:</a:t>
            </a:r>
            <a:r>
              <a:rPr lang="en-US" sz="1200" kern="1200" dirty="0">
                <a:solidFill>
                  <a:schemeClr val="tx1"/>
                </a:solidFill>
                <a:effectLst/>
                <a:latin typeface="+mn-lt"/>
                <a:ea typeface="+mn-ea"/>
                <a:cs typeface="+mn-cs"/>
              </a:rPr>
              <a:t> Scaled operations from </a:t>
            </a:r>
            <a:r>
              <a:rPr lang="en-US" sz="1200" b="1" kern="1200" dirty="0">
                <a:solidFill>
                  <a:schemeClr val="tx1"/>
                </a:solidFill>
                <a:effectLst/>
                <a:latin typeface="+mn-lt"/>
                <a:ea typeface="+mn-ea"/>
                <a:cs typeface="+mn-cs"/>
              </a:rPr>
              <a:t>~150,000 to ~320,000 employees</a:t>
            </a:r>
            <a:r>
              <a:rPr lang="en-US" sz="1200" kern="1200" dirty="0">
                <a:solidFill>
                  <a:schemeClr val="tx1"/>
                </a:solidFill>
                <a:effectLst/>
                <a:latin typeface="+mn-lt"/>
                <a:ea typeface="+mn-ea"/>
                <a:cs typeface="+mn-cs"/>
              </a:rPr>
              <a:t> globally.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This growth was not driven by aiming to 'be the biggest,' but by maintaining operational excellence, stress-testing worst cases, and compounding advantages through every downturn."</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98D2FFB-51A7-468D-8070-DF739D27F3C1}" type="slidenum">
              <a:rPr lang="en-US" smtClean="0"/>
              <a:t>6</a:t>
            </a:fld>
            <a:endParaRPr lang="en-US"/>
          </a:p>
        </p:txBody>
      </p:sp>
    </p:spTree>
    <p:extLst>
      <p:ext uri="{BB962C8B-B14F-4D97-AF65-F5344CB8AC3E}">
        <p14:creationId xmlns:p14="http://schemas.microsoft.com/office/powerpoint/2010/main" val="3509884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How does a bank maintain a 0% chance of going bust during a generational panic? Through the 'Fortress' mindset.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Dimon's risk model doesn't just stress-test individual business units; it assumes </a:t>
            </a:r>
            <a:r>
              <a:rPr lang="en-US" sz="1200" i="1" kern="1200" dirty="0">
                <a:solidFill>
                  <a:schemeClr val="tx1"/>
                </a:solidFill>
                <a:effectLst/>
                <a:latin typeface="+mn-lt"/>
                <a:ea typeface="+mn-ea"/>
                <a:cs typeface="+mn-cs"/>
              </a:rPr>
              <a:t>every single unit fails simultaneously</a:t>
            </a:r>
            <a:r>
              <a:rPr lang="en-US" sz="1200" kern="1200" dirty="0">
                <a:solidFill>
                  <a:schemeClr val="tx1"/>
                </a:solidFill>
                <a:effectLst/>
                <a:latin typeface="+mn-lt"/>
                <a:ea typeface="+mn-ea"/>
                <a:cs typeface="+mn-cs"/>
              </a:rPr>
              <a:t>. If the firm can survive that compounding worst-case scenario, it can handle real-world shocks.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However, executing this strategy requires immense intestinal fortitude.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Reflecting on crisis-era acquisitions (like Bear Stearns), Dimon noted that after all due diligence is complete and the board votes, signing the final document commits tens of thousands of employees to months of backbreaking, stressful work. Holding that responsibility creates a 'pit in your stomach'—and that final call is ultimately lonely.</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98D2FFB-51A7-468D-8070-DF739D27F3C1}" type="slidenum">
              <a:rPr lang="en-US" smtClean="0"/>
              <a:t>7</a:t>
            </a:fld>
            <a:endParaRPr lang="en-US"/>
          </a:p>
        </p:txBody>
      </p:sp>
    </p:spTree>
    <p:extLst>
      <p:ext uri="{BB962C8B-B14F-4D97-AF65-F5344CB8AC3E}">
        <p14:creationId xmlns:p14="http://schemas.microsoft.com/office/powerpoint/2010/main" val="36595424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As organizations scale, bureaucracy, arrogance, and complacency naturally creep in. Dimon breaks this cycle using a 3-step feedback loop: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1. Bottom-Up Bus Trips:</a:t>
            </a:r>
            <a:r>
              <a:rPr lang="en-US" sz="1200" kern="1200" dirty="0">
                <a:solidFill>
                  <a:schemeClr val="tx1"/>
                </a:solidFill>
                <a:effectLst/>
                <a:latin typeface="+mn-lt"/>
                <a:ea typeface="+mn-ea"/>
                <a:cs typeface="+mn-cs"/>
              </a:rPr>
              <a:t> Put frontline branch managers and tellers on a bus with 'beer and immunity'. Uncover broken operational protocols (like outdated fax requirements) directly from those doing the work.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2. Interrogate Customer Complaints:</a:t>
            </a:r>
            <a:r>
              <a:rPr lang="en-US" sz="1200" kern="1200" dirty="0">
                <a:solidFill>
                  <a:schemeClr val="tx1"/>
                </a:solidFill>
                <a:effectLst/>
                <a:latin typeface="+mn-lt"/>
                <a:ea typeface="+mn-ea"/>
                <a:cs typeface="+mn-cs"/>
              </a:rPr>
              <a:t> Treat complaints as valuable gifts. Don't ask if the customer is 100% right; ask </a:t>
            </a:r>
            <a:r>
              <a:rPr lang="en-US" sz="1200" i="1" kern="1200" dirty="0">
                <a:solidFill>
                  <a:schemeClr val="tx1"/>
                </a:solidFill>
                <a:effectLst/>
                <a:latin typeface="+mn-lt"/>
                <a:ea typeface="+mn-ea"/>
                <a:cs typeface="+mn-cs"/>
              </a:rPr>
              <a:t>'Where are they partially right?'</a:t>
            </a:r>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3. Rapid Recognition of Errors:</a:t>
            </a:r>
            <a:r>
              <a:rPr lang="en-US" sz="1200" kern="1200" dirty="0">
                <a:solidFill>
                  <a:schemeClr val="tx1"/>
                </a:solidFill>
                <a:effectLst/>
                <a:latin typeface="+mn-lt"/>
                <a:ea typeface="+mn-ea"/>
                <a:cs typeface="+mn-cs"/>
              </a:rPr>
              <a:t> Publicly acknowledge strategic misses (e.g., missing the initial opportunity around Stripe) without defensiveness.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Outcome:</a:t>
            </a:r>
            <a:r>
              <a:rPr lang="en-US" sz="1200" kern="1200" dirty="0">
                <a:solidFill>
                  <a:schemeClr val="tx1"/>
                </a:solidFill>
                <a:effectLst/>
                <a:latin typeface="+mn-lt"/>
                <a:ea typeface="+mn-ea"/>
                <a:cs typeface="+mn-cs"/>
              </a:rPr>
              <a:t> The total eradication of complacency. Past success guarantees nothing; a company must operate like a top restaurant, delivering flawless execution every single night.</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98D2FFB-51A7-468D-8070-DF739D27F3C1}" type="slidenum">
              <a:rPr lang="en-US" smtClean="0"/>
              <a:t>8</a:t>
            </a:fld>
            <a:endParaRPr lang="en-US"/>
          </a:p>
        </p:txBody>
      </p:sp>
    </p:spTree>
    <p:extLst>
      <p:ext uri="{BB962C8B-B14F-4D97-AF65-F5344CB8AC3E}">
        <p14:creationId xmlns:p14="http://schemas.microsoft.com/office/powerpoint/2010/main" val="1255121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When hiring and promoting leaders, Dimon revives J.P. Morgan Sr.'s foundational motto: </a:t>
            </a:r>
            <a:r>
              <a:rPr lang="en-US" sz="1200" i="1" kern="1200" dirty="0">
                <a:solidFill>
                  <a:schemeClr val="tx1"/>
                </a:solidFill>
                <a:effectLst/>
                <a:latin typeface="+mn-lt"/>
                <a:ea typeface="+mn-ea"/>
                <a:cs typeface="+mn-cs"/>
              </a:rPr>
              <a:t>'Above all else is character.'</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A practical stress-test for executive hiring: </a:t>
            </a:r>
            <a:r>
              <a:rPr lang="en-US" sz="1200" i="1" kern="1200" dirty="0">
                <a:solidFill>
                  <a:schemeClr val="tx1"/>
                </a:solidFill>
                <a:effectLst/>
                <a:latin typeface="+mn-lt"/>
                <a:ea typeface="+mn-ea"/>
                <a:cs typeface="+mn-cs"/>
              </a:rPr>
              <a:t>'Would you want your own child reporting to this leader?'</a:t>
            </a:r>
            <a:r>
              <a:rPr lang="en-US" sz="1200" kern="1200" dirty="0">
                <a:solidFill>
                  <a:schemeClr val="tx1"/>
                </a:solidFill>
                <a:effectLst/>
                <a:latin typeface="+mn-lt"/>
                <a:ea typeface="+mn-ea"/>
                <a:cs typeface="+mn-cs"/>
              </a:rPr>
              <a:t> If the answer is no, they shouldn't be promoted, regardless of their revenue generation.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Toxicity of CEO Insecurity:</a:t>
            </a:r>
            <a:r>
              <a:rPr lang="en-US" sz="1200" kern="1200" dirty="0">
                <a:solidFill>
                  <a:schemeClr val="tx1"/>
                </a:solidFill>
                <a:effectLst/>
                <a:latin typeface="+mn-lt"/>
                <a:ea typeface="+mn-ea"/>
                <a:cs typeface="+mn-cs"/>
              </a:rPr>
              <a:t> When leaders get promoted beyond their core expertise, insecurity can set in. Insecure leaders surround themselves with sycophants, filter out bad news, and rely on polished PowerPoint slides rather than ground truth. Secure leaders foster trust, encourage debate, and aren't afraid to admit what they don't know.</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98D2FFB-51A7-468D-8070-DF739D27F3C1}" type="slidenum">
              <a:rPr lang="en-US" smtClean="0"/>
              <a:t>9</a:t>
            </a:fld>
            <a:endParaRPr lang="en-US"/>
          </a:p>
        </p:txBody>
      </p:sp>
    </p:spTree>
    <p:extLst>
      <p:ext uri="{BB962C8B-B14F-4D97-AF65-F5344CB8AC3E}">
        <p14:creationId xmlns:p14="http://schemas.microsoft.com/office/powerpoint/2010/main" val="33440088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Sustained high performance requires deliberate maintenance across four areas: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Continuous Learning:</a:t>
            </a:r>
            <a:r>
              <a:rPr lang="en-US" sz="1200" kern="1200" dirty="0">
                <a:solidFill>
                  <a:schemeClr val="tx1"/>
                </a:solidFill>
                <a:effectLst/>
                <a:latin typeface="+mn-lt"/>
                <a:ea typeface="+mn-ea"/>
                <a:cs typeface="+mn-cs"/>
              </a:rPr>
              <a:t> Read broadly across political spectrums and study history. History teaches us how people behave under pressure and lets us learn from others' mistakes rather than making them ourselves.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Communication &amp; EQ:</a:t>
            </a:r>
            <a:r>
              <a:rPr lang="en-US" sz="1200" kern="1200" dirty="0">
                <a:solidFill>
                  <a:schemeClr val="tx1"/>
                </a:solidFill>
                <a:effectLst/>
                <a:latin typeface="+mn-lt"/>
                <a:ea typeface="+mn-ea"/>
                <a:cs typeface="+mn-cs"/>
              </a:rPr>
              <a:t> Develop empathy, practice active listening, and structure clear communication.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Personal Discipline &amp; Boundaries:</a:t>
            </a:r>
            <a:r>
              <a:rPr lang="en-US" sz="1200" kern="1200" dirty="0">
                <a:solidFill>
                  <a:schemeClr val="tx1"/>
                </a:solidFill>
                <a:effectLst/>
                <a:latin typeface="+mn-lt"/>
                <a:ea typeface="+mn-ea"/>
                <a:cs typeface="+mn-cs"/>
              </a:rPr>
              <a:t> High-demand roles require extreme calendar discipline. Eliminate low-value distractions to safeguard time for health, soul, and family.</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98D2FFB-51A7-468D-8070-DF739D27F3C1}" type="slidenum">
              <a:rPr lang="en-US" smtClean="0"/>
              <a:t>10</a:t>
            </a:fld>
            <a:endParaRPr lang="en-US"/>
          </a:p>
        </p:txBody>
      </p:sp>
    </p:spTree>
    <p:extLst>
      <p:ext uri="{BB962C8B-B14F-4D97-AF65-F5344CB8AC3E}">
        <p14:creationId xmlns:p14="http://schemas.microsoft.com/office/powerpoint/2010/main" val="36456539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This slide brings together the entire framework into a single reference blueprint: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Macro &amp; Market Frontier:</a:t>
            </a:r>
            <a:r>
              <a:rPr lang="en-US" sz="1200" kern="1200" dirty="0">
                <a:solidFill>
                  <a:schemeClr val="tx1"/>
                </a:solidFill>
                <a:effectLst/>
                <a:latin typeface="+mn-lt"/>
                <a:ea typeface="+mn-ea"/>
                <a:cs typeface="+mn-cs"/>
              </a:rPr>
              <a:t> Avoid long-dated bonds due to sticky structural inflation; treat 100% debt-to-GDP and 6% deficits as unpriced market tail risks; and view AI as a net-positive technology with non-linear payoff timelines.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Leadership &amp; Organization:</a:t>
            </a:r>
            <a:r>
              <a:rPr lang="en-US" sz="1200" kern="1200" dirty="0">
                <a:solidFill>
                  <a:schemeClr val="tx1"/>
                </a:solidFill>
                <a:effectLst/>
                <a:latin typeface="+mn-lt"/>
                <a:ea typeface="+mn-ea"/>
                <a:cs typeface="+mn-cs"/>
              </a:rPr>
              <a:t> Hire exclusively for character; battle bureaucracy by inviting unvarnished ground truth; embrace rapid error recognition; and build 'fortress' balance sheets capable of withstanding severe, simultaneous unit shocks.</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98D2FFB-51A7-468D-8070-DF739D27F3C1}" type="slidenum">
              <a:rPr lang="en-US" smtClean="0"/>
              <a:t>11</a:t>
            </a:fld>
            <a:endParaRPr lang="en-US"/>
          </a:p>
        </p:txBody>
      </p:sp>
    </p:spTree>
    <p:extLst>
      <p:ext uri="{BB962C8B-B14F-4D97-AF65-F5344CB8AC3E}">
        <p14:creationId xmlns:p14="http://schemas.microsoft.com/office/powerpoint/2010/main" val="18012298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To wrap up today's briefing: </a:t>
            </a:r>
            <a:r>
              <a:rPr lang="en-US" sz="1200" i="1" kern="1200" dirty="0">
                <a:solidFill>
                  <a:schemeClr val="tx1"/>
                </a:solidFill>
                <a:effectLst/>
                <a:latin typeface="+mn-lt"/>
                <a:ea typeface="+mn-ea"/>
                <a:cs typeface="+mn-cs"/>
              </a:rPr>
              <a:t>The Dimon Doctrine</a:t>
            </a:r>
            <a:r>
              <a:rPr lang="en-US" sz="1200" kern="1200" dirty="0">
                <a:solidFill>
                  <a:schemeClr val="tx1"/>
                </a:solidFill>
                <a:effectLst/>
                <a:latin typeface="+mn-lt"/>
                <a:ea typeface="+mn-ea"/>
                <a:cs typeface="+mn-cs"/>
              </a:rPr>
              <a:t> is ultimately about balancing realism with relentless execution.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We cannot control macroeconomic shocks, geopolitical shifts, or market cycles. What we </a:t>
            </a:r>
            <a:r>
              <a:rPr lang="en-US" sz="1200" i="1" kern="1200" dirty="0">
                <a:solidFill>
                  <a:schemeClr val="tx1"/>
                </a:solidFill>
                <a:effectLst/>
                <a:latin typeface="+mn-lt"/>
                <a:ea typeface="+mn-ea"/>
                <a:cs typeface="+mn-cs"/>
              </a:rPr>
              <a:t>can</a:t>
            </a:r>
            <a:r>
              <a:rPr lang="en-US" sz="1200" kern="1200" dirty="0">
                <a:solidFill>
                  <a:schemeClr val="tx1"/>
                </a:solidFill>
                <a:effectLst/>
                <a:latin typeface="+mn-lt"/>
                <a:ea typeface="+mn-ea"/>
                <a:cs typeface="+mn-cs"/>
              </a:rPr>
              <a:t> control is how we build our organizations—ensuring they are fortress-ready, free of bureaucratic arrogance, led by people of high character, and committed to long-term value creation.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Thank you for your time, and I am now happy to open the floor for any questions.</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998D2FFB-51A7-468D-8070-DF739D27F3C1}" type="slidenum">
              <a:rPr lang="en-US" smtClean="0"/>
              <a:t>12</a:t>
            </a:fld>
            <a:endParaRPr lang="en-US"/>
          </a:p>
        </p:txBody>
      </p:sp>
    </p:spTree>
    <p:extLst>
      <p:ext uri="{BB962C8B-B14F-4D97-AF65-F5344CB8AC3E}">
        <p14:creationId xmlns:p14="http://schemas.microsoft.com/office/powerpoint/2010/main" val="2735392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3BFA23-0D84-7DFC-7E8E-9672EA43324D}"/>
              </a:ext>
            </a:extLst>
          </p:cNvPr>
          <p:cNvSpPr>
            <a:spLocks noGrp="1"/>
          </p:cNvSpPr>
          <p:nvPr>
            <p:ph type="dt" sz="half" idx="10"/>
          </p:nvPr>
        </p:nvSpPr>
        <p:spPr/>
        <p:txBody>
          <a:bodyPr/>
          <a:lstStyle/>
          <a:p>
            <a:fld id="{00C375B4-DDC9-4D49-9A76-D36625811674}" type="datetimeFigureOut">
              <a:rPr lang="en-US" smtClean="0"/>
              <a:t>10/19/2026</a:t>
            </a:fld>
            <a:endParaRPr lang="en-US"/>
          </a:p>
        </p:txBody>
      </p:sp>
      <p:sp>
        <p:nvSpPr>
          <p:cNvPr id="3" name="Footer Placeholder 2">
            <a:extLst>
              <a:ext uri="{FF2B5EF4-FFF2-40B4-BE49-F238E27FC236}">
                <a16:creationId xmlns:a16="http://schemas.microsoft.com/office/drawing/2014/main" id="{40AB2C5D-6B35-25BF-182F-36CDA4E921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93C35E-1C78-C359-358B-4D28AD27E9A5}"/>
              </a:ext>
            </a:extLst>
          </p:cNvPr>
          <p:cNvSpPr>
            <a:spLocks noGrp="1"/>
          </p:cNvSpPr>
          <p:nvPr>
            <p:ph type="sldNum" sz="quarter" idx="12"/>
          </p:nvPr>
        </p:nvSpPr>
        <p:spPr/>
        <p:txBody>
          <a:bodyPr/>
          <a:lstStyle/>
          <a:p>
            <a:fld id="{B06A785E-050B-43D7-AC98-AFAE6B9872CE}" type="slidenum">
              <a:rPr lang="en-US" smtClean="0"/>
              <a:t>‹#›</a:t>
            </a:fld>
            <a:endParaRPr lang="en-US"/>
          </a:p>
        </p:txBody>
      </p:sp>
    </p:spTree>
    <p:extLst>
      <p:ext uri="{BB962C8B-B14F-4D97-AF65-F5344CB8AC3E}">
        <p14:creationId xmlns:p14="http://schemas.microsoft.com/office/powerpoint/2010/main" val="399898507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E47D8A-E7EF-9225-B6AA-0283DE41C7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B0BC1F5-CDE0-F00A-C040-789E468CF1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28CD15-3149-6269-CAED-48D782CFB3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0C375B4-DDC9-4D49-9A76-D36625811674}" type="datetimeFigureOut">
              <a:rPr lang="en-US" smtClean="0"/>
              <a:t>10/19/2026</a:t>
            </a:fld>
            <a:endParaRPr lang="en-US"/>
          </a:p>
        </p:txBody>
      </p:sp>
      <p:sp>
        <p:nvSpPr>
          <p:cNvPr id="5" name="Footer Placeholder 4">
            <a:extLst>
              <a:ext uri="{FF2B5EF4-FFF2-40B4-BE49-F238E27FC236}">
                <a16:creationId xmlns:a16="http://schemas.microsoft.com/office/drawing/2014/main" id="{5C48CB78-520F-E87A-3A0E-81684F0AB2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393BC33-3AD8-FB88-9AF1-0F394D93D7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06A785E-050B-43D7-AC98-AFAE6B9872CE}" type="slidenum">
              <a:rPr lang="en-US" smtClean="0"/>
              <a:t>‹#›</a:t>
            </a:fld>
            <a:endParaRPr lang="en-US"/>
          </a:p>
        </p:txBody>
      </p:sp>
    </p:spTree>
    <p:extLst>
      <p:ext uri="{BB962C8B-B14F-4D97-AF65-F5344CB8AC3E}">
        <p14:creationId xmlns:p14="http://schemas.microsoft.com/office/powerpoint/2010/main" val="4048975935"/>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2ABEC6F-4204-78CE-9BEE-3CD77C0B7A5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14987E8-9B48-86F6-2112-6BD6B704472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DC7CB6-C837-2B91-4AE2-4E93224807C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AE7245D-A504-FCC4-85FA-004870CB5EC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7DB3AE7-5512-0AEE-ABA2-E5B67B7701B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BA4623-413F-0357-695C-854D927D18A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A353FB8-92C5-F6AB-424A-7A8F4C931DF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99B8D83-948C-FB19-7BFE-E3401CB222B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3FE38C-EEB0-FB42-82C0-E4B5E401E6E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DAEA687-52A4-5D05-F9FC-82BAF970EC4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0D89BB-5642-CB58-726E-4241CDFD60A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7C8960-09CB-9E9E-EC34-762A5AC8A436}"/>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14912909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1335</Words>
  <Application>Microsoft Office PowerPoint</Application>
  <PresentationFormat>寬螢幕</PresentationFormat>
  <Paragraphs>60</Paragraphs>
  <Slides>12</Slides>
  <Notes>12</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12</vt:i4>
      </vt:variant>
    </vt:vector>
  </HeadingPairs>
  <TitlesOfParts>
    <vt:vector size="16"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2026-08-03T10:14:39Z</dcterms:created>
  <dcterms:modified xsi:type="dcterms:W3CDTF">2026-10-19T15:41:54Z</dcterms:modified>
</cp:coreProperties>
</file>