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01E73C-6EFF-4367-A87C-3CA8240A03AB}" v="32" dt="2026-08-15T03:43:24.2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2" autoAdjust="0"/>
    <p:restoredTop sz="93447"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15T03:44:01.630" v="75" actId="166"/>
      <pc:docMkLst>
        <pc:docMk/>
      </pc:docMkLst>
      <pc:sldChg chg="addSp delSp modSp mod modAnim modNotesTx">
        <pc:chgData name="Lai, Wilson" userId="2840974a-0d84-4886-90a9-9a3ed79f3a48" providerId="ADAL" clId="{9F23B798-9E84-4552-BA63-E776E805C424}" dt="2026-08-15T03:44:01.630" v="75" actId="166"/>
        <pc:sldMkLst>
          <pc:docMk/>
          <pc:sldMk cId="0" sldId="256"/>
        </pc:sldMkLst>
        <pc:spChg chg="add mod">
          <ac:chgData name="Lai, Wilson" userId="2840974a-0d84-4886-90a9-9a3ed79f3a48" providerId="ADAL" clId="{9F23B798-9E84-4552-BA63-E776E805C424}" dt="2026-08-15T03:43:24.221" v="71" actId="164"/>
          <ac:spMkLst>
            <pc:docMk/>
            <pc:sldMk cId="0" sldId="256"/>
            <ac:spMk id="5" creationId="{4845C286-799E-50E6-5036-C799F168AFD7}"/>
          </ac:spMkLst>
        </pc:spChg>
        <pc:grpChg chg="add mod">
          <ac:chgData name="Lai, Wilson" userId="2840974a-0d84-4886-90a9-9a3ed79f3a48" providerId="ADAL" clId="{9F23B798-9E84-4552-BA63-E776E805C424}" dt="2026-08-15T03:43:56.362" v="74" actId="1076"/>
          <ac:grpSpMkLst>
            <pc:docMk/>
            <pc:sldMk cId="0" sldId="256"/>
            <ac:grpSpMk id="6" creationId="{C57CF3FB-3075-44A7-BAE0-5000E7EF05D7}"/>
          </ac:grpSpMkLst>
        </pc:grpChg>
        <pc:picChg chg="del">
          <ac:chgData name="Lai, Wilson" userId="2840974a-0d84-4886-90a9-9a3ed79f3a48" providerId="ADAL" clId="{9F23B798-9E84-4552-BA63-E776E805C424}" dt="2026-08-14T12:04:27.485" v="0" actId="21"/>
          <ac:picMkLst>
            <pc:docMk/>
            <pc:sldMk cId="0" sldId="256"/>
            <ac:picMk id="2" creationId="{00000000-0000-0000-0000-000000000000}"/>
          </ac:picMkLst>
        </pc:picChg>
        <pc:picChg chg="add mod">
          <ac:chgData name="Lai, Wilson" userId="2840974a-0d84-4886-90a9-9a3ed79f3a48" providerId="ADAL" clId="{9F23B798-9E84-4552-BA63-E776E805C424}" dt="2026-08-15T03:43:24.221" v="71" actId="164"/>
          <ac:picMkLst>
            <pc:docMk/>
            <pc:sldMk cId="0" sldId="256"/>
            <ac:picMk id="2" creationId="{95D8DE95-463E-522E-5AAD-A45AEE784294}"/>
          </ac:picMkLst>
        </pc:picChg>
        <pc:picChg chg="add mod ord">
          <ac:chgData name="Lai, Wilson" userId="2840974a-0d84-4886-90a9-9a3ed79f3a48" providerId="ADAL" clId="{9F23B798-9E84-4552-BA63-E776E805C424}" dt="2026-08-15T03:44:01.630" v="75" actId="166"/>
          <ac:picMkLst>
            <pc:docMk/>
            <pc:sldMk cId="0" sldId="256"/>
            <ac:picMk id="4" creationId="{E4C771EA-541C-0DB7-D8D0-2C1C0B230EFD}"/>
          </ac:picMkLst>
        </pc:picChg>
      </pc:sldChg>
      <pc:sldChg chg="addSp delSp mod modNotesTx">
        <pc:chgData name="Lai, Wilson" userId="2840974a-0d84-4886-90a9-9a3ed79f3a48" providerId="ADAL" clId="{9F23B798-9E84-4552-BA63-E776E805C424}" dt="2026-08-15T03:25:22.829" v="31" actId="20577"/>
        <pc:sldMkLst>
          <pc:docMk/>
          <pc:sldMk cId="0" sldId="257"/>
        </pc:sldMkLst>
        <pc:picChg chg="del">
          <ac:chgData name="Lai, Wilson" userId="2840974a-0d84-4886-90a9-9a3ed79f3a48" providerId="ADAL" clId="{9F23B798-9E84-4552-BA63-E776E805C424}" dt="2026-08-14T12:04:48.682" v="2" actId="21"/>
          <ac:picMkLst>
            <pc:docMk/>
            <pc:sldMk cId="0" sldId="257"/>
            <ac:picMk id="2" creationId="{00000000-0000-0000-0000-000000000000}"/>
          </ac:picMkLst>
        </pc:picChg>
        <pc:picChg chg="add">
          <ac:chgData name="Lai, Wilson" userId="2840974a-0d84-4886-90a9-9a3ed79f3a48" providerId="ADAL" clId="{9F23B798-9E84-4552-BA63-E776E805C424}" dt="2026-08-14T12:04:57.175" v="3" actId="22"/>
          <ac:picMkLst>
            <pc:docMk/>
            <pc:sldMk cId="0" sldId="257"/>
            <ac:picMk id="4" creationId="{49E8E2BC-5D59-E647-8087-31A18C4A689C}"/>
          </ac:picMkLst>
        </pc:picChg>
      </pc:sldChg>
      <pc:sldChg chg="addSp delSp mod modNotesTx">
        <pc:chgData name="Lai, Wilson" userId="2840974a-0d84-4886-90a9-9a3ed79f3a48" providerId="ADAL" clId="{9F23B798-9E84-4552-BA63-E776E805C424}" dt="2026-08-15T03:25:47.023" v="34" actId="12"/>
        <pc:sldMkLst>
          <pc:docMk/>
          <pc:sldMk cId="0" sldId="258"/>
        </pc:sldMkLst>
        <pc:picChg chg="del">
          <ac:chgData name="Lai, Wilson" userId="2840974a-0d84-4886-90a9-9a3ed79f3a48" providerId="ADAL" clId="{9F23B798-9E84-4552-BA63-E776E805C424}" dt="2026-08-14T12:04:59.663" v="4" actId="21"/>
          <ac:picMkLst>
            <pc:docMk/>
            <pc:sldMk cId="0" sldId="258"/>
            <ac:picMk id="2" creationId="{00000000-0000-0000-0000-000000000000}"/>
          </ac:picMkLst>
        </pc:picChg>
        <pc:picChg chg="add">
          <ac:chgData name="Lai, Wilson" userId="2840974a-0d84-4886-90a9-9a3ed79f3a48" providerId="ADAL" clId="{9F23B798-9E84-4552-BA63-E776E805C424}" dt="2026-08-14T12:05:09.873" v="5" actId="22"/>
          <ac:picMkLst>
            <pc:docMk/>
            <pc:sldMk cId="0" sldId="258"/>
            <ac:picMk id="4" creationId="{276D968F-11F0-5ECD-D87D-34E25ABC48C3}"/>
          </ac:picMkLst>
        </pc:picChg>
      </pc:sldChg>
      <pc:sldChg chg="addSp delSp mod modNotesTx">
        <pc:chgData name="Lai, Wilson" userId="2840974a-0d84-4886-90a9-9a3ed79f3a48" providerId="ADAL" clId="{9F23B798-9E84-4552-BA63-E776E805C424}" dt="2026-08-15T03:26:24.194" v="37" actId="12"/>
        <pc:sldMkLst>
          <pc:docMk/>
          <pc:sldMk cId="0" sldId="259"/>
        </pc:sldMkLst>
        <pc:picChg chg="del">
          <ac:chgData name="Lai, Wilson" userId="2840974a-0d84-4886-90a9-9a3ed79f3a48" providerId="ADAL" clId="{9F23B798-9E84-4552-BA63-E776E805C424}" dt="2026-08-14T12:05:12.296" v="6" actId="21"/>
          <ac:picMkLst>
            <pc:docMk/>
            <pc:sldMk cId="0" sldId="259"/>
            <ac:picMk id="2" creationId="{00000000-0000-0000-0000-000000000000}"/>
          </ac:picMkLst>
        </pc:picChg>
        <pc:picChg chg="add">
          <ac:chgData name="Lai, Wilson" userId="2840974a-0d84-4886-90a9-9a3ed79f3a48" providerId="ADAL" clId="{9F23B798-9E84-4552-BA63-E776E805C424}" dt="2026-08-14T12:05:20.165" v="7" actId="22"/>
          <ac:picMkLst>
            <pc:docMk/>
            <pc:sldMk cId="0" sldId="259"/>
            <ac:picMk id="4" creationId="{FD28999F-2C49-625D-54B7-23E7AD6DD315}"/>
          </ac:picMkLst>
        </pc:picChg>
      </pc:sldChg>
      <pc:sldChg chg="addSp delSp mod">
        <pc:chgData name="Lai, Wilson" userId="2840974a-0d84-4886-90a9-9a3ed79f3a48" providerId="ADAL" clId="{9F23B798-9E84-4552-BA63-E776E805C424}" dt="2026-08-14T12:05:32.921" v="9" actId="22"/>
        <pc:sldMkLst>
          <pc:docMk/>
          <pc:sldMk cId="0" sldId="260"/>
        </pc:sldMkLst>
        <pc:picChg chg="del">
          <ac:chgData name="Lai, Wilson" userId="2840974a-0d84-4886-90a9-9a3ed79f3a48" providerId="ADAL" clId="{9F23B798-9E84-4552-BA63-E776E805C424}" dt="2026-08-14T12:05:24.828" v="8" actId="21"/>
          <ac:picMkLst>
            <pc:docMk/>
            <pc:sldMk cId="0" sldId="260"/>
            <ac:picMk id="2" creationId="{00000000-0000-0000-0000-000000000000}"/>
          </ac:picMkLst>
        </pc:picChg>
        <pc:picChg chg="add">
          <ac:chgData name="Lai, Wilson" userId="2840974a-0d84-4886-90a9-9a3ed79f3a48" providerId="ADAL" clId="{9F23B798-9E84-4552-BA63-E776E805C424}" dt="2026-08-14T12:05:32.921" v="9" actId="22"/>
          <ac:picMkLst>
            <pc:docMk/>
            <pc:sldMk cId="0" sldId="260"/>
            <ac:picMk id="4" creationId="{F2C302F4-5CBD-F14B-2B3A-1985BA78F413}"/>
          </ac:picMkLst>
        </pc:picChg>
      </pc:sldChg>
      <pc:sldChg chg="addSp delSp mod modNotesTx">
        <pc:chgData name="Lai, Wilson" userId="2840974a-0d84-4886-90a9-9a3ed79f3a48" providerId="ADAL" clId="{9F23B798-9E84-4552-BA63-E776E805C424}" dt="2026-08-15T03:26:53.941" v="40" actId="12"/>
        <pc:sldMkLst>
          <pc:docMk/>
          <pc:sldMk cId="0" sldId="261"/>
        </pc:sldMkLst>
        <pc:picChg chg="del">
          <ac:chgData name="Lai, Wilson" userId="2840974a-0d84-4886-90a9-9a3ed79f3a48" providerId="ADAL" clId="{9F23B798-9E84-4552-BA63-E776E805C424}" dt="2026-08-14T12:05:35.268" v="10" actId="21"/>
          <ac:picMkLst>
            <pc:docMk/>
            <pc:sldMk cId="0" sldId="261"/>
            <ac:picMk id="2" creationId="{00000000-0000-0000-0000-000000000000}"/>
          </ac:picMkLst>
        </pc:picChg>
        <pc:picChg chg="add">
          <ac:chgData name="Lai, Wilson" userId="2840974a-0d84-4886-90a9-9a3ed79f3a48" providerId="ADAL" clId="{9F23B798-9E84-4552-BA63-E776E805C424}" dt="2026-08-14T12:05:43.182" v="11" actId="22"/>
          <ac:picMkLst>
            <pc:docMk/>
            <pc:sldMk cId="0" sldId="261"/>
            <ac:picMk id="4" creationId="{03A521D9-E69A-6E72-546C-5B13F9BD330B}"/>
          </ac:picMkLst>
        </pc:picChg>
      </pc:sldChg>
      <pc:sldChg chg="addSp delSp mod modNotesTx">
        <pc:chgData name="Lai, Wilson" userId="2840974a-0d84-4886-90a9-9a3ed79f3a48" providerId="ADAL" clId="{9F23B798-9E84-4552-BA63-E776E805C424}" dt="2026-08-15T03:32:22.315" v="58" actId="6549"/>
        <pc:sldMkLst>
          <pc:docMk/>
          <pc:sldMk cId="0" sldId="262"/>
        </pc:sldMkLst>
        <pc:picChg chg="del">
          <ac:chgData name="Lai, Wilson" userId="2840974a-0d84-4886-90a9-9a3ed79f3a48" providerId="ADAL" clId="{9F23B798-9E84-4552-BA63-E776E805C424}" dt="2026-08-14T12:05:45.439" v="12" actId="21"/>
          <ac:picMkLst>
            <pc:docMk/>
            <pc:sldMk cId="0" sldId="262"/>
            <ac:picMk id="2" creationId="{00000000-0000-0000-0000-000000000000}"/>
          </ac:picMkLst>
        </pc:picChg>
        <pc:picChg chg="add">
          <ac:chgData name="Lai, Wilson" userId="2840974a-0d84-4886-90a9-9a3ed79f3a48" providerId="ADAL" clId="{9F23B798-9E84-4552-BA63-E776E805C424}" dt="2026-08-14T12:05:52.641" v="13" actId="22"/>
          <ac:picMkLst>
            <pc:docMk/>
            <pc:sldMk cId="0" sldId="262"/>
            <ac:picMk id="7" creationId="{833C0752-3405-70FF-FA3E-89EA4DFA5ADE}"/>
          </ac:picMkLst>
        </pc:picChg>
      </pc:sldChg>
      <pc:sldChg chg="addSp delSp mod modNotesTx">
        <pc:chgData name="Lai, Wilson" userId="2840974a-0d84-4886-90a9-9a3ed79f3a48" providerId="ADAL" clId="{9F23B798-9E84-4552-BA63-E776E805C424}" dt="2026-08-15T03:27:28.349" v="43" actId="20577"/>
        <pc:sldMkLst>
          <pc:docMk/>
          <pc:sldMk cId="0" sldId="263"/>
        </pc:sldMkLst>
        <pc:picChg chg="del">
          <ac:chgData name="Lai, Wilson" userId="2840974a-0d84-4886-90a9-9a3ed79f3a48" providerId="ADAL" clId="{9F23B798-9E84-4552-BA63-E776E805C424}" dt="2026-08-14T12:05:54.781" v="14" actId="21"/>
          <ac:picMkLst>
            <pc:docMk/>
            <pc:sldMk cId="0" sldId="263"/>
            <ac:picMk id="2" creationId="{00000000-0000-0000-0000-000000000000}"/>
          </ac:picMkLst>
        </pc:picChg>
        <pc:picChg chg="add">
          <ac:chgData name="Lai, Wilson" userId="2840974a-0d84-4886-90a9-9a3ed79f3a48" providerId="ADAL" clId="{9F23B798-9E84-4552-BA63-E776E805C424}" dt="2026-08-14T12:06:02.227" v="15" actId="22"/>
          <ac:picMkLst>
            <pc:docMk/>
            <pc:sldMk cId="0" sldId="263"/>
            <ac:picMk id="4" creationId="{DBFB025B-221C-5B94-5EEB-EBA84C77B4AE}"/>
          </ac:picMkLst>
        </pc:picChg>
      </pc:sldChg>
      <pc:sldChg chg="addSp delSp mod modNotesTx">
        <pc:chgData name="Lai, Wilson" userId="2840974a-0d84-4886-90a9-9a3ed79f3a48" providerId="ADAL" clId="{9F23B798-9E84-4552-BA63-E776E805C424}" dt="2026-08-15T03:27:41.646" v="45" actId="20577"/>
        <pc:sldMkLst>
          <pc:docMk/>
          <pc:sldMk cId="0" sldId="264"/>
        </pc:sldMkLst>
        <pc:picChg chg="del">
          <ac:chgData name="Lai, Wilson" userId="2840974a-0d84-4886-90a9-9a3ed79f3a48" providerId="ADAL" clId="{9F23B798-9E84-4552-BA63-E776E805C424}" dt="2026-08-14T12:06:07.769" v="16" actId="21"/>
          <ac:picMkLst>
            <pc:docMk/>
            <pc:sldMk cId="0" sldId="264"/>
            <ac:picMk id="2" creationId="{00000000-0000-0000-0000-000000000000}"/>
          </ac:picMkLst>
        </pc:picChg>
        <pc:picChg chg="add">
          <ac:chgData name="Lai, Wilson" userId="2840974a-0d84-4886-90a9-9a3ed79f3a48" providerId="ADAL" clId="{9F23B798-9E84-4552-BA63-E776E805C424}" dt="2026-08-14T12:06:16.399" v="17" actId="22"/>
          <ac:picMkLst>
            <pc:docMk/>
            <pc:sldMk cId="0" sldId="264"/>
            <ac:picMk id="4" creationId="{266D4FEC-8004-2B39-FA8F-5D936F8D5F82}"/>
          </ac:picMkLst>
        </pc:picChg>
      </pc:sldChg>
      <pc:sldChg chg="addSp delSp mod modNotesTx">
        <pc:chgData name="Lai, Wilson" userId="2840974a-0d84-4886-90a9-9a3ed79f3a48" providerId="ADAL" clId="{9F23B798-9E84-4552-BA63-E776E805C424}" dt="2026-08-15T03:27:54.722" v="48" actId="12"/>
        <pc:sldMkLst>
          <pc:docMk/>
          <pc:sldMk cId="0" sldId="265"/>
        </pc:sldMkLst>
        <pc:picChg chg="del">
          <ac:chgData name="Lai, Wilson" userId="2840974a-0d84-4886-90a9-9a3ed79f3a48" providerId="ADAL" clId="{9F23B798-9E84-4552-BA63-E776E805C424}" dt="2026-08-14T12:06:25.995" v="18" actId="21"/>
          <ac:picMkLst>
            <pc:docMk/>
            <pc:sldMk cId="0" sldId="265"/>
            <ac:picMk id="2" creationId="{00000000-0000-0000-0000-000000000000}"/>
          </ac:picMkLst>
        </pc:picChg>
        <pc:picChg chg="add">
          <ac:chgData name="Lai, Wilson" userId="2840974a-0d84-4886-90a9-9a3ed79f3a48" providerId="ADAL" clId="{9F23B798-9E84-4552-BA63-E776E805C424}" dt="2026-08-14T12:06:41.357" v="19" actId="22"/>
          <ac:picMkLst>
            <pc:docMk/>
            <pc:sldMk cId="0" sldId="265"/>
            <ac:picMk id="4" creationId="{BE2E1BAA-E4DD-26E1-F2BD-811DA791567D}"/>
          </ac:picMkLst>
        </pc:picChg>
      </pc:sldChg>
      <pc:sldChg chg="addSp delSp mod modNotesTx">
        <pc:chgData name="Lai, Wilson" userId="2840974a-0d84-4886-90a9-9a3ed79f3a48" providerId="ADAL" clId="{9F23B798-9E84-4552-BA63-E776E805C424}" dt="2026-08-15T03:28:07.239" v="49" actId="12"/>
        <pc:sldMkLst>
          <pc:docMk/>
          <pc:sldMk cId="0" sldId="266"/>
        </pc:sldMkLst>
        <pc:picChg chg="del">
          <ac:chgData name="Lai, Wilson" userId="2840974a-0d84-4886-90a9-9a3ed79f3a48" providerId="ADAL" clId="{9F23B798-9E84-4552-BA63-E776E805C424}" dt="2026-08-14T12:08:20.201" v="24" actId="21"/>
          <ac:picMkLst>
            <pc:docMk/>
            <pc:sldMk cId="0" sldId="266"/>
            <ac:picMk id="2" creationId="{00000000-0000-0000-0000-000000000000}"/>
          </ac:picMkLst>
        </pc:picChg>
        <pc:picChg chg="add">
          <ac:chgData name="Lai, Wilson" userId="2840974a-0d84-4886-90a9-9a3ed79f3a48" providerId="ADAL" clId="{9F23B798-9E84-4552-BA63-E776E805C424}" dt="2026-08-14T12:09:14.864" v="25" actId="22"/>
          <ac:picMkLst>
            <pc:docMk/>
            <pc:sldMk cId="0" sldId="266"/>
            <ac:picMk id="4" creationId="{1D71B04F-1A8E-6D33-414D-48459C2FDC7C}"/>
          </ac:picMkLst>
        </pc:picChg>
      </pc:sldChg>
      <pc:sldChg chg="addSp delSp mod modNotesTx">
        <pc:chgData name="Lai, Wilson" userId="2840974a-0d84-4886-90a9-9a3ed79f3a48" providerId="ADAL" clId="{9F23B798-9E84-4552-BA63-E776E805C424}" dt="2026-08-15T03:28:22.902" v="52" actId="20577"/>
        <pc:sldMkLst>
          <pc:docMk/>
          <pc:sldMk cId="0" sldId="267"/>
        </pc:sldMkLst>
        <pc:picChg chg="del">
          <ac:chgData name="Lai, Wilson" userId="2840974a-0d84-4886-90a9-9a3ed79f3a48" providerId="ADAL" clId="{9F23B798-9E84-4552-BA63-E776E805C424}" dt="2026-08-14T12:06:43.533" v="20" actId="21"/>
          <ac:picMkLst>
            <pc:docMk/>
            <pc:sldMk cId="0" sldId="267"/>
            <ac:picMk id="2" creationId="{00000000-0000-0000-0000-000000000000}"/>
          </ac:picMkLst>
        </pc:picChg>
        <pc:picChg chg="add">
          <ac:chgData name="Lai, Wilson" userId="2840974a-0d84-4886-90a9-9a3ed79f3a48" providerId="ADAL" clId="{9F23B798-9E84-4552-BA63-E776E805C424}" dt="2026-08-14T12:07:22.748" v="21" actId="22"/>
          <ac:picMkLst>
            <pc:docMk/>
            <pc:sldMk cId="0" sldId="267"/>
            <ac:picMk id="4" creationId="{03BFECC5-B0A7-16DB-F401-C360A289E773}"/>
          </ac:picMkLst>
        </pc:picChg>
      </pc:sldChg>
      <pc:sldChg chg="addSp delSp mod modNotesTx">
        <pc:chgData name="Lai, Wilson" userId="2840974a-0d84-4886-90a9-9a3ed79f3a48" providerId="ADAL" clId="{9F23B798-9E84-4552-BA63-E776E805C424}" dt="2026-08-15T03:28:39.331" v="53" actId="12"/>
        <pc:sldMkLst>
          <pc:docMk/>
          <pc:sldMk cId="0" sldId="268"/>
        </pc:sldMkLst>
        <pc:picChg chg="del">
          <ac:chgData name="Lai, Wilson" userId="2840974a-0d84-4886-90a9-9a3ed79f3a48" providerId="ADAL" clId="{9F23B798-9E84-4552-BA63-E776E805C424}" dt="2026-08-14T12:07:25.351" v="22" actId="21"/>
          <ac:picMkLst>
            <pc:docMk/>
            <pc:sldMk cId="0" sldId="268"/>
            <ac:picMk id="2" creationId="{00000000-0000-0000-0000-000000000000}"/>
          </ac:picMkLst>
        </pc:picChg>
        <pc:picChg chg="add">
          <ac:chgData name="Lai, Wilson" userId="2840974a-0d84-4886-90a9-9a3ed79f3a48" providerId="ADAL" clId="{9F23B798-9E84-4552-BA63-E776E805C424}" dt="2026-08-14T12:08:00.335" v="23" actId="22"/>
          <ac:picMkLst>
            <pc:docMk/>
            <pc:sldMk cId="0" sldId="268"/>
            <ac:picMk id="4" creationId="{C8371D2E-7DC1-2D42-14D1-FBB5B53800E9}"/>
          </ac:picMkLst>
        </pc:picChg>
      </pc:sldChg>
      <pc:sldChg chg="modNotesTx">
        <pc:chgData name="Lai, Wilson" userId="2840974a-0d84-4886-90a9-9a3ed79f3a48" providerId="ADAL" clId="{9F23B798-9E84-4552-BA63-E776E805C424}" dt="2026-08-15T03:29:25.997" v="57" actId="5793"/>
        <pc:sldMkLst>
          <pc:docMk/>
          <pc:sldMk cId="283504676" sldId="2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7028AE-C094-4D44-9FA9-08CC56554F82}"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C3E0EA-4A0F-4BC1-97EC-5D08BC9AF0C7}" type="slidenum">
              <a:rPr lang="en-US" smtClean="0"/>
              <a:t>‹#›</a:t>
            </a:fld>
            <a:endParaRPr lang="en-US"/>
          </a:p>
        </p:txBody>
      </p:sp>
    </p:spTree>
    <p:extLst>
      <p:ext uri="{BB962C8B-B14F-4D97-AF65-F5344CB8AC3E}">
        <p14:creationId xmlns:p14="http://schemas.microsoft.com/office/powerpoint/2010/main" val="2532431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Opening:</a:t>
            </a:r>
            <a:r>
              <a:rPr lang="en-US" sz="1200" kern="1200" dirty="0">
                <a:solidFill>
                  <a:schemeClr val="tx1"/>
                </a:solidFill>
                <a:effectLst/>
                <a:latin typeface="+mn-lt"/>
                <a:ea typeface="+mn-ea"/>
                <a:cs typeface="+mn-cs"/>
              </a:rPr>
              <a:t> Good morning/afternoon, everyone. Today, we are discussing a fundamental shift in how we approach hiring technical talent. Most hiring strategies rely on what we call "remainder-based hiring"—filling seats with whoever happens to survive an imperfect filtering process. </a:t>
            </a:r>
          </a:p>
          <a:p>
            <a:r>
              <a:rPr lang="en-US" sz="1200" b="1" kern="1200" dirty="0">
                <a:solidFill>
                  <a:schemeClr val="tx1"/>
                </a:solidFill>
                <a:effectLst/>
                <a:latin typeface="+mn-lt"/>
                <a:ea typeface="+mn-ea"/>
                <a:cs typeface="+mn-cs"/>
              </a:rPr>
              <a:t>The Current Reality (Left Side):</a:t>
            </a:r>
            <a:r>
              <a:rPr lang="en-US" sz="1200" kern="1200" dirty="0">
                <a:solidFill>
                  <a:schemeClr val="tx1"/>
                </a:solidFill>
                <a:effectLst/>
                <a:latin typeface="+mn-lt"/>
                <a:ea typeface="+mn-ea"/>
                <a:cs typeface="+mn-cs"/>
              </a:rPr>
              <a:t> Right now, conventional hiring acts like a wide funnel driven by volume over precision. We pull in long-tail applicants with fragmented skill sets, push them through various friction points, and end up with diluted impact—hiring average candidates simply because they were the last ones standing. </a:t>
            </a:r>
          </a:p>
          <a:p>
            <a:r>
              <a:rPr lang="en-US" sz="1200" b="1" kern="1200" dirty="0">
                <a:solidFill>
                  <a:schemeClr val="tx1"/>
                </a:solidFill>
                <a:effectLst/>
                <a:latin typeface="+mn-lt"/>
                <a:ea typeface="+mn-ea"/>
                <a:cs typeface="+mn-cs"/>
              </a:rPr>
              <a:t>The Paradigm Shift (Right Side):</a:t>
            </a:r>
            <a:r>
              <a:rPr lang="en-US" sz="1200" kern="1200" dirty="0">
                <a:solidFill>
                  <a:schemeClr val="tx1"/>
                </a:solidFill>
                <a:effectLst/>
                <a:latin typeface="+mn-lt"/>
                <a:ea typeface="+mn-ea"/>
                <a:cs typeface="+mn-cs"/>
              </a:rPr>
              <a:t> Instead of treating candidates as generic inputs, we need to treat talent acquisition as an engineering problem. By replacing current-state friction—like manual screening bottlenecks and generic assessments—with future-state precision, we shift toward target-driven global talent access. </a:t>
            </a:r>
          </a:p>
          <a:p>
            <a:endParaRPr lang="en-US" sz="1200" b="1"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We are moving away from hiring out of necessity or speed to actively engineering high density, targeting the top 1% of global talent through precision alignment. </a:t>
            </a:r>
          </a:p>
          <a:p>
            <a:endParaRPr lang="en-US" dirty="0"/>
          </a:p>
          <a:p>
            <a:endParaRPr lang="en-US" dirty="0"/>
          </a:p>
          <a:p>
            <a:r>
              <a:rPr lang="en-US" dirty="0"/>
              <a:t>https://www.youtube.com/watch?v=zegYJ6dhIg4</a:t>
            </a:r>
          </a:p>
        </p:txBody>
      </p:sp>
      <p:sp>
        <p:nvSpPr>
          <p:cNvPr id="4" name="Slide Number Placeholder 3"/>
          <p:cNvSpPr>
            <a:spLocks noGrp="1"/>
          </p:cNvSpPr>
          <p:nvPr>
            <p:ph type="sldNum" sz="quarter" idx="5"/>
          </p:nvPr>
        </p:nvSpPr>
        <p:spPr/>
        <p:txBody>
          <a:bodyPr/>
          <a:lstStyle/>
          <a:p>
            <a:fld id="{7AC3E0EA-4A0F-4BC1-97EC-5D08BC9AF0C7}" type="slidenum">
              <a:rPr lang="en-US" smtClean="0"/>
              <a:t>1</a:t>
            </a:fld>
            <a:endParaRPr lang="en-US"/>
          </a:p>
        </p:txBody>
      </p:sp>
    </p:spTree>
    <p:extLst>
      <p:ext uri="{BB962C8B-B14F-4D97-AF65-F5344CB8AC3E}">
        <p14:creationId xmlns:p14="http://schemas.microsoft.com/office/powerpoint/2010/main" val="4218528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Core Problem:</a:t>
            </a:r>
            <a:r>
              <a:rPr lang="en-US" sz="1200" kern="1200" dirty="0">
                <a:solidFill>
                  <a:schemeClr val="tx1"/>
                </a:solidFill>
                <a:effectLst/>
                <a:latin typeface="+mn-lt"/>
                <a:ea typeface="+mn-ea"/>
                <a:cs typeface="+mn-cs"/>
              </a:rPr>
              <a:t> Traditional recruiting relies on the "Funnel of Doom." You start by reaching out to 100 random people, put them through a process designed to weed people out, and what comes out at the bottom? Remainder-based hiring, which leads straight to regression to the mean. </a:t>
            </a:r>
          </a:p>
          <a:p>
            <a:r>
              <a:rPr lang="en-US" sz="1200" b="1" kern="1200" dirty="0">
                <a:solidFill>
                  <a:schemeClr val="tx1"/>
                </a:solidFill>
                <a:effectLst/>
                <a:latin typeface="+mn-lt"/>
                <a:ea typeface="+mn-ea"/>
                <a:cs typeface="+mn-cs"/>
              </a:rPr>
              <a:t>The Alternative — Pillar of Excellence:</a:t>
            </a:r>
            <a:r>
              <a:rPr lang="en-US" sz="1200" kern="1200" dirty="0">
                <a:solidFill>
                  <a:schemeClr val="tx1"/>
                </a:solidFill>
                <a:effectLst/>
                <a:latin typeface="+mn-lt"/>
                <a:ea typeface="+mn-ea"/>
                <a:cs typeface="+mn-cs"/>
              </a:rPr>
              <a:t> Elite recruiting flips this dynamic completely. Instead of filtering down a broad, low-quality pool, we start with precision. We scope the top 50 candidates in the world for a given role before we even make contact. </a:t>
            </a:r>
          </a:p>
          <a:p>
            <a:r>
              <a:rPr lang="en-US" sz="1200" b="1" kern="1200" dirty="0">
                <a:solidFill>
                  <a:schemeClr val="tx1"/>
                </a:solidFill>
                <a:effectLst/>
                <a:latin typeface="+mn-lt"/>
                <a:ea typeface="+mn-ea"/>
                <a:cs typeface="+mn-cs"/>
              </a:rPr>
              <a:t>Process Differences:</a:t>
            </a:r>
            <a:r>
              <a:rPr lang="en-US" sz="1200" kern="1200" dirty="0">
                <a:solidFill>
                  <a:schemeClr val="tx1"/>
                </a:solidFill>
                <a:effectLst/>
                <a:latin typeface="+mn-lt"/>
                <a:ea typeface="+mn-ea"/>
                <a:cs typeface="+mn-cs"/>
              </a:rPr>
              <a:t> Our process shifts from "weeding out" to </a:t>
            </a:r>
            <a:r>
              <a:rPr lang="en-US" sz="1200" i="1" kern="1200" dirty="0">
                <a:solidFill>
                  <a:schemeClr val="tx1"/>
                </a:solidFill>
                <a:effectLst/>
                <a:latin typeface="+mn-lt"/>
                <a:ea typeface="+mn-ea"/>
                <a:cs typeface="+mn-cs"/>
              </a:rPr>
              <a:t>validating a thesis of excellence</a:t>
            </a:r>
            <a:r>
              <a:rPr lang="en-US" sz="1200" kern="1200" dirty="0">
                <a:solidFill>
                  <a:schemeClr val="tx1"/>
                </a:solidFill>
                <a:effectLst/>
                <a:latin typeface="+mn-lt"/>
                <a:ea typeface="+mn-ea"/>
                <a:cs typeface="+mn-cs"/>
              </a:rPr>
              <a:t>. We know why they are exceptional; our job is to confirm that thesis and align mutual goals. </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The result of this shift is a direct pipeline to top 1% talent conversion without wasting bandwidth on low-signal candidates. </a:t>
            </a:r>
          </a:p>
          <a:p>
            <a:endParaRPr lang="en-US" dirty="0"/>
          </a:p>
        </p:txBody>
      </p:sp>
      <p:sp>
        <p:nvSpPr>
          <p:cNvPr id="4" name="Slide Number Placeholder 3"/>
          <p:cNvSpPr>
            <a:spLocks noGrp="1"/>
          </p:cNvSpPr>
          <p:nvPr>
            <p:ph type="sldNum" sz="quarter" idx="5"/>
          </p:nvPr>
        </p:nvSpPr>
        <p:spPr/>
        <p:txBody>
          <a:bodyPr/>
          <a:lstStyle/>
          <a:p>
            <a:fld id="{7AC3E0EA-4A0F-4BC1-97EC-5D08BC9AF0C7}" type="slidenum">
              <a:rPr lang="en-US" smtClean="0"/>
              <a:t>2</a:t>
            </a:fld>
            <a:endParaRPr lang="en-US"/>
          </a:p>
        </p:txBody>
      </p:sp>
    </p:spTree>
    <p:extLst>
      <p:ext uri="{BB962C8B-B14F-4D97-AF65-F5344CB8AC3E}">
        <p14:creationId xmlns:p14="http://schemas.microsoft.com/office/powerpoint/2010/main" val="14102717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Premise:</a:t>
            </a:r>
            <a:r>
              <a:rPr lang="en-US" sz="1200" kern="1200" dirty="0">
                <a:solidFill>
                  <a:schemeClr val="tx1"/>
                </a:solidFill>
                <a:effectLst/>
                <a:latin typeface="+mn-lt"/>
                <a:ea typeface="+mn-ea"/>
                <a:cs typeface="+mn-cs"/>
              </a:rPr>
              <a:t> Volume recruiting is a web-browser approach to a cloud-compute era. If you want to build a dense engineering team, you must treat every single engineering position with the rigor typically reserved for executive-level searches. </a:t>
            </a:r>
          </a:p>
          <a:p>
            <a:r>
              <a:rPr lang="en-US" sz="1200" b="1" kern="1200" dirty="0">
                <a:solidFill>
                  <a:schemeClr val="tx1"/>
                </a:solidFill>
                <a:effectLst/>
                <a:latin typeface="+mn-lt"/>
                <a:ea typeface="+mn-ea"/>
                <a:cs typeface="+mn-cs"/>
              </a:rPr>
              <a:t>The 5-Step Process:</a:t>
            </a:r>
            <a:endParaRPr lang="en-US" sz="1200" kern="1200" dirty="0">
              <a:solidFill>
                <a:schemeClr val="tx1"/>
              </a:solidFill>
              <a:effectLst/>
              <a:latin typeface="+mn-lt"/>
              <a:ea typeface="+mn-ea"/>
              <a:cs typeface="+mn-cs"/>
            </a:endParaRPr>
          </a:p>
          <a:p>
            <a:pPr marL="228600" indent="-228600">
              <a:buFont typeface="+mj-lt"/>
              <a:buAutoNum type="arabicPeriod"/>
            </a:pPr>
            <a:r>
              <a:rPr lang="en-US" sz="1200" b="1" kern="1200" dirty="0">
                <a:solidFill>
                  <a:schemeClr val="tx1"/>
                </a:solidFill>
                <a:effectLst/>
                <a:latin typeface="+mn-lt"/>
                <a:ea typeface="+mn-ea"/>
                <a:cs typeface="+mn-cs"/>
              </a:rPr>
              <a:t>Scope:</a:t>
            </a:r>
            <a:r>
              <a:rPr lang="en-US" sz="1200" kern="1200" dirty="0">
                <a:solidFill>
                  <a:schemeClr val="tx1"/>
                </a:solidFill>
                <a:effectLst/>
                <a:latin typeface="+mn-lt"/>
                <a:ea typeface="+mn-ea"/>
                <a:cs typeface="+mn-cs"/>
              </a:rPr>
              <a:t> Precisely define the exact capabilities required. </a:t>
            </a:r>
          </a:p>
          <a:p>
            <a:pPr marL="228600" indent="-228600">
              <a:buFont typeface="+mj-lt"/>
              <a:buAutoNum type="arabicPeriod"/>
            </a:pPr>
            <a:r>
              <a:rPr lang="en-US" sz="1200" b="1" kern="1200" dirty="0">
                <a:solidFill>
                  <a:schemeClr val="tx1"/>
                </a:solidFill>
                <a:effectLst/>
                <a:latin typeface="+mn-lt"/>
                <a:ea typeface="+mn-ea"/>
                <a:cs typeface="+mn-cs"/>
              </a:rPr>
              <a:t>Find:</a:t>
            </a:r>
            <a:r>
              <a:rPr lang="en-US" sz="1200" kern="1200" dirty="0">
                <a:solidFill>
                  <a:schemeClr val="tx1"/>
                </a:solidFill>
                <a:effectLst/>
                <a:latin typeface="+mn-lt"/>
                <a:ea typeface="+mn-ea"/>
                <a:cs typeface="+mn-cs"/>
              </a:rPr>
              <a:t> Target specific individuals across global networks. </a:t>
            </a:r>
          </a:p>
          <a:p>
            <a:pPr marL="228600" indent="-228600">
              <a:buFont typeface="+mj-lt"/>
              <a:buAutoNum type="arabicPeriod"/>
            </a:pPr>
            <a:r>
              <a:rPr lang="en-US" sz="1200" b="1" kern="1200" dirty="0">
                <a:solidFill>
                  <a:schemeClr val="tx1"/>
                </a:solidFill>
                <a:effectLst/>
                <a:latin typeface="+mn-lt"/>
                <a:ea typeface="+mn-ea"/>
                <a:cs typeface="+mn-cs"/>
              </a:rPr>
              <a:t>Engage:</a:t>
            </a:r>
            <a:r>
              <a:rPr lang="en-US" sz="1200" kern="1200" dirty="0">
                <a:solidFill>
                  <a:schemeClr val="tx1"/>
                </a:solidFill>
                <a:effectLst/>
                <a:latin typeface="+mn-lt"/>
                <a:ea typeface="+mn-ea"/>
                <a:cs typeface="+mn-cs"/>
              </a:rPr>
              <a:t> Initiate high-touch, hyper-personalized outreach. </a:t>
            </a:r>
          </a:p>
          <a:p>
            <a:pPr marL="228600" indent="-228600">
              <a:buFont typeface="+mj-lt"/>
              <a:buAutoNum type="arabicPeriod"/>
            </a:pPr>
            <a:r>
              <a:rPr lang="en-US" sz="1200" b="1" kern="1200" dirty="0">
                <a:solidFill>
                  <a:schemeClr val="tx1"/>
                </a:solidFill>
                <a:effectLst/>
                <a:latin typeface="+mn-lt"/>
                <a:ea typeface="+mn-ea"/>
                <a:cs typeface="+mn-cs"/>
              </a:rPr>
              <a:t>Assess:</a:t>
            </a:r>
            <a:r>
              <a:rPr lang="en-US" sz="1200" kern="1200" dirty="0">
                <a:solidFill>
                  <a:schemeClr val="tx1"/>
                </a:solidFill>
                <a:effectLst/>
                <a:latin typeface="+mn-lt"/>
                <a:ea typeface="+mn-ea"/>
                <a:cs typeface="+mn-cs"/>
              </a:rPr>
              <a:t> Conduct rigorous, mutual evaluations. </a:t>
            </a:r>
          </a:p>
          <a:p>
            <a:pPr marL="228600" indent="-228600">
              <a:buFont typeface="+mj-lt"/>
              <a:buAutoNum type="arabicPeriod"/>
            </a:pPr>
            <a:r>
              <a:rPr lang="en-US" sz="1200" b="1" kern="1200" dirty="0">
                <a:solidFill>
                  <a:schemeClr val="tx1"/>
                </a:solidFill>
                <a:effectLst/>
                <a:latin typeface="+mn-lt"/>
                <a:ea typeface="+mn-ea"/>
                <a:cs typeface="+mn-cs"/>
              </a:rPr>
              <a:t>Close:</a:t>
            </a:r>
            <a:r>
              <a:rPr lang="en-US" sz="1200" kern="1200" dirty="0">
                <a:solidFill>
                  <a:schemeClr val="tx1"/>
                </a:solidFill>
                <a:effectLst/>
                <a:latin typeface="+mn-lt"/>
                <a:ea typeface="+mn-ea"/>
                <a:cs typeface="+mn-cs"/>
              </a:rPr>
              <a:t> Execute bespoke closing strategies tailored to individual motivations. </a:t>
            </a:r>
          </a:p>
          <a:p>
            <a:pPr marL="228600" indent="-228600">
              <a:buFont typeface="+mj-lt"/>
              <a:buAutoNum type="arabicPeriod"/>
            </a:pP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When every position is sourced like a C-suite hire, talent density scales naturally across the entire organization. </a:t>
            </a:r>
          </a:p>
          <a:p>
            <a:endParaRPr lang="en-US" dirty="0"/>
          </a:p>
        </p:txBody>
      </p:sp>
      <p:sp>
        <p:nvSpPr>
          <p:cNvPr id="4" name="Slide Number Placeholder 3"/>
          <p:cNvSpPr>
            <a:spLocks noGrp="1"/>
          </p:cNvSpPr>
          <p:nvPr>
            <p:ph type="sldNum" sz="quarter" idx="5"/>
          </p:nvPr>
        </p:nvSpPr>
        <p:spPr/>
        <p:txBody>
          <a:bodyPr/>
          <a:lstStyle/>
          <a:p>
            <a:fld id="{7AC3E0EA-4A0F-4BC1-97EC-5D08BC9AF0C7}" type="slidenum">
              <a:rPr lang="en-US" smtClean="0"/>
              <a:t>3</a:t>
            </a:fld>
            <a:endParaRPr lang="en-US"/>
          </a:p>
        </p:txBody>
      </p:sp>
    </p:spTree>
    <p:extLst>
      <p:ext uri="{BB962C8B-B14F-4D97-AF65-F5344CB8AC3E}">
        <p14:creationId xmlns:p14="http://schemas.microsoft.com/office/powerpoint/2010/main" val="275056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Breaking the Habit:</a:t>
            </a:r>
            <a:r>
              <a:rPr lang="en-US" sz="1200" kern="1200" dirty="0">
                <a:solidFill>
                  <a:schemeClr val="tx1"/>
                </a:solidFill>
                <a:effectLst/>
                <a:latin typeface="+mn-lt"/>
                <a:ea typeface="+mn-ea"/>
                <a:cs typeface="+mn-cs"/>
              </a:rPr>
              <a:t> Many companies rely on copying job descriptions from tech giants or filtering candidates based on prestigious resume logos. This is piggybacking on another company’s hiring process—and it fails to measure true capability. </a:t>
            </a:r>
          </a:p>
          <a:p>
            <a:r>
              <a:rPr lang="en-US" sz="1200" b="1" kern="1200" dirty="0">
                <a:solidFill>
                  <a:schemeClr val="tx1"/>
                </a:solidFill>
                <a:effectLst/>
                <a:latin typeface="+mn-lt"/>
                <a:ea typeface="+mn-ea"/>
                <a:cs typeface="+mn-cs"/>
              </a:rPr>
              <a:t>The Atomic Unit:</a:t>
            </a:r>
            <a:r>
              <a:rPr lang="en-US" sz="1200" kern="1200" dirty="0">
                <a:solidFill>
                  <a:schemeClr val="tx1"/>
                </a:solidFill>
                <a:effectLst/>
                <a:latin typeface="+mn-lt"/>
                <a:ea typeface="+mn-ea"/>
                <a:cs typeface="+mn-cs"/>
              </a:rPr>
              <a:t> The fundamental unit of hiring must be the individual candidate's actual capabilities relative to your specific problem. </a:t>
            </a:r>
          </a:p>
          <a:p>
            <a:r>
              <a:rPr lang="en-US" sz="1200" b="1" kern="1200" dirty="0">
                <a:solidFill>
                  <a:schemeClr val="tx1"/>
                </a:solidFill>
                <a:effectLst/>
                <a:latin typeface="+mn-lt"/>
                <a:ea typeface="+mn-ea"/>
                <a:cs typeface="+mn-cs"/>
              </a:rPr>
              <a:t>Three Pillars of Scoping:</a:t>
            </a:r>
            <a:endParaRPr lang="en-US" sz="1200" kern="1200" dirty="0">
              <a:solidFill>
                <a:schemeClr val="tx1"/>
              </a:solidFill>
              <a:effectLst/>
              <a:latin typeface="+mn-lt"/>
              <a:ea typeface="+mn-ea"/>
              <a:cs typeface="+mn-cs"/>
            </a:endParaRPr>
          </a:p>
          <a:p>
            <a:pPr marL="228600" indent="-228600">
              <a:buFont typeface="+mj-lt"/>
              <a:buAutoNum type="arabicPeriod"/>
            </a:pPr>
            <a:r>
              <a:rPr lang="en-US" sz="1200" b="1" kern="1200" dirty="0">
                <a:solidFill>
                  <a:schemeClr val="tx1"/>
                </a:solidFill>
                <a:effectLst/>
                <a:latin typeface="+mn-lt"/>
                <a:ea typeface="+mn-ea"/>
                <a:cs typeface="+mn-cs"/>
              </a:rPr>
              <a:t>Specific technical skills required:</a:t>
            </a:r>
            <a:r>
              <a:rPr lang="en-US" sz="1200" kern="1200" dirty="0">
                <a:solidFill>
                  <a:schemeClr val="tx1"/>
                </a:solidFill>
                <a:effectLst/>
                <a:latin typeface="+mn-lt"/>
                <a:ea typeface="+mn-ea"/>
                <a:cs typeface="+mn-cs"/>
              </a:rPr>
              <a:t> What exact tools or domain expertise must they hold? </a:t>
            </a:r>
          </a:p>
          <a:p>
            <a:pPr marL="228600" indent="-228600">
              <a:buFont typeface="+mj-lt"/>
              <a:buAutoNum type="arabicPeriod"/>
            </a:pPr>
            <a:r>
              <a:rPr lang="en-US" sz="1200" b="1" kern="1200" dirty="0">
                <a:solidFill>
                  <a:schemeClr val="tx1"/>
                </a:solidFill>
                <a:effectLst/>
                <a:latin typeface="+mn-lt"/>
                <a:ea typeface="+mn-ea"/>
                <a:cs typeface="+mn-cs"/>
              </a:rPr>
              <a:t>Core problem-solving experiences:</a:t>
            </a:r>
            <a:r>
              <a:rPr lang="en-US" sz="1200" kern="1200" dirty="0">
                <a:solidFill>
                  <a:schemeClr val="tx1"/>
                </a:solidFill>
                <a:effectLst/>
                <a:latin typeface="+mn-lt"/>
                <a:ea typeface="+mn-ea"/>
                <a:cs typeface="+mn-cs"/>
              </a:rPr>
              <a:t> What actual problems have they navigated and solved in the past? </a:t>
            </a:r>
          </a:p>
          <a:p>
            <a:pPr marL="228600" indent="-228600">
              <a:buFont typeface="+mj-lt"/>
              <a:buAutoNum type="arabicPeriod"/>
            </a:pPr>
            <a:r>
              <a:rPr lang="en-US" sz="1200" b="1" kern="1200" dirty="0">
                <a:solidFill>
                  <a:schemeClr val="tx1"/>
                </a:solidFill>
                <a:effectLst/>
                <a:latin typeface="+mn-lt"/>
                <a:ea typeface="+mn-ea"/>
                <a:cs typeface="+mn-cs"/>
              </a:rPr>
              <a:t>The fundamental problem this role will solve:</a:t>
            </a:r>
            <a:r>
              <a:rPr lang="en-US" sz="1200" kern="1200" dirty="0">
                <a:solidFill>
                  <a:schemeClr val="tx1"/>
                </a:solidFill>
                <a:effectLst/>
                <a:latin typeface="+mn-lt"/>
                <a:ea typeface="+mn-ea"/>
                <a:cs typeface="+mn-cs"/>
              </a:rPr>
              <a:t> What specific impact must this person deliver in their first 6–12 months? </a:t>
            </a:r>
          </a:p>
          <a:p>
            <a:pPr marL="228600" indent="-228600">
              <a:buFont typeface="+mj-lt"/>
              <a:buAutoNum type="arabicPeriod"/>
            </a:pPr>
            <a:endParaRPr lang="en-US" sz="1200" kern="1200" dirty="0">
              <a:solidFill>
                <a:schemeClr val="tx1"/>
              </a:solidFill>
              <a:effectLst/>
              <a:latin typeface="+mn-lt"/>
              <a:ea typeface="+mn-ea"/>
              <a:cs typeface="+mn-cs"/>
            </a:endParaRPr>
          </a:p>
          <a:p>
            <a:pPr marL="228600" indent="-228600">
              <a:buFont typeface="+mj-lt"/>
              <a:buAutoNum type="arabicPeriod"/>
            </a:pP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Replacing subjective signals (like school or previous employer brand) with an objective stack-ranking of actual capability is essential for finding true top-tier engineers. </a:t>
            </a:r>
          </a:p>
          <a:p>
            <a:endParaRPr lang="en-US" dirty="0"/>
          </a:p>
        </p:txBody>
      </p:sp>
      <p:sp>
        <p:nvSpPr>
          <p:cNvPr id="4" name="Slide Number Placeholder 3"/>
          <p:cNvSpPr>
            <a:spLocks noGrp="1"/>
          </p:cNvSpPr>
          <p:nvPr>
            <p:ph type="sldNum" sz="quarter" idx="5"/>
          </p:nvPr>
        </p:nvSpPr>
        <p:spPr/>
        <p:txBody>
          <a:bodyPr/>
          <a:lstStyle/>
          <a:p>
            <a:fld id="{7AC3E0EA-4A0F-4BC1-97EC-5D08BC9AF0C7}" type="slidenum">
              <a:rPr lang="en-US" smtClean="0"/>
              <a:t>4</a:t>
            </a:fld>
            <a:endParaRPr lang="en-US"/>
          </a:p>
        </p:txBody>
      </p:sp>
    </p:spTree>
    <p:extLst>
      <p:ext uri="{BB962C8B-B14F-4D97-AF65-F5344CB8AC3E}">
        <p14:creationId xmlns:p14="http://schemas.microsoft.com/office/powerpoint/2010/main" val="24568002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Concept:</a:t>
            </a:r>
            <a:r>
              <a:rPr lang="en-US" sz="1200" kern="1200" dirty="0">
                <a:solidFill>
                  <a:schemeClr val="tx1"/>
                </a:solidFill>
                <a:effectLst/>
                <a:latin typeface="+mn-lt"/>
                <a:ea typeface="+mn-ea"/>
                <a:cs typeface="+mn-cs"/>
              </a:rPr>
              <a:t> Sourcing talent from your network or team is fundamentally an exercise in prompt engineering. Low-quality inputs yield low-signal noise. </a:t>
            </a:r>
          </a:p>
          <a:p>
            <a:r>
              <a:rPr lang="en-US" sz="1200" b="1" kern="1200" dirty="0">
                <a:solidFill>
                  <a:schemeClr val="tx1"/>
                </a:solidFill>
                <a:effectLst/>
                <a:latin typeface="+mn-lt"/>
                <a:ea typeface="+mn-ea"/>
                <a:cs typeface="+mn-cs"/>
              </a:rPr>
              <a:t>The Bad Query (Input 1):</a:t>
            </a:r>
            <a:r>
              <a:rPr lang="en-US" sz="1200" kern="1200" dirty="0">
                <a:solidFill>
                  <a:schemeClr val="tx1"/>
                </a:solidFill>
                <a:effectLst/>
                <a:latin typeface="+mn-lt"/>
                <a:ea typeface="+mn-ea"/>
                <a:cs typeface="+mn-cs"/>
              </a:rPr>
              <a:t> If you ask a team member or contact: </a:t>
            </a:r>
            <a:r>
              <a:rPr lang="en-US" sz="1200" i="1" kern="1200" dirty="0">
                <a:solidFill>
                  <a:schemeClr val="tx1"/>
                </a:solidFill>
                <a:effectLst/>
                <a:latin typeface="+mn-lt"/>
                <a:ea typeface="+mn-ea"/>
                <a:cs typeface="+mn-cs"/>
              </a:rPr>
              <a:t>"Who is the best product engineer you know?"</a:t>
            </a:r>
            <a:r>
              <a:rPr lang="en-US" sz="1200" kern="1200" dirty="0">
                <a:solidFill>
                  <a:schemeClr val="tx1"/>
                </a:solidFill>
                <a:effectLst/>
                <a:latin typeface="+mn-lt"/>
                <a:ea typeface="+mn-ea"/>
                <a:cs typeface="+mn-cs"/>
              </a:rPr>
              <a:t>, you'll get generic responses based on recency bias or likability. </a:t>
            </a:r>
          </a:p>
          <a:p>
            <a:r>
              <a:rPr lang="en-US" sz="1200" b="1" kern="1200" dirty="0">
                <a:solidFill>
                  <a:schemeClr val="tx1"/>
                </a:solidFill>
                <a:effectLst/>
                <a:latin typeface="+mn-lt"/>
                <a:ea typeface="+mn-ea"/>
                <a:cs typeface="+mn-cs"/>
              </a:rPr>
              <a:t>The High-Signal Query (Input 2):</a:t>
            </a:r>
            <a:r>
              <a:rPr lang="en-US" sz="1200" kern="1200" dirty="0">
                <a:solidFill>
                  <a:schemeClr val="tx1"/>
                </a:solidFill>
                <a:effectLst/>
                <a:latin typeface="+mn-lt"/>
                <a:ea typeface="+mn-ea"/>
                <a:cs typeface="+mn-cs"/>
              </a:rPr>
              <a:t> Instead, ask a targeted question: </a:t>
            </a:r>
            <a:r>
              <a:rPr lang="en-US" sz="1200" i="1" kern="1200" dirty="0">
                <a:solidFill>
                  <a:schemeClr val="tx1"/>
                </a:solidFill>
                <a:effectLst/>
                <a:latin typeface="+mn-lt"/>
                <a:ea typeface="+mn-ea"/>
                <a:cs typeface="+mn-cs"/>
              </a:rPr>
              <a:t>"Of all engineers you've worked with, who translates a framework into a product better than anyone?"</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The Result:</a:t>
            </a:r>
            <a:r>
              <a:rPr lang="en-US" sz="1200" kern="1200" dirty="0">
                <a:solidFill>
                  <a:schemeClr val="tx1"/>
                </a:solidFill>
                <a:effectLst/>
                <a:latin typeface="+mn-lt"/>
                <a:ea typeface="+mn-ea"/>
                <a:cs typeface="+mn-cs"/>
              </a:rPr>
              <a:t> By querying for specific, observable behaviors and characteristics mapped to objective scoping, you unlock a precise Top 50 target list instead of a list of popular peers.</a:t>
            </a:r>
          </a:p>
          <a:p>
            <a:endParaRPr lang="en-US" dirty="0"/>
          </a:p>
        </p:txBody>
      </p:sp>
      <p:sp>
        <p:nvSpPr>
          <p:cNvPr id="4" name="Slide Number Placeholder 3"/>
          <p:cNvSpPr>
            <a:spLocks noGrp="1"/>
          </p:cNvSpPr>
          <p:nvPr>
            <p:ph type="sldNum" sz="quarter" idx="5"/>
          </p:nvPr>
        </p:nvSpPr>
        <p:spPr/>
        <p:txBody>
          <a:bodyPr/>
          <a:lstStyle/>
          <a:p>
            <a:fld id="{7AC3E0EA-4A0F-4BC1-97EC-5D08BC9AF0C7}" type="slidenum">
              <a:rPr lang="en-US" smtClean="0"/>
              <a:t>5</a:t>
            </a:fld>
            <a:endParaRPr lang="en-US"/>
          </a:p>
        </p:txBody>
      </p:sp>
    </p:spTree>
    <p:extLst>
      <p:ext uri="{BB962C8B-B14F-4D97-AF65-F5344CB8AC3E}">
        <p14:creationId xmlns:p14="http://schemas.microsoft.com/office/powerpoint/2010/main" val="1872044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Core Reality:</a:t>
            </a:r>
            <a:r>
              <a:rPr lang="en-US" sz="1200" kern="1200" dirty="0">
                <a:solidFill>
                  <a:schemeClr val="tx1"/>
                </a:solidFill>
                <a:effectLst/>
                <a:latin typeface="+mn-lt"/>
                <a:ea typeface="+mn-ea"/>
                <a:cs typeface="+mn-cs"/>
              </a:rPr>
              <a:t> You cannot automate the extraction of high-taste networks. High-signal sourcing requires continuous, human-to-human accountability loops. </a:t>
            </a:r>
          </a:p>
          <a:p>
            <a:r>
              <a:rPr lang="en-US" sz="1200" b="1" kern="1200" dirty="0">
                <a:solidFill>
                  <a:schemeClr val="tx1"/>
                </a:solidFill>
                <a:effectLst/>
                <a:latin typeface="+mn-lt"/>
                <a:ea typeface="+mn-ea"/>
                <a:cs typeface="+mn-cs"/>
              </a:rPr>
              <a:t>The 1:1 Accountability Loop:</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Bi-weekly sit-downs:</a:t>
            </a:r>
            <a:r>
              <a:rPr lang="en-US" sz="1200" kern="1200" dirty="0">
                <a:solidFill>
                  <a:schemeClr val="tx1"/>
                </a:solidFill>
                <a:effectLst/>
                <a:latin typeface="+mn-lt"/>
                <a:ea typeface="+mn-ea"/>
                <a:cs typeface="+mn-cs"/>
              </a:rPr>
              <a:t> Regular structured meetings with high-taste employees inside your company.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Deep dive into networks:</a:t>
            </a:r>
            <a:r>
              <a:rPr lang="en-US" sz="1200" kern="1200" dirty="0">
                <a:solidFill>
                  <a:schemeClr val="tx1"/>
                </a:solidFill>
                <a:effectLst/>
                <a:latin typeface="+mn-lt"/>
                <a:ea typeface="+mn-ea"/>
                <a:cs typeface="+mn-cs"/>
              </a:rPr>
              <a:t> Systematically review their personal and professional connections.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Actionable follow-up notes:</a:t>
            </a:r>
            <a:r>
              <a:rPr lang="en-US" sz="1200" kern="1200" dirty="0">
                <a:solidFill>
                  <a:schemeClr val="tx1"/>
                </a:solidFill>
                <a:effectLst/>
                <a:latin typeface="+mn-lt"/>
                <a:ea typeface="+mn-ea"/>
                <a:cs typeface="+mn-cs"/>
              </a:rPr>
              <a:t> Track outreach metrics rigorously—who was contacted, who replied, and what next steps were taken.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Synthesis:</a:t>
            </a:r>
            <a:r>
              <a:rPr lang="en-US" sz="1200" kern="1200" dirty="0">
                <a:solidFill>
                  <a:schemeClr val="tx1"/>
                </a:solidFill>
                <a:effectLst/>
                <a:latin typeface="+mn-lt"/>
                <a:ea typeface="+mn-ea"/>
                <a:cs typeface="+mn-cs"/>
              </a:rPr>
              <a:t> Feed high-signal candidate data back into the core talent database. </a:t>
            </a:r>
          </a:p>
          <a:p>
            <a:endParaRPr lang="en-US" sz="1200" b="1"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Network extraction isn't a one-time referral blast; it is an ongoing, operationalized system. </a:t>
            </a:r>
          </a:p>
          <a:p>
            <a:endParaRPr lang="en-US" dirty="0"/>
          </a:p>
        </p:txBody>
      </p:sp>
      <p:sp>
        <p:nvSpPr>
          <p:cNvPr id="4" name="Slide Number Placeholder 3"/>
          <p:cNvSpPr>
            <a:spLocks noGrp="1"/>
          </p:cNvSpPr>
          <p:nvPr>
            <p:ph type="sldNum" sz="quarter" idx="5"/>
          </p:nvPr>
        </p:nvSpPr>
        <p:spPr/>
        <p:txBody>
          <a:bodyPr/>
          <a:lstStyle/>
          <a:p>
            <a:fld id="{7AC3E0EA-4A0F-4BC1-97EC-5D08BC9AF0C7}" type="slidenum">
              <a:rPr lang="en-US" smtClean="0"/>
              <a:t>6</a:t>
            </a:fld>
            <a:endParaRPr lang="en-US"/>
          </a:p>
        </p:txBody>
      </p:sp>
    </p:spTree>
    <p:extLst>
      <p:ext uri="{BB962C8B-B14F-4D97-AF65-F5344CB8AC3E}">
        <p14:creationId xmlns:p14="http://schemas.microsoft.com/office/powerpoint/2010/main" val="2551277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Transactional Trap:</a:t>
            </a:r>
            <a:r>
              <a:rPr lang="en-US" sz="1200" kern="1200" dirty="0">
                <a:solidFill>
                  <a:schemeClr val="tx1"/>
                </a:solidFill>
                <a:effectLst/>
                <a:latin typeface="+mn-lt"/>
                <a:ea typeface="+mn-ea"/>
                <a:cs typeface="+mn-cs"/>
              </a:rPr>
              <a:t> Traditional hiring assumes a candidate's journey is linear: see a job post, click "Apply Now," go through interviews, and get an offer or get ghosted. When hiring world-class talent, this binary timeline is irrelevant. </a:t>
            </a:r>
          </a:p>
          <a:p>
            <a:r>
              <a:rPr lang="en-US" sz="1200" b="1" kern="1200" dirty="0">
                <a:solidFill>
                  <a:schemeClr val="tx1"/>
                </a:solidFill>
                <a:effectLst/>
                <a:latin typeface="+mn-lt"/>
                <a:ea typeface="+mn-ea"/>
                <a:cs typeface="+mn-cs"/>
              </a:rPr>
              <a:t>Continuous Seed Planting:</a:t>
            </a:r>
            <a:r>
              <a:rPr lang="en-US" sz="1200" kern="1200" dirty="0">
                <a:solidFill>
                  <a:schemeClr val="tx1"/>
                </a:solidFill>
                <a:effectLst/>
                <a:latin typeface="+mn-lt"/>
                <a:ea typeface="+mn-ea"/>
                <a:cs typeface="+mn-cs"/>
              </a:rPr>
              <a:t> Sourcing the top 50 engineers in the world takes time, patience, and persistent relationship building: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Days:</a:t>
            </a:r>
            <a:r>
              <a:rPr lang="en-US" sz="1200" kern="1200" dirty="0">
                <a:solidFill>
                  <a:schemeClr val="tx1"/>
                </a:solidFill>
                <a:effectLst/>
                <a:latin typeface="+mn-lt"/>
                <a:ea typeface="+mn-ea"/>
                <a:cs typeface="+mn-cs"/>
              </a:rPr>
              <a:t> Casual coffee or low-pressure introduction.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Weeks:</a:t>
            </a:r>
            <a:r>
              <a:rPr lang="en-US" sz="1200" kern="1200" dirty="0">
                <a:solidFill>
                  <a:schemeClr val="tx1"/>
                </a:solidFill>
                <a:effectLst/>
                <a:latin typeface="+mn-lt"/>
                <a:ea typeface="+mn-ea"/>
                <a:cs typeface="+mn-cs"/>
              </a:rPr>
              <a:t> An informal tour of the office or engineering setup.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Months:</a:t>
            </a:r>
            <a:r>
              <a:rPr lang="en-US" sz="1200" kern="1200" dirty="0">
                <a:solidFill>
                  <a:schemeClr val="tx1"/>
                </a:solidFill>
                <a:effectLst/>
                <a:latin typeface="+mn-lt"/>
                <a:ea typeface="+mn-ea"/>
                <a:cs typeface="+mn-cs"/>
              </a:rPr>
              <a:t> Invitation to be a guest speaker or attend an internal tech sync.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Years:</a:t>
            </a:r>
            <a:r>
              <a:rPr lang="en-US" sz="1200" kern="1200" dirty="0">
                <a:solidFill>
                  <a:schemeClr val="tx1"/>
                </a:solidFill>
                <a:effectLst/>
                <a:latin typeface="+mn-lt"/>
                <a:ea typeface="+mn-ea"/>
                <a:cs typeface="+mn-cs"/>
              </a:rPr>
              <a:t> Activation (Harvest) when the timing aligns perfectly for the candidate. </a:t>
            </a:r>
          </a:p>
          <a:p>
            <a:endParaRPr lang="en-US" sz="1200" b="1"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Shift from transactional, immediate-need hiring to a long-term strategy of planting seeds and nurturing elite talent pipelines continuously. </a:t>
            </a:r>
          </a:p>
          <a:p>
            <a:endParaRPr lang="en-US" dirty="0"/>
          </a:p>
          <a:p>
            <a:endParaRPr lang="en-US" dirty="0"/>
          </a:p>
        </p:txBody>
      </p:sp>
      <p:sp>
        <p:nvSpPr>
          <p:cNvPr id="4" name="Slide Number Placeholder 3"/>
          <p:cNvSpPr>
            <a:spLocks noGrp="1"/>
          </p:cNvSpPr>
          <p:nvPr>
            <p:ph type="sldNum" sz="quarter" idx="5"/>
          </p:nvPr>
        </p:nvSpPr>
        <p:spPr/>
        <p:txBody>
          <a:bodyPr/>
          <a:lstStyle/>
          <a:p>
            <a:fld id="{7AC3E0EA-4A0F-4BC1-97EC-5D08BC9AF0C7}" type="slidenum">
              <a:rPr lang="en-US" smtClean="0"/>
              <a:t>7</a:t>
            </a:fld>
            <a:endParaRPr lang="en-US"/>
          </a:p>
        </p:txBody>
      </p:sp>
    </p:spTree>
    <p:extLst>
      <p:ext uri="{BB962C8B-B14F-4D97-AF65-F5344CB8AC3E}">
        <p14:creationId xmlns:p14="http://schemas.microsoft.com/office/powerpoint/2010/main" val="29280450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Concept:</a:t>
            </a:r>
            <a:r>
              <a:rPr lang="en-US" sz="1200" kern="1200" dirty="0">
                <a:solidFill>
                  <a:schemeClr val="tx1"/>
                </a:solidFill>
                <a:effectLst/>
                <a:latin typeface="+mn-lt"/>
                <a:ea typeface="+mn-ea"/>
                <a:cs typeface="+mn-cs"/>
              </a:rPr>
              <a:t> Showing genuine care costs nothing, but operationalizing and engineering that care at scale is extremely rare—and highly effective. </a:t>
            </a:r>
          </a:p>
          <a:p>
            <a:r>
              <a:rPr lang="en-US" sz="1200" b="1" kern="1200" dirty="0">
                <a:solidFill>
                  <a:schemeClr val="tx1"/>
                </a:solidFill>
                <a:effectLst/>
                <a:latin typeface="+mn-lt"/>
                <a:ea typeface="+mn-ea"/>
                <a:cs typeface="+mn-cs"/>
              </a:rPr>
              <a:t>The Tactic — Breaking Bread:</a:t>
            </a:r>
            <a:r>
              <a:rPr lang="en-US" sz="1200" kern="1200" dirty="0">
                <a:solidFill>
                  <a:schemeClr val="tx1"/>
                </a:solidFill>
                <a:effectLst/>
                <a:latin typeface="+mn-lt"/>
                <a:ea typeface="+mn-ea"/>
                <a:cs typeface="+mn-cs"/>
              </a:rPr>
              <a:t> Shared meals create a relaxed setting that strips away candidate defensiveness and creates genuine connection. </a:t>
            </a:r>
          </a:p>
          <a:p>
            <a:r>
              <a:rPr lang="en-US" sz="1200" b="1" kern="1200" dirty="0">
                <a:solidFill>
                  <a:schemeClr val="tx1"/>
                </a:solidFill>
                <a:effectLst/>
                <a:latin typeface="+mn-lt"/>
                <a:ea typeface="+mn-ea"/>
                <a:cs typeface="+mn-cs"/>
              </a:rPr>
              <a:t>The Environment — The Home Game:</a:t>
            </a:r>
            <a:r>
              <a:rPr lang="en-US" sz="1200" kern="1200" dirty="0">
                <a:solidFill>
                  <a:schemeClr val="tx1"/>
                </a:solidFill>
                <a:effectLst/>
                <a:latin typeface="+mn-lt"/>
                <a:ea typeface="+mn-ea"/>
                <a:cs typeface="+mn-cs"/>
              </a:rPr>
              <a:t> Curating a physical space where candidates feel comfortable and welcomed. Examples include comfortable library-like environments, warm aesthetic details (like chalkboards), and welcoming cafe setups. </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When candidates enter an environment designed with genuine warmth and care, candidate conversion rates increase dramatically. </a:t>
            </a:r>
          </a:p>
          <a:p>
            <a:endParaRPr lang="en-US" dirty="0"/>
          </a:p>
          <a:p>
            <a:endParaRPr lang="en-US" dirty="0"/>
          </a:p>
        </p:txBody>
      </p:sp>
      <p:sp>
        <p:nvSpPr>
          <p:cNvPr id="4" name="Slide Number Placeholder 3"/>
          <p:cNvSpPr>
            <a:spLocks noGrp="1"/>
          </p:cNvSpPr>
          <p:nvPr>
            <p:ph type="sldNum" sz="quarter" idx="5"/>
          </p:nvPr>
        </p:nvSpPr>
        <p:spPr/>
        <p:txBody>
          <a:bodyPr/>
          <a:lstStyle/>
          <a:p>
            <a:fld id="{7AC3E0EA-4A0F-4BC1-97EC-5D08BC9AF0C7}" type="slidenum">
              <a:rPr lang="en-US" smtClean="0"/>
              <a:t>8</a:t>
            </a:fld>
            <a:endParaRPr lang="en-US"/>
          </a:p>
        </p:txBody>
      </p:sp>
    </p:spTree>
    <p:extLst>
      <p:ext uri="{BB962C8B-B14F-4D97-AF65-F5344CB8AC3E}">
        <p14:creationId xmlns:p14="http://schemas.microsoft.com/office/powerpoint/2010/main" val="36929885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Flaw of Traditional Interviews:</a:t>
            </a:r>
            <a:r>
              <a:rPr lang="en-US" sz="1200" kern="1200" dirty="0">
                <a:solidFill>
                  <a:schemeClr val="tx1"/>
                </a:solidFill>
                <a:effectLst/>
                <a:latin typeface="+mn-lt"/>
                <a:ea typeface="+mn-ea"/>
                <a:cs typeface="+mn-cs"/>
              </a:rPr>
              <a:t> Conventional interviews extract value primarily for the company while giving the candidate a poor, one-sided experience. </a:t>
            </a:r>
          </a:p>
          <a:p>
            <a:r>
              <a:rPr lang="en-US" sz="1200" b="1" kern="1200" dirty="0">
                <a:solidFill>
                  <a:schemeClr val="tx1"/>
                </a:solidFill>
                <a:effectLst/>
                <a:latin typeface="+mn-lt"/>
                <a:ea typeface="+mn-ea"/>
                <a:cs typeface="+mn-cs"/>
              </a:rPr>
              <a:t>Balancing the Scales:</a:t>
            </a:r>
            <a:r>
              <a:rPr lang="en-US" sz="1200" kern="1200" dirty="0">
                <a:solidFill>
                  <a:schemeClr val="tx1"/>
                </a:solidFill>
                <a:effectLst/>
                <a:latin typeface="+mn-lt"/>
                <a:ea typeface="+mn-ea"/>
                <a:cs typeface="+mn-cs"/>
              </a:rPr>
              <a:t> Elite assessments create mutual value: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For the Company:</a:t>
            </a:r>
            <a:r>
              <a:rPr lang="en-US" sz="1200" kern="1200" dirty="0">
                <a:solidFill>
                  <a:schemeClr val="tx1"/>
                </a:solidFill>
                <a:effectLst/>
                <a:latin typeface="+mn-lt"/>
                <a:ea typeface="+mn-ea"/>
                <a:cs typeface="+mn-cs"/>
              </a:rPr>
              <a:t> Uses side-by-side real work samples, multi-hour project collaborations, and deep probes into systems thinking to validate technical skill.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For the Candidate:</a:t>
            </a:r>
            <a:r>
              <a:rPr lang="en-US" sz="1200" kern="1200" dirty="0">
                <a:solidFill>
                  <a:schemeClr val="tx1"/>
                </a:solidFill>
                <a:effectLst/>
                <a:latin typeface="+mn-lt"/>
                <a:ea typeface="+mn-ea"/>
                <a:cs typeface="+mn-cs"/>
              </a:rPr>
              <a:t> Offers two-way feedback, curated greeters, bespoke pairings, and respect for their time (such as offering flexible weekend assessment slots). </a:t>
            </a:r>
          </a:p>
          <a:p>
            <a:pPr marL="171450" indent="-171450">
              <a:buFont typeface="Arial" panose="020B0604020202020204" pitchFamily="34" charset="0"/>
              <a:buChar char="•"/>
            </a:pPr>
            <a:endParaRPr lang="en-US" sz="1200" b="1"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High self-selection requires high-fidelity data on both sides. Candidates should leave the assessment with absolute conviction that this is the team they want to join. </a:t>
            </a:r>
          </a:p>
          <a:p>
            <a:endParaRPr lang="en-US" dirty="0"/>
          </a:p>
          <a:p>
            <a:endParaRPr lang="en-US" dirty="0"/>
          </a:p>
        </p:txBody>
      </p:sp>
      <p:sp>
        <p:nvSpPr>
          <p:cNvPr id="4" name="Slide Number Placeholder 3"/>
          <p:cNvSpPr>
            <a:spLocks noGrp="1"/>
          </p:cNvSpPr>
          <p:nvPr>
            <p:ph type="sldNum" sz="quarter" idx="5"/>
          </p:nvPr>
        </p:nvSpPr>
        <p:spPr/>
        <p:txBody>
          <a:bodyPr/>
          <a:lstStyle/>
          <a:p>
            <a:fld id="{7AC3E0EA-4A0F-4BC1-97EC-5D08BC9AF0C7}" type="slidenum">
              <a:rPr lang="en-US" smtClean="0"/>
              <a:t>9</a:t>
            </a:fld>
            <a:endParaRPr lang="en-US"/>
          </a:p>
        </p:txBody>
      </p:sp>
    </p:spTree>
    <p:extLst>
      <p:ext uri="{BB962C8B-B14F-4D97-AF65-F5344CB8AC3E}">
        <p14:creationId xmlns:p14="http://schemas.microsoft.com/office/powerpoint/2010/main" val="34275568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Redefining Closing:</a:t>
            </a:r>
            <a:r>
              <a:rPr lang="en-US" sz="1200" kern="1200" dirty="0">
                <a:solidFill>
                  <a:schemeClr val="tx1"/>
                </a:solidFill>
                <a:effectLst/>
                <a:latin typeface="+mn-lt"/>
                <a:ea typeface="+mn-ea"/>
                <a:cs typeface="+mn-cs"/>
              </a:rPr>
              <a:t> Closing is not a single salary negotiation at the end of a process. It is a continuous, team-driven effort that starts at discovery and extends well past offer acceptance. </a:t>
            </a:r>
          </a:p>
          <a:p>
            <a:r>
              <a:rPr lang="en-US" sz="1200" b="1" kern="1200" dirty="0">
                <a:solidFill>
                  <a:schemeClr val="tx1"/>
                </a:solidFill>
                <a:effectLst/>
                <a:latin typeface="+mn-lt"/>
                <a:ea typeface="+mn-ea"/>
                <a:cs typeface="+mn-cs"/>
              </a:rPr>
              <a:t>4 Pillars of an Effective Close:</a:t>
            </a:r>
            <a:endParaRPr lang="en-US" sz="1200" kern="1200" dirty="0">
              <a:solidFill>
                <a:schemeClr val="tx1"/>
              </a:solidFill>
              <a:effectLst/>
              <a:latin typeface="+mn-lt"/>
              <a:ea typeface="+mn-ea"/>
              <a:cs typeface="+mn-cs"/>
            </a:endParaRPr>
          </a:p>
          <a:p>
            <a:pPr marL="228600" indent="-228600">
              <a:buFont typeface="+mj-lt"/>
              <a:buAutoNum type="arabicPeriod"/>
            </a:pPr>
            <a:r>
              <a:rPr lang="en-US" sz="1200" b="1" kern="1200" dirty="0">
                <a:solidFill>
                  <a:schemeClr val="tx1"/>
                </a:solidFill>
                <a:effectLst/>
                <a:latin typeface="+mn-lt"/>
                <a:ea typeface="+mn-ea"/>
                <a:cs typeface="+mn-cs"/>
              </a:rPr>
              <a:t>Discover Intrinsic Motivations Early:</a:t>
            </a:r>
            <a:r>
              <a:rPr lang="en-US" sz="1200" kern="1200" dirty="0">
                <a:solidFill>
                  <a:schemeClr val="tx1"/>
                </a:solidFill>
                <a:effectLst/>
                <a:latin typeface="+mn-lt"/>
                <a:ea typeface="+mn-ea"/>
                <a:cs typeface="+mn-cs"/>
              </a:rPr>
              <a:t> Uncover what actually drives the candidate beyond basic compensation. </a:t>
            </a:r>
          </a:p>
          <a:p>
            <a:pPr marL="228600" indent="-228600">
              <a:buFont typeface="+mj-lt"/>
              <a:buAutoNum type="arabicPeriod"/>
            </a:pPr>
            <a:r>
              <a:rPr lang="en-US" sz="1200" b="1" kern="1200" dirty="0">
                <a:solidFill>
                  <a:schemeClr val="tx1"/>
                </a:solidFill>
                <a:effectLst/>
                <a:latin typeface="+mn-lt"/>
                <a:ea typeface="+mn-ea"/>
                <a:cs typeface="+mn-cs"/>
              </a:rPr>
              <a:t>Daily 10-Minute Standups:</a:t>
            </a:r>
            <a:r>
              <a:rPr lang="en-US" sz="1200" kern="1200" dirty="0">
                <a:solidFill>
                  <a:schemeClr val="tx1"/>
                </a:solidFill>
                <a:effectLst/>
                <a:latin typeface="+mn-lt"/>
                <a:ea typeface="+mn-ea"/>
                <a:cs typeface="+mn-cs"/>
              </a:rPr>
              <a:t> Maintain internal alignment on candidate status and concerns. </a:t>
            </a:r>
          </a:p>
          <a:p>
            <a:pPr marL="228600" indent="-228600">
              <a:buFont typeface="+mj-lt"/>
              <a:buAutoNum type="arabicPeriod"/>
            </a:pPr>
            <a:r>
              <a:rPr lang="en-US" sz="1200" b="1" kern="1200" dirty="0">
                <a:solidFill>
                  <a:schemeClr val="tx1"/>
                </a:solidFill>
                <a:effectLst/>
                <a:latin typeface="+mn-lt"/>
                <a:ea typeface="+mn-ea"/>
                <a:cs typeface="+mn-cs"/>
              </a:rPr>
              <a:t>Hyper-Bespoke Touchpoints:</a:t>
            </a:r>
            <a:r>
              <a:rPr lang="en-US" sz="1200" kern="1200" dirty="0">
                <a:solidFill>
                  <a:schemeClr val="tx1"/>
                </a:solidFill>
                <a:effectLst/>
                <a:latin typeface="+mn-lt"/>
                <a:ea typeface="+mn-ea"/>
                <a:cs typeface="+mn-cs"/>
              </a:rPr>
              <a:t> Demonstrate active listening (e.g., gifting a unique personal item mentioned in casual conversation). </a:t>
            </a:r>
          </a:p>
          <a:p>
            <a:pPr marL="228600" indent="-228600">
              <a:buFont typeface="+mj-lt"/>
              <a:buAutoNum type="arabicPeriod"/>
            </a:pPr>
            <a:r>
              <a:rPr lang="en-US" sz="1200" b="1" kern="1200" dirty="0">
                <a:solidFill>
                  <a:schemeClr val="tx1"/>
                </a:solidFill>
                <a:effectLst/>
                <a:latin typeface="+mn-lt"/>
                <a:ea typeface="+mn-ea"/>
                <a:cs typeface="+mn-cs"/>
              </a:rPr>
              <a:t>Pre-Boarding Community Building:</a:t>
            </a:r>
            <a:r>
              <a:rPr lang="en-US" sz="1200" kern="1200" dirty="0">
                <a:solidFill>
                  <a:schemeClr val="tx1"/>
                </a:solidFill>
                <a:effectLst/>
                <a:latin typeface="+mn-lt"/>
                <a:ea typeface="+mn-ea"/>
                <a:cs typeface="+mn-cs"/>
              </a:rPr>
              <a:t> Send equipment early and invite hires to team dinners prior to day one to build belonging.</a:t>
            </a:r>
          </a:p>
          <a:p>
            <a:endParaRPr lang="en-US" dirty="0"/>
          </a:p>
          <a:p>
            <a:endParaRPr lang="en-US" dirty="0"/>
          </a:p>
        </p:txBody>
      </p:sp>
      <p:sp>
        <p:nvSpPr>
          <p:cNvPr id="4" name="Slide Number Placeholder 3"/>
          <p:cNvSpPr>
            <a:spLocks noGrp="1"/>
          </p:cNvSpPr>
          <p:nvPr>
            <p:ph type="sldNum" sz="quarter" idx="5"/>
          </p:nvPr>
        </p:nvSpPr>
        <p:spPr/>
        <p:txBody>
          <a:bodyPr/>
          <a:lstStyle/>
          <a:p>
            <a:fld id="{7AC3E0EA-4A0F-4BC1-97EC-5D08BC9AF0C7}" type="slidenum">
              <a:rPr lang="en-US" smtClean="0"/>
              <a:t>10</a:t>
            </a:fld>
            <a:endParaRPr lang="en-US"/>
          </a:p>
        </p:txBody>
      </p:sp>
    </p:spTree>
    <p:extLst>
      <p:ext uri="{BB962C8B-B14F-4D97-AF65-F5344CB8AC3E}">
        <p14:creationId xmlns:p14="http://schemas.microsoft.com/office/powerpoint/2010/main" val="8511119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Understanding Recruiter Operating Limits:</a:t>
            </a:r>
            <a:r>
              <a:rPr lang="en-US" sz="1200" kern="1200" dirty="0">
                <a:solidFill>
                  <a:schemeClr val="tx1"/>
                </a:solidFill>
                <a:effectLst/>
                <a:latin typeface="+mn-lt"/>
                <a:ea typeface="+mn-ea"/>
                <a:cs typeface="+mn-cs"/>
              </a:rPr>
              <a:t> Elite recruiters operate best within a specific operational capacity band. </a:t>
            </a:r>
          </a:p>
          <a:p>
            <a:r>
              <a:rPr lang="en-US" sz="1200" b="1" kern="1200" dirty="0">
                <a:solidFill>
                  <a:schemeClr val="tx1"/>
                </a:solidFill>
                <a:effectLst/>
                <a:latin typeface="+mn-lt"/>
                <a:ea typeface="+mn-ea"/>
                <a:cs typeface="+mn-cs"/>
              </a:rPr>
              <a:t>The Curve Dynamics:</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Under-utilized (&lt;90% Capacity):</a:t>
            </a:r>
            <a:r>
              <a:rPr lang="en-US" sz="1200" kern="1200" dirty="0">
                <a:solidFill>
                  <a:schemeClr val="tx1"/>
                </a:solidFill>
                <a:effectLst/>
                <a:latin typeface="+mn-lt"/>
                <a:ea typeface="+mn-ea"/>
                <a:cs typeface="+mn-cs"/>
              </a:rPr>
              <a:t> Recruiters lose focus and momentum in low-pressure settings.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System Breakdown (&gt;110% Capacity):</a:t>
            </a:r>
            <a:r>
              <a:rPr lang="en-US" sz="1200" kern="1200" dirty="0">
                <a:solidFill>
                  <a:schemeClr val="tx1"/>
                </a:solidFill>
                <a:effectLst/>
                <a:latin typeface="+mn-lt"/>
                <a:ea typeface="+mn-ea"/>
                <a:cs typeface="+mn-cs"/>
              </a:rPr>
              <a:t> Overloading recruiters leads to burnout, dropped details, and poor candidate experiences.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Sweet Spot (90%–110%):</a:t>
            </a:r>
            <a:r>
              <a:rPr lang="en-US" sz="1200" kern="1200" dirty="0">
                <a:solidFill>
                  <a:schemeClr val="tx1"/>
                </a:solidFill>
                <a:effectLst/>
                <a:latin typeface="+mn-lt"/>
                <a:ea typeface="+mn-ea"/>
                <a:cs typeface="+mn-cs"/>
              </a:rPr>
              <a:t> "The Edge of Adrenaline"—where recruiters execute with maximum focus, speed, and precision. </a:t>
            </a:r>
          </a:p>
          <a:p>
            <a:endParaRPr lang="en-US" sz="1200" b="1"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Manage recruiter bandwidth carefully to keep performance optimized in the high-execution zone without driving burnout.</a:t>
            </a:r>
          </a:p>
          <a:p>
            <a:endParaRPr lang="en-US" dirty="0"/>
          </a:p>
          <a:p>
            <a:endParaRPr lang="en-US" dirty="0"/>
          </a:p>
        </p:txBody>
      </p:sp>
      <p:sp>
        <p:nvSpPr>
          <p:cNvPr id="4" name="Slide Number Placeholder 3"/>
          <p:cNvSpPr>
            <a:spLocks noGrp="1"/>
          </p:cNvSpPr>
          <p:nvPr>
            <p:ph type="sldNum" sz="quarter" idx="5"/>
          </p:nvPr>
        </p:nvSpPr>
        <p:spPr/>
        <p:txBody>
          <a:bodyPr/>
          <a:lstStyle/>
          <a:p>
            <a:fld id="{7AC3E0EA-4A0F-4BC1-97EC-5D08BC9AF0C7}" type="slidenum">
              <a:rPr lang="en-US" smtClean="0"/>
              <a:t>11</a:t>
            </a:fld>
            <a:endParaRPr lang="en-US"/>
          </a:p>
        </p:txBody>
      </p:sp>
    </p:spTree>
    <p:extLst>
      <p:ext uri="{BB962C8B-B14F-4D97-AF65-F5344CB8AC3E}">
        <p14:creationId xmlns:p14="http://schemas.microsoft.com/office/powerpoint/2010/main" val="18965954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Common Mistake:</a:t>
            </a:r>
            <a:r>
              <a:rPr lang="en-US" sz="1200" kern="1200" dirty="0">
                <a:solidFill>
                  <a:schemeClr val="tx1"/>
                </a:solidFill>
                <a:effectLst/>
                <a:latin typeface="+mn-lt"/>
                <a:ea typeface="+mn-ea"/>
                <a:cs typeface="+mn-cs"/>
              </a:rPr>
              <a:t> Founders often attempt to hire a single "silver bullet" recruiter who can do everything, mixing two fundamentally distinct profiles: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Profile A — The System Builder:</a:t>
            </a:r>
            <a:r>
              <a:rPr lang="en-US" sz="1200" kern="1200" dirty="0">
                <a:solidFill>
                  <a:schemeClr val="tx1"/>
                </a:solidFill>
                <a:effectLst/>
                <a:latin typeface="+mn-lt"/>
                <a:ea typeface="+mn-ea"/>
                <a:cs typeface="+mn-cs"/>
              </a:rPr>
              <a:t> Focuses on foundation, processes, and tooling. </a:t>
            </a:r>
            <a:r>
              <a:rPr lang="en-US" sz="1200" i="1" kern="1200" dirty="0">
                <a:solidFill>
                  <a:schemeClr val="tx1"/>
                </a:solidFill>
                <a:effectLst/>
                <a:latin typeface="+mn-lt"/>
                <a:ea typeface="+mn-ea"/>
                <a:cs typeface="+mn-cs"/>
              </a:rPr>
              <a:t>The Trap:</a:t>
            </a:r>
            <a:r>
              <a:rPr lang="en-US" sz="1200" kern="1200" dirty="0">
                <a:solidFill>
                  <a:schemeClr val="tx1"/>
                </a:solidFill>
                <a:effectLst/>
                <a:latin typeface="+mn-lt"/>
                <a:ea typeface="+mn-ea"/>
                <a:cs typeface="+mn-cs"/>
              </a:rPr>
              <a:t> They might build great infrastructure, but struggle to close critical, immediate hires.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Profile B — The High-Motor Executor:</a:t>
            </a:r>
            <a:r>
              <a:rPr lang="en-US" sz="1200" kern="1200" dirty="0">
                <a:solidFill>
                  <a:schemeClr val="tx1"/>
                </a:solidFill>
                <a:effectLst/>
                <a:latin typeface="+mn-lt"/>
                <a:ea typeface="+mn-ea"/>
                <a:cs typeface="+mn-cs"/>
              </a:rPr>
              <a:t> Focuses on relentless hunting, outreach, and closing. </a:t>
            </a:r>
            <a:r>
              <a:rPr lang="en-US" sz="1200" i="1" kern="1200" dirty="0">
                <a:solidFill>
                  <a:schemeClr val="tx1"/>
                </a:solidFill>
                <a:effectLst/>
                <a:latin typeface="+mn-lt"/>
                <a:ea typeface="+mn-ea"/>
                <a:cs typeface="+mn-cs"/>
              </a:rPr>
              <a:t>The Trap:</a:t>
            </a:r>
            <a:r>
              <a:rPr lang="en-US" sz="1200" kern="1200" dirty="0">
                <a:solidFill>
                  <a:schemeClr val="tx1"/>
                </a:solidFill>
                <a:effectLst/>
                <a:latin typeface="+mn-lt"/>
                <a:ea typeface="+mn-ea"/>
                <a:cs typeface="+mn-cs"/>
              </a:rPr>
              <a:t> They make immediate hires, but leave no scalable recruiting infrastructure behind. </a:t>
            </a:r>
          </a:p>
          <a:p>
            <a:r>
              <a:rPr lang="en-US" sz="1200" b="1" kern="1200" dirty="0">
                <a:solidFill>
                  <a:schemeClr val="tx1"/>
                </a:solidFill>
                <a:effectLst/>
                <a:latin typeface="+mn-lt"/>
                <a:ea typeface="+mn-ea"/>
                <a:cs typeface="+mn-cs"/>
              </a:rPr>
              <a:t>The Solution:</a:t>
            </a:r>
            <a:r>
              <a:rPr lang="en-US" sz="1200" kern="1200" dirty="0">
                <a:solidFill>
                  <a:schemeClr val="tx1"/>
                </a:solidFill>
                <a:effectLst/>
                <a:latin typeface="+mn-lt"/>
                <a:ea typeface="+mn-ea"/>
                <a:cs typeface="+mn-cs"/>
              </a:rPr>
              <a:t> Choose one primary profile for your first internal hire, and pair them with external contractors or agencies to handle the complementary function. </a:t>
            </a:r>
          </a:p>
          <a:p>
            <a:endParaRPr lang="en-US" dirty="0"/>
          </a:p>
          <a:p>
            <a:endParaRPr lang="en-US" dirty="0"/>
          </a:p>
        </p:txBody>
      </p:sp>
      <p:sp>
        <p:nvSpPr>
          <p:cNvPr id="4" name="Slide Number Placeholder 3"/>
          <p:cNvSpPr>
            <a:spLocks noGrp="1"/>
          </p:cNvSpPr>
          <p:nvPr>
            <p:ph type="sldNum" sz="quarter" idx="5"/>
          </p:nvPr>
        </p:nvSpPr>
        <p:spPr/>
        <p:txBody>
          <a:bodyPr/>
          <a:lstStyle/>
          <a:p>
            <a:fld id="{7AC3E0EA-4A0F-4BC1-97EC-5D08BC9AF0C7}" type="slidenum">
              <a:rPr lang="en-US" smtClean="0"/>
              <a:t>12</a:t>
            </a:fld>
            <a:endParaRPr lang="en-US"/>
          </a:p>
        </p:txBody>
      </p:sp>
    </p:spTree>
    <p:extLst>
      <p:ext uri="{BB962C8B-B14F-4D97-AF65-F5344CB8AC3E}">
        <p14:creationId xmlns:p14="http://schemas.microsoft.com/office/powerpoint/2010/main" val="27227998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New Role — The Talent Engineer:</a:t>
            </a:r>
            <a:r>
              <a:rPr lang="en-US" sz="1200" kern="1200" dirty="0">
                <a:solidFill>
                  <a:schemeClr val="tx1"/>
                </a:solidFill>
                <a:effectLst/>
                <a:latin typeface="+mn-lt"/>
                <a:ea typeface="+mn-ea"/>
                <a:cs typeface="+mn-cs"/>
              </a:rPr>
              <a:t> We are entering an era where talent professionals combine system automation with high-touch human care. </a:t>
            </a:r>
          </a:p>
          <a:p>
            <a:r>
              <a:rPr lang="en-US" sz="1200" b="1" kern="1200" dirty="0">
                <a:solidFill>
                  <a:schemeClr val="tx1"/>
                </a:solidFill>
                <a:effectLst/>
                <a:latin typeface="+mn-lt"/>
                <a:ea typeface="+mn-ea"/>
                <a:cs typeface="+mn-cs"/>
              </a:rPr>
              <a:t>Summary Comparison (Funnel of Doom vs. Pillar of Excellence):</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i="1" kern="1200" dirty="0">
                <a:solidFill>
                  <a:schemeClr val="tx1"/>
                </a:solidFill>
                <a:effectLst/>
                <a:latin typeface="+mn-lt"/>
                <a:ea typeface="+mn-ea"/>
                <a:cs typeface="+mn-cs"/>
              </a:rPr>
              <a:t>Focus:</a:t>
            </a:r>
            <a:r>
              <a:rPr lang="en-US" sz="1200" kern="1200" dirty="0">
                <a:solidFill>
                  <a:schemeClr val="tx1"/>
                </a:solidFill>
                <a:effectLst/>
                <a:latin typeface="+mn-lt"/>
                <a:ea typeface="+mn-ea"/>
                <a:cs typeface="+mn-cs"/>
              </a:rPr>
              <a:t> Shift from volume and pass-through rates to identifying and engaging the Top 1%. </a:t>
            </a:r>
          </a:p>
          <a:p>
            <a:pPr marL="171450" indent="-171450">
              <a:buFont typeface="Arial" panose="020B0604020202020204" pitchFamily="34" charset="0"/>
              <a:buChar char="•"/>
            </a:pPr>
            <a:r>
              <a:rPr lang="en-US" sz="1200" i="1" kern="1200" dirty="0">
                <a:solidFill>
                  <a:schemeClr val="tx1"/>
                </a:solidFill>
                <a:effectLst/>
                <a:latin typeface="+mn-lt"/>
                <a:ea typeface="+mn-ea"/>
                <a:cs typeface="+mn-cs"/>
              </a:rPr>
              <a:t>Accountability:</a:t>
            </a:r>
            <a:r>
              <a:rPr lang="en-US" sz="1200" kern="1200" dirty="0">
                <a:solidFill>
                  <a:schemeClr val="tx1"/>
                </a:solidFill>
                <a:effectLst/>
                <a:latin typeface="+mn-lt"/>
                <a:ea typeface="+mn-ea"/>
                <a:cs typeface="+mn-cs"/>
              </a:rPr>
              <a:t> Shift from talent acquisition owning the goal in isolation to the hiring manager owning the ultimate hiring decision. </a:t>
            </a:r>
          </a:p>
          <a:p>
            <a:pPr marL="171450" indent="-171450">
              <a:buFont typeface="Arial" panose="020B0604020202020204" pitchFamily="34" charset="0"/>
              <a:buChar char="•"/>
            </a:pPr>
            <a:r>
              <a:rPr lang="en-US" sz="1200" i="1" kern="1200" dirty="0">
                <a:solidFill>
                  <a:schemeClr val="tx1"/>
                </a:solidFill>
                <a:effectLst/>
                <a:latin typeface="+mn-lt"/>
                <a:ea typeface="+mn-ea"/>
                <a:cs typeface="+mn-cs"/>
              </a:rPr>
              <a:t>Strategy:</a:t>
            </a:r>
            <a:r>
              <a:rPr lang="en-US" sz="1200" kern="1200" dirty="0">
                <a:solidFill>
                  <a:schemeClr val="tx1"/>
                </a:solidFill>
                <a:effectLst/>
                <a:latin typeface="+mn-lt"/>
                <a:ea typeface="+mn-ea"/>
                <a:cs typeface="+mn-cs"/>
              </a:rPr>
              <a:t> Move from broad sourcing nets to relentless, highly targeted outreach. </a:t>
            </a:r>
          </a:p>
          <a:p>
            <a:r>
              <a:rPr lang="en-US" sz="1200" b="1" kern="1200" dirty="0">
                <a:solidFill>
                  <a:schemeClr val="tx1"/>
                </a:solidFill>
                <a:effectLst/>
                <a:latin typeface="+mn-lt"/>
                <a:ea typeface="+mn-ea"/>
                <a:cs typeface="+mn-cs"/>
              </a:rPr>
              <a:t>Core Concepts to Remember:</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20% Response Trap:</a:t>
            </a:r>
            <a:r>
              <a:rPr lang="en-US" sz="1200" kern="1200" dirty="0">
                <a:solidFill>
                  <a:schemeClr val="tx1"/>
                </a:solidFill>
                <a:effectLst/>
                <a:latin typeface="+mn-lt"/>
                <a:ea typeface="+mn-ea"/>
                <a:cs typeface="+mn-cs"/>
              </a:rPr>
              <a:t> Reaching 100 people to get 20 responses measures availability, not excellence.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Sales Fallacy:</a:t>
            </a:r>
            <a:r>
              <a:rPr lang="en-US" sz="1200" kern="1200" dirty="0">
                <a:solidFill>
                  <a:schemeClr val="tx1"/>
                </a:solidFill>
                <a:effectLst/>
                <a:latin typeface="+mn-lt"/>
                <a:ea typeface="+mn-ea"/>
                <a:cs typeface="+mn-cs"/>
              </a:rPr>
              <a:t> Candidates are complex human partners, not linear sales widgets.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Work Trials:</a:t>
            </a:r>
            <a:r>
              <a:rPr lang="en-US" sz="1200" kern="1200" dirty="0">
                <a:solidFill>
                  <a:schemeClr val="tx1"/>
                </a:solidFill>
                <a:effectLst/>
                <a:latin typeface="+mn-lt"/>
                <a:ea typeface="+mn-ea"/>
                <a:cs typeface="+mn-cs"/>
              </a:rPr>
              <a:t> Practical work samples remain the single strongest predictor of mutual success.</a:t>
            </a:r>
          </a:p>
          <a:p>
            <a:pPr marL="0" indent="0">
              <a:buFont typeface="Arial" panose="020B0604020202020204" pitchFamily="34" charset="0"/>
              <a:buNone/>
            </a:pPr>
            <a:r>
              <a:rPr lang="en-US" b="1" dirty="0"/>
              <a:t>Closing Remark:</a:t>
            </a:r>
            <a:r>
              <a:rPr lang="en-US" dirty="0"/>
              <a:t> Caring is free. Engineering that care at scale across your talent engine is the ultimate competitive advantage.</a:t>
            </a:r>
            <a:endParaRPr lang="en-US" sz="1200" kern="1200" dirty="0">
              <a:solidFill>
                <a:schemeClr val="tx1"/>
              </a:solidFill>
              <a:effectLst/>
              <a:latin typeface="+mn-lt"/>
              <a:ea typeface="+mn-ea"/>
              <a:cs typeface="+mn-cs"/>
            </a:endParaRPr>
          </a:p>
          <a:p>
            <a:endParaRPr lang="en-US"/>
          </a:p>
          <a:p>
            <a:endParaRPr lang="en-US" dirty="0"/>
          </a:p>
        </p:txBody>
      </p:sp>
      <p:sp>
        <p:nvSpPr>
          <p:cNvPr id="4" name="Slide Number Placeholder 3"/>
          <p:cNvSpPr>
            <a:spLocks noGrp="1"/>
          </p:cNvSpPr>
          <p:nvPr>
            <p:ph type="sldNum" sz="quarter" idx="5"/>
          </p:nvPr>
        </p:nvSpPr>
        <p:spPr/>
        <p:txBody>
          <a:bodyPr/>
          <a:lstStyle/>
          <a:p>
            <a:fld id="{7AC3E0EA-4A0F-4BC1-97EC-5D08BC9AF0C7}" type="slidenum">
              <a:rPr lang="en-US" smtClean="0"/>
              <a:t>13</a:t>
            </a:fld>
            <a:endParaRPr lang="en-US"/>
          </a:p>
        </p:txBody>
      </p:sp>
    </p:spTree>
    <p:extLst>
      <p:ext uri="{BB962C8B-B14F-4D97-AF65-F5344CB8AC3E}">
        <p14:creationId xmlns:p14="http://schemas.microsoft.com/office/powerpoint/2010/main" val="15444634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C3E0EA-4A0F-4BC1-97EC-5D08BC9AF0C7}" type="slidenum">
              <a:rPr lang="en-US" smtClean="0"/>
              <a:t>14</a:t>
            </a:fld>
            <a:endParaRPr lang="en-US"/>
          </a:p>
        </p:txBody>
      </p:sp>
    </p:spTree>
    <p:extLst>
      <p:ext uri="{BB962C8B-B14F-4D97-AF65-F5344CB8AC3E}">
        <p14:creationId xmlns:p14="http://schemas.microsoft.com/office/powerpoint/2010/main" val="22106961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301ACE-A105-37E6-F8BF-04EC499E85C9}"/>
              </a:ext>
            </a:extLst>
          </p:cNvPr>
          <p:cNvSpPr>
            <a:spLocks noGrp="1"/>
          </p:cNvSpPr>
          <p:nvPr>
            <p:ph type="dt" sz="half" idx="10"/>
          </p:nvPr>
        </p:nvSpPr>
        <p:spPr/>
        <p:txBody>
          <a:bodyPr/>
          <a:lstStyle/>
          <a:p>
            <a:fld id="{080476A2-DC7A-4E87-B1A9-9A57E2D84323}" type="datetimeFigureOut">
              <a:rPr lang="en-US" smtClean="0"/>
              <a:t>10/20/2026</a:t>
            </a:fld>
            <a:endParaRPr lang="en-US"/>
          </a:p>
        </p:txBody>
      </p:sp>
      <p:sp>
        <p:nvSpPr>
          <p:cNvPr id="3" name="Footer Placeholder 2">
            <a:extLst>
              <a:ext uri="{FF2B5EF4-FFF2-40B4-BE49-F238E27FC236}">
                <a16:creationId xmlns:a16="http://schemas.microsoft.com/office/drawing/2014/main" id="{CAB2E9FB-0190-0BF4-4351-69E062D981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A2415D-B863-D2C5-91D9-9FFBAE8C26C0}"/>
              </a:ext>
            </a:extLst>
          </p:cNvPr>
          <p:cNvSpPr>
            <a:spLocks noGrp="1"/>
          </p:cNvSpPr>
          <p:nvPr>
            <p:ph type="sldNum" sz="quarter" idx="12"/>
          </p:nvPr>
        </p:nvSpPr>
        <p:spPr/>
        <p:txBody>
          <a:bodyPr/>
          <a:lstStyle/>
          <a:p>
            <a:fld id="{BBC4F392-42A0-4C7D-AA5C-F925571EFD6B}" type="slidenum">
              <a:rPr lang="en-US" smtClean="0"/>
              <a:t>‹#›</a:t>
            </a:fld>
            <a:endParaRPr lang="en-US"/>
          </a:p>
        </p:txBody>
      </p:sp>
    </p:spTree>
    <p:extLst>
      <p:ext uri="{BB962C8B-B14F-4D97-AF65-F5344CB8AC3E}">
        <p14:creationId xmlns:p14="http://schemas.microsoft.com/office/powerpoint/2010/main" val="18658192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C57D8E-18B2-92D6-CDCF-2B0DF0230F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7637360-E29C-B00E-D2D5-A821FA7B40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9A0C72-B236-30FF-E276-6DD3DDCC91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0476A2-DC7A-4E87-B1A9-9A57E2D84323}" type="datetimeFigureOut">
              <a:rPr lang="en-US" smtClean="0"/>
              <a:t>10/20/2026</a:t>
            </a:fld>
            <a:endParaRPr lang="en-US"/>
          </a:p>
        </p:txBody>
      </p:sp>
      <p:sp>
        <p:nvSpPr>
          <p:cNvPr id="5" name="Footer Placeholder 4">
            <a:extLst>
              <a:ext uri="{FF2B5EF4-FFF2-40B4-BE49-F238E27FC236}">
                <a16:creationId xmlns:a16="http://schemas.microsoft.com/office/drawing/2014/main" id="{59546FE6-7A66-DFD0-8EAF-15D8B46D96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2944AEA-3DD0-267E-98C2-A24682D871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C4F392-42A0-4C7D-AA5C-F925571EFD6B}" type="slidenum">
              <a:rPr lang="en-US" smtClean="0"/>
              <a:t>‹#›</a:t>
            </a:fld>
            <a:endParaRPr lang="en-US"/>
          </a:p>
        </p:txBody>
      </p:sp>
    </p:spTree>
    <p:extLst>
      <p:ext uri="{BB962C8B-B14F-4D97-AF65-F5344CB8AC3E}">
        <p14:creationId xmlns:p14="http://schemas.microsoft.com/office/powerpoint/2010/main" val="2861716302"/>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C771EA-541C-0DB7-D8D0-2C1C0B230EF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E8E2BC-5D59-E647-8087-31A18C4A689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6D968F-11F0-5ECD-D87D-34E25ABC48C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D28999F-2C49-625D-54B7-23E7AD6DD31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C302F4-5CBD-F14B-2B3A-1985BA78F41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A521D9-E69A-6E72-546C-5B13F9BD330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3C0752-3405-70FF-FA3E-89EA4DFA5AD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FB025B-221C-5B94-5EEB-EBA84C77B4A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66D4FEC-8004-2B39-FA8F-5D936F8D5F8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2E1BAA-E4DD-26E1-F2BD-811DA791567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D71B04F-1A8E-6D33-414D-48459C2FDC7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BFECC5-B0A7-16DB-F401-C360A289E77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371D2E-7DC1-2D42-14D1-FBB5B53800E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02E09D-F644-D2E3-D39D-8716F2564B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83504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1734</Words>
  <Application>Microsoft Office PowerPoint</Application>
  <PresentationFormat>寬螢幕</PresentationFormat>
  <Paragraphs>111</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3</cp:revision>
  <dcterms:created xsi:type="dcterms:W3CDTF">2026-08-14T10:49:56Z</dcterms:created>
  <dcterms:modified xsi:type="dcterms:W3CDTF">2026-10-20T13:22:45Z</dcterms:modified>
</cp:coreProperties>
</file>