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CF7C05-298A-432F-8BE3-D1C3958B29A2}" v="20" dt="2026-08-20T07:29:02.4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1" autoAdjust="0"/>
    <p:restoredTop sz="68091"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8-20T07:29:28.320" v="123" actId="166"/>
      <pc:docMkLst>
        <pc:docMk/>
      </pc:docMkLst>
      <pc:sldChg chg="addSp delSp modSp mod modAnim modNotes modNotesTx">
        <pc:chgData name="Lai, Wilson" userId="2840974a-0d84-4886-90a9-9a3ed79f3a48" providerId="ADAL" clId="{9F23B798-9E84-4552-BA63-E776E805C424}" dt="2026-08-20T07:29:28.320" v="123" actId="166"/>
        <pc:sldMkLst>
          <pc:docMk/>
          <pc:sldMk cId="0" sldId="257"/>
        </pc:sldMkLst>
        <pc:spChg chg="add mod">
          <ac:chgData name="Lai, Wilson" userId="2840974a-0d84-4886-90a9-9a3ed79f3a48" providerId="ADAL" clId="{9F23B798-9E84-4552-BA63-E776E805C424}" dt="2026-08-19T18:38:43.554" v="33" actId="164"/>
          <ac:spMkLst>
            <pc:docMk/>
            <pc:sldMk cId="0" sldId="257"/>
            <ac:spMk id="5" creationId="{1D0B873A-B5A6-FFC1-DE31-31EC9CB6AD91}"/>
          </ac:spMkLst>
        </pc:spChg>
        <pc:spChg chg="add mod">
          <ac:chgData name="Lai, Wilson" userId="2840974a-0d84-4886-90a9-9a3ed79f3a48" providerId="ADAL" clId="{9F23B798-9E84-4552-BA63-E776E805C424}" dt="2026-08-19T18:40:06.237" v="41" actId="164"/>
          <ac:spMkLst>
            <pc:docMk/>
            <pc:sldMk cId="0" sldId="257"/>
            <ac:spMk id="8" creationId="{32C6C693-E0C2-F90F-C3A3-57164EA760E6}"/>
          </ac:spMkLst>
        </pc:spChg>
        <pc:grpChg chg="add del mod">
          <ac:chgData name="Lai, Wilson" userId="2840974a-0d84-4886-90a9-9a3ed79f3a48" providerId="ADAL" clId="{9F23B798-9E84-4552-BA63-E776E805C424}" dt="2026-08-19T18:40:15.712" v="42" actId="21"/>
          <ac:grpSpMkLst>
            <pc:docMk/>
            <pc:sldMk cId="0" sldId="257"/>
            <ac:grpSpMk id="6" creationId="{5B72F624-83D9-81E8-A0C6-07A5AC7FD023}"/>
          </ac:grpSpMkLst>
        </pc:grpChg>
        <pc:grpChg chg="add mod">
          <ac:chgData name="Lai, Wilson" userId="2840974a-0d84-4886-90a9-9a3ed79f3a48" providerId="ADAL" clId="{9F23B798-9E84-4552-BA63-E776E805C424}" dt="2026-08-19T18:40:58.279" v="45" actId="1076"/>
          <ac:grpSpMkLst>
            <pc:docMk/>
            <pc:sldMk cId="0" sldId="257"/>
            <ac:grpSpMk id="9" creationId="{0D202826-3D17-1EFC-C3B0-8263BA1D7FDD}"/>
          </ac:grpSpMkLst>
        </pc:grpChg>
        <pc:picChg chg="del">
          <ac:chgData name="Lai, Wilson" userId="2840974a-0d84-4886-90a9-9a3ed79f3a48" providerId="ADAL" clId="{9F23B798-9E84-4552-BA63-E776E805C424}" dt="2026-08-19T18:26:48.752" v="1" actId="21"/>
          <ac:picMkLst>
            <pc:docMk/>
            <pc:sldMk cId="0" sldId="257"/>
            <ac:picMk id="2" creationId="{00000000-0000-0000-0000-000000000000}"/>
          </ac:picMkLst>
        </pc:picChg>
        <pc:picChg chg="add mod">
          <ac:chgData name="Lai, Wilson" userId="2840974a-0d84-4886-90a9-9a3ed79f3a48" providerId="ADAL" clId="{9F23B798-9E84-4552-BA63-E776E805C424}" dt="2026-08-19T18:38:43.554" v="33" actId="164"/>
          <ac:picMkLst>
            <pc:docMk/>
            <pc:sldMk cId="0" sldId="257"/>
            <ac:picMk id="2" creationId="{2D501D94-3DE5-6BC6-A94A-E65DD1E31D33}"/>
          </ac:picMkLst>
        </pc:picChg>
        <pc:picChg chg="add mod">
          <ac:chgData name="Lai, Wilson" userId="2840974a-0d84-4886-90a9-9a3ed79f3a48" providerId="ADAL" clId="{9F23B798-9E84-4552-BA63-E776E805C424}" dt="2026-08-19T18:40:06.237" v="41" actId="164"/>
          <ac:picMkLst>
            <pc:docMk/>
            <pc:sldMk cId="0" sldId="257"/>
            <ac:picMk id="3" creationId="{92211B69-46F3-8C02-0667-57AD8B5DFA1E}"/>
          </ac:picMkLst>
        </pc:picChg>
        <pc:picChg chg="add mod ord">
          <ac:chgData name="Lai, Wilson" userId="2840974a-0d84-4886-90a9-9a3ed79f3a48" providerId="ADAL" clId="{9F23B798-9E84-4552-BA63-E776E805C424}" dt="2026-08-20T07:29:28.320" v="123" actId="166"/>
          <ac:picMkLst>
            <pc:docMk/>
            <pc:sldMk cId="0" sldId="257"/>
            <ac:picMk id="4" creationId="{26D91663-9E8C-057D-A60A-F4AED4DBD1E2}"/>
          </ac:picMkLst>
        </pc:picChg>
      </pc:sldChg>
      <pc:sldChg chg="addSp delSp mod modNotes modNotesTx">
        <pc:chgData name="Lai, Wilson" userId="2840974a-0d84-4886-90a9-9a3ed79f3a48" providerId="ADAL" clId="{9F23B798-9E84-4552-BA63-E776E805C424}" dt="2026-08-20T07:29:02.410" v="114"/>
        <pc:sldMkLst>
          <pc:docMk/>
          <pc:sldMk cId="0" sldId="258"/>
        </pc:sldMkLst>
        <pc:picChg chg="del">
          <ac:chgData name="Lai, Wilson" userId="2840974a-0d84-4886-90a9-9a3ed79f3a48" providerId="ADAL" clId="{9F23B798-9E84-4552-BA63-E776E805C424}" dt="2026-08-19T18:27:05.898" v="3" actId="21"/>
          <ac:picMkLst>
            <pc:docMk/>
            <pc:sldMk cId="0" sldId="258"/>
            <ac:picMk id="2" creationId="{00000000-0000-0000-0000-000000000000}"/>
          </ac:picMkLst>
        </pc:picChg>
        <pc:picChg chg="add">
          <ac:chgData name="Lai, Wilson" userId="2840974a-0d84-4886-90a9-9a3ed79f3a48" providerId="ADAL" clId="{9F23B798-9E84-4552-BA63-E776E805C424}" dt="2026-08-19T18:27:20.557" v="4" actId="22"/>
          <ac:picMkLst>
            <pc:docMk/>
            <pc:sldMk cId="0" sldId="258"/>
            <ac:picMk id="4" creationId="{0A9FC742-CA3D-1ECB-D4DE-A7436CCE78DC}"/>
          </ac:picMkLst>
        </pc:picChg>
      </pc:sldChg>
      <pc:sldChg chg="addSp delSp mod modNotes modNotesTx">
        <pc:chgData name="Lai, Wilson" userId="2840974a-0d84-4886-90a9-9a3ed79f3a48" providerId="ADAL" clId="{9F23B798-9E84-4552-BA63-E776E805C424}" dt="2026-08-20T07:29:02.410" v="114"/>
        <pc:sldMkLst>
          <pc:docMk/>
          <pc:sldMk cId="0" sldId="259"/>
        </pc:sldMkLst>
        <pc:picChg chg="del">
          <ac:chgData name="Lai, Wilson" userId="2840974a-0d84-4886-90a9-9a3ed79f3a48" providerId="ADAL" clId="{9F23B798-9E84-4552-BA63-E776E805C424}" dt="2026-08-19T18:27:24.652" v="5" actId="21"/>
          <ac:picMkLst>
            <pc:docMk/>
            <pc:sldMk cId="0" sldId="259"/>
            <ac:picMk id="2" creationId="{00000000-0000-0000-0000-000000000000}"/>
          </ac:picMkLst>
        </pc:picChg>
        <pc:picChg chg="add">
          <ac:chgData name="Lai, Wilson" userId="2840974a-0d84-4886-90a9-9a3ed79f3a48" providerId="ADAL" clId="{9F23B798-9E84-4552-BA63-E776E805C424}" dt="2026-08-19T18:27:39.953" v="6" actId="22"/>
          <ac:picMkLst>
            <pc:docMk/>
            <pc:sldMk cId="0" sldId="259"/>
            <ac:picMk id="4" creationId="{9293C310-6CAF-A8F3-CF30-C83781EE99A2}"/>
          </ac:picMkLst>
        </pc:picChg>
      </pc:sldChg>
      <pc:sldChg chg="addSp delSp mod modNotes modNotesTx">
        <pc:chgData name="Lai, Wilson" userId="2840974a-0d84-4886-90a9-9a3ed79f3a48" providerId="ADAL" clId="{9F23B798-9E84-4552-BA63-E776E805C424}" dt="2026-08-20T07:29:02.410" v="114"/>
        <pc:sldMkLst>
          <pc:docMk/>
          <pc:sldMk cId="0" sldId="260"/>
        </pc:sldMkLst>
        <pc:picChg chg="del">
          <ac:chgData name="Lai, Wilson" userId="2840974a-0d84-4886-90a9-9a3ed79f3a48" providerId="ADAL" clId="{9F23B798-9E84-4552-BA63-E776E805C424}" dt="2026-08-19T18:27:48.434" v="7" actId="21"/>
          <ac:picMkLst>
            <pc:docMk/>
            <pc:sldMk cId="0" sldId="260"/>
            <ac:picMk id="2" creationId="{00000000-0000-0000-0000-000000000000}"/>
          </ac:picMkLst>
        </pc:picChg>
        <pc:picChg chg="add">
          <ac:chgData name="Lai, Wilson" userId="2840974a-0d84-4886-90a9-9a3ed79f3a48" providerId="ADAL" clId="{9F23B798-9E84-4552-BA63-E776E805C424}" dt="2026-08-19T18:28:02.357" v="8" actId="22"/>
          <ac:picMkLst>
            <pc:docMk/>
            <pc:sldMk cId="0" sldId="260"/>
            <ac:picMk id="4" creationId="{98336C97-064D-3C66-C9B2-47867CA43C00}"/>
          </ac:picMkLst>
        </pc:picChg>
      </pc:sldChg>
      <pc:sldChg chg="addSp delSp mod modNotes modNotesTx">
        <pc:chgData name="Lai, Wilson" userId="2840974a-0d84-4886-90a9-9a3ed79f3a48" providerId="ADAL" clId="{9F23B798-9E84-4552-BA63-E776E805C424}" dt="2026-08-20T07:29:02.410" v="114"/>
        <pc:sldMkLst>
          <pc:docMk/>
          <pc:sldMk cId="0" sldId="261"/>
        </pc:sldMkLst>
        <pc:picChg chg="del">
          <ac:chgData name="Lai, Wilson" userId="2840974a-0d84-4886-90a9-9a3ed79f3a48" providerId="ADAL" clId="{9F23B798-9E84-4552-BA63-E776E805C424}" dt="2026-08-19T18:28:05.467" v="9" actId="21"/>
          <ac:picMkLst>
            <pc:docMk/>
            <pc:sldMk cId="0" sldId="261"/>
            <ac:picMk id="2" creationId="{00000000-0000-0000-0000-000000000000}"/>
          </ac:picMkLst>
        </pc:picChg>
        <pc:picChg chg="add">
          <ac:chgData name="Lai, Wilson" userId="2840974a-0d84-4886-90a9-9a3ed79f3a48" providerId="ADAL" clId="{9F23B798-9E84-4552-BA63-E776E805C424}" dt="2026-08-19T18:28:14.957" v="10" actId="22"/>
          <ac:picMkLst>
            <pc:docMk/>
            <pc:sldMk cId="0" sldId="261"/>
            <ac:picMk id="4" creationId="{8A6E5738-3A33-CB67-0BA6-DE83C4CEFA36}"/>
          </ac:picMkLst>
        </pc:picChg>
      </pc:sldChg>
      <pc:sldChg chg="addSp delSp mod modNotes modNotesTx">
        <pc:chgData name="Lai, Wilson" userId="2840974a-0d84-4886-90a9-9a3ed79f3a48" providerId="ADAL" clId="{9F23B798-9E84-4552-BA63-E776E805C424}" dt="2026-08-20T07:29:02.410" v="114"/>
        <pc:sldMkLst>
          <pc:docMk/>
          <pc:sldMk cId="0" sldId="262"/>
        </pc:sldMkLst>
        <pc:picChg chg="del">
          <ac:chgData name="Lai, Wilson" userId="2840974a-0d84-4886-90a9-9a3ed79f3a48" providerId="ADAL" clId="{9F23B798-9E84-4552-BA63-E776E805C424}" dt="2026-08-19T18:28:17.350" v="11" actId="21"/>
          <ac:picMkLst>
            <pc:docMk/>
            <pc:sldMk cId="0" sldId="262"/>
            <ac:picMk id="2" creationId="{00000000-0000-0000-0000-000000000000}"/>
          </ac:picMkLst>
        </pc:picChg>
        <pc:picChg chg="add">
          <ac:chgData name="Lai, Wilson" userId="2840974a-0d84-4886-90a9-9a3ed79f3a48" providerId="ADAL" clId="{9F23B798-9E84-4552-BA63-E776E805C424}" dt="2026-08-19T18:29:14.052" v="12" actId="22"/>
          <ac:picMkLst>
            <pc:docMk/>
            <pc:sldMk cId="0" sldId="262"/>
            <ac:picMk id="4" creationId="{F231F5CD-991F-9ECF-AB85-EC2C1C80547D}"/>
          </ac:picMkLst>
        </pc:picChg>
      </pc:sldChg>
      <pc:sldChg chg="addSp delSp mod modNotes modNotesTx">
        <pc:chgData name="Lai, Wilson" userId="2840974a-0d84-4886-90a9-9a3ed79f3a48" providerId="ADAL" clId="{9F23B798-9E84-4552-BA63-E776E805C424}" dt="2026-08-20T07:29:19.843" v="122" actId="313"/>
        <pc:sldMkLst>
          <pc:docMk/>
          <pc:sldMk cId="0" sldId="263"/>
        </pc:sldMkLst>
        <pc:picChg chg="del">
          <ac:chgData name="Lai, Wilson" userId="2840974a-0d84-4886-90a9-9a3ed79f3a48" providerId="ADAL" clId="{9F23B798-9E84-4552-BA63-E776E805C424}" dt="2026-08-19T18:29:20.717" v="13" actId="21"/>
          <ac:picMkLst>
            <pc:docMk/>
            <pc:sldMk cId="0" sldId="263"/>
            <ac:picMk id="2" creationId="{00000000-0000-0000-0000-000000000000}"/>
          </ac:picMkLst>
        </pc:picChg>
        <pc:picChg chg="add">
          <ac:chgData name="Lai, Wilson" userId="2840974a-0d84-4886-90a9-9a3ed79f3a48" providerId="ADAL" clId="{9F23B798-9E84-4552-BA63-E776E805C424}" dt="2026-08-19T18:29:33.337" v="14" actId="22"/>
          <ac:picMkLst>
            <pc:docMk/>
            <pc:sldMk cId="0" sldId="263"/>
            <ac:picMk id="4" creationId="{1BA60163-AEAA-C301-C365-F5A5A9874331}"/>
          </ac:picMkLst>
        </pc:picChg>
      </pc:sldChg>
      <pc:sldChg chg="addSp delSp mod modNotes modNotesTx">
        <pc:chgData name="Lai, Wilson" userId="2840974a-0d84-4886-90a9-9a3ed79f3a48" providerId="ADAL" clId="{9F23B798-9E84-4552-BA63-E776E805C424}" dt="2026-08-20T07:29:02.410" v="114"/>
        <pc:sldMkLst>
          <pc:docMk/>
          <pc:sldMk cId="0" sldId="264"/>
        </pc:sldMkLst>
        <pc:picChg chg="del">
          <ac:chgData name="Lai, Wilson" userId="2840974a-0d84-4886-90a9-9a3ed79f3a48" providerId="ADAL" clId="{9F23B798-9E84-4552-BA63-E776E805C424}" dt="2026-08-19T18:29:40.031" v="15" actId="21"/>
          <ac:picMkLst>
            <pc:docMk/>
            <pc:sldMk cId="0" sldId="264"/>
            <ac:picMk id="2" creationId="{00000000-0000-0000-0000-000000000000}"/>
          </ac:picMkLst>
        </pc:picChg>
        <pc:picChg chg="add">
          <ac:chgData name="Lai, Wilson" userId="2840974a-0d84-4886-90a9-9a3ed79f3a48" providerId="ADAL" clId="{9F23B798-9E84-4552-BA63-E776E805C424}" dt="2026-08-19T18:29:54.067" v="16" actId="22"/>
          <ac:picMkLst>
            <pc:docMk/>
            <pc:sldMk cId="0" sldId="264"/>
            <ac:picMk id="4" creationId="{E702CAC5-026C-5758-557E-B299CF0E8AB4}"/>
          </ac:picMkLst>
        </pc:picChg>
      </pc:sldChg>
      <pc:sldChg chg="addSp delSp mod modNotes modNotesTx">
        <pc:chgData name="Lai, Wilson" userId="2840974a-0d84-4886-90a9-9a3ed79f3a48" providerId="ADAL" clId="{9F23B798-9E84-4552-BA63-E776E805C424}" dt="2026-08-20T07:29:02.410" v="114"/>
        <pc:sldMkLst>
          <pc:docMk/>
          <pc:sldMk cId="0" sldId="265"/>
        </pc:sldMkLst>
        <pc:picChg chg="del">
          <ac:chgData name="Lai, Wilson" userId="2840974a-0d84-4886-90a9-9a3ed79f3a48" providerId="ADAL" clId="{9F23B798-9E84-4552-BA63-E776E805C424}" dt="2026-08-19T18:32:10.296" v="23" actId="21"/>
          <ac:picMkLst>
            <pc:docMk/>
            <pc:sldMk cId="0" sldId="265"/>
            <ac:picMk id="2" creationId="{00000000-0000-0000-0000-000000000000}"/>
          </ac:picMkLst>
        </pc:picChg>
        <pc:picChg chg="add">
          <ac:chgData name="Lai, Wilson" userId="2840974a-0d84-4886-90a9-9a3ed79f3a48" providerId="ADAL" clId="{9F23B798-9E84-4552-BA63-E776E805C424}" dt="2026-08-19T18:32:27.264" v="24" actId="22"/>
          <ac:picMkLst>
            <pc:docMk/>
            <pc:sldMk cId="0" sldId="265"/>
            <ac:picMk id="4" creationId="{C3EA6C16-5ADC-4810-2022-3CBC68E5DF06}"/>
          </ac:picMkLst>
        </pc:picChg>
      </pc:sldChg>
      <pc:sldChg chg="addSp delSp mod modNotes modNotesTx">
        <pc:chgData name="Lai, Wilson" userId="2840974a-0d84-4886-90a9-9a3ed79f3a48" providerId="ADAL" clId="{9F23B798-9E84-4552-BA63-E776E805C424}" dt="2026-08-20T07:29:02.410" v="114"/>
        <pc:sldMkLst>
          <pc:docMk/>
          <pc:sldMk cId="0" sldId="266"/>
        </pc:sldMkLst>
        <pc:picChg chg="del">
          <ac:chgData name="Lai, Wilson" userId="2840974a-0d84-4886-90a9-9a3ed79f3a48" providerId="ADAL" clId="{9F23B798-9E84-4552-BA63-E776E805C424}" dt="2026-08-19T18:31:52.811" v="21" actId="21"/>
          <ac:picMkLst>
            <pc:docMk/>
            <pc:sldMk cId="0" sldId="266"/>
            <ac:picMk id="2" creationId="{00000000-0000-0000-0000-000000000000}"/>
          </ac:picMkLst>
        </pc:picChg>
        <pc:picChg chg="add">
          <ac:chgData name="Lai, Wilson" userId="2840974a-0d84-4886-90a9-9a3ed79f3a48" providerId="ADAL" clId="{9F23B798-9E84-4552-BA63-E776E805C424}" dt="2026-08-19T18:32:05.821" v="22" actId="22"/>
          <ac:picMkLst>
            <pc:docMk/>
            <pc:sldMk cId="0" sldId="266"/>
            <ac:picMk id="4" creationId="{4BBF01C0-2EB4-8186-47AE-6238EFEB8AAB}"/>
          </ac:picMkLst>
        </pc:picChg>
      </pc:sldChg>
      <pc:sldChg chg="addSp delSp mod modNotes modNotesTx">
        <pc:chgData name="Lai, Wilson" userId="2840974a-0d84-4886-90a9-9a3ed79f3a48" providerId="ADAL" clId="{9F23B798-9E84-4552-BA63-E776E805C424}" dt="2026-08-20T07:29:02.410" v="114"/>
        <pc:sldMkLst>
          <pc:docMk/>
          <pc:sldMk cId="0" sldId="267"/>
        </pc:sldMkLst>
        <pc:picChg chg="del">
          <ac:chgData name="Lai, Wilson" userId="2840974a-0d84-4886-90a9-9a3ed79f3a48" providerId="ADAL" clId="{9F23B798-9E84-4552-BA63-E776E805C424}" dt="2026-08-19T18:30:28.627" v="19" actId="21"/>
          <ac:picMkLst>
            <pc:docMk/>
            <pc:sldMk cId="0" sldId="267"/>
            <ac:picMk id="2" creationId="{00000000-0000-0000-0000-000000000000}"/>
          </ac:picMkLst>
        </pc:picChg>
        <pc:picChg chg="add">
          <ac:chgData name="Lai, Wilson" userId="2840974a-0d84-4886-90a9-9a3ed79f3a48" providerId="ADAL" clId="{9F23B798-9E84-4552-BA63-E776E805C424}" dt="2026-08-19T18:31:47.068" v="20" actId="22"/>
          <ac:picMkLst>
            <pc:docMk/>
            <pc:sldMk cId="0" sldId="267"/>
            <ac:picMk id="4" creationId="{0FE3382C-F8DC-3768-D60D-CC6E776F996C}"/>
          </ac:picMkLst>
        </pc:picChg>
      </pc:sldChg>
      <pc:sldChg chg="addSp delSp mod modNotes modNotesTx">
        <pc:chgData name="Lai, Wilson" userId="2840974a-0d84-4886-90a9-9a3ed79f3a48" providerId="ADAL" clId="{9F23B798-9E84-4552-BA63-E776E805C424}" dt="2026-08-20T07:29:02.410" v="114"/>
        <pc:sldMkLst>
          <pc:docMk/>
          <pc:sldMk cId="0" sldId="268"/>
        </pc:sldMkLst>
        <pc:picChg chg="del">
          <ac:chgData name="Lai, Wilson" userId="2840974a-0d84-4886-90a9-9a3ed79f3a48" providerId="ADAL" clId="{9F23B798-9E84-4552-BA63-E776E805C424}" dt="2026-08-19T18:29:57.028" v="17" actId="21"/>
          <ac:picMkLst>
            <pc:docMk/>
            <pc:sldMk cId="0" sldId="268"/>
            <ac:picMk id="2" creationId="{00000000-0000-0000-0000-000000000000}"/>
          </ac:picMkLst>
        </pc:picChg>
        <pc:picChg chg="add">
          <ac:chgData name="Lai, Wilson" userId="2840974a-0d84-4886-90a9-9a3ed79f3a48" providerId="ADAL" clId="{9F23B798-9E84-4552-BA63-E776E805C424}" dt="2026-08-19T18:30:11.302" v="18" actId="22"/>
          <ac:picMkLst>
            <pc:docMk/>
            <pc:sldMk cId="0" sldId="268"/>
            <ac:picMk id="4" creationId="{53DD7800-CF4A-B2EF-B7F4-0B5BCE860155}"/>
          </ac:picMkLst>
        </pc:picChg>
      </pc:sldChg>
      <pc:sldChg chg="modNotes modNotesTx">
        <pc:chgData name="Lai, Wilson" userId="2840974a-0d84-4886-90a9-9a3ed79f3a48" providerId="ADAL" clId="{9F23B798-9E84-4552-BA63-E776E805C424}" dt="2026-08-20T07:29:02.410" v="114"/>
        <pc:sldMkLst>
          <pc:docMk/>
          <pc:sldMk cId="1501357718" sldId="269"/>
        </pc:sldMkLst>
      </pc:sldChg>
      <pc:sldMasterChg chg="setBg">
        <pc:chgData name="Lai, Wilson" userId="2840974a-0d84-4886-90a9-9a3ed79f3a48" providerId="ADAL" clId="{9F23B798-9E84-4552-BA63-E776E805C424}" dt="2026-08-19T18:14:18.402" v="0"/>
        <pc:sldMasterMkLst>
          <pc:docMk/>
          <pc:sldMasterMk cId="3777287375"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204D11-13F5-46DE-9D64-13E019B5979C}"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D36018-2FDE-4D1A-9D5E-D0D73D9C4F15}" type="slidenum">
              <a:rPr lang="en-US" smtClean="0"/>
              <a:t>‹#›</a:t>
            </a:fld>
            <a:endParaRPr lang="en-US"/>
          </a:p>
        </p:txBody>
      </p:sp>
    </p:spTree>
    <p:extLst>
      <p:ext uri="{BB962C8B-B14F-4D97-AF65-F5344CB8AC3E}">
        <p14:creationId xmlns:p14="http://schemas.microsoft.com/office/powerpoint/2010/main" val="2578193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Good morning/afternoon, everyone. Welcome to today’s presentation. Today, we’re addressing a major structural shift in the global AI landscape: how severe constraints in hardware and capital have fundamentally altered AI development strategies in China. Over the past year, open-weight and open-source releases coming out of China—such as Moonshot’s Kimi K3 and DeepSeek—have sent shockwaves through Silicon Valley. They’ve prompted serious strategic re-evaluations across frontier AI labs, developer communities, and venture capital ecosystems worldwide. </a:t>
            </a:r>
          </a:p>
          <a:p>
            <a:pPr lvl="0"/>
            <a:r>
              <a:rPr lang="en-US" sz="1200" b="1" kern="1200" dirty="0">
                <a:solidFill>
                  <a:schemeClr val="tx1"/>
                </a:solidFill>
                <a:effectLst/>
                <a:latin typeface="+mn-lt"/>
                <a:ea typeface="+mn-ea"/>
                <a:cs typeface="+mn-cs"/>
              </a:rPr>
              <a:t>Core Thesis: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mainstream Western narrative often assumes that frontier AI can only advance by scaling up compute power—more H100 GPUs, bigger data centers, and multi-billion-dollar training runs. However, as 5Y Capital’s Meng Xing noted in his recent interview with </a:t>
            </a:r>
            <a:r>
              <a:rPr lang="en-US" sz="1200" i="1" kern="1200" dirty="0">
                <a:solidFill>
                  <a:schemeClr val="tx1"/>
                </a:solidFill>
                <a:effectLst/>
                <a:latin typeface="+mn-lt"/>
                <a:ea typeface="+mn-ea"/>
                <a:cs typeface="+mn-cs"/>
              </a:rPr>
              <a:t>Silicon Valley 101</a:t>
            </a:r>
            <a:r>
              <a:rPr lang="en-US" sz="1200" kern="1200" dirty="0">
                <a:solidFill>
                  <a:schemeClr val="tx1"/>
                </a:solidFill>
                <a:effectLst/>
                <a:latin typeface="+mn-lt"/>
                <a:ea typeface="+mn-ea"/>
                <a:cs typeface="+mn-cs"/>
              </a:rPr>
              <a:t>, when you place extreme resource scarcity on world-class engineering talent, you force architectural efficiency rather than brute-force scaling. The constraint itself becomes the catalyst for innovation. </a:t>
            </a:r>
          </a:p>
          <a:p>
            <a:pPr lvl="0"/>
            <a:r>
              <a:rPr lang="en-US" sz="1200" b="1" kern="1200" dirty="0">
                <a:solidFill>
                  <a:schemeClr val="tx1"/>
                </a:solidFill>
                <a:effectLst/>
                <a:latin typeface="+mn-lt"/>
                <a:ea typeface="+mn-ea"/>
                <a:cs typeface="+mn-cs"/>
              </a:rPr>
              <a:t>What We Will Cover:</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Over the next 12 slides, we will dissect this dynamic across four key dimensions: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Talent &amp; Culture:</a:t>
            </a:r>
            <a:r>
              <a:rPr lang="en-US" sz="1200" kern="1200" dirty="0">
                <a:solidFill>
                  <a:schemeClr val="tx1"/>
                </a:solidFill>
                <a:effectLst/>
                <a:latin typeface="+mn-lt"/>
                <a:ea typeface="+mn-ea"/>
                <a:cs typeface="+mn-cs"/>
              </a:rPr>
              <a:t> How young, agile engineering teams are beating legacy tech giants.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Architectural Breakthroughs:</a:t>
            </a:r>
            <a:r>
              <a:rPr lang="en-US" sz="1200" kern="1200" dirty="0">
                <a:solidFill>
                  <a:schemeClr val="tx1"/>
                </a:solidFill>
                <a:effectLst/>
                <a:latin typeface="+mn-lt"/>
                <a:ea typeface="+mn-ea"/>
                <a:cs typeface="+mn-cs"/>
              </a:rPr>
              <a:t> Innovations like KDA and Sparse Attention (DSA).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Economic Disruption:</a:t>
            </a:r>
            <a:r>
              <a:rPr lang="en-US" sz="1200" kern="1200" dirty="0">
                <a:solidFill>
                  <a:schemeClr val="tx1"/>
                </a:solidFill>
                <a:effectLst/>
                <a:latin typeface="+mn-lt"/>
                <a:ea typeface="+mn-ea"/>
                <a:cs typeface="+mn-cs"/>
              </a:rPr>
              <a:t> The shifting token economy and developer migration.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Vertical AI &amp; Future Paradigms:</a:t>
            </a:r>
            <a:r>
              <a:rPr lang="en-US" sz="1200" kern="1200" dirty="0">
                <a:solidFill>
                  <a:schemeClr val="tx1"/>
                </a:solidFill>
                <a:effectLst/>
                <a:latin typeface="+mn-lt"/>
                <a:ea typeface="+mn-ea"/>
                <a:cs typeface="+mn-cs"/>
              </a:rPr>
              <a:t> The rise of </a:t>
            </a:r>
            <a:r>
              <a:rPr lang="en-US" sz="1200" kern="1200" dirty="0" err="1">
                <a:solidFill>
                  <a:schemeClr val="tx1"/>
                </a:solidFill>
                <a:effectLst/>
                <a:latin typeface="+mn-lt"/>
                <a:ea typeface="+mn-ea"/>
                <a:cs typeface="+mn-cs"/>
              </a:rPr>
              <a:t>Neolabs</a:t>
            </a:r>
            <a:r>
              <a:rPr lang="en-US" sz="1200" kern="1200" dirty="0">
                <a:solidFill>
                  <a:schemeClr val="tx1"/>
                </a:solidFill>
                <a:effectLst/>
                <a:latin typeface="+mn-lt"/>
                <a:ea typeface="+mn-ea"/>
                <a:cs typeface="+mn-cs"/>
              </a:rPr>
              <a:t>, AI short films, and AI for Science. </a:t>
            </a:r>
          </a:p>
          <a:p>
            <a:endParaRPr lang="en-US" dirty="0"/>
          </a:p>
          <a:p>
            <a:endParaRPr lang="en-US" dirty="0"/>
          </a:p>
          <a:p>
            <a:r>
              <a:rPr lang="en-US" dirty="0"/>
              <a:t>https://www.youtube.com/watch?v=HRNacC3pKSI</a:t>
            </a:r>
          </a:p>
        </p:txBody>
      </p:sp>
      <p:sp>
        <p:nvSpPr>
          <p:cNvPr id="4" name="Slide Number Placeholder 3"/>
          <p:cNvSpPr>
            <a:spLocks noGrp="1"/>
          </p:cNvSpPr>
          <p:nvPr>
            <p:ph type="sldNum" sz="quarter" idx="5"/>
          </p:nvPr>
        </p:nvSpPr>
        <p:spPr/>
        <p:txBody>
          <a:bodyPr/>
          <a:lstStyle/>
          <a:p>
            <a:fld id="{65D36018-2FDE-4D1A-9D5E-D0D73D9C4F15}" type="slidenum">
              <a:rPr lang="en-US" smtClean="0"/>
              <a:t>1</a:t>
            </a:fld>
            <a:endParaRPr lang="en-US"/>
          </a:p>
        </p:txBody>
      </p:sp>
    </p:spTree>
    <p:extLst>
      <p:ext uri="{BB962C8B-B14F-4D97-AF65-F5344CB8AC3E}">
        <p14:creationId xmlns:p14="http://schemas.microsoft.com/office/powerpoint/2010/main" val="384281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Addressing the Misconception:</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Let's start by dismantling the single biggest misconception Silicon Valley holds regarding Chinese AI. The common assumption in Western media and policy circles is that Chinese AI progress is primarily driven by state planning—unlimited government funding, top-down mandates, and endless compute resources </a:t>
            </a:r>
            <a:r>
              <a:rPr lang="en-US" sz="1200" kern="1200" dirty="0" err="1">
                <a:solidFill>
                  <a:schemeClr val="tx1"/>
                </a:solidFill>
                <a:effectLst/>
                <a:latin typeface="+mn-lt"/>
                <a:ea typeface="+mn-ea"/>
                <a:cs typeface="+mn-cs"/>
              </a:rPr>
              <a:t>funnelled</a:t>
            </a:r>
            <a:r>
              <a:rPr lang="en-US" sz="1200" kern="1200" dirty="0">
                <a:solidFill>
                  <a:schemeClr val="tx1"/>
                </a:solidFill>
                <a:effectLst/>
                <a:latin typeface="+mn-lt"/>
                <a:ea typeface="+mn-ea"/>
                <a:cs typeface="+mn-cs"/>
              </a:rPr>
              <a:t> into state-backed labs. </a:t>
            </a:r>
          </a:p>
          <a:p>
            <a:pPr lvl="0"/>
            <a:r>
              <a:rPr lang="en-US" sz="1200" b="1" kern="1200" dirty="0">
                <a:solidFill>
                  <a:schemeClr val="tx1"/>
                </a:solidFill>
                <a:effectLst/>
                <a:latin typeface="+mn-lt"/>
                <a:ea typeface="+mn-ea"/>
                <a:cs typeface="+mn-cs"/>
              </a:rPr>
              <a:t>Revealing the Ground Truth:</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ground truth on the factory floor of these labs is completely different. These breakthroughs are driven by raw, ultra-young talent—researchers born in 1998 or later—working under intense hardware constraints. Because these labs do not have access to 100,000-card GPU clusters, they cannot simply brute-force model size or context window extensions. They are forced to rethink model architectures from the ground up. </a:t>
            </a:r>
          </a:p>
          <a:p>
            <a:pPr lvl="0"/>
            <a:r>
              <a:rPr lang="en-US" sz="1200" b="1" kern="1200" dirty="0">
                <a:solidFill>
                  <a:schemeClr val="tx1"/>
                </a:solidFill>
                <a:effectLst/>
                <a:latin typeface="+mn-lt"/>
                <a:ea typeface="+mn-ea"/>
                <a:cs typeface="+mn-cs"/>
              </a:rPr>
              <a:t>The Engineering Takeaway:</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 engineering, infinite resources can actually stifle creativity; when you have unlimited compute, you tend to default to existing transformer paradigms. But when hardware is profoundly scarce, magic happens. As Meng Xing pointed out, infrastructure engineers at top US frontier labs like OpenAI, Anthropic, and Google DeepMind are actively studying tech reports from these young Chinese researchers because they are achieving near-frontier reasoning performance at a fraction of the compute footprint.</a:t>
            </a:r>
          </a:p>
          <a:p>
            <a:endParaRPr lang="en-US" dirty="0"/>
          </a:p>
        </p:txBody>
      </p:sp>
      <p:sp>
        <p:nvSpPr>
          <p:cNvPr id="4" name="Slide Number Placeholder 3"/>
          <p:cNvSpPr>
            <a:spLocks noGrp="1"/>
          </p:cNvSpPr>
          <p:nvPr>
            <p:ph type="sldNum" sz="quarter" idx="5"/>
          </p:nvPr>
        </p:nvSpPr>
        <p:spPr/>
        <p:txBody>
          <a:bodyPr/>
          <a:lstStyle/>
          <a:p>
            <a:fld id="{65D36018-2FDE-4D1A-9D5E-D0D73D9C4F15}" type="slidenum">
              <a:rPr lang="en-US" smtClean="0"/>
              <a:t>2</a:t>
            </a:fld>
            <a:endParaRPr lang="en-US"/>
          </a:p>
        </p:txBody>
      </p:sp>
    </p:spTree>
    <p:extLst>
      <p:ext uri="{BB962C8B-B14F-4D97-AF65-F5344CB8AC3E}">
        <p14:creationId xmlns:p14="http://schemas.microsoft.com/office/powerpoint/2010/main" val="856692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Structure of the Landscape: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understand China’s AI ecosystem, we must look at its market structure. Similar to the US—where you have closed-source tech giants alongside focused frontier startups—China has evolved a two-tier market. On one side are tech giants like Alibaba and ByteDance. On the other side are the independent frontier AI startups known as the </a:t>
            </a:r>
            <a:r>
              <a:rPr lang="en-US" sz="1200" b="1" kern="1200" dirty="0">
                <a:solidFill>
                  <a:schemeClr val="tx1"/>
                </a:solidFill>
                <a:effectLst/>
                <a:latin typeface="+mn-lt"/>
                <a:ea typeface="+mn-ea"/>
                <a:cs typeface="+mn-cs"/>
              </a:rPr>
              <a:t>'Four Dragons'</a:t>
            </a:r>
            <a:r>
              <a:rPr lang="en-US" sz="1200" kern="1200" dirty="0">
                <a:solidFill>
                  <a:schemeClr val="tx1"/>
                </a:solidFill>
                <a:effectLst/>
                <a:latin typeface="+mn-lt"/>
                <a:ea typeface="+mn-ea"/>
                <a:cs typeface="+mn-cs"/>
              </a:rPr>
              <a:t>: Moonshot (Kimi), DeepSeek, </a:t>
            </a:r>
            <a:r>
              <a:rPr lang="en-US" sz="1200" kern="1200" dirty="0" err="1">
                <a:solidFill>
                  <a:schemeClr val="tx1"/>
                </a:solidFill>
                <a:effectLst/>
                <a:latin typeface="+mn-lt"/>
                <a:ea typeface="+mn-ea"/>
                <a:cs typeface="+mn-cs"/>
              </a:rPr>
              <a:t>Zhipu</a:t>
            </a:r>
            <a:r>
              <a:rPr lang="en-US" sz="1200" kern="1200" dirty="0">
                <a:solidFill>
                  <a:schemeClr val="tx1"/>
                </a:solidFill>
                <a:effectLst/>
                <a:latin typeface="+mn-lt"/>
                <a:ea typeface="+mn-ea"/>
                <a:cs typeface="+mn-cs"/>
              </a:rPr>
              <a:t> (GLM), and </a:t>
            </a:r>
            <a:r>
              <a:rPr lang="en-US" sz="1200" kern="1200" dirty="0" err="1">
                <a:solidFill>
                  <a:schemeClr val="tx1"/>
                </a:solidFill>
                <a:effectLst/>
                <a:latin typeface="+mn-lt"/>
                <a:ea typeface="+mn-ea"/>
                <a:cs typeface="+mn-cs"/>
              </a:rPr>
              <a:t>MiniMax</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Independence and Strategic Mandates: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What makes the Four Dragons distinct is their complete operational and cultural independence from the tech conglomerates. They operate with distinct strategic mandates: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Moonshot (Kimi) &amp; DeepSeek</a:t>
            </a:r>
            <a:r>
              <a:rPr lang="en-US" sz="1200" kern="1200" dirty="0">
                <a:solidFill>
                  <a:schemeClr val="tx1"/>
                </a:solidFill>
                <a:effectLst/>
                <a:latin typeface="+mn-lt"/>
                <a:ea typeface="+mn-ea"/>
                <a:cs typeface="+mn-cs"/>
              </a:rPr>
              <a:t> are laser-focused on Pure AGI and foundational reasoning capabilities. </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Zhipu</a:t>
            </a:r>
            <a:r>
              <a:rPr lang="en-US" sz="1200" b="1" kern="1200" dirty="0">
                <a:solidFill>
                  <a:schemeClr val="tx1"/>
                </a:solidFill>
                <a:effectLst/>
                <a:latin typeface="+mn-lt"/>
                <a:ea typeface="+mn-ea"/>
                <a:cs typeface="+mn-cs"/>
              </a:rPr>
              <a:t> (GLM 5.2)</a:t>
            </a:r>
            <a:r>
              <a:rPr lang="en-US" sz="1200" kern="1200" dirty="0">
                <a:solidFill>
                  <a:schemeClr val="tx1"/>
                </a:solidFill>
                <a:effectLst/>
                <a:latin typeface="+mn-lt"/>
                <a:ea typeface="+mn-ea"/>
                <a:cs typeface="+mn-cs"/>
              </a:rPr>
              <a:t> has built a strong enterprise and developer footing, particularly exceling in code generation and fast adoption across developer workflows. </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MiniMax</a:t>
            </a:r>
            <a:r>
              <a:rPr lang="en-US" sz="1200" kern="1200" dirty="0">
                <a:solidFill>
                  <a:schemeClr val="tx1"/>
                </a:solidFill>
                <a:effectLst/>
                <a:latin typeface="+mn-lt"/>
                <a:ea typeface="+mn-ea"/>
                <a:cs typeface="+mn-cs"/>
              </a:rPr>
              <a:t> leans heavily into product-led, consumer, and multimedia applications. </a:t>
            </a:r>
          </a:p>
          <a:p>
            <a:pPr lvl="0"/>
            <a:r>
              <a:rPr lang="en-US" sz="1200" b="1" kern="1200" dirty="0">
                <a:solidFill>
                  <a:schemeClr val="tx1"/>
                </a:solidFill>
                <a:effectLst/>
                <a:latin typeface="+mn-lt"/>
                <a:ea typeface="+mn-ea"/>
                <a:cs typeface="+mn-cs"/>
              </a:rPr>
              <a:t>Talent Mobility &amp; Organizational Dynamics: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Notice the positional positioning on this matrix. While US labs experience high researcher mobility—where senior talent hops between OpenAI, Anthropic, and Google almost monthly—Chinese labs maintain tightly knit, founder-led cultures with much lower cross-firm mobility. Each lab’s technological identity is heavily dictated by its founder’s core philosophy, enabling long-term alignment and singular focus. </a:t>
            </a:r>
          </a:p>
          <a:p>
            <a:endParaRPr lang="en-US" dirty="0"/>
          </a:p>
        </p:txBody>
      </p:sp>
      <p:sp>
        <p:nvSpPr>
          <p:cNvPr id="4" name="Slide Number Placeholder 3"/>
          <p:cNvSpPr>
            <a:spLocks noGrp="1"/>
          </p:cNvSpPr>
          <p:nvPr>
            <p:ph type="sldNum" sz="quarter" idx="5"/>
          </p:nvPr>
        </p:nvSpPr>
        <p:spPr/>
        <p:txBody>
          <a:bodyPr/>
          <a:lstStyle/>
          <a:p>
            <a:fld id="{65D36018-2FDE-4D1A-9D5E-D0D73D9C4F15}" type="slidenum">
              <a:rPr lang="en-US" smtClean="0"/>
              <a:t>3</a:t>
            </a:fld>
            <a:endParaRPr lang="en-US"/>
          </a:p>
        </p:txBody>
      </p:sp>
    </p:spTree>
    <p:extLst>
      <p:ext uri="{BB962C8B-B14F-4D97-AF65-F5344CB8AC3E}">
        <p14:creationId xmlns:p14="http://schemas.microsoft.com/office/powerpoint/2010/main" val="1502583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Moonshot AI &amp; Architectural Feats: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Let's look under the hood of Moonshot AI and DeepSeek—the two labs leading open-weight performance.</a:t>
            </a:r>
          </a:p>
          <a:p>
            <a:pPr lvl="0"/>
            <a:r>
              <a:rPr lang="en-US" sz="1200" kern="1200" dirty="0">
                <a:solidFill>
                  <a:schemeClr val="tx1"/>
                </a:solidFill>
                <a:effectLst/>
                <a:latin typeface="+mn-lt"/>
                <a:ea typeface="+mn-ea"/>
                <a:cs typeface="+mn-cs"/>
              </a:rPr>
              <a:t>Moonshot intentionally caps its team size under 400 people. In Silicon Valley, when labs build models of Kimi K3’s caliber, people assume it takes thousands of employees. Moonshot stays small to prevent context loss across teams. They give high autonomy to very young interns. Their major breakthrough with K3 was integrating </a:t>
            </a:r>
            <a:r>
              <a:rPr lang="en-US" sz="1200" b="1" kern="1200" dirty="0">
                <a:solidFill>
                  <a:schemeClr val="tx1"/>
                </a:solidFill>
                <a:effectLst/>
                <a:latin typeface="+mn-lt"/>
                <a:ea typeface="+mn-ea"/>
                <a:cs typeface="+mn-cs"/>
              </a:rPr>
              <a:t>KDA Architecture</a:t>
            </a:r>
            <a:r>
              <a:rPr lang="en-US" sz="1200" kern="1200" dirty="0">
                <a:solidFill>
                  <a:schemeClr val="tx1"/>
                </a:solidFill>
                <a:effectLst/>
                <a:latin typeface="+mn-lt"/>
                <a:ea typeface="+mn-ea"/>
                <a:cs typeface="+mn-cs"/>
              </a:rPr>
              <a:t> into a massive </a:t>
            </a:r>
            <a:r>
              <a:rPr lang="en-US" sz="1200" b="1" kern="1200" dirty="0">
                <a:solidFill>
                  <a:schemeClr val="tx1"/>
                </a:solidFill>
                <a:effectLst/>
                <a:latin typeface="+mn-lt"/>
                <a:ea typeface="+mn-ea"/>
                <a:cs typeface="+mn-cs"/>
              </a:rPr>
              <a:t>2.8 Trillion parameter model</a:t>
            </a:r>
            <a:r>
              <a:rPr lang="en-US" sz="1200" kern="1200" dirty="0">
                <a:solidFill>
                  <a:schemeClr val="tx1"/>
                </a:solidFill>
                <a:effectLst/>
                <a:latin typeface="+mn-lt"/>
                <a:ea typeface="+mn-ea"/>
                <a:cs typeface="+mn-cs"/>
              </a:rPr>
              <a:t>. Normally, introducing radical architectural changes at this scale destabilizes model training. Doing this on limited compute and a tight timeline was an extraordinary engineering feat. </a:t>
            </a:r>
          </a:p>
          <a:p>
            <a:pPr lvl="0"/>
            <a:r>
              <a:rPr lang="en-US" sz="1200" b="1" kern="1200" dirty="0">
                <a:solidFill>
                  <a:schemeClr val="tx1"/>
                </a:solidFill>
                <a:effectLst/>
                <a:latin typeface="+mn-lt"/>
                <a:ea typeface="+mn-ea"/>
                <a:cs typeface="+mn-cs"/>
              </a:rPr>
              <a:t>DeepSeek &amp; The Idealistic Founder:</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DeepSeek presents an even more unusual profile. Its founder comes from a hedge fund background and operates with near-zero interest in commercial wealth accumulation. Instead, DeepSeek acts as an open-source research haven. They developed </a:t>
            </a:r>
            <a:r>
              <a:rPr lang="en-US" sz="1200" b="1" kern="1200" dirty="0">
                <a:solidFill>
                  <a:schemeClr val="tx1"/>
                </a:solidFill>
                <a:effectLst/>
                <a:latin typeface="+mn-lt"/>
                <a:ea typeface="+mn-ea"/>
                <a:cs typeface="+mn-cs"/>
              </a:rPr>
              <a:t>DSA (DeepSeek Sparse Attention)</a:t>
            </a:r>
            <a:r>
              <a:rPr lang="en-US" sz="1200" kern="1200" dirty="0">
                <a:solidFill>
                  <a:schemeClr val="tx1"/>
                </a:solidFill>
                <a:effectLst/>
                <a:latin typeface="+mn-lt"/>
                <a:ea typeface="+mn-ea"/>
                <a:cs typeface="+mn-cs"/>
              </a:rPr>
              <a:t> and publish open-source papers so detailed that researchers at Google and OpenAI rely on them to replicate complex parallel training setups. </a:t>
            </a:r>
          </a:p>
          <a:p>
            <a:pPr lvl="0"/>
            <a:r>
              <a:rPr lang="en-US" sz="1200" b="1" kern="1200" dirty="0">
                <a:solidFill>
                  <a:schemeClr val="tx1"/>
                </a:solidFill>
                <a:effectLst/>
                <a:latin typeface="+mn-lt"/>
                <a:ea typeface="+mn-ea"/>
                <a:cs typeface="+mn-cs"/>
              </a:rPr>
              <a:t>The 9 PM to 10 PM Culture &amp; Shared Traits: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Both labs share a crucial cultural element: the voluntary </a:t>
            </a:r>
            <a:r>
              <a:rPr lang="en-US" sz="1200" b="1" kern="1200" dirty="0">
                <a:solidFill>
                  <a:schemeClr val="tx1"/>
                </a:solidFill>
                <a:effectLst/>
                <a:latin typeface="+mn-lt"/>
                <a:ea typeface="+mn-ea"/>
                <a:cs typeface="+mn-cs"/>
              </a:rPr>
              <a:t>'9 PM to 10 PM culture'</a:t>
            </a:r>
            <a:r>
              <a:rPr lang="en-US" sz="1200" kern="1200" dirty="0">
                <a:solidFill>
                  <a:schemeClr val="tx1"/>
                </a:solidFill>
                <a:effectLst/>
                <a:latin typeface="+mn-lt"/>
                <a:ea typeface="+mn-ea"/>
                <a:cs typeface="+mn-cs"/>
              </a:rPr>
              <a:t>. This isn't corporate top-down burnout; it's intense, mission-driven dedication powered by young graduates fresh out of elite universities. They are not chasing stock options or quick liquid exits; they are driven by a pure, idealistic ambition to achieve AGI. </a:t>
            </a:r>
          </a:p>
          <a:p>
            <a:endParaRPr lang="en-US" dirty="0"/>
          </a:p>
        </p:txBody>
      </p:sp>
      <p:sp>
        <p:nvSpPr>
          <p:cNvPr id="4" name="Slide Number Placeholder 3"/>
          <p:cNvSpPr>
            <a:spLocks noGrp="1"/>
          </p:cNvSpPr>
          <p:nvPr>
            <p:ph type="sldNum" sz="quarter" idx="5"/>
          </p:nvPr>
        </p:nvSpPr>
        <p:spPr/>
        <p:txBody>
          <a:bodyPr/>
          <a:lstStyle/>
          <a:p>
            <a:fld id="{65D36018-2FDE-4D1A-9D5E-D0D73D9C4F15}" type="slidenum">
              <a:rPr lang="en-US" smtClean="0"/>
              <a:t>4</a:t>
            </a:fld>
            <a:endParaRPr lang="en-US"/>
          </a:p>
        </p:txBody>
      </p:sp>
    </p:spTree>
    <p:extLst>
      <p:ext uri="{BB962C8B-B14F-4D97-AF65-F5344CB8AC3E}">
        <p14:creationId xmlns:p14="http://schemas.microsoft.com/office/powerpoint/2010/main" val="3140703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Product-Led DNA:</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Unlike Moonshot and DeepSeek—which behave like pure AGI research institutions—</a:t>
            </a:r>
            <a:r>
              <a:rPr lang="en-US" sz="1200" kern="1200" dirty="0" err="1">
                <a:solidFill>
                  <a:schemeClr val="tx1"/>
                </a:solidFill>
                <a:effectLst/>
                <a:latin typeface="+mn-lt"/>
                <a:ea typeface="+mn-ea"/>
                <a:cs typeface="+mn-cs"/>
              </a:rPr>
              <a:t>MiniMax</a:t>
            </a:r>
            <a:r>
              <a:rPr lang="en-US" sz="1200" kern="1200" dirty="0">
                <a:solidFill>
                  <a:schemeClr val="tx1"/>
                </a:solidFill>
                <a:effectLst/>
                <a:latin typeface="+mn-lt"/>
                <a:ea typeface="+mn-ea"/>
                <a:cs typeface="+mn-cs"/>
              </a:rPr>
              <a:t> represents the consumer and application-first extreme of Chinese foundation labs. </a:t>
            </a:r>
            <a:r>
              <a:rPr lang="en-US" sz="1200" kern="1200" dirty="0" err="1">
                <a:solidFill>
                  <a:schemeClr val="tx1"/>
                </a:solidFill>
                <a:effectLst/>
                <a:latin typeface="+mn-lt"/>
                <a:ea typeface="+mn-ea"/>
                <a:cs typeface="+mn-cs"/>
              </a:rPr>
              <a:t>MiniMax's</a:t>
            </a:r>
            <a:r>
              <a:rPr lang="en-US" sz="1200" kern="1200" dirty="0">
                <a:solidFill>
                  <a:schemeClr val="tx1"/>
                </a:solidFill>
                <a:effectLst/>
                <a:latin typeface="+mn-lt"/>
                <a:ea typeface="+mn-ea"/>
                <a:cs typeface="+mn-cs"/>
              </a:rPr>
              <a:t> culture feels like ByteDance or TikTok. Rather than filling their ranks strictly with theoretical computer scientists, </a:t>
            </a:r>
            <a:r>
              <a:rPr lang="en-US" sz="1200" kern="1200" dirty="0" err="1">
                <a:solidFill>
                  <a:schemeClr val="tx1"/>
                </a:solidFill>
                <a:effectLst/>
                <a:latin typeface="+mn-lt"/>
                <a:ea typeface="+mn-ea"/>
                <a:cs typeface="+mn-cs"/>
              </a:rPr>
              <a:t>MiniMax</a:t>
            </a:r>
            <a:r>
              <a:rPr lang="en-US" sz="1200" kern="1200" dirty="0">
                <a:solidFill>
                  <a:schemeClr val="tx1"/>
                </a:solidFill>
                <a:effectLst/>
                <a:latin typeface="+mn-lt"/>
                <a:ea typeface="+mn-ea"/>
                <a:cs typeface="+mn-cs"/>
              </a:rPr>
              <a:t> attracted top-tier product managers, growth hackers, and Go-To-Market talent. </a:t>
            </a:r>
          </a:p>
          <a:p>
            <a:pPr lvl="0"/>
            <a:r>
              <a:rPr lang="en-US" sz="1200" b="1" kern="1200" dirty="0">
                <a:solidFill>
                  <a:schemeClr val="tx1"/>
                </a:solidFill>
                <a:effectLst/>
                <a:latin typeface="+mn-lt"/>
                <a:ea typeface="+mn-ea"/>
                <a:cs typeface="+mn-cs"/>
              </a:rPr>
              <a:t>Character AI &amp; Multimedia Focus: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Their primary focus has been peripheral intelligence and rich multi-modal interaction: companion AI, virtual character platforms, and their flagship </a:t>
            </a:r>
            <a:r>
              <a:rPr lang="en-US" sz="1200" b="1" kern="1200" dirty="0" err="1">
                <a:solidFill>
                  <a:schemeClr val="tx1"/>
                </a:solidFill>
                <a:effectLst/>
                <a:latin typeface="+mn-lt"/>
                <a:ea typeface="+mn-ea"/>
                <a:cs typeface="+mn-cs"/>
              </a:rPr>
              <a:t>Hailuo</a:t>
            </a:r>
            <a:r>
              <a:rPr lang="en-US" sz="1200" b="1" kern="1200" dirty="0">
                <a:solidFill>
                  <a:schemeClr val="tx1"/>
                </a:solidFill>
                <a:effectLst/>
                <a:latin typeface="+mn-lt"/>
                <a:ea typeface="+mn-ea"/>
                <a:cs typeface="+mn-cs"/>
              </a:rPr>
              <a:t> multimedia series</a:t>
            </a:r>
            <a:r>
              <a:rPr lang="en-US" sz="1200" kern="1200" dirty="0">
                <a:solidFill>
                  <a:schemeClr val="tx1"/>
                </a:solidFill>
                <a:effectLst/>
                <a:latin typeface="+mn-lt"/>
                <a:ea typeface="+mn-ea"/>
                <a:cs typeface="+mn-cs"/>
              </a:rPr>
              <a:t>. While they haven't led pure reasoning benchmarks like coding or logic math, they set the standard early on for consumer companion products and video/audio generation. </a:t>
            </a:r>
          </a:p>
          <a:p>
            <a:pPr lvl="0"/>
            <a:r>
              <a:rPr lang="en-US" sz="1200" b="1" kern="1200" dirty="0">
                <a:solidFill>
                  <a:schemeClr val="tx1"/>
                </a:solidFill>
                <a:effectLst/>
                <a:latin typeface="+mn-lt"/>
                <a:ea typeface="+mn-ea"/>
                <a:cs typeface="+mn-cs"/>
              </a:rPr>
              <a:t>Market Reality &amp; Capital Path:</a:t>
            </a:r>
            <a:endParaRPr lang="en-US" sz="1200" kern="1200" dirty="0">
              <a:solidFill>
                <a:schemeClr val="tx1"/>
              </a:solidFill>
              <a:effectLst/>
              <a:latin typeface="+mn-lt"/>
              <a:ea typeface="+mn-ea"/>
              <a:cs typeface="+mn-cs"/>
            </a:endParaRPr>
          </a:p>
          <a:p>
            <a:pPr lvl="0"/>
            <a:r>
              <a:rPr lang="en-US" sz="1200" kern="1200" dirty="0" err="1">
                <a:solidFill>
                  <a:schemeClr val="tx1"/>
                </a:solidFill>
                <a:effectLst/>
                <a:latin typeface="+mn-lt"/>
                <a:ea typeface="+mn-ea"/>
                <a:cs typeface="+mn-cs"/>
              </a:rPr>
              <a:t>MiniMax</a:t>
            </a:r>
            <a:r>
              <a:rPr lang="en-US" sz="1200" kern="1200" dirty="0">
                <a:solidFill>
                  <a:schemeClr val="tx1"/>
                </a:solidFill>
                <a:effectLst/>
                <a:latin typeface="+mn-lt"/>
                <a:ea typeface="+mn-ea"/>
                <a:cs typeface="+mn-cs"/>
              </a:rPr>
              <a:t> went public early in Hong Kong, experiencing a volatile roller-coaster trajectory. This highlights a distinct financial path: consumer-facing AI models face massive consumer retention pressure and immediate monetization demands, unlike pure foundation labs backed by multi-year private venture capital runways. </a:t>
            </a:r>
          </a:p>
          <a:p>
            <a:endParaRPr lang="en-US" dirty="0"/>
          </a:p>
        </p:txBody>
      </p:sp>
      <p:sp>
        <p:nvSpPr>
          <p:cNvPr id="4" name="Slide Number Placeholder 3"/>
          <p:cNvSpPr>
            <a:spLocks noGrp="1"/>
          </p:cNvSpPr>
          <p:nvPr>
            <p:ph type="sldNum" sz="quarter" idx="5"/>
          </p:nvPr>
        </p:nvSpPr>
        <p:spPr/>
        <p:txBody>
          <a:bodyPr/>
          <a:lstStyle/>
          <a:p>
            <a:fld id="{65D36018-2FDE-4D1A-9D5E-D0D73D9C4F15}" type="slidenum">
              <a:rPr lang="en-US" smtClean="0"/>
              <a:t>5</a:t>
            </a:fld>
            <a:endParaRPr lang="en-US"/>
          </a:p>
        </p:txBody>
      </p:sp>
    </p:spTree>
    <p:extLst>
      <p:ext uri="{BB962C8B-B14F-4D97-AF65-F5344CB8AC3E}">
        <p14:creationId xmlns:p14="http://schemas.microsoft.com/office/powerpoint/2010/main" val="1617545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Distillation Spectrum:</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As Chinese open-source models rapidly closed the performance gap with Western frontier models like GPT-4 and Claude, a heated debate emerged over </a:t>
            </a:r>
            <a:r>
              <a:rPr lang="en-US" sz="1200" b="1" kern="1200" dirty="0">
                <a:solidFill>
                  <a:schemeClr val="tx1"/>
                </a:solidFill>
                <a:effectLst/>
                <a:latin typeface="+mn-lt"/>
                <a:ea typeface="+mn-ea"/>
                <a:cs typeface="+mn-cs"/>
              </a:rPr>
              <a:t>Distillation</a:t>
            </a:r>
            <a:r>
              <a:rPr lang="en-US" sz="1200" kern="1200" dirty="0">
                <a:solidFill>
                  <a:schemeClr val="tx1"/>
                </a:solidFill>
                <a:effectLst/>
                <a:latin typeface="+mn-lt"/>
                <a:ea typeface="+mn-ea"/>
                <a:cs typeface="+mn-cs"/>
              </a:rPr>
              <a:t>. We need to separate distillation into two categories: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Blatant Chain-of-Thought (</a:t>
            </a:r>
            <a:r>
              <a:rPr lang="en-US" sz="1200" b="1" kern="1200" dirty="0" err="1">
                <a:solidFill>
                  <a:schemeClr val="tx1"/>
                </a:solidFill>
                <a:effectLst/>
                <a:latin typeface="+mn-lt"/>
                <a:ea typeface="+mn-ea"/>
                <a:cs typeface="+mn-cs"/>
              </a:rPr>
              <a:t>CoT</a:t>
            </a:r>
            <a:r>
              <a:rPr lang="en-US" sz="1200" b="1" kern="1200" dirty="0">
                <a:solidFill>
                  <a:schemeClr val="tx1"/>
                </a:solidFill>
                <a:effectLst/>
                <a:latin typeface="+mn-lt"/>
                <a:ea typeface="+mn-ea"/>
                <a:cs typeface="+mn-cs"/>
              </a:rPr>
              <a:t>) Distillation:</a:t>
            </a:r>
            <a:r>
              <a:rPr lang="en-US" sz="1200" kern="1200" dirty="0">
                <a:solidFill>
                  <a:schemeClr val="tx1"/>
                </a:solidFill>
                <a:effectLst/>
                <a:latin typeface="+mn-lt"/>
                <a:ea typeface="+mn-ea"/>
                <a:cs typeface="+mn-cs"/>
              </a:rPr>
              <a:t> Sending prompt distributions to Western models (like Claude or GPT) and directly extracting their internal reasoning traces to train smaller student models. This is highly effective in the short term, but it creates a false sense of technological independence.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Indirect Synthetic Data:</a:t>
            </a:r>
            <a:r>
              <a:rPr lang="en-US" sz="1200" kern="1200" dirty="0">
                <a:solidFill>
                  <a:schemeClr val="tx1"/>
                </a:solidFill>
                <a:effectLst/>
                <a:latin typeface="+mn-lt"/>
                <a:ea typeface="+mn-ea"/>
                <a:cs typeface="+mn-cs"/>
              </a:rPr>
              <a:t> Using models to generate synthetic training environments. This is universal across all modern AI training. </a:t>
            </a:r>
          </a:p>
          <a:p>
            <a:pPr lvl="0"/>
            <a:r>
              <a:rPr lang="en-US" sz="1200" b="1" kern="1200" dirty="0">
                <a:solidFill>
                  <a:schemeClr val="tx1"/>
                </a:solidFill>
                <a:effectLst/>
                <a:latin typeface="+mn-lt"/>
                <a:ea typeface="+mn-ea"/>
                <a:cs typeface="+mn-cs"/>
              </a:rPr>
              <a:t>ByteDance’s Strategic Mandate: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most significant strategic move recently came from ByteDance. CEO Zhang Yiming established a firm internal red line prohibiting blatant distillation. His directive was clear: even if prohibiting distillation causes ByteDance’s large language models to temporarily lag behind Chinese peers, they must accept that delay. </a:t>
            </a:r>
          </a:p>
          <a:p>
            <a:pPr lvl="0"/>
            <a:r>
              <a:rPr lang="en-US" sz="1200" b="1" kern="1200" dirty="0">
                <a:solidFill>
                  <a:schemeClr val="tx1"/>
                </a:solidFill>
                <a:effectLst/>
                <a:latin typeface="+mn-lt"/>
                <a:ea typeface="+mn-ea"/>
                <a:cs typeface="+mn-cs"/>
              </a:rPr>
              <a:t>The Strategic Rationale: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Why take this risk? Because shortcutting via distillation gives teams a false sense of satisfaction. It prevents researchers from developing true, original pre-training capabilities. As a multi-billion-dollar enterprise with infinite runway, ByteDance can afford to sit back for a year or two to ensure that when they hit the top, it is on proprietary, ground-up architecture. </a:t>
            </a:r>
          </a:p>
          <a:p>
            <a:endParaRPr lang="en-US" dirty="0"/>
          </a:p>
        </p:txBody>
      </p:sp>
      <p:sp>
        <p:nvSpPr>
          <p:cNvPr id="4" name="Slide Number Placeholder 3"/>
          <p:cNvSpPr>
            <a:spLocks noGrp="1"/>
          </p:cNvSpPr>
          <p:nvPr>
            <p:ph type="sldNum" sz="quarter" idx="5"/>
          </p:nvPr>
        </p:nvSpPr>
        <p:spPr/>
        <p:txBody>
          <a:bodyPr/>
          <a:lstStyle/>
          <a:p>
            <a:fld id="{65D36018-2FDE-4D1A-9D5E-D0D73D9C4F15}" type="slidenum">
              <a:rPr lang="en-US" smtClean="0"/>
              <a:t>6</a:t>
            </a:fld>
            <a:endParaRPr lang="en-US"/>
          </a:p>
        </p:txBody>
      </p:sp>
    </p:spTree>
    <p:extLst>
      <p:ext uri="{BB962C8B-B14F-4D97-AF65-F5344CB8AC3E}">
        <p14:creationId xmlns:p14="http://schemas.microsoft.com/office/powerpoint/2010/main" val="134185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Changing Token Landscape: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rapid rise of ultra-cheap, highly capable open-weight models from China is actively reshaping global AI economics. During Meng Xing’s visit to Silicon Valley, agent developers reported a major shift in how enterprise and developer teams route their LLM calls. </a:t>
            </a:r>
          </a:p>
          <a:p>
            <a:pPr lvl="0"/>
            <a:r>
              <a:rPr lang="en-US" sz="1200" b="1" kern="1200" dirty="0">
                <a:solidFill>
                  <a:schemeClr val="tx1"/>
                </a:solidFill>
                <a:effectLst/>
                <a:latin typeface="+mn-lt"/>
                <a:ea typeface="+mn-ea"/>
                <a:cs typeface="+mn-cs"/>
              </a:rPr>
              <a:t>“The Swap” vs. “The Reserve”: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Developers have implemented a two-tier economic strategy: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Swap:</a:t>
            </a:r>
            <a:r>
              <a:rPr lang="en-US" sz="1200" kern="1200" dirty="0">
                <a:solidFill>
                  <a:schemeClr val="tx1"/>
                </a:solidFill>
                <a:effectLst/>
                <a:latin typeface="+mn-lt"/>
                <a:ea typeface="+mn-ea"/>
                <a:cs typeface="+mn-cs"/>
              </a:rPr>
              <a:t> Developers shift bulk, high-volume operations—such as initial code generation, draft translation, and daily data transformation—to cheap Chinese open-source API endpoints like DeepSeek or Kimi K3.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Reserve:</a:t>
            </a:r>
            <a:r>
              <a:rPr lang="en-US" sz="1200" kern="1200" dirty="0">
                <a:solidFill>
                  <a:schemeClr val="tx1"/>
                </a:solidFill>
                <a:effectLst/>
                <a:latin typeface="+mn-lt"/>
                <a:ea typeface="+mn-ea"/>
                <a:cs typeface="+mn-cs"/>
              </a:rPr>
              <a:t> Expensive frontier models (like Claude 3.5 Sonnet or GPT-4o) are reserved strictly for final code review, complex architecture checks, or safety verifications. </a:t>
            </a:r>
          </a:p>
          <a:p>
            <a:pPr lvl="0"/>
            <a:r>
              <a:rPr lang="en-US" sz="1200" b="1" kern="1200" dirty="0">
                <a:solidFill>
                  <a:schemeClr val="tx1"/>
                </a:solidFill>
                <a:effectLst/>
                <a:latin typeface="+mn-lt"/>
                <a:ea typeface="+mn-ea"/>
                <a:cs typeface="+mn-cs"/>
              </a:rPr>
              <a:t>The White-Collar Bottleneck &amp; Revenue Impact: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model-swapping has led to a major financial dynamic: total global token consumption continues to grow, but top-line API revenues for Western frontier labs are stagnating or dropping. Why? While coding agents run continuously overnight without human intervention, white-collar tasks (writing decks, legal reviews, administrative summaries) require constant human verification. This human-in-the-loop bottleneck keeps token throughput low for general business apps, while bulk developer tokens migrate straight to low-cost open-source alternatives.</a:t>
            </a:r>
          </a:p>
          <a:p>
            <a:endParaRPr lang="en-US" dirty="0"/>
          </a:p>
        </p:txBody>
      </p:sp>
      <p:sp>
        <p:nvSpPr>
          <p:cNvPr id="4" name="Slide Number Placeholder 3"/>
          <p:cNvSpPr>
            <a:spLocks noGrp="1"/>
          </p:cNvSpPr>
          <p:nvPr>
            <p:ph type="sldNum" sz="quarter" idx="5"/>
          </p:nvPr>
        </p:nvSpPr>
        <p:spPr/>
        <p:txBody>
          <a:bodyPr/>
          <a:lstStyle/>
          <a:p>
            <a:fld id="{65D36018-2FDE-4D1A-9D5E-D0D73D9C4F15}" type="slidenum">
              <a:rPr lang="en-US" smtClean="0"/>
              <a:t>7</a:t>
            </a:fld>
            <a:endParaRPr lang="en-US"/>
          </a:p>
        </p:txBody>
      </p:sp>
    </p:spTree>
    <p:extLst>
      <p:ext uri="{BB962C8B-B14F-4D97-AF65-F5344CB8AC3E}">
        <p14:creationId xmlns:p14="http://schemas.microsoft.com/office/powerpoint/2010/main" val="30869409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ByteDance’s Compute Gamble: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Turning to multimedia, Chinese AI labs—led by ByteDance’s </a:t>
            </a:r>
            <a:r>
              <a:rPr lang="en-US" sz="1200" b="1" kern="1200" dirty="0" err="1">
                <a:solidFill>
                  <a:schemeClr val="tx1"/>
                </a:solidFill>
                <a:effectLst/>
                <a:latin typeface="+mn-lt"/>
                <a:ea typeface="+mn-ea"/>
                <a:cs typeface="+mn-cs"/>
              </a:rPr>
              <a:t>SeaDance</a:t>
            </a:r>
            <a:r>
              <a:rPr lang="en-US" sz="1200" kern="1200" dirty="0">
                <a:solidFill>
                  <a:schemeClr val="tx1"/>
                </a:solidFill>
                <a:effectLst/>
                <a:latin typeface="+mn-lt"/>
                <a:ea typeface="+mn-ea"/>
                <a:cs typeface="+mn-cs"/>
              </a:rPr>
              <a:t>—have taken a dominant global lead in generative video. A year ago, scaling video models required an aggressive compute bet. While Western labs paused or throttled public video model scaling (such as OpenAI delaying Sora updates), a young female researcher at ByteDance led a bold initiative to scale up compute by an entire order of magnitude before safety and output were fully proven. </a:t>
            </a:r>
          </a:p>
          <a:p>
            <a:pPr lvl="0"/>
            <a:r>
              <a:rPr lang="en-US" sz="1200" b="1" kern="1200" dirty="0">
                <a:solidFill>
                  <a:schemeClr val="tx1"/>
                </a:solidFill>
                <a:effectLst/>
                <a:latin typeface="+mn-lt"/>
                <a:ea typeface="+mn-ea"/>
                <a:cs typeface="+mn-cs"/>
              </a:rPr>
              <a:t>Technical Differentiators:</a:t>
            </a:r>
            <a:endParaRPr lang="en-US" sz="1200" kern="1200" dirty="0">
              <a:solidFill>
                <a:schemeClr val="tx1"/>
              </a:solidFill>
              <a:effectLst/>
              <a:latin typeface="+mn-lt"/>
              <a:ea typeface="+mn-ea"/>
              <a:cs typeface="+mn-cs"/>
            </a:endParaRPr>
          </a:p>
          <a:p>
            <a:pPr lvl="0"/>
            <a:r>
              <a:rPr lang="en-US" sz="1200" kern="1200" dirty="0" err="1">
                <a:solidFill>
                  <a:schemeClr val="tx1"/>
                </a:solidFill>
                <a:effectLst/>
                <a:latin typeface="+mn-lt"/>
                <a:ea typeface="+mn-ea"/>
                <a:cs typeface="+mn-cs"/>
              </a:rPr>
              <a:t>SeaDance</a:t>
            </a:r>
            <a:r>
              <a:rPr lang="en-US" sz="1200" kern="1200" dirty="0">
                <a:solidFill>
                  <a:schemeClr val="tx1"/>
                </a:solidFill>
                <a:effectLst/>
                <a:latin typeface="+mn-lt"/>
                <a:ea typeface="+mn-ea"/>
                <a:cs typeface="+mn-cs"/>
              </a:rPr>
              <a:t> 2.0 solved two major technical problems that plagued earlier generative video models: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Intricate Micro-Emotions:</a:t>
            </a:r>
            <a:r>
              <a:rPr lang="en-US" sz="1200" kern="1200" dirty="0">
                <a:solidFill>
                  <a:schemeClr val="tx1"/>
                </a:solidFill>
                <a:effectLst/>
                <a:latin typeface="+mn-lt"/>
                <a:ea typeface="+mn-ea"/>
                <a:cs typeface="+mn-cs"/>
              </a:rPr>
              <a:t> Flawless, smooth transitions across complex emotional spectrums (e.g., transitioning smoothly from laughing to crying in a single shot).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Dynamic Physics &amp; High Action:</a:t>
            </a:r>
            <a:r>
              <a:rPr lang="en-US" sz="1200" kern="1200" dirty="0">
                <a:solidFill>
                  <a:schemeClr val="tx1"/>
                </a:solidFill>
                <a:effectLst/>
                <a:latin typeface="+mn-lt"/>
                <a:ea typeface="+mn-ea"/>
                <a:cs typeface="+mn-cs"/>
              </a:rPr>
              <a:t> Accurate rendering of fast-paced martial arts and action scenes without limb clipping or spatial distortion. </a:t>
            </a:r>
          </a:p>
          <a:p>
            <a:pPr lvl="0"/>
            <a:r>
              <a:rPr lang="en-US" sz="1200" b="1" kern="1200" dirty="0">
                <a:solidFill>
                  <a:schemeClr val="tx1"/>
                </a:solidFill>
                <a:effectLst/>
                <a:latin typeface="+mn-lt"/>
                <a:ea typeface="+mn-ea"/>
                <a:cs typeface="+mn-cs"/>
              </a:rPr>
              <a:t>The Prosumer Market Takeoff:</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visual performance created a booming </a:t>
            </a:r>
            <a:r>
              <a:rPr lang="en-US" sz="1200" b="1" kern="1200" dirty="0">
                <a:solidFill>
                  <a:schemeClr val="tx1"/>
                </a:solidFill>
                <a:effectLst/>
                <a:latin typeface="+mn-lt"/>
                <a:ea typeface="+mn-ea"/>
                <a:cs typeface="+mn-cs"/>
              </a:rPr>
              <a:t>'Prosumer' economy</a:t>
            </a:r>
            <a:r>
              <a:rPr lang="en-US" sz="1200" kern="1200" dirty="0">
                <a:solidFill>
                  <a:schemeClr val="tx1"/>
                </a:solidFill>
                <a:effectLst/>
                <a:latin typeface="+mn-lt"/>
                <a:ea typeface="+mn-ea"/>
                <a:cs typeface="+mn-cs"/>
              </a:rPr>
              <a:t>. API usage for </a:t>
            </a:r>
            <a:r>
              <a:rPr lang="en-US" sz="1200" kern="1200" dirty="0" err="1">
                <a:solidFill>
                  <a:schemeClr val="tx1"/>
                </a:solidFill>
                <a:effectLst/>
                <a:latin typeface="+mn-lt"/>
                <a:ea typeface="+mn-ea"/>
                <a:cs typeface="+mn-cs"/>
              </a:rPr>
              <a:t>SeaDance</a:t>
            </a:r>
            <a:r>
              <a:rPr lang="en-US" sz="1200" kern="1200" dirty="0">
                <a:solidFill>
                  <a:schemeClr val="tx1"/>
                </a:solidFill>
                <a:effectLst/>
                <a:latin typeface="+mn-lt"/>
                <a:ea typeface="+mn-ea"/>
                <a:cs typeface="+mn-cs"/>
              </a:rPr>
              <a:t> is driven by advertising agencies, digital content creators, and AI short-film studios. In China, revenues from AI short films have now surpassed traditional box office theater revenues, creating a self-sustaining commercial ecosystem. </a:t>
            </a:r>
          </a:p>
          <a:p>
            <a:endParaRPr lang="en-US" dirty="0"/>
          </a:p>
        </p:txBody>
      </p:sp>
      <p:sp>
        <p:nvSpPr>
          <p:cNvPr id="4" name="Slide Number Placeholder 3"/>
          <p:cNvSpPr>
            <a:spLocks noGrp="1"/>
          </p:cNvSpPr>
          <p:nvPr>
            <p:ph type="sldNum" sz="quarter" idx="5"/>
          </p:nvPr>
        </p:nvSpPr>
        <p:spPr/>
        <p:txBody>
          <a:bodyPr/>
          <a:lstStyle/>
          <a:p>
            <a:fld id="{65D36018-2FDE-4D1A-9D5E-D0D73D9C4F15}" type="slidenum">
              <a:rPr lang="en-US" smtClean="0"/>
              <a:t>8</a:t>
            </a:fld>
            <a:endParaRPr lang="en-US"/>
          </a:p>
        </p:txBody>
      </p:sp>
    </p:spTree>
    <p:extLst>
      <p:ext uri="{BB962C8B-B14F-4D97-AF65-F5344CB8AC3E}">
        <p14:creationId xmlns:p14="http://schemas.microsoft.com/office/powerpoint/2010/main" val="7035468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Redefining the </a:t>
            </a:r>
            <a:r>
              <a:rPr lang="en-US" sz="1200" b="1" kern="1200" dirty="0" err="1">
                <a:solidFill>
                  <a:schemeClr val="tx1"/>
                </a:solidFill>
                <a:effectLst/>
                <a:latin typeface="+mn-lt"/>
                <a:ea typeface="+mn-ea"/>
                <a:cs typeface="+mn-cs"/>
              </a:rPr>
              <a:t>Neolab</a:t>
            </a:r>
            <a:r>
              <a:rPr lang="en-US" sz="1200" b="1" kern="1200" dirty="0">
                <a:solidFill>
                  <a:schemeClr val="tx1"/>
                </a:solidFill>
                <a:effectLst/>
                <a:latin typeface="+mn-lt"/>
                <a:ea typeface="+mn-ea"/>
                <a:cs typeface="+mn-cs"/>
              </a:rPr>
              <a:t> Concept:</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In Silicon Valley, a '</a:t>
            </a:r>
            <a:r>
              <a:rPr lang="en-US" sz="1200" kern="1200" dirty="0" err="1">
                <a:solidFill>
                  <a:schemeClr val="tx1"/>
                </a:solidFill>
                <a:effectLst/>
                <a:latin typeface="+mn-lt"/>
                <a:ea typeface="+mn-ea"/>
                <a:cs typeface="+mn-cs"/>
              </a:rPr>
              <a:t>Neolab</a:t>
            </a:r>
            <a:r>
              <a:rPr lang="en-US" sz="1200" kern="1200" dirty="0">
                <a:solidFill>
                  <a:schemeClr val="tx1"/>
                </a:solidFill>
                <a:effectLst/>
                <a:latin typeface="+mn-lt"/>
                <a:ea typeface="+mn-ea"/>
                <a:cs typeface="+mn-cs"/>
              </a:rPr>
              <a:t>' traditionally meant an academic spin-off where top researchers raise tens of millions to build new foundational models from scratch. In China, the </a:t>
            </a:r>
            <a:r>
              <a:rPr lang="en-US" sz="1200" kern="1200" dirty="0" err="1">
                <a:solidFill>
                  <a:schemeClr val="tx1"/>
                </a:solidFill>
                <a:effectLst/>
                <a:latin typeface="+mn-lt"/>
                <a:ea typeface="+mn-ea"/>
                <a:cs typeface="+mn-cs"/>
              </a:rPr>
              <a:t>Neolab</a:t>
            </a:r>
            <a:r>
              <a:rPr lang="en-US" sz="1200" kern="1200" dirty="0">
                <a:solidFill>
                  <a:schemeClr val="tx1"/>
                </a:solidFill>
                <a:effectLst/>
                <a:latin typeface="+mn-lt"/>
                <a:ea typeface="+mn-ea"/>
                <a:cs typeface="+mn-cs"/>
              </a:rPr>
              <a:t> definition is more pragmatic and application-driven. </a:t>
            </a:r>
          </a:p>
          <a:p>
            <a:pPr lvl="0"/>
            <a:r>
              <a:rPr lang="en-US" sz="1200" b="1" kern="1200" dirty="0">
                <a:solidFill>
                  <a:schemeClr val="tx1"/>
                </a:solidFill>
                <a:effectLst/>
                <a:latin typeface="+mn-lt"/>
                <a:ea typeface="+mn-ea"/>
                <a:cs typeface="+mn-cs"/>
              </a:rPr>
              <a:t>The Cursor Flywheel Model:</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The modern </a:t>
            </a:r>
            <a:r>
              <a:rPr lang="en-US" sz="1200" kern="1200" dirty="0" err="1">
                <a:solidFill>
                  <a:schemeClr val="tx1"/>
                </a:solidFill>
                <a:effectLst/>
                <a:latin typeface="+mn-lt"/>
                <a:ea typeface="+mn-ea"/>
                <a:cs typeface="+mn-cs"/>
              </a:rPr>
              <a:t>Neolab</a:t>
            </a:r>
            <a:r>
              <a:rPr lang="en-US" sz="1200" kern="1200" dirty="0">
                <a:solidFill>
                  <a:schemeClr val="tx1"/>
                </a:solidFill>
                <a:effectLst/>
                <a:latin typeface="+mn-lt"/>
                <a:ea typeface="+mn-ea"/>
                <a:cs typeface="+mn-cs"/>
              </a:rPr>
              <a:t> looks like </a:t>
            </a:r>
            <a:r>
              <a:rPr lang="en-US" sz="1200" b="1" kern="1200" dirty="0">
                <a:solidFill>
                  <a:schemeClr val="tx1"/>
                </a:solidFill>
                <a:effectLst/>
                <a:latin typeface="+mn-lt"/>
                <a:ea typeface="+mn-ea"/>
                <a:cs typeface="+mn-cs"/>
              </a:rPr>
              <a:t>Cursor</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Super App Delivery:</a:t>
            </a:r>
            <a:r>
              <a:rPr lang="en-US" sz="1200" kern="1200" dirty="0">
                <a:solidFill>
                  <a:schemeClr val="tx1"/>
                </a:solidFill>
                <a:effectLst/>
                <a:latin typeface="+mn-lt"/>
                <a:ea typeface="+mn-ea"/>
                <a:cs typeface="+mn-cs"/>
              </a:rPr>
              <a:t> You begin by building an indispensable vertical application that users interact with daily.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Proprietary Data:</a:t>
            </a:r>
            <a:r>
              <a:rPr lang="en-US" sz="1200" kern="1200" dirty="0">
                <a:solidFill>
                  <a:schemeClr val="tx1"/>
                </a:solidFill>
                <a:effectLst/>
                <a:latin typeface="+mn-lt"/>
                <a:ea typeface="+mn-ea"/>
                <a:cs typeface="+mn-cs"/>
              </a:rPr>
              <a:t> Through daily usage, you capture real-world user interaction traces that cannot be scraped from the web.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Post-Training Loop:</a:t>
            </a:r>
            <a:r>
              <a:rPr lang="en-US" sz="1200" kern="1200" dirty="0">
                <a:solidFill>
                  <a:schemeClr val="tx1"/>
                </a:solidFill>
                <a:effectLst/>
                <a:latin typeface="+mn-lt"/>
                <a:ea typeface="+mn-ea"/>
                <a:cs typeface="+mn-cs"/>
              </a:rPr>
              <a:t> Instead of expensive pre-training, you use this unique interaction data to post-train and fine-tune open-source base models.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Model Superiority:</a:t>
            </a:r>
            <a:r>
              <a:rPr lang="en-US" sz="1200" kern="1200" dirty="0">
                <a:solidFill>
                  <a:schemeClr val="tx1"/>
                </a:solidFill>
                <a:effectLst/>
                <a:latin typeface="+mn-lt"/>
                <a:ea typeface="+mn-ea"/>
                <a:cs typeface="+mn-cs"/>
              </a:rPr>
              <a:t> Your customized, domain-specific model beats generalized models in both task accuracy and inference cost. </a:t>
            </a:r>
          </a:p>
          <a:p>
            <a:pPr lvl="0"/>
            <a:r>
              <a:rPr lang="en-US" sz="1200" b="1" kern="1200" dirty="0">
                <a:solidFill>
                  <a:schemeClr val="tx1"/>
                </a:solidFill>
                <a:effectLst/>
                <a:latin typeface="+mn-lt"/>
                <a:ea typeface="+mn-ea"/>
                <a:cs typeface="+mn-cs"/>
              </a:rPr>
              <a:t>Vertical Moats: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Whether in legal tech, medical diagnostics, or enterprise </a:t>
            </a:r>
            <a:r>
              <a:rPr lang="en-US" sz="1200" kern="1200" dirty="0" err="1">
                <a:solidFill>
                  <a:schemeClr val="tx1"/>
                </a:solidFill>
                <a:effectLst/>
                <a:latin typeface="+mn-lt"/>
                <a:ea typeface="+mn-ea"/>
                <a:cs typeface="+mn-cs"/>
              </a:rPr>
              <a:t>devops</a:t>
            </a:r>
            <a:r>
              <a:rPr lang="en-US" sz="1200" kern="1200" dirty="0">
                <a:solidFill>
                  <a:schemeClr val="tx1"/>
                </a:solidFill>
                <a:effectLst/>
                <a:latin typeface="+mn-lt"/>
                <a:ea typeface="+mn-ea"/>
                <a:cs typeface="+mn-cs"/>
              </a:rPr>
              <a:t>, future AI moats won't belong to teams with generic web-crawled data. They will belong to application-first engines that convert user interaction exhaust into domain-specific intelligence.</a:t>
            </a:r>
          </a:p>
          <a:p>
            <a:endParaRPr lang="en-US" dirty="0"/>
          </a:p>
        </p:txBody>
      </p:sp>
      <p:sp>
        <p:nvSpPr>
          <p:cNvPr id="4" name="Slide Number Placeholder 3"/>
          <p:cNvSpPr>
            <a:spLocks noGrp="1"/>
          </p:cNvSpPr>
          <p:nvPr>
            <p:ph type="sldNum" sz="quarter" idx="5"/>
          </p:nvPr>
        </p:nvSpPr>
        <p:spPr/>
        <p:txBody>
          <a:bodyPr/>
          <a:lstStyle/>
          <a:p>
            <a:fld id="{65D36018-2FDE-4D1A-9D5E-D0D73D9C4F15}" type="slidenum">
              <a:rPr lang="en-US" smtClean="0"/>
              <a:t>9</a:t>
            </a:fld>
            <a:endParaRPr lang="en-US"/>
          </a:p>
        </p:txBody>
      </p:sp>
    </p:spTree>
    <p:extLst>
      <p:ext uri="{BB962C8B-B14F-4D97-AF65-F5344CB8AC3E}">
        <p14:creationId xmlns:p14="http://schemas.microsoft.com/office/powerpoint/2010/main" val="2467015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Moving Beyond Static Internet Benchmarks: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train autonomous agents, static internet text is no longer sufficient. Modern data providers are pivoting toward building </a:t>
            </a:r>
            <a:r>
              <a:rPr lang="en-US" sz="1200" b="1" kern="1200" dirty="0">
                <a:solidFill>
                  <a:schemeClr val="tx1"/>
                </a:solidFill>
                <a:effectLst/>
                <a:latin typeface="+mn-lt"/>
                <a:ea typeface="+mn-ea"/>
                <a:cs typeface="+mn-cs"/>
              </a:rPr>
              <a:t>dynamic environments</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Anton Labs 'Vending Machine' Benchmark: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 prime example of this is Anton Labs’ </a:t>
            </a:r>
            <a:r>
              <a:rPr lang="en-US" sz="1200" b="1" kern="1200" dirty="0">
                <a:solidFill>
                  <a:schemeClr val="tx1"/>
                </a:solidFill>
                <a:effectLst/>
                <a:latin typeface="+mn-lt"/>
                <a:ea typeface="+mn-ea"/>
                <a:cs typeface="+mn-cs"/>
              </a:rPr>
              <a:t>'Vending Bench'</a:t>
            </a:r>
            <a:r>
              <a:rPr lang="en-US" sz="1200" kern="1200" dirty="0">
                <a:solidFill>
                  <a:schemeClr val="tx1"/>
                </a:solidFill>
                <a:effectLst/>
                <a:latin typeface="+mn-lt"/>
                <a:ea typeface="+mn-ea"/>
                <a:cs typeface="+mn-cs"/>
              </a:rPr>
              <a:t>. They forced an LLM to completely manage pricing, inventory, supply chain logistics, and marketing strategies for real-world physical vending machines and retail shops. </a:t>
            </a:r>
          </a:p>
          <a:p>
            <a:pPr lvl="0"/>
            <a:r>
              <a:rPr lang="en-US" sz="1200" b="1" kern="1200" dirty="0">
                <a:solidFill>
                  <a:schemeClr val="tx1"/>
                </a:solidFill>
                <a:effectLst/>
                <a:latin typeface="+mn-lt"/>
                <a:ea typeface="+mn-ea"/>
                <a:cs typeface="+mn-cs"/>
              </a:rPr>
              <a:t>Key Environmental Challenges: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benchmark highlights two critical challenges that static benchmarks miss: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Partial Observation:</a:t>
            </a:r>
            <a:r>
              <a:rPr lang="en-US" sz="1200" kern="1200" dirty="0">
                <a:solidFill>
                  <a:schemeClr val="tx1"/>
                </a:solidFill>
                <a:effectLst/>
                <a:latin typeface="+mn-lt"/>
                <a:ea typeface="+mn-ea"/>
                <a:cs typeface="+mn-cs"/>
              </a:rPr>
              <a:t> In real business environments, information is incomplete. The model must learn to infer hidden variables through trial and interaction.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Dynamic Irreversibility:</a:t>
            </a:r>
            <a:r>
              <a:rPr lang="en-US" sz="1200" kern="1200" dirty="0">
                <a:solidFill>
                  <a:schemeClr val="tx1"/>
                </a:solidFill>
                <a:effectLst/>
                <a:latin typeface="+mn-lt"/>
                <a:ea typeface="+mn-ea"/>
                <a:cs typeface="+mn-cs"/>
              </a:rPr>
              <a:t> In a static test, you can roll back code a million times. In the physical world, setting an incorrect price or launching a bad marketing campaign permanently alters customer behavior. Bridging LLM reasoning to physical chaos is the next frontier for agent data. </a:t>
            </a:r>
          </a:p>
          <a:p>
            <a:endParaRPr lang="en-US" dirty="0"/>
          </a:p>
        </p:txBody>
      </p:sp>
      <p:sp>
        <p:nvSpPr>
          <p:cNvPr id="4" name="Slide Number Placeholder 3"/>
          <p:cNvSpPr>
            <a:spLocks noGrp="1"/>
          </p:cNvSpPr>
          <p:nvPr>
            <p:ph type="sldNum" sz="quarter" idx="5"/>
          </p:nvPr>
        </p:nvSpPr>
        <p:spPr/>
        <p:txBody>
          <a:bodyPr/>
          <a:lstStyle/>
          <a:p>
            <a:fld id="{65D36018-2FDE-4D1A-9D5E-D0D73D9C4F15}" type="slidenum">
              <a:rPr lang="en-US" smtClean="0"/>
              <a:t>10</a:t>
            </a:fld>
            <a:endParaRPr lang="en-US"/>
          </a:p>
        </p:txBody>
      </p:sp>
    </p:spTree>
    <p:extLst>
      <p:ext uri="{BB962C8B-B14F-4D97-AF65-F5344CB8AC3E}">
        <p14:creationId xmlns:p14="http://schemas.microsoft.com/office/powerpoint/2010/main" val="2571757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Promise of AI for Science: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AI for Science—spanning protein design, antibody binding, and material synthesis—is a major focus for global venture capital. Models like AlphaFold 3 and Chai enable de novo protein design without expensive wet-lab iterations. </a:t>
            </a:r>
          </a:p>
          <a:p>
            <a:pPr lvl="0"/>
            <a:r>
              <a:rPr lang="en-US" sz="1200" b="1" kern="1200" dirty="0">
                <a:solidFill>
                  <a:schemeClr val="tx1"/>
                </a:solidFill>
                <a:effectLst/>
                <a:latin typeface="+mn-lt"/>
                <a:ea typeface="+mn-ea"/>
                <a:cs typeface="+mn-cs"/>
              </a:rPr>
              <a:t>The Verification Bottleneck: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However, AI for Science faces a structural barrier that software models do not: </a:t>
            </a:r>
            <a:r>
              <a:rPr lang="en-US" sz="1200" b="1" kern="1200" dirty="0">
                <a:solidFill>
                  <a:schemeClr val="tx1"/>
                </a:solidFill>
                <a:effectLst/>
                <a:latin typeface="+mn-lt"/>
                <a:ea typeface="+mn-ea"/>
                <a:cs typeface="+mn-cs"/>
              </a:rPr>
              <a:t>The Feedback Loop Barrier</a:t>
            </a:r>
            <a:r>
              <a:rPr lang="en-US" sz="1200" kern="1200" dirty="0">
                <a:solidFill>
                  <a:schemeClr val="tx1"/>
                </a:solidFill>
                <a:effectLst/>
                <a:latin typeface="+mn-lt"/>
                <a:ea typeface="+mn-ea"/>
                <a:cs typeface="+mn-cs"/>
              </a:rPr>
              <a:t>. In software, if an LLM writes code, a compiler verifies whether it works in seconds. In biology, your ultimate verifier is the human body. </a:t>
            </a:r>
          </a:p>
          <a:p>
            <a:pPr lvl="0"/>
            <a:r>
              <a:rPr lang="en-US" sz="1200" b="1" kern="1200" dirty="0">
                <a:solidFill>
                  <a:schemeClr val="tx1"/>
                </a:solidFill>
                <a:effectLst/>
                <a:latin typeface="+mn-lt"/>
                <a:ea typeface="+mn-ea"/>
                <a:cs typeface="+mn-cs"/>
              </a:rPr>
              <a:t>The Timeline Trap:</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You can design a novel antibody binding model in seconds, but validating whether that drug safely cures a human disease requires multi-year FDA clinical trials. The rapid iteration loop that drives software AI dies in the physical constraints of biology. Building virtual cell models to simulate drug interactions is our best attempt to bridge this gap, but data scarcity in biology remains a primary bottleneck. </a:t>
            </a:r>
          </a:p>
          <a:p>
            <a:endParaRPr lang="en-US" dirty="0"/>
          </a:p>
        </p:txBody>
      </p:sp>
      <p:sp>
        <p:nvSpPr>
          <p:cNvPr id="4" name="Slide Number Placeholder 3"/>
          <p:cNvSpPr>
            <a:spLocks noGrp="1"/>
          </p:cNvSpPr>
          <p:nvPr>
            <p:ph type="sldNum" sz="quarter" idx="5"/>
          </p:nvPr>
        </p:nvSpPr>
        <p:spPr/>
        <p:txBody>
          <a:bodyPr/>
          <a:lstStyle/>
          <a:p>
            <a:fld id="{65D36018-2FDE-4D1A-9D5E-D0D73D9C4F15}" type="slidenum">
              <a:rPr lang="en-US" smtClean="0"/>
              <a:t>11</a:t>
            </a:fld>
            <a:endParaRPr lang="en-US"/>
          </a:p>
        </p:txBody>
      </p:sp>
    </p:spTree>
    <p:extLst>
      <p:ext uri="{BB962C8B-B14F-4D97-AF65-F5344CB8AC3E}">
        <p14:creationId xmlns:p14="http://schemas.microsoft.com/office/powerpoint/2010/main" val="37378081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Summarizing Key Drivers: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synthesize our analysis today, China’s AI landscape is not merely trailing Western frontier models; it is evolving into a distinct, parallel ecosystem optimized for a different set of economic reality. </a:t>
            </a:r>
          </a:p>
          <a:p>
            <a:pPr lvl="0"/>
            <a:r>
              <a:rPr lang="en-US" sz="1200" b="1" kern="1200" dirty="0">
                <a:solidFill>
                  <a:schemeClr val="tx1"/>
                </a:solidFill>
                <a:effectLst/>
                <a:latin typeface="+mn-lt"/>
                <a:ea typeface="+mn-ea"/>
                <a:cs typeface="+mn-cs"/>
              </a:rPr>
              <a:t>The Three Strategic Pillars: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Constraint as Catalyst:</a:t>
            </a:r>
            <a:r>
              <a:rPr lang="en-US" sz="1200" kern="1200" dirty="0">
                <a:solidFill>
                  <a:schemeClr val="tx1"/>
                </a:solidFill>
                <a:effectLst/>
                <a:latin typeface="+mn-lt"/>
                <a:ea typeface="+mn-ea"/>
                <a:cs typeface="+mn-cs"/>
              </a:rPr>
              <a:t> Severe compute scarcity forced Chinese labs to master deep architectural efficiency (such as DeepSeek’s DSA and Kimi’s KDA) rather than relying on hardware scale. </a:t>
            </a:r>
          </a:p>
          <a:p>
            <a:pPr marL="228600" lvl="0" indent="-228600">
              <a:buFont typeface="+mj-lt"/>
              <a:buAutoNum type="arabicPeriod"/>
            </a:pPr>
            <a:r>
              <a:rPr lang="en-US" sz="1200" b="1" kern="1200" dirty="0">
                <a:solidFill>
                  <a:schemeClr val="tx1"/>
                </a:solidFill>
                <a:effectLst/>
                <a:latin typeface="+mn-lt"/>
                <a:ea typeface="+mn-ea"/>
                <a:cs typeface="+mn-cs"/>
              </a:rPr>
              <a:t>Data Evolves from Apps:</a:t>
            </a:r>
            <a:r>
              <a:rPr lang="en-US" sz="1200" kern="1200" dirty="0">
                <a:solidFill>
                  <a:schemeClr val="tx1"/>
                </a:solidFill>
                <a:effectLst/>
                <a:latin typeface="+mn-lt"/>
                <a:ea typeface="+mn-ea"/>
                <a:cs typeface="+mn-cs"/>
              </a:rPr>
              <a:t> Inability to brute-force general AGI is driving focus into vertical super-apps and proprietary interaction environments. </a:t>
            </a:r>
          </a:p>
          <a:p>
            <a:pPr marL="228600" lvl="0" indent="-228600">
              <a:buFont typeface="+mj-lt"/>
              <a:buAutoNum type="arabicPeriod"/>
            </a:pPr>
            <a:r>
              <a:rPr lang="en-US" sz="1200" b="1" kern="1200" dirty="0">
                <a:solidFill>
                  <a:schemeClr val="tx1"/>
                </a:solidFill>
                <a:effectLst/>
                <a:latin typeface="+mn-lt"/>
                <a:ea typeface="+mn-ea"/>
                <a:cs typeface="+mn-cs"/>
              </a:rPr>
              <a:t>Parallel Architecture:</a:t>
            </a:r>
            <a:r>
              <a:rPr lang="en-US" sz="1200" kern="1200" dirty="0">
                <a:solidFill>
                  <a:schemeClr val="tx1"/>
                </a:solidFill>
                <a:effectLst/>
                <a:latin typeface="+mn-lt"/>
                <a:ea typeface="+mn-ea"/>
                <a:cs typeface="+mn-cs"/>
              </a:rPr>
              <a:t> China is creating an open-weight ecosystem optimized for extreme token efficiency, low inference costs, and application-layer dominance. </a:t>
            </a:r>
          </a:p>
          <a:p>
            <a:pPr lvl="0"/>
            <a:r>
              <a:rPr lang="en-US" sz="1200" b="1" kern="1200" dirty="0">
                <a:solidFill>
                  <a:schemeClr val="tx1"/>
                </a:solidFill>
                <a:effectLst/>
                <a:latin typeface="+mn-lt"/>
                <a:ea typeface="+mn-ea"/>
                <a:cs typeface="+mn-cs"/>
              </a:rPr>
              <a:t>Concluding Outlook: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As developers worldwide continue adopting these high-efficiency open-source models, the global economics of AI will continue shifting away from high-margin API monopolies toward hyper-efficient, application-specific intelligence. </a:t>
            </a:r>
          </a:p>
          <a:p>
            <a:endParaRPr lang="en-US" dirty="0"/>
          </a:p>
        </p:txBody>
      </p:sp>
      <p:sp>
        <p:nvSpPr>
          <p:cNvPr id="4" name="Slide Number Placeholder 3"/>
          <p:cNvSpPr>
            <a:spLocks noGrp="1"/>
          </p:cNvSpPr>
          <p:nvPr>
            <p:ph type="sldNum" sz="quarter" idx="5"/>
          </p:nvPr>
        </p:nvSpPr>
        <p:spPr/>
        <p:txBody>
          <a:bodyPr/>
          <a:lstStyle/>
          <a:p>
            <a:fld id="{65D36018-2FDE-4D1A-9D5E-D0D73D9C4F15}" type="slidenum">
              <a:rPr lang="en-US" smtClean="0"/>
              <a:t>12</a:t>
            </a:fld>
            <a:endParaRPr lang="en-US"/>
          </a:p>
        </p:txBody>
      </p:sp>
    </p:spTree>
    <p:extLst>
      <p:ext uri="{BB962C8B-B14F-4D97-AF65-F5344CB8AC3E}">
        <p14:creationId xmlns:p14="http://schemas.microsoft.com/office/powerpoint/2010/main" val="943184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Executive Dashboard Overview:</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wrap up our deck, this executive summary dashboard brings together the core operational metrics and strategic shifts we’ve discussed: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Lean Lab Model:</a:t>
            </a:r>
            <a:r>
              <a:rPr lang="en-US" sz="1200" kern="1200" dirty="0">
                <a:solidFill>
                  <a:schemeClr val="tx1"/>
                </a:solidFill>
                <a:effectLst/>
                <a:latin typeface="+mn-lt"/>
                <a:ea typeface="+mn-ea"/>
                <a:cs typeface="+mn-cs"/>
              </a:rPr>
              <a:t> Moonshot AI reached top-tier global reasoning capabilities with fewer than 400 people.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Token Migration:</a:t>
            </a:r>
            <a:r>
              <a:rPr lang="en-US" sz="1200" kern="1200" dirty="0">
                <a:solidFill>
                  <a:schemeClr val="tx1"/>
                </a:solidFill>
                <a:effectLst/>
                <a:latin typeface="+mn-lt"/>
                <a:ea typeface="+mn-ea"/>
                <a:cs typeface="+mn-cs"/>
              </a:rPr>
              <a:t> Global developers are actively swapping expensive closed models for cheaper, high-performing open-source alternatives for bulk tasks.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Multimedia Leadership:</a:t>
            </a:r>
            <a:r>
              <a:rPr lang="en-US" sz="1200" kern="1200" dirty="0">
                <a:solidFill>
                  <a:schemeClr val="tx1"/>
                </a:solidFill>
                <a:effectLst/>
                <a:latin typeface="+mn-lt"/>
                <a:ea typeface="+mn-ea"/>
                <a:cs typeface="+mn-cs"/>
              </a:rPr>
              <a:t> Tools like ByteDance’s </a:t>
            </a:r>
            <a:r>
              <a:rPr lang="en-US" sz="1200" kern="1200" dirty="0" err="1">
                <a:solidFill>
                  <a:schemeClr val="tx1"/>
                </a:solidFill>
                <a:effectLst/>
                <a:latin typeface="+mn-lt"/>
                <a:ea typeface="+mn-ea"/>
                <a:cs typeface="+mn-cs"/>
              </a:rPr>
              <a:t>SeaDance</a:t>
            </a:r>
            <a:r>
              <a:rPr lang="en-US" sz="1200" kern="1200" dirty="0">
                <a:solidFill>
                  <a:schemeClr val="tx1"/>
                </a:solidFill>
                <a:effectLst/>
                <a:latin typeface="+mn-lt"/>
                <a:ea typeface="+mn-ea"/>
                <a:cs typeface="+mn-cs"/>
              </a:rPr>
              <a:t> lead globally in video generation, emotional fidelity, and dynamic action physics. </a:t>
            </a:r>
          </a:p>
          <a:p>
            <a:pPr lvl="0"/>
            <a:r>
              <a:rPr lang="en-US" sz="1200" b="1" kern="1200" dirty="0">
                <a:solidFill>
                  <a:schemeClr val="tx1"/>
                </a:solidFill>
                <a:effectLst/>
                <a:latin typeface="+mn-lt"/>
                <a:ea typeface="+mn-ea"/>
                <a:cs typeface="+mn-cs"/>
              </a:rPr>
              <a:t>Closing Call to Action &amp; Q&amp;A:</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Whether you are an investor, developer, or enterprise strategy leader, the key takeaway is clear: do not measure AI competitiveness purely by raw GPU counts or top-down government subsidies. Watch the architectural efficiency, the open-source token adoption, and the vertical application loops. </a:t>
            </a:r>
          </a:p>
          <a:p>
            <a:pPr lvl="0"/>
            <a:r>
              <a:rPr lang="en-US" sz="1200" kern="1200" dirty="0">
                <a:solidFill>
                  <a:schemeClr val="tx1"/>
                </a:solidFill>
                <a:effectLst/>
                <a:latin typeface="+mn-lt"/>
                <a:ea typeface="+mn-ea"/>
                <a:cs typeface="+mn-cs"/>
              </a:rPr>
              <a:t>Thank you for your time. I will now open the floor to any questions.</a:t>
            </a:r>
          </a:p>
          <a:p>
            <a:endParaRPr lang="en-US" dirty="0"/>
          </a:p>
        </p:txBody>
      </p:sp>
      <p:sp>
        <p:nvSpPr>
          <p:cNvPr id="4" name="Slide Number Placeholder 3"/>
          <p:cNvSpPr>
            <a:spLocks noGrp="1"/>
          </p:cNvSpPr>
          <p:nvPr>
            <p:ph type="sldNum" sz="quarter" idx="5"/>
          </p:nvPr>
        </p:nvSpPr>
        <p:spPr/>
        <p:txBody>
          <a:bodyPr/>
          <a:lstStyle/>
          <a:p>
            <a:fld id="{65D36018-2FDE-4D1A-9D5E-D0D73D9C4F15}" type="slidenum">
              <a:rPr lang="en-US" smtClean="0"/>
              <a:t>13</a:t>
            </a:fld>
            <a:endParaRPr lang="en-US"/>
          </a:p>
        </p:txBody>
      </p:sp>
    </p:spTree>
    <p:extLst>
      <p:ext uri="{BB962C8B-B14F-4D97-AF65-F5344CB8AC3E}">
        <p14:creationId xmlns:p14="http://schemas.microsoft.com/office/powerpoint/2010/main" val="358085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70DA88-AA9E-5665-A1E8-E4D3EE8796B5}"/>
              </a:ext>
            </a:extLst>
          </p:cNvPr>
          <p:cNvSpPr>
            <a:spLocks noGrp="1"/>
          </p:cNvSpPr>
          <p:nvPr>
            <p:ph type="dt" sz="half" idx="10"/>
          </p:nvPr>
        </p:nvSpPr>
        <p:spPr/>
        <p:txBody>
          <a:bodyPr/>
          <a:lstStyle/>
          <a:p>
            <a:fld id="{12D26CF9-79EC-4F00-A078-C63349249D82}" type="datetimeFigureOut">
              <a:rPr lang="en-US" smtClean="0"/>
              <a:t>10/19/2026</a:t>
            </a:fld>
            <a:endParaRPr lang="en-US"/>
          </a:p>
        </p:txBody>
      </p:sp>
      <p:sp>
        <p:nvSpPr>
          <p:cNvPr id="3" name="Footer Placeholder 2">
            <a:extLst>
              <a:ext uri="{FF2B5EF4-FFF2-40B4-BE49-F238E27FC236}">
                <a16:creationId xmlns:a16="http://schemas.microsoft.com/office/drawing/2014/main" id="{BDA833EE-7E05-6668-977D-5DF86500A6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B5F95F-E7DA-693E-4FC6-39992C65E875}"/>
              </a:ext>
            </a:extLst>
          </p:cNvPr>
          <p:cNvSpPr>
            <a:spLocks noGrp="1"/>
          </p:cNvSpPr>
          <p:nvPr>
            <p:ph type="sldNum" sz="quarter" idx="12"/>
          </p:nvPr>
        </p:nvSpPr>
        <p:spPr/>
        <p:txBody>
          <a:bodyPr/>
          <a:lstStyle/>
          <a:p>
            <a:fld id="{D985137B-F036-43A1-BE2B-95301BCB22BD}" type="slidenum">
              <a:rPr lang="en-US" smtClean="0"/>
              <a:t>‹#›</a:t>
            </a:fld>
            <a:endParaRPr lang="en-US"/>
          </a:p>
        </p:txBody>
      </p:sp>
    </p:spTree>
    <p:extLst>
      <p:ext uri="{BB962C8B-B14F-4D97-AF65-F5344CB8AC3E}">
        <p14:creationId xmlns:p14="http://schemas.microsoft.com/office/powerpoint/2010/main" val="360376685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C2A929-E619-70E1-DE48-FDA9B8BC91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58DE23-B424-71B2-B285-373C8D1E8D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765ABC-DBA5-915F-3571-55F8DD1239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D26CF9-79EC-4F00-A078-C63349249D82}" type="datetimeFigureOut">
              <a:rPr lang="en-US" smtClean="0"/>
              <a:t>10/19/2026</a:t>
            </a:fld>
            <a:endParaRPr lang="en-US"/>
          </a:p>
        </p:txBody>
      </p:sp>
      <p:sp>
        <p:nvSpPr>
          <p:cNvPr id="5" name="Footer Placeholder 4">
            <a:extLst>
              <a:ext uri="{FF2B5EF4-FFF2-40B4-BE49-F238E27FC236}">
                <a16:creationId xmlns:a16="http://schemas.microsoft.com/office/drawing/2014/main" id="{AE53FE45-03FD-2016-CA3B-0DC72A727E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17EFF26-6CD8-5648-0360-A64812F812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85137B-F036-43A1-BE2B-95301BCB22BD}" type="slidenum">
              <a:rPr lang="en-US" smtClean="0"/>
              <a:t>‹#›</a:t>
            </a:fld>
            <a:endParaRPr lang="en-US"/>
          </a:p>
        </p:txBody>
      </p:sp>
    </p:spTree>
    <p:extLst>
      <p:ext uri="{BB962C8B-B14F-4D97-AF65-F5344CB8AC3E}">
        <p14:creationId xmlns:p14="http://schemas.microsoft.com/office/powerpoint/2010/main" val="377728737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D91663-9E8C-057D-A60A-F4AED4DBD1E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9FC742-CA3D-1ECB-D4DE-A7436CCE78D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93C310-6CAF-A8F3-CF30-C83781EE99A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336C97-064D-3C66-C9B2-47867CA43C0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6E5738-3A33-CB67-0BA6-DE83C4CEFA3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31F5CD-991F-9ECF-AB85-EC2C1C80547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A60163-AEAA-C301-C365-F5A5A987433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02CAC5-026C-5758-557E-B299CF0E8AB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EA6C16-5ADC-4810-2022-3CBC68E5DF0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BF01C0-2EB4-8186-47AE-6238EFEB8AA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E3382C-F8DC-3768-D60D-CC6E776F996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DD7800-CF4A-B2EF-B7F4-0B5BCE86015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CEC59C-467C-A191-3EAA-BB20C8CC33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5013577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2663</Words>
  <Application>Microsoft Office PowerPoint</Application>
  <PresentationFormat>寬螢幕</PresentationFormat>
  <Paragraphs>117</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2026-08-19T18:13:12Z</dcterms:created>
  <dcterms:modified xsi:type="dcterms:W3CDTF">2026-10-19T15:36:48Z</dcterms:modified>
</cp:coreProperties>
</file>