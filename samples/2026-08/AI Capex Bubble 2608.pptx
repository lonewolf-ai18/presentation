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AA3F3D-A6E3-4CA0-9E4F-226634D38A4A}" v="14" dt="2026-08-09T02:45:33.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92450"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09T02:46:42.120" v="56" actId="166"/>
      <pc:docMkLst>
        <pc:docMk/>
      </pc:docMkLst>
      <pc:sldChg chg="addSp delSp modSp mod modAnim modNotesTx">
        <pc:chgData name="Lai, Wilson" userId="2840974a-0d84-4886-90a9-9a3ed79f3a48" providerId="ADAL" clId="{9F23B798-9E84-4552-BA63-E776E805C424}" dt="2026-08-09T02:46:42.120" v="56" actId="166"/>
        <pc:sldMkLst>
          <pc:docMk/>
          <pc:sldMk cId="0" sldId="257"/>
        </pc:sldMkLst>
        <pc:spChg chg="add mod">
          <ac:chgData name="Lai, Wilson" userId="2840974a-0d84-4886-90a9-9a3ed79f3a48" providerId="ADAL" clId="{9F23B798-9E84-4552-BA63-E776E805C424}" dt="2026-08-09T02:45:33.581" v="53" actId="164"/>
          <ac:spMkLst>
            <pc:docMk/>
            <pc:sldMk cId="0" sldId="257"/>
            <ac:spMk id="5" creationId="{3F06E943-3CEE-AEA8-C8B5-67414D285C23}"/>
          </ac:spMkLst>
        </pc:spChg>
        <pc:grpChg chg="add mod">
          <ac:chgData name="Lai, Wilson" userId="2840974a-0d84-4886-90a9-9a3ed79f3a48" providerId="ADAL" clId="{9F23B798-9E84-4552-BA63-E776E805C424}" dt="2026-08-09T02:45:33.581" v="53" actId="164"/>
          <ac:grpSpMkLst>
            <pc:docMk/>
            <pc:sldMk cId="0" sldId="257"/>
            <ac:grpSpMk id="6" creationId="{794AFE56-C422-B63F-2284-95C9C90FCF79}"/>
          </ac:grpSpMkLst>
        </pc:grpChg>
        <pc:picChg chg="del mod">
          <ac:chgData name="Lai, Wilson" userId="2840974a-0d84-4886-90a9-9a3ed79f3a48" providerId="ADAL" clId="{9F23B798-9E84-4552-BA63-E776E805C424}" dt="2026-08-08T11:30:23.291" v="1" actId="21"/>
          <ac:picMkLst>
            <pc:docMk/>
            <pc:sldMk cId="0" sldId="257"/>
            <ac:picMk id="2" creationId="{00000000-0000-0000-0000-000000000000}"/>
          </ac:picMkLst>
        </pc:picChg>
        <pc:picChg chg="add mod">
          <ac:chgData name="Lai, Wilson" userId="2840974a-0d84-4886-90a9-9a3ed79f3a48" providerId="ADAL" clId="{9F23B798-9E84-4552-BA63-E776E805C424}" dt="2026-08-09T02:45:33.581" v="53" actId="164"/>
          <ac:picMkLst>
            <pc:docMk/>
            <pc:sldMk cId="0" sldId="257"/>
            <ac:picMk id="2" creationId="{A2E22090-4A30-60F1-694A-8429F52ACC95}"/>
          </ac:picMkLst>
        </pc:picChg>
        <pc:picChg chg="add ord">
          <ac:chgData name="Lai, Wilson" userId="2840974a-0d84-4886-90a9-9a3ed79f3a48" providerId="ADAL" clId="{9F23B798-9E84-4552-BA63-E776E805C424}" dt="2026-08-09T02:46:42.120" v="56" actId="166"/>
          <ac:picMkLst>
            <pc:docMk/>
            <pc:sldMk cId="0" sldId="257"/>
            <ac:picMk id="4" creationId="{7BDA44E4-807C-DF14-51DC-CBAEE6C92033}"/>
          </ac:picMkLst>
        </pc:picChg>
      </pc:sldChg>
      <pc:sldChg chg="addSp delSp mod">
        <pc:chgData name="Lai, Wilson" userId="2840974a-0d84-4886-90a9-9a3ed79f3a48" providerId="ADAL" clId="{9F23B798-9E84-4552-BA63-E776E805C424}" dt="2026-08-08T11:32:48.002" v="4" actId="22"/>
        <pc:sldMkLst>
          <pc:docMk/>
          <pc:sldMk cId="0" sldId="258"/>
        </pc:sldMkLst>
        <pc:picChg chg="del">
          <ac:chgData name="Lai, Wilson" userId="2840974a-0d84-4886-90a9-9a3ed79f3a48" providerId="ADAL" clId="{9F23B798-9E84-4552-BA63-E776E805C424}" dt="2026-08-08T11:30:44.610" v="3" actId="21"/>
          <ac:picMkLst>
            <pc:docMk/>
            <pc:sldMk cId="0" sldId="258"/>
            <ac:picMk id="2" creationId="{00000000-0000-0000-0000-000000000000}"/>
          </ac:picMkLst>
        </pc:picChg>
        <pc:picChg chg="add">
          <ac:chgData name="Lai, Wilson" userId="2840974a-0d84-4886-90a9-9a3ed79f3a48" providerId="ADAL" clId="{9F23B798-9E84-4552-BA63-E776E805C424}" dt="2026-08-08T11:32:48.002" v="4" actId="22"/>
          <ac:picMkLst>
            <pc:docMk/>
            <pc:sldMk cId="0" sldId="258"/>
            <ac:picMk id="4" creationId="{91DA3460-347C-2FEA-C2C5-01E276990B1C}"/>
          </ac:picMkLst>
        </pc:picChg>
      </pc:sldChg>
      <pc:sldChg chg="addSp delSp mod modNotesTx">
        <pc:chgData name="Lai, Wilson" userId="2840974a-0d84-4886-90a9-9a3ed79f3a48" providerId="ADAL" clId="{9F23B798-9E84-4552-BA63-E776E805C424}" dt="2026-08-08T11:40:22.475" v="25" actId="12"/>
        <pc:sldMkLst>
          <pc:docMk/>
          <pc:sldMk cId="0" sldId="259"/>
        </pc:sldMkLst>
        <pc:picChg chg="del">
          <ac:chgData name="Lai, Wilson" userId="2840974a-0d84-4886-90a9-9a3ed79f3a48" providerId="ADAL" clId="{9F23B798-9E84-4552-BA63-E776E805C424}" dt="2026-08-08T11:32:52.013" v="5" actId="21"/>
          <ac:picMkLst>
            <pc:docMk/>
            <pc:sldMk cId="0" sldId="259"/>
            <ac:picMk id="2" creationId="{00000000-0000-0000-0000-000000000000}"/>
          </ac:picMkLst>
        </pc:picChg>
        <pc:picChg chg="add">
          <ac:chgData name="Lai, Wilson" userId="2840974a-0d84-4886-90a9-9a3ed79f3a48" providerId="ADAL" clId="{9F23B798-9E84-4552-BA63-E776E805C424}" dt="2026-08-08T11:33:02.848" v="6" actId="22"/>
          <ac:picMkLst>
            <pc:docMk/>
            <pc:sldMk cId="0" sldId="259"/>
            <ac:picMk id="4" creationId="{2916BFFD-7C79-FFF4-7C49-C402834DACFB}"/>
          </ac:picMkLst>
        </pc:picChg>
      </pc:sldChg>
      <pc:sldChg chg="addSp delSp mod">
        <pc:chgData name="Lai, Wilson" userId="2840974a-0d84-4886-90a9-9a3ed79f3a48" providerId="ADAL" clId="{9F23B798-9E84-4552-BA63-E776E805C424}" dt="2026-08-08T11:34:17.648" v="8" actId="22"/>
        <pc:sldMkLst>
          <pc:docMk/>
          <pc:sldMk cId="0" sldId="260"/>
        </pc:sldMkLst>
        <pc:picChg chg="del">
          <ac:chgData name="Lai, Wilson" userId="2840974a-0d84-4886-90a9-9a3ed79f3a48" providerId="ADAL" clId="{9F23B798-9E84-4552-BA63-E776E805C424}" dt="2026-08-08T11:33:08.040" v="7" actId="21"/>
          <ac:picMkLst>
            <pc:docMk/>
            <pc:sldMk cId="0" sldId="260"/>
            <ac:picMk id="2" creationId="{00000000-0000-0000-0000-000000000000}"/>
          </ac:picMkLst>
        </pc:picChg>
        <pc:picChg chg="add">
          <ac:chgData name="Lai, Wilson" userId="2840974a-0d84-4886-90a9-9a3ed79f3a48" providerId="ADAL" clId="{9F23B798-9E84-4552-BA63-E776E805C424}" dt="2026-08-08T11:34:17.648" v="8" actId="22"/>
          <ac:picMkLst>
            <pc:docMk/>
            <pc:sldMk cId="0" sldId="260"/>
            <ac:picMk id="4" creationId="{FA73847F-EDD4-041C-AB08-6A5229E17473}"/>
          </ac:picMkLst>
        </pc:picChg>
      </pc:sldChg>
      <pc:sldChg chg="addSp delSp mod modNotesTx">
        <pc:chgData name="Lai, Wilson" userId="2840974a-0d84-4886-90a9-9a3ed79f3a48" providerId="ADAL" clId="{9F23B798-9E84-4552-BA63-E776E805C424}" dt="2026-08-08T11:40:48.917" v="27" actId="12"/>
        <pc:sldMkLst>
          <pc:docMk/>
          <pc:sldMk cId="0" sldId="261"/>
        </pc:sldMkLst>
        <pc:picChg chg="del">
          <ac:chgData name="Lai, Wilson" userId="2840974a-0d84-4886-90a9-9a3ed79f3a48" providerId="ADAL" clId="{9F23B798-9E84-4552-BA63-E776E805C424}" dt="2026-08-08T11:34:20.689" v="9" actId="21"/>
          <ac:picMkLst>
            <pc:docMk/>
            <pc:sldMk cId="0" sldId="261"/>
            <ac:picMk id="2" creationId="{00000000-0000-0000-0000-000000000000}"/>
          </ac:picMkLst>
        </pc:picChg>
        <pc:picChg chg="add">
          <ac:chgData name="Lai, Wilson" userId="2840974a-0d84-4886-90a9-9a3ed79f3a48" providerId="ADAL" clId="{9F23B798-9E84-4552-BA63-E776E805C424}" dt="2026-08-08T11:34:30.407" v="10" actId="22"/>
          <ac:picMkLst>
            <pc:docMk/>
            <pc:sldMk cId="0" sldId="261"/>
            <ac:picMk id="4" creationId="{5765C0A7-D0CB-BBB8-3F9D-B6157E691003}"/>
          </ac:picMkLst>
        </pc:picChg>
      </pc:sldChg>
      <pc:sldChg chg="addSp delSp mod modNotesTx">
        <pc:chgData name="Lai, Wilson" userId="2840974a-0d84-4886-90a9-9a3ed79f3a48" providerId="ADAL" clId="{9F23B798-9E84-4552-BA63-E776E805C424}" dt="2026-08-08T11:41:13.361" v="29" actId="12"/>
        <pc:sldMkLst>
          <pc:docMk/>
          <pc:sldMk cId="0" sldId="262"/>
        </pc:sldMkLst>
        <pc:picChg chg="del">
          <ac:chgData name="Lai, Wilson" userId="2840974a-0d84-4886-90a9-9a3ed79f3a48" providerId="ADAL" clId="{9F23B798-9E84-4552-BA63-E776E805C424}" dt="2026-08-08T11:34:33.500" v="11" actId="21"/>
          <ac:picMkLst>
            <pc:docMk/>
            <pc:sldMk cId="0" sldId="262"/>
            <ac:picMk id="2" creationId="{00000000-0000-0000-0000-000000000000}"/>
          </ac:picMkLst>
        </pc:picChg>
        <pc:picChg chg="add">
          <ac:chgData name="Lai, Wilson" userId="2840974a-0d84-4886-90a9-9a3ed79f3a48" providerId="ADAL" clId="{9F23B798-9E84-4552-BA63-E776E805C424}" dt="2026-08-08T11:36:24.622" v="12" actId="22"/>
          <ac:picMkLst>
            <pc:docMk/>
            <pc:sldMk cId="0" sldId="262"/>
            <ac:picMk id="4" creationId="{C179DA32-C559-8C41-6BC7-2CCA59B0BC0B}"/>
          </ac:picMkLst>
        </pc:picChg>
      </pc:sldChg>
      <pc:sldChg chg="addSp delSp mod modNotesTx">
        <pc:chgData name="Lai, Wilson" userId="2840974a-0d84-4886-90a9-9a3ed79f3a48" providerId="ADAL" clId="{9F23B798-9E84-4552-BA63-E776E805C424}" dt="2026-08-08T11:41:37.680" v="31" actId="5793"/>
        <pc:sldMkLst>
          <pc:docMk/>
          <pc:sldMk cId="0" sldId="263"/>
        </pc:sldMkLst>
        <pc:picChg chg="del">
          <ac:chgData name="Lai, Wilson" userId="2840974a-0d84-4886-90a9-9a3ed79f3a48" providerId="ADAL" clId="{9F23B798-9E84-4552-BA63-E776E805C424}" dt="2026-08-08T11:36:27.841" v="13" actId="21"/>
          <ac:picMkLst>
            <pc:docMk/>
            <pc:sldMk cId="0" sldId="263"/>
            <ac:picMk id="2" creationId="{00000000-0000-0000-0000-000000000000}"/>
          </ac:picMkLst>
        </pc:picChg>
        <pc:picChg chg="add">
          <ac:chgData name="Lai, Wilson" userId="2840974a-0d84-4886-90a9-9a3ed79f3a48" providerId="ADAL" clId="{9F23B798-9E84-4552-BA63-E776E805C424}" dt="2026-08-08T11:36:36.814" v="14" actId="22"/>
          <ac:picMkLst>
            <pc:docMk/>
            <pc:sldMk cId="0" sldId="263"/>
            <ac:picMk id="4" creationId="{DC3AC564-B0B4-58FB-A449-901946C67663}"/>
          </ac:picMkLst>
        </pc:picChg>
      </pc:sldChg>
      <pc:sldChg chg="addSp delSp mod modNotesTx">
        <pc:chgData name="Lai, Wilson" userId="2840974a-0d84-4886-90a9-9a3ed79f3a48" providerId="ADAL" clId="{9F23B798-9E84-4552-BA63-E776E805C424}" dt="2026-08-08T11:42:00.230" v="33" actId="12"/>
        <pc:sldMkLst>
          <pc:docMk/>
          <pc:sldMk cId="0" sldId="264"/>
        </pc:sldMkLst>
        <pc:picChg chg="del">
          <ac:chgData name="Lai, Wilson" userId="2840974a-0d84-4886-90a9-9a3ed79f3a48" providerId="ADAL" clId="{9F23B798-9E84-4552-BA63-E776E805C424}" dt="2026-08-08T11:36:41.937" v="15" actId="21"/>
          <ac:picMkLst>
            <pc:docMk/>
            <pc:sldMk cId="0" sldId="264"/>
            <ac:picMk id="2" creationId="{00000000-0000-0000-0000-000000000000}"/>
          </ac:picMkLst>
        </pc:picChg>
        <pc:picChg chg="add">
          <ac:chgData name="Lai, Wilson" userId="2840974a-0d84-4886-90a9-9a3ed79f3a48" providerId="ADAL" clId="{9F23B798-9E84-4552-BA63-E776E805C424}" dt="2026-08-08T11:36:50.351" v="16" actId="22"/>
          <ac:picMkLst>
            <pc:docMk/>
            <pc:sldMk cId="0" sldId="264"/>
            <ac:picMk id="4" creationId="{D0C12AFD-345C-1E92-4C1C-F76CD5D1698B}"/>
          </ac:picMkLst>
        </pc:picChg>
      </pc:sldChg>
      <pc:sldChg chg="addSp delSp mod modNotesTx">
        <pc:chgData name="Lai, Wilson" userId="2840974a-0d84-4886-90a9-9a3ed79f3a48" providerId="ADAL" clId="{9F23B798-9E84-4552-BA63-E776E805C424}" dt="2026-08-08T11:42:13.834" v="34" actId="12"/>
        <pc:sldMkLst>
          <pc:docMk/>
          <pc:sldMk cId="0" sldId="265"/>
        </pc:sldMkLst>
        <pc:picChg chg="del">
          <ac:chgData name="Lai, Wilson" userId="2840974a-0d84-4886-90a9-9a3ed79f3a48" providerId="ADAL" clId="{9F23B798-9E84-4552-BA63-E776E805C424}" dt="2026-08-08T11:36:52.611" v="17" actId="21"/>
          <ac:picMkLst>
            <pc:docMk/>
            <pc:sldMk cId="0" sldId="265"/>
            <ac:picMk id="2" creationId="{00000000-0000-0000-0000-000000000000}"/>
          </ac:picMkLst>
        </pc:picChg>
        <pc:picChg chg="add">
          <ac:chgData name="Lai, Wilson" userId="2840974a-0d84-4886-90a9-9a3ed79f3a48" providerId="ADAL" clId="{9F23B798-9E84-4552-BA63-E776E805C424}" dt="2026-08-08T11:37:22.273" v="18" actId="22"/>
          <ac:picMkLst>
            <pc:docMk/>
            <pc:sldMk cId="0" sldId="265"/>
            <ac:picMk id="4" creationId="{6D86E9D3-4567-F15C-0CB0-4C0685DB16BF}"/>
          </ac:picMkLst>
        </pc:picChg>
      </pc:sldChg>
      <pc:sldChg chg="addSp delSp mod modNotesTx">
        <pc:chgData name="Lai, Wilson" userId="2840974a-0d84-4886-90a9-9a3ed79f3a48" providerId="ADAL" clId="{9F23B798-9E84-4552-BA63-E776E805C424}" dt="2026-08-08T23:44:30.686" v="38" actId="6549"/>
        <pc:sldMkLst>
          <pc:docMk/>
          <pc:sldMk cId="0" sldId="266"/>
        </pc:sldMkLst>
        <pc:picChg chg="del">
          <ac:chgData name="Lai, Wilson" userId="2840974a-0d84-4886-90a9-9a3ed79f3a48" providerId="ADAL" clId="{9F23B798-9E84-4552-BA63-E776E805C424}" dt="2026-08-08T11:37:25.890" v="19" actId="21"/>
          <ac:picMkLst>
            <pc:docMk/>
            <pc:sldMk cId="0" sldId="266"/>
            <ac:picMk id="2" creationId="{00000000-0000-0000-0000-000000000000}"/>
          </ac:picMkLst>
        </pc:picChg>
        <pc:picChg chg="add">
          <ac:chgData name="Lai, Wilson" userId="2840974a-0d84-4886-90a9-9a3ed79f3a48" providerId="ADAL" clId="{9F23B798-9E84-4552-BA63-E776E805C424}" dt="2026-08-08T11:37:37.015" v="20" actId="22"/>
          <ac:picMkLst>
            <pc:docMk/>
            <pc:sldMk cId="0" sldId="266"/>
            <ac:picMk id="4" creationId="{94E3092C-540C-D910-30C0-B652179E8B90}"/>
          </ac:picMkLst>
        </pc:picChg>
      </pc:sldChg>
      <pc:sldChg chg="modNotesTx">
        <pc:chgData name="Lai, Wilson" userId="2840974a-0d84-4886-90a9-9a3ed79f3a48" providerId="ADAL" clId="{9F23B798-9E84-4552-BA63-E776E805C424}" dt="2026-08-08T11:42:48.179" v="36" actId="12"/>
        <pc:sldMkLst>
          <pc:docMk/>
          <pc:sldMk cId="2457835028"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8D442E-445D-4C0A-84F7-C5FDF158AC09}"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B3BDDE-F6E9-490E-A811-6C43372A52FE}" type="slidenum">
              <a:rPr lang="en-US" smtClean="0"/>
              <a:t>‹#›</a:t>
            </a:fld>
            <a:endParaRPr lang="en-US"/>
          </a:p>
        </p:txBody>
      </p:sp>
    </p:spTree>
    <p:extLst>
      <p:ext uri="{BB962C8B-B14F-4D97-AF65-F5344CB8AC3E}">
        <p14:creationId xmlns:p14="http://schemas.microsoft.com/office/powerpoint/2010/main" val="3448550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Opening Statement:</a:t>
            </a:r>
            <a:r>
              <a:rPr lang="en-US" dirty="0"/>
              <a:t> Good morning/afternoon, everyone. Today, we are taking a deep dive into what is rapidly becoming the single defining financial narrative in global equity markets: Big Tech’s AI capital expenditure cycle.</a:t>
            </a:r>
          </a:p>
          <a:p>
            <a:r>
              <a:rPr lang="en-US" b="1" dirty="0"/>
              <a:t>Core Thesis:</a:t>
            </a:r>
            <a:r>
              <a:rPr lang="en-US" dirty="0"/>
              <a:t> For the past decade, Big Tech built unmatched economic moats using capital-light software models. Today, however, we are witnessing a fundamental paradigm shift as these mega-cap giants inject hundreds of billions of dollars into AI infrastructure.</a:t>
            </a:r>
          </a:p>
          <a:p>
            <a:r>
              <a:rPr lang="en-US" b="1" dirty="0"/>
              <a:t>Key Questions for Today:</a:t>
            </a:r>
            <a:endParaRPr lang="en-US" dirty="0"/>
          </a:p>
          <a:p>
            <a:pPr marL="228600" indent="-228600">
              <a:buFont typeface="+mj-lt"/>
              <a:buAutoNum type="arabicPeriod"/>
            </a:pPr>
            <a:r>
              <a:rPr lang="en-US" dirty="0"/>
              <a:t>Where is this money actually going, and is there organic end-user demand to justify it?</a:t>
            </a:r>
          </a:p>
          <a:p>
            <a:pPr marL="228600" indent="-228600">
              <a:buFont typeface="+mj-lt"/>
              <a:buAutoNum type="arabicPeriod"/>
            </a:pPr>
            <a:r>
              <a:rPr lang="en-US" dirty="0"/>
              <a:t>How are circular revenue flows and paper investment gains skewing corporate earnings and multiples</a:t>
            </a:r>
          </a:p>
          <a:p>
            <a:pPr marL="228600" indent="-228600">
              <a:buFont typeface="+mj-lt"/>
              <a:buAutoNum type="arabicPeriod"/>
            </a:pPr>
            <a:endParaRPr lang="en-US" dirty="0"/>
          </a:p>
          <a:p>
            <a:r>
              <a:rPr lang="en-US" dirty="0"/>
              <a:t>https://www.youtube.com/watch?v=vE_FR0O-Jhk</a:t>
            </a:r>
          </a:p>
        </p:txBody>
      </p:sp>
      <p:sp>
        <p:nvSpPr>
          <p:cNvPr id="4" name="Slide Number Placeholder 3"/>
          <p:cNvSpPr>
            <a:spLocks noGrp="1"/>
          </p:cNvSpPr>
          <p:nvPr>
            <p:ph type="sldNum" sz="quarter" idx="5"/>
          </p:nvPr>
        </p:nvSpPr>
        <p:spPr/>
        <p:txBody>
          <a:bodyPr/>
          <a:lstStyle/>
          <a:p>
            <a:fld id="{FEB3BDDE-F6E9-490E-A811-6C43372A52FE}" type="slidenum">
              <a:rPr lang="en-US" smtClean="0"/>
              <a:t>1</a:t>
            </a:fld>
            <a:endParaRPr lang="en-US"/>
          </a:p>
        </p:txBody>
      </p:sp>
    </p:spTree>
    <p:extLst>
      <p:ext uri="{BB962C8B-B14F-4D97-AF65-F5344CB8AC3E}">
        <p14:creationId xmlns:p14="http://schemas.microsoft.com/office/powerpoint/2010/main" val="3386750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Visual Context:</a:t>
            </a:r>
            <a:r>
              <a:rPr lang="en-US" sz="1200" kern="1200" dirty="0">
                <a:solidFill>
                  <a:schemeClr val="tx1"/>
                </a:solidFill>
                <a:effectLst/>
                <a:latin typeface="+mn-lt"/>
                <a:ea typeface="+mn-ea"/>
                <a:cs typeface="+mn-cs"/>
              </a:rPr>
              <a:t> Looking at the visual funnel, the Magnificent 7 (excluding Apple) are funneling an unprecedented </a:t>
            </a:r>
            <a:r>
              <a:rPr lang="en-US" sz="1200" b="1" kern="1200" dirty="0">
                <a:solidFill>
                  <a:schemeClr val="tx1"/>
                </a:solidFill>
                <a:effectLst/>
                <a:latin typeface="+mn-lt"/>
                <a:ea typeface="+mn-ea"/>
                <a:cs typeface="+mn-cs"/>
              </a:rPr>
              <a:t>$150B to $200B</a:t>
            </a:r>
            <a:r>
              <a:rPr lang="en-US" sz="1200" kern="1200" dirty="0">
                <a:solidFill>
                  <a:schemeClr val="tx1"/>
                </a:solidFill>
                <a:effectLst/>
                <a:latin typeface="+mn-lt"/>
                <a:ea typeface="+mn-ea"/>
                <a:cs typeface="+mn-cs"/>
              </a:rPr>
              <a:t> in annual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into what we call the "Un-enunciated Business Model". </a:t>
            </a:r>
          </a:p>
          <a:p>
            <a:r>
              <a:rPr lang="en-US" sz="1200" b="1" kern="1200" dirty="0">
                <a:solidFill>
                  <a:schemeClr val="tx1"/>
                </a:solidFill>
                <a:effectLst/>
                <a:latin typeface="+mn-lt"/>
                <a:ea typeface="+mn-ea"/>
                <a:cs typeface="+mn-cs"/>
              </a:rPr>
              <a:t>The "FOMO" Engine:</a:t>
            </a:r>
            <a:r>
              <a:rPr lang="en-US" sz="1200" kern="1200" dirty="0">
                <a:solidFill>
                  <a:schemeClr val="tx1"/>
                </a:solidFill>
                <a:effectLst/>
                <a:latin typeface="+mn-lt"/>
                <a:ea typeface="+mn-ea"/>
                <a:cs typeface="+mn-cs"/>
              </a:rPr>
              <a:t> As Professor Aswath Damodaran notes, these mature, middle-aged tech companies are injecting capital like Botox to simulate youth. Their capital deployment is driven heavily by fear—the fear of being left behind or declared obsolete—rather than proven, predictable end-user demand. </a:t>
            </a:r>
          </a:p>
          <a:p>
            <a:r>
              <a:rPr lang="en-US" sz="1200" b="1" kern="1200" dirty="0">
                <a:solidFill>
                  <a:schemeClr val="tx1"/>
                </a:solidFill>
                <a:effectLst/>
                <a:latin typeface="+mn-lt"/>
                <a:ea typeface="+mn-ea"/>
                <a:cs typeface="+mn-cs"/>
              </a:rPr>
              <a:t>Lack of Articulated Business Strategy:</a:t>
            </a:r>
            <a:r>
              <a:rPr lang="en-US" sz="1200" kern="1200" dirty="0">
                <a:solidFill>
                  <a:schemeClr val="tx1"/>
                </a:solidFill>
                <a:effectLst/>
                <a:latin typeface="+mn-lt"/>
                <a:ea typeface="+mn-ea"/>
                <a:cs typeface="+mn-cs"/>
              </a:rPr>
              <a:t> Spending money is easy; articulating a clear business model is what creates long-term value. Currently, Big Tech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have not clearly communicated whether they are pursuing a high-margin premium niche or a low-margin mass-market scale model. When management leaves a strategic vacuum, the market fills it with skepticism. </a:t>
            </a:r>
          </a:p>
          <a:p>
            <a:r>
              <a:rPr lang="en-US" sz="1200" b="1" kern="1200" dirty="0">
                <a:solidFill>
                  <a:schemeClr val="tx1"/>
                </a:solidFill>
                <a:effectLst/>
                <a:latin typeface="+mn-lt"/>
                <a:ea typeface="+mn-ea"/>
                <a:cs typeface="+mn-cs"/>
              </a:rPr>
              <a:t>The Strategic Outlier — Apple:</a:t>
            </a:r>
            <a:r>
              <a:rPr lang="en-US" sz="1200" kern="1200" dirty="0">
                <a:solidFill>
                  <a:schemeClr val="tx1"/>
                </a:solidFill>
                <a:effectLst/>
                <a:latin typeface="+mn-lt"/>
                <a:ea typeface="+mn-ea"/>
                <a:cs typeface="+mn-cs"/>
              </a:rPr>
              <a:t> Apple stands out with an annual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of just </a:t>
            </a:r>
            <a:r>
              <a:rPr lang="en-US" sz="1200" b="1" kern="1200" dirty="0">
                <a:solidFill>
                  <a:schemeClr val="tx1"/>
                </a:solidFill>
                <a:effectLst/>
                <a:latin typeface="+mn-lt"/>
                <a:ea typeface="+mn-ea"/>
                <a:cs typeface="+mn-cs"/>
              </a:rPr>
              <a:t>$11B</a:t>
            </a:r>
            <a:r>
              <a:rPr lang="en-US" sz="1200" kern="1200" dirty="0">
                <a:solidFill>
                  <a:schemeClr val="tx1"/>
                </a:solidFill>
                <a:effectLst/>
                <a:latin typeface="+mn-lt"/>
                <a:ea typeface="+mn-ea"/>
                <a:cs typeface="+mn-cs"/>
              </a:rPr>
              <a:t>. Tim Cook is executing a classic "wait-and-see" strategy—waiting to observe what kind of factory is actually needed before committing hundreds of billions to build it. </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2</a:t>
            </a:fld>
            <a:endParaRPr lang="en-US"/>
          </a:p>
        </p:txBody>
      </p:sp>
    </p:spTree>
    <p:extLst>
      <p:ext uri="{BB962C8B-B14F-4D97-AF65-F5344CB8AC3E}">
        <p14:creationId xmlns:p14="http://schemas.microsoft.com/office/powerpoint/2010/main" val="2184450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Structural Shift:</a:t>
            </a:r>
            <a:r>
              <a:rPr lang="en-US" sz="1200" kern="1200" dirty="0">
                <a:solidFill>
                  <a:schemeClr val="tx1"/>
                </a:solidFill>
                <a:effectLst/>
                <a:latin typeface="+mn-lt"/>
                <a:ea typeface="+mn-ea"/>
                <a:cs typeface="+mn-cs"/>
              </a:rPr>
              <a:t> Five years ago, Big Tech operated purely as capital-light software enterprises. Today, they are heavy infrastructure and manufacturing businesses. </a:t>
            </a:r>
          </a:p>
          <a:p>
            <a:r>
              <a:rPr lang="en-US" sz="1200" b="1" kern="1200" dirty="0">
                <a:solidFill>
                  <a:schemeClr val="tx1"/>
                </a:solidFill>
                <a:effectLst/>
                <a:latin typeface="+mn-lt"/>
                <a:ea typeface="+mn-ea"/>
                <a:cs typeface="+mn-cs"/>
              </a:rPr>
              <a:t>Key Matrix Highlights:</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Identity:</a:t>
            </a:r>
            <a:r>
              <a:rPr lang="en-US" sz="1200" kern="1200" dirty="0">
                <a:solidFill>
                  <a:schemeClr val="tx1"/>
                </a:solidFill>
                <a:effectLst/>
                <a:latin typeface="+mn-lt"/>
                <a:ea typeface="+mn-ea"/>
                <a:cs typeface="+mn-cs"/>
              </a:rPr>
              <a:t> Transitioned from pure, scalable software to physical power, server, and data center buildouts.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ROIC:</a:t>
            </a:r>
            <a:r>
              <a:rPr lang="en-US" sz="1200" kern="1200" dirty="0">
                <a:solidFill>
                  <a:schemeClr val="tx1"/>
                </a:solidFill>
                <a:effectLst/>
                <a:latin typeface="+mn-lt"/>
                <a:ea typeface="+mn-ea"/>
                <a:cs typeface="+mn-cs"/>
              </a:rPr>
              <a:t> Returns on invested capital used to range between </a:t>
            </a:r>
            <a:r>
              <a:rPr lang="en-US" sz="1200" b="1" kern="1200" dirty="0">
                <a:solidFill>
                  <a:schemeClr val="tx1"/>
                </a:solidFill>
                <a:effectLst/>
                <a:latin typeface="+mn-lt"/>
                <a:ea typeface="+mn-ea"/>
                <a:cs typeface="+mn-cs"/>
              </a:rPr>
              <a:t>70% and 90%</a:t>
            </a:r>
            <a:r>
              <a:rPr lang="en-US" sz="1200" kern="1200" dirty="0">
                <a:solidFill>
                  <a:schemeClr val="tx1"/>
                </a:solidFill>
                <a:effectLst/>
                <a:latin typeface="+mn-lt"/>
                <a:ea typeface="+mn-ea"/>
                <a:cs typeface="+mn-cs"/>
              </a:rPr>
              <a:t>. Now, returns are unproven and trending downward under massive capital requirements.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Growth Constraint:</a:t>
            </a:r>
            <a:r>
              <a:rPr lang="en-US" sz="1200" kern="1200" dirty="0">
                <a:solidFill>
                  <a:schemeClr val="tx1"/>
                </a:solidFill>
                <a:effectLst/>
                <a:latin typeface="+mn-lt"/>
                <a:ea typeface="+mn-ea"/>
                <a:cs typeface="+mn-cs"/>
              </a:rPr>
              <a:t> Growth is no longer constrained by user adoption or customer acquisition, but by physical power grids, land access, and data center capacity. </a:t>
            </a:r>
          </a:p>
          <a:p>
            <a:r>
              <a:rPr lang="en-US" sz="1200" b="1" kern="1200" dirty="0">
                <a:solidFill>
                  <a:schemeClr val="tx1"/>
                </a:solidFill>
                <a:effectLst/>
                <a:latin typeface="+mn-lt"/>
                <a:ea typeface="+mn-ea"/>
                <a:cs typeface="+mn-cs"/>
              </a:rPr>
              <a:t>Valuation Implication:</a:t>
            </a:r>
            <a:r>
              <a:rPr lang="en-US" sz="1200" kern="1200" dirty="0">
                <a:solidFill>
                  <a:schemeClr val="tx1"/>
                </a:solidFill>
                <a:effectLst/>
                <a:latin typeface="+mn-lt"/>
                <a:ea typeface="+mn-ea"/>
                <a:cs typeface="+mn-cs"/>
              </a:rPr>
              <a:t> Questions like </a:t>
            </a:r>
            <a:r>
              <a:rPr lang="en-US" sz="1200" i="1" kern="1200" dirty="0">
                <a:solidFill>
                  <a:schemeClr val="tx1"/>
                </a:solidFill>
                <a:effectLst/>
                <a:latin typeface="+mn-lt"/>
                <a:ea typeface="+mn-ea"/>
                <a:cs typeface="+mn-cs"/>
              </a:rPr>
              <a:t>"Are you earning more than your cost of capital?"</a:t>
            </a:r>
            <a:r>
              <a:rPr lang="en-US" sz="1200" kern="1200" dirty="0">
                <a:solidFill>
                  <a:schemeClr val="tx1"/>
                </a:solidFill>
                <a:effectLst/>
                <a:latin typeface="+mn-lt"/>
                <a:ea typeface="+mn-ea"/>
                <a:cs typeface="+mn-cs"/>
              </a:rPr>
              <a:t> were irrelevant for pure software companies five years ago. Today, as capital-intensive builders, ROIC vs. WACC is the single most crucial hurdle rate they must clear.</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3</a:t>
            </a:fld>
            <a:endParaRPr lang="en-US"/>
          </a:p>
        </p:txBody>
      </p:sp>
    </p:spTree>
    <p:extLst>
      <p:ext uri="{BB962C8B-B14F-4D97-AF65-F5344CB8AC3E}">
        <p14:creationId xmlns:p14="http://schemas.microsoft.com/office/powerpoint/2010/main" val="2708430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SaaS vs. AI Divergence:</a:t>
            </a:r>
            <a:r>
              <a:rPr lang="en-US" sz="1200" kern="1200" dirty="0">
                <a:solidFill>
                  <a:schemeClr val="tx1"/>
                </a:solidFill>
                <a:effectLst/>
                <a:latin typeface="+mn-lt"/>
                <a:ea typeface="+mn-ea"/>
                <a:cs typeface="+mn-cs"/>
              </a:rPr>
              <a:t> Traditional software/SaaS follows a classic curve: build once, deploy infinitely, and watch marginal cost asymptotically approach zero. Generative AI completely breaks this dynamic. </a:t>
            </a:r>
          </a:p>
          <a:p>
            <a:r>
              <a:rPr lang="en-US" sz="1200" b="1" kern="1200" dirty="0">
                <a:solidFill>
                  <a:schemeClr val="tx1"/>
                </a:solidFill>
                <a:effectLst/>
                <a:latin typeface="+mn-lt"/>
                <a:ea typeface="+mn-ea"/>
                <a:cs typeface="+mn-cs"/>
              </a:rPr>
              <a:t>Linear Marginal Costs:</a:t>
            </a:r>
            <a:r>
              <a:rPr lang="en-US" sz="1200" kern="1200" dirty="0">
                <a:solidFill>
                  <a:schemeClr val="tx1"/>
                </a:solidFill>
                <a:effectLst/>
                <a:latin typeface="+mn-lt"/>
                <a:ea typeface="+mn-ea"/>
                <a:cs typeface="+mn-cs"/>
              </a:rPr>
              <a:t> In LLM inference, every search query and every token generated incurs a direct, non-zero compute cost. There is currently no architectural evidence that AI compute benefits from standard software economies of scale. </a:t>
            </a:r>
          </a:p>
          <a:p>
            <a:r>
              <a:rPr lang="en-US" sz="1200" b="1" kern="1200" dirty="0">
                <a:solidFill>
                  <a:schemeClr val="tx1"/>
                </a:solidFill>
                <a:effectLst/>
                <a:latin typeface="+mn-lt"/>
                <a:ea typeface="+mn-ea"/>
                <a:cs typeface="+mn-cs"/>
              </a:rPr>
              <a:t>The Unit Economics Trap:</a:t>
            </a:r>
            <a:r>
              <a:rPr lang="en-US" sz="1200" kern="1200" dirty="0">
                <a:solidFill>
                  <a:schemeClr val="tx1"/>
                </a:solidFill>
                <a:effectLst/>
                <a:latin typeface="+mn-lt"/>
                <a:ea typeface="+mn-ea"/>
                <a:cs typeface="+mn-cs"/>
              </a:rPr>
              <a:t> Frontier AI labs charge premium rates—for example, Anthropic charging up to $6,000/hour for high-end enterprise API access—yet they still struggle with underlying unit economics due to massive compute overhead.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Scaling up user queries does not automatically expand profit margins; without fundamental architectural breakthroughs, higher usage linearly increases operating expense.</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4</a:t>
            </a:fld>
            <a:endParaRPr lang="en-US"/>
          </a:p>
        </p:txBody>
      </p:sp>
    </p:spTree>
    <p:extLst>
      <p:ext uri="{BB962C8B-B14F-4D97-AF65-F5344CB8AC3E}">
        <p14:creationId xmlns:p14="http://schemas.microsoft.com/office/powerpoint/2010/main" val="2172344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Market Bifurcation:</a:t>
            </a:r>
            <a:r>
              <a:rPr lang="en-US" sz="1200" kern="1200" dirty="0">
                <a:solidFill>
                  <a:schemeClr val="tx1"/>
                </a:solidFill>
                <a:effectLst/>
                <a:latin typeface="+mn-lt"/>
                <a:ea typeface="+mn-ea"/>
                <a:cs typeface="+mn-cs"/>
              </a:rPr>
              <a:t> The end-user market for AI is splitting into two distinct sectors:</a:t>
            </a:r>
          </a:p>
          <a:p>
            <a:pPr marL="228600" indent="-228600" algn="l">
              <a:buFont typeface="+mj-lt"/>
              <a:buAutoNum type="arabicPeriod"/>
            </a:pPr>
            <a:r>
              <a:rPr lang="en-US" sz="1200" b="1" kern="1200" dirty="0">
                <a:solidFill>
                  <a:schemeClr val="tx1"/>
                </a:solidFill>
                <a:effectLst/>
                <a:latin typeface="+mn-lt"/>
                <a:ea typeface="+mn-ea"/>
                <a:cs typeface="+mn-cs"/>
              </a:rPr>
              <a:t>Premium Enterprise AI:</a:t>
            </a:r>
            <a:r>
              <a:rPr lang="en-US" sz="1200" kern="1200" dirty="0">
                <a:solidFill>
                  <a:schemeClr val="tx1"/>
                </a:solidFill>
                <a:effectLst/>
                <a:latin typeface="+mn-lt"/>
                <a:ea typeface="+mn-ea"/>
                <a:cs typeface="+mn-cs"/>
              </a:rPr>
              <a:t> High-margin, low-volume solutions targeting enterprise workflows (e.g., specialized McKinsey/law firm AI agents). This segment requires expensive Nvidia GPUs and massive data infrastructure. </a:t>
            </a:r>
          </a:p>
          <a:p>
            <a:pPr marL="228600" indent="-228600" algn="l">
              <a:buFont typeface="+mj-lt"/>
              <a:buAutoNum type="arabicPeriod"/>
            </a:pPr>
            <a:r>
              <a:rPr lang="en-US" sz="1200" b="1" kern="1200" dirty="0">
                <a:solidFill>
                  <a:schemeClr val="tx1"/>
                </a:solidFill>
                <a:effectLst/>
                <a:latin typeface="+mn-lt"/>
                <a:ea typeface="+mn-ea"/>
                <a:cs typeface="+mn-cs"/>
              </a:rPr>
              <a:t>Mass Market Consumer AI:</a:t>
            </a:r>
            <a:r>
              <a:rPr lang="en-US" sz="1200" kern="1200" dirty="0">
                <a:solidFill>
                  <a:schemeClr val="tx1"/>
                </a:solidFill>
                <a:effectLst/>
                <a:latin typeface="+mn-lt"/>
                <a:ea typeface="+mn-ea"/>
                <a:cs typeface="+mn-cs"/>
              </a:rPr>
              <a:t> Low-margin, high-volume consumer applications that do not require top-tier infrastructure. </a:t>
            </a:r>
          </a:p>
          <a:p>
            <a:r>
              <a:rPr lang="en-US" sz="1200" b="1" kern="1200" dirty="0">
                <a:solidFill>
                  <a:schemeClr val="tx1"/>
                </a:solidFill>
                <a:effectLst/>
                <a:latin typeface="+mn-lt"/>
                <a:ea typeface="+mn-ea"/>
                <a:cs typeface="+mn-cs"/>
              </a:rPr>
              <a:t>The Threat of Low-Cost Models:</a:t>
            </a:r>
            <a:r>
              <a:rPr lang="en-US" sz="1200" kern="1200" dirty="0">
                <a:solidFill>
                  <a:schemeClr val="tx1"/>
                </a:solidFill>
                <a:effectLst/>
                <a:latin typeface="+mn-lt"/>
                <a:ea typeface="+mn-ea"/>
                <a:cs typeface="+mn-cs"/>
              </a:rPr>
              <a:t> Open-source and low-cost Chinese LLMs (e.g., DeepSeek) rapidly grew their token market share from 8% in January to over 50% by delivering competitive results at a fraction of the compute cost. </a:t>
            </a:r>
          </a:p>
          <a:p>
            <a:r>
              <a:rPr lang="en-US" sz="1200" b="1" kern="1200" dirty="0">
                <a:solidFill>
                  <a:schemeClr val="tx1"/>
                </a:solidFill>
                <a:effectLst/>
                <a:latin typeface="+mn-lt"/>
                <a:ea typeface="+mn-ea"/>
                <a:cs typeface="+mn-cs"/>
              </a:rPr>
              <a:t>The Core Risk:</a:t>
            </a:r>
            <a:r>
              <a:rPr lang="en-US" sz="1200" kern="1200" dirty="0">
                <a:solidFill>
                  <a:schemeClr val="tx1"/>
                </a:solidFill>
                <a:effectLst/>
                <a:latin typeface="+mn-lt"/>
                <a:ea typeface="+mn-ea"/>
                <a:cs typeface="+mn-cs"/>
              </a:rPr>
              <a:t> Big Tech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are spending hundreds of billions building an ultra-expensive infrastructure stack that may be fundamentally over-engineered for a low-margin, commoditized mass market. </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5</a:t>
            </a:fld>
            <a:endParaRPr lang="en-US"/>
          </a:p>
        </p:txBody>
      </p:sp>
    </p:spTree>
    <p:extLst>
      <p:ext uri="{BB962C8B-B14F-4D97-AF65-F5344CB8AC3E}">
        <p14:creationId xmlns:p14="http://schemas.microsoft.com/office/powerpoint/2010/main" val="2166657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Circular Ecosystem:</a:t>
            </a:r>
            <a:r>
              <a:rPr lang="en-US" sz="1200" kern="1200" dirty="0">
                <a:solidFill>
                  <a:schemeClr val="tx1"/>
                </a:solidFill>
                <a:effectLst/>
                <a:latin typeface="+mn-lt"/>
                <a:ea typeface="+mn-ea"/>
                <a:cs typeface="+mn-cs"/>
              </a:rPr>
              <a:t> A significant portion of reported "explosive AI growth" is closed-loop capital: </a:t>
            </a:r>
          </a:p>
          <a:p>
            <a:pPr marL="228600" indent="-228600">
              <a:buFont typeface="+mj-lt"/>
              <a:buAutoNum type="arabicPeriod"/>
            </a:pPr>
            <a:r>
              <a:rPr lang="en-US" sz="1200" kern="1200" dirty="0">
                <a:solidFill>
                  <a:schemeClr val="tx1"/>
                </a:solidFill>
                <a:effectLst/>
                <a:latin typeface="+mn-lt"/>
                <a:ea typeface="+mn-ea"/>
                <a:cs typeface="+mn-cs"/>
              </a:rPr>
              <a:t>Big Tech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(Amazon, Microsoft, Google) inject billions in "strategic investments" into frontier labs (OpenAI, Anthropic). </a:t>
            </a:r>
          </a:p>
          <a:p>
            <a:pPr marL="228600" indent="-228600">
              <a:buFont typeface="+mj-lt"/>
              <a:buAutoNum type="arabicPeriod"/>
            </a:pPr>
            <a:r>
              <a:rPr lang="en-US" sz="1200" kern="1200" dirty="0">
                <a:solidFill>
                  <a:schemeClr val="tx1"/>
                </a:solidFill>
                <a:effectLst/>
                <a:latin typeface="+mn-lt"/>
                <a:ea typeface="+mn-ea"/>
                <a:cs typeface="+mn-cs"/>
              </a:rPr>
              <a:t>Frontier labs receive the cash and immediately spend it back with those same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on cloud compute and data center leases. </a:t>
            </a:r>
          </a:p>
          <a:p>
            <a:pPr marL="228600" indent="-228600">
              <a:buFont typeface="+mj-lt"/>
              <a:buAutoNum type="arabicPeriod"/>
            </a:pP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record these incoming lease payments as "explosive AI revenue growth". </a:t>
            </a:r>
          </a:p>
          <a:p>
            <a:r>
              <a:rPr lang="en-US" sz="1200" b="1" kern="1200" dirty="0">
                <a:solidFill>
                  <a:schemeClr val="tx1"/>
                </a:solidFill>
                <a:effectLst/>
                <a:latin typeface="+mn-lt"/>
                <a:ea typeface="+mn-ea"/>
                <a:cs typeface="+mn-cs"/>
              </a:rPr>
              <a:t>Wall Street Estimates: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Barclays</a:t>
            </a:r>
            <a:r>
              <a:rPr lang="en-US" sz="1200" kern="1200" dirty="0">
                <a:solidFill>
                  <a:schemeClr val="tx1"/>
                </a:solidFill>
                <a:effectLst/>
                <a:latin typeface="+mn-lt"/>
                <a:ea typeface="+mn-ea"/>
                <a:cs typeface="+mn-cs"/>
              </a:rPr>
              <a:t> estimates that </a:t>
            </a:r>
            <a:r>
              <a:rPr lang="en-US" sz="1200" b="1" kern="1200" dirty="0">
                <a:solidFill>
                  <a:schemeClr val="tx1"/>
                </a:solidFill>
                <a:effectLst/>
                <a:latin typeface="+mn-lt"/>
                <a:ea typeface="+mn-ea"/>
                <a:cs typeface="+mn-cs"/>
              </a:rPr>
              <a:t>73%</a:t>
            </a:r>
            <a:r>
              <a:rPr lang="en-US" sz="1200" kern="1200" dirty="0">
                <a:solidFill>
                  <a:schemeClr val="tx1"/>
                </a:solidFill>
                <a:effectLst/>
                <a:latin typeface="+mn-lt"/>
                <a:ea typeface="+mn-ea"/>
                <a:cs typeface="+mn-cs"/>
              </a:rPr>
              <a:t> of Amazon's AI revenue originates directly from OpenAI and Anthropic compute spend.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Wells Fargo</a:t>
            </a:r>
            <a:r>
              <a:rPr lang="en-US" sz="1200" kern="1200" dirty="0">
                <a:solidFill>
                  <a:schemeClr val="tx1"/>
                </a:solidFill>
                <a:effectLst/>
                <a:latin typeface="+mn-lt"/>
                <a:ea typeface="+mn-ea"/>
                <a:cs typeface="+mn-cs"/>
              </a:rPr>
              <a:t> estimates that </a:t>
            </a:r>
            <a:r>
              <a:rPr lang="en-US" sz="1200" b="1" kern="1200" dirty="0">
                <a:solidFill>
                  <a:schemeClr val="tx1"/>
                </a:solidFill>
                <a:effectLst/>
                <a:latin typeface="+mn-lt"/>
                <a:ea typeface="+mn-ea"/>
                <a:cs typeface="+mn-cs"/>
              </a:rPr>
              <a:t>74%</a:t>
            </a:r>
            <a:r>
              <a:rPr lang="en-US" sz="1200" kern="1200" dirty="0">
                <a:solidFill>
                  <a:schemeClr val="tx1"/>
                </a:solidFill>
                <a:effectLst/>
                <a:latin typeface="+mn-lt"/>
                <a:ea typeface="+mn-ea"/>
                <a:cs typeface="+mn-cs"/>
              </a:rPr>
              <a:t> of Microsoft's AI revenue comes from OpenAI and Anthropic.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This represents intra-company architecture building and vendor financing rather than organic end-user commercial adoption.</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6</a:t>
            </a:fld>
            <a:endParaRPr lang="en-US"/>
          </a:p>
        </p:txBody>
      </p:sp>
    </p:spTree>
    <p:extLst>
      <p:ext uri="{BB962C8B-B14F-4D97-AF65-F5344CB8AC3E}">
        <p14:creationId xmlns:p14="http://schemas.microsoft.com/office/powerpoint/2010/main" val="1347655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Accounting Noise Behind Net Income:</a:t>
            </a:r>
            <a:r>
              <a:rPr lang="en-US" sz="1200" kern="1200" dirty="0">
                <a:solidFill>
                  <a:schemeClr val="tx1"/>
                </a:solidFill>
                <a:effectLst/>
                <a:latin typeface="+mn-lt"/>
                <a:ea typeface="+mn-ea"/>
                <a:cs typeface="+mn-cs"/>
              </a:rPr>
              <a:t> Headline net income figures for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have looked exceptionally strong, leading to artificially low trailing P/E multiples. However, a closer look at the income statements reveals significant non-operating inflation: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Amazon: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85%</a:t>
            </a:r>
            <a:r>
              <a:rPr lang="en-US" sz="1200" kern="1200" dirty="0">
                <a:solidFill>
                  <a:schemeClr val="tx1"/>
                </a:solidFill>
                <a:effectLst/>
                <a:latin typeface="+mn-lt"/>
                <a:ea typeface="+mn-ea"/>
                <a:cs typeface="+mn-cs"/>
              </a:rPr>
              <a:t> of recent net income growth is driven by unrealized, non-operating paper gains from marking up its stakes in Anthropic/OpenAI.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Google: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87%</a:t>
            </a:r>
            <a:r>
              <a:rPr lang="en-US" sz="1200" kern="1200" dirty="0">
                <a:solidFill>
                  <a:schemeClr val="tx1"/>
                </a:solidFill>
                <a:effectLst/>
                <a:latin typeface="+mn-lt"/>
                <a:ea typeface="+mn-ea"/>
                <a:cs typeface="+mn-cs"/>
              </a:rPr>
              <a:t> of net income growth stems from non-operating markups on investments like SpaceX and Anthropic. </a:t>
            </a:r>
          </a:p>
          <a:p>
            <a:pPr marL="0" indent="0">
              <a:buFont typeface="Arial" panose="020B0604020202020204" pitchFamily="34" charset="0"/>
              <a:buNone/>
            </a:pPr>
            <a:r>
              <a:rPr lang="en-US" sz="1200" b="1" kern="1200" dirty="0">
                <a:solidFill>
                  <a:schemeClr val="tx1"/>
                </a:solidFill>
                <a:effectLst/>
                <a:latin typeface="+mn-lt"/>
                <a:ea typeface="+mn-ea"/>
                <a:cs typeface="+mn-cs"/>
              </a:rPr>
              <a:t>The P/E Distortion:</a:t>
            </a:r>
            <a:r>
              <a:rPr lang="en-US" sz="1200" kern="1200" dirty="0">
                <a:solidFill>
                  <a:schemeClr val="tx1"/>
                </a:solidFill>
                <a:effectLst/>
                <a:latin typeface="+mn-lt"/>
                <a:ea typeface="+mn-ea"/>
                <a:cs typeface="+mn-cs"/>
              </a:rPr>
              <a:t> Marking up strategic investments under accounting line items like "Gain from sale/holding of asset" suppresses P/E ratios, making these equities look deceptively cheap. Operating income—the core cloud and search engines—tells a much more modest, realistic growth story.</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7</a:t>
            </a:fld>
            <a:endParaRPr lang="en-US"/>
          </a:p>
        </p:txBody>
      </p:sp>
    </p:spTree>
    <p:extLst>
      <p:ext uri="{BB962C8B-B14F-4D97-AF65-F5344CB8AC3E}">
        <p14:creationId xmlns:p14="http://schemas.microsoft.com/office/powerpoint/2010/main" val="2707621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Flawed Shortcuts to Avoid:</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not rely on standard trailing P/E ratios.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Do not take Net Income at face value.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Reject vague corporate metrics like "AI Annual Recurring Revenue (ARR)" which aggregate internal compute circularity. </a:t>
            </a:r>
          </a:p>
          <a:p>
            <a:r>
              <a:rPr lang="en-US" sz="1200" b="1" kern="1200" dirty="0">
                <a:solidFill>
                  <a:schemeClr val="tx1"/>
                </a:solidFill>
                <a:effectLst/>
                <a:latin typeface="+mn-lt"/>
                <a:ea typeface="+mn-ea"/>
                <a:cs typeface="+mn-cs"/>
              </a:rPr>
              <a:t>Rigorous Valuation Mechanics:</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Climb the Income Statement:</a:t>
            </a:r>
            <a:r>
              <a:rPr lang="en-US" sz="1200" kern="1200" dirty="0">
                <a:solidFill>
                  <a:schemeClr val="tx1"/>
                </a:solidFill>
                <a:effectLst/>
                <a:latin typeface="+mn-lt"/>
                <a:ea typeface="+mn-ea"/>
                <a:cs typeface="+mn-cs"/>
              </a:rPr>
              <a:t> Evaluate core businesses purely on </a:t>
            </a:r>
            <a:r>
              <a:rPr lang="en-US" sz="1200" b="1" kern="1200" dirty="0">
                <a:solidFill>
                  <a:schemeClr val="tx1"/>
                </a:solidFill>
                <a:effectLst/>
                <a:latin typeface="+mn-lt"/>
                <a:ea typeface="+mn-ea"/>
                <a:cs typeface="+mn-cs"/>
              </a:rPr>
              <a:t>Operating Income / EBIT</a:t>
            </a:r>
            <a:r>
              <a:rPr lang="en-US" sz="1200" kern="1200" dirty="0">
                <a:solidFill>
                  <a:schemeClr val="tx1"/>
                </a:solidFill>
                <a:effectLst/>
                <a:latin typeface="+mn-lt"/>
                <a:ea typeface="+mn-ea"/>
                <a:cs typeface="+mn-cs"/>
              </a:rPr>
              <a:t>, isolating financial income, markups, and one-off investment gains. </a:t>
            </a:r>
          </a:p>
          <a:p>
            <a:pPr marL="228600" indent="-228600">
              <a:buFont typeface="+mj-lt"/>
              <a:buAutoNum type="arabicPeriod"/>
            </a:pPr>
            <a:r>
              <a:rPr lang="en-US" sz="1200" b="1" kern="1200" dirty="0">
                <a:solidFill>
                  <a:schemeClr val="tx1"/>
                </a:solidFill>
                <a:effectLst/>
                <a:latin typeface="+mn-lt"/>
                <a:ea typeface="+mn-ea"/>
                <a:cs typeface="+mn-cs"/>
              </a:rPr>
              <a:t>Enforce Multiples Consistency:</a:t>
            </a:r>
            <a:r>
              <a:rPr lang="en-US" sz="1200" kern="1200" dirty="0">
                <a:solidFill>
                  <a:schemeClr val="tx1"/>
                </a:solidFill>
                <a:effectLst/>
                <a:latin typeface="+mn-lt"/>
                <a:ea typeface="+mn-ea"/>
                <a:cs typeface="+mn-cs"/>
              </a:rPr>
              <a:t> If utilizing </a:t>
            </a:r>
            <a:r>
              <a:rPr lang="en-US" sz="1200" b="1" kern="1200" dirty="0">
                <a:solidFill>
                  <a:schemeClr val="tx1"/>
                </a:solidFill>
                <a:effectLst/>
                <a:latin typeface="+mn-lt"/>
                <a:ea typeface="+mn-ea"/>
                <a:cs typeface="+mn-cs"/>
              </a:rPr>
              <a:t>EV/EBITDA</a:t>
            </a:r>
            <a:r>
              <a:rPr lang="en-US" sz="1200" kern="1200" dirty="0">
                <a:solidFill>
                  <a:schemeClr val="tx1"/>
                </a:solidFill>
                <a:effectLst/>
                <a:latin typeface="+mn-lt"/>
                <a:ea typeface="+mn-ea"/>
                <a:cs typeface="+mn-cs"/>
              </a:rPr>
              <a:t>, strictly net out the market value of minority cross-holdings (OpenAI, Anthropic, SpaceX) from the numerator, because their operating earnings do not flow into the denominator. </a:t>
            </a:r>
          </a:p>
          <a:p>
            <a:pPr marL="228600" indent="-228600">
              <a:buFont typeface="+mj-lt"/>
              <a:buAutoNum type="arabicPeriod"/>
            </a:pPr>
            <a:r>
              <a:rPr lang="en-US" sz="1200" b="1" kern="1200" dirty="0">
                <a:solidFill>
                  <a:schemeClr val="tx1"/>
                </a:solidFill>
                <a:effectLst/>
                <a:latin typeface="+mn-lt"/>
                <a:ea typeface="+mn-ea"/>
                <a:cs typeface="+mn-cs"/>
              </a:rPr>
              <a:t>Demand Segment Transparency:</a:t>
            </a:r>
            <a:r>
              <a:rPr lang="en-US" sz="1200" kern="1200" dirty="0">
                <a:solidFill>
                  <a:schemeClr val="tx1"/>
                </a:solidFill>
                <a:effectLst/>
                <a:latin typeface="+mn-lt"/>
                <a:ea typeface="+mn-ea"/>
                <a:cs typeface="+mn-cs"/>
              </a:rPr>
              <a:t> Analysts should treat internal AI buildouts as separate, heavily funded venture capital bets operating within the parent company, evaluating their standalone cash burns. </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8</a:t>
            </a:fld>
            <a:endParaRPr lang="en-US"/>
          </a:p>
        </p:txBody>
      </p:sp>
    </p:spTree>
    <p:extLst>
      <p:ext uri="{BB962C8B-B14F-4D97-AF65-F5344CB8AC3E}">
        <p14:creationId xmlns:p14="http://schemas.microsoft.com/office/powerpoint/2010/main" val="3321624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Balance Sheet Resilience vs. Hidden Debt:</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Mag 7 Safety Net:</a:t>
            </a:r>
            <a:r>
              <a:rPr lang="en-US" sz="1200" kern="1200" dirty="0">
                <a:solidFill>
                  <a:schemeClr val="tx1"/>
                </a:solidFill>
                <a:effectLst/>
                <a:latin typeface="+mn-lt"/>
                <a:ea typeface="+mn-ea"/>
                <a:cs typeface="+mn-cs"/>
              </a:rPr>
              <a:t> The Mag 7 carry strong balance sheets with Net Debt to EBITDA ratios averaging ~1.5x. Even if AI investments yield zero return, 18 months of core operating cash flow clears their on-book debt.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Off-Balance Sheet Data Center Debt:</a:t>
            </a:r>
            <a:r>
              <a:rPr lang="en-US" sz="1200" kern="1200" dirty="0">
                <a:solidFill>
                  <a:schemeClr val="tx1"/>
                </a:solidFill>
                <a:effectLst/>
                <a:latin typeface="+mn-lt"/>
                <a:ea typeface="+mn-ea"/>
                <a:cs typeface="+mn-cs"/>
              </a:rPr>
              <a:t> However, off-book financing is growing rapidly. Meta, for instance, holds an estimated </a:t>
            </a:r>
            <a:r>
              <a:rPr lang="en-US" sz="1200" b="1" kern="1200" dirty="0">
                <a:solidFill>
                  <a:schemeClr val="tx1"/>
                </a:solidFill>
                <a:effectLst/>
                <a:latin typeface="+mn-lt"/>
                <a:ea typeface="+mn-ea"/>
                <a:cs typeface="+mn-cs"/>
              </a:rPr>
              <a:t>$420B</a:t>
            </a:r>
            <a:r>
              <a:rPr lang="en-US" sz="1200" kern="1200" dirty="0">
                <a:solidFill>
                  <a:schemeClr val="tx1"/>
                </a:solidFill>
                <a:effectLst/>
                <a:latin typeface="+mn-lt"/>
                <a:ea typeface="+mn-ea"/>
                <a:cs typeface="+mn-cs"/>
              </a:rPr>
              <a:t> in off-balance-sheet data center leases and financing partnerships compared to </a:t>
            </a:r>
            <a:r>
              <a:rPr lang="en-US" sz="1200" b="1" kern="1200" dirty="0">
                <a:solidFill>
                  <a:schemeClr val="tx1"/>
                </a:solidFill>
                <a:effectLst/>
                <a:latin typeface="+mn-lt"/>
                <a:ea typeface="+mn-ea"/>
                <a:cs typeface="+mn-cs"/>
              </a:rPr>
              <a:t>$140B</a:t>
            </a:r>
            <a:r>
              <a:rPr lang="en-US" sz="1200" kern="1200" dirty="0">
                <a:solidFill>
                  <a:schemeClr val="tx1"/>
                </a:solidFill>
                <a:effectLst/>
                <a:latin typeface="+mn-lt"/>
                <a:ea typeface="+mn-ea"/>
                <a:cs typeface="+mn-cs"/>
              </a:rPr>
              <a:t> on-book. </a:t>
            </a:r>
          </a:p>
          <a:p>
            <a:r>
              <a:rPr lang="en-US" sz="1200" b="1" kern="1200" dirty="0">
                <a:solidFill>
                  <a:schemeClr val="tx1"/>
                </a:solidFill>
                <a:effectLst/>
                <a:latin typeface="+mn-lt"/>
                <a:ea typeface="+mn-ea"/>
                <a:cs typeface="+mn-cs"/>
              </a:rPr>
              <a:t>The Secondary Ecosystem Hazard:</a:t>
            </a:r>
            <a:r>
              <a:rPr lang="en-US" sz="1200" kern="1200" dirty="0">
                <a:solidFill>
                  <a:schemeClr val="tx1"/>
                </a:solidFill>
                <a:effectLst/>
                <a:latin typeface="+mn-lt"/>
                <a:ea typeface="+mn-ea"/>
                <a:cs typeface="+mn-cs"/>
              </a:rPr>
              <a:t> While the Mag 7 will survive an AI market correction, the "Lesser AI Ecosystem"—over-leveraged startups, non-cash-flow-positive vendors, and secondary tier players—will face severe distress. </a:t>
            </a:r>
          </a:p>
          <a:p>
            <a:r>
              <a:rPr lang="en-US" sz="1200" b="1" kern="1200" dirty="0">
                <a:solidFill>
                  <a:schemeClr val="tx1"/>
                </a:solidFill>
                <a:effectLst/>
                <a:latin typeface="+mn-lt"/>
                <a:ea typeface="+mn-ea"/>
                <a:cs typeface="+mn-cs"/>
              </a:rPr>
              <a:t>The Endgame:</a:t>
            </a:r>
            <a:r>
              <a:rPr lang="en-US" sz="1200" kern="1200" dirty="0">
                <a:solidFill>
                  <a:schemeClr val="tx1"/>
                </a:solidFill>
                <a:effectLst/>
                <a:latin typeface="+mn-lt"/>
                <a:ea typeface="+mn-ea"/>
                <a:cs typeface="+mn-cs"/>
              </a:rPr>
              <a:t> Big Tech may ultimately benefit from an AI market shakeout, acquiring distressed assets and infrastructure from bankrupt competitors at deep discounts.</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9</a:t>
            </a:fld>
            <a:endParaRPr lang="en-US"/>
          </a:p>
        </p:txBody>
      </p:sp>
    </p:spTree>
    <p:extLst>
      <p:ext uri="{BB962C8B-B14F-4D97-AF65-F5344CB8AC3E}">
        <p14:creationId xmlns:p14="http://schemas.microsoft.com/office/powerpoint/2010/main" val="560996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Historical Perspective:</a:t>
            </a:r>
            <a:r>
              <a:rPr lang="en-US" sz="1200" kern="1200" dirty="0">
                <a:solidFill>
                  <a:schemeClr val="tx1"/>
                </a:solidFill>
                <a:effectLst/>
                <a:latin typeface="+mn-lt"/>
                <a:ea typeface="+mn-ea"/>
                <a:cs typeface="+mn-cs"/>
              </a:rPr>
              <a:t> No major technological infrastructure buildout in modern economic history has ever avoided a market correction: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1800s Railroad Boom:</a:t>
            </a:r>
            <a:r>
              <a:rPr lang="en-US" sz="1200" kern="1200" dirty="0">
                <a:solidFill>
                  <a:schemeClr val="tx1"/>
                </a:solidFill>
                <a:effectLst/>
                <a:latin typeface="+mn-lt"/>
                <a:ea typeface="+mn-ea"/>
                <a:cs typeface="+mn-cs"/>
              </a:rPr>
              <a:t> Built thousands of miles of track decades ahead of high-speed train technology, resulting in massive rail bankruptcies before achieving long-term utility.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1999 Dot-Com Telecom Boom:</a:t>
            </a:r>
            <a:r>
              <a:rPr lang="en-US" sz="1200" kern="1200" dirty="0">
                <a:solidFill>
                  <a:schemeClr val="tx1"/>
                </a:solidFill>
                <a:effectLst/>
                <a:latin typeface="+mn-lt"/>
                <a:ea typeface="+mn-ea"/>
                <a:cs typeface="+mn-cs"/>
              </a:rPr>
              <a:t> Laid millions of miles of dark fiber optic cables ahead of actual consumer broadband demand, leading to a severe market crash.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Present AI Data Center Boom:</a:t>
            </a:r>
            <a:r>
              <a:rPr lang="en-US" sz="1200" kern="1200" dirty="0">
                <a:solidFill>
                  <a:schemeClr val="tx1"/>
                </a:solidFill>
                <a:effectLst/>
                <a:latin typeface="+mn-lt"/>
                <a:ea typeface="+mn-ea"/>
                <a:cs typeface="+mn-cs"/>
              </a:rPr>
              <a:t> Hundreds of billions invested in single-use compute clusters ahead of proven end-user monetization. </a:t>
            </a:r>
          </a:p>
          <a:p>
            <a:r>
              <a:rPr lang="en-US" sz="1200" b="1" kern="1200" dirty="0">
                <a:solidFill>
                  <a:schemeClr val="tx1"/>
                </a:solidFill>
                <a:effectLst/>
                <a:latin typeface="+mn-lt"/>
                <a:ea typeface="+mn-ea"/>
                <a:cs typeface="+mn-cs"/>
              </a:rPr>
              <a:t>The Core Conclusion:</a:t>
            </a:r>
            <a:r>
              <a:rPr lang="en-US" sz="1200" kern="1200" dirty="0">
                <a:solidFill>
                  <a:schemeClr val="tx1"/>
                </a:solidFill>
                <a:effectLst/>
                <a:latin typeface="+mn-lt"/>
                <a:ea typeface="+mn-ea"/>
                <a:cs typeface="+mn-cs"/>
              </a:rPr>
              <a:t> The question is not </a:t>
            </a:r>
            <a:r>
              <a:rPr lang="en-US" sz="1200" i="1" kern="1200" dirty="0">
                <a:solidFill>
                  <a:schemeClr val="tx1"/>
                </a:solidFill>
                <a:effectLst/>
                <a:latin typeface="+mn-lt"/>
                <a:ea typeface="+mn-ea"/>
                <a:cs typeface="+mn-cs"/>
              </a:rPr>
              <a:t>if</a:t>
            </a:r>
            <a:r>
              <a:rPr lang="en-US" sz="1200" kern="1200" dirty="0">
                <a:solidFill>
                  <a:schemeClr val="tx1"/>
                </a:solidFill>
                <a:effectLst/>
                <a:latin typeface="+mn-lt"/>
                <a:ea typeface="+mn-ea"/>
                <a:cs typeface="+mn-cs"/>
              </a:rPr>
              <a:t> an adjustment occurs, but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—whether through a sudden, sharp cleanout or a prolonged, staggered cycle of localized failures. </a:t>
            </a:r>
          </a:p>
        </p:txBody>
      </p:sp>
      <p:sp>
        <p:nvSpPr>
          <p:cNvPr id="4" name="Slide Number Placeholder 3"/>
          <p:cNvSpPr>
            <a:spLocks noGrp="1"/>
          </p:cNvSpPr>
          <p:nvPr>
            <p:ph type="sldNum" sz="quarter" idx="5"/>
          </p:nvPr>
        </p:nvSpPr>
        <p:spPr/>
        <p:txBody>
          <a:bodyPr/>
          <a:lstStyle/>
          <a:p>
            <a:fld id="{FEB3BDDE-F6E9-490E-A811-6C43372A52FE}" type="slidenum">
              <a:rPr lang="en-US" smtClean="0"/>
              <a:t>10</a:t>
            </a:fld>
            <a:endParaRPr lang="en-US"/>
          </a:p>
        </p:txBody>
      </p:sp>
    </p:spTree>
    <p:extLst>
      <p:ext uri="{BB962C8B-B14F-4D97-AF65-F5344CB8AC3E}">
        <p14:creationId xmlns:p14="http://schemas.microsoft.com/office/powerpoint/2010/main" val="3495437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Comprehensive Summary:</a:t>
            </a:r>
            <a:r>
              <a:rPr lang="en-US" sz="1200" kern="1200" dirty="0">
                <a:solidFill>
                  <a:schemeClr val="tx1"/>
                </a:solidFill>
                <a:effectLst/>
                <a:latin typeface="+mn-lt"/>
                <a:ea typeface="+mn-ea"/>
                <a:cs typeface="+mn-cs"/>
              </a:rPr>
              <a:t> To wrap up our diagnostic, Slide 11 synthesizes the overarching structural shift and valuation dynamics across four dimensions: </a:t>
            </a:r>
          </a:p>
          <a:p>
            <a:pPr marL="228600" indent="-228600">
              <a:buFont typeface="+mj-lt"/>
              <a:buAutoNum type="arabicPeriod"/>
            </a:pPr>
            <a:r>
              <a:rPr lang="en-US" sz="1200" b="1" kern="1200" dirty="0">
                <a:solidFill>
                  <a:schemeClr val="tx1"/>
                </a:solidFill>
                <a:effectLst/>
                <a:latin typeface="+mn-lt"/>
                <a:ea typeface="+mn-ea"/>
                <a:cs typeface="+mn-cs"/>
              </a:rPr>
              <a:t>Structural Shift:</a:t>
            </a:r>
            <a:r>
              <a:rPr lang="en-US" sz="1200" kern="1200" dirty="0">
                <a:solidFill>
                  <a:schemeClr val="tx1"/>
                </a:solidFill>
                <a:effectLst/>
                <a:latin typeface="+mn-lt"/>
                <a:ea typeface="+mn-ea"/>
                <a:cs typeface="+mn-cs"/>
              </a:rPr>
              <a:t> Transitioning from asset-light, 70–90% ROIC software models to capital-intensive, manufacturing-style infrastructure buildouts. </a:t>
            </a:r>
          </a:p>
          <a:p>
            <a:pPr marL="228600" indent="-228600">
              <a:buFont typeface="+mj-lt"/>
              <a:buAutoNum type="arabicPeriod"/>
            </a:pPr>
            <a:r>
              <a:rPr lang="en-US" sz="1200" b="1" kern="1200" dirty="0">
                <a:solidFill>
                  <a:schemeClr val="tx1"/>
                </a:solidFill>
                <a:effectLst/>
                <a:latin typeface="+mn-lt"/>
                <a:ea typeface="+mn-ea"/>
                <a:cs typeface="+mn-cs"/>
              </a:rPr>
              <a:t>Free Cash Flow Vacuum:</a:t>
            </a:r>
            <a:r>
              <a:rPr lang="en-US" sz="1200" kern="1200" dirty="0">
                <a:solidFill>
                  <a:schemeClr val="tx1"/>
                </a:solidFill>
                <a:effectLst/>
                <a:latin typeface="+mn-lt"/>
                <a:ea typeface="+mn-ea"/>
                <a:cs typeface="+mn-cs"/>
              </a:rPr>
              <a:t> Unprecedented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spend has driven free cash flow into negative territory for Amazon and Google, while Meta saw a </a:t>
            </a:r>
            <a:r>
              <a:rPr lang="en-US" sz="1200" b="1" kern="1200" dirty="0">
                <a:solidFill>
                  <a:schemeClr val="tx1"/>
                </a:solidFill>
                <a:effectLst/>
                <a:latin typeface="+mn-lt"/>
                <a:ea typeface="+mn-ea"/>
                <a:cs typeface="+mn-cs"/>
              </a:rPr>
              <a:t>91% drop in FCF</a:t>
            </a:r>
            <a:r>
              <a:rPr lang="en-US" sz="1200" kern="1200" dirty="0">
                <a:solidFill>
                  <a:schemeClr val="tx1"/>
                </a:solidFill>
                <a:effectLst/>
                <a:latin typeface="+mn-lt"/>
                <a:ea typeface="+mn-ea"/>
                <a:cs typeface="+mn-cs"/>
              </a:rPr>
              <a:t>. </a:t>
            </a:r>
          </a:p>
          <a:p>
            <a:pPr marL="228600" indent="-228600">
              <a:buFont typeface="+mj-lt"/>
              <a:buAutoNum type="arabicPeriod"/>
            </a:pPr>
            <a:r>
              <a:rPr lang="en-US" sz="1200" b="1" kern="1200" dirty="0">
                <a:solidFill>
                  <a:schemeClr val="tx1"/>
                </a:solidFill>
                <a:effectLst/>
                <a:latin typeface="+mn-lt"/>
                <a:ea typeface="+mn-ea"/>
                <a:cs typeface="+mn-cs"/>
              </a:rPr>
              <a:t>Accounting &amp; Circularity Risks:</a:t>
            </a:r>
            <a:r>
              <a:rPr lang="en-US" sz="1200" kern="1200" dirty="0">
                <a:solidFill>
                  <a:schemeClr val="tx1"/>
                </a:solidFill>
                <a:effectLst/>
                <a:latin typeface="+mn-lt"/>
                <a:ea typeface="+mn-ea"/>
                <a:cs typeface="+mn-cs"/>
              </a:rPr>
              <a:t> Round-tripping vendor flows (73–74% of AI revenues coming from strategic partners) paired with paper investment markups (85–87% of net income growth) hide true operating realities. </a:t>
            </a:r>
          </a:p>
          <a:p>
            <a:pPr marL="228600" indent="-228600">
              <a:buFont typeface="+mj-lt"/>
              <a:buAutoNum type="arabicPeriod"/>
            </a:pPr>
            <a:r>
              <a:rPr lang="en-US" sz="1200" b="1" kern="1200" dirty="0">
                <a:solidFill>
                  <a:schemeClr val="tx1"/>
                </a:solidFill>
                <a:effectLst/>
                <a:latin typeface="+mn-lt"/>
                <a:ea typeface="+mn-ea"/>
                <a:cs typeface="+mn-cs"/>
              </a:rPr>
              <a:t>Strategic Takeaway:</a:t>
            </a:r>
            <a:r>
              <a:rPr lang="en-US" sz="1200" kern="1200" dirty="0">
                <a:solidFill>
                  <a:schemeClr val="tx1"/>
                </a:solidFill>
                <a:effectLst/>
                <a:latin typeface="+mn-lt"/>
                <a:ea typeface="+mn-ea"/>
                <a:cs typeface="+mn-cs"/>
              </a:rPr>
              <a:t> The market is increasingly demanding transparency. Companies that articulate clear, sustainable business models and enforce capital discipline will navigate the upcoming cycle successfully, while those relying on narrative-driven spend risk significant market repricing.</a:t>
            </a:r>
          </a:p>
          <a:p>
            <a:endParaRPr lang="en-US" dirty="0"/>
          </a:p>
        </p:txBody>
      </p:sp>
      <p:sp>
        <p:nvSpPr>
          <p:cNvPr id="4" name="Slide Number Placeholder 3"/>
          <p:cNvSpPr>
            <a:spLocks noGrp="1"/>
          </p:cNvSpPr>
          <p:nvPr>
            <p:ph type="sldNum" sz="quarter" idx="5"/>
          </p:nvPr>
        </p:nvSpPr>
        <p:spPr/>
        <p:txBody>
          <a:bodyPr/>
          <a:lstStyle/>
          <a:p>
            <a:fld id="{FEB3BDDE-F6E9-490E-A811-6C43372A52FE}" type="slidenum">
              <a:rPr lang="en-US" smtClean="0"/>
              <a:t>11</a:t>
            </a:fld>
            <a:endParaRPr lang="en-US"/>
          </a:p>
        </p:txBody>
      </p:sp>
    </p:spTree>
    <p:extLst>
      <p:ext uri="{BB962C8B-B14F-4D97-AF65-F5344CB8AC3E}">
        <p14:creationId xmlns:p14="http://schemas.microsoft.com/office/powerpoint/2010/main" val="681314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B15625-71C0-D914-3523-DB1A783FB648}"/>
              </a:ext>
            </a:extLst>
          </p:cNvPr>
          <p:cNvSpPr>
            <a:spLocks noGrp="1"/>
          </p:cNvSpPr>
          <p:nvPr>
            <p:ph type="dt" sz="half" idx="10"/>
          </p:nvPr>
        </p:nvSpPr>
        <p:spPr/>
        <p:txBody>
          <a:bodyPr/>
          <a:lstStyle/>
          <a:p>
            <a:fld id="{E94876F5-27F0-484A-8093-79C0B65C1691}" type="datetimeFigureOut">
              <a:rPr lang="en-US" smtClean="0"/>
              <a:t>10/19/2026</a:t>
            </a:fld>
            <a:endParaRPr lang="en-US"/>
          </a:p>
        </p:txBody>
      </p:sp>
      <p:sp>
        <p:nvSpPr>
          <p:cNvPr id="3" name="Footer Placeholder 2">
            <a:extLst>
              <a:ext uri="{FF2B5EF4-FFF2-40B4-BE49-F238E27FC236}">
                <a16:creationId xmlns:a16="http://schemas.microsoft.com/office/drawing/2014/main" id="{B2E1A751-EDF4-EBC3-2B14-0CD24C752F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B7F754-06C2-06D8-12CE-6A85881B5264}"/>
              </a:ext>
            </a:extLst>
          </p:cNvPr>
          <p:cNvSpPr>
            <a:spLocks noGrp="1"/>
          </p:cNvSpPr>
          <p:nvPr>
            <p:ph type="sldNum" sz="quarter" idx="12"/>
          </p:nvPr>
        </p:nvSpPr>
        <p:spPr/>
        <p:txBody>
          <a:bodyPr/>
          <a:lstStyle/>
          <a:p>
            <a:fld id="{CC11E769-C9F6-4882-BA62-B92D7F9E88A2}" type="slidenum">
              <a:rPr lang="en-US" smtClean="0"/>
              <a:t>‹#›</a:t>
            </a:fld>
            <a:endParaRPr lang="en-US"/>
          </a:p>
        </p:txBody>
      </p:sp>
    </p:spTree>
    <p:extLst>
      <p:ext uri="{BB962C8B-B14F-4D97-AF65-F5344CB8AC3E}">
        <p14:creationId xmlns:p14="http://schemas.microsoft.com/office/powerpoint/2010/main" val="199202095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B41EE5-02F6-CA58-8175-BF4F999D15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AEC9D7-BE9E-6BD6-7B56-EA6E81EDC8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8B500-B15C-BE38-8FDA-CC90ECF0A2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4876F5-27F0-484A-8093-79C0B65C1691}" type="datetimeFigureOut">
              <a:rPr lang="en-US" smtClean="0"/>
              <a:t>10/19/2026</a:t>
            </a:fld>
            <a:endParaRPr lang="en-US"/>
          </a:p>
        </p:txBody>
      </p:sp>
      <p:sp>
        <p:nvSpPr>
          <p:cNvPr id="5" name="Footer Placeholder 4">
            <a:extLst>
              <a:ext uri="{FF2B5EF4-FFF2-40B4-BE49-F238E27FC236}">
                <a16:creationId xmlns:a16="http://schemas.microsoft.com/office/drawing/2014/main" id="{FBFEFDFE-3E4D-F12E-8274-1CED7CA8C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149755-DD4F-C69B-CB00-CFCCCF9AF1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11E769-C9F6-4882-BA62-B92D7F9E88A2}" type="slidenum">
              <a:rPr lang="en-US" smtClean="0"/>
              <a:t>‹#›</a:t>
            </a:fld>
            <a:endParaRPr lang="en-US"/>
          </a:p>
        </p:txBody>
      </p:sp>
    </p:spTree>
    <p:extLst>
      <p:ext uri="{BB962C8B-B14F-4D97-AF65-F5344CB8AC3E}">
        <p14:creationId xmlns:p14="http://schemas.microsoft.com/office/powerpoint/2010/main" val="224094503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DA44E4-807C-DF14-51DC-CBAEE6C9203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DA3460-347C-2FEA-C2C5-01E276990B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6BFFD-7C79-FFF4-7C49-C402834DAC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73847F-EDD4-041C-AB08-6A5229E174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65C0A7-D0CB-BBB8-3F9D-B6157E69100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79DA32-C559-8C41-6BC7-2CCA59B0BC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3AC564-B0B4-58FB-A449-901946C676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12AFD-345C-1E92-4C1C-F76CD5D1698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86E9D3-4567-F15C-0CB0-4C0685DB16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E3092C-540C-D910-30C0-B652179E8B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B0F1D4-7B68-6E78-E27B-3819970200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457835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1639</Words>
  <Application>Microsoft Office PowerPoint</Application>
  <PresentationFormat>寬螢幕</PresentationFormat>
  <Paragraphs>72</Paragraphs>
  <Slides>11</Slides>
  <Notes>11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11</vt:i4>
      </vt:variant>
    </vt:vector>
  </HeadingPairs>
  <TitlesOfParts>
    <vt:vector size="15"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2026-08-08T10:50:08Z</dcterms:created>
  <dcterms:modified xsi:type="dcterms:W3CDTF">2026-10-19T15:34:51Z</dcterms:modified>
</cp:coreProperties>
</file>