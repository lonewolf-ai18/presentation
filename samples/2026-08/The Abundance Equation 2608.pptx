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EFD23-CF96-41F5-8A00-A5C9663DB3E8}" v="26" dt="2026-08-31T14:41:55.873"/>
    <p1510:client id="{E88FFD58-CB41-41C4-A8ED-0576EF1849A7}" v="2" dt="2026-08-31T16:16:36.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8-31T16:16:42.467" v="154" actId="166"/>
      <pc:docMkLst>
        <pc:docMk/>
      </pc:docMkLst>
      <pc:sldChg chg="addSp delSp modSp mod modAnim modNotes modNotesTx">
        <pc:chgData name="Lai, Wilson" userId="2840974a-0d84-4886-90a9-9a3ed79f3a48" providerId="ADAL" clId="{9F23B798-9E84-4552-BA63-E776E805C424}" dt="2026-08-31T16:16:42.467" v="154" actId="166"/>
        <pc:sldMkLst>
          <pc:docMk/>
          <pc:sldMk cId="0" sldId="257"/>
        </pc:sldMkLst>
        <pc:spChg chg="add mod">
          <ac:chgData name="Lai, Wilson" userId="2840974a-0d84-4886-90a9-9a3ed79f3a48" providerId="ADAL" clId="{9F23B798-9E84-4552-BA63-E776E805C424}" dt="2026-08-31T16:16:36.856" v="153" actId="164"/>
          <ac:spMkLst>
            <pc:docMk/>
            <pc:sldMk cId="0" sldId="257"/>
            <ac:spMk id="5" creationId="{B16E644E-8C3A-6AF0-631C-8E7A936A0499}"/>
          </ac:spMkLst>
        </pc:spChg>
        <pc:grpChg chg="add mod">
          <ac:chgData name="Lai, Wilson" userId="2840974a-0d84-4886-90a9-9a3ed79f3a48" providerId="ADAL" clId="{9F23B798-9E84-4552-BA63-E776E805C424}" dt="2026-08-31T16:16:36.856" v="153" actId="164"/>
          <ac:grpSpMkLst>
            <pc:docMk/>
            <pc:sldMk cId="0" sldId="257"/>
            <ac:grpSpMk id="6" creationId="{A3766D95-1ABC-8308-AEAB-02B789956C5A}"/>
          </ac:grpSpMkLst>
        </pc:grpChg>
        <pc:picChg chg="del">
          <ac:chgData name="Lai, Wilson" userId="2840974a-0d84-4886-90a9-9a3ed79f3a48" providerId="ADAL" clId="{9F23B798-9E84-4552-BA63-E776E805C424}" dt="2026-08-31T13:42:12.194" v="2" actId="21"/>
          <ac:picMkLst>
            <pc:docMk/>
            <pc:sldMk cId="0" sldId="257"/>
            <ac:picMk id="2" creationId="{00000000-0000-0000-0000-000000000000}"/>
          </ac:picMkLst>
        </pc:picChg>
        <pc:picChg chg="add mod">
          <ac:chgData name="Lai, Wilson" userId="2840974a-0d84-4886-90a9-9a3ed79f3a48" providerId="ADAL" clId="{9F23B798-9E84-4552-BA63-E776E805C424}" dt="2026-08-31T16:16:36.856" v="153" actId="164"/>
          <ac:picMkLst>
            <pc:docMk/>
            <pc:sldMk cId="0" sldId="257"/>
            <ac:picMk id="2" creationId="{F485E277-705D-C643-41C9-E26A10E6AAED}"/>
          </ac:picMkLst>
        </pc:picChg>
        <pc:picChg chg="add mod ord">
          <ac:chgData name="Lai, Wilson" userId="2840974a-0d84-4886-90a9-9a3ed79f3a48" providerId="ADAL" clId="{9F23B798-9E84-4552-BA63-E776E805C424}" dt="2026-08-31T16:16:42.467" v="154" actId="166"/>
          <ac:picMkLst>
            <pc:docMk/>
            <pc:sldMk cId="0" sldId="257"/>
            <ac:picMk id="4" creationId="{507E69D2-BDD2-B78B-5941-F2EE22BFEC15}"/>
          </ac:picMkLst>
        </pc:picChg>
      </pc:sldChg>
      <pc:sldChg chg="addSp delSp mod modNotes modNotesTx">
        <pc:chgData name="Lai, Wilson" userId="2840974a-0d84-4886-90a9-9a3ed79f3a48" providerId="ADAL" clId="{9F23B798-9E84-4552-BA63-E776E805C424}" dt="2026-08-31T14:39:46.701" v="52" actId="14"/>
        <pc:sldMkLst>
          <pc:docMk/>
          <pc:sldMk cId="0" sldId="258"/>
        </pc:sldMkLst>
        <pc:picChg chg="del">
          <ac:chgData name="Lai, Wilson" userId="2840974a-0d84-4886-90a9-9a3ed79f3a48" providerId="ADAL" clId="{9F23B798-9E84-4552-BA63-E776E805C424}" dt="2026-08-31T13:42:26.835" v="4" actId="21"/>
          <ac:picMkLst>
            <pc:docMk/>
            <pc:sldMk cId="0" sldId="258"/>
            <ac:picMk id="2" creationId="{00000000-0000-0000-0000-000000000000}"/>
          </ac:picMkLst>
        </pc:picChg>
        <pc:picChg chg="add">
          <ac:chgData name="Lai, Wilson" userId="2840974a-0d84-4886-90a9-9a3ed79f3a48" providerId="ADAL" clId="{9F23B798-9E84-4552-BA63-E776E805C424}" dt="2026-08-31T13:44:28.598" v="5" actId="22"/>
          <ac:picMkLst>
            <pc:docMk/>
            <pc:sldMk cId="0" sldId="258"/>
            <ac:picMk id="4" creationId="{C8A1DC4F-225A-FCF2-CA62-70A3CF529C1F}"/>
          </ac:picMkLst>
        </pc:picChg>
      </pc:sldChg>
      <pc:sldChg chg="addSp delSp mod modNotes modNotesTx">
        <pc:chgData name="Lai, Wilson" userId="2840974a-0d84-4886-90a9-9a3ed79f3a48" providerId="ADAL" clId="{9F23B798-9E84-4552-BA63-E776E805C424}" dt="2026-08-31T14:40:01.698" v="60" actId="14"/>
        <pc:sldMkLst>
          <pc:docMk/>
          <pc:sldMk cId="0" sldId="259"/>
        </pc:sldMkLst>
        <pc:picChg chg="del">
          <ac:chgData name="Lai, Wilson" userId="2840974a-0d84-4886-90a9-9a3ed79f3a48" providerId="ADAL" clId="{9F23B798-9E84-4552-BA63-E776E805C424}" dt="2026-08-31T13:44:34.794" v="6" actId="21"/>
          <ac:picMkLst>
            <pc:docMk/>
            <pc:sldMk cId="0" sldId="259"/>
            <ac:picMk id="2" creationId="{00000000-0000-0000-0000-000000000000}"/>
          </ac:picMkLst>
        </pc:picChg>
        <pc:picChg chg="add">
          <ac:chgData name="Lai, Wilson" userId="2840974a-0d84-4886-90a9-9a3ed79f3a48" providerId="ADAL" clId="{9F23B798-9E84-4552-BA63-E776E805C424}" dt="2026-08-31T13:44:51.739" v="7" actId="22"/>
          <ac:picMkLst>
            <pc:docMk/>
            <pc:sldMk cId="0" sldId="259"/>
            <ac:picMk id="4" creationId="{1A32C78F-D46C-5964-9FFF-824C3735ED72}"/>
          </ac:picMkLst>
        </pc:picChg>
      </pc:sldChg>
      <pc:sldChg chg="addSp delSp mod ord modNotes modNotesTx">
        <pc:chgData name="Lai, Wilson" userId="2840974a-0d84-4886-90a9-9a3ed79f3a48" providerId="ADAL" clId="{9F23B798-9E84-4552-BA63-E776E805C424}" dt="2026-08-31T14:40:17.248" v="68" actId="12"/>
        <pc:sldMkLst>
          <pc:docMk/>
          <pc:sldMk cId="0" sldId="260"/>
        </pc:sldMkLst>
        <pc:picChg chg="del">
          <ac:chgData name="Lai, Wilson" userId="2840974a-0d84-4886-90a9-9a3ed79f3a48" providerId="ADAL" clId="{9F23B798-9E84-4552-BA63-E776E805C424}" dt="2026-08-31T13:44:53.945" v="8" actId="21"/>
          <ac:picMkLst>
            <pc:docMk/>
            <pc:sldMk cId="0" sldId="260"/>
            <ac:picMk id="2" creationId="{00000000-0000-0000-0000-000000000000}"/>
          </ac:picMkLst>
        </pc:picChg>
        <pc:picChg chg="add">
          <ac:chgData name="Lai, Wilson" userId="2840974a-0d84-4886-90a9-9a3ed79f3a48" providerId="ADAL" clId="{9F23B798-9E84-4552-BA63-E776E805C424}" dt="2026-08-31T13:45:38.174" v="9" actId="22"/>
          <ac:picMkLst>
            <pc:docMk/>
            <pc:sldMk cId="0" sldId="260"/>
            <ac:picMk id="4" creationId="{B2E83609-FD1C-A34C-8EDB-6111A5575C7B}"/>
          </ac:picMkLst>
        </pc:picChg>
      </pc:sldChg>
      <pc:sldChg chg="addSp delSp mod modNotes modNotesTx">
        <pc:chgData name="Lai, Wilson" userId="2840974a-0d84-4886-90a9-9a3ed79f3a48" providerId="ADAL" clId="{9F23B798-9E84-4552-BA63-E776E805C424}" dt="2026-08-31T14:40:40.073" v="75" actId="14"/>
        <pc:sldMkLst>
          <pc:docMk/>
          <pc:sldMk cId="0" sldId="261"/>
        </pc:sldMkLst>
        <pc:picChg chg="del">
          <ac:chgData name="Lai, Wilson" userId="2840974a-0d84-4886-90a9-9a3ed79f3a48" providerId="ADAL" clId="{9F23B798-9E84-4552-BA63-E776E805C424}" dt="2026-08-31T13:45:40.747" v="10" actId="21"/>
          <ac:picMkLst>
            <pc:docMk/>
            <pc:sldMk cId="0" sldId="261"/>
            <ac:picMk id="2" creationId="{00000000-0000-0000-0000-000000000000}"/>
          </ac:picMkLst>
        </pc:picChg>
        <pc:picChg chg="add">
          <ac:chgData name="Lai, Wilson" userId="2840974a-0d84-4886-90a9-9a3ed79f3a48" providerId="ADAL" clId="{9F23B798-9E84-4552-BA63-E776E805C424}" dt="2026-08-31T13:47:23.108" v="11" actId="22"/>
          <ac:picMkLst>
            <pc:docMk/>
            <pc:sldMk cId="0" sldId="261"/>
            <ac:picMk id="4" creationId="{58AD46F2-4845-14CA-29F3-086A034C2912}"/>
          </ac:picMkLst>
        </pc:picChg>
      </pc:sldChg>
      <pc:sldChg chg="addSp delSp mod modNotes modNotesTx">
        <pc:chgData name="Lai, Wilson" userId="2840974a-0d84-4886-90a9-9a3ed79f3a48" providerId="ADAL" clId="{9F23B798-9E84-4552-BA63-E776E805C424}" dt="2026-08-31T14:41:03.698" v="83" actId="14"/>
        <pc:sldMkLst>
          <pc:docMk/>
          <pc:sldMk cId="0" sldId="262"/>
        </pc:sldMkLst>
        <pc:picChg chg="del">
          <ac:chgData name="Lai, Wilson" userId="2840974a-0d84-4886-90a9-9a3ed79f3a48" providerId="ADAL" clId="{9F23B798-9E84-4552-BA63-E776E805C424}" dt="2026-08-31T13:47:27.570" v="12" actId="21"/>
          <ac:picMkLst>
            <pc:docMk/>
            <pc:sldMk cId="0" sldId="262"/>
            <ac:picMk id="2" creationId="{00000000-0000-0000-0000-000000000000}"/>
          </ac:picMkLst>
        </pc:picChg>
        <pc:picChg chg="add">
          <ac:chgData name="Lai, Wilson" userId="2840974a-0d84-4886-90a9-9a3ed79f3a48" providerId="ADAL" clId="{9F23B798-9E84-4552-BA63-E776E805C424}" dt="2026-08-31T13:47:35.078" v="13" actId="22"/>
          <ac:picMkLst>
            <pc:docMk/>
            <pc:sldMk cId="0" sldId="262"/>
            <ac:picMk id="4" creationId="{CAF3DC3F-F7A1-0E31-477B-E9D1CDB19DCA}"/>
          </ac:picMkLst>
        </pc:picChg>
      </pc:sldChg>
      <pc:sldChg chg="addSp delSp mod modNotes modNotesTx">
        <pc:chgData name="Lai, Wilson" userId="2840974a-0d84-4886-90a9-9a3ed79f3a48" providerId="ADAL" clId="{9F23B798-9E84-4552-BA63-E776E805C424}" dt="2026-08-31T14:41:44.503" v="89" actId="14"/>
        <pc:sldMkLst>
          <pc:docMk/>
          <pc:sldMk cId="0" sldId="263"/>
        </pc:sldMkLst>
        <pc:picChg chg="del">
          <ac:chgData name="Lai, Wilson" userId="2840974a-0d84-4886-90a9-9a3ed79f3a48" providerId="ADAL" clId="{9F23B798-9E84-4552-BA63-E776E805C424}" dt="2026-08-31T13:47:41.038" v="14" actId="21"/>
          <ac:picMkLst>
            <pc:docMk/>
            <pc:sldMk cId="0" sldId="263"/>
            <ac:picMk id="2" creationId="{00000000-0000-0000-0000-000000000000}"/>
          </ac:picMkLst>
        </pc:picChg>
        <pc:picChg chg="add">
          <ac:chgData name="Lai, Wilson" userId="2840974a-0d84-4886-90a9-9a3ed79f3a48" providerId="ADAL" clId="{9F23B798-9E84-4552-BA63-E776E805C424}" dt="2026-08-31T13:48:34.696" v="15" actId="22"/>
          <ac:picMkLst>
            <pc:docMk/>
            <pc:sldMk cId="0" sldId="263"/>
            <ac:picMk id="4" creationId="{CEFCCD7D-97B3-5BD9-12BE-FBBF0B45DD8C}"/>
          </ac:picMkLst>
        </pc:picChg>
      </pc:sldChg>
      <pc:sldChg chg="addSp delSp mod modNotes modNotesTx">
        <pc:chgData name="Lai, Wilson" userId="2840974a-0d84-4886-90a9-9a3ed79f3a48" providerId="ADAL" clId="{9F23B798-9E84-4552-BA63-E776E805C424}" dt="2026-08-31T14:41:58.811" v="93" actId="14"/>
        <pc:sldMkLst>
          <pc:docMk/>
          <pc:sldMk cId="0" sldId="264"/>
        </pc:sldMkLst>
        <pc:picChg chg="del">
          <ac:chgData name="Lai, Wilson" userId="2840974a-0d84-4886-90a9-9a3ed79f3a48" providerId="ADAL" clId="{9F23B798-9E84-4552-BA63-E776E805C424}" dt="2026-08-31T13:48:37.400" v="16" actId="21"/>
          <ac:picMkLst>
            <pc:docMk/>
            <pc:sldMk cId="0" sldId="264"/>
            <ac:picMk id="2" creationId="{00000000-0000-0000-0000-000000000000}"/>
          </ac:picMkLst>
        </pc:picChg>
        <pc:picChg chg="add">
          <ac:chgData name="Lai, Wilson" userId="2840974a-0d84-4886-90a9-9a3ed79f3a48" providerId="ADAL" clId="{9F23B798-9E84-4552-BA63-E776E805C424}" dt="2026-08-31T13:50:20.886" v="17" actId="22"/>
          <ac:picMkLst>
            <pc:docMk/>
            <pc:sldMk cId="0" sldId="264"/>
            <ac:picMk id="4" creationId="{5D22D58A-615B-7B6C-A6D8-278848DFACFA}"/>
          </ac:picMkLst>
        </pc:picChg>
      </pc:sldChg>
      <pc:sldChg chg="addSp delSp mod modNotes modNotesTx">
        <pc:chgData name="Lai, Wilson" userId="2840974a-0d84-4886-90a9-9a3ed79f3a48" providerId="ADAL" clId="{9F23B798-9E84-4552-BA63-E776E805C424}" dt="2026-08-31T14:42:14.443" v="97" actId="14"/>
        <pc:sldMkLst>
          <pc:docMk/>
          <pc:sldMk cId="0" sldId="265"/>
        </pc:sldMkLst>
        <pc:picChg chg="del">
          <ac:chgData name="Lai, Wilson" userId="2840974a-0d84-4886-90a9-9a3ed79f3a48" providerId="ADAL" clId="{9F23B798-9E84-4552-BA63-E776E805C424}" dt="2026-08-31T13:50:23.758" v="18" actId="21"/>
          <ac:picMkLst>
            <pc:docMk/>
            <pc:sldMk cId="0" sldId="265"/>
            <ac:picMk id="2" creationId="{00000000-0000-0000-0000-000000000000}"/>
          </ac:picMkLst>
        </pc:picChg>
        <pc:picChg chg="add">
          <ac:chgData name="Lai, Wilson" userId="2840974a-0d84-4886-90a9-9a3ed79f3a48" providerId="ADAL" clId="{9F23B798-9E84-4552-BA63-E776E805C424}" dt="2026-08-31T13:50:55.923" v="19" actId="22"/>
          <ac:picMkLst>
            <pc:docMk/>
            <pc:sldMk cId="0" sldId="265"/>
            <ac:picMk id="4" creationId="{2BC6D56C-B237-95C8-3973-C3B95AA167D0}"/>
          </ac:picMkLst>
        </pc:picChg>
      </pc:sldChg>
      <pc:sldChg chg="addSp delSp mod modNotes modNotesTx">
        <pc:chgData name="Lai, Wilson" userId="2840974a-0d84-4886-90a9-9a3ed79f3a48" providerId="ADAL" clId="{9F23B798-9E84-4552-BA63-E776E805C424}" dt="2026-08-31T14:42:30.843" v="103" actId="14"/>
        <pc:sldMkLst>
          <pc:docMk/>
          <pc:sldMk cId="0" sldId="266"/>
        </pc:sldMkLst>
        <pc:picChg chg="del">
          <ac:chgData name="Lai, Wilson" userId="2840974a-0d84-4886-90a9-9a3ed79f3a48" providerId="ADAL" clId="{9F23B798-9E84-4552-BA63-E776E805C424}" dt="2026-08-31T13:51:00.573" v="20" actId="21"/>
          <ac:picMkLst>
            <pc:docMk/>
            <pc:sldMk cId="0" sldId="266"/>
            <ac:picMk id="2" creationId="{00000000-0000-0000-0000-000000000000}"/>
          </ac:picMkLst>
        </pc:picChg>
        <pc:picChg chg="add">
          <ac:chgData name="Lai, Wilson" userId="2840974a-0d84-4886-90a9-9a3ed79f3a48" providerId="ADAL" clId="{9F23B798-9E84-4552-BA63-E776E805C424}" dt="2026-08-31T13:51:26.634" v="21" actId="22"/>
          <ac:picMkLst>
            <pc:docMk/>
            <pc:sldMk cId="0" sldId="266"/>
            <ac:picMk id="4" creationId="{10A05FF9-A58B-5897-F73E-430BA62EE040}"/>
          </ac:picMkLst>
        </pc:picChg>
      </pc:sldChg>
      <pc:sldChg chg="addSp delSp mod modNotes modNotesTx">
        <pc:chgData name="Lai, Wilson" userId="2840974a-0d84-4886-90a9-9a3ed79f3a48" providerId="ADAL" clId="{9F23B798-9E84-4552-BA63-E776E805C424}" dt="2026-08-31T14:42:54.038" v="111" actId="14"/>
        <pc:sldMkLst>
          <pc:docMk/>
          <pc:sldMk cId="0" sldId="267"/>
        </pc:sldMkLst>
        <pc:picChg chg="del">
          <ac:chgData name="Lai, Wilson" userId="2840974a-0d84-4886-90a9-9a3ed79f3a48" providerId="ADAL" clId="{9F23B798-9E84-4552-BA63-E776E805C424}" dt="2026-08-31T13:51:30.670" v="22" actId="21"/>
          <ac:picMkLst>
            <pc:docMk/>
            <pc:sldMk cId="0" sldId="267"/>
            <ac:picMk id="2" creationId="{00000000-0000-0000-0000-000000000000}"/>
          </ac:picMkLst>
        </pc:picChg>
        <pc:picChg chg="add">
          <ac:chgData name="Lai, Wilson" userId="2840974a-0d84-4886-90a9-9a3ed79f3a48" providerId="ADAL" clId="{9F23B798-9E84-4552-BA63-E776E805C424}" dt="2026-08-31T13:51:57.726" v="23" actId="22"/>
          <ac:picMkLst>
            <pc:docMk/>
            <pc:sldMk cId="0" sldId="267"/>
            <ac:picMk id="4" creationId="{08609FEF-E487-258F-6CCE-4D851DF8F3DB}"/>
          </ac:picMkLst>
        </pc:picChg>
      </pc:sldChg>
      <pc:sldChg chg="addSp delSp mod modNotes modNotesTx">
        <pc:chgData name="Lai, Wilson" userId="2840974a-0d84-4886-90a9-9a3ed79f3a48" providerId="ADAL" clId="{9F23B798-9E84-4552-BA63-E776E805C424}" dt="2026-08-31T14:43:11.073" v="118" actId="12"/>
        <pc:sldMkLst>
          <pc:docMk/>
          <pc:sldMk cId="0" sldId="268"/>
        </pc:sldMkLst>
        <pc:picChg chg="del">
          <ac:chgData name="Lai, Wilson" userId="2840974a-0d84-4886-90a9-9a3ed79f3a48" providerId="ADAL" clId="{9F23B798-9E84-4552-BA63-E776E805C424}" dt="2026-08-31T13:52:00.477" v="24" actId="21"/>
          <ac:picMkLst>
            <pc:docMk/>
            <pc:sldMk cId="0" sldId="268"/>
            <ac:picMk id="2" creationId="{00000000-0000-0000-0000-000000000000}"/>
          </ac:picMkLst>
        </pc:picChg>
        <pc:picChg chg="add">
          <ac:chgData name="Lai, Wilson" userId="2840974a-0d84-4886-90a9-9a3ed79f3a48" providerId="ADAL" clId="{9F23B798-9E84-4552-BA63-E776E805C424}" dt="2026-08-31T13:52:19.910" v="25" actId="22"/>
          <ac:picMkLst>
            <pc:docMk/>
            <pc:sldMk cId="0" sldId="268"/>
            <ac:picMk id="4" creationId="{39F0F9AF-15FC-5A3D-0ECE-6479BC6969FF}"/>
          </ac:picMkLst>
        </pc:picChg>
      </pc:sldChg>
      <pc:sldChg chg="addSp delSp mod modNotes modNotesTx">
        <pc:chgData name="Lai, Wilson" userId="2840974a-0d84-4886-90a9-9a3ed79f3a48" providerId="ADAL" clId="{9F23B798-9E84-4552-BA63-E776E805C424}" dt="2026-08-31T14:43:26.941" v="125" actId="14"/>
        <pc:sldMkLst>
          <pc:docMk/>
          <pc:sldMk cId="0" sldId="269"/>
        </pc:sldMkLst>
        <pc:picChg chg="del">
          <ac:chgData name="Lai, Wilson" userId="2840974a-0d84-4886-90a9-9a3ed79f3a48" providerId="ADAL" clId="{9F23B798-9E84-4552-BA63-E776E805C424}" dt="2026-08-31T13:52:22.768" v="26" actId="21"/>
          <ac:picMkLst>
            <pc:docMk/>
            <pc:sldMk cId="0" sldId="269"/>
            <ac:picMk id="2" creationId="{00000000-0000-0000-0000-000000000000}"/>
          </ac:picMkLst>
        </pc:picChg>
        <pc:picChg chg="add">
          <ac:chgData name="Lai, Wilson" userId="2840974a-0d84-4886-90a9-9a3ed79f3a48" providerId="ADAL" clId="{9F23B798-9E84-4552-BA63-E776E805C424}" dt="2026-08-31T13:52:52.896" v="27" actId="22"/>
          <ac:picMkLst>
            <pc:docMk/>
            <pc:sldMk cId="0" sldId="269"/>
            <ac:picMk id="4" creationId="{F3AF20BA-9DC4-9489-11E1-2AA3C4BBA51E}"/>
          </ac:picMkLst>
        </pc:picChg>
      </pc:sldChg>
      <pc:sldChg chg="addSp delSp mod modNotes modNotesTx">
        <pc:chgData name="Lai, Wilson" userId="2840974a-0d84-4886-90a9-9a3ed79f3a48" providerId="ADAL" clId="{9F23B798-9E84-4552-BA63-E776E805C424}" dt="2026-08-31T14:43:37.711" v="131" actId="14"/>
        <pc:sldMkLst>
          <pc:docMk/>
          <pc:sldMk cId="0" sldId="270"/>
        </pc:sldMkLst>
        <pc:picChg chg="del">
          <ac:chgData name="Lai, Wilson" userId="2840974a-0d84-4886-90a9-9a3ed79f3a48" providerId="ADAL" clId="{9F23B798-9E84-4552-BA63-E776E805C424}" dt="2026-08-31T13:52:55.417" v="28" actId="21"/>
          <ac:picMkLst>
            <pc:docMk/>
            <pc:sldMk cId="0" sldId="270"/>
            <ac:picMk id="2" creationId="{00000000-0000-0000-0000-000000000000}"/>
          </ac:picMkLst>
        </pc:picChg>
        <pc:picChg chg="add">
          <ac:chgData name="Lai, Wilson" userId="2840974a-0d84-4886-90a9-9a3ed79f3a48" providerId="ADAL" clId="{9F23B798-9E84-4552-BA63-E776E805C424}" dt="2026-08-31T13:53:25.582" v="29" actId="22"/>
          <ac:picMkLst>
            <pc:docMk/>
            <pc:sldMk cId="0" sldId="270"/>
            <ac:picMk id="4" creationId="{3BF651A5-456E-D3F3-2E8A-4F4DAF15AE62}"/>
          </ac:picMkLst>
        </pc:picChg>
      </pc:sldChg>
      <pc:sldChg chg="addSp delSp mod modNotes modNotesTx">
        <pc:chgData name="Lai, Wilson" userId="2840974a-0d84-4886-90a9-9a3ed79f3a48" providerId="ADAL" clId="{9F23B798-9E84-4552-BA63-E776E805C424}" dt="2026-08-31T14:43:45.316" v="135" actId="14"/>
        <pc:sldMkLst>
          <pc:docMk/>
          <pc:sldMk cId="0" sldId="271"/>
        </pc:sldMkLst>
        <pc:picChg chg="del">
          <ac:chgData name="Lai, Wilson" userId="2840974a-0d84-4886-90a9-9a3ed79f3a48" providerId="ADAL" clId="{9F23B798-9E84-4552-BA63-E776E805C424}" dt="2026-08-31T13:53:27.864" v="30" actId="21"/>
          <ac:picMkLst>
            <pc:docMk/>
            <pc:sldMk cId="0" sldId="271"/>
            <ac:picMk id="2" creationId="{00000000-0000-0000-0000-000000000000}"/>
          </ac:picMkLst>
        </pc:picChg>
        <pc:picChg chg="add">
          <ac:chgData name="Lai, Wilson" userId="2840974a-0d84-4886-90a9-9a3ed79f3a48" providerId="ADAL" clId="{9F23B798-9E84-4552-BA63-E776E805C424}" dt="2026-08-31T13:53:37.022" v="31" actId="22"/>
          <ac:picMkLst>
            <pc:docMk/>
            <pc:sldMk cId="0" sldId="271"/>
            <ac:picMk id="4" creationId="{69B74C17-5BCE-D189-18EC-CE8B8EE7ED7B}"/>
          </ac:picMkLst>
        </pc:picChg>
      </pc:sldChg>
      <pc:sldChg chg="addSp delSp mod modNotes modNotesTx">
        <pc:chgData name="Lai, Wilson" userId="2840974a-0d84-4886-90a9-9a3ed79f3a48" providerId="ADAL" clId="{9F23B798-9E84-4552-BA63-E776E805C424}" dt="2026-08-31T14:44:00.240" v="140" actId="5793"/>
        <pc:sldMkLst>
          <pc:docMk/>
          <pc:sldMk cId="3465999436" sldId="272"/>
        </pc:sldMkLst>
        <pc:picChg chg="add del">
          <ac:chgData name="Lai, Wilson" userId="2840974a-0d84-4886-90a9-9a3ed79f3a48" providerId="ADAL" clId="{9F23B798-9E84-4552-BA63-E776E805C424}" dt="2026-08-31T13:53:41.274" v="33" actId="21"/>
          <ac:picMkLst>
            <pc:docMk/>
            <pc:sldMk cId="3465999436" sldId="272"/>
            <ac:picMk id="3" creationId="{C55912F8-58D6-94D1-DCAB-F4FB3F08DE3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EB16B-EE6B-4572-8A63-896BFBC97B53}"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B0650-30A0-4DD2-8EA0-FDEEF6FBC305}" type="slidenum">
              <a:rPr lang="en-US" smtClean="0"/>
              <a:t>‹#›</a:t>
            </a:fld>
            <a:endParaRPr lang="en-US"/>
          </a:p>
        </p:txBody>
      </p:sp>
    </p:spTree>
    <p:extLst>
      <p:ext uri="{BB962C8B-B14F-4D97-AF65-F5344CB8AC3E}">
        <p14:creationId xmlns:p14="http://schemas.microsoft.com/office/powerpoint/2010/main" val="4192575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Hook: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Welcome, everyone. Today, we are stepping back to look at the macro trajectory of technological progress. Throughout history, human capability has been constrained by physical, computational, and biological limits. But we are entering an unprecedented era where these bottlenecks are falling simultaneously. </a:t>
            </a:r>
          </a:p>
          <a:p>
            <a:pPr lvl="0"/>
            <a:r>
              <a:rPr lang="en-US" sz="1200" b="1" kern="1200" dirty="0">
                <a:solidFill>
                  <a:schemeClr val="tx1"/>
                </a:solidFill>
                <a:effectLst/>
                <a:latin typeface="+mn-lt"/>
                <a:ea typeface="+mn-ea"/>
                <a:cs typeface="+mn-cs"/>
              </a:rPr>
              <a:t>Core Thesis: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'Age of Abundance' is not just a vague optimistic vision—it is an engineering reality driven by three converging pillars: </a:t>
            </a:r>
            <a:r>
              <a:rPr lang="en-US" sz="1200" b="1" kern="1200" dirty="0">
                <a:solidFill>
                  <a:schemeClr val="tx1"/>
                </a:solidFill>
                <a:effectLst/>
                <a:latin typeface="+mn-lt"/>
                <a:ea typeface="+mn-ea"/>
                <a:cs typeface="+mn-cs"/>
              </a:rPr>
              <a:t>Artificial Intelligence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Space Manufacturing</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Epigenetic Reprogramming</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Framing the Convergent Arc:</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Individually, each of these fields promises multi-trillion-dollar breakthroughs. Together, they create a compounding flywheel. When you combine infinite compute, infinite physical resources, and extended, healthy human time, the baseline economics of society fundamentally change. </a:t>
            </a:r>
          </a:p>
          <a:p>
            <a:pPr lvl="0"/>
            <a:r>
              <a:rPr lang="en-US" sz="1200" b="1" kern="1200" dirty="0">
                <a:solidFill>
                  <a:schemeClr val="tx1"/>
                </a:solidFill>
                <a:effectLst/>
                <a:latin typeface="+mn-lt"/>
                <a:ea typeface="+mn-ea"/>
                <a:cs typeface="+mn-cs"/>
              </a:rPr>
              <a:t>Transition: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start by analyzing how these three revolutions shatter our existing bottlenecks. </a:t>
            </a:r>
          </a:p>
          <a:p>
            <a:endParaRPr lang="en-US" dirty="0"/>
          </a:p>
          <a:p>
            <a:endParaRPr lang="en-US" dirty="0"/>
          </a:p>
          <a:p>
            <a:r>
              <a:rPr lang="en-US" dirty="0"/>
              <a:t>https://www.youtube.com/watch?v=R6UVuDCTd7A</a:t>
            </a:r>
          </a:p>
        </p:txBody>
      </p:sp>
      <p:sp>
        <p:nvSpPr>
          <p:cNvPr id="4" name="Slide Number Placeholder 3"/>
          <p:cNvSpPr>
            <a:spLocks noGrp="1"/>
          </p:cNvSpPr>
          <p:nvPr>
            <p:ph type="sldNum" sz="quarter" idx="5"/>
          </p:nvPr>
        </p:nvSpPr>
        <p:spPr/>
        <p:txBody>
          <a:bodyPr/>
          <a:lstStyle/>
          <a:p>
            <a:fld id="{66AB0650-30A0-4DD2-8EA0-FDEEF6FBC305}" type="slidenum">
              <a:rPr lang="en-US" smtClean="0"/>
              <a:t>1</a:t>
            </a:fld>
            <a:endParaRPr lang="en-US"/>
          </a:p>
        </p:txBody>
      </p:sp>
    </p:spTree>
    <p:extLst>
      <p:ext uri="{BB962C8B-B14F-4D97-AF65-F5344CB8AC3E}">
        <p14:creationId xmlns:p14="http://schemas.microsoft.com/office/powerpoint/2010/main" val="416860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Moving Beyond Linear Thinking: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where we are going, we first have to identify what is holding us back today. Historically, progress has been linear because humanity constantly hits hard physical and structural walls. </a:t>
                </a:r>
              </a:p>
              <a:p>
                <a:pPr lvl="0"/>
                <a:r>
                  <a:rPr lang="en-US" sz="1200" b="1" kern="1200" dirty="0">
                    <a:solidFill>
                      <a:schemeClr val="tx1"/>
                    </a:solidFill>
                    <a:effectLst/>
                    <a:latin typeface="+mn-lt"/>
                    <a:ea typeface="+mn-ea"/>
                    <a:cs typeface="+mn-cs"/>
                  </a:rPr>
                  <a:t>Breakdown of the 3 Constraints: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 1: Digital (Compute Monopolies):</a:t>
                </a:r>
                <a:r>
                  <a:rPr lang="en-US" sz="1200" kern="1200" dirty="0">
                    <a:solidFill>
                      <a:schemeClr val="tx1"/>
                    </a:solidFill>
                    <a:effectLst/>
                    <a:latin typeface="+mn-lt"/>
                    <a:ea typeface="+mn-ea"/>
                    <a:cs typeface="+mn-cs"/>
                  </a:rPr>
                  <a:t> We currently face a bottleneck around centralization—where a handful of tech giants control high-performance compute and data centers.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 2: Physical (Gravity &amp; Atmospheric Drag):</a:t>
                </a:r>
                <a:r>
                  <a:rPr lang="en-US" sz="1200" kern="1200" dirty="0">
                    <a:solidFill>
                      <a:schemeClr val="tx1"/>
                    </a:solidFill>
                    <a:effectLst/>
                    <a:latin typeface="+mn-lt"/>
                    <a:ea typeface="+mn-ea"/>
                    <a:cs typeface="+mn-cs"/>
                  </a:rPr>
                  <a:t> On Earth, manufacturing and logistics are shackled by </a:t>
                </a:r>
                <a14:m>
                  <m:oMath xmlns:m="http://schemas.openxmlformats.org/officeDocument/2006/math">
                    <m:r>
                      <a:rPr lang="en-US" sz="1200" kern="1200" smtClean="0">
                        <a:solidFill>
                          <a:schemeClr val="tx1"/>
                        </a:solidFill>
                        <a:latin typeface="Cambria Math" panose="02040503050406030204" pitchFamily="18" charset="0"/>
                        <a:ea typeface="+mn-ea"/>
                        <a:cs typeface="+mn-cs"/>
                      </a:rPr>
                      <m:t>1</m:t>
                    </m:r>
                    <m:r>
                      <a:rPr lang="en-US" sz="1200" i="1" kern="1200">
                        <a:solidFill>
                          <a:schemeClr val="tx1"/>
                        </a:solidFill>
                        <a:latin typeface="Cambria Math" panose="02040503050406030204" pitchFamily="18" charset="0"/>
                        <a:ea typeface="+mn-ea"/>
                        <a:cs typeface="+mn-cs"/>
                      </a:rPr>
                      <m:t>𝐺</m:t>
                    </m:r>
                  </m:oMath>
                </a14:m>
                <a:r>
                  <a:rPr lang="en-US" sz="1200" kern="1200" dirty="0">
                    <a:solidFill>
                      <a:schemeClr val="tx1"/>
                    </a:solidFill>
                    <a:effectLst/>
                    <a:latin typeface="+mn-lt"/>
                    <a:ea typeface="+mn-ea"/>
                    <a:cs typeface="+mn-cs"/>
                  </a:rPr>
                  <a:t>gravity and heavy atmospheric drag, making off-world expansion absurdly expensive under traditional rocketry.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 3: Biological (Cellular Degradation):</a:t>
                </a:r>
                <a:r>
                  <a:rPr lang="en-US" sz="1200" kern="1200" dirty="0">
                    <a:solidFill>
                      <a:schemeClr val="tx1"/>
                    </a:solidFill>
                    <a:effectLst/>
                    <a:latin typeface="+mn-lt"/>
                    <a:ea typeface="+mn-ea"/>
                    <a:cs typeface="+mn-cs"/>
                  </a:rPr>
                  <a:t> Biologically, human productivity and life are capped by cellular aging, which manifests as systemic disease and functional decline over time. </a:t>
                </a:r>
              </a:p>
              <a:p>
                <a:pPr lvl="0"/>
                <a:r>
                  <a:rPr lang="en-US" sz="1200" b="1" kern="1200" dirty="0">
                    <a:solidFill>
                      <a:schemeClr val="tx1"/>
                    </a:solidFill>
                    <a:effectLst/>
                    <a:latin typeface="+mn-lt"/>
                    <a:ea typeface="+mn-ea"/>
                    <a:cs typeface="+mn-cs"/>
                  </a:rPr>
                  <a:t>The Abundance Flywheel:</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Overcoming these limits sequentially was the story of the 20th century. Overcoming them </a:t>
                </a:r>
                <a:r>
                  <a:rPr lang="en-US" sz="1200" i="1" kern="1200" dirty="0">
                    <a:solidFill>
                      <a:schemeClr val="tx1"/>
                    </a:solidFill>
                    <a:effectLst/>
                    <a:latin typeface="+mn-lt"/>
                    <a:ea typeface="+mn-ea"/>
                    <a:cs typeface="+mn-cs"/>
                  </a:rPr>
                  <a:t>simultaneously</a:t>
                </a:r>
                <a:r>
                  <a:rPr lang="en-US" sz="1200" kern="1200" dirty="0">
                    <a:solidFill>
                      <a:schemeClr val="tx1"/>
                    </a:solidFill>
                    <a:effectLst/>
                    <a:latin typeface="+mn-lt"/>
                    <a:ea typeface="+mn-ea"/>
                    <a:cs typeface="+mn-cs"/>
                  </a:rPr>
                  <a:t> is the story of the 21st century. </a:t>
                </a:r>
              </a:p>
              <a:p>
                <a:pPr lvl="0"/>
                <a:r>
                  <a:rPr lang="en-US" sz="1200" b="1" kern="1200" dirty="0">
                    <a:solidFill>
                      <a:schemeClr val="tx1"/>
                    </a:solidFill>
                    <a:effectLst/>
                    <a:latin typeface="+mn-lt"/>
                    <a:ea typeface="+mn-ea"/>
                    <a:cs typeface="+mn-cs"/>
                  </a:rPr>
                  <a:t>Transition: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dive into Pillar 1: breaking the digital constraint through the diffusion of intelligence.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Moving Beyond Linear Thinking: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where we are going, we first have to identify what is holding us back today. Historically, progress has been linear because humanity constantly hits hard physical and structural walls. </a:t>
                </a:r>
              </a:p>
              <a:p>
                <a:pPr lvl="0"/>
                <a:r>
                  <a:rPr lang="en-US" sz="1200" b="1" kern="1200" dirty="0">
                    <a:solidFill>
                      <a:schemeClr val="tx1"/>
                    </a:solidFill>
                    <a:effectLst/>
                    <a:latin typeface="+mn-lt"/>
                    <a:ea typeface="+mn-ea"/>
                    <a:cs typeface="+mn-cs"/>
                  </a:rPr>
                  <a:t>Breakdown of the 3 Constraints: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 1: Digital (Compute Monopolies):</a:t>
                </a:r>
                <a:r>
                  <a:rPr lang="en-US" sz="1200" kern="1200" dirty="0">
                    <a:solidFill>
                      <a:schemeClr val="tx1"/>
                    </a:solidFill>
                    <a:effectLst/>
                    <a:latin typeface="+mn-lt"/>
                    <a:ea typeface="+mn-ea"/>
                    <a:cs typeface="+mn-cs"/>
                  </a:rPr>
                  <a:t> We currently face a bottleneck around centralization—where a handful of tech giants control high-performance compute and data centers.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 2: Physical (Gravity &amp; Atmospheric Drag):</a:t>
                </a:r>
                <a:r>
                  <a:rPr lang="en-US" sz="1200" kern="1200" dirty="0">
                    <a:solidFill>
                      <a:schemeClr val="tx1"/>
                    </a:solidFill>
                    <a:effectLst/>
                    <a:latin typeface="+mn-lt"/>
                    <a:ea typeface="+mn-ea"/>
                    <a:cs typeface="+mn-cs"/>
                  </a:rPr>
                  <a:t> On Earth, manufacturing and logistics are shackled by </a:t>
                </a:r>
                <a:r>
                  <a:rPr lang="en-US" sz="1200" i="0" kern="1200">
                    <a:solidFill>
                      <a:schemeClr val="tx1"/>
                    </a:solidFill>
                    <a:latin typeface="+mn-lt"/>
                    <a:ea typeface="+mn-ea"/>
                    <a:cs typeface="+mn-cs"/>
                  </a:rPr>
                  <a:t>1𝐺</a:t>
                </a:r>
                <a:r>
                  <a:rPr lang="en-US" sz="1200" kern="1200" dirty="0">
                    <a:solidFill>
                      <a:schemeClr val="tx1"/>
                    </a:solidFill>
                    <a:effectLst/>
                    <a:latin typeface="+mn-lt"/>
                    <a:ea typeface="+mn-ea"/>
                    <a:cs typeface="+mn-cs"/>
                  </a:rPr>
                  <a:t>gravity and heavy atmospheric drag, making off-world expansion absurdly expensive under traditional rocketry.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Constraint 3: Biological (Cellular Degradation):</a:t>
                </a:r>
                <a:r>
                  <a:rPr lang="en-US" sz="1200" kern="1200" dirty="0">
                    <a:solidFill>
                      <a:schemeClr val="tx1"/>
                    </a:solidFill>
                    <a:effectLst/>
                    <a:latin typeface="+mn-lt"/>
                    <a:ea typeface="+mn-ea"/>
                    <a:cs typeface="+mn-cs"/>
                  </a:rPr>
                  <a:t> Biologically, human productivity and life are capped by cellular aging, which manifests as systemic disease and functional decline over time. </a:t>
                </a:r>
              </a:p>
              <a:p>
                <a:pPr lvl="0"/>
                <a:r>
                  <a:rPr lang="en-US" sz="1200" b="1" kern="1200" dirty="0">
                    <a:solidFill>
                      <a:schemeClr val="tx1"/>
                    </a:solidFill>
                    <a:effectLst/>
                    <a:latin typeface="+mn-lt"/>
                    <a:ea typeface="+mn-ea"/>
                    <a:cs typeface="+mn-cs"/>
                  </a:rPr>
                  <a:t>The Abundance Flywheel:</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Overcoming these limits sequentially was the story of the 20th century. Overcoming them </a:t>
                </a:r>
                <a:r>
                  <a:rPr lang="en-US" sz="1200" i="1" kern="1200" dirty="0">
                    <a:solidFill>
                      <a:schemeClr val="tx1"/>
                    </a:solidFill>
                    <a:effectLst/>
                    <a:latin typeface="+mn-lt"/>
                    <a:ea typeface="+mn-ea"/>
                    <a:cs typeface="+mn-cs"/>
                  </a:rPr>
                  <a:t>simultaneously</a:t>
                </a:r>
                <a:r>
                  <a:rPr lang="en-US" sz="1200" kern="1200" dirty="0">
                    <a:solidFill>
                      <a:schemeClr val="tx1"/>
                    </a:solidFill>
                    <a:effectLst/>
                    <a:latin typeface="+mn-lt"/>
                    <a:ea typeface="+mn-ea"/>
                    <a:cs typeface="+mn-cs"/>
                  </a:rPr>
                  <a:t> is the story of the 21st century. </a:t>
                </a:r>
              </a:p>
              <a:p>
                <a:pPr lvl="0"/>
                <a:r>
                  <a:rPr lang="en-US" sz="1200" b="1" kern="1200" dirty="0">
                    <a:solidFill>
                      <a:schemeClr val="tx1"/>
                    </a:solidFill>
                    <a:effectLst/>
                    <a:latin typeface="+mn-lt"/>
                    <a:ea typeface="+mn-ea"/>
                    <a:cs typeface="+mn-cs"/>
                  </a:rPr>
                  <a:t>Transition: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dive into Pillar 1: breaking the digital constraint through the diffusion of intelligence.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2</a:t>
            </a:fld>
            <a:endParaRPr lang="en-US"/>
          </a:p>
        </p:txBody>
      </p:sp>
    </p:spTree>
    <p:extLst>
      <p:ext uri="{BB962C8B-B14F-4D97-AF65-F5344CB8AC3E}">
        <p14:creationId xmlns:p14="http://schemas.microsoft.com/office/powerpoint/2010/main" val="1713392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a revolutionary technology first emerges, it naturally centralizes. Early adopters and deep-pocketed infrastructure owners capture the vast majority of the initial value. </a:t>
            </a:r>
          </a:p>
          <a:p>
            <a:pPr lvl="0"/>
            <a:r>
              <a:rPr lang="en-US" sz="1200" b="1" kern="1200" dirty="0">
                <a:solidFill>
                  <a:schemeClr val="tx1"/>
                </a:solidFill>
                <a:effectLst/>
                <a:latin typeface="+mn-lt"/>
                <a:ea typeface="+mn-ea"/>
                <a:cs typeface="+mn-cs"/>
              </a:rPr>
              <a:t>Macro Perspective: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Many commentators today fear that artificial intelligence will remain locked inside $100 billion mega-data centers owned by two or three tech conglomerates. </a:t>
            </a:r>
          </a:p>
          <a:p>
            <a:pPr lvl="0"/>
            <a:r>
              <a:rPr lang="en-US" sz="1200" b="1" kern="1200" dirty="0">
                <a:solidFill>
                  <a:schemeClr val="tx1"/>
                </a:solidFill>
                <a:effectLst/>
                <a:latin typeface="+mn-lt"/>
                <a:ea typeface="+mn-ea"/>
                <a:cs typeface="+mn-cs"/>
              </a:rPr>
              <a:t>The Core Argument: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History demonstrates the exact opposite: technology inherently </a:t>
            </a:r>
            <a:r>
              <a:rPr lang="en-US" sz="1200" i="1" kern="1200" dirty="0">
                <a:solidFill>
                  <a:schemeClr val="tx1"/>
                </a:solidFill>
                <a:effectLst/>
                <a:latin typeface="+mn-lt"/>
                <a:ea typeface="+mn-ea"/>
                <a:cs typeface="+mn-cs"/>
              </a:rPr>
              <a:t>diffuses</a:t>
            </a:r>
            <a:r>
              <a:rPr lang="en-US" sz="1200" kern="1200" dirty="0">
                <a:solidFill>
                  <a:schemeClr val="tx1"/>
                </a:solidFill>
                <a:effectLst/>
                <a:latin typeface="+mn-lt"/>
                <a:ea typeface="+mn-ea"/>
                <a:cs typeface="+mn-cs"/>
              </a:rPr>
              <a:t>. What begins as an expensive central monopoly rapidly commoditizes and moves to the edge, putting power directly into the hands of end users. </a:t>
            </a:r>
          </a:p>
          <a:p>
            <a:pPr lvl="0"/>
            <a:r>
              <a:rPr lang="en-US" sz="1200" b="1" kern="1200" dirty="0">
                <a:solidFill>
                  <a:schemeClr val="tx1"/>
                </a:solidFill>
                <a:effectLst/>
                <a:latin typeface="+mn-lt"/>
                <a:ea typeface="+mn-ea"/>
                <a:cs typeface="+mn-cs"/>
              </a:rPr>
              <a:t>Transition: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look at a concrete historical parallel from the early internet era to see how this plays out.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3</a:t>
            </a:fld>
            <a:endParaRPr lang="en-US"/>
          </a:p>
        </p:txBody>
      </p:sp>
    </p:spTree>
    <p:extLst>
      <p:ext uri="{BB962C8B-B14F-4D97-AF65-F5344CB8AC3E}">
        <p14:creationId xmlns:p14="http://schemas.microsoft.com/office/powerpoint/2010/main" val="2010447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1990s Internet Precedent: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the 1990s, early critics believed Cisco and a few telecom giants would permanently own and control the internet because they built the physical switches and routers.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People feared that no smaller entity could ever compete against those hardware monopolies.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What actually happened? As bandwidth and routing tech commoditized, value moved outward. Decades later, platforms like Shopify enabled individual entrepreneurs to set up global e-commerce storefronts in minutes from their bedrooms. </a:t>
            </a:r>
          </a:p>
          <a:p>
            <a:pPr lvl="0"/>
            <a:r>
              <a:rPr lang="en-US" sz="1200" b="1" kern="1200" dirty="0">
                <a:solidFill>
                  <a:schemeClr val="tx1"/>
                </a:solidFill>
                <a:effectLst/>
                <a:latin typeface="+mn-lt"/>
                <a:ea typeface="+mn-ea"/>
                <a:cs typeface="+mn-cs"/>
              </a:rPr>
              <a:t>The 2020s Parallel (Nvidia, Google, Big Tech):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we see the exact same panic around Nvidia’s GPUs and tech giants spending tens of billions on mega data centers.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central infrastructure dominates the early phase of AI, localized intelligence is already accelerating faster than anticipated. </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Data centers are an early-stage requirement, not the ultimate destination. Intelligence will sit ubiquitously on your phone, laptop, and local hardware.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4</a:t>
            </a:fld>
            <a:endParaRPr lang="en-US"/>
          </a:p>
        </p:txBody>
      </p:sp>
    </p:spTree>
    <p:extLst>
      <p:ext uri="{BB962C8B-B14F-4D97-AF65-F5344CB8AC3E}">
        <p14:creationId xmlns:p14="http://schemas.microsoft.com/office/powerpoint/2010/main" val="2185018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Cost Collapse Drivers:</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Why is cloud dependency breaking down so quickly? Because token costs are collapsing by </a:t>
                </a:r>
                <a14:m>
                  <m:oMath xmlns:m="http://schemas.openxmlformats.org/officeDocument/2006/math">
                    <m:r>
                      <a:rPr lang="en-US" sz="1200" kern="1200" smtClean="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,000×</m:t>
                    </m:r>
                  </m:oMath>
                </a14:m>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This massive cost reduction is driven by three main innovations: </a:t>
                </a:r>
              </a:p>
              <a:p>
                <a:pPr marL="685800" lvl="1" indent="-228600" algn="l">
                  <a:buFont typeface="+mj-lt"/>
                  <a:buAutoNum type="arabicPeriod"/>
                </a:pPr>
                <a:r>
                  <a:rPr lang="en-US" sz="1200" kern="1200" dirty="0">
                    <a:solidFill>
                      <a:schemeClr val="tx1"/>
                    </a:solidFill>
                    <a:effectLst/>
                    <a:latin typeface="+mn-lt"/>
                    <a:ea typeface="+mn-ea"/>
                    <a:cs typeface="+mn-cs"/>
                  </a:rPr>
                  <a:t>Highly efficient, novel chip architectures. </a:t>
                </a:r>
              </a:p>
              <a:p>
                <a:pPr marL="685800" lvl="1" indent="-228600" algn="l">
                  <a:buFont typeface="+mj-lt"/>
                  <a:buAutoNum type="arabicPeriod"/>
                </a:pPr>
                <a:r>
                  <a:rPr lang="en-US" sz="1200" kern="1200" dirty="0">
                    <a:solidFill>
                      <a:schemeClr val="tx1"/>
                    </a:solidFill>
                    <a:effectLst/>
                    <a:latin typeface="+mn-lt"/>
                    <a:ea typeface="+mn-ea"/>
                    <a:cs typeface="+mn-cs"/>
                  </a:rPr>
                  <a:t>Smaller parameter, highly optimized distributed models. </a:t>
                </a:r>
              </a:p>
              <a:p>
                <a:pPr marL="685800" lvl="1" indent="-228600" algn="l">
                  <a:buFont typeface="+mj-lt"/>
                  <a:buAutoNum type="arabicPeriod"/>
                </a:pPr>
                <a:r>
                  <a:rPr lang="en-US" sz="1200" kern="1200" dirty="0">
                    <a:solidFill>
                      <a:schemeClr val="tx1"/>
                    </a:solidFill>
                    <a:effectLst/>
                    <a:latin typeface="+mn-lt"/>
                    <a:ea typeface="+mn-ea"/>
                    <a:cs typeface="+mn-cs"/>
                  </a:rPr>
                  <a:t>Dynamic energy-balancing systems that maximize hardware throughput. </a:t>
                </a:r>
              </a:p>
              <a:p>
                <a:pPr lvl="0"/>
                <a:r>
                  <a:rPr lang="en-US" sz="1200" b="1" kern="1200" dirty="0">
                    <a:solidFill>
                      <a:schemeClr val="tx1"/>
                    </a:solidFill>
                    <a:effectLst/>
                    <a:latin typeface="+mn-lt"/>
                    <a:ea typeface="+mn-ea"/>
                    <a:cs typeface="+mn-cs"/>
                  </a:rPr>
                  <a:t>Intelligence at the Edge: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sending every request to a cloud data center, lightweight models are running natively on consumer Macs, standard iPhones, and embedded IoT devices. </a:t>
                </a:r>
              </a:p>
              <a:p>
                <a:pPr lvl="0"/>
                <a:r>
                  <a:rPr lang="en-US" sz="1200" b="1" kern="1200" dirty="0">
                    <a:solidFill>
                      <a:schemeClr val="tx1"/>
                    </a:solidFill>
                    <a:effectLst/>
                    <a:latin typeface="+mn-lt"/>
                    <a:ea typeface="+mn-ea"/>
                    <a:cs typeface="+mn-cs"/>
                  </a:rPr>
                  <a:t>Case Study: Auto-Research: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Andrej </a:t>
                </a:r>
                <a:r>
                  <a:rPr lang="en-US" sz="1200" kern="1200" dirty="0" err="1">
                    <a:solidFill>
                      <a:schemeClr val="tx1"/>
                    </a:solidFill>
                    <a:effectLst/>
                    <a:latin typeface="+mn-lt"/>
                    <a:ea typeface="+mn-ea"/>
                    <a:cs typeface="+mn-cs"/>
                  </a:rPr>
                  <a:t>Karpathy's</a:t>
                </a:r>
                <a:r>
                  <a:rPr lang="en-US" sz="1200" kern="1200" dirty="0">
                    <a:solidFill>
                      <a:schemeClr val="tx1"/>
                    </a:solidFill>
                    <a:effectLst/>
                    <a:latin typeface="+mn-lt"/>
                    <a:ea typeface="+mn-ea"/>
                    <a:cs typeface="+mn-cs"/>
                  </a:rPr>
                  <a:t> recent 'Auto-Research' experiment. Over a single weekend, 30 open-source AI agents ran locally on a home desktop.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They autonomously collaborated, scored each other's code modifications, and iterated to build an improved LLM—outperforming earlier commercial cloud models, all on consumer hardware.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Local auto-improving intelligence proves that hardware constraints will not stop individual creators from building state-of-the-art AI applications.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Cost Collapse Drivers:</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Why is cloud dependency breaking down so quickly? Because token costs are collapsing by </a:t>
                </a:r>
                <a:r>
                  <a:rPr lang="en-US" sz="1200" i="0" kern="1200">
                    <a:solidFill>
                      <a:schemeClr val="tx1"/>
                    </a:solidFill>
                    <a:latin typeface="+mn-lt"/>
                    <a:ea typeface="+mn-ea"/>
                    <a:cs typeface="+mn-cs"/>
                  </a:rPr>
                  <a:t>1,000×</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This massive cost reduction is driven by three main innovations: </a:t>
                </a:r>
              </a:p>
              <a:p>
                <a:pPr marL="685800" lvl="1" indent="-228600" algn="l">
                  <a:buFont typeface="+mj-lt"/>
                  <a:buAutoNum type="arabicPeriod"/>
                </a:pPr>
                <a:r>
                  <a:rPr lang="en-US" sz="1200" kern="1200" dirty="0">
                    <a:solidFill>
                      <a:schemeClr val="tx1"/>
                    </a:solidFill>
                    <a:effectLst/>
                    <a:latin typeface="+mn-lt"/>
                    <a:ea typeface="+mn-ea"/>
                    <a:cs typeface="+mn-cs"/>
                  </a:rPr>
                  <a:t>Highly efficient, novel chip architectures. </a:t>
                </a:r>
              </a:p>
              <a:p>
                <a:pPr marL="685800" lvl="1" indent="-228600" algn="l">
                  <a:buFont typeface="+mj-lt"/>
                  <a:buAutoNum type="arabicPeriod"/>
                </a:pPr>
                <a:r>
                  <a:rPr lang="en-US" sz="1200" kern="1200" dirty="0">
                    <a:solidFill>
                      <a:schemeClr val="tx1"/>
                    </a:solidFill>
                    <a:effectLst/>
                    <a:latin typeface="+mn-lt"/>
                    <a:ea typeface="+mn-ea"/>
                    <a:cs typeface="+mn-cs"/>
                  </a:rPr>
                  <a:t>Smaller parameter, highly optimized distributed models. </a:t>
                </a:r>
              </a:p>
              <a:p>
                <a:pPr marL="685800" lvl="1" indent="-228600" algn="l">
                  <a:buFont typeface="+mj-lt"/>
                  <a:buAutoNum type="arabicPeriod"/>
                </a:pPr>
                <a:r>
                  <a:rPr lang="en-US" sz="1200" kern="1200" dirty="0">
                    <a:solidFill>
                      <a:schemeClr val="tx1"/>
                    </a:solidFill>
                    <a:effectLst/>
                    <a:latin typeface="+mn-lt"/>
                    <a:ea typeface="+mn-ea"/>
                    <a:cs typeface="+mn-cs"/>
                  </a:rPr>
                  <a:t>Dynamic energy-balancing systems that maximize hardware throughput. </a:t>
                </a:r>
              </a:p>
              <a:p>
                <a:pPr lvl="0"/>
                <a:r>
                  <a:rPr lang="en-US" sz="1200" b="1" kern="1200" dirty="0">
                    <a:solidFill>
                      <a:schemeClr val="tx1"/>
                    </a:solidFill>
                    <a:effectLst/>
                    <a:latin typeface="+mn-lt"/>
                    <a:ea typeface="+mn-ea"/>
                    <a:cs typeface="+mn-cs"/>
                  </a:rPr>
                  <a:t>Intelligence at the Edge: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sending every request to a cloud data center, lightweight models are running natively on consumer Macs, standard iPhones, and embedded IoT devices. </a:t>
                </a:r>
              </a:p>
              <a:p>
                <a:pPr lvl="0"/>
                <a:r>
                  <a:rPr lang="en-US" sz="1200" b="1" kern="1200" dirty="0">
                    <a:solidFill>
                      <a:schemeClr val="tx1"/>
                    </a:solidFill>
                    <a:effectLst/>
                    <a:latin typeface="+mn-lt"/>
                    <a:ea typeface="+mn-ea"/>
                    <a:cs typeface="+mn-cs"/>
                  </a:rPr>
                  <a:t>Case Study: Auto-Research: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Andrej </a:t>
                </a:r>
                <a:r>
                  <a:rPr lang="en-US" sz="1200" kern="1200" dirty="0" err="1">
                    <a:solidFill>
                      <a:schemeClr val="tx1"/>
                    </a:solidFill>
                    <a:effectLst/>
                    <a:latin typeface="+mn-lt"/>
                    <a:ea typeface="+mn-ea"/>
                    <a:cs typeface="+mn-cs"/>
                  </a:rPr>
                  <a:t>Karpathy's</a:t>
                </a:r>
                <a:r>
                  <a:rPr lang="en-US" sz="1200" kern="1200" dirty="0">
                    <a:solidFill>
                      <a:schemeClr val="tx1"/>
                    </a:solidFill>
                    <a:effectLst/>
                    <a:latin typeface="+mn-lt"/>
                    <a:ea typeface="+mn-ea"/>
                    <a:cs typeface="+mn-cs"/>
                  </a:rPr>
                  <a:t> recent 'Auto-Research' experiment. Over a single weekend, 30 open-source AI agents ran locally on a home desktop.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They autonomously collaborated, scored each other's code modifications, and iterated to build an improved LLM—outperforming earlier commercial cloud models, all on consumer hardware.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Local auto-improving intelligence proves that hardware constraints will not stop individual creators from building state-of-the-art AI applications.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5</a:t>
            </a:fld>
            <a:endParaRPr lang="en-US"/>
          </a:p>
        </p:txBody>
      </p:sp>
    </p:spTree>
    <p:extLst>
      <p:ext uri="{BB962C8B-B14F-4D97-AF65-F5344CB8AC3E}">
        <p14:creationId xmlns:p14="http://schemas.microsoft.com/office/powerpoint/2010/main" val="780105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Transition to the Physical Bottleneck: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Once intelligence is ubiquitous and cheap, the next constraint to solve is </a:t>
            </a:r>
            <a:r>
              <a:rPr lang="en-US" sz="1200" b="1" kern="1200" dirty="0">
                <a:solidFill>
                  <a:schemeClr val="tx1"/>
                </a:solidFill>
                <a:effectLst/>
                <a:latin typeface="+mn-lt"/>
                <a:ea typeface="+mn-ea"/>
                <a:cs typeface="+mn-cs"/>
              </a:rPr>
              <a:t>matter</a:t>
            </a:r>
            <a:r>
              <a:rPr lang="en-US" sz="1200" kern="1200" dirty="0">
                <a:solidFill>
                  <a:schemeClr val="tx1"/>
                </a:solidFill>
                <a:effectLst/>
                <a:latin typeface="+mn-lt"/>
                <a:ea typeface="+mn-ea"/>
                <a:cs typeface="+mn-cs"/>
              </a:rPr>
              <a:t>—how we build heavy physical infrastructure. </a:t>
            </a:r>
          </a:p>
          <a:p>
            <a:pPr lvl="0"/>
            <a:r>
              <a:rPr lang="en-US" sz="1200" b="1" kern="1200" dirty="0">
                <a:solidFill>
                  <a:schemeClr val="tx1"/>
                </a:solidFill>
                <a:effectLst/>
                <a:latin typeface="+mn-lt"/>
                <a:ea typeface="+mn-ea"/>
                <a:cs typeface="+mn-cs"/>
              </a:rPr>
              <a:t>The Multi-Planetary Challenge: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Establishing a self-sustaining human presence on Mars or in orbit requires millions of tons of structural materials, habitat shells, and fuel. </a:t>
            </a:r>
          </a:p>
          <a:p>
            <a:pPr lvl="0"/>
            <a:r>
              <a:rPr lang="en-US" sz="1200" b="1" kern="1200" dirty="0">
                <a:solidFill>
                  <a:schemeClr val="tx1"/>
                </a:solidFill>
                <a:effectLst/>
                <a:latin typeface="+mn-lt"/>
                <a:ea typeface="+mn-ea"/>
                <a:cs typeface="+mn-cs"/>
              </a:rPr>
              <a:t>Rethinking Space Logistics: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we attempt to launch all of that heavy payload directly from Earth’s surface using traditional chemical rockets, the economics simply do not close. </a:t>
            </a:r>
          </a:p>
          <a:p>
            <a:pPr lvl="0"/>
            <a:r>
              <a:rPr lang="en-US" sz="1200" b="1" kern="1200" dirty="0">
                <a:solidFill>
                  <a:schemeClr val="tx1"/>
                </a:solidFill>
                <a:effectLst/>
                <a:latin typeface="+mn-lt"/>
                <a:ea typeface="+mn-ea"/>
                <a:cs typeface="+mn-cs"/>
              </a:rPr>
              <a:t>The Strategic Shift: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Moon is not just a destination; it is an industrial staging ground and supply chain cheat code.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6</a:t>
            </a:fld>
            <a:endParaRPr lang="en-US"/>
          </a:p>
        </p:txBody>
      </p:sp>
    </p:spTree>
    <p:extLst>
      <p:ext uri="{BB962C8B-B14F-4D97-AF65-F5344CB8AC3E}">
        <p14:creationId xmlns:p14="http://schemas.microsoft.com/office/powerpoint/2010/main" val="1862177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Earth Launch (The Bottleneck):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launching from Earth, rockets fight two massive physical friction points: </a:t>
                </a:r>
              </a:p>
              <a:p>
                <a:pPr marL="685800" lvl="1" indent="-228600">
                  <a:buFont typeface="+mj-lt"/>
                  <a:buAutoNum type="arabicPeriod"/>
                </a:pPr>
                <a14:m>
                  <m:oMath xmlns:m="http://schemas.openxmlformats.org/officeDocument/2006/math">
                    <m:r>
                      <a:rPr lang="en-US" sz="1200" kern="1200" smtClean="0">
                        <a:solidFill>
                          <a:schemeClr val="tx1"/>
                        </a:solidFill>
                        <a:latin typeface="Cambria Math" panose="02040503050406030204" pitchFamily="18" charset="0"/>
                        <a:ea typeface="+mn-ea"/>
                        <a:cs typeface="+mn-cs"/>
                      </a:rPr>
                      <m:t>1</m:t>
                    </m:r>
                    <m:r>
                      <m:rPr>
                        <m:nor/>
                      </m:rPr>
                      <a:rPr lang="en-US" sz="1200" i="0" kern="1200">
                        <a:solidFill>
                          <a:schemeClr val="tx1"/>
                        </a:solidFill>
                        <a:latin typeface="+mn-lt"/>
                        <a:ea typeface="+mn-ea"/>
                        <a:cs typeface="+mn-cs"/>
                      </a:rPr>
                      <m:t>G</m:t>
                    </m:r>
                    <m:r>
                      <m:rPr>
                        <m:nor/>
                      </m:rPr>
                      <a:rPr lang="en-US" sz="1200" b="0" i="0" kern="1200" smtClean="0">
                        <a:solidFill>
                          <a:schemeClr val="tx1"/>
                        </a:solidFill>
                        <a:latin typeface="+mn-lt"/>
                        <a:ea typeface="+mn-ea"/>
                        <a:cs typeface="+mn-cs"/>
                      </a:rPr>
                      <m:t> </m:t>
                    </m:r>
                  </m:oMath>
                </a14:m>
                <a:r>
                  <a:rPr lang="en-US" sz="1200" b="1" kern="1200" dirty="0">
                    <a:solidFill>
                      <a:schemeClr val="tx1"/>
                    </a:solidFill>
                    <a:effectLst/>
                    <a:latin typeface="+mn-lt"/>
                    <a:ea typeface="+mn-ea"/>
                    <a:cs typeface="+mn-cs"/>
                  </a:rPr>
                  <a:t>Gravity:</a:t>
                </a:r>
                <a:r>
                  <a:rPr lang="en-US" sz="1200" kern="1200" dirty="0">
                    <a:solidFill>
                      <a:schemeClr val="tx1"/>
                    </a:solidFill>
                    <a:effectLst/>
                    <a:latin typeface="+mn-lt"/>
                    <a:ea typeface="+mn-ea"/>
                    <a:cs typeface="+mn-cs"/>
                  </a:rPr>
                  <a:t> Requires massive propellant tanks just to lift the fuel itself. </a:t>
                </a:r>
              </a:p>
              <a:p>
                <a:pPr marL="685800" lvl="1" indent="-228600">
                  <a:buFont typeface="+mj-lt"/>
                  <a:buAutoNum type="arabicPeriod"/>
                </a:pPr>
                <a:r>
                  <a:rPr lang="en-US" sz="1200" b="1" kern="1200" dirty="0">
                    <a:solidFill>
                      <a:schemeClr val="tx1"/>
                    </a:solidFill>
                    <a:effectLst/>
                    <a:latin typeface="+mn-lt"/>
                    <a:ea typeface="+mn-ea"/>
                    <a:cs typeface="+mn-cs"/>
                  </a:rPr>
                  <a:t>Thick Atmosphere:</a:t>
                </a:r>
                <a:r>
                  <a:rPr lang="en-US" sz="1200" kern="1200" dirty="0">
                    <a:solidFill>
                      <a:schemeClr val="tx1"/>
                    </a:solidFill>
                    <a:effectLst/>
                    <a:latin typeface="+mn-lt"/>
                    <a:ea typeface="+mn-ea"/>
                    <a:cs typeface="+mn-cs"/>
                  </a:rPr>
                  <a:t> Aerodynamic drag creates friction and pushes back down on the vehicle, consuming huge energy reserves. </a:t>
                </a:r>
              </a:p>
              <a:p>
                <a:pPr lvl="0"/>
                <a:r>
                  <a:rPr lang="en-US" sz="1200" b="1" kern="1200" dirty="0">
                    <a:solidFill>
                      <a:schemeClr val="tx1"/>
                    </a:solidFill>
                    <a:effectLst/>
                    <a:latin typeface="+mn-lt"/>
                    <a:ea typeface="+mn-ea"/>
                    <a:cs typeface="+mn-cs"/>
                  </a:rPr>
                  <a:t>Moon Launch (The Cheat Code):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shifting the raw manufacturing hub to the lunar surface: </a:t>
                </a:r>
              </a:p>
              <a:p>
                <a:pPr marL="628650" lvl="1" indent="-171450">
                  <a:buFont typeface="Arial" panose="020B0604020202020204" pitchFamily="34" charset="0"/>
                  <a:buChar char="•"/>
                </a:pPr>
                <a14:m>
                  <m:oMath xmlns:m="http://schemas.openxmlformats.org/officeDocument/2006/math">
                    <m:r>
                      <a:rPr lang="en-US" sz="1200" kern="1200" smtClean="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/6</m:t>
                    </m:r>
                    <m:r>
                      <m:rPr>
                        <m:nor/>
                      </m:rPr>
                      <a:rPr lang="en-US" sz="1200" i="0" kern="1200">
                        <a:solidFill>
                          <a:schemeClr val="tx1"/>
                        </a:solidFill>
                        <a:latin typeface="+mn-lt"/>
                        <a:ea typeface="+mn-ea"/>
                        <a:cs typeface="+mn-cs"/>
                      </a:rPr>
                      <m:t>th</m:t>
                    </m:r>
                    <m:r>
                      <m:rPr>
                        <m:nor/>
                      </m:rPr>
                      <a:rPr lang="en-US" sz="1200" b="0" i="0" kern="1200" smtClean="0">
                        <a:solidFill>
                          <a:schemeClr val="tx1"/>
                        </a:solidFill>
                        <a:latin typeface="+mn-lt"/>
                        <a:ea typeface="+mn-ea"/>
                        <a:cs typeface="+mn-cs"/>
                      </a:rPr>
                      <m:t> </m:t>
                    </m:r>
                  </m:oMath>
                </a14:m>
                <a:r>
                  <a:rPr lang="en-US" sz="1200" b="1" kern="1200" dirty="0">
                    <a:solidFill>
                      <a:schemeClr val="tx1"/>
                    </a:solidFill>
                    <a:effectLst/>
                    <a:latin typeface="+mn-lt"/>
                    <a:ea typeface="+mn-ea"/>
                    <a:cs typeface="+mn-cs"/>
                  </a:rPr>
                  <a:t>Earth Gravity:</a:t>
                </a:r>
                <a:r>
                  <a:rPr lang="en-US" sz="1200" kern="1200" dirty="0">
                    <a:solidFill>
                      <a:schemeClr val="tx1"/>
                    </a:solidFill>
                    <a:effectLst/>
                    <a:latin typeface="+mn-lt"/>
                    <a:ea typeface="+mn-ea"/>
                    <a:cs typeface="+mn-cs"/>
                  </a:rPr>
                  <a:t> Decreases the energy required to escape the gravity well.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Zero Atmosphere:</a:t>
                </a:r>
                <a:r>
                  <a:rPr lang="en-US" sz="1200" kern="1200" dirty="0">
                    <a:solidFill>
                      <a:schemeClr val="tx1"/>
                    </a:solidFill>
                    <a:effectLst/>
                    <a:latin typeface="+mn-lt"/>
                    <a:ea typeface="+mn-ea"/>
                    <a:cs typeface="+mn-cs"/>
                  </a:rPr>
                  <a:t> Eliminates drag friction entirely.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Moving heavy matter from the Moon reduces total energy requirements by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100×</m:t>
                    </m:r>
                  </m:oMath>
                </a14:m>
                <a:r>
                  <a:rPr lang="en-US" sz="1200" kern="1200" dirty="0">
                    <a:solidFill>
                      <a:schemeClr val="tx1"/>
                    </a:solidFill>
                    <a:effectLst/>
                    <a:latin typeface="+mn-lt"/>
                    <a:ea typeface="+mn-ea"/>
                    <a:cs typeface="+mn-cs"/>
                  </a:rPr>
                  <a:t>compared to launching from Earth. </a:t>
                </a:r>
              </a:p>
              <a:p>
                <a:pPr lvl="0"/>
                <a:r>
                  <a:rPr lang="en-US" sz="1200" b="1" kern="1200" dirty="0">
                    <a:solidFill>
                      <a:schemeClr val="tx1"/>
                    </a:solidFill>
                    <a:effectLst/>
                    <a:latin typeface="+mn-lt"/>
                    <a:ea typeface="+mn-ea"/>
                    <a:cs typeface="+mn-cs"/>
                  </a:rPr>
                  <a:t>Lunar Raw Materials Advantage: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Moon's surface is rich in essential industrial elements: </a:t>
                </a:r>
                <a:r>
                  <a:rPr lang="en-US" sz="1200" b="1" kern="1200" dirty="0">
                    <a:solidFill>
                      <a:schemeClr val="tx1"/>
                    </a:solidFill>
                    <a:effectLst/>
                    <a:latin typeface="+mn-lt"/>
                    <a:ea typeface="+mn-ea"/>
                    <a:cs typeface="+mn-cs"/>
                  </a:rPr>
                  <a:t>Aluminum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Silicon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Carbon</a:t>
                </a:r>
                <a:r>
                  <a:rPr lang="en-US" sz="1200" kern="1200" dirty="0">
                    <a:solidFill>
                      <a:schemeClr val="tx1"/>
                    </a:solidFill>
                    <a:effectLst/>
                    <a:latin typeface="+mn-lt"/>
                    <a:ea typeface="+mn-ea"/>
                    <a:cs typeface="+mn-cs"/>
                  </a:rPr>
                  <a:t>, plus </a:t>
                </a:r>
                <a:r>
                  <a:rPr lang="en-US" sz="1200" b="1" kern="1200" dirty="0">
                    <a:solidFill>
                      <a:schemeClr val="tx1"/>
                    </a:solidFill>
                    <a:effectLst/>
                    <a:latin typeface="+mn-lt"/>
                    <a:ea typeface="+mn-ea"/>
                    <a:cs typeface="+mn-cs"/>
                  </a:rPr>
                  <a:t>Hydrogen &amp; Oxygen</a:t>
                </a:r>
                <a:r>
                  <a:rPr lang="en-US" sz="1200" kern="1200" dirty="0">
                    <a:solidFill>
                      <a:schemeClr val="tx1"/>
                    </a:solidFill>
                    <a:effectLst/>
                    <a:latin typeface="+mn-lt"/>
                    <a:ea typeface="+mn-ea"/>
                    <a:cs typeface="+mn-cs"/>
                  </a:rPr>
                  <a:t> extracted from polar water ice to synthesize fuel and water systems.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Earth Launch (The Bottleneck):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launching from Earth, rockets fight two massive physical friction points: </a:t>
                </a:r>
              </a:p>
              <a:p>
                <a:pPr marL="685800" lvl="1" indent="-228600">
                  <a:buFont typeface="+mj-lt"/>
                  <a:buAutoNum type="arabicPeriod"/>
                </a:pPr>
                <a:r>
                  <a:rPr lang="en-US" sz="1200" i="0" kern="1200">
                    <a:solidFill>
                      <a:schemeClr val="tx1"/>
                    </a:solidFill>
                    <a:latin typeface="+mn-lt"/>
                    <a:ea typeface="+mn-ea"/>
                    <a:cs typeface="+mn-cs"/>
                  </a:rPr>
                  <a:t>1</a:t>
                </a:r>
                <a:r>
                  <a:rPr lang="en-US" sz="1200" i="0" kern="1200">
                    <a:solidFill>
                      <a:schemeClr val="tx1"/>
                    </a:solidFill>
                    <a:latin typeface="Cambria Math" panose="02040503050406030204" pitchFamily="18" charset="0"/>
                    <a:ea typeface="+mn-ea"/>
                    <a:cs typeface="+mn-cs"/>
                  </a:rPr>
                  <a:t>"G</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a:t>
                </a:r>
                <a:r>
                  <a:rPr lang="en-US" sz="1200" b="1" kern="1200" dirty="0">
                    <a:solidFill>
                      <a:schemeClr val="tx1"/>
                    </a:solidFill>
                    <a:effectLst/>
                    <a:latin typeface="+mn-lt"/>
                    <a:ea typeface="+mn-ea"/>
                    <a:cs typeface="+mn-cs"/>
                  </a:rPr>
                  <a:t>Gravity:</a:t>
                </a:r>
                <a:r>
                  <a:rPr lang="en-US" sz="1200" kern="1200" dirty="0">
                    <a:solidFill>
                      <a:schemeClr val="tx1"/>
                    </a:solidFill>
                    <a:effectLst/>
                    <a:latin typeface="+mn-lt"/>
                    <a:ea typeface="+mn-ea"/>
                    <a:cs typeface="+mn-cs"/>
                  </a:rPr>
                  <a:t> Requires massive propellant tanks just to lift the fuel itself. </a:t>
                </a:r>
              </a:p>
              <a:p>
                <a:pPr marL="685800" lvl="1" indent="-228600">
                  <a:buFont typeface="+mj-lt"/>
                  <a:buAutoNum type="arabicPeriod"/>
                </a:pPr>
                <a:r>
                  <a:rPr lang="en-US" sz="1200" b="1" kern="1200" dirty="0">
                    <a:solidFill>
                      <a:schemeClr val="tx1"/>
                    </a:solidFill>
                    <a:effectLst/>
                    <a:latin typeface="+mn-lt"/>
                    <a:ea typeface="+mn-ea"/>
                    <a:cs typeface="+mn-cs"/>
                  </a:rPr>
                  <a:t>Thick Atmosphere:</a:t>
                </a:r>
                <a:r>
                  <a:rPr lang="en-US" sz="1200" kern="1200" dirty="0">
                    <a:solidFill>
                      <a:schemeClr val="tx1"/>
                    </a:solidFill>
                    <a:effectLst/>
                    <a:latin typeface="+mn-lt"/>
                    <a:ea typeface="+mn-ea"/>
                    <a:cs typeface="+mn-cs"/>
                  </a:rPr>
                  <a:t> Aerodynamic drag creates friction and pushes back down on the vehicle, consuming huge energy reserves. </a:t>
                </a:r>
              </a:p>
              <a:p>
                <a:pPr lvl="0"/>
                <a:r>
                  <a:rPr lang="en-US" sz="1200" b="1" kern="1200" dirty="0">
                    <a:solidFill>
                      <a:schemeClr val="tx1"/>
                    </a:solidFill>
                    <a:effectLst/>
                    <a:latin typeface="+mn-lt"/>
                    <a:ea typeface="+mn-ea"/>
                    <a:cs typeface="+mn-cs"/>
                  </a:rPr>
                  <a:t>Moon Launch (The Cheat Code):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shifting the raw manufacturing hub to the lunar surface: </a:t>
                </a:r>
              </a:p>
              <a:p>
                <a:pPr marL="628650" lvl="1" indent="-171450">
                  <a:buFont typeface="Arial" panose="020B0604020202020204" pitchFamily="34" charset="0"/>
                  <a:buChar char="•"/>
                </a:pPr>
                <a:r>
                  <a:rPr lang="en-US" sz="1200" i="0" kern="1200">
                    <a:solidFill>
                      <a:schemeClr val="tx1"/>
                    </a:solidFill>
                    <a:latin typeface="+mn-lt"/>
                    <a:ea typeface="+mn-ea"/>
                    <a:cs typeface="+mn-cs"/>
                  </a:rPr>
                  <a:t>1/6</a:t>
                </a:r>
                <a:r>
                  <a:rPr lang="en-US" sz="1200" i="0" kern="1200">
                    <a:solidFill>
                      <a:schemeClr val="tx1"/>
                    </a:solidFill>
                    <a:latin typeface="Cambria Math" panose="02040503050406030204" pitchFamily="18" charset="0"/>
                    <a:ea typeface="+mn-ea"/>
                    <a:cs typeface="+mn-cs"/>
                  </a:rPr>
                  <a:t>"th</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a:t>
                </a:r>
                <a:r>
                  <a:rPr lang="en-US" sz="1200" b="1" kern="1200" dirty="0">
                    <a:solidFill>
                      <a:schemeClr val="tx1"/>
                    </a:solidFill>
                    <a:effectLst/>
                    <a:latin typeface="+mn-lt"/>
                    <a:ea typeface="+mn-ea"/>
                    <a:cs typeface="+mn-cs"/>
                  </a:rPr>
                  <a:t>Earth Gravity:</a:t>
                </a:r>
                <a:r>
                  <a:rPr lang="en-US" sz="1200" kern="1200" dirty="0">
                    <a:solidFill>
                      <a:schemeClr val="tx1"/>
                    </a:solidFill>
                    <a:effectLst/>
                    <a:latin typeface="+mn-lt"/>
                    <a:ea typeface="+mn-ea"/>
                    <a:cs typeface="+mn-cs"/>
                  </a:rPr>
                  <a:t> Decreases the energy required to escape the gravity well.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Zero Atmosphere:</a:t>
                </a:r>
                <a:r>
                  <a:rPr lang="en-US" sz="1200" kern="1200" dirty="0">
                    <a:solidFill>
                      <a:schemeClr val="tx1"/>
                    </a:solidFill>
                    <a:effectLst/>
                    <a:latin typeface="+mn-lt"/>
                    <a:ea typeface="+mn-ea"/>
                    <a:cs typeface="+mn-cs"/>
                  </a:rPr>
                  <a:t> Eliminates drag friction entirely.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Moving heavy matter from the Moon reduces total energy requirements by </a:t>
                </a:r>
                <a:r>
                  <a:rPr lang="en-US" sz="1200" i="0" kern="1200">
                    <a:solidFill>
                      <a:schemeClr val="tx1"/>
                    </a:solidFill>
                    <a:latin typeface="+mn-lt"/>
                    <a:ea typeface="+mn-ea"/>
                    <a:cs typeface="+mn-cs"/>
                  </a:rPr>
                  <a:t>∼100×</a:t>
                </a:r>
                <a:r>
                  <a:rPr lang="en-US" sz="1200" kern="1200" dirty="0">
                    <a:solidFill>
                      <a:schemeClr val="tx1"/>
                    </a:solidFill>
                    <a:effectLst/>
                    <a:latin typeface="+mn-lt"/>
                    <a:ea typeface="+mn-ea"/>
                    <a:cs typeface="+mn-cs"/>
                  </a:rPr>
                  <a:t>compared to launching from Earth. </a:t>
                </a:r>
              </a:p>
              <a:p>
                <a:pPr lvl="0"/>
                <a:r>
                  <a:rPr lang="en-US" sz="1200" b="1" kern="1200" dirty="0">
                    <a:solidFill>
                      <a:schemeClr val="tx1"/>
                    </a:solidFill>
                    <a:effectLst/>
                    <a:latin typeface="+mn-lt"/>
                    <a:ea typeface="+mn-ea"/>
                    <a:cs typeface="+mn-cs"/>
                  </a:rPr>
                  <a:t>Lunar Raw Materials Advantage: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Moon's surface is rich in essential industrial elements: </a:t>
                </a:r>
                <a:r>
                  <a:rPr lang="en-US" sz="1200" b="1" kern="1200" dirty="0">
                    <a:solidFill>
                      <a:schemeClr val="tx1"/>
                    </a:solidFill>
                    <a:effectLst/>
                    <a:latin typeface="+mn-lt"/>
                    <a:ea typeface="+mn-ea"/>
                    <a:cs typeface="+mn-cs"/>
                  </a:rPr>
                  <a:t>Aluminum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Silicon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Carbon</a:t>
                </a:r>
                <a:r>
                  <a:rPr lang="en-US" sz="1200" kern="1200" dirty="0">
                    <a:solidFill>
                      <a:schemeClr val="tx1"/>
                    </a:solidFill>
                    <a:effectLst/>
                    <a:latin typeface="+mn-lt"/>
                    <a:ea typeface="+mn-ea"/>
                    <a:cs typeface="+mn-cs"/>
                  </a:rPr>
                  <a:t>, plus </a:t>
                </a:r>
                <a:r>
                  <a:rPr lang="en-US" sz="1200" b="1" kern="1200" dirty="0">
                    <a:solidFill>
                      <a:schemeClr val="tx1"/>
                    </a:solidFill>
                    <a:effectLst/>
                    <a:latin typeface="+mn-lt"/>
                    <a:ea typeface="+mn-ea"/>
                    <a:cs typeface="+mn-cs"/>
                  </a:rPr>
                  <a:t>Hydrogen &amp; Oxygen</a:t>
                </a:r>
                <a:r>
                  <a:rPr lang="en-US" sz="1200" kern="1200" dirty="0">
                    <a:solidFill>
                      <a:schemeClr val="tx1"/>
                    </a:solidFill>
                    <a:effectLst/>
                    <a:latin typeface="+mn-lt"/>
                    <a:ea typeface="+mn-ea"/>
                    <a:cs typeface="+mn-cs"/>
                  </a:rPr>
                  <a:t> extracted from polar water ice to synthesize fuel and water systems.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7</a:t>
            </a:fld>
            <a:endParaRPr lang="en-US"/>
          </a:p>
        </p:txBody>
      </p:sp>
    </p:spTree>
    <p:extLst>
      <p:ext uri="{BB962C8B-B14F-4D97-AF65-F5344CB8AC3E}">
        <p14:creationId xmlns:p14="http://schemas.microsoft.com/office/powerpoint/2010/main" val="6532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Concept: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Since the Moon has no atmosphere, we don't need chemical rocket launches for logistics. We can use an electromagnetic mass driver. </a:t>
                </a:r>
              </a:p>
              <a:p>
                <a:pPr lvl="0"/>
                <a:r>
                  <a:rPr lang="en-US" sz="1200" b="1" kern="1200" dirty="0">
                    <a:solidFill>
                      <a:schemeClr val="tx1"/>
                    </a:solidFill>
                    <a:effectLst/>
                    <a:latin typeface="+mn-lt"/>
                    <a:ea typeface="+mn-ea"/>
                    <a:cs typeface="+mn-cs"/>
                  </a:rPr>
                  <a:t>Key Specifications &amp; Engineering: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14:m>
                  <m:oMath xmlns:m="http://schemas.openxmlformats.org/officeDocument/2006/math">
                    <m:r>
                      <a:rPr lang="en-US" sz="1200" kern="1200" smtClean="0">
                        <a:solidFill>
                          <a:schemeClr val="tx1"/>
                        </a:solidFill>
                        <a:latin typeface="Cambria Math" panose="02040503050406030204" pitchFamily="18" charset="0"/>
                        <a:ea typeface="+mn-ea"/>
                        <a:cs typeface="+mn-cs"/>
                      </a:rPr>
                      <m:t>9</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km</m:t>
                    </m:r>
                  </m:oMath>
                </a14:m>
                <a:r>
                  <a:rPr lang="en-US" sz="1200" b="1" kern="1200" dirty="0">
                    <a:solidFill>
                      <a:schemeClr val="tx1"/>
                    </a:solidFill>
                    <a:effectLst/>
                    <a:latin typeface="+mn-lt"/>
                    <a:ea typeface="+mn-ea"/>
                    <a:cs typeface="+mn-cs"/>
                  </a:rPr>
                  <a:t>Mag-Lev Track:</a:t>
                </a:r>
                <a:r>
                  <a:rPr lang="en-US" sz="1200" kern="1200" dirty="0">
                    <a:solidFill>
                      <a:schemeClr val="tx1"/>
                    </a:solidFill>
                    <a:effectLst/>
                    <a:latin typeface="+mn-lt"/>
                    <a:ea typeface="+mn-ea"/>
                    <a:cs typeface="+mn-cs"/>
                  </a:rPr>
                  <a:t> A horizontal electric rail gun running along flat lunar terrain.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Solar Array Power:</a:t>
                </a:r>
                <a:r>
                  <a:rPr lang="en-US" sz="1200" kern="1200" dirty="0">
                    <a:solidFill>
                      <a:schemeClr val="tx1"/>
                    </a:solidFill>
                    <a:effectLst/>
                    <a:latin typeface="+mn-lt"/>
                    <a:ea typeface="+mn-ea"/>
                    <a:cs typeface="+mn-cs"/>
                  </a:rPr>
                  <a:t> Powered by a </a:t>
                </a:r>
                <a14:m>
                  <m:oMath xmlns:m="http://schemas.openxmlformats.org/officeDocument/2006/math">
                    <m:r>
                      <a:rPr lang="en-US" sz="1200" kern="1200" smtClean="0">
                        <a:solidFill>
                          <a:schemeClr val="tx1"/>
                        </a:solidFill>
                        <a:latin typeface="Cambria Math" panose="02040503050406030204" pitchFamily="18" charset="0"/>
                        <a:ea typeface="+mn-ea"/>
                        <a:cs typeface="+mn-cs"/>
                      </a:rPr>
                      <m:t>500</m:t>
                    </m:r>
                    <m:r>
                      <m:rPr>
                        <m:nor/>
                      </m:rPr>
                      <a:rPr lang="en-US" sz="1200" i="0" kern="1200">
                        <a:solidFill>
                          <a:schemeClr val="tx1"/>
                        </a:solidFill>
                        <a:latin typeface="+mn-lt"/>
                        <a:ea typeface="+mn-ea"/>
                        <a:cs typeface="+mn-cs"/>
                      </a:rPr>
                      <m:t>m</m:t>
                    </m:r>
                    <m:r>
                      <a:rPr lang="en-US" sz="1200" i="0" kern="1200">
                        <a:solidFill>
                          <a:schemeClr val="tx1"/>
                        </a:solidFill>
                        <a:latin typeface="Cambria Math" panose="02040503050406030204" pitchFamily="18" charset="0"/>
                        <a:ea typeface="+mn-ea"/>
                        <a:cs typeface="+mn-cs"/>
                      </a:rPr>
                      <m:t>×500</m:t>
                    </m:r>
                    <m:r>
                      <m:rPr>
                        <m:nor/>
                      </m:rPr>
                      <a:rPr lang="en-US" sz="1200" i="0" kern="1200">
                        <a:solidFill>
                          <a:schemeClr val="tx1"/>
                        </a:solidFill>
                        <a:latin typeface="+mn-lt"/>
                        <a:ea typeface="+mn-ea"/>
                        <a:cs typeface="+mn-cs"/>
                      </a:rPr>
                      <m:t>m</m:t>
                    </m:r>
                  </m:oMath>
                </a14:m>
                <a:r>
                  <a:rPr lang="en-US" sz="1200" kern="1200" dirty="0">
                    <a:solidFill>
                      <a:schemeClr val="tx1"/>
                    </a:solidFill>
                    <a:effectLst/>
                    <a:latin typeface="+mn-lt"/>
                    <a:ea typeface="+mn-ea"/>
                    <a:cs typeface="+mn-cs"/>
                  </a:rPr>
                  <a:t>solar panel array paired with capacitors, taking advantage of continuous sunlight with zero cloud interference.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High-Speed Acceleration:</a:t>
                </a:r>
                <a:r>
                  <a:rPr lang="en-US" sz="1200" kern="1200" dirty="0">
                    <a:solidFill>
                      <a:schemeClr val="tx1"/>
                    </a:solidFill>
                    <a:effectLst/>
                    <a:latin typeface="+mn-lt"/>
                    <a:ea typeface="+mn-ea"/>
                    <a:cs typeface="+mn-cs"/>
                  </a:rPr>
                  <a:t> Accelerates a 1-ton payload to lunar escape velocity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20,000</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km</m:t>
                    </m:r>
                    <m:r>
                      <m:rPr>
                        <m:nor/>
                      </m:rPr>
                      <a:rPr lang="en-US" sz="1200" i="0" kern="1200">
                        <a:solidFill>
                          <a:schemeClr val="tx1"/>
                        </a:solidFill>
                        <a:latin typeface="+mn-lt"/>
                        <a:ea typeface="+mn-ea"/>
                        <a:cs typeface="+mn-cs"/>
                      </a:rPr>
                      <m:t>/</m:t>
                    </m:r>
                    <m:r>
                      <m:rPr>
                        <m:nor/>
                      </m:rPr>
                      <a:rPr lang="en-US" sz="1200" i="0" kern="1200">
                        <a:solidFill>
                          <a:schemeClr val="tx1"/>
                        </a:solidFill>
                        <a:latin typeface="+mn-lt"/>
                        <a:ea typeface="+mn-ea"/>
                        <a:cs typeface="+mn-cs"/>
                      </a:rPr>
                      <m:t>h</m:t>
                    </m:r>
                  </m:oMath>
                </a14:m>
                <a:r>
                  <a:rPr lang="en-US" sz="1200" kern="1200" dirty="0">
                    <a:solidFill>
                      <a:schemeClr val="tx1"/>
                    </a:solidFill>
                    <a:effectLst/>
                    <a:latin typeface="+mn-lt"/>
                    <a:ea typeface="+mn-ea"/>
                    <a:cs typeface="+mn-cs"/>
                  </a:rPr>
                  <a:t>) in just </a:t>
                </a:r>
                <a14:m>
                  <m:oMath xmlns:m="http://schemas.openxmlformats.org/officeDocument/2006/math">
                    <m:r>
                      <a:rPr lang="en-US" sz="1200" kern="1200" smtClean="0">
                        <a:solidFill>
                          <a:schemeClr val="tx1"/>
                        </a:solidFill>
                        <a:latin typeface="Cambria Math" panose="02040503050406030204" pitchFamily="18" charset="0"/>
                        <a:ea typeface="+mn-ea"/>
                        <a:cs typeface="+mn-cs"/>
                      </a:rPr>
                      <m:t>4.5</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seconds</m:t>
                    </m:r>
                  </m:oMath>
                </a14:m>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Trajectory Engineering: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 complex launch angles are required. The payload is released horizontally at escape velocity, perfectly timed with the Moon's rotation to direct it toward Mars or Earth orbit.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Concept: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Since the Moon has no atmosphere, we don't need chemical rocket launches for logistics. We can use an electromagnetic mass driver. </a:t>
                </a:r>
              </a:p>
              <a:p>
                <a:pPr lvl="0"/>
                <a:r>
                  <a:rPr lang="en-US" sz="1200" b="1" kern="1200" dirty="0">
                    <a:solidFill>
                      <a:schemeClr val="tx1"/>
                    </a:solidFill>
                    <a:effectLst/>
                    <a:latin typeface="+mn-lt"/>
                    <a:ea typeface="+mn-ea"/>
                    <a:cs typeface="+mn-cs"/>
                  </a:rPr>
                  <a:t>Key Specifications &amp; Engineering: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0" kern="1200">
                    <a:solidFill>
                      <a:schemeClr val="tx1"/>
                    </a:solidFill>
                    <a:latin typeface="+mn-lt"/>
                    <a:ea typeface="+mn-ea"/>
                    <a:cs typeface="+mn-cs"/>
                  </a:rPr>
                  <a:t>9</a:t>
                </a:r>
                <a:r>
                  <a:rPr lang="en-US" sz="1200" i="0" kern="1200">
                    <a:solidFill>
                      <a:schemeClr val="tx1"/>
                    </a:solidFill>
                    <a:latin typeface="Cambria Math" panose="02040503050406030204" pitchFamily="18" charset="0"/>
                    <a:ea typeface="+mn-ea"/>
                    <a:cs typeface="+mn-cs"/>
                  </a:rPr>
                  <a:t>" km</a:t>
                </a:r>
                <a:r>
                  <a:rPr lang="en-US" sz="1200" i="0" kern="1200">
                    <a:solidFill>
                      <a:schemeClr val="tx1"/>
                    </a:solidFill>
                    <a:latin typeface="+mn-lt"/>
                    <a:ea typeface="+mn-ea"/>
                    <a:cs typeface="+mn-cs"/>
                  </a:rPr>
                  <a:t>"</a:t>
                </a:r>
                <a:r>
                  <a:rPr lang="en-US" sz="1200" b="1" kern="1200" dirty="0">
                    <a:solidFill>
                      <a:schemeClr val="tx1"/>
                    </a:solidFill>
                    <a:effectLst/>
                    <a:latin typeface="+mn-lt"/>
                    <a:ea typeface="+mn-ea"/>
                    <a:cs typeface="+mn-cs"/>
                  </a:rPr>
                  <a:t>Mag-Lev Track:</a:t>
                </a:r>
                <a:r>
                  <a:rPr lang="en-US" sz="1200" kern="1200" dirty="0">
                    <a:solidFill>
                      <a:schemeClr val="tx1"/>
                    </a:solidFill>
                    <a:effectLst/>
                    <a:latin typeface="+mn-lt"/>
                    <a:ea typeface="+mn-ea"/>
                    <a:cs typeface="+mn-cs"/>
                  </a:rPr>
                  <a:t> A horizontal electric rail gun running along flat lunar terrain.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Solar Array Power:</a:t>
                </a:r>
                <a:r>
                  <a:rPr lang="en-US" sz="1200" kern="1200" dirty="0">
                    <a:solidFill>
                      <a:schemeClr val="tx1"/>
                    </a:solidFill>
                    <a:effectLst/>
                    <a:latin typeface="+mn-lt"/>
                    <a:ea typeface="+mn-ea"/>
                    <a:cs typeface="+mn-cs"/>
                  </a:rPr>
                  <a:t> Powered by a </a:t>
                </a:r>
                <a:r>
                  <a:rPr lang="en-US" sz="1200" i="0" kern="1200">
                    <a:solidFill>
                      <a:schemeClr val="tx1"/>
                    </a:solidFill>
                    <a:latin typeface="+mn-lt"/>
                    <a:ea typeface="+mn-ea"/>
                    <a:cs typeface="+mn-cs"/>
                  </a:rPr>
                  <a:t>500</a:t>
                </a:r>
                <a:r>
                  <a:rPr lang="en-US" sz="1200" i="0" kern="1200">
                    <a:solidFill>
                      <a:schemeClr val="tx1"/>
                    </a:solidFill>
                    <a:latin typeface="Cambria Math" panose="02040503050406030204" pitchFamily="18" charset="0"/>
                    <a:ea typeface="+mn-ea"/>
                    <a:cs typeface="+mn-cs"/>
                  </a:rPr>
                  <a:t>"m</a:t>
                </a:r>
                <a:r>
                  <a:rPr lang="en-US" sz="1200" i="0" kern="1200">
                    <a:solidFill>
                      <a:schemeClr val="tx1"/>
                    </a:solidFill>
                    <a:latin typeface="+mn-lt"/>
                    <a:ea typeface="+mn-ea"/>
                    <a:cs typeface="+mn-cs"/>
                  </a:rPr>
                  <a:t>"×500</a:t>
                </a:r>
                <a:r>
                  <a:rPr lang="en-US" sz="1200" i="0" kern="1200">
                    <a:solidFill>
                      <a:schemeClr val="tx1"/>
                    </a:solidFill>
                    <a:latin typeface="Cambria Math" panose="02040503050406030204" pitchFamily="18" charset="0"/>
                    <a:ea typeface="+mn-ea"/>
                    <a:cs typeface="+mn-cs"/>
                  </a:rPr>
                  <a:t>"m</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solar panel array paired with capacitors, taking advantage of continuous sunlight with zero cloud interference.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High-Speed Acceleration:</a:t>
                </a:r>
                <a:r>
                  <a:rPr lang="en-US" sz="1200" kern="1200" dirty="0">
                    <a:solidFill>
                      <a:schemeClr val="tx1"/>
                    </a:solidFill>
                    <a:effectLst/>
                    <a:latin typeface="+mn-lt"/>
                    <a:ea typeface="+mn-ea"/>
                    <a:cs typeface="+mn-cs"/>
                  </a:rPr>
                  <a:t> Accelerates a 1-ton payload to lunar escape velocity (</a:t>
                </a:r>
                <a:r>
                  <a:rPr lang="en-US" sz="1200" i="0" kern="1200">
                    <a:solidFill>
                      <a:schemeClr val="tx1"/>
                    </a:solidFill>
                    <a:latin typeface="+mn-lt"/>
                    <a:ea typeface="+mn-ea"/>
                    <a:cs typeface="+mn-cs"/>
                  </a:rPr>
                  <a:t>∼20,000</a:t>
                </a:r>
                <a:r>
                  <a:rPr lang="en-US" sz="1200" i="0" kern="1200">
                    <a:solidFill>
                      <a:schemeClr val="tx1"/>
                    </a:solidFill>
                    <a:latin typeface="Cambria Math" panose="02040503050406030204" pitchFamily="18" charset="0"/>
                    <a:ea typeface="+mn-ea"/>
                    <a:cs typeface="+mn-cs"/>
                  </a:rPr>
                  <a:t>" km/h</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 in just </a:t>
                </a:r>
                <a:r>
                  <a:rPr lang="en-US" sz="1200" i="0" kern="1200">
                    <a:solidFill>
                      <a:schemeClr val="tx1"/>
                    </a:solidFill>
                    <a:latin typeface="+mn-lt"/>
                    <a:ea typeface="+mn-ea"/>
                    <a:cs typeface="+mn-cs"/>
                  </a:rPr>
                  <a:t>4.5</a:t>
                </a:r>
                <a:r>
                  <a:rPr lang="en-US" sz="1200" i="0" kern="1200">
                    <a:solidFill>
                      <a:schemeClr val="tx1"/>
                    </a:solidFill>
                    <a:latin typeface="Cambria Math" panose="02040503050406030204" pitchFamily="18" charset="0"/>
                    <a:ea typeface="+mn-ea"/>
                    <a:cs typeface="+mn-cs"/>
                  </a:rPr>
                  <a:t>" seconds</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Trajectory Engineering: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 complex launch angles are required. The payload is released horizontally at escape velocity, perfectly timed with the Moon's rotation to direct it toward Mars or Earth orbit.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8</a:t>
            </a:fld>
            <a:endParaRPr lang="en-US"/>
          </a:p>
        </p:txBody>
      </p:sp>
    </p:spTree>
    <p:extLst>
      <p:ext uri="{BB962C8B-B14F-4D97-AF65-F5344CB8AC3E}">
        <p14:creationId xmlns:p14="http://schemas.microsoft.com/office/powerpoint/2010/main" val="3083565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Infinite Labor – Physical Self-Replication: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build this infrastructure without sending thousands of human workers, we rely on physical self-replication: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Send an initial seed of AI-driven autonomous robotics to the Moon.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Robots mine local lunar regolith and construct next-generation units.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Secondary robotics build the solar arrays, processing plants, and the </a:t>
                </a:r>
                <a14:m>
                  <m:oMath xmlns:m="http://schemas.openxmlformats.org/officeDocument/2006/math">
                    <m:r>
                      <a:rPr lang="en-US" sz="1200" kern="1200" smtClean="0">
                        <a:solidFill>
                          <a:schemeClr val="tx1"/>
                        </a:solidFill>
                        <a:latin typeface="Cambria Math" panose="02040503050406030204" pitchFamily="18" charset="0"/>
                        <a:ea typeface="+mn-ea"/>
                        <a:cs typeface="+mn-cs"/>
                      </a:rPr>
                      <m:t>9</m:t>
                    </m:r>
                    <m:r>
                      <m:rPr>
                        <m:nor/>
                      </m:rPr>
                      <a:rPr lang="en-US" sz="1200" i="0" kern="1200">
                        <a:solidFill>
                          <a:schemeClr val="tx1"/>
                        </a:solidFill>
                        <a:latin typeface="+mn-lt"/>
                        <a:ea typeface="+mn-ea"/>
                        <a:cs typeface="+mn-cs"/>
                      </a:rPr>
                      <m:t>km</m:t>
                    </m:r>
                  </m:oMath>
                </a14:m>
                <a:r>
                  <a:rPr lang="en-US" sz="1200" kern="1200" dirty="0">
                    <a:solidFill>
                      <a:schemeClr val="tx1"/>
                    </a:solidFill>
                    <a:effectLst/>
                    <a:latin typeface="+mn-lt"/>
                    <a:ea typeface="+mn-ea"/>
                    <a:cs typeface="+mn-cs"/>
                  </a:rPr>
                  <a:t>rail system. </a:t>
                </a:r>
              </a:p>
              <a:p>
                <a:pPr lvl="0"/>
                <a:r>
                  <a:rPr lang="en-US" sz="1200" b="1" kern="1200" dirty="0">
                    <a:solidFill>
                      <a:schemeClr val="tx1"/>
                    </a:solidFill>
                    <a:effectLst/>
                    <a:latin typeface="+mn-lt"/>
                    <a:ea typeface="+mn-ea"/>
                    <a:cs typeface="+mn-cs"/>
                  </a:rPr>
                  <a:t>Logistics &amp; Landing (The Moon-Rock Heat Shield):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 do payloads enter atmospheric bodies like Mars or Earth safely?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heavy engineered heat shields, payloads are wrapped in </a:t>
                </a:r>
                <a14:m>
                  <m:oMath xmlns:m="http://schemas.openxmlformats.org/officeDocument/2006/math">
                    <m:r>
                      <a:rPr lang="en-US" sz="1200" kern="1200" smtClean="0">
                        <a:solidFill>
                          <a:schemeClr val="tx1"/>
                        </a:solidFill>
                        <a:latin typeface="Cambria Math" panose="02040503050406030204" pitchFamily="18" charset="0"/>
                        <a:ea typeface="+mn-ea"/>
                        <a:cs typeface="+mn-cs"/>
                      </a:rPr>
                      <m:t>15</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cm</m:t>
                    </m:r>
                  </m:oMath>
                </a14:m>
                <a:r>
                  <a:rPr lang="en-US" sz="1200" b="1" kern="1200" dirty="0">
                    <a:solidFill>
                      <a:schemeClr val="tx1"/>
                    </a:solidFill>
                    <a:effectLst/>
                    <a:latin typeface="+mn-lt"/>
                    <a:ea typeface="+mn-ea"/>
                    <a:cs typeface="+mn-cs"/>
                  </a:rPr>
                  <a:t>of raw moon rock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atmospheric re-entry at $100\text{G}$s of acceleration, the sacrificial moon rock ablates and vaporizes safely, delivering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700</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kg</m:t>
                    </m:r>
                  </m:oMath>
                </a14:m>
                <a:r>
                  <a:rPr lang="en-US" sz="1200" kern="1200" dirty="0">
                    <a:solidFill>
                      <a:schemeClr val="tx1"/>
                    </a:solidFill>
                    <a:effectLst/>
                    <a:latin typeface="+mn-lt"/>
                    <a:ea typeface="+mn-ea"/>
                    <a:cs typeface="+mn-cs"/>
                  </a:rPr>
                  <a:t>of pristine payload straight to the surface.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Infinite Labor – Physical Self-Replication: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build this infrastructure without sending thousands of human workers, we rely on physical self-replication: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Send an initial seed of AI-driven autonomous robotics to the Moon.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Robots mine local lunar regolith and construct next-generation units.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Secondary robotics build the solar arrays, processing plants, and the </a:t>
                </a:r>
                <a:r>
                  <a:rPr lang="en-US" sz="1200" i="0" kern="1200">
                    <a:solidFill>
                      <a:schemeClr val="tx1"/>
                    </a:solidFill>
                    <a:latin typeface="+mn-lt"/>
                    <a:ea typeface="+mn-ea"/>
                    <a:cs typeface="+mn-cs"/>
                  </a:rPr>
                  <a:t>9</a:t>
                </a:r>
                <a:r>
                  <a:rPr lang="en-US" sz="1200" i="0" kern="1200">
                    <a:solidFill>
                      <a:schemeClr val="tx1"/>
                    </a:solidFill>
                    <a:latin typeface="Cambria Math" panose="02040503050406030204" pitchFamily="18" charset="0"/>
                    <a:ea typeface="+mn-ea"/>
                    <a:cs typeface="+mn-cs"/>
                  </a:rPr>
                  <a:t>"km</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rail system. </a:t>
                </a:r>
              </a:p>
              <a:p>
                <a:pPr lvl="0"/>
                <a:r>
                  <a:rPr lang="en-US" sz="1200" b="1" kern="1200" dirty="0">
                    <a:solidFill>
                      <a:schemeClr val="tx1"/>
                    </a:solidFill>
                    <a:effectLst/>
                    <a:latin typeface="+mn-lt"/>
                    <a:ea typeface="+mn-ea"/>
                    <a:cs typeface="+mn-cs"/>
                  </a:rPr>
                  <a:t>Logistics &amp; Landing (The Moon-Rock Heat Shield):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 do payloads enter atmospheric bodies like Mars or Earth safely?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heavy engineered heat shields, payloads are wrapped in </a:t>
                </a:r>
                <a:r>
                  <a:rPr lang="en-US" sz="1200" i="0" kern="1200">
                    <a:solidFill>
                      <a:schemeClr val="tx1"/>
                    </a:solidFill>
                    <a:latin typeface="+mn-lt"/>
                    <a:ea typeface="+mn-ea"/>
                    <a:cs typeface="+mn-cs"/>
                  </a:rPr>
                  <a:t>15</a:t>
                </a:r>
                <a:r>
                  <a:rPr lang="en-US" sz="1200" i="0" kern="1200">
                    <a:solidFill>
                      <a:schemeClr val="tx1"/>
                    </a:solidFill>
                    <a:latin typeface="Cambria Math" panose="02040503050406030204" pitchFamily="18" charset="0"/>
                    <a:ea typeface="+mn-ea"/>
                    <a:cs typeface="+mn-cs"/>
                  </a:rPr>
                  <a:t>" cm</a:t>
                </a:r>
                <a:r>
                  <a:rPr lang="en-US" sz="1200" i="0" kern="1200">
                    <a:solidFill>
                      <a:schemeClr val="tx1"/>
                    </a:solidFill>
                    <a:latin typeface="+mn-lt"/>
                    <a:ea typeface="+mn-ea"/>
                    <a:cs typeface="+mn-cs"/>
                  </a:rPr>
                  <a:t>"</a:t>
                </a:r>
                <a:r>
                  <a:rPr lang="en-US" sz="1200" b="1" kern="1200" dirty="0">
                    <a:solidFill>
                      <a:schemeClr val="tx1"/>
                    </a:solidFill>
                    <a:effectLst/>
                    <a:latin typeface="+mn-lt"/>
                    <a:ea typeface="+mn-ea"/>
                    <a:cs typeface="+mn-cs"/>
                  </a:rPr>
                  <a:t>of raw moon rock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atmospheric re-entry at $100\text{G}$s of acceleration, the sacrificial moon rock ablates and vaporizes safely, delivering </a:t>
                </a:r>
                <a:r>
                  <a:rPr lang="en-US" sz="1200" i="0" kern="1200">
                    <a:solidFill>
                      <a:schemeClr val="tx1"/>
                    </a:solidFill>
                    <a:latin typeface="+mn-lt"/>
                    <a:ea typeface="+mn-ea"/>
                    <a:cs typeface="+mn-cs"/>
                  </a:rPr>
                  <a:t>∼700</a:t>
                </a:r>
                <a:r>
                  <a:rPr lang="en-US" sz="1200" i="0" kern="1200">
                    <a:solidFill>
                      <a:schemeClr val="tx1"/>
                    </a:solidFill>
                    <a:latin typeface="Cambria Math" panose="02040503050406030204" pitchFamily="18" charset="0"/>
                    <a:ea typeface="+mn-ea"/>
                    <a:cs typeface="+mn-cs"/>
                  </a:rPr>
                  <a:t>" kg</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of pristine payload straight to the surface.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9</a:t>
            </a:fld>
            <a:endParaRPr lang="en-US"/>
          </a:p>
        </p:txBody>
      </p:sp>
    </p:spTree>
    <p:extLst>
      <p:ext uri="{BB962C8B-B14F-4D97-AF65-F5344CB8AC3E}">
        <p14:creationId xmlns:p14="http://schemas.microsoft.com/office/powerpoint/2010/main" val="796930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Transition to the Biological Bottleneck: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We’ve addressed digital limits with edge AI, and physical limits with lunar mass drivers. The final bottleneck is </a:t>
            </a:r>
            <a:r>
              <a:rPr lang="en-US" sz="1200" b="1" kern="1200" dirty="0">
                <a:solidFill>
                  <a:schemeClr val="tx1"/>
                </a:solidFill>
                <a:effectLst/>
                <a:latin typeface="+mn-lt"/>
                <a:ea typeface="+mn-ea"/>
                <a:cs typeface="+mn-cs"/>
              </a:rPr>
              <a:t>human longevity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Redefining Aging: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millennia, aging was viewed as an inescapable natural process. Modern longevity science treats aging as a </a:t>
            </a:r>
            <a:r>
              <a:rPr lang="en-US" sz="1200" b="1" kern="1200" dirty="0">
                <a:solidFill>
                  <a:schemeClr val="tx1"/>
                </a:solidFill>
                <a:effectLst/>
                <a:latin typeface="+mn-lt"/>
                <a:ea typeface="+mn-ea"/>
                <a:cs typeface="+mn-cs"/>
              </a:rPr>
              <a:t>treatable disease</a:t>
            </a:r>
            <a:r>
              <a:rPr lang="en-US" sz="1200" kern="1200" dirty="0">
                <a:solidFill>
                  <a:schemeClr val="tx1"/>
                </a:solidFill>
                <a:effectLst/>
                <a:latin typeface="+mn-lt"/>
                <a:ea typeface="+mn-ea"/>
                <a:cs typeface="+mn-cs"/>
              </a:rPr>
              <a:t> caused by cellular data degradation. </a:t>
            </a:r>
          </a:p>
          <a:p>
            <a:pPr lvl="0"/>
            <a:r>
              <a:rPr lang="en-US" sz="1200" b="1" kern="1200" dirty="0">
                <a:solidFill>
                  <a:schemeClr val="tx1"/>
                </a:solidFill>
                <a:effectLst/>
                <a:latin typeface="+mn-lt"/>
                <a:ea typeface="+mn-ea"/>
                <a:cs typeface="+mn-cs"/>
              </a:rPr>
              <a:t>The Promise: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we can fix the epigenetic software errors in human cells, we can extend healthy lifespan, prevent age-related chronic diseases, and dramatically increase human agency.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10</a:t>
            </a:fld>
            <a:endParaRPr lang="en-US"/>
          </a:p>
        </p:txBody>
      </p:sp>
    </p:spTree>
    <p:extLst>
      <p:ext uri="{BB962C8B-B14F-4D97-AF65-F5344CB8AC3E}">
        <p14:creationId xmlns:p14="http://schemas.microsoft.com/office/powerpoint/2010/main" val="2635874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Computer Hardware/Software Analogy: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Think of human DNA as the raw hard drive, and the epigenome as the operating system (the 1s and 0s determining which genes turn ON or OFF). </a:t>
            </a:r>
          </a:p>
          <a:p>
            <a:pPr lvl="0"/>
            <a:r>
              <a:rPr lang="en-US" sz="1200" b="1" kern="1200" dirty="0">
                <a:solidFill>
                  <a:schemeClr val="tx1"/>
                </a:solidFill>
                <a:effectLst/>
                <a:latin typeface="+mn-lt"/>
                <a:ea typeface="+mn-ea"/>
                <a:cs typeface="+mn-cs"/>
              </a:rPr>
              <a:t>The Root Cause: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Throughout life, radiation, oxidative stress, toxins, and metabolic waste cause micro-breaks in our DNA strands. </a:t>
            </a:r>
          </a:p>
          <a:p>
            <a:pPr lvl="0"/>
            <a:r>
              <a:rPr lang="en-US" sz="1200" b="1" kern="1200" dirty="0">
                <a:solidFill>
                  <a:schemeClr val="tx1"/>
                </a:solidFill>
                <a:effectLst/>
                <a:latin typeface="+mn-lt"/>
                <a:ea typeface="+mn-ea"/>
                <a:cs typeface="+mn-cs"/>
              </a:rPr>
              <a:t>The Mechanism of Decay: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Cellular repair proteins quickly fix physical breaks. However, each time a repair occurs, surrounding epigenetic markers drift slightly out of position. </a:t>
            </a:r>
          </a:p>
          <a:p>
            <a:pPr lvl="0"/>
            <a:r>
              <a:rPr lang="en-US" sz="1200" b="1" kern="1200" dirty="0">
                <a:solidFill>
                  <a:schemeClr val="tx1"/>
                </a:solidFill>
                <a:effectLst/>
                <a:latin typeface="+mn-lt"/>
                <a:ea typeface="+mn-ea"/>
                <a:cs typeface="+mn-cs"/>
              </a:rPr>
              <a:t>The Result: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decades, this 'epigenetic noise' corrupts cellular instructions. The hardware (DNA) remains mostly intact, but the software fails. Skin cells lose structural integrity, heart cells misfire, and retinal cells degrade.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11</a:t>
            </a:fld>
            <a:endParaRPr lang="en-US"/>
          </a:p>
        </p:txBody>
      </p:sp>
    </p:spTree>
    <p:extLst>
      <p:ext uri="{BB962C8B-B14F-4D97-AF65-F5344CB8AC3E}">
        <p14:creationId xmlns:p14="http://schemas.microsoft.com/office/powerpoint/2010/main" val="2323841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2006 Nobel Discovery: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2006, Dr. Shinya Yamanaka discovered four transcription factors (proteins) that wiped a cell’s epigenetic markers completely, converting an old specialized cell back into a blank-slate pluripotency stem cell. </a:t>
            </a:r>
          </a:p>
          <a:p>
            <a:pPr lvl="0"/>
            <a:r>
              <a:rPr lang="en-US" sz="1200" b="1" kern="1200" dirty="0">
                <a:solidFill>
                  <a:schemeClr val="tx1"/>
                </a:solidFill>
                <a:effectLst/>
                <a:latin typeface="+mn-lt"/>
                <a:ea typeface="+mn-ea"/>
                <a:cs typeface="+mn-cs"/>
              </a:rPr>
              <a:t>The Modern Breakthrough (Partial Reprogramming):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Turning mature tissue into stem cells inside a living organism causes tumors.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Recent breakthroughs discovered that applying a </a:t>
            </a:r>
            <a:r>
              <a:rPr lang="en-US" sz="1200" b="1" kern="1200" dirty="0">
                <a:solidFill>
                  <a:schemeClr val="tx1"/>
                </a:solidFill>
                <a:effectLst/>
                <a:latin typeface="+mn-lt"/>
                <a:ea typeface="+mn-ea"/>
                <a:cs typeface="+mn-cs"/>
              </a:rPr>
              <a:t>controlled, lower dose</a:t>
            </a:r>
            <a:r>
              <a:rPr lang="en-US" sz="1200" kern="1200" dirty="0">
                <a:solidFill>
                  <a:schemeClr val="tx1"/>
                </a:solidFill>
                <a:effectLst/>
                <a:latin typeface="+mn-lt"/>
                <a:ea typeface="+mn-ea"/>
                <a:cs typeface="+mn-cs"/>
              </a:rPr>
              <a:t> of Yamanaka factors resets the epigenetic markers back to their original youthful positions </a:t>
            </a:r>
            <a:r>
              <a:rPr lang="en-US" sz="1200" i="1" kern="1200" dirty="0">
                <a:solidFill>
                  <a:schemeClr val="tx1"/>
                </a:solidFill>
                <a:effectLst/>
                <a:latin typeface="+mn-lt"/>
                <a:ea typeface="+mn-ea"/>
                <a:cs typeface="+mn-cs"/>
              </a:rPr>
              <a:t>without</a:t>
            </a:r>
            <a:r>
              <a:rPr lang="en-US" sz="1200" kern="1200" dirty="0">
                <a:solidFill>
                  <a:schemeClr val="tx1"/>
                </a:solidFill>
                <a:effectLst/>
                <a:latin typeface="+mn-lt"/>
                <a:ea typeface="+mn-ea"/>
                <a:cs typeface="+mn-cs"/>
              </a:rPr>
              <a:t> erasing the cell’s identity. </a:t>
            </a:r>
          </a:p>
          <a:p>
            <a:pPr lvl="0"/>
            <a:r>
              <a:rPr lang="en-US" sz="1200" b="1" kern="1200" dirty="0">
                <a:solidFill>
                  <a:schemeClr val="tx1"/>
                </a:solidFill>
                <a:effectLst/>
                <a:latin typeface="+mn-lt"/>
                <a:ea typeface="+mn-ea"/>
                <a:cs typeface="+mn-cs"/>
              </a:rPr>
              <a:t>Validation &amp; Trial Proofs:</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An old retinal cell stays a retinal cell—it simply functions like a young one again.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This technique extended mouse lifespans equivalent to &gt;200 human years, reversed blindness in primates, and is currently undergoing clinical trials in humans.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12</a:t>
            </a:fld>
            <a:endParaRPr lang="en-US"/>
          </a:p>
        </p:txBody>
      </p:sp>
    </p:spTree>
    <p:extLst>
      <p:ext uri="{BB962C8B-B14F-4D97-AF65-F5344CB8AC3E}">
        <p14:creationId xmlns:p14="http://schemas.microsoft.com/office/powerpoint/2010/main" val="1639867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Biotech Cost Curve (The CAR-T Precedent):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Advanced therapeutics start out expensive. When CAR-T cell cancer therapy first launched, it cost millions per patient due to complex custom cell isolation.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manufacturing processes </a:t>
                </a:r>
                <a:r>
                  <a:rPr lang="en-US" sz="1200" kern="1200" dirty="0" err="1">
                    <a:solidFill>
                      <a:schemeClr val="tx1"/>
                    </a:solidFill>
                    <a:effectLst/>
                    <a:latin typeface="+mn-lt"/>
                    <a:ea typeface="+mn-ea"/>
                    <a:cs typeface="+mn-cs"/>
                  </a:rPr>
                  <a:t>standardise</a:t>
                </a:r>
                <a:r>
                  <a:rPr lang="en-US" sz="1200" kern="1200" dirty="0">
                    <a:solidFill>
                      <a:schemeClr val="tx1"/>
                    </a:solidFill>
                    <a:effectLst/>
                    <a:latin typeface="+mn-lt"/>
                    <a:ea typeface="+mn-ea"/>
                    <a:cs typeface="+mn-cs"/>
                  </a:rPr>
                  <a:t>, prices drop exponentially—from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m:t>
                    </m:r>
                    <m:r>
                      <m:rPr>
                        <m:nor/>
                      </m:rPr>
                      <a:rPr lang="en-US" sz="1200" i="0" kern="1200">
                        <a:solidFill>
                          <a:schemeClr val="tx1"/>
                        </a:solidFill>
                        <a:latin typeface="+mn-lt"/>
                        <a:ea typeface="+mn-ea"/>
                        <a:cs typeface="+mn-cs"/>
                      </a:rPr>
                      <m:t>M</m:t>
                    </m:r>
                    <m:r>
                      <a:rPr lang="en-US" sz="1200" i="0" kern="1200">
                        <a:solidFill>
                          <a:schemeClr val="tx1"/>
                        </a:solidFill>
                        <a:latin typeface="Cambria Math" panose="02040503050406030204" pitchFamily="18" charset="0"/>
                        <a:ea typeface="+mn-ea"/>
                        <a:cs typeface="+mn-cs"/>
                      </a:rPr>
                      <m:t>→$50</m:t>
                    </m:r>
                    <m:r>
                      <m:rPr>
                        <m:nor/>
                      </m:rPr>
                      <a:rPr lang="en-US" sz="1200" i="0" kern="1200">
                        <a:solidFill>
                          <a:schemeClr val="tx1"/>
                        </a:solidFill>
                        <a:latin typeface="+mn-lt"/>
                        <a:ea typeface="+mn-ea"/>
                        <a:cs typeface="+mn-cs"/>
                      </a:rPr>
                      <m:t>k</m:t>
                    </m:r>
                    <m:r>
                      <a:rPr lang="en-US" sz="1200" i="0" kern="1200">
                        <a:solidFill>
                          <a:schemeClr val="tx1"/>
                        </a:solidFill>
                        <a:latin typeface="Cambria Math" panose="02040503050406030204" pitchFamily="18" charset="0"/>
                        <a:ea typeface="+mn-ea"/>
                        <a:cs typeface="+mn-cs"/>
                      </a:rPr>
                      <m:t>→$5</m:t>
                    </m:r>
                    <m:r>
                      <m:rPr>
                        <m:nor/>
                      </m:rPr>
                      <a:rPr lang="en-US" sz="1200" i="0" kern="1200">
                        <a:solidFill>
                          <a:schemeClr val="tx1"/>
                        </a:solidFill>
                        <a:latin typeface="+mn-lt"/>
                        <a:ea typeface="+mn-ea"/>
                        <a:cs typeface="+mn-cs"/>
                      </a:rPr>
                      <m:t>k</m:t>
                    </m:r>
                  </m:oMath>
                </a14:m>
                <a:r>
                  <a:rPr lang="en-US" sz="1200" kern="1200" dirty="0">
                    <a:solidFill>
                      <a:schemeClr val="tx1"/>
                    </a:solidFill>
                    <a:effectLst/>
                    <a:latin typeface="+mn-lt"/>
                    <a:ea typeface="+mn-ea"/>
                    <a:cs typeface="+mn-cs"/>
                  </a:rPr>
                  <a:t>, turning boutique treatments into routine cures. </a:t>
                </a:r>
              </a:p>
              <a:p>
                <a:pPr lvl="0"/>
                <a:r>
                  <a:rPr lang="en-US" sz="1200" b="1" kern="1200" dirty="0">
                    <a:solidFill>
                      <a:schemeClr val="tx1"/>
                    </a:solidFill>
                    <a:effectLst/>
                    <a:latin typeface="+mn-lt"/>
                    <a:ea typeface="+mn-ea"/>
                    <a:cs typeface="+mn-cs"/>
                  </a:rPr>
                  <a:t>Longevity Trajectory: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Epigenetic resetting will follow the exact same curve: starting with local targeted drops (e.g., treating glaucoma) before evolving into continuous, systemically released protein cocktails. </a:t>
                </a:r>
              </a:p>
              <a:p>
                <a:pPr lvl="0"/>
                <a:r>
                  <a:rPr lang="en-US" sz="1200" b="1" kern="1200" dirty="0">
                    <a:solidFill>
                      <a:schemeClr val="tx1"/>
                    </a:solidFill>
                    <a:effectLst/>
                    <a:latin typeface="+mn-lt"/>
                    <a:ea typeface="+mn-ea"/>
                    <a:cs typeface="+mn-cs"/>
                  </a:rPr>
                  <a:t>Economic Impact:</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Adding just 1 year of healthy human lifespan adds </a:t>
                </a:r>
                <a:r>
                  <a:rPr lang="en-US" sz="1200" b="1" kern="1200" dirty="0">
                    <a:solidFill>
                      <a:schemeClr val="tx1"/>
                    </a:solidFill>
                    <a:effectLst/>
                    <a:latin typeface="+mn-lt"/>
                    <a:ea typeface="+mn-ea"/>
                    <a:cs typeface="+mn-cs"/>
                  </a:rPr>
                  <a:t>tens of trillions of dollars</a:t>
                </a:r>
                <a:r>
                  <a:rPr lang="en-US" sz="1200" kern="1200" dirty="0">
                    <a:solidFill>
                      <a:schemeClr val="tx1"/>
                    </a:solidFill>
                    <a:effectLst/>
                    <a:latin typeface="+mn-lt"/>
                    <a:ea typeface="+mn-ea"/>
                    <a:cs typeface="+mn-cs"/>
                  </a:rPr>
                  <a:t> to global GDP through retained expertise, productivity, and reduced healthcare costs.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Biotech Cost Curve (The CAR-T Precedent):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Advanced therapeutics start out expensive. When CAR-T cell cancer therapy first launched, it cost millions per patient due to complex custom cell isolation.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manufacturing processes </a:t>
                </a:r>
                <a:r>
                  <a:rPr lang="en-US" sz="1200" kern="1200" dirty="0" err="1">
                    <a:solidFill>
                      <a:schemeClr val="tx1"/>
                    </a:solidFill>
                    <a:effectLst/>
                    <a:latin typeface="+mn-lt"/>
                    <a:ea typeface="+mn-ea"/>
                    <a:cs typeface="+mn-cs"/>
                  </a:rPr>
                  <a:t>standardise</a:t>
                </a:r>
                <a:r>
                  <a:rPr lang="en-US" sz="1200" kern="1200" dirty="0">
                    <a:solidFill>
                      <a:schemeClr val="tx1"/>
                    </a:solidFill>
                    <a:effectLst/>
                    <a:latin typeface="+mn-lt"/>
                    <a:ea typeface="+mn-ea"/>
                    <a:cs typeface="+mn-cs"/>
                  </a:rPr>
                  <a:t>, prices drop exponentially—from </a:t>
                </a:r>
                <a:r>
                  <a:rPr lang="en-US" sz="1200" i="0" kern="1200">
                    <a:solidFill>
                      <a:schemeClr val="tx1"/>
                    </a:solidFill>
                    <a:latin typeface="+mn-lt"/>
                    <a:ea typeface="+mn-ea"/>
                    <a:cs typeface="+mn-cs"/>
                  </a:rPr>
                  <a:t>$1</a:t>
                </a:r>
                <a:r>
                  <a:rPr lang="en-US" sz="1200" i="0" kern="1200">
                    <a:solidFill>
                      <a:schemeClr val="tx1"/>
                    </a:solidFill>
                    <a:latin typeface="Cambria Math" panose="02040503050406030204" pitchFamily="18" charset="0"/>
                    <a:ea typeface="+mn-ea"/>
                    <a:cs typeface="+mn-cs"/>
                  </a:rPr>
                  <a:t>"M</a:t>
                </a:r>
                <a:r>
                  <a:rPr lang="en-US" sz="1200" i="0" kern="1200">
                    <a:solidFill>
                      <a:schemeClr val="tx1"/>
                    </a:solidFill>
                    <a:latin typeface="+mn-lt"/>
                    <a:ea typeface="+mn-ea"/>
                    <a:cs typeface="+mn-cs"/>
                  </a:rPr>
                  <a:t>"→$50</a:t>
                </a:r>
                <a:r>
                  <a:rPr lang="en-US" sz="1200" i="0" kern="1200">
                    <a:solidFill>
                      <a:schemeClr val="tx1"/>
                    </a:solidFill>
                    <a:latin typeface="Cambria Math" panose="02040503050406030204" pitchFamily="18" charset="0"/>
                    <a:ea typeface="+mn-ea"/>
                    <a:cs typeface="+mn-cs"/>
                  </a:rPr>
                  <a:t>"k</a:t>
                </a:r>
                <a:r>
                  <a:rPr lang="en-US" sz="1200" i="0" kern="1200">
                    <a:solidFill>
                      <a:schemeClr val="tx1"/>
                    </a:solidFill>
                    <a:latin typeface="+mn-lt"/>
                    <a:ea typeface="+mn-ea"/>
                    <a:cs typeface="+mn-cs"/>
                  </a:rPr>
                  <a:t>"→$5</a:t>
                </a:r>
                <a:r>
                  <a:rPr lang="en-US" sz="1200" i="0" kern="1200">
                    <a:solidFill>
                      <a:schemeClr val="tx1"/>
                    </a:solidFill>
                    <a:latin typeface="Cambria Math" panose="02040503050406030204" pitchFamily="18" charset="0"/>
                    <a:ea typeface="+mn-ea"/>
                    <a:cs typeface="+mn-cs"/>
                  </a:rPr>
                  <a:t>"k</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 turning boutique treatments into routine cures. </a:t>
                </a:r>
              </a:p>
              <a:p>
                <a:pPr lvl="0"/>
                <a:r>
                  <a:rPr lang="en-US" sz="1200" b="1" kern="1200" dirty="0">
                    <a:solidFill>
                      <a:schemeClr val="tx1"/>
                    </a:solidFill>
                    <a:effectLst/>
                    <a:latin typeface="+mn-lt"/>
                    <a:ea typeface="+mn-ea"/>
                    <a:cs typeface="+mn-cs"/>
                  </a:rPr>
                  <a:t>Longevity Trajectory: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Epigenetic resetting will follow the exact same curve: starting with local targeted drops (e.g., treating glaucoma) before evolving into continuous, systemically released protein cocktails. </a:t>
                </a:r>
              </a:p>
              <a:p>
                <a:pPr lvl="0"/>
                <a:r>
                  <a:rPr lang="en-US" sz="1200" b="1" kern="1200" dirty="0">
                    <a:solidFill>
                      <a:schemeClr val="tx1"/>
                    </a:solidFill>
                    <a:effectLst/>
                    <a:latin typeface="+mn-lt"/>
                    <a:ea typeface="+mn-ea"/>
                    <a:cs typeface="+mn-cs"/>
                  </a:rPr>
                  <a:t>Economic Impact:</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Adding just 1 year of healthy human lifespan adds </a:t>
                </a:r>
                <a:r>
                  <a:rPr lang="en-US" sz="1200" b="1" kern="1200" dirty="0">
                    <a:solidFill>
                      <a:schemeClr val="tx1"/>
                    </a:solidFill>
                    <a:effectLst/>
                    <a:latin typeface="+mn-lt"/>
                    <a:ea typeface="+mn-ea"/>
                    <a:cs typeface="+mn-cs"/>
                  </a:rPr>
                  <a:t>tens of trillions of dollars</a:t>
                </a:r>
                <a:r>
                  <a:rPr lang="en-US" sz="1200" kern="1200" dirty="0">
                    <a:solidFill>
                      <a:schemeClr val="tx1"/>
                    </a:solidFill>
                    <a:effectLst/>
                    <a:latin typeface="+mn-lt"/>
                    <a:ea typeface="+mn-ea"/>
                    <a:cs typeface="+mn-cs"/>
                  </a:rPr>
                  <a:t> to global GDP through retained expertise, productivity, and reduced healthcare costs.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13</a:t>
            </a:fld>
            <a:endParaRPr lang="en-US"/>
          </a:p>
        </p:txBody>
      </p:sp>
    </p:spTree>
    <p:extLst>
      <p:ext uri="{BB962C8B-B14F-4D97-AF65-F5344CB8AC3E}">
        <p14:creationId xmlns:p14="http://schemas.microsoft.com/office/powerpoint/2010/main" val="2042228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Putting it All Together: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we look at these three vectors, we realize they do not act in isolation—they multiply. </a:t>
            </a:r>
          </a:p>
          <a:p>
            <a:pPr lvl="0"/>
            <a:r>
              <a:rPr lang="en-US" sz="1200" b="1" kern="1200" dirty="0">
                <a:solidFill>
                  <a:schemeClr val="tx1"/>
                </a:solidFill>
                <a:effectLst/>
                <a:latin typeface="+mn-lt"/>
                <a:ea typeface="+mn-ea"/>
                <a:cs typeface="+mn-cs"/>
              </a:rPr>
              <a:t>The Equation Components: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Infinite Compute:</a:t>
            </a:r>
            <a:r>
              <a:rPr lang="en-US" sz="1200" kern="1200" dirty="0">
                <a:solidFill>
                  <a:schemeClr val="tx1"/>
                </a:solidFill>
                <a:effectLst/>
                <a:latin typeface="+mn-lt"/>
                <a:ea typeface="+mn-ea"/>
                <a:cs typeface="+mn-cs"/>
              </a:rPr>
              <a:t> Ubiquitous local AI solving complex science, engineering, and logistics problems at near-zero marginal cost.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Infinite Resources:</a:t>
            </a:r>
            <a:r>
              <a:rPr lang="en-US" sz="1200" kern="1200" dirty="0">
                <a:solidFill>
                  <a:schemeClr val="tx1"/>
                </a:solidFill>
                <a:effectLst/>
                <a:latin typeface="+mn-lt"/>
                <a:ea typeface="+mn-ea"/>
                <a:cs typeface="+mn-cs"/>
              </a:rPr>
              <a:t> Boundless solar energy and physical manufacturing freed from Earth's gravity well via lunar logistics.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Infinite Time:</a:t>
            </a:r>
            <a:r>
              <a:rPr lang="en-US" sz="1200" kern="1200" dirty="0">
                <a:solidFill>
                  <a:schemeClr val="tx1"/>
                </a:solidFill>
                <a:effectLst/>
                <a:latin typeface="+mn-lt"/>
                <a:ea typeface="+mn-ea"/>
                <a:cs typeface="+mn-cs"/>
              </a:rPr>
              <a:t> Eradicating cellular decay and age-related disease, allowing humans to live healthy, productive lives indefinitely. </a:t>
            </a:r>
          </a:p>
          <a:p>
            <a:pPr lvl="0"/>
            <a:r>
              <a:rPr lang="en-US" sz="1200" b="1" kern="1200" dirty="0">
                <a:solidFill>
                  <a:schemeClr val="tx1"/>
                </a:solidFill>
                <a:effectLst/>
                <a:latin typeface="+mn-lt"/>
                <a:ea typeface="+mn-ea"/>
                <a:cs typeface="+mn-cs"/>
              </a:rPr>
              <a:t>Conclusion: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History proves technology diffuses. Abundance is no longer an abstract theoretical question of </a:t>
            </a:r>
            <a:r>
              <a:rPr lang="en-US" sz="1200" i="1" kern="1200" dirty="0">
                <a:solidFill>
                  <a:schemeClr val="tx1"/>
                </a:solidFill>
                <a:effectLst/>
                <a:latin typeface="+mn-lt"/>
                <a:ea typeface="+mn-ea"/>
                <a:cs typeface="+mn-cs"/>
              </a:rPr>
              <a:t>if</a:t>
            </a:r>
            <a:r>
              <a:rPr lang="en-US" sz="1200" kern="1200" dirty="0">
                <a:solidFill>
                  <a:schemeClr val="tx1"/>
                </a:solidFill>
                <a:effectLst/>
                <a:latin typeface="+mn-lt"/>
                <a:ea typeface="+mn-ea"/>
                <a:cs typeface="+mn-cs"/>
              </a:rPr>
              <a:t>, but an engineering timeline of </a:t>
            </a:r>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14</a:t>
            </a:fld>
            <a:endParaRPr lang="en-US"/>
          </a:p>
        </p:txBody>
      </p:sp>
    </p:spTree>
    <p:extLst>
      <p:ext uri="{BB962C8B-B14F-4D97-AF65-F5344CB8AC3E}">
        <p14:creationId xmlns:p14="http://schemas.microsoft.com/office/powerpoint/2010/main" val="3476264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Recap of Core Principles: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Digital Layer:</a:t>
                </a:r>
                <a:r>
                  <a:rPr lang="en-US" sz="1200" kern="1200" dirty="0">
                    <a:solidFill>
                      <a:schemeClr val="tx1"/>
                    </a:solidFill>
                    <a:effectLst/>
                    <a:latin typeface="+mn-lt"/>
                    <a:ea typeface="+mn-ea"/>
                    <a:cs typeface="+mn-cs"/>
                  </a:rPr>
                  <a:t> Local model execution and agentic auto-research are breaking cloud compute monopolies.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Physical Layer:</a:t>
                </a:r>
                <a:r>
                  <a:rPr lang="en-US" sz="1200" kern="1200" dirty="0">
                    <a:solidFill>
                      <a:schemeClr val="tx1"/>
                    </a:solidFill>
                    <a:effectLst/>
                    <a:latin typeface="+mn-lt"/>
                    <a:ea typeface="+mn-ea"/>
                    <a:cs typeface="+mn-cs"/>
                  </a:rPr>
                  <a:t> Lunar gravity (</a:t>
                </a:r>
                <a14:m>
                  <m:oMath xmlns:m="http://schemas.openxmlformats.org/officeDocument/2006/math">
                    <m:r>
                      <a:rPr lang="en-US" sz="1200" kern="1200" smtClean="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/6</m:t>
                    </m:r>
                    <m:r>
                      <m:rPr>
                        <m:nor/>
                      </m:rPr>
                      <a:rPr lang="en-US" sz="1200" i="0" kern="1200">
                        <a:solidFill>
                          <a:schemeClr val="tx1"/>
                        </a:solidFill>
                        <a:latin typeface="+mn-lt"/>
                        <a:ea typeface="+mn-ea"/>
                        <a:cs typeface="+mn-cs"/>
                      </a:rPr>
                      <m:t>th</m:t>
                    </m:r>
                  </m:oMath>
                </a14:m>
                <a:r>
                  <a:rPr lang="en-US" sz="1200" kern="1200" dirty="0">
                    <a:solidFill>
                      <a:schemeClr val="tx1"/>
                    </a:solidFill>
                    <a:effectLst/>
                    <a:latin typeface="+mn-lt"/>
                    <a:ea typeface="+mn-ea"/>
                    <a:cs typeface="+mn-cs"/>
                  </a:rPr>
                  <a:t>) and mass driver propulsion reduce off-world logistics costs by </a:t>
                </a:r>
                <a14:m>
                  <m:oMath xmlns:m="http://schemas.openxmlformats.org/officeDocument/2006/math">
                    <m:r>
                      <a:rPr lang="en-US" sz="1200" kern="1200" smtClean="0">
                        <a:solidFill>
                          <a:schemeClr val="tx1"/>
                        </a:solidFill>
                        <a:latin typeface="Cambria Math" panose="02040503050406030204" pitchFamily="18" charset="0"/>
                        <a:ea typeface="+mn-ea"/>
                        <a:cs typeface="+mn-cs"/>
                      </a:rPr>
                      <m:t>100</m:t>
                    </m:r>
                    <m:r>
                      <a:rPr lang="en-US" sz="1200" i="0" kern="120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Biological Layer:</a:t>
                </a:r>
                <a:r>
                  <a:rPr lang="en-US" sz="1200" kern="1200" dirty="0">
                    <a:solidFill>
                      <a:schemeClr val="tx1"/>
                    </a:solidFill>
                    <a:effectLst/>
                    <a:latin typeface="+mn-lt"/>
                    <a:ea typeface="+mn-ea"/>
                    <a:cs typeface="+mn-cs"/>
                  </a:rPr>
                  <a:t> Controlled Yamanaka factor dosing repairs the epigenome, targeting root-cause aging rather than just symptoms. </a:t>
                </a:r>
              </a:p>
              <a:p>
                <a:pPr lvl="0"/>
                <a:r>
                  <a:rPr lang="en-US" sz="1200" b="1" kern="1200" dirty="0">
                    <a:solidFill>
                      <a:schemeClr val="tx1"/>
                    </a:solidFill>
                    <a:effectLst/>
                    <a:latin typeface="+mn-lt"/>
                    <a:ea typeface="+mn-ea"/>
                    <a:cs typeface="+mn-cs"/>
                  </a:rPr>
                  <a:t>Key Lesson: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initial price tags and centralized bottlenecks are temporary phases in tech evolution. Market forces drive rapid commoditization.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Recap of Core Principles: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Digital Layer:</a:t>
                </a:r>
                <a:r>
                  <a:rPr lang="en-US" sz="1200" kern="1200" dirty="0">
                    <a:solidFill>
                      <a:schemeClr val="tx1"/>
                    </a:solidFill>
                    <a:effectLst/>
                    <a:latin typeface="+mn-lt"/>
                    <a:ea typeface="+mn-ea"/>
                    <a:cs typeface="+mn-cs"/>
                  </a:rPr>
                  <a:t> Local model execution and agentic auto-research are breaking cloud compute monopolies.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Physical Layer:</a:t>
                </a:r>
                <a:r>
                  <a:rPr lang="en-US" sz="1200" kern="1200" dirty="0">
                    <a:solidFill>
                      <a:schemeClr val="tx1"/>
                    </a:solidFill>
                    <a:effectLst/>
                    <a:latin typeface="+mn-lt"/>
                    <a:ea typeface="+mn-ea"/>
                    <a:cs typeface="+mn-cs"/>
                  </a:rPr>
                  <a:t> Lunar gravity (</a:t>
                </a:r>
                <a:r>
                  <a:rPr lang="en-US" sz="1200" i="0" kern="1200">
                    <a:solidFill>
                      <a:schemeClr val="tx1"/>
                    </a:solidFill>
                    <a:latin typeface="+mn-lt"/>
                    <a:ea typeface="+mn-ea"/>
                    <a:cs typeface="+mn-cs"/>
                  </a:rPr>
                  <a:t>1/6</a:t>
                </a:r>
                <a:r>
                  <a:rPr lang="en-US" sz="1200" i="0" kern="1200">
                    <a:solidFill>
                      <a:schemeClr val="tx1"/>
                    </a:solidFill>
                    <a:latin typeface="Cambria Math" panose="02040503050406030204" pitchFamily="18" charset="0"/>
                    <a:ea typeface="+mn-ea"/>
                    <a:cs typeface="+mn-cs"/>
                  </a:rPr>
                  <a:t>"th</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 and mass driver propulsion reduce off-world logistics costs by </a:t>
                </a:r>
                <a:r>
                  <a:rPr lang="en-US" sz="1200" i="0" kern="1200">
                    <a:solidFill>
                      <a:schemeClr val="tx1"/>
                    </a:solidFill>
                    <a:latin typeface="+mn-lt"/>
                    <a:ea typeface="+mn-ea"/>
                    <a:cs typeface="+mn-cs"/>
                  </a:rPr>
                  <a:t>100×</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Biological Layer:</a:t>
                </a:r>
                <a:r>
                  <a:rPr lang="en-US" sz="1200" kern="1200" dirty="0">
                    <a:solidFill>
                      <a:schemeClr val="tx1"/>
                    </a:solidFill>
                    <a:effectLst/>
                    <a:latin typeface="+mn-lt"/>
                    <a:ea typeface="+mn-ea"/>
                    <a:cs typeface="+mn-cs"/>
                  </a:rPr>
                  <a:t> Controlled Yamanaka factor dosing repairs the epigenome, targeting root-cause aging rather than just symptoms. </a:t>
                </a:r>
              </a:p>
              <a:p>
                <a:pPr lvl="0"/>
                <a:r>
                  <a:rPr lang="en-US" sz="1200" b="1" kern="1200" dirty="0">
                    <a:solidFill>
                      <a:schemeClr val="tx1"/>
                    </a:solidFill>
                    <a:effectLst/>
                    <a:latin typeface="+mn-lt"/>
                    <a:ea typeface="+mn-ea"/>
                    <a:cs typeface="+mn-cs"/>
                  </a:rPr>
                  <a:t>Key Lesson: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initial price tags and centralized bottlenecks are temporary phases in tech evolution. Market forces drive rapid commoditization. </a:t>
                </a:r>
              </a:p>
              <a:p>
                <a:endParaRPr lang="en-US" dirty="0"/>
              </a:p>
            </p:txBody>
          </p:sp>
        </mc:Fallback>
      </mc:AlternateContent>
      <p:sp>
        <p:nvSpPr>
          <p:cNvPr id="4" name="Slide Number Placeholder 3"/>
          <p:cNvSpPr>
            <a:spLocks noGrp="1"/>
          </p:cNvSpPr>
          <p:nvPr>
            <p:ph type="sldNum" sz="quarter" idx="5"/>
          </p:nvPr>
        </p:nvSpPr>
        <p:spPr/>
        <p:txBody>
          <a:bodyPr/>
          <a:lstStyle/>
          <a:p>
            <a:fld id="{66AB0650-30A0-4DD2-8EA0-FDEEF6FBC305}" type="slidenum">
              <a:rPr lang="en-US" smtClean="0"/>
              <a:t>15</a:t>
            </a:fld>
            <a:endParaRPr lang="en-US"/>
          </a:p>
        </p:txBody>
      </p:sp>
    </p:spTree>
    <p:extLst>
      <p:ext uri="{BB962C8B-B14F-4D97-AF65-F5344CB8AC3E}">
        <p14:creationId xmlns:p14="http://schemas.microsoft.com/office/powerpoint/2010/main" val="1303490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Thoughts: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are transitioning from an economy defined by scarcity to an economy defined by abundance.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Capital, labor, energy, compute, and health are shifting from rare commodities into cheap, scalable software and robotic operations. </a:t>
            </a:r>
          </a:p>
          <a:p>
            <a:pPr lvl="0"/>
            <a:r>
              <a:rPr lang="en-US" sz="1200" b="1" kern="1200" dirty="0">
                <a:solidFill>
                  <a:schemeClr val="tx1"/>
                </a:solidFill>
                <a:effectLst/>
                <a:latin typeface="+mn-lt"/>
                <a:ea typeface="+mn-ea"/>
                <a:cs typeface="+mn-cs"/>
              </a:rPr>
              <a:t>Call to Action / Q&amp;A Prompt: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leaders, investors, and builders of tomorrow will be those who stop designing for constraints and start building for abundance. </a:t>
            </a:r>
          </a:p>
          <a:p>
            <a:pPr marL="0" lvl="0" indent="0">
              <a:buFont typeface="Arial" panose="020B0604020202020204" pitchFamily="34" charset="0"/>
              <a:buNone/>
            </a:pPr>
            <a:r>
              <a:rPr lang="en-US" sz="1200" kern="1200" dirty="0">
                <a:solidFill>
                  <a:schemeClr val="tx1"/>
                </a:solidFill>
                <a:effectLst/>
                <a:latin typeface="+mn-lt"/>
                <a:ea typeface="+mn-ea"/>
                <a:cs typeface="+mn-cs"/>
              </a:rPr>
              <a:t>Thank you, and I am now happy to open the floor to questions.</a:t>
            </a:r>
          </a:p>
          <a:p>
            <a:endParaRPr lang="en-US" dirty="0"/>
          </a:p>
        </p:txBody>
      </p:sp>
      <p:sp>
        <p:nvSpPr>
          <p:cNvPr id="4" name="Slide Number Placeholder 3"/>
          <p:cNvSpPr>
            <a:spLocks noGrp="1"/>
          </p:cNvSpPr>
          <p:nvPr>
            <p:ph type="sldNum" sz="quarter" idx="5"/>
          </p:nvPr>
        </p:nvSpPr>
        <p:spPr/>
        <p:txBody>
          <a:bodyPr/>
          <a:lstStyle/>
          <a:p>
            <a:fld id="{66AB0650-30A0-4DD2-8EA0-FDEEF6FBC305}" type="slidenum">
              <a:rPr lang="en-US" smtClean="0"/>
              <a:t>16</a:t>
            </a:fld>
            <a:endParaRPr lang="en-US"/>
          </a:p>
        </p:txBody>
      </p:sp>
    </p:spTree>
    <p:extLst>
      <p:ext uri="{BB962C8B-B14F-4D97-AF65-F5344CB8AC3E}">
        <p14:creationId xmlns:p14="http://schemas.microsoft.com/office/powerpoint/2010/main" val="3149897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C33F5A-E698-BE06-5CFB-43A1C7B9B692}"/>
              </a:ext>
            </a:extLst>
          </p:cNvPr>
          <p:cNvSpPr>
            <a:spLocks noGrp="1"/>
          </p:cNvSpPr>
          <p:nvPr>
            <p:ph type="dt" sz="half" idx="10"/>
          </p:nvPr>
        </p:nvSpPr>
        <p:spPr/>
        <p:txBody>
          <a:bodyPr/>
          <a:lstStyle/>
          <a:p>
            <a:fld id="{E4BA3378-B77C-4DB7-8817-11F176417658}" type="datetimeFigureOut">
              <a:rPr lang="en-US" smtClean="0"/>
              <a:t>10/19/2026</a:t>
            </a:fld>
            <a:endParaRPr lang="en-US"/>
          </a:p>
        </p:txBody>
      </p:sp>
      <p:sp>
        <p:nvSpPr>
          <p:cNvPr id="3" name="Footer Placeholder 2">
            <a:extLst>
              <a:ext uri="{FF2B5EF4-FFF2-40B4-BE49-F238E27FC236}">
                <a16:creationId xmlns:a16="http://schemas.microsoft.com/office/drawing/2014/main" id="{094229DE-DA4D-A780-817E-17B814BB9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AD9554-6259-123A-7358-D45E84FCACC7}"/>
              </a:ext>
            </a:extLst>
          </p:cNvPr>
          <p:cNvSpPr>
            <a:spLocks noGrp="1"/>
          </p:cNvSpPr>
          <p:nvPr>
            <p:ph type="sldNum" sz="quarter" idx="12"/>
          </p:nvPr>
        </p:nvSpPr>
        <p:spPr/>
        <p:txBody>
          <a:bodyPr/>
          <a:lstStyle/>
          <a:p>
            <a:fld id="{EDA64FF2-D9BA-48C0-9614-51AFDCBD318C}" type="slidenum">
              <a:rPr lang="en-US" smtClean="0"/>
              <a:t>‹#›</a:t>
            </a:fld>
            <a:endParaRPr lang="en-US"/>
          </a:p>
        </p:txBody>
      </p:sp>
    </p:spTree>
    <p:extLst>
      <p:ext uri="{BB962C8B-B14F-4D97-AF65-F5344CB8AC3E}">
        <p14:creationId xmlns:p14="http://schemas.microsoft.com/office/powerpoint/2010/main" val="420767963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8DBD80-F413-A001-EB22-E7EBC11DC3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2DB661-F475-D7F0-7E26-C8EDC06F6E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C58E83-37C2-1504-7B5F-81BFD12098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BA3378-B77C-4DB7-8817-11F176417658}" type="datetimeFigureOut">
              <a:rPr lang="en-US" smtClean="0"/>
              <a:t>10/19/2026</a:t>
            </a:fld>
            <a:endParaRPr lang="en-US"/>
          </a:p>
        </p:txBody>
      </p:sp>
      <p:sp>
        <p:nvSpPr>
          <p:cNvPr id="5" name="Footer Placeholder 4">
            <a:extLst>
              <a:ext uri="{FF2B5EF4-FFF2-40B4-BE49-F238E27FC236}">
                <a16:creationId xmlns:a16="http://schemas.microsoft.com/office/drawing/2014/main" id="{2A80097A-C6FE-195C-6B09-95F913D269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685C40-7D5D-B048-2A87-6BA6691C08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A64FF2-D9BA-48C0-9614-51AFDCBD318C}" type="slidenum">
              <a:rPr lang="en-US" smtClean="0"/>
              <a:t>‹#›</a:t>
            </a:fld>
            <a:endParaRPr lang="en-US"/>
          </a:p>
        </p:txBody>
      </p:sp>
    </p:spTree>
    <p:extLst>
      <p:ext uri="{BB962C8B-B14F-4D97-AF65-F5344CB8AC3E}">
        <p14:creationId xmlns:p14="http://schemas.microsoft.com/office/powerpoint/2010/main" val="194400473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7E69D2-BDD2-B78B-5941-F2EE22BFEC15}"/>
              </a:ext>
            </a:extLst>
          </p:cNvPr>
          <p:cNvPicPr>
            <a:picLocks noChangeAspect="1"/>
          </p:cNvPicPr>
          <p:nvPr/>
        </p:nvPicPr>
        <p:blipFill>
          <a:blip r:embed="rId3"/>
          <a:stretch>
            <a:fillRect/>
          </a:stretch>
        </p:blipFill>
        <p:spPr>
          <a:xfrm>
            <a:off x="0" y="0"/>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A1DC4F-225A-FCF2-CA62-70A3CF529C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32C78F-D46C-5964-9FFF-824C3735ED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E83609-FD1C-A34C-8EDB-6111A5575C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AD46F2-4845-14CA-29F3-086A034C29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F3DC3F-F7A1-0E31-477B-E9D1CDB19D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FCCD7D-97B3-5BD9-12BE-FBBF0B45DD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D58A-615B-7B6C-A6D8-278848DFAC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C6D56C-B237-95C8-3973-C3B95AA167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A05FF9-A58B-5897-F73E-430BA62EE0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609FEF-E487-258F-6CCE-4D851DF8F3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F0F9AF-15FC-5A3D-0ECE-6479BC6969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AF20BA-9DC4-9489-11E1-2AA3C4BBA5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F651A5-456E-D3F3-2E8A-4F4DAF15AE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74C17-5BCE-D189-18EC-CE8B8EE7ED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5912F8-58D6-94D1-DCAB-F4FB3F08DE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465999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2114</Words>
  <Application>Microsoft Office PowerPoint</Application>
  <PresentationFormat>寬螢幕</PresentationFormat>
  <Paragraphs>152</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2026-08-31T12:51:43Z</dcterms:created>
  <dcterms:modified xsi:type="dcterms:W3CDTF">2026-10-19T15:39:14Z</dcterms:modified>
</cp:coreProperties>
</file>