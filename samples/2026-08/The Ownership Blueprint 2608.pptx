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E1CC0-2F81-4F9D-903B-95EDD1B4527D}" v="18" dt="2026-08-25T02:07:55.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7464" autoAdjust="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5T02:08:07.254" v="80" actId="166"/>
      <pc:docMkLst>
        <pc:docMk/>
      </pc:docMkLst>
      <pc:sldChg chg="addSp delSp modSp mod modAnim modNotes modNotesTx">
        <pc:chgData name="Lai, Wilson" userId="2840974a-0d84-4886-90a9-9a3ed79f3a48" providerId="ADAL" clId="{9F23B798-9E84-4552-BA63-E776E805C424}" dt="2026-08-25T02:08:07.254" v="80" actId="166"/>
        <pc:sldMkLst>
          <pc:docMk/>
          <pc:sldMk cId="0" sldId="257"/>
        </pc:sldMkLst>
        <pc:spChg chg="add mod">
          <ac:chgData name="Lai, Wilson" userId="2840974a-0d84-4886-90a9-9a3ed79f3a48" providerId="ADAL" clId="{9F23B798-9E84-4552-BA63-E776E805C424}" dt="2026-08-24T11:19:36.613" v="48" actId="164"/>
          <ac:spMkLst>
            <pc:docMk/>
            <pc:sldMk cId="0" sldId="257"/>
            <ac:spMk id="5" creationId="{AEA1C20C-105E-FD14-4E8D-6655FAE898DC}"/>
          </ac:spMkLst>
        </pc:spChg>
        <pc:grpChg chg="add mod">
          <ac:chgData name="Lai, Wilson" userId="2840974a-0d84-4886-90a9-9a3ed79f3a48" providerId="ADAL" clId="{9F23B798-9E84-4552-BA63-E776E805C424}" dt="2026-08-24T11:19:36.613" v="48" actId="164"/>
          <ac:grpSpMkLst>
            <pc:docMk/>
            <pc:sldMk cId="0" sldId="257"/>
            <ac:grpSpMk id="6" creationId="{AEF6B9CD-9E50-B5C0-76A7-BB4EE0AAC6BC}"/>
          </ac:grpSpMkLst>
        </pc:grpChg>
        <pc:picChg chg="del">
          <ac:chgData name="Lai, Wilson" userId="2840974a-0d84-4886-90a9-9a3ed79f3a48" providerId="ADAL" clId="{9F23B798-9E84-4552-BA63-E776E805C424}" dt="2026-08-24T09:08:22.631" v="0" actId="21"/>
          <ac:picMkLst>
            <pc:docMk/>
            <pc:sldMk cId="0" sldId="257"/>
            <ac:picMk id="2" creationId="{00000000-0000-0000-0000-000000000000}"/>
          </ac:picMkLst>
        </pc:picChg>
        <pc:picChg chg="add mod">
          <ac:chgData name="Lai, Wilson" userId="2840974a-0d84-4886-90a9-9a3ed79f3a48" providerId="ADAL" clId="{9F23B798-9E84-4552-BA63-E776E805C424}" dt="2026-08-24T11:19:36.613" v="48" actId="164"/>
          <ac:picMkLst>
            <pc:docMk/>
            <pc:sldMk cId="0" sldId="257"/>
            <ac:picMk id="2" creationId="{27C8DBDB-DDE8-CBEE-09A0-2BE24DF75B3C}"/>
          </ac:picMkLst>
        </pc:picChg>
        <pc:picChg chg="add mod ord">
          <ac:chgData name="Lai, Wilson" userId="2840974a-0d84-4886-90a9-9a3ed79f3a48" providerId="ADAL" clId="{9F23B798-9E84-4552-BA63-E776E805C424}" dt="2026-08-25T02:08:07.254" v="80" actId="166"/>
          <ac:picMkLst>
            <pc:docMk/>
            <pc:sldMk cId="0" sldId="257"/>
            <ac:picMk id="4" creationId="{D98A42C7-2294-4509-B51C-6E8E79617BE4}"/>
          </ac:picMkLst>
        </pc:picChg>
      </pc:sldChg>
      <pc:sldChg chg="addSp delSp mod modNotes modNotesTx">
        <pc:chgData name="Lai, Wilson" userId="2840974a-0d84-4886-90a9-9a3ed79f3a48" providerId="ADAL" clId="{9F23B798-9E84-4552-BA63-E776E805C424}" dt="2026-08-25T02:07:55.852" v="78"/>
        <pc:sldMkLst>
          <pc:docMk/>
          <pc:sldMk cId="0" sldId="258"/>
        </pc:sldMkLst>
        <pc:picChg chg="del">
          <ac:chgData name="Lai, Wilson" userId="2840974a-0d84-4886-90a9-9a3ed79f3a48" providerId="ADAL" clId="{9F23B798-9E84-4552-BA63-E776E805C424}" dt="2026-08-24T09:09:11.838" v="2" actId="21"/>
          <ac:picMkLst>
            <pc:docMk/>
            <pc:sldMk cId="0" sldId="258"/>
            <ac:picMk id="2" creationId="{00000000-0000-0000-0000-000000000000}"/>
          </ac:picMkLst>
        </pc:picChg>
        <pc:picChg chg="add">
          <ac:chgData name="Lai, Wilson" userId="2840974a-0d84-4886-90a9-9a3ed79f3a48" providerId="ADAL" clId="{9F23B798-9E84-4552-BA63-E776E805C424}" dt="2026-08-24T09:09:21.525" v="3" actId="22"/>
          <ac:picMkLst>
            <pc:docMk/>
            <pc:sldMk cId="0" sldId="258"/>
            <ac:picMk id="4" creationId="{E9FCE215-081C-CD78-0830-5AB47ABD6306}"/>
          </ac:picMkLst>
        </pc:picChg>
      </pc:sldChg>
      <pc:sldChg chg="addSp delSp mod modNotes modNotesTx">
        <pc:chgData name="Lai, Wilson" userId="2840974a-0d84-4886-90a9-9a3ed79f3a48" providerId="ADAL" clId="{9F23B798-9E84-4552-BA63-E776E805C424}" dt="2026-08-25T02:07:55.852" v="78"/>
        <pc:sldMkLst>
          <pc:docMk/>
          <pc:sldMk cId="0" sldId="259"/>
        </pc:sldMkLst>
        <pc:picChg chg="del">
          <ac:chgData name="Lai, Wilson" userId="2840974a-0d84-4886-90a9-9a3ed79f3a48" providerId="ADAL" clId="{9F23B798-9E84-4552-BA63-E776E805C424}" dt="2026-08-24T09:09:26.057" v="4" actId="21"/>
          <ac:picMkLst>
            <pc:docMk/>
            <pc:sldMk cId="0" sldId="259"/>
            <ac:picMk id="2" creationId="{00000000-0000-0000-0000-000000000000}"/>
          </ac:picMkLst>
        </pc:picChg>
        <pc:picChg chg="add">
          <ac:chgData name="Lai, Wilson" userId="2840974a-0d84-4886-90a9-9a3ed79f3a48" providerId="ADAL" clId="{9F23B798-9E84-4552-BA63-E776E805C424}" dt="2026-08-24T09:09:34.538" v="5" actId="22"/>
          <ac:picMkLst>
            <pc:docMk/>
            <pc:sldMk cId="0" sldId="259"/>
            <ac:picMk id="4" creationId="{A78A45F7-17A3-E42E-440A-201556F579BE}"/>
          </ac:picMkLst>
        </pc:picChg>
      </pc:sldChg>
      <pc:sldChg chg="addSp delSp mod modNotes modNotesTx">
        <pc:chgData name="Lai, Wilson" userId="2840974a-0d84-4886-90a9-9a3ed79f3a48" providerId="ADAL" clId="{9F23B798-9E84-4552-BA63-E776E805C424}" dt="2026-08-25T02:07:55.852" v="78"/>
        <pc:sldMkLst>
          <pc:docMk/>
          <pc:sldMk cId="0" sldId="260"/>
        </pc:sldMkLst>
        <pc:picChg chg="del">
          <ac:chgData name="Lai, Wilson" userId="2840974a-0d84-4886-90a9-9a3ed79f3a48" providerId="ADAL" clId="{9F23B798-9E84-4552-BA63-E776E805C424}" dt="2026-08-24T09:09:36.713" v="6" actId="21"/>
          <ac:picMkLst>
            <pc:docMk/>
            <pc:sldMk cId="0" sldId="260"/>
            <ac:picMk id="2" creationId="{00000000-0000-0000-0000-000000000000}"/>
          </ac:picMkLst>
        </pc:picChg>
        <pc:picChg chg="add">
          <ac:chgData name="Lai, Wilson" userId="2840974a-0d84-4886-90a9-9a3ed79f3a48" providerId="ADAL" clId="{9F23B798-9E84-4552-BA63-E776E805C424}" dt="2026-08-24T09:09:45.385" v="7" actId="22"/>
          <ac:picMkLst>
            <pc:docMk/>
            <pc:sldMk cId="0" sldId="260"/>
            <ac:picMk id="4" creationId="{6A69C39E-2011-CFF1-4561-F0899B633BA5}"/>
          </ac:picMkLst>
        </pc:picChg>
      </pc:sldChg>
      <pc:sldChg chg="addSp delSp mod modNotes modNotesTx">
        <pc:chgData name="Lai, Wilson" userId="2840974a-0d84-4886-90a9-9a3ed79f3a48" providerId="ADAL" clId="{9F23B798-9E84-4552-BA63-E776E805C424}" dt="2026-08-25T02:07:55.852" v="78"/>
        <pc:sldMkLst>
          <pc:docMk/>
          <pc:sldMk cId="0" sldId="261"/>
        </pc:sldMkLst>
        <pc:picChg chg="del">
          <ac:chgData name="Lai, Wilson" userId="2840974a-0d84-4886-90a9-9a3ed79f3a48" providerId="ADAL" clId="{9F23B798-9E84-4552-BA63-E776E805C424}" dt="2026-08-24T09:09:47.400" v="8" actId="21"/>
          <ac:picMkLst>
            <pc:docMk/>
            <pc:sldMk cId="0" sldId="261"/>
            <ac:picMk id="2" creationId="{00000000-0000-0000-0000-000000000000}"/>
          </ac:picMkLst>
        </pc:picChg>
        <pc:picChg chg="add">
          <ac:chgData name="Lai, Wilson" userId="2840974a-0d84-4886-90a9-9a3ed79f3a48" providerId="ADAL" clId="{9F23B798-9E84-4552-BA63-E776E805C424}" dt="2026-08-24T09:09:54.505" v="9" actId="22"/>
          <ac:picMkLst>
            <pc:docMk/>
            <pc:sldMk cId="0" sldId="261"/>
            <ac:picMk id="4" creationId="{B65191C4-0845-02ED-570C-BE85EE467CBD}"/>
          </ac:picMkLst>
        </pc:picChg>
      </pc:sldChg>
      <pc:sldChg chg="addSp delSp mod modNotes modNotesTx">
        <pc:chgData name="Lai, Wilson" userId="2840974a-0d84-4886-90a9-9a3ed79f3a48" providerId="ADAL" clId="{9F23B798-9E84-4552-BA63-E776E805C424}" dt="2026-08-25T02:07:55.852" v="78"/>
        <pc:sldMkLst>
          <pc:docMk/>
          <pc:sldMk cId="0" sldId="262"/>
        </pc:sldMkLst>
        <pc:picChg chg="del">
          <ac:chgData name="Lai, Wilson" userId="2840974a-0d84-4886-90a9-9a3ed79f3a48" providerId="ADAL" clId="{9F23B798-9E84-4552-BA63-E776E805C424}" dt="2026-08-24T09:09:57.856" v="10" actId="21"/>
          <ac:picMkLst>
            <pc:docMk/>
            <pc:sldMk cId="0" sldId="262"/>
            <ac:picMk id="2" creationId="{00000000-0000-0000-0000-000000000000}"/>
          </ac:picMkLst>
        </pc:picChg>
        <pc:picChg chg="add">
          <ac:chgData name="Lai, Wilson" userId="2840974a-0d84-4886-90a9-9a3ed79f3a48" providerId="ADAL" clId="{9F23B798-9E84-4552-BA63-E776E805C424}" dt="2026-08-24T09:10:05.772" v="11" actId="22"/>
          <ac:picMkLst>
            <pc:docMk/>
            <pc:sldMk cId="0" sldId="262"/>
            <ac:picMk id="4" creationId="{14F4288A-1C67-4788-60F6-40026A713B06}"/>
          </ac:picMkLst>
        </pc:picChg>
      </pc:sldChg>
      <pc:sldChg chg="addSp delSp mod modNotes">
        <pc:chgData name="Lai, Wilson" userId="2840974a-0d84-4886-90a9-9a3ed79f3a48" providerId="ADAL" clId="{9F23B798-9E84-4552-BA63-E776E805C424}" dt="2026-08-25T02:07:55.852" v="78"/>
        <pc:sldMkLst>
          <pc:docMk/>
          <pc:sldMk cId="0" sldId="263"/>
        </pc:sldMkLst>
        <pc:picChg chg="del">
          <ac:chgData name="Lai, Wilson" userId="2840974a-0d84-4886-90a9-9a3ed79f3a48" providerId="ADAL" clId="{9F23B798-9E84-4552-BA63-E776E805C424}" dt="2026-08-24T09:10:07.564" v="12" actId="21"/>
          <ac:picMkLst>
            <pc:docMk/>
            <pc:sldMk cId="0" sldId="263"/>
            <ac:picMk id="2" creationId="{00000000-0000-0000-0000-000000000000}"/>
          </ac:picMkLst>
        </pc:picChg>
        <pc:picChg chg="add">
          <ac:chgData name="Lai, Wilson" userId="2840974a-0d84-4886-90a9-9a3ed79f3a48" providerId="ADAL" clId="{9F23B798-9E84-4552-BA63-E776E805C424}" dt="2026-08-24T09:10:15.694" v="13" actId="22"/>
          <ac:picMkLst>
            <pc:docMk/>
            <pc:sldMk cId="0" sldId="263"/>
            <ac:picMk id="4" creationId="{51B85DEE-5867-C064-E273-5085E6E303BC}"/>
          </ac:picMkLst>
        </pc:picChg>
      </pc:sldChg>
      <pc:sldChg chg="addSp delSp mod modNotes modNotesTx">
        <pc:chgData name="Lai, Wilson" userId="2840974a-0d84-4886-90a9-9a3ed79f3a48" providerId="ADAL" clId="{9F23B798-9E84-4552-BA63-E776E805C424}" dt="2026-08-25T02:07:55.852" v="78"/>
        <pc:sldMkLst>
          <pc:docMk/>
          <pc:sldMk cId="0" sldId="264"/>
        </pc:sldMkLst>
        <pc:picChg chg="del">
          <ac:chgData name="Lai, Wilson" userId="2840974a-0d84-4886-90a9-9a3ed79f3a48" providerId="ADAL" clId="{9F23B798-9E84-4552-BA63-E776E805C424}" dt="2026-08-24T09:10:17.319" v="14" actId="21"/>
          <ac:picMkLst>
            <pc:docMk/>
            <pc:sldMk cId="0" sldId="264"/>
            <ac:picMk id="2" creationId="{00000000-0000-0000-0000-000000000000}"/>
          </ac:picMkLst>
        </pc:picChg>
        <pc:picChg chg="add">
          <ac:chgData name="Lai, Wilson" userId="2840974a-0d84-4886-90a9-9a3ed79f3a48" providerId="ADAL" clId="{9F23B798-9E84-4552-BA63-E776E805C424}" dt="2026-08-24T09:10:25.997" v="15" actId="22"/>
          <ac:picMkLst>
            <pc:docMk/>
            <pc:sldMk cId="0" sldId="264"/>
            <ac:picMk id="4" creationId="{791836A0-E2D0-DCCE-25C3-44A1774702BF}"/>
          </ac:picMkLst>
        </pc:picChg>
      </pc:sldChg>
      <pc:sldChg chg="addSp delSp mod modNotes modNotesTx">
        <pc:chgData name="Lai, Wilson" userId="2840974a-0d84-4886-90a9-9a3ed79f3a48" providerId="ADAL" clId="{9F23B798-9E84-4552-BA63-E776E805C424}" dt="2026-08-25T02:07:55.852" v="78"/>
        <pc:sldMkLst>
          <pc:docMk/>
          <pc:sldMk cId="0" sldId="265"/>
        </pc:sldMkLst>
        <pc:picChg chg="del">
          <ac:chgData name="Lai, Wilson" userId="2840974a-0d84-4886-90a9-9a3ed79f3a48" providerId="ADAL" clId="{9F23B798-9E84-4552-BA63-E776E805C424}" dt="2026-08-24T09:10:27.878" v="16" actId="21"/>
          <ac:picMkLst>
            <pc:docMk/>
            <pc:sldMk cId="0" sldId="265"/>
            <ac:picMk id="2" creationId="{00000000-0000-0000-0000-000000000000}"/>
          </ac:picMkLst>
        </pc:picChg>
        <pc:picChg chg="add">
          <ac:chgData name="Lai, Wilson" userId="2840974a-0d84-4886-90a9-9a3ed79f3a48" providerId="ADAL" clId="{9F23B798-9E84-4552-BA63-E776E805C424}" dt="2026-08-24T09:10:35.450" v="17" actId="22"/>
          <ac:picMkLst>
            <pc:docMk/>
            <pc:sldMk cId="0" sldId="265"/>
            <ac:picMk id="4" creationId="{EA0524AB-322A-9228-76BE-A19FEFA1F2C3}"/>
          </ac:picMkLst>
        </pc:picChg>
      </pc:sldChg>
      <pc:sldChg chg="addSp delSp mod modNotes">
        <pc:chgData name="Lai, Wilson" userId="2840974a-0d84-4886-90a9-9a3ed79f3a48" providerId="ADAL" clId="{9F23B798-9E84-4552-BA63-E776E805C424}" dt="2026-08-25T02:07:55.852" v="78"/>
        <pc:sldMkLst>
          <pc:docMk/>
          <pc:sldMk cId="0" sldId="266"/>
        </pc:sldMkLst>
        <pc:picChg chg="del">
          <ac:chgData name="Lai, Wilson" userId="2840974a-0d84-4886-90a9-9a3ed79f3a48" providerId="ADAL" clId="{9F23B798-9E84-4552-BA63-E776E805C424}" dt="2026-08-24T09:10:37.082" v="18" actId="21"/>
          <ac:picMkLst>
            <pc:docMk/>
            <pc:sldMk cId="0" sldId="266"/>
            <ac:picMk id="2" creationId="{00000000-0000-0000-0000-000000000000}"/>
          </ac:picMkLst>
        </pc:picChg>
        <pc:picChg chg="add">
          <ac:chgData name="Lai, Wilson" userId="2840974a-0d84-4886-90a9-9a3ed79f3a48" providerId="ADAL" clId="{9F23B798-9E84-4552-BA63-E776E805C424}" dt="2026-08-24T09:10:52.707" v="19" actId="22"/>
          <ac:picMkLst>
            <pc:docMk/>
            <pc:sldMk cId="0" sldId="266"/>
            <ac:picMk id="4" creationId="{345E7E49-909E-71FA-B8EE-A443EE098DFB}"/>
          </ac:picMkLst>
        </pc:picChg>
      </pc:sldChg>
      <pc:sldChg chg="addSp delSp modSp mod modNotes modNotesTx">
        <pc:chgData name="Lai, Wilson" userId="2840974a-0d84-4886-90a9-9a3ed79f3a48" providerId="ADAL" clId="{9F23B798-9E84-4552-BA63-E776E805C424}" dt="2026-08-25T02:07:55.852" v="78"/>
        <pc:sldMkLst>
          <pc:docMk/>
          <pc:sldMk cId="0" sldId="267"/>
        </pc:sldMkLst>
        <pc:spChg chg="add del">
          <ac:chgData name="Lai, Wilson" userId="2840974a-0d84-4886-90a9-9a3ed79f3a48" providerId="ADAL" clId="{9F23B798-9E84-4552-BA63-E776E805C424}" dt="2026-08-25T02:07:13.328" v="71" actId="22"/>
          <ac:spMkLst>
            <pc:docMk/>
            <pc:sldMk cId="0" sldId="267"/>
            <ac:spMk id="3" creationId="{D2279FAE-082B-20C6-ECB6-ED53DFDA2B73}"/>
          </ac:spMkLst>
        </pc:spChg>
        <pc:picChg chg="del">
          <ac:chgData name="Lai, Wilson" userId="2840974a-0d84-4886-90a9-9a3ed79f3a48" providerId="ADAL" clId="{9F23B798-9E84-4552-BA63-E776E805C424}" dt="2026-08-24T09:10:54.326" v="20" actId="21"/>
          <ac:picMkLst>
            <pc:docMk/>
            <pc:sldMk cId="0" sldId="267"/>
            <ac:picMk id="2" creationId="{00000000-0000-0000-0000-000000000000}"/>
          </ac:picMkLst>
        </pc:picChg>
        <pc:picChg chg="add">
          <ac:chgData name="Lai, Wilson" userId="2840974a-0d84-4886-90a9-9a3ed79f3a48" providerId="ADAL" clId="{9F23B798-9E84-4552-BA63-E776E805C424}" dt="2026-08-24T09:11:02.312" v="21" actId="22"/>
          <ac:picMkLst>
            <pc:docMk/>
            <pc:sldMk cId="0" sldId="267"/>
            <ac:picMk id="4" creationId="{32AFE169-6C8E-52B5-1F59-D2579EC44BCC}"/>
          </ac:picMkLst>
        </pc:picChg>
      </pc:sldChg>
      <pc:sldChg chg="addSp delSp mod modNotes">
        <pc:chgData name="Lai, Wilson" userId="2840974a-0d84-4886-90a9-9a3ed79f3a48" providerId="ADAL" clId="{9F23B798-9E84-4552-BA63-E776E805C424}" dt="2026-08-25T02:07:55.852" v="78"/>
        <pc:sldMkLst>
          <pc:docMk/>
          <pc:sldMk cId="0" sldId="268"/>
        </pc:sldMkLst>
        <pc:picChg chg="del">
          <ac:chgData name="Lai, Wilson" userId="2840974a-0d84-4886-90a9-9a3ed79f3a48" providerId="ADAL" clId="{9F23B798-9E84-4552-BA63-E776E805C424}" dt="2026-08-24T09:11:04.364" v="22" actId="21"/>
          <ac:picMkLst>
            <pc:docMk/>
            <pc:sldMk cId="0" sldId="268"/>
            <ac:picMk id="2" creationId="{00000000-0000-0000-0000-000000000000}"/>
          </ac:picMkLst>
        </pc:picChg>
        <pc:picChg chg="add">
          <ac:chgData name="Lai, Wilson" userId="2840974a-0d84-4886-90a9-9a3ed79f3a48" providerId="ADAL" clId="{9F23B798-9E84-4552-BA63-E776E805C424}" dt="2026-08-24T09:11:14.472" v="23" actId="22"/>
          <ac:picMkLst>
            <pc:docMk/>
            <pc:sldMk cId="0" sldId="268"/>
            <ac:picMk id="4" creationId="{859BA713-7163-66DB-EA36-C74EBE9550C2}"/>
          </ac:picMkLst>
        </pc:picChg>
      </pc:sldChg>
      <pc:sldChg chg="addSp delSp mod modNotes modNotesTx">
        <pc:chgData name="Lai, Wilson" userId="2840974a-0d84-4886-90a9-9a3ed79f3a48" providerId="ADAL" clId="{9F23B798-9E84-4552-BA63-E776E805C424}" dt="2026-08-25T02:07:55.852" v="78"/>
        <pc:sldMkLst>
          <pc:docMk/>
          <pc:sldMk cId="0" sldId="269"/>
        </pc:sldMkLst>
        <pc:picChg chg="del">
          <ac:chgData name="Lai, Wilson" userId="2840974a-0d84-4886-90a9-9a3ed79f3a48" providerId="ADAL" clId="{9F23B798-9E84-4552-BA63-E776E805C424}" dt="2026-08-24T09:11:17.408" v="24" actId="21"/>
          <ac:picMkLst>
            <pc:docMk/>
            <pc:sldMk cId="0" sldId="269"/>
            <ac:picMk id="2" creationId="{00000000-0000-0000-0000-000000000000}"/>
          </ac:picMkLst>
        </pc:picChg>
        <pc:picChg chg="add">
          <ac:chgData name="Lai, Wilson" userId="2840974a-0d84-4886-90a9-9a3ed79f3a48" providerId="ADAL" clId="{9F23B798-9E84-4552-BA63-E776E805C424}" dt="2026-08-24T09:11:29.071" v="25" actId="22"/>
          <ac:picMkLst>
            <pc:docMk/>
            <pc:sldMk cId="0" sldId="269"/>
            <ac:picMk id="4" creationId="{003523FD-A920-257D-3DC4-593D428E21E5}"/>
          </ac:picMkLst>
        </pc:picChg>
      </pc:sldChg>
      <pc:sldChg chg="modSp mod modNotes modNotesTx">
        <pc:chgData name="Lai, Wilson" userId="2840974a-0d84-4886-90a9-9a3ed79f3a48" providerId="ADAL" clId="{9F23B798-9E84-4552-BA63-E776E805C424}" dt="2026-08-25T02:07:55.852" v="78"/>
        <pc:sldMkLst>
          <pc:docMk/>
          <pc:sldMk cId="2804482892" sldId="270"/>
        </pc:sldMkLst>
        <pc:picChg chg="mod">
          <ac:chgData name="Lai, Wilson" userId="2840974a-0d84-4886-90a9-9a3ed79f3a48" providerId="ADAL" clId="{9F23B798-9E84-4552-BA63-E776E805C424}" dt="2026-08-24T09:11:32.225" v="27" actId="1076"/>
          <ac:picMkLst>
            <pc:docMk/>
            <pc:sldMk cId="2804482892" sldId="270"/>
            <ac:picMk id="3" creationId="{7BA518FE-55C1-81FE-16AB-AD22B2A2774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549510-ACB9-4A9B-B7F1-8F13EBB21EDB}"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2BF7BC-F8CB-434C-B06A-A50A369D3061}" type="slidenum">
              <a:rPr lang="en-US" smtClean="0"/>
              <a:t>‹#›</a:t>
            </a:fld>
            <a:endParaRPr lang="en-US"/>
          </a:p>
        </p:txBody>
      </p:sp>
    </p:spTree>
    <p:extLst>
      <p:ext uri="{BB962C8B-B14F-4D97-AF65-F5344CB8AC3E}">
        <p14:creationId xmlns:p14="http://schemas.microsoft.com/office/powerpoint/2010/main" val="3664774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everyone. Welcome to today’s session on </a:t>
            </a:r>
            <a:r>
              <a:rPr lang="en-US" sz="1200" i="1" kern="1200" dirty="0">
                <a:solidFill>
                  <a:schemeClr val="tx1"/>
                </a:solidFill>
                <a:effectLst/>
                <a:latin typeface="+mn-lt"/>
                <a:ea typeface="+mn-ea"/>
                <a:cs typeface="+mn-cs"/>
              </a:rPr>
              <a:t>'The Future of Ownership: AI, Tokenization, and the Democratization of Capital.'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Today, we are taking a deep dive into the strategic vision articulated by Vlad Tenev, CEO of Robinhood, in his recent interview on </a:t>
            </a:r>
            <a:r>
              <a:rPr lang="en-US" sz="1200" i="1" kern="1200" dirty="0">
                <a:solidFill>
                  <a:schemeClr val="tx1"/>
                </a:solidFill>
                <a:effectLst/>
                <a:latin typeface="+mn-lt"/>
                <a:ea typeface="+mn-ea"/>
                <a:cs typeface="+mn-cs"/>
              </a:rPr>
              <a:t>The Iced Coffee Hour</a:t>
            </a:r>
            <a:r>
              <a:rPr lang="en-US" sz="1200" kern="1200" dirty="0">
                <a:solidFill>
                  <a:schemeClr val="tx1"/>
                </a:solidFill>
                <a:effectLst/>
                <a:latin typeface="+mn-lt"/>
                <a:ea typeface="+mn-ea"/>
                <a:cs typeface="+mn-cs"/>
              </a:rPr>
              <a:t>. Over the past year alone, Robinhood's Assets Under Custody grew by over 50%, reaching a massive $125 billion. </a:t>
            </a:r>
          </a:p>
          <a:p>
            <a:pPr lvl="0"/>
            <a:r>
              <a:rPr lang="en-US" sz="1200" kern="1200" dirty="0">
                <a:solidFill>
                  <a:schemeClr val="tx1"/>
                </a:solidFill>
                <a:effectLst/>
                <a:latin typeface="+mn-lt"/>
                <a:ea typeface="+mn-ea"/>
                <a:cs typeface="+mn-cs"/>
              </a:rPr>
              <a:t>But this presentation isn't just about Robinhood's growth numbers—it's about a fundamental transformation in global finance. We will explore three central pillars driving this transformation: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How AI is moving from simple advisory algorithms to full agentic, autonomous execution in trading and software engineering.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Asset Democratization:</a:t>
            </a:r>
            <a:r>
              <a:rPr lang="en-US" sz="1200" kern="1200" dirty="0">
                <a:solidFill>
                  <a:schemeClr val="tx1"/>
                </a:solidFill>
                <a:effectLst/>
                <a:latin typeface="+mn-lt"/>
                <a:ea typeface="+mn-ea"/>
                <a:cs typeface="+mn-cs"/>
              </a:rPr>
              <a:t> How private venture capital and global equities are being unlocked for retail investors.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Tokenization:</a:t>
            </a:r>
            <a:r>
              <a:rPr lang="en-US" sz="1200" kern="1200" dirty="0">
                <a:solidFill>
                  <a:schemeClr val="tx1"/>
                </a:solidFill>
                <a:effectLst/>
                <a:latin typeface="+mn-lt"/>
                <a:ea typeface="+mn-ea"/>
                <a:cs typeface="+mn-cs"/>
              </a:rPr>
              <a:t> How blockchain and stablecoin rails will enable a borderless, 24/7 global financial ecosystem. </a:t>
            </a:r>
          </a:p>
          <a:p>
            <a:pPr lvl="0"/>
            <a:r>
              <a:rPr lang="en-US" sz="1200" kern="1200" dirty="0">
                <a:solidFill>
                  <a:schemeClr val="tx1"/>
                </a:solidFill>
                <a:effectLst/>
                <a:latin typeface="+mn-lt"/>
                <a:ea typeface="+mn-ea"/>
                <a:cs typeface="+mn-cs"/>
              </a:rPr>
              <a:t>By the end of this deck, you will see how these strategic vectors align to move society toward a default ownership model. </a:t>
            </a:r>
          </a:p>
          <a:p>
            <a:endParaRPr lang="en-US" dirty="0"/>
          </a:p>
          <a:p>
            <a:endParaRPr lang="en-US" dirty="0"/>
          </a:p>
          <a:p>
            <a:endParaRPr lang="en-US" dirty="0"/>
          </a:p>
          <a:p>
            <a:r>
              <a:rPr lang="en-US" dirty="0"/>
              <a:t>https://www.youtube.com/watch?v=KJ_dtGyqNP8</a:t>
            </a:r>
          </a:p>
        </p:txBody>
      </p:sp>
      <p:sp>
        <p:nvSpPr>
          <p:cNvPr id="4" name="Slide Number Placeholder 3"/>
          <p:cNvSpPr>
            <a:spLocks noGrp="1"/>
          </p:cNvSpPr>
          <p:nvPr>
            <p:ph type="sldNum" sz="quarter" idx="5"/>
          </p:nvPr>
        </p:nvSpPr>
        <p:spPr/>
        <p:txBody>
          <a:bodyPr/>
          <a:lstStyle/>
          <a:p>
            <a:fld id="{B92BF7BC-F8CB-434C-B06A-A50A369D3061}" type="slidenum">
              <a:rPr lang="en-US" smtClean="0"/>
              <a:t>1</a:t>
            </a:fld>
            <a:endParaRPr lang="en-US"/>
          </a:p>
        </p:txBody>
      </p:sp>
    </p:spTree>
    <p:extLst>
      <p:ext uri="{BB962C8B-B14F-4D97-AF65-F5344CB8AC3E}">
        <p14:creationId xmlns:p14="http://schemas.microsoft.com/office/powerpoint/2010/main" val="2008654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start with the central overarching thesis: </a:t>
            </a:r>
            <a:r>
              <a:rPr lang="en-US" sz="1200" b="1" kern="1200" dirty="0">
                <a:solidFill>
                  <a:schemeClr val="tx1"/>
                </a:solidFill>
                <a:effectLst/>
                <a:latin typeface="+mn-lt"/>
                <a:ea typeface="+mn-ea"/>
                <a:cs typeface="+mn-cs"/>
              </a:rPr>
              <a:t>A 95%+ Equity Ownership Society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As Vlad Tenev pointed out, a future with relatively few asset owners is inherently fragile and socially unstable. In the pre-Robinhood era, U.S. household equity participation sat in the low 50s percentile. Over the past decade, driven heavily by zero-commission trading and mobile accessibility, that participation rate has risen to approximately 65%. </a:t>
            </a:r>
          </a:p>
          <a:p>
            <a:pPr lvl="0"/>
            <a:r>
              <a:rPr lang="en-US" sz="1200" kern="1200" dirty="0">
                <a:solidFill>
                  <a:schemeClr val="tx1"/>
                </a:solidFill>
                <a:effectLst/>
                <a:latin typeface="+mn-lt"/>
                <a:ea typeface="+mn-ea"/>
                <a:cs typeface="+mn-cs"/>
              </a:rPr>
              <a:t>However, the ultimate target is to push equity ownership to over </a:t>
            </a:r>
            <a:r>
              <a:rPr lang="en-US" sz="1200" b="1" kern="1200" dirty="0">
                <a:solidFill>
                  <a:schemeClr val="tx1"/>
                </a:solidFill>
                <a:effectLst/>
                <a:latin typeface="+mn-lt"/>
                <a:ea typeface="+mn-ea"/>
                <a:cs typeface="+mn-cs"/>
              </a:rPr>
              <a:t>95% of households</a:t>
            </a:r>
            <a:r>
              <a:rPr lang="en-US" sz="1200" kern="1200" dirty="0">
                <a:solidFill>
                  <a:schemeClr val="tx1"/>
                </a:solidFill>
                <a:effectLst/>
                <a:latin typeface="+mn-lt"/>
                <a:ea typeface="+mn-ea"/>
                <a:cs typeface="+mn-cs"/>
              </a:rPr>
              <a:t>. How do we bridge that gap when millions of people are living paycheck to paycheck and lack surplus capital to invest? </a:t>
            </a:r>
          </a:p>
          <a:p>
            <a:pPr lvl="0"/>
            <a:r>
              <a:rPr lang="en-US" sz="1200" kern="1200" dirty="0">
                <a:solidFill>
                  <a:schemeClr val="tx1"/>
                </a:solidFill>
                <a:effectLst/>
                <a:latin typeface="+mn-lt"/>
                <a:ea typeface="+mn-ea"/>
                <a:cs typeface="+mn-cs"/>
              </a:rPr>
              <a:t>The answer lies in </a:t>
            </a:r>
            <a:r>
              <a:rPr lang="en-US" sz="1200" b="1" kern="1200" dirty="0">
                <a:solidFill>
                  <a:schemeClr val="tx1"/>
                </a:solidFill>
                <a:effectLst/>
                <a:latin typeface="+mn-lt"/>
                <a:ea typeface="+mn-ea"/>
                <a:cs typeface="+mn-cs"/>
              </a:rPr>
              <a:t>Accelerators of Default Ownership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Employer-Sponsored Programs:</a:t>
            </a:r>
            <a:r>
              <a:rPr lang="en-US" sz="1200" kern="1200" dirty="0">
                <a:solidFill>
                  <a:schemeClr val="tx1"/>
                </a:solidFill>
                <a:effectLst/>
                <a:latin typeface="+mn-lt"/>
                <a:ea typeface="+mn-ea"/>
                <a:cs typeface="+mn-cs"/>
              </a:rPr>
              <a:t> Historically, employer 401(k) matches drove tens of percentage points in participation by making market entry 'automatic' and incentivized.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Government-Sponsored Initiatives:</a:t>
            </a:r>
            <a:r>
              <a:rPr lang="en-US" sz="1200" kern="1200" dirty="0">
                <a:solidFill>
                  <a:schemeClr val="tx1"/>
                </a:solidFill>
                <a:effectLst/>
                <a:latin typeface="+mn-lt"/>
                <a:ea typeface="+mn-ea"/>
                <a:cs typeface="+mn-cs"/>
              </a:rPr>
              <a:t> Proposals like the 'Trump Accounts' aim to allocate $1,000 from the Treasury to every child born in the U.S. at birth, establishing compounding wealth from age zero.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Philanthropic Action:</a:t>
            </a:r>
            <a:r>
              <a:rPr lang="en-US" sz="1200" kern="1200" dirty="0">
                <a:solidFill>
                  <a:schemeClr val="tx1"/>
                </a:solidFill>
                <a:effectLst/>
                <a:latin typeface="+mn-lt"/>
                <a:ea typeface="+mn-ea"/>
                <a:cs typeface="+mn-cs"/>
              </a:rPr>
              <a:t> High-net-worth individuals and philanthropists (like Michael Dell and Ray Dalio) are funding accounts targeting lower-income ZIP codes to manufacture market participation. </a:t>
            </a:r>
          </a:p>
          <a:p>
            <a:pPr lvl="0"/>
            <a:r>
              <a:rPr lang="en-US" sz="1200" kern="1200" dirty="0">
                <a:solidFill>
                  <a:schemeClr val="tx1"/>
                </a:solidFill>
                <a:effectLst/>
                <a:latin typeface="+mn-lt"/>
                <a:ea typeface="+mn-ea"/>
                <a:cs typeface="+mn-cs"/>
              </a:rPr>
              <a:t>By creating mechanisms that default people into ownership at birth or employment, market equity becomes universal rather than an exclusive club.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2</a:t>
            </a:fld>
            <a:endParaRPr lang="en-US"/>
          </a:p>
        </p:txBody>
      </p:sp>
    </p:spTree>
    <p:extLst>
      <p:ext uri="{BB962C8B-B14F-4D97-AF65-F5344CB8AC3E}">
        <p14:creationId xmlns:p14="http://schemas.microsoft.com/office/powerpoint/2010/main" val="149181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how this vision scales commercially, we examine the core growth engine that has driven Robinhood's $125 billion in Assets Under Custody—a 50% year-over-year surge. </a:t>
            </a:r>
          </a:p>
          <a:p>
            <a:pPr lvl="0"/>
            <a:r>
              <a:rPr lang="en-US" sz="1200" kern="1200" dirty="0">
                <a:solidFill>
                  <a:schemeClr val="tx1"/>
                </a:solidFill>
                <a:effectLst/>
                <a:latin typeface="+mn-lt"/>
                <a:ea typeface="+mn-ea"/>
                <a:cs typeface="+mn-cs"/>
              </a:rPr>
              <a:t>This engine operates across </a:t>
            </a:r>
            <a:r>
              <a:rPr lang="en-US" sz="1200" b="1" kern="1200" dirty="0">
                <a:solidFill>
                  <a:schemeClr val="tx1"/>
                </a:solidFill>
                <a:effectLst/>
                <a:latin typeface="+mn-lt"/>
                <a:ea typeface="+mn-ea"/>
                <a:cs typeface="+mn-cs"/>
              </a:rPr>
              <a:t>Three Strategic Pillars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Pillar 1: Active Trading Ecosystem:</a:t>
            </a:r>
            <a:r>
              <a:rPr lang="en-US" sz="1200" kern="1200" dirty="0">
                <a:solidFill>
                  <a:schemeClr val="tx1"/>
                </a:solidFill>
                <a:effectLst/>
                <a:latin typeface="+mn-lt"/>
                <a:ea typeface="+mn-ea"/>
                <a:cs typeface="+mn-cs"/>
              </a:rPr>
              <a:t> Robinhood maintains the #1 market share in retail options trading, backed by expansion into equities, futures, and rapid growth in prediction markets. </a:t>
            </a:r>
          </a:p>
          <a:p>
            <a:pPr marL="228600" lvl="0" indent="-228600">
              <a:buFont typeface="+mj-lt"/>
              <a:buAutoNum type="arabicPeriod"/>
            </a:pPr>
            <a:r>
              <a:rPr lang="en-US" sz="1200" b="1" kern="1200" dirty="0">
                <a:solidFill>
                  <a:schemeClr val="tx1"/>
                </a:solidFill>
                <a:effectLst/>
                <a:latin typeface="+mn-lt"/>
                <a:ea typeface="+mn-ea"/>
                <a:cs typeface="+mn-cs"/>
              </a:rPr>
              <a:t>Pillar 2: Lifelong Financial Home:</a:t>
            </a:r>
            <a:r>
              <a:rPr lang="en-US" sz="1200" kern="1200" dirty="0">
                <a:solidFill>
                  <a:schemeClr val="tx1"/>
                </a:solidFill>
                <a:effectLst/>
                <a:latin typeface="+mn-lt"/>
                <a:ea typeface="+mn-ea"/>
                <a:cs typeface="+mn-cs"/>
              </a:rPr>
              <a:t> Moving away from transactional relationships, Robinhood captures user assets through 3% match retirement accounts, custodial accounts, and trust routing. </a:t>
            </a:r>
          </a:p>
          <a:p>
            <a:pPr marL="228600" lvl="0" indent="-228600">
              <a:buFont typeface="+mj-lt"/>
              <a:buAutoNum type="arabicPeriod"/>
            </a:pPr>
            <a:r>
              <a:rPr lang="en-US" sz="1200" b="1" kern="1200" dirty="0">
                <a:solidFill>
                  <a:schemeClr val="tx1"/>
                </a:solidFill>
                <a:effectLst/>
                <a:latin typeface="+mn-lt"/>
                <a:ea typeface="+mn-ea"/>
                <a:cs typeface="+mn-cs"/>
              </a:rPr>
              <a:t>Pillar 3: Frontier Technologies:</a:t>
            </a:r>
            <a:r>
              <a:rPr lang="en-US" sz="1200" kern="1200" dirty="0">
                <a:solidFill>
                  <a:schemeClr val="tx1"/>
                </a:solidFill>
                <a:effectLst/>
                <a:latin typeface="+mn-lt"/>
                <a:ea typeface="+mn-ea"/>
                <a:cs typeface="+mn-cs"/>
              </a:rPr>
              <a:t> Integrating agentic AI trading, crypto assets, and private market venture funds directly into the user interface. </a:t>
            </a:r>
          </a:p>
          <a:p>
            <a:pPr lvl="0"/>
            <a:r>
              <a:rPr lang="en-US" sz="1200" kern="1200" dirty="0">
                <a:solidFill>
                  <a:schemeClr val="tx1"/>
                </a:solidFill>
                <a:effectLst/>
                <a:latin typeface="+mn-lt"/>
                <a:ea typeface="+mn-ea"/>
                <a:cs typeface="+mn-cs"/>
              </a:rPr>
              <a:t>By linking high-velocity trading with long-term custodial wealth management, the platform creates an end-to-end moat that retains user assets through every life stage.</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3</a:t>
            </a:fld>
            <a:endParaRPr lang="en-US"/>
          </a:p>
        </p:txBody>
      </p:sp>
    </p:spTree>
    <p:extLst>
      <p:ext uri="{BB962C8B-B14F-4D97-AF65-F5344CB8AC3E}">
        <p14:creationId xmlns:p14="http://schemas.microsoft.com/office/powerpoint/2010/main" val="1817984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unpack </a:t>
            </a:r>
            <a:r>
              <a:rPr lang="en-US" sz="1200" b="1" kern="1200" dirty="0">
                <a:solidFill>
                  <a:schemeClr val="tx1"/>
                </a:solidFill>
                <a:effectLst/>
                <a:latin typeface="+mn-lt"/>
                <a:ea typeface="+mn-ea"/>
                <a:cs typeface="+mn-cs"/>
              </a:rPr>
              <a:t>Pillar 1: The 'Cradle-to-Wealth' Lifecycle Model</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Traditional legacy banking relies on siloed products—a consumer might have a savings account with one bank, an IRA with another, and a mortgage elsewhere. The goal here is to capture the user's entire financial lifecycle within one unified UI: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 = 0 (Childhood &amp; Entry):</a:t>
            </a:r>
            <a:r>
              <a:rPr lang="en-US" sz="1200" kern="1200" dirty="0">
                <a:solidFill>
                  <a:schemeClr val="tx1"/>
                </a:solidFill>
                <a:effectLst/>
                <a:latin typeface="+mn-lt"/>
                <a:ea typeface="+mn-ea"/>
                <a:cs typeface="+mn-cs"/>
              </a:rPr>
              <a:t> Capturing users at birth through custodial accounts and government-backed options like Trump Accounts.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 = 1 (Adulthood &amp; Income):</a:t>
            </a:r>
            <a:r>
              <a:rPr lang="en-US" sz="1200" kern="1200" dirty="0">
                <a:solidFill>
                  <a:schemeClr val="tx1"/>
                </a:solidFill>
                <a:effectLst/>
                <a:latin typeface="+mn-lt"/>
                <a:ea typeface="+mn-ea"/>
                <a:cs typeface="+mn-cs"/>
              </a:rPr>
              <a:t> Transitioning young adults into primary banking through Robinhood Banking, joint accounts, and high direct deposit attach rates.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 = 2 (Wealth &amp; Legacy):</a:t>
            </a:r>
            <a:r>
              <a:rPr lang="en-US" sz="1200" kern="1200" dirty="0">
                <a:solidFill>
                  <a:schemeClr val="tx1"/>
                </a:solidFill>
                <a:effectLst/>
                <a:latin typeface="+mn-lt"/>
                <a:ea typeface="+mn-ea"/>
                <a:cs typeface="+mn-cs"/>
              </a:rPr>
              <a:t> Retaining mature wealth through retirement accounts (boosted by 3% matches), advanced tax-loss harvesting routing, and trust accounts. </a:t>
            </a:r>
          </a:p>
          <a:p>
            <a:pPr lvl="0"/>
            <a:r>
              <a:rPr lang="en-US" sz="1200" kern="1200" dirty="0">
                <a:solidFill>
                  <a:schemeClr val="tx1"/>
                </a:solidFill>
                <a:effectLst/>
                <a:latin typeface="+mn-lt"/>
                <a:ea typeface="+mn-ea"/>
                <a:cs typeface="+mn-cs"/>
              </a:rPr>
              <a:t>Strategic takeaway: Escaping the transactional trap of standalone brokerages by capturing wealth from birth through estate inheritance.</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4</a:t>
            </a:fld>
            <a:endParaRPr lang="en-US"/>
          </a:p>
        </p:txBody>
      </p:sp>
    </p:spTree>
    <p:extLst>
      <p:ext uri="{BB962C8B-B14F-4D97-AF65-F5344CB8AC3E}">
        <p14:creationId xmlns:p14="http://schemas.microsoft.com/office/powerpoint/2010/main" val="1002414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to </a:t>
            </a:r>
            <a:r>
              <a:rPr lang="en-US" sz="1200" b="1" kern="1200" dirty="0">
                <a:solidFill>
                  <a:schemeClr val="tx1"/>
                </a:solidFill>
                <a:effectLst/>
                <a:latin typeface="+mn-lt"/>
                <a:ea typeface="+mn-ea"/>
                <a:cs typeface="+mn-cs"/>
              </a:rPr>
              <a:t>Pillar 2</a:t>
            </a:r>
            <a:r>
              <a:rPr lang="en-US" sz="1200" kern="1200" dirty="0">
                <a:solidFill>
                  <a:schemeClr val="tx1"/>
                </a:solidFill>
                <a:effectLst/>
                <a:latin typeface="+mn-lt"/>
                <a:ea typeface="+mn-ea"/>
                <a:cs typeface="+mn-cs"/>
              </a:rPr>
              <a:t>, we look at how trading innovation continues to generate strong top-line revenue: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Retail Options Market Share:</a:t>
            </a:r>
            <a:r>
              <a:rPr lang="en-US" sz="1200" kern="1200" dirty="0">
                <a:solidFill>
                  <a:schemeClr val="tx1"/>
                </a:solidFill>
                <a:effectLst/>
                <a:latin typeface="+mn-lt"/>
                <a:ea typeface="+mn-ea"/>
                <a:cs typeface="+mn-cs"/>
              </a:rPr>
              <a:t> Robinhood outpaced legacy incumbents to secure the top market position in options trading volume.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$100M+ ARR in Futures &amp; Prediction Markets:</a:t>
            </a:r>
            <a:r>
              <a:rPr lang="en-US" sz="1200" kern="1200" dirty="0">
                <a:solidFill>
                  <a:schemeClr val="tx1"/>
                </a:solidFill>
                <a:effectLst/>
                <a:latin typeface="+mn-lt"/>
                <a:ea typeface="+mn-ea"/>
                <a:cs typeface="+mn-cs"/>
              </a:rPr>
              <a:t> The rapid rollout of prediction markets allows retail users to hedge and speculate on real-world events, creating a major new annual recurring revenue stream.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UI Personalization Engine:</a:t>
            </a:r>
            <a:r>
              <a:rPr lang="en-US" sz="1200" kern="1200" dirty="0">
                <a:solidFill>
                  <a:schemeClr val="tx1"/>
                </a:solidFill>
                <a:effectLst/>
                <a:latin typeface="+mn-lt"/>
                <a:ea typeface="+mn-ea"/>
                <a:cs typeface="+mn-cs"/>
              </a:rPr>
              <a:t> Supporting over 13 distinct account types without overwhelming the user interface requires an ultra-customizable UI architecture where users toggle complex features on or off as needed.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5</a:t>
            </a:fld>
            <a:endParaRPr lang="en-US"/>
          </a:p>
        </p:txBody>
      </p:sp>
    </p:spTree>
    <p:extLst>
      <p:ext uri="{BB962C8B-B14F-4D97-AF65-F5344CB8AC3E}">
        <p14:creationId xmlns:p14="http://schemas.microsoft.com/office/powerpoint/2010/main" val="736338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Historically, the biggest wealth accumulation happens in private markets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a company goes public. By the time a tech giant hits public markets at a trillion-dollar valuation, retail investors miss out on the early growth multiplier. </a:t>
            </a:r>
          </a:p>
          <a:p>
            <a:pPr lvl="0"/>
            <a:r>
              <a:rPr lang="en-US" sz="1200" b="1" kern="1200" dirty="0">
                <a:solidFill>
                  <a:schemeClr val="tx1"/>
                </a:solidFill>
                <a:effectLst/>
                <a:latin typeface="+mn-lt"/>
                <a:ea typeface="+mn-ea"/>
                <a:cs typeface="+mn-cs"/>
              </a:rPr>
              <a:t>Pillar 3</a:t>
            </a:r>
            <a:r>
              <a:rPr lang="en-US" sz="1200" kern="1200" dirty="0">
                <a:solidFill>
                  <a:schemeClr val="tx1"/>
                </a:solidFill>
                <a:effectLst/>
                <a:latin typeface="+mn-lt"/>
                <a:ea typeface="+mn-ea"/>
                <a:cs typeface="+mn-cs"/>
              </a:rPr>
              <a:t> addresses this imbalance by opening private market investments to retail users: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Robinhood Ventures Fund 1 (Late-Stage / Pre-IPO):</a:t>
            </a:r>
            <a:r>
              <a:rPr lang="en-US" sz="1200" kern="1200" dirty="0">
                <a:solidFill>
                  <a:schemeClr val="tx1"/>
                </a:solidFill>
                <a:effectLst/>
                <a:latin typeface="+mn-lt"/>
                <a:ea typeface="+mn-ea"/>
                <a:cs typeface="+mn-cs"/>
              </a:rPr>
              <a:t> Uses Special Purpose Vehicles (SPVs) to bypass traditional accredited investor barriers, granting retail investors exposure to late-stage private powerhouses like OpenAI.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Robinhood Ventures Fund 2 (Seed &amp; Series A):</a:t>
            </a:r>
            <a:r>
              <a:rPr lang="en-US" sz="1200" kern="1200" dirty="0">
                <a:solidFill>
                  <a:schemeClr val="tx1"/>
                </a:solidFill>
                <a:effectLst/>
                <a:latin typeface="+mn-lt"/>
                <a:ea typeface="+mn-ea"/>
                <a:cs typeface="+mn-cs"/>
              </a:rPr>
              <a:t> Partnering with seed accelerators like Y Combinator to allow retail capital access to companies valued in the tens of millions. </a:t>
            </a:r>
          </a:p>
          <a:p>
            <a:pPr lvl="0"/>
            <a:r>
              <a:rPr lang="en-US" sz="1200" kern="1200" dirty="0">
                <a:solidFill>
                  <a:schemeClr val="tx1"/>
                </a:solidFill>
                <a:effectLst/>
                <a:latin typeface="+mn-lt"/>
                <a:ea typeface="+mn-ea"/>
                <a:cs typeface="+mn-cs"/>
              </a:rPr>
              <a:t>This shifts retail investing from passive public trading to early-stage capital formation.</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6</a:t>
            </a:fld>
            <a:endParaRPr lang="en-US"/>
          </a:p>
        </p:txBody>
      </p:sp>
    </p:spTree>
    <p:extLst>
      <p:ext uri="{BB962C8B-B14F-4D97-AF65-F5344CB8AC3E}">
        <p14:creationId xmlns:p14="http://schemas.microsoft.com/office/powerpoint/2010/main" val="600628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let's discuss the fundamental shift taking place in AI: </a:t>
            </a:r>
            <a:r>
              <a:rPr lang="en-US" sz="1200" b="1" kern="1200" dirty="0">
                <a:solidFill>
                  <a:schemeClr val="tx1"/>
                </a:solidFill>
                <a:effectLst/>
                <a:latin typeface="+mn-lt"/>
                <a:ea typeface="+mn-ea"/>
                <a:cs typeface="+mn-cs"/>
              </a:rPr>
              <a:t>Agentic Trading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Legacy Trading</a:t>
            </a:r>
            <a:r>
              <a:rPr lang="en-US" sz="1200" kern="1200" dirty="0">
                <a:solidFill>
                  <a:schemeClr val="tx1"/>
                </a:solidFill>
                <a:effectLst/>
                <a:latin typeface="+mn-lt"/>
                <a:ea typeface="+mn-ea"/>
                <a:cs typeface="+mn-cs"/>
              </a:rPr>
              <a:t> framework, a human trader looks at technical charts during waking hours, manually entering orders with significant friction and time constraints. </a:t>
            </a:r>
          </a:p>
          <a:p>
            <a:pPr lvl="0"/>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Agentic Trading</a:t>
            </a:r>
            <a:r>
              <a:rPr lang="en-US" sz="1200" kern="1200" dirty="0">
                <a:solidFill>
                  <a:schemeClr val="tx1"/>
                </a:solidFill>
                <a:effectLst/>
                <a:latin typeface="+mn-lt"/>
                <a:ea typeface="+mn-ea"/>
                <a:cs typeface="+mn-cs"/>
              </a:rPr>
              <a:t> model, the human simply sets macro parameters or rules. An AI agent (e.g., Claude or Codex operating via Model Context Protocol servers) continuously monitors global data feeds, analyzes market signals, and executes trades autonomously 24/7. </a:t>
            </a:r>
          </a:p>
          <a:p>
            <a:pPr lvl="0"/>
            <a:r>
              <a:rPr lang="en-US" sz="1200" b="1" kern="1200" dirty="0">
                <a:solidFill>
                  <a:schemeClr val="tx1"/>
                </a:solidFill>
                <a:effectLst/>
                <a:latin typeface="+mn-lt"/>
                <a:ea typeface="+mn-ea"/>
                <a:cs typeface="+mn-cs"/>
              </a:rPr>
              <a:t>Scale Metric:</a:t>
            </a:r>
            <a:r>
              <a:rPr lang="en-US" sz="1200" kern="1200" dirty="0">
                <a:solidFill>
                  <a:schemeClr val="tx1"/>
                </a:solidFill>
                <a:effectLst/>
                <a:latin typeface="+mn-lt"/>
                <a:ea typeface="+mn-ea"/>
                <a:cs typeface="+mn-cs"/>
              </a:rPr>
              <a:t> Over </a:t>
            </a:r>
            <a:r>
              <a:rPr lang="en-US" sz="1200" b="1" kern="1200" dirty="0">
                <a:solidFill>
                  <a:schemeClr val="tx1"/>
                </a:solidFill>
                <a:effectLst/>
                <a:latin typeface="+mn-lt"/>
                <a:ea typeface="+mn-ea"/>
                <a:cs typeface="+mn-cs"/>
              </a:rPr>
              <a:t>100,000 'Agentic Accounts'</a:t>
            </a:r>
            <a:r>
              <a:rPr lang="en-US" sz="1200" kern="1200" dirty="0">
                <a:solidFill>
                  <a:schemeClr val="tx1"/>
                </a:solidFill>
                <a:effectLst/>
                <a:latin typeface="+mn-lt"/>
                <a:ea typeface="+mn-ea"/>
                <a:cs typeface="+mn-cs"/>
              </a:rPr>
              <a:t> have already been created on Robinhood by users operating API-driven trading bots, signaling a major paradigm shift toward autonomous finance.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7</a:t>
            </a:fld>
            <a:endParaRPr lang="en-US"/>
          </a:p>
        </p:txBody>
      </p:sp>
    </p:spTree>
    <p:extLst>
      <p:ext uri="{BB962C8B-B14F-4D97-AF65-F5344CB8AC3E}">
        <p14:creationId xmlns:p14="http://schemas.microsoft.com/office/powerpoint/2010/main" val="4119433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does this shift affect wealth management and financial advisors? </a:t>
            </a:r>
          </a:p>
          <a:p>
            <a:pPr lvl="0"/>
            <a:r>
              <a:rPr lang="en-US" sz="1200" kern="1200" dirty="0">
                <a:solidFill>
                  <a:schemeClr val="tx1"/>
                </a:solidFill>
                <a:effectLst/>
                <a:latin typeface="+mn-lt"/>
                <a:ea typeface="+mn-ea"/>
                <a:cs typeface="+mn-cs"/>
              </a:rPr>
              <a:t>This slide compares </a:t>
            </a:r>
            <a:r>
              <a:rPr lang="en-US" sz="1200" b="1" kern="1200" dirty="0">
                <a:solidFill>
                  <a:schemeClr val="tx1"/>
                </a:solidFill>
                <a:effectLst/>
                <a:latin typeface="+mn-lt"/>
                <a:ea typeface="+mn-ea"/>
                <a:cs typeface="+mn-cs"/>
              </a:rPr>
              <a:t>Robo-Advisors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AI Agents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Human Fiduciaries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Robo-Advisors:</a:t>
            </a:r>
            <a:r>
              <a:rPr lang="en-US" sz="1200" kern="1200" dirty="0">
                <a:solidFill>
                  <a:schemeClr val="tx1"/>
                </a:solidFill>
                <a:effectLst/>
                <a:latin typeface="+mn-lt"/>
                <a:ea typeface="+mn-ea"/>
                <a:cs typeface="+mn-cs"/>
              </a:rPr>
              <a:t> Charge ~25 bps of AUM for basic, rule-based portfolio management. They are increasingly merging into AI frameworks.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Fiduciaries:</a:t>
            </a:r>
            <a:r>
              <a:rPr lang="en-US" sz="1200" kern="1200" dirty="0">
                <a:solidFill>
                  <a:schemeClr val="tx1"/>
                </a:solidFill>
                <a:effectLst/>
                <a:latin typeface="+mn-lt"/>
                <a:ea typeface="+mn-ea"/>
                <a:cs typeface="+mn-cs"/>
              </a:rPr>
              <a:t> Charge 1%+ of AUM. While necessary for complex legal or estate needs, their high fees will push them into ultra-wealthy 'concierge-only' roles.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AI Agents:</a:t>
            </a:r>
            <a:r>
              <a:rPr lang="en-US" sz="1200" kern="1200" dirty="0">
                <a:solidFill>
                  <a:schemeClr val="tx1"/>
                </a:solidFill>
                <a:effectLst/>
                <a:latin typeface="+mn-lt"/>
                <a:ea typeface="+mn-ea"/>
                <a:cs typeface="+mn-cs"/>
              </a:rPr>
              <a:t> Operating at near-zero compute costs, AI agents perform real-time, complex data tasks—such as executing an automated $16,000 tax-loss harvest in seconds. </a:t>
            </a:r>
          </a:p>
          <a:p>
            <a:pPr lvl="0"/>
            <a:r>
              <a:rPr lang="en-US" sz="1200" kern="1200" dirty="0">
                <a:solidFill>
                  <a:schemeClr val="tx1"/>
                </a:solidFill>
                <a:effectLst/>
                <a:latin typeface="+mn-lt"/>
                <a:ea typeface="+mn-ea"/>
                <a:cs typeface="+mn-cs"/>
              </a:rPr>
              <a:t>As AI tools mature, they will compress advisory fees across the industry while elevating automated execution for retail accounts.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8</a:t>
            </a:fld>
            <a:endParaRPr lang="en-US"/>
          </a:p>
        </p:txBody>
      </p:sp>
    </p:spTree>
    <p:extLst>
      <p:ext uri="{BB962C8B-B14F-4D97-AF65-F5344CB8AC3E}">
        <p14:creationId xmlns:p14="http://schemas.microsoft.com/office/powerpoint/2010/main" val="2266568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Next, we look at the infrastructure layer enabling global, borderless finance: </a:t>
            </a:r>
            <a:r>
              <a:rPr lang="en-US" sz="1200" b="1" kern="1200" dirty="0">
                <a:solidFill>
                  <a:schemeClr val="tx1"/>
                </a:solidFill>
                <a:effectLst/>
                <a:latin typeface="+mn-lt"/>
                <a:ea typeface="+mn-ea"/>
                <a:cs typeface="+mn-cs"/>
              </a:rPr>
              <a:t>Robinhood Chain and Tokenization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While U.S. adoption may feel like moving 'from a fast train to a high-speed train,' emerging markets will adopt tokenization rapidly due to underdeveloped banking infrastructure: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Global Reach:</a:t>
            </a:r>
            <a:r>
              <a:rPr lang="en-US" sz="1200" kern="1200" dirty="0">
                <a:solidFill>
                  <a:schemeClr val="tx1"/>
                </a:solidFill>
                <a:effectLst/>
                <a:latin typeface="+mn-lt"/>
                <a:ea typeface="+mn-ea"/>
                <a:cs typeface="+mn-cs"/>
              </a:rPr>
              <a:t> Live in over 120 countries, bringing financial services directly to unbanked populations.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Tokenized Equities:</a:t>
            </a:r>
            <a:r>
              <a:rPr lang="en-US" sz="1200" kern="1200" dirty="0">
                <a:solidFill>
                  <a:schemeClr val="tx1"/>
                </a:solidFill>
                <a:effectLst/>
                <a:latin typeface="+mn-lt"/>
                <a:ea typeface="+mn-ea"/>
                <a:cs typeface="+mn-cs"/>
              </a:rPr>
              <a:t> Enabling 24/7 fractional trading of top U.S. stocks (like Tesla and Nvidia) outside standard market hours.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Stablecoin Backbone:</a:t>
            </a:r>
            <a:r>
              <a:rPr lang="en-US" sz="1200" kern="1200" dirty="0">
                <a:solidFill>
                  <a:schemeClr val="tx1"/>
                </a:solidFill>
                <a:effectLst/>
                <a:latin typeface="+mn-lt"/>
                <a:ea typeface="+mn-ea"/>
                <a:cs typeface="+mn-cs"/>
              </a:rPr>
              <a:t> Powered by direct USDG swaps through Paxos partnerships.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DeFi Primitives:</a:t>
            </a:r>
            <a:r>
              <a:rPr lang="en-US" sz="1200" kern="1200" dirty="0">
                <a:solidFill>
                  <a:schemeClr val="tx1"/>
                </a:solidFill>
                <a:effectLst/>
                <a:latin typeface="+mn-lt"/>
                <a:ea typeface="+mn-ea"/>
                <a:cs typeface="+mn-cs"/>
              </a:rPr>
              <a:t> Integrating collateralized lending and direct asset swaps via Uniswap liquidity pools.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9</a:t>
            </a:fld>
            <a:endParaRPr lang="en-US"/>
          </a:p>
        </p:txBody>
      </p:sp>
    </p:spTree>
    <p:extLst>
      <p:ext uri="{BB962C8B-B14F-4D97-AF65-F5344CB8AC3E}">
        <p14:creationId xmlns:p14="http://schemas.microsoft.com/office/powerpoint/2010/main" val="2042462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AI isn't just changing customer products; it's completely transforming internal software engineering. </a:t>
            </a:r>
          </a:p>
          <a:p>
            <a:pPr lvl="0"/>
            <a:r>
              <a:rPr lang="en-US" sz="1200" b="1" kern="1200" dirty="0">
                <a:solidFill>
                  <a:schemeClr val="tx1"/>
                </a:solidFill>
                <a:effectLst/>
                <a:latin typeface="+mn-lt"/>
                <a:ea typeface="+mn-ea"/>
                <a:cs typeface="+mn-cs"/>
              </a:rPr>
              <a:t>Legacy Software Engineering:</a:t>
            </a:r>
            <a:r>
              <a:rPr lang="en-US" sz="1200" kern="1200" dirty="0">
                <a:solidFill>
                  <a:schemeClr val="tx1"/>
                </a:solidFill>
                <a:effectLst/>
                <a:latin typeface="+mn-lt"/>
                <a:ea typeface="+mn-ea"/>
                <a:cs typeface="+mn-cs"/>
              </a:rPr>
              <a:t> Human writes code -&gt; Human reviews code -&gt; Product ships. </a:t>
            </a:r>
          </a:p>
          <a:p>
            <a:pPr lvl="0"/>
            <a:r>
              <a:rPr lang="en-US" sz="1200" b="1" kern="1200" dirty="0">
                <a:solidFill>
                  <a:schemeClr val="tx1"/>
                </a:solidFill>
                <a:effectLst/>
                <a:latin typeface="+mn-lt"/>
                <a:ea typeface="+mn-ea"/>
                <a:cs typeface="+mn-cs"/>
              </a:rPr>
              <a:t>AI-First Engineering:</a:t>
            </a:r>
            <a:r>
              <a:rPr lang="en-US" sz="1200" kern="1200" dirty="0">
                <a:solidFill>
                  <a:schemeClr val="tx1"/>
                </a:solidFill>
                <a:effectLst/>
                <a:latin typeface="+mn-lt"/>
                <a:ea typeface="+mn-ea"/>
                <a:cs typeface="+mn-cs"/>
              </a:rPr>
              <a:t> Human acts as a systems manager over a swarm of AI agents. AI agents write the code, AI agents review the code, and products ship significantly faster. </a:t>
            </a:r>
          </a:p>
          <a:p>
            <a:pPr lvl="0"/>
            <a:r>
              <a:rPr lang="en-US" sz="1200" kern="1200" dirty="0">
                <a:solidFill>
                  <a:schemeClr val="tx1"/>
                </a:solidFill>
                <a:effectLst/>
                <a:latin typeface="+mn-lt"/>
                <a:ea typeface="+mn-ea"/>
                <a:cs typeface="+mn-cs"/>
              </a:rPr>
              <a:t>At Robinhood, internal adoption of AI-assisted engineering is near 100%. The key leadership metric for modern engineering leads has become: </a:t>
            </a:r>
            <a:r>
              <a:rPr lang="en-US" sz="1200" i="1" kern="1200" dirty="0">
                <a:solidFill>
                  <a:schemeClr val="tx1"/>
                </a:solidFill>
                <a:effectLst/>
                <a:latin typeface="+mn-lt"/>
                <a:ea typeface="+mn-ea"/>
                <a:cs typeface="+mn-cs"/>
              </a:rPr>
              <a:t>'How many agents can you employ and keep busy while you are sleeping?'</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10</a:t>
            </a:fld>
            <a:endParaRPr lang="en-US"/>
          </a:p>
        </p:txBody>
      </p:sp>
    </p:spTree>
    <p:extLst>
      <p:ext uri="{BB962C8B-B14F-4D97-AF65-F5344CB8AC3E}">
        <p14:creationId xmlns:p14="http://schemas.microsoft.com/office/powerpoint/2010/main" val="3457699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executives manage an organization at this velocity? Vlad Tenev uses </a:t>
            </a:r>
            <a:r>
              <a:rPr lang="en-US" sz="1200" b="1" kern="1200" dirty="0">
                <a:solidFill>
                  <a:schemeClr val="tx1"/>
                </a:solidFill>
                <a:effectLst/>
                <a:latin typeface="+mn-lt"/>
                <a:ea typeface="+mn-ea"/>
                <a:cs typeface="+mn-cs"/>
              </a:rPr>
              <a:t>The Barbell Management Approach</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Effective leaders avoid middle-management layers and operate at the absolute extremes of scale and detail: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Extreme Scale (Output-Driven Architecture):</a:t>
            </a:r>
            <a:r>
              <a:rPr lang="en-US" sz="1200" kern="1200" dirty="0">
                <a:solidFill>
                  <a:schemeClr val="tx1"/>
                </a:solidFill>
                <a:effectLst/>
                <a:latin typeface="+mn-lt"/>
                <a:ea typeface="+mn-ea"/>
                <a:cs typeface="+mn-cs"/>
              </a:rPr>
              <a:t> Weekly Sunday journaling focused purely on required business outputs rather than reactive fire-fighting. High-signal automated dashboards track core performance metrics.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Extreme Detail (Granular Inspection):</a:t>
            </a:r>
            <a:r>
              <a:rPr lang="en-US" sz="1200" kern="1200" dirty="0">
                <a:solidFill>
                  <a:schemeClr val="tx1"/>
                </a:solidFill>
                <a:effectLst/>
                <a:latin typeface="+mn-lt"/>
                <a:ea typeface="+mn-ea"/>
                <a:cs typeface="+mn-cs"/>
              </a:rPr>
              <a:t> Directly reading raw code commits, reviewing support tickets, reading community feedback on Reddit, and speaking with interns to bypass reporting filters.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11</a:t>
            </a:fld>
            <a:endParaRPr lang="en-US"/>
          </a:p>
        </p:txBody>
      </p:sp>
    </p:spTree>
    <p:extLst>
      <p:ext uri="{BB962C8B-B14F-4D97-AF65-F5344CB8AC3E}">
        <p14:creationId xmlns:p14="http://schemas.microsoft.com/office/powerpoint/2010/main" val="4275168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Underpinning this entire framework is a philosophical view on AI development: </a:t>
            </a:r>
            <a:r>
              <a:rPr lang="en-US" sz="1200" b="1" kern="1200" dirty="0">
                <a:solidFill>
                  <a:schemeClr val="tx1"/>
                </a:solidFill>
                <a:effectLst/>
                <a:latin typeface="+mn-lt"/>
                <a:ea typeface="+mn-ea"/>
                <a:cs typeface="+mn-cs"/>
              </a:rPr>
              <a:t>Mathematical Super-Intelligence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Financial markets are the first major economic activity that can be fully solved through pure mathematical logic. </a:t>
            </a:r>
          </a:p>
          <a:p>
            <a:pPr lvl="0"/>
            <a:r>
              <a:rPr lang="en-US" sz="1200" kern="1200" dirty="0">
                <a:solidFill>
                  <a:schemeClr val="tx1"/>
                </a:solidFill>
                <a:effectLst/>
                <a:latin typeface="+mn-lt"/>
                <a:ea typeface="+mn-ea"/>
                <a:cs typeface="+mn-cs"/>
              </a:rPr>
              <a:t>Language models can introduce socioeconomic or verbal biases. By grounding AI models in pure mathematical problem-solving, algorithms remain egalitarian, objective, and generalizable across all global market conditions.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12</a:t>
            </a:fld>
            <a:endParaRPr lang="en-US"/>
          </a:p>
        </p:txBody>
      </p:sp>
    </p:spTree>
    <p:extLst>
      <p:ext uri="{BB962C8B-B14F-4D97-AF65-F5344CB8AC3E}">
        <p14:creationId xmlns:p14="http://schemas.microsoft.com/office/powerpoint/2010/main" val="609046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Bringing all these threads together, we see the vision for </a:t>
            </a:r>
            <a:r>
              <a:rPr lang="en-US" sz="1200" b="1" kern="1200" dirty="0">
                <a:solidFill>
                  <a:schemeClr val="tx1"/>
                </a:solidFill>
                <a:effectLst/>
                <a:latin typeface="+mn-lt"/>
                <a:ea typeface="+mn-ea"/>
                <a:cs typeface="+mn-cs"/>
              </a:rPr>
              <a:t>2035</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Robinhood is evolving beyond a retail brokerage into an all-encompassing financial operating system: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User</a:t>
            </a:r>
            <a:r>
              <a:rPr lang="en-US" sz="1200" kern="1200" dirty="0">
                <a:solidFill>
                  <a:schemeClr val="tx1"/>
                </a:solidFill>
                <a:effectLst/>
                <a:latin typeface="+mn-lt"/>
                <a:ea typeface="+mn-ea"/>
                <a:cs typeface="+mn-cs"/>
              </a:rPr>
              <a:t> sits at the center, supported by </a:t>
            </a:r>
            <a:r>
              <a:rPr lang="en-US" sz="1200" b="1" kern="1200" dirty="0">
                <a:solidFill>
                  <a:schemeClr val="tx1"/>
                </a:solidFill>
                <a:effectLst/>
                <a:latin typeface="+mn-lt"/>
                <a:ea typeface="+mn-ea"/>
                <a:cs typeface="+mn-cs"/>
              </a:rPr>
              <a:t>Autonomous Agentic Trading</a:t>
            </a:r>
            <a:r>
              <a:rPr lang="en-US" sz="1200" kern="1200" dirty="0">
                <a:solidFill>
                  <a:schemeClr val="tx1"/>
                </a:solidFill>
                <a:effectLst/>
                <a:latin typeface="+mn-lt"/>
                <a:ea typeface="+mn-ea"/>
                <a:cs typeface="+mn-cs"/>
              </a:rPr>
              <a:t> that manages yield and tax optimization in real 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Private Markets &amp; Blockchain Rails</a:t>
            </a:r>
            <a:r>
              <a:rPr lang="en-US" sz="1200" kern="1200" dirty="0">
                <a:solidFill>
                  <a:schemeClr val="tx1"/>
                </a:solidFill>
                <a:effectLst/>
                <a:latin typeface="+mn-lt"/>
                <a:ea typeface="+mn-ea"/>
                <a:cs typeface="+mn-cs"/>
              </a:rPr>
              <a:t> offer 24/7 global access to seed-stage investments and tokenized real-world assets.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Integrated Physical Infrastructure</a:t>
            </a:r>
            <a:r>
              <a:rPr lang="en-US" sz="1200" kern="1200" dirty="0">
                <a:solidFill>
                  <a:schemeClr val="tx1"/>
                </a:solidFill>
                <a:effectLst/>
                <a:latin typeface="+mn-lt"/>
                <a:ea typeface="+mn-ea"/>
                <a:cs typeface="+mn-cs"/>
              </a:rPr>
              <a:t>—including retail banking and credit cards—creates a complete lifecycle platform. </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13</a:t>
            </a:fld>
            <a:endParaRPr lang="en-US"/>
          </a:p>
        </p:txBody>
      </p:sp>
    </p:spTree>
    <p:extLst>
      <p:ext uri="{BB962C8B-B14F-4D97-AF65-F5344CB8AC3E}">
        <p14:creationId xmlns:p14="http://schemas.microsoft.com/office/powerpoint/2010/main" val="3577551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our discussion today, let's review the four overarching takeaways from the presentation: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Democratization Goal:</a:t>
            </a:r>
            <a:r>
              <a:rPr lang="en-US" sz="1200" kern="1200" dirty="0">
                <a:solidFill>
                  <a:schemeClr val="tx1"/>
                </a:solidFill>
                <a:effectLst/>
                <a:latin typeface="+mn-lt"/>
                <a:ea typeface="+mn-ea"/>
                <a:cs typeface="+mn-cs"/>
              </a:rPr>
              <a:t> Expanding household equity participation from 65% toward the 95%+ target.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Lifelong Engagement:</a:t>
            </a:r>
            <a:r>
              <a:rPr lang="en-US" sz="1200" kern="1200" dirty="0">
                <a:solidFill>
                  <a:schemeClr val="tx1"/>
                </a:solidFill>
                <a:effectLst/>
                <a:latin typeface="+mn-lt"/>
                <a:ea typeface="+mn-ea"/>
                <a:cs typeface="+mn-cs"/>
              </a:rPr>
              <a:t> Capturing asset flows across every stage of life—from custodial childhood accounts to retirement and trust planning.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Agentic Execution:</a:t>
            </a:r>
            <a:r>
              <a:rPr lang="en-US" sz="1200" kern="1200" dirty="0">
                <a:solidFill>
                  <a:schemeClr val="tx1"/>
                </a:solidFill>
                <a:effectLst/>
                <a:latin typeface="+mn-lt"/>
                <a:ea typeface="+mn-ea"/>
                <a:cs typeface="+mn-cs"/>
              </a:rPr>
              <a:t> Leveraging over 100,000 AI agent trading accounts and adopting AI-first engineering internally.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Global Tokenization:</a:t>
            </a:r>
            <a:r>
              <a:rPr lang="en-US" sz="1200" kern="1200" dirty="0">
                <a:solidFill>
                  <a:schemeClr val="tx1"/>
                </a:solidFill>
                <a:effectLst/>
                <a:latin typeface="+mn-lt"/>
                <a:ea typeface="+mn-ea"/>
                <a:cs typeface="+mn-cs"/>
              </a:rPr>
              <a:t> Building 24/7 tokenized market infrastructure on Robinhood Chain to power a borderless ownership economy. </a:t>
            </a:r>
          </a:p>
          <a:p>
            <a:pPr lvl="0"/>
            <a:r>
              <a:rPr lang="en-US" sz="1200" kern="1200" dirty="0">
                <a:solidFill>
                  <a:schemeClr val="tx1"/>
                </a:solidFill>
                <a:effectLst/>
                <a:latin typeface="+mn-lt"/>
                <a:ea typeface="+mn-ea"/>
                <a:cs typeface="+mn-cs"/>
              </a:rPr>
              <a:t>Thank you for your time, and I am happy to open the floor to any questions!</a:t>
            </a:r>
          </a:p>
          <a:p>
            <a:endParaRPr lang="en-US" dirty="0"/>
          </a:p>
        </p:txBody>
      </p:sp>
      <p:sp>
        <p:nvSpPr>
          <p:cNvPr id="4" name="Slide Number Placeholder 3"/>
          <p:cNvSpPr>
            <a:spLocks noGrp="1"/>
          </p:cNvSpPr>
          <p:nvPr>
            <p:ph type="sldNum" sz="quarter" idx="5"/>
          </p:nvPr>
        </p:nvSpPr>
        <p:spPr/>
        <p:txBody>
          <a:bodyPr/>
          <a:lstStyle/>
          <a:p>
            <a:fld id="{B92BF7BC-F8CB-434C-B06A-A50A369D3061}" type="slidenum">
              <a:rPr lang="en-US" smtClean="0"/>
              <a:t>14</a:t>
            </a:fld>
            <a:endParaRPr lang="en-US"/>
          </a:p>
        </p:txBody>
      </p:sp>
    </p:spTree>
    <p:extLst>
      <p:ext uri="{BB962C8B-B14F-4D97-AF65-F5344CB8AC3E}">
        <p14:creationId xmlns:p14="http://schemas.microsoft.com/office/powerpoint/2010/main" val="3768523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A176A-0E42-3EAC-25B3-6CE9C9052A5E}"/>
              </a:ext>
            </a:extLst>
          </p:cNvPr>
          <p:cNvSpPr>
            <a:spLocks noGrp="1"/>
          </p:cNvSpPr>
          <p:nvPr>
            <p:ph type="dt" sz="half" idx="10"/>
          </p:nvPr>
        </p:nvSpPr>
        <p:spPr/>
        <p:txBody>
          <a:bodyPr/>
          <a:lstStyle/>
          <a:p>
            <a:fld id="{7ADBADDB-29C1-4C8A-8C22-0469E2CDFBA3}" type="datetimeFigureOut">
              <a:rPr lang="en-US" smtClean="0"/>
              <a:t>10/19/2026</a:t>
            </a:fld>
            <a:endParaRPr lang="en-US"/>
          </a:p>
        </p:txBody>
      </p:sp>
      <p:sp>
        <p:nvSpPr>
          <p:cNvPr id="3" name="Footer Placeholder 2">
            <a:extLst>
              <a:ext uri="{FF2B5EF4-FFF2-40B4-BE49-F238E27FC236}">
                <a16:creationId xmlns:a16="http://schemas.microsoft.com/office/drawing/2014/main" id="{B919FDFB-6D95-2E4E-BAEE-EE1CE3AA9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FCE96F-74EF-6F42-ACDF-621BFB61D6A0}"/>
              </a:ext>
            </a:extLst>
          </p:cNvPr>
          <p:cNvSpPr>
            <a:spLocks noGrp="1"/>
          </p:cNvSpPr>
          <p:nvPr>
            <p:ph type="sldNum" sz="quarter" idx="12"/>
          </p:nvPr>
        </p:nvSpPr>
        <p:spPr/>
        <p:txBody>
          <a:bodyPr/>
          <a:lstStyle/>
          <a:p>
            <a:fld id="{6928434D-9575-4751-8FD0-E2EFEC7ACE12}" type="slidenum">
              <a:rPr lang="en-US" smtClean="0"/>
              <a:t>‹#›</a:t>
            </a:fld>
            <a:endParaRPr lang="en-US"/>
          </a:p>
        </p:txBody>
      </p:sp>
    </p:spTree>
    <p:extLst>
      <p:ext uri="{BB962C8B-B14F-4D97-AF65-F5344CB8AC3E}">
        <p14:creationId xmlns:p14="http://schemas.microsoft.com/office/powerpoint/2010/main" val="39187861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BA1E37-AB01-DC2F-097E-8CCE8197D6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FA7D2D-4B4B-01A5-FD6C-5139A6A32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A7599-9E51-F7EF-F401-D178D4350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DBADDB-29C1-4C8A-8C22-0469E2CDFBA3}" type="datetimeFigureOut">
              <a:rPr lang="en-US" smtClean="0"/>
              <a:t>10/19/2026</a:t>
            </a:fld>
            <a:endParaRPr lang="en-US"/>
          </a:p>
        </p:txBody>
      </p:sp>
      <p:sp>
        <p:nvSpPr>
          <p:cNvPr id="5" name="Footer Placeholder 4">
            <a:extLst>
              <a:ext uri="{FF2B5EF4-FFF2-40B4-BE49-F238E27FC236}">
                <a16:creationId xmlns:a16="http://schemas.microsoft.com/office/drawing/2014/main" id="{ED9F0A57-A12A-5AE6-9BC6-F46748F563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D09277-60B3-CCE2-1261-9A5C99B6D1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28434D-9575-4751-8FD0-E2EFEC7ACE12}" type="slidenum">
              <a:rPr lang="en-US" smtClean="0"/>
              <a:t>‹#›</a:t>
            </a:fld>
            <a:endParaRPr lang="en-US"/>
          </a:p>
        </p:txBody>
      </p:sp>
    </p:spTree>
    <p:extLst>
      <p:ext uri="{BB962C8B-B14F-4D97-AF65-F5344CB8AC3E}">
        <p14:creationId xmlns:p14="http://schemas.microsoft.com/office/powerpoint/2010/main" val="89217350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8A42C7-2294-4509-B51C-6E8E79617B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FCE215-081C-CD78-0830-5AB47ABD63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8A45F7-17A3-E42E-440A-201556F579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69C39E-2011-CFF1-4561-F0899B633B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5191C4-0845-02ED-570C-BE85EE467C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F4288A-1C67-4788-60F6-40026A713B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B85DEE-5867-C064-E273-5085E6E303B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1836A0-E2D0-DCCE-25C3-44A1774702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0524AB-322A-9228-76BE-A19FEFA1F2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5E7E49-909E-71FA-B8EE-A443EE098D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AFE169-6C8E-52B5-1F59-D2579EC44B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9BA713-7163-66DB-EA36-C74EBE9550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3523FD-A920-257D-3DC4-593D428E21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A518FE-55C1-81FE-16AB-AD22B2A27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804482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1819</Words>
  <Application>Microsoft Office PowerPoint</Application>
  <PresentationFormat>寬螢幕</PresentationFormat>
  <Paragraphs>92</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2026-08-24T08:56:50Z</dcterms:created>
  <dcterms:modified xsi:type="dcterms:W3CDTF">2026-10-19T15:44:24Z</dcterms:modified>
</cp:coreProperties>
</file>