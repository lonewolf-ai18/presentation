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94ED70-5D05-454C-AA5C-90D7DCCB8DED}" v="23" dt="2026-08-31T08:13:16.4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77350"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31T12:26:35.781" v="145" actId="167"/>
      <pc:docMkLst>
        <pc:docMk/>
      </pc:docMkLst>
      <pc:sldChg chg="addSp delSp modSp mod modNotes modNotesTx">
        <pc:chgData name="Lai, Wilson" userId="2840974a-0d84-4886-90a9-9a3ed79f3a48" providerId="ADAL" clId="{9F23B798-9E84-4552-BA63-E776E805C424}" dt="2026-08-31T12:26:35.781" v="145" actId="167"/>
        <pc:sldMkLst>
          <pc:docMk/>
          <pc:sldMk cId="0" sldId="257"/>
        </pc:sldMkLst>
        <pc:picChg chg="del">
          <ac:chgData name="Lai, Wilson" userId="2840974a-0d84-4886-90a9-9a3ed79f3a48" providerId="ADAL" clId="{9F23B798-9E84-4552-BA63-E776E805C424}" dt="2026-08-31T07:15:02.185" v="0" actId="21"/>
          <ac:picMkLst>
            <pc:docMk/>
            <pc:sldMk cId="0" sldId="257"/>
            <ac:picMk id="2" creationId="{00000000-0000-0000-0000-000000000000}"/>
          </ac:picMkLst>
        </pc:picChg>
        <pc:picChg chg="add ord">
          <ac:chgData name="Lai, Wilson" userId="2840974a-0d84-4886-90a9-9a3ed79f3a48" providerId="ADAL" clId="{9F23B798-9E84-4552-BA63-E776E805C424}" dt="2026-08-31T12:26:35.781" v="145" actId="167"/>
          <ac:picMkLst>
            <pc:docMk/>
            <pc:sldMk cId="0" sldId="257"/>
            <ac:picMk id="7" creationId="{DACB997F-5A98-B5C2-30E9-086496C1E4E6}"/>
          </ac:picMkLst>
        </pc:picChg>
      </pc:sldChg>
      <pc:sldChg chg="addSp delSp mod modNotes modNotesTx">
        <pc:chgData name="Lai, Wilson" userId="2840974a-0d84-4886-90a9-9a3ed79f3a48" providerId="ADAL" clId="{9F23B798-9E84-4552-BA63-E776E805C424}" dt="2026-08-31T08:15:49.112" v="142" actId="14"/>
        <pc:sldMkLst>
          <pc:docMk/>
          <pc:sldMk cId="0" sldId="258"/>
        </pc:sldMkLst>
        <pc:picChg chg="del">
          <ac:chgData name="Lai, Wilson" userId="2840974a-0d84-4886-90a9-9a3ed79f3a48" providerId="ADAL" clId="{9F23B798-9E84-4552-BA63-E776E805C424}" dt="2026-08-31T07:15:12.389" v="2" actId="21"/>
          <ac:picMkLst>
            <pc:docMk/>
            <pc:sldMk cId="0" sldId="258"/>
            <ac:picMk id="2" creationId="{00000000-0000-0000-0000-000000000000}"/>
          </ac:picMkLst>
        </pc:picChg>
        <pc:picChg chg="add">
          <ac:chgData name="Lai, Wilson" userId="2840974a-0d84-4886-90a9-9a3ed79f3a48" providerId="ADAL" clId="{9F23B798-9E84-4552-BA63-E776E805C424}" dt="2026-08-31T07:15:21.265" v="3" actId="22"/>
          <ac:picMkLst>
            <pc:docMk/>
            <pc:sldMk cId="0" sldId="258"/>
            <ac:picMk id="4" creationId="{EDC66D94-DD54-DB9B-8DC3-162EAF632ECB}"/>
          </ac:picMkLst>
        </pc:picChg>
      </pc:sldChg>
      <pc:sldChg chg="addSp delSp mod modNotes modNotesTx">
        <pc:chgData name="Lai, Wilson" userId="2840974a-0d84-4886-90a9-9a3ed79f3a48" providerId="ADAL" clId="{9F23B798-9E84-4552-BA63-E776E805C424}" dt="2026-08-31T08:15:37.019" v="136" actId="14"/>
        <pc:sldMkLst>
          <pc:docMk/>
          <pc:sldMk cId="0" sldId="259"/>
        </pc:sldMkLst>
        <pc:picChg chg="del">
          <ac:chgData name="Lai, Wilson" userId="2840974a-0d84-4886-90a9-9a3ed79f3a48" providerId="ADAL" clId="{9F23B798-9E84-4552-BA63-E776E805C424}" dt="2026-08-31T07:15:24.522" v="4" actId="21"/>
          <ac:picMkLst>
            <pc:docMk/>
            <pc:sldMk cId="0" sldId="259"/>
            <ac:picMk id="2" creationId="{00000000-0000-0000-0000-000000000000}"/>
          </ac:picMkLst>
        </pc:picChg>
        <pc:picChg chg="add">
          <ac:chgData name="Lai, Wilson" userId="2840974a-0d84-4886-90a9-9a3ed79f3a48" providerId="ADAL" clId="{9F23B798-9E84-4552-BA63-E776E805C424}" dt="2026-08-31T07:15:34.757" v="5" actId="22"/>
          <ac:picMkLst>
            <pc:docMk/>
            <pc:sldMk cId="0" sldId="259"/>
            <ac:picMk id="4" creationId="{2BD7AFAC-5005-F1C4-9A00-3A66315769CE}"/>
          </ac:picMkLst>
        </pc:picChg>
      </pc:sldChg>
      <pc:sldChg chg="addSp delSp mod modNotes modNotesTx">
        <pc:chgData name="Lai, Wilson" userId="2840974a-0d84-4886-90a9-9a3ed79f3a48" providerId="ADAL" clId="{9F23B798-9E84-4552-BA63-E776E805C424}" dt="2026-08-31T08:15:21.646" v="130" actId="12"/>
        <pc:sldMkLst>
          <pc:docMk/>
          <pc:sldMk cId="0" sldId="260"/>
        </pc:sldMkLst>
        <pc:picChg chg="del">
          <ac:chgData name="Lai, Wilson" userId="2840974a-0d84-4886-90a9-9a3ed79f3a48" providerId="ADAL" clId="{9F23B798-9E84-4552-BA63-E776E805C424}" dt="2026-08-31T07:15:36.919" v="6" actId="21"/>
          <ac:picMkLst>
            <pc:docMk/>
            <pc:sldMk cId="0" sldId="260"/>
            <ac:picMk id="2" creationId="{00000000-0000-0000-0000-000000000000}"/>
          </ac:picMkLst>
        </pc:picChg>
        <pc:picChg chg="add">
          <ac:chgData name="Lai, Wilson" userId="2840974a-0d84-4886-90a9-9a3ed79f3a48" providerId="ADAL" clId="{9F23B798-9E84-4552-BA63-E776E805C424}" dt="2026-08-31T07:15:44.835" v="7" actId="22"/>
          <ac:picMkLst>
            <pc:docMk/>
            <pc:sldMk cId="0" sldId="260"/>
            <ac:picMk id="4" creationId="{BB5BC46B-F08E-E50D-1104-0639471E45E5}"/>
          </ac:picMkLst>
        </pc:picChg>
      </pc:sldChg>
      <pc:sldChg chg="addSp delSp mod modNotes modNotesTx">
        <pc:chgData name="Lai, Wilson" userId="2840974a-0d84-4886-90a9-9a3ed79f3a48" providerId="ADAL" clId="{9F23B798-9E84-4552-BA63-E776E805C424}" dt="2026-08-31T08:15:11.718" v="125" actId="14"/>
        <pc:sldMkLst>
          <pc:docMk/>
          <pc:sldMk cId="0" sldId="261"/>
        </pc:sldMkLst>
        <pc:picChg chg="del">
          <ac:chgData name="Lai, Wilson" userId="2840974a-0d84-4886-90a9-9a3ed79f3a48" providerId="ADAL" clId="{9F23B798-9E84-4552-BA63-E776E805C424}" dt="2026-08-31T07:15:47.412" v="8" actId="21"/>
          <ac:picMkLst>
            <pc:docMk/>
            <pc:sldMk cId="0" sldId="261"/>
            <ac:picMk id="2" creationId="{00000000-0000-0000-0000-000000000000}"/>
          </ac:picMkLst>
        </pc:picChg>
        <pc:picChg chg="add">
          <ac:chgData name="Lai, Wilson" userId="2840974a-0d84-4886-90a9-9a3ed79f3a48" providerId="ADAL" clId="{9F23B798-9E84-4552-BA63-E776E805C424}" dt="2026-08-31T07:16:00.249" v="9" actId="22"/>
          <ac:picMkLst>
            <pc:docMk/>
            <pc:sldMk cId="0" sldId="261"/>
            <ac:picMk id="4" creationId="{15E16030-93DE-EE72-2646-05B5409D5B45}"/>
          </ac:picMkLst>
        </pc:picChg>
      </pc:sldChg>
      <pc:sldChg chg="addSp delSp mod modNotes modNotesTx">
        <pc:chgData name="Lai, Wilson" userId="2840974a-0d84-4886-90a9-9a3ed79f3a48" providerId="ADAL" clId="{9F23B798-9E84-4552-BA63-E776E805C424}" dt="2026-08-31T08:14:56.520" v="119" actId="14"/>
        <pc:sldMkLst>
          <pc:docMk/>
          <pc:sldMk cId="0" sldId="262"/>
        </pc:sldMkLst>
        <pc:picChg chg="del">
          <ac:chgData name="Lai, Wilson" userId="2840974a-0d84-4886-90a9-9a3ed79f3a48" providerId="ADAL" clId="{9F23B798-9E84-4552-BA63-E776E805C424}" dt="2026-08-31T07:16:02.141" v="10" actId="21"/>
          <ac:picMkLst>
            <pc:docMk/>
            <pc:sldMk cId="0" sldId="262"/>
            <ac:picMk id="2" creationId="{00000000-0000-0000-0000-000000000000}"/>
          </ac:picMkLst>
        </pc:picChg>
        <pc:picChg chg="add">
          <ac:chgData name="Lai, Wilson" userId="2840974a-0d84-4886-90a9-9a3ed79f3a48" providerId="ADAL" clId="{9F23B798-9E84-4552-BA63-E776E805C424}" dt="2026-08-31T07:16:15.530" v="11" actId="22"/>
          <ac:picMkLst>
            <pc:docMk/>
            <pc:sldMk cId="0" sldId="262"/>
            <ac:picMk id="4" creationId="{EA987F10-AEF4-65E9-F42B-D160C3534FB6}"/>
          </ac:picMkLst>
        </pc:picChg>
      </pc:sldChg>
      <pc:sldChg chg="addSp delSp mod modNotes modNotesTx">
        <pc:chgData name="Lai, Wilson" userId="2840974a-0d84-4886-90a9-9a3ed79f3a48" providerId="ADAL" clId="{9F23B798-9E84-4552-BA63-E776E805C424}" dt="2026-08-31T08:14:45.955" v="113" actId="14"/>
        <pc:sldMkLst>
          <pc:docMk/>
          <pc:sldMk cId="0" sldId="263"/>
        </pc:sldMkLst>
        <pc:picChg chg="del">
          <ac:chgData name="Lai, Wilson" userId="2840974a-0d84-4886-90a9-9a3ed79f3a48" providerId="ADAL" clId="{9F23B798-9E84-4552-BA63-E776E805C424}" dt="2026-08-31T07:16:17.229" v="12" actId="21"/>
          <ac:picMkLst>
            <pc:docMk/>
            <pc:sldMk cId="0" sldId="263"/>
            <ac:picMk id="2" creationId="{00000000-0000-0000-0000-000000000000}"/>
          </ac:picMkLst>
        </pc:picChg>
        <pc:picChg chg="add">
          <ac:chgData name="Lai, Wilson" userId="2840974a-0d84-4886-90a9-9a3ed79f3a48" providerId="ADAL" clId="{9F23B798-9E84-4552-BA63-E776E805C424}" dt="2026-08-31T07:16:24.458" v="13" actId="22"/>
          <ac:picMkLst>
            <pc:docMk/>
            <pc:sldMk cId="0" sldId="263"/>
            <ac:picMk id="4" creationId="{B27511DE-BE74-1A15-9C48-4D2571511D2E}"/>
          </ac:picMkLst>
        </pc:picChg>
      </pc:sldChg>
      <pc:sldChg chg="addSp delSp mod modNotes modNotesTx">
        <pc:chgData name="Lai, Wilson" userId="2840974a-0d84-4886-90a9-9a3ed79f3a48" providerId="ADAL" clId="{9F23B798-9E84-4552-BA63-E776E805C424}" dt="2026-08-31T08:14:29.938" v="107" actId="14"/>
        <pc:sldMkLst>
          <pc:docMk/>
          <pc:sldMk cId="0" sldId="264"/>
        </pc:sldMkLst>
        <pc:picChg chg="del">
          <ac:chgData name="Lai, Wilson" userId="2840974a-0d84-4886-90a9-9a3ed79f3a48" providerId="ADAL" clId="{9F23B798-9E84-4552-BA63-E776E805C424}" dt="2026-08-31T07:16:26.467" v="14" actId="21"/>
          <ac:picMkLst>
            <pc:docMk/>
            <pc:sldMk cId="0" sldId="264"/>
            <ac:picMk id="2" creationId="{00000000-0000-0000-0000-000000000000}"/>
          </ac:picMkLst>
        </pc:picChg>
        <pc:picChg chg="add">
          <ac:chgData name="Lai, Wilson" userId="2840974a-0d84-4886-90a9-9a3ed79f3a48" providerId="ADAL" clId="{9F23B798-9E84-4552-BA63-E776E805C424}" dt="2026-08-31T07:16:37.525" v="15" actId="22"/>
          <ac:picMkLst>
            <pc:docMk/>
            <pc:sldMk cId="0" sldId="264"/>
            <ac:picMk id="4" creationId="{A9BC10AD-EBEE-466A-408B-BB811802D070}"/>
          </ac:picMkLst>
        </pc:picChg>
      </pc:sldChg>
      <pc:sldChg chg="addSp delSp mod modNotes modNotesTx">
        <pc:chgData name="Lai, Wilson" userId="2840974a-0d84-4886-90a9-9a3ed79f3a48" providerId="ADAL" clId="{9F23B798-9E84-4552-BA63-E776E805C424}" dt="2026-08-31T08:14:17.875" v="101" actId="14"/>
        <pc:sldMkLst>
          <pc:docMk/>
          <pc:sldMk cId="0" sldId="265"/>
        </pc:sldMkLst>
        <pc:picChg chg="del">
          <ac:chgData name="Lai, Wilson" userId="2840974a-0d84-4886-90a9-9a3ed79f3a48" providerId="ADAL" clId="{9F23B798-9E84-4552-BA63-E776E805C424}" dt="2026-08-31T07:16:39.288" v="16" actId="21"/>
          <ac:picMkLst>
            <pc:docMk/>
            <pc:sldMk cId="0" sldId="265"/>
            <ac:picMk id="2" creationId="{00000000-0000-0000-0000-000000000000}"/>
          </ac:picMkLst>
        </pc:picChg>
        <pc:picChg chg="add">
          <ac:chgData name="Lai, Wilson" userId="2840974a-0d84-4886-90a9-9a3ed79f3a48" providerId="ADAL" clId="{9F23B798-9E84-4552-BA63-E776E805C424}" dt="2026-08-31T07:16:46.852" v="17" actId="22"/>
          <ac:picMkLst>
            <pc:docMk/>
            <pc:sldMk cId="0" sldId="265"/>
            <ac:picMk id="4" creationId="{9C3BFB1E-C55F-5F9A-679C-01DA6955DABA}"/>
          </ac:picMkLst>
        </pc:picChg>
      </pc:sldChg>
      <pc:sldChg chg="addSp delSp mod modNotes modNotesTx">
        <pc:chgData name="Lai, Wilson" userId="2840974a-0d84-4886-90a9-9a3ed79f3a48" providerId="ADAL" clId="{9F23B798-9E84-4552-BA63-E776E805C424}" dt="2026-08-31T08:14:06.421" v="95" actId="12"/>
        <pc:sldMkLst>
          <pc:docMk/>
          <pc:sldMk cId="0" sldId="266"/>
        </pc:sldMkLst>
        <pc:picChg chg="del">
          <ac:chgData name="Lai, Wilson" userId="2840974a-0d84-4886-90a9-9a3ed79f3a48" providerId="ADAL" clId="{9F23B798-9E84-4552-BA63-E776E805C424}" dt="2026-08-31T07:16:48.557" v="18" actId="21"/>
          <ac:picMkLst>
            <pc:docMk/>
            <pc:sldMk cId="0" sldId="266"/>
            <ac:picMk id="2" creationId="{00000000-0000-0000-0000-000000000000}"/>
          </ac:picMkLst>
        </pc:picChg>
        <pc:picChg chg="add">
          <ac:chgData name="Lai, Wilson" userId="2840974a-0d84-4886-90a9-9a3ed79f3a48" providerId="ADAL" clId="{9F23B798-9E84-4552-BA63-E776E805C424}" dt="2026-08-31T07:16:57.162" v="19" actId="22"/>
          <ac:picMkLst>
            <pc:docMk/>
            <pc:sldMk cId="0" sldId="266"/>
            <ac:picMk id="4" creationId="{EA01D89C-8DE9-5FCC-8FFD-9E02BA8DE8B3}"/>
          </ac:picMkLst>
        </pc:picChg>
      </pc:sldChg>
      <pc:sldChg chg="addSp delSp mod modNotes modNotesTx">
        <pc:chgData name="Lai, Wilson" userId="2840974a-0d84-4886-90a9-9a3ed79f3a48" providerId="ADAL" clId="{9F23B798-9E84-4552-BA63-E776E805C424}" dt="2026-08-31T08:13:52.545" v="89" actId="12"/>
        <pc:sldMkLst>
          <pc:docMk/>
          <pc:sldMk cId="0" sldId="267"/>
        </pc:sldMkLst>
        <pc:spChg chg="add del">
          <ac:chgData name="Lai, Wilson" userId="2840974a-0d84-4886-90a9-9a3ed79f3a48" providerId="ADAL" clId="{9F23B798-9E84-4552-BA63-E776E805C424}" dt="2026-08-31T08:10:51.824" v="45" actId="22"/>
          <ac:spMkLst>
            <pc:docMk/>
            <pc:sldMk cId="0" sldId="267"/>
            <ac:spMk id="3" creationId="{ED5DD31B-2764-3B4E-AD70-9916C670778A}"/>
          </ac:spMkLst>
        </pc:spChg>
        <pc:picChg chg="del">
          <ac:chgData name="Lai, Wilson" userId="2840974a-0d84-4886-90a9-9a3ed79f3a48" providerId="ADAL" clId="{9F23B798-9E84-4552-BA63-E776E805C424}" dt="2026-08-31T07:16:58.725" v="20" actId="21"/>
          <ac:picMkLst>
            <pc:docMk/>
            <pc:sldMk cId="0" sldId="267"/>
            <ac:picMk id="2" creationId="{00000000-0000-0000-0000-000000000000}"/>
          </ac:picMkLst>
        </pc:picChg>
        <pc:picChg chg="add">
          <ac:chgData name="Lai, Wilson" userId="2840974a-0d84-4886-90a9-9a3ed79f3a48" providerId="ADAL" clId="{9F23B798-9E84-4552-BA63-E776E805C424}" dt="2026-08-31T07:17:07.109" v="21" actId="22"/>
          <ac:picMkLst>
            <pc:docMk/>
            <pc:sldMk cId="0" sldId="267"/>
            <ac:picMk id="4" creationId="{D9083BE0-2A0C-DB45-0C37-03A02D241781}"/>
          </ac:picMkLst>
        </pc:picChg>
      </pc:sldChg>
      <pc:sldChg chg="addSp delSp mod modNotes modNotesTx">
        <pc:chgData name="Lai, Wilson" userId="2840974a-0d84-4886-90a9-9a3ed79f3a48" providerId="ADAL" clId="{9F23B798-9E84-4552-BA63-E776E805C424}" dt="2026-08-31T08:13:33.590" v="81" actId="14"/>
        <pc:sldMkLst>
          <pc:docMk/>
          <pc:sldMk cId="0" sldId="268"/>
        </pc:sldMkLst>
        <pc:picChg chg="del">
          <ac:chgData name="Lai, Wilson" userId="2840974a-0d84-4886-90a9-9a3ed79f3a48" providerId="ADAL" clId="{9F23B798-9E84-4552-BA63-E776E805C424}" dt="2026-08-31T07:17:10.326" v="22" actId="21"/>
          <ac:picMkLst>
            <pc:docMk/>
            <pc:sldMk cId="0" sldId="268"/>
            <ac:picMk id="2" creationId="{00000000-0000-0000-0000-000000000000}"/>
          </ac:picMkLst>
        </pc:picChg>
        <pc:picChg chg="add">
          <ac:chgData name="Lai, Wilson" userId="2840974a-0d84-4886-90a9-9a3ed79f3a48" providerId="ADAL" clId="{9F23B798-9E84-4552-BA63-E776E805C424}" dt="2026-08-31T07:17:18.927" v="23" actId="22"/>
          <ac:picMkLst>
            <pc:docMk/>
            <pc:sldMk cId="0" sldId="268"/>
            <ac:picMk id="4" creationId="{03255C50-18AB-3157-987A-9B4878908175}"/>
          </ac:picMkLst>
        </pc:picChg>
      </pc:sldChg>
      <pc:sldChg chg="addSp delSp mod modNotes modNotesTx">
        <pc:chgData name="Lai, Wilson" userId="2840974a-0d84-4886-90a9-9a3ed79f3a48" providerId="ADAL" clId="{9F23B798-9E84-4552-BA63-E776E805C424}" dt="2026-08-31T08:13:20.513" v="75" actId="14"/>
        <pc:sldMkLst>
          <pc:docMk/>
          <pc:sldMk cId="0" sldId="269"/>
        </pc:sldMkLst>
        <pc:picChg chg="del">
          <ac:chgData name="Lai, Wilson" userId="2840974a-0d84-4886-90a9-9a3ed79f3a48" providerId="ADAL" clId="{9F23B798-9E84-4552-BA63-E776E805C424}" dt="2026-08-31T07:17:21.158" v="24" actId="21"/>
          <ac:picMkLst>
            <pc:docMk/>
            <pc:sldMk cId="0" sldId="269"/>
            <ac:picMk id="2" creationId="{00000000-0000-0000-0000-000000000000}"/>
          </ac:picMkLst>
        </pc:picChg>
        <pc:picChg chg="add">
          <ac:chgData name="Lai, Wilson" userId="2840974a-0d84-4886-90a9-9a3ed79f3a48" providerId="ADAL" clId="{9F23B798-9E84-4552-BA63-E776E805C424}" dt="2026-08-31T07:17:28.775" v="25" actId="22"/>
          <ac:picMkLst>
            <pc:docMk/>
            <pc:sldMk cId="0" sldId="269"/>
            <ac:picMk id="4" creationId="{DA3BEBDC-3C98-C791-9AA3-12C0D551AE67}"/>
          </ac:picMkLst>
        </pc:picChg>
      </pc:sldChg>
      <pc:sldChg chg="addSp delSp mod modNotes modNotesTx">
        <pc:chgData name="Lai, Wilson" userId="2840974a-0d84-4886-90a9-9a3ed79f3a48" providerId="ADAL" clId="{9F23B798-9E84-4552-BA63-E776E805C424}" dt="2026-08-31T08:12:48.085" v="64" actId="14"/>
        <pc:sldMkLst>
          <pc:docMk/>
          <pc:sldMk cId="0" sldId="270"/>
        </pc:sldMkLst>
        <pc:picChg chg="del">
          <ac:chgData name="Lai, Wilson" userId="2840974a-0d84-4886-90a9-9a3ed79f3a48" providerId="ADAL" clId="{9F23B798-9E84-4552-BA63-E776E805C424}" dt="2026-08-31T07:17:30.324" v="26" actId="21"/>
          <ac:picMkLst>
            <pc:docMk/>
            <pc:sldMk cId="0" sldId="270"/>
            <ac:picMk id="2" creationId="{00000000-0000-0000-0000-000000000000}"/>
          </ac:picMkLst>
        </pc:picChg>
        <pc:picChg chg="add">
          <ac:chgData name="Lai, Wilson" userId="2840974a-0d84-4886-90a9-9a3ed79f3a48" providerId="ADAL" clId="{9F23B798-9E84-4552-BA63-E776E805C424}" dt="2026-08-31T07:17:38.904" v="27" actId="22"/>
          <ac:picMkLst>
            <pc:docMk/>
            <pc:sldMk cId="0" sldId="270"/>
            <ac:picMk id="4" creationId="{A8FB48AD-8F78-FE44-E72C-615F664F806A}"/>
          </ac:picMkLst>
        </pc:picChg>
      </pc:sldChg>
      <pc:sldChg chg="addSp delSp mod modNotes modNotesTx">
        <pc:chgData name="Lai, Wilson" userId="2840974a-0d84-4886-90a9-9a3ed79f3a48" providerId="ADAL" clId="{9F23B798-9E84-4552-BA63-E776E805C424}" dt="2026-08-31T08:12:37.288" v="58" actId="14"/>
        <pc:sldMkLst>
          <pc:docMk/>
          <pc:sldMk cId="0" sldId="271"/>
        </pc:sldMkLst>
        <pc:picChg chg="del">
          <ac:chgData name="Lai, Wilson" userId="2840974a-0d84-4886-90a9-9a3ed79f3a48" providerId="ADAL" clId="{9F23B798-9E84-4552-BA63-E776E805C424}" dt="2026-08-31T07:17:40.980" v="28" actId="21"/>
          <ac:picMkLst>
            <pc:docMk/>
            <pc:sldMk cId="0" sldId="271"/>
            <ac:picMk id="2" creationId="{00000000-0000-0000-0000-000000000000}"/>
          </ac:picMkLst>
        </pc:picChg>
        <pc:picChg chg="add">
          <ac:chgData name="Lai, Wilson" userId="2840974a-0d84-4886-90a9-9a3ed79f3a48" providerId="ADAL" clId="{9F23B798-9E84-4552-BA63-E776E805C424}" dt="2026-08-31T07:17:49.262" v="29" actId="22"/>
          <ac:picMkLst>
            <pc:docMk/>
            <pc:sldMk cId="0" sldId="271"/>
            <ac:picMk id="4" creationId="{735C3E70-E23E-2634-4BF5-64DA2ECC9E2E}"/>
          </ac:picMkLst>
        </pc:picChg>
      </pc:sldChg>
      <pc:sldChg chg="addSp delSp mod modNotes modNotesTx">
        <pc:chgData name="Lai, Wilson" userId="2840974a-0d84-4886-90a9-9a3ed79f3a48" providerId="ADAL" clId="{9F23B798-9E84-4552-BA63-E776E805C424}" dt="2026-08-31T08:12:21.355" v="52" actId="14"/>
        <pc:sldMkLst>
          <pc:docMk/>
          <pc:sldMk cId="2081877188" sldId="272"/>
        </pc:sldMkLst>
        <pc:picChg chg="del">
          <ac:chgData name="Lai, Wilson" userId="2840974a-0d84-4886-90a9-9a3ed79f3a48" providerId="ADAL" clId="{9F23B798-9E84-4552-BA63-E776E805C424}" dt="2026-08-31T07:17:52.373" v="30" actId="21"/>
          <ac:picMkLst>
            <pc:docMk/>
            <pc:sldMk cId="2081877188" sldId="272"/>
            <ac:picMk id="3" creationId="{C88379CD-6BDC-ABEC-48F5-B36C159DFF45}"/>
          </ac:picMkLst>
        </pc:picChg>
        <pc:picChg chg="add">
          <ac:chgData name="Lai, Wilson" userId="2840974a-0d84-4886-90a9-9a3ed79f3a48" providerId="ADAL" clId="{9F23B798-9E84-4552-BA63-E776E805C424}" dt="2026-08-31T07:18:04.007" v="31" actId="22"/>
          <ac:picMkLst>
            <pc:docMk/>
            <pc:sldMk cId="2081877188" sldId="272"/>
            <ac:picMk id="4" creationId="{799D7DB6-F260-3478-1067-A302E5D7DB5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FCA289-FFF0-4F90-B655-7E6AB550A398}"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ED171-6021-4B21-A00F-185EE597A0B6}" type="slidenum">
              <a:rPr lang="en-US" smtClean="0"/>
              <a:t>‹#›</a:t>
            </a:fld>
            <a:endParaRPr lang="en-US"/>
          </a:p>
        </p:txBody>
      </p:sp>
    </p:spTree>
    <p:extLst>
      <p:ext uri="{BB962C8B-B14F-4D97-AF65-F5344CB8AC3E}">
        <p14:creationId xmlns:p14="http://schemas.microsoft.com/office/powerpoint/2010/main" val="211418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Hook (The Indiana Decision):</a:t>
            </a:r>
            <a:endParaRPr lang="en-US" dirty="0"/>
          </a:p>
          <a:p>
            <a:pPr marL="171450" lvl="0" indent="-171450" algn="l">
              <a:buFont typeface="Arial" panose="020B0604020202020204" pitchFamily="34" charset="0"/>
              <a:buChar char="•"/>
            </a:pPr>
            <a:r>
              <a:rPr lang="en-US" dirty="0"/>
              <a:t>Consider this scenario: In early 2026, an inventory logistics manager sitting at a desk in Indianapolis opens up a shipping spreadsheet. They aren't launching a political campaign, protesting tariffs, or attempting to trigger a global crisis. They are simply managing inventory by slowing down a logistics schedule.</a:t>
            </a:r>
          </a:p>
          <a:p>
            <a:pPr lvl="0"/>
            <a:r>
              <a:rPr lang="en-US" b="1" dirty="0"/>
              <a:t>The Contrast (The Irish Fallout):</a:t>
            </a:r>
            <a:endParaRPr lang="en-US" dirty="0"/>
          </a:p>
          <a:p>
            <a:pPr marL="171450" lvl="0" indent="-171450">
              <a:buFont typeface="Arial" panose="020B0604020202020204" pitchFamily="34" charset="0"/>
              <a:buChar char="•"/>
            </a:pPr>
            <a:r>
              <a:rPr lang="en-US" dirty="0"/>
              <a:t>Fast-forward three months: an entire developed nation on the other side of the Atlantic—Ireland—sees its national economy contract by </a:t>
            </a:r>
            <a:r>
              <a:rPr lang="en-US" b="1" dirty="0"/>
              <a:t>12.1% in a single quarter</a:t>
            </a:r>
            <a:r>
              <a:rPr lang="en-US" dirty="0"/>
              <a:t>. To put that number into perspective, outside of a world war or a global pandemic, a 12.1% quarterly contraction is virtually unheard of in modern developed economies.</a:t>
            </a:r>
          </a:p>
          <a:p>
            <a:pPr marL="171450" lvl="0" indent="-171450">
              <a:buFont typeface="Arial" panose="020B0604020202020204" pitchFamily="34" charset="0"/>
              <a:buChar char="•"/>
            </a:pPr>
            <a:r>
              <a:rPr lang="en-US" dirty="0"/>
              <a:t>No bombs dropped, no banking systems collapsed, and no sovereign defaults occurred. The catalyst was literally a matter of fewer boxes being moved onto container ships.</a:t>
            </a:r>
          </a:p>
          <a:p>
            <a:pPr lvl="0"/>
            <a:r>
              <a:rPr lang="en-US" b="1" dirty="0"/>
              <a:t>The Core Thesis:</a:t>
            </a:r>
            <a:endParaRPr lang="en-US" dirty="0"/>
          </a:p>
          <a:p>
            <a:pPr marL="171450" lvl="0" indent="-171450">
              <a:buFont typeface="Arial" panose="020B0604020202020204" pitchFamily="34" charset="0"/>
              <a:buChar char="•"/>
            </a:pPr>
            <a:r>
              <a:rPr lang="en-US" dirty="0"/>
              <a:t>This case study introduces a critical macroeconomic concept: </a:t>
            </a:r>
            <a:r>
              <a:rPr lang="en-US" b="1" dirty="0"/>
              <a:t>The Statistical Hostage</a:t>
            </a:r>
            <a:r>
              <a:rPr lang="en-US" dirty="0"/>
              <a:t>. We will analyze how foreign corporate decisions can completely hijack a sovereign nation’s measurable prosperity, and why this vulnerability is not isolated to Ireland.</a:t>
            </a:r>
          </a:p>
          <a:p>
            <a:endParaRPr lang="en-US" dirty="0"/>
          </a:p>
          <a:p>
            <a:endParaRPr lang="en-US" dirty="0"/>
          </a:p>
          <a:p>
            <a:endParaRPr lang="en-US" dirty="0"/>
          </a:p>
          <a:p>
            <a:r>
              <a:rPr lang="en-US" dirty="0"/>
              <a:t>https://www.youtube.com/watch?v=82cmgmHy6_A</a:t>
            </a:r>
          </a:p>
        </p:txBody>
      </p:sp>
      <p:sp>
        <p:nvSpPr>
          <p:cNvPr id="4" name="Slide Number Placeholder 3"/>
          <p:cNvSpPr>
            <a:spLocks noGrp="1"/>
          </p:cNvSpPr>
          <p:nvPr>
            <p:ph type="sldNum" sz="quarter" idx="5"/>
          </p:nvPr>
        </p:nvSpPr>
        <p:spPr/>
        <p:txBody>
          <a:bodyPr/>
          <a:lstStyle/>
          <a:p>
            <a:fld id="{C26AD3FE-52F2-48BB-9D20-C0AF9E9ED66A}" type="slidenum">
              <a:rPr lang="en-US" smtClean="0"/>
              <a:t>1</a:t>
            </a:fld>
            <a:endParaRPr lang="en-US"/>
          </a:p>
        </p:txBody>
      </p:sp>
    </p:spTree>
    <p:extLst>
      <p:ext uri="{BB962C8B-B14F-4D97-AF65-F5344CB8AC3E}">
        <p14:creationId xmlns:p14="http://schemas.microsoft.com/office/powerpoint/2010/main" val="1194605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Spillover to Eurostat:</a:t>
            </a:r>
            <a:endParaRPr lang="en-US" dirty="0"/>
          </a:p>
          <a:p>
            <a:pPr marL="171450" lvl="0" indent="-171450">
              <a:buFont typeface="Arial" panose="020B0604020202020204" pitchFamily="34" charset="0"/>
              <a:buChar char="•"/>
            </a:pPr>
            <a:r>
              <a:rPr lang="en-US" dirty="0"/>
              <a:t>When a 12.1% collapse occurs on a nation's ledger, it doesn't stay neatly contained within its borders. Because Ireland serves as a major hub for European trade and multinational corporate accounting, this single quarterly contraction dragged down the entire Eurozone's economic metrics.</a:t>
            </a:r>
          </a:p>
          <a:p>
            <a:pPr marL="171450" lvl="0" indent="-171450">
              <a:buFont typeface="Arial" panose="020B0604020202020204" pitchFamily="34" charset="0"/>
              <a:buChar char="•"/>
            </a:pPr>
            <a:r>
              <a:rPr lang="en-US" dirty="0"/>
              <a:t>Eurostat was forced to revise economic growth projections downward for </a:t>
            </a:r>
            <a:r>
              <a:rPr lang="en-US" b="1" dirty="0"/>
              <a:t>21 member nations</a:t>
            </a:r>
            <a:r>
              <a:rPr lang="en-US" dirty="0"/>
              <a:t>. Imagine that: 21 countries had their growth outlooks degraded simply because of logistics adjustments originating out of the US.</a:t>
            </a:r>
          </a:p>
          <a:p>
            <a:pPr lvl="0"/>
            <a:r>
              <a:rPr lang="en-US" b="1" dirty="0"/>
              <a:t>Media Narrative vs. Macro Reality:</a:t>
            </a:r>
            <a:endParaRPr lang="en-US" dirty="0"/>
          </a:p>
          <a:p>
            <a:pPr marL="171450" lvl="0" indent="-171450">
              <a:buFont typeface="Arial" panose="020B0604020202020204" pitchFamily="34" charset="0"/>
              <a:buChar char="•"/>
            </a:pPr>
            <a:r>
              <a:rPr lang="en-US" dirty="0"/>
              <a:t>The mainstream media narrative around this event was quick to dismiss it as a temporary 'statistical blip'—a mere inventory correction following front-loaded pharmaceutical exports.</a:t>
            </a:r>
          </a:p>
          <a:p>
            <a:pPr marL="171450" lvl="0" indent="-171450">
              <a:buFont typeface="Arial" panose="020B0604020202020204" pitchFamily="34" charset="0"/>
              <a:buChar char="•"/>
            </a:pPr>
            <a:r>
              <a:rPr lang="en-US" dirty="0"/>
              <a:t>However, treating a 12.1% quarterly drop as a harmless blip misses the existential structural threat. It demonstrates that a sovereign nation’s headline GDP is effectively decoupled from its domestic reality, leaving national prosperity at the mercy of non-domestic corporate strategies.</a:t>
            </a:r>
          </a:p>
          <a:p>
            <a:pPr lvl="0"/>
            <a:r>
              <a:rPr lang="en-US" b="1" dirty="0"/>
              <a:t>Takeaway:</a:t>
            </a:r>
            <a:endParaRPr lang="en-US" dirty="0"/>
          </a:p>
          <a:p>
            <a:pPr marL="171450" lvl="0" indent="-171450">
              <a:buFont typeface="Arial" panose="020B0604020202020204" pitchFamily="34" charset="0"/>
              <a:buChar char="•"/>
            </a:pPr>
            <a:r>
              <a:rPr lang="en-US" dirty="0"/>
              <a:t>This is a prime example of systemic fragility. Optimization for tax efficiency and corporate convenience creates a system where no defaults or crises are required to trigger a massive economic downturn—just a shift in supply chain timing.</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2</a:t>
            </a:fld>
            <a:endParaRPr lang="en-US"/>
          </a:p>
        </p:txBody>
      </p:sp>
    </p:spTree>
    <p:extLst>
      <p:ext uri="{BB962C8B-B14F-4D97-AF65-F5344CB8AC3E}">
        <p14:creationId xmlns:p14="http://schemas.microsoft.com/office/powerpoint/2010/main" val="2337159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Breaking Down the Numbers (46% and €13 Billion):</a:t>
            </a:r>
            <a:endParaRPr lang="en-US" dirty="0"/>
          </a:p>
          <a:p>
            <a:pPr marL="171450" lvl="0" indent="-171450">
              <a:buFont typeface="Arial" panose="020B0604020202020204" pitchFamily="34" charset="0"/>
              <a:buChar char="•"/>
            </a:pPr>
            <a:r>
              <a:rPr lang="en-US" dirty="0"/>
              <a:t>To understand how Ireland arrived at this point, we need to memorize two key metrics: </a:t>
            </a:r>
            <a:r>
              <a:rPr lang="en-US" b="1" dirty="0"/>
              <a:t>46%</a:t>
            </a:r>
            <a:r>
              <a:rPr lang="en-US" dirty="0"/>
              <a:t> and </a:t>
            </a:r>
            <a:r>
              <a:rPr lang="en-US" b="1" dirty="0"/>
              <a:t>€13 Billion</a:t>
            </a:r>
            <a:r>
              <a:rPr lang="en-US" dirty="0"/>
              <a:t>.</a:t>
            </a:r>
          </a:p>
          <a:p>
            <a:pPr marL="171450" lvl="0" indent="-171450">
              <a:buFont typeface="Arial" panose="020B0604020202020204" pitchFamily="34" charset="0"/>
              <a:buChar char="•"/>
            </a:pPr>
            <a:r>
              <a:rPr lang="en-US" dirty="0"/>
              <a:t>Just </a:t>
            </a:r>
            <a:r>
              <a:rPr lang="en-US" b="1" dirty="0"/>
              <a:t>three American multinationals</a:t>
            </a:r>
            <a:r>
              <a:rPr lang="en-US" dirty="0"/>
              <a:t>—Apple, Microsoft, and Eli Lilly—generate nearly half (46%) of Ireland’s total corporate tax receipts, providing roughly €13 Billion to state coffers. Furthermore, just two tech giants account for approximately €11 Billion, or nearly 40% of all corporate tax collected.</a:t>
            </a:r>
          </a:p>
          <a:p>
            <a:pPr lvl="0"/>
            <a:r>
              <a:rPr lang="en-US" b="1" dirty="0"/>
              <a:t>Sovereign Vulnerability in Foreign Boardrooms:</a:t>
            </a:r>
            <a:endParaRPr lang="en-US" dirty="0"/>
          </a:p>
          <a:p>
            <a:pPr marL="171450" lvl="0" indent="-171450">
              <a:buFont typeface="Arial" panose="020B0604020202020204" pitchFamily="34" charset="0"/>
              <a:buChar char="•"/>
            </a:pPr>
            <a:r>
              <a:rPr lang="en-US" dirty="0"/>
              <a:t>What does this concentration mean in practice? It means that if executives sitting in boardrooms in Cupertino (California), Redmond (Washington), or Indianapolis (Indiana) make a legal corporate decision to restructure their IP or shift tax jurisdictions, Ireland's fiscal capacity suffers instantly.</a:t>
            </a:r>
          </a:p>
          <a:p>
            <a:pPr marL="171450" lvl="0" indent="-171450">
              <a:buFont typeface="Arial" panose="020B0604020202020204" pitchFamily="34" charset="0"/>
              <a:buChar char="•"/>
            </a:pPr>
            <a:r>
              <a:rPr lang="en-US" dirty="0"/>
              <a:t>Decisions about whether Ireland can fund public healthcare, build housing, or staff public services are ultimately influenced by corporate strategy sessions where Irish policymakers are not even present.</a:t>
            </a:r>
          </a:p>
          <a:p>
            <a:pPr lvl="0"/>
            <a:r>
              <a:rPr lang="en-US" b="1" dirty="0"/>
              <a:t>Fiscal Leverage:</a:t>
            </a:r>
            <a:endParaRPr lang="en-US" dirty="0"/>
          </a:p>
          <a:p>
            <a:pPr marL="171450" lvl="0" indent="-171450">
              <a:buFont typeface="Arial" panose="020B0604020202020204" pitchFamily="34" charset="0"/>
              <a:buChar char="•"/>
            </a:pPr>
            <a:r>
              <a:rPr lang="en-US" dirty="0"/>
              <a:t>When a sovereign nation relies on three balance sheets for nearly half of its core revenue, it forfeits real fiscal sovereignty. The nation becomes reliant on corporate goodwill and tax optimization policies set thousands of miles away.</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3</a:t>
            </a:fld>
            <a:endParaRPr lang="en-US"/>
          </a:p>
        </p:txBody>
      </p:sp>
    </p:spTree>
    <p:extLst>
      <p:ext uri="{BB962C8B-B14F-4D97-AF65-F5344CB8AC3E}">
        <p14:creationId xmlns:p14="http://schemas.microsoft.com/office/powerpoint/2010/main" val="1487764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Defining the Statistical Hostage Economy:</a:t>
            </a:r>
            <a:endParaRPr lang="en-US" dirty="0"/>
          </a:p>
          <a:p>
            <a:pPr marL="171450" lvl="0" indent="-171450">
              <a:buFont typeface="Arial" panose="020B0604020202020204" pitchFamily="34" charset="0"/>
              <a:buChar char="•"/>
            </a:pPr>
            <a:r>
              <a:rPr lang="en-US" dirty="0"/>
              <a:t>We define a </a:t>
            </a:r>
            <a:r>
              <a:rPr lang="en-US" b="1" dirty="0"/>
              <a:t>Statistical Hostage economy</a:t>
            </a:r>
            <a:r>
              <a:rPr lang="en-US" dirty="0"/>
              <a:t> as one whose key macro metrics—GDP, tax base, credit ratings, and debt capacity—are dictated by foreign accounting and logistics choices rather than domestic output.</a:t>
            </a:r>
          </a:p>
          <a:p>
            <a:pPr marL="171450" lvl="0" indent="-171450">
              <a:buFont typeface="Arial" panose="020B0604020202020204" pitchFamily="34" charset="0"/>
              <a:buChar char="•"/>
            </a:pPr>
            <a:r>
              <a:rPr lang="en-US" dirty="0"/>
              <a:t>Look at the visual architecture on this slide: On the left, US Corporate Strategy, US Trade Law, and US Tax Policy directly channel into the host nation's primary indicators. Meanwhile, domestic output and local citizens sit on the sidelines, largely disconnected from these headline indicators.</a:t>
            </a:r>
          </a:p>
          <a:p>
            <a:pPr lvl="0"/>
            <a:r>
              <a:rPr lang="en-US" b="1" dirty="0"/>
              <a:t>The Division of Labor &amp; Structural Trap:</a:t>
            </a:r>
            <a:endParaRPr lang="en-US" dirty="0"/>
          </a:p>
          <a:p>
            <a:pPr marL="171450" lvl="0" indent="-171450">
              <a:buFont typeface="Arial" panose="020B0604020202020204" pitchFamily="34" charset="0"/>
              <a:buChar char="•"/>
            </a:pPr>
            <a:r>
              <a:rPr lang="en-US" dirty="0"/>
              <a:t>This structure operates under an asymmetric division of labor: The host country offers favorable tax law, legal architecture, and regulatory access to the EU. In return, foreign multinationals provide the eye-popping statistics that make the host country appear exceptionally wealthy on paper.</a:t>
            </a:r>
          </a:p>
          <a:p>
            <a:pPr marL="171450" lvl="0" indent="-171450">
              <a:buFont typeface="Arial" panose="020B0604020202020204" pitchFamily="34" charset="0"/>
              <a:buChar char="•"/>
            </a:pPr>
            <a:r>
              <a:rPr lang="en-US" dirty="0"/>
              <a:t>The structural trap is that the host government loses control over the variables that drive its reported prosperity. When Apple or Eli Lilly calculates global tax positions, Ireland is not a primary variable in that equation—it is merely the location where ledger entries are processed.</a:t>
            </a:r>
          </a:p>
          <a:p>
            <a:pPr marL="171450" lvl="0" indent="-171450">
              <a:buFont typeface="Arial" panose="020B0604020202020204" pitchFamily="34" charset="0"/>
              <a:buChar char="•"/>
            </a:pPr>
            <a:r>
              <a:rPr lang="en-US" b="1" dirty="0"/>
              <a:t>Summary of Fragility:</a:t>
            </a:r>
            <a:endParaRPr lang="en-US" dirty="0"/>
          </a:p>
          <a:p>
            <a:pPr marL="628650" lvl="1" indent="-171450">
              <a:buFont typeface="Arial" panose="020B0604020202020204" pitchFamily="34" charset="0"/>
              <a:buChar char="•"/>
            </a:pPr>
            <a:r>
              <a:rPr lang="en-US" dirty="0"/>
              <a:t>This is efficiency optimized at the expense of resilience. When foreign entities shift strategic focus, the host nation bears all the downside risk without having any vote in the corporate boardroom.</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4</a:t>
            </a:fld>
            <a:endParaRPr lang="en-US"/>
          </a:p>
        </p:txBody>
      </p:sp>
    </p:spTree>
    <p:extLst>
      <p:ext uri="{BB962C8B-B14F-4D97-AF65-F5344CB8AC3E}">
        <p14:creationId xmlns:p14="http://schemas.microsoft.com/office/powerpoint/2010/main" val="1577101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26% GDP Surge (Leprechaun Economics):</a:t>
            </a:r>
            <a:endParaRPr lang="en-US" dirty="0"/>
          </a:p>
          <a:p>
            <a:pPr marL="171450" lvl="0" indent="-171450">
              <a:buFont typeface="Arial" panose="020B0604020202020204" pitchFamily="34" charset="0"/>
              <a:buChar char="•"/>
            </a:pPr>
            <a:r>
              <a:rPr lang="en-US" dirty="0"/>
              <a:t>To pinpoint when this structural trap officially closed, we have to look back to 2015. In 2016, Ireland's statistics office reported that 2015 GDP growth hit an astounding </a:t>
            </a:r>
            <a:r>
              <a:rPr lang="en-US" b="1" dirty="0"/>
              <a:t>+26.3% in a single year</a:t>
            </a:r>
            <a:r>
              <a:rPr lang="en-US" dirty="0"/>
              <a:t>.</a:t>
            </a:r>
          </a:p>
          <a:p>
            <a:pPr marL="171450" lvl="0" indent="-171450">
              <a:buFont typeface="Arial" panose="020B0604020202020204" pitchFamily="34" charset="0"/>
              <a:buChar char="•"/>
            </a:pPr>
            <a:r>
              <a:rPr lang="en-US" dirty="0"/>
              <a:t>No massive natural resources were discovered, no major infrastructure popped up overnight, and productivity didn't jump by a quarter. What happened was that major tech multinationals relocated massive Intellectual Property (IP) assets onto Irish corporate balance sheets. Economist Paul Krugman famously labeled this phenomenon </a:t>
            </a:r>
            <a:r>
              <a:rPr lang="en-US" b="1" dirty="0"/>
              <a:t>'Leprechaun Economics'</a:t>
            </a:r>
            <a:r>
              <a:rPr lang="en-US" dirty="0"/>
              <a:t>.</a:t>
            </a:r>
          </a:p>
          <a:p>
            <a:pPr lvl="0"/>
            <a:r>
              <a:rPr lang="en-US" i="1" dirty="0"/>
              <a:t>Inventing a Second Set of Books (GNI):</a:t>
            </a:r>
            <a:r>
              <a:rPr lang="en-US" dirty="0"/>
              <a:t>*</a:t>
            </a:r>
          </a:p>
          <a:p>
            <a:pPr marL="171450" lvl="0" indent="-171450">
              <a:buFont typeface="Arial" panose="020B0604020202020204" pitchFamily="34" charset="0"/>
              <a:buChar char="•"/>
            </a:pPr>
            <a:r>
              <a:rPr lang="en-US" dirty="0"/>
              <a:t>The distortion was so severe that Ireland’s official GDP numbers ceased to reflect the actual living standards of its citizens. In response, Ireland took an unprecedented step: it had to invent a second national metric known as </a:t>
            </a:r>
            <a:r>
              <a:rPr lang="en-US" b="1" dirty="0"/>
              <a:t>Modified Gross National Income, or GNI</a:t>
            </a:r>
            <a:r>
              <a:rPr lang="en-US" dirty="0"/>
              <a:t>*.</a:t>
            </a:r>
          </a:p>
          <a:p>
            <a:pPr marL="171450" lvl="0" indent="-171450">
              <a:buFont typeface="Arial" panose="020B0604020202020204" pitchFamily="34" charset="0"/>
              <a:buChar char="•"/>
            </a:pPr>
            <a:r>
              <a:rPr lang="en-US" dirty="0"/>
              <a:t>GNI* strips out multinational IP distortions and aircraft leasing assets to show what the domestic economy is actually doing. Ireland became one of the few nations required to maintain a second set of financial books because its primary economic metrics were compromised by foreign accounting entries.</a:t>
            </a:r>
          </a:p>
          <a:p>
            <a:pPr lvl="0"/>
            <a:r>
              <a:rPr lang="en-US" b="1" dirty="0"/>
              <a:t>Two Risk Profiles:</a:t>
            </a:r>
            <a:endParaRPr lang="en-US" dirty="0"/>
          </a:p>
          <a:p>
            <a:pPr marL="171450" lvl="0" indent="-171450">
              <a:buFont typeface="Arial" panose="020B0604020202020204" pitchFamily="34" charset="0"/>
              <a:buChar char="•"/>
            </a:pPr>
            <a:r>
              <a:rPr lang="en-US" dirty="0"/>
              <a:t>This creates two completely different risk profiles. Measured against GDP, Ireland’s sovereign debt looks comfortably modest. Measured against GNI*, that exact same national debt looks uncomfortably high.</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5</a:t>
            </a:fld>
            <a:endParaRPr lang="en-US"/>
          </a:p>
        </p:txBody>
      </p:sp>
    </p:spTree>
    <p:extLst>
      <p:ext uri="{BB962C8B-B14F-4D97-AF65-F5344CB8AC3E}">
        <p14:creationId xmlns:p14="http://schemas.microsoft.com/office/powerpoint/2010/main" val="3241475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2025 Front-Loading Surge:</a:t>
            </a:r>
            <a:endParaRPr lang="en-US" dirty="0"/>
          </a:p>
          <a:p>
            <a:pPr marL="171450" lvl="0" indent="-171450">
              <a:buFont typeface="Arial" panose="020B0604020202020204" pitchFamily="34" charset="0"/>
              <a:buChar char="•"/>
            </a:pPr>
            <a:r>
              <a:rPr lang="en-US" dirty="0"/>
              <a:t>The lead-up to the Q1 2026 drop explains how supply chain decisions create artificial economic spikes. In 2025, pharmaceutical multinationals rushed to export </a:t>
            </a:r>
            <a:r>
              <a:rPr lang="en-US" b="1" dirty="0"/>
              <a:t>€25.4 Billion</a:t>
            </a:r>
            <a:r>
              <a:rPr lang="en-US" dirty="0"/>
              <a:t> worth of GLP-1 weight-loss medications ahead of threatened US trade tariffs.</a:t>
            </a:r>
          </a:p>
          <a:p>
            <a:pPr marL="171450" lvl="0" indent="-171450">
              <a:buFont typeface="Arial" panose="020B0604020202020204" pitchFamily="34" charset="0"/>
              <a:buChar char="•"/>
            </a:pPr>
            <a:r>
              <a:rPr lang="en-US" dirty="0"/>
              <a:t>This resulted in a staggering </a:t>
            </a:r>
            <a:r>
              <a:rPr lang="en-US" b="1" dirty="0"/>
              <a:t>536% surge</a:t>
            </a:r>
            <a:r>
              <a:rPr lang="en-US" dirty="0"/>
              <a:t> in chemical exports in early 2025. That wasn't organic growth—it was a frantic effort to move product into American warehouses before trade policy shifted.</a:t>
            </a:r>
          </a:p>
          <a:p>
            <a:pPr lvl="0"/>
            <a:r>
              <a:rPr lang="en-US" b="1" dirty="0"/>
              <a:t>The Q1 2026 Unwind &amp; Divergence:</a:t>
            </a:r>
            <a:endParaRPr lang="en-US" dirty="0"/>
          </a:p>
          <a:p>
            <a:pPr marL="171450" lvl="0" indent="-171450">
              <a:buFont typeface="Arial" panose="020B0604020202020204" pitchFamily="34" charset="0"/>
              <a:buChar char="•"/>
            </a:pPr>
            <a:r>
              <a:rPr lang="en-US" dirty="0"/>
              <a:t>When that artificial front-loading ended in early 2026, the correction hit immediately. Multinational sectors in Ireland contracted by </a:t>
            </a:r>
            <a:r>
              <a:rPr lang="en-US" b="1" dirty="0"/>
              <a:t>-27.1%</a:t>
            </a:r>
            <a:r>
              <a:rPr lang="en-US" dirty="0"/>
              <a:t> in Q1 2026.</a:t>
            </a:r>
          </a:p>
          <a:p>
            <a:pPr marL="171450" lvl="0" indent="-171450">
              <a:buFont typeface="Arial" panose="020B0604020202020204" pitchFamily="34" charset="0"/>
              <a:buChar char="•"/>
            </a:pPr>
            <a:r>
              <a:rPr lang="en-US" dirty="0"/>
              <a:t>At the exact same time, Ireland's domestic economy—where citizens work, shop, and operate local businesses—actually grew by </a:t>
            </a:r>
            <a:r>
              <a:rPr lang="en-US" b="1" dirty="0"/>
              <a:t>+0.4%</a:t>
            </a:r>
            <a:r>
              <a:rPr lang="en-US" dirty="0"/>
              <a:t>.</a:t>
            </a:r>
          </a:p>
          <a:p>
            <a:pPr lvl="0"/>
            <a:r>
              <a:rPr lang="en-US" b="1" dirty="0"/>
              <a:t>Two Realities on One Island:</a:t>
            </a:r>
            <a:endParaRPr lang="en-US" dirty="0"/>
          </a:p>
          <a:p>
            <a:pPr marL="171450" lvl="0" indent="-171450">
              <a:buFont typeface="Arial" panose="020B0604020202020204" pitchFamily="34" charset="0"/>
              <a:buChar char="•"/>
            </a:pPr>
            <a:r>
              <a:rPr lang="en-US" dirty="0"/>
              <a:t>Look at the chart on Slide 6: Same island, same week, two completely separate realities. The challenge is that international credit rating agencies and global bond markets primarily evaluate the headline numbers, exposing Ireland to volatility based on corporate inventory movements rather than domestic performance.</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6</a:t>
            </a:fld>
            <a:endParaRPr lang="en-US"/>
          </a:p>
        </p:txBody>
      </p:sp>
    </p:spTree>
    <p:extLst>
      <p:ext uri="{BB962C8B-B14F-4D97-AF65-F5344CB8AC3E}">
        <p14:creationId xmlns:p14="http://schemas.microsoft.com/office/powerpoint/2010/main" val="2628948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OECD Pillar 2 Implementation:</a:t>
            </a:r>
            <a:endParaRPr lang="en-US" dirty="0"/>
          </a:p>
          <a:p>
            <a:pPr marL="171450" lvl="0" indent="-171450">
              <a:buFont typeface="Arial" panose="020B0604020202020204" pitchFamily="34" charset="0"/>
              <a:buChar char="•"/>
            </a:pPr>
            <a:r>
              <a:rPr lang="en-US" dirty="0"/>
              <a:t>For decades, Ireland’s 12.5% corporate tax rate was the bedrock of its Foreign Direct Investment (FDI) strategy. Under the OECD Pillar 2 global tax framework, a 15% effective minimum rate is being enforced.</a:t>
            </a:r>
          </a:p>
          <a:p>
            <a:pPr marL="171450" lvl="0" indent="-171450">
              <a:buFont typeface="Arial" panose="020B0604020202020204" pitchFamily="34" charset="0"/>
              <a:buChar char="•"/>
            </a:pPr>
            <a:r>
              <a:rPr lang="en-US" dirty="0"/>
              <a:t>In the short run, this rate increase brings an extra projected </a:t>
            </a:r>
            <a:r>
              <a:rPr lang="en-US" b="1" dirty="0"/>
              <a:t>€5 Billion</a:t>
            </a:r>
            <a:r>
              <a:rPr lang="en-US" dirty="0"/>
              <a:t> per year into state revenues. However, viewing this purely as a financial win ignores the underlying incentive structure.</a:t>
            </a:r>
          </a:p>
          <a:p>
            <a:pPr lvl="0"/>
            <a:r>
              <a:rPr lang="en-US" b="1" dirty="0"/>
              <a:t>Narrowing the Advantage Gap:</a:t>
            </a:r>
            <a:endParaRPr lang="en-US" dirty="0"/>
          </a:p>
          <a:p>
            <a:pPr marL="171450" lvl="0" indent="-171450">
              <a:buFont typeface="Arial" panose="020B0604020202020204" pitchFamily="34" charset="0"/>
              <a:buChar char="•"/>
            </a:pPr>
            <a:r>
              <a:rPr lang="en-US" dirty="0"/>
              <a:t>Moving from 12.5% to 15% significantly reduces Ireland's tax rate advantage relative to other markets. As that gap shrinks, corporate questions shift from </a:t>
            </a:r>
            <a:r>
              <a:rPr lang="en-US" i="1" dirty="0"/>
              <a:t>'Why would we leave?'</a:t>
            </a:r>
            <a:r>
              <a:rPr lang="en-US" dirty="0"/>
              <a:t> to </a:t>
            </a:r>
            <a:r>
              <a:rPr lang="en-US" i="1" dirty="0"/>
              <a:t>'Why should we stay?'</a:t>
            </a:r>
            <a:endParaRPr lang="en-US" dirty="0"/>
          </a:p>
          <a:p>
            <a:pPr marL="171450" lvl="0" indent="-171450">
              <a:buFont typeface="Arial" panose="020B0604020202020204" pitchFamily="34" charset="0"/>
              <a:buChar char="•"/>
            </a:pPr>
            <a:r>
              <a:rPr lang="en-US" dirty="0"/>
              <a:t>While Ireland retains strong structural advantages—such as an English-speaking workforce, EU market access, and deep pharma/tech clusters—thinner tax margins increase corporate sensitivity to policy changes.</a:t>
            </a:r>
          </a:p>
          <a:p>
            <a:pPr lvl="0"/>
            <a:r>
              <a:rPr lang="en-US" b="1" dirty="0"/>
              <a:t>Concentration Catalyst:</a:t>
            </a:r>
            <a:endParaRPr lang="en-US" dirty="0"/>
          </a:p>
          <a:p>
            <a:pPr marL="171450" lvl="0" indent="-171450">
              <a:buFont typeface="Arial" panose="020B0604020202020204" pitchFamily="34" charset="0"/>
              <a:buChar char="•"/>
            </a:pPr>
            <a:r>
              <a:rPr lang="en-US" dirty="0"/>
              <a:t>Additionally, Pillar 2 imposes complex regulatory compliance demands. While global tech giants can easily absorb these administrative costs, mid-sized international firms may find them restrictive. This dynamic further locks in market dominance for the largest players and increases revenue concentration.</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7</a:t>
            </a:fld>
            <a:endParaRPr lang="en-US"/>
          </a:p>
        </p:txBody>
      </p:sp>
    </p:spTree>
    <p:extLst>
      <p:ext uri="{BB962C8B-B14F-4D97-AF65-F5344CB8AC3E}">
        <p14:creationId xmlns:p14="http://schemas.microsoft.com/office/powerpoint/2010/main" val="816445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2016 EU Ruling &amp; Ireland’s Appeal:</a:t>
            </a:r>
            <a:endParaRPr lang="en-US" dirty="0"/>
          </a:p>
          <a:p>
            <a:pPr marL="171450" lvl="0" indent="-171450">
              <a:buFont typeface="Arial" panose="020B0604020202020204" pitchFamily="34" charset="0"/>
              <a:buChar char="•"/>
            </a:pPr>
            <a:r>
              <a:rPr lang="en-US" dirty="0"/>
              <a:t>In 2016, the European Commission ruled that Ireland had granted illegal state tax aid to Apple, ordering the recovery of approximately €13 Billion in back taxes.</a:t>
            </a:r>
          </a:p>
          <a:p>
            <a:pPr marL="171450" lvl="0" indent="-171450">
              <a:buFont typeface="Arial" panose="020B0604020202020204" pitchFamily="34" charset="0"/>
              <a:buChar char="•"/>
            </a:pPr>
            <a:r>
              <a:rPr lang="en-US" dirty="0"/>
              <a:t>Instead of collecting the funds, the Irish government spent eight years in European courts fighting </a:t>
            </a:r>
            <a:r>
              <a:rPr lang="en-US" b="1" dirty="0"/>
              <a:t>not</a:t>
            </a:r>
            <a:r>
              <a:rPr lang="en-US" dirty="0"/>
              <a:t> to accept the money.</a:t>
            </a:r>
          </a:p>
          <a:p>
            <a:pPr lvl="0"/>
            <a:r>
              <a:rPr lang="en-US" b="1" dirty="0"/>
              <a:t>Rational Behavior Within a Hostage Framework:</a:t>
            </a:r>
            <a:endParaRPr lang="en-US" dirty="0"/>
          </a:p>
          <a:p>
            <a:pPr marL="171450" lvl="0" indent="-171450">
              <a:buFont typeface="Arial" panose="020B0604020202020204" pitchFamily="34" charset="0"/>
              <a:buChar char="•"/>
            </a:pPr>
            <a:r>
              <a:rPr lang="en-US" dirty="0"/>
              <a:t>Why would a nation dealing with domestic housing shortages and healthcare demands spend public resources to decline €13 Billion?</a:t>
            </a:r>
          </a:p>
          <a:p>
            <a:pPr marL="171450" lvl="0" indent="-171450">
              <a:buFont typeface="Arial" panose="020B0604020202020204" pitchFamily="34" charset="0"/>
              <a:buChar char="•"/>
            </a:pPr>
            <a:r>
              <a:rPr lang="en-US" dirty="0"/>
              <a:t>Within the logic of a multinational-dependent economy, this decision was calculated to protect national strategy. A one-off cash payment of €13 Billion is far less valuable long-term than maintaining a global reputation as a predictable tax jurisdiction for foreign capital.</a:t>
            </a:r>
          </a:p>
          <a:p>
            <a:pPr lvl="0"/>
            <a:r>
              <a:rPr lang="en-US" b="1" dirty="0"/>
              <a:t>The 2024 Outcome:</a:t>
            </a:r>
            <a:endParaRPr lang="en-US" dirty="0"/>
          </a:p>
          <a:p>
            <a:pPr marL="171450" lvl="0" indent="-171450">
              <a:buFont typeface="Arial" panose="020B0604020202020204" pitchFamily="34" charset="0"/>
              <a:buChar char="•"/>
            </a:pPr>
            <a:r>
              <a:rPr lang="en-US" dirty="0"/>
              <a:t>When the European Court of Justice finally rejected Ireland’s appeal in 2024, forcing the transfer of </a:t>
            </a:r>
            <a:r>
              <a:rPr lang="en-US" b="1" dirty="0"/>
              <a:t>€14.1 Billion</a:t>
            </a:r>
            <a:r>
              <a:rPr lang="en-US" dirty="0"/>
              <a:t> (including interest) into escrow, the payout was viewed politically as an uncomfortable complication rather than a fiscal win.</a:t>
            </a:r>
          </a:p>
          <a:p>
            <a:pPr marL="171450" lvl="0" indent="-171450">
              <a:buFont typeface="Arial" panose="020B0604020202020204" pitchFamily="34" charset="0"/>
              <a:buChar char="•"/>
            </a:pPr>
            <a:r>
              <a:rPr lang="en-US" dirty="0"/>
              <a:t>It serves as a stark illustration of how institutional priorities align with foreign investment models when national strategy becomes tightly coupled with multinational interests.</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8</a:t>
            </a:fld>
            <a:endParaRPr lang="en-US"/>
          </a:p>
        </p:txBody>
      </p:sp>
    </p:spTree>
    <p:extLst>
      <p:ext uri="{BB962C8B-B14F-4D97-AF65-F5344CB8AC3E}">
        <p14:creationId xmlns:p14="http://schemas.microsoft.com/office/powerpoint/2010/main" val="1051603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Macro Wealth vs. Micro Vulnerability:</a:t>
            </a:r>
            <a:endParaRPr lang="en-US" dirty="0"/>
          </a:p>
          <a:p>
            <a:pPr marL="171450" lvl="0" indent="-171450">
              <a:buFont typeface="Arial" panose="020B0604020202020204" pitchFamily="34" charset="0"/>
              <a:buChar char="•"/>
            </a:pPr>
            <a:r>
              <a:rPr lang="en-US" dirty="0"/>
              <a:t>Moving from sovereign balance sheets to individual households reveals a sharp divide between statistical indicators and real-world resilience.</a:t>
            </a:r>
          </a:p>
          <a:p>
            <a:pPr marL="171450" lvl="0" indent="-171450">
              <a:buFont typeface="Arial" panose="020B0604020202020204" pitchFamily="34" charset="0"/>
              <a:buChar char="•"/>
            </a:pPr>
            <a:r>
              <a:rPr lang="en-US" dirty="0"/>
              <a:t>Headline reports highlight that Irish bank accounts hold €171.3 Billion in total deposits. Yet, much like GDP metrics, this total figure conceals significant underlying distribution gaps.</a:t>
            </a:r>
          </a:p>
          <a:p>
            <a:pPr lvl="0"/>
            <a:r>
              <a:rPr lang="en-US" b="1" dirty="0"/>
              <a:t>The Household Data Breakdown:</a:t>
            </a:r>
            <a:endParaRPr lang="en-US" dirty="0"/>
          </a:p>
          <a:p>
            <a:pPr marL="171450" lvl="0" indent="-171450">
              <a:buFont typeface="Arial" panose="020B0604020202020204" pitchFamily="34" charset="0"/>
              <a:buChar char="•"/>
            </a:pPr>
            <a:r>
              <a:rPr lang="en-US" dirty="0"/>
              <a:t>A closer look at private savings reveals clear structural pressures:</a:t>
            </a:r>
          </a:p>
          <a:p>
            <a:pPr marL="628650" lvl="1" indent="-171450">
              <a:buFont typeface="Arial" panose="020B0604020202020204" pitchFamily="34" charset="0"/>
              <a:buChar char="•"/>
            </a:pPr>
            <a:r>
              <a:rPr lang="en-US" b="1" dirty="0"/>
              <a:t>1 in 4 adults</a:t>
            </a:r>
            <a:r>
              <a:rPr lang="en-US" dirty="0"/>
              <a:t> has less than €500 in liquid savings.</a:t>
            </a:r>
          </a:p>
          <a:p>
            <a:pPr marL="628650" lvl="1" indent="-171450">
              <a:buFont typeface="Arial" panose="020B0604020202020204" pitchFamily="34" charset="0"/>
              <a:buChar char="•"/>
            </a:pPr>
            <a:r>
              <a:rPr lang="en-US" b="1" dirty="0"/>
              <a:t>Nearly 40% (4 in 10)</a:t>
            </a:r>
            <a:r>
              <a:rPr lang="en-US" dirty="0"/>
              <a:t> of households cannot absorb an unexpected €1,000 expense without relying on debt.</a:t>
            </a:r>
          </a:p>
          <a:p>
            <a:pPr marL="628650" lvl="1" indent="-171450">
              <a:buFont typeface="Arial" panose="020B0604020202020204" pitchFamily="34" charset="0"/>
              <a:buChar char="•"/>
            </a:pPr>
            <a:r>
              <a:rPr lang="en-US" dirty="0"/>
              <a:t>Households under 35 have recorded a </a:t>
            </a:r>
            <a:r>
              <a:rPr lang="en-US" b="1" dirty="0"/>
              <a:t>15% decline in median net wealth</a:t>
            </a:r>
            <a:r>
              <a:rPr lang="en-US" dirty="0"/>
              <a:t> since 2020.</a:t>
            </a:r>
          </a:p>
          <a:p>
            <a:pPr lvl="0"/>
            <a:r>
              <a:rPr lang="en-US" b="1" dirty="0"/>
              <a:t>The Mismatched Cushion:</a:t>
            </a:r>
            <a:endParaRPr lang="en-US" dirty="0"/>
          </a:p>
          <a:p>
            <a:pPr marL="171450" lvl="0" indent="-171450">
              <a:buFont typeface="Arial" panose="020B0604020202020204" pitchFamily="34" charset="0"/>
              <a:buChar char="•"/>
            </a:pPr>
            <a:r>
              <a:rPr lang="en-US" dirty="0"/>
              <a:t>This exposes a core vulnerability: household financial buffers are concentrated in older demographics, while younger working populations face higher exposure to economic adjustments in volatile sectors.</a:t>
            </a:r>
          </a:p>
          <a:p>
            <a:pPr marL="171450" lvl="0" indent="-171450">
              <a:buFont typeface="Arial" panose="020B0604020202020204" pitchFamily="34" charset="0"/>
              <a:buChar char="•"/>
            </a:pPr>
            <a:r>
              <a:rPr lang="en-US" dirty="0"/>
              <a:t>When top-line national wealth indicators obscure limited household liquidity, broad economic shocks quickly translate into immediate consumer stress.</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9</a:t>
            </a:fld>
            <a:endParaRPr lang="en-US"/>
          </a:p>
        </p:txBody>
      </p:sp>
    </p:spTree>
    <p:extLst>
      <p:ext uri="{BB962C8B-B14F-4D97-AF65-F5344CB8AC3E}">
        <p14:creationId xmlns:p14="http://schemas.microsoft.com/office/powerpoint/2010/main" val="29635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2008 Pivot:</a:t>
            </a:r>
            <a:endParaRPr lang="en-US" dirty="0"/>
          </a:p>
          <a:p>
            <a:pPr marL="171450" lvl="0" indent="-171450">
              <a:buFont typeface="Arial" panose="020B0604020202020204" pitchFamily="34" charset="0"/>
              <a:buChar char="•"/>
            </a:pPr>
            <a:r>
              <a:rPr lang="en-US" dirty="0"/>
              <a:t>To understand current policy choices, we have to look back at how Ireland responded to the 2008 global financial crisis.</a:t>
            </a:r>
          </a:p>
          <a:p>
            <a:pPr marL="171450" lvl="0" indent="-171450">
              <a:buFont typeface="Arial" panose="020B0604020202020204" pitchFamily="34" charset="0"/>
              <a:buChar char="•"/>
            </a:pPr>
            <a:r>
              <a:rPr lang="en-US" dirty="0"/>
              <a:t>In 2008, the state absorbed private banking liabilities totaling €67.5 Billion, leading to severe austerity, 15% unemployment, and rising emigration rates. The path to recovery was driven by doubling down on foreign multinational investment rather than building a diversified domestic industrial sector.</a:t>
            </a:r>
          </a:p>
          <a:p>
            <a:pPr lvl="0"/>
            <a:r>
              <a:rPr lang="en-US" b="1" dirty="0"/>
              <a:t>The Institutional Reflex:</a:t>
            </a:r>
            <a:endParaRPr lang="en-US" dirty="0"/>
          </a:p>
          <a:p>
            <a:pPr marL="171450" lvl="0" indent="-171450">
              <a:buFont typeface="Arial" panose="020B0604020202020204" pitchFamily="34" charset="0"/>
              <a:buChar char="•"/>
            </a:pPr>
            <a:r>
              <a:rPr lang="en-US" dirty="0"/>
              <a:t>That recovery model proved effective for stabilization, but over time it grew into a single point of failure. The policy approach that resolved the previous downturn developed into a key vulnerability for the next one.</a:t>
            </a:r>
          </a:p>
          <a:p>
            <a:pPr marL="171450" lvl="0" indent="-171450">
              <a:buFont typeface="Arial" panose="020B0604020202020204" pitchFamily="34" charset="0"/>
              <a:buChar char="•"/>
            </a:pPr>
            <a:r>
              <a:rPr lang="en-US" dirty="0"/>
              <a:t>A survey of senior Irish executives highlighted this institutional dynamic: </a:t>
            </a:r>
            <a:r>
              <a:rPr lang="en-US" b="1" dirty="0"/>
              <a:t>8 out of 9 veteran business leaders</a:t>
            </a:r>
            <a:r>
              <a:rPr lang="en-US" dirty="0"/>
              <a:t> agreed that Ireland is insufficiently prepared for a severe structural downturn.</a:t>
            </a:r>
          </a:p>
          <a:p>
            <a:pPr lvl="0"/>
            <a:r>
              <a:rPr lang="en-US" b="1" dirty="0"/>
              <a:t>The Trap of Past Success:</a:t>
            </a:r>
            <a:endParaRPr lang="en-US" dirty="0"/>
          </a:p>
          <a:p>
            <a:pPr marL="171450" lvl="0" indent="-171450">
              <a:buFont typeface="Arial" panose="020B0604020202020204" pitchFamily="34" charset="0"/>
              <a:buChar char="•"/>
            </a:pPr>
            <a:r>
              <a:rPr lang="en-US" dirty="0"/>
              <a:t>Organizations and nations often default to strategies that resolved past crises. When structural conditions shift, relying strictly on legacy playbooks leaves little room to address emerging challenges.</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10</a:t>
            </a:fld>
            <a:endParaRPr lang="en-US"/>
          </a:p>
        </p:txBody>
      </p:sp>
    </p:spTree>
    <p:extLst>
      <p:ext uri="{BB962C8B-B14F-4D97-AF65-F5344CB8AC3E}">
        <p14:creationId xmlns:p14="http://schemas.microsoft.com/office/powerpoint/2010/main" val="1057353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Steelman Defense (Physical Capital):</a:t>
            </a:r>
            <a:endParaRPr lang="en-US" dirty="0"/>
          </a:p>
          <a:p>
            <a:pPr marL="171450" lvl="0" indent="-171450">
              <a:buFont typeface="Arial" panose="020B0604020202020204" pitchFamily="34" charset="0"/>
              <a:buChar char="•"/>
            </a:pPr>
            <a:r>
              <a:rPr lang="en-US" dirty="0"/>
              <a:t>Let's rigorously examine the strongest counterargument to this thesis—the </a:t>
            </a:r>
            <a:r>
              <a:rPr lang="en-US" b="1" dirty="0"/>
              <a:t>Steelman Defense</a:t>
            </a:r>
            <a:r>
              <a:rPr lang="en-US" dirty="0"/>
              <a:t>.</a:t>
            </a:r>
          </a:p>
          <a:p>
            <a:pPr marL="171450" lvl="0" indent="-171450">
              <a:buFont typeface="Arial" panose="020B0604020202020204" pitchFamily="34" charset="0"/>
              <a:buChar char="•"/>
            </a:pPr>
            <a:r>
              <a:rPr lang="en-US" dirty="0"/>
              <a:t>Industry observers point out that physical pharmaceutical facilities and tech campuses are highly capital-intensive assets. Relocating a specialized bio-pharma plant requires regulatory approvals, specialized infrastructure, and multi-year timelines. In short, factories do not pack up and move in a single quarter.</a:t>
            </a:r>
          </a:p>
          <a:p>
            <a:pPr lvl="0"/>
            <a:r>
              <a:rPr lang="en-US" b="1" dirty="0"/>
              <a:t>The Systemic Reality (Accounting Capital):</a:t>
            </a:r>
            <a:endParaRPr lang="en-US" dirty="0"/>
          </a:p>
          <a:p>
            <a:pPr marL="171450" lvl="0" indent="-171450">
              <a:buFont typeface="Arial" panose="020B0604020202020204" pitchFamily="34" charset="0"/>
              <a:buChar char="•"/>
            </a:pPr>
            <a:r>
              <a:rPr lang="en-US" dirty="0"/>
              <a:t>While physical plants remain stationary, that view overlooks the role of mobile financial assets.</a:t>
            </a:r>
          </a:p>
          <a:p>
            <a:pPr marL="171450" lvl="0" indent="-171450">
              <a:buFont typeface="Arial" panose="020B0604020202020204" pitchFamily="34" charset="0"/>
              <a:buChar char="•"/>
            </a:pPr>
            <a:r>
              <a:rPr lang="en-US" dirty="0"/>
              <a:t>The primary vulnerability isn't the physical relocation of manufacturing equipment—it's the reassignment of </a:t>
            </a:r>
            <a:r>
              <a:rPr lang="en-US" b="1" dirty="0"/>
              <a:t>Intellectual Property (IP), corporate tax residency, and profit allocations</a:t>
            </a:r>
            <a:r>
              <a:rPr lang="en-US" dirty="0"/>
              <a:t>.</a:t>
            </a:r>
          </a:p>
          <a:p>
            <a:pPr marL="628650" lvl="1" indent="-171450">
              <a:buFont typeface="Arial" panose="020B0604020202020204" pitchFamily="34" charset="0"/>
              <a:buChar char="•"/>
            </a:pPr>
            <a:r>
              <a:rPr lang="en-US" b="1" dirty="0"/>
              <a:t>Physical Capital:</a:t>
            </a:r>
            <a:r>
              <a:rPr lang="en-US" dirty="0"/>
              <a:t> Moving a factory takes 5 to 10 years.</a:t>
            </a:r>
          </a:p>
          <a:p>
            <a:pPr marL="628650" lvl="1" indent="-171450">
              <a:buFont typeface="Arial" panose="020B0604020202020204" pitchFamily="34" charset="0"/>
              <a:buChar char="•"/>
            </a:pPr>
            <a:r>
              <a:rPr lang="en-US" b="1" dirty="0"/>
              <a:t>Accounting Capital:</a:t>
            </a:r>
            <a:r>
              <a:rPr lang="en-US" dirty="0"/>
              <a:t> Reallocating billions in taxable IP profit can occur instantly via board resolution.</a:t>
            </a:r>
          </a:p>
          <a:p>
            <a:pPr lvl="0"/>
            <a:r>
              <a:rPr lang="en-US" b="1" dirty="0"/>
              <a:t>The Disconnection:</a:t>
            </a:r>
            <a:endParaRPr lang="en-US" dirty="0"/>
          </a:p>
          <a:p>
            <a:pPr marL="171450" lvl="0" indent="-171450">
              <a:buFont typeface="Arial" panose="020B0604020202020204" pitchFamily="34" charset="0"/>
              <a:buChar char="•"/>
            </a:pPr>
            <a:r>
              <a:rPr lang="en-US" dirty="0"/>
              <a:t>A plant can maintain operations in Cork while corporate IP revenue is shifted elsewhere. Employment figures may hold steady, but the state tax base tied to IP transactions can contract abruptly. Physical stability does not protect against accounting volatility.</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11</a:t>
            </a:fld>
            <a:endParaRPr lang="en-US"/>
          </a:p>
        </p:txBody>
      </p:sp>
    </p:spTree>
    <p:extLst>
      <p:ext uri="{BB962C8B-B14F-4D97-AF65-F5344CB8AC3E}">
        <p14:creationId xmlns:p14="http://schemas.microsoft.com/office/powerpoint/2010/main" val="2014092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Denmark &amp; The Single Molecule Risk:</a:t>
            </a:r>
            <a:endParaRPr lang="en-US" dirty="0"/>
          </a:p>
          <a:p>
            <a:pPr marL="171450" lvl="0" indent="-171450">
              <a:buFont typeface="Arial" panose="020B0604020202020204" pitchFamily="34" charset="0"/>
              <a:buChar char="•"/>
            </a:pPr>
            <a:r>
              <a:rPr lang="en-US" dirty="0"/>
              <a:t>Concentration risk is not isolated to Ireland; it appears across multiple economic models. Consider Denmark, where recent domestic growth became closely tied to Novo Nordisk and demand for GLP-1 treatments.</a:t>
            </a:r>
          </a:p>
          <a:p>
            <a:pPr marL="171450" lvl="0" indent="-171450">
              <a:buFont typeface="Arial" panose="020B0604020202020204" pitchFamily="34" charset="0"/>
              <a:buChar char="•"/>
            </a:pPr>
            <a:r>
              <a:rPr lang="en-US" dirty="0"/>
              <a:t>When Novo Nordisk's market capitalization expanded, it drove headline Danish GDP metrics. However, when clinical trial updates disappointed and market competition intensified, substantial equity value adjusted quickly. Stripping out that single pharma sector left broader domestic growth relatively flat.</a:t>
            </a:r>
          </a:p>
          <a:p>
            <a:pPr lvl="0"/>
            <a:r>
              <a:rPr lang="en-US" b="1" dirty="0"/>
              <a:t>Germany &amp; Single Partner Dependency:</a:t>
            </a:r>
            <a:endParaRPr lang="en-US" dirty="0"/>
          </a:p>
          <a:p>
            <a:pPr marL="171450" lvl="0" indent="-171450">
              <a:buFont typeface="Arial" panose="020B0604020202020204" pitchFamily="34" charset="0"/>
              <a:buChar char="•"/>
            </a:pPr>
            <a:r>
              <a:rPr lang="en-US" dirty="0"/>
              <a:t>Similarly, Germany built its industrial framework around predictable inputs: low-cost Russian energy imports and steady manufacturing exports to China.</a:t>
            </a:r>
          </a:p>
          <a:p>
            <a:pPr marL="171450" lvl="0" indent="-171450">
              <a:buFont typeface="Arial" panose="020B0604020202020204" pitchFamily="34" charset="0"/>
              <a:buChar char="•"/>
            </a:pPr>
            <a:r>
              <a:rPr lang="en-US" dirty="0"/>
              <a:t>When geopolitical conditions disrupted energy supply chains and shifted external market demand, Germany faced immediate headwinds across its core manufacturing model.</a:t>
            </a:r>
          </a:p>
          <a:p>
            <a:pPr lvl="0"/>
            <a:r>
              <a:rPr lang="en-US" b="1" dirty="0"/>
              <a:t>The Universal Rule:</a:t>
            </a:r>
            <a:endParaRPr lang="en-US" dirty="0"/>
          </a:p>
          <a:p>
            <a:pPr marL="171450" lvl="0" indent="-171450">
              <a:buFont typeface="Arial" panose="020B0604020202020204" pitchFamily="34" charset="0"/>
              <a:buChar char="•"/>
            </a:pPr>
            <a:r>
              <a:rPr lang="en-US" dirty="0"/>
              <a:t>The broader takeaway across these examples is clear: relying heavily on a single product category, specialized tax structure, or key trading partner creates structural vulnerability when external conditions adjust.</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12</a:t>
            </a:fld>
            <a:endParaRPr lang="en-US"/>
          </a:p>
        </p:txBody>
      </p:sp>
    </p:spTree>
    <p:extLst>
      <p:ext uri="{BB962C8B-B14F-4D97-AF65-F5344CB8AC3E}">
        <p14:creationId xmlns:p14="http://schemas.microsoft.com/office/powerpoint/2010/main" val="3293837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Global Macro Environment (WEF Outlook):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World Economic Forum ranks persistent economic downturns among the fastest-growing risks facing global markets over a multi-year horizon.</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With major developed economies seeing modest baseline growth alongside sticky inflation dynamics, central banks face narrower policy flexibility. Rapid rate cuts become harder to implement without triggering price pressures.</a:t>
                </a:r>
              </a:p>
              <a:p>
                <a:pPr lvl="0"/>
                <a:r>
                  <a:rPr lang="en-US" sz="1200" b="1" kern="1200" dirty="0">
                    <a:solidFill>
                      <a:schemeClr val="tx1"/>
                    </a:solidFill>
                    <a:effectLst/>
                    <a:latin typeface="+mn-lt"/>
                    <a:ea typeface="+mn-ea"/>
                    <a:cs typeface="+mn-cs"/>
                  </a:rPr>
                  <a:t>The Math of Concentration Risk: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leads to our primary analytical framework:</a:t>
                </a:r>
              </a:p>
              <a:p>
                <a:pPr marL="171450" lvl="0" indent="-171450">
                  <a:buFont typeface="Arial" panose="020B0604020202020204" pitchFamily="34" charset="0"/>
                  <a:buChar char="•"/>
                </a:pPr>
                <a:endParaRPr lang="en-US" sz="1200" i="0" kern="1200" dirty="0">
                  <a:solidFill>
                    <a:schemeClr val="tx1"/>
                  </a:solidFill>
                  <a:effectLst/>
                  <a:latin typeface="+mn-lt"/>
                  <a:ea typeface="+mn-ea"/>
                  <a:cs typeface="+mn-cs"/>
                </a:endParaRPr>
              </a:p>
              <a:p>
                <a:pPr marL="0" lvl="0" indent="0">
                  <a:buFont typeface="Arial" panose="020B0604020202020204" pitchFamily="34" charset="0"/>
                  <a:buNone/>
                </a:pPr>
                <a14:m>
                  <m:oMathPara xmlns:m="http://schemas.openxmlformats.org/officeDocument/2006/math">
                    <m:oMathParaPr>
                      <m:jc m:val="left"/>
                    </m:oMathParaPr>
                    <m:oMath xmlns:m="http://schemas.openxmlformats.org/officeDocument/2006/math">
                      <m:r>
                        <m:rPr>
                          <m:nor/>
                        </m:rPr>
                        <a:rPr lang="en-US" sz="1200" i="0" kern="1200" smtClean="0">
                          <a:solidFill>
                            <a:schemeClr val="tx1"/>
                          </a:solidFill>
                          <a:latin typeface="+mn-lt"/>
                          <a:ea typeface="+mn-ea"/>
                          <a:cs typeface="+mn-cs"/>
                        </a:rPr>
                        <m:t>[</m:t>
                      </m:r>
                      <m:r>
                        <m:rPr>
                          <m:nor/>
                        </m:rPr>
                        <a:rPr lang="en-US" sz="1200" i="0" kern="1200" smtClean="0">
                          <a:solidFill>
                            <a:schemeClr val="tx1"/>
                          </a:solidFill>
                          <a:latin typeface="+mn-lt"/>
                          <a:ea typeface="+mn-ea"/>
                          <a:cs typeface="+mn-cs"/>
                        </a:rPr>
                        <m:t>Stagflation</m:t>
                      </m:r>
                      <m:r>
                        <m:rPr>
                          <m:nor/>
                        </m:rPr>
                        <a:rPr lang="en-US" sz="1200" i="0" kern="1200" smtClean="0">
                          <a:solidFill>
                            <a:schemeClr val="tx1"/>
                          </a:solidFill>
                          <a:latin typeface="+mn-lt"/>
                          <a:ea typeface="+mn-ea"/>
                          <a:cs typeface="+mn-cs"/>
                        </a:rPr>
                        <m:t> (3.5% </m:t>
                      </m:r>
                      <m:r>
                        <m:rPr>
                          <m:nor/>
                        </m:rPr>
                        <a:rPr lang="en-US" sz="1200" i="0" kern="1200" smtClean="0">
                          <a:solidFill>
                            <a:schemeClr val="tx1"/>
                          </a:solidFill>
                          <a:latin typeface="+mn-lt"/>
                          <a:ea typeface="+mn-ea"/>
                          <a:cs typeface="+mn-cs"/>
                        </a:rPr>
                        <m:t>Inflation</m:t>
                      </m:r>
                      <m:r>
                        <m:rPr>
                          <m:nor/>
                        </m:rPr>
                        <a:rPr lang="en-US" sz="1200" i="0" kern="1200" smtClean="0">
                          <a:solidFill>
                            <a:schemeClr val="tx1"/>
                          </a:solidFill>
                          <a:latin typeface="+mn-lt"/>
                          <a:ea typeface="+mn-ea"/>
                          <a:cs typeface="+mn-cs"/>
                        </a:rPr>
                        <m:t> / &lt;1.6% </m:t>
                      </m:r>
                      <m:r>
                        <m:rPr>
                          <m:nor/>
                        </m:rPr>
                        <a:rPr lang="en-US" sz="1200" i="0" kern="1200" smtClean="0">
                          <a:solidFill>
                            <a:schemeClr val="tx1"/>
                          </a:solidFill>
                          <a:latin typeface="+mn-lt"/>
                          <a:ea typeface="+mn-ea"/>
                          <a:cs typeface="+mn-cs"/>
                        </a:rPr>
                        <m:t>Growth</m:t>
                      </m:r>
                      <m:r>
                        <m:rPr>
                          <m:nor/>
                        </m:rPr>
                        <a:rPr lang="en-US" sz="1200" i="0" kern="1200" smtClean="0">
                          <a:solidFill>
                            <a:schemeClr val="tx1"/>
                          </a:solidFill>
                          <a:latin typeface="+mn-lt"/>
                          <a:ea typeface="+mn-ea"/>
                          <a:cs typeface="+mn-cs"/>
                        </a:rPr>
                        <m:t>)]</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m:t>
                      </m:r>
                      <m:r>
                        <m:rPr>
                          <m:nor/>
                        </m:rPr>
                        <a:rPr lang="en-US" sz="1200" i="0" kern="1200">
                          <a:solidFill>
                            <a:schemeClr val="tx1"/>
                          </a:solidFill>
                          <a:latin typeface="+mn-lt"/>
                          <a:ea typeface="+mn-ea"/>
                          <a:cs typeface="+mn-cs"/>
                        </a:rPr>
                        <m:t>Concentration</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Risk</m:t>
                      </m:r>
                      <m:r>
                        <m:rPr>
                          <m:nor/>
                        </m:rPr>
                        <a:rPr lang="en-US" sz="1200" i="0" kern="1200">
                          <a:solidFill>
                            <a:schemeClr val="tx1"/>
                          </a:solidFill>
                          <a:latin typeface="+mn-lt"/>
                          <a:ea typeface="+mn-ea"/>
                          <a:cs typeface="+mn-cs"/>
                        </a:rPr>
                        <m:t>]</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m:t>
                      </m:r>
                      <m:r>
                        <m:rPr>
                          <m:nor/>
                        </m:rPr>
                        <a:rPr lang="en-US" sz="1200" i="0" kern="1200">
                          <a:solidFill>
                            <a:schemeClr val="tx1"/>
                          </a:solidFill>
                          <a:latin typeface="+mn-lt"/>
                          <a:ea typeface="+mn-ea"/>
                          <a:cs typeface="+mn-cs"/>
                        </a:rPr>
                        <m:t>Systemic</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Failure</m:t>
                      </m:r>
                      <m:r>
                        <m:rPr>
                          <m:nor/>
                        </m:rPr>
                        <a:rPr lang="en-US" sz="1200" i="0" kern="1200">
                          <a:solidFill>
                            <a:schemeClr val="tx1"/>
                          </a:solidFill>
                          <a:latin typeface="+mn-lt"/>
                          <a:ea typeface="+mn-ea"/>
                          <a:cs typeface="+mn-cs"/>
                        </a:rPr>
                        <m:t>]</m:t>
                      </m:r>
                    </m:oMath>
                  </m:oMathPara>
                </a14:m>
                <a:endParaRPr lang="en-US" sz="1200" kern="1200" dirty="0">
                  <a:solidFill>
                    <a:schemeClr val="tx1"/>
                  </a:solidFill>
                  <a:effectLst/>
                  <a:latin typeface="+mn-lt"/>
                  <a:ea typeface="+mn-ea"/>
                  <a:cs typeface="+mn-cs"/>
                </a:endParaRPr>
              </a:p>
              <a:p>
                <a:pPr lvl="1"/>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global growth moderates, highly diversified economies can absorb shocks across varied sectors. Concentrated economic models, by contrast, experience amplified impacts when their primary growth driver adjusts.</a:t>
                </a:r>
              </a:p>
              <a:p>
                <a:pPr lvl="0"/>
                <a:r>
                  <a:rPr lang="en-US" sz="1200" b="1" kern="1200" dirty="0">
                    <a:solidFill>
                      <a:schemeClr val="tx1"/>
                    </a:solidFill>
                    <a:effectLst/>
                    <a:latin typeface="+mn-lt"/>
                    <a:ea typeface="+mn-ea"/>
                    <a:cs typeface="+mn-cs"/>
                  </a:rPr>
                  <a:t>Takeaway: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Efficiency gains without structural diversification increase exposure to sudden market pivots. When monetary policy responses are constrained by inflation, concentrated economic models face heightened vulnerability.</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Global Macro Environment (WEF Outlook):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World Economic Forum ranks persistent economic downturns among the fastest-growing risks facing global markets over a multi-year horizon.</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With major developed economies seeing modest baseline growth alongside sticky inflation dynamics, central banks face narrower policy flexibility. Rapid rate cuts become harder to implement without triggering price pressures.</a:t>
                </a:r>
              </a:p>
              <a:p>
                <a:pPr lvl="0"/>
                <a:r>
                  <a:rPr lang="en-US" sz="1200" b="1" kern="1200" dirty="0">
                    <a:solidFill>
                      <a:schemeClr val="tx1"/>
                    </a:solidFill>
                    <a:effectLst/>
                    <a:latin typeface="+mn-lt"/>
                    <a:ea typeface="+mn-ea"/>
                    <a:cs typeface="+mn-cs"/>
                  </a:rPr>
                  <a:t>The Math of Concentration Risk: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leads to our primary analytical framework:</a:t>
                </a:r>
              </a:p>
              <a:p>
                <a:pPr marL="171450" lvl="0" indent="-171450">
                  <a:buFont typeface="Arial" panose="020B0604020202020204" pitchFamily="34" charset="0"/>
                  <a:buChar char="•"/>
                </a:pPr>
                <a:endParaRPr lang="en-US" sz="1200" i="0" kern="1200" dirty="0">
                  <a:solidFill>
                    <a:schemeClr val="tx1"/>
                  </a:solidFill>
                  <a:effectLst/>
                  <a:latin typeface="+mn-lt"/>
                  <a:ea typeface="+mn-ea"/>
                  <a:cs typeface="+mn-cs"/>
                </a:endParaRPr>
              </a:p>
              <a:p>
                <a:pPr marL="0" lvl="0" indent="0">
                  <a:buFont typeface="Arial" panose="020B0604020202020204" pitchFamily="34" charset="0"/>
                  <a:buNone/>
                </a:pPr>
                <a:r>
                  <a:rPr lang="en-US" sz="1200" i="0" kern="1200">
                    <a:solidFill>
                      <a:schemeClr val="tx1"/>
                    </a:solidFill>
                    <a:latin typeface="Cambria Math" panose="02040503050406030204" pitchFamily="18" charset="0"/>
                    <a:ea typeface="+mn-ea"/>
                    <a:cs typeface="+mn-cs"/>
                  </a:rPr>
                  <a:t>"[Stagflation (3.5% Inflation / &lt;1.6% Growth)]</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"[Concentration Risk]</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"[Systemic Failure]</a:t>
                </a:r>
                <a:r>
                  <a:rPr lang="en-US" sz="1200" i="0" kern="1200">
                    <a:solidFill>
                      <a:schemeClr val="tx1"/>
                    </a:solidFill>
                    <a:latin typeface="+mn-lt"/>
                    <a:ea typeface="+mn-ea"/>
                    <a:cs typeface="+mn-cs"/>
                  </a:rPr>
                  <a:t>"</a:t>
                </a:r>
                <a:endParaRPr lang="en-US" sz="1200" kern="1200" dirty="0">
                  <a:solidFill>
                    <a:schemeClr val="tx1"/>
                  </a:solidFill>
                  <a:effectLst/>
                  <a:latin typeface="+mn-lt"/>
                  <a:ea typeface="+mn-ea"/>
                  <a:cs typeface="+mn-cs"/>
                </a:endParaRPr>
              </a:p>
              <a:p>
                <a:pPr lvl="1"/>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global growth moderates, highly diversified economies can absorb shocks across varied sectors. Concentrated economic models, by contrast, experience amplified impacts when their primary growth driver adjusts.</a:t>
                </a:r>
              </a:p>
              <a:p>
                <a:pPr lvl="0"/>
                <a:r>
                  <a:rPr lang="en-US" sz="1200" b="1" kern="1200" dirty="0">
                    <a:solidFill>
                      <a:schemeClr val="tx1"/>
                    </a:solidFill>
                    <a:effectLst/>
                    <a:latin typeface="+mn-lt"/>
                    <a:ea typeface="+mn-ea"/>
                    <a:cs typeface="+mn-cs"/>
                  </a:rPr>
                  <a:t>Takeaway: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Efficiency gains without structural diversification increase exposure to sudden market pivots. When monetary policy responses are constrained by inflation, concentrated economic models face heightened vulnerability.</a:t>
                </a:r>
              </a:p>
              <a:p>
                <a:endParaRPr lang="en-US" dirty="0"/>
              </a:p>
            </p:txBody>
          </p:sp>
        </mc:Fallback>
      </mc:AlternateContent>
      <p:sp>
        <p:nvSpPr>
          <p:cNvPr id="4" name="Slide Number Placeholder 3"/>
          <p:cNvSpPr>
            <a:spLocks noGrp="1"/>
          </p:cNvSpPr>
          <p:nvPr>
            <p:ph type="sldNum" sz="quarter" idx="5"/>
          </p:nvPr>
        </p:nvSpPr>
        <p:spPr/>
        <p:txBody>
          <a:bodyPr/>
          <a:lstStyle/>
          <a:p>
            <a:fld id="{8B5ED171-6021-4B21-A00F-185EE597A0B6}" type="slidenum">
              <a:rPr lang="en-US" smtClean="0"/>
              <a:t>13</a:t>
            </a:fld>
            <a:endParaRPr lang="en-US"/>
          </a:p>
        </p:txBody>
      </p:sp>
    </p:spTree>
    <p:extLst>
      <p:ext uri="{BB962C8B-B14F-4D97-AF65-F5344CB8AC3E}">
        <p14:creationId xmlns:p14="http://schemas.microsoft.com/office/powerpoint/2010/main" val="3398651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Next 90 Days (Institutional Insulation Demand):</a:t>
            </a:r>
            <a:endParaRPr lang="en-US" dirty="0"/>
          </a:p>
          <a:p>
            <a:pPr marL="171450" lvl="0" indent="-171450">
              <a:buFont typeface="Arial" panose="020B0604020202020204" pitchFamily="34" charset="0"/>
              <a:buChar char="•"/>
            </a:pPr>
            <a:r>
              <a:rPr lang="en-US" dirty="0"/>
              <a:t>Looking ahead, we project three distinct operational milestones.</a:t>
            </a:r>
          </a:p>
          <a:p>
            <a:pPr marL="171450" lvl="0" indent="-171450">
              <a:buFont typeface="Arial" panose="020B0604020202020204" pitchFamily="34" charset="0"/>
              <a:buChar char="•"/>
            </a:pPr>
            <a:r>
              <a:rPr lang="en-US" dirty="0"/>
              <a:t>Within the next 90 days, major multilateral bodies—such as the IMF, OECD, or domestic fiscal watchdogs—are expected to issue recommendations for stricter budget protections to ring-fence sovereign spending from corporate revenue volatility. The €14.1 Billion Apple case demonstrated the risks of relying on volatile, one-off receipts for ongoing fiscal planning.</a:t>
            </a:r>
          </a:p>
          <a:p>
            <a:pPr lvl="0"/>
            <a:r>
              <a:rPr lang="en-US" b="1" dirty="0"/>
              <a:t>By 2027 (Accelerating Concentration):</a:t>
            </a:r>
            <a:endParaRPr lang="en-US" dirty="0"/>
          </a:p>
          <a:p>
            <a:pPr marL="171450" lvl="0" indent="-171450">
              <a:buFont typeface="Arial" panose="020B0604020202020204" pitchFamily="34" charset="0"/>
              <a:buChar char="•"/>
            </a:pPr>
            <a:r>
              <a:rPr lang="en-US" dirty="0"/>
              <a:t>By 2027, top-tier corporate tax concentration is projected to rise above 50%.</a:t>
            </a:r>
          </a:p>
          <a:p>
            <a:pPr marL="171450" lvl="0" indent="-171450">
              <a:buFont typeface="Arial" panose="020B0604020202020204" pitchFamily="34" charset="0"/>
              <a:buChar char="•"/>
            </a:pPr>
            <a:r>
              <a:rPr lang="en-US" dirty="0"/>
              <a:t>As Pillar 2 compliance requirements add administrative complexity, larger market incumbents are better positioned to absorb these costs than smaller firms. This structural cost advantage risks further concentrating revenue among a small group of market leaders.</a:t>
            </a:r>
          </a:p>
          <a:p>
            <a:pPr lvl="0"/>
            <a:r>
              <a:rPr lang="en-US" b="1" dirty="0"/>
              <a:t>Mid-2027 (The Silence Signal):</a:t>
            </a:r>
            <a:endParaRPr lang="en-US" dirty="0"/>
          </a:p>
          <a:p>
            <a:pPr marL="171450" lvl="0" indent="-171450">
              <a:buFont typeface="Arial" panose="020B0604020202020204" pitchFamily="34" charset="0"/>
              <a:buChar char="•"/>
            </a:pPr>
            <a:r>
              <a:rPr lang="en-US" dirty="0"/>
              <a:t>By mid-2027, observe state policy actions closely. If clear domestic diversification benchmarks are not established, it signals policy inertia. Relying on short-term market stability rather than implementing structural reforms leaves underlying economic models exposed.</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14</a:t>
            </a:fld>
            <a:endParaRPr lang="en-US"/>
          </a:p>
        </p:txBody>
      </p:sp>
    </p:spTree>
    <p:extLst>
      <p:ext uri="{BB962C8B-B14F-4D97-AF65-F5344CB8AC3E}">
        <p14:creationId xmlns:p14="http://schemas.microsoft.com/office/powerpoint/2010/main" val="20093731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Macro Canaries to Track:</a:t>
            </a:r>
            <a:endParaRPr lang="en-US" dirty="0"/>
          </a:p>
          <a:p>
            <a:pPr marL="171450" lvl="0" indent="-171450">
              <a:buFont typeface="Arial" panose="020B0604020202020204" pitchFamily="34" charset="0"/>
              <a:buChar char="•"/>
            </a:pPr>
            <a:r>
              <a:rPr lang="en-US" dirty="0"/>
              <a:t>To track these developments, monitor three practical indicators:</a:t>
            </a:r>
          </a:p>
          <a:p>
            <a:pPr marL="628650" lvl="1" indent="-171450">
              <a:buFont typeface="Arial" panose="020B0604020202020204" pitchFamily="34" charset="0"/>
              <a:buChar char="•"/>
            </a:pPr>
            <a:r>
              <a:rPr lang="en-US" b="1" dirty="0"/>
              <a:t>Monthly Tax Receipts:</a:t>
            </a:r>
            <a:r>
              <a:rPr lang="en-US" dirty="0"/>
              <a:t> Track national corporate tax figures. Year-over-year drops exceeding 15% signal real-time revenue adjustments.</a:t>
            </a:r>
          </a:p>
          <a:p>
            <a:pPr marL="628650" lvl="1" indent="-171450">
              <a:buFont typeface="Arial" panose="020B0604020202020204" pitchFamily="34" charset="0"/>
              <a:buChar char="•"/>
            </a:pPr>
            <a:r>
              <a:rPr lang="en-US" b="1" dirty="0"/>
              <a:t>Tariff Policy Gaps:</a:t>
            </a:r>
            <a:r>
              <a:rPr lang="en-US" dirty="0"/>
              <a:t> Monitor trade policy developments between major economic blocs. Policy gaps create strategic leverage that directly impacts concentrated supply chains.</a:t>
            </a:r>
          </a:p>
          <a:p>
            <a:pPr marL="628650" lvl="1" indent="-171450">
              <a:buFont typeface="Arial" panose="020B0604020202020204" pitchFamily="34" charset="0"/>
              <a:buChar char="•"/>
            </a:pPr>
            <a:r>
              <a:rPr lang="en-US" b="1" dirty="0"/>
              <a:t>Regulatory Trade Reviews:</a:t>
            </a:r>
            <a:r>
              <a:rPr lang="en-US" dirty="0"/>
              <a:t> Watch ongoing trade and national security reviews into critical supply chains.</a:t>
            </a:r>
          </a:p>
          <a:p>
            <a:pPr lvl="0"/>
            <a:r>
              <a:rPr lang="en-US" b="1" dirty="0"/>
              <a:t>The Micro Test: YOU ARE IRELAND:</a:t>
            </a:r>
            <a:endParaRPr lang="en-US" dirty="0"/>
          </a:p>
          <a:p>
            <a:pPr marL="171450" lvl="0" indent="-171450">
              <a:buFont typeface="Arial" panose="020B0604020202020204" pitchFamily="34" charset="0"/>
              <a:buChar char="•"/>
            </a:pPr>
            <a:r>
              <a:rPr lang="en-US" dirty="0"/>
              <a:t>Apply this analytical framework at the individual level: Ask yourself, </a:t>
            </a:r>
            <a:r>
              <a:rPr lang="en-US" i="1" dirty="0"/>
              <a:t>'What percentage of personal or organizational revenue depends on a single source?'</a:t>
            </a:r>
            <a:endParaRPr lang="en-US" dirty="0"/>
          </a:p>
          <a:p>
            <a:pPr marL="171450" lvl="0" indent="-171450">
              <a:buFont typeface="Arial" panose="020B0604020202020204" pitchFamily="34" charset="0"/>
              <a:buChar char="•"/>
            </a:pPr>
            <a:r>
              <a:rPr lang="en-US" dirty="0"/>
              <a:t>If that figure is 100%, you face a similar structural vulnerability as Ireland. High efficiency achieved without revenue diversification leaves operations exposed when primary revenue streams shift.</a:t>
            </a:r>
          </a:p>
          <a:p>
            <a:pPr lvl="0"/>
            <a:r>
              <a:rPr lang="en-US" b="1" dirty="0"/>
              <a:t>Conclusion &amp; Core Lesson:</a:t>
            </a:r>
            <a:endParaRPr lang="en-US" dirty="0"/>
          </a:p>
          <a:p>
            <a:pPr marL="171450" lvl="0" indent="-171450">
              <a:buFont typeface="Arial" panose="020B0604020202020204" pitchFamily="34" charset="0"/>
              <a:buChar char="•"/>
            </a:pPr>
            <a:r>
              <a:rPr lang="en-US" dirty="0"/>
              <a:t>Diversification options are straightforward to implement before market disruptions occur, but difficult to put in place during an active downturn. Evaluating structural concentration early remains the most effective defense.</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15</a:t>
            </a:fld>
            <a:endParaRPr lang="en-US"/>
          </a:p>
        </p:txBody>
      </p:sp>
    </p:spTree>
    <p:extLst>
      <p:ext uri="{BB962C8B-B14F-4D97-AF65-F5344CB8AC3E}">
        <p14:creationId xmlns:p14="http://schemas.microsoft.com/office/powerpoint/2010/main" val="1081195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Pillar 1: The Concentration Trap:</a:t>
            </a:r>
            <a:endParaRPr lang="en-US" dirty="0"/>
          </a:p>
          <a:p>
            <a:pPr marL="171450" lvl="0" indent="-171450">
              <a:buFont typeface="Arial" panose="020B0604020202020204" pitchFamily="34" charset="0"/>
              <a:buChar char="•"/>
            </a:pPr>
            <a:r>
              <a:rPr lang="en-US" dirty="0"/>
              <a:t>To wrap up our analysis, this summary dashboard synthesizes the structural realities of a Statistical Hostage economy.</a:t>
            </a:r>
          </a:p>
          <a:p>
            <a:pPr marL="171450" lvl="0" indent="-171450">
              <a:buFont typeface="Arial" panose="020B0604020202020204" pitchFamily="34" charset="0"/>
              <a:buChar char="•"/>
            </a:pPr>
            <a:r>
              <a:rPr lang="en-US" dirty="0"/>
              <a:t>First, consider </a:t>
            </a:r>
            <a:r>
              <a:rPr lang="en-US" b="1" dirty="0"/>
              <a:t>Tax Concentration</a:t>
            </a:r>
            <a:r>
              <a:rPr lang="en-US" dirty="0"/>
              <a:t>: 46% of Ireland's total corporate tax receipts depend on just three firms (Apple, Microsoft, Eli Lilly). Furthermore, revenue concentration among the top 10 corporate groups has expanded from 33% in 2008 to 56% by 2026. Credit profiles and sovereign ratings remain tightly coupled to corporate decisions made far outside national borders.</a:t>
            </a:r>
          </a:p>
          <a:p>
            <a:pPr lvl="0"/>
            <a:r>
              <a:rPr lang="en-US" b="1" dirty="0"/>
              <a:t>Pillar 2: Growth vs. Reality (Q1 2026 Divergence):</a:t>
            </a:r>
            <a:endParaRPr lang="en-US" dirty="0"/>
          </a:p>
          <a:p>
            <a:pPr marL="171450" lvl="0" indent="-171450">
              <a:buFont typeface="Arial" panose="020B0604020202020204" pitchFamily="34" charset="0"/>
              <a:buChar char="•"/>
            </a:pPr>
            <a:r>
              <a:rPr lang="en-US" dirty="0"/>
              <a:t>Second, review the </a:t>
            </a:r>
            <a:r>
              <a:rPr lang="en-US" b="1" dirty="0"/>
              <a:t>Growth vs. Reality</a:t>
            </a:r>
            <a:r>
              <a:rPr lang="en-US" dirty="0"/>
              <a:t> metrics from Q1 2026: Headline GDP recorded a steep 12.1% contraction, driven by a 27.1% decline in foreign-dominated sectors, while the domestic economy posted modest 0.4% growth.</a:t>
            </a:r>
          </a:p>
          <a:p>
            <a:pPr marL="171450" lvl="0" indent="-171450">
              <a:buFont typeface="Arial" panose="020B0604020202020204" pitchFamily="34" charset="0"/>
              <a:buChar char="•"/>
            </a:pPr>
            <a:r>
              <a:rPr lang="en-US" dirty="0"/>
              <a:t>This divergence highlights why traditional GDP figures can obscure underlying domestic conditions, requiring specialized metrics like GNI* to track real economic performance.</a:t>
            </a:r>
          </a:p>
          <a:p>
            <a:pPr lvl="0"/>
            <a:r>
              <a:rPr lang="en-US" b="1" dirty="0"/>
              <a:t>Pillar 3: Savings Reality &amp; Final Takeaway:</a:t>
            </a:r>
            <a:endParaRPr lang="en-US" dirty="0"/>
          </a:p>
          <a:p>
            <a:pPr marL="171450" lvl="0" indent="-171450">
              <a:buFont typeface="Arial" panose="020B0604020202020204" pitchFamily="34" charset="0"/>
              <a:buChar char="•"/>
            </a:pPr>
            <a:r>
              <a:rPr lang="en-US" dirty="0"/>
              <a:t>Finally, look at </a:t>
            </a:r>
            <a:r>
              <a:rPr lang="en-US" b="1" dirty="0"/>
              <a:t>Household Reserves</a:t>
            </a:r>
            <a:r>
              <a:rPr lang="en-US" dirty="0"/>
              <a:t>: Despite €171.3 Billion in aggregate bank deposits, 40% of households lack liquid reserves to cover an unexpected €1,000 expense.</a:t>
            </a:r>
          </a:p>
          <a:p>
            <a:pPr marL="171450" lvl="0" indent="-171450">
              <a:buFont typeface="Arial" panose="020B0604020202020204" pitchFamily="34" charset="0"/>
              <a:buChar char="•"/>
            </a:pPr>
            <a:r>
              <a:rPr lang="en-US" dirty="0"/>
              <a:t>The primary lesson of the Statistical Hostage model is clear: economic resilience requires structural diversification. Relying heavily on concentrated revenue sources—whether at the sovereign, corporate, or individual level—leaves long-term outcomes exposed to external shocks. Thank you.</a:t>
            </a:r>
          </a:p>
          <a:p>
            <a:endParaRPr lang="en-US" dirty="0"/>
          </a:p>
        </p:txBody>
      </p:sp>
      <p:sp>
        <p:nvSpPr>
          <p:cNvPr id="4" name="Slide Number Placeholder 3"/>
          <p:cNvSpPr>
            <a:spLocks noGrp="1"/>
          </p:cNvSpPr>
          <p:nvPr>
            <p:ph type="sldNum" sz="quarter" idx="5"/>
          </p:nvPr>
        </p:nvSpPr>
        <p:spPr/>
        <p:txBody>
          <a:bodyPr/>
          <a:lstStyle/>
          <a:p>
            <a:fld id="{8B5ED171-6021-4B21-A00F-185EE597A0B6}" type="slidenum">
              <a:rPr lang="en-US" smtClean="0"/>
              <a:t>16</a:t>
            </a:fld>
            <a:endParaRPr lang="en-US"/>
          </a:p>
        </p:txBody>
      </p:sp>
    </p:spTree>
    <p:extLst>
      <p:ext uri="{BB962C8B-B14F-4D97-AF65-F5344CB8AC3E}">
        <p14:creationId xmlns:p14="http://schemas.microsoft.com/office/powerpoint/2010/main" val="3605924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7828F9-93E7-5B36-AE06-32C61E9CBA36}"/>
              </a:ext>
            </a:extLst>
          </p:cNvPr>
          <p:cNvSpPr>
            <a:spLocks noGrp="1"/>
          </p:cNvSpPr>
          <p:nvPr>
            <p:ph type="dt" sz="half" idx="10"/>
          </p:nvPr>
        </p:nvSpPr>
        <p:spPr/>
        <p:txBody>
          <a:bodyPr/>
          <a:lstStyle/>
          <a:p>
            <a:fld id="{D31AD28B-B904-429D-93BA-6221E602F04F}" type="datetimeFigureOut">
              <a:rPr lang="en-US" smtClean="0"/>
              <a:t>10/19/2026</a:t>
            </a:fld>
            <a:endParaRPr lang="en-US"/>
          </a:p>
        </p:txBody>
      </p:sp>
      <p:sp>
        <p:nvSpPr>
          <p:cNvPr id="3" name="Footer Placeholder 2">
            <a:extLst>
              <a:ext uri="{FF2B5EF4-FFF2-40B4-BE49-F238E27FC236}">
                <a16:creationId xmlns:a16="http://schemas.microsoft.com/office/drawing/2014/main" id="{017F1579-F74C-719B-D912-5DF7A6CC10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F7A664-436C-7D5B-8EB7-9AA379FC5C64}"/>
              </a:ext>
            </a:extLst>
          </p:cNvPr>
          <p:cNvSpPr>
            <a:spLocks noGrp="1"/>
          </p:cNvSpPr>
          <p:nvPr>
            <p:ph type="sldNum" sz="quarter" idx="12"/>
          </p:nvPr>
        </p:nvSpPr>
        <p:spPr/>
        <p:txBody>
          <a:bodyPr/>
          <a:lstStyle/>
          <a:p>
            <a:fld id="{CA32A9A1-3813-45E4-B066-1C17EC50410A}" type="slidenum">
              <a:rPr lang="en-US" smtClean="0"/>
              <a:t>‹#›</a:t>
            </a:fld>
            <a:endParaRPr lang="en-US"/>
          </a:p>
        </p:txBody>
      </p:sp>
    </p:spTree>
    <p:extLst>
      <p:ext uri="{BB962C8B-B14F-4D97-AF65-F5344CB8AC3E}">
        <p14:creationId xmlns:p14="http://schemas.microsoft.com/office/powerpoint/2010/main" val="169920126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493D43-1878-A11B-6765-2D40D34133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60E97A-88B9-7881-DC08-6C4C6A23DC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C146B9-7E22-117D-44F7-8B38802715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1AD28B-B904-429D-93BA-6221E602F04F}" type="datetimeFigureOut">
              <a:rPr lang="en-US" smtClean="0"/>
              <a:t>10/19/2026</a:t>
            </a:fld>
            <a:endParaRPr lang="en-US"/>
          </a:p>
        </p:txBody>
      </p:sp>
      <p:sp>
        <p:nvSpPr>
          <p:cNvPr id="5" name="Footer Placeholder 4">
            <a:extLst>
              <a:ext uri="{FF2B5EF4-FFF2-40B4-BE49-F238E27FC236}">
                <a16:creationId xmlns:a16="http://schemas.microsoft.com/office/drawing/2014/main" id="{23F11358-68ED-FAEE-0252-8FB22E5EED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4D93662-4689-7CD8-D7C3-C1D8368AA6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32A9A1-3813-45E4-B066-1C17EC50410A}" type="slidenum">
              <a:rPr lang="en-US" smtClean="0"/>
              <a:t>‹#›</a:t>
            </a:fld>
            <a:endParaRPr lang="en-US"/>
          </a:p>
        </p:txBody>
      </p:sp>
    </p:spTree>
    <p:extLst>
      <p:ext uri="{BB962C8B-B14F-4D97-AF65-F5344CB8AC3E}">
        <p14:creationId xmlns:p14="http://schemas.microsoft.com/office/powerpoint/2010/main" val="424066217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ACB997F-5A98-B5C2-30E9-086496C1E4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C66D94-DD54-DB9B-8DC3-162EAF632EC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D7AFAC-5005-F1C4-9A00-3A66315769C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5BC46B-F08E-E50D-1104-0639471E45E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E16030-93DE-EE72-2646-05B5409D5B4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987F10-AEF4-65E9-F42B-D160C3534F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7511DE-BE74-1A15-9C48-4D2571511D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BC10AD-EBEE-466A-408B-BB811802D07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3BFB1E-C55F-5F9A-679C-01DA6955DAB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01D89C-8DE9-5FCC-8FFD-9E02BA8DE8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083BE0-2A0C-DB45-0C37-03A02D2417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255C50-18AB-3157-987A-9B487890817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3BEBDC-3C98-C791-9AA3-12C0D551AE6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FB48AD-8F78-FE44-E72C-615F664F806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5C3E70-E23E-2634-4BF5-64DA2ECC9E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9D7DB6-F260-3478-1067-A302E5D7DB56}"/>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0818771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3258</Words>
  <Application>Microsoft Office PowerPoint</Application>
  <PresentationFormat>寬螢幕</PresentationFormat>
  <Paragraphs>159</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2026-08-31T06:44:48Z</dcterms:created>
  <dcterms:modified xsi:type="dcterms:W3CDTF">2026-10-19T15:45:31Z</dcterms:modified>
</cp:coreProperties>
</file>