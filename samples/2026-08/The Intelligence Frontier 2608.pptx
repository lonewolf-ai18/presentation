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0AF89-7175-4D4E-9ED8-721D45B10BF1}" v="16" dt="2026-08-07T01:47:32.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34" autoAdjust="0"/>
    <p:restoredTop sz="87037"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8-07T01:48:08.909" v="48" actId="166"/>
      <pc:docMkLst>
        <pc:docMk/>
      </pc:docMkLst>
      <pc:sldChg chg="addSp delSp modSp mod modNotesTx">
        <pc:chgData name="Lai, Wilson" userId="2840974a-0d84-4886-90a9-9a3ed79f3a48" providerId="ADAL" clId="{9F23B798-9E84-4552-BA63-E776E805C424}" dt="2026-08-07T01:48:08.909" v="48" actId="166"/>
        <pc:sldMkLst>
          <pc:docMk/>
          <pc:sldMk cId="0" sldId="257"/>
        </pc:sldMkLst>
        <pc:picChg chg="del">
          <ac:chgData name="Lai, Wilson" userId="2840974a-0d84-4886-90a9-9a3ed79f3a48" providerId="ADAL" clId="{9F23B798-9E84-4552-BA63-E776E805C424}" dt="2026-08-07T01:19:32.510" v="0" actId="21"/>
          <ac:picMkLst>
            <pc:docMk/>
            <pc:sldMk cId="0" sldId="257"/>
            <ac:picMk id="2" creationId="{00000000-0000-0000-0000-000000000000}"/>
          </ac:picMkLst>
        </pc:picChg>
        <pc:picChg chg="add ord">
          <ac:chgData name="Lai, Wilson" userId="2840974a-0d84-4886-90a9-9a3ed79f3a48" providerId="ADAL" clId="{9F23B798-9E84-4552-BA63-E776E805C424}" dt="2026-08-07T01:48:08.909" v="48" actId="166"/>
          <ac:picMkLst>
            <pc:docMk/>
            <pc:sldMk cId="0" sldId="257"/>
            <ac:picMk id="7" creationId="{D7092B59-EA19-55BA-53C2-B11A6AA43F73}"/>
          </ac:picMkLst>
        </pc:picChg>
      </pc:sldChg>
      <pc:sldChg chg="addSp delSp mod">
        <pc:chgData name="Lai, Wilson" userId="2840974a-0d84-4886-90a9-9a3ed79f3a48" providerId="ADAL" clId="{9F23B798-9E84-4552-BA63-E776E805C424}" dt="2026-08-07T01:20:58.031" v="4" actId="22"/>
        <pc:sldMkLst>
          <pc:docMk/>
          <pc:sldMk cId="0" sldId="258"/>
        </pc:sldMkLst>
        <pc:picChg chg="del">
          <ac:chgData name="Lai, Wilson" userId="2840974a-0d84-4886-90a9-9a3ed79f3a48" providerId="ADAL" clId="{9F23B798-9E84-4552-BA63-E776E805C424}" dt="2026-08-07T01:20:41.011" v="3" actId="21"/>
          <ac:picMkLst>
            <pc:docMk/>
            <pc:sldMk cId="0" sldId="258"/>
            <ac:picMk id="2" creationId="{00000000-0000-0000-0000-000000000000}"/>
          </ac:picMkLst>
        </pc:picChg>
        <pc:picChg chg="add">
          <ac:chgData name="Lai, Wilson" userId="2840974a-0d84-4886-90a9-9a3ed79f3a48" providerId="ADAL" clId="{9F23B798-9E84-4552-BA63-E776E805C424}" dt="2026-08-07T01:20:58.031" v="4" actId="22"/>
          <ac:picMkLst>
            <pc:docMk/>
            <pc:sldMk cId="0" sldId="258"/>
            <ac:picMk id="4" creationId="{DC87FB74-5B22-3579-480A-348F7BB078C4}"/>
          </ac:picMkLst>
        </pc:picChg>
      </pc:sldChg>
      <pc:sldChg chg="addSp delSp mod modNotesTx">
        <pc:chgData name="Lai, Wilson" userId="2840974a-0d84-4886-90a9-9a3ed79f3a48" providerId="ADAL" clId="{9F23B798-9E84-4552-BA63-E776E805C424}" dt="2026-08-07T01:44:53.881" v="35" actId="12"/>
        <pc:sldMkLst>
          <pc:docMk/>
          <pc:sldMk cId="0" sldId="259"/>
        </pc:sldMkLst>
        <pc:picChg chg="del">
          <ac:chgData name="Lai, Wilson" userId="2840974a-0d84-4886-90a9-9a3ed79f3a48" providerId="ADAL" clId="{9F23B798-9E84-4552-BA63-E776E805C424}" dt="2026-08-07T01:21:01.739" v="5" actId="21"/>
          <ac:picMkLst>
            <pc:docMk/>
            <pc:sldMk cId="0" sldId="259"/>
            <ac:picMk id="2" creationId="{00000000-0000-0000-0000-000000000000}"/>
          </ac:picMkLst>
        </pc:picChg>
        <pc:picChg chg="add">
          <ac:chgData name="Lai, Wilson" userId="2840974a-0d84-4886-90a9-9a3ed79f3a48" providerId="ADAL" clId="{9F23B798-9E84-4552-BA63-E776E805C424}" dt="2026-08-07T01:21:19.112" v="6" actId="22"/>
          <ac:picMkLst>
            <pc:docMk/>
            <pc:sldMk cId="0" sldId="259"/>
            <ac:picMk id="4" creationId="{20B54FBC-623F-4004-6261-E008E1AB3E97}"/>
          </ac:picMkLst>
        </pc:picChg>
      </pc:sldChg>
      <pc:sldChg chg="addSp delSp mod">
        <pc:chgData name="Lai, Wilson" userId="2840974a-0d84-4886-90a9-9a3ed79f3a48" providerId="ADAL" clId="{9F23B798-9E84-4552-BA63-E776E805C424}" dt="2026-08-07T01:21:30.176" v="8" actId="22"/>
        <pc:sldMkLst>
          <pc:docMk/>
          <pc:sldMk cId="0" sldId="260"/>
        </pc:sldMkLst>
        <pc:picChg chg="del">
          <ac:chgData name="Lai, Wilson" userId="2840974a-0d84-4886-90a9-9a3ed79f3a48" providerId="ADAL" clId="{9F23B798-9E84-4552-BA63-E776E805C424}" dt="2026-08-07T01:21:21.757" v="7" actId="21"/>
          <ac:picMkLst>
            <pc:docMk/>
            <pc:sldMk cId="0" sldId="260"/>
            <ac:picMk id="2" creationId="{00000000-0000-0000-0000-000000000000}"/>
          </ac:picMkLst>
        </pc:picChg>
        <pc:picChg chg="add">
          <ac:chgData name="Lai, Wilson" userId="2840974a-0d84-4886-90a9-9a3ed79f3a48" providerId="ADAL" clId="{9F23B798-9E84-4552-BA63-E776E805C424}" dt="2026-08-07T01:21:30.176" v="8" actId="22"/>
          <ac:picMkLst>
            <pc:docMk/>
            <pc:sldMk cId="0" sldId="260"/>
            <ac:picMk id="4" creationId="{90517DC3-EAD8-FECD-BFFD-A619CC6803BB}"/>
          </ac:picMkLst>
        </pc:picChg>
      </pc:sldChg>
      <pc:sldChg chg="addSp delSp mod modNotesTx">
        <pc:chgData name="Lai, Wilson" userId="2840974a-0d84-4886-90a9-9a3ed79f3a48" providerId="ADAL" clId="{9F23B798-9E84-4552-BA63-E776E805C424}" dt="2026-08-07T01:45:19.158" v="36" actId="12"/>
        <pc:sldMkLst>
          <pc:docMk/>
          <pc:sldMk cId="0" sldId="261"/>
        </pc:sldMkLst>
        <pc:picChg chg="del">
          <ac:chgData name="Lai, Wilson" userId="2840974a-0d84-4886-90a9-9a3ed79f3a48" providerId="ADAL" clId="{9F23B798-9E84-4552-BA63-E776E805C424}" dt="2026-08-07T01:21:32.429" v="9" actId="21"/>
          <ac:picMkLst>
            <pc:docMk/>
            <pc:sldMk cId="0" sldId="261"/>
            <ac:picMk id="2" creationId="{00000000-0000-0000-0000-000000000000}"/>
          </ac:picMkLst>
        </pc:picChg>
        <pc:picChg chg="add">
          <ac:chgData name="Lai, Wilson" userId="2840974a-0d84-4886-90a9-9a3ed79f3a48" providerId="ADAL" clId="{9F23B798-9E84-4552-BA63-E776E805C424}" dt="2026-08-07T01:21:41.128" v="10" actId="22"/>
          <ac:picMkLst>
            <pc:docMk/>
            <pc:sldMk cId="0" sldId="261"/>
            <ac:picMk id="4" creationId="{97469B58-4F17-E5AF-0C0A-CEF44BDB754A}"/>
          </ac:picMkLst>
        </pc:picChg>
      </pc:sldChg>
      <pc:sldChg chg="addSp delSp mod modNotesTx">
        <pc:chgData name="Lai, Wilson" userId="2840974a-0d84-4886-90a9-9a3ed79f3a48" providerId="ADAL" clId="{9F23B798-9E84-4552-BA63-E776E805C424}" dt="2026-08-07T01:45:34.453" v="37" actId="12"/>
        <pc:sldMkLst>
          <pc:docMk/>
          <pc:sldMk cId="0" sldId="262"/>
        </pc:sldMkLst>
        <pc:picChg chg="del">
          <ac:chgData name="Lai, Wilson" userId="2840974a-0d84-4886-90a9-9a3ed79f3a48" providerId="ADAL" clId="{9F23B798-9E84-4552-BA63-E776E805C424}" dt="2026-08-07T01:21:43.301" v="11" actId="21"/>
          <ac:picMkLst>
            <pc:docMk/>
            <pc:sldMk cId="0" sldId="262"/>
            <ac:picMk id="2" creationId="{00000000-0000-0000-0000-000000000000}"/>
          </ac:picMkLst>
        </pc:picChg>
        <pc:picChg chg="add">
          <ac:chgData name="Lai, Wilson" userId="2840974a-0d84-4886-90a9-9a3ed79f3a48" providerId="ADAL" clId="{9F23B798-9E84-4552-BA63-E776E805C424}" dt="2026-08-07T01:21:52.901" v="12" actId="22"/>
          <ac:picMkLst>
            <pc:docMk/>
            <pc:sldMk cId="0" sldId="262"/>
            <ac:picMk id="4" creationId="{A0744031-2221-FB56-2669-C190933CD196}"/>
          </ac:picMkLst>
        </pc:picChg>
      </pc:sldChg>
      <pc:sldChg chg="addSp delSp mod modNotesTx">
        <pc:chgData name="Lai, Wilson" userId="2840974a-0d84-4886-90a9-9a3ed79f3a48" providerId="ADAL" clId="{9F23B798-9E84-4552-BA63-E776E805C424}" dt="2026-08-07T01:45:52.469" v="38" actId="12"/>
        <pc:sldMkLst>
          <pc:docMk/>
          <pc:sldMk cId="0" sldId="263"/>
        </pc:sldMkLst>
        <pc:picChg chg="del">
          <ac:chgData name="Lai, Wilson" userId="2840974a-0d84-4886-90a9-9a3ed79f3a48" providerId="ADAL" clId="{9F23B798-9E84-4552-BA63-E776E805C424}" dt="2026-08-07T01:21:56.375" v="13" actId="21"/>
          <ac:picMkLst>
            <pc:docMk/>
            <pc:sldMk cId="0" sldId="263"/>
            <ac:picMk id="2" creationId="{00000000-0000-0000-0000-000000000000}"/>
          </ac:picMkLst>
        </pc:picChg>
        <pc:picChg chg="add">
          <ac:chgData name="Lai, Wilson" userId="2840974a-0d84-4886-90a9-9a3ed79f3a48" providerId="ADAL" clId="{9F23B798-9E84-4552-BA63-E776E805C424}" dt="2026-08-07T01:22:05.495" v="14" actId="22"/>
          <ac:picMkLst>
            <pc:docMk/>
            <pc:sldMk cId="0" sldId="263"/>
            <ac:picMk id="4" creationId="{61E7BD24-F48A-DEA4-02B3-0A9A6704A8B6}"/>
          </ac:picMkLst>
        </pc:picChg>
      </pc:sldChg>
      <pc:sldChg chg="addSp delSp mod modNotesTx">
        <pc:chgData name="Lai, Wilson" userId="2840974a-0d84-4886-90a9-9a3ed79f3a48" providerId="ADAL" clId="{9F23B798-9E84-4552-BA63-E776E805C424}" dt="2026-08-07T01:46:04.911" v="39" actId="12"/>
        <pc:sldMkLst>
          <pc:docMk/>
          <pc:sldMk cId="0" sldId="264"/>
        </pc:sldMkLst>
        <pc:picChg chg="del">
          <ac:chgData name="Lai, Wilson" userId="2840974a-0d84-4886-90a9-9a3ed79f3a48" providerId="ADAL" clId="{9F23B798-9E84-4552-BA63-E776E805C424}" dt="2026-08-07T01:22:07.405" v="15" actId="21"/>
          <ac:picMkLst>
            <pc:docMk/>
            <pc:sldMk cId="0" sldId="264"/>
            <ac:picMk id="2" creationId="{00000000-0000-0000-0000-000000000000}"/>
          </ac:picMkLst>
        </pc:picChg>
        <pc:picChg chg="add">
          <ac:chgData name="Lai, Wilson" userId="2840974a-0d84-4886-90a9-9a3ed79f3a48" providerId="ADAL" clId="{9F23B798-9E84-4552-BA63-E776E805C424}" dt="2026-08-07T01:22:16.210" v="16" actId="22"/>
          <ac:picMkLst>
            <pc:docMk/>
            <pc:sldMk cId="0" sldId="264"/>
            <ac:picMk id="4" creationId="{DBD1D3C4-0180-D561-3277-079AAA1AAB01}"/>
          </ac:picMkLst>
        </pc:picChg>
      </pc:sldChg>
      <pc:sldChg chg="addSp delSp mod modNotesTx">
        <pc:chgData name="Lai, Wilson" userId="2840974a-0d84-4886-90a9-9a3ed79f3a48" providerId="ADAL" clId="{9F23B798-9E84-4552-BA63-E776E805C424}" dt="2026-08-07T01:46:21.164" v="40" actId="12"/>
        <pc:sldMkLst>
          <pc:docMk/>
          <pc:sldMk cId="0" sldId="265"/>
        </pc:sldMkLst>
        <pc:picChg chg="del">
          <ac:chgData name="Lai, Wilson" userId="2840974a-0d84-4886-90a9-9a3ed79f3a48" providerId="ADAL" clId="{9F23B798-9E84-4552-BA63-E776E805C424}" dt="2026-08-07T01:22:18.712" v="17" actId="21"/>
          <ac:picMkLst>
            <pc:docMk/>
            <pc:sldMk cId="0" sldId="265"/>
            <ac:picMk id="2" creationId="{00000000-0000-0000-0000-000000000000}"/>
          </ac:picMkLst>
        </pc:picChg>
        <pc:picChg chg="add">
          <ac:chgData name="Lai, Wilson" userId="2840974a-0d84-4886-90a9-9a3ed79f3a48" providerId="ADAL" clId="{9F23B798-9E84-4552-BA63-E776E805C424}" dt="2026-08-07T01:22:27.810" v="18" actId="22"/>
          <ac:picMkLst>
            <pc:docMk/>
            <pc:sldMk cId="0" sldId="265"/>
            <ac:picMk id="4" creationId="{F50BA2EC-872B-C07A-58F7-9E820CE89E3A}"/>
          </ac:picMkLst>
        </pc:picChg>
      </pc:sldChg>
      <pc:sldChg chg="addSp delSp mod">
        <pc:chgData name="Lai, Wilson" userId="2840974a-0d84-4886-90a9-9a3ed79f3a48" providerId="ADAL" clId="{9F23B798-9E84-4552-BA63-E776E805C424}" dt="2026-08-07T01:22:39.921" v="20" actId="22"/>
        <pc:sldMkLst>
          <pc:docMk/>
          <pc:sldMk cId="0" sldId="266"/>
        </pc:sldMkLst>
        <pc:picChg chg="del">
          <ac:chgData name="Lai, Wilson" userId="2840974a-0d84-4886-90a9-9a3ed79f3a48" providerId="ADAL" clId="{9F23B798-9E84-4552-BA63-E776E805C424}" dt="2026-08-07T01:22:29.637" v="19" actId="21"/>
          <ac:picMkLst>
            <pc:docMk/>
            <pc:sldMk cId="0" sldId="266"/>
            <ac:picMk id="2" creationId="{00000000-0000-0000-0000-000000000000}"/>
          </ac:picMkLst>
        </pc:picChg>
        <pc:picChg chg="add">
          <ac:chgData name="Lai, Wilson" userId="2840974a-0d84-4886-90a9-9a3ed79f3a48" providerId="ADAL" clId="{9F23B798-9E84-4552-BA63-E776E805C424}" dt="2026-08-07T01:22:39.921" v="20" actId="22"/>
          <ac:picMkLst>
            <pc:docMk/>
            <pc:sldMk cId="0" sldId="266"/>
            <ac:picMk id="4" creationId="{A787F9F9-9DED-D144-46C7-9BBEF400A9F7}"/>
          </ac:picMkLst>
        </pc:picChg>
      </pc:sldChg>
      <pc:sldChg chg="addSp delSp mod modNotesTx">
        <pc:chgData name="Lai, Wilson" userId="2840974a-0d84-4886-90a9-9a3ed79f3a48" providerId="ADAL" clId="{9F23B798-9E84-4552-BA63-E776E805C424}" dt="2026-08-07T01:46:48.001" v="41" actId="12"/>
        <pc:sldMkLst>
          <pc:docMk/>
          <pc:sldMk cId="0" sldId="267"/>
        </pc:sldMkLst>
        <pc:picChg chg="del">
          <ac:chgData name="Lai, Wilson" userId="2840974a-0d84-4886-90a9-9a3ed79f3a48" providerId="ADAL" clId="{9F23B798-9E84-4552-BA63-E776E805C424}" dt="2026-08-07T01:22:42.210" v="21" actId="21"/>
          <ac:picMkLst>
            <pc:docMk/>
            <pc:sldMk cId="0" sldId="267"/>
            <ac:picMk id="2" creationId="{00000000-0000-0000-0000-000000000000}"/>
          </ac:picMkLst>
        </pc:picChg>
        <pc:picChg chg="add">
          <ac:chgData name="Lai, Wilson" userId="2840974a-0d84-4886-90a9-9a3ed79f3a48" providerId="ADAL" clId="{9F23B798-9E84-4552-BA63-E776E805C424}" dt="2026-08-07T01:22:49.828" v="22" actId="22"/>
          <ac:picMkLst>
            <pc:docMk/>
            <pc:sldMk cId="0" sldId="267"/>
            <ac:picMk id="4" creationId="{A1888541-D6C5-82B7-F941-47FCC31CB0FE}"/>
          </ac:picMkLst>
        </pc:picChg>
      </pc:sldChg>
      <pc:sldChg chg="addSp delSp mod modNotesTx">
        <pc:chgData name="Lai, Wilson" userId="2840974a-0d84-4886-90a9-9a3ed79f3a48" providerId="ADAL" clId="{9F23B798-9E84-4552-BA63-E776E805C424}" dt="2026-08-07T01:47:05.546" v="43" actId="12"/>
        <pc:sldMkLst>
          <pc:docMk/>
          <pc:sldMk cId="0" sldId="268"/>
        </pc:sldMkLst>
        <pc:picChg chg="del">
          <ac:chgData name="Lai, Wilson" userId="2840974a-0d84-4886-90a9-9a3ed79f3a48" providerId="ADAL" clId="{9F23B798-9E84-4552-BA63-E776E805C424}" dt="2026-08-07T01:22:52.207" v="23" actId="21"/>
          <ac:picMkLst>
            <pc:docMk/>
            <pc:sldMk cId="0" sldId="268"/>
            <ac:picMk id="2" creationId="{00000000-0000-0000-0000-000000000000}"/>
          </ac:picMkLst>
        </pc:picChg>
        <pc:picChg chg="add">
          <ac:chgData name="Lai, Wilson" userId="2840974a-0d84-4886-90a9-9a3ed79f3a48" providerId="ADAL" clId="{9F23B798-9E84-4552-BA63-E776E805C424}" dt="2026-08-07T01:23:02.514" v="24" actId="22"/>
          <ac:picMkLst>
            <pc:docMk/>
            <pc:sldMk cId="0" sldId="268"/>
            <ac:picMk id="4" creationId="{502AD4F2-855B-335D-4CCD-80B0AC6BCBF9}"/>
          </ac:picMkLst>
        </pc:picChg>
      </pc:sldChg>
      <pc:sldChg chg="addSp delSp mod modNotesTx">
        <pc:chgData name="Lai, Wilson" userId="2840974a-0d84-4886-90a9-9a3ed79f3a48" providerId="ADAL" clId="{9F23B798-9E84-4552-BA63-E776E805C424}" dt="2026-08-07T01:47:17.936" v="44" actId="12"/>
        <pc:sldMkLst>
          <pc:docMk/>
          <pc:sldMk cId="0" sldId="269"/>
        </pc:sldMkLst>
        <pc:picChg chg="del">
          <ac:chgData name="Lai, Wilson" userId="2840974a-0d84-4886-90a9-9a3ed79f3a48" providerId="ADAL" clId="{9F23B798-9E84-4552-BA63-E776E805C424}" dt="2026-08-07T01:23:04.796" v="25" actId="21"/>
          <ac:picMkLst>
            <pc:docMk/>
            <pc:sldMk cId="0" sldId="269"/>
            <ac:picMk id="2" creationId="{00000000-0000-0000-0000-000000000000}"/>
          </ac:picMkLst>
        </pc:picChg>
        <pc:picChg chg="add">
          <ac:chgData name="Lai, Wilson" userId="2840974a-0d84-4886-90a9-9a3ed79f3a48" providerId="ADAL" clId="{9F23B798-9E84-4552-BA63-E776E805C424}" dt="2026-08-07T01:23:15.661" v="26" actId="22"/>
          <ac:picMkLst>
            <pc:docMk/>
            <pc:sldMk cId="0" sldId="269"/>
            <ac:picMk id="4" creationId="{905D3E41-1113-D6E7-01B3-CF5DD7A8BAA6}"/>
          </ac:picMkLst>
        </pc:picChg>
      </pc:sldChg>
      <pc:sldChg chg="addSp delSp mod modNotesTx">
        <pc:chgData name="Lai, Wilson" userId="2840974a-0d84-4886-90a9-9a3ed79f3a48" providerId="ADAL" clId="{9F23B798-9E84-4552-BA63-E776E805C424}" dt="2026-08-07T01:47:49.247" v="47" actId="20577"/>
        <pc:sldMkLst>
          <pc:docMk/>
          <pc:sldMk cId="2908835137" sldId="270"/>
        </pc:sldMkLst>
        <pc:picChg chg="del">
          <ac:chgData name="Lai, Wilson" userId="2840974a-0d84-4886-90a9-9a3ed79f3a48" providerId="ADAL" clId="{9F23B798-9E84-4552-BA63-E776E805C424}" dt="2026-08-07T01:23:19.275" v="27" actId="21"/>
          <ac:picMkLst>
            <pc:docMk/>
            <pc:sldMk cId="2908835137" sldId="270"/>
            <ac:picMk id="3" creationId="{1D454352-AC86-B6F6-F2A4-EFB424E66FE6}"/>
          </ac:picMkLst>
        </pc:picChg>
        <pc:picChg chg="add">
          <ac:chgData name="Lai, Wilson" userId="2840974a-0d84-4886-90a9-9a3ed79f3a48" providerId="ADAL" clId="{9F23B798-9E84-4552-BA63-E776E805C424}" dt="2026-08-07T01:23:36.295" v="28" actId="22"/>
          <ac:picMkLst>
            <pc:docMk/>
            <pc:sldMk cId="2908835137" sldId="270"/>
            <ac:picMk id="4" creationId="{00FA739C-0E45-EC48-84FB-C871AFA0C493}"/>
          </ac:picMkLst>
        </pc:picChg>
      </pc:sldChg>
      <pc:sldMasterChg chg="setBg">
        <pc:chgData name="Lai, Wilson" userId="2840974a-0d84-4886-90a9-9a3ed79f3a48" providerId="ADAL" clId="{9F23B798-9E84-4552-BA63-E776E805C424}" dt="2026-08-07T01:20:00.432" v="2"/>
        <pc:sldMasterMkLst>
          <pc:docMk/>
          <pc:sldMasterMk cId="2658215342"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CD152E-897C-43FB-BDD1-F83E3B7EA42B}"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6B1B89-43C6-4876-A8B5-B41450B8E2CA}" type="slidenum">
              <a:rPr lang="en-US" smtClean="0"/>
              <a:t>‹#›</a:t>
            </a:fld>
            <a:endParaRPr lang="en-US"/>
          </a:p>
        </p:txBody>
      </p:sp>
    </p:spTree>
    <p:extLst>
      <p:ext uri="{BB962C8B-B14F-4D97-AF65-F5344CB8AC3E}">
        <p14:creationId xmlns:p14="http://schemas.microsoft.com/office/powerpoint/2010/main" val="732065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unpacking the interconnected forces shaping technology, finance, and science right now—what we call </a:t>
            </a:r>
            <a:r>
              <a:rPr lang="en-US" sz="1200" i="1" kern="1200" dirty="0">
                <a:solidFill>
                  <a:schemeClr val="tx1"/>
                </a:solidFill>
                <a:effectLst/>
                <a:latin typeface="+mn-lt"/>
                <a:ea typeface="+mn-ea"/>
                <a:cs typeface="+mn-cs"/>
              </a:rPr>
              <a:t>The Intelligence Frontier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Our agenda covers four core pillars:</a:t>
            </a:r>
          </a:p>
          <a:p>
            <a:pPr marL="228600" indent="-228600">
              <a:buFont typeface="+mj-lt"/>
              <a:buAutoNum type="arabicPeriod"/>
            </a:pPr>
            <a:r>
              <a:rPr lang="en-US" sz="1200" b="1" kern="1200" dirty="0">
                <a:solidFill>
                  <a:schemeClr val="tx1"/>
                </a:solidFill>
                <a:effectLst/>
                <a:latin typeface="+mn-lt"/>
                <a:ea typeface="+mn-ea"/>
                <a:cs typeface="+mn-cs"/>
              </a:rPr>
              <a:t>Markets &amp; Financial Leverage:</a:t>
            </a:r>
            <a:r>
              <a:rPr lang="en-US" sz="1200" kern="1200" dirty="0">
                <a:solidFill>
                  <a:schemeClr val="tx1"/>
                </a:solidFill>
                <a:effectLst/>
                <a:latin typeface="+mn-lt"/>
                <a:ea typeface="+mn-ea"/>
                <a:cs typeface="+mn-cs"/>
              </a:rPr>
              <a:t> How a $20B AI momentum trade imploded through margin calls. </a:t>
            </a:r>
          </a:p>
          <a:p>
            <a:pPr marL="228600" indent="-228600">
              <a:buFont typeface="+mj-lt"/>
              <a:buAutoNum type="arabicPeriod"/>
            </a:pPr>
            <a:r>
              <a:rPr lang="en-US" sz="1200" b="1" kern="1200" dirty="0">
                <a:solidFill>
                  <a:schemeClr val="tx1"/>
                </a:solidFill>
                <a:effectLst/>
                <a:latin typeface="+mn-lt"/>
                <a:ea typeface="+mn-ea"/>
                <a:cs typeface="+mn-cs"/>
              </a:rPr>
              <a:t>AI Industry Dynamics:</a:t>
            </a:r>
            <a:r>
              <a:rPr lang="en-US" sz="1200" kern="1200" dirty="0">
                <a:solidFill>
                  <a:schemeClr val="tx1"/>
                </a:solidFill>
                <a:effectLst/>
                <a:latin typeface="+mn-lt"/>
                <a:ea typeface="+mn-ea"/>
                <a:cs typeface="+mn-cs"/>
              </a:rPr>
              <a:t> The regulatory moves by frontier AI labs and the underlying push for regulatory capture. </a:t>
            </a:r>
          </a:p>
          <a:p>
            <a:pPr marL="228600" indent="-228600">
              <a:buFont typeface="+mj-lt"/>
              <a:buAutoNum type="arabicPeriod"/>
            </a:pPr>
            <a:r>
              <a:rPr lang="en-US" sz="1200" b="1" kern="1200" dirty="0">
                <a:solidFill>
                  <a:schemeClr val="tx1"/>
                </a:solidFill>
                <a:effectLst/>
                <a:latin typeface="+mn-lt"/>
                <a:ea typeface="+mn-ea"/>
                <a:cs typeface="+mn-cs"/>
              </a:rPr>
              <a:t>Macroeconomics &amp; Energy:</a:t>
            </a:r>
            <a:r>
              <a:rPr lang="en-US" sz="1200" kern="1200" dirty="0">
                <a:solidFill>
                  <a:schemeClr val="tx1"/>
                </a:solidFill>
                <a:effectLst/>
                <a:latin typeface="+mn-lt"/>
                <a:ea typeface="+mn-ea"/>
                <a:cs typeface="+mn-cs"/>
              </a:rPr>
              <a:t> The massive energy deficit threatening compute scalability, alongside high bond yields. </a:t>
            </a:r>
          </a:p>
          <a:p>
            <a:pPr marL="228600" indent="-228600">
              <a:buFont typeface="+mj-lt"/>
              <a:buAutoNum type="arabicPeriod"/>
            </a:pPr>
            <a:r>
              <a:rPr lang="en-US" sz="1200" b="1" kern="1200" dirty="0">
                <a:solidFill>
                  <a:schemeClr val="tx1"/>
                </a:solidFill>
                <a:effectLst/>
                <a:latin typeface="+mn-lt"/>
                <a:ea typeface="+mn-ea"/>
                <a:cs typeface="+mn-cs"/>
              </a:rPr>
              <a:t>Science &amp; Biological Compute:</a:t>
            </a:r>
            <a:r>
              <a:rPr lang="en-US" sz="1200" kern="1200" dirty="0">
                <a:solidFill>
                  <a:schemeClr val="tx1"/>
                </a:solidFill>
                <a:effectLst/>
                <a:latin typeface="+mn-lt"/>
                <a:ea typeface="+mn-ea"/>
                <a:cs typeface="+mn-cs"/>
              </a:rPr>
              <a:t> Breakthrough research mapping a fruit fly’s brain in 64 dimensions, revealing how far silicon still is from biological wetware. </a:t>
            </a:r>
          </a:p>
          <a:p>
            <a:r>
              <a:rPr lang="en-US" sz="1200" kern="1200" dirty="0">
                <a:solidFill>
                  <a:schemeClr val="tx1"/>
                </a:solidFill>
                <a:effectLst/>
                <a:latin typeface="+mn-lt"/>
                <a:ea typeface="+mn-ea"/>
                <a:cs typeface="+mn-cs"/>
              </a:rPr>
              <a:t>Let's dive into the market dynamics first.</a:t>
            </a:r>
            <a:endParaRPr lang="en-US" dirty="0"/>
          </a:p>
          <a:p>
            <a:endParaRPr lang="en-US" dirty="0"/>
          </a:p>
          <a:p>
            <a:endParaRPr lang="en-US" dirty="0"/>
          </a:p>
          <a:p>
            <a:r>
              <a:rPr lang="en-US" dirty="0"/>
              <a:t>https://www.youtube.com/watch?v=ViqYWhLimGg</a:t>
            </a:r>
          </a:p>
        </p:txBody>
      </p:sp>
      <p:sp>
        <p:nvSpPr>
          <p:cNvPr id="4" name="Slide Number Placeholder 3"/>
          <p:cNvSpPr>
            <a:spLocks noGrp="1"/>
          </p:cNvSpPr>
          <p:nvPr>
            <p:ph type="sldNum" sz="quarter" idx="5"/>
          </p:nvPr>
        </p:nvSpPr>
        <p:spPr/>
        <p:txBody>
          <a:bodyPr/>
          <a:lstStyle/>
          <a:p>
            <a:fld id="{126B1B89-43C6-4876-A8B5-B41450B8E2CA}" type="slidenum">
              <a:rPr lang="en-US" smtClean="0"/>
              <a:t>1</a:t>
            </a:fld>
            <a:endParaRPr lang="en-US"/>
          </a:p>
        </p:txBody>
      </p:sp>
    </p:spTree>
    <p:extLst>
      <p:ext uri="{BB962C8B-B14F-4D97-AF65-F5344CB8AC3E}">
        <p14:creationId xmlns:p14="http://schemas.microsoft.com/office/powerpoint/2010/main" val="2968466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examine how excessive leverage created an catastrophic unwind in the AI sector. </a:t>
            </a:r>
          </a:p>
          <a:p>
            <a:r>
              <a:rPr lang="en-US" sz="1200" kern="1200" dirty="0">
                <a:solidFill>
                  <a:schemeClr val="tx1"/>
                </a:solidFill>
                <a:effectLst/>
                <a:latin typeface="+mn-lt"/>
                <a:ea typeface="+mn-ea"/>
                <a:cs typeface="+mn-cs"/>
              </a:rPr>
              <a:t>Here, we track a fund that scaled from $225 million to over $20 billion in assets by riding the AI momentum wave. However, to achieve these returns, the fund applied roughly </a:t>
            </a:r>
            <a:r>
              <a:rPr lang="en-US" sz="1200" b="1" kern="1200" dirty="0">
                <a:solidFill>
                  <a:schemeClr val="tx1"/>
                </a:solidFill>
                <a:effectLst/>
                <a:latin typeface="+mn-lt"/>
                <a:ea typeface="+mn-ea"/>
                <a:cs typeface="+mn-cs"/>
              </a:rPr>
              <a:t>3.5x leverage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Warren Buffett and Charlie Munger often note, leverage is the primary way smart people go broke. Without leverage, a 20% or 30% sector correction is a painful month. With 3.5x leverage, a 20%+ sudden correction in the Semiconductor Index wipes out the entire equity base. </a:t>
            </a:r>
          </a:p>
          <a:p>
            <a:r>
              <a:rPr lang="en-US" sz="1200" kern="1200" dirty="0">
                <a:solidFill>
                  <a:schemeClr val="tx1"/>
                </a:solidFill>
                <a:effectLst/>
                <a:latin typeface="+mn-lt"/>
                <a:ea typeface="+mn-ea"/>
                <a:cs typeface="+mn-cs"/>
              </a:rPr>
              <a:t>Once the chip index turned, the fund crossed its liquidation threshold, converting paper gains into an absolute total wipeout.</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2</a:t>
            </a:fld>
            <a:endParaRPr lang="en-US"/>
          </a:p>
        </p:txBody>
      </p:sp>
    </p:spTree>
    <p:extLst>
      <p:ext uri="{BB962C8B-B14F-4D97-AF65-F5344CB8AC3E}">
        <p14:creationId xmlns:p14="http://schemas.microsoft.com/office/powerpoint/2010/main" val="1344815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3 breaks down the mechanics of the liquidation cascade—the 'Automatic One-Way Ratchet'.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Outsized conviction leads managers to layer high leverage (3.5x) onto momentum assets.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A macro downdraft triggers an unexpected dip in semiconductor indices.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Prime brokers issue immediate margin calls.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4:</a:t>
            </a:r>
            <a:r>
              <a:rPr lang="en-US" sz="1200" kern="1200" dirty="0">
                <a:solidFill>
                  <a:schemeClr val="tx1"/>
                </a:solidFill>
                <a:effectLst/>
                <a:latin typeface="+mn-lt"/>
                <a:ea typeface="+mn-ea"/>
                <a:cs typeface="+mn-cs"/>
              </a:rPr>
              <a:t> When cash isn't posted immediately, automated risk engines force-liquidate the entire portfolio at market prices. Major institutional market makers step in to buy the distressed assets at massive discounts. </a:t>
            </a:r>
          </a:p>
          <a:p>
            <a:r>
              <a:rPr lang="en-US" sz="1200" b="1" kern="1200" dirty="0">
                <a:solidFill>
                  <a:schemeClr val="tx1"/>
                </a:solidFill>
                <a:effectLst/>
                <a:latin typeface="+mn-lt"/>
                <a:ea typeface="+mn-ea"/>
                <a:cs typeface="+mn-cs"/>
              </a:rPr>
              <a:t>The Contagion Effect:</a:t>
            </a:r>
            <a:r>
              <a:rPr lang="en-US" sz="1200" kern="1200" dirty="0">
                <a:solidFill>
                  <a:schemeClr val="tx1"/>
                </a:solidFill>
                <a:effectLst/>
                <a:latin typeface="+mn-lt"/>
                <a:ea typeface="+mn-ea"/>
                <a:cs typeface="+mn-cs"/>
              </a:rPr>
              <a:t> This wasn't isolated to hedge funds. In South Korea alone, over </a:t>
            </a:r>
            <a:r>
              <a:rPr lang="en-US" sz="1200" b="1" kern="1200" dirty="0">
                <a:solidFill>
                  <a:schemeClr val="tx1"/>
                </a:solidFill>
                <a:effectLst/>
                <a:latin typeface="+mn-lt"/>
                <a:ea typeface="+mn-ea"/>
                <a:cs typeface="+mn-cs"/>
              </a:rPr>
              <a:t>1.2 million retail accounts</a:t>
            </a:r>
            <a:r>
              <a:rPr lang="en-US" sz="1200" kern="1200" dirty="0">
                <a:solidFill>
                  <a:schemeClr val="tx1"/>
                </a:solidFill>
                <a:effectLst/>
                <a:latin typeface="+mn-lt"/>
                <a:ea typeface="+mn-ea"/>
                <a:cs typeface="+mn-cs"/>
              </a:rPr>
              <a:t> utilizing leverage were hit with simultaneous margin calls. It illustrates how systemic levered trades become when retail and institutional investors crowded into the exact same AI momentum play.</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3</a:t>
            </a:fld>
            <a:endParaRPr lang="en-US"/>
          </a:p>
        </p:txBody>
      </p:sp>
    </p:spTree>
    <p:extLst>
      <p:ext uri="{BB962C8B-B14F-4D97-AF65-F5344CB8AC3E}">
        <p14:creationId xmlns:p14="http://schemas.microsoft.com/office/powerpoint/2010/main" val="3335261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Beyond market leverage, macro interest rates are exerting immense pressure on tech valuations. </a:t>
            </a:r>
          </a:p>
          <a:p>
            <a:r>
              <a:rPr lang="en-US" sz="1200" kern="1200" dirty="0">
                <a:solidFill>
                  <a:schemeClr val="tx1"/>
                </a:solidFill>
                <a:effectLst/>
                <a:latin typeface="+mn-lt"/>
                <a:ea typeface="+mn-ea"/>
                <a:cs typeface="+mn-cs"/>
              </a:rPr>
              <a:t>Right now, 30-year US Treasury yields have reached elevated levels not seen since 2007, driven by persistent inflation and $2 trillion annual federal deficits. At the same time, leading AI and semiconductor stocks trade at 50x to 100x earnings multiples. </a:t>
            </a:r>
          </a:p>
          <a:p>
            <a:r>
              <a:rPr lang="en-US" sz="1200" kern="1200" dirty="0">
                <a:solidFill>
                  <a:schemeClr val="tx1"/>
                </a:solidFill>
                <a:effectLst/>
                <a:latin typeface="+mn-lt"/>
                <a:ea typeface="+mn-ea"/>
                <a:cs typeface="+mn-cs"/>
              </a:rPr>
              <a:t>As Benjamin Graham famously put it: </a:t>
            </a:r>
            <a:r>
              <a:rPr lang="en-US" sz="1200" i="1" kern="1200" dirty="0">
                <a:solidFill>
                  <a:schemeClr val="tx1"/>
                </a:solidFill>
                <a:effectLst/>
                <a:latin typeface="+mn-lt"/>
                <a:ea typeface="+mn-ea"/>
                <a:cs typeface="+mn-cs"/>
              </a:rPr>
              <a:t>'In the short run, the market is a voting machine, but in the long run, it is a weighing machine.'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investors can lock in a high, virtually risk-free yield backed by the US government, justifying a 100x earnings multiple on high-beta semiconductor equities becomes mathematically difficult. The weighing machine is forcing a valuation re-rating.</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4</a:t>
            </a:fld>
            <a:endParaRPr lang="en-US"/>
          </a:p>
        </p:txBody>
      </p:sp>
    </p:spTree>
    <p:extLst>
      <p:ext uri="{BB962C8B-B14F-4D97-AF65-F5344CB8AC3E}">
        <p14:creationId xmlns:p14="http://schemas.microsoft.com/office/powerpoint/2010/main" val="711843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pivot to the political economy of AI. Recently, frontier AI labs signed open letters requesting government intervention to 'pace the frontier' of model development. While framed as safety, we need to analyze the underlying incentives: </a:t>
            </a:r>
          </a:p>
          <a:p>
            <a:pPr marL="228600" indent="-228600">
              <a:buFont typeface="+mj-lt"/>
              <a:buAutoNum type="arabicPeriod"/>
            </a:pPr>
            <a:r>
              <a:rPr lang="en-US" sz="1200" b="1" kern="1200" dirty="0">
                <a:solidFill>
                  <a:schemeClr val="tx1"/>
                </a:solidFill>
                <a:effectLst/>
                <a:latin typeface="+mn-lt"/>
                <a:ea typeface="+mn-ea"/>
                <a:cs typeface="+mn-cs"/>
              </a:rPr>
              <a:t>Regulatory Capture:</a:t>
            </a:r>
            <a:r>
              <a:rPr lang="en-US" sz="1200" kern="1200" dirty="0">
                <a:solidFill>
                  <a:schemeClr val="tx1"/>
                </a:solidFill>
                <a:effectLst/>
                <a:latin typeface="+mn-lt"/>
                <a:ea typeface="+mn-ea"/>
                <a:cs typeface="+mn-cs"/>
              </a:rPr>
              <a:t> Establishing a high regulatory bar (effectively an 'FDA for AI') creates insurmountable compliance costs for open-source developers and early-stage startups. </a:t>
            </a:r>
          </a:p>
          <a:p>
            <a:pPr marL="228600" indent="-228600">
              <a:buFont typeface="+mj-lt"/>
              <a:buAutoNum type="arabicPeriod"/>
            </a:pPr>
            <a:r>
              <a:rPr lang="en-US" sz="1200" b="1" kern="1200" dirty="0">
                <a:solidFill>
                  <a:schemeClr val="tx1"/>
                </a:solidFill>
                <a:effectLst/>
                <a:latin typeface="+mn-lt"/>
                <a:ea typeface="+mn-ea"/>
                <a:cs typeface="+mn-cs"/>
              </a:rPr>
              <a:t>Monopoly Masking:</a:t>
            </a:r>
            <a:r>
              <a:rPr lang="en-US" sz="1200" kern="1200" dirty="0">
                <a:solidFill>
                  <a:schemeClr val="tx1"/>
                </a:solidFill>
                <a:effectLst/>
                <a:latin typeface="+mn-lt"/>
                <a:ea typeface="+mn-ea"/>
                <a:cs typeface="+mn-cs"/>
              </a:rPr>
              <a:t> Projecting an image of a heavily contested market while entrenching a duopoly. </a:t>
            </a:r>
          </a:p>
          <a:p>
            <a:pPr marL="228600" indent="-228600">
              <a:buFont typeface="+mj-lt"/>
              <a:buAutoNum type="arabicPeriod"/>
            </a:pPr>
            <a:r>
              <a:rPr lang="en-US" sz="1200" b="1" kern="1200" dirty="0">
                <a:solidFill>
                  <a:schemeClr val="tx1"/>
                </a:solidFill>
                <a:effectLst/>
                <a:latin typeface="+mn-lt"/>
                <a:ea typeface="+mn-ea"/>
                <a:cs typeface="+mn-cs"/>
              </a:rPr>
              <a:t>CYA &amp; Public Relations:</a:t>
            </a:r>
            <a:r>
              <a:rPr lang="en-US" sz="1200" kern="1200" dirty="0">
                <a:solidFill>
                  <a:schemeClr val="tx1"/>
                </a:solidFill>
                <a:effectLst/>
                <a:latin typeface="+mn-lt"/>
                <a:ea typeface="+mn-ea"/>
                <a:cs typeface="+mn-cs"/>
              </a:rPr>
              <a:t> Creating paper trails for legal protection while virtue signaling in public forums. </a:t>
            </a:r>
          </a:p>
          <a:p>
            <a:pPr marL="228600" indent="-228600">
              <a:buFont typeface="+mj-lt"/>
              <a:buAutoNum type="arabicPeriod"/>
            </a:pPr>
            <a:r>
              <a:rPr lang="en-US" sz="1200" b="1" kern="1200" dirty="0">
                <a:solidFill>
                  <a:schemeClr val="tx1"/>
                </a:solidFill>
                <a:effectLst/>
                <a:latin typeface="+mn-lt"/>
                <a:ea typeface="+mn-ea"/>
                <a:cs typeface="+mn-cs"/>
              </a:rPr>
              <a:t>Recursive Self-Improvement (RSI) Alarmism:</a:t>
            </a:r>
            <a:r>
              <a:rPr lang="en-US" sz="1200" kern="1200" dirty="0">
                <a:solidFill>
                  <a:schemeClr val="tx1"/>
                </a:solidFill>
                <a:effectLst/>
                <a:latin typeface="+mn-lt"/>
                <a:ea typeface="+mn-ea"/>
                <a:cs typeface="+mn-cs"/>
              </a:rPr>
              <a:t> Fostering existential risk narratives to justify locking down model weights. </a:t>
            </a:r>
          </a:p>
          <a:p>
            <a:r>
              <a:rPr lang="en-US" sz="1200" kern="1200" dirty="0">
                <a:solidFill>
                  <a:schemeClr val="tx1"/>
                </a:solidFill>
                <a:effectLst/>
                <a:latin typeface="+mn-lt"/>
                <a:ea typeface="+mn-ea"/>
                <a:cs typeface="+mn-cs"/>
              </a:rPr>
              <a:t>True safety is critical, but incumbent-led regulatory proposals often double as moat-building mechanisms.</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5</a:t>
            </a:fld>
            <a:endParaRPr lang="en-US"/>
          </a:p>
        </p:txBody>
      </p:sp>
    </p:spTree>
    <p:extLst>
      <p:ext uri="{BB962C8B-B14F-4D97-AF65-F5344CB8AC3E}">
        <p14:creationId xmlns:p14="http://schemas.microsoft.com/office/powerpoint/2010/main" val="4249108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6 contrasts the business models of the Frontier Duopoly versus Open-Source and state-backed AI initiatives.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Frontier Duopoly:</a:t>
            </a:r>
            <a:r>
              <a:rPr lang="en-US" sz="1200" kern="1200" dirty="0">
                <a:solidFill>
                  <a:schemeClr val="tx1"/>
                </a:solidFill>
                <a:effectLst/>
                <a:latin typeface="+mn-lt"/>
                <a:ea typeface="+mn-ea"/>
                <a:cs typeface="+mn-cs"/>
              </a:rPr>
              <a:t> Experiencing massive revenue growth targeting tens of billions in ARR, operating at high gross margins (80%+). However, they require exponential increases in compute capital expenditure and face enterprise trust hurdles regarding data privacy.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Open Source / State-Backed:</a:t>
            </a:r>
            <a:r>
              <a:rPr lang="en-US" sz="1200" kern="1200" dirty="0">
                <a:solidFill>
                  <a:schemeClr val="tx1"/>
                </a:solidFill>
                <a:effectLst/>
                <a:latin typeface="+mn-lt"/>
                <a:ea typeface="+mn-ea"/>
                <a:cs typeface="+mn-cs"/>
              </a:rPr>
              <a:t> Rapidly commoditizing the model weight layer. They run efficiently on last-gen hardware, offering token inference costs up to 90% cheaper. For enterprise applications needing local hosting, full model control, and strict data privacy, open source is becoming an attractive alternative.</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6</a:t>
            </a:fld>
            <a:endParaRPr lang="en-US"/>
          </a:p>
        </p:txBody>
      </p:sp>
    </p:spTree>
    <p:extLst>
      <p:ext uri="{BB962C8B-B14F-4D97-AF65-F5344CB8AC3E}">
        <p14:creationId xmlns:p14="http://schemas.microsoft.com/office/powerpoint/2010/main" val="420532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Data acquisition has evolved into an active conflict over Intellectual Property.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Old Era (Google Books):</a:t>
            </a:r>
            <a:r>
              <a:rPr lang="en-US" sz="1200" kern="1200" dirty="0">
                <a:solidFill>
                  <a:schemeClr val="tx1"/>
                </a:solidFill>
                <a:effectLst/>
                <a:latin typeface="+mn-lt"/>
                <a:ea typeface="+mn-ea"/>
                <a:cs typeface="+mn-cs"/>
              </a:rPr>
              <a:t> Involved non-destructive scanning to produce searchable index snippets, ultimately ruled as Fair Use.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New Era (Industrial Ingestion):</a:t>
            </a:r>
            <a:r>
              <a:rPr lang="en-US" sz="1200" kern="1200" dirty="0">
                <a:solidFill>
                  <a:schemeClr val="tx1"/>
                </a:solidFill>
                <a:effectLst/>
                <a:latin typeface="+mn-lt"/>
                <a:ea typeface="+mn-ea"/>
                <a:cs typeface="+mn-cs"/>
              </a:rPr>
              <a:t> Companies purchase physical collections, cut off the bindings, and high-speed scan millions of pages directly into model training pipelines to absorb complete copyrighted works. </a:t>
            </a:r>
          </a:p>
          <a:p>
            <a:r>
              <a:rPr lang="en-US" sz="1200" kern="1200" dirty="0">
                <a:solidFill>
                  <a:schemeClr val="tx1"/>
                </a:solidFill>
                <a:effectLst/>
                <a:latin typeface="+mn-lt"/>
                <a:ea typeface="+mn-ea"/>
                <a:cs typeface="+mn-cs"/>
              </a:rPr>
              <a:t>Content creators and publishers argue this isn't passive 'learning,' but an industrial-scale distillation attack designed to replace the original authors. This ongoing legal battle will define the unit economics of training data going forward.</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7</a:t>
            </a:fld>
            <a:endParaRPr lang="en-US"/>
          </a:p>
        </p:txBody>
      </p:sp>
    </p:spTree>
    <p:extLst>
      <p:ext uri="{BB962C8B-B14F-4D97-AF65-F5344CB8AC3E}">
        <p14:creationId xmlns:p14="http://schemas.microsoft.com/office/powerpoint/2010/main" val="2241813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Algorithm efficiency aside, AI ultimately runs on electrons—and we are heading toward a massive physical bottleneck. </a:t>
            </a:r>
          </a:p>
          <a:p>
            <a:r>
              <a:rPr lang="en-US" sz="1200" kern="1200" dirty="0">
                <a:solidFill>
                  <a:schemeClr val="tx1"/>
                </a:solidFill>
                <a:effectLst/>
                <a:latin typeface="+mn-lt"/>
                <a:ea typeface="+mn-ea"/>
                <a:cs typeface="+mn-cs"/>
              </a:rPr>
              <a:t>The US is projected to face a massive electricity shortfall relative to projected AI data center demand by 2050. To put that in perspective, that gap represents six times the current energy consumption of the entire state of California.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US / Corporate Strategy:</a:t>
            </a:r>
            <a:r>
              <a:rPr lang="en-US" sz="1200" kern="1200" dirty="0">
                <a:solidFill>
                  <a:schemeClr val="tx1"/>
                </a:solidFill>
                <a:effectLst/>
                <a:latin typeface="+mn-lt"/>
                <a:ea typeface="+mn-ea"/>
                <a:cs typeface="+mn-cs"/>
              </a:rPr>
              <a:t> Vertical integration into solar and storage at multi-gigawatt scale to bring marginal energy costs as close to zero as possible.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Global / Nation-State Strategy:</a:t>
            </a:r>
            <a:r>
              <a:rPr lang="en-US" sz="1200" kern="1200" dirty="0">
                <a:solidFill>
                  <a:schemeClr val="tx1"/>
                </a:solidFill>
                <a:effectLst/>
                <a:latin typeface="+mn-lt"/>
                <a:ea typeface="+mn-ea"/>
                <a:cs typeface="+mn-cs"/>
              </a:rPr>
              <a:t> Countries like China are deploying massive capital into advanced nuclear fusion, reaching record sustained plasma containment temperatures. </a:t>
            </a:r>
          </a:p>
          <a:p>
            <a:r>
              <a:rPr lang="en-US" sz="1200" kern="1200" dirty="0">
                <a:solidFill>
                  <a:schemeClr val="tx1"/>
                </a:solidFill>
                <a:effectLst/>
                <a:latin typeface="+mn-lt"/>
                <a:ea typeface="+mn-ea"/>
                <a:cs typeface="+mn-cs"/>
              </a:rPr>
              <a:t>The country or consortium that solves clean, continuous power generation at scale will dictate the pace of AI advancement.</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8</a:t>
            </a:fld>
            <a:endParaRPr lang="en-US"/>
          </a:p>
        </p:txBody>
      </p:sp>
    </p:spTree>
    <p:extLst>
      <p:ext uri="{BB962C8B-B14F-4D97-AF65-F5344CB8AC3E}">
        <p14:creationId xmlns:p14="http://schemas.microsoft.com/office/powerpoint/2010/main" val="3140969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9 examines economic policy distortions, using municipal government retail initiatives as an example. </a:t>
            </a:r>
          </a:p>
          <a:p>
            <a:r>
              <a:rPr lang="en-US" sz="1200" kern="1200" dirty="0">
                <a:solidFill>
                  <a:schemeClr val="tx1"/>
                </a:solidFill>
                <a:effectLst/>
                <a:latin typeface="+mn-lt"/>
                <a:ea typeface="+mn-ea"/>
                <a:cs typeface="+mn-cs"/>
              </a:rPr>
              <a:t>When municipalities launch state-subsidized retail programs—offering steep price discounts alongside above-market wages—the initial feedback loop appears overwhelmingly positive: </a:t>
            </a:r>
          </a:p>
          <a:p>
            <a:pPr marL="228600" indent="-228600">
              <a:buFont typeface="+mj-lt"/>
              <a:buAutoNum type="arabicPeriod"/>
            </a:pPr>
            <a:r>
              <a:rPr lang="en-US" sz="1200" kern="1200" dirty="0">
                <a:solidFill>
                  <a:schemeClr val="tx1"/>
                </a:solidFill>
                <a:effectLst/>
                <a:latin typeface="+mn-lt"/>
                <a:ea typeface="+mn-ea"/>
                <a:cs typeface="+mn-cs"/>
              </a:rPr>
              <a:t>High consumer demand and strong optics during launch. </a:t>
            </a:r>
          </a:p>
          <a:p>
            <a:pPr marL="228600" indent="-228600">
              <a:buFont typeface="+mj-lt"/>
              <a:buAutoNum type="arabicPeriod"/>
            </a:pPr>
            <a:r>
              <a:rPr lang="en-US" sz="1200" kern="1200" dirty="0">
                <a:solidFill>
                  <a:schemeClr val="tx1"/>
                </a:solidFill>
                <a:effectLst/>
                <a:latin typeface="+mn-lt"/>
                <a:ea typeface="+mn-ea"/>
                <a:cs typeface="+mn-cs"/>
              </a:rPr>
              <a:t>Rapid social media amplification asking why every city doesn't replicate the model. </a:t>
            </a:r>
          </a:p>
          <a:p>
            <a:pPr marL="228600" indent="-228600">
              <a:buFont typeface="+mj-lt"/>
              <a:buAutoNum type="arabicPeriod"/>
            </a:pPr>
            <a:r>
              <a:rPr lang="en-US" sz="1200" kern="1200" dirty="0">
                <a:solidFill>
                  <a:schemeClr val="tx1"/>
                </a:solidFill>
                <a:effectLst/>
                <a:latin typeface="+mn-lt"/>
                <a:ea typeface="+mn-ea"/>
                <a:cs typeface="+mn-cs"/>
              </a:rPr>
              <a:t>Demand expansion across adjacent regions. </a:t>
            </a:r>
          </a:p>
          <a:p>
            <a:r>
              <a:rPr lang="en-US" sz="1200" kern="1200" dirty="0">
                <a:solidFill>
                  <a:schemeClr val="tx1"/>
                </a:solidFill>
                <a:effectLst/>
                <a:latin typeface="+mn-lt"/>
                <a:ea typeface="+mn-ea"/>
                <a:cs typeface="+mn-cs"/>
              </a:rPr>
              <a:t>However, the underlying unit economics do not disappear. Structural operating losses are ultimately socialized via public debt, municipal bonds, or monetary expansion, compounding baseline price inflation. It serves as a case study in short-term optical interventions masking long-term economic liabilities.</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9</a:t>
            </a:fld>
            <a:endParaRPr lang="en-US"/>
          </a:p>
        </p:txBody>
      </p:sp>
    </p:spTree>
    <p:extLst>
      <p:ext uri="{BB962C8B-B14F-4D97-AF65-F5344CB8AC3E}">
        <p14:creationId xmlns:p14="http://schemas.microsoft.com/office/powerpoint/2010/main" val="1562408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Turning to breakthroughs in neuroscience: Researchers recently completed a full connectome map of a single fruit fly brain—encompassing roughly 139,000 neurons and 50 million synaptic connections. </a:t>
            </a:r>
          </a:p>
          <a:p>
            <a:r>
              <a:rPr lang="en-US" sz="1200" kern="1200" dirty="0">
                <a:solidFill>
                  <a:schemeClr val="tx1"/>
                </a:solidFill>
                <a:effectLst/>
                <a:latin typeface="+mn-lt"/>
                <a:ea typeface="+mn-ea"/>
                <a:cs typeface="+mn-cs"/>
              </a:rPr>
              <a:t>The critical finding: Standard 3D Euclidean geometry completely fails to model the functional pathways of biological neural networks. </a:t>
            </a:r>
          </a:p>
          <a:p>
            <a:r>
              <a:rPr lang="en-US" sz="1200" kern="1200" dirty="0">
                <a:solidFill>
                  <a:schemeClr val="tx1"/>
                </a:solidFill>
                <a:effectLst/>
                <a:latin typeface="+mn-lt"/>
                <a:ea typeface="+mn-ea"/>
                <a:cs typeface="+mn-cs"/>
              </a:rPr>
              <a:t>To map the actual signal flow and clustering without distorting connectivity distances, researchers had to project the network into a </a:t>
            </a:r>
            <a:r>
              <a:rPr lang="en-US" sz="1200" b="1" kern="1200" dirty="0">
                <a:solidFill>
                  <a:schemeClr val="tx1"/>
                </a:solidFill>
                <a:effectLst/>
                <a:latin typeface="+mn-lt"/>
                <a:ea typeface="+mn-ea"/>
                <a:cs typeface="+mn-cs"/>
              </a:rPr>
              <a:t>64-dimensional hyperbolic space</a:t>
            </a:r>
            <a:r>
              <a:rPr lang="en-US" sz="1200" kern="1200" dirty="0">
                <a:solidFill>
                  <a:schemeClr val="tx1"/>
                </a:solidFill>
                <a:effectLst/>
                <a:latin typeface="+mn-lt"/>
                <a:ea typeface="+mn-ea"/>
                <a:cs typeface="+mn-cs"/>
              </a:rPr>
              <a:t>. This proves that biological brains utilize non-Euclidean network topologies that our current transformer architectures are only beginning to approximate.</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10</a:t>
            </a:fld>
            <a:endParaRPr lang="en-US"/>
          </a:p>
        </p:txBody>
      </p:sp>
    </p:spTree>
    <p:extLst>
      <p:ext uri="{BB962C8B-B14F-4D97-AF65-F5344CB8AC3E}">
        <p14:creationId xmlns:p14="http://schemas.microsoft.com/office/powerpoint/2010/main" val="4139824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Comparing state-of-the-art silicon compute against biological wetware highlights the staggering efficiency gap: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Silicon (Artificial Intelligence):</a:t>
            </a:r>
            <a:r>
              <a:rPr lang="en-US" sz="1200" kern="1200" dirty="0">
                <a:solidFill>
                  <a:schemeClr val="tx1"/>
                </a:solidFill>
                <a:effectLst/>
                <a:latin typeface="+mn-lt"/>
                <a:ea typeface="+mn-ea"/>
                <a:cs typeface="+mn-cs"/>
              </a:rPr>
              <a:t> Demands hyperscale data centers, Dedicated power grids, and gigawatts of electricity to execute foundational reasoning tasks.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Biology (A Single Cell):</a:t>
            </a:r>
            <a:r>
              <a:rPr lang="en-US" sz="1200" kern="1200" dirty="0">
                <a:solidFill>
                  <a:schemeClr val="tx1"/>
                </a:solidFill>
                <a:effectLst/>
                <a:latin typeface="+mn-lt"/>
                <a:ea typeface="+mn-ea"/>
                <a:cs typeface="+mn-cs"/>
              </a:rPr>
              <a:t> A single biological cell packs over 10 billion proteins operating in parallel. The molecular turnover inside one cell during a single second corresponds to eighty years of human mechanical activity in a dense city like Manhattan. </a:t>
            </a:r>
          </a:p>
          <a:p>
            <a:r>
              <a:rPr lang="en-US" sz="1200" kern="1200" dirty="0">
                <a:solidFill>
                  <a:schemeClr val="tx1"/>
                </a:solidFill>
                <a:effectLst/>
                <a:latin typeface="+mn-lt"/>
                <a:ea typeface="+mn-ea"/>
                <a:cs typeface="+mn-cs"/>
              </a:rPr>
              <a:t>We are currently trying to brute-force intelligence through massive silicon power consumption, whereas biological wetware achieves vastly superior processing efficiency within a fraction of a watt.</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11</a:t>
            </a:fld>
            <a:endParaRPr lang="en-US"/>
          </a:p>
        </p:txBody>
      </p:sp>
    </p:spTree>
    <p:extLst>
      <p:ext uri="{BB962C8B-B14F-4D97-AF65-F5344CB8AC3E}">
        <p14:creationId xmlns:p14="http://schemas.microsoft.com/office/powerpoint/2010/main" val="1021870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our findings: Success on the intelligence frontier requires mastering four distinct forms of leverage: </a:t>
            </a:r>
          </a:p>
          <a:p>
            <a:pPr marL="228600" indent="-228600">
              <a:buFont typeface="+mj-lt"/>
              <a:buAutoNum type="arabicPeriod"/>
            </a:pPr>
            <a:r>
              <a:rPr lang="en-US" sz="1200" b="1" kern="1200" dirty="0">
                <a:solidFill>
                  <a:schemeClr val="tx1"/>
                </a:solidFill>
                <a:effectLst/>
                <a:latin typeface="+mn-lt"/>
                <a:ea typeface="+mn-ea"/>
                <a:cs typeface="+mn-cs"/>
              </a:rPr>
              <a:t>Financial Leverage:</a:t>
            </a:r>
            <a:r>
              <a:rPr lang="en-US" sz="1200" kern="1200" dirty="0">
                <a:solidFill>
                  <a:schemeClr val="tx1"/>
                </a:solidFill>
                <a:effectLst/>
                <a:latin typeface="+mn-lt"/>
                <a:ea typeface="+mn-ea"/>
                <a:cs typeface="+mn-cs"/>
              </a:rPr>
              <a:t> Exercising strict capital discipline to survive macro volatility and valuation drawdowns. </a:t>
            </a:r>
          </a:p>
          <a:p>
            <a:pPr marL="228600" indent="-228600">
              <a:buFont typeface="+mj-lt"/>
              <a:buAutoNum type="arabicPeriod"/>
            </a:pPr>
            <a:r>
              <a:rPr lang="en-US" sz="1200" b="1" kern="1200" dirty="0">
                <a:solidFill>
                  <a:schemeClr val="tx1"/>
                </a:solidFill>
                <a:effectLst/>
                <a:latin typeface="+mn-lt"/>
                <a:ea typeface="+mn-ea"/>
                <a:cs typeface="+mn-cs"/>
              </a:rPr>
              <a:t>Energy Leverage:</a:t>
            </a:r>
            <a:r>
              <a:rPr lang="en-US" sz="1200" kern="1200" dirty="0">
                <a:solidFill>
                  <a:schemeClr val="tx1"/>
                </a:solidFill>
                <a:effectLst/>
                <a:latin typeface="+mn-lt"/>
                <a:ea typeface="+mn-ea"/>
                <a:cs typeface="+mn-cs"/>
              </a:rPr>
              <a:t> Securing scalable, low-cost power generation (solar, nuclear) to bypass compute physical ceilings. </a:t>
            </a:r>
          </a:p>
          <a:p>
            <a:pPr marL="228600" indent="-228600">
              <a:buFont typeface="+mj-lt"/>
              <a:buAutoNum type="arabicPeriod"/>
            </a:pPr>
            <a:r>
              <a:rPr lang="en-US" sz="1200" b="1" kern="1200" dirty="0">
                <a:solidFill>
                  <a:schemeClr val="tx1"/>
                </a:solidFill>
                <a:effectLst/>
                <a:latin typeface="+mn-lt"/>
                <a:ea typeface="+mn-ea"/>
                <a:cs typeface="+mn-cs"/>
              </a:rPr>
              <a:t>Compute Leverage:</a:t>
            </a:r>
            <a:r>
              <a:rPr lang="en-US" sz="1200" kern="1200" dirty="0">
                <a:solidFill>
                  <a:schemeClr val="tx1"/>
                </a:solidFill>
                <a:effectLst/>
                <a:latin typeface="+mn-lt"/>
                <a:ea typeface="+mn-ea"/>
                <a:cs typeface="+mn-cs"/>
              </a:rPr>
              <a:t> Navigating the ecosystem split between proprietary frontier duopolies and open-source infrastructure. </a:t>
            </a:r>
          </a:p>
          <a:p>
            <a:pPr marL="228600" indent="-228600">
              <a:buFont typeface="+mj-lt"/>
              <a:buAutoNum type="arabicPeriod"/>
            </a:pPr>
            <a:r>
              <a:rPr lang="en-US" sz="1200" b="1" kern="1200" dirty="0">
                <a:solidFill>
                  <a:schemeClr val="tx1"/>
                </a:solidFill>
                <a:effectLst/>
                <a:latin typeface="+mn-lt"/>
                <a:ea typeface="+mn-ea"/>
                <a:cs typeface="+mn-cs"/>
              </a:rPr>
              <a:t>Biological Leverage:</a:t>
            </a:r>
            <a:r>
              <a:rPr lang="en-US" sz="1200" kern="1200" dirty="0">
                <a:solidFill>
                  <a:schemeClr val="tx1"/>
                </a:solidFill>
                <a:effectLst/>
                <a:latin typeface="+mn-lt"/>
                <a:ea typeface="+mn-ea"/>
                <a:cs typeface="+mn-cs"/>
              </a:rPr>
              <a:t> Unlocking high-dimensional architectural insights from neuroscience to drastically improve algorithmic efficiency. </a:t>
            </a:r>
          </a:p>
          <a:p>
            <a:r>
              <a:rPr lang="en-US" sz="1200" kern="1200" dirty="0">
                <a:solidFill>
                  <a:schemeClr val="tx1"/>
                </a:solidFill>
                <a:effectLst/>
                <a:latin typeface="+mn-lt"/>
                <a:ea typeface="+mn-ea"/>
                <a:cs typeface="+mn-cs"/>
              </a:rPr>
              <a:t>The market leaders of the next decade will be those who balance all four domains simultaneously.</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12</a:t>
            </a:fld>
            <a:endParaRPr lang="en-US"/>
          </a:p>
        </p:txBody>
      </p:sp>
    </p:spTree>
    <p:extLst>
      <p:ext uri="{BB962C8B-B14F-4D97-AF65-F5344CB8AC3E}">
        <p14:creationId xmlns:p14="http://schemas.microsoft.com/office/powerpoint/2010/main" val="669892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summarizes the empirical market impacts of the recent AI volatility event: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Philadelphia Semiconductor Index experienced a severe correction, entering bear market territory and shedding over $1 trillion in aggregate market cap.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We saw high-conviction portfolios wiped out due to the misuse of 3.5x leverage.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Concurrently, security research highlighted emerging risks in autonomous agent deployment, including models breaking sandbox constraints via unpatched zero-day exploits. </a:t>
            </a:r>
          </a:p>
          <a:p>
            <a:r>
              <a:rPr lang="en-US" sz="1200" kern="1200" dirty="0">
                <a:solidFill>
                  <a:schemeClr val="tx1"/>
                </a:solidFill>
                <a:effectLst/>
                <a:latin typeface="+mn-lt"/>
                <a:ea typeface="+mn-ea"/>
                <a:cs typeface="+mn-cs"/>
              </a:rPr>
              <a:t>As automated systems gain agency, operational risk management becomes just as critical as financial risk management.</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13</a:t>
            </a:fld>
            <a:endParaRPr lang="en-US"/>
          </a:p>
        </p:txBody>
      </p:sp>
    </p:spTree>
    <p:extLst>
      <p:ext uri="{BB962C8B-B14F-4D97-AF65-F5344CB8AC3E}">
        <p14:creationId xmlns:p14="http://schemas.microsoft.com/office/powerpoint/2010/main" val="4233254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 conclude: We must separate short-term market momentum volatility from long-term fundamental adoption trends. </a:t>
            </a:r>
          </a:p>
          <a:p>
            <a:r>
              <a:rPr lang="en-US" sz="1200" kern="1200" dirty="0">
                <a:solidFill>
                  <a:schemeClr val="tx1"/>
                </a:solidFill>
                <a:effectLst/>
                <a:latin typeface="+mn-lt"/>
                <a:ea typeface="+mn-ea"/>
                <a:cs typeface="+mn-cs"/>
              </a:rPr>
              <a:t>Despite the recent market correction, core infrastructure leaders have demonstrated massive 5-year growth trajectories—Nvidia up over 800%, Micron up over 850%, and Broadcom up over 600%. </a:t>
            </a:r>
          </a:p>
          <a:p>
            <a:r>
              <a:rPr lang="en-US" sz="1200" kern="1200" dirty="0">
                <a:solidFill>
                  <a:schemeClr val="tx1"/>
                </a:solidFill>
                <a:effectLst/>
                <a:latin typeface="+mn-lt"/>
                <a:ea typeface="+mn-ea"/>
                <a:cs typeface="+mn-cs"/>
              </a:rPr>
              <a:t>While levered momentum trades regularly blow up during macro pullbacks, the underlying secular trend toward deep intelligence, specialized hardware, and autonomous systems remains intact. </a:t>
            </a:r>
          </a:p>
          <a:p>
            <a:r>
              <a:rPr lang="en-US" sz="1200" kern="1200" dirty="0">
                <a:solidFill>
                  <a:schemeClr val="tx1"/>
                </a:solidFill>
                <a:effectLst/>
                <a:latin typeface="+mn-lt"/>
                <a:ea typeface="+mn-ea"/>
                <a:cs typeface="+mn-cs"/>
              </a:rPr>
              <a:t>Thank you. I will now open the floor to Q&amp;A.</a:t>
            </a:r>
          </a:p>
          <a:p>
            <a:endParaRPr lang="en-US" dirty="0"/>
          </a:p>
        </p:txBody>
      </p:sp>
      <p:sp>
        <p:nvSpPr>
          <p:cNvPr id="4" name="Slide Number Placeholder 3"/>
          <p:cNvSpPr>
            <a:spLocks noGrp="1"/>
          </p:cNvSpPr>
          <p:nvPr>
            <p:ph type="sldNum" sz="quarter" idx="5"/>
          </p:nvPr>
        </p:nvSpPr>
        <p:spPr/>
        <p:txBody>
          <a:bodyPr/>
          <a:lstStyle/>
          <a:p>
            <a:fld id="{126B1B89-43C6-4876-A8B5-B41450B8E2CA}" type="slidenum">
              <a:rPr lang="en-US" smtClean="0"/>
              <a:t>14</a:t>
            </a:fld>
            <a:endParaRPr lang="en-US"/>
          </a:p>
        </p:txBody>
      </p:sp>
    </p:spTree>
    <p:extLst>
      <p:ext uri="{BB962C8B-B14F-4D97-AF65-F5344CB8AC3E}">
        <p14:creationId xmlns:p14="http://schemas.microsoft.com/office/powerpoint/2010/main" val="284010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581ACD-712A-32D8-3161-357073D1F4DC}"/>
              </a:ext>
            </a:extLst>
          </p:cNvPr>
          <p:cNvSpPr>
            <a:spLocks noGrp="1"/>
          </p:cNvSpPr>
          <p:nvPr>
            <p:ph type="dt" sz="half" idx="10"/>
          </p:nvPr>
        </p:nvSpPr>
        <p:spPr/>
        <p:txBody>
          <a:bodyPr/>
          <a:lstStyle/>
          <a:p>
            <a:fld id="{30145C5E-7B2A-4E84-B0DE-158709CDFB4F}" type="datetimeFigureOut">
              <a:rPr lang="en-US" smtClean="0"/>
              <a:t>10/19/2026</a:t>
            </a:fld>
            <a:endParaRPr lang="en-US"/>
          </a:p>
        </p:txBody>
      </p:sp>
      <p:sp>
        <p:nvSpPr>
          <p:cNvPr id="3" name="Footer Placeholder 2">
            <a:extLst>
              <a:ext uri="{FF2B5EF4-FFF2-40B4-BE49-F238E27FC236}">
                <a16:creationId xmlns:a16="http://schemas.microsoft.com/office/drawing/2014/main" id="{08B7063D-0430-B541-E8C5-91D5581AF7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319001-36C5-49C7-783B-F052384CAA80}"/>
              </a:ext>
            </a:extLst>
          </p:cNvPr>
          <p:cNvSpPr>
            <a:spLocks noGrp="1"/>
          </p:cNvSpPr>
          <p:nvPr>
            <p:ph type="sldNum" sz="quarter" idx="12"/>
          </p:nvPr>
        </p:nvSpPr>
        <p:spPr/>
        <p:txBody>
          <a:bodyPr/>
          <a:lstStyle/>
          <a:p>
            <a:fld id="{63295BFF-7C1A-4D8F-9566-5DC037256D15}" type="slidenum">
              <a:rPr lang="en-US" smtClean="0"/>
              <a:t>‹#›</a:t>
            </a:fld>
            <a:endParaRPr lang="en-US"/>
          </a:p>
        </p:txBody>
      </p:sp>
    </p:spTree>
    <p:extLst>
      <p:ext uri="{BB962C8B-B14F-4D97-AF65-F5344CB8AC3E}">
        <p14:creationId xmlns:p14="http://schemas.microsoft.com/office/powerpoint/2010/main" val="325544744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3FA611-E99B-742A-F970-25120830C9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0BD2BF-350D-9690-57AB-B81BE1C612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C8245E-3066-4B64-B8F7-1FAE147BD4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145C5E-7B2A-4E84-B0DE-158709CDFB4F}" type="datetimeFigureOut">
              <a:rPr lang="en-US" smtClean="0"/>
              <a:t>10/19/2026</a:t>
            </a:fld>
            <a:endParaRPr lang="en-US"/>
          </a:p>
        </p:txBody>
      </p:sp>
      <p:sp>
        <p:nvSpPr>
          <p:cNvPr id="5" name="Footer Placeholder 4">
            <a:extLst>
              <a:ext uri="{FF2B5EF4-FFF2-40B4-BE49-F238E27FC236}">
                <a16:creationId xmlns:a16="http://schemas.microsoft.com/office/drawing/2014/main" id="{7CB281DB-6310-D700-86F4-165ED7EBE7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CF9FC5-96E3-EDE5-AE61-EE673A81A5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295BFF-7C1A-4D8F-9566-5DC037256D15}" type="slidenum">
              <a:rPr lang="en-US" smtClean="0"/>
              <a:t>‹#›</a:t>
            </a:fld>
            <a:endParaRPr lang="en-US"/>
          </a:p>
        </p:txBody>
      </p:sp>
    </p:spTree>
    <p:extLst>
      <p:ext uri="{BB962C8B-B14F-4D97-AF65-F5344CB8AC3E}">
        <p14:creationId xmlns:p14="http://schemas.microsoft.com/office/powerpoint/2010/main" val="265821534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092B59-EA19-55BA-53C2-B11A6AA43F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87FB74-5B22-3579-480A-348F7BB078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B54FBC-623F-4004-6261-E008E1AB3E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517DC3-EAD8-FECD-BFFD-A619CC6803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469B58-4F17-E5AF-0C0A-CEF44BDB75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744031-2221-FB56-2669-C190933CD1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E7BD24-F48A-DEA4-02B3-0A9A6704A8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D1D3C4-0180-D561-3277-079AAA1AAB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0BA2EC-872B-C07A-58F7-9E820CE89E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87F9F9-9DED-D144-46C7-9BBEF400A9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888541-D6C5-82B7-F941-47FCC31CB0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2AD4F2-855B-335D-4CCD-80B0AC6BCB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5D3E41-1113-D6E7-01B3-CF5DD7A8BA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FA739C-0E45-EC48-84FB-C871AFA0C493}"/>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908835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1641</Words>
  <Application>Microsoft Office PowerPoint</Application>
  <PresentationFormat>寬螢幕</PresentationFormat>
  <Paragraphs>84</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2026-08-06T23:45:26Z</dcterms:created>
  <dcterms:modified xsi:type="dcterms:W3CDTF">2026-10-19T15:43:18Z</dcterms:modified>
</cp:coreProperties>
</file>